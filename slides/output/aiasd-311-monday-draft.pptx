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14:sectionLst xmlns:p14="http://schemas.microsoft.com/office/powerpoint/2010/main">
    <p14:section name="Intro" id="2726081251">
      <p14:sldIdLst>
        <p14:sldId id="256"/>
        <p14:sldId id="257"/>
        <p14:sldId id="258"/>
        <p14:sldId id="259"/>
        <p14:sldId id="260"/>
        <p14:sldId id="261"/>
      </p14:sldIdLst>
    </p14:section>
    <p14:section name="AI Assisted Software Development" id="1952424344">
      <p14:sldIdLst>
        <p14:sldId id="262"/>
        <p14:sldId id="263"/>
        <p14:sldId id="264"/>
        <p14:sldId id="265"/>
        <p14:sldId id="266"/>
        <p14:sldId id="267"/>
        <p14:sldId id="268"/>
        <p14:sldId id="269"/>
        <p14:sldId id="270"/>
        <p14:sldId id="271"/>
        <p14:sldId id="272"/>
        <p14:sldId id="273"/>
        <p14:sldId id="274"/>
        <p14:sldId id="275"/>
        <p14:sldId id="276"/>
        <p14:sldId id="277"/>
      </p14:sldIdLst>
    </p14:section>
    <p14:section name="Intro to Copilot" id="2943761832">
      <p14:sldIdLst>
        <p14:sldId id="278"/>
        <p14:sldId id="279"/>
        <p14:sldId id="280"/>
        <p14:sldId id="281"/>
        <p14:sldId id="282"/>
        <p14:sldId id="283"/>
        <p14:sldId id="284"/>
        <p14:sldId id="285"/>
        <p14:sldId id="286"/>
        <p14:sldId id="287"/>
        <p14:sldId id="288"/>
        <p14:sldId id="289"/>
        <p14:sldId id="290"/>
        <p14:sldId id="291"/>
        <p14:sldId id="292"/>
      </p14:sldIdLst>
    </p14:section>
    <p14:section name="AI Assistance in Action" id="2230687852">
      <p14:sldIdLst>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Lst>
    </p14:section>
    <p14:section name="Adding AI Guardrails" id="777665259">
      <p14:sldIdLst>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03"/>
        <p14:sldId id="404"/>
        <p14:sldId id="405"/>
        <p14:sldId id="406"/>
      </p14:sldIdLst>
    </p14:section>
  </p14:section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7" autoAdjust="0"/>
    <p:restoredTop sz="63597" autoAdjust="0"/>
  </p:normalViewPr>
  <p:slideViewPr>
    <p:cSldViewPr snapToGrid="0" showGuides="1">
      <p:cViewPr varScale="1">
        <p:scale>
          <a:sx n="70" d="100"/>
          <a:sy n="70" d="100"/>
        </p:scale>
        <p:origin x="33" y="630"/>
      </p:cViewPr>
      <p:guideLst/>
    </p:cSldViewPr>
  </p:slideViewPr>
  <p:outlineViewPr>
    <p:cViewPr>
      <p:scale>
        <a:sx n="33" d="100"/>
        <a:sy n="33" d="100"/>
      </p:scale>
      <p:origin x="0" y="-16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3/19/2026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Welcome participants to the AI Assisted Software Development course. This is your opening slide, so set a positive and engaging tone. Introduce the course name and tagline "From Code to Copilot" which emphasizes the journey from traditional software development to AI-augmented practices.</a:t>
            </a:r>
          </a:p>
          <a:p/>
          <a:p>
            <a:r>
              <a:t>Key talking points:</a:t>
            </a:r>
          </a:p>
          <a:p/>
          <a:p>
            <a:r>
              <a:t>- Express enthusiasm about the learning journey ahead</a:t>
            </a:r>
          </a:p>
          <a:p>
            <a:r>
              <a:t>- Acknowledge the transformative nature of AI in software development</a:t>
            </a:r>
          </a:p>
          <a:p>
            <a:r>
              <a:t>- Set expectations that this will be hands-on and practical</a:t>
            </a:r>
          </a:p>
          <a:p>
            <a:r>
              <a:t>- Encourage questions and participation throughout</a:t>
            </a:r>
          </a:p>
          <a:p/>
          <a:p>
            <a:r>
              <a:t>Transition: "Let's start by introducing ourselves..."</a:t>
            </a:r>
          </a:p>
          <a:p/>
          <a:p>
            <a:r>
              <a:t>---</a:t>
            </a:r>
          </a:p>
          <a:p/>
          <a:p>
            <a:r>
              <a:t>Source: slides\marp\welcome-to-aiasd.deck.md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John Michael Miller is a Principal Software Engineer at CODE with over 15 years of experience in software development. He has held various roles including developer, architect, DevOps engineer, platform engineer, test architect, and release manager. John is an AI/ML enthusiast and advocates for effectively using AI to write code. You can connect with him on LinkedIn, reach out via email, or read his blog posts on AI-assisted software development.</a:t>
            </a:r>
          </a:p>
          <a:p>
            <a:r>
              <a:t>- [AI Practitioner Resources](codemag.com/aipractitioner)</a:t>
            </a:r>
          </a:p>
          <a:p/>
          <a:p>
            <a:r>
              <a:t>---</a:t>
            </a:r>
          </a:p>
          <a:p/>
          <a:p>
            <a:r>
              <a:t>Source: slides\marp\john-michael-miller-intro.deck.md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~00:01</a:t>
            </a:r>
          </a:p>
          <a:p/>
          <a:p>
            <a:r>
              <a:t>Opening slide for the introduction section. The centered two-title layout displays "Course Introductions" as the main title and "Hi, I'm a Developer Who Has Talked to a Robot" as the subtitle, creating a friendly and approachable tone for the personal introductions that follow.</a:t>
            </a:r>
          </a:p>
          <a:p/>
          <a:p>
            <a:r>
              <a:t>Key talking points:</a:t>
            </a:r>
          </a:p>
          <a:p/>
          <a:p>
            <a:r>
              <a:t>- This is an icebreaker moment</a:t>
            </a:r>
          </a:p>
          <a:p>
            <a:r>
              <a:t>- Set a casual, engaging tone</a:t>
            </a:r>
          </a:p>
          <a:p>
            <a:r>
              <a:t>- The witty subtitle helps create rapport</a:t>
            </a:r>
          </a:p>
          <a:p>
            <a:r>
              <a:t>- Brief pause after displaying to let attendees read</a:t>
            </a:r>
          </a:p>
          <a:p/>
          <a:p>
            <a:r>
              <a:t>Transition: "Let's go around the room and introduce ourselves..."</a:t>
            </a:r>
          </a:p>
          <a:p/>
          <a:p>
            <a:r>
              <a:t>---</a:t>
            </a:r>
          </a:p>
          <a:p/>
          <a:p>
            <a:r>
              <a:t>Source: slides\marp\introductions.deck.md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~00:10-15 (depending on class size)</a:t>
            </a:r>
          </a:p>
          <a:p/>
          <a:p>
            <a:r>
              <a:t>Facilitate round-robin introductions. This is valuable for building rapport and understanding the experience level and expectations of the group.</a:t>
            </a:r>
          </a:p>
          <a:p/>
          <a:p>
            <a:r>
              <a:t>Facilitation tips:</a:t>
            </a:r>
          </a:p>
          <a:p/>
          <a:p>
            <a:r>
              <a:t>- Start by modeling with your own introduction</a:t>
            </a:r>
          </a:p>
          <a:p>
            <a:r>
              <a:t>- Keep each person to ~2 minutes</a:t>
            </a:r>
          </a:p>
          <a:p>
            <a:r>
              <a:t>- Note common themes or interests for later reference</a:t>
            </a:r>
          </a:p>
          <a:p>
            <a:r>
              <a:t>- Pay attention to AI experience levels to adjust pace</a:t>
            </a:r>
          </a:p>
          <a:p>
            <a:r>
              <a:t>- Listen for specific learning goals to address during the course</a:t>
            </a:r>
          </a:p>
          <a:p/>
          <a:p>
            <a:r>
              <a:t>Key observations to note:</a:t>
            </a:r>
          </a:p>
          <a:p/>
          <a:p>
            <a:r>
              <a:t>- Who has extensive AI coding experience vs. newcomers</a:t>
            </a:r>
          </a:p>
          <a:p>
            <a:r>
              <a:t>- What tools people have tried (Copilot, ChatGPT, Cursor, etc.)</a:t>
            </a:r>
          </a:p>
          <a:p>
            <a:r>
              <a:t>- Common pain points or challenges mentioned</a:t>
            </a:r>
          </a:p>
          <a:p>
            <a:r>
              <a:t>- Areas of particular interest</a:t>
            </a:r>
          </a:p>
          <a:p/>
          <a:p>
            <a:r>
              <a:t>Transition: "Great to meet everyone! Now let's talk about why we're all here..."</a:t>
            </a:r>
          </a:p>
          <a:p/>
          <a:p>
            <a:r>
              <a:t>---</a:t>
            </a:r>
          </a:p>
          <a:p/>
          <a:p>
            <a:r>
              <a:t>Source: slides\marp\introductions.deck.md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is a custom software company, a staff augmentation company, CODE Magazine for software developers, and training like this webinar. We've been in business for 30 years and the magazine just hit its 25th anniversary. Visit the website at https://www.codemag.com/ for more details.</a:t>
            </a:r>
          </a:p>
          <a:p/>
          <a:p>
            <a:r>
              <a:t>---</a:t>
            </a:r>
          </a:p>
          <a:p/>
          <a:p>
            <a:r>
              <a:t>Source: slides\marp\about-code.deck.md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Present the week-long course structure. This overview helps participants understand the progression and big-picture organization of the training.</a:t>
            </a:r>
          </a:p>
          <a:p/>
          <a:p>
            <a:r>
              <a:t>Key talking points:</a:t>
            </a:r>
          </a:p>
          <a:p/>
          <a:p>
            <a:r>
              <a:t>- Days 1-3 focus on building AI guardrails through instructions, prompts, and agents</a:t>
            </a:r>
          </a:p>
          <a:p>
            <a:r>
              <a:t>- Thursday shifts to brownfield (existing codebases) scenarios</a:t>
            </a:r>
          </a:p>
          <a:p>
            <a:r>
              <a:t>- Friday covers greenfield (new projects) development</a:t>
            </a:r>
          </a:p>
          <a:p>
            <a:r>
              <a:t>- Each day builds on previous concepts</a:t>
            </a:r>
          </a:p>
          <a:p>
            <a:r>
              <a:t>- The progression moves from foundational controls to practical application</a:t>
            </a:r>
          </a:p>
          <a:p/>
          <a:p>
            <a:r>
              <a:t>Emphasize that guardrails come first because they're essential for safe, effective AI-assisted development. The brownfield/greenfield split acknowledges that these scenarios have different challenges and considerations.</a:t>
            </a:r>
          </a:p>
          <a:p/>
          <a:p>
            <a:r>
              <a:t>Transition: "Today we'll start with the foundation..."</a:t>
            </a:r>
          </a:p>
          <a:p/>
          <a:p>
            <a:r>
              <a:t>---</a:t>
            </a:r>
          </a:p>
          <a:p/>
          <a:p>
            <a:r>
              <a:t>Source: slides\marp\daily-themes.deck.md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quote and set the framing: this is continuity, not replacement.</a:t>
            </a:r>
          </a:p>
          <a:p/>
          <a:p>
            <a:r>
              <a:t>---</a:t>
            </a:r>
          </a:p>
          <a:p/>
          <a:p>
            <a:r>
              <a:t>Source: slides\marp\whats-the-big-deal-short.deck.md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 this quickly as historical context, then pivot to AI as the next rung.</a:t>
            </a:r>
          </a:p>
          <a:p/>
          <a:p>
            <a:r>
              <a:t>---</a:t>
            </a:r>
          </a:p>
          <a:p/>
          <a:p>
            <a:r>
              <a:t>Source: slides\marp\whats-the-big-deal-short.deck.md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AI amplifies experienced developers by accelerating routine work.</a:t>
            </a:r>
          </a:p>
          <a:p/>
          <a:p>
            <a:r>
              <a:t>---</a:t>
            </a:r>
          </a:p>
          <a:p/>
          <a:p>
            <a:r>
              <a:t>Source: slides\marp\whats-the-big-deal-short.deck.md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 replacement anxiety directly: judgment and architecture remain human-led.</a:t>
            </a:r>
          </a:p>
          <a:p/>
          <a:p>
            <a:r>
              <a:t>---</a:t>
            </a:r>
          </a:p>
          <a:p/>
          <a:p>
            <a:r>
              <a:t>Source: slides\marp\whats-the-big-deal-short.deck.md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reality-check slide before closing.</a:t>
            </a:r>
          </a:p>
          <a:p/>
          <a:p>
            <a:r>
              <a:t>---</a:t>
            </a:r>
          </a:p>
          <a:p/>
          <a:p>
            <a:r>
              <a:t>Source: slides\marp\whats-the-big-deal-short.deck.md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slides\marp\the-ai-revolution.deck.md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Career Transformation: - Those who adapt: become 10x more productive, tackle bigger challenges, expand skill sets - Those who resist: may find themselves struggling with modern development expectations - New roles emerging: AI prompt engineers, AI code reviewers, AI-assisted architects</a:t>
            </a:r>
          </a:p>
          <a:p/>
          <a:p>
            <a:r>
              <a:t>Superpowers Explained: - Legacy codebases: AI can quickly understand and explain complex, undocumented systems - New technologies: Learn frameworks/languages faster with AI as a coding partner - Code quality: AI suggests improvements, catches bugs, generates comprehensive tests - Nice to haves: Features that were “too time-consuming” become feasible</a:t>
            </a:r>
          </a:p>
          <a:p/>
          <a:p>
            <a:r>
              <a:t>Examples to share: - Developer who used AI to modernize a 15-year-old PHP codebase in weeks instead of months - Team that adopted a new framework (React to Vue) with AI assistance in days - 80% reduction in boilerplate code writing time - Comprehensive test suites generated automatically</a:t>
            </a:r>
          </a:p>
          <a:p/>
          <a:p>
            <a:r>
              <a:t>Key message: AI doesn't replace developers—it amplifies their capabilities</a:t>
            </a:r>
          </a:p>
          <a:p/>
          <a:p>
            <a:r>
              <a:t>---</a:t>
            </a:r>
          </a:p>
          <a:p/>
          <a:p>
            <a:r>
              <a:t>Source: slides\marp\the-ai-revolution.deck.md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AI-First is the broad philosophy. Prompt-First is the tactical layer that enables predictable AI behavior. You can do Prompt-First without being AI-First, but not the reverse.</a:t>
            </a:r>
          </a:p>
          <a:p/>
          <a:p>
            <a:r>
              <a:t>---</a:t>
            </a:r>
          </a:p>
          <a:p/>
          <a:p>
            <a:r>
              <a:t>Source: slides\marp\the-ai-revolution.deck.md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heart of the comparison. AI-First is about organizational and architectural change. Prompt-First is about artifact discipline and predictable outputs.</a:t>
            </a:r>
          </a:p>
          <a:p/>
          <a:p>
            <a:r>
              <a:t>---</a:t>
            </a:r>
          </a:p>
          <a:p/>
          <a:p>
            <a:r>
              <a:t>Source: slides\marp\the-ai-revolution.deck.md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AI-First changes what you build and how you build it. Prompt-First changes how you communicate intent to the AI.</a:t>
            </a:r>
          </a:p>
          <a:p/>
          <a:p>
            <a:r>
              <a:t>---</a:t>
            </a:r>
          </a:p>
          <a:p/>
          <a:p>
            <a:r>
              <a:t>Source: slides\marp\the-ai-revolution.deck.md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conceptual hierarchy. Prompt-First is necessary but not sufficient for AI-First maturity.</a:t>
            </a:r>
          </a:p>
          <a:p/>
          <a:p>
            <a:r>
              <a:t>---</a:t>
            </a:r>
          </a:p>
          <a:p/>
          <a:p>
            <a:r>
              <a:t>Source: slides\marp\the-ai-revolution.deck.md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frames what we mean by AI-First development. The key idea is that AI isn't an add-on or a productivity booster—it becomes a core capability of the software lifecycle. When we design systems today, we assume AI will participate in requirements, architecture, coding, testing, and documentation.</a:t>
            </a:r>
          </a:p>
          <a:p/>
          <a:p>
            <a:r>
              <a:t>Why AI-First</a:t>
            </a:r>
          </a:p>
          <a:p>
            <a:r>
              <a:t>“Teams increasingly express requirements in natural language. AI can interpret those requirements and generate scaffolding, code, tests, and documentation.”</a:t>
            </a:r>
          </a:p>
          <a:p>
            <a:r>
              <a:t>“This shifts the developer's role from writing every line of code to defining intent, constraints, and quality expectations.”</a:t>
            </a:r>
          </a:p>
          <a:p>
            <a:r>
              <a:t>“The goal isn't to replace engineering judgment—it's to amplify it.”</a:t>
            </a:r>
          </a:p>
          <a:p/>
          <a:p>
            <a:r>
              <a:t>Core Principles</a:t>
            </a:r>
          </a:p>
          <a:p/>
          <a:p>
            <a:r>
              <a:t>Prompt-First Design</a:t>
            </a:r>
          </a:p>
          <a:p>
            <a:r>
              <a:t>“We start with structured prompts that capture behaviors, invariants, and interfaces. These become durable artifacts, just like design docs.”</a:t>
            </a:r>
          </a:p>
          <a:p/>
          <a:p>
            <a:r>
              <a:t>AI-Native Architecture</a:t>
            </a:r>
          </a:p>
          <a:p>
            <a:r>
              <a:t>“We design modules with clear boundaries so AI-generated components remain predictable and testable. Deterministic interfaces are essential.”</a:t>
            </a:r>
          </a:p>
          <a:p/>
          <a:p>
            <a:r>
              <a:t>Human-in-the-Loop</a:t>
            </a:r>
          </a:p>
          <a:p>
            <a:r>
              <a:t>“AI accelerates creation, but humans validate correctness, safety, and alignment with business intent. Review is built into the workflow.”</a:t>
            </a:r>
          </a:p>
          <a:p/>
          <a:p>
            <a:r>
              <a:t>Continuous Verification</a:t>
            </a:r>
          </a:p>
          <a:p>
            <a:r>
              <a:t>“Every AI-generated artifact—code, tests, docs—runs through automated checks. Static analysis, unit tests, and guardrails catch drift early.”</a:t>
            </a:r>
          </a:p>
          <a:p/>
          <a:p>
            <a:r>
              <a:t>Lifecycle Governance</a:t>
            </a:r>
          </a:p>
          <a:p>
            <a:r>
              <a:t>“We treat prompts, outputs, and revisions as versioned assets. Provenance and traceability matter for compliance, debugging, and long-term maintainability.”</a:t>
            </a:r>
          </a:p>
          <a:p/>
          <a:p>
            <a:r>
              <a:t>Outcomes</a:t>
            </a:r>
          </a:p>
          <a:p>
            <a:r>
              <a:t>“Teams iterate faster because intent moves directly into working prototypes.”</a:t>
            </a:r>
          </a:p>
          <a:p>
            <a:r>
              <a:t>“Documentation and test coverage improve because AI can generate them continuously.”</a:t>
            </a:r>
          </a:p>
          <a:p>
            <a:r>
              <a:t>“Developers spend more time on architecture and correctness, less on boilerplate.”</a:t>
            </a:r>
          </a:p>
          <a:p>
            <a:r>
              <a:t>“The result is software that's more adaptable and resilient over time.”</a:t>
            </a:r>
          </a:p>
          <a:p/>
          <a:p>
            <a:r>
              <a:t>---</a:t>
            </a:r>
          </a:p>
          <a:p/>
          <a:p>
            <a:r>
              <a:t>Source: slides\marp\the-ai-revolution.deck.md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the core idea behind Prompt-First development. Instead of starting with code, we start with intent. Prompts become the primary design artifact, and AI becomes the mechanism that turns intent into implementation.”</a:t>
            </a:r>
          </a:p>
          <a:p/>
          <a:p>
            <a:r>
              <a:t>Why Prompt-First</a:t>
            </a:r>
          </a:p>
          <a:p>
            <a:r>
              <a:t>“Modern development increasingly begins with natural-language descriptions of behavior. Prompt-First formalizes that by treating prompts as first-class inputs to the software lifecycle.”</a:t>
            </a:r>
          </a:p>
          <a:p>
            <a:r>
              <a:t>“The developer's role shifts from writing code line-by-line to defining outcomes, constraints, invariants, and interfaces.”</a:t>
            </a:r>
          </a:p>
          <a:p>
            <a:r>
              <a:t>“This creates a tighter alignment between business intent and the resulting system.”</a:t>
            </a:r>
          </a:p>
          <a:p/>
          <a:p>
            <a:r>
              <a:t>Core Practices</a:t>
            </a:r>
          </a:p>
          <a:p/>
          <a:p>
            <a:r>
              <a:t>Structured Prompts</a:t>
            </a:r>
          </a:p>
          <a:p>
            <a:r>
              <a:t>“We don't rely on ad-hoc prompting. We use templates for features, APIs, data models, tests, and refactors. This creates consistency and reduces ambiguity.”</a:t>
            </a:r>
          </a:p>
          <a:p/>
          <a:p>
            <a:r>
              <a:t>Instruction Files</a:t>
            </a:r>
          </a:p>
          <a:p>
            <a:r>
              <a:t>“These are durable, versioned prompt artifacts that guide AI generation. They act like living design documents that the AI reads every time it produces code.”</a:t>
            </a:r>
          </a:p>
          <a:p/>
          <a:p>
            <a:r>
              <a:t>Deterministic Boundaries</a:t>
            </a:r>
          </a:p>
          <a:p>
            <a:r>
              <a:t>“We design modules with clear contracts so AI-generated code stays predictable. The AI can generate the internals, but the interfaces remain stable and human-controlled.”</a:t>
            </a:r>
          </a:p>
          <a:p/>
          <a:p>
            <a:r>
              <a:t>Validation Loops</a:t>
            </a:r>
          </a:p>
          <a:p>
            <a:r>
              <a:t>“Every AI-generated artifact goes through automated tests and human review. The goal is to catch drift early and ensure correctness.”</a:t>
            </a:r>
          </a:p>
          <a:p/>
          <a:p>
            <a:r>
              <a:t>Prompt Versioning</a:t>
            </a:r>
          </a:p>
          <a:p>
            <a:r>
              <a:t>“Prompts evolve just like code. Tracking changes helps with debugging, reproducibility, and compliance.”</a:t>
            </a:r>
          </a:p>
          <a:p/>
          <a:p>
            <a:r>
              <a:t>Benefits</a:t>
            </a:r>
          </a:p>
          <a:p>
            <a:r>
              <a:t>“Teams move from idea to working software much faster because intent flows directly into generation.”</a:t>
            </a:r>
          </a:p>
          <a:p>
            <a:r>
              <a:t>“Generated components become more consistent because they're driven by structured prompts, not one-off instructions.”</a:t>
            </a:r>
          </a:p>
          <a:p>
            <a:r>
              <a:t>“Developers spend more time on architecture and correctness, less on boilerplate.”</a:t>
            </a:r>
          </a:p>
          <a:p>
            <a:r>
              <a:t>“The end result is a system that's easier to maintain and adapt over time.”</a:t>
            </a:r>
          </a:p>
          <a:p/>
          <a:p>
            <a:r>
              <a:t>---</a:t>
            </a:r>
          </a:p>
          <a:p/>
          <a:p>
            <a:r>
              <a:t>Source: slides\marp\the-ai-revolution.deck.md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examples to help teams visualize the difference.</a:t>
            </a:r>
          </a:p>
          <a:p>
            <a:r>
              <a:t>Prompt-First is about interfaces; AI-First is about the entire workflow.</a:t>
            </a:r>
          </a:p>
          <a:p/>
          <a:p>
            <a:r>
              <a:t>---</a:t>
            </a:r>
          </a:p>
          <a:p/>
          <a:p>
            <a:r>
              <a:t>Source: slides\marp\the-ai-revolution.deck.md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this summary to reinforce the distinction.</a:t>
            </a:r>
          </a:p>
          <a:p>
            <a:r>
              <a:t>It's the cleanest way to remember the relationship.</a:t>
            </a:r>
          </a:p>
          <a:p/>
          <a:p>
            <a:r>
              <a:t>---</a:t>
            </a:r>
          </a:p>
          <a:p/>
          <a:p>
            <a:r>
              <a:t>Source: slides\marp\the-ai-revolution.deck.md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slides\marp\repository-and-tool-setup.deck.md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~00:20</a:t>
            </a:r>
          </a:p>
          <a:p/>
          <a:p>
            <a:r>
              <a:t>  Guide participants through creating a fork of the brownfield exercise repository, cloning it locally, and creating a GitHub PAT for authenticated access. Emphasize that this setup work enables the later brownfield labs.</a:t>
            </a:r>
          </a:p>
          <a:p/>
          <a:p>
            <a:r>
              <a:t>---</a:t>
            </a:r>
          </a:p>
          <a:p/>
          <a:p>
            <a:r>
              <a:t>Source: slides\marp\exercise-fork-and-clone-repositories.deck.md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slides\marp\exercise-fork-and-clone-repositories.deck.md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~00:10</a:t>
            </a:r>
          </a:p>
          <a:p/>
          <a:p>
            <a:r>
              <a:t>Set the context by explaining that this is foundational setup for all later course tasks. Guide participants to fork first, then clone their own fork, so they have push access and can safely make changes without affecting the original repository. If students hit authentication issues, pause briefly to confirm whether they are using SSH keys or HTTPS credentials and help them choose one method consistently. Close by asking everyone to run `git branch --show-current` so they can verify they are on the brownfield branch before moving forward.</a:t>
            </a:r>
          </a:p>
          <a:p/>
          <a:p>
            <a:r>
              <a:t>---</a:t>
            </a:r>
          </a:p>
          <a:p/>
          <a:p>
            <a:r>
              <a:t>Source: slides\marp\exercise-fork-and-clone-repositories.deck.md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~00:20</a:t>
            </a:r>
          </a:p>
          <a:p/>
          <a:p>
            <a:r>
              <a:t>Frame this as brownfield readiness work and explain that a clean setup now prevents workflow friction later. Walk students through forking and cloning first, then move to PAT creation with a reminder to use least-privilege token scopes and never commit tokens to source control. During the hands-on period, check that everyone can authenticate successfully before they continue into subsequent labs. Transition by emphasizing that local clone plus PAT setup is the baseline for future repository analysis and change workflows.</a:t>
            </a:r>
          </a:p>
          <a:p/>
          <a:p>
            <a:r>
              <a:t>---</a:t>
            </a:r>
          </a:p>
          <a:p/>
          <a:p>
            <a:r>
              <a:t>Source: slides\marp\exercise-fork-and-clone-repositories.deck.md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~00:10</a:t>
            </a:r>
          </a:p>
          <a:p/>
          <a:p>
            <a:r>
              <a:t>Use this slide as a consolidation exercise to reinforce the fork-first workflow pattern across multiple repositories. Encourage participants to describe the difference between upstream and origin in their own words, because that understanding reduces merge and push mistakes later in the course. If time permits, have learners quickly clone one of the forks and verify remotes using `git remote -v` as a confidence check. End with a short recap that forking gives each participant a safe workspace while preserving the integrity of the course-owned repositories.</a:t>
            </a:r>
          </a:p>
          <a:p/>
          <a:p>
            <a:r>
              <a:t>---</a:t>
            </a:r>
          </a:p>
          <a:p/>
          <a:p>
            <a:r>
              <a:t>Source: slides\marp\exercise-fork-and-clone-repositories.deck.md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installation, auth, and a quick coding session; encourage participants to follow along.</a:t>
            </a:r>
          </a:p>
          <a:p/>
          <a:p>
            <a:r>
              <a:t>---</a:t>
            </a:r>
          </a:p>
          <a:p/>
          <a:p>
            <a:r>
              <a:t>Source: slides\marp\hands-on-with-github-copilot-vs-code.deck.md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~00:04</a:t>
            </a:r>
          </a:p>
          <a:p/>
          <a:p>
            <a:r>
              <a:t>**Delivery Instructions:**</a:t>
            </a:r>
          </a:p>
          <a:p>
            <a:r>
              <a:t>This slide demonstrates the progression from terrible to excellent prompts—walk through each example deliberately.</a:t>
            </a:r>
          </a:p>
          <a:p/>
          <a:p>
            <a:r>
              <a:t>**Example 1 (Bad):** "Add error handling to my code" - Read this with a slightly exasperated tone. Point out: What code? What language? What kind of errors? Copilot literally has no context to work with. This is like asking a contractor to "fix your house" with no other information.</a:t>
            </a:r>
          </a:p>
          <a:p/>
          <a:p>
            <a:r>
              <a:t>**Example 2 (Better):** Read the second prompt and note improvements: specifies JavaScript, specifies function purpose (external API call), lists specific error types (network timeouts, 404, JSON parsing). But emphasize the problem: "still generic without seeing actual code structure." Copilot doesn't know your coding patterns, your existing error handling approach, or your project structure.</a:t>
            </a:r>
          </a:p>
          <a:p/>
          <a:p>
            <a:r>
              <a:t>**Example 3 (Best):** Read the third prompt slowly, highlighting key improvements:</a:t>
            </a:r>
          </a:p>
          <a:p/>
          <a:p>
            <a:r>
              <a:t>- Uses `@file:api-client.js` to reference specific file (Copilot can see the actual code)</a:t>
            </a:r>
          </a:p>
          <a:p>
            <a:r>
              <a:t>- Names the exact function (`fetchUserData`)</a:t>
            </a:r>
          </a:p>
          <a:p>
            <a:r>
              <a:t>- Provides precise timeout threshold (&gt;5s, not just "timeouts")</a:t>
            </a:r>
          </a:p>
          <a:p>
            <a:r>
              <a:t>- Lists specific HTTP codes (404, 500, etc.)</a:t>
            </a:r>
          </a:p>
          <a:p>
            <a:r>
              <a:t>- References another file `@file:error-types.js` for consistency with existing patterns</a:t>
            </a:r>
          </a:p>
          <a:p/>
          <a:p>
            <a:r>
              <a:t>**Key Teaching Point:** "The difference between prompt 1 and prompt 3 is the difference between Copilot asking YOU 10 clarifying questions versus Copilot just doing exactly what you need. Specificity saves time."</a:t>
            </a:r>
          </a:p>
          <a:p/>
          <a:p>
            <a:r>
              <a:t>**Audience Interaction:** Ask: "How many of you have written prompts like example 1? Don't worry—we all start there. By the end of today, you'll be writing prompts like example 3 automatically."</a:t>
            </a:r>
          </a:p>
          <a:p/>
          <a:p>
            <a:r>
              <a:t>**Transition:** "Now let's practice this in a hands-on lab where you'll learn to add context using @ symbols..."</a:t>
            </a:r>
          </a:p>
          <a:p/>
          <a:p>
            <a:r>
              <a:t>---</a:t>
            </a:r>
          </a:p>
          <a:p/>
          <a:p>
            <a:r>
              <a:t>Source: slides\marp\hands-on-with-github-copilot-vs-code.deck.md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Ask vs Edit modes and when each is most useful. Speak to Agent Mode and Custom Chat Modes briefly. We'll work with those later.</a:t>
            </a:r>
          </a:p>
          <a:p/>
          <a:p>
            <a:r>
              <a:t>---</a:t>
            </a:r>
          </a:p>
          <a:p/>
          <a:p>
            <a:r>
              <a:t>Source: slides\marp\hands-on-with-github-copilot-vs-code.deck.md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slides\marp\hands-on-with-github-copilot-vs-code.deck.md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~00:30</a:t>
            </a:r>
          </a:p>
          <a:p/>
          <a:p>
            <a:r>
              <a:t>Use this lab as the onboarding checkpoint for all remaining Copilot exercises. Start by confirming everyone has VS Code open and can reach the extension marketplace, then walk the room while participants sign in and complete authentication. Pause after each interface element so learners can find it before moving forward, especially quick chat and model selection since these are easy to miss for first-time users. Close by asking each participant to start one test chat so you can confirm readiness before transitioning to context management.</a:t>
            </a:r>
          </a:p>
          <a:p/>
          <a:p>
            <a:r>
              <a:t>---</a:t>
            </a:r>
          </a:p>
          <a:p/>
          <a:p>
            <a:r>
              <a:t>Source: slides\marp\exercise-github-copilot-vscode-workflows.deck.md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~00:20</a:t>
            </a:r>
          </a:p>
          <a:p/>
          <a:p>
            <a:r>
              <a:t>Frame this as the first skill that directly improves Copilot output quality without changing tools or models. During the @ symbol walkthrough, have participants perform each step live and explain what new information Copilot gains from each context type. For the prompt comparison, ask learners to keep the same goal and only change context quality so the difference is obvious and measurable. End by normalizing context window limits as expected behavior, then reinforce the habit that new topic equals new chat.</a:t>
            </a:r>
          </a:p>
          <a:p/>
          <a:p>
            <a:r>
              <a:t>---</a:t>
            </a:r>
          </a:p>
          <a:p/>
          <a:p>
            <a:r>
              <a:t>Source: slides\marp\exercise-github-copilot-vscode-workflows.deck.md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~00:20</a:t>
            </a:r>
          </a:p>
          <a:p/>
          <a:p>
            <a:r>
              <a:t>Introduce this lab as productivity hygiene that prevents context fatigue and low-quality responses later in the day. Coach participants to separate work streams by topic, and use quick chat for interruptions so their main conversation remains coherent and reusable. During the history review, have each learner identify one prompt that worked well and explain why it worked, which helps them build a personal prompting playbook. Finish with the context window management bullets as operational rules they can apply in every future session.</a:t>
            </a:r>
          </a:p>
          <a:p/>
          <a:p>
            <a:r>
              <a:t>---</a:t>
            </a:r>
          </a:p>
          <a:p/>
          <a:p>
            <a:r>
              <a:t>Source: slides\marp\exercise-github-copilot-vscode-workflows.deck.md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~00:20</a:t>
            </a:r>
          </a:p>
          <a:p/>
          <a:p>
            <a:r>
              <a:t>Position this lab as decision-making practice so participants learn to match the mode to the work, not just default to one interface. In Ask mode, emphasize low-risk exploration and comparative learning with different models before making any code changes. In Edit mode, slow down and review diffs so learners build trust through verification rather than blind acceptance. In Agent mode, demonstrate value on a task that justifies automation, then connect the result to token usage so participants can balance cost and productivity in real workflows.</a:t>
            </a:r>
          </a:p>
          <a:p/>
          <a:p>
            <a:r>
              <a:t>---</a:t>
            </a:r>
          </a:p>
          <a:p/>
          <a:p>
            <a:r>
              <a:t>Source: slides\marp\exercise-github-copilot-vscode-workflows.deck.md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the collaborative development process we'll follow for building our calculator application — and mob programming will be central to how we work together.</a:t>
            </a:r>
          </a:p>
          <a:p/>
          <a:p>
            <a:r>
              <a:t>Except for Project Setup and Basic Arithmetic functions, the mob controls the direction of the implementation. The other labs are optional and can be used when the mob directs the development of that feature or as suggestions should the mob struggle for direction.</a:t>
            </a:r>
          </a:p>
          <a:p/>
          <a:p>
            <a:r>
              <a:t>We begin with Project Setup, where the team configures the environment, aligns on goals, and prepares the repo. This is done as a mob — one keyboard, one screen, and everyone contributing ideas in real time. It ensures shared understanding from the start.</a:t>
            </a:r>
          </a:p>
          <a:p/>
          <a:p>
            <a:r>
              <a:t>At the end of the day, we introduce Evergreen Software Development — a mindset of continuous improvement.</a:t>
            </a:r>
          </a:p>
          <a:p/>
          <a:p>
            <a:r>
              <a:t>Random ideas:</a:t>
            </a:r>
          </a:p>
          <a:p>
            <a:r>
              <a:t>Implementing Observability</a:t>
            </a:r>
          </a:p>
          <a:p/>
          <a:p>
            <a:r>
              <a:t>Scaffold a new C# command line project using .NET. The project should include:</a:t>
            </a:r>
          </a:p>
          <a:p>
            <a:r>
              <a:t>A Program.cs file with a simple "Hello, World!" example.</a:t>
            </a:r>
          </a:p>
          <a:p>
            <a:r>
              <a:t>A .csproj file configured for a console application.</a:t>
            </a:r>
          </a:p>
          <a:p>
            <a:r>
              <a:t>A README.md with build and run instructions.</a:t>
            </a:r>
          </a:p>
          <a:p>
            <a:r>
              <a:t>The project should be ready to build and run from the command line.</a:t>
            </a:r>
          </a:p>
          <a:p/>
          <a:p>
            <a:r>
              <a:t>---</a:t>
            </a:r>
          </a:p>
          <a:p/>
          <a:p>
            <a:r>
              <a:t>Source: slides\marp\vibe-coding.deck.md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~01:00</a:t>
            </a:r>
          </a:p>
          <a:p/>
          <a:p/>
          <a:p>
            <a:r>
              <a:t>**Prerequisites:** Calculator project context available</a:t>
            </a:r>
          </a:p>
          <a:p/>
          <a:p>
            <a:r>
              <a:t>### Objectives</a:t>
            </a:r>
          </a:p>
          <a:p/>
          <a:p>
            <a:r>
              <a:t>- Scaffold core operations with AI assistance.</a:t>
            </a:r>
          </a:p>
          <a:p>
            <a:r>
              <a:t>- Validate generated logic before accepting changes.</a:t>
            </a:r>
          </a:p>
          <a:p>
            <a:r>
              <a:t>- Deliver a working baseline calculator.</a:t>
            </a:r>
          </a:p>
          <a:p/>
          <a:p>
            <a:r>
              <a:t>### Activities</a:t>
            </a:r>
          </a:p>
          <a:p/>
          <a:p>
            <a:r>
              <a:t>- Build project skeleton, implement 4 operations, and verify behavior.</a:t>
            </a:r>
          </a:p>
          <a:p>
            <a:r>
              <a:t>- Emphasize manual review of AI output before merge.</a:t>
            </a:r>
          </a:p>
          <a:p/>
          <a:p>
            <a:r>
              <a:t>### Success Criteria</a:t>
            </a:r>
          </a:p>
          <a:p/>
          <a:p>
            <a:r>
              <a:t>- Four operations work end-to-end.</a:t>
            </a:r>
          </a:p>
          <a:p>
            <a:r>
              <a:t>- Build is green.</a:t>
            </a:r>
          </a:p>
          <a:p>
            <a:r>
              <a:t>- Team can explain logic and edge-case handling.</a:t>
            </a:r>
          </a:p>
          <a:p/>
          <a:p>
            <a:r>
              <a:t>---</a:t>
            </a:r>
          </a:p>
          <a:p/>
          <a:p>
            <a:r>
              <a:t>Source: slides\marp\exercise-calculator-project.deck.md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~00:15</a:t>
            </a:r>
          </a:p>
          <a:p/>
          <a:p/>
          <a:p>
            <a:r>
              <a:t>**Prerequisites:** Basic calculator state model</a:t>
            </a:r>
          </a:p>
          <a:p/>
          <a:p>
            <a:r>
              <a:t>### Objectives</a:t>
            </a:r>
          </a:p>
          <a:p/>
          <a:p>
            <a:r>
              <a:t>- Separate entry-level clear from full reset behavior.</a:t>
            </a:r>
          </a:p>
          <a:p>
            <a:r>
              <a:t>- Verify expected transitions from each action.</a:t>
            </a:r>
          </a:p>
          <a:p/>
          <a:p>
            <a:r>
              <a:t>### Activities</a:t>
            </a:r>
          </a:p>
          <a:p/>
          <a:p>
            <a:r>
              <a:t>- Use focused prompts and test state transitions quickly.</a:t>
            </a:r>
          </a:p>
          <a:p/>
          <a:p>
            <a:r>
              <a:t>### Success Criteria</a:t>
            </a:r>
          </a:p>
          <a:p/>
          <a:p>
            <a:r>
              <a:t>- CE and C behaviors are consistent and explainable.</a:t>
            </a:r>
          </a:p>
          <a:p/>
          <a:p>
            <a:r>
              <a:t>---</a:t>
            </a:r>
          </a:p>
          <a:p/>
          <a:p>
            <a:r>
              <a:t>Source: slides\marp\exercise-calculator-project.deck.md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~00:12</a:t>
            </a:r>
          </a:p>
          <a:p/>
          <a:p/>
          <a:p>
            <a:r>
              <a:t>**Prerequisites:** Input parser in place</a:t>
            </a:r>
          </a:p>
          <a:p/>
          <a:p>
            <a:r>
              <a:t>### Objectives</a:t>
            </a:r>
          </a:p>
          <a:p/>
          <a:p>
            <a:r>
              <a:t>- Implement robust decimal parsing and validation.</a:t>
            </a:r>
          </a:p>
          <a:p/>
          <a:p>
            <a:r>
              <a:t>### Activities</a:t>
            </a:r>
          </a:p>
          <a:p/>
          <a:p>
            <a:r>
              <a:t>- Target parser rules, then validate with focused tests.</a:t>
            </a:r>
          </a:p>
          <a:p/>
          <a:p>
            <a:r>
              <a:t>### Success Criteria</a:t>
            </a:r>
          </a:p>
          <a:p/>
          <a:p>
            <a:r>
              <a:t>- No duplicate decimal points accepted.</a:t>
            </a:r>
          </a:p>
          <a:p>
            <a:r>
              <a:t>- Decimal math behaves correctly.</a:t>
            </a:r>
          </a:p>
          <a:p/>
          <a:p>
            <a:r>
              <a:t>---</a:t>
            </a:r>
          </a:p>
          <a:p/>
          <a:p>
            <a:r>
              <a:t>Source: slides\marp\exercise-calculator-project.deck.md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~00:08</a:t>
            </a:r>
          </a:p>
          <a:p/>
          <a:p/>
          <a:p>
            <a:r>
              <a:t>**Prerequisites:** Numeric input flow functioning</a:t>
            </a:r>
          </a:p>
          <a:p/>
          <a:p>
            <a:r>
              <a:t>### Objectives</a:t>
            </a:r>
          </a:p>
          <a:p/>
          <a:p>
            <a:r>
              <a:t>- Add predictable sign toggling.</a:t>
            </a:r>
          </a:p>
          <a:p/>
          <a:p>
            <a:r>
              <a:t>### Activities</a:t>
            </a:r>
          </a:p>
          <a:p/>
          <a:p>
            <a:r>
              <a:t>- Keep implementation minimal and test transitions.</a:t>
            </a:r>
          </a:p>
          <a:p/>
          <a:p>
            <a:r>
              <a:t>### Success Criteria</a:t>
            </a:r>
          </a:p>
          <a:p/>
          <a:p>
            <a:r>
              <a:t>- Toggle is stable across value states.</a:t>
            </a:r>
          </a:p>
          <a:p/>
          <a:p>
            <a:r>
              <a:t>---</a:t>
            </a:r>
          </a:p>
          <a:p/>
          <a:p>
            <a:r>
              <a:t>Source: slides\marp\exercise-calculator-project.deck.md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~00:15</a:t>
            </a:r>
          </a:p>
          <a:p/>
          <a:p/>
          <a:p>
            <a:r>
              <a:t>**Prerequisites:** Core arithmetic implemented</a:t>
            </a:r>
          </a:p>
          <a:p/>
          <a:p>
            <a:r>
              <a:t>### Objectives</a:t>
            </a:r>
          </a:p>
          <a:p/>
          <a:p>
            <a:r>
              <a:t>- Align percentage behavior with user expectations.</a:t>
            </a:r>
          </a:p>
          <a:p/>
          <a:p>
            <a:r>
              <a:t>### Activities</a:t>
            </a:r>
          </a:p>
          <a:p/>
          <a:p>
            <a:r>
              <a:t>- Compare generated logic with known calculator semantics.</a:t>
            </a:r>
          </a:p>
          <a:p/>
          <a:p>
            <a:r>
              <a:t>### Success Criteria</a:t>
            </a:r>
          </a:p>
          <a:p/>
          <a:p>
            <a:r>
              <a:t>- Three key percentage patterns operate correctly.</a:t>
            </a:r>
          </a:p>
          <a:p/>
          <a:p>
            <a:r>
              <a:t>---</a:t>
            </a:r>
          </a:p>
          <a:p/>
          <a:p>
            <a:r>
              <a:t>Source: slides\marp\exercise-calculator-project.deck.md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~00:18</a:t>
            </a:r>
          </a:p>
          <a:p/>
          <a:p/>
          <a:p>
            <a:r>
              <a:t>**Prerequisites:** Calculator state architecture defined</a:t>
            </a:r>
          </a:p>
          <a:p/>
          <a:p>
            <a:r>
              <a:t>### Objectives</a:t>
            </a:r>
          </a:p>
          <a:p/>
          <a:p>
            <a:r>
              <a:t>- Add reliable memory operations.</a:t>
            </a:r>
          </a:p>
          <a:p/>
          <a:p>
            <a:r>
              <a:t>### Activities</a:t>
            </a:r>
          </a:p>
          <a:p/>
          <a:p>
            <a:r>
              <a:t>- Ensure memory state is explicit and testable.</a:t>
            </a:r>
          </a:p>
          <a:p/>
          <a:p>
            <a:r>
              <a:t>### Success Criteria</a:t>
            </a:r>
          </a:p>
          <a:p/>
          <a:p>
            <a:r>
              <a:t>- Memory operations are consistent and validated.</a:t>
            </a:r>
          </a:p>
          <a:p/>
          <a:p>
            <a:r>
              <a:t>---</a:t>
            </a:r>
          </a:p>
          <a:p/>
          <a:p>
            <a:r>
              <a:t>Source: slides\marp\exercise-calculator-project.deck.md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~00:10</a:t>
            </a:r>
          </a:p>
          <a:p/>
          <a:p/>
          <a:p>
            <a:r>
              <a:t>**Prerequisites:** Core operations implemented</a:t>
            </a:r>
          </a:p>
          <a:p/>
          <a:p>
            <a:r>
              <a:t>### Objectives</a:t>
            </a:r>
          </a:p>
          <a:p/>
          <a:p>
            <a:r>
              <a:t>- Build robust error paths without breaking user flow.</a:t>
            </a:r>
          </a:p>
          <a:p/>
          <a:p>
            <a:r>
              <a:t>### Activities</a:t>
            </a:r>
          </a:p>
          <a:p/>
          <a:p>
            <a:r>
              <a:t>- Validate both error detection and post-error recovery.</a:t>
            </a:r>
          </a:p>
          <a:p/>
          <a:p>
            <a:r>
              <a:t>### Success Criteria</a:t>
            </a:r>
          </a:p>
          <a:p/>
          <a:p>
            <a:r>
              <a:t>- Error handling is visible, predictable, and recoverable.</a:t>
            </a:r>
          </a:p>
          <a:p/>
          <a:p>
            <a:r>
              <a:t>---</a:t>
            </a:r>
          </a:p>
          <a:p/>
          <a:p>
            <a:r>
              <a:t>Source: slides\marp\exercise-calculator-project.deck.md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~00:15</a:t>
            </a:r>
          </a:p>
          <a:p/>
          <a:p/>
          <a:p>
            <a:r>
              <a:t>**Prerequisites:** Advanced operation framework available</a:t>
            </a:r>
          </a:p>
          <a:p/>
          <a:p>
            <a:r>
              <a:t>### Objectives</a:t>
            </a:r>
          </a:p>
          <a:p/>
          <a:p>
            <a:r>
              <a:t>- Add trig support with explicit angle-mode handling.</a:t>
            </a:r>
          </a:p>
          <a:p/>
          <a:p>
            <a:r>
              <a:t>### Activities</a:t>
            </a:r>
          </a:p>
          <a:p/>
          <a:p>
            <a:r>
              <a:t>- Implement and validate both behavior and mode switching.</a:t>
            </a:r>
          </a:p>
          <a:p/>
          <a:p>
            <a:r>
              <a:t>### Success Criteria</a:t>
            </a:r>
          </a:p>
          <a:p/>
          <a:p>
            <a:r>
              <a:t>- Trig pipeline works end-to-end with tested expectations.</a:t>
            </a:r>
          </a:p>
          <a:p/>
          <a:p>
            <a:r>
              <a:t>---</a:t>
            </a:r>
          </a:p>
          <a:p/>
          <a:p>
            <a:r>
              <a:t>Source: slides\marp\exercise-calculator-project.deck.md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~00:15</a:t>
            </a:r>
          </a:p>
          <a:p/>
          <a:p/>
          <a:p>
            <a:r>
              <a:t>**Prerequisites:** Core logic stable and testable</a:t>
            </a:r>
          </a:p>
          <a:p/>
          <a:p>
            <a:r>
              <a:t>### Objectives</a:t>
            </a:r>
          </a:p>
          <a:p/>
          <a:p>
            <a:r>
              <a:t>- Wire UI interactions cleanly to existing logic.</a:t>
            </a:r>
          </a:p>
          <a:p/>
          <a:p>
            <a:r>
              <a:t>### Activities</a:t>
            </a:r>
          </a:p>
          <a:p/>
          <a:p>
            <a:r>
              <a:t>- Prioritize event mapping clarity over visual polish.</a:t>
            </a:r>
          </a:p>
          <a:p/>
          <a:p>
            <a:r>
              <a:t>### Success Criteria</a:t>
            </a:r>
          </a:p>
          <a:p/>
          <a:p>
            <a:r>
              <a:t>- Workflow passes from input to output with no breaks.</a:t>
            </a:r>
          </a:p>
          <a:p/>
          <a:p>
            <a:r>
              <a:t>---</a:t>
            </a:r>
          </a:p>
          <a:p/>
          <a:p>
            <a:r>
              <a:t>Source: slides\marp\exercise-calculator-project.deck.md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~01:00</a:t>
            </a:r>
          </a:p>
          <a:p/>
          <a:p/>
          <a:p>
            <a:r>
              <a:t>**Prerequisites:** Calculator logic implemented</a:t>
            </a:r>
          </a:p>
          <a:p/>
          <a:p>
            <a:r>
              <a:t>### Objectives</a:t>
            </a:r>
          </a:p>
          <a:p/>
          <a:p>
            <a:r>
              <a:t>- Improve test quality, not just test count.</a:t>
            </a:r>
          </a:p>
          <a:p/>
          <a:p>
            <a:r>
              <a:t>### Activities</a:t>
            </a:r>
          </a:p>
          <a:p/>
          <a:p>
            <a:r>
              <a:t>- Review generated tests critically before accepting.</a:t>
            </a:r>
          </a:p>
          <a:p/>
          <a:p>
            <a:r>
              <a:t>### Success Criteria</a:t>
            </a:r>
          </a:p>
          <a:p/>
          <a:p>
            <a:r>
              <a:t>- Test suite is meaningful, comprehensive, and green.</a:t>
            </a:r>
          </a:p>
          <a:p/>
          <a:p>
            <a:r>
              <a:t>---</a:t>
            </a:r>
          </a:p>
          <a:p/>
          <a:p>
            <a:r>
              <a:t>Source: slides\marp\exercise-calculator-project.deck.md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~00:40</a:t>
            </a:r>
          </a:p>
          <a:p/>
          <a:p/>
          <a:p>
            <a:r>
              <a:t>**Prerequisites:** Stable test suite</a:t>
            </a:r>
          </a:p>
          <a:p/>
          <a:p>
            <a:r>
              <a:t>### Objectives</a:t>
            </a:r>
          </a:p>
          <a:p/>
          <a:p>
            <a:r>
              <a:t>- Use coverage as a guide for targeted testing.</a:t>
            </a:r>
          </a:p>
          <a:p/>
          <a:p>
            <a:r>
              <a:t>### Activities</a:t>
            </a:r>
          </a:p>
          <a:p/>
          <a:p>
            <a:r>
              <a:t>- Treat uncovered code as investigation points, not automatic defects.</a:t>
            </a:r>
          </a:p>
          <a:p/>
          <a:p>
            <a:r>
              <a:t>### Success Criteria</a:t>
            </a:r>
          </a:p>
          <a:p/>
          <a:p>
            <a:r>
              <a:t>- Coverage setup works and leads to actionable improvements.</a:t>
            </a:r>
          </a:p>
          <a:p/>
          <a:p>
            <a:r>
              <a:t>---</a:t>
            </a:r>
          </a:p>
          <a:p/>
          <a:p>
            <a:r>
              <a:t>Source: slides\marp\exercise-calculator-project.deck.md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~00:40</a:t>
            </a:r>
          </a:p>
          <a:p/>
          <a:p/>
          <a:p>
            <a:r>
              <a:t>**Prerequisites:** Build/test environment configured</a:t>
            </a:r>
          </a:p>
          <a:p/>
          <a:p>
            <a:r>
              <a:t>### Objectives</a:t>
            </a:r>
          </a:p>
          <a:p/>
          <a:p>
            <a:r>
              <a:t>- Build confidence in diagnosing and fixing dependency failures.</a:t>
            </a:r>
          </a:p>
          <a:p/>
          <a:p>
            <a:r>
              <a:t>### Activities</a:t>
            </a:r>
          </a:p>
          <a:p/>
          <a:p>
            <a:r>
              <a:t>- Emphasize iterative debugging and evidence-based prompts.</a:t>
            </a:r>
          </a:p>
          <a:p/>
          <a:p>
            <a:r>
              <a:t>### Success Criteria</a:t>
            </a:r>
          </a:p>
          <a:p/>
          <a:p>
            <a:r>
              <a:t>- Issue resolution is repeatable and well-documented.</a:t>
            </a:r>
          </a:p>
          <a:p/>
          <a:p>
            <a:r>
              <a:t>---</a:t>
            </a:r>
          </a:p>
          <a:p/>
          <a:p>
            <a:r>
              <a:t>Source: slides\marp\exercise-calculator-project.deck.md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~00:40</a:t>
            </a:r>
          </a:p>
          <a:p/>
          <a:p/>
          <a:p>
            <a:r>
              <a:t>**Prerequisites:** Working project baseline</a:t>
            </a:r>
          </a:p>
          <a:p/>
          <a:p>
            <a:r>
              <a:t>### Objectives</a:t>
            </a:r>
          </a:p>
          <a:p/>
          <a:p>
            <a:r>
              <a:t>- Turn AI suggestions into intentional quality improvements.</a:t>
            </a:r>
          </a:p>
          <a:p/>
          <a:p>
            <a:r>
              <a:t>### Activities</a:t>
            </a:r>
          </a:p>
          <a:p/>
          <a:p>
            <a:r>
              <a:t>- Keep only changes with clear maintainability value.</a:t>
            </a:r>
          </a:p>
          <a:p/>
          <a:p>
            <a:r>
              <a:t>### Success Criteria</a:t>
            </a:r>
          </a:p>
          <a:p/>
          <a:p>
            <a:r>
              <a:t>- Improvements are justified and validated.</a:t>
            </a:r>
          </a:p>
          <a:p/>
          <a:p>
            <a:r>
              <a:t>---</a:t>
            </a:r>
          </a:p>
          <a:p/>
          <a:p>
            <a:r>
              <a:t>Source: slides\marp\exercise-calculator-project.deck.md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~00:30</a:t>
            </a:r>
          </a:p>
          <a:p/>
          <a:p/>
          <a:p>
            <a:r>
              <a:t>**Prerequisites:** Access to multiple model options</a:t>
            </a:r>
          </a:p>
          <a:p/>
          <a:p>
            <a:r>
              <a:t>### Objectives</a:t>
            </a:r>
          </a:p>
          <a:p/>
          <a:p>
            <a:r>
              <a:t>- Build practical model-selection judgment.</a:t>
            </a:r>
          </a:p>
          <a:p/>
          <a:p>
            <a:r>
              <a:t>### Activities</a:t>
            </a:r>
          </a:p>
          <a:p/>
          <a:p>
            <a:r>
              <a:t>- Compare quality, speed, and token cost for same prompt.</a:t>
            </a:r>
          </a:p>
          <a:p/>
          <a:p>
            <a:r>
              <a:t>### Success Criteria</a:t>
            </a:r>
          </a:p>
          <a:p/>
          <a:p>
            <a:r>
              <a:t>- Team can explain when premium models are worth it.</a:t>
            </a:r>
          </a:p>
          <a:p/>
          <a:p>
            <a:r>
              <a:t>---</a:t>
            </a:r>
          </a:p>
          <a:p/>
          <a:p>
            <a:r>
              <a:t>Source: slides\marp\exercise-calculator-project.deck.md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~00:15</a:t>
            </a:r>
          </a:p>
          <a:p/>
          <a:p/>
          <a:p>
            <a:r>
              <a:t>**Prerequisites:** UI and logic currently coupled</a:t>
            </a:r>
          </a:p>
          <a:p/>
          <a:p>
            <a:r>
              <a:t>### Objectives</a:t>
            </a:r>
          </a:p>
          <a:p/>
          <a:p>
            <a:r>
              <a:t>- Improve architecture through separation of concerns.</a:t>
            </a:r>
          </a:p>
          <a:p/>
          <a:p>
            <a:r>
              <a:t>### Activities</a:t>
            </a:r>
          </a:p>
          <a:p/>
          <a:p>
            <a:r>
              <a:t>- Create clear, testable boundaries between UI and engine.</a:t>
            </a:r>
          </a:p>
          <a:p/>
          <a:p>
            <a:r>
              <a:t>### Success Criteria</a:t>
            </a:r>
          </a:p>
          <a:p/>
          <a:p>
            <a:r>
              <a:t>- Core logic is isolated and reusable.</a:t>
            </a:r>
          </a:p>
          <a:p/>
          <a:p>
            <a:r>
              <a:t>---</a:t>
            </a:r>
          </a:p>
          <a:p/>
          <a:p>
            <a:r>
              <a:t>Source: slides\marp\exercise-calculator-project.deck.md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~00:40</a:t>
            </a:r>
          </a:p>
          <a:p/>
          <a:p/>
          <a:p>
            <a:r>
              <a:t>**Prerequisites:** Functional calculator project</a:t>
            </a:r>
          </a:p>
          <a:p/>
          <a:p>
            <a:r>
              <a:t>### Objectives</a:t>
            </a:r>
          </a:p>
          <a:p/>
          <a:p>
            <a:r>
              <a:t>- Apply practical security checks to working code.</a:t>
            </a:r>
          </a:p>
          <a:p/>
          <a:p>
            <a:r>
              <a:t>### Activities</a:t>
            </a:r>
          </a:p>
          <a:p/>
          <a:p>
            <a:r>
              <a:t>- Validate fixes with tests and review, not assumptions.</a:t>
            </a:r>
          </a:p>
          <a:p/>
          <a:p>
            <a:r>
              <a:t>### Success Criteria</a:t>
            </a:r>
          </a:p>
          <a:p/>
          <a:p>
            <a:r>
              <a:t>- Security posture improves with documented rationale.</a:t>
            </a:r>
          </a:p>
          <a:p/>
          <a:p>
            <a:r>
              <a:t>---</a:t>
            </a:r>
          </a:p>
          <a:p/>
          <a:p>
            <a:r>
              <a:t>Source: slides\marp\exercise-calculator-project.deck.md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~00:40</a:t>
            </a:r>
          </a:p>
          <a:p/>
          <a:p/>
          <a:p>
            <a:r>
              <a:t>**Prerequisites:** Stable code to document</a:t>
            </a:r>
          </a:p>
          <a:p/>
          <a:p>
            <a:r>
              <a:t>### Objectives</a:t>
            </a:r>
          </a:p>
          <a:p/>
          <a:p>
            <a:r>
              <a:t>- Produce maintainable, user-focused documentation.</a:t>
            </a:r>
          </a:p>
          <a:p/>
          <a:p>
            <a:r>
              <a:t>### Activities</a:t>
            </a:r>
          </a:p>
          <a:p/>
          <a:p>
            <a:r>
              <a:t>- Treat generated docs as drafts requiring technical review.</a:t>
            </a:r>
          </a:p>
          <a:p/>
          <a:p>
            <a:r>
              <a:t>### Success Criteria</a:t>
            </a:r>
          </a:p>
          <a:p/>
          <a:p>
            <a:r>
              <a:t>- Docs are complete, correct, and actionable.</a:t>
            </a:r>
          </a:p>
          <a:p/>
          <a:p>
            <a:r>
              <a:t>---</a:t>
            </a:r>
          </a:p>
          <a:p/>
          <a:p>
            <a:r>
              <a:t>Source: slides\marp\exercise-calculator-project.deck.md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~00:40</a:t>
            </a:r>
          </a:p>
          <a:p/>
          <a:p/>
          <a:p>
            <a:r>
              <a:t>**Prerequisites:** Existing implementation with improvement opportunities</a:t>
            </a:r>
          </a:p>
          <a:p/>
          <a:p>
            <a:r>
              <a:t>### Objectives</a:t>
            </a:r>
          </a:p>
          <a:p/>
          <a:p>
            <a:r>
              <a:t>- Use AI for option generation, then apply engineering judgment.</a:t>
            </a:r>
          </a:p>
          <a:p/>
          <a:p>
            <a:r>
              <a:t>### Activities</a:t>
            </a:r>
          </a:p>
          <a:p/>
          <a:p>
            <a:r>
              <a:t>- Compare alternatives using explicit criteria.</a:t>
            </a:r>
          </a:p>
          <a:p/>
          <a:p>
            <a:r>
              <a:t>### Success Criteria</a:t>
            </a:r>
          </a:p>
          <a:p/>
          <a:p>
            <a:r>
              <a:t>- Selected refactor improves clarity without regressions.</a:t>
            </a:r>
          </a:p>
          <a:p/>
          <a:p>
            <a:r>
              <a:t>---</a:t>
            </a:r>
          </a:p>
          <a:p/>
          <a:p>
            <a:r>
              <a:t>Source: slides\marp\exercise-calculator-project.deck.md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~00:45</a:t>
            </a:r>
          </a:p>
          <a:p/>
          <a:p/>
          <a:p>
            <a:r>
              <a:t>**Prerequisites:** Lab 1 completed, existing test suite</a:t>
            </a:r>
          </a:p>
          <a:p/>
          <a:p>
            <a:r>
              <a:t>### Objectives</a:t>
            </a:r>
          </a:p>
          <a:p/>
          <a:p>
            <a:r>
              <a:t>- Analyze code coverage reports</a:t>
            </a:r>
          </a:p>
          <a:p>
            <a:r>
              <a:t>- Use Copilot to intelligently add tests</a:t>
            </a:r>
          </a:p>
          <a:p>
            <a:r>
              <a:t>- Achieve target coverage percentage</a:t>
            </a:r>
          </a:p>
          <a:p>
            <a:r>
              <a:t>- Balance quantity vs. quality of tests</a:t>
            </a:r>
          </a:p>
          <a:p/>
          <a:p>
            <a:r>
              <a:t>### Activities</a:t>
            </a:r>
          </a:p>
          <a:p/>
          <a:p>
            <a:r>
              <a:t>1. Review current coverage metrics and identify weak areas by file/class.</a:t>
            </a:r>
          </a:p>
          <a:p>
            <a:r>
              <a:t>2. Use Copilot prompts to generate targeted tests for uncovered code paths.</a:t>
            </a:r>
          </a:p>
          <a:p>
            <a:r>
              <a:t>3. Improve strategically with edge-case and integration-focused prompts.</a:t>
            </a:r>
          </a:p>
          <a:p>
            <a:r>
              <a:t>4. Validate test quality to ensure behavior is truly verified.</a:t>
            </a:r>
          </a:p>
          <a:p>
            <a:r>
              <a:t>5. Re-run coverage and compare before/after outcomes.</a:t>
            </a:r>
          </a:p>
          <a:p/>
          <a:p>
            <a:r>
              <a:t>### Success Criteria</a:t>
            </a:r>
          </a:p>
          <a:p/>
          <a:p>
            <a:r>
              <a:t>- Coverage increases by at least 20 percentage points.</a:t>
            </a:r>
          </a:p>
          <a:p>
            <a:r>
              <a:t>- New tests are meaningful and exercise actual implementation logic.</a:t>
            </a:r>
          </a:p>
          <a:p>
            <a:r>
              <a:t>- Edge cases and error conditions are covered.</a:t>
            </a:r>
          </a:p>
          <a:p>
            <a:r>
              <a:t>- Coverage reporting clearly shows improvement.</a:t>
            </a:r>
          </a:p>
          <a:p>
            <a:r>
              <a:t>- Participants can explain quality vs. quantity trade-offs.</a:t>
            </a:r>
          </a:p>
          <a:p/>
          <a:p>
            <a:r>
              <a:t>### Key Learning Point</a:t>
            </a:r>
          </a:p>
          <a:p/>
          <a:p>
            <a:r>
              <a:t>As discovered in the session, asking Copilot to "increase coverage to 50%" can work because it can intelligently identify which code paths need testing. This can be more efficient than manually finding every gap, but quality checks are still required.</a:t>
            </a:r>
          </a:p>
          <a:p/>
          <a:p>
            <a:r>
              <a:t>---</a:t>
            </a:r>
          </a:p>
          <a:p/>
          <a:p>
            <a:r>
              <a:t>Source: slides\marp\exercise-test-coverage-improvement.deck.md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~00:60</a:t>
            </a:r>
          </a:p>
          <a:p/>
          <a:p/>
          <a:p>
            <a:r>
              <a:t>**Prerequisites:** Understanding of TDD principles</a:t>
            </a:r>
          </a:p>
          <a:p/>
          <a:p>
            <a:r>
              <a:t>### Objectives</a:t>
            </a:r>
          </a:p>
          <a:p/>
          <a:p>
            <a:r>
              <a:t>- Practice TDD workflow with AI assistance</a:t>
            </a:r>
          </a:p>
          <a:p>
            <a:r>
              <a:t>- Write failing tests before implementation</a:t>
            </a:r>
          </a:p>
          <a:p>
            <a:r>
              <a:t>- Use tests to drive design decisions</a:t>
            </a:r>
          </a:p>
          <a:p>
            <a:r>
              <a:t>- Understand red-green-refactor cycle</a:t>
            </a:r>
          </a:p>
          <a:p/>
          <a:p>
            <a:r>
              <a:t>### Activities</a:t>
            </a:r>
          </a:p>
          <a:p/>
          <a:p>
            <a:r>
              <a:t>1. Select a small feature and define expected behavior.</a:t>
            </a:r>
          </a:p>
          <a:p>
            <a:r>
              <a:t>2. Ask Copilot for tests only, and confirm the implementation is still missing.</a:t>
            </a:r>
          </a:p>
          <a:p>
            <a:r>
              <a:t>3. Run tests and capture failures to validate the red phase.</a:t>
            </a:r>
          </a:p>
          <a:p>
            <a:r>
              <a:t>4. Implement the minimum code required to satisfy tests.</a:t>
            </a:r>
          </a:p>
          <a:p>
            <a:r>
              <a:t>5. Refactor for readability and maintainability while keeping tests green.</a:t>
            </a:r>
          </a:p>
          <a:p/>
          <a:p>
            <a:r>
              <a:t>### Success Criteria</a:t>
            </a:r>
          </a:p>
          <a:p/>
          <a:p>
            <a:r>
              <a:t>- Tests are authored before implementation code.</a:t>
            </a:r>
          </a:p>
          <a:p>
            <a:r>
              <a:t>- The first execution clearly fails (red).</a:t>
            </a:r>
          </a:p>
          <a:p>
            <a:r>
              <a:t>- Feature implementation makes tests pass (green).</a:t>
            </a:r>
          </a:p>
          <a:p>
            <a:r>
              <a:t>- Refactoring preserves passing tests.</a:t>
            </a:r>
          </a:p>
          <a:p>
            <a:r>
              <a:t>- Participants can explain the value of TDD in AI-assisted development.</a:t>
            </a:r>
          </a:p>
          <a:p/>
          <a:p>
            <a:r>
              <a:t>### TDD Cycle</a:t>
            </a:r>
          </a:p>
          <a:p/>
          <a:p>
            <a:r>
              <a:t>1. **Red:** Write a failing test.</a:t>
            </a:r>
          </a:p>
          <a:p>
            <a:r>
              <a:t>2. **Green:** Write minimal code to make it pass.</a:t>
            </a:r>
          </a:p>
          <a:p>
            <a:r>
              <a:t>3. **Refactor:** Improve code while keeping tests green.</a:t>
            </a:r>
          </a:p>
          <a:p/>
          <a:p>
            <a:r>
              <a:t>---</a:t>
            </a:r>
          </a:p>
          <a:p/>
          <a:p>
            <a:r>
              <a:t>Source: slides\marp\exercise-test-driven-development.deck.md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module as a practical guide to using AI — specifically GitHub Copilot — to design, generate, and maintain CI/CD pipelines on GitHub Actions. Emphasize that the goal is not to automate humans out of the loop but to reduce the friction between "intent" and "working YAML". Many teams struggle to get a pipeline right on the first try; AI dramatically shortens that feedback cycle.</a:t>
            </a:r>
          </a:p>
          <a:p/>
          <a:p>
            <a:r>
              <a:t>---</a:t>
            </a:r>
          </a:p>
          <a:p/>
          <a:p>
            <a:r>
              <a:t>Source: slides\marp\ai-assisted-cicd-pipelines.deck.md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empathy. Most developers have lost an afternoon to a mis-indented YAML block or an unexpected breaking change in a third-party action. These are not skill failures — they are complexity failures. AI closes the gap between "I know what I want" and "here is the correct YAML to achieve it."</a:t>
            </a:r>
          </a:p>
          <a:p/>
          <a:p>
            <a:r>
              <a:t>---</a:t>
            </a:r>
          </a:p>
          <a:p/>
          <a:p>
            <a:r>
              <a:t>Source: slides\marp\ai-assisted-cicd-pipelines.deck.md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mental model: the developer provides intent, the AI provides syntactically correct, contextually appropriate YAML. This is not magic — the AI has seen thousands of pipelines. Stress that the developer still reviews and owns every line. AI accelerates the first draft and the debugging loop, not the decision-making.</a:t>
            </a:r>
          </a:p>
          <a:p/>
          <a:p>
            <a:r>
              <a:t>---</a:t>
            </a:r>
          </a:p>
          <a:p/>
          <a:p>
            <a:r>
              <a:t>Source: slides\marp\ai-assisted-cicd-pipelines.deck.md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opportunity: open a blank `.github/workflows/ci.yml` and type the prompt as a comment. Show how Copilot completes the file. Point out that the model understands dotnet CLI, the Coverlet report format, and the `codecov/codecov-action` convention. Then ask it to explain each step — students can use this to build mental models, not just cargo-cult YAML.</a:t>
            </a:r>
          </a:p>
          <a:p/>
          <a:p>
            <a:r>
              <a:t>---</a:t>
            </a:r>
          </a:p>
          <a:p/>
          <a:p>
            <a:r>
              <a:t>Source: slides\marp\ai-assisted-cicd-pipelines.deck.md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section: triggers, runner, checkout, SDK setup, restore, build, test. Point out `actions/checkout@v4` — a pinned major version. Ask students: what happens if you omit the `--no-restore` flag on build? What if `ubuntu-latest` changes? These are exactly the questions AI can help answer in context. Normalize asking the AI "why is this step here?" as a learning technique.</a:t>
            </a:r>
          </a:p>
          <a:p/>
          <a:p>
            <a:r>
              <a:t>---</a:t>
            </a:r>
          </a:p>
          <a:p/>
          <a:p>
            <a:r>
              <a:t>Source: slides\marp\ai-assisted-cicd-pipelines.deck.md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 thresholds are one of the most common sources of confusion: where does the threshold live? In the test runner config? In the upload action? In a separate tool? AI answers this correctly for the specific framework in use. Demo: ask Copilot the same question for Jest, pytest, and dotnet — show that the answer differs and the AI knows the difference. Emphasize that a threshold without enforcement is just aspirational documentation.</a:t>
            </a:r>
          </a:p>
          <a:p/>
          <a:p>
            <a:r>
              <a:t>---</a:t>
            </a:r>
          </a:p>
          <a:p/>
          <a:p>
            <a:r>
              <a:t>Source: slides\marp\ai-assisted-cicd-pipelines.deck.md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Matrix builds and caching are two patterns that dramatically improve pipeline performance but are tedious to hand-write. Show how asking Copilot "add a matrix build for Windows and Ubuntu across .NET 7 and 8" produces the correct strategy block. Ask it to explain the cache key hash — students often do not realize that changing a .csproj file correctly invalidates the cache. Artifact upload is another common gap; AI fills it without needing to hunt through documentation.</a:t>
            </a:r>
          </a:p>
          <a:p/>
          <a:p>
            <a:r>
              <a:t>---</a:t>
            </a:r>
          </a:p>
          <a:p/>
          <a:p>
            <a:r>
              <a:t>Source: slides\marp\ai-assisted-cicd-pipelines.deck.md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Maintenance is where AI pays long-term dividends. Demo: paste a failing workflow log into Copilot Chat and ask what is wrong. The model can identify common error patterns — missing permissions, wrong branch reference, deprecated node version warnings. Also show the refactoring use case: large workflows become hard to read; AI can extract shared steps into reusable workflows with `workflow_call` triggers without breaking existing runs.</a:t>
            </a:r>
          </a:p>
          <a:p/>
          <a:p>
            <a:r>
              <a:t>---</a:t>
            </a:r>
          </a:p>
          <a:p/>
          <a:p>
            <a:r>
              <a:t>Source: slides\marp\ai-assisted-cicd-pipelines.deck.md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Reusable workflows (`workflow_call`) are a powerful but often underused GitHub Actions feature. Teams that copy-paste CI logic across repos accumulate drift. AI can audit an existing set of workflows, identify duplicated patterns, and generate a reusable workflow plus updated callers in a single conversation. Show the prompt: "Here are our five workflow files. Extract the test steps into a reusable workflow and update each caller." This is a real time-saver in large organizations.</a:t>
            </a:r>
          </a:p>
          <a:p/>
          <a:p>
            <a:r>
              <a:t>---</a:t>
            </a:r>
          </a:p>
          <a:p/>
          <a:p>
            <a:r>
              <a:t>Source: slides\marp\ai-assisted-cicd-pipelines.deck.md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AI can suggest correct permission scopes but cannot see your repository's secret store or org policies. The developer must verify secret names and confirm that the minimum-privilege principle is applied. This is a great moment to discuss GITHUB_TOKEN permissions — defaulting to read-all is a common mistake that AI will flag if prompted. The key habit: ask AI "what permissions does this step need?" rather than granting write-all and moving on.</a:t>
            </a:r>
          </a:p>
          <a:p/>
          <a:p>
            <a:r>
              <a:t>---</a:t>
            </a:r>
          </a:p>
          <a:p/>
          <a:p>
            <a:r>
              <a:t>Source: slides\marp\ai-assisted-cicd-pipelines.deck.md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five-step workflow live or in a recorded demo. The goal is to show the conversation as a dialogue, not a one-shot prompt. Each ask builds on the previous output. Encourage students to try this with their own stack immediately after the session. The pipeline does not need to be perfect on step 2 — that is the point. Iteration with AI is fast.</a:t>
            </a:r>
          </a:p>
          <a:p/>
          <a:p>
            <a:r>
              <a:t>---</a:t>
            </a:r>
          </a:p>
          <a:p/>
          <a:p>
            <a:r>
              <a:t>Source: slides\marp\ai-assisted-cicd-pipelines.deck.md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~00:20</a:t>
            </a:r>
          </a:p>
          <a:p/>
          <a:p>
            <a:r>
              <a:t> Circulate and watch for students who try to use Copilot as a black box without reading the output. Prompt them: "Can you explain line 12 to me?" That question forces engagement. Common issues: students forget to create the `.github/workflows/` directory, or they use the wrong indentation. AI usually catches these if students paste the file back and ask "is this correct YAML?" Debrief: what surprised you? What did the AI get wrong?</a:t>
            </a:r>
          </a:p>
          <a:p/>
          <a:p>
            <a:r>
              <a:t>---</a:t>
            </a:r>
          </a:p>
          <a:p/>
          <a:p>
            <a:r>
              <a:t>Source: slides\marp\ai-assisted-cicd-pipelines.deck.md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reinforcing ownership. Students may be tempted to treat AI-generated pipelines as authoritative. Remind them that the AI has no knowledge of their org's compliance requirements, runner quotas, or secret naming conventions. The value is in speed and correctness of syntax — the developer still provides judgment. Leave time for questions; common ones are about self-hosted runners, environments and approval gates, and how to handle monorepos.</a:t>
            </a:r>
          </a:p>
          <a:p/>
          <a:p>
            <a:r>
              <a:t>---</a:t>
            </a:r>
          </a:p>
          <a:p/>
          <a:p>
            <a:r>
              <a:t>Source: slides\marp\ai-assisted-cicd-pipelines.deck.md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~00:01</a:t>
            </a:r>
          </a:p>
          <a:p/>
          <a:p>
            <a:r>
              <a:t>Welcome to this session on using AI to improve the pull request workflow. GitHub Copilot and related AI tools can dramatically reduce the friction of creating, reviewing, and merging pull requests.</a:t>
            </a:r>
          </a:p>
          <a:p/>
          <a:p>
            <a:r>
              <a:t>**Key Points**:</a:t>
            </a:r>
          </a:p>
          <a:p/>
          <a:p>
            <a:r>
              <a:t>- PRs are a critical communication artifact in software development</a:t>
            </a:r>
          </a:p>
          <a:p>
            <a:r>
              <a:t>- AI can help at every stage: drafting, describing, reviewing, and summarizing</a:t>
            </a:r>
          </a:p>
          <a:p>
            <a:r>
              <a:t>- The goal is not to replace human judgment but to reduce toil</a:t>
            </a:r>
          </a:p>
          <a:p/>
          <a:p>
            <a:r>
              <a:t>**Delivery**: Open by asking the audience how much time they spend writing PR descriptions or waiting for code review. Frame AI assistance as a way to reclaim that time.</a:t>
            </a:r>
          </a:p>
          <a:p/>
          <a:p>
            <a:r>
              <a:t>**Transition**: "Let's look at where AI fits in the pull request lifecycle."</a:t>
            </a:r>
          </a:p>
          <a:p/>
          <a:p>
            <a:r>
              <a:t>---</a:t>
            </a:r>
          </a:p>
          <a:p/>
          <a:p>
            <a:r>
              <a:t>Source: slides\marp\ai-assisted-github-pull-requests.deck.md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**Key Points**:</a:t>
            </a:r>
          </a:p>
          <a:p/>
          <a:p>
            <a:r>
              <a:t>1. The PR lifecycle is a feedback loop, not a one-way street</a:t>
            </a:r>
          </a:p>
          <a:p>
            <a:r>
              <a:t>2. Most developers focus on the code-writing stage but spend significant time on communication tasks</a:t>
            </a:r>
          </a:p>
          <a:p>
            <a:r>
              <a:t>3. AI assistance compresses the non-coding parts of the cycle</a:t>
            </a:r>
          </a:p>
          <a:p/>
          <a:p>
            <a:r>
              <a:t>**Examples to Share**:</a:t>
            </a:r>
          </a:p>
          <a:p/>
          <a:p>
            <a:r>
              <a:t>- A developer who writes great code but struggles with clear PR descriptions benefits from AI drafting</a:t>
            </a:r>
          </a:p>
          <a:p>
            <a:r>
              <a:t>- A reviewer who is overwhelmed with large PRs benefits from AI summaries</a:t>
            </a:r>
          </a:p>
          <a:p/>
          <a:p>
            <a:r>
              <a:t>**Audience Interaction**: "Which stage do you find most time-consuming or frustrating?"</a:t>
            </a:r>
          </a:p>
          <a:p/>
          <a:p>
            <a:r>
              <a:t>**Transition**: "Let's start with where most of the AI value is—creating the PR itself."</a:t>
            </a:r>
          </a:p>
          <a:p/>
          <a:p>
            <a:r>
              <a:t>---</a:t>
            </a:r>
          </a:p>
          <a:p/>
          <a:p>
            <a:r>
              <a:t>Source: slides\marp\ai-assisted-github-pull-requests.deck.md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**Key Points**:</a:t>
            </a:r>
          </a:p>
          <a:p/>
          <a:p>
            <a:r>
              <a:t>1. Copilot analyzes the diff and generates a structured description automatically</a:t>
            </a:r>
          </a:p>
          <a:p>
            <a:r>
              <a:t>2. Good PR descriptions save reviewers time and reduce back-and-forth questions</a:t>
            </a:r>
          </a:p>
          <a:p>
            <a:r>
              <a:t>3. The AI draft is a starting point—always review and personalize it</a:t>
            </a:r>
          </a:p>
          <a:p/>
          <a:p>
            <a:r>
              <a:t>**Demo Tip**: If demoing live, show `gh pr create` in the terminal and trigger Copilot suggestions in the description field.</a:t>
            </a:r>
          </a:p>
          <a:p/>
          <a:p>
            <a:r>
              <a:t>**Common Pitfall**: AI descriptions can be verbose. Encourage developers to trim and focus on the "why" rather than just the "what."</a:t>
            </a:r>
          </a:p>
          <a:p/>
          <a:p>
            <a:r>
              <a:t>**Audience Interaction**: "How many of you write a detailed PR description every time? How many leave it mostly empty?"</a:t>
            </a:r>
          </a:p>
          <a:p/>
          <a:p>
            <a:r>
              <a:t>**Transition**: "Once the PR is open, AI continues to help on the review side."</a:t>
            </a:r>
          </a:p>
          <a:p/>
          <a:p>
            <a:r>
              <a:t>---</a:t>
            </a:r>
          </a:p>
          <a:p/>
          <a:p>
            <a:r>
              <a:t>Source: slides\marp\ai-assisted-github-pull-requests.deck.md</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**Key Points**:</a:t>
            </a:r>
          </a:p>
          <a:p/>
          <a:p>
            <a:r>
              <a:t>1. AI output quality is proportional to the context you provide</a:t>
            </a:r>
          </a:p>
          <a:p>
            <a:r>
              <a:t>2. Referencing the issue number or user story helps Copilot add business context</a:t>
            </a:r>
          </a:p>
          <a:p>
            <a:r>
              <a:t>3. Structuring the prompt mirrors the structure you want in the output</a:t>
            </a:r>
          </a:p>
          <a:p/>
          <a:p>
            <a:r>
              <a:t>**Template to Share**:</a:t>
            </a:r>
          </a:p>
          <a:p>
            <a:r>
              <a:t>Show the three-section template on screen. Encourage teams to add this as a PR template in `.github/pull_request_template.md` so Copilot has a consistent structure to fill.</a:t>
            </a:r>
          </a:p>
          <a:p/>
          <a:p>
            <a:r>
              <a:t>**Pro Tip**: Commit messages also feed into the PR description. Good commit messages mean better AI-generated PRs.</a:t>
            </a:r>
          </a:p>
          <a:p/>
          <a:p>
            <a:r>
              <a:t>**Transition**: "Let's look at how AI helps on the review side of the process."</a:t>
            </a:r>
          </a:p>
          <a:p/>
          <a:p>
            <a:r>
              <a:t>---</a:t>
            </a:r>
          </a:p>
          <a:p/>
          <a:p>
            <a:r>
              <a:t>Source: slides\marp\ai-assisted-github-pull-requests.deck.md</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**Key Points**:</a:t>
            </a:r>
          </a:p>
          <a:p/>
          <a:p>
            <a:r>
              <a:t>1. AI doesn't replace human reviewers—it reduces the cognitive load so reviewers can focus on design and logic</a:t>
            </a:r>
          </a:p>
          <a:p>
            <a:r>
              <a:t>2. Copilot Chat in the PR view lets reviewers ask questions like "What does this function do?" without leaving the review</a:t>
            </a:r>
          </a:p>
          <a:p>
            <a:r>
              <a:t>3. Security scanning tools (GitHub Advanced Security + Copilot Autofix) can suggest fixes for flagged issues</a:t>
            </a:r>
          </a:p>
          <a:p/>
          <a:p>
            <a:r>
              <a:t>**Examples to Share**:</a:t>
            </a:r>
          </a:p>
          <a:p/>
          <a:p>
            <a:r>
              <a:t>- Reviewer asks: "Is there a simpler way to write this?" → Copilot suggests a refactored version</a:t>
            </a:r>
          </a:p>
          <a:p>
            <a:r>
              <a:t>- Reviewer asks: "Does this handle null input?" → Copilot analyzes and flags a potential null reference</a:t>
            </a:r>
          </a:p>
          <a:p/>
          <a:p>
            <a:r>
              <a:t>**Audience Interaction**: "Have you used Copilot Chat during a code review? What kinds of questions did you ask?"</a:t>
            </a:r>
          </a:p>
          <a:p/>
          <a:p>
            <a:r>
              <a:t>**Transition**: "Beyond individual comments, AI can also summarize entire PRs."</a:t>
            </a:r>
          </a:p>
          <a:p/>
          <a:p>
            <a:r>
              <a:t>---</a:t>
            </a:r>
          </a:p>
          <a:p/>
          <a:p>
            <a:r>
              <a:t>Source: slides\marp\ai-assisted-github-pull-requests.deck.md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**Key Points**:</a:t>
            </a:r>
          </a:p>
          <a:p/>
          <a:p>
            <a:r>
              <a:t>1. This feature is particularly valuable for large PRs with many files changed</a:t>
            </a:r>
          </a:p>
          <a:p>
            <a:r>
              <a:t>2. Summaries help async teams where reviewers may not have full context</a:t>
            </a:r>
          </a:p>
          <a:p>
            <a:r>
              <a:t>3. The summary can be copied directly into release notes or changelogs</a:t>
            </a:r>
          </a:p>
          <a:p/>
          <a:p>
            <a:r>
              <a:t>**Demo Tip**: Show the Copilot summary button on GitHub.com if doing a live demo. Highlight how it categorizes changes.</a:t>
            </a:r>
          </a:p>
          <a:p/>
          <a:p>
            <a:r>
              <a:t>**Pro Tip**: Teams can require a Copilot summary as part of their PR checklist to ensure all PRs are self-documenting.</a:t>
            </a:r>
          </a:p>
          <a:p/>
          <a:p>
            <a:r>
              <a:t>**Transition**: "Now let's look at how Copilot helps you respond to review feedback."</a:t>
            </a:r>
          </a:p>
          <a:p/>
          <a:p>
            <a:r>
              <a:t>---</a:t>
            </a:r>
          </a:p>
          <a:p/>
          <a:p>
            <a:r>
              <a:t>Source: slides\marp\ai-assisted-github-pull-requests.deck.md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**Key Points**:</a:t>
            </a:r>
          </a:p>
          <a:p/>
          <a:p>
            <a:r>
              <a:t>1. The most time-consuming part of PR iteration is addressing multiple review comments</a:t>
            </a:r>
          </a:p>
          <a:p>
            <a:r>
              <a:t>2. Copilot can read a review comment and suggest the corresponding code change</a:t>
            </a:r>
          </a:p>
          <a:p>
            <a:r>
              <a:t>3. Autofix is especially powerful for security alerts—it not only flags the issue but provides the patched code</a:t>
            </a:r>
          </a:p>
          <a:p/>
          <a:p>
            <a:r>
              <a:t>**Workflow to Describe**:</a:t>
            </a:r>
          </a:p>
          <a:p/>
          <a:p>
            <a:r>
              <a:t>1. Reviewer leaves a comment: "This should use a parameterized query"</a:t>
            </a:r>
          </a:p>
          <a:p>
            <a:r>
              <a:t>2. Developer clicks Copilot suggestion next to the comment</a:t>
            </a:r>
          </a:p>
          <a:p>
            <a:r>
              <a:t>3. Copilot generates the parameterized version</a:t>
            </a:r>
          </a:p>
          <a:p>
            <a:r>
              <a:t>4. Developer reviews and commits</a:t>
            </a:r>
          </a:p>
          <a:p/>
          <a:p>
            <a:r>
              <a:t>**Audience Interaction**: "How many review cycles does a typical PR go through on your team? Could AI reduce that?"</a:t>
            </a:r>
          </a:p>
          <a:p/>
          <a:p>
            <a:r>
              <a:t>**Transition**: "Let's talk about automating the checks that run on every PR."</a:t>
            </a:r>
          </a:p>
          <a:p/>
          <a:p>
            <a:r>
              <a:t>---</a:t>
            </a:r>
          </a:p>
          <a:p/>
          <a:p>
            <a:r>
              <a:t>Source: slides\marp\ai-assisted-github-pull-requests.deck.md</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**Key Points**:</a:t>
            </a:r>
          </a:p>
          <a:p/>
          <a:p>
            <a:r>
              <a:t>1. Automating AI checks ensures consistency—every PR gets the same baseline review</a:t>
            </a:r>
          </a:p>
          <a:p>
            <a:r>
              <a:t>2. This is not a replacement for human review but a first pass that catches common issues</a:t>
            </a:r>
          </a:p>
          <a:p>
            <a:r>
              <a:t>3. Teams can configure severity thresholds to control which findings block merges</a:t>
            </a:r>
          </a:p>
          <a:p/>
          <a:p>
            <a:r>
              <a:t>**Architecture Note**: These actions run in GitHub Actions and post results as PR check statuses, integrating with existing branch protection rules.</a:t>
            </a:r>
          </a:p>
          <a:p/>
          <a:p>
            <a:r>
              <a:t>**Pro Tip**: Combine AI code review with conventional linting and testing so developers get a single, unified set of feedback.</a:t>
            </a:r>
          </a:p>
          <a:p/>
          <a:p>
            <a:r>
              <a:t>**Caution**: Avoid too many automated checks that create noise. Focus on high-signal rules.</a:t>
            </a:r>
          </a:p>
          <a:p/>
          <a:p>
            <a:r>
              <a:t>**Transition**: "Let's look at some real-world patterns teams are using today."</a:t>
            </a:r>
          </a:p>
          <a:p/>
          <a:p>
            <a:r>
              <a:t>---</a:t>
            </a:r>
          </a:p>
          <a:p/>
          <a:p>
            <a:r>
              <a:t>Source: slides\marp\ai-assisted-github-pull-requests.deck.md</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**Key Points**:</a:t>
            </a:r>
          </a:p>
          <a:p/>
          <a:p>
            <a:r>
              <a:t>1. The biggest gains are in communication overhead, not code writing speed</a:t>
            </a:r>
          </a:p>
          <a:p>
            <a:r>
              <a:t>2. New team members benefit most because AI helps them match team standards faster</a:t>
            </a:r>
          </a:p>
          <a:p>
            <a:r>
              <a:t>3. Reviewers focus on what matters—architecture, correctness, maintainability—when AI handles style and common issues</a:t>
            </a:r>
          </a:p>
          <a:p/>
          <a:p>
            <a:r>
              <a:t>**Story to Share**: A team at a large enterprise reduced PR cycle time from 3 days to less than 1 day by combining AI-generated descriptions, automated checks, and Copilot Autofix. The change was primarily in the communication and iteration loop, not the code itself.</a:t>
            </a:r>
          </a:p>
          <a:p/>
          <a:p>
            <a:r>
              <a:t>**Transition**: "Before we wrap up, let's talk about best practices."</a:t>
            </a:r>
          </a:p>
          <a:p/>
          <a:p>
            <a:r>
              <a:t>---</a:t>
            </a:r>
          </a:p>
          <a:p/>
          <a:p>
            <a:r>
              <a:t>Source: slides\marp\ai-assisted-github-pull-requests.deck.md</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**Key Points**:</a:t>
            </a:r>
          </a:p>
          <a:p/>
          <a:p>
            <a:r>
              <a:t>1. AI is a collaborator, not an autopilot. Human oversight remains essential.</a:t>
            </a:r>
          </a:p>
          <a:p>
            <a:r>
              <a:t>2. The PR template acts as a contract between the author and the AI—providing structure improves output quality</a:t>
            </a:r>
          </a:p>
          <a:p>
            <a:r>
              <a:t>3. Alert fatigue is real. Configure automated checks to surface only actionable findings.</a:t>
            </a:r>
          </a:p>
          <a:p/>
          <a:p>
            <a:r>
              <a:t>**Common Mistakes**:</a:t>
            </a:r>
          </a:p>
          <a:p/>
          <a:p>
            <a:r>
              <a:t>- Teams that enable every available check end up ignoring them all</a:t>
            </a:r>
          </a:p>
          <a:p>
            <a:r>
              <a:t>- Developers who merge AI descriptions verbatim lose the "why" context that only they know</a:t>
            </a:r>
          </a:p>
          <a:p>
            <a:r>
              <a:t>- Over-reliance on AI review can erode human review skills over time</a:t>
            </a:r>
          </a:p>
          <a:p/>
          <a:p>
            <a:r>
              <a:t>**Audience Interaction**: "What guardrails does your team have around AI-generated content in PRs?"</a:t>
            </a:r>
          </a:p>
          <a:p/>
          <a:p>
            <a:r>
              <a:t>**Transition**: "Let's summarize what we covered and talk about next steps."</a:t>
            </a:r>
          </a:p>
          <a:p/>
          <a:p>
            <a:r>
              <a:t>---</a:t>
            </a:r>
          </a:p>
          <a:p/>
          <a:p>
            <a:r>
              <a:t>Source: slides\marp\ai-assisted-github-pull-requests.deck.md</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**Key Points**:</a:t>
            </a:r>
          </a:p>
          <a:p/>
          <a:p>
            <a:r>
              <a:t>1. Gradual adoption works better than a big-bang rollout</a:t>
            </a:r>
          </a:p>
          <a:p>
            <a:r>
              <a:t>2. Starting with PR descriptions has no risk and immediate value</a:t>
            </a:r>
          </a:p>
          <a:p>
            <a:r>
              <a:t>3. As teams build confidence, they can layer in automated checks</a:t>
            </a:r>
          </a:p>
          <a:p/>
          <a:p>
            <a:r>
              <a:t>**Call to Action**: Encourage each attendee to write their next PR description with Copilot's help and note the difference.</a:t>
            </a:r>
          </a:p>
          <a:p/>
          <a:p>
            <a:r>
              <a:t>**Resources**: Point to the GitHub Copilot docs and the gh CLI documentation for hands-on exploration.</a:t>
            </a:r>
          </a:p>
          <a:p/>
          <a:p>
            <a:r>
              <a:t>**Transition**: "Let's open it up for questions."</a:t>
            </a:r>
          </a:p>
          <a:p/>
          <a:p>
            <a:r>
              <a:t>---</a:t>
            </a:r>
          </a:p>
          <a:p/>
          <a:p>
            <a:r>
              <a:t>Source: slides\marp\ai-assisted-github-pull-requests.deck.md</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**Key Points**:</a:t>
            </a:r>
          </a:p>
          <a:p/>
          <a:p>
            <a:r>
              <a:t>1. The table reinforces the before/after contrast—anchor the value proposition</a:t>
            </a:r>
          </a:p>
          <a:p>
            <a:r>
              <a:t>2. The key insight: PRs shift from a documentation burden to a collaborative artifact</a:t>
            </a:r>
          </a:p>
          <a:p>
            <a:r>
              <a:t>3. The human role shifts from doing all the communication work to reviewing and approving AI-assisted communication</a:t>
            </a:r>
          </a:p>
          <a:p/>
          <a:p>
            <a:r>
              <a:t>**Closing Message**: AI doesn't change what a good PR looks like—it reduces the effort required to create one. The standards, the review culture, and the human judgment remain essential.</a:t>
            </a:r>
          </a:p>
          <a:p/>
          <a:p>
            <a:r>
              <a:t>**Final Question for Audience**: "What's one part of your PR workflow you'd like AI to help with first?"</a:t>
            </a:r>
          </a:p>
          <a:p/>
          <a:p>
            <a:r>
              <a:t>**Thank the audience and open for Q&amp;A.**</a:t>
            </a:r>
          </a:p>
          <a:p/>
          <a:p>
            <a:r>
              <a:t>---</a:t>
            </a:r>
          </a:p>
          <a:p/>
          <a:p>
            <a:r>
              <a:t>Source: slides\marp\ai-assisted-github-pull-requests.deck.md</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module as a way to help teams understand how different AI models behave when given the same task. Emphasize that multi-model comparison is a powerful guardrail: it reduces hallucinations, improves quality, and helps teams choose the right model for the right job.</a:t>
            </a:r>
          </a:p>
          <a:p/>
          <a:p>
            <a:r>
              <a:t>---</a:t>
            </a:r>
          </a:p>
          <a:p/>
          <a:p>
            <a:r>
              <a:t>Source: slides\marp\multi-model-implementation-comparison.deck.md</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no single model is perfect. Using multiple models gives teams a broader perspective and helps catch errors or blind spots that one model alone might miss.</a:t>
            </a:r>
          </a:p>
          <a:p/>
          <a:p>
            <a:r>
              <a:t>---</a:t>
            </a:r>
          </a:p>
          <a:p/>
          <a:p>
            <a:r>
              <a:t>Source: slides\marp\multi-model-implementation-comparison.deck.md</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Encourage participants to treat model outputs like multiple drafts from different engineers. The goal is not to pick a winner — it's to synthesize the best ideas.</a:t>
            </a:r>
          </a:p>
          <a:p/>
          <a:p>
            <a:r>
              <a:t>---</a:t>
            </a:r>
          </a:p>
          <a:p/>
          <a:p>
            <a:r>
              <a:t>Source: slides\marp\multi-model-implementation-comparison.deck.md</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that risk assessment is essential in brownfield systems. Even if a model produces elegant code, it may be too risky without proper guardrails.</a:t>
            </a:r>
          </a:p>
          <a:p/>
          <a:p>
            <a:r>
              <a:t>---</a:t>
            </a:r>
          </a:p>
          <a:p/>
          <a:p>
            <a:r>
              <a:t>Source: slides\marp\multi-model-implementation-comparison.deck.md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synthesis is the real power of multi-model workflows. Teams can build a composite solution that is better than any single model's output.</a:t>
            </a:r>
          </a:p>
          <a:p/>
          <a:p>
            <a:r>
              <a:t>---</a:t>
            </a:r>
          </a:p>
          <a:p/>
          <a:p>
            <a:r>
              <a:t>Source: slides\marp\multi-model-implementation-comparison.deck.md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~00:15</a:t>
            </a:r>
          </a:p>
          <a:p/>
          <a:p>
            <a:r>
              <a:t>Encourage participants to think like reviewers comparing multiple PRs. The goal is to understand model behavior, not to pick a favorite.</a:t>
            </a:r>
          </a:p>
          <a:p/>
          <a:p>
            <a:r>
              <a:t>---</a:t>
            </a:r>
          </a:p>
          <a:p/>
          <a:p>
            <a:r>
              <a:t>Source: slides\marp\multi-model-implementation-comparison.deck.md</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~00:10</a:t>
            </a:r>
          </a:p>
          <a:p/>
          <a:p>
            <a:r>
              <a:t>This exercise helps participants see how different models interpret the same instructions — a key skill for multi-model workflows.</a:t>
            </a:r>
          </a:p>
          <a:p/>
          <a:p>
            <a:r>
              <a:t>---</a:t>
            </a:r>
          </a:p>
          <a:p/>
          <a:p>
            <a:r>
              <a:t>Source: slides\marp\multi-model-implementation-comparison.deck.md</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~00:20</a:t>
            </a:r>
          </a:p>
          <a:p/>
          <a:p>
            <a:r>
              <a:t>This exercise builds confidence in orchestrating multiple models as collaborators. The goal is synthesis, not competition.</a:t>
            </a:r>
          </a:p>
          <a:p/>
          <a:p>
            <a:r>
              <a:t>---</a:t>
            </a:r>
          </a:p>
          <a:p/>
          <a:p>
            <a:r>
              <a:t>Source: slides\marp\multi-model-implementation-comparison.deck.md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~00:05</a:t>
            </a:r>
          </a:p>
          <a:p/>
          <a:p>
            <a:r>
              <a:t>Introduce Evergreen Software Development as a philosophy for building systems that can evolve indefinitely without degrading. This is crucial for AI-assisted development.</a:t>
            </a:r>
          </a:p>
          <a:p/>
          <a:p>
            <a:r>
              <a:t>Explain each principle:</a:t>
            </a:r>
          </a:p>
          <a:p/>
          <a:p>
            <a:r>
              <a:t>1. Intent-First Design: Document WHY before WHAT. AI can regenerate code but needs clear intent.</a:t>
            </a:r>
          </a:p>
          <a:p>
            <a:r>
              <a:t>2. Stable Interfaces: Public contracts stay stable while implementations improve continuously.</a:t>
            </a:r>
          </a:p>
          <a:p>
            <a:r>
              <a:t>3. Continuous Regeneration: AI can safely rewrite components when guardrails (tests, specs) exist.</a:t>
            </a:r>
          </a:p>
          <a:p>
            <a:r>
              <a:t>4. Modular Components: Any piece can be regenerated without breaking the system.</a:t>
            </a:r>
          </a:p>
          <a:p>
            <a:r>
              <a:t>5. Lifecycle Governance: Quality maintained through automation and human oversight.</a:t>
            </a:r>
          </a:p>
          <a:p/>
          <a:p>
            <a:r>
              <a:t>Key insight: Traditional software rots over time. Evergreen software is designed to be continuously regenerated and improved.</a:t>
            </a:r>
          </a:p>
          <a:p/>
          <a:p>
            <a:r>
              <a:t>Transition: "Let's see why software fails to be evergreen..."</a:t>
            </a:r>
          </a:p>
          <a:p/>
          <a:p>
            <a:r>
              <a:t>---</a:t>
            </a:r>
          </a:p>
          <a:p/>
          <a:p>
            <a:r>
              <a:t>Source: slides\marp\evergreen-software-core-principles.deck.md</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~00:05</a:t>
            </a:r>
          </a:p>
          <a:p/>
          <a:p>
            <a:r>
              <a:t>Explain the common anti-patterns that prevent software from being evergreen. These are the enemies of long-term maintainability.</a:t>
            </a:r>
          </a:p>
          <a:p/>
          <a:p>
            <a:r>
              <a:t>1. Intent Rot: Documentation becomes outdated or nonexistent. AI can't regenerate code when it doesn't know the purpose.</a:t>
            </a:r>
          </a:p>
          <a:p>
            <a:r>
              <a:t>2. Unstable Interfaces: Breaking changes cascade through the system. AI regeneration requires stable contracts.</a:t>
            </a:r>
          </a:p>
          <a:p>
            <a:r>
              <a:t>3. Tight Coupling: Changes in one component break others. AI can't safely regenerate tightly coupled code.</a:t>
            </a:r>
          </a:p>
          <a:p>
            <a:r>
              <a:t>4. Insufficient Guardrails: Without tests and specs, AI-generated code can't be validated.</a:t>
            </a:r>
          </a:p>
          <a:p>
            <a:r>
              <a:t>5. Drift: Ad-hoc fixes create divergence from the design. The system becomes unpredictable.</a:t>
            </a:r>
          </a:p>
          <a:p/>
          <a:p>
            <a:r>
              <a:t>Real-world examples:</a:t>
            </a:r>
          </a:p>
          <a:p/>
          <a:p>
            <a:r>
              <a:t>- Legacy system with no documentation (intent rot)</a:t>
            </a:r>
          </a:p>
          <a:p>
            <a:r>
              <a:t>- Microservices with frequently changing APIs (unstable interfaces)</a:t>
            </a:r>
          </a:p>
          <a:p>
            <a:r>
              <a:t>- Monolith with circular dependencies (tight coupling)</a:t>
            </a:r>
          </a:p>
          <a:p/>
          <a:p>
            <a:r>
              <a:t>Transition: "Let's see how to avoid these pitfalls..."</a:t>
            </a:r>
          </a:p>
          <a:p/>
          <a:p>
            <a:r>
              <a:t>---</a:t>
            </a:r>
          </a:p>
          <a:p/>
          <a:p>
            <a:r>
              <a:t>Source: slides\marp\evergreen-software-core-principles.deck.md</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Auto-generated course navigation slide showing all modules with current section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module as the foundation for safe, predictable AI-assisted development.</a:t>
            </a:r>
          </a:p>
          <a:p/>
          <a:p>
            <a:r>
              <a:t>Guardrails ensure that AI output is intentional, reviewable, and aligned with architectural and organizational standards.</a:t>
            </a:r>
          </a:p>
          <a:p/>
          <a:p>
            <a:r>
              <a:t>These practices turn AI from a novelty into a disciplined engineering tool.</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the distinctions: instructions are stable, prompts are ephemeral, and Agents define how the model behaves in a particular role.</a:t>
            </a:r>
          </a:p>
          <a:p/>
          <a:p>
            <a:r>
              <a:t>Together, they form a layered control system that shapes AI behavior and reduces drift.</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storing these artifacts as files allows teams to version them, review them, and reuse them.</a:t>
            </a:r>
          </a:p>
          <a:p/>
          <a:p>
            <a:r>
              <a:t>This is essential for brownfield modernization, where consistency and traceability matter.</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 prompts are prompts about prompts.</a:t>
            </a:r>
          </a:p>
          <a:p/>
          <a:p>
            <a:r>
              <a:t>They let the AI generate structured artifacts on demand.</a:t>
            </a:r>
          </a:p>
          <a:p/>
          <a:p>
            <a:r>
              <a:t>This reduces manual effort and ensures that all artifacts follow a consistent pattern.</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asking AI to generate an artifact, be explicit about structure and constraints.</a:t>
            </a:r>
          </a:p>
          <a:p/>
          <a:p>
            <a:r>
              <a:t>This prevents drift and ensures the output is usable without heavy editing.</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Provenance is essential for conformance, auditability, and long-term maintainability.</a:t>
            </a:r>
          </a:p>
          <a:p/>
          <a:p>
            <a:r>
              <a:t>It ensures teams know which artifacts were AI-generated, which were human-generated, and which were hybrid.</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~00:10</a:t>
            </a:r>
          </a:p>
          <a:p/>
          <a:p>
            <a:r>
              <a:t>This exercise reinforces the importance of maintaining consistent AI-assisted output policies across repositories. By copying the instructions file, participants learn to manage compliance and provenance requirements for AI-generated artifacts. Ensure the copied file is identical and properly placed to support future AI work.</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Provenance is essential for conformance, auditability, and long-term maintainability.</a:t>
            </a:r>
          </a:p>
          <a:p/>
          <a:p>
            <a:r>
              <a:t>It ensures teams know which artifacts were AI-generated, which were human-generated, and which were hybrid.</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the purpose of the AI-Assisted Output Instructions file: to enforce traceability, quality, and compliance for all AI-generated artifacts in the repository.</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lists the mandatory metadata fields that must be embedded in every AI-generated file.</a:t>
            </a:r>
          </a:p>
          <a:p/>
          <a:p>
            <a:r>
              <a:t>These fields ensure each artifact can be traced back to its origin, model, and operator.</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where and how to place provenance metadata.</a:t>
            </a:r>
          </a:p>
          <a:p/>
          <a:p>
            <a:r>
              <a:t>Markdown files must use embedded YAML front matter; only non-embeddable formats use sidecar files.</a:t>
            </a:r>
          </a:p>
          <a:p/>
          <a:p>
            <a:r>
              <a:t>Note: Instructions files have limited support for metadata and must use sidecar files</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describes the logging structure for AI chats.</a:t>
            </a:r>
          </a:p>
          <a:p/>
          <a:p>
            <a:r>
              <a:t>Each session gets its own folder, transcript, and summary, ensuring clear separation and traceability.</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summarizes the quality gates and PR requirements.</a:t>
            </a:r>
          </a:p>
          <a:p/>
          <a:p>
            <a:r>
              <a:t>Artifacts must be fully documented, logs must exist, and sensitive data must be avoided.</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requirements for GitHub Copilot integration.</a:t>
            </a:r>
          </a:p>
          <a:p/>
          <a:p>
            <a:r>
              <a:t>Copilot should automate chat management, metadata injection, and enforce compliance before generating files.</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enforcement:</a:t>
            </a:r>
          </a:p>
          <a:p/>
          <a:p>
            <a:r>
              <a:t>PRs are blocked if requirements are not met.</a:t>
            </a:r>
          </a:p>
          <a:p/>
          <a:p>
            <a:r>
              <a:t>Any missing provenance must be remediated before merging.</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reinforces the value of these instructions: they ensure every AI-assisted artifact is trustworthy, auditable, and compliant with team and industry standards.</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~00:10</a:t>
            </a:r>
          </a:p>
          <a:p/>
          <a:p>
            <a:r>
              <a:t>This exercise builds foundational prompt-writing skills. Encourage participants to choose a real task to make the exercise concrete.</a:t>
            </a:r>
          </a:p>
          <a:p/>
          <a:p>
            <a:r>
              <a:t>Prompt: Create a prompt file that creates an instruction file for evergreen software development</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~00:15</a:t>
            </a:r>
          </a:p>
          <a:p/>
          <a:p>
            <a:r>
              <a:t>This reinforces the evergreen mindset and produces a reusable artifact for future AI-assisted work.</a:t>
            </a:r>
          </a:p>
          <a:p/>
          <a:p>
            <a:r>
              <a:t>Prompt: Submit the prompt #file:create-evergreen-software-instructions.prompt.md</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~00:10</a:t>
            </a:r>
          </a:p>
          <a:p/>
          <a:p>
            <a:r>
              <a:t>This helps participants shape AI behavior to match brownfield realities.</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~00:20</a:t>
            </a:r>
          </a:p>
          <a:p/>
          <a:p>
            <a:r>
              <a:t>Participants experience the leverage of meta prompts and see how AI can accelerate documentation.</a:t>
            </a:r>
          </a:p>
          <a:p/>
          <a:p>
            <a:r>
              <a:t>Prompts:</a:t>
            </a:r>
          </a:p>
          <a:p/>
          <a:p>
            <a:r>
              <a:t>Create instruction files for the backend technologies</a:t>
            </a:r>
          </a:p>
          <a:p/>
          <a:p>
            <a:r>
              <a:t>Create instruction files for the front-end technologies</a:t>
            </a:r>
          </a:p>
          <a:p/>
          <a:p>
            <a:r>
              <a:t>Create instruction files for the front-end technologies</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~00:10</a:t>
            </a:r>
          </a:p>
          <a:p/>
          <a:p>
            <a:r>
              <a:t>This exercise builds intuition for context management—one of the most important AI-era engineering skills.</a:t>
            </a:r>
          </a:p>
          <a:p/>
          <a:p>
            <a:r>
              <a:t>---</a:t>
            </a:r>
          </a:p>
          <a:p/>
          <a:p>
            <a:r>
              <a:t>Source: slides\marp\adding-ai-guardrails.deck.md</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This is the title slide introducing the concept of instruction files. **Keep It Brief**: Simply say "Let's talk about instruction files—a powerful way to guide AI behavior persistently across your projects." **Visual Cue**: Let the title appear, pause for 2-3 seconds. **No Content Yet**: Don't explain what they are—that's the next slide's job. **Transition**: "First, let me frame what we mean by 'persistent AI behavioral guidelines'..."</a:t>
            </a:r>
          </a:p>
          <a:p/>
          <a:p>
            <a:r>
              <a:t>---</a:t>
            </a:r>
          </a:p>
          <a:p/>
          <a:p>
            <a:r>
              <a:t>Source: slides\marp\instruction-files.deck.md</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Concept**: This subtitle slide sets up the key mental model. **Persistent**: Emphasize that unlike one-time prompts, these rules stay active across multiple interactions. **Behavioral**: These files tell AI _how_ to work, not _what_ to build. **Guidelines vs Commands**: "Think of instruction files as automated code review rules that apply every time AI generates code." **Analogy**: "Like .editorconfig or .eslintrc files, but for AI behavior instead of code formatting." **Transition**: "So what exactly are instruction files? Let's define them..."</a:t>
            </a:r>
          </a:p>
          <a:p/>
          <a:p>
            <a:r>
              <a:t>---</a:t>
            </a:r>
          </a:p>
          <a:p/>
          <a:p>
            <a:r>
              <a:t>Source: slides\marp\instruction-files.deck.md</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 Emphasis**: Read the definition slowly—this is foundational. **Configuration Metaphor**: "Just like you configure your IDE or linter, you configure your AI assistant with instruction files." **Automatic Application**: Key point: once created, they're automatically applied. No need to paste instructions repeatedly. **Standards Example**: "Example: All Azure code must use managed identities, no hardcoded keys. Put that in azure-dev.instructions.md, and AI will follow it automatically." **Scope Explanation**: Can apply broadly (`applyTo: "**"`) or narrowly (`applyTo: "*.cs"`). **How vs What**: Clarify: Instructions define _style_ ("use dependency injection") not _tasks_ ("build a login system"). **Audience Check**: "Does this distinction make sense—how versus what?" **Transition**: "Let me show you what one looks like..."</a:t>
            </a:r>
          </a:p>
          <a:p/>
          <a:p>
            <a:r>
              <a:t>---</a:t>
            </a:r>
          </a:p>
          <a:p/>
          <a:p>
            <a:r>
              <a:t>Source: slides\marp\instruction-files.deck.md</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Example**: Go section by section, don't rush. **YAML Front Matter**: "Every instruction file starts with metadata. Description explains purpose, applyTo defines scope." **ApplyTo Pattern**: Explain glob patterns—`"**"` means all files, `"*.py"` means Python only, `"src/**/*.ts"` means TypeScript in src folder. **Core Instructions**: "This section defines high-level principles—use Azure-specific tools, enforce security, proper error handling." **Code Generation Rules**: "This section gets tactical—TDD approach, dependency injection, naming standards, logging requirements." **Live Demo Opportunity**: If time permits, show a real instruction file from the repo. **Practical Point**: "AI reads this file automatically when working in your repo—no copy-paste needed." **Transition**: "When should you use instruction files? Let's look at common use cases..."</a:t>
            </a:r>
          </a:p>
          <a:p/>
          <a:p>
            <a:r>
              <a:t>---</a:t>
            </a:r>
          </a:p>
          <a:p/>
          <a:p>
            <a:r>
              <a:t>Source: slides\marp\instruction-files.deck.md</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Cases Overview**: These are the "why" behind instruction files. **Coding Standards**: "Every team has style preferences—indentation, naming, file organization. Instruction files codify this for AI." **Security Example**: "You can mandate: 'Never log passwords', 'Always sanitize user input', 'Use parameterized queries'. AI will follow these rules automatically." **Quality Gates**: "Require test coverage thresholds, code review checklists, documentation standards." **Technology Constraints**: "Enterprise scenario: only approved libraries/frameworks allowed. Instruction file enforces this." **Real Examples**: Point to each example filename and briefly explain: azure-development covers cloud-specific patterns, testing-standards defines test structure, security-requirements enforces security policies. **Team Benefit**: "This is especially powerful for teams—everyone's AI assistant follows the same rules, producing consistent output." **Transition**: "Before we move on, let me share some best practices..."</a:t>
            </a:r>
          </a:p>
          <a:p/>
          <a:p>
            <a:r>
              <a:t>---</a:t>
            </a:r>
          </a:p>
          <a:p/>
          <a:p>
            <a:r>
              <a:t>Source: slides\marp\instruction-files.deck.md</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 Practices Summary**: This slide prevents common mistakes. **Clear and Actionable**: Bad: "Code should be good." Good: "Use async/await for I/O operations." Be specific. **File Patterns**: Explain `applyTo` strategy—broad patterns for general rules, narrow patterns for specific contexts. **Version Control**: "Instruction files are code. Commit them, review changes, track evolution." **Test Effectiveness**: "After creating an instruction file, test it—ask AI to generate code and verify it follows the rules." **Avoid Complexity**: "If AI can't understand your instructions, they won't work. Keep language simple, rules unambiguous." **Cognitive Overload**: "Don't create 50 instruction files. AI (like humans) can only track so much. Consolidate related rules." **Conflicts**: "Instruction files apply automatically, prompts are one-time. Make sure they don't contradict each other." **No Hardcoding**: "Use parameters and environment variables, not hardcoded URLs or credentials." **Practical Advice**: "Start small—one or two instruction files. Expand based on team needs." **Transition**: Depending on agenda, either "Let's see this in action with a hands-on demo..." or "Questions about instruction files before we move on?"</a:t>
            </a:r>
          </a:p>
          <a:p/>
          <a:p>
            <a:r>
              <a:t>---</a:t>
            </a:r>
          </a:p>
          <a:p/>
          <a:p>
            <a:r>
              <a:t>Source: slides\marp\instruction-files.deck.md</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slides\marp\copilot-instruction-file-types.deck.md</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slides\marp\copilot-instruction-file-types.deck.md</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summarizes the functional difference between the two instruction file types GitHub Copilot supports inside `.github/instructions/`.</a:t>
            </a:r>
          </a:p>
          <a:p>
            <a:r>
              <a:t>Repo‑level `.md` files are unconditional and always included.</a:t>
            </a:r>
          </a:p>
          <a:p>
            <a:r>
              <a:t>Scoped `.instructions.md` files are conditional, support `applyTo` and `exclude`, and only activate when relevant.</a:t>
            </a:r>
          </a:p>
          <a:p>
            <a:r>
              <a:t>The decision rule gives teams a simple, auditable way to choose the correct mechanism.</a:t>
            </a:r>
          </a:p>
          <a:p/>
          <a:p>
            <a:r>
              <a:t>---</a:t>
            </a:r>
          </a:p>
          <a:p/>
          <a:p>
            <a:r>
              <a:t>Source: slides\marp\copilot-instruction-file-types.deck.md</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~00:01</a:t>
            </a:r>
          </a:p>
          <a:p/>
          <a:p>
            <a:r>
              <a:t>Welcome to this presentation on instruction file applyTo patterns. This is a critical concept for managing GitHub Copilot's behavior across your codebase. By the end of this session, you'll understand how to precisely control which files your instruction files apply to using glob patterns.</a:t>
            </a:r>
          </a:p>
          <a:p/>
          <a:p>
            <a:r>
              <a:t>**Key Point**: This is about precision - getting Copilot to apply the right rules to the right files</a:t>
            </a:r>
          </a:p>
          <a:p>
            <a:r>
              <a:t>**Transition**: "Let's start by understanding what the applyTo field actually does"</a:t>
            </a:r>
          </a:p>
          <a:p/>
          <a:p>
            <a:r>
              <a:t>---</a:t>
            </a:r>
          </a:p>
          <a:p/>
          <a:p>
            <a:r>
              <a:t>Source: slides\marp\instruction-file-applyto-patterns.deck.md</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slides\marp\instruction-file-applyto-patterns.deck.md</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slides\marp\instruction-file-applyto-patterns.deck.md</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The applyTo field is part of the YAML front matter in instruction files. It uses glob patterns to match file paths. When you open a file in VS Code, Copilot checks all instruction files and loads only those whose applyTo pattern matches the current file.</a:t>
            </a:r>
          </a:p>
          <a:p/>
          <a:p>
            <a:r>
              <a:t>**Why this matters**: Without proper applyTo patterns, you might have documentation standards trying to apply to code files, or architecture patterns trying to apply to configuration files. This creates confusion and can lead to poor AI suggestions.</a:t>
            </a:r>
          </a:p>
          <a:p/>
          <a:p>
            <a:r>
              <a:t>**Example to share**: "Imagine having CQRS architecture instructions applying to your README files - that would be nonsensical. The applyTo field prevents this."</a:t>
            </a:r>
          </a:p>
          <a:p/>
          <a:p>
            <a:r>
              <a:t>**Transition**: "Now let's look at the most common pattern types you'll use"</a:t>
            </a:r>
          </a:p>
          <a:p/>
          <a:p>
            <a:r>
              <a:t>---</a:t>
            </a:r>
          </a:p>
          <a:p/>
          <a:p>
            <a:r>
              <a:t>Source: slides\marp\instruction-file-applyto-patterns.deck.md</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The double asterisk wildcard is the universal matcher. Use this for repository-wide policies that should apply everywhere - things like your AI-assisted output instructions, general quality standards, or compliance requirements.</a:t>
            </a:r>
          </a:p>
          <a:p/>
          <a:p>
            <a:r>
              <a:t>**Important warning**: Overusing universal patterns is a common mistake. Every universal instruction adds to the context Copilot needs to process for every file. If you have 10 instruction files all using "\*\*", Copilot has to load all 10 for every single file you open.</a:t>
            </a:r>
          </a:p>
          <a:p/>
          <a:p>
            <a:r>
              <a:t>**Best practice**: Reserve universal patterns for truly universal policies. Most instructions should be more specific.</a:t>
            </a:r>
          </a:p>
          <a:p/>
          <a:p>
            <a:r>
              <a:t>**Real example from the repo**: The ai-assisted-output.instructions.md uses "\*_/_" because AI provenance metadata requirements apply to all AI-generated content regardless of file type.</a:t>
            </a:r>
          </a:p>
          <a:p/>
          <a:p>
            <a:r>
              <a:t>**Ask audience**: "How many instruction files do you think should realistically use universal patterns? Usually no more than 2-3."</a:t>
            </a:r>
          </a:p>
          <a:p/>
          <a:p>
            <a:r>
              <a:t>---</a:t>
            </a:r>
          </a:p>
          <a:p/>
          <a:p>
            <a:r>
              <a:t>Source: slides\marp\instruction-file-applyto-patterns.deck.md</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File extension matching is probably the most common pattern you'll use. The key syntax here is the brace expansion - that's the curly braces with comma-separated extensions.</a:t>
            </a:r>
          </a:p>
          <a:p/>
          <a:p>
            <a:r>
              <a:t>**Walking through the examples**:</a:t>
            </a:r>
          </a:p>
          <a:p/>
          <a:p>
            <a:r>
              <a:t>1. "\*_/_.md" - Double star means any directory depth, forward slash, star means any filename, dot md means must end with .md</a:t>
            </a:r>
          </a:p>
          <a:p>
            <a:r>
              <a:t>2. The brace expansion lets you list multiple extensions without repeating the pattern</a:t>
            </a:r>
          </a:p>
          <a:p>
            <a:r>
              <a:t>3. You can be even more specific with compound extensions like .instructions.md</a:t>
            </a:r>
          </a:p>
          <a:p/>
          <a:p>
            <a:r>
              <a:t>**Pro tip**: When you need to apply instructions to code files across multiple languages, use the brace expansion. In this repo, vertical slice architecture instructions use "\*_/_.{cs,ts,js,py,java,go,rb}" to cover all supported languages.</a:t>
            </a:r>
          </a:p>
          <a:p/>
          <a:p>
            <a:r>
              <a:t>**Common mistake**: Forgetting the **/ at the start means only files in the root directory match</a:t>
            </a:r>
          </a:p>
          <a:p>
            <a:r>
              <a:t>**Correct**: "**/_.md" matches all markdown files recursively</a:t>
            </a:r>
          </a:p>
          <a:p>
            <a:r>
              <a:t>**Incorrect**: "_.md" only matches markdown files in root directory</a:t>
            </a:r>
          </a:p>
          <a:p/>
          <a:p>
            <a:r>
              <a:t>**Demonstrate**: Show how the pattern breaks down visually</a:t>
            </a:r>
          </a:p>
          <a:p/>
          <a:p>
            <a:r>
              <a:t>---</a:t>
            </a:r>
          </a:p>
          <a:p/>
          <a:p>
            <a:r>
              <a:t>Source: slides\marp\instruction-file-applyto-patterns.deck.md</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Directory-specific patterns are crucial for organizing large codebases. They let you say "these architecture rules only apply to source code" or "these formatting rules only apply to slides."</a:t>
            </a:r>
          </a:p>
          <a:p/>
          <a:p>
            <a:r>
              <a:t>**Breaking down the syntax**:</a:t>
            </a:r>
          </a:p>
          <a:p/>
          <a:p>
            <a:r>
              <a:t>- "slides/marp/**" - Note there's no leading slash or asterisks. This matches the specific directory path, then /** means everything underneath it</a:t>
            </a:r>
          </a:p>
          <a:p>
            <a:r>
              <a:t>- "src/Features/\*_/_.cs" - Combines directory path with file extension filter</a:t>
            </a:r>
          </a:p>
          <a:p>
            <a:r>
              <a:t>- The pattern is always relative to the repository root</a:t>
            </a:r>
          </a:p>
          <a:p/>
          <a:p>
            <a:r>
              <a:t>**Real-world example from this repo**: The marp-slides.instructions.md uses "slides/marp/\*\*" because those formatting rules should only apply to presentation slides, not to other markdown files like README.md or documentation.</a:t>
            </a:r>
          </a:p>
          <a:p/>
          <a:p>
            <a:r>
              <a:t>**Another example**: You might have vertical-slice.instructions.md with "src/Features/\*_/_.cs" so those architectural patterns only apply to feature code, not to infrastructure or configuration code.</a:t>
            </a:r>
          </a:p>
          <a:p/>
          <a:p>
            <a:r>
              <a:t>**Visual aid**: If possible, show the repository structure and how the pattern matches</a:t>
            </a:r>
          </a:p>
          <a:p>
            <a:r>
              <a:t>**Transition**: "Let's dive deeper into the glob syntax itself"</a:t>
            </a:r>
          </a:p>
          <a:p/>
          <a:p>
            <a:r>
              <a:t>---</a:t>
            </a:r>
          </a:p>
          <a:p/>
          <a:p>
            <a:r>
              <a:t>Source: slides\marp\instruction-file-applyto-patterns.deck.md</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This slide is your reference guide for glob pattern syntax. Let's walk through each one with careful attention to the distinctions:</a:t>
            </a:r>
          </a:p>
          <a:p/>
          <a:p>
            <a:r>
              <a:t>**Single asterisk (\*)**:</a:t>
            </a:r>
          </a:p>
          <a:p/>
          <a:p>
            <a:r>
              <a:t>- Matches any characters EXCEPT forward slash</a:t>
            </a:r>
          </a:p>
          <a:p>
            <a:r>
              <a:t>- "\*.md" matches "README.md" in the current directory</a:t>
            </a:r>
          </a:p>
          <a:p>
            <a:r>
              <a:t>- Does NOT match "docs/README.md" - the slash breaks the match</a:t>
            </a:r>
          </a:p>
          <a:p>
            <a:r>
              <a:t>- Think of it as "wildcard within one directory level"</a:t>
            </a:r>
          </a:p>
          <a:p/>
          <a:p>
            <a:r>
              <a:t>**Double asterisk (**)\*\*:</a:t>
            </a:r>
          </a:p>
          <a:p/>
          <a:p>
            <a:r>
              <a:t>- This is the recursive directory matcher</a:t>
            </a:r>
          </a:p>
          <a:p>
            <a:r>
              <a:t>- Can match zero or more directory levels</a:t>
            </a:r>
          </a:p>
          <a:p>
            <a:r>
              <a:t>- "\*_/_.md" matches files at any depth</a:t>
            </a:r>
          </a:p>
          <a:p>
            <a:r>
              <a:t>- Critical: It must be its own path segment - "**/" not "**/file.md"</a:t>
            </a:r>
          </a:p>
          <a:p/>
          <a:p>
            <a:r>
              <a:t>**Question mark (?)**:</a:t>
            </a:r>
          </a:p>
          <a:p/>
          <a:p>
            <a:r>
              <a:t>- Exactly one character (useful for versioned files)</a:t>
            </a:r>
          </a:p>
          <a:p>
            <a:r>
              <a:t>- "config?.json" matches "config1.json" and "configA.json"</a:t>
            </a:r>
          </a:p>
          <a:p>
            <a:r>
              <a:t>- Does NOT match "config10.json" (that's two characters)</a:t>
            </a:r>
          </a:p>
          <a:p/>
          <a:p>
            <a:r>
              <a:t>**Brackets [abc] and [a-z]**:</a:t>
            </a:r>
          </a:p>
          <a:p/>
          <a:p>
            <a:r>
              <a:t>- Character classes - match one character from the set</a:t>
            </a:r>
          </a:p>
          <a:p>
            <a:r>
              <a:t>- Useful for version numbers or variant files</a:t>
            </a:r>
          </a:p>
          <a:p>
            <a:r>
              <a:t>- "file[123].md" matches file1.md, file2.md, file3.md</a:t>
            </a:r>
          </a:p>
          <a:p/>
          <a:p>
            <a:r>
              <a:t>**Braces {a,b}**:</a:t>
            </a:r>
          </a:p>
          <a:p/>
          <a:p>
            <a:r>
              <a:t>- This is alternation - match any of the alternatives</a:t>
            </a:r>
          </a:p>
          <a:p>
            <a:r>
              <a:t>- Most commonly used for file extensions</a:t>
            </a:r>
          </a:p>
          <a:p>
            <a:r>
              <a:t>- "\*.{js,ts,jsx,tsx}" matches all JavaScript/TypeScript files</a:t>
            </a:r>
          </a:p>
          <a:p>
            <a:r>
              <a:t>- Each alternative can itself be a pattern</a:t>
            </a:r>
          </a:p>
          <a:p/>
          <a:p>
            <a:r>
              <a:t>**Demonstrate**: Show 2-3 concrete examples with actual files</a:t>
            </a:r>
          </a:p>
          <a:p>
            <a:r>
              <a:t>**Transition**: "Now let's see these patterns in action with real examples from this repository"</a:t>
            </a:r>
          </a:p>
          <a:p/>
          <a:p>
            <a:r>
              <a:t>---</a:t>
            </a:r>
          </a:p>
          <a:p/>
          <a:p>
            <a:r>
              <a:t>Source: slides\marp\instruction-file-applyto-patterns.deck.md</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These are actual examples from the AI-Assisted-Software-Development-Course repository. Let's analyze why each pattern was chosen:</a:t>
            </a:r>
          </a:p>
          <a:p/>
          <a:p>
            <a:r>
              <a:t>**Example 1 - AI Output Standards**:</a:t>
            </a:r>
          </a:p>
          <a:p/>
          <a:p>
            <a:r>
              <a:t>- Uses "\*_/_" because AI provenance requirements apply to ALL artifacts</a:t>
            </a:r>
          </a:p>
          <a:p>
            <a:r>
              <a:t>- This includes code, docs, config files, images (via sidecar metadata)</a:t>
            </a:r>
          </a:p>
          <a:p>
            <a:r>
              <a:t>- Appropriate use of universal pattern because it's a universal policy</a:t>
            </a:r>
          </a:p>
          <a:p/>
          <a:p>
            <a:r>
              <a:t>**Example 2 - Vertical Slice Architecture**:</a:t>
            </a:r>
          </a:p>
          <a:p/>
          <a:p>
            <a:r>
              <a:t>- Targets only programming language source files</a:t>
            </a:r>
          </a:p>
          <a:p>
            <a:r>
              <a:t>- Notice it includes 7 different languages</a:t>
            </a:r>
          </a:p>
          <a:p>
            <a:r>
              <a:t>- Does NOT apply to config files (JSON, YAML) or documentation</a:t>
            </a:r>
          </a:p>
          <a:p>
            <a:r>
              <a:t>- This prevents architecture patterns from being suggested in README files</a:t>
            </a:r>
          </a:p>
          <a:p/>
          <a:p>
            <a:r>
              <a:t>**Example 3 - Business Rules Documentation**:</a:t>
            </a:r>
          </a:p>
          <a:p/>
          <a:p>
            <a:r>
              <a:t>- Only Markdown and text files</a:t>
            </a:r>
          </a:p>
          <a:p>
            <a:r>
              <a:t>- Instructions about translating business rules to documentation</a:t>
            </a:r>
          </a:p>
          <a:p>
            <a:r>
              <a:t>- Deliberately excludes code files</a:t>
            </a:r>
          </a:p>
          <a:p/>
          <a:p>
            <a:r>
              <a:t>**Example 4 - Marp Slide Formatting**:</a:t>
            </a:r>
          </a:p>
          <a:p/>
          <a:p>
            <a:r>
              <a:t>- Highly specific - only the slides directory</a:t>
            </a:r>
          </a:p>
          <a:p>
            <a:r>
              <a:t>- Even though slides are .md files, they have different formatting rules than regular docs</a:t>
            </a:r>
          </a:p>
          <a:p>
            <a:r>
              <a:t>- This specificity prevents slide formatting rules from applying to README.md</a:t>
            </a:r>
          </a:p>
          <a:p/>
          <a:p>
            <a:r>
              <a:t>**Example 5 - Prompt File Authoring**:</a:t>
            </a:r>
          </a:p>
          <a:p/>
          <a:p>
            <a:r>
              <a:t>- Targets the specialized .prompt.md file extension</a:t>
            </a:r>
          </a:p>
          <a:p>
            <a:r>
              <a:t>- These files have specific structure requirements</a:t>
            </a:r>
          </a:p>
          <a:p>
            <a:r>
              <a:t>- Using the exact extension prevents these rules from applying to regular markdown</a:t>
            </a:r>
          </a:p>
          <a:p/>
          <a:p>
            <a:r>
              <a:t>**Key lesson**: Notice how each pattern precisely targets its intended scope. There's no overlap or ambiguity.</a:t>
            </a:r>
          </a:p>
          <a:p/>
          <a:p>
            <a:r>
              <a:t>**Ask**: "Can anyone think of what would happen if example 4 used '\*_/_.md' instead? Right - slide formatting rules would apply to all markdown, including README files, causing conflicts."</a:t>
            </a:r>
          </a:p>
          <a:p/>
          <a:p>
            <a:r>
              <a:t>---</a:t>
            </a:r>
          </a:p>
          <a:p/>
          <a:p>
            <a:r>
              <a:t>Source: slides\marp\instruction-file-applyto-patterns.deck.md</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Let's establish three core best practices that will guide your applyTo pattern decisions:</a:t>
            </a:r>
          </a:p>
          <a:p/>
          <a:p>
            <a:r>
              <a:t>**Best Practice 1: Be Specific When Possible**</a:t>
            </a:r>
          </a:p>
          <a:p/>
          <a:p>
            <a:r>
              <a:t>The more specific your pattern, the better. Why?</a:t>
            </a:r>
          </a:p>
          <a:p/>
          <a:p>
            <a:r>
              <a:t>- Reduces Copilot context size (faster responses)</a:t>
            </a:r>
          </a:p>
          <a:p>
            <a:r>
              <a:t>- Prevents instruction conflicts</a:t>
            </a:r>
          </a:p>
          <a:p>
            <a:r>
              <a:t>- Makes intent clear to other developers</a:t>
            </a:r>
          </a:p>
          <a:p>
            <a:r>
              <a:t>- Easier to debug when instructions aren't applying as expected</a:t>
            </a:r>
          </a:p>
          <a:p/>
          <a:p>
            <a:r>
              <a:t>Counter-example: If you use "\*\*" for styling instructions that really only apply to frontend components, Copilot will load those instructions even when editing backend API code or database migrations. That's wasteful and confusing.</a:t>
            </a:r>
          </a:p>
          <a:p/>
          <a:p>
            <a:r>
              <a:t>**Best Practice 2: Use Brace Expansion**</a:t>
            </a:r>
          </a:p>
          <a:p/>
          <a:p>
            <a:r>
              <a:t>When instructions apply to multiple file types, use brace expansion rather than creating multiple instruction files:</a:t>
            </a:r>
          </a:p>
          <a:p/>
          <a:p>
            <a:r>
              <a:t>- Maintains single source of truth</a:t>
            </a:r>
          </a:p>
          <a:p>
            <a:r>
              <a:t>- Easier to update (one file instead of many)</a:t>
            </a:r>
          </a:p>
          <a:p>
            <a:r>
              <a:t>- Consistent rules across languages</a:t>
            </a:r>
          </a:p>
          <a:p/>
          <a:p>
            <a:r>
              <a:t>But be careful: Only group file types that truly need the same instructions. Don't group Python and JavaScript just because they're both "code" if the instructions differ.</a:t>
            </a:r>
          </a:p>
          <a:p/>
          <a:p>
            <a:r>
              <a:t>**Best Practice 3: Match Scope to Purpose**</a:t>
            </a:r>
          </a:p>
          <a:p/>
          <a:p>
            <a:r>
              <a:t>This is about semantic clarity:</a:t>
            </a:r>
          </a:p>
          <a:p/>
          <a:p>
            <a:r>
              <a:t>- Architecture patterns → Source code directories</a:t>
            </a:r>
          </a:p>
          <a:p>
            <a:r>
              <a:t>- Documentation standards → Docs directories</a:t>
            </a:r>
          </a:p>
          <a:p>
            <a:r>
              <a:t>- Testing guidelines → Test directories</a:t>
            </a:r>
          </a:p>
          <a:p>
            <a:r>
              <a:t>- Deployment instructions → CI/CD configs</a:t>
            </a:r>
          </a:p>
          <a:p/>
          <a:p>
            <a:r>
              <a:t>The pattern should make the instruction's purpose obvious at a glance.</a:t>
            </a:r>
          </a:p>
          <a:p/>
          <a:p>
            <a:r>
              <a:t>**Example of bad scope**: Having security scanning instructions with "\*_/_.md" - security scans don't apply to markdown files.</a:t>
            </a:r>
          </a:p>
          <a:p/>
          <a:p>
            <a:r>
              <a:t>**Example of good scope**: Having security scanning with "src/\*_/_.{cs,js,py}" - clearly applies to source code only.</a:t>
            </a:r>
          </a:p>
          <a:p/>
          <a:p>
            <a:r>
              <a:t>**Emphasize**: "Specificity is not just a performance optimization - it's about clarity and maintainability"</a:t>
            </a:r>
          </a:p>
          <a:p/>
          <a:p>
            <a:r>
              <a:t>---</a:t>
            </a:r>
          </a:p>
          <a:p/>
          <a:p>
            <a:r>
              <a:t>Source: slides\marp\instruction-file-applyto-patterns.deck.md</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Let's look at three common mistakes and how to avoid them:</a:t>
            </a:r>
          </a:p>
          <a:p/>
          <a:p>
            <a:r>
              <a:t>**Pitfall 1: Too Broad**</a:t>
            </a:r>
          </a:p>
          <a:p/>
          <a:p>
            <a:r>
              <a:t>This happens when you use a universal pattern for something specific. The example shows slide formatting instructions using "\*\*" - this would apply formatting rules designed for Marp presentations to every file in your repository, including C# code, JSON configs, and shell scripts. That's confusing for both developers and Copilot.</a:t>
            </a:r>
          </a:p>
          <a:p/>
          <a:p>
            <a:r>
              <a:t>**How to identify**: If your instruction file has a specific purpose that doesn't apply to ALL files, don't use "\*\*"</a:t>
            </a:r>
          </a:p>
          <a:p/>
          <a:p>
            <a:r>
              <a:t>**Fix**: Narrow to the specific directory or file types</a:t>
            </a:r>
          </a:p>
          <a:p/>
          <a:p>
            <a:r>
              <a:t>**Pitfall 2: Too Narrow**</a:t>
            </a:r>
          </a:p>
          <a:p/>
          <a:p>
            <a:r>
              <a:t>This is the opposite problem - being so specific that the instructions become brittle and hard to maintain. In the example, targeting only the UserManagement feature means:</a:t>
            </a:r>
          </a:p>
          <a:p/>
          <a:p>
            <a:r>
              <a:t>- You need separate instruction files for each feature</a:t>
            </a:r>
          </a:p>
          <a:p>
            <a:r>
              <a:t>- Adding a new feature requires a new instruction file</a:t>
            </a:r>
          </a:p>
          <a:p>
            <a:r>
              <a:t>- The same architectural patterns can't be shared across features</a:t>
            </a:r>
          </a:p>
          <a:p/>
          <a:p>
            <a:r>
              <a:t>**How to identify**: If you find yourself creating many nearly-identical instruction files, your patterns are too narrow</a:t>
            </a:r>
          </a:p>
          <a:p/>
          <a:p>
            <a:r>
              <a:t>**Fix**: Identify the common scope (like "src/Features/\*\*") and use that</a:t>
            </a:r>
          </a:p>
          <a:p/>
          <a:p>
            <a:r>
              <a:t>**Pitfall 3: Overlapping Instructions**</a:t>
            </a:r>
          </a:p>
          <a:p/>
          <a:p>
            <a:r>
              <a:t>This is the trickiest pitfall. When multiple instruction files match the same file path, Copilot loads all of them. Sometimes that's intentional (general coding standards + language-specific patterns), but often it's accidental and creates conflicts.</a:t>
            </a:r>
          </a:p>
          <a:p/>
          <a:p>
            <a:r>
              <a:t>**Concrete example**:</a:t>
            </a:r>
          </a:p>
          <a:p/>
          <a:p>
            <a:r>
              <a:t>- vertical-slice.instructions.md has "\*_/_.cs"</a:t>
            </a:r>
          </a:p>
          <a:p>
            <a:r>
              <a:t>- cqrs-architecture.instructions.md also has "\*_/_.cs"</a:t>
            </a:r>
          </a:p>
          <a:p>
            <a:r>
              <a:t>- Both get loaded for every C# file</a:t>
            </a:r>
          </a:p>
          <a:p>
            <a:r>
              <a:t>- If they have conflicting guidance (which architectural style to use), Copilot gets confused</a:t>
            </a:r>
          </a:p>
          <a:p/>
          <a:p>
            <a:r>
              <a:t>**How to identify**: List all your instruction files and their patterns side-by-side. Look for overlaps.</a:t>
            </a:r>
          </a:p>
          <a:p/>
          <a:p>
            <a:r>
              <a:t>**Fix strategies**:</a:t>
            </a:r>
          </a:p>
          <a:p/>
          <a:p>
            <a:r>
              <a:t>1. Make patterns mutually exclusive (one uses "src/Domain/**", the other uses "src/Infrastructure/**")</a:t>
            </a:r>
          </a:p>
          <a:p>
            <a:r>
              <a:t>2. Use more specific file naming patterns (one targets "_.Commands.cs", the other "_.Queries.cs")</a:t>
            </a:r>
          </a:p>
          <a:p>
            <a:r>
              <a:t>3. If overlap is intentional, ensure instructions are complementary, not contradictory</a:t>
            </a:r>
          </a:p>
          <a:p/>
          <a:p>
            <a:r>
              <a:t>**Interactive element**: "Has anyone experienced unexpected Copilot behavior? It might be due to overlapping instructions."</a:t>
            </a:r>
          </a:p>
          <a:p/>
          <a:p>
            <a:r>
              <a:t>---</a:t>
            </a:r>
          </a:p>
          <a:p/>
          <a:p>
            <a:r>
              <a:t>Source: slides\marp\instruction-file-applyto-patterns.deck.md</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~00:02</a:t>
            </a:r>
          </a:p>
          <a:p/>
          <a:p>
            <a:r>
              <a:t>Testing your applyTo patterns before committing is crucial. Here are three methods, in order of sophistication:</a:t>
            </a:r>
          </a:p>
          <a:p/>
          <a:p>
            <a:r>
              <a:t>**Method 1: File System Commands**</a:t>
            </a:r>
          </a:p>
          <a:p/>
          <a:p>
            <a:r>
              <a:t>Use your shell's file finding capabilities to preview what matches:</a:t>
            </a:r>
          </a:p>
          <a:p/>
          <a:p>
            <a:r>
              <a:t>PowerShell (Windows):</a:t>
            </a:r>
          </a:p>
          <a:p/>
          <a:p>
            <a:r>
              <a:t>- Get-ChildItem with -Filter and -Recurse shows what files match</a:t>
            </a:r>
          </a:p>
          <a:p>
            <a:r>
              <a:t>- Can pipe to Where-Object for complex filtering</a:t>
            </a:r>
          </a:p>
          <a:p>
            <a:r>
              <a:t>- Example: Get-ChildItem -Path ".\src" -Filter "\*.cs" -Recurse | Select-Object FullName</a:t>
            </a:r>
          </a:p>
          <a:p/>
          <a:p>
            <a:r>
              <a:t>Bash/Zsh (Linux/Mac):</a:t>
            </a:r>
          </a:p>
          <a:p/>
          <a:p>
            <a:r>
              <a:t>- find command with -name flag</a:t>
            </a:r>
          </a:p>
          <a:p>
            <a:r>
              <a:t>- Can combine with grep for more complex patterns</a:t>
            </a:r>
          </a:p>
          <a:p>
            <a:r>
              <a:t>- Example: find ./src -name "\*.cs" -type f</a:t>
            </a:r>
          </a:p>
          <a:p/>
          <a:p>
            <a:r>
              <a:t>**Why this matters**: If your pattern matches more or fewer files than expected, you'll catch it before Copilot does.</a:t>
            </a:r>
          </a:p>
          <a:p/>
          <a:p>
            <a:r>
              <a:t>**Method 2: Online Glob Testers**</a:t>
            </a:r>
          </a:p>
          <a:p/>
          <a:p>
            <a:r>
              <a:t>Tools like globster.xyz let you:</a:t>
            </a:r>
          </a:p>
          <a:p/>
          <a:p>
            <a:r>
              <a:t>- Enter a glob pattern</a:t>
            </a:r>
          </a:p>
          <a:p>
            <a:r>
              <a:t>- Paste a list of file paths</a:t>
            </a:r>
          </a:p>
          <a:p>
            <a:r>
              <a:t>- See visually which paths match</a:t>
            </a:r>
          </a:p>
          <a:p/>
          <a:p>
            <a:r>
              <a:t>This is especially useful for complex patterns with brace expansion or character classes. You can experiment with patterns and see results immediately without touching your repository.</a:t>
            </a:r>
          </a:p>
          <a:p/>
          <a:p>
            <a:r>
              <a:t>**Pro tip**: Keep a browser tab with globster open when writing complex patterns</a:t>
            </a:r>
          </a:p>
          <a:p/>
          <a:p>
            <a:r>
              <a:t>**Method 3: Behavioral Testing**</a:t>
            </a:r>
          </a:p>
          <a:p/>
          <a:p>
            <a:r>
              <a:t>The ultimate test - does Copilot actually behave as expected?</a:t>
            </a:r>
          </a:p>
          <a:p/>
          <a:p>
            <a:r>
              <a:t>Steps:</a:t>
            </a:r>
          </a:p>
          <a:p/>
          <a:p>
            <a:r>
              <a:t>1. Add your instruction file with applyTo pattern</a:t>
            </a:r>
          </a:p>
          <a:p>
            <a:r>
              <a:t>2. Open a file that SHOULD match</a:t>
            </a:r>
          </a:p>
          <a:p>
            <a:r>
              <a:t>3. Ask Copilot to do something covered by the instruction</a:t>
            </a:r>
          </a:p>
          <a:p>
            <a:r>
              <a:t>4. Verify it follows the rules</a:t>
            </a:r>
          </a:p>
          <a:p>
            <a:r>
              <a:t>5. Open a file that SHOULD NOT match</a:t>
            </a:r>
          </a:p>
          <a:p>
            <a:r>
              <a:t>6. Verify Copilot doesn't apply those rules</a:t>
            </a:r>
          </a:p>
          <a:p/>
          <a:p>
            <a:r>
              <a:t>**Example**: After adding a vertical-slice.instructions.md with "src/\*_/_.cs", open a C# file in src/ and ask Copilot to create a new feature. It should use vertical slice architecture. Then open a C# file in tests/ and verify it doesn't try to apply feature architecture to test code.</a:t>
            </a:r>
          </a:p>
          <a:p/>
          <a:p>
            <a:r>
              <a:t>**Practical tip**: "I recommend testing every new instruction file pattern with method 1 or 2 before pushing to your team"</a:t>
            </a:r>
          </a:p>
          <a:p>
            <a:r>
              <a:t>**Transition**: "Let's wrap up with key takeaways"</a:t>
            </a:r>
          </a:p>
          <a:p/>
          <a:p>
            <a:r>
              <a:t>---</a:t>
            </a:r>
          </a:p>
          <a:p/>
          <a:p>
            <a:r>
              <a:t>Source: slides\marp\instruction-file-applyto-patterns.deck.md</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Let's consolidate the technical details about how pattern matching actually works in practice:</a:t>
            </a:r>
          </a:p>
          <a:p/>
          <a:p>
            <a:r>
              <a:t>**Evaluation Timing**:</a:t>
            </a:r>
          </a:p>
          <a:p>
            <a:r>
              <a:t>Pattern matching happens dynamically. When you open a file, VS Code/Copilot:</a:t>
            </a:r>
          </a:p>
          <a:p/>
          <a:p>
            <a:r>
              <a:t>1. Scans all instruction files in the workspace</a:t>
            </a:r>
          </a:p>
          <a:p>
            <a:r>
              <a:t>2. Evaluates each applyTo pattern against the current file path</a:t>
            </a:r>
          </a:p>
          <a:p>
            <a:r>
              <a:t>3. Loads matching instructions into Copilot's context window</a:t>
            </a:r>
          </a:p>
          <a:p>
            <a:r>
              <a:t>4. This context is then used for all Copilot operations in that file</a:t>
            </a:r>
          </a:p>
          <a:p/>
          <a:p>
            <a:r>
              <a:t>This is important because it means pattern matching is NOT a one-time operation at startup - it happens constantly as you switch between files.</a:t>
            </a:r>
          </a:p>
          <a:p/>
          <a:p>
            <a:r>
              <a:t>**Multiple Matches**:</a:t>
            </a:r>
          </a:p>
          <a:p>
            <a:r>
              <a:t>It's perfectly valid for multiple instruction files to match the same file. Copilot will try to follow all applicable instructions. This is why avoiding conflicts is so important - if two instructions contradict each other, Copilot will struggle.</a:t>
            </a:r>
          </a:p>
          <a:p/>
          <a:p>
            <a:r>
              <a:t>**Example of intentional multiple matches**:</a:t>
            </a:r>
          </a:p>
          <a:p/>
          <a:p>
            <a:r>
              <a:t>- general-coding-standards.instructions.md with "\*_/_.cs"</a:t>
            </a:r>
          </a:p>
          <a:p>
            <a:r>
              <a:t>- vertical-slice-architecture.instructions.md with "src/Features/\*_/_.cs"</a:t>
            </a:r>
          </a:p>
          <a:p>
            <a:r>
              <a:t>- A file at "src/Features/Users/CreateUser.cs" matches both</a:t>
            </a:r>
          </a:p>
          <a:p>
            <a:r>
              <a:t>- Both instruction sets apply (general standards + architecture patterns)</a:t>
            </a:r>
          </a:p>
          <a:p>
            <a:r>
              <a:t>- This works if the instructions are complementary</a:t>
            </a:r>
          </a:p>
          <a:p/>
          <a:p>
            <a:r>
              <a:t>**Specificity and Precedence**:</a:t>
            </a:r>
          </a:p>
          <a:p>
            <a:r>
              <a:t>Unlike CSS, there's no formal "specificity" calculation where more specific patterns override less specific ones. Instead, ALL matching instructions are loaded. The idea of "precedence" is more about human clarity - more specific patterns make intent clearer, but don't technically override anything.</a:t>
            </a:r>
          </a:p>
          <a:p/>
          <a:p>
            <a:r>
              <a:t>**Repository Root**:</a:t>
            </a:r>
          </a:p>
          <a:p>
            <a:r>
              <a:t>All patterns are relative to the workspace root (where .git directory is located). There's no way to use absolute paths, which is good for portability.</a:t>
            </a:r>
          </a:p>
          <a:p/>
          <a:p>
            <a:r>
              <a:t>**Case Sensitivity**:</a:t>
            </a:r>
          </a:p>
          <a:p>
            <a:r>
              <a:t>Critical detail - this depends on the underlying file system:</a:t>
            </a:r>
          </a:p>
          <a:p/>
          <a:p>
            <a:r>
              <a:t>- Windows: case-insensitive ("\*.MD" matches "file.md")</a:t>
            </a:r>
          </a:p>
          <a:p>
            <a:r>
              <a:t>- Linux: case-sensitive ("\*.MD" matches "file.MD" but not "file.md")</a:t>
            </a:r>
          </a:p>
          <a:p>
            <a:r>
              <a:t>- macOS: depends on file system format (usually case-insensitive)</a:t>
            </a:r>
          </a:p>
          <a:p/>
          <a:p>
            <a:r>
              <a:t>Best practice: Always use lowercase in patterns and standardize file naming to lowercase to avoid cross-platform issues.</a:t>
            </a:r>
          </a:p>
          <a:p/>
          <a:p>
            <a:r>
              <a:t>**Important**: "The dynamic evaluation means you can test instruction changes immediately - just close and reopen a file"</a:t>
            </a:r>
          </a:p>
          <a:p/>
          <a:p>
            <a:r>
              <a:t>---</a:t>
            </a:r>
          </a:p>
          <a:p/>
          <a:p>
            <a:r>
              <a:t>Source: slides\marp\instruction-file-applyto-patterns.deck.md</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Let's wrap up with a practical decision-making framework:</a:t>
            </a:r>
          </a:p>
          <a:p/>
          <a:p>
            <a:r>
              <a:t>**The Four Essential Pattern Categories**:</a:t>
            </a:r>
          </a:p>
          <a:p/>
          <a:p>
            <a:r>
              <a:t>These four patterns cover 95% of real-world use cases. Let me give you concrete examples of when to use each:</a:t>
            </a:r>
          </a:p>
          <a:p/>
          <a:p>
            <a:r>
              <a:t>1. **Universal `**/\*`\*\*:</a:t>
            </a:r>
          </a:p>
          <a:p/>
          <a:p>
            <a:r>
              <a:t>- AI provenance policies</a:t>
            </a:r>
          </a:p>
          <a:p>
            <a:r>
              <a:t>- Security compliance requirements</a:t>
            </a:r>
          </a:p>
          <a:p>
            <a:r>
              <a:t>- Legal/licensing standards</a:t>
            </a:r>
          </a:p>
          <a:p>
            <a:r>
              <a:t>- Organization-wide conventions</a:t>
            </a:r>
          </a:p>
          <a:p>
            <a:r>
              <a:t>- Should be max 2-3 instruction files in your entire repo</a:t>
            </a:r>
          </a:p>
          <a:p/>
          <a:p>
            <a:r>
              <a:t>2. **Multi-extension `**/\*.{ext1,ext2}`\*\*:</a:t>
            </a:r>
          </a:p>
          <a:p/>
          <a:p>
            <a:r>
              <a:t>- Language-agnostic code quality patterns</a:t>
            </a:r>
          </a:p>
          <a:p>
            <a:r>
              <a:t>- Cross-language architecture styles</a:t>
            </a:r>
          </a:p>
          <a:p>
            <a:r>
              <a:t>- Multi-language testing strategies</a:t>
            </a:r>
          </a:p>
          <a:p>
            <a:r>
              <a:t>- Example: Vertical slice could apply to C#, TypeScript, Python features</a:t>
            </a:r>
          </a:p>
          <a:p/>
          <a:p>
            <a:r>
              <a:t>3. **Directory scope `directory/**`\*\*:</a:t>
            </a:r>
          </a:p>
          <a:p/>
          <a:p>
            <a:r>
              <a:t>- Slide formatting (slides/\*)</a:t>
            </a:r>
          </a:p>
          <a:p>
            <a:r>
              <a:t>- API documentation (docs/api/\*\*)</a:t>
            </a:r>
          </a:p>
          <a:p>
            <a:r>
              <a:t>- Feature isolation (src/Features/\*\*)</a:t>
            </a:r>
          </a:p>
          <a:p>
            <a:r>
              <a:t>- Test organization (tests/\*\*)</a:t>
            </a:r>
          </a:p>
          <a:p/>
          <a:p>
            <a:r>
              <a:t>4. **Specialized naming `**/\*.pattern.ext`\*\*:</a:t>
            </a:r>
          </a:p>
          <a:p/>
          <a:p>
            <a:r>
              <a:t>- Instruction files themselves (\*.instructions.md)</a:t>
            </a:r>
          </a:p>
          <a:p>
            <a:r>
              <a:t>- Prompt files (\*.prompt.md)</a:t>
            </a:r>
          </a:p>
          <a:p>
            <a:r>
              <a:t>- Test files (_.test.js, _.spec.ts)</a:t>
            </a:r>
          </a:p>
          <a:p>
            <a:r>
              <a:t>- Generated files (\*.generated.cs)</a:t>
            </a:r>
          </a:p>
          <a:p/>
          <a:p>
            <a:r>
              <a:t>**Using the Decision Tree**:</a:t>
            </a:r>
          </a:p>
          <a:p/>
          <a:p>
            <a:r>
              <a:t>Work through the questions in order. The first "yes" answer tells you which pattern category to use. Then refine within that category.</a:t>
            </a:r>
          </a:p>
          <a:p/>
          <a:p>
            <a:r>
              <a:t>Example walkthrough:</a:t>
            </a:r>
          </a:p>
          <a:p/>
          <a:p>
            <a:r>
              <a:t>- "I'm creating architecture guidelines for CQRS"</a:t>
            </a:r>
          </a:p>
          <a:p>
            <a:r>
              <a:t>- Q1: All files? No (config files don't need CQRS patterns)</a:t>
            </a:r>
          </a:p>
          <a:p>
            <a:r>
              <a:t>- Q2: Specific file types? Yes - code files</a:t>
            </a:r>
          </a:p>
          <a:p>
            <a:r>
              <a:t>- → Use `**/*.{cs,ts,js,py}`</a:t>
            </a:r>
          </a:p>
          <a:p>
            <a:r>
              <a:t>- Refinement: Maybe only src directory: `src/**/*.{cs,ts,js,py}`</a:t>
            </a:r>
          </a:p>
          <a:p/>
          <a:p>
            <a:r>
              <a:t>**Documentation is Critical**:</a:t>
            </a:r>
          </a:p>
          <a:p/>
          <a:p>
            <a:r>
              <a:t>In your instruction file, add a comment in the front matter explaining the pattern choice:</a:t>
            </a:r>
          </a:p>
          <a:p/>
          <a:p>
            <a:r>
              <a:t>```yaml</a:t>
            </a:r>
          </a:p>
          <a:p>
            <a:r>
              <a:t>applyTo: "src/Features/**/*.cs"</a:t>
            </a:r>
          </a:p>
          <a:p>
            <a:r>
              <a:t>```</a:t>
            </a:r>
          </a:p>
          <a:p/>
          <a:p>
            <a:r>
              <a:t>This helps future developers (including yourself) understand the reasoning.</a:t>
            </a:r>
          </a:p>
          <a:p/>
          <a:p>
            <a:r>
              <a:t>**Review and Iterate**:</a:t>
            </a:r>
          </a:p>
          <a:p/>
          <a:p>
            <a:r>
              <a:t>Patterns aren't set in stone. If you notice:</a:t>
            </a:r>
          </a:p>
          <a:p/>
          <a:p>
            <a:r>
              <a:t>- Instructions not being applied when expected</a:t>
            </a:r>
          </a:p>
          <a:p>
            <a:r>
              <a:t>- Instructions being applied to wrong files</a:t>
            </a:r>
          </a:p>
          <a:p>
            <a:r>
              <a:t>- Need to refactor directory structure</a:t>
            </a:r>
          </a:p>
          <a:p/>
          <a:p>
            <a:r>
              <a:t>Then review and update your patterns. This is normal maintenance.</a:t>
            </a:r>
          </a:p>
          <a:p/>
          <a:p>
            <a:r>
              <a:t>**Final thought**: "Good applyTo patterns make Copilot predictable and reliable. Take the time to get them right."</a:t>
            </a:r>
          </a:p>
          <a:p/>
          <a:p>
            <a:r>
              <a:t>**End with**: "Questions about applyTo patterns or glob syntax?"</a:t>
            </a:r>
          </a:p>
          <a:p/>
          <a:p>
            <a:r>
              <a:t>---</a:t>
            </a:r>
          </a:p>
          <a:p/>
          <a:p>
            <a:r>
              <a:t>Source: slides\marp\instruction-file-applyto-patterns.deck.md</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closing slide - keep it brief and actionable.</a:t>
            </a:r>
          </a:p>
          <a:p/>
          <a:p>
            <a:r>
              <a:t>**Resources to Share**:</a:t>
            </a:r>
          </a:p>
          <a:p/>
          <a:p>
            <a:r>
              <a:t>Point attendees to:</a:t>
            </a:r>
          </a:p>
          <a:p/>
          <a:p>
            <a:r>
              <a:t>1. The globster.xyz website - they should bookmark this</a:t>
            </a:r>
          </a:p>
          <a:p>
            <a:r>
              <a:t>2. Official GitHub documentation on instruction files (if available)</a:t>
            </a:r>
          </a:p>
          <a:p>
            <a:r>
              <a:t>3. This repository's .github/instructions/ directory as examples</a:t>
            </a:r>
          </a:p>
          <a:p/>
          <a:p>
            <a:r>
              <a:t>**Practice Exercise**:</a:t>
            </a:r>
          </a:p>
          <a:p/>
          <a:p>
            <a:r>
              <a:t>These three exercises cover the main pattern categories:</a:t>
            </a:r>
          </a:p>
          <a:p/>
          <a:p>
            <a:r>
              <a:t>Exercise 1 - CQRS Architecture:</a:t>
            </a:r>
          </a:p>
          <a:p/>
          <a:p>
            <a:r>
              <a:t>- Should apply to: C#, TypeScript, Python code files</a:t>
            </a:r>
          </a:p>
          <a:p>
            <a:r>
              <a:t>- Suggested pattern: `src/**/*.{cs,ts,py}`</a:t>
            </a:r>
          </a:p>
          <a:p>
            <a:r>
              <a:t>- Excludes: tests, config files, documentation</a:t>
            </a:r>
          </a:p>
          <a:p>
            <a:r>
              <a:t>- Learning goal: Multi-extension file type targeting</a:t>
            </a:r>
          </a:p>
          <a:p/>
          <a:p>
            <a:r>
              <a:t>Exercise 2 - Mermaid Diagram Standards:</a:t>
            </a:r>
          </a:p>
          <a:p/>
          <a:p>
            <a:r>
              <a:t>- Should apply to: All markdown files with diagrams</a:t>
            </a:r>
          </a:p>
          <a:p>
            <a:r>
              <a:t>- Suggested pattern: `**/*.md` or `docs/**/*.md` if narrower</a:t>
            </a:r>
          </a:p>
          <a:p>
            <a:r>
              <a:t>- Excludes: Non-markdown files</a:t>
            </a:r>
          </a:p>
          <a:p>
            <a:r>
              <a:t>- Learning goal: Extension-based filtering</a:t>
            </a:r>
          </a:p>
          <a:p/>
          <a:p>
            <a:r>
              <a:t>Exercise 3 - Test Naming Conventions:</a:t>
            </a:r>
          </a:p>
          <a:p/>
          <a:p>
            <a:r>
              <a:t>- Should apply to: Test files only</a:t>
            </a:r>
          </a:p>
          <a:p>
            <a:r>
              <a:t>- Suggested pattern: `**/*.{test,spec}.{js,ts}` or `tests/**/*`</a:t>
            </a:r>
          </a:p>
          <a:p>
            <a:r>
              <a:t>- Excludes: Source code</a:t>
            </a:r>
          </a:p>
          <a:p>
            <a:r>
              <a:t>- Learning goal: Specialized naming patterns or directory scoping</a:t>
            </a:r>
          </a:p>
          <a:p/>
          <a:p>
            <a:r>
              <a:t>Have them create these instruction files with proper applyTo patterns and test whether they match the expected files using the methods from slide 9.</a:t>
            </a:r>
          </a:p>
          <a:p/>
          <a:p>
            <a:r>
              <a:t>**Timing for Q&amp;A**: Budget at least 5 minutes</a:t>
            </a:r>
          </a:p>
          <a:p>
            <a:r>
              <a:t>**Common questions to expect**:</a:t>
            </a:r>
          </a:p>
          <a:p/>
          <a:p>
            <a:r>
              <a:t>- "Can I use regex in applyTo?" (No, only glob patterns)</a:t>
            </a:r>
          </a:p>
          <a:p>
            <a:r>
              <a:t>- "What if I need NOT patterns?" (Use specific inclusion instead)</a:t>
            </a:r>
          </a:p>
          <a:p>
            <a:r>
              <a:t>- "Can patterns match directories themselves?" (Patterns match files, but `dir/**` matches all files in dir)</a:t>
            </a:r>
          </a:p>
          <a:p>
            <a:r>
              <a:t>- "How do I debug when patterns don't work?" (Use the testing methods from slide 9)</a:t>
            </a:r>
          </a:p>
          <a:p/>
          <a:p>
            <a:r>
              <a:t>**Closing statement**: "Remember, good applyTo patterns are the key to making Copilot instruction files reliable and maintainable. Start with these patterns, test them thoroughly, and iterate based on real-world usage."</a:t>
            </a:r>
          </a:p>
          <a:p/>
          <a:p>
            <a:r>
              <a:t>---</a:t>
            </a:r>
          </a:p>
          <a:p/>
          <a:p>
            <a:r>
              <a:t>Source: slides\marp\instruction-file-applyto-patterns.deck.md</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~00:01</a:t>
            </a:r>
          </a:p>
          <a:p/>
          <a:p>
            <a:r>
              <a:t>**Closing Remarks**:</a:t>
            </a:r>
          </a:p>
          <a:p/>
          <a:p>
            <a:r>
              <a:t>Thank you all for your attention. The applyTo pattern system might seem simple on the surface, but as we've seen, there's real depth to using it effectively.</a:t>
            </a:r>
          </a:p>
          <a:p/>
          <a:p>
            <a:r>
              <a:t>**Key messages to leave with**:</a:t>
            </a:r>
          </a:p>
          <a:p/>
          <a:p>
            <a:r>
              <a:t>1. Specificity prevents conflicts</a:t>
            </a:r>
          </a:p>
          <a:p>
            <a:r>
              <a:t>2. Test your patterns before committing</a:t>
            </a:r>
          </a:p>
          <a:p>
            <a:r>
              <a:t>3. Document your pattern choices</a:t>
            </a:r>
          </a:p>
          <a:p>
            <a:r>
              <a:t>4. Review and refine based on real usage</a:t>
            </a:r>
          </a:p>
          <a:p/>
          <a:p>
            <a:r>
              <a:t>**Engagement**:</a:t>
            </a:r>
          </a:p>
          <a:p/>
          <a:p>
            <a:r>
              <a:t>- "Please reach out with questions as you implement these patterns in your projects"</a:t>
            </a:r>
          </a:p>
          <a:p>
            <a:r>
              <a:t>- "Share your experiences - both successes and challenges - with the team"</a:t>
            </a:r>
          </a:p>
          <a:p>
            <a:r>
              <a:t>- "The GitHub repository has many examples in the .github/instructions/ directory"</a:t>
            </a:r>
          </a:p>
          <a:p/>
          <a:p>
            <a:r>
              <a:t>**Next Steps**:</a:t>
            </a:r>
          </a:p>
          <a:p/>
          <a:p>
            <a:r>
              <a:t>- Review the instruction files in this repository</a:t>
            </a:r>
          </a:p>
          <a:p>
            <a:r>
              <a:t>- Try the practice exercises</a:t>
            </a:r>
          </a:p>
          <a:p>
            <a:r>
              <a:t>- Start applying these patterns to your own projects</a:t>
            </a:r>
          </a:p>
          <a:p>
            <a:r>
              <a:t>- Share learnings with your team</a:t>
            </a:r>
          </a:p>
          <a:p/>
          <a:p>
            <a:r>
              <a:t>**Call to Action**:</a:t>
            </a:r>
          </a:p>
          <a:p>
            <a:r>
              <a:t>"I'd encourage everyone to audit one of your existing projects this week - look at your instruction files and their applyTo patterns. Are they as specific as they could be? Are there conflicts? Use the testing methods we discussed to verify them."</a:t>
            </a:r>
          </a:p>
          <a:p/>
          <a:p>
            <a:r>
              <a:t>**Tone**: Encouraging and supportive - this is about continuous improvement</a:t>
            </a:r>
          </a:p>
          <a:p/>
          <a:p>
            <a:r>
              <a:t>---</a:t>
            </a:r>
          </a:p>
          <a:p/>
          <a:p>
            <a:r>
              <a:t>Source: slides\marp\instruction-file-applyto-patterns.deck.md</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~00:03</a:t>
            </a:r>
          </a:p>
          <a:p/>
          <a:p>
            <a:r>
              <a:t>Present the core instruction files that govern AI-assisted development in this repository. These files are the foundation of the guardrails system.</a:t>
            </a:r>
          </a:p>
          <a:p/>
          <a:p>
            <a:r>
              <a:t>Explain each file's purpose:</a:t>
            </a:r>
          </a:p>
          <a:p/>
          <a:p>
            <a:r>
              <a:t>- ai-assisted-output.instructions.md: The master policy for ALL AI-generated content, covering provenance, logging, and compliance</a:t>
            </a:r>
          </a:p>
          <a:p>
            <a:r>
              <a:t>- chatmode-file.instructions.md: Defines how to create custom chat modes for specific development workflows</a:t>
            </a:r>
          </a:p>
          <a:p>
            <a:r>
              <a:t>- instruction-files.instructions.md: Meta-instructions for creating new instruction files</a:t>
            </a:r>
          </a:p>
          <a:p>
            <a:r>
              <a:t>- prompt-file.instructions.md: Guidelines for creating reusable prompt files</a:t>
            </a:r>
          </a:p>
          <a:p>
            <a:r>
              <a:t>- instruction-prompt-files.instructions.md: Meta-prompts that generate instruction files</a:t>
            </a:r>
          </a:p>
          <a:p/>
          <a:p>
            <a:r>
              <a:t>Emphasize the hierarchical nature: ai-assisted-output is the root policy that all others reference.</a:t>
            </a:r>
          </a:p>
          <a:p/>
          <a:p>
            <a:r>
              <a:t>Transition: "Let's dive into how to use these..."</a:t>
            </a:r>
          </a:p>
          <a:p/>
          <a:p>
            <a:r>
              <a:t>---</a:t>
            </a:r>
          </a:p>
          <a:p/>
          <a:p>
            <a:r>
              <a:t>Source: slides\marp\core-instruction-files.deck.md</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a layering strategy, not an either-or choice. The audience should leave with a practical model for deciding what belongs at enterprise scope versus repository scope. Keep this opening to about 60-90 seconds.</a:t>
            </a:r>
          </a:p>
          <a:p/>
          <a:p>
            <a:r>
              <a:t>---</a:t>
            </a:r>
          </a:p>
          <a:p/>
          <a:p>
            <a:r>
              <a:t>Source: slides\marp\organizational-vs-repository-instruction-files.deck.md</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teams usually fail by over-centralizing or over-fragmenting. Centralize non-negotiables, decentralize implementation guidance. Emphasize this prevents policy drift while keeping day-to-day delivery fast.</a:t>
            </a:r>
          </a:p>
          <a:p/>
          <a:p>
            <a:r>
              <a:t>---</a:t>
            </a:r>
          </a:p>
          <a:p/>
          <a:p>
            <a:r>
              <a:t>Source: slides\marp\organizational-vs-repository-instruction-files.deck.md</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out that enterprise-tier files should be stable and short. They should define constraints, not feature behavior. Give examples: required metadata fields, approved hosts, restricted operations, and mandatory security checks.</a:t>
            </a:r>
          </a:p>
          <a:p/>
          <a:p>
            <a:r>
              <a:t>---</a:t>
            </a:r>
          </a:p>
          <a:p/>
          <a:p>
            <a:r>
              <a:t>Source: slides\marp\organizational-vs-repository-instruction-files.deck.md</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path scoping is the precision tool. Show that slide-authoring rules should not apply to backend code, and coding constraints should not apply to markdown content. Mention that good glob design reduces noisy or conflicting behavior.</a:t>
            </a:r>
          </a:p>
          <a:p/>
          <a:p>
            <a:r>
              <a:t>---</a:t>
            </a:r>
          </a:p>
          <a:p/>
          <a:p>
            <a:r>
              <a:t>Source: slides\marp\organizational-vs-repository-instruction-files.deck.md</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proximity: put guidance where teams actually work. This improves discoverability and lowers onboarding time. Mention that folder-level rules should refine enterprise policy, not duplicate it.</a:t>
            </a:r>
          </a:p>
          <a:p/>
          <a:p>
            <a:r>
              <a:t>---</a:t>
            </a:r>
          </a:p>
          <a:p/>
          <a:p>
            <a:r>
              <a:t>Source: slides\marp\organizational-vs-repository-instruction-files.deck.md</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stack top-to-bottom. Describe how specificity should increase as scope narrows. If conflicts appear, resolve by specificity first, then by explicit policy precedence defined by your organization.</a:t>
            </a:r>
          </a:p>
          <a:p/>
          <a:p>
            <a:r>
              <a:t>---</a:t>
            </a:r>
          </a:p>
          <a:p/>
          <a:p>
            <a:r>
              <a:t>Source: slides\marp\organizational-vs-repository-instruction-files.deck.md</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action items. Suggest teams pilot this in one repo before scaling. Encourage adding quick validation prompts in CI or review checklists so instruction drift is detected early.</a:t>
            </a:r>
          </a:p>
          <a:p/>
          <a:p>
            <a:r>
              <a:t>---</a:t>
            </a:r>
          </a:p>
          <a:p/>
          <a:p>
            <a:r>
              <a:t>Source: slides\marp\organizational-vs-repository-instruction-files.deck.md</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 ~00:30</a:t>
            </a:r>
          </a:p>
          <a:p/>
          <a:p/>
          <a:p>
            <a:r>
              <a:t>**Prerequisites:** Access to repository tree, instruction conventions, and team roles for parallel work</a:t>
            </a:r>
          </a:p>
          <a:p/>
          <a:p>
            <a:r>
              <a:t>### Objectives</a:t>
            </a:r>
          </a:p>
          <a:p/>
          <a:p>
            <a:r>
              <a:t>- Build a practical technology inventory that informs instruction planning.</a:t>
            </a:r>
          </a:p>
          <a:p>
            <a:r>
              <a:t>- Execute concurrent work safely with background sessions.</a:t>
            </a:r>
          </a:p>
          <a:p>
            <a:r>
              <a:t>- Produce multiple scoped instruction files in one coordinated workflow.</a:t>
            </a:r>
          </a:p>
          <a:p>
            <a:r>
              <a:t>- Use the session management interface to maintain control and traceability.</a:t>
            </a:r>
          </a:p>
          <a:p/>
          <a:p>
            <a:r>
              <a:t>### Activities</a:t>
            </a:r>
          </a:p>
          <a:p/>
          <a:p>
            <a:r>
              <a:t>1. Build a structured inventory first; avoid writing instruction files until the landscape is clear.</a:t>
            </a:r>
          </a:p>
          <a:p>
            <a:r>
              <a:t>2. Split participants into concurrent roles: inventory lead, instruction generator, and session coordinator.</a:t>
            </a:r>
          </a:p>
          <a:p>
            <a:r>
              <a:t>3. Generate scoped instruction files in parallel, then run a conflict review before acceptance.</a:t>
            </a:r>
          </a:p>
          <a:p>
            <a:r>
              <a:t>4. Finalize with a short session-management retrospective: what scaled, what collided, what to improve.</a:t>
            </a:r>
          </a:p>
          <a:p/>
          <a:p>
            <a:r>
              <a:t>### Success Criteria</a:t>
            </a:r>
          </a:p>
          <a:p/>
          <a:p>
            <a:r>
              <a:t>- Inventory coverage is complete enough to drive instruction priorities.</a:t>
            </a:r>
          </a:p>
          <a:p>
            <a:r>
              <a:t>- Parallel sessions finish with non-conflicting outputs.</a:t>
            </a:r>
          </a:p>
          <a:p>
            <a:r>
              <a:t>- Generated instruction files include clear scoping and ownership boundaries.</a:t>
            </a:r>
          </a:p>
          <a:p>
            <a:r>
              <a:t>- Team can reproduce the same workflow on another repository without redesigning the process.</a:t>
            </a:r>
          </a:p>
          <a:p/>
          <a:p>
            <a:r>
              <a:t>### Facilitation Tip</a:t>
            </a:r>
          </a:p>
          <a:p/>
          <a:p>
            <a:r>
              <a:t>Use a visible board (status: active, blocked, complete) for each session stream so the team can rebalance quickly when one stream stalls.</a:t>
            </a:r>
          </a:p>
          <a:p/>
          <a:p>
            <a:r>
              <a:t>---</a:t>
            </a:r>
          </a:p>
          <a:p/>
          <a:p>
            <a:r>
              <a:t>Source: slides\marp\exercise-technology-inventory-instructions.deck.md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 Id="rId15"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3">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4"/>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5"/>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normAutofit/>
          </a:bodyPr>
          <a:lstStyle/>
          <a:p>
            <a:r>
              <a:t>Welcome to AI-Assisted Software Development</a:t>
            </a:r>
          </a:p>
        </p:txBody>
      </p:sp>
      <p:sp>
        <p:nvSpPr>
          <p:cNvPr id="3" name="Subtitle 2"/>
          <p:cNvSpPr>
            <a:spLocks noGrp="1"/>
          </p:cNvSpPr>
          <p:nvPr>
            <p:ph type="subTitle" idx="1"/>
          </p:nvPr>
        </p:nvSpPr>
        <p:spPr/>
        <p:txBody>
          <a:bodyPr wrap="square">
            <a:normAutofit/>
          </a:bodyPr>
          <a:lstStyle/>
          <a:p>
            <a:pPr>
              <a:buNone/>
            </a:pPr>
            <a:r>
              <a:rPr b="0" i="0" u="none" sz="2800"/>
              <a:t>From Code to Copilot</a:t>
            </a:r>
            <a:endParaRPr sz="2800" b="0" i="0">
              <a:latin typeface="Arial"/>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John Michael Miller</a:t>
            </a:r>
          </a:p>
        </p:txBody>
      </p:sp>
      <p:sp>
        <p:nvSpPr>
          <p:cNvPr id="3" name="Content Placeholder 2"/>
          <p:cNvSpPr>
            <a:spLocks noGrp="1"/>
          </p:cNvSpPr>
          <p:nvPr>
            <p:ph idx="1"/>
          </p:nvPr>
        </p:nvSpPr>
        <p:spPr/>
        <p:txBody>
          <a:bodyPr wrap="square">
            <a:normAutofit/>
          </a:bodyPr>
          <a:lstStyle/>
          <a:p>
            <a:pPr>
              <a:buNone/>
            </a:pPr>
            <a:r>
              <a:rPr b="0" i="0" u="none" sz="2800"/>
              <a:t>Principal Software Engineer at CODE</a:t>
            </a:r>
            <a:endParaRPr sz="2800" b="0" i="0">
              <a:latin typeface="Arial"/>
            </a:endParaRPr>
          </a:p>
          <a:p>
            <a:pPr>
              <a:buNone/>
            </a:pPr>
            <a:r>
              <a:rPr b="0" i="0" u="none" sz="2800"/>
              <a:t>Played roles of developer, architect, devops engineer, platform engineer, test architect, release manager</a:t>
            </a:r>
            <a:endParaRPr sz="2800" b="0" i="0">
              <a:latin typeface="Arial"/>
            </a:endParaRPr>
          </a:p>
          <a:p>
            <a:pPr>
              <a:buNone/>
            </a:pPr>
            <a:r>
              <a:rPr b="0" i="0" u="none" sz="2800"/>
              <a:t>AI Practitioner and advocate for effectively using AI to write code</a:t>
            </a:r>
            <a:endParaRPr sz="2800" b="0" i="0">
              <a:latin typeface="Arial"/>
            </a:endParaRPr>
          </a:p>
          <a:p>
            <a:pPr>
              <a:buNone/>
            </a:pPr>
            <a:r>
              <a:rPr b="0" i="0" u="none" sz="2800"/>
              <a:t/>
            </a:r>
            <a:endParaRPr sz="2800" b="0" i="0">
              <a:latin typeface="Arial"/>
            </a:endParaRPr>
          </a:p>
          <a:p>
            <a:pPr/>
            <a:r>
              <a:rPr b="0" i="0" u="none" sz="2800"/>
              <a:t>LinkedIn: www.linkedin.com/in/johnmichaelmiller</a:t>
            </a:r>
            <a:endParaRPr sz="2800" b="0" i="0">
              <a:latin typeface="Arial"/>
            </a:endParaRPr>
          </a:p>
          <a:p>
            <a:pPr/>
            <a:r>
              <a:rPr b="0" i="0" u="none" sz="2800"/>
              <a:t>Email: john.miller@codemag.com</a:t>
            </a:r>
            <a:endParaRPr sz="2800" b="0" i="0">
              <a:latin typeface="Arial"/>
            </a:endParaRPr>
          </a:p>
          <a:p>
            <a:pPr/>
            <a:r>
              <a:rPr b="0" i="0" u="none" sz="2800"/>
              <a:t>Blog: codemag.com/blog/AIPractitioner</a:t>
            </a:r>
            <a:endParaRPr sz="2800" b="0" i="0">
              <a:latin typeface="Aria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Hi, I'm a Developer Who Has Talked to a Robot</a:t>
            </a:r>
          </a:p>
        </p:txBody>
      </p:sp>
      <p:sp>
        <p:nvSpPr>
          <p:cNvPr id="3" name="Subtitle 2"/>
          <p:cNvSpPr>
            <a:spLocks noGrp="1"/>
          </p:cNvSpPr>
          <p:nvPr>
            <p:ph type="subTitle" idx="1"/>
          </p:nvPr>
        </p:nvSpPr>
        <p:spPr/>
        <p:txBody>
          <a:bodyPr wrap="square">
            <a:normAutofit/>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Introductions</a:t>
            </a:r>
          </a:p>
        </p:txBody>
      </p:sp>
      <p:sp>
        <p:nvSpPr>
          <p:cNvPr id="3" name="Content Placeholder 2"/>
          <p:cNvSpPr>
            <a:spLocks noGrp="1"/>
          </p:cNvSpPr>
          <p:nvPr>
            <p:ph idx="1"/>
          </p:nvPr>
        </p:nvSpPr>
        <p:spPr/>
        <p:txBody>
          <a:bodyPr wrap="square">
            <a:normAutofit/>
          </a:bodyPr>
          <a:lstStyle/>
          <a:p>
            <a:pPr/>
            <a:r>
              <a:rPr b="0" i="0" u="none" sz="2800"/>
              <a:t>Who you are</a:t>
            </a:r>
            <a:endParaRPr sz="2800" b="0" i="0">
              <a:latin typeface="Arial"/>
            </a:endParaRPr>
          </a:p>
          <a:p>
            <a:pPr/>
            <a:r>
              <a:rPr b="0" i="0" u="none" sz="2800"/>
              <a:t>Who do you work for</a:t>
            </a:r>
            <a:endParaRPr sz="2800" b="0" i="0">
              <a:latin typeface="Arial"/>
            </a:endParaRPr>
          </a:p>
          <a:p>
            <a:pPr/>
            <a:r>
              <a:rPr b="0" i="0" u="none" sz="2800"/>
              <a:t>What you do</a:t>
            </a:r>
            <a:endParaRPr sz="2800" b="0" i="0">
              <a:latin typeface="Arial"/>
            </a:endParaRPr>
          </a:p>
          <a:p>
            <a:pPr/>
            <a:r>
              <a:rPr b="0" i="0" u="none" sz="2800"/>
              <a:t>What you've done with AI tools</a:t>
            </a:r>
            <a:endParaRPr sz="2800" b="0" i="0">
              <a:latin typeface="Arial"/>
            </a:endParaRPr>
          </a:p>
          <a:p>
            <a:pPr/>
            <a:r>
              <a:rPr b="0" i="0" u="none" sz="2800"/>
              <a:t>What you want to learn</a:t>
            </a:r>
            <a:endParaRPr sz="2800" b="0" i="0">
              <a:latin typeface="Arial"/>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Thirty Years and Still Compiling</a:t>
            </a:r>
          </a:p>
        </p:txBody>
      </p:sp>
      <p:sp>
        <p:nvSpPr>
          <p:cNvPr id="3" name="Content Placeholder 2"/>
          <p:cNvSpPr>
            <a:spLocks noGrp="1"/>
          </p:cNvSpPr>
          <p:nvPr>
            <p:ph idx="1"/>
          </p:nvPr>
        </p:nvSpPr>
        <p:spPr/>
        <p:txBody>
          <a:bodyPr wrap="square">
            <a:normAutofit/>
          </a:bodyPr>
          <a:lstStyle/>
          <a:p>
            <a:pPr>
              <a:buNone/>
            </a:pPr>
            <a:r>
              <a:rPr b="0" i="0" u="none" sz="2800"/>
              <a:t>&lt;img src="images/CODE-30.jpg" style="width: 100%;" /&gt;</a:t>
            </a:r>
            <a:endParaRPr sz="2800" b="0" i="0">
              <a:latin typeface="Aria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Five Days. One AI. Zero Excuses.</a:t>
            </a:r>
          </a:p>
        </p:txBody>
      </p:sp>
      <p:graphicFrame>
        <p:nvGraphicFramePr>
          <p:cNvPr id="3" name="Table 2"/>
          <p:cNvGraphicFramePr>
            <a:graphicFrameLocks noGrp="1"/>
          </p:cNvGraphicFramePr>
          <p:nvPr/>
        </p:nvGraphicFramePr>
        <p:xfrm>
          <a:off x="457200" y="1828800"/>
          <a:ext cx="8229600" cy="2743200"/>
        </p:xfrm>
        <a:graphic>
          <a:graphicData uri="http://schemas.openxmlformats.org/drawingml/2006/table">
            <a:tbl>
              <a:tblPr firstRow="1" bandRow="1">
                <a:tableStyleId>{5C22544A-7EE6-4342-B048-85BDC9FD1C3A}</a:tableStyleId>
              </a:tblPr>
              <a:tblGrid>
                <a:gridCol w="4114800"/>
                <a:gridCol w="4114800"/>
              </a:tblGrid>
              <a:tr h="457200">
                <a:tc>
                  <a:txBody>
                    <a:bodyPr wrap="square"/>
                    <a:lstStyle/>
                    <a:p>
                      <a:pPr>
                        <a:buNone/>
                        <a:defRPr sz="1600" b="1">
                          <a:solidFill>
                            <a:schemeClr val="bg1"/>
                          </a:solidFill>
                        </a:defRPr>
                      </a:pPr>
                      <a:r>
                        <a:rPr b="0" i="0" u="none" sz="1600"/>
                        <a:t>Day</a:t>
                      </a:r>
                    </a:p>
                  </a:txBody>
                  <a:tcPr>
                    <a:solidFill>
                      <a:schemeClr val="accent4"/>
                    </a:solidFill>
                  </a:tcPr>
                </a:tc>
                <a:tc>
                  <a:txBody>
                    <a:bodyPr wrap="square"/>
                    <a:lstStyle/>
                    <a:p>
                      <a:pPr>
                        <a:buNone/>
                        <a:defRPr sz="1600" b="1">
                          <a:solidFill>
                            <a:schemeClr val="bg1"/>
                          </a:solidFill>
                        </a:defRPr>
                      </a:pPr>
                      <a:r>
                        <a:rPr b="0" i="0" u="none" sz="1600"/>
                        <a:t>Theme</a:t>
                      </a:r>
                    </a:p>
                  </a:txBody>
                  <a:tcPr>
                    <a:solidFill>
                      <a:schemeClr val="accent4"/>
                    </a:solidFill>
                  </a:tcPr>
                </a:tc>
              </a:tr>
              <a:tr h="457200">
                <a:tc>
                  <a:txBody>
                    <a:bodyPr wrap="square"/>
                    <a:lstStyle/>
                    <a:p>
                      <a:pPr>
                        <a:buNone/>
                        <a:defRPr sz="1600" b="0">
                          <a:solidFill>
                            <a:schemeClr val="tx1"/>
                          </a:solidFill>
                        </a:defRPr>
                      </a:pPr>
                      <a:r>
                        <a:rPr b="0" i="0" u="none" sz="1600"/>
                        <a:t>Monday</a:t>
                      </a:r>
                    </a:p>
                  </a:txBody>
                  <a:tcPr>
                    <a:solidFill>
                      <a:schemeClr val="accent4">
                        <a:lumMod val="20000"/>
                        <a:lumOff val="80000"/>
                      </a:schemeClr>
                    </a:solidFill>
                  </a:tcPr>
                </a:tc>
                <a:tc>
                  <a:txBody>
                    <a:bodyPr wrap="square"/>
                    <a:lstStyle/>
                    <a:p>
                      <a:pPr>
                        <a:buNone/>
                        <a:defRPr sz="1600" b="0">
                          <a:solidFill>
                            <a:schemeClr val="tx1"/>
                          </a:solidFill>
                        </a:defRPr>
                      </a:pPr>
                      <a:r>
                        <a:rPr b="0" i="0" u="none" sz="1600"/>
                        <a:t>AI Guardrails: Instructions, Copilot UI</a:t>
                      </a:r>
                    </a:p>
                  </a:txBody>
                  <a:tcPr>
                    <a:solidFill>
                      <a:schemeClr val="accent4">
                        <a:lumMod val="20000"/>
                        <a:lumOff val="80000"/>
                      </a:schemeClr>
                    </a:solidFill>
                  </a:tcPr>
                </a:tc>
              </a:tr>
              <a:tr h="457200">
                <a:tc>
                  <a:txBody>
                    <a:bodyPr wrap="square"/>
                    <a:lstStyle/>
                    <a:p>
                      <a:pPr>
                        <a:buNone/>
                        <a:defRPr sz="1600" b="0">
                          <a:solidFill>
                            <a:schemeClr val="tx1"/>
                          </a:solidFill>
                        </a:defRPr>
                      </a:pPr>
                      <a:r>
                        <a:rPr b="0" i="0" u="none" sz="1600"/>
                        <a:t>Tuesday</a:t>
                      </a:r>
                    </a:p>
                  </a:txBody>
                  <a:tcPr>
                    <a:solidFill>
                      <a:schemeClr val="accent4">
                        <a:lumMod val="8000"/>
                        <a:lumOff val="92000"/>
                      </a:schemeClr>
                    </a:solidFill>
                  </a:tcPr>
                </a:tc>
                <a:tc>
                  <a:txBody>
                    <a:bodyPr wrap="square"/>
                    <a:lstStyle/>
                    <a:p>
                      <a:pPr>
                        <a:buNone/>
                        <a:defRPr sz="1600" b="0">
                          <a:solidFill>
                            <a:schemeClr val="tx1"/>
                          </a:solidFill>
                        </a:defRPr>
                      </a:pPr>
                      <a:r>
                        <a:rPr b="0" i="0" u="none" sz="1600"/>
                        <a:t>AI Guardrails: Prompts, Copilot for Teams, Models and Context, LLMs</a:t>
                      </a:r>
                    </a:p>
                  </a:txBody>
                  <a:tcPr>
                    <a:solidFill>
                      <a:schemeClr val="accent4">
                        <a:lumMod val="8000"/>
                        <a:lumOff val="92000"/>
                      </a:schemeClr>
                    </a:solidFill>
                  </a:tcPr>
                </a:tc>
              </a:tr>
              <a:tr h="457200">
                <a:tc>
                  <a:txBody>
                    <a:bodyPr wrap="square"/>
                    <a:lstStyle/>
                    <a:p>
                      <a:pPr>
                        <a:buNone/>
                        <a:defRPr sz="1600" b="0">
                          <a:solidFill>
                            <a:schemeClr val="tx1"/>
                          </a:solidFill>
                        </a:defRPr>
                      </a:pPr>
                      <a:r>
                        <a:rPr b="0" i="0" u="none" sz="1600"/>
                        <a:t>Wednesday</a:t>
                      </a:r>
                    </a:p>
                  </a:txBody>
                  <a:tcPr>
                    <a:solidFill>
                      <a:schemeClr val="accent4">
                        <a:lumMod val="20000"/>
                        <a:lumOff val="80000"/>
                      </a:schemeClr>
                    </a:solidFill>
                  </a:tcPr>
                </a:tc>
                <a:tc>
                  <a:txBody>
                    <a:bodyPr wrap="square"/>
                    <a:lstStyle/>
                    <a:p>
                      <a:pPr>
                        <a:buNone/>
                        <a:defRPr sz="1600" b="0">
                          <a:solidFill>
                            <a:schemeClr val="tx1"/>
                          </a:solidFill>
                        </a:defRPr>
                      </a:pPr>
                      <a:r>
                        <a:rPr b="0" i="0" u="none" sz="1600"/>
                        <a:t>AI Guardrails: Agents, Skills, Managing Context, Instructions vs Prompts vs Agents, Test Automation and Code Quality, MCP</a:t>
                      </a:r>
                    </a:p>
                  </a:txBody>
                  <a:tcPr>
                    <a:solidFill>
                      <a:schemeClr val="accent4">
                        <a:lumMod val="20000"/>
                        <a:lumOff val="80000"/>
                      </a:schemeClr>
                    </a:solidFill>
                  </a:tcPr>
                </a:tc>
              </a:tr>
              <a:tr h="457200">
                <a:tc>
                  <a:txBody>
                    <a:bodyPr wrap="square"/>
                    <a:lstStyle/>
                    <a:p>
                      <a:pPr>
                        <a:buNone/>
                        <a:defRPr sz="1600" b="0">
                          <a:solidFill>
                            <a:schemeClr val="tx1"/>
                          </a:solidFill>
                        </a:defRPr>
                      </a:pPr>
                      <a:r>
                        <a:rPr b="0" i="0" u="none" sz="1600"/>
                        <a:t>Thursday</a:t>
                      </a:r>
                    </a:p>
                  </a:txBody>
                  <a:tcPr>
                    <a:solidFill>
                      <a:schemeClr val="accent4">
                        <a:lumMod val="8000"/>
                        <a:lumOff val="92000"/>
                      </a:schemeClr>
                    </a:solidFill>
                  </a:tcPr>
                </a:tc>
                <a:tc>
                  <a:txBody>
                    <a:bodyPr wrap="square"/>
                    <a:lstStyle/>
                    <a:p>
                      <a:pPr>
                        <a:buNone/>
                        <a:defRPr sz="1600" b="0">
                          <a:solidFill>
                            <a:schemeClr val="tx1"/>
                          </a:solidFill>
                        </a:defRPr>
                      </a:pPr>
                      <a:r>
                        <a:rPr b="0" i="0" u="none" sz="1600"/>
                        <a:t>AI Assisted Brownfield SD: AI Implementation Workflow, Addressing Technical Debt, Building a Backlog, Multi-Implementation Comparison, AI Practitioner Resources</a:t>
                      </a:r>
                    </a:p>
                  </a:txBody>
                  <a:tcPr>
                    <a:solidFill>
                      <a:schemeClr val="accent4">
                        <a:lumMod val="8000"/>
                        <a:lumOff val="92000"/>
                      </a:schemeClr>
                    </a:solidFill>
                  </a:tcPr>
                </a:tc>
              </a:tr>
              <a:tr h="457200">
                <a:tc>
                  <a:txBody>
                    <a:bodyPr wrap="square"/>
                    <a:lstStyle/>
                    <a:p>
                      <a:pPr>
                        <a:buNone/>
                        <a:defRPr sz="1600" b="0">
                          <a:solidFill>
                            <a:schemeClr val="tx1"/>
                          </a:solidFill>
                        </a:defRPr>
                      </a:pPr>
                      <a:r>
                        <a:rPr b="0" i="0" u="none" sz="1600"/>
                        <a:t>Friday</a:t>
                      </a:r>
                    </a:p>
                  </a:txBody>
                  <a:tcPr>
                    <a:solidFill>
                      <a:schemeClr val="accent4">
                        <a:lumMod val="20000"/>
                        <a:lumOff val="80000"/>
                      </a:schemeClr>
                    </a:solidFill>
                  </a:tcPr>
                </a:tc>
                <a:tc>
                  <a:txBody>
                    <a:bodyPr wrap="square"/>
                    <a:lstStyle/>
                    <a:p>
                      <a:pPr>
                        <a:buNone/>
                        <a:defRPr sz="1600" b="0">
                          <a:solidFill>
                            <a:schemeClr val="tx1"/>
                          </a:solidFill>
                        </a:defRPr>
                      </a:pPr>
                      <a:r>
                        <a:rPr b="0" i="0" u="none" sz="1600"/>
                        <a:t>AI Assisted Greenfield SD: Specification Driven Software Development, Architecture Specification, Technology Specification, Implementation Specification, Implementation Planning, Implementation Prompts, Vertical Slice Implementation, Code Review with GitHub Copilot</a:t>
                      </a:r>
                    </a:p>
                  </a:txBody>
                  <a:tcPr>
                    <a:solidFill>
                      <a:schemeClr val="accent4">
                        <a:lumMod val="20000"/>
                        <a:lumOff val="80000"/>
                      </a:schemeClr>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pPr/>
            <a:r>
              <a:rPr b="0" i="0" u="none"/>
              <a:t>Intro</a:t>
            </a:r>
          </a:p>
          <a:p>
            <a:pPr/>
            <a:r>
              <a:rPr b="1" i="0" u="none"/>
              <a:t>▶ AI Assisted Software Development</a:t>
            </a:r>
          </a:p>
          <a:p>
            <a:pPr/>
            <a:r>
              <a:rPr b="0" i="0" u="none"/>
              <a:t>Intro to Copilot</a:t>
            </a:r>
          </a:p>
          <a:p>
            <a:pPr/>
            <a:r>
              <a:rPr b="0" i="0" u="none"/>
              <a:t>AI Assistance in Action</a:t>
            </a:r>
          </a:p>
          <a:p>
            <a:pPr/>
            <a:r>
              <a:rPr b="0" i="0" u="none"/>
              <a:t>Adding AI Guardrails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The More Things Change, the More They Still Compile</a:t>
            </a:r>
          </a:p>
        </p:txBody>
      </p:sp>
      <p:sp>
        <p:nvSpPr>
          <p:cNvPr id="3" name="Content Placeholder 2"/>
          <p:cNvSpPr>
            <a:spLocks noGrp="1"/>
          </p:cNvSpPr>
          <p:nvPr>
            <p:ph idx="1"/>
          </p:nvPr>
        </p:nvSpPr>
        <p:spPr/>
        <p:txBody>
          <a:bodyPr wrap="square">
            <a:normAutofit/>
          </a:bodyPr>
          <a:lstStyle/>
          <a:p>
            <a:pPr>
              <a:buNone/>
            </a:pPr>
            <a:r>
              <a:rPr b="0" i="0" u="none" sz="2800"/>
              <a:t>"Programming hasn't changed, but how we go about it has changed, again."</a:t>
            </a:r>
            <a:endParaRPr sz="2800" b="0" i="0">
              <a:latin typeface="Arial"/>
            </a:endParaRPr>
          </a:p>
          <a:p>
            <a:pPr>
              <a:buNone/>
            </a:pPr>
            <a:r>
              <a:rPr b="0" i="0" u="none" sz="2800"/>
              <a:t/>
            </a:r>
            <a:endParaRPr sz="2800" b="0" i="0">
              <a:latin typeface="Arial"/>
            </a:endParaRPr>
          </a:p>
          <a:p>
            <a:pPr/>
            <a:r>
              <a:rPr b="0" i="0" u="none" sz="2800"/>
              <a:t>AI-assisted development is an evolution of programming tools</a:t>
            </a:r>
            <a:endParaRPr sz="2800" b="0" i="0">
              <a:latin typeface="Arial"/>
            </a:endParaRPr>
          </a:p>
          <a:p>
            <a:pPr/>
            <a:r>
              <a:rPr b="0" i="0" u="none" sz="2800"/>
              <a:t>The mission is still translating intent into machine behavior</a:t>
            </a:r>
            <a:endParaRPr sz="2800" b="0" i="0">
              <a:latin typeface="Arial"/>
            </a:endParaRPr>
          </a:p>
          <a:p>
            <a:pPr/>
            <a:r>
              <a:rPr b="0" i="0" u="none" sz="2800"/>
              <a:t>Better abstractions increase speed, not replace judgment</a:t>
            </a:r>
            <a:endParaRPr sz="2800" b="0" i="0">
              <a:latin typeface="Arial"/>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Timeline (1940s-2010s)</a:t>
            </a:r>
          </a:p>
        </p:txBody>
      </p:sp>
      <p:sp>
        <p:nvSpPr>
          <p:cNvPr id="3" name="Content Placeholder 2"/>
          <p:cNvSpPr>
            <a:spLocks noGrp="1"/>
          </p:cNvSpPr>
          <p:nvPr>
            <p:ph idx="1"/>
          </p:nvPr>
        </p:nvSpPr>
        <p:spPr/>
        <p:txBody>
          <a:bodyPr wrap="square">
            <a:normAutofit/>
          </a:bodyPr>
          <a:lstStyle/>
          <a:p>
            <a:pPr/>
            <a:r>
              <a:rPr b="0" i="0" u="none" sz="2800"/>
              <a:t>Machine code -&gt; assembly: first abstraction layer</a:t>
            </a:r>
            <a:endParaRPr sz="2800" b="0" i="0">
              <a:latin typeface="Arial"/>
            </a:endParaRPr>
          </a:p>
          <a:p>
            <a:pPr/>
            <a:r>
              <a:rPr b="0" i="0" u="none" sz="2800"/>
              <a:t>High-level languages: FORTRAN, COBOL, C moved us toward human logic</a:t>
            </a:r>
            <a:endParaRPr sz="2800" b="0" i="0">
              <a:latin typeface="Arial"/>
            </a:endParaRPr>
          </a:p>
          <a:p>
            <a:pPr/>
            <a:r>
              <a:rPr b="0" i="0" u="none" sz="2800"/>
              <a:t>Structured/OOP era: modularity, reuse, and domain modeling</a:t>
            </a:r>
            <a:endParaRPr sz="2800" b="0" i="0">
              <a:latin typeface="Arial"/>
            </a:endParaRPr>
          </a:p>
          <a:p>
            <a:pPr/>
            <a:r>
              <a:rPr b="0" i="0" u="none" sz="2800"/>
              <a:t>IDEs/libraries: integrated tooling accelerated delivery</a:t>
            </a:r>
            <a:endParaRPr sz="2800" b="0" i="0">
              <a:latin typeface="Arial"/>
            </a:endParaRPr>
          </a:p>
          <a:p>
            <a:pPr/>
            <a:r>
              <a:rPr b="0" i="0" u="none" sz="2800"/>
              <a:t>Web/scripting + cloud/APIs: orchestration over low-level plumbing</a:t>
            </a:r>
            <a:endParaRPr sz="2800" b="0" i="0">
              <a:latin typeface="Arial"/>
            </a:endParaRPr>
          </a:p>
          <a:p>
            <a:pPr>
              <a:buNone/>
            </a:pPr>
            <a:r>
              <a:rPr b="0" i="0" u="none" sz="2800"/>
              <a:t/>
            </a:r>
            <a:endParaRPr sz="2800" b="0" i="0">
              <a:latin typeface="Arial"/>
            </a:endParaRPr>
          </a:p>
          <a:p>
            <a:pPr>
              <a:buNone/>
            </a:pPr>
            <a:r>
              <a:rPr b="0" i="0" u="none" sz="2800"/>
              <a:t>Pattern</a:t>
            </a:r>
            <a:r>
              <a:rPr b="0" i="0" u="none" sz="2800"/>
              <a:t>: every era raised abstraction while preserving core programming intent.</a:t>
            </a:r>
            <a:endParaRPr sz="2800" b="0" i="0">
              <a:latin typeface="Aria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AI-Assisted Coding (Now)</a:t>
            </a:r>
          </a:p>
        </p:txBody>
      </p:sp>
      <p:sp>
        <p:nvSpPr>
          <p:cNvPr id="3" name="Content Placeholder 2"/>
          <p:cNvSpPr>
            <a:spLocks noGrp="1"/>
          </p:cNvSpPr>
          <p:nvPr>
            <p:ph idx="1"/>
          </p:nvPr>
        </p:nvSpPr>
        <p:spPr/>
        <p:txBody>
          <a:bodyPr wrap="square">
            <a:normAutofit/>
          </a:bodyPr>
          <a:lstStyle/>
          <a:p>
            <a:pPr/>
            <a:r>
              <a:rPr b="0" i="0" u="none" sz="2800"/>
              <a:t>Natural language becomes a practical coding interface</a:t>
            </a:r>
            <a:endParaRPr sz="2800" b="0" i="0">
              <a:latin typeface="Arial"/>
            </a:endParaRPr>
          </a:p>
          <a:p>
            <a:pPr/>
            <a:r>
              <a:rPr b="0" i="0" u="none" sz="2800"/>
              <a:t>AI can generate scaffolding, tests, and documentation</a:t>
            </a:r>
            <a:endParaRPr sz="2800" b="0" i="0">
              <a:latin typeface="Arial"/>
            </a:endParaRPr>
          </a:p>
          <a:p>
            <a:pPr/>
            <a:r>
              <a:rPr b="0" i="0" u="none" sz="2800"/>
              <a:t>Developers iterate through dialogue: prompt, inspect, refine</a:t>
            </a:r>
            <a:endParaRPr sz="2800" b="0" i="0">
              <a:latin typeface="Arial"/>
            </a:endParaRPr>
          </a:p>
          <a:p>
            <a:pPr/>
            <a:r>
              <a:rPr b="0" i="0" u="none" sz="2800"/>
              <a:t>Context quality determines output quality</a:t>
            </a:r>
            <a:endParaRPr sz="2800" b="0" i="0">
              <a:latin typeface="Arial"/>
            </a:endParaRPr>
          </a:p>
          <a:p>
            <a:pPr>
              <a:buNone/>
            </a:pPr>
            <a:r>
              <a:rPr b="0" i="0" u="none" sz="2800"/>
              <a:t/>
            </a:r>
            <a:endParaRPr sz="2800" b="0" i="0">
              <a:latin typeface="Arial"/>
            </a:endParaRPr>
          </a:p>
          <a:p>
            <a:pPr>
              <a:buNone/>
            </a:pPr>
            <a:r>
              <a:rPr b="0" i="0" u="none" sz="2800"/>
              <a:t>Shift</a:t>
            </a:r>
            <a:r>
              <a:rPr b="0" i="0" u="none" sz="2800"/>
              <a:t>: from only writing code to directing code creation.</a:t>
            </a:r>
            <a:endParaRPr sz="2800" b="0" i="0">
              <a:latin typeface="Arial"/>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The New Programmer Role</a:t>
            </a:r>
          </a:p>
        </p:txBody>
      </p:sp>
      <p:sp>
        <p:nvSpPr>
          <p:cNvPr id="3" name="Content Placeholder 2"/>
          <p:cNvSpPr>
            <a:spLocks noGrp="1"/>
          </p:cNvSpPr>
          <p:nvPr>
            <p:ph idx="1"/>
          </p:nvPr>
        </p:nvSpPr>
        <p:spPr/>
        <p:txBody>
          <a:bodyPr wrap="square">
            <a:normAutofit/>
          </a:bodyPr>
          <a:lstStyle/>
          <a:p>
            <a:pPr/>
            <a:r>
              <a:rPr b="0" i="0" u="none" sz="2800"/>
              <a:t>Curator of context (requirements, constraints, examples)</a:t>
            </a:r>
            <a:endParaRPr sz="2800" b="0" i="0">
              <a:latin typeface="Arial"/>
            </a:endParaRPr>
          </a:p>
          <a:p>
            <a:pPr/>
            <a:r>
              <a:rPr b="0" i="0" u="none" sz="2800"/>
              <a:t>Validator of output (correctness, performance, maintainability)</a:t>
            </a:r>
            <a:endParaRPr sz="2800" b="0" i="0">
              <a:latin typeface="Arial"/>
            </a:endParaRPr>
          </a:p>
          <a:p>
            <a:pPr/>
            <a:r>
              <a:rPr b="0" i="0" u="none" sz="2800"/>
              <a:t>Steward of alignment (business goals, user value, ethics)</a:t>
            </a:r>
            <a:endParaRPr sz="2800" b="0" i="0">
              <a:latin typeface="Arial"/>
            </a:endParaRPr>
          </a:p>
          <a:p>
            <a:pPr>
              <a:buNone/>
            </a:pPr>
            <a:r>
              <a:rPr b="0" i="0" u="none" sz="2800"/>
              <a:t/>
            </a:r>
            <a:endParaRPr sz="2800" b="0" i="0">
              <a:latin typeface="Arial"/>
            </a:endParaRPr>
          </a:p>
          <a:p>
            <a:pPr>
              <a:buNone/>
            </a:pPr>
            <a:r>
              <a:rPr b="0" i="0" u="none" sz="2800"/>
              <a:t>AI understands intent better than old tools, but still needs expert oversight.</a:t>
            </a:r>
            <a:endParaRPr sz="2800" b="0" i="0">
              <a:latin typeface="Arial"/>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What Hasn't Changed</a:t>
            </a:r>
          </a:p>
        </p:txBody>
      </p:sp>
      <p:sp>
        <p:nvSpPr>
          <p:cNvPr id="3" name="Content Placeholder 2"/>
          <p:cNvSpPr>
            <a:spLocks noGrp="1"/>
          </p:cNvSpPr>
          <p:nvPr>
            <p:ph idx="1"/>
          </p:nvPr>
        </p:nvSpPr>
        <p:spPr/>
        <p:txBody>
          <a:bodyPr wrap="square">
            <a:normAutofit/>
          </a:bodyPr>
          <a:lstStyle/>
          <a:p>
            <a:pPr/>
            <a:r>
              <a:rPr b="0" i="0" u="none" sz="2800"/>
              <a:t>Testing, review, and validation are still mandatory</a:t>
            </a:r>
            <a:endParaRPr sz="2800" b="0" i="0">
              <a:latin typeface="Arial"/>
            </a:endParaRPr>
          </a:p>
          <a:p>
            <a:pPr/>
            <a:r>
              <a:rPr b="0" i="0" u="none" sz="2800"/>
              <a:t>Security, architecture, and compliance are still your responsibility</a:t>
            </a:r>
            <a:endParaRPr sz="2800" b="0" i="0">
              <a:latin typeface="Arial"/>
            </a:endParaRPr>
          </a:p>
          <a:p>
            <a:pPr/>
            <a:r>
              <a:rPr b="0" i="0" u="none" sz="2800"/>
              <a:t>Critical thinking remains the differentiator</a:t>
            </a:r>
            <a:endParaRPr sz="2800" b="0" i="0">
              <a:latin typeface="Arial"/>
            </a:endParaRPr>
          </a:p>
          <a:p>
            <a:pPr>
              <a:buNone/>
            </a:pPr>
            <a:r>
              <a:rPr b="0" i="0" u="none" sz="2800"/>
              <a:t/>
            </a:r>
            <a:endParaRPr sz="2800" b="0" i="0">
              <a:latin typeface="Arial"/>
            </a:endParaRPr>
          </a:p>
          <a:p>
            <a:pPr>
              <a:buNone/>
            </a:pPr>
            <a:r>
              <a:rPr b="0" i="0" u="none" sz="2800"/>
              <a:t>What changed</a:t>
            </a:r>
            <a:r>
              <a:rPr b="0" i="0" u="none" sz="2800"/>
              <a:t>: expression of intent</a:t>
            </a:r>
            <a:endParaRPr sz="2800" b="0" i="0">
              <a:latin typeface="Arial"/>
            </a:endParaRPr>
          </a:p>
          <a:p>
            <a:pPr>
              <a:buNone/>
            </a:pPr>
            <a:r>
              <a:rPr b="0" i="0" u="none" sz="2800"/>
              <a:t>What did not</a:t>
            </a:r>
            <a:r>
              <a:rPr b="0" i="0" u="none" sz="2800"/>
              <a:t>: accountability for software outcomes</a:t>
            </a:r>
            <a:endParaRPr sz="2800" b="0" i="0">
              <a:latin typeface="Arial"/>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With Great Token Budget Comes Great Responsibility</a:t>
            </a:r>
          </a:p>
        </p:txBody>
      </p:sp>
      <p:sp>
        <p:nvSpPr>
          <p:cNvPr id="3" name="Content Placeholder 2"/>
          <p:cNvSpPr>
            <a:spLocks noGrp="1"/>
          </p:cNvSpPr>
          <p:nvPr>
            <p:ph idx="1"/>
          </p:nvPr>
        </p:nvSpPr>
        <p:spPr/>
        <p:txBody>
          <a:bodyPr wrap="square">
            <a:normAutofit/>
          </a:bodyPr>
          <a:lstStyle/>
          <a:p>
            <a:pPr>
              <a:buNone/>
            </a:pPr>
            <a:r>
              <a:rPr b="0" i="0" u="none" sz="2800"/>
              <a:t>What hasn't changed and what has.</a:t>
            </a:r>
            <a:endParaRPr sz="2800" b="0" i="0">
              <a:latin typeface="Arial"/>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Why AI Assisted Software Development</a:t>
            </a:r>
          </a:p>
        </p:txBody>
      </p:sp>
      <p:sp>
        <p:nvSpPr>
          <p:cNvPr id="3" name="Content Placeholder 2"/>
          <p:cNvSpPr>
            <a:spLocks noGrp="1"/>
          </p:cNvSpPr>
          <p:nvPr>
            <p:ph idx="1"/>
          </p:nvPr>
        </p:nvSpPr>
        <p:spPr/>
        <p:txBody>
          <a:bodyPr wrap="square">
            <a:normAutofit/>
          </a:bodyPr>
          <a:lstStyle/>
          <a:p>
            <a:pPr>
              <a:buNone/>
            </a:pPr>
            <a:r>
              <a:rPr b="0" i="0" u="none" sz="2800"/>
              <a:t>If used effectively, it will give you superpowers</a:t>
            </a:r>
            <a:endParaRPr sz="2800" b="0" i="0">
              <a:latin typeface="Arial"/>
            </a:endParaRPr>
          </a:p>
          <a:p>
            <a:pPr>
              <a:buNone/>
            </a:pPr>
            <a:r>
              <a:rPr b="0" i="0" u="none" sz="2800"/>
              <a:t/>
            </a:r>
            <a:endParaRPr sz="2800" b="0" i="0">
              <a:latin typeface="Arial"/>
            </a:endParaRPr>
          </a:p>
          <a:p>
            <a:pPr/>
            <a:r>
              <a:rPr b="0" i="0" u="none" sz="2800"/>
              <a:t>The courage to</a:t>
            </a:r>
            <a:endParaRPr sz="2800" b="0" i="0">
              <a:latin typeface="Arial"/>
            </a:endParaRPr>
          </a:p>
          <a:p>
            <a:pPr lvl="1"/>
            <a:r>
              <a:rPr b="0" i="0" u="none" sz="2800"/>
              <a:t>Take on codebases that few would touch</a:t>
            </a:r>
            <a:endParaRPr sz="2800" b="0" i="0">
              <a:latin typeface="Arial"/>
            </a:endParaRPr>
          </a:p>
          <a:p>
            <a:pPr lvl="1"/>
            <a:r>
              <a:rPr b="0" i="0" u="none" sz="2800"/>
              <a:t>Use technologies you should know but don't</a:t>
            </a:r>
            <a:endParaRPr sz="2800" b="0" i="0">
              <a:latin typeface="Arial"/>
            </a:endParaRPr>
          </a:p>
          <a:p>
            <a:pPr lvl="1"/>
            <a:r>
              <a:rPr b="0" i="0" u="none" sz="2800"/>
              <a:t>Write more high-quality code than you have ever written before</a:t>
            </a:r>
            <a:endParaRPr sz="2800" b="0" i="0">
              <a:latin typeface="Arial"/>
            </a:endParaRPr>
          </a:p>
          <a:p>
            <a:pPr lvl="1"/>
            <a:r>
              <a:rPr b="0" i="0" u="none" sz="2800"/>
              <a:t>Take on the nice to haves</a:t>
            </a:r>
            <a:endParaRPr sz="2800" b="0" i="0">
              <a:latin typeface="Arial"/>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AI-First &amp; Prompt-First</a:t>
            </a:r>
          </a:p>
        </p:txBody>
      </p:sp>
      <p:sp>
        <p:nvSpPr>
          <p:cNvPr id="3" name="Content Placeholder 2"/>
          <p:cNvSpPr>
            <a:spLocks noGrp="1"/>
          </p:cNvSpPr>
          <p:nvPr>
            <p:ph idx="1"/>
          </p:nvPr>
        </p:nvSpPr>
        <p:spPr/>
        <p:txBody>
          <a:bodyPr wrap="square">
            <a:normAutofit/>
          </a:bodyPr>
          <a:lstStyle/>
          <a:p>
            <a:pPr>
              <a:buNone/>
            </a:pPr>
            <a:r>
              <a:rPr b="0" i="0" u="none" sz="2800"/>
              <a:t>AI-First Development</a:t>
            </a:r>
            <a:endParaRPr sz="2800" b="0" i="0">
              <a:latin typeface="Arial"/>
            </a:endParaRPr>
          </a:p>
          <a:p>
            <a:pPr>
              <a:buNone/>
            </a:pPr>
            <a:r>
              <a:rPr b="0" i="0" u="none" sz="2800"/>
              <a:t>A software engineering philosophy where AI is embedded across the entire SDLC–requirements, design, implementation, testing, documentation, compliance, and maintenance.</a:t>
            </a:r>
            <a:endParaRPr sz="2800" b="0" i="0">
              <a:latin typeface="Arial"/>
            </a:endParaRPr>
          </a:p>
          <a:p>
            <a:pPr>
              <a:buNone/>
            </a:pPr>
            <a:r>
              <a:rPr b="0" i="0" u="none" sz="2800"/>
              <a:t>Prompt-First Development</a:t>
            </a:r>
            <a:endParaRPr sz="2800" b="0" i="0">
              <a:latin typeface="Arial"/>
            </a:endParaRPr>
          </a:p>
          <a:p>
            <a:pPr>
              <a:buNone/>
            </a:pPr>
            <a:r>
              <a:rPr b="0" i="0" u="none" sz="2800"/>
              <a:t>A workflow pattern where prompts, instruction files, and chat modes are treated as first-class, version-controlled artifacts.</a:t>
            </a:r>
            <a:endParaRPr sz="2800" b="0" i="0">
              <a:latin typeface="Aria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What Each Optimizes For</a:t>
            </a:r>
          </a:p>
        </p:txBody>
      </p:sp>
      <p:graphicFrame>
        <p:nvGraphicFramePr>
          <p:cNvPr id="3" name="Table 2"/>
          <p:cNvGraphicFramePr>
            <a:graphicFrameLocks noGrp="1"/>
          </p:cNvGraphicFramePr>
          <p:nvPr/>
        </p:nvGraphicFramePr>
        <p:xfrm>
          <a:off x="457200" y="1828800"/>
          <a:ext cx="8229600" cy="22860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wrap="square"/>
                    <a:lstStyle/>
                    <a:p>
                      <a:pPr>
                        <a:buNone/>
                        <a:defRPr sz="1600" b="1">
                          <a:solidFill>
                            <a:schemeClr val="bg1"/>
                          </a:solidFill>
                        </a:defRPr>
                      </a:pPr>
                      <a:r>
                        <a:rPr b="0" i="0" u="none" sz="1600"/>
                        <a:t>Focus Area</a:t>
                      </a:r>
                    </a:p>
                  </a:txBody>
                  <a:tcPr>
                    <a:solidFill>
                      <a:schemeClr val="accent4"/>
                    </a:solidFill>
                  </a:tcPr>
                </a:tc>
                <a:tc>
                  <a:txBody>
                    <a:bodyPr wrap="square"/>
                    <a:lstStyle/>
                    <a:p>
                      <a:pPr>
                        <a:buNone/>
                        <a:defRPr sz="1600" b="1">
                          <a:solidFill>
                            <a:schemeClr val="bg1"/>
                          </a:solidFill>
                        </a:defRPr>
                      </a:pPr>
                      <a:r>
                        <a:rPr b="0" i="0" u="none" sz="1600"/>
                        <a:t>AI-First</a:t>
                      </a:r>
                    </a:p>
                  </a:txBody>
                  <a:tcPr>
                    <a:solidFill>
                      <a:schemeClr val="accent4"/>
                    </a:solidFill>
                  </a:tcPr>
                </a:tc>
                <a:tc>
                  <a:txBody>
                    <a:bodyPr wrap="square"/>
                    <a:lstStyle/>
                    <a:p>
                      <a:pPr>
                        <a:buNone/>
                        <a:defRPr sz="1600" b="1">
                          <a:solidFill>
                            <a:schemeClr val="bg1"/>
                          </a:solidFill>
                        </a:defRPr>
                      </a:pPr>
                      <a:r>
                        <a:rPr b="0" i="0" u="none" sz="1600"/>
                        <a:t>Prompt-First</a:t>
                      </a:r>
                    </a:p>
                  </a:txBody>
                  <a:tcPr>
                    <a:solidFill>
                      <a:schemeClr val="accent4"/>
                    </a:solidFill>
                  </a:tcPr>
                </a:tc>
              </a:tr>
              <a:tr h="457200">
                <a:tc>
                  <a:txBody>
                    <a:bodyPr wrap="square"/>
                    <a:lstStyle/>
                    <a:p>
                      <a:pPr>
                        <a:buNone/>
                        <a:defRPr sz="1600" b="0">
                          <a:solidFill>
                            <a:schemeClr val="tx1"/>
                          </a:solidFill>
                        </a:defRPr>
                      </a:pPr>
                      <a:r>
                        <a:rPr b="0" i="0" u="none" sz="1600"/>
                        <a:t>Scope</a:t>
                      </a:r>
                    </a:p>
                  </a:txBody>
                  <a:tcPr>
                    <a:solidFill>
                      <a:schemeClr val="accent4">
                        <a:lumMod val="20000"/>
                        <a:lumOff val="80000"/>
                      </a:schemeClr>
                    </a:solidFill>
                  </a:tcPr>
                </a:tc>
                <a:tc>
                  <a:txBody>
                    <a:bodyPr wrap="square"/>
                    <a:lstStyle/>
                    <a:p>
                      <a:pPr>
                        <a:buNone/>
                        <a:defRPr sz="1600" b="0">
                          <a:solidFill>
                            <a:schemeClr val="tx1"/>
                          </a:solidFill>
                        </a:defRPr>
                      </a:pPr>
                      <a:r>
                        <a:rPr b="0" i="0" u="none" sz="1600"/>
                        <a:t>Entire SDLC</a:t>
                      </a:r>
                    </a:p>
                  </a:txBody>
                  <a:tcPr>
                    <a:solidFill>
                      <a:schemeClr val="accent4">
                        <a:lumMod val="20000"/>
                        <a:lumOff val="80000"/>
                      </a:schemeClr>
                    </a:solidFill>
                  </a:tcPr>
                </a:tc>
                <a:tc>
                  <a:txBody>
                    <a:bodyPr wrap="square"/>
                    <a:lstStyle/>
                    <a:p>
                      <a:pPr>
                        <a:buNone/>
                        <a:defRPr sz="1600" b="0">
                          <a:solidFill>
                            <a:schemeClr val="tx1"/>
                          </a:solidFill>
                        </a:defRPr>
                      </a:pPr>
                      <a:r>
                        <a:rPr b="0" i="0" u="none" sz="1600"/>
                        <a:t>Interaction layer</a:t>
                      </a:r>
                    </a:p>
                  </a:txBody>
                  <a:tcPr>
                    <a:solidFill>
                      <a:schemeClr val="accent4">
                        <a:lumMod val="20000"/>
                        <a:lumOff val="80000"/>
                      </a:schemeClr>
                    </a:solidFill>
                  </a:tcPr>
                </a:tc>
              </a:tr>
              <a:tr h="457200">
                <a:tc>
                  <a:txBody>
                    <a:bodyPr wrap="square"/>
                    <a:lstStyle/>
                    <a:p>
                      <a:pPr>
                        <a:buNone/>
                        <a:defRPr sz="1600" b="0">
                          <a:solidFill>
                            <a:schemeClr val="tx1"/>
                          </a:solidFill>
                        </a:defRPr>
                      </a:pPr>
                      <a:r>
                        <a:rPr b="0" i="0" u="none" sz="1600"/>
                        <a:t>Goal</a:t>
                      </a:r>
                    </a:p>
                  </a:txBody>
                  <a:tcPr>
                    <a:solidFill>
                      <a:schemeClr val="accent4">
                        <a:lumMod val="8000"/>
                        <a:lumOff val="92000"/>
                      </a:schemeClr>
                    </a:solidFill>
                  </a:tcPr>
                </a:tc>
                <a:tc>
                  <a:txBody>
                    <a:bodyPr wrap="square"/>
                    <a:lstStyle/>
                    <a:p>
                      <a:pPr>
                        <a:buNone/>
                        <a:defRPr sz="1600" b="0">
                          <a:solidFill>
                            <a:schemeClr val="tx1"/>
                          </a:solidFill>
                        </a:defRPr>
                      </a:pPr>
                      <a:r>
                        <a:rPr b="0" i="0" u="none" sz="1600"/>
                        <a:t>Lifecycle integration</a:t>
                      </a:r>
                    </a:p>
                  </a:txBody>
                  <a:tcPr>
                    <a:solidFill>
                      <a:schemeClr val="accent4">
                        <a:lumMod val="8000"/>
                        <a:lumOff val="92000"/>
                      </a:schemeClr>
                    </a:solidFill>
                  </a:tcPr>
                </a:tc>
                <a:tc>
                  <a:txBody>
                    <a:bodyPr wrap="square"/>
                    <a:lstStyle/>
                    <a:p>
                      <a:pPr>
                        <a:buNone/>
                        <a:defRPr sz="1600" b="0">
                          <a:solidFill>
                            <a:schemeClr val="tx1"/>
                          </a:solidFill>
                        </a:defRPr>
                      </a:pPr>
                      <a:r>
                        <a:rPr b="0" i="0" u="none" sz="1600"/>
                        <a:t>Deterministic AI behavior</a:t>
                      </a:r>
                    </a:p>
                  </a:txBody>
                  <a:tcPr>
                    <a:solidFill>
                      <a:schemeClr val="accent4">
                        <a:lumMod val="8000"/>
                        <a:lumOff val="92000"/>
                      </a:schemeClr>
                    </a:solidFill>
                  </a:tcPr>
                </a:tc>
              </a:tr>
              <a:tr h="457200">
                <a:tc>
                  <a:txBody>
                    <a:bodyPr wrap="square"/>
                    <a:lstStyle/>
                    <a:p>
                      <a:pPr>
                        <a:buNone/>
                        <a:defRPr sz="1600" b="0">
                          <a:solidFill>
                            <a:schemeClr val="tx1"/>
                          </a:solidFill>
                        </a:defRPr>
                      </a:pPr>
                      <a:r>
                        <a:rPr b="0" i="0" u="none" sz="1600"/>
                        <a:t>Optimization</a:t>
                      </a:r>
                    </a:p>
                  </a:txBody>
                  <a:tcPr>
                    <a:solidFill>
                      <a:schemeClr val="accent4">
                        <a:lumMod val="20000"/>
                        <a:lumOff val="80000"/>
                      </a:schemeClr>
                    </a:solidFill>
                  </a:tcPr>
                </a:tc>
                <a:tc>
                  <a:txBody>
                    <a:bodyPr wrap="square"/>
                    <a:lstStyle/>
                    <a:p>
                      <a:pPr>
                        <a:buNone/>
                        <a:defRPr sz="1600" b="0">
                          <a:solidFill>
                            <a:schemeClr val="tx1"/>
                          </a:solidFill>
                        </a:defRPr>
                      </a:pPr>
                      <a:r>
                        <a:rPr b="0" i="0" u="none" sz="1600"/>
                        <a:t>Velocity, governance</a:t>
                      </a:r>
                    </a:p>
                  </a:txBody>
                  <a:tcPr>
                    <a:solidFill>
                      <a:schemeClr val="accent4">
                        <a:lumMod val="20000"/>
                        <a:lumOff val="80000"/>
                      </a:schemeClr>
                    </a:solidFill>
                  </a:tcPr>
                </a:tc>
                <a:tc>
                  <a:txBody>
                    <a:bodyPr wrap="square"/>
                    <a:lstStyle/>
                    <a:p>
                      <a:pPr>
                        <a:buNone/>
                        <a:defRPr sz="1600" b="0">
                          <a:solidFill>
                            <a:schemeClr val="tx1"/>
                          </a:solidFill>
                        </a:defRPr>
                      </a:pPr>
                      <a:r>
                        <a:rPr b="0" i="0" u="none" sz="1600"/>
                        <a:t>Prompt quality, reproducibility</a:t>
                      </a:r>
                    </a:p>
                  </a:txBody>
                  <a:tcPr>
                    <a:solidFill>
                      <a:schemeClr val="accent4">
                        <a:lumMod val="20000"/>
                        <a:lumOff val="80000"/>
                      </a:schemeClr>
                    </a:solidFill>
                  </a:tcPr>
                </a:tc>
              </a:tr>
              <a:tr h="457200">
                <a:tc>
                  <a:txBody>
                    <a:bodyPr wrap="square"/>
                    <a:lstStyle/>
                    <a:p>
                      <a:pPr>
                        <a:buNone/>
                        <a:defRPr sz="1600" b="0">
                          <a:solidFill>
                            <a:schemeClr val="tx1"/>
                          </a:solidFill>
                        </a:defRPr>
                      </a:pPr>
                      <a:r>
                        <a:rPr b="0" i="0" u="none" sz="1600"/>
                        <a:t>Risk Controls</a:t>
                      </a:r>
                    </a:p>
                  </a:txBody>
                  <a:tcPr>
                    <a:solidFill>
                      <a:schemeClr val="accent4">
                        <a:lumMod val="8000"/>
                        <a:lumOff val="92000"/>
                      </a:schemeClr>
                    </a:solidFill>
                  </a:tcPr>
                </a:tc>
                <a:tc>
                  <a:txBody>
                    <a:bodyPr wrap="square"/>
                    <a:lstStyle/>
                    <a:p>
                      <a:pPr>
                        <a:buNone/>
                        <a:defRPr sz="1600" b="0">
                          <a:solidFill>
                            <a:schemeClr val="tx1"/>
                          </a:solidFill>
                        </a:defRPr>
                      </a:pPr>
                      <a:r>
                        <a:rPr b="0" i="0" u="none" sz="1600"/>
                        <a:t>Human-in-loop, provenance</a:t>
                      </a:r>
                    </a:p>
                  </a:txBody>
                  <a:tcPr>
                    <a:solidFill>
                      <a:schemeClr val="accent4">
                        <a:lumMod val="8000"/>
                        <a:lumOff val="92000"/>
                      </a:schemeClr>
                    </a:solidFill>
                  </a:tcPr>
                </a:tc>
                <a:tc>
                  <a:txBody>
                    <a:bodyPr wrap="square"/>
                    <a:lstStyle/>
                    <a:p>
                      <a:pPr>
                        <a:buNone/>
                        <a:defRPr sz="1600" b="0">
                          <a:solidFill>
                            <a:schemeClr val="tx1"/>
                          </a:solidFill>
                        </a:defRPr>
                      </a:pPr>
                      <a:r>
                        <a:rPr b="0" i="0" u="none" sz="1600"/>
                        <a:t>Versioned prompts, context control</a:t>
                      </a:r>
                    </a:p>
                  </a:txBody>
                  <a:tcPr>
                    <a:solidFill>
                      <a:schemeClr val="accent4">
                        <a:lumMod val="8000"/>
                        <a:lumOff val="92000"/>
                      </a:schemeClr>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How They Treat Artifacts</a:t>
            </a:r>
          </a:p>
        </p:txBody>
      </p:sp>
      <p:sp>
        <p:nvSpPr>
          <p:cNvPr id="3" name="Content Placeholder 2"/>
          <p:cNvSpPr>
            <a:spLocks noGrp="1"/>
          </p:cNvSpPr>
          <p:nvPr>
            <p:ph idx="1"/>
          </p:nvPr>
        </p:nvSpPr>
        <p:spPr/>
        <p:txBody>
          <a:bodyPr wrap="square">
            <a:normAutofit/>
          </a:bodyPr>
          <a:lstStyle/>
          <a:p>
            <a:pPr>
              <a:buNone/>
            </a:pPr>
            <a:r>
              <a:rPr b="0" i="0" u="none" sz="2800"/>
              <a:t>AI-First</a:t>
            </a:r>
            <a:endParaRPr sz="2800" b="0" i="0">
              <a:latin typeface="Arial"/>
            </a:endParaRPr>
          </a:p>
          <a:p>
            <a:pPr>
              <a:buNone/>
            </a:pPr>
            <a:r>
              <a:rPr b="0" i="0" u="none" sz="2800"/>
              <a:t>Requirements written with AI collaboration in mind</a:t>
            </a:r>
            <a:endParaRPr sz="2800" b="0" i="0">
              <a:latin typeface="Arial"/>
            </a:endParaRPr>
          </a:p>
          <a:p>
            <a:pPr>
              <a:buNone/>
            </a:pPr>
            <a:r>
              <a:rPr b="0" i="0" u="none" sz="2800"/>
              <a:t>AI-generated scaffolds, tests, docs</a:t>
            </a:r>
            <a:endParaRPr sz="2800" b="0" i="0">
              <a:latin typeface="Arial"/>
            </a:endParaRPr>
          </a:p>
          <a:p>
            <a:pPr>
              <a:buNone/>
            </a:pPr>
            <a:r>
              <a:rPr b="0" i="0" u="none" sz="2800"/>
              <a:t>Provenance enforced across all AI outputs</a:t>
            </a:r>
            <a:endParaRPr sz="2800" b="0" i="0">
              <a:latin typeface="Arial"/>
            </a:endParaRPr>
          </a:p>
          <a:p>
            <a:pPr>
              <a:buNone/>
            </a:pPr>
            <a:r>
              <a:rPr b="0" i="0" u="none" sz="2800"/>
              <a:t>Architecture assumes AI participation</a:t>
            </a:r>
            <a:endParaRPr sz="2800" b="0" i="0">
              <a:latin typeface="Arial"/>
            </a:endParaRPr>
          </a:p>
          <a:p>
            <a:pPr>
              <a:buNone/>
            </a:pPr>
            <a:r>
              <a:rPr b="0" i="0" u="none" sz="2800"/>
              <a:t>Prompt-First</a:t>
            </a:r>
            <a:endParaRPr sz="2800" b="0" i="0">
              <a:latin typeface="Arial"/>
            </a:endParaRPr>
          </a:p>
          <a:p>
            <a:pPr>
              <a:buNone/>
            </a:pPr>
            <a:r>
              <a:rPr b="0" i="0" u="none" sz="2800"/>
              <a:t>Prompts and instruction files are version-controlled</a:t>
            </a:r>
            <a:endParaRPr sz="2800" b="0" i="0">
              <a:latin typeface="Arial"/>
            </a:endParaRPr>
          </a:p>
          <a:p>
            <a:pPr>
              <a:buNone/>
            </a:pPr>
            <a:r>
              <a:rPr b="0" i="0" u="none" sz="2800"/>
              <a:t>Prompts define behavioral contracts</a:t>
            </a:r>
            <a:endParaRPr sz="2800" b="0" i="0">
              <a:latin typeface="Arial"/>
            </a:endParaRPr>
          </a:p>
          <a:p>
            <a:pPr>
              <a:buNone/>
            </a:pPr>
            <a:r>
              <a:rPr b="0" i="0" u="none" sz="2800"/>
              <a:t>Reusable prompt modules</a:t>
            </a:r>
            <a:endParaRPr sz="2800" b="0" i="0">
              <a:latin typeface="Arial"/>
            </a:endParaRPr>
          </a:p>
          <a:p>
            <a:pPr>
              <a:buNone/>
            </a:pPr>
            <a:r>
              <a:rPr b="0" i="0" u="none" sz="2800"/>
              <a:t>Chat modes define safe, predictable interactions</a:t>
            </a:r>
            <a:endParaRPr sz="2800" b="0" i="0">
              <a:latin typeface="Aria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Relationship Between the Two</a:t>
            </a:r>
          </a:p>
        </p:txBody>
      </p:sp>
      <p:sp>
        <p:nvSpPr>
          <p:cNvPr id="3" name="Content Placeholder 2"/>
          <p:cNvSpPr>
            <a:spLocks noGrp="1"/>
          </p:cNvSpPr>
          <p:nvPr>
            <p:ph idx="1"/>
          </p:nvPr>
        </p:nvSpPr>
        <p:spPr/>
        <p:txBody>
          <a:bodyPr wrap="square">
            <a:normAutofit/>
          </a:bodyPr>
          <a:lstStyle/>
          <a:p>
            <a:pPr>
              <a:buNone/>
            </a:pPr>
            <a:r>
              <a:rPr b="0" i="0" u="none" sz="2800"/>
              <a:t>Prompt-First is a subset of AI-First.</a:t>
            </a:r>
            <a:endParaRPr sz="2800" b="0" i="0">
              <a:latin typeface="Arial"/>
            </a:endParaRPr>
          </a:p>
          <a:p>
            <a:pPr>
              <a:buNone/>
            </a:pPr>
            <a:r>
              <a:rPr b="0" i="0" u="none" sz="2800"/>
              <a:t>Prompt-First = mechanics</a:t>
            </a:r>
            <a:endParaRPr sz="2800" b="0" i="0">
              <a:latin typeface="Arial"/>
            </a:endParaRPr>
          </a:p>
          <a:p>
            <a:pPr>
              <a:buNone/>
            </a:pPr>
            <a:r>
              <a:rPr b="0" i="0" u="none" sz="2800"/>
              <a:t>AI-First = philosophy + architecture + lifecycle integration</a:t>
            </a:r>
            <a:endParaRPr sz="2800" b="0" i="0">
              <a:latin typeface="Arial"/>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AI First Software Development</a:t>
            </a:r>
          </a:p>
        </p:txBody>
      </p:sp>
      <p:sp>
        <p:nvSpPr>
          <p:cNvPr id="3" name="Content Placeholder 2"/>
          <p:cNvSpPr>
            <a:spLocks noGrp="1"/>
          </p:cNvSpPr>
          <p:nvPr>
            <p:ph idx="1" sz="half"/>
          </p:nvPr>
        </p:nvSpPr>
        <p:spPr/>
        <p:txBody>
          <a:bodyPr wrap="square">
            <a:normAutofit/>
          </a:bodyPr>
          <a:lstStyle/>
          <a:p>
            <a:pPr>
              <a:buNone/>
            </a:pPr>
            <a:r>
              <a:rPr b="0" i="0" u="none" sz="2700"/>
              <a:t>Building software where AI is a core capability, not an add-on.</a:t>
            </a:r>
            <a:endParaRPr sz="2700" b="0" i="0">
              <a:latin typeface="Arial"/>
            </a:endParaRPr>
          </a:p>
          <a:p>
            <a:pPr>
              <a:buNone/>
            </a:pPr>
            <a:r>
              <a:rPr b="0" i="0" u="none" sz="2700"/>
              <a:t/>
            </a:r>
            <a:endParaRPr sz="2700" b="0" i="0">
              <a:latin typeface="Arial"/>
            </a:endParaRPr>
          </a:p>
          <a:p>
            <a:pPr>
              <a:buNone/>
            </a:pPr>
            <a:r>
              <a:rPr b="0" i="0" u="none" sz="2700"/>
              <a:t>Why AI-First</a:t>
            </a:r>
            <a:endParaRPr sz="2700" b="0" i="0">
              <a:latin typeface="Arial"/>
            </a:endParaRPr>
          </a:p>
          <a:p>
            <a:pPr>
              <a:buNone/>
            </a:pPr>
            <a:r>
              <a:rPr b="0" i="0" u="none" sz="2700"/>
              <a:t/>
            </a:r>
            <a:endParaRPr sz="2700" b="0" i="0">
              <a:latin typeface="Arial"/>
            </a:endParaRPr>
          </a:p>
          <a:p>
            <a:pPr/>
            <a:r>
              <a:rPr b="0" i="0" u="none" sz="2700"/>
              <a:t>Software requirements are increasingly expressed in natural language.</a:t>
            </a:r>
            <a:endParaRPr sz="2700" b="0" i="0">
              <a:latin typeface="Arial"/>
            </a:endParaRPr>
          </a:p>
          <a:p>
            <a:pPr/>
            <a:r>
              <a:rPr b="0" i="0" u="none" sz="2700"/>
              <a:t>AI copilots accelerate architecture, coding, testing, and documentation.</a:t>
            </a:r>
            <a:endParaRPr sz="2700" b="0" i="0">
              <a:latin typeface="Arial"/>
            </a:endParaRPr>
          </a:p>
          <a:p>
            <a:pPr/>
            <a:r>
              <a:rPr b="0" i="0" u="none" sz="2700"/>
              <a:t>Teams shift from writing code to designing intent and validating outputs.</a:t>
            </a:r>
            <a:endParaRPr sz="2700" b="0" i="0">
              <a:latin typeface="Arial"/>
            </a:endParaRPr>
          </a:p>
          <a:p>
            <a:pPr>
              <a:buNone/>
            </a:pPr>
            <a:r>
              <a:rPr b="0" i="0" u="none" sz="2700"/>
              <a:t/>
            </a:r>
            <a:endParaRPr sz="2700" b="0" i="0">
              <a:latin typeface="Arial"/>
            </a:endParaRPr>
          </a:p>
          <a:p>
            <a:pPr>
              <a:buNone/>
            </a:pPr>
            <a:r>
              <a:rPr b="0" i="0" u="none" sz="2700"/>
              <a:t>Outcomes</a:t>
            </a:r>
            <a:endParaRPr sz="2700" b="0" i="0">
              <a:latin typeface="Arial"/>
            </a:endParaRPr>
          </a:p>
          <a:p>
            <a:pPr>
              <a:buNone/>
            </a:pPr>
            <a:r>
              <a:rPr b="0" i="0" u="none" sz="2700"/>
              <a:t/>
            </a:r>
            <a:endParaRPr sz="2700" b="0" i="0">
              <a:latin typeface="Arial"/>
            </a:endParaRPr>
          </a:p>
          <a:p>
            <a:pPr/>
            <a:r>
              <a:rPr b="0" i="0" u="none" sz="2700"/>
              <a:t>Faster iteration cycles</a:t>
            </a:r>
            <a:endParaRPr sz="2700" b="0" i="0">
              <a:latin typeface="Arial"/>
            </a:endParaRPr>
          </a:p>
          <a:p>
            <a:pPr/>
            <a:r>
              <a:rPr b="0" i="0" u="none" sz="2700"/>
              <a:t>Better documentation and test coverage</a:t>
            </a:r>
            <a:endParaRPr sz="2700" b="0" i="0">
              <a:latin typeface="Arial"/>
            </a:endParaRPr>
          </a:p>
        </p:txBody>
      </p:sp>
      <p:sp>
        <p:nvSpPr>
          <p:cNvPr id="4" name="Content Placeholder 3"/>
          <p:cNvSpPr>
            <a:spLocks noGrp="1"/>
          </p:cNvSpPr>
          <p:nvPr>
            <p:ph idx="2" sz="half"/>
          </p:nvPr>
        </p:nvSpPr>
        <p:spPr/>
        <p:txBody>
          <a:bodyPr wrap="square">
            <a:normAutofit/>
          </a:bodyPr>
          <a:lstStyle/>
          <a:p>
            <a:pPr>
              <a:buNone/>
            </a:pPr>
            <a:r>
              <a:rPr b="0" i="0" u="none" sz="2400"/>
              <a:t>Core principles</a:t>
            </a:r>
            <a:endParaRPr sz="2400" b="0" i="0">
              <a:latin typeface="Arial"/>
            </a:endParaRPr>
          </a:p>
          <a:p>
            <a:pPr>
              <a:buNone/>
            </a:pPr>
            <a:r>
              <a:rPr b="0" i="0" u="none" sz="2400"/>
              <a:t/>
            </a:r>
            <a:endParaRPr sz="2400" b="0" i="0">
              <a:latin typeface="Arial"/>
            </a:endParaRPr>
          </a:p>
          <a:p>
            <a:pPr/>
            <a:r>
              <a:rPr b="0" i="0" u="none" sz="2400"/>
              <a:t>Prompt-First Design</a:t>
            </a:r>
            <a:r>
              <a:rPr b="0" i="0" u="none" sz="2400"/>
              <a:t> — workflows expressed as structured prompts</a:t>
            </a:r>
            <a:endParaRPr sz="2400" b="0" i="0">
              <a:latin typeface="Arial"/>
            </a:endParaRPr>
          </a:p>
          <a:p>
            <a:pPr/>
            <a:r>
              <a:rPr b="0" i="0" u="none" sz="2400"/>
              <a:t>AI-Native Architecture</a:t>
            </a:r>
            <a:r>
              <a:rPr b="0" i="0" u="none" sz="2400"/>
              <a:t> — modular boundaries and deterministic interfaces</a:t>
            </a:r>
            <a:endParaRPr sz="2400" b="0" i="0">
              <a:latin typeface="Arial"/>
            </a:endParaRPr>
          </a:p>
          <a:p>
            <a:pPr/>
            <a:r>
              <a:rPr b="0" i="0" u="none" sz="2400"/>
              <a:t>Human-in-the-Loop</a:t>
            </a:r>
            <a:r>
              <a:rPr b="0" i="0" u="none" sz="2400"/>
              <a:t> — review, validation, and traceability everywhere</a:t>
            </a:r>
            <a:endParaRPr sz="2400" b="0" i="0">
              <a:latin typeface="Arial"/>
            </a:endParaRPr>
          </a:p>
          <a:p>
            <a:pPr/>
            <a:r>
              <a:rPr b="0" i="0" u="none" sz="2400"/>
              <a:t>Continuous Verification</a:t>
            </a:r>
            <a:r>
              <a:rPr b="0" i="0" u="none" sz="2400"/>
              <a:t> — tests, analysis, and guardrails on every output</a:t>
            </a:r>
            <a:endParaRPr sz="2400" b="0" i="0">
              <a:latin typeface="Arial"/>
            </a:endParaRPr>
          </a:p>
          <a:p>
            <a:pPr/>
            <a:r>
              <a:rPr b="0" i="0" u="none" sz="2400"/>
              <a:t>Lifecycle Governance</a:t>
            </a:r>
            <a:r>
              <a:rPr b="0" i="0" u="none" sz="2400"/>
              <a:t> — versioning, provenance, and risk-based controls</a:t>
            </a:r>
            <a:endParaRPr sz="2400" b="0" i="0">
              <a:latin typeface="Arial"/>
            </a:endParaRPr>
          </a:p>
          <a:p>
            <a:pPr>
              <a:buNone/>
            </a:pPr>
            <a:r>
              <a:rPr b="0" i="0" u="none" sz="2400"/>
              <a:t/>
            </a:r>
            <a:endParaRPr sz="2400" b="0" i="0">
              <a:latin typeface="Arial"/>
            </a:endParaRPr>
          </a:p>
          <a:p>
            <a:pPr/>
            <a:r>
              <a:rPr b="0" i="0" u="none" sz="2400"/>
              <a:t>Reduced cognitive load on developers</a:t>
            </a:r>
            <a:endParaRPr sz="2400" b="0" i="0">
              <a:latin typeface="Arial"/>
            </a:endParaRPr>
          </a:p>
          <a:p>
            <a:pPr/>
            <a:r>
              <a:rPr b="0" i="0" u="none" sz="2400"/>
              <a:t>More resilient, adaptable systems</a:t>
            </a:r>
            <a:endParaRPr sz="2400" b="0" i="0">
              <a:latin typeface="Arial"/>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Prompt-First Software Development</a:t>
            </a:r>
          </a:p>
        </p:txBody>
      </p:sp>
      <p:sp>
        <p:nvSpPr>
          <p:cNvPr id="3" name="Content Placeholder 2"/>
          <p:cNvSpPr>
            <a:spLocks noGrp="1"/>
          </p:cNvSpPr>
          <p:nvPr>
            <p:ph idx="1" sz="half"/>
          </p:nvPr>
        </p:nvSpPr>
        <p:spPr/>
        <p:txBody>
          <a:bodyPr wrap="square">
            <a:normAutofit/>
          </a:bodyPr>
          <a:lstStyle/>
          <a:p>
            <a:pPr>
              <a:buNone/>
            </a:pPr>
            <a:r>
              <a:rPr b="0" i="0" u="none" sz="2700"/>
              <a:t>Design the intent first — let AI generate the implementation.</a:t>
            </a:r>
            <a:endParaRPr sz="2700" b="0" i="0">
              <a:latin typeface="Arial"/>
            </a:endParaRPr>
          </a:p>
          <a:p>
            <a:pPr>
              <a:buNone/>
            </a:pPr>
            <a:r>
              <a:rPr b="0" i="0" u="none" sz="2700"/>
              <a:t/>
            </a:r>
            <a:endParaRPr sz="2700" b="0" i="0">
              <a:latin typeface="Arial"/>
            </a:endParaRPr>
          </a:p>
          <a:p>
            <a:pPr>
              <a:buNone/>
            </a:pPr>
            <a:r>
              <a:rPr b="0" i="0" u="none" sz="2700"/>
              <a:t>Why Prompt-First</a:t>
            </a:r>
            <a:endParaRPr sz="2700" b="0" i="0">
              <a:latin typeface="Arial"/>
            </a:endParaRPr>
          </a:p>
          <a:p>
            <a:pPr>
              <a:buNone/>
            </a:pPr>
            <a:r>
              <a:rPr b="0" i="0" u="none" sz="2700"/>
              <a:t/>
            </a:r>
            <a:endParaRPr sz="2700" b="0" i="0">
              <a:latin typeface="Arial"/>
            </a:endParaRPr>
          </a:p>
          <a:p>
            <a:pPr/>
            <a:r>
              <a:rPr b="0" i="0" u="none" sz="2700"/>
              <a:t>Behaviors and constraints are expressed in structured natural language.</a:t>
            </a:r>
            <a:endParaRPr sz="2700" b="0" i="0">
              <a:latin typeface="Arial"/>
            </a:endParaRPr>
          </a:p>
          <a:p>
            <a:pPr/>
            <a:r>
              <a:rPr b="0" i="0" u="none" sz="2700"/>
              <a:t>Prompts become first-class source-of-truth artifacts.</a:t>
            </a:r>
            <a:endParaRPr sz="2700" b="0" i="0">
              <a:latin typeface="Arial"/>
            </a:endParaRPr>
          </a:p>
          <a:p>
            <a:pPr/>
            <a:r>
              <a:rPr b="0" i="0" u="none" sz="2700"/>
              <a:t>Teams shift from writing functions to defining outcomes, invariants, and interfaces.</a:t>
            </a:r>
            <a:endParaRPr sz="2700" b="0" i="0">
              <a:latin typeface="Arial"/>
            </a:endParaRPr>
          </a:p>
          <a:p>
            <a:pPr>
              <a:buNone/>
            </a:pPr>
            <a:r>
              <a:rPr b="0" i="0" u="none" sz="2700"/>
              <a:t/>
            </a:r>
            <a:endParaRPr sz="2700" b="0" i="0">
              <a:latin typeface="Arial"/>
            </a:endParaRPr>
          </a:p>
          <a:p>
            <a:pPr>
              <a:buNone/>
            </a:pPr>
            <a:r>
              <a:rPr b="0" i="0" u="none" sz="2700"/>
              <a:t>Benefits</a:t>
            </a:r>
            <a:endParaRPr sz="2700" b="0" i="0">
              <a:latin typeface="Arial"/>
            </a:endParaRPr>
          </a:p>
          <a:p>
            <a:pPr>
              <a:buNone/>
            </a:pPr>
            <a:r>
              <a:rPr b="0" i="0" u="none" sz="2700"/>
              <a:t/>
            </a:r>
            <a:endParaRPr sz="2700" b="0" i="0">
              <a:latin typeface="Arial"/>
            </a:endParaRPr>
          </a:p>
          <a:p>
            <a:pPr/>
            <a:r>
              <a:rPr b="0" i="0" u="none" sz="2700"/>
              <a:t>Faster iteration from idea to working software</a:t>
            </a:r>
            <a:endParaRPr sz="2700" b="0" i="0">
              <a:latin typeface="Arial"/>
            </a:endParaRPr>
          </a:p>
          <a:p>
            <a:pPr/>
            <a:r>
              <a:rPr b="0" i="0" u="none" sz="2700"/>
              <a:t>Higher consistency across generated components</a:t>
            </a:r>
            <a:endParaRPr sz="2700" b="0" i="0">
              <a:latin typeface="Arial"/>
            </a:endParaRPr>
          </a:p>
        </p:txBody>
      </p:sp>
      <p:sp>
        <p:nvSpPr>
          <p:cNvPr id="4" name="Content Placeholder 3"/>
          <p:cNvSpPr>
            <a:spLocks noGrp="1"/>
          </p:cNvSpPr>
          <p:nvPr>
            <p:ph idx="2" sz="half"/>
          </p:nvPr>
        </p:nvSpPr>
        <p:spPr/>
        <p:txBody>
          <a:bodyPr wrap="square">
            <a:normAutofit/>
          </a:bodyPr>
          <a:lstStyle/>
          <a:p>
            <a:pPr>
              <a:buNone/>
            </a:pPr>
            <a:r>
              <a:rPr b="0" i="0" u="none" sz="2400"/>
              <a:t>Core practices</a:t>
            </a:r>
            <a:endParaRPr sz="2400" b="0" i="0">
              <a:latin typeface="Arial"/>
            </a:endParaRPr>
          </a:p>
          <a:p>
            <a:pPr>
              <a:buNone/>
            </a:pPr>
            <a:r>
              <a:rPr b="0" i="0" u="none" sz="2400"/>
              <a:t/>
            </a:r>
            <a:endParaRPr sz="2400" b="0" i="0">
              <a:latin typeface="Arial"/>
            </a:endParaRPr>
          </a:p>
          <a:p>
            <a:pPr/>
            <a:r>
              <a:rPr b="0" i="0" u="none" sz="2400"/>
              <a:t>Structured Prompts</a:t>
            </a:r>
            <a:r>
              <a:rPr b="0" i="0" u="none" sz="2400"/>
              <a:t> — templates for features, APIs, data models, tests, and refactors</a:t>
            </a:r>
            <a:endParaRPr sz="2400" b="0" i="0">
              <a:latin typeface="Arial"/>
            </a:endParaRPr>
          </a:p>
          <a:p>
            <a:pPr/>
            <a:r>
              <a:rPr b="0" i="0" u="none" sz="2400"/>
              <a:t>Instruction Files</a:t>
            </a:r>
            <a:r>
              <a:rPr b="0" i="0" u="none" sz="2400"/>
              <a:t> — persistent, versioned guidance for code generation</a:t>
            </a:r>
            <a:endParaRPr sz="2400" b="0" i="0">
              <a:latin typeface="Arial"/>
            </a:endParaRPr>
          </a:p>
          <a:p>
            <a:pPr/>
            <a:r>
              <a:rPr b="0" i="0" u="none" sz="2400"/>
              <a:t>Deterministic Boundaries</a:t>
            </a:r>
            <a:r>
              <a:rPr b="0" i="0" u="none" sz="2400"/>
              <a:t> — clear contracts keep outputs predictable</a:t>
            </a:r>
            <a:endParaRPr sz="2400" b="0" i="0">
              <a:latin typeface="Arial"/>
            </a:endParaRPr>
          </a:p>
          <a:p>
            <a:pPr/>
            <a:r>
              <a:rPr b="0" i="0" u="none" sz="2400"/>
              <a:t>Validation Loops</a:t>
            </a:r>
            <a:r>
              <a:rPr b="0" i="0" u="none" sz="2400"/>
              <a:t> — tests plus human review ensure correctness and safety</a:t>
            </a:r>
            <a:endParaRPr sz="2400" b="0" i="0">
              <a:latin typeface="Arial"/>
            </a:endParaRPr>
          </a:p>
          <a:p>
            <a:pPr/>
            <a:r>
              <a:rPr b="0" i="0" u="none" sz="2400"/>
              <a:t>Prompt Versioning</a:t>
            </a:r>
            <a:r>
              <a:rPr b="0" i="0" u="none" sz="2400"/>
              <a:t> — track intent evolution just like code changes</a:t>
            </a:r>
            <a:endParaRPr sz="2400" b="0" i="0">
              <a:latin typeface="Arial"/>
            </a:endParaRPr>
          </a:p>
          <a:p>
            <a:pPr>
              <a:buNone/>
            </a:pPr>
            <a:r>
              <a:rPr b="0" i="0" u="none" sz="2400"/>
              <a:t/>
            </a:r>
            <a:endParaRPr sz="2400" b="0" i="0">
              <a:latin typeface="Arial"/>
            </a:endParaRPr>
          </a:p>
          <a:p>
            <a:pPr/>
            <a:r>
              <a:rPr b="0" i="0" u="none" sz="2400"/>
              <a:t>Reduced cognitive load on developers</a:t>
            </a:r>
            <a:endParaRPr sz="2400" b="0" i="0">
              <a:latin typeface="Arial"/>
            </a:endParaRPr>
          </a:p>
          <a:p>
            <a:pPr/>
            <a:r>
              <a:rPr b="0" i="0" u="none" sz="2400"/>
              <a:t>Better alignment between business intent and implementation</a:t>
            </a:r>
            <a:endParaRPr sz="2400" b="0" i="0">
              <a:latin typeface="Arial"/>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**Concrete Examples**</a:t>
            </a:r>
          </a:p>
        </p:txBody>
      </p:sp>
      <p:sp>
        <p:nvSpPr>
          <p:cNvPr id="3" name="Content Placeholder 2"/>
          <p:cNvSpPr>
            <a:spLocks noGrp="1"/>
          </p:cNvSpPr>
          <p:nvPr>
            <p:ph idx="1"/>
          </p:nvPr>
        </p:nvSpPr>
        <p:spPr/>
        <p:txBody>
          <a:bodyPr wrap="square">
            <a:normAutofit/>
          </a:bodyPr>
          <a:lstStyle/>
          <a:p>
            <a:pPr>
              <a:buNone/>
            </a:pPr>
            <a:r>
              <a:rPr b="0" i="0" u="none" sz="2800"/>
              <a:t>Prompt-First Example</a:t>
            </a:r>
            <a:endParaRPr sz="2800" b="0" i="0">
              <a:latin typeface="Arial"/>
            </a:endParaRPr>
          </a:p>
          <a:p>
            <a:pPr>
              <a:buNone/>
            </a:pPr>
            <a:r>
              <a:rPr b="0" i="0" u="none" sz="2800"/>
              <a:t/>
            </a:r>
            <a:endParaRPr sz="2800" b="0" i="0">
              <a:latin typeface="Arial"/>
            </a:endParaRPr>
          </a:p>
          <a:p>
            <a:pPr/>
            <a:r>
              <a:rPr b="0" i="0" u="none" sz="2800"/>
              <a:t>Promptfile for generating unit tests</a:t>
            </a:r>
            <a:endParaRPr sz="2800" b="0" i="0">
              <a:latin typeface="Arial"/>
            </a:endParaRPr>
          </a:p>
          <a:p>
            <a:pPr/>
            <a:r>
              <a:rPr b="0" i="0" u="none" sz="2800"/>
              <a:t>Instruction file for documentation</a:t>
            </a:r>
            <a:endParaRPr sz="2800" b="0" i="0">
              <a:latin typeface="Arial"/>
            </a:endParaRPr>
          </a:p>
          <a:p>
            <a:pPr/>
            <a:r>
              <a:rPr b="0" i="0" u="none" sz="2800"/>
              <a:t>Chat mode for brownfield developers</a:t>
            </a:r>
            <a:endParaRPr sz="2800" b="0" i="0">
              <a:latin typeface="Arial"/>
            </a:endParaRPr>
          </a:p>
          <a:p>
            <a:pPr>
              <a:buNone/>
            </a:pPr>
            <a:r>
              <a:rPr b="0" i="0" u="none" sz="2800"/>
              <a:t/>
            </a:r>
            <a:endParaRPr sz="2800" b="0" i="0">
              <a:latin typeface="Arial"/>
            </a:endParaRPr>
          </a:p>
          <a:p>
            <a:pPr>
              <a:buNone/>
            </a:pPr>
            <a:r>
              <a:rPr b="0" i="0" u="none" sz="2800"/>
              <a:t>AI-First Example</a:t>
            </a:r>
            <a:endParaRPr sz="2800" b="0" i="0">
              <a:latin typeface="Arial"/>
            </a:endParaRPr>
          </a:p>
          <a:p>
            <a:pPr>
              <a:buNone/>
            </a:pPr>
            <a:r>
              <a:rPr b="0" i="0" u="none" sz="2800"/>
              <a:t/>
            </a:r>
            <a:endParaRPr sz="2800" b="0" i="0">
              <a:latin typeface="Arial"/>
            </a:endParaRPr>
          </a:p>
          <a:p>
            <a:pPr/>
            <a:r>
              <a:rPr b="0" i="0" u="none" sz="2800"/>
              <a:t>Requirements → AI-generated scaffolds</a:t>
            </a:r>
            <a:endParaRPr sz="2800" b="0" i="0">
              <a:latin typeface="Arial"/>
            </a:endParaRPr>
          </a:p>
          <a:p>
            <a:pPr/>
            <a:r>
              <a:rPr b="0" i="0" u="none" sz="2800"/>
              <a:t>Code changes → AI-assisted reviews</a:t>
            </a:r>
            <a:endParaRPr sz="2800" b="0" i="0">
              <a:latin typeface="Arial"/>
            </a:endParaRPr>
          </a:p>
          <a:p>
            <a:pPr/>
            <a:r>
              <a:rPr b="0" i="0" u="none" sz="2800"/>
              <a:t>Docs → continuously AI-generated</a:t>
            </a:r>
            <a:endParaRPr sz="2800" b="0" i="0">
              <a:latin typeface="Arial"/>
            </a:endParaRPr>
          </a:p>
          <a:p>
            <a:pPr/>
            <a:r>
              <a:rPr b="0" i="0" u="none" sz="2800"/>
              <a:t>Modernization → AI-guided refactoring plans</a:t>
            </a:r>
            <a:endParaRPr sz="2800" b="0" i="0">
              <a:latin typeface="Arial"/>
            </a:endParaRPr>
          </a:p>
          <a:p>
            <a:pPr/>
            <a:r>
              <a:rPr b="0" i="0" u="none" sz="2800"/>
              <a:t>Provenance → enforced everywhere</a:t>
            </a:r>
            <a:endParaRPr sz="2800" b="0" i="0">
              <a:latin typeface="Aria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**Shortest Summary**</a:t>
            </a:r>
          </a:p>
        </p:txBody>
      </p:sp>
      <p:sp>
        <p:nvSpPr>
          <p:cNvPr id="3" name="Content Placeholder 2"/>
          <p:cNvSpPr>
            <a:spLocks noGrp="1"/>
          </p:cNvSpPr>
          <p:nvPr>
            <p:ph idx="1"/>
          </p:nvPr>
        </p:nvSpPr>
        <p:spPr/>
        <p:txBody>
          <a:bodyPr wrap="square">
            <a:normAutofit/>
          </a:bodyPr>
          <a:lstStyle/>
          <a:p>
            <a:pPr/>
            <a:r>
              <a:rPr b="0" i="0" u="none" sz="2800"/>
              <a:t>AI-First = philosophy + architecture + lifecycle integration</a:t>
            </a:r>
            <a:endParaRPr sz="2800" b="0" i="0">
              <a:latin typeface="Arial"/>
            </a:endParaRPr>
          </a:p>
          <a:p>
            <a:pPr/>
            <a:r>
              <a:rPr b="0" i="0" u="none" sz="2800"/>
              <a:t>Prompt-First = structured, version-controlled interfaces for interacting with AI</a:t>
            </a:r>
            <a:endParaRPr sz="2800" b="0" i="0">
              <a:latin typeface="Arial"/>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pPr/>
            <a:r>
              <a:rPr b="0" i="0" u="none"/>
              <a:t>Intro</a:t>
            </a:r>
          </a:p>
          <a:p>
            <a:pPr/>
            <a:r>
              <a:rPr b="0" i="0" u="none"/>
              <a:t>AI Assisted Software Development</a:t>
            </a:r>
          </a:p>
          <a:p>
            <a:pPr/>
            <a:r>
              <a:rPr b="1" i="0" u="none"/>
              <a:t>▶ Intro to Copilot</a:t>
            </a:r>
          </a:p>
          <a:p>
            <a:pPr/>
            <a:r>
              <a:rPr b="0" i="0" u="none"/>
              <a:t>AI Assistance in Action</a:t>
            </a:r>
          </a:p>
          <a:p>
            <a:pPr/>
            <a:r>
              <a:rPr b="0" i="0" u="none"/>
              <a:t>Adding AI Guardrails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Day One: Clone Something, Break Nothing</a:t>
            </a:r>
          </a:p>
        </p:txBody>
      </p:sp>
      <p:sp>
        <p:nvSpPr>
          <p:cNvPr id="3" name="Content Placeholder 2"/>
          <p:cNvSpPr>
            <a:spLocks noGrp="1"/>
          </p:cNvSpPr>
          <p:nvPr>
            <p:ph idx="1"/>
          </p:nvPr>
        </p:nvSpPr>
        <p:spPr/>
        <p:txBody>
          <a:bodyPr wrap="square">
            <a:normAutofit/>
          </a:bodyPr>
          <a:lstStyle/>
          <a:p>
            <a:pPr>
              <a:buNone/>
            </a:pPr>
            <a:r>
              <a:rPr b="0" i="0" u="none" sz="2800"/>
              <a:t>Cloning course repository</a:t>
            </a:r>
            <a:endParaRPr sz="2800" b="0" i="0">
              <a:latin typeface="Arial"/>
            </a:endParaRPr>
          </a:p>
          <a:p>
            <a:pPr>
              <a:buNone/>
            </a:pPr>
            <a:r>
              <a:rPr b="0" i="0" u="none" sz="2800"/>
              <a:t>GitHub authentication</a:t>
            </a:r>
            <a:endParaRPr sz="2800" b="0" i="0">
              <a:latin typeface="Arial"/>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Fork the AIASD-20260209-BF Repo</a:t>
            </a:r>
          </a:p>
        </p:txBody>
      </p:sp>
      <p:sp>
        <p:nvSpPr>
          <p:cNvPr id="3" name="Content Placeholder 2"/>
          <p:cNvSpPr>
            <a:spLocks noGrp="1"/>
          </p:cNvSpPr>
          <p:nvPr>
            <p:ph idx="1"/>
          </p:nvPr>
        </p:nvSpPr>
        <p:spPr/>
        <p:txBody>
          <a:bodyPr wrap="square">
            <a:normAutofit/>
          </a:bodyPr>
          <a:lstStyle/>
          <a:p>
            <a:pPr>
              <a:buNone/>
            </a:pPr>
            <a:r>
              <a:rPr b="0" i="0" u="none" sz="2800"/>
              <a:t>Objectives: Explore an unfamiliar codebase</a:t>
            </a:r>
            <a:endParaRPr sz="2800" b="0" i="0">
              <a:latin typeface="Arial"/>
            </a:endParaRPr>
          </a:p>
          <a:p>
            <a:pPr>
              <a:buNone/>
            </a:pPr>
            <a:r>
              <a:rPr b="0" i="0" u="none" sz="2800"/>
              <a:t>  Activities</a:t>
            </a:r>
            <a:endParaRPr sz="2800" b="0" i="0">
              <a:latin typeface="Arial"/>
            </a:endParaRPr>
          </a:p>
          <a:p>
            <a:pPr>
              <a:buNone/>
            </a:pPr>
            <a:r>
              <a:rPr b="0" i="0" u="none" sz="2800"/>
              <a:t>  Fork this repo https://github.com/j0hnnymiller/AIASD-20260209-BF.git</a:t>
            </a:r>
            <a:endParaRPr sz="2800" b="0" i="0">
              <a:latin typeface="Arial"/>
            </a:endParaRPr>
          </a:p>
          <a:p>
            <a:pPr>
              <a:buNone/>
            </a:pPr>
            <a:r>
              <a:rPr b="0" i="0" u="none" sz="2800"/>
              <a:t>  Clone the forked repo</a:t>
            </a:r>
            <a:endParaRPr sz="2800" b="0" i="0">
              <a:latin typeface="Arial"/>
            </a:endParaRPr>
          </a:p>
          <a:p>
            <a:pPr>
              <a:buNone/>
            </a:pPr>
            <a:r>
              <a:rPr b="0" i="0" u="none" sz="2800"/>
              <a:t>  Create a GitHub PAT https://github.com/settings/tokens</a:t>
            </a:r>
            <a:endParaRPr sz="2800" b="0" i="0">
              <a:latin typeface="Arial"/>
            </a:endParaRPr>
          </a:p>
          <a:p>
            <a:pPr>
              <a:buNone/>
            </a:pPr>
            <a:r>
              <a:rPr b="0" i="0" u="none" sz="2800"/>
              <a:t>  Store the PAT in the GITHUB_TOKEN environment variable</a:t>
            </a:r>
            <a:endParaRPr sz="2800" b="0" i="0">
              <a:latin typeface="Arial"/>
            </a:endParaRPr>
          </a:p>
          <a:p>
            <a:pPr>
              <a:buNone/>
            </a:pPr>
            <a:r>
              <a:rPr b="0" i="0" u="none" sz="2800"/>
              <a:t>  Success Criteria</a:t>
            </a:r>
            <a:endParaRPr sz="2800" b="0" i="0">
              <a:latin typeface="Arial"/>
            </a:endParaRPr>
          </a:p>
          <a:p>
            <a:pPr>
              <a:buNone/>
            </a:pPr>
            <a:r>
              <a:rPr b="0" i="0" u="none" sz="2800"/>
              <a:t>  Repo is available locally</a:t>
            </a:r>
            <a:endParaRPr sz="2800" b="0" i="0">
              <a:latin typeface="Arial"/>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Fork the repos</a:t>
            </a:r>
          </a:p>
        </p:txBody>
      </p:sp>
      <p:sp>
        <p:nvSpPr>
          <p:cNvPr id="3" name="Content Placeholder 2"/>
          <p:cNvSpPr>
            <a:spLocks noGrp="1"/>
          </p:cNvSpPr>
          <p:nvPr>
            <p:ph idx="1"/>
          </p:nvPr>
        </p:nvSpPr>
        <p:spPr/>
        <p:txBody>
          <a:bodyPr wrap="square">
            <a:normAutofit/>
          </a:bodyPr>
          <a:lstStyle/>
          <a:p>
            <a:pPr>
              <a:buNone/>
            </a:pPr>
            <a:r>
              <a:rPr b="0" i="0" u="none"/>
              <a:t>Objective: Fork the course repos</a:t>
            </a:r>
          </a:p>
          <a:p>
            <a:pPr>
              <a:buNone/>
            </a:pPr>
            <a:r>
              <a:rPr b="0" i="0" u="none"/>
              <a:t>  Search GitHub for</a:t>
            </a:r>
          </a:p>
          <a:p>
            <a:pPr>
              <a:buNone/>
            </a:pPr>
            <a:r>
              <a:rPr b="0" i="0" u="none"/>
              <a:t/>
            </a:r>
          </a:p>
          <a:p>
            <a:pPr lvl="1"/>
            <a:r>
              <a:rPr b="0" i="0" u="none"/>
              <a:t>AI-Assisted-Software-Development</a:t>
            </a:r>
          </a:p>
          <a:p>
            <a:pPr lvl="1"/>
            <a:r>
              <a:rPr b="0" i="0" u="none"/>
              <a:t>zeus.academia.3b</a:t>
            </a:r>
          </a:p>
          <a:p>
            <a:pPr>
              <a:buNone/>
            </a:pPr>
            <a:r>
              <a:rPr b="0" i="0" u="none"/>
              <a:t>    Fork the repos</a:t>
            </a:r>
          </a:p>
          <a:p>
            <a:pPr lvl="1"/>
            <a:r>
              <a:rPr b="0" i="0" u="none"/>
              <a:t>This will create a personal copy under your GitHub account</a:t>
            </a:r>
          </a:p>
          <a:p>
            <a:pPr lvl="1"/>
            <a:r>
              <a:rPr b="0" i="0" u="none"/>
              <a:t>You can make changes without affecting the original repo</a:t>
            </a:r>
          </a:p>
          <a:p>
            <a:pPr>
              <a:buNone/>
            </a:pPr>
            <a:r>
              <a:rPr b="0" i="0" u="none"/>
              <a:t>started: "2026-03-22T00:00:00Z"</a:t>
            </a:r>
          </a:p>
          <a:p>
            <a:pPr>
              <a:buNone/>
            </a:pPr>
            <a:r>
              <a:rPr b="0" i="0" u="none"/>
              <a:t>ended: "2026-03-22T00:10:00Z"</a:t>
            </a:r>
          </a:p>
          <a:p>
            <a:pPr>
              <a:buNone/>
            </a:pPr>
            <a:r>
              <a:rPr b="0" i="0" u="none"/>
              <a:t>task_durations:</a:t>
            </a:r>
          </a:p>
          <a:p>
            <a:pPr lvl="1"/>
            <a:r>
              <a:rPr b="0" i="0" u="none"/>
              <a:t>task: "exercise deck authoring"</a:t>
            </a:r>
          </a:p>
          <a:p>
            <a:pPr>
              <a:buNone/>
            </a:pPr>
            <a:r>
              <a:rPr b="0" i="0" u="none"/>
              <a:t>    duration: "00:06:00"</a:t>
            </a:r>
          </a:p>
          <a:p>
            <a:pPr lvl="1"/>
            <a:r>
              <a:rPr b="0" i="0" u="none"/>
              <a:t>task: "provenance logging"</a:t>
            </a:r>
          </a:p>
          <a:p>
            <a:pPr>
              <a:buNone/>
            </a:pPr>
            <a:r>
              <a:rPr b="0" i="0" u="none"/>
              <a:t>    duration: "00:02:00"</a:t>
            </a:r>
          </a:p>
          <a:p>
            <a:pPr lvl="1"/>
            <a:r>
              <a:rPr b="0" i="0" u="none"/>
              <a:t>task: "readme update"</a:t>
            </a:r>
          </a:p>
          <a:p>
            <a:pPr>
              <a:buNone/>
            </a:pPr>
            <a:r>
              <a:rPr b="0" i="0" u="none"/>
              <a:t>    duration: "00:02:00"</a:t>
            </a:r>
          </a:p>
          <a:p>
            <a:pPr>
              <a:buNone/>
            </a:pPr>
            <a:r>
              <a:rPr b="0" i="0" u="none"/>
              <a:t>total_duration: "00:10:00"</a:t>
            </a:r>
          </a:p>
          <a:p>
            <a:pPr>
              <a:buNone/>
            </a:pPr>
            <a:r>
              <a:rPr b="0" i="0" u="none"/>
              <a:t>ai_log: "ai-logs/2026/03/22/exercise-repository-fork-clone-deck-20260322/conversation.md"</a:t>
            </a:r>
          </a:p>
          <a:p>
            <a:pPr>
              <a:buNone/>
            </a:pPr>
            <a:r>
              <a:rPr b="0" i="0" u="none"/>
              <a:t>source: "johnmillerATcodemag-com"</a:t>
            </a:r>
          </a:p>
          <a:p>
            <a:pPr>
              <a:buNone/>
            </a:pPr>
            <a:r>
              <a:rPr b="0" i="0" u="none"/>
              <a:t>marp: true</a:t>
            </a:r>
          </a:p>
          <a:p>
            <a:pPr>
              <a:buNone/>
            </a:pPr>
            <a:r>
              <a:rPr b="0" i="0" u="none"/>
              <a:t>theme: default</a:t>
            </a:r>
          </a:p>
          <a:p>
            <a:pPr>
              <a:buNone/>
            </a:pPr>
            <a:r>
              <a:rPr b="0" i="0" u="none"/>
              <a:t>paginate: true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Your First git clone of Many</a:t>
            </a:r>
          </a:p>
        </p:txBody>
      </p:sp>
      <p:sp>
        <p:nvSpPr>
          <p:cNvPr id="3" name="Content Placeholder 2"/>
          <p:cNvSpPr>
            <a:spLocks noGrp="1"/>
          </p:cNvSpPr>
          <p:nvPr>
            <p:ph idx="1" sz="half"/>
          </p:nvPr>
        </p:nvSpPr>
        <p:spPr/>
        <p:txBody>
          <a:bodyPr wrap="square">
            <a:normAutofit/>
          </a:bodyPr>
          <a:lstStyle/>
          <a:p>
            <a:pPr>
              <a:buNone/>
            </a:pPr>
            <a:r>
              <a:rPr b="1" i="0" u="none"/>
              <a:t>Setup and Objectives</a:t>
            </a:r>
          </a:p>
          <a:p>
            <a:pPr>
              <a:buNone/>
            </a:pPr>
            <a:r>
              <a:rPr b="0" i="0" u="none"/>
              <a:t/>
            </a:r>
          </a:p>
          <a:p>
            <a:pPr>
              <a:buNone/>
            </a:pPr>
            <a:r>
              <a:rPr b="0" i="0" u="none"/>
              <a:t>Prerequisites</a:t>
            </a:r>
          </a:p>
          <a:p>
            <a:pPr>
              <a:buNone/>
            </a:pPr>
            <a:r>
              <a:rPr b="0" i="0" u="none"/>
              <a:t/>
            </a:r>
          </a:p>
          <a:p>
            <a:pPr/>
            <a:r>
              <a:rPr b="0" i="0" u="none"/>
              <a:t>Git</a:t>
            </a:r>
          </a:p>
          <a:p>
            <a:pPr/>
            <a:r>
              <a:rPr b="0" i="0" u="none"/>
              <a:t>GitHub account</a:t>
            </a:r>
          </a:p>
          <a:p>
            <a:pPr>
              <a:buNone/>
            </a:pPr>
            <a:r>
              <a:rPr b="0" i="0" u="none"/>
              <a:t/>
            </a:r>
          </a:p>
          <a:p>
            <a:pPr>
              <a:buNone/>
            </a:pPr>
            <a:r>
              <a:rPr b="0" i="0" u="none"/>
              <a:t>Objectives</a:t>
            </a:r>
          </a:p>
          <a:p>
            <a:pPr>
              <a:buNone/>
            </a:pPr>
            <a:r>
              <a:rPr b="0" i="0" u="none"/>
              <a:t/>
            </a:r>
          </a:p>
          <a:p>
            <a:pPr/>
            <a:r>
              <a:rPr b="0" i="0" u="none"/>
              <a:t>Fork the AI-Assisted-Software-Development repository</a:t>
            </a:r>
          </a:p>
          <a:p>
            <a:pPr/>
            <a:r>
              <a:rPr b="0" i="0" u="none"/>
              <a:t>Clone your fork to your local machine</a:t>
            </a:r>
          </a:p>
          <a:p>
            <a:pPr/>
            <a:r>
              <a:rPr b="0" i="0" u="none"/>
              <a:t>Switch to the brownfield branch to confirm branch navigation</a:t>
            </a:r>
          </a:p>
        </p:txBody>
      </p:sp>
      <p:sp>
        <p:nvSpPr>
          <p:cNvPr id="4" name="Content Placeholder 3"/>
          <p:cNvSpPr>
            <a:spLocks noGrp="1"/>
          </p:cNvSpPr>
          <p:nvPr>
            <p:ph idx="2" sz="half"/>
          </p:nvPr>
        </p:nvSpPr>
        <p:spPr/>
        <p:txBody>
          <a:bodyPr wrap="square">
            <a:normAutofit/>
          </a:bodyPr>
          <a:lstStyle/>
          <a:p>
            <a:pPr>
              <a:buNone/>
            </a:pPr>
            <a:r>
              <a:rPr b="1" i="0" u="none"/>
              <a:t>Activities and Success Criteria</a:t>
            </a:r>
          </a:p>
          <a:p>
            <a:pPr>
              <a:buNone/>
            </a:pPr>
            <a:r>
              <a:rPr b="0" i="0" u="none"/>
              <a:t/>
            </a:r>
          </a:p>
          <a:p>
            <a:pPr>
              <a:buNone/>
            </a:pPr>
            <a:r>
              <a:rPr b="0" i="0" u="none"/>
              <a:t>Activities</a:t>
            </a:r>
          </a:p>
          <a:p>
            <a:pPr>
              <a:buNone/>
            </a:pPr>
            <a:r>
              <a:rPr b="0" i="0" u="none"/>
              <a:t/>
            </a:r>
          </a:p>
          <a:p>
            <a:pPr>
              <a:buNone/>
            </a:pPr>
            <a:r>
              <a:rPr b="0" i="0" u="none"/>
              <a:t>1. Search GitHub for AI-Assisted-Software-Development.</a:t>
            </a:r>
          </a:p>
          <a:p>
            <a:pPr>
              <a:buNone/>
            </a:pPr>
            <a:r>
              <a:rPr b="0" i="0" u="none"/>
              <a:t>2. Fork the repository into your GitHub account.</a:t>
            </a:r>
          </a:p>
          <a:p>
            <a:pPr>
              <a:buNone/>
            </a:pPr>
            <a:r>
              <a:rPr b="0" i="0" u="none"/>
              <a:t>3. Clone your fork locally with SSH or HTTPS.</a:t>
            </a:r>
          </a:p>
          <a:p>
            <a:pPr>
              <a:buNone/>
            </a:pPr>
            <a:r>
              <a:rPr b="0" i="0" u="none"/>
              <a:t>4. Open a terminal in the cloned repository.</a:t>
            </a:r>
          </a:p>
          <a:p>
            <a:pPr>
              <a:buNone/>
            </a:pPr>
            <a:r>
              <a:rPr b="0" i="0" u="none"/>
              <a:t>5. Switch to the brownfield branch.</a:t>
            </a:r>
          </a:p>
          <a:p>
            <a:pPr>
              <a:buNone/>
            </a:pPr>
            <a:r>
              <a:rPr b="0" i="0" u="none"/>
              <a:t/>
            </a:r>
          </a:p>
          <a:p>
            <a:pPr>
              <a:buNone/>
            </a:pPr>
            <a:r>
              <a:rPr>
                <a:latin typeface="Consolas"/>
              </a:rPr>
              <a:t>git clone git@github.com:&lt;your-username&gt;/AI-Assisted-Software-Development.git</a:t>
            </a:r>
          </a:p>
          <a:p>
            <a:pPr>
              <a:buNone/>
            </a:pPr>
            <a:r>
              <a:rPr>
                <a:latin typeface="Consolas"/>
              </a:rPr>
              <a:t>cd AI-Assisted-Software-Development</a:t>
            </a:r>
          </a:p>
          <a:p>
            <a:pPr>
              <a:buNone/>
            </a:pPr>
            <a:r>
              <a:rPr>
                <a:latin typeface="Consolas"/>
              </a:rPr>
              <a:t>git checkout brownfield</a:t>
            </a:r>
          </a:p>
          <a:p>
            <a:pPr>
              <a:buNone/>
            </a:pPr>
            <a:r>
              <a:rPr b="0" i="0" u="none"/>
              <a:t/>
            </a:r>
          </a:p>
          <a:p>
            <a:pPr>
              <a:buNone/>
            </a:pPr>
            <a:r>
              <a:rPr b="0" i="0" u="none"/>
              <a:t>Success Criteria</a:t>
            </a:r>
          </a:p>
          <a:p>
            <a:pPr>
              <a:buNone/>
            </a:pPr>
            <a:r>
              <a:rPr b="0" i="0" u="none"/>
              <a:t/>
            </a:r>
          </a:p>
          <a:p>
            <a:pPr/>
            <a:r>
              <a:rPr b="0" i="0" u="none"/>
              <a:t>Repository is forked under your GitHub account</a:t>
            </a:r>
          </a:p>
          <a:p>
            <a:pPr/>
            <a:r>
              <a:rPr b="0" i="0" u="none"/>
              <a:t>Cloned repository exists locally</a:t>
            </a:r>
          </a:p>
          <a:p>
            <a:pPr/>
            <a:r>
              <a:rPr b="0" i="0" u="none"/>
              <a:t>Brownfield branch is checked out successfully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Fork the AIASD-20260209-BF Repo</a:t>
            </a:r>
          </a:p>
        </p:txBody>
      </p:sp>
      <p:sp>
        <p:nvSpPr>
          <p:cNvPr id="3" name="Content Placeholder 2"/>
          <p:cNvSpPr>
            <a:spLocks noGrp="1"/>
          </p:cNvSpPr>
          <p:nvPr>
            <p:ph idx="1" sz="half"/>
          </p:nvPr>
        </p:nvSpPr>
        <p:spPr/>
        <p:txBody>
          <a:bodyPr wrap="square">
            <a:normAutofit/>
          </a:bodyPr>
          <a:lstStyle/>
          <a:p>
            <a:pPr>
              <a:buNone/>
            </a:pPr>
            <a:r>
              <a:rPr b="0" i="0" u="none" sz="2800"/>
              <a:t>Objectives</a:t>
            </a:r>
            <a:endParaRPr sz="2800" b="0" i="0">
              <a:latin typeface="Arial"/>
            </a:endParaRPr>
          </a:p>
          <a:p>
            <a:pPr>
              <a:buNone/>
            </a:pPr>
            <a:r>
              <a:rPr b="0" i="0" u="none" sz="2800"/>
              <a:t/>
            </a:r>
            <a:endParaRPr sz="2800" b="0" i="0">
              <a:latin typeface="Arial"/>
            </a:endParaRPr>
          </a:p>
          <a:p>
            <a:pPr/>
            <a:r>
              <a:rPr b="0" i="0" u="none" sz="2800"/>
              <a:t>Explore an unfamiliar codebase with a safe personal fork</a:t>
            </a:r>
            <a:endParaRPr sz="2800" b="0" i="0">
              <a:latin typeface="Arial"/>
            </a:endParaRPr>
          </a:p>
          <a:p>
            <a:pPr/>
            <a:r>
              <a:rPr b="0" i="0" u="none" sz="2800"/>
              <a:t>Clone and validate local access to the brownfield exercise repository</a:t>
            </a:r>
            <a:endParaRPr sz="2800" b="0" i="0">
              <a:latin typeface="Arial"/>
            </a:endParaRPr>
          </a:p>
          <a:p>
            <a:pPr/>
            <a:r>
              <a:rPr b="0" i="0" u="none" sz="2800"/>
              <a:t>Configure PAT-based authentication for GitHub operations</a:t>
            </a:r>
            <a:endParaRPr sz="2800" b="0" i="0">
              <a:latin typeface="Arial"/>
            </a:endParaRPr>
          </a:p>
        </p:txBody>
      </p:sp>
      <p:sp>
        <p:nvSpPr>
          <p:cNvPr id="4" name="Content Placeholder 3"/>
          <p:cNvSpPr>
            <a:spLocks noGrp="1"/>
          </p:cNvSpPr>
          <p:nvPr>
            <p:ph idx="2" sz="half"/>
          </p:nvPr>
        </p:nvSpPr>
        <p:spPr/>
        <p:txBody>
          <a:bodyPr wrap="square">
            <a:normAutofit/>
          </a:bodyPr>
          <a:lstStyle/>
          <a:p>
            <a:pPr>
              <a:buNone/>
            </a:pPr>
            <a:r>
              <a:rPr b="1" i="0" u="none"/>
              <a:t>Activities and Success Criteria</a:t>
            </a:r>
          </a:p>
          <a:p>
            <a:pPr>
              <a:buNone/>
            </a:pPr>
            <a:r>
              <a:rPr b="0" i="0" u="none"/>
              <a:t/>
            </a:r>
          </a:p>
          <a:p>
            <a:pPr>
              <a:buNone/>
            </a:pPr>
            <a:r>
              <a:rPr b="0" i="0" u="none"/>
              <a:t>Activities</a:t>
            </a:r>
          </a:p>
          <a:p>
            <a:pPr>
              <a:buNone/>
            </a:pPr>
            <a:r>
              <a:rPr b="0" i="0" u="none"/>
              <a:t/>
            </a:r>
          </a:p>
          <a:p>
            <a:pPr>
              <a:buNone/>
            </a:pPr>
            <a:r>
              <a:rPr b="0" i="0" u="none"/>
              <a:t>1. Open https://github.com/j0hnnymiller/AIASD-20260209-BF.git.</a:t>
            </a:r>
          </a:p>
          <a:p>
            <a:pPr>
              <a:buNone/>
            </a:pPr>
            <a:r>
              <a:rPr b="0" i="0" u="none"/>
              <a:t>2. Fork the repository to your personal GitHub account.</a:t>
            </a:r>
          </a:p>
          <a:p>
            <a:pPr>
              <a:buNone/>
            </a:pPr>
            <a:r>
              <a:rPr b="0" i="0" u="none"/>
              <a:t>3. Clone the forked repository locally.</a:t>
            </a:r>
          </a:p>
          <a:p>
            <a:pPr>
              <a:buNone/>
            </a:pPr>
            <a:r>
              <a:rPr b="0" i="0" u="none"/>
              <a:t>4. Create a GitHub PAT at https://github.com/settings/tokens.</a:t>
            </a:r>
          </a:p>
          <a:p>
            <a:pPr>
              <a:buNone/>
            </a:pPr>
            <a:r>
              <a:rPr b="0" i="0" u="none"/>
              <a:t>5. Store the token in the </a:t>
            </a:r>
            <a:r>
              <a:rPr b="0" i="0" u="none">
                <a:latin typeface="Consolas"/>
              </a:rPr>
              <a:t>GITHUB_TOKEN</a:t>
            </a:r>
            <a:r>
              <a:rPr b="0" i="0" u="none"/>
              <a:t> environment variable.</a:t>
            </a:r>
          </a:p>
          <a:p>
            <a:pPr>
              <a:buNone/>
            </a:pPr>
            <a:r>
              <a:rPr b="0" i="0" u="none"/>
              <a:t/>
            </a:r>
          </a:p>
          <a:p>
            <a:pPr>
              <a:buNone/>
            </a:pPr>
            <a:r>
              <a:rPr>
                <a:latin typeface="Consolas"/>
              </a:rPr>
              <a:t>$env:GITHUB_TOKEN = "&lt;your-pat&gt;"</a:t>
            </a:r>
          </a:p>
          <a:p>
            <a:pPr>
              <a:buNone/>
            </a:pPr>
            <a:r>
              <a:rPr>
                <a:latin typeface="Consolas"/>
              </a:rPr>
              <a:t/>
            </a:r>
          </a:p>
          <a:p>
            <a:pPr>
              <a:buNone/>
            </a:pPr>
            <a:r>
              <a:rPr>
                <a:latin typeface="Consolas"/>
              </a:rPr>
              <a:t>export GITHUB_TOKEN="&lt;your-pat&gt;"</a:t>
            </a:r>
          </a:p>
          <a:p>
            <a:pPr>
              <a:buNone/>
            </a:pPr>
            <a:r>
              <a:rPr b="0" i="0" u="none"/>
              <a:t/>
            </a:r>
          </a:p>
          <a:p>
            <a:pPr>
              <a:buNone/>
            </a:pPr>
            <a:r>
              <a:rPr b="0" i="0" u="none"/>
              <a:t>Success Criteria</a:t>
            </a:r>
          </a:p>
          <a:p>
            <a:pPr>
              <a:buNone/>
            </a:pPr>
            <a:r>
              <a:rPr b="0" i="0" u="none"/>
              <a:t/>
            </a:r>
          </a:p>
          <a:p>
            <a:pPr/>
            <a:r>
              <a:rPr b="0" i="0" u="none"/>
              <a:t>Forked repository exists in your GitHub account</a:t>
            </a:r>
          </a:p>
          <a:p>
            <a:pPr/>
            <a:r>
              <a:rPr b="0" i="0" u="none"/>
              <a:t>Repository is available locally and can be opened in VS Code</a:t>
            </a:r>
          </a:p>
          <a:p>
            <a:pPr/>
            <a:r>
              <a:rPr b="0" i="0" u="none">
                <a:latin typeface="Consolas"/>
              </a:rPr>
              <a:t>GITHUB_TOKEN</a:t>
            </a:r>
            <a:r>
              <a:rPr b="0" i="0" u="none"/>
              <a:t> is set in the current shell session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Fork the Repos</a:t>
            </a:r>
          </a:p>
        </p:txBody>
      </p:sp>
      <p:sp>
        <p:nvSpPr>
          <p:cNvPr id="3" name="Content Placeholder 2"/>
          <p:cNvSpPr>
            <a:spLocks noGrp="1"/>
          </p:cNvSpPr>
          <p:nvPr>
            <p:ph idx="1" sz="half"/>
          </p:nvPr>
        </p:nvSpPr>
        <p:spPr/>
        <p:txBody>
          <a:bodyPr wrap="square">
            <a:normAutofit/>
          </a:bodyPr>
          <a:lstStyle/>
          <a:p>
            <a:pPr>
              <a:buNone/>
            </a:pPr>
            <a:r>
              <a:rPr b="0" i="0" u="none" sz="2800"/>
              <a:t>Objective</a:t>
            </a:r>
            <a:endParaRPr sz="2800" b="0" i="0">
              <a:latin typeface="Arial"/>
            </a:endParaRPr>
          </a:p>
          <a:p>
            <a:pPr>
              <a:buNone/>
            </a:pPr>
            <a:r>
              <a:rPr b="0" i="0" u="none" sz="2800"/>
              <a:t/>
            </a:r>
            <a:endParaRPr sz="2800" b="0" i="0">
              <a:latin typeface="Arial"/>
            </a:endParaRPr>
          </a:p>
          <a:p>
            <a:pPr/>
            <a:r>
              <a:rPr b="0" i="0" u="none" sz="2800"/>
              <a:t>Fork the course repositories needed for independent practice</a:t>
            </a:r>
            <a:endParaRPr sz="2800" b="0" i="0">
              <a:latin typeface="Arial"/>
            </a:endParaRPr>
          </a:p>
        </p:txBody>
      </p:sp>
      <p:sp>
        <p:nvSpPr>
          <p:cNvPr id="4" name="Content Placeholder 3"/>
          <p:cNvSpPr>
            <a:spLocks noGrp="1"/>
          </p:cNvSpPr>
          <p:nvPr>
            <p:ph idx="2" sz="half"/>
          </p:nvPr>
        </p:nvSpPr>
        <p:spPr/>
        <p:txBody>
          <a:bodyPr wrap="square">
            <a:normAutofit/>
          </a:bodyPr>
          <a:lstStyle/>
          <a:p>
            <a:pPr>
              <a:buNone/>
            </a:pPr>
            <a:r>
              <a:rPr b="1" i="0" u="none"/>
              <a:t>Activities and Success Criteria</a:t>
            </a:r>
          </a:p>
          <a:p>
            <a:pPr>
              <a:buNone/>
            </a:pPr>
            <a:r>
              <a:rPr b="0" i="0" u="none"/>
              <a:t/>
            </a:r>
          </a:p>
          <a:p>
            <a:pPr>
              <a:buNone/>
            </a:pPr>
            <a:r>
              <a:rPr b="0" i="0" u="none"/>
              <a:t>Activities</a:t>
            </a:r>
          </a:p>
          <a:p>
            <a:pPr>
              <a:buNone/>
            </a:pPr>
            <a:r>
              <a:rPr b="0" i="0" u="none"/>
              <a:t/>
            </a:r>
          </a:p>
          <a:p>
            <a:pPr>
              <a:buNone/>
            </a:pPr>
            <a:r>
              <a:rPr b="0" i="0" u="none"/>
              <a:t>1. Search GitHub for the following repositories:</a:t>
            </a:r>
          </a:p>
          <a:p>
            <a:pPr lvl="1"/>
            <a:r>
              <a:rPr b="0" i="0" u="none"/>
              <a:t>AI-Assisted-Software-Development</a:t>
            </a:r>
          </a:p>
          <a:p>
            <a:pPr lvl="1"/>
            <a:r>
              <a:rPr b="0" i="0" u="none"/>
              <a:t>zeus.academia.3b</a:t>
            </a:r>
          </a:p>
          <a:p>
            <a:pPr>
              <a:buNone/>
            </a:pPr>
            <a:r>
              <a:rPr b="0" i="0" u="none"/>
              <a:t>2. Fork both repositories into your GitHub account.</a:t>
            </a:r>
          </a:p>
          <a:p>
            <a:pPr>
              <a:buNone/>
            </a:pPr>
            <a:r>
              <a:rPr b="0" i="0" u="none"/>
              <a:t>3. Confirm each fork appears under your account.</a:t>
            </a:r>
          </a:p>
          <a:p>
            <a:pPr>
              <a:buNone/>
            </a:pPr>
            <a:r>
              <a:rPr b="0" i="0" u="none"/>
              <a:t>4. Optional: clone each fork locally for offline work.</a:t>
            </a:r>
          </a:p>
          <a:p>
            <a:pPr>
              <a:buNone/>
            </a:pPr>
            <a:r>
              <a:rPr b="0" i="0" u="none"/>
              <a:t/>
            </a:r>
          </a:p>
          <a:p>
            <a:pPr>
              <a:buNone/>
            </a:pPr>
            <a:r>
              <a:rPr b="0" i="0" u="none"/>
              <a:t>Success Criteria</a:t>
            </a:r>
          </a:p>
          <a:p>
            <a:pPr>
              <a:buNone/>
            </a:pPr>
            <a:r>
              <a:rPr b="0" i="0" u="none"/>
              <a:t/>
            </a:r>
          </a:p>
          <a:p>
            <a:pPr/>
            <a:r>
              <a:rPr b="0" i="0" u="none"/>
              <a:t>Both repositories are forked to your GitHub account</a:t>
            </a:r>
          </a:p>
          <a:p>
            <a:pPr/>
            <a:r>
              <a:rPr b="0" i="0" u="none"/>
              <a:t>You can identify the original upstream repositories</a:t>
            </a:r>
          </a:p>
          <a:p>
            <a:pPr/>
            <a:r>
              <a:rPr b="0" i="0" u="none"/>
              <a:t>You can explain why forking protects the source repositories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Getting Your Pair Programmer to Stop Guessing</a:t>
            </a:r>
          </a:p>
        </p:txBody>
      </p:sp>
      <p:sp>
        <p:nvSpPr>
          <p:cNvPr id="3" name="Content Placeholder 2"/>
          <p:cNvSpPr>
            <a:spLocks noGrp="1"/>
          </p:cNvSpPr>
          <p:nvPr>
            <p:ph idx="1"/>
          </p:nvPr>
        </p:nvSpPr>
        <p:spPr/>
        <p:txBody>
          <a:bodyPr wrap="square">
            <a:normAutofit/>
          </a:bodyPr>
          <a:lstStyle/>
          <a:p>
            <a:pPr>
              <a:buNone/>
            </a:pPr>
            <a:r>
              <a:rPr b="0" i="0" u="none" sz="2800"/>
              <a:t>Installation and configuration</a:t>
            </a:r>
            <a:endParaRPr sz="2800" b="0" i="0">
              <a:latin typeface="Arial"/>
            </a:endParaRPr>
          </a:p>
          <a:p>
            <a:pPr>
              <a:buNone/>
            </a:pPr>
            <a:r>
              <a:rPr b="0" i="0" u="none" sz="2800"/>
              <a:t/>
            </a:r>
            <a:endParaRPr sz="2800" b="0" i="0">
              <a:latin typeface="Arial"/>
            </a:endParaRPr>
          </a:p>
          <a:p>
            <a:pPr/>
            <a:r>
              <a:rPr b="0" i="0" u="none" sz="2800"/>
              <a:t>Installing the extension</a:t>
            </a:r>
            <a:endParaRPr sz="2800" b="0" i="0">
              <a:latin typeface="Arial"/>
            </a:endParaRPr>
          </a:p>
          <a:p>
            <a:pPr/>
            <a:r>
              <a:rPr b="0" i="0" u="none" sz="2800"/>
              <a:t>Setting up authentication</a:t>
            </a:r>
            <a:endParaRPr sz="2800" b="0" i="0">
              <a:latin typeface="Arial"/>
            </a:endParaRPr>
          </a:p>
          <a:p>
            <a:pPr/>
            <a:r>
              <a:rPr b="0" i="0" u="none" sz="2800"/>
              <a:t>Configuring settings</a:t>
            </a:r>
            <a:endParaRPr sz="2800" b="0" i="0">
              <a:latin typeface="Arial"/>
            </a:endParaRPr>
          </a:p>
          <a:p>
            <a:pPr>
              <a:buNone/>
            </a:pPr>
            <a:r>
              <a:rPr b="0" i="0" u="none" sz="2800"/>
              <a:t>  Sharing configuration across an organization</a:t>
            </a:r>
            <a:endParaRPr sz="2800" b="0" i="0">
              <a:latin typeface="Arial"/>
            </a:endParaRPr>
          </a:p>
          <a:p>
            <a:pPr/>
            <a:r>
              <a:rPr b="0" i="0" u="none" sz="2800"/>
              <a:t>Shared configuration templates (e.g., .copilot/settings.json) can be distributed across projects to standardize behavior.</a:t>
            </a:r>
            <a:endParaRPr sz="2800" b="0" i="0">
              <a:latin typeface="Arial"/>
            </a:endParaRPr>
          </a:p>
          <a:p>
            <a:pPr>
              <a:buNone/>
            </a:pPr>
            <a:r>
              <a:rPr b="0" i="0" u="none" sz="2800"/>
              <a:t>  https://www.codemag.com/Blog/AI/AIASD-install-guide</a:t>
            </a:r>
            <a:endParaRPr sz="2800" b="0" i="0">
              <a:latin typeface="Arial"/>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Prompt Specificity</a:t>
            </a:r>
          </a:p>
        </p:txBody>
      </p:sp>
      <p:sp>
        <p:nvSpPr>
          <p:cNvPr id="3" name="Content Placeholder 2"/>
          <p:cNvSpPr>
            <a:spLocks noGrp="1"/>
          </p:cNvSpPr>
          <p:nvPr>
            <p:ph idx="1"/>
          </p:nvPr>
        </p:nvSpPr>
        <p:spPr/>
        <p:txBody>
          <a:bodyPr wrap="square">
            <a:normAutofit/>
          </a:bodyPr>
          <a:lstStyle/>
          <a:p>
            <a:pPr>
              <a:buNone/>
            </a:pPr>
            <a:r>
              <a:rPr b="0" i="0" u="none" sz="2800"/>
              <a:t>Add error handling to my code</a:t>
            </a:r>
            <a:endParaRPr sz="2800" b="0" i="0">
              <a:latin typeface="Arial"/>
            </a:endParaRPr>
          </a:p>
          <a:p>
            <a:pPr>
              <a:buNone/>
            </a:pPr>
            <a:r>
              <a:rPr b="0" i="0" u="none" sz="2800"/>
              <a:t/>
            </a:r>
            <a:endParaRPr sz="2800" b="0" i="0">
              <a:latin typeface="Arial"/>
            </a:endParaRPr>
          </a:p>
          <a:p>
            <a:pPr/>
            <a:r>
              <a:rPr b="0" i="0" u="none" sz="2800"/>
              <a:t>Result: Generic response asking what type of errors, what language, what code?</a:t>
            </a:r>
            <a:endParaRPr sz="2800" b="0" i="0">
              <a:latin typeface="Arial"/>
            </a:endParaRPr>
          </a:p>
          <a:p>
            <a:pPr>
              <a:buNone/>
            </a:pPr>
            <a:r>
              <a:rPr b="0" i="0" u="none" sz="2800"/>
              <a:t>  Add error handling to my JavaScript function that calls an external API. I want to handle network timeouts, 404 errors, and JSON parsing failures. Return user-friendly error messages.</a:t>
            </a:r>
            <a:endParaRPr sz="2800" b="0" i="0">
              <a:latin typeface="Arial"/>
            </a:endParaRPr>
          </a:p>
          <a:p>
            <a:pPr/>
            <a:r>
              <a:rPr b="0" i="0" u="none" sz="2800"/>
              <a:t>Result: Better, but still generic without seeing actual code structure</a:t>
            </a:r>
            <a:endParaRPr sz="2800" b="0" i="0">
              <a:latin typeface="Arial"/>
            </a:endParaRPr>
          </a:p>
          <a:p>
            <a:pPr>
              <a:buNone/>
            </a:pPr>
            <a:r>
              <a:rPr b="0" i="0" u="none" sz="2800"/>
              <a:t>  @file:api-client.js Add comprehensive error handling to the fetchUserData function. Handle network timeouts (&gt;5s), HTTP errors (404, 500, etc.), and JSON parsing failures.   Return user-friendly error messages that match our existing error format in @file:error-types.js</a:t>
            </a:r>
            <a:endParaRPr sz="2800" b="0" i="0">
              <a:latin typeface="Arial"/>
            </a:endParaRPr>
          </a:p>
          <a:p>
            <a:pPr/>
            <a:r>
              <a:rPr b="0" i="0" u="none" sz="2800"/>
              <a:t>Result: Specific implementation that matches existing code patterns\*</a:t>
            </a:r>
            <a:endParaRPr sz="2800" b="0" i="0">
              <a:latin typeface="Arial"/>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Using Copilot in different modes</a:t>
            </a:r>
          </a:p>
        </p:txBody>
      </p:sp>
      <p:sp>
        <p:nvSpPr>
          <p:cNvPr id="3" name="Content Placeholder 2"/>
          <p:cNvSpPr>
            <a:spLocks noGrp="1"/>
          </p:cNvSpPr>
          <p:nvPr>
            <p:ph idx="1"/>
          </p:nvPr>
        </p:nvSpPr>
        <p:spPr/>
        <p:txBody>
          <a:bodyPr wrap="square">
            <a:normAutofit/>
          </a:bodyPr>
          <a:lstStyle/>
          <a:p>
            <a:pPr>
              <a:buNone/>
            </a:pPr>
            <a:r>
              <a:rPr b="0" i="0" u="none" sz="2800"/>
              <a:t>Ask Mode</a:t>
            </a:r>
            <a:endParaRPr sz="2800" b="0" i="0">
              <a:latin typeface="Arial"/>
            </a:endParaRPr>
          </a:p>
          <a:p>
            <a:pPr>
              <a:buNone/>
            </a:pPr>
            <a:r>
              <a:rPr b="0" i="0" u="none" sz="2800"/>
              <a:t/>
            </a:r>
            <a:endParaRPr sz="2800" b="0" i="0">
              <a:latin typeface="Arial"/>
            </a:endParaRPr>
          </a:p>
          <a:p>
            <a:pPr/>
            <a:r>
              <a:rPr b="0" i="0" u="none" sz="2800"/>
              <a:t>Simple prompt completion and inline suggestions</a:t>
            </a:r>
            <a:endParaRPr sz="2800" b="0" i="0">
              <a:latin typeface="Arial"/>
            </a:endParaRPr>
          </a:p>
          <a:p>
            <a:pPr>
              <a:buNone/>
            </a:pPr>
            <a:r>
              <a:rPr b="0" i="0" u="none" sz="2800"/>
              <a:t>  Edit Mode</a:t>
            </a:r>
            <a:endParaRPr sz="2800" b="0" i="0">
              <a:latin typeface="Arial"/>
            </a:endParaRPr>
          </a:p>
          <a:p>
            <a:pPr/>
            <a:r>
              <a:rPr b="0" i="0" u="none" sz="2800"/>
              <a:t>Automatic file edits</a:t>
            </a:r>
            <a:endParaRPr sz="2800" b="0" i="0">
              <a:latin typeface="Arial"/>
            </a:endParaRPr>
          </a:p>
          <a:p>
            <a:pPr>
              <a:buNone/>
            </a:pPr>
            <a:r>
              <a:rPr b="0" i="0" u="none" sz="2800"/>
              <a:t>  Agent Mode</a:t>
            </a:r>
            <a:endParaRPr sz="2800" b="0" i="0">
              <a:latin typeface="Arial"/>
            </a:endParaRPr>
          </a:p>
          <a:p>
            <a:pPr/>
            <a:r>
              <a:rPr b="0" i="0" u="none" sz="2800"/>
              <a:t>Perform actions on your behalf</a:t>
            </a:r>
            <a:endParaRPr sz="2800" b="0" i="0">
              <a:latin typeface="Arial"/>
            </a:endParaRPr>
          </a:p>
          <a:p>
            <a:pPr>
              <a:buNone/>
            </a:pPr>
            <a:r>
              <a:rPr b="0" i="0" u="none" sz="2800"/>
              <a:t>  Custom Modes</a:t>
            </a:r>
            <a:endParaRPr sz="2800" b="0" i="0">
              <a:latin typeface="Arial"/>
            </a:endParaRPr>
          </a:p>
          <a:p>
            <a:pPr/>
            <a:r>
              <a:rPr b="0" i="0" u="none" sz="2800"/>
              <a:t>Execute specific workflows</a:t>
            </a:r>
            <a:endParaRPr sz="2800" b="0" i="0">
              <a:latin typeface="Arial"/>
            </a:endParaR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IDE Support for AI Assistance</a:t>
            </a:r>
          </a:p>
        </p:txBody>
      </p:sp>
      <p:sp>
        <p:nvSpPr>
          <p:cNvPr id="3" name="Content Placeholder 2"/>
          <p:cNvSpPr>
            <a:spLocks noGrp="1"/>
          </p:cNvSpPr>
          <p:nvPr>
            <p:ph idx="1" sz="half"/>
          </p:nvPr>
        </p:nvSpPr>
        <p:spPr/>
        <p:txBody>
          <a:bodyPr wrap="square">
            <a:normAutofit/>
          </a:bodyPr>
          <a:lstStyle/>
          <a:p>
            <a:pPr>
              <a:buNone/>
            </a:pPr>
            <a:r>
              <a:rPr b="0" i="0" u="none" sz="2400"/>
              <a:t>Established IDEs</a:t>
            </a:r>
            <a:endParaRPr sz="2400" b="0" i="0">
              <a:latin typeface="Arial"/>
            </a:endParaRPr>
          </a:p>
          <a:p>
            <a:pPr>
              <a:buNone/>
            </a:pPr>
            <a:r>
              <a:rPr b="0" i="0" u="none" sz="2400"/>
              <a:t/>
            </a:r>
            <a:endParaRPr sz="2400" b="0" i="0">
              <a:latin typeface="Arial"/>
            </a:endParaRPr>
          </a:p>
          <a:p>
            <a:pPr/>
            <a:r>
              <a:rPr b="0" i="0" u="none" sz="2400"/>
              <a:t>VS Code</a:t>
            </a:r>
            <a:endParaRPr sz="2400" b="0" i="0">
              <a:latin typeface="Arial"/>
            </a:endParaRPr>
          </a:p>
          <a:p>
            <a:pPr>
              <a:buNone/>
            </a:pPr>
            <a:r>
              <a:rPr b="0" i="0" u="none" sz="2400"/>
              <a:t>  Deep extension ecosystem with strong Copilot, Cline, ChatGPT, and Gemini support.</a:t>
            </a:r>
            <a:endParaRPr sz="2400" b="0" i="0">
              <a:latin typeface="Arial"/>
            </a:endParaRPr>
          </a:p>
          <a:p>
            <a:pPr/>
            <a:r>
              <a:rPr b="0" i="0" u="none" sz="2400"/>
              <a:t>Visual Studio</a:t>
            </a:r>
            <a:endParaRPr sz="2400" b="0" i="0">
              <a:latin typeface="Arial"/>
            </a:endParaRPr>
          </a:p>
          <a:p>
            <a:pPr>
              <a:buNone/>
            </a:pPr>
            <a:r>
              <a:rPr b="0" i="0" u="none" sz="2400"/>
              <a:t>  Strong .NET refactoring, debugging, and native Copilot integration.</a:t>
            </a:r>
            <a:endParaRPr sz="2400" b="0" i="0">
              <a:latin typeface="Arial"/>
            </a:endParaRPr>
          </a:p>
          <a:p>
            <a:pPr/>
            <a:r>
              <a:rPr b="0" i="0" u="none" sz="2400"/>
              <a:t>JetBrains IDEs</a:t>
            </a:r>
            <a:endParaRPr sz="2400" b="0" i="0">
              <a:latin typeface="Arial"/>
            </a:endParaRPr>
          </a:p>
          <a:p>
            <a:pPr>
              <a:buNone/>
            </a:pPr>
            <a:r>
              <a:rPr b="0" i="0" u="none" sz="2400"/>
              <a:t>  Excellent static analysis and multi-language depth; AI features are strong but more subscription-driven.</a:t>
            </a:r>
            <a:endParaRPr sz="2400" b="0" i="0">
              <a:latin typeface="Arial"/>
            </a:endParaRPr>
          </a:p>
          <a:p>
            <a:pPr/>
            <a:r>
              <a:rPr b="0" i="0" u="none" sz="2400"/>
              <a:t>Cursor</a:t>
            </a:r>
            <a:endParaRPr sz="2400" b="0" i="0">
              <a:latin typeface="Arial"/>
            </a:endParaRPr>
          </a:p>
          <a:p>
            <a:pPr>
              <a:buNone/>
            </a:pPr>
            <a:r>
              <a:rPr b="0" i="0" u="none" sz="2400"/>
              <a:t>  AI-first editing experience with strong multi-file reasoning, but less mature for some enterprise workflows.</a:t>
            </a:r>
            <a:endParaRPr sz="2400" b="0" i="0">
              <a:latin typeface="Arial"/>
            </a:endParaRPr>
          </a:p>
        </p:txBody>
      </p:sp>
      <p:sp>
        <p:nvSpPr>
          <p:cNvPr id="4" name="Content Placeholder 3"/>
          <p:cNvSpPr>
            <a:spLocks noGrp="1"/>
          </p:cNvSpPr>
          <p:nvPr>
            <p:ph idx="2" sz="half"/>
          </p:nvPr>
        </p:nvSpPr>
        <p:spPr/>
        <p:txBody>
          <a:bodyPr wrap="square">
            <a:normAutofit/>
          </a:bodyPr>
          <a:lstStyle/>
          <a:p>
            <a:pPr>
              <a:buNone/>
            </a:pPr>
            <a:r>
              <a:rPr b="0" i="0" u="none" sz="2200"/>
              <a:t>Lightweight and Specialized Options</a:t>
            </a:r>
            <a:endParaRPr sz="2200" b="0" i="0">
              <a:latin typeface="Arial"/>
            </a:endParaRPr>
          </a:p>
          <a:p>
            <a:pPr>
              <a:buNone/>
            </a:pPr>
            <a:r>
              <a:rPr b="0" i="0" u="none" sz="2200"/>
              <a:t/>
            </a:r>
            <a:endParaRPr sz="2200" b="0" i="0">
              <a:latin typeface="Arial"/>
            </a:endParaRPr>
          </a:p>
          <a:p>
            <a:pPr/>
            <a:r>
              <a:rPr b="0" i="0" u="none" sz="2200"/>
              <a:t>Replit</a:t>
            </a:r>
            <a:endParaRPr sz="2200" b="0" i="0">
              <a:latin typeface="Arial"/>
            </a:endParaRPr>
          </a:p>
          <a:p>
            <a:pPr>
              <a:buNone/>
            </a:pPr>
            <a:r>
              <a:rPr b="0" i="0" u="none" sz="2200"/>
              <a:t>  Browser-based and beginner-friendly for rapid prototyping.</a:t>
            </a:r>
            <a:endParaRPr sz="2200" b="0" i="0">
              <a:latin typeface="Arial"/>
            </a:endParaRPr>
          </a:p>
          <a:p>
            <a:pPr/>
            <a:r>
              <a:rPr b="0" i="0" u="none" sz="2200"/>
              <a:t>Builder.io / Builder Code Editor</a:t>
            </a:r>
            <a:endParaRPr sz="2200" b="0" i="0">
              <a:latin typeface="Arial"/>
            </a:endParaRPr>
          </a:p>
          <a:p>
            <a:pPr>
              <a:buNone/>
            </a:pPr>
            <a:r>
              <a:rPr b="0" i="0" u="none" sz="2200"/>
              <a:t>  Web-focused environment with modern AI-native workflows.</a:t>
            </a:r>
            <a:endParaRPr sz="2200" b="0" i="0">
              <a:latin typeface="Arial"/>
            </a:endParaRPr>
          </a:p>
          <a:p>
            <a:pPr/>
            <a:r>
              <a:rPr b="0" i="0" u="none" sz="2200"/>
              <a:t>Code-B editors</a:t>
            </a:r>
            <a:endParaRPr sz="2200" b="0" i="0">
              <a:latin typeface="Arial"/>
            </a:endParaRPr>
          </a:p>
          <a:p>
            <a:pPr>
              <a:buNone/>
            </a:pPr>
            <a:r>
              <a:rPr b="0" i="0" u="none" sz="2200"/>
              <a:t>  Fast AI-centric editing, but with a smaller ecosystem.</a:t>
            </a:r>
            <a:endParaRPr sz="2200" b="0" i="0">
              <a:latin typeface="Arial"/>
            </a:endParaRPr>
          </a:p>
          <a:p>
            <a:pPr/>
            <a:r>
              <a:rPr b="0" i="0" u="none" sz="2200"/>
              <a:t>Claude Code</a:t>
            </a:r>
            <a:endParaRPr sz="2200" b="0" i="0">
              <a:latin typeface="Arial"/>
            </a:endParaRPr>
          </a:p>
          <a:p>
            <a:pPr>
              <a:buNone/>
            </a:pPr>
            <a:r>
              <a:rPr b="0" i="0" u="none" sz="2200"/>
              <a:t>  Terminal-first, repo-wide reasoning and patching; powerful, but not a GUI IDE.</a:t>
            </a:r>
            <a:endParaRPr sz="2200" b="0" i="0">
              <a:latin typeface="Arial"/>
            </a:endParaRPr>
          </a:p>
          <a:p>
            <a:pPr>
              <a:buNone/>
            </a:pPr>
            <a:r>
              <a:rPr b="0" i="0" u="none" sz="2200"/>
              <a:t/>
            </a:r>
            <a:endParaRPr sz="2200" b="0" i="0">
              <a:latin typeface="Arial"/>
            </a:endParaRPr>
          </a:p>
          <a:p>
            <a:pPr>
              <a:buNone/>
            </a:pPr>
            <a:r>
              <a:rPr b="0" i="0" u="none" sz="2200"/>
              <a:t>Selection lens</a:t>
            </a:r>
            <a:endParaRPr sz="2200" b="0" i="0">
              <a:latin typeface="Arial"/>
            </a:endParaRPr>
          </a:p>
          <a:p>
            <a:pPr>
              <a:buNone/>
            </a:pPr>
            <a:r>
              <a:rPr b="0" i="0" u="none" sz="2200"/>
              <a:t/>
            </a:r>
            <a:endParaRPr sz="2200" b="0" i="0">
              <a:latin typeface="Arial"/>
            </a:endParaRPr>
          </a:p>
          <a:p>
            <a:pPr/>
            <a:r>
              <a:rPr b="0" i="0" u="none" sz="2200"/>
              <a:t>GUI IDEs favor structured refactoring and debugging.</a:t>
            </a:r>
            <a:endParaRPr sz="2200" b="0" i="0">
              <a:latin typeface="Arial"/>
            </a:endParaRPr>
          </a:p>
          <a:p>
            <a:pPr/>
            <a:r>
              <a:rPr b="0" i="0" u="none" sz="2200"/>
              <a:t>AI-first tools favor conversational, agentic workflows.</a:t>
            </a:r>
            <a:endParaRPr sz="2200" b="0" i="0">
              <a:latin typeface="Arial"/>
            </a:endParaRPr>
          </a:p>
          <a:p>
            <a:pPr/>
            <a:r>
              <a:rPr b="0" i="0" u="none" sz="2200"/>
              <a:t>Team choice depends on stack, governance, and workflow fit.</a:t>
            </a:r>
            <a:endParaRPr sz="2200" b="0" i="0">
              <a:latin typeface="Arial"/>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Lab: Your AI Copilot Reports for Duty</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
            </a:r>
            <a:endParaRPr sz="2800" b="0" i="0">
              <a:latin typeface="Arial"/>
            </a:endParaRPr>
          </a:p>
          <a:p>
            <a:pPr/>
            <a:r>
              <a:rPr b="0" i="0" u="none" sz="2800"/>
              <a:t>Install and configure GitHub Copilot</a:t>
            </a:r>
            <a:endParaRPr sz="2800" b="0" i="0">
              <a:latin typeface="Arial"/>
            </a:endParaRPr>
          </a:p>
          <a:p>
            <a:pPr/>
            <a:r>
              <a:rPr b="0" i="0" u="none" sz="2800"/>
              <a:t>Verify authentication with your GitHub account</a:t>
            </a:r>
            <a:endParaRPr sz="2800" b="0" i="0">
              <a:latin typeface="Arial"/>
            </a:endParaRPr>
          </a:p>
          <a:p>
            <a:pPr/>
            <a:r>
              <a:rPr b="0" i="0" u="none" sz="2800"/>
              <a:t>Explore core Copilot UI components in VS Code</a:t>
            </a:r>
            <a:endParaRPr sz="2800" b="0" i="0">
              <a:latin typeface="Arial"/>
            </a:endParaRPr>
          </a:p>
          <a:p>
            <a:pPr>
              <a:buNone/>
            </a:pPr>
            <a:r>
              <a:rPr b="0" i="0" u="none" sz="2800"/>
              <a:t/>
            </a:r>
            <a:endParaRPr sz="2800" b="0" i="0">
              <a:latin typeface="Arial"/>
            </a:endParaRPr>
          </a:p>
          <a:p>
            <a:pPr>
              <a:buNone/>
            </a:pPr>
            <a:r>
              <a:rPr b="0" i="0" u="none" sz="2800"/>
              <a:t>Activities</a:t>
            </a:r>
            <a:endParaRPr sz="2800" b="0" i="0">
              <a:latin typeface="Arial"/>
            </a:endParaRPr>
          </a:p>
          <a:p>
            <a:pPr>
              <a:buNone/>
            </a:pPr>
            <a:r>
              <a:rPr b="0" i="0" u="none" sz="2800"/>
              <a:t/>
            </a:r>
            <a:endParaRPr sz="2800" b="0" i="0">
              <a:latin typeface="Arial"/>
            </a:endParaRPr>
          </a:p>
          <a:p>
            <a:pPr>
              <a:buNone/>
            </a:pPr>
            <a:r>
              <a:rPr b="0" i="0" u="none" sz="2800"/>
              <a:t>1. Install the GitHub Copilot extension from the VS Code marketplace.</a:t>
            </a:r>
            <a:endParaRPr sz="2800" b="0" i="0">
              <a:latin typeface="Arial"/>
            </a:endParaRPr>
          </a:p>
          <a:p>
            <a:pPr>
              <a:buNone/>
            </a:pPr>
            <a:r>
              <a:rPr b="0" i="0" u="none" sz="2800"/>
              <a:t>2. Sign in with your GitHub account and verify Copilot access.</a:t>
            </a:r>
            <a:endParaRPr sz="2800" b="0" i="0">
              <a:latin typeface="Arial"/>
            </a:endParaRPr>
          </a:p>
          <a:p>
            <a:pPr>
              <a:buNone/>
            </a:pPr>
            <a:r>
              <a:rPr b="0" i="0" u="none" sz="2800"/>
              <a:t>3. Locate and explore:</a:t>
            </a:r>
            <a:endParaRPr sz="2800" b="0" i="0">
              <a:latin typeface="Arial"/>
            </a:endParaRPr>
          </a:p>
          <a:p>
            <a:pPr lvl="1"/>
            <a:r>
              <a:rPr b="0" i="0" u="none" sz="2800"/>
              <a:t>Chat window and chat history</a:t>
            </a:r>
            <a:endParaRPr sz="2800" b="0" i="0">
              <a:latin typeface="Arial"/>
            </a:endParaRPr>
          </a:p>
          <a:p>
            <a:pPr lvl="1"/>
            <a:r>
              <a:rPr b="0" i="0" u="none" sz="2800"/>
              <a:t>New chat button</a:t>
            </a:r>
            <a:endParaRPr sz="2800" b="0" i="0">
              <a:latin typeface="Arial"/>
            </a:endParaRPr>
          </a:p>
          <a:p>
            <a:pPr lvl="1"/>
            <a:r>
              <a:rPr b="0" i="0" u="none" sz="2800"/>
              <a:t>Quick chat feature and keyboard shortcut</a:t>
            </a:r>
            <a:endParaRPr sz="2800" b="0" i="0">
              <a:latin typeface="Arial"/>
            </a:endParaRPr>
          </a:p>
          <a:p>
            <a:pPr lvl="1"/>
            <a:r>
              <a:rPr b="0" i="0" u="none" sz="2800"/>
              <a:t>Settings menu</a:t>
            </a:r>
            <a:endParaRPr sz="2800" b="0" i="0">
              <a:latin typeface="Arial"/>
            </a:endParaRPr>
          </a:p>
          <a:p>
            <a:pPr lvl="1"/>
            <a:r>
              <a:rPr b="0" i="0" u="none" sz="2800"/>
              <a:t>Model selection dropdown</a:t>
            </a:r>
            <a:endParaRPr sz="2800" b="0" i="0">
              <a:latin typeface="Arial"/>
            </a:endParaRPr>
          </a:p>
          <a:p>
            <a:pPr>
              <a:buNone/>
            </a:pPr>
            <a:r>
              <a:rPr b="0" i="0" u="none" sz="2800"/>
              <a:t>4. Check your premium token usage bar.</a:t>
            </a:r>
            <a:endParaRPr sz="2800" b="0" i="0">
              <a:latin typeface="Arial"/>
            </a:endParaRPr>
          </a:p>
          <a:p>
            <a:pPr>
              <a:buNone/>
            </a:pPr>
            <a:r>
              <a:rPr b="0" i="0" u="none" sz="2800"/>
              <a:t>5. Create a new chat and experiment with the interface.</a:t>
            </a:r>
            <a:endParaRPr sz="2800" b="0" i="0">
              <a:latin typeface="Arial"/>
            </a:endParaRPr>
          </a:p>
          <a:p>
            <a:pPr>
              <a:buNone/>
            </a:pPr>
            <a:r>
              <a:rPr b="0" i="0" u="none" sz="2800"/>
              <a:t/>
            </a:r>
            <a:endParaRPr sz="2800" b="0" i="0">
              <a:latin typeface="Arial"/>
            </a:endParaRPr>
          </a:p>
          <a:p>
            <a:pPr>
              <a:buNone/>
            </a:pPr>
            <a:r>
              <a:rPr b="0" i="0" u="none" sz="2800"/>
              <a:t>Success Criteria</a:t>
            </a:r>
            <a:endParaRPr sz="2800" b="0" i="0">
              <a:latin typeface="Arial"/>
            </a:endParaRPr>
          </a:p>
          <a:p>
            <a:pPr>
              <a:buNone/>
            </a:pPr>
            <a:r>
              <a:rPr b="0" i="0" u="none" sz="2800"/>
              <a:t/>
            </a:r>
            <a:endParaRPr sz="2800" b="0" i="0">
              <a:latin typeface="Arial"/>
            </a:endParaRPr>
          </a:p>
          <a:p>
            <a:pPr/>
            <a:r>
              <a:rPr b="0" i="0" u="none" sz="2800"/>
              <a:t>Copilot extension is installed and authenticated</a:t>
            </a:r>
            <a:endParaRPr sz="2800" b="0" i="0">
              <a:latin typeface="Arial"/>
            </a:endParaRPr>
          </a:p>
          <a:p>
            <a:pPr/>
            <a:r>
              <a:rPr b="0" i="0" u="none" sz="2800"/>
              <a:t>You can open and close chat windows</a:t>
            </a:r>
            <a:endParaRPr sz="2800" b="0" i="0">
              <a:latin typeface="Arial"/>
            </a:endParaRPr>
          </a:p>
          <a:p>
            <a:pPr/>
            <a:r>
              <a:rPr b="0" i="0" u="none" sz="2800"/>
              <a:t>You can explain main chat versus quick chat</a:t>
            </a:r>
            <a:endParaRPr sz="2800" b="0" i="0">
              <a:latin typeface="Arial"/>
            </a:endParaRPr>
          </a:p>
          <a:p>
            <a:pPr/>
            <a:r>
              <a:rPr b="0" i="0" u="none" sz="2800"/>
              <a:t>You can find and use chat history</a:t>
            </a:r>
            <a:endParaRPr sz="2800" b="0" i="0">
              <a:latin typeface="Arial"/>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Lab: Understanding Context Management</a:t>
            </a:r>
          </a:p>
        </p:txBody>
      </p:sp>
      <p:sp>
        <p:nvSpPr>
          <p:cNvPr id="3" name="Content Placeholder 2"/>
          <p:cNvSpPr>
            <a:spLocks noGrp="1"/>
          </p:cNvSpPr>
          <p:nvPr>
            <p:ph idx="1"/>
          </p:nvPr>
        </p:nvSpPr>
        <p:spPr/>
        <p:txBody>
          <a:bodyPr wrap="square">
            <a:normAutofit/>
          </a:bodyPr>
          <a:lstStyle/>
          <a:p>
            <a:pPr>
              <a:buNone/>
            </a:pPr>
            <a:r>
              <a:rPr b="0" i="0" u="none" sz="1800"/>
              <a:t>Objectives</a:t>
            </a:r>
            <a:endParaRPr sz="1800" b="0" i="0">
              <a:latin typeface="Consolas"/>
            </a:endParaRPr>
          </a:p>
          <a:p>
            <a:pPr>
              <a:buNone/>
            </a:pPr>
            <a:r>
              <a:rPr b="0" i="0" u="none" sz="1800"/>
              <a:t/>
            </a:r>
            <a:endParaRPr sz="1800" b="0" i="0">
              <a:latin typeface="Consolas"/>
            </a:endParaRPr>
          </a:p>
          <a:p>
            <a:pPr/>
            <a:r>
              <a:rPr b="0" i="0" u="none" sz="1800"/>
              <a:t>Learn to add context using @ symbols</a:t>
            </a:r>
            <a:endParaRPr sz="1800" b="0" i="0">
              <a:latin typeface="Consolas"/>
            </a:endParaRPr>
          </a:p>
          <a:p>
            <a:pPr/>
            <a:r>
              <a:rPr b="0" i="0" u="none" sz="1800"/>
              <a:t>Understand context window limitations</a:t>
            </a:r>
            <a:endParaRPr sz="1800" b="0" i="0">
              <a:latin typeface="Consolas"/>
            </a:endParaRPr>
          </a:p>
          <a:p>
            <a:pPr/>
            <a:r>
              <a:rPr b="0" i="0" u="none" sz="1800"/>
              <a:t>Practice writing effective prompts</a:t>
            </a:r>
            <a:endParaRPr sz="1800" b="0" i="0">
              <a:latin typeface="Consolas"/>
            </a:endParaRPr>
          </a:p>
          <a:p>
            <a:pPr>
              <a:buNone/>
            </a:pPr>
            <a:r>
              <a:rPr b="0" i="0" u="none" sz="1800"/>
              <a:t/>
            </a:r>
            <a:endParaRPr sz="1800" b="0" i="0">
              <a:latin typeface="Consolas"/>
            </a:endParaRPr>
          </a:p>
          <a:p>
            <a:pPr>
              <a:buNone/>
            </a:pPr>
            <a:r>
              <a:rPr b="0" i="0" u="none" sz="1800"/>
              <a:t>Activities</a:t>
            </a:r>
            <a:endParaRPr sz="1800" b="0" i="0">
              <a:latin typeface="Consolas"/>
            </a:endParaRPr>
          </a:p>
          <a:p>
            <a:pPr>
              <a:buNone/>
            </a:pPr>
            <a:r>
              <a:rPr b="0" i="0" u="none" sz="1800"/>
              <a:t/>
            </a:r>
            <a:endParaRPr sz="1800" b="0" i="0">
              <a:latin typeface="Consolas"/>
            </a:endParaRPr>
          </a:p>
          <a:p>
            <a:pPr>
              <a:buNone/>
            </a:pPr>
            <a:r>
              <a:rPr b="0" i="0" u="none" sz="1800"/>
              <a:t>1. Basic context addition:</a:t>
            </a:r>
            <a:endParaRPr sz="1800" b="0" i="0">
              <a:latin typeface="Consolas"/>
            </a:endParaRPr>
          </a:p>
          <a:p>
            <a:pPr lvl="1"/>
            <a:r>
              <a:rPr b="0" i="0" u="none" sz="1800"/>
              <a:t>Use </a:t>
            </a:r>
            <a:r>
              <a:rPr b="0" i="0" u="none" sz="1800">
                <a:latin typeface="Consolas"/>
              </a:rPr>
              <a:t>@workspace</a:t>
            </a:r>
            <a:r>
              <a:rPr b="0" i="0" u="none" sz="1800"/>
              <a:t> to search your codebase</a:t>
            </a:r>
            <a:endParaRPr sz="1800" b="0" i="0">
              <a:latin typeface="Consolas"/>
            </a:endParaRPr>
          </a:p>
          <a:p>
            <a:pPr lvl="1"/>
            <a:r>
              <a:rPr b="0" i="0" u="none" sz="1800"/>
              <a:t>Use </a:t>
            </a:r>
            <a:r>
              <a:rPr b="0" i="0" u="none" sz="1800">
                <a:latin typeface="Consolas"/>
              </a:rPr>
              <a:t>@file</a:t>
            </a:r>
            <a:r>
              <a:rPr b="0" i="0" u="none" sz="1800"/>
              <a:t> to reference specific files</a:t>
            </a:r>
            <a:endParaRPr sz="1800" b="0" i="0">
              <a:latin typeface="Consolas"/>
            </a:endParaRPr>
          </a:p>
          <a:p>
            <a:pPr lvl="1"/>
            <a:r>
              <a:rPr b="0" i="0" u="none" sz="1800"/>
              <a:t>Use </a:t>
            </a:r>
            <a:r>
              <a:rPr b="0" i="0" u="none" sz="1800">
                <a:latin typeface="Consolas"/>
              </a:rPr>
              <a:t>@terminal</a:t>
            </a:r>
            <a:r>
              <a:rPr b="0" i="0" u="none" sz="1800"/>
              <a:t> to include command output</a:t>
            </a:r>
            <a:endParaRPr sz="1800" b="0" i="0">
              <a:latin typeface="Consolas"/>
            </a:endParaRPr>
          </a:p>
          <a:p>
            <a:pPr lvl="1"/>
            <a:r>
              <a:rPr b="0" i="0" u="none" sz="1800"/>
              <a:t>Use </a:t>
            </a:r>
            <a:r>
              <a:rPr b="0" i="0" u="none" sz="1800">
                <a:latin typeface="Consolas"/>
              </a:rPr>
              <a:t>@vscode</a:t>
            </a:r>
            <a:r>
              <a:rPr b="0" i="0" u="none" sz="1800"/>
              <a:t> for VS Code product questions</a:t>
            </a:r>
            <a:endParaRPr sz="1800" b="0" i="0">
              <a:latin typeface="Consolas"/>
            </a:endParaRPr>
          </a:p>
          <a:p>
            <a:pPr>
              <a:buNone/>
            </a:pPr>
            <a:r>
              <a:rPr b="0" i="0" u="none" sz="1800"/>
              <a:t>2. Prompt practice:</a:t>
            </a:r>
            <a:endParaRPr sz="1800" b="0" i="0">
              <a:latin typeface="Consolas"/>
            </a:endParaRPr>
          </a:p>
          <a:p>
            <a:pPr lvl="1"/>
            <a:r>
              <a:rPr b="0" i="0" u="none" sz="1800"/>
              <a:t>Write a vague prompt and observe the result</a:t>
            </a:r>
            <a:endParaRPr sz="1800" b="0" i="0">
              <a:latin typeface="Consolas"/>
            </a:endParaRPr>
          </a:p>
          <a:p>
            <a:pPr lvl="1"/>
            <a:r>
              <a:rPr b="0" i="0" u="none" sz="1800"/>
              <a:t>Rewrite with specific context and compare quality</a:t>
            </a:r>
            <a:endParaRPr sz="1800" b="0" i="0">
              <a:latin typeface="Consolas"/>
            </a:endParaRPr>
          </a:p>
          <a:p>
            <a:pPr lvl="1"/>
            <a:r>
              <a:rPr b="0" i="0" u="none" sz="1800"/>
              <a:t>Add file references to improve accuracy</a:t>
            </a:r>
            <a:endParaRPr sz="1800" b="0" i="0">
              <a:latin typeface="Consolas"/>
            </a:endParaRPr>
          </a:p>
          <a:p>
            <a:pPr>
              <a:buNone/>
            </a:pPr>
            <a:r>
              <a:rPr b="0" i="0" u="none" sz="1800"/>
              <a:t>3. Context window experiment:</a:t>
            </a:r>
            <a:endParaRPr sz="1800" b="0" i="0">
              <a:latin typeface="Consolas"/>
            </a:endParaRPr>
          </a:p>
          <a:p>
            <a:pPr lvl="1"/>
            <a:r>
              <a:rPr b="0" i="0" u="none" sz="1800"/>
              <a:t>Run a longer single conversation</a:t>
            </a:r>
            <a:endParaRPr sz="1800" b="0" i="0">
              <a:latin typeface="Consolas"/>
            </a:endParaRPr>
          </a:p>
          <a:p>
            <a:pPr lvl="1"/>
            <a:r>
              <a:rPr b="0" i="0" u="none" sz="1800"/>
              <a:t>Observe when early context gets dropped</a:t>
            </a:r>
            <a:endParaRPr sz="1800" b="0" i="0">
              <a:latin typeface="Consolas"/>
            </a:endParaRPr>
          </a:p>
          <a:p>
            <a:pPr lvl="1"/>
            <a:r>
              <a:rPr b="0" i="0" u="none" sz="1800"/>
              <a:t>Start a new chat when topic focus changes</a:t>
            </a:r>
            <a:endParaRPr sz="1800" b="0" i="0">
              <a:latin typeface="Consolas"/>
            </a:endParaRPr>
          </a:p>
          <a:p>
            <a:pPr>
              <a:buNone/>
            </a:pPr>
            <a:r>
              <a:rPr b="0" i="0" u="none" sz="1800"/>
              <a:t/>
            </a:r>
            <a:endParaRPr sz="1800" b="0" i="0">
              <a:latin typeface="Consolas"/>
            </a:endParaRPr>
          </a:p>
          <a:p>
            <a:pPr>
              <a:buNone/>
            </a:pPr>
            <a:r>
              <a:rPr b="0" i="0" u="none" sz="1800"/>
              <a:t>Success Criteria</a:t>
            </a:r>
            <a:endParaRPr sz="1800" b="0" i="0">
              <a:latin typeface="Consolas"/>
            </a:endParaRPr>
          </a:p>
          <a:p>
            <a:pPr>
              <a:buNone/>
            </a:pPr>
            <a:r>
              <a:rPr b="0" i="0" u="none" sz="1800"/>
              <a:t/>
            </a:r>
            <a:endParaRPr sz="1800" b="0" i="0">
              <a:latin typeface="Consolas"/>
            </a:endParaRPr>
          </a:p>
          <a:p>
            <a:pPr/>
            <a:r>
              <a:rPr b="0" i="0" u="none" sz="1800"/>
              <a:t>You can use all four @ context types</a:t>
            </a:r>
            <a:endParaRPr sz="1800" b="0" i="0">
              <a:latin typeface="Consolas"/>
            </a:endParaRPr>
          </a:p>
          <a:p>
            <a:pPr/>
            <a:r>
              <a:rPr b="0" i="0" u="none" sz="1800"/>
              <a:t>You can identify when to start a fresh chat</a:t>
            </a:r>
            <a:endParaRPr sz="1800" b="0" i="0">
              <a:latin typeface="Consolas"/>
            </a:endParaRPr>
          </a:p>
          <a:p>
            <a:pPr/>
            <a:r>
              <a:rPr b="0" i="0" u="none" sz="1800"/>
              <a:t>You can show quality improvements from specific prompts</a:t>
            </a:r>
            <a:endParaRPr sz="1800" b="0" i="0">
              <a:latin typeface="Consolas"/>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Lab: Chat Management and Workflow</a:t>
            </a:r>
          </a:p>
        </p:txBody>
      </p:sp>
      <p:sp>
        <p:nvSpPr>
          <p:cNvPr id="3" name="Content Placeholder 2"/>
          <p:cNvSpPr>
            <a:spLocks noGrp="1"/>
          </p:cNvSpPr>
          <p:nvPr>
            <p:ph idx="1"/>
          </p:nvPr>
        </p:nvSpPr>
        <p:spPr/>
        <p:txBody>
          <a:bodyPr wrap="square">
            <a:normAutofit/>
          </a:bodyPr>
          <a:lstStyle/>
          <a:p>
            <a:pPr>
              <a:buNone/>
            </a:pPr>
            <a:r>
              <a:rPr b="0" i="0" u="none" sz="2400"/>
              <a:t>Objectives</a:t>
            </a:r>
            <a:endParaRPr sz="2400" b="0" i="0">
              <a:latin typeface="Arial"/>
            </a:endParaRPr>
          </a:p>
          <a:p>
            <a:pPr>
              <a:buNone/>
            </a:pPr>
            <a:r>
              <a:rPr b="0" i="0" u="none" sz="2400"/>
              <a:t/>
            </a:r>
            <a:endParaRPr sz="2400" b="0" i="0">
              <a:latin typeface="Arial"/>
            </a:endParaRPr>
          </a:p>
          <a:p>
            <a:pPr/>
            <a:r>
              <a:rPr b="0" i="0" u="none" sz="2400"/>
              <a:t>Organize chat sessions effectively</a:t>
            </a:r>
            <a:endParaRPr sz="2400" b="0" i="0">
              <a:latin typeface="Arial"/>
            </a:endParaRPr>
          </a:p>
          <a:p>
            <a:pPr/>
            <a:r>
              <a:rPr b="0" i="0" u="none" sz="2400"/>
              <a:t>Use chat history as a working reference</a:t>
            </a:r>
            <a:endParaRPr sz="2400" b="0" i="0">
              <a:latin typeface="Arial"/>
            </a:endParaRPr>
          </a:p>
          <a:p>
            <a:pPr/>
            <a:r>
              <a:rPr b="0" i="0" u="none" sz="2400"/>
              <a:t>Develop efficient workflow patterns with main and quick chat</a:t>
            </a:r>
            <a:endParaRPr sz="2400" b="0" i="0">
              <a:latin typeface="Arial"/>
            </a:endParaRPr>
          </a:p>
          <a:p>
            <a:pPr>
              <a:buNone/>
            </a:pPr>
            <a:r>
              <a:rPr b="0" i="0" u="none" sz="2400"/>
              <a:t/>
            </a:r>
            <a:endParaRPr sz="2400" b="0" i="0">
              <a:latin typeface="Arial"/>
            </a:endParaRPr>
          </a:p>
          <a:p>
            <a:pPr>
              <a:buNone/>
            </a:pPr>
            <a:r>
              <a:rPr b="0" i="0" u="none" sz="2400"/>
              <a:t>Activities</a:t>
            </a:r>
            <a:endParaRPr sz="2400" b="0" i="0">
              <a:latin typeface="Arial"/>
            </a:endParaRPr>
          </a:p>
          <a:p>
            <a:pPr>
              <a:buNone/>
            </a:pPr>
            <a:r>
              <a:rPr b="0" i="0" u="none" sz="2400"/>
              <a:t/>
            </a:r>
            <a:endParaRPr sz="2400" b="0" i="0">
              <a:latin typeface="Arial"/>
            </a:endParaRPr>
          </a:p>
          <a:p>
            <a:pPr>
              <a:buNone/>
            </a:pPr>
            <a:r>
              <a:rPr b="0" i="0" u="none" sz="2400"/>
              <a:t>1. Chat organization:</a:t>
            </a:r>
            <a:endParaRPr sz="2400" b="0" i="0">
              <a:latin typeface="Arial"/>
            </a:endParaRPr>
          </a:p>
          <a:p>
            <a:pPr lvl="1"/>
            <a:r>
              <a:rPr b="0" i="0" u="none" sz="2400"/>
              <a:t>Review current chat history</a:t>
            </a:r>
            <a:endParaRPr sz="2400" b="0" i="0">
              <a:latin typeface="Arial"/>
            </a:endParaRPr>
          </a:p>
          <a:p>
            <a:pPr lvl="1"/>
            <a:r>
              <a:rPr b="0" i="0" u="none" sz="2400"/>
              <a:t>Identify conversations that should have been separate</a:t>
            </a:r>
            <a:endParaRPr sz="2400" b="0" i="0">
              <a:latin typeface="Arial"/>
            </a:endParaRPr>
          </a:p>
          <a:p>
            <a:pPr lvl="1"/>
            <a:r>
              <a:rPr b="0" i="0" u="none" sz="2400"/>
              <a:t>Practice starting new chats at natural topic boundaries</a:t>
            </a:r>
            <a:endParaRPr sz="2400" b="0" i="0">
              <a:latin typeface="Arial"/>
            </a:endParaRPr>
          </a:p>
          <a:p>
            <a:pPr>
              <a:buNone/>
            </a:pPr>
            <a:r>
              <a:rPr b="0" i="0" u="none" sz="2400"/>
              <a:t>2. Context preservation:</a:t>
            </a:r>
            <a:endParaRPr sz="2400" b="0" i="0">
              <a:latin typeface="Arial"/>
            </a:endParaRPr>
          </a:p>
          <a:p>
            <a:pPr lvl="1"/>
            <a:r>
              <a:rPr b="0" i="0" u="none" sz="2400"/>
              <a:t>Run one focused feature chat</a:t>
            </a:r>
            <a:endParaRPr sz="2400" b="0" i="0">
              <a:latin typeface="Arial"/>
            </a:endParaRPr>
          </a:p>
          <a:p>
            <a:pPr lvl="1"/>
            <a:r>
              <a:rPr b="0" i="0" u="none" sz="2400"/>
              <a:t>Add only relevant context files</a:t>
            </a:r>
            <a:endParaRPr sz="2400" b="0" i="0">
              <a:latin typeface="Arial"/>
            </a:endParaRPr>
          </a:p>
          <a:p>
            <a:pPr lvl="1"/>
            <a:r>
              <a:rPr b="0" i="0" u="none" sz="2400"/>
              <a:t>Complete work without context overflow</a:t>
            </a:r>
            <a:endParaRPr sz="2400" b="0" i="0">
              <a:latin typeface="Arial"/>
            </a:endParaRPr>
          </a:p>
          <a:p>
            <a:pPr>
              <a:buNone/>
            </a:pPr>
            <a:r>
              <a:rPr b="0" i="0" u="none" sz="2400"/>
              <a:t>3. Quick chat practice:</a:t>
            </a:r>
            <a:endParaRPr sz="2400" b="0" i="0">
              <a:latin typeface="Arial"/>
            </a:endParaRPr>
          </a:p>
          <a:p>
            <a:pPr lvl="1"/>
            <a:r>
              <a:rPr b="0" i="0" u="none" sz="2400"/>
              <a:t>Keep main chat for primary task flow</a:t>
            </a:r>
            <a:endParaRPr sz="2400" b="0" i="0">
              <a:latin typeface="Arial"/>
            </a:endParaRPr>
          </a:p>
          <a:p>
            <a:pPr lvl="1"/>
            <a:r>
              <a:rPr b="0" i="0" u="none" sz="2400"/>
              <a:t>Use quick chat for side questions</a:t>
            </a:r>
            <a:endParaRPr sz="2400" b="0" i="0">
              <a:latin typeface="Arial"/>
            </a:endParaRPr>
          </a:p>
          <a:p>
            <a:pPr lvl="1"/>
            <a:r>
              <a:rPr b="0" i="0" u="none" sz="2400"/>
              <a:t>Return to main chat with context preserved</a:t>
            </a:r>
            <a:endParaRPr sz="2400" b="0" i="0">
              <a:latin typeface="Arial"/>
            </a:endParaRPr>
          </a:p>
          <a:p>
            <a:pPr>
              <a:buNone/>
            </a:pPr>
            <a:r>
              <a:rPr b="0" i="0" u="none" sz="2400"/>
              <a:t>4. Chat history review:</a:t>
            </a:r>
            <a:endParaRPr sz="2400" b="0" i="0">
              <a:latin typeface="Arial"/>
            </a:endParaRPr>
          </a:p>
          <a:p>
            <a:pPr lvl="1"/>
            <a:r>
              <a:rPr b="0" i="0" u="none" sz="2400"/>
              <a:t>Locate previous high-quality solutions</a:t>
            </a:r>
            <a:endParaRPr sz="2400" b="0" i="0">
              <a:latin typeface="Arial"/>
            </a:endParaRPr>
          </a:p>
          <a:p>
            <a:pPr lvl="1"/>
            <a:r>
              <a:rPr b="0" i="0" u="none" sz="2400"/>
              <a:t>Identify prompts that worked well</a:t>
            </a:r>
            <a:endParaRPr sz="2400" b="0" i="0">
              <a:latin typeface="Arial"/>
            </a:endParaRPr>
          </a:p>
          <a:p>
            <a:pPr lvl="1"/>
            <a:r>
              <a:rPr b="0" i="0" u="none" sz="2400"/>
              <a:t>Capture repeatable prompt patterns</a:t>
            </a:r>
            <a:endParaRPr sz="2400" b="0" i="0">
              <a:latin typeface="Arial"/>
            </a:endParaRPr>
          </a:p>
          <a:p>
            <a:pPr>
              <a:buNone/>
            </a:pPr>
            <a:r>
              <a:rPr b="0" i="0" u="none" sz="2400"/>
              <a:t/>
            </a:r>
            <a:endParaRPr sz="2400" b="0" i="0">
              <a:latin typeface="Arial"/>
            </a:endParaRPr>
          </a:p>
          <a:p>
            <a:pPr>
              <a:buNone/>
            </a:pPr>
            <a:r>
              <a:rPr b="0" i="0" u="none" sz="2400"/>
              <a:t>Success Criteria</a:t>
            </a:r>
            <a:endParaRPr sz="2400" b="0" i="0">
              <a:latin typeface="Arial"/>
            </a:endParaRPr>
          </a:p>
          <a:p>
            <a:pPr>
              <a:buNone/>
            </a:pPr>
            <a:r>
              <a:rPr b="0" i="0" u="none" sz="2400"/>
              <a:t/>
            </a:r>
            <a:endParaRPr sz="2400" b="0" i="0">
              <a:latin typeface="Arial"/>
            </a:endParaRPr>
          </a:p>
          <a:p>
            <a:pPr/>
            <a:r>
              <a:rPr b="0" i="0" u="none" sz="2400"/>
              <a:t>Chat history is organized and meaningful</a:t>
            </a:r>
            <a:endParaRPr sz="2400" b="0" i="0">
              <a:latin typeface="Arial"/>
            </a:endParaRPr>
          </a:p>
          <a:p>
            <a:pPr/>
            <a:r>
              <a:rPr b="0" i="0" u="none" sz="2400"/>
              <a:t>You can quickly find and reuse previous solutions</a:t>
            </a:r>
            <a:endParaRPr sz="2400" b="0" i="0">
              <a:latin typeface="Arial"/>
            </a:endParaRPr>
          </a:p>
          <a:p>
            <a:pPr/>
            <a:r>
              <a:rPr b="0" i="0" u="none" sz="2400"/>
              <a:t>You can use multiple chat windows without losing primary context</a:t>
            </a:r>
            <a:endParaRPr sz="2400" b="0" i="0">
              <a:latin typeface="Arial"/>
            </a:endParaRPr>
          </a:p>
          <a:p>
            <a:pPr>
              <a:buNone/>
            </a:pPr>
            <a:r>
              <a:rPr b="0" i="0" u="none" sz="2400"/>
              <a:t/>
            </a:r>
            <a:endParaRPr sz="2400" b="0" i="0">
              <a:latin typeface="Arial"/>
            </a:endParaRPr>
          </a:p>
          <a:p>
            <a:pPr>
              <a:buNone/>
            </a:pPr>
            <a:r>
              <a:rPr b="0" i="0" u="none" sz="2400"/>
              <a:t>Context Window Management</a:t>
            </a:r>
            <a:endParaRPr sz="2400" b="0" i="0">
              <a:latin typeface="Arial"/>
            </a:endParaRPr>
          </a:p>
          <a:p>
            <a:pPr>
              <a:buNone/>
            </a:pPr>
            <a:r>
              <a:rPr b="0" i="0" u="none" sz="2400"/>
              <a:t/>
            </a:r>
            <a:endParaRPr sz="2400" b="0" i="0">
              <a:latin typeface="Arial"/>
            </a:endParaRPr>
          </a:p>
          <a:p>
            <a:pPr/>
            <a:r>
              <a:rPr b="0" i="0" u="none" sz="2400"/>
              <a:t>Context is a limited resource</a:t>
            </a:r>
            <a:endParaRPr sz="2400" b="0" i="0">
              <a:latin typeface="Arial"/>
            </a:endParaRPr>
          </a:p>
          <a:p>
            <a:pPr/>
            <a:r>
              <a:rPr b="0" i="0" u="none" sz="2400"/>
              <a:t>Start a new chat when focus changes</a:t>
            </a:r>
            <a:endParaRPr sz="2400" b="0" i="0">
              <a:latin typeface="Arial"/>
            </a:endParaRPr>
          </a:p>
          <a:p>
            <a:pPr/>
            <a:r>
              <a:rPr b="0" i="0" u="none" sz="2400"/>
              <a:t>Keep conversations targeted and specific</a:t>
            </a:r>
            <a:endParaRPr sz="2400" b="0" i="0">
              <a:latin typeface="Arial"/>
            </a:endParaRPr>
          </a:p>
          <a:p>
            <a:pPr/>
            <a:r>
              <a:rPr b="0" i="0" u="none" sz="2400"/>
              <a:t>If Copilot forgets early details, reset with a fresh chat</a:t>
            </a:r>
            <a:endParaRPr sz="2400" b="0" i="0">
              <a:latin typeface="Arial"/>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Lab: Exploring Copilot Modes</a:t>
            </a:r>
          </a:p>
        </p:txBody>
      </p:sp>
      <p:sp>
        <p:nvSpPr>
          <p:cNvPr id="3" name="Content Placeholder 2"/>
          <p:cNvSpPr>
            <a:spLocks noGrp="1"/>
          </p:cNvSpPr>
          <p:nvPr>
            <p:ph idx="1"/>
          </p:nvPr>
        </p:nvSpPr>
        <p:spPr/>
        <p:txBody>
          <a:bodyPr wrap="square">
            <a:normAutofit/>
          </a:bodyPr>
          <a:lstStyle/>
          <a:p>
            <a:pPr>
              <a:buNone/>
            </a:pPr>
            <a:r>
              <a:rPr b="0" i="0" u="none" sz="2600"/>
              <a:t>Objectives</a:t>
            </a:r>
            <a:endParaRPr sz="2600" b="0" i="0">
              <a:latin typeface="Arial"/>
            </a:endParaRPr>
          </a:p>
          <a:p>
            <a:pPr>
              <a:buNone/>
            </a:pPr>
            <a:r>
              <a:rPr b="0" i="0" u="none" sz="2600"/>
              <a:t/>
            </a:r>
            <a:endParaRPr sz="2600" b="0" i="0">
              <a:latin typeface="Arial"/>
            </a:endParaRPr>
          </a:p>
          <a:p>
            <a:pPr/>
            <a:r>
              <a:rPr b="0" i="0" u="none" sz="2600"/>
              <a:t>Understand differences between Ask, Edit, and Agent modes</a:t>
            </a:r>
            <a:endParaRPr sz="2600" b="0" i="0">
              <a:latin typeface="Arial"/>
            </a:endParaRPr>
          </a:p>
          <a:p>
            <a:pPr/>
            <a:r>
              <a:rPr b="0" i="0" u="none" sz="2600"/>
              <a:t>Know when to use each mode</a:t>
            </a:r>
            <a:endParaRPr sz="2600" b="0" i="0">
              <a:latin typeface="Arial"/>
            </a:endParaRPr>
          </a:p>
          <a:p>
            <a:pPr/>
            <a:r>
              <a:rPr b="0" i="0" u="none" sz="2600"/>
              <a:t>Understand premium token usage implications</a:t>
            </a:r>
            <a:endParaRPr sz="2600" b="0" i="0">
              <a:latin typeface="Arial"/>
            </a:endParaRPr>
          </a:p>
          <a:p>
            <a:pPr>
              <a:buNone/>
            </a:pPr>
            <a:r>
              <a:rPr b="0" i="0" u="none" sz="2600"/>
              <a:t/>
            </a:r>
            <a:endParaRPr sz="2600" b="0" i="0">
              <a:latin typeface="Arial"/>
            </a:endParaRPr>
          </a:p>
          <a:p>
            <a:pPr>
              <a:buNone/>
            </a:pPr>
            <a:r>
              <a:rPr b="0" i="0" u="none" sz="2600"/>
              <a:t>Activities</a:t>
            </a:r>
            <a:endParaRPr sz="2600" b="0" i="0">
              <a:latin typeface="Arial"/>
            </a:endParaRPr>
          </a:p>
          <a:p>
            <a:pPr>
              <a:buNone/>
            </a:pPr>
            <a:r>
              <a:rPr b="0" i="0" u="none" sz="2600"/>
              <a:t/>
            </a:r>
            <a:endParaRPr sz="2600" b="0" i="0">
              <a:latin typeface="Arial"/>
            </a:endParaRPr>
          </a:p>
          <a:p>
            <a:pPr>
              <a:buNone/>
            </a:pPr>
            <a:r>
              <a:rPr b="0" i="0" u="none" sz="2600"/>
              <a:t>1. Ask mode:</a:t>
            </a:r>
            <a:endParaRPr sz="2600" b="0" i="0">
              <a:latin typeface="Arial"/>
            </a:endParaRPr>
          </a:p>
          <a:p>
            <a:pPr lvl="1"/>
            <a:r>
              <a:rPr b="0" i="0" u="none" sz="2600"/>
              <a:t>Ask Copilot to explain a selected code snippet</a:t>
            </a:r>
            <a:endParaRPr sz="2600" b="0" i="0">
              <a:latin typeface="Arial"/>
            </a:endParaRPr>
          </a:p>
          <a:p>
            <a:pPr lvl="1"/>
            <a:r>
              <a:rPr b="0" i="0" u="none" sz="2600"/>
              <a:t>Request multiple implementation approaches</a:t>
            </a:r>
            <a:endParaRPr sz="2600" b="0" i="0">
              <a:latin typeface="Arial"/>
            </a:endParaRPr>
          </a:p>
          <a:p>
            <a:pPr lvl="1"/>
            <a:r>
              <a:rPr b="0" i="0" u="none" sz="2600"/>
              <a:t>Try different models and compare response style</a:t>
            </a:r>
            <a:endParaRPr sz="2600" b="0" i="0">
              <a:latin typeface="Arial"/>
            </a:endParaRPr>
          </a:p>
          <a:p>
            <a:pPr lvl="1"/>
            <a:r>
              <a:rPr b="0" i="0" u="none" sz="2600"/>
              <a:t>Note that Ask mode is best for exploration</a:t>
            </a:r>
            <a:endParaRPr sz="2600" b="0" i="0">
              <a:latin typeface="Arial"/>
            </a:endParaRPr>
          </a:p>
          <a:p>
            <a:pPr>
              <a:buNone/>
            </a:pPr>
            <a:r>
              <a:rPr b="0" i="0" u="none" sz="2600"/>
              <a:t>2. Edit mode:</a:t>
            </a:r>
            <a:endParaRPr sz="2600" b="0" i="0">
              <a:latin typeface="Arial"/>
            </a:endParaRPr>
          </a:p>
          <a:p>
            <a:pPr lvl="1"/>
            <a:r>
              <a:rPr b="0" i="0" u="none" sz="2600"/>
              <a:t>Select existing code and request a refactor</a:t>
            </a:r>
            <a:endParaRPr sz="2600" b="0" i="0">
              <a:latin typeface="Arial"/>
            </a:endParaRPr>
          </a:p>
          <a:p>
            <a:pPr lvl="1"/>
            <a:r>
              <a:rPr b="0" i="0" u="none" sz="2600"/>
              <a:t>Review inline proposed changes</a:t>
            </a:r>
            <a:endParaRPr sz="2600" b="0" i="0">
              <a:latin typeface="Arial"/>
            </a:endParaRPr>
          </a:p>
          <a:p>
            <a:pPr lvl="1"/>
            <a:r>
              <a:rPr b="0" i="0" u="none" sz="2600"/>
              <a:t>Accept or reject updates intentionally</a:t>
            </a:r>
            <a:endParaRPr sz="2600" b="0" i="0">
              <a:latin typeface="Arial"/>
            </a:endParaRPr>
          </a:p>
          <a:p>
            <a:pPr>
              <a:buNone/>
            </a:pPr>
            <a:r>
              <a:rPr b="0" i="0" u="none" sz="2600"/>
              <a:t>3. Agent mode:</a:t>
            </a:r>
            <a:endParaRPr sz="2600" b="0" i="0">
              <a:latin typeface="Arial"/>
            </a:endParaRPr>
          </a:p>
          <a:p>
            <a:pPr lvl="1"/>
            <a:r>
              <a:rPr b="0" i="0" u="none" sz="2600"/>
              <a:t>Create a new file and add starter content</a:t>
            </a:r>
            <a:endParaRPr sz="2600" b="0" i="0">
              <a:latin typeface="Arial"/>
            </a:endParaRPr>
          </a:p>
          <a:p>
            <a:pPr lvl="1"/>
            <a:r>
              <a:rPr b="0" i="0" u="none" sz="2600"/>
              <a:t>Request coordinated changes across multiple files</a:t>
            </a:r>
            <a:endParaRPr sz="2600" b="0" i="0">
              <a:latin typeface="Arial"/>
            </a:endParaRPr>
          </a:p>
          <a:p>
            <a:pPr lvl="1"/>
            <a:r>
              <a:rPr b="0" i="0" u="none" sz="2600"/>
              <a:t>Ask Copilot to run terminal commands</a:t>
            </a:r>
            <a:endParaRPr sz="2600" b="0" i="0">
              <a:latin typeface="Arial"/>
            </a:endParaRPr>
          </a:p>
          <a:p>
            <a:pPr lvl="1"/>
            <a:r>
              <a:rPr b="0" i="0" u="none" sz="2600"/>
              <a:t>Recheck premium token usage after actions</a:t>
            </a:r>
            <a:endParaRPr sz="2600" b="0" i="0">
              <a:latin typeface="Arial"/>
            </a:endParaRPr>
          </a:p>
          <a:p>
            <a:pPr>
              <a:buNone/>
            </a:pPr>
            <a:r>
              <a:rPr b="0" i="0" u="none" sz="2600"/>
              <a:t/>
            </a:r>
            <a:endParaRPr sz="2600" b="0" i="0">
              <a:latin typeface="Arial"/>
            </a:endParaRPr>
          </a:p>
          <a:p>
            <a:pPr>
              <a:buNone/>
            </a:pPr>
            <a:r>
              <a:rPr b="0" i="0" u="none" sz="2600"/>
              <a:t>Success Criteria</a:t>
            </a:r>
            <a:endParaRPr sz="2600" b="0" i="0">
              <a:latin typeface="Arial"/>
            </a:endParaRPr>
          </a:p>
          <a:p>
            <a:pPr>
              <a:buNone/>
            </a:pPr>
            <a:r>
              <a:rPr b="0" i="0" u="none" sz="2600"/>
              <a:t/>
            </a:r>
            <a:endParaRPr sz="2600" b="0" i="0">
              <a:latin typeface="Arial"/>
            </a:endParaRPr>
          </a:p>
          <a:p>
            <a:pPr/>
            <a:r>
              <a:rPr b="0" i="0" u="none" sz="2600"/>
              <a:t>You can choose the right mode for the task</a:t>
            </a:r>
            <a:endParaRPr sz="2600" b="0" i="0">
              <a:latin typeface="Arial"/>
            </a:endParaRPr>
          </a:p>
          <a:p>
            <a:pPr/>
            <a:r>
              <a:rPr b="0" i="0" u="none" sz="2600"/>
              <a:t>You can explain relative token usage tradeoffs</a:t>
            </a:r>
            <a:endParaRPr sz="2600" b="0" i="0">
              <a:latin typeface="Arial"/>
            </a:endParaRPr>
          </a:p>
          <a:p>
            <a:pPr/>
            <a:r>
              <a:rPr b="0" i="0" u="none" sz="2600"/>
              <a:t>You can complete a multi-file action using Agent mode</a:t>
            </a:r>
            <a:endParaRPr sz="2600" b="0" i="0">
              <a:latin typeface="Arial"/>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pPr/>
            <a:r>
              <a:rPr b="0" i="0" u="none"/>
              <a:t>Intro</a:t>
            </a:r>
          </a:p>
          <a:p>
            <a:pPr/>
            <a:r>
              <a:rPr b="0" i="0" u="none"/>
              <a:t>AI Assisted Software Development</a:t>
            </a:r>
          </a:p>
          <a:p>
            <a:pPr/>
            <a:r>
              <a:rPr b="0" i="0" u="none"/>
              <a:t>Intro to Copilot</a:t>
            </a:r>
          </a:p>
          <a:p>
            <a:pPr/>
            <a:r>
              <a:rPr b="1" i="0" u="none"/>
              <a:t>▶ AI Assistance in Action</a:t>
            </a:r>
          </a:p>
          <a:p>
            <a:pPr/>
            <a:r>
              <a:rPr b="0" i="0" u="none"/>
              <a:t>Adding AI Guardrails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One Keyboard, Many Opinions, One Calculator</a:t>
            </a:r>
          </a:p>
        </p:txBody>
      </p:sp>
      <p:sp>
        <p:nvSpPr>
          <p:cNvPr id="3" name="Content Placeholder 2"/>
          <p:cNvSpPr>
            <a:spLocks noGrp="1"/>
          </p:cNvSpPr>
          <p:nvPr>
            <p:ph idx="1"/>
          </p:nvPr>
        </p:nvSpPr>
        <p:spPr/>
        <p:txBody>
          <a:bodyPr wrap="square">
            <a:normAutofit/>
          </a:bodyPr>
          <a:lstStyle/>
          <a:p>
            <a:pPr>
              <a:buNone/>
            </a:pPr>
            <a:r>
              <a:rPr b="0" i="0" u="none" sz="2700"/>
              <a:t>Project Setup</a:t>
            </a:r>
            <a:endParaRPr sz="2700" b="0" i="0">
              <a:latin typeface="Arial"/>
            </a:endParaRPr>
          </a:p>
          <a:p>
            <a:pPr>
              <a:buNone/>
            </a:pPr>
            <a:r>
              <a:rPr b="0" i="0" u="none" sz="2700"/>
              <a:t>Adding Features</a:t>
            </a:r>
            <a:endParaRPr sz="2700" b="0" i="0">
              <a:latin typeface="Arial"/>
            </a:endParaRPr>
          </a:p>
          <a:p>
            <a:pPr>
              <a:buNone/>
            </a:pPr>
            <a:r>
              <a:rPr b="0" i="0" u="none" sz="2700"/>
              <a:t/>
            </a:r>
            <a:endParaRPr sz="2700" b="0" i="0">
              <a:latin typeface="Arial"/>
            </a:endParaRPr>
          </a:p>
          <a:p>
            <a:pPr/>
            <a:r>
              <a:rPr b="0" i="0" u="none" sz="2700"/>
              <a:t>Basic Arithmetic - Addition, subtraction, multiplication, division</a:t>
            </a:r>
            <a:endParaRPr sz="2700" b="0" i="0">
              <a:latin typeface="Arial"/>
            </a:endParaRPr>
          </a:p>
          <a:p>
            <a:pPr/>
            <a:r>
              <a:rPr b="0" i="0" u="none" sz="2700"/>
              <a:t>Clear / Reset Function - Quickly resets the current input or entire calculation</a:t>
            </a:r>
            <a:endParaRPr sz="2700" b="0" i="0">
              <a:latin typeface="Arial"/>
            </a:endParaRPr>
          </a:p>
          <a:p>
            <a:pPr/>
            <a:r>
              <a:rPr b="0" i="0" u="none" sz="2700"/>
              <a:t>Decimal Support - Allows entry and computation with decimal numbers</a:t>
            </a:r>
            <a:endParaRPr sz="2700" b="0" i="0">
              <a:latin typeface="Arial"/>
            </a:endParaRPr>
          </a:p>
          <a:p>
            <a:pPr/>
            <a:r>
              <a:rPr b="0" i="0" u="none" sz="2700"/>
              <a:t>Sign Toggle (+/–) - Switches values between positive and negative</a:t>
            </a:r>
            <a:endParaRPr sz="2700" b="0" i="0">
              <a:latin typeface="Arial"/>
            </a:endParaRPr>
          </a:p>
          <a:p>
            <a:pPr/>
            <a:r>
              <a:rPr b="0" i="0" u="none" sz="2700"/>
              <a:t>Percentage Function - Converts values to percentages for quick calculations</a:t>
            </a:r>
            <a:endParaRPr sz="2700" b="0" i="0">
              <a:latin typeface="Arial"/>
            </a:endParaRPr>
          </a:p>
          <a:p>
            <a:pPr/>
            <a:r>
              <a:rPr b="0" i="0" u="none" sz="2700"/>
              <a:t>Memory Functions (M+, M–, MR, MC) - Store, recall, add to, or clear memory values</a:t>
            </a:r>
            <a:endParaRPr sz="2700" b="0" i="0">
              <a:latin typeface="Arial"/>
            </a:endParaRPr>
          </a:p>
          <a:p>
            <a:pPr/>
            <a:r>
              <a:rPr b="0" i="0" u="none" sz="2700"/>
              <a:t>Error Handling - Displays errors such as division by zero</a:t>
            </a:r>
            <a:endParaRPr sz="2700" b="0" i="0">
              <a:latin typeface="Arial"/>
            </a:endParaRPr>
          </a:p>
          <a:p>
            <a:pPr/>
            <a:r>
              <a:rPr b="0" i="0" u="none" sz="2700"/>
              <a:t>Simple, Intuitive Interface - Numeric keypad, operation buttons, and display screen</a:t>
            </a:r>
            <a:endParaRPr sz="2700" b="0" i="0">
              <a:latin typeface="Arial"/>
            </a:endParaRPr>
          </a:p>
          <a:p>
            <a:pPr>
              <a:buNone/>
            </a:pPr>
            <a:r>
              <a:rPr b="0" i="0" u="none" sz="2700"/>
              <a:t>  Test Automation</a:t>
            </a:r>
            <a:endParaRPr sz="2700" b="0" i="0">
              <a:latin typeface="Arial"/>
            </a:endParaRPr>
          </a:p>
          <a:p>
            <a:pPr/>
            <a:r>
              <a:rPr b="0" i="0" u="none" sz="2700"/>
              <a:t>Code Coverage</a:t>
            </a:r>
            <a:endParaRPr sz="2700" b="0" i="0">
              <a:latin typeface="Arial"/>
            </a:endParaRPr>
          </a:p>
          <a:p>
            <a:pPr>
              <a:buNone/>
            </a:pPr>
            <a:r>
              <a:rPr b="0" i="0" u="none" sz="2700"/>
              <a:t>  Dependency Management</a:t>
            </a:r>
            <a:endParaRPr sz="2700" b="0" i="0">
              <a:latin typeface="Arial"/>
            </a:endParaRPr>
          </a:p>
          <a:p>
            <a:pPr>
              <a:buNone/>
            </a:pPr>
            <a:r>
              <a:rPr b="0" i="0" u="none" sz="2700"/>
              <a:t>  Comparing Implementations</a:t>
            </a:r>
            <a:endParaRPr sz="2700" b="0" i="0">
              <a:latin typeface="Arial"/>
            </a:endParaRPr>
          </a:p>
          <a:p>
            <a:pPr>
              <a:buNone/>
            </a:pPr>
            <a:r>
              <a:rPr b="0" i="0" u="none" sz="2700"/>
              <a:t>  Chat Management</a:t>
            </a:r>
            <a:endParaRPr sz="2700" b="0" i="0">
              <a:latin typeface="Arial"/>
            </a:endParaRPr>
          </a:p>
          <a:p>
            <a:pPr>
              <a:buNone/>
            </a:pPr>
            <a:r>
              <a:rPr b="0" i="0" u="none" sz="2700"/>
              <a:t>  Intro to Evergreen Software Development</a:t>
            </a:r>
            <a:endParaRPr sz="2700" b="0" i="0">
              <a:latin typeface="Arial"/>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The Calculator That Launched a Thousand Prompts</a:t>
            </a:r>
          </a:p>
        </p:txBody>
      </p:sp>
      <p:sp>
        <p:nvSpPr>
          <p:cNvPr id="3" name="Content Placeholder 2"/>
          <p:cNvSpPr>
            <a:spLocks noGrp="1"/>
          </p:cNvSpPr>
          <p:nvPr>
            <p:ph idx="1"/>
          </p:nvPr>
        </p:nvSpPr>
        <p:spPr/>
        <p:txBody>
          <a:bodyPr wrap="square">
            <a:normAutofit/>
          </a:bodyPr>
          <a:lstStyle/>
          <a:p>
            <a:pPr>
              <a:buNone/>
            </a:pPr>
            <a:r>
              <a:rPr b="0" i="0" u="none" sz="2700"/>
              <a:t>Objectives</a:t>
            </a:r>
            <a:endParaRPr sz="2700" b="0" i="0">
              <a:latin typeface="Arial"/>
            </a:endParaRPr>
          </a:p>
          <a:p>
            <a:pPr>
              <a:buNone/>
            </a:pPr>
            <a:r>
              <a:rPr b="0" i="0" u="none" sz="2700"/>
              <a:t/>
            </a:r>
            <a:endParaRPr sz="2700" b="0" i="0">
              <a:latin typeface="Arial"/>
            </a:endParaRPr>
          </a:p>
          <a:p>
            <a:pPr/>
            <a:r>
              <a:rPr b="0" i="0" u="none" sz="2700"/>
              <a:t>Use AI to generate starter code for arithmetic operations</a:t>
            </a:r>
            <a:endParaRPr sz="2700" b="0" i="0">
              <a:latin typeface="Arial"/>
            </a:endParaRPr>
          </a:p>
          <a:p>
            <a:pPr/>
            <a:r>
              <a:rPr b="0" i="0" u="none" sz="2700"/>
              <a:t>Understand how to validate AI-generated logic</a:t>
            </a:r>
            <a:endParaRPr sz="2700" b="0" i="0">
              <a:latin typeface="Arial"/>
            </a:endParaRPr>
          </a:p>
          <a:p>
            <a:pPr/>
            <a:r>
              <a:rPr b="0" i="0" u="none" sz="2700"/>
              <a:t>Integrate addition, subtraction, multiplication, and division functions</a:t>
            </a:r>
            <a:endParaRPr sz="2700" b="0" i="0">
              <a:latin typeface="Arial"/>
            </a:endParaRPr>
          </a:p>
          <a:p>
            <a:pPr>
              <a:buNone/>
            </a:pPr>
            <a:r>
              <a:rPr b="0" i="0" u="none" sz="2700"/>
              <a:t/>
            </a:r>
            <a:endParaRPr sz="2700" b="0" i="0">
              <a:latin typeface="Arial"/>
            </a:endParaRPr>
          </a:p>
          <a:p>
            <a:pPr>
              <a:buNone/>
            </a:pPr>
            <a:r>
              <a:rPr b="0" i="0" u="none" sz="2700"/>
              <a:t>Activities</a:t>
            </a:r>
            <a:endParaRPr sz="2700" b="0" i="0">
              <a:latin typeface="Arial"/>
            </a:endParaRPr>
          </a:p>
          <a:p>
            <a:pPr>
              <a:buNone/>
            </a:pPr>
            <a:r>
              <a:rPr b="0" i="0" u="none" sz="2700"/>
              <a:t/>
            </a:r>
            <a:endParaRPr sz="2700" b="0" i="0">
              <a:latin typeface="Arial"/>
            </a:endParaRPr>
          </a:p>
          <a:p>
            <a:pPr>
              <a:buNone/>
            </a:pPr>
            <a:r>
              <a:rPr b="0" i="0" u="none" sz="2700"/>
              <a:t>1. Project Initialization:</a:t>
            </a:r>
            <a:endParaRPr sz="2700" b="0" i="0">
              <a:latin typeface="Arial"/>
            </a:endParaRPr>
          </a:p>
          <a:p>
            <a:pPr>
              <a:buNone/>
            </a:pPr>
            <a:r>
              <a:rPr b="0" i="0" u="none" sz="2700"/>
              <a:t/>
            </a:r>
            <a:endParaRPr sz="2700" b="0" i="0">
              <a:latin typeface="Arial"/>
            </a:endParaRPr>
          </a:p>
          <a:p>
            <a:pPr/>
            <a:r>
              <a:rPr b="0" i="0" u="none" sz="2700"/>
              <a:t>Prompt AI to create a new project</a:t>
            </a:r>
            <a:endParaRPr sz="2700" b="0" i="0">
              <a:latin typeface="Arial"/>
            </a:endParaRPr>
          </a:p>
          <a:p>
            <a:pPr/>
            <a:r>
              <a:rPr b="0" i="0" u="none" sz="2700"/>
              <a:t>Review generated project structure</a:t>
            </a:r>
            <a:endParaRPr sz="2700" b="0" i="0">
              <a:latin typeface="Arial"/>
            </a:endParaRPr>
          </a:p>
          <a:p>
            <a:pPr/>
            <a:r>
              <a:rPr b="0" i="0" u="none" sz="2700"/>
              <a:t>Verify build configuration</a:t>
            </a:r>
            <a:endParaRPr sz="2700" b="0" i="0">
              <a:latin typeface="Arial"/>
            </a:endParaRPr>
          </a:p>
          <a:p>
            <a:pPr>
              <a:buNone/>
            </a:pPr>
            <a:r>
              <a:rPr b="0" i="0" u="none" sz="2700"/>
              <a:t/>
            </a:r>
            <a:endParaRPr sz="2700" b="0" i="0">
              <a:latin typeface="Arial"/>
            </a:endParaRPr>
          </a:p>
          <a:p>
            <a:pPr>
              <a:buNone/>
            </a:pPr>
            <a:r>
              <a:rPr b="0" i="0" u="none" sz="2700"/>
              <a:t>2. Implement Basic Operations:</a:t>
            </a:r>
            <a:endParaRPr sz="2700" b="0" i="0">
              <a:latin typeface="Arial"/>
            </a:endParaRPr>
          </a:p>
          <a:p>
            <a:pPr>
              <a:buNone/>
            </a:pPr>
            <a:r>
              <a:rPr b="0" i="0" u="none" sz="2700"/>
              <a:t/>
            </a:r>
            <a:endParaRPr sz="2700" b="0" i="0">
              <a:latin typeface="Arial"/>
            </a:endParaRPr>
          </a:p>
          <a:p>
            <a:pPr/>
            <a:r>
              <a:rPr b="0" i="0" u="none" sz="2700"/>
              <a:t>Prompt AI to add methods for addition, subtraction, multiplication, and division</a:t>
            </a:r>
            <a:endParaRPr sz="2700" b="0" i="0">
              <a:latin typeface="Arial"/>
            </a:endParaRPr>
          </a:p>
          <a:p>
            <a:pPr>
              <a:buNone/>
            </a:pPr>
            <a:r>
              <a:rPr b="0" i="0" u="none" sz="2700"/>
              <a:t/>
            </a:r>
            <a:endParaRPr sz="2700" b="0" i="0">
              <a:latin typeface="Arial"/>
            </a:endParaRPr>
          </a:p>
          <a:p>
            <a:pPr>
              <a:buNone/>
            </a:pPr>
            <a:r>
              <a:rPr b="0" i="0" u="none" sz="2700"/>
              <a:t>3. Review the Code:</a:t>
            </a:r>
            <a:endParaRPr sz="2700" b="0" i="0">
              <a:latin typeface="Arial"/>
            </a:endParaRPr>
          </a:p>
          <a:p>
            <a:pPr>
              <a:buNone/>
            </a:pPr>
            <a:r>
              <a:rPr b="0" i="0" u="none" sz="2700"/>
              <a:t/>
            </a:r>
            <a:endParaRPr sz="2700" b="0" i="0">
              <a:latin typeface="Arial"/>
            </a:endParaRPr>
          </a:p>
          <a:p>
            <a:pPr/>
            <a:r>
              <a:rPr b="0" i="0" u="none" sz="2700"/>
              <a:t>Check correctness and edge cases</a:t>
            </a:r>
            <a:endParaRPr sz="2700" b="0" i="0">
              <a:latin typeface="Arial"/>
            </a:endParaRPr>
          </a:p>
          <a:p>
            <a:pPr>
              <a:buNone/>
            </a:pPr>
            <a:r>
              <a:rPr b="0" i="0" u="none" sz="2700"/>
              <a:t/>
            </a:r>
            <a:endParaRPr sz="2700" b="0" i="0">
              <a:latin typeface="Arial"/>
            </a:endParaRPr>
          </a:p>
          <a:p>
            <a:pPr>
              <a:buNone/>
            </a:pPr>
            <a:r>
              <a:rPr b="0" i="0" u="none" sz="2700"/>
              <a:t>4. Build and Run:</a:t>
            </a:r>
            <a:endParaRPr sz="2700" b="0" i="0">
              <a:latin typeface="Arial"/>
            </a:endParaRPr>
          </a:p>
          <a:p>
            <a:pPr>
              <a:buNone/>
            </a:pPr>
            <a:r>
              <a:rPr b="0" i="0" u="none" sz="2700"/>
              <a:t/>
            </a:r>
            <a:endParaRPr sz="2700" b="0" i="0">
              <a:latin typeface="Arial"/>
            </a:endParaRPr>
          </a:p>
          <a:p>
            <a:pPr/>
            <a:r>
              <a:rPr b="0" i="0" u="none" sz="2700"/>
              <a:t>Use Copilot to help with build commands</a:t>
            </a:r>
            <a:endParaRPr sz="2700" b="0" i="0">
              <a:latin typeface="Arial"/>
            </a:endParaRPr>
          </a:p>
          <a:p>
            <a:pPr/>
            <a:r>
              <a:rPr b="0" i="0" u="none" sz="2700"/>
              <a:t>Troubleshoot compilation errors with Copilot</a:t>
            </a:r>
            <a:endParaRPr sz="2700" b="0" i="0">
              <a:latin typeface="Arial"/>
            </a:endParaRPr>
          </a:p>
          <a:p>
            <a:pPr/>
            <a:r>
              <a:rPr b="0" i="0" u="none" sz="2700"/>
              <a:t>Run the application</a:t>
            </a:r>
            <a:endParaRPr sz="2700" b="0" i="0">
              <a:latin typeface="Arial"/>
            </a:endParaRPr>
          </a:p>
          <a:p>
            <a:pPr>
              <a:buNone/>
            </a:pPr>
            <a:r>
              <a:rPr b="0" i="0" u="none" sz="2700"/>
              <a:t/>
            </a:r>
            <a:endParaRPr sz="2700" b="0" i="0">
              <a:latin typeface="Arial"/>
            </a:endParaRPr>
          </a:p>
          <a:p>
            <a:pPr>
              <a:buNone/>
            </a:pPr>
            <a:r>
              <a:rPr b="0" i="0" u="none" sz="2700"/>
              <a:t>Success Criteria</a:t>
            </a:r>
            <a:endParaRPr sz="2700" b="0" i="0">
              <a:latin typeface="Arial"/>
            </a:endParaRPr>
          </a:p>
          <a:p>
            <a:pPr>
              <a:buNone/>
            </a:pPr>
            <a:r>
              <a:rPr b="0" i="0" u="none" sz="2700"/>
              <a:t/>
            </a:r>
            <a:endParaRPr sz="2700" b="0" i="0">
              <a:latin typeface="Arial"/>
            </a:endParaRPr>
          </a:p>
          <a:p>
            <a:pPr/>
            <a:r>
              <a:rPr b="0" i="0" u="none" sz="2700"/>
              <a:t>Working calculator with 4 basic operations</a:t>
            </a:r>
            <a:endParaRPr sz="2700" b="0" i="0">
              <a:latin typeface="Arial"/>
            </a:endParaRPr>
          </a:p>
          <a:p>
            <a:pPr/>
            <a:r>
              <a:rPr b="0" i="0" u="none" sz="2700"/>
              <a:t>Application compiles and runs successfully</a:t>
            </a:r>
            <a:endParaRPr sz="2700" b="0" i="0">
              <a:latin typeface="Arial"/>
            </a:endParaRPr>
          </a:p>
          <a:p>
            <a:pPr/>
            <a:r>
              <a:rPr b="0" i="0" u="none" sz="2700"/>
              <a:t>Generated code is critically reviewed</a:t>
            </a:r>
            <a:endParaRPr sz="2700" b="0" i="0">
              <a:latin typeface="Arial"/>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Calculator Project - Clear / Reset</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
            </a:r>
            <a:endParaRPr sz="2800" b="0" i="0">
              <a:latin typeface="Arial"/>
            </a:endParaRPr>
          </a:p>
          <a:p>
            <a:pPr/>
            <a:r>
              <a:rPr b="0" i="0" u="none" sz="2800"/>
              <a:t>Use AI to scaffold state-management logic</a:t>
            </a:r>
            <a:endParaRPr sz="2800" b="0" i="0">
              <a:latin typeface="Arial"/>
            </a:endParaRPr>
          </a:p>
          <a:p>
            <a:pPr/>
            <a:r>
              <a:rPr b="0" i="0" u="none" sz="2800"/>
              <a:t>Implement CE (clear entry) and C (clear all) behaviors</a:t>
            </a:r>
            <a:endParaRPr sz="2800" b="0" i="0">
              <a:latin typeface="Arial"/>
            </a:endParaRPr>
          </a:p>
          <a:p>
            <a:pPr/>
            <a:r>
              <a:rPr b="0" i="0" u="none" sz="2800"/>
              <a:t>Understand UI state transitions</a:t>
            </a:r>
            <a:endParaRPr sz="2800" b="0" i="0">
              <a:latin typeface="Arial"/>
            </a:endParaRPr>
          </a:p>
          <a:p>
            <a:pPr>
              <a:buNone/>
            </a:pPr>
            <a:r>
              <a:rPr b="0" i="0" u="none" sz="2800"/>
              <a:t/>
            </a:r>
            <a:endParaRPr sz="2800" b="0" i="0">
              <a:latin typeface="Arial"/>
            </a:endParaRPr>
          </a:p>
          <a:p>
            <a:pPr>
              <a:buNone/>
            </a:pPr>
            <a:r>
              <a:rPr b="0" i="0" u="none" sz="2800"/>
              <a:t>Activities</a:t>
            </a:r>
            <a:endParaRPr sz="2800" b="0" i="0">
              <a:latin typeface="Arial"/>
            </a:endParaRPr>
          </a:p>
          <a:p>
            <a:pPr>
              <a:buNone/>
            </a:pPr>
            <a:r>
              <a:rPr b="0" i="0" u="none" sz="2800"/>
              <a:t/>
            </a:r>
            <a:endParaRPr sz="2800" b="0" i="0">
              <a:latin typeface="Arial"/>
            </a:endParaRPr>
          </a:p>
          <a:p>
            <a:pPr>
              <a:buNone/>
            </a:pPr>
            <a:r>
              <a:rPr b="0" i="0" u="none" sz="2800"/>
              <a:t>1. Ask AI to outline the difference between CE and C</a:t>
            </a:r>
            <a:endParaRPr sz="2800" b="0" i="0">
              <a:latin typeface="Arial"/>
            </a:endParaRPr>
          </a:p>
          <a:p>
            <a:pPr>
              <a:buNone/>
            </a:pPr>
            <a:r>
              <a:rPr b="0" i="0" u="none" sz="2800"/>
              <a:t>2. Generate code for clearing current input vs full state</a:t>
            </a:r>
            <a:endParaRPr sz="2800" b="0" i="0">
              <a:latin typeface="Arial"/>
            </a:endParaRPr>
          </a:p>
          <a:p>
            <a:pPr>
              <a:buNone/>
            </a:pPr>
            <a:r>
              <a:rPr b="0" i="0" u="none" sz="2800"/>
              <a:t>3. Integrate logic into calculator state object</a:t>
            </a:r>
            <a:endParaRPr sz="2800" b="0" i="0">
              <a:latin typeface="Arial"/>
            </a:endParaRPr>
          </a:p>
          <a:p>
            <a:pPr>
              <a:buNone/>
            </a:pPr>
            <a:r>
              <a:rPr b="0" i="0" u="none" sz="2800"/>
              <a:t>4. Test transitions with sample input sequences</a:t>
            </a:r>
            <a:endParaRPr sz="2800" b="0" i="0">
              <a:latin typeface="Arial"/>
            </a:endParaRPr>
          </a:p>
          <a:p>
            <a:pPr>
              <a:buNone/>
            </a:pPr>
            <a:r>
              <a:rPr b="0" i="0" u="none" sz="2800"/>
              <a:t/>
            </a:r>
            <a:endParaRPr sz="2800" b="0" i="0">
              <a:latin typeface="Arial"/>
            </a:endParaRPr>
          </a:p>
          <a:p>
            <a:pPr>
              <a:buNone/>
            </a:pPr>
            <a:r>
              <a:rPr b="0" i="0" u="none" sz="2800"/>
              <a:t>Success Criteria</a:t>
            </a:r>
            <a:endParaRPr sz="2800" b="0" i="0">
              <a:latin typeface="Arial"/>
            </a:endParaRPr>
          </a:p>
          <a:p>
            <a:pPr>
              <a:buNone/>
            </a:pPr>
            <a:r>
              <a:rPr b="0" i="0" u="none" sz="2800"/>
              <a:t/>
            </a:r>
            <a:endParaRPr sz="2800" b="0" i="0">
              <a:latin typeface="Arial"/>
            </a:endParaRPr>
          </a:p>
          <a:p>
            <a:pPr/>
            <a:r>
              <a:rPr b="0" i="0" u="none" sz="2800"/>
              <a:t>CE clears only the active entry</a:t>
            </a:r>
            <a:endParaRPr sz="2800" b="0" i="0">
              <a:latin typeface="Arial"/>
            </a:endParaRPr>
          </a:p>
          <a:p>
            <a:pPr/>
            <a:r>
              <a:rPr b="0" i="0" u="none" sz="2800"/>
              <a:t>C resets the entire calculator state</a:t>
            </a:r>
            <a:endParaRPr sz="2800" b="0" i="0">
              <a:latin typeface="Arial"/>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Calculator Project - Decimal Input</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
            </a:r>
            <a:endParaRPr sz="2800" b="0" i="0">
              <a:latin typeface="Arial"/>
            </a:endParaRPr>
          </a:p>
          <a:p>
            <a:pPr/>
            <a:r>
              <a:rPr b="0" i="0" u="none" sz="2800"/>
              <a:t>Use AI to generate input-validation logic</a:t>
            </a:r>
            <a:endParaRPr sz="2800" b="0" i="0">
              <a:latin typeface="Arial"/>
            </a:endParaRPr>
          </a:p>
          <a:p>
            <a:pPr/>
            <a:r>
              <a:rPr b="0" i="0" u="none" sz="2800"/>
              <a:t>Prevent multiple decimal points</a:t>
            </a:r>
            <a:endParaRPr sz="2800" b="0" i="0">
              <a:latin typeface="Arial"/>
            </a:endParaRPr>
          </a:p>
          <a:p>
            <a:pPr/>
            <a:r>
              <a:rPr b="0" i="0" u="none" sz="2800"/>
              <a:t>Ensure decimals flow through arithmetic operations</a:t>
            </a:r>
            <a:endParaRPr sz="2800" b="0" i="0">
              <a:latin typeface="Arial"/>
            </a:endParaRPr>
          </a:p>
          <a:p>
            <a:pPr>
              <a:buNone/>
            </a:pPr>
            <a:r>
              <a:rPr b="0" i="0" u="none" sz="2800"/>
              <a:t/>
            </a:r>
            <a:endParaRPr sz="2800" b="0" i="0">
              <a:latin typeface="Arial"/>
            </a:endParaRPr>
          </a:p>
          <a:p>
            <a:pPr>
              <a:buNone/>
            </a:pPr>
            <a:r>
              <a:rPr b="0" i="0" u="none" sz="2800"/>
              <a:t>Activities</a:t>
            </a:r>
            <a:endParaRPr sz="2800" b="0" i="0">
              <a:latin typeface="Arial"/>
            </a:endParaRPr>
          </a:p>
          <a:p>
            <a:pPr>
              <a:buNone/>
            </a:pPr>
            <a:r>
              <a:rPr b="0" i="0" u="none" sz="2800"/>
              <a:t/>
            </a:r>
            <a:endParaRPr sz="2800" b="0" i="0">
              <a:latin typeface="Arial"/>
            </a:endParaRPr>
          </a:p>
          <a:p>
            <a:pPr>
              <a:buNone/>
            </a:pPr>
            <a:r>
              <a:rPr b="0" i="0" u="none" sz="2800"/>
              <a:t>1. Ask AI for a decimal input strategy</a:t>
            </a:r>
            <a:endParaRPr sz="2800" b="0" i="0">
              <a:latin typeface="Arial"/>
            </a:endParaRPr>
          </a:p>
          <a:p>
            <a:pPr>
              <a:buNone/>
            </a:pPr>
            <a:r>
              <a:rPr b="0" i="0" u="none" sz="2800"/>
              <a:t>2. Generate code to block duplicate decimals in one number</a:t>
            </a:r>
            <a:endParaRPr sz="2800" b="0" i="0">
              <a:latin typeface="Arial"/>
            </a:endParaRPr>
          </a:p>
          <a:p>
            <a:pPr>
              <a:buNone/>
            </a:pPr>
            <a:r>
              <a:rPr b="0" i="0" u="none" sz="2800"/>
              <a:t>3. Integrate decimal support into input parser</a:t>
            </a:r>
            <a:endParaRPr sz="2800" b="0" i="0">
              <a:latin typeface="Arial"/>
            </a:endParaRPr>
          </a:p>
          <a:p>
            <a:pPr>
              <a:buNone/>
            </a:pPr>
            <a:r>
              <a:rPr b="0" i="0" u="none" sz="2800"/>
              <a:t>4. Test decimal operations with AI-generated test cases</a:t>
            </a:r>
            <a:endParaRPr sz="2800" b="0" i="0">
              <a:latin typeface="Arial"/>
            </a:endParaRPr>
          </a:p>
          <a:p>
            <a:pPr>
              <a:buNone/>
            </a:pPr>
            <a:r>
              <a:rPr b="0" i="0" u="none" sz="2800"/>
              <a:t/>
            </a:r>
            <a:endParaRPr sz="2800" b="0" i="0">
              <a:latin typeface="Arial"/>
            </a:endParaRPr>
          </a:p>
          <a:p>
            <a:pPr>
              <a:buNone/>
            </a:pPr>
            <a:r>
              <a:rPr b="0" i="0" u="none" sz="2800"/>
              <a:t>Success Criteria</a:t>
            </a:r>
            <a:endParaRPr sz="2800" b="0" i="0">
              <a:latin typeface="Arial"/>
            </a:endParaRPr>
          </a:p>
          <a:p>
            <a:pPr>
              <a:buNone/>
            </a:pPr>
            <a:r>
              <a:rPr b="0" i="0" u="none" sz="2800"/>
              <a:t/>
            </a:r>
            <a:endParaRPr sz="2800" b="0" i="0">
              <a:latin typeface="Arial"/>
            </a:endParaRPr>
          </a:p>
          <a:p>
            <a:pPr/>
            <a:r>
              <a:rPr b="0" i="0" u="none" sz="2800"/>
              <a:t>Decimal input works without duplication errors</a:t>
            </a:r>
            <a:endParaRPr sz="2800" b="0" i="0">
              <a:latin typeface="Arial"/>
            </a:endParaRPr>
          </a:p>
          <a:p>
            <a:pPr/>
            <a:r>
              <a:rPr b="0" i="0" u="none" sz="2800"/>
              <a:t>Arithmetic with decimals is correct</a:t>
            </a:r>
            <a:endParaRPr sz="2800" b="0" i="0">
              <a:latin typeface="Arial"/>
            </a:endParaRPr>
          </a:p>
          <a:p>
            <a:pPr/>
            <a:r>
              <a:rPr b="0" i="0" u="none" sz="2800"/>
              <a:t>Validation logic is explainable</a:t>
            </a:r>
            <a:endParaRPr sz="2800" b="0" i="0">
              <a:latin typeface="Arial"/>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Calculator Project - Sign Toggle (+/-)</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
            </a:r>
            <a:endParaRPr sz="2800" b="0" i="0">
              <a:latin typeface="Arial"/>
            </a:endParaRPr>
          </a:p>
          <a:p>
            <a:pPr/>
            <a:r>
              <a:rPr b="0" i="0" u="none" sz="2800"/>
              <a:t>Use AI to generate sign-toggle logic</a:t>
            </a:r>
            <a:endParaRPr sz="2800" b="0" i="0">
              <a:latin typeface="Arial"/>
            </a:endParaRPr>
          </a:p>
          <a:p>
            <a:pPr/>
            <a:r>
              <a:rPr b="0" i="0" u="none" sz="2800"/>
              <a:t>Understand effect on active input and stored value</a:t>
            </a:r>
            <a:endParaRPr sz="2800" b="0" i="0">
              <a:latin typeface="Arial"/>
            </a:endParaRPr>
          </a:p>
          <a:p>
            <a:pPr>
              <a:buNone/>
            </a:pPr>
            <a:r>
              <a:rPr b="0" i="0" u="none" sz="2800"/>
              <a:t/>
            </a:r>
            <a:endParaRPr sz="2800" b="0" i="0">
              <a:latin typeface="Arial"/>
            </a:endParaRPr>
          </a:p>
          <a:p>
            <a:pPr>
              <a:buNone/>
            </a:pPr>
            <a:r>
              <a:rPr b="0" i="0" u="none" sz="2800"/>
              <a:t>Activities</a:t>
            </a:r>
            <a:endParaRPr sz="2800" b="0" i="0">
              <a:latin typeface="Arial"/>
            </a:endParaRPr>
          </a:p>
          <a:p>
            <a:pPr>
              <a:buNone/>
            </a:pPr>
            <a:r>
              <a:rPr b="0" i="0" u="none" sz="2800"/>
              <a:t/>
            </a:r>
            <a:endParaRPr sz="2800" b="0" i="0">
              <a:latin typeface="Arial"/>
            </a:endParaRPr>
          </a:p>
          <a:p>
            <a:pPr>
              <a:buNone/>
            </a:pPr>
            <a:r>
              <a:rPr b="0" i="0" u="none" sz="2800"/>
              <a:t>1. Ask AI to generate toggle-sign function for active value</a:t>
            </a:r>
            <a:endParaRPr sz="2800" b="0" i="0">
              <a:latin typeface="Arial"/>
            </a:endParaRPr>
          </a:p>
          <a:p>
            <a:pPr>
              <a:buNone/>
            </a:pPr>
            <a:r>
              <a:rPr b="0" i="0" u="none" sz="2800"/>
              <a:t>2. Integrate into input workflow</a:t>
            </a:r>
            <a:endParaRPr sz="2800" b="0" i="0">
              <a:latin typeface="Arial"/>
            </a:endParaRPr>
          </a:p>
          <a:p>
            <a:pPr>
              <a:buNone/>
            </a:pPr>
            <a:r>
              <a:rPr b="0" i="0" u="none" sz="2800"/>
              <a:t>3. Test before and after digit entry</a:t>
            </a:r>
            <a:endParaRPr sz="2800" b="0" i="0">
              <a:latin typeface="Arial"/>
            </a:endParaRPr>
          </a:p>
          <a:p>
            <a:pPr>
              <a:buNone/>
            </a:pPr>
            <a:r>
              <a:rPr b="0" i="0" u="none" sz="2800"/>
              <a:t/>
            </a:r>
            <a:endParaRPr sz="2800" b="0" i="0">
              <a:latin typeface="Arial"/>
            </a:endParaRPr>
          </a:p>
          <a:p>
            <a:pPr>
              <a:buNone/>
            </a:pPr>
            <a:r>
              <a:rPr b="0" i="0" u="none" sz="2800"/>
              <a:t>Success Criteria</a:t>
            </a:r>
            <a:endParaRPr sz="2800" b="0" i="0">
              <a:latin typeface="Arial"/>
            </a:endParaRPr>
          </a:p>
          <a:p>
            <a:pPr>
              <a:buNone/>
            </a:pPr>
            <a:r>
              <a:rPr b="0" i="0" u="none" sz="2800"/>
              <a:t/>
            </a:r>
            <a:endParaRPr sz="2800" b="0" i="0">
              <a:latin typeface="Arial"/>
            </a:endParaRPr>
          </a:p>
          <a:p>
            <a:pPr/>
            <a:r>
              <a:rPr b="0" i="0" u="none" sz="2800"/>
              <a:t>Sign toggle works for integers and decimals</a:t>
            </a:r>
            <a:endParaRPr sz="2800" b="0" i="0">
              <a:latin typeface="Arial"/>
            </a:endParaRPr>
          </a:p>
          <a:p>
            <a:pPr/>
            <a:r>
              <a:rPr b="0" i="0" u="none" sz="2800"/>
              <a:t>Learner can explain stored vs active value impact</a:t>
            </a:r>
            <a:endParaRPr sz="2800" b="0" i="0">
              <a:latin typeface="Arial"/>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Calculator Project - Percentage</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
            </a:r>
            <a:endParaRPr sz="2800" b="0" i="0">
              <a:latin typeface="Arial"/>
            </a:endParaRPr>
          </a:p>
          <a:p>
            <a:pPr/>
            <a:r>
              <a:rPr b="0" i="0" u="none" sz="2800"/>
              <a:t>Use AI to clarify percentage interpretation rules</a:t>
            </a:r>
            <a:endParaRPr sz="2800" b="0" i="0">
              <a:latin typeface="Arial"/>
            </a:endParaRPr>
          </a:p>
          <a:p>
            <a:pPr/>
            <a:r>
              <a:rPr b="0" i="0" u="none" sz="2800"/>
              <a:t>Implement percentage logic for common patterns</a:t>
            </a:r>
            <a:endParaRPr sz="2800" b="0" i="0">
              <a:latin typeface="Arial"/>
            </a:endParaRPr>
          </a:p>
          <a:p>
            <a:pPr/>
            <a:r>
              <a:rPr b="0" i="0" u="none" sz="2800"/>
              <a:t>Validate behavior with AI-generated examples</a:t>
            </a:r>
            <a:endParaRPr sz="2800" b="0" i="0">
              <a:latin typeface="Arial"/>
            </a:endParaRPr>
          </a:p>
          <a:p>
            <a:pPr>
              <a:buNone/>
            </a:pPr>
            <a:r>
              <a:rPr b="0" i="0" u="none" sz="2800"/>
              <a:t/>
            </a:r>
            <a:endParaRPr sz="2800" b="0" i="0">
              <a:latin typeface="Arial"/>
            </a:endParaRPr>
          </a:p>
          <a:p>
            <a:pPr>
              <a:buNone/>
            </a:pPr>
            <a:r>
              <a:rPr b="0" i="0" u="none" sz="2800"/>
              <a:t>Activities</a:t>
            </a:r>
            <a:endParaRPr sz="2800" b="0" i="0">
              <a:latin typeface="Arial"/>
            </a:endParaRPr>
          </a:p>
          <a:p>
            <a:pPr>
              <a:buNone/>
            </a:pPr>
            <a:r>
              <a:rPr b="0" i="0" u="none" sz="2800"/>
              <a:t/>
            </a:r>
            <a:endParaRPr sz="2800" b="0" i="0">
              <a:latin typeface="Arial"/>
            </a:endParaRPr>
          </a:p>
          <a:p>
            <a:pPr>
              <a:buNone/>
            </a:pPr>
            <a:r>
              <a:rPr b="0" i="0" u="none" sz="2800"/>
              <a:t>1. Ask AI how percentage should behave in a standard calculator</a:t>
            </a:r>
            <a:endParaRPr sz="2800" b="0" i="0">
              <a:latin typeface="Arial"/>
            </a:endParaRPr>
          </a:p>
          <a:p>
            <a:pPr>
              <a:buNone/>
            </a:pPr>
            <a:r>
              <a:rPr b="0" i="0" u="none" sz="2800"/>
              <a:t>2. Generate code for:</a:t>
            </a:r>
            <a:endParaRPr sz="2800" b="0" i="0">
              <a:latin typeface="Arial"/>
            </a:endParaRPr>
          </a:p>
          <a:p>
            <a:pPr>
              <a:buNone/>
            </a:pPr>
            <a:r>
              <a:rPr b="0" i="0" u="none" sz="2800"/>
              <a:t/>
            </a:r>
            <a:endParaRPr sz="2800" b="0" i="0">
              <a:latin typeface="Arial"/>
            </a:endParaRPr>
          </a:p>
          <a:p>
            <a:pPr/>
            <a:r>
              <a:rPr b="0" i="0" u="none" sz="2800"/>
              <a:t>X x Y%</a:t>
            </a:r>
            <a:endParaRPr sz="2800" b="0" i="0">
              <a:latin typeface="Arial"/>
            </a:endParaRPr>
          </a:p>
          <a:p>
            <a:pPr/>
            <a:r>
              <a:rPr b="0" i="0" u="none" sz="2800"/>
              <a:t>Y + X%</a:t>
            </a:r>
            <a:endParaRPr sz="2800" b="0" i="0">
              <a:latin typeface="Arial"/>
            </a:endParaRPr>
          </a:p>
          <a:p>
            <a:pPr/>
            <a:r>
              <a:rPr b="0" i="0" u="none" sz="2800"/>
              <a:t>Y - X%</a:t>
            </a:r>
            <a:endParaRPr sz="2800" b="0" i="0">
              <a:latin typeface="Arial"/>
            </a:endParaRPr>
          </a:p>
          <a:p>
            <a:pPr>
              <a:buNone/>
            </a:pPr>
            <a:r>
              <a:rPr b="0" i="0" u="none" sz="2800"/>
              <a:t/>
            </a:r>
            <a:endParaRPr sz="2800" b="0" i="0">
              <a:latin typeface="Arial"/>
            </a:endParaRPr>
          </a:p>
          <a:p>
            <a:pPr>
              <a:buNone/>
            </a:pPr>
            <a:r>
              <a:rPr b="0" i="0" u="none" sz="2800"/>
              <a:t>3. Test each pattern with AI-generated values</a:t>
            </a:r>
            <a:endParaRPr sz="2800" b="0" i="0">
              <a:latin typeface="Arial"/>
            </a:endParaRPr>
          </a:p>
          <a:p>
            <a:pPr>
              <a:buNone/>
            </a:pPr>
            <a:r>
              <a:rPr b="0" i="0" u="none" sz="2800"/>
              <a:t/>
            </a:r>
            <a:endParaRPr sz="2800" b="0" i="0">
              <a:latin typeface="Arial"/>
            </a:endParaRPr>
          </a:p>
          <a:p>
            <a:pPr>
              <a:buNone/>
            </a:pPr>
            <a:r>
              <a:rPr b="0" i="0" u="none" sz="2800"/>
              <a:t>Success Criteria</a:t>
            </a:r>
            <a:endParaRPr sz="2800" b="0" i="0">
              <a:latin typeface="Arial"/>
            </a:endParaRPr>
          </a:p>
          <a:p>
            <a:pPr>
              <a:buNone/>
            </a:pPr>
            <a:r>
              <a:rPr b="0" i="0" u="none" sz="2800"/>
              <a:t/>
            </a:r>
            <a:endParaRPr sz="2800" b="0" i="0">
              <a:latin typeface="Arial"/>
            </a:endParaRPr>
          </a:p>
          <a:p>
            <a:pPr/>
            <a:r>
              <a:rPr b="0" i="0" u="none" sz="2800"/>
              <a:t>Percentage operations match standard calculator behavior</a:t>
            </a:r>
            <a:endParaRPr sz="2800" b="0" i="0">
              <a:latin typeface="Arial"/>
            </a:endParaRPr>
          </a:p>
          <a:p>
            <a:pPr/>
            <a:r>
              <a:rPr b="0" i="0" u="none" sz="2800"/>
              <a:t>Learner can articulate percentage interpretation rules</a:t>
            </a:r>
            <a:endParaRPr sz="2800" b="0" i="0">
              <a:latin typeface="Arial"/>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Calculator Project - Memory Functions (M+, M-, MR, MC)</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
            </a:r>
            <a:endParaRPr sz="2800" b="0" i="0">
              <a:latin typeface="Arial"/>
            </a:endParaRPr>
          </a:p>
          <a:p>
            <a:pPr/>
            <a:r>
              <a:rPr b="0" i="0" u="none" sz="2800"/>
              <a:t>Use AI to design memory subsystem</a:t>
            </a:r>
            <a:endParaRPr sz="2800" b="0" i="0">
              <a:latin typeface="Arial"/>
            </a:endParaRPr>
          </a:p>
          <a:p>
            <a:pPr/>
            <a:r>
              <a:rPr b="0" i="0" u="none" sz="2800"/>
              <a:t>Implement memory add, subtract, recall, and clear</a:t>
            </a:r>
            <a:endParaRPr sz="2800" b="0" i="0">
              <a:latin typeface="Arial"/>
            </a:endParaRPr>
          </a:p>
          <a:p>
            <a:pPr/>
            <a:r>
              <a:rPr b="0" i="0" u="none" sz="2800"/>
              <a:t>Validate memory across multiple operations</a:t>
            </a:r>
            <a:endParaRPr sz="2800" b="0" i="0">
              <a:latin typeface="Arial"/>
            </a:endParaRPr>
          </a:p>
          <a:p>
            <a:pPr>
              <a:buNone/>
            </a:pPr>
            <a:r>
              <a:rPr b="0" i="0" u="none" sz="2800"/>
              <a:t/>
            </a:r>
            <a:endParaRPr sz="2800" b="0" i="0">
              <a:latin typeface="Arial"/>
            </a:endParaRPr>
          </a:p>
          <a:p>
            <a:pPr>
              <a:buNone/>
            </a:pPr>
            <a:r>
              <a:rPr b="0" i="0" u="none" sz="2800"/>
              <a:t>Activities</a:t>
            </a:r>
            <a:endParaRPr sz="2800" b="0" i="0">
              <a:latin typeface="Arial"/>
            </a:endParaRPr>
          </a:p>
          <a:p>
            <a:pPr>
              <a:buNone/>
            </a:pPr>
            <a:r>
              <a:rPr b="0" i="0" u="none" sz="2800"/>
              <a:t/>
            </a:r>
            <a:endParaRPr sz="2800" b="0" i="0">
              <a:latin typeface="Arial"/>
            </a:endParaRPr>
          </a:p>
          <a:p>
            <a:pPr>
              <a:buNone/>
            </a:pPr>
            <a:r>
              <a:rPr b="0" i="0" u="none" sz="2800"/>
              <a:t>1. Ask AI for memory-state structure</a:t>
            </a:r>
            <a:endParaRPr sz="2800" b="0" i="0">
              <a:latin typeface="Arial"/>
            </a:endParaRPr>
          </a:p>
          <a:p>
            <a:pPr>
              <a:buNone/>
            </a:pPr>
            <a:r>
              <a:rPr b="0" i="0" u="none" sz="2800"/>
              <a:t>2. Generate functions for M+, M-, MR, MC</a:t>
            </a:r>
            <a:endParaRPr sz="2800" b="0" i="0">
              <a:latin typeface="Arial"/>
            </a:endParaRPr>
          </a:p>
          <a:p>
            <a:pPr>
              <a:buNone/>
            </a:pPr>
            <a:r>
              <a:rPr b="0" i="0" u="none" sz="2800"/>
              <a:t>3. Integrate memory operations into calculator flow</a:t>
            </a:r>
            <a:endParaRPr sz="2800" b="0" i="0">
              <a:latin typeface="Arial"/>
            </a:endParaRPr>
          </a:p>
          <a:p>
            <a:pPr>
              <a:buNone/>
            </a:pPr>
            <a:r>
              <a:rPr b="0" i="0" u="none" sz="2800"/>
              <a:t>4. Test memory persistence over sequences</a:t>
            </a:r>
            <a:endParaRPr sz="2800" b="0" i="0">
              <a:latin typeface="Arial"/>
            </a:endParaRPr>
          </a:p>
          <a:p>
            <a:pPr>
              <a:buNone/>
            </a:pPr>
            <a:r>
              <a:rPr b="0" i="0" u="none" sz="2800"/>
              <a:t/>
            </a:r>
            <a:endParaRPr sz="2800" b="0" i="0">
              <a:latin typeface="Arial"/>
            </a:endParaRPr>
          </a:p>
          <a:p>
            <a:pPr>
              <a:buNone/>
            </a:pPr>
            <a:r>
              <a:rPr b="0" i="0" u="none" sz="2800"/>
              <a:t>Success Criteria</a:t>
            </a:r>
            <a:endParaRPr sz="2800" b="0" i="0">
              <a:latin typeface="Arial"/>
            </a:endParaRPr>
          </a:p>
          <a:p>
            <a:pPr>
              <a:buNone/>
            </a:pPr>
            <a:r>
              <a:rPr b="0" i="0" u="none" sz="2800"/>
              <a:t/>
            </a:r>
            <a:endParaRPr sz="2800" b="0" i="0">
              <a:latin typeface="Arial"/>
            </a:endParaRPr>
          </a:p>
          <a:p>
            <a:pPr/>
            <a:r>
              <a:rPr b="0" i="0" u="none" sz="2800"/>
              <a:t>Memory functions behave as expected</a:t>
            </a:r>
            <a:endParaRPr sz="2800" b="0" i="0">
              <a:latin typeface="Arial"/>
            </a:endParaRPr>
          </a:p>
          <a:p>
            <a:pPr/>
            <a:r>
              <a:rPr b="0" i="0" u="none" sz="2800"/>
              <a:t>Learner can explain memory state updates</a:t>
            </a:r>
            <a:endParaRPr sz="2800" b="0" i="0">
              <a:latin typeface="Arial"/>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Calculator Project - Error Handling</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
            </a:r>
            <a:endParaRPr sz="2800" b="0" i="0">
              <a:latin typeface="Arial"/>
            </a:endParaRPr>
          </a:p>
          <a:p>
            <a:pPr/>
            <a:r>
              <a:rPr b="0" i="0" u="none" sz="2800"/>
              <a:t>Use AI to identify common error conditions</a:t>
            </a:r>
            <a:endParaRPr sz="2800" b="0" i="0">
              <a:latin typeface="Arial"/>
            </a:endParaRPr>
          </a:p>
          <a:p>
            <a:pPr/>
            <a:r>
              <a:rPr b="0" i="0" u="none" sz="2800"/>
              <a:t>Implement error messages and recovery logic</a:t>
            </a:r>
            <a:endParaRPr sz="2800" b="0" i="0">
              <a:latin typeface="Arial"/>
            </a:endParaRPr>
          </a:p>
          <a:p>
            <a:pPr/>
            <a:r>
              <a:rPr b="0" i="0" u="none" sz="2800"/>
              <a:t>Ensure graceful reset after errors</a:t>
            </a:r>
            <a:endParaRPr sz="2800" b="0" i="0">
              <a:latin typeface="Arial"/>
            </a:endParaRPr>
          </a:p>
          <a:p>
            <a:pPr>
              <a:buNone/>
            </a:pPr>
            <a:r>
              <a:rPr b="0" i="0" u="none" sz="2800"/>
              <a:t/>
            </a:r>
            <a:endParaRPr sz="2800" b="0" i="0">
              <a:latin typeface="Arial"/>
            </a:endParaRPr>
          </a:p>
          <a:p>
            <a:pPr>
              <a:buNone/>
            </a:pPr>
            <a:r>
              <a:rPr b="0" i="0" u="none" sz="2800"/>
              <a:t>Activities</a:t>
            </a:r>
            <a:endParaRPr sz="2800" b="0" i="0">
              <a:latin typeface="Arial"/>
            </a:endParaRPr>
          </a:p>
          <a:p>
            <a:pPr>
              <a:buNone/>
            </a:pPr>
            <a:r>
              <a:rPr b="0" i="0" u="none" sz="2800"/>
              <a:t/>
            </a:r>
            <a:endParaRPr sz="2800" b="0" i="0">
              <a:latin typeface="Arial"/>
            </a:endParaRPr>
          </a:p>
          <a:p>
            <a:pPr>
              <a:buNone/>
            </a:pPr>
            <a:r>
              <a:rPr b="0" i="0" u="none" sz="2800"/>
              <a:t>1. Ask AI to list calculator errors (for example divide by zero)</a:t>
            </a:r>
            <a:endParaRPr sz="2800" b="0" i="0">
              <a:latin typeface="Arial"/>
            </a:endParaRPr>
          </a:p>
          <a:p>
            <a:pPr>
              <a:buNone/>
            </a:pPr>
            <a:r>
              <a:rPr b="0" i="0" u="none" sz="2800"/>
              <a:t>2. Generate error detection and display logic</a:t>
            </a:r>
            <a:endParaRPr sz="2800" b="0" i="0">
              <a:latin typeface="Arial"/>
            </a:endParaRPr>
          </a:p>
          <a:p>
            <a:pPr>
              <a:buNone/>
            </a:pPr>
            <a:r>
              <a:rPr b="0" i="0" u="none" sz="2800"/>
              <a:t>3. Implement reset path after an error</a:t>
            </a:r>
            <a:endParaRPr sz="2800" b="0" i="0">
              <a:latin typeface="Arial"/>
            </a:endParaRPr>
          </a:p>
          <a:p>
            <a:pPr>
              <a:buNone/>
            </a:pPr>
            <a:r>
              <a:rPr b="0" i="0" u="none" sz="2800"/>
              <a:t>4. Test error scenarios with AI-generated tests</a:t>
            </a:r>
            <a:endParaRPr sz="2800" b="0" i="0">
              <a:latin typeface="Arial"/>
            </a:endParaRPr>
          </a:p>
          <a:p>
            <a:pPr>
              <a:buNone/>
            </a:pPr>
            <a:r>
              <a:rPr b="0" i="0" u="none" sz="2800"/>
              <a:t/>
            </a:r>
            <a:endParaRPr sz="2800" b="0" i="0">
              <a:latin typeface="Arial"/>
            </a:endParaRPr>
          </a:p>
          <a:p>
            <a:pPr>
              <a:buNone/>
            </a:pPr>
            <a:r>
              <a:rPr b="0" i="0" u="none" sz="2800"/>
              <a:t>Success Criteria</a:t>
            </a:r>
            <a:endParaRPr sz="2800" b="0" i="0">
              <a:latin typeface="Arial"/>
            </a:endParaRPr>
          </a:p>
          <a:p>
            <a:pPr>
              <a:buNone/>
            </a:pPr>
            <a:r>
              <a:rPr b="0" i="0" u="none" sz="2800"/>
              <a:t/>
            </a:r>
            <a:endParaRPr sz="2800" b="0" i="0">
              <a:latin typeface="Arial"/>
            </a:endParaRPr>
          </a:p>
          <a:p>
            <a:pPr/>
            <a:r>
              <a:rPr b="0" i="0" u="none" sz="2800"/>
              <a:t>Errors are detected and displayed correctly</a:t>
            </a:r>
            <a:endParaRPr sz="2800" b="0" i="0">
              <a:latin typeface="Arial"/>
            </a:endParaRPr>
          </a:p>
          <a:p>
            <a:pPr/>
            <a:r>
              <a:rPr b="0" i="0" u="none" sz="2800"/>
              <a:t>Calculator recovers cleanly</a:t>
            </a:r>
            <a:endParaRPr sz="2800" b="0" i="0">
              <a:latin typeface="Arial"/>
            </a:endParaRPr>
          </a:p>
          <a:p>
            <a:pPr/>
            <a:r>
              <a:rPr b="0" i="0" u="none" sz="2800"/>
              <a:t>Learner can explain error-handling flow</a:t>
            </a:r>
            <a:endParaRPr sz="2800" b="0" i="0">
              <a:latin typeface="Arial"/>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Calculator Project - Add Trigonometric Functions</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
            </a:r>
            <a:endParaRPr sz="2800" b="0" i="0">
              <a:latin typeface="Arial"/>
            </a:endParaRPr>
          </a:p>
          <a:p>
            <a:pPr/>
            <a:r>
              <a:rPr b="0" i="0" u="none" sz="2800"/>
              <a:t>Integrate trigonometric operations</a:t>
            </a:r>
            <a:endParaRPr sz="2800" b="0" i="0">
              <a:latin typeface="Arial"/>
            </a:endParaRPr>
          </a:p>
          <a:p>
            <a:pPr/>
            <a:r>
              <a:rPr b="0" i="0" u="none" sz="2800"/>
              <a:t>Use AI for math wrappers and parsing logic</a:t>
            </a:r>
            <a:endParaRPr sz="2800" b="0" i="0">
              <a:latin typeface="Arial"/>
            </a:endParaRPr>
          </a:p>
          <a:p>
            <a:pPr/>
            <a:r>
              <a:rPr b="0" i="0" u="none" sz="2800"/>
              <a:t>Handle degrees vs radians correctly</a:t>
            </a:r>
            <a:endParaRPr sz="2800" b="0" i="0">
              <a:latin typeface="Arial"/>
            </a:endParaRPr>
          </a:p>
          <a:p>
            <a:pPr>
              <a:buNone/>
            </a:pPr>
            <a:r>
              <a:rPr b="0" i="0" u="none" sz="2800"/>
              <a:t/>
            </a:r>
            <a:endParaRPr sz="2800" b="0" i="0">
              <a:latin typeface="Arial"/>
            </a:endParaRPr>
          </a:p>
          <a:p>
            <a:pPr>
              <a:buNone/>
            </a:pPr>
            <a:r>
              <a:rPr b="0" i="0" u="none" sz="2800"/>
              <a:t>Activities</a:t>
            </a:r>
            <a:endParaRPr sz="2800" b="0" i="0">
              <a:latin typeface="Arial"/>
            </a:endParaRPr>
          </a:p>
          <a:p>
            <a:pPr>
              <a:buNone/>
            </a:pPr>
            <a:r>
              <a:rPr b="0" i="0" u="none" sz="2800"/>
              <a:t/>
            </a:r>
            <a:endParaRPr sz="2800" b="0" i="0">
              <a:latin typeface="Arial"/>
            </a:endParaRPr>
          </a:p>
          <a:p>
            <a:pPr>
              <a:buNone/>
            </a:pPr>
            <a:r>
              <a:rPr b="0" i="0" u="none" sz="2800"/>
              <a:t>1. Ask AI to generate sin, cos, tan functions using language math library</a:t>
            </a:r>
            <a:endParaRPr sz="2800" b="0" i="0">
              <a:latin typeface="Arial"/>
            </a:endParaRPr>
          </a:p>
          <a:p>
            <a:pPr>
              <a:buNone/>
            </a:pPr>
            <a:r>
              <a:rPr b="0" i="0" u="none" sz="2800"/>
              <a:t>2. Ask AI for degree/radian mode strategy</a:t>
            </a:r>
            <a:endParaRPr sz="2800" b="0" i="0">
              <a:latin typeface="Arial"/>
            </a:endParaRPr>
          </a:p>
          <a:p>
            <a:pPr>
              <a:buNone/>
            </a:pPr>
            <a:r>
              <a:rPr b="0" i="0" u="none" sz="2800"/>
              <a:t>3. Implement UI bindings or command triggers</a:t>
            </a:r>
            <a:endParaRPr sz="2800" b="0" i="0">
              <a:latin typeface="Arial"/>
            </a:endParaRPr>
          </a:p>
          <a:p>
            <a:pPr>
              <a:buNone/>
            </a:pPr>
            <a:r>
              <a:rPr b="0" i="0" u="none" sz="2800"/>
              <a:t>4. Generate sample input/output table with AI and validate</a:t>
            </a:r>
            <a:endParaRPr sz="2800" b="0" i="0">
              <a:latin typeface="Arial"/>
            </a:endParaRPr>
          </a:p>
          <a:p>
            <a:pPr>
              <a:buNone/>
            </a:pPr>
            <a:r>
              <a:rPr b="0" i="0" u="none" sz="2800"/>
              <a:t/>
            </a:r>
            <a:endParaRPr sz="2800" b="0" i="0">
              <a:latin typeface="Arial"/>
            </a:endParaRPr>
          </a:p>
          <a:p>
            <a:pPr>
              <a:buNone/>
            </a:pPr>
            <a:r>
              <a:rPr b="0" i="0" u="none" sz="2800"/>
              <a:t>Success Criteria</a:t>
            </a:r>
            <a:endParaRPr sz="2800" b="0" i="0">
              <a:latin typeface="Arial"/>
            </a:endParaRPr>
          </a:p>
          <a:p>
            <a:pPr>
              <a:buNone/>
            </a:pPr>
            <a:r>
              <a:rPr b="0" i="0" u="none" sz="2800"/>
              <a:t/>
            </a:r>
            <a:endParaRPr sz="2800" b="0" i="0">
              <a:latin typeface="Arial"/>
            </a:endParaRPr>
          </a:p>
          <a:p>
            <a:pPr/>
            <a:r>
              <a:rPr b="0" i="0" u="none" sz="2800"/>
              <a:t>Trig results are correct for selected angle mode</a:t>
            </a:r>
            <a:endParaRPr sz="2800" b="0" i="0">
              <a:latin typeface="Arial"/>
            </a:endParaRPr>
          </a:p>
          <a:p>
            <a:pPr/>
            <a:r>
              <a:rPr b="0" i="0" u="none" sz="2800"/>
              <a:t>Degree/radian switching works consistently</a:t>
            </a:r>
            <a:endParaRPr sz="2800" b="0" i="0">
              <a:latin typeface="Arial"/>
            </a:endParaRPr>
          </a:p>
          <a:p>
            <a:pPr/>
            <a:r>
              <a:rPr b="0" i="0" u="none" sz="2800"/>
              <a:t>UI or commands correctly call trig functions</a:t>
            </a:r>
            <a:endParaRPr sz="2800" b="0" i="0">
              <a:latin typeface="Arial"/>
            </a:endParaRPr>
          </a:p>
          <a:p>
            <a:pPr/>
            <a:r>
              <a:rPr b="0" i="0" u="none" sz="2800"/>
              <a:t>Learner can explain validation and refinement steps</a:t>
            </a:r>
            <a:endParaRPr sz="2800" b="0" i="0">
              <a:latin typeface="Arial"/>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Calculator Project - UI</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
            </a:r>
            <a:endParaRPr sz="2800" b="0" i="0">
              <a:latin typeface="Arial"/>
            </a:endParaRPr>
          </a:p>
          <a:p>
            <a:pPr/>
            <a:r>
              <a:rPr b="0" i="0" u="none" sz="2800"/>
              <a:t>Use AI to scaffold UI event handlers</a:t>
            </a:r>
            <a:endParaRPr sz="2800" b="0" i="0">
              <a:latin typeface="Arial"/>
            </a:endParaRPr>
          </a:p>
          <a:p>
            <a:pPr/>
            <a:r>
              <a:rPr b="0" i="0" u="none" sz="2800"/>
              <a:t>Connect UI controls to logic functions</a:t>
            </a:r>
            <a:endParaRPr sz="2800" b="0" i="0">
              <a:latin typeface="Arial"/>
            </a:endParaRPr>
          </a:p>
          <a:p>
            <a:pPr/>
            <a:r>
              <a:rPr b="0" i="0" u="none" sz="2800"/>
              <a:t>Validate end-to-end workflow</a:t>
            </a:r>
            <a:endParaRPr sz="2800" b="0" i="0">
              <a:latin typeface="Arial"/>
            </a:endParaRPr>
          </a:p>
          <a:p>
            <a:pPr>
              <a:buNone/>
            </a:pPr>
            <a:r>
              <a:rPr b="0" i="0" u="none" sz="2800"/>
              <a:t/>
            </a:r>
            <a:endParaRPr sz="2800" b="0" i="0">
              <a:latin typeface="Arial"/>
            </a:endParaRPr>
          </a:p>
          <a:p>
            <a:pPr>
              <a:buNone/>
            </a:pPr>
            <a:r>
              <a:rPr b="0" i="0" u="none" sz="2800"/>
              <a:t>Activities</a:t>
            </a:r>
            <a:endParaRPr sz="2800" b="0" i="0">
              <a:latin typeface="Arial"/>
            </a:endParaRPr>
          </a:p>
          <a:p>
            <a:pPr>
              <a:buNone/>
            </a:pPr>
            <a:r>
              <a:rPr b="0" i="0" u="none" sz="2800"/>
              <a:t/>
            </a:r>
            <a:endParaRPr sz="2800" b="0" i="0">
              <a:latin typeface="Arial"/>
            </a:endParaRPr>
          </a:p>
          <a:p>
            <a:pPr>
              <a:buNone/>
            </a:pPr>
            <a:r>
              <a:rPr b="0" i="0" u="none" sz="2800"/>
              <a:t>1. Ask AI to generate event-binding code for numeric/operator controls</a:t>
            </a:r>
            <a:endParaRPr sz="2800" b="0" i="0">
              <a:latin typeface="Arial"/>
            </a:endParaRPr>
          </a:p>
          <a:p>
            <a:pPr>
              <a:buNone/>
            </a:pPr>
            <a:r>
              <a:rPr b="0" i="0" u="none" sz="2800"/>
              <a:t>2. Integrate logic functions from prior exercises</a:t>
            </a:r>
            <a:endParaRPr sz="2800" b="0" i="0">
              <a:latin typeface="Arial"/>
            </a:endParaRPr>
          </a:p>
          <a:p>
            <a:pPr>
              <a:buNone/>
            </a:pPr>
            <a:r>
              <a:rPr b="0" i="0" u="none" sz="2800"/>
              <a:t>3. Test full workflow:</a:t>
            </a:r>
            <a:endParaRPr sz="2800" b="0" i="0">
              <a:latin typeface="Arial"/>
            </a:endParaRPr>
          </a:p>
          <a:p>
            <a:pPr>
              <a:buNone/>
            </a:pPr>
            <a:r>
              <a:rPr b="0" i="0" u="none" sz="2800"/>
              <a:t/>
            </a:r>
            <a:endParaRPr sz="2800" b="0" i="0">
              <a:latin typeface="Arial"/>
            </a:endParaRPr>
          </a:p>
          <a:p>
            <a:pPr/>
            <a:r>
              <a:rPr b="0" i="0" u="none" sz="2800"/>
              <a:t>Enter decimal</a:t>
            </a:r>
            <a:endParaRPr sz="2800" b="0" i="0">
              <a:latin typeface="Arial"/>
            </a:endParaRPr>
          </a:p>
          <a:p>
            <a:pPr/>
            <a:r>
              <a:rPr b="0" i="0" u="none" sz="2800"/>
              <a:t>Toggle sign</a:t>
            </a:r>
            <a:endParaRPr sz="2800" b="0" i="0">
              <a:latin typeface="Arial"/>
            </a:endParaRPr>
          </a:p>
          <a:p>
            <a:pPr/>
            <a:r>
              <a:rPr b="0" i="0" u="none" sz="2800"/>
              <a:t>Apply percentage</a:t>
            </a:r>
            <a:endParaRPr sz="2800" b="0" i="0">
              <a:latin typeface="Arial"/>
            </a:endParaRPr>
          </a:p>
          <a:p>
            <a:pPr/>
            <a:r>
              <a:rPr b="0" i="0" u="none" sz="2800"/>
              <a:t>Store result in memory</a:t>
            </a:r>
            <a:endParaRPr sz="2800" b="0" i="0">
              <a:latin typeface="Arial"/>
            </a:endParaRPr>
          </a:p>
          <a:p>
            <a:pPr>
              <a:buNone/>
            </a:pPr>
            <a:r>
              <a:rPr b="0" i="0" u="none" sz="2800"/>
              <a:t/>
            </a:r>
            <a:endParaRPr sz="2800" b="0" i="0">
              <a:latin typeface="Arial"/>
            </a:endParaRPr>
          </a:p>
          <a:p>
            <a:pPr>
              <a:buNone/>
            </a:pPr>
            <a:r>
              <a:rPr b="0" i="0" u="none" sz="2800"/>
              <a:t>Success Criteria</a:t>
            </a:r>
            <a:endParaRPr sz="2800" b="0" i="0">
              <a:latin typeface="Arial"/>
            </a:endParaRPr>
          </a:p>
          <a:p>
            <a:pPr>
              <a:buNone/>
            </a:pPr>
            <a:r>
              <a:rPr b="0" i="0" u="none" sz="2800"/>
              <a:t/>
            </a:r>
            <a:endParaRPr sz="2800" b="0" i="0">
              <a:latin typeface="Arial"/>
            </a:endParaRPr>
          </a:p>
          <a:p>
            <a:pPr/>
            <a:r>
              <a:rPr b="0" i="0" u="none" sz="2800"/>
              <a:t>UI triggers all calculator functions correctly</a:t>
            </a:r>
            <a:endParaRPr sz="2800" b="0" i="0">
              <a:latin typeface="Arial"/>
            </a:endParaRPr>
          </a:p>
          <a:p>
            <a:pPr/>
            <a:r>
              <a:rPr b="0" i="0" u="none" sz="2800"/>
              <a:t>End-to-end workflow completes without errors</a:t>
            </a:r>
            <a:endParaRPr sz="2800" b="0" i="0">
              <a:latin typeface="Arial"/>
            </a:endParaRPr>
          </a:p>
          <a:p>
            <a:pPr/>
            <a:r>
              <a:rPr b="0" i="0" u="none" sz="2800"/>
              <a:t>Learner can explain UI-to-logic mapping</a:t>
            </a:r>
            <a:endParaRPr sz="2800" b="0" i="0">
              <a:latin typeface="Arial"/>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Calculator Project - Testing</a:t>
            </a:r>
          </a:p>
        </p:txBody>
      </p:sp>
      <p:sp>
        <p:nvSpPr>
          <p:cNvPr id="3" name="Content Placeholder 2"/>
          <p:cNvSpPr>
            <a:spLocks noGrp="1"/>
          </p:cNvSpPr>
          <p:nvPr>
            <p:ph idx="1"/>
          </p:nvPr>
        </p:nvSpPr>
        <p:spPr/>
        <p:txBody>
          <a:bodyPr wrap="square">
            <a:normAutofit/>
          </a:bodyPr>
          <a:lstStyle/>
          <a:p>
            <a:pPr>
              <a:buNone/>
            </a:pPr>
            <a:r>
              <a:rPr b="0" i="0" u="none" sz="2700"/>
              <a:t>Objectives</a:t>
            </a:r>
            <a:endParaRPr sz="2700" b="0" i="0">
              <a:latin typeface="Arial"/>
            </a:endParaRPr>
          </a:p>
          <a:p>
            <a:pPr>
              <a:buNone/>
            </a:pPr>
            <a:r>
              <a:rPr b="0" i="0" u="none" sz="2700"/>
              <a:t/>
            </a:r>
            <a:endParaRPr sz="2700" b="0" i="0">
              <a:latin typeface="Arial"/>
            </a:endParaRPr>
          </a:p>
          <a:p>
            <a:pPr/>
            <a:r>
              <a:rPr b="0" i="0" u="none" sz="2700"/>
              <a:t>Generate unit tests with AI assistance</a:t>
            </a:r>
            <a:endParaRPr sz="2700" b="0" i="0">
              <a:latin typeface="Arial"/>
            </a:endParaRPr>
          </a:p>
          <a:p>
            <a:pPr/>
            <a:r>
              <a:rPr b="0" i="0" u="none" sz="2700"/>
              <a:t>Identify quality issues in generated tests</a:t>
            </a:r>
            <a:endParaRPr sz="2700" b="0" i="0">
              <a:latin typeface="Arial"/>
            </a:endParaRPr>
          </a:p>
          <a:p>
            <a:pPr/>
            <a:r>
              <a:rPr b="0" i="0" u="none" sz="2700"/>
              <a:t>Understand why generated tests require review</a:t>
            </a:r>
            <a:endParaRPr sz="2700" b="0" i="0">
              <a:latin typeface="Arial"/>
            </a:endParaRPr>
          </a:p>
          <a:p>
            <a:pPr>
              <a:buNone/>
            </a:pPr>
            <a:r>
              <a:rPr b="0" i="0" u="none" sz="2700"/>
              <a:t/>
            </a:r>
            <a:endParaRPr sz="2700" b="0" i="0">
              <a:latin typeface="Arial"/>
            </a:endParaRPr>
          </a:p>
          <a:p>
            <a:pPr>
              <a:buNone/>
            </a:pPr>
            <a:r>
              <a:rPr b="0" i="0" u="none" sz="2700"/>
              <a:t>Activities</a:t>
            </a:r>
            <a:endParaRPr sz="2700" b="0" i="0">
              <a:latin typeface="Arial"/>
            </a:endParaRPr>
          </a:p>
          <a:p>
            <a:pPr>
              <a:buNone/>
            </a:pPr>
            <a:r>
              <a:rPr b="0" i="0" u="none" sz="2700"/>
              <a:t/>
            </a:r>
            <a:endParaRPr sz="2700" b="0" i="0">
              <a:latin typeface="Arial"/>
            </a:endParaRPr>
          </a:p>
          <a:p>
            <a:pPr>
              <a:buNone/>
            </a:pPr>
            <a:r>
              <a:rPr b="0" i="0" u="none" sz="2700"/>
              <a:t>1. Generate Initial Tests:</a:t>
            </a:r>
            <a:endParaRPr sz="2700" b="0" i="0">
              <a:latin typeface="Arial"/>
            </a:endParaRPr>
          </a:p>
          <a:p>
            <a:pPr>
              <a:buNone/>
            </a:pPr>
            <a:r>
              <a:rPr b="0" i="0" u="none" sz="2700"/>
              <a:t/>
            </a:r>
            <a:endParaRPr sz="2700" b="0" i="0">
              <a:latin typeface="Arial"/>
            </a:endParaRPr>
          </a:p>
          <a:p>
            <a:pPr/>
            <a:r>
              <a:rPr b="0" i="0" u="none" sz="2700"/>
              <a:t>Prompt: "Create unit tests for the calculator operations"</a:t>
            </a:r>
            <a:endParaRPr sz="2700" b="0" i="0">
              <a:latin typeface="Arial"/>
            </a:endParaRPr>
          </a:p>
          <a:p>
            <a:pPr/>
            <a:r>
              <a:rPr b="0" i="0" u="none" sz="2700"/>
              <a:t>Review generated test structure</a:t>
            </a:r>
            <a:endParaRPr sz="2700" b="0" i="0">
              <a:latin typeface="Arial"/>
            </a:endParaRPr>
          </a:p>
          <a:p>
            <a:pPr/>
            <a:r>
              <a:rPr b="0" i="0" u="none" sz="2700"/>
              <a:t>Verify tests call calculator code</a:t>
            </a:r>
            <a:endParaRPr sz="2700" b="0" i="0">
              <a:latin typeface="Arial"/>
            </a:endParaRPr>
          </a:p>
          <a:p>
            <a:pPr>
              <a:buNone/>
            </a:pPr>
            <a:r>
              <a:rPr b="0" i="0" u="none" sz="2700"/>
              <a:t/>
            </a:r>
            <a:endParaRPr sz="2700" b="0" i="0">
              <a:latin typeface="Arial"/>
            </a:endParaRPr>
          </a:p>
          <a:p>
            <a:pPr>
              <a:buNone/>
            </a:pPr>
            <a:r>
              <a:rPr b="0" i="0" u="none" sz="2700"/>
              <a:t>2. Fix Test Issues:</a:t>
            </a:r>
            <a:endParaRPr sz="2700" b="0" i="0">
              <a:latin typeface="Arial"/>
            </a:endParaRPr>
          </a:p>
          <a:p>
            <a:pPr>
              <a:buNone/>
            </a:pPr>
            <a:r>
              <a:rPr b="0" i="0" u="none" sz="2700"/>
              <a:t/>
            </a:r>
            <a:endParaRPr sz="2700" b="0" i="0">
              <a:latin typeface="Arial"/>
            </a:endParaRPr>
          </a:p>
          <a:p>
            <a:pPr/>
            <a:r>
              <a:rPr b="0" i="0" u="none" sz="2700"/>
              <a:t>If tests are trivial (for example 1 + 1 only), identify issue</a:t>
            </a:r>
            <a:endParaRPr sz="2700" b="0" i="0">
              <a:latin typeface="Arial"/>
            </a:endParaRPr>
          </a:p>
          <a:p>
            <a:pPr/>
            <a:r>
              <a:rPr b="0" i="0" u="none" sz="2700"/>
              <a:t>Prompt: "Update tests to call Calculator class methods"</a:t>
            </a:r>
            <a:endParaRPr sz="2700" b="0" i="0">
              <a:latin typeface="Arial"/>
            </a:endParaRPr>
          </a:p>
          <a:p>
            <a:pPr/>
            <a:r>
              <a:rPr b="0" i="0" u="none" sz="2700"/>
              <a:t>Verify improved test quality</a:t>
            </a:r>
            <a:endParaRPr sz="2700" b="0" i="0">
              <a:latin typeface="Arial"/>
            </a:endParaRPr>
          </a:p>
          <a:p>
            <a:pPr>
              <a:buNone/>
            </a:pPr>
            <a:r>
              <a:rPr b="0" i="0" u="none" sz="2700"/>
              <a:t/>
            </a:r>
            <a:endParaRPr sz="2700" b="0" i="0">
              <a:latin typeface="Arial"/>
            </a:endParaRPr>
          </a:p>
          <a:p>
            <a:pPr>
              <a:buNone/>
            </a:pPr>
            <a:r>
              <a:rPr b="0" i="0" u="none" sz="2700"/>
              <a:t>3. Run Tests:</a:t>
            </a:r>
            <a:endParaRPr sz="2700" b="0" i="0">
              <a:latin typeface="Arial"/>
            </a:endParaRPr>
          </a:p>
          <a:p>
            <a:pPr>
              <a:buNone/>
            </a:pPr>
            <a:r>
              <a:rPr b="0" i="0" u="none" sz="2700"/>
              <a:t/>
            </a:r>
            <a:endParaRPr sz="2700" b="0" i="0">
              <a:latin typeface="Arial"/>
            </a:endParaRPr>
          </a:p>
          <a:p>
            <a:pPr/>
            <a:r>
              <a:rPr b="0" i="0" u="none" sz="2700"/>
              <a:t>Execute test suite</a:t>
            </a:r>
            <a:endParaRPr sz="2700" b="0" i="0">
              <a:latin typeface="Arial"/>
            </a:endParaRPr>
          </a:p>
          <a:p>
            <a:pPr/>
            <a:r>
              <a:rPr b="0" i="0" u="none" sz="2700"/>
              <a:t>Review output</a:t>
            </a:r>
            <a:endParaRPr sz="2700" b="0" i="0">
              <a:latin typeface="Arial"/>
            </a:endParaRPr>
          </a:p>
          <a:p>
            <a:pPr/>
            <a:r>
              <a:rPr b="0" i="0" u="none" sz="2700"/>
              <a:t>Debug failing tests with Copilot</a:t>
            </a:r>
            <a:endParaRPr sz="2700" b="0" i="0">
              <a:latin typeface="Arial"/>
            </a:endParaRPr>
          </a:p>
          <a:p>
            <a:pPr>
              <a:buNone/>
            </a:pPr>
            <a:r>
              <a:rPr b="0" i="0" u="none" sz="2700"/>
              <a:t/>
            </a:r>
            <a:endParaRPr sz="2700" b="0" i="0">
              <a:latin typeface="Arial"/>
            </a:endParaRPr>
          </a:p>
          <a:p>
            <a:pPr>
              <a:buNone/>
            </a:pPr>
            <a:r>
              <a:rPr b="0" i="0" u="none" sz="2700"/>
              <a:t>4. Add Edge Cases:</a:t>
            </a:r>
            <a:endParaRPr sz="2700" b="0" i="0">
              <a:latin typeface="Arial"/>
            </a:endParaRPr>
          </a:p>
          <a:p>
            <a:pPr>
              <a:buNone/>
            </a:pPr>
            <a:r>
              <a:rPr b="0" i="0" u="none" sz="2700"/>
              <a:t/>
            </a:r>
            <a:endParaRPr sz="2700" b="0" i="0">
              <a:latin typeface="Arial"/>
            </a:endParaRPr>
          </a:p>
          <a:p>
            <a:pPr/>
            <a:r>
              <a:rPr b="0" i="0" u="none" sz="2700"/>
              <a:t>Prompt: "Add tests for edge cases like division by zero"</a:t>
            </a:r>
            <a:endParaRPr sz="2700" b="0" i="0">
              <a:latin typeface="Arial"/>
            </a:endParaRPr>
          </a:p>
          <a:p>
            <a:pPr/>
            <a:r>
              <a:rPr b="0" i="0" u="none" sz="2700"/>
              <a:t>Verify exception handling tests</a:t>
            </a:r>
            <a:endParaRPr sz="2700" b="0" i="0">
              <a:latin typeface="Arial"/>
            </a:endParaRPr>
          </a:p>
          <a:p>
            <a:pPr>
              <a:buNone/>
            </a:pPr>
            <a:r>
              <a:rPr b="0" i="0" u="none" sz="2700"/>
              <a:t/>
            </a:r>
            <a:endParaRPr sz="2700" b="0" i="0">
              <a:latin typeface="Arial"/>
            </a:endParaRPr>
          </a:p>
          <a:p>
            <a:pPr>
              <a:buNone/>
            </a:pPr>
            <a:r>
              <a:rPr b="0" i="0" u="none" sz="2700"/>
              <a:t>Success Criteria</a:t>
            </a:r>
            <a:endParaRPr sz="2700" b="0" i="0">
              <a:latin typeface="Arial"/>
            </a:endParaRPr>
          </a:p>
          <a:p>
            <a:pPr>
              <a:buNone/>
            </a:pPr>
            <a:r>
              <a:rPr b="0" i="0" u="none" sz="2700"/>
              <a:t/>
            </a:r>
            <a:endParaRPr sz="2700" b="0" i="0">
              <a:latin typeface="Arial"/>
            </a:endParaRPr>
          </a:p>
          <a:p>
            <a:pPr/>
            <a:r>
              <a:rPr b="0" i="0" u="none" sz="2700"/>
              <a:t>Minimum 8 test cases</a:t>
            </a:r>
            <a:endParaRPr sz="2700" b="0" i="0">
              <a:latin typeface="Arial"/>
            </a:endParaRPr>
          </a:p>
          <a:p>
            <a:pPr/>
            <a:r>
              <a:rPr b="0" i="0" u="none" sz="2700"/>
              <a:t>Tests call actual calculator methods</a:t>
            </a:r>
            <a:endParaRPr sz="2700" b="0" i="0">
              <a:latin typeface="Arial"/>
            </a:endParaRPr>
          </a:p>
          <a:p>
            <a:pPr/>
            <a:r>
              <a:rPr b="0" i="0" u="none" sz="2700"/>
              <a:t>Edge cases and error conditions included</a:t>
            </a:r>
            <a:endParaRPr sz="2700" b="0" i="0">
              <a:latin typeface="Arial"/>
            </a:endParaRPr>
          </a:p>
          <a:p>
            <a:pPr/>
            <a:r>
              <a:rPr b="0" i="0" u="none" sz="2700"/>
              <a:t>All tests pass</a:t>
            </a:r>
            <a:endParaRPr sz="2700" b="0" i="0">
              <a:latin typeface="Arial"/>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Code Coverage</a:t>
            </a:r>
          </a:p>
        </p:txBody>
      </p:sp>
      <p:sp>
        <p:nvSpPr>
          <p:cNvPr id="3" name="Content Placeholder 2"/>
          <p:cNvSpPr>
            <a:spLocks noGrp="1"/>
          </p:cNvSpPr>
          <p:nvPr>
            <p:ph idx="1"/>
          </p:nvPr>
        </p:nvSpPr>
        <p:spPr/>
        <p:txBody>
          <a:bodyPr wrap="square">
            <a:normAutofit/>
          </a:bodyPr>
          <a:lstStyle/>
          <a:p>
            <a:pPr>
              <a:buNone/>
            </a:pPr>
            <a:r>
              <a:rPr b="0" i="0" u="none" sz="2700"/>
              <a:t>Objectives</a:t>
            </a:r>
            <a:endParaRPr sz="2700" b="0" i="0">
              <a:latin typeface="Arial"/>
            </a:endParaRPr>
          </a:p>
          <a:p>
            <a:pPr>
              <a:buNone/>
            </a:pPr>
            <a:r>
              <a:rPr b="0" i="0" u="none" sz="2700"/>
              <a:t/>
            </a:r>
            <a:endParaRPr sz="2700" b="0" i="0">
              <a:latin typeface="Arial"/>
            </a:endParaRPr>
          </a:p>
          <a:p>
            <a:pPr/>
            <a:r>
              <a:rPr b="0" i="0" u="none" sz="2700"/>
              <a:t>Set up code coverage reporting</a:t>
            </a:r>
            <a:endParaRPr sz="2700" b="0" i="0">
              <a:latin typeface="Arial"/>
            </a:endParaRPr>
          </a:p>
          <a:p>
            <a:pPr/>
            <a:r>
              <a:rPr b="0" i="0" u="none" sz="2700"/>
              <a:t>Interpret coverage data</a:t>
            </a:r>
            <a:endParaRPr sz="2700" b="0" i="0">
              <a:latin typeface="Arial"/>
            </a:endParaRPr>
          </a:p>
          <a:p>
            <a:pPr/>
            <a:r>
              <a:rPr b="0" i="0" u="none" sz="2700"/>
              <a:t>Improve coverage based on identified gaps</a:t>
            </a:r>
            <a:endParaRPr sz="2700" b="0" i="0">
              <a:latin typeface="Arial"/>
            </a:endParaRPr>
          </a:p>
          <a:p>
            <a:pPr>
              <a:buNone/>
            </a:pPr>
            <a:r>
              <a:rPr b="0" i="0" u="none" sz="2700"/>
              <a:t/>
            </a:r>
            <a:endParaRPr sz="2700" b="0" i="0">
              <a:latin typeface="Arial"/>
            </a:endParaRPr>
          </a:p>
          <a:p>
            <a:pPr>
              <a:buNone/>
            </a:pPr>
            <a:r>
              <a:rPr b="0" i="0" u="none" sz="2700"/>
              <a:t>Activities</a:t>
            </a:r>
            <a:endParaRPr sz="2700" b="0" i="0">
              <a:latin typeface="Arial"/>
            </a:endParaRPr>
          </a:p>
          <a:p>
            <a:pPr>
              <a:buNone/>
            </a:pPr>
            <a:r>
              <a:rPr b="0" i="0" u="none" sz="2700"/>
              <a:t/>
            </a:r>
            <a:endParaRPr sz="2700" b="0" i="0">
              <a:latin typeface="Arial"/>
            </a:endParaRPr>
          </a:p>
          <a:p>
            <a:pPr>
              <a:buNone/>
            </a:pPr>
            <a:r>
              <a:rPr b="0" i="0" u="none" sz="2700"/>
              <a:t>1. Enable Coverage Collection:</a:t>
            </a:r>
            <a:endParaRPr sz="2700" b="0" i="0">
              <a:latin typeface="Arial"/>
            </a:endParaRPr>
          </a:p>
          <a:p>
            <a:pPr>
              <a:buNone/>
            </a:pPr>
            <a:r>
              <a:rPr b="0" i="0" u="none" sz="2700"/>
              <a:t/>
            </a:r>
            <a:endParaRPr sz="2700" b="0" i="0">
              <a:latin typeface="Arial"/>
            </a:endParaRPr>
          </a:p>
          <a:p>
            <a:pPr/>
            <a:r>
              <a:rPr b="0" i="0" u="none" sz="2700"/>
              <a:t>Prompt: "Add code coverage reporting to my test project"</a:t>
            </a:r>
            <a:endParaRPr sz="2700" b="0" i="0">
              <a:latin typeface="Arial"/>
            </a:endParaRPr>
          </a:p>
          <a:p>
            <a:pPr/>
            <a:r>
              <a:rPr b="0" i="0" u="none" sz="2700"/>
              <a:t>Review dependencies added</a:t>
            </a:r>
            <a:endParaRPr sz="2700" b="0" i="0">
              <a:latin typeface="Arial"/>
            </a:endParaRPr>
          </a:p>
          <a:p>
            <a:pPr/>
            <a:r>
              <a:rPr b="0" i="0" u="none" sz="2700"/>
              <a:t>Resolve NuGet/dependency issues with Copilot</a:t>
            </a:r>
            <a:endParaRPr sz="2700" b="0" i="0">
              <a:latin typeface="Arial"/>
            </a:endParaRPr>
          </a:p>
          <a:p>
            <a:pPr>
              <a:buNone/>
            </a:pPr>
            <a:r>
              <a:rPr b="0" i="0" u="none" sz="2700"/>
              <a:t/>
            </a:r>
            <a:endParaRPr sz="2700" b="0" i="0">
              <a:latin typeface="Arial"/>
            </a:endParaRPr>
          </a:p>
          <a:p>
            <a:pPr>
              <a:buNone/>
            </a:pPr>
            <a:r>
              <a:rPr b="0" i="0" u="none" sz="2700"/>
              <a:t>2. Generate Coverage Report:</a:t>
            </a:r>
            <a:endParaRPr sz="2700" b="0" i="0">
              <a:latin typeface="Arial"/>
            </a:endParaRPr>
          </a:p>
          <a:p>
            <a:pPr>
              <a:buNone/>
            </a:pPr>
            <a:r>
              <a:rPr b="0" i="0" u="none" sz="2700"/>
              <a:t/>
            </a:r>
            <a:endParaRPr sz="2700" b="0" i="0">
              <a:latin typeface="Arial"/>
            </a:endParaRPr>
          </a:p>
          <a:p>
            <a:pPr/>
            <a:r>
              <a:rPr b="0" i="0" u="none" sz="2700"/>
              <a:t>Run tests with coverage</a:t>
            </a:r>
            <a:endParaRPr sz="2700" b="0" i="0">
              <a:latin typeface="Arial"/>
            </a:endParaRPr>
          </a:p>
          <a:p>
            <a:pPr/>
            <a:r>
              <a:rPr b="0" i="0" u="none" sz="2700"/>
              <a:t>Review percentage</a:t>
            </a:r>
            <a:endParaRPr sz="2700" b="0" i="0">
              <a:latin typeface="Arial"/>
            </a:endParaRPr>
          </a:p>
          <a:p>
            <a:pPr/>
            <a:r>
              <a:rPr b="0" i="0" u="none" sz="2700"/>
              <a:t>Identify uncovered paths</a:t>
            </a:r>
            <a:endParaRPr sz="2700" b="0" i="0">
              <a:latin typeface="Arial"/>
            </a:endParaRPr>
          </a:p>
          <a:p>
            <a:pPr>
              <a:buNone/>
            </a:pPr>
            <a:r>
              <a:rPr b="0" i="0" u="none" sz="2700"/>
              <a:t/>
            </a:r>
            <a:endParaRPr sz="2700" b="0" i="0">
              <a:latin typeface="Arial"/>
            </a:endParaRPr>
          </a:p>
          <a:p>
            <a:pPr>
              <a:buNone/>
            </a:pPr>
            <a:r>
              <a:rPr b="0" i="0" u="none" sz="2700"/>
              <a:t>3. Improve Coverage:</a:t>
            </a:r>
            <a:endParaRPr sz="2700" b="0" i="0">
              <a:latin typeface="Arial"/>
            </a:endParaRPr>
          </a:p>
          <a:p>
            <a:pPr>
              <a:buNone/>
            </a:pPr>
            <a:r>
              <a:rPr b="0" i="0" u="none" sz="2700"/>
              <a:t/>
            </a:r>
            <a:endParaRPr sz="2700" b="0" i="0">
              <a:latin typeface="Arial"/>
            </a:endParaRPr>
          </a:p>
          <a:p>
            <a:pPr/>
            <a:r>
              <a:rPr b="0" i="0" u="none" sz="2700"/>
              <a:t>Add tests for uncovered methods</a:t>
            </a:r>
            <a:endParaRPr sz="2700" b="0" i="0">
              <a:latin typeface="Arial"/>
            </a:endParaRPr>
          </a:p>
          <a:p>
            <a:pPr/>
            <a:r>
              <a:rPr b="0" i="0" u="none" sz="2700"/>
              <a:t>Re-run coverage and verify improvement</a:t>
            </a:r>
            <a:endParaRPr sz="2700" b="0" i="0">
              <a:latin typeface="Arial"/>
            </a:endParaRPr>
          </a:p>
          <a:p>
            <a:pPr/>
            <a:r>
              <a:rPr b="0" i="0" u="none" sz="2700"/>
              <a:t>Discuss if 100% coverage is necessary</a:t>
            </a:r>
            <a:endParaRPr sz="2700" b="0" i="0">
              <a:latin typeface="Arial"/>
            </a:endParaRPr>
          </a:p>
          <a:p>
            <a:pPr>
              <a:buNone/>
            </a:pPr>
            <a:r>
              <a:rPr b="0" i="0" u="none" sz="2700"/>
              <a:t/>
            </a:r>
            <a:endParaRPr sz="2700" b="0" i="0">
              <a:latin typeface="Arial"/>
            </a:endParaRPr>
          </a:p>
          <a:p>
            <a:pPr>
              <a:buNone/>
            </a:pPr>
            <a:r>
              <a:rPr b="0" i="0" u="none" sz="2700"/>
              <a:t>Success Criteria</a:t>
            </a:r>
            <a:endParaRPr sz="2700" b="0" i="0">
              <a:latin typeface="Arial"/>
            </a:endParaRPr>
          </a:p>
          <a:p>
            <a:pPr>
              <a:buNone/>
            </a:pPr>
            <a:r>
              <a:rPr b="0" i="0" u="none" sz="2700"/>
              <a:t/>
            </a:r>
            <a:endParaRPr sz="2700" b="0" i="0">
              <a:latin typeface="Arial"/>
            </a:endParaRPr>
          </a:p>
          <a:p>
            <a:pPr/>
            <a:r>
              <a:rPr b="0" i="0" u="none" sz="2700"/>
              <a:t>Coverage reporting configured successfully</a:t>
            </a:r>
            <a:endParaRPr sz="2700" b="0" i="0">
              <a:latin typeface="Arial"/>
            </a:endParaRPr>
          </a:p>
          <a:p>
            <a:pPr/>
            <a:r>
              <a:rPr b="0" i="0" u="none" sz="2700"/>
              <a:t>Coverage reports can be generated and interpreted</a:t>
            </a:r>
            <a:endParaRPr sz="2700" b="0" i="0">
              <a:latin typeface="Arial"/>
            </a:endParaRPr>
          </a:p>
          <a:p>
            <a:pPr/>
            <a:r>
              <a:rPr b="0" i="0" u="none" sz="2700"/>
              <a:t>Reasonable coverage achieved (&gt;80% line coverage)</a:t>
            </a:r>
            <a:endParaRPr sz="2700" b="0" i="0">
              <a:latin typeface="Arial"/>
            </a:endParaRPr>
          </a:p>
          <a:p>
            <a:pPr/>
            <a:r>
              <a:rPr b="0" i="0" u="none" sz="2700"/>
              <a:t>Learner understands what coverage metrics mean</a:t>
            </a:r>
            <a:endParaRPr sz="2700" b="0" i="0">
              <a:latin typeface="Arial"/>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Dependency Management and Troubleshooting</a:t>
            </a:r>
          </a:p>
        </p:txBody>
      </p:sp>
      <p:sp>
        <p:nvSpPr>
          <p:cNvPr id="3" name="Content Placeholder 2"/>
          <p:cNvSpPr>
            <a:spLocks noGrp="1"/>
          </p:cNvSpPr>
          <p:nvPr>
            <p:ph idx="1"/>
          </p:nvPr>
        </p:nvSpPr>
        <p:spPr/>
        <p:txBody>
          <a:bodyPr wrap="square">
            <a:normAutofit/>
          </a:bodyPr>
          <a:lstStyle/>
          <a:p>
            <a:pPr>
              <a:buNone/>
            </a:pPr>
            <a:r>
              <a:rPr b="0" i="0" u="none" sz="2700"/>
              <a:t>Objectives</a:t>
            </a:r>
            <a:endParaRPr sz="2700" b="0" i="0">
              <a:latin typeface="Arial"/>
            </a:endParaRPr>
          </a:p>
          <a:p>
            <a:pPr>
              <a:buNone/>
            </a:pPr>
            <a:r>
              <a:rPr b="0" i="0" u="none" sz="2700"/>
              <a:t/>
            </a:r>
            <a:endParaRPr sz="2700" b="0" i="0">
              <a:latin typeface="Arial"/>
            </a:endParaRPr>
          </a:p>
          <a:p>
            <a:pPr/>
            <a:r>
              <a:rPr b="0" i="0" u="none" sz="2700"/>
              <a:t>Use Copilot to resolve dependency issues</a:t>
            </a:r>
            <a:endParaRPr sz="2700" b="0" i="0">
              <a:latin typeface="Arial"/>
            </a:endParaRPr>
          </a:p>
          <a:p>
            <a:pPr/>
            <a:r>
              <a:rPr b="0" i="0" u="none" sz="2700"/>
              <a:t>Handle package restoration problems</a:t>
            </a:r>
            <a:endParaRPr sz="2700" b="0" i="0">
              <a:latin typeface="Arial"/>
            </a:endParaRPr>
          </a:p>
          <a:p>
            <a:pPr/>
            <a:r>
              <a:rPr b="0" i="0" u="none" sz="2700"/>
              <a:t>Practice iterative AI-assisted troubleshooting</a:t>
            </a:r>
            <a:endParaRPr sz="2700" b="0" i="0">
              <a:latin typeface="Arial"/>
            </a:endParaRPr>
          </a:p>
          <a:p>
            <a:pPr>
              <a:buNone/>
            </a:pPr>
            <a:r>
              <a:rPr b="0" i="0" u="none" sz="2700"/>
              <a:t/>
            </a:r>
            <a:endParaRPr sz="2700" b="0" i="0">
              <a:latin typeface="Arial"/>
            </a:endParaRPr>
          </a:p>
          <a:p>
            <a:pPr>
              <a:buNone/>
            </a:pPr>
            <a:r>
              <a:rPr b="0" i="0" u="none" sz="2700"/>
              <a:t>Activities</a:t>
            </a:r>
            <a:endParaRPr sz="2700" b="0" i="0">
              <a:latin typeface="Arial"/>
            </a:endParaRPr>
          </a:p>
          <a:p>
            <a:pPr>
              <a:buNone/>
            </a:pPr>
            <a:r>
              <a:rPr b="0" i="0" u="none" sz="2700"/>
              <a:t/>
            </a:r>
            <a:endParaRPr sz="2700" b="0" i="0">
              <a:latin typeface="Arial"/>
            </a:endParaRPr>
          </a:p>
          <a:p>
            <a:pPr>
              <a:buNone/>
            </a:pPr>
            <a:r>
              <a:rPr b="0" i="0" u="none" sz="2700"/>
              <a:t>1. Simulate or Identify a Dependency Issue:</a:t>
            </a:r>
            <a:endParaRPr sz="2700" b="0" i="0">
              <a:latin typeface="Arial"/>
            </a:endParaRPr>
          </a:p>
          <a:p>
            <a:pPr>
              <a:buNone/>
            </a:pPr>
            <a:r>
              <a:rPr b="0" i="0" u="none" sz="2700"/>
              <a:t/>
            </a:r>
            <a:endParaRPr sz="2700" b="0" i="0">
              <a:latin typeface="Arial"/>
            </a:endParaRPr>
          </a:p>
          <a:p>
            <a:pPr/>
            <a:r>
              <a:rPr b="0" i="0" u="none" sz="2700"/>
              <a:t>Introduce version conflict or use an existing issue</a:t>
            </a:r>
            <a:endParaRPr sz="2700" b="0" i="0">
              <a:latin typeface="Arial"/>
            </a:endParaRPr>
          </a:p>
          <a:p>
            <a:pPr/>
            <a:r>
              <a:rPr b="0" i="0" u="none" sz="2700"/>
              <a:t>Prompt: "I'm getting [specific error]. How do I fix it?"</a:t>
            </a:r>
            <a:endParaRPr sz="2700" b="0" i="0">
              <a:latin typeface="Arial"/>
            </a:endParaRPr>
          </a:p>
          <a:p>
            <a:pPr>
              <a:buNone/>
            </a:pPr>
            <a:r>
              <a:rPr b="0" i="0" u="none" sz="2700"/>
              <a:t/>
            </a:r>
            <a:endParaRPr sz="2700" b="0" i="0">
              <a:latin typeface="Arial"/>
            </a:endParaRPr>
          </a:p>
          <a:p>
            <a:pPr>
              <a:buNone/>
            </a:pPr>
            <a:r>
              <a:rPr b="0" i="0" u="none" sz="2700"/>
              <a:t>2. Follow Copilot Guidance:</a:t>
            </a:r>
            <a:endParaRPr sz="2700" b="0" i="0">
              <a:latin typeface="Arial"/>
            </a:endParaRPr>
          </a:p>
          <a:p>
            <a:pPr>
              <a:buNone/>
            </a:pPr>
            <a:r>
              <a:rPr b="0" i="0" u="none" sz="2700"/>
              <a:t/>
            </a:r>
            <a:endParaRPr sz="2700" b="0" i="0">
              <a:latin typeface="Arial"/>
            </a:endParaRPr>
          </a:p>
          <a:p>
            <a:pPr/>
            <a:r>
              <a:rPr b="0" i="0" u="none" sz="2700"/>
              <a:t>Review suggested solutions</a:t>
            </a:r>
            <a:endParaRPr sz="2700" b="0" i="0">
              <a:latin typeface="Arial"/>
            </a:endParaRPr>
          </a:p>
          <a:p>
            <a:pPr/>
            <a:r>
              <a:rPr b="0" i="0" u="none" sz="2700"/>
              <a:t>Evaluate alternatives</a:t>
            </a:r>
            <a:endParaRPr sz="2700" b="0" i="0">
              <a:latin typeface="Arial"/>
            </a:endParaRPr>
          </a:p>
          <a:p>
            <a:pPr/>
            <a:r>
              <a:rPr b="0" i="0" u="none" sz="2700"/>
              <a:t>Select best option collaboratively</a:t>
            </a:r>
            <a:endParaRPr sz="2700" b="0" i="0">
              <a:latin typeface="Arial"/>
            </a:endParaRPr>
          </a:p>
          <a:p>
            <a:pPr>
              <a:buNone/>
            </a:pPr>
            <a:r>
              <a:rPr b="0" i="0" u="none" sz="2700"/>
              <a:t/>
            </a:r>
            <a:endParaRPr sz="2700" b="0" i="0">
              <a:latin typeface="Arial"/>
            </a:endParaRPr>
          </a:p>
          <a:p>
            <a:pPr>
              <a:buNone/>
            </a:pPr>
            <a:r>
              <a:rPr b="0" i="0" u="none" sz="2700"/>
              <a:t>3. Iterative Resolution:</a:t>
            </a:r>
            <a:endParaRPr sz="2700" b="0" i="0">
              <a:latin typeface="Arial"/>
            </a:endParaRPr>
          </a:p>
          <a:p>
            <a:pPr>
              <a:buNone/>
            </a:pPr>
            <a:r>
              <a:rPr b="0" i="0" u="none" sz="2700"/>
              <a:t/>
            </a:r>
            <a:endParaRPr sz="2700" b="0" i="0">
              <a:latin typeface="Arial"/>
            </a:endParaRPr>
          </a:p>
          <a:p>
            <a:pPr/>
            <a:r>
              <a:rPr b="0" i="0" u="none" sz="2700"/>
              <a:t>Provide new error details when needed</a:t>
            </a:r>
            <a:endParaRPr sz="2700" b="0" i="0">
              <a:latin typeface="Arial"/>
            </a:endParaRPr>
          </a:p>
          <a:p>
            <a:pPr/>
            <a:r>
              <a:rPr b="0" i="0" u="none" sz="2700"/>
              <a:t>Continue until resolved</a:t>
            </a:r>
            <a:endParaRPr sz="2700" b="0" i="0">
              <a:latin typeface="Arial"/>
            </a:endParaRPr>
          </a:p>
          <a:p>
            <a:pPr>
              <a:buNone/>
            </a:pPr>
            <a:r>
              <a:rPr b="0" i="0" u="none" sz="2700"/>
              <a:t/>
            </a:r>
            <a:endParaRPr sz="2700" b="0" i="0">
              <a:latin typeface="Arial"/>
            </a:endParaRPr>
          </a:p>
          <a:p>
            <a:pPr>
              <a:buNone/>
            </a:pPr>
            <a:r>
              <a:rPr b="0" i="0" u="none" sz="2700"/>
              <a:t>4. Practice common issues:</a:t>
            </a:r>
            <a:endParaRPr sz="2700" b="0" i="0">
              <a:latin typeface="Arial"/>
            </a:endParaRPr>
          </a:p>
          <a:p>
            <a:pPr>
              <a:buNone/>
            </a:pPr>
            <a:r>
              <a:rPr b="0" i="0" u="none" sz="2700"/>
              <a:t/>
            </a:r>
            <a:endParaRPr sz="2700" b="0" i="0">
              <a:latin typeface="Arial"/>
            </a:endParaRPr>
          </a:p>
          <a:p>
            <a:pPr/>
            <a:r>
              <a:rPr b="0" i="0" u="none" sz="2700"/>
              <a:t>NuGet package source configuration</a:t>
            </a:r>
            <a:endParaRPr sz="2700" b="0" i="0">
              <a:latin typeface="Arial"/>
            </a:endParaRPr>
          </a:p>
          <a:p>
            <a:pPr/>
            <a:r>
              <a:rPr b="0" i="0" u="none" sz="2700"/>
              <a:t>MSTest adapter version conflicts</a:t>
            </a:r>
            <a:endParaRPr sz="2700" b="0" i="0">
              <a:latin typeface="Arial"/>
            </a:endParaRPr>
          </a:p>
          <a:p>
            <a:pPr/>
            <a:r>
              <a:rPr b="0" i="0" u="none" sz="2700"/>
              <a:t>.NET SDK targeting issues</a:t>
            </a:r>
            <a:endParaRPr sz="2700" b="0" i="0">
              <a:latin typeface="Arial"/>
            </a:endParaRPr>
          </a:p>
          <a:p>
            <a:pPr/>
            <a:r>
              <a:rPr b="0" i="0" u="none" sz="2700"/>
              <a:t>Package restoration failures</a:t>
            </a:r>
            <a:endParaRPr sz="2700" b="0" i="0">
              <a:latin typeface="Arial"/>
            </a:endParaRPr>
          </a:p>
          <a:p>
            <a:pPr>
              <a:buNone/>
            </a:pPr>
            <a:r>
              <a:rPr b="0" i="0" u="none" sz="2700"/>
              <a:t/>
            </a:r>
            <a:endParaRPr sz="2700" b="0" i="0">
              <a:latin typeface="Arial"/>
            </a:endParaRPr>
          </a:p>
          <a:p>
            <a:pPr>
              <a:buNone/>
            </a:pPr>
            <a:r>
              <a:rPr b="0" i="0" u="none" sz="2700"/>
              <a:t>Success Criteria</a:t>
            </a:r>
            <a:endParaRPr sz="2700" b="0" i="0">
              <a:latin typeface="Arial"/>
            </a:endParaRPr>
          </a:p>
          <a:p>
            <a:pPr>
              <a:buNone/>
            </a:pPr>
            <a:r>
              <a:rPr b="0" i="0" u="none" sz="2700"/>
              <a:t/>
            </a:r>
            <a:endParaRPr sz="2700" b="0" i="0">
              <a:latin typeface="Arial"/>
            </a:endParaRPr>
          </a:p>
          <a:p>
            <a:pPr/>
            <a:r>
              <a:rPr b="0" i="0" u="none" sz="2700"/>
              <a:t>At least one dependency issue resolved</a:t>
            </a:r>
            <a:endParaRPr sz="2700" b="0" i="0">
              <a:latin typeface="Arial"/>
            </a:endParaRPr>
          </a:p>
          <a:p>
            <a:pPr/>
            <a:r>
              <a:rPr b="0" i="0" u="none" sz="2700"/>
              <a:t>Learner can provide useful error context to Copilot</a:t>
            </a:r>
            <a:endParaRPr sz="2700" b="0" i="0">
              <a:latin typeface="Arial"/>
            </a:endParaRPr>
          </a:p>
          <a:p>
            <a:pPr/>
            <a:r>
              <a:rPr b="0" i="0" u="none" sz="2700"/>
              <a:t>Iterative problem-solving pattern demonstrated</a:t>
            </a:r>
            <a:endParaRPr sz="2700" b="0" i="0">
              <a:latin typeface="Arial"/>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Best Practices Review and Code Quality</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
            </a:r>
            <a:endParaRPr sz="2800" b="0" i="0">
              <a:latin typeface="Arial"/>
            </a:endParaRPr>
          </a:p>
          <a:p>
            <a:pPr/>
            <a:r>
              <a:rPr b="0" i="0" u="none" sz="2800"/>
              <a:t>Apply best practices from session</a:t>
            </a:r>
            <a:endParaRPr sz="2800" b="0" i="0">
              <a:latin typeface="Arial"/>
            </a:endParaRPr>
          </a:p>
          <a:p>
            <a:pPr/>
            <a:r>
              <a:rPr b="0" i="0" u="none" sz="2800"/>
              <a:t>Review code quality systematically</a:t>
            </a:r>
            <a:endParaRPr sz="2800" b="0" i="0">
              <a:latin typeface="Arial"/>
            </a:endParaRPr>
          </a:p>
          <a:p>
            <a:pPr/>
            <a:r>
              <a:rPr b="0" i="0" u="none" sz="2800"/>
              <a:t>Identify and implement meaningful improvements</a:t>
            </a:r>
            <a:endParaRPr sz="2800" b="0" i="0">
              <a:latin typeface="Arial"/>
            </a:endParaRPr>
          </a:p>
          <a:p>
            <a:pPr>
              <a:buNone/>
            </a:pPr>
            <a:r>
              <a:rPr b="0" i="0" u="none" sz="2800"/>
              <a:t/>
            </a:r>
            <a:endParaRPr sz="2800" b="0" i="0">
              <a:latin typeface="Arial"/>
            </a:endParaRPr>
          </a:p>
          <a:p>
            <a:pPr>
              <a:buNone/>
            </a:pPr>
            <a:r>
              <a:rPr b="0" i="0" u="none" sz="2800"/>
              <a:t>Activities</a:t>
            </a:r>
            <a:endParaRPr sz="2800" b="0" i="0">
              <a:latin typeface="Arial"/>
            </a:endParaRPr>
          </a:p>
          <a:p>
            <a:pPr>
              <a:buNone/>
            </a:pPr>
            <a:r>
              <a:rPr b="0" i="0" u="none" sz="2800"/>
              <a:t/>
            </a:r>
            <a:endParaRPr sz="2800" b="0" i="0">
              <a:latin typeface="Arial"/>
            </a:endParaRPr>
          </a:p>
          <a:p>
            <a:pPr>
              <a:buNone/>
            </a:pPr>
            <a:r>
              <a:rPr b="0" i="0" u="none" sz="2800"/>
              <a:t>1. Code Quality Check:</a:t>
            </a:r>
            <a:endParaRPr sz="2800" b="0" i="0">
              <a:latin typeface="Arial"/>
            </a:endParaRPr>
          </a:p>
          <a:p>
            <a:pPr>
              <a:buNone/>
            </a:pPr>
            <a:r>
              <a:rPr b="0" i="0" u="none" sz="2800"/>
              <a:t/>
            </a:r>
            <a:endParaRPr sz="2800" b="0" i="0">
              <a:latin typeface="Arial"/>
            </a:endParaRPr>
          </a:p>
          <a:p>
            <a:pPr/>
            <a:r>
              <a:rPr b="0" i="0" u="none" sz="2800"/>
              <a:t>Prompt: "Suggest improvements for code quality and maintainability"</a:t>
            </a:r>
            <a:endParaRPr sz="2800" b="0" i="0">
              <a:latin typeface="Arial"/>
            </a:endParaRPr>
          </a:p>
          <a:p>
            <a:pPr/>
            <a:r>
              <a:rPr b="0" i="0" u="none" sz="2800"/>
              <a:t>Evaluate suggestions critically</a:t>
            </a:r>
            <a:endParaRPr sz="2800" b="0" i="0">
              <a:latin typeface="Arial"/>
            </a:endParaRPr>
          </a:p>
          <a:p>
            <a:pPr/>
            <a:r>
              <a:rPr b="0" i="0" u="none" sz="2800"/>
              <a:t>Implement high-value improvements</a:t>
            </a:r>
            <a:endParaRPr sz="2800" b="0" i="0">
              <a:latin typeface="Arial"/>
            </a:endParaRPr>
          </a:p>
          <a:p>
            <a:pPr>
              <a:buNone/>
            </a:pPr>
            <a:r>
              <a:rPr b="0" i="0" u="none" sz="2800"/>
              <a:t/>
            </a:r>
            <a:endParaRPr sz="2800" b="0" i="0">
              <a:latin typeface="Arial"/>
            </a:endParaRPr>
          </a:p>
          <a:p>
            <a:pPr>
              <a:buNone/>
            </a:pPr>
            <a:r>
              <a:rPr b="0" i="0" u="none" sz="2800"/>
              <a:t>Success Criteria</a:t>
            </a:r>
            <a:endParaRPr sz="2800" b="0" i="0">
              <a:latin typeface="Arial"/>
            </a:endParaRPr>
          </a:p>
          <a:p>
            <a:pPr>
              <a:buNone/>
            </a:pPr>
            <a:r>
              <a:rPr b="0" i="0" u="none" sz="2800"/>
              <a:t/>
            </a:r>
            <a:endParaRPr sz="2800" b="0" i="0">
              <a:latin typeface="Arial"/>
            </a:endParaRPr>
          </a:p>
          <a:p>
            <a:pPr/>
            <a:r>
              <a:rPr b="0" i="0" u="none" sz="2800"/>
              <a:t>Documentation and maintainability improved</a:t>
            </a:r>
            <a:endParaRPr sz="2800" b="0" i="0">
              <a:latin typeface="Arial"/>
            </a:endParaRPr>
          </a:p>
          <a:p>
            <a:pPr/>
            <a:r>
              <a:rPr b="0" i="0" u="none" sz="2800"/>
              <a:t>AI suggestions are critically evaluated before adoption</a:t>
            </a:r>
            <a:endParaRPr sz="2800" b="0" i="0">
              <a:latin typeface="Arial"/>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Model Comparisons</a:t>
            </a:r>
          </a:p>
        </p:txBody>
      </p:sp>
      <p:sp>
        <p:nvSpPr>
          <p:cNvPr id="3" name="Content Placeholder 2"/>
          <p:cNvSpPr>
            <a:spLocks noGrp="1"/>
          </p:cNvSpPr>
          <p:nvPr>
            <p:ph idx="1"/>
          </p:nvPr>
        </p:nvSpPr>
        <p:spPr/>
        <p:txBody>
          <a:bodyPr wrap="square">
            <a:normAutofit/>
          </a:bodyPr>
          <a:lstStyle/>
          <a:p>
            <a:pPr>
              <a:buNone/>
            </a:pPr>
            <a:r>
              <a:rPr b="0" i="0" u="none" sz="2700"/>
              <a:t>Objectives</a:t>
            </a:r>
            <a:endParaRPr sz="2700" b="0" i="0">
              <a:latin typeface="Arial"/>
            </a:endParaRPr>
          </a:p>
          <a:p>
            <a:pPr>
              <a:buNone/>
            </a:pPr>
            <a:r>
              <a:rPr b="0" i="0" u="none" sz="2700"/>
              <a:t/>
            </a:r>
            <a:endParaRPr sz="2700" b="0" i="0">
              <a:latin typeface="Arial"/>
            </a:endParaRPr>
          </a:p>
          <a:p>
            <a:pPr/>
            <a:r>
              <a:rPr b="0" i="0" u="none" sz="2700"/>
              <a:t>Compare outputs from different AI models</a:t>
            </a:r>
            <a:endParaRPr sz="2700" b="0" i="0">
              <a:latin typeface="Arial"/>
            </a:endParaRPr>
          </a:p>
          <a:p>
            <a:pPr/>
            <a:r>
              <a:rPr b="0" i="0" u="none" sz="2700"/>
              <a:t>Understand premium vs standard model trade-offs</a:t>
            </a:r>
            <a:endParaRPr sz="2700" b="0" i="0">
              <a:latin typeface="Arial"/>
            </a:endParaRPr>
          </a:p>
          <a:p>
            <a:pPr/>
            <a:r>
              <a:rPr b="0" i="0" u="none" sz="2700"/>
              <a:t>Monitor token usage impact</a:t>
            </a:r>
            <a:endParaRPr sz="2700" b="0" i="0">
              <a:latin typeface="Arial"/>
            </a:endParaRPr>
          </a:p>
          <a:p>
            <a:pPr>
              <a:buNone/>
            </a:pPr>
            <a:r>
              <a:rPr b="0" i="0" u="none" sz="2700"/>
              <a:t/>
            </a:r>
            <a:endParaRPr sz="2700" b="0" i="0">
              <a:latin typeface="Arial"/>
            </a:endParaRPr>
          </a:p>
          <a:p>
            <a:pPr>
              <a:buNone/>
            </a:pPr>
            <a:r>
              <a:rPr b="0" i="0" u="none" sz="2700"/>
              <a:t>Activities</a:t>
            </a:r>
            <a:endParaRPr sz="2700" b="0" i="0">
              <a:latin typeface="Arial"/>
            </a:endParaRPr>
          </a:p>
          <a:p>
            <a:pPr>
              <a:buNone/>
            </a:pPr>
            <a:r>
              <a:rPr b="0" i="0" u="none" sz="2700"/>
              <a:t/>
            </a:r>
            <a:endParaRPr sz="2700" b="0" i="0">
              <a:latin typeface="Arial"/>
            </a:endParaRPr>
          </a:p>
          <a:p>
            <a:pPr>
              <a:buNone/>
            </a:pPr>
            <a:r>
              <a:rPr b="0" i="0" u="none" sz="2700"/>
              <a:t>1. Same Prompt, Different Models:</a:t>
            </a:r>
            <a:endParaRPr sz="2700" b="0" i="0">
              <a:latin typeface="Arial"/>
            </a:endParaRPr>
          </a:p>
          <a:p>
            <a:pPr>
              <a:buNone/>
            </a:pPr>
            <a:r>
              <a:rPr b="0" i="0" u="none" sz="2700"/>
              <a:t/>
            </a:r>
            <a:endParaRPr sz="2700" b="0" i="0">
              <a:latin typeface="Arial"/>
            </a:endParaRPr>
          </a:p>
          <a:p>
            <a:pPr/>
            <a:r>
              <a:rPr b="0" i="0" u="none" sz="2700"/>
              <a:t>Use one coding task (for example implement bubble sort)</a:t>
            </a:r>
            <a:endParaRPr sz="2700" b="0" i="0">
              <a:latin typeface="Arial"/>
            </a:endParaRPr>
          </a:p>
          <a:p>
            <a:pPr/>
            <a:r>
              <a:rPr b="0" i="0" u="none" sz="2700"/>
              <a:t>Compare standard and premium model outputs</a:t>
            </a:r>
            <a:endParaRPr sz="2700" b="0" i="0">
              <a:latin typeface="Arial"/>
            </a:endParaRPr>
          </a:p>
          <a:p>
            <a:pPr>
              <a:buNone/>
            </a:pPr>
            <a:r>
              <a:rPr b="0" i="0" u="none" sz="2700"/>
              <a:t/>
            </a:r>
            <a:endParaRPr sz="2700" b="0" i="0">
              <a:latin typeface="Arial"/>
            </a:endParaRPr>
          </a:p>
          <a:p>
            <a:pPr>
              <a:buNone/>
            </a:pPr>
            <a:r>
              <a:rPr b="0" i="0" u="none" sz="2700"/>
              <a:t>2. Token Usage Analysis:</a:t>
            </a:r>
            <a:endParaRPr sz="2700" b="0" i="0">
              <a:latin typeface="Arial"/>
            </a:endParaRPr>
          </a:p>
          <a:p>
            <a:pPr>
              <a:buNone/>
            </a:pPr>
            <a:r>
              <a:rPr b="0" i="0" u="none" sz="2700"/>
              <a:t/>
            </a:r>
            <a:endParaRPr sz="2700" b="0" i="0">
              <a:latin typeface="Arial"/>
            </a:endParaRPr>
          </a:p>
          <a:p>
            <a:pPr/>
            <a:r>
              <a:rPr b="0" i="0" u="none" sz="2700"/>
              <a:t>Check premium token bar before/after</a:t>
            </a:r>
            <a:endParaRPr sz="2700" b="0" i="0">
              <a:latin typeface="Arial"/>
            </a:endParaRPr>
          </a:p>
          <a:p>
            <a:pPr/>
            <a:r>
              <a:rPr b="0" i="0" u="none" sz="2700"/>
              <a:t>Estimate consumed tokens</a:t>
            </a:r>
            <a:endParaRPr sz="2700" b="0" i="0">
              <a:latin typeface="Arial"/>
            </a:endParaRPr>
          </a:p>
          <a:p>
            <a:pPr/>
            <a:r>
              <a:rPr b="0" i="0" u="none" sz="2700"/>
              <a:t>Discuss value vs cost</a:t>
            </a:r>
            <a:endParaRPr sz="2700" b="0" i="0">
              <a:latin typeface="Arial"/>
            </a:endParaRPr>
          </a:p>
          <a:p>
            <a:pPr>
              <a:buNone/>
            </a:pPr>
            <a:r>
              <a:rPr b="0" i="0" u="none" sz="2700"/>
              <a:t/>
            </a:r>
            <a:endParaRPr sz="2700" b="0" i="0">
              <a:latin typeface="Arial"/>
            </a:endParaRPr>
          </a:p>
          <a:p>
            <a:pPr>
              <a:buNone/>
            </a:pPr>
            <a:r>
              <a:rPr b="0" i="0" u="none" sz="2700"/>
              <a:t>3. Best Use Cases:</a:t>
            </a:r>
            <a:endParaRPr sz="2700" b="0" i="0">
              <a:latin typeface="Arial"/>
            </a:endParaRPr>
          </a:p>
          <a:p>
            <a:pPr>
              <a:buNone/>
            </a:pPr>
            <a:r>
              <a:rPr b="0" i="0" u="none" sz="2700"/>
              <a:t/>
            </a:r>
            <a:endParaRPr sz="2700" b="0" i="0">
              <a:latin typeface="Arial"/>
            </a:endParaRPr>
          </a:p>
          <a:p>
            <a:pPr/>
            <a:r>
              <a:rPr b="0" i="0" u="none" sz="2700"/>
              <a:t>Identify tasks for standard vs premium models</a:t>
            </a:r>
            <a:endParaRPr sz="2700" b="0" i="0">
              <a:latin typeface="Arial"/>
            </a:endParaRPr>
          </a:p>
          <a:p>
            <a:pPr/>
            <a:r>
              <a:rPr b="0" i="0" u="none" sz="2700"/>
              <a:t>Create model selection guidelines</a:t>
            </a:r>
            <a:endParaRPr sz="2700" b="0" i="0">
              <a:latin typeface="Arial"/>
            </a:endParaRPr>
          </a:p>
          <a:p>
            <a:pPr>
              <a:buNone/>
            </a:pPr>
            <a:r>
              <a:rPr b="0" i="0" u="none" sz="2700"/>
              <a:t/>
            </a:r>
            <a:endParaRPr sz="2700" b="0" i="0">
              <a:latin typeface="Arial"/>
            </a:endParaRPr>
          </a:p>
          <a:p>
            <a:pPr>
              <a:buNone/>
            </a:pPr>
            <a:r>
              <a:rPr b="0" i="0" u="none" sz="2700"/>
              <a:t>4. Ask Mode Advantage:</a:t>
            </a:r>
            <a:endParaRPr sz="2700" b="0" i="0">
              <a:latin typeface="Arial"/>
            </a:endParaRPr>
          </a:p>
          <a:p>
            <a:pPr>
              <a:buNone/>
            </a:pPr>
            <a:r>
              <a:rPr b="0" i="0" u="none" sz="2700"/>
              <a:t/>
            </a:r>
            <a:endParaRPr sz="2700" b="0" i="0">
              <a:latin typeface="Arial"/>
            </a:endParaRPr>
          </a:p>
          <a:p>
            <a:pPr/>
            <a:r>
              <a:rPr b="0" i="0" u="none" sz="2700"/>
              <a:t>Use Ask mode with premium model</a:t>
            </a:r>
            <a:endParaRPr sz="2700" b="0" i="0">
              <a:latin typeface="Arial"/>
            </a:endParaRPr>
          </a:p>
          <a:p>
            <a:pPr/>
            <a:r>
              <a:rPr b="0" i="0" u="none" sz="2700"/>
              <a:t>Compare with Agent mode token behavior</a:t>
            </a:r>
            <a:endParaRPr sz="2700" b="0" i="0">
              <a:latin typeface="Arial"/>
            </a:endParaRPr>
          </a:p>
          <a:p>
            <a:pPr>
              <a:buNone/>
            </a:pPr>
            <a:r>
              <a:rPr b="0" i="0" u="none" sz="2700"/>
              <a:t/>
            </a:r>
            <a:endParaRPr sz="2700" b="0" i="0">
              <a:latin typeface="Arial"/>
            </a:endParaRPr>
          </a:p>
          <a:p>
            <a:pPr>
              <a:buNone/>
            </a:pPr>
            <a:r>
              <a:rPr b="0" i="0" u="none" sz="2700"/>
              <a:t>Success Criteria</a:t>
            </a:r>
            <a:endParaRPr sz="2700" b="0" i="0">
              <a:latin typeface="Arial"/>
            </a:endParaRPr>
          </a:p>
          <a:p>
            <a:pPr>
              <a:buNone/>
            </a:pPr>
            <a:r>
              <a:rPr b="0" i="0" u="none" sz="2700"/>
              <a:t/>
            </a:r>
            <a:endParaRPr sz="2700" b="0" i="0">
              <a:latin typeface="Arial"/>
            </a:endParaRPr>
          </a:p>
          <a:p>
            <a:pPr/>
            <a:r>
              <a:rPr b="0" i="0" u="none" sz="2700"/>
              <a:t>At least two models compared</a:t>
            </a:r>
            <a:endParaRPr sz="2700" b="0" i="0">
              <a:latin typeface="Arial"/>
            </a:endParaRPr>
          </a:p>
          <a:p>
            <a:pPr/>
            <a:r>
              <a:rPr b="0" i="0" u="none" sz="2700"/>
              <a:t>Token consumption trade-offs understood</a:t>
            </a:r>
            <a:endParaRPr sz="2700" b="0" i="0">
              <a:latin typeface="Arial"/>
            </a:endParaRPr>
          </a:p>
          <a:p>
            <a:pPr/>
            <a:r>
              <a:rPr b="0" i="0" u="none" sz="2700"/>
              <a:t>Learner can choose model by task type</a:t>
            </a:r>
            <a:endParaRPr sz="2700" b="0" i="0">
              <a:latin typeface="Arial"/>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Calculator Project - Encapsulate Core Logic</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
            </a:r>
            <a:endParaRPr sz="2800" b="0" i="0">
              <a:latin typeface="Arial"/>
            </a:endParaRPr>
          </a:p>
          <a:p>
            <a:pPr/>
            <a:r>
              <a:rPr b="0" i="0" u="none" sz="2800"/>
              <a:t>Separate UI concerns from computational logic</a:t>
            </a:r>
            <a:endParaRPr sz="2800" b="0" i="0">
              <a:latin typeface="Arial"/>
            </a:endParaRPr>
          </a:p>
          <a:p>
            <a:pPr/>
            <a:r>
              <a:rPr b="0" i="0" u="none" sz="2800"/>
              <a:t>Use AI to scaffold standalone core logic module/class</a:t>
            </a:r>
            <a:endParaRPr sz="2800" b="0" i="0">
              <a:latin typeface="Arial"/>
            </a:endParaRPr>
          </a:p>
          <a:p>
            <a:pPr/>
            <a:r>
              <a:rPr b="0" i="0" u="none" sz="2800"/>
              <a:t>Ensure UI communicates through a clean API</a:t>
            </a:r>
            <a:endParaRPr sz="2800" b="0" i="0">
              <a:latin typeface="Arial"/>
            </a:endParaRPr>
          </a:p>
          <a:p>
            <a:pPr/>
            <a:r>
              <a:rPr b="0" i="0" u="none" sz="2800"/>
              <a:t>Validate improved testability and maintainability</a:t>
            </a:r>
            <a:endParaRPr sz="2800" b="0" i="0">
              <a:latin typeface="Arial"/>
            </a:endParaRPr>
          </a:p>
          <a:p>
            <a:pPr>
              <a:buNone/>
            </a:pPr>
            <a:r>
              <a:rPr b="0" i="0" u="none" sz="2800"/>
              <a:t/>
            </a:r>
            <a:endParaRPr sz="2800" b="0" i="0">
              <a:latin typeface="Arial"/>
            </a:endParaRPr>
          </a:p>
          <a:p>
            <a:pPr>
              <a:buNone/>
            </a:pPr>
            <a:r>
              <a:rPr b="0" i="0" u="none" sz="2800"/>
              <a:t>Activities</a:t>
            </a:r>
            <a:endParaRPr sz="2800" b="0" i="0">
              <a:latin typeface="Arial"/>
            </a:endParaRPr>
          </a:p>
          <a:p>
            <a:pPr>
              <a:buNone/>
            </a:pPr>
            <a:r>
              <a:rPr b="0" i="0" u="none" sz="2800"/>
              <a:t/>
            </a:r>
            <a:endParaRPr sz="2800" b="0" i="0">
              <a:latin typeface="Arial"/>
            </a:endParaRPr>
          </a:p>
          <a:p>
            <a:pPr>
              <a:buNone/>
            </a:pPr>
            <a:r>
              <a:rPr b="0" i="0" u="none" sz="2800"/>
              <a:t>1. Ask AI to generate dedicated component (for example CalculatorEngine or CalculatorCore) containing:</a:t>
            </a:r>
            <a:endParaRPr sz="2800" b="0" i="0">
              <a:latin typeface="Arial"/>
            </a:endParaRPr>
          </a:p>
          <a:p>
            <a:pPr>
              <a:buNone/>
            </a:pPr>
            <a:r>
              <a:rPr b="0" i="0" u="none" sz="2800"/>
              <a:t/>
            </a:r>
            <a:endParaRPr sz="2800" b="0" i="0">
              <a:latin typeface="Arial"/>
            </a:endParaRPr>
          </a:p>
          <a:p>
            <a:pPr/>
            <a:r>
              <a:rPr b="0" i="0" u="none" sz="2800"/>
              <a:t>Arithmetic operations</a:t>
            </a:r>
            <a:endParaRPr sz="2800" b="0" i="0">
              <a:latin typeface="Arial"/>
            </a:endParaRPr>
          </a:p>
          <a:p>
            <a:pPr/>
            <a:r>
              <a:rPr b="0" i="0" u="none" sz="2800"/>
              <a:t>State management</a:t>
            </a:r>
            <a:endParaRPr sz="2800" b="0" i="0">
              <a:latin typeface="Arial"/>
            </a:endParaRPr>
          </a:p>
          <a:p>
            <a:pPr/>
            <a:r>
              <a:rPr b="0" i="0" u="none" sz="2800"/>
              <a:t>Trig/percentage/memory logic where implemented</a:t>
            </a:r>
            <a:endParaRPr sz="2800" b="0" i="0">
              <a:latin typeface="Arial"/>
            </a:endParaRPr>
          </a:p>
          <a:p>
            <a:pPr>
              <a:buNone/>
            </a:pPr>
            <a:r>
              <a:rPr b="0" i="0" u="none" sz="2800"/>
              <a:t/>
            </a:r>
            <a:endParaRPr sz="2800" b="0" i="0">
              <a:latin typeface="Arial"/>
            </a:endParaRPr>
          </a:p>
          <a:p>
            <a:pPr>
              <a:buNone/>
            </a:pPr>
            <a:r>
              <a:rPr b="0" i="0" u="none" sz="2800"/>
              <a:t>2. Review and refine API surface (naming, inputs, outputs)</a:t>
            </a:r>
            <a:endParaRPr sz="2800" b="0" i="0">
              <a:latin typeface="Arial"/>
            </a:endParaRPr>
          </a:p>
          <a:p>
            <a:pPr>
              <a:buNone/>
            </a:pPr>
            <a:r>
              <a:rPr b="0" i="0" u="none" sz="2800"/>
              <a:t>3. Replace UI-embedded logic with component calls</a:t>
            </a:r>
            <a:endParaRPr sz="2800" b="0" i="0">
              <a:latin typeface="Arial"/>
            </a:endParaRPr>
          </a:p>
          <a:p>
            <a:pPr>
              <a:buNone/>
            </a:pPr>
            <a:r>
              <a:rPr b="0" i="0" u="none" sz="2800"/>
              <a:t/>
            </a:r>
            <a:endParaRPr sz="2800" b="0" i="0">
              <a:latin typeface="Arial"/>
            </a:endParaRPr>
          </a:p>
          <a:p>
            <a:pPr>
              <a:buNone/>
            </a:pPr>
            <a:r>
              <a:rPr b="0" i="0" u="none" sz="2800"/>
              <a:t>Success Criteria</a:t>
            </a:r>
            <a:endParaRPr sz="2800" b="0" i="0">
              <a:latin typeface="Arial"/>
            </a:endParaRPr>
          </a:p>
          <a:p>
            <a:pPr>
              <a:buNone/>
            </a:pPr>
            <a:r>
              <a:rPr b="0" i="0" u="none" sz="2800"/>
              <a:t/>
            </a:r>
            <a:endParaRPr sz="2800" b="0" i="0">
              <a:latin typeface="Arial"/>
            </a:endParaRPr>
          </a:p>
          <a:p>
            <a:pPr/>
            <a:r>
              <a:rPr b="0" i="0" u="none" sz="2800"/>
              <a:t>All features route through external logic component</a:t>
            </a:r>
            <a:endParaRPr sz="2800" b="0" i="0">
              <a:latin typeface="Arial"/>
            </a:endParaRPr>
          </a:p>
          <a:p>
            <a:pPr/>
            <a:r>
              <a:rPr b="0" i="0" u="none" sz="2800"/>
              <a:t>UI contains only event handling/display updates</a:t>
            </a:r>
            <a:endParaRPr sz="2800" b="0" i="0">
              <a:latin typeface="Arial"/>
            </a:endParaRPr>
          </a:p>
          <a:p>
            <a:pPr/>
            <a:r>
              <a:rPr b="0" i="0" u="none" sz="2800"/>
              <a:t>Learner can explain modularity and reuse benefits</a:t>
            </a:r>
            <a:endParaRPr sz="2800" b="0" i="0">
              <a:latin typeface="Arial"/>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Security Review</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
            </a:r>
            <a:endParaRPr sz="2800" b="0" i="0">
              <a:latin typeface="Arial"/>
            </a:endParaRPr>
          </a:p>
          <a:p>
            <a:pPr/>
            <a:r>
              <a:rPr b="0" i="0" u="none" sz="2800"/>
              <a:t>Systematically review code for security issues</a:t>
            </a:r>
            <a:endParaRPr sz="2800" b="0" i="0">
              <a:latin typeface="Arial"/>
            </a:endParaRPr>
          </a:p>
          <a:p>
            <a:pPr/>
            <a:r>
              <a:rPr b="0" i="0" u="none" sz="2800"/>
              <a:t>Address discovered vulnerabilities</a:t>
            </a:r>
            <a:endParaRPr sz="2800" b="0" i="0">
              <a:latin typeface="Arial"/>
            </a:endParaRPr>
          </a:p>
          <a:p>
            <a:pPr/>
            <a:r>
              <a:rPr b="0" i="0" u="none" sz="2800"/>
              <a:t>Strengthen input validation and safe patterns</a:t>
            </a:r>
            <a:endParaRPr sz="2800" b="0" i="0">
              <a:latin typeface="Arial"/>
            </a:endParaRPr>
          </a:p>
          <a:p>
            <a:pPr>
              <a:buNone/>
            </a:pPr>
            <a:r>
              <a:rPr b="0" i="0" u="none" sz="2800"/>
              <a:t/>
            </a:r>
            <a:endParaRPr sz="2800" b="0" i="0">
              <a:latin typeface="Arial"/>
            </a:endParaRPr>
          </a:p>
          <a:p>
            <a:pPr>
              <a:buNone/>
            </a:pPr>
            <a:r>
              <a:rPr b="0" i="0" u="none" sz="2800"/>
              <a:t>Activities</a:t>
            </a:r>
            <a:endParaRPr sz="2800" b="0" i="0">
              <a:latin typeface="Arial"/>
            </a:endParaRPr>
          </a:p>
          <a:p>
            <a:pPr>
              <a:buNone/>
            </a:pPr>
            <a:r>
              <a:rPr b="0" i="0" u="none" sz="2800"/>
              <a:t/>
            </a:r>
            <a:endParaRPr sz="2800" b="0" i="0">
              <a:latin typeface="Arial"/>
            </a:endParaRPr>
          </a:p>
          <a:p>
            <a:pPr>
              <a:buNone/>
            </a:pPr>
            <a:r>
              <a:rPr b="0" i="0" u="none" sz="2800"/>
              <a:t>1. Security Review:</a:t>
            </a:r>
            <a:endParaRPr sz="2800" b="0" i="0">
              <a:latin typeface="Arial"/>
            </a:endParaRPr>
          </a:p>
          <a:p>
            <a:pPr>
              <a:buNone/>
            </a:pPr>
            <a:r>
              <a:rPr b="0" i="0" u="none" sz="2800"/>
              <a:t/>
            </a:r>
            <a:endParaRPr sz="2800" b="0" i="0">
              <a:latin typeface="Arial"/>
            </a:endParaRPr>
          </a:p>
          <a:p>
            <a:pPr/>
            <a:r>
              <a:rPr b="0" i="0" u="none" sz="2800"/>
              <a:t>Prompt: "Review this code for security vulnerabilities"</a:t>
            </a:r>
            <a:endParaRPr sz="2800" b="0" i="0">
              <a:latin typeface="Arial"/>
            </a:endParaRPr>
          </a:p>
          <a:p>
            <a:pPr/>
            <a:r>
              <a:rPr b="0" i="0" u="none" sz="2800"/>
              <a:t>Address identified issues</a:t>
            </a:r>
            <a:endParaRPr sz="2800" b="0" i="0">
              <a:latin typeface="Arial"/>
            </a:endParaRPr>
          </a:p>
          <a:p>
            <a:pPr/>
            <a:r>
              <a:rPr b="0" i="0" u="none" sz="2800"/>
              <a:t>Add input validation where missing</a:t>
            </a:r>
            <a:endParaRPr sz="2800" b="0" i="0">
              <a:latin typeface="Arial"/>
            </a:endParaRPr>
          </a:p>
          <a:p>
            <a:pPr>
              <a:buNone/>
            </a:pPr>
            <a:r>
              <a:rPr b="0" i="0" u="none" sz="2800"/>
              <a:t/>
            </a:r>
            <a:endParaRPr sz="2800" b="0" i="0">
              <a:latin typeface="Arial"/>
            </a:endParaRPr>
          </a:p>
          <a:p>
            <a:pPr>
              <a:buNone/>
            </a:pPr>
            <a:r>
              <a:rPr b="0" i="0" u="none" sz="2800"/>
              <a:t>Success Criteria</a:t>
            </a:r>
            <a:endParaRPr sz="2800" b="0" i="0">
              <a:latin typeface="Arial"/>
            </a:endParaRPr>
          </a:p>
          <a:p>
            <a:pPr>
              <a:buNone/>
            </a:pPr>
            <a:r>
              <a:rPr b="0" i="0" u="none" sz="2800"/>
              <a:t/>
            </a:r>
            <a:endParaRPr sz="2800" b="0" i="0">
              <a:latin typeface="Arial"/>
            </a:endParaRPr>
          </a:p>
          <a:p>
            <a:pPr/>
            <a:r>
              <a:rPr b="0" i="0" u="none" sz="2800"/>
              <a:t>No obvious security issues remain</a:t>
            </a:r>
            <a:endParaRPr sz="2800" b="0" i="0">
              <a:latin typeface="Arial"/>
            </a:endParaRPr>
          </a:p>
          <a:p>
            <a:pPr/>
            <a:r>
              <a:rPr b="0" i="0" u="none" sz="2800"/>
              <a:t>AI recommendations are critically evaluated and validated</a:t>
            </a:r>
            <a:endParaRPr sz="2800" b="0" i="0">
              <a:latin typeface="Arial"/>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Documentation</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
            </a:r>
            <a:endParaRPr sz="2800" b="0" i="0">
              <a:latin typeface="Arial"/>
            </a:endParaRPr>
          </a:p>
          <a:p>
            <a:pPr/>
            <a:r>
              <a:rPr b="0" i="0" u="none" sz="2800"/>
              <a:t>Add and improve project documentation</a:t>
            </a:r>
            <a:endParaRPr sz="2800" b="0" i="0">
              <a:latin typeface="Arial"/>
            </a:endParaRPr>
          </a:p>
          <a:p>
            <a:pPr/>
            <a:r>
              <a:rPr b="0" i="0" u="none" sz="2800"/>
              <a:t>Review AI-generated docs for accuracy and completeness</a:t>
            </a:r>
            <a:endParaRPr sz="2800" b="0" i="0">
              <a:latin typeface="Arial"/>
            </a:endParaRPr>
          </a:p>
          <a:p>
            <a:pPr>
              <a:buNone/>
            </a:pPr>
            <a:r>
              <a:rPr b="0" i="0" u="none" sz="2800"/>
              <a:t/>
            </a:r>
            <a:endParaRPr sz="2800" b="0" i="0">
              <a:latin typeface="Arial"/>
            </a:endParaRPr>
          </a:p>
          <a:p>
            <a:pPr>
              <a:buNone/>
            </a:pPr>
            <a:r>
              <a:rPr b="0" i="0" u="none" sz="2800"/>
              <a:t>Activities</a:t>
            </a:r>
            <a:endParaRPr sz="2800" b="0" i="0">
              <a:latin typeface="Arial"/>
            </a:endParaRPr>
          </a:p>
          <a:p>
            <a:pPr>
              <a:buNone/>
            </a:pPr>
            <a:r>
              <a:rPr b="0" i="0" u="none" sz="2800"/>
              <a:t/>
            </a:r>
            <a:endParaRPr sz="2800" b="0" i="0">
              <a:latin typeface="Arial"/>
            </a:endParaRPr>
          </a:p>
          <a:p>
            <a:pPr>
              <a:buNone/>
            </a:pPr>
            <a:r>
              <a:rPr b="0" i="0" u="none" sz="2800"/>
              <a:t>1. Documentation:</a:t>
            </a:r>
            <a:endParaRPr sz="2800" b="0" i="0">
              <a:latin typeface="Arial"/>
            </a:endParaRPr>
          </a:p>
          <a:p>
            <a:pPr>
              <a:buNone/>
            </a:pPr>
            <a:r>
              <a:rPr b="0" i="0" u="none" sz="2800"/>
              <a:t/>
            </a:r>
            <a:endParaRPr sz="2800" b="0" i="0">
              <a:latin typeface="Arial"/>
            </a:endParaRPr>
          </a:p>
          <a:p>
            <a:pPr/>
            <a:r>
              <a:rPr b="0" i="0" u="none" sz="2800"/>
              <a:t>Ask Copilot to generate XML/doc comments</a:t>
            </a:r>
            <a:endParaRPr sz="2800" b="0" i="0">
              <a:latin typeface="Arial"/>
            </a:endParaRPr>
          </a:p>
          <a:p>
            <a:pPr/>
            <a:r>
              <a:rPr b="0" i="0" u="none" sz="2800"/>
              <a:t>Review and refine for correctness</a:t>
            </a:r>
            <a:endParaRPr sz="2800" b="0" i="0">
              <a:latin typeface="Arial"/>
            </a:endParaRPr>
          </a:p>
          <a:p>
            <a:pPr/>
            <a:r>
              <a:rPr b="0" i="0" u="none" sz="2800"/>
              <a:t>Add README usage instructions</a:t>
            </a:r>
            <a:endParaRPr sz="2800" b="0" i="0">
              <a:latin typeface="Arial"/>
            </a:endParaRPr>
          </a:p>
          <a:p>
            <a:pPr/>
            <a:r>
              <a:rPr b="0" i="0" u="none" sz="2800"/>
              <a:t>Ask AI to update existing documentation sections</a:t>
            </a:r>
            <a:endParaRPr sz="2800" b="0" i="0">
              <a:latin typeface="Arial"/>
            </a:endParaRPr>
          </a:p>
          <a:p>
            <a:pPr>
              <a:buNone/>
            </a:pPr>
            <a:r>
              <a:rPr b="0" i="0" u="none" sz="2800"/>
              <a:t/>
            </a:r>
            <a:endParaRPr sz="2800" b="0" i="0">
              <a:latin typeface="Arial"/>
            </a:endParaRPr>
          </a:p>
          <a:p>
            <a:pPr>
              <a:buNone/>
            </a:pPr>
            <a:r>
              <a:rPr b="0" i="0" u="none" sz="2800"/>
              <a:t>Success Criteria</a:t>
            </a:r>
            <a:endParaRPr sz="2800" b="0" i="0">
              <a:latin typeface="Arial"/>
            </a:endParaRPr>
          </a:p>
          <a:p>
            <a:pPr>
              <a:buNone/>
            </a:pPr>
            <a:r>
              <a:rPr b="0" i="0" u="none" sz="2800"/>
              <a:t/>
            </a:r>
            <a:endParaRPr sz="2800" b="0" i="0">
              <a:latin typeface="Arial"/>
            </a:endParaRPr>
          </a:p>
          <a:p>
            <a:pPr/>
            <a:r>
              <a:rPr b="0" i="0" u="none" sz="2800"/>
              <a:t>Documentation is comprehensive and accurate</a:t>
            </a:r>
            <a:endParaRPr sz="2800" b="0" i="0">
              <a:latin typeface="Arial"/>
            </a:endParaRPr>
          </a:p>
          <a:p>
            <a:pPr/>
            <a:r>
              <a:rPr b="0" i="0" u="none" sz="2800"/>
              <a:t>AI-generated content is critically reviewed before acceptance</a:t>
            </a:r>
            <a:endParaRPr sz="2800" b="0" i="0">
              <a:latin typeface="Arial"/>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Refactoring</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
            </a:r>
            <a:endParaRPr sz="2800" b="0" i="0">
              <a:latin typeface="Arial"/>
            </a:endParaRPr>
          </a:p>
          <a:p>
            <a:pPr/>
            <a:r>
              <a:rPr b="0" i="0" u="none" sz="2800"/>
              <a:t>Apply refactoring best practices</a:t>
            </a:r>
            <a:endParaRPr sz="2800" b="0" i="0">
              <a:latin typeface="Arial"/>
            </a:endParaRPr>
          </a:p>
          <a:p>
            <a:pPr/>
            <a:r>
              <a:rPr b="0" i="0" u="none" sz="2800"/>
              <a:t>Compare alternative implementations</a:t>
            </a:r>
            <a:endParaRPr sz="2800" b="0" i="0">
              <a:latin typeface="Arial"/>
            </a:endParaRPr>
          </a:p>
          <a:p>
            <a:pPr/>
            <a:r>
              <a:rPr b="0" i="0" u="none" sz="2800"/>
              <a:t>Evaluate trade-offs before choosing changes</a:t>
            </a:r>
            <a:endParaRPr sz="2800" b="0" i="0">
              <a:latin typeface="Arial"/>
            </a:endParaRPr>
          </a:p>
          <a:p>
            <a:pPr>
              <a:buNone/>
            </a:pPr>
            <a:r>
              <a:rPr b="0" i="0" u="none" sz="2800"/>
              <a:t/>
            </a:r>
            <a:endParaRPr sz="2800" b="0" i="0">
              <a:latin typeface="Arial"/>
            </a:endParaRPr>
          </a:p>
          <a:p>
            <a:pPr>
              <a:buNone/>
            </a:pPr>
            <a:r>
              <a:rPr b="0" i="0" u="none" sz="2800"/>
              <a:t>Activities</a:t>
            </a:r>
            <a:endParaRPr sz="2800" b="0" i="0">
              <a:latin typeface="Arial"/>
            </a:endParaRPr>
          </a:p>
          <a:p>
            <a:pPr>
              <a:buNone/>
            </a:pPr>
            <a:r>
              <a:rPr b="0" i="0" u="none" sz="2800"/>
              <a:t/>
            </a:r>
            <a:endParaRPr sz="2800" b="0" i="0">
              <a:latin typeface="Arial"/>
            </a:endParaRPr>
          </a:p>
          <a:p>
            <a:pPr>
              <a:buNone/>
            </a:pPr>
            <a:r>
              <a:rPr b="0" i="0" u="none" sz="2800"/>
              <a:t>1. Refactoring Exercise:</a:t>
            </a:r>
            <a:endParaRPr sz="2800" b="0" i="0">
              <a:latin typeface="Arial"/>
            </a:endParaRPr>
          </a:p>
          <a:p>
            <a:pPr>
              <a:buNone/>
            </a:pPr>
            <a:r>
              <a:rPr b="0" i="0" u="none" sz="2800"/>
              <a:t/>
            </a:r>
            <a:endParaRPr sz="2800" b="0" i="0">
              <a:latin typeface="Arial"/>
            </a:endParaRPr>
          </a:p>
          <a:p>
            <a:pPr/>
            <a:r>
              <a:rPr b="0" i="0" u="none" sz="2800"/>
              <a:t>Ask Copilot for alternative implementations</a:t>
            </a:r>
            <a:endParaRPr sz="2800" b="0" i="0">
              <a:latin typeface="Arial"/>
            </a:endParaRPr>
          </a:p>
          <a:p>
            <a:pPr/>
            <a:r>
              <a:rPr b="0" i="0" u="none" sz="2800"/>
              <a:t>Compare readability, complexity, and maintainability</a:t>
            </a:r>
            <a:endParaRPr sz="2800" b="0" i="0">
              <a:latin typeface="Arial"/>
            </a:endParaRPr>
          </a:p>
          <a:p>
            <a:pPr/>
            <a:r>
              <a:rPr b="0" i="0" u="none" sz="2800"/>
              <a:t>Discuss trade-offs and select best approach</a:t>
            </a:r>
            <a:endParaRPr sz="2800" b="0" i="0">
              <a:latin typeface="Arial"/>
            </a:endParaRPr>
          </a:p>
          <a:p>
            <a:pPr>
              <a:buNone/>
            </a:pPr>
            <a:r>
              <a:rPr b="0" i="0" u="none" sz="2800"/>
              <a:t/>
            </a:r>
            <a:endParaRPr sz="2800" b="0" i="0">
              <a:latin typeface="Arial"/>
            </a:endParaRPr>
          </a:p>
          <a:p>
            <a:pPr>
              <a:buNone/>
            </a:pPr>
            <a:r>
              <a:rPr b="0" i="0" u="none" sz="2800"/>
              <a:t>Success Criteria</a:t>
            </a:r>
            <a:endParaRPr sz="2800" b="0" i="0">
              <a:latin typeface="Arial"/>
            </a:endParaRPr>
          </a:p>
          <a:p>
            <a:pPr>
              <a:buNone/>
            </a:pPr>
            <a:r>
              <a:rPr b="0" i="0" u="none" sz="2800"/>
              <a:t/>
            </a:r>
            <a:endParaRPr sz="2800" b="0" i="0">
              <a:latin typeface="Arial"/>
            </a:endParaRPr>
          </a:p>
          <a:p>
            <a:pPr/>
            <a:r>
              <a:rPr b="0" i="0" u="none" sz="2800"/>
              <a:t>At least one refactoring improvement implemented</a:t>
            </a:r>
            <a:endParaRPr sz="2800" b="0" i="0">
              <a:latin typeface="Arial"/>
            </a:endParaRPr>
          </a:p>
          <a:p>
            <a:pPr/>
            <a:r>
              <a:rPr b="0" i="0" u="none" sz="2800"/>
              <a:t>Code quality and maintainability improved</a:t>
            </a:r>
            <a:endParaRPr sz="2800" b="0" i="0">
              <a:latin typeface="Arial"/>
            </a:endParaRPr>
          </a:p>
          <a:p>
            <a:pPr/>
            <a:r>
              <a:rPr b="0" i="0" u="none" sz="2800"/>
              <a:t>AI suggestions critically evaluated</a:t>
            </a:r>
            <a:endParaRPr sz="2800" b="0" i="0">
              <a:latin typeface="Arial"/>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From "It Works on My Machine" to Actually Tested</a:t>
            </a:r>
          </a:p>
        </p:txBody>
      </p:sp>
      <p:sp>
        <p:nvSpPr>
          <p:cNvPr id="3" name="Content Placeholder 2"/>
          <p:cNvSpPr>
            <a:spLocks noGrp="1"/>
          </p:cNvSpPr>
          <p:nvPr>
            <p:ph idx="1"/>
          </p:nvPr>
        </p:nvSpPr>
        <p:spPr/>
        <p:txBody>
          <a:bodyPr wrap="square">
            <a:normAutofit/>
          </a:bodyPr>
          <a:lstStyle/>
          <a:p>
            <a:pPr>
              <a:buNone/>
            </a:pPr>
            <a:r>
              <a:rPr b="0" i="0" u="none" sz="2200"/>
              <a:t>Objectives</a:t>
            </a:r>
            <a:endParaRPr sz="2200" b="0" i="0">
              <a:latin typeface="Arial"/>
            </a:endParaRPr>
          </a:p>
          <a:p>
            <a:pPr>
              <a:buNone/>
            </a:pPr>
            <a:r>
              <a:rPr b="0" i="0" u="none" sz="2200"/>
              <a:t/>
            </a:r>
            <a:endParaRPr sz="2200" b="0" i="0">
              <a:latin typeface="Arial"/>
            </a:endParaRPr>
          </a:p>
          <a:p>
            <a:pPr/>
            <a:r>
              <a:rPr b="0" i="0" u="none" sz="2200"/>
              <a:t>Analyze code coverage reports</a:t>
            </a:r>
            <a:endParaRPr sz="2200" b="0" i="0">
              <a:latin typeface="Arial"/>
            </a:endParaRPr>
          </a:p>
          <a:p>
            <a:pPr/>
            <a:r>
              <a:rPr b="0" i="0" u="none" sz="2200"/>
              <a:t>Use Copilot to intelligently add tests</a:t>
            </a:r>
            <a:endParaRPr sz="2200" b="0" i="0">
              <a:latin typeface="Arial"/>
            </a:endParaRPr>
          </a:p>
          <a:p>
            <a:pPr/>
            <a:r>
              <a:rPr b="0" i="0" u="none" sz="2200"/>
              <a:t>Achieve target coverage percentage</a:t>
            </a:r>
            <a:endParaRPr sz="2200" b="0" i="0">
              <a:latin typeface="Arial"/>
            </a:endParaRPr>
          </a:p>
          <a:p>
            <a:pPr/>
            <a:r>
              <a:rPr b="0" i="0" u="none" sz="2200"/>
              <a:t>Balance quantity vs. quality of tests</a:t>
            </a:r>
            <a:endParaRPr sz="2200" b="0" i="0">
              <a:latin typeface="Arial"/>
            </a:endParaRPr>
          </a:p>
          <a:p>
            <a:pPr>
              <a:buNone/>
            </a:pPr>
            <a:r>
              <a:rPr b="0" i="0" u="none" sz="2200"/>
              <a:t/>
            </a:r>
            <a:endParaRPr sz="2200" b="0" i="0">
              <a:latin typeface="Arial"/>
            </a:endParaRPr>
          </a:p>
          <a:p>
            <a:pPr>
              <a:buNone/>
            </a:pPr>
            <a:r>
              <a:rPr b="0" i="0" u="none" sz="2200"/>
              <a:t>Activities</a:t>
            </a:r>
            <a:endParaRPr sz="2200" b="0" i="0">
              <a:latin typeface="Arial"/>
            </a:endParaRPr>
          </a:p>
          <a:p>
            <a:pPr>
              <a:buNone/>
            </a:pPr>
            <a:r>
              <a:rPr b="0" i="0" u="none" sz="2200"/>
              <a:t/>
            </a:r>
            <a:endParaRPr sz="2200" b="0" i="0">
              <a:latin typeface="Arial"/>
            </a:endParaRPr>
          </a:p>
          <a:p>
            <a:pPr>
              <a:buNone/>
            </a:pPr>
            <a:r>
              <a:rPr b="0" i="0" u="none" sz="2200"/>
              <a:t>1. Review Current Coverage:</a:t>
            </a:r>
            <a:endParaRPr sz="2200" b="0" i="0">
              <a:latin typeface="Arial"/>
            </a:endParaRPr>
          </a:p>
          <a:p>
            <a:pPr>
              <a:buNone/>
            </a:pPr>
            <a:r>
              <a:rPr b="0" i="0" u="none" sz="2200"/>
              <a:t/>
            </a:r>
            <a:endParaRPr sz="2200" b="0" i="0">
              <a:latin typeface="Arial"/>
            </a:endParaRPr>
          </a:p>
          <a:p>
            <a:pPr/>
            <a:r>
              <a:rPr b="0" i="0" u="none" sz="2200"/>
              <a:t>Run tests with coverage reporting</a:t>
            </a:r>
            <a:endParaRPr sz="2200" b="0" i="0">
              <a:latin typeface="Arial"/>
            </a:endParaRPr>
          </a:p>
          <a:p>
            <a:pPr/>
            <a:r>
              <a:rPr b="0" i="0" u="none" sz="2200"/>
              <a:t>Identify uncovered code paths</a:t>
            </a:r>
            <a:endParaRPr sz="2200" b="0" i="0">
              <a:latin typeface="Arial"/>
            </a:endParaRPr>
          </a:p>
          <a:p>
            <a:pPr/>
            <a:r>
              <a:rPr b="0" i="0" u="none" sz="2200"/>
              <a:t>Analyze coverage percentage by file/class</a:t>
            </a:r>
            <a:endParaRPr sz="2200" b="0" i="0">
              <a:latin typeface="Arial"/>
            </a:endParaRPr>
          </a:p>
          <a:p>
            <a:pPr>
              <a:buNone/>
            </a:pPr>
            <a:r>
              <a:rPr b="0" i="0" u="none" sz="2200"/>
              <a:t/>
            </a:r>
            <a:endParaRPr sz="2200" b="0" i="0">
              <a:latin typeface="Arial"/>
            </a:endParaRPr>
          </a:p>
          <a:p>
            <a:pPr>
              <a:buNone/>
            </a:pPr>
            <a:r>
              <a:rPr b="0" i="0" u="none" sz="2200"/>
              <a:t>2. Targeted Test Generation:</a:t>
            </a:r>
            <a:endParaRPr sz="2200" b="0" i="0">
              <a:latin typeface="Arial"/>
            </a:endParaRPr>
          </a:p>
          <a:p>
            <a:pPr>
              <a:buNone/>
            </a:pPr>
            <a:r>
              <a:rPr b="0" i="0" u="none" sz="2200"/>
              <a:t/>
            </a:r>
            <a:endParaRPr sz="2200" b="0" i="0">
              <a:latin typeface="Arial"/>
            </a:endParaRPr>
          </a:p>
          <a:p>
            <a:pPr/>
            <a:r>
              <a:rPr b="0" i="0" u="none" sz="2200"/>
              <a:t>Prompt: "Add tests to increase code coverage to [X]%"</a:t>
            </a:r>
            <a:endParaRPr sz="2200" b="0" i="0">
              <a:latin typeface="Arial"/>
            </a:endParaRPr>
          </a:p>
          <a:p>
            <a:pPr/>
            <a:r>
              <a:rPr b="0" i="0" u="none" sz="2200"/>
              <a:t>Observe how Copilot identifies gaps</a:t>
            </a:r>
            <a:endParaRPr sz="2200" b="0" i="0">
              <a:latin typeface="Arial"/>
            </a:endParaRPr>
          </a:p>
          <a:p>
            <a:pPr/>
            <a:r>
              <a:rPr b="0" i="0" u="none" sz="2200"/>
              <a:t>Review generated tests for quality</a:t>
            </a:r>
            <a:endParaRPr sz="2200" b="0" i="0">
              <a:latin typeface="Arial"/>
            </a:endParaRPr>
          </a:p>
          <a:p>
            <a:pPr>
              <a:buNone/>
            </a:pPr>
            <a:r>
              <a:rPr b="0" i="0" u="none" sz="2200"/>
              <a:t/>
            </a:r>
            <a:endParaRPr sz="2200" b="0" i="0">
              <a:latin typeface="Arial"/>
            </a:endParaRPr>
          </a:p>
          <a:p>
            <a:pPr>
              <a:buNone/>
            </a:pPr>
            <a:r>
              <a:rPr b="0" i="0" u="none" sz="2200"/>
              <a:t>3. Strategic Coverage Improvement:</a:t>
            </a:r>
            <a:endParaRPr sz="2200" b="0" i="0">
              <a:latin typeface="Arial"/>
            </a:endParaRPr>
          </a:p>
          <a:p>
            <a:pPr>
              <a:buNone/>
            </a:pPr>
            <a:r>
              <a:rPr b="0" i="0" u="none" sz="2200"/>
              <a:t/>
            </a:r>
            <a:endParaRPr sz="2200" b="0" i="0">
              <a:latin typeface="Arial"/>
            </a:endParaRPr>
          </a:p>
          <a:p>
            <a:pPr/>
            <a:r>
              <a:rPr b="0" i="0" u="none" sz="2200"/>
              <a:t>Prompt: "Add tests for edge cases in division operation"</a:t>
            </a:r>
            <a:endParaRPr sz="2200" b="0" i="0">
              <a:latin typeface="Arial"/>
            </a:endParaRPr>
          </a:p>
          <a:p>
            <a:pPr/>
            <a:r>
              <a:rPr b="0" i="0" u="none" sz="2200"/>
              <a:t>Prompt: "Add tests for corner cases like divide by zero"</a:t>
            </a:r>
            <a:endParaRPr sz="2200" b="0" i="0">
              <a:latin typeface="Arial"/>
            </a:endParaRPr>
          </a:p>
          <a:p>
            <a:pPr/>
            <a:r>
              <a:rPr b="0" i="0" u="none" sz="2200"/>
              <a:t>Prompt: "Add integration tests for evaluate arithmetic method"</a:t>
            </a:r>
            <a:endParaRPr sz="2200" b="0" i="0">
              <a:latin typeface="Arial"/>
            </a:endParaRPr>
          </a:p>
          <a:p>
            <a:pPr>
              <a:buNone/>
            </a:pPr>
            <a:r>
              <a:rPr b="0" i="0" u="none" sz="2200"/>
              <a:t/>
            </a:r>
            <a:endParaRPr sz="2200" b="0" i="0">
              <a:latin typeface="Arial"/>
            </a:endParaRPr>
          </a:p>
          <a:p>
            <a:pPr>
              <a:buNone/>
            </a:pPr>
            <a:r>
              <a:rPr b="0" i="0" u="none" sz="2200"/>
              <a:t>4. Verify Test Quality:</a:t>
            </a:r>
            <a:endParaRPr sz="2200" b="0" i="0">
              <a:latin typeface="Arial"/>
            </a:endParaRPr>
          </a:p>
          <a:p>
            <a:pPr>
              <a:buNone/>
            </a:pPr>
            <a:r>
              <a:rPr b="0" i="0" u="none" sz="2200"/>
              <a:t/>
            </a:r>
            <a:endParaRPr sz="2200" b="0" i="0">
              <a:latin typeface="Arial"/>
            </a:endParaRPr>
          </a:p>
          <a:p>
            <a:pPr/>
            <a:r>
              <a:rPr b="0" i="0" u="none" sz="2200"/>
              <a:t>Confirm tests call real implementation code</a:t>
            </a:r>
            <a:endParaRPr sz="2200" b="0" i="0">
              <a:latin typeface="Arial"/>
            </a:endParaRPr>
          </a:p>
          <a:p>
            <a:pPr/>
            <a:r>
              <a:rPr b="0" i="0" u="none" sz="2200"/>
              <a:t>Confirm tests verify expected behavior, not just execution</a:t>
            </a:r>
            <a:endParaRPr sz="2200" b="0" i="0">
              <a:latin typeface="Arial"/>
            </a:endParaRPr>
          </a:p>
          <a:p>
            <a:pPr/>
            <a:r>
              <a:rPr b="0" i="0" u="none" sz="2200"/>
              <a:t>Confirm edge cases are properly handled</a:t>
            </a:r>
            <a:endParaRPr sz="2200" b="0" i="0">
              <a:latin typeface="Arial"/>
            </a:endParaRPr>
          </a:p>
          <a:p>
            <a:pPr>
              <a:buNone/>
            </a:pPr>
            <a:r>
              <a:rPr b="0" i="0" u="none" sz="2200"/>
              <a:t/>
            </a:r>
            <a:endParaRPr sz="2200" b="0" i="0">
              <a:latin typeface="Arial"/>
            </a:endParaRPr>
          </a:p>
          <a:p>
            <a:pPr>
              <a:buNone/>
            </a:pPr>
            <a:r>
              <a:rPr b="0" i="0" u="none" sz="2200"/>
              <a:t>5. Re-run Coverage:</a:t>
            </a:r>
            <a:endParaRPr sz="2200" b="0" i="0">
              <a:latin typeface="Arial"/>
            </a:endParaRPr>
          </a:p>
          <a:p>
            <a:pPr>
              <a:buNone/>
            </a:pPr>
            <a:r>
              <a:rPr b="0" i="0" u="none" sz="2200"/>
              <a:t/>
            </a:r>
            <a:endParaRPr sz="2200" b="0" i="0">
              <a:latin typeface="Arial"/>
            </a:endParaRPr>
          </a:p>
          <a:p>
            <a:pPr/>
            <a:r>
              <a:rPr b="0" i="0" u="none" sz="2200"/>
              <a:t>Execute test suite with coverage</a:t>
            </a:r>
            <a:endParaRPr sz="2200" b="0" i="0">
              <a:latin typeface="Arial"/>
            </a:endParaRPr>
          </a:p>
          <a:p>
            <a:pPr/>
            <a:r>
              <a:rPr b="0" i="0" u="none" sz="2200"/>
              <a:t>Compare before/after percentages</a:t>
            </a:r>
            <a:endParaRPr sz="2200" b="0" i="0">
              <a:latin typeface="Arial"/>
            </a:endParaRPr>
          </a:p>
          <a:p>
            <a:pPr/>
            <a:r>
              <a:rPr b="0" i="0" u="none" sz="2200"/>
              <a:t>Identify remaining gaps</a:t>
            </a:r>
            <a:endParaRPr sz="2200" b="0" i="0">
              <a:latin typeface="Arial"/>
            </a:endParaRPr>
          </a:p>
          <a:p>
            <a:pPr>
              <a:buNone/>
            </a:pPr>
            <a:r>
              <a:rPr b="0" i="0" u="none" sz="2200"/>
              <a:t/>
            </a:r>
            <a:endParaRPr sz="2200" b="0" i="0">
              <a:latin typeface="Arial"/>
            </a:endParaRPr>
          </a:p>
          <a:p>
            <a:pPr>
              <a:buNone/>
            </a:pPr>
            <a:r>
              <a:rPr b="0" i="0" u="none" sz="2200"/>
              <a:t>Success Criteria</a:t>
            </a:r>
            <a:endParaRPr sz="2200" b="0" i="0">
              <a:latin typeface="Arial"/>
            </a:endParaRPr>
          </a:p>
          <a:p>
            <a:pPr>
              <a:buNone/>
            </a:pPr>
            <a:r>
              <a:rPr b="0" i="0" u="none" sz="2200"/>
              <a:t/>
            </a:r>
            <a:endParaRPr sz="2200" b="0" i="0">
              <a:latin typeface="Arial"/>
            </a:endParaRPr>
          </a:p>
          <a:p>
            <a:pPr/>
            <a:r>
              <a:rPr b="0" i="0" u="none" sz="2200"/>
              <a:t>Code coverage increased by at least 20 percentage points</a:t>
            </a:r>
            <a:endParaRPr sz="2200" b="0" i="0">
              <a:latin typeface="Arial"/>
            </a:endParaRPr>
          </a:p>
          <a:p>
            <a:pPr/>
            <a:r>
              <a:rPr b="0" i="0" u="none" sz="2200"/>
              <a:t>All new tests are meaningful and test actual implementation</a:t>
            </a:r>
            <a:endParaRPr sz="2200" b="0" i="0">
              <a:latin typeface="Arial"/>
            </a:endParaRPr>
          </a:p>
          <a:p>
            <a:pPr/>
            <a:r>
              <a:rPr b="0" i="0" u="none" sz="2200"/>
              <a:t>Tests include edge cases and error conditions</a:t>
            </a:r>
            <a:endParaRPr sz="2200" b="0" i="0">
              <a:latin typeface="Arial"/>
            </a:endParaRPr>
          </a:p>
          <a:p>
            <a:pPr/>
            <a:r>
              <a:rPr b="0" i="0" u="none" sz="2200"/>
              <a:t>Coverage report shows improved metrics</a:t>
            </a:r>
            <a:endParaRPr sz="2200" b="0" i="0">
              <a:latin typeface="Arial"/>
            </a:endParaRPr>
          </a:p>
          <a:p>
            <a:pPr/>
            <a:r>
              <a:rPr b="0" i="0" u="none" sz="2200"/>
              <a:t>Understanding of test quality vs. quantity trade-offs</a:t>
            </a:r>
            <a:endParaRPr sz="2200" b="0" i="0">
              <a:latin typeface="Arial"/>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Write the Test First. Trust the Process.</a:t>
            </a:r>
          </a:p>
        </p:txBody>
      </p:sp>
      <p:sp>
        <p:nvSpPr>
          <p:cNvPr id="3" name="Content Placeholder 2"/>
          <p:cNvSpPr>
            <a:spLocks noGrp="1"/>
          </p:cNvSpPr>
          <p:nvPr>
            <p:ph idx="1"/>
          </p:nvPr>
        </p:nvSpPr>
        <p:spPr/>
        <p:txBody>
          <a:bodyPr wrap="square">
            <a:normAutofit/>
          </a:bodyPr>
          <a:lstStyle/>
          <a:p>
            <a:pPr>
              <a:buNone/>
            </a:pPr>
            <a:r>
              <a:rPr b="0" i="0" u="none" sz="2200"/>
              <a:t>Objectives</a:t>
            </a:r>
            <a:endParaRPr sz="2200" b="0" i="0">
              <a:latin typeface="Arial"/>
            </a:endParaRPr>
          </a:p>
          <a:p>
            <a:pPr>
              <a:buNone/>
            </a:pPr>
            <a:r>
              <a:rPr b="0" i="0" u="none" sz="2200"/>
              <a:t/>
            </a:r>
            <a:endParaRPr sz="2200" b="0" i="0">
              <a:latin typeface="Arial"/>
            </a:endParaRPr>
          </a:p>
          <a:p>
            <a:pPr/>
            <a:r>
              <a:rPr b="0" i="0" u="none" sz="2200"/>
              <a:t>Practice TDD workflow with AI assistance</a:t>
            </a:r>
            <a:endParaRPr sz="2200" b="0" i="0">
              <a:latin typeface="Arial"/>
            </a:endParaRPr>
          </a:p>
          <a:p>
            <a:pPr/>
            <a:r>
              <a:rPr b="0" i="0" u="none" sz="2200"/>
              <a:t>Write failing tests before implementation</a:t>
            </a:r>
            <a:endParaRPr sz="2200" b="0" i="0">
              <a:latin typeface="Arial"/>
            </a:endParaRPr>
          </a:p>
          <a:p>
            <a:pPr/>
            <a:r>
              <a:rPr b="0" i="0" u="none" sz="2200"/>
              <a:t>Use tests to drive design decisions</a:t>
            </a:r>
            <a:endParaRPr sz="2200" b="0" i="0">
              <a:latin typeface="Arial"/>
            </a:endParaRPr>
          </a:p>
          <a:p>
            <a:pPr/>
            <a:r>
              <a:rPr b="0" i="0" u="none" sz="2200"/>
              <a:t>Understand red-green-refactor cycle</a:t>
            </a:r>
            <a:endParaRPr sz="2200" b="0" i="0">
              <a:latin typeface="Arial"/>
            </a:endParaRPr>
          </a:p>
          <a:p>
            <a:pPr>
              <a:buNone/>
            </a:pPr>
            <a:r>
              <a:rPr b="0" i="0" u="none" sz="2200"/>
              <a:t/>
            </a:r>
            <a:endParaRPr sz="2200" b="0" i="0">
              <a:latin typeface="Arial"/>
            </a:endParaRPr>
          </a:p>
          <a:p>
            <a:pPr>
              <a:buNone/>
            </a:pPr>
            <a:r>
              <a:rPr b="0" i="0" u="none" sz="2200"/>
              <a:t>Activities</a:t>
            </a:r>
            <a:endParaRPr sz="2200" b="0" i="0">
              <a:latin typeface="Arial"/>
            </a:endParaRPr>
          </a:p>
          <a:p>
            <a:pPr>
              <a:buNone/>
            </a:pPr>
            <a:r>
              <a:rPr b="0" i="0" u="none" sz="2200"/>
              <a:t/>
            </a:r>
            <a:endParaRPr sz="2200" b="0" i="0">
              <a:latin typeface="Arial"/>
            </a:endParaRPr>
          </a:p>
          <a:p>
            <a:pPr>
              <a:buNone/>
            </a:pPr>
            <a:r>
              <a:rPr b="0" i="0" u="none" sz="2200"/>
              <a:t>1. Define New Feature:</a:t>
            </a:r>
            <a:endParaRPr sz="2200" b="0" i="0">
              <a:latin typeface="Arial"/>
            </a:endParaRPr>
          </a:p>
          <a:p>
            <a:pPr>
              <a:buNone/>
            </a:pPr>
            <a:r>
              <a:rPr b="0" i="0" u="none" sz="2200"/>
              <a:t/>
            </a:r>
            <a:endParaRPr sz="2200" b="0" i="0">
              <a:latin typeface="Arial"/>
            </a:endParaRPr>
          </a:p>
          <a:p>
            <a:pPr/>
            <a:r>
              <a:rPr b="0" i="0" u="none" sz="2200"/>
              <a:t>Choose a feature (for example, memory operations for calculator)</a:t>
            </a:r>
            <a:endParaRPr sz="2200" b="0" i="0">
              <a:latin typeface="Arial"/>
            </a:endParaRPr>
          </a:p>
          <a:p>
            <a:pPr/>
            <a:r>
              <a:rPr b="0" i="0" u="none" sz="2200"/>
              <a:t>Store current result (ANS/answer functionality)</a:t>
            </a:r>
            <a:endParaRPr sz="2200" b="0" i="0">
              <a:latin typeface="Arial"/>
            </a:endParaRPr>
          </a:p>
          <a:p>
            <a:pPr/>
            <a:r>
              <a:rPr b="0" i="0" u="none" sz="2200"/>
              <a:t>Recall previous result</a:t>
            </a:r>
            <a:endParaRPr sz="2200" b="0" i="0">
              <a:latin typeface="Arial"/>
            </a:endParaRPr>
          </a:p>
          <a:p>
            <a:pPr/>
            <a:r>
              <a:rPr b="0" i="0" u="none" sz="2200"/>
              <a:t>Handle "ANS + 5" style operations</a:t>
            </a:r>
            <a:endParaRPr sz="2200" b="0" i="0">
              <a:latin typeface="Arial"/>
            </a:endParaRPr>
          </a:p>
          <a:p>
            <a:pPr>
              <a:buNone/>
            </a:pPr>
            <a:r>
              <a:rPr b="0" i="0" u="none" sz="2200"/>
              <a:t/>
            </a:r>
            <a:endParaRPr sz="2200" b="0" i="0">
              <a:latin typeface="Arial"/>
            </a:endParaRPr>
          </a:p>
          <a:p>
            <a:pPr>
              <a:buNone/>
            </a:pPr>
            <a:r>
              <a:rPr b="0" i="0" u="none" sz="2200"/>
              <a:t>2. Write Failing Tests First:</a:t>
            </a:r>
            <a:endParaRPr sz="2200" b="0" i="0">
              <a:latin typeface="Arial"/>
            </a:endParaRPr>
          </a:p>
          <a:p>
            <a:pPr>
              <a:buNone/>
            </a:pPr>
            <a:r>
              <a:rPr b="0" i="0" u="none" sz="2200"/>
              <a:t/>
            </a:r>
            <a:endParaRPr sz="2200" b="0" i="0">
              <a:latin typeface="Arial"/>
            </a:endParaRPr>
          </a:p>
          <a:p>
            <a:pPr/>
            <a:r>
              <a:rPr b="0" i="0" u="none" sz="2200"/>
              <a:t>Prompt: "Using TDD, create tests for a memory/answer feature in the calculator. DO NOT implement the feature yet."</a:t>
            </a:r>
            <a:endParaRPr sz="2200" b="0" i="0">
              <a:latin typeface="Arial"/>
            </a:endParaRPr>
          </a:p>
          <a:p>
            <a:pPr/>
            <a:r>
              <a:rPr b="0" i="0" u="none" sz="2200"/>
              <a:t>Review generated tests</a:t>
            </a:r>
            <a:endParaRPr sz="2200" b="0" i="0">
              <a:latin typeface="Arial"/>
            </a:endParaRPr>
          </a:p>
          <a:p>
            <a:pPr/>
            <a:r>
              <a:rPr b="0" i="0" u="none" sz="2200"/>
              <a:t>Verify tests reference methods that do not exist yet</a:t>
            </a:r>
            <a:endParaRPr sz="2200" b="0" i="0">
              <a:latin typeface="Arial"/>
            </a:endParaRPr>
          </a:p>
          <a:p>
            <a:pPr>
              <a:buNone/>
            </a:pPr>
            <a:r>
              <a:rPr b="0" i="0" u="none" sz="2200"/>
              <a:t/>
            </a:r>
            <a:endParaRPr sz="2200" b="0" i="0">
              <a:latin typeface="Arial"/>
            </a:endParaRPr>
          </a:p>
          <a:p>
            <a:pPr>
              <a:buNone/>
            </a:pPr>
            <a:r>
              <a:rPr b="0" i="0" u="none" sz="2200"/>
              <a:t>3. Run Tests (Expect Failures):</a:t>
            </a:r>
            <a:endParaRPr sz="2200" b="0" i="0">
              <a:latin typeface="Arial"/>
            </a:endParaRPr>
          </a:p>
          <a:p>
            <a:pPr>
              <a:buNone/>
            </a:pPr>
            <a:r>
              <a:rPr b="0" i="0" u="none" sz="2200"/>
              <a:t/>
            </a:r>
            <a:endParaRPr sz="2200" b="0" i="0">
              <a:latin typeface="Arial"/>
            </a:endParaRPr>
          </a:p>
          <a:p>
            <a:pPr/>
            <a:r>
              <a:rPr b="0" i="0" u="none" sz="2200"/>
              <a:t>Execute test suite</a:t>
            </a:r>
            <a:endParaRPr sz="2200" b="0" i="0">
              <a:latin typeface="Arial"/>
            </a:endParaRPr>
          </a:p>
          <a:p>
            <a:pPr/>
            <a:r>
              <a:rPr b="0" i="0" u="none" sz="2200"/>
              <a:t>Observe compilation errors or test failures</a:t>
            </a:r>
            <a:endParaRPr sz="2200" b="0" i="0">
              <a:latin typeface="Arial"/>
            </a:endParaRPr>
          </a:p>
          <a:p>
            <a:pPr/>
            <a:r>
              <a:rPr b="0" i="0" u="none" sz="2200"/>
              <a:t>Document what is missing</a:t>
            </a:r>
            <a:endParaRPr sz="2200" b="0" i="0">
              <a:latin typeface="Arial"/>
            </a:endParaRPr>
          </a:p>
          <a:p>
            <a:pPr>
              <a:buNone/>
            </a:pPr>
            <a:r>
              <a:rPr b="0" i="0" u="none" sz="2200"/>
              <a:t/>
            </a:r>
            <a:endParaRPr sz="2200" b="0" i="0">
              <a:latin typeface="Arial"/>
            </a:endParaRPr>
          </a:p>
          <a:p>
            <a:pPr>
              <a:buNone/>
            </a:pPr>
            <a:r>
              <a:rPr b="0" i="0" u="none" sz="2200"/>
              <a:t>4. Implement Feature to Pass Tests:</a:t>
            </a:r>
            <a:endParaRPr sz="2200" b="0" i="0">
              <a:latin typeface="Arial"/>
            </a:endParaRPr>
          </a:p>
          <a:p>
            <a:pPr>
              <a:buNone/>
            </a:pPr>
            <a:r>
              <a:rPr b="0" i="0" u="none" sz="2200"/>
              <a:t/>
            </a:r>
            <a:endParaRPr sz="2200" b="0" i="0">
              <a:latin typeface="Arial"/>
            </a:endParaRPr>
          </a:p>
          <a:p>
            <a:pPr/>
            <a:r>
              <a:rPr b="0" i="0" u="none" sz="2200"/>
              <a:t>Prompt: "Implement the memory/answer feature to make the tests pass"</a:t>
            </a:r>
            <a:endParaRPr sz="2200" b="0" i="0">
              <a:latin typeface="Arial"/>
            </a:endParaRPr>
          </a:p>
          <a:p>
            <a:pPr/>
            <a:r>
              <a:rPr b="0" i="0" u="none" sz="2200"/>
              <a:t>Review generated implementation</a:t>
            </a:r>
            <a:endParaRPr sz="2200" b="0" i="0">
              <a:latin typeface="Arial"/>
            </a:endParaRPr>
          </a:p>
          <a:p>
            <a:pPr/>
            <a:r>
              <a:rPr b="0" i="0" u="none" sz="2200"/>
              <a:t>Run tests again</a:t>
            </a:r>
            <a:endParaRPr sz="2200" b="0" i="0">
              <a:latin typeface="Arial"/>
            </a:endParaRPr>
          </a:p>
          <a:p>
            <a:pPr/>
            <a:r>
              <a:rPr b="0" i="0" u="none" sz="2200"/>
              <a:t>Verify all tests now pass</a:t>
            </a:r>
            <a:endParaRPr sz="2200" b="0" i="0">
              <a:latin typeface="Arial"/>
            </a:endParaRPr>
          </a:p>
          <a:p>
            <a:pPr>
              <a:buNone/>
            </a:pPr>
            <a:r>
              <a:rPr b="0" i="0" u="none" sz="2200"/>
              <a:t/>
            </a:r>
            <a:endParaRPr sz="2200" b="0" i="0">
              <a:latin typeface="Arial"/>
            </a:endParaRPr>
          </a:p>
          <a:p>
            <a:pPr>
              <a:buNone/>
            </a:pPr>
            <a:r>
              <a:rPr b="0" i="0" u="none" sz="2200"/>
              <a:t>5. Refactor:</a:t>
            </a:r>
            <a:endParaRPr sz="2200" b="0" i="0">
              <a:latin typeface="Arial"/>
            </a:endParaRPr>
          </a:p>
          <a:p>
            <a:pPr>
              <a:buNone/>
            </a:pPr>
            <a:r>
              <a:rPr b="0" i="0" u="none" sz="2200"/>
              <a:t/>
            </a:r>
            <a:endParaRPr sz="2200" b="0" i="0">
              <a:latin typeface="Arial"/>
            </a:endParaRPr>
          </a:p>
          <a:p>
            <a:pPr/>
            <a:r>
              <a:rPr b="0" i="0" u="none" sz="2200"/>
              <a:t>With tests passing, ask for improvements</a:t>
            </a:r>
            <a:endParaRPr sz="2200" b="0" i="0">
              <a:latin typeface="Arial"/>
            </a:endParaRPr>
          </a:p>
          <a:p>
            <a:pPr/>
            <a:r>
              <a:rPr b="0" i="0" u="none" sz="2200"/>
              <a:t>Prompt: "Refactor the answer implementation for better readability"</a:t>
            </a:r>
            <a:endParaRPr sz="2200" b="0" i="0">
              <a:latin typeface="Arial"/>
            </a:endParaRPr>
          </a:p>
          <a:p>
            <a:pPr/>
            <a:r>
              <a:rPr b="0" i="0" u="none" sz="2200"/>
              <a:t>Verify tests still pass after refactoring</a:t>
            </a:r>
            <a:endParaRPr sz="2200" b="0" i="0">
              <a:latin typeface="Arial"/>
            </a:endParaRPr>
          </a:p>
          <a:p>
            <a:pPr>
              <a:buNone/>
            </a:pPr>
            <a:r>
              <a:rPr b="0" i="0" u="none" sz="2200"/>
              <a:t/>
            </a:r>
            <a:endParaRPr sz="2200" b="0" i="0">
              <a:latin typeface="Arial"/>
            </a:endParaRPr>
          </a:p>
          <a:p>
            <a:pPr>
              <a:buNone/>
            </a:pPr>
            <a:r>
              <a:rPr b="0" i="0" u="none" sz="2200"/>
              <a:t>Success Criteria</a:t>
            </a:r>
            <a:endParaRPr sz="2200" b="0" i="0">
              <a:latin typeface="Arial"/>
            </a:endParaRPr>
          </a:p>
          <a:p>
            <a:pPr>
              <a:buNone/>
            </a:pPr>
            <a:r>
              <a:rPr b="0" i="0" u="none" sz="2200"/>
              <a:t/>
            </a:r>
            <a:endParaRPr sz="2200" b="0" i="0">
              <a:latin typeface="Arial"/>
            </a:endParaRPr>
          </a:p>
          <a:p>
            <a:pPr/>
            <a:r>
              <a:rPr b="0" i="0" u="none" sz="2200"/>
              <a:t>Tests written before implementation</a:t>
            </a:r>
            <a:endParaRPr sz="2200" b="0" i="0">
              <a:latin typeface="Arial"/>
            </a:endParaRPr>
          </a:p>
          <a:p>
            <a:pPr/>
            <a:r>
              <a:rPr b="0" i="0" u="none" sz="2200"/>
              <a:t>Initial test run shows failures (red phase)</a:t>
            </a:r>
            <a:endParaRPr sz="2200" b="0" i="0">
              <a:latin typeface="Arial"/>
            </a:endParaRPr>
          </a:p>
          <a:p>
            <a:pPr/>
            <a:r>
              <a:rPr b="0" i="0" u="none" sz="2200"/>
              <a:t>Implementation makes all tests pass (green phase)</a:t>
            </a:r>
            <a:endParaRPr sz="2200" b="0" i="0">
              <a:latin typeface="Arial"/>
            </a:endParaRPr>
          </a:p>
          <a:p>
            <a:pPr/>
            <a:r>
              <a:rPr b="0" i="0" u="none" sz="2200"/>
              <a:t>Code refactored while maintaining passing tests</a:t>
            </a:r>
            <a:endParaRPr sz="2200" b="0" i="0">
              <a:latin typeface="Arial"/>
            </a:endParaRPr>
          </a:p>
          <a:p>
            <a:pPr/>
            <a:r>
              <a:rPr b="0" i="0" u="none" sz="2200"/>
              <a:t>Understanding of TDD benefits and workflow</a:t>
            </a:r>
            <a:endParaRPr sz="2200" b="0" i="0">
              <a:latin typeface="Arial"/>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YAML: Now With 50% Less Soul-Crushing Manual Edits</a:t>
            </a:r>
          </a:p>
        </p:txBody>
      </p:sp>
      <p:sp>
        <p:nvSpPr>
          <p:cNvPr id="3" name="Content Placeholder 2"/>
          <p:cNvSpPr>
            <a:spLocks noGrp="1"/>
          </p:cNvSpPr>
          <p:nvPr>
            <p:ph idx="1"/>
          </p:nvPr>
        </p:nvSpPr>
        <p:spPr/>
        <p:txBody>
          <a:bodyPr wrap="square">
            <a:normAutofit/>
          </a:bodyPr>
          <a:lstStyle/>
          <a:p>
            <a:pPr>
              <a:buNone/>
            </a:pPr>
            <a:r>
              <a:rPr b="0" i="0" u="none" sz="2800"/>
              <a:t>GitHub Actions YAML generation</a:t>
            </a:r>
            <a:endParaRPr sz="2800" b="0" i="0">
              <a:latin typeface="Arial"/>
            </a:endParaRPr>
          </a:p>
          <a:p>
            <a:pPr>
              <a:buNone/>
            </a:pPr>
            <a:r>
              <a:rPr b="0" i="0" u="none" sz="2800"/>
              <a:t>Build automation with AI</a:t>
            </a:r>
            <a:endParaRPr sz="2800" b="0" i="0">
              <a:latin typeface="Arial"/>
            </a:endParaRPr>
          </a:p>
          <a:p>
            <a:pPr>
              <a:buNone/>
            </a:pPr>
            <a:r>
              <a:rPr b="0" i="0" u="none" sz="2800"/>
              <a:t>Coverage thresholds</a:t>
            </a:r>
            <a:endParaRPr sz="2800" b="0" i="0">
              <a:latin typeface="Arial"/>
            </a:endParaRPr>
          </a:p>
          <a:p>
            <a:pPr>
              <a:buNone/>
            </a:pPr>
            <a:r>
              <a:rPr b="0" i="0" u="none" sz="2800"/>
              <a:t>Pipeline maintenance and evolution</a:t>
            </a:r>
            <a:endParaRPr sz="2800" b="0" i="0">
              <a:latin typeface="Arial"/>
            </a:endParaRPr>
          </a:p>
          <a:p>
            <a:pPr>
              <a:buNone/>
            </a:pPr>
            <a:r>
              <a:rPr b="0" i="0" u="none" sz="2800"/>
              <a:t>Exercise: Generate a pipeline from scratch</a:t>
            </a:r>
            <a:endParaRPr sz="2800" b="0" i="0">
              <a:latin typeface="Arial"/>
            </a:endParaR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Why Pipelines Are Hard</a:t>
            </a:r>
          </a:p>
        </p:txBody>
      </p:sp>
      <p:sp>
        <p:nvSpPr>
          <p:cNvPr id="3" name="Content Placeholder 2"/>
          <p:cNvSpPr>
            <a:spLocks noGrp="1"/>
          </p:cNvSpPr>
          <p:nvPr>
            <p:ph idx="1"/>
          </p:nvPr>
        </p:nvSpPr>
        <p:spPr/>
        <p:txBody>
          <a:bodyPr wrap="square">
            <a:normAutofit/>
          </a:bodyPr>
          <a:lstStyle/>
          <a:p>
            <a:pPr>
              <a:buNone/>
            </a:pPr>
            <a:r>
              <a:rPr b="0" i="0" u="none" sz="2800"/>
              <a:t>YAML syntax is unforgiving</a:t>
            </a:r>
            <a:endParaRPr sz="2800" b="0" i="0">
              <a:latin typeface="Arial"/>
            </a:endParaRPr>
          </a:p>
          <a:p>
            <a:pPr>
              <a:buNone/>
            </a:pPr>
            <a:r>
              <a:rPr b="0" i="0" u="none" sz="2800"/>
              <a:t>Action versions change constantly</a:t>
            </a:r>
            <a:endParaRPr sz="2800" b="0" i="0">
              <a:latin typeface="Arial"/>
            </a:endParaRPr>
          </a:p>
          <a:p>
            <a:pPr>
              <a:buNone/>
            </a:pPr>
            <a:r>
              <a:rPr b="0" i="0" u="none" sz="2800"/>
              <a:t>Environment variables, secrets, and caching rules interact unexpectedly</a:t>
            </a:r>
            <a:endParaRPr sz="2800" b="0" i="0">
              <a:latin typeface="Arial"/>
            </a:endParaRPr>
          </a:p>
          <a:p>
            <a:pPr>
              <a:buNone/>
            </a:pPr>
            <a:r>
              <a:rPr b="0" i="0" u="none" sz="2800"/>
              <a:t>Coverage gates, linting, and deployment steps differ per project</a:t>
            </a:r>
            <a:endParaRPr sz="2800" b="0" i="0">
              <a:latin typeface="Arial"/>
            </a:endParaRPr>
          </a:p>
          <a:p>
            <a:pPr>
              <a:buNone/>
            </a:pPr>
            <a:r>
              <a:rPr b="0" i="0" u="none" sz="2800"/>
              <a:t>Copy-paste drift between projects accumulates silently</a:t>
            </a:r>
            <a:endParaRPr sz="2800" b="0" i="0">
              <a:latin typeface="Arial"/>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What AI Brings to CI/CD</a:t>
            </a:r>
          </a:p>
        </p:txBody>
      </p:sp>
      <p:sp>
        <p:nvSpPr>
          <p:cNvPr id="3" name="Content Placeholder 2"/>
          <p:cNvSpPr>
            <a:spLocks noGrp="1"/>
          </p:cNvSpPr>
          <p:nvPr>
            <p:ph idx="1"/>
          </p:nvPr>
        </p:nvSpPr>
        <p:spPr/>
        <p:txBody>
          <a:bodyPr wrap="square">
            <a:normAutofit/>
          </a:bodyPr>
          <a:lstStyle/>
          <a:p>
            <a:endParaRPr sz="1800" b="0" i="0">
              <a:latin typeface="Consolas"/>
            </a:endParaRPr>
          </a:p>
          <a:p>
            <a:pPr>
              <a:buNone/>
            </a:pPr>
            <a:r>
              <a:rPr sz="1800" b="0" i="0">
                <a:latin typeface="Consolas"/>
              </a:rPr>
              <a:t>You → intent           AI → working YAML</a:t>
            </a:r>
            <a:endParaRPr sz="1800" b="0" i="0">
              <a:latin typeface="Consolas"/>
            </a:endParaRPr>
          </a:p>
          <a:p>
            <a:pPr>
              <a:buNone/>
            </a:pPr>
            <a:r>
              <a:rPr sz="1800" b="0" i="0">
                <a:latin typeface="Consolas"/>
              </a:rPr>
              <a:t>   "run tests on PR"        on: [pull_request]</a:t>
            </a:r>
            <a:endParaRPr sz="1800" b="0" i="0">
              <a:latin typeface="Consolas"/>
            </a:endParaRPr>
          </a:p>
          <a:p>
            <a:pPr>
              <a:buNone/>
            </a:pPr>
            <a:r>
              <a:rPr sz="1800" b="0" i="0">
                <a:latin typeface="Consolas"/>
              </a:rPr>
              <a:t>                            jobs: test: ...</a:t>
            </a:r>
            <a:endParaRPr sz="1800" b="0" i="0">
              <a:latin typeface="Consolas"/>
            </a:endParaRPr>
          </a:p>
          <a:p>
            <a:pPr>
              <a:buNone/>
            </a:pPr>
            <a:r>
              <a:rPr b="0" i="0" u="none" sz="1800"/>
              <a:t/>
            </a:r>
            <a:endParaRPr sz="1800" b="0" i="0">
              <a:latin typeface="Consolas"/>
            </a:endParaRPr>
          </a:p>
          <a:p>
            <a:pPr>
              <a:buNone/>
            </a:pPr>
            <a:r>
              <a:rPr b="0" i="0" u="none" sz="1800"/>
              <a:t>Generate pipelines from plain English</a:t>
            </a:r>
            <a:endParaRPr sz="1800" b="0" i="0">
              <a:latin typeface="Consolas"/>
            </a:endParaRPr>
          </a:p>
          <a:p>
            <a:pPr>
              <a:buNone/>
            </a:pPr>
            <a:r>
              <a:rPr b="0" i="0" u="none" sz="1800"/>
              <a:t>Explain unfamiliar pipeline syntax</a:t>
            </a:r>
            <a:endParaRPr sz="1800" b="0" i="0">
              <a:latin typeface="Consolas"/>
            </a:endParaRPr>
          </a:p>
          <a:p>
            <a:pPr>
              <a:buNone/>
            </a:pPr>
            <a:r>
              <a:rPr b="0" i="0" u="none" sz="1800"/>
              <a:t>Diagnose failing workflow runs from logs</a:t>
            </a:r>
            <a:endParaRPr sz="1800" b="0" i="0">
              <a:latin typeface="Consolas"/>
            </a:endParaRPr>
          </a:p>
          <a:p>
            <a:pPr>
              <a:buNone/>
            </a:pPr>
            <a:r>
              <a:rPr b="0" i="0" u="none" sz="1800"/>
              <a:t>Suggest caching, matrix, and concurrency improvements</a:t>
            </a:r>
            <a:endParaRPr sz="1800" b="0" i="0">
              <a:latin typeface="Consolas"/>
            </a:endParaRPr>
          </a:p>
          <a:p>
            <a:pPr>
              <a:buNone/>
            </a:pPr>
            <a:r>
              <a:rPr b="0" i="0" u="none" sz="1800"/>
              <a:t>Keep actions pinned and up to date</a:t>
            </a:r>
            <a:endParaRPr sz="1800" b="0" i="0">
              <a:latin typeface="Consolas"/>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GitHub Actions YAML Generation</a:t>
            </a:r>
          </a:p>
        </p:txBody>
      </p:sp>
      <p:sp>
        <p:nvSpPr>
          <p:cNvPr id="3" name="Content Placeholder 2"/>
          <p:cNvSpPr>
            <a:spLocks noGrp="1"/>
          </p:cNvSpPr>
          <p:nvPr>
            <p:ph idx="1"/>
          </p:nvPr>
        </p:nvSpPr>
        <p:spPr/>
        <p:txBody>
          <a:bodyPr wrap="square">
            <a:normAutofit/>
          </a:bodyPr>
          <a:lstStyle/>
          <a:p>
            <a:pPr>
              <a:buNone/>
            </a:pPr>
            <a:r>
              <a:rPr b="0" i="0" u="none" sz="1800"/>
              <a:t>Ask Copilot in chat or inline:</a:t>
            </a:r>
            <a:endParaRPr sz="1800" b="0" i="0">
              <a:latin typeface="Consolas"/>
            </a:endParaRPr>
          </a:p>
          <a:p>
            <a:pPr>
              <a:buNone/>
            </a:pPr>
            <a:r>
              <a:rPr b="0" i="0" u="none" sz="1800"/>
              <a:t/>
            </a:r>
            <a:endParaRPr sz="1800" b="0" i="0">
              <a:latin typeface="Consolas"/>
            </a:endParaRPr>
          </a:p>
          <a:p>
            <a:pPr>
              <a:buNone/>
            </a:pPr>
            <a:r>
              <a:rPr sz="1800" b="0" i="0">
                <a:latin typeface="Consolas"/>
              </a:rPr>
              <a:t>Prompt: "Create a GitHub Actions workflow that runs</a:t>
            </a:r>
            <a:endParaRPr sz="1800" b="0" i="0">
              <a:latin typeface="Consolas"/>
            </a:endParaRPr>
          </a:p>
          <a:p>
            <a:pPr>
              <a:buNone/>
            </a:pPr>
            <a:r>
              <a:rPr sz="1800" b="0" i="0">
                <a:latin typeface="Consolas"/>
              </a:rPr>
              <a:t>dotnet test on every pull request targeting main,</a:t>
            </a:r>
            <a:endParaRPr sz="1800" b="0" i="0">
              <a:latin typeface="Consolas"/>
            </a:endParaRPr>
          </a:p>
          <a:p>
            <a:pPr>
              <a:buNone/>
            </a:pPr>
            <a:r>
              <a:rPr sz="1800" b="0" i="0">
                <a:latin typeface="Consolas"/>
              </a:rPr>
              <a:t>uploads a code coverage report, and fails if</a:t>
            </a:r>
            <a:endParaRPr sz="1800" b="0" i="0">
              <a:latin typeface="Consolas"/>
            </a:endParaRPr>
          </a:p>
          <a:p>
            <a:pPr>
              <a:buNone/>
            </a:pPr>
            <a:r>
              <a:rPr sz="1800" b="0" i="0">
                <a:latin typeface="Consolas"/>
              </a:rPr>
              <a:t>coverage drops below 80%."</a:t>
            </a:r>
            <a:endParaRPr sz="1800" b="0" i="0">
              <a:latin typeface="Consolas"/>
            </a:endParaRPr>
          </a:p>
          <a:p>
            <a:pPr>
              <a:buNone/>
            </a:pPr>
            <a:r>
              <a:rPr b="0" i="0" u="none" sz="1800"/>
              <a:t/>
            </a:r>
            <a:endParaRPr sz="1800" b="0" i="0">
              <a:latin typeface="Consolas"/>
            </a:endParaRPr>
          </a:p>
          <a:p>
            <a:pPr>
              <a:buNone/>
            </a:pPr>
            <a:r>
              <a:rPr b="0" i="0" u="none" sz="1800"/>
              <a:t>Copilot generates:</a:t>
            </a:r>
            <a:endParaRPr sz="1800" b="0" i="0">
              <a:latin typeface="Consolas"/>
            </a:endParaRPr>
          </a:p>
          <a:p>
            <a:pPr>
              <a:buNone/>
            </a:pPr>
            <a:r>
              <a:rPr b="0" i="0" u="none" sz="1800"/>
              <a:t/>
            </a:r>
            <a:endParaRPr sz="1800" b="0" i="0">
              <a:latin typeface="Consolas"/>
            </a:endParaRPr>
          </a:p>
          <a:p>
            <a:pPr/>
            <a:r>
              <a:rPr b="0" i="0" u="none" sz="1800"/>
              <a:t>Trigger block (</a:t>
            </a:r>
            <a:r>
              <a:rPr b="0" i="0" u="none" sz="1800">
                <a:latin typeface="Consolas"/>
              </a:rPr>
              <a:t>on:</a:t>
            </a:r>
            <a:r>
              <a:rPr b="0" i="0" u="none" sz="1800"/>
              <a:t>)</a:t>
            </a:r>
            <a:endParaRPr sz="1800" b="0" i="0">
              <a:latin typeface="Consolas"/>
            </a:endParaRPr>
          </a:p>
          <a:p>
            <a:pPr/>
            <a:r>
              <a:rPr b="0" i="0" u="none" sz="1800"/>
              <a:t>Job matrix</a:t>
            </a:r>
            <a:endParaRPr sz="1800" b="0" i="0">
              <a:latin typeface="Consolas"/>
            </a:endParaRPr>
          </a:p>
          <a:p>
            <a:pPr/>
            <a:r>
              <a:rPr b="0" i="0" u="none" sz="1800"/>
              <a:t>Step sequence</a:t>
            </a:r>
            <a:endParaRPr sz="1800" b="0" i="0">
              <a:latin typeface="Consolas"/>
            </a:endParaRPr>
          </a:p>
          <a:p>
            <a:pPr/>
            <a:r>
              <a:rPr b="0" i="0" u="none" sz="1800"/>
              <a:t>Coverage upload + threshold enforcement</a:t>
            </a:r>
            <a:endParaRPr sz="1800" b="0" i="0">
              <a:latin typeface="Consolas"/>
            </a:endParaRP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Anatomy of an AI-Generated Workflow</a:t>
            </a:r>
          </a:p>
        </p:txBody>
      </p:sp>
      <p:sp>
        <p:nvSpPr>
          <p:cNvPr id="3" name="Content Placeholder 2"/>
          <p:cNvSpPr>
            <a:spLocks noGrp="1"/>
          </p:cNvSpPr>
          <p:nvPr>
            <p:ph idx="1"/>
          </p:nvPr>
        </p:nvSpPr>
        <p:spPr/>
        <p:txBody>
          <a:bodyPr wrap="square">
            <a:normAutofit/>
          </a:bodyPr>
          <a:lstStyle/>
          <a:p>
            <a:endParaRPr sz="1800" b="0" i="0">
              <a:latin typeface="Consolas"/>
            </a:endParaRPr>
          </a:p>
          <a:p>
            <a:pPr>
              <a:buNone/>
            </a:pPr>
            <a:r>
              <a:rPr sz="1800" b="0" i="0">
                <a:latin typeface="Consolas"/>
              </a:rPr>
              <a:t>name: CI</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on:</a:t>
            </a:r>
            <a:endParaRPr sz="1800" b="0" i="0">
              <a:latin typeface="Consolas"/>
            </a:endParaRPr>
          </a:p>
          <a:p>
            <a:pPr>
              <a:buNone/>
            </a:pPr>
            <a:r>
              <a:rPr sz="1800" b="0" i="0">
                <a:latin typeface="Consolas"/>
              </a:rPr>
              <a:t>  pull_request:</a:t>
            </a:r>
            <a:endParaRPr sz="1800" b="0" i="0">
              <a:latin typeface="Consolas"/>
            </a:endParaRPr>
          </a:p>
          <a:p>
            <a:pPr>
              <a:buNone/>
            </a:pPr>
            <a:r>
              <a:rPr sz="1800" b="0" i="0">
                <a:latin typeface="Consolas"/>
              </a:rPr>
              <a:t>    branches: [main]</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jobs:</a:t>
            </a:r>
            <a:endParaRPr sz="1800" b="0" i="0">
              <a:latin typeface="Consolas"/>
            </a:endParaRPr>
          </a:p>
          <a:p>
            <a:pPr>
              <a:buNone/>
            </a:pPr>
            <a:r>
              <a:rPr sz="1800" b="0" i="0">
                <a:latin typeface="Consolas"/>
              </a:rPr>
              <a:t>  build-and-test:</a:t>
            </a:r>
            <a:endParaRPr sz="1800" b="0" i="0">
              <a:latin typeface="Consolas"/>
            </a:endParaRPr>
          </a:p>
          <a:p>
            <a:pPr>
              <a:buNone/>
            </a:pPr>
            <a:r>
              <a:rPr sz="1800" b="0" i="0">
                <a:latin typeface="Consolas"/>
              </a:rPr>
              <a:t>    runs-on: ubuntu-latest</a:t>
            </a:r>
            <a:endParaRPr sz="1800" b="0" i="0">
              <a:latin typeface="Consolas"/>
            </a:endParaRPr>
          </a:p>
          <a:p>
            <a:pPr>
              <a:buNone/>
            </a:pPr>
            <a:r>
              <a:rPr sz="1800" b="0" i="0">
                <a:latin typeface="Consolas"/>
              </a:rPr>
              <a:t>    steps:</a:t>
            </a:r>
            <a:endParaRPr sz="1800" b="0" i="0">
              <a:latin typeface="Consolas"/>
            </a:endParaRPr>
          </a:p>
          <a:p>
            <a:pPr>
              <a:buNone/>
            </a:pPr>
            <a:r>
              <a:rPr sz="1800" b="0" i="0">
                <a:latin typeface="Consolas"/>
              </a:rPr>
              <a:t>      - uses: actions/checkout@v4</a:t>
            </a:r>
            <a:endParaRPr sz="1800" b="0" i="0">
              <a:latin typeface="Consolas"/>
            </a:endParaRPr>
          </a:p>
          <a:p>
            <a:pPr>
              <a:buNone/>
            </a:pPr>
            <a:r>
              <a:rPr sz="1800" b="0" i="0">
                <a:latin typeface="Consolas"/>
              </a:rPr>
              <a:t>      - uses: actions/setup-dotnet@v4</a:t>
            </a:r>
            <a:endParaRPr sz="1800" b="0" i="0">
              <a:latin typeface="Consolas"/>
            </a:endParaRPr>
          </a:p>
          <a:p>
            <a:pPr>
              <a:buNone/>
            </a:pPr>
            <a:r>
              <a:rPr sz="1800" b="0" i="0">
                <a:latin typeface="Consolas"/>
              </a:rPr>
              <a:t>        with:</a:t>
            </a:r>
            <a:endParaRPr sz="1800" b="0" i="0">
              <a:latin typeface="Consolas"/>
            </a:endParaRPr>
          </a:p>
          <a:p>
            <a:pPr>
              <a:buNone/>
            </a:pPr>
            <a:r>
              <a:rPr sz="1800" b="0" i="0">
                <a:latin typeface="Consolas"/>
              </a:rPr>
              <a:t>          dotnet-version: "8.x"</a:t>
            </a:r>
            <a:endParaRPr sz="1800" b="0" i="0">
              <a:latin typeface="Consolas"/>
            </a:endParaRPr>
          </a:p>
          <a:p>
            <a:pPr>
              <a:buNone/>
            </a:pPr>
            <a:r>
              <a:rPr sz="1800" b="0" i="0">
                <a:latin typeface="Consolas"/>
              </a:rPr>
              <a:t>      - run: dotnet restore</a:t>
            </a:r>
            <a:endParaRPr sz="1800" b="0" i="0">
              <a:latin typeface="Consolas"/>
            </a:endParaRPr>
          </a:p>
          <a:p>
            <a:pPr>
              <a:buNone/>
            </a:pPr>
            <a:r>
              <a:rPr sz="1800" b="0" i="0">
                <a:latin typeface="Consolas"/>
              </a:rPr>
              <a:t>      - run: dotnet build --no-restore</a:t>
            </a:r>
            <a:endParaRPr sz="1800" b="0" i="0">
              <a:latin typeface="Consolas"/>
            </a:endParaRPr>
          </a:p>
          <a:p>
            <a:pPr>
              <a:buNone/>
            </a:pPr>
            <a:r>
              <a:rPr sz="1800" b="0" i="0">
                <a:latin typeface="Consolas"/>
              </a:rPr>
              <a:t>      - run: dotnet test --no-build</a:t>
            </a:r>
            <a:endParaRPr sz="1800" b="0" i="0">
              <a:latin typeface="Consolas"/>
            </a:endParaRPr>
          </a:p>
          <a:p>
            <a:pPr>
              <a:buNone/>
            </a:pPr>
            <a:r>
              <a:rPr sz="1800" b="0" i="0">
                <a:latin typeface="Consolas"/>
              </a:rPr>
              <a:t>          --collect:"XPlat Code Coverage"</a:t>
            </a:r>
            <a:endParaRPr sz="1800" b="0" i="0">
              <a:latin typeface="Consolas"/>
            </a:endParaRP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Coverage Thresholds</a:t>
            </a:r>
          </a:p>
        </p:txBody>
      </p:sp>
      <p:sp>
        <p:nvSpPr>
          <p:cNvPr id="3" name="Content Placeholder 2"/>
          <p:cNvSpPr>
            <a:spLocks noGrp="1"/>
          </p:cNvSpPr>
          <p:nvPr>
            <p:ph idx="1"/>
          </p:nvPr>
        </p:nvSpPr>
        <p:spPr/>
        <p:txBody>
          <a:bodyPr wrap="square">
            <a:normAutofit/>
          </a:bodyPr>
          <a:lstStyle/>
          <a:p>
            <a:pPr>
              <a:buNone/>
            </a:pPr>
            <a:r>
              <a:rPr b="0" i="0" u="none" sz="1800"/>
              <a:t>Coverage gates enforce quality — AI helps configure them correctly</a:t>
            </a:r>
            <a:endParaRPr sz="1800" b="0" i="0">
              <a:latin typeface="Consolas"/>
            </a:endParaRPr>
          </a:p>
          <a:p>
            <a:pPr>
              <a:buNone/>
            </a:pPr>
            <a:r>
              <a:rPr b="0" i="0" u="none" sz="1800"/>
              <a:t/>
            </a:r>
            <a:endParaRPr sz="1800" b="0" i="0">
              <a:latin typeface="Consolas"/>
            </a:endParaRPr>
          </a:p>
          <a:p>
            <a:pPr>
              <a:buNone/>
            </a:pPr>
            <a:r>
              <a:rPr sz="1800" b="0" i="0">
                <a:latin typeface="Consolas"/>
              </a:rPr>
              <a:t>- name: Test with coverage</a:t>
            </a:r>
            <a:endParaRPr sz="1800" b="0" i="0">
              <a:latin typeface="Consolas"/>
            </a:endParaRPr>
          </a:p>
          <a:p>
            <a:pPr>
              <a:buNone/>
            </a:pPr>
            <a:r>
              <a:rPr sz="1800" b="0" i="0">
                <a:latin typeface="Consolas"/>
              </a:rPr>
              <a:t>  run: |</a:t>
            </a:r>
            <a:endParaRPr sz="1800" b="0" i="0">
              <a:latin typeface="Consolas"/>
            </a:endParaRPr>
          </a:p>
          <a:p>
            <a:pPr>
              <a:buNone/>
            </a:pPr>
            <a:r>
              <a:rPr sz="1800" b="0" i="0">
                <a:latin typeface="Consolas"/>
              </a:rPr>
              <a:t>    dotnet test --collect:"XPlat Code Coverage" \</a:t>
            </a:r>
            <a:endParaRPr sz="1800" b="0" i="0">
              <a:latin typeface="Consolas"/>
            </a:endParaRPr>
          </a:p>
          <a:p>
            <a:pPr>
              <a:buNone/>
            </a:pPr>
            <a:r>
              <a:rPr sz="1800" b="0" i="0">
                <a:latin typeface="Consolas"/>
              </a:rPr>
              <a:t>      -- DataCollectionRunSettings.DataCollectors \</a:t>
            </a:r>
            <a:endParaRPr sz="1800" b="0" i="0">
              <a:latin typeface="Consolas"/>
            </a:endParaRPr>
          </a:p>
          <a:p>
            <a:pPr>
              <a:buNone/>
            </a:pPr>
            <a:r>
              <a:rPr sz="1800" b="0" i="0">
                <a:latin typeface="Consolas"/>
              </a:rPr>
              <a:t>         .DataCollector.Configuration.Threshold=80</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 name: Upload coverage</a:t>
            </a:r>
            <a:endParaRPr sz="1800" b="0" i="0">
              <a:latin typeface="Consolas"/>
            </a:endParaRPr>
          </a:p>
          <a:p>
            <a:pPr>
              <a:buNone/>
            </a:pPr>
            <a:r>
              <a:rPr sz="1800" b="0" i="0">
                <a:latin typeface="Consolas"/>
              </a:rPr>
              <a:t>  uses: codecov/codecov-action@v4</a:t>
            </a:r>
            <a:endParaRPr sz="1800" b="0" i="0">
              <a:latin typeface="Consolas"/>
            </a:endParaRPr>
          </a:p>
          <a:p>
            <a:pPr>
              <a:buNone/>
            </a:pPr>
            <a:r>
              <a:rPr sz="1800" b="0" i="0">
                <a:latin typeface="Consolas"/>
              </a:rPr>
              <a:t>  with:</a:t>
            </a:r>
            <a:endParaRPr sz="1800" b="0" i="0">
              <a:latin typeface="Consolas"/>
            </a:endParaRPr>
          </a:p>
          <a:p>
            <a:pPr>
              <a:buNone/>
            </a:pPr>
            <a:r>
              <a:rPr sz="1800" b="0" i="0">
                <a:latin typeface="Consolas"/>
              </a:rPr>
              <a:t>    fail_ci_if_error: true</a:t>
            </a:r>
            <a:endParaRPr sz="1800" b="0" i="0">
              <a:latin typeface="Consolas"/>
            </a:endParaRPr>
          </a:p>
          <a:p>
            <a:pPr>
              <a:buNone/>
            </a:pPr>
            <a:r>
              <a:rPr sz="1800" b="0" i="0">
                <a:latin typeface="Consolas"/>
              </a:rPr>
              <a:t>    threshold: 80</a:t>
            </a:r>
            <a:endParaRPr sz="1800" b="0" i="0">
              <a:latin typeface="Consolas"/>
            </a:endParaRPr>
          </a:p>
          <a:p>
            <a:pPr>
              <a:buNone/>
            </a:pPr>
            <a:r>
              <a:rPr b="0" i="0" u="none" sz="1800"/>
              <a:t/>
            </a:r>
            <a:endParaRPr sz="1800" b="0" i="0">
              <a:latin typeface="Consolas"/>
            </a:endParaRPr>
          </a:p>
          <a:p>
            <a:pPr>
              <a:buNone/>
            </a:pPr>
            <a:r>
              <a:rPr b="0" i="0" u="none" sz="1800"/>
              <a:t>Ask Copilot: </a:t>
            </a:r>
            <a:r>
              <a:rPr b="0" i="0" u="none" sz="1800"/>
              <a:t>"How do I fail the build if branch coverage drops below 80%?"</a:t>
            </a:r>
            <a:endParaRPr sz="1800" b="0" i="0">
              <a:latin typeface="Consolas"/>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Build Automation Patterns</a:t>
            </a:r>
          </a:p>
        </p:txBody>
      </p:sp>
      <p:sp>
        <p:nvSpPr>
          <p:cNvPr id="3" name="Content Placeholder 2"/>
          <p:cNvSpPr>
            <a:spLocks noGrp="1"/>
          </p:cNvSpPr>
          <p:nvPr>
            <p:ph idx="1"/>
          </p:nvPr>
        </p:nvSpPr>
        <p:spPr/>
        <p:txBody>
          <a:bodyPr wrap="square">
            <a:normAutofit/>
          </a:bodyPr>
          <a:lstStyle/>
          <a:p>
            <a:pPr>
              <a:buNone/>
            </a:pPr>
            <a:r>
              <a:rPr b="0" i="0" u="none" sz="1800"/>
              <a:t>AI can generate: matrix builds, dependency caching, artifact upload</a:t>
            </a:r>
            <a:endParaRPr sz="1800" b="0" i="0">
              <a:latin typeface="Consolas"/>
            </a:endParaRPr>
          </a:p>
          <a:p>
            <a:pPr>
              <a:buNone/>
            </a:pPr>
            <a:r>
              <a:rPr b="0" i="0" u="none" sz="1800"/>
              <a:t/>
            </a:r>
            <a:endParaRPr sz="1800" b="0" i="0">
              <a:latin typeface="Consolas"/>
            </a:endParaRPr>
          </a:p>
          <a:p>
            <a:pPr>
              <a:buNone/>
            </a:pPr>
            <a:r>
              <a:rPr sz="1800" b="0" i="0">
                <a:latin typeface="Consolas"/>
              </a:rPr>
              <a:t>strategy:</a:t>
            </a:r>
            <a:endParaRPr sz="1800" b="0" i="0">
              <a:latin typeface="Consolas"/>
            </a:endParaRPr>
          </a:p>
          <a:p>
            <a:pPr>
              <a:buNone/>
            </a:pPr>
            <a:r>
              <a:rPr sz="1800" b="0" i="0">
                <a:latin typeface="Consolas"/>
              </a:rPr>
              <a:t>  matrix:</a:t>
            </a:r>
            <a:endParaRPr sz="1800" b="0" i="0">
              <a:latin typeface="Consolas"/>
            </a:endParaRPr>
          </a:p>
          <a:p>
            <a:pPr>
              <a:buNone/>
            </a:pPr>
            <a:r>
              <a:rPr sz="1800" b="0" i="0">
                <a:latin typeface="Consolas"/>
              </a:rPr>
              <a:t>    os: [ubuntu-latest, windows-latest]</a:t>
            </a:r>
            <a:endParaRPr sz="1800" b="0" i="0">
              <a:latin typeface="Consolas"/>
            </a:endParaRPr>
          </a:p>
          <a:p>
            <a:pPr>
              <a:buNone/>
            </a:pPr>
            <a:r>
              <a:rPr sz="1800" b="0" i="0">
                <a:latin typeface="Consolas"/>
              </a:rPr>
              <a:t>    dotnet: ["7.x", "8.x"]</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steps:</a:t>
            </a:r>
            <a:endParaRPr sz="1800" b="0" i="0">
              <a:latin typeface="Consolas"/>
            </a:endParaRPr>
          </a:p>
          <a:p>
            <a:pPr>
              <a:buNone/>
            </a:pPr>
            <a:r>
              <a:rPr sz="1800" b="0" i="0">
                <a:latin typeface="Consolas"/>
              </a:rPr>
              <a:t>  - uses: actions/cache@v4</a:t>
            </a:r>
            <a:endParaRPr sz="1800" b="0" i="0">
              <a:latin typeface="Consolas"/>
            </a:endParaRPr>
          </a:p>
          <a:p>
            <a:pPr>
              <a:buNone/>
            </a:pPr>
            <a:r>
              <a:rPr sz="1800" b="0" i="0">
                <a:latin typeface="Consolas"/>
              </a:rPr>
              <a:t>    with:</a:t>
            </a:r>
            <a:endParaRPr sz="1800" b="0" i="0">
              <a:latin typeface="Consolas"/>
            </a:endParaRPr>
          </a:p>
          <a:p>
            <a:pPr>
              <a:buNone/>
            </a:pPr>
            <a:r>
              <a:rPr sz="1800" b="0" i="0">
                <a:latin typeface="Consolas"/>
              </a:rPr>
              <a:t>      path: ~/.nuget/packages</a:t>
            </a:r>
            <a:endParaRPr sz="1800" b="0" i="0">
              <a:latin typeface="Consolas"/>
            </a:endParaRPr>
          </a:p>
          <a:p>
            <a:pPr>
              <a:buNone/>
            </a:pPr>
            <a:r>
              <a:rPr sz="1800" b="0" i="0">
                <a:latin typeface="Consolas"/>
              </a:rPr>
              <a:t>      key: ${{ runner.os }}-nuget-</a:t>
            </a:r>
            <a:endParaRPr sz="1800" b="0" i="0">
              <a:latin typeface="Consolas"/>
            </a:endParaRPr>
          </a:p>
          <a:p>
            <a:pPr>
              <a:buNone/>
            </a:pPr>
            <a:r>
              <a:rPr sz="1800" b="0" i="0">
                <a:latin typeface="Consolas"/>
              </a:rPr>
              <a:t>        ${{ hashFiles('**/*.csproj') }}</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  - uses: actions/upload-artifact@v4</a:t>
            </a:r>
            <a:endParaRPr sz="1800" b="0" i="0">
              <a:latin typeface="Consolas"/>
            </a:endParaRPr>
          </a:p>
          <a:p>
            <a:pPr>
              <a:buNone/>
            </a:pPr>
            <a:r>
              <a:rPr sz="1800" b="0" i="0">
                <a:latin typeface="Consolas"/>
              </a:rPr>
              <a:t>    with:</a:t>
            </a:r>
            <a:endParaRPr sz="1800" b="0" i="0">
              <a:latin typeface="Consolas"/>
            </a:endParaRPr>
          </a:p>
          <a:p>
            <a:pPr>
              <a:buNone/>
            </a:pPr>
            <a:r>
              <a:rPr sz="1800" b="0" i="0">
                <a:latin typeface="Consolas"/>
              </a:rPr>
              <a:t>      name: test-results</a:t>
            </a:r>
            <a:endParaRPr sz="1800" b="0" i="0">
              <a:latin typeface="Consolas"/>
            </a:endParaRPr>
          </a:p>
          <a:p>
            <a:pPr>
              <a:buNone/>
            </a:pPr>
            <a:r>
              <a:rPr sz="1800" b="0" i="0">
                <a:latin typeface="Consolas"/>
              </a:rPr>
              <a:t>      path: TestResults/</a:t>
            </a:r>
            <a:endParaRPr sz="1800" b="0" i="0">
              <a:latin typeface="Consolas"/>
            </a:endParaR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Maintaining Pipelines with AI</a:t>
            </a:r>
          </a:p>
        </p:txBody>
      </p:sp>
      <p:sp>
        <p:nvSpPr>
          <p:cNvPr id="3" name="Content Placeholder 2"/>
          <p:cNvSpPr>
            <a:spLocks noGrp="1"/>
          </p:cNvSpPr>
          <p:nvPr>
            <p:ph idx="1"/>
          </p:nvPr>
        </p:nvSpPr>
        <p:spPr/>
        <p:txBody>
          <a:bodyPr wrap="square">
            <a:normAutofit/>
          </a:bodyPr>
          <a:lstStyle/>
          <a:p>
            <a:pPr>
              <a:buNone/>
            </a:pPr>
            <a:r>
              <a:rPr b="0" i="0" u="none" sz="2800"/>
              <a:t>Pipelines rot — actions deprecate, runners change, dependencies drift</a:t>
            </a:r>
            <a:endParaRPr sz="2800" b="0" i="0">
              <a:latin typeface="Arial"/>
            </a:endParaRPr>
          </a:p>
          <a:p>
            <a:pPr>
              <a:buNone/>
            </a:pPr>
            <a:r>
              <a:rPr b="0" i="0" u="none" sz="2800"/>
              <a:t/>
            </a:r>
            <a:endParaRPr sz="2800" b="0" i="0">
              <a:latin typeface="Arial"/>
            </a:endParaRPr>
          </a:p>
          <a:p>
            <a:pPr>
              <a:buNone/>
            </a:pPr>
            <a:r>
              <a:rPr b="0" i="0" u="none" sz="2800"/>
              <a:t>Ask Copilot to:</a:t>
            </a:r>
            <a:endParaRPr sz="2800" b="0" i="0">
              <a:latin typeface="Arial"/>
            </a:endParaRPr>
          </a:p>
          <a:p>
            <a:pPr>
              <a:buNone/>
            </a:pPr>
            <a:r>
              <a:rPr b="0" i="0" u="none" sz="2800"/>
              <a:t/>
            </a:r>
            <a:endParaRPr sz="2800" b="0" i="0">
              <a:latin typeface="Arial"/>
            </a:endParaRPr>
          </a:p>
          <a:p>
            <a:pPr/>
            <a:r>
              <a:rPr b="0" i="0" u="none" sz="2800"/>
              <a:t>Explain a failing run from pasted log output</a:t>
            </a:r>
            <a:endParaRPr sz="2800" b="0" i="0">
              <a:latin typeface="Arial"/>
            </a:endParaRPr>
          </a:p>
          <a:p>
            <a:pPr/>
            <a:r>
              <a:rPr b="0" i="0" u="none" sz="2800"/>
              <a:t>Upgrade pinned action versions safely</a:t>
            </a:r>
            <a:endParaRPr sz="2800" b="0" i="0">
              <a:latin typeface="Arial"/>
            </a:endParaRPr>
          </a:p>
          <a:p>
            <a:pPr/>
            <a:r>
              <a:rPr b="0" i="0" u="none" sz="2800"/>
              <a:t>Refactor a 300-line workflow into reusable workflows</a:t>
            </a:r>
            <a:endParaRPr sz="2800" b="0" i="0">
              <a:latin typeface="Arial"/>
            </a:endParaRPr>
          </a:p>
          <a:p>
            <a:pPr/>
            <a:r>
              <a:rPr b="0" i="0" u="none" sz="2800"/>
              <a:t>Add a deployment stage to an existing CI workflow</a:t>
            </a:r>
            <a:endParaRPr sz="2800" b="0" i="0">
              <a:latin typeface="Arial"/>
            </a:endParaRPr>
          </a:p>
          <a:p>
            <a:pPr>
              <a:buNone/>
            </a:pPr>
            <a:r>
              <a:rPr b="0" i="0" u="none" sz="2800"/>
              <a:t/>
            </a:r>
            <a:endParaRPr sz="2800" b="0" i="0">
              <a:latin typeface="Arial"/>
            </a:endParaRPr>
          </a:p>
          <a:p>
            <a:pPr>
              <a:buNone/>
            </a:pPr>
            <a:r>
              <a:rPr b="0" i="0" u="none" sz="2800"/>
              <a:t>"This workflow is failing with exit code 128 — here is the log. What is wrong?"</a:t>
            </a:r>
            <a:endParaRPr sz="2800" b="0" i="0">
              <a:latin typeface="Arial"/>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Reusable Workflows</a:t>
            </a:r>
          </a:p>
        </p:txBody>
      </p:sp>
      <p:sp>
        <p:nvSpPr>
          <p:cNvPr id="3" name="Content Placeholder 2"/>
          <p:cNvSpPr>
            <a:spLocks noGrp="1"/>
          </p:cNvSpPr>
          <p:nvPr>
            <p:ph idx="1"/>
          </p:nvPr>
        </p:nvSpPr>
        <p:spPr/>
        <p:txBody>
          <a:bodyPr wrap="square">
            <a:normAutofit/>
          </a:bodyPr>
          <a:lstStyle/>
          <a:p>
            <a:pPr>
              <a:buNone/>
            </a:pPr>
            <a:r>
              <a:rPr b="0" i="0" u="none" sz="1800"/>
              <a:t>AI generates caller and callee in one prompt</a:t>
            </a:r>
            <a:endParaRPr sz="1800" b="0" i="0">
              <a:latin typeface="Consolas"/>
            </a:endParaRPr>
          </a:p>
          <a:p>
            <a:pPr>
              <a:buNone/>
            </a:pPr>
            <a:r>
              <a:rPr b="0" i="0" u="none" sz="1800"/>
              <a:t/>
            </a:r>
            <a:endParaRPr sz="1800" b="0" i="0">
              <a:latin typeface="Consolas"/>
            </a:endParaRPr>
          </a:p>
          <a:p>
            <a:pPr>
              <a:buNone/>
            </a:pPr>
            <a:r>
              <a:rPr sz="1800" b="0" i="0">
                <a:latin typeface="Consolas"/>
              </a:rPr>
              <a:t># AI-Assisted CI/CD Pipelines || YAML: Now With 50% Less Soul-Crushing Manual Edits</a:t>
            </a:r>
            <a:endParaRPr sz="1800" b="0" i="0">
              <a:latin typeface="Consolas"/>
            </a:endParaRPr>
          </a:p>
          <a:p>
            <a:pPr>
              <a:buNone/>
            </a:pPr>
            <a:r>
              <a:rPr sz="1800" b="0" i="0">
                <a:latin typeface="Consolas"/>
              </a:rPr>
              <a:t>on:</a:t>
            </a:r>
            <a:endParaRPr sz="1800" b="0" i="0">
              <a:latin typeface="Consolas"/>
            </a:endParaRPr>
          </a:p>
          <a:p>
            <a:pPr>
              <a:buNone/>
            </a:pPr>
            <a:r>
              <a:rPr sz="1800" b="0" i="0">
                <a:latin typeface="Consolas"/>
              </a:rPr>
              <a:t>  workflow_call:</a:t>
            </a:r>
            <a:endParaRPr sz="1800" b="0" i="0">
              <a:latin typeface="Consolas"/>
            </a:endParaRPr>
          </a:p>
          <a:p>
            <a:pPr>
              <a:buNone/>
            </a:pPr>
            <a:r>
              <a:rPr sz="1800" b="0" i="0">
                <a:latin typeface="Consolas"/>
              </a:rPr>
              <a:t>    inputs:</a:t>
            </a:r>
            <a:endParaRPr sz="1800" b="0" i="0">
              <a:latin typeface="Consolas"/>
            </a:endParaRPr>
          </a:p>
          <a:p>
            <a:pPr>
              <a:buNone/>
            </a:pPr>
            <a:r>
              <a:rPr sz="1800" b="0" i="0">
                <a:latin typeface="Consolas"/>
              </a:rPr>
              <a:t>      dotnet-version:</a:t>
            </a:r>
            <a:endParaRPr sz="1800" b="0" i="0">
              <a:latin typeface="Consolas"/>
            </a:endParaRPr>
          </a:p>
          <a:p>
            <a:pPr>
              <a:buNone/>
            </a:pPr>
            <a:r>
              <a:rPr sz="1800" b="0" i="0">
                <a:latin typeface="Consolas"/>
              </a:rPr>
              <a:t>        required: true</a:t>
            </a:r>
            <a:endParaRPr sz="1800" b="0" i="0">
              <a:latin typeface="Consolas"/>
            </a:endParaRPr>
          </a:p>
          <a:p>
            <a:pPr>
              <a:buNone/>
            </a:pPr>
            <a:r>
              <a:rPr sz="1800" b="0" i="0">
                <a:latin typeface="Consolas"/>
              </a:rPr>
              <a:t>        type: string</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jobs:</a:t>
            </a:r>
            <a:endParaRPr sz="1800" b="0" i="0">
              <a:latin typeface="Consolas"/>
            </a:endParaRPr>
          </a:p>
          <a:p>
            <a:pPr>
              <a:buNone/>
            </a:pPr>
            <a:r>
              <a:rPr sz="1800" b="0" i="0">
                <a:latin typeface="Consolas"/>
              </a:rPr>
              <a:t>  test:</a:t>
            </a:r>
            <a:endParaRPr sz="1800" b="0" i="0">
              <a:latin typeface="Consolas"/>
            </a:endParaRPr>
          </a:p>
          <a:p>
            <a:pPr>
              <a:buNone/>
            </a:pPr>
            <a:r>
              <a:rPr sz="1800" b="0" i="0">
                <a:latin typeface="Consolas"/>
              </a:rPr>
              <a:t>    runs-on: ubuntu-latest</a:t>
            </a:r>
            <a:endParaRPr sz="1800" b="0" i="0">
              <a:latin typeface="Consolas"/>
            </a:endParaRPr>
          </a:p>
          <a:p>
            <a:pPr>
              <a:buNone/>
            </a:pPr>
            <a:r>
              <a:rPr sz="1800" b="0" i="0">
                <a:latin typeface="Consolas"/>
              </a:rPr>
              <a:t>    steps:</a:t>
            </a:r>
            <a:endParaRPr sz="1800" b="0" i="0">
              <a:latin typeface="Consolas"/>
            </a:endParaRPr>
          </a:p>
          <a:p>
            <a:pPr>
              <a:buNone/>
            </a:pPr>
            <a:r>
              <a:rPr sz="1800" b="0" i="0">
                <a:latin typeface="Consolas"/>
              </a:rPr>
              <a:t>      - uses: actions/checkout@v4</a:t>
            </a:r>
            <a:endParaRPr sz="1800" b="0" i="0">
              <a:latin typeface="Consolas"/>
            </a:endParaRPr>
          </a:p>
          <a:p>
            <a:pPr>
              <a:buNone/>
            </a:pPr>
            <a:r>
              <a:rPr sz="1800" b="0" i="0">
                <a:latin typeface="Consolas"/>
              </a:rPr>
              <a:t>      - uses: actions/setup-dotnet@v4</a:t>
            </a:r>
            <a:endParaRPr sz="1800" b="0" i="0">
              <a:latin typeface="Consolas"/>
            </a:endParaRPr>
          </a:p>
          <a:p>
            <a:pPr>
              <a:buNone/>
            </a:pPr>
            <a:r>
              <a:rPr sz="1800" b="0" i="0">
                <a:latin typeface="Consolas"/>
              </a:rPr>
              <a:t>        with:</a:t>
            </a:r>
            <a:endParaRPr sz="1800" b="0" i="0">
              <a:latin typeface="Consolas"/>
            </a:endParaRPr>
          </a:p>
          <a:p>
            <a:pPr>
              <a:buNone/>
            </a:pPr>
            <a:r>
              <a:rPr sz="1800" b="0" i="0">
                <a:latin typeface="Consolas"/>
              </a:rPr>
              <a:t>          dotnet-version: ${{ inputs.dotnet-version }}</a:t>
            </a:r>
            <a:endParaRPr sz="1800" b="0" i="0">
              <a:latin typeface="Consolas"/>
            </a:endParaRPr>
          </a:p>
          <a:p>
            <a:pPr>
              <a:buNone/>
            </a:pPr>
            <a:r>
              <a:rPr sz="1800" b="0" i="0">
                <a:latin typeface="Consolas"/>
              </a:rPr>
              <a:t>      - run: dotnet test</a:t>
            </a:r>
            <a:endParaRPr sz="1800" b="0" i="0">
              <a:latin typeface="Consolas"/>
            </a:endParaR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Secrets, Permissions, and Security</a:t>
            </a:r>
          </a:p>
        </p:txBody>
      </p:sp>
      <p:sp>
        <p:nvSpPr>
          <p:cNvPr id="3" name="Content Placeholder 2"/>
          <p:cNvSpPr>
            <a:spLocks noGrp="1"/>
          </p:cNvSpPr>
          <p:nvPr>
            <p:ph idx="1"/>
          </p:nvPr>
        </p:nvSpPr>
        <p:spPr/>
        <p:txBody>
          <a:bodyPr wrap="square">
            <a:normAutofit/>
          </a:bodyPr>
          <a:lstStyle/>
          <a:p>
            <a:pPr>
              <a:buNone/>
            </a:pPr>
            <a:r>
              <a:rPr b="0" i="0" u="none" sz="1800"/>
              <a:t>AI assists but YOU own security decisions</a:t>
            </a:r>
            <a:endParaRPr sz="1800" b="0" i="0">
              <a:latin typeface="Consolas"/>
            </a:endParaRPr>
          </a:p>
          <a:p>
            <a:pPr>
              <a:buNone/>
            </a:pPr>
            <a:r>
              <a:rPr b="0" i="0" u="none" sz="1800"/>
              <a:t/>
            </a:r>
            <a:endParaRPr sz="1800" b="0" i="0">
              <a:latin typeface="Consolas"/>
            </a:endParaRPr>
          </a:p>
          <a:p>
            <a:pPr>
              <a:buNone/>
            </a:pPr>
            <a:r>
              <a:rPr sz="1800" b="0" i="0">
                <a:latin typeface="Consolas"/>
              </a:rPr>
              <a:t>permissions:</a:t>
            </a:r>
            <a:endParaRPr sz="1800" b="0" i="0">
              <a:latin typeface="Consolas"/>
            </a:endParaRPr>
          </a:p>
          <a:p>
            <a:pPr>
              <a:buNone/>
            </a:pPr>
            <a:r>
              <a:rPr sz="1800" b="0" i="0">
                <a:latin typeface="Consolas"/>
              </a:rPr>
              <a:t>  contents: read</a:t>
            </a:r>
            <a:endParaRPr sz="1800" b="0" i="0">
              <a:latin typeface="Consolas"/>
            </a:endParaRPr>
          </a:p>
          <a:p>
            <a:pPr>
              <a:buNone/>
            </a:pPr>
            <a:r>
              <a:rPr sz="1800" b="0" i="0">
                <a:latin typeface="Consolas"/>
              </a:rPr>
              <a:t>  checks: write # required for test reporters</a:t>
            </a:r>
            <a:endParaRPr sz="1800" b="0" i="0">
              <a:latin typeface="Consolas"/>
            </a:endParaRPr>
          </a:p>
          <a:p>
            <a:pPr>
              <a:buNone/>
            </a:pPr>
            <a:r>
              <a:rPr sz="1800" b="0" i="0">
                <a:latin typeface="Consolas"/>
              </a:rPr>
              <a:t>  pull-requests: write # required for PR comments</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env:</a:t>
            </a:r>
            <a:endParaRPr sz="1800" b="0" i="0">
              <a:latin typeface="Consolas"/>
            </a:endParaRPr>
          </a:p>
          <a:p>
            <a:pPr>
              <a:buNone/>
            </a:pPr>
            <a:r>
              <a:rPr sz="1800" b="0" i="0">
                <a:latin typeface="Consolas"/>
              </a:rPr>
              <a:t>  SONAR_TOKEN: ${{ secrets.SONAR_TOKEN }}</a:t>
            </a:r>
            <a:endParaRPr sz="1800" b="0" i="0">
              <a:latin typeface="Consolas"/>
            </a:endParaRPr>
          </a:p>
          <a:p>
            <a:pPr>
              <a:buNone/>
            </a:pPr>
            <a:r>
              <a:rPr b="0" i="0" u="none" sz="1800"/>
              <a:t/>
            </a:r>
            <a:endParaRPr sz="1800" b="0" i="0">
              <a:latin typeface="Consolas"/>
            </a:endParaRPr>
          </a:p>
          <a:p>
            <a:pPr>
              <a:buNone/>
            </a:pPr>
            <a:r>
              <a:rPr b="0" i="0" u="none" sz="1800"/>
              <a:t>Ask AI: </a:t>
            </a:r>
            <a:r>
              <a:rPr b="0" i="0" u="none" sz="1800"/>
              <a:t>"What is the minimum permissions block for uploading coverage?"</a:t>
            </a:r>
            <a:endParaRPr sz="1800" b="0" i="0">
              <a:latin typeface="Consolas"/>
            </a:endParaRPr>
          </a:p>
          <a:p>
            <a:pPr>
              <a:buNone/>
            </a:pPr>
            <a:r>
              <a:rPr b="0" i="0" u="none" sz="1800"/>
              <a:t>Review AI output — it cannot know your org's secret names</a:t>
            </a:r>
            <a:endParaRPr sz="1800" b="0" i="0">
              <a:latin typeface="Consolas"/>
            </a:endParaRPr>
          </a:p>
          <a:p>
            <a:pPr>
              <a:buNone/>
            </a:pPr>
            <a:r>
              <a:rPr b="0" i="0" u="none" sz="1800"/>
              <a:t>Never commit secrets; use </a:t>
            </a:r>
            <a:r>
              <a:rPr b="0" i="0" u="none" sz="1800">
                <a:latin typeface="Consolas"/>
              </a:rPr>
              <a:t>${{ secrets.NAME }}</a:t>
            </a:r>
            <a:endParaRPr sz="1800" b="0" i="0">
              <a:latin typeface="Consolas"/>
            </a:endParaRP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From Zero to Pipeline: Live Workflow</a:t>
            </a:r>
          </a:p>
        </p:txBody>
      </p:sp>
      <p:sp>
        <p:nvSpPr>
          <p:cNvPr id="3" name="Content Placeholder 2"/>
          <p:cNvSpPr>
            <a:spLocks noGrp="1"/>
          </p:cNvSpPr>
          <p:nvPr>
            <p:ph idx="1"/>
          </p:nvPr>
        </p:nvSpPr>
        <p:spPr/>
        <p:txBody>
          <a:bodyPr wrap="square">
            <a:normAutofit/>
          </a:bodyPr>
          <a:lstStyle/>
          <a:p>
            <a:endParaRPr sz="1800" b="0" i="0">
              <a:latin typeface="Consolas"/>
            </a:endParaRPr>
          </a:p>
          <a:p>
            <a:pPr>
              <a:buNone/>
            </a:pPr>
            <a:r>
              <a:rPr sz="1800" b="0" i="0">
                <a:latin typeface="Consolas"/>
              </a:rPr>
              <a:t>1. Describe your stack to Copilot</a:t>
            </a:r>
            <a:endParaRPr sz="1800" b="0" i="0">
              <a:latin typeface="Consolas"/>
            </a:endParaRPr>
          </a:p>
          <a:p>
            <a:pPr>
              <a:buNone/>
            </a:pPr>
            <a:r>
              <a:rPr sz="1800" b="0" i="0">
                <a:latin typeface="Consolas"/>
              </a:rPr>
              <a:t>   "Node 20, Vitest, Playwright e2e, deploys to Azure"</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2. Ask for a complete CI workflow</a:t>
            </a:r>
            <a:endParaRPr sz="1800" b="0" i="0">
              <a:latin typeface="Consolas"/>
            </a:endParaRPr>
          </a:p>
          <a:p>
            <a:pPr>
              <a:buNone/>
            </a:pPr>
            <a:r>
              <a:rPr sz="1800" b="0" i="0">
                <a:latin typeface="Consolas"/>
              </a:rPr>
              <a:t>   → Copilot generates trigger, jobs, steps</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3. Ask for coverage enforcement</a:t>
            </a:r>
            <a:endParaRPr sz="1800" b="0" i="0">
              <a:latin typeface="Consolas"/>
            </a:endParaRPr>
          </a:p>
          <a:p>
            <a:pPr>
              <a:buNone/>
            </a:pPr>
            <a:r>
              <a:rPr sz="1800" b="0" i="0">
                <a:latin typeface="Consolas"/>
              </a:rPr>
              <a:t>   → Copilot adds threshold + upload steps</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4. Ask "what caching should I add?"</a:t>
            </a:r>
            <a:endParaRPr sz="1800" b="0" i="0">
              <a:latin typeface="Consolas"/>
            </a:endParaRPr>
          </a:p>
          <a:p>
            <a:pPr>
              <a:buNone/>
            </a:pPr>
            <a:r>
              <a:rPr sz="1800" b="0" i="0">
                <a:latin typeface="Consolas"/>
              </a:rPr>
              <a:t>   → Copilot adds node_modules cache with correct key</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5. Paste a failure log and ask "why?"</a:t>
            </a:r>
            <a:endParaRPr sz="1800" b="0" i="0">
              <a:latin typeface="Consolas"/>
            </a:endParaRPr>
          </a:p>
          <a:p>
            <a:pPr>
              <a:buNone/>
            </a:pPr>
            <a:r>
              <a:rPr sz="1800" b="0" i="0">
                <a:latin typeface="Consolas"/>
              </a:rPr>
              <a:t>   → Copilot diagnoses in seconds</a:t>
            </a:r>
            <a:endParaRPr sz="1800" b="0" i="0">
              <a:latin typeface="Consolas"/>
            </a:endParaRP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Hands-On Exercise</a:t>
            </a:r>
          </a:p>
        </p:txBody>
      </p:sp>
      <p:sp>
        <p:nvSpPr>
          <p:cNvPr id="3" name="Content Placeholder 2"/>
          <p:cNvSpPr>
            <a:spLocks noGrp="1"/>
          </p:cNvSpPr>
          <p:nvPr>
            <p:ph idx="1"/>
          </p:nvPr>
        </p:nvSpPr>
        <p:spPr/>
        <p:txBody>
          <a:bodyPr wrap="square">
            <a:normAutofit/>
          </a:bodyPr>
          <a:lstStyle/>
          <a:p>
            <a:pPr>
              <a:buNone/>
            </a:pPr>
            <a:r>
              <a:rPr b="0" i="0" u="none" sz="2800"/>
              <a:t>Goal</a:t>
            </a:r>
            <a:r>
              <a:rPr b="0" i="0" u="none" sz="2800"/>
              <a:t>: Generate a complete CI pipeline for a provided sample repo</a:t>
            </a:r>
            <a:endParaRPr sz="2800" b="0" i="0">
              <a:latin typeface="Arial"/>
            </a:endParaRPr>
          </a:p>
          <a:p>
            <a:pPr>
              <a:buNone/>
            </a:pPr>
            <a:r>
              <a:rPr b="0" i="0" u="none" sz="2800"/>
              <a:t/>
            </a:r>
            <a:endParaRPr sz="2800" b="0" i="0">
              <a:latin typeface="Arial"/>
            </a:endParaRPr>
          </a:p>
          <a:p>
            <a:pPr>
              <a:buNone/>
            </a:pPr>
            <a:r>
              <a:rPr b="0" i="0" u="none" sz="2800"/>
              <a:t>1. Open GitHub Copilot Chat in VS Code</a:t>
            </a:r>
            <a:endParaRPr sz="2800" b="0" i="0">
              <a:latin typeface="Arial"/>
            </a:endParaRPr>
          </a:p>
          <a:p>
            <a:pPr>
              <a:buNone/>
            </a:pPr>
            <a:r>
              <a:rPr b="0" i="0" u="none" sz="2800"/>
              <a:t>2. Ask: </a:t>
            </a:r>
            <a:r>
              <a:rPr b="0" i="0" u="none" sz="2800"/>
              <a:t>"Create a GitHub Actions CI workflow for this project"</a:t>
            </a:r>
            <a:endParaRPr sz="2800" b="0" i="0">
              <a:latin typeface="Arial"/>
            </a:endParaRPr>
          </a:p>
          <a:p>
            <a:pPr>
              <a:buNone/>
            </a:pPr>
            <a:r>
              <a:rPr b="0" i="0" u="none" sz="2800"/>
              <a:t>3. Review and commit the generated YAML</a:t>
            </a:r>
            <a:endParaRPr sz="2800" b="0" i="0">
              <a:latin typeface="Arial"/>
            </a:endParaRPr>
          </a:p>
          <a:p>
            <a:pPr>
              <a:buNone/>
            </a:pPr>
            <a:r>
              <a:rPr b="0" i="0" u="none" sz="2800"/>
              <a:t>4. Add a coverage threshold at 70%</a:t>
            </a:r>
            <a:endParaRPr sz="2800" b="0" i="0">
              <a:latin typeface="Arial"/>
            </a:endParaRPr>
          </a:p>
          <a:p>
            <a:pPr>
              <a:buNone/>
            </a:pPr>
            <a:r>
              <a:rPr b="0" i="0" u="none" sz="2800"/>
              <a:t>5. Ask Copilot to explain one step you do not understand</a:t>
            </a:r>
            <a:endParaRPr sz="2800" b="0" i="0">
              <a:latin typeface="Arial"/>
            </a:endParaRPr>
          </a:p>
          <a:p>
            <a:pPr>
              <a:buNone/>
            </a:pPr>
            <a:r>
              <a:rPr b="0" i="0" u="none" sz="2800"/>
              <a:t>6. </a:t>
            </a:r>
            <a:r>
              <a:rPr b="0" i="0" u="none" sz="2800"/>
              <a:t>Bonus</a:t>
            </a:r>
            <a:r>
              <a:rPr b="0" i="0" u="none" sz="2800"/>
              <a:t>: Add a matrix build for two Node versions</a:t>
            </a:r>
            <a:endParaRPr sz="2800" b="0" i="0">
              <a:latin typeface="Arial"/>
            </a:endParaRPr>
          </a:p>
          <a:p>
            <a:pPr>
              <a:buNone/>
            </a:pPr>
            <a:r>
              <a:rPr b="0" i="0" u="none" sz="2800"/>
              <a:t/>
            </a:r>
            <a:endParaRPr sz="2800" b="0" i="0">
              <a:latin typeface="Arial"/>
            </a:endParaRPr>
          </a:p>
          <a:p>
            <a:pPr>
              <a:buNone/>
            </a:pPr>
            <a:r>
              <a:rPr b="0" i="0" u="none" sz="2800"/>
              <a:t>Sample repo link provided by instructor</a:t>
            </a:r>
            <a:endParaRPr sz="2800" b="0" i="0">
              <a:latin typeface="Arial"/>
            </a:endParaR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Key Takeaways</a:t>
            </a:r>
          </a:p>
        </p:txBody>
      </p:sp>
      <p:sp>
        <p:nvSpPr>
          <p:cNvPr id="3" name="Content Placeholder 2"/>
          <p:cNvSpPr>
            <a:spLocks noGrp="1"/>
          </p:cNvSpPr>
          <p:nvPr>
            <p:ph idx="1"/>
          </p:nvPr>
        </p:nvSpPr>
        <p:spPr/>
        <p:txBody>
          <a:bodyPr wrap="square">
            <a:normAutofit/>
          </a:bodyPr>
          <a:lstStyle/>
          <a:p>
            <a:pPr>
              <a:buNone/>
            </a:pPr>
            <a:r>
              <a:rPr b="0" i="0" u="none" sz="2800"/>
              <a:t>AI dramatically shortens the pipeline feedback loop</a:t>
            </a:r>
            <a:endParaRPr sz="2800" b="0" i="0">
              <a:latin typeface="Arial"/>
            </a:endParaRPr>
          </a:p>
          <a:p>
            <a:pPr>
              <a:buNone/>
            </a:pPr>
            <a:r>
              <a:rPr b="0" i="0" u="none" sz="2800"/>
              <a:t>Generated YAML is a starting point — review every line</a:t>
            </a:r>
            <a:endParaRPr sz="2800" b="0" i="0">
              <a:latin typeface="Arial"/>
            </a:endParaRPr>
          </a:p>
          <a:p>
            <a:pPr>
              <a:buNone/>
            </a:pPr>
            <a:r>
              <a:rPr b="0" i="0" u="none" sz="2800"/>
              <a:t>Coverage thresholds belong in both the test runner </a:t>
            </a:r>
            <a:r>
              <a:rPr b="0" i="0" u="none" sz="2800"/>
              <a:t>and</a:t>
            </a:r>
            <a:r>
              <a:rPr b="0" i="0" u="none" sz="2800"/>
              <a:t> the upload action</a:t>
            </a:r>
            <a:endParaRPr sz="2800" b="0" i="0">
              <a:latin typeface="Arial"/>
            </a:endParaRPr>
          </a:p>
          <a:p>
            <a:pPr>
              <a:buNone/>
            </a:pPr>
            <a:r>
              <a:rPr b="0" i="0" u="none" sz="2800"/>
              <a:t>Reusable workflows reduce drift across repositories</a:t>
            </a:r>
            <a:endParaRPr sz="2800" b="0" i="0">
              <a:latin typeface="Arial"/>
            </a:endParaRPr>
          </a:p>
          <a:p>
            <a:pPr>
              <a:buNone/>
            </a:pPr>
            <a:r>
              <a:rPr b="0" i="0" u="none" sz="2800"/>
              <a:t>Maintenance conversations are as valuable as generation</a:t>
            </a:r>
            <a:endParaRPr sz="2800" b="0" i="0">
              <a:latin typeface="Arial"/>
            </a:endParaRPr>
          </a:p>
          <a:p>
            <a:pPr>
              <a:buNone/>
            </a:pPr>
            <a:r>
              <a:rPr b="0" i="0" u="none" sz="2800"/>
              <a:t>You own the pipeline; AI is your co-pilot</a:t>
            </a:r>
            <a:endParaRPr sz="2800" b="0" i="0">
              <a:latin typeface="Arial"/>
            </a:endParaRP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AI-Assisted Pull Request Workflows</a:t>
            </a:r>
          </a:p>
        </p:txBody>
      </p:sp>
      <p:sp>
        <p:nvSpPr>
          <p:cNvPr id="3" name="Subtitle 2"/>
          <p:cNvSpPr>
            <a:spLocks noGrp="1"/>
          </p:cNvSpPr>
          <p:nvPr>
            <p:ph type="subTitle" idx="1"/>
          </p:nvPr>
        </p:nvSpPr>
        <p:spPr/>
        <p:txBody>
          <a:bodyPr wrap="square">
            <a:normAutofit/>
          </a:bodyPr>
          <a:lstStyle/>
          <a:p>
            <a:r>
              <a:t>Pull Requests That Actually Get Reviewed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The Pull Request Lifecycle</a:t>
            </a:r>
          </a:p>
        </p:txBody>
      </p:sp>
      <p:graphicFrame>
        <p:nvGraphicFramePr>
          <p:cNvPr id="3" name="Table 2"/>
          <p:cNvGraphicFramePr>
            <a:graphicFrameLocks noGrp="1"/>
          </p:cNvGraphicFramePr>
          <p:nvPr/>
        </p:nvGraphicFramePr>
        <p:xfrm>
          <a:off x="457200" y="1828800"/>
          <a:ext cx="8229600" cy="2743200"/>
        </p:xfrm>
        <a:graphic>
          <a:graphicData uri="http://schemas.openxmlformats.org/drawingml/2006/table">
            <a:tbl>
              <a:tblPr firstRow="1" bandRow="1">
                <a:tableStyleId>{5C22544A-7EE6-4342-B048-85BDC9FD1C3A}</a:tableStyleId>
              </a:tblPr>
              <a:tblGrid>
                <a:gridCol w="4114800"/>
                <a:gridCol w="4114800"/>
              </a:tblGrid>
              <a:tr h="457200">
                <a:tc>
                  <a:txBody>
                    <a:bodyPr wrap="square"/>
                    <a:lstStyle/>
                    <a:p>
                      <a:pPr>
                        <a:buNone/>
                        <a:defRPr sz="1600" b="1">
                          <a:solidFill>
                            <a:schemeClr val="bg1"/>
                          </a:solidFill>
                        </a:defRPr>
                      </a:pPr>
                      <a:r>
                        <a:rPr b="0" i="0" u="none" sz="1600"/>
                        <a:t>Stage</a:t>
                      </a:r>
                    </a:p>
                  </a:txBody>
                  <a:tcPr>
                    <a:solidFill>
                      <a:schemeClr val="accent4"/>
                    </a:solidFill>
                  </a:tcPr>
                </a:tc>
                <a:tc>
                  <a:txBody>
                    <a:bodyPr wrap="square"/>
                    <a:lstStyle/>
                    <a:p>
                      <a:pPr>
                        <a:buNone/>
                        <a:defRPr sz="1600" b="1">
                          <a:solidFill>
                            <a:schemeClr val="bg1"/>
                          </a:solidFill>
                        </a:defRPr>
                      </a:pPr>
                      <a:r>
                        <a:rPr b="0" i="0" u="none" sz="1600"/>
                        <a:t>AI Assistance</a:t>
                      </a:r>
                    </a:p>
                  </a:txBody>
                  <a:tcPr>
                    <a:solidFill>
                      <a:schemeClr val="accent4"/>
                    </a:solidFill>
                  </a:tcPr>
                </a:tc>
              </a:tr>
              <a:tr h="457200">
                <a:tc>
                  <a:txBody>
                    <a:bodyPr wrap="square"/>
                    <a:lstStyle/>
                    <a:p>
                      <a:pPr>
                        <a:buNone/>
                        <a:defRPr sz="1600" b="0">
                          <a:solidFill>
                            <a:schemeClr val="tx1"/>
                          </a:solidFill>
                        </a:defRPr>
                      </a:pPr>
                      <a:r>
                        <a:rPr b="0" i="0" u="none" sz="1600"/>
                        <a:t>Writing code</a:t>
                      </a:r>
                    </a:p>
                  </a:txBody>
                  <a:tcPr>
                    <a:solidFill>
                      <a:schemeClr val="accent4">
                        <a:lumMod val="20000"/>
                        <a:lumOff val="80000"/>
                      </a:schemeClr>
                    </a:solidFill>
                  </a:tcPr>
                </a:tc>
                <a:tc>
                  <a:txBody>
                    <a:bodyPr wrap="square"/>
                    <a:lstStyle/>
                    <a:p>
                      <a:pPr>
                        <a:buNone/>
                        <a:defRPr sz="1600" b="0">
                          <a:solidFill>
                            <a:schemeClr val="tx1"/>
                          </a:solidFill>
                        </a:defRPr>
                      </a:pPr>
                      <a:r>
                        <a:rPr b="0" i="0" u="none" sz="1600"/>
                        <a:t>Copilot completions</a:t>
                      </a:r>
                    </a:p>
                  </a:txBody>
                  <a:tcPr>
                    <a:solidFill>
                      <a:schemeClr val="accent4">
                        <a:lumMod val="20000"/>
                        <a:lumOff val="80000"/>
                      </a:schemeClr>
                    </a:solidFill>
                  </a:tcPr>
                </a:tc>
              </a:tr>
              <a:tr h="457200">
                <a:tc>
                  <a:txBody>
                    <a:bodyPr wrap="square"/>
                    <a:lstStyle/>
                    <a:p>
                      <a:pPr>
                        <a:buNone/>
                        <a:defRPr sz="1600" b="0">
                          <a:solidFill>
                            <a:schemeClr val="tx1"/>
                          </a:solidFill>
                        </a:defRPr>
                      </a:pPr>
                      <a:r>
                        <a:rPr b="0" i="0" u="none" sz="1600"/>
                        <a:t>Drafting the PR</a:t>
                      </a:r>
                    </a:p>
                  </a:txBody>
                  <a:tcPr>
                    <a:solidFill>
                      <a:schemeClr val="accent4">
                        <a:lumMod val="8000"/>
                        <a:lumOff val="92000"/>
                      </a:schemeClr>
                    </a:solidFill>
                  </a:tcPr>
                </a:tc>
                <a:tc>
                  <a:txBody>
                    <a:bodyPr wrap="square"/>
                    <a:lstStyle/>
                    <a:p>
                      <a:pPr>
                        <a:buNone/>
                        <a:defRPr sz="1600" b="0">
                          <a:solidFill>
                            <a:schemeClr val="tx1"/>
                          </a:solidFill>
                        </a:defRPr>
                      </a:pPr>
                      <a:r>
                        <a:rPr b="0" i="0" u="none" sz="1600"/>
                        <a:t>Generated description</a:t>
                      </a:r>
                    </a:p>
                  </a:txBody>
                  <a:tcPr>
                    <a:solidFill>
                      <a:schemeClr val="accent4">
                        <a:lumMod val="8000"/>
                        <a:lumOff val="92000"/>
                      </a:schemeClr>
                    </a:solidFill>
                  </a:tcPr>
                </a:tc>
              </a:tr>
              <a:tr h="457200">
                <a:tc>
                  <a:txBody>
                    <a:bodyPr wrap="square"/>
                    <a:lstStyle/>
                    <a:p>
                      <a:pPr>
                        <a:buNone/>
                        <a:defRPr sz="1600" b="0">
                          <a:solidFill>
                            <a:schemeClr val="tx1"/>
                          </a:solidFill>
                        </a:defRPr>
                      </a:pPr>
                      <a:r>
                        <a:rPr b="0" i="0" u="none" sz="1600"/>
                        <a:t>Code review</a:t>
                      </a:r>
                    </a:p>
                  </a:txBody>
                  <a:tcPr>
                    <a:solidFill>
                      <a:schemeClr val="accent4">
                        <a:lumMod val="20000"/>
                        <a:lumOff val="80000"/>
                      </a:schemeClr>
                    </a:solidFill>
                  </a:tcPr>
                </a:tc>
                <a:tc>
                  <a:txBody>
                    <a:bodyPr wrap="square"/>
                    <a:lstStyle/>
                    <a:p>
                      <a:pPr>
                        <a:buNone/>
                        <a:defRPr sz="1600" b="0">
                          <a:solidFill>
                            <a:schemeClr val="tx1"/>
                          </a:solidFill>
                        </a:defRPr>
                      </a:pPr>
                      <a:r>
                        <a:rPr b="0" i="0" u="none" sz="1600"/>
                        <a:t>Inline suggestions &amp; summaries</a:t>
                      </a:r>
                    </a:p>
                  </a:txBody>
                  <a:tcPr>
                    <a:solidFill>
                      <a:schemeClr val="accent4">
                        <a:lumMod val="20000"/>
                        <a:lumOff val="80000"/>
                      </a:schemeClr>
                    </a:solidFill>
                  </a:tcPr>
                </a:tc>
              </a:tr>
              <a:tr h="457200">
                <a:tc>
                  <a:txBody>
                    <a:bodyPr wrap="square"/>
                    <a:lstStyle/>
                    <a:p>
                      <a:pPr>
                        <a:buNone/>
                        <a:defRPr sz="1600" b="0">
                          <a:solidFill>
                            <a:schemeClr val="tx1"/>
                          </a:solidFill>
                        </a:defRPr>
                      </a:pPr>
                      <a:r>
                        <a:rPr b="0" i="0" u="none" sz="1600"/>
                        <a:t>Addressing feedback</a:t>
                      </a:r>
                    </a:p>
                  </a:txBody>
                  <a:tcPr>
                    <a:solidFill>
                      <a:schemeClr val="accent4">
                        <a:lumMod val="8000"/>
                        <a:lumOff val="92000"/>
                      </a:schemeClr>
                    </a:solidFill>
                  </a:tcPr>
                </a:tc>
                <a:tc>
                  <a:txBody>
                    <a:bodyPr wrap="square"/>
                    <a:lstStyle/>
                    <a:p>
                      <a:pPr>
                        <a:buNone/>
                        <a:defRPr sz="1600" b="0">
                          <a:solidFill>
                            <a:schemeClr val="tx1"/>
                          </a:solidFill>
                        </a:defRPr>
                      </a:pPr>
                      <a:r>
                        <a:rPr b="0" i="0" u="none" sz="1600"/>
                        <a:t>Guided fixes</a:t>
                      </a:r>
                    </a:p>
                  </a:txBody>
                  <a:tcPr>
                    <a:solidFill>
                      <a:schemeClr val="accent4">
                        <a:lumMod val="8000"/>
                        <a:lumOff val="92000"/>
                      </a:schemeClr>
                    </a:solidFill>
                  </a:tcPr>
                </a:tc>
              </a:tr>
              <a:tr h="457200">
                <a:tc>
                  <a:txBody>
                    <a:bodyPr wrap="square"/>
                    <a:lstStyle/>
                    <a:p>
                      <a:pPr>
                        <a:buNone/>
                        <a:defRPr sz="1600" b="0">
                          <a:solidFill>
                            <a:schemeClr val="tx1"/>
                          </a:solidFill>
                        </a:defRPr>
                      </a:pPr>
                      <a:r>
                        <a:rPr b="0" i="0" u="none" sz="1600"/>
                        <a:t>Final merge</a:t>
                      </a:r>
                    </a:p>
                  </a:txBody>
                  <a:tcPr>
                    <a:solidFill>
                      <a:schemeClr val="accent4">
                        <a:lumMod val="20000"/>
                        <a:lumOff val="80000"/>
                      </a:schemeClr>
                    </a:solidFill>
                  </a:tcPr>
                </a:tc>
                <a:tc>
                  <a:txBody>
                    <a:bodyPr wrap="square"/>
                    <a:lstStyle/>
                    <a:p>
                      <a:pPr>
                        <a:buNone/>
                        <a:defRPr sz="1600" b="0">
                          <a:solidFill>
                            <a:schemeClr val="tx1"/>
                          </a:solidFill>
                        </a:defRPr>
                      </a:pPr>
                      <a:r>
                        <a:rPr b="0" i="0" u="none" sz="1600"/>
                        <a:t>Automated checks</a:t>
                      </a:r>
                    </a:p>
                  </a:txBody>
                  <a:tcPr>
                    <a:solidFill>
                      <a:schemeClr val="accent4">
                        <a:lumMod val="20000"/>
                        <a:lumOff val="80000"/>
                      </a:schemeClr>
                    </a:solidFill>
                  </a:tcPr>
                </a:tc>
              </a:tr>
            </a:tbl>
          </a:graphicData>
        </a:graphic>
      </p:graphicFrame>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AI-Generated PR Descriptions</a:t>
            </a:r>
          </a:p>
        </p:txBody>
      </p:sp>
      <p:sp>
        <p:nvSpPr>
          <p:cNvPr id="3" name="Content Placeholder 2"/>
          <p:cNvSpPr>
            <a:spLocks noGrp="1"/>
          </p:cNvSpPr>
          <p:nvPr>
            <p:ph idx="1"/>
          </p:nvPr>
        </p:nvSpPr>
        <p:spPr/>
        <p:txBody>
          <a:bodyPr wrap="square">
            <a:normAutofit/>
          </a:bodyPr>
          <a:lstStyle/>
          <a:p>
            <a:pPr>
              <a:buNone/>
            </a:pPr>
            <a:r>
              <a:rPr b="0" i="0" u="none" sz="1800"/>
              <a:t>GitHub Copilot can </a:t>
            </a:r>
            <a:r>
              <a:rPr b="0" i="0" u="none" sz="1800"/>
              <a:t>draft your PR description</a:t>
            </a:r>
            <a:r>
              <a:rPr b="0" i="0" u="none" sz="1800"/>
              <a:t> based on your diff:</a:t>
            </a:r>
            <a:endParaRPr sz="1800" b="0" i="0">
              <a:latin typeface="Consolas"/>
            </a:endParaRPr>
          </a:p>
          <a:p>
            <a:pPr>
              <a:buNone/>
            </a:pPr>
            <a:r>
              <a:rPr b="0" i="0" u="none" sz="1800"/>
              <a:t/>
            </a:r>
            <a:endParaRPr sz="1800" b="0" i="0">
              <a:latin typeface="Consolas"/>
            </a:endParaRPr>
          </a:p>
          <a:p>
            <a:pPr/>
            <a:r>
              <a:rPr b="0" i="0" u="none" sz="1800"/>
              <a:t>Summarizes </a:t>
            </a:r>
            <a:r>
              <a:rPr b="0" i="0" u="none" sz="1800"/>
              <a:t>what changed</a:t>
            </a:r>
            <a:r>
              <a:rPr b="0" i="0" u="none" sz="1800"/>
              <a:t> and </a:t>
            </a:r>
            <a:r>
              <a:rPr b="0" i="0" u="none" sz="1800"/>
              <a:t>why</a:t>
            </a:r>
            <a:endParaRPr sz="1800" b="0" i="0">
              <a:latin typeface="Consolas"/>
            </a:endParaRPr>
          </a:p>
          <a:p>
            <a:pPr/>
            <a:r>
              <a:rPr b="0" i="0" u="none" sz="1800"/>
              <a:t>Suggests </a:t>
            </a:r>
            <a:r>
              <a:rPr b="0" i="0" u="none" sz="1800"/>
              <a:t>testing instructions</a:t>
            </a:r>
            <a:endParaRPr sz="1800" b="0" i="0">
              <a:latin typeface="Consolas"/>
            </a:endParaRPr>
          </a:p>
          <a:p>
            <a:pPr/>
            <a:r>
              <a:rPr b="0" i="0" u="none" sz="1800"/>
              <a:t>Highlights </a:t>
            </a:r>
            <a:r>
              <a:rPr b="0" i="0" u="none" sz="1800"/>
              <a:t>breaking changes</a:t>
            </a:r>
            <a:endParaRPr sz="1800" b="0" i="0">
              <a:latin typeface="Consolas"/>
            </a:endParaRPr>
          </a:p>
          <a:p>
            <a:pPr/>
            <a:r>
              <a:rPr b="0" i="0" u="none" sz="1800"/>
              <a:t>Links related </a:t>
            </a:r>
            <a:r>
              <a:rPr b="0" i="0" u="none" sz="1800"/>
              <a:t>issues and tickets</a:t>
            </a:r>
            <a:endParaRPr sz="1800" b="0" i="0">
              <a:latin typeface="Consolas"/>
            </a:endParaRPr>
          </a:p>
          <a:p>
            <a:pPr>
              <a:buNone/>
            </a:pPr>
            <a:r>
              <a:rPr b="0" i="0" u="none" sz="1800"/>
              <a:t/>
            </a:r>
            <a:endParaRPr sz="1800" b="0" i="0">
              <a:latin typeface="Consolas"/>
            </a:endParaRPr>
          </a:p>
          <a:p>
            <a:pPr>
              <a:buNone/>
            </a:pPr>
            <a:r>
              <a:rPr b="0" i="0" u="none" sz="1800"/>
              <a:t>💡 Use </a:t>
            </a:r>
            <a:r>
              <a:rPr b="0" i="0" u="none" sz="1800">
                <a:latin typeface="Consolas"/>
              </a:rPr>
              <a:t>gh pr create</a:t>
            </a:r>
            <a:r>
              <a:rPr b="0" i="0" u="none" sz="1800"/>
              <a:t> with Copilot in the CLI, or the </a:t>
            </a:r>
            <a:r>
              <a:rPr b="0" i="0" u="none" sz="1800"/>
              <a:t>GitHub web editor</a:t>
            </a:r>
            <a:r>
              <a:rPr b="0" i="0" u="none" sz="1800"/>
              <a:t> with AI suggestions</a:t>
            </a:r>
            <a:endParaRPr sz="1800" b="0" i="0">
              <a:latin typeface="Consolas"/>
            </a:endParaRP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Writing Effective PR Prompts</a:t>
            </a:r>
          </a:p>
        </p:txBody>
      </p:sp>
      <p:sp>
        <p:nvSpPr>
          <p:cNvPr id="3" name="Content Placeholder 2"/>
          <p:cNvSpPr>
            <a:spLocks noGrp="1"/>
          </p:cNvSpPr>
          <p:nvPr>
            <p:ph idx="1"/>
          </p:nvPr>
        </p:nvSpPr>
        <p:spPr/>
        <p:txBody>
          <a:bodyPr wrap="square">
            <a:normAutofit/>
          </a:bodyPr>
          <a:lstStyle/>
          <a:p>
            <a:pPr>
              <a:buNone/>
            </a:pPr>
            <a:r>
              <a:rPr b="0" i="0" u="none" sz="1800"/>
              <a:t>Getting great AI output starts with </a:t>
            </a:r>
            <a:r>
              <a:rPr b="0" i="0" u="none" sz="1800"/>
              <a:t>good context</a:t>
            </a:r>
            <a:r>
              <a:rPr b="0" i="0" u="none" sz="1800"/>
              <a:t>:</a:t>
            </a:r>
            <a:endParaRPr sz="1800" b="0" i="0">
              <a:latin typeface="Consolas"/>
            </a:endParaRPr>
          </a:p>
          <a:p>
            <a:pPr>
              <a:buNone/>
            </a:pPr>
            <a:r>
              <a:rPr b="0" i="0" u="none" sz="1800"/>
              <a:t/>
            </a:r>
            <a:endParaRPr sz="1800" b="0" i="0">
              <a:latin typeface="Consolas"/>
            </a:endParaRPr>
          </a:p>
          <a:p>
            <a:pPr>
              <a:buNone/>
            </a:pPr>
            <a:r>
              <a:rPr sz="1800" b="0" i="0">
                <a:latin typeface="Consolas"/>
              </a:rPr>
              <a:t># AI-Assisted Pull Request Workflows || Pull Requests That Actually Get Reviewed</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 Brief bullet list of changes</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 Business context or issue reference</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 Step-by-step verification</a:t>
            </a:r>
            <a:endParaRPr sz="1800" b="0" i="0">
              <a:latin typeface="Consolas"/>
            </a:endParaRPr>
          </a:p>
          <a:p>
            <a:pPr>
              <a:buNone/>
            </a:pPr>
            <a:r>
              <a:rPr b="0" i="0" u="none" sz="1800"/>
              <a:t/>
            </a:r>
            <a:endParaRPr sz="1800" b="0" i="0">
              <a:latin typeface="Consolas"/>
            </a:endParaRPr>
          </a:p>
          <a:p>
            <a:pPr>
              <a:buNone/>
            </a:pPr>
            <a:r>
              <a:rPr b="0" i="0" u="none" sz="1800"/>
              <a:t>Ask Copilot: </a:t>
            </a:r>
            <a:r>
              <a:rPr b="0" i="0" u="none" sz="1800"/>
              <a:t>"Generate a PR description for these changes that explains the business impact"</a:t>
            </a:r>
            <a:endParaRPr sz="1800" b="0" i="0">
              <a:latin typeface="Consolas"/>
            </a:endParaRP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AI-Powered Code Review</a:t>
            </a:r>
          </a:p>
        </p:txBody>
      </p:sp>
      <p:sp>
        <p:nvSpPr>
          <p:cNvPr id="3" name="Content Placeholder 2"/>
          <p:cNvSpPr>
            <a:spLocks noGrp="1"/>
          </p:cNvSpPr>
          <p:nvPr>
            <p:ph idx="1"/>
          </p:nvPr>
        </p:nvSpPr>
        <p:spPr/>
        <p:txBody>
          <a:bodyPr wrap="square">
            <a:normAutofit/>
          </a:bodyPr>
          <a:lstStyle/>
          <a:p>
            <a:pPr>
              <a:buNone/>
            </a:pPr>
            <a:r>
              <a:rPr b="0" i="0" u="none" sz="1800"/>
              <a:t>GitHub Copilot assists reviewers with:</a:t>
            </a:r>
            <a:endParaRPr sz="1800" b="0" i="0">
              <a:latin typeface="Consolas"/>
            </a:endParaRPr>
          </a:p>
          <a:p>
            <a:pPr>
              <a:buNone/>
            </a:pPr>
            <a:r>
              <a:rPr b="0" i="0" u="none" sz="1800"/>
              <a:t/>
            </a:r>
            <a:endParaRPr sz="1800" b="0" i="0">
              <a:latin typeface="Consolas"/>
            </a:endParaRPr>
          </a:p>
          <a:p>
            <a:pPr/>
            <a:r>
              <a:rPr b="0" i="0" u="none" sz="1800"/>
              <a:t>Inline explanations</a:t>
            </a:r>
            <a:r>
              <a:rPr b="0" i="0" u="none" sz="1800"/>
              <a:t> of complex code</a:t>
            </a:r>
            <a:endParaRPr sz="1800" b="0" i="0">
              <a:latin typeface="Consolas"/>
            </a:endParaRPr>
          </a:p>
          <a:p>
            <a:pPr/>
            <a:r>
              <a:rPr b="0" i="0" u="none" sz="1800"/>
              <a:t>Suggested improvements</a:t>
            </a:r>
            <a:r>
              <a:rPr b="0" i="0" u="none" sz="1800"/>
              <a:t> with rationale</a:t>
            </a:r>
            <a:endParaRPr sz="1800" b="0" i="0">
              <a:latin typeface="Consolas"/>
            </a:endParaRPr>
          </a:p>
          <a:p>
            <a:pPr/>
            <a:r>
              <a:rPr b="0" i="0" u="none" sz="1800"/>
              <a:t>Security vulnerability</a:t>
            </a:r>
            <a:r>
              <a:rPr b="0" i="0" u="none" sz="1800"/>
              <a:t> detection</a:t>
            </a:r>
            <a:endParaRPr sz="1800" b="0" i="0">
              <a:latin typeface="Consolas"/>
            </a:endParaRPr>
          </a:p>
          <a:p>
            <a:pPr/>
            <a:r>
              <a:rPr b="0" i="0" u="none" sz="1800"/>
              <a:t>Test coverage</a:t>
            </a:r>
            <a:r>
              <a:rPr b="0" i="0" u="none" sz="1800"/>
              <a:t> gap identification</a:t>
            </a:r>
            <a:endParaRPr sz="1800" b="0" i="0">
              <a:latin typeface="Consolas"/>
            </a:endParaRPr>
          </a:p>
          <a:p>
            <a:pPr/>
            <a:r>
              <a:rPr b="0" i="0" u="none" sz="1800"/>
              <a:t>Style and convention</a:t>
            </a:r>
            <a:r>
              <a:rPr b="0" i="0" u="none" sz="1800"/>
              <a:t> enforcement</a:t>
            </a:r>
            <a:endParaRPr sz="1800" b="0" i="0">
              <a:latin typeface="Consolas"/>
            </a:endParaRPr>
          </a:p>
          <a:p>
            <a:pPr>
              <a:buNone/>
            </a:pPr>
            <a:r>
              <a:rPr b="0" i="0" u="none" sz="1800"/>
              <a:t/>
            </a:r>
            <a:endParaRPr sz="1800" b="0" i="0">
              <a:latin typeface="Consolas"/>
            </a:endParaRPr>
          </a:p>
          <a:p>
            <a:pPr>
              <a:buNone/>
            </a:pPr>
            <a:r>
              <a:rPr b="0" i="0" u="none" sz="1800"/>
              <a:t>Use </a:t>
            </a:r>
            <a:r>
              <a:rPr b="0" i="0" u="none" sz="1800">
                <a:latin typeface="Consolas"/>
              </a:rPr>
              <a:t>@workspace</a:t>
            </a:r>
            <a:r>
              <a:rPr b="0" i="0" u="none" sz="1800"/>
              <a:t> in Copilot Chat to ask questions across the entire PR diff</a:t>
            </a:r>
            <a:endParaRPr sz="1800" b="0" i="0">
              <a:latin typeface="Consolas"/>
            </a:endParaR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Copilot PR Summaries</a:t>
            </a:r>
          </a:p>
        </p:txBody>
      </p:sp>
      <p:sp>
        <p:nvSpPr>
          <p:cNvPr id="3" name="Content Placeholder 2"/>
          <p:cNvSpPr>
            <a:spLocks noGrp="1"/>
          </p:cNvSpPr>
          <p:nvPr>
            <p:ph idx="1"/>
          </p:nvPr>
        </p:nvSpPr>
        <p:spPr/>
        <p:txBody>
          <a:bodyPr wrap="square">
            <a:normAutofit/>
          </a:bodyPr>
          <a:lstStyle/>
          <a:p>
            <a:pPr>
              <a:buNone/>
            </a:pPr>
            <a:r>
              <a:rPr b="0" i="0" u="none" sz="1800"/>
              <a:t>GitHub Copilot can </a:t>
            </a:r>
            <a:r>
              <a:rPr b="0" i="0" u="none" sz="1800"/>
              <a:t>summarize large PRs</a:t>
            </a:r>
            <a:r>
              <a:rPr b="0" i="0" u="none" sz="1800"/>
              <a:t> automatically:</a:t>
            </a:r>
            <a:endParaRPr sz="1800" b="0" i="0">
              <a:latin typeface="Consolas"/>
            </a:endParaRPr>
          </a:p>
          <a:p>
            <a:pPr>
              <a:buNone/>
            </a:pPr>
            <a:r>
              <a:rPr b="0" i="0" u="none" sz="1800"/>
              <a:t/>
            </a:r>
            <a:endParaRPr sz="1800" b="0" i="0">
              <a:latin typeface="Consolas"/>
            </a:endParaRPr>
          </a:p>
          <a:p>
            <a:pPr/>
            <a:r>
              <a:rPr b="0" i="0" u="none" sz="1800"/>
              <a:t>Condenses hundreds of lines of diff into a </a:t>
            </a:r>
            <a:r>
              <a:rPr b="0" i="0" u="none" sz="1800"/>
              <a:t>paragraph</a:t>
            </a:r>
            <a:endParaRPr sz="1800" b="0" i="0">
              <a:latin typeface="Consolas"/>
            </a:endParaRPr>
          </a:p>
          <a:p>
            <a:pPr/>
            <a:r>
              <a:rPr b="0" i="0" u="none" sz="1800"/>
              <a:t>Categorizes changes: </a:t>
            </a:r>
            <a:r>
              <a:rPr b="0" i="0" u="none" sz="1800"/>
              <a:t>features, fixes, refactors</a:t>
            </a:r>
            <a:endParaRPr sz="1800" b="0" i="0">
              <a:latin typeface="Consolas"/>
            </a:endParaRPr>
          </a:p>
          <a:p>
            <a:pPr/>
            <a:r>
              <a:rPr b="0" i="0" u="none" sz="1800"/>
              <a:t>Flags </a:t>
            </a:r>
            <a:r>
              <a:rPr b="0" i="0" u="none" sz="1800"/>
              <a:t>high-risk areas</a:t>
            </a:r>
            <a:r>
              <a:rPr b="0" i="0" u="none" sz="1800"/>
              <a:t> that need closer review</a:t>
            </a:r>
            <a:endParaRPr sz="1800" b="0" i="0">
              <a:latin typeface="Consolas"/>
            </a:endParaRPr>
          </a:p>
          <a:p>
            <a:pPr/>
            <a:r>
              <a:rPr b="0" i="0" u="none" sz="1800"/>
              <a:t>Generates a </a:t>
            </a:r>
            <a:r>
              <a:rPr b="0" i="0" u="none" sz="1800"/>
              <a:t>changelog entry</a:t>
            </a:r>
            <a:r>
              <a:rPr b="0" i="0" u="none" sz="1800"/>
              <a:t> from the summary</a:t>
            </a:r>
            <a:endParaRPr sz="1800" b="0" i="0">
              <a:latin typeface="Consolas"/>
            </a:endParaRPr>
          </a:p>
          <a:p>
            <a:pPr>
              <a:buNone/>
            </a:pPr>
            <a:r>
              <a:rPr b="0" i="0" u="none" sz="1800"/>
              <a:t/>
            </a:r>
            <a:endParaRPr sz="1800" b="0" i="0">
              <a:latin typeface="Consolas"/>
            </a:endParaRPr>
          </a:p>
          <a:p>
            <a:pPr>
              <a:buNone/>
            </a:pPr>
            <a:r>
              <a:rPr sz="1800" b="0" i="0">
                <a:latin typeface="Consolas"/>
              </a:rPr>
              <a:t>GitHub.com → Pull Request → Copilot Summary button</a:t>
            </a:r>
            <a:endParaRPr sz="1800" b="0" i="0">
              <a:latin typeface="Consolas"/>
            </a:endParaRP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Responding to Review Feedback</a:t>
            </a:r>
          </a:p>
        </p:txBody>
      </p:sp>
      <p:sp>
        <p:nvSpPr>
          <p:cNvPr id="3" name="Content Placeholder 2"/>
          <p:cNvSpPr>
            <a:spLocks noGrp="1"/>
          </p:cNvSpPr>
          <p:nvPr>
            <p:ph idx="1"/>
          </p:nvPr>
        </p:nvSpPr>
        <p:spPr/>
        <p:txBody>
          <a:bodyPr wrap="square">
            <a:normAutofit/>
          </a:bodyPr>
          <a:lstStyle/>
          <a:p>
            <a:pPr>
              <a:buNone/>
            </a:pPr>
            <a:r>
              <a:rPr b="0" i="0" u="none" sz="2800"/>
              <a:t>AI accelerates </a:t>
            </a:r>
            <a:r>
              <a:rPr b="0" i="0" u="none" sz="2800"/>
              <a:t>addressing reviewer comments</a:t>
            </a:r>
            <a:r>
              <a:rPr b="0" i="0" u="none" sz="2800"/>
              <a:t>:</a:t>
            </a:r>
            <a:endParaRPr sz="2800" b="0" i="0">
              <a:latin typeface="Arial"/>
            </a:endParaRPr>
          </a:p>
          <a:p>
            <a:pPr>
              <a:buNone/>
            </a:pPr>
            <a:r>
              <a:rPr b="0" i="0" u="none" sz="2800"/>
              <a:t/>
            </a:r>
            <a:endParaRPr sz="2800" b="0" i="0">
              <a:latin typeface="Arial"/>
            </a:endParaRPr>
          </a:p>
          <a:p>
            <a:pPr>
              <a:buNone/>
            </a:pPr>
            <a:r>
              <a:rPr b="0" i="0" u="none" sz="2800"/>
              <a:t>1. Copilot suggests </a:t>
            </a:r>
            <a:r>
              <a:rPr b="0" i="0" u="none" sz="2800"/>
              <a:t>code fixes</a:t>
            </a:r>
            <a:r>
              <a:rPr b="0" i="0" u="none" sz="2800"/>
              <a:t> inline from review comments</a:t>
            </a:r>
            <a:endParaRPr sz="2800" b="0" i="0">
              <a:latin typeface="Arial"/>
            </a:endParaRPr>
          </a:p>
          <a:p>
            <a:pPr>
              <a:buNone/>
            </a:pPr>
            <a:r>
              <a:rPr b="0" i="0" u="none" sz="2800"/>
              <a:t>2. Ask Copilot Chat: </a:t>
            </a:r>
            <a:r>
              <a:rPr b="0" i="0" u="none" sz="2800"/>
              <a:t>"How do I fix this review comment?"</a:t>
            </a:r>
            <a:endParaRPr sz="2800" b="0" i="0">
              <a:latin typeface="Arial"/>
            </a:endParaRPr>
          </a:p>
          <a:p>
            <a:pPr>
              <a:buNone/>
            </a:pPr>
            <a:r>
              <a:rPr b="0" i="0" u="none" sz="2800"/>
              <a:t>3. Copilot </a:t>
            </a:r>
            <a:r>
              <a:rPr b="0" i="0" u="none" sz="2800"/>
              <a:t>Autofix</a:t>
            </a:r>
            <a:r>
              <a:rPr b="0" i="0" u="none" sz="2800"/>
              <a:t> resolves flagged security issues</a:t>
            </a:r>
            <a:endParaRPr sz="2800" b="0" i="0">
              <a:latin typeface="Arial"/>
            </a:endParaRPr>
          </a:p>
          <a:p>
            <a:pPr>
              <a:buNone/>
            </a:pPr>
            <a:r>
              <a:rPr b="0" i="0" u="none" sz="2800"/>
              <a:t>4. Batch-address similar comments across files</a:t>
            </a:r>
            <a:endParaRPr sz="2800" b="0" i="0">
              <a:latin typeface="Arial"/>
            </a:endParaRPr>
          </a:p>
          <a:p>
            <a:pPr>
              <a:buNone/>
            </a:pPr>
            <a:r>
              <a:rPr b="0" i="0" u="none" sz="2800"/>
              <a:t/>
            </a:r>
            <a:endParaRPr sz="2800" b="0" i="0">
              <a:latin typeface="Arial"/>
            </a:endParaRPr>
          </a:p>
          <a:p>
            <a:pPr>
              <a:buNone/>
            </a:pPr>
            <a:r>
              <a:rPr b="0" i="0" u="none" sz="2800"/>
              <a:t>🔁 The feedback loop closes faster when AI drafts the fix and the human approves it</a:t>
            </a:r>
            <a:endParaRPr sz="2800" b="0" i="0">
              <a:latin typeface="Arial"/>
            </a:endParaRP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Automated PR Checks with AI</a:t>
            </a:r>
          </a:p>
        </p:txBody>
      </p:sp>
      <p:sp>
        <p:nvSpPr>
          <p:cNvPr id="3" name="Content Placeholder 2"/>
          <p:cNvSpPr>
            <a:spLocks noGrp="1"/>
          </p:cNvSpPr>
          <p:nvPr>
            <p:ph idx="1"/>
          </p:nvPr>
        </p:nvSpPr>
        <p:spPr/>
        <p:txBody>
          <a:bodyPr wrap="square">
            <a:normAutofit/>
          </a:bodyPr>
          <a:lstStyle/>
          <a:p>
            <a:pPr>
              <a:buNone/>
            </a:pPr>
            <a:r>
              <a:rPr b="0" i="0" u="none" sz="1800"/>
              <a:t>Integrate AI into your </a:t>
            </a:r>
            <a:r>
              <a:rPr b="0" i="0" u="none" sz="1800"/>
              <a:t>CI/CD pipeline</a:t>
            </a:r>
            <a:r>
              <a:rPr b="0" i="0" u="none" sz="1800"/>
              <a:t>:</a:t>
            </a:r>
            <a:endParaRPr sz="1800" b="0" i="0">
              <a:latin typeface="Consolas"/>
            </a:endParaRPr>
          </a:p>
          <a:p>
            <a:pPr>
              <a:buNone/>
            </a:pPr>
            <a:r>
              <a:rPr b="0" i="0" u="none" sz="1800"/>
              <a:t/>
            </a:r>
            <a:endParaRPr sz="1800" b="0" i="0">
              <a:latin typeface="Consolas"/>
            </a:endParaRPr>
          </a:p>
          <a:p>
            <a:pPr>
              <a:buNone/>
            </a:pPr>
            <a:r>
              <a:rPr sz="1800" b="0" i="0">
                <a:latin typeface="Consolas"/>
              </a:rPr>
              <a:t># AI-Assisted Pull Request Workflows || Pull Requests That Actually Get Reviewed</a:t>
            </a:r>
            <a:endParaRPr sz="1800" b="0" i="0">
              <a:latin typeface="Consolas"/>
            </a:endParaRPr>
          </a:p>
          <a:p>
            <a:pPr>
              <a:buNone/>
            </a:pPr>
            <a:r>
              <a:rPr sz="1800" b="0" i="0">
                <a:latin typeface="Consolas"/>
              </a:rPr>
              <a:t>- name: Copilot Code Review</a:t>
            </a:r>
            <a:endParaRPr sz="1800" b="0" i="0">
              <a:latin typeface="Consolas"/>
            </a:endParaRPr>
          </a:p>
          <a:p>
            <a:pPr>
              <a:buNone/>
            </a:pPr>
            <a:r>
              <a:rPr sz="1800" b="0" i="0">
                <a:latin typeface="Consolas"/>
              </a:rPr>
              <a:t>  uses: github/copilot-code-review@v1</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 name: AI Security Scan</a:t>
            </a:r>
            <a:endParaRPr sz="1800" b="0" i="0">
              <a:latin typeface="Consolas"/>
            </a:endParaRPr>
          </a:p>
          <a:p>
            <a:pPr>
              <a:buNone/>
            </a:pPr>
            <a:r>
              <a:rPr sz="1800" b="0" i="0">
                <a:latin typeface="Consolas"/>
              </a:rPr>
              <a:t>  uses: github/advanced-security-action@v2</a:t>
            </a:r>
            <a:endParaRPr sz="1800" b="0" i="0">
              <a:latin typeface="Consolas"/>
            </a:endParaRPr>
          </a:p>
          <a:p>
            <a:pPr>
              <a:buNone/>
            </a:pPr>
            <a:r>
              <a:rPr b="0" i="0" u="none" sz="1800"/>
              <a:t/>
            </a:r>
            <a:endParaRPr sz="1800" b="0" i="0">
              <a:latin typeface="Consolas"/>
            </a:endParaRPr>
          </a:p>
          <a:p>
            <a:pPr/>
            <a:r>
              <a:rPr b="0" i="0" u="none" sz="1800"/>
              <a:t>Run AI review on </a:t>
            </a:r>
            <a:r>
              <a:rPr b="0" i="0" u="none" sz="1800"/>
              <a:t>every PR automatically</a:t>
            </a:r>
            <a:endParaRPr sz="1800" b="0" i="0">
              <a:latin typeface="Consolas"/>
            </a:endParaRPr>
          </a:p>
          <a:p>
            <a:pPr/>
            <a:r>
              <a:rPr b="0" i="0" u="none" sz="1800"/>
              <a:t>Block merges on </a:t>
            </a:r>
            <a:r>
              <a:rPr b="0" i="0" u="none" sz="1800"/>
              <a:t>critical AI-flagged issues</a:t>
            </a:r>
            <a:endParaRPr sz="1800" b="0" i="0">
              <a:latin typeface="Consolas"/>
            </a:endParaRPr>
          </a:p>
          <a:p>
            <a:pPr/>
            <a:r>
              <a:rPr b="0" i="0" u="none" sz="1800"/>
              <a:t>Post AI summary as a </a:t>
            </a:r>
            <a:r>
              <a:rPr b="0" i="0" u="none" sz="1800"/>
              <a:t>PR comment</a:t>
            </a:r>
            <a:endParaRPr sz="1800" b="0" i="0">
              <a:latin typeface="Consolas"/>
            </a:endParaRP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Real-World Patterns</a:t>
            </a:r>
          </a:p>
        </p:txBody>
      </p:sp>
      <p:sp>
        <p:nvSpPr>
          <p:cNvPr id="3" name="Content Placeholder 2"/>
          <p:cNvSpPr>
            <a:spLocks noGrp="1"/>
          </p:cNvSpPr>
          <p:nvPr>
            <p:ph idx="1"/>
          </p:nvPr>
        </p:nvSpPr>
        <p:spPr/>
        <p:txBody>
          <a:bodyPr wrap="square">
            <a:normAutofit/>
          </a:bodyPr>
          <a:lstStyle/>
          <a:p>
            <a:pPr>
              <a:buNone/>
            </a:pPr>
            <a:r>
              <a:rPr b="0" i="0" u="none" sz="2800"/>
              <a:t>### Teams using AI for PRs report:</a:t>
            </a:r>
            <a:endParaRPr sz="2800" b="0" i="0">
              <a:latin typeface="Arial"/>
            </a:endParaRPr>
          </a:p>
          <a:p>
            <a:pPr>
              <a:buNone/>
            </a:pPr>
            <a:r>
              <a:rPr b="0" i="0" u="none" sz="2800"/>
              <a:t/>
            </a:r>
            <a:endParaRPr sz="2800" b="0" i="0">
              <a:latin typeface="Arial"/>
            </a:endParaRPr>
          </a:p>
          <a:p>
            <a:pPr/>
            <a:r>
              <a:rPr b="0" i="0" u="none" sz="2800"/>
              <a:t>40-60% reduction</a:t>
            </a:r>
            <a:r>
              <a:rPr b="0" i="0" u="none" sz="2800"/>
              <a:t> in time-to-first-review</a:t>
            </a:r>
            <a:endParaRPr sz="2800" b="0" i="0">
              <a:latin typeface="Arial"/>
            </a:endParaRPr>
          </a:p>
          <a:p>
            <a:pPr/>
            <a:r>
              <a:rPr b="0" i="0" u="none" sz="2800"/>
              <a:t>Clearer PR descriptions</a:t>
            </a:r>
            <a:r>
              <a:rPr b="0" i="0" u="none" sz="2800"/>
              <a:t> leading to fewer questions</a:t>
            </a:r>
            <a:endParaRPr sz="2800" b="0" i="0">
              <a:latin typeface="Arial"/>
            </a:endParaRPr>
          </a:p>
          <a:p>
            <a:pPr/>
            <a:r>
              <a:rPr b="0" i="0" u="none" sz="2800"/>
              <a:t>Faster onboarding</a:t>
            </a:r>
            <a:r>
              <a:rPr b="0" i="0" u="none" sz="2800"/>
              <a:t> — new devs produce PR-ready code sooner</a:t>
            </a:r>
            <a:endParaRPr sz="2800" b="0" i="0">
              <a:latin typeface="Arial"/>
            </a:endParaRPr>
          </a:p>
          <a:p>
            <a:pPr/>
            <a:r>
              <a:rPr b="0" i="0" u="none" sz="2800"/>
              <a:t>Higher review quality</a:t>
            </a:r>
            <a:r>
              <a:rPr b="0" i="0" u="none" sz="2800"/>
              <a:t> — reviewers catch logic issues, not style issues</a:t>
            </a:r>
            <a:endParaRPr sz="2800" b="0" i="0">
              <a:latin typeface="Arial"/>
            </a:endParaRPr>
          </a:p>
          <a:p>
            <a:pPr>
              <a:buNone/>
            </a:pPr>
            <a:r>
              <a:rPr b="0" i="0" u="none" sz="2800"/>
              <a:t/>
            </a:r>
            <a:endParaRPr sz="2800" b="0" i="0">
              <a:latin typeface="Arial"/>
            </a:endParaRPr>
          </a:p>
          <a:p>
            <a:pPr>
              <a:buNone/>
            </a:pPr>
            <a:r>
              <a:rPr b="0" i="0" u="none" sz="2800"/>
              <a:t>Source: GitHub internal data, 2024–2025 Copilot usage studies</a:t>
            </a:r>
            <a:endParaRPr sz="2800" b="0" i="0">
              <a:latin typeface="Arial"/>
            </a:endParaRP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Best Practices</a:t>
            </a:r>
          </a:p>
        </p:txBody>
      </p:sp>
      <p:sp>
        <p:nvSpPr>
          <p:cNvPr id="3" name="Content Placeholder 2"/>
          <p:cNvSpPr>
            <a:spLocks noGrp="1"/>
          </p:cNvSpPr>
          <p:nvPr>
            <p:ph idx="1"/>
          </p:nvPr>
        </p:nvSpPr>
        <p:spPr/>
        <p:txBody>
          <a:bodyPr wrap="square">
            <a:normAutofit/>
          </a:bodyPr>
          <a:lstStyle/>
          <a:p>
            <a:pPr>
              <a:buNone/>
            </a:pPr>
            <a:r>
              <a:rPr b="0" i="0" u="none" sz="2800"/>
              <a:t>✅ </a:t>
            </a:r>
            <a:r>
              <a:rPr b="0" i="0" u="none" sz="2800"/>
              <a:t>Do</a:t>
            </a:r>
            <a:endParaRPr sz="2800" b="0" i="0">
              <a:latin typeface="Arial"/>
            </a:endParaRPr>
          </a:p>
          <a:p>
            <a:pPr>
              <a:buNone/>
            </a:pPr>
            <a:r>
              <a:rPr b="0" i="0" u="none" sz="2800"/>
              <a:t/>
            </a:r>
            <a:endParaRPr sz="2800" b="0" i="0">
              <a:latin typeface="Arial"/>
            </a:endParaRPr>
          </a:p>
          <a:p>
            <a:pPr/>
            <a:r>
              <a:rPr b="0" i="0" u="none" sz="2800"/>
              <a:t>Review and personalize AI-generated descriptions</a:t>
            </a:r>
            <a:endParaRPr sz="2800" b="0" i="0">
              <a:latin typeface="Arial"/>
            </a:endParaRPr>
          </a:p>
          <a:p>
            <a:pPr/>
            <a:r>
              <a:rPr b="0" i="0" u="none" sz="2800"/>
              <a:t>Use Copilot Chat to ask questions during review</a:t>
            </a:r>
            <a:endParaRPr sz="2800" b="0" i="0">
              <a:latin typeface="Arial"/>
            </a:endParaRPr>
          </a:p>
          <a:p>
            <a:pPr/>
            <a:r>
              <a:rPr b="0" i="0" u="none" sz="2800"/>
              <a:t>Enable Copilot Autofix for security alerts</a:t>
            </a:r>
            <a:endParaRPr sz="2800" b="0" i="0">
              <a:latin typeface="Arial"/>
            </a:endParaRPr>
          </a:p>
          <a:p>
            <a:pPr/>
            <a:r>
              <a:rPr b="0" i="0" u="none" sz="2800"/>
              <a:t>Add a PR template to guide AI output</a:t>
            </a:r>
            <a:endParaRPr sz="2800" b="0" i="0">
              <a:latin typeface="Arial"/>
            </a:endParaRPr>
          </a:p>
          <a:p>
            <a:pPr>
              <a:buNone/>
            </a:pPr>
            <a:r>
              <a:rPr b="0" i="0" u="none" sz="2800"/>
              <a:t/>
            </a:r>
            <a:endParaRPr sz="2800" b="0" i="0">
              <a:latin typeface="Arial"/>
            </a:endParaRPr>
          </a:p>
          <a:p>
            <a:pPr>
              <a:buNone/>
            </a:pPr>
            <a:r>
              <a:rPr b="0" i="0" u="none" sz="2800"/>
              <a:t>❌ </a:t>
            </a:r>
            <a:r>
              <a:rPr b="0" i="0" u="none" sz="2800"/>
              <a:t>Avoid</a:t>
            </a:r>
            <a:endParaRPr sz="2800" b="0" i="0">
              <a:latin typeface="Arial"/>
            </a:endParaRPr>
          </a:p>
          <a:p>
            <a:pPr>
              <a:buNone/>
            </a:pPr>
            <a:r>
              <a:rPr b="0" i="0" u="none" sz="2800"/>
              <a:t/>
            </a:r>
            <a:endParaRPr sz="2800" b="0" i="0">
              <a:latin typeface="Arial"/>
            </a:endParaRPr>
          </a:p>
          <a:p>
            <a:pPr/>
            <a:r>
              <a:rPr b="0" i="0" u="none" sz="2800"/>
              <a:t>Merging AI-generated descriptions without reading them</a:t>
            </a:r>
            <a:endParaRPr sz="2800" b="0" i="0">
              <a:latin typeface="Arial"/>
            </a:endParaRPr>
          </a:p>
          <a:p>
            <a:pPr/>
            <a:r>
              <a:rPr b="0" i="0" u="none" sz="2800"/>
              <a:t>Treating AI review as a substitute for human judgment</a:t>
            </a:r>
            <a:endParaRPr sz="2800" b="0" i="0">
              <a:latin typeface="Arial"/>
            </a:endParaRPr>
          </a:p>
          <a:p>
            <a:pPr/>
            <a:r>
              <a:rPr b="0" i="0" u="none" sz="2800"/>
              <a:t>Over-automating to the point of alert fatigue</a:t>
            </a:r>
            <a:endParaRPr sz="2800" b="0" i="0">
              <a:latin typeface="Arial"/>
            </a:endParaRP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Getting Started</a:t>
            </a:r>
          </a:p>
        </p:txBody>
      </p:sp>
      <p:sp>
        <p:nvSpPr>
          <p:cNvPr id="3" name="Content Placeholder 2"/>
          <p:cNvSpPr>
            <a:spLocks noGrp="1"/>
          </p:cNvSpPr>
          <p:nvPr>
            <p:ph idx="1"/>
          </p:nvPr>
        </p:nvSpPr>
        <p:spPr/>
        <p:txBody>
          <a:bodyPr wrap="square">
            <a:normAutofit/>
          </a:bodyPr>
          <a:lstStyle/>
          <a:p>
            <a:pPr>
              <a:buNone/>
            </a:pPr>
            <a:r>
              <a:rPr b="0" i="0" u="none" sz="2800"/>
              <a:t>### Start small, build habits:</a:t>
            </a:r>
            <a:endParaRPr sz="2800" b="0" i="0">
              <a:latin typeface="Arial"/>
            </a:endParaRPr>
          </a:p>
          <a:p>
            <a:pPr>
              <a:buNone/>
            </a:pPr>
            <a:r>
              <a:rPr b="0" i="0" u="none" sz="2800"/>
              <a:t/>
            </a:r>
            <a:endParaRPr sz="2800" b="0" i="0">
              <a:latin typeface="Arial"/>
            </a:endParaRPr>
          </a:p>
          <a:p>
            <a:pPr>
              <a:buNone/>
            </a:pPr>
            <a:r>
              <a:rPr b="0" i="0" u="none" sz="2800"/>
              <a:t>1. </a:t>
            </a:r>
            <a:r>
              <a:rPr b="0" i="0" u="none" sz="2800"/>
              <a:t>Today</a:t>
            </a:r>
            <a:r>
              <a:rPr b="0" i="0" u="none" sz="2800"/>
              <a:t>: Use Copilot to draft your next PR description</a:t>
            </a:r>
            <a:endParaRPr sz="2800" b="0" i="0">
              <a:latin typeface="Arial"/>
            </a:endParaRPr>
          </a:p>
          <a:p>
            <a:pPr>
              <a:buNone/>
            </a:pPr>
            <a:r>
              <a:rPr b="0" i="0" u="none" sz="2800"/>
              <a:t>2. </a:t>
            </a:r>
            <a:r>
              <a:rPr b="0" i="0" u="none" sz="2800"/>
              <a:t>This week</a:t>
            </a:r>
            <a:r>
              <a:rPr b="0" i="0" u="none" sz="2800"/>
              <a:t>: Try Copilot Chat during your next code review</a:t>
            </a:r>
            <a:endParaRPr sz="2800" b="0" i="0">
              <a:latin typeface="Arial"/>
            </a:endParaRPr>
          </a:p>
          <a:p>
            <a:pPr>
              <a:buNone/>
            </a:pPr>
            <a:r>
              <a:rPr b="0" i="0" u="none" sz="2800"/>
              <a:t>3. </a:t>
            </a:r>
            <a:r>
              <a:rPr b="0" i="0" u="none" sz="2800"/>
              <a:t>This sprint</a:t>
            </a:r>
            <a:r>
              <a:rPr b="0" i="0" u="none" sz="2800"/>
              <a:t>: Add a PR template to guide AI descriptions</a:t>
            </a:r>
            <a:endParaRPr sz="2800" b="0" i="0">
              <a:latin typeface="Arial"/>
            </a:endParaRPr>
          </a:p>
          <a:p>
            <a:pPr>
              <a:buNone/>
            </a:pPr>
            <a:r>
              <a:rPr b="0" i="0" u="none" sz="2800"/>
              <a:t>4. </a:t>
            </a:r>
            <a:r>
              <a:rPr b="0" i="0" u="none" sz="2800"/>
              <a:t>This quarter</a:t>
            </a:r>
            <a:r>
              <a:rPr b="0" i="0" u="none" sz="2800"/>
              <a:t>: Automate AI checks in your CI pipeline</a:t>
            </a:r>
            <a:endParaRPr sz="2800" b="0" i="0">
              <a:latin typeface="Arial"/>
            </a:endParaRPr>
          </a:p>
          <a:p>
            <a:pPr>
              <a:buNone/>
            </a:pPr>
            <a:r>
              <a:rPr b="0" i="0" u="none" sz="2800"/>
              <a:t/>
            </a:r>
            <a:endParaRPr sz="2800" b="0" i="0">
              <a:latin typeface="Arial"/>
            </a:endParaRPr>
          </a:p>
          <a:p>
            <a:pPr>
              <a:buNone/>
            </a:pPr>
            <a:r>
              <a:rPr b="0" i="0" u="none" sz="2800"/>
              <a:t>📖 Resources:</a:t>
            </a:r>
            <a:endParaRPr sz="2800" b="0" i="0">
              <a:latin typeface="Arial"/>
            </a:endParaRPr>
          </a:p>
          <a:p>
            <a:pPr>
              <a:buNone/>
            </a:pPr>
            <a:r>
              <a:rPr b="0" i="0" u="none" sz="2800"/>
              <a:t>&gt;</a:t>
            </a:r>
            <a:endParaRPr sz="2800" b="0" i="0">
              <a:latin typeface="Arial"/>
            </a:endParaRPr>
          </a:p>
          <a:p>
            <a:pPr/>
            <a:r>
              <a:rPr b="0" i="0" u="none" sz="2800"/>
              <a:t>GitHub Copilot for PRs: https://docs.github.com/copilot</a:t>
            </a:r>
            <a:endParaRPr sz="2800" b="0" i="0">
              <a:latin typeface="Arial"/>
            </a:endParaRPr>
          </a:p>
          <a:p>
            <a:pPr/>
            <a:r>
              <a:rPr b="0" i="0" u="none" sz="2800"/>
              <a:t>GitHub Advanced Security: https://docs.github.com/en/code-security</a:t>
            </a:r>
            <a:endParaRPr sz="2800" b="0" i="0">
              <a:latin typeface="Arial"/>
            </a:endParaRPr>
          </a:p>
          <a:p>
            <a:pPr/>
            <a:r>
              <a:rPr b="0" i="0" u="none" sz="2800"/>
              <a:t>gh CLI: https://cli.github.com</a:t>
            </a:r>
            <a:endParaRPr sz="2800" b="0" i="0">
              <a:latin typeface="Arial"/>
            </a:endParaRP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Summary</a:t>
            </a:r>
          </a:p>
        </p:txBody>
      </p:sp>
      <p:sp>
        <p:nvSpPr>
          <p:cNvPr id="3" name="Content Placeholder 2"/>
          <p:cNvSpPr>
            <a:spLocks noGrp="1"/>
          </p:cNvSpPr>
          <p:nvPr>
            <p:ph idx="1" sz="half"/>
          </p:nvPr>
        </p:nvSpPr>
        <p:spPr/>
        <p:txBody>
          <a:bodyPr wrap="square">
            <a:normAutofit/>
          </a:bodyPr>
          <a:lstStyle/>
          <a:p>
            <a:pPr>
              <a:buNone/>
            </a:pPr>
            <a:r>
              <a:rPr b="0" i="0" u="none" sz="2800"/>
              <a:t>### AI transforms the PR workflow</a:t>
            </a:r>
            <a:endParaRPr sz="2800" b="0" i="0">
              <a:latin typeface="Arial"/>
            </a:endParaRPr>
          </a:p>
          <a:p>
            <a:pPr>
              <a:buNone/>
            </a:pPr>
            <a:r>
              <a:rPr b="0" i="0" u="none" sz="2800"/>
              <a:t/>
            </a:r>
            <a:endParaRPr sz="2800" b="0" i="0">
              <a:latin typeface="Arial"/>
            </a:endParaRPr>
          </a:p>
          <a:p>
            <a:pPr>
              <a:buNone/>
            </a:pPr>
            <a:r>
              <a:rPr b="0" i="0" u="none" sz="2800"/>
              <a:t>Without AI</a:t>
            </a:r>
            <a:endParaRPr sz="2800" b="0" i="0">
              <a:latin typeface="Arial"/>
            </a:endParaRPr>
          </a:p>
          <a:p>
            <a:pPr>
              <a:buNone/>
            </a:pPr>
            <a:r>
              <a:rPr b="0" i="0" u="none" sz="2800"/>
              <a:t/>
            </a:r>
            <a:endParaRPr sz="2800" b="0" i="0">
              <a:latin typeface="Arial"/>
            </a:endParaRPr>
          </a:p>
          <a:p>
            <a:pPr/>
            <a:r>
              <a:rPr b="0" i="0" u="none" sz="2800"/>
              <a:t>Manual PR descriptions</a:t>
            </a:r>
            <a:endParaRPr sz="2800" b="0" i="0">
              <a:latin typeface="Arial"/>
            </a:endParaRPr>
          </a:p>
          <a:p>
            <a:pPr/>
            <a:r>
              <a:rPr b="0" i="0" u="none" sz="2800"/>
              <a:t>Line-by-line review only</a:t>
            </a:r>
            <a:endParaRPr sz="2800" b="0" i="0">
              <a:latin typeface="Arial"/>
            </a:endParaRPr>
          </a:p>
          <a:p>
            <a:pPr/>
            <a:r>
              <a:rPr b="0" i="0" u="none" sz="2800"/>
              <a:t>Slow feedback loops</a:t>
            </a:r>
            <a:endParaRPr sz="2800" b="0" i="0">
              <a:latin typeface="Arial"/>
            </a:endParaRPr>
          </a:p>
          <a:p>
            <a:pPr/>
            <a:r>
              <a:rPr b="0" i="0" u="none" sz="2800"/>
              <a:t>Inconsistent standards</a:t>
            </a:r>
            <a:endParaRPr sz="2800" b="0" i="0">
              <a:latin typeface="Arial"/>
            </a:endParaRPr>
          </a:p>
          <a:p>
            <a:pPr/>
            <a:r>
              <a:rPr b="0" i="0" u="none" sz="2800"/>
              <a:t>Slower onboarding</a:t>
            </a:r>
            <a:endParaRPr sz="2800" b="0" i="0">
              <a:latin typeface="Arial"/>
            </a:endParaRPr>
          </a:p>
        </p:txBody>
      </p:sp>
      <p:sp>
        <p:nvSpPr>
          <p:cNvPr id="4" name="Content Placeholder 3"/>
          <p:cNvSpPr>
            <a:spLocks noGrp="1"/>
          </p:cNvSpPr>
          <p:nvPr>
            <p:ph idx="2" sz="half"/>
          </p:nvPr>
        </p:nvSpPr>
        <p:spPr/>
        <p:txBody>
          <a:bodyPr wrap="square">
            <a:normAutofit/>
          </a:bodyPr>
          <a:lstStyle/>
          <a:p>
            <a:pPr>
              <a:buNone/>
            </a:pPr>
            <a:r>
              <a:rPr b="0" i="0" u="none" sz="2800"/>
              <a:t>With AI</a:t>
            </a:r>
            <a:endParaRPr sz="2800" b="0" i="0">
              <a:latin typeface="Arial"/>
            </a:endParaRPr>
          </a:p>
          <a:p>
            <a:pPr>
              <a:buNone/>
            </a:pPr>
            <a:r>
              <a:rPr b="0" i="0" u="none" sz="2800"/>
              <a:t/>
            </a:r>
            <a:endParaRPr sz="2800" b="0" i="0">
              <a:latin typeface="Arial"/>
            </a:endParaRPr>
          </a:p>
          <a:p>
            <a:pPr/>
            <a:r>
              <a:rPr b="0" i="0" u="none" sz="2800"/>
              <a:t>Structured draft descriptions</a:t>
            </a:r>
            <a:endParaRPr sz="2800" b="0" i="0">
              <a:latin typeface="Arial"/>
            </a:endParaRPr>
          </a:p>
          <a:p>
            <a:pPr/>
            <a:r>
              <a:rPr b="0" i="0" u="none" sz="2800"/>
              <a:t>AI summaries plus human logic review</a:t>
            </a:r>
            <a:endParaRPr sz="2800" b="0" i="0">
              <a:latin typeface="Arial"/>
            </a:endParaRPr>
          </a:p>
          <a:p>
            <a:pPr/>
            <a:r>
              <a:rPr b="0" i="0" u="none" sz="2800"/>
              <a:t>Faster inline fix suggestions</a:t>
            </a:r>
            <a:endParaRPr sz="2800" b="0" i="0">
              <a:latin typeface="Arial"/>
            </a:endParaRPr>
          </a:p>
          <a:p>
            <a:pPr/>
            <a:r>
              <a:rPr b="0" i="0" u="none" sz="2800"/>
              <a:t>Automated checks on every PR</a:t>
            </a:r>
            <a:endParaRPr sz="2800" b="0" i="0">
              <a:latin typeface="Arial"/>
            </a:endParaRPr>
          </a:p>
          <a:p>
            <a:pPr/>
            <a:r>
              <a:rPr b="0" i="0" u="none" sz="2800"/>
              <a:t>Faster onboarding to team standards</a:t>
            </a:r>
            <a:endParaRPr sz="2800" b="0" i="0">
              <a:latin typeface="Arial"/>
            </a:endParaRPr>
          </a:p>
          <a:p>
            <a:pPr>
              <a:buNone/>
            </a:pPr>
            <a:r>
              <a:rPr b="0" i="0" u="none" sz="2800"/>
              <a:t/>
            </a:r>
            <a:endParaRPr sz="2800" b="0" i="0">
              <a:latin typeface="Arial"/>
            </a:endParaRPr>
          </a:p>
          <a:p>
            <a:pPr>
              <a:buNone/>
            </a:pPr>
            <a:r>
              <a:rPr b="0" i="0" u="none" sz="2800"/>
              <a:t>Pull requests become a collaboration between humans and AI.</a:t>
            </a:r>
            <a:endParaRPr sz="2800" b="0" i="0">
              <a:latin typeface="Arial"/>
            </a:endParaRP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Ask Three AIs, Get Four Opinions</a:t>
            </a:r>
          </a:p>
        </p:txBody>
      </p:sp>
      <p:sp>
        <p:nvSpPr>
          <p:cNvPr id="3" name="Content Placeholder 2"/>
          <p:cNvSpPr>
            <a:spLocks noGrp="1"/>
          </p:cNvSpPr>
          <p:nvPr>
            <p:ph idx="1"/>
          </p:nvPr>
        </p:nvSpPr>
        <p:spPr/>
        <p:txBody>
          <a:bodyPr wrap="square">
            <a:normAutofit/>
          </a:bodyPr>
          <a:lstStyle/>
          <a:p>
            <a:pPr>
              <a:buNone/>
            </a:pPr>
            <a:r>
              <a:rPr b="0" i="0" u="none" sz="2800"/>
              <a:t>Implementing changes with different AI models</a:t>
            </a:r>
            <a:endParaRPr sz="2800" b="0" i="0">
              <a:latin typeface="Arial"/>
            </a:endParaRPr>
          </a:p>
          <a:p>
            <a:pPr>
              <a:buNone/>
            </a:pPr>
            <a:r>
              <a:rPr b="0" i="0" u="none" sz="2800"/>
              <a:t>Comparing approaches and outcomes</a:t>
            </a:r>
            <a:endParaRPr sz="2800" b="0" i="0">
              <a:latin typeface="Arial"/>
            </a:endParaRPr>
          </a:p>
          <a:p>
            <a:pPr>
              <a:buNone/>
            </a:pPr>
            <a:r>
              <a:rPr b="0" i="0" u="none" sz="2800"/>
              <a:t>Risk assessment and quality evaluation</a:t>
            </a:r>
            <a:endParaRPr sz="2800" b="0" i="0">
              <a:latin typeface="Arial"/>
            </a:endParaRPr>
          </a:p>
          <a:p>
            <a:pPr>
              <a:buNone/>
            </a:pPr>
            <a:r>
              <a:rPr b="0" i="0" u="none" sz="2800"/>
              <a:t>Best practice synthesis</a:t>
            </a:r>
            <a:endParaRPr sz="2800" b="0" i="0">
              <a:latin typeface="Arial"/>
            </a:endParaRPr>
          </a:p>
          <a:p>
            <a:pPr>
              <a:buNone/>
            </a:pPr>
            <a:r>
              <a:rPr b="0" i="0" u="none" sz="2800"/>
              <a:t>Exercises for hands-on practice</a:t>
            </a:r>
            <a:endParaRPr sz="2800" b="0" i="0">
              <a:latin typeface="Arial"/>
            </a:endParaRP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Implementing Changes With Different AI Models</a:t>
            </a:r>
          </a:p>
        </p:txBody>
      </p:sp>
      <p:sp>
        <p:nvSpPr>
          <p:cNvPr id="3" name="Content Placeholder 2"/>
          <p:cNvSpPr>
            <a:spLocks noGrp="1"/>
          </p:cNvSpPr>
          <p:nvPr>
            <p:ph idx="1"/>
          </p:nvPr>
        </p:nvSpPr>
        <p:spPr/>
        <p:txBody>
          <a:bodyPr wrap="square">
            <a:normAutofit/>
          </a:bodyPr>
          <a:lstStyle/>
          <a:p>
            <a:pPr>
              <a:buNone/>
            </a:pPr>
            <a:r>
              <a:rPr b="0" i="0" u="none" sz="2800"/>
              <a:t>Why use multiple models?</a:t>
            </a:r>
            <a:endParaRPr sz="2800" b="0" i="0">
              <a:latin typeface="Arial"/>
            </a:endParaRPr>
          </a:p>
          <a:p>
            <a:pPr>
              <a:buNone/>
            </a:pPr>
            <a:r>
              <a:rPr b="0" i="0" u="none" sz="2800"/>
              <a:t>Different reasoning styles</a:t>
            </a:r>
            <a:endParaRPr sz="2800" b="0" i="0">
              <a:latin typeface="Arial"/>
            </a:endParaRPr>
          </a:p>
          <a:p>
            <a:pPr>
              <a:buNone/>
            </a:pPr>
            <a:r>
              <a:rPr b="0" i="0" u="none" sz="2800"/>
              <a:t>Different strengths (refactoring, documentation, architecture)</a:t>
            </a:r>
            <a:endParaRPr sz="2800" b="0" i="0">
              <a:latin typeface="Arial"/>
            </a:endParaRPr>
          </a:p>
          <a:p>
            <a:pPr>
              <a:buNone/>
            </a:pPr>
            <a:r>
              <a:rPr b="0" i="0" u="none" sz="2800"/>
              <a:t>Cross-validation reduces risk</a:t>
            </a:r>
            <a:endParaRPr sz="2800" b="0" i="0">
              <a:latin typeface="Arial"/>
            </a:endParaRPr>
          </a:p>
          <a:p>
            <a:pPr>
              <a:buNone/>
            </a:pPr>
            <a:r>
              <a:rPr b="0" i="0" u="none" sz="2800"/>
              <a:t>Helps detect missing context or contradictions</a:t>
            </a:r>
            <a:endParaRPr sz="2800" b="0" i="0">
              <a:latin typeface="Arial"/>
            </a:endParaRPr>
          </a:p>
          <a:p>
            <a:pPr>
              <a:buNone/>
            </a:pPr>
            <a:r>
              <a:rPr b="0" i="0" u="none" sz="2800"/>
              <a:t>Typical use cases</a:t>
            </a:r>
            <a:endParaRPr sz="2800" b="0" i="0">
              <a:latin typeface="Arial"/>
            </a:endParaRPr>
          </a:p>
          <a:p>
            <a:pPr>
              <a:buNone/>
            </a:pPr>
            <a:r>
              <a:rPr b="0" i="0" u="none" sz="2800"/>
              <a:t>Refactoring comparisons</a:t>
            </a:r>
            <a:endParaRPr sz="2800" b="0" i="0">
              <a:latin typeface="Arial"/>
            </a:endParaRPr>
          </a:p>
          <a:p>
            <a:pPr>
              <a:buNone/>
            </a:pPr>
            <a:r>
              <a:rPr b="0" i="0" u="none" sz="2800"/>
              <a:t>Documentation consistency checks</a:t>
            </a:r>
            <a:endParaRPr sz="2800" b="0" i="0">
              <a:latin typeface="Arial"/>
            </a:endParaRPr>
          </a:p>
          <a:p>
            <a:pPr>
              <a:buNone/>
            </a:pPr>
            <a:r>
              <a:rPr b="0" i="0" u="none" sz="2800"/>
              <a:t>Architecture proposal validation</a:t>
            </a:r>
            <a:endParaRPr sz="2800" b="0" i="0">
              <a:latin typeface="Arial"/>
            </a:endParaRP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Comparing Approaches &amp; Outcomes</a:t>
            </a:r>
          </a:p>
        </p:txBody>
      </p:sp>
      <p:sp>
        <p:nvSpPr>
          <p:cNvPr id="3" name="Content Placeholder 2"/>
          <p:cNvSpPr>
            <a:spLocks noGrp="1"/>
          </p:cNvSpPr>
          <p:nvPr>
            <p:ph idx="1"/>
          </p:nvPr>
        </p:nvSpPr>
        <p:spPr/>
        <p:txBody>
          <a:bodyPr wrap="square">
            <a:normAutofit/>
          </a:bodyPr>
          <a:lstStyle/>
          <a:p>
            <a:pPr>
              <a:buNone/>
            </a:pPr>
            <a:r>
              <a:rPr b="0" i="0" u="none" sz="2800"/>
              <a:t>What to compare</a:t>
            </a:r>
            <a:endParaRPr sz="2800" b="0" i="0">
              <a:latin typeface="Arial"/>
            </a:endParaRPr>
          </a:p>
          <a:p>
            <a:pPr>
              <a:buNone/>
            </a:pPr>
            <a:r>
              <a:rPr b="0" i="0" u="none" sz="2800"/>
              <a:t>Code structure and clarity</a:t>
            </a:r>
            <a:endParaRPr sz="2800" b="0" i="0">
              <a:latin typeface="Arial"/>
            </a:endParaRPr>
          </a:p>
          <a:p>
            <a:pPr>
              <a:buNone/>
            </a:pPr>
            <a:r>
              <a:rPr b="0" i="0" u="none" sz="2800"/>
              <a:t>Architectural alignment</a:t>
            </a:r>
            <a:endParaRPr sz="2800" b="0" i="0">
              <a:latin typeface="Arial"/>
            </a:endParaRPr>
          </a:p>
          <a:p>
            <a:pPr>
              <a:buNone/>
            </a:pPr>
            <a:r>
              <a:rPr b="0" i="0" u="none" sz="2800"/>
              <a:t>Test quality</a:t>
            </a:r>
            <a:endParaRPr sz="2800" b="0" i="0">
              <a:latin typeface="Arial"/>
            </a:endParaRPr>
          </a:p>
          <a:p>
            <a:pPr>
              <a:buNone/>
            </a:pPr>
            <a:r>
              <a:rPr b="0" i="0" u="none" sz="2800"/>
              <a:t>Documentation completeness</a:t>
            </a:r>
            <a:endParaRPr sz="2800" b="0" i="0">
              <a:latin typeface="Arial"/>
            </a:endParaRPr>
          </a:p>
          <a:p>
            <a:pPr>
              <a:buNone/>
            </a:pPr>
            <a:r>
              <a:rPr b="0" i="0" u="none" sz="2800"/>
              <a:t>Risk level of proposed changes</a:t>
            </a:r>
            <a:endParaRPr sz="2800" b="0" i="0">
              <a:latin typeface="Arial"/>
            </a:endParaRPr>
          </a:p>
          <a:p>
            <a:pPr>
              <a:buNone/>
            </a:pPr>
            <a:r>
              <a:rPr b="0" i="0" u="none" sz="2800"/>
              <a:t>Benefits</a:t>
            </a:r>
            <a:endParaRPr sz="2800" b="0" i="0">
              <a:latin typeface="Arial"/>
            </a:endParaRPr>
          </a:p>
          <a:p>
            <a:pPr>
              <a:buNone/>
            </a:pPr>
            <a:r>
              <a:rPr b="0" i="0" u="none" sz="2800"/>
              <a:t>Identifies the safest implementation</a:t>
            </a:r>
            <a:endParaRPr sz="2800" b="0" i="0">
              <a:latin typeface="Arial"/>
            </a:endParaRPr>
          </a:p>
          <a:p>
            <a:pPr>
              <a:buNone/>
            </a:pPr>
            <a:r>
              <a:rPr b="0" i="0" u="none" sz="2800"/>
              <a:t>Surfaces hidden assumptions</a:t>
            </a:r>
            <a:endParaRPr sz="2800" b="0" i="0">
              <a:latin typeface="Arial"/>
            </a:endParaRPr>
          </a:p>
          <a:p>
            <a:pPr>
              <a:buNone/>
            </a:pPr>
            <a:r>
              <a:rPr b="0" i="0" u="none" sz="2800"/>
              <a:t>Highlights model-specific biases</a:t>
            </a:r>
            <a:endParaRPr sz="2800" b="0" i="0">
              <a:latin typeface="Arial"/>
            </a:endParaRP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Risk Assessment &amp; Quality Evaluation</a:t>
            </a:r>
          </a:p>
        </p:txBody>
      </p:sp>
      <p:sp>
        <p:nvSpPr>
          <p:cNvPr id="3" name="Content Placeholder 2"/>
          <p:cNvSpPr>
            <a:spLocks noGrp="1"/>
          </p:cNvSpPr>
          <p:nvPr>
            <p:ph idx="1"/>
          </p:nvPr>
        </p:nvSpPr>
        <p:spPr/>
        <p:txBody>
          <a:bodyPr wrap="square">
            <a:normAutofit/>
          </a:bodyPr>
          <a:lstStyle/>
          <a:p>
            <a:pPr>
              <a:buNone/>
            </a:pPr>
            <a:r>
              <a:rPr b="0" i="0" u="none" sz="2800"/>
              <a:t>Risk indicators</a:t>
            </a:r>
            <a:endParaRPr sz="2800" b="0" i="0">
              <a:latin typeface="Arial"/>
            </a:endParaRPr>
          </a:p>
          <a:p>
            <a:pPr>
              <a:buNone/>
            </a:pPr>
            <a:r>
              <a:rPr b="0" i="0" u="none" sz="2800"/>
              <a:t>Missing tests</a:t>
            </a:r>
            <a:endParaRPr sz="2800" b="0" i="0">
              <a:latin typeface="Arial"/>
            </a:endParaRPr>
          </a:p>
          <a:p>
            <a:pPr>
              <a:buNone/>
            </a:pPr>
            <a:r>
              <a:rPr b="0" i="0" u="none" sz="2800"/>
              <a:t>Large or unnecessary refactors</a:t>
            </a:r>
            <a:endParaRPr sz="2800" b="0" i="0">
              <a:latin typeface="Arial"/>
            </a:endParaRPr>
          </a:p>
          <a:p>
            <a:pPr>
              <a:buNone/>
            </a:pPr>
            <a:r>
              <a:rPr b="0" i="0" u="none" sz="2800"/>
              <a:t>Violations of instruction files</a:t>
            </a:r>
            <a:endParaRPr sz="2800" b="0" i="0">
              <a:latin typeface="Arial"/>
            </a:endParaRPr>
          </a:p>
          <a:p>
            <a:pPr>
              <a:buNone/>
            </a:pPr>
            <a:r>
              <a:rPr b="0" i="0" u="none" sz="2800"/>
              <a:t>Unclear or undocumented behavior</a:t>
            </a:r>
            <a:endParaRPr sz="2800" b="0" i="0">
              <a:latin typeface="Arial"/>
            </a:endParaRPr>
          </a:p>
          <a:p>
            <a:pPr>
              <a:buNone/>
            </a:pPr>
            <a:r>
              <a:rPr b="0" i="0" u="none" sz="2800"/>
              <a:t>Quality indicators</a:t>
            </a:r>
            <a:endParaRPr sz="2800" b="0" i="0">
              <a:latin typeface="Arial"/>
            </a:endParaRPr>
          </a:p>
          <a:p>
            <a:pPr>
              <a:buNone/>
            </a:pPr>
            <a:r>
              <a:rPr b="0" i="0" u="none" sz="2800"/>
              <a:t>Small, incremental changes</a:t>
            </a:r>
            <a:endParaRPr sz="2800" b="0" i="0">
              <a:latin typeface="Arial"/>
            </a:endParaRPr>
          </a:p>
          <a:p>
            <a:pPr>
              <a:buNone/>
            </a:pPr>
            <a:r>
              <a:rPr b="0" i="0" u="none" sz="2800"/>
              <a:t>Clear reasoning</a:t>
            </a:r>
            <a:endParaRPr sz="2800" b="0" i="0">
              <a:latin typeface="Arial"/>
            </a:endParaRPr>
          </a:p>
          <a:p>
            <a:pPr>
              <a:buNone/>
            </a:pPr>
            <a:r>
              <a:rPr b="0" i="0" u="none" sz="2800"/>
              <a:t>Strong test coverage</a:t>
            </a:r>
            <a:endParaRPr sz="2800" b="0" i="0">
              <a:latin typeface="Arial"/>
            </a:endParaRPr>
          </a:p>
          <a:p>
            <a:pPr>
              <a:buNone/>
            </a:pPr>
            <a:r>
              <a:rPr b="0" i="0" u="none" sz="2800"/>
              <a:t>Alignment with evergreen principles</a:t>
            </a:r>
            <a:endParaRPr sz="2800" b="0" i="0">
              <a:latin typeface="Arial"/>
            </a:endParaRP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Best Practice Synthesis</a:t>
            </a:r>
          </a:p>
        </p:txBody>
      </p:sp>
      <p:sp>
        <p:nvSpPr>
          <p:cNvPr id="3" name="Content Placeholder 2"/>
          <p:cNvSpPr>
            <a:spLocks noGrp="1"/>
          </p:cNvSpPr>
          <p:nvPr>
            <p:ph idx="1"/>
          </p:nvPr>
        </p:nvSpPr>
        <p:spPr/>
        <p:txBody>
          <a:bodyPr wrap="square">
            <a:normAutofit/>
          </a:bodyPr>
          <a:lstStyle/>
          <a:p>
            <a:pPr>
              <a:buNone/>
            </a:pPr>
            <a:r>
              <a:rPr b="0" i="0" u="none" sz="2800"/>
              <a:t>Combine the strengths of each model</a:t>
            </a:r>
            <a:endParaRPr sz="2800" b="0" i="0">
              <a:latin typeface="Arial"/>
            </a:endParaRPr>
          </a:p>
          <a:p>
            <a:pPr>
              <a:buNone/>
            </a:pPr>
            <a:r>
              <a:rPr b="0" i="0" u="none" sz="2800"/>
              <a:t>Use one model for architecture</a:t>
            </a:r>
            <a:endParaRPr sz="2800" b="0" i="0">
              <a:latin typeface="Arial"/>
            </a:endParaRPr>
          </a:p>
          <a:p>
            <a:pPr>
              <a:buNone/>
            </a:pPr>
            <a:r>
              <a:rPr b="0" i="0" u="none" sz="2800"/>
              <a:t>Another for implementation</a:t>
            </a:r>
            <a:endParaRPr sz="2800" b="0" i="0">
              <a:latin typeface="Arial"/>
            </a:endParaRPr>
          </a:p>
          <a:p>
            <a:pPr>
              <a:buNone/>
            </a:pPr>
            <a:r>
              <a:rPr b="0" i="0" u="none" sz="2800"/>
              <a:t>Another for documentation</a:t>
            </a:r>
            <a:endParaRPr sz="2800" b="0" i="0">
              <a:latin typeface="Arial"/>
            </a:endParaRPr>
          </a:p>
          <a:p>
            <a:pPr>
              <a:buNone/>
            </a:pPr>
            <a:r>
              <a:rPr b="0" i="0" u="none" sz="2800"/>
              <a:t>Cross-validate tests and reasoning</a:t>
            </a:r>
            <a:endParaRPr sz="2800" b="0" i="0">
              <a:latin typeface="Arial"/>
            </a:endParaRPr>
          </a:p>
          <a:p>
            <a:pPr>
              <a:buNone/>
            </a:pPr>
            <a:r>
              <a:rPr b="0" i="0" u="none" sz="2800"/>
              <a:t>Outcome</a:t>
            </a:r>
            <a:endParaRPr sz="2800" b="0" i="0">
              <a:latin typeface="Arial"/>
            </a:endParaRPr>
          </a:p>
          <a:p>
            <a:pPr>
              <a:buNone/>
            </a:pPr>
            <a:r>
              <a:rPr b="0" i="0" u="none" sz="2800"/>
              <a:t>Higher quality</a:t>
            </a:r>
            <a:endParaRPr sz="2800" b="0" i="0">
              <a:latin typeface="Arial"/>
            </a:endParaRPr>
          </a:p>
          <a:p>
            <a:pPr>
              <a:buNone/>
            </a:pPr>
            <a:r>
              <a:rPr b="0" i="0" u="none" sz="2800"/>
              <a:t>Lower risk</a:t>
            </a:r>
            <a:endParaRPr sz="2800" b="0" i="0">
              <a:latin typeface="Arial"/>
            </a:endParaRPr>
          </a:p>
          <a:p>
            <a:pPr>
              <a:buNone/>
            </a:pPr>
            <a:r>
              <a:rPr b="0" i="0" u="none" sz="2800"/>
              <a:t>More predictable modernization</a:t>
            </a:r>
            <a:endParaRPr sz="2800" b="0" i="0">
              <a:latin typeface="Arial"/>
            </a:endParaRP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Prompt Multiple Models to Address Technical Debt</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Compare outputs from different models</a:t>
            </a:r>
            <a:endParaRPr sz="2800" b="0" i="0">
              <a:latin typeface="Arial"/>
            </a:endParaRPr>
          </a:p>
          <a:p>
            <a:pPr>
              <a:buNone/>
            </a:pPr>
            <a:r>
              <a:rPr b="0" i="0" u="none" sz="2800"/>
              <a:t>Identify strengths and weaknesses</a:t>
            </a:r>
            <a:endParaRPr sz="2800" b="0" i="0">
              <a:latin typeface="Arial"/>
            </a:endParaRPr>
          </a:p>
          <a:p>
            <a:pPr>
              <a:buNone/>
            </a:pPr>
            <a:r>
              <a:rPr b="0" i="0" u="none" sz="2800"/>
              <a:t>Evaluate risk and quality</a:t>
            </a:r>
            <a:endParaRPr sz="2800" b="0" i="0">
              <a:latin typeface="Arial"/>
            </a:endParaRPr>
          </a:p>
          <a:p>
            <a:pPr>
              <a:buNone/>
            </a:pPr>
            <a:r>
              <a:rPr b="0" i="0" u="none" sz="2800"/>
              <a:t>Activities</a:t>
            </a:r>
            <a:endParaRPr sz="2800" b="0" i="0">
              <a:latin typeface="Arial"/>
            </a:endParaRPr>
          </a:p>
          <a:p>
            <a:pPr>
              <a:buNone/>
            </a:pPr>
            <a:r>
              <a:rPr b="0" i="0" u="none" sz="2800"/>
              <a:t>Select a small technical debt item.</a:t>
            </a:r>
            <a:endParaRPr sz="2800" b="0" i="0">
              <a:latin typeface="Arial"/>
            </a:endParaRPr>
          </a:p>
          <a:p>
            <a:pPr>
              <a:buNone/>
            </a:pPr>
            <a:r>
              <a:rPr b="0" i="0" u="none" sz="2800"/>
              <a:t>Prompt two or more models to propose a fix.</a:t>
            </a:r>
            <a:endParaRPr sz="2800" b="0" i="0">
              <a:latin typeface="Arial"/>
            </a:endParaRPr>
          </a:p>
          <a:p>
            <a:pPr>
              <a:buNone/>
            </a:pPr>
            <a:r>
              <a:rPr b="0" i="0" u="none" sz="2800"/>
              <a:t>Compare outputs for:</a:t>
            </a:r>
            <a:endParaRPr sz="2800" b="0" i="0">
              <a:latin typeface="Arial"/>
            </a:endParaRPr>
          </a:p>
          <a:p>
            <a:pPr>
              <a:buNone/>
            </a:pPr>
            <a:r>
              <a:rPr b="0" i="0" u="none" sz="2800"/>
              <a:t/>
            </a:r>
            <a:endParaRPr sz="2800" b="0" i="0">
              <a:latin typeface="Arial"/>
            </a:endParaRPr>
          </a:p>
          <a:p>
            <a:pPr/>
            <a:r>
              <a:rPr b="0" i="0" u="none" sz="2800"/>
              <a:t>Safety</a:t>
            </a:r>
            <a:endParaRPr sz="2800" b="0" i="0">
              <a:latin typeface="Arial"/>
            </a:endParaRPr>
          </a:p>
          <a:p>
            <a:pPr/>
            <a:r>
              <a:rPr b="0" i="0" u="none" sz="2800"/>
              <a:t>Clarity</a:t>
            </a:r>
            <a:endParaRPr sz="2800" b="0" i="0">
              <a:latin typeface="Arial"/>
            </a:endParaRPr>
          </a:p>
          <a:p>
            <a:pPr/>
            <a:r>
              <a:rPr b="0" i="0" u="none" sz="2800"/>
              <a:t>Test coverage</a:t>
            </a:r>
            <a:endParaRPr sz="2800" b="0" i="0">
              <a:latin typeface="Arial"/>
            </a:endParaRPr>
          </a:p>
          <a:p>
            <a:pPr/>
            <a:r>
              <a:rPr b="0" i="0" u="none" sz="2800"/>
              <a:t>Architectural alignment</a:t>
            </a:r>
            <a:endParaRPr sz="2800" b="0" i="0">
              <a:latin typeface="Arial"/>
            </a:endParaRPr>
          </a:p>
          <a:p>
            <a:pPr>
              <a:buNone/>
            </a:pPr>
            <a:r>
              <a:rPr b="0" i="0" u="none" sz="2800"/>
              <a:t>  Synthesize the best elements into a final solution.</a:t>
            </a:r>
            <a:endParaRPr sz="2800" b="0" i="0">
              <a:latin typeface="Arial"/>
            </a:endParaRPr>
          </a:p>
          <a:p>
            <a:pPr>
              <a:buNone/>
            </a:pPr>
            <a:r>
              <a:rPr b="0" i="0" u="none" sz="2800"/>
              <a:t>  Success Criteria</a:t>
            </a:r>
            <a:endParaRPr sz="2800" b="0" i="0">
              <a:latin typeface="Arial"/>
            </a:endParaRPr>
          </a:p>
          <a:p>
            <a:pPr>
              <a:buNone/>
            </a:pPr>
            <a:r>
              <a:rPr b="0" i="0" u="none" sz="2800"/>
              <a:t>  Differences between models are clearly identified</a:t>
            </a:r>
            <a:endParaRPr sz="2800" b="0" i="0">
              <a:latin typeface="Arial"/>
            </a:endParaRPr>
          </a:p>
          <a:p>
            <a:pPr>
              <a:buNone/>
            </a:pPr>
            <a:r>
              <a:rPr b="0" i="0" u="none" sz="2800"/>
              <a:t>  Risks and strengths are evaluated</a:t>
            </a:r>
            <a:endParaRPr sz="2800" b="0" i="0">
              <a:latin typeface="Arial"/>
            </a:endParaRPr>
          </a:p>
          <a:p>
            <a:pPr>
              <a:buNone/>
            </a:pPr>
            <a:r>
              <a:rPr b="0" i="0" u="none" sz="2800"/>
              <a:t>  Final synthesized solution is safe and incremental</a:t>
            </a:r>
            <a:endParaRPr sz="2800" b="0" i="0">
              <a:latin typeface="Arial"/>
            </a:endParaRPr>
          </a:p>
          <a:p>
            <a:pPr>
              <a:buNone/>
            </a:pPr>
            <a:r>
              <a:rPr b="0" i="0" u="none" sz="2800"/>
              <a:t>  Provenance metadata is included</a:t>
            </a:r>
            <a:endParaRPr sz="2800" b="0" i="0">
              <a:latin typeface="Arial"/>
            </a:endParaRP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Assigning an Issue to Multiple Models</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Practice delegating the same issue to different models</a:t>
            </a:r>
            <a:endParaRPr sz="2800" b="0" i="0">
              <a:latin typeface="Arial"/>
            </a:endParaRPr>
          </a:p>
          <a:p>
            <a:pPr>
              <a:buNone/>
            </a:pPr>
            <a:r>
              <a:rPr b="0" i="0" u="none" sz="2800"/>
              <a:t>Evaluate how each model interprets constraints</a:t>
            </a:r>
            <a:endParaRPr sz="2800" b="0" i="0">
              <a:latin typeface="Arial"/>
            </a:endParaRPr>
          </a:p>
          <a:p>
            <a:pPr>
              <a:buNone/>
            </a:pPr>
            <a:r>
              <a:rPr b="0" i="0" u="none" sz="2800"/>
              <a:t>Identify missing context</a:t>
            </a:r>
            <a:endParaRPr sz="2800" b="0" i="0">
              <a:latin typeface="Arial"/>
            </a:endParaRPr>
          </a:p>
          <a:p>
            <a:pPr>
              <a:buNone/>
            </a:pPr>
            <a:r>
              <a:rPr b="0" i="0" u="none" sz="2800"/>
              <a:t>Activities</a:t>
            </a:r>
            <a:endParaRPr sz="2800" b="0" i="0">
              <a:latin typeface="Arial"/>
            </a:endParaRPr>
          </a:p>
          <a:p>
            <a:pPr>
              <a:buNone/>
            </a:pPr>
            <a:r>
              <a:rPr b="0" i="0" u="none" sz="2800"/>
              <a:t>Create a GitHub-style issue describing a technical debt item.</a:t>
            </a:r>
            <a:endParaRPr sz="2800" b="0" i="0">
              <a:latin typeface="Arial"/>
            </a:endParaRPr>
          </a:p>
          <a:p>
            <a:pPr>
              <a:buNone/>
            </a:pPr>
            <a:r>
              <a:rPr b="0" i="0" u="none" sz="2800"/>
              <a:t>Assign the issue to two different models.</a:t>
            </a:r>
            <a:endParaRPr sz="2800" b="0" i="0">
              <a:latin typeface="Arial"/>
            </a:endParaRPr>
          </a:p>
          <a:p>
            <a:pPr>
              <a:buNone/>
            </a:pPr>
            <a:r>
              <a:rPr b="0" i="0" u="none" sz="2800"/>
              <a:t>Compare their proposed remediation plans.</a:t>
            </a:r>
            <a:endParaRPr sz="2800" b="0" i="0">
              <a:latin typeface="Arial"/>
            </a:endParaRPr>
          </a:p>
          <a:p>
            <a:pPr>
              <a:buNone/>
            </a:pPr>
            <a:r>
              <a:rPr b="0" i="0" u="none" sz="2800"/>
              <a:t>Identify missing context or contradictions.</a:t>
            </a:r>
            <a:endParaRPr sz="2800" b="0" i="0">
              <a:latin typeface="Arial"/>
            </a:endParaRPr>
          </a:p>
          <a:p>
            <a:pPr>
              <a:buNone/>
            </a:pPr>
            <a:r>
              <a:rPr b="0" i="0" u="none" sz="2800"/>
              <a:t>Success Criteria</a:t>
            </a:r>
            <a:endParaRPr sz="2800" b="0" i="0">
              <a:latin typeface="Arial"/>
            </a:endParaRPr>
          </a:p>
          <a:p>
            <a:pPr>
              <a:buNone/>
            </a:pPr>
            <a:r>
              <a:rPr b="0" i="0" u="none" sz="2800"/>
              <a:t>Issue is clear and well-structured</a:t>
            </a:r>
            <a:endParaRPr sz="2800" b="0" i="0">
              <a:latin typeface="Arial"/>
            </a:endParaRPr>
          </a:p>
          <a:p>
            <a:pPr>
              <a:buNone/>
            </a:pPr>
            <a:r>
              <a:rPr b="0" i="0" u="none" sz="2800"/>
              <a:t>Each model produces a distinct approach</a:t>
            </a:r>
            <a:endParaRPr sz="2800" b="0" i="0">
              <a:latin typeface="Arial"/>
            </a:endParaRPr>
          </a:p>
          <a:p>
            <a:pPr>
              <a:buNone/>
            </a:pPr>
            <a:r>
              <a:rPr b="0" i="0" u="none" sz="2800"/>
              <a:t>Missing context is identified and documented</a:t>
            </a:r>
            <a:endParaRPr sz="2800" b="0" i="0">
              <a:latin typeface="Arial"/>
            </a:endParaRPr>
          </a:p>
          <a:p>
            <a:pPr>
              <a:buNone/>
            </a:pPr>
            <a:r>
              <a:rPr b="0" i="0" u="none" sz="2800"/>
              <a:t>A preferred plan is selected based on safety and clarity</a:t>
            </a:r>
            <a:endParaRPr sz="2800" b="0" i="0">
              <a:latin typeface="Arial"/>
            </a:endParaRP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Delegating Work to Multiple Models</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Practice multi-model delegation</a:t>
            </a:r>
            <a:endParaRPr sz="2800" b="0" i="0">
              <a:latin typeface="Arial"/>
            </a:endParaRPr>
          </a:p>
          <a:p>
            <a:pPr>
              <a:buNone/>
            </a:pPr>
            <a:r>
              <a:rPr b="0" i="0" u="none" sz="2800"/>
              <a:t>Evaluate multi-step reasoning</a:t>
            </a:r>
            <a:endParaRPr sz="2800" b="0" i="0">
              <a:latin typeface="Arial"/>
            </a:endParaRPr>
          </a:p>
          <a:p>
            <a:pPr>
              <a:buNone/>
            </a:pPr>
            <a:r>
              <a:rPr b="0" i="0" u="none" sz="2800"/>
              <a:t>Synthesize best practices into a unified plan</a:t>
            </a:r>
            <a:endParaRPr sz="2800" b="0" i="0">
              <a:latin typeface="Arial"/>
            </a:endParaRPr>
          </a:p>
          <a:p>
            <a:pPr>
              <a:buNone/>
            </a:pPr>
            <a:r>
              <a:rPr b="0" i="0" u="none" sz="2800"/>
              <a:t>Activities</a:t>
            </a:r>
            <a:endParaRPr sz="2800" b="0" i="0">
              <a:latin typeface="Arial"/>
            </a:endParaRPr>
          </a:p>
          <a:p>
            <a:pPr>
              <a:buNone/>
            </a:pPr>
            <a:r>
              <a:rPr b="0" i="0" u="none" sz="2800"/>
              <a:t>Select a multi-step modernization task.</a:t>
            </a:r>
            <a:endParaRPr sz="2800" b="0" i="0">
              <a:latin typeface="Arial"/>
            </a:endParaRPr>
          </a:p>
          <a:p>
            <a:pPr>
              <a:buNone/>
            </a:pPr>
            <a:r>
              <a:rPr b="0" i="0" u="none" sz="2800"/>
              <a:t>Ask multiple models to:</a:t>
            </a:r>
            <a:endParaRPr sz="2800" b="0" i="0">
              <a:latin typeface="Arial"/>
            </a:endParaRPr>
          </a:p>
          <a:p>
            <a:pPr>
              <a:buNone/>
            </a:pPr>
            <a:r>
              <a:rPr b="0" i="0" u="none" sz="2800"/>
              <a:t/>
            </a:r>
            <a:endParaRPr sz="2800" b="0" i="0">
              <a:latin typeface="Arial"/>
            </a:endParaRPr>
          </a:p>
          <a:p>
            <a:pPr/>
            <a:r>
              <a:rPr b="0" i="0" u="none" sz="2800"/>
              <a:t>Analyze the problem</a:t>
            </a:r>
            <a:endParaRPr sz="2800" b="0" i="0">
              <a:latin typeface="Arial"/>
            </a:endParaRPr>
          </a:p>
          <a:p>
            <a:pPr/>
            <a:r>
              <a:rPr b="0" i="0" u="none" sz="2800"/>
              <a:t>Propose a remediation plan</a:t>
            </a:r>
            <a:endParaRPr sz="2800" b="0" i="0">
              <a:latin typeface="Arial"/>
            </a:endParaRPr>
          </a:p>
          <a:p>
            <a:pPr/>
            <a:r>
              <a:rPr b="0" i="0" u="none" sz="2800"/>
              <a:t>Suggest tests</a:t>
            </a:r>
            <a:endParaRPr sz="2800" b="0" i="0">
              <a:latin typeface="Arial"/>
            </a:endParaRPr>
          </a:p>
          <a:p>
            <a:pPr/>
            <a:r>
              <a:rPr b="0" i="0" u="none" sz="2800"/>
              <a:t>Suggest documentation updates</a:t>
            </a:r>
            <a:endParaRPr sz="2800" b="0" i="0">
              <a:latin typeface="Arial"/>
            </a:endParaRPr>
          </a:p>
          <a:p>
            <a:pPr>
              <a:buNone/>
            </a:pPr>
            <a:r>
              <a:rPr b="0" i="0" u="none" sz="2800"/>
              <a:t>  Compare the outputs.</a:t>
            </a:r>
            <a:endParaRPr sz="2800" b="0" i="0">
              <a:latin typeface="Arial"/>
            </a:endParaRPr>
          </a:p>
          <a:p>
            <a:pPr>
              <a:buNone/>
            </a:pPr>
            <a:r>
              <a:rPr b="0" i="0" u="none" sz="2800"/>
              <a:t>  Synthesize a final, safe, incremental plan.</a:t>
            </a:r>
            <a:endParaRPr sz="2800" b="0" i="0">
              <a:latin typeface="Arial"/>
            </a:endParaRPr>
          </a:p>
          <a:p>
            <a:pPr>
              <a:buNone/>
            </a:pPr>
            <a:r>
              <a:rPr b="0" i="0" u="none" sz="2800"/>
              <a:t>  Success Criteria</a:t>
            </a:r>
            <a:endParaRPr sz="2800" b="0" i="0">
              <a:latin typeface="Arial"/>
            </a:endParaRPr>
          </a:p>
          <a:p>
            <a:pPr>
              <a:buNone/>
            </a:pPr>
            <a:r>
              <a:rPr b="0" i="0" u="none" sz="2800"/>
              <a:t>  Multi-model differences are clearly understood</a:t>
            </a:r>
            <a:endParaRPr sz="2800" b="0" i="0">
              <a:latin typeface="Arial"/>
            </a:endParaRPr>
          </a:p>
          <a:p>
            <a:pPr>
              <a:buNone/>
            </a:pPr>
            <a:r>
              <a:rPr b="0" i="0" u="none" sz="2800"/>
              <a:t>  Final plan is incremental, reversible, and well-tested</a:t>
            </a:r>
            <a:endParaRPr sz="2800" b="0" i="0">
              <a:latin typeface="Arial"/>
            </a:endParaRPr>
          </a:p>
          <a:p>
            <a:pPr>
              <a:buNone/>
            </a:pPr>
            <a:r>
              <a:rPr b="0" i="0" u="none" sz="2800"/>
              <a:t>  Documentation and provenance are included</a:t>
            </a:r>
            <a:endParaRPr sz="2800" b="0" i="0">
              <a:latin typeface="Arial"/>
            </a:endParaRPr>
          </a:p>
          <a:p>
            <a:pPr>
              <a:buNone/>
            </a:pPr>
            <a:r>
              <a:rPr b="0" i="0" u="none" sz="2800"/>
              <a:t>  Risks are identified and mitigated</a:t>
            </a:r>
            <a:endParaRPr sz="2800" b="0" i="0">
              <a:latin typeface="Arial"/>
            </a:endParaRP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Code That Doesn't Rot: A Love Story</a:t>
            </a:r>
          </a:p>
        </p:txBody>
      </p:sp>
      <p:sp>
        <p:nvSpPr>
          <p:cNvPr id="3" name="Content Placeholder 2"/>
          <p:cNvSpPr>
            <a:spLocks noGrp="1"/>
          </p:cNvSpPr>
          <p:nvPr>
            <p:ph idx="1" sz="half"/>
          </p:nvPr>
        </p:nvSpPr>
        <p:spPr/>
        <p:txBody>
          <a:bodyPr wrap="square">
            <a:normAutofit/>
          </a:bodyPr>
          <a:lstStyle/>
          <a:p>
            <a:pPr>
              <a:buNone/>
            </a:pPr>
            <a:r>
              <a:rPr b="0" i="0" u="none" sz="2800"/>
              <a:t>Design and interface principles</a:t>
            </a:r>
            <a:endParaRPr sz="2800" b="0" i="0">
              <a:latin typeface="Arial"/>
            </a:endParaRPr>
          </a:p>
          <a:p>
            <a:pPr>
              <a:buNone/>
            </a:pPr>
            <a:r>
              <a:rPr b="0" i="0" u="none" sz="2800"/>
              <a:t/>
            </a:r>
            <a:endParaRPr sz="2800" b="0" i="0">
              <a:latin typeface="Arial"/>
            </a:endParaRPr>
          </a:p>
          <a:p>
            <a:pPr/>
            <a:r>
              <a:rPr b="0" i="0" u="none" sz="2800"/>
              <a:t>Intent-First Design</a:t>
            </a:r>
            <a:endParaRPr sz="2800" b="0" i="0">
              <a:latin typeface="Arial"/>
            </a:endParaRPr>
          </a:p>
          <a:p>
            <a:pPr>
              <a:buNone/>
            </a:pPr>
            <a:r>
              <a:rPr b="0" i="0" u="none" sz="2800"/>
              <a:t>  Define purpose, invariants, and boundaries before writing code.</a:t>
            </a:r>
            <a:endParaRPr sz="2800" b="0" i="0">
              <a:latin typeface="Arial"/>
            </a:endParaRPr>
          </a:p>
          <a:p>
            <a:pPr/>
            <a:r>
              <a:rPr b="0" i="0" u="none" sz="2800"/>
              <a:t>Stable Interfaces, Evolving Internals</a:t>
            </a:r>
            <a:endParaRPr sz="2800" b="0" i="0">
              <a:latin typeface="Arial"/>
            </a:endParaRPr>
          </a:p>
          <a:p>
            <a:pPr>
              <a:buNone/>
            </a:pPr>
            <a:r>
              <a:rPr b="0" i="0" u="none" sz="2800"/>
              <a:t>  Keep contracts predictable while implementations improve.</a:t>
            </a:r>
            <a:endParaRPr sz="2800" b="0" i="0">
              <a:latin typeface="Arial"/>
            </a:endParaRPr>
          </a:p>
          <a:p>
            <a:pPr/>
            <a:r>
              <a:rPr b="0" i="0" u="none" sz="2800"/>
              <a:t>Lifecycle Governance</a:t>
            </a:r>
            <a:endParaRPr sz="2800" b="0" i="0">
              <a:latin typeface="Arial"/>
            </a:endParaRPr>
          </a:p>
          <a:p>
            <a:pPr>
              <a:buNone/>
            </a:pPr>
            <a:r>
              <a:rPr b="0" i="0" u="none" sz="2800"/>
              <a:t>  Maintain quality through tests, versioning, and human validation.</a:t>
            </a:r>
            <a:endParaRPr sz="2800" b="0" i="0">
              <a:latin typeface="Arial"/>
            </a:endParaRPr>
          </a:p>
        </p:txBody>
      </p:sp>
      <p:sp>
        <p:nvSpPr>
          <p:cNvPr id="4" name="Content Placeholder 3"/>
          <p:cNvSpPr>
            <a:spLocks noGrp="1"/>
          </p:cNvSpPr>
          <p:nvPr>
            <p:ph idx="2" sz="half"/>
          </p:nvPr>
        </p:nvSpPr>
        <p:spPr/>
        <p:txBody>
          <a:bodyPr wrap="square">
            <a:normAutofit/>
          </a:bodyPr>
          <a:lstStyle/>
          <a:p>
            <a:pPr>
              <a:buNone/>
            </a:pPr>
            <a:r>
              <a:rPr b="0" i="0" u="none" sz="2800"/>
              <a:t>Regeneration principles</a:t>
            </a:r>
            <a:endParaRPr sz="2800" b="0" i="0">
              <a:latin typeface="Arial"/>
            </a:endParaRPr>
          </a:p>
          <a:p>
            <a:pPr>
              <a:buNone/>
            </a:pPr>
            <a:r>
              <a:rPr b="0" i="0" u="none" sz="2800"/>
              <a:t/>
            </a:r>
            <a:endParaRPr sz="2800" b="0" i="0">
              <a:latin typeface="Arial"/>
            </a:endParaRPr>
          </a:p>
          <a:p>
            <a:pPr/>
            <a:r>
              <a:rPr b="0" i="0" u="none" sz="2800"/>
              <a:t>Continuous Regeneration with Guardrails</a:t>
            </a:r>
            <a:endParaRPr sz="2800" b="0" i="0">
              <a:latin typeface="Arial"/>
            </a:endParaRPr>
          </a:p>
          <a:p>
            <a:pPr>
              <a:buNone/>
            </a:pPr>
            <a:r>
              <a:rPr b="0" i="0" u="none" sz="2800"/>
              <a:t>  Use AI safely with tests, specs, and architectural constraints.</a:t>
            </a:r>
            <a:endParaRPr sz="2800" b="0" i="0">
              <a:latin typeface="Arial"/>
            </a:endParaRPr>
          </a:p>
          <a:p>
            <a:pPr/>
            <a:r>
              <a:rPr b="0" i="0" u="none" sz="2800"/>
              <a:t>Modular, Replaceable Components</a:t>
            </a:r>
            <a:endParaRPr sz="2800" b="0" i="0">
              <a:latin typeface="Arial"/>
            </a:endParaRPr>
          </a:p>
          <a:p>
            <a:pPr>
              <a:buNone/>
            </a:pPr>
            <a:r>
              <a:rPr b="0" i="0" u="none" sz="2800"/>
              <a:t>  Structure the system so parts can be regenerated or swapped without cascading breakage.</a:t>
            </a:r>
            <a:endParaRPr sz="2800" b="0" i="0">
              <a:latin typeface="Arial"/>
            </a:endParaRP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Why Software Fails to Be Evergreen</a:t>
            </a:r>
          </a:p>
        </p:txBody>
      </p:sp>
      <p:sp>
        <p:nvSpPr>
          <p:cNvPr id="3" name="Content Placeholder 2"/>
          <p:cNvSpPr>
            <a:spLocks noGrp="1"/>
          </p:cNvSpPr>
          <p:nvPr>
            <p:ph idx="1" sz="half"/>
          </p:nvPr>
        </p:nvSpPr>
        <p:spPr/>
        <p:txBody>
          <a:bodyPr wrap="square">
            <a:normAutofit/>
          </a:bodyPr>
          <a:lstStyle/>
          <a:p>
            <a:pPr>
              <a:buNone/>
            </a:pPr>
            <a:r>
              <a:rPr b="0" i="0" u="none" sz="2800"/>
              <a:t>Design failures</a:t>
            </a:r>
            <a:endParaRPr sz="2800" b="0" i="0">
              <a:latin typeface="Arial"/>
            </a:endParaRPr>
          </a:p>
          <a:p>
            <a:pPr>
              <a:buNone/>
            </a:pPr>
            <a:r>
              <a:rPr b="0" i="0" u="none" sz="2800"/>
              <a:t/>
            </a:r>
            <a:endParaRPr sz="2800" b="0" i="0">
              <a:latin typeface="Arial"/>
            </a:endParaRPr>
          </a:p>
          <a:p>
            <a:pPr/>
            <a:r>
              <a:rPr b="0" i="0" u="none" sz="2800"/>
              <a:t>Intent Rot</a:t>
            </a:r>
            <a:endParaRPr sz="2800" b="0" i="0">
              <a:latin typeface="Arial"/>
            </a:endParaRPr>
          </a:p>
          <a:p>
            <a:pPr>
              <a:buNone/>
            </a:pPr>
            <a:r>
              <a:rPr b="0" i="0" u="none" sz="2800"/>
              <a:t>  Purpose, constraints, and invariants are undocumented or lost.</a:t>
            </a:r>
            <a:endParaRPr sz="2800" b="0" i="0">
              <a:latin typeface="Arial"/>
            </a:endParaRPr>
          </a:p>
          <a:p>
            <a:pPr/>
            <a:r>
              <a:rPr b="0" i="0" u="none" sz="2800"/>
              <a:t>Unstable or Leaky Interfaces</a:t>
            </a:r>
            <a:endParaRPr sz="2800" b="0" i="0">
              <a:latin typeface="Arial"/>
            </a:endParaRPr>
          </a:p>
          <a:p>
            <a:pPr>
              <a:buNone/>
            </a:pPr>
            <a:r>
              <a:rPr b="0" i="0" u="none" sz="2800"/>
              <a:t>  APIs and boundaries change unpredictably.</a:t>
            </a:r>
            <a:endParaRPr sz="2800" b="0" i="0">
              <a:latin typeface="Arial"/>
            </a:endParaRPr>
          </a:p>
          <a:p>
            <a:pPr/>
            <a:r>
              <a:rPr b="0" i="0" u="none" sz="2800"/>
              <a:t>Tightly Coupled Architecture</a:t>
            </a:r>
            <a:endParaRPr sz="2800" b="0" i="0">
              <a:latin typeface="Arial"/>
            </a:endParaRPr>
          </a:p>
          <a:p>
            <a:pPr>
              <a:buNone/>
            </a:pPr>
            <a:r>
              <a:rPr b="0" i="0" u="none" sz="2800"/>
              <a:t>  Components depend on each other's internals.</a:t>
            </a:r>
            <a:endParaRPr sz="2800" b="0" i="0">
              <a:latin typeface="Arial"/>
            </a:endParaRPr>
          </a:p>
        </p:txBody>
      </p:sp>
      <p:sp>
        <p:nvSpPr>
          <p:cNvPr id="4" name="Content Placeholder 3"/>
          <p:cNvSpPr>
            <a:spLocks noGrp="1"/>
          </p:cNvSpPr>
          <p:nvPr>
            <p:ph idx="2" sz="half"/>
          </p:nvPr>
        </p:nvSpPr>
        <p:spPr/>
        <p:txBody>
          <a:bodyPr wrap="square">
            <a:normAutofit/>
          </a:bodyPr>
          <a:lstStyle/>
          <a:p>
            <a:pPr>
              <a:buNone/>
            </a:pPr>
            <a:r>
              <a:rPr b="0" i="0" u="none" sz="2800"/>
              <a:t>Safety failures</a:t>
            </a:r>
            <a:endParaRPr sz="2800" b="0" i="0">
              <a:latin typeface="Arial"/>
            </a:endParaRPr>
          </a:p>
          <a:p>
            <a:pPr>
              <a:buNone/>
            </a:pPr>
            <a:r>
              <a:rPr b="0" i="0" u="none" sz="2800"/>
              <a:t/>
            </a:r>
            <a:endParaRPr sz="2800" b="0" i="0">
              <a:latin typeface="Arial"/>
            </a:endParaRPr>
          </a:p>
          <a:p>
            <a:pPr/>
            <a:r>
              <a:rPr b="0" i="0" u="none" sz="2800"/>
              <a:t>Insufficient Guardrails</a:t>
            </a:r>
            <a:endParaRPr sz="2800" b="0" i="0">
              <a:latin typeface="Arial"/>
            </a:endParaRPr>
          </a:p>
          <a:p>
            <a:pPr>
              <a:buNone/>
            </a:pPr>
            <a:r>
              <a:rPr b="0" i="0" u="none" sz="2800"/>
              <a:t>  Missing tests and validation make safe regeneration impossible.</a:t>
            </a:r>
            <a:endParaRPr sz="2800" b="0" i="0">
              <a:latin typeface="Arial"/>
            </a:endParaRPr>
          </a:p>
          <a:p>
            <a:pPr/>
            <a:r>
              <a:rPr b="0" i="0" u="none" sz="2800"/>
              <a:t>One-Off Patches and Drift</a:t>
            </a:r>
            <a:endParaRPr sz="2800" b="0" i="0">
              <a:latin typeface="Arial"/>
            </a:endParaRPr>
          </a:p>
          <a:p>
            <a:pPr>
              <a:buNone/>
            </a:pPr>
            <a:r>
              <a:rPr b="0" i="0" u="none" sz="2800"/>
              <a:t>  Ad-hoc fixes pull the system away from intended design.</a:t>
            </a:r>
            <a:endParaRPr sz="2800" b="0" i="0">
              <a:latin typeface="Arial"/>
            </a:endParaRP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pPr/>
            <a:r>
              <a:rPr b="0" i="0" u="none"/>
              <a:t>Intro</a:t>
            </a:r>
          </a:p>
          <a:p>
            <a:pPr/>
            <a:r>
              <a:rPr b="0" i="0" u="none"/>
              <a:t>AI Assisted Software Development</a:t>
            </a:r>
          </a:p>
          <a:p>
            <a:pPr/>
            <a:r>
              <a:rPr b="0" i="0" u="none"/>
              <a:t>Intro to Copilot</a:t>
            </a:r>
          </a:p>
          <a:p>
            <a:pPr/>
            <a:r>
              <a:rPr b="0" i="0" u="none"/>
              <a:t>AI Assistance in Action</a:t>
            </a:r>
          </a:p>
          <a:p>
            <a:pPr/>
            <a:r>
              <a:rPr b="1" i="0" u="none"/>
              <a:t>▶ Adding AI Guardrails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Teaching Your AI to Color Inside the Lines</a:t>
            </a:r>
          </a:p>
        </p:txBody>
      </p:sp>
      <p:sp>
        <p:nvSpPr>
          <p:cNvPr id="3" name="Content Placeholder 2"/>
          <p:cNvSpPr>
            <a:spLocks noGrp="1"/>
          </p:cNvSpPr>
          <p:nvPr>
            <p:ph idx="1"/>
          </p:nvPr>
        </p:nvSpPr>
        <p:spPr/>
        <p:txBody>
          <a:bodyPr wrap="square">
            <a:normAutofit/>
          </a:bodyPr>
          <a:lstStyle/>
          <a:p>
            <a:pPr>
              <a:buNone/>
            </a:pPr>
            <a:r>
              <a:rPr b="0" i="0" u="none" sz="2800"/>
              <a:t>What are instructions, prompts, and Agents</a:t>
            </a:r>
            <a:endParaRPr sz="2800" b="0" i="0">
              <a:latin typeface="Arial"/>
            </a:endParaRPr>
          </a:p>
          <a:p>
            <a:pPr>
              <a:buNone/>
            </a:pPr>
            <a:r>
              <a:rPr b="0" i="0" u="none" sz="2800"/>
              <a:t>Creating instruction, prompt, and Agent files</a:t>
            </a:r>
            <a:endParaRPr sz="2800" b="0" i="0">
              <a:latin typeface="Arial"/>
            </a:endParaRPr>
          </a:p>
          <a:p>
            <a:pPr>
              <a:buNone/>
            </a:pPr>
            <a:r>
              <a:rPr b="0" i="0" u="none" sz="2800"/>
              <a:t>Meta prompts that generate these files</a:t>
            </a:r>
            <a:endParaRPr sz="2800" b="0" i="0">
              <a:latin typeface="Arial"/>
            </a:endParaRPr>
          </a:p>
          <a:p>
            <a:pPr>
              <a:buNone/>
            </a:pPr>
            <a:r>
              <a:rPr b="0" i="0" u="none" sz="2800"/>
              <a:t>Instructions for generating artifacts</a:t>
            </a:r>
            <a:endParaRPr sz="2800" b="0" i="0">
              <a:latin typeface="Arial"/>
            </a:endParaRPr>
          </a:p>
          <a:p>
            <a:pPr>
              <a:buNone/>
            </a:pPr>
            <a:r>
              <a:rPr b="0" i="0" u="none" sz="2800"/>
              <a:t>Enforcing provenance for AI-assisted artifacts</a:t>
            </a:r>
            <a:endParaRPr sz="2800" b="0" i="0">
              <a:latin typeface="Arial"/>
            </a:endParaRP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Instructions, Prompts &amp; Agents</a:t>
            </a:r>
          </a:p>
        </p:txBody>
      </p:sp>
      <p:sp>
        <p:nvSpPr>
          <p:cNvPr id="3" name="Content Placeholder 2"/>
          <p:cNvSpPr>
            <a:spLocks noGrp="1"/>
          </p:cNvSpPr>
          <p:nvPr>
            <p:ph idx="1"/>
          </p:nvPr>
        </p:nvSpPr>
        <p:spPr/>
        <p:txBody>
          <a:bodyPr wrap="square">
            <a:normAutofit/>
          </a:bodyPr>
          <a:lstStyle/>
          <a:p>
            <a:pPr>
              <a:buNone/>
            </a:pPr>
            <a:r>
              <a:rPr b="0" i="0" u="none" sz="2800"/>
              <a:t>Definitions</a:t>
            </a:r>
            <a:endParaRPr sz="2800" b="0" i="0">
              <a:latin typeface="Arial"/>
            </a:endParaRPr>
          </a:p>
          <a:p>
            <a:pPr>
              <a:buNone/>
            </a:pPr>
            <a:r>
              <a:rPr b="0" i="0" u="none" sz="2800"/>
              <a:t>Instructions – Persistent rules that guide the model's behavior</a:t>
            </a:r>
            <a:endParaRPr sz="2800" b="0" i="0">
              <a:latin typeface="Arial"/>
            </a:endParaRPr>
          </a:p>
          <a:p>
            <a:pPr>
              <a:buNone/>
            </a:pPr>
            <a:r>
              <a:rPr b="0" i="0" u="none" sz="2800"/>
              <a:t>Prompts – Task-specific requests defining intent and constraints</a:t>
            </a:r>
            <a:endParaRPr sz="2800" b="0" i="0">
              <a:latin typeface="Arial"/>
            </a:endParaRPr>
          </a:p>
          <a:p>
            <a:pPr>
              <a:buNone/>
            </a:pPr>
            <a:r>
              <a:rPr b="0" i="0" u="none" sz="2800"/>
              <a:t>Agents – Pre-configured personas optimized for workflows</a:t>
            </a:r>
            <a:endParaRPr sz="2800" b="0" i="0">
              <a:latin typeface="Arial"/>
            </a:endParaRP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Creating Instruction, Prompt &amp; Agent Files</a:t>
            </a:r>
          </a:p>
        </p:txBody>
      </p:sp>
      <p:sp>
        <p:nvSpPr>
          <p:cNvPr id="3" name="Content Placeholder 2"/>
          <p:cNvSpPr>
            <a:spLocks noGrp="1"/>
          </p:cNvSpPr>
          <p:nvPr>
            <p:ph idx="1"/>
          </p:nvPr>
        </p:nvSpPr>
        <p:spPr/>
        <p:txBody>
          <a:bodyPr wrap="square">
            <a:normAutofit/>
          </a:bodyPr>
          <a:lstStyle/>
          <a:p>
            <a:pPr>
              <a:buNone/>
            </a:pPr>
            <a:r>
              <a:rPr b="0" i="0" u="none" sz="2800"/>
              <a:t>Why create files?</a:t>
            </a:r>
            <a:endParaRPr sz="2800" b="0" i="0">
              <a:latin typeface="Arial"/>
            </a:endParaRPr>
          </a:p>
          <a:p>
            <a:pPr>
              <a:buNone/>
            </a:pPr>
            <a:r>
              <a:rPr b="0" i="0" u="none" sz="2800"/>
              <a:t>Ensures repeatability</a:t>
            </a:r>
            <a:endParaRPr sz="2800" b="0" i="0">
              <a:latin typeface="Arial"/>
            </a:endParaRPr>
          </a:p>
          <a:p>
            <a:pPr>
              <a:buNone/>
            </a:pPr>
            <a:r>
              <a:rPr b="0" i="0" u="none" sz="2800"/>
              <a:t>Reduces token usage</a:t>
            </a:r>
            <a:endParaRPr sz="2800" b="0" i="0">
              <a:latin typeface="Arial"/>
            </a:endParaRPr>
          </a:p>
          <a:p>
            <a:pPr>
              <a:buNone/>
            </a:pPr>
            <a:r>
              <a:rPr b="0" i="0" u="none" sz="2800"/>
              <a:t>Provides version-controlled guardrails</a:t>
            </a:r>
            <a:endParaRPr sz="2800" b="0" i="0">
              <a:latin typeface="Arial"/>
            </a:endParaRPr>
          </a:p>
          <a:p>
            <a:pPr>
              <a:buNone/>
            </a:pPr>
            <a:r>
              <a:rPr b="0" i="0" u="none" sz="2800"/>
              <a:t>Enables team-wide consistency</a:t>
            </a:r>
            <a:endParaRPr sz="2800" b="0" i="0">
              <a:latin typeface="Arial"/>
            </a:endParaRPr>
          </a:p>
          <a:p>
            <a:pPr>
              <a:buNone/>
            </a:pPr>
            <a:r>
              <a:rPr b="0" i="0" u="none" sz="2800"/>
              <a:t>File types</a:t>
            </a:r>
            <a:endParaRPr sz="2800" b="0" i="0">
              <a:latin typeface="Arial"/>
            </a:endParaRPr>
          </a:p>
          <a:p>
            <a:pPr>
              <a:buNone/>
            </a:pPr>
            <a:r>
              <a:rPr b="0" i="0" u="none" sz="2800"/>
              <a:t>.github/instructions/myinstructions.instructions.md</a:t>
            </a:r>
            <a:endParaRPr sz="2800" b="0" i="0">
              <a:latin typeface="Arial"/>
            </a:endParaRPr>
          </a:p>
          <a:p>
            <a:pPr>
              <a:buNone/>
            </a:pPr>
            <a:r>
              <a:rPr b="0" i="0" u="none" sz="2800"/>
              <a:t>.github/copilot/Promptfiles/myprompt.prompt.md</a:t>
            </a:r>
            <a:endParaRPr sz="2800" b="0" i="0">
              <a:latin typeface="Arial"/>
            </a:endParaRPr>
          </a:p>
          <a:p>
            <a:pPr>
              <a:buNone/>
            </a:pPr>
            <a:r>
              <a:rPr b="0" i="0" u="none" sz="2800"/>
              <a:t>.github/chatmodes/mychatmode.chatmode.md</a:t>
            </a:r>
            <a:endParaRPr sz="2800" b="0" i="0">
              <a:latin typeface="Arial"/>
            </a:endParaRP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Meta Prompts</a:t>
            </a:r>
          </a:p>
        </p:txBody>
      </p:sp>
      <p:sp>
        <p:nvSpPr>
          <p:cNvPr id="3" name="Content Placeholder 2"/>
          <p:cNvSpPr>
            <a:spLocks noGrp="1"/>
          </p:cNvSpPr>
          <p:nvPr>
            <p:ph idx="1"/>
          </p:nvPr>
        </p:nvSpPr>
        <p:spPr/>
        <p:txBody>
          <a:bodyPr wrap="square">
            <a:normAutofit/>
          </a:bodyPr>
          <a:lstStyle/>
          <a:p>
            <a:pPr>
              <a:buNone/>
            </a:pPr>
            <a:r>
              <a:rPr b="0" i="0" u="none" sz="2800"/>
              <a:t>Meta prompts guide:</a:t>
            </a:r>
            <a:endParaRPr sz="2800" b="0" i="0">
              <a:latin typeface="Arial"/>
            </a:endParaRPr>
          </a:p>
          <a:p>
            <a:pPr>
              <a:buNone/>
            </a:pPr>
            <a:r>
              <a:rPr b="0" i="0" u="none" sz="2800"/>
              <a:t>Creation of instruction files</a:t>
            </a:r>
            <a:endParaRPr sz="2800" b="0" i="0">
              <a:latin typeface="Arial"/>
            </a:endParaRPr>
          </a:p>
          <a:p>
            <a:pPr>
              <a:buNone/>
            </a:pPr>
            <a:r>
              <a:rPr b="0" i="0" u="none" sz="2800"/>
              <a:t>Generation of reusable prompts</a:t>
            </a:r>
            <a:endParaRPr sz="2800" b="0" i="0">
              <a:latin typeface="Arial"/>
            </a:endParaRPr>
          </a:p>
          <a:p>
            <a:pPr>
              <a:buNone/>
            </a:pPr>
            <a:r>
              <a:rPr b="0" i="0" u="none" sz="2800"/>
              <a:t>Construction of Agents</a:t>
            </a:r>
            <a:endParaRPr sz="2800" b="0" i="0">
              <a:latin typeface="Arial"/>
            </a:endParaRPr>
          </a:p>
          <a:p>
            <a:pPr>
              <a:buNone/>
            </a:pPr>
            <a:r>
              <a:rPr b="0" i="0" u="none" sz="2800"/>
              <a:t>Provide consistent formatting, structure, content</a:t>
            </a:r>
            <a:endParaRPr sz="2800" b="0" i="0">
              <a:latin typeface="Arial"/>
            </a:endParaRP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Instructions for Generating Artifacts</a:t>
            </a:r>
          </a:p>
        </p:txBody>
      </p:sp>
      <p:sp>
        <p:nvSpPr>
          <p:cNvPr id="3" name="Content Placeholder 2"/>
          <p:cNvSpPr>
            <a:spLocks noGrp="1"/>
          </p:cNvSpPr>
          <p:nvPr>
            <p:ph idx="1"/>
          </p:nvPr>
        </p:nvSpPr>
        <p:spPr/>
        <p:txBody>
          <a:bodyPr wrap="square">
            <a:normAutofit/>
          </a:bodyPr>
          <a:lstStyle/>
          <a:p>
            <a:pPr>
              <a:buNone/>
            </a:pPr>
            <a:r>
              <a:rPr b="0" i="0" u="none" sz="2800"/>
              <a:t>Best practices</a:t>
            </a:r>
            <a:endParaRPr sz="2800" b="0" i="0">
              <a:latin typeface="Arial"/>
            </a:endParaRPr>
          </a:p>
          <a:p>
            <a:pPr>
              <a:buNone/>
            </a:pPr>
            <a:r>
              <a:rPr b="0" i="0" u="none" sz="2800"/>
              <a:t>Define the artifact type</a:t>
            </a:r>
            <a:endParaRPr sz="2800" b="0" i="0">
              <a:latin typeface="Arial"/>
            </a:endParaRPr>
          </a:p>
          <a:p>
            <a:pPr>
              <a:buNone/>
            </a:pPr>
            <a:r>
              <a:rPr b="0" i="0" u="none" sz="2800"/>
              <a:t>Specify required sections</a:t>
            </a:r>
            <a:endParaRPr sz="2800" b="0" i="0">
              <a:latin typeface="Arial"/>
            </a:endParaRPr>
          </a:p>
          <a:p>
            <a:pPr>
              <a:buNone/>
            </a:pPr>
            <a:r>
              <a:rPr b="0" i="0" u="none" sz="2800"/>
              <a:t>Provide examples or templates</a:t>
            </a:r>
            <a:endParaRPr sz="2800" b="0" i="0">
              <a:latin typeface="Arial"/>
            </a:endParaRPr>
          </a:p>
          <a:p>
            <a:pPr>
              <a:buNone/>
            </a:pPr>
            <a:r>
              <a:rPr b="0" i="0" u="none" sz="2800"/>
              <a:t>Include acceptance criteria</a:t>
            </a:r>
            <a:endParaRPr sz="2800" b="0" i="0">
              <a:latin typeface="Arial"/>
            </a:endParaRPr>
          </a:p>
          <a:p>
            <a:pPr>
              <a:buNone/>
            </a:pPr>
            <a:r>
              <a:rPr b="0" i="0" u="none" sz="2800"/>
              <a:t>Require the model to restate constraints</a:t>
            </a:r>
            <a:endParaRPr sz="2800" b="0" i="0">
              <a:latin typeface="Arial"/>
            </a:endParaRP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Enforcing Provenance for AI Artifacts</a:t>
            </a:r>
          </a:p>
        </p:txBody>
      </p:sp>
      <p:sp>
        <p:nvSpPr>
          <p:cNvPr id="3" name="Content Placeholder 2"/>
          <p:cNvSpPr>
            <a:spLocks noGrp="1"/>
          </p:cNvSpPr>
          <p:nvPr>
            <p:ph idx="1"/>
          </p:nvPr>
        </p:nvSpPr>
        <p:spPr/>
        <p:txBody>
          <a:bodyPr wrap="square">
            <a:normAutofit/>
          </a:bodyPr>
          <a:lstStyle/>
          <a:p>
            <a:pPr>
              <a:buNone/>
            </a:pPr>
            <a:r>
              <a:rPr b="0" i="0" u="none" sz="2800"/>
              <a:t>Provenance requirements</a:t>
            </a:r>
            <a:endParaRPr sz="2800" b="0" i="0">
              <a:latin typeface="Arial"/>
            </a:endParaRPr>
          </a:p>
          <a:p>
            <a:pPr>
              <a:buNone/>
            </a:pPr>
            <a:r>
              <a:rPr b="0" i="0" u="none" sz="2800"/>
              <a:t>Declare:</a:t>
            </a:r>
            <a:endParaRPr sz="2800" b="0" i="0">
              <a:latin typeface="Arial"/>
            </a:endParaRPr>
          </a:p>
          <a:p>
            <a:pPr>
              <a:buNone/>
            </a:pPr>
            <a:r>
              <a:rPr b="0" i="0" u="none" sz="2800"/>
              <a:t/>
            </a:r>
            <a:endParaRPr sz="2800" b="0" i="0">
              <a:latin typeface="Arial"/>
            </a:endParaRPr>
          </a:p>
          <a:p>
            <a:pPr/>
            <a:r>
              <a:rPr b="0" i="0" u="none" sz="2800"/>
              <a:t>AI involvement</a:t>
            </a:r>
            <a:endParaRPr sz="2800" b="0" i="0">
              <a:latin typeface="Arial"/>
            </a:endParaRPr>
          </a:p>
          <a:p>
            <a:pPr/>
            <a:r>
              <a:rPr b="0" i="0" u="none" sz="2800"/>
              <a:t>Model used</a:t>
            </a:r>
            <a:endParaRPr sz="2800" b="0" i="0">
              <a:latin typeface="Arial"/>
            </a:endParaRPr>
          </a:p>
          <a:p>
            <a:pPr/>
            <a:r>
              <a:rPr b="0" i="0" u="none" sz="2800"/>
              <a:t>Date generated</a:t>
            </a:r>
            <a:endParaRPr sz="2800" b="0" i="0">
              <a:latin typeface="Arial"/>
            </a:endParaRPr>
          </a:p>
          <a:p>
            <a:pPr/>
            <a:r>
              <a:rPr b="0" i="0" u="none" sz="2800"/>
              <a:t>Human reviewer</a:t>
            </a:r>
            <a:endParaRPr sz="2800" b="0" i="0">
              <a:latin typeface="Arial"/>
            </a:endParaRPr>
          </a:p>
          <a:p>
            <a:pPr>
              <a:buNone/>
            </a:pPr>
            <a:r>
              <a:rPr b="0" i="0" u="none" sz="2800"/>
              <a:t>  Store provenance in headers, footers, or side cars</a:t>
            </a:r>
            <a:endParaRPr sz="2800" b="0" i="0">
              <a:latin typeface="Arial"/>
            </a:endParaRPr>
          </a:p>
          <a:p>
            <a:pPr>
              <a:buNone/>
            </a:pPr>
            <a:r>
              <a:rPr b="0" i="0" u="none" sz="2800"/>
              <a:t>  Track revisions in version control</a:t>
            </a:r>
            <a:endParaRPr sz="2800" b="0" i="0">
              <a:latin typeface="Arial"/>
            </a:endParaRP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Copy the Core Instructions</a:t>
            </a:r>
          </a:p>
        </p:txBody>
      </p:sp>
      <p:sp>
        <p:nvSpPr>
          <p:cNvPr id="3" name="Content Placeholder 2"/>
          <p:cNvSpPr>
            <a:spLocks noGrp="1"/>
          </p:cNvSpPr>
          <p:nvPr>
            <p:ph idx="1" sz="half"/>
          </p:nvPr>
        </p:nvSpPr>
        <p:spPr/>
        <p:txBody>
          <a:bodyPr wrap="square">
            <a:normAutofit/>
          </a:bodyPr>
          <a:lstStyle/>
          <a:p>
            <a:pPr>
              <a:buNone/>
            </a:pPr>
            <a:r>
              <a:rPr b="0" i="0" u="none" sz="2800"/>
              <a:t>Objectives:</a:t>
            </a:r>
            <a:endParaRPr sz="2800" b="0" i="0">
              <a:latin typeface="Arial"/>
            </a:endParaRPr>
          </a:p>
          <a:p>
            <a:pPr>
              <a:buNone/>
            </a:pPr>
            <a:r>
              <a:rPr b="0" i="0" u="none" sz="2800"/>
              <a:t>Understand file organization for AI-assisted output policies</a:t>
            </a:r>
            <a:endParaRPr sz="2800" b="0" i="0">
              <a:latin typeface="Arial"/>
            </a:endParaRPr>
          </a:p>
          <a:p>
            <a:pPr>
              <a:buNone/>
            </a:pPr>
            <a:r>
              <a:rPr b="0" i="0" u="none" sz="2800"/>
              <a:t>Practice copying files between repositories</a:t>
            </a:r>
            <a:endParaRPr sz="2800" b="0" i="0">
              <a:latin typeface="Arial"/>
            </a:endParaRPr>
          </a:p>
          <a:p>
            <a:pPr>
              <a:buNone/>
            </a:pPr>
            <a:r>
              <a:rPr b="0" i="0" u="none" sz="2800"/>
              <a:t>Ensure compliance with output metadata requirements</a:t>
            </a:r>
            <a:endParaRPr sz="2800" b="0" i="0">
              <a:latin typeface="Arial"/>
            </a:endParaRPr>
          </a:p>
        </p:txBody>
      </p:sp>
      <p:sp>
        <p:nvSpPr>
          <p:cNvPr id="4" name="Content Placeholder 3"/>
          <p:cNvSpPr>
            <a:spLocks noGrp="1"/>
          </p:cNvSpPr>
          <p:nvPr>
            <p:ph idx="2" sz="half"/>
          </p:nvPr>
        </p:nvSpPr>
        <p:spPr/>
        <p:txBody>
          <a:bodyPr wrap="square">
            <a:normAutofit/>
          </a:bodyPr>
          <a:lstStyle/>
          <a:p>
            <a:pPr>
              <a:buNone/>
            </a:pPr>
            <a:r>
              <a:rPr b="0" i="0" u="none"/>
              <a:t>Activities:</a:t>
            </a:r>
          </a:p>
          <a:p>
            <a:pPr>
              <a:buNone/>
            </a:pPr>
            <a:r>
              <a:rPr b="0" i="0" u="none"/>
              <a:t/>
            </a:r>
          </a:p>
          <a:p>
            <a:pPr>
              <a:buNone/>
            </a:pPr>
            <a:r>
              <a:rPr b="0" i="0" u="none"/>
              <a:t>1. Locate .github/instructions/ai-assisted-output.instructions.md in the AI-Assisted-Software-Development repository</a:t>
            </a:r>
          </a:p>
          <a:p>
            <a:pPr>
              <a:buNone/>
            </a:pPr>
            <a:r>
              <a:rPr b="0" i="0" u="none"/>
              <a:t>2. Copy the file into the .github/instructions folder of the current repository</a:t>
            </a:r>
          </a:p>
          <a:p>
            <a:pPr>
              <a:buNone/>
            </a:pPr>
            <a:r>
              <a:rPr b="0" i="0" u="none"/>
              <a:t>3. Copy these files as well:</a:t>
            </a:r>
          </a:p>
          <a:p>
            <a:pPr>
              <a:buNone/>
            </a:pPr>
            <a:r>
              <a:rPr b="0" i="0" u="none"/>
              <a:t>   chatmode-file.instructions.md</a:t>
            </a:r>
          </a:p>
          <a:p>
            <a:pPr>
              <a:buNone/>
            </a:pPr>
            <a:r>
              <a:rPr b="0" i="0" u="none"/>
              <a:t>   instruction-files.instructions.md</a:t>
            </a:r>
          </a:p>
          <a:p>
            <a:pPr>
              <a:buNone/>
            </a:pPr>
            <a:r>
              <a:rPr b="0" i="0" u="none"/>
              <a:t>   instruction-prompt-files.instructions.md</a:t>
            </a:r>
          </a:p>
          <a:p>
            <a:pPr>
              <a:buNone/>
            </a:pPr>
            <a:r>
              <a:rPr b="0" i="0" u="none"/>
              <a:t>   prompt-file.instructions.md</a:t>
            </a:r>
          </a:p>
          <a:p>
            <a:pPr>
              <a:buNone/>
            </a:pPr>
            <a:r>
              <a:rPr b="0" i="0" u="none"/>
              <a:t>4. Verify the copied files matches the original</a:t>
            </a:r>
          </a:p>
          <a:p>
            <a:pPr>
              <a:buNone/>
            </a:pPr>
            <a:r>
              <a:rPr b="0" i="0" u="none"/>
              <a:t>5. Review the instructions</a:t>
            </a:r>
          </a:p>
          <a:p>
            <a:pPr>
              <a:buNone/>
            </a:pPr>
            <a:r>
              <a:rPr b="0" i="0" u="none"/>
              <a:t>   Success Criteria:</a:t>
            </a:r>
          </a:p>
          <a:p>
            <a:pPr>
              <a:buNone/>
            </a:pPr>
            <a:r>
              <a:rPr b="0" i="0" u="none"/>
              <a:t>   The files are present in the current repo</a:t>
            </a:r>
          </a:p>
          <a:p>
            <a:pPr>
              <a:buNone/>
            </a:pPr>
            <a:r>
              <a:rPr b="0" i="0" u="none"/>
              <a:t>   The content matches the source file</a:t>
            </a:r>
          </a:p>
          <a:p>
            <a:pPr>
              <a:buNone/>
            </a:pPr>
            <a:r>
              <a:rPr b="0" i="0" u="none"/>
              <a:t>   No metadata or formatting is lost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Instructions for AI Generated Artifacts</a:t>
            </a:r>
          </a:p>
        </p:txBody>
      </p:sp>
      <p:sp>
        <p:nvSpPr>
          <p:cNvPr id="3" name="Content Placeholder 2"/>
          <p:cNvSpPr>
            <a:spLocks noGrp="1"/>
          </p:cNvSpPr>
          <p:nvPr>
            <p:ph idx="1"/>
          </p:nvPr>
        </p:nvSpPr>
        <p:spPr/>
        <p:txBody>
          <a:bodyPr wrap="square">
            <a:normAutofit/>
          </a:bodyPr>
          <a:lstStyle/>
          <a:p>
            <a:pPr>
              <a:buNone/>
            </a:pPr>
            <a:r>
              <a:rPr b="0" i="0" u="none" sz="2800"/>
              <a:t>The one instruction file that rules them all</a:t>
            </a:r>
            <a:endParaRPr sz="2800" b="0" i="0">
              <a:latin typeface="Arial"/>
            </a:endParaRP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AI-Assisted Output Instructions</a:t>
            </a:r>
          </a:p>
        </p:txBody>
      </p:sp>
      <p:sp>
        <p:nvSpPr>
          <p:cNvPr id="3" name="Content Placeholder 2"/>
          <p:cNvSpPr>
            <a:spLocks noGrp="1"/>
          </p:cNvSpPr>
          <p:nvPr>
            <p:ph idx="1"/>
          </p:nvPr>
        </p:nvSpPr>
        <p:spPr/>
        <p:txBody>
          <a:bodyPr wrap="square">
            <a:normAutofit/>
          </a:bodyPr>
          <a:lstStyle/>
          <a:p>
            <a:pPr>
              <a:buNone/>
            </a:pPr>
            <a:r>
              <a:rPr b="0" i="0" u="none" sz="2800"/>
              <a:t>Ensures provenance and logging for all AI-assisted outputs</a:t>
            </a:r>
            <a:endParaRPr sz="2800" b="0" i="0">
              <a:latin typeface="Arial"/>
            </a:endParaRPr>
          </a:p>
          <a:p>
            <a:pPr>
              <a:buNone/>
            </a:pPr>
            <a:r>
              <a:rPr b="0" i="0" u="none" sz="2800"/>
              <a:t>Defines required metadata, logging workflow, and quality gates</a:t>
            </a:r>
            <a:endParaRPr sz="2800" b="0" i="0">
              <a:latin typeface="Arial"/>
            </a:endParaRPr>
          </a:p>
          <a:p>
            <a:pPr>
              <a:buNone/>
            </a:pPr>
            <a:r>
              <a:rPr b="0" i="0" u="none" sz="2800"/>
              <a:t>Protects code quality and enables audits</a:t>
            </a:r>
            <a:endParaRPr sz="2800" b="0" i="0">
              <a:latin typeface="Arial"/>
            </a:endParaRP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Required Provenance Metadata</a:t>
            </a:r>
          </a:p>
        </p:txBody>
      </p:sp>
      <p:sp>
        <p:nvSpPr>
          <p:cNvPr id="3" name="Content Placeholder 2"/>
          <p:cNvSpPr>
            <a:spLocks noGrp="1"/>
          </p:cNvSpPr>
          <p:nvPr>
            <p:ph idx="1"/>
          </p:nvPr>
        </p:nvSpPr>
        <p:spPr/>
        <p:txBody>
          <a:bodyPr wrap="square">
            <a:normAutofit/>
          </a:bodyPr>
          <a:lstStyle/>
          <a:p>
            <a:pPr>
              <a:buNone/>
            </a:pPr>
            <a:r>
              <a:rPr b="0" i="0" u="none" sz="2800"/>
              <a:t>Every AI-assisted artifact must include:</a:t>
            </a:r>
            <a:endParaRPr sz="2800" b="0" i="0">
              <a:latin typeface="Arial"/>
            </a:endParaRPr>
          </a:p>
          <a:p>
            <a:pPr>
              <a:buNone/>
            </a:pPr>
            <a:r>
              <a:rPr b="0" i="0" u="none" sz="2800"/>
              <a:t/>
            </a:r>
            <a:endParaRPr sz="2800" b="0" i="0">
              <a:latin typeface="Arial"/>
            </a:endParaRPr>
          </a:p>
          <a:p>
            <a:pPr/>
            <a:r>
              <a:rPr b="0" i="0" u="none" sz="2800"/>
              <a:t>ai_generated: true</a:t>
            </a:r>
            <a:endParaRPr sz="2800" b="0" i="0">
              <a:latin typeface="Arial"/>
            </a:endParaRPr>
          </a:p>
          <a:p>
            <a:pPr/>
            <a:r>
              <a:rPr b="0" i="0" u="none" sz="2800"/>
              <a:t>model: provider/model@version</a:t>
            </a:r>
            <a:endParaRPr sz="2800" b="0" i="0">
              <a:latin typeface="Arial"/>
            </a:endParaRPr>
          </a:p>
          <a:p>
            <a:pPr/>
            <a:r>
              <a:rPr b="0" i="0" u="none" sz="2800"/>
              <a:t>operator: username</a:t>
            </a:r>
            <a:endParaRPr sz="2800" b="0" i="0">
              <a:latin typeface="Arial"/>
            </a:endParaRPr>
          </a:p>
          <a:p>
            <a:pPr/>
            <a:r>
              <a:rPr b="0" i="0" u="none" sz="2800"/>
              <a:t>chat_id: unique chat identifier</a:t>
            </a:r>
            <a:endParaRPr sz="2800" b="0" i="0">
              <a:latin typeface="Arial"/>
            </a:endParaRPr>
          </a:p>
          <a:p>
            <a:pPr/>
            <a:r>
              <a:rPr b="0" i="0" u="none" sz="2800"/>
              <a:t>prompt: exact prompt text</a:t>
            </a:r>
            <a:endParaRPr sz="2800" b="0" i="0">
              <a:latin typeface="Arial"/>
            </a:endParaRPr>
          </a:p>
          <a:p>
            <a:pPr/>
            <a:r>
              <a:rPr b="0" i="0" u="none" sz="2800"/>
              <a:t>started/ended: timestamps</a:t>
            </a:r>
            <a:endParaRPr sz="2800" b="0" i="0">
              <a:latin typeface="Arial"/>
            </a:endParaRPr>
          </a:p>
          <a:p>
            <a:pPr/>
            <a:r>
              <a:rPr b="0" i="0" u="none" sz="2800"/>
              <a:t>task</a:t>
            </a:r>
            <a:r>
              <a:rPr b="0" i="0" u="none" sz="2800"/>
              <a:t>durations &amp; total</a:t>
            </a:r>
            <a:r>
              <a:rPr b="0" i="0" u="none" sz="2800"/>
              <a:t>duration</a:t>
            </a:r>
            <a:endParaRPr sz="2800" b="0" i="0">
              <a:latin typeface="Arial"/>
            </a:endParaRPr>
          </a:p>
          <a:p>
            <a:pPr/>
            <a:r>
              <a:rPr b="0" i="0" u="none" sz="2800"/>
              <a:t>ai_log: path to conversation log</a:t>
            </a:r>
            <a:endParaRPr sz="2800" b="0" i="0">
              <a:latin typeface="Arial"/>
            </a:endParaRPr>
          </a:p>
          <a:p>
            <a:pPr/>
            <a:r>
              <a:rPr b="0" i="0" u="none" sz="2800"/>
              <a:t>source: who/what created the file</a:t>
            </a:r>
            <a:endParaRPr sz="2800" b="0" i="0">
              <a:latin typeface="Arial"/>
            </a:endParaRP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Metadata Placement Policy</a:t>
            </a:r>
          </a:p>
        </p:txBody>
      </p:sp>
      <p:sp>
        <p:nvSpPr>
          <p:cNvPr id="3" name="Content Placeholder 2"/>
          <p:cNvSpPr>
            <a:spLocks noGrp="1"/>
          </p:cNvSpPr>
          <p:nvPr>
            <p:ph idx="1"/>
          </p:nvPr>
        </p:nvSpPr>
        <p:spPr/>
        <p:txBody>
          <a:bodyPr wrap="square">
            <a:normAutofit/>
          </a:bodyPr>
          <a:lstStyle/>
          <a:p>
            <a:pPr>
              <a:buNone/>
            </a:pPr>
            <a:r>
              <a:rPr b="0" i="0" u="none" sz="2800"/>
              <a:t>Use YAML front matter for Markdown and similar formats</a:t>
            </a:r>
            <a:endParaRPr sz="2800" b="0" i="0">
              <a:latin typeface="Arial"/>
            </a:endParaRPr>
          </a:p>
          <a:p>
            <a:pPr>
              <a:buNone/>
            </a:pPr>
            <a:r>
              <a:rPr b="0" i="0" u="none" sz="2800"/>
              <a:t>For binaries/images, use a sidecar &lt;artifact&gt;.meta.md</a:t>
            </a:r>
            <a:endParaRPr sz="2800" b="0" i="0">
              <a:latin typeface="Arial"/>
            </a:endParaRPr>
          </a:p>
          <a:p>
            <a:pPr>
              <a:buNone/>
            </a:pPr>
            <a:r>
              <a:rPr b="0" i="0" u="none" sz="2800"/>
              <a:t>Never use sidecars for Markdown</a:t>
            </a:r>
            <a:endParaRPr sz="2800" b="0" i="0">
              <a:latin typeface="Arial"/>
            </a:endParaRP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AI Chat Logging Workflow</a:t>
            </a:r>
          </a:p>
        </p:txBody>
      </p:sp>
      <p:sp>
        <p:nvSpPr>
          <p:cNvPr id="3" name="Content Placeholder 2"/>
          <p:cNvSpPr>
            <a:spLocks noGrp="1"/>
          </p:cNvSpPr>
          <p:nvPr>
            <p:ph idx="1"/>
          </p:nvPr>
        </p:nvSpPr>
        <p:spPr/>
        <p:txBody>
          <a:bodyPr wrap="square">
            <a:normAutofit/>
          </a:bodyPr>
          <a:lstStyle/>
          <a:p>
            <a:pPr>
              <a:buNone/>
            </a:pPr>
            <a:r>
              <a:rPr b="0" i="0" u="none" sz="2800"/>
              <a:t>Each chat creates a unique log folder: ai-logs/yyyy/mm/dd/&lt;chat-id&gt;/</a:t>
            </a:r>
            <a:endParaRPr sz="2800" b="0" i="0">
              <a:latin typeface="Arial"/>
            </a:endParaRPr>
          </a:p>
          <a:p>
            <a:pPr>
              <a:buNone/>
            </a:pPr>
            <a:r>
              <a:rPr b="0" i="0" u="none" sz="2800"/>
              <a:t>Required files:</a:t>
            </a:r>
            <a:endParaRPr sz="2800" b="0" i="0">
              <a:latin typeface="Arial"/>
            </a:endParaRPr>
          </a:p>
          <a:p>
            <a:pPr>
              <a:buNone/>
            </a:pPr>
            <a:r>
              <a:rPr b="0" i="0" u="none" sz="2800"/>
              <a:t/>
            </a:r>
            <a:endParaRPr sz="2800" b="0" i="0">
              <a:latin typeface="Arial"/>
            </a:endParaRPr>
          </a:p>
          <a:p>
            <a:pPr/>
            <a:r>
              <a:rPr b="0" i="0" u="none" sz="2800"/>
              <a:t>conversation.md (full transcript)</a:t>
            </a:r>
            <a:endParaRPr sz="2800" b="0" i="0">
              <a:latin typeface="Arial"/>
            </a:endParaRPr>
          </a:p>
          <a:p>
            <a:pPr/>
            <a:r>
              <a:rPr b="0" i="0" u="none" sz="2800"/>
              <a:t>summary.md (objectives, decisions, outcomes)</a:t>
            </a:r>
            <a:endParaRPr sz="2800" b="0" i="0">
              <a:latin typeface="Arial"/>
            </a:endParaRPr>
          </a:p>
          <a:p>
            <a:pPr/>
            <a:r>
              <a:rPr b="0" i="0" u="none" sz="2800"/>
              <a:t>artifacts/ (optional)</a:t>
            </a:r>
            <a:endParaRPr sz="2800" b="0" i="0">
              <a:latin typeface="Arial"/>
            </a:endParaRPr>
          </a:p>
          <a:p>
            <a:pPr>
              <a:buNone/>
            </a:pPr>
            <a:r>
              <a:rPr b="0" i="0" u="none" sz="2800"/>
              <a:t>  Never reuse chat logs between sessions</a:t>
            </a:r>
            <a:endParaRPr sz="2800" b="0" i="0">
              <a:latin typeface="Arial"/>
            </a:endParaRP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Quality &amp; PR Checklist</a:t>
            </a:r>
          </a:p>
        </p:txBody>
      </p:sp>
      <p:sp>
        <p:nvSpPr>
          <p:cNvPr id="3" name="Content Placeholder 2"/>
          <p:cNvSpPr>
            <a:spLocks noGrp="1"/>
          </p:cNvSpPr>
          <p:nvPr>
            <p:ph idx="1"/>
          </p:nvPr>
        </p:nvSpPr>
        <p:spPr/>
        <p:txBody>
          <a:bodyPr wrap="square">
            <a:normAutofit/>
          </a:bodyPr>
          <a:lstStyle/>
          <a:p>
            <a:pPr>
              <a:buNone/>
            </a:pPr>
            <a:r>
              <a:rPr b="0" i="0" u="none" sz="2800"/>
              <a:t>Metadata complete and correct</a:t>
            </a:r>
            <a:endParaRPr sz="2800" b="0" i="0">
              <a:latin typeface="Arial"/>
            </a:endParaRPr>
          </a:p>
          <a:p>
            <a:pPr>
              <a:buNone/>
            </a:pPr>
            <a:r>
              <a:rPr b="0" i="0" u="none" sz="2800"/>
              <a:t>Conversation and summary logs exist</a:t>
            </a:r>
            <a:endParaRPr sz="2800" b="0" i="0">
              <a:latin typeface="Arial"/>
            </a:endParaRPr>
          </a:p>
          <a:p>
            <a:pPr>
              <a:buNone/>
            </a:pPr>
            <a:r>
              <a:rPr b="0" i="0" u="none" sz="2800"/>
              <a:t>README.md updated for notable artifacts</a:t>
            </a:r>
            <a:endParaRPr sz="2800" b="0" i="0">
              <a:latin typeface="Arial"/>
            </a:endParaRPr>
          </a:p>
          <a:p>
            <a:pPr>
              <a:buNone/>
            </a:pPr>
            <a:r>
              <a:rPr b="0" i="0" u="none" sz="2800"/>
              <a:t>No sensitive data in outputs</a:t>
            </a:r>
            <a:endParaRPr sz="2800" b="0" i="0">
              <a:latin typeface="Arial"/>
            </a:endParaRPr>
          </a:p>
          <a:p>
            <a:pPr>
              <a:buNone/>
            </a:pPr>
            <a:r>
              <a:rPr b="0" i="0" u="none" sz="2800"/>
              <a:t>All AI-generated content traces to a chat log</a:t>
            </a:r>
            <a:endParaRPr sz="2800" b="0" i="0">
              <a:latin typeface="Arial"/>
            </a:endParaRP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Copilot Integration Requirements</a:t>
            </a:r>
          </a:p>
        </p:txBody>
      </p:sp>
      <p:sp>
        <p:nvSpPr>
          <p:cNvPr id="3" name="Content Placeholder 2"/>
          <p:cNvSpPr>
            <a:spLocks noGrp="1"/>
          </p:cNvSpPr>
          <p:nvPr>
            <p:ph idx="1"/>
          </p:nvPr>
        </p:nvSpPr>
        <p:spPr/>
        <p:txBody>
          <a:bodyPr wrap="square">
            <a:normAutofit/>
          </a:bodyPr>
          <a:lstStyle/>
          <a:p>
            <a:pPr>
              <a:buNone/>
            </a:pPr>
            <a:r>
              <a:rPr b="0" i="0" u="none" sz="2800"/>
              <a:t>Copilot must auto-manage chat IDs and logs</a:t>
            </a:r>
            <a:endParaRPr sz="2800" b="0" i="0">
              <a:latin typeface="Arial"/>
            </a:endParaRPr>
          </a:p>
          <a:p>
            <a:pPr>
              <a:buNone/>
            </a:pPr>
            <a:r>
              <a:rPr b="0" i="0" u="none" sz="2800"/>
              <a:t>Metadata injected automatically</a:t>
            </a:r>
            <a:endParaRPr sz="2800" b="0" i="0">
              <a:latin typeface="Arial"/>
            </a:endParaRPr>
          </a:p>
          <a:p>
            <a:pPr>
              <a:buNone/>
            </a:pPr>
            <a:r>
              <a:rPr b="0" i="0" u="none" sz="2800"/>
              <a:t>Block artifact creation if chat context is missing</a:t>
            </a:r>
            <a:endParaRPr sz="2800" b="0" i="0">
              <a:latin typeface="Arial"/>
            </a:endParaRPr>
          </a:p>
          <a:p>
            <a:pPr>
              <a:buNone/>
            </a:pPr>
            <a:r>
              <a:rPr b="0" i="0" u="none" sz="2800"/>
              <a:t>Enforce provenance before file creation</a:t>
            </a:r>
            <a:endParaRPr sz="2800" b="0" i="0">
              <a:latin typeface="Arial"/>
            </a:endParaRP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Enforcement &amp; Remediation</a:t>
            </a:r>
          </a:p>
        </p:txBody>
      </p:sp>
      <p:sp>
        <p:nvSpPr>
          <p:cNvPr id="3" name="Content Placeholder 2"/>
          <p:cNvSpPr>
            <a:spLocks noGrp="1"/>
          </p:cNvSpPr>
          <p:nvPr>
            <p:ph idx="1"/>
          </p:nvPr>
        </p:nvSpPr>
        <p:spPr/>
        <p:txBody>
          <a:bodyPr wrap="square">
            <a:normAutofit/>
          </a:bodyPr>
          <a:lstStyle/>
          <a:p>
            <a:pPr>
              <a:buNone/>
            </a:pPr>
            <a:r>
              <a:rPr b="0" i="0" u="none" sz="2800"/>
              <a:t>PRs blocked if provenance is incomplete</a:t>
            </a:r>
            <a:endParaRPr sz="2800" b="0" i="0">
              <a:latin typeface="Arial"/>
            </a:endParaRPr>
          </a:p>
          <a:p>
            <a:pPr>
              <a:buNone/>
            </a:pPr>
            <a:r>
              <a:rPr b="0" i="0" u="none" sz="2800"/>
              <a:t>Missing logs or metadata must be added before merge</a:t>
            </a:r>
            <a:endParaRPr sz="2800" b="0" i="0">
              <a:latin typeface="Arial"/>
            </a:endParaRPr>
          </a:p>
          <a:p>
            <a:pPr>
              <a:buNone/>
            </a:pPr>
            <a:r>
              <a:rPr b="0" i="0" u="none" sz="2800"/>
              <a:t>Orphaned artifacts require reconstruction of logs and metadata</a:t>
            </a:r>
            <a:endParaRPr sz="2800" b="0" i="0">
              <a:latin typeface="Arial"/>
            </a:endParaRP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Summary: Why This Matters</a:t>
            </a:r>
          </a:p>
        </p:txBody>
      </p:sp>
      <p:sp>
        <p:nvSpPr>
          <p:cNvPr id="3" name="Content Placeholder 2"/>
          <p:cNvSpPr>
            <a:spLocks noGrp="1"/>
          </p:cNvSpPr>
          <p:nvPr>
            <p:ph idx="1"/>
          </p:nvPr>
        </p:nvSpPr>
        <p:spPr/>
        <p:txBody>
          <a:bodyPr wrap="square">
            <a:normAutofit/>
          </a:bodyPr>
          <a:lstStyle/>
          <a:p>
            <a:pPr>
              <a:buNone/>
            </a:pPr>
            <a:r>
              <a:rPr b="0" i="0" u="none" sz="2800"/>
              <a:t>Enables auditability and trust in AI outputs</a:t>
            </a:r>
            <a:endParaRPr sz="2800" b="0" i="0">
              <a:latin typeface="Arial"/>
            </a:endParaRPr>
          </a:p>
          <a:p>
            <a:pPr>
              <a:buNone/>
            </a:pPr>
            <a:r>
              <a:rPr b="0" i="0" u="none" sz="2800"/>
              <a:t>Protects against orphaned or unverifiable artifacts</a:t>
            </a:r>
            <a:endParaRPr sz="2800" b="0" i="0">
              <a:latin typeface="Arial"/>
            </a:endParaRPr>
          </a:p>
          <a:p>
            <a:pPr>
              <a:buNone/>
            </a:pPr>
            <a:r>
              <a:rPr b="0" i="0" u="none" sz="2800"/>
              <a:t>Supports team collaboration and compliance</a:t>
            </a:r>
            <a:endParaRPr sz="2800" b="0" i="0">
              <a:latin typeface="Arial"/>
            </a:endParaRP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Core Instruction files</a:t>
            </a:r>
          </a:p>
        </p:txBody>
      </p:sp>
      <p:sp>
        <p:nvSpPr>
          <p:cNvPr id="3" name="Content Placeholder 2"/>
          <p:cNvSpPr>
            <a:spLocks noGrp="1"/>
          </p:cNvSpPr>
          <p:nvPr>
            <p:ph idx="1"/>
          </p:nvPr>
        </p:nvSpPr>
        <p:spPr/>
        <p:txBody>
          <a:bodyPr wrap="square">
            <a:normAutofit/>
          </a:bodyPr>
          <a:lstStyle/>
          <a:p>
            <a:pPr>
              <a:buNone/>
            </a:pPr>
            <a:r>
              <a:rPr b="0" i="0" u="none" sz="2800"/>
              <a:t>chatmode-file.instructions.md</a:t>
            </a:r>
            <a:endParaRPr sz="2800" b="0" i="0">
              <a:latin typeface="Arial"/>
            </a:endParaRPr>
          </a:p>
          <a:p>
            <a:pPr>
              <a:buNone/>
            </a:pPr>
            <a:r>
              <a:rPr b="0" i="0" u="none" sz="2800"/>
              <a:t/>
            </a:r>
            <a:endParaRPr sz="2800" b="0" i="0">
              <a:latin typeface="Arial"/>
            </a:endParaRPr>
          </a:p>
          <a:p>
            <a:pPr/>
            <a:r>
              <a:rPr b="0" i="0" u="none" sz="2800"/>
              <a:t>Defines the structure and contents of agents</a:t>
            </a:r>
            <a:endParaRPr sz="2800" b="0" i="0">
              <a:latin typeface="Arial"/>
            </a:endParaRPr>
          </a:p>
          <a:p>
            <a:pPr>
              <a:buNone/>
            </a:pPr>
            <a:r>
              <a:rPr b="0" i="0" u="none" sz="2800"/>
              <a:t>  instruction-files.instructions.md</a:t>
            </a:r>
            <a:endParaRPr sz="2800" b="0" i="0">
              <a:latin typeface="Arial"/>
            </a:endParaRPr>
          </a:p>
          <a:p>
            <a:pPr/>
            <a:r>
              <a:rPr b="0" i="0" u="none" sz="2800"/>
              <a:t>Defines the structure and contents of instruction files</a:t>
            </a:r>
            <a:endParaRPr sz="2800" b="0" i="0">
              <a:latin typeface="Arial"/>
            </a:endParaRPr>
          </a:p>
          <a:p>
            <a:pPr>
              <a:buNone/>
            </a:pPr>
            <a:r>
              <a:rPr b="0" i="0" u="none" sz="2800"/>
              <a:t>  prompt-file.instructions.md</a:t>
            </a:r>
            <a:endParaRPr sz="2800" b="0" i="0">
              <a:latin typeface="Arial"/>
            </a:endParaRPr>
          </a:p>
          <a:p>
            <a:pPr/>
            <a:r>
              <a:rPr b="0" i="0" u="none" sz="2800"/>
              <a:t>Defines the structure and contents of prompts</a:t>
            </a:r>
            <a:endParaRPr sz="2800" b="0" i="0">
              <a:latin typeface="Arial"/>
            </a:endParaRPr>
          </a:p>
          <a:p>
            <a:pPr>
              <a:buNone/>
            </a:pPr>
            <a:r>
              <a:rPr b="0" i="0" u="none" sz="2800"/>
              <a:t>  instruction-prompt-files.instructions.md</a:t>
            </a:r>
            <a:endParaRPr sz="2800" b="0" i="0">
              <a:latin typeface="Arial"/>
            </a:endParaRPr>
          </a:p>
          <a:p>
            <a:pPr/>
            <a:r>
              <a:rPr b="0" i="0" u="none" sz="2800"/>
              <a:t>Defines the structure and contents of prompts the create instruction files</a:t>
            </a:r>
            <a:endParaRPr sz="2800" b="0" i="0">
              <a:latin typeface="Arial"/>
            </a:endParaRP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Create a Prompt File</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Understand prompt structure</a:t>
            </a:r>
            <a:endParaRPr sz="2800" b="0" i="0">
              <a:latin typeface="Arial"/>
            </a:endParaRPr>
          </a:p>
          <a:p>
            <a:pPr>
              <a:buNone/>
            </a:pPr>
            <a:r>
              <a:rPr b="0" i="0" u="none" sz="2800"/>
              <a:t>Practice defining task intent</a:t>
            </a:r>
            <a:endParaRPr sz="2800" b="0" i="0">
              <a:latin typeface="Arial"/>
            </a:endParaRPr>
          </a:p>
          <a:p>
            <a:pPr>
              <a:buNone/>
            </a:pPr>
            <a:r>
              <a:rPr b="0" i="0" u="none" sz="2800"/>
              <a:t>Apply constraints and success criteria</a:t>
            </a:r>
            <a:endParaRPr sz="2800" b="0" i="0">
              <a:latin typeface="Arial"/>
            </a:endParaRPr>
          </a:p>
          <a:p>
            <a:pPr>
              <a:buNone/>
            </a:pPr>
            <a:r>
              <a:rPr b="0" i="0" u="none" sz="2800"/>
              <a:t>Activities</a:t>
            </a:r>
            <a:endParaRPr sz="2800" b="0" i="0">
              <a:latin typeface="Arial"/>
            </a:endParaRPr>
          </a:p>
          <a:p>
            <a:pPr>
              <a:buNone/>
            </a:pPr>
            <a:r>
              <a:rPr b="0" i="0" u="none" sz="2800"/>
              <a:t>Prompt Copilot to create a prompt file that creates an instruction file for evergreen software development</a:t>
            </a:r>
            <a:endParaRPr sz="2800" b="0" i="0">
              <a:latin typeface="Arial"/>
            </a:endParaRPr>
          </a:p>
          <a:p>
            <a:pPr>
              <a:buNone/>
            </a:pPr>
            <a:r>
              <a:rPr b="0" i="0" u="none" sz="2800"/>
              <a:t>Review the prompt</a:t>
            </a:r>
            <a:endParaRPr sz="2800" b="0" i="0">
              <a:latin typeface="Arial"/>
            </a:endParaRPr>
          </a:p>
          <a:p>
            <a:pPr>
              <a:buNone/>
            </a:pPr>
            <a:r>
              <a:rPr b="0" i="0" u="none" sz="2800"/>
              <a:t>Success Criteria</a:t>
            </a:r>
            <a:endParaRPr sz="2800" b="0" i="0">
              <a:latin typeface="Arial"/>
            </a:endParaRPr>
          </a:p>
          <a:p>
            <a:pPr>
              <a:buNone/>
            </a:pPr>
            <a:r>
              <a:rPr b="0" i="0" u="none" sz="2800"/>
              <a:t>Prompt is clear, scoped, and reusable</a:t>
            </a:r>
            <a:endParaRPr sz="2800" b="0" i="0">
              <a:latin typeface="Arial"/>
            </a:endParaRPr>
          </a:p>
          <a:p>
            <a:pPr>
              <a:buNone/>
            </a:pPr>
            <a:r>
              <a:rPr b="0" i="0" u="none" sz="2800"/>
              <a:t>Includes constraints and success criteria</a:t>
            </a:r>
            <a:endParaRPr sz="2800" b="0" i="0">
              <a:latin typeface="Arial"/>
            </a:endParaRPr>
          </a:p>
          <a:p>
            <a:pPr>
              <a:buNone/>
            </a:pPr>
            <a:r>
              <a:rPr b="0" i="0" u="none" sz="2800"/>
              <a:t>Avoids unnecessary context</a:t>
            </a:r>
            <a:endParaRPr sz="2800" b="0" i="0">
              <a:latin typeface="Arial"/>
            </a:endParaRP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Create an Instruction File for Evergreen Development</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Capture evergreen principles</a:t>
            </a:r>
            <a:endParaRPr sz="2800" b="0" i="0">
              <a:latin typeface="Arial"/>
            </a:endParaRPr>
          </a:p>
          <a:p>
            <a:pPr>
              <a:buNone/>
            </a:pPr>
            <a:r>
              <a:rPr b="0" i="0" u="none" sz="2800"/>
              <a:t>Define architectural boundaries</a:t>
            </a:r>
            <a:endParaRPr sz="2800" b="0" i="0">
              <a:latin typeface="Arial"/>
            </a:endParaRPr>
          </a:p>
          <a:p>
            <a:pPr>
              <a:buNone/>
            </a:pPr>
            <a:r>
              <a:rPr b="0" i="0" u="none" sz="2800"/>
              <a:t>Specify modernization rules</a:t>
            </a:r>
            <a:endParaRPr sz="2800" b="0" i="0">
              <a:latin typeface="Arial"/>
            </a:endParaRPr>
          </a:p>
          <a:p>
            <a:pPr>
              <a:buNone/>
            </a:pPr>
            <a:r>
              <a:rPr b="0" i="0" u="none" sz="2800"/>
              <a:t>Activities</a:t>
            </a:r>
            <a:endParaRPr sz="2800" b="0" i="0">
              <a:latin typeface="Arial"/>
            </a:endParaRPr>
          </a:p>
          <a:p>
            <a:pPr>
              <a:buNone/>
            </a:pPr>
            <a:r>
              <a:rPr b="0" i="0" u="none" sz="2800"/>
              <a:t>Submit the Evergreen Instructions prompt</a:t>
            </a:r>
            <a:endParaRPr sz="2800" b="0" i="0">
              <a:latin typeface="Arial"/>
            </a:endParaRPr>
          </a:p>
          <a:p>
            <a:pPr>
              <a:buNone/>
            </a:pPr>
            <a:r>
              <a:rPr b="0" i="0" u="none" sz="2800"/>
              <a:t>Review the instructions</a:t>
            </a:r>
            <a:endParaRPr sz="2800" b="0" i="0">
              <a:latin typeface="Arial"/>
            </a:endParaRPr>
          </a:p>
          <a:p>
            <a:pPr>
              <a:buNone/>
            </a:pPr>
            <a:r>
              <a:rPr b="0" i="0" u="none" sz="2800"/>
              <a:t>Success Criteria</a:t>
            </a:r>
            <a:endParaRPr sz="2800" b="0" i="0">
              <a:latin typeface="Arial"/>
            </a:endParaRPr>
          </a:p>
          <a:p>
            <a:pPr>
              <a:buNone/>
            </a:pPr>
            <a:r>
              <a:rPr b="0" i="0" u="none" sz="2800"/>
              <a:t>Instruction file is stable and reusable</a:t>
            </a:r>
            <a:endParaRPr sz="2800" b="0" i="0">
              <a:latin typeface="Arial"/>
            </a:endParaRPr>
          </a:p>
          <a:p>
            <a:pPr>
              <a:buNone/>
            </a:pPr>
            <a:r>
              <a:rPr b="0" i="0" u="none" sz="2800"/>
              <a:t>Reflects evergreen development values</a:t>
            </a:r>
            <a:endParaRPr sz="2800" b="0" i="0">
              <a:latin typeface="Arial"/>
            </a:endParaRPr>
          </a:p>
          <a:p>
            <a:pPr>
              <a:buNone/>
            </a:pPr>
            <a:r>
              <a:rPr b="0" i="0" u="none" sz="2800"/>
              <a:t>Provides clear guardrails</a:t>
            </a:r>
            <a:endParaRPr sz="2800" b="0" i="0">
              <a:latin typeface="Arial"/>
            </a:endParaRP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Create an Agent</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Define a persona optimized for brownfield work</a:t>
            </a:r>
            <a:endParaRPr sz="2800" b="0" i="0">
              <a:latin typeface="Arial"/>
            </a:endParaRPr>
          </a:p>
          <a:p>
            <a:pPr>
              <a:buNone/>
            </a:pPr>
            <a:r>
              <a:rPr b="0" i="0" u="none" sz="2800"/>
              <a:t>Emphasize safety and incrementalism</a:t>
            </a:r>
            <a:endParaRPr sz="2800" b="0" i="0">
              <a:latin typeface="Arial"/>
            </a:endParaRPr>
          </a:p>
          <a:p>
            <a:pPr>
              <a:buNone/>
            </a:pPr>
            <a:r>
              <a:rPr b="0" i="0" u="none" sz="2800"/>
              <a:t>Encode risk-aware behaviors</a:t>
            </a:r>
            <a:endParaRPr sz="2800" b="0" i="0">
              <a:latin typeface="Arial"/>
            </a:endParaRPr>
          </a:p>
          <a:p>
            <a:pPr>
              <a:buNone/>
            </a:pPr>
            <a:r>
              <a:rPr b="0" i="0" u="none" sz="2800"/>
              <a:t>Activities</a:t>
            </a:r>
            <a:endParaRPr sz="2800" b="0" i="0">
              <a:latin typeface="Arial"/>
            </a:endParaRPr>
          </a:p>
          <a:p>
            <a:pPr>
              <a:buNone/>
            </a:pPr>
            <a:r>
              <a:rPr b="0" i="0" u="none" sz="2800"/>
              <a:t>Draft a Agent that:</a:t>
            </a:r>
            <a:endParaRPr sz="2800" b="0" i="0">
              <a:latin typeface="Arial"/>
            </a:endParaRPr>
          </a:p>
          <a:p>
            <a:pPr>
              <a:buNone/>
            </a:pPr>
            <a:r>
              <a:rPr b="0" i="0" u="none" sz="2800"/>
              <a:t/>
            </a:r>
            <a:endParaRPr sz="2800" b="0" i="0">
              <a:latin typeface="Arial"/>
            </a:endParaRPr>
          </a:p>
          <a:p>
            <a:pPr/>
            <a:r>
              <a:rPr b="0" i="0" u="none" sz="2800"/>
              <a:t>Respects working systems</a:t>
            </a:r>
            <a:endParaRPr sz="2800" b="0" i="0">
              <a:latin typeface="Arial"/>
            </a:endParaRPr>
          </a:p>
          <a:p>
            <a:pPr/>
            <a:r>
              <a:rPr b="0" i="0" u="none" sz="2800"/>
              <a:t>Avoids risky rewrites</a:t>
            </a:r>
            <a:endParaRPr sz="2800" b="0" i="0">
              <a:latin typeface="Arial"/>
            </a:endParaRPr>
          </a:p>
          <a:p>
            <a:pPr/>
            <a:r>
              <a:rPr b="0" i="0" u="none" sz="2800"/>
              <a:t>Surfaces context gaps</a:t>
            </a:r>
            <a:endParaRPr sz="2800" b="0" i="0">
              <a:latin typeface="Arial"/>
            </a:endParaRPr>
          </a:p>
          <a:p>
            <a:pPr/>
            <a:r>
              <a:rPr b="0" i="0" u="none" sz="2800"/>
              <a:t>Encourages incremental changes</a:t>
            </a:r>
            <a:endParaRPr sz="2800" b="0" i="0">
              <a:latin typeface="Arial"/>
            </a:endParaRPr>
          </a:p>
          <a:p>
            <a:pPr>
              <a:buNone/>
            </a:pPr>
            <a:r>
              <a:rPr b="0" i="0" u="none" sz="2800"/>
              <a:t>  Add tone and behavioral guidelines</a:t>
            </a:r>
            <a:endParaRPr sz="2800" b="0" i="0">
              <a:latin typeface="Arial"/>
            </a:endParaRPr>
          </a:p>
          <a:p>
            <a:pPr>
              <a:buNone/>
            </a:pPr>
            <a:r>
              <a:rPr b="0" i="0" u="none" sz="2800"/>
              <a:t>  Add provenance metadata</a:t>
            </a:r>
            <a:endParaRPr sz="2800" b="0" i="0">
              <a:latin typeface="Arial"/>
            </a:endParaRPr>
          </a:p>
          <a:p>
            <a:pPr>
              <a:buNone/>
            </a:pPr>
            <a:r>
              <a:rPr b="0" i="0" u="none" sz="2800"/>
              <a:t>  Success Criteria</a:t>
            </a:r>
            <a:endParaRPr sz="2800" b="0" i="0">
              <a:latin typeface="Arial"/>
            </a:endParaRPr>
          </a:p>
          <a:p>
            <a:pPr>
              <a:buNone/>
            </a:pPr>
            <a:r>
              <a:rPr b="0" i="0" u="none" sz="2800"/>
              <a:t>  Agent behaves like a cautious senior engineer</a:t>
            </a:r>
            <a:endParaRPr sz="2800" b="0" i="0">
              <a:latin typeface="Arial"/>
            </a:endParaRPr>
          </a:p>
          <a:p>
            <a:pPr>
              <a:buNone/>
            </a:pPr>
            <a:r>
              <a:rPr b="0" i="0" u="none" sz="2800"/>
              <a:t>  Encourages safe modernization</a:t>
            </a:r>
            <a:endParaRPr sz="2800" b="0" i="0">
              <a:latin typeface="Arial"/>
            </a:endParaRPr>
          </a:p>
          <a:p>
            <a:pPr>
              <a:buNone/>
            </a:pPr>
            <a:r>
              <a:rPr b="0" i="0" u="none" sz="2800"/>
              <a:t>  Includes clear behavioral rules</a:t>
            </a:r>
            <a:endParaRPr sz="2800" b="0" i="0">
              <a:latin typeface="Arial"/>
            </a:endParaRP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Generate Instruction Files</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Use meta prompts to scale instruction-file creation</a:t>
            </a:r>
            <a:endParaRPr sz="2800" b="0" i="0">
              <a:latin typeface="Arial"/>
            </a:endParaRPr>
          </a:p>
          <a:p>
            <a:pPr>
              <a:buNone/>
            </a:pPr>
            <a:r>
              <a:rPr b="0" i="0" u="none" sz="2800"/>
              <a:t>Capture module-specific rules</a:t>
            </a:r>
            <a:endParaRPr sz="2800" b="0" i="0">
              <a:latin typeface="Arial"/>
            </a:endParaRPr>
          </a:p>
          <a:p>
            <a:pPr>
              <a:buNone/>
            </a:pPr>
            <a:r>
              <a:rPr b="0" i="0" u="none" sz="2800"/>
              <a:t>Encode domain and architectural constraints</a:t>
            </a:r>
            <a:endParaRPr sz="2800" b="0" i="0">
              <a:latin typeface="Arial"/>
            </a:endParaRPr>
          </a:p>
          <a:p>
            <a:pPr>
              <a:buNone/>
            </a:pPr>
            <a:r>
              <a:rPr b="0" i="0" u="none" sz="2800"/>
              <a:t>Activities</a:t>
            </a:r>
            <a:endParaRPr sz="2800" b="0" i="0">
              <a:latin typeface="Arial"/>
            </a:endParaRPr>
          </a:p>
          <a:p>
            <a:pPr>
              <a:buNone/>
            </a:pPr>
            <a:r>
              <a:rPr b="0" i="0" u="none" sz="2800"/>
              <a:t>Prompt Copilot to create instruction files for the standards and conventions of the tech stack</a:t>
            </a:r>
            <a:endParaRPr sz="2800" b="0" i="0">
              <a:latin typeface="Arial"/>
            </a:endParaRPr>
          </a:p>
          <a:p>
            <a:pPr>
              <a:buNone/>
            </a:pPr>
            <a:r>
              <a:rPr b="0" i="0" u="none" sz="2800"/>
              <a:t>Review instructions</a:t>
            </a:r>
            <a:endParaRPr sz="2800" b="0" i="0">
              <a:latin typeface="Arial"/>
            </a:endParaRPr>
          </a:p>
          <a:p>
            <a:pPr>
              <a:buNone/>
            </a:pPr>
            <a:r>
              <a:rPr b="0" i="0" u="none" sz="2800"/>
              <a:t>Success Criteria</a:t>
            </a:r>
            <a:endParaRPr sz="2800" b="0" i="0">
              <a:latin typeface="Arial"/>
            </a:endParaRPr>
          </a:p>
          <a:p>
            <a:pPr>
              <a:buNone/>
            </a:pPr>
            <a:r>
              <a:rPr b="0" i="0" u="none" sz="2800"/>
              <a:t>Instruction files reflect real system constraints</a:t>
            </a:r>
            <a:endParaRPr sz="2800" b="0" i="0">
              <a:latin typeface="Arial"/>
            </a:endParaRPr>
          </a:p>
          <a:p>
            <a:pPr>
              <a:buNone/>
            </a:pPr>
            <a:r>
              <a:rPr b="0" i="0" u="none" sz="2800"/>
              <a:t>Meta prompts produce consistent structure</a:t>
            </a:r>
            <a:endParaRPr sz="2800" b="0" i="0">
              <a:latin typeface="Arial"/>
            </a:endParaRPr>
          </a:p>
          <a:p>
            <a:pPr>
              <a:buNone/>
            </a:pPr>
            <a:r>
              <a:rPr b="0" i="0" u="none" sz="2800"/>
              <a:t>Files are ready for team use</a:t>
            </a:r>
            <a:endParaRPr sz="2800" b="0" i="0">
              <a:latin typeface="Arial"/>
            </a:endParaRP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Context-Related Issues</a:t>
            </a:r>
          </a:p>
        </p:txBody>
      </p:sp>
      <p:sp>
        <p:nvSpPr>
          <p:cNvPr id="3" name="Content Placeholder 2"/>
          <p:cNvSpPr>
            <a:spLocks noGrp="1"/>
          </p:cNvSpPr>
          <p:nvPr>
            <p:ph idx="1"/>
          </p:nvPr>
        </p:nvSpPr>
        <p:spPr/>
        <p:txBody>
          <a:bodyPr wrap="square">
            <a:normAutofit/>
          </a:bodyPr>
          <a:lstStyle/>
          <a:p>
            <a:pPr>
              <a:buNone/>
            </a:pPr>
            <a:r>
              <a:rPr b="0" i="0" u="none" sz="2800"/>
              <a:t>Objectives</a:t>
            </a:r>
            <a:endParaRPr sz="2800" b="0" i="0">
              <a:latin typeface="Arial"/>
            </a:endParaRPr>
          </a:p>
          <a:p>
            <a:pPr>
              <a:buNone/>
            </a:pPr>
            <a:r>
              <a:rPr b="0" i="0" u="none" sz="2800"/>
              <a:t>Identify missing context</a:t>
            </a:r>
            <a:endParaRPr sz="2800" b="0" i="0">
              <a:latin typeface="Arial"/>
            </a:endParaRPr>
          </a:p>
          <a:p>
            <a:pPr>
              <a:buNone/>
            </a:pPr>
            <a:r>
              <a:rPr b="0" i="0" u="none" sz="2800"/>
              <a:t>Detect token overflow risks</a:t>
            </a:r>
            <a:endParaRPr sz="2800" b="0" i="0">
              <a:latin typeface="Arial"/>
            </a:endParaRPr>
          </a:p>
          <a:p>
            <a:pPr>
              <a:buNone/>
            </a:pPr>
            <a:r>
              <a:rPr b="0" i="0" u="none" sz="2800"/>
              <a:t>Improve prompt scoping</a:t>
            </a:r>
            <a:endParaRPr sz="2800" b="0" i="0">
              <a:latin typeface="Arial"/>
            </a:endParaRPr>
          </a:p>
          <a:p>
            <a:pPr>
              <a:buNone/>
            </a:pPr>
            <a:r>
              <a:rPr b="0" i="0" u="none" sz="2800"/>
              <a:t>Activities</a:t>
            </a:r>
            <a:endParaRPr sz="2800" b="0" i="0">
              <a:latin typeface="Arial"/>
            </a:endParaRPr>
          </a:p>
          <a:p>
            <a:pPr>
              <a:buNone/>
            </a:pPr>
            <a:r>
              <a:rPr b="0" i="0" u="none" sz="2800"/>
              <a:t>Copy the check-context.prompt.md file from the AIASD repository</a:t>
            </a:r>
            <a:endParaRPr sz="2800" b="0" i="0">
              <a:latin typeface="Arial"/>
            </a:endParaRPr>
          </a:p>
          <a:p>
            <a:pPr>
              <a:buNone/>
            </a:pPr>
            <a:r>
              <a:rPr b="0" i="0" u="none" sz="2800"/>
              <a:t>Review the prompt</a:t>
            </a:r>
            <a:endParaRPr sz="2800" b="0" i="0">
              <a:latin typeface="Arial"/>
            </a:endParaRPr>
          </a:p>
          <a:p>
            <a:pPr>
              <a:buNone/>
            </a:pPr>
            <a:r>
              <a:rPr b="0" i="0" u="none" sz="2800"/>
              <a:t>Submit the prompt</a:t>
            </a:r>
            <a:endParaRPr sz="2800" b="0" i="0">
              <a:latin typeface="Arial"/>
            </a:endParaRPr>
          </a:p>
          <a:p>
            <a:pPr>
              <a:buNone/>
            </a:pPr>
            <a:r>
              <a:rPr b="0" i="0" u="none" sz="2800"/>
              <a:t>Review the output</a:t>
            </a:r>
            <a:endParaRPr sz="2800" b="0" i="0">
              <a:latin typeface="Arial"/>
            </a:endParaRPr>
          </a:p>
          <a:p>
            <a:pPr>
              <a:buNone/>
            </a:pPr>
            <a:r>
              <a:rPr b="0" i="0" u="none" sz="2800"/>
              <a:t>Success Criteria</a:t>
            </a:r>
            <a:endParaRPr sz="2800" b="0" i="0">
              <a:latin typeface="Arial"/>
            </a:endParaRPr>
          </a:p>
          <a:p>
            <a:pPr>
              <a:buNone/>
            </a:pPr>
            <a:r>
              <a:rPr b="0" i="0" u="none" sz="2800"/>
              <a:t>Correctly identified context gaps</a:t>
            </a:r>
            <a:endParaRPr sz="2800" b="0" i="0">
              <a:latin typeface="Arial"/>
            </a:endParaRP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Instruction Files</a:t>
            </a:r>
          </a:p>
        </p:txBody>
      </p:sp>
      <p:sp>
        <p:nvSpPr>
          <p:cNvPr id="3" name="Subtitle 2"/>
          <p:cNvSpPr>
            <a:spLocks noGrp="1"/>
          </p:cNvSpPr>
          <p:nvPr>
            <p:ph type="subTitle" idx="1"/>
          </p:nvPr>
        </p:nvSpPr>
        <p:spPr/>
        <p:txBody>
          <a:bodyPr wrap="square">
            <a:normAutofit/>
          </a:bodyPr>
          <a:lstStyle/>
          <a:p>
            <a:r>
              <a:t>The .editorconfig for Your AI's Soul</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Persistent AI Behavioral Guidelines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What Are Instruction Files?</a:t>
            </a:r>
          </a:p>
        </p:txBody>
      </p:sp>
      <p:sp>
        <p:nvSpPr>
          <p:cNvPr id="3" name="Content Placeholder 2"/>
          <p:cNvSpPr>
            <a:spLocks noGrp="1"/>
          </p:cNvSpPr>
          <p:nvPr>
            <p:ph idx="1"/>
          </p:nvPr>
        </p:nvSpPr>
        <p:spPr/>
        <p:txBody>
          <a:bodyPr wrap="square">
            <a:normAutofit/>
          </a:bodyPr>
          <a:lstStyle/>
          <a:p>
            <a:pPr>
              <a:buNone/>
            </a:pPr>
            <a:r>
              <a:rPr b="0" i="0" u="none" sz="2800"/>
              <a:t>Definition</a:t>
            </a:r>
            <a:endParaRPr sz="2800" b="0" i="0">
              <a:latin typeface="Arial"/>
            </a:endParaRPr>
          </a:p>
          <a:p>
            <a:pPr>
              <a:buNone/>
            </a:pPr>
            <a:r>
              <a:rPr b="0" i="0" u="none" sz="2800"/>
              <a:t>Persistent configuration files that define AI behavior patterns</a:t>
            </a:r>
            <a:endParaRPr sz="2800" b="0" i="0">
              <a:latin typeface="Arial"/>
            </a:endParaRPr>
          </a:p>
          <a:p>
            <a:pPr>
              <a:buNone/>
            </a:pPr>
            <a:r>
              <a:rPr b="0" i="0" u="none" sz="2800"/>
              <a:t>Applied automatically across multiple interactions</a:t>
            </a:r>
            <a:endParaRPr sz="2800" b="0" i="0">
              <a:latin typeface="Arial"/>
            </a:endParaRPr>
          </a:p>
          <a:p>
            <a:pPr>
              <a:buNone/>
            </a:pPr>
            <a:r>
              <a:rPr b="0" i="0" u="none" sz="2800"/>
              <a:t>Establish consistent working standards and constraints</a:t>
            </a:r>
            <a:endParaRPr sz="2800" b="0" i="0">
              <a:latin typeface="Arial"/>
            </a:endParaRPr>
          </a:p>
          <a:p>
            <a:pPr>
              <a:buNone/>
            </a:pPr>
            <a:r>
              <a:rPr b="0" i="0" u="none" sz="2800"/>
              <a:t>Key Characteristics</a:t>
            </a:r>
            <a:endParaRPr sz="2800" b="0" i="0">
              <a:latin typeface="Arial"/>
            </a:endParaRPr>
          </a:p>
          <a:p>
            <a:pPr>
              <a:buNone/>
            </a:pPr>
            <a:r>
              <a:rPr b="0" i="0" u="none" sz="2800"/>
              <a:t>Scope: Repository-wide or context-specific</a:t>
            </a:r>
            <a:endParaRPr sz="2800" b="0" i="0">
              <a:latin typeface="Arial"/>
            </a:endParaRPr>
          </a:p>
          <a:p>
            <a:pPr>
              <a:buNone/>
            </a:pPr>
            <a:r>
              <a:rPr b="0" i="0" u="none" sz="2800"/>
              <a:t>Persistence: Active across all relevant AI interactions</a:t>
            </a:r>
            <a:endParaRPr sz="2800" b="0" i="0">
              <a:latin typeface="Arial"/>
            </a:endParaRPr>
          </a:p>
          <a:p>
            <a:pPr>
              <a:buNone/>
            </a:pPr>
            <a:r>
              <a:rPr b="0" i="0" u="none" sz="2800"/>
              <a:t>Purpose: Define “how” AI should work, not “what” to do</a:t>
            </a:r>
            <a:endParaRPr sz="2800" b="0" i="0">
              <a:latin typeface="Arial"/>
            </a:endParaRP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Instruction File Structure</a:t>
            </a:r>
          </a:p>
        </p:txBody>
      </p:sp>
      <p:sp>
        <p:nvSpPr>
          <p:cNvPr id="3" name="Content Placeholder 2"/>
          <p:cNvSpPr>
            <a:spLocks noGrp="1"/>
          </p:cNvSpPr>
          <p:nvPr>
            <p:ph idx="1"/>
          </p:nvPr>
        </p:nvSpPr>
        <p:spPr/>
        <p:txBody>
          <a:bodyPr wrap="square">
            <a:normAutofit/>
          </a:bodyPr>
          <a:lstStyle/>
          <a:p>
            <a:endParaRPr sz="1800" b="0" i="0">
              <a:latin typeface="Consolas"/>
            </a:endParaRPr>
          </a:p>
          <a:p>
            <a:pPr>
              <a:buNone/>
            </a:pPr>
            <a:r>
              <a:rPr sz="1800" b="0" i="0">
                <a:latin typeface="Consolas"/>
              </a:rPr>
              <a:t>---</a:t>
            </a:r>
            <a:endParaRPr sz="1800" b="0" i="0">
              <a:latin typeface="Consolas"/>
            </a:endParaRPr>
          </a:p>
          <a:p>
            <a:pPr>
              <a:buNone/>
            </a:pPr>
            <a:r>
              <a:rPr sz="1800" b="0" i="0">
                <a:latin typeface="Consolas"/>
              </a:rPr>
              <a:t>description: Azure best practices for AI development</a:t>
            </a:r>
            <a:endParaRPr sz="1800" b="0" i="0">
              <a:latin typeface="Consolas"/>
            </a:endParaRPr>
          </a:p>
          <a:p>
            <a:pPr>
              <a:buNone/>
            </a:pPr>
            <a:r>
              <a:rPr sz="1800" b="0" i="0">
                <a:latin typeface="Consolas"/>
              </a:rPr>
              <a:t>applyTo: "**" # File pattern scope</a:t>
            </a:r>
            <a:endParaRPr sz="1800" b="0" i="0">
              <a:latin typeface="Consolas"/>
            </a:endParaRPr>
          </a:p>
          <a:p>
            <a:pPr>
              <a:buNone/>
            </a:pPr>
            <a:r>
              <a:rPr sz="1800" b="0" i="0">
                <a:latin typeface="Consolas"/>
              </a:rPr>
              <a:t>---</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 Use Azure Tools when handling Azure requests</a:t>
            </a:r>
            <a:endParaRPr sz="1800" b="0" i="0">
              <a:latin typeface="Consolas"/>
            </a:endParaRPr>
          </a:p>
          <a:p>
            <a:pPr>
              <a:buNone/>
            </a:pPr>
            <a:r>
              <a:rPr sz="1800" b="0" i="0">
                <a:latin typeface="Consolas"/>
              </a:rPr>
              <a:t>- Follow security best practices</a:t>
            </a:r>
            <a:endParaRPr sz="1800" b="0" i="0">
              <a:latin typeface="Consolas"/>
            </a:endParaRPr>
          </a:p>
          <a:p>
            <a:pPr>
              <a:buNone/>
            </a:pPr>
            <a:r>
              <a:rPr sz="1800" b="0" i="0">
                <a:latin typeface="Consolas"/>
              </a:rPr>
              <a:t>- Implement proper error handling</a:t>
            </a:r>
            <a:endParaRPr sz="1800" b="0" i="0">
              <a:latin typeface="Consolas"/>
            </a:endParaRPr>
          </a:p>
          <a:p>
            <a:pPr>
              <a:buNone/>
            </a:pPr>
            <a:r>
              <a:rPr sz="1800" b="0" i="0">
                <a:latin typeface="Consolas"/>
              </a:rPr>
              <a:t>- Generate comprehensive documentation</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 Write tests before implementation</a:t>
            </a:r>
            <a:endParaRPr sz="1800" b="0" i="0">
              <a:latin typeface="Consolas"/>
            </a:endParaRPr>
          </a:p>
          <a:p>
            <a:pPr>
              <a:buNone/>
            </a:pPr>
            <a:r>
              <a:rPr sz="1800" b="0" i="0">
                <a:latin typeface="Consolas"/>
              </a:rPr>
              <a:t>- Use dependency injection patterns</a:t>
            </a:r>
            <a:endParaRPr sz="1800" b="0" i="0">
              <a:latin typeface="Consolas"/>
            </a:endParaRPr>
          </a:p>
          <a:p>
            <a:pPr>
              <a:buNone/>
            </a:pPr>
            <a:r>
              <a:rPr sz="1800" b="0" i="0">
                <a:latin typeface="Consolas"/>
              </a:rPr>
              <a:t>- Follow naming conventions</a:t>
            </a:r>
            <a:endParaRPr sz="1800" b="0" i="0">
              <a:latin typeface="Consolas"/>
            </a:endParaRPr>
          </a:p>
          <a:p>
            <a:pPr>
              <a:buNone/>
            </a:pPr>
            <a:r>
              <a:rPr sz="1800" b="0" i="0">
                <a:latin typeface="Consolas"/>
              </a:rPr>
              <a:t>- Include proper logging</a:t>
            </a:r>
            <a:endParaRPr sz="1800" b="0" i="0">
              <a:latin typeface="Consolas"/>
            </a:endParaRP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Instruction Files: Use Cases</a:t>
            </a:r>
          </a:p>
        </p:txBody>
      </p:sp>
      <p:sp>
        <p:nvSpPr>
          <p:cNvPr id="3" name="Content Placeholder 2"/>
          <p:cNvSpPr>
            <a:spLocks noGrp="1"/>
          </p:cNvSpPr>
          <p:nvPr>
            <p:ph idx="1"/>
          </p:nvPr>
        </p:nvSpPr>
        <p:spPr/>
        <p:txBody>
          <a:bodyPr wrap="square">
            <a:normAutofit/>
          </a:bodyPr>
          <a:lstStyle/>
          <a:p>
            <a:pPr>
              <a:buNone/>
            </a:pPr>
            <a:r>
              <a:rPr b="0" i="0" u="none" sz="2800"/>
              <a:t>Perfect For:</a:t>
            </a:r>
            <a:endParaRPr sz="2800" b="0" i="0">
              <a:latin typeface="Arial"/>
            </a:endParaRPr>
          </a:p>
          <a:p>
            <a:pPr>
              <a:buNone/>
            </a:pPr>
            <a:r>
              <a:rPr b="0" i="0" u="none" sz="2800"/>
              <a:t>Coding Standards → Consistent style across projects</a:t>
            </a:r>
            <a:endParaRPr sz="2800" b="0" i="0">
              <a:latin typeface="Arial"/>
            </a:endParaRPr>
          </a:p>
          <a:p>
            <a:pPr>
              <a:buNone/>
            </a:pPr>
            <a:r>
              <a:rPr b="0" i="0" u="none" sz="2800"/>
              <a:t>Security Policies → Enforce security practices</a:t>
            </a:r>
            <a:endParaRPr sz="2800" b="0" i="0">
              <a:latin typeface="Arial"/>
            </a:endParaRPr>
          </a:p>
          <a:p>
            <a:pPr>
              <a:buNone/>
            </a:pPr>
            <a:r>
              <a:rPr b="0" i="0" u="none" sz="2800"/>
              <a:t>Quality Gates → Define testing and review requirements</a:t>
            </a:r>
            <a:endParaRPr sz="2800" b="0" i="0">
              <a:latin typeface="Arial"/>
            </a:endParaRPr>
          </a:p>
          <a:p>
            <a:pPr>
              <a:buNone/>
            </a:pPr>
            <a:r>
              <a:rPr b="0" i="0" u="none" sz="2800"/>
              <a:t>Technology Constraints → Specify approved frameworks/tools</a:t>
            </a:r>
            <a:endParaRPr sz="2800" b="0" i="0">
              <a:latin typeface="Arial"/>
            </a:endParaRPr>
          </a:p>
          <a:p>
            <a:pPr>
              <a:buNone/>
            </a:pPr>
            <a:r>
              <a:rPr b="0" i="0" u="none" sz="2800"/>
              <a:t>Examples:</a:t>
            </a:r>
            <a:endParaRPr sz="2800" b="0" i="0">
              <a:latin typeface="Arial"/>
            </a:endParaRPr>
          </a:p>
          <a:p>
            <a:pPr>
              <a:buNone/>
            </a:pPr>
            <a:r>
              <a:rPr b="0" i="0" u="none" sz="2800"/>
              <a:t>azure-development.instructions.md</a:t>
            </a:r>
            <a:endParaRPr sz="2800" b="0" i="0">
              <a:latin typeface="Arial"/>
            </a:endParaRPr>
          </a:p>
          <a:p>
            <a:pPr>
              <a:buNone/>
            </a:pPr>
            <a:r>
              <a:rPr b="0" i="0" u="none" sz="2800"/>
              <a:t>testing-standards.instructions.md</a:t>
            </a:r>
            <a:endParaRPr sz="2800" b="0" i="0">
              <a:latin typeface="Arial"/>
            </a:endParaRPr>
          </a:p>
          <a:p>
            <a:pPr>
              <a:buNone/>
            </a:pPr>
            <a:r>
              <a:rPr b="0" i="0" u="none" sz="2800"/>
              <a:t>security-requirements.instructions.md</a:t>
            </a:r>
            <a:endParaRPr sz="2800" b="0" i="0">
              <a:latin typeface="Arial"/>
            </a:endParaRP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Instruction Files Best Practices</a:t>
            </a:r>
          </a:p>
        </p:txBody>
      </p:sp>
      <p:sp>
        <p:nvSpPr>
          <p:cNvPr id="3" name="Content Placeholder 2"/>
          <p:cNvSpPr>
            <a:spLocks noGrp="1"/>
          </p:cNvSpPr>
          <p:nvPr>
            <p:ph idx="1"/>
          </p:nvPr>
        </p:nvSpPr>
        <p:spPr/>
        <p:txBody>
          <a:bodyPr wrap="square">
            <a:normAutofit/>
          </a:bodyPr>
          <a:lstStyle/>
          <a:p>
            <a:pPr>
              <a:buNone/>
            </a:pPr>
            <a:r>
              <a:rPr b="0" i="0" u="none" sz="2800"/>
              <a:t>✅ Do This:</a:t>
            </a:r>
            <a:endParaRPr sz="2800" b="0" i="0">
              <a:latin typeface="Arial"/>
            </a:endParaRPr>
          </a:p>
          <a:p>
            <a:pPr>
              <a:buNone/>
            </a:pPr>
            <a:r>
              <a:rPr b="0" i="0" u="none" sz="2800"/>
              <a:t>Keep instructions clear and actionable</a:t>
            </a:r>
            <a:endParaRPr sz="2800" b="0" i="0">
              <a:latin typeface="Arial"/>
            </a:endParaRPr>
          </a:p>
          <a:p>
            <a:pPr>
              <a:buNone/>
            </a:pPr>
            <a:r>
              <a:rPr b="0" i="0" u="none" sz="2800"/>
              <a:t>Use file patterns (applyTo: '\</a:t>
            </a:r>
            <a:r>
              <a:rPr b="0" i="0" u="none" sz="2800"/>
              <a:t>\</a:t>
            </a:r>
            <a:r>
              <a:rPr b="0" i="0" u="none" sz="2800"/>
              <a:t>') for broad scope</a:t>
            </a:r>
            <a:endParaRPr sz="2800" b="0" i="0">
              <a:latin typeface="Arial"/>
            </a:endParaRPr>
          </a:p>
          <a:p>
            <a:pPr>
              <a:buNone/>
            </a:pPr>
            <a:r>
              <a:rPr b="0" i="0" u="none" sz="2800"/>
              <a:t>Version control and document changes</a:t>
            </a:r>
            <a:endParaRPr sz="2800" b="0" i="0">
              <a:latin typeface="Arial"/>
            </a:endParaRPr>
          </a:p>
          <a:p>
            <a:pPr>
              <a:buNone/>
            </a:pPr>
            <a:r>
              <a:rPr b="0" i="0" u="none" sz="2800"/>
              <a:t>Test instruction effectiveness regularly</a:t>
            </a:r>
            <a:endParaRPr sz="2800" b="0" i="0">
              <a:latin typeface="Arial"/>
            </a:endParaRPr>
          </a:p>
          <a:p>
            <a:pPr>
              <a:buNone/>
            </a:pPr>
            <a:r>
              <a:rPr b="0" i="0" u="none" sz="2800"/>
              <a:t>❌ Avoid This:</a:t>
            </a:r>
            <a:endParaRPr sz="2800" b="0" i="0">
              <a:latin typeface="Arial"/>
            </a:endParaRPr>
          </a:p>
          <a:p>
            <a:pPr>
              <a:buNone/>
            </a:pPr>
            <a:r>
              <a:rPr b="0" i="0" u="none" sz="2800"/>
              <a:t>Overly complex or contradictory rules</a:t>
            </a:r>
            <a:endParaRPr sz="2800" b="0" i="0">
              <a:latin typeface="Arial"/>
            </a:endParaRPr>
          </a:p>
          <a:p>
            <a:pPr>
              <a:buNone/>
            </a:pPr>
            <a:r>
              <a:rPr b="0" i="0" u="none" sz="2800"/>
              <a:t>Too many instructions (cognitive overload)</a:t>
            </a:r>
            <a:endParaRPr sz="2800" b="0" i="0">
              <a:latin typeface="Arial"/>
            </a:endParaRPr>
          </a:p>
          <a:p>
            <a:pPr>
              <a:buNone/>
            </a:pPr>
            <a:r>
              <a:rPr b="0" i="0" u="none" sz="2800"/>
              <a:t>Instructions that conflict with prompt files</a:t>
            </a:r>
            <a:endParaRPr sz="2800" b="0" i="0">
              <a:latin typeface="Arial"/>
            </a:endParaRPr>
          </a:p>
          <a:p>
            <a:pPr>
              <a:buNone/>
            </a:pPr>
            <a:r>
              <a:rPr b="0" i="0" u="none" sz="2800"/>
              <a:t>Hardcoded values instead of parameters</a:t>
            </a:r>
            <a:endParaRPr sz="2800" b="0" i="0">
              <a:latin typeface="Arial"/>
            </a:endParaRP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Right Tool, Right File, Right AI Behavior</a:t>
            </a:r>
          </a:p>
        </p:txBody>
      </p:sp>
      <p:sp>
        <p:nvSpPr>
          <p:cNvPr id="3" name="Content Placeholder 2"/>
          <p:cNvSpPr>
            <a:spLocks noGrp="1"/>
          </p:cNvSpPr>
          <p:nvPr>
            <p:ph idx="1"/>
          </p:nvPr>
        </p:nvSpPr>
        <p:spPr/>
        <p:txBody>
          <a:bodyPr wrap="square">
            <a:normAutofit/>
          </a:bodyPr>
          <a:lstStyle/>
          <a:p>
            <a:pPr/>
            <a:r>
              <a:rPr b="0" i="0" u="none" sz="1800"/>
              <a:t>Apply </a:t>
            </a:r>
            <a:r>
              <a:rPr b="0" i="0" u="none" sz="1800"/>
              <a:t>everywhere</a:t>
            </a:r>
            <a:r>
              <a:rPr b="0" i="0" u="none" sz="1800"/>
              <a:t> in the repo</a:t>
            </a:r>
            <a:endParaRPr sz="1800" b="0" i="0">
              <a:latin typeface="Consolas"/>
            </a:endParaRPr>
          </a:p>
          <a:p>
            <a:pPr/>
            <a:r>
              <a:rPr b="0" i="0" u="none" sz="1800"/>
              <a:t>Always included</a:t>
            </a:r>
            <a:endParaRPr sz="1800" b="0" i="0">
              <a:latin typeface="Consolas"/>
            </a:endParaRPr>
          </a:p>
          <a:p>
            <a:pPr/>
            <a:r>
              <a:rPr b="0" i="0" u="none" sz="1800"/>
              <a:t>For </a:t>
            </a:r>
            <a:r>
              <a:rPr b="0" i="0" u="none" sz="1800"/>
              <a:t>universal rules</a:t>
            </a:r>
            <a:r>
              <a:rPr b="0" i="0" u="none" sz="1800"/>
              <a:t>: style, security, logging, architecture</a:t>
            </a:r>
            <a:endParaRPr sz="1800" b="0" i="0">
              <a:latin typeface="Consolas"/>
            </a:endParaRPr>
          </a:p>
          <a:p>
            <a:pPr/>
            <a:r>
              <a:rPr b="0" i="0" u="none" sz="1800"/>
              <a:t>No </a:t>
            </a:r>
            <a:r>
              <a:rPr b="0" i="0" u="none" sz="1800">
                <a:latin typeface="Consolas"/>
              </a:rPr>
              <a:t>applyTo</a:t>
            </a:r>
            <a:r>
              <a:rPr b="0" i="0" u="none" sz="1800"/>
              <a:t> / </a:t>
            </a:r>
            <a:r>
              <a:rPr b="0" i="0" u="none" sz="1800">
                <a:latin typeface="Consolas"/>
              </a:rPr>
              <a:t>exclude</a:t>
            </a:r>
            <a:r>
              <a:rPr b="0" i="0" u="none" sz="1800"/>
              <a:t> support</a:t>
            </a:r>
            <a:endParaRPr sz="1800" b="0" i="0">
              <a:latin typeface="Consolas"/>
            </a:endParaRPr>
          </a:p>
          <a:p>
            <a:pPr/>
            <a:r>
              <a:rPr b="0" i="0" u="none" sz="1800"/>
              <a:t>Best for </a:t>
            </a:r>
            <a:r>
              <a:rPr b="0" i="0" u="none" sz="1800"/>
              <a:t>global, evergreen guidance</a:t>
            </a:r>
            <a:endParaRPr sz="1800" b="0" i="0">
              <a:latin typeface="Consolas"/>
            </a:endParaRP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**Scoped `&lt;name&gt;.instructions.md` files**</a:t>
            </a:r>
          </a:p>
        </p:txBody>
      </p:sp>
      <p:sp>
        <p:nvSpPr>
          <p:cNvPr id="3" name="Content Placeholder 2"/>
          <p:cNvSpPr>
            <a:spLocks noGrp="1"/>
          </p:cNvSpPr>
          <p:nvPr>
            <p:ph idx="1"/>
          </p:nvPr>
        </p:nvSpPr>
        <p:spPr/>
        <p:txBody>
          <a:bodyPr wrap="square">
            <a:normAutofit/>
          </a:bodyPr>
          <a:lstStyle/>
          <a:p>
            <a:pPr/>
            <a:r>
              <a:rPr b="0" i="0" u="none" sz="1800"/>
              <a:t>Apply </a:t>
            </a:r>
            <a:r>
              <a:rPr b="0" i="0" u="none" sz="1800"/>
              <a:t>only</a:t>
            </a:r>
            <a:r>
              <a:rPr b="0" i="0" u="none" sz="1800"/>
              <a:t> when </a:t>
            </a:r>
            <a:r>
              <a:rPr b="0" i="0" u="none" sz="1800">
                <a:latin typeface="Consolas"/>
              </a:rPr>
              <a:t>applyTo</a:t>
            </a:r>
            <a:r>
              <a:rPr b="0" i="0" u="none" sz="1800"/>
              <a:t> matches</a:t>
            </a:r>
            <a:endParaRPr sz="1800" b="0" i="0">
              <a:latin typeface="Consolas"/>
            </a:endParaRPr>
          </a:p>
          <a:p>
            <a:pPr/>
            <a:r>
              <a:rPr b="0" i="0" u="none" sz="1800"/>
              <a:t>Can </a:t>
            </a:r>
            <a:r>
              <a:rPr b="0" i="0" u="none" sz="1800"/>
              <a:t>exclude</a:t>
            </a:r>
            <a:r>
              <a:rPr b="0" i="0" u="none" sz="1800"/>
              <a:t> paths</a:t>
            </a:r>
            <a:endParaRPr sz="1800" b="0" i="0">
              <a:latin typeface="Consolas"/>
            </a:endParaRPr>
          </a:p>
          <a:p>
            <a:pPr/>
            <a:r>
              <a:rPr b="0" i="0" u="none" sz="1800"/>
              <a:t>For </a:t>
            </a:r>
            <a:r>
              <a:rPr b="0" i="0" u="none" sz="1800"/>
              <a:t>language-, framework-, or domain‑specific rules</a:t>
            </a:r>
            <a:endParaRPr sz="1800" b="0" i="0">
              <a:latin typeface="Consolas"/>
            </a:endParaRPr>
          </a:p>
          <a:p>
            <a:pPr/>
            <a:r>
              <a:rPr b="0" i="0" u="none" sz="1800"/>
              <a:t>Ideal for precision control</a:t>
            </a:r>
            <a:endParaRPr sz="1800" b="0" i="0">
              <a:latin typeface="Consolas"/>
            </a:endParaRPr>
          </a:p>
          <a:p>
            <a:pPr/>
            <a:r>
              <a:rPr b="0" i="0" u="none" sz="1800"/>
              <a:t>Best for </a:t>
            </a:r>
            <a:r>
              <a:rPr b="0" i="0" u="none" sz="1800"/>
              <a:t>targeted, contextual guidance</a:t>
            </a:r>
            <a:endParaRPr sz="1800" b="0" i="0">
              <a:latin typeface="Consolas"/>
            </a:endParaRP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**Decision Rule**</a:t>
            </a:r>
          </a:p>
        </p:txBody>
      </p:sp>
      <p:sp>
        <p:nvSpPr>
          <p:cNvPr id="3" name="Content Placeholder 2"/>
          <p:cNvSpPr>
            <a:spLocks noGrp="1"/>
          </p:cNvSpPr>
          <p:nvPr>
            <p:ph idx="1"/>
          </p:nvPr>
        </p:nvSpPr>
        <p:spPr/>
        <p:txBody>
          <a:bodyPr wrap="square">
            <a:normAutofit/>
          </a:bodyPr>
          <a:lstStyle/>
          <a:p>
            <a:pPr/>
            <a:r>
              <a:rPr b="0" i="0" u="none" sz="1800"/>
              <a:t>If it should apply </a:t>
            </a:r>
            <a:r>
              <a:rPr b="0" i="0" u="none" sz="1800"/>
              <a:t>repo‑wide</a:t>
            </a:r>
            <a:r>
              <a:rPr b="0" i="0" u="none" sz="1800"/>
              <a:t> → use </a:t>
            </a:r>
            <a:r>
              <a:rPr b="0" i="0" u="none" sz="1800">
                <a:latin typeface="Consolas"/>
              </a:rPr>
              <a:t>.md</a:t>
            </a:r>
            <a:endParaRPr sz="1800" b="0" i="0">
              <a:latin typeface="Consolas"/>
            </a:endParaRPr>
          </a:p>
          <a:p>
            <a:pPr/>
            <a:r>
              <a:rPr b="0" i="0" u="none" sz="1800"/>
              <a:t>If it should apply </a:t>
            </a:r>
            <a:r>
              <a:rPr b="0" i="0" u="none" sz="1800"/>
              <a:t>only in certain paths</a:t>
            </a:r>
            <a:r>
              <a:rPr b="0" i="0" u="none" sz="1800"/>
              <a:t> → use </a:t>
            </a:r>
            <a:r>
              <a:rPr b="0" i="0" u="none" sz="1800">
                <a:latin typeface="Consolas"/>
              </a:rPr>
              <a:t>.instructions.md</a:t>
            </a:r>
            <a:endParaRPr sz="1800" b="0" i="0">
              <a:latin typeface="Consolas"/>
            </a:endParaRPr>
          </a:p>
          <a:p>
            <a:pPr/>
            <a:r>
              <a:rPr b="0" i="0" u="none" sz="1800"/>
              <a:t>If you need </a:t>
            </a:r>
            <a:r>
              <a:rPr b="0" i="0" u="none" sz="1800"/>
              <a:t>exclusions</a:t>
            </a:r>
            <a:r>
              <a:rPr b="0" i="0" u="none" sz="1800"/>
              <a:t> → must use </a:t>
            </a:r>
            <a:r>
              <a:rPr b="0" i="0" u="none" sz="1800">
                <a:latin typeface="Consolas"/>
              </a:rPr>
              <a:t>.instructions.md</a:t>
            </a:r>
            <a:endParaRPr sz="1800" b="0" i="0">
              <a:latin typeface="Consolas"/>
            </a:endParaRP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Glob Patterns: The Bouncer at Your AI's Door</a:t>
            </a:r>
          </a:p>
        </p:txBody>
      </p:sp>
      <p:sp>
        <p:nvSpPr>
          <p:cNvPr id="3" name="Content Placeholder 2"/>
          <p:cNvSpPr>
            <a:spLocks noGrp="1"/>
          </p:cNvSpPr>
          <p:nvPr>
            <p:ph idx="1"/>
          </p:nvPr>
        </p:nvSpPr>
        <p:spPr/>
        <p:txBody>
          <a:bodyPr wrap="square">
            <a:normAutofit/>
          </a:bodyPr>
          <a:lstStyle/>
          <a:p>
            <a:pPr>
              <a:buNone/>
            </a:pPr>
            <a:r>
              <a:rPr b="0" i="0" u="none" sz="2800"/>
              <a:t>Understanding Glob Pattern Matching</a:t>
            </a:r>
            <a:endParaRPr sz="2800" b="0" i="0">
              <a:latin typeface="Arial"/>
            </a:endParaRPr>
          </a:p>
          <a:p>
            <a:pPr>
              <a:buNone/>
            </a:pPr>
            <a:r>
              <a:rPr b="0" i="0" u="none" sz="2800"/>
              <a:t/>
            </a:r>
            <a:endParaRPr sz="2800" b="0" i="0">
              <a:latin typeface="Arial"/>
            </a:endParaRPr>
          </a:p>
          <a:p>
            <a:pPr>
              <a:buNone/>
            </a:pPr>
            <a:r>
              <a:rPr b="0" i="0" u="none" sz="2800"/>
              <a:t>Controlling When Instructions Apply to Your Code</a:t>
            </a:r>
            <a:endParaRPr sz="2800" b="0" i="0">
              <a:latin typeface="Arial"/>
            </a:endParaRP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Where `appliesTo` Fits</a:t>
            </a:r>
          </a:p>
        </p:txBody>
      </p:sp>
      <p:sp>
        <p:nvSpPr>
          <p:cNvPr id="3" name="Content Placeholder 2"/>
          <p:cNvSpPr>
            <a:spLocks noGrp="1"/>
          </p:cNvSpPr>
          <p:nvPr>
            <p:ph idx="1" sz="half"/>
          </p:nvPr>
        </p:nvSpPr>
        <p:spPr/>
        <p:txBody>
          <a:bodyPr wrap="square">
            <a:normAutofit/>
          </a:bodyPr>
          <a:lstStyle/>
          <a:p>
            <a:pPr>
              <a:buNone/>
            </a:pPr>
            <a:r>
              <a:rPr b="0" i="0" u="none" sz="1800"/>
              <a:t>The filtering mechanism for instruction files.</a:t>
            </a:r>
            <a:endParaRPr sz="1800" b="0" i="0">
              <a:latin typeface="Consolas"/>
            </a:endParaRPr>
          </a:p>
          <a:p>
            <a:pPr>
              <a:buNone/>
            </a:pPr>
            <a:r>
              <a:rPr b="0" i="0" u="none" sz="1800"/>
              <a:t/>
            </a:r>
            <a:endParaRPr sz="1800" b="0" i="0">
              <a:latin typeface="Consolas"/>
            </a:endParaRPr>
          </a:p>
          <a:p>
            <a:pPr>
              <a:buNone/>
            </a:pPr>
            <a:r>
              <a:rPr b="0" i="0" u="none" sz="1800">
                <a:latin typeface="Consolas"/>
              </a:rPr>
              <a:t>appliesTo</a:t>
            </a:r>
            <a:r>
              <a:rPr b="0" i="0" u="none" sz="1800"/>
              <a:t> is a </a:t>
            </a:r>
            <a:r>
              <a:rPr b="0" i="0" u="none" sz="1800"/>
              <a:t>selector</a:t>
            </a:r>
            <a:r>
              <a:rPr b="0" i="0" u="none" sz="1800"/>
              <a:t> that determines </a:t>
            </a:r>
            <a:r>
              <a:rPr b="0" i="0" u="none" sz="1800"/>
              <a:t>when</a:t>
            </a:r>
            <a:r>
              <a:rPr b="0" i="0" u="none" sz="1800"/>
              <a:t> an instruction file is included in the stack.</a:t>
            </a:r>
            <a:endParaRPr sz="1800" b="0" i="0">
              <a:latin typeface="Consolas"/>
            </a:endParaRPr>
          </a:p>
        </p:txBody>
      </p:sp>
      <p:sp>
        <p:nvSpPr>
          <p:cNvPr id="4" name="Content Placeholder 3"/>
          <p:cNvSpPr>
            <a:spLocks noGrp="1"/>
          </p:cNvSpPr>
          <p:nvPr>
            <p:ph idx="2" sz="half"/>
          </p:nvPr>
        </p:nvSpPr>
        <p:spPr/>
        <p:txBody>
          <a:bodyPr wrap="square">
            <a:normAutofit/>
          </a:bodyPr>
          <a:lstStyle/>
          <a:p>
            <a:pPr>
              <a:buNone/>
            </a:pPr>
            <a:r>
              <a:rPr b="0" i="0" u="none" sz="1800"/>
              <a:t>Common selectors</a:t>
            </a:r>
            <a:endParaRPr sz="1800" b="0" i="0">
              <a:latin typeface="Consolas"/>
            </a:endParaRPr>
          </a:p>
          <a:p>
            <a:pPr>
              <a:buNone/>
            </a:pPr>
            <a:r>
              <a:rPr b="0" i="0" u="none" sz="1800"/>
              <a:t/>
            </a:r>
            <a:endParaRPr sz="1800" b="0" i="0">
              <a:latin typeface="Consolas"/>
            </a:endParaRPr>
          </a:p>
          <a:p>
            <a:pPr/>
            <a:r>
              <a:rPr b="0" i="0" u="none" sz="1800"/>
              <a:t>repositories</a:t>
            </a:r>
            <a:r>
              <a:rPr b="0" i="0" u="none" sz="1800"/>
              <a:t> -- specific repos only</a:t>
            </a:r>
            <a:endParaRPr sz="1800" b="0" i="0">
              <a:latin typeface="Consolas"/>
            </a:endParaRPr>
          </a:p>
          <a:p>
            <a:pPr/>
            <a:r>
              <a:rPr b="0" i="0" u="none" sz="1800"/>
              <a:t>languages</a:t>
            </a:r>
            <a:r>
              <a:rPr b="0" i="0" u="none" sz="1800"/>
              <a:t> -- certain languages only</a:t>
            </a:r>
            <a:endParaRPr sz="1800" b="0" i="0">
              <a:latin typeface="Consolas"/>
            </a:endParaRPr>
          </a:p>
          <a:p>
            <a:pPr/>
            <a:r>
              <a:rPr b="0" i="0" u="none" sz="1800"/>
              <a:t>filePatterns</a:t>
            </a:r>
            <a:r>
              <a:rPr b="0" i="0" u="none" sz="1800"/>
              <a:t> -- specific files only</a:t>
            </a:r>
            <a:endParaRPr sz="1800" b="0" i="0">
              <a:latin typeface="Consolas"/>
            </a:endParaRPr>
          </a:p>
          <a:p>
            <a:pPr/>
            <a:r>
              <a:rPr b="0" i="0" u="none" sz="1800"/>
              <a:t>tools</a:t>
            </a:r>
            <a:r>
              <a:rPr b="0" i="0" u="none" sz="1800"/>
              <a:t> -- certain Copilot features only</a:t>
            </a:r>
            <a:endParaRPr sz="1800" b="0" i="0">
              <a:latin typeface="Consolas"/>
            </a:endParaRPr>
          </a:p>
          <a:p>
            <a:pPr/>
            <a:r>
              <a:rPr b="0" i="0" u="none" sz="1800"/>
              <a:t>scopes</a:t>
            </a:r>
            <a:r>
              <a:rPr b="0" i="0" u="none" sz="1800"/>
              <a:t> -- chat only, editor only, and similar contexts</a:t>
            </a:r>
            <a:endParaRPr sz="1800" b="0" i="0">
              <a:latin typeface="Consolas"/>
            </a:endParaRPr>
          </a:p>
          <a:p>
            <a:pPr>
              <a:buNone/>
            </a:pPr>
            <a:r>
              <a:rPr b="0" i="0" u="none" sz="1800"/>
              <a:t/>
            </a:r>
            <a:endParaRPr sz="1800" b="0" i="0">
              <a:latin typeface="Consolas"/>
            </a:endParaRPr>
          </a:p>
          <a:p>
            <a:pPr>
              <a:buNone/>
            </a:pPr>
            <a:r>
              <a:rPr b="0" i="0" u="none" sz="1800"/>
              <a:t>Speaker Notes:</a:t>
            </a:r>
            <a:r>
              <a:rPr b="0" i="0" u="none" sz="1800"/>
              <a:t> </a:t>
            </a:r>
            <a:r>
              <a:rPr b="0" i="0" u="none" sz="1800">
                <a:latin typeface="Consolas"/>
              </a:rPr>
              <a:t>appliesTo</a:t>
            </a:r>
            <a:r>
              <a:rPr b="0" i="0" u="none" sz="1800"/>
              <a:t> is not a guardrail itself. It's a routing</a:t>
            </a:r>
            <a:endParaRPr sz="1800" b="0" i="0">
              <a:latin typeface="Consolas"/>
            </a:endParaRPr>
          </a:p>
          <a:p>
            <a:pPr>
              <a:buNone/>
            </a:pPr>
            <a:r>
              <a:rPr b="0" i="0" u="none" sz="1800"/>
              <a:t>rule. It prevents irrelevant instructions from polluting the stack and</a:t>
            </a:r>
            <a:endParaRPr sz="1800" b="0" i="0">
              <a:latin typeface="Consolas"/>
            </a:endParaRPr>
          </a:p>
          <a:p>
            <a:pPr>
              <a:buNone/>
            </a:pPr>
            <a:r>
              <a:rPr b="0" i="0" u="none" sz="1800"/>
              <a:t>keeps the assistant focused.</a:t>
            </a:r>
            <a:endParaRPr sz="1800" b="0" i="0">
              <a:latin typeface="Consolas"/>
            </a:endParaRP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How `appliesTo` Interacts with the Stack</a:t>
            </a:r>
          </a:p>
        </p:txBody>
      </p:sp>
      <p:sp>
        <p:nvSpPr>
          <p:cNvPr id="3" name="Content Placeholder 2"/>
          <p:cNvSpPr>
            <a:spLocks noGrp="1"/>
          </p:cNvSpPr>
          <p:nvPr>
            <p:ph idx="1"/>
          </p:nvPr>
        </p:nvSpPr>
        <p:spPr/>
        <p:txBody>
          <a:bodyPr wrap="square">
            <a:normAutofit/>
          </a:bodyPr>
          <a:lstStyle/>
          <a:p>
            <a:pPr>
              <a:buNone/>
            </a:pPr>
            <a:r>
              <a:rPr b="0" i="0" u="none" sz="1800"/>
              <a:t>Filtering happens </a:t>
            </a:r>
            <a:r>
              <a:rPr b="0" i="0" u="none" sz="1800"/>
              <a:t>before</a:t>
            </a:r>
            <a:r>
              <a:rPr b="0" i="0" u="none" sz="1800"/>
              <a:t> merging</a:t>
            </a:r>
            <a:endParaRPr sz="1800" b="0" i="0">
              <a:latin typeface="Consolas"/>
            </a:endParaRPr>
          </a:p>
          <a:p>
            <a:pPr>
              <a:buNone/>
            </a:pPr>
            <a:r>
              <a:rPr b="0" i="0" u="none" sz="1800"/>
              <a:t/>
            </a:r>
            <a:endParaRPr sz="1800" b="0" i="0">
              <a:latin typeface="Consolas"/>
            </a:endParaRPr>
          </a:p>
          <a:p>
            <a:pPr>
              <a:buNone/>
            </a:pPr>
            <a:r>
              <a:rPr b="0" i="0" u="none" sz="1800"/>
              <a:t>1.  Copilot discovers all instruction files in scope</a:t>
            </a:r>
            <a:endParaRPr sz="1800" b="0" i="0">
              <a:latin typeface="Consolas"/>
            </a:endParaRPr>
          </a:p>
          <a:p>
            <a:pPr>
              <a:buNone/>
            </a:pPr>
            <a:r>
              <a:rPr b="0" i="0" u="none" sz="1800"/>
              <a:t>2.  Copilot filters them using </a:t>
            </a:r>
            <a:r>
              <a:rPr b="0" i="0" u="none" sz="1800">
                <a:latin typeface="Consolas"/>
              </a:rPr>
              <a:t>appliesTo</a:t>
            </a:r>
            <a:endParaRPr sz="1800" b="0" i="0">
              <a:latin typeface="Consolas"/>
            </a:endParaRPr>
          </a:p>
          <a:p>
            <a:pPr>
              <a:buNone/>
            </a:pPr>
            <a:r>
              <a:rPr b="0" i="0" u="none" sz="1800"/>
              <a:t>3.  Copilot merges the remaining files into the stack</a:t>
            </a:r>
            <a:endParaRPr sz="1800" b="0" i="0">
              <a:latin typeface="Consolas"/>
            </a:endParaRPr>
          </a:p>
          <a:p>
            <a:pPr>
              <a:buNone/>
            </a:pPr>
            <a:r>
              <a:rPr b="0" i="0" u="none" sz="1800"/>
              <a:t/>
            </a:r>
            <a:endParaRPr sz="1800" b="0" i="0">
              <a:latin typeface="Consolas"/>
            </a:endParaRPr>
          </a:p>
          <a:p>
            <a:pPr>
              <a:buNone/>
            </a:pPr>
            <a:r>
              <a:rPr b="0" i="0" u="none" sz="1800"/>
              <a:t>Speaker Notes:</a:t>
            </a:r>
            <a:r>
              <a:rPr b="0" i="0" u="none" sz="1800"/>
              <a:t> This means you can have many instruction files in</a:t>
            </a:r>
            <a:endParaRPr sz="1800" b="0" i="0">
              <a:latin typeface="Consolas"/>
            </a:endParaRPr>
          </a:p>
          <a:p>
            <a:pPr>
              <a:buNone/>
            </a:pPr>
            <a:r>
              <a:rPr b="0" i="0" u="none" sz="1800">
                <a:latin typeface="Consolas"/>
              </a:rPr>
              <a:t>.github/instructions/</a:t>
            </a:r>
            <a:r>
              <a:rPr b="0" i="0" u="none" sz="1800"/>
              <a:t>, but only the ones whose </a:t>
            </a:r>
            <a:r>
              <a:rPr b="0" i="0" u="none" sz="1800">
                <a:latin typeface="Consolas"/>
              </a:rPr>
              <a:t>appliesTo</a:t>
            </a:r>
            <a:r>
              <a:rPr b="0" i="0" u="none" sz="1800"/>
              <a:t> match the</a:t>
            </a:r>
            <a:endParaRPr sz="1800" b="0" i="0">
              <a:latin typeface="Consolas"/>
            </a:endParaRPr>
          </a:p>
          <a:p>
            <a:pPr>
              <a:buNone/>
            </a:pPr>
            <a:r>
              <a:rPr b="0" i="0" u="none" sz="1800"/>
              <a:t>current context will be included.</a:t>
            </a:r>
            <a:endParaRPr sz="1800" b="0" i="0">
              <a:latin typeface="Consolas"/>
            </a:endParaRP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 What is `applyTo`?</a:t>
            </a:r>
          </a:p>
        </p:txBody>
      </p:sp>
      <p:sp>
        <p:nvSpPr>
          <p:cNvPr id="3" name="Content Placeholder 2"/>
          <p:cNvSpPr>
            <a:spLocks noGrp="1"/>
          </p:cNvSpPr>
          <p:nvPr>
            <p:ph idx="1"/>
          </p:nvPr>
        </p:nvSpPr>
        <p:spPr/>
        <p:txBody>
          <a:bodyPr wrap="square">
            <a:normAutofit/>
          </a:bodyPr>
          <a:lstStyle/>
          <a:p>
            <a:pPr>
              <a:buNone/>
            </a:pPr>
            <a:r>
              <a:rPr b="0" i="0" u="none" sz="1800"/>
              <a:t>The </a:t>
            </a:r>
            <a:r>
              <a:rPr b="0" i="0" u="none" sz="1800">
                <a:latin typeface="Consolas"/>
              </a:rPr>
              <a:t>applyTo</a:t>
            </a:r>
            <a:r>
              <a:rPr b="0" i="0" u="none" sz="1800"/>
              <a:t> field in instruction file front matter controls </a:t>
            </a:r>
            <a:r>
              <a:rPr b="0" i="0" u="none" sz="1800"/>
              <a:t>which files</a:t>
            </a:r>
            <a:r>
              <a:rPr b="0" i="0" u="none" sz="1800"/>
              <a:t> the instructions apply to.</a:t>
            </a:r>
            <a:endParaRPr sz="1800" b="0" i="0">
              <a:latin typeface="Consolas"/>
            </a:endParaRPr>
          </a:p>
          <a:p>
            <a:pPr>
              <a:buNone/>
            </a:pPr>
            <a:r>
              <a:rPr b="0" i="0" u="none" sz="1800"/>
              <a:t/>
            </a:r>
            <a:endParaRPr sz="1800" b="0" i="0">
              <a:latin typeface="Consolas"/>
            </a:endParaRPr>
          </a:p>
          <a:p>
            <a:pPr>
              <a:buNone/>
            </a:pPr>
            <a:r>
              <a:rPr sz="1800" b="0" i="0">
                <a:latin typeface="Consolas"/>
              </a:rPr>
              <a:t>---</a:t>
            </a:r>
            <a:endParaRPr sz="1800" b="0" i="0">
              <a:latin typeface="Consolas"/>
            </a:endParaRPr>
          </a:p>
          <a:p>
            <a:pPr>
              <a:buNone/>
            </a:pPr>
            <a:r>
              <a:rPr sz="1800" b="0" i="0">
                <a:latin typeface="Consolas"/>
              </a:rPr>
              <a:t>applyTo: "**/*.md" # Applies to all Markdown files</a:t>
            </a:r>
            <a:endParaRPr sz="1800" b="0" i="0">
              <a:latin typeface="Consolas"/>
            </a:endParaRPr>
          </a:p>
          <a:p>
            <a:pPr>
              <a:buNone/>
            </a:pPr>
            <a:r>
              <a:rPr sz="1800" b="0" i="0">
                <a:latin typeface="Consolas"/>
              </a:rPr>
              <a:t>---</a:t>
            </a:r>
            <a:endParaRPr sz="1800" b="0" i="0">
              <a:latin typeface="Consolas"/>
            </a:endParaRPr>
          </a:p>
          <a:p>
            <a:pPr>
              <a:buNone/>
            </a:pPr>
            <a:r>
              <a:rPr b="0" i="0" u="none" sz="1800"/>
              <a:t/>
            </a:r>
            <a:endParaRPr sz="1800" b="0" i="0">
              <a:latin typeface="Consolas"/>
            </a:endParaRPr>
          </a:p>
          <a:p>
            <a:pPr>
              <a:buNone/>
            </a:pPr>
            <a:r>
              <a:rPr b="0" i="0" u="none" sz="1800"/>
              <a:t>Why It Matters:</a:t>
            </a:r>
            <a:endParaRPr sz="1800" b="0" i="0">
              <a:latin typeface="Consolas"/>
            </a:endParaRPr>
          </a:p>
          <a:p>
            <a:pPr>
              <a:buNone/>
            </a:pPr>
            <a:r>
              <a:rPr b="0" i="0" u="none" sz="1800"/>
              <a:t/>
            </a:r>
            <a:endParaRPr sz="1800" b="0" i="0">
              <a:latin typeface="Consolas"/>
            </a:endParaRPr>
          </a:p>
          <a:p>
            <a:pPr/>
            <a:r>
              <a:rPr b="0" i="0" u="none" sz="1800"/>
              <a:t>✅ Apply architecture patterns only to code files</a:t>
            </a:r>
            <a:endParaRPr sz="1800" b="0" i="0">
              <a:latin typeface="Consolas"/>
            </a:endParaRPr>
          </a:p>
          <a:p>
            <a:pPr/>
            <a:r>
              <a:rPr b="0" i="0" u="none" sz="1800"/>
              <a:t>✅ Apply documentation standards only to docs</a:t>
            </a:r>
            <a:endParaRPr sz="1800" b="0" i="0">
              <a:latin typeface="Consolas"/>
            </a:endParaRPr>
          </a:p>
          <a:p>
            <a:pPr/>
            <a:r>
              <a:rPr b="0" i="0" u="none" sz="1800"/>
              <a:t>✅ Avoid conflicting instructions</a:t>
            </a:r>
            <a:endParaRPr sz="1800" b="0" i="0">
              <a:latin typeface="Consolas"/>
            </a:endParaRPr>
          </a:p>
          <a:p>
            <a:pPr/>
            <a:r>
              <a:rPr b="0" i="0" u="none" sz="1800"/>
              <a:t>✅ Improve Copilot performance by reducing context</a:t>
            </a:r>
            <a:endParaRPr sz="1800" b="0" i="0">
              <a:latin typeface="Consolas"/>
            </a:endParaRP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 Universal Application</a:t>
            </a:r>
          </a:p>
        </p:txBody>
      </p:sp>
      <p:sp>
        <p:nvSpPr>
          <p:cNvPr id="3" name="Content Placeholder 2"/>
          <p:cNvSpPr>
            <a:spLocks noGrp="1"/>
          </p:cNvSpPr>
          <p:nvPr>
            <p:ph idx="1"/>
          </p:nvPr>
        </p:nvSpPr>
        <p:spPr/>
        <p:txBody>
          <a:bodyPr wrap="square">
            <a:normAutofit/>
          </a:bodyPr>
          <a:lstStyle/>
          <a:p>
            <a:pPr>
              <a:buNone/>
            </a:pPr>
            <a:r>
              <a:rPr b="0" i="0" u="none" sz="1800"/>
              <a:t>Apply instructions to </a:t>
            </a:r>
            <a:r>
              <a:rPr b="0" i="0" u="none" sz="1800"/>
              <a:t>all files</a:t>
            </a:r>
            <a:r>
              <a:rPr b="0" i="0" u="none" sz="1800"/>
              <a:t> in the repository:</a:t>
            </a:r>
            <a:endParaRPr sz="1800" b="0" i="0">
              <a:latin typeface="Consolas"/>
            </a:endParaRPr>
          </a:p>
          <a:p>
            <a:pPr>
              <a:buNone/>
            </a:pPr>
            <a:r>
              <a:rPr b="0" i="0" u="none" sz="1800"/>
              <a:t/>
            </a:r>
            <a:endParaRPr sz="1800" b="0" i="0">
              <a:latin typeface="Consolas"/>
            </a:endParaRPr>
          </a:p>
          <a:p>
            <a:pPr>
              <a:buNone/>
            </a:pPr>
            <a:r>
              <a:rPr sz="1800" b="0" i="0">
                <a:latin typeface="Consolas"/>
              </a:rPr>
              <a:t>applyTo: "**"        # All files</a:t>
            </a:r>
            <a:endParaRPr sz="1800" b="0" i="0">
              <a:latin typeface="Consolas"/>
            </a:endParaRPr>
          </a:p>
          <a:p>
            <a:pPr>
              <a:buNone/>
            </a:pPr>
            <a:r>
              <a:rPr sz="1800" b="0" i="0">
                <a:latin typeface="Consolas"/>
              </a:rPr>
              <a:t>applyTo: "**/*"      # All files (explicit)</a:t>
            </a:r>
            <a:endParaRPr sz="1800" b="0" i="0">
              <a:latin typeface="Consolas"/>
            </a:endParaRPr>
          </a:p>
          <a:p>
            <a:pPr>
              <a:buNone/>
            </a:pPr>
            <a:r>
              <a:rPr b="0" i="0" u="none" sz="1800"/>
              <a:t/>
            </a:r>
            <a:endParaRPr sz="1800" b="0" i="0">
              <a:latin typeface="Consolas"/>
            </a:endParaRPr>
          </a:p>
          <a:p>
            <a:pPr>
              <a:buNone/>
            </a:pPr>
            <a:r>
              <a:rPr b="0" i="0" u="none" sz="1800"/>
              <a:t>Use Cases:</a:t>
            </a:r>
            <a:endParaRPr sz="1800" b="0" i="0">
              <a:latin typeface="Consolas"/>
            </a:endParaRPr>
          </a:p>
          <a:p>
            <a:pPr>
              <a:buNone/>
            </a:pPr>
            <a:r>
              <a:rPr b="0" i="0" u="none" sz="1800"/>
              <a:t/>
            </a:r>
            <a:endParaRPr sz="1800" b="0" i="0">
              <a:latin typeface="Consolas"/>
            </a:endParaRPr>
          </a:p>
          <a:p>
            <a:pPr/>
            <a:r>
              <a:rPr b="0" i="0" u="none" sz="1800"/>
              <a:t>AI-assisted output policies</a:t>
            </a:r>
            <a:endParaRPr sz="1800" b="0" i="0">
              <a:latin typeface="Consolas"/>
            </a:endParaRPr>
          </a:p>
          <a:p>
            <a:pPr/>
            <a:r>
              <a:rPr b="0" i="0" u="none" sz="1800"/>
              <a:t>General code quality standards</a:t>
            </a:r>
            <a:endParaRPr sz="1800" b="0" i="0">
              <a:latin typeface="Consolas"/>
            </a:endParaRPr>
          </a:p>
          <a:p>
            <a:pPr/>
            <a:r>
              <a:rPr b="0" i="0" u="none" sz="1800"/>
              <a:t>Repository-wide conventions</a:t>
            </a:r>
            <a:endParaRPr sz="1800" b="0" i="0">
              <a:latin typeface="Consolas"/>
            </a:endParaRPr>
          </a:p>
          <a:p>
            <a:pPr/>
            <a:r>
              <a:rPr b="0" i="0" u="none" sz="1800"/>
              <a:t>Copilot behavior guidelines</a:t>
            </a:r>
            <a:endParaRPr sz="1800" b="0" i="0">
              <a:latin typeface="Consolas"/>
            </a:endParaRPr>
          </a:p>
          <a:p>
            <a:pPr>
              <a:buNone/>
            </a:pPr>
            <a:r>
              <a:rPr b="0" i="0" u="none" sz="1800"/>
              <a:t/>
            </a:r>
            <a:endParaRPr sz="1800" b="0" i="0">
              <a:latin typeface="Consolas"/>
            </a:endParaRPr>
          </a:p>
          <a:p>
            <a:pPr>
              <a:buNone/>
            </a:pPr>
            <a:r>
              <a:rPr b="0" i="0" u="none" sz="1800"/>
              <a:t>⚠️ Caution:</a:t>
            </a:r>
            <a:r>
              <a:rPr b="0" i="0" u="none" sz="1800"/>
              <a:t> Use sparingly - can create conflicts with more specific instructions</a:t>
            </a:r>
            <a:endParaRPr sz="1800" b="0" i="0">
              <a:latin typeface="Consolas"/>
            </a:endParaRP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 File Extension Matching</a:t>
            </a:r>
          </a:p>
        </p:txBody>
      </p:sp>
      <p:sp>
        <p:nvSpPr>
          <p:cNvPr id="3" name="Content Placeholder 2"/>
          <p:cNvSpPr>
            <a:spLocks noGrp="1"/>
          </p:cNvSpPr>
          <p:nvPr>
            <p:ph idx="1"/>
          </p:nvPr>
        </p:nvSpPr>
        <p:spPr/>
        <p:txBody>
          <a:bodyPr wrap="square">
            <a:normAutofit/>
          </a:bodyPr>
          <a:lstStyle/>
          <a:p>
            <a:pPr>
              <a:buNone/>
            </a:pPr>
            <a:r>
              <a:rPr b="0" i="0" u="none" sz="1800"/>
              <a:t>Target specific file types using extension patterns:</a:t>
            </a:r>
            <a:endParaRPr sz="1800" b="0" i="0">
              <a:latin typeface="Consolas"/>
            </a:endParaRPr>
          </a:p>
          <a:p>
            <a:pPr>
              <a:buNone/>
            </a:pPr>
            <a:r>
              <a:rPr b="0" i="0" u="none" sz="1800"/>
              <a:t/>
            </a:r>
            <a:endParaRPr sz="1800" b="0" i="0">
              <a:latin typeface="Consolas"/>
            </a:endParaRPr>
          </a:p>
          <a:p>
            <a:pPr>
              <a:buNone/>
            </a:pPr>
            <a:r>
              <a:rPr sz="1800" b="0" i="0">
                <a:latin typeface="Consolas"/>
              </a:rPr>
              <a:t>applyTo: "**/*.md"</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applyTo: "**/*.{cs,ts,js}"</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applyTo: "**/*.instructions.md"</a:t>
            </a:r>
            <a:endParaRPr sz="1800" b="0" i="0">
              <a:latin typeface="Consolas"/>
            </a:endParaRPr>
          </a:p>
          <a:p>
            <a:pPr>
              <a:buNone/>
            </a:pPr>
            <a:r>
              <a:rPr b="0" i="0" u="none" sz="1800"/>
              <a:t/>
            </a:r>
            <a:endParaRPr sz="1800" b="0" i="0">
              <a:latin typeface="Consolas"/>
            </a:endParaRPr>
          </a:p>
          <a:p>
            <a:pPr>
              <a:buNone/>
            </a:pPr>
            <a:r>
              <a:rPr b="0" i="0" u="none" sz="1800"/>
              <a:t>Most Common:</a:t>
            </a:r>
            <a:endParaRPr sz="1800" b="0" i="0">
              <a:latin typeface="Consolas"/>
            </a:endParaRPr>
          </a:p>
          <a:p>
            <a:pPr>
              <a:buNone/>
            </a:pPr>
            <a:r>
              <a:rPr b="0" i="0" u="none" sz="1800"/>
              <a:t/>
            </a:r>
            <a:endParaRPr sz="1800" b="0" i="0">
              <a:latin typeface="Consolas"/>
            </a:endParaRPr>
          </a:p>
          <a:p>
            <a:pPr/>
            <a:r>
              <a:rPr b="0" i="0" u="none" sz="1800">
                <a:latin typeface="Consolas"/>
              </a:rPr>
              <a:t>**/*.md</a:t>
            </a:r>
            <a:r>
              <a:rPr b="0" i="0" u="none" sz="1800"/>
              <a:t> - All Markdown files</a:t>
            </a:r>
            <a:endParaRPr sz="1800" b="0" i="0">
              <a:latin typeface="Consolas"/>
            </a:endParaRPr>
          </a:p>
          <a:p>
            <a:pPr/>
            <a:r>
              <a:rPr b="0" i="0" u="none" sz="1800">
                <a:latin typeface="Consolas"/>
              </a:rPr>
              <a:t>**/*.{cs,ts,js,py}</a:t>
            </a:r>
            <a:r>
              <a:rPr b="0" i="0" u="none" sz="1800"/>
              <a:t> - Multiple programming languages</a:t>
            </a:r>
            <a:endParaRPr sz="1800" b="0" i="0">
              <a:latin typeface="Consolas"/>
            </a:endParaRPr>
          </a:p>
          <a:p>
            <a:pPr/>
            <a:r>
              <a:rPr b="0" i="0" u="none" sz="1800">
                <a:latin typeface="Consolas"/>
              </a:rPr>
              <a:t>**/*.test.js</a:t>
            </a:r>
            <a:r>
              <a:rPr b="0" i="0" u="none" sz="1800"/>
              <a:t> - Test files</a:t>
            </a:r>
            <a:endParaRPr sz="1800" b="0" i="0">
              <a:latin typeface="Consolas"/>
            </a:endParaRPr>
          </a:p>
          <a:p>
            <a:pPr/>
            <a:r>
              <a:rPr b="0" i="0" u="none" sz="1800">
                <a:latin typeface="Consolas"/>
              </a:rPr>
              <a:t>**/*.instructions.md</a:t>
            </a:r>
            <a:r>
              <a:rPr b="0" i="0" u="none" sz="1800"/>
              <a:t> - Instruction files</a:t>
            </a:r>
            <a:endParaRPr sz="1800" b="0" i="0">
              <a:latin typeface="Consolas"/>
            </a:endParaRP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 Directory-Specific Patterns</a:t>
            </a:r>
          </a:p>
        </p:txBody>
      </p:sp>
      <p:sp>
        <p:nvSpPr>
          <p:cNvPr id="3" name="Content Placeholder 2"/>
          <p:cNvSpPr>
            <a:spLocks noGrp="1"/>
          </p:cNvSpPr>
          <p:nvPr>
            <p:ph idx="1"/>
          </p:nvPr>
        </p:nvSpPr>
        <p:spPr/>
        <p:txBody>
          <a:bodyPr wrap="square">
            <a:normAutofit/>
          </a:bodyPr>
          <a:lstStyle/>
          <a:p>
            <a:pPr>
              <a:buNone/>
            </a:pPr>
            <a:r>
              <a:rPr b="0" i="0" u="none" sz="1800"/>
              <a:t>Limit instructions to specific directories:</a:t>
            </a:r>
            <a:endParaRPr sz="1800" b="0" i="0">
              <a:latin typeface="Consolas"/>
            </a:endParaRPr>
          </a:p>
          <a:p>
            <a:pPr>
              <a:buNone/>
            </a:pPr>
            <a:r>
              <a:rPr b="0" i="0" u="none" sz="1800"/>
              <a:t/>
            </a:r>
            <a:endParaRPr sz="1800" b="0" i="0">
              <a:latin typeface="Consolas"/>
            </a:endParaRPr>
          </a:p>
          <a:p>
            <a:pPr>
              <a:buNone/>
            </a:pPr>
            <a:r>
              <a:rPr sz="1800" b="0" i="0">
                <a:latin typeface="Consolas"/>
              </a:rPr>
              <a:t>applyTo: "slides/marp/**"</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applyTo: "src/Features/**/*.cs"</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applyTo: ".github/instructions/**/*.md"</a:t>
            </a:r>
            <a:endParaRPr sz="1800" b="0" i="0">
              <a:latin typeface="Consolas"/>
            </a:endParaRPr>
          </a:p>
          <a:p>
            <a:pPr>
              <a:buNone/>
            </a:pPr>
            <a:r>
              <a:rPr b="0" i="0" u="none" sz="1800"/>
              <a:t/>
            </a:r>
            <a:endParaRPr sz="1800" b="0" i="0">
              <a:latin typeface="Consolas"/>
            </a:endParaRPr>
          </a:p>
          <a:p>
            <a:pPr>
              <a:buNone/>
            </a:pPr>
            <a:r>
              <a:rPr b="0" i="0" u="none" sz="1800"/>
              <a:t>Benefits:</a:t>
            </a:r>
            <a:endParaRPr sz="1800" b="0" i="0">
              <a:latin typeface="Consolas"/>
            </a:endParaRPr>
          </a:p>
          <a:p>
            <a:pPr>
              <a:buNone/>
            </a:pPr>
            <a:r>
              <a:rPr b="0" i="0" u="none" sz="1800"/>
              <a:t/>
            </a:r>
            <a:endParaRPr sz="1800" b="0" i="0">
              <a:latin typeface="Consolas"/>
            </a:endParaRPr>
          </a:p>
          <a:p>
            <a:pPr/>
            <a:r>
              <a:rPr b="0" i="0" u="none" sz="1800"/>
              <a:t>Isolate concerns (slides vs code vs docs)</a:t>
            </a:r>
            <a:endParaRPr sz="1800" b="0" i="0">
              <a:latin typeface="Consolas"/>
            </a:endParaRPr>
          </a:p>
          <a:p>
            <a:pPr/>
            <a:r>
              <a:rPr b="0" i="0" u="none" sz="1800"/>
              <a:t>Different rules for different project areas</a:t>
            </a:r>
            <a:endParaRPr sz="1800" b="0" i="0">
              <a:latin typeface="Consolas"/>
            </a:endParaRPr>
          </a:p>
          <a:p>
            <a:pPr/>
            <a:r>
              <a:rPr b="0" i="0" u="none" sz="1800"/>
              <a:t>Clearer instruction purpose</a:t>
            </a:r>
            <a:endParaRPr sz="1800" b="0" i="0">
              <a:latin typeface="Consolas"/>
            </a:endParaRP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 Glob Pattern Syntax</a:t>
            </a:r>
          </a:p>
        </p:txBody>
      </p:sp>
      <p:sp>
        <p:nvSpPr>
          <p:cNvPr id="3" name="Content Placeholder 2"/>
          <p:cNvSpPr>
            <a:spLocks noGrp="1"/>
          </p:cNvSpPr>
          <p:nvPr>
            <p:ph idx="1" sz="half"/>
          </p:nvPr>
        </p:nvSpPr>
        <p:spPr/>
        <p:txBody>
          <a:bodyPr wrap="square">
            <a:normAutofit/>
          </a:bodyPr>
          <a:lstStyle/>
          <a:p>
            <a:pPr>
              <a:buNone/>
            </a:pPr>
            <a:r>
              <a:rPr b="0" i="0" u="none" sz="1800"/>
              <a:t>Core wildcards</a:t>
            </a:r>
            <a:endParaRPr sz="1800" b="0" i="0">
              <a:latin typeface="Consolas"/>
            </a:endParaRPr>
          </a:p>
          <a:p>
            <a:pPr>
              <a:buNone/>
            </a:pPr>
            <a:r>
              <a:rPr b="0" i="0" u="none" sz="1800"/>
              <a:t/>
            </a:r>
            <a:endParaRPr sz="1800" b="0" i="0">
              <a:latin typeface="Consolas"/>
            </a:endParaRPr>
          </a:p>
          <a:p>
            <a:pPr/>
            <a:r>
              <a:rPr b="0" i="0" u="none" sz="1800">
                <a:latin typeface="Consolas"/>
              </a:rPr>
              <a:t>*</a:t>
            </a:r>
            <a:r>
              <a:rPr b="0" i="0" u="none" sz="1800"/>
              <a:t> -- any characters except </a:t>
            </a:r>
            <a:r>
              <a:rPr b="0" i="0" u="none" sz="1800">
                <a:latin typeface="Consolas"/>
              </a:rPr>
              <a:t>/</a:t>
            </a:r>
            <a:endParaRPr sz="1800" b="0" i="0">
              <a:latin typeface="Consolas"/>
            </a:endParaRPr>
          </a:p>
          <a:p>
            <a:pPr/>
            <a:r>
              <a:rPr b="0" i="0" u="none" sz="1800">
                <a:latin typeface="Consolas"/>
              </a:rPr>
              <a:t>**</a:t>
            </a:r>
            <a:r>
              <a:rPr b="0" i="0" u="none" sz="1800"/>
              <a:t> -- zero or more directory levels</a:t>
            </a:r>
            <a:endParaRPr sz="1800" b="0" i="0">
              <a:latin typeface="Consolas"/>
            </a:endParaRPr>
          </a:p>
          <a:p>
            <a:pPr/>
            <a:r>
              <a:rPr b="0" i="0" u="none" sz="1800">
                <a:latin typeface="Consolas"/>
              </a:rPr>
              <a:t>?</a:t>
            </a:r>
            <a:r>
              <a:rPr b="0" i="0" u="none" sz="1800"/>
              <a:t> -- exactly one character</a:t>
            </a:r>
            <a:endParaRPr sz="1800" b="0" i="0">
              <a:latin typeface="Consolas"/>
            </a:endParaRPr>
          </a:p>
        </p:txBody>
      </p:sp>
      <p:sp>
        <p:nvSpPr>
          <p:cNvPr id="4" name="Content Placeholder 3"/>
          <p:cNvSpPr>
            <a:spLocks noGrp="1"/>
          </p:cNvSpPr>
          <p:nvPr>
            <p:ph idx="2" sz="half"/>
          </p:nvPr>
        </p:nvSpPr>
        <p:spPr/>
        <p:txBody>
          <a:bodyPr wrap="square">
            <a:normAutofit/>
          </a:bodyPr>
          <a:lstStyle/>
          <a:p>
            <a:pPr>
              <a:buNone/>
            </a:pPr>
            <a:r>
              <a:rPr b="0" i="0" u="none" sz="1800"/>
              <a:t>Pattern sets</a:t>
            </a:r>
            <a:endParaRPr sz="1800" b="0" i="0">
              <a:latin typeface="Consolas"/>
            </a:endParaRPr>
          </a:p>
          <a:p>
            <a:pPr>
              <a:buNone/>
            </a:pPr>
            <a:r>
              <a:rPr b="0" i="0" u="none" sz="1800"/>
              <a:t/>
            </a:r>
            <a:endParaRPr sz="1800" b="0" i="0">
              <a:latin typeface="Consolas"/>
            </a:endParaRPr>
          </a:p>
          <a:p>
            <a:pPr/>
            <a:r>
              <a:rPr b="0" i="0" u="none" sz="1800">
                <a:latin typeface="Consolas"/>
              </a:rPr>
              <a:t>[abc]</a:t>
            </a:r>
            <a:r>
              <a:rPr b="0" i="0" u="none" sz="1800"/>
              <a:t> -- one character from a set</a:t>
            </a:r>
            <a:endParaRPr sz="1800" b="0" i="0">
              <a:latin typeface="Consolas"/>
            </a:endParaRPr>
          </a:p>
          <a:p>
            <a:pPr/>
            <a:r>
              <a:rPr b="0" i="0" u="none" sz="1800">
                <a:latin typeface="Consolas"/>
              </a:rPr>
              <a:t>[a-z]</a:t>
            </a:r>
            <a:r>
              <a:rPr b="0" i="0" u="none" sz="1800"/>
              <a:t> -- one character from a range</a:t>
            </a:r>
            <a:endParaRPr sz="1800" b="0" i="0">
              <a:latin typeface="Consolas"/>
            </a:endParaRPr>
          </a:p>
          <a:p>
            <a:pPr/>
            <a:r>
              <a:rPr b="0" i="0" u="none" sz="1800">
                <a:latin typeface="Consolas"/>
              </a:rPr>
              <a:t>{a,b}</a:t>
            </a:r>
            <a:r>
              <a:rPr b="0" i="0" u="none" sz="1800"/>
              <a:t> -- one of several alternatives</a:t>
            </a:r>
            <a:endParaRPr sz="1800" b="0" i="0">
              <a:latin typeface="Consolas"/>
            </a:endParaRPr>
          </a:p>
          <a:p>
            <a:pPr>
              <a:buNone/>
            </a:pPr>
            <a:r>
              <a:rPr b="0" i="0" u="none" sz="1800"/>
              <a:t/>
            </a:r>
            <a:endParaRPr sz="1800" b="0" i="0">
              <a:latin typeface="Consolas"/>
            </a:endParaRPr>
          </a:p>
          <a:p>
            <a:pPr>
              <a:buNone/>
            </a:pPr>
            <a:r>
              <a:rPr b="0" i="0" u="none" sz="1800"/>
              <a:t>Examples</a:t>
            </a:r>
            <a:endParaRPr sz="1800" b="0" i="0">
              <a:latin typeface="Consolas"/>
            </a:endParaRPr>
          </a:p>
          <a:p>
            <a:pPr>
              <a:buNone/>
            </a:pPr>
            <a:r>
              <a:rPr b="0" i="0" u="none" sz="1800"/>
              <a:t/>
            </a:r>
            <a:endParaRPr sz="1800" b="0" i="0">
              <a:latin typeface="Consolas"/>
            </a:endParaRPr>
          </a:p>
          <a:p>
            <a:pPr/>
            <a:r>
              <a:rPr b="0" i="0" u="none" sz="1800">
                <a:latin typeface="Consolas"/>
              </a:rPr>
              <a:t>*.md</a:t>
            </a:r>
            <a:r>
              <a:rPr b="0" i="0" u="none" sz="1800"/>
              <a:t> -&gt; </a:t>
            </a:r>
            <a:r>
              <a:rPr b="0" i="0" u="none" sz="1800">
                <a:latin typeface="Consolas"/>
              </a:rPr>
              <a:t>README.md</a:t>
            </a:r>
            <a:endParaRPr sz="1800" b="0" i="0">
              <a:latin typeface="Consolas"/>
            </a:endParaRPr>
          </a:p>
          <a:p>
            <a:pPr/>
            <a:r>
              <a:rPr b="0" i="0" u="none" sz="1800">
                <a:latin typeface="Consolas"/>
              </a:rPr>
              <a:t>**/*.md</a:t>
            </a:r>
            <a:r>
              <a:rPr b="0" i="0" u="none" sz="1800"/>
              <a:t> -&gt; </a:t>
            </a:r>
            <a:r>
              <a:rPr b="0" i="0" u="none" sz="1800">
                <a:latin typeface="Consolas"/>
              </a:rPr>
              <a:t>docs/guide.md</a:t>
            </a:r>
            <a:endParaRPr sz="1800" b="0" i="0">
              <a:latin typeface="Consolas"/>
            </a:endParaRPr>
          </a:p>
          <a:p>
            <a:pPr/>
            <a:r>
              <a:rPr b="0" i="0" u="none" sz="1800">
                <a:latin typeface="Consolas"/>
              </a:rPr>
              <a:t>*.{js,ts}</a:t>
            </a:r>
            <a:r>
              <a:rPr b="0" i="0" u="none" sz="1800"/>
              <a:t> -&gt; </a:t>
            </a:r>
            <a:r>
              <a:rPr b="0" i="0" u="none" sz="1800">
                <a:latin typeface="Consolas"/>
              </a:rPr>
              <a:t>app.ts</a:t>
            </a:r>
            <a:endParaRPr sz="1800" b="0" i="0">
              <a:latin typeface="Consolas"/>
            </a:endParaRP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 Real-World Examples</a:t>
            </a:r>
          </a:p>
        </p:txBody>
      </p:sp>
      <p:sp>
        <p:nvSpPr>
          <p:cNvPr id="3" name="Content Placeholder 2"/>
          <p:cNvSpPr>
            <a:spLocks noGrp="1"/>
          </p:cNvSpPr>
          <p:nvPr>
            <p:ph idx="1" sz="half"/>
          </p:nvPr>
        </p:nvSpPr>
        <p:spPr/>
        <p:txBody>
          <a:bodyPr wrap="square">
            <a:normAutofit/>
          </a:bodyPr>
          <a:lstStyle/>
          <a:p>
            <a:pPr>
              <a:buNone/>
            </a:pPr>
            <a:r>
              <a:rPr b="0" i="0" u="none" sz="1800"/>
              <a:t>Repository-wide and code-focused</a:t>
            </a:r>
            <a:endParaRPr sz="1800" b="0" i="0">
              <a:latin typeface="Consolas"/>
            </a:endParaRPr>
          </a:p>
          <a:p>
            <a:pPr>
              <a:buNone/>
            </a:pPr>
            <a:r>
              <a:rPr b="0" i="0" u="none" sz="1800"/>
              <a:t/>
            </a:r>
            <a:endParaRPr sz="1800" b="0" i="0">
              <a:latin typeface="Consolas"/>
            </a:endParaRPr>
          </a:p>
          <a:p>
            <a:pPr>
              <a:buNone/>
            </a:pPr>
            <a:r>
              <a:rPr sz="1800" b="0" i="0">
                <a:latin typeface="Consolas"/>
              </a:rPr>
              <a:t>applyTo: "**/*"</a:t>
            </a:r>
            <a:endParaRPr sz="1800" b="0" i="0">
              <a:latin typeface="Consolas"/>
            </a:endParaRPr>
          </a:p>
          <a:p>
            <a:pPr>
              <a:buNone/>
            </a:pPr>
            <a:r>
              <a:rPr sz="1800" b="0" i="0">
                <a:latin typeface="Consolas"/>
              </a:rPr>
              <a:t>applyTo: "**/*.{cs,ts,js,py,java,go,rb}"</a:t>
            </a:r>
            <a:endParaRPr sz="1800" b="0" i="0">
              <a:latin typeface="Consolas"/>
            </a:endParaRPr>
          </a:p>
          <a:p>
            <a:pPr>
              <a:buNone/>
            </a:pPr>
            <a:r>
              <a:rPr sz="1800" b="0" i="0">
                <a:latin typeface="Consolas"/>
              </a:rPr>
              <a:t>applyTo: "**/*.{md,txt}"</a:t>
            </a:r>
            <a:endParaRPr sz="1800" b="0" i="0">
              <a:latin typeface="Consolas"/>
            </a:endParaRPr>
          </a:p>
        </p:txBody>
      </p:sp>
      <p:sp>
        <p:nvSpPr>
          <p:cNvPr id="4" name="Content Placeholder 3"/>
          <p:cNvSpPr>
            <a:spLocks noGrp="1"/>
          </p:cNvSpPr>
          <p:nvPr>
            <p:ph idx="2" sz="half"/>
          </p:nvPr>
        </p:nvSpPr>
        <p:spPr/>
        <p:txBody>
          <a:bodyPr wrap="square">
            <a:normAutofit/>
          </a:bodyPr>
          <a:lstStyle/>
          <a:p>
            <a:pPr>
              <a:buNone/>
            </a:pPr>
            <a:r>
              <a:rPr b="0" i="0" u="none" sz="1800"/>
              <a:t>Specialized authoring scopes</a:t>
            </a:r>
            <a:endParaRPr sz="1800" b="0" i="0">
              <a:latin typeface="Consolas"/>
            </a:endParaRPr>
          </a:p>
          <a:p>
            <a:pPr>
              <a:buNone/>
            </a:pPr>
            <a:r>
              <a:rPr b="0" i="0" u="none" sz="1800"/>
              <a:t/>
            </a:r>
            <a:endParaRPr sz="1800" b="0" i="0">
              <a:latin typeface="Consolas"/>
            </a:endParaRPr>
          </a:p>
          <a:p>
            <a:pPr>
              <a:buNone/>
            </a:pPr>
            <a:r>
              <a:rPr sz="1800" b="0" i="0">
                <a:latin typeface="Consolas"/>
              </a:rPr>
              <a:t>applyTo: "slides/marp/**"</a:t>
            </a:r>
            <a:endParaRPr sz="1800" b="0" i="0">
              <a:latin typeface="Consolas"/>
            </a:endParaRPr>
          </a:p>
          <a:p>
            <a:pPr>
              <a:buNone/>
            </a:pPr>
            <a:r>
              <a:rPr sz="1800" b="0" i="0">
                <a:latin typeface="Consolas"/>
              </a:rPr>
              <a:t>applyTo: "**/*.prompt.md"</a:t>
            </a:r>
            <a:endParaRPr sz="1800" b="0" i="0">
              <a:latin typeface="Consolas"/>
            </a:endParaRPr>
          </a:p>
          <a:p>
            <a:pPr>
              <a:buNone/>
            </a:pPr>
            <a:r>
              <a:rPr b="0" i="0" u="none" sz="1800"/>
              <a:t/>
            </a:r>
            <a:endParaRPr sz="1800" b="0" i="0">
              <a:latin typeface="Consolas"/>
            </a:endParaRPr>
          </a:p>
          <a:p>
            <a:pPr>
              <a:buNone/>
            </a:pPr>
            <a:r>
              <a:rPr b="0" i="0" u="none" sz="1800"/>
              <a:t>Interpretation</a:t>
            </a:r>
            <a:endParaRPr sz="1800" b="0" i="0">
              <a:latin typeface="Consolas"/>
            </a:endParaRPr>
          </a:p>
          <a:p>
            <a:pPr>
              <a:buNone/>
            </a:pPr>
            <a:r>
              <a:rPr b="0" i="0" u="none" sz="1800"/>
              <a:t/>
            </a:r>
            <a:endParaRPr sz="1800" b="0" i="0">
              <a:latin typeface="Consolas"/>
            </a:endParaRPr>
          </a:p>
          <a:p>
            <a:pPr/>
            <a:r>
              <a:rPr b="0" i="0" u="none" sz="1800"/>
              <a:t>Universal rules apply everywhere</a:t>
            </a:r>
            <a:endParaRPr sz="1800" b="0" i="0">
              <a:latin typeface="Consolas"/>
            </a:endParaRPr>
          </a:p>
          <a:p>
            <a:pPr/>
            <a:r>
              <a:rPr b="0" i="0" u="none" sz="1800"/>
              <a:t>Language rules apply only to source files</a:t>
            </a:r>
            <a:endParaRPr sz="1800" b="0" i="0">
              <a:latin typeface="Consolas"/>
            </a:endParaRPr>
          </a:p>
          <a:p>
            <a:pPr/>
            <a:r>
              <a:rPr b="0" i="0" u="none" sz="1800"/>
              <a:t>Authoring rules apply only to their target artifact types</a:t>
            </a:r>
            <a:endParaRPr sz="1800" b="0" i="0">
              <a:latin typeface="Consolas"/>
            </a:endParaRP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 Best Practices</a:t>
            </a:r>
          </a:p>
        </p:txBody>
      </p:sp>
      <p:sp>
        <p:nvSpPr>
          <p:cNvPr id="3" name="Content Placeholder 2"/>
          <p:cNvSpPr>
            <a:spLocks noGrp="1"/>
          </p:cNvSpPr>
          <p:nvPr>
            <p:ph idx="1" sz="half"/>
          </p:nvPr>
        </p:nvSpPr>
        <p:spPr/>
        <p:txBody>
          <a:bodyPr wrap="square">
            <a:normAutofit/>
          </a:bodyPr>
          <a:lstStyle/>
          <a:p>
            <a:pPr>
              <a:buNone/>
            </a:pPr>
            <a:r>
              <a:rPr b="0" i="0" u="none" sz="1800"/>
              <a:t>Be specific when possible</a:t>
            </a:r>
            <a:endParaRPr sz="1800" b="0" i="0">
              <a:latin typeface="Consolas"/>
            </a:endParaRPr>
          </a:p>
          <a:p>
            <a:pPr>
              <a:buNone/>
            </a:pPr>
            <a:r>
              <a:rPr b="0" i="0" u="none" sz="1800"/>
              <a:t/>
            </a:r>
            <a:endParaRPr sz="1800" b="0" i="0">
              <a:latin typeface="Consolas"/>
            </a:endParaRPr>
          </a:p>
          <a:p>
            <a:pPr>
              <a:buNone/>
            </a:pPr>
            <a:r>
              <a:rPr sz="1800" b="0" i="0">
                <a:latin typeface="Consolas"/>
              </a:rPr>
              <a:t>✅ applyTo: "**/*.instructions.md"</a:t>
            </a:r>
            <a:endParaRPr sz="1800" b="0" i="0">
              <a:latin typeface="Consolas"/>
            </a:endParaRPr>
          </a:p>
          <a:p>
            <a:pPr>
              <a:buNone/>
            </a:pPr>
            <a:r>
              <a:rPr sz="1800" b="0" i="0">
                <a:latin typeface="Consolas"/>
              </a:rPr>
              <a:t>❌ applyTo: "**"</a:t>
            </a:r>
            <a:endParaRPr sz="1800" b="0" i="0">
              <a:latin typeface="Consolas"/>
            </a:endParaRPr>
          </a:p>
          <a:p>
            <a:pPr>
              <a:buNone/>
            </a:pPr>
            <a:r>
              <a:rPr b="0" i="0" u="none" sz="1800"/>
              <a:t/>
            </a:r>
            <a:endParaRPr sz="1800" b="0" i="0">
              <a:latin typeface="Consolas"/>
            </a:endParaRPr>
          </a:p>
          <a:p>
            <a:pPr>
              <a:buNone/>
            </a:pPr>
            <a:r>
              <a:rPr b="0" i="0" u="none" sz="1800"/>
              <a:t>Use brace expansion for multiple extensions</a:t>
            </a:r>
            <a:endParaRPr sz="1800" b="0" i="0">
              <a:latin typeface="Consolas"/>
            </a:endParaRPr>
          </a:p>
          <a:p>
            <a:pPr>
              <a:buNone/>
            </a:pPr>
            <a:r>
              <a:rPr b="0" i="0" u="none" sz="1800"/>
              <a:t/>
            </a:r>
            <a:endParaRPr sz="1800" b="0" i="0">
              <a:latin typeface="Consolas"/>
            </a:endParaRPr>
          </a:p>
          <a:p>
            <a:pPr>
              <a:buNone/>
            </a:pPr>
            <a:r>
              <a:rPr sz="1800" b="0" i="0">
                <a:latin typeface="Consolas"/>
              </a:rPr>
              <a:t>✅ applyTo: "**/*.{cs,ts,js}"</a:t>
            </a:r>
            <a:endParaRPr sz="1800" b="0" i="0">
              <a:latin typeface="Consolas"/>
            </a:endParaRPr>
          </a:p>
        </p:txBody>
      </p:sp>
      <p:sp>
        <p:nvSpPr>
          <p:cNvPr id="4" name="Content Placeholder 3"/>
          <p:cNvSpPr>
            <a:spLocks noGrp="1"/>
          </p:cNvSpPr>
          <p:nvPr>
            <p:ph idx="2" sz="half"/>
          </p:nvPr>
        </p:nvSpPr>
        <p:spPr/>
        <p:txBody>
          <a:bodyPr wrap="square">
            <a:normAutofit/>
          </a:bodyPr>
          <a:lstStyle/>
          <a:p>
            <a:pPr>
              <a:buNone/>
            </a:pPr>
            <a:r>
              <a:rPr b="0" i="0" u="none" sz="1800"/>
              <a:t>Match scope to purpose</a:t>
            </a:r>
            <a:endParaRPr sz="1800" b="0" i="0">
              <a:latin typeface="Consolas"/>
            </a:endParaRPr>
          </a:p>
          <a:p>
            <a:pPr>
              <a:buNone/>
            </a:pPr>
            <a:r>
              <a:rPr b="0" i="0" u="none" sz="1800"/>
              <a:t/>
            </a:r>
            <a:endParaRPr sz="1800" b="0" i="0">
              <a:latin typeface="Consolas"/>
            </a:endParaRPr>
          </a:p>
          <a:p>
            <a:pPr>
              <a:buNone/>
            </a:pPr>
            <a:r>
              <a:rPr sz="1800" b="0" i="0">
                <a:latin typeface="Consolas"/>
              </a:rPr>
              <a:t>applyTo: "src/**/*.{cs,ts,js}"</a:t>
            </a:r>
            <a:endParaRPr sz="1800" b="0" i="0">
              <a:latin typeface="Consolas"/>
            </a:endParaRPr>
          </a:p>
          <a:p>
            <a:pPr>
              <a:buNone/>
            </a:pPr>
            <a:r>
              <a:rPr sz="1800" b="0" i="0">
                <a:latin typeface="Consolas"/>
              </a:rPr>
              <a:t>applyTo: "slides/marp/**"</a:t>
            </a:r>
            <a:endParaRPr sz="1800" b="0" i="0">
              <a:latin typeface="Consolas"/>
            </a:endParaRPr>
          </a:p>
          <a:p>
            <a:pPr>
              <a:buNone/>
            </a:pPr>
            <a:r>
              <a:rPr b="0" i="0" u="none" sz="1800"/>
              <a:t/>
            </a:r>
            <a:endParaRPr sz="1800" b="0" i="0">
              <a:latin typeface="Consolas"/>
            </a:endParaRPr>
          </a:p>
          <a:p>
            <a:pPr>
              <a:buNone/>
            </a:pPr>
            <a:r>
              <a:rPr b="0" i="0" u="none" sz="1800"/>
              <a:t>Rule of thumb</a:t>
            </a:r>
            <a:endParaRPr sz="1800" b="0" i="0">
              <a:latin typeface="Consolas"/>
            </a:endParaRPr>
          </a:p>
          <a:p>
            <a:pPr>
              <a:buNone/>
            </a:pPr>
            <a:r>
              <a:rPr b="0" i="0" u="none" sz="1800"/>
              <a:t/>
            </a:r>
            <a:endParaRPr sz="1800" b="0" i="0">
              <a:latin typeface="Consolas"/>
            </a:endParaRPr>
          </a:p>
          <a:p>
            <a:pPr/>
            <a:r>
              <a:rPr b="0" i="0" u="none" sz="1800"/>
              <a:t>Narrower patterns reduce conflicts and wasted context</a:t>
            </a:r>
            <a:endParaRPr sz="1800" b="0" i="0">
              <a:latin typeface="Consolas"/>
            </a:endParaRPr>
          </a:p>
          <a:p>
            <a:pPr/>
            <a:r>
              <a:rPr b="0" i="0" u="none" sz="1800"/>
              <a:t>Broader patterns are only for truly universal policy</a:t>
            </a:r>
            <a:endParaRPr sz="1800" b="0" i="0">
              <a:latin typeface="Consolas"/>
            </a:endParaRP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 Common Pitfalls</a:t>
            </a:r>
          </a:p>
        </p:txBody>
      </p:sp>
      <p:sp>
        <p:nvSpPr>
          <p:cNvPr id="3" name="Content Placeholder 2"/>
          <p:cNvSpPr>
            <a:spLocks noGrp="1"/>
          </p:cNvSpPr>
          <p:nvPr>
            <p:ph idx="1"/>
          </p:nvPr>
        </p:nvSpPr>
        <p:spPr/>
        <p:txBody>
          <a:bodyPr wrap="square">
            <a:normAutofit/>
          </a:bodyPr>
          <a:lstStyle/>
          <a:p>
            <a:pPr>
              <a:buNone/>
            </a:pPr>
            <a:r>
              <a:rPr b="0" i="0" u="none" sz="1800"/>
              <a:t>Pitfall 1: Too Broad</a:t>
            </a:r>
            <a:endParaRPr sz="1800" b="0" i="0">
              <a:latin typeface="Consolas"/>
            </a:endParaRPr>
          </a:p>
          <a:p>
            <a:pPr>
              <a:buNone/>
            </a:pPr>
            <a:r>
              <a:rPr b="0" i="0" u="none" sz="1800"/>
              <a:t/>
            </a:r>
            <a:endParaRPr sz="1800" b="0" i="0">
              <a:latin typeface="Consolas"/>
            </a:endParaRPr>
          </a:p>
          <a:p>
            <a:pPr>
              <a:buNone/>
            </a:pPr>
            <a:r>
              <a:rPr sz="1800" b="0" i="0">
                <a:latin typeface="Consolas"/>
              </a:rPr>
              <a:t>❌ applyTo: "**" # For slide formatting</a:t>
            </a:r>
            <a:endParaRPr sz="1800" b="0" i="0">
              <a:latin typeface="Consolas"/>
            </a:endParaRPr>
          </a:p>
          <a:p>
            <a:pPr>
              <a:buNone/>
            </a:pPr>
            <a:r>
              <a:rPr sz="1800" b="0" i="0">
                <a:latin typeface="Consolas"/>
              </a:rPr>
              <a:t>✅ applyTo: "slides/**"</a:t>
            </a:r>
            <a:endParaRPr sz="1800" b="0" i="0">
              <a:latin typeface="Consolas"/>
            </a:endParaRPr>
          </a:p>
          <a:p>
            <a:pPr>
              <a:buNone/>
            </a:pPr>
            <a:r>
              <a:rPr b="0" i="0" u="none" sz="1800"/>
              <a:t/>
            </a:r>
            <a:endParaRPr sz="1800" b="0" i="0">
              <a:latin typeface="Consolas"/>
            </a:endParaRPr>
          </a:p>
          <a:p>
            <a:pPr>
              <a:buNone/>
            </a:pPr>
            <a:r>
              <a:rPr b="0" i="0" u="none" sz="1800"/>
              <a:t>Pitfall 2: Too Narrow</a:t>
            </a:r>
            <a:endParaRPr sz="1800" b="0" i="0">
              <a:latin typeface="Consolas"/>
            </a:endParaRPr>
          </a:p>
          <a:p>
            <a:pPr>
              <a:buNone/>
            </a:pPr>
            <a:r>
              <a:rPr b="0" i="0" u="none" sz="1800"/>
              <a:t/>
            </a:r>
            <a:endParaRPr sz="1800" b="0" i="0">
              <a:latin typeface="Consolas"/>
            </a:endParaRPr>
          </a:p>
          <a:p>
            <a:pPr>
              <a:buNone/>
            </a:pPr>
            <a:r>
              <a:rPr sz="1800" b="0" i="0">
                <a:latin typeface="Consolas"/>
              </a:rPr>
              <a:t>❌ applyTo: "src/Features/UserManagement/**/*.cs"</a:t>
            </a:r>
            <a:endParaRPr sz="1800" b="0" i="0">
              <a:latin typeface="Consolas"/>
            </a:endParaRPr>
          </a:p>
          <a:p>
            <a:pPr>
              <a:buNone/>
            </a:pPr>
            <a:r>
              <a:rPr sz="1800" b="0" i="0">
                <a:latin typeface="Consolas"/>
              </a:rPr>
              <a:t>✅ applyTo: "src/Features/**/*.cs"</a:t>
            </a:r>
            <a:endParaRPr sz="1800" b="0" i="0">
              <a:latin typeface="Consolas"/>
            </a:endParaRPr>
          </a:p>
          <a:p>
            <a:pPr>
              <a:buNone/>
            </a:pPr>
            <a:r>
              <a:rPr b="0" i="0" u="none" sz="1800"/>
              <a:t/>
            </a:r>
            <a:endParaRPr sz="1800" b="0" i="0">
              <a:latin typeface="Consolas"/>
            </a:endParaRPr>
          </a:p>
          <a:p>
            <a:pPr>
              <a:buNone/>
            </a:pPr>
            <a:r>
              <a:rPr b="0" i="0" u="none" sz="1800"/>
              <a:t>Pitfall 3: Overlapping Instructions</a:t>
            </a:r>
            <a:endParaRPr sz="1800" b="0" i="0">
              <a:latin typeface="Consolas"/>
            </a:endParaRPr>
          </a:p>
          <a:p>
            <a:pPr>
              <a:buNone/>
            </a:pPr>
            <a:r>
              <a:rPr b="0" i="0" u="none" sz="1800"/>
              <a:t/>
            </a:r>
            <a:endParaRPr sz="1800" b="0" i="0">
              <a:latin typeface="Consolas"/>
            </a:endParaRPr>
          </a:p>
          <a:p>
            <a:pPr>
              <a:buNone/>
            </a:pPr>
            <a:r>
              <a:rPr sz="1800" b="0" i="0">
                <a:latin typeface="Consolas"/>
              </a:rPr>
              <a:t>applyTo: "**/*.cs"  # All C# files</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applyTo: "src/**/*.cs"  # C# files in src</a:t>
            </a:r>
            <a:endParaRPr sz="1800" b="0" i="0">
              <a:latin typeface="Consolas"/>
            </a:endParaRPr>
          </a:p>
          <a:p>
            <a:pPr>
              <a:buNone/>
            </a:pPr>
            <a:r>
              <a:rPr sz="1800" b="0" i="0">
                <a:latin typeface="Consolas"/>
              </a:rPr>
              <a:t/>
            </a:r>
            <a:endParaRPr sz="1800" b="0" i="0">
              <a:latin typeface="Consolas"/>
            </a:endParaRP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 Testing Your Patterns</a:t>
            </a:r>
          </a:p>
        </p:txBody>
      </p:sp>
      <p:sp>
        <p:nvSpPr>
          <p:cNvPr id="3" name="Content Placeholder 2"/>
          <p:cNvSpPr>
            <a:spLocks noGrp="1"/>
          </p:cNvSpPr>
          <p:nvPr>
            <p:ph idx="1"/>
          </p:nvPr>
        </p:nvSpPr>
        <p:spPr/>
        <p:txBody>
          <a:bodyPr wrap="square">
            <a:normAutofit/>
          </a:bodyPr>
          <a:lstStyle/>
          <a:p>
            <a:pPr>
              <a:buNone/>
            </a:pPr>
            <a:r>
              <a:rPr b="0" i="0" u="none" sz="1800"/>
              <a:t>How to verify patterns work correctly:</a:t>
            </a:r>
            <a:endParaRPr sz="1800" b="0" i="0">
              <a:latin typeface="Consolas"/>
            </a:endParaRPr>
          </a:p>
          <a:p>
            <a:pPr>
              <a:buNone/>
            </a:pPr>
            <a:r>
              <a:rPr b="0" i="0" u="none" sz="1800"/>
              <a:t/>
            </a:r>
            <a:endParaRPr sz="1800" b="0" i="0">
              <a:latin typeface="Consolas"/>
            </a:endParaRPr>
          </a:p>
          <a:p>
            <a:pPr>
              <a:buNone/>
            </a:pPr>
            <a:r>
              <a:rPr b="0" i="0" u="none" sz="1800"/>
              <a:t>1. </a:t>
            </a:r>
            <a:r>
              <a:rPr b="0" i="0" u="none" sz="1800"/>
              <a:t>Use file search to preview matches:</a:t>
            </a:r>
            <a:endParaRPr sz="1800" b="0" i="0">
              <a:latin typeface="Consolas"/>
            </a:endParaRPr>
          </a:p>
          <a:p>
            <a:pPr>
              <a:buNone/>
            </a:pPr>
            <a:r>
              <a:rPr b="0" i="0" u="none" sz="1800"/>
              <a:t/>
            </a:r>
            <a:endParaRPr sz="1800" b="0" i="0">
              <a:latin typeface="Consolas"/>
            </a:endParaRPr>
          </a:p>
          <a:p>
            <a:pPr>
              <a:buNone/>
            </a:pPr>
            <a:r>
              <a:rPr sz="1800" b="0" i="0">
                <a:latin typeface="Consolas"/>
              </a:rPr>
              <a:t>Get-ChildItem -Path . -Filter "*.md" -Recurse</a:t>
            </a:r>
            <a:endParaRPr sz="1800" b="0" i="0">
              <a:latin typeface="Consolas"/>
            </a:endParaRPr>
          </a:p>
          <a:p>
            <a:pPr>
              <a:buNone/>
            </a:pPr>
            <a:r>
              <a:rPr sz="1800" b="0" i="0">
                <a:latin typeface="Consolas"/>
              </a:rPr>
              <a:t/>
            </a:r>
            <a:endParaRPr sz="1800" b="0" i="0">
              <a:latin typeface="Consolas"/>
            </a:endParaRPr>
          </a:p>
          <a:p>
            <a:pPr>
              <a:buNone/>
            </a:pPr>
            <a:r>
              <a:rPr sz="1800" b="0" i="0">
                <a:latin typeface="Consolas"/>
              </a:rPr>
              <a:t>find . -name "*.md"</a:t>
            </a:r>
            <a:endParaRPr sz="1800" b="0" i="0">
              <a:latin typeface="Consolas"/>
            </a:endParaRPr>
          </a:p>
          <a:p>
            <a:pPr>
              <a:buNone/>
            </a:pPr>
            <a:r>
              <a:rPr b="0" i="0" u="none" sz="1800"/>
              <a:t/>
            </a:r>
            <a:endParaRPr sz="1800" b="0" i="0">
              <a:latin typeface="Consolas"/>
            </a:endParaRPr>
          </a:p>
          <a:p>
            <a:pPr>
              <a:buNone/>
            </a:pPr>
            <a:r>
              <a:rPr b="0" i="0" u="none" sz="1800"/>
              <a:t>2. </a:t>
            </a:r>
            <a:r>
              <a:rPr b="0" i="0" u="none" sz="1800"/>
              <a:t>Online glob testers:</a:t>
            </a:r>
            <a:endParaRPr sz="1800" b="0" i="0">
              <a:latin typeface="Consolas"/>
            </a:endParaRPr>
          </a:p>
          <a:p>
            <a:pPr>
              <a:buNone/>
            </a:pPr>
            <a:r>
              <a:rPr b="0" i="0" u="none" sz="1800"/>
              <a:t/>
            </a:r>
            <a:endParaRPr sz="1800" b="0" i="0">
              <a:latin typeface="Consolas"/>
            </a:endParaRPr>
          </a:p>
          <a:p>
            <a:pPr/>
            <a:r>
              <a:rPr b="0" i="0" u="none" sz="1800"/>
              <a:t>globster.xyz: https://globster.xyz/</a:t>
            </a:r>
            <a:endParaRPr sz="1800" b="0" i="0">
              <a:latin typeface="Consolas"/>
            </a:endParaRPr>
          </a:p>
          <a:p>
            <a:pPr/>
            <a:r>
              <a:rPr b="0" i="0" u="none" sz="1800"/>
              <a:t>Test patterns before committing</a:t>
            </a:r>
            <a:endParaRPr sz="1800" b="0" i="0">
              <a:latin typeface="Consolas"/>
            </a:endParaRPr>
          </a:p>
          <a:p>
            <a:pPr>
              <a:buNone/>
            </a:pPr>
            <a:r>
              <a:rPr b="0" i="0" u="none" sz="1800"/>
              <a:t/>
            </a:r>
            <a:endParaRPr sz="1800" b="0" i="0">
              <a:latin typeface="Consolas"/>
            </a:endParaRPr>
          </a:p>
          <a:p>
            <a:pPr>
              <a:buNone/>
            </a:pPr>
            <a:r>
              <a:rPr b="0" i="0" u="none" sz="1800"/>
              <a:t>3. </a:t>
            </a:r>
            <a:r>
              <a:rPr b="0" i="0" u="none" sz="1800"/>
              <a:t>Check Copilot behavior:</a:t>
            </a:r>
            <a:endParaRPr sz="1800" b="0" i="0">
              <a:latin typeface="Consolas"/>
            </a:endParaRPr>
          </a:p>
          <a:p>
            <a:pPr>
              <a:buNone/>
            </a:pPr>
            <a:r>
              <a:rPr b="0" i="0" u="none" sz="1800"/>
              <a:t/>
            </a:r>
            <a:endParaRPr sz="1800" b="0" i="0">
              <a:latin typeface="Consolas"/>
            </a:endParaRPr>
          </a:p>
          <a:p>
            <a:pPr/>
            <a:r>
              <a:rPr b="0" i="0" u="none" sz="1800"/>
              <a:t>Open a file that should match</a:t>
            </a:r>
            <a:endParaRPr sz="1800" b="0" i="0">
              <a:latin typeface="Consolas"/>
            </a:endParaRPr>
          </a:p>
          <a:p>
            <a:pPr/>
            <a:r>
              <a:rPr b="0" i="0" u="none" sz="1800"/>
              <a:t>Verify instructions are being followed</a:t>
            </a:r>
            <a:endParaRPr sz="1800" b="0" i="0">
              <a:latin typeface="Consolas"/>
            </a:endParaRPr>
          </a:p>
          <a:p>
            <a:pPr/>
            <a:r>
              <a:rPr b="0" i="0" u="none" sz="1800"/>
              <a:t>Check for unexpected behavior (might indicate wrong pattern)</a:t>
            </a:r>
            <a:endParaRPr sz="1800" b="0" i="0">
              <a:latin typeface="Consolas"/>
            </a:endParaRP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 Pattern Matching Rules</a:t>
            </a:r>
          </a:p>
        </p:txBody>
      </p:sp>
      <p:sp>
        <p:nvSpPr>
          <p:cNvPr id="3" name="Content Placeholder 2"/>
          <p:cNvSpPr>
            <a:spLocks noGrp="1"/>
          </p:cNvSpPr>
          <p:nvPr>
            <p:ph idx="1"/>
          </p:nvPr>
        </p:nvSpPr>
        <p:spPr/>
        <p:txBody>
          <a:bodyPr wrap="square">
            <a:normAutofit/>
          </a:bodyPr>
          <a:lstStyle/>
          <a:p>
            <a:pPr>
              <a:buNone/>
            </a:pPr>
            <a:r>
              <a:rPr b="0" i="0" u="none" sz="2800"/>
              <a:t>Key Points to Remember:</a:t>
            </a:r>
            <a:endParaRPr sz="2800" b="0" i="0">
              <a:latin typeface="Arial"/>
            </a:endParaRPr>
          </a:p>
          <a:p>
            <a:pPr>
              <a:buNone/>
            </a:pPr>
            <a:r>
              <a:rPr b="0" i="0" u="none" sz="2800"/>
              <a:t/>
            </a:r>
            <a:endParaRPr sz="2800" b="0" i="0">
              <a:latin typeface="Arial"/>
            </a:endParaRPr>
          </a:p>
          <a:p>
            <a:pPr/>
            <a:r>
              <a:rPr b="0" i="0" u="none" sz="2800"/>
              <a:t>Patterns are evaluated when files are opened</a:t>
            </a:r>
            <a:endParaRPr sz="2800" b="0" i="0">
              <a:latin typeface="Arial"/>
            </a:endParaRPr>
          </a:p>
          <a:p>
            <a:pPr/>
            <a:r>
              <a:rPr b="0" i="0" u="none" sz="2800"/>
              <a:t>Multiple instruction files can match the same file</a:t>
            </a:r>
            <a:endParaRPr sz="2800" b="0" i="0">
              <a:latin typeface="Arial"/>
            </a:endParaRPr>
          </a:p>
          <a:p>
            <a:pPr/>
            <a:r>
              <a:rPr b="0" i="0" u="none" sz="2800"/>
              <a:t>More specific patterns take precedence (in terms of clarity, not override)</a:t>
            </a:r>
            <a:endParaRPr sz="2800" b="0" i="0">
              <a:latin typeface="Arial"/>
            </a:endParaRPr>
          </a:p>
          <a:p>
            <a:pPr/>
            <a:r>
              <a:rPr b="0" i="0" u="none" sz="2800"/>
              <a:t>Patterns are relative to repository root</a:t>
            </a:r>
            <a:endParaRPr sz="2800" b="0" i="0">
              <a:latin typeface="Arial"/>
            </a:endParaRPr>
          </a:p>
          <a:p>
            <a:pPr/>
            <a:r>
              <a:rPr b="0" i="0" u="none" sz="2800"/>
              <a:t>Case sensitivity depends on file system (Windows: no, Linux: yes)</a:t>
            </a:r>
            <a:endParaRPr sz="2800" b="0" i="0">
              <a:latin typeface="Arial"/>
            </a:endParaRPr>
          </a:p>
          <a:p>
            <a:pPr>
              <a:buNone/>
            </a:pPr>
            <a:r>
              <a:rPr b="0" i="0" u="none" sz="2800"/>
              <a:t/>
            </a:r>
            <a:endParaRPr sz="2800" b="0" i="0">
              <a:latin typeface="Arial"/>
            </a:endParaRPr>
          </a:p>
          <a:p>
            <a:pPr>
              <a:buNone/>
            </a:pPr>
            <a:r>
              <a:rPr b="0" i="0" u="none" sz="2800"/>
              <a:t>When Copilot Evaluates Patterns:</a:t>
            </a:r>
            <a:endParaRPr sz="2800" b="0" i="0">
              <a:latin typeface="Arial"/>
            </a:endParaRPr>
          </a:p>
          <a:p>
            <a:pPr>
              <a:buNone/>
            </a:pPr>
            <a:r>
              <a:rPr b="0" i="0" u="none" sz="2800"/>
              <a:t/>
            </a:r>
            <a:endParaRPr sz="2800" b="0" i="0">
              <a:latin typeface="Arial"/>
            </a:endParaRPr>
          </a:p>
          <a:p>
            <a:pPr>
              <a:buNone/>
            </a:pPr>
            <a:r>
              <a:rPr b="0" i="0" u="none" sz="2800"/>
              <a:t>1. File opened in editor → Check all instruction files</a:t>
            </a:r>
            <a:endParaRPr sz="2800" b="0" i="0">
              <a:latin typeface="Arial"/>
            </a:endParaRPr>
          </a:p>
          <a:p>
            <a:pPr>
              <a:buNone/>
            </a:pPr>
            <a:r>
              <a:rPr b="0" i="0" u="none" sz="2800"/>
              <a:t>2. Load matching instructions into context</a:t>
            </a:r>
            <a:endParaRPr sz="2800" b="0" i="0">
              <a:latin typeface="Arial"/>
            </a:endParaRPr>
          </a:p>
          <a:p>
            <a:pPr>
              <a:buNone/>
            </a:pPr>
            <a:r>
              <a:rPr b="0" i="0" u="none" sz="2800"/>
              <a:t>3. Apply rules during code generation</a:t>
            </a:r>
            <a:endParaRPr sz="2800" b="0" i="0">
              <a:latin typeface="Arial"/>
            </a:endParaRP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 Summary &amp; Best Practices</a:t>
            </a:r>
          </a:p>
        </p:txBody>
      </p:sp>
      <p:sp>
        <p:nvSpPr>
          <p:cNvPr id="3" name="Content Placeholder 2"/>
          <p:cNvSpPr>
            <a:spLocks noGrp="1"/>
          </p:cNvSpPr>
          <p:nvPr>
            <p:ph idx="1"/>
          </p:nvPr>
        </p:nvSpPr>
        <p:spPr/>
        <p:txBody>
          <a:bodyPr wrap="square">
            <a:normAutofit/>
          </a:bodyPr>
          <a:lstStyle/>
          <a:p>
            <a:pPr>
              <a:buNone/>
            </a:pPr>
            <a:r>
              <a:rPr b="0" i="0" u="none" sz="1800"/>
              <a:t>Essential Patterns:</a:t>
            </a:r>
            <a:endParaRPr sz="1800" b="0" i="0">
              <a:latin typeface="Consolas"/>
            </a:endParaRPr>
          </a:p>
          <a:p>
            <a:pPr>
              <a:buNone/>
            </a:pPr>
            <a:r>
              <a:rPr b="0" i="0" u="none" sz="1800"/>
              <a:t/>
            </a:r>
            <a:endParaRPr sz="1800" b="0" i="0">
              <a:latin typeface="Consolas"/>
            </a:endParaRPr>
          </a:p>
          <a:p>
            <a:pPr/>
            <a:r>
              <a:rPr b="0" i="0" u="none" sz="1800">
                <a:latin typeface="Consolas"/>
              </a:rPr>
              <a:t>**/*</a:t>
            </a:r>
            <a:r>
              <a:rPr b="0" i="0" u="none" sz="1800"/>
              <a:t> or </a:t>
            </a:r>
            <a:r>
              <a:rPr b="0" i="0" u="none" sz="1800">
                <a:latin typeface="Consolas"/>
              </a:rPr>
              <a:t>**</a:t>
            </a:r>
            <a:r>
              <a:rPr b="0" i="0" u="none" sz="1800"/>
              <a:t> - Universal (use sparingly)</a:t>
            </a:r>
            <a:endParaRPr sz="1800" b="0" i="0">
              <a:latin typeface="Consolas"/>
            </a:endParaRPr>
          </a:p>
          <a:p>
            <a:pPr/>
            <a:r>
              <a:rPr b="0" i="0" u="none" sz="1800">
                <a:latin typeface="Consolas"/>
              </a:rPr>
              <a:t>**/*.{ext1,ext2}</a:t>
            </a:r>
            <a:r>
              <a:rPr b="0" i="0" u="none" sz="1800"/>
              <a:t> - Multiple file types</a:t>
            </a:r>
            <a:endParaRPr sz="1800" b="0" i="0">
              <a:latin typeface="Consolas"/>
            </a:endParaRPr>
          </a:p>
          <a:p>
            <a:pPr/>
            <a:r>
              <a:rPr b="0" i="0" u="none" sz="1800">
                <a:latin typeface="Consolas"/>
              </a:rPr>
              <a:t>directory/**</a:t>
            </a:r>
            <a:r>
              <a:rPr b="0" i="0" u="none" sz="1800"/>
              <a:t> - Specific directory scope</a:t>
            </a:r>
            <a:endParaRPr sz="1800" b="0" i="0">
              <a:latin typeface="Consolas"/>
            </a:endParaRPr>
          </a:p>
          <a:p>
            <a:pPr/>
            <a:r>
              <a:rPr b="0" i="0" u="none" sz="1800">
                <a:latin typeface="Consolas"/>
              </a:rPr>
              <a:t>**/*.specific.extension.md</a:t>
            </a:r>
            <a:r>
              <a:rPr b="0" i="0" u="none" sz="1800"/>
              <a:t> - Specialized files</a:t>
            </a:r>
            <a:endParaRPr sz="1800" b="0" i="0">
              <a:latin typeface="Consolas"/>
            </a:endParaRPr>
          </a:p>
          <a:p>
            <a:pPr>
              <a:buNone/>
            </a:pPr>
            <a:r>
              <a:rPr b="0" i="0" u="none" sz="1800"/>
              <a:t/>
            </a:r>
            <a:endParaRPr sz="1800" b="0" i="0">
              <a:latin typeface="Consolas"/>
            </a:endParaRPr>
          </a:p>
          <a:p>
            <a:pPr>
              <a:buNone/>
            </a:pPr>
            <a:r>
              <a:rPr b="0" i="0" u="none" sz="1800"/>
              <a:t>Decision Tree:</a:t>
            </a:r>
            <a:endParaRPr sz="1800" b="0" i="0">
              <a:latin typeface="Consolas"/>
            </a:endParaRPr>
          </a:p>
          <a:p>
            <a:pPr>
              <a:buNone/>
            </a:pPr>
            <a:r>
              <a:rPr b="0" i="0" u="none" sz="1800"/>
              <a:t/>
            </a:r>
            <a:endParaRPr sz="1800" b="0" i="0">
              <a:latin typeface="Consolas"/>
            </a:endParaRPr>
          </a:p>
          <a:p>
            <a:pPr>
              <a:buNone/>
            </a:pPr>
            <a:r>
              <a:rPr b="0" i="0" u="none" sz="1800"/>
              <a:t>1. Does this apply to ALL files? → Use </a:t>
            </a:r>
            <a:r>
              <a:rPr b="0" i="0" u="none" sz="1800">
                <a:latin typeface="Consolas"/>
              </a:rPr>
              <a:t>**/*</a:t>
            </a:r>
            <a:endParaRPr sz="1800" b="0" i="0">
              <a:latin typeface="Consolas"/>
            </a:endParaRPr>
          </a:p>
          <a:p>
            <a:pPr>
              <a:buNone/>
            </a:pPr>
            <a:r>
              <a:rPr b="0" i="0" u="none" sz="1800"/>
              <a:t>2. Does this apply to specific file types? → Use </a:t>
            </a:r>
            <a:r>
              <a:rPr b="0" i="0" u="none" sz="1800">
                <a:latin typeface="Consolas"/>
              </a:rPr>
              <a:t>**/*.{extensions}</a:t>
            </a:r>
            <a:endParaRPr sz="1800" b="0" i="0">
              <a:latin typeface="Consolas"/>
            </a:endParaRPr>
          </a:p>
          <a:p>
            <a:pPr>
              <a:buNone/>
            </a:pPr>
            <a:r>
              <a:rPr b="0" i="0" u="none" sz="1800"/>
              <a:t>3. Does this apply to a specific directory? → Use </a:t>
            </a:r>
            <a:r>
              <a:rPr b="0" i="0" u="none" sz="1800">
                <a:latin typeface="Consolas"/>
              </a:rPr>
              <a:t>directory/**</a:t>
            </a:r>
            <a:endParaRPr sz="1800" b="0" i="0">
              <a:latin typeface="Consolas"/>
            </a:endParaRPr>
          </a:p>
          <a:p>
            <a:pPr>
              <a:buNone/>
            </a:pPr>
            <a:r>
              <a:rPr b="0" i="0" u="none" sz="1800"/>
              <a:t>4. Does this apply to specific naming pattern? → Use </a:t>
            </a:r>
            <a:r>
              <a:rPr b="0" i="0" u="none" sz="1800">
                <a:latin typeface="Consolas"/>
              </a:rPr>
              <a:t>**/*.pattern.ext</a:t>
            </a:r>
            <a:endParaRPr sz="1800" b="0" i="0">
              <a:latin typeface="Consolas"/>
            </a:endParaRPr>
          </a:p>
          <a:p>
            <a:pPr>
              <a:buNone/>
            </a:pPr>
            <a:r>
              <a:rPr b="0" i="0" u="none" sz="1800"/>
              <a:t/>
            </a:r>
            <a:endParaRPr sz="1800" b="0" i="0">
              <a:latin typeface="Consolas"/>
            </a:endParaRPr>
          </a:p>
          <a:p>
            <a:pPr>
              <a:buNone/>
            </a:pPr>
            <a:r>
              <a:rPr b="0" i="0" u="none" sz="1800"/>
              <a:t>Remember:</a:t>
            </a:r>
            <a:endParaRPr sz="1800" b="0" i="0">
              <a:latin typeface="Consolas"/>
            </a:endParaRPr>
          </a:p>
          <a:p>
            <a:pPr>
              <a:buNone/>
            </a:pPr>
            <a:r>
              <a:rPr b="0" i="0" u="none" sz="1800"/>
              <a:t/>
            </a:r>
            <a:endParaRPr sz="1800" b="0" i="0">
              <a:latin typeface="Consolas"/>
            </a:endParaRPr>
          </a:p>
          <a:p>
            <a:pPr/>
            <a:r>
              <a:rPr b="0" i="0" u="none" sz="1800"/>
              <a:t>✅ Be as specific as necessary, no more, no less</a:t>
            </a:r>
            <a:endParaRPr sz="1800" b="0" i="0">
              <a:latin typeface="Consolas"/>
            </a:endParaRPr>
          </a:p>
          <a:p>
            <a:pPr/>
            <a:r>
              <a:rPr b="0" i="0" u="none" sz="1800"/>
              <a:t>✅ Test patterns before committing</a:t>
            </a:r>
            <a:endParaRPr sz="1800" b="0" i="0">
              <a:latin typeface="Consolas"/>
            </a:endParaRPr>
          </a:p>
          <a:p>
            <a:pPr/>
            <a:r>
              <a:rPr b="0" i="0" u="none" sz="1800"/>
              <a:t>✅ Document why each pattern was chosen</a:t>
            </a:r>
            <a:endParaRPr sz="1800" b="0" i="0">
              <a:latin typeface="Consolas"/>
            </a:endParaRPr>
          </a:p>
          <a:p>
            <a:pPr/>
            <a:r>
              <a:rPr b="0" i="0" u="none" sz="1800"/>
              <a:t>✅ Review patterns when instructions aren't working</a:t>
            </a:r>
            <a:endParaRPr sz="1800" b="0" i="0">
              <a:latin typeface="Consolas"/>
            </a:endParaRP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 Resources &amp; Next Steps</a:t>
            </a:r>
          </a:p>
        </p:txBody>
      </p:sp>
      <p:sp>
        <p:nvSpPr>
          <p:cNvPr id="3" name="Content Placeholder 2"/>
          <p:cNvSpPr>
            <a:spLocks noGrp="1"/>
          </p:cNvSpPr>
          <p:nvPr>
            <p:ph idx="1"/>
          </p:nvPr>
        </p:nvSpPr>
        <p:spPr/>
        <p:txBody>
          <a:bodyPr wrap="square">
            <a:normAutofit/>
          </a:bodyPr>
          <a:lstStyle/>
          <a:p>
            <a:pPr>
              <a:buNone/>
            </a:pPr>
            <a:r>
              <a:rPr b="0" i="0" u="none" sz="2800"/>
              <a:t>Documentation:</a:t>
            </a:r>
            <a:endParaRPr sz="2800" b="0" i="0">
              <a:latin typeface="Arial"/>
            </a:endParaRPr>
          </a:p>
          <a:p>
            <a:pPr>
              <a:buNone/>
            </a:pPr>
            <a:r>
              <a:rPr b="0" i="0" u="none" sz="2800"/>
              <a:t/>
            </a:r>
            <a:endParaRPr sz="2800" b="0" i="0">
              <a:latin typeface="Arial"/>
            </a:endParaRPr>
          </a:p>
          <a:p>
            <a:pPr/>
            <a:r>
              <a:rPr b="0" i="0" u="none" sz="2800"/>
              <a:t>Glob Pattern Syntax Reference: https://globster.xyz/</a:t>
            </a:r>
            <a:endParaRPr sz="2800" b="0" i="0">
              <a:latin typeface="Arial"/>
            </a:endParaRPr>
          </a:p>
          <a:p>
            <a:pPr/>
            <a:r>
              <a:rPr b="0" i="0" u="none" sz="2800"/>
              <a:t>GitHub Copilot Instruction Files Documentation</a:t>
            </a:r>
            <a:endParaRPr sz="2800" b="0" i="0">
              <a:latin typeface="Arial"/>
            </a:endParaRPr>
          </a:p>
          <a:p>
            <a:pPr/>
            <a:r>
              <a:rPr b="0" i="0" u="none" sz="2800"/>
              <a:t>AI-Assisted Output Instructions</a:t>
            </a:r>
            <a:endParaRPr sz="2800" b="0" i="0">
              <a:latin typeface="Arial"/>
            </a:endParaRPr>
          </a:p>
          <a:p>
            <a:pPr>
              <a:buNone/>
            </a:pPr>
            <a:r>
              <a:rPr b="0" i="0" u="none" sz="2800"/>
              <a:t/>
            </a:r>
            <a:endParaRPr sz="2800" b="0" i="0">
              <a:latin typeface="Arial"/>
            </a:endParaRPr>
          </a:p>
          <a:p>
            <a:pPr>
              <a:buNone/>
            </a:pPr>
            <a:r>
              <a:rPr b="0" i="0" u="none" sz="2800"/>
              <a:t>Practice Exercise:</a:t>
            </a:r>
            <a:endParaRPr sz="2800" b="0" i="0">
              <a:latin typeface="Arial"/>
            </a:endParaRPr>
          </a:p>
          <a:p>
            <a:pPr>
              <a:buNone/>
            </a:pPr>
            <a:r>
              <a:rPr b="0" i="0" u="none" sz="2800"/>
              <a:t>Create instruction files for:</a:t>
            </a:r>
            <a:endParaRPr sz="2800" b="0" i="0">
              <a:latin typeface="Arial"/>
            </a:endParaRPr>
          </a:p>
          <a:p>
            <a:pPr>
              <a:buNone/>
            </a:pPr>
            <a:r>
              <a:rPr b="0" i="0" u="none" sz="2800"/>
              <a:t/>
            </a:r>
            <a:endParaRPr sz="2800" b="0" i="0">
              <a:latin typeface="Arial"/>
            </a:endParaRPr>
          </a:p>
          <a:p>
            <a:pPr>
              <a:buNone/>
            </a:pPr>
            <a:r>
              <a:rPr b="0" i="0" u="none" sz="2800"/>
              <a:t>1. CQRS architecture patterns (code only)</a:t>
            </a:r>
            <a:endParaRPr sz="2800" b="0" i="0">
              <a:latin typeface="Arial"/>
            </a:endParaRPr>
          </a:p>
          <a:p>
            <a:pPr>
              <a:buNone/>
            </a:pPr>
            <a:r>
              <a:rPr b="0" i="0" u="none" sz="2800"/>
              <a:t>2. Mermaid diagram standards (markdown only)</a:t>
            </a:r>
            <a:endParaRPr sz="2800" b="0" i="0">
              <a:latin typeface="Arial"/>
            </a:endParaRPr>
          </a:p>
          <a:p>
            <a:pPr>
              <a:buNone/>
            </a:pPr>
            <a:r>
              <a:rPr b="0" i="0" u="none" sz="2800"/>
              <a:t>3. Test naming conventions (test files only)</a:t>
            </a:r>
            <a:endParaRPr sz="2800" b="0" i="0">
              <a:latin typeface="Arial"/>
            </a:endParaRPr>
          </a:p>
          <a:p>
            <a:pPr>
              <a:buNone/>
            </a:pPr>
            <a:r>
              <a:rPr b="0" i="0" u="none" sz="2800"/>
              <a:t/>
            </a:r>
            <a:endParaRPr sz="2800" b="0" i="0">
              <a:latin typeface="Arial"/>
            </a:endParaRPr>
          </a:p>
          <a:p>
            <a:pPr>
              <a:buNone/>
            </a:pPr>
            <a:r>
              <a:rPr b="0" i="0" u="none" sz="2800"/>
              <a:t>Questions?</a:t>
            </a:r>
            <a:endParaRPr sz="2800" b="0" i="0">
              <a:latin typeface="Arial"/>
            </a:endParaRP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 Thank You!</a:t>
            </a:r>
          </a:p>
        </p:txBody>
      </p:sp>
      <p:sp>
        <p:nvSpPr>
          <p:cNvPr id="3" name="Content Placeholder 2"/>
          <p:cNvSpPr>
            <a:spLocks noGrp="1"/>
          </p:cNvSpPr>
          <p:nvPr>
            <p:ph idx="1"/>
          </p:nvPr>
        </p:nvSpPr>
        <p:spPr/>
        <p:txBody>
          <a:bodyPr wrap="square">
            <a:normAutofit/>
          </a:bodyPr>
          <a:lstStyle/>
          <a:p>
            <a:pPr>
              <a:buNone/>
            </a:pPr>
            <a:r>
              <a:rPr b="1" i="0" u="none"/>
              <a:t>Questions? Feedback?</a:t>
            </a:r>
          </a:p>
          <a:p>
            <a:pPr>
              <a:buNone/>
            </a:pPr>
            <a:r>
              <a:rPr b="0" i="0" u="none"/>
              <a:t/>
            </a:r>
          </a:p>
          <a:p>
            <a:pPr>
              <a:buNone/>
            </a:pPr>
            <a:r>
              <a:rPr b="0" i="0" u="none"/>
              <a:t>Connect with the AI-Assisted Software Development team</a:t>
            </a:r>
          </a:p>
          <a:p>
            <a:pPr>
              <a:buNone/>
            </a:pPr>
            <a:r>
              <a:rPr b="0" i="0" u="none"/>
              <a:t/>
            </a:r>
          </a:p>
          <a:p>
            <a:pPr>
              <a:buNone/>
            </a:pPr>
            <a:r>
              <a:rPr b="0" i="0" u="none"/>
              <a:t>GitHub: johnmillerATcodemag-com/AI-Assisted-Software-Development: https://github.com/johnmillerATcodemag-com/AI-Assisted-Software-Development-Course</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The Constitution of Your AI Republic</a:t>
            </a:r>
          </a:p>
        </p:txBody>
      </p:sp>
      <p:sp>
        <p:nvSpPr>
          <p:cNvPr id="3" name="Content Placeholder 2"/>
          <p:cNvSpPr>
            <a:spLocks noGrp="1"/>
          </p:cNvSpPr>
          <p:nvPr>
            <p:ph idx="1" sz="half"/>
          </p:nvPr>
        </p:nvSpPr>
        <p:spPr/>
        <p:txBody>
          <a:bodyPr wrap="square">
            <a:normAutofit/>
          </a:bodyPr>
          <a:lstStyle/>
          <a:p>
            <a:pPr>
              <a:buNone/>
            </a:pPr>
            <a:r>
              <a:rPr b="0" i="0" u="none" sz="1800"/>
              <a:t>Artifact and workflow rules</a:t>
            </a:r>
            <a:endParaRPr sz="1800" b="0" i="0">
              <a:latin typeface="Consolas"/>
            </a:endParaRPr>
          </a:p>
          <a:p>
            <a:pPr>
              <a:buNone/>
            </a:pPr>
            <a:r>
              <a:rPr b="0" i="0" u="none" sz="1800"/>
              <a:t/>
            </a:r>
            <a:endParaRPr sz="1800" b="0" i="0">
              <a:latin typeface="Consolas"/>
            </a:endParaRPr>
          </a:p>
          <a:p>
            <a:pPr/>
            <a:r>
              <a:rPr b="0" i="0" u="none" sz="1800">
                <a:latin typeface="Consolas"/>
              </a:rPr>
              <a:t>ai-assisted-output.instructions.md</a:t>
            </a:r>
            <a:endParaRPr sz="1800" b="0" i="0">
              <a:latin typeface="Consolas"/>
            </a:endParaRPr>
          </a:p>
          <a:p>
            <a:pPr>
              <a:buNone/>
            </a:pPr>
            <a:r>
              <a:rPr b="0" i="0" u="none" sz="1800"/>
              <a:t>  Guidance for AI-generated artifacts</a:t>
            </a:r>
            <a:endParaRPr sz="1800" b="0" i="0">
              <a:latin typeface="Consolas"/>
            </a:endParaRPr>
          </a:p>
          <a:p>
            <a:pPr/>
            <a:r>
              <a:rPr b="0" i="0" u="none" sz="1800">
                <a:latin typeface="Consolas"/>
              </a:rPr>
              <a:t>chatmode-file.instructions.md</a:t>
            </a:r>
            <a:endParaRPr sz="1800" b="0" i="0">
              <a:latin typeface="Consolas"/>
            </a:endParaRPr>
          </a:p>
          <a:p>
            <a:pPr>
              <a:buNone/>
            </a:pPr>
            <a:r>
              <a:rPr b="0" i="0" u="none" sz="1800"/>
              <a:t>  Guidance for generating chat modes</a:t>
            </a:r>
            <a:endParaRPr sz="1800" b="0" i="0">
              <a:latin typeface="Consolas"/>
            </a:endParaRPr>
          </a:p>
          <a:p>
            <a:pPr/>
            <a:r>
              <a:rPr b="0" i="0" u="none" sz="1800">
                <a:latin typeface="Consolas"/>
              </a:rPr>
              <a:t>instruction-files.instructions.md</a:t>
            </a:r>
            <a:endParaRPr sz="1800" b="0" i="0">
              <a:latin typeface="Consolas"/>
            </a:endParaRPr>
          </a:p>
          <a:p>
            <a:pPr>
              <a:buNone/>
            </a:pPr>
            <a:r>
              <a:rPr b="0" i="0" u="none" sz="1800"/>
              <a:t>  Guidance for generating instruction files</a:t>
            </a:r>
            <a:endParaRPr sz="1800" b="0" i="0">
              <a:latin typeface="Consolas"/>
            </a:endParaRPr>
          </a:p>
        </p:txBody>
      </p:sp>
      <p:sp>
        <p:nvSpPr>
          <p:cNvPr id="4" name="Content Placeholder 3"/>
          <p:cNvSpPr>
            <a:spLocks noGrp="1"/>
          </p:cNvSpPr>
          <p:nvPr>
            <p:ph idx="2" sz="half"/>
          </p:nvPr>
        </p:nvSpPr>
        <p:spPr/>
        <p:txBody>
          <a:bodyPr wrap="square">
            <a:normAutofit/>
          </a:bodyPr>
          <a:lstStyle/>
          <a:p>
            <a:pPr>
              <a:buNone/>
            </a:pPr>
            <a:r>
              <a:rPr b="1" i="0" u="none"/>
              <a:t>Prompt-related rules</a:t>
            </a:r>
          </a:p>
          <a:p>
            <a:pPr>
              <a:buNone/>
            </a:pPr>
            <a:r>
              <a:rPr b="0" i="0" u="none"/>
              <a:t/>
            </a:r>
          </a:p>
          <a:p>
            <a:pPr/>
            <a:r>
              <a:rPr b="0" i="0" u="none">
                <a:latin typeface="Consolas"/>
              </a:rPr>
              <a:t>prompt-file.instructions.md</a:t>
            </a:r>
          </a:p>
          <a:p>
            <a:pPr>
              <a:buNone/>
            </a:pPr>
            <a:r>
              <a:rPr b="0" i="0" u="none"/>
              <a:t>  Guidance for generating prompt files</a:t>
            </a:r>
          </a:p>
          <a:p>
            <a:pPr/>
            <a:r>
              <a:rPr b="0" i="0" u="none">
                <a:latin typeface="Consolas"/>
              </a:rPr>
              <a:t>instruction-prompt-files.instructions.md</a:t>
            </a:r>
          </a:p>
          <a:p>
            <a:pPr>
              <a:buNone/>
            </a:pPr>
            <a:r>
              <a:rPr b="0" i="0" u="none"/>
              <a:t>  Guidance for prompts that generate instruction files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Corporate Rules vs. Your Team's Rules</a:t>
            </a:r>
          </a:p>
        </p:txBody>
      </p:sp>
      <p:sp>
        <p:nvSpPr>
          <p:cNvPr id="3" name="Content Placeholder 2"/>
          <p:cNvSpPr>
            <a:spLocks noGrp="1"/>
          </p:cNvSpPr>
          <p:nvPr>
            <p:ph idx="1"/>
          </p:nvPr>
        </p:nvSpPr>
        <p:spPr/>
        <p:txBody>
          <a:bodyPr wrap="square">
            <a:normAutofit/>
          </a:bodyPr>
          <a:lstStyle/>
          <a:p>
            <a:pPr/>
            <a:r>
              <a:rPr b="0" i="0" u="none" sz="2800"/>
              <a:t>Business/Enterprise tier capabilities</a:t>
            </a:r>
            <a:endParaRPr sz="2800" b="0" i="0">
              <a:latin typeface="Arial"/>
            </a:endParaRPr>
          </a:p>
          <a:p>
            <a:pPr/>
            <a:r>
              <a:rPr b="0" i="0" u="none" sz="2800"/>
              <a:t>Path-scoped instruction files</a:t>
            </a:r>
            <a:endParaRPr sz="2800" b="0" i="0">
              <a:latin typeface="Arial"/>
            </a:endParaRPr>
          </a:p>
          <a:p>
            <a:pPr/>
            <a:r>
              <a:rPr b="0" i="0" u="none" sz="2800"/>
              <a:t>Folder-level technology-specific rules</a:t>
            </a:r>
            <a:endParaRPr sz="2800" b="0" i="0">
              <a:latin typeface="Arial"/>
            </a:endParaRP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Why Two Instruction Layers Exist</a:t>
            </a:r>
          </a:p>
        </p:txBody>
      </p:sp>
      <p:sp>
        <p:nvSpPr>
          <p:cNvPr id="3" name="Content Placeholder 2"/>
          <p:cNvSpPr>
            <a:spLocks noGrp="1"/>
          </p:cNvSpPr>
          <p:nvPr>
            <p:ph idx="1"/>
          </p:nvPr>
        </p:nvSpPr>
        <p:spPr/>
        <p:txBody>
          <a:bodyPr wrap="square">
            <a:normAutofit/>
          </a:bodyPr>
          <a:lstStyle/>
          <a:p>
            <a:pPr/>
            <a:r>
              <a:rPr b="0" i="0" u="none" sz="2800"/>
              <a:t>Enterprise instructions enforce baseline policy and governance</a:t>
            </a:r>
            <a:endParaRPr sz="2800" b="0" i="0">
              <a:latin typeface="Arial"/>
            </a:endParaRPr>
          </a:p>
          <a:p>
            <a:pPr/>
            <a:r>
              <a:rPr b="0" i="0" u="none" sz="2800"/>
              <a:t>Repository instructions optimize for project context and implementation detail</a:t>
            </a:r>
            <a:endParaRPr sz="2800" b="0" i="0">
              <a:latin typeface="Arial"/>
            </a:endParaRPr>
          </a:p>
          <a:p>
            <a:pPr/>
            <a:r>
              <a:rPr b="0" i="0" u="none" sz="2800"/>
              <a:t>Together they balance consistency and local autonomy</a:t>
            </a:r>
            <a:endParaRPr sz="2800" b="0" i="0">
              <a:latin typeface="Arial"/>
            </a:endParaRPr>
          </a:p>
          <a:p>
            <a:pPr>
              <a:buNone/>
            </a:pPr>
            <a:r>
              <a:rPr b="0" i="0" u="none" sz="2800"/>
              <a:t/>
            </a:r>
            <a:endParaRPr sz="2800" b="0" i="0">
              <a:latin typeface="Arial"/>
            </a:endParaRPr>
          </a:p>
          <a:p>
            <a:pPr>
              <a:buNone/>
            </a:pPr>
            <a:r>
              <a:rPr b="0" i="0" u="none" sz="2800"/>
              <a:t>### Key Idea</a:t>
            </a:r>
            <a:endParaRPr sz="2800" b="0" i="0">
              <a:latin typeface="Arial"/>
            </a:endParaRPr>
          </a:p>
          <a:p>
            <a:pPr>
              <a:buNone/>
            </a:pPr>
            <a:r>
              <a:rPr b="0" i="0" u="none" sz="2800"/>
              <a:t/>
            </a:r>
            <a:endParaRPr sz="2800" b="0" i="0">
              <a:latin typeface="Arial"/>
            </a:endParaRPr>
          </a:p>
          <a:p>
            <a:pPr>
              <a:buNone/>
            </a:pPr>
            <a:r>
              <a:rPr b="0" i="0" u="none" sz="2800"/>
              <a:t>Define global guardrails once, then narrow behavior where code lives.</a:t>
            </a:r>
            <a:endParaRPr sz="2800" b="0" i="0">
              <a:latin typeface="Arial"/>
            </a:endParaRP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Business/Enterprise Tier Capabilities</a:t>
            </a:r>
          </a:p>
        </p:txBody>
      </p:sp>
      <p:sp>
        <p:nvSpPr>
          <p:cNvPr id="3" name="Content Placeholder 2"/>
          <p:cNvSpPr>
            <a:spLocks noGrp="1"/>
          </p:cNvSpPr>
          <p:nvPr>
            <p:ph idx="1"/>
          </p:nvPr>
        </p:nvSpPr>
        <p:spPr/>
        <p:txBody>
          <a:bodyPr wrap="square">
            <a:normAutofit/>
          </a:bodyPr>
          <a:lstStyle/>
          <a:p>
            <a:pPr/>
            <a:r>
              <a:rPr b="0" i="0" u="none" sz="2800"/>
              <a:t>Organization-wide safety and compliance standards</a:t>
            </a:r>
            <a:endParaRPr sz="2800" b="0" i="0">
              <a:latin typeface="Arial"/>
            </a:endParaRPr>
          </a:p>
          <a:p>
            <a:pPr/>
            <a:r>
              <a:rPr b="0" i="0" u="none" sz="2800"/>
              <a:t>Approved model and tool usage policy</a:t>
            </a:r>
            <a:endParaRPr sz="2800" b="0" i="0">
              <a:latin typeface="Arial"/>
            </a:endParaRPr>
          </a:p>
          <a:p>
            <a:pPr/>
            <a:r>
              <a:rPr b="0" i="0" u="none" sz="2800"/>
              <a:t>Mandatory provenance and audit requirements</a:t>
            </a:r>
            <a:endParaRPr sz="2800" b="0" i="0">
              <a:latin typeface="Arial"/>
            </a:endParaRPr>
          </a:p>
          <a:p>
            <a:pPr/>
            <a:r>
              <a:rPr b="0" i="0" u="none" sz="2800"/>
              <a:t>Security and legal baselines (secret handling, license constraints)</a:t>
            </a:r>
            <a:endParaRPr sz="2800" b="0" i="0">
              <a:latin typeface="Arial"/>
            </a:endParaRPr>
          </a:p>
          <a:p>
            <a:pPr/>
            <a:r>
              <a:rPr b="0" i="0" u="none" sz="2800"/>
              <a:t>Shared quality gates for CI/CD</a:t>
            </a:r>
            <a:endParaRPr sz="2800" b="0" i="0">
              <a:latin typeface="Arial"/>
            </a:endParaRPr>
          </a:p>
          <a:p>
            <a:pPr>
              <a:buNone/>
            </a:pPr>
            <a:r>
              <a:rPr b="0" i="0" u="none" sz="2800"/>
              <a:t/>
            </a:r>
            <a:endParaRPr sz="2800" b="0" i="0">
              <a:latin typeface="Arial"/>
            </a:endParaRPr>
          </a:p>
          <a:p>
            <a:pPr>
              <a:buNone/>
            </a:pPr>
            <a:r>
              <a:rPr b="0" i="0" u="none" sz="2800"/>
              <a:t>### Typical Scope</a:t>
            </a:r>
            <a:endParaRPr sz="2800" b="0" i="0">
              <a:latin typeface="Arial"/>
            </a:endParaRPr>
          </a:p>
          <a:p>
            <a:pPr>
              <a:buNone/>
            </a:pPr>
            <a:r>
              <a:rPr b="0" i="0" u="none" sz="2800"/>
              <a:t/>
            </a:r>
            <a:endParaRPr sz="2800" b="0" i="0">
              <a:latin typeface="Arial"/>
            </a:endParaRPr>
          </a:p>
          <a:p>
            <a:pPr>
              <a:buNone/>
            </a:pPr>
            <a:r>
              <a:rPr b="0" i="0" u="none" sz="2800"/>
              <a:t>All repositories, all teams, all environments.</a:t>
            </a:r>
            <a:endParaRPr sz="2800" b="0" i="0">
              <a:latin typeface="Arial"/>
            </a:endParaRP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Path-Scoped Instruction Files</a:t>
            </a:r>
          </a:p>
        </p:txBody>
      </p:sp>
      <p:sp>
        <p:nvSpPr>
          <p:cNvPr id="3" name="Content Placeholder 2"/>
          <p:cNvSpPr>
            <a:spLocks noGrp="1"/>
          </p:cNvSpPr>
          <p:nvPr>
            <p:ph idx="1"/>
          </p:nvPr>
        </p:nvSpPr>
        <p:spPr/>
        <p:txBody>
          <a:bodyPr wrap="square">
            <a:normAutofit/>
          </a:bodyPr>
          <a:lstStyle/>
          <a:p>
            <a:pPr>
              <a:buNone/>
            </a:pPr>
            <a:r>
              <a:rPr b="0" i="0" u="none" sz="1800"/>
              <a:t>Path-scoped instructions apply behavior only where it is needed.</a:t>
            </a:r>
            <a:endParaRPr sz="1800" b="0" i="0">
              <a:latin typeface="Consolas"/>
            </a:endParaRPr>
          </a:p>
          <a:p>
            <a:pPr>
              <a:buNone/>
            </a:pPr>
            <a:r>
              <a:rPr b="0" i="0" u="none" sz="1800"/>
              <a:t/>
            </a:r>
            <a:endParaRPr sz="1800" b="0" i="0">
              <a:latin typeface="Consolas"/>
            </a:endParaRPr>
          </a:p>
          <a:p>
            <a:pPr>
              <a:buNone/>
            </a:pPr>
            <a:r>
              <a:rPr sz="1800" b="0" i="0">
                <a:latin typeface="Consolas"/>
              </a:rPr>
              <a:t>applyTo: "slides/marp/**"</a:t>
            </a:r>
            <a:endParaRPr sz="1800" b="0" i="0">
              <a:latin typeface="Consolas"/>
            </a:endParaRPr>
          </a:p>
          <a:p>
            <a:pPr>
              <a:buNone/>
            </a:pPr>
            <a:r>
              <a:rPr b="0" i="0" u="none" sz="1800"/>
              <a:t/>
            </a:r>
            <a:endParaRPr sz="1800" b="0" i="0">
              <a:latin typeface="Consolas"/>
            </a:endParaRPr>
          </a:p>
          <a:p>
            <a:pPr>
              <a:buNone/>
            </a:pPr>
            <a:r>
              <a:rPr sz="1800" b="0" i="0">
                <a:latin typeface="Consolas"/>
              </a:rPr>
              <a:t>applyTo: "**/*.{cs,ts,js,py,java,go,rb}"</a:t>
            </a:r>
            <a:endParaRPr sz="1800" b="0" i="0">
              <a:latin typeface="Consolas"/>
            </a:endParaRPr>
          </a:p>
          <a:p>
            <a:pPr>
              <a:buNone/>
            </a:pPr>
            <a:r>
              <a:rPr b="0" i="0" u="none" sz="1800"/>
              <a:t/>
            </a:r>
            <a:endParaRPr sz="1800" b="0" i="0">
              <a:latin typeface="Consolas"/>
            </a:endParaRPr>
          </a:p>
          <a:p>
            <a:pPr>
              <a:buNone/>
            </a:pPr>
            <a:r>
              <a:rPr sz="1800" b="0" i="0">
                <a:latin typeface="Consolas"/>
              </a:rPr>
              <a:t>applyTo: "**/*.instructions.md"</a:t>
            </a:r>
            <a:endParaRPr sz="1800" b="0" i="0">
              <a:latin typeface="Consolas"/>
            </a:endParaRPr>
          </a:p>
          <a:p>
            <a:pPr>
              <a:buNone/>
            </a:pPr>
            <a:r>
              <a:rPr b="0" i="0" u="none" sz="1800"/>
              <a:t/>
            </a:r>
            <a:endParaRPr sz="1800" b="0" i="0">
              <a:latin typeface="Consolas"/>
            </a:endParaRPr>
          </a:p>
          <a:p>
            <a:pPr>
              <a:buNone/>
            </a:pPr>
            <a:r>
              <a:rPr b="0" i="0" u="none" sz="1800"/>
              <a:t>### Benefit</a:t>
            </a:r>
            <a:endParaRPr sz="1800" b="0" i="0">
              <a:latin typeface="Consolas"/>
            </a:endParaRPr>
          </a:p>
          <a:p>
            <a:pPr>
              <a:buNone/>
            </a:pPr>
            <a:r>
              <a:rPr b="0" i="0" u="none" sz="1800"/>
              <a:t/>
            </a:r>
            <a:endParaRPr sz="1800" b="0" i="0">
              <a:latin typeface="Consolas"/>
            </a:endParaRPr>
          </a:p>
          <a:p>
            <a:pPr>
              <a:buNone/>
            </a:pPr>
            <a:r>
              <a:rPr b="0" i="0" u="none" sz="1800"/>
              <a:t>Granular control without forcing unrelated files to follow irrelevant rules.</a:t>
            </a:r>
            <a:endParaRPr sz="1800" b="0" i="0">
              <a:latin typeface="Consolas"/>
            </a:endParaRP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Folder-Level Technology-Specific Rules</a:t>
            </a:r>
          </a:p>
        </p:txBody>
      </p:sp>
      <p:sp>
        <p:nvSpPr>
          <p:cNvPr id="3" name="Content Placeholder 2"/>
          <p:cNvSpPr>
            <a:spLocks noGrp="1"/>
          </p:cNvSpPr>
          <p:nvPr>
            <p:ph idx="1"/>
          </p:nvPr>
        </p:nvSpPr>
        <p:spPr/>
        <p:txBody>
          <a:bodyPr wrap="square">
            <a:normAutofit/>
          </a:bodyPr>
          <a:lstStyle/>
          <a:p>
            <a:pPr>
              <a:buNone/>
            </a:pPr>
            <a:r>
              <a:rPr b="0" i="0" u="none" sz="1800"/>
              <a:t>Use folder-level rules to match local stack and workflow.</a:t>
            </a:r>
            <a:endParaRPr sz="1800" b="0" i="0">
              <a:latin typeface="Consolas"/>
            </a:endParaRPr>
          </a:p>
          <a:p>
            <a:pPr>
              <a:buNone/>
            </a:pPr>
            <a:r>
              <a:rPr b="0" i="0" u="none" sz="1800"/>
              <a:t/>
            </a:r>
            <a:endParaRPr sz="1800" b="0" i="0">
              <a:latin typeface="Consolas"/>
            </a:endParaRPr>
          </a:p>
          <a:p>
            <a:pPr/>
            <a:r>
              <a:rPr b="0" i="0" u="none" sz="1800">
                <a:latin typeface="Consolas"/>
              </a:rPr>
              <a:t>slides/</a:t>
            </a:r>
            <a:r>
              <a:rPr b="0" i="0" u="none" sz="1800"/>
              <a:t> for Marp formatting and speaker-note conventions</a:t>
            </a:r>
            <a:endParaRPr sz="1800" b="0" i="0">
              <a:latin typeface="Consolas"/>
            </a:endParaRPr>
          </a:p>
          <a:p>
            <a:pPr/>
            <a:r>
              <a:rPr b="0" i="0" u="none" sz="1800">
                <a:latin typeface="Consolas"/>
              </a:rPr>
              <a:t>Labs/lab1-3-python/</a:t>
            </a:r>
            <a:r>
              <a:rPr b="0" i="0" u="none" sz="1800"/>
              <a:t> for Python lint/test guidance</a:t>
            </a:r>
            <a:endParaRPr sz="1800" b="0" i="0">
              <a:latin typeface="Consolas"/>
            </a:endParaRPr>
          </a:p>
          <a:p>
            <a:pPr/>
            <a:r>
              <a:rPr b="0" i="0" u="none" sz="1800">
                <a:latin typeface="Consolas"/>
              </a:rPr>
              <a:t>Labs/lab1-3-typescript/</a:t>
            </a:r>
            <a:r>
              <a:rPr b="0" i="0" u="none" sz="1800"/>
              <a:t> for TypeScript build/test patterns</a:t>
            </a:r>
            <a:endParaRPr sz="1800" b="0" i="0">
              <a:latin typeface="Consolas"/>
            </a:endParaRPr>
          </a:p>
          <a:p>
            <a:pPr/>
            <a:r>
              <a:rPr b="0" i="0" u="none" sz="1800">
                <a:latin typeface="Consolas"/>
              </a:rPr>
              <a:t>Course/course.github/</a:t>
            </a:r>
            <a:r>
              <a:rPr b="0" i="0" u="none" sz="1800"/>
              <a:t> for docs automation and publishing rules</a:t>
            </a:r>
            <a:endParaRPr sz="1800" b="0" i="0">
              <a:latin typeface="Consolas"/>
            </a:endParaRPr>
          </a:p>
          <a:p>
            <a:pPr>
              <a:buNone/>
            </a:pPr>
            <a:r>
              <a:rPr b="0" i="0" u="none" sz="1800"/>
              <a:t/>
            </a:r>
            <a:endParaRPr sz="1800" b="0" i="0">
              <a:latin typeface="Consolas"/>
            </a:endParaRPr>
          </a:p>
          <a:p>
            <a:pPr>
              <a:buNone/>
            </a:pPr>
            <a:r>
              <a:rPr b="0" i="0" u="none" sz="1800"/>
              <a:t>### Pattern</a:t>
            </a:r>
            <a:endParaRPr sz="1800" b="0" i="0">
              <a:latin typeface="Consolas"/>
            </a:endParaRPr>
          </a:p>
          <a:p>
            <a:pPr>
              <a:buNone/>
            </a:pPr>
            <a:r>
              <a:rPr b="0" i="0" u="none" sz="1800"/>
              <a:t/>
            </a:r>
            <a:endParaRPr sz="1800" b="0" i="0">
              <a:latin typeface="Consolas"/>
            </a:endParaRPr>
          </a:p>
          <a:p>
            <a:pPr>
              <a:buNone/>
            </a:pPr>
            <a:r>
              <a:rPr b="0" i="0" u="none" sz="1800"/>
              <a:t>Place rules near code ownership boundaries.</a:t>
            </a:r>
            <a:endParaRPr sz="1800" b="0" i="0">
              <a:latin typeface="Consolas"/>
            </a:endParaRP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Layering Model and Precedence</a:t>
            </a:r>
          </a:p>
        </p:txBody>
      </p:sp>
      <p:sp>
        <p:nvSpPr>
          <p:cNvPr id="3" name="Content Placeholder 2"/>
          <p:cNvSpPr>
            <a:spLocks noGrp="1"/>
          </p:cNvSpPr>
          <p:nvPr>
            <p:ph idx="1"/>
          </p:nvPr>
        </p:nvSpPr>
        <p:spPr/>
        <p:txBody>
          <a:bodyPr wrap="square">
            <a:normAutofit/>
          </a:bodyPr>
          <a:lstStyle/>
          <a:p>
            <a:pPr>
              <a:buNone/>
            </a:pPr>
            <a:r>
              <a:rPr b="0" i="0" u="none" sz="2800"/>
              <a:t>### Resolution Rule</a:t>
            </a:r>
            <a:endParaRPr sz="2800" b="0" i="0">
              <a:latin typeface="Arial"/>
            </a:endParaRPr>
          </a:p>
          <a:p>
            <a:pPr>
              <a:buNone/>
            </a:pPr>
            <a:r>
              <a:rPr b="0" i="0" u="none" sz="2800"/>
              <a:t/>
            </a:r>
            <a:endParaRPr sz="2800" b="0" i="0">
              <a:latin typeface="Arial"/>
            </a:endParaRPr>
          </a:p>
          <a:p>
            <a:pPr>
              <a:buNone/>
            </a:pPr>
            <a:r>
              <a:rPr b="0" i="0" u="none" sz="2800"/>
              <a:t>Prefer the most specific matching instruction when guidance overlaps.</a:t>
            </a:r>
            <a:endParaRPr sz="2800" b="0" i="0">
              <a:latin typeface="Arial"/>
            </a:endParaRPr>
          </a:p>
        </p:txBody>
      </p:sp>
      <p:pic>
        <p:nvPicPr>
          <p:cNvPr id="4" name="Picture 3" descr="1d1d05acc54338c85fce0ab5b4e32ed0f6ce41fb.png"/>
          <p:cNvPicPr>
            <a:picLocks noChangeAspect="1"/>
          </p:cNvPicPr>
          <p:nvPr/>
        </p:nvPicPr>
        <p:blipFill>
          <a:blip r:embed="rId2"/>
          <a:stretch>
            <a:fillRect/>
          </a:stretch>
        </p:blipFill>
        <p:spPr>
          <a:xfrm>
            <a:off x="5852160" y="3291840"/>
            <a:ext cx="2926080" cy="5685635"/>
          </a:xfrm>
          <a:prstGeom prst="rect">
            <a:avLst/>
          </a:prstGeom>
        </p:spPr>
      </p:pic>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Practical Governance Checklist</a:t>
            </a:r>
          </a:p>
        </p:txBody>
      </p:sp>
      <p:sp>
        <p:nvSpPr>
          <p:cNvPr id="3" name="Content Placeholder 2"/>
          <p:cNvSpPr>
            <a:spLocks noGrp="1"/>
          </p:cNvSpPr>
          <p:nvPr>
            <p:ph idx="1"/>
          </p:nvPr>
        </p:nvSpPr>
        <p:spPr/>
        <p:txBody>
          <a:bodyPr wrap="square">
            <a:normAutofit/>
          </a:bodyPr>
          <a:lstStyle/>
          <a:p>
            <a:pPr/>
            <a:r>
              <a:rPr b="0" i="0" u="none" sz="1800"/>
              <a:t>Keep enterprise files policy-focused and durable</a:t>
            </a:r>
            <a:endParaRPr sz="1800" b="0" i="0">
              <a:latin typeface="Consolas"/>
            </a:endParaRPr>
          </a:p>
          <a:p>
            <a:pPr/>
            <a:r>
              <a:rPr b="0" i="0" u="none" sz="1800"/>
              <a:t>Keep repository files implementation-focused and current</a:t>
            </a:r>
            <a:endParaRPr sz="1800" b="0" i="0">
              <a:latin typeface="Consolas"/>
            </a:endParaRPr>
          </a:p>
          <a:p>
            <a:pPr/>
            <a:r>
              <a:rPr b="0" i="0" u="none" sz="1800"/>
              <a:t>Use explicit </a:t>
            </a:r>
            <a:r>
              <a:rPr b="0" i="0" u="none" sz="1800">
                <a:latin typeface="Consolas"/>
              </a:rPr>
              <a:t>applyTo</a:t>
            </a:r>
            <a:r>
              <a:rPr b="0" i="0" u="none" sz="1800"/>
              <a:t> patterns for every specialized rule file</a:t>
            </a:r>
            <a:endParaRPr sz="1800" b="0" i="0">
              <a:latin typeface="Consolas"/>
            </a:endParaRPr>
          </a:p>
          <a:p>
            <a:pPr/>
            <a:r>
              <a:rPr b="0" i="0" u="none" sz="1800"/>
              <a:t>Review instruction overlap quarterly to reduce conflicts</a:t>
            </a:r>
            <a:endParaRPr sz="1800" b="0" i="0">
              <a:latin typeface="Consolas"/>
            </a:endParaRPr>
          </a:p>
          <a:p>
            <a:pPr/>
            <a:r>
              <a:rPr b="0" i="0" u="none" sz="1800"/>
              <a:t>Validate behavior with small representative prompts per folder</a:t>
            </a:r>
            <a:endParaRPr sz="1800" b="0" i="0">
              <a:latin typeface="Consolas"/>
            </a:endParaRP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t>Exercise: Take Stock Before You Start Spending Tokens</a:t>
            </a:r>
          </a:p>
        </p:txBody>
      </p:sp>
      <p:sp>
        <p:nvSpPr>
          <p:cNvPr id="3" name="Content Placeholder 2"/>
          <p:cNvSpPr>
            <a:spLocks noGrp="1"/>
          </p:cNvSpPr>
          <p:nvPr>
            <p:ph idx="1"/>
          </p:nvPr>
        </p:nvSpPr>
        <p:spPr/>
        <p:txBody>
          <a:bodyPr wrap="square">
            <a:normAutofit/>
          </a:bodyPr>
          <a:lstStyle/>
          <a:p>
            <a:pPr>
              <a:buNone/>
            </a:pPr>
            <a:r>
              <a:rPr b="0" i="0" u="none" sz="1800"/>
              <a:t>Objectives</a:t>
            </a:r>
            <a:endParaRPr sz="1800" b="0" i="0">
              <a:latin typeface="Arial"/>
            </a:endParaRPr>
          </a:p>
          <a:p>
            <a:pPr>
              <a:buNone/>
            </a:pPr>
            <a:r>
              <a:rPr b="0" i="0" u="none" sz="1800"/>
              <a:t/>
            </a:r>
            <a:endParaRPr sz="1800" b="0" i="0">
              <a:latin typeface="Arial"/>
            </a:endParaRPr>
          </a:p>
          <a:p>
            <a:pPr/>
            <a:r>
              <a:rPr b="0" i="0" u="none" sz="1800"/>
              <a:t>Create a clear inventory of project technologies across the repository</a:t>
            </a:r>
            <a:endParaRPr sz="1800" b="0" i="0">
              <a:latin typeface="Arial"/>
            </a:endParaRPr>
          </a:p>
          <a:p>
            <a:pPr/>
            <a:r>
              <a:rPr b="0" i="0" u="none" sz="1800"/>
              <a:t>Use background sessions to run concurrent analysis and drafting work</a:t>
            </a:r>
            <a:endParaRPr sz="1800" b="0" i="0">
              <a:latin typeface="Arial"/>
            </a:endParaRPr>
          </a:p>
          <a:p>
            <a:pPr/>
            <a:r>
              <a:rPr b="0" i="0" u="none" sz="1800"/>
              <a:t>Generate multiple instruction files simultaneously from the inventory results</a:t>
            </a:r>
            <a:endParaRPr sz="1800" b="0" i="0">
              <a:latin typeface="Arial"/>
            </a:endParaRPr>
          </a:p>
          <a:p>
            <a:pPr/>
            <a:r>
              <a:rPr b="0" i="0" u="none" sz="1800"/>
              <a:t>Practice session management interface workflows for parallel task control</a:t>
            </a:r>
            <a:endParaRPr sz="1800" b="0" i="0">
              <a:latin typeface="Arial"/>
            </a:endParaRPr>
          </a:p>
          <a:p>
            <a:pPr>
              <a:buNone/>
            </a:pPr>
            <a:r>
              <a:rPr b="0" i="0" u="none" sz="1800"/>
              <a:t/>
            </a:r>
            <a:endParaRPr sz="1800" b="0" i="0">
              <a:latin typeface="Arial"/>
            </a:endParaRPr>
          </a:p>
          <a:p>
            <a:pPr>
              <a:buNone/>
            </a:pPr>
            <a:r>
              <a:rPr b="0" i="0" u="none" sz="1800"/>
              <a:t>Activities</a:t>
            </a:r>
            <a:endParaRPr sz="1800" b="0" i="0">
              <a:latin typeface="Arial"/>
            </a:endParaRPr>
          </a:p>
          <a:p>
            <a:pPr>
              <a:buNone/>
            </a:pPr>
            <a:r>
              <a:rPr b="0" i="0" u="none" sz="1800"/>
              <a:t/>
            </a:r>
            <a:endParaRPr sz="1800" b="0" i="0">
              <a:latin typeface="Arial"/>
            </a:endParaRPr>
          </a:p>
          <a:p>
            <a:pPr>
              <a:buNone/>
            </a:pPr>
            <a:r>
              <a:rPr b="0" i="0" u="none" sz="1800"/>
              <a:t>1. Technology Inventory Build:</a:t>
            </a:r>
            <a:endParaRPr sz="1800" b="0" i="0">
              <a:latin typeface="Arial"/>
            </a:endParaRPr>
          </a:p>
          <a:p>
            <a:pPr>
              <a:buNone/>
            </a:pPr>
            <a:r>
              <a:rPr b="0" i="0" u="none" sz="1800"/>
              <a:t/>
            </a:r>
            <a:endParaRPr sz="1800" b="0" i="0">
              <a:latin typeface="Arial"/>
            </a:endParaRPr>
          </a:p>
          <a:p>
            <a:pPr/>
            <a:r>
              <a:rPr b="0" i="0" u="none" sz="1800"/>
              <a:t>Scan the repository and list languages, frameworks, build tools, and test stacks</a:t>
            </a:r>
            <a:endParaRPr sz="1800" b="0" i="0">
              <a:latin typeface="Arial"/>
            </a:endParaRPr>
          </a:p>
          <a:p>
            <a:pPr/>
            <a:r>
              <a:rPr b="0" i="0" u="none" sz="1800"/>
              <a:t>Group technologies by folder ownership and lifecycle criticality</a:t>
            </a:r>
            <a:endParaRPr sz="1800" b="0" i="0">
              <a:latin typeface="Arial"/>
            </a:endParaRPr>
          </a:p>
          <a:p>
            <a:pPr/>
            <a:r>
              <a:rPr b="0" i="0" u="none" sz="1800"/>
              <a:t>Identify missing or outdated instruction coverage per technology area</a:t>
            </a:r>
            <a:endParaRPr sz="1800" b="0" i="0">
              <a:latin typeface="Arial"/>
            </a:endParaRPr>
          </a:p>
          <a:p>
            <a:pPr>
              <a:buNone/>
            </a:pPr>
            <a:r>
              <a:rPr b="0" i="0" u="none" sz="1800"/>
              <a:t/>
            </a:r>
            <a:endParaRPr sz="1800" b="0" i="0">
              <a:latin typeface="Arial"/>
            </a:endParaRPr>
          </a:p>
          <a:p>
            <a:pPr>
              <a:buNone/>
            </a:pPr>
            <a:r>
              <a:rPr b="0" i="0" u="none" sz="1800"/>
              <a:t>2. Background Session Orchestration:</a:t>
            </a:r>
            <a:endParaRPr sz="1800" b="0" i="0">
              <a:latin typeface="Arial"/>
            </a:endParaRPr>
          </a:p>
          <a:p>
            <a:pPr>
              <a:buNone/>
            </a:pPr>
            <a:r>
              <a:rPr b="0" i="0" u="none" sz="1800"/>
              <a:t/>
            </a:r>
            <a:endParaRPr sz="1800" b="0" i="0">
              <a:latin typeface="Arial"/>
            </a:endParaRPr>
          </a:p>
          <a:p>
            <a:pPr/>
            <a:r>
              <a:rPr b="0" i="0" u="none" sz="1800"/>
              <a:t>Start parallel background sessions for discovery, drafting, and validation</a:t>
            </a:r>
            <a:endParaRPr sz="1800" b="0" i="0">
              <a:latin typeface="Arial"/>
            </a:endParaRPr>
          </a:p>
          <a:p>
            <a:pPr/>
            <a:r>
              <a:rPr b="0" i="0" u="none" sz="1800"/>
              <a:t>Assign one focused outcome per session (inventory, file generation, review)</a:t>
            </a:r>
            <a:endParaRPr sz="1800" b="0" i="0">
              <a:latin typeface="Arial"/>
            </a:endParaRPr>
          </a:p>
          <a:p>
            <a:pPr/>
            <a:r>
              <a:rPr b="0" i="0" u="none" sz="1800"/>
              <a:t>Capture each session's outputs and merge findings into one working backlog</a:t>
            </a:r>
            <a:endParaRPr sz="1800" b="0" i="0">
              <a:latin typeface="Arial"/>
            </a:endParaRPr>
          </a:p>
          <a:p>
            <a:pPr>
              <a:buNone/>
            </a:pPr>
            <a:r>
              <a:rPr b="0" i="0" u="none" sz="1800"/>
              <a:t/>
            </a:r>
            <a:endParaRPr sz="1800" b="0" i="0">
              <a:latin typeface="Arial"/>
            </a:endParaRPr>
          </a:p>
          <a:p>
            <a:pPr>
              <a:buNone/>
            </a:pPr>
            <a:r>
              <a:rPr b="0" i="0" u="none" sz="1800"/>
              <a:t>3. Simultaneous Instruction Generation:</a:t>
            </a:r>
            <a:endParaRPr sz="1800" b="0" i="0">
              <a:latin typeface="Arial"/>
            </a:endParaRPr>
          </a:p>
          <a:p>
            <a:pPr>
              <a:buNone/>
            </a:pPr>
            <a:r>
              <a:rPr b="0" i="0" u="none" sz="1800"/>
              <a:t/>
            </a:r>
            <a:endParaRPr sz="1800" b="0" i="0">
              <a:latin typeface="Arial"/>
            </a:endParaRPr>
          </a:p>
          <a:p>
            <a:pPr/>
            <a:r>
              <a:rPr b="0" i="0" u="none" sz="1800"/>
              <a:t>Generate multiple instruction files for high-priority technology folders</a:t>
            </a:r>
            <a:endParaRPr sz="1800" b="0" i="0">
              <a:latin typeface="Arial"/>
            </a:endParaRPr>
          </a:p>
          <a:p>
            <a:pPr/>
            <a:r>
              <a:rPr b="0" i="0" u="none" sz="1800"/>
              <a:t>Apply path-scoped patterns to each generated instruction file</a:t>
            </a:r>
            <a:endParaRPr sz="1800" b="0" i="0">
              <a:latin typeface="Arial"/>
            </a:endParaRPr>
          </a:p>
          <a:p>
            <a:pPr/>
            <a:r>
              <a:rPr b="0" i="0" u="none" sz="1800"/>
              <a:t>Validate that each file is targeted, non-overlapping, and implementation-ready</a:t>
            </a:r>
            <a:endParaRPr sz="1800" b="0" i="0">
              <a:latin typeface="Arial"/>
            </a:endParaRPr>
          </a:p>
          <a:p>
            <a:pPr>
              <a:buNone/>
            </a:pPr>
            <a:r>
              <a:rPr b="0" i="0" u="none" sz="1800"/>
              <a:t/>
            </a:r>
            <a:endParaRPr sz="1800" b="0" i="0">
              <a:latin typeface="Arial"/>
            </a:endParaRPr>
          </a:p>
          <a:p>
            <a:pPr>
              <a:buNone/>
            </a:pPr>
            <a:r>
              <a:rPr b="0" i="0" u="none" sz="1800"/>
              <a:t>4. Session Management Interface Review:</a:t>
            </a:r>
            <a:endParaRPr sz="1800" b="0" i="0">
              <a:latin typeface="Arial"/>
            </a:endParaRPr>
          </a:p>
          <a:p>
            <a:pPr>
              <a:buNone/>
            </a:pPr>
            <a:r>
              <a:rPr b="0" i="0" u="none" sz="1800"/>
              <a:t/>
            </a:r>
            <a:endParaRPr sz="1800" b="0" i="0">
              <a:latin typeface="Arial"/>
            </a:endParaRPr>
          </a:p>
          <a:p>
            <a:pPr/>
            <a:r>
              <a:rPr b="0" i="0" u="none" sz="1800"/>
              <a:t>Track session state, ownership, and completion status</a:t>
            </a:r>
            <a:endParaRPr sz="1800" b="0" i="0">
              <a:latin typeface="Arial"/>
            </a:endParaRPr>
          </a:p>
          <a:p>
            <a:pPr/>
            <a:r>
              <a:rPr b="0" i="0" u="none" sz="1800"/>
              <a:t>Resolve collisions between concurrently generated instruction outputs</a:t>
            </a:r>
            <a:endParaRPr sz="1800" b="0" i="0">
              <a:latin typeface="Arial"/>
            </a:endParaRPr>
          </a:p>
          <a:p>
            <a:pPr/>
            <a:r>
              <a:rPr b="0" i="0" u="none" sz="1800"/>
              <a:t>Close sessions with a summarized decision log and next-step actions</a:t>
            </a:r>
            <a:endParaRPr sz="1800" b="0" i="0">
              <a:latin typeface="Arial"/>
            </a:endParaRPr>
          </a:p>
          <a:p>
            <a:pPr>
              <a:buNone/>
            </a:pPr>
            <a:r>
              <a:rPr b="0" i="0" u="none" sz="1800"/>
              <a:t/>
            </a:r>
            <a:endParaRPr sz="1800" b="0" i="0">
              <a:latin typeface="Arial"/>
            </a:endParaRPr>
          </a:p>
          <a:p>
            <a:pPr>
              <a:buNone/>
            </a:pPr>
            <a:r>
              <a:rPr b="0" i="0" u="none" sz="1800"/>
              <a:t>Success Criteria</a:t>
            </a:r>
            <a:endParaRPr sz="1800" b="0" i="0">
              <a:latin typeface="Arial"/>
            </a:endParaRPr>
          </a:p>
          <a:p>
            <a:pPr>
              <a:buNone/>
            </a:pPr>
            <a:r>
              <a:rPr b="0" i="0" u="none" sz="1800"/>
              <a:t/>
            </a:r>
            <a:endParaRPr sz="1800" b="0" i="0">
              <a:latin typeface="Arial"/>
            </a:endParaRPr>
          </a:p>
          <a:p>
            <a:pPr/>
            <a:r>
              <a:rPr b="0" i="0" u="none" sz="1800"/>
              <a:t>Technology inventory includes stack, location, and risk/priority attributes</a:t>
            </a:r>
            <a:endParaRPr sz="1800" b="0" i="0">
              <a:latin typeface="Arial"/>
            </a:endParaRPr>
          </a:p>
          <a:p>
            <a:pPr/>
            <a:r>
              <a:rPr b="0" i="0" u="none" sz="1800"/>
              <a:t>At least three instruction files are generated concurrently and scoped correctly</a:t>
            </a:r>
            <a:endParaRPr sz="1800" b="0" i="0">
              <a:latin typeface="Arial"/>
            </a:endParaRPr>
          </a:p>
          <a:p>
            <a:pPr/>
            <a:r>
              <a:rPr b="0" i="0" u="none" sz="1800"/>
              <a:t>Background sessions are documented with clear responsibilities and outcomes</a:t>
            </a:r>
            <a:endParaRPr sz="1800" b="0" i="0">
              <a:latin typeface="Arial"/>
            </a:endParaRPr>
          </a:p>
          <a:p>
            <a:pPr/>
            <a:r>
              <a:rPr b="0" i="0" u="none" sz="1800"/>
              <a:t>Session management process is repeatable for future multi-stream work</a:t>
            </a:r>
            <a:endParaRPr sz="1800" b="0" i="0">
              <a:latin typeface="Arial"/>
            </a:endParaRPr>
          </a:p>
        </p:txBody>
      </p:sp>
    </p:spTree>
  </p:cSld>
  <p:clrMapOvr>
    <a:masterClrMapping/>
  </p:clrMapOvr>
</p:sld>
</file>

<file path=ppt/theme/theme1.xml><?xml version="1.0" encoding="utf-8"?>
<a:theme xmlns:a="http://schemas.openxmlformats.org/drawingml/2006/main" name="CODE Train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0</vt:i4>
      </vt:variant>
    </vt:vector>
  </HeadingPairs>
  <TitlesOfParts>
    <vt:vector size="5" baseType="lpstr">
      <vt:lpstr>Arial</vt:lpstr>
      <vt:lpstr>Calibri</vt:lpstr>
      <vt:lpstr>Noto Sans</vt:lpstr>
      <vt:lpstr>Victor Mono</vt:lpstr>
      <vt:lpstr>CODE Training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5</cp:revision>
  <dcterms:created xsi:type="dcterms:W3CDTF">2025-10-19T18:09:53Z</dcterms:created>
  <dcterms:modified xsi:type="dcterms:W3CDTF">2026-03-20T05:03:54Z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