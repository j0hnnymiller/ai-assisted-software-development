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notesMaster" Target="notesMasters/notesMaster1.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opening slide frames the idea that AI quality is directly tied to context quality. Models don’t “understand” your repo—they interpret whatever you give them. Advanced context techniques let you control what the model sees and how reliably it stays aligned with your architecture.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t>
            </a:r>
            <a:r>
              <a:rPr>
                <a:latin typeface="Courier"/>
              </a:rPr>
              <a:t>#</a:t>
            </a:r>
            <a:r>
              <a:rPr/>
              <a:t> syntax is one of the most powerful ways to anchor Copilot. It forces the model to load specific files or directories into its working memory. This is essential when you want the model to follow existing patterns or avoid hallucinating APIs.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Spaces and knowledge bases give you a stable context layer that doesn’t depend on prompt length. Instead of repeating instructions every session, you store them once and let Copilot reference them automatically. This is especially valuable for brownfield systems with scattered tribal knowledge.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Premium models are incredible, but they’re not free. Monitoring usage helps teams understand where they’re over‑relying on heavyweight models. A tiered strategy ensures the right model is used for the right task, keeping costs predictable and output quality high.</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Context overflow is one of the most common causes of AI mistakes. When the model silently drops earlier parts of your prompt, you get inconsistent or incorrect output. Token estimation and chunking keep the model focused and prevent drift.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final slide ties everything together. AI quality isn’t just about the model—it’s about the environment you create for it. When you combine explicit file references, persistent knowledge bases, usage discipline, and token awareness, you create a controlled environment where Copilot performs at its best.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Advanced Context Techniques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Advanced Context Techniques</a:t>
            </a:r>
          </a:p>
        </p:txBody>
      </p:sp>
      <p:sp>
        <p:nvSpPr>
          <p:cNvPr id="3" name="Content Placeholder 2"/>
          <p:cNvSpPr>
            <a:spLocks noGrp="1"/>
          </p:cNvSpPr>
          <p:nvPr>
            <p:ph idx="1"/>
          </p:nvPr>
        </p:nvSpPr>
        <p:spPr/>
        <p:txBody>
          <a:bodyPr/>
          <a:lstStyle/>
          <a:p>
            <a:pPr lvl="0"/>
            <a:r>
              <a:rPr/>
              <a:t>Modern AI tools rely heavily on context quality</a:t>
            </a:r>
          </a:p>
          <a:p>
            <a:pPr lvl="0"/>
            <a:r>
              <a:rPr/>
              <a:t>Developers can shape context intentionally</a:t>
            </a:r>
          </a:p>
          <a:p>
            <a:pPr lvl="0"/>
            <a:r>
              <a:rPr/>
              <a:t>Reduces hallucinations, drift, and rework</a:t>
            </a:r>
          </a:p>
          <a:p>
            <a:pPr lvl="0"/>
            <a:r>
              <a:rPr/>
              <a:t>Strong context discipline is a core AI‑era skill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File &amp; Folder Mentions (</a:t>
            </a:r>
            <a:r>
              <a:rPr b="1">
                <a:latin typeface="Courier"/>
              </a:rPr>
              <a:t>#</a:t>
            </a:r>
            <a:r>
              <a:rPr b="1"/>
              <a:t> Syntax)</a:t>
            </a:r>
          </a:p>
        </p:txBody>
      </p:sp>
      <p:sp>
        <p:nvSpPr>
          <p:cNvPr id="3" name="Content Placeholder 2"/>
          <p:cNvSpPr>
            <a:spLocks noGrp="1"/>
          </p:cNvSpPr>
          <p:nvPr>
            <p:ph idx="1"/>
          </p:nvPr>
        </p:nvSpPr>
        <p:spPr/>
        <p:txBody>
          <a:bodyPr/>
          <a:lstStyle/>
          <a:p>
            <a:pPr lvl="0" indent="0" marL="0">
              <a:spcBef>
                <a:spcPts val="3000"/>
              </a:spcBef>
              <a:buNone/>
            </a:pPr>
            <a:r>
              <a:rPr b="1"/>
              <a:t>How it helps</a:t>
            </a:r>
          </a:p>
          <a:p>
            <a:pPr lvl="0"/>
            <a:r>
              <a:rPr/>
              <a:t>Explicitly pull files into context</a:t>
            </a:r>
          </a:p>
          <a:p>
            <a:pPr lvl="0"/>
            <a:r>
              <a:rPr/>
              <a:t>Ensures the model references real code, not guesses</a:t>
            </a:r>
          </a:p>
          <a:p>
            <a:pPr lvl="0"/>
            <a:r>
              <a:rPr/>
              <a:t>Supports cross‑file refactoring and API consistency</a:t>
            </a:r>
          </a:p>
          <a:p>
            <a:pPr lvl="0"/>
            <a:r>
              <a:rPr/>
              <a:t>Reduces drift in large repos</a:t>
            </a:r>
          </a:p>
          <a:p>
            <a:pPr lvl="0" indent="0" marL="0">
              <a:spcBef>
                <a:spcPts val="3000"/>
              </a:spcBef>
              <a:buNone/>
            </a:pPr>
            <a:r>
              <a:rPr b="1"/>
              <a:t>Examples</a:t>
            </a:r>
          </a:p>
          <a:p>
            <a:pPr lvl="0"/>
            <a:r>
              <a:rPr>
                <a:latin typeface="Courier"/>
              </a:rPr>
              <a:t>#src/utils/date.ts</a:t>
            </a:r>
          </a:p>
          <a:p>
            <a:pPr lvl="0"/>
            <a:r>
              <a:rPr>
                <a:latin typeface="Courier"/>
              </a:rPr>
              <a:t>#services/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Spaces &amp; Knowledge Bases Integration</a:t>
            </a:r>
          </a:p>
        </p:txBody>
      </p:sp>
      <p:sp>
        <p:nvSpPr>
          <p:cNvPr id="3" name="Content Placeholder 2"/>
          <p:cNvSpPr>
            <a:spLocks noGrp="1"/>
          </p:cNvSpPr>
          <p:nvPr>
            <p:ph idx="1"/>
          </p:nvPr>
        </p:nvSpPr>
        <p:spPr/>
        <p:txBody>
          <a:bodyPr/>
          <a:lstStyle/>
          <a:p>
            <a:pPr lvl="0" indent="0" marL="0">
              <a:spcBef>
                <a:spcPts val="3000"/>
              </a:spcBef>
              <a:buNone/>
            </a:pPr>
            <a:r>
              <a:rPr b="1"/>
              <a:t>Why they matter</a:t>
            </a:r>
          </a:p>
          <a:p>
            <a:pPr lvl="0"/>
            <a:r>
              <a:rPr/>
              <a:t>Persistent, structured context containers</a:t>
            </a:r>
          </a:p>
          <a:p>
            <a:pPr lvl="0"/>
            <a:r>
              <a:rPr/>
              <a:t>Store architectural rules, domain models, coding standards</a:t>
            </a:r>
          </a:p>
          <a:p>
            <a:pPr lvl="0"/>
            <a:r>
              <a:rPr/>
              <a:t>Provide long‑term memory beyond a single prompt</a:t>
            </a:r>
          </a:p>
          <a:p>
            <a:pPr lvl="0"/>
            <a:r>
              <a:rPr/>
              <a:t>Ideal for instruction files and evergreen boundaries</a:t>
            </a:r>
          </a:p>
          <a:p>
            <a:pPr lvl="0" indent="0" marL="0">
              <a:spcBef>
                <a:spcPts val="3000"/>
              </a:spcBef>
              <a:buNone/>
            </a:pPr>
            <a:r>
              <a:rPr b="1"/>
              <a:t>Use cases</a:t>
            </a:r>
          </a:p>
          <a:p>
            <a:pPr lvl="0"/>
            <a:r>
              <a:rPr/>
              <a:t>Architecture constraints</a:t>
            </a:r>
          </a:p>
          <a:p>
            <a:pPr lvl="0"/>
            <a:r>
              <a:rPr/>
              <a:t>Domain terminology</a:t>
            </a:r>
          </a:p>
          <a:p>
            <a:pPr lvl="0"/>
            <a:r>
              <a:rPr/>
              <a:t>API contracts</a:t>
            </a:r>
          </a:p>
          <a:p>
            <a:pPr lvl="0"/>
            <a:r>
              <a:rPr/>
              <a:t>Coding conventions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Premium Usage Monitoring &amp; Optimization</a:t>
            </a:r>
          </a:p>
        </p:txBody>
      </p:sp>
      <p:sp>
        <p:nvSpPr>
          <p:cNvPr id="3" name="Content Placeholder 2"/>
          <p:cNvSpPr>
            <a:spLocks noGrp="1"/>
          </p:cNvSpPr>
          <p:nvPr>
            <p:ph idx="1"/>
          </p:nvPr>
        </p:nvSpPr>
        <p:spPr/>
        <p:txBody>
          <a:bodyPr/>
          <a:lstStyle/>
          <a:p>
            <a:pPr lvl="0" indent="0" marL="0">
              <a:spcBef>
                <a:spcPts val="3000"/>
              </a:spcBef>
              <a:buNone/>
            </a:pPr>
            <a:r>
              <a:rPr b="1"/>
              <a:t>Key practices</a:t>
            </a:r>
          </a:p>
          <a:p>
            <a:pPr lvl="0"/>
            <a:r>
              <a:rPr/>
              <a:t>High‑end models = high reasoning cost</a:t>
            </a:r>
          </a:p>
          <a:p>
            <a:pPr lvl="0"/>
            <a:r>
              <a:rPr/>
              <a:t>Monitor usage patterns to avoid unnecessary calls</a:t>
            </a:r>
          </a:p>
          <a:p>
            <a:pPr lvl="0"/>
            <a:r>
              <a:rPr/>
              <a:t>Use a tiered strategy:</a:t>
            </a:r>
          </a:p>
          <a:p>
            <a:pPr lvl="1"/>
            <a:r>
              <a:rPr/>
              <a:t>Premium for architecture &amp; refactoring</a:t>
            </a:r>
          </a:p>
          <a:p>
            <a:pPr lvl="1"/>
            <a:r>
              <a:rPr/>
              <a:t>Mid‑tier for implementation</a:t>
            </a:r>
          </a:p>
          <a:p>
            <a:pPr lvl="1"/>
            <a:r>
              <a:rPr/>
              <a:t>Lightweight for boilerplate</a:t>
            </a:r>
          </a:p>
          <a:p>
            <a:pPr lvl="0"/>
            <a:r>
              <a:rPr/>
              <a:t>Optimize prompts to reduce token waste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Token Estimation &amp; Overflow Detection</a:t>
            </a:r>
          </a:p>
        </p:txBody>
      </p:sp>
      <p:sp>
        <p:nvSpPr>
          <p:cNvPr id="3" name="Content Placeholder 2"/>
          <p:cNvSpPr>
            <a:spLocks noGrp="1"/>
          </p:cNvSpPr>
          <p:nvPr>
            <p:ph idx="1"/>
          </p:nvPr>
        </p:nvSpPr>
        <p:spPr/>
        <p:txBody>
          <a:bodyPr/>
          <a:lstStyle/>
          <a:p>
            <a:pPr lvl="0" indent="0" marL="0">
              <a:spcBef>
                <a:spcPts val="3000"/>
              </a:spcBef>
              <a:buNone/>
            </a:pPr>
            <a:r>
              <a:rPr b="1"/>
              <a:t>Why it matters</a:t>
            </a:r>
          </a:p>
          <a:p>
            <a:pPr lvl="0"/>
            <a:r>
              <a:rPr/>
              <a:t>Models have strict token limits</a:t>
            </a:r>
          </a:p>
          <a:p>
            <a:pPr lvl="0"/>
            <a:r>
              <a:rPr/>
              <a:t>Overflow causes silent failures:</a:t>
            </a:r>
          </a:p>
          <a:p>
            <a:pPr lvl="1"/>
            <a:r>
              <a:rPr/>
              <a:t>Missing requirements</a:t>
            </a:r>
          </a:p>
          <a:p>
            <a:pPr lvl="1"/>
            <a:r>
              <a:rPr/>
              <a:t>Contradictions</a:t>
            </a:r>
          </a:p>
          <a:p>
            <a:pPr lvl="1"/>
            <a:r>
              <a:rPr/>
              <a:t>Forgotten rules</a:t>
            </a:r>
          </a:p>
          <a:p>
            <a:pPr lvl="0"/>
            <a:r>
              <a:rPr/>
              <a:t>Use techniques to stay within limits:</a:t>
            </a:r>
          </a:p>
          <a:p>
            <a:pPr lvl="1"/>
            <a:r>
              <a:rPr/>
              <a:t>Summaries</a:t>
            </a:r>
          </a:p>
          <a:p>
            <a:pPr lvl="1"/>
            <a:r>
              <a:rPr/>
              <a:t>Chunking</a:t>
            </a:r>
          </a:p>
          <a:p>
            <a:pPr lvl="1"/>
            <a:r>
              <a:rPr/>
              <a:t>Scoped prompts</a:t>
            </a:r>
          </a:p>
          <a:p>
            <a:pPr lvl="1"/>
            <a:r>
              <a:rPr/>
              <a:t>Instruction files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Bringing It All Together</a:t>
            </a:r>
          </a:p>
        </p:txBody>
      </p:sp>
      <p:sp>
        <p:nvSpPr>
          <p:cNvPr id="3" name="Content Placeholder 2"/>
          <p:cNvSpPr>
            <a:spLocks noGrp="1"/>
          </p:cNvSpPr>
          <p:nvPr>
            <p:ph idx="1"/>
          </p:nvPr>
        </p:nvSpPr>
        <p:spPr/>
        <p:txBody>
          <a:bodyPr/>
          <a:lstStyle/>
          <a:p>
            <a:pPr lvl="0" indent="0" marL="0">
              <a:spcBef>
                <a:spcPts val="3000"/>
              </a:spcBef>
              <a:buNone/>
            </a:pPr>
            <a:r>
              <a:rPr b="1"/>
              <a:t>Core takeaways</a:t>
            </a:r>
          </a:p>
          <a:p>
            <a:pPr lvl="0"/>
            <a:r>
              <a:rPr/>
              <a:t>Advanced context techniques dramatically improve reliability</a:t>
            </a:r>
          </a:p>
          <a:p>
            <a:pPr lvl="0"/>
            <a:r>
              <a:rPr/>
              <a:t>File references anchor the model</a:t>
            </a:r>
          </a:p>
          <a:p>
            <a:pPr lvl="0"/>
            <a:r>
              <a:rPr/>
              <a:t>Spaces provide persistent guidance</a:t>
            </a:r>
          </a:p>
          <a:p>
            <a:pPr lvl="0"/>
            <a:r>
              <a:rPr/>
              <a:t>Usage monitoring keeps costs predictable</a:t>
            </a:r>
          </a:p>
          <a:p>
            <a:pPr lvl="0"/>
            <a:r>
              <a:rPr/>
              <a:t>Token discipline prevents drift and hallucination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Context Techniques</dc:title>
  <dc:creator/>
  <cp:keywords/>
  <dcterms:created xsi:type="dcterms:W3CDTF">2026-02-04T16:16:48Z</dcterms:created>
  <dcterms:modified xsi:type="dcterms:W3CDTF">2026-02-04T16:16:48Z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arp">
    <vt:lpwstr>True</vt:lpwstr>
  </property>
  <property fmtid="{D5CDD505-2E9C-101B-9397-08002B2CF9AE}" pid="3" name="paginate">
    <vt:lpwstr>True</vt:lpwstr>
  </property>
  <property fmtid="{D5CDD505-2E9C-101B-9397-08002B2CF9AE}" pid="4" name="theme">
    <vt:lpwstr>default</vt:lpwstr>
  </property>
</Properties>
</file>