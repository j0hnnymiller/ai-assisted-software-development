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434" r:id="rId2"/>
    <p:sldId id="435" r:id="rId3"/>
    <p:sldId id="438" r:id="rId4"/>
    <p:sldId id="436" r:id="rId5"/>
    <p:sldId id="437" r:id="rId6"/>
    <p:sldId id="43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8C38608-8FB2-4880-92E0-9BAAFAD1AA89}">
          <p14:sldIdLst/>
        </p14:section>
        <p14:section name="Safe Brownfield Coding" id="{3B1A9E4F-8FDE-46E9-ACF0-F838E3795A3A}">
          <p14:sldIdLst>
            <p14:sldId id="434"/>
            <p14:sldId id="435"/>
            <p14:sldId id="438"/>
            <p14:sldId id="436"/>
            <p14:sldId id="437"/>
            <p14:sldId id="43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25AF4-60EE-4201-AD50-98E69A7E65C4}"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71A16C-CEBC-46FD-838C-AD07A627C2EB}" type="slidenum">
              <a:rPr lang="en-US" smtClean="0"/>
              <a:t>‹#›</a:t>
            </a:fld>
            <a:endParaRPr lang="en-US"/>
          </a:p>
        </p:txBody>
      </p:sp>
    </p:spTree>
    <p:extLst>
      <p:ext uri="{BB962C8B-B14F-4D97-AF65-F5344CB8AC3E}">
        <p14:creationId xmlns:p14="http://schemas.microsoft.com/office/powerpoint/2010/main" val="1042243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a practical guide to modifying brownfield systems safely. Emphasize that the goal is not speed — it’s controlled, observable, reversible change. Feature flags, test suites, and production‑safe practices form the backbone of safe modernization.</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one of the most powerful tools for brownfield modernization. They allow teams to introduce changes gradually, observe behavior, and roll back instantly if needed. Stress that flags must be managed intentionally to avoid long‑term complexity.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Feature flags are temporary scaffolding. If not retired, they become technical debt. Encourage teams to treat flag retirement as a first‑class engineering task.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As‑Is tests freeze the current system’s behavior, while To‑Be tests define the target state. This dual‑suite approach allows teams to modernize safely without losing critical legacy behavior.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Testing in production is not reckless when done correctly. With feature flags, observability, and controlled exposure, teams can validate changes under real conditions while minimizing risk.</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choose a real module from their brownfield system. The goal is to practice safe, reversible change — not to implement a large feature. Reinforce that feature flags are scaffolding, not permanent architecture.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15C29-1084-698C-4252-B5AF8457B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56A441-69ED-5299-7BCD-785325A620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F43A40-0F07-07D0-5DEE-767F194C06F8}"/>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33150F65-E656-D63F-1797-CD662B6747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2BD87-E866-B234-B868-F1B9E17B6CA3}"/>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201121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B67E2-3A8A-32D1-F5F2-8BD2238228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77E81-B90E-F4EC-C734-4F143F09B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497F52-F88B-F5CD-D933-4D527F295D98}"/>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BF53840B-42A1-9373-4CEA-3DBC4E813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A5BB1-83FF-5BB0-EAFB-9BBCCABB650E}"/>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81078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27B82-9712-2DAD-0EC4-4D2F04D0C5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4432A0-0CDD-9A41-1911-0851F937BD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CBECE4-0380-C65A-6559-6189FDE89B5B}"/>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3079FD9A-9C2A-AFF0-8085-915156F574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CB5C6-DE6E-D87A-A45C-CEB3282B8A20}"/>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580422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1C2F0-D59A-DC7F-3245-49435AC52E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CA9EA-B66B-E10C-811D-DF2B1557D4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2FA555-3E84-1530-9AEC-F3AD884547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2740D7-1F6D-7AA3-B9CF-B8ECFECE2FCE}"/>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6" name="Footer Placeholder 5">
            <a:extLst>
              <a:ext uri="{FF2B5EF4-FFF2-40B4-BE49-F238E27FC236}">
                <a16:creationId xmlns:a16="http://schemas.microsoft.com/office/drawing/2014/main" id="{2C3C0BC5-696B-005C-65FB-1B11EBAAF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2E0DE-AF44-28C7-682B-49B7016AA857}"/>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1507783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678E-7A34-56EC-6284-11BC9BDB38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C61405-19BD-E72E-6C82-916E0962F8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A77525-7AFA-E007-6DE5-44BAD40998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6A886-A90F-64F3-F770-E7687663BF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F1C3C1-D073-CACE-A1AE-1C3D139282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97637D-2070-AFB6-7AF5-2AB3D1633EA8}"/>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8" name="Footer Placeholder 7">
            <a:extLst>
              <a:ext uri="{FF2B5EF4-FFF2-40B4-BE49-F238E27FC236}">
                <a16:creationId xmlns:a16="http://schemas.microsoft.com/office/drawing/2014/main" id="{D2CC94A2-CB7C-FE89-E014-9A4647BBF0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334578-CAFC-5B98-DBB4-C19644D9C522}"/>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306434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35DD-F580-E7C8-5DBF-A792FE2D00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B55E02-9C3B-F845-1776-D8C48F1AFDE8}"/>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4" name="Footer Placeholder 3">
            <a:extLst>
              <a:ext uri="{FF2B5EF4-FFF2-40B4-BE49-F238E27FC236}">
                <a16:creationId xmlns:a16="http://schemas.microsoft.com/office/drawing/2014/main" id="{7EB7745D-9CED-7300-6287-389C5E943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DFD907-4E0A-825A-1D06-D66B60B67347}"/>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3104686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EB7F4-127E-2907-475D-5E3E4E530E04}"/>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3" name="Footer Placeholder 2">
            <a:extLst>
              <a:ext uri="{FF2B5EF4-FFF2-40B4-BE49-F238E27FC236}">
                <a16:creationId xmlns:a16="http://schemas.microsoft.com/office/drawing/2014/main" id="{5912D966-0D58-A338-6AAC-B215FE8CE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566125-FB53-0C82-6DED-BC725E9B45B1}"/>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423147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18C09-D7A6-111E-19A9-15B90770A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03D9C8-D6CF-D613-ED02-D2B3DE3A00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123118-53B4-E850-3E55-6004E96E2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9564C-F62C-E010-50C8-41C781A84C96}"/>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6" name="Footer Placeholder 5">
            <a:extLst>
              <a:ext uri="{FF2B5EF4-FFF2-40B4-BE49-F238E27FC236}">
                <a16:creationId xmlns:a16="http://schemas.microsoft.com/office/drawing/2014/main" id="{EE0EA133-1D0B-FA8A-5EB7-2BF492DA3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0467DE-F685-42A1-14B3-D01A23D93FD6}"/>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405764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729E-5DDC-0E7E-9B1A-3D5961A516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198627-8325-0661-8ABB-4BBCE8AEF1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32FA2F-8C76-932E-FD90-072F5DEE8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987197-D266-CA6B-9316-277199CB7ECB}"/>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6" name="Footer Placeholder 5">
            <a:extLst>
              <a:ext uri="{FF2B5EF4-FFF2-40B4-BE49-F238E27FC236}">
                <a16:creationId xmlns:a16="http://schemas.microsoft.com/office/drawing/2014/main" id="{77FCC41D-5B9D-1D2F-81F9-98FF71EB56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D0573C-62CA-BD58-C539-774628E1C9E8}"/>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3013584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EFE9-0211-C85E-70A0-165FE4C301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528229-4EF4-6C1A-CBF5-108B9078E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6EFA-D87E-0746-7106-80DED3816592}"/>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3BBF320A-12BB-4009-23AB-7E8D7D0BB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D268D-5DEA-83BC-3901-FE09789C4F91}"/>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252171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4B1324-1F72-FAE8-42D5-2B0855A5CF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BE4265-21A4-72A0-C89E-B3A7B9B649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CF57-63B0-5A84-9495-6ABAEC6746D3}"/>
              </a:ext>
            </a:extLst>
          </p:cNvPr>
          <p:cNvSpPr>
            <a:spLocks noGrp="1"/>
          </p:cNvSpPr>
          <p:nvPr>
            <p:ph type="dt" sz="half" idx="10"/>
          </p:nvPr>
        </p:nvSpPr>
        <p:spPr/>
        <p:txBody>
          <a:body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1DE76623-0A4A-5147-D8BA-320E377A1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90C6D-FEC9-BF1A-371C-3805C84FB7C3}"/>
              </a:ext>
            </a:extLst>
          </p:cNvPr>
          <p:cNvSpPr>
            <a:spLocks noGrp="1"/>
          </p:cNvSpPr>
          <p:nvPr>
            <p:ph type="sldNum" sz="quarter" idx="12"/>
          </p:nvPr>
        </p:nvSpPr>
        <p:spPr/>
        <p:txBody>
          <a:bodyPr/>
          <a:lstStyle/>
          <a:p>
            <a:fld id="{0321F767-E400-4D6F-A296-DB895A01CA56}" type="slidenum">
              <a:rPr lang="en-US" smtClean="0"/>
              <a:t>‹#›</a:t>
            </a:fld>
            <a:endParaRPr lang="en-US"/>
          </a:p>
        </p:txBody>
      </p:sp>
    </p:spTree>
    <p:extLst>
      <p:ext uri="{BB962C8B-B14F-4D97-AF65-F5344CB8AC3E}">
        <p14:creationId xmlns:p14="http://schemas.microsoft.com/office/powerpoint/2010/main" val="3010259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C5D0D4-4CE1-DDED-4DC6-938D90DD1B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25546A-1CCE-BD7C-639F-8B2445C2A2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0244F-0C98-1052-EE35-F0F09BDC6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34DB77-BB2F-4576-82E6-0DEB03C1807D}" type="datetimeFigureOut">
              <a:rPr lang="en-US" smtClean="0"/>
              <a:t>3/5/2026</a:t>
            </a:fld>
            <a:endParaRPr lang="en-US"/>
          </a:p>
        </p:txBody>
      </p:sp>
      <p:sp>
        <p:nvSpPr>
          <p:cNvPr id="5" name="Footer Placeholder 4">
            <a:extLst>
              <a:ext uri="{FF2B5EF4-FFF2-40B4-BE49-F238E27FC236}">
                <a16:creationId xmlns:a16="http://schemas.microsoft.com/office/drawing/2014/main" id="{A147ACE8-776D-9A69-A664-9D9D7E74EA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64927A-6AEE-C178-A8BC-90A3D8772C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21F767-E400-4D6F-A296-DB895A01CA56}" type="slidenum">
              <a:rPr lang="en-US" smtClean="0"/>
              <a:t>‹#›</a:t>
            </a:fld>
            <a:endParaRPr lang="en-US"/>
          </a:p>
        </p:txBody>
      </p:sp>
    </p:spTree>
    <p:extLst>
      <p:ext uri="{BB962C8B-B14F-4D97-AF65-F5344CB8AC3E}">
        <p14:creationId xmlns:p14="http://schemas.microsoft.com/office/powerpoint/2010/main" val="2478029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Safe Brownfield Cod</a:t>
            </a:r>
            <a:r>
              <a:rPr lang="en-US" b="1" dirty="0"/>
              <a:t>ing</a:t>
            </a:r>
            <a:endParaRPr b="1" dirty="0"/>
          </a:p>
        </p:txBody>
      </p:sp>
      <p:sp>
        <p:nvSpPr>
          <p:cNvPr id="3" name="Content Placeholder 2"/>
          <p:cNvSpPr>
            <a:spLocks noGrp="1"/>
          </p:cNvSpPr>
          <p:nvPr>
            <p:ph idx="1"/>
          </p:nvPr>
        </p:nvSpPr>
        <p:spPr/>
        <p:txBody>
          <a:bodyPr/>
          <a:lstStyle/>
          <a:p>
            <a:pPr lvl="0"/>
            <a:r>
              <a:t>Using feature flags to minimize risk</a:t>
            </a:r>
          </a:p>
          <a:p>
            <a:pPr lvl="0"/>
            <a:r>
              <a:t>As‑Is and To‑Be test suites</a:t>
            </a:r>
          </a:p>
          <a:p>
            <a:pPr lvl="0"/>
            <a:r>
              <a:t>Testing in production</a:t>
            </a:r>
          </a:p>
          <a:p>
            <a:pPr lvl="0"/>
            <a:r>
              <a:t>Retiring feature flags</a:t>
            </a:r>
          </a:p>
          <a:p>
            <a:pPr lvl="0"/>
            <a:r>
              <a:t>Exercise: Implementing a feature flag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Using Feature Flags</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a:t>Why feature flags matter</a:t>
            </a:r>
          </a:p>
          <a:p>
            <a:pPr lvl="0"/>
            <a:r>
              <a:t>Enable incremental rollout</a:t>
            </a:r>
          </a:p>
          <a:p>
            <a:pPr lvl="0"/>
            <a:r>
              <a:t>Allow instant rollback</a:t>
            </a:r>
          </a:p>
          <a:p>
            <a:pPr lvl="0"/>
            <a:r>
              <a:t>Reduce blast radius</a:t>
            </a:r>
          </a:p>
          <a:p>
            <a:pPr lvl="0"/>
            <a:r>
              <a:t>Support A/B testing and shadow traffic</a:t>
            </a:r>
          </a:p>
          <a:p>
            <a:pPr lvl="0"/>
            <a:r>
              <a:t>Decouple deployment from release</a:t>
            </a:r>
          </a:p>
          <a:p>
            <a:pPr marL="0" indent="0">
              <a:spcBef>
                <a:spcPts val="4000"/>
              </a:spcBef>
              <a:buNone/>
            </a:pPr>
            <a:r>
              <a:rPr b="1"/>
              <a:t>Best practices</a:t>
            </a:r>
          </a:p>
          <a:p>
            <a:pPr lvl="0"/>
            <a:r>
              <a:t>Keep flags short‑lived</a:t>
            </a:r>
          </a:p>
          <a:p>
            <a:pPr lvl="0"/>
            <a:r>
              <a:t>Name flags clearly</a:t>
            </a:r>
          </a:p>
          <a:p>
            <a:pPr lvl="0"/>
            <a:r>
              <a:t>Document intent and retirement criteria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Retiring Feature Flags</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a:t>Why retirement matters</a:t>
            </a:r>
          </a:p>
          <a:p>
            <a:pPr lvl="0"/>
            <a:r>
              <a:t>Prevents flag bloat</a:t>
            </a:r>
          </a:p>
          <a:p>
            <a:pPr lvl="0"/>
            <a:r>
              <a:t>Reduces cognitive load</a:t>
            </a:r>
          </a:p>
          <a:p>
            <a:pPr lvl="0"/>
            <a:r>
              <a:t>Simplifies code paths</a:t>
            </a:r>
          </a:p>
          <a:p>
            <a:pPr lvl="0"/>
            <a:r>
              <a:t>Ensures long‑term maintainability</a:t>
            </a:r>
          </a:p>
          <a:p>
            <a:pPr marL="0" indent="0">
              <a:spcBef>
                <a:spcPts val="4000"/>
              </a:spcBef>
              <a:buNone/>
            </a:pPr>
            <a:r>
              <a:rPr b="1"/>
              <a:t>Retirement workflow</a:t>
            </a:r>
          </a:p>
          <a:p>
            <a:pPr lvl="0"/>
            <a:r>
              <a:t>Validate stability</a:t>
            </a:r>
          </a:p>
          <a:p>
            <a:pPr lvl="0"/>
            <a:r>
              <a:t>Remove old code paths</a:t>
            </a:r>
          </a:p>
          <a:p>
            <a:pPr lvl="0"/>
            <a:r>
              <a:t>Update documentation</a:t>
            </a:r>
          </a:p>
          <a:p>
            <a:pPr lvl="0"/>
            <a:r>
              <a:t>Add provenance to the change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As‑Is and To‑Be Test Suites</a:t>
            </a:r>
          </a:p>
        </p:txBody>
      </p:sp>
      <p:sp>
        <p:nvSpPr>
          <p:cNvPr id="3" name="Content Placeholder 2"/>
          <p:cNvSpPr>
            <a:spLocks noGrp="1"/>
          </p:cNvSpPr>
          <p:nvPr>
            <p:ph idx="1"/>
          </p:nvPr>
        </p:nvSpPr>
        <p:spPr/>
        <p:txBody>
          <a:bodyPr>
            <a:normAutofit lnSpcReduction="10000"/>
          </a:bodyPr>
          <a:lstStyle/>
          <a:p>
            <a:pPr marL="0" indent="0">
              <a:spcBef>
                <a:spcPts val="4000"/>
              </a:spcBef>
              <a:buNone/>
            </a:pPr>
            <a:r>
              <a:rPr b="1"/>
              <a:t>As‑Is tests</a:t>
            </a:r>
          </a:p>
          <a:p>
            <a:pPr lvl="0"/>
            <a:r>
              <a:t>Capture current behavior</a:t>
            </a:r>
          </a:p>
          <a:p>
            <a:pPr lvl="0"/>
            <a:r>
              <a:t>Protect against regressions</a:t>
            </a:r>
          </a:p>
          <a:p>
            <a:pPr lvl="0"/>
            <a:r>
              <a:t>Document legacy expectations</a:t>
            </a:r>
          </a:p>
          <a:p>
            <a:pPr marL="0" indent="0">
              <a:spcBef>
                <a:spcPts val="4000"/>
              </a:spcBef>
              <a:buNone/>
            </a:pPr>
            <a:r>
              <a:rPr b="1"/>
              <a:t>To‑Be tests</a:t>
            </a:r>
          </a:p>
          <a:p>
            <a:pPr lvl="0"/>
            <a:r>
              <a:t>Define desired future behavior</a:t>
            </a:r>
          </a:p>
          <a:p>
            <a:pPr lvl="0"/>
            <a:r>
              <a:t>Guide modernization</a:t>
            </a:r>
          </a:p>
          <a:p>
            <a:pPr lvl="0"/>
            <a:r>
              <a:t>Validate new patterns and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Testing in Production</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a:t>Safe production testing techniques</a:t>
            </a:r>
          </a:p>
          <a:p>
            <a:pPr lvl="0"/>
            <a:r>
              <a:t>Feature‑flag‑controlled exposure</a:t>
            </a:r>
          </a:p>
          <a:p>
            <a:pPr lvl="0"/>
            <a:r>
              <a:t>Shadow traffic</a:t>
            </a:r>
          </a:p>
          <a:p>
            <a:pPr lvl="0"/>
            <a:r>
              <a:t>Canary releases</a:t>
            </a:r>
          </a:p>
          <a:p>
            <a:pPr lvl="0"/>
            <a:r>
              <a:t>Observability dashboards</a:t>
            </a:r>
          </a:p>
          <a:p>
            <a:pPr lvl="0"/>
            <a:r>
              <a:t>Error‑budget‑based rollout</a:t>
            </a:r>
          </a:p>
          <a:p>
            <a:pPr marL="0" indent="0">
              <a:spcBef>
                <a:spcPts val="4000"/>
              </a:spcBef>
              <a:buNone/>
            </a:pPr>
            <a:r>
              <a:rPr b="1"/>
              <a:t>Benefits</a:t>
            </a:r>
          </a:p>
          <a:p>
            <a:pPr lvl="0"/>
            <a:r>
              <a:t>Real‑world validation</a:t>
            </a:r>
          </a:p>
          <a:p>
            <a:pPr lvl="0"/>
            <a:r>
              <a:t>Early detection of edge cases</a:t>
            </a:r>
          </a:p>
          <a:p>
            <a:pPr lvl="0"/>
            <a:r>
              <a:t>Reduced risk of full‑scale failures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Exercise: Implementing a Feature Flag</a:t>
            </a:r>
          </a:p>
        </p:txBody>
      </p:sp>
      <p:sp>
        <p:nvSpPr>
          <p:cNvPr id="3" name="Content Placeholder 2"/>
          <p:cNvSpPr>
            <a:spLocks noGrp="1"/>
          </p:cNvSpPr>
          <p:nvPr>
            <p:ph idx="1"/>
          </p:nvPr>
        </p:nvSpPr>
        <p:spPr/>
        <p:txBody>
          <a:bodyPr numCol="2">
            <a:normAutofit fontScale="62500" lnSpcReduction="20000"/>
          </a:bodyPr>
          <a:lstStyle/>
          <a:p>
            <a:pPr marL="0" indent="0">
              <a:spcBef>
                <a:spcPts val="4000"/>
              </a:spcBef>
              <a:buNone/>
            </a:pPr>
            <a:r>
              <a:rPr b="1" dirty="0"/>
              <a:t>Duration</a:t>
            </a:r>
          </a:p>
          <a:p>
            <a:pPr marL="0" indent="0">
              <a:buNone/>
            </a:pPr>
            <a:r>
              <a:rPr dirty="0"/>
              <a:t>20 minutes</a:t>
            </a:r>
          </a:p>
          <a:p>
            <a:pPr marL="0" indent="0">
              <a:spcBef>
                <a:spcPts val="4000"/>
              </a:spcBef>
              <a:buNone/>
            </a:pPr>
            <a:r>
              <a:rPr b="1" dirty="0"/>
              <a:t>Objectives</a:t>
            </a:r>
          </a:p>
          <a:p>
            <a:pPr lvl="0"/>
            <a:r>
              <a:rPr dirty="0"/>
              <a:t>Learn how to introduce a safe, reversible change</a:t>
            </a:r>
          </a:p>
          <a:p>
            <a:pPr lvl="0"/>
            <a:r>
              <a:rPr dirty="0"/>
              <a:t>Practice designing a feature flag workflow</a:t>
            </a:r>
          </a:p>
          <a:p>
            <a:pPr lvl="0"/>
            <a:r>
              <a:rPr dirty="0"/>
              <a:t>Understand As‑Is and To‑Be test implications</a:t>
            </a:r>
          </a:p>
          <a:p>
            <a:pPr lvl="0"/>
            <a:r>
              <a:rPr dirty="0"/>
              <a:t>Document rollout and retirement criteria</a:t>
            </a:r>
          </a:p>
          <a:p>
            <a:pPr marL="0" indent="0">
              <a:spcBef>
                <a:spcPts val="4000"/>
              </a:spcBef>
              <a:buNone/>
            </a:pPr>
            <a:r>
              <a:rPr b="1" dirty="0"/>
              <a:t>Activities</a:t>
            </a:r>
          </a:p>
          <a:p>
            <a:pPr marL="457189" indent="-457189">
              <a:buAutoNum type="arabicPeriod"/>
            </a:pPr>
            <a:r>
              <a:rPr dirty="0"/>
              <a:t>Select a small brownfield function or module.</a:t>
            </a:r>
          </a:p>
          <a:p>
            <a:pPr marL="457189" indent="-457189">
              <a:buAutoNum type="arabicPeriod"/>
            </a:pPr>
            <a:r>
              <a:rPr dirty="0"/>
              <a:t>Identify a safe, incremental change to introduce.</a:t>
            </a:r>
          </a:p>
          <a:p>
            <a:pPr marL="457189" indent="-457189">
              <a:buAutoNum type="arabicPeriod"/>
            </a:pPr>
            <a:r>
              <a:rPr dirty="0"/>
              <a:t>Design a feature flag with:</a:t>
            </a:r>
          </a:p>
          <a:p>
            <a:pPr lvl="1"/>
            <a:r>
              <a:rPr dirty="0"/>
              <a:t>Name</a:t>
            </a:r>
          </a:p>
          <a:p>
            <a:pPr lvl="1"/>
            <a:r>
              <a:rPr dirty="0"/>
              <a:t>Description</a:t>
            </a:r>
          </a:p>
          <a:p>
            <a:pPr lvl="1"/>
            <a:r>
              <a:rPr dirty="0"/>
              <a:t>Rollout plan</a:t>
            </a:r>
          </a:p>
          <a:p>
            <a:pPr lvl="1"/>
            <a:r>
              <a:rPr dirty="0"/>
              <a:t>Rollback plan</a:t>
            </a:r>
          </a:p>
          <a:p>
            <a:pPr lvl="1"/>
            <a:r>
              <a:rPr dirty="0"/>
              <a:t>Retirement criteria</a:t>
            </a:r>
          </a:p>
          <a:p>
            <a:pPr marL="457189" indent="-457189">
              <a:buAutoNum type="arabicPeriod"/>
            </a:pPr>
            <a:r>
              <a:rPr dirty="0"/>
              <a:t>Write As‑Is and To‑Be test cases.</a:t>
            </a:r>
          </a:p>
          <a:p>
            <a:pPr marL="457189" indent="-457189">
              <a:buAutoNum type="arabicPeriod"/>
            </a:pPr>
            <a:r>
              <a:rPr dirty="0"/>
              <a:t>Document the change with provenance metadata.</a:t>
            </a:r>
          </a:p>
          <a:p>
            <a:pPr marL="0" indent="0">
              <a:spcBef>
                <a:spcPts val="4000"/>
              </a:spcBef>
              <a:buNone/>
            </a:pPr>
            <a:r>
              <a:rPr b="1" dirty="0"/>
              <a:t>Success Criteria</a:t>
            </a:r>
          </a:p>
          <a:p>
            <a:pPr lvl="0"/>
            <a:r>
              <a:rPr dirty="0"/>
              <a:t>Feature flag is clearly defined and scoped</a:t>
            </a:r>
          </a:p>
          <a:p>
            <a:pPr lvl="0"/>
            <a:r>
              <a:rPr dirty="0"/>
              <a:t>Rollout and rollback plans are explicit</a:t>
            </a:r>
          </a:p>
          <a:p>
            <a:pPr lvl="0"/>
            <a:r>
              <a:rPr dirty="0"/>
              <a:t>As‑Is and To‑Be tests are correct and meaningful</a:t>
            </a:r>
          </a:p>
          <a:p>
            <a:pPr lvl="0"/>
            <a:r>
              <a:rPr dirty="0"/>
              <a:t>Retirement criteria are documented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545</Words>
  <Application>Microsoft Office PowerPoint</Application>
  <PresentationFormat>Widescreen</PresentationFormat>
  <Paragraphs>84</Paragraphs>
  <Slides>6</Slides>
  <Notes>6</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Safe Brownfield Coding</vt:lpstr>
      <vt:lpstr>Using Feature Flags</vt:lpstr>
      <vt:lpstr>Retiring Feature Flags</vt:lpstr>
      <vt:lpstr>As‑Is and To‑Be Test Suites</vt:lpstr>
      <vt:lpstr>Testing in Production</vt:lpstr>
      <vt:lpstr>Exercise: Implementing a Feature Flag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2026-03-05T21:01:45Z</dcterms:created>
  <dcterms:modified xsi:type="dcterms:W3CDTF">2026-03-05T21:02:12Z</dcterms:modified>
</cp:coreProperties>
</file>