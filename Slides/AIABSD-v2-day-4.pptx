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4"/>
  </p:notesMasterIdLst>
  <p:sldIdLst>
    <p:sldId id="256" r:id="rId2"/>
    <p:sldId id="257" r:id="rId3"/>
    <p:sldId id="358" r:id="rId4"/>
    <p:sldId id="260" r:id="rId5"/>
    <p:sldId id="462" r:id="rId6"/>
    <p:sldId id="360" r:id="rId7"/>
    <p:sldId id="293" r:id="rId8"/>
    <p:sldId id="361" r:id="rId9"/>
    <p:sldId id="362" r:id="rId10"/>
    <p:sldId id="363" r:id="rId11"/>
    <p:sldId id="364" r:id="rId12"/>
    <p:sldId id="365" r:id="rId13"/>
    <p:sldId id="463" r:id="rId14"/>
    <p:sldId id="366" r:id="rId15"/>
    <p:sldId id="367" r:id="rId16"/>
    <p:sldId id="368" r:id="rId17"/>
    <p:sldId id="369" r:id="rId18"/>
    <p:sldId id="370" r:id="rId19"/>
    <p:sldId id="371" r:id="rId20"/>
    <p:sldId id="372" r:id="rId21"/>
    <p:sldId id="464" r:id="rId22"/>
    <p:sldId id="373" r:id="rId23"/>
    <p:sldId id="374" r:id="rId24"/>
    <p:sldId id="375" r:id="rId25"/>
    <p:sldId id="376" r:id="rId26"/>
    <p:sldId id="377" r:id="rId27"/>
    <p:sldId id="465" r:id="rId28"/>
    <p:sldId id="378" r:id="rId29"/>
    <p:sldId id="258" r:id="rId30"/>
    <p:sldId id="259" r:id="rId31"/>
    <p:sldId id="379" r:id="rId32"/>
    <p:sldId id="380" r:id="rId33"/>
    <p:sldId id="381" r:id="rId34"/>
    <p:sldId id="382" r:id="rId35"/>
    <p:sldId id="383" r:id="rId36"/>
    <p:sldId id="261" r:id="rId37"/>
    <p:sldId id="262" r:id="rId38"/>
    <p:sldId id="263" r:id="rId39"/>
    <p:sldId id="466" r:id="rId40"/>
    <p:sldId id="384" r:id="rId41"/>
    <p:sldId id="385" r:id="rId42"/>
    <p:sldId id="386" r:id="rId43"/>
    <p:sldId id="387" r:id="rId44"/>
    <p:sldId id="388" r:id="rId45"/>
    <p:sldId id="389" r:id="rId46"/>
    <p:sldId id="478" r:id="rId47"/>
    <p:sldId id="477" r:id="rId48"/>
    <p:sldId id="479" r:id="rId49"/>
    <p:sldId id="480" r:id="rId50"/>
    <p:sldId id="481" r:id="rId51"/>
    <p:sldId id="482" r:id="rId52"/>
    <p:sldId id="483" r:id="rId53"/>
    <p:sldId id="484" r:id="rId54"/>
    <p:sldId id="485" r:id="rId55"/>
    <p:sldId id="486" r:id="rId56"/>
    <p:sldId id="505" r:id="rId57"/>
    <p:sldId id="504" r:id="rId58"/>
    <p:sldId id="264" r:id="rId59"/>
    <p:sldId id="265" r:id="rId60"/>
    <p:sldId id="266" r:id="rId61"/>
    <p:sldId id="267" r:id="rId62"/>
    <p:sldId id="467" r:id="rId63"/>
    <p:sldId id="493" r:id="rId64"/>
    <p:sldId id="494" r:id="rId65"/>
    <p:sldId id="495" r:id="rId66"/>
    <p:sldId id="496" r:id="rId67"/>
    <p:sldId id="497" r:id="rId68"/>
    <p:sldId id="498" r:id="rId69"/>
    <p:sldId id="499" r:id="rId70"/>
    <p:sldId id="500" r:id="rId71"/>
    <p:sldId id="501" r:id="rId72"/>
    <p:sldId id="502" r:id="rId73"/>
    <p:sldId id="503" r:id="rId74"/>
    <p:sldId id="506" r:id="rId75"/>
    <p:sldId id="468" r:id="rId76"/>
    <p:sldId id="403" r:id="rId77"/>
    <p:sldId id="404" r:id="rId78"/>
    <p:sldId id="405" r:id="rId79"/>
    <p:sldId id="406" r:id="rId80"/>
    <p:sldId id="469" r:id="rId81"/>
    <p:sldId id="407" r:id="rId82"/>
    <p:sldId id="408" r:id="rId83"/>
    <p:sldId id="409" r:id="rId84"/>
    <p:sldId id="410" r:id="rId85"/>
    <p:sldId id="411" r:id="rId86"/>
    <p:sldId id="412" r:id="rId87"/>
    <p:sldId id="470" r:id="rId88"/>
    <p:sldId id="487" r:id="rId89"/>
    <p:sldId id="488" r:id="rId90"/>
    <p:sldId id="489" r:id="rId91"/>
    <p:sldId id="490" r:id="rId92"/>
    <p:sldId id="491" r:id="rId93"/>
    <p:sldId id="492" r:id="rId94"/>
    <p:sldId id="471" r:id="rId95"/>
    <p:sldId id="428" r:id="rId96"/>
    <p:sldId id="429" r:id="rId97"/>
    <p:sldId id="430" r:id="rId98"/>
    <p:sldId id="431" r:id="rId99"/>
    <p:sldId id="432" r:id="rId100"/>
    <p:sldId id="433" r:id="rId101"/>
    <p:sldId id="472" r:id="rId102"/>
    <p:sldId id="434" r:id="rId103"/>
    <p:sldId id="435" r:id="rId104"/>
    <p:sldId id="438" r:id="rId105"/>
    <p:sldId id="436" r:id="rId106"/>
    <p:sldId id="437" r:id="rId107"/>
    <p:sldId id="439" r:id="rId108"/>
    <p:sldId id="473" r:id="rId109"/>
    <p:sldId id="440" r:id="rId110"/>
    <p:sldId id="441" r:id="rId111"/>
    <p:sldId id="442" r:id="rId112"/>
    <p:sldId id="443" r:id="rId113"/>
    <p:sldId id="444" r:id="rId114"/>
    <p:sldId id="445" r:id="rId115"/>
    <p:sldId id="446" r:id="rId116"/>
    <p:sldId id="474" r:id="rId117"/>
    <p:sldId id="447" r:id="rId118"/>
    <p:sldId id="448" r:id="rId119"/>
    <p:sldId id="449" r:id="rId120"/>
    <p:sldId id="450" r:id="rId121"/>
    <p:sldId id="451" r:id="rId122"/>
    <p:sldId id="452" r:id="rId123"/>
    <p:sldId id="453" r:id="rId124"/>
    <p:sldId id="475" r:id="rId125"/>
    <p:sldId id="454" r:id="rId126"/>
    <p:sldId id="455" r:id="rId127"/>
    <p:sldId id="456" r:id="rId128"/>
    <p:sldId id="457" r:id="rId129"/>
    <p:sldId id="458" r:id="rId130"/>
    <p:sldId id="459" r:id="rId131"/>
    <p:sldId id="460" r:id="rId132"/>
    <p:sldId id="461" r:id="rId1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358"/>
            <p14:sldId id="260"/>
          </p14:sldIdLst>
        </p14:section>
        <p14:section name="Evergreen" id="{AFD3C0C2-169C-4657-88A9-3F3080FB0A33}">
          <p14:sldIdLst>
            <p14:sldId id="462"/>
            <p14:sldId id="360"/>
            <p14:sldId id="293"/>
            <p14:sldId id="361"/>
            <p14:sldId id="362"/>
            <p14:sldId id="363"/>
            <p14:sldId id="364"/>
            <p14:sldId id="365"/>
          </p14:sldIdLst>
        </p14:section>
        <p14:section name="Essential Safety Measures" id="{F1731E6D-136C-4B3A-93B5-1E977EBE80A6}">
          <p14:sldIdLst>
            <p14:sldId id="463"/>
            <p14:sldId id="366"/>
            <p14:sldId id="367"/>
            <p14:sldId id="368"/>
            <p14:sldId id="369"/>
            <p14:sldId id="370"/>
            <p14:sldId id="371"/>
            <p14:sldId id="372"/>
          </p14:sldIdLst>
        </p14:section>
        <p14:section name="Managing Copilot Effectively" id="{874C0DEC-CAE8-4CF4-9AFE-8F17CA294F1C}">
          <p14:sldIdLst>
            <p14:sldId id="464"/>
            <p14:sldId id="373"/>
            <p14:sldId id="374"/>
            <p14:sldId id="375"/>
            <p14:sldId id="376"/>
            <p14:sldId id="377"/>
          </p14:sldIdLst>
        </p14:section>
        <p14:section name="Advanced Context Techniques" id="{AF6B6B47-4669-409F-A083-25E2963BF719}">
          <p14:sldIdLst>
            <p14:sldId id="465"/>
            <p14:sldId id="378"/>
            <p14:sldId id="258"/>
            <p14:sldId id="259"/>
            <p14:sldId id="379"/>
            <p14:sldId id="380"/>
            <p14:sldId id="381"/>
            <p14:sldId id="382"/>
            <p14:sldId id="383"/>
            <p14:sldId id="261"/>
            <p14:sldId id="262"/>
            <p14:sldId id="263"/>
          </p14:sldIdLst>
        </p14:section>
        <p14:section name="Adding AI Guardrails" id="{1ECA330E-63C5-4A46-B527-4193EF0B1ABC}">
          <p14:sldIdLst>
            <p14:sldId id="466"/>
            <p14:sldId id="384"/>
            <p14:sldId id="385"/>
            <p14:sldId id="386"/>
            <p14:sldId id="387"/>
            <p14:sldId id="388"/>
            <p14:sldId id="389"/>
            <p14:sldId id="478"/>
            <p14:sldId id="477"/>
            <p14:sldId id="479"/>
            <p14:sldId id="480"/>
            <p14:sldId id="481"/>
            <p14:sldId id="482"/>
            <p14:sldId id="483"/>
            <p14:sldId id="484"/>
            <p14:sldId id="485"/>
            <p14:sldId id="486"/>
            <p14:sldId id="505"/>
            <p14:sldId id="504"/>
            <p14:sldId id="264"/>
            <p14:sldId id="265"/>
            <p14:sldId id="266"/>
            <p14:sldId id="267"/>
          </p14:sldIdLst>
        </p14:section>
        <p14:section name="Documentation Generation and Code Analysis" id="{20205E09-6F05-49D3-87D6-C53171463F08}">
          <p14:sldIdLst>
            <p14:sldId id="467"/>
            <p14:sldId id="493"/>
            <p14:sldId id="494"/>
            <p14:sldId id="495"/>
            <p14:sldId id="496"/>
            <p14:sldId id="497"/>
            <p14:sldId id="498"/>
            <p14:sldId id="499"/>
            <p14:sldId id="500"/>
            <p14:sldId id="501"/>
            <p14:sldId id="502"/>
            <p14:sldId id="503"/>
            <p14:sldId id="506"/>
          </p14:sldIdLst>
        </p14:section>
        <p14:section name="Building a Backlog" id="{985A9F6A-B919-4B6D-AA6A-89DE86784AAB}">
          <p14:sldIdLst>
            <p14:sldId id="468"/>
            <p14:sldId id="403"/>
            <p14:sldId id="404"/>
            <p14:sldId id="405"/>
            <p14:sldId id="406"/>
          </p14:sldIdLst>
        </p14:section>
        <p14:section name="Building Safety Nets" id="{21CBF3D9-C5C4-4689-8DBB-5FD703D88352}">
          <p14:sldIdLst>
            <p14:sldId id="469"/>
            <p14:sldId id="407"/>
            <p14:sldId id="408"/>
            <p14:sldId id="409"/>
            <p14:sldId id="410"/>
            <p14:sldId id="411"/>
            <p14:sldId id="412"/>
          </p14:sldIdLst>
        </p14:section>
        <p14:section name="Test Automation and Code Quality" id="{01D06B20-9DF7-419E-8988-FBB7097F3873}">
          <p14:sldIdLst>
            <p14:sldId id="470"/>
            <p14:sldId id="487"/>
            <p14:sldId id="488"/>
            <p14:sldId id="489"/>
            <p14:sldId id="490"/>
            <p14:sldId id="491"/>
            <p14:sldId id="492"/>
          </p14:sldIdLst>
        </p14:section>
        <p14:section name="Creating Robust Testing Frameworks" id="{62F786B2-A112-4628-A29E-A0F2D7EE582B}">
          <p14:sldIdLst>
            <p14:sldId id="471"/>
            <p14:sldId id="428"/>
            <p14:sldId id="429"/>
            <p14:sldId id="430"/>
            <p14:sldId id="431"/>
            <p14:sldId id="432"/>
            <p14:sldId id="433"/>
          </p14:sldIdLst>
        </p14:section>
        <p14:section name="Safe Brownfield Code Modification" id="{180E57E5-320C-41D3-BEBD-73415D2E2CE9}">
          <p14:sldIdLst>
            <p14:sldId id="472"/>
            <p14:sldId id="434"/>
            <p14:sldId id="435"/>
            <p14:sldId id="438"/>
            <p14:sldId id="436"/>
            <p14:sldId id="437"/>
            <p14:sldId id="439"/>
          </p14:sldIdLst>
        </p14:section>
        <p14:section name="Conformance and Gap Analysis" id="{BDC12E19-AB90-489C-A2BF-859369817A8F}">
          <p14:sldIdLst>
            <p14:sldId id="473"/>
            <p14:sldId id="440"/>
            <p14:sldId id="441"/>
            <p14:sldId id="442"/>
            <p14:sldId id="443"/>
            <p14:sldId id="444"/>
            <p14:sldId id="445"/>
            <p14:sldId id="446"/>
          </p14:sldIdLst>
        </p14:section>
        <p14:section name="Addressing Technical Debt" id="{BCF290F1-3C08-4501-8A9F-F152264EB547}">
          <p14:sldIdLst>
            <p14:sldId id="474"/>
            <p14:sldId id="447"/>
            <p14:sldId id="448"/>
            <p14:sldId id="449"/>
            <p14:sldId id="450"/>
            <p14:sldId id="451"/>
            <p14:sldId id="452"/>
            <p14:sldId id="453"/>
          </p14:sldIdLst>
        </p14:section>
        <p14:section name="Multi-Model Implementation Comparison" id="{95168AC9-DBE2-49DE-B80B-D07AB3E362DD}">
          <p14:sldIdLst>
            <p14:sldId id="475"/>
            <p14:sldId id="454"/>
            <p14:sldId id="455"/>
            <p14:sldId id="456"/>
            <p14:sldId id="457"/>
            <p14:sldId id="458"/>
            <p14:sldId id="459"/>
            <p14:sldId id="460"/>
            <p14:sldId id="46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8" autoAdjust="0"/>
    <p:restoredTop sz="69468" autoAdjust="0"/>
  </p:normalViewPr>
  <p:slideViewPr>
    <p:cSldViewPr snapToGrid="0" snapToObjects="1">
      <p:cViewPr varScale="1">
        <p:scale>
          <a:sx n="160" d="100"/>
          <a:sy n="160" d="100"/>
        </p:scale>
        <p:origin x="1692" y="11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53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 Staffing</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a:t>Played roles of developer, architect, devops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a:t>Email: john.miller@codestaffing.com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a:t>Blog: https://codemag.com/blog/AIPractitioner</a:t>
          </a:r>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6"/>
          </a:fillRef>
          <a:effectRef idx="1">
            <a:schemeClr val="accent6"/>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EEE61-265D-4924-A7E3-D421782E3B5A}">
      <dgm:prSet/>
      <dgm:spPr/>
      <dgm:t>
        <a:bodyPr/>
        <a:lstStyle/>
        <a:p>
          <a:r>
            <a:rPr lang="en-US" b="1" dirty="0"/>
            <a:t>Course Objective</a:t>
          </a:r>
          <a:r>
            <a:rPr lang="en-US" dirty="0"/>
            <a:t>: Understand how to manipulate Copilot into successfully modifying legacy codebases</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dirty="0"/>
            <a:t>Course Perspective</a:t>
          </a:r>
          <a:r>
            <a:rPr lang="en-US" dirty="0"/>
            <a:t>: Focus on AI assistance and assisting AI in developing software</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Protecting existing codebases from AI agents</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Achieving evergreen maturity</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 without breaking things</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tyle>
          <a:lnRef idx="3">
            <a:schemeClr val="lt1"/>
          </a:lnRef>
          <a:fillRef idx="1">
            <a:schemeClr val="accent6"/>
          </a:fillRef>
          <a:effectRef idx="1">
            <a:schemeClr val="accent6"/>
          </a:effectRef>
          <a:fontRef idx="minor">
            <a:schemeClr val="lt1"/>
          </a:fontRef>
        </dgm:style>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tyle>
          <a:lnRef idx="3">
            <a:schemeClr val="lt1"/>
          </a:lnRef>
          <a:fillRef idx="1">
            <a:schemeClr val="accent6"/>
          </a:fillRef>
          <a:effectRef idx="1">
            <a:schemeClr val="accent6"/>
          </a:effectRef>
          <a:fontRef idx="minor">
            <a:schemeClr val="lt1"/>
          </a:fontRef>
        </dgm:style>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tyle>
          <a:lnRef idx="3">
            <a:schemeClr val="lt1"/>
          </a:lnRef>
          <a:fillRef idx="1">
            <a:schemeClr val="accent6"/>
          </a:fillRef>
          <a:effectRef idx="1">
            <a:schemeClr val="accent6"/>
          </a:effectRef>
          <a:fontRef idx="minor">
            <a:schemeClr val="lt1"/>
          </a:fontRef>
        </dgm:style>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tyle>
          <a:lnRef idx="3">
            <a:schemeClr val="lt1"/>
          </a:lnRef>
          <a:fillRef idx="1">
            <a:schemeClr val="accent6"/>
          </a:fillRef>
          <a:effectRef idx="1">
            <a:schemeClr val="accent6"/>
          </a:effectRef>
          <a:fontRef idx="minor">
            <a:schemeClr val="lt1"/>
          </a:fontRef>
        </dgm:style>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tyle>
          <a:lnRef idx="3">
            <a:schemeClr val="lt1"/>
          </a:lnRef>
          <a:fillRef idx="1">
            <a:schemeClr val="accent6"/>
          </a:fillRef>
          <a:effectRef idx="1">
            <a:schemeClr val="accent6"/>
          </a:effectRef>
          <a:fontRef idx="minor">
            <a:schemeClr val="lt1"/>
          </a:fontRef>
        </dgm:style>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tyle>
          <a:lnRef idx="3">
            <a:schemeClr val="lt1"/>
          </a:lnRef>
          <a:fillRef idx="1">
            <a:schemeClr val="accent6"/>
          </a:fillRef>
          <a:effectRef idx="1">
            <a:schemeClr val="accent6"/>
          </a:effectRef>
          <a:fontRef idx="minor">
            <a:schemeClr val="lt1"/>
          </a:fontRef>
        </dgm:style>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tyle>
          <a:lnRef idx="3">
            <a:schemeClr val="lt1"/>
          </a:lnRef>
          <a:fillRef idx="1">
            <a:schemeClr val="accent6"/>
          </a:fillRef>
          <a:effectRef idx="1">
            <a:schemeClr val="accent6"/>
          </a:effectRef>
          <a:fontRef idx="minor">
            <a:schemeClr val="lt1"/>
          </a:fontRef>
        </dgm:style>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tyle>
          <a:lnRef idx="3">
            <a:schemeClr val="lt1"/>
          </a:lnRef>
          <a:fillRef idx="1">
            <a:schemeClr val="accent6"/>
          </a:fillRef>
          <a:effectRef idx="1">
            <a:schemeClr val="accent6"/>
          </a:effectRef>
          <a:fontRef idx="minor">
            <a:schemeClr val="lt1"/>
          </a:fontRef>
        </dgm:style>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3"/>
          </a:fillRef>
          <a:effectRef idx="1">
            <a:schemeClr val="accent3"/>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dirty="0"/>
            <a:t>Understanding Brownfield vs. Evergreen Code </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dirty="0"/>
            <a:t>Pre-AI Checklist: Essential Safety Measures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dirty="0"/>
            <a:t>Managing GitHub Copilot Effectively</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dirty="0"/>
            <a:t>Advanced Context Techniques</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Adding AI Guardrails</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dirty="0"/>
            <a:t>Documentation Generation and Code Analysis</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Building Safety Nets</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Building a Backlog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Test Automation and Code Quality</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5B4BF3D4-BC9B-45E0-BC14-ADB847612050}">
      <dgm:prSet/>
      <dgm:spPr/>
      <dgm:t>
        <a:bodyPr/>
        <a:lstStyle/>
        <a:p>
          <a:r>
            <a:rPr lang="en-US" dirty="0"/>
            <a:t>Creating Robust Testing Frameworks</a:t>
          </a:r>
        </a:p>
      </dgm:t>
    </dgm:pt>
    <dgm:pt modelId="{4AD5897E-DCD4-4588-8C1C-F7ADE3E0E998}" type="parTrans" cxnId="{3C31AEBC-3B0C-4BF8-BC38-6EF632AFD0A3}">
      <dgm:prSet/>
      <dgm:spPr/>
      <dgm:t>
        <a:bodyPr/>
        <a:lstStyle/>
        <a:p>
          <a:endParaRPr lang="en-US"/>
        </a:p>
      </dgm:t>
    </dgm:pt>
    <dgm:pt modelId="{0DA472C9-BECD-4264-BDAD-89B1E775770B}" type="sibTrans" cxnId="{3C31AEBC-3B0C-4BF8-BC38-6EF632AFD0A3}">
      <dgm:prSet/>
      <dgm:spPr/>
      <dgm:t>
        <a:bodyPr/>
        <a:lstStyle/>
        <a:p>
          <a:endParaRPr lang="en-US"/>
        </a:p>
      </dgm:t>
    </dgm:pt>
    <dgm:pt modelId="{2AEC5E87-483B-4CAB-B48E-61A71AB338EC}">
      <dgm:prSet/>
      <dgm:spPr/>
      <dgm:t>
        <a:bodyPr/>
        <a:lstStyle/>
        <a:p>
          <a:r>
            <a:rPr lang="en-US" dirty="0"/>
            <a:t>Safe Brownfield Code Modification</a:t>
          </a:r>
        </a:p>
      </dgm:t>
    </dgm:pt>
    <dgm:pt modelId="{5A90ABD8-E9C8-4D2B-A653-F8A411AF988C}" type="parTrans" cxnId="{848CE468-042C-48CB-8F36-90EEB293ADDD}">
      <dgm:prSet/>
      <dgm:spPr/>
      <dgm:t>
        <a:bodyPr/>
        <a:lstStyle/>
        <a:p>
          <a:endParaRPr lang="en-US"/>
        </a:p>
      </dgm:t>
    </dgm:pt>
    <dgm:pt modelId="{E0F84E74-CC2F-41EE-A802-8AA80153DDCE}" type="sibTrans" cxnId="{848CE468-042C-48CB-8F36-90EEB293ADDD}">
      <dgm:prSet/>
      <dgm:spPr/>
      <dgm:t>
        <a:bodyPr/>
        <a:lstStyle/>
        <a:p>
          <a:endParaRPr lang="en-US"/>
        </a:p>
      </dgm:t>
    </dgm:pt>
    <dgm:pt modelId="{136D417A-8189-4E10-8556-E6F80236E6C0}">
      <dgm:prSet/>
      <dgm:spPr/>
      <dgm:t>
        <a:bodyPr/>
        <a:lstStyle/>
        <a:p>
          <a:r>
            <a:rPr lang="en-US" dirty="0"/>
            <a:t>Conformance and Gap Analysis</a:t>
          </a:r>
        </a:p>
      </dgm:t>
    </dgm:pt>
    <dgm:pt modelId="{ACBF1911-2FED-4084-9420-4BB3F31FBC1E}" type="parTrans" cxnId="{4D848193-AFDD-4803-9CC1-B31FA6E151EE}">
      <dgm:prSet/>
      <dgm:spPr/>
      <dgm:t>
        <a:bodyPr/>
        <a:lstStyle/>
        <a:p>
          <a:endParaRPr lang="en-US"/>
        </a:p>
      </dgm:t>
    </dgm:pt>
    <dgm:pt modelId="{77D6F687-666D-44E8-827B-C5FBE491DF5A}" type="sibTrans" cxnId="{4D848193-AFDD-4803-9CC1-B31FA6E151EE}">
      <dgm:prSet/>
      <dgm:spPr/>
      <dgm:t>
        <a:bodyPr/>
        <a:lstStyle/>
        <a:p>
          <a:endParaRPr lang="en-US"/>
        </a:p>
      </dgm:t>
    </dgm:pt>
    <dgm:pt modelId="{7F025298-EE54-4B03-816B-14F18239D62D}">
      <dgm:prSet/>
      <dgm:spPr/>
      <dgm:t>
        <a:bodyPr/>
        <a:lstStyle/>
        <a:p>
          <a:r>
            <a:rPr lang="en-US" dirty="0"/>
            <a:t>Addressing Technical Debt</a:t>
          </a:r>
        </a:p>
      </dgm:t>
    </dgm:pt>
    <dgm:pt modelId="{AD13E468-3330-43B8-9CE9-DE542888692A}" type="parTrans" cxnId="{5365915E-F44C-4933-AEA8-9D66119E670E}">
      <dgm:prSet/>
      <dgm:spPr/>
      <dgm:t>
        <a:bodyPr/>
        <a:lstStyle/>
        <a:p>
          <a:endParaRPr lang="en-US"/>
        </a:p>
      </dgm:t>
    </dgm:pt>
    <dgm:pt modelId="{6478D0EF-D921-456F-9AE8-F7B64D781221}" type="sibTrans" cxnId="{5365915E-F44C-4933-AEA8-9D66119E670E}">
      <dgm:prSet/>
      <dgm:spPr/>
      <dgm:t>
        <a:bodyPr/>
        <a:lstStyle/>
        <a:p>
          <a:endParaRPr lang="en-US"/>
        </a:p>
      </dgm:t>
    </dgm:pt>
    <dgm:pt modelId="{669D76DC-A90C-4E5C-AB0C-7BDD302A8279}">
      <dgm:prSet>
        <dgm:style>
          <a:lnRef idx="3">
            <a:schemeClr val="lt1"/>
          </a:lnRef>
          <a:fillRef idx="1">
            <a:schemeClr val="accent6"/>
          </a:fillRef>
          <a:effectRef idx="1">
            <a:schemeClr val="accent6"/>
          </a:effectRef>
          <a:fontRef idx="minor">
            <a:schemeClr val="lt1"/>
          </a:fontRef>
        </dgm:style>
      </dgm:prSet>
      <dgm:spPr/>
      <dgm:t>
        <a:bodyPr/>
        <a:lstStyle/>
        <a:p>
          <a:r>
            <a:rPr lang="en-US" dirty="0"/>
            <a:t>Multi-Model Implementation Comparison</a:t>
          </a:r>
        </a:p>
      </dgm:t>
    </dgm:pt>
    <dgm:pt modelId="{C3928496-ACEA-475E-B2ED-B0DD279F4166}" type="parTrans" cxnId="{A3C5F0D0-47D4-4A50-A1EA-9FCB64C06293}">
      <dgm:prSet/>
      <dgm:spPr/>
      <dgm:t>
        <a:bodyPr/>
        <a:lstStyle/>
        <a:p>
          <a:endParaRPr lang="en-US"/>
        </a:p>
      </dgm:t>
    </dgm:pt>
    <dgm:pt modelId="{976BDAFE-1387-4721-A84A-EDEF965EC1F1}" type="sibTrans" cxnId="{A3C5F0D0-47D4-4A50-A1EA-9FCB64C06293}">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5">
        <dgm:presLayoutVars>
          <dgm:bulletEnabled val="1"/>
        </dgm:presLayoutVars>
      </dgm:prSet>
      <dgm:spPr/>
    </dgm:pt>
    <dgm:pt modelId="{0846B5C6-F0F4-47DC-8F81-AEAA1A5A6FCB}" type="pres">
      <dgm:prSet presAssocID="{C33DF3A4-CA3D-4E61-AB29-EAB949E0AD92}" presName="sibTrans" presStyleLbl="sibTrans1D1" presStyleIdx="0" presStyleCnt="14"/>
      <dgm:spPr/>
    </dgm:pt>
    <dgm:pt modelId="{48777882-6825-481E-A806-08022F309CE8}" type="pres">
      <dgm:prSet presAssocID="{C33DF3A4-CA3D-4E61-AB29-EAB949E0AD92}" presName="connectorText" presStyleLbl="sibTrans1D1" presStyleIdx="0" presStyleCnt="14"/>
      <dgm:spPr/>
    </dgm:pt>
    <dgm:pt modelId="{A1FFE56D-7BD1-45EB-A3B0-6E4CB5355EFD}" type="pres">
      <dgm:prSet presAssocID="{A7D02C78-97FB-48E0-AAA2-A5EEF2684BFA}" presName="node" presStyleLbl="node1" presStyleIdx="1" presStyleCnt="15">
        <dgm:presLayoutVars>
          <dgm:bulletEnabled val="1"/>
        </dgm:presLayoutVars>
      </dgm:prSet>
      <dgm:spPr/>
    </dgm:pt>
    <dgm:pt modelId="{1AD9240B-D591-4C47-B218-9C24559A23FE}" type="pres">
      <dgm:prSet presAssocID="{7F8A3433-7A07-4FF2-901B-3CB786B1E3DF}" presName="sibTrans" presStyleLbl="sibTrans1D1" presStyleIdx="1" presStyleCnt="14"/>
      <dgm:spPr/>
    </dgm:pt>
    <dgm:pt modelId="{513E6C93-C932-4871-9AB5-AE1341AD715A}" type="pres">
      <dgm:prSet presAssocID="{7F8A3433-7A07-4FF2-901B-3CB786B1E3DF}" presName="connectorText" presStyleLbl="sibTrans1D1" presStyleIdx="1" presStyleCnt="14"/>
      <dgm:spPr/>
    </dgm:pt>
    <dgm:pt modelId="{AB6D64DC-8047-443D-8A31-58CC13B9D383}" type="pres">
      <dgm:prSet presAssocID="{B06783FD-242F-4212-8B99-F82565760422}" presName="node" presStyleLbl="node1" presStyleIdx="2" presStyleCnt="15">
        <dgm:presLayoutVars>
          <dgm:bulletEnabled val="1"/>
        </dgm:presLayoutVars>
      </dgm:prSet>
      <dgm:spPr/>
    </dgm:pt>
    <dgm:pt modelId="{7AA5533A-EDAF-46AD-98E4-6AC89ED97F51}" type="pres">
      <dgm:prSet presAssocID="{C2F4285E-2584-4856-8887-E3EF9BFF494C}" presName="sibTrans" presStyleLbl="sibTrans1D1" presStyleIdx="2" presStyleCnt="14"/>
      <dgm:spPr/>
    </dgm:pt>
    <dgm:pt modelId="{03FBCC37-9168-4CB0-B1D8-9C1B24818596}" type="pres">
      <dgm:prSet presAssocID="{C2F4285E-2584-4856-8887-E3EF9BFF494C}" presName="connectorText" presStyleLbl="sibTrans1D1" presStyleIdx="2" presStyleCnt="14"/>
      <dgm:spPr/>
    </dgm:pt>
    <dgm:pt modelId="{4EA28538-4BF0-4C5C-98B8-6E70E4E44164}" type="pres">
      <dgm:prSet presAssocID="{5A8573C4-22E2-48E1-A358-77D87716CB71}" presName="node" presStyleLbl="node1" presStyleIdx="3" presStyleCnt="15">
        <dgm:presLayoutVars>
          <dgm:bulletEnabled val="1"/>
        </dgm:presLayoutVars>
      </dgm:prSet>
      <dgm:spPr/>
    </dgm:pt>
    <dgm:pt modelId="{01EC7479-A7CE-4CBB-98A6-58413C3FDC5B}" type="pres">
      <dgm:prSet presAssocID="{570DEE4B-BA90-455B-95F3-3FCEF5039E14}" presName="sibTrans" presStyleLbl="sibTrans1D1" presStyleIdx="3" presStyleCnt="14"/>
      <dgm:spPr/>
    </dgm:pt>
    <dgm:pt modelId="{5797C131-9160-4B80-AD3B-A8F742F7F2BF}" type="pres">
      <dgm:prSet presAssocID="{570DEE4B-BA90-455B-95F3-3FCEF5039E14}" presName="connectorText" presStyleLbl="sibTrans1D1" presStyleIdx="3" presStyleCnt="14"/>
      <dgm:spPr/>
    </dgm:pt>
    <dgm:pt modelId="{98AE2357-F7A5-4CC9-A154-4BE4F723655D}" type="pres">
      <dgm:prSet presAssocID="{93C533A5-AD2B-4CE2-A724-BA1867FF46BA}" presName="node" presStyleLbl="node1" presStyleIdx="4" presStyleCnt="15">
        <dgm:presLayoutVars>
          <dgm:bulletEnabled val="1"/>
        </dgm:presLayoutVars>
      </dgm:prSet>
      <dgm:spPr/>
    </dgm:pt>
    <dgm:pt modelId="{0359592B-7BFC-47BC-89DA-6E33CAC9EFB3}" type="pres">
      <dgm:prSet presAssocID="{BB029509-DFEA-4D1A-9276-E9C7B69C5C0C}" presName="sibTrans" presStyleLbl="sibTrans1D1" presStyleIdx="4" presStyleCnt="14"/>
      <dgm:spPr/>
    </dgm:pt>
    <dgm:pt modelId="{D5B4D64C-E412-4EAE-BE90-F39DE23CD5D4}" type="pres">
      <dgm:prSet presAssocID="{BB029509-DFEA-4D1A-9276-E9C7B69C5C0C}" presName="connectorText" presStyleLbl="sibTrans1D1" presStyleIdx="4" presStyleCnt="14"/>
      <dgm:spPr/>
    </dgm:pt>
    <dgm:pt modelId="{2F0F9CB8-6173-45B1-B82F-DB885C62313E}" type="pres">
      <dgm:prSet presAssocID="{BB287261-EB5C-4AF7-ACA5-D40ED38BA7A9}" presName="node" presStyleLbl="node1" presStyleIdx="5" presStyleCnt="15">
        <dgm:presLayoutVars>
          <dgm:bulletEnabled val="1"/>
        </dgm:presLayoutVars>
      </dgm:prSet>
      <dgm:spPr/>
    </dgm:pt>
    <dgm:pt modelId="{CCC6A3C7-8078-4E96-BF5A-7661AFCE6B09}" type="pres">
      <dgm:prSet presAssocID="{D76B7B15-FA68-444D-B518-2895A6864A86}" presName="sibTrans" presStyleLbl="sibTrans1D1" presStyleIdx="5" presStyleCnt="14"/>
      <dgm:spPr/>
    </dgm:pt>
    <dgm:pt modelId="{D00B6FF7-D079-4555-BBA0-8F1055192105}" type="pres">
      <dgm:prSet presAssocID="{D76B7B15-FA68-444D-B518-2895A6864A86}" presName="connectorText" presStyleLbl="sibTrans1D1" presStyleIdx="5" presStyleCnt="14"/>
      <dgm:spPr/>
    </dgm:pt>
    <dgm:pt modelId="{F410F55C-4BF7-4FE8-94DA-75D1439EF56C}" type="pres">
      <dgm:prSet presAssocID="{DD463EAE-ADF9-4A99-85FD-1C90C9A27FF9}" presName="node" presStyleLbl="node1" presStyleIdx="6" presStyleCnt="15">
        <dgm:presLayoutVars>
          <dgm:bulletEnabled val="1"/>
        </dgm:presLayoutVars>
      </dgm:prSet>
      <dgm:spPr/>
    </dgm:pt>
    <dgm:pt modelId="{090537FF-42A5-4D30-8BAB-D0C8F5240A81}" type="pres">
      <dgm:prSet presAssocID="{5EEAB2E9-83CA-4637-BCF1-28882BC521B5}" presName="sibTrans" presStyleLbl="sibTrans1D1" presStyleIdx="6" presStyleCnt="14"/>
      <dgm:spPr/>
    </dgm:pt>
    <dgm:pt modelId="{0B07C1B7-3595-43DF-86CB-E222E379276B}" type="pres">
      <dgm:prSet presAssocID="{5EEAB2E9-83CA-4637-BCF1-28882BC521B5}" presName="connectorText" presStyleLbl="sibTrans1D1" presStyleIdx="6" presStyleCnt="14"/>
      <dgm:spPr/>
    </dgm:pt>
    <dgm:pt modelId="{8E1493D1-E5CD-4839-8D08-7186F4A84C79}" type="pres">
      <dgm:prSet presAssocID="{188A6C95-EB9E-48FF-A471-FC351E0A4B4E}" presName="node" presStyleLbl="node1" presStyleIdx="7" presStyleCnt="15">
        <dgm:presLayoutVars>
          <dgm:bulletEnabled val="1"/>
        </dgm:presLayoutVars>
      </dgm:prSet>
      <dgm:spPr/>
    </dgm:pt>
    <dgm:pt modelId="{3A589FEB-3DAF-417F-B217-B4128ECBDCAF}" type="pres">
      <dgm:prSet presAssocID="{062B9D7E-1845-4860-8572-D1DA40B177F5}" presName="sibTrans" presStyleLbl="sibTrans1D1" presStyleIdx="7" presStyleCnt="14"/>
      <dgm:spPr/>
    </dgm:pt>
    <dgm:pt modelId="{1FDB0C24-0E47-4FCD-B40B-3C63D9887342}" type="pres">
      <dgm:prSet presAssocID="{062B9D7E-1845-4860-8572-D1DA40B177F5}" presName="connectorText" presStyleLbl="sibTrans1D1" presStyleIdx="7" presStyleCnt="14"/>
      <dgm:spPr/>
    </dgm:pt>
    <dgm:pt modelId="{48010D98-457F-4956-9629-8E8CF67FD9D9}" type="pres">
      <dgm:prSet presAssocID="{5D516CA3-0EFB-406A-9775-9A506D7E046E}" presName="node" presStyleLbl="node1" presStyleIdx="8" presStyleCnt="15">
        <dgm:presLayoutVars>
          <dgm:bulletEnabled val="1"/>
        </dgm:presLayoutVars>
      </dgm:prSet>
      <dgm:spPr/>
    </dgm:pt>
    <dgm:pt modelId="{C9809732-D730-4B55-AB9C-4FF43E398996}" type="pres">
      <dgm:prSet presAssocID="{D5CAD8C7-F68E-47DB-9A4F-D338C9C62666}" presName="sibTrans" presStyleLbl="sibTrans1D1" presStyleIdx="8" presStyleCnt="14"/>
      <dgm:spPr/>
    </dgm:pt>
    <dgm:pt modelId="{64B829D7-2E05-4563-B4CB-9230AAA12643}" type="pres">
      <dgm:prSet presAssocID="{D5CAD8C7-F68E-47DB-9A4F-D338C9C62666}" presName="connectorText" presStyleLbl="sibTrans1D1" presStyleIdx="8" presStyleCnt="14"/>
      <dgm:spPr/>
    </dgm:pt>
    <dgm:pt modelId="{52995D4B-751F-4ECB-B5DA-BD22D360D50D}" type="pres">
      <dgm:prSet presAssocID="{76C77108-03B6-456A-9DC9-0D48A6483642}" presName="node" presStyleLbl="node1" presStyleIdx="9" presStyleCnt="15">
        <dgm:presLayoutVars>
          <dgm:bulletEnabled val="1"/>
        </dgm:presLayoutVars>
      </dgm:prSet>
      <dgm:spPr/>
    </dgm:pt>
    <dgm:pt modelId="{B90E9068-E292-424F-89DA-AAAE0E99D422}" type="pres">
      <dgm:prSet presAssocID="{2482D31A-18A6-4DA5-88B2-E49CBFE51ADF}" presName="sibTrans" presStyleLbl="sibTrans1D1" presStyleIdx="9" presStyleCnt="14"/>
      <dgm:spPr/>
    </dgm:pt>
    <dgm:pt modelId="{2AB5C925-D86E-4453-9E32-D4F4898E3FDA}" type="pres">
      <dgm:prSet presAssocID="{2482D31A-18A6-4DA5-88B2-E49CBFE51ADF}" presName="connectorText" presStyleLbl="sibTrans1D1" presStyleIdx="9" presStyleCnt="14"/>
      <dgm:spPr/>
    </dgm:pt>
    <dgm:pt modelId="{405C7356-99DD-4828-8A17-366663D821FF}" type="pres">
      <dgm:prSet presAssocID="{5B4BF3D4-BC9B-45E0-BC14-ADB847612050}" presName="node" presStyleLbl="node1" presStyleIdx="10" presStyleCnt="15">
        <dgm:presLayoutVars>
          <dgm:bulletEnabled val="1"/>
        </dgm:presLayoutVars>
      </dgm:prSet>
      <dgm:spPr/>
    </dgm:pt>
    <dgm:pt modelId="{B07E4557-C12D-4F38-A296-E4F484887557}" type="pres">
      <dgm:prSet presAssocID="{0DA472C9-BECD-4264-BDAD-89B1E775770B}" presName="sibTrans" presStyleLbl="sibTrans1D1" presStyleIdx="10" presStyleCnt="14"/>
      <dgm:spPr/>
    </dgm:pt>
    <dgm:pt modelId="{E5624050-575E-4DAE-99F8-E03DF2721E57}" type="pres">
      <dgm:prSet presAssocID="{0DA472C9-BECD-4264-BDAD-89B1E775770B}" presName="connectorText" presStyleLbl="sibTrans1D1" presStyleIdx="10" presStyleCnt="14"/>
      <dgm:spPr/>
    </dgm:pt>
    <dgm:pt modelId="{9FA16503-5119-4D97-9BF5-88D55EB1C4F2}" type="pres">
      <dgm:prSet presAssocID="{2AEC5E87-483B-4CAB-B48E-61A71AB338EC}" presName="node" presStyleLbl="node1" presStyleIdx="11" presStyleCnt="15">
        <dgm:presLayoutVars>
          <dgm:bulletEnabled val="1"/>
        </dgm:presLayoutVars>
      </dgm:prSet>
      <dgm:spPr/>
    </dgm:pt>
    <dgm:pt modelId="{F1B13A89-35C1-4FAD-B666-E999348B5DED}" type="pres">
      <dgm:prSet presAssocID="{E0F84E74-CC2F-41EE-A802-8AA80153DDCE}" presName="sibTrans" presStyleLbl="sibTrans1D1" presStyleIdx="11" presStyleCnt="14"/>
      <dgm:spPr/>
    </dgm:pt>
    <dgm:pt modelId="{45B3EFCA-1783-4812-A64E-4202664A0F14}" type="pres">
      <dgm:prSet presAssocID="{E0F84E74-CC2F-41EE-A802-8AA80153DDCE}" presName="connectorText" presStyleLbl="sibTrans1D1" presStyleIdx="11" presStyleCnt="14"/>
      <dgm:spPr/>
    </dgm:pt>
    <dgm:pt modelId="{DAD8898F-EB9D-4F2B-B30C-B79F1CEDA04F}" type="pres">
      <dgm:prSet presAssocID="{136D417A-8189-4E10-8556-E6F80236E6C0}" presName="node" presStyleLbl="node1" presStyleIdx="12" presStyleCnt="15">
        <dgm:presLayoutVars>
          <dgm:bulletEnabled val="1"/>
        </dgm:presLayoutVars>
      </dgm:prSet>
      <dgm:spPr/>
    </dgm:pt>
    <dgm:pt modelId="{A68A97C1-B0B5-41C0-949E-DF9456722E07}" type="pres">
      <dgm:prSet presAssocID="{77D6F687-666D-44E8-827B-C5FBE491DF5A}" presName="sibTrans" presStyleLbl="sibTrans1D1" presStyleIdx="12" presStyleCnt="14"/>
      <dgm:spPr/>
    </dgm:pt>
    <dgm:pt modelId="{37238DBB-5FCE-4483-B31E-AD645D557FCC}" type="pres">
      <dgm:prSet presAssocID="{77D6F687-666D-44E8-827B-C5FBE491DF5A}" presName="connectorText" presStyleLbl="sibTrans1D1" presStyleIdx="12" presStyleCnt="14"/>
      <dgm:spPr/>
    </dgm:pt>
    <dgm:pt modelId="{94957220-C390-41B3-87F4-476A9128AF3A}" type="pres">
      <dgm:prSet presAssocID="{7F025298-EE54-4B03-816B-14F18239D62D}" presName="node" presStyleLbl="node1" presStyleIdx="13" presStyleCnt="15">
        <dgm:presLayoutVars>
          <dgm:bulletEnabled val="1"/>
        </dgm:presLayoutVars>
      </dgm:prSet>
      <dgm:spPr/>
    </dgm:pt>
    <dgm:pt modelId="{57CD2FE7-EACC-44A5-B3A6-14FE48CB8859}" type="pres">
      <dgm:prSet presAssocID="{6478D0EF-D921-456F-9AE8-F7B64D781221}" presName="sibTrans" presStyleLbl="sibTrans1D1" presStyleIdx="13" presStyleCnt="14"/>
      <dgm:spPr/>
    </dgm:pt>
    <dgm:pt modelId="{A66A7417-E7A2-47E5-B941-3CFED609444E}" type="pres">
      <dgm:prSet presAssocID="{6478D0EF-D921-456F-9AE8-F7B64D781221}" presName="connectorText" presStyleLbl="sibTrans1D1" presStyleIdx="13" presStyleCnt="14"/>
      <dgm:spPr/>
    </dgm:pt>
    <dgm:pt modelId="{184CFCD0-11D2-4D8E-9488-ECE9BE4B8ECE}" type="pres">
      <dgm:prSet presAssocID="{669D76DC-A90C-4E5C-AB0C-7BDD302A8279}" presName="node" presStyleLbl="node1" presStyleIdx="14" presStyleCnt="15">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490A1A2B-C64F-4D0C-BB3D-CFBD2EE4F908}" type="presOf" srcId="{E0F84E74-CC2F-41EE-A802-8AA80153DDCE}" destId="{F1B13A89-35C1-4FAD-B666-E999348B5DED}"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365915E-F44C-4933-AEA8-9D66119E670E}" srcId="{078E72EE-1E90-466C-9655-CAA4DCA5B467}" destId="{7F025298-EE54-4B03-816B-14F18239D62D}" srcOrd="13" destOrd="0" parTransId="{AD13E468-3330-43B8-9CE9-DE542888692A}" sibTransId="{6478D0EF-D921-456F-9AE8-F7B64D781221}"/>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848CE468-042C-48CB-8F36-90EEB293ADDD}" srcId="{078E72EE-1E90-466C-9655-CAA4DCA5B467}" destId="{2AEC5E87-483B-4CAB-B48E-61A71AB338EC}" srcOrd="11" destOrd="0" parTransId="{5A90ABD8-E9C8-4D2B-A653-F8A411AF988C}" sibTransId="{E0F84E74-CC2F-41EE-A802-8AA80153DDCE}"/>
    <dgm:cxn modelId="{064F2B4A-78A5-425D-9D2B-6BCF2124ACA9}" type="presOf" srcId="{0DA472C9-BECD-4264-BDAD-89B1E775770B}" destId="{E5624050-575E-4DAE-99F8-E03DF2721E57}"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A4167C71-9EA8-423C-816A-C09FEB600973}" type="presOf" srcId="{5B4BF3D4-BC9B-45E0-BC14-ADB847612050}" destId="{405C7356-99DD-4828-8A17-366663D821FF}" srcOrd="0"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4BB89F75-3F60-4685-B935-5CBF186BA6DC}" type="presOf" srcId="{77D6F687-666D-44E8-827B-C5FBE491DF5A}" destId="{37238DBB-5FCE-4483-B31E-AD645D557FCC}"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A36B737E-60CA-4233-AA4E-D36B8DB23B55}" type="presOf" srcId="{7F025298-EE54-4B03-816B-14F18239D62D}" destId="{94957220-C390-41B3-87F4-476A9128AF3A}" srcOrd="0" destOrd="0" presId="urn:microsoft.com/office/officeart/2016/7/layout/RepeatingBendingProcessNew"/>
    <dgm:cxn modelId="{B7C29591-E890-4976-9E4C-632C74268185}" type="presOf" srcId="{2482D31A-18A6-4DA5-88B2-E49CBFE51ADF}" destId="{2AB5C925-D86E-4453-9E32-D4F4898E3FDA}" srcOrd="1"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4D848193-AFDD-4803-9CC1-B31FA6E151EE}" srcId="{078E72EE-1E90-466C-9655-CAA4DCA5B467}" destId="{136D417A-8189-4E10-8556-E6F80236E6C0}" srcOrd="12" destOrd="0" parTransId="{ACBF1911-2FED-4084-9420-4BB3F31FBC1E}" sibTransId="{77D6F687-666D-44E8-827B-C5FBE491DF5A}"/>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9F81909F-4352-417C-A642-3F43A1D61D7A}" type="presOf" srcId="{77D6F687-666D-44E8-827B-C5FBE491DF5A}" destId="{A68A97C1-B0B5-41C0-949E-DF9456722E07}"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27C64CAB-C3CA-4BE3-9958-775CA2CABDC0}" type="presOf" srcId="{6478D0EF-D921-456F-9AE8-F7B64D781221}" destId="{57CD2FE7-EACC-44A5-B3A6-14FE48CB8859}" srcOrd="0" destOrd="0" presId="urn:microsoft.com/office/officeart/2016/7/layout/RepeatingBendingProcessNew"/>
    <dgm:cxn modelId="{1CA43BAC-CE58-4B01-9E5F-CDE1F5E25BD5}" type="presOf" srcId="{2482D31A-18A6-4DA5-88B2-E49CBFE51ADF}" destId="{B90E9068-E292-424F-89DA-AAAE0E99D422}" srcOrd="0" destOrd="0" presId="urn:microsoft.com/office/officeart/2016/7/layout/RepeatingBendingProcessNew"/>
    <dgm:cxn modelId="{F6A81BB3-1025-4190-9DC2-AF891F6973EB}" type="presOf" srcId="{D76B7B15-FA68-444D-B518-2895A6864A86}" destId="{CCC6A3C7-8078-4E96-BF5A-7661AFCE6B09}" srcOrd="0" destOrd="0" presId="urn:microsoft.com/office/officeart/2016/7/layout/RepeatingBendingProcessNew"/>
    <dgm:cxn modelId="{87C1F4B3-91D5-4572-8649-E0CCA1A74768}" type="presOf" srcId="{136D417A-8189-4E10-8556-E6F80236E6C0}" destId="{DAD8898F-EB9D-4F2B-B30C-B79F1CEDA04F}" srcOrd="0" destOrd="0" presId="urn:microsoft.com/office/officeart/2016/7/layout/RepeatingBendingProcessNew"/>
    <dgm:cxn modelId="{C30964B4-E09B-4372-B914-4964A581C0D3}" type="presOf" srcId="{6478D0EF-D921-456F-9AE8-F7B64D781221}" destId="{A66A7417-E7A2-47E5-B941-3CFED609444E}" srcOrd="1" destOrd="0" presId="urn:microsoft.com/office/officeart/2016/7/layout/RepeatingBendingProcessNew"/>
    <dgm:cxn modelId="{3C31AEBC-3B0C-4BF8-BC38-6EF632AFD0A3}" srcId="{078E72EE-1E90-466C-9655-CAA4DCA5B467}" destId="{5B4BF3D4-BC9B-45E0-BC14-ADB847612050}" srcOrd="10" destOrd="0" parTransId="{4AD5897E-DCD4-4588-8C1C-F7ADE3E0E998}" sibTransId="{0DA472C9-BECD-4264-BDAD-89B1E775770B}"/>
    <dgm:cxn modelId="{FEC3E4BD-2786-4398-8AB1-B192AB5EB3E0}" type="presOf" srcId="{669D76DC-A90C-4E5C-AB0C-7BDD302A8279}" destId="{184CFCD0-11D2-4D8E-9488-ECE9BE4B8ECE}" srcOrd="0" destOrd="0" presId="urn:microsoft.com/office/officeart/2016/7/layout/RepeatingBendingProcessNew"/>
    <dgm:cxn modelId="{57B0F7BD-6AF3-4EC5-B7F3-FFF12DA1D2D8}" type="presOf" srcId="{E0F84E74-CC2F-41EE-A802-8AA80153DDCE}" destId="{45B3EFCA-1783-4812-A64E-4202664A0F14}" srcOrd="1"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A3C5F0D0-47D4-4A50-A1EA-9FCB64C06293}" srcId="{078E72EE-1E90-466C-9655-CAA4DCA5B467}" destId="{669D76DC-A90C-4E5C-AB0C-7BDD302A8279}" srcOrd="14" destOrd="0" parTransId="{C3928496-ACEA-475E-B2ED-B0DD279F4166}" sibTransId="{976BDAFE-1387-4721-A84A-EDEF965EC1F1}"/>
    <dgm:cxn modelId="{DD28E0D4-DB23-4330-9311-F276B8FD9ADA}" type="presOf" srcId="{0DA472C9-BECD-4264-BDAD-89B1E775770B}" destId="{B07E4557-C12D-4F38-A296-E4F484887557}" srcOrd="0"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D3ACFF1-E584-4E35-9117-BD24BD824854}" type="presOf" srcId="{2AEC5E87-483B-4CAB-B48E-61A71AB338EC}" destId="{9FA16503-5119-4D97-9BF5-88D55EB1C4F2}"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 modelId="{DFBFB4AF-F9C2-41EF-8D1E-065EB15B6FAA}" type="presParOf" srcId="{0181DA28-EB27-4761-804B-B376FF9C80AE}" destId="{B90E9068-E292-424F-89DA-AAAE0E99D422}" srcOrd="19" destOrd="0" presId="urn:microsoft.com/office/officeart/2016/7/layout/RepeatingBendingProcessNew"/>
    <dgm:cxn modelId="{A037E09F-37D9-4D92-A097-AA312B120319}" type="presParOf" srcId="{B90E9068-E292-424F-89DA-AAAE0E99D422}" destId="{2AB5C925-D86E-4453-9E32-D4F4898E3FDA}" srcOrd="0" destOrd="0" presId="urn:microsoft.com/office/officeart/2016/7/layout/RepeatingBendingProcessNew"/>
    <dgm:cxn modelId="{8BB9A41A-7F70-4638-ABA7-F0098C0FB1FD}" type="presParOf" srcId="{0181DA28-EB27-4761-804B-B376FF9C80AE}" destId="{405C7356-99DD-4828-8A17-366663D821FF}" srcOrd="20" destOrd="0" presId="urn:microsoft.com/office/officeart/2016/7/layout/RepeatingBendingProcessNew"/>
    <dgm:cxn modelId="{99206222-8453-4C9E-9E32-350A4E2123C9}" type="presParOf" srcId="{0181DA28-EB27-4761-804B-B376FF9C80AE}" destId="{B07E4557-C12D-4F38-A296-E4F484887557}" srcOrd="21" destOrd="0" presId="urn:microsoft.com/office/officeart/2016/7/layout/RepeatingBendingProcessNew"/>
    <dgm:cxn modelId="{C9C69E21-A3E4-4677-92CC-65C5085AD5C4}" type="presParOf" srcId="{B07E4557-C12D-4F38-A296-E4F484887557}" destId="{E5624050-575E-4DAE-99F8-E03DF2721E57}" srcOrd="0" destOrd="0" presId="urn:microsoft.com/office/officeart/2016/7/layout/RepeatingBendingProcessNew"/>
    <dgm:cxn modelId="{3607F07F-4808-4002-9EB1-E581B3E522FF}" type="presParOf" srcId="{0181DA28-EB27-4761-804B-B376FF9C80AE}" destId="{9FA16503-5119-4D97-9BF5-88D55EB1C4F2}" srcOrd="22" destOrd="0" presId="urn:microsoft.com/office/officeart/2016/7/layout/RepeatingBendingProcessNew"/>
    <dgm:cxn modelId="{CE8B4134-A373-46B9-A124-04626D2A6D94}" type="presParOf" srcId="{0181DA28-EB27-4761-804B-B376FF9C80AE}" destId="{F1B13A89-35C1-4FAD-B666-E999348B5DED}" srcOrd="23" destOrd="0" presId="urn:microsoft.com/office/officeart/2016/7/layout/RepeatingBendingProcessNew"/>
    <dgm:cxn modelId="{5DF1EAF2-3917-4DAB-8780-DCD96604B5B3}" type="presParOf" srcId="{F1B13A89-35C1-4FAD-B666-E999348B5DED}" destId="{45B3EFCA-1783-4812-A64E-4202664A0F14}" srcOrd="0" destOrd="0" presId="urn:microsoft.com/office/officeart/2016/7/layout/RepeatingBendingProcessNew"/>
    <dgm:cxn modelId="{2F4F3907-319A-4EC8-99A0-12C003112377}" type="presParOf" srcId="{0181DA28-EB27-4761-804B-B376FF9C80AE}" destId="{DAD8898F-EB9D-4F2B-B30C-B79F1CEDA04F}" srcOrd="24" destOrd="0" presId="urn:microsoft.com/office/officeart/2016/7/layout/RepeatingBendingProcessNew"/>
    <dgm:cxn modelId="{72D42F23-095D-4CE6-9C69-A245FD290824}" type="presParOf" srcId="{0181DA28-EB27-4761-804B-B376FF9C80AE}" destId="{A68A97C1-B0B5-41C0-949E-DF9456722E07}" srcOrd="25" destOrd="0" presId="urn:microsoft.com/office/officeart/2016/7/layout/RepeatingBendingProcessNew"/>
    <dgm:cxn modelId="{62B23BD7-BA36-4B05-98CE-88BBEBF1635A}" type="presParOf" srcId="{A68A97C1-B0B5-41C0-949E-DF9456722E07}" destId="{37238DBB-5FCE-4483-B31E-AD645D557FCC}" srcOrd="0" destOrd="0" presId="urn:microsoft.com/office/officeart/2016/7/layout/RepeatingBendingProcessNew"/>
    <dgm:cxn modelId="{62A4CF08-9F2E-4D8B-BB44-9024AC26C765}" type="presParOf" srcId="{0181DA28-EB27-4761-804B-B376FF9C80AE}" destId="{94957220-C390-41B3-87F4-476A9128AF3A}" srcOrd="26" destOrd="0" presId="urn:microsoft.com/office/officeart/2016/7/layout/RepeatingBendingProcessNew"/>
    <dgm:cxn modelId="{C3384F50-19B1-4D36-82B3-432ECE66DF7D}" type="presParOf" srcId="{0181DA28-EB27-4761-804B-B376FF9C80AE}" destId="{57CD2FE7-EACC-44A5-B3A6-14FE48CB8859}" srcOrd="27" destOrd="0" presId="urn:microsoft.com/office/officeart/2016/7/layout/RepeatingBendingProcessNew"/>
    <dgm:cxn modelId="{465F50DC-6773-4F27-9C69-59323708E960}" type="presParOf" srcId="{57CD2FE7-EACC-44A5-B3A6-14FE48CB8859}" destId="{A66A7417-E7A2-47E5-B941-3CFED609444E}" srcOrd="0" destOrd="0" presId="urn:microsoft.com/office/officeart/2016/7/layout/RepeatingBendingProcessNew"/>
    <dgm:cxn modelId="{77B9876C-2BF5-4C2E-9130-D15EE8B15CF0}" type="presParOf" srcId="{0181DA28-EB27-4761-804B-B376FF9C80AE}" destId="{184CFCD0-11D2-4D8E-9488-ECE9BE4B8ECE}"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398"/>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991" y="210143"/>
          <a:ext cx="512711" cy="5127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6693" y="398"/>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 Staffing</a:t>
          </a:r>
        </a:p>
      </dsp:txBody>
      <dsp:txXfrm>
        <a:off x="1076693" y="398"/>
        <a:ext cx="6810006" cy="932202"/>
      </dsp:txXfrm>
    </dsp:sp>
    <dsp:sp modelId="{F7EF9AAE-6EA6-48BC-8CE6-E43A4019C779}">
      <dsp:nvSpPr>
        <dsp:cNvPr id="0" name=""/>
        <dsp:cNvSpPr/>
      </dsp:nvSpPr>
      <dsp:spPr>
        <a:xfrm>
          <a:off x="0" y="1165650"/>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991" y="1375396"/>
          <a:ext cx="512711" cy="5127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6693" y="1165650"/>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Played roles of developer, architect, devops engineer, platform engineer, test architect, release manager</a:t>
          </a:r>
        </a:p>
      </dsp:txBody>
      <dsp:txXfrm>
        <a:off x="1076693" y="1165650"/>
        <a:ext cx="6810006" cy="932202"/>
      </dsp:txXfrm>
    </dsp:sp>
    <dsp:sp modelId="{1F150B33-5B01-41D7-B34B-31321D5314B8}">
      <dsp:nvSpPr>
        <dsp:cNvPr id="0" name=""/>
        <dsp:cNvSpPr/>
      </dsp:nvSpPr>
      <dsp:spPr>
        <a:xfrm>
          <a:off x="0" y="2330903"/>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991" y="2540649"/>
          <a:ext cx="512711" cy="5127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6693" y="2330903"/>
          <a:ext cx="3549015"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AI/ML Enthusiast and advocate for Effectively using AI to write code</a:t>
          </a:r>
        </a:p>
      </dsp:txBody>
      <dsp:txXfrm>
        <a:off x="1076693" y="2330903"/>
        <a:ext cx="3549015" cy="932202"/>
      </dsp:txXfrm>
    </dsp:sp>
    <dsp:sp modelId="{D3707FF8-46B5-4898-83C6-BFB962BB255D}">
      <dsp:nvSpPr>
        <dsp:cNvPr id="0" name=""/>
        <dsp:cNvSpPr/>
      </dsp:nvSpPr>
      <dsp:spPr>
        <a:xfrm>
          <a:off x="4625708" y="2330903"/>
          <a:ext cx="3260991"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488950">
            <a:lnSpc>
              <a:spcPct val="90000"/>
            </a:lnSpc>
            <a:spcBef>
              <a:spcPct val="0"/>
            </a:spcBef>
            <a:spcAft>
              <a:spcPct val="35000"/>
            </a:spcAft>
            <a:buNone/>
          </a:pPr>
          <a:r>
            <a:rPr lang="en-US" sz="1100" kern="1200"/>
            <a:t>LinkedIn: www.linkedin.com/in/johnmichaelmiller</a:t>
          </a:r>
        </a:p>
        <a:p>
          <a:pPr marL="0" lvl="0" indent="0" algn="l" defTabSz="488950">
            <a:lnSpc>
              <a:spcPct val="90000"/>
            </a:lnSpc>
            <a:spcBef>
              <a:spcPct val="0"/>
            </a:spcBef>
            <a:spcAft>
              <a:spcPct val="35000"/>
            </a:spcAft>
            <a:buNone/>
          </a:pPr>
          <a:r>
            <a:rPr lang="en-US" sz="1100" kern="1200"/>
            <a:t>Email: john.miller@codestaffing.com</a:t>
          </a:r>
        </a:p>
        <a:p>
          <a:pPr marL="0" lvl="0" indent="0" algn="l" defTabSz="488950">
            <a:lnSpc>
              <a:spcPct val="90000"/>
            </a:lnSpc>
            <a:spcBef>
              <a:spcPct val="0"/>
            </a:spcBef>
            <a:spcAft>
              <a:spcPct val="35000"/>
            </a:spcAft>
            <a:buNone/>
          </a:pPr>
          <a:r>
            <a:rPr lang="en-US" sz="1100" kern="1200"/>
            <a:t>Blog: https://codemag.com/blog/AIPractitioner</a:t>
          </a:r>
        </a:p>
      </dsp:txBody>
      <dsp:txXfrm>
        <a:off x="4625708" y="2330903"/>
        <a:ext cx="3260991" cy="932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8007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Objective</a:t>
          </a:r>
          <a:r>
            <a:rPr lang="en-US" sz="2700" kern="1200" dirty="0"/>
            <a:t>: Understand how to manipulate Copilot into successfully modifying legacy codebases</a:t>
          </a:r>
        </a:p>
      </dsp:txBody>
      <dsp:txXfrm>
        <a:off x="52431" y="132507"/>
        <a:ext cx="7781838" cy="969198"/>
      </dsp:txXfrm>
    </dsp:sp>
    <dsp:sp modelId="{8CAB9C2A-1EF9-4F58-A298-88000800CAF9}">
      <dsp:nvSpPr>
        <dsp:cNvPr id="0" name=""/>
        <dsp:cNvSpPr/>
      </dsp:nvSpPr>
      <dsp:spPr>
        <a:xfrm>
          <a:off x="0" y="1231896"/>
          <a:ext cx="7886700"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Course Perspective</a:t>
          </a:r>
          <a:r>
            <a:rPr lang="en-US" sz="2700" kern="1200" dirty="0"/>
            <a:t>: Focus on AI assistance and assisting AI in developing software</a:t>
          </a:r>
        </a:p>
      </dsp:txBody>
      <dsp:txXfrm>
        <a:off x="52431" y="1284327"/>
        <a:ext cx="7781838" cy="969198"/>
      </dsp:txXfrm>
    </dsp:sp>
    <dsp:sp modelId="{F7AA4163-5AFE-4B6B-8B25-5915AE771925}">
      <dsp:nvSpPr>
        <dsp:cNvPr id="0" name=""/>
        <dsp:cNvSpPr/>
      </dsp:nvSpPr>
      <dsp:spPr>
        <a:xfrm>
          <a:off x="0" y="2305956"/>
          <a:ext cx="78867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solidFill>
                <a:schemeClr val="bg1"/>
              </a:solidFill>
            </a:rPr>
            <a:t>Protecting existing codebases from AI agents</a:t>
          </a:r>
        </a:p>
        <a:p>
          <a:pPr marL="228600" lvl="1" indent="-228600" algn="l" defTabSz="933450">
            <a:lnSpc>
              <a:spcPct val="90000"/>
            </a:lnSpc>
            <a:spcBef>
              <a:spcPct val="0"/>
            </a:spcBef>
            <a:spcAft>
              <a:spcPct val="20000"/>
            </a:spcAft>
            <a:buChar char="•"/>
          </a:pPr>
          <a:r>
            <a:rPr lang="en-US" sz="2100" kern="1200" dirty="0">
              <a:solidFill>
                <a:schemeClr val="bg1"/>
              </a:solidFill>
            </a:rPr>
            <a:t>Achieving evergreen maturity</a:t>
          </a:r>
        </a:p>
        <a:p>
          <a:pPr marL="228600" lvl="1" indent="-228600" algn="l" defTabSz="933450">
            <a:lnSpc>
              <a:spcPct val="90000"/>
            </a:lnSpc>
            <a:spcBef>
              <a:spcPct val="0"/>
            </a:spcBef>
            <a:spcAft>
              <a:spcPct val="20000"/>
            </a:spcAft>
            <a:buChar char="•"/>
          </a:pPr>
          <a:r>
            <a:rPr lang="en-US" sz="2100" kern="1200" dirty="0">
              <a:solidFill>
                <a:schemeClr val="bg1"/>
              </a:solidFill>
            </a:rPr>
            <a:t>Moving fast without breaking things</a:t>
          </a:r>
        </a:p>
      </dsp:txBody>
      <dsp:txXfrm>
        <a:off x="0" y="2305956"/>
        <a:ext cx="7886700" cy="10898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133377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525910"/>
        <a:ext cx="15300" cy="3060"/>
      </dsp:txXfrm>
    </dsp:sp>
    <dsp:sp modelId="{B6E7108D-565B-4BD3-8673-DEDFD9DF187E}">
      <dsp:nvSpPr>
        <dsp:cNvPr id="0" name=""/>
        <dsp:cNvSpPr/>
      </dsp:nvSpPr>
      <dsp:spPr>
        <a:xfrm>
          <a:off x="5083" y="128292"/>
          <a:ext cx="1330495" cy="798297"/>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a:t>Overview</a:t>
          </a:r>
        </a:p>
      </dsp:txBody>
      <dsp:txXfrm>
        <a:off x="5083" y="128292"/>
        <a:ext cx="1330495" cy="798297"/>
      </dsp:txXfrm>
    </dsp:sp>
    <dsp:sp modelId="{1AD9240B-D591-4C47-B218-9C24559A23FE}">
      <dsp:nvSpPr>
        <dsp:cNvPr id="0" name=""/>
        <dsp:cNvSpPr/>
      </dsp:nvSpPr>
      <dsp:spPr>
        <a:xfrm>
          <a:off x="2970288"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525910"/>
        <a:ext cx="15300" cy="3060"/>
      </dsp:txXfrm>
    </dsp:sp>
    <dsp:sp modelId="{A1FFE56D-7BD1-45EB-A3B0-6E4CB5355EFD}">
      <dsp:nvSpPr>
        <dsp:cNvPr id="0" name=""/>
        <dsp:cNvSpPr/>
      </dsp:nvSpPr>
      <dsp:spPr>
        <a:xfrm>
          <a:off x="164159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Understanding Brownfield vs. Evergreen Code </a:t>
          </a:r>
        </a:p>
      </dsp:txBody>
      <dsp:txXfrm>
        <a:off x="1641592" y="128292"/>
        <a:ext cx="1330495" cy="798297"/>
      </dsp:txXfrm>
    </dsp:sp>
    <dsp:sp modelId="{7AA5533A-EDAF-46AD-98E4-6AC89ED97F51}">
      <dsp:nvSpPr>
        <dsp:cNvPr id="0" name=""/>
        <dsp:cNvSpPr/>
      </dsp:nvSpPr>
      <dsp:spPr>
        <a:xfrm>
          <a:off x="460679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525910"/>
        <a:ext cx="15300" cy="3060"/>
      </dsp:txXfrm>
    </dsp:sp>
    <dsp:sp modelId="{AB6D64DC-8047-443D-8A31-58CC13B9D383}">
      <dsp:nvSpPr>
        <dsp:cNvPr id="0" name=""/>
        <dsp:cNvSpPr/>
      </dsp:nvSpPr>
      <dsp:spPr>
        <a:xfrm>
          <a:off x="3278102"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Pre-AI Checklist: Essential Safety Measures</a:t>
          </a:r>
        </a:p>
      </dsp:txBody>
      <dsp:txXfrm>
        <a:off x="3278102" y="128292"/>
        <a:ext cx="1330495" cy="798297"/>
      </dsp:txXfrm>
    </dsp:sp>
    <dsp:sp modelId="{01EC7479-A7CE-4CBB-98A6-58413C3FDC5B}">
      <dsp:nvSpPr>
        <dsp:cNvPr id="0" name=""/>
        <dsp:cNvSpPr/>
      </dsp:nvSpPr>
      <dsp:spPr>
        <a:xfrm>
          <a:off x="6243307" y="481720"/>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525910"/>
        <a:ext cx="15300" cy="3060"/>
      </dsp:txXfrm>
    </dsp:sp>
    <dsp:sp modelId="{4EA28538-4BF0-4C5C-98B8-6E70E4E44164}">
      <dsp:nvSpPr>
        <dsp:cNvPr id="0" name=""/>
        <dsp:cNvSpPr/>
      </dsp:nvSpPr>
      <dsp:spPr>
        <a:xfrm>
          <a:off x="491461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Managing GitHub Copilot Effectively</a:t>
          </a:r>
        </a:p>
      </dsp:txBody>
      <dsp:txXfrm>
        <a:off x="4914611" y="128292"/>
        <a:ext cx="1330495" cy="798297"/>
      </dsp:txXfrm>
    </dsp:sp>
    <dsp:sp modelId="{0359592B-7BFC-47BC-89DA-6E33CAC9EFB3}">
      <dsp:nvSpPr>
        <dsp:cNvPr id="0" name=""/>
        <dsp:cNvSpPr/>
      </dsp:nvSpPr>
      <dsp:spPr>
        <a:xfrm>
          <a:off x="670330" y="924789"/>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1060966"/>
        <a:ext cx="327659" cy="3060"/>
      </dsp:txXfrm>
    </dsp:sp>
    <dsp:sp modelId="{98AE2357-F7A5-4CC9-A154-4BE4F723655D}">
      <dsp:nvSpPr>
        <dsp:cNvPr id="0" name=""/>
        <dsp:cNvSpPr/>
      </dsp:nvSpPr>
      <dsp:spPr>
        <a:xfrm>
          <a:off x="6551121" y="128292"/>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Advanced Context Techniques</a:t>
          </a:r>
        </a:p>
      </dsp:txBody>
      <dsp:txXfrm>
        <a:off x="6551121" y="128292"/>
        <a:ext cx="1330495" cy="798297"/>
      </dsp:txXfrm>
    </dsp:sp>
    <dsp:sp modelId="{CCC6A3C7-8078-4E96-BF5A-7661AFCE6B09}">
      <dsp:nvSpPr>
        <dsp:cNvPr id="0" name=""/>
        <dsp:cNvSpPr/>
      </dsp:nvSpPr>
      <dsp:spPr>
        <a:xfrm>
          <a:off x="133377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1630221"/>
        <a:ext cx="15300" cy="3060"/>
      </dsp:txXfrm>
    </dsp:sp>
    <dsp:sp modelId="{2F0F9CB8-6173-45B1-B82F-DB885C62313E}">
      <dsp:nvSpPr>
        <dsp:cNvPr id="0" name=""/>
        <dsp:cNvSpPr/>
      </dsp:nvSpPr>
      <dsp:spPr>
        <a:xfrm>
          <a:off x="5083"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Adding AI Guardrails</a:t>
          </a:r>
        </a:p>
      </dsp:txBody>
      <dsp:txXfrm>
        <a:off x="5083" y="1232603"/>
        <a:ext cx="1330495" cy="798297"/>
      </dsp:txXfrm>
    </dsp:sp>
    <dsp:sp modelId="{090537FF-42A5-4D30-8BAB-D0C8F5240A81}">
      <dsp:nvSpPr>
        <dsp:cNvPr id="0" name=""/>
        <dsp:cNvSpPr/>
      </dsp:nvSpPr>
      <dsp:spPr>
        <a:xfrm>
          <a:off x="2970288"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1630221"/>
        <a:ext cx="15300" cy="3060"/>
      </dsp:txXfrm>
    </dsp:sp>
    <dsp:sp modelId="{F410F55C-4BF7-4FE8-94DA-75D1439EF56C}">
      <dsp:nvSpPr>
        <dsp:cNvPr id="0" name=""/>
        <dsp:cNvSpPr/>
      </dsp:nvSpPr>
      <dsp:spPr>
        <a:xfrm>
          <a:off x="164159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Generation and Code Analysis</a:t>
          </a:r>
        </a:p>
      </dsp:txBody>
      <dsp:txXfrm>
        <a:off x="1641592" y="1232603"/>
        <a:ext cx="1330495" cy="798297"/>
      </dsp:txXfrm>
    </dsp:sp>
    <dsp:sp modelId="{3A589FEB-3DAF-417F-B217-B4128ECBDCAF}">
      <dsp:nvSpPr>
        <dsp:cNvPr id="0" name=""/>
        <dsp:cNvSpPr/>
      </dsp:nvSpPr>
      <dsp:spPr>
        <a:xfrm>
          <a:off x="460679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1630221"/>
        <a:ext cx="15300" cy="3060"/>
      </dsp:txXfrm>
    </dsp:sp>
    <dsp:sp modelId="{8E1493D1-E5CD-4839-8D08-7186F4A84C79}">
      <dsp:nvSpPr>
        <dsp:cNvPr id="0" name=""/>
        <dsp:cNvSpPr/>
      </dsp:nvSpPr>
      <dsp:spPr>
        <a:xfrm>
          <a:off x="3278102"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a Backlog</a:t>
          </a:r>
        </a:p>
      </dsp:txBody>
      <dsp:txXfrm>
        <a:off x="3278102" y="1232603"/>
        <a:ext cx="1330495" cy="798297"/>
      </dsp:txXfrm>
    </dsp:sp>
    <dsp:sp modelId="{C9809732-D730-4B55-AB9C-4FF43E398996}">
      <dsp:nvSpPr>
        <dsp:cNvPr id="0" name=""/>
        <dsp:cNvSpPr/>
      </dsp:nvSpPr>
      <dsp:spPr>
        <a:xfrm>
          <a:off x="6243307" y="1586032"/>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1630221"/>
        <a:ext cx="15300" cy="3060"/>
      </dsp:txXfrm>
    </dsp:sp>
    <dsp:sp modelId="{48010D98-457F-4956-9629-8E8CF67FD9D9}">
      <dsp:nvSpPr>
        <dsp:cNvPr id="0" name=""/>
        <dsp:cNvSpPr/>
      </dsp:nvSpPr>
      <dsp:spPr>
        <a:xfrm>
          <a:off x="491461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Building Safety Nets</a:t>
          </a:r>
        </a:p>
      </dsp:txBody>
      <dsp:txXfrm>
        <a:off x="4914611" y="1232603"/>
        <a:ext cx="1330495" cy="798297"/>
      </dsp:txXfrm>
    </dsp:sp>
    <dsp:sp modelId="{B90E9068-E292-424F-89DA-AAAE0E99D422}">
      <dsp:nvSpPr>
        <dsp:cNvPr id="0" name=""/>
        <dsp:cNvSpPr/>
      </dsp:nvSpPr>
      <dsp:spPr>
        <a:xfrm>
          <a:off x="670330" y="2029100"/>
          <a:ext cx="6546038" cy="275413"/>
        </a:xfrm>
        <a:custGeom>
          <a:avLst/>
          <a:gdLst/>
          <a:ahLst/>
          <a:cxnLst/>
          <a:rect l="0" t="0" r="0" b="0"/>
          <a:pathLst>
            <a:path>
              <a:moveTo>
                <a:pt x="6546038" y="0"/>
              </a:moveTo>
              <a:lnTo>
                <a:pt x="6546038" y="154806"/>
              </a:lnTo>
              <a:lnTo>
                <a:pt x="0" y="154806"/>
              </a:lnTo>
              <a:lnTo>
                <a:pt x="0" y="275413"/>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9520" y="2165277"/>
        <a:ext cx="327659" cy="3060"/>
      </dsp:txXfrm>
    </dsp:sp>
    <dsp:sp modelId="{52995D4B-751F-4ECB-B5DA-BD22D360D50D}">
      <dsp:nvSpPr>
        <dsp:cNvPr id="0" name=""/>
        <dsp:cNvSpPr/>
      </dsp:nvSpPr>
      <dsp:spPr>
        <a:xfrm>
          <a:off x="6551121" y="1232603"/>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and Code Quality</a:t>
          </a:r>
        </a:p>
      </dsp:txBody>
      <dsp:txXfrm>
        <a:off x="6551121" y="1232603"/>
        <a:ext cx="1330495" cy="798297"/>
      </dsp:txXfrm>
    </dsp:sp>
    <dsp:sp modelId="{B07E4557-C12D-4F38-A296-E4F484887557}">
      <dsp:nvSpPr>
        <dsp:cNvPr id="0" name=""/>
        <dsp:cNvSpPr/>
      </dsp:nvSpPr>
      <dsp:spPr>
        <a:xfrm>
          <a:off x="133377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3835" y="2734533"/>
        <a:ext cx="15300" cy="3060"/>
      </dsp:txXfrm>
    </dsp:sp>
    <dsp:sp modelId="{405C7356-99DD-4828-8A17-366663D821FF}">
      <dsp:nvSpPr>
        <dsp:cNvPr id="0" name=""/>
        <dsp:cNvSpPr/>
      </dsp:nvSpPr>
      <dsp:spPr>
        <a:xfrm>
          <a:off x="5083"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Creating Robust Testing Frameworks</a:t>
          </a:r>
        </a:p>
      </dsp:txBody>
      <dsp:txXfrm>
        <a:off x="5083" y="2336914"/>
        <a:ext cx="1330495" cy="798297"/>
      </dsp:txXfrm>
    </dsp:sp>
    <dsp:sp modelId="{F1B13A89-35C1-4FAD-B666-E999348B5DED}">
      <dsp:nvSpPr>
        <dsp:cNvPr id="0" name=""/>
        <dsp:cNvSpPr/>
      </dsp:nvSpPr>
      <dsp:spPr>
        <a:xfrm>
          <a:off x="2970288"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0344" y="2734533"/>
        <a:ext cx="15300" cy="3060"/>
      </dsp:txXfrm>
    </dsp:sp>
    <dsp:sp modelId="{9FA16503-5119-4D97-9BF5-88D55EB1C4F2}">
      <dsp:nvSpPr>
        <dsp:cNvPr id="0" name=""/>
        <dsp:cNvSpPr/>
      </dsp:nvSpPr>
      <dsp:spPr>
        <a:xfrm>
          <a:off x="164159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Safe Brownfield Code Modification</a:t>
          </a:r>
        </a:p>
      </dsp:txBody>
      <dsp:txXfrm>
        <a:off x="1641592" y="2336914"/>
        <a:ext cx="1330495" cy="798297"/>
      </dsp:txXfrm>
    </dsp:sp>
    <dsp:sp modelId="{A68A97C1-B0B5-41C0-949E-DF9456722E07}">
      <dsp:nvSpPr>
        <dsp:cNvPr id="0" name=""/>
        <dsp:cNvSpPr/>
      </dsp:nvSpPr>
      <dsp:spPr>
        <a:xfrm>
          <a:off x="460679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6854" y="2734533"/>
        <a:ext cx="15300" cy="3060"/>
      </dsp:txXfrm>
    </dsp:sp>
    <dsp:sp modelId="{DAD8898F-EB9D-4F2B-B30C-B79F1CEDA04F}">
      <dsp:nvSpPr>
        <dsp:cNvPr id="0" name=""/>
        <dsp:cNvSpPr/>
      </dsp:nvSpPr>
      <dsp:spPr>
        <a:xfrm>
          <a:off x="3278102"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Conformance and Gap Analysis</a:t>
          </a:r>
        </a:p>
      </dsp:txBody>
      <dsp:txXfrm>
        <a:off x="3278102" y="2336914"/>
        <a:ext cx="1330495" cy="798297"/>
      </dsp:txXfrm>
    </dsp:sp>
    <dsp:sp modelId="{57CD2FE7-EACC-44A5-B3A6-14FE48CB8859}">
      <dsp:nvSpPr>
        <dsp:cNvPr id="0" name=""/>
        <dsp:cNvSpPr/>
      </dsp:nvSpPr>
      <dsp:spPr>
        <a:xfrm>
          <a:off x="6243307" y="2690343"/>
          <a:ext cx="275413" cy="91440"/>
        </a:xfrm>
        <a:custGeom>
          <a:avLst/>
          <a:gdLst/>
          <a:ahLst/>
          <a:cxnLst/>
          <a:rect l="0" t="0" r="0" b="0"/>
          <a:pathLst>
            <a:path>
              <a:moveTo>
                <a:pt x="0" y="45720"/>
              </a:moveTo>
              <a:lnTo>
                <a:pt x="2754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73363" y="2734533"/>
        <a:ext cx="15300" cy="3060"/>
      </dsp:txXfrm>
    </dsp:sp>
    <dsp:sp modelId="{94957220-C390-41B3-87F4-476A9128AF3A}">
      <dsp:nvSpPr>
        <dsp:cNvPr id="0" name=""/>
        <dsp:cNvSpPr/>
      </dsp:nvSpPr>
      <dsp:spPr>
        <a:xfrm>
          <a:off x="4914611" y="2336914"/>
          <a:ext cx="1330495" cy="7982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Addressing Technical Debt</a:t>
          </a:r>
        </a:p>
      </dsp:txBody>
      <dsp:txXfrm>
        <a:off x="4914611" y="2336914"/>
        <a:ext cx="1330495" cy="798297"/>
      </dsp:txXfrm>
    </dsp:sp>
    <dsp:sp modelId="{184CFCD0-11D2-4D8E-9488-ECE9BE4B8ECE}">
      <dsp:nvSpPr>
        <dsp:cNvPr id="0" name=""/>
        <dsp:cNvSpPr/>
      </dsp:nvSpPr>
      <dsp:spPr>
        <a:xfrm>
          <a:off x="6551121" y="2336914"/>
          <a:ext cx="1330495" cy="798297"/>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65195" tIns="68434" rIns="65195" bIns="68434" numCol="1" spcCol="1270" anchor="ctr" anchorCtr="0">
          <a:noAutofit/>
        </a:bodyPr>
        <a:lstStyle/>
        <a:p>
          <a:pPr marL="0" lvl="0" indent="0" algn="ctr" defTabSz="622300">
            <a:lnSpc>
              <a:spcPct val="90000"/>
            </a:lnSpc>
            <a:spcBef>
              <a:spcPct val="0"/>
            </a:spcBef>
            <a:spcAft>
              <a:spcPct val="35000"/>
            </a:spcAft>
            <a:buNone/>
          </a:pPr>
          <a:r>
            <a:rPr lang="en-US" sz="1400" kern="1200" dirty="0"/>
            <a:t>Multi-Model Implementation Comparison</a:t>
          </a:r>
        </a:p>
      </dsp:txBody>
      <dsp:txXfrm>
        <a:off x="6551121" y="2336914"/>
        <a:ext cx="1330495" cy="79829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3</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4</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F2EBC-94E0-CD54-AFB6-1DD2D3551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C203A-F519-3635-EFB9-EA72EB5C1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89ED2-7BB2-963C-371F-3A821676D66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66AC05D-C436-732A-6672-663DC2AD014F}"/>
              </a:ext>
            </a:extLst>
          </p:cNvPr>
          <p:cNvSpPr>
            <a:spLocks noGrp="1"/>
          </p:cNvSpPr>
          <p:nvPr>
            <p:ph type="sldNum" sz="quarter" idx="10"/>
          </p:nvPr>
        </p:nvSpPr>
        <p:spPr/>
        <p:txBody>
          <a:bodyPr/>
          <a:lstStyle/>
          <a:p>
            <a:fld id="{18BDFEC3-8487-43E8-A154-7C12CBC1FFF2}" type="slidenum">
              <a:rPr lang="en-US"/>
              <a:t>5</a:t>
            </a:fld>
            <a:endParaRPr lang="en-US"/>
          </a:p>
        </p:txBody>
      </p:sp>
    </p:spTree>
    <p:extLst>
      <p:ext uri="{BB962C8B-B14F-4D97-AF65-F5344CB8AC3E}">
        <p14:creationId xmlns:p14="http://schemas.microsoft.com/office/powerpoint/2010/main" val="712908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and evergreen aren’t moral judgments — they’re states of a system. </a:t>
            </a:r>
          </a:p>
          <a:p>
            <a:endParaRPr lang="en-US" dirty="0"/>
          </a:p>
          <a:p>
            <a:r>
              <a:rPr lang="en-US" dirty="0"/>
              <a:t>Brownfield means you inherited constraints, history, and decisions made under different conditions. </a:t>
            </a:r>
          </a:p>
          <a:p>
            <a:endParaRPr lang="en-US" dirty="0"/>
          </a:p>
          <a:p>
            <a:r>
              <a:rPr lang="en-US" dirty="0"/>
              <a:t>Evergreen means you’re actively resisting entropy. </a:t>
            </a:r>
          </a:p>
          <a:p>
            <a:endParaRPr lang="en-US" dirty="0"/>
          </a:p>
          <a:p>
            <a:r>
              <a:rPr lang="en-US" dirty="0"/>
              <a:t>The distinction matters because it shapes how we approach change, risk, and modernization.</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123151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b="1" dirty="0"/>
              <a:t>Objective</a:t>
            </a:r>
            <a:r>
              <a:rPr lang="en-US" dirty="0"/>
              <a:t>: Fork the course repos </a:t>
            </a:r>
            <a:r>
              <a:rPr lang="en-US" b="1" dirty="0"/>
              <a:t>Tasks</a:t>
            </a:r>
          </a:p>
          <a:p>
            <a:pPr lvl="0"/>
            <a:r>
              <a:rPr lang="en-US" dirty="0"/>
              <a:t>Search GitHub for</a:t>
            </a:r>
          </a:p>
          <a:p>
            <a:pPr lvl="1"/>
            <a:r>
              <a:rPr lang="en-US" dirty="0"/>
              <a:t>AI-Assisted-Software-Development</a:t>
            </a:r>
          </a:p>
          <a:p>
            <a:pPr lvl="0"/>
            <a:r>
              <a:rPr lang="en-US" dirty="0"/>
              <a:t>Fork this repo</a:t>
            </a:r>
          </a:p>
          <a:p>
            <a:pPr lvl="1"/>
            <a:r>
              <a:rPr lang="en-US" dirty="0"/>
              <a:t>This will create a personal copy under your GitHub account</a:t>
            </a:r>
          </a:p>
          <a:p>
            <a:pPr lvl="1"/>
            <a:r>
              <a:rPr lang="en-US" dirty="0"/>
              <a:t>You can make changes without affecting the original repo</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7</a:t>
            </a:fld>
            <a:endParaRPr lang="en-US"/>
          </a:p>
        </p:txBody>
      </p:sp>
    </p:spTree>
    <p:extLst>
      <p:ext uri="{BB962C8B-B14F-4D97-AF65-F5344CB8AC3E}">
        <p14:creationId xmlns:p14="http://schemas.microsoft.com/office/powerpoint/2010/main" val="758918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Brownfield is often misunderstood as “legacy” or “broken.” </a:t>
            </a:r>
          </a:p>
          <a:p>
            <a:endParaRPr lang="en-US" dirty="0"/>
          </a:p>
          <a:p>
            <a:r>
              <a:rPr lang="en-US" dirty="0"/>
              <a:t>In reality, brownfield systems are the backbone of most businesses. </a:t>
            </a:r>
          </a:p>
          <a:p>
            <a:endParaRPr lang="en-US" dirty="0"/>
          </a:p>
          <a:p>
            <a:r>
              <a:rPr lang="en-US" dirty="0"/>
              <a:t>They’ve proven their value simply by existing and running. </a:t>
            </a:r>
          </a:p>
          <a:p>
            <a:endParaRPr lang="en-US" dirty="0"/>
          </a:p>
          <a:p>
            <a:r>
              <a:rPr lang="en-US" dirty="0"/>
              <a:t>The key is to approach them with respect — not fear — and to understand the constraints that shaped them.</a:t>
            </a:r>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1135895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doesn’t rot because engineers are careless. </a:t>
            </a:r>
          </a:p>
          <a:p>
            <a:endParaRPr lang="en-US" dirty="0"/>
          </a:p>
          <a:p>
            <a:r>
              <a:rPr lang="en-US" dirty="0"/>
              <a:t>It degrades because the world around it changes. </a:t>
            </a:r>
          </a:p>
          <a:p>
            <a:endParaRPr lang="en-US" dirty="0"/>
          </a:p>
          <a:p>
            <a:r>
              <a:rPr lang="en-US" dirty="0"/>
              <a:t>Businesses pivot. </a:t>
            </a:r>
          </a:p>
          <a:p>
            <a:r>
              <a:rPr lang="en-US" dirty="0"/>
              <a:t>Teams evolve. </a:t>
            </a:r>
          </a:p>
          <a:p>
            <a:r>
              <a:rPr lang="en-US" dirty="0"/>
              <a:t>Technologies shift. </a:t>
            </a:r>
          </a:p>
          <a:p>
            <a:r>
              <a:rPr lang="en-US" dirty="0"/>
              <a:t>Without intentional maintenance, systems drift away from their original design. </a:t>
            </a:r>
          </a:p>
          <a:p>
            <a:r>
              <a:rPr lang="en-US" dirty="0"/>
              <a:t>Evergreen practices exist to counteract this natural entropy.</a:t>
            </a:r>
          </a:p>
        </p:txBody>
      </p:sp>
      <p:sp>
        <p:nvSpPr>
          <p:cNvPr id="4" name="Slide Number Placeholder 3"/>
          <p:cNvSpPr>
            <a:spLocks noGrp="1"/>
          </p:cNvSpPr>
          <p:nvPr>
            <p:ph type="sldNum" sz="quarter" idx="5"/>
          </p:nvPr>
        </p:nvSpPr>
        <p:spPr/>
        <p:txBody>
          <a:bodyPr/>
          <a:lstStyle/>
          <a:p>
            <a:fld id="{18BDFEC3-8487-43E8-A154-7C12CBC1FFF2}" type="slidenum">
              <a:rPr lang="en-US" smtClean="0"/>
              <a:t>9</a:t>
            </a:fld>
            <a:endParaRPr lang="en-US"/>
          </a:p>
        </p:txBody>
      </p:sp>
    </p:spTree>
    <p:extLst>
      <p:ext uri="{BB962C8B-B14F-4D97-AF65-F5344CB8AC3E}">
        <p14:creationId xmlns:p14="http://schemas.microsoft.com/office/powerpoint/2010/main" val="3056380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Evergreen isn’t about rewriting everything. </a:t>
            </a:r>
          </a:p>
          <a:p>
            <a:endParaRPr lang="en-US" dirty="0"/>
          </a:p>
          <a:p>
            <a:r>
              <a:rPr lang="en-US" dirty="0"/>
              <a:t>It’s about maintaining alignment between the system and modern expectations. </a:t>
            </a:r>
          </a:p>
          <a:p>
            <a:endParaRPr lang="en-US" dirty="0"/>
          </a:p>
          <a:p>
            <a:r>
              <a:rPr lang="en-US" dirty="0"/>
              <a:t>The “rewrite test” is a mental model: if you wouldn’t build it this way today, you’ve identified drift. </a:t>
            </a:r>
          </a:p>
          <a:p>
            <a:endParaRPr lang="en-US" dirty="0"/>
          </a:p>
          <a:p>
            <a:r>
              <a:rPr lang="en-US" dirty="0"/>
              <a:t>The goal is to close that gap incrementally, safely, and sustainably.</a:t>
            </a:r>
          </a:p>
        </p:txBody>
      </p:sp>
      <p:sp>
        <p:nvSpPr>
          <p:cNvPr id="4" name="Slide Number Placeholder 3"/>
          <p:cNvSpPr>
            <a:spLocks noGrp="1"/>
          </p:cNvSpPr>
          <p:nvPr>
            <p:ph type="sldNum" sz="quarter" idx="5"/>
          </p:nvPr>
        </p:nvSpPr>
        <p:spPr/>
        <p:txBody>
          <a:bodyPr/>
          <a:lstStyle/>
          <a:p>
            <a:fld id="{18BDFEC3-8487-43E8-A154-7C12CBC1FFF2}" type="slidenum">
              <a:rPr lang="en-US" smtClean="0"/>
              <a:t>10</a:t>
            </a:fld>
            <a:endParaRPr lang="en-US"/>
          </a:p>
        </p:txBody>
      </p:sp>
    </p:spTree>
    <p:extLst>
      <p:ext uri="{BB962C8B-B14F-4D97-AF65-F5344CB8AC3E}">
        <p14:creationId xmlns:p14="http://schemas.microsoft.com/office/powerpoint/2010/main" val="1137725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often inherit systems with a sense of dread. </a:t>
            </a:r>
          </a:p>
          <a:p>
            <a:endParaRPr lang="en-US" dirty="0"/>
          </a:p>
          <a:p>
            <a:r>
              <a:rPr lang="en-US" dirty="0"/>
              <a:t>But fear leads to risky rewrites, cowboy refactors, and brittle changes. </a:t>
            </a:r>
          </a:p>
          <a:p>
            <a:endParaRPr lang="en-US" dirty="0"/>
          </a:p>
          <a:p>
            <a:r>
              <a:rPr lang="en-US" dirty="0"/>
              <a:t>Respect leads to curiosity, careful analysis, and safe modernization. </a:t>
            </a:r>
          </a:p>
          <a:p>
            <a:endParaRPr lang="en-US" dirty="0"/>
          </a:p>
          <a:p>
            <a:r>
              <a:rPr lang="en-US" dirty="0"/>
              <a:t>A working system is a gift — it gives you a stable foundation to improve from.</a:t>
            </a:r>
          </a:p>
        </p:txBody>
      </p:sp>
      <p:sp>
        <p:nvSpPr>
          <p:cNvPr id="4" name="Slide Number Placeholder 3"/>
          <p:cNvSpPr>
            <a:spLocks noGrp="1"/>
          </p:cNvSpPr>
          <p:nvPr>
            <p:ph type="sldNum" sz="quarter" idx="5"/>
          </p:nvPr>
        </p:nvSpPr>
        <p:spPr/>
        <p:txBody>
          <a:bodyPr/>
          <a:lstStyle/>
          <a:p>
            <a:fld id="{18BDFEC3-8487-43E8-A154-7C12CBC1FFF2}" type="slidenum">
              <a:rPr lang="en-US" smtClean="0"/>
              <a:t>11</a:t>
            </a:fld>
            <a:endParaRPr lang="en-US"/>
          </a:p>
        </p:txBody>
      </p:sp>
    </p:spTree>
    <p:extLst>
      <p:ext uri="{BB962C8B-B14F-4D97-AF65-F5344CB8AC3E}">
        <p14:creationId xmlns:p14="http://schemas.microsoft.com/office/powerpoint/2010/main" val="528771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reframing evergreen development as something that used to be aspirational and expensive — and showing how AI-assisted software development changes the economics.</a:t>
            </a:r>
          </a:p>
          <a:p>
            <a:r>
              <a:rPr lang="en-US" dirty="0"/>
              <a:t>Start by grounding the audience:</a:t>
            </a:r>
          </a:p>
          <a:p>
            <a:r>
              <a:rPr lang="en-US" b="1" dirty="0"/>
              <a:t>“Evergreen is a high bar.”</a:t>
            </a:r>
            <a:br>
              <a:rPr lang="en-US" dirty="0"/>
            </a:br>
            <a:r>
              <a:rPr lang="en-US" dirty="0"/>
              <a:t>Evergreen code isn’t just clean code. It’s code that </a:t>
            </a:r>
            <a:r>
              <a:rPr lang="en-US" i="1" dirty="0"/>
              <a:t>actively resists</a:t>
            </a:r>
            <a:r>
              <a:rPr lang="en-US" dirty="0"/>
              <a:t> technical debt. It stays aligned with modern patterns, security expectations, and architectural principles. Most brownfield systems don’t start here — and that’s normal. The goal is not perfection; it’s direction.</a:t>
            </a:r>
          </a:p>
          <a:p>
            <a:r>
              <a:rPr lang="en-US" b="1" dirty="0"/>
              <a:t>“Before AI-assisted development…”</a:t>
            </a:r>
            <a:br>
              <a:rPr lang="en-US" dirty="0"/>
            </a:br>
            <a:r>
              <a:rPr lang="en-US" dirty="0"/>
              <a:t>Historically, maintaining evergreen quality required significant engineering bandwidth. Teams needed deep system knowledge, strong architectural discipline, and time — which is always the scarcest resource. Even organizations that </a:t>
            </a:r>
            <a:r>
              <a:rPr lang="en-US" i="1" dirty="0"/>
              <a:t>wanted</a:t>
            </a:r>
            <a:r>
              <a:rPr lang="en-US" dirty="0"/>
              <a:t> evergreen systems often couldn’t justify the cost.</a:t>
            </a:r>
          </a:p>
          <a:p>
            <a:r>
              <a:rPr lang="en-US" b="1" dirty="0"/>
              <a:t>“Evergreen was difficult to maintain.”</a:t>
            </a:r>
            <a:br>
              <a:rPr lang="en-US" dirty="0"/>
            </a:br>
            <a:r>
              <a:rPr lang="en-US" dirty="0"/>
              <a:t>Once a system drifted, catching it up was painful. Refactoring was slow. Documentation lagged. Tests weren’t comprehensive enough to support aggressive modernization. The result was a widening gap between the system’s current state and what “good” looked like.</a:t>
            </a:r>
          </a:p>
          <a:p>
            <a:r>
              <a:rPr lang="en-US" b="1" dirty="0"/>
              <a:t>“Moving from brownfield to evergreen was cost‑prohibitive.”</a:t>
            </a:r>
            <a:br>
              <a:rPr lang="en-US" dirty="0"/>
            </a:br>
            <a:r>
              <a:rPr lang="en-US" dirty="0"/>
              <a:t>This is the key point: modernization wasn’t just technically hard — it was financially unrealistic. Rewrites were risky. Incremental improvements were slow. Leadership often accepted technical debt as the cost of doing business because the alternative was too expensive.</a:t>
            </a:r>
          </a:p>
          <a:p>
            <a:r>
              <a:rPr lang="en-US" dirty="0"/>
              <a:t>Now pivot to the opportunity:</a:t>
            </a:r>
          </a:p>
          <a:p>
            <a:r>
              <a:rPr lang="en-US" b="1" dirty="0"/>
              <a:t>“AI can assist with…”</a:t>
            </a:r>
            <a:endParaRPr lang="en-US" dirty="0"/>
          </a:p>
          <a:p>
            <a:r>
              <a:rPr lang="en-US" b="1" dirty="0"/>
              <a:t>Identifying technical debt</a:t>
            </a:r>
            <a:br>
              <a:rPr lang="en-US" dirty="0"/>
            </a:br>
            <a:r>
              <a:rPr lang="en-US" dirty="0"/>
              <a:t>AI can scan codebases, detect patterns of drift, highlight outdated dependencies, and surface hotspots that humans might miss. It gives teams a map of where the debt actually is.</a:t>
            </a:r>
          </a:p>
          <a:p>
            <a:r>
              <a:rPr lang="en-US" b="1" dirty="0"/>
              <a:t>Prioritizing modernizations</a:t>
            </a:r>
            <a:br>
              <a:rPr lang="en-US" dirty="0"/>
            </a:br>
            <a:r>
              <a:rPr lang="en-US" dirty="0"/>
              <a:t>Not all debt is equal. AI can help rank issues by impact, risk, and effort, turning an overwhelming backlog into a rational roadmap.</a:t>
            </a:r>
          </a:p>
          <a:p>
            <a:r>
              <a:rPr lang="en-US" b="1" dirty="0"/>
              <a:t>Implementing improvements</a:t>
            </a:r>
            <a:br>
              <a:rPr lang="en-US" dirty="0"/>
            </a:br>
            <a:r>
              <a:rPr lang="en-US" dirty="0"/>
              <a:t>This is where the economics shift. AI can draft refactors, update patterns, migrate APIs, and modernize modules — with humans reviewing instead of doing all the heavy lifting.</a:t>
            </a:r>
          </a:p>
          <a:p>
            <a:r>
              <a:rPr lang="en-US" b="1" dirty="0"/>
              <a:t>Validating implementations</a:t>
            </a:r>
            <a:br>
              <a:rPr lang="en-US" dirty="0"/>
            </a:br>
            <a:r>
              <a:rPr lang="en-US" dirty="0"/>
              <a:t>AI can generate tests, run consistency checks, compare behavior before and after changes, and flag regressions. This reduces the fear factor around touching old code.</a:t>
            </a:r>
          </a:p>
          <a:p>
            <a:r>
              <a:rPr lang="en-US" b="1" dirty="0"/>
              <a:t>Documenting progress</a:t>
            </a:r>
            <a:br>
              <a:rPr lang="en-US" dirty="0"/>
            </a:br>
            <a:r>
              <a:rPr lang="en-US" dirty="0"/>
              <a:t>Evergreen systems require traceability. AI can produce commit summaries, architectural notes, changelogs, and modernization reports automatically, keeping documentation aligned with reality.</a:t>
            </a:r>
          </a:p>
          <a:p>
            <a:r>
              <a:rPr lang="en-US" dirty="0"/>
              <a:t>Close with the strategic message:</a:t>
            </a:r>
          </a:p>
          <a:p>
            <a:r>
              <a:rPr lang="en-US" b="1" dirty="0"/>
              <a:t>AI doesn’t make evergreen effortless — but it makes it achievable.</a:t>
            </a:r>
            <a:br>
              <a:rPr lang="en-US" dirty="0"/>
            </a:br>
            <a:r>
              <a:rPr lang="en-US" dirty="0"/>
              <a:t>The bar hasn’t lowered. The cost of reaching it has.</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12</a:t>
            </a:fld>
            <a:endParaRPr lang="en-US"/>
          </a:p>
        </p:txBody>
      </p:sp>
    </p:spTree>
    <p:extLst>
      <p:ext uri="{BB962C8B-B14F-4D97-AF65-F5344CB8AC3E}">
        <p14:creationId xmlns:p14="http://schemas.microsoft.com/office/powerpoint/2010/main" val="2822621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AD40-C15B-9513-2B39-2600187A4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C56D2-0FB4-BFE9-15DB-9326ADEB3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E5197-175F-B9F3-804C-A433AA1D0D7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2EDDD37-AD82-F232-245B-A8B0A164B672}"/>
              </a:ext>
            </a:extLst>
          </p:cNvPr>
          <p:cNvSpPr>
            <a:spLocks noGrp="1"/>
          </p:cNvSpPr>
          <p:nvPr>
            <p:ph type="sldNum" sz="quarter" idx="10"/>
          </p:nvPr>
        </p:nvSpPr>
        <p:spPr/>
        <p:txBody>
          <a:bodyPr/>
          <a:lstStyle/>
          <a:p>
            <a:fld id="{18BDFEC3-8487-43E8-A154-7C12CBC1FFF2}" type="slidenum">
              <a:rPr lang="en-US"/>
              <a:t>13</a:t>
            </a:fld>
            <a:endParaRPr lang="en-US"/>
          </a:p>
        </p:txBody>
      </p:sp>
    </p:spTree>
    <p:extLst>
      <p:ext uri="{BB962C8B-B14F-4D97-AF65-F5344CB8AC3E}">
        <p14:creationId xmlns:p14="http://schemas.microsoft.com/office/powerpoint/2010/main" val="3111939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AI doesn’t replace engineering discipline — it amplifies it.</a:t>
            </a:r>
          </a:p>
          <a:p>
            <a:endParaRPr lang="en-US" dirty="0"/>
          </a:p>
          <a:p>
            <a:r>
              <a:rPr lang="en-US" dirty="0"/>
              <a:t> Before we let AI touch a brownfield system, we need guardrails. </a:t>
            </a:r>
          </a:p>
          <a:p>
            <a:endParaRPr lang="en-US" dirty="0"/>
          </a:p>
          <a:p>
            <a:r>
              <a:rPr lang="en-US" dirty="0"/>
              <a:t>These safety measures aren’t optional; they’re what make AI‑assisted development sustainable and safe. </a:t>
            </a:r>
          </a:p>
          <a:p>
            <a:endParaRPr lang="en-US" dirty="0"/>
          </a:p>
          <a:p>
            <a:r>
              <a:rPr lang="en-US" dirty="0"/>
              <a:t>Think of them as the foundation that keeps modernization from turning into accidental rewrites or regressions.</a:t>
            </a:r>
          </a:p>
        </p:txBody>
      </p:sp>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3759442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produce large changes quickly. </a:t>
            </a:r>
          </a:p>
          <a:p>
            <a:endParaRPr lang="en-US" dirty="0"/>
          </a:p>
          <a:p>
            <a:r>
              <a:rPr lang="en-US" dirty="0"/>
              <a:t>That’s powerful — and dangerous without rollback. </a:t>
            </a:r>
          </a:p>
          <a:p>
            <a:endParaRPr lang="en-US" dirty="0"/>
          </a:p>
          <a:p>
            <a:r>
              <a:rPr lang="en-US" dirty="0"/>
              <a:t>Branches, frequent commits, and archives give you a safety net. </a:t>
            </a:r>
          </a:p>
          <a:p>
            <a:endParaRPr lang="en-US" dirty="0"/>
          </a:p>
          <a:p>
            <a:r>
              <a:rPr lang="en-US" dirty="0"/>
              <a:t>The goal is simple: no AI‑generated change should ever put you in a position where you can’t easily go back. </a:t>
            </a:r>
          </a:p>
          <a:p>
            <a:endParaRPr lang="en-US" dirty="0"/>
          </a:p>
          <a:p>
            <a:r>
              <a:rPr lang="en-US" dirty="0"/>
              <a:t>Rollback confidence is what enables experimentation</a:t>
            </a:r>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Tree>
    <p:extLst>
      <p:ext uri="{BB962C8B-B14F-4D97-AF65-F5344CB8AC3E}">
        <p14:creationId xmlns:p14="http://schemas.microsoft.com/office/powerpoint/2010/main" val="1819518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help generate tests, but you need a baseline first. </a:t>
            </a:r>
          </a:p>
          <a:p>
            <a:endParaRPr lang="en-US" dirty="0"/>
          </a:p>
          <a:p>
            <a:r>
              <a:rPr lang="en-US" dirty="0"/>
              <a:t>Without a reliable test suite, you’re flying blind. </a:t>
            </a:r>
          </a:p>
          <a:p>
            <a:endParaRPr lang="en-US" dirty="0"/>
          </a:p>
          <a:p>
            <a:r>
              <a:rPr lang="en-US" dirty="0"/>
              <a:t>The goal isn’t 100% coverage — it’s meaningful coverage. </a:t>
            </a:r>
          </a:p>
          <a:p>
            <a:endParaRPr lang="en-US" dirty="0"/>
          </a:p>
          <a:p>
            <a:r>
              <a:rPr lang="en-US" dirty="0"/>
              <a:t>Tests should give you confidence that AI‑generated changes behave the same as before unless intentionally modified. </a:t>
            </a:r>
          </a:p>
          <a:p>
            <a:endParaRPr lang="en-US" dirty="0"/>
          </a:p>
          <a:p>
            <a:r>
              <a:rPr lang="en-US" dirty="0"/>
              <a:t>This is what makes modernization safe instead of risky</a:t>
            </a:r>
          </a:p>
        </p:txBody>
      </p:sp>
      <p:sp>
        <p:nvSpPr>
          <p:cNvPr id="4" name="Slide Number Placeholder 3"/>
          <p:cNvSpPr>
            <a:spLocks noGrp="1"/>
          </p:cNvSpPr>
          <p:nvPr>
            <p:ph type="sldNum" sz="quarter" idx="5"/>
          </p:nvPr>
        </p:nvSpPr>
        <p:spPr/>
        <p:txBody>
          <a:bodyPr/>
          <a:lstStyle/>
          <a:p>
            <a:fld id="{18BDFEC3-8487-43E8-A154-7C12CBC1FFF2}" type="slidenum">
              <a:rPr lang="en-US" smtClean="0"/>
              <a:t>16</a:t>
            </a:fld>
            <a:endParaRPr lang="en-US"/>
          </a:p>
        </p:txBody>
      </p:sp>
    </p:spTree>
    <p:extLst>
      <p:ext uri="{BB962C8B-B14F-4D97-AF65-F5344CB8AC3E}">
        <p14:creationId xmlns:p14="http://schemas.microsoft.com/office/powerpoint/2010/main" val="1888022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fast, but it’s not authoritative. </a:t>
            </a:r>
          </a:p>
          <a:p>
            <a:endParaRPr lang="en-US" dirty="0"/>
          </a:p>
          <a:p>
            <a:r>
              <a:rPr lang="en-US" dirty="0"/>
              <a:t>Every change needs review — not because AI is untrustworthy, but because context matters. </a:t>
            </a:r>
          </a:p>
          <a:p>
            <a:endParaRPr lang="en-US" dirty="0"/>
          </a:p>
          <a:p>
            <a:r>
              <a:rPr lang="en-US" dirty="0"/>
              <a:t>Humans validate intent, architecture, and alignment with business rules. </a:t>
            </a:r>
          </a:p>
          <a:p>
            <a:endParaRPr lang="en-US" dirty="0"/>
          </a:p>
          <a:p>
            <a:r>
              <a:rPr lang="en-US" dirty="0"/>
              <a:t>Automated checks enforce consistency. </a:t>
            </a:r>
          </a:p>
          <a:p>
            <a:endParaRPr lang="en-US" dirty="0"/>
          </a:p>
          <a:p>
            <a:r>
              <a:rPr lang="en-US" dirty="0"/>
              <a:t>Together, they create a multi‑layered review process that keeps quality high.</a:t>
            </a:r>
          </a:p>
        </p:txBody>
      </p:sp>
      <p:sp>
        <p:nvSpPr>
          <p:cNvPr id="4" name="Slide Number Placeholder 3"/>
          <p:cNvSpPr>
            <a:spLocks noGrp="1"/>
          </p:cNvSpPr>
          <p:nvPr>
            <p:ph type="sldNum" sz="quarter" idx="5"/>
          </p:nvPr>
        </p:nvSpPr>
        <p:spPr/>
        <p:txBody>
          <a:bodyPr/>
          <a:lstStyle/>
          <a:p>
            <a:fld id="{18BDFEC3-8487-43E8-A154-7C12CBC1FFF2}" type="slidenum">
              <a:rPr lang="en-US" smtClean="0"/>
              <a:t>17</a:t>
            </a:fld>
            <a:endParaRPr lang="en-US"/>
          </a:p>
        </p:txBody>
      </p:sp>
    </p:spTree>
    <p:extLst>
      <p:ext uri="{BB962C8B-B14F-4D97-AF65-F5344CB8AC3E}">
        <p14:creationId xmlns:p14="http://schemas.microsoft.com/office/powerpoint/2010/main" val="1295287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Incrementalism is the antidote to brownfield fear. </a:t>
            </a:r>
          </a:p>
          <a:p>
            <a:endParaRPr lang="en-US" dirty="0"/>
          </a:p>
          <a:p>
            <a:r>
              <a:rPr lang="en-US" dirty="0"/>
              <a:t>AI makes it tempting to modernize huge sections at once, but that’s where risk spikes. </a:t>
            </a:r>
          </a:p>
          <a:p>
            <a:endParaRPr lang="en-US" dirty="0"/>
          </a:p>
          <a:p>
            <a:r>
              <a:rPr lang="en-US" dirty="0"/>
              <a:t>Instead, treat modernization as a series of controlled, reversible steps. </a:t>
            </a:r>
          </a:p>
          <a:p>
            <a:endParaRPr lang="en-US" dirty="0"/>
          </a:p>
          <a:p>
            <a:r>
              <a:rPr lang="en-US" dirty="0"/>
              <a:t>Each step builds confidence. </a:t>
            </a:r>
          </a:p>
          <a:p>
            <a:endParaRPr lang="en-US" dirty="0"/>
          </a:p>
          <a:p>
            <a:r>
              <a:rPr lang="en-US" dirty="0"/>
              <a:t>Each step is testable. </a:t>
            </a:r>
          </a:p>
          <a:p>
            <a:endParaRPr lang="en-US" dirty="0"/>
          </a:p>
          <a:p>
            <a:r>
              <a:rPr lang="en-US" dirty="0"/>
              <a:t>Each step is safe. </a:t>
            </a:r>
          </a:p>
          <a:p>
            <a:endParaRPr lang="en-US" dirty="0"/>
          </a:p>
          <a:p>
            <a:r>
              <a:rPr lang="en-US" dirty="0"/>
              <a:t>This is how evergreen systems emerge.</a:t>
            </a:r>
          </a:p>
        </p:txBody>
      </p:sp>
      <p:sp>
        <p:nvSpPr>
          <p:cNvPr id="4" name="Slide Number Placeholder 3"/>
          <p:cNvSpPr>
            <a:spLocks noGrp="1"/>
          </p:cNvSpPr>
          <p:nvPr>
            <p:ph type="sldNum" sz="quarter" idx="5"/>
          </p:nvPr>
        </p:nvSpPr>
        <p:spPr/>
        <p:txBody>
          <a:bodyPr/>
          <a:lstStyle/>
          <a:p>
            <a:fld id="{18BDFEC3-8487-43E8-A154-7C12CBC1FFF2}" type="slidenum">
              <a:rPr lang="en-US" smtClean="0"/>
              <a:t>18</a:t>
            </a:fld>
            <a:endParaRPr lang="en-US"/>
          </a:p>
        </p:txBody>
      </p:sp>
    </p:spTree>
    <p:extLst>
      <p:ext uri="{BB962C8B-B14F-4D97-AF65-F5344CB8AC3E}">
        <p14:creationId xmlns:p14="http://schemas.microsoft.com/office/powerpoint/2010/main" val="2575212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tends to produce large outputs unless constrained. </a:t>
            </a:r>
          </a:p>
          <a:p>
            <a:endParaRPr lang="en-US" dirty="0"/>
          </a:p>
          <a:p>
            <a:r>
              <a:rPr lang="en-US" dirty="0"/>
              <a:t>Your job is to keep the scope tight. </a:t>
            </a:r>
          </a:p>
          <a:p>
            <a:endParaRPr lang="en-US" dirty="0"/>
          </a:p>
          <a:p>
            <a:r>
              <a:rPr lang="en-US" dirty="0"/>
              <a:t>Small change sets are easier to understand, easier to test, and easier to roll back. </a:t>
            </a:r>
          </a:p>
          <a:p>
            <a:endParaRPr lang="en-US" dirty="0"/>
          </a:p>
          <a:p>
            <a:r>
              <a:rPr lang="en-US" dirty="0"/>
              <a:t>They also reduce cognitive load for reviewers. </a:t>
            </a:r>
          </a:p>
          <a:p>
            <a:endParaRPr lang="en-US" dirty="0"/>
          </a:p>
          <a:p>
            <a:r>
              <a:rPr lang="en-US" dirty="0"/>
              <a:t>This is how you maintain control while still benefiting from AI’s speed</a:t>
            </a:r>
          </a:p>
        </p:txBody>
      </p:sp>
      <p:sp>
        <p:nvSpPr>
          <p:cNvPr id="4" name="Slide Number Placeholder 3"/>
          <p:cNvSpPr>
            <a:spLocks noGrp="1"/>
          </p:cNvSpPr>
          <p:nvPr>
            <p:ph type="sldNum" sz="quarter" idx="5"/>
          </p:nvPr>
        </p:nvSpPr>
        <p:spPr/>
        <p:txBody>
          <a:bodyPr/>
          <a:lstStyle/>
          <a:p>
            <a:fld id="{18BDFEC3-8487-43E8-A154-7C12CBC1FFF2}" type="slidenum">
              <a:rPr lang="en-US" smtClean="0"/>
              <a:t>19</a:t>
            </a:fld>
            <a:endParaRPr lang="en-US"/>
          </a:p>
        </p:txBody>
      </p:sp>
    </p:spTree>
    <p:extLst>
      <p:ext uri="{BB962C8B-B14F-4D97-AF65-F5344CB8AC3E}">
        <p14:creationId xmlns:p14="http://schemas.microsoft.com/office/powerpoint/2010/main" val="2618870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is a core principle. </a:t>
            </a:r>
          </a:p>
          <a:p>
            <a:endParaRPr lang="en-US" dirty="0"/>
          </a:p>
          <a:p>
            <a:r>
              <a:rPr lang="en-US" dirty="0"/>
              <a:t>Brownfield systems have survived real‑world conditions. </a:t>
            </a:r>
          </a:p>
          <a:p>
            <a:endParaRPr lang="en-US" dirty="0"/>
          </a:p>
          <a:p>
            <a:r>
              <a:rPr lang="en-US" dirty="0"/>
              <a:t>They contain institutional knowledge and business logic that may not be documented anywhere else. </a:t>
            </a:r>
          </a:p>
          <a:p>
            <a:endParaRPr lang="en-US" dirty="0"/>
          </a:p>
          <a:p>
            <a:r>
              <a:rPr lang="en-US" dirty="0"/>
              <a:t>AI can help modernize them, but only if we approach them with humility. </a:t>
            </a:r>
          </a:p>
          <a:p>
            <a:endParaRPr lang="en-US" dirty="0"/>
          </a:p>
          <a:p>
            <a:r>
              <a:rPr lang="en-US" dirty="0"/>
              <a:t>The goal is not to erase the past – it’s to evolve it safely.</a:t>
            </a:r>
          </a:p>
        </p:txBody>
      </p:sp>
      <p:sp>
        <p:nvSpPr>
          <p:cNvPr id="4" name="Slide Number Placeholder 3"/>
          <p:cNvSpPr>
            <a:spLocks noGrp="1"/>
          </p:cNvSpPr>
          <p:nvPr>
            <p:ph type="sldNum" sz="quarter" idx="5"/>
          </p:nvPr>
        </p:nvSpPr>
        <p:spPr/>
        <p:txBody>
          <a:bodyPr/>
          <a:lstStyle/>
          <a:p>
            <a:fld id="{18BDFEC3-8487-43E8-A154-7C12CBC1FFF2}" type="slidenum">
              <a:rPr lang="en-US" smtClean="0"/>
              <a:t>20</a:t>
            </a:fld>
            <a:endParaRPr lang="en-US"/>
          </a:p>
        </p:txBody>
      </p:sp>
    </p:spTree>
    <p:extLst>
      <p:ext uri="{BB962C8B-B14F-4D97-AF65-F5344CB8AC3E}">
        <p14:creationId xmlns:p14="http://schemas.microsoft.com/office/powerpoint/2010/main" val="2358070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C7A5-C1EC-18D7-EEF2-288E1B051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C46BE-EBB5-C714-A0BB-97499D364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E5A68-10C3-1101-7716-C3F519C8B56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D1F9936C-15B2-5D0B-9BA2-DB8CF7E52FDE}"/>
              </a:ext>
            </a:extLst>
          </p:cNvPr>
          <p:cNvSpPr>
            <a:spLocks noGrp="1"/>
          </p:cNvSpPr>
          <p:nvPr>
            <p:ph type="sldNum" sz="quarter" idx="10"/>
          </p:nvPr>
        </p:nvSpPr>
        <p:spPr/>
        <p:txBody>
          <a:bodyPr/>
          <a:lstStyle/>
          <a:p>
            <a:fld id="{18BDFEC3-8487-43E8-A154-7C12CBC1FFF2}" type="slidenum">
              <a:rPr lang="en-US"/>
              <a:t>21</a:t>
            </a:fld>
            <a:endParaRPr lang="en-US"/>
          </a:p>
        </p:txBody>
      </p:sp>
    </p:spTree>
    <p:extLst>
      <p:ext uri="{BB962C8B-B14F-4D97-AF65-F5344CB8AC3E}">
        <p14:creationId xmlns:p14="http://schemas.microsoft.com/office/powerpoint/2010/main" val="2273723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Copilot as a tool that amplifies engineering discipline rather than replacing it. </a:t>
            </a:r>
          </a:p>
          <a:p>
            <a:endParaRPr lang="en-US" dirty="0"/>
          </a:p>
          <a:p>
            <a:r>
              <a:rPr lang="en-US" dirty="0"/>
              <a:t>The message is: Copilot is not magic. </a:t>
            </a:r>
          </a:p>
          <a:p>
            <a:endParaRPr lang="en-US" dirty="0"/>
          </a:p>
          <a:p>
            <a:r>
              <a:rPr lang="en-US" dirty="0"/>
              <a:t>It’s a reasoning engine that responds to structure, clarity, and context. </a:t>
            </a:r>
          </a:p>
          <a:p>
            <a:endParaRPr lang="en-US" dirty="0"/>
          </a:p>
          <a:p>
            <a:r>
              <a:rPr lang="en-US" dirty="0"/>
              <a:t>When managed well, it becomes a force multiplier. </a:t>
            </a:r>
          </a:p>
          <a:p>
            <a:endParaRPr lang="en-US" dirty="0"/>
          </a:p>
          <a:p>
            <a:r>
              <a:rPr lang="en-US" dirty="0"/>
              <a:t>When unmanaged, it becomes unpredictable.</a:t>
            </a:r>
          </a:p>
        </p:txBody>
      </p:sp>
      <p:sp>
        <p:nvSpPr>
          <p:cNvPr id="4" name="Slide Number Placeholder 3"/>
          <p:cNvSpPr>
            <a:spLocks noGrp="1"/>
          </p:cNvSpPr>
          <p:nvPr>
            <p:ph type="sldNum" sz="quarter" idx="5"/>
          </p:nvPr>
        </p:nvSpPr>
        <p:spPr/>
        <p:txBody>
          <a:bodyPr/>
          <a:lstStyle/>
          <a:p>
            <a:fld id="{18BDFEC3-8487-43E8-A154-7C12CBC1FFF2}" type="slidenum">
              <a:rPr lang="en-US" smtClean="0"/>
              <a:t>22</a:t>
            </a:fld>
            <a:endParaRPr lang="en-US"/>
          </a:p>
        </p:txBody>
      </p:sp>
    </p:spTree>
    <p:extLst>
      <p:ext uri="{BB962C8B-B14F-4D97-AF65-F5344CB8AC3E}">
        <p14:creationId xmlns:p14="http://schemas.microsoft.com/office/powerpoint/2010/main" val="1464661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resonates with engineering teams. </a:t>
            </a:r>
          </a:p>
          <a:p>
            <a:endParaRPr lang="en-US" dirty="0"/>
          </a:p>
          <a:p>
            <a:r>
              <a:rPr lang="en-US" dirty="0"/>
              <a:t>Copilot behaves like a junior developer: capable, but lacking context and judgment. </a:t>
            </a:r>
          </a:p>
          <a:p>
            <a:endParaRPr lang="en-US" dirty="0"/>
          </a:p>
          <a:p>
            <a:r>
              <a:rPr lang="en-US" dirty="0"/>
              <a:t>It thrives when you give it structure and feedback. </a:t>
            </a:r>
          </a:p>
          <a:p>
            <a:endParaRPr lang="en-US" dirty="0"/>
          </a:p>
          <a:p>
            <a:r>
              <a:rPr lang="en-US" dirty="0"/>
              <a:t>It struggles when you ask it to “just figure it out.” </a:t>
            </a:r>
          </a:p>
          <a:p>
            <a:endParaRPr lang="en-US" dirty="0"/>
          </a:p>
          <a:p>
            <a:r>
              <a:rPr lang="en-US" dirty="0"/>
              <a:t>The more intentional your guidance, the more reliable its output becomes.</a:t>
            </a:r>
          </a:p>
        </p:txBody>
      </p:sp>
      <p:sp>
        <p:nvSpPr>
          <p:cNvPr id="4" name="Slide Number Placeholder 3"/>
          <p:cNvSpPr>
            <a:spLocks noGrp="1"/>
          </p:cNvSpPr>
          <p:nvPr>
            <p:ph type="sldNum" sz="quarter" idx="5"/>
          </p:nvPr>
        </p:nvSpPr>
        <p:spPr/>
        <p:txBody>
          <a:bodyPr/>
          <a:lstStyle/>
          <a:p>
            <a:fld id="{18BDFEC3-8487-43E8-A154-7C12CBC1FFF2}" type="slidenum">
              <a:rPr lang="en-US" smtClean="0"/>
              <a:t>23</a:t>
            </a:fld>
            <a:endParaRPr lang="en-US"/>
          </a:p>
        </p:txBody>
      </p:sp>
    </p:spTree>
    <p:extLst>
      <p:ext uri="{BB962C8B-B14F-4D97-AF65-F5344CB8AC3E}">
        <p14:creationId xmlns:p14="http://schemas.microsoft.com/office/powerpoint/2010/main" val="3498716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are invisible but critical. </a:t>
            </a:r>
          </a:p>
          <a:p>
            <a:endParaRPr lang="en-US" dirty="0"/>
          </a:p>
          <a:p>
            <a:r>
              <a:rPr lang="en-US" dirty="0"/>
              <a:t>When Copilot misses requirements or contradicts earlier decisions, it’s often because the relevant information fell outside its context window. </a:t>
            </a:r>
          </a:p>
          <a:p>
            <a:endParaRPr lang="en-US" dirty="0"/>
          </a:p>
          <a:p>
            <a:r>
              <a:rPr lang="en-US" dirty="0"/>
              <a:t>The solution is not to “prompt harder” – it’s to structure the environment so the model always has the right information in view.</a:t>
            </a:r>
          </a:p>
        </p:txBody>
      </p:sp>
      <p:sp>
        <p:nvSpPr>
          <p:cNvPr id="4" name="Slide Number Placeholder 3"/>
          <p:cNvSpPr>
            <a:spLocks noGrp="1"/>
          </p:cNvSpPr>
          <p:nvPr>
            <p:ph type="sldNum" sz="quarter" idx="5"/>
          </p:nvPr>
        </p:nvSpPr>
        <p:spPr/>
        <p:txBody>
          <a:bodyPr/>
          <a:lstStyle/>
          <a:p>
            <a:fld id="{18BDFEC3-8487-43E8-A154-7C12CBC1FFF2}" type="slidenum">
              <a:rPr lang="en-US" smtClean="0"/>
              <a:t>24</a:t>
            </a:fld>
            <a:endParaRPr lang="en-US"/>
          </a:p>
        </p:txBody>
      </p:sp>
    </p:spTree>
    <p:extLst>
      <p:ext uri="{BB962C8B-B14F-4D97-AF65-F5344CB8AC3E}">
        <p14:creationId xmlns:p14="http://schemas.microsoft.com/office/powerpoint/2010/main" val="2210286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is not about clever phrasing – it’s about clarity. </a:t>
            </a:r>
          </a:p>
          <a:p>
            <a:endParaRPr lang="en-US" dirty="0"/>
          </a:p>
          <a:p>
            <a:r>
              <a:rPr lang="en-US" dirty="0"/>
              <a:t>Copilot performs best when you define intent, boundaries, and examples. </a:t>
            </a:r>
          </a:p>
          <a:p>
            <a:endParaRPr lang="en-US" dirty="0"/>
          </a:p>
          <a:p>
            <a:r>
              <a:rPr lang="en-US" dirty="0"/>
              <a:t>Instruction files are especially powerful because they give Copilot a persistent “north star” for your codebase. </a:t>
            </a:r>
          </a:p>
          <a:p>
            <a:endParaRPr lang="en-US" dirty="0"/>
          </a:p>
          <a:p>
            <a:r>
              <a:rPr lang="en-US" dirty="0"/>
              <a:t>Think of prompts as design briefs, not commands.</a:t>
            </a:r>
          </a:p>
        </p:txBody>
      </p:sp>
      <p:sp>
        <p:nvSpPr>
          <p:cNvPr id="4" name="Slide Number Placeholder 3"/>
          <p:cNvSpPr>
            <a:spLocks noGrp="1"/>
          </p:cNvSpPr>
          <p:nvPr>
            <p:ph type="sldNum" sz="quarter" idx="5"/>
          </p:nvPr>
        </p:nvSpPr>
        <p:spPr/>
        <p:txBody>
          <a:bodyPr/>
          <a:lstStyle/>
          <a:p>
            <a:fld id="{18BDFEC3-8487-43E8-A154-7C12CBC1FFF2}" type="slidenum">
              <a:rPr lang="en-US" smtClean="0"/>
              <a:t>25</a:t>
            </a:fld>
            <a:endParaRPr lang="en-US"/>
          </a:p>
        </p:txBody>
      </p:sp>
    </p:spTree>
    <p:extLst>
      <p:ext uri="{BB962C8B-B14F-4D97-AF65-F5344CB8AC3E}">
        <p14:creationId xmlns:p14="http://schemas.microsoft.com/office/powerpoint/2010/main" val="1737774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a strategic decision. </a:t>
            </a:r>
          </a:p>
          <a:p>
            <a:endParaRPr lang="en-US" dirty="0"/>
          </a:p>
          <a:p>
            <a:r>
              <a:rPr lang="en-US" dirty="0"/>
              <a:t>High‑end models are great for deep reasoning but can be slower or more expensive. </a:t>
            </a:r>
          </a:p>
          <a:p>
            <a:endParaRPr lang="en-US" dirty="0"/>
          </a:p>
          <a:p>
            <a:r>
              <a:rPr lang="en-US" dirty="0"/>
              <a:t>Smaller models are fast and efficient but less capable. </a:t>
            </a:r>
          </a:p>
          <a:p>
            <a:endParaRPr lang="en-US" dirty="0"/>
          </a:p>
          <a:p>
            <a:r>
              <a:rPr lang="en-US" dirty="0"/>
              <a:t>The key is to choose based on task complexity. </a:t>
            </a:r>
          </a:p>
          <a:p>
            <a:endParaRPr lang="en-US" dirty="0"/>
          </a:p>
          <a:p>
            <a:r>
              <a:rPr lang="en-US" dirty="0"/>
              <a:t>For example: use a reasoning‑heavy model for designing a module, then switch to a lighter model for generating tests or scaffolding</a:t>
            </a:r>
          </a:p>
        </p:txBody>
      </p:sp>
      <p:sp>
        <p:nvSpPr>
          <p:cNvPr id="4" name="Slide Number Placeholder 3"/>
          <p:cNvSpPr>
            <a:spLocks noGrp="1"/>
          </p:cNvSpPr>
          <p:nvPr>
            <p:ph type="sldNum" sz="quarter" idx="5"/>
          </p:nvPr>
        </p:nvSpPr>
        <p:spPr/>
        <p:txBody>
          <a:bodyPr/>
          <a:lstStyle/>
          <a:p>
            <a:fld id="{18BDFEC3-8487-43E8-A154-7C12CBC1FFF2}" type="slidenum">
              <a:rPr lang="en-US" smtClean="0"/>
              <a:t>26</a:t>
            </a:fld>
            <a:endParaRPr lang="en-US"/>
          </a:p>
        </p:txBody>
      </p:sp>
    </p:spTree>
    <p:extLst>
      <p:ext uri="{BB962C8B-B14F-4D97-AF65-F5344CB8AC3E}">
        <p14:creationId xmlns:p14="http://schemas.microsoft.com/office/powerpoint/2010/main" val="1853801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048F-E453-0758-711C-3E345117B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D981F-FBF8-DE11-DD63-2597043EE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E3EA2-9F15-137C-EE16-707BAB7C46C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3213A63-7A6F-3BCF-8147-9FFFC6BA74F2}"/>
              </a:ext>
            </a:extLst>
          </p:cNvPr>
          <p:cNvSpPr>
            <a:spLocks noGrp="1"/>
          </p:cNvSpPr>
          <p:nvPr>
            <p:ph type="sldNum" sz="quarter" idx="10"/>
          </p:nvPr>
        </p:nvSpPr>
        <p:spPr/>
        <p:txBody>
          <a:bodyPr/>
          <a:lstStyle/>
          <a:p>
            <a:fld id="{18BDFEC3-8487-43E8-A154-7C12CBC1FFF2}" type="slidenum">
              <a:rPr lang="en-US"/>
              <a:t>27</a:t>
            </a:fld>
            <a:endParaRPr lang="en-US"/>
          </a:p>
        </p:txBody>
      </p:sp>
    </p:spTree>
    <p:extLst>
      <p:ext uri="{BB962C8B-B14F-4D97-AF65-F5344CB8AC3E}">
        <p14:creationId xmlns:p14="http://schemas.microsoft.com/office/powerpoint/2010/main" val="1428326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frames the idea that AI quality is directly tied to context quality. </a:t>
            </a:r>
            <a:endParaRPr lang="en-US" dirty="0"/>
          </a:p>
          <a:p>
            <a:pPr marL="0" lvl="0" indent="0">
              <a:buNone/>
            </a:pPr>
            <a:endParaRPr lang="en-US" dirty="0"/>
          </a:p>
          <a:p>
            <a:pPr marL="0" lvl="0" indent="0">
              <a:buNone/>
            </a:pPr>
            <a:r>
              <a:rPr dirty="0"/>
              <a:t>Models don’t “understand” your repo</a:t>
            </a:r>
            <a:r>
              <a:rPr lang="en-US" dirty="0"/>
              <a:t> – </a:t>
            </a:r>
            <a:r>
              <a:rPr dirty="0"/>
              <a:t>they interpret whatever you give them. </a:t>
            </a:r>
            <a:endParaRPr lang="en-US" dirty="0"/>
          </a:p>
          <a:p>
            <a:pPr marL="0" lvl="0" indent="0">
              <a:buNone/>
            </a:pPr>
            <a:endParaRPr lang="en-US" dirty="0"/>
          </a:p>
          <a:p>
            <a:pPr marL="0" lvl="0" indent="0">
              <a:buNone/>
            </a:pPr>
            <a:r>
              <a:rPr dirty="0"/>
              <a:t>Advanced context techniques let you control what the model sees and how reliably it stays aligned with your architecture.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a:t>
            </a:r>
            <a:r>
              <a:rPr dirty="0">
                <a:latin typeface="Courier"/>
              </a:rPr>
              <a:t>#</a:t>
            </a:r>
            <a:r>
              <a:rPr dirty="0"/>
              <a:t> syntax is one of the most powerful ways to anchor Copilot. </a:t>
            </a:r>
            <a:endParaRPr lang="en-US" dirty="0"/>
          </a:p>
          <a:p>
            <a:pPr marL="0" lvl="0" indent="0">
              <a:buNone/>
            </a:pPr>
            <a:endParaRPr lang="en-US" dirty="0"/>
          </a:p>
          <a:p>
            <a:pPr marL="0" lvl="0" indent="0">
              <a:buNone/>
            </a:pPr>
            <a:r>
              <a:rPr dirty="0"/>
              <a:t>It forces the model to load specific files or directories into its working memory. </a:t>
            </a:r>
            <a:endParaRPr lang="en-US" dirty="0"/>
          </a:p>
          <a:p>
            <a:pPr marL="0" lvl="0" indent="0">
              <a:buNone/>
            </a:pPr>
            <a:endParaRPr lang="en-US" dirty="0"/>
          </a:p>
          <a:p>
            <a:pPr marL="0" lvl="0" indent="0">
              <a:buNone/>
            </a:pPr>
            <a:r>
              <a:rPr dirty="0"/>
              <a:t>This is essential when you want the model to follow existing patterns or avoid hallucinating APIs.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Spaces and knowledge bases give you a stable context layer that doesn’t depend on prompt length. </a:t>
            </a:r>
            <a:endParaRPr lang="en-US" dirty="0"/>
          </a:p>
          <a:p>
            <a:pPr marL="0" lvl="0" indent="0">
              <a:buNone/>
            </a:pPr>
            <a:endParaRPr lang="en-US" dirty="0"/>
          </a:p>
          <a:p>
            <a:pPr marL="0" lvl="0" indent="0">
              <a:buNone/>
            </a:pPr>
            <a:r>
              <a:rPr dirty="0"/>
              <a:t>Instead of repeating instructions every session, you store them once and let Copilot reference them automatically. </a:t>
            </a:r>
            <a:endParaRPr lang="en-US" dirty="0"/>
          </a:p>
          <a:p>
            <a:pPr marL="0" lvl="0" indent="0">
              <a:buNone/>
            </a:pPr>
            <a:endParaRPr lang="en-US" dirty="0"/>
          </a:p>
          <a:p>
            <a:pPr marL="0" lvl="0" indent="0">
              <a:buNone/>
            </a:pPr>
            <a:r>
              <a:rPr dirty="0"/>
              <a:t>This is especially valuable for brownfield systems with scattered tribal knowledge.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Premium models are incredible, but they’re not free. </a:t>
            </a:r>
            <a:endParaRPr lang="en-US" dirty="0"/>
          </a:p>
          <a:p>
            <a:pPr marL="0" lvl="0" indent="0">
              <a:buNone/>
            </a:pPr>
            <a:endParaRPr lang="en-US" dirty="0"/>
          </a:p>
          <a:p>
            <a:pPr marL="0" lvl="0" indent="0">
              <a:buNone/>
            </a:pPr>
            <a:r>
              <a:rPr dirty="0"/>
              <a:t>Monitoring usage helps teams understand where they’re over‑relying on heavyweight models. </a:t>
            </a:r>
            <a:endParaRPr lang="en-US" dirty="0"/>
          </a:p>
          <a:p>
            <a:pPr marL="0" lvl="0" indent="0">
              <a:buNone/>
            </a:pPr>
            <a:endParaRPr lang="en-US" dirty="0"/>
          </a:p>
          <a:p>
            <a:pPr marL="0" lvl="0" indent="0">
              <a:buNone/>
            </a:pPr>
            <a:r>
              <a:rPr dirty="0"/>
              <a:t>A tiered strategy ensures the right model is used for the right task, keeping costs predictable and output quality high.</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Open by explaining that token limits are one of the most important but least visible constraints in AI-assisted development. </a:t>
            </a:r>
            <a:endParaRPr lang="en-US" dirty="0"/>
          </a:p>
          <a:p>
            <a:pPr marL="0" lvl="0" indent="0">
              <a:buNone/>
            </a:pPr>
            <a:endParaRPr lang="en-US" dirty="0"/>
          </a:p>
          <a:p>
            <a:pPr marL="0" lvl="0" indent="0">
              <a:buNone/>
            </a:pPr>
            <a:r>
              <a:rPr dirty="0"/>
              <a:t>When a model exceeds its context window, it silently drops earlier content. </a:t>
            </a:r>
            <a:endParaRPr lang="en-US" dirty="0"/>
          </a:p>
          <a:p>
            <a:pPr marL="0" lvl="0" indent="0">
              <a:buNone/>
            </a:pPr>
            <a:endParaRPr lang="en-US" dirty="0"/>
          </a:p>
          <a:p>
            <a:pPr marL="0" lvl="0" indent="0">
              <a:buNone/>
            </a:pPr>
            <a:r>
              <a:rPr dirty="0"/>
              <a:t>This leads to missing requirements, contradictions, or forgotten rules. </a:t>
            </a:r>
            <a:endParaRPr lang="en-US" dirty="0"/>
          </a:p>
          <a:p>
            <a:pPr marL="0" lvl="0" indent="0">
              <a:buNone/>
            </a:pPr>
            <a:endParaRPr lang="en-US" dirty="0"/>
          </a:p>
          <a:p>
            <a:pPr marL="0" lvl="0" indent="0">
              <a:buNone/>
            </a:pPr>
            <a:r>
              <a:rPr dirty="0"/>
              <a:t>The goal of this section is to help developers recognize overflow symptoms and apply techniques to prevent them.</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Token limits are a hard boundary. </a:t>
            </a:r>
            <a:endParaRPr lang="en-US" dirty="0"/>
          </a:p>
          <a:p>
            <a:pPr marL="0" lvl="0" indent="0">
              <a:buNone/>
            </a:pPr>
            <a:endParaRPr lang="en-US" dirty="0"/>
          </a:p>
          <a:p>
            <a:pPr marL="0" lvl="0" indent="0">
              <a:buNone/>
            </a:pPr>
            <a:r>
              <a:rPr dirty="0"/>
              <a:t>Everything the model reads</a:t>
            </a:r>
            <a:r>
              <a:rPr lang="en-US" dirty="0"/>
              <a:t> – </a:t>
            </a:r>
            <a:r>
              <a:rPr dirty="0"/>
              <a:t>your prompt, code snippets, examples, and even its own reasoning</a:t>
            </a:r>
            <a:r>
              <a:rPr lang="en-US" dirty="0"/>
              <a:t> – </a:t>
            </a:r>
            <a:r>
              <a:rPr dirty="0"/>
              <a:t>counts toward the limit. </a:t>
            </a:r>
            <a:endParaRPr lang="en-US" dirty="0"/>
          </a:p>
          <a:p>
            <a:pPr marL="0" lvl="0" indent="0">
              <a:buNone/>
            </a:pPr>
            <a:endParaRPr lang="en-US" dirty="0"/>
          </a:p>
          <a:p>
            <a:pPr marL="0" lvl="0" indent="0">
              <a:buNone/>
            </a:pPr>
            <a:r>
              <a:rPr dirty="0"/>
              <a:t>When the limit is exceeded, the model truncates the earliest content, which often contains critical instructions or architectural rules.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Overflow is subtle. </a:t>
            </a:r>
            <a:endParaRPr lang="en-US" dirty="0"/>
          </a:p>
          <a:p>
            <a:pPr marL="0" lvl="0" indent="0">
              <a:buNone/>
            </a:pPr>
            <a:endParaRPr lang="en-US" dirty="0"/>
          </a:p>
          <a:p>
            <a:pPr marL="0" lvl="0" indent="0">
              <a:buNone/>
            </a:pPr>
            <a:r>
              <a:rPr dirty="0"/>
              <a:t>The model behaves as if you never gave it the missing information. </a:t>
            </a:r>
            <a:endParaRPr lang="en-US" dirty="0"/>
          </a:p>
          <a:p>
            <a:pPr marL="0" lvl="0" indent="0">
              <a:buNone/>
            </a:pPr>
            <a:endParaRPr lang="en-US" dirty="0"/>
          </a:p>
          <a:p>
            <a:pPr marL="0" lvl="0" indent="0">
              <a:buNone/>
            </a:pPr>
            <a:r>
              <a:rPr dirty="0"/>
              <a:t>Developers often misinterpret this as stubbornness or randomness, but it’s simply the model losing context due to token pressure. </a:t>
            </a:r>
            <a:endParaRPr lang="en-US" dirty="0"/>
          </a:p>
          <a:p>
            <a:pPr marL="0" lvl="0" indent="0">
              <a:buNone/>
            </a:pPr>
            <a:endParaRPr lang="en-US" dirty="0"/>
          </a:p>
          <a:p>
            <a:pPr marL="0" lvl="0" indent="0">
              <a:buNone/>
            </a:pPr>
            <a:r>
              <a:rPr dirty="0"/>
              <a:t>These symptoms are your early warning signs.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Summaries are your first line of defense. </a:t>
            </a:r>
            <a:endParaRPr lang="en-US" dirty="0"/>
          </a:p>
          <a:p>
            <a:pPr marL="0" lvl="0" indent="0">
              <a:buNone/>
            </a:pPr>
            <a:endParaRPr lang="en-US" dirty="0"/>
          </a:p>
          <a:p>
            <a:pPr marL="0" lvl="0" indent="0">
              <a:buNone/>
            </a:pPr>
            <a:r>
              <a:rPr dirty="0"/>
              <a:t>Instead of pasting entire files, summarize their purpose, interfaces, and constraints. </a:t>
            </a:r>
            <a:endParaRPr lang="en-US" dirty="0"/>
          </a:p>
          <a:p>
            <a:pPr marL="0" lvl="0" indent="0">
              <a:buNone/>
            </a:pPr>
            <a:endParaRPr lang="en-US" dirty="0"/>
          </a:p>
          <a:p>
            <a:pPr marL="0" lvl="0" indent="0">
              <a:buNone/>
            </a:pPr>
            <a:r>
              <a:rPr dirty="0"/>
              <a:t>Summaries dramatically reduce token usage while keeping the model aligned with the system’s intent. </a:t>
            </a:r>
            <a:endParaRPr lang="en-US" dirty="0"/>
          </a:p>
          <a:p>
            <a:pPr marL="0" lvl="0" indent="0">
              <a:buNone/>
            </a:pPr>
            <a:endParaRPr lang="en-US" dirty="0"/>
          </a:p>
          <a:p>
            <a:pPr marL="0" lvl="0" indent="0">
              <a:buNone/>
            </a:pPr>
            <a:r>
              <a:rPr dirty="0"/>
              <a:t>They also become reusable context anchors for future prompts.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Chunking keeps prompts small and manageable. </a:t>
            </a:r>
            <a:endParaRPr lang="en-US" dirty="0"/>
          </a:p>
          <a:p>
            <a:pPr marL="0" lvl="0" indent="0">
              <a:buNone/>
            </a:pPr>
            <a:endParaRPr lang="en-US" dirty="0"/>
          </a:p>
          <a:p>
            <a:pPr marL="0" lvl="0" indent="0">
              <a:buNone/>
            </a:pPr>
            <a:r>
              <a:rPr dirty="0"/>
              <a:t>Instead of asking the model to refactor a huge file, break the task into sections. </a:t>
            </a:r>
            <a:endParaRPr lang="en-US" dirty="0"/>
          </a:p>
          <a:p>
            <a:pPr marL="0" lvl="0" indent="0">
              <a:buNone/>
            </a:pPr>
            <a:endParaRPr lang="en-US" dirty="0"/>
          </a:p>
          <a:p>
            <a:pPr marL="0" lvl="0" indent="0">
              <a:buNone/>
            </a:pPr>
            <a:r>
              <a:rPr dirty="0"/>
              <a:t>This keeps each prompt within safe token limits and makes the output easier to review, test, and roll back if needed.</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Scoped prompts are about intentionality. </a:t>
            </a:r>
            <a:endParaRPr lang="en-US" dirty="0"/>
          </a:p>
          <a:p>
            <a:pPr marL="0" lvl="0" indent="0">
              <a:buNone/>
            </a:pPr>
            <a:endParaRPr lang="en-US" dirty="0"/>
          </a:p>
          <a:p>
            <a:pPr marL="0" lvl="0" indent="0">
              <a:buNone/>
            </a:pPr>
            <a:r>
              <a:rPr dirty="0"/>
              <a:t>Tell the model exactly what part of the system to focus on. </a:t>
            </a:r>
            <a:endParaRPr lang="en-US" dirty="0"/>
          </a:p>
          <a:p>
            <a:pPr marL="0" lvl="0" indent="0">
              <a:buNone/>
            </a:pPr>
            <a:endParaRPr lang="en-US" dirty="0"/>
          </a:p>
          <a:p>
            <a:pPr marL="0" lvl="0" indent="0">
              <a:buNone/>
            </a:pPr>
            <a:r>
              <a:rPr dirty="0"/>
              <a:t>This reduces token usage and improves reliability because the model isn’t trying to reason about the entire codebase at once. </a:t>
            </a:r>
            <a:endParaRPr lang="en-US" dirty="0"/>
          </a:p>
          <a:p>
            <a:pPr marL="0" lvl="0" indent="0">
              <a:buNone/>
            </a:pPr>
            <a:endParaRPr lang="en-US" dirty="0"/>
          </a:p>
          <a:p>
            <a:pPr marL="0" lvl="0" indent="0">
              <a:buNone/>
            </a:pPr>
            <a:r>
              <a:rPr dirty="0"/>
              <a:t>It also reduces hallucinations by narrowing the reasoning space.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Instruction files are a powerful way to reduce token load. </a:t>
            </a:r>
            <a:endParaRPr lang="en-US" dirty="0"/>
          </a:p>
          <a:p>
            <a:pPr marL="0" lvl="0" indent="0">
              <a:buNone/>
            </a:pPr>
            <a:endParaRPr lang="en-US" dirty="0"/>
          </a:p>
          <a:p>
            <a:pPr marL="0" lvl="0" indent="0">
              <a:buNone/>
            </a:pPr>
            <a:r>
              <a:rPr dirty="0"/>
              <a:t>Instead of repeating architectural rules or coding standards in every prompt, store them in a persistent instruction file. </a:t>
            </a:r>
            <a:endParaRPr lang="en-US" dirty="0"/>
          </a:p>
          <a:p>
            <a:pPr marL="0" lvl="0" indent="0">
              <a:buNone/>
            </a:pPr>
            <a:endParaRPr lang="en-US" dirty="0"/>
          </a:p>
          <a:p>
            <a:pPr marL="0" lvl="0" indent="0">
              <a:buNone/>
            </a:pPr>
            <a:r>
              <a:rPr dirty="0"/>
              <a:t>This frees up space for task‑specific context and keeps the model aligned with your evergreen architecture.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A15C-25F8-C21F-ABC5-DCB8CDB26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1E4BD-F3D5-6AB5-5509-9668D45B1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38A9F-E7A6-4DB6-46D9-D94DA8A4D2BA}"/>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90EDB856-AEE5-1D77-7911-775B84331AAA}"/>
              </a:ext>
            </a:extLst>
          </p:cNvPr>
          <p:cNvSpPr>
            <a:spLocks noGrp="1"/>
          </p:cNvSpPr>
          <p:nvPr>
            <p:ph type="sldNum" sz="quarter" idx="10"/>
          </p:nvPr>
        </p:nvSpPr>
        <p:spPr/>
        <p:txBody>
          <a:bodyPr/>
          <a:lstStyle/>
          <a:p>
            <a:fld id="{18BDFEC3-8487-43E8-A154-7C12CBC1FFF2}" type="slidenum">
              <a:rPr lang="en-US"/>
              <a:t>39</a:t>
            </a:fld>
            <a:endParaRPr lang="en-US"/>
          </a:p>
        </p:txBody>
      </p:sp>
    </p:spTree>
    <p:extLst>
      <p:ext uri="{BB962C8B-B14F-4D97-AF65-F5344CB8AC3E}">
        <p14:creationId xmlns:p14="http://schemas.microsoft.com/office/powerpoint/2010/main" val="11105683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foundation for safe, predictable AI‑assisted development. </a:t>
            </a:r>
            <a:endParaRPr lang="en-US" dirty="0"/>
          </a:p>
          <a:p>
            <a:pPr marL="0" lvl="0" indent="0">
              <a:buNone/>
            </a:pPr>
            <a:endParaRPr lang="en-US" dirty="0"/>
          </a:p>
          <a:p>
            <a:pPr marL="0" lvl="0" indent="0">
              <a:buNone/>
            </a:pPr>
            <a:r>
              <a:rPr dirty="0"/>
              <a:t>Guardrails ensure that AI output is intentional, reviewable, and aligned with architectural and organizational standards. </a:t>
            </a:r>
            <a:endParaRPr lang="en-US" dirty="0"/>
          </a:p>
          <a:p>
            <a:pPr marL="0" lvl="0" indent="0">
              <a:buNone/>
            </a:pPr>
            <a:endParaRPr lang="en-US" dirty="0"/>
          </a:p>
          <a:p>
            <a:pPr marL="0" lvl="0" indent="0">
              <a:buNone/>
            </a:pPr>
            <a:r>
              <a:rPr dirty="0"/>
              <a:t>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Clarify the distinctions: instructions are stable, prompts are ephemeral, and </a:t>
            </a:r>
            <a:r>
              <a:rPr lang="en-US" dirty="0"/>
              <a:t>Agents</a:t>
            </a:r>
            <a:r>
              <a:rPr dirty="0"/>
              <a:t> define how the model behaves in a particular role. </a:t>
            </a:r>
            <a:endParaRPr lang="en-US" dirty="0"/>
          </a:p>
          <a:p>
            <a:pPr marL="0" lvl="0" indent="0">
              <a:buNone/>
            </a:pPr>
            <a:endParaRPr lang="en-US" dirty="0"/>
          </a:p>
          <a:p>
            <a:pPr marL="0" lvl="0" indent="0">
              <a:buNone/>
            </a:pPr>
            <a:r>
              <a:rPr dirty="0"/>
              <a:t>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storing these artifacts as files allows teams to version them, review them, and reuse them. </a:t>
            </a:r>
            <a:endParaRPr lang="en-US" dirty="0"/>
          </a:p>
          <a:p>
            <a:pPr marL="0" lvl="0" indent="0">
              <a:buNone/>
            </a:pPr>
            <a:endParaRPr lang="en-US" dirty="0"/>
          </a:p>
          <a:p>
            <a:pPr marL="0" lvl="0" indent="0">
              <a:buNone/>
            </a:pPr>
            <a:r>
              <a:rPr dirty="0"/>
              <a:t>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Meta prompts are prompts about prompts. </a:t>
            </a:r>
            <a:endParaRPr lang="en-US" dirty="0"/>
          </a:p>
          <a:p>
            <a:pPr marL="0" lvl="0" indent="0">
              <a:buNone/>
            </a:pPr>
            <a:endParaRPr lang="en-US" dirty="0"/>
          </a:p>
          <a:p>
            <a:pPr marL="0" lvl="0" indent="0">
              <a:buNone/>
            </a:pPr>
            <a:r>
              <a:rPr dirty="0"/>
              <a:t>They let the AI generate structured artifacts on demand. </a:t>
            </a:r>
            <a:endParaRPr lang="en-US" dirty="0"/>
          </a:p>
          <a:p>
            <a:pPr marL="0" lvl="0" indent="0">
              <a:buNone/>
            </a:pPr>
            <a:endParaRPr lang="en-US" dirty="0"/>
          </a:p>
          <a:p>
            <a:pPr marL="0" lvl="0" indent="0">
              <a:buNone/>
            </a:pPr>
            <a:r>
              <a:rPr dirty="0"/>
              <a:t>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When asking AI to generate an artifact, be explicit about structure and constraints. </a:t>
            </a:r>
            <a:endParaRPr lang="en-US" dirty="0"/>
          </a:p>
          <a:p>
            <a:pPr marL="0" lvl="0" indent="0">
              <a:buNone/>
            </a:pPr>
            <a:endParaRPr lang="en-US" dirty="0"/>
          </a:p>
          <a:p>
            <a:pPr marL="0" lvl="0" indent="0">
              <a:buNone/>
            </a:pPr>
            <a:r>
              <a:rPr dirty="0"/>
              <a:t>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a:t>
            </a:r>
            <a:endParaRPr lang="en-US" dirty="0"/>
          </a:p>
          <a:p>
            <a:pPr marL="0" lvl="0" indent="0">
              <a:buNone/>
            </a:pPr>
            <a:endParaRPr lang="en-US" dirty="0"/>
          </a:p>
          <a:p>
            <a:pPr marL="0" lvl="0" indent="0">
              <a:buNone/>
            </a:pPr>
            <a:r>
              <a:rPr dirty="0"/>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4C1A-8BAA-069C-8639-DE2564133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E934C-F353-0BF2-3E42-5A56F01D7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A3973-77D1-5B11-91EC-85C003CE9794}"/>
              </a:ext>
            </a:extLst>
          </p:cNvPr>
          <p:cNvSpPr>
            <a:spLocks noGrp="1"/>
          </p:cNvSpPr>
          <p:nvPr>
            <p:ph type="body" idx="1"/>
          </p:nvPr>
        </p:nvSpPr>
        <p:spPr/>
        <p:txBody>
          <a:bodyPr/>
          <a:lstStyle/>
          <a:p>
            <a:pPr marL="0" lvl="0" indent="0">
              <a:buNone/>
            </a:pPr>
            <a:r>
              <a:rPr dirty="0"/>
              <a:t>Provenance is essential for</a:t>
            </a:r>
            <a:r>
              <a:rPr lang="en-US" dirty="0"/>
              <a:t> conformance</a:t>
            </a:r>
            <a:r>
              <a:rPr dirty="0"/>
              <a:t>, auditability, and long‑term maintainability. </a:t>
            </a:r>
            <a:endParaRPr lang="en-US" dirty="0"/>
          </a:p>
          <a:p>
            <a:pPr marL="0" lvl="0" indent="0">
              <a:buNone/>
            </a:pPr>
            <a:endParaRPr lang="en-US" dirty="0"/>
          </a:p>
          <a:p>
            <a:pPr marL="0" lvl="0" indent="0">
              <a:buNone/>
            </a:pPr>
            <a:r>
              <a:rPr dirty="0"/>
              <a:t>It ensures teams know which artifacts were AI‑generated, which were human‑generated, and which were hybrid.</a:t>
            </a:r>
          </a:p>
        </p:txBody>
      </p:sp>
      <p:sp>
        <p:nvSpPr>
          <p:cNvPr id="4" name="Slide Number Placeholder 3">
            <a:extLst>
              <a:ext uri="{FF2B5EF4-FFF2-40B4-BE49-F238E27FC236}">
                <a16:creationId xmlns:a16="http://schemas.microsoft.com/office/drawing/2014/main" id="{165FFA8B-F860-5B03-0F7B-DB5A9E1118C5}"/>
              </a:ext>
            </a:extLst>
          </p:cNvPr>
          <p:cNvSpPr>
            <a:spLocks noGrp="1"/>
          </p:cNvSpPr>
          <p:nvPr>
            <p:ph type="sldNum" sz="quarter" idx="10"/>
          </p:nvPr>
        </p:nvSpPr>
        <p:spPr/>
        <p:txBody>
          <a:bodyPr/>
          <a:lstStyle/>
          <a:p>
            <a:fld id="{18BDFEC3-8487-43E8-A154-7C12CBC1FFF2}" type="slidenum">
              <a:rPr lang="en-US"/>
              <a:t>47</a:t>
            </a:fld>
            <a:endParaRPr lang="en-US"/>
          </a:p>
        </p:txBody>
      </p:sp>
    </p:spTree>
    <p:extLst>
      <p:ext uri="{BB962C8B-B14F-4D97-AF65-F5344CB8AC3E}">
        <p14:creationId xmlns:p14="http://schemas.microsoft.com/office/powerpoint/2010/main" val="4766938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introduces the purpose of the AI-Assisted Output Instructions file: to enforce traceability, quality, and compliance for all AI-generated artifacts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lists the mandatory metadata fields that must be embedded in every AI-generated file. </a:t>
            </a:r>
            <a:endParaRPr lang="en-US" dirty="0"/>
          </a:p>
          <a:p>
            <a:pPr marL="0" lvl="0" indent="0">
              <a:buNone/>
            </a:pPr>
            <a:endParaRPr lang="en-US" dirty="0"/>
          </a:p>
          <a:p>
            <a:pPr marL="0" lvl="0" indent="0">
              <a:buNone/>
            </a:pPr>
            <a:r>
              <a:rPr dirty="0"/>
              <a:t>These fields ensure each artifact can be traced back to its origin, model, and operator.</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explains where and how to place provenance metadata. </a:t>
            </a:r>
            <a:endParaRPr lang="en-US" dirty="0"/>
          </a:p>
          <a:p>
            <a:pPr marL="0" lvl="0" indent="0">
              <a:buNone/>
            </a:pPr>
            <a:endParaRPr lang="en-US" dirty="0"/>
          </a:p>
          <a:p>
            <a:pPr marL="0" lvl="0" indent="0">
              <a:buNone/>
            </a:pPr>
            <a:r>
              <a:rPr dirty="0"/>
              <a:t>Markdown files must use embedded YAML front matter; only non-embeddable formats use sidecar files.</a:t>
            </a:r>
            <a:br>
              <a:rPr lang="en-US" dirty="0"/>
            </a:br>
            <a:br>
              <a:rPr lang="en-US" dirty="0"/>
            </a:br>
            <a:r>
              <a:rPr lang="en-US" dirty="0"/>
              <a:t>Note: Instructions files have limited support for metadata and must use sidecar files</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describes the logging structure for AI chats. </a:t>
            </a:r>
            <a:endParaRPr lang="en-US" dirty="0"/>
          </a:p>
          <a:p>
            <a:pPr marL="0" lvl="0" indent="0">
              <a:buNone/>
            </a:pPr>
            <a:endParaRPr lang="en-US" dirty="0"/>
          </a:p>
          <a:p>
            <a:pPr marL="0" lvl="0" indent="0">
              <a:buNone/>
            </a:pPr>
            <a:r>
              <a:rPr dirty="0"/>
              <a:t>Each session gets its own folder, transcript, and summary, ensuring clear separation and traceability.</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summarizes the quality gates and PR requirements. </a:t>
            </a:r>
            <a:endParaRPr lang="en-US" dirty="0"/>
          </a:p>
          <a:p>
            <a:pPr marL="0" lvl="0" indent="0">
              <a:buNone/>
            </a:pPr>
            <a:endParaRPr lang="en-US" dirty="0"/>
          </a:p>
          <a:p>
            <a:pPr marL="0" lvl="0" indent="0">
              <a:buNone/>
            </a:pPr>
            <a:r>
              <a:rPr dirty="0"/>
              <a:t>Artifacts must be fully documented, logs must exist, and sensitive data must be avoided.</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highlights the requirements for GitHub Copilot integration. </a:t>
            </a:r>
            <a:endParaRPr lang="en-US" dirty="0"/>
          </a:p>
          <a:p>
            <a:pPr marL="0" lvl="0" indent="0">
              <a:buNone/>
            </a:pPr>
            <a:endParaRPr lang="en-US" dirty="0"/>
          </a:p>
          <a:p>
            <a:pPr marL="0" lvl="0" indent="0">
              <a:buNone/>
            </a:pPr>
            <a:r>
              <a:rPr dirty="0"/>
              <a:t>Copilot should automate chat management, metadata injection, and enforce compliance before generating files.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slide explains enforcement: </a:t>
            </a:r>
            <a:endParaRPr lang="en-US" dirty="0"/>
          </a:p>
          <a:p>
            <a:pPr marL="0" lvl="0" indent="0">
              <a:buNone/>
            </a:pPr>
            <a:endParaRPr lang="en-US" dirty="0"/>
          </a:p>
          <a:p>
            <a:pPr marL="0" lvl="0" indent="0">
              <a:buNone/>
            </a:pPr>
            <a:r>
              <a:rPr dirty="0"/>
              <a:t>PRs are blocked if requirements are not met. </a:t>
            </a:r>
            <a:endParaRPr lang="en-US" dirty="0"/>
          </a:p>
          <a:p>
            <a:pPr marL="0" lvl="0" indent="0">
              <a:buNone/>
            </a:pPr>
            <a:endParaRPr lang="en-US" dirty="0"/>
          </a:p>
          <a:p>
            <a:pPr marL="0" lvl="0" indent="0">
              <a:buNone/>
            </a:pPr>
            <a:r>
              <a:rPr dirty="0"/>
              <a:t>Any missing provenance must be remediated before merging.</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a:t>
            </a:r>
            <a:r>
              <a:rPr lang="en-US" dirty="0"/>
              <a:t>is</a:t>
            </a:r>
            <a:r>
              <a:rPr dirty="0"/>
              <a:t> slide reinforces the value of these instructions: they ensure every AI-assisted artifact is trustworthy, auditable, and compliant with team and industry standards.</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A62BB-A3F8-A932-7E8B-7A0920C7A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059BC-0991-25B4-4BFB-A07A963C5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62B94-A339-39C4-5F01-6F0F66B290E7}"/>
              </a:ext>
            </a:extLst>
          </p:cNvPr>
          <p:cNvSpPr>
            <a:spLocks noGrp="1"/>
          </p:cNvSpPr>
          <p:nvPr>
            <p:ph type="body" idx="1"/>
          </p:nvPr>
        </p:nvSpPr>
        <p:spPr/>
        <p:txBody>
          <a:bodyPr/>
          <a:lstStyle/>
          <a:p>
            <a:pPr marL="0" lvl="0" indent="0">
              <a:buNone/>
            </a:pPr>
            <a:r>
              <a:rPr dirty="0"/>
              <a:t>This exercise builds foundational prompt‑writing skills. Encourage participants to choose a real task to make the exercise concrete.</a:t>
            </a:r>
            <a:endParaRPr lang="en-US" dirty="0"/>
          </a:p>
          <a:p>
            <a:pPr marL="0" lvl="0" indent="0">
              <a:buNone/>
            </a:pPr>
            <a:endParaRPr lang="en-US" dirty="0"/>
          </a:p>
          <a:p>
            <a:pPr marL="0" lvl="0" indent="0">
              <a:buNone/>
            </a:pPr>
            <a:r>
              <a:rPr lang="en-US" dirty="0"/>
              <a:t>Prompt: Create a prompt file that creates an instruction file for evergreen software development</a:t>
            </a:r>
            <a:endParaRPr dirty="0"/>
          </a:p>
        </p:txBody>
      </p:sp>
      <p:sp>
        <p:nvSpPr>
          <p:cNvPr id="4" name="Slide Number Placeholder 3">
            <a:extLst>
              <a:ext uri="{FF2B5EF4-FFF2-40B4-BE49-F238E27FC236}">
                <a16:creationId xmlns:a16="http://schemas.microsoft.com/office/drawing/2014/main" id="{BBC82234-D77D-86EE-9E74-A3F05A212E5F}"/>
              </a:ext>
            </a:extLst>
          </p:cNvPr>
          <p:cNvSpPr>
            <a:spLocks noGrp="1"/>
          </p:cNvSpPr>
          <p:nvPr>
            <p:ph type="sldNum" sz="quarter" idx="10"/>
          </p:nvPr>
        </p:nvSpPr>
        <p:spPr/>
        <p:txBody>
          <a:bodyPr/>
          <a:lstStyle/>
          <a:p>
            <a:fld id="{18BDFEC3-8487-43E8-A154-7C12CBC1FFF2}" type="slidenum">
              <a:rPr lang="en-US"/>
              <a:t>57</a:t>
            </a:fld>
            <a:endParaRPr lang="en-US"/>
          </a:p>
        </p:txBody>
      </p:sp>
    </p:spTree>
    <p:extLst>
      <p:ext uri="{BB962C8B-B14F-4D97-AF65-F5344CB8AC3E}">
        <p14:creationId xmlns:p14="http://schemas.microsoft.com/office/powerpoint/2010/main" val="3358410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reinforces the evergreen mindset and produces a reusable artifact for future AI‑assisted work.</a:t>
            </a:r>
            <a:endParaRPr lang="en-US" dirty="0"/>
          </a:p>
          <a:p>
            <a:pPr marL="0" lvl="0" indent="0">
              <a:buNone/>
            </a:pPr>
            <a:endParaRPr lang="en-US" dirty="0"/>
          </a:p>
          <a:p>
            <a:pPr marL="0" lvl="0" indent="0">
              <a:buNone/>
            </a:pPr>
            <a:r>
              <a:rPr lang="en-US" dirty="0"/>
              <a:t>Prompt: Submit the prompt #file:create-evergreen-software-instructions.prompt.md </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Participants experience the leverage of meta prompts and see how AI can accelerate documentation.</a:t>
            </a:r>
            <a:endParaRPr lang="en-US" dirty="0"/>
          </a:p>
          <a:p>
            <a:pPr marL="0" lvl="0" indent="0">
              <a:buNone/>
            </a:pPr>
            <a:endParaRPr lang="en-US" dirty="0"/>
          </a:p>
          <a:p>
            <a:pPr marL="0" lvl="0" indent="0">
              <a:buNone/>
            </a:pPr>
            <a:r>
              <a:rPr lang="en-US" dirty="0"/>
              <a:t>Prompts:</a:t>
            </a:r>
          </a:p>
          <a:p>
            <a:pPr marL="0" lvl="0" indent="0">
              <a:buNone/>
            </a:pPr>
            <a:endParaRPr lang="en-US" dirty="0"/>
          </a:p>
          <a:p>
            <a:pPr marL="0" lvl="0" indent="0">
              <a:buNone/>
            </a:pPr>
            <a:r>
              <a:rPr lang="en-US" dirty="0"/>
              <a:t>Create instruction files for the backend technologies</a:t>
            </a:r>
          </a:p>
          <a:p>
            <a:pPr marL="0" lvl="0" indent="0">
              <a:buNone/>
            </a:pPr>
            <a:endParaRPr lang="en-US" dirty="0"/>
          </a:p>
          <a:p>
            <a:pPr marL="0" lvl="0" indent="0">
              <a:buNone/>
            </a:pPr>
            <a:r>
              <a:rPr lang="en-US" dirty="0"/>
              <a:t>Create instruction files for the front-end technologies</a:t>
            </a:r>
          </a:p>
          <a:p>
            <a:pPr marL="0" lv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instruction files for the front-end technologies</a:t>
            </a:r>
          </a:p>
          <a:p>
            <a:pPr marL="0" lvl="0" indent="0">
              <a:buNone/>
            </a:pPr>
            <a:endParaRPr lang="en-US" dirty="0"/>
          </a:p>
          <a:p>
            <a:pPr marL="0" lvl="0" indent="0">
              <a:buNone/>
            </a:pPr>
            <a:endParaRPr lang="en-US" dirty="0"/>
          </a:p>
          <a:p>
            <a:pPr marL="0" lvl="0" indent="0">
              <a:buNone/>
            </a:pPr>
            <a:endParaRPr lang="en-US" dirty="0"/>
          </a:p>
          <a:p>
            <a:pPr marL="0" lvl="0" indent="0">
              <a:buNone/>
            </a:pPr>
            <a:endParaRPr dirty="0"/>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51E7-6D53-CE0D-EC5B-0A7AF0E03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7D5D9-34F0-0C41-6B62-BB47BF33A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F7C5D-5733-4612-6909-A690E6BFD106}"/>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665B5D8-177A-5D7E-E266-F4F49A007EB2}"/>
              </a:ext>
            </a:extLst>
          </p:cNvPr>
          <p:cNvSpPr>
            <a:spLocks noGrp="1"/>
          </p:cNvSpPr>
          <p:nvPr>
            <p:ph type="sldNum" sz="quarter" idx="10"/>
          </p:nvPr>
        </p:nvSpPr>
        <p:spPr/>
        <p:txBody>
          <a:bodyPr/>
          <a:lstStyle/>
          <a:p>
            <a:fld id="{18BDFEC3-8487-43E8-A154-7C12CBC1FFF2}" type="slidenum">
              <a:rPr lang="en-US"/>
              <a:t>62</a:t>
            </a:fld>
            <a:endParaRPr lang="en-US"/>
          </a:p>
        </p:txBody>
      </p:sp>
    </p:spTree>
    <p:extLst>
      <p:ext uri="{BB962C8B-B14F-4D97-AF65-F5344CB8AC3E}">
        <p14:creationId xmlns:p14="http://schemas.microsoft.com/office/powerpoint/2010/main" val="26398328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demonstration of how AI can accelerate documentation, analysis, and modernization in brownfield systems. Emphasize that documentation is not a side activity — it is a core guardrail for safe AI‑assisted development.</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AI can maintain documentation continuously, reducing drift between code and docs. </a:t>
            </a:r>
            <a:endParaRPr lang="en-US" dirty="0"/>
          </a:p>
          <a:p>
            <a:pPr marL="0" lvl="0" indent="0">
              <a:buNone/>
            </a:pPr>
            <a:endParaRPr lang="en-US" dirty="0"/>
          </a:p>
          <a:p>
            <a:pPr marL="0" lvl="0" indent="0">
              <a:buNone/>
            </a:pPr>
            <a:r>
              <a:rPr dirty="0"/>
              <a:t>This is especially valuable in brownfield systems where documentation is often outdated or missing.</a:t>
            </a:r>
            <a:endParaRPr lang="en-US" dirty="0"/>
          </a:p>
          <a:p>
            <a:pPr marL="0" lvl="0" indent="0">
              <a:buNone/>
            </a:pPr>
            <a:endParaRPr lang="en-US" dirty="0"/>
          </a:p>
          <a:p>
            <a:pPr marL="0" lvl="0" indent="0">
              <a:buNone/>
            </a:pPr>
            <a:r>
              <a:rPr lang="en-US" dirty="0"/>
              <a:t>Prompts: </a:t>
            </a:r>
          </a:p>
          <a:p>
            <a:pPr marL="0" lvl="0" indent="0">
              <a:buNone/>
            </a:pPr>
            <a:endParaRPr lang="en-US" dirty="0"/>
          </a:p>
          <a:p>
            <a:pPr marL="0" lvl="0" indent="0">
              <a:buNone/>
            </a:pPr>
            <a:r>
              <a:rPr lang="en-US" dirty="0"/>
              <a:t>Update the README file with the current state of the project</a:t>
            </a:r>
          </a:p>
          <a:p>
            <a:pPr marL="0" lvl="0" indent="0">
              <a:buNone/>
            </a:pPr>
            <a:endParaRPr lang="en-US" dirty="0"/>
          </a:p>
          <a:p>
            <a:pPr marL="0" lvl="0" indent="0">
              <a:buNone/>
            </a:pPr>
            <a:r>
              <a:rPr lang="en-US" dirty="0"/>
              <a:t>Update the documentation for </a:t>
            </a:r>
            <a:r>
              <a:rPr lang="en-US" dirty="0" err="1"/>
              <a:t>CalculatorService.cs</a:t>
            </a:r>
            <a:endParaRPr lang="en-US" dirty="0"/>
          </a:p>
          <a:p>
            <a:pPr marL="0" lvl="0" indent="0">
              <a:buNone/>
            </a:pPr>
            <a:endParaRPr lang="en-US" dirty="0"/>
          </a:p>
          <a:p>
            <a:pPr marL="0" lvl="0" indent="0">
              <a:buNone/>
            </a:pPr>
            <a:r>
              <a:rPr lang="en-US" dirty="0"/>
              <a:t>Create a README for the Services component web-calculator\Services</a:t>
            </a:r>
          </a:p>
          <a:p>
            <a:pPr marL="0" lvl="0" indent="0">
              <a:buNone/>
            </a:pPr>
            <a:endParaRPr lang="en-US" dirty="0"/>
          </a:p>
          <a:p>
            <a:pPr marL="0" lvl="0" indent="0">
              <a:buNone/>
            </a:pPr>
            <a:r>
              <a:rPr lang="en-US" dirty="0"/>
              <a:t>Create a prompt file that creates an instruction file for documenting the project</a:t>
            </a:r>
          </a:p>
          <a:p>
            <a:pPr marL="0" lvl="0" indent="0">
              <a:buNone/>
            </a:pPr>
            <a:endParaRPr lang="en-US" dirty="0"/>
          </a:p>
          <a:p>
            <a:pPr marL="0" lvl="0" indent="0">
              <a:buNone/>
            </a:pPr>
            <a:endParaRPr lang="en-US" dirty="0"/>
          </a:p>
          <a:p>
            <a:pPr marL="0" lvl="0" indent="0">
              <a:buNone/>
            </a:pPr>
            <a:endParaRPr dirty="0"/>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can infer architecture from code structure, configuration files, and naming conventions. </a:t>
            </a:r>
            <a:endParaRPr lang="en-US" dirty="0"/>
          </a:p>
          <a:p>
            <a:pPr marL="0" lvl="0" indent="0">
              <a:buNone/>
            </a:pPr>
            <a:endParaRPr lang="en-US" dirty="0"/>
          </a:p>
          <a:p>
            <a:pPr marL="0" lvl="0" indent="0">
              <a:buNone/>
            </a:pPr>
            <a:r>
              <a:rPr dirty="0"/>
              <a:t>These diagrams help teams understand legacy systems quickly and safely.</a:t>
            </a:r>
            <a:endParaRPr lang="en-US" dirty="0"/>
          </a:p>
          <a:p>
            <a:pPr marL="0" lvl="0" indent="0">
              <a:buNone/>
            </a:pPr>
            <a:endParaRPr lang="en-US" dirty="0"/>
          </a:p>
          <a:p>
            <a:pPr marL="0" lvl="0" indent="0">
              <a:buNone/>
            </a:pPr>
            <a:r>
              <a:rPr lang="en-US" dirty="0"/>
              <a:t>Prompts: </a:t>
            </a:r>
          </a:p>
          <a:p>
            <a:pPr marL="0" lvl="0" indent="0">
              <a:buNone/>
            </a:pPr>
            <a:endParaRPr lang="en-US" dirty="0"/>
          </a:p>
          <a:p>
            <a:pPr marL="0" lvl="0" indent="0">
              <a:buNone/>
            </a:pPr>
            <a:r>
              <a:rPr lang="en-US" dirty="0"/>
              <a:t>Create mermaid C4 diagrams for the project</a:t>
            </a:r>
          </a:p>
          <a:p>
            <a:pPr marL="0" lv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lvl="0" indent="0">
              <a:buNone/>
            </a:pPr>
            <a:endParaRPr lang="en-US" dirty="0"/>
          </a:p>
          <a:p>
            <a:pPr marL="0" lvl="0" indent="0">
              <a:buNone/>
            </a:pPr>
            <a:endParaRPr lang="en-US" dirty="0"/>
          </a:p>
          <a:p>
            <a:pPr marL="0" lvl="0" indent="0">
              <a:buNone/>
            </a:pPr>
            <a:endParaRPr dirty="0"/>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is one of the most powerful uses of AI in brownfield modernization. </a:t>
            </a:r>
            <a:endParaRPr lang="en-US" dirty="0"/>
          </a:p>
          <a:p>
            <a:pPr marL="0" lvl="0" indent="0">
              <a:buNone/>
            </a:pPr>
            <a:endParaRPr lang="en-US" dirty="0"/>
          </a:p>
          <a:p>
            <a:pPr marL="0" lvl="0" indent="0">
              <a:buNone/>
            </a:pPr>
            <a:r>
              <a:rPr dirty="0"/>
              <a:t>It reduces onboarding time and helps engineers understand risky areas before making changes.</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can scan large codebases and surface hotspots that deserve attention. </a:t>
            </a:r>
            <a:endParaRPr lang="en-US" dirty="0"/>
          </a:p>
          <a:p>
            <a:pPr marL="0" lvl="0" indent="0">
              <a:buNone/>
            </a:pPr>
            <a:endParaRPr lang="en-US" dirty="0"/>
          </a:p>
          <a:p>
            <a:pPr marL="0" lvl="0" indent="0">
              <a:buNone/>
            </a:pPr>
            <a:r>
              <a:rPr dirty="0"/>
              <a:t>This helps teams prioritize modernization work and avoid guesswork.</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build confidence in using AI to document unfamiliar code safely and quickly.</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These guides reduce onboarding time and ensure consistent workflows across teams. </a:t>
            </a:r>
            <a:endParaRPr lang="en-US" dirty="0"/>
          </a:p>
          <a:p>
            <a:pPr marL="0" lvl="0" indent="0">
              <a:buNone/>
            </a:pPr>
            <a:endParaRPr lang="en-US" dirty="0"/>
          </a:p>
          <a:p>
            <a:pPr marL="0" lvl="0" indent="0">
              <a:buNone/>
            </a:pPr>
            <a:r>
              <a:rPr dirty="0"/>
              <a:t>They also help prevent tribal knowledge loss.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diagrams as drafts </a:t>
            </a:r>
            <a:r>
              <a:rPr lang="en-US" dirty="0"/>
              <a:t>–</a:t>
            </a:r>
            <a:r>
              <a:rPr dirty="0"/>
              <a:t> AI can generate the structure, but humans refine accuracy.</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AI helps keep documentation evergreen by updating it alongside code changes. </a:t>
            </a:r>
            <a:endParaRPr lang="en-US" dirty="0"/>
          </a:p>
          <a:p>
            <a:pPr marL="0" lvl="0" indent="0">
              <a:buNone/>
            </a:pPr>
            <a:endParaRPr lang="en-US" dirty="0"/>
          </a:p>
          <a:p>
            <a:pPr marL="0" lvl="0" indent="0">
              <a:buNone/>
            </a:pPr>
            <a:r>
              <a:rPr dirty="0"/>
              <a:t>This reduces drift and improves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Different models have different strengths. </a:t>
            </a:r>
            <a:endParaRPr lang="en-US" dirty="0"/>
          </a:p>
          <a:p>
            <a:pPr marL="0" lvl="0" indent="0">
              <a:buNone/>
            </a:pPr>
            <a:endParaRPr lang="en-US" dirty="0"/>
          </a:p>
          <a:p>
            <a:pPr marL="0" lvl="0" indent="0">
              <a:buNone/>
            </a:pPr>
            <a:r>
              <a:rPr dirty="0"/>
              <a:t>Cross‑validation is a powerful guardrail for correctness, especially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importance of guardrails and helps participants practice applying them to real code.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5FA48-4A98-856D-5986-423699614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69846-2540-7AB0-75E1-BE1FC111D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30ED7-CF80-7056-1145-4405D3CD923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67D2CD2B-8E5F-1428-210B-9A267BFB11A6}"/>
              </a:ext>
            </a:extLst>
          </p:cNvPr>
          <p:cNvSpPr>
            <a:spLocks noGrp="1"/>
          </p:cNvSpPr>
          <p:nvPr>
            <p:ph type="sldNum" sz="quarter" idx="10"/>
          </p:nvPr>
        </p:nvSpPr>
        <p:spPr/>
        <p:txBody>
          <a:bodyPr/>
          <a:lstStyle/>
          <a:p>
            <a:fld id="{18BDFEC3-8487-43E8-A154-7C12CBC1FFF2}" type="slidenum">
              <a:rPr lang="en-US"/>
              <a:t>75</a:t>
            </a:fld>
            <a:endParaRPr lang="en-US"/>
          </a:p>
        </p:txBody>
      </p:sp>
    </p:spTree>
    <p:extLst>
      <p:ext uri="{BB962C8B-B14F-4D97-AF65-F5344CB8AC3E}">
        <p14:creationId xmlns:p14="http://schemas.microsoft.com/office/powerpoint/2010/main" val="170318891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excels at scanning large brownfield systems and surfacing hotspots. This reduces the manual effort required to understand legacy code and helps teams focus on the highest‑impact areas first.</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that automation doesn’t replace human judgment — it accelerates it. Humans still validate, refine, and prioritize issues, but AI handles the heavy lifting of drafting them.</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backlog‑building session. The goal is not volume — it’s clarity and actionability. Reinforce that a well‑structured backlog is the foundation for safe, incremental modernization.</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5629-7609-9AA9-EAEE-F3BBDF2F7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CAB3A-B4DF-3135-C05C-EB1C50FC8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D0975-0131-D3CA-DCDE-F5F0A384DCE0}"/>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0466E62-D87E-7DF6-F5AA-7E902810339E}"/>
              </a:ext>
            </a:extLst>
          </p:cNvPr>
          <p:cNvSpPr>
            <a:spLocks noGrp="1"/>
          </p:cNvSpPr>
          <p:nvPr>
            <p:ph type="sldNum" sz="quarter" idx="10"/>
          </p:nvPr>
        </p:nvSpPr>
        <p:spPr/>
        <p:txBody>
          <a:bodyPr/>
          <a:lstStyle/>
          <a:p>
            <a:fld id="{18BDFEC3-8487-43E8-A154-7C12CBC1FFF2}" type="slidenum">
              <a:rPr lang="en-US"/>
              <a:t>80</a:t>
            </a:fld>
            <a:endParaRPr lang="en-US"/>
          </a:p>
        </p:txBody>
      </p:sp>
    </p:spTree>
    <p:extLst>
      <p:ext uri="{BB962C8B-B14F-4D97-AF65-F5344CB8AC3E}">
        <p14:creationId xmlns:p14="http://schemas.microsoft.com/office/powerpoint/2010/main" val="20652005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Safety nets ensure that modernization efforts do not destabilize working systems. Emphasize that brownfield systems deserve respect, and safety nets are how we honor that reality.</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brownfield systems are valuable assets, not liabilities. Protection means minimizing risk, maintaining continuity, and ensuring that modernization is deliberate rather than accidental.</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code reviews are not replacements for human reviews — they are accelerators. They help catch issues early and provide a second set of eyes that never gets tired.</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Humans bring judgment, domain knowledge, and intuition — things AI cannot replicate. The combination of AI and human review creates a multi-layered safety net.</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automation is the ultimate safety net. Without tests, AI-assisted development becomes guesswork. With tests, it becomes a controlled, predictable process.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planning session. The goal is not to fix everything — it’s to identify gaps and build a roadmap for safer development.</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54CF-4E7D-EE39-ED74-82AC1C005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AAE1E-6E14-5602-4BDC-540DE330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62EE3-8EE9-7678-5452-33467EDAFBC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E1A49851-8551-EB6E-B2C0-3641566633ED}"/>
              </a:ext>
            </a:extLst>
          </p:cNvPr>
          <p:cNvSpPr>
            <a:spLocks noGrp="1"/>
          </p:cNvSpPr>
          <p:nvPr>
            <p:ph type="sldNum" sz="quarter" idx="10"/>
          </p:nvPr>
        </p:nvSpPr>
        <p:spPr/>
        <p:txBody>
          <a:bodyPr/>
          <a:lstStyle/>
          <a:p>
            <a:fld id="{18BDFEC3-8487-43E8-A154-7C12CBC1FFF2}" type="slidenum">
              <a:rPr lang="en-US"/>
              <a:t>87</a:t>
            </a:fld>
            <a:endParaRPr lang="en-US"/>
          </a:p>
        </p:txBody>
      </p:sp>
    </p:spTree>
    <p:extLst>
      <p:ext uri="{BB962C8B-B14F-4D97-AF65-F5344CB8AC3E}">
        <p14:creationId xmlns:p14="http://schemas.microsoft.com/office/powerpoint/2010/main" val="15641948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foundation for safe, predictable modernization. </a:t>
            </a:r>
            <a:endParaRPr lang="en-US" dirty="0"/>
          </a:p>
          <a:p>
            <a:pPr marL="0" lvl="0" indent="0">
              <a:buNone/>
            </a:pPr>
            <a:endParaRPr lang="en-US" dirty="0"/>
          </a:p>
          <a:p>
            <a:pPr marL="0" lvl="0" indent="0">
              <a:buNone/>
            </a:pPr>
            <a:r>
              <a:rPr dirty="0"/>
              <a:t>Test automation and quality gates are the mechanisms that allow teams to move quickly without breaking brownfield systems. </a:t>
            </a:r>
            <a:endParaRPr lang="en-US" dirty="0"/>
          </a:p>
          <a:p>
            <a:pPr marL="0" lvl="0" indent="0">
              <a:buNone/>
            </a:pPr>
            <a:endParaRPr lang="en-US" dirty="0"/>
          </a:p>
          <a:p>
            <a:pPr marL="0" lvl="0" indent="0">
              <a:buNone/>
            </a:pPr>
            <a:r>
              <a:rPr dirty="0"/>
              <a:t>AI accelerates these workflows but must be guided by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Explain that AI dramatically accelerates test creation, but humans still validate correctness and intent. </a:t>
            </a:r>
            <a:endParaRPr lang="en-US" dirty="0"/>
          </a:p>
          <a:p>
            <a:pPr marL="0" lvl="0" indent="0">
              <a:buNone/>
            </a:pPr>
            <a:endParaRPr lang="en-US" dirty="0"/>
          </a:p>
          <a:p>
            <a:pPr marL="0" lvl="0" indent="0">
              <a:buNone/>
            </a:pPr>
            <a:r>
              <a:rPr dirty="0"/>
              <a:t>Emphasize that tests are only valuable when they reflect real business behavior, not just code structure.</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Static analysis tools catch syntax and style issues, but AI can reason about architecture, intent, and domain rules. </a:t>
            </a:r>
            <a:endParaRPr lang="en-US" dirty="0"/>
          </a:p>
          <a:p>
            <a:pPr marL="0" lvl="0" indent="0">
              <a:buNone/>
            </a:pPr>
            <a:endParaRPr lang="en-US" dirty="0"/>
          </a:p>
          <a:p>
            <a:pPr marL="0" lvl="0" indent="0">
              <a:buNone/>
            </a:pPr>
            <a:r>
              <a:rPr dirty="0"/>
              <a:t>This creates a deeper layer of quality enforcement.</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Coverage numbers alone are misleading. </a:t>
            </a:r>
            <a:endParaRPr lang="en-US" dirty="0"/>
          </a:p>
          <a:p>
            <a:pPr marL="0" lvl="0" indent="0">
              <a:buNone/>
            </a:pPr>
            <a:endParaRPr lang="en-US" dirty="0"/>
          </a:p>
          <a:p>
            <a:pPr marL="0" lvl="0" indent="0">
              <a:buNone/>
            </a:pPr>
            <a:r>
              <a:rPr dirty="0"/>
              <a:t>AI helps teams understand whether tests are </a:t>
            </a:r>
            <a:r>
              <a:rPr i="1" dirty="0"/>
              <a:t>adequate</a:t>
            </a:r>
            <a:r>
              <a:rPr dirty="0"/>
              <a:t>, not just numerous. Adequacy is the real measure of safety.</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Quality gates turn best practices into automated enforcement. </a:t>
            </a:r>
            <a:endParaRPr lang="en-US" dirty="0"/>
          </a:p>
          <a:p>
            <a:pPr marL="0" lvl="0" indent="0">
              <a:buNone/>
            </a:pPr>
            <a:endParaRPr lang="en-US" dirty="0"/>
          </a:p>
          <a:p>
            <a:pPr marL="0" lvl="0" indent="0">
              <a:buNone/>
            </a:pPr>
            <a:r>
              <a:rPr dirty="0"/>
              <a:t>They ensure that every change </a:t>
            </a:r>
            <a:r>
              <a:rPr lang="en-US" dirty="0"/>
              <a:t>–</a:t>
            </a:r>
            <a:r>
              <a:rPr dirty="0"/>
              <a:t> human or AI‑generated </a:t>
            </a:r>
            <a:r>
              <a:rPr lang="en-US" dirty="0"/>
              <a:t>–</a:t>
            </a:r>
            <a:r>
              <a:rPr dirty="0"/>
              <a:t> meets the team’s standards before merging.</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this as a real modernization task. </a:t>
            </a:r>
            <a:endParaRPr lang="en-US" dirty="0"/>
          </a:p>
          <a:p>
            <a:pPr marL="0" lvl="0" indent="0">
              <a:buNone/>
            </a:pPr>
            <a:endParaRPr lang="en-US" dirty="0"/>
          </a:p>
          <a:p>
            <a:pPr marL="0" lvl="0" indent="0">
              <a:buNone/>
            </a:pPr>
            <a:r>
              <a:rPr dirty="0"/>
              <a:t>The goal is not to generate as many tests as possible </a:t>
            </a:r>
            <a:r>
              <a:rPr lang="en-US" dirty="0"/>
              <a:t>–</a:t>
            </a:r>
            <a:r>
              <a:rPr dirty="0"/>
              <a:t> it’s to improve the safety, clarity, and maintainability of the testing framework in a targeted, evergreen‑aligned way.</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BB414-44EC-4F2F-B046-D0416460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DDB94-C987-C702-6508-42E46D613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4EFF3-CA79-B3ED-688F-B3A05F632AF2}"/>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7C6D749-9BBA-CAA6-77B3-5B5269858F40}"/>
              </a:ext>
            </a:extLst>
          </p:cNvPr>
          <p:cNvSpPr>
            <a:spLocks noGrp="1"/>
          </p:cNvSpPr>
          <p:nvPr>
            <p:ph type="sldNum" sz="quarter" idx="10"/>
          </p:nvPr>
        </p:nvSpPr>
        <p:spPr/>
        <p:txBody>
          <a:bodyPr/>
          <a:lstStyle/>
          <a:p>
            <a:fld id="{18BDFEC3-8487-43E8-A154-7C12CBC1FFF2}" type="slidenum">
              <a:rPr lang="en-US"/>
              <a:t>94</a:t>
            </a:fld>
            <a:endParaRPr lang="en-US"/>
          </a:p>
        </p:txBody>
      </p:sp>
    </p:spTree>
    <p:extLst>
      <p:ext uri="{BB962C8B-B14F-4D97-AF65-F5344CB8AC3E}">
        <p14:creationId xmlns:p14="http://schemas.microsoft.com/office/powerpoint/2010/main" val="322329969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accelerates test creation dramatically, but humans still validate correctness and intent. Comprehensive test suites give teams the confidence to refactor and modernize safely.</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 suites age just like code. Without maintenance, they become brittle, noisy, or misleading. Encourage teams to treat test suites as living artifacts that evolve with the system.</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 is excellent at pattern detection and coverage suggestions, but humans validate whether tests reflect real business rules. Together, they create a multi-layered validation process.</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 coverage numbers can be deceptive. The goal is not 100% coverage — it’s meaningful coverage that protects behavior without creating maintenance burdens. Encourage teams to focus on value, not vanity metrics.</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modernization task. The goal is not to generate as many tests as possible — it’s to improve the safety and clarity of the testing framework in a targeted, maintainable way.</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E0F7-EC9A-BC6E-E3D1-212BF2E68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A80C1-EF44-B180-7C8D-9B9882023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CBEEE-E8D1-7D80-5FB4-991334D1D4A5}"/>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3024BD85-38B0-2239-7D9B-0B6C398727CD}"/>
              </a:ext>
            </a:extLst>
          </p:cNvPr>
          <p:cNvSpPr>
            <a:spLocks noGrp="1"/>
          </p:cNvSpPr>
          <p:nvPr>
            <p:ph type="sldNum" sz="quarter" idx="10"/>
          </p:nvPr>
        </p:nvSpPr>
        <p:spPr/>
        <p:txBody>
          <a:bodyPr/>
          <a:lstStyle/>
          <a:p>
            <a:fld id="{18BDFEC3-8487-43E8-A154-7C12CBC1FFF2}" type="slidenum">
              <a:rPr lang="en-US"/>
              <a:t>101</a:t>
            </a:fld>
            <a:endParaRPr lang="en-US"/>
          </a:p>
        </p:txBody>
      </p:sp>
    </p:spTree>
    <p:extLst>
      <p:ext uri="{BB962C8B-B14F-4D97-AF65-F5344CB8AC3E}">
        <p14:creationId xmlns:p14="http://schemas.microsoft.com/office/powerpoint/2010/main" val="265240201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guide to modifying brownfield systems safely. Emphasize that the goal is not speed — it’s controlled, observable, reversible change. Feature flags, test suites, and production‑safe practices form the backbone of safe modernization.</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one of the most powerful tools for brownfield modernization. They allow teams to introduce changes gradually, observe behavior, and roll back instantly if needed. Stress that flags must be managed intentionally to avoid long‑term complexity.</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temporary scaffolding. If not retired, they become technical debt. Encourage teams to treat flag retirement as a first‑class engineering task.</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As‑Is tests freeze the current system’s behavior, while To‑Be tests define the target state. This dual‑suite approach allows teams to modernize safely without losing critical legacy behavior.</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Testing in production is not reckless when done correctly. With feature flags, observability, and controlled exposure, teams can validate changes under real conditions while minimizing risk.</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module from their brownfield system. The goal is to practice safe, reversible change — not to implement a large feature. Reinforce that feature flags are scaffolding, not permanent architecture.</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0A306-AD4C-46B5-40A3-E1C7B46C5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77B5D-533E-C4AA-4B96-DD9C7555D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C07E-320D-3DC7-59B5-80CB71B273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0D655CDE-64E0-E327-2D12-E5AF4BFC4343}"/>
              </a:ext>
            </a:extLst>
          </p:cNvPr>
          <p:cNvSpPr>
            <a:spLocks noGrp="1"/>
          </p:cNvSpPr>
          <p:nvPr>
            <p:ph type="sldNum" sz="quarter" idx="10"/>
          </p:nvPr>
        </p:nvSpPr>
        <p:spPr/>
        <p:txBody>
          <a:bodyPr/>
          <a:lstStyle/>
          <a:p>
            <a:fld id="{18BDFEC3-8487-43E8-A154-7C12CBC1FFF2}" type="slidenum">
              <a:rPr lang="en-US"/>
              <a:t>108</a:t>
            </a:fld>
            <a:endParaRPr lang="en-US"/>
          </a:p>
        </p:txBody>
      </p:sp>
    </p:spTree>
    <p:extLst>
      <p:ext uri="{BB962C8B-B14F-4D97-AF65-F5344CB8AC3E}">
        <p14:creationId xmlns:p14="http://schemas.microsoft.com/office/powerpoint/2010/main" val="219800006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Introduce this module as the bridge between architectural intent and real code. </a:t>
            </a:r>
            <a:r>
              <a:rPr lang="en-US" dirty="0"/>
              <a:t>Conformance</a:t>
            </a:r>
            <a:r>
              <a:rPr dirty="0"/>
              <a:t> analysis ensures that AI-assisted and human-written code stays aligned with the rules defined in instruction files. This is how teams maintain evergreen quality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Instruction files define the “north star” for your codebase. </a:t>
            </a:r>
            <a:r>
              <a:rPr lang="en-US" dirty="0"/>
              <a:t>Conformance</a:t>
            </a:r>
            <a:r>
              <a:rPr dirty="0"/>
              <a:t> checks ensure that every change — AI-generated or human — aligns with those rules. This is essential for maintaining predictability in brownfield systems.</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Automation accelerates the</a:t>
            </a:r>
            <a:r>
              <a:rPr lang="en-US" dirty="0"/>
              <a:t> conformance</a:t>
            </a:r>
            <a:r>
              <a:rPr dirty="0"/>
              <a:t> workflow. Instead of manually writing issues, AI can draft them instantly, leaving humans to validate and prioritize.</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Not all technical debt is equal. Prioritization ensures that teams focus on the highest‑value remediation work first, rather than chasing low‑impact issues.</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Remediation plans turn issues into action. They provide clarity, reduce risk, and ensure that modernization work is incremental and reversible.</a:t>
            </a:r>
          </a:p>
        </p:txBody>
      </p:sp>
      <p:sp>
        <p:nvSpPr>
          <p:cNvPr id="4" name="Slide Number Placeholder 3"/>
          <p:cNvSpPr>
            <a:spLocks noGrp="1"/>
          </p:cNvSpPr>
          <p:nvPr>
            <p:ph type="sldNum" sz="quarter" idx="10"/>
          </p:nvPr>
        </p:nvSpPr>
        <p:spPr/>
        <p:txBody>
          <a:bodyPr/>
          <a:lstStyle/>
          <a:p>
            <a:fld id="{18BDFEC3-8487-43E8-A154-7C12CBC1FFF2}" type="slidenum">
              <a:rPr lang="en-US"/>
              <a:t>113</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Encourage participants to treat this as a real backlog‑building session. The goal is clarity and actionability, not volume.</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move from analysis to execution. The goal is to build modernization plans that are safe, thoughtful, and aligned with evergreen principles.</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B0D49-7041-4C5A-47AD-3C5E637C3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30C02-9A2F-3CA9-EC52-FFDC0B92A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36CDD-EBC7-BEA7-F0B8-CFAEA21BAB6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58572E3-0EDB-F7AE-25E3-059197F05ABB}"/>
              </a:ext>
            </a:extLst>
          </p:cNvPr>
          <p:cNvSpPr>
            <a:spLocks noGrp="1"/>
          </p:cNvSpPr>
          <p:nvPr>
            <p:ph type="sldNum" sz="quarter" idx="10"/>
          </p:nvPr>
        </p:nvSpPr>
        <p:spPr/>
        <p:txBody>
          <a:bodyPr/>
          <a:lstStyle/>
          <a:p>
            <a:fld id="{18BDFEC3-8487-43E8-A154-7C12CBC1FFF2}" type="slidenum">
              <a:rPr lang="en-US"/>
              <a:t>116</a:t>
            </a:fld>
            <a:endParaRPr lang="en-US"/>
          </a:p>
        </p:txBody>
      </p:sp>
    </p:spTree>
    <p:extLst>
      <p:ext uri="{BB962C8B-B14F-4D97-AF65-F5344CB8AC3E}">
        <p14:creationId xmlns:p14="http://schemas.microsoft.com/office/powerpoint/2010/main" val="297525758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moment where AI becomes an active contributor to modernization. Technical debt is inevitable in brownfield systems, but AI can help teams address it safely, incrementally, and with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Copilot responds best to structured, high‑signal prompts. The more explicit the constraints, the safer and more predictable the remediation.</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Assigning issues to Copilot formalizes the workflow. It treats Copilot like a junior developer who receives tasks, produces drafts, and awaits review.</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 notes**Overview**  When you assign an issue to GitHub Copilot on GitHub.com, Copilot behaves like a managed junior developer. It doesn’t magically “solve” the issue — it follows a structured workflow grounded in the issue description and repository context.**Reads the Issue and Context**  Copilot parses the issue body, labels, linked discussions, and any referenced files. The quality and specificity of the issue strongly influence the quality of the output.**Generates a Work Plan**  Copilot drafts an implementation plan. This may include steps, architectural notes, or a breakdown of required changes. It uses repository code, patterns, and conventions to stay consistent.**Creates or Updates Pull Requests**  Copilot opens a PR with proposed changes. These changes often include code, tests, and documentation updates. It may also update an existing PR if the issue is already in progress.**Responds to Feedback**  When maintainers leave comments, Copilot can revise the PR. It treats comments as instructions, similar to how a junior developer would respond to review notes.**Maintains Traceability**  Copilot links the PR back to the issue, references commits properly, and ensures the work is tracked through GitHub’s normal workflow. This supports auditability and provenance — something you and I both care about deeply.**Key Takeaway**  Copilot doesn’t replace engineering judgment. It accelerates the mechanical parts of implementation while relying on humans for direction, review, and acceptance.:::</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example from their brownfield system. The goal is clarity and safety, not complexity.</a:t>
            </a:r>
          </a:p>
        </p:txBody>
      </p:sp>
      <p:sp>
        <p:nvSpPr>
          <p:cNvPr id="4" name="Slide Number Placeholder 3"/>
          <p:cNvSpPr>
            <a:spLocks noGrp="1"/>
          </p:cNvSpPr>
          <p:nvPr>
            <p:ph type="sldNum" sz="quarter" idx="10"/>
          </p:nvPr>
        </p:nvSpPr>
        <p:spPr/>
        <p:txBody>
          <a:bodyPr/>
          <a:lstStyle/>
          <a:p>
            <a:fld id="{18BDFEC3-8487-43E8-A154-7C12CBC1FFF2}" type="slidenum">
              <a:rPr lang="en-US"/>
              <a:t>121</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workflow of treating Copilot as a junior developer who receives tasks and produces drafts.</a:t>
            </a:r>
          </a:p>
        </p:txBody>
      </p:sp>
      <p:sp>
        <p:nvSpPr>
          <p:cNvPr id="4" name="Slide Number Placeholder 3"/>
          <p:cNvSpPr>
            <a:spLocks noGrp="1"/>
          </p:cNvSpPr>
          <p:nvPr>
            <p:ph type="sldNum" sz="quarter" idx="10"/>
          </p:nvPr>
        </p:nvSpPr>
        <p:spPr/>
        <p:txBody>
          <a:bodyPr/>
          <a:lstStyle/>
          <a:p>
            <a:fld id="{18BDFEC3-8487-43E8-A154-7C12CBC1FFF2}" type="slidenum">
              <a:rPr lang="en-US"/>
              <a:t>122</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exercise builds confidence in delegating larger tasks while maintaining safety and architectural alignment. Emphasize that humans remain the final reviewers.</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33453-E212-5A44-4A0C-58903F36C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64C72-712A-010A-F3AA-9ABB39D99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577F6-3875-B799-E14C-0F1CBAB8BE94}"/>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EB141BA-8F88-419C-A090-54C99E3D74AF}"/>
              </a:ext>
            </a:extLst>
          </p:cNvPr>
          <p:cNvSpPr>
            <a:spLocks noGrp="1"/>
          </p:cNvSpPr>
          <p:nvPr>
            <p:ph type="sldNum" sz="quarter" idx="10"/>
          </p:nvPr>
        </p:nvSpPr>
        <p:spPr/>
        <p:txBody>
          <a:bodyPr/>
          <a:lstStyle/>
          <a:p>
            <a:fld id="{18BDFEC3-8487-43E8-A154-7C12CBC1FFF2}" type="slidenum">
              <a:rPr lang="en-US"/>
              <a:t>124</a:t>
            </a:fld>
            <a:endParaRPr lang="en-US"/>
          </a:p>
        </p:txBody>
      </p:sp>
    </p:spTree>
    <p:extLst>
      <p:ext uri="{BB962C8B-B14F-4D97-AF65-F5344CB8AC3E}">
        <p14:creationId xmlns:p14="http://schemas.microsoft.com/office/powerpoint/2010/main" val="244713445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no single model is perfect. Using multiple models gives teams a broader perspective and helps catch errors or blind spots that one model alone might miss.</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model outputs like multiple drafts from different engineers. The goal is not to pick a winner — it’s to synthesize the best ideas.</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Reinforce that risk assessment is essential in brownfield systems. Even if a model produces elegant code, it may be too risky without proper guardrails.</a:t>
            </a:r>
          </a:p>
        </p:txBody>
      </p:sp>
      <p:sp>
        <p:nvSpPr>
          <p:cNvPr id="4" name="Slide Number Placeholder 3"/>
          <p:cNvSpPr>
            <a:spLocks noGrp="1"/>
          </p:cNvSpPr>
          <p:nvPr>
            <p:ph type="sldNum" sz="quarter" idx="10"/>
          </p:nvPr>
        </p:nvSpPr>
        <p:spPr/>
        <p:txBody>
          <a:bodyPr/>
          <a:lstStyle/>
          <a:p>
            <a:fld id="{18BDFEC3-8487-43E8-A154-7C12CBC1FFF2}" type="slidenum">
              <a:rPr lang="en-US"/>
              <a:t>128</a:t>
            </a:fld>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synthesis is the real power of multi‑model workflows. Teams can build a composite solution that is better than any single model’s output.</a:t>
            </a:r>
          </a:p>
        </p:txBody>
      </p:sp>
      <p:sp>
        <p:nvSpPr>
          <p:cNvPr id="4" name="Slide Number Placeholder 3"/>
          <p:cNvSpPr>
            <a:spLocks noGrp="1"/>
          </p:cNvSpPr>
          <p:nvPr>
            <p:ph type="sldNum" sz="quarter" idx="10"/>
          </p:nvPr>
        </p:nvSpPr>
        <p:spPr/>
        <p:txBody>
          <a:bodyPr/>
          <a:lstStyle/>
          <a:p>
            <a:fld id="{18BDFEC3-8487-43E8-A154-7C12CBC1FFF2}" type="slidenum">
              <a:rPr lang="en-US"/>
              <a:t>129</a:t>
            </a:fld>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think like reviewers comparing multiple PRs. The goal is to understand model behavior, not to pick a favorite.</a:t>
            </a:r>
          </a:p>
        </p:txBody>
      </p:sp>
      <p:sp>
        <p:nvSpPr>
          <p:cNvPr id="4" name="Slide Number Placeholder 3"/>
          <p:cNvSpPr>
            <a:spLocks noGrp="1"/>
          </p:cNvSpPr>
          <p:nvPr>
            <p:ph type="sldNum" sz="quarter" idx="10"/>
          </p:nvPr>
        </p:nvSpPr>
        <p:spPr/>
        <p:txBody>
          <a:bodyPr/>
          <a:lstStyle/>
          <a:p>
            <a:fld id="{18BDFEC3-8487-43E8-A154-7C12CBC1FFF2}" type="slidenum">
              <a:rPr lang="en-US"/>
              <a:t>130</a:t>
            </a:fld>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helps participants see how different models interpret the same instructions — a key skill for multi‑model workflows.</a:t>
            </a:r>
          </a:p>
        </p:txBody>
      </p:sp>
      <p:sp>
        <p:nvSpPr>
          <p:cNvPr id="4" name="Slide Number Placeholder 3"/>
          <p:cNvSpPr>
            <a:spLocks noGrp="1"/>
          </p:cNvSpPr>
          <p:nvPr>
            <p:ph type="sldNum" sz="quarter" idx="10"/>
          </p:nvPr>
        </p:nvSpPr>
        <p:spPr/>
        <p:txBody>
          <a:bodyPr/>
          <a:lstStyle/>
          <a:p>
            <a:fld id="{18BDFEC3-8487-43E8-A154-7C12CBC1FFF2}" type="slidenum">
              <a:rPr lang="en-US"/>
              <a:t>131</a:t>
            </a:fld>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builds confidence in orchestrating multiple models as collaborators. The goal is synthesis, not competition.</a:t>
            </a:r>
          </a:p>
        </p:txBody>
      </p:sp>
      <p:sp>
        <p:nvSpPr>
          <p:cNvPr id="4" name="Slide Number Placeholder 3"/>
          <p:cNvSpPr>
            <a:spLocks noGrp="1"/>
          </p:cNvSpPr>
          <p:nvPr>
            <p:ph type="sldNum" sz="quarter" idx="10"/>
          </p:nvPr>
        </p:nvSpPr>
        <p:spPr/>
        <p:txBody>
          <a:bodyPr/>
          <a:lstStyle/>
          <a:p>
            <a:fld id="{18BDFEC3-8487-43E8-A154-7C12CBC1FFF2}" type="slidenum">
              <a:rPr lang="en-US"/>
              <a:t>132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hackernewsbooks.com/book/working-effectively-with-legacy-code/86d3016f73c0da5b8a9dca52f0dc723f"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71.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76.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83.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90.xml"/><Relationship Id="rId1" Type="http://schemas.openxmlformats.org/officeDocument/2006/relationships/slideLayout" Target="../slideLayouts/slideLayout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97.xml"/><Relationship Id="rId1" Type="http://schemas.openxmlformats.org/officeDocument/2006/relationships/slideLayout" Target="../slideLayouts/slideLayout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04.xml"/><Relationship Id="rId1" Type="http://schemas.openxmlformats.org/officeDocument/2006/relationships/slideLayout" Target="../slideLayouts/slideLayout3.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12.xml"/><Relationship Id="rId1" Type="http://schemas.openxmlformats.org/officeDocument/2006/relationships/slideLayout" Target="../slideLayouts/slideLayout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20.xml"/><Relationship Id="rId1" Type="http://schemas.openxmlformats.org/officeDocument/2006/relationships/slideLayout" Target="../slideLayouts/slideLayout3.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257906895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2022509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983635379"/>
              </p:ext>
            </p:extLst>
          </p:nvPr>
        </p:nvGraphicFramePr>
        <p:xfrm>
          <a:off x="628650" y="1096112"/>
          <a:ext cx="7886700" cy="3475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EC02-17E1-1258-6E2C-D26756124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DE8B8-F748-3F1D-799C-FB5D4F32464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D6AD9F-D5F8-A7C3-3692-8F1D87B1C527}"/>
              </a:ext>
            </a:extLst>
          </p:cNvPr>
          <p:cNvGraphicFramePr>
            <a:graphicFrameLocks noGrp="1"/>
          </p:cNvGraphicFramePr>
          <p:nvPr>
            <p:ph idx="1"/>
            <p:extLst>
              <p:ext uri="{D42A27DB-BD31-4B8C-83A1-F6EECF244321}">
                <p14:modId xmlns:p14="http://schemas.microsoft.com/office/powerpoint/2010/main" val="380520999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76016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9424-719A-AEBF-D1EF-1BBDAFF5FEDD}"/>
              </a:ext>
            </a:extLst>
          </p:cNvPr>
          <p:cNvSpPr>
            <a:spLocks noGrp="1"/>
          </p:cNvSpPr>
          <p:nvPr>
            <p:ph type="title"/>
          </p:nvPr>
        </p:nvSpPr>
        <p:spPr/>
        <p:txBody>
          <a:bodyPr>
            <a:normAutofit fontScale="90000"/>
          </a:bodyPr>
          <a:lstStyle/>
          <a:p>
            <a:r>
              <a:rPr lang="en-US" dirty="0"/>
              <a:t>Brownfield vs. Evergreen Code</a:t>
            </a:r>
          </a:p>
        </p:txBody>
      </p:sp>
      <p:sp>
        <p:nvSpPr>
          <p:cNvPr id="3" name="Content Placeholder 2">
            <a:extLst>
              <a:ext uri="{FF2B5EF4-FFF2-40B4-BE49-F238E27FC236}">
                <a16:creationId xmlns:a16="http://schemas.microsoft.com/office/drawing/2014/main" id="{5CBDCA3B-67D5-5885-6251-9F43BC24C8F5}"/>
              </a:ext>
            </a:extLst>
          </p:cNvPr>
          <p:cNvSpPr>
            <a:spLocks noGrp="1"/>
          </p:cNvSpPr>
          <p:nvPr>
            <p:ph idx="1"/>
          </p:nvPr>
        </p:nvSpPr>
        <p:spPr/>
        <p:txBody>
          <a:bodyPr>
            <a:normAutofit/>
          </a:bodyPr>
          <a:lstStyle/>
          <a:p>
            <a:r>
              <a:rPr lang="en-US" dirty="0"/>
              <a:t>Most real-world software is brownfield, not greenfield</a:t>
            </a:r>
          </a:p>
          <a:p>
            <a:r>
              <a:rPr lang="en-US" dirty="0"/>
              <a:t>Brownfield ≠ “bad” – it simply means “already exists and is in use”</a:t>
            </a:r>
          </a:p>
          <a:p>
            <a:r>
              <a:rPr lang="en-US" dirty="0"/>
              <a:t>Evergreen code is a philosophy, not a technology stack</a:t>
            </a:r>
          </a:p>
          <a:p>
            <a:r>
              <a:rPr lang="en-US" dirty="0"/>
              <a:t>The goal: systems that remain maintainable, secure, and aligned with current best practices</a:t>
            </a:r>
          </a:p>
          <a:p>
            <a:endParaRPr lang="en-US" dirty="0"/>
          </a:p>
        </p:txBody>
      </p:sp>
    </p:spTree>
    <p:extLst>
      <p:ext uri="{BB962C8B-B14F-4D97-AF65-F5344CB8AC3E}">
        <p14:creationId xmlns:p14="http://schemas.microsoft.com/office/powerpoint/2010/main" val="38069838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AB5E-AC6F-65CD-B8A9-5B6FF481F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4E8E4-082E-FDB9-A939-F851A32A8AB0}"/>
              </a:ext>
            </a:extLst>
          </p:cNvPr>
          <p:cNvSpPr>
            <a:spLocks noGrp="1"/>
          </p:cNvSpPr>
          <p:nvPr>
            <p:ph type="title"/>
          </p:nvPr>
        </p:nvSpPr>
        <p:spPr/>
        <p:txBody>
          <a:bodyPr>
            <a:normAutofit fontScale="90000"/>
          </a:bodyPr>
          <a:lstStyle/>
          <a:p>
            <a:r>
              <a:rPr lang="en-US" sz="2000" dirty="0"/>
              <a:t>Lab: Clone the AI-Assisted-Software-Development Repository</a:t>
            </a:r>
          </a:p>
        </p:txBody>
      </p:sp>
      <p:sp>
        <p:nvSpPr>
          <p:cNvPr id="3" name="Content Placeholder 2">
            <a:extLst>
              <a:ext uri="{FF2B5EF4-FFF2-40B4-BE49-F238E27FC236}">
                <a16:creationId xmlns:a16="http://schemas.microsoft.com/office/drawing/2014/main" id="{8C71D47C-8D97-6E73-4723-1CFF562D56A7}"/>
              </a:ext>
            </a:extLst>
          </p:cNvPr>
          <p:cNvSpPr>
            <a:spLocks noGrp="1"/>
          </p:cNvSpPr>
          <p:nvPr>
            <p:ph idx="1"/>
          </p:nvPr>
        </p:nvSpPr>
        <p:spPr/>
        <p:txBody>
          <a:bodyPr numCol="2">
            <a:normAutofit lnSpcReduction="10000"/>
          </a:bodyPr>
          <a:lstStyle/>
          <a:p>
            <a:pPr marL="0" indent="0">
              <a:buNone/>
            </a:pPr>
            <a:r>
              <a:rPr lang="en-US" b="1" dirty="0"/>
              <a:t>Duration: </a:t>
            </a:r>
            <a:r>
              <a:rPr lang="en-US" dirty="0"/>
              <a:t>10 minutes</a:t>
            </a:r>
          </a:p>
          <a:p>
            <a:pPr marL="0" indent="0">
              <a:buNone/>
            </a:pPr>
            <a:r>
              <a:rPr lang="en-US" b="1" dirty="0"/>
              <a:t>Prerequisites:</a:t>
            </a:r>
            <a:r>
              <a:rPr lang="en-US" dirty="0"/>
              <a:t> Git, GitHub account</a:t>
            </a:r>
            <a:br>
              <a:rPr lang="en-US" dirty="0"/>
            </a:br>
            <a:endParaRPr lang="en-US" dirty="0"/>
          </a:p>
          <a:p>
            <a:pPr marL="0" indent="0">
              <a:buNone/>
            </a:pPr>
            <a:r>
              <a:rPr lang="en-US" b="1" dirty="0"/>
              <a:t>Objectives</a:t>
            </a:r>
            <a:endParaRPr lang="en-US" dirty="0"/>
          </a:p>
          <a:p>
            <a:r>
              <a:rPr lang="en-US" dirty="0"/>
              <a:t>Fork the AI-Assisted-Software-Development repo</a:t>
            </a:r>
            <a:br>
              <a:rPr lang="en-US" dirty="0"/>
            </a:br>
            <a:endParaRPr lang="en-US" dirty="0"/>
          </a:p>
          <a:p>
            <a:pPr marL="0" indent="0">
              <a:buNone/>
            </a:pPr>
            <a:r>
              <a:rPr lang="en-US" b="1" dirty="0"/>
              <a:t>Activities</a:t>
            </a:r>
            <a:endParaRPr lang="en-US" dirty="0"/>
          </a:p>
          <a:p>
            <a:pPr marL="457200" indent="-457200">
              <a:buAutoNum type="arabicPeriod"/>
            </a:pPr>
            <a:r>
              <a:rPr lang="en-US" sz="2000" dirty="0"/>
              <a:t>Clone the </a:t>
            </a:r>
            <a:r>
              <a:rPr lang="en-US" sz="1400" dirty="0" err="1"/>
              <a:t>git@github.com:johnmillerATcodemag-com</a:t>
            </a:r>
            <a:r>
              <a:rPr lang="en-US" sz="1400" dirty="0"/>
              <a:t>/AI-Assisted-Software-</a:t>
            </a:r>
            <a:r>
              <a:rPr lang="en-US" sz="1400" dirty="0" err="1"/>
              <a:t>Development.gitrepository</a:t>
            </a:r>
            <a:endParaRPr lang="en-US" sz="1400" dirty="0"/>
          </a:p>
          <a:p>
            <a:pPr marL="457200" indent="-457200">
              <a:buAutoNum type="arabicPeriod"/>
            </a:pPr>
            <a:r>
              <a:rPr lang="en-US" sz="2000" dirty="0"/>
              <a:t>Switch to the brownfield branch</a:t>
            </a:r>
          </a:p>
          <a:p>
            <a:pPr marL="0" indent="0">
              <a:buNone/>
            </a:pPr>
            <a:endParaRPr lang="en-US" dirty="0"/>
          </a:p>
          <a:p>
            <a:pPr marL="0" indent="0">
              <a:buNone/>
            </a:pPr>
            <a:r>
              <a:rPr lang="en-US" b="1" dirty="0"/>
              <a:t>Success Criteria</a:t>
            </a:r>
            <a:endParaRPr lang="en-US" dirty="0"/>
          </a:p>
          <a:p>
            <a:r>
              <a:rPr lang="en-US" dirty="0"/>
              <a:t>Cloned repository exists locally</a:t>
            </a:r>
          </a:p>
        </p:txBody>
      </p:sp>
    </p:spTree>
    <p:extLst>
      <p:ext uri="{BB962C8B-B14F-4D97-AF65-F5344CB8AC3E}">
        <p14:creationId xmlns:p14="http://schemas.microsoft.com/office/powerpoint/2010/main" val="263538937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0ACD-3D97-D461-DF19-837F53BD6D84}"/>
              </a:ext>
            </a:extLst>
          </p:cNvPr>
          <p:cNvSpPr>
            <a:spLocks noGrp="1"/>
          </p:cNvSpPr>
          <p:nvPr>
            <p:ph type="title"/>
          </p:nvPr>
        </p:nvSpPr>
        <p:spPr/>
        <p:txBody>
          <a:bodyPr>
            <a:normAutofit fontScale="90000"/>
          </a:bodyPr>
          <a:lstStyle/>
          <a:p>
            <a:r>
              <a:rPr lang="en-US" dirty="0"/>
              <a:t>What Defines Brownfield Code</a:t>
            </a:r>
          </a:p>
        </p:txBody>
      </p:sp>
      <p:sp>
        <p:nvSpPr>
          <p:cNvPr id="3" name="Content Placeholder 2">
            <a:extLst>
              <a:ext uri="{FF2B5EF4-FFF2-40B4-BE49-F238E27FC236}">
                <a16:creationId xmlns:a16="http://schemas.microsoft.com/office/drawing/2014/main" id="{AC619AE1-DF34-5895-E8BC-76482BD572DC}"/>
              </a:ext>
            </a:extLst>
          </p:cNvPr>
          <p:cNvSpPr>
            <a:spLocks noGrp="1"/>
          </p:cNvSpPr>
          <p:nvPr>
            <p:ph idx="1"/>
          </p:nvPr>
        </p:nvSpPr>
        <p:spPr/>
        <p:txBody>
          <a:bodyPr>
            <a:normAutofit fontScale="92500" lnSpcReduction="10000"/>
          </a:bodyPr>
          <a:lstStyle/>
          <a:p>
            <a:r>
              <a:rPr lang="en-US" dirty="0"/>
              <a:t>Brownfield code is</a:t>
            </a:r>
          </a:p>
          <a:p>
            <a:pPr lvl="1"/>
            <a:r>
              <a:rPr lang="en-US" dirty="0"/>
              <a:t>Existing systems with history, constraints, and accumulated decisions</a:t>
            </a:r>
          </a:p>
          <a:p>
            <a:pPr lvl="1"/>
            <a:r>
              <a:rPr lang="en-US" dirty="0"/>
              <a:t>Code shaped by real users, real deadlines, and real production incidents</a:t>
            </a:r>
          </a:p>
          <a:p>
            <a:pPr lvl="1"/>
            <a:r>
              <a:rPr lang="en-US" dirty="0"/>
              <a:t>Software that has survived contact with reality</a:t>
            </a:r>
          </a:p>
          <a:p>
            <a:pPr lvl="1"/>
            <a:r>
              <a:rPr lang="en-US" dirty="0"/>
              <a:t>It’s the best we could do at the time with the tools and resources available</a:t>
            </a:r>
          </a:p>
          <a:p>
            <a:r>
              <a:rPr lang="en-US" dirty="0"/>
              <a:t>Brownfield code is not</a:t>
            </a:r>
          </a:p>
          <a:p>
            <a:pPr lvl="1"/>
            <a:r>
              <a:rPr lang="en-US" dirty="0"/>
              <a:t>“Bad code”</a:t>
            </a:r>
          </a:p>
          <a:p>
            <a:pPr lvl="1"/>
            <a:r>
              <a:rPr lang="en-US" dirty="0"/>
              <a:t>“Legacy” in the pejorative sense</a:t>
            </a:r>
          </a:p>
          <a:p>
            <a:pPr lvl="1"/>
            <a:r>
              <a:rPr lang="en-US" dirty="0"/>
              <a:t>A sign of failure or poor engineering</a:t>
            </a:r>
          </a:p>
          <a:p>
            <a:endParaRPr lang="en-US" dirty="0"/>
          </a:p>
        </p:txBody>
      </p:sp>
    </p:spTree>
    <p:extLst>
      <p:ext uri="{BB962C8B-B14F-4D97-AF65-F5344CB8AC3E}">
        <p14:creationId xmlns:p14="http://schemas.microsoft.com/office/powerpoint/2010/main" val="1134016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E2B8-78C7-316E-0E78-FD4E64D3FDD4}"/>
              </a:ext>
            </a:extLst>
          </p:cNvPr>
          <p:cNvSpPr>
            <a:spLocks noGrp="1"/>
          </p:cNvSpPr>
          <p:nvPr>
            <p:ph type="title"/>
          </p:nvPr>
        </p:nvSpPr>
        <p:spPr/>
        <p:txBody>
          <a:bodyPr>
            <a:normAutofit fontScale="90000"/>
          </a:bodyPr>
          <a:lstStyle/>
          <a:p>
            <a:r>
              <a:rPr lang="en-US" dirty="0"/>
              <a:t>Why Codebases Degrade</a:t>
            </a:r>
          </a:p>
        </p:txBody>
      </p:sp>
      <p:sp>
        <p:nvSpPr>
          <p:cNvPr id="3" name="Content Placeholder 2">
            <a:extLst>
              <a:ext uri="{FF2B5EF4-FFF2-40B4-BE49-F238E27FC236}">
                <a16:creationId xmlns:a16="http://schemas.microsoft.com/office/drawing/2014/main" id="{BC12B94A-8991-4B98-2814-BBCC05C25284}"/>
              </a:ext>
            </a:extLst>
          </p:cNvPr>
          <p:cNvSpPr>
            <a:spLocks noGrp="1"/>
          </p:cNvSpPr>
          <p:nvPr>
            <p:ph idx="1"/>
          </p:nvPr>
        </p:nvSpPr>
        <p:spPr/>
        <p:txBody>
          <a:bodyPr>
            <a:normAutofit fontScale="85000" lnSpcReduction="20000"/>
          </a:bodyPr>
          <a:lstStyle/>
          <a:p>
            <a:r>
              <a:rPr lang="en-US" dirty="0"/>
              <a:t>Shifting business requirements</a:t>
            </a:r>
          </a:p>
          <a:p>
            <a:pPr lvl="1"/>
            <a:r>
              <a:rPr lang="en-US" dirty="0"/>
              <a:t>Code reflects the business at the moment it was written</a:t>
            </a:r>
          </a:p>
          <a:p>
            <a:r>
              <a:rPr lang="en-US" dirty="0"/>
              <a:t>Team turnover and knowledge loss</a:t>
            </a:r>
          </a:p>
          <a:p>
            <a:pPr lvl="1"/>
            <a:r>
              <a:rPr lang="en-US" dirty="0"/>
              <a:t>Tribal knowledge evaporates</a:t>
            </a:r>
          </a:p>
          <a:p>
            <a:r>
              <a:rPr lang="en-US" dirty="0"/>
              <a:t>Technology evolution</a:t>
            </a:r>
          </a:p>
          <a:p>
            <a:pPr lvl="1"/>
            <a:r>
              <a:rPr lang="en-US" dirty="0"/>
              <a:t>Frameworks, languages, and patterns age</a:t>
            </a:r>
          </a:p>
          <a:p>
            <a:r>
              <a:rPr lang="en-US" dirty="0"/>
              <a:t>Entropy and patchwork fixes</a:t>
            </a:r>
          </a:p>
          <a:p>
            <a:pPr lvl="1"/>
            <a:r>
              <a:rPr lang="en-US" dirty="0"/>
              <a:t>Quick fixes accumulate</a:t>
            </a:r>
          </a:p>
          <a:p>
            <a:pPr lvl="1"/>
            <a:r>
              <a:rPr lang="en-US" dirty="0"/>
              <a:t>Architectural drift emerges</a:t>
            </a:r>
          </a:p>
          <a:p>
            <a:r>
              <a:rPr lang="en-US" dirty="0"/>
              <a:t>Missing or outdated guardrails</a:t>
            </a:r>
          </a:p>
          <a:p>
            <a:pPr lvl="1"/>
            <a:r>
              <a:rPr lang="en-US" dirty="0"/>
              <a:t>Tests, documentation, and standards fall behind</a:t>
            </a:r>
          </a:p>
          <a:p>
            <a:endParaRPr lang="en-US" dirty="0"/>
          </a:p>
        </p:txBody>
      </p:sp>
    </p:spTree>
    <p:extLst>
      <p:ext uri="{BB962C8B-B14F-4D97-AF65-F5344CB8AC3E}">
        <p14:creationId xmlns:p14="http://schemas.microsoft.com/office/powerpoint/2010/main" val="903815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38F9-AA48-1CED-A092-6E7B65A8FE0A}"/>
              </a:ext>
            </a:extLst>
          </p:cNvPr>
          <p:cNvSpPr>
            <a:spLocks noGrp="1"/>
          </p:cNvSpPr>
          <p:nvPr>
            <p:ph type="title"/>
          </p:nvPr>
        </p:nvSpPr>
        <p:spPr/>
        <p:txBody>
          <a:bodyPr>
            <a:normAutofit fontScale="90000"/>
          </a:bodyPr>
          <a:lstStyle/>
          <a:p>
            <a:r>
              <a:rPr lang="en-US" dirty="0"/>
              <a:t>The Evergreen Philosophy</a:t>
            </a:r>
          </a:p>
        </p:txBody>
      </p:sp>
      <p:sp>
        <p:nvSpPr>
          <p:cNvPr id="3" name="Content Placeholder 2">
            <a:extLst>
              <a:ext uri="{FF2B5EF4-FFF2-40B4-BE49-F238E27FC236}">
                <a16:creationId xmlns:a16="http://schemas.microsoft.com/office/drawing/2014/main" id="{8B272817-816C-C6B8-C5AE-721A4AD1D1A9}"/>
              </a:ext>
            </a:extLst>
          </p:cNvPr>
          <p:cNvSpPr>
            <a:spLocks noGrp="1"/>
          </p:cNvSpPr>
          <p:nvPr>
            <p:ph idx="1"/>
          </p:nvPr>
        </p:nvSpPr>
        <p:spPr/>
        <p:txBody>
          <a:bodyPr/>
          <a:lstStyle/>
          <a:p>
            <a:r>
              <a:rPr lang="en-US" dirty="0"/>
              <a:t>Evergreen code asks one question:</a:t>
            </a:r>
          </a:p>
          <a:p>
            <a:pPr marL="0" indent="0">
              <a:buNone/>
            </a:pPr>
            <a:r>
              <a:rPr lang="en-US" dirty="0"/>
              <a:t>	“If we rewrote this today, would it look the same?”</a:t>
            </a:r>
          </a:p>
          <a:p>
            <a:r>
              <a:rPr lang="en-US" dirty="0"/>
              <a:t>If the answer is “yes,” the system is evergreen</a:t>
            </a:r>
          </a:p>
          <a:p>
            <a:r>
              <a:rPr lang="en-US" dirty="0"/>
              <a:t>If the answer is “no,” the gap defines your modernization roadmap</a:t>
            </a:r>
          </a:p>
          <a:p>
            <a:r>
              <a:rPr lang="en-US" dirty="0"/>
              <a:t>Evergreen is about continuous alignment, not perfection</a:t>
            </a:r>
          </a:p>
          <a:p>
            <a:r>
              <a:rPr lang="en-US" dirty="0"/>
              <a:t>Small, frequent improvements beat large rewrites</a:t>
            </a:r>
          </a:p>
          <a:p>
            <a:endParaRPr lang="en-US" dirty="0"/>
          </a:p>
        </p:txBody>
      </p:sp>
    </p:spTree>
    <p:extLst>
      <p:ext uri="{BB962C8B-B14F-4D97-AF65-F5344CB8AC3E}">
        <p14:creationId xmlns:p14="http://schemas.microsoft.com/office/powerpoint/2010/main" val="34218278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5A34-5DE5-3D46-E403-B65CF0F3E402}"/>
              </a:ext>
            </a:extLst>
          </p:cNvPr>
          <p:cNvSpPr>
            <a:spLocks noGrp="1"/>
          </p:cNvSpPr>
          <p:nvPr>
            <p:ph type="title"/>
          </p:nvPr>
        </p:nvSpPr>
        <p:spPr/>
        <p:txBody>
          <a:bodyPr>
            <a:noAutofit/>
          </a:bodyPr>
          <a:lstStyle/>
          <a:p>
            <a:r>
              <a:rPr lang="en-US" sz="2400" dirty="0"/>
              <a:t>Building Respect for Working Systems</a:t>
            </a:r>
          </a:p>
        </p:txBody>
      </p:sp>
      <p:sp>
        <p:nvSpPr>
          <p:cNvPr id="3" name="Content Placeholder 2">
            <a:extLst>
              <a:ext uri="{FF2B5EF4-FFF2-40B4-BE49-F238E27FC236}">
                <a16:creationId xmlns:a16="http://schemas.microsoft.com/office/drawing/2014/main" id="{AE5DDC50-57B9-9EF4-52A5-187529E706A2}"/>
              </a:ext>
            </a:extLst>
          </p:cNvPr>
          <p:cNvSpPr>
            <a:spLocks noGrp="1"/>
          </p:cNvSpPr>
          <p:nvPr>
            <p:ph idx="1"/>
          </p:nvPr>
        </p:nvSpPr>
        <p:spPr/>
        <p:txBody>
          <a:bodyPr/>
          <a:lstStyle/>
          <a:p>
            <a:r>
              <a:rPr lang="en-US" dirty="0"/>
              <a:t>Brownfield systems are valuable - they run the business</a:t>
            </a:r>
          </a:p>
          <a:p>
            <a:r>
              <a:rPr lang="en-US" dirty="0"/>
              <a:t>Fear of change leads to paralysis and avoidance</a:t>
            </a:r>
          </a:p>
          <a:p>
            <a:r>
              <a:rPr lang="en-US" dirty="0"/>
              <a:t>Respect leads to thoughtful, incremental improvement</a:t>
            </a:r>
          </a:p>
          <a:p>
            <a:r>
              <a:rPr lang="en-US" dirty="0"/>
              <a:t>Treat the system as a partner, not an adversary</a:t>
            </a:r>
          </a:p>
          <a:p>
            <a:r>
              <a:rPr lang="en-US" dirty="0"/>
              <a:t>“It works” is not an insult – it’s a success criterion</a:t>
            </a:r>
          </a:p>
          <a:p>
            <a:endParaRPr lang="en-US" dirty="0"/>
          </a:p>
        </p:txBody>
      </p:sp>
    </p:spTree>
    <p:extLst>
      <p:ext uri="{BB962C8B-B14F-4D97-AF65-F5344CB8AC3E}">
        <p14:creationId xmlns:p14="http://schemas.microsoft.com/office/powerpoint/2010/main" val="302561278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90A8-3FB1-1980-12E9-B7C288E64291}"/>
              </a:ext>
            </a:extLst>
          </p:cNvPr>
          <p:cNvSpPr>
            <a:spLocks noGrp="1"/>
          </p:cNvSpPr>
          <p:nvPr>
            <p:ph type="title"/>
          </p:nvPr>
        </p:nvSpPr>
        <p:spPr/>
        <p:txBody>
          <a:bodyPr>
            <a:normAutofit fontScale="90000"/>
          </a:bodyPr>
          <a:lstStyle/>
          <a:p>
            <a:r>
              <a:rPr lang="en-US" dirty="0"/>
              <a:t>Why Evergreen?</a:t>
            </a:r>
          </a:p>
        </p:txBody>
      </p:sp>
      <p:sp>
        <p:nvSpPr>
          <p:cNvPr id="3" name="Content Placeholder 2">
            <a:extLst>
              <a:ext uri="{FF2B5EF4-FFF2-40B4-BE49-F238E27FC236}">
                <a16:creationId xmlns:a16="http://schemas.microsoft.com/office/drawing/2014/main" id="{9A051CB0-3AD3-90F9-2557-420AACB114D8}"/>
              </a:ext>
            </a:extLst>
          </p:cNvPr>
          <p:cNvSpPr>
            <a:spLocks noGrp="1"/>
          </p:cNvSpPr>
          <p:nvPr>
            <p:ph idx="1"/>
          </p:nvPr>
        </p:nvSpPr>
        <p:spPr/>
        <p:txBody>
          <a:bodyPr>
            <a:normAutofit fontScale="92500" lnSpcReduction="20000"/>
          </a:bodyPr>
          <a:lstStyle/>
          <a:p>
            <a:r>
              <a:rPr lang="en-US" dirty="0"/>
              <a:t>Evergreen is a high bar that all brownfield codebases should strive to achieve</a:t>
            </a:r>
          </a:p>
          <a:p>
            <a:r>
              <a:rPr lang="en-US" dirty="0"/>
              <a:t>Before AIASD</a:t>
            </a:r>
          </a:p>
          <a:p>
            <a:pPr lvl="1"/>
            <a:r>
              <a:rPr lang="en-US" dirty="0"/>
              <a:t>Evergreen was difficult to maintain</a:t>
            </a:r>
          </a:p>
          <a:p>
            <a:pPr lvl="1"/>
            <a:r>
              <a:rPr lang="en-US" dirty="0"/>
              <a:t>Moving from brownfield to evergreen was cost prohibited</a:t>
            </a:r>
          </a:p>
          <a:p>
            <a:r>
              <a:rPr lang="en-US" dirty="0"/>
              <a:t>AI can assist with </a:t>
            </a:r>
          </a:p>
          <a:p>
            <a:pPr lvl="1"/>
            <a:r>
              <a:rPr lang="en-US" dirty="0"/>
              <a:t>Identifying technical debt</a:t>
            </a:r>
          </a:p>
          <a:p>
            <a:pPr lvl="1"/>
            <a:r>
              <a:rPr lang="en-US" dirty="0"/>
              <a:t>Prioritizing modernizations</a:t>
            </a:r>
          </a:p>
          <a:p>
            <a:pPr lvl="1"/>
            <a:r>
              <a:rPr lang="en-US" dirty="0"/>
              <a:t>Implementing improvements</a:t>
            </a:r>
          </a:p>
          <a:p>
            <a:pPr lvl="1"/>
            <a:r>
              <a:rPr lang="en-US" dirty="0"/>
              <a:t>Validating implementations</a:t>
            </a:r>
          </a:p>
          <a:p>
            <a:pPr lvl="1"/>
            <a:r>
              <a:rPr lang="en-US" dirty="0"/>
              <a:t>Documenting progress</a:t>
            </a:r>
          </a:p>
          <a:p>
            <a:pPr lvl="2"/>
            <a:endParaRPr lang="en-US" dirty="0"/>
          </a:p>
          <a:p>
            <a:pPr lvl="1"/>
            <a:endParaRPr lang="en-US" dirty="0"/>
          </a:p>
          <a:p>
            <a:endParaRPr lang="en-US" dirty="0"/>
          </a:p>
        </p:txBody>
      </p:sp>
    </p:spTree>
    <p:extLst>
      <p:ext uri="{BB962C8B-B14F-4D97-AF65-F5344CB8AC3E}">
        <p14:creationId xmlns:p14="http://schemas.microsoft.com/office/powerpoint/2010/main" val="9455912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D915-77C7-243C-FA2A-AF7B0FF1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CE4FC-20E1-A011-0546-32E0CEFD8C5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F66FF0A-10D2-7C6C-62D7-F554D72E2205}"/>
              </a:ext>
            </a:extLst>
          </p:cNvPr>
          <p:cNvGraphicFramePr>
            <a:graphicFrameLocks noGrp="1"/>
          </p:cNvGraphicFramePr>
          <p:nvPr>
            <p:ph idx="1"/>
            <p:extLst>
              <p:ext uri="{D42A27DB-BD31-4B8C-83A1-F6EECF244321}">
                <p14:modId xmlns:p14="http://schemas.microsoft.com/office/powerpoint/2010/main" val="277150934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724238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9DDA-4883-A20C-36A1-CCEF305FFA0A}"/>
              </a:ext>
            </a:extLst>
          </p:cNvPr>
          <p:cNvSpPr>
            <a:spLocks noGrp="1"/>
          </p:cNvSpPr>
          <p:nvPr>
            <p:ph type="title"/>
          </p:nvPr>
        </p:nvSpPr>
        <p:spPr/>
        <p:txBody>
          <a:bodyPr>
            <a:normAutofit fontScale="90000"/>
          </a:bodyPr>
          <a:lstStyle/>
          <a:p>
            <a:r>
              <a:rPr lang="en-US" dirty="0"/>
              <a:t>Essential Safety Measures</a:t>
            </a:r>
          </a:p>
        </p:txBody>
      </p:sp>
      <p:sp>
        <p:nvSpPr>
          <p:cNvPr id="3" name="Content Placeholder 2">
            <a:extLst>
              <a:ext uri="{FF2B5EF4-FFF2-40B4-BE49-F238E27FC236}">
                <a16:creationId xmlns:a16="http://schemas.microsoft.com/office/drawing/2014/main" id="{AB4CCE7F-D3FA-1841-7E9A-A18C9B1F33BA}"/>
              </a:ext>
            </a:extLst>
          </p:cNvPr>
          <p:cNvSpPr>
            <a:spLocks noGrp="1"/>
          </p:cNvSpPr>
          <p:nvPr>
            <p:ph idx="1"/>
          </p:nvPr>
        </p:nvSpPr>
        <p:spPr/>
        <p:txBody>
          <a:bodyPr/>
          <a:lstStyle/>
          <a:p>
            <a:r>
              <a:rPr lang="en-US" dirty="0"/>
              <a:t>AI accelerates development, but it also accelerates mistakes</a:t>
            </a:r>
          </a:p>
          <a:p>
            <a:r>
              <a:rPr lang="en-US" dirty="0"/>
              <a:t>Strong safety nets must be in place before introducing AI into a brownfield codebase</a:t>
            </a:r>
          </a:p>
          <a:p>
            <a:r>
              <a:rPr lang="en-US" dirty="0"/>
              <a:t>These practices reduce risk, increase confidence, and protect production systems</a:t>
            </a:r>
          </a:p>
          <a:p>
            <a:endParaRPr lang="en-US" dirty="0"/>
          </a:p>
        </p:txBody>
      </p:sp>
    </p:spTree>
    <p:extLst>
      <p:ext uri="{BB962C8B-B14F-4D97-AF65-F5344CB8AC3E}">
        <p14:creationId xmlns:p14="http://schemas.microsoft.com/office/powerpoint/2010/main" val="380817419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2D515-9199-7628-36FA-5D282B75E796}"/>
              </a:ext>
            </a:extLst>
          </p:cNvPr>
          <p:cNvSpPr>
            <a:spLocks noGrp="1"/>
          </p:cNvSpPr>
          <p:nvPr>
            <p:ph type="title"/>
          </p:nvPr>
        </p:nvSpPr>
        <p:spPr/>
        <p:txBody>
          <a:bodyPr>
            <a:normAutofit fontScale="90000"/>
          </a:bodyPr>
          <a:lstStyle/>
          <a:p>
            <a:r>
              <a:rPr lang="en-US" dirty="0"/>
              <a:t>Backup &amp; Rollback Strategies</a:t>
            </a:r>
          </a:p>
        </p:txBody>
      </p:sp>
      <p:sp>
        <p:nvSpPr>
          <p:cNvPr id="3" name="Content Placeholder 2">
            <a:extLst>
              <a:ext uri="{FF2B5EF4-FFF2-40B4-BE49-F238E27FC236}">
                <a16:creationId xmlns:a16="http://schemas.microsoft.com/office/drawing/2014/main" id="{B306C9D8-6595-6F9D-ACF7-D358E506E055}"/>
              </a:ext>
            </a:extLst>
          </p:cNvPr>
          <p:cNvSpPr>
            <a:spLocks noGrp="1"/>
          </p:cNvSpPr>
          <p:nvPr>
            <p:ph idx="1"/>
          </p:nvPr>
        </p:nvSpPr>
        <p:spPr/>
        <p:txBody>
          <a:bodyPr/>
          <a:lstStyle/>
          <a:p>
            <a:r>
              <a:rPr lang="en-US" dirty="0"/>
              <a:t>Use branching strategies that isolate AI‑generated changes</a:t>
            </a:r>
          </a:p>
          <a:p>
            <a:r>
              <a:rPr lang="en-US" dirty="0"/>
              <a:t>Commit early and often to create natural rollback points</a:t>
            </a:r>
          </a:p>
          <a:p>
            <a:r>
              <a:rPr lang="en-US" dirty="0"/>
              <a:t>Archive snapshots of critical modules before modernization</a:t>
            </a:r>
          </a:p>
          <a:p>
            <a:r>
              <a:rPr lang="en-US" dirty="0"/>
              <a:t>Ensure you can revert any AI‑assisted change without drama</a:t>
            </a:r>
          </a:p>
          <a:p>
            <a:r>
              <a:rPr lang="en-US" dirty="0"/>
              <a:t>Use feature flags to separate release from deployment</a:t>
            </a:r>
          </a:p>
          <a:p>
            <a:endParaRPr lang="en-US" dirty="0"/>
          </a:p>
        </p:txBody>
      </p:sp>
    </p:spTree>
    <p:extLst>
      <p:ext uri="{BB962C8B-B14F-4D97-AF65-F5344CB8AC3E}">
        <p14:creationId xmlns:p14="http://schemas.microsoft.com/office/powerpoint/2010/main" val="273613815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315C-6B89-4FF4-5432-1E362C37A27D}"/>
              </a:ext>
            </a:extLst>
          </p:cNvPr>
          <p:cNvSpPr>
            <a:spLocks noGrp="1"/>
          </p:cNvSpPr>
          <p:nvPr>
            <p:ph type="title"/>
          </p:nvPr>
        </p:nvSpPr>
        <p:spPr/>
        <p:txBody>
          <a:bodyPr>
            <a:normAutofit fontScale="90000"/>
          </a:bodyPr>
          <a:lstStyle/>
          <a:p>
            <a:r>
              <a:rPr lang="en-US" dirty="0"/>
              <a:t>Confidence Frameworks</a:t>
            </a:r>
          </a:p>
        </p:txBody>
      </p:sp>
      <p:sp>
        <p:nvSpPr>
          <p:cNvPr id="3" name="Content Placeholder 2">
            <a:extLst>
              <a:ext uri="{FF2B5EF4-FFF2-40B4-BE49-F238E27FC236}">
                <a16:creationId xmlns:a16="http://schemas.microsoft.com/office/drawing/2014/main" id="{E6B0B95D-2B73-AC76-3F27-719A17F7DF77}"/>
              </a:ext>
            </a:extLst>
          </p:cNvPr>
          <p:cNvSpPr>
            <a:spLocks noGrp="1"/>
          </p:cNvSpPr>
          <p:nvPr>
            <p:ph idx="1"/>
          </p:nvPr>
        </p:nvSpPr>
        <p:spPr/>
        <p:txBody>
          <a:bodyPr/>
          <a:lstStyle/>
          <a:p>
            <a:r>
              <a:rPr lang="en-US" dirty="0"/>
              <a:t>Strong tests are the backbone of safe AI‑assisted refactoring</a:t>
            </a:r>
          </a:p>
          <a:p>
            <a:r>
              <a:rPr lang="en-US" dirty="0"/>
              <a:t>Unit, integration, and behavioral tests validate AI output</a:t>
            </a:r>
          </a:p>
          <a:p>
            <a:r>
              <a:rPr lang="en-US" dirty="0"/>
              <a:t>Coverage matters less than signal quality</a:t>
            </a:r>
          </a:p>
          <a:p>
            <a:r>
              <a:rPr lang="en-US" dirty="0"/>
              <a:t>Tests should detect regressions, not just assert happy paths</a:t>
            </a:r>
          </a:p>
          <a:p>
            <a:r>
              <a:rPr lang="en-US" dirty="0"/>
              <a:t>If all of the test automation passes, how confident are you to deploy to production?</a:t>
            </a:r>
          </a:p>
          <a:p>
            <a:endParaRPr lang="en-US" dirty="0"/>
          </a:p>
        </p:txBody>
      </p:sp>
    </p:spTree>
    <p:extLst>
      <p:ext uri="{BB962C8B-B14F-4D97-AF65-F5344CB8AC3E}">
        <p14:creationId xmlns:p14="http://schemas.microsoft.com/office/powerpoint/2010/main" val="74932919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330E-7501-BFC5-F921-52AA32C86833}"/>
              </a:ext>
            </a:extLst>
          </p:cNvPr>
          <p:cNvSpPr>
            <a:spLocks noGrp="1"/>
          </p:cNvSpPr>
          <p:nvPr>
            <p:ph type="title"/>
          </p:nvPr>
        </p:nvSpPr>
        <p:spPr/>
        <p:txBody>
          <a:bodyPr>
            <a:normAutofit fontScale="90000"/>
          </a:bodyPr>
          <a:lstStyle/>
          <a:p>
            <a:r>
              <a:rPr lang="en-US" dirty="0"/>
              <a:t>Change Review Processes</a:t>
            </a:r>
          </a:p>
        </p:txBody>
      </p:sp>
      <p:sp>
        <p:nvSpPr>
          <p:cNvPr id="3" name="Content Placeholder 2">
            <a:extLst>
              <a:ext uri="{FF2B5EF4-FFF2-40B4-BE49-F238E27FC236}">
                <a16:creationId xmlns:a16="http://schemas.microsoft.com/office/drawing/2014/main" id="{0E67DE67-3E71-9D9D-EC55-9BFB68BDC38C}"/>
              </a:ext>
            </a:extLst>
          </p:cNvPr>
          <p:cNvSpPr>
            <a:spLocks noGrp="1"/>
          </p:cNvSpPr>
          <p:nvPr>
            <p:ph idx="1"/>
          </p:nvPr>
        </p:nvSpPr>
        <p:spPr/>
        <p:txBody>
          <a:bodyPr/>
          <a:lstStyle/>
          <a:p>
            <a:r>
              <a:rPr lang="en-US" dirty="0"/>
              <a:t>Treat AI as a junior developer: everything gets reviewed</a:t>
            </a:r>
          </a:p>
          <a:p>
            <a:r>
              <a:rPr lang="en-US" dirty="0"/>
              <a:t>Use human‑in‑the‑loop validation for correctness and intent</a:t>
            </a:r>
          </a:p>
          <a:p>
            <a:r>
              <a:rPr lang="en-US" dirty="0"/>
              <a:t>Require architectural review for structural changes</a:t>
            </a:r>
          </a:p>
          <a:p>
            <a:r>
              <a:rPr lang="en-US" dirty="0"/>
              <a:t>Enforce standards through linters, static analysis, and policy checks</a:t>
            </a:r>
          </a:p>
          <a:p>
            <a:r>
              <a:rPr lang="en-US" dirty="0"/>
              <a:t>Leverage AI to reduce the review burden</a:t>
            </a:r>
          </a:p>
          <a:p>
            <a:endParaRPr lang="en-US" dirty="0"/>
          </a:p>
        </p:txBody>
      </p:sp>
    </p:spTree>
    <p:extLst>
      <p:ext uri="{BB962C8B-B14F-4D97-AF65-F5344CB8AC3E}">
        <p14:creationId xmlns:p14="http://schemas.microsoft.com/office/powerpoint/2010/main" val="334151485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D900-F4F9-CEC2-B836-505F0598F76D}"/>
              </a:ext>
            </a:extLst>
          </p:cNvPr>
          <p:cNvSpPr>
            <a:spLocks noGrp="1"/>
          </p:cNvSpPr>
          <p:nvPr>
            <p:ph type="title"/>
          </p:nvPr>
        </p:nvSpPr>
        <p:spPr/>
        <p:txBody>
          <a:bodyPr>
            <a:noAutofit/>
          </a:bodyPr>
          <a:lstStyle/>
          <a:p>
            <a:r>
              <a:rPr lang="en-US" sz="2800" dirty="0"/>
              <a:t>Incremental Change Methodology</a:t>
            </a:r>
          </a:p>
        </p:txBody>
      </p:sp>
      <p:sp>
        <p:nvSpPr>
          <p:cNvPr id="3" name="Content Placeholder 2">
            <a:extLst>
              <a:ext uri="{FF2B5EF4-FFF2-40B4-BE49-F238E27FC236}">
                <a16:creationId xmlns:a16="http://schemas.microsoft.com/office/drawing/2014/main" id="{8592BA75-A301-EF95-149A-8D3A512C08AA}"/>
              </a:ext>
            </a:extLst>
          </p:cNvPr>
          <p:cNvSpPr>
            <a:spLocks noGrp="1"/>
          </p:cNvSpPr>
          <p:nvPr>
            <p:ph idx="1"/>
          </p:nvPr>
        </p:nvSpPr>
        <p:spPr/>
        <p:txBody>
          <a:bodyPr/>
          <a:lstStyle/>
          <a:p>
            <a:r>
              <a:rPr lang="en-US" dirty="0"/>
              <a:t>Break modernization into small, safe, reversible steps</a:t>
            </a:r>
          </a:p>
          <a:p>
            <a:r>
              <a:rPr lang="en-US" dirty="0"/>
              <a:t>Avoid “big bang” refactors – they’re brittle and risky</a:t>
            </a:r>
          </a:p>
          <a:p>
            <a:r>
              <a:rPr lang="en-US" dirty="0"/>
              <a:t>Use iterative loops: propose → validate → refine → commit</a:t>
            </a:r>
          </a:p>
          <a:p>
            <a:r>
              <a:rPr lang="en-US" dirty="0"/>
              <a:t>Let AI assist with each step rather than entire subsystems at once</a:t>
            </a:r>
          </a:p>
          <a:p>
            <a:pPr marL="0" indent="0">
              <a:buNone/>
            </a:pPr>
            <a:endParaRPr lang="en-US" dirty="0">
              <a:hlinkClick r:id="rId3"/>
            </a:endParaRPr>
          </a:p>
          <a:p>
            <a:pPr marL="0" indent="0">
              <a:buNone/>
            </a:pPr>
            <a:r>
              <a:rPr lang="en-US" dirty="0">
                <a:hlinkClick r:id="rId3"/>
              </a:rPr>
              <a:t>Working Effectively with Legacy Code | Hacker News Books</a:t>
            </a:r>
            <a:endParaRPr lang="en-US" dirty="0"/>
          </a:p>
        </p:txBody>
      </p:sp>
    </p:spTree>
    <p:extLst>
      <p:ext uri="{BB962C8B-B14F-4D97-AF65-F5344CB8AC3E}">
        <p14:creationId xmlns:p14="http://schemas.microsoft.com/office/powerpoint/2010/main" val="105293624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67AED-EB1A-2811-0735-CE5FD81074F7}"/>
              </a:ext>
            </a:extLst>
          </p:cNvPr>
          <p:cNvSpPr>
            <a:spLocks noGrp="1"/>
          </p:cNvSpPr>
          <p:nvPr>
            <p:ph type="title"/>
          </p:nvPr>
        </p:nvSpPr>
        <p:spPr/>
        <p:txBody>
          <a:bodyPr>
            <a:normAutofit fontScale="90000"/>
          </a:bodyPr>
          <a:lstStyle/>
          <a:p>
            <a:r>
              <a:rPr lang="en-US" dirty="0"/>
              <a:t>Keeping Change Sets Small</a:t>
            </a:r>
          </a:p>
        </p:txBody>
      </p:sp>
      <p:sp>
        <p:nvSpPr>
          <p:cNvPr id="3" name="Content Placeholder 2">
            <a:extLst>
              <a:ext uri="{FF2B5EF4-FFF2-40B4-BE49-F238E27FC236}">
                <a16:creationId xmlns:a16="http://schemas.microsoft.com/office/drawing/2014/main" id="{AA1A577C-DB0C-066E-BDB2-AE67F6A567CC}"/>
              </a:ext>
            </a:extLst>
          </p:cNvPr>
          <p:cNvSpPr>
            <a:spLocks noGrp="1"/>
          </p:cNvSpPr>
          <p:nvPr>
            <p:ph idx="1"/>
          </p:nvPr>
        </p:nvSpPr>
        <p:spPr/>
        <p:txBody>
          <a:bodyPr/>
          <a:lstStyle/>
          <a:p>
            <a:r>
              <a:rPr lang="en-US" dirty="0"/>
              <a:t>Small diffs are easier to review and validate</a:t>
            </a:r>
          </a:p>
          <a:p>
            <a:r>
              <a:rPr lang="en-US" dirty="0"/>
              <a:t>Small changes reduce merge conflicts and regression risk</a:t>
            </a:r>
          </a:p>
          <a:p>
            <a:r>
              <a:rPr lang="en-US" dirty="0"/>
              <a:t>AI should be instructed to limit scope intentionally</a:t>
            </a:r>
          </a:p>
          <a:p>
            <a:r>
              <a:rPr lang="en-US" dirty="0"/>
              <a:t>Small changes accumulate into large improvements over time</a:t>
            </a:r>
          </a:p>
          <a:p>
            <a:r>
              <a:rPr lang="en-US" dirty="0"/>
              <a:t>Beware: AI can produce huge amounts of code quickly</a:t>
            </a:r>
          </a:p>
          <a:p>
            <a:endParaRPr lang="en-US" dirty="0"/>
          </a:p>
        </p:txBody>
      </p:sp>
    </p:spTree>
    <p:extLst>
      <p:ext uri="{BB962C8B-B14F-4D97-AF65-F5344CB8AC3E}">
        <p14:creationId xmlns:p14="http://schemas.microsoft.com/office/powerpoint/2010/main" val="125022843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F496-DB76-CB78-E1E9-098C0DD78657}"/>
              </a:ext>
            </a:extLst>
          </p:cNvPr>
          <p:cNvSpPr>
            <a:spLocks noGrp="1"/>
          </p:cNvSpPr>
          <p:nvPr>
            <p:ph type="title"/>
          </p:nvPr>
        </p:nvSpPr>
        <p:spPr/>
        <p:txBody>
          <a:bodyPr>
            <a:normAutofit fontScale="90000"/>
          </a:bodyPr>
          <a:lstStyle/>
          <a:p>
            <a:r>
              <a:rPr lang="en-US" dirty="0"/>
              <a:t>Respecting Brownfield Code</a:t>
            </a:r>
          </a:p>
        </p:txBody>
      </p:sp>
      <p:sp>
        <p:nvSpPr>
          <p:cNvPr id="3" name="Content Placeholder 2">
            <a:extLst>
              <a:ext uri="{FF2B5EF4-FFF2-40B4-BE49-F238E27FC236}">
                <a16:creationId xmlns:a16="http://schemas.microsoft.com/office/drawing/2014/main" id="{65544EC1-EF51-8B3B-E691-E0663FC1554D}"/>
              </a:ext>
            </a:extLst>
          </p:cNvPr>
          <p:cNvSpPr>
            <a:spLocks noGrp="1"/>
          </p:cNvSpPr>
          <p:nvPr>
            <p:ph idx="1"/>
          </p:nvPr>
        </p:nvSpPr>
        <p:spPr/>
        <p:txBody>
          <a:bodyPr/>
          <a:lstStyle/>
          <a:p>
            <a:r>
              <a:rPr lang="en-US" dirty="0"/>
              <a:t>Brownfield systems are valuable – they run the business</a:t>
            </a:r>
          </a:p>
          <a:p>
            <a:r>
              <a:rPr lang="en-US" dirty="0"/>
              <a:t>Avoid assumptions that “old” means “wrong”</a:t>
            </a:r>
          </a:p>
          <a:p>
            <a:r>
              <a:rPr lang="en-US" dirty="0"/>
              <a:t>Understand the constraints that shaped the existing design</a:t>
            </a:r>
          </a:p>
          <a:p>
            <a:r>
              <a:rPr lang="en-US" dirty="0"/>
              <a:t>Modernize with empathy, not aggression</a:t>
            </a:r>
          </a:p>
          <a:p>
            <a:endParaRPr lang="en-US" dirty="0"/>
          </a:p>
        </p:txBody>
      </p:sp>
    </p:spTree>
    <p:extLst>
      <p:ext uri="{BB962C8B-B14F-4D97-AF65-F5344CB8AC3E}">
        <p14:creationId xmlns:p14="http://schemas.microsoft.com/office/powerpoint/2010/main" val="11801859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197E5-C518-E6D8-8534-DE7BD5E3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4568-C854-C4A3-B709-5C432C5C35A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6DAF69-B1ED-E17A-2E5C-39A533941F35}"/>
              </a:ext>
            </a:extLst>
          </p:cNvPr>
          <p:cNvGraphicFramePr>
            <a:graphicFrameLocks noGrp="1"/>
          </p:cNvGraphicFramePr>
          <p:nvPr>
            <p:ph idx="1"/>
            <p:extLst>
              <p:ext uri="{D42A27DB-BD31-4B8C-83A1-F6EECF244321}">
                <p14:modId xmlns:p14="http://schemas.microsoft.com/office/powerpoint/2010/main" val="54859015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04729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9F95-C252-99E3-7D24-BD6A6FA32392}"/>
              </a:ext>
            </a:extLst>
          </p:cNvPr>
          <p:cNvSpPr>
            <a:spLocks noGrp="1"/>
          </p:cNvSpPr>
          <p:nvPr>
            <p:ph type="title"/>
          </p:nvPr>
        </p:nvSpPr>
        <p:spPr/>
        <p:txBody>
          <a:bodyPr>
            <a:noAutofit/>
          </a:bodyPr>
          <a:lstStyle/>
          <a:p>
            <a:r>
              <a:rPr lang="en-US" sz="2800" dirty="0"/>
              <a:t>Managing GitHub Copilot Effectively</a:t>
            </a:r>
          </a:p>
        </p:txBody>
      </p:sp>
      <p:sp>
        <p:nvSpPr>
          <p:cNvPr id="3" name="Content Placeholder 2">
            <a:extLst>
              <a:ext uri="{FF2B5EF4-FFF2-40B4-BE49-F238E27FC236}">
                <a16:creationId xmlns:a16="http://schemas.microsoft.com/office/drawing/2014/main" id="{2C53B977-EE84-D998-3FA6-53690156A802}"/>
              </a:ext>
            </a:extLst>
          </p:cNvPr>
          <p:cNvSpPr>
            <a:spLocks noGrp="1"/>
          </p:cNvSpPr>
          <p:nvPr>
            <p:ph idx="1"/>
          </p:nvPr>
        </p:nvSpPr>
        <p:spPr/>
        <p:txBody>
          <a:bodyPr/>
          <a:lstStyle/>
          <a:p>
            <a:r>
              <a:rPr lang="en-US" dirty="0"/>
              <a:t>Copilot is powerful, but not entirely autonomous</a:t>
            </a:r>
          </a:p>
          <a:p>
            <a:r>
              <a:rPr lang="en-US" dirty="0"/>
              <a:t>Effective use requires structure, guardrails, and clear intent</a:t>
            </a:r>
          </a:p>
          <a:p>
            <a:r>
              <a:rPr lang="en-US" dirty="0"/>
              <a:t>Treat Copilot as a developer whose output improves with guidance</a:t>
            </a:r>
          </a:p>
          <a:p>
            <a:r>
              <a:rPr lang="en-US" dirty="0"/>
              <a:t>Your process determines the quality of its contributions</a:t>
            </a:r>
          </a:p>
          <a:p>
            <a:endParaRPr lang="en-US" dirty="0"/>
          </a:p>
        </p:txBody>
      </p:sp>
    </p:spTree>
    <p:extLst>
      <p:ext uri="{BB962C8B-B14F-4D97-AF65-F5344CB8AC3E}">
        <p14:creationId xmlns:p14="http://schemas.microsoft.com/office/powerpoint/2010/main" val="28320229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D2D0-7495-DB79-4AB4-38807E04E31C}"/>
              </a:ext>
            </a:extLst>
          </p:cNvPr>
          <p:cNvSpPr>
            <a:spLocks noGrp="1"/>
          </p:cNvSpPr>
          <p:nvPr>
            <p:ph type="title"/>
          </p:nvPr>
        </p:nvSpPr>
        <p:spPr/>
        <p:txBody>
          <a:bodyPr>
            <a:normAutofit fontScale="90000"/>
          </a:bodyPr>
          <a:lstStyle/>
          <a:p>
            <a:r>
              <a:rPr lang="en-US" dirty="0"/>
              <a:t>A Managed Junior Developer</a:t>
            </a:r>
          </a:p>
        </p:txBody>
      </p:sp>
      <p:sp>
        <p:nvSpPr>
          <p:cNvPr id="3" name="Content Placeholder 2">
            <a:extLst>
              <a:ext uri="{FF2B5EF4-FFF2-40B4-BE49-F238E27FC236}">
                <a16:creationId xmlns:a16="http://schemas.microsoft.com/office/drawing/2014/main" id="{513B330C-7F3B-02D0-B3E4-C8E695D20188}"/>
              </a:ext>
            </a:extLst>
          </p:cNvPr>
          <p:cNvSpPr>
            <a:spLocks noGrp="1"/>
          </p:cNvSpPr>
          <p:nvPr>
            <p:ph idx="1"/>
          </p:nvPr>
        </p:nvSpPr>
        <p:spPr/>
        <p:txBody>
          <a:bodyPr/>
          <a:lstStyle/>
          <a:p>
            <a:r>
              <a:rPr lang="en-US" dirty="0"/>
              <a:t>Copilot is fast, eager, and sometimes confidently wrong</a:t>
            </a:r>
          </a:p>
          <a:p>
            <a:r>
              <a:rPr lang="en-US" dirty="0"/>
              <a:t>Provide clear instructions, constraints, and examples</a:t>
            </a:r>
          </a:p>
          <a:p>
            <a:r>
              <a:rPr lang="en-US" dirty="0"/>
              <a:t>Review everything – trust its speed, not its judgment</a:t>
            </a:r>
          </a:p>
          <a:p>
            <a:r>
              <a:rPr lang="en-US" dirty="0"/>
              <a:t>Use iterative loops: instruct → generate → review → refine</a:t>
            </a:r>
          </a:p>
          <a:p>
            <a:r>
              <a:rPr lang="en-US" dirty="0"/>
              <a:t>Give Copilot ownership of tasks, not architecture</a:t>
            </a:r>
          </a:p>
          <a:p>
            <a:endParaRPr lang="en-US" dirty="0"/>
          </a:p>
        </p:txBody>
      </p:sp>
    </p:spTree>
    <p:extLst>
      <p:ext uri="{BB962C8B-B14F-4D97-AF65-F5344CB8AC3E}">
        <p14:creationId xmlns:p14="http://schemas.microsoft.com/office/powerpoint/2010/main" val="3690211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6D763-C0F5-E4C1-8683-7E5EEC692F24}"/>
              </a:ext>
            </a:extLst>
          </p:cNvPr>
          <p:cNvSpPr>
            <a:spLocks noGrp="1"/>
          </p:cNvSpPr>
          <p:nvPr>
            <p:ph type="title"/>
          </p:nvPr>
        </p:nvSpPr>
        <p:spPr/>
        <p:txBody>
          <a:bodyPr>
            <a:normAutofit fontScale="90000"/>
          </a:bodyPr>
          <a:lstStyle/>
          <a:p>
            <a:r>
              <a:rPr lang="en-US" dirty="0"/>
              <a:t>Understanding Context &amp; Tokens</a:t>
            </a:r>
          </a:p>
        </p:txBody>
      </p:sp>
      <p:sp>
        <p:nvSpPr>
          <p:cNvPr id="3" name="Content Placeholder 2">
            <a:extLst>
              <a:ext uri="{FF2B5EF4-FFF2-40B4-BE49-F238E27FC236}">
                <a16:creationId xmlns:a16="http://schemas.microsoft.com/office/drawing/2014/main" id="{B1A00227-B53E-48DF-C39C-B324E34955CA}"/>
              </a:ext>
            </a:extLst>
          </p:cNvPr>
          <p:cNvSpPr>
            <a:spLocks noGrp="1"/>
          </p:cNvSpPr>
          <p:nvPr>
            <p:ph idx="1"/>
          </p:nvPr>
        </p:nvSpPr>
        <p:spPr/>
        <p:txBody>
          <a:bodyPr>
            <a:normAutofit fontScale="92500"/>
          </a:bodyPr>
          <a:lstStyle/>
          <a:p>
            <a:r>
              <a:rPr lang="en-US" dirty="0"/>
              <a:t>Copilot can only “see” a limited amount of text at once</a:t>
            </a:r>
          </a:p>
          <a:p>
            <a:r>
              <a:rPr lang="en-US" dirty="0"/>
              <a:t>Large files, long conversations, or complex repos can exceed context</a:t>
            </a:r>
          </a:p>
          <a:p>
            <a:r>
              <a:rPr lang="en-US" dirty="0"/>
              <a:t>Important details may fall out of the window without you realizing</a:t>
            </a:r>
          </a:p>
          <a:p>
            <a:r>
              <a:rPr lang="en-US" dirty="0"/>
              <a:t>Use these techniques to keep context focused:</a:t>
            </a:r>
          </a:p>
          <a:p>
            <a:pPr lvl="1"/>
            <a:r>
              <a:rPr lang="en-US" dirty="0"/>
              <a:t>Summaries</a:t>
            </a:r>
          </a:p>
          <a:p>
            <a:pPr lvl="1"/>
            <a:r>
              <a:rPr lang="en-US" dirty="0"/>
              <a:t>Instruction files</a:t>
            </a:r>
          </a:p>
          <a:p>
            <a:pPr lvl="1"/>
            <a:r>
              <a:rPr lang="en-US" dirty="0"/>
              <a:t>Modular prompts</a:t>
            </a:r>
          </a:p>
          <a:p>
            <a:pPr lvl="1"/>
            <a:r>
              <a:rPr lang="en-US" dirty="0"/>
              <a:t>Smaller working sets</a:t>
            </a:r>
          </a:p>
          <a:p>
            <a:endParaRPr lang="en-US" dirty="0"/>
          </a:p>
        </p:txBody>
      </p:sp>
    </p:spTree>
    <p:extLst>
      <p:ext uri="{BB962C8B-B14F-4D97-AF65-F5344CB8AC3E}">
        <p14:creationId xmlns:p14="http://schemas.microsoft.com/office/powerpoint/2010/main" val="66129924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6F91-1C01-2377-14DD-FF7DF9A443BE}"/>
              </a:ext>
            </a:extLst>
          </p:cNvPr>
          <p:cNvSpPr>
            <a:spLocks noGrp="1"/>
          </p:cNvSpPr>
          <p:nvPr>
            <p:ph type="title"/>
          </p:nvPr>
        </p:nvSpPr>
        <p:spPr/>
        <p:txBody>
          <a:bodyPr>
            <a:noAutofit/>
          </a:bodyPr>
          <a:lstStyle/>
          <a:p>
            <a:r>
              <a:rPr lang="en-US" sz="2800" dirty="0"/>
              <a:t>Prompt Engineering Best Practices</a:t>
            </a:r>
          </a:p>
        </p:txBody>
      </p:sp>
      <p:sp>
        <p:nvSpPr>
          <p:cNvPr id="3" name="Content Placeholder 2">
            <a:extLst>
              <a:ext uri="{FF2B5EF4-FFF2-40B4-BE49-F238E27FC236}">
                <a16:creationId xmlns:a16="http://schemas.microsoft.com/office/drawing/2014/main" id="{ED15D6A4-70C4-D550-5AFB-6FB4F9109022}"/>
              </a:ext>
            </a:extLst>
          </p:cNvPr>
          <p:cNvSpPr>
            <a:spLocks noGrp="1"/>
          </p:cNvSpPr>
          <p:nvPr>
            <p:ph idx="1"/>
          </p:nvPr>
        </p:nvSpPr>
        <p:spPr/>
        <p:txBody>
          <a:bodyPr/>
          <a:lstStyle/>
          <a:p>
            <a:r>
              <a:rPr lang="en-US" dirty="0"/>
              <a:t>Be explicit about goals, constraints, and success criteria</a:t>
            </a:r>
          </a:p>
          <a:p>
            <a:r>
              <a:rPr lang="en-US" dirty="0"/>
              <a:t>Provide examples of the desired pattern or style</a:t>
            </a:r>
          </a:p>
          <a:p>
            <a:r>
              <a:rPr lang="en-US" dirty="0"/>
              <a:t>Break large tasks into smaller, testable steps</a:t>
            </a:r>
          </a:p>
          <a:p>
            <a:r>
              <a:rPr lang="en-US" dirty="0"/>
              <a:t>Use instruction files for stable rules and architectural boundaries</a:t>
            </a:r>
          </a:p>
          <a:p>
            <a:r>
              <a:rPr lang="en-US" dirty="0"/>
              <a:t>Ask Copilot to explain its reasoning when correctness matters</a:t>
            </a:r>
          </a:p>
          <a:p>
            <a:endParaRPr lang="en-US" dirty="0"/>
          </a:p>
        </p:txBody>
      </p:sp>
    </p:spTree>
    <p:extLst>
      <p:ext uri="{BB962C8B-B14F-4D97-AF65-F5344CB8AC3E}">
        <p14:creationId xmlns:p14="http://schemas.microsoft.com/office/powerpoint/2010/main" val="85955394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4096-2A97-941F-E45C-666C132D7580}"/>
              </a:ext>
            </a:extLst>
          </p:cNvPr>
          <p:cNvSpPr>
            <a:spLocks noGrp="1"/>
          </p:cNvSpPr>
          <p:nvPr>
            <p:ph type="title"/>
          </p:nvPr>
        </p:nvSpPr>
        <p:spPr/>
        <p:txBody>
          <a:bodyPr>
            <a:normAutofit fontScale="90000"/>
          </a:bodyPr>
          <a:lstStyle/>
          <a:p>
            <a:r>
              <a:rPr lang="en-US" dirty="0"/>
              <a:t>Model Selection Strategies</a:t>
            </a:r>
          </a:p>
        </p:txBody>
      </p:sp>
      <p:sp>
        <p:nvSpPr>
          <p:cNvPr id="3" name="Content Placeholder 2">
            <a:extLst>
              <a:ext uri="{FF2B5EF4-FFF2-40B4-BE49-F238E27FC236}">
                <a16:creationId xmlns:a16="http://schemas.microsoft.com/office/drawing/2014/main" id="{B8F36928-B8A1-0B7B-A278-7A9C114D9BEC}"/>
              </a:ext>
            </a:extLst>
          </p:cNvPr>
          <p:cNvSpPr>
            <a:spLocks noGrp="1"/>
          </p:cNvSpPr>
          <p:nvPr>
            <p:ph idx="1"/>
          </p:nvPr>
        </p:nvSpPr>
        <p:spPr/>
        <p:txBody>
          <a:bodyPr>
            <a:normAutofit fontScale="92500" lnSpcReduction="20000"/>
          </a:bodyPr>
          <a:lstStyle/>
          <a:p>
            <a:r>
              <a:rPr lang="en-US" dirty="0"/>
              <a:t>Different models excel at different tasks</a:t>
            </a:r>
          </a:p>
          <a:p>
            <a:r>
              <a:rPr lang="en-US" dirty="0"/>
              <a:t>High‑end models (e.g., GPT‑4o, Claude Sonnet) are best for:</a:t>
            </a:r>
          </a:p>
          <a:p>
            <a:pPr lvl="1"/>
            <a:r>
              <a:rPr lang="en-US" dirty="0"/>
              <a:t>Architecture</a:t>
            </a:r>
          </a:p>
          <a:p>
            <a:pPr lvl="1"/>
            <a:r>
              <a:rPr lang="en-US" dirty="0"/>
              <a:t>Refactoring</a:t>
            </a:r>
          </a:p>
          <a:p>
            <a:pPr lvl="1"/>
            <a:r>
              <a:rPr lang="en-US" dirty="0"/>
              <a:t>Complex reasoning</a:t>
            </a:r>
          </a:p>
          <a:p>
            <a:pPr lvl="1"/>
            <a:r>
              <a:rPr lang="en-US" dirty="0"/>
              <a:t>Multi‑file changes</a:t>
            </a:r>
          </a:p>
          <a:p>
            <a:r>
              <a:rPr lang="en-US" dirty="0"/>
              <a:t>Lightweight models are ideal for:</a:t>
            </a:r>
          </a:p>
          <a:p>
            <a:pPr lvl="1"/>
            <a:r>
              <a:rPr lang="en-US" dirty="0"/>
              <a:t>Boilerplate</a:t>
            </a:r>
          </a:p>
          <a:p>
            <a:pPr lvl="1"/>
            <a:r>
              <a:rPr lang="en-US" dirty="0"/>
              <a:t>Repetitive tasks</a:t>
            </a:r>
          </a:p>
          <a:p>
            <a:pPr lvl="1"/>
            <a:r>
              <a:rPr lang="en-US" dirty="0"/>
              <a:t>Quick iterations</a:t>
            </a:r>
          </a:p>
          <a:p>
            <a:r>
              <a:rPr lang="en-US" dirty="0"/>
              <a:t>Match the model to the task, not the other way around</a:t>
            </a:r>
          </a:p>
          <a:p>
            <a:endParaRPr lang="en-US" dirty="0"/>
          </a:p>
        </p:txBody>
      </p:sp>
    </p:spTree>
    <p:extLst>
      <p:ext uri="{BB962C8B-B14F-4D97-AF65-F5344CB8AC3E}">
        <p14:creationId xmlns:p14="http://schemas.microsoft.com/office/powerpoint/2010/main" val="142226356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BED9-35A1-2DDD-2055-3A572979D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8580-B639-191C-53B6-ED74B497C323}"/>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94D1221-21EE-A548-AB62-934DC00116CE}"/>
              </a:ext>
            </a:extLst>
          </p:cNvPr>
          <p:cNvGraphicFramePr>
            <a:graphicFrameLocks noGrp="1"/>
          </p:cNvGraphicFramePr>
          <p:nvPr>
            <p:ph idx="1"/>
            <p:extLst>
              <p:ext uri="{D42A27DB-BD31-4B8C-83A1-F6EECF244321}">
                <p14:modId xmlns:p14="http://schemas.microsoft.com/office/powerpoint/2010/main" val="184073253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01635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Advanced Context Techniques</a:t>
            </a:r>
          </a:p>
        </p:txBody>
      </p:sp>
      <p:sp>
        <p:nvSpPr>
          <p:cNvPr id="3" name="Content Placeholder 2"/>
          <p:cNvSpPr>
            <a:spLocks noGrp="1"/>
          </p:cNvSpPr>
          <p:nvPr>
            <p:ph idx="1"/>
          </p:nvPr>
        </p:nvSpPr>
        <p:spPr/>
        <p:txBody>
          <a:bodyPr/>
          <a:lstStyle/>
          <a:p>
            <a:pPr lvl="0"/>
            <a:r>
              <a:t>Modern AI tools rely heavily on context quality</a:t>
            </a:r>
          </a:p>
          <a:p>
            <a:pPr lvl="0"/>
            <a:r>
              <a:t>Developers can shape context intentionally</a:t>
            </a:r>
          </a:p>
          <a:p>
            <a:pPr lvl="0"/>
            <a:r>
              <a:t>Reduces hallucinations, drift, and rework</a:t>
            </a:r>
          </a:p>
          <a:p>
            <a:pPr lvl="0"/>
            <a:r>
              <a:t>Strong context discipline is a core AI‑era skill</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File &amp; Folder Mentions (</a:t>
            </a:r>
            <a:r>
              <a:rPr b="1">
                <a:latin typeface="Courier"/>
              </a:rPr>
              <a:t>#</a:t>
            </a:r>
            <a:r>
              <a:rPr b="1"/>
              <a:t> Syntax)</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How it helps</a:t>
            </a:r>
          </a:p>
          <a:p>
            <a:pPr lvl="0"/>
            <a:r>
              <a:t>Explicitly pull files into context</a:t>
            </a:r>
          </a:p>
          <a:p>
            <a:pPr lvl="0"/>
            <a:r>
              <a:t>Ensures the model references real code, not guesses</a:t>
            </a:r>
          </a:p>
          <a:p>
            <a:pPr lvl="0"/>
            <a:r>
              <a:t>Supports cross‑file refactoring and API consistency</a:t>
            </a:r>
          </a:p>
          <a:p>
            <a:pPr lvl="0"/>
            <a:r>
              <a:t>Reduces drift in large repos</a:t>
            </a:r>
          </a:p>
          <a:p>
            <a:pPr marL="0" lvl="0" indent="0">
              <a:spcBef>
                <a:spcPts val="3000"/>
              </a:spcBef>
              <a:buNone/>
            </a:pPr>
            <a:r>
              <a:rPr b="1"/>
              <a:t>Examples</a:t>
            </a:r>
          </a:p>
          <a:p>
            <a:pPr lvl="0"/>
            <a:r>
              <a:rPr>
                <a:latin typeface="Courier"/>
              </a:rPr>
              <a:t>#src/utils/date.ts</a:t>
            </a:r>
          </a:p>
          <a:p>
            <a:pPr lvl="0"/>
            <a:r>
              <a:rPr>
                <a:latin typeface="Courier"/>
              </a:rPr>
              <a:t>#services/</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Spaces &amp; Knowledge Bases Integration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they matter</a:t>
            </a:r>
          </a:p>
          <a:p>
            <a:pPr lvl="0"/>
            <a:r>
              <a:t>Persistent, structured context containers</a:t>
            </a:r>
          </a:p>
          <a:p>
            <a:pPr lvl="0"/>
            <a:r>
              <a:t>Store architectural rules, domain models, coding standards</a:t>
            </a:r>
          </a:p>
          <a:p>
            <a:pPr lvl="0"/>
            <a:r>
              <a:t>Provide long‑term memory beyond a single prompt</a:t>
            </a:r>
          </a:p>
          <a:p>
            <a:pPr lvl="0"/>
            <a:r>
              <a:t>Ideal for instruction files and evergreen boundaries</a:t>
            </a:r>
          </a:p>
          <a:p>
            <a:pPr marL="0" lvl="0" indent="0">
              <a:spcBef>
                <a:spcPts val="3000"/>
              </a:spcBef>
              <a:buNone/>
            </a:pPr>
            <a:r>
              <a:rPr b="1"/>
              <a:t>Use cases</a:t>
            </a:r>
          </a:p>
          <a:p>
            <a:pPr lvl="0"/>
            <a:r>
              <a:t>Architecture constraints</a:t>
            </a:r>
          </a:p>
          <a:p>
            <a:pPr lvl="0"/>
            <a:r>
              <a:t>Domain terminology</a:t>
            </a:r>
          </a:p>
          <a:p>
            <a:pPr lvl="0"/>
            <a:r>
              <a:t>API contracts</a:t>
            </a:r>
          </a:p>
          <a:p>
            <a:pPr lvl="0"/>
            <a:r>
              <a:t>Coding conventions</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Premium Usage Monitoring</a:t>
            </a:r>
          </a:p>
        </p:txBody>
      </p:sp>
      <p:sp>
        <p:nvSpPr>
          <p:cNvPr id="3" name="Content Placeholder 2"/>
          <p:cNvSpPr>
            <a:spLocks noGrp="1"/>
          </p:cNvSpPr>
          <p:nvPr>
            <p:ph idx="1"/>
          </p:nvPr>
        </p:nvSpPr>
        <p:spPr/>
        <p:txBody>
          <a:bodyPr/>
          <a:lstStyle/>
          <a:p>
            <a:pPr lvl="0"/>
            <a:r>
              <a:rPr dirty="0"/>
              <a:t>High‑end models = high reasoning cost</a:t>
            </a:r>
          </a:p>
          <a:p>
            <a:pPr lvl="0"/>
            <a:r>
              <a:rPr dirty="0"/>
              <a:t>Monitor usage patterns to avoid unnecessary calls</a:t>
            </a:r>
          </a:p>
          <a:p>
            <a:pPr lvl="0"/>
            <a:r>
              <a:rPr dirty="0"/>
              <a:t>Use a tiered strategy:</a:t>
            </a:r>
          </a:p>
          <a:p>
            <a:pPr lvl="1"/>
            <a:r>
              <a:rPr dirty="0"/>
              <a:t>Premium for architecture &amp; refactoring</a:t>
            </a:r>
          </a:p>
          <a:p>
            <a:pPr lvl="1"/>
            <a:r>
              <a:rPr dirty="0"/>
              <a:t>Mid‑tier for implementation</a:t>
            </a:r>
          </a:p>
          <a:p>
            <a:pPr lvl="1"/>
            <a:r>
              <a:rPr dirty="0"/>
              <a:t>Lightweight for boilerplate</a:t>
            </a:r>
          </a:p>
          <a:p>
            <a:pPr lvl="0"/>
            <a:r>
              <a:rPr dirty="0"/>
              <a:t>Optimize prompts to reduce token </a:t>
            </a:r>
            <a:r>
              <a:rPr lang="en-US" dirty="0"/>
              <a:t>consumption</a:t>
            </a:r>
            <a:endParaRPr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Token Estimation &amp; Overflow Detection</a:t>
            </a:r>
          </a:p>
        </p:txBody>
      </p:sp>
      <p:sp>
        <p:nvSpPr>
          <p:cNvPr id="3" name="Content Placeholder 2"/>
          <p:cNvSpPr>
            <a:spLocks noGrp="1"/>
          </p:cNvSpPr>
          <p:nvPr>
            <p:ph idx="1"/>
          </p:nvPr>
        </p:nvSpPr>
        <p:spPr/>
        <p:txBody>
          <a:bodyPr>
            <a:normAutofit lnSpcReduction="10000"/>
          </a:bodyPr>
          <a:lstStyle/>
          <a:p>
            <a:pPr lvl="0"/>
            <a:r>
              <a:t>Models have strict token limits</a:t>
            </a:r>
          </a:p>
          <a:p>
            <a:pPr lvl="0"/>
            <a:r>
              <a:t>Overflow causes silent failures:</a:t>
            </a:r>
          </a:p>
          <a:p>
            <a:pPr lvl="1"/>
            <a:r>
              <a:t>Missing requirements</a:t>
            </a:r>
          </a:p>
          <a:p>
            <a:pPr lvl="1"/>
            <a:r>
              <a:t>Contradictions</a:t>
            </a:r>
          </a:p>
          <a:p>
            <a:pPr lvl="1"/>
            <a:r>
              <a:t>Forgotten rules</a:t>
            </a:r>
          </a:p>
          <a:p>
            <a:pPr lvl="0"/>
            <a:r>
              <a:t>Techniques to stay within limits:</a:t>
            </a:r>
          </a:p>
          <a:p>
            <a:pPr lvl="1"/>
            <a:r>
              <a:t>Summaries</a:t>
            </a:r>
          </a:p>
          <a:p>
            <a:pPr lvl="1"/>
            <a:r>
              <a:t>Chunking</a:t>
            </a:r>
          </a:p>
          <a:p>
            <a:pPr lvl="1"/>
            <a:r>
              <a:t>Scoped prompts</a:t>
            </a:r>
          </a:p>
          <a:p>
            <a:pPr lvl="1"/>
            <a:r>
              <a:t>Instruction files</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Why Token Limits Matter</a:t>
            </a:r>
          </a:p>
        </p:txBody>
      </p:sp>
      <p:sp>
        <p:nvSpPr>
          <p:cNvPr id="3" name="Content Placeholder 2"/>
          <p:cNvSpPr>
            <a:spLocks noGrp="1"/>
          </p:cNvSpPr>
          <p:nvPr>
            <p:ph idx="1"/>
          </p:nvPr>
        </p:nvSpPr>
        <p:spPr/>
        <p:txBody>
          <a:bodyPr/>
          <a:lstStyle/>
          <a:p>
            <a:pPr lvl="0"/>
            <a:r>
              <a:rPr dirty="0"/>
              <a:t>Every model has a maximum context window</a:t>
            </a:r>
          </a:p>
          <a:p>
            <a:pPr lvl="0"/>
            <a:r>
              <a:rPr dirty="0"/>
              <a:t>Prompts, code, examples, and instructions all consume tokens</a:t>
            </a:r>
          </a:p>
          <a:p>
            <a:pPr lvl="0"/>
            <a:r>
              <a:rPr dirty="0"/>
              <a:t>Exceeding the limit forces the model to discard earlier content</a:t>
            </a:r>
          </a:p>
          <a:p>
            <a:pPr lvl="0"/>
            <a:r>
              <a:rPr dirty="0"/>
              <a:t>The model never alerts you when this happens</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Silent Failure Modes</a:t>
            </a:r>
          </a:p>
        </p:txBody>
      </p:sp>
      <p:sp>
        <p:nvSpPr>
          <p:cNvPr id="3" name="Content Placeholder 2"/>
          <p:cNvSpPr>
            <a:spLocks noGrp="1"/>
          </p:cNvSpPr>
          <p:nvPr>
            <p:ph idx="1"/>
          </p:nvPr>
        </p:nvSpPr>
        <p:spPr/>
        <p:txBody>
          <a:bodyPr/>
          <a:lstStyle/>
          <a:p>
            <a:pPr marL="0" lvl="0" indent="0">
              <a:spcBef>
                <a:spcPts val="3000"/>
              </a:spcBef>
              <a:buNone/>
            </a:pPr>
            <a:r>
              <a:rPr b="1"/>
              <a:t>What Overflow Looks Like</a:t>
            </a:r>
          </a:p>
          <a:p>
            <a:pPr lvl="0"/>
            <a:r>
              <a:t>Missing requirements</a:t>
            </a:r>
          </a:p>
          <a:p>
            <a:pPr lvl="0"/>
            <a:r>
              <a:t>Contradictions</a:t>
            </a:r>
          </a:p>
          <a:p>
            <a:pPr lvl="0"/>
            <a:r>
              <a:t>Forgotten rules</a:t>
            </a:r>
          </a:p>
          <a:p>
            <a:pPr lvl="0"/>
            <a:r>
              <a:t>Inconsistent reasoning</a:t>
            </a:r>
          </a:p>
          <a:p>
            <a:pPr lvl="0"/>
            <a:r>
              <a:t>Loss of architectural constraints</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Summaries</a:t>
            </a:r>
          </a:p>
        </p:txBody>
      </p:sp>
      <p:sp>
        <p:nvSpPr>
          <p:cNvPr id="3" name="Content Placeholder 2"/>
          <p:cNvSpPr>
            <a:spLocks noGrp="1"/>
          </p:cNvSpPr>
          <p:nvPr>
            <p:ph idx="1"/>
          </p:nvPr>
        </p:nvSpPr>
        <p:spPr/>
        <p:txBody>
          <a:bodyPr/>
          <a:lstStyle/>
          <a:p>
            <a:pPr marL="0" lvl="0" indent="0">
              <a:spcBef>
                <a:spcPts val="3000"/>
              </a:spcBef>
              <a:buNone/>
            </a:pPr>
            <a:r>
              <a:rPr b="1"/>
              <a:t>How Summaries Help</a:t>
            </a:r>
          </a:p>
          <a:p>
            <a:pPr lvl="0"/>
            <a:r>
              <a:t>Compress large files into short, high‑signal descriptions</a:t>
            </a:r>
          </a:p>
          <a:p>
            <a:pPr lvl="0"/>
            <a:r>
              <a:t>Preserve intent without overwhelming the context window</a:t>
            </a:r>
          </a:p>
          <a:p>
            <a:pPr lvl="0"/>
            <a:r>
              <a:t>Reuse summaries across prompts</a:t>
            </a:r>
          </a:p>
          <a:p>
            <a:pPr lvl="0"/>
            <a:r>
              <a:t>Reduce noise and improve model alignment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Chunking</a:t>
            </a:r>
          </a:p>
        </p:txBody>
      </p:sp>
      <p:sp>
        <p:nvSpPr>
          <p:cNvPr id="3" name="Content Placeholder 2"/>
          <p:cNvSpPr>
            <a:spLocks noGrp="1"/>
          </p:cNvSpPr>
          <p:nvPr>
            <p:ph idx="1"/>
          </p:nvPr>
        </p:nvSpPr>
        <p:spPr/>
        <p:txBody>
          <a:bodyPr/>
          <a:lstStyle/>
          <a:p>
            <a:pPr marL="0" lvl="0" indent="0">
              <a:spcBef>
                <a:spcPts val="3000"/>
              </a:spcBef>
              <a:buNone/>
            </a:pPr>
            <a:r>
              <a:rPr b="1"/>
              <a:t>How Chunking Works</a:t>
            </a:r>
          </a:p>
          <a:p>
            <a:pPr lvl="0"/>
            <a:r>
              <a:t>Break large tasks into smaller, self‑contained steps</a:t>
            </a:r>
          </a:p>
          <a:p>
            <a:pPr lvl="0"/>
            <a:r>
              <a:t>Provide only the relevant portion of the code</a:t>
            </a:r>
          </a:p>
          <a:p>
            <a:pPr lvl="0"/>
            <a:r>
              <a:t>Validate each chunk before moving on</a:t>
            </a:r>
          </a:p>
          <a:p>
            <a:pPr lvl="0"/>
            <a:r>
              <a:t>Prevents the model from being overloaded</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Scoped Prompts</a:t>
            </a:r>
          </a:p>
        </p:txBody>
      </p:sp>
      <p:sp>
        <p:nvSpPr>
          <p:cNvPr id="3" name="Content Placeholder 2"/>
          <p:cNvSpPr>
            <a:spLocks noGrp="1"/>
          </p:cNvSpPr>
          <p:nvPr>
            <p:ph idx="1"/>
          </p:nvPr>
        </p:nvSpPr>
        <p:spPr/>
        <p:txBody>
          <a:bodyPr/>
          <a:lstStyle/>
          <a:p>
            <a:pPr marL="0" lvl="0" indent="0">
              <a:spcBef>
                <a:spcPts val="3000"/>
              </a:spcBef>
              <a:buNone/>
            </a:pPr>
            <a:r>
              <a:rPr b="1"/>
              <a:t>Benefits</a:t>
            </a:r>
          </a:p>
          <a:p>
            <a:pPr lvl="0"/>
            <a:r>
              <a:t>Limit the model’s focus to a single module or function</a:t>
            </a:r>
          </a:p>
          <a:p>
            <a:pPr lvl="0"/>
            <a:r>
              <a:t>Reduce irrelevant context</a:t>
            </a:r>
          </a:p>
          <a:p>
            <a:pPr lvl="0"/>
            <a:r>
              <a:t>Improve accuracy and reduce hallucinations</a:t>
            </a:r>
          </a:p>
          <a:p>
            <a:pPr lvl="0"/>
            <a:r>
              <a:t>Keep token usage predictable</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Technique: Instruction Files</a:t>
            </a:r>
          </a:p>
        </p:txBody>
      </p:sp>
      <p:sp>
        <p:nvSpPr>
          <p:cNvPr id="3" name="Content Placeholder 2"/>
          <p:cNvSpPr>
            <a:spLocks noGrp="1"/>
          </p:cNvSpPr>
          <p:nvPr>
            <p:ph idx="1"/>
          </p:nvPr>
        </p:nvSpPr>
        <p:spPr/>
        <p:txBody>
          <a:bodyPr/>
          <a:lstStyle/>
          <a:p>
            <a:pPr marL="0" lvl="0" indent="0">
              <a:spcBef>
                <a:spcPts val="3000"/>
              </a:spcBef>
              <a:buNone/>
            </a:pPr>
            <a:r>
              <a:rPr b="1"/>
              <a:t>Why They Matter</a:t>
            </a:r>
          </a:p>
          <a:p>
            <a:pPr lvl="0"/>
            <a:r>
              <a:t>Move stable rules out of the active prompt</a:t>
            </a:r>
          </a:p>
          <a:p>
            <a:pPr lvl="0"/>
            <a:r>
              <a:t>Provide persistent architectural and style guidance</a:t>
            </a:r>
          </a:p>
          <a:p>
            <a:pPr lvl="0"/>
            <a:r>
              <a:t>Reduce repeated tokens across sessions</a:t>
            </a:r>
          </a:p>
          <a:p>
            <a:pPr lvl="0"/>
            <a:r>
              <a:t>Keep prompts short and high‑signal</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F6BC5-57A1-D2BB-FF74-81D216584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0EA6D-DE4D-6289-563A-7503D0E21CD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C680BE3-7A9A-BC22-1ADF-DAB35134D56E}"/>
              </a:ext>
            </a:extLst>
          </p:cNvPr>
          <p:cNvGraphicFramePr>
            <a:graphicFrameLocks noGrp="1"/>
          </p:cNvGraphicFramePr>
          <p:nvPr>
            <p:ph idx="1"/>
            <p:extLst>
              <p:ext uri="{D42A27DB-BD31-4B8C-83A1-F6EECF244321}">
                <p14:modId xmlns:p14="http://schemas.microsoft.com/office/powerpoint/2010/main" val="51674585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131848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Adding AI Guardrails</a:t>
            </a:r>
          </a:p>
        </p:txBody>
      </p:sp>
      <p:sp>
        <p:nvSpPr>
          <p:cNvPr id="3" name="Content Placeholder 2"/>
          <p:cNvSpPr>
            <a:spLocks noGrp="1"/>
          </p:cNvSpPr>
          <p:nvPr>
            <p:ph idx="1"/>
          </p:nvPr>
        </p:nvSpPr>
        <p:spPr/>
        <p:txBody>
          <a:bodyPr/>
          <a:lstStyle/>
          <a:p>
            <a:pPr lvl="0"/>
            <a:r>
              <a:rPr dirty="0"/>
              <a:t>What are instructions, prompts, and </a:t>
            </a:r>
            <a:r>
              <a:rPr lang="en-US" dirty="0"/>
              <a:t>Agents</a:t>
            </a:r>
            <a:endParaRPr dirty="0"/>
          </a:p>
          <a:p>
            <a:pPr lvl="0"/>
            <a:r>
              <a:rPr dirty="0"/>
              <a:t>Creating instruction, prompt, and </a:t>
            </a:r>
            <a:r>
              <a:rPr lang="en-US" dirty="0"/>
              <a:t>Agent</a:t>
            </a:r>
            <a:r>
              <a:rPr dirty="0"/>
              <a:t> files</a:t>
            </a:r>
          </a:p>
          <a:p>
            <a:pPr lvl="0"/>
            <a:r>
              <a:rPr dirty="0"/>
              <a:t>Meta prompts that generate these files</a:t>
            </a:r>
          </a:p>
          <a:p>
            <a:pPr lvl="0"/>
            <a:r>
              <a:rPr dirty="0"/>
              <a:t>Instructions for generating artifacts</a:t>
            </a:r>
          </a:p>
          <a:p>
            <a:pPr lvl="0"/>
            <a:r>
              <a:rPr dirty="0"/>
              <a:t>Enforcing provenance for AI‑assisted artifacts</a:t>
            </a: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Prompts &amp; </a:t>
            </a:r>
            <a:r>
              <a:rPr lang="en-US" sz="2800" b="1" dirty="0"/>
              <a:t>Agents</a:t>
            </a:r>
            <a:endParaRPr sz="2800" b="1" dirty="0"/>
          </a:p>
        </p:txBody>
      </p:sp>
      <p:sp>
        <p:nvSpPr>
          <p:cNvPr id="3" name="Content Placeholder 2"/>
          <p:cNvSpPr>
            <a:spLocks noGrp="1"/>
          </p:cNvSpPr>
          <p:nvPr>
            <p:ph idx="1"/>
          </p:nvPr>
        </p:nvSpPr>
        <p:spPr/>
        <p:txBody>
          <a:bodyPr/>
          <a:lstStyle/>
          <a:p>
            <a:pPr marL="0" lvl="0" indent="0">
              <a:spcBef>
                <a:spcPts val="3000"/>
              </a:spcBef>
              <a:buNone/>
            </a:pPr>
            <a:r>
              <a:rPr b="1" dirty="0"/>
              <a:t>Definitions</a:t>
            </a:r>
          </a:p>
          <a:p>
            <a:pPr lvl="0"/>
            <a:r>
              <a:rPr b="1" dirty="0"/>
              <a:t>Instructions</a:t>
            </a:r>
            <a:r>
              <a:rPr dirty="0"/>
              <a:t> </a:t>
            </a:r>
            <a:r>
              <a:rPr lang="en-US" dirty="0"/>
              <a:t>–</a:t>
            </a:r>
            <a:r>
              <a:rPr dirty="0"/>
              <a:t> Persistent rules that guide the model’s behavior</a:t>
            </a:r>
          </a:p>
          <a:p>
            <a:pPr lvl="0"/>
            <a:r>
              <a:rPr b="1" dirty="0"/>
              <a:t>Prompts</a:t>
            </a:r>
            <a:r>
              <a:rPr dirty="0"/>
              <a:t> </a:t>
            </a:r>
            <a:r>
              <a:rPr lang="en-US" dirty="0"/>
              <a:t>–</a:t>
            </a:r>
            <a:r>
              <a:rPr dirty="0"/>
              <a:t> Task‑specific requests defining intent and constraints</a:t>
            </a:r>
          </a:p>
          <a:p>
            <a:pPr lvl="0"/>
            <a:r>
              <a:rPr lang="en-US" b="1" dirty="0"/>
              <a:t>Agents</a:t>
            </a:r>
            <a:r>
              <a:rPr dirty="0"/>
              <a:t> </a:t>
            </a:r>
            <a:r>
              <a:rPr lang="en-US" dirty="0"/>
              <a:t>–</a:t>
            </a:r>
            <a:r>
              <a:rPr dirty="0"/>
              <a:t> Pre‑configured personas optimized for workflows</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Creating Instruction, Prompt &amp; </a:t>
            </a:r>
            <a:r>
              <a:rPr lang="en-US" b="1" dirty="0"/>
              <a:t>Agent</a:t>
            </a:r>
            <a:r>
              <a:rPr b="1" dirty="0"/>
              <a:t> Files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dirty="0"/>
              <a:t>Why create files?</a:t>
            </a:r>
          </a:p>
          <a:p>
            <a:pPr lvl="0"/>
            <a:r>
              <a:rPr dirty="0"/>
              <a:t>Ensures repeatability</a:t>
            </a:r>
          </a:p>
          <a:p>
            <a:pPr lvl="0"/>
            <a:r>
              <a:rPr dirty="0"/>
              <a:t>Reduces token usage</a:t>
            </a:r>
          </a:p>
          <a:p>
            <a:pPr lvl="0"/>
            <a:r>
              <a:rPr dirty="0"/>
              <a:t>Provides version‑controlled guardrails</a:t>
            </a:r>
          </a:p>
          <a:p>
            <a:pPr lvl="0"/>
            <a:r>
              <a:rPr dirty="0"/>
              <a:t>Enables team‑wide consistency</a:t>
            </a:r>
          </a:p>
          <a:p>
            <a:pPr marL="0" lvl="0" indent="0">
              <a:spcBef>
                <a:spcPts val="3000"/>
              </a:spcBef>
              <a:buNone/>
            </a:pPr>
            <a:r>
              <a:rPr b="1" dirty="0"/>
              <a:t>File types</a:t>
            </a:r>
          </a:p>
          <a:p>
            <a:pPr lvl="0"/>
            <a:r>
              <a:rPr lang="en-US" dirty="0">
                <a:latin typeface="Courier"/>
              </a:rPr>
              <a:t>.</a:t>
            </a:r>
            <a:r>
              <a:rPr lang="en-US" dirty="0" err="1">
                <a:latin typeface="Courier"/>
              </a:rPr>
              <a:t>github</a:t>
            </a:r>
            <a:r>
              <a:rPr lang="en-US" dirty="0">
                <a:latin typeface="Courier"/>
              </a:rPr>
              <a:t>/instructions/myinstructions.</a:t>
            </a:r>
            <a:r>
              <a:rPr dirty="0">
                <a:latin typeface="Courier"/>
              </a:rPr>
              <a:t>instructions.md</a:t>
            </a:r>
          </a:p>
          <a:p>
            <a:pPr lvl="0"/>
            <a:r>
              <a:rPr lang="en-US" dirty="0">
                <a:latin typeface="Courier"/>
              </a:rPr>
              <a:t>.</a:t>
            </a:r>
            <a:r>
              <a:rPr lang="en-US" dirty="0" err="1">
                <a:latin typeface="Courier"/>
              </a:rPr>
              <a:t>github</a:t>
            </a:r>
            <a:r>
              <a:rPr lang="en-US" dirty="0">
                <a:latin typeface="Courier"/>
              </a:rPr>
              <a:t>/prompts/myprompt.</a:t>
            </a:r>
            <a:r>
              <a:rPr dirty="0">
                <a:latin typeface="Courier"/>
              </a:rPr>
              <a:t>prompt.md</a:t>
            </a:r>
          </a:p>
          <a:p>
            <a:pPr lvl="0"/>
            <a:r>
              <a:rPr lang="en-US" dirty="0">
                <a:latin typeface="Courier"/>
              </a:rPr>
              <a:t>.</a:t>
            </a:r>
            <a:r>
              <a:rPr lang="en-US" dirty="0" err="1">
                <a:latin typeface="Courier"/>
              </a:rPr>
              <a:t>github</a:t>
            </a:r>
            <a:r>
              <a:rPr lang="en-US" dirty="0">
                <a:latin typeface="Courier"/>
              </a:rPr>
              <a:t>/chatmodes/mychatmode.</a:t>
            </a:r>
            <a:r>
              <a:rPr dirty="0">
                <a:latin typeface="Courier"/>
              </a:rPr>
              <a:t>chatmode.md</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Meta Prompts</a:t>
            </a:r>
          </a:p>
        </p:txBody>
      </p:sp>
      <p:sp>
        <p:nvSpPr>
          <p:cNvPr id="3" name="Content Placeholder 2"/>
          <p:cNvSpPr>
            <a:spLocks noGrp="1"/>
          </p:cNvSpPr>
          <p:nvPr>
            <p:ph idx="1"/>
          </p:nvPr>
        </p:nvSpPr>
        <p:spPr/>
        <p:txBody>
          <a:bodyPr/>
          <a:lstStyle/>
          <a:p>
            <a:pPr marL="0" lvl="0" indent="0">
              <a:spcBef>
                <a:spcPts val="3000"/>
              </a:spcBef>
              <a:buNone/>
            </a:pPr>
            <a:r>
              <a:rPr b="1" dirty="0"/>
              <a:t>Meta prompts </a:t>
            </a:r>
            <a:r>
              <a:rPr lang="en-US" b="1" dirty="0"/>
              <a:t>guide</a:t>
            </a:r>
            <a:r>
              <a:rPr b="1" dirty="0"/>
              <a:t>:</a:t>
            </a:r>
          </a:p>
          <a:p>
            <a:pPr lvl="0"/>
            <a:r>
              <a:rPr lang="en-US" dirty="0"/>
              <a:t>C</a:t>
            </a:r>
            <a:r>
              <a:rPr dirty="0"/>
              <a:t>reation of instruction files</a:t>
            </a:r>
          </a:p>
          <a:p>
            <a:pPr lvl="0"/>
            <a:r>
              <a:rPr lang="en-US" dirty="0"/>
              <a:t>G</a:t>
            </a:r>
            <a:r>
              <a:rPr dirty="0"/>
              <a:t>eneration of reusable prompts</a:t>
            </a:r>
          </a:p>
          <a:p>
            <a:pPr lvl="0"/>
            <a:r>
              <a:rPr lang="en-US" dirty="0"/>
              <a:t>C</a:t>
            </a:r>
            <a:r>
              <a:rPr dirty="0"/>
              <a:t>onstruction of </a:t>
            </a:r>
            <a:r>
              <a:rPr lang="en-US" dirty="0"/>
              <a:t>Agents</a:t>
            </a:r>
            <a:endParaRPr dirty="0"/>
          </a:p>
          <a:p>
            <a:pPr lvl="0"/>
            <a:r>
              <a:rPr lang="en-US" dirty="0"/>
              <a:t>Provide c</a:t>
            </a:r>
            <a:r>
              <a:rPr dirty="0"/>
              <a:t>onsistent formatting</a:t>
            </a:r>
            <a:r>
              <a:rPr lang="en-US" dirty="0"/>
              <a:t>,</a:t>
            </a:r>
            <a:r>
              <a:rPr dirty="0"/>
              <a:t> structure</a:t>
            </a:r>
            <a:r>
              <a:rPr lang="en-US" dirty="0"/>
              <a:t>, content</a:t>
            </a:r>
            <a:endParaRPr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Instructions for Generating Artifacts</a:t>
            </a:r>
          </a:p>
        </p:txBody>
      </p:sp>
      <p:sp>
        <p:nvSpPr>
          <p:cNvPr id="3" name="Content Placeholder 2"/>
          <p:cNvSpPr>
            <a:spLocks noGrp="1"/>
          </p:cNvSpPr>
          <p:nvPr>
            <p:ph idx="1"/>
          </p:nvPr>
        </p:nvSpPr>
        <p:spPr/>
        <p:txBody>
          <a:bodyPr/>
          <a:lstStyle/>
          <a:p>
            <a:pPr marL="0" lvl="0" indent="0">
              <a:spcBef>
                <a:spcPts val="3000"/>
              </a:spcBef>
              <a:buNone/>
            </a:pPr>
            <a:r>
              <a:rPr b="1" dirty="0"/>
              <a:t>Best practices</a:t>
            </a:r>
          </a:p>
          <a:p>
            <a:pPr lvl="0"/>
            <a:r>
              <a:rPr dirty="0"/>
              <a:t>Define the artifact type</a:t>
            </a:r>
          </a:p>
          <a:p>
            <a:pPr lvl="0"/>
            <a:r>
              <a:rPr dirty="0"/>
              <a:t>Specify required sections</a:t>
            </a:r>
          </a:p>
          <a:p>
            <a:pPr lvl="0"/>
            <a:r>
              <a:rPr dirty="0"/>
              <a:t>Provide examples or templates</a:t>
            </a:r>
          </a:p>
          <a:p>
            <a:pPr lvl="0"/>
            <a:r>
              <a:rPr dirty="0"/>
              <a:t>Include acceptance criteria</a:t>
            </a:r>
          </a:p>
          <a:p>
            <a:pPr lvl="0"/>
            <a:r>
              <a:rPr dirty="0"/>
              <a:t>Require the model to restate constraints</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Enforcing Provenance for AI Artifacts</a:t>
            </a:r>
          </a:p>
        </p:txBody>
      </p:sp>
      <p:sp>
        <p:nvSpPr>
          <p:cNvPr id="3" name="Content Placeholder 2"/>
          <p:cNvSpPr>
            <a:spLocks noGrp="1"/>
          </p:cNvSpPr>
          <p:nvPr>
            <p:ph idx="1"/>
          </p:nvPr>
        </p:nvSpPr>
        <p:spPr/>
        <p:txBody>
          <a:bodyPr/>
          <a:lstStyle/>
          <a:p>
            <a:pPr marL="0" lvl="0" indent="0">
              <a:spcBef>
                <a:spcPts val="3000"/>
              </a:spcBef>
              <a:buNone/>
            </a:pPr>
            <a:r>
              <a:rPr b="1" dirty="0"/>
              <a:t>Provenance requirements</a:t>
            </a:r>
          </a:p>
          <a:p>
            <a:pPr lvl="0"/>
            <a:r>
              <a:rPr dirty="0"/>
              <a:t>Declare:</a:t>
            </a:r>
          </a:p>
          <a:p>
            <a:pPr lvl="1"/>
            <a:r>
              <a:rPr dirty="0"/>
              <a:t>AI involvement</a:t>
            </a:r>
          </a:p>
          <a:p>
            <a:pPr lvl="1"/>
            <a:r>
              <a:rPr dirty="0"/>
              <a:t>Model used</a:t>
            </a:r>
          </a:p>
          <a:p>
            <a:pPr lvl="1"/>
            <a:r>
              <a:rPr dirty="0"/>
              <a:t>Date generated</a:t>
            </a:r>
          </a:p>
          <a:p>
            <a:pPr lvl="1"/>
            <a:r>
              <a:rPr dirty="0"/>
              <a:t>Human reviewer</a:t>
            </a:r>
          </a:p>
          <a:p>
            <a:pPr lvl="0"/>
            <a:r>
              <a:rPr dirty="0"/>
              <a:t>Store provenance in headers</a:t>
            </a:r>
            <a:r>
              <a:rPr lang="en-US" dirty="0"/>
              <a:t>,</a:t>
            </a:r>
            <a:r>
              <a:rPr dirty="0"/>
              <a:t> footers</a:t>
            </a:r>
            <a:r>
              <a:rPr lang="en-US" dirty="0"/>
              <a:t>, or side cars</a:t>
            </a:r>
            <a:endParaRPr dirty="0"/>
          </a:p>
          <a:p>
            <a:pPr lvl="0"/>
            <a:r>
              <a:rPr dirty="0"/>
              <a:t>Track revisions in version control</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b="1" dirty="0"/>
              <a:t>Exercise: Copy </a:t>
            </a:r>
            <a:r>
              <a:rPr lang="en-US" sz="2000" b="1" dirty="0"/>
              <a:t>the Core </a:t>
            </a:r>
            <a:r>
              <a:rPr sz="2000" b="1" dirty="0"/>
              <a:t>Instructions</a:t>
            </a:r>
          </a:p>
        </p:txBody>
      </p:sp>
      <p:sp>
        <p:nvSpPr>
          <p:cNvPr id="3" name="Content Placeholder 2"/>
          <p:cNvSpPr>
            <a:spLocks noGrp="1"/>
          </p:cNvSpPr>
          <p:nvPr>
            <p:ph idx="1"/>
          </p:nvPr>
        </p:nvSpPr>
        <p:spPr/>
        <p:txBody>
          <a:bodyPr numCol="2">
            <a:normAutofit fontScale="55000" lnSpcReduction="20000"/>
          </a:bodyPr>
          <a:lstStyle/>
          <a:p>
            <a:pPr marL="0" lvl="0" indent="0">
              <a:buNone/>
            </a:pPr>
            <a:r>
              <a:rPr b="1" dirty="0"/>
              <a:t>Duration:</a:t>
            </a:r>
            <a:r>
              <a:rPr dirty="0"/>
              <a:t> 10 minutes</a:t>
            </a:r>
            <a:endParaRPr lang="en-US" dirty="0"/>
          </a:p>
          <a:p>
            <a:pPr marL="0" lvl="0" indent="0">
              <a:buNone/>
            </a:pPr>
            <a:endParaRPr dirty="0"/>
          </a:p>
          <a:p>
            <a:pPr marL="0" lvl="0" indent="0">
              <a:buNone/>
            </a:pPr>
            <a:r>
              <a:rPr b="1" dirty="0"/>
              <a:t>Objectives:</a:t>
            </a:r>
            <a:endParaRPr lang="en-US" b="1" dirty="0"/>
          </a:p>
          <a:p>
            <a:r>
              <a:rPr dirty="0"/>
              <a:t> Understand file organization for AI-assisted output policies</a:t>
            </a:r>
            <a:endParaRPr lang="en-US" dirty="0"/>
          </a:p>
          <a:p>
            <a:r>
              <a:rPr dirty="0"/>
              <a:t>Practice copying files between repositories</a:t>
            </a:r>
            <a:endParaRPr lang="en-US" dirty="0"/>
          </a:p>
          <a:p>
            <a:r>
              <a:rPr dirty="0"/>
              <a:t>Ensure compliance with output metadata requirements</a:t>
            </a:r>
            <a:endParaRPr lang="en-US" dirty="0"/>
          </a:p>
          <a:p>
            <a:endParaRPr dirty="0"/>
          </a:p>
          <a:p>
            <a:pPr marL="0" lvl="0" indent="0">
              <a:buNone/>
            </a:pPr>
            <a:r>
              <a:rPr b="1" dirty="0"/>
              <a:t>Activities:</a:t>
            </a:r>
            <a:r>
              <a:rPr dirty="0"/>
              <a:t> </a:t>
            </a:r>
            <a:endParaRPr lang="en-US" dirty="0"/>
          </a:p>
          <a:p>
            <a:pPr marL="0" lvl="0" indent="0">
              <a:buNone/>
            </a:pPr>
            <a:r>
              <a:rPr dirty="0"/>
              <a:t>1. Locate </a:t>
            </a:r>
            <a:r>
              <a:rPr dirty="0">
                <a:latin typeface="Courier"/>
              </a:rPr>
              <a:t>.</a:t>
            </a:r>
            <a:r>
              <a:rPr dirty="0" err="1">
                <a:latin typeface="Courier"/>
              </a:rPr>
              <a:t>github</a:t>
            </a:r>
            <a:r>
              <a:rPr dirty="0">
                <a:latin typeface="Courier"/>
              </a:rPr>
              <a:t>/instructions/ai-assisted-output.instructions.md</a:t>
            </a:r>
            <a:r>
              <a:rPr dirty="0"/>
              <a:t> in the AI-Assisted-Software-Development repository </a:t>
            </a:r>
            <a:endParaRPr lang="en-US" dirty="0"/>
          </a:p>
          <a:p>
            <a:pPr marL="0" lvl="0" indent="0">
              <a:buNone/>
            </a:pPr>
            <a:r>
              <a:rPr dirty="0"/>
              <a:t>2. Copy the file into the </a:t>
            </a:r>
            <a:r>
              <a:rPr dirty="0">
                <a:latin typeface="Courier"/>
              </a:rPr>
              <a:t>.</a:t>
            </a:r>
            <a:r>
              <a:rPr dirty="0" err="1">
                <a:latin typeface="Courier"/>
              </a:rPr>
              <a:t>github</a:t>
            </a:r>
            <a:r>
              <a:rPr dirty="0">
                <a:latin typeface="Courier"/>
              </a:rPr>
              <a:t>/instructions</a:t>
            </a:r>
            <a:r>
              <a:rPr dirty="0"/>
              <a:t> folder of the current repository </a:t>
            </a:r>
            <a:endParaRPr lang="en-US" dirty="0"/>
          </a:p>
          <a:p>
            <a:pPr marL="0" lvl="0" indent="0">
              <a:buNone/>
            </a:pPr>
            <a:r>
              <a:rPr lang="en-US" dirty="0"/>
              <a:t>3. Copy these files as well: </a:t>
            </a:r>
          </a:p>
          <a:p>
            <a:r>
              <a:rPr lang="en-US" dirty="0"/>
              <a:t>chatmode-file.instructions.md</a:t>
            </a:r>
          </a:p>
          <a:p>
            <a:r>
              <a:rPr lang="en-US" dirty="0"/>
              <a:t>instruction-files.instructions.md</a:t>
            </a:r>
          </a:p>
          <a:p>
            <a:r>
              <a:rPr lang="en-US" dirty="0"/>
              <a:t>instruction-prompt-files.instructions.md</a:t>
            </a:r>
          </a:p>
          <a:p>
            <a:r>
              <a:rPr lang="en-US" dirty="0"/>
              <a:t>prompt-file.instructions.md</a:t>
            </a:r>
          </a:p>
          <a:p>
            <a:pPr marL="0" lvl="0" indent="0">
              <a:buNone/>
            </a:pPr>
            <a:r>
              <a:rPr lang="en-US" dirty="0"/>
              <a:t>4</a:t>
            </a:r>
            <a:r>
              <a:rPr dirty="0"/>
              <a:t>. Verify the copied file</a:t>
            </a:r>
            <a:r>
              <a:rPr lang="en-US" dirty="0"/>
              <a:t>s</a:t>
            </a:r>
            <a:r>
              <a:rPr dirty="0"/>
              <a:t> matches the original</a:t>
            </a:r>
            <a:endParaRPr lang="en-US" dirty="0"/>
          </a:p>
          <a:p>
            <a:pPr marL="0" lvl="0" indent="0">
              <a:buNone/>
            </a:pPr>
            <a:r>
              <a:rPr lang="en-US" dirty="0"/>
              <a:t>5. Review the instructions</a:t>
            </a:r>
          </a:p>
          <a:p>
            <a:pPr marL="0" lvl="0" indent="0">
              <a:buNone/>
            </a:pPr>
            <a:endParaRPr dirty="0"/>
          </a:p>
          <a:p>
            <a:pPr marL="0" lvl="0" indent="0">
              <a:buNone/>
            </a:pPr>
            <a:r>
              <a:rPr b="1" dirty="0"/>
              <a:t>Success Criteria:</a:t>
            </a:r>
            <a:r>
              <a:rPr dirty="0"/>
              <a:t> </a:t>
            </a:r>
            <a:endParaRPr lang="en-US" dirty="0"/>
          </a:p>
          <a:p>
            <a:r>
              <a:rPr dirty="0"/>
              <a:t>The file</a:t>
            </a:r>
            <a:r>
              <a:rPr lang="en-US" dirty="0"/>
              <a:t>s</a:t>
            </a:r>
            <a:r>
              <a:rPr dirty="0"/>
              <a:t> </a:t>
            </a:r>
            <a:r>
              <a:rPr lang="en-US" dirty="0"/>
              <a:t>are</a:t>
            </a:r>
            <a:r>
              <a:rPr dirty="0"/>
              <a:t> present in the current repo</a:t>
            </a:r>
            <a:endParaRPr lang="en-US" dirty="0"/>
          </a:p>
          <a:p>
            <a:r>
              <a:rPr dirty="0"/>
              <a:t>The content matches the source file </a:t>
            </a:r>
            <a:endParaRPr lang="en-US" dirty="0"/>
          </a:p>
          <a:p>
            <a:r>
              <a:rPr dirty="0"/>
              <a:t>No metadata or formatting is lost</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D94C3-2834-D821-36B9-71C5CF068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206F1-2223-644B-3548-5A59DF5BE497}"/>
              </a:ext>
            </a:extLst>
          </p:cNvPr>
          <p:cNvSpPr>
            <a:spLocks noGrp="1"/>
          </p:cNvSpPr>
          <p:nvPr>
            <p:ph type="title"/>
          </p:nvPr>
        </p:nvSpPr>
        <p:spPr/>
        <p:txBody>
          <a:bodyPr>
            <a:noAutofit/>
          </a:bodyPr>
          <a:lstStyle/>
          <a:p>
            <a:pPr marL="0" lvl="0" indent="0">
              <a:buNone/>
            </a:pPr>
            <a:r>
              <a:rPr lang="en-US" sz="2400" b="1" dirty="0"/>
              <a:t>Instructions </a:t>
            </a:r>
            <a:r>
              <a:rPr sz="2400" b="1" dirty="0"/>
              <a:t>for AI </a:t>
            </a:r>
            <a:r>
              <a:rPr lang="en-US" sz="2400" b="1" dirty="0"/>
              <a:t>Generated </a:t>
            </a:r>
            <a:r>
              <a:rPr sz="2400" b="1" dirty="0"/>
              <a:t>Artifacts</a:t>
            </a:r>
          </a:p>
        </p:txBody>
      </p:sp>
      <p:sp>
        <p:nvSpPr>
          <p:cNvPr id="3" name="Content Placeholder 2">
            <a:extLst>
              <a:ext uri="{FF2B5EF4-FFF2-40B4-BE49-F238E27FC236}">
                <a16:creationId xmlns:a16="http://schemas.microsoft.com/office/drawing/2014/main" id="{7B43B935-A7F8-4097-EB25-B18EA1FCBD9D}"/>
              </a:ext>
            </a:extLst>
          </p:cNvPr>
          <p:cNvSpPr>
            <a:spLocks noGrp="1"/>
          </p:cNvSpPr>
          <p:nvPr>
            <p:ph idx="1"/>
          </p:nvPr>
        </p:nvSpPr>
        <p:spPr/>
        <p:txBody>
          <a:bodyPr/>
          <a:lstStyle/>
          <a:p>
            <a:pPr marL="0" lvl="0" indent="0">
              <a:spcBef>
                <a:spcPts val="3000"/>
              </a:spcBef>
              <a:buNone/>
            </a:pPr>
            <a:r>
              <a:rPr lang="en-US" dirty="0"/>
              <a:t>The one instruction file that rules them all</a:t>
            </a:r>
          </a:p>
          <a:p>
            <a:pPr marL="0" lvl="0" indent="0">
              <a:spcBef>
                <a:spcPts val="3000"/>
              </a:spcBef>
              <a:buNone/>
            </a:pPr>
            <a:endParaRPr lang="en-US" dirty="0"/>
          </a:p>
        </p:txBody>
      </p:sp>
    </p:spTree>
    <p:extLst>
      <p:ext uri="{BB962C8B-B14F-4D97-AF65-F5344CB8AC3E}">
        <p14:creationId xmlns:p14="http://schemas.microsoft.com/office/powerpoint/2010/main" val="388391831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AI-Assisted Output Instructions</a:t>
            </a:r>
          </a:p>
        </p:txBody>
      </p:sp>
      <p:sp>
        <p:nvSpPr>
          <p:cNvPr id="3" name="Content Placeholder 2"/>
          <p:cNvSpPr>
            <a:spLocks noGrp="1"/>
          </p:cNvSpPr>
          <p:nvPr>
            <p:ph idx="1"/>
          </p:nvPr>
        </p:nvSpPr>
        <p:spPr/>
        <p:txBody>
          <a:bodyPr/>
          <a:lstStyle/>
          <a:p>
            <a:pPr lvl="0"/>
            <a:r>
              <a:t>Ensures provenance and logging for all AI-assisted outputs</a:t>
            </a:r>
          </a:p>
          <a:p>
            <a:pPr lvl="0"/>
            <a:r>
              <a:t>Defines required metadata, logging workflow, and quality gates</a:t>
            </a:r>
          </a:p>
          <a:p>
            <a:pPr lvl="0"/>
            <a:r>
              <a:t>Protects code quality and enables audits</a:t>
            </a: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Required Provenance Metadata</a:t>
            </a:r>
          </a:p>
        </p:txBody>
      </p:sp>
      <p:sp>
        <p:nvSpPr>
          <p:cNvPr id="3" name="Content Placeholder 2"/>
          <p:cNvSpPr>
            <a:spLocks noGrp="1"/>
          </p:cNvSpPr>
          <p:nvPr>
            <p:ph idx="1"/>
          </p:nvPr>
        </p:nvSpPr>
        <p:spPr/>
        <p:txBody>
          <a:bodyPr>
            <a:normAutofit lnSpcReduction="10000"/>
          </a:bodyPr>
          <a:lstStyle/>
          <a:p>
            <a:pPr lvl="0"/>
            <a:r>
              <a:t>Every AI-assisted artifact must include:</a:t>
            </a:r>
          </a:p>
          <a:p>
            <a:pPr lvl="1"/>
            <a:r>
              <a:t>ai_generated: true</a:t>
            </a:r>
          </a:p>
          <a:p>
            <a:pPr lvl="1"/>
            <a:r>
              <a:t>model: provider/model@version</a:t>
            </a:r>
          </a:p>
          <a:p>
            <a:pPr lvl="1"/>
            <a:r>
              <a:t>operator: username</a:t>
            </a:r>
          </a:p>
          <a:p>
            <a:pPr lvl="1"/>
            <a:r>
              <a:t>chat_id: unique chat identifier</a:t>
            </a:r>
          </a:p>
          <a:p>
            <a:pPr lvl="1"/>
            <a:r>
              <a:t>prompt: exact prompt text</a:t>
            </a:r>
          </a:p>
          <a:p>
            <a:pPr lvl="1"/>
            <a:r>
              <a:t>started/ended: timestamps</a:t>
            </a:r>
          </a:p>
          <a:p>
            <a:pPr lvl="1"/>
            <a:r>
              <a:t>task_durations &amp; total_duration</a:t>
            </a:r>
          </a:p>
          <a:p>
            <a:pPr lvl="1"/>
            <a:r>
              <a:t>ai_log: path to conversation log</a:t>
            </a:r>
          </a:p>
          <a:p>
            <a:pPr lvl="1"/>
            <a:r>
              <a:t>source: who/what created the file</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Metadata Placement Policy</a:t>
            </a:r>
          </a:p>
        </p:txBody>
      </p:sp>
      <p:sp>
        <p:nvSpPr>
          <p:cNvPr id="3" name="Content Placeholder 2"/>
          <p:cNvSpPr>
            <a:spLocks noGrp="1"/>
          </p:cNvSpPr>
          <p:nvPr>
            <p:ph idx="1"/>
          </p:nvPr>
        </p:nvSpPr>
        <p:spPr/>
        <p:txBody>
          <a:bodyPr/>
          <a:lstStyle/>
          <a:p>
            <a:pPr lvl="0"/>
            <a:r>
              <a:t>Use YAML front matter for Markdown and similar formats</a:t>
            </a:r>
          </a:p>
          <a:p>
            <a:pPr lvl="0"/>
            <a:r>
              <a:t>For binaries/images, use a sidecar </a:t>
            </a:r>
            <a:r>
              <a:rPr>
                <a:latin typeface="Courier"/>
              </a:rPr>
              <a:t>&lt;artifact&gt;.meta.md</a:t>
            </a:r>
          </a:p>
          <a:p>
            <a:pPr lvl="0"/>
            <a:r>
              <a:t>Never use sidecars for Markdown</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 Chat Logging Workflow</a:t>
            </a:r>
          </a:p>
        </p:txBody>
      </p:sp>
      <p:sp>
        <p:nvSpPr>
          <p:cNvPr id="3" name="Content Placeholder 2"/>
          <p:cNvSpPr>
            <a:spLocks noGrp="1"/>
          </p:cNvSpPr>
          <p:nvPr>
            <p:ph idx="1"/>
          </p:nvPr>
        </p:nvSpPr>
        <p:spPr/>
        <p:txBody>
          <a:bodyPr/>
          <a:lstStyle/>
          <a:p>
            <a:pPr lvl="0"/>
            <a:r>
              <a:t>Each chat creates a unique log folder: </a:t>
            </a:r>
            <a:r>
              <a:rPr>
                <a:latin typeface="Courier"/>
              </a:rPr>
              <a:t>ai-logs/yyyy/mm/dd/&lt;chat-id&gt;/</a:t>
            </a:r>
          </a:p>
          <a:p>
            <a:pPr lvl="0"/>
            <a:r>
              <a:t>Required files:</a:t>
            </a:r>
          </a:p>
          <a:p>
            <a:pPr lvl="1"/>
            <a:r>
              <a:t>conversation.md (full transcript)</a:t>
            </a:r>
          </a:p>
          <a:p>
            <a:pPr lvl="1"/>
            <a:r>
              <a:t>summary.md (objectives, decisions, outcomes)</a:t>
            </a:r>
          </a:p>
          <a:p>
            <a:pPr lvl="1"/>
            <a:r>
              <a:t>artifacts/ (optional)</a:t>
            </a:r>
          </a:p>
          <a:p>
            <a:pPr lvl="0"/>
            <a:r>
              <a:t>Never reuse chat logs between sessions</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Quality &amp; PR Checklist</a:t>
            </a:r>
          </a:p>
        </p:txBody>
      </p:sp>
      <p:sp>
        <p:nvSpPr>
          <p:cNvPr id="3" name="Content Placeholder 2"/>
          <p:cNvSpPr>
            <a:spLocks noGrp="1"/>
          </p:cNvSpPr>
          <p:nvPr>
            <p:ph idx="1"/>
          </p:nvPr>
        </p:nvSpPr>
        <p:spPr/>
        <p:txBody>
          <a:bodyPr/>
          <a:lstStyle/>
          <a:p>
            <a:pPr lvl="0"/>
            <a:r>
              <a:t>Metadata complete and correct</a:t>
            </a:r>
          </a:p>
          <a:p>
            <a:pPr lvl="0"/>
            <a:r>
              <a:t>Conversation and summary logs exist</a:t>
            </a:r>
          </a:p>
          <a:p>
            <a:pPr lvl="0"/>
            <a:r>
              <a:t>README.md updated for notable artifacts</a:t>
            </a:r>
          </a:p>
          <a:p>
            <a:pPr lvl="0"/>
            <a:r>
              <a:t>No sensitive data in outputs</a:t>
            </a:r>
          </a:p>
          <a:p>
            <a:pPr lvl="0"/>
            <a:r>
              <a:t>All AI-generated content traces to a chat log</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Copilot Integration Requirements</a:t>
            </a:r>
          </a:p>
        </p:txBody>
      </p:sp>
      <p:sp>
        <p:nvSpPr>
          <p:cNvPr id="3" name="Content Placeholder 2"/>
          <p:cNvSpPr>
            <a:spLocks noGrp="1"/>
          </p:cNvSpPr>
          <p:nvPr>
            <p:ph idx="1"/>
          </p:nvPr>
        </p:nvSpPr>
        <p:spPr/>
        <p:txBody>
          <a:bodyPr/>
          <a:lstStyle/>
          <a:p>
            <a:pPr lvl="0"/>
            <a:r>
              <a:t>Copilot must auto-manage chat IDs and logs</a:t>
            </a:r>
          </a:p>
          <a:p>
            <a:pPr lvl="0"/>
            <a:r>
              <a:t>Metadata injected automatically</a:t>
            </a:r>
          </a:p>
          <a:p>
            <a:pPr lvl="0"/>
            <a:r>
              <a:t>Block artifact creation if chat context is missing</a:t>
            </a:r>
          </a:p>
          <a:p>
            <a:pPr lvl="0"/>
            <a:r>
              <a:t>Enforce provenance before file creation</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Enforcement &amp; Remediation</a:t>
            </a:r>
          </a:p>
        </p:txBody>
      </p:sp>
      <p:sp>
        <p:nvSpPr>
          <p:cNvPr id="3" name="Content Placeholder 2"/>
          <p:cNvSpPr>
            <a:spLocks noGrp="1"/>
          </p:cNvSpPr>
          <p:nvPr>
            <p:ph idx="1"/>
          </p:nvPr>
        </p:nvSpPr>
        <p:spPr/>
        <p:txBody>
          <a:bodyPr/>
          <a:lstStyle/>
          <a:p>
            <a:pPr lvl="0"/>
            <a:r>
              <a:t>PRs blocked if provenance is incomplete</a:t>
            </a:r>
          </a:p>
          <a:p>
            <a:pPr lvl="0"/>
            <a:r>
              <a:t>Missing logs or metadata must be added before merge</a:t>
            </a:r>
          </a:p>
          <a:p>
            <a:pPr lvl="0"/>
            <a:r>
              <a:t>Orphaned artifacts require reconstruction of logs and metadata</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Summary: Why This Matters</a:t>
            </a:r>
          </a:p>
        </p:txBody>
      </p:sp>
      <p:sp>
        <p:nvSpPr>
          <p:cNvPr id="3" name="Content Placeholder 2"/>
          <p:cNvSpPr>
            <a:spLocks noGrp="1"/>
          </p:cNvSpPr>
          <p:nvPr>
            <p:ph idx="1"/>
          </p:nvPr>
        </p:nvSpPr>
        <p:spPr/>
        <p:txBody>
          <a:bodyPr/>
          <a:lstStyle/>
          <a:p>
            <a:pPr lvl="0"/>
            <a:r>
              <a:t>Enables auditability and trust in AI outputs</a:t>
            </a:r>
          </a:p>
          <a:p>
            <a:pPr lvl="0"/>
            <a:r>
              <a:t>Protects against orphaned or unverifiable artifacts</a:t>
            </a:r>
          </a:p>
          <a:p>
            <a:pPr lvl="0"/>
            <a:r>
              <a:t>Supports team collaboration and compliance</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5099-8E19-C516-5F96-8DEC89687953}"/>
              </a:ext>
            </a:extLst>
          </p:cNvPr>
          <p:cNvSpPr>
            <a:spLocks noGrp="1"/>
          </p:cNvSpPr>
          <p:nvPr>
            <p:ph type="title"/>
          </p:nvPr>
        </p:nvSpPr>
        <p:spPr/>
        <p:txBody>
          <a:bodyPr>
            <a:normAutofit fontScale="90000"/>
          </a:bodyPr>
          <a:lstStyle/>
          <a:p>
            <a:r>
              <a:rPr lang="en-US" dirty="0"/>
              <a:t>Core Instruction files</a:t>
            </a:r>
          </a:p>
        </p:txBody>
      </p:sp>
      <p:sp>
        <p:nvSpPr>
          <p:cNvPr id="3" name="Content Placeholder 2">
            <a:extLst>
              <a:ext uri="{FF2B5EF4-FFF2-40B4-BE49-F238E27FC236}">
                <a16:creationId xmlns:a16="http://schemas.microsoft.com/office/drawing/2014/main" id="{0A67274C-FAEB-396B-89F0-D602B204CE57}"/>
              </a:ext>
            </a:extLst>
          </p:cNvPr>
          <p:cNvSpPr>
            <a:spLocks noGrp="1"/>
          </p:cNvSpPr>
          <p:nvPr>
            <p:ph idx="1"/>
          </p:nvPr>
        </p:nvSpPr>
        <p:spPr/>
        <p:txBody>
          <a:bodyPr>
            <a:normAutofit/>
          </a:bodyPr>
          <a:lstStyle/>
          <a:p>
            <a:r>
              <a:rPr lang="en-US" dirty="0"/>
              <a:t>chatmode-file.instructions.md</a:t>
            </a:r>
          </a:p>
          <a:p>
            <a:pPr lvl="1"/>
            <a:r>
              <a:rPr lang="en-US" dirty="0"/>
              <a:t>Defines the structure and contents of agents</a:t>
            </a:r>
          </a:p>
          <a:p>
            <a:r>
              <a:rPr lang="en-US" dirty="0"/>
              <a:t>instruction-files.instructions.md</a:t>
            </a:r>
          </a:p>
          <a:p>
            <a:pPr lvl="1"/>
            <a:r>
              <a:rPr lang="en-US" dirty="0"/>
              <a:t>Defines the structure and contents of instruction files</a:t>
            </a:r>
          </a:p>
          <a:p>
            <a:r>
              <a:rPr lang="en-US" dirty="0"/>
              <a:t>prompt-file.instructions.md</a:t>
            </a:r>
          </a:p>
          <a:p>
            <a:pPr lvl="1"/>
            <a:r>
              <a:rPr lang="en-US" dirty="0"/>
              <a:t>Defines the structure and contents of prompts</a:t>
            </a:r>
          </a:p>
          <a:p>
            <a:r>
              <a:rPr lang="en-US" dirty="0"/>
              <a:t>instruction-prompt-files.instructions.md</a:t>
            </a:r>
          </a:p>
          <a:p>
            <a:pPr lvl="1"/>
            <a:r>
              <a:rPr lang="en-US" dirty="0"/>
              <a:t>Defines the structure and contents of prompts the create instruction files</a:t>
            </a:r>
          </a:p>
          <a:p>
            <a:endParaRPr lang="en-US" dirty="0"/>
          </a:p>
        </p:txBody>
      </p:sp>
    </p:spTree>
    <p:extLst>
      <p:ext uri="{BB962C8B-B14F-4D97-AF65-F5344CB8AC3E}">
        <p14:creationId xmlns:p14="http://schemas.microsoft.com/office/powerpoint/2010/main" val="325709740"/>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4082-6A83-C8AD-5727-5CAFFC491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4A08D-69F7-4E7B-4D09-683A84C0370D}"/>
              </a:ext>
            </a:extLst>
          </p:cNvPr>
          <p:cNvSpPr>
            <a:spLocks noGrp="1"/>
          </p:cNvSpPr>
          <p:nvPr>
            <p:ph type="title"/>
          </p:nvPr>
        </p:nvSpPr>
        <p:spPr/>
        <p:txBody>
          <a:bodyPr>
            <a:normAutofit fontScale="90000"/>
          </a:bodyPr>
          <a:lstStyle/>
          <a:p>
            <a:pPr marL="0" lvl="0" indent="0">
              <a:buNone/>
            </a:pPr>
            <a:r>
              <a:rPr b="1"/>
              <a:t>Exercise: Create a Prompt File</a:t>
            </a:r>
          </a:p>
        </p:txBody>
      </p:sp>
      <p:sp>
        <p:nvSpPr>
          <p:cNvPr id="3" name="Content Placeholder 2">
            <a:extLst>
              <a:ext uri="{FF2B5EF4-FFF2-40B4-BE49-F238E27FC236}">
                <a16:creationId xmlns:a16="http://schemas.microsoft.com/office/drawing/2014/main" id="{8EE2728D-7ED4-FB17-A51C-36BAF827B7A5}"/>
              </a:ext>
            </a:extLst>
          </p:cNvPr>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Understand prompt structure</a:t>
            </a:r>
          </a:p>
          <a:p>
            <a:pPr lvl="0"/>
            <a:r>
              <a:rPr dirty="0"/>
              <a:t>Practice defining task intent</a:t>
            </a:r>
          </a:p>
          <a:p>
            <a:pPr lvl="0"/>
            <a:r>
              <a:rPr dirty="0"/>
              <a:t>Apply constraints and success criteria</a:t>
            </a:r>
          </a:p>
          <a:p>
            <a:pPr marL="0" lvl="0" indent="0">
              <a:spcBef>
                <a:spcPts val="3000"/>
              </a:spcBef>
              <a:buNone/>
            </a:pPr>
            <a:r>
              <a:rPr b="1" dirty="0"/>
              <a:t>Activities</a:t>
            </a:r>
          </a:p>
          <a:p>
            <a:pPr marL="342900" lvl="0" indent="-342900">
              <a:buAutoNum type="arabicPeriod"/>
            </a:pPr>
            <a:r>
              <a:rPr lang="en-US" dirty="0"/>
              <a:t>Prompt Copilot to create a prompt file that creates an instruction file for evergreen software development</a:t>
            </a:r>
            <a:endParaRPr dirty="0"/>
          </a:p>
          <a:p>
            <a:pPr marL="342900" lvl="0" indent="-342900">
              <a:buAutoNum type="arabicPeriod"/>
            </a:pPr>
            <a:r>
              <a:rPr dirty="0"/>
              <a:t>Review</a:t>
            </a:r>
            <a:r>
              <a:rPr lang="en-US" dirty="0"/>
              <a:t> the prompt</a:t>
            </a:r>
          </a:p>
          <a:p>
            <a:pPr marL="0" lvl="0" indent="0">
              <a:spcBef>
                <a:spcPts val="3000"/>
              </a:spcBef>
              <a:buNone/>
            </a:pPr>
            <a:r>
              <a:rPr lang="en-US" b="1" dirty="0"/>
              <a:t>Success Criteria</a:t>
            </a:r>
          </a:p>
          <a:p>
            <a:pPr lvl="0"/>
            <a:r>
              <a:rPr dirty="0"/>
              <a:t>Prompt is clear, scoped, and reusable</a:t>
            </a:r>
          </a:p>
          <a:p>
            <a:pPr lvl="0"/>
            <a:r>
              <a:rPr dirty="0"/>
              <a:t>Includes constraints and success criteria</a:t>
            </a:r>
          </a:p>
          <a:p>
            <a:pPr lvl="0"/>
            <a:r>
              <a:rPr dirty="0"/>
              <a:t>Avoids unnecessary context</a:t>
            </a:r>
          </a:p>
        </p:txBody>
      </p:sp>
    </p:spTree>
    <p:extLst>
      <p:ext uri="{BB962C8B-B14F-4D97-AF65-F5344CB8AC3E}">
        <p14:creationId xmlns:p14="http://schemas.microsoft.com/office/powerpoint/2010/main" val="1697612248"/>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Create an Instruction File for Evergreen Development</a:t>
            </a:r>
          </a:p>
        </p:txBody>
      </p:sp>
      <p:sp>
        <p:nvSpPr>
          <p:cNvPr id="3" name="Content Placeholder 2"/>
          <p:cNvSpPr>
            <a:spLocks noGrp="1"/>
          </p:cNvSpPr>
          <p:nvPr>
            <p:ph idx="1"/>
          </p:nvPr>
        </p:nvSpPr>
        <p:spPr/>
        <p:txBody>
          <a:bodyPr numCol="2">
            <a:normAutofit fontScale="92500" lnSpcReduction="1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Capture evergreen principles</a:t>
            </a:r>
          </a:p>
          <a:p>
            <a:pPr lvl="0"/>
            <a:r>
              <a:rPr dirty="0"/>
              <a:t>Define architectural boundaries</a:t>
            </a:r>
          </a:p>
          <a:p>
            <a:pPr lvl="0"/>
            <a:r>
              <a:rPr dirty="0"/>
              <a:t>Specify modernization rules</a:t>
            </a:r>
          </a:p>
          <a:p>
            <a:pPr marL="0" lvl="0" indent="0">
              <a:spcBef>
                <a:spcPts val="3000"/>
              </a:spcBef>
              <a:buNone/>
            </a:pPr>
            <a:r>
              <a:rPr b="1" dirty="0"/>
              <a:t>Activities</a:t>
            </a:r>
          </a:p>
          <a:p>
            <a:pPr marL="342900" lvl="0" indent="-342900">
              <a:buAutoNum type="arabicPeriod"/>
            </a:pPr>
            <a:r>
              <a:rPr lang="en-US" dirty="0"/>
              <a:t>Submit the Evergreen Instructions prompt</a:t>
            </a:r>
            <a:endParaRPr dirty="0"/>
          </a:p>
          <a:p>
            <a:pPr marL="342900" lvl="0" indent="-342900">
              <a:buAutoNum type="arabicPeriod"/>
            </a:pPr>
            <a:r>
              <a:rPr lang="en-US" dirty="0"/>
              <a:t>Review the instructions</a:t>
            </a:r>
            <a:endParaRPr dirty="0"/>
          </a:p>
          <a:p>
            <a:pPr marL="0" lvl="0" indent="0">
              <a:spcBef>
                <a:spcPts val="3000"/>
              </a:spcBef>
              <a:buNone/>
            </a:pPr>
            <a:r>
              <a:rPr b="1" dirty="0"/>
              <a:t>Success Criteria</a:t>
            </a:r>
          </a:p>
          <a:p>
            <a:pPr lvl="0"/>
            <a:r>
              <a:rPr dirty="0"/>
              <a:t>Instruction file is stable and reusable</a:t>
            </a:r>
          </a:p>
          <a:p>
            <a:pPr lvl="0"/>
            <a:r>
              <a:rPr dirty="0"/>
              <a:t>Reflects evergreen development values</a:t>
            </a:r>
          </a:p>
          <a:p>
            <a:pPr lvl="0"/>
            <a:r>
              <a:rPr dirty="0"/>
              <a:t>Provides clear guardrails</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a:t>
            </a:r>
            <a:r>
              <a:rPr lang="en-US" b="1" dirty="0"/>
              <a:t>n</a:t>
            </a:r>
            <a:r>
              <a:rPr b="1" dirty="0"/>
              <a:t> </a:t>
            </a:r>
            <a:r>
              <a:rPr lang="en-US" b="1" dirty="0"/>
              <a:t>Agent</a:t>
            </a:r>
            <a:endParaRPr b="1" dirty="0"/>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Define a persona optimized for brownfield work</a:t>
            </a:r>
          </a:p>
          <a:p>
            <a:pPr lvl="0"/>
            <a:r>
              <a:rPr dirty="0"/>
              <a:t>Emphasize safety and incrementalism</a:t>
            </a:r>
          </a:p>
          <a:p>
            <a:pPr lvl="0"/>
            <a:r>
              <a:rPr dirty="0"/>
              <a:t>Encode risk‑aware behaviors</a:t>
            </a:r>
          </a:p>
          <a:p>
            <a:pPr marL="0" lvl="0" indent="0">
              <a:spcBef>
                <a:spcPts val="3000"/>
              </a:spcBef>
              <a:buNone/>
            </a:pPr>
            <a:r>
              <a:rPr b="1" dirty="0"/>
              <a:t>Activities</a:t>
            </a:r>
          </a:p>
          <a:p>
            <a:pPr marL="342900" lvl="0" indent="-342900">
              <a:buAutoNum type="arabicPeriod"/>
            </a:pPr>
            <a:r>
              <a:rPr dirty="0"/>
              <a:t>Draft a </a:t>
            </a:r>
            <a:r>
              <a:rPr lang="en-US" dirty="0"/>
              <a:t>Agent</a:t>
            </a:r>
            <a:r>
              <a:rPr dirty="0"/>
              <a:t> that:</a:t>
            </a:r>
          </a:p>
          <a:p>
            <a:pPr lvl="1"/>
            <a:r>
              <a:rPr dirty="0"/>
              <a:t>Respects working systems</a:t>
            </a:r>
          </a:p>
          <a:p>
            <a:pPr lvl="1"/>
            <a:r>
              <a:rPr dirty="0"/>
              <a:t>Avoids risky rewrites</a:t>
            </a:r>
          </a:p>
          <a:p>
            <a:pPr lvl="1"/>
            <a:r>
              <a:rPr dirty="0"/>
              <a:t>Surfaces context gaps</a:t>
            </a:r>
          </a:p>
          <a:p>
            <a:pPr lvl="1"/>
            <a:r>
              <a:rPr dirty="0"/>
              <a:t>Encourages incremental changes</a:t>
            </a:r>
          </a:p>
          <a:p>
            <a:pPr marL="342900" lvl="0" indent="-342900">
              <a:buAutoNum type="arabicPeriod"/>
            </a:pPr>
            <a:r>
              <a:rPr dirty="0"/>
              <a:t>Add tone and behavioral guidelines</a:t>
            </a:r>
          </a:p>
          <a:p>
            <a:pPr marL="342900" lvl="0" indent="-342900">
              <a:buAutoNum type="arabicPeriod"/>
            </a:pPr>
            <a:r>
              <a:rPr dirty="0"/>
              <a:t>Add provenance metadata</a:t>
            </a:r>
          </a:p>
          <a:p>
            <a:pPr marL="0" lvl="0" indent="0">
              <a:spcBef>
                <a:spcPts val="3000"/>
              </a:spcBef>
              <a:buNone/>
            </a:pPr>
            <a:r>
              <a:rPr b="1" dirty="0"/>
              <a:t>Success Criteria</a:t>
            </a:r>
          </a:p>
          <a:p>
            <a:pPr lvl="0"/>
            <a:r>
              <a:rPr lang="en-US" dirty="0"/>
              <a:t>Agent</a:t>
            </a:r>
            <a:r>
              <a:rPr dirty="0"/>
              <a:t> behaves like a cautious senior engineer</a:t>
            </a:r>
          </a:p>
          <a:p>
            <a:pPr lvl="0"/>
            <a:r>
              <a:rPr dirty="0"/>
              <a:t>Encourages safe modernization</a:t>
            </a:r>
          </a:p>
          <a:p>
            <a:pPr lvl="0"/>
            <a:r>
              <a:rPr dirty="0"/>
              <a:t>Includes clear behavioral rules</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Exercise: Generate Instruction Files</a:t>
            </a:r>
          </a:p>
        </p:txBody>
      </p:sp>
      <p:sp>
        <p:nvSpPr>
          <p:cNvPr id="3" name="Content Placeholder 2"/>
          <p:cNvSpPr>
            <a:spLocks noGrp="1"/>
          </p:cNvSpPr>
          <p:nvPr>
            <p:ph idx="1"/>
          </p:nvPr>
        </p:nvSpPr>
        <p:spPr/>
        <p:txBody>
          <a:bodyPr numCol="2">
            <a:normAutofit fontScale="7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Use meta prompts to scale instruction‑file creation</a:t>
            </a:r>
          </a:p>
          <a:p>
            <a:pPr lvl="0"/>
            <a:r>
              <a:rPr dirty="0"/>
              <a:t>Capture module‑specific rules</a:t>
            </a:r>
          </a:p>
          <a:p>
            <a:pPr lvl="0"/>
            <a:r>
              <a:rPr dirty="0"/>
              <a:t>Encode domain and architectural constraints</a:t>
            </a:r>
          </a:p>
          <a:p>
            <a:pPr marL="0" lvl="0" indent="0">
              <a:spcBef>
                <a:spcPts val="3000"/>
              </a:spcBef>
              <a:buNone/>
            </a:pPr>
            <a:r>
              <a:rPr b="1" dirty="0"/>
              <a:t>Activities</a:t>
            </a:r>
          </a:p>
          <a:p>
            <a:pPr marL="342900" lvl="0" indent="-342900">
              <a:buAutoNum type="arabicPeriod"/>
            </a:pPr>
            <a:r>
              <a:rPr lang="en-US" dirty="0"/>
              <a:t>Prompt Copilot to create instruction files for the standards and conventions of the tech stack</a:t>
            </a:r>
            <a:endParaRPr dirty="0"/>
          </a:p>
          <a:p>
            <a:pPr marL="342900" lvl="0" indent="-342900">
              <a:buAutoNum type="arabicPeriod"/>
            </a:pPr>
            <a:r>
              <a:rPr lang="en-US" dirty="0"/>
              <a:t>Review instructions</a:t>
            </a:r>
            <a:endParaRPr dirty="0"/>
          </a:p>
          <a:p>
            <a:pPr marL="0" lvl="0" indent="0">
              <a:spcBef>
                <a:spcPts val="3000"/>
              </a:spcBef>
              <a:buNone/>
            </a:pPr>
            <a:r>
              <a:rPr b="1" dirty="0"/>
              <a:t>Success Criteria</a:t>
            </a:r>
          </a:p>
          <a:p>
            <a:pPr lvl="0"/>
            <a:r>
              <a:rPr dirty="0"/>
              <a:t>Instruction files reflect real system constraints</a:t>
            </a:r>
          </a:p>
          <a:p>
            <a:pPr lvl="0"/>
            <a:r>
              <a:rPr dirty="0"/>
              <a:t>Meta prompts produce consistent structure</a:t>
            </a:r>
          </a:p>
          <a:p>
            <a:pPr lvl="0"/>
            <a:r>
              <a:rPr dirty="0"/>
              <a:t>Files are ready for team use</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Context‑Related Issues</a:t>
            </a:r>
          </a:p>
        </p:txBody>
      </p:sp>
      <p:sp>
        <p:nvSpPr>
          <p:cNvPr id="3" name="Content Placeholder 2"/>
          <p:cNvSpPr>
            <a:spLocks noGrp="1"/>
          </p:cNvSpPr>
          <p:nvPr>
            <p:ph idx="1"/>
          </p:nvPr>
        </p:nvSpPr>
        <p:spPr/>
        <p:txBody>
          <a:bodyPr numCol="2">
            <a:normAutofit fontScale="850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Identify missing context</a:t>
            </a:r>
          </a:p>
          <a:p>
            <a:pPr lvl="0"/>
            <a:r>
              <a:rPr dirty="0"/>
              <a:t>Detect token overflow risks</a:t>
            </a:r>
          </a:p>
          <a:p>
            <a:pPr lvl="0"/>
            <a:r>
              <a:rPr dirty="0"/>
              <a:t>Improve prompt scoping</a:t>
            </a:r>
          </a:p>
          <a:p>
            <a:pPr marL="0" lvl="0" indent="0">
              <a:spcBef>
                <a:spcPts val="3000"/>
              </a:spcBef>
              <a:buNone/>
            </a:pPr>
            <a:r>
              <a:rPr b="1" dirty="0"/>
              <a:t>Activities</a:t>
            </a:r>
          </a:p>
          <a:p>
            <a:pPr marL="342900" lvl="0" indent="-342900">
              <a:buAutoNum type="arabicPeriod"/>
            </a:pPr>
            <a:endParaRPr lang="en-US" dirty="0"/>
          </a:p>
          <a:p>
            <a:pPr marL="342900" lvl="0" indent="-342900">
              <a:buAutoNum type="arabicPeriod"/>
            </a:pPr>
            <a:r>
              <a:rPr lang="en-US" dirty="0"/>
              <a:t>Copy the check-context.prompt.md file from the AIASD repository</a:t>
            </a:r>
          </a:p>
          <a:p>
            <a:pPr marL="342900" lvl="0" indent="-342900">
              <a:buAutoNum type="arabicPeriod"/>
            </a:pPr>
            <a:r>
              <a:rPr dirty="0"/>
              <a:t>Review </a:t>
            </a:r>
            <a:r>
              <a:rPr lang="en-US" dirty="0"/>
              <a:t>the </a:t>
            </a:r>
            <a:r>
              <a:rPr dirty="0"/>
              <a:t>prompt</a:t>
            </a:r>
          </a:p>
          <a:p>
            <a:pPr marL="342900" lvl="0" indent="-342900">
              <a:buAutoNum type="arabicPeriod"/>
            </a:pPr>
            <a:r>
              <a:rPr lang="en-US" dirty="0"/>
              <a:t>Submit the prompt</a:t>
            </a:r>
            <a:endParaRPr dirty="0"/>
          </a:p>
          <a:p>
            <a:pPr marL="342900" lvl="0" indent="-342900">
              <a:buAutoNum type="arabicPeriod"/>
            </a:pPr>
            <a:r>
              <a:rPr lang="en-US" dirty="0"/>
              <a:t>Review the output</a:t>
            </a:r>
            <a:endParaRPr dirty="0"/>
          </a:p>
          <a:p>
            <a:pPr marL="0" lvl="0" indent="0">
              <a:spcBef>
                <a:spcPts val="3000"/>
              </a:spcBef>
              <a:buNone/>
            </a:pPr>
            <a:r>
              <a:rPr b="1" dirty="0"/>
              <a:t>Success Criteria</a:t>
            </a:r>
          </a:p>
          <a:p>
            <a:pPr lvl="0"/>
            <a:r>
              <a:rPr lang="en-US" dirty="0"/>
              <a:t>C</a:t>
            </a:r>
            <a:r>
              <a:rPr dirty="0"/>
              <a:t>orrectly identif</a:t>
            </a:r>
            <a:r>
              <a:rPr lang="en-US" dirty="0"/>
              <a:t>ied</a:t>
            </a:r>
            <a:r>
              <a:rPr dirty="0"/>
              <a:t> context gaps</a:t>
            </a:r>
          </a:p>
          <a:p>
            <a:pPr lvl="0"/>
            <a:endParaRPr dirty="0"/>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478C3-06D7-9DAB-6254-5263E50A9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590F8-ECB7-9F0D-38E8-DD2EA7B8566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515FF4-F223-9E47-39FB-190EDD11F933}"/>
              </a:ext>
            </a:extLst>
          </p:cNvPr>
          <p:cNvGraphicFramePr>
            <a:graphicFrameLocks noGrp="1"/>
          </p:cNvGraphicFramePr>
          <p:nvPr>
            <p:ph idx="1"/>
            <p:extLst>
              <p:ext uri="{D42A27DB-BD31-4B8C-83A1-F6EECF244321}">
                <p14:modId xmlns:p14="http://schemas.microsoft.com/office/powerpoint/2010/main" val="290131253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947850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Documentation Generation &amp; Code Analysis</a:t>
            </a:r>
          </a:p>
        </p:txBody>
      </p:sp>
      <p:sp>
        <p:nvSpPr>
          <p:cNvPr id="3" name="Content Placeholder 2"/>
          <p:cNvSpPr>
            <a:spLocks noGrp="1"/>
          </p:cNvSpPr>
          <p:nvPr>
            <p:ph idx="1"/>
          </p:nvPr>
        </p:nvSpPr>
        <p:spPr/>
        <p:txBody>
          <a:bodyPr/>
          <a:lstStyle/>
          <a:p>
            <a:pPr lvl="0"/>
            <a:r>
              <a:t>Automated README and documentation updates</a:t>
            </a:r>
          </a:p>
          <a:p>
            <a:pPr lvl="0"/>
            <a:r>
              <a:t>Architecture diagram generation</a:t>
            </a:r>
          </a:p>
          <a:p>
            <a:pPr lvl="0"/>
            <a:r>
              <a:t>Complex code explanation and mapping</a:t>
            </a:r>
          </a:p>
          <a:p>
            <a:pPr lvl="0"/>
            <a:r>
              <a:t>Identifying technical debt hotspots</a:t>
            </a:r>
          </a:p>
          <a:p>
            <a:pPr lvl="0"/>
            <a:r>
              <a:t>Exercises for hands‑on practice</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Automated README &amp; Documentation Updates</a:t>
            </a:r>
          </a:p>
        </p:txBody>
      </p:sp>
      <p:sp>
        <p:nvSpPr>
          <p:cNvPr id="3" name="Content Placeholder 2"/>
          <p:cNvSpPr>
            <a:spLocks noGrp="1"/>
          </p:cNvSpPr>
          <p:nvPr>
            <p:ph idx="1"/>
          </p:nvPr>
        </p:nvSpPr>
        <p:spPr/>
        <p:txBody>
          <a:bodyPr/>
          <a:lstStyle/>
          <a:p>
            <a:pPr marL="0" lvl="0" indent="0">
              <a:spcBef>
                <a:spcPts val="3000"/>
              </a:spcBef>
              <a:buNone/>
            </a:pPr>
            <a:r>
              <a:rPr b="1" dirty="0"/>
              <a:t>Capabilities</a:t>
            </a:r>
          </a:p>
          <a:p>
            <a:pPr lvl="0"/>
            <a:r>
              <a:rPr dirty="0"/>
              <a:t>Generate or update README files</a:t>
            </a:r>
          </a:p>
          <a:p>
            <a:pPr lvl="0"/>
            <a:r>
              <a:rPr dirty="0"/>
              <a:t>Create module‑level documentation</a:t>
            </a:r>
          </a:p>
          <a:p>
            <a:pPr lvl="0"/>
            <a:r>
              <a:rPr dirty="0"/>
              <a:t>Produce API references and usage examples</a:t>
            </a:r>
          </a:p>
          <a:p>
            <a:pPr lvl="0"/>
            <a:r>
              <a:rPr dirty="0"/>
              <a:t>Keep documentation aligned with code changes</a:t>
            </a:r>
            <a:endParaRPr lang="en-US" dirty="0"/>
          </a:p>
          <a:p>
            <a:pPr lvl="1"/>
            <a:r>
              <a:rPr lang="en-US" dirty="0"/>
              <a:t>Create a documentation instruction file</a:t>
            </a:r>
            <a:endParaRPr dirty="0"/>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Architecture Diagram Generation</a:t>
            </a:r>
          </a:p>
        </p:txBody>
      </p:sp>
      <p:sp>
        <p:nvSpPr>
          <p:cNvPr id="3" name="Content Placeholder 2"/>
          <p:cNvSpPr>
            <a:spLocks noGrp="1"/>
          </p:cNvSpPr>
          <p:nvPr>
            <p:ph idx="1"/>
          </p:nvPr>
        </p:nvSpPr>
        <p:spPr/>
        <p:txBody>
          <a:bodyPr/>
          <a:lstStyle/>
          <a:p>
            <a:pPr marL="0" lvl="0" indent="0">
              <a:spcBef>
                <a:spcPts val="3000"/>
              </a:spcBef>
              <a:buNone/>
            </a:pPr>
            <a:r>
              <a:rPr b="1"/>
              <a:t>What AI can generate</a:t>
            </a:r>
          </a:p>
          <a:p>
            <a:pPr lvl="0"/>
            <a:r>
              <a:t>High‑level system diagrams</a:t>
            </a:r>
          </a:p>
          <a:p>
            <a:pPr lvl="0"/>
            <a:r>
              <a:t>Module dependency graphs</a:t>
            </a:r>
          </a:p>
          <a:p>
            <a:pPr lvl="0"/>
            <a:r>
              <a:t>Data flow diagrams</a:t>
            </a:r>
          </a:p>
          <a:p>
            <a:pPr lvl="0"/>
            <a:r>
              <a:t>Deployment topologies</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Complex Code Explanation &amp; Mapping</a:t>
            </a:r>
          </a:p>
        </p:txBody>
      </p:sp>
      <p:sp>
        <p:nvSpPr>
          <p:cNvPr id="3" name="Content Placeholder 2"/>
          <p:cNvSpPr>
            <a:spLocks noGrp="1"/>
          </p:cNvSpPr>
          <p:nvPr>
            <p:ph idx="1"/>
          </p:nvPr>
        </p:nvSpPr>
        <p:spPr/>
        <p:txBody>
          <a:bodyPr/>
          <a:lstStyle/>
          <a:p>
            <a:pPr marL="0" lvl="0" indent="0">
              <a:spcBef>
                <a:spcPts val="3000"/>
              </a:spcBef>
              <a:buNone/>
            </a:pPr>
            <a:r>
              <a:rPr b="1"/>
              <a:t>AI can help with:</a:t>
            </a:r>
          </a:p>
          <a:p>
            <a:pPr lvl="0"/>
            <a:r>
              <a:t>Explaining unfamiliar or legacy code</a:t>
            </a:r>
          </a:p>
          <a:p>
            <a:pPr lvl="0"/>
            <a:r>
              <a:t>Mapping call chains and dependencies</a:t>
            </a:r>
          </a:p>
          <a:p>
            <a:pPr lvl="0"/>
            <a:r>
              <a:t>Identifying hidden coupling</a:t>
            </a:r>
          </a:p>
          <a:p>
            <a:pPr lvl="0"/>
            <a:r>
              <a:t>Translating code into human‑readable narratives</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Identifying Technical Debt Hotspots</a:t>
            </a:r>
          </a:p>
        </p:txBody>
      </p:sp>
      <p:sp>
        <p:nvSpPr>
          <p:cNvPr id="3" name="Content Placeholder 2"/>
          <p:cNvSpPr>
            <a:spLocks noGrp="1"/>
          </p:cNvSpPr>
          <p:nvPr>
            <p:ph idx="1"/>
          </p:nvPr>
        </p:nvSpPr>
        <p:spPr/>
        <p:txBody>
          <a:bodyPr/>
          <a:lstStyle/>
          <a:p>
            <a:pPr marL="0" lvl="0" indent="0">
              <a:spcBef>
                <a:spcPts val="3000"/>
              </a:spcBef>
              <a:buNone/>
            </a:pPr>
            <a:r>
              <a:rPr b="1"/>
              <a:t>AI can detect:</a:t>
            </a:r>
          </a:p>
          <a:p>
            <a:pPr lvl="0"/>
            <a:r>
              <a:t>Outdated patterns</a:t>
            </a:r>
          </a:p>
          <a:p>
            <a:pPr lvl="0"/>
            <a:r>
              <a:t>Duplicate logic</a:t>
            </a:r>
          </a:p>
          <a:p>
            <a:pPr lvl="0"/>
            <a:r>
              <a:t>Missing tests</a:t>
            </a:r>
          </a:p>
          <a:p>
            <a:pPr lvl="0"/>
            <a:r>
              <a:t>High‑complexity functions</a:t>
            </a:r>
          </a:p>
          <a:p>
            <a:pPr lvl="0"/>
            <a:r>
              <a:t>Security risks</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Brownfield Code Documentation</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Practice generating documentation for legacy code</a:t>
            </a:r>
          </a:p>
          <a:p>
            <a:pPr lvl="0"/>
            <a:r>
              <a:rPr dirty="0"/>
              <a:t>Identify missing or unclear areas</a:t>
            </a:r>
          </a:p>
          <a:p>
            <a:pPr lvl="0"/>
            <a:r>
              <a:rPr dirty="0"/>
              <a:t>Produce high‑signal summaries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Ask AI to generate:</a:t>
            </a:r>
          </a:p>
          <a:p>
            <a:pPr lvl="1"/>
            <a:r>
              <a:rPr dirty="0"/>
              <a:t>A summary</a:t>
            </a:r>
          </a:p>
          <a:p>
            <a:pPr lvl="1"/>
            <a:r>
              <a:rPr dirty="0"/>
              <a:t>Key responsibilities</a:t>
            </a:r>
          </a:p>
          <a:p>
            <a:pPr lvl="1"/>
            <a:r>
              <a:rPr dirty="0"/>
              <a:t>Inputs/outputs</a:t>
            </a:r>
          </a:p>
          <a:p>
            <a:pPr lvl="1"/>
            <a:r>
              <a:rPr dirty="0"/>
              <a:t>Known risks</a:t>
            </a:r>
          </a:p>
          <a:p>
            <a:pPr marL="342900" lvl="0" indent="-342900">
              <a:buAutoNum type="arabicPeriod"/>
            </a:pPr>
            <a:r>
              <a:rPr dirty="0"/>
              <a:t>Add provenance metadata</a:t>
            </a:r>
          </a:p>
          <a:p>
            <a:pPr marL="342900" lvl="0" indent="-342900">
              <a:buAutoNum type="arabicPeriod"/>
            </a:pPr>
            <a:r>
              <a:rPr dirty="0"/>
              <a:t>Review with a partner</a:t>
            </a:r>
          </a:p>
          <a:p>
            <a:pPr marL="0" lvl="0" indent="0">
              <a:spcBef>
                <a:spcPts val="3000"/>
              </a:spcBef>
              <a:buNone/>
            </a:pPr>
            <a:r>
              <a:rPr b="1" dirty="0"/>
              <a:t>Success Criteria</a:t>
            </a:r>
          </a:p>
          <a:p>
            <a:pPr lvl="0"/>
            <a:r>
              <a:rPr dirty="0"/>
              <a:t>Documentation is accurate and concise</a:t>
            </a:r>
          </a:p>
          <a:p>
            <a:pPr lvl="0"/>
            <a:r>
              <a:rPr dirty="0"/>
              <a:t>Risks and gaps are clearly identified</a:t>
            </a:r>
          </a:p>
          <a:p>
            <a:pPr lvl="0"/>
            <a:r>
              <a:rPr dirty="0"/>
              <a:t>Provenance is included</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Generate Development &amp; Deployment Guides</a:t>
            </a:r>
          </a:p>
        </p:txBody>
      </p:sp>
      <p:sp>
        <p:nvSpPr>
          <p:cNvPr id="3" name="Content Placeholder 2"/>
          <p:cNvSpPr>
            <a:spLocks noGrp="1"/>
          </p:cNvSpPr>
          <p:nvPr>
            <p:ph idx="1"/>
          </p:nvPr>
        </p:nvSpPr>
        <p:spPr/>
        <p:txBody>
          <a:bodyPr/>
          <a:lstStyle/>
          <a:p>
            <a:pPr marL="0" lvl="0" indent="0">
              <a:spcBef>
                <a:spcPts val="3000"/>
              </a:spcBef>
              <a:buNone/>
            </a:pPr>
            <a:r>
              <a:rPr b="1"/>
              <a:t>AI can produce:</a:t>
            </a:r>
          </a:p>
          <a:p>
            <a:pPr lvl="0"/>
            <a:r>
              <a:t>Setup instructions</a:t>
            </a:r>
          </a:p>
          <a:p>
            <a:pPr lvl="0"/>
            <a:r>
              <a:t>Local development workflows</a:t>
            </a:r>
          </a:p>
          <a:p>
            <a:pPr lvl="0"/>
            <a:r>
              <a:t>CI/CD pipeline explanations</a:t>
            </a:r>
          </a:p>
          <a:p>
            <a:pPr lvl="0"/>
            <a:r>
              <a:t>Deployment steps and rollback procedures</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Create Architecture Diagrams</a:t>
            </a:r>
          </a:p>
        </p:txBody>
      </p:sp>
      <p:sp>
        <p:nvSpPr>
          <p:cNvPr id="3" name="Content Placeholder 2"/>
          <p:cNvSpPr>
            <a:spLocks noGrp="1"/>
          </p:cNvSpPr>
          <p:nvPr>
            <p:ph idx="1"/>
          </p:nvPr>
        </p:nvSpPr>
        <p:spPr/>
        <p:txBody>
          <a:bodyPr/>
          <a:lstStyle/>
          <a:p>
            <a:pPr marL="0" lvl="0" indent="0">
              <a:spcBef>
                <a:spcPts val="3000"/>
              </a:spcBef>
              <a:buNone/>
            </a:pPr>
            <a:r>
              <a:rPr b="1"/>
              <a:t>AI‑generated diagrams include:</a:t>
            </a:r>
          </a:p>
          <a:p>
            <a:pPr lvl="0"/>
            <a:r>
              <a:t>System boundaries</a:t>
            </a:r>
          </a:p>
          <a:p>
            <a:pPr lvl="0"/>
            <a:r>
              <a:t>Module interactions</a:t>
            </a:r>
          </a:p>
          <a:p>
            <a:pPr lvl="0"/>
            <a:r>
              <a:t>Data flows</a:t>
            </a:r>
          </a:p>
          <a:p>
            <a:pPr lvl="0"/>
            <a:r>
              <a:t>Deployment environments</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Update Project Documentation</a:t>
            </a:r>
          </a:p>
        </p:txBody>
      </p:sp>
      <p:sp>
        <p:nvSpPr>
          <p:cNvPr id="3" name="Content Placeholder 2"/>
          <p:cNvSpPr>
            <a:spLocks noGrp="1"/>
          </p:cNvSpPr>
          <p:nvPr>
            <p:ph idx="1"/>
          </p:nvPr>
        </p:nvSpPr>
        <p:spPr/>
        <p:txBody>
          <a:bodyPr/>
          <a:lstStyle/>
          <a:p>
            <a:pPr marL="0" lvl="0" indent="0">
              <a:spcBef>
                <a:spcPts val="3000"/>
              </a:spcBef>
              <a:buNone/>
            </a:pPr>
            <a:r>
              <a:rPr b="1"/>
              <a:t>AI can update:</a:t>
            </a:r>
          </a:p>
          <a:p>
            <a:pPr lvl="0"/>
            <a:r>
              <a:t>CHANGELOGs</a:t>
            </a:r>
          </a:p>
          <a:p>
            <a:pPr lvl="0"/>
            <a:r>
              <a:t>CONTRIBUTING guides</a:t>
            </a:r>
          </a:p>
          <a:p>
            <a:pPr lvl="0"/>
            <a:r>
              <a:t>API references</a:t>
            </a:r>
          </a:p>
          <a:p>
            <a:pPr lvl="0"/>
            <a:r>
              <a:t>Module‑level docs</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Cross‑Validate With Multiple AI Models</a:t>
            </a:r>
          </a:p>
        </p:txBody>
      </p:sp>
      <p:sp>
        <p:nvSpPr>
          <p:cNvPr id="3" name="Content Placeholder 2"/>
          <p:cNvSpPr>
            <a:spLocks noGrp="1"/>
          </p:cNvSpPr>
          <p:nvPr>
            <p:ph idx="1"/>
          </p:nvPr>
        </p:nvSpPr>
        <p:spPr/>
        <p:txBody>
          <a:bodyPr/>
          <a:lstStyle/>
          <a:p>
            <a:pPr marL="0" lvl="0" indent="0">
              <a:spcBef>
                <a:spcPts val="3000"/>
              </a:spcBef>
              <a:buNone/>
            </a:pPr>
            <a:r>
              <a:rPr b="1"/>
              <a:t>Why cross‑validate?</a:t>
            </a:r>
          </a:p>
          <a:p>
            <a:pPr lvl="0"/>
            <a:r>
              <a:t>Reduce hallucinations</a:t>
            </a:r>
          </a:p>
          <a:p>
            <a:pPr lvl="0"/>
            <a:r>
              <a:t>Catch inconsistencies</a:t>
            </a:r>
          </a:p>
          <a:p>
            <a:pPr lvl="0"/>
            <a:r>
              <a:t>Improve accuracy</a:t>
            </a:r>
          </a:p>
          <a:p>
            <a:pPr lvl="0"/>
            <a:r>
              <a:t>Validate architectural assumptions</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Identifying Code Outside the Guardrails</a:t>
            </a:r>
          </a:p>
        </p:txBody>
      </p:sp>
      <p:sp>
        <p:nvSpPr>
          <p:cNvPr id="3" name="Content Placeholder 2"/>
          <p:cNvSpPr>
            <a:spLocks noGrp="1"/>
          </p:cNvSpPr>
          <p:nvPr>
            <p:ph idx="1"/>
          </p:nvPr>
        </p:nvSpPr>
        <p:spPr/>
        <p:txBody>
          <a:bodyPr numCol="2">
            <a:normAutofit fontScale="700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Detect code that violates architectural rules</a:t>
            </a:r>
          </a:p>
          <a:p>
            <a:pPr lvl="0"/>
            <a:r>
              <a:rPr dirty="0"/>
              <a:t>Identify patterns that contradict instruction files</a:t>
            </a:r>
          </a:p>
          <a:p>
            <a:pPr lvl="0"/>
            <a:r>
              <a:rPr dirty="0"/>
              <a:t>Practice safe analysis workflows</a:t>
            </a:r>
            <a:endParaRPr lang="en-US" dirty="0"/>
          </a:p>
          <a:p>
            <a:pPr lvl="0"/>
            <a:r>
              <a:rPr lang="en-US" dirty="0"/>
              <a:t>Make a </a:t>
            </a:r>
            <a:endParaRPr dirty="0"/>
          </a:p>
          <a:p>
            <a:pPr marL="0" lvl="0" indent="0">
              <a:spcBef>
                <a:spcPts val="3000"/>
              </a:spcBef>
              <a:buNone/>
            </a:pPr>
            <a:r>
              <a:rPr b="1" dirty="0"/>
              <a:t>Activities</a:t>
            </a:r>
          </a:p>
          <a:p>
            <a:pPr marL="342900" lvl="0" indent="-342900">
              <a:buAutoNum type="arabicPeriod"/>
            </a:pPr>
            <a:r>
              <a:rPr dirty="0"/>
              <a:t>Review </a:t>
            </a:r>
            <a:r>
              <a:rPr lang="en-US" dirty="0"/>
              <a:t>the </a:t>
            </a:r>
            <a:r>
              <a:rPr dirty="0"/>
              <a:t>code</a:t>
            </a:r>
          </a:p>
          <a:p>
            <a:pPr marL="342900" lvl="0" indent="-342900">
              <a:buAutoNum type="arabicPeriod"/>
            </a:pPr>
            <a:r>
              <a:rPr dirty="0"/>
              <a:t>Compare it against the instruction file</a:t>
            </a:r>
            <a:r>
              <a:rPr lang="en-US" dirty="0"/>
              <a:t>s</a:t>
            </a:r>
            <a:endParaRPr dirty="0"/>
          </a:p>
          <a:p>
            <a:pPr marL="342900" lvl="0" indent="-342900">
              <a:buAutoNum type="arabicPeriod"/>
            </a:pPr>
            <a:r>
              <a:rPr dirty="0"/>
              <a:t>Identify violations or risky patterns</a:t>
            </a:r>
          </a:p>
          <a:p>
            <a:pPr marL="342900" lvl="0" indent="-342900">
              <a:buAutoNum type="arabicPeriod"/>
            </a:pPr>
            <a:r>
              <a:rPr dirty="0"/>
              <a:t>Propose safe remediation steps</a:t>
            </a:r>
          </a:p>
          <a:p>
            <a:pPr marL="342900" lvl="0" indent="-342900">
              <a:buAutoNum type="arabicPeriod"/>
            </a:pPr>
            <a:r>
              <a:rPr dirty="0"/>
              <a:t>Document findings with provenance</a:t>
            </a:r>
          </a:p>
          <a:p>
            <a:pPr marL="0" lvl="0" indent="0">
              <a:spcBef>
                <a:spcPts val="3000"/>
              </a:spcBef>
              <a:buNone/>
            </a:pPr>
            <a:r>
              <a:rPr b="1" dirty="0"/>
              <a:t>Success Criteria</a:t>
            </a:r>
          </a:p>
          <a:p>
            <a:pPr lvl="0"/>
            <a:r>
              <a:rPr lang="en-US" dirty="0"/>
              <a:t>Deviations</a:t>
            </a:r>
            <a:r>
              <a:rPr dirty="0"/>
              <a:t> are correctly identified</a:t>
            </a:r>
          </a:p>
          <a:p>
            <a:pPr lvl="0"/>
            <a:r>
              <a:rPr dirty="0"/>
              <a:t>Remediation steps are safe and incremental</a:t>
            </a:r>
          </a:p>
          <a:p>
            <a:pPr lvl="0"/>
            <a:r>
              <a:rPr dirty="0"/>
              <a:t>Documentation includes provenance</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07D1-0F26-01DE-05BE-6EA057E7D606}"/>
              </a:ext>
            </a:extLst>
          </p:cNvPr>
          <p:cNvSpPr>
            <a:spLocks noGrp="1"/>
          </p:cNvSpPr>
          <p:nvPr>
            <p:ph type="title"/>
          </p:nvPr>
        </p:nvSpPr>
        <p:spPr/>
        <p:txBody>
          <a:bodyPr>
            <a:noAutofit/>
          </a:bodyPr>
          <a:lstStyle/>
          <a:p>
            <a:r>
              <a:rPr lang="en-US" sz="2400" dirty="0"/>
              <a:t>Exercise: Fork the AIASD-20260209-BF Repo</a:t>
            </a:r>
          </a:p>
        </p:txBody>
      </p:sp>
      <p:sp>
        <p:nvSpPr>
          <p:cNvPr id="3" name="Content Placeholder 2">
            <a:extLst>
              <a:ext uri="{FF2B5EF4-FFF2-40B4-BE49-F238E27FC236}">
                <a16:creationId xmlns:a16="http://schemas.microsoft.com/office/drawing/2014/main" id="{7C7B78DF-7220-8FC4-1D1A-6A72720EE36A}"/>
              </a:ext>
            </a:extLst>
          </p:cNvPr>
          <p:cNvSpPr>
            <a:spLocks noGrp="1"/>
          </p:cNvSpPr>
          <p:nvPr>
            <p:ph idx="1"/>
          </p:nvPr>
        </p:nvSpPr>
        <p:spPr/>
        <p:txBody>
          <a:bodyPr numCol="2">
            <a:normAutofit lnSpcReduction="10000"/>
          </a:bodyPr>
          <a:lstStyle/>
          <a:p>
            <a:pPr marL="0" indent="0">
              <a:buNone/>
            </a:pPr>
            <a:r>
              <a:rPr lang="en-US" dirty="0"/>
              <a:t>Duration: 20 minutes</a:t>
            </a:r>
          </a:p>
          <a:p>
            <a:pPr marL="0" indent="0">
              <a:buNone/>
            </a:pPr>
            <a:endParaRPr lang="en-US" dirty="0"/>
          </a:p>
          <a:p>
            <a:pPr marL="0" indent="0">
              <a:buNone/>
            </a:pPr>
            <a:r>
              <a:rPr lang="en-US" b="1" dirty="0"/>
              <a:t>Objectives:</a:t>
            </a:r>
            <a:r>
              <a:rPr lang="en-US" dirty="0"/>
              <a:t> Explore an unfamiliar codebase</a:t>
            </a:r>
          </a:p>
          <a:p>
            <a:pPr marL="0" indent="0">
              <a:buNone/>
            </a:pPr>
            <a:endParaRPr lang="en-US" dirty="0"/>
          </a:p>
          <a:p>
            <a:pPr marL="0" indent="0">
              <a:buNone/>
            </a:pPr>
            <a:r>
              <a:rPr lang="en-US" b="1" dirty="0"/>
              <a:t>Activities</a:t>
            </a:r>
          </a:p>
          <a:p>
            <a:pPr marL="457200" indent="-457200">
              <a:buAutoNum type="arabicPeriod"/>
            </a:pPr>
            <a:r>
              <a:rPr lang="en-US" dirty="0"/>
              <a:t>Fork this repo </a:t>
            </a:r>
            <a:r>
              <a:rPr lang="en-US" sz="1100" dirty="0"/>
              <a:t>https://github.com/j0hnnymiller/AIASD-20260209-BF.git</a:t>
            </a:r>
            <a:endParaRPr lang="en-US" dirty="0"/>
          </a:p>
          <a:p>
            <a:pPr marL="457200" indent="-457200">
              <a:buAutoNum type="arabicPeriod"/>
            </a:pPr>
            <a:r>
              <a:rPr lang="en-US" dirty="0"/>
              <a:t>Clone the forked repo</a:t>
            </a:r>
          </a:p>
          <a:p>
            <a:pPr marL="457200" indent="-457200">
              <a:buAutoNum type="arabicPeriod"/>
            </a:pPr>
            <a:r>
              <a:rPr lang="en-US" dirty="0"/>
              <a:t>Create a GitHub PAT </a:t>
            </a:r>
            <a:r>
              <a:rPr lang="en-US" sz="1300" dirty="0"/>
              <a:t>https://github.com/settings/tokens</a:t>
            </a:r>
            <a:endParaRPr lang="en-US" dirty="0"/>
          </a:p>
          <a:p>
            <a:pPr marL="457200" indent="-457200">
              <a:buAutoNum type="arabicPeriod"/>
            </a:pPr>
            <a:r>
              <a:rPr lang="en-US" dirty="0"/>
              <a:t>Store the PAT in the GITHUB_TOKEN environment variable</a:t>
            </a:r>
          </a:p>
          <a:p>
            <a:pPr marL="0" indent="0">
              <a:buNone/>
            </a:pPr>
            <a:endParaRPr lang="en-US" dirty="0"/>
          </a:p>
          <a:p>
            <a:pPr marL="0" indent="0">
              <a:buNone/>
            </a:pPr>
            <a:r>
              <a:rPr lang="en-US" b="1" dirty="0"/>
              <a:t>Success Criteria</a:t>
            </a:r>
          </a:p>
          <a:p>
            <a:r>
              <a:rPr lang="en-US" dirty="0"/>
              <a:t>Repo is available locally</a:t>
            </a:r>
          </a:p>
        </p:txBody>
      </p:sp>
    </p:spTree>
    <p:extLst>
      <p:ext uri="{BB962C8B-B14F-4D97-AF65-F5344CB8AC3E}">
        <p14:creationId xmlns:p14="http://schemas.microsoft.com/office/powerpoint/2010/main" val="216465364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2E5F2-FD7E-4E16-9687-DAA44BF59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FB955-6DE0-1D9D-0EE7-F5F3D9CCF7F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BA72A86F-3390-5B7A-2B06-0B2AD0C74539}"/>
              </a:ext>
            </a:extLst>
          </p:cNvPr>
          <p:cNvGraphicFramePr>
            <a:graphicFrameLocks noGrp="1"/>
          </p:cNvGraphicFramePr>
          <p:nvPr>
            <p:ph idx="1"/>
            <p:extLst>
              <p:ext uri="{D42A27DB-BD31-4B8C-83A1-F6EECF244321}">
                <p14:modId xmlns:p14="http://schemas.microsoft.com/office/powerpoint/2010/main" val="397870282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5824905"/>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Building a Backlog</a:t>
            </a:r>
          </a:p>
        </p:txBody>
      </p:sp>
      <p:sp>
        <p:nvSpPr>
          <p:cNvPr id="3" name="Content Placeholder 2"/>
          <p:cNvSpPr>
            <a:spLocks noGrp="1"/>
          </p:cNvSpPr>
          <p:nvPr>
            <p:ph idx="1"/>
          </p:nvPr>
        </p:nvSpPr>
        <p:spPr/>
        <p:txBody>
          <a:bodyPr/>
          <a:lstStyle/>
          <a:p>
            <a:pPr lvl="0"/>
            <a:r>
              <a:t>Identifying technical debt</a:t>
            </a:r>
          </a:p>
          <a:p>
            <a:pPr lvl="0"/>
            <a:r>
              <a:t>Automating the creation of GitHub issues</a:t>
            </a:r>
          </a:p>
          <a:p>
            <a:pPr lvl="0"/>
            <a:r>
              <a:t>Exercise: Building the backlog</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Identifying Technical Debt</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surface:</a:t>
            </a:r>
          </a:p>
          <a:p>
            <a:pPr lvl="0"/>
            <a:r>
              <a:t>Outdated patterns</a:t>
            </a:r>
          </a:p>
          <a:p>
            <a:pPr lvl="0"/>
            <a:r>
              <a:t>High‑complexity functions</a:t>
            </a:r>
          </a:p>
          <a:p>
            <a:pPr lvl="0"/>
            <a:r>
              <a:t>Duplicate logic</a:t>
            </a:r>
          </a:p>
          <a:p>
            <a:pPr lvl="0"/>
            <a:r>
              <a:t>Missing tests</a:t>
            </a:r>
          </a:p>
          <a:p>
            <a:pPr lvl="0"/>
            <a:r>
              <a:t>Security vulnerabilities</a:t>
            </a:r>
          </a:p>
          <a:p>
            <a:pPr lvl="0"/>
            <a:r>
              <a:t>Architectural drift</a:t>
            </a:r>
          </a:p>
          <a:p>
            <a:pPr marL="0" lvl="0" indent="0">
              <a:spcBef>
                <a:spcPts val="3000"/>
              </a:spcBef>
              <a:buNone/>
            </a:pPr>
            <a:r>
              <a:rPr b="1"/>
              <a:t>Benefits</a:t>
            </a:r>
          </a:p>
          <a:p>
            <a:pPr lvl="0"/>
            <a:r>
              <a:t>Faster discovery</a:t>
            </a:r>
          </a:p>
          <a:p>
            <a:pPr lvl="0"/>
            <a:r>
              <a:t>More consistent classification</a:t>
            </a:r>
          </a:p>
          <a:p>
            <a:pPr lvl="0"/>
            <a:r>
              <a:t>Prioritized modernization roadmap</a:t>
            </a: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Automating the Creation of GitHub Issues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help generate:</a:t>
            </a:r>
          </a:p>
          <a:p>
            <a:pPr lvl="0"/>
            <a:r>
              <a:t>Issue titles</a:t>
            </a:r>
          </a:p>
          <a:p>
            <a:pPr lvl="0"/>
            <a:r>
              <a:t>Detailed descriptions</a:t>
            </a:r>
          </a:p>
          <a:p>
            <a:pPr lvl="0"/>
            <a:r>
              <a:t>Acceptance criteria</a:t>
            </a:r>
          </a:p>
          <a:p>
            <a:pPr lvl="0"/>
            <a:r>
              <a:t>Labels and metadata</a:t>
            </a:r>
          </a:p>
          <a:p>
            <a:pPr lvl="0"/>
            <a:r>
              <a:t>Suggested remediation steps</a:t>
            </a:r>
          </a:p>
          <a:p>
            <a:pPr marL="0" lvl="0" indent="0">
              <a:spcBef>
                <a:spcPts val="3000"/>
              </a:spcBef>
              <a:buNone/>
            </a:pPr>
            <a:r>
              <a:rPr b="1"/>
              <a:t>Why automate?</a:t>
            </a:r>
          </a:p>
          <a:p>
            <a:pPr lvl="0"/>
            <a:r>
              <a:t>Ensures consistency</a:t>
            </a:r>
          </a:p>
          <a:p>
            <a:pPr lvl="0"/>
            <a:r>
              <a:t>Reduces manual backlog grooming</a:t>
            </a:r>
          </a:p>
          <a:p>
            <a:pPr lvl="0"/>
            <a:r>
              <a:t>Produces actionable, high‑signal issues</a:t>
            </a:r>
          </a:p>
          <a:p>
            <a:pPr lvl="0"/>
            <a:r>
              <a:t>Accelerates modernization planning</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Backlog</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identifying technical debt</a:t>
            </a:r>
          </a:p>
          <a:p>
            <a:pPr lvl="0"/>
            <a:r>
              <a:rPr dirty="0"/>
              <a:t>Convert findings into actionable GitHub issues</a:t>
            </a:r>
          </a:p>
          <a:p>
            <a:pPr lvl="0"/>
            <a:r>
              <a:rPr dirty="0"/>
              <a:t>Apply consistent structure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lang="en-US" dirty="0"/>
              <a:t>Use</a:t>
            </a:r>
            <a:r>
              <a:rPr dirty="0"/>
              <a:t> AI to identify:</a:t>
            </a:r>
          </a:p>
          <a:p>
            <a:pPr lvl="1"/>
            <a:r>
              <a:rPr dirty="0"/>
              <a:t>Technical debt</a:t>
            </a:r>
          </a:p>
          <a:p>
            <a:pPr lvl="1"/>
            <a:r>
              <a:rPr dirty="0"/>
              <a:t>Risks</a:t>
            </a:r>
          </a:p>
          <a:p>
            <a:pPr lvl="1"/>
            <a:r>
              <a:rPr lang="en-US" dirty="0"/>
              <a:t>Test confidence</a:t>
            </a:r>
            <a:endParaRPr dirty="0"/>
          </a:p>
          <a:p>
            <a:pPr lvl="1"/>
            <a:r>
              <a:rPr dirty="0"/>
              <a:t>Architectural</a:t>
            </a:r>
            <a:r>
              <a:rPr lang="en-US" dirty="0"/>
              <a:t> issues</a:t>
            </a:r>
            <a:endParaRPr dirty="0"/>
          </a:p>
          <a:p>
            <a:pPr marL="342900" lvl="0" indent="-342900">
              <a:buAutoNum type="arabicPeriod"/>
            </a:pPr>
            <a:r>
              <a:rPr dirty="0"/>
              <a:t>Convert each finding into a GitHub issue with:</a:t>
            </a:r>
          </a:p>
          <a:p>
            <a:pPr lvl="1"/>
            <a:r>
              <a:rPr dirty="0"/>
              <a:t>Title</a:t>
            </a:r>
          </a:p>
          <a:p>
            <a:pPr lvl="1"/>
            <a:r>
              <a:rPr dirty="0"/>
              <a:t>Description</a:t>
            </a:r>
          </a:p>
          <a:p>
            <a:pPr lvl="1"/>
            <a:r>
              <a:rPr dirty="0"/>
              <a:t>Acceptance criteria</a:t>
            </a:r>
          </a:p>
          <a:p>
            <a:pPr lvl="1"/>
            <a:r>
              <a:rPr dirty="0"/>
              <a:t>Labels</a:t>
            </a:r>
          </a:p>
          <a:p>
            <a:pPr marL="342900" lvl="0" indent="-342900">
              <a:buAutoNum type="arabicPeriod"/>
            </a:pPr>
            <a:r>
              <a:rPr dirty="0"/>
              <a:t>Prioritize the issues using impact vs. effort.</a:t>
            </a:r>
          </a:p>
          <a:p>
            <a:pPr marL="0" lvl="0" indent="0">
              <a:spcBef>
                <a:spcPts val="3000"/>
              </a:spcBef>
              <a:buNone/>
            </a:pPr>
            <a:r>
              <a:rPr b="1" dirty="0"/>
              <a:t>Success Criteria</a:t>
            </a:r>
          </a:p>
          <a:p>
            <a:pPr lvl="0"/>
            <a:r>
              <a:rPr dirty="0"/>
              <a:t>Issues are clear, actionable, and well‑structured</a:t>
            </a:r>
          </a:p>
          <a:p>
            <a:pPr lvl="0"/>
            <a:r>
              <a:rPr dirty="0"/>
              <a:t>Prioritization reflects real risk and effort</a:t>
            </a:r>
          </a:p>
          <a:p>
            <a:pPr lvl="0"/>
            <a:r>
              <a:rPr dirty="0"/>
              <a:t>Backlog is ready for </a:t>
            </a:r>
            <a:r>
              <a:rPr lang="en-US" dirty="0"/>
              <a:t>implementation</a:t>
            </a:r>
            <a:endParaRPr dirty="0"/>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2F94-66A8-C24E-8B89-4B5B3EC58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08A13-4351-3177-F6D2-3C0A5B88CE75}"/>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4A7E8AF-CB5E-5420-0C4B-436C5935E7A9}"/>
              </a:ext>
            </a:extLst>
          </p:cNvPr>
          <p:cNvGraphicFramePr>
            <a:graphicFrameLocks noGrp="1"/>
          </p:cNvGraphicFramePr>
          <p:nvPr>
            <p:ph idx="1"/>
            <p:extLst>
              <p:ext uri="{D42A27DB-BD31-4B8C-83A1-F6EECF244321}">
                <p14:modId xmlns:p14="http://schemas.microsoft.com/office/powerpoint/2010/main" val="321300959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747338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Building Safety Nets</a:t>
            </a:r>
          </a:p>
        </p:txBody>
      </p:sp>
      <p:sp>
        <p:nvSpPr>
          <p:cNvPr id="3" name="Content Placeholder 2"/>
          <p:cNvSpPr>
            <a:spLocks noGrp="1"/>
          </p:cNvSpPr>
          <p:nvPr>
            <p:ph idx="1"/>
          </p:nvPr>
        </p:nvSpPr>
        <p:spPr/>
        <p:txBody>
          <a:bodyPr/>
          <a:lstStyle/>
          <a:p>
            <a:pPr lvl="0"/>
            <a:r>
              <a:t>Protecting brownfield codebases</a:t>
            </a:r>
          </a:p>
          <a:p>
            <a:pPr lvl="0"/>
            <a:r>
              <a:t>Leveraging AI code reviews</a:t>
            </a:r>
          </a:p>
          <a:p>
            <a:pPr lvl="0"/>
            <a:r>
              <a:t>Effective human code reviews</a:t>
            </a:r>
          </a:p>
          <a:p>
            <a:pPr lvl="0"/>
            <a:r>
              <a:t>The role of test automation</a:t>
            </a:r>
          </a:p>
          <a:p>
            <a:pPr lvl="0"/>
            <a:r>
              <a:t>Exercise: Building safety nets in practice</a:t>
            </a: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Protecting Brownfield Codebases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Key Practices</a:t>
            </a:r>
          </a:p>
          <a:p>
            <a:pPr lvl="0"/>
            <a:r>
              <a:t>Preserve existing behavior unless intentionally changed</a:t>
            </a:r>
          </a:p>
          <a:p>
            <a:pPr lvl="0"/>
            <a:r>
              <a:t>Avoid large, risky refactors</a:t>
            </a:r>
          </a:p>
          <a:p>
            <a:pPr lvl="0"/>
            <a:r>
              <a:t>Use incremental modernization</a:t>
            </a:r>
          </a:p>
          <a:p>
            <a:pPr lvl="0"/>
            <a:r>
              <a:t>Maintain architectural boundaries</a:t>
            </a:r>
          </a:p>
          <a:p>
            <a:pPr lvl="0"/>
            <a:r>
              <a:t>Document every AI-assisted change</a:t>
            </a:r>
          </a:p>
          <a:p>
            <a:pPr marL="0" lvl="0" indent="0">
              <a:spcBef>
                <a:spcPts val="3000"/>
              </a:spcBef>
              <a:buNone/>
            </a:pPr>
            <a:r>
              <a:rPr b="1"/>
              <a:t>Why it matters</a:t>
            </a:r>
          </a:p>
          <a:p>
            <a:pPr lvl="0"/>
            <a:r>
              <a:t>Brownfield systems run the business</a:t>
            </a:r>
          </a:p>
          <a:p>
            <a:pPr lvl="0"/>
            <a:r>
              <a:t>Stability is more important than novelty</a:t>
            </a:r>
          </a:p>
          <a:p>
            <a:pPr lvl="0"/>
            <a:r>
              <a:t>Safety nets reduce fear and increase confidence</a:t>
            </a: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Leveraging AI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assist by:</a:t>
            </a:r>
          </a:p>
          <a:p>
            <a:pPr lvl="0"/>
            <a:r>
              <a:t>Highlighting risky changes</a:t>
            </a:r>
          </a:p>
          <a:p>
            <a:pPr lvl="0"/>
            <a:r>
              <a:t>Detecting missing tests</a:t>
            </a:r>
          </a:p>
          <a:p>
            <a:pPr lvl="0"/>
            <a:r>
              <a:t>Identifying architectural violations</a:t>
            </a:r>
          </a:p>
          <a:p>
            <a:pPr lvl="0"/>
            <a:r>
              <a:t>Suggesting safer alternatives</a:t>
            </a:r>
          </a:p>
          <a:p>
            <a:pPr lvl="0"/>
            <a:r>
              <a:t>Surfacing potential regressions</a:t>
            </a:r>
          </a:p>
          <a:p>
            <a:pPr marL="0" lvl="0" indent="0">
              <a:spcBef>
                <a:spcPts val="3000"/>
              </a:spcBef>
              <a:buNone/>
            </a:pPr>
            <a:r>
              <a:rPr b="1"/>
              <a:t>Benefits</a:t>
            </a:r>
          </a:p>
          <a:p>
            <a:pPr lvl="0"/>
            <a:r>
              <a:t>Faster feedback loops</a:t>
            </a:r>
          </a:p>
          <a:p>
            <a:pPr lvl="0"/>
            <a:r>
              <a:t>More consistent review quality</a:t>
            </a:r>
          </a:p>
          <a:p>
            <a:pPr lvl="0"/>
            <a:r>
              <a:t>Early detection of drift</a:t>
            </a: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Effective Human Code Reviews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Human reviewers focus on:</a:t>
            </a:r>
          </a:p>
          <a:p>
            <a:pPr lvl="0"/>
            <a:r>
              <a:t>Intent and correctness</a:t>
            </a:r>
          </a:p>
          <a:p>
            <a:pPr lvl="0"/>
            <a:r>
              <a:t>Architectural alignment</a:t>
            </a:r>
          </a:p>
          <a:p>
            <a:pPr lvl="0"/>
            <a:r>
              <a:t>Business logic validation</a:t>
            </a:r>
          </a:p>
          <a:p>
            <a:pPr lvl="0"/>
            <a:r>
              <a:t>Risk assessment</a:t>
            </a:r>
          </a:p>
          <a:p>
            <a:pPr lvl="0"/>
            <a:r>
              <a:t>Ensuring changes are incremental and reversible</a:t>
            </a:r>
          </a:p>
          <a:p>
            <a:pPr marL="0" lvl="0" indent="0">
              <a:spcBef>
                <a:spcPts val="3000"/>
              </a:spcBef>
              <a:buNone/>
            </a:pPr>
            <a:r>
              <a:rPr b="1"/>
              <a:t>Best practices</a:t>
            </a:r>
          </a:p>
          <a:p>
            <a:pPr lvl="0"/>
            <a:r>
              <a:t>Review small change sets</a:t>
            </a:r>
          </a:p>
          <a:p>
            <a:pPr lvl="0"/>
            <a:r>
              <a:t>Ask for context when missing</a:t>
            </a:r>
          </a:p>
          <a:p>
            <a:pPr lvl="0"/>
            <a:r>
              <a:t>Validate AI-generated code with skepticism and curiosity</a:t>
            </a: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The Role of Test Automation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Test automation provides:</a:t>
            </a:r>
          </a:p>
          <a:p>
            <a:pPr lvl="0"/>
            <a:r>
              <a:t>Behavioral guarantees</a:t>
            </a:r>
          </a:p>
          <a:p>
            <a:pPr lvl="0"/>
            <a:r>
              <a:t>Regression detection</a:t>
            </a:r>
          </a:p>
          <a:p>
            <a:pPr lvl="0"/>
            <a:r>
              <a:t>Confidence for modernization</a:t>
            </a:r>
          </a:p>
          <a:p>
            <a:pPr lvl="0"/>
            <a:r>
              <a:t>Guardrails for AI-assisted refactoring</a:t>
            </a:r>
          </a:p>
          <a:p>
            <a:pPr marL="0" lvl="0" indent="0">
              <a:spcBef>
                <a:spcPts val="3000"/>
              </a:spcBef>
              <a:buNone/>
            </a:pPr>
            <a:r>
              <a:rPr b="1"/>
              <a:t>Types of tests</a:t>
            </a:r>
          </a:p>
          <a:p>
            <a:pPr lvl="0"/>
            <a:r>
              <a:t>Unit tests</a:t>
            </a:r>
          </a:p>
          <a:p>
            <a:pPr lvl="0"/>
            <a:r>
              <a:t>Integration tests</a:t>
            </a:r>
          </a:p>
          <a:p>
            <a:pPr lvl="0"/>
            <a:r>
              <a:t>End-to-end tests</a:t>
            </a:r>
          </a:p>
          <a:p>
            <a:pPr lvl="0"/>
            <a:r>
              <a:t>Snapshot and contract tests</a:t>
            </a: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Building the Safety Nets</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missing safety nets in a brownfield system</a:t>
            </a:r>
          </a:p>
          <a:p>
            <a:pPr lvl="0"/>
            <a:r>
              <a:rPr dirty="0"/>
              <a:t>Strengthen protection using AI and human review practices</a:t>
            </a:r>
          </a:p>
          <a:p>
            <a:pPr lvl="0"/>
            <a:r>
              <a:rPr dirty="0"/>
              <a:t>Apply test automation principles</a:t>
            </a:r>
          </a:p>
          <a:p>
            <a:pPr lvl="0"/>
            <a:r>
              <a:rPr dirty="0"/>
              <a:t>Produce actionable improvements</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Identify existing safety nets (tests, reviews, documentation).</a:t>
            </a:r>
          </a:p>
          <a:p>
            <a:pPr marL="342900" lvl="0" indent="-342900">
              <a:buAutoNum type="arabicPeriod"/>
            </a:pPr>
            <a:r>
              <a:rPr dirty="0"/>
              <a:t>Ask AI to identify missing or weak safety nets.</a:t>
            </a:r>
          </a:p>
          <a:p>
            <a:pPr marL="342900" lvl="0" indent="-342900">
              <a:buAutoNum type="arabicPeriod"/>
            </a:pPr>
            <a:r>
              <a:rPr dirty="0"/>
              <a:t>Strengthen the safety nets by:</a:t>
            </a:r>
          </a:p>
          <a:p>
            <a:pPr lvl="1"/>
            <a:r>
              <a:rPr dirty="0"/>
              <a:t>Adding or updating tests</a:t>
            </a:r>
          </a:p>
          <a:p>
            <a:pPr lvl="1"/>
            <a:r>
              <a:rPr dirty="0"/>
              <a:t>Drafting review checklists</a:t>
            </a:r>
          </a:p>
          <a:p>
            <a:pPr lvl="1"/>
            <a:r>
              <a:rPr dirty="0"/>
              <a:t>Documenting architectural constraints</a:t>
            </a:r>
          </a:p>
          <a:p>
            <a:pPr marL="342900" lvl="0" indent="-342900">
              <a:buAutoNum type="arabicPeriod"/>
            </a:pPr>
            <a:r>
              <a:rPr dirty="0"/>
              <a:t>Share findings with a partner for validation.</a:t>
            </a:r>
          </a:p>
          <a:p>
            <a:pPr marL="0" lvl="0" indent="0">
              <a:spcBef>
                <a:spcPts val="3000"/>
              </a:spcBef>
              <a:buNone/>
            </a:pPr>
            <a:r>
              <a:rPr b="1" dirty="0"/>
              <a:t>Success Criteria</a:t>
            </a:r>
          </a:p>
          <a:p>
            <a:pPr lvl="0"/>
            <a:r>
              <a:rPr dirty="0"/>
              <a:t>Missing safety nets are clearly identified</a:t>
            </a:r>
          </a:p>
          <a:p>
            <a:pPr lvl="0"/>
            <a:r>
              <a:rPr dirty="0"/>
              <a:t>Proposed improvements are safe and incremental</a:t>
            </a:r>
          </a:p>
          <a:p>
            <a:pPr lvl="0"/>
            <a:r>
              <a:rPr dirty="0"/>
              <a:t>Test coverage or clarity is improved</a:t>
            </a:r>
          </a:p>
          <a:p>
            <a:pPr lvl="0"/>
            <a:r>
              <a:rPr dirty="0"/>
              <a:t>Review and documentation guardrails are strengthened</a:t>
            </a: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FABF-F95F-400C-5344-16DD9B4C7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90F1E-CABB-AF53-6E03-FEE86EDB6E2C}"/>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99357BC-0016-CF2D-B54C-3ED307E9DBC9}"/>
              </a:ext>
            </a:extLst>
          </p:cNvPr>
          <p:cNvGraphicFramePr>
            <a:graphicFrameLocks noGrp="1"/>
          </p:cNvGraphicFramePr>
          <p:nvPr>
            <p:ph idx="1"/>
            <p:extLst>
              <p:ext uri="{D42A27DB-BD31-4B8C-83A1-F6EECF244321}">
                <p14:modId xmlns:p14="http://schemas.microsoft.com/office/powerpoint/2010/main" val="265190771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2704256"/>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Test Automation &amp; Code Quality</a:t>
            </a:r>
          </a:p>
        </p:txBody>
      </p:sp>
      <p:sp>
        <p:nvSpPr>
          <p:cNvPr id="3" name="Content Placeholder 2"/>
          <p:cNvSpPr>
            <a:spLocks noGrp="1"/>
          </p:cNvSpPr>
          <p:nvPr>
            <p:ph idx="1"/>
          </p:nvPr>
        </p:nvSpPr>
        <p:spPr/>
        <p:txBody>
          <a:bodyPr/>
          <a:lstStyle/>
          <a:p>
            <a:pPr lvl="0"/>
            <a:r>
              <a:t>AI‑assisted test generation (unit, integration, E2E)</a:t>
            </a:r>
          </a:p>
          <a:p>
            <a:pPr lvl="0"/>
            <a:r>
              <a:t>Intelligent linting beyond static analysis</a:t>
            </a:r>
          </a:p>
          <a:p>
            <a:pPr lvl="0"/>
            <a:r>
              <a:t>Coverage analysis and test adequacy assessment</a:t>
            </a:r>
          </a:p>
          <a:p>
            <a:pPr lvl="0"/>
            <a:r>
              <a:t>Automated quality gates</a:t>
            </a:r>
          </a:p>
          <a:p>
            <a:pPr lvl="0"/>
            <a:r>
              <a:t>Exercise: Strengthening test automation &amp; quality</a:t>
            </a:r>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AI‑Assisted Test Generation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generate:</a:t>
            </a:r>
          </a:p>
          <a:p>
            <a:pPr lvl="0"/>
            <a:r>
              <a:rPr b="1"/>
              <a:t>Unit tests</a:t>
            </a:r>
            <a:r>
              <a:t> for functions, classes, and utilities</a:t>
            </a:r>
          </a:p>
          <a:p>
            <a:pPr lvl="0"/>
            <a:r>
              <a:rPr b="1"/>
              <a:t>Integration tests</a:t>
            </a:r>
            <a:r>
              <a:t> for module interactions</a:t>
            </a:r>
          </a:p>
          <a:p>
            <a:pPr lvl="0"/>
            <a:r>
              <a:rPr b="1"/>
              <a:t>End‑to‑end tests</a:t>
            </a:r>
            <a:r>
              <a:t> for full workflows</a:t>
            </a:r>
          </a:p>
          <a:p>
            <a:pPr lvl="0"/>
            <a:r>
              <a:rPr b="1"/>
              <a:t>Edge‑case tests</a:t>
            </a:r>
            <a:r>
              <a:t> and regression scenarios</a:t>
            </a:r>
          </a:p>
          <a:p>
            <a:pPr lvl="0"/>
            <a:r>
              <a:rPr b="1"/>
              <a:t>Contract tests</a:t>
            </a:r>
            <a:r>
              <a:t> for APIs and services</a:t>
            </a:r>
          </a:p>
          <a:p>
            <a:pPr marL="0" lvl="0" indent="0">
              <a:spcBef>
                <a:spcPts val="3000"/>
              </a:spcBef>
              <a:buNone/>
            </a:pPr>
            <a:r>
              <a:rPr b="1"/>
              <a:t>Benefits</a:t>
            </a:r>
          </a:p>
          <a:p>
            <a:pPr lvl="0"/>
            <a:r>
              <a:t>Rapid coverage expansion</a:t>
            </a:r>
          </a:p>
          <a:p>
            <a:pPr lvl="0"/>
            <a:r>
              <a:t>Consistent structure and naming</a:t>
            </a:r>
          </a:p>
          <a:p>
            <a:pPr lvl="0"/>
            <a:r>
              <a:t>Reduced onboarding time</a:t>
            </a: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Intelligent Linting</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AI‑enhanced linting can detect:</a:t>
            </a:r>
          </a:p>
          <a:p>
            <a:pPr lvl="0"/>
            <a:r>
              <a:t>Architectural violations</a:t>
            </a:r>
          </a:p>
          <a:p>
            <a:pPr lvl="0"/>
            <a:r>
              <a:t>Anti‑patterns</a:t>
            </a:r>
          </a:p>
          <a:p>
            <a:pPr lvl="0"/>
            <a:r>
              <a:t>Unsafe refactors</a:t>
            </a:r>
          </a:p>
          <a:p>
            <a:pPr lvl="0"/>
            <a:r>
              <a:t>Missing documentation</a:t>
            </a:r>
          </a:p>
          <a:p>
            <a:pPr lvl="0"/>
            <a:r>
              <a:t>Inconsistent naming or domain terminology</a:t>
            </a:r>
          </a:p>
          <a:p>
            <a:pPr marL="0" lvl="0" indent="0">
              <a:spcBef>
                <a:spcPts val="3000"/>
              </a:spcBef>
              <a:buNone/>
            </a:pPr>
            <a:r>
              <a:rPr b="1"/>
              <a:t>Why it matters</a:t>
            </a:r>
          </a:p>
          <a:p>
            <a:pPr lvl="0"/>
            <a:r>
              <a:t>Goes beyond syntax</a:t>
            </a:r>
          </a:p>
          <a:p>
            <a:pPr lvl="0"/>
            <a:r>
              <a:t>Enforces architectural guardrails</a:t>
            </a:r>
          </a:p>
          <a:p>
            <a:pPr lvl="0"/>
            <a:r>
              <a:t>Reduces long‑term technical debt</a:t>
            </a:r>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Coverage Analysis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AI can help evaluate:</a:t>
            </a:r>
          </a:p>
          <a:p>
            <a:pPr lvl="0"/>
            <a:r>
              <a:t>Coverage gaps</a:t>
            </a:r>
          </a:p>
          <a:p>
            <a:pPr lvl="0"/>
            <a:r>
              <a:t>Missing edge cases</a:t>
            </a:r>
          </a:p>
          <a:p>
            <a:pPr lvl="0"/>
            <a:r>
              <a:t>Over‑testing of implementation details</a:t>
            </a:r>
          </a:p>
          <a:p>
            <a:pPr lvl="0"/>
            <a:r>
              <a:t>Under‑testing of business logic</a:t>
            </a:r>
          </a:p>
          <a:p>
            <a:pPr lvl="0"/>
            <a:r>
              <a:t>Redundant or brittle tests</a:t>
            </a:r>
          </a:p>
          <a:p>
            <a:pPr marL="0" lvl="0" indent="0">
              <a:spcBef>
                <a:spcPts val="3000"/>
              </a:spcBef>
              <a:buNone/>
            </a:pPr>
            <a:r>
              <a:rPr b="1"/>
              <a:t>Outcomes</a:t>
            </a:r>
          </a:p>
          <a:p>
            <a:pPr lvl="0"/>
            <a:r>
              <a:t>More meaningful coverage</a:t>
            </a:r>
          </a:p>
          <a:p>
            <a:pPr lvl="0"/>
            <a:r>
              <a:t>Better alignment with real behavior</a:t>
            </a:r>
          </a:p>
          <a:p>
            <a:pPr lvl="0"/>
            <a:r>
              <a:t>Reduced maintenance burden</a:t>
            </a:r>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Automated Quality Gates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Quality gates can enforce:</a:t>
            </a:r>
          </a:p>
          <a:p>
            <a:pPr lvl="0"/>
            <a:r>
              <a:t>Minimum test coverage</a:t>
            </a:r>
          </a:p>
          <a:p>
            <a:pPr lvl="0"/>
            <a:r>
              <a:t>Linting and architectural checks</a:t>
            </a:r>
          </a:p>
          <a:p>
            <a:pPr lvl="0"/>
            <a:r>
              <a:t>Provenance requirements</a:t>
            </a:r>
          </a:p>
          <a:p>
            <a:pPr lvl="0"/>
            <a:r>
              <a:t>PR‑level test generation</a:t>
            </a:r>
          </a:p>
          <a:p>
            <a:pPr lvl="0"/>
            <a:r>
              <a:t>Risk scoring for changes</a:t>
            </a:r>
          </a:p>
          <a:p>
            <a:pPr marL="0" lvl="0" indent="0">
              <a:spcBef>
                <a:spcPts val="3000"/>
              </a:spcBef>
              <a:buNone/>
            </a:pPr>
            <a:r>
              <a:rPr b="1"/>
              <a:t>Benefits</a:t>
            </a:r>
          </a:p>
          <a:p>
            <a:pPr lvl="0"/>
            <a:r>
              <a:t>Prevents regressions</a:t>
            </a:r>
          </a:p>
          <a:p>
            <a:pPr lvl="0"/>
            <a:r>
              <a:t>Ensures consistent quality</a:t>
            </a:r>
          </a:p>
          <a:p>
            <a:pPr lvl="0"/>
            <a:r>
              <a:t>Supports evergreen development</a:t>
            </a: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Strengthening Test Automation &amp; Code Quality</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gaps in test automation</a:t>
            </a:r>
          </a:p>
          <a:p>
            <a:pPr lvl="0"/>
            <a:r>
              <a:rPr dirty="0"/>
              <a:t>Use AI to generate missing tests</a:t>
            </a:r>
          </a:p>
          <a:p>
            <a:pPr lvl="0"/>
            <a:r>
              <a:rPr dirty="0"/>
              <a:t>Apply intelligent linting and quality gates</a:t>
            </a:r>
          </a:p>
          <a:p>
            <a:pPr lvl="0"/>
            <a:r>
              <a:rPr dirty="0"/>
              <a:t>Validate test adequacy and architectural alignment</a:t>
            </a:r>
          </a:p>
          <a:p>
            <a:pPr marL="0" lvl="0" indent="0">
              <a:spcBef>
                <a:spcPts val="3000"/>
              </a:spcBef>
              <a:buNone/>
            </a:pPr>
            <a:r>
              <a:rPr b="1" dirty="0"/>
              <a:t>Activities</a:t>
            </a:r>
          </a:p>
          <a:p>
            <a:pPr marL="342900" lvl="0" indent="-342900">
              <a:buAutoNum type="arabicPeriod"/>
            </a:pPr>
            <a:r>
              <a:rPr dirty="0"/>
              <a:t>Select a brownfield module or function.</a:t>
            </a:r>
          </a:p>
          <a:p>
            <a:pPr marL="342900" lvl="0" indent="-342900">
              <a:buAutoNum type="arabicPeriod"/>
            </a:pPr>
            <a:r>
              <a:rPr dirty="0"/>
              <a:t>Review existing tests for:</a:t>
            </a:r>
          </a:p>
          <a:p>
            <a:pPr lvl="1"/>
            <a:r>
              <a:rPr dirty="0"/>
              <a:t>Coverage gaps</a:t>
            </a:r>
          </a:p>
          <a:p>
            <a:pPr lvl="1"/>
            <a:r>
              <a:rPr dirty="0"/>
              <a:t>Missing edge cases</a:t>
            </a:r>
          </a:p>
          <a:p>
            <a:pPr lvl="1"/>
            <a:r>
              <a:rPr dirty="0"/>
              <a:t>Redundant or brittle tests</a:t>
            </a:r>
          </a:p>
          <a:p>
            <a:pPr marL="342900" lvl="0" indent="-342900">
              <a:buAutoNum type="arabicPeriod"/>
            </a:pPr>
            <a:r>
              <a:rPr dirty="0"/>
              <a:t>Ask AI to generate missing tests.</a:t>
            </a:r>
          </a:p>
          <a:p>
            <a:pPr marL="342900" lvl="0" indent="-342900">
              <a:buAutoNum type="arabicPeriod"/>
            </a:pPr>
            <a:r>
              <a:rPr dirty="0"/>
              <a:t>Run linting and architectural checks.</a:t>
            </a:r>
          </a:p>
          <a:p>
            <a:pPr marL="342900" lvl="0" indent="-342900">
              <a:buAutoNum type="arabicPeriod"/>
            </a:pPr>
            <a:r>
              <a:rPr dirty="0"/>
              <a:t>Propose quality gates to enforce improvements.</a:t>
            </a:r>
          </a:p>
          <a:p>
            <a:pPr marL="342900" lvl="0" indent="-342900">
              <a:buAutoNum type="arabicPeriod"/>
            </a:pPr>
            <a:r>
              <a:rPr dirty="0"/>
              <a:t>Add provenance metadata to all new artifacts.</a:t>
            </a:r>
          </a:p>
          <a:p>
            <a:pPr marL="0" lvl="0" indent="0">
              <a:spcBef>
                <a:spcPts val="3000"/>
              </a:spcBef>
              <a:buNone/>
            </a:pPr>
            <a:r>
              <a:rPr b="1" dirty="0"/>
              <a:t>Success Criteria</a:t>
            </a:r>
          </a:p>
          <a:p>
            <a:pPr lvl="0"/>
            <a:r>
              <a:rPr dirty="0"/>
              <a:t>Coverage gaps are identified and addressed</a:t>
            </a:r>
          </a:p>
          <a:p>
            <a:pPr lvl="0"/>
            <a:r>
              <a:rPr dirty="0"/>
              <a:t>AI‑generated tests are validated and correct</a:t>
            </a:r>
          </a:p>
          <a:p>
            <a:pPr lvl="0"/>
            <a:r>
              <a:rPr dirty="0"/>
              <a:t>Linting and architectural issues are resolved</a:t>
            </a:r>
          </a:p>
          <a:p>
            <a:pPr lvl="0"/>
            <a:r>
              <a:rPr dirty="0"/>
              <a:t>Proposed quality gates are actionable and safe</a:t>
            </a:r>
          </a:p>
          <a:p>
            <a:pPr lvl="0"/>
            <a:r>
              <a:rPr dirty="0"/>
              <a:t>Provenance metadata is included</a:t>
            </a:r>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D796-3821-245D-B419-D32E507D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3AC8A-4F1E-5992-57ED-216DD4CEED77}"/>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CB0D166A-3ADE-AD5F-B0CF-04AFE6C2C70D}"/>
              </a:ext>
            </a:extLst>
          </p:cNvPr>
          <p:cNvGraphicFramePr>
            <a:graphicFrameLocks noGrp="1"/>
          </p:cNvGraphicFramePr>
          <p:nvPr>
            <p:ph idx="1"/>
            <p:extLst>
              <p:ext uri="{D42A27DB-BD31-4B8C-83A1-F6EECF244321}">
                <p14:modId xmlns:p14="http://schemas.microsoft.com/office/powerpoint/2010/main" val="117688836"/>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1535404"/>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Robust Testing Frameworks</a:t>
            </a:r>
          </a:p>
        </p:txBody>
      </p:sp>
      <p:sp>
        <p:nvSpPr>
          <p:cNvPr id="3" name="Content Placeholder 2"/>
          <p:cNvSpPr>
            <a:spLocks noGrp="1"/>
          </p:cNvSpPr>
          <p:nvPr>
            <p:ph idx="1"/>
          </p:nvPr>
        </p:nvSpPr>
        <p:spPr/>
        <p:txBody>
          <a:bodyPr/>
          <a:lstStyle/>
          <a:p>
            <a:pPr lvl="0"/>
            <a:r>
              <a:t>Generating comprehensive test suites</a:t>
            </a:r>
          </a:p>
          <a:p>
            <a:pPr lvl="0"/>
            <a:r>
              <a:t>Managing test suites over time</a:t>
            </a:r>
          </a:p>
          <a:p>
            <a:pPr lvl="0"/>
            <a:r>
              <a:t>Test review and validation strategies</a:t>
            </a:r>
          </a:p>
          <a:p>
            <a:pPr lvl="0"/>
            <a:r>
              <a:t>Balancing test coverage with maintainability</a:t>
            </a:r>
          </a:p>
          <a:p>
            <a:pPr lvl="0"/>
            <a:r>
              <a:t>Exercise: Strengthening your testing framework</a:t>
            </a:r>
          </a:p>
        </p:txBody>
      </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b="1" dirty="0"/>
              <a:t>Generating Comprehensive Test Suites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AI can help generate:</a:t>
            </a:r>
          </a:p>
          <a:p>
            <a:pPr lvl="0"/>
            <a:r>
              <a:rPr dirty="0"/>
              <a:t>Unit tests</a:t>
            </a:r>
          </a:p>
          <a:p>
            <a:pPr lvl="0"/>
            <a:r>
              <a:rPr dirty="0"/>
              <a:t>Integration tests</a:t>
            </a:r>
          </a:p>
          <a:p>
            <a:pPr lvl="0"/>
            <a:r>
              <a:rPr dirty="0"/>
              <a:t>End-to-end tests</a:t>
            </a:r>
          </a:p>
          <a:p>
            <a:pPr lvl="0"/>
            <a:r>
              <a:rPr dirty="0"/>
              <a:t>Snapshot and contract tests</a:t>
            </a:r>
          </a:p>
          <a:p>
            <a:pPr lvl="0"/>
            <a:r>
              <a:rPr dirty="0"/>
              <a:t>Edge-case and regression tests</a:t>
            </a:r>
          </a:p>
          <a:p>
            <a:pPr marL="0" lvl="0" indent="0">
              <a:spcBef>
                <a:spcPts val="3000"/>
              </a:spcBef>
              <a:buNone/>
            </a:pPr>
            <a:r>
              <a:rPr b="1" dirty="0"/>
              <a:t>Benefits</a:t>
            </a:r>
          </a:p>
          <a:p>
            <a:pPr lvl="0"/>
            <a:r>
              <a:rPr dirty="0"/>
              <a:t>Faster coverage expansion</a:t>
            </a:r>
          </a:p>
          <a:p>
            <a:pPr lvl="0"/>
            <a:r>
              <a:rPr dirty="0"/>
              <a:t>Consistent test structure</a:t>
            </a:r>
          </a:p>
          <a:p>
            <a:pPr lvl="0"/>
            <a:r>
              <a:rPr dirty="0"/>
              <a:t>Reduced onboarding time</a:t>
            </a:r>
          </a:p>
        </p:txBody>
      </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Managing Test Suites Over Time</a:t>
            </a:r>
          </a:p>
        </p:txBody>
      </p:sp>
      <p:sp>
        <p:nvSpPr>
          <p:cNvPr id="3" name="Content Placeholder 2"/>
          <p:cNvSpPr>
            <a:spLocks noGrp="1"/>
          </p:cNvSpPr>
          <p:nvPr>
            <p:ph idx="1"/>
          </p:nvPr>
        </p:nvSpPr>
        <p:spPr/>
        <p:txBody>
          <a:bodyPr/>
          <a:lstStyle/>
          <a:p>
            <a:pPr marL="0" lvl="0" indent="0">
              <a:spcBef>
                <a:spcPts val="3000"/>
              </a:spcBef>
              <a:buNone/>
            </a:pPr>
            <a:r>
              <a:rPr b="1"/>
              <a:t>Key Practices</a:t>
            </a:r>
          </a:p>
          <a:p>
            <a:pPr lvl="0"/>
            <a:r>
              <a:t>Regularly prune obsolete tests</a:t>
            </a:r>
          </a:p>
          <a:p>
            <a:pPr lvl="0"/>
            <a:r>
              <a:t>Update tests alongside code changes</a:t>
            </a:r>
          </a:p>
          <a:p>
            <a:pPr lvl="0"/>
            <a:r>
              <a:t>Maintain clear naming and structure</a:t>
            </a:r>
          </a:p>
          <a:p>
            <a:pPr lvl="0"/>
            <a:r>
              <a:t>Use coverage reports to guide improvements</a:t>
            </a:r>
          </a:p>
          <a:p>
            <a:pPr lvl="0"/>
            <a:r>
              <a:t>Version-control test strategy documents</a:t>
            </a:r>
          </a:p>
        </p:txBody>
      </p:sp>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800" b="1" dirty="0"/>
              <a:t>Test Review &amp; Validation Strategies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AI-assisted review can:</a:t>
            </a:r>
          </a:p>
          <a:p>
            <a:pPr lvl="0"/>
            <a:r>
              <a:t>Detect missing assertions</a:t>
            </a:r>
          </a:p>
          <a:p>
            <a:pPr lvl="0"/>
            <a:r>
              <a:t>Identify redundant tests</a:t>
            </a:r>
          </a:p>
          <a:p>
            <a:pPr lvl="0"/>
            <a:r>
              <a:t>Suggest edge cases</a:t>
            </a:r>
          </a:p>
          <a:p>
            <a:pPr lvl="0"/>
            <a:r>
              <a:t>Flag inconsistent patterns</a:t>
            </a:r>
          </a:p>
          <a:p>
            <a:pPr marL="0" lvl="0" indent="0">
              <a:spcBef>
                <a:spcPts val="3000"/>
              </a:spcBef>
              <a:buNone/>
            </a:pPr>
            <a:r>
              <a:rPr b="1"/>
              <a:t>Human reviewers focus on:</a:t>
            </a:r>
          </a:p>
          <a:p>
            <a:pPr lvl="0"/>
            <a:r>
              <a:t>Intent correctness</a:t>
            </a:r>
          </a:p>
          <a:p>
            <a:pPr lvl="0"/>
            <a:r>
              <a:t>Business logic validation</a:t>
            </a:r>
          </a:p>
          <a:p>
            <a:pPr lvl="0"/>
            <a:r>
              <a:t>Architectural alignment</a:t>
            </a:r>
          </a:p>
        </p:txBody>
      </p:sp>
    </p:spTree>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000" b="1" dirty="0"/>
              <a:t>Balancing Test Coverage with Maintainability</a:t>
            </a:r>
          </a:p>
        </p:txBody>
      </p:sp>
      <p:sp>
        <p:nvSpPr>
          <p:cNvPr id="3" name="Content Placeholder 2"/>
          <p:cNvSpPr>
            <a:spLocks noGrp="1"/>
          </p:cNvSpPr>
          <p:nvPr>
            <p:ph idx="1"/>
          </p:nvPr>
        </p:nvSpPr>
        <p:spPr/>
        <p:txBody>
          <a:bodyPr/>
          <a:lstStyle/>
          <a:p>
            <a:pPr marL="0" lvl="0" indent="0">
              <a:spcBef>
                <a:spcPts val="3000"/>
              </a:spcBef>
              <a:buNone/>
            </a:pPr>
            <a:r>
              <a:rPr b="1" dirty="0"/>
              <a:t>Principles</a:t>
            </a:r>
          </a:p>
          <a:p>
            <a:pPr lvl="0"/>
            <a:r>
              <a:rPr dirty="0"/>
              <a:t>Aim for meaningful coverage, not maximal coverage</a:t>
            </a:r>
          </a:p>
          <a:p>
            <a:pPr lvl="0"/>
            <a:r>
              <a:rPr dirty="0"/>
              <a:t>Prioritize high-risk and high-change areas</a:t>
            </a:r>
          </a:p>
          <a:p>
            <a:pPr lvl="0"/>
            <a:r>
              <a:rPr dirty="0"/>
              <a:t>Avoid over-testing implementation details</a:t>
            </a:r>
          </a:p>
          <a:p>
            <a:pPr lvl="0"/>
            <a:r>
              <a:rPr dirty="0"/>
              <a:t>Keep tests readable and maintainable</a:t>
            </a:r>
          </a:p>
        </p:txBody>
      </p:sp>
    </p:spTree>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Strengthening Your Testing Framework</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Identify gaps in an existing test suite</a:t>
            </a:r>
          </a:p>
          <a:p>
            <a:pPr lvl="0"/>
            <a:r>
              <a:rPr dirty="0"/>
              <a:t>Use AI to generate missing tests</a:t>
            </a:r>
          </a:p>
          <a:p>
            <a:pPr lvl="0"/>
            <a:r>
              <a:rPr dirty="0"/>
              <a:t>Improve maintainability and structure</a:t>
            </a:r>
          </a:p>
          <a:p>
            <a:pPr lvl="0"/>
            <a:r>
              <a:rPr dirty="0"/>
              <a:t>Validate tests for correctness and intent</a:t>
            </a:r>
          </a:p>
          <a:p>
            <a:pPr marL="0" lvl="0" indent="0">
              <a:spcBef>
                <a:spcPts val="3000"/>
              </a:spcBef>
              <a:buNone/>
            </a:pPr>
            <a:r>
              <a:rPr b="1" dirty="0"/>
              <a:t>Activities</a:t>
            </a:r>
          </a:p>
          <a:p>
            <a:pPr marL="342900" lvl="0" indent="-342900">
              <a:buAutoNum type="arabicPeriod"/>
            </a:pPr>
            <a:r>
              <a:rPr dirty="0"/>
              <a:t>Select a brownfield module or function.</a:t>
            </a:r>
          </a:p>
          <a:p>
            <a:pPr marL="342900" lvl="0" indent="-342900">
              <a:buAutoNum type="arabicPeriod"/>
            </a:pPr>
            <a:r>
              <a:rPr dirty="0"/>
              <a:t>Review existing tests for:</a:t>
            </a:r>
          </a:p>
          <a:p>
            <a:pPr lvl="1"/>
            <a:r>
              <a:rPr dirty="0"/>
              <a:t>Coverage gaps</a:t>
            </a:r>
          </a:p>
          <a:p>
            <a:pPr lvl="1"/>
            <a:r>
              <a:rPr dirty="0"/>
              <a:t>Redundant or brittle tests</a:t>
            </a:r>
          </a:p>
          <a:p>
            <a:pPr lvl="1"/>
            <a:r>
              <a:rPr dirty="0"/>
              <a:t>Missing edge cases</a:t>
            </a:r>
          </a:p>
          <a:p>
            <a:pPr marL="342900" lvl="0" indent="-342900">
              <a:buAutoNum type="arabicPeriod"/>
            </a:pPr>
            <a:r>
              <a:rPr dirty="0"/>
              <a:t>Ask AI to generate missing tests.</a:t>
            </a:r>
          </a:p>
          <a:p>
            <a:pPr marL="342900" lvl="0" indent="-342900">
              <a:buAutoNum type="arabicPeriod"/>
            </a:pPr>
            <a:r>
              <a:rPr dirty="0"/>
              <a:t>Validate AI-generated tests for correctness.</a:t>
            </a:r>
          </a:p>
          <a:p>
            <a:pPr marL="342900" lvl="0" indent="-342900">
              <a:buAutoNum type="arabicPeriod"/>
            </a:pPr>
            <a:r>
              <a:rPr dirty="0"/>
              <a:t>Refactor or reorganize tests for clarity.</a:t>
            </a:r>
          </a:p>
          <a:p>
            <a:pPr marL="342900" lvl="0" indent="-342900">
              <a:buAutoNum type="arabicPeriod"/>
            </a:pPr>
            <a:r>
              <a:rPr dirty="0"/>
              <a:t>Add provenance metadata to all new tests.</a:t>
            </a:r>
          </a:p>
          <a:p>
            <a:pPr marL="0" lvl="0" indent="0">
              <a:spcBef>
                <a:spcPts val="3000"/>
              </a:spcBef>
              <a:buNone/>
            </a:pPr>
            <a:r>
              <a:rPr b="1" dirty="0"/>
              <a:t>Success Criteria</a:t>
            </a:r>
          </a:p>
          <a:p>
            <a:pPr lvl="0"/>
            <a:r>
              <a:rPr dirty="0"/>
              <a:t>Coverage gaps are identified and addressed</a:t>
            </a:r>
          </a:p>
          <a:p>
            <a:pPr lvl="0"/>
            <a:r>
              <a:rPr dirty="0"/>
              <a:t>AI-generated tests are validated and correct</a:t>
            </a:r>
          </a:p>
          <a:p>
            <a:pPr lvl="0"/>
            <a:r>
              <a:rPr dirty="0"/>
              <a:t>Test suite readability and structure improve</a:t>
            </a:r>
          </a:p>
          <a:p>
            <a:pPr lvl="0"/>
            <a:r>
              <a:rPr dirty="0"/>
              <a:t>Provenance metadata is included</a:t>
            </a:r>
          </a:p>
        </p:txBody>
      </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66C2-5DB8-1326-2788-FF49DB5F1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6A4E4-FC25-9E36-D03D-0553458C42E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727401C1-7FCE-1D69-538C-0F45E595A365}"/>
              </a:ext>
            </a:extLst>
          </p:cNvPr>
          <p:cNvGraphicFramePr>
            <a:graphicFrameLocks noGrp="1"/>
          </p:cNvGraphicFramePr>
          <p:nvPr>
            <p:ph idx="1"/>
            <p:extLst>
              <p:ext uri="{D42A27DB-BD31-4B8C-83A1-F6EECF244321}">
                <p14:modId xmlns:p14="http://schemas.microsoft.com/office/powerpoint/2010/main" val="740680605"/>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7958102"/>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Safe Brownfield Cod</a:t>
            </a:r>
            <a:r>
              <a:rPr lang="en-US" b="1" dirty="0"/>
              <a:t>ing</a:t>
            </a:r>
            <a:endParaRPr b="1" dirty="0"/>
          </a:p>
        </p:txBody>
      </p:sp>
      <p:sp>
        <p:nvSpPr>
          <p:cNvPr id="3" name="Content Placeholder 2"/>
          <p:cNvSpPr>
            <a:spLocks noGrp="1"/>
          </p:cNvSpPr>
          <p:nvPr>
            <p:ph idx="1"/>
          </p:nvPr>
        </p:nvSpPr>
        <p:spPr/>
        <p:txBody>
          <a:bodyPr/>
          <a:lstStyle/>
          <a:p>
            <a:pPr lvl="0"/>
            <a:r>
              <a:t>Using feature flags to minimize risk</a:t>
            </a:r>
          </a:p>
          <a:p>
            <a:pPr lvl="0"/>
            <a:r>
              <a:t>As‑Is and To‑Be test suites</a:t>
            </a:r>
          </a:p>
          <a:p>
            <a:pPr lvl="0"/>
            <a:r>
              <a:t>Testing in production</a:t>
            </a:r>
          </a:p>
          <a:p>
            <a:pPr lvl="0"/>
            <a:r>
              <a:t>Retiring feature flags</a:t>
            </a:r>
          </a:p>
          <a:p>
            <a:pPr lvl="0"/>
            <a:r>
              <a:t>Exercise: Implementing a feature flag</a:t>
            </a:r>
          </a:p>
        </p:txBody>
      </p:sp>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Using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feature flags matter</a:t>
            </a:r>
          </a:p>
          <a:p>
            <a:pPr lvl="0"/>
            <a:r>
              <a:t>Enable incremental rollout</a:t>
            </a:r>
          </a:p>
          <a:p>
            <a:pPr lvl="0"/>
            <a:r>
              <a:t>Allow instant rollback</a:t>
            </a:r>
          </a:p>
          <a:p>
            <a:pPr lvl="0"/>
            <a:r>
              <a:t>Reduce blast radius</a:t>
            </a:r>
          </a:p>
          <a:p>
            <a:pPr lvl="0"/>
            <a:r>
              <a:t>Support A/B testing and shadow traffic</a:t>
            </a:r>
          </a:p>
          <a:p>
            <a:pPr lvl="0"/>
            <a:r>
              <a:t>Decouple deployment from release</a:t>
            </a:r>
          </a:p>
          <a:p>
            <a:pPr marL="0" lvl="0" indent="0">
              <a:spcBef>
                <a:spcPts val="3000"/>
              </a:spcBef>
              <a:buNone/>
            </a:pPr>
            <a:r>
              <a:rPr b="1"/>
              <a:t>Best practices</a:t>
            </a:r>
          </a:p>
          <a:p>
            <a:pPr lvl="0"/>
            <a:r>
              <a:t>Keep flags short‑lived</a:t>
            </a:r>
          </a:p>
          <a:p>
            <a:pPr lvl="0"/>
            <a:r>
              <a:t>Name flags clearly</a:t>
            </a:r>
          </a:p>
          <a:p>
            <a:pPr lvl="0"/>
            <a:r>
              <a:t>Document intent and retirement criteria</a:t>
            </a:r>
          </a:p>
        </p:txBody>
      </p:sp>
    </p:spTree>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Retiring Feature Flags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Why retirement matters</a:t>
            </a:r>
          </a:p>
          <a:p>
            <a:pPr lvl="0"/>
            <a:r>
              <a:t>Prevents flag bloat</a:t>
            </a:r>
          </a:p>
          <a:p>
            <a:pPr lvl="0"/>
            <a:r>
              <a:t>Reduces cognitive load</a:t>
            </a:r>
          </a:p>
          <a:p>
            <a:pPr lvl="0"/>
            <a:r>
              <a:t>Simplifies code paths</a:t>
            </a:r>
          </a:p>
          <a:p>
            <a:pPr lvl="0"/>
            <a:r>
              <a:t>Ensures long‑term maintainability</a:t>
            </a:r>
          </a:p>
          <a:p>
            <a:pPr marL="0" lvl="0" indent="0">
              <a:spcBef>
                <a:spcPts val="3000"/>
              </a:spcBef>
              <a:buNone/>
            </a:pPr>
            <a:r>
              <a:rPr b="1"/>
              <a:t>Retirement workflow</a:t>
            </a:r>
          </a:p>
          <a:p>
            <a:pPr lvl="0"/>
            <a:r>
              <a:t>Validate stability</a:t>
            </a:r>
          </a:p>
          <a:p>
            <a:pPr lvl="0"/>
            <a:r>
              <a:t>Remove old code paths</a:t>
            </a:r>
          </a:p>
          <a:p>
            <a:pPr lvl="0"/>
            <a:r>
              <a:t>Update documentation</a:t>
            </a:r>
          </a:p>
          <a:p>
            <a:pPr lvl="0"/>
            <a:r>
              <a:t>Add provenance to the change</a:t>
            </a:r>
          </a:p>
        </p:txBody>
      </p:sp>
    </p:spTree>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As‑Is and To‑Be Test Suites</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a:t>As‑Is tests</a:t>
            </a:r>
          </a:p>
          <a:p>
            <a:pPr lvl="0"/>
            <a:r>
              <a:t>Capture current behavior</a:t>
            </a:r>
          </a:p>
          <a:p>
            <a:pPr lvl="0"/>
            <a:r>
              <a:t>Protect against regressions</a:t>
            </a:r>
          </a:p>
          <a:p>
            <a:pPr lvl="0"/>
            <a:r>
              <a:t>Document legacy expectations</a:t>
            </a:r>
          </a:p>
          <a:p>
            <a:pPr marL="0" lvl="0" indent="0">
              <a:spcBef>
                <a:spcPts val="3000"/>
              </a:spcBef>
              <a:buNone/>
            </a:pPr>
            <a:r>
              <a:rPr b="1"/>
              <a:t>To‑Be tests</a:t>
            </a:r>
          </a:p>
          <a:p>
            <a:pPr lvl="0"/>
            <a:r>
              <a:t>Define desired future behavior</a:t>
            </a:r>
          </a:p>
          <a:p>
            <a:pPr lvl="0"/>
            <a:r>
              <a:t>Guide modernization</a:t>
            </a:r>
          </a:p>
          <a:p>
            <a:pPr lvl="0"/>
            <a:r>
              <a:t>Validate new patterns and architecture</a:t>
            </a:r>
          </a:p>
        </p:txBody>
      </p:sp>
    </p:spTree>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Testing in Production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Safe production testing techniques</a:t>
            </a:r>
          </a:p>
          <a:p>
            <a:pPr lvl="0"/>
            <a:r>
              <a:t>Feature‑flag‑controlled exposure</a:t>
            </a:r>
          </a:p>
          <a:p>
            <a:pPr lvl="0"/>
            <a:r>
              <a:t>Shadow traffic</a:t>
            </a:r>
          </a:p>
          <a:p>
            <a:pPr lvl="0"/>
            <a:r>
              <a:t>Canary releases</a:t>
            </a:r>
          </a:p>
          <a:p>
            <a:pPr lvl="0"/>
            <a:r>
              <a:t>Observability dashboards</a:t>
            </a:r>
          </a:p>
          <a:p>
            <a:pPr lvl="0"/>
            <a:r>
              <a:t>Error‑budget‑based rollout</a:t>
            </a:r>
          </a:p>
          <a:p>
            <a:pPr marL="0" lvl="0" indent="0">
              <a:spcBef>
                <a:spcPts val="3000"/>
              </a:spcBef>
              <a:buNone/>
            </a:pPr>
            <a:r>
              <a:rPr b="1"/>
              <a:t>Benefits</a:t>
            </a:r>
          </a:p>
          <a:p>
            <a:pPr lvl="0"/>
            <a:r>
              <a:t>Real‑world validation</a:t>
            </a:r>
          </a:p>
          <a:p>
            <a:pPr lvl="0"/>
            <a:r>
              <a:t>Early detection of edge cases</a:t>
            </a:r>
          </a:p>
          <a:p>
            <a:pPr lvl="0"/>
            <a:r>
              <a:t>Reduced risk of full‑scale failures</a:t>
            </a:r>
          </a:p>
        </p:txBody>
      </p:sp>
    </p:spTree>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Implementing a Feature Flag</a:t>
            </a:r>
          </a:p>
        </p:txBody>
      </p:sp>
      <p:sp>
        <p:nvSpPr>
          <p:cNvPr id="3" name="Content Placeholder 2"/>
          <p:cNvSpPr>
            <a:spLocks noGrp="1"/>
          </p:cNvSpPr>
          <p:nvPr>
            <p:ph idx="1"/>
          </p:nvPr>
        </p:nvSpPr>
        <p:spPr/>
        <p:txBody>
          <a:bodyPr numCol="2">
            <a:normAutofit fontScale="550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Learn how to introduce a safe, reversible change</a:t>
            </a:r>
          </a:p>
          <a:p>
            <a:pPr lvl="0"/>
            <a:r>
              <a:rPr dirty="0"/>
              <a:t>Practice designing a feature flag workflow</a:t>
            </a:r>
          </a:p>
          <a:p>
            <a:pPr lvl="0"/>
            <a:r>
              <a:rPr dirty="0"/>
              <a:t>Understand As‑Is and To‑Be test implications</a:t>
            </a:r>
          </a:p>
          <a:p>
            <a:pPr lvl="0"/>
            <a:r>
              <a:rPr dirty="0"/>
              <a:t>Document rollout and retirement criteria</a:t>
            </a:r>
          </a:p>
          <a:p>
            <a:pPr marL="0" lvl="0" indent="0">
              <a:spcBef>
                <a:spcPts val="3000"/>
              </a:spcBef>
              <a:buNone/>
            </a:pPr>
            <a:r>
              <a:rPr b="1" dirty="0"/>
              <a:t>Activities</a:t>
            </a:r>
          </a:p>
          <a:p>
            <a:pPr marL="342900" lvl="0" indent="-342900">
              <a:buAutoNum type="arabicPeriod"/>
            </a:pPr>
            <a:r>
              <a:rPr dirty="0"/>
              <a:t>Select a small brownfield function or module.</a:t>
            </a:r>
          </a:p>
          <a:p>
            <a:pPr marL="342900" lvl="0" indent="-342900">
              <a:buAutoNum type="arabicPeriod"/>
            </a:pPr>
            <a:r>
              <a:rPr dirty="0"/>
              <a:t>Identify a safe, incremental change to introduce.</a:t>
            </a:r>
          </a:p>
          <a:p>
            <a:pPr marL="342900" lvl="0" indent="-342900">
              <a:buAutoNum type="arabicPeriod"/>
            </a:pPr>
            <a:r>
              <a:rPr dirty="0"/>
              <a:t>Design a feature flag with:</a:t>
            </a:r>
          </a:p>
          <a:p>
            <a:pPr lvl="1"/>
            <a:r>
              <a:rPr dirty="0"/>
              <a:t>Name</a:t>
            </a:r>
          </a:p>
          <a:p>
            <a:pPr lvl="1"/>
            <a:r>
              <a:rPr dirty="0"/>
              <a:t>Description</a:t>
            </a:r>
          </a:p>
          <a:p>
            <a:pPr lvl="1"/>
            <a:r>
              <a:rPr dirty="0"/>
              <a:t>Rollout plan</a:t>
            </a:r>
          </a:p>
          <a:p>
            <a:pPr lvl="1"/>
            <a:r>
              <a:rPr dirty="0"/>
              <a:t>Rollback plan</a:t>
            </a:r>
          </a:p>
          <a:p>
            <a:pPr lvl="1"/>
            <a:r>
              <a:rPr dirty="0"/>
              <a:t>Retirement criteria</a:t>
            </a:r>
          </a:p>
          <a:p>
            <a:pPr marL="342900" lvl="0" indent="-342900">
              <a:buAutoNum type="arabicPeriod"/>
            </a:pPr>
            <a:r>
              <a:rPr dirty="0"/>
              <a:t>Write As‑Is and To‑Be test cases.</a:t>
            </a:r>
          </a:p>
          <a:p>
            <a:pPr marL="342900" lvl="0" indent="-342900">
              <a:buAutoNum type="arabicPeriod"/>
            </a:pPr>
            <a:r>
              <a:rPr dirty="0"/>
              <a:t>Document the change with provenance metadata.</a:t>
            </a:r>
          </a:p>
          <a:p>
            <a:pPr marL="0" lvl="0" indent="0">
              <a:spcBef>
                <a:spcPts val="3000"/>
              </a:spcBef>
              <a:buNone/>
            </a:pPr>
            <a:r>
              <a:rPr b="1" dirty="0"/>
              <a:t>Success Criteria</a:t>
            </a:r>
          </a:p>
          <a:p>
            <a:pPr lvl="0"/>
            <a:r>
              <a:rPr dirty="0"/>
              <a:t>Feature flag is clearly defined and scoped</a:t>
            </a:r>
          </a:p>
          <a:p>
            <a:pPr lvl="0"/>
            <a:r>
              <a:rPr dirty="0"/>
              <a:t>Rollout and rollback plans are explicit</a:t>
            </a:r>
          </a:p>
          <a:p>
            <a:pPr lvl="0"/>
            <a:r>
              <a:rPr dirty="0"/>
              <a:t>As‑Is and To‑Be tests are correct and meaningful</a:t>
            </a:r>
          </a:p>
          <a:p>
            <a:pPr lvl="0"/>
            <a:r>
              <a:rPr dirty="0"/>
              <a:t>Retirement criteria are documented</a:t>
            </a:r>
          </a:p>
        </p:txBody>
      </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56CF9-C05A-C91B-90DF-9EA358E77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BC6E4-E3E3-B894-A60B-27207CAF444B}"/>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40E4F301-D4C5-5D11-F814-6835F333FEF4}"/>
              </a:ext>
            </a:extLst>
          </p:cNvPr>
          <p:cNvGraphicFramePr>
            <a:graphicFrameLocks noGrp="1"/>
          </p:cNvGraphicFramePr>
          <p:nvPr>
            <p:ph idx="1"/>
            <p:extLst>
              <p:ext uri="{D42A27DB-BD31-4B8C-83A1-F6EECF244321}">
                <p14:modId xmlns:p14="http://schemas.microsoft.com/office/powerpoint/2010/main" val="70331746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1301010"/>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b="1" dirty="0"/>
              <a:t>Conformance</a:t>
            </a:r>
            <a:r>
              <a:rPr b="1" dirty="0"/>
              <a:t> &amp; Gap Analysis</a:t>
            </a:r>
          </a:p>
        </p:txBody>
      </p:sp>
      <p:sp>
        <p:nvSpPr>
          <p:cNvPr id="3" name="Content Placeholder 2"/>
          <p:cNvSpPr>
            <a:spLocks noGrp="1"/>
          </p:cNvSpPr>
          <p:nvPr>
            <p:ph idx="1"/>
          </p:nvPr>
        </p:nvSpPr>
        <p:spPr/>
        <p:txBody>
          <a:bodyPr/>
          <a:lstStyle/>
          <a:p>
            <a:pPr lvl="0"/>
            <a:r>
              <a:rPr dirty="0"/>
              <a:t>Comparing implementations against instruction files</a:t>
            </a:r>
          </a:p>
          <a:p>
            <a:pPr lvl="0"/>
            <a:r>
              <a:rPr dirty="0"/>
              <a:t>Automated issue generation from</a:t>
            </a:r>
            <a:r>
              <a:rPr lang="en-US" dirty="0"/>
              <a:t> conformance</a:t>
            </a:r>
            <a:r>
              <a:rPr dirty="0"/>
              <a:t> gaps</a:t>
            </a:r>
          </a:p>
          <a:p>
            <a:pPr lvl="0"/>
            <a:r>
              <a:rPr dirty="0"/>
              <a:t>Prioritizing technical debt remediation</a:t>
            </a:r>
          </a:p>
          <a:p>
            <a:pPr lvl="0"/>
            <a:r>
              <a:rPr dirty="0"/>
              <a:t>Creating actionable remediation plans</a:t>
            </a:r>
          </a:p>
          <a:p>
            <a:pPr lvl="0"/>
            <a:r>
              <a:rPr dirty="0"/>
              <a:t>Exercises for hands‑on practice</a:t>
            </a:r>
          </a:p>
        </p:txBody>
      </p:sp>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Implementations Against Instruction Files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Coding standards</a:t>
            </a:r>
          </a:p>
          <a:p>
            <a:pPr lvl="0"/>
            <a:r>
              <a:t>Architectural boundaries</a:t>
            </a:r>
          </a:p>
          <a:p>
            <a:pPr lvl="0"/>
            <a:r>
              <a:t>Allowed/disallowed patterns</a:t>
            </a:r>
          </a:p>
          <a:p>
            <a:pPr lvl="0"/>
            <a:r>
              <a:t>Domain rules</a:t>
            </a:r>
          </a:p>
          <a:p>
            <a:pPr lvl="0"/>
            <a:r>
              <a:t>Documentation and provenance requirements</a:t>
            </a:r>
          </a:p>
          <a:p>
            <a:pPr marL="0" lvl="0" indent="0">
              <a:spcBef>
                <a:spcPts val="3000"/>
              </a:spcBef>
              <a:buNone/>
            </a:pPr>
            <a:r>
              <a:rPr b="1"/>
              <a:t>Why it matters</a:t>
            </a:r>
          </a:p>
          <a:p>
            <a:pPr lvl="0"/>
            <a:r>
              <a:t>Prevents drift</a:t>
            </a:r>
          </a:p>
          <a:p>
            <a:pPr lvl="0"/>
            <a:r>
              <a:t>Ensures consistency</a:t>
            </a:r>
          </a:p>
          <a:p>
            <a:pPr lvl="0"/>
            <a:r>
              <a:t>Enables safe modernization</a:t>
            </a:r>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Automated Issue Generation From </a:t>
            </a:r>
            <a:r>
              <a:rPr lang="en-US" b="1" dirty="0"/>
              <a:t>Conformance</a:t>
            </a:r>
            <a:r>
              <a:rPr b="1" dirty="0"/>
              <a:t> Gaps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a:t>AI can generate:</a:t>
            </a:r>
          </a:p>
          <a:p>
            <a:pPr lvl="0"/>
            <a:r>
              <a:t>Issue titles</a:t>
            </a:r>
          </a:p>
          <a:p>
            <a:pPr lvl="0"/>
            <a:r>
              <a:t>Detailed descriptions</a:t>
            </a:r>
          </a:p>
          <a:p>
            <a:pPr lvl="0"/>
            <a:r>
              <a:t>Violated rules</a:t>
            </a:r>
          </a:p>
          <a:p>
            <a:pPr lvl="0"/>
            <a:r>
              <a:t>Suggested fixes</a:t>
            </a:r>
          </a:p>
          <a:p>
            <a:pPr lvl="0"/>
            <a:r>
              <a:t>Acceptance criteria</a:t>
            </a:r>
          </a:p>
          <a:p>
            <a:pPr lvl="0"/>
            <a:r>
              <a:t>Provenance metadata</a:t>
            </a:r>
          </a:p>
          <a:p>
            <a:pPr marL="0" lvl="0" indent="0">
              <a:spcBef>
                <a:spcPts val="3000"/>
              </a:spcBef>
              <a:buNone/>
            </a:pPr>
            <a:r>
              <a:rPr b="1"/>
              <a:t>Benefits</a:t>
            </a:r>
          </a:p>
          <a:p>
            <a:pPr lvl="0"/>
            <a:r>
              <a:t>Faster backlog creation</a:t>
            </a:r>
          </a:p>
          <a:p>
            <a:pPr lvl="0"/>
            <a:r>
              <a:t>Consistent issue structure</a:t>
            </a:r>
          </a:p>
          <a:p>
            <a:pPr lvl="0"/>
            <a:r>
              <a:t>Reduced manual review effort</a:t>
            </a:r>
          </a:p>
        </p:txBody>
      </p:sp>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Prioritizing Technical Debt Remediation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Prioritization factors</a:t>
            </a:r>
          </a:p>
          <a:p>
            <a:pPr lvl="0"/>
            <a:r>
              <a:t>Risk to stability</a:t>
            </a:r>
          </a:p>
          <a:p>
            <a:pPr lvl="0"/>
            <a:r>
              <a:t>Frequency of use</a:t>
            </a:r>
          </a:p>
          <a:p>
            <a:pPr lvl="0"/>
            <a:r>
              <a:t>Security implications</a:t>
            </a:r>
          </a:p>
          <a:p>
            <a:pPr lvl="0"/>
            <a:r>
              <a:t>Architectural importance</a:t>
            </a:r>
          </a:p>
          <a:p>
            <a:pPr lvl="0"/>
            <a:r>
              <a:t>Effort vs. impact</a:t>
            </a:r>
          </a:p>
          <a:p>
            <a:pPr marL="0" lvl="0" indent="0">
              <a:spcBef>
                <a:spcPts val="3000"/>
              </a:spcBef>
              <a:buNone/>
            </a:pPr>
            <a:r>
              <a:rPr b="1"/>
              <a:t>Approaches</a:t>
            </a:r>
          </a:p>
          <a:p>
            <a:pPr lvl="0"/>
            <a:r>
              <a:t>Impact/effort matrix</a:t>
            </a:r>
          </a:p>
          <a:p>
            <a:pPr lvl="0"/>
            <a:r>
              <a:t>Risk scoring</a:t>
            </a:r>
          </a:p>
          <a:p>
            <a:pPr lvl="0"/>
            <a:r>
              <a:t>Dependency analysis</a:t>
            </a:r>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Creating Actionable Remediation Plans</a:t>
            </a:r>
          </a:p>
        </p:txBody>
      </p:sp>
      <p:sp>
        <p:nvSpPr>
          <p:cNvPr id="3" name="Content Placeholder 2"/>
          <p:cNvSpPr>
            <a:spLocks noGrp="1"/>
          </p:cNvSpPr>
          <p:nvPr>
            <p:ph idx="1"/>
          </p:nvPr>
        </p:nvSpPr>
        <p:spPr/>
        <p:txBody>
          <a:bodyPr>
            <a:normAutofit lnSpcReduction="10000"/>
          </a:bodyPr>
          <a:lstStyle/>
          <a:p>
            <a:pPr marL="0" lvl="0" indent="0">
              <a:spcBef>
                <a:spcPts val="3000"/>
              </a:spcBef>
              <a:buNone/>
            </a:pPr>
            <a:r>
              <a:rPr b="1"/>
              <a:t>A strong remediation plan includes:</a:t>
            </a:r>
          </a:p>
          <a:p>
            <a:pPr lvl="0"/>
            <a:r>
              <a:t>Clear problem definition</a:t>
            </a:r>
          </a:p>
          <a:p>
            <a:pPr lvl="0"/>
            <a:r>
              <a:t>Root cause analysis</a:t>
            </a:r>
          </a:p>
          <a:p>
            <a:pPr lvl="0"/>
            <a:r>
              <a:t>Proposed solution</a:t>
            </a:r>
          </a:p>
          <a:p>
            <a:pPr lvl="0"/>
            <a:r>
              <a:t>Step‑by‑step implementation plan</a:t>
            </a:r>
          </a:p>
          <a:p>
            <a:pPr lvl="0"/>
            <a:r>
              <a:t>Rollback strategy</a:t>
            </a:r>
          </a:p>
          <a:p>
            <a:pPr lvl="0"/>
            <a:r>
              <a:t>Test updates</a:t>
            </a:r>
          </a:p>
          <a:p>
            <a:pPr lvl="0"/>
            <a:r>
              <a:t>Provenance metadata</a:t>
            </a:r>
          </a:p>
        </p:txBody>
      </p:sp>
    </p:spTree>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Generate Issues to Make the Codebase Evergreen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Identify </a:t>
            </a:r>
            <a:r>
              <a:rPr lang="en-US" dirty="0"/>
              <a:t>conformance</a:t>
            </a:r>
            <a:r>
              <a:rPr dirty="0"/>
              <a:t> gaps</a:t>
            </a:r>
          </a:p>
          <a:p>
            <a:pPr lvl="0"/>
            <a:r>
              <a:rPr dirty="0"/>
              <a:t>Convert gaps into actionable issues</a:t>
            </a:r>
          </a:p>
          <a:p>
            <a:pPr lvl="0"/>
            <a:r>
              <a:rPr dirty="0"/>
              <a:t>Apply consistent structure and provenance</a:t>
            </a:r>
          </a:p>
          <a:p>
            <a:pPr lvl="0"/>
            <a:r>
              <a:rPr dirty="0"/>
              <a:t>Prioritize issues based on risk and impact</a:t>
            </a:r>
          </a:p>
          <a:p>
            <a:pPr marL="0" lvl="0" indent="0">
              <a:spcBef>
                <a:spcPts val="3000"/>
              </a:spcBef>
              <a:buNone/>
            </a:pPr>
            <a:r>
              <a:rPr b="1" dirty="0"/>
              <a:t>Activities</a:t>
            </a:r>
          </a:p>
          <a:p>
            <a:pPr marL="342900" lvl="0" indent="-342900">
              <a:buAutoNum type="arabicPeriod"/>
            </a:pPr>
            <a:r>
              <a:rPr dirty="0"/>
              <a:t>Select a brownfield module or file.</a:t>
            </a:r>
          </a:p>
          <a:p>
            <a:pPr marL="342900" lvl="0" indent="-342900">
              <a:buAutoNum type="arabicPeriod"/>
            </a:pPr>
            <a:r>
              <a:rPr dirty="0"/>
              <a:t>Compare it against the project’s instruction file.</a:t>
            </a:r>
          </a:p>
          <a:p>
            <a:pPr marL="342900" lvl="0" indent="-342900">
              <a:buAutoNum type="arabicPeriod"/>
            </a:pPr>
            <a:r>
              <a:rPr dirty="0"/>
              <a:t>Ask AI to identify </a:t>
            </a:r>
            <a:r>
              <a:rPr lang="en-US" dirty="0"/>
              <a:t>conformance</a:t>
            </a:r>
            <a:r>
              <a:rPr dirty="0"/>
              <a:t> gaps.</a:t>
            </a:r>
          </a:p>
          <a:p>
            <a:pPr marL="342900" lvl="0" indent="-342900">
              <a:buAutoNum type="arabicPeriod"/>
            </a:pPr>
            <a:r>
              <a:rPr dirty="0"/>
              <a:t>Convert each gap into a GitHub issue with:</a:t>
            </a:r>
          </a:p>
          <a:p>
            <a:pPr lvl="1"/>
            <a:r>
              <a:rPr dirty="0"/>
              <a:t>Title</a:t>
            </a:r>
          </a:p>
          <a:p>
            <a:pPr lvl="1"/>
            <a:r>
              <a:rPr dirty="0"/>
              <a:t>Description</a:t>
            </a:r>
          </a:p>
          <a:p>
            <a:pPr lvl="1"/>
            <a:r>
              <a:rPr dirty="0"/>
              <a:t>Violated rule</a:t>
            </a:r>
          </a:p>
          <a:p>
            <a:pPr lvl="1"/>
            <a:r>
              <a:rPr dirty="0"/>
              <a:t>Suggested remediation</a:t>
            </a:r>
          </a:p>
          <a:p>
            <a:pPr lvl="1"/>
            <a:r>
              <a:rPr dirty="0"/>
              <a:t>Acceptance criteria</a:t>
            </a:r>
          </a:p>
          <a:p>
            <a:pPr lvl="1"/>
            <a:r>
              <a:rPr dirty="0"/>
              <a:t>Provenance metadata</a:t>
            </a:r>
          </a:p>
          <a:p>
            <a:pPr marL="342900" lvl="0" indent="-342900">
              <a:buAutoNum type="arabicPeriod"/>
            </a:pPr>
            <a:r>
              <a:rPr dirty="0"/>
              <a:t>Prioritize the issues.</a:t>
            </a:r>
          </a:p>
          <a:p>
            <a:pPr marL="0" lvl="0" indent="0">
              <a:spcBef>
                <a:spcPts val="3000"/>
              </a:spcBef>
              <a:buNone/>
            </a:pPr>
            <a:r>
              <a:rPr b="1" dirty="0"/>
              <a:t>Success Criteria</a:t>
            </a:r>
          </a:p>
          <a:p>
            <a:pPr lvl="0"/>
            <a:r>
              <a:rPr dirty="0"/>
              <a:t>Issues are clear, actionable, and aligned with instruction files</a:t>
            </a:r>
          </a:p>
          <a:p>
            <a:pPr lvl="0"/>
            <a:r>
              <a:rPr dirty="0"/>
              <a:t>Provenance metadata is included</a:t>
            </a:r>
          </a:p>
          <a:p>
            <a:pPr lvl="0"/>
            <a:r>
              <a:rPr dirty="0"/>
              <a:t>Prioritization reflects real risk and effort</a:t>
            </a:r>
          </a:p>
          <a:p>
            <a:pPr lvl="0"/>
            <a:r>
              <a:rPr dirty="0"/>
              <a:t>Backlog is ready for team review</a:t>
            </a:r>
          </a:p>
        </p:txBody>
      </p:sp>
    </p:spTree>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dirty="0"/>
              <a:t>Exercise: Create an Implementation Plan</a:t>
            </a:r>
          </a:p>
        </p:txBody>
      </p:sp>
      <p:sp>
        <p:nvSpPr>
          <p:cNvPr id="3" name="Content Placeholder 2"/>
          <p:cNvSpPr>
            <a:spLocks noGrp="1"/>
          </p:cNvSpPr>
          <p:nvPr>
            <p:ph idx="1"/>
          </p:nvPr>
        </p:nvSpPr>
        <p:spPr/>
        <p:txBody>
          <a:bodyPr numCol="2">
            <a:normAutofit fontScale="47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Translate issues into a structured remediation plan</a:t>
            </a:r>
          </a:p>
          <a:p>
            <a:pPr lvl="0"/>
            <a:r>
              <a:rPr dirty="0"/>
              <a:t>Ensure changes are incremental and reversible</a:t>
            </a:r>
          </a:p>
          <a:p>
            <a:pPr lvl="0"/>
            <a:r>
              <a:rPr dirty="0"/>
              <a:t>Align modernization with evergreen principles</a:t>
            </a:r>
          </a:p>
          <a:p>
            <a:pPr lvl="0"/>
            <a:r>
              <a:rPr dirty="0"/>
              <a:t>Incorporate testing and rollback strategies</a:t>
            </a:r>
          </a:p>
          <a:p>
            <a:pPr marL="0" lvl="0" indent="0">
              <a:spcBef>
                <a:spcPts val="3000"/>
              </a:spcBef>
              <a:buNone/>
            </a:pPr>
            <a:r>
              <a:rPr b="1" dirty="0"/>
              <a:t>Activities</a:t>
            </a:r>
          </a:p>
          <a:p>
            <a:pPr marL="342900" lvl="0" indent="-342900">
              <a:buAutoNum type="arabicPeriod"/>
            </a:pPr>
            <a:r>
              <a:rPr dirty="0"/>
              <a:t>Select 2–3 issues from the previous exercise.</a:t>
            </a:r>
          </a:p>
          <a:p>
            <a:pPr marL="342900" lvl="0" indent="-342900">
              <a:buAutoNum type="arabicPeriod"/>
            </a:pPr>
            <a:r>
              <a:rPr dirty="0"/>
              <a:t>For each issue, create a remediation plan including:</a:t>
            </a:r>
          </a:p>
          <a:p>
            <a:pPr lvl="1"/>
            <a:r>
              <a:rPr dirty="0"/>
              <a:t>Problem definition</a:t>
            </a:r>
          </a:p>
          <a:p>
            <a:pPr lvl="1"/>
            <a:r>
              <a:rPr dirty="0"/>
              <a:t>Root cause</a:t>
            </a:r>
          </a:p>
          <a:p>
            <a:pPr lvl="1"/>
            <a:r>
              <a:rPr dirty="0"/>
              <a:t>Proposed solution</a:t>
            </a:r>
          </a:p>
          <a:p>
            <a:pPr lvl="1"/>
            <a:r>
              <a:rPr dirty="0"/>
              <a:t>Step‑by‑step implementation</a:t>
            </a:r>
          </a:p>
          <a:p>
            <a:pPr lvl="1"/>
            <a:r>
              <a:rPr dirty="0"/>
              <a:t>Rollback plan</a:t>
            </a:r>
          </a:p>
          <a:p>
            <a:pPr lvl="1"/>
            <a:r>
              <a:rPr dirty="0"/>
              <a:t>Required test updates</a:t>
            </a:r>
          </a:p>
          <a:p>
            <a:pPr lvl="1"/>
            <a:r>
              <a:rPr dirty="0"/>
              <a:t>Documentation updates</a:t>
            </a:r>
          </a:p>
          <a:p>
            <a:pPr lvl="1"/>
            <a:r>
              <a:rPr dirty="0"/>
              <a:t>Provenance metadata</a:t>
            </a:r>
          </a:p>
          <a:p>
            <a:pPr marL="342900" lvl="0" indent="-342900">
              <a:buAutoNum type="arabicPeriod"/>
            </a:pPr>
            <a:r>
              <a:rPr dirty="0"/>
              <a:t>Review plans with a partner.</a:t>
            </a:r>
          </a:p>
          <a:p>
            <a:pPr marL="0" lvl="0" indent="0">
              <a:spcBef>
                <a:spcPts val="3000"/>
              </a:spcBef>
              <a:buNone/>
            </a:pPr>
            <a:r>
              <a:rPr b="1" dirty="0"/>
              <a:t>Success Criteria</a:t>
            </a:r>
          </a:p>
          <a:p>
            <a:pPr lvl="0"/>
            <a:r>
              <a:rPr dirty="0"/>
              <a:t>Plans are incremental, safe, and reversible</a:t>
            </a:r>
          </a:p>
          <a:p>
            <a:pPr lvl="0"/>
            <a:r>
              <a:rPr dirty="0"/>
              <a:t>Include clear steps and rollback strategies</a:t>
            </a:r>
          </a:p>
          <a:p>
            <a:pPr lvl="0"/>
            <a:r>
              <a:rPr dirty="0"/>
              <a:t>Align with evergreen development principles</a:t>
            </a:r>
          </a:p>
          <a:p>
            <a:pPr lvl="0"/>
            <a:r>
              <a:rPr dirty="0"/>
              <a:t>Include test and documentation updates</a:t>
            </a:r>
          </a:p>
          <a:p>
            <a:pPr lvl="0"/>
            <a:r>
              <a:rPr dirty="0"/>
              <a:t>Provenance metadata is present</a:t>
            </a:r>
          </a:p>
        </p:txBody>
      </p:sp>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EF52-BD4E-5E2D-2BD9-07A1A47F3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57C94-D0E0-5055-76EE-46C1169CD9A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8BED507-267E-D771-EBCF-2D980DA8E1FC}"/>
              </a:ext>
            </a:extLst>
          </p:cNvPr>
          <p:cNvGraphicFramePr>
            <a:graphicFrameLocks noGrp="1"/>
          </p:cNvGraphicFramePr>
          <p:nvPr>
            <p:ph idx="1"/>
            <p:extLst>
              <p:ext uri="{D42A27DB-BD31-4B8C-83A1-F6EECF244321}">
                <p14:modId xmlns:p14="http://schemas.microsoft.com/office/powerpoint/2010/main" val="72371786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3123113"/>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Addressing Technical Debt</a:t>
            </a:r>
          </a:p>
        </p:txBody>
      </p:sp>
      <p:sp>
        <p:nvSpPr>
          <p:cNvPr id="3" name="Content Placeholder 2"/>
          <p:cNvSpPr>
            <a:spLocks noGrp="1"/>
          </p:cNvSpPr>
          <p:nvPr>
            <p:ph idx="1"/>
          </p:nvPr>
        </p:nvSpPr>
        <p:spPr/>
        <p:txBody>
          <a:bodyPr/>
          <a:lstStyle/>
          <a:p>
            <a:pPr lvl="0"/>
            <a:r>
              <a:t>Prompting Copilot to address debt</a:t>
            </a:r>
          </a:p>
          <a:p>
            <a:pPr lvl="0"/>
            <a:r>
              <a:t>Assigning issues to Copilot</a:t>
            </a:r>
          </a:p>
          <a:p>
            <a:pPr lvl="0"/>
            <a:r>
              <a:t>What Copilot does with assigned issues</a:t>
            </a:r>
          </a:p>
          <a:p>
            <a:pPr lvl="0"/>
            <a:r>
              <a:t>Exercises for hands‑on practice</a:t>
            </a:r>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Prompting Copilot to Address Technical Debt</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Effective prompts include:</a:t>
            </a:r>
          </a:p>
          <a:p>
            <a:pPr lvl="0"/>
            <a:r>
              <a:t>Clear description of the debt</a:t>
            </a:r>
          </a:p>
          <a:p>
            <a:pPr lvl="0"/>
            <a:r>
              <a:t>Constraints and architectural rules</a:t>
            </a:r>
          </a:p>
          <a:p>
            <a:pPr lvl="0"/>
            <a:r>
              <a:t>Expected outcomes</a:t>
            </a:r>
          </a:p>
          <a:p>
            <a:pPr lvl="0"/>
            <a:r>
              <a:t>Required tests and documentation updates</a:t>
            </a:r>
          </a:p>
          <a:p>
            <a:pPr lvl="0"/>
            <a:r>
              <a:t>Provenance requirements</a:t>
            </a:r>
          </a:p>
          <a:p>
            <a:pPr marL="0" lvl="0" indent="0">
              <a:spcBef>
                <a:spcPts val="3000"/>
              </a:spcBef>
              <a:buNone/>
            </a:pPr>
            <a:r>
              <a:rPr b="1"/>
              <a:t>Benefits</a:t>
            </a:r>
          </a:p>
          <a:p>
            <a:pPr lvl="0"/>
            <a:r>
              <a:t>Faster remediation</a:t>
            </a:r>
          </a:p>
          <a:p>
            <a:pPr lvl="0"/>
            <a:r>
              <a:t>Consistent application of patterns</a:t>
            </a:r>
          </a:p>
          <a:p>
            <a:pPr lvl="0"/>
            <a:r>
              <a:t>Reduced manual effort</a:t>
            </a:r>
          </a:p>
        </p:txBody>
      </p:sp>
    </p:spTree>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Assigning Issues to Copilot</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How assignment works</a:t>
            </a:r>
          </a:p>
          <a:p>
            <a:pPr lvl="0"/>
            <a:r>
              <a:t>Convert technical debt into GitHub issues</a:t>
            </a:r>
          </a:p>
          <a:p>
            <a:pPr lvl="0"/>
            <a:r>
              <a:t>Provide context, constraints, and acceptance criteria</a:t>
            </a:r>
          </a:p>
          <a:p>
            <a:pPr lvl="0"/>
            <a:r>
              <a:t>Use Copilot to draft remediation steps</a:t>
            </a:r>
          </a:p>
          <a:p>
            <a:pPr lvl="0"/>
            <a:r>
              <a:t>Let Copilot propose code changes in PRs</a:t>
            </a:r>
          </a:p>
          <a:p>
            <a:pPr marL="0" lvl="0" indent="0">
              <a:spcBef>
                <a:spcPts val="3000"/>
              </a:spcBef>
              <a:buNone/>
            </a:pPr>
            <a:r>
              <a:rPr b="1"/>
              <a:t>Why assign issues?</a:t>
            </a:r>
          </a:p>
          <a:p>
            <a:pPr lvl="0"/>
            <a:r>
              <a:t>Creates a repeatable workflow</a:t>
            </a:r>
          </a:p>
          <a:p>
            <a:pPr lvl="0"/>
            <a:r>
              <a:t>Keeps humans in the reviewer role</a:t>
            </a:r>
          </a:p>
          <a:p>
            <a:pPr lvl="0"/>
            <a:r>
              <a:t>Ensures traceability and provenance</a:t>
            </a:r>
          </a:p>
        </p:txBody>
      </p:sp>
    </p:spTree>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Copilot Does With Assigned Issues</a:t>
            </a:r>
          </a:p>
        </p:txBody>
      </p:sp>
      <p:sp>
        <p:nvSpPr>
          <p:cNvPr id="3" name="Content Placeholder 2"/>
          <p:cNvSpPr>
            <a:spLocks noGrp="1"/>
          </p:cNvSpPr>
          <p:nvPr>
            <p:ph idx="1"/>
          </p:nvPr>
        </p:nvSpPr>
        <p:spPr/>
        <p:txBody>
          <a:bodyPr numCol="2">
            <a:normAutofit/>
          </a:bodyPr>
          <a:lstStyle/>
          <a:p>
            <a:pPr>
              <a:spcBef>
                <a:spcPts val="3000"/>
              </a:spcBef>
            </a:pPr>
            <a:r>
              <a:rPr lang="en-US" dirty="0"/>
              <a:t>Copilot reads the issue description and linked context </a:t>
            </a:r>
          </a:p>
          <a:p>
            <a:pPr>
              <a:spcBef>
                <a:spcPts val="3000"/>
              </a:spcBef>
            </a:pPr>
            <a:r>
              <a:rPr lang="en-US" dirty="0"/>
              <a:t>Generates a proposed plan or implementation approach  </a:t>
            </a:r>
          </a:p>
          <a:p>
            <a:pPr>
              <a:spcBef>
                <a:spcPts val="3000"/>
              </a:spcBef>
            </a:pPr>
            <a:r>
              <a:rPr lang="en-US" dirty="0"/>
              <a:t>Creates or updates pull requests with code changes</a:t>
            </a:r>
          </a:p>
          <a:p>
            <a:pPr>
              <a:spcBef>
                <a:spcPts val="3000"/>
              </a:spcBef>
            </a:pPr>
            <a:r>
              <a:rPr lang="en-US" dirty="0"/>
              <a:t>Adds explanations, tests, and documentation as needed</a:t>
            </a:r>
          </a:p>
          <a:p>
            <a:pPr>
              <a:spcBef>
                <a:spcPts val="3000"/>
              </a:spcBef>
            </a:pPr>
            <a:r>
              <a:rPr lang="en-US" dirty="0"/>
              <a:t>Iterates based on review comments  </a:t>
            </a:r>
          </a:p>
          <a:p>
            <a:pPr>
              <a:spcBef>
                <a:spcPts val="3000"/>
              </a:spcBef>
            </a:pPr>
            <a:r>
              <a:rPr lang="en-US" dirty="0"/>
              <a:t>Maintains traceability between issue → PR → commits </a:t>
            </a:r>
            <a:endParaRPr dirty="0"/>
          </a:p>
        </p:txBody>
      </p:sp>
    </p:spTree>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Copilot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writing high‑signal prompts</a:t>
            </a:r>
          </a:p>
          <a:p>
            <a:pPr lvl="0"/>
            <a:r>
              <a:rPr dirty="0"/>
              <a:t>Apply architectural constraints</a:t>
            </a:r>
          </a:p>
          <a:p>
            <a:pPr lvl="0"/>
            <a:r>
              <a:rPr dirty="0"/>
              <a:t>Produce safe, incremental remediation requests</a:t>
            </a:r>
          </a:p>
          <a:p>
            <a:pPr marL="0" lvl="0" indent="0">
              <a:spcBef>
                <a:spcPts val="3000"/>
              </a:spcBef>
              <a:buNone/>
            </a:pPr>
            <a:r>
              <a:rPr b="1" dirty="0"/>
              <a:t>Activities</a:t>
            </a:r>
          </a:p>
          <a:p>
            <a:pPr marL="342900" lvl="0" indent="-342900">
              <a:buAutoNum type="arabicPeriod"/>
            </a:pPr>
            <a:r>
              <a:rPr dirty="0"/>
              <a:t>Select a small piece of technical debt.</a:t>
            </a:r>
          </a:p>
          <a:p>
            <a:pPr marL="342900" lvl="0" indent="-342900">
              <a:buAutoNum type="arabicPeriod"/>
            </a:pPr>
            <a:r>
              <a:rPr dirty="0"/>
              <a:t>Write a prompt that includes:</a:t>
            </a:r>
          </a:p>
          <a:p>
            <a:pPr lvl="1"/>
            <a:r>
              <a:rPr dirty="0"/>
              <a:t>Description of the debt</a:t>
            </a:r>
          </a:p>
          <a:p>
            <a:pPr lvl="1"/>
            <a:r>
              <a:rPr dirty="0"/>
              <a:t>Constraints and rules</a:t>
            </a:r>
          </a:p>
          <a:p>
            <a:pPr lvl="1"/>
            <a:r>
              <a:rPr dirty="0"/>
              <a:t>Expected behavior</a:t>
            </a:r>
          </a:p>
          <a:p>
            <a:pPr lvl="1"/>
            <a:r>
              <a:rPr dirty="0"/>
              <a:t>Required tests and documentation</a:t>
            </a:r>
          </a:p>
          <a:p>
            <a:pPr marL="342900" lvl="0" indent="-342900">
              <a:buAutoNum type="arabicPeriod"/>
            </a:pPr>
            <a:r>
              <a:rPr dirty="0"/>
              <a:t>Ask Copilot to propose a remediation.</a:t>
            </a:r>
          </a:p>
          <a:p>
            <a:pPr marL="342900" lvl="0" indent="-342900">
              <a:buAutoNum type="arabicPeriod"/>
            </a:pPr>
            <a:r>
              <a:rPr dirty="0"/>
              <a:t>Review the output for correctness.</a:t>
            </a:r>
          </a:p>
          <a:p>
            <a:pPr marL="0" lvl="0" indent="0">
              <a:spcBef>
                <a:spcPts val="3000"/>
              </a:spcBef>
              <a:buNone/>
            </a:pPr>
            <a:r>
              <a:rPr b="1" dirty="0"/>
              <a:t>Success Criteria</a:t>
            </a:r>
          </a:p>
          <a:p>
            <a:pPr lvl="0"/>
            <a:r>
              <a:rPr dirty="0"/>
              <a:t>Prompt is clear, scoped, and actionable</a:t>
            </a:r>
          </a:p>
          <a:p>
            <a:pPr lvl="0"/>
            <a:r>
              <a:rPr dirty="0"/>
              <a:t>Copilot produces a safe, incremental change</a:t>
            </a:r>
          </a:p>
          <a:p>
            <a:pPr lvl="0"/>
            <a:r>
              <a:rPr dirty="0"/>
              <a:t>Output aligns with architectural rules</a:t>
            </a:r>
          </a:p>
          <a:p>
            <a:pPr lvl="0"/>
            <a:r>
              <a:rPr dirty="0"/>
              <a:t>Provenance metadata is included</a:t>
            </a:r>
          </a:p>
        </p:txBody>
      </p:sp>
    </p:spTree>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Convert technical debt into a structured issue</a:t>
            </a:r>
          </a:p>
          <a:p>
            <a:pPr lvl="0"/>
            <a:r>
              <a:rPr dirty="0"/>
              <a:t>Provide Copilot with actionable context</a:t>
            </a:r>
          </a:p>
          <a:p>
            <a:pPr lvl="0"/>
            <a:r>
              <a:rPr dirty="0"/>
              <a:t>Practice writing acceptance criteria</a:t>
            </a:r>
          </a:p>
          <a:p>
            <a:pPr marL="0" lvl="0" indent="0">
              <a:spcBef>
                <a:spcPts val="3000"/>
              </a:spcBef>
              <a:buNone/>
            </a:pPr>
            <a:r>
              <a:rPr b="1" dirty="0"/>
              <a:t>Activities</a:t>
            </a:r>
          </a:p>
          <a:p>
            <a:pPr marL="342900" lvl="0" indent="-342900">
              <a:buAutoNum type="arabicPeriod"/>
            </a:pPr>
            <a:r>
              <a:rPr dirty="0"/>
              <a:t>Select a technical debt item.</a:t>
            </a:r>
          </a:p>
          <a:p>
            <a:pPr marL="342900" lvl="0" indent="-342900">
              <a:buAutoNum type="arabicPeriod"/>
            </a:pPr>
            <a:r>
              <a:rPr dirty="0"/>
              <a:t>Create a GitHub‑style issue with:</a:t>
            </a:r>
          </a:p>
          <a:p>
            <a:pPr lvl="1"/>
            <a:r>
              <a:rPr dirty="0"/>
              <a:t>Title</a:t>
            </a:r>
          </a:p>
          <a:p>
            <a:pPr lvl="1"/>
            <a:r>
              <a:rPr dirty="0"/>
              <a:t>Description</a:t>
            </a:r>
          </a:p>
          <a:p>
            <a:pPr lvl="1"/>
            <a:r>
              <a:rPr dirty="0"/>
              <a:t>Impact and risk</a:t>
            </a:r>
          </a:p>
          <a:p>
            <a:pPr lvl="1"/>
            <a:r>
              <a:rPr dirty="0"/>
              <a:t>Acceptance criteria</a:t>
            </a:r>
          </a:p>
          <a:p>
            <a:pPr lvl="1"/>
            <a:r>
              <a:rPr dirty="0"/>
              <a:t>Provenance metadata</a:t>
            </a:r>
          </a:p>
          <a:p>
            <a:pPr marL="342900" lvl="0" indent="-342900">
              <a:buAutoNum type="arabicPeriod"/>
            </a:pPr>
            <a:r>
              <a:rPr dirty="0"/>
              <a:t>Assign the issue to Copilot.</a:t>
            </a:r>
          </a:p>
          <a:p>
            <a:pPr marL="342900" lvl="0" indent="-342900">
              <a:buAutoNum type="arabicPeriod"/>
            </a:pPr>
            <a:r>
              <a:rPr dirty="0"/>
              <a:t>Review Copilot’s proposed remediation.</a:t>
            </a:r>
          </a:p>
          <a:p>
            <a:pPr marL="0" lvl="0" indent="0">
              <a:spcBef>
                <a:spcPts val="3000"/>
              </a:spcBef>
              <a:buNone/>
            </a:pPr>
            <a:r>
              <a:rPr b="1" dirty="0"/>
              <a:t>Success Criteria</a:t>
            </a:r>
          </a:p>
          <a:p>
            <a:pPr lvl="0"/>
            <a:r>
              <a:rPr dirty="0"/>
              <a:t>Issue is clear and well‑structured</a:t>
            </a:r>
          </a:p>
          <a:p>
            <a:pPr lvl="0"/>
            <a:r>
              <a:rPr dirty="0"/>
              <a:t>Acceptance criteria are testable</a:t>
            </a:r>
          </a:p>
          <a:p>
            <a:pPr lvl="0"/>
            <a:r>
              <a:rPr dirty="0"/>
              <a:t>Copilot produces a relevant draft</a:t>
            </a:r>
          </a:p>
          <a:p>
            <a:pPr lvl="0"/>
            <a:r>
              <a:rPr dirty="0"/>
              <a:t>Provenance metadata is present</a:t>
            </a:r>
          </a:p>
        </p:txBody>
      </p:sp>
    </p:spTree>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Copilot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Practice delegating multi‑step tasks</a:t>
            </a:r>
          </a:p>
          <a:p>
            <a:pPr lvl="0"/>
            <a:r>
              <a:rPr dirty="0"/>
              <a:t>Ensure Copilot follows architectural rules</a:t>
            </a:r>
          </a:p>
          <a:p>
            <a:pPr lvl="0"/>
            <a:r>
              <a:rPr dirty="0"/>
              <a:t>Validate AI‑generated remediation plans</a:t>
            </a:r>
          </a:p>
          <a:p>
            <a:pPr marL="0" lvl="0" indent="0">
              <a:spcBef>
                <a:spcPts val="3000"/>
              </a:spcBef>
              <a:buNone/>
            </a:pPr>
            <a:r>
              <a:rPr b="1" dirty="0"/>
              <a:t>Activities</a:t>
            </a:r>
          </a:p>
          <a:p>
            <a:pPr marL="342900" lvl="0" indent="-342900">
              <a:buAutoNum type="arabicPeriod"/>
            </a:pPr>
            <a:r>
              <a:rPr dirty="0"/>
              <a:t>Select a multi‑step technical debt item.</a:t>
            </a:r>
          </a:p>
          <a:p>
            <a:pPr marL="342900" lvl="0" indent="-342900">
              <a:buAutoNum type="arabicPeriod"/>
            </a:pPr>
            <a:r>
              <a:rPr dirty="0"/>
              <a:t>Ask Copilot to:</a:t>
            </a:r>
          </a:p>
          <a:p>
            <a:pPr lvl="1"/>
            <a:r>
              <a:rPr dirty="0"/>
              <a:t>Analyze the problem</a:t>
            </a:r>
          </a:p>
          <a:p>
            <a:pPr lvl="1"/>
            <a:r>
              <a:rPr dirty="0"/>
              <a:t>Propose a remediation plan</a:t>
            </a:r>
          </a:p>
          <a:p>
            <a:pPr lvl="1"/>
            <a:r>
              <a:rPr dirty="0"/>
              <a:t>Generate code changes</a:t>
            </a:r>
          </a:p>
          <a:p>
            <a:pPr lvl="1"/>
            <a:r>
              <a:rPr dirty="0"/>
              <a:t>Update tests</a:t>
            </a:r>
          </a:p>
          <a:p>
            <a:pPr lvl="1"/>
            <a:r>
              <a:rPr dirty="0"/>
              <a:t>Update documentation</a:t>
            </a:r>
          </a:p>
          <a:p>
            <a:pPr marL="342900" lvl="0" indent="-342900">
              <a:buAutoNum type="arabicPeriod"/>
            </a:pPr>
            <a:r>
              <a:rPr dirty="0"/>
              <a:t>Review Copilot’s output.</a:t>
            </a:r>
          </a:p>
          <a:p>
            <a:pPr marL="342900" lvl="0" indent="-342900">
              <a:buAutoNum type="arabicPeriod"/>
            </a:pPr>
            <a:r>
              <a:rPr dirty="0"/>
              <a:t>Identify missing context or risks.</a:t>
            </a:r>
          </a:p>
          <a:p>
            <a:pPr marL="0" lvl="0" indent="0">
              <a:spcBef>
                <a:spcPts val="3000"/>
              </a:spcBef>
              <a:buNone/>
            </a:pPr>
            <a:r>
              <a:rPr b="1" dirty="0"/>
              <a:t>Success Criteria</a:t>
            </a:r>
          </a:p>
          <a:p>
            <a:pPr lvl="0"/>
            <a:r>
              <a:rPr dirty="0"/>
              <a:t>Delegation prompt is complete and structured</a:t>
            </a:r>
          </a:p>
          <a:p>
            <a:pPr lvl="0"/>
            <a:r>
              <a:rPr dirty="0"/>
              <a:t>Copilot produces a multi‑step plan</a:t>
            </a:r>
          </a:p>
          <a:p>
            <a:pPr lvl="0"/>
            <a:r>
              <a:rPr dirty="0"/>
              <a:t>Output is safe, incremental, and reversible</a:t>
            </a:r>
          </a:p>
          <a:p>
            <a:pPr lvl="0"/>
            <a:r>
              <a:rPr dirty="0"/>
              <a:t>Human review identifies any gaps</a:t>
            </a:r>
          </a:p>
        </p:txBody>
      </p:sp>
    </p:spTree>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D302-AE9C-3E24-BCD8-036F451FB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56910-A56F-E833-FDB8-A61A4D0E574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0008D7DD-2157-B1F6-F536-14D736D86232}"/>
              </a:ext>
            </a:extLst>
          </p:cNvPr>
          <p:cNvGraphicFramePr>
            <a:graphicFrameLocks noGrp="1"/>
          </p:cNvGraphicFramePr>
          <p:nvPr>
            <p:ph idx="1"/>
            <p:extLst>
              <p:ext uri="{D42A27DB-BD31-4B8C-83A1-F6EECF244321}">
                <p14:modId xmlns:p14="http://schemas.microsoft.com/office/powerpoint/2010/main" val="137472427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18604"/>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Multi‑Model Implementation Comparison</a:t>
            </a:r>
          </a:p>
        </p:txBody>
      </p:sp>
      <p:sp>
        <p:nvSpPr>
          <p:cNvPr id="3" name="Content Placeholder 2"/>
          <p:cNvSpPr>
            <a:spLocks noGrp="1"/>
          </p:cNvSpPr>
          <p:nvPr>
            <p:ph idx="1"/>
          </p:nvPr>
        </p:nvSpPr>
        <p:spPr/>
        <p:txBody>
          <a:bodyPr/>
          <a:lstStyle/>
          <a:p>
            <a:pPr lvl="0"/>
            <a:r>
              <a:t>Implementing changes with different AI models</a:t>
            </a:r>
          </a:p>
          <a:p>
            <a:pPr lvl="0"/>
            <a:r>
              <a:t>Comparing approaches and outcomes</a:t>
            </a:r>
          </a:p>
          <a:p>
            <a:pPr lvl="0"/>
            <a:r>
              <a:t>Risk assessment and quality evaluation</a:t>
            </a:r>
          </a:p>
          <a:p>
            <a:pPr lvl="0"/>
            <a:r>
              <a:t>Best practice synthesis</a:t>
            </a:r>
          </a:p>
          <a:p>
            <a:pPr lvl="0"/>
            <a:r>
              <a:t>Exercises for hands‑on practice</a:t>
            </a:r>
          </a:p>
        </p:txBody>
      </p:sp>
    </p:spTree>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Implementing Changes With Different AI Models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Why use multiple models?</a:t>
            </a:r>
          </a:p>
          <a:p>
            <a:pPr lvl="0"/>
            <a:r>
              <a:t>Different reasoning styles</a:t>
            </a:r>
          </a:p>
          <a:p>
            <a:pPr lvl="0"/>
            <a:r>
              <a:t>Different strengths (refactoring, documentation, architecture)</a:t>
            </a:r>
          </a:p>
          <a:p>
            <a:pPr lvl="0"/>
            <a:r>
              <a:t>Cross‑validation reduces risk</a:t>
            </a:r>
          </a:p>
          <a:p>
            <a:pPr lvl="0"/>
            <a:r>
              <a:t>Helps detect missing context or contradictions</a:t>
            </a:r>
          </a:p>
          <a:p>
            <a:pPr marL="0" lvl="0" indent="0">
              <a:spcBef>
                <a:spcPts val="3000"/>
              </a:spcBef>
              <a:buNone/>
            </a:pPr>
            <a:r>
              <a:rPr b="1"/>
              <a:t>Typical use cases</a:t>
            </a:r>
          </a:p>
          <a:p>
            <a:pPr lvl="0"/>
            <a:r>
              <a:t>Refactoring comparisons</a:t>
            </a:r>
          </a:p>
          <a:p>
            <a:pPr lvl="0"/>
            <a:r>
              <a:t>Documentation consistency checks</a:t>
            </a:r>
          </a:p>
          <a:p>
            <a:pPr lvl="0"/>
            <a:r>
              <a:t>Architecture proposal validation</a:t>
            </a:r>
          </a:p>
        </p:txBody>
      </p:sp>
    </p:spTree>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Comparing Approaches &amp; Outcomes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What to compare</a:t>
            </a:r>
          </a:p>
          <a:p>
            <a:pPr lvl="0"/>
            <a:r>
              <a:t>Code structure and clarity</a:t>
            </a:r>
          </a:p>
          <a:p>
            <a:pPr lvl="0"/>
            <a:r>
              <a:t>Architectural alignment</a:t>
            </a:r>
          </a:p>
          <a:p>
            <a:pPr lvl="0"/>
            <a:r>
              <a:t>Test quality</a:t>
            </a:r>
          </a:p>
          <a:p>
            <a:pPr lvl="0"/>
            <a:r>
              <a:t>Documentation completeness</a:t>
            </a:r>
          </a:p>
          <a:p>
            <a:pPr lvl="0"/>
            <a:r>
              <a:t>Risk level of proposed changes</a:t>
            </a:r>
          </a:p>
          <a:p>
            <a:pPr marL="0" lvl="0" indent="0">
              <a:spcBef>
                <a:spcPts val="3000"/>
              </a:spcBef>
              <a:buNone/>
            </a:pPr>
            <a:r>
              <a:rPr b="1"/>
              <a:t>Benefits</a:t>
            </a:r>
          </a:p>
          <a:p>
            <a:pPr lvl="0"/>
            <a:r>
              <a:t>Identifies the safest implementation</a:t>
            </a:r>
          </a:p>
          <a:p>
            <a:pPr lvl="0"/>
            <a:r>
              <a:t>Surfaces hidden assumptions</a:t>
            </a:r>
          </a:p>
          <a:p>
            <a:pPr lvl="0"/>
            <a:r>
              <a:t>Highlights model‑specific biases</a:t>
            </a:r>
          </a:p>
        </p:txBody>
      </p:sp>
    </p:spTree>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Risk Assessment &amp; Quality Evaluation</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a:t>Risk indicators</a:t>
            </a:r>
          </a:p>
          <a:p>
            <a:pPr lvl="0"/>
            <a:r>
              <a:t>Missing tests</a:t>
            </a:r>
          </a:p>
          <a:p>
            <a:pPr lvl="0"/>
            <a:r>
              <a:t>Large or unnecessary refactors</a:t>
            </a:r>
          </a:p>
          <a:p>
            <a:pPr lvl="0"/>
            <a:r>
              <a:t>Violations of instruction files</a:t>
            </a:r>
          </a:p>
          <a:p>
            <a:pPr lvl="0"/>
            <a:r>
              <a:t>Unclear or undocumented behavior</a:t>
            </a:r>
          </a:p>
          <a:p>
            <a:pPr marL="0" lvl="0" indent="0">
              <a:spcBef>
                <a:spcPts val="3000"/>
              </a:spcBef>
              <a:buNone/>
            </a:pPr>
            <a:r>
              <a:rPr b="1"/>
              <a:t>Quality indicators</a:t>
            </a:r>
          </a:p>
          <a:p>
            <a:pPr lvl="0"/>
            <a:r>
              <a:t>Small, incremental changes</a:t>
            </a:r>
          </a:p>
          <a:p>
            <a:pPr lvl="0"/>
            <a:r>
              <a:t>Clear reasoning</a:t>
            </a:r>
          </a:p>
          <a:p>
            <a:pPr lvl="0"/>
            <a:r>
              <a:t>Strong test coverage</a:t>
            </a:r>
          </a:p>
          <a:p>
            <a:pPr lvl="0"/>
            <a:r>
              <a:t>Alignment with evergreen principles</a:t>
            </a:r>
          </a:p>
        </p:txBody>
      </p:sp>
    </p:spTree>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Best Practice Synthesis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a:t>Combine the strengths of each model</a:t>
            </a:r>
          </a:p>
          <a:p>
            <a:pPr lvl="0"/>
            <a:r>
              <a:t>Use one model for architecture</a:t>
            </a:r>
          </a:p>
          <a:p>
            <a:pPr lvl="0"/>
            <a:r>
              <a:t>Another for implementation</a:t>
            </a:r>
          </a:p>
          <a:p>
            <a:pPr lvl="0"/>
            <a:r>
              <a:t>Another for documentation</a:t>
            </a:r>
          </a:p>
          <a:p>
            <a:pPr lvl="0"/>
            <a:r>
              <a:t>Cross‑validate tests and reasoning</a:t>
            </a:r>
          </a:p>
          <a:p>
            <a:pPr marL="0" lvl="0" indent="0">
              <a:spcBef>
                <a:spcPts val="3000"/>
              </a:spcBef>
              <a:buNone/>
            </a:pPr>
            <a:r>
              <a:rPr b="1"/>
              <a:t>Outcome</a:t>
            </a:r>
          </a:p>
          <a:p>
            <a:pPr lvl="0"/>
            <a:r>
              <a:t>Higher quality</a:t>
            </a:r>
          </a:p>
          <a:p>
            <a:pPr lvl="0"/>
            <a:r>
              <a:t>Lower risk</a:t>
            </a:r>
          </a:p>
          <a:p>
            <a:pPr lvl="0"/>
            <a:r>
              <a:t>More predictable modernization</a:t>
            </a:r>
          </a:p>
        </p:txBody>
      </p:sp>
    </p:spTree>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Prompt Multiple Models to Address Technical Debt</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15 minutes</a:t>
            </a:r>
          </a:p>
          <a:p>
            <a:pPr marL="0" lvl="0" indent="0">
              <a:spcBef>
                <a:spcPts val="3000"/>
              </a:spcBef>
              <a:buNone/>
            </a:pPr>
            <a:r>
              <a:rPr b="1" dirty="0"/>
              <a:t>Objectives</a:t>
            </a:r>
          </a:p>
          <a:p>
            <a:pPr lvl="0"/>
            <a:r>
              <a:rPr dirty="0"/>
              <a:t>Compare outputs from different models</a:t>
            </a:r>
          </a:p>
          <a:p>
            <a:pPr lvl="0"/>
            <a:r>
              <a:rPr dirty="0"/>
              <a:t>Identify strengths and weaknesses</a:t>
            </a:r>
          </a:p>
          <a:p>
            <a:pPr lvl="0"/>
            <a:r>
              <a:rPr dirty="0"/>
              <a:t>Evaluate risk and quality</a:t>
            </a:r>
          </a:p>
          <a:p>
            <a:pPr marL="0" lvl="0" indent="0">
              <a:spcBef>
                <a:spcPts val="3000"/>
              </a:spcBef>
              <a:buNone/>
            </a:pPr>
            <a:r>
              <a:rPr b="1" dirty="0"/>
              <a:t>Activities</a:t>
            </a:r>
          </a:p>
          <a:p>
            <a:pPr marL="342900" lvl="0" indent="-342900">
              <a:buAutoNum type="arabicPeriod"/>
            </a:pPr>
            <a:r>
              <a:rPr dirty="0"/>
              <a:t>Select a small technical debt item.</a:t>
            </a:r>
          </a:p>
          <a:p>
            <a:pPr marL="342900" lvl="0" indent="-342900">
              <a:buAutoNum type="arabicPeriod"/>
            </a:pPr>
            <a:r>
              <a:rPr dirty="0"/>
              <a:t>Prompt two or more models to propose a fix.</a:t>
            </a:r>
          </a:p>
          <a:p>
            <a:pPr marL="342900" lvl="0" indent="-342900">
              <a:buAutoNum type="arabicPeriod"/>
            </a:pPr>
            <a:r>
              <a:rPr dirty="0"/>
              <a:t>Compare outputs for:</a:t>
            </a:r>
          </a:p>
          <a:p>
            <a:pPr lvl="1"/>
            <a:r>
              <a:rPr dirty="0"/>
              <a:t>Safety</a:t>
            </a:r>
          </a:p>
          <a:p>
            <a:pPr lvl="1"/>
            <a:r>
              <a:rPr dirty="0"/>
              <a:t>Clarity</a:t>
            </a:r>
          </a:p>
          <a:p>
            <a:pPr lvl="1"/>
            <a:r>
              <a:rPr dirty="0"/>
              <a:t>Test coverage</a:t>
            </a:r>
          </a:p>
          <a:p>
            <a:pPr lvl="1"/>
            <a:r>
              <a:rPr dirty="0"/>
              <a:t>Architectural alignment</a:t>
            </a:r>
          </a:p>
          <a:p>
            <a:pPr marL="342900" lvl="0" indent="-342900">
              <a:buAutoNum type="arabicPeriod"/>
            </a:pPr>
            <a:r>
              <a:rPr dirty="0"/>
              <a:t>Synthesize the best elements into a final solution.</a:t>
            </a:r>
          </a:p>
          <a:p>
            <a:pPr marL="0" lvl="0" indent="0">
              <a:spcBef>
                <a:spcPts val="3000"/>
              </a:spcBef>
              <a:buNone/>
            </a:pPr>
            <a:r>
              <a:rPr b="1" dirty="0"/>
              <a:t>Success Criteria</a:t>
            </a:r>
          </a:p>
          <a:p>
            <a:pPr lvl="0"/>
            <a:r>
              <a:rPr dirty="0"/>
              <a:t>Differences between models are clearly identified</a:t>
            </a:r>
          </a:p>
          <a:p>
            <a:pPr lvl="0"/>
            <a:r>
              <a:rPr dirty="0"/>
              <a:t>Risks and strengths are evaluated</a:t>
            </a:r>
          </a:p>
          <a:p>
            <a:pPr lvl="0"/>
            <a:r>
              <a:rPr dirty="0"/>
              <a:t>Final synthesized solution is safe and incremental</a:t>
            </a:r>
          </a:p>
          <a:p>
            <a:pPr lvl="0"/>
            <a:r>
              <a:rPr dirty="0"/>
              <a:t>Provenance metadata is included</a:t>
            </a:r>
          </a:p>
        </p:txBody>
      </p:sp>
    </p:spTree>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Assigning an Issue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10 minutes</a:t>
            </a:r>
          </a:p>
          <a:p>
            <a:pPr marL="0" lvl="0" indent="0">
              <a:spcBef>
                <a:spcPts val="3000"/>
              </a:spcBef>
              <a:buNone/>
            </a:pPr>
            <a:r>
              <a:rPr b="1" dirty="0"/>
              <a:t>Objectives</a:t>
            </a:r>
          </a:p>
          <a:p>
            <a:pPr lvl="0"/>
            <a:r>
              <a:rPr dirty="0"/>
              <a:t>Practice delegating the same issue to different models</a:t>
            </a:r>
          </a:p>
          <a:p>
            <a:pPr lvl="0"/>
            <a:r>
              <a:rPr dirty="0"/>
              <a:t>Evaluate how each model interprets constraints</a:t>
            </a:r>
          </a:p>
          <a:p>
            <a:pPr lvl="0"/>
            <a:r>
              <a:rPr dirty="0"/>
              <a:t>Identify missing context</a:t>
            </a:r>
          </a:p>
          <a:p>
            <a:pPr marL="0" lvl="0" indent="0">
              <a:spcBef>
                <a:spcPts val="3000"/>
              </a:spcBef>
              <a:buNone/>
            </a:pPr>
            <a:r>
              <a:rPr b="1" dirty="0"/>
              <a:t>Activities</a:t>
            </a:r>
          </a:p>
          <a:p>
            <a:pPr marL="342900" lvl="0" indent="-342900">
              <a:buAutoNum type="arabicPeriod"/>
            </a:pPr>
            <a:r>
              <a:rPr dirty="0"/>
              <a:t>Create a GitHub‑style issue describing a technical debt item.</a:t>
            </a:r>
          </a:p>
          <a:p>
            <a:pPr marL="342900" lvl="0" indent="-342900">
              <a:buAutoNum type="arabicPeriod"/>
            </a:pPr>
            <a:r>
              <a:rPr dirty="0"/>
              <a:t>Assign the issue to two different models.</a:t>
            </a:r>
          </a:p>
          <a:p>
            <a:pPr marL="342900" lvl="0" indent="-342900">
              <a:buAutoNum type="arabicPeriod"/>
            </a:pPr>
            <a:r>
              <a:rPr dirty="0"/>
              <a:t>Compare their proposed remediation plans.</a:t>
            </a:r>
          </a:p>
          <a:p>
            <a:pPr marL="342900" lvl="0" indent="-342900">
              <a:buAutoNum type="arabicPeriod"/>
            </a:pPr>
            <a:r>
              <a:rPr dirty="0"/>
              <a:t>Identify missing context or contradictions.</a:t>
            </a:r>
          </a:p>
          <a:p>
            <a:pPr marL="0" lvl="0" indent="0">
              <a:spcBef>
                <a:spcPts val="3000"/>
              </a:spcBef>
              <a:buNone/>
            </a:pPr>
            <a:r>
              <a:rPr b="1" dirty="0"/>
              <a:t>Success Criteria</a:t>
            </a:r>
          </a:p>
          <a:p>
            <a:pPr lvl="0"/>
            <a:r>
              <a:rPr dirty="0"/>
              <a:t>Issue is clear and well‑structured</a:t>
            </a:r>
          </a:p>
          <a:p>
            <a:pPr lvl="0"/>
            <a:r>
              <a:rPr dirty="0"/>
              <a:t>Each model produces a distinct approach</a:t>
            </a:r>
          </a:p>
          <a:p>
            <a:pPr lvl="0"/>
            <a:r>
              <a:rPr dirty="0"/>
              <a:t>Missing context is identified and documented</a:t>
            </a:r>
          </a:p>
          <a:p>
            <a:pPr lvl="0"/>
            <a:r>
              <a:rPr dirty="0"/>
              <a:t>A preferred plan is selected based on safety and clarity</a:t>
            </a:r>
          </a:p>
        </p:txBody>
      </p:sp>
    </p:spTree>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Exercise: Delegating Work to Multiple Models</a:t>
            </a:r>
          </a:p>
        </p:txBody>
      </p:sp>
      <p:sp>
        <p:nvSpPr>
          <p:cNvPr id="3" name="Content Placeholder 2"/>
          <p:cNvSpPr>
            <a:spLocks noGrp="1"/>
          </p:cNvSpPr>
          <p:nvPr>
            <p:ph idx="1"/>
          </p:nvPr>
        </p:nvSpPr>
        <p:spPr/>
        <p:txBody>
          <a:bodyPr numCol="2">
            <a:normAutofit fontScale="62500" lnSpcReduction="20000"/>
          </a:bodyPr>
          <a:lstStyle/>
          <a:p>
            <a:pPr marL="0" lvl="0" indent="0">
              <a:spcBef>
                <a:spcPts val="3000"/>
              </a:spcBef>
              <a:buNone/>
            </a:pPr>
            <a:r>
              <a:rPr b="1" dirty="0"/>
              <a:t>Duration</a:t>
            </a:r>
          </a:p>
          <a:p>
            <a:pPr marL="0" lvl="0" indent="0">
              <a:buNone/>
            </a:pPr>
            <a:r>
              <a:rPr dirty="0"/>
              <a:t>20 minutes</a:t>
            </a:r>
          </a:p>
          <a:p>
            <a:pPr marL="0" lvl="0" indent="0">
              <a:spcBef>
                <a:spcPts val="3000"/>
              </a:spcBef>
              <a:buNone/>
            </a:pPr>
            <a:r>
              <a:rPr b="1" dirty="0"/>
              <a:t>Objectives</a:t>
            </a:r>
          </a:p>
          <a:p>
            <a:pPr lvl="0"/>
            <a:r>
              <a:rPr dirty="0"/>
              <a:t>Practice multi‑model delegation</a:t>
            </a:r>
          </a:p>
          <a:p>
            <a:pPr lvl="0"/>
            <a:r>
              <a:rPr dirty="0"/>
              <a:t>Evaluate multi‑step reasoning</a:t>
            </a:r>
          </a:p>
          <a:p>
            <a:pPr lvl="0"/>
            <a:r>
              <a:rPr dirty="0"/>
              <a:t>Synthesize best practices into a unified plan</a:t>
            </a:r>
          </a:p>
          <a:p>
            <a:pPr marL="0" lvl="0" indent="0">
              <a:spcBef>
                <a:spcPts val="3000"/>
              </a:spcBef>
              <a:buNone/>
            </a:pPr>
            <a:r>
              <a:rPr b="1" dirty="0"/>
              <a:t>Activities</a:t>
            </a:r>
          </a:p>
          <a:p>
            <a:pPr marL="342900" lvl="0" indent="-342900">
              <a:buAutoNum type="arabicPeriod"/>
            </a:pPr>
            <a:r>
              <a:rPr dirty="0"/>
              <a:t>Select a multi‑step modernization task.</a:t>
            </a:r>
          </a:p>
          <a:p>
            <a:pPr marL="342900" lvl="0" indent="-342900">
              <a:buAutoNum type="arabicPeriod"/>
            </a:pPr>
            <a:r>
              <a:rPr dirty="0"/>
              <a:t>Ask multiple models to:</a:t>
            </a:r>
          </a:p>
          <a:p>
            <a:pPr lvl="1"/>
            <a:r>
              <a:rPr dirty="0"/>
              <a:t>Analyze the problem</a:t>
            </a:r>
          </a:p>
          <a:p>
            <a:pPr lvl="1"/>
            <a:r>
              <a:rPr dirty="0"/>
              <a:t>Propose a remediation plan</a:t>
            </a:r>
          </a:p>
          <a:p>
            <a:pPr lvl="1"/>
            <a:r>
              <a:rPr dirty="0"/>
              <a:t>Suggest tests</a:t>
            </a:r>
          </a:p>
          <a:p>
            <a:pPr lvl="1"/>
            <a:r>
              <a:rPr dirty="0"/>
              <a:t>Suggest documentation updates</a:t>
            </a:r>
          </a:p>
          <a:p>
            <a:pPr marL="342900" lvl="0" indent="-342900">
              <a:buAutoNum type="arabicPeriod"/>
            </a:pPr>
            <a:r>
              <a:rPr dirty="0"/>
              <a:t>Compare the outputs.</a:t>
            </a:r>
          </a:p>
          <a:p>
            <a:pPr marL="342900" lvl="0" indent="-342900">
              <a:buAutoNum type="arabicPeriod"/>
            </a:pPr>
            <a:r>
              <a:rPr dirty="0"/>
              <a:t>Synthesize a final, safe, incremental plan.</a:t>
            </a:r>
          </a:p>
          <a:p>
            <a:pPr marL="0" lvl="0" indent="0">
              <a:spcBef>
                <a:spcPts val="3000"/>
              </a:spcBef>
              <a:buNone/>
            </a:pPr>
            <a:r>
              <a:rPr b="1" dirty="0"/>
              <a:t>Success Criteria</a:t>
            </a:r>
          </a:p>
          <a:p>
            <a:pPr lvl="0"/>
            <a:r>
              <a:rPr dirty="0"/>
              <a:t>Multi‑model differences are clearly understood</a:t>
            </a:r>
          </a:p>
          <a:p>
            <a:pPr lvl="0"/>
            <a:r>
              <a:rPr dirty="0"/>
              <a:t>Final plan is incremental, reversible, and well‑tested</a:t>
            </a:r>
          </a:p>
          <a:p>
            <a:pPr lvl="0"/>
            <a:r>
              <a:rPr dirty="0"/>
              <a:t>Documentation and provenance are included</a:t>
            </a:r>
          </a:p>
          <a:p>
            <a:pPr lvl="0"/>
            <a:r>
              <a:rPr dirty="0"/>
              <a:t>Risks are identified and mitigated</a:t>
            </a:r>
          </a:p>
        </p:txBody>
      </p:sp>
    </p:spTree>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10411</TotalTime>
  <Words>11593</Words>
  <Application>Microsoft Office PowerPoint</Application>
  <PresentationFormat>On-screen Show (16:9)</PresentationFormat>
  <Paragraphs>1963</Paragraphs>
  <Slides>132</Slides>
  <Notes>128</Notes>
  <HiddenSlides>33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132</vt:i4>
      </vt:variant>
    </vt:vector>
  </HeadingPairs>
  <TitlesOfParts>
    <vt:vector size="138" baseType="lpstr">
      <vt:lpstr>Arial</vt:lpstr>
      <vt:lpstr>Calibri</vt:lpstr>
      <vt:lpstr>Courier</vt:lpstr>
      <vt:lpstr>Noto Sans</vt:lpstr>
      <vt:lpstr>Victor Mono</vt:lpstr>
      <vt:lpstr>CODE Training</vt:lpstr>
      <vt:lpstr>AI Assisted Software Development</vt:lpstr>
      <vt:lpstr>John Michael Miller</vt:lpstr>
      <vt:lpstr>Agenda</vt:lpstr>
      <vt:lpstr>Overview</vt:lpstr>
      <vt:lpstr>Agenda</vt:lpstr>
      <vt:lpstr>Brownfield vs. Evergreen Code</vt:lpstr>
      <vt:lpstr>Lab: Clone the AI-Assisted-Software-Development Repository</vt:lpstr>
      <vt:lpstr>What Defines Brownfield Code</vt:lpstr>
      <vt:lpstr>Why Codebases Degrade</vt:lpstr>
      <vt:lpstr>The Evergreen Philosophy</vt:lpstr>
      <vt:lpstr>Building Respect for Working Systems</vt:lpstr>
      <vt:lpstr>Why Evergreen?</vt:lpstr>
      <vt:lpstr>Agenda</vt:lpstr>
      <vt:lpstr>Essential Safety Measures</vt:lpstr>
      <vt:lpstr>Backup &amp; Rollback Strategies</vt:lpstr>
      <vt:lpstr>Confidence Frameworks</vt:lpstr>
      <vt:lpstr>Change Review Processes</vt:lpstr>
      <vt:lpstr>Incremental Change Methodology</vt:lpstr>
      <vt:lpstr>Keeping Change Sets Small</vt:lpstr>
      <vt:lpstr>Respecting Brownfield Code</vt:lpstr>
      <vt:lpstr>Agenda</vt:lpstr>
      <vt:lpstr>Managing GitHub Copilot Effectively</vt:lpstr>
      <vt:lpstr>A Managed Junior Developer</vt:lpstr>
      <vt:lpstr>Understanding Context &amp; Tokens</vt:lpstr>
      <vt:lpstr>Prompt Engineering Best Practices</vt:lpstr>
      <vt:lpstr>Model Selection Strategies</vt:lpstr>
      <vt:lpstr>Agenda</vt:lpstr>
      <vt:lpstr>Advanced Context Techniques</vt:lpstr>
      <vt:lpstr>File &amp; Folder Mentions (# Syntax)</vt:lpstr>
      <vt:lpstr>Spaces &amp; Knowledge Bases Integration</vt:lpstr>
      <vt:lpstr>Premium Usage Monitoring</vt:lpstr>
      <vt:lpstr>Token Estimation &amp; Overflow Detection</vt:lpstr>
      <vt:lpstr>Why Token Limits Matter</vt:lpstr>
      <vt:lpstr>Silent Failure Modes</vt:lpstr>
      <vt:lpstr>Technique: Summaries</vt:lpstr>
      <vt:lpstr>Technique: Chunking</vt:lpstr>
      <vt:lpstr>Technique: Scoped Prompts</vt:lpstr>
      <vt:lpstr>Technique: Instruction Files</vt:lpstr>
      <vt:lpstr>Agenda</vt:lpstr>
      <vt:lpstr>Adding AI Guardrails</vt:lpstr>
      <vt:lpstr>Instructions, Prompts &amp; Agents</vt:lpstr>
      <vt:lpstr>Creating Instruction, Prompt &amp; Agent Files</vt:lpstr>
      <vt:lpstr>Meta Prompts</vt:lpstr>
      <vt:lpstr>Instructions for Generating Artifacts</vt:lpstr>
      <vt:lpstr>Enforcing Provenance for AI Artifacts</vt:lpstr>
      <vt:lpstr>Exercise: Copy the Core Instructions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Summary: Why This Matters</vt:lpstr>
      <vt:lpstr>Core Instruction files</vt:lpstr>
      <vt:lpstr>Exercise: Create a Prompt File</vt:lpstr>
      <vt:lpstr>Exercise: Create an Instruction File for Evergreen Development</vt:lpstr>
      <vt:lpstr>Exercise: Create an Agent</vt:lpstr>
      <vt:lpstr>Exercise: Generate Instruction Files</vt:lpstr>
      <vt:lpstr>Exercise: Context‑Related Issues</vt:lpstr>
      <vt:lpstr>Agenda</vt:lpstr>
      <vt:lpstr>Documentation Generation &amp; Code Analysis</vt:lpstr>
      <vt:lpstr>Automated README &amp; Documentation Updates</vt:lpstr>
      <vt:lpstr>Architecture Diagram Generation</vt:lpstr>
      <vt:lpstr>Complex Code Explanation &amp; Mapping</vt:lpstr>
      <vt:lpstr>Identifying Technical Debt Hotspots</vt:lpstr>
      <vt:lpstr>Exercise: Brownfield Code Documentation</vt:lpstr>
      <vt:lpstr>Generate Development &amp; Deployment Guides</vt:lpstr>
      <vt:lpstr>Create Architecture Diagrams</vt:lpstr>
      <vt:lpstr>Update Project Documentation</vt:lpstr>
      <vt:lpstr>Cross‑Validate With Multiple AI Models</vt:lpstr>
      <vt:lpstr>Exercise: Identifying Code Outside the Guardrails</vt:lpstr>
      <vt:lpstr>Exercise: Fork the AIASD-20260209-BF Repo</vt:lpstr>
      <vt:lpstr>Agenda</vt:lpstr>
      <vt:lpstr>Building a Backlog</vt:lpstr>
      <vt:lpstr>Identifying Technical Debt</vt:lpstr>
      <vt:lpstr>Automating the Creation of GitHub Issues</vt:lpstr>
      <vt:lpstr>Exercise: Building the Backlog</vt:lpstr>
      <vt:lpstr>Agenda</vt:lpstr>
      <vt:lpstr>Building Safety Nets</vt:lpstr>
      <vt:lpstr>Protecting Brownfield Codebases</vt:lpstr>
      <vt:lpstr>Leveraging AI Code Reviews</vt:lpstr>
      <vt:lpstr>Effective Human Code Reviews</vt:lpstr>
      <vt:lpstr>The Role of Test Automation</vt:lpstr>
      <vt:lpstr>Exercise: Building the Safety Nets</vt:lpstr>
      <vt:lpstr>Agenda</vt:lpstr>
      <vt:lpstr>Test Automation &amp; Code Quality</vt:lpstr>
      <vt:lpstr>AI‑Assisted Test Generation</vt:lpstr>
      <vt:lpstr>Intelligent Linting</vt:lpstr>
      <vt:lpstr>Coverage Analysis</vt:lpstr>
      <vt:lpstr>Automated Quality Gates</vt:lpstr>
      <vt:lpstr>Exercise: Strengthening Test Automation &amp; Code Quality</vt:lpstr>
      <vt:lpstr>Agenda</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Agenda</vt:lpstr>
      <vt:lpstr>Safe Brownfield Coding</vt:lpstr>
      <vt:lpstr>Using Feature Flags</vt:lpstr>
      <vt:lpstr>Retiring Feature Flags</vt:lpstr>
      <vt:lpstr>As‑Is and To‑Be Test Suites</vt:lpstr>
      <vt:lpstr>Testing in Production</vt:lpstr>
      <vt:lpstr>Exercise: Implementing a Feature Flag</vt:lpstr>
      <vt:lpstr>Agenda</vt:lpstr>
      <vt:lpstr>Conformance &amp; Gap Analysis</vt:lpstr>
      <vt:lpstr>Comparing Implementations Against Instruction Files</vt:lpstr>
      <vt:lpstr>Automated Issue Generation From Conformance Gaps</vt:lpstr>
      <vt:lpstr>Prioritizing Technical Debt Remediation</vt:lpstr>
      <vt:lpstr>Creating Actionable Remediation Plans</vt:lpstr>
      <vt:lpstr>Exercise: Generate Issues to Make the Codebase Evergreen</vt:lpstr>
      <vt:lpstr>Exercise: Create an Implementation Plan</vt:lpstr>
      <vt:lpstr>Agenda</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lpstr>Agenda</vt:lpstr>
      <vt:lpstr>Multi‑Model Implementation Comparison</vt:lpstr>
      <vt:lpstr>Implementing Changes With Different AI Models</vt:lpstr>
      <vt:lpstr>Comparing Approaches &amp; Outcomes</vt:lpstr>
      <vt:lpstr>Risk Assessment &amp; Quality Evaluation</vt:lpstr>
      <vt:lpstr>Best Practice Synthesis</vt:lpstr>
      <vt:lpstr>Exercise: Prompt Multiple Models to Address Technical Debt</vt:lpstr>
      <vt:lpstr>Exercise: Assigning an Issue to Multiple Models</vt:lpstr>
      <vt:lpstr>Exercise: Delegating Work to Multiple Models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14</cp:revision>
  <dcterms:created xsi:type="dcterms:W3CDTF">2025-10-20T13:07:02Z</dcterms:created>
  <dcterms:modified xsi:type="dcterms:W3CDTF">2026-02-11T22:46:12Z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