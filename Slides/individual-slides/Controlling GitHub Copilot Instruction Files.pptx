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59" r:id="rId2"/>
    <p:sldId id="331" r:id="rId3"/>
    <p:sldId id="360" r:id="rId4"/>
    <p:sldId id="361" r:id="rId5"/>
    <p:sldId id="362" r:id="rId6"/>
    <p:sldId id="363" r:id="rId7"/>
    <p:sldId id="364" r:id="rId8"/>
    <p:sldId id="365" r:id="rId9"/>
    <p:sldId id="366" r:id="rId10"/>
    <p:sldId id="367" r:id="rId11"/>
    <p:sldId id="30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15014F3-A6BE-4325-8E65-F5A85BF2CFE0}">
          <p14:sldIdLst/>
        </p14:section>
        <p14:section name="Controlling GitHub Copilot Instruction Files" id="{237FB705-CE56-472A-8643-EB17D70A436E}">
          <p14:sldIdLst>
            <p14:sldId id="359"/>
            <p14:sldId id="331"/>
            <p14:sldId id="360"/>
            <p14:sldId id="361"/>
            <p14:sldId id="362"/>
            <p14:sldId id="363"/>
            <p14:sldId id="364"/>
            <p14:sldId id="365"/>
            <p14:sldId id="366"/>
            <p14:sldId id="36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4660"/>
  </p:normalViewPr>
  <p:slideViewPr>
    <p:cSldViewPr snapToGrid="0">
      <p:cViewPr varScale="1">
        <p:scale>
          <a:sx n="160" d="100"/>
          <a:sy n="160" d="100"/>
        </p:scale>
        <p:origin x="1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767BAB-577B-443A-89B3-5E4F41B34D34}"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9E4793-0DF3-4E66-8683-DFD371CBDFE2}" type="slidenum">
              <a:rPr lang="en-US" smtClean="0"/>
              <a:t>‹#›</a:t>
            </a:fld>
            <a:endParaRPr lang="en-US"/>
          </a:p>
        </p:txBody>
      </p:sp>
    </p:spTree>
    <p:extLst>
      <p:ext uri="{BB962C8B-B14F-4D97-AF65-F5344CB8AC3E}">
        <p14:creationId xmlns:p14="http://schemas.microsoft.com/office/powerpoint/2010/main" val="2841087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Welcome to this session on controlling GitHub Copilot instruction files. This is a critical topic for teams implementing AI-assisted development workflows, as understanding how instructions are submitted with every prompt is essential for maintaining consistency, reducing token costs, and ensuring the right context reaches your AI assistant.</a:t>
            </a:r>
          </a:p>
          <a:p>
            <a:pPr marL="0" lvl="0" indent="0">
              <a:buNone/>
            </a:pPr>
            <a:endParaRPr/>
          </a:p>
          <a:p>
            <a:pPr marL="0" lvl="0" indent="0">
              <a:buNone/>
            </a:pPr>
            <a:r>
              <a:t>Today we’ll cover four key areas: how the automatic inclusion system works through the applyTo field, how prompt files interact with instructions, how chat modes affect instruction submission, and practical strategies for controlling your context.</a:t>
            </a:r>
          </a:p>
          <a:p>
            <a:pPr marL="0" lvl="0" indent="0">
              <a:buNone/>
            </a:pPr>
            <a:endParaRPr/>
          </a:p>
          <a:p>
            <a:pPr marL="0" lvl="0" indent="0">
              <a:buNone/>
            </a:pPr>
            <a:r>
              <a:t>This session assumes you’re familiar with basic GitHub Copilot usage and have worked with instruction files before. If you haven’t, we recommend reviewing the “Creating Instruction Files” session first.</a:t>
            </a:r>
          </a:p>
          <a:p>
            <a:pPr marL="0" lvl="0" indent="0">
              <a:buNone/>
            </a:pPr>
            <a:endParaRPr/>
          </a:p>
          <a:p>
            <a:pPr marL="0" lvl="0" indent="0">
              <a:buNone/>
            </a:pPr>
            <a:r>
              <a:t>Estimated time: 15-20 minutes including Q&amp;A.</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start with the fundamental concept: GitHub Copilot includes instruction files with every prompt you send, but it’s not random - it’s controlled by pattern matching.</a:t>
            </a:r>
          </a:p>
          <a:p>
            <a:pPr marL="0" lvl="0" indent="0">
              <a:buNone/>
            </a:pPr>
            <a:endParaRPr/>
          </a:p>
          <a:p>
            <a:pPr marL="0" lvl="0" indent="0">
              <a:buNone/>
            </a:pPr>
            <a:r>
              <a:t>The key mechanism is the applyTo field in the YAML front matter of instruction files. This field contains a glob pattern that determines which files trigger automatic inclusion of that instruction file.</a:t>
            </a:r>
          </a:p>
          <a:p>
            <a:pPr marL="0" lvl="0" indent="0">
              <a:buNone/>
            </a:pPr>
            <a:endParaRPr/>
          </a:p>
          <a:p>
            <a:pPr marL="0" lvl="0" indent="0">
              <a:buNone/>
            </a:pPr>
            <a:r>
              <a:t>In this example, we have security instructions that apply to TypeScript, JavaScript, and Python files. When you open or edit any file matching this pattern - like src/api.ts - these security instructions are automatically included in the context sent to the AI model.</a:t>
            </a:r>
          </a:p>
          <a:p>
            <a:pPr marL="0" lvl="0" indent="0">
              <a:buNone/>
            </a:pPr>
            <a:endParaRPr/>
          </a:p>
          <a:p>
            <a:pPr marL="0" lvl="0" indent="0">
              <a:buNone/>
            </a:pPr>
            <a:r>
              <a:t>This is incredibly powerful because it means:</a:t>
            </a:r>
          </a:p>
          <a:p>
            <a:pPr marL="0" lvl="0" indent="0">
              <a:buNone/>
            </a:pPr>
            <a:endParaRPr/>
          </a:p>
          <a:p>
            <a:pPr marL="342900" lvl="0" indent="-342900">
              <a:buAutoNum type="arabicPeriod"/>
            </a:pPr>
            <a:r>
              <a:t>Instructions follow the files they’re relevant to</a:t>
            </a:r>
          </a:p>
          <a:p>
            <a:pPr marL="0" lvl="0" indent="0">
              <a:buNone/>
            </a:pPr>
            <a:endParaRPr/>
          </a:p>
          <a:p>
            <a:pPr marL="342900" lvl="0" indent="-342900">
              <a:buAutoNum type="arabicPeriod"/>
            </a:pPr>
            <a:r>
              <a:t>You don’t need to manually reference instructions every time</a:t>
            </a:r>
          </a:p>
          <a:p>
            <a:pPr marL="0" lvl="0" indent="0">
              <a:buNone/>
            </a:pPr>
            <a:endParaRPr/>
          </a:p>
          <a:p>
            <a:pPr marL="342900" lvl="0" indent="-342900">
              <a:buAutoNum type="arabicPeriod"/>
            </a:pPr>
            <a:r>
              <a:t>Different file types can have different instruction contexts</a:t>
            </a:r>
          </a:p>
          <a:p>
            <a:pPr marL="0" lvl="0" indent="0">
              <a:buNone/>
            </a:pPr>
            <a:endParaRPr/>
          </a:p>
          <a:p>
            <a:pPr marL="342900" lvl="0" indent="-342900">
              <a:buAutoNum type="arabicPeriod"/>
            </a:pPr>
            <a:r>
              <a:t>Token usage is optimized by only including relevant instructions</a:t>
            </a:r>
          </a:p>
          <a:p>
            <a:pPr marL="0" lvl="0" indent="0">
              <a:buNone/>
            </a:pPr>
            <a:endParaRPr/>
          </a:p>
          <a:p>
            <a:pPr marL="0" lvl="0" indent="0">
              <a:buNone/>
            </a:pPr>
            <a:r>
              <a:t>Think of it like having domain experts looking over your shoulder, but only when you’re working in their domain. You wouldn’t want your database architect reviewing your CSS files, and you wouldn’t want your UI designer reviewing your SQL queries. The applyTo field ensures the right expertise is present at the right time.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applyTo field uses glob patterns, which give you three levels of granularity for controlling instruction scope.</a:t>
            </a:r>
          </a:p>
          <a:p>
            <a:pPr marL="0" lvl="0" indent="0">
              <a:buNone/>
            </a:pPr>
            <a:endParaRPr/>
          </a:p>
          <a:p>
            <a:pPr marL="0" lvl="0" indent="0">
              <a:buNone/>
            </a:pPr>
            <a:r>
              <a:t>Level 1: Global patterns like “*</a:t>
            </a:r>
            <a:r>
              <a:rPr i="1"/>
              <a:t>/</a:t>
            </a:r>
            <a:r>
              <a:t>” apply to every file in your repository. Use this sparingly for truly universal instructions like AI provenance requirements or company-wide coding standards. The ai-assisted-output.instructions.md file is a perfect example - it applies everywhere because every AI-generated output needs provenance metadata.</a:t>
            </a:r>
          </a:p>
          <a:p>
            <a:pPr marL="0" lvl="0" indent="0">
              <a:buNone/>
            </a:pPr>
            <a:endParaRPr/>
          </a:p>
          <a:p>
            <a:pPr marL="0" lvl="0" indent="0">
              <a:buNone/>
            </a:pPr>
            <a:r>
              <a:t>Level 2: Directory-specific patterns like “Slides/individual-slides/**” target a specific folder hierarchy. This is ideal for instructions that only make sense in certain parts of your codebase. Marp slide instructions only matter when you’re creating slides, so they target that directory exclusively.</a:t>
            </a:r>
          </a:p>
          <a:p>
            <a:pPr marL="0" lvl="0" indent="0">
              <a:buNone/>
            </a:pPr>
            <a:endParaRPr/>
          </a:p>
          <a:p>
            <a:pPr marL="0" lvl="0" indent="0">
              <a:buNone/>
            </a:pPr>
            <a:r>
              <a:t>Level 3: Type-specific patterns like “*</a:t>
            </a:r>
            <a:r>
              <a:rPr i="1"/>
              <a:t>/</a:t>
            </a:r>
            <a:r>
              <a:t>.{cs,ts,js}” apply to specific file extensions regardless of location. This is perfect for language-specific instructions, architectural patterns, or technology-specific guidelines. Vertical slice architecture instructions might only apply to backend code files.</a:t>
            </a:r>
          </a:p>
          <a:p>
            <a:pPr marL="0" lvl="0" indent="0">
              <a:buNone/>
            </a:pPr>
            <a:endParaRPr/>
          </a:p>
          <a:p>
            <a:pPr marL="0" lvl="0" indent="0">
              <a:buNone/>
            </a:pPr>
            <a:r>
              <a:t>The matching happens automatically when you:</a:t>
            </a:r>
          </a:p>
          <a:p>
            <a:pPr marL="0" lvl="0" indent="0">
              <a:buNone/>
            </a:pPr>
            <a:endParaRPr/>
          </a:p>
          <a:p>
            <a:pPr lvl="0"/>
            <a:r>
              <a:t>Open a file in the editor</a:t>
            </a:r>
          </a:p>
          <a:p>
            <a:pPr marL="0" lvl="0" indent="0">
              <a:buNone/>
            </a:pPr>
            <a:endParaRPr/>
          </a:p>
          <a:p>
            <a:pPr lvl="0"/>
            <a:r>
              <a:t>Reference a file in chat</a:t>
            </a:r>
          </a:p>
          <a:p>
            <a:pPr marL="0" lvl="0" indent="0">
              <a:buNone/>
            </a:pPr>
            <a:endParaRPr/>
          </a:p>
          <a:p>
            <a:pPr lvl="0"/>
            <a:r>
              <a:t>Run a command that targets specific files</a:t>
            </a:r>
          </a:p>
          <a:p>
            <a:pPr marL="0" lvl="0" indent="0">
              <a:buNone/>
            </a:pPr>
            <a:endParaRPr/>
          </a:p>
          <a:p>
            <a:pPr marL="0" lvl="0" indent="0">
              <a:buNone/>
            </a:pPr>
            <a:r>
              <a:t>Pro tip: You can combine these patterns. For example, “src/*</a:t>
            </a:r>
            <a:r>
              <a:rPr i="1"/>
              <a:t>/</a:t>
            </a:r>
            <a:r>
              <a:t>.test.{ts,js}” would only match test files in the src directory. This allows very precise control over which instructions apply where.</a:t>
            </a:r>
          </a:p>
          <a:p>
            <a:pPr marL="0" lvl="0" indent="0">
              <a:buNone/>
            </a:pPr>
            <a:endParaRPr/>
          </a:p>
          <a:p>
            <a:pPr marL="0" lvl="0" indent="0">
              <a:buNone/>
            </a:pPr>
            <a:r>
              <a:t>One important caveat: If an instruction file has NO applyTo field, it won’t be automatically included at all. You’d need to manually reference it with @-mentions.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common source of confusion, so let’s clarify: prompt files and instruction files serve different purposes and work in different ways.</a:t>
            </a:r>
          </a:p>
          <a:p>
            <a:pPr marL="0" lvl="0" indent="0">
              <a:buNone/>
            </a:pPr>
            <a:endParaRPr/>
          </a:p>
          <a:p>
            <a:pPr marL="0" lvl="0" indent="0">
              <a:buNone/>
            </a:pPr>
            <a:r>
              <a:t>Prompt files are executable tasks - they’re like scripts you run to accomplish specific goals. They contain the prompt text, expected deliverables, and requirements. When you execute a prompt file, you’re asking the AI to perform a specific task following specific guidelines.</a:t>
            </a:r>
          </a:p>
          <a:p>
            <a:pPr marL="0" lvl="0" indent="0">
              <a:buNone/>
            </a:pPr>
            <a:endParaRPr/>
          </a:p>
          <a:p>
            <a:pPr marL="0" lvl="0" indent="0">
              <a:buNone/>
            </a:pPr>
            <a:r>
              <a:t>However, prompt files don’t control the automatic inclusion of instruction files. What happens instead is:</a:t>
            </a:r>
          </a:p>
          <a:p>
            <a:pPr marL="0" lvl="0" indent="0">
              <a:buNone/>
            </a:pPr>
            <a:endParaRPr/>
          </a:p>
          <a:p>
            <a:pPr marL="342900" lvl="0" indent="-342900">
              <a:buAutoNum type="arabicPeriod"/>
            </a:pPr>
            <a:r>
              <a:t>You execute a prompt file (say, create-api.prompt.md)</a:t>
            </a:r>
          </a:p>
          <a:p>
            <a:pPr marL="0" lvl="0" indent="0">
              <a:buNone/>
            </a:pPr>
            <a:endParaRPr/>
          </a:p>
          <a:p>
            <a:pPr marL="342900" lvl="0" indent="-342900">
              <a:buAutoNum type="arabicPeriod"/>
            </a:pPr>
            <a:r>
              <a:t>The prompt content itself can mention or reference instruction files</a:t>
            </a:r>
          </a:p>
          <a:p>
            <a:pPr marL="0" lvl="0" indent="0">
              <a:buNone/>
            </a:pPr>
            <a:endParaRPr/>
          </a:p>
          <a:p>
            <a:pPr marL="342900" lvl="0" indent="-342900">
              <a:buAutoNum type="arabicPeriod"/>
            </a:pPr>
            <a:r>
              <a:t>The AI reads those references as part of the prompt</a:t>
            </a:r>
          </a:p>
          <a:p>
            <a:pPr marL="0" lvl="0" indent="0">
              <a:buNone/>
            </a:pPr>
            <a:endParaRPr/>
          </a:p>
          <a:p>
            <a:pPr marL="342900" lvl="0" indent="-342900">
              <a:buAutoNum type="arabicPeriod"/>
            </a:pPr>
            <a:r>
              <a:t>But the automatic inclusion of instruction files is still controlled by the applyTo patterns matching the files being created or modified</a:t>
            </a:r>
          </a:p>
          <a:p>
            <a:pPr marL="0" lvl="0" indent="0">
              <a:buNone/>
            </a:pPr>
            <a:endParaRPr/>
          </a:p>
          <a:p>
            <a:pPr marL="0" lvl="0" indent="0">
              <a:buNone/>
            </a:pPr>
            <a:r>
              <a:t>Here’s a practical scenario: You run a prompt to create a new TypeScript API file. The prompt mentions that security instructions must be followed. The security.instructions.md file has applyTo: “*</a:t>
            </a:r>
            <a:r>
              <a:rPr i="1"/>
              <a:t>/</a:t>
            </a:r>
            <a:r>
              <a:t>.ts”. When the AI creates the new .ts file:</a:t>
            </a:r>
          </a:p>
          <a:p>
            <a:pPr marL="0" lvl="0" indent="0">
              <a:buNone/>
            </a:pPr>
            <a:endParaRPr/>
          </a:p>
          <a:p>
            <a:pPr lvl="0"/>
            <a:r>
              <a:t>The prompt content enforces the requirement</a:t>
            </a:r>
          </a:p>
          <a:p>
            <a:pPr marL="0" lvl="0" indent="0">
              <a:buNone/>
            </a:pPr>
            <a:endParaRPr/>
          </a:p>
          <a:p>
            <a:pPr lvl="0"/>
            <a:r>
              <a:t>The applyTo pattern causes automatic inclusion</a:t>
            </a:r>
          </a:p>
          <a:p>
            <a:pPr marL="0" lvl="0" indent="0">
              <a:buNone/>
            </a:pPr>
            <a:endParaRPr/>
          </a:p>
          <a:p>
            <a:pPr lvl="0"/>
            <a:r>
              <a:t>Both work together, but through different mechanisms</a:t>
            </a:r>
          </a:p>
          <a:p>
            <a:pPr marL="0" lvl="0" indent="0">
              <a:buNone/>
            </a:pPr>
            <a:endParaRPr/>
          </a:p>
          <a:p>
            <a:pPr marL="0" lvl="0" indent="0">
              <a:buNone/>
            </a:pPr>
            <a:r>
              <a:t>Think of it this way: Prompt files are the “what to do”, instruction files are the “how to do it”, and applyTo patterns are the “when to apply the how”.</a:t>
            </a:r>
          </a:p>
          <a:p>
            <a:pPr marL="0" lvl="0" indent="0">
              <a:buNone/>
            </a:pPr>
            <a:endParaRPr/>
          </a:p>
          <a:p>
            <a:pPr marL="0" lvl="0" indent="0">
              <a:buNone/>
            </a:pPr>
            <a:r>
              <a:t>The prompt metadata can specify output paths, which helps the system know what file types to expect and therefore which instructions might become relevant, but it’s still the applyTo matching that does the heavy lifting.</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Chat modes are often misunderstood as another way to control instruction inclusion, but they actually serve a different purpose. Let’s clarify their role in the context submission system.</a:t>
            </a:r>
          </a:p>
          <a:p>
            <a:pPr marL="0" lvl="0" indent="0">
              <a:buNone/>
            </a:pPr>
            <a:endParaRPr/>
          </a:p>
          <a:p>
            <a:pPr marL="0" lvl="0" indent="0">
              <a:buNone/>
            </a:pPr>
            <a:r>
              <a:t>Chat modes create specialized AI personas with domain expertise. When you activate a chat mode, you’re essentially telling the AI “act as a security expert” or “act as a documentation specialist”. The chat mode defines:</a:t>
            </a:r>
          </a:p>
          <a:p>
            <a:pPr marL="0" lvl="0" indent="0">
              <a:buNone/>
            </a:pPr>
            <a:endParaRPr/>
          </a:p>
          <a:p>
            <a:pPr lvl="0"/>
            <a:r>
              <a:t>The role and mission of the AI</a:t>
            </a:r>
          </a:p>
          <a:p>
            <a:pPr marL="0" lvl="0" indent="0">
              <a:buNone/>
            </a:pPr>
            <a:endParaRPr/>
          </a:p>
          <a:p>
            <a:pPr lvl="0"/>
            <a:r>
              <a:t>Core areas of expertise</a:t>
            </a:r>
          </a:p>
          <a:p>
            <a:pPr marL="0" lvl="0" indent="0">
              <a:buNone/>
            </a:pPr>
            <a:endParaRPr/>
          </a:p>
          <a:p>
            <a:pPr lvl="0"/>
            <a:r>
              <a:t>Communication style and tone</a:t>
            </a:r>
          </a:p>
          <a:p>
            <a:pPr marL="0" lvl="0" indent="0">
              <a:buNone/>
            </a:pPr>
            <a:endParaRPr/>
          </a:p>
          <a:p>
            <a:pPr lvl="0"/>
            <a:r>
              <a:t>Specialized commands or workflows</a:t>
            </a:r>
          </a:p>
          <a:p>
            <a:pPr marL="0" lvl="0" indent="0">
              <a:buNone/>
            </a:pPr>
            <a:endParaRPr/>
          </a:p>
          <a:p>
            <a:pPr lvl="0"/>
            <a:r>
              <a:t>Response formatting preferences</a:t>
            </a:r>
          </a:p>
          <a:p>
            <a:pPr marL="0" lvl="0" indent="0">
              <a:buNone/>
            </a:pPr>
            <a:endParaRPr/>
          </a:p>
          <a:p>
            <a:pPr marL="0" lvl="0" indent="0">
              <a:buNone/>
            </a:pPr>
            <a:r>
              <a:t>But here’s the key: chat modes don’t override or control the applyTo pattern matching system. Instead, they layer on top of it. Let’s walk through the flow:</a:t>
            </a:r>
          </a:p>
          <a:p>
            <a:pPr marL="0" lvl="0" indent="0">
              <a:buNone/>
            </a:pPr>
            <a:endParaRPr/>
          </a:p>
          <a:p>
            <a:pPr marL="342900" lvl="0" indent="-342900">
              <a:buAutoNum type="arabicPeriod"/>
            </a:pPr>
            <a:r>
              <a:t>You’re editing a TypeScript file (src/auth.ts)</a:t>
            </a:r>
          </a:p>
          <a:p>
            <a:pPr marL="0" lvl="0" indent="0">
              <a:buNone/>
            </a:pPr>
            <a:endParaRPr/>
          </a:p>
          <a:p>
            <a:pPr marL="342900" lvl="0" indent="-342900">
              <a:buAutoNum type="arabicPeriod"/>
            </a:pPr>
            <a:r>
              <a:t>applyTo patterns are evaluated - security.instructions.md matches</a:t>
            </a:r>
          </a:p>
          <a:p>
            <a:pPr marL="0" lvl="0" indent="0">
              <a:buNone/>
            </a:pPr>
            <a:endParaRPr/>
          </a:p>
          <a:p>
            <a:pPr marL="342900" lvl="0" indent="-342900">
              <a:buAutoNum type="arabicPeriod"/>
            </a:pPr>
            <a:r>
              <a:t>The security instructions are auto-included in context</a:t>
            </a:r>
          </a:p>
          <a:p>
            <a:pPr marL="0" lvl="0" indent="0">
              <a:buNone/>
            </a:pPr>
            <a:endParaRPr/>
          </a:p>
          <a:p>
            <a:pPr marL="342900" lvl="0" indent="-342900">
              <a:buAutoNum type="arabicPeriod"/>
            </a:pPr>
            <a:r>
              <a:t>You have the “Security Analyzer” chat mode active</a:t>
            </a:r>
          </a:p>
          <a:p>
            <a:pPr marL="0" lvl="0" indent="0">
              <a:buNone/>
            </a:pPr>
            <a:endParaRPr/>
          </a:p>
          <a:p>
            <a:pPr marL="342900" lvl="0" indent="-342900">
              <a:buAutoNum type="arabicPeriod"/>
            </a:pPr>
            <a:r>
              <a:t>The chat mode persona is added to the context</a:t>
            </a:r>
          </a:p>
          <a:p>
            <a:pPr marL="0" lvl="0" indent="0">
              <a:buNone/>
            </a:pPr>
            <a:endParaRPr/>
          </a:p>
          <a:p>
            <a:pPr marL="342900" lvl="0" indent="-342900">
              <a:buAutoNum type="arabicPeriod"/>
            </a:pPr>
            <a:r>
              <a:t>The AI now has: the file, the security instructions, AND the security expert persona</a:t>
            </a:r>
          </a:p>
          <a:p>
            <a:pPr marL="0" lvl="0" indent="0">
              <a:buNone/>
            </a:pPr>
            <a:endParaRPr/>
          </a:p>
          <a:p>
            <a:pPr marL="0" lvl="0" indent="0">
              <a:buNone/>
            </a:pPr>
            <a:r>
              <a:t>The diagram shows this flow. The file type drives instruction inclusion through pattern matching, and the chat mode adds a specialized persona layer on top. They’re complementary, not competitive.</a:t>
            </a:r>
          </a:p>
          <a:p>
            <a:pPr marL="0" lvl="0" indent="0">
              <a:buNone/>
            </a:pPr>
            <a:endParaRPr/>
          </a:p>
          <a:p>
            <a:pPr marL="0" lvl="0" indent="0">
              <a:buNone/>
            </a:pPr>
            <a:r>
              <a:t>A practical benefit: You could have security instructions that are very technical and rule-based, while the security analyzer chat mode adds conversational expertise and interactive commands. The instructions say “what to check”, the chat mode says “how to explain findings”.</a:t>
            </a:r>
          </a:p>
          <a:p>
            <a:pPr marL="0" lvl="0" indent="0">
              <a:buNone/>
            </a:pPr>
            <a:endParaRPr/>
          </a:p>
          <a:p>
            <a:pPr marL="0" lvl="0" indent="0">
              <a:buNone/>
            </a:pPr>
            <a:r>
              <a:t>One important note: If your chat mode references specific instruction files in its content, those references work like any other reference - they become part of the conversation, but they don’t change the automatic inclusion patterns.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Now let’s bring it all together with the complete control hierarchy. This shows the order in which different elements contribute to the context that gets submitted with your Copilot prompts.</a:t>
            </a:r>
          </a:p>
          <a:p>
            <a:pPr marL="0" lvl="0" indent="0">
              <a:buNone/>
            </a:pPr>
            <a:endParaRPr/>
          </a:p>
          <a:p>
            <a:pPr marL="0" lvl="0" indent="0">
              <a:buNone/>
            </a:pPr>
            <a:r>
              <a:t>Level 1: The Foundation - The File Being Edited Everything starts with the actual file you’re working on. This could be a file you have open, a file you’re creating, or files you reference in conversation. This establishes the base context and triggers the pattern matching system.</a:t>
            </a:r>
          </a:p>
          <a:p>
            <a:pPr marL="0" lvl="0" indent="0">
              <a:buNone/>
            </a:pPr>
            <a:endParaRPr/>
          </a:p>
          <a:p>
            <a:pPr marL="0" lvl="0" indent="0">
              <a:buNone/>
            </a:pPr>
            <a:r>
              <a:t>Level 2: Automatic Layer - Instruction Files Based on the file from level 1, the system evaluates all applyTo patterns in your instruction files. Every instruction file whose pattern matches your current file is automatically included. This happens silently in the background - you don’t see it, but it’s there. This is the primary control mechanism we’ve been discussing.</a:t>
            </a:r>
          </a:p>
          <a:p>
            <a:pPr marL="0" lvl="0" indent="0">
              <a:buNone/>
            </a:pPr>
            <a:endParaRPr/>
          </a:p>
          <a:p>
            <a:pPr marL="0" lvl="0" indent="0">
              <a:buNone/>
            </a:pPr>
            <a:r>
              <a:t>Level 3: Persona Layer - Active Chat Mode If you have a chat mode active, its persona definition, methodology, and guidelines are added to the context. This doesn’t replace the instructions from level 2, it augments them. Think of this as the “personality” that interprets and applies the technical instructions.</a:t>
            </a:r>
          </a:p>
          <a:p>
            <a:pPr marL="0" lvl="0" indent="0">
              <a:buNone/>
            </a:pPr>
            <a:endParaRPr/>
          </a:p>
          <a:p>
            <a:pPr marL="0" lvl="0" indent="0">
              <a:buNone/>
            </a:pPr>
            <a:r>
              <a:t>Level 4: Task Layer - Prompt Files When you execute a prompt file, its content becomes part of the conversation. Any references to instruction files in the prompt text are processed. The prompt often specifies what type of output to create, which can trigger additional applyTo matching for the target files.</a:t>
            </a:r>
          </a:p>
          <a:p>
            <a:pPr marL="0" lvl="0" indent="0">
              <a:buNone/>
            </a:pPr>
            <a:endParaRPr/>
          </a:p>
          <a:p>
            <a:pPr marL="0" lvl="0" indent="0">
              <a:buNone/>
            </a:pPr>
            <a:r>
              <a:t>Level 5: Explicit Layer - Manual @-mentions Finally, you can always manually reference specific instruction files using @-mentions in your chat. This overrides the automatic system - if an instruction file doesn’t have an applyTo match but you @-mention it, it gets included anyway.</a:t>
            </a:r>
          </a:p>
          <a:p>
            <a:pPr marL="0" lvl="0" indent="0">
              <a:buNone/>
            </a:pPr>
            <a:endParaRPr/>
          </a:p>
          <a:p>
            <a:pPr marL="0" lvl="0" indent="0">
              <a:buNone/>
            </a:pPr>
            <a:r>
              <a:t>Understanding this hierarchy helps you:</a:t>
            </a:r>
          </a:p>
          <a:p>
            <a:pPr marL="0" lvl="0" indent="0">
              <a:buNone/>
            </a:pPr>
            <a:endParaRPr/>
          </a:p>
          <a:p>
            <a:pPr lvl="0"/>
            <a:r>
              <a:t>Debug why certain instructions aren’t being applied</a:t>
            </a:r>
          </a:p>
          <a:p>
            <a:pPr marL="0" lvl="0" indent="0">
              <a:buNone/>
            </a:pPr>
            <a:endParaRPr/>
          </a:p>
          <a:p>
            <a:pPr lvl="0"/>
            <a:r>
              <a:t>Optimize token usage by avoiding redundant inclusion</a:t>
            </a:r>
          </a:p>
          <a:p>
            <a:pPr marL="0" lvl="0" indent="0">
              <a:buNone/>
            </a:pPr>
            <a:endParaRPr/>
          </a:p>
          <a:p>
            <a:pPr lvl="0"/>
            <a:r>
              <a:t>Design better instruction file patterns</a:t>
            </a:r>
          </a:p>
          <a:p>
            <a:pPr marL="0" lvl="0" indent="0">
              <a:buNone/>
            </a:pPr>
            <a:endParaRPr/>
          </a:p>
          <a:p>
            <a:pPr lvl="0"/>
            <a:r>
              <a:t>Structure your workflow for maximum efficiency</a:t>
            </a:r>
          </a:p>
          <a:p>
            <a:pPr marL="0" lvl="0" indent="0">
              <a:buNone/>
            </a:pPr>
            <a:endParaRPr/>
          </a:p>
          <a:p>
            <a:pPr marL="0" lvl="0" indent="0">
              <a:buNone/>
            </a:pPr>
            <a:r>
              <a:t>Pro tip: Use levels 1-2 for 90% of your work (file-driven automatic inclusion), level 3 for specialized domains (chat modes), and levels 4-5 for exceptional cases (specific tasks or overrides).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conclude with four practical strategies you can use to manage instruction context effectively. These are patterns we’ve seen work well in real development teams.</a:t>
            </a:r>
          </a:p>
          <a:p>
            <a:pPr marL="0" lvl="0" indent="0">
              <a:buNone/>
            </a:pPr>
            <a:endParaRPr/>
          </a:p>
          <a:p>
            <a:pPr marL="0" lvl="0" indent="0">
              <a:buNone/>
            </a:pPr>
            <a:r>
              <a:t>Strategy 1: Specific Patterns (Recommended for Most Cases) Use precise glob patterns that match only the files where instructions are relevant. For example, if you have vertical slice architecture instructions, apply them only to your backend code: “src/backend/*</a:t>
            </a:r>
            <a:r>
              <a:rPr i="1"/>
              <a:t>/</a:t>
            </a:r>
            <a:r>
              <a:t>.{cs,ts,py}”. This keeps your context clean and focused. It also reduces token costs since irrelevant instructions aren’t included.</a:t>
            </a:r>
          </a:p>
          <a:p>
            <a:pPr marL="0" lvl="0" indent="0">
              <a:buNone/>
            </a:pPr>
            <a:endParaRPr/>
          </a:p>
          <a:p>
            <a:pPr marL="0" lvl="0" indent="0">
              <a:buNone/>
            </a:pPr>
            <a:r>
              <a:t>When to use: This should be your default strategy. Be specific about where instructions apply. Think about the actual files developers will be editing and match those patterns.</a:t>
            </a:r>
          </a:p>
          <a:p>
            <a:pPr marL="0" lvl="0" indent="0">
              <a:buNone/>
            </a:pPr>
            <a:endParaRPr/>
          </a:p>
          <a:p>
            <a:pPr marL="0" lvl="0" indent="0">
              <a:buNone/>
            </a:pPr>
            <a:r>
              <a:t>Strategy 2: No applyTo Field (For Specialized Use) Some instruction files shouldn’t automatically include anywhere. These are typically:</a:t>
            </a:r>
          </a:p>
          <a:p>
            <a:pPr marL="0" lvl="0" indent="0">
              <a:buNone/>
            </a:pPr>
            <a:endParaRPr/>
          </a:p>
          <a:p>
            <a:pPr lvl="0"/>
            <a:r>
              <a:t>Very specialized instructions that rarely apply</a:t>
            </a:r>
          </a:p>
          <a:p>
            <a:pPr marL="0" lvl="0" indent="0">
              <a:buNone/>
            </a:pPr>
            <a:endParaRPr/>
          </a:p>
          <a:p>
            <a:pPr lvl="0"/>
            <a:r>
              <a:t>Experimental guidelines you’re testing</a:t>
            </a:r>
          </a:p>
          <a:p>
            <a:pPr marL="0" lvl="0" indent="0">
              <a:buNone/>
            </a:pPr>
            <a:endParaRPr/>
          </a:p>
          <a:p>
            <a:pPr lvl="0"/>
            <a:r>
              <a:t>Documentation that needs explicit consent to follow</a:t>
            </a:r>
          </a:p>
          <a:p>
            <a:pPr marL="0" lvl="0" indent="0">
              <a:buNone/>
            </a:pPr>
            <a:endParaRPr/>
          </a:p>
          <a:p>
            <a:pPr lvl="0"/>
            <a:r>
              <a:t>Instructions with high token costs that should be opt-in</a:t>
            </a:r>
          </a:p>
          <a:p>
            <a:pPr marL="0" lvl="0" indent="0">
              <a:buNone/>
            </a:pPr>
            <a:endParaRPr/>
          </a:p>
          <a:p>
            <a:pPr marL="0" lvl="0" indent="0">
              <a:buNone/>
            </a:pPr>
            <a:r>
              <a:t>When to use: For instructions that might cause confusion if automatically included, or that are so specialized that automatic inclusion would rarely be appropriate. Developers must @-mention these explicitly.</a:t>
            </a:r>
          </a:p>
          <a:p>
            <a:pPr marL="0" lvl="0" indent="0">
              <a:buNone/>
            </a:pPr>
            <a:endParaRPr/>
          </a:p>
          <a:p>
            <a:pPr marL="0" lvl="0" indent="0">
              <a:buNone/>
            </a:pPr>
            <a:r>
              <a:t>Strategy 3: Global with Overrides (Advanced) Start with global instructions that apply everywhere (like AI provenance requirements), then create more specific instruction files that override or extend them for particular domains. For example:</a:t>
            </a:r>
          </a:p>
          <a:p>
            <a:pPr marL="0" lvl="0" indent="0">
              <a:buNone/>
            </a:pPr>
            <a:endParaRPr/>
          </a:p>
          <a:p>
            <a:pPr lvl="0"/>
            <a:r>
              <a:t>ai-assisted-output.instructions.md: applyTo: “*</a:t>
            </a:r>
            <a:r>
              <a:rPr i="1"/>
              <a:t>/</a:t>
            </a:r>
            <a:r>
              <a:t>”</a:t>
            </a:r>
          </a:p>
          <a:p>
            <a:pPr marL="0" lvl="0" indent="0">
              <a:buNone/>
            </a:pPr>
            <a:endParaRPr/>
          </a:p>
          <a:p>
            <a:pPr lvl="0"/>
            <a:r>
              <a:t>ai-assisted-code-output.instructions.md: applyTo: “*</a:t>
            </a:r>
            <a:r>
              <a:rPr i="1"/>
              <a:t>/</a:t>
            </a:r>
            <a:r>
              <a:t>.{code}” The more specific file can provide additional requirements that layer on top of the global ones.</a:t>
            </a:r>
          </a:p>
          <a:p>
            <a:pPr marL="0" lvl="0" indent="0">
              <a:buNone/>
            </a:pPr>
            <a:endParaRPr/>
          </a:p>
          <a:p>
            <a:pPr marL="0" lvl="0" indent="0">
              <a:buNone/>
            </a:pPr>
            <a:r>
              <a:t>When to use: When you have a base set of universal requirements but need domain-specific extensions. Be careful not to create conflicting instructions.</a:t>
            </a:r>
          </a:p>
          <a:p>
            <a:pPr marL="0" lvl="0" indent="0">
              <a:buNone/>
            </a:pPr>
            <a:endParaRPr/>
          </a:p>
          <a:p>
            <a:pPr marL="0" lvl="0" indent="0">
              <a:buNone/>
            </a:pPr>
            <a:r>
              <a:t>Strategy 4: Directory Isolation (For Large Projects) In large monorepos or projects with distinct sections, isolate instructions by directory. Frontend, backend, mobile, docs, infrastructure - each gets its own instruction files with directory-specific patterns. This prevents cross-contamination of concerns.</a:t>
            </a:r>
          </a:p>
          <a:p>
            <a:pPr marL="0" lvl="0" indent="0">
              <a:buNone/>
            </a:pPr>
            <a:endParaRPr/>
          </a:p>
          <a:p>
            <a:pPr marL="0" lvl="0" indent="0">
              <a:buNone/>
            </a:pPr>
            <a:r>
              <a:t>When to use: Projects with clear architectural boundaries, multi-team codebases, or when different parts of your system have fundamentally different requirements.</a:t>
            </a:r>
          </a:p>
          <a:p>
            <a:pPr marL="0" lvl="0" indent="0">
              <a:buNone/>
            </a:pPr>
            <a:endParaRPr/>
          </a:p>
          <a:p>
            <a:pPr marL="0" lvl="0" indent="0">
              <a:buNone/>
            </a:pPr>
            <a:r>
              <a:t>Implementation tip: Document your strategy in your repository’s README so the team understands the pattern matching approach you’re using. Include examples of which files trigger which instructions.</a:t>
            </a:r>
          </a:p>
          <a:p>
            <a:pPr marL="0" lvl="0" indent="0">
              <a:buNone/>
            </a:pPr>
            <a:endParaRPr/>
          </a:p>
          <a:p>
            <a:pPr marL="0" lvl="0" indent="0">
              <a:buNone/>
            </a:pPr>
            <a:r>
              <a:t>Remember: You can see which instructions are active by checking the Copilot context window or by asking Copilot “which instruction files are currently active?”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look at real examples from your actual workspace to see these strategies in action. These are live instruction files that demonstrate the patterns we’ve discussed.</a:t>
            </a:r>
          </a:p>
          <a:p>
            <a:pPr marL="0" lvl="0" indent="0">
              <a:buNone/>
            </a:pPr>
            <a:endParaRPr/>
          </a:p>
          <a:p>
            <a:pPr marL="0" lvl="0" indent="0">
              <a:buNone/>
            </a:pPr>
            <a:r>
              <a:t>Example 1: Universal Requirements The ai-assisted-output.instructions.md file uses the global pattern “*</a:t>
            </a:r>
            <a:r>
              <a:rPr i="1"/>
              <a:t>/</a:t>
            </a:r>
            <a:r>
              <a:t>”. This makes sense because every AI-generated artifact in your repository needs complete provenance metadata - the chat ID, model used, timestamps, operator, etc. There’s no file type that should be exempt from these requirements. This is a perfect use case for global application.</a:t>
            </a:r>
          </a:p>
          <a:p>
            <a:pPr marL="0" lvl="0" indent="0">
              <a:buNone/>
            </a:pPr>
            <a:endParaRPr/>
          </a:p>
          <a:p>
            <a:pPr marL="0" lvl="0" indent="0">
              <a:buNone/>
            </a:pPr>
            <a:r>
              <a:t>Example 2: Language-Specific Guidance The vertical-slice-implementation.instructions.md file applies to code files across multiple languages. Notice the pattern includes cs, ts, js, py, java, go, and rb extensions. This instruction file contains architectural guidance about implementing vertical slice architecture, which is relevant to any programming language but not relevant to markdown docs, config files, or slides. By targeting only code files, it stays out of the way when you’re writing documentation.</a:t>
            </a:r>
          </a:p>
          <a:p>
            <a:pPr marL="0" lvl="0" indent="0">
              <a:buNone/>
            </a:pPr>
            <a:endParaRPr/>
          </a:p>
          <a:p>
            <a:pPr marL="0" lvl="0" indent="0">
              <a:buNone/>
            </a:pPr>
            <a:r>
              <a:t>Example 3: Directory-Specific Rules The marp-slides.instructions.md file uses “Slides/individual-slides/**” to target only the specific directory where slide content is created. Marp formatting rules, speaker note syntax, and presentation structure guidance only makes sense for slide files. If this pattern was broader, you’d get slide-specific instructions while writing code, which would be confusing and waste tokens.</a:t>
            </a:r>
          </a:p>
          <a:p>
            <a:pPr marL="0" lvl="0" indent="0">
              <a:buNone/>
            </a:pPr>
            <a:endParaRPr/>
          </a:p>
          <a:p>
            <a:pPr marL="0" lvl="0" indent="0">
              <a:buNone/>
            </a:pPr>
            <a:r>
              <a:t>Example 4: File Type Specialization The chatmode-file.instructions.md file applies only to files ending in .chatmode.md. This is hyper-specific because the instructions are about creating chat mode definition files - they’re only relevant when you’re actually authoring a chat mode. This prevents developers from seeing chat mode creation instructions when they’re working on normal documentation.</a:t>
            </a:r>
          </a:p>
          <a:p>
            <a:pPr marL="0" lvl="0" indent="0">
              <a:buNone/>
            </a:pPr>
            <a:endParaRPr/>
          </a:p>
          <a:p>
            <a:pPr marL="0" lvl="0" indent="0">
              <a:buNone/>
            </a:pPr>
            <a:r>
              <a:t>The pattern: Start with the question “When would a developer need this guidance?” Then write the most specific pattern that matches those situations. Too broad and you waste tokens and cause confusion. Too narrow and the instructions won’t be there when needed.</a:t>
            </a:r>
          </a:p>
          <a:p>
            <a:pPr marL="0" lvl="0" indent="0">
              <a:buNone/>
            </a:pPr>
            <a:endParaRPr/>
          </a:p>
          <a:p>
            <a:pPr marL="0" lvl="0" indent="0">
              <a:buNone/>
            </a:pPr>
            <a:r>
              <a:t>You can examine your own instruction files and ask: “Is this applyTo pattern optimal? Could it be more specific? Is it too specific and causing instructions to be missed?”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Let’s wrap up with the five key takeaways you should remember from this session.</a:t>
            </a:r>
          </a:p>
          <a:p>
            <a:pPr marL="0" lvl="0" indent="0">
              <a:buNone/>
            </a:pPr>
            <a:endParaRPr/>
          </a:p>
          <a:p>
            <a:pPr marL="0" lvl="0" indent="0">
              <a:buNone/>
            </a:pPr>
            <a:r>
              <a:t>First and most important: The applyTo field is your primary control mechanism. This glob pattern in the instruction file’s YAML front matter determines when that file automatically includes in context. Master glob patterns and you master context control. If you remember nothing else from this session, remember this point.</a:t>
            </a:r>
          </a:p>
          <a:p>
            <a:pPr marL="0" lvl="0" indent="0">
              <a:buNone/>
            </a:pPr>
            <a:endParaRPr/>
          </a:p>
          <a:p>
            <a:pPr marL="0" lvl="0" indent="0">
              <a:buNone/>
            </a:pPr>
            <a:r>
              <a:t>Second: Prompt files are not instruction controllers. They’re task executors that can reference instructions in their content, but they don’t override or control the applyTo pattern matching system. Think of prompts as “what to do” and instructions as “how to do it” - they’re complementary, not competitive.</a:t>
            </a:r>
          </a:p>
          <a:p>
            <a:pPr marL="0" lvl="0" indent="0">
              <a:buNone/>
            </a:pPr>
            <a:endParaRPr/>
          </a:p>
          <a:p>
            <a:pPr marL="0" lvl="0" indent="0">
              <a:buNone/>
            </a:pPr>
            <a:r>
              <a:t>Third: Chat modes create specialized AI personas that layer on top of the instruction system. They don’t replace or filter instructions; they add context, expertise, and communication style. Use chat modes to add personality and specialized workflows, not to control instruction inclusion.</a:t>
            </a:r>
          </a:p>
          <a:p>
            <a:pPr marL="0" lvl="0" indent="0">
              <a:buNone/>
            </a:pPr>
            <a:endParaRPr/>
          </a:p>
          <a:p>
            <a:pPr marL="0" lvl="0" indent="0">
              <a:buNone/>
            </a:pPr>
            <a:r>
              <a:t>Fourth: Understanding the hierarchy helps you debug and optimize. When something unexpected happens - instructions not being applied, wrong context being included, token limits being hit - trace through the hierarchy: What file am I working on? What patterns match? What chat mode is active? What prompt am I running? What did I manually @-mention?</a:t>
            </a:r>
          </a:p>
          <a:p>
            <a:pPr marL="0" lvl="0" indent="0">
              <a:buNone/>
            </a:pPr>
            <a:endParaRPr/>
          </a:p>
          <a:p>
            <a:pPr marL="0" lvl="0" indent="0">
              <a:buNone/>
            </a:pPr>
            <a:r>
              <a:t>Fifth: Specificity beats generality. It’s tempting to use broad patterns like “*</a:t>
            </a:r>
            <a:r>
              <a:rPr i="1"/>
              <a:t>/</a:t>
            </a:r>
            <a:r>
              <a:t>” for everything, but resist that temptation. Specific patterns mean:</a:t>
            </a:r>
          </a:p>
          <a:p>
            <a:pPr marL="0" lvl="0" indent="0">
              <a:buNone/>
            </a:pPr>
            <a:endParaRPr/>
          </a:p>
          <a:p>
            <a:pPr lvl="0"/>
            <a:r>
              <a:t>Lower token costs (only relevant context)</a:t>
            </a:r>
          </a:p>
          <a:p>
            <a:pPr marL="0" lvl="0" indent="0">
              <a:buNone/>
            </a:pPr>
            <a:endParaRPr/>
          </a:p>
          <a:p>
            <a:pPr lvl="0"/>
            <a:r>
              <a:t>Faster responses (less to process)</a:t>
            </a:r>
          </a:p>
          <a:p>
            <a:pPr marL="0" lvl="0" indent="0">
              <a:buNone/>
            </a:pPr>
            <a:endParaRPr/>
          </a:p>
          <a:p>
            <a:pPr lvl="0"/>
            <a:r>
              <a:t>Better quality (more focused guidance)</a:t>
            </a:r>
          </a:p>
          <a:p>
            <a:pPr marL="0" lvl="0" indent="0">
              <a:buNone/>
            </a:pPr>
            <a:endParaRPr/>
          </a:p>
          <a:p>
            <a:pPr lvl="0"/>
            <a:r>
              <a:t>Fewer conflicts (clearer which rules apply)</a:t>
            </a:r>
          </a:p>
          <a:p>
            <a:pPr marL="0" lvl="0" indent="0">
              <a:buNone/>
            </a:pPr>
            <a:endParaRPr/>
          </a:p>
          <a:p>
            <a:pPr marL="0" lvl="0" indent="0">
              <a:buNone/>
            </a:pPr>
            <a:r>
              <a:t>A well-designed instruction file system uses specific patterns that precisely match the files where guidance is needed.</a:t>
            </a:r>
          </a:p>
          <a:p>
            <a:pPr marL="0" lvl="0" indent="0">
              <a:buNone/>
            </a:pPr>
            <a:endParaRPr/>
          </a:p>
          <a:p>
            <a:pPr marL="0" lvl="0" indent="0">
              <a:buNone/>
            </a:pPr>
            <a:r>
              <a:t>Action items for after this session:</a:t>
            </a:r>
          </a:p>
          <a:p>
            <a:pPr marL="0" lvl="0" indent="0">
              <a:buNone/>
            </a:pPr>
            <a:endParaRPr/>
          </a:p>
          <a:p>
            <a:pPr marL="342900" lvl="0" indent="-342900">
              <a:buAutoNum type="arabicPeriod"/>
            </a:pPr>
            <a:r>
              <a:t>Audit your instruction files - check every applyTo pattern</a:t>
            </a:r>
          </a:p>
          <a:p>
            <a:pPr marL="0" lvl="0" indent="0">
              <a:buNone/>
            </a:pPr>
            <a:endParaRPr/>
          </a:p>
          <a:p>
            <a:pPr marL="342900" lvl="0" indent="-342900">
              <a:buAutoNum type="arabicPeriod"/>
            </a:pPr>
            <a:r>
              <a:t>Test what happens when you edit different file types</a:t>
            </a:r>
          </a:p>
          <a:p>
            <a:pPr marL="0" lvl="0" indent="0">
              <a:buNone/>
            </a:pPr>
            <a:endParaRPr/>
          </a:p>
          <a:p>
            <a:pPr marL="342900" lvl="0" indent="-342900">
              <a:buAutoNum type="arabicPeriod"/>
            </a:pPr>
            <a:r>
              <a:t>Document your pattern strategy for your team</a:t>
            </a:r>
          </a:p>
          <a:p>
            <a:pPr marL="0" lvl="0" indent="0">
              <a:buNone/>
            </a:pPr>
            <a:endParaRPr/>
          </a:p>
          <a:p>
            <a:pPr marL="342900" lvl="0" indent="-342900">
              <a:buAutoNum type="arabicPeriod"/>
            </a:pPr>
            <a:r>
              <a:t>Consider creating directory-specific or type-specific instruction files if you currently have too many global patterns</a:t>
            </a:r>
          </a:p>
          <a:p>
            <a:pPr marL="0" lvl="0" indent="0">
              <a:buNone/>
            </a:pPr>
            <a:endParaRPr/>
          </a:p>
          <a:p>
            <a:pPr marL="0" lvl="0" indent="0">
              <a:buNone/>
            </a:pPr>
            <a:r>
              <a:t>Questions to consider:</a:t>
            </a:r>
          </a:p>
          <a:p>
            <a:pPr marL="0" lvl="0" indent="0">
              <a:buNone/>
            </a:pPr>
            <a:endParaRPr/>
          </a:p>
          <a:p>
            <a:pPr lvl="0"/>
            <a:r>
              <a:t>Are your patterns too broad or too narrow?</a:t>
            </a:r>
          </a:p>
          <a:p>
            <a:pPr marL="0" lvl="0" indent="0">
              <a:buNone/>
            </a:pPr>
            <a:endParaRPr/>
          </a:p>
          <a:p>
            <a:pPr lvl="0"/>
            <a:r>
              <a:t>Do you have instructions without applyTo fields that should have them?</a:t>
            </a:r>
          </a:p>
          <a:p>
            <a:pPr marL="0" lvl="0" indent="0">
              <a:buNone/>
            </a:pPr>
            <a:endParaRPr/>
          </a:p>
          <a:p>
            <a:pPr lvl="0"/>
            <a:r>
              <a:t>Are there conflicting instructions applying to the same files?</a:t>
            </a:r>
          </a:p>
          <a:p>
            <a:pPr marL="0" lvl="0" indent="0">
              <a:buNone/>
            </a:pPr>
            <a:endParaRPr/>
          </a:p>
          <a:p>
            <a:pPr lvl="0"/>
            <a:r>
              <a:t>Could you reduce token usage with more specific patterns?</a:t>
            </a:r>
          </a:p>
          <a:p>
            <a:pPr marL="0" lvl="0" indent="0">
              <a:buNone/>
            </a:pPr>
            <a:endParaRPr/>
          </a:p>
          <a:p>
            <a:pPr marL="0" lvl="0" indent="0">
              <a:buNone/>
            </a:pPr>
            <a:r>
              <a:t>Thank you for your attention. Let’s open it up for questions.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DB781-89FD-CFE8-8512-FD7F83A812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DC934F-5C31-A208-0A74-314451E39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305378-FAFD-9A14-7703-5ED1AC78F71F}"/>
              </a:ext>
            </a:extLst>
          </p:cNvPr>
          <p:cNvSpPr>
            <a:spLocks noGrp="1"/>
          </p:cNvSpPr>
          <p:nvPr>
            <p:ph type="dt" sz="half" idx="10"/>
          </p:nvPr>
        </p:nvSpPr>
        <p:spPr/>
        <p:txBody>
          <a:bodyPr/>
          <a:lstStyle/>
          <a:p>
            <a:fld id="{CCBDC107-E4E6-4D98-90CC-127E567B1257}" type="datetimeFigureOut">
              <a:rPr lang="en-US" smtClean="0"/>
              <a:t>3/5/2026</a:t>
            </a:fld>
            <a:endParaRPr lang="en-US"/>
          </a:p>
        </p:txBody>
      </p:sp>
      <p:sp>
        <p:nvSpPr>
          <p:cNvPr id="5" name="Footer Placeholder 4">
            <a:extLst>
              <a:ext uri="{FF2B5EF4-FFF2-40B4-BE49-F238E27FC236}">
                <a16:creationId xmlns:a16="http://schemas.microsoft.com/office/drawing/2014/main" id="{BE5565DB-D62D-A3C1-4B11-D7DE2CAC41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FA3656-088C-202E-1FCE-519592AED820}"/>
              </a:ext>
            </a:extLst>
          </p:cNvPr>
          <p:cNvSpPr>
            <a:spLocks noGrp="1"/>
          </p:cNvSpPr>
          <p:nvPr>
            <p:ph type="sldNum" sz="quarter" idx="12"/>
          </p:nvPr>
        </p:nvSpPr>
        <p:spPr/>
        <p:txBody>
          <a:bodyPr/>
          <a:lstStyle/>
          <a:p>
            <a:fld id="{9CD8D741-1592-422E-A36F-5D2927821BC6}" type="slidenum">
              <a:rPr lang="en-US" smtClean="0"/>
              <a:t>‹#›</a:t>
            </a:fld>
            <a:endParaRPr lang="en-US"/>
          </a:p>
        </p:txBody>
      </p:sp>
    </p:spTree>
    <p:extLst>
      <p:ext uri="{BB962C8B-B14F-4D97-AF65-F5344CB8AC3E}">
        <p14:creationId xmlns:p14="http://schemas.microsoft.com/office/powerpoint/2010/main" val="2654350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045E3-9C56-A0C7-6533-5ACAB9A6E0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2CBD9A-97FE-3E77-EC09-2514C9A0FA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18F7FE-D065-5420-668F-23479C26340B}"/>
              </a:ext>
            </a:extLst>
          </p:cNvPr>
          <p:cNvSpPr>
            <a:spLocks noGrp="1"/>
          </p:cNvSpPr>
          <p:nvPr>
            <p:ph type="dt" sz="half" idx="10"/>
          </p:nvPr>
        </p:nvSpPr>
        <p:spPr/>
        <p:txBody>
          <a:bodyPr/>
          <a:lstStyle/>
          <a:p>
            <a:fld id="{CCBDC107-E4E6-4D98-90CC-127E567B1257}" type="datetimeFigureOut">
              <a:rPr lang="en-US" smtClean="0"/>
              <a:t>3/5/2026</a:t>
            </a:fld>
            <a:endParaRPr lang="en-US"/>
          </a:p>
        </p:txBody>
      </p:sp>
      <p:sp>
        <p:nvSpPr>
          <p:cNvPr id="5" name="Footer Placeholder 4">
            <a:extLst>
              <a:ext uri="{FF2B5EF4-FFF2-40B4-BE49-F238E27FC236}">
                <a16:creationId xmlns:a16="http://schemas.microsoft.com/office/drawing/2014/main" id="{E0AC48DD-0139-73C3-83BB-815C99FC4A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FD7E99-7EF9-5119-88CD-BC211EB70718}"/>
              </a:ext>
            </a:extLst>
          </p:cNvPr>
          <p:cNvSpPr>
            <a:spLocks noGrp="1"/>
          </p:cNvSpPr>
          <p:nvPr>
            <p:ph type="sldNum" sz="quarter" idx="12"/>
          </p:nvPr>
        </p:nvSpPr>
        <p:spPr/>
        <p:txBody>
          <a:bodyPr/>
          <a:lstStyle/>
          <a:p>
            <a:fld id="{9CD8D741-1592-422E-A36F-5D2927821BC6}" type="slidenum">
              <a:rPr lang="en-US" smtClean="0"/>
              <a:t>‹#›</a:t>
            </a:fld>
            <a:endParaRPr lang="en-US"/>
          </a:p>
        </p:txBody>
      </p:sp>
    </p:spTree>
    <p:extLst>
      <p:ext uri="{BB962C8B-B14F-4D97-AF65-F5344CB8AC3E}">
        <p14:creationId xmlns:p14="http://schemas.microsoft.com/office/powerpoint/2010/main" val="885560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995C7-D50A-15E3-382E-CA3E5A54B0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C69D12-45CF-364F-292E-919F2421F5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F4C087-FBE7-F31B-1D05-483A3740AA0F}"/>
              </a:ext>
            </a:extLst>
          </p:cNvPr>
          <p:cNvSpPr>
            <a:spLocks noGrp="1"/>
          </p:cNvSpPr>
          <p:nvPr>
            <p:ph type="dt" sz="half" idx="10"/>
          </p:nvPr>
        </p:nvSpPr>
        <p:spPr/>
        <p:txBody>
          <a:bodyPr/>
          <a:lstStyle/>
          <a:p>
            <a:fld id="{CCBDC107-E4E6-4D98-90CC-127E567B1257}" type="datetimeFigureOut">
              <a:rPr lang="en-US" smtClean="0"/>
              <a:t>3/5/2026</a:t>
            </a:fld>
            <a:endParaRPr lang="en-US"/>
          </a:p>
        </p:txBody>
      </p:sp>
      <p:sp>
        <p:nvSpPr>
          <p:cNvPr id="5" name="Footer Placeholder 4">
            <a:extLst>
              <a:ext uri="{FF2B5EF4-FFF2-40B4-BE49-F238E27FC236}">
                <a16:creationId xmlns:a16="http://schemas.microsoft.com/office/drawing/2014/main" id="{CC8845CE-4A46-562C-1275-D754D12C9D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0DD754-DF21-BFCA-6FAD-21883AC35A74}"/>
              </a:ext>
            </a:extLst>
          </p:cNvPr>
          <p:cNvSpPr>
            <a:spLocks noGrp="1"/>
          </p:cNvSpPr>
          <p:nvPr>
            <p:ph type="sldNum" sz="quarter" idx="12"/>
          </p:nvPr>
        </p:nvSpPr>
        <p:spPr/>
        <p:txBody>
          <a:bodyPr/>
          <a:lstStyle/>
          <a:p>
            <a:fld id="{9CD8D741-1592-422E-A36F-5D2927821BC6}" type="slidenum">
              <a:rPr lang="en-US" smtClean="0"/>
              <a:t>‹#›</a:t>
            </a:fld>
            <a:endParaRPr lang="en-US"/>
          </a:p>
        </p:txBody>
      </p:sp>
    </p:spTree>
    <p:extLst>
      <p:ext uri="{BB962C8B-B14F-4D97-AF65-F5344CB8AC3E}">
        <p14:creationId xmlns:p14="http://schemas.microsoft.com/office/powerpoint/2010/main" val="990437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69A3D-01B9-E921-1597-0C00702E42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97ABC7-D8F2-F44C-09CF-DF38915C2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8ED1A1-F2EA-7245-8E87-F4FC2D1E2F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3B61E2-42A5-9D69-D5FC-DE1C0DE020C8}"/>
              </a:ext>
            </a:extLst>
          </p:cNvPr>
          <p:cNvSpPr>
            <a:spLocks noGrp="1"/>
          </p:cNvSpPr>
          <p:nvPr>
            <p:ph type="dt" sz="half" idx="10"/>
          </p:nvPr>
        </p:nvSpPr>
        <p:spPr/>
        <p:txBody>
          <a:bodyPr/>
          <a:lstStyle/>
          <a:p>
            <a:fld id="{CCBDC107-E4E6-4D98-90CC-127E567B1257}" type="datetimeFigureOut">
              <a:rPr lang="en-US" smtClean="0"/>
              <a:t>3/5/2026</a:t>
            </a:fld>
            <a:endParaRPr lang="en-US"/>
          </a:p>
        </p:txBody>
      </p:sp>
      <p:sp>
        <p:nvSpPr>
          <p:cNvPr id="6" name="Footer Placeholder 5">
            <a:extLst>
              <a:ext uri="{FF2B5EF4-FFF2-40B4-BE49-F238E27FC236}">
                <a16:creationId xmlns:a16="http://schemas.microsoft.com/office/drawing/2014/main" id="{4F8F9E1C-1796-AC81-F002-81AF47C4EB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328694-014D-ABF5-F8F2-4C03F0FB8AE4}"/>
              </a:ext>
            </a:extLst>
          </p:cNvPr>
          <p:cNvSpPr>
            <a:spLocks noGrp="1"/>
          </p:cNvSpPr>
          <p:nvPr>
            <p:ph type="sldNum" sz="quarter" idx="12"/>
          </p:nvPr>
        </p:nvSpPr>
        <p:spPr/>
        <p:txBody>
          <a:bodyPr/>
          <a:lstStyle/>
          <a:p>
            <a:fld id="{9CD8D741-1592-422E-A36F-5D2927821BC6}" type="slidenum">
              <a:rPr lang="en-US" smtClean="0"/>
              <a:t>‹#›</a:t>
            </a:fld>
            <a:endParaRPr lang="en-US"/>
          </a:p>
        </p:txBody>
      </p:sp>
    </p:spTree>
    <p:extLst>
      <p:ext uri="{BB962C8B-B14F-4D97-AF65-F5344CB8AC3E}">
        <p14:creationId xmlns:p14="http://schemas.microsoft.com/office/powerpoint/2010/main" val="3667663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20474-7432-EF6B-304C-8C1849FB94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D58815-BDF8-6732-8D73-B2BB44A8E7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F0E350-D7F4-77DF-D5F7-E631FFAA0C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2DA342-56A5-B01D-6962-AAC60206FD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6BDC2E-C8BD-9B5C-B347-C2261DE1C3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2DCEFA-6F71-3AE5-615E-1DF54C71B3C6}"/>
              </a:ext>
            </a:extLst>
          </p:cNvPr>
          <p:cNvSpPr>
            <a:spLocks noGrp="1"/>
          </p:cNvSpPr>
          <p:nvPr>
            <p:ph type="dt" sz="half" idx="10"/>
          </p:nvPr>
        </p:nvSpPr>
        <p:spPr/>
        <p:txBody>
          <a:bodyPr/>
          <a:lstStyle/>
          <a:p>
            <a:fld id="{CCBDC107-E4E6-4D98-90CC-127E567B1257}" type="datetimeFigureOut">
              <a:rPr lang="en-US" smtClean="0"/>
              <a:t>3/5/2026</a:t>
            </a:fld>
            <a:endParaRPr lang="en-US"/>
          </a:p>
        </p:txBody>
      </p:sp>
      <p:sp>
        <p:nvSpPr>
          <p:cNvPr id="8" name="Footer Placeholder 7">
            <a:extLst>
              <a:ext uri="{FF2B5EF4-FFF2-40B4-BE49-F238E27FC236}">
                <a16:creationId xmlns:a16="http://schemas.microsoft.com/office/drawing/2014/main" id="{FFA364FC-B51F-CD7F-8090-969D7AC16A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56A98B-D450-3F2B-E2AA-4634BA943BD7}"/>
              </a:ext>
            </a:extLst>
          </p:cNvPr>
          <p:cNvSpPr>
            <a:spLocks noGrp="1"/>
          </p:cNvSpPr>
          <p:nvPr>
            <p:ph type="sldNum" sz="quarter" idx="12"/>
          </p:nvPr>
        </p:nvSpPr>
        <p:spPr/>
        <p:txBody>
          <a:bodyPr/>
          <a:lstStyle/>
          <a:p>
            <a:fld id="{9CD8D741-1592-422E-A36F-5D2927821BC6}" type="slidenum">
              <a:rPr lang="en-US" smtClean="0"/>
              <a:t>‹#›</a:t>
            </a:fld>
            <a:endParaRPr lang="en-US"/>
          </a:p>
        </p:txBody>
      </p:sp>
    </p:spTree>
    <p:extLst>
      <p:ext uri="{BB962C8B-B14F-4D97-AF65-F5344CB8AC3E}">
        <p14:creationId xmlns:p14="http://schemas.microsoft.com/office/powerpoint/2010/main" val="3856236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E0F03-3356-1D9F-9E3B-19C98338DD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3C0BF5-68D7-0D49-FEB5-4101C9E3D212}"/>
              </a:ext>
            </a:extLst>
          </p:cNvPr>
          <p:cNvSpPr>
            <a:spLocks noGrp="1"/>
          </p:cNvSpPr>
          <p:nvPr>
            <p:ph type="dt" sz="half" idx="10"/>
          </p:nvPr>
        </p:nvSpPr>
        <p:spPr/>
        <p:txBody>
          <a:bodyPr/>
          <a:lstStyle/>
          <a:p>
            <a:fld id="{CCBDC107-E4E6-4D98-90CC-127E567B1257}" type="datetimeFigureOut">
              <a:rPr lang="en-US" smtClean="0"/>
              <a:t>3/5/2026</a:t>
            </a:fld>
            <a:endParaRPr lang="en-US"/>
          </a:p>
        </p:txBody>
      </p:sp>
      <p:sp>
        <p:nvSpPr>
          <p:cNvPr id="4" name="Footer Placeholder 3">
            <a:extLst>
              <a:ext uri="{FF2B5EF4-FFF2-40B4-BE49-F238E27FC236}">
                <a16:creationId xmlns:a16="http://schemas.microsoft.com/office/drawing/2014/main" id="{0A5A05CA-DD70-9A93-9CA7-CACA0A161B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A7CF58-F0BB-C304-A886-80D943ADDAAD}"/>
              </a:ext>
            </a:extLst>
          </p:cNvPr>
          <p:cNvSpPr>
            <a:spLocks noGrp="1"/>
          </p:cNvSpPr>
          <p:nvPr>
            <p:ph type="sldNum" sz="quarter" idx="12"/>
          </p:nvPr>
        </p:nvSpPr>
        <p:spPr/>
        <p:txBody>
          <a:bodyPr/>
          <a:lstStyle/>
          <a:p>
            <a:fld id="{9CD8D741-1592-422E-A36F-5D2927821BC6}" type="slidenum">
              <a:rPr lang="en-US" smtClean="0"/>
              <a:t>‹#›</a:t>
            </a:fld>
            <a:endParaRPr lang="en-US"/>
          </a:p>
        </p:txBody>
      </p:sp>
    </p:spTree>
    <p:extLst>
      <p:ext uri="{BB962C8B-B14F-4D97-AF65-F5344CB8AC3E}">
        <p14:creationId xmlns:p14="http://schemas.microsoft.com/office/powerpoint/2010/main" val="1301719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4996B9-DF3E-97D4-C2C0-7F5DE8A6F7FE}"/>
              </a:ext>
            </a:extLst>
          </p:cNvPr>
          <p:cNvSpPr>
            <a:spLocks noGrp="1"/>
          </p:cNvSpPr>
          <p:nvPr>
            <p:ph type="dt" sz="half" idx="10"/>
          </p:nvPr>
        </p:nvSpPr>
        <p:spPr/>
        <p:txBody>
          <a:bodyPr/>
          <a:lstStyle/>
          <a:p>
            <a:fld id="{CCBDC107-E4E6-4D98-90CC-127E567B1257}" type="datetimeFigureOut">
              <a:rPr lang="en-US" smtClean="0"/>
              <a:t>3/5/2026</a:t>
            </a:fld>
            <a:endParaRPr lang="en-US"/>
          </a:p>
        </p:txBody>
      </p:sp>
      <p:sp>
        <p:nvSpPr>
          <p:cNvPr id="3" name="Footer Placeholder 2">
            <a:extLst>
              <a:ext uri="{FF2B5EF4-FFF2-40B4-BE49-F238E27FC236}">
                <a16:creationId xmlns:a16="http://schemas.microsoft.com/office/drawing/2014/main" id="{3E891CFE-B191-A5FA-1712-E36E584447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666AFD-7AD6-568F-4CB3-3B4E1BCBBFCE}"/>
              </a:ext>
            </a:extLst>
          </p:cNvPr>
          <p:cNvSpPr>
            <a:spLocks noGrp="1"/>
          </p:cNvSpPr>
          <p:nvPr>
            <p:ph type="sldNum" sz="quarter" idx="12"/>
          </p:nvPr>
        </p:nvSpPr>
        <p:spPr/>
        <p:txBody>
          <a:bodyPr/>
          <a:lstStyle/>
          <a:p>
            <a:fld id="{9CD8D741-1592-422E-A36F-5D2927821BC6}" type="slidenum">
              <a:rPr lang="en-US" smtClean="0"/>
              <a:t>‹#›</a:t>
            </a:fld>
            <a:endParaRPr lang="en-US"/>
          </a:p>
        </p:txBody>
      </p:sp>
    </p:spTree>
    <p:extLst>
      <p:ext uri="{BB962C8B-B14F-4D97-AF65-F5344CB8AC3E}">
        <p14:creationId xmlns:p14="http://schemas.microsoft.com/office/powerpoint/2010/main" val="2866411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30964-9100-C9ED-3F57-FC15D10FCF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B1C77C-671B-6A6C-C296-A261977A40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37106F7-7B21-4D4C-1734-40C223B0A1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F02F77-2FCD-104C-D164-04D0CC508E88}"/>
              </a:ext>
            </a:extLst>
          </p:cNvPr>
          <p:cNvSpPr>
            <a:spLocks noGrp="1"/>
          </p:cNvSpPr>
          <p:nvPr>
            <p:ph type="dt" sz="half" idx="10"/>
          </p:nvPr>
        </p:nvSpPr>
        <p:spPr/>
        <p:txBody>
          <a:bodyPr/>
          <a:lstStyle/>
          <a:p>
            <a:fld id="{CCBDC107-E4E6-4D98-90CC-127E567B1257}" type="datetimeFigureOut">
              <a:rPr lang="en-US" smtClean="0"/>
              <a:t>3/5/2026</a:t>
            </a:fld>
            <a:endParaRPr lang="en-US"/>
          </a:p>
        </p:txBody>
      </p:sp>
      <p:sp>
        <p:nvSpPr>
          <p:cNvPr id="6" name="Footer Placeholder 5">
            <a:extLst>
              <a:ext uri="{FF2B5EF4-FFF2-40B4-BE49-F238E27FC236}">
                <a16:creationId xmlns:a16="http://schemas.microsoft.com/office/drawing/2014/main" id="{A4092624-B523-252D-3859-34119C366B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365846-0C9D-52FD-B4E8-3319AE3A718E}"/>
              </a:ext>
            </a:extLst>
          </p:cNvPr>
          <p:cNvSpPr>
            <a:spLocks noGrp="1"/>
          </p:cNvSpPr>
          <p:nvPr>
            <p:ph type="sldNum" sz="quarter" idx="12"/>
          </p:nvPr>
        </p:nvSpPr>
        <p:spPr/>
        <p:txBody>
          <a:bodyPr/>
          <a:lstStyle/>
          <a:p>
            <a:fld id="{9CD8D741-1592-422E-A36F-5D2927821BC6}" type="slidenum">
              <a:rPr lang="en-US" smtClean="0"/>
              <a:t>‹#›</a:t>
            </a:fld>
            <a:endParaRPr lang="en-US"/>
          </a:p>
        </p:txBody>
      </p:sp>
    </p:spTree>
    <p:extLst>
      <p:ext uri="{BB962C8B-B14F-4D97-AF65-F5344CB8AC3E}">
        <p14:creationId xmlns:p14="http://schemas.microsoft.com/office/powerpoint/2010/main" val="2819653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36CF-5474-7E73-6241-C94AC8EAC0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F6D041-41D1-DEA5-E504-F1655EFEF1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EA0307-39B3-62EC-65DC-78ECCCB0B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EC4ED8-58CA-B782-EA80-0EB4F0D36ADD}"/>
              </a:ext>
            </a:extLst>
          </p:cNvPr>
          <p:cNvSpPr>
            <a:spLocks noGrp="1"/>
          </p:cNvSpPr>
          <p:nvPr>
            <p:ph type="dt" sz="half" idx="10"/>
          </p:nvPr>
        </p:nvSpPr>
        <p:spPr/>
        <p:txBody>
          <a:bodyPr/>
          <a:lstStyle/>
          <a:p>
            <a:fld id="{CCBDC107-E4E6-4D98-90CC-127E567B1257}" type="datetimeFigureOut">
              <a:rPr lang="en-US" smtClean="0"/>
              <a:t>3/5/2026</a:t>
            </a:fld>
            <a:endParaRPr lang="en-US"/>
          </a:p>
        </p:txBody>
      </p:sp>
      <p:sp>
        <p:nvSpPr>
          <p:cNvPr id="6" name="Footer Placeholder 5">
            <a:extLst>
              <a:ext uri="{FF2B5EF4-FFF2-40B4-BE49-F238E27FC236}">
                <a16:creationId xmlns:a16="http://schemas.microsoft.com/office/drawing/2014/main" id="{021C9497-27AA-7551-5F40-50B18CC498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889F5E-FA0A-40EA-EC46-06F2EDC9A6AB}"/>
              </a:ext>
            </a:extLst>
          </p:cNvPr>
          <p:cNvSpPr>
            <a:spLocks noGrp="1"/>
          </p:cNvSpPr>
          <p:nvPr>
            <p:ph type="sldNum" sz="quarter" idx="12"/>
          </p:nvPr>
        </p:nvSpPr>
        <p:spPr/>
        <p:txBody>
          <a:bodyPr/>
          <a:lstStyle/>
          <a:p>
            <a:fld id="{9CD8D741-1592-422E-A36F-5D2927821BC6}" type="slidenum">
              <a:rPr lang="en-US" smtClean="0"/>
              <a:t>‹#›</a:t>
            </a:fld>
            <a:endParaRPr lang="en-US"/>
          </a:p>
        </p:txBody>
      </p:sp>
    </p:spTree>
    <p:extLst>
      <p:ext uri="{BB962C8B-B14F-4D97-AF65-F5344CB8AC3E}">
        <p14:creationId xmlns:p14="http://schemas.microsoft.com/office/powerpoint/2010/main" val="954036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B1F87-0959-0CCE-19DC-9C6F4CD735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552A8B-BAAA-4FDC-4E8F-DFE0F0C6BB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8909A-C5D0-AF48-BCDA-E62774F35C3E}"/>
              </a:ext>
            </a:extLst>
          </p:cNvPr>
          <p:cNvSpPr>
            <a:spLocks noGrp="1"/>
          </p:cNvSpPr>
          <p:nvPr>
            <p:ph type="dt" sz="half" idx="10"/>
          </p:nvPr>
        </p:nvSpPr>
        <p:spPr/>
        <p:txBody>
          <a:bodyPr/>
          <a:lstStyle/>
          <a:p>
            <a:fld id="{CCBDC107-E4E6-4D98-90CC-127E567B1257}" type="datetimeFigureOut">
              <a:rPr lang="en-US" smtClean="0"/>
              <a:t>3/5/2026</a:t>
            </a:fld>
            <a:endParaRPr lang="en-US"/>
          </a:p>
        </p:txBody>
      </p:sp>
      <p:sp>
        <p:nvSpPr>
          <p:cNvPr id="5" name="Footer Placeholder 4">
            <a:extLst>
              <a:ext uri="{FF2B5EF4-FFF2-40B4-BE49-F238E27FC236}">
                <a16:creationId xmlns:a16="http://schemas.microsoft.com/office/drawing/2014/main" id="{D6BE4682-B860-7CF6-E81D-8977B15DF9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F4B2FF-3818-7825-ED27-2D5714B0669C}"/>
              </a:ext>
            </a:extLst>
          </p:cNvPr>
          <p:cNvSpPr>
            <a:spLocks noGrp="1"/>
          </p:cNvSpPr>
          <p:nvPr>
            <p:ph type="sldNum" sz="quarter" idx="12"/>
          </p:nvPr>
        </p:nvSpPr>
        <p:spPr/>
        <p:txBody>
          <a:bodyPr/>
          <a:lstStyle/>
          <a:p>
            <a:fld id="{9CD8D741-1592-422E-A36F-5D2927821BC6}" type="slidenum">
              <a:rPr lang="en-US" smtClean="0"/>
              <a:t>‹#›</a:t>
            </a:fld>
            <a:endParaRPr lang="en-US"/>
          </a:p>
        </p:txBody>
      </p:sp>
    </p:spTree>
    <p:extLst>
      <p:ext uri="{BB962C8B-B14F-4D97-AF65-F5344CB8AC3E}">
        <p14:creationId xmlns:p14="http://schemas.microsoft.com/office/powerpoint/2010/main" val="3921456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4627EE-7A32-E3A0-F647-8DDD1E6726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DF8CF7-1FCF-A8DB-0D73-532C1C05A1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34B6B9-8E82-00A8-8303-A441B91814E7}"/>
              </a:ext>
            </a:extLst>
          </p:cNvPr>
          <p:cNvSpPr>
            <a:spLocks noGrp="1"/>
          </p:cNvSpPr>
          <p:nvPr>
            <p:ph type="dt" sz="half" idx="10"/>
          </p:nvPr>
        </p:nvSpPr>
        <p:spPr/>
        <p:txBody>
          <a:bodyPr/>
          <a:lstStyle/>
          <a:p>
            <a:fld id="{CCBDC107-E4E6-4D98-90CC-127E567B1257}" type="datetimeFigureOut">
              <a:rPr lang="en-US" smtClean="0"/>
              <a:t>3/5/2026</a:t>
            </a:fld>
            <a:endParaRPr lang="en-US"/>
          </a:p>
        </p:txBody>
      </p:sp>
      <p:sp>
        <p:nvSpPr>
          <p:cNvPr id="5" name="Footer Placeholder 4">
            <a:extLst>
              <a:ext uri="{FF2B5EF4-FFF2-40B4-BE49-F238E27FC236}">
                <a16:creationId xmlns:a16="http://schemas.microsoft.com/office/drawing/2014/main" id="{06DBF992-E477-FF5E-2C6C-8853711A44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EF57B0-D0B6-1582-22EE-D26A24C89592}"/>
              </a:ext>
            </a:extLst>
          </p:cNvPr>
          <p:cNvSpPr>
            <a:spLocks noGrp="1"/>
          </p:cNvSpPr>
          <p:nvPr>
            <p:ph type="sldNum" sz="quarter" idx="12"/>
          </p:nvPr>
        </p:nvSpPr>
        <p:spPr/>
        <p:txBody>
          <a:bodyPr/>
          <a:lstStyle/>
          <a:p>
            <a:fld id="{9CD8D741-1592-422E-A36F-5D2927821BC6}" type="slidenum">
              <a:rPr lang="en-US" smtClean="0"/>
              <a:t>‹#›</a:t>
            </a:fld>
            <a:endParaRPr lang="en-US"/>
          </a:p>
        </p:txBody>
      </p:sp>
    </p:spTree>
    <p:extLst>
      <p:ext uri="{BB962C8B-B14F-4D97-AF65-F5344CB8AC3E}">
        <p14:creationId xmlns:p14="http://schemas.microsoft.com/office/powerpoint/2010/main" val="533705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51F2E9-E6F2-3892-B436-39F514B37A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6A0834-DC9B-D788-105D-E6633D811B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14C1D-0094-442A-AD10-B0E89AF653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BDC107-E4E6-4D98-90CC-127E567B1257}" type="datetimeFigureOut">
              <a:rPr lang="en-US" smtClean="0"/>
              <a:t>3/5/2026</a:t>
            </a:fld>
            <a:endParaRPr lang="en-US"/>
          </a:p>
        </p:txBody>
      </p:sp>
      <p:sp>
        <p:nvSpPr>
          <p:cNvPr id="5" name="Footer Placeholder 4">
            <a:extLst>
              <a:ext uri="{FF2B5EF4-FFF2-40B4-BE49-F238E27FC236}">
                <a16:creationId xmlns:a16="http://schemas.microsoft.com/office/drawing/2014/main" id="{3D9AEDA3-0DCD-3861-1C53-D198069006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717DDB-B959-EF67-0AF9-AA1B844905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D8D741-1592-422E-A36F-5D2927821BC6}" type="slidenum">
              <a:rPr lang="en-US" smtClean="0"/>
              <a:t>‹#›</a:t>
            </a:fld>
            <a:endParaRPr lang="en-US"/>
          </a:p>
        </p:txBody>
      </p:sp>
    </p:spTree>
    <p:extLst>
      <p:ext uri="{BB962C8B-B14F-4D97-AF65-F5344CB8AC3E}">
        <p14:creationId xmlns:p14="http://schemas.microsoft.com/office/powerpoint/2010/main" val="679775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Controlling GitHub Copilot Instruction Files</a:t>
            </a:r>
          </a:p>
        </p:txBody>
      </p:sp>
      <p:sp>
        <p:nvSpPr>
          <p:cNvPr id="3" name="Content Placeholder 2"/>
          <p:cNvSpPr>
            <a:spLocks noGrp="1"/>
          </p:cNvSpPr>
          <p:nvPr>
            <p:ph idx="1"/>
          </p:nvPr>
        </p:nvSpPr>
        <p:spPr/>
        <p:txBody>
          <a:bodyPr/>
          <a:lstStyle/>
          <a:p>
            <a:pPr marL="0" indent="0">
              <a:buNone/>
            </a:pPr>
            <a:r>
              <a:rPr b="1"/>
              <a:t>Understanding Context Submission in AI-Assisted Development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3D9A8-C2EA-5F2C-FAA3-014840E7D5E4}"/>
              </a:ext>
            </a:extLst>
          </p:cNvPr>
          <p:cNvSpPr>
            <a:spLocks noGrp="1"/>
          </p:cNvSpPr>
          <p:nvPr>
            <p:ph type="title"/>
          </p:nvPr>
        </p:nvSpPr>
        <p:spPr/>
        <p:txBody>
          <a:bodyPr>
            <a:normAutofit/>
          </a:bodyPr>
          <a:lstStyle/>
          <a:p>
            <a:r>
              <a:rPr lang="en-US" dirty="0"/>
              <a:t>Core Instructions</a:t>
            </a:r>
          </a:p>
        </p:txBody>
      </p:sp>
      <p:graphicFrame>
        <p:nvGraphicFramePr>
          <p:cNvPr id="4" name="Content Placeholder 3">
            <a:extLst>
              <a:ext uri="{FF2B5EF4-FFF2-40B4-BE49-F238E27FC236}">
                <a16:creationId xmlns:a16="http://schemas.microsoft.com/office/drawing/2014/main" id="{74EEE5E6-1B3A-0144-C88D-84D15271FD03}"/>
              </a:ext>
            </a:extLst>
          </p:cNvPr>
          <p:cNvGraphicFramePr>
            <a:graphicFrameLocks noGrp="1"/>
          </p:cNvGraphicFramePr>
          <p:nvPr>
            <p:ph idx="1"/>
          </p:nvPr>
        </p:nvGraphicFramePr>
        <p:xfrm>
          <a:off x="838202" y="1375795"/>
          <a:ext cx="10257636" cy="4653096"/>
        </p:xfrm>
        <a:graphic>
          <a:graphicData uri="http://schemas.openxmlformats.org/drawingml/2006/table">
            <a:tbl>
              <a:tblPr firstRow="1">
                <a:tableStyleId>{FABFCF23-3B69-468F-B69F-88F6DE6A72F2}</a:tableStyleId>
              </a:tblPr>
              <a:tblGrid>
                <a:gridCol w="4119896">
                  <a:extLst>
                    <a:ext uri="{9D8B030D-6E8A-4147-A177-3AD203B41FA5}">
                      <a16:colId xmlns:a16="http://schemas.microsoft.com/office/drawing/2014/main" val="3459932695"/>
                    </a:ext>
                  </a:extLst>
                </a:gridCol>
                <a:gridCol w="6137740">
                  <a:extLst>
                    <a:ext uri="{9D8B030D-6E8A-4147-A177-3AD203B41FA5}">
                      <a16:colId xmlns:a16="http://schemas.microsoft.com/office/drawing/2014/main" val="1422433491"/>
                    </a:ext>
                  </a:extLst>
                </a:gridCol>
              </a:tblGrid>
              <a:tr h="702604">
                <a:tc>
                  <a:txBody>
                    <a:bodyPr/>
                    <a:lstStyle/>
                    <a:p>
                      <a:pPr marL="0" marR="0" fontAlgn="t">
                        <a:buNone/>
                      </a:pPr>
                      <a:r>
                        <a:rPr lang="en-US" sz="1900">
                          <a:effectLst/>
                        </a:rPr>
                        <a:t>Instruction File</a:t>
                      </a:r>
                      <a:endParaRPr lang="en-US" sz="1900">
                        <a:effectLst/>
                        <a:latin typeface="Calibri" panose="020F0502020204030204" pitchFamily="34" charset="0"/>
                      </a:endParaRPr>
                    </a:p>
                  </a:txBody>
                  <a:tcPr marL="67733" marR="67733" marT="67733" marB="67733"/>
                </a:tc>
                <a:tc>
                  <a:txBody>
                    <a:bodyPr/>
                    <a:lstStyle/>
                    <a:p>
                      <a:pPr marL="0" marR="0" fontAlgn="t">
                        <a:buNone/>
                      </a:pPr>
                      <a:r>
                        <a:rPr lang="en-US" sz="1900">
                          <a:effectLst/>
                        </a:rPr>
                        <a:t>Purpose</a:t>
                      </a:r>
                      <a:endParaRPr lang="en-US" sz="1900">
                        <a:effectLst/>
                        <a:latin typeface="Calibri" panose="020F0502020204030204" pitchFamily="34" charset="0"/>
                      </a:endParaRPr>
                    </a:p>
                  </a:txBody>
                  <a:tcPr marL="67733" marR="67733" marT="67733" marB="67733"/>
                </a:tc>
                <a:extLst>
                  <a:ext uri="{0D108BD9-81ED-4DB2-BD59-A6C34878D82A}">
                    <a16:rowId xmlns:a16="http://schemas.microsoft.com/office/drawing/2014/main" val="1278902151"/>
                  </a:ext>
                </a:extLst>
              </a:tr>
              <a:tr h="702604">
                <a:tc>
                  <a:txBody>
                    <a:bodyPr/>
                    <a:lstStyle/>
                    <a:p>
                      <a:pPr marL="0" marR="0" fontAlgn="t">
                        <a:buNone/>
                      </a:pPr>
                      <a:r>
                        <a:rPr lang="en-US" sz="1900">
                          <a:effectLst/>
                        </a:rPr>
                        <a:t>ai-assisted-output.instructions.md</a:t>
                      </a:r>
                      <a:endParaRPr lang="en-US" sz="1900">
                        <a:effectLst/>
                        <a:latin typeface="Calibri" panose="020F0502020204030204" pitchFamily="34" charset="0"/>
                      </a:endParaRPr>
                    </a:p>
                  </a:txBody>
                  <a:tcPr marL="67733" marR="67733" marT="67733" marB="67733"/>
                </a:tc>
                <a:tc>
                  <a:txBody>
                    <a:bodyPr/>
                    <a:lstStyle/>
                    <a:p>
                      <a:pPr marL="0" marR="0" fontAlgn="t">
                        <a:buNone/>
                      </a:pPr>
                      <a:r>
                        <a:rPr lang="en-US" sz="1900">
                          <a:effectLst/>
                        </a:rPr>
                        <a:t>Guidance for AI generated artifacts</a:t>
                      </a:r>
                      <a:endParaRPr lang="en-US" sz="1900">
                        <a:effectLst/>
                        <a:latin typeface="Calibri" panose="020F0502020204030204" pitchFamily="34" charset="0"/>
                      </a:endParaRPr>
                    </a:p>
                  </a:txBody>
                  <a:tcPr marL="67733" marR="67733" marT="67733" marB="67733"/>
                </a:tc>
                <a:extLst>
                  <a:ext uri="{0D108BD9-81ED-4DB2-BD59-A6C34878D82A}">
                    <a16:rowId xmlns:a16="http://schemas.microsoft.com/office/drawing/2014/main" val="738283939"/>
                  </a:ext>
                </a:extLst>
              </a:tr>
              <a:tr h="702604">
                <a:tc>
                  <a:txBody>
                    <a:bodyPr/>
                    <a:lstStyle/>
                    <a:p>
                      <a:pPr marL="0" marR="0" fontAlgn="t">
                        <a:buNone/>
                      </a:pPr>
                      <a:r>
                        <a:rPr lang="en-US" sz="1900" dirty="0">
                          <a:effectLst/>
                        </a:rPr>
                        <a:t>chatmode-file.instructions.md</a:t>
                      </a:r>
                      <a:endParaRPr lang="en-US" sz="1900" dirty="0">
                        <a:effectLst/>
                        <a:latin typeface="Calibri" panose="020F0502020204030204" pitchFamily="34" charset="0"/>
                      </a:endParaRPr>
                    </a:p>
                  </a:txBody>
                  <a:tcPr marL="67733" marR="67733" marT="67733" marB="67733"/>
                </a:tc>
                <a:tc>
                  <a:txBody>
                    <a:bodyPr/>
                    <a:lstStyle/>
                    <a:p>
                      <a:pPr marL="0" marR="0" fontAlgn="t">
                        <a:buNone/>
                      </a:pPr>
                      <a:r>
                        <a:rPr lang="en-US" sz="1900">
                          <a:effectLst/>
                        </a:rPr>
                        <a:t>Guidance for generating chat modes</a:t>
                      </a:r>
                      <a:endParaRPr lang="en-US" sz="1900">
                        <a:effectLst/>
                        <a:latin typeface="Calibri" panose="020F0502020204030204" pitchFamily="34" charset="0"/>
                      </a:endParaRPr>
                    </a:p>
                  </a:txBody>
                  <a:tcPr marL="67733" marR="67733" marT="67733" marB="67733"/>
                </a:tc>
                <a:extLst>
                  <a:ext uri="{0D108BD9-81ED-4DB2-BD59-A6C34878D82A}">
                    <a16:rowId xmlns:a16="http://schemas.microsoft.com/office/drawing/2014/main" val="778921446"/>
                  </a:ext>
                </a:extLst>
              </a:tr>
              <a:tr h="702604">
                <a:tc>
                  <a:txBody>
                    <a:bodyPr/>
                    <a:lstStyle/>
                    <a:p>
                      <a:pPr marL="0" marR="0" fontAlgn="t">
                        <a:buNone/>
                      </a:pPr>
                      <a:r>
                        <a:rPr lang="en-US" sz="1900" dirty="0">
                          <a:effectLst/>
                        </a:rPr>
                        <a:t>instruction-files.instructions.md</a:t>
                      </a:r>
                      <a:endParaRPr lang="en-US" sz="1900" dirty="0">
                        <a:effectLst/>
                        <a:latin typeface="Calibri" panose="020F0502020204030204" pitchFamily="34" charset="0"/>
                      </a:endParaRPr>
                    </a:p>
                  </a:txBody>
                  <a:tcPr marL="67733" marR="67733" marT="67733" marB="67733"/>
                </a:tc>
                <a:tc>
                  <a:txBody>
                    <a:bodyPr/>
                    <a:lstStyle/>
                    <a:p>
                      <a:pPr marL="0" marR="0" fontAlgn="t">
                        <a:buNone/>
                      </a:pPr>
                      <a:r>
                        <a:rPr lang="en-US" sz="1900">
                          <a:effectLst/>
                        </a:rPr>
                        <a:t>Guidance for generating instruction files</a:t>
                      </a:r>
                      <a:endParaRPr lang="en-US" sz="1900">
                        <a:effectLst/>
                        <a:latin typeface="Calibri" panose="020F0502020204030204" pitchFamily="34" charset="0"/>
                      </a:endParaRPr>
                    </a:p>
                  </a:txBody>
                  <a:tcPr marL="67733" marR="67733" marT="67733" marB="67733"/>
                </a:tc>
                <a:extLst>
                  <a:ext uri="{0D108BD9-81ED-4DB2-BD59-A6C34878D82A}">
                    <a16:rowId xmlns:a16="http://schemas.microsoft.com/office/drawing/2014/main" val="2592660300"/>
                  </a:ext>
                </a:extLst>
              </a:tr>
              <a:tr h="702604">
                <a:tc>
                  <a:txBody>
                    <a:bodyPr/>
                    <a:lstStyle/>
                    <a:p>
                      <a:pPr marL="0" marR="0" fontAlgn="t">
                        <a:buNone/>
                      </a:pPr>
                      <a:r>
                        <a:rPr lang="en-US" sz="1900">
                          <a:effectLst/>
                        </a:rPr>
                        <a:t>prompt-file.instructions.md</a:t>
                      </a:r>
                      <a:endParaRPr lang="en-US" sz="1900">
                        <a:effectLst/>
                        <a:latin typeface="Calibri" panose="020F0502020204030204" pitchFamily="34" charset="0"/>
                      </a:endParaRPr>
                    </a:p>
                  </a:txBody>
                  <a:tcPr marL="67733" marR="67733" marT="67733" marB="67733"/>
                </a:tc>
                <a:tc>
                  <a:txBody>
                    <a:bodyPr/>
                    <a:lstStyle/>
                    <a:p>
                      <a:pPr marL="0" marR="0" fontAlgn="t">
                        <a:buNone/>
                      </a:pPr>
                      <a:r>
                        <a:rPr lang="en-US" sz="1900">
                          <a:effectLst/>
                        </a:rPr>
                        <a:t>Guidance for generating prompt files</a:t>
                      </a:r>
                      <a:endParaRPr lang="en-US" sz="1900">
                        <a:effectLst/>
                        <a:latin typeface="Calibri" panose="020F0502020204030204" pitchFamily="34" charset="0"/>
                      </a:endParaRPr>
                    </a:p>
                  </a:txBody>
                  <a:tcPr marL="67733" marR="67733" marT="67733" marB="67733"/>
                </a:tc>
                <a:extLst>
                  <a:ext uri="{0D108BD9-81ED-4DB2-BD59-A6C34878D82A}">
                    <a16:rowId xmlns:a16="http://schemas.microsoft.com/office/drawing/2014/main" val="3135365050"/>
                  </a:ext>
                </a:extLst>
              </a:tr>
              <a:tr h="1140076">
                <a:tc>
                  <a:txBody>
                    <a:bodyPr/>
                    <a:lstStyle/>
                    <a:p>
                      <a:pPr marL="0" marR="0" fontAlgn="t">
                        <a:buNone/>
                      </a:pPr>
                      <a:r>
                        <a:rPr lang="en-US" sz="1900">
                          <a:effectLst/>
                        </a:rPr>
                        <a:t>instruction-prompt-files.instructions.md</a:t>
                      </a:r>
                      <a:endParaRPr lang="en-US" sz="1900">
                        <a:effectLst/>
                        <a:latin typeface="Calibri" panose="020F0502020204030204" pitchFamily="34" charset="0"/>
                      </a:endParaRPr>
                    </a:p>
                  </a:txBody>
                  <a:tcPr marL="67733" marR="67733" marT="67733" marB="67733"/>
                </a:tc>
                <a:tc>
                  <a:txBody>
                    <a:bodyPr/>
                    <a:lstStyle/>
                    <a:p>
                      <a:pPr marL="0" marR="0" fontAlgn="t">
                        <a:buNone/>
                      </a:pPr>
                      <a:r>
                        <a:rPr lang="en-US" sz="1900" dirty="0">
                          <a:effectLst/>
                        </a:rPr>
                        <a:t>Guidance for generating prompts that generate instruction files</a:t>
                      </a:r>
                      <a:endParaRPr lang="en-US" sz="1900" dirty="0">
                        <a:effectLst/>
                        <a:latin typeface="Calibri" panose="020F0502020204030204" pitchFamily="34" charset="0"/>
                      </a:endParaRPr>
                    </a:p>
                  </a:txBody>
                  <a:tcPr marL="67733" marR="67733" marT="67733" marB="67733"/>
                </a:tc>
                <a:extLst>
                  <a:ext uri="{0D108BD9-81ED-4DB2-BD59-A6C34878D82A}">
                    <a16:rowId xmlns:a16="http://schemas.microsoft.com/office/drawing/2014/main" val="799221147"/>
                  </a:ext>
                </a:extLst>
              </a:tr>
            </a:tbl>
          </a:graphicData>
        </a:graphic>
      </p:graphicFrame>
    </p:spTree>
    <p:extLst>
      <p:ext uri="{BB962C8B-B14F-4D97-AF65-F5344CB8AC3E}">
        <p14:creationId xmlns:p14="http://schemas.microsoft.com/office/powerpoint/2010/main" val="545939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The Core Concept</a:t>
            </a:r>
          </a:p>
        </p:txBody>
      </p:sp>
      <p:sp>
        <p:nvSpPr>
          <p:cNvPr id="3" name="Content Placeholder 2"/>
          <p:cNvSpPr>
            <a:spLocks noGrp="1"/>
          </p:cNvSpPr>
          <p:nvPr>
            <p:ph idx="1"/>
          </p:nvPr>
        </p:nvSpPr>
        <p:spPr/>
        <p:txBody>
          <a:bodyPr>
            <a:normAutofit/>
          </a:bodyPr>
          <a:lstStyle/>
          <a:p>
            <a:pPr marL="0" indent="0">
              <a:buNone/>
            </a:pPr>
            <a:r>
              <a:rPr b="1" dirty="0"/>
              <a:t>Every Copilot prompt includes relevant instruction files automatically</a:t>
            </a:r>
          </a:p>
          <a:p>
            <a:pPr indent="0">
              <a:buNone/>
            </a:pPr>
            <a:r>
              <a:rPr i="1" dirty="0">
                <a:solidFill>
                  <a:schemeClr val="bg2">
                    <a:lumMod val="75000"/>
                  </a:schemeClr>
                </a:solidFill>
                <a:latin typeface="Courier"/>
              </a:rPr>
              <a:t># .</a:t>
            </a:r>
            <a:r>
              <a:rPr i="1" dirty="0" err="1">
                <a:solidFill>
                  <a:schemeClr val="bg2">
                    <a:lumMod val="75000"/>
                  </a:schemeClr>
                </a:solidFill>
                <a:latin typeface="Courier"/>
              </a:rPr>
              <a:t>github</a:t>
            </a:r>
            <a:r>
              <a:rPr i="1" dirty="0">
                <a:solidFill>
                  <a:schemeClr val="bg2">
                    <a:lumMod val="75000"/>
                  </a:schemeClr>
                </a:solidFill>
                <a:latin typeface="Courier"/>
              </a:rPr>
              <a:t>/instructions/security.instructions.md</a:t>
            </a:r>
            <a:br>
              <a:rPr dirty="0"/>
            </a:br>
            <a:r>
              <a:rPr dirty="0">
                <a:solidFill>
                  <a:srgbClr val="BC7A00"/>
                </a:solidFill>
                <a:latin typeface="Courier"/>
              </a:rPr>
              <a:t>---</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rgbClr val="4070A0"/>
                </a:solidFill>
                <a:latin typeface="Courier"/>
              </a:rPr>
              <a:t>"**/*.{</a:t>
            </a:r>
            <a:r>
              <a:rPr dirty="0" err="1">
                <a:solidFill>
                  <a:srgbClr val="4070A0"/>
                </a:solidFill>
                <a:latin typeface="Courier"/>
              </a:rPr>
              <a:t>ts,js,py</a:t>
            </a:r>
            <a:r>
              <a:rPr dirty="0">
                <a:solidFill>
                  <a:srgbClr val="4070A0"/>
                </a:solidFill>
                <a:latin typeface="Courier"/>
              </a:rPr>
              <a:t>}"</a:t>
            </a:r>
            <a:br>
              <a:rPr dirty="0"/>
            </a:br>
            <a:r>
              <a:rPr dirty="0">
                <a:solidFill>
                  <a:srgbClr val="BC7A00"/>
                </a:solidFill>
                <a:latin typeface="Courier"/>
              </a:rPr>
              <a:t>---</a:t>
            </a:r>
            <a:br>
              <a:rPr dirty="0"/>
            </a:br>
            <a:r>
              <a:rPr i="1" dirty="0">
                <a:solidFill>
                  <a:schemeClr val="bg2">
                    <a:lumMod val="75000"/>
                  </a:schemeClr>
                </a:solidFill>
                <a:latin typeface="Courier"/>
              </a:rPr>
              <a:t># Security Best Practices</a:t>
            </a:r>
            <a:br>
              <a:rPr dirty="0"/>
            </a:br>
            <a:r>
              <a:rPr i="1" dirty="0">
                <a:solidFill>
                  <a:srgbClr val="60A0B0"/>
                </a:solidFill>
                <a:latin typeface="Courier"/>
              </a:rPr>
              <a:t>...</a:t>
            </a:r>
          </a:p>
          <a:p>
            <a:pPr marL="0" indent="0">
              <a:buNone/>
            </a:pPr>
            <a:r>
              <a:rPr dirty="0"/>
              <a:t>When you work on </a:t>
            </a:r>
            <a:r>
              <a:rPr dirty="0" err="1">
                <a:latin typeface="Courier"/>
              </a:rPr>
              <a:t>src</a:t>
            </a:r>
            <a:r>
              <a:rPr dirty="0">
                <a:latin typeface="Courier"/>
              </a:rPr>
              <a:t>/</a:t>
            </a:r>
            <a:r>
              <a:rPr dirty="0" err="1">
                <a:latin typeface="Courier"/>
              </a:rPr>
              <a:t>api.ts</a:t>
            </a:r>
            <a:r>
              <a:rPr dirty="0"/>
              <a:t> → Security instructions </a:t>
            </a:r>
            <a:r>
              <a:rPr b="1" dirty="0"/>
              <a:t>automatically included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Pattern Matching</a:t>
            </a:r>
          </a:p>
        </p:txBody>
      </p:sp>
      <p:sp>
        <p:nvSpPr>
          <p:cNvPr id="3" name="Content Placeholder 2"/>
          <p:cNvSpPr>
            <a:spLocks noGrp="1"/>
          </p:cNvSpPr>
          <p:nvPr>
            <p:ph idx="1"/>
          </p:nvPr>
        </p:nvSpPr>
        <p:spPr/>
        <p:txBody>
          <a:bodyPr>
            <a:normAutofit/>
          </a:bodyPr>
          <a:lstStyle/>
          <a:p>
            <a:pPr marL="0" indent="0">
              <a:buNone/>
            </a:pPr>
            <a:r>
              <a:rPr b="1" dirty="0"/>
              <a:t>Three Levels of Scope Control</a:t>
            </a:r>
          </a:p>
          <a:p>
            <a:pPr indent="0">
              <a:buNone/>
            </a:pPr>
            <a:r>
              <a:rPr i="1" dirty="0">
                <a:solidFill>
                  <a:srgbClr val="60A0B0"/>
                </a:solidFill>
                <a:latin typeface="Courier"/>
              </a:rPr>
              <a:t># Global - Everything</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chemeClr val="bg2">
                    <a:lumMod val="75000"/>
                  </a:schemeClr>
                </a:solidFill>
                <a:latin typeface="Courier"/>
              </a:rPr>
              <a:t>"**/*"</a:t>
            </a:r>
            <a:br>
              <a:rPr dirty="0"/>
            </a:br>
            <a:br>
              <a:rPr dirty="0"/>
            </a:br>
            <a:r>
              <a:rPr i="1" dirty="0">
                <a:solidFill>
                  <a:srgbClr val="60A0B0"/>
                </a:solidFill>
                <a:latin typeface="Courier"/>
              </a:rPr>
              <a:t># Directory-Specific - Slides only</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chemeClr val="bg2">
                    <a:lumMod val="75000"/>
                  </a:schemeClr>
                </a:solidFill>
                <a:latin typeface="Courier"/>
              </a:rPr>
              <a:t>"Slides/individual-slides/**"</a:t>
            </a:r>
            <a:br>
              <a:rPr dirty="0"/>
            </a:br>
            <a:br>
              <a:rPr dirty="0"/>
            </a:br>
            <a:r>
              <a:rPr i="1" dirty="0">
                <a:solidFill>
                  <a:srgbClr val="60A0B0"/>
                </a:solidFill>
                <a:latin typeface="Courier"/>
              </a:rPr>
              <a:t># Type-Specific - Code files only</a:t>
            </a:r>
            <a:br>
              <a:rPr dirty="0"/>
            </a:br>
            <a:r>
              <a:rPr dirty="0" err="1">
                <a:solidFill>
                  <a:srgbClr val="06287E"/>
                </a:solidFill>
                <a:latin typeface="Courier"/>
              </a:rPr>
              <a:t>applyTo</a:t>
            </a:r>
            <a:r>
              <a:rPr b="1" dirty="0">
                <a:solidFill>
                  <a:srgbClr val="007020"/>
                </a:solidFill>
                <a:latin typeface="Courier"/>
              </a:rPr>
              <a:t>:</a:t>
            </a:r>
            <a:r>
              <a:rPr dirty="0">
                <a:solidFill>
                  <a:srgbClr val="7D9029"/>
                </a:solidFill>
                <a:latin typeface="Courier"/>
              </a:rPr>
              <a:t> </a:t>
            </a:r>
            <a:r>
              <a:rPr dirty="0">
                <a:solidFill>
                  <a:schemeClr val="bg2">
                    <a:lumMod val="75000"/>
                  </a:schemeClr>
                </a:solidFill>
                <a:latin typeface="Courier"/>
              </a:rPr>
              <a:t>"**/*.{</a:t>
            </a:r>
            <a:r>
              <a:rPr dirty="0" err="1">
                <a:solidFill>
                  <a:schemeClr val="bg2">
                    <a:lumMod val="75000"/>
                  </a:schemeClr>
                </a:solidFill>
                <a:latin typeface="Courier"/>
              </a:rPr>
              <a:t>cs,ts,js,py,java,go,rb</a:t>
            </a:r>
            <a:r>
              <a:rPr dirty="0">
                <a:solidFill>
                  <a:schemeClr val="bg2">
                    <a:lumMod val="75000"/>
                  </a:schemeClr>
                </a:solidFill>
                <a:latin typeface="Courier"/>
              </a:rPr>
              <a:t>}"</a:t>
            </a:r>
          </a:p>
          <a:p>
            <a:pPr marL="0" indent="0">
              <a:buNone/>
            </a:pPr>
            <a:r>
              <a:rPr b="1" dirty="0"/>
              <a:t>Result</a:t>
            </a:r>
            <a:r>
              <a:rPr dirty="0"/>
              <a:t>: Only matching instruction files are included in context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Prompt Files: Reference, Don’t Control</a:t>
            </a:r>
          </a:p>
        </p:txBody>
      </p:sp>
      <p:sp>
        <p:nvSpPr>
          <p:cNvPr id="3" name="Content Placeholder 2"/>
          <p:cNvSpPr>
            <a:spLocks noGrp="1"/>
          </p:cNvSpPr>
          <p:nvPr>
            <p:ph idx="1"/>
          </p:nvPr>
        </p:nvSpPr>
        <p:spPr/>
        <p:txBody>
          <a:bodyPr>
            <a:normAutofit fontScale="92500" lnSpcReduction="10000"/>
          </a:bodyPr>
          <a:lstStyle/>
          <a:p>
            <a:pPr marL="0" indent="0">
              <a:buNone/>
            </a:pPr>
            <a:r>
              <a:rPr b="1"/>
              <a:t>Prompt files execute tasks, they don’t control instruction inclusion</a:t>
            </a:r>
          </a:p>
          <a:p>
            <a:pPr indent="0">
              <a:buNone/>
            </a:pPr>
            <a:r>
              <a:rPr i="1">
                <a:solidFill>
                  <a:srgbClr val="60A0B0"/>
                </a:solidFill>
                <a:latin typeface="Courier"/>
              </a:rPr>
              <a:t>&lt;!-- .github/prompts/create-api.prompt.md --&gt;</a:t>
            </a:r>
            <a:br/>
            <a:br/>
            <a:r>
              <a:rPr>
                <a:latin typeface="Courier"/>
              </a:rPr>
              <a:t>**CRITICAL**: All AI-generated artifacts MUST comply with</a:t>
            </a:r>
            <a:br/>
            <a:r>
              <a:rPr b="1" i="1">
                <a:solidFill>
                  <a:srgbClr val="60A0B0"/>
                </a:solidFill>
                <a:latin typeface="Courier"/>
              </a:rPr>
              <a:t>`.github/instructions/ai-assisted-output.instructions.md`</a:t>
            </a:r>
          </a:p>
          <a:p>
            <a:pPr marL="0" indent="0">
              <a:buNone/>
            </a:pPr>
            <a:r>
              <a:rPr b="1"/>
              <a:t>Key Distinction</a:t>
            </a:r>
            <a:r>
              <a:t>:</a:t>
            </a:r>
          </a:p>
          <a:p>
            <a:pPr lvl="0"/>
            <a:r>
              <a:t>✅ Can </a:t>
            </a:r>
            <a:r>
              <a:rPr b="1"/>
              <a:t>reference</a:t>
            </a:r>
            <a:r>
              <a:t> instruction requirements in content</a:t>
            </a:r>
          </a:p>
          <a:p>
            <a:pPr lvl="0"/>
            <a:r>
              <a:t>❌ </a:t>
            </a:r>
            <a:r>
              <a:rPr b="1"/>
              <a:t>Don’t control</a:t>
            </a:r>
            <a:r>
              <a:t> which instructions auto-include</a:t>
            </a:r>
          </a:p>
          <a:p>
            <a:pPr lvl="0"/>
            <a:r>
              <a:t>🎯 The target file’s </a:t>
            </a:r>
            <a:r>
              <a:rPr>
                <a:latin typeface="Courier"/>
              </a:rPr>
              <a:t>applyTo</a:t>
            </a:r>
            <a:r>
              <a:t> matching still determines inclusion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Chat Modes: Persona, Not Pattern Control</a:t>
            </a:r>
          </a:p>
        </p:txBody>
      </p:sp>
      <p:sp>
        <p:nvSpPr>
          <p:cNvPr id="3" name="Content Placeholder 2"/>
          <p:cNvSpPr>
            <a:spLocks noGrp="1"/>
          </p:cNvSpPr>
          <p:nvPr>
            <p:ph idx="1"/>
          </p:nvPr>
        </p:nvSpPr>
        <p:spPr/>
        <p:txBody>
          <a:bodyPr>
            <a:normAutofit/>
          </a:bodyPr>
          <a:lstStyle/>
          <a:p>
            <a:pPr marL="0" indent="0">
              <a:buNone/>
            </a:pPr>
            <a:r>
              <a:rPr b="1" dirty="0"/>
              <a:t>Chat modes create specialized contexts, not instruction filters</a:t>
            </a:r>
          </a:p>
          <a:p>
            <a:pPr indent="0">
              <a:buNone/>
            </a:pPr>
            <a:r>
              <a:rPr i="1" dirty="0">
                <a:solidFill>
                  <a:srgbClr val="60A0B0"/>
                </a:solidFill>
                <a:latin typeface="Courier"/>
              </a:rPr>
              <a:t># .</a:t>
            </a:r>
            <a:r>
              <a:rPr i="1" dirty="0" err="1">
                <a:solidFill>
                  <a:srgbClr val="60A0B0"/>
                </a:solidFill>
                <a:latin typeface="Courier"/>
              </a:rPr>
              <a:t>github</a:t>
            </a:r>
            <a:r>
              <a:rPr i="1" dirty="0">
                <a:solidFill>
                  <a:srgbClr val="60A0B0"/>
                </a:solidFill>
                <a:latin typeface="Courier"/>
              </a:rPr>
              <a:t>/chatmodes/security-analyzer.chatmode.md</a:t>
            </a:r>
            <a:br>
              <a:rPr dirty="0"/>
            </a:br>
            <a:r>
              <a:rPr i="1" dirty="0">
                <a:solidFill>
                  <a:srgbClr val="60A0B0"/>
                </a:solidFill>
                <a:latin typeface="Courier"/>
              </a:rPr>
              <a:t># Focus: Code security, vulnerability detection</a:t>
            </a:r>
          </a:p>
          <a:p>
            <a:pPr marL="0" indent="0">
              <a:buNone/>
            </a:pPr>
            <a:r>
              <a:rPr b="1" dirty="0"/>
              <a:t>Interaction Model</a:t>
            </a:r>
            <a:r>
              <a:rPr dirty="0"/>
              <a:t>:</a:t>
            </a:r>
          </a:p>
        </p:txBody>
      </p:sp>
      <p:pic>
        <p:nvPicPr>
          <p:cNvPr id="5" name="Picture 4">
            <a:extLst>
              <a:ext uri="{FF2B5EF4-FFF2-40B4-BE49-F238E27FC236}">
                <a16:creationId xmlns:a16="http://schemas.microsoft.com/office/drawing/2014/main" id="{A7E59711-E84A-277E-955B-E241FB0842B7}"/>
              </a:ext>
            </a:extLst>
          </p:cNvPr>
          <p:cNvPicPr>
            <a:picLocks noChangeAspect="1"/>
          </p:cNvPicPr>
          <p:nvPr/>
        </p:nvPicPr>
        <p:blipFill>
          <a:blip r:embed="rId3"/>
          <a:stretch>
            <a:fillRect/>
          </a:stretch>
        </p:blipFill>
        <p:spPr>
          <a:xfrm>
            <a:off x="838201" y="4904783"/>
            <a:ext cx="10572676" cy="158809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The Control Hierarchy</a:t>
            </a:r>
          </a:p>
        </p:txBody>
      </p:sp>
      <p:sp>
        <p:nvSpPr>
          <p:cNvPr id="3" name="Content Placeholder 2"/>
          <p:cNvSpPr>
            <a:spLocks noGrp="1"/>
          </p:cNvSpPr>
          <p:nvPr>
            <p:ph idx="1"/>
          </p:nvPr>
        </p:nvSpPr>
        <p:spPr/>
        <p:txBody>
          <a:bodyPr>
            <a:normAutofit fontScale="85000" lnSpcReduction="10000"/>
          </a:bodyPr>
          <a:lstStyle/>
          <a:p>
            <a:pPr marL="0" indent="0">
              <a:buNone/>
            </a:pPr>
            <a:r>
              <a:rPr b="1" dirty="0"/>
              <a:t>Understanding the complete context assembly</a:t>
            </a:r>
          </a:p>
          <a:p>
            <a:pPr indent="0">
              <a:buNone/>
            </a:pPr>
            <a:r>
              <a:rPr dirty="0">
                <a:latin typeface="Courier"/>
              </a:rPr>
              <a:t>1. File Being Edited (e.g., </a:t>
            </a:r>
            <a:r>
              <a:rPr dirty="0" err="1">
                <a:latin typeface="Courier"/>
              </a:rPr>
              <a:t>src</a:t>
            </a:r>
            <a:r>
              <a:rPr dirty="0">
                <a:latin typeface="Courier"/>
              </a:rPr>
              <a:t>/</a:t>
            </a:r>
            <a:r>
              <a:rPr dirty="0" err="1">
                <a:latin typeface="Courier"/>
              </a:rPr>
              <a:t>api.ts</a:t>
            </a:r>
            <a:r>
              <a:rPr dirty="0">
                <a:latin typeface="Courier"/>
              </a:rPr>
              <a:t>)
          ↓
2. Instruction Files (</a:t>
            </a:r>
            <a:r>
              <a:rPr dirty="0" err="1">
                <a:latin typeface="Courier"/>
              </a:rPr>
              <a:t>applyTo</a:t>
            </a:r>
            <a:r>
              <a:rPr dirty="0">
                <a:latin typeface="Courier"/>
              </a:rPr>
              <a:t> pattern matching)
          ↓
3. Active Chat Mode (if any - adds persona/context)
          ↓
4. Prompt Files (can reference additional instructions)
          ↓
5. Manual @-mentions (explicit instruction references)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lstStyle/>
          <a:p>
            <a:r>
              <a:t>Practical Control Strategies</a:t>
            </a:r>
          </a:p>
        </p:txBody>
      </p:sp>
      <p:sp>
        <p:nvSpPr>
          <p:cNvPr id="4" name="Text Placeholder 3"/>
          <p:cNvSpPr>
            <a:spLocks noGrp="1"/>
          </p:cNvSpPr>
          <p:nvPr>
            <p:ph type="body" sz="half" idx="2"/>
          </p:nvPr>
        </p:nvSpPr>
        <p:spPr/>
        <p:txBody>
          <a:bodyPr/>
          <a:lstStyle/>
          <a:p>
            <a:r>
              <a:rPr b="1"/>
              <a:t>Four approaches to managing instruction context</a:t>
            </a:r>
          </a:p>
        </p:txBody>
      </p:sp>
      <p:graphicFrame>
        <p:nvGraphicFramePr>
          <p:cNvPr id="6" name="Content Placeholder 5"/>
          <p:cNvGraphicFramePr>
            <a:graphicFrameLocks noGrp="1"/>
          </p:cNvGraphicFramePr>
          <p:nvPr>
            <p:ph idx="1"/>
          </p:nvPr>
        </p:nvGraphicFramePr>
        <p:xfrm>
          <a:off x="662884" y="2464551"/>
          <a:ext cx="10484088" cy="3661611"/>
        </p:xfrm>
        <a:graphic>
          <a:graphicData uri="http://schemas.openxmlformats.org/drawingml/2006/table">
            <a:tbl>
              <a:tblPr firstRow="1" bandRow="1">
                <a:tableStyleId>{FABFCF23-3B69-468F-B69F-88F6DE6A72F2}</a:tableStyleId>
              </a:tblPr>
              <a:tblGrid>
                <a:gridCol w="3077419">
                  <a:extLst>
                    <a:ext uri="{9D8B030D-6E8A-4147-A177-3AD203B41FA5}">
                      <a16:colId xmlns:a16="http://schemas.microsoft.com/office/drawing/2014/main" val="20000"/>
                    </a:ext>
                  </a:extLst>
                </a:gridCol>
                <a:gridCol w="2973100">
                  <a:extLst>
                    <a:ext uri="{9D8B030D-6E8A-4147-A177-3AD203B41FA5}">
                      <a16:colId xmlns:a16="http://schemas.microsoft.com/office/drawing/2014/main" val="20001"/>
                    </a:ext>
                  </a:extLst>
                </a:gridCol>
                <a:gridCol w="4433569">
                  <a:extLst>
                    <a:ext uri="{9D8B030D-6E8A-4147-A177-3AD203B41FA5}">
                      <a16:colId xmlns:a16="http://schemas.microsoft.com/office/drawing/2014/main" val="20002"/>
                    </a:ext>
                  </a:extLst>
                </a:gridCol>
              </a:tblGrid>
              <a:tr h="517401">
                <a:tc>
                  <a:txBody>
                    <a:bodyPr/>
                    <a:lstStyle/>
                    <a:p>
                      <a:pPr marL="0" lvl="0" indent="0">
                        <a:buNone/>
                      </a:pPr>
                      <a:r>
                        <a:rPr sz="2400"/>
                        <a:t>Strategy</a:t>
                      </a:r>
                    </a:p>
                  </a:txBody>
                  <a:tcPr marL="121920" marR="121920" marT="60960" marB="60960"/>
                </a:tc>
                <a:tc>
                  <a:txBody>
                    <a:bodyPr/>
                    <a:lstStyle/>
                    <a:p>
                      <a:pPr marL="0" lvl="0" indent="0">
                        <a:buNone/>
                      </a:pPr>
                      <a:r>
                        <a:rPr sz="2400" dirty="0"/>
                        <a:t>Use Case</a:t>
                      </a:r>
                    </a:p>
                  </a:txBody>
                  <a:tcPr marL="121920" marR="121920" marT="60960" marB="60960"/>
                </a:tc>
                <a:tc>
                  <a:txBody>
                    <a:bodyPr/>
                    <a:lstStyle/>
                    <a:p>
                      <a:pPr marL="0" lvl="0" indent="0">
                        <a:buNone/>
                      </a:pPr>
                      <a:r>
                        <a:rPr sz="2400" dirty="0"/>
                        <a:t>Example</a:t>
                      </a:r>
                    </a:p>
                  </a:txBody>
                  <a:tcPr marL="121920" marR="121920" marT="60960" marB="60960"/>
                </a:tc>
                <a:extLst>
                  <a:ext uri="{0D108BD9-81ED-4DB2-BD59-A6C34878D82A}">
                    <a16:rowId xmlns:a16="http://schemas.microsoft.com/office/drawing/2014/main" val="10000"/>
                  </a:ext>
                </a:extLst>
              </a:tr>
              <a:tr h="875603">
                <a:tc>
                  <a:txBody>
                    <a:bodyPr/>
                    <a:lstStyle/>
                    <a:p>
                      <a:pPr marL="0" lvl="0" indent="0">
                        <a:buNone/>
                      </a:pPr>
                      <a:r>
                        <a:rPr sz="2400" b="1"/>
                        <a:t>Specific Patterns</a:t>
                      </a:r>
                    </a:p>
                  </a:txBody>
                  <a:tcPr marL="121920" marR="121920" marT="60960" marB="60960"/>
                </a:tc>
                <a:tc>
                  <a:txBody>
                    <a:bodyPr/>
                    <a:lstStyle/>
                    <a:p>
                      <a:pPr marL="0" lvl="0" indent="0">
                        <a:buNone/>
                      </a:pPr>
                      <a:r>
                        <a:rPr sz="2400"/>
                        <a:t>Domain-specific guidance</a:t>
                      </a:r>
                    </a:p>
                  </a:txBody>
                  <a:tcPr marL="121920" marR="121920" marT="60960" marB="60960"/>
                </a:tc>
                <a:tc>
                  <a:txBody>
                    <a:bodyPr/>
                    <a:lstStyle/>
                    <a:p>
                      <a:pPr marL="0" lvl="0" indent="0">
                        <a:buNone/>
                      </a:pPr>
                      <a:r>
                        <a:rPr sz="2400"/>
                        <a:t>src/**/*.ts for backend TypeScript</a:t>
                      </a:r>
                    </a:p>
                  </a:txBody>
                  <a:tcPr marL="121920" marR="121920" marT="60960" marB="60960"/>
                </a:tc>
                <a:extLst>
                  <a:ext uri="{0D108BD9-81ED-4DB2-BD59-A6C34878D82A}">
                    <a16:rowId xmlns:a16="http://schemas.microsoft.com/office/drawing/2014/main" val="10001"/>
                  </a:ext>
                </a:extLst>
              </a:tr>
              <a:tr h="875603">
                <a:tc>
                  <a:txBody>
                    <a:bodyPr/>
                    <a:lstStyle/>
                    <a:p>
                      <a:pPr marL="0" lvl="0" indent="0">
                        <a:buNone/>
                      </a:pPr>
                      <a:r>
                        <a:rPr sz="2400" b="1"/>
                        <a:t>No applyTo</a:t>
                      </a:r>
                    </a:p>
                  </a:txBody>
                  <a:tcPr marL="121920" marR="121920" marT="60960" marB="60960"/>
                </a:tc>
                <a:tc>
                  <a:txBody>
                    <a:bodyPr/>
                    <a:lstStyle/>
                    <a:p>
                      <a:pPr marL="0" lvl="0" indent="0">
                        <a:buNone/>
                      </a:pPr>
                      <a:r>
                        <a:rPr sz="2400"/>
                        <a:t>Manual inclusion only</a:t>
                      </a:r>
                    </a:p>
                  </a:txBody>
                  <a:tcPr marL="121920" marR="121920" marT="60960" marB="60960"/>
                </a:tc>
                <a:tc>
                  <a:txBody>
                    <a:bodyPr/>
                    <a:lstStyle/>
                    <a:p>
                      <a:pPr marL="0" lvl="0" indent="0">
                        <a:buNone/>
                      </a:pPr>
                      <a:r>
                        <a:rPr sz="2400" dirty="0"/>
                        <a:t>Docs that need explicit opt-in</a:t>
                      </a:r>
                    </a:p>
                  </a:txBody>
                  <a:tcPr marL="121920" marR="121920" marT="60960" marB="60960"/>
                </a:tc>
                <a:extLst>
                  <a:ext uri="{0D108BD9-81ED-4DB2-BD59-A6C34878D82A}">
                    <a16:rowId xmlns:a16="http://schemas.microsoft.com/office/drawing/2014/main" val="10002"/>
                  </a:ext>
                </a:extLst>
              </a:tr>
              <a:tr h="875603">
                <a:tc>
                  <a:txBody>
                    <a:bodyPr/>
                    <a:lstStyle/>
                    <a:p>
                      <a:pPr marL="0" lvl="0" indent="0">
                        <a:buNone/>
                      </a:pPr>
                      <a:r>
                        <a:rPr sz="2400" b="1"/>
                        <a:t>Global with Overrides</a:t>
                      </a:r>
                    </a:p>
                  </a:txBody>
                  <a:tcPr marL="121920" marR="121920" marT="60960" marB="60960"/>
                </a:tc>
                <a:tc>
                  <a:txBody>
                    <a:bodyPr/>
                    <a:lstStyle/>
                    <a:p>
                      <a:pPr marL="0" lvl="0" indent="0">
                        <a:buNone/>
                      </a:pPr>
                      <a:r>
                        <a:rPr sz="2400"/>
                        <a:t>Base + specialized</a:t>
                      </a:r>
                    </a:p>
                  </a:txBody>
                  <a:tcPr marL="121920" marR="121920" marT="60960" marB="60960"/>
                </a:tc>
                <a:tc>
                  <a:txBody>
                    <a:bodyPr/>
                    <a:lstStyle/>
                    <a:p>
                      <a:pPr marL="0" lvl="0" indent="0">
                        <a:buNone/>
                      </a:pPr>
                      <a:r>
                        <a:rPr sz="2400"/>
                        <a:t>**/* + specific overrides</a:t>
                      </a:r>
                    </a:p>
                  </a:txBody>
                  <a:tcPr marL="121920" marR="121920" marT="60960" marB="60960"/>
                </a:tc>
                <a:extLst>
                  <a:ext uri="{0D108BD9-81ED-4DB2-BD59-A6C34878D82A}">
                    <a16:rowId xmlns:a16="http://schemas.microsoft.com/office/drawing/2014/main" val="10003"/>
                  </a:ext>
                </a:extLst>
              </a:tr>
              <a:tr h="517401">
                <a:tc>
                  <a:txBody>
                    <a:bodyPr/>
                    <a:lstStyle/>
                    <a:p>
                      <a:pPr marL="0" lvl="0" indent="0">
                        <a:buNone/>
                      </a:pPr>
                      <a:r>
                        <a:rPr sz="2400" b="1"/>
                        <a:t>Directory Isolation</a:t>
                      </a:r>
                    </a:p>
                  </a:txBody>
                  <a:tcPr marL="121920" marR="121920" marT="60960" marB="60960"/>
                </a:tc>
                <a:tc>
                  <a:txBody>
                    <a:bodyPr/>
                    <a:lstStyle/>
                    <a:p>
                      <a:pPr marL="0" lvl="0" indent="0">
                        <a:buNone/>
                      </a:pPr>
                      <a:r>
                        <a:rPr sz="2400"/>
                        <a:t>Project sections</a:t>
                      </a:r>
                    </a:p>
                  </a:txBody>
                  <a:tcPr marL="121920" marR="121920" marT="60960" marB="60960"/>
                </a:tc>
                <a:tc>
                  <a:txBody>
                    <a:bodyPr/>
                    <a:lstStyle/>
                    <a:p>
                      <a:pPr marL="0" lvl="0" indent="0">
                        <a:buNone/>
                      </a:pPr>
                      <a:r>
                        <a:rPr sz="2400" dirty="0"/>
                        <a:t>frontend/** vs backend/**</a:t>
                      </a:r>
                      <a:endParaRPr sz="2400" dirty="0">
                        <a:latin typeface="Courier"/>
                      </a:endParaRPr>
                    </a:p>
                  </a:txBody>
                  <a:tcPr marL="121920" marR="121920" marT="60960" marB="60960"/>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Real-World Examples</a:t>
            </a:r>
          </a:p>
        </p:txBody>
      </p:sp>
      <p:sp>
        <p:nvSpPr>
          <p:cNvPr id="3" name="Content Placeholder 2"/>
          <p:cNvSpPr>
            <a:spLocks noGrp="1"/>
          </p:cNvSpPr>
          <p:nvPr>
            <p:ph idx="1"/>
          </p:nvPr>
        </p:nvSpPr>
        <p:spPr/>
        <p:txBody>
          <a:bodyPr>
            <a:normAutofit fontScale="77500" lnSpcReduction="20000"/>
          </a:bodyPr>
          <a:lstStyle/>
          <a:p>
            <a:pPr marL="0" indent="0">
              <a:buNone/>
            </a:pPr>
            <a:r>
              <a:rPr b="1" dirty="0"/>
              <a:t>From your current workspace</a:t>
            </a:r>
          </a:p>
          <a:p>
            <a:pPr indent="0">
              <a:buNone/>
            </a:pPr>
            <a:r>
              <a:rPr i="1" dirty="0">
                <a:solidFill>
                  <a:schemeClr val="bg1">
                    <a:lumMod val="85000"/>
                  </a:schemeClr>
                </a:solidFill>
                <a:latin typeface="Courier"/>
              </a:rPr>
              <a:t># ai-assisted-output.instructions.md</a:t>
            </a:r>
            <a:br>
              <a:rPr dirty="0">
                <a:solidFill>
                  <a:schemeClr val="bg1">
                    <a:lumMod val="85000"/>
                  </a:schemeClr>
                </a:solidFill>
              </a:rPr>
            </a:br>
            <a:r>
              <a:rPr dirty="0" err="1">
                <a:solidFill>
                  <a:schemeClr val="bg1">
                    <a:lumMod val="85000"/>
                  </a:schemeClr>
                </a:solidFill>
                <a:latin typeface="Courier"/>
              </a:rPr>
              <a:t>applyTo</a:t>
            </a:r>
            <a:r>
              <a:rPr b="1" dirty="0">
                <a:solidFill>
                  <a:schemeClr val="bg1">
                    <a:lumMod val="85000"/>
                  </a:schemeClr>
                </a:solidFill>
                <a:latin typeface="Courier"/>
              </a:rPr>
              <a:t>:</a:t>
            </a:r>
            <a:r>
              <a:rPr dirty="0">
                <a:solidFill>
                  <a:schemeClr val="bg1">
                    <a:lumMod val="85000"/>
                  </a:schemeClr>
                </a:solidFill>
                <a:latin typeface="Courier"/>
              </a:rPr>
              <a:t> "**/*"</a:t>
            </a:r>
            <a:br>
              <a:rPr dirty="0">
                <a:solidFill>
                  <a:schemeClr val="bg1">
                    <a:lumMod val="85000"/>
                  </a:schemeClr>
                </a:solidFill>
              </a:rPr>
            </a:br>
            <a:r>
              <a:rPr i="1" dirty="0">
                <a:solidFill>
                  <a:schemeClr val="bg1">
                    <a:lumMod val="85000"/>
                  </a:schemeClr>
                </a:solidFill>
                <a:latin typeface="Courier"/>
              </a:rPr>
              <a:t># ✅ Applies everywhere - fundamental provenance requirements</a:t>
            </a:r>
            <a:br>
              <a:rPr dirty="0">
                <a:solidFill>
                  <a:schemeClr val="bg1">
                    <a:lumMod val="85000"/>
                  </a:schemeClr>
                </a:solidFill>
              </a:rPr>
            </a:br>
            <a:br>
              <a:rPr dirty="0">
                <a:solidFill>
                  <a:schemeClr val="bg1">
                    <a:lumMod val="85000"/>
                  </a:schemeClr>
                </a:solidFill>
              </a:rPr>
            </a:br>
            <a:r>
              <a:rPr i="1" dirty="0">
                <a:solidFill>
                  <a:schemeClr val="bg1">
                    <a:lumMod val="85000"/>
                  </a:schemeClr>
                </a:solidFill>
                <a:latin typeface="Courier"/>
              </a:rPr>
              <a:t># vertical-slice-implementation.instructions.md</a:t>
            </a:r>
            <a:br>
              <a:rPr dirty="0">
                <a:solidFill>
                  <a:schemeClr val="bg1">
                    <a:lumMod val="85000"/>
                  </a:schemeClr>
                </a:solidFill>
              </a:rPr>
            </a:br>
            <a:r>
              <a:rPr dirty="0" err="1">
                <a:solidFill>
                  <a:schemeClr val="bg1">
                    <a:lumMod val="85000"/>
                  </a:schemeClr>
                </a:solidFill>
                <a:latin typeface="Courier"/>
              </a:rPr>
              <a:t>applyTo</a:t>
            </a:r>
            <a:r>
              <a:rPr b="1" dirty="0">
                <a:solidFill>
                  <a:schemeClr val="bg1">
                    <a:lumMod val="85000"/>
                  </a:schemeClr>
                </a:solidFill>
                <a:latin typeface="Courier"/>
              </a:rPr>
              <a:t>:</a:t>
            </a:r>
            <a:r>
              <a:rPr dirty="0">
                <a:solidFill>
                  <a:schemeClr val="bg1">
                    <a:lumMod val="85000"/>
                  </a:schemeClr>
                </a:solidFill>
                <a:latin typeface="Courier"/>
              </a:rPr>
              <a:t> "**/*.{</a:t>
            </a:r>
            <a:r>
              <a:rPr dirty="0" err="1">
                <a:solidFill>
                  <a:schemeClr val="bg1">
                    <a:lumMod val="85000"/>
                  </a:schemeClr>
                </a:solidFill>
                <a:latin typeface="Courier"/>
              </a:rPr>
              <a:t>cs,ts,js,py,java,go,rb</a:t>
            </a:r>
            <a:r>
              <a:rPr dirty="0">
                <a:solidFill>
                  <a:schemeClr val="bg1">
                    <a:lumMod val="85000"/>
                  </a:schemeClr>
                </a:solidFill>
                <a:latin typeface="Courier"/>
              </a:rPr>
              <a:t>}"</a:t>
            </a:r>
            <a:br>
              <a:rPr dirty="0">
                <a:solidFill>
                  <a:schemeClr val="bg1">
                    <a:lumMod val="85000"/>
                  </a:schemeClr>
                </a:solidFill>
              </a:rPr>
            </a:br>
            <a:r>
              <a:rPr i="1" dirty="0">
                <a:solidFill>
                  <a:schemeClr val="bg1">
                    <a:lumMod val="85000"/>
                  </a:schemeClr>
                </a:solidFill>
                <a:latin typeface="Courier"/>
              </a:rPr>
              <a:t># ✅ Code files only - architectural guidance</a:t>
            </a:r>
            <a:br>
              <a:rPr dirty="0">
                <a:solidFill>
                  <a:schemeClr val="bg1">
                    <a:lumMod val="85000"/>
                  </a:schemeClr>
                </a:solidFill>
              </a:rPr>
            </a:br>
            <a:br>
              <a:rPr dirty="0">
                <a:solidFill>
                  <a:schemeClr val="bg1">
                    <a:lumMod val="85000"/>
                  </a:schemeClr>
                </a:solidFill>
              </a:rPr>
            </a:br>
            <a:r>
              <a:rPr i="1" dirty="0">
                <a:solidFill>
                  <a:schemeClr val="bg1">
                    <a:lumMod val="85000"/>
                  </a:schemeClr>
                </a:solidFill>
                <a:latin typeface="Courier"/>
              </a:rPr>
              <a:t># marp-slides.instructions.md</a:t>
            </a:r>
            <a:br>
              <a:rPr dirty="0">
                <a:solidFill>
                  <a:schemeClr val="bg1">
                    <a:lumMod val="85000"/>
                  </a:schemeClr>
                </a:solidFill>
              </a:rPr>
            </a:br>
            <a:r>
              <a:rPr dirty="0" err="1">
                <a:solidFill>
                  <a:schemeClr val="bg1">
                    <a:lumMod val="85000"/>
                  </a:schemeClr>
                </a:solidFill>
                <a:latin typeface="Courier"/>
              </a:rPr>
              <a:t>applyTo</a:t>
            </a:r>
            <a:r>
              <a:rPr b="1" dirty="0">
                <a:solidFill>
                  <a:schemeClr val="bg1">
                    <a:lumMod val="85000"/>
                  </a:schemeClr>
                </a:solidFill>
                <a:latin typeface="Courier"/>
              </a:rPr>
              <a:t>:</a:t>
            </a:r>
            <a:r>
              <a:rPr dirty="0">
                <a:solidFill>
                  <a:schemeClr val="bg1">
                    <a:lumMod val="85000"/>
                  </a:schemeClr>
                </a:solidFill>
                <a:latin typeface="Courier"/>
              </a:rPr>
              <a:t> "Slides/individual-slides/**"</a:t>
            </a:r>
            <a:br>
              <a:rPr dirty="0">
                <a:solidFill>
                  <a:schemeClr val="bg1">
                    <a:lumMod val="85000"/>
                  </a:schemeClr>
                </a:solidFill>
              </a:rPr>
            </a:br>
            <a:r>
              <a:rPr i="1" dirty="0">
                <a:solidFill>
                  <a:schemeClr val="bg1">
                    <a:lumMod val="85000"/>
                  </a:schemeClr>
                </a:solidFill>
                <a:latin typeface="Courier"/>
              </a:rPr>
              <a:t># ✅ Specific directory - presentation formatting</a:t>
            </a:r>
            <a:br>
              <a:rPr dirty="0">
                <a:solidFill>
                  <a:schemeClr val="bg1">
                    <a:lumMod val="85000"/>
                  </a:schemeClr>
                </a:solidFill>
              </a:rPr>
            </a:br>
            <a:br>
              <a:rPr dirty="0">
                <a:solidFill>
                  <a:schemeClr val="bg1">
                    <a:lumMod val="85000"/>
                  </a:schemeClr>
                </a:solidFill>
              </a:rPr>
            </a:br>
            <a:r>
              <a:rPr i="1" dirty="0">
                <a:solidFill>
                  <a:schemeClr val="bg1">
                    <a:lumMod val="85000"/>
                  </a:schemeClr>
                </a:solidFill>
                <a:latin typeface="Courier"/>
              </a:rPr>
              <a:t># chatmode-file.instructions.md</a:t>
            </a:r>
            <a:br>
              <a:rPr dirty="0">
                <a:solidFill>
                  <a:schemeClr val="bg1">
                    <a:lumMod val="85000"/>
                  </a:schemeClr>
                </a:solidFill>
              </a:rPr>
            </a:br>
            <a:r>
              <a:rPr dirty="0" err="1">
                <a:solidFill>
                  <a:schemeClr val="bg1">
                    <a:lumMod val="85000"/>
                  </a:schemeClr>
                </a:solidFill>
                <a:latin typeface="Courier"/>
              </a:rPr>
              <a:t>applyTo</a:t>
            </a:r>
            <a:r>
              <a:rPr b="1" dirty="0">
                <a:solidFill>
                  <a:schemeClr val="bg1">
                    <a:lumMod val="85000"/>
                  </a:schemeClr>
                </a:solidFill>
                <a:latin typeface="Courier"/>
              </a:rPr>
              <a:t>:</a:t>
            </a:r>
            <a:r>
              <a:rPr dirty="0">
                <a:solidFill>
                  <a:schemeClr val="bg1">
                    <a:lumMod val="85000"/>
                  </a:schemeClr>
                </a:solidFill>
                <a:latin typeface="Courier"/>
              </a:rPr>
              <a:t> "**/*.chatmode.md"</a:t>
            </a:r>
            <a:br>
              <a:rPr dirty="0">
                <a:solidFill>
                  <a:schemeClr val="bg1">
                    <a:lumMod val="85000"/>
                  </a:schemeClr>
                </a:solidFill>
              </a:rPr>
            </a:br>
            <a:r>
              <a:rPr i="1" dirty="0">
                <a:solidFill>
                  <a:schemeClr val="bg1">
                    <a:lumMod val="85000"/>
                  </a:schemeClr>
                </a:solidFill>
                <a:latin typeface="Courier"/>
              </a:rPr>
              <a:t># ✅ Specific file type - chat mode creation rules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Key Takeaways</a:t>
            </a:r>
          </a:p>
        </p:txBody>
      </p:sp>
      <p:sp>
        <p:nvSpPr>
          <p:cNvPr id="3" name="Content Placeholder 2"/>
          <p:cNvSpPr>
            <a:spLocks noGrp="1"/>
          </p:cNvSpPr>
          <p:nvPr>
            <p:ph idx="1"/>
          </p:nvPr>
        </p:nvSpPr>
        <p:spPr/>
        <p:txBody>
          <a:bodyPr>
            <a:normAutofit/>
          </a:bodyPr>
          <a:lstStyle/>
          <a:p>
            <a:pPr marL="457189" indent="-457189">
              <a:buAutoNum type="arabicPeriod"/>
            </a:pPr>
            <a:r>
              <a:rPr b="1"/>
              <a:t>applyTo field controls automatic inclusion</a:t>
            </a:r>
            <a:r>
              <a:t> via glob patterns</a:t>
            </a:r>
          </a:p>
          <a:p>
            <a:pPr marL="457189" indent="-457189">
              <a:buAutoNum type="arabicPeriod"/>
            </a:pPr>
            <a:r>
              <a:rPr b="1"/>
              <a:t>Prompt files reference but don’t control</a:t>
            </a:r>
            <a:r>
              <a:t> instruction selection</a:t>
            </a:r>
          </a:p>
          <a:p>
            <a:pPr marL="457189" indent="-457189">
              <a:buAutoNum type="arabicPeriod"/>
            </a:pPr>
            <a:r>
              <a:rPr b="1"/>
              <a:t>Chat modes add personas</a:t>
            </a:r>
            <a:r>
              <a:t>, not pattern overrides</a:t>
            </a:r>
          </a:p>
          <a:p>
            <a:pPr marL="457189" indent="-457189">
              <a:buAutoNum type="arabicPeriod"/>
            </a:pPr>
            <a:r>
              <a:rPr b="1"/>
              <a:t>Hierarchy determines context</a:t>
            </a:r>
            <a:r>
              <a:t>: File → Instructions → Persona → Task → Manual</a:t>
            </a:r>
          </a:p>
          <a:p>
            <a:pPr marL="457189" indent="-457189">
              <a:buAutoNum type="arabicPeriod"/>
            </a:pPr>
            <a:r>
              <a:rPr b="1"/>
              <a:t>Be intentional with patterns</a:t>
            </a:r>
            <a:r>
              <a:t> to optimize context and token usage</a:t>
            </a:r>
          </a:p>
          <a:p>
            <a:pPr marL="0" indent="0">
              <a:buNone/>
            </a:pPr>
            <a:r>
              <a:rPr b="1"/>
              <a:t>Remember</a:t>
            </a:r>
            <a:r>
              <a:t>: Specificity is your friend - match patterns to actual use cases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Instruction Files Best Practices</a:t>
            </a:r>
          </a:p>
        </p:txBody>
      </p:sp>
      <p:sp>
        <p:nvSpPr>
          <p:cNvPr id="3" name="Content Placeholder 2"/>
          <p:cNvSpPr>
            <a:spLocks noGrp="1"/>
          </p:cNvSpPr>
          <p:nvPr>
            <p:ph idx="1"/>
          </p:nvPr>
        </p:nvSpPr>
        <p:spPr/>
        <p:txBody>
          <a:bodyPr>
            <a:normAutofit fontScale="85000" lnSpcReduction="20000"/>
          </a:bodyPr>
          <a:lstStyle/>
          <a:p>
            <a:pPr marL="0" indent="0">
              <a:spcBef>
                <a:spcPts val="4000"/>
              </a:spcBef>
              <a:buNone/>
            </a:pPr>
            <a:r>
              <a:rPr b="1"/>
              <a:t>✅ Do This:</a:t>
            </a:r>
          </a:p>
          <a:p>
            <a:pPr lvl="0"/>
            <a:r>
              <a:t>Keep instructions clear and actionable</a:t>
            </a:r>
          </a:p>
          <a:p>
            <a:pPr lvl="0"/>
            <a:r>
              <a:t>Use file patterns (</a:t>
            </a:r>
            <a:r>
              <a:rPr>
                <a:latin typeface="Courier"/>
              </a:rPr>
              <a:t>applyTo: '**'</a:t>
            </a:r>
            <a:r>
              <a:t>) for broad scope</a:t>
            </a:r>
          </a:p>
          <a:p>
            <a:pPr lvl="0"/>
            <a:r>
              <a:t>Version control and document changes</a:t>
            </a:r>
          </a:p>
          <a:p>
            <a:pPr lvl="0"/>
            <a:r>
              <a:t>Test instruction effectiveness regularly</a:t>
            </a:r>
          </a:p>
          <a:p>
            <a:pPr marL="0" indent="0">
              <a:spcBef>
                <a:spcPts val="4000"/>
              </a:spcBef>
              <a:buNone/>
            </a:pPr>
            <a:r>
              <a:rPr b="1"/>
              <a:t>❌ Avoid This:</a:t>
            </a:r>
          </a:p>
          <a:p>
            <a:pPr lvl="0"/>
            <a:r>
              <a:t>Overly complex or contradictory rules</a:t>
            </a:r>
          </a:p>
          <a:p>
            <a:pPr lvl="0"/>
            <a:r>
              <a:t>Too many instructions (cognitive overload)</a:t>
            </a:r>
          </a:p>
          <a:p>
            <a:pPr lvl="0"/>
            <a:r>
              <a:t>Instructions that conflict with prompt files</a:t>
            </a:r>
          </a:p>
          <a:p>
            <a:pPr lvl="0"/>
            <a:r>
              <a:t>Hardcoded values instead of parameters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3574</Words>
  <Application>Microsoft Office PowerPoint</Application>
  <PresentationFormat>Widescreen</PresentationFormat>
  <Paragraphs>297</Paragraphs>
  <Slides>11</Slides>
  <Notes>9</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Calibri</vt:lpstr>
      <vt:lpstr>Courier</vt:lpstr>
      <vt:lpstr>Office Theme</vt:lpstr>
      <vt:lpstr>Controlling GitHub Copilot Instruction Files</vt:lpstr>
      <vt:lpstr>Core Instructions</vt:lpstr>
      <vt:lpstr>The Core Concept</vt:lpstr>
      <vt:lpstr>Pattern Matching</vt:lpstr>
      <vt:lpstr>Prompt Files: Reference, Don’t Control</vt:lpstr>
      <vt:lpstr>Chat Modes: Persona, Not Pattern Control</vt:lpstr>
      <vt:lpstr>The Control Hierarchy</vt:lpstr>
      <vt:lpstr>Practical Control Strategies</vt:lpstr>
      <vt:lpstr>Real-World Examples</vt:lpstr>
      <vt:lpstr>Key Takeaways</vt:lpstr>
      <vt:lpstr>Instruction Files Best Practices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3</cp:revision>
  <dcterms:created xsi:type="dcterms:W3CDTF">2026-03-05T21:07:03Z</dcterms:created>
  <dcterms:modified xsi:type="dcterms:W3CDTF">2026-03-05T23:08:17Z</dcterms:modified>
</cp:coreProperties>
</file>