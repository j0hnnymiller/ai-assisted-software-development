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72" r:id="rId6"/>
    <p:sldId id="273" r:id="rId7"/>
    <p:sldId id="274" r:id="rId8"/>
    <p:sldId id="276" r:id="rId9"/>
    <p:sldId id="277" r:id="rId10"/>
    <p:sldId id="279" r:id="rId11"/>
    <p:sldId id="280" r:id="rId12"/>
    <p:sldId id="282" r:id="rId13"/>
    <p:sldId id="283" r:id="rId14"/>
    <p:sldId id="289" r:id="rId15"/>
    <p:sldId id="290" r:id="rId16"/>
    <p:sldId id="292" r:id="rId17"/>
    <p:sldId id="293" r:id="rId18"/>
    <p:sldId id="295" r:id="rId19"/>
    <p:sldId id="294" r:id="rId2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94C347E-10E7-40BB-8C69-398713F44C88}">
          <p14:sldIdLst>
            <p14:sldId id="256"/>
            <p14:sldId id="257"/>
            <p14:sldId id="258"/>
            <p14:sldId id="259"/>
          </p14:sldIdLst>
        </p14:section>
        <p14:section name="Instruction Files" id="{FD435803-68CB-4D03-9940-941ACA8D528C}">
          <p14:sldIdLst>
            <p14:sldId id="272"/>
            <p14:sldId id="273"/>
            <p14:sldId id="274"/>
            <p14:sldId id="276"/>
            <p14:sldId id="277"/>
            <p14:sldId id="279"/>
            <p14:sldId id="280"/>
            <p14:sldId id="282"/>
            <p14:sldId id="283"/>
            <p14:sldId id="289"/>
            <p14:sldId id="290"/>
            <p14:sldId id="292"/>
            <p14:sldId id="293"/>
            <p14:sldId id="295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219" d="100"/>
          <a:sy n="219" d="100"/>
        </p:scale>
        <p:origin x="116" y="11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5D4979-0E48-181C-5438-B441393DCAC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BA191F-D9FD-C2EB-983F-9B42F26EB6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2069538"/>
            <a:ext cx="6858000" cy="1418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FDDE32-D155-6EE2-5EAC-C0A0C4B0AB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714244"/>
            <a:ext cx="6858000" cy="99380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9F10DC-7230-4581-E771-A51DC87C601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20828" y="928579"/>
            <a:ext cx="2683663" cy="966118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58039603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37467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18152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097814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097814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177983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097814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097814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965303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3668" y="1973171"/>
            <a:ext cx="6696665" cy="117665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02145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37907392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F1C99E23-E5F1-1D9C-BF82-D83E6E9F134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5085" y="1825228"/>
            <a:ext cx="7793831" cy="284321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63708861-970C-B5DB-BF46-526E75A04C1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5085" y="1083469"/>
            <a:ext cx="7793831" cy="48696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Image Caption</a:t>
            </a:r>
          </a:p>
        </p:txBody>
      </p:sp>
    </p:spTree>
    <p:extLst>
      <p:ext uri="{BB962C8B-B14F-4D97-AF65-F5344CB8AC3E}">
        <p14:creationId xmlns:p14="http://schemas.microsoft.com/office/powerpoint/2010/main" val="942625306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583749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7AB04E-CD14-3B5B-FB56-FF0AC2426BB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5673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"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442E2-8683-D251-03C0-5FDD0CBEBC4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5111" y="788974"/>
            <a:ext cx="7373867" cy="276999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1200">
                <a:latin typeface="Victor Mono" pitchFamily="49" charset="0"/>
              </a:defRPr>
            </a:lvl1pPr>
            <a:lvl2pPr marL="342900" indent="0">
              <a:buFontTx/>
              <a:buNone/>
              <a:defRPr>
                <a:latin typeface="Victor Mono" pitchFamily="49" charset="0"/>
              </a:defRPr>
            </a:lvl2pPr>
            <a:lvl3pPr marL="685800" indent="0">
              <a:buFontTx/>
              <a:buNone/>
              <a:defRPr>
                <a:latin typeface="Victor Mono" pitchFamily="49" charset="0"/>
              </a:defRPr>
            </a:lvl3pPr>
            <a:lvl4pPr marL="1028700" indent="0">
              <a:buFontTx/>
              <a:buNone/>
              <a:defRPr>
                <a:latin typeface="Victor Mono" pitchFamily="49" charset="0"/>
              </a:defRPr>
            </a:lvl4pPr>
            <a:lvl5pPr marL="1371600" indent="0">
              <a:buFontTx/>
              <a:buNone/>
              <a:defRPr>
                <a:latin typeface="Victor Mono" pitchFamily="49" charset="0"/>
              </a:defRPr>
            </a:lvl5pPr>
          </a:lstStyle>
          <a:p>
            <a:pPr lvl="0"/>
            <a:r>
              <a:rPr lang="en-US" dirty="0"/>
              <a:t>Click to edit Code text</a:t>
            </a:r>
          </a:p>
        </p:txBody>
      </p:sp>
    </p:spTree>
    <p:extLst>
      <p:ext uri="{BB962C8B-B14F-4D97-AF65-F5344CB8AC3E}">
        <p14:creationId xmlns:p14="http://schemas.microsoft.com/office/powerpoint/2010/main" val="6474765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3C53BF9-6377-93D8-5BD7-30937619B4E2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 amt="20000"/>
          </a:blip>
          <a:srcRect l="301" t="5222" r="713" b="10945"/>
          <a:stretch/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4163A3-B061-0949-1965-0375841BD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273845"/>
            <a:ext cx="6696665" cy="5272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76094-9BD4-ED01-3BE5-5F760EE32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096112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6163BC-C951-C17F-421A-4AD743EDDB2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512088" y="318405"/>
            <a:ext cx="1337757" cy="482708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08080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>
    <p:fade/>
  </p:transition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1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10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  <a:lvl2pPr marL="5143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2pPr>
      <a:lvl3pPr marL="8572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3pPr>
      <a:lvl4pPr marL="12001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4pPr>
      <a:lvl5pPr marL="15430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AI-Assisted Development Approaches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Instruction Files vs Prompt Files vs Custom Chat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Comparing Three Key Approaches for AI-Guided Software Development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Overview of AI Development Approaches</a:t>
            </a:r>
          </a:p>
          <a:p>
            <a:pPr lvl="0"/>
            <a:r>
              <a:rPr b="1"/>
              <a:t>Instruction Files Deep Dive</a:t>
            </a:r>
          </a:p>
          <a:p>
            <a:pPr lvl="0"/>
            <a:r>
              <a:rPr b="1"/>
              <a:t>Prompt Files Deep Dive</a:t>
            </a:r>
          </a:p>
          <a:p>
            <a:pPr lvl="0"/>
            <a:r>
              <a:rPr b="1"/>
              <a:t>Custom Chat Modes Deep Dive</a:t>
            </a:r>
          </a:p>
          <a:p>
            <a:pPr lvl="0"/>
            <a:r>
              <a:rPr b="1"/>
              <a:t>Side-by-Side Comparison</a:t>
            </a:r>
          </a:p>
          <a:p>
            <a:pPr lvl="0"/>
            <a:r>
              <a:rPr b="1"/>
              <a:t>When to Use Each Approach</a:t>
            </a:r>
          </a:p>
          <a:p>
            <a:pPr lvl="0"/>
            <a:r>
              <a:rPr b="1"/>
              <a:t>Best Practices &amp; Integration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AI Development Approaches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3000"/>
              </a:spcBef>
              <a:buNone/>
            </a:pPr>
            <a:r>
              <a:rPr b="1"/>
              <a:t>Three Primary Methods for Guiding AI Assistance</a:t>
            </a:r>
          </a:p>
          <a:p>
            <a:pPr marL="342892" indent="-342892">
              <a:buAutoNum type="arabicPeriod"/>
            </a:pPr>
            <a:r>
              <a:rPr b="1"/>
              <a:t>Instruction Files</a:t>
            </a:r>
            <a:r>
              <a:t> → Persistent behavioral guidelines</a:t>
            </a:r>
          </a:p>
          <a:p>
            <a:pPr marL="342892" indent="-342892">
              <a:buAutoNum type="arabicPeriod"/>
            </a:pPr>
            <a:r>
              <a:rPr b="1"/>
              <a:t>Prompt Files</a:t>
            </a:r>
            <a:r>
              <a:t> → Executable task templates</a:t>
            </a:r>
          </a:p>
          <a:p>
            <a:pPr marL="342892" indent="-342892">
              <a:buAutoNum type="arabicPeriod"/>
            </a:pPr>
            <a:r>
              <a:rPr b="1"/>
              <a:t>Custom Chat Modes</a:t>
            </a:r>
            <a:r>
              <a:t> → Specialized conversational contexts</a:t>
            </a:r>
          </a:p>
          <a:p>
            <a:pPr marL="0" indent="0">
              <a:buNone/>
            </a:pPr>
            <a:r>
              <a:t>Each serves different purposes in the AI-assisted workflow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What Are Custom Chat Modes?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Definition</a:t>
            </a:r>
          </a:p>
          <a:p>
            <a:pPr lvl="0"/>
            <a:r>
              <a:rPr b="1"/>
              <a:t>Preconfigured AI personalities</a:t>
            </a:r>
            <a:r>
              <a:t> for specific domains</a:t>
            </a:r>
          </a:p>
          <a:p>
            <a:pPr lvl="0"/>
            <a:r>
              <a:t>Combine behavioral rules with specialized knowledge</a:t>
            </a:r>
          </a:p>
          <a:p>
            <a:pPr lvl="0"/>
            <a:r>
              <a:t>Provide contextual expertise for particular scenarios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Key Characteristics</a:t>
            </a:r>
          </a:p>
          <a:p>
            <a:pPr lvl="0"/>
            <a:r>
              <a:rPr b="1"/>
              <a:t>Scope</a:t>
            </a:r>
            <a:r>
              <a:t>: Domain or role-specific interactions</a:t>
            </a:r>
          </a:p>
          <a:p>
            <a:pPr lvl="0"/>
            <a:r>
              <a:rPr b="1"/>
              <a:t>Context</a:t>
            </a:r>
            <a:r>
              <a:t>: Rich background knowledge and constraints</a:t>
            </a:r>
          </a:p>
          <a:p>
            <a:pPr lvl="0"/>
            <a:r>
              <a:rPr b="1"/>
              <a:t>Purpose</a:t>
            </a:r>
            <a:r>
              <a:t>: Act as specialized “AI expert” for conversations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Custom Chat Mode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DevOps Engineer Mode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role</a:t>
            </a:r>
            <a:r>
              <a:rPr b="1">
                <a:solidFill>
                  <a:srgbClr val="007020"/>
                </a:solidFill>
                <a:latin typeface="Courier"/>
              </a:rPr>
              <a:t>:</a:t>
            </a:r>
            <a:r>
              <a:rPr>
                <a:solidFill>
                  <a:srgbClr val="7D9029"/>
                </a:solidFill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"Senior DevOps Engineer"</a:t>
            </a:r>
            <a:br/>
            <a:r>
              <a:rPr>
                <a:solidFill>
                  <a:srgbClr val="06287E"/>
                </a:solidFill>
                <a:latin typeface="Courier"/>
              </a:rPr>
              <a:t>expertise</a:t>
            </a:r>
            <a:r>
              <a:rPr b="1">
                <a:solidFill>
                  <a:srgbClr val="007020"/>
                </a:solidFill>
                <a:latin typeface="Courier"/>
              </a:rPr>
              <a:t>:</a:t>
            </a:r>
            <a:br/>
            <a:r>
              <a:rPr>
                <a:solidFill>
                  <a:srgbClr val="7D9029"/>
                </a:solidFill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-</a:t>
            </a:r>
            <a:r>
              <a:rPr>
                <a:solidFill>
                  <a:srgbClr val="7D9029"/>
                </a:solidFill>
                <a:latin typeface="Courier"/>
              </a:rPr>
              <a:t> CI/CD pipelines</a:t>
            </a:r>
            <a:br/>
            <a:r>
              <a:rPr>
                <a:solidFill>
                  <a:srgbClr val="7D9029"/>
                </a:solidFill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-</a:t>
            </a:r>
            <a:r>
              <a:rPr>
                <a:solidFill>
                  <a:srgbClr val="7D9029"/>
                </a:solidFill>
                <a:latin typeface="Courier"/>
              </a:rPr>
              <a:t> Infrastructure as Code</a:t>
            </a:r>
            <a:br/>
            <a:r>
              <a:rPr>
                <a:solidFill>
                  <a:srgbClr val="7D9029"/>
                </a:solidFill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-</a:t>
            </a:r>
            <a:r>
              <a:rPr>
                <a:solidFill>
                  <a:srgbClr val="7D9029"/>
                </a:solidFill>
                <a:latin typeface="Courier"/>
              </a:rPr>
              <a:t> Container orchestration</a:t>
            </a:r>
            <a:br/>
            <a:r>
              <a:rPr>
                <a:solidFill>
                  <a:srgbClr val="7D9029"/>
                </a:solidFill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-</a:t>
            </a:r>
            <a:r>
              <a:rPr>
                <a:solidFill>
                  <a:srgbClr val="7D9029"/>
                </a:solidFill>
                <a:latin typeface="Courier"/>
              </a:rPr>
              <a:t> Monitoring and observability</a:t>
            </a:r>
            <a:br/>
            <a:br/>
            <a:r>
              <a:rPr>
                <a:solidFill>
                  <a:srgbClr val="06287E"/>
                </a:solidFill>
                <a:latin typeface="Courier"/>
              </a:rPr>
              <a:t>behavior</a:t>
            </a:r>
            <a:r>
              <a:rPr b="1">
                <a:solidFill>
                  <a:srgbClr val="007020"/>
                </a:solidFill>
                <a:latin typeface="Courier"/>
              </a:rPr>
              <a:t>:</a:t>
            </a:r>
            <a:br/>
            <a:r>
              <a:rPr>
                <a:solidFill>
                  <a:srgbClr val="7D9029"/>
                </a:solidFill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-</a:t>
            </a:r>
            <a:r>
              <a:rPr>
                <a:solidFill>
                  <a:srgbClr val="7D9029"/>
                </a:solidFill>
                <a:latin typeface="Courier"/>
              </a:rPr>
              <a:t> Focus on scalability and reliability</a:t>
            </a:r>
            <a:br/>
            <a:r>
              <a:rPr>
                <a:solidFill>
                  <a:srgbClr val="7D9029"/>
                </a:solidFill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-</a:t>
            </a:r>
            <a:r>
              <a:rPr>
                <a:solidFill>
                  <a:srgbClr val="7D9029"/>
                </a:solidFill>
                <a:latin typeface="Courier"/>
              </a:rPr>
              <a:t> Recommend industry best practices</a:t>
            </a:r>
            <a:br/>
            <a:r>
              <a:rPr>
                <a:solidFill>
                  <a:srgbClr val="7D9029"/>
                </a:solidFill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-</a:t>
            </a:r>
            <a:r>
              <a:rPr>
                <a:solidFill>
                  <a:srgbClr val="7D9029"/>
                </a:solidFill>
                <a:latin typeface="Courier"/>
              </a:rPr>
              <a:t> Consider security implications</a:t>
            </a:r>
            <a:br/>
            <a:r>
              <a:rPr>
                <a:solidFill>
                  <a:srgbClr val="7D9029"/>
                </a:solidFill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-</a:t>
            </a:r>
            <a:r>
              <a:rPr>
                <a:solidFill>
                  <a:srgbClr val="7D9029"/>
                </a:solidFill>
                <a:latin typeface="Courier"/>
              </a:rPr>
              <a:t> Suggest automation opportunities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Custom Chat Modes: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Perfect For:</a:t>
            </a:r>
          </a:p>
          <a:p>
            <a:pPr lvl="0"/>
            <a:r>
              <a:rPr b="1"/>
              <a:t>Domain Expertise</a:t>
            </a:r>
            <a:r>
              <a:t> → Get specialized knowledge</a:t>
            </a:r>
          </a:p>
          <a:p>
            <a:pPr lvl="0"/>
            <a:r>
              <a:rPr b="1"/>
              <a:t>Role-Playing</a:t>
            </a:r>
            <a:r>
              <a:t> → AI acts as specific professional</a:t>
            </a:r>
          </a:p>
          <a:p>
            <a:pPr lvl="0"/>
            <a:r>
              <a:rPr b="1"/>
              <a:t>Context Switching</a:t>
            </a:r>
            <a:r>
              <a:t> → Different perspectives on same problem</a:t>
            </a:r>
          </a:p>
          <a:p>
            <a:pPr lvl="0"/>
            <a:r>
              <a:rPr b="1"/>
              <a:t>Learning</a:t>
            </a:r>
            <a:r>
              <a:t> → Educational conversations with expert personas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Examples:</a:t>
            </a:r>
          </a:p>
          <a:p>
            <a:pPr lvl="0"/>
            <a:r>
              <a:rPr b="1"/>
              <a:t>Security Architect Mode</a:t>
            </a:r>
            <a:r>
              <a:t> → Focus on security concerns</a:t>
            </a:r>
          </a:p>
          <a:p>
            <a:pPr lvl="0"/>
            <a:r>
              <a:rPr b="1"/>
              <a:t>Database Expert Mode</a:t>
            </a:r>
            <a:r>
              <a:t> → Optimize data architecture</a:t>
            </a:r>
          </a:p>
          <a:p>
            <a:pPr lvl="0"/>
            <a:r>
              <a:rPr b="1"/>
              <a:t>UX Designer Mode</a:t>
            </a:r>
            <a:r>
              <a:t> → Human-centered design guidance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Comparison Matrix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Instruction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Prompt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Custom Chat Modes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Purpose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Define AI behavior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Execute specific 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Provide specialized expertise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Repository-wide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Single task/workflow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Conversational context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Persistence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Always 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On-demand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Session-based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Reusability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High (across projects)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High (task templates)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Medium (role-specific)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Complexity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Simple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Detailed procedures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Rich contextual knowledge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Execution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lvl="0" indent="0">
              <a:buNone/>
            </a:pPr>
            <a:r>
              <a:rPr>
                <a:latin typeface="Courier"/>
              </a:rPr>
              <a:t>gantt
    title AI Approach Activation Timeline
    section Setup Phase
    Instruction Files    :active, inst, 2024-01-01, 2024-12-31
    section Development Phase
    Custom Chat Mode     :chat, 2024-03-01, 2024-03-15
    Prompt File Execution :prompt, 2024-03-10, 2024-03-12
    section Integration
    All Approaches      :integration, 2024-03-12, 2024-03-20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Decision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Use Instruction Files When:</a:t>
            </a:r>
          </a:p>
          <a:p>
            <a:pPr lvl="0"/>
            <a:r>
              <a:t>✅ Need consistent behavior across all AI interactions</a:t>
            </a:r>
          </a:p>
          <a:p>
            <a:pPr lvl="0"/>
            <a:r>
              <a:t>✅ Enforcing organizational standards/policies</a:t>
            </a:r>
          </a:p>
          <a:p>
            <a:pPr lvl="0"/>
            <a:r>
              <a:t>✅ Setting up coding conventions and quality gates</a:t>
            </a:r>
          </a:p>
          <a:p>
            <a:pPr lvl="0"/>
            <a:r>
              <a:t>✅ Defining security or compliance requirements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Use Prompt Files When:</a:t>
            </a:r>
          </a:p>
          <a:p>
            <a:pPr lvl="0"/>
            <a:r>
              <a:t>✅ Have repeatable, structured tasks</a:t>
            </a:r>
          </a:p>
          <a:p>
            <a:pPr lvl="0"/>
            <a:r>
              <a:t>✅ Need detailed step-by-step execution</a:t>
            </a:r>
          </a:p>
          <a:p>
            <a:pPr lvl="0"/>
            <a:r>
              <a:t>✅ Want to standardize complex workflows</a:t>
            </a:r>
          </a:p>
          <a:p>
            <a:pPr lvl="0"/>
            <a:r>
              <a:t>✅ Building reusable automation templates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Decision Framework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Use Custom Chat Modes When:</a:t>
            </a:r>
          </a:p>
          <a:p>
            <a:pPr lvl="0"/>
            <a:r>
              <a:t>✅ Need specialized domain expertise</a:t>
            </a:r>
          </a:p>
          <a:p>
            <a:pPr lvl="0"/>
            <a:r>
              <a:t>✅ Want AI to act as specific professional role</a:t>
            </a:r>
          </a:p>
          <a:p>
            <a:pPr lvl="0"/>
            <a:r>
              <a:t>✅ Exploring problems from different perspectives</a:t>
            </a:r>
          </a:p>
          <a:p>
            <a:pPr lvl="0"/>
            <a:r>
              <a:t>✅ Learning or getting advice in specific areas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Combine Approaches When:</a:t>
            </a:r>
          </a:p>
          <a:p>
            <a:pPr lvl="0"/>
            <a:r>
              <a:t>✅ Building comprehensive AI-assisted workflows</a:t>
            </a:r>
          </a:p>
          <a:p>
            <a:pPr lvl="0"/>
            <a:r>
              <a:t>✅ Need both consistency AND specialization</a:t>
            </a:r>
          </a:p>
          <a:p>
            <a:pPr lvl="0"/>
            <a:r>
              <a:t>✅ Managing complex, multi-phase projects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Layered Integration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┌─────────────────────────────────────┐
│     Custom Chat Mode               │  ← Conversational Context
│  (Security Architect Persona)      │
├─────────────────────────────────────┤
│     Prompt Files                   │  ← Task Execution
│  (Security Audit Template)         │
├─────────────────────────────────────┤
│     Instruction Files              │  ← Base Behavior
│  (Security Standards, Coding Rules) │
└─────────────────────────────────────┘</a:t>
            </a:r>
          </a:p>
          <a:p>
            <a:pPr marL="0" lvl="0" indent="0">
              <a:buNone/>
            </a:pPr>
            <a:r>
              <a:rPr b="1"/>
              <a:t>Result</a:t>
            </a:r>
            <a:r>
              <a:t>: Specialized security expert using standardized processes with consistent quality standards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Real-World Integration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Scenario: Implementing User Authentication</a:t>
            </a:r>
          </a:p>
          <a:p>
            <a:pPr marL="342900" lvl="0" indent="-342900">
              <a:buAutoNum type="arabicPeriod"/>
            </a:pPr>
            <a:r>
              <a:rPr b="1"/>
              <a:t>Instruction Files</a:t>
            </a:r>
            <a:r>
              <a:t> provide:</a:t>
            </a:r>
          </a:p>
          <a:p>
            <a:pPr lvl="1"/>
            <a:r>
              <a:t>Security coding standards</a:t>
            </a:r>
          </a:p>
          <a:p>
            <a:pPr lvl="1"/>
            <a:r>
              <a:t>Testing requirements</a:t>
            </a:r>
          </a:p>
          <a:p>
            <a:pPr lvl="1"/>
            <a:r>
              <a:t>Documentation standards</a:t>
            </a:r>
          </a:p>
          <a:p>
            <a:pPr marL="342900" lvl="0" indent="-342900">
              <a:buAutoNum type="arabicPeriod"/>
            </a:pPr>
            <a:r>
              <a:rPr b="1"/>
              <a:t>Prompt File</a:t>
            </a:r>
            <a:r>
              <a:t> executes:</a:t>
            </a:r>
          </a:p>
          <a:p>
            <a:pPr lvl="1"/>
            <a:r>
              <a:t>“Implement OAuth2 Authentication System”</a:t>
            </a:r>
          </a:p>
          <a:p>
            <a:pPr lvl="1"/>
            <a:r>
              <a:t>Step-by-step implementation guide</a:t>
            </a:r>
          </a:p>
          <a:p>
            <a:pPr marL="342900" lvl="0" indent="-342900">
              <a:buAutoNum type="arabicPeriod"/>
            </a:pPr>
            <a:r>
              <a:rPr b="1"/>
              <a:t>Custom Chat Mode</a:t>
            </a:r>
            <a:r>
              <a:t> offers:</a:t>
            </a:r>
          </a:p>
          <a:p>
            <a:pPr lvl="1"/>
            <a:r>
              <a:t>Security Architect expertise</a:t>
            </a:r>
          </a:p>
          <a:p>
            <a:pPr lvl="1"/>
            <a:r>
              <a:t>Best practice recommendations</a:t>
            </a:r>
          </a:p>
          <a:p>
            <a:pPr lvl="1"/>
            <a:r>
              <a:t>Threat modeling insights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Getting Started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Phase 1: Foundation (Week 1)</a:t>
            </a:r>
          </a:p>
          <a:p>
            <a:pPr lvl="0"/>
            <a:r>
              <a:t>☐ Create core instruction files for your tech stack</a:t>
            </a:r>
          </a:p>
          <a:p>
            <a:pPr lvl="0"/>
            <a:r>
              <a:t>☐ Establish coding standards and quality gates</a:t>
            </a:r>
          </a:p>
          <a:p>
            <a:pPr lvl="0"/>
            <a:r>
              <a:t>☐ Define security and compliance requirements</a:t>
            </a:r>
          </a:p>
          <a:p>
            <a:pPr lvl="0"/>
            <a:r>
              <a:t>☐ Test instruction file effectiveness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Phase 2: Automation (Week 2-3)</a:t>
            </a:r>
          </a:p>
          <a:p>
            <a:pPr lvl="0"/>
            <a:r>
              <a:t>☐ Identify repeatable development tasks</a:t>
            </a:r>
          </a:p>
          <a:p>
            <a:pPr lvl="0"/>
            <a:r>
              <a:t>☐ Create prompt files for common workflows</a:t>
            </a:r>
          </a:p>
          <a:p>
            <a:pPr lvl="0"/>
            <a:r>
              <a:t>☐ Build task-specific execution templates</a:t>
            </a:r>
          </a:p>
          <a:p>
            <a:pPr lvl="0"/>
            <a:r>
              <a:t>☐ Validate prompt file outputs</a:t>
            </a: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Getting Started Checklist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Phase 3: Specialization (Week 3-4)</a:t>
            </a:r>
          </a:p>
          <a:p>
            <a:pPr lvl="0"/>
            <a:r>
              <a:t>☐ Identify domain expertise needs</a:t>
            </a:r>
          </a:p>
          <a:p>
            <a:pPr lvl="0"/>
            <a:r>
              <a:t>☐ Create custom chat modes for key roles</a:t>
            </a:r>
          </a:p>
          <a:p>
            <a:pPr lvl="0"/>
            <a:r>
              <a:t>☐ Test conversational effectiveness</a:t>
            </a:r>
          </a:p>
          <a:p>
            <a:pPr lvl="0"/>
            <a:r>
              <a:t>☐ Document mode usage guidelines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Phase 4: Integration (Week 4+)</a:t>
            </a:r>
          </a:p>
          <a:p>
            <a:pPr lvl="0"/>
            <a:r>
              <a:t>☐ Combine approaches for complex workflows</a:t>
            </a:r>
          </a:p>
          <a:p>
            <a:pPr lvl="0"/>
            <a:r>
              <a:t>☐ Establish team usage standards</a:t>
            </a:r>
          </a:p>
          <a:p>
            <a:pPr lvl="0"/>
            <a:r>
              <a:t>☐ Create training materials</a:t>
            </a:r>
          </a:p>
          <a:p>
            <a:pPr lvl="0"/>
            <a:r>
              <a:t>☐ Monitor and iterate on effectiveness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Summary: Three Complementary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🏗️ Instruction Files</a:t>
            </a:r>
          </a:p>
          <a:p>
            <a:pPr marL="0" lvl="0" indent="0">
              <a:buNone/>
            </a:pPr>
            <a:r>
              <a:t>Foundation layer that ensures </a:t>
            </a:r>
            <a:r>
              <a:rPr b="1"/>
              <a:t>consistent, quality AI behavior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⚡ Prompt Files</a:t>
            </a:r>
          </a:p>
          <a:p>
            <a:pPr marL="0" lvl="0" indent="0">
              <a:buNone/>
            </a:pPr>
            <a:r>
              <a:t>Execution layer that provides </a:t>
            </a:r>
            <a:r>
              <a:rPr b="1"/>
              <a:t>repeatable, structured task automation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🎯 Custom Chat Modes</a:t>
            </a:r>
          </a:p>
          <a:p>
            <a:pPr marL="0" lvl="0" indent="0">
              <a:buNone/>
            </a:pPr>
            <a:r>
              <a:t>Expertise layer that delivers </a:t>
            </a:r>
            <a:r>
              <a:rPr b="1"/>
              <a:t>specialized knowledge and perspectives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The Integration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When Used Together:</a:t>
            </a:r>
          </a:p>
          <a:p>
            <a:pPr lvl="0"/>
            <a:r>
              <a:rPr b="1"/>
              <a:t>Higher Quality</a:t>
            </a:r>
            <a:r>
              <a:t>: Consistent standards + structured execution + expert knowledge</a:t>
            </a:r>
          </a:p>
          <a:p>
            <a:pPr lvl="0"/>
            <a:r>
              <a:rPr b="1"/>
              <a:t>Greater Efficiency</a:t>
            </a:r>
            <a:r>
              <a:t>: Automated workflows with specialized guidance</a:t>
            </a:r>
          </a:p>
          <a:p>
            <a:pPr lvl="0"/>
            <a:r>
              <a:rPr b="1"/>
              <a:t>Better Outcomes</a:t>
            </a:r>
            <a:r>
              <a:t>: Comprehensive approach covers all development aspects</a:t>
            </a:r>
          </a:p>
          <a:p>
            <a:pPr lvl="0"/>
            <a:r>
              <a:rPr b="1"/>
              <a:t>Reduced Risk</a:t>
            </a:r>
            <a:r>
              <a:t>: Multiple layers of validation and expertise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Result: AI becomes a true development partner, not just a code generator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Resources &amp;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Implementation Templates:</a:t>
            </a:r>
          </a:p>
          <a:p>
            <a:pPr lvl="0"/>
            <a:r>
              <a:rPr b="1"/>
              <a:t>Instruction Files</a:t>
            </a:r>
            <a:r>
              <a:t>: </a:t>
            </a:r>
            <a:r>
              <a:rPr>
                <a:latin typeface="Courier"/>
              </a:rPr>
              <a:t>.github/instructions/*.instructions.md</a:t>
            </a:r>
          </a:p>
          <a:p>
            <a:pPr lvl="0"/>
            <a:r>
              <a:rPr b="1"/>
              <a:t>Prompt Files</a:t>
            </a:r>
            <a:r>
              <a:t>: </a:t>
            </a:r>
            <a:r>
              <a:rPr>
                <a:latin typeface="Courier"/>
              </a:rPr>
              <a:t>.github/prompts/*.prompt.md</a:t>
            </a:r>
          </a:p>
          <a:p>
            <a:pPr lvl="0"/>
            <a:r>
              <a:rPr b="1"/>
              <a:t>Chat Mode Configs</a:t>
            </a:r>
            <a:r>
              <a:t>: Custom mode documentation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Documentation:</a:t>
            </a:r>
          </a:p>
          <a:p>
            <a:pPr lvl="0"/>
            <a:r>
              <a:t>AI-Assisted Output Instructions</a:t>
            </a:r>
          </a:p>
          <a:p>
            <a:pPr lvl="0"/>
            <a:r>
              <a:t>Copilot Integration Guidelines</a:t>
            </a:r>
          </a:p>
          <a:p>
            <a:pPr lvl="0"/>
            <a:r>
              <a:t>Best Practices Repository</a:t>
            </a:r>
          </a:p>
          <a:p>
            <a:pPr marL="0" lvl="0" indent="0">
              <a:buNone/>
            </a:pPr>
            <a:r>
              <a:rPr b="1"/>
              <a:t>Contact</a:t>
            </a:r>
            <a:r>
              <a:t>: john.miller@codestaffing.com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Questions &amp;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Key Discussion Points:</a:t>
            </a:r>
          </a:p>
          <a:p>
            <a:pPr lvl="0"/>
            <a:r>
              <a:t>Which approach resonates most with your current workflow?</a:t>
            </a:r>
          </a:p>
          <a:p>
            <a:pPr lvl="0"/>
            <a:r>
              <a:t>What specific instruction files would benefit your team?</a:t>
            </a:r>
          </a:p>
          <a:p>
            <a:pPr lvl="0"/>
            <a:r>
              <a:t>What repetitive tasks could be converted to prompt files?</a:t>
            </a:r>
          </a:p>
          <a:p>
            <a:pPr lvl="0"/>
            <a:r>
              <a:t>What domain expertise would be valuable as chat modes?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Next Steps: Choose one approach to pilot in your next project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ODE Training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DEA5D72-37B1-4E22-BDC4-A589D83B7646}" vid="{DD254BF8-1D5F-4196-AA68-4DB20BF61A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jMM CODE Training Slide Template</Template>
  <TotalTime>9</TotalTime>
  <Words>985</Words>
  <Application>Microsoft Office PowerPoint</Application>
  <PresentationFormat>On-screen Show (16:9)</PresentationFormat>
  <Paragraphs>156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Courier</vt:lpstr>
      <vt:lpstr>Noto Sans</vt:lpstr>
      <vt:lpstr>Victor Mono</vt:lpstr>
      <vt:lpstr>CODE Training</vt:lpstr>
      <vt:lpstr>AI-Assisted Development Approaches</vt:lpstr>
      <vt:lpstr>Instruction Files vs Prompt Files vs Custom Chat Modes</vt:lpstr>
      <vt:lpstr>Agenda</vt:lpstr>
      <vt:lpstr>AI Development Approaches Overview</vt:lpstr>
      <vt:lpstr>What Are Custom Chat Modes?</vt:lpstr>
      <vt:lpstr>Custom Chat Mode Examples</vt:lpstr>
      <vt:lpstr>Custom Chat Modes: Use Cases</vt:lpstr>
      <vt:lpstr>Comparison Matrix</vt:lpstr>
      <vt:lpstr>Execution Timeline</vt:lpstr>
      <vt:lpstr>Decision Framework</vt:lpstr>
      <vt:lpstr>Decision Framework (Continued)</vt:lpstr>
      <vt:lpstr>Layered Integration Approach</vt:lpstr>
      <vt:lpstr>Real-World Integration Example</vt:lpstr>
      <vt:lpstr>Getting Started Checklist</vt:lpstr>
      <vt:lpstr>Getting Started Checklist (Continued)</vt:lpstr>
      <vt:lpstr>Summary: Three Complementary Approaches</vt:lpstr>
      <vt:lpstr>The Integration Advantage</vt:lpstr>
      <vt:lpstr>Resources &amp; References</vt:lpstr>
      <vt:lpstr>Questions &amp; Discussion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John Miller</cp:lastModifiedBy>
  <cp:revision>2</cp:revision>
  <dcterms:created xsi:type="dcterms:W3CDTF">2025-10-24T13:56:56Z</dcterms:created>
  <dcterms:modified xsi:type="dcterms:W3CDTF">2026-03-06T18:02:06Z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ackgroundColor">
    <vt:lpwstr/>
  </property>
  <property fmtid="{D5CDD505-2E9C-101B-9397-08002B2CF9AE}" pid="3" name="backgroundImage">
    <vt:lpwstr>url(‘https://marp.app/assets/hero-background.svg’)</vt:lpwstr>
  </property>
  <property fmtid="{D5CDD505-2E9C-101B-9397-08002B2CF9AE}" pid="4" name="class">
    <vt:lpwstr>lead</vt:lpwstr>
  </property>
  <property fmtid="{D5CDD505-2E9C-101B-9397-08002B2CF9AE}" pid="5" name="marp">
    <vt:lpwstr>True</vt:lpwstr>
  </property>
  <property fmtid="{D5CDD505-2E9C-101B-9397-08002B2CF9AE}" pid="6" name="paginate">
    <vt:lpwstr>True</vt:lpwstr>
  </property>
  <property fmtid="{D5CDD505-2E9C-101B-9397-08002B2CF9AE}" pid="7" name="theme">
    <vt:lpwstr>default</vt:lpwstr>
  </property>
</Properties>
</file>