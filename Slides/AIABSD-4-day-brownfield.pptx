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1"/>
  </p:notesMasterIdLst>
  <p:sldIdLst>
    <p:sldId id="256" r:id="rId2"/>
    <p:sldId id="257" r:id="rId3"/>
    <p:sldId id="358" r:id="rId4"/>
    <p:sldId id="260" r:id="rId5"/>
    <p:sldId id="462" r:id="rId6"/>
    <p:sldId id="360" r:id="rId7"/>
    <p:sldId id="361" r:id="rId8"/>
    <p:sldId id="362" r:id="rId9"/>
    <p:sldId id="363" r:id="rId10"/>
    <p:sldId id="364" r:id="rId11"/>
    <p:sldId id="365" r:id="rId12"/>
    <p:sldId id="463" r:id="rId13"/>
    <p:sldId id="366" r:id="rId14"/>
    <p:sldId id="367" r:id="rId15"/>
    <p:sldId id="368" r:id="rId16"/>
    <p:sldId id="369" r:id="rId17"/>
    <p:sldId id="370" r:id="rId18"/>
    <p:sldId id="371" r:id="rId19"/>
    <p:sldId id="372" r:id="rId20"/>
    <p:sldId id="464" r:id="rId21"/>
    <p:sldId id="373" r:id="rId22"/>
    <p:sldId id="374" r:id="rId23"/>
    <p:sldId id="375" r:id="rId24"/>
    <p:sldId id="376" r:id="rId25"/>
    <p:sldId id="377" r:id="rId26"/>
    <p:sldId id="465" r:id="rId27"/>
    <p:sldId id="378" r:id="rId28"/>
    <p:sldId id="258" r:id="rId29"/>
    <p:sldId id="259" r:id="rId30"/>
    <p:sldId id="379" r:id="rId31"/>
    <p:sldId id="380" r:id="rId32"/>
    <p:sldId id="381" r:id="rId33"/>
    <p:sldId id="382" r:id="rId34"/>
    <p:sldId id="383" r:id="rId35"/>
    <p:sldId id="261" r:id="rId36"/>
    <p:sldId id="262" r:id="rId37"/>
    <p:sldId id="263" r:id="rId38"/>
    <p:sldId id="466" r:id="rId39"/>
    <p:sldId id="384" r:id="rId40"/>
    <p:sldId id="385" r:id="rId41"/>
    <p:sldId id="386" r:id="rId42"/>
    <p:sldId id="387" r:id="rId43"/>
    <p:sldId id="388" r:id="rId44"/>
    <p:sldId id="389" r:id="rId45"/>
    <p:sldId id="390" r:id="rId46"/>
    <p:sldId id="264" r:id="rId47"/>
    <p:sldId id="265" r:id="rId48"/>
    <p:sldId id="266" r:id="rId49"/>
    <p:sldId id="267" r:id="rId50"/>
    <p:sldId id="467" r:id="rId51"/>
    <p:sldId id="392" r:id="rId52"/>
    <p:sldId id="393" r:id="rId53"/>
    <p:sldId id="394" r:id="rId54"/>
    <p:sldId id="395" r:id="rId55"/>
    <p:sldId id="396" r:id="rId56"/>
    <p:sldId id="397" r:id="rId57"/>
    <p:sldId id="398" r:id="rId58"/>
    <p:sldId id="399" r:id="rId59"/>
    <p:sldId id="400" r:id="rId60"/>
    <p:sldId id="401" r:id="rId61"/>
    <p:sldId id="402" r:id="rId62"/>
    <p:sldId id="468" r:id="rId63"/>
    <p:sldId id="403" r:id="rId64"/>
    <p:sldId id="404" r:id="rId65"/>
    <p:sldId id="405" r:id="rId66"/>
    <p:sldId id="406" r:id="rId67"/>
    <p:sldId id="469" r:id="rId68"/>
    <p:sldId id="407" r:id="rId69"/>
    <p:sldId id="408" r:id="rId70"/>
    <p:sldId id="409" r:id="rId71"/>
    <p:sldId id="410" r:id="rId72"/>
    <p:sldId id="411" r:id="rId73"/>
    <p:sldId id="412" r:id="rId74"/>
    <p:sldId id="470" r:id="rId75"/>
    <p:sldId id="422" r:id="rId76"/>
    <p:sldId id="423" r:id="rId77"/>
    <p:sldId id="424" r:id="rId78"/>
    <p:sldId id="425" r:id="rId79"/>
    <p:sldId id="426" r:id="rId80"/>
    <p:sldId id="427" r:id="rId81"/>
    <p:sldId id="471" r:id="rId82"/>
    <p:sldId id="428" r:id="rId83"/>
    <p:sldId id="429" r:id="rId84"/>
    <p:sldId id="430" r:id="rId85"/>
    <p:sldId id="431" r:id="rId86"/>
    <p:sldId id="432" r:id="rId87"/>
    <p:sldId id="433" r:id="rId88"/>
    <p:sldId id="472" r:id="rId89"/>
    <p:sldId id="434" r:id="rId90"/>
    <p:sldId id="435" r:id="rId91"/>
    <p:sldId id="436" r:id="rId92"/>
    <p:sldId id="437" r:id="rId93"/>
    <p:sldId id="438" r:id="rId94"/>
    <p:sldId id="439" r:id="rId95"/>
    <p:sldId id="473" r:id="rId96"/>
    <p:sldId id="440" r:id="rId97"/>
    <p:sldId id="441" r:id="rId98"/>
    <p:sldId id="442" r:id="rId99"/>
    <p:sldId id="443" r:id="rId100"/>
    <p:sldId id="444" r:id="rId101"/>
    <p:sldId id="445" r:id="rId102"/>
    <p:sldId id="446" r:id="rId103"/>
    <p:sldId id="474" r:id="rId104"/>
    <p:sldId id="447" r:id="rId105"/>
    <p:sldId id="448" r:id="rId106"/>
    <p:sldId id="449" r:id="rId107"/>
    <p:sldId id="450" r:id="rId108"/>
    <p:sldId id="451" r:id="rId109"/>
    <p:sldId id="452" r:id="rId110"/>
    <p:sldId id="453" r:id="rId111"/>
    <p:sldId id="475" r:id="rId112"/>
    <p:sldId id="454" r:id="rId113"/>
    <p:sldId id="455" r:id="rId114"/>
    <p:sldId id="456" r:id="rId115"/>
    <p:sldId id="457" r:id="rId116"/>
    <p:sldId id="458" r:id="rId117"/>
    <p:sldId id="459" r:id="rId118"/>
    <p:sldId id="460" r:id="rId119"/>
    <p:sldId id="461" r:id="rId1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92EBF5-0CA4-4ED7-ABAD-96615AF58E49}">
          <p14:sldIdLst/>
        </p14:section>
        <p14:section name="Intro" id="{889303EE-8941-401D-83E7-686CC0CA1906}">
          <p14:sldIdLst>
            <p14:sldId id="256"/>
            <p14:sldId id="257"/>
            <p14:sldId id="358"/>
            <p14:sldId id="260"/>
          </p14:sldIdLst>
        </p14:section>
        <p14:section name="Evergreen" id="{AFD3C0C2-169C-4657-88A9-3F3080FB0A33}">
          <p14:sldIdLst>
            <p14:sldId id="462"/>
            <p14:sldId id="360"/>
            <p14:sldId id="361"/>
            <p14:sldId id="362"/>
            <p14:sldId id="363"/>
            <p14:sldId id="364"/>
            <p14:sldId id="365"/>
            <p14:sldId id="463"/>
            <p14:sldId id="366"/>
            <p14:sldId id="367"/>
            <p14:sldId id="368"/>
            <p14:sldId id="369"/>
            <p14:sldId id="370"/>
            <p14:sldId id="371"/>
            <p14:sldId id="372"/>
            <p14:sldId id="464"/>
            <p14:sldId id="373"/>
            <p14:sldId id="374"/>
            <p14:sldId id="375"/>
            <p14:sldId id="376"/>
            <p14:sldId id="377"/>
          </p14:sldIdLst>
        </p14:section>
        <p14:section name="Module 2 - Copilot for Teams" id="{DE5C73BD-6438-4DCA-9BC7-DA208EAC31FF}">
          <p14:sldIdLst>
            <p14:sldId id="465"/>
            <p14:sldId id="378"/>
            <p14:sldId id="258"/>
            <p14:sldId id="259"/>
            <p14:sldId id="379"/>
            <p14:sldId id="380"/>
            <p14:sldId id="381"/>
            <p14:sldId id="382"/>
            <p14:sldId id="383"/>
            <p14:sldId id="261"/>
            <p14:sldId id="262"/>
            <p14:sldId id="263"/>
            <p14:sldId id="466"/>
            <p14:sldId id="384"/>
            <p14:sldId id="385"/>
            <p14:sldId id="386"/>
            <p14:sldId id="387"/>
            <p14:sldId id="388"/>
            <p14:sldId id="389"/>
            <p14:sldId id="390"/>
            <p14:sldId id="264"/>
            <p14:sldId id="265"/>
            <p14:sldId id="266"/>
            <p14:sldId id="267"/>
          </p14:sldIdLst>
        </p14:section>
        <p14:section name="Module 3 - Intro to Copilot" id="{D4B84A6B-4CCF-4925-9268-AC537DADB594}">
          <p14:sldIdLst>
            <p14:sldId id="467"/>
            <p14:sldId id="392"/>
            <p14:sldId id="393"/>
            <p14:sldId id="394"/>
            <p14:sldId id="395"/>
            <p14:sldId id="396"/>
            <p14:sldId id="397"/>
            <p14:sldId id="398"/>
            <p14:sldId id="399"/>
            <p14:sldId id="400"/>
            <p14:sldId id="401"/>
            <p14:sldId id="402"/>
          </p14:sldIdLst>
        </p14:section>
        <p14:section name="Module 4 - Mobbing" id="{E1B29615-8B71-43FF-BFE5-7C3104E0A3FC}">
          <p14:sldIdLst>
            <p14:sldId id="468"/>
            <p14:sldId id="403"/>
            <p14:sldId id="404"/>
            <p14:sldId id="405"/>
            <p14:sldId id="406"/>
          </p14:sldIdLst>
        </p14:section>
        <p14:section name="Module 5 - Vibbing" id="{00BC05B0-1DB3-4C65-B36D-19AAF79B9D97}">
          <p14:sldIdLst>
            <p14:sldId id="469"/>
            <p14:sldId id="407"/>
            <p14:sldId id="408"/>
            <p14:sldId id="409"/>
            <p14:sldId id="410"/>
            <p14:sldId id="411"/>
            <p14:sldId id="412"/>
            <p14:sldId id="470"/>
            <p14:sldId id="422"/>
            <p14:sldId id="423"/>
            <p14:sldId id="424"/>
            <p14:sldId id="425"/>
            <p14:sldId id="426"/>
            <p14:sldId id="427"/>
            <p14:sldId id="471"/>
            <p14:sldId id="428"/>
            <p14:sldId id="429"/>
            <p14:sldId id="430"/>
            <p14:sldId id="431"/>
            <p14:sldId id="432"/>
            <p14:sldId id="433"/>
            <p14:sldId id="472"/>
            <p14:sldId id="434"/>
            <p14:sldId id="435"/>
            <p14:sldId id="436"/>
            <p14:sldId id="437"/>
            <p14:sldId id="438"/>
            <p14:sldId id="439"/>
            <p14:sldId id="473"/>
            <p14:sldId id="440"/>
            <p14:sldId id="441"/>
            <p14:sldId id="442"/>
            <p14:sldId id="443"/>
            <p14:sldId id="444"/>
            <p14:sldId id="445"/>
            <p14:sldId id="446"/>
            <p14:sldId id="474"/>
            <p14:sldId id="447"/>
            <p14:sldId id="448"/>
            <p14:sldId id="449"/>
            <p14:sldId id="450"/>
            <p14:sldId id="451"/>
            <p14:sldId id="452"/>
            <p14:sldId id="453"/>
            <p14:sldId id="475"/>
            <p14:sldId id="454"/>
            <p14:sldId id="455"/>
            <p14:sldId id="456"/>
            <p14:sldId id="457"/>
            <p14:sldId id="458"/>
            <p14:sldId id="459"/>
            <p14:sldId id="460"/>
            <p14:sldId id="461"/>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8" autoAdjust="0"/>
    <p:restoredTop sz="69468" autoAdjust="0"/>
  </p:normalViewPr>
  <p:slideViewPr>
    <p:cSldViewPr snapToGrid="0" snapToObjects="1">
      <p:cViewPr varScale="1">
        <p:scale>
          <a:sx n="160" d="100"/>
          <a:sy n="160" d="100"/>
        </p:scale>
        <p:origin x="868"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 Staffing</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a:t>Played roles of developer, architect, devops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a:t>Email: john.miller@codestaffing.com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a:t>Blog: https://codemag.com/blog/AIPractitioner</a:t>
          </a:r>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6"/>
          </a:fillRef>
          <a:effectRef idx="1">
            <a:schemeClr val="accent6"/>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C1A678-C6C8-4718-B5AC-67032F5750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5EEE61-265D-4924-A7E3-D421782E3B5A}">
      <dgm:prSet/>
      <dgm:spPr/>
      <dgm:t>
        <a:bodyPr/>
        <a:lstStyle/>
        <a:p>
          <a:r>
            <a:rPr lang="en-US" b="1" dirty="0"/>
            <a:t>Course Objective</a:t>
          </a:r>
          <a:r>
            <a:rPr lang="en-US" dirty="0"/>
            <a:t>: Understand how to manipulate Copilot into successfully modifying legacy codebases</a:t>
          </a:r>
        </a:p>
      </dgm:t>
    </dgm:pt>
    <dgm:pt modelId="{0344EF43-DA0D-494B-92A7-D34C0E46EB91}" type="parTrans" cxnId="{72A6F029-C91B-4BFB-B3BB-A070DB053FF8}">
      <dgm:prSet/>
      <dgm:spPr/>
      <dgm:t>
        <a:bodyPr/>
        <a:lstStyle/>
        <a:p>
          <a:endParaRPr lang="en-US"/>
        </a:p>
      </dgm:t>
    </dgm:pt>
    <dgm:pt modelId="{F9392CF0-8E08-4A82-BFDD-4983548ABCB2}" type="sibTrans" cxnId="{72A6F029-C91B-4BFB-B3BB-A070DB053FF8}">
      <dgm:prSet/>
      <dgm:spPr/>
      <dgm:t>
        <a:bodyPr/>
        <a:lstStyle/>
        <a:p>
          <a:endParaRPr lang="en-US"/>
        </a:p>
      </dgm:t>
    </dgm:pt>
    <dgm:pt modelId="{BC6A34C2-AD6A-43A0-A485-6AEA74F6B1CF}">
      <dgm:prSet/>
      <dgm:spPr/>
      <dgm:t>
        <a:bodyPr/>
        <a:lstStyle/>
        <a:p>
          <a:r>
            <a:rPr lang="en-US" b="1" dirty="0"/>
            <a:t>Course Perspective</a:t>
          </a:r>
          <a:r>
            <a:rPr lang="en-US" dirty="0"/>
            <a:t>: Focus on AI assistance and assisting AI in developing software</a:t>
          </a:r>
        </a:p>
      </dgm:t>
    </dgm:pt>
    <dgm:pt modelId="{DAB23AF1-78D1-4436-AC54-B63FEEEADCF9}" type="parTrans" cxnId="{81FBB09A-DCFC-4352-8835-EC00B098D369}">
      <dgm:prSet/>
      <dgm:spPr/>
      <dgm:t>
        <a:bodyPr/>
        <a:lstStyle/>
        <a:p>
          <a:endParaRPr lang="en-US"/>
        </a:p>
      </dgm:t>
    </dgm:pt>
    <dgm:pt modelId="{DE52E6DA-4793-486E-988C-803FFD16495C}" type="sibTrans" cxnId="{81FBB09A-DCFC-4352-8835-EC00B098D369}">
      <dgm:prSet/>
      <dgm:spPr/>
      <dgm:t>
        <a:bodyPr/>
        <a:lstStyle/>
        <a:p>
          <a:endParaRPr lang="en-US"/>
        </a:p>
      </dgm:t>
    </dgm:pt>
    <dgm:pt modelId="{C1D16D01-4D15-449A-9D8F-AC4A90EE6F92}">
      <dgm:prSet/>
      <dgm:spPr/>
      <dgm:t>
        <a:bodyPr/>
        <a:lstStyle/>
        <a:p>
          <a:r>
            <a:rPr lang="en-US" dirty="0">
              <a:solidFill>
                <a:schemeClr val="bg1"/>
              </a:solidFill>
            </a:rPr>
            <a:t>Less emphasis on syntax</a:t>
          </a:r>
        </a:p>
      </dgm:t>
    </dgm:pt>
    <dgm:pt modelId="{0FD0140B-4CF2-45B6-A57D-30F241B24299}" type="parTrans" cxnId="{BF60B0FD-BF86-44FB-A758-130CCF4B66C0}">
      <dgm:prSet/>
      <dgm:spPr/>
      <dgm:t>
        <a:bodyPr/>
        <a:lstStyle/>
        <a:p>
          <a:endParaRPr lang="en-US"/>
        </a:p>
      </dgm:t>
    </dgm:pt>
    <dgm:pt modelId="{6650D574-0CF3-4011-A410-2834B9FE0937}" type="sibTrans" cxnId="{BF60B0FD-BF86-44FB-A758-130CCF4B66C0}">
      <dgm:prSet/>
      <dgm:spPr/>
      <dgm:t>
        <a:bodyPr/>
        <a:lstStyle/>
        <a:p>
          <a:endParaRPr lang="en-US"/>
        </a:p>
      </dgm:t>
    </dgm:pt>
    <dgm:pt modelId="{7DC65B01-47AE-4538-BF6D-E2197E069E2D}">
      <dgm:prSet/>
      <dgm:spPr/>
      <dgm:t>
        <a:bodyPr/>
        <a:lstStyle/>
        <a:p>
          <a:r>
            <a:rPr lang="en-US" dirty="0">
              <a:solidFill>
                <a:schemeClr val="bg1"/>
              </a:solidFill>
            </a:rPr>
            <a:t>More emphasis on architecture, design, code quality, refactoring</a:t>
          </a:r>
        </a:p>
      </dgm:t>
    </dgm:pt>
    <dgm:pt modelId="{20069670-89FE-4DB4-87AC-9B2140CE8E5B}" type="parTrans" cxnId="{8BBCD18D-7DE7-4CC5-A9B6-7D8E9EB94985}">
      <dgm:prSet/>
      <dgm:spPr/>
      <dgm:t>
        <a:bodyPr/>
        <a:lstStyle/>
        <a:p>
          <a:endParaRPr lang="en-US"/>
        </a:p>
      </dgm:t>
    </dgm:pt>
    <dgm:pt modelId="{127EEB94-8982-4CD6-86D2-9424C75854C1}" type="sibTrans" cxnId="{8BBCD18D-7DE7-4CC5-A9B6-7D8E9EB94985}">
      <dgm:prSet/>
      <dgm:spPr/>
      <dgm:t>
        <a:bodyPr/>
        <a:lstStyle/>
        <a:p>
          <a:endParaRPr lang="en-US"/>
        </a:p>
      </dgm:t>
    </dgm:pt>
    <dgm:pt modelId="{B4875A2D-0BC2-446E-BB58-07B6DBFBB703}">
      <dgm:prSet/>
      <dgm:spPr/>
      <dgm:t>
        <a:bodyPr/>
        <a:lstStyle/>
        <a:p>
          <a:r>
            <a:rPr lang="en-US" dirty="0">
              <a:solidFill>
                <a:schemeClr val="bg1"/>
              </a:solidFill>
            </a:rPr>
            <a:t>Moving faster with less risk</a:t>
          </a:r>
        </a:p>
      </dgm:t>
    </dgm:pt>
    <dgm:pt modelId="{4AA1F280-40A8-43C5-B291-433867E8F0F6}" type="parTrans" cxnId="{6328CEA1-AD5A-424C-B2B4-EDE77D938DAD}">
      <dgm:prSet/>
      <dgm:spPr/>
      <dgm:t>
        <a:bodyPr/>
        <a:lstStyle/>
        <a:p>
          <a:endParaRPr lang="en-US"/>
        </a:p>
      </dgm:t>
    </dgm:pt>
    <dgm:pt modelId="{08D7FD3C-7D99-4D9B-B992-CACBF64F6184}" type="sibTrans" cxnId="{6328CEA1-AD5A-424C-B2B4-EDE77D938DAD}">
      <dgm:prSet/>
      <dgm:spPr/>
      <dgm:t>
        <a:bodyPr/>
        <a:lstStyle/>
        <a:p>
          <a:endParaRPr lang="en-US"/>
        </a:p>
      </dgm:t>
    </dgm:pt>
    <dgm:pt modelId="{1BC0E1D9-20F3-4683-A37C-19B440B89514}" type="pres">
      <dgm:prSet presAssocID="{CFC1A678-C6C8-4718-B5AC-67032F57505E}" presName="linear" presStyleCnt="0">
        <dgm:presLayoutVars>
          <dgm:animLvl val="lvl"/>
          <dgm:resizeHandles val="exact"/>
        </dgm:presLayoutVars>
      </dgm:prSet>
      <dgm:spPr/>
    </dgm:pt>
    <dgm:pt modelId="{8006C1E5-7D9F-4FB2-8E23-1C6B7D6E626C}" type="pres">
      <dgm:prSet presAssocID="{615EEE61-265D-4924-A7E3-D421782E3B5A}" presName="parentText" presStyleLbl="node1" presStyleIdx="0" presStyleCnt="2">
        <dgm:presLayoutVars>
          <dgm:chMax val="0"/>
          <dgm:bulletEnabled val="1"/>
        </dgm:presLayoutVars>
      </dgm:prSet>
      <dgm:spPr/>
    </dgm:pt>
    <dgm:pt modelId="{33767991-828A-4DE1-AC63-1C13E71E0DA8}" type="pres">
      <dgm:prSet presAssocID="{F9392CF0-8E08-4A82-BFDD-4983548ABCB2}" presName="spacer" presStyleCnt="0"/>
      <dgm:spPr/>
    </dgm:pt>
    <dgm:pt modelId="{8CAB9C2A-1EF9-4F58-A298-88000800CAF9}" type="pres">
      <dgm:prSet presAssocID="{BC6A34C2-AD6A-43A0-A485-6AEA74F6B1CF}" presName="parentText" presStyleLbl="node1" presStyleIdx="1" presStyleCnt="2">
        <dgm:presLayoutVars>
          <dgm:chMax val="0"/>
          <dgm:bulletEnabled val="1"/>
        </dgm:presLayoutVars>
      </dgm:prSet>
      <dgm:spPr/>
    </dgm:pt>
    <dgm:pt modelId="{F7AA4163-5AFE-4B6B-8B25-5915AE771925}" type="pres">
      <dgm:prSet presAssocID="{BC6A34C2-AD6A-43A0-A485-6AEA74F6B1CF}" presName="childText" presStyleLbl="revTx" presStyleIdx="0" presStyleCnt="1">
        <dgm:presLayoutVars>
          <dgm:bulletEnabled val="1"/>
        </dgm:presLayoutVars>
      </dgm:prSet>
      <dgm:spPr/>
    </dgm:pt>
  </dgm:ptLst>
  <dgm:cxnLst>
    <dgm:cxn modelId="{72A6F029-C91B-4BFB-B3BB-A070DB053FF8}" srcId="{CFC1A678-C6C8-4718-B5AC-67032F57505E}" destId="{615EEE61-265D-4924-A7E3-D421782E3B5A}" srcOrd="0" destOrd="0" parTransId="{0344EF43-DA0D-494B-92A7-D34C0E46EB91}" sibTransId="{F9392CF0-8E08-4A82-BFDD-4983548ABCB2}"/>
    <dgm:cxn modelId="{F983AB2E-4F98-4C9A-AA23-AFB40268C418}" type="presOf" srcId="{B4875A2D-0BC2-446E-BB58-07B6DBFBB703}" destId="{F7AA4163-5AFE-4B6B-8B25-5915AE771925}" srcOrd="0" destOrd="2" presId="urn:microsoft.com/office/officeart/2005/8/layout/vList2"/>
    <dgm:cxn modelId="{9EC86E50-99EC-41AE-A339-26D8DE00D65F}" type="presOf" srcId="{C1D16D01-4D15-449A-9D8F-AC4A90EE6F92}" destId="{F7AA4163-5AFE-4B6B-8B25-5915AE771925}" srcOrd="0" destOrd="0" presId="urn:microsoft.com/office/officeart/2005/8/layout/vList2"/>
    <dgm:cxn modelId="{B0560882-C663-43E7-9400-BF33514C5421}" type="presOf" srcId="{7DC65B01-47AE-4538-BF6D-E2197E069E2D}" destId="{F7AA4163-5AFE-4B6B-8B25-5915AE771925}" srcOrd="0" destOrd="1" presId="urn:microsoft.com/office/officeart/2005/8/layout/vList2"/>
    <dgm:cxn modelId="{8BBCD18D-7DE7-4CC5-A9B6-7D8E9EB94985}" srcId="{BC6A34C2-AD6A-43A0-A485-6AEA74F6B1CF}" destId="{7DC65B01-47AE-4538-BF6D-E2197E069E2D}" srcOrd="1" destOrd="0" parTransId="{20069670-89FE-4DB4-87AC-9B2140CE8E5B}" sibTransId="{127EEB94-8982-4CD6-86D2-9424C75854C1}"/>
    <dgm:cxn modelId="{7CFC6F8E-AFEC-4133-A200-3554045E9FEB}" type="presOf" srcId="{BC6A34C2-AD6A-43A0-A485-6AEA74F6B1CF}" destId="{8CAB9C2A-1EF9-4F58-A298-88000800CAF9}" srcOrd="0" destOrd="0" presId="urn:microsoft.com/office/officeart/2005/8/layout/vList2"/>
    <dgm:cxn modelId="{81FBB09A-DCFC-4352-8835-EC00B098D369}" srcId="{CFC1A678-C6C8-4718-B5AC-67032F57505E}" destId="{BC6A34C2-AD6A-43A0-A485-6AEA74F6B1CF}" srcOrd="1" destOrd="0" parTransId="{DAB23AF1-78D1-4436-AC54-B63FEEEADCF9}" sibTransId="{DE52E6DA-4793-486E-988C-803FFD16495C}"/>
    <dgm:cxn modelId="{6328CEA1-AD5A-424C-B2B4-EDE77D938DAD}" srcId="{BC6A34C2-AD6A-43A0-A485-6AEA74F6B1CF}" destId="{B4875A2D-0BC2-446E-BB58-07B6DBFBB703}" srcOrd="2" destOrd="0" parTransId="{4AA1F280-40A8-43C5-B291-433867E8F0F6}" sibTransId="{08D7FD3C-7D99-4D9B-B992-CACBF64F6184}"/>
    <dgm:cxn modelId="{09949AAE-9FE8-440F-B23C-EDC7CA5D9EDF}" type="presOf" srcId="{615EEE61-265D-4924-A7E3-D421782E3B5A}" destId="{8006C1E5-7D9F-4FB2-8E23-1C6B7D6E626C}" srcOrd="0" destOrd="0" presId="urn:microsoft.com/office/officeart/2005/8/layout/vList2"/>
    <dgm:cxn modelId="{C7A156B4-A8E0-4155-8EB0-59D97FCC7F56}" type="presOf" srcId="{CFC1A678-C6C8-4718-B5AC-67032F57505E}" destId="{1BC0E1D9-20F3-4683-A37C-19B440B89514}" srcOrd="0" destOrd="0" presId="urn:microsoft.com/office/officeart/2005/8/layout/vList2"/>
    <dgm:cxn modelId="{BF60B0FD-BF86-44FB-A758-130CCF4B66C0}" srcId="{BC6A34C2-AD6A-43A0-A485-6AEA74F6B1CF}" destId="{C1D16D01-4D15-449A-9D8F-AC4A90EE6F92}" srcOrd="0" destOrd="0" parTransId="{0FD0140B-4CF2-45B6-A57D-30F241B24299}" sibTransId="{6650D574-0CF3-4011-A410-2834B9FE0937}"/>
    <dgm:cxn modelId="{B70A684E-87D2-4B16-BC94-6846964D9F7E}" type="presParOf" srcId="{1BC0E1D9-20F3-4683-A37C-19B440B89514}" destId="{8006C1E5-7D9F-4FB2-8E23-1C6B7D6E626C}" srcOrd="0" destOrd="0" presId="urn:microsoft.com/office/officeart/2005/8/layout/vList2"/>
    <dgm:cxn modelId="{FE851B29-0EB0-4EA1-8996-4404F3B437E9}" type="presParOf" srcId="{1BC0E1D9-20F3-4683-A37C-19B440B89514}" destId="{33767991-828A-4DE1-AC63-1C13E71E0DA8}" srcOrd="1" destOrd="0" presId="urn:microsoft.com/office/officeart/2005/8/layout/vList2"/>
    <dgm:cxn modelId="{B48ADB5B-1802-4C1D-8226-B8DB4F47A5B3}" type="presParOf" srcId="{1BC0E1D9-20F3-4683-A37C-19B440B89514}" destId="{8CAB9C2A-1EF9-4F58-A298-88000800CAF9}" srcOrd="2" destOrd="0" presId="urn:microsoft.com/office/officeart/2005/8/layout/vList2"/>
    <dgm:cxn modelId="{9B5F4839-EEF0-4F22-9E14-6749054552CD}" type="presParOf" srcId="{1BC0E1D9-20F3-4683-A37C-19B440B89514}" destId="{F7AA4163-5AFE-4B6B-8B25-5915AE7719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tyle>
          <a:lnRef idx="3">
            <a:schemeClr val="lt1"/>
          </a:lnRef>
          <a:fillRef idx="1">
            <a:schemeClr val="accent6"/>
          </a:fillRef>
          <a:effectRef idx="1">
            <a:schemeClr val="accent6"/>
          </a:effectRef>
          <a:fontRef idx="minor">
            <a:schemeClr val="lt1"/>
          </a:fontRef>
        </dgm:style>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tyle>
          <a:lnRef idx="3">
            <a:schemeClr val="lt1"/>
          </a:lnRef>
          <a:fillRef idx="1">
            <a:schemeClr val="accent6"/>
          </a:fillRef>
          <a:effectRef idx="1">
            <a:schemeClr val="accent6"/>
          </a:effectRef>
          <a:fontRef idx="minor">
            <a:schemeClr val="lt1"/>
          </a:fontRef>
        </dgm:style>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tyle>
          <a:lnRef idx="3">
            <a:schemeClr val="lt1"/>
          </a:lnRef>
          <a:fillRef idx="1">
            <a:schemeClr val="accent6"/>
          </a:fillRef>
          <a:effectRef idx="1">
            <a:schemeClr val="accent6"/>
          </a:effectRef>
          <a:fontRef idx="minor">
            <a:schemeClr val="lt1"/>
          </a:fontRef>
        </dgm:style>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tyle>
          <a:lnRef idx="3">
            <a:schemeClr val="lt1"/>
          </a:lnRef>
          <a:fillRef idx="1">
            <a:schemeClr val="accent6"/>
          </a:fillRef>
          <a:effectRef idx="1">
            <a:schemeClr val="accent6"/>
          </a:effectRef>
          <a:fontRef idx="minor">
            <a:schemeClr val="lt1"/>
          </a:fontRef>
        </dgm:style>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tyle>
          <a:lnRef idx="3">
            <a:schemeClr val="lt1"/>
          </a:lnRef>
          <a:fillRef idx="1">
            <a:schemeClr val="accent6"/>
          </a:fillRef>
          <a:effectRef idx="1">
            <a:schemeClr val="accent6"/>
          </a:effectRef>
          <a:fontRef idx="minor">
            <a:schemeClr val="lt1"/>
          </a:fontRef>
        </dgm:style>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tyle>
          <a:lnRef idx="3">
            <a:schemeClr val="lt1"/>
          </a:lnRef>
          <a:fillRef idx="1">
            <a:schemeClr val="accent6"/>
          </a:fillRef>
          <a:effectRef idx="1">
            <a:schemeClr val="accent6"/>
          </a:effectRef>
          <a:fontRef idx="minor">
            <a:schemeClr val="lt1"/>
          </a:fontRef>
        </dgm:style>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tyle>
          <a:lnRef idx="3">
            <a:schemeClr val="lt1"/>
          </a:lnRef>
          <a:fillRef idx="1">
            <a:schemeClr val="accent6"/>
          </a:fillRef>
          <a:effectRef idx="1">
            <a:schemeClr val="accent6"/>
          </a:effectRef>
          <a:fontRef idx="minor">
            <a:schemeClr val="lt1"/>
          </a:fontRef>
        </dgm:styl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tyle>
          <a:lnRef idx="3">
            <a:schemeClr val="lt1"/>
          </a:lnRef>
          <a:fillRef idx="1">
            <a:schemeClr val="accent6"/>
          </a:fillRef>
          <a:effectRef idx="1">
            <a:schemeClr val="accent6"/>
          </a:effectRef>
          <a:fontRef idx="minor">
            <a:schemeClr val="lt1"/>
          </a:fontRef>
        </dgm:styl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tyle>
          <a:lnRef idx="3">
            <a:schemeClr val="lt1"/>
          </a:lnRef>
          <a:fillRef idx="1">
            <a:schemeClr val="accent6"/>
          </a:fillRef>
          <a:effectRef idx="1">
            <a:schemeClr val="accent6"/>
          </a:effectRef>
          <a:fontRef idx="minor">
            <a:schemeClr val="lt1"/>
          </a:fontRef>
        </dgm:style>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tyle>
          <a:lnRef idx="3">
            <a:schemeClr val="lt1"/>
          </a:lnRef>
          <a:fillRef idx="1">
            <a:schemeClr val="accent6"/>
          </a:fillRef>
          <a:effectRef idx="1">
            <a:schemeClr val="accent6"/>
          </a:effectRef>
          <a:fontRef idx="minor">
            <a:schemeClr val="lt1"/>
          </a:fontRef>
        </dgm:style>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tyle>
          <a:lnRef idx="3">
            <a:schemeClr val="lt1"/>
          </a:lnRef>
          <a:fillRef idx="1">
            <a:schemeClr val="accent6"/>
          </a:fillRef>
          <a:effectRef idx="1">
            <a:schemeClr val="accent6"/>
          </a:effectRef>
          <a:fontRef idx="minor">
            <a:schemeClr val="lt1"/>
          </a:fontRef>
        </dgm:style>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tyle>
          <a:lnRef idx="3">
            <a:schemeClr val="lt1"/>
          </a:lnRef>
          <a:fillRef idx="1">
            <a:schemeClr val="accent6"/>
          </a:fillRef>
          <a:effectRef idx="1">
            <a:schemeClr val="accent6"/>
          </a:effectRef>
          <a:fontRef idx="minor">
            <a:schemeClr val="lt1"/>
          </a:fontRef>
        </dgm:style>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tyle>
          <a:lnRef idx="3">
            <a:schemeClr val="lt1"/>
          </a:lnRef>
          <a:fillRef idx="1">
            <a:schemeClr val="accent6"/>
          </a:fillRef>
          <a:effectRef idx="1">
            <a:schemeClr val="accent6"/>
          </a:effectRef>
          <a:fontRef idx="minor">
            <a:schemeClr val="lt1"/>
          </a:fontRef>
        </dgm:style>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tyle>
          <a:lnRef idx="3">
            <a:schemeClr val="lt1"/>
          </a:lnRef>
          <a:fillRef idx="1">
            <a:schemeClr val="accent6"/>
          </a:fillRef>
          <a:effectRef idx="1">
            <a:schemeClr val="accent6"/>
          </a:effectRef>
          <a:fontRef idx="minor">
            <a:schemeClr val="lt1"/>
          </a:fontRef>
        </dgm:style>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398"/>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991" y="210143"/>
          <a:ext cx="512711" cy="5127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6693" y="398"/>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 Staffing</a:t>
          </a:r>
        </a:p>
      </dsp:txBody>
      <dsp:txXfrm>
        <a:off x="1076693" y="398"/>
        <a:ext cx="6810006" cy="932202"/>
      </dsp:txXfrm>
    </dsp:sp>
    <dsp:sp modelId="{F7EF9AAE-6EA6-48BC-8CE6-E43A4019C779}">
      <dsp:nvSpPr>
        <dsp:cNvPr id="0" name=""/>
        <dsp:cNvSpPr/>
      </dsp:nvSpPr>
      <dsp:spPr>
        <a:xfrm>
          <a:off x="0" y="1165650"/>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991" y="1375396"/>
          <a:ext cx="512711" cy="5127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6693" y="1165650"/>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Played roles of developer, architect, devops engineer, platform engineer, test architect, release manager</a:t>
          </a:r>
        </a:p>
      </dsp:txBody>
      <dsp:txXfrm>
        <a:off x="1076693" y="1165650"/>
        <a:ext cx="6810006" cy="932202"/>
      </dsp:txXfrm>
    </dsp:sp>
    <dsp:sp modelId="{1F150B33-5B01-41D7-B34B-31321D5314B8}">
      <dsp:nvSpPr>
        <dsp:cNvPr id="0" name=""/>
        <dsp:cNvSpPr/>
      </dsp:nvSpPr>
      <dsp:spPr>
        <a:xfrm>
          <a:off x="0" y="2330903"/>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991" y="2540649"/>
          <a:ext cx="512711" cy="5127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6693" y="2330903"/>
          <a:ext cx="3549015"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AI/ML Enthusiast and advocate for Effectively using AI to write code</a:t>
          </a:r>
        </a:p>
      </dsp:txBody>
      <dsp:txXfrm>
        <a:off x="1076693" y="2330903"/>
        <a:ext cx="3549015" cy="932202"/>
      </dsp:txXfrm>
    </dsp:sp>
    <dsp:sp modelId="{D3707FF8-46B5-4898-83C6-BFB962BB255D}">
      <dsp:nvSpPr>
        <dsp:cNvPr id="0" name=""/>
        <dsp:cNvSpPr/>
      </dsp:nvSpPr>
      <dsp:spPr>
        <a:xfrm>
          <a:off x="4625708" y="2330903"/>
          <a:ext cx="3260991"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488950">
            <a:lnSpc>
              <a:spcPct val="90000"/>
            </a:lnSpc>
            <a:spcBef>
              <a:spcPct val="0"/>
            </a:spcBef>
            <a:spcAft>
              <a:spcPct val="35000"/>
            </a:spcAft>
            <a:buNone/>
          </a:pPr>
          <a:r>
            <a:rPr lang="en-US" sz="1100" kern="1200"/>
            <a:t>LinkedIn: www.linkedin.com/in/johnmichaelmiller</a:t>
          </a:r>
        </a:p>
        <a:p>
          <a:pPr marL="0" lvl="0" indent="0" algn="l" defTabSz="488950">
            <a:lnSpc>
              <a:spcPct val="90000"/>
            </a:lnSpc>
            <a:spcBef>
              <a:spcPct val="0"/>
            </a:spcBef>
            <a:spcAft>
              <a:spcPct val="35000"/>
            </a:spcAft>
            <a:buNone/>
          </a:pPr>
          <a:r>
            <a:rPr lang="en-US" sz="1100" kern="1200"/>
            <a:t>Email: john.miller@codestaffing.com</a:t>
          </a:r>
        </a:p>
        <a:p>
          <a:pPr marL="0" lvl="0" indent="0" algn="l" defTabSz="488950">
            <a:lnSpc>
              <a:spcPct val="90000"/>
            </a:lnSpc>
            <a:spcBef>
              <a:spcPct val="0"/>
            </a:spcBef>
            <a:spcAft>
              <a:spcPct val="35000"/>
            </a:spcAft>
            <a:buNone/>
          </a:pPr>
          <a:r>
            <a:rPr lang="en-US" sz="1100" kern="1200"/>
            <a:t>Blog: https://codemag.com/blog/AIPractitioner</a:t>
          </a:r>
        </a:p>
      </dsp:txBody>
      <dsp:txXfrm>
        <a:off x="4625708" y="2330903"/>
        <a:ext cx="3260991" cy="9322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6C1E5-7D9F-4FB2-8E23-1C6B7D6E626C}">
      <dsp:nvSpPr>
        <dsp:cNvPr id="0" name=""/>
        <dsp:cNvSpPr/>
      </dsp:nvSpPr>
      <dsp:spPr>
        <a:xfrm>
          <a:off x="0" y="80076"/>
          <a:ext cx="7886700"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Course Objective</a:t>
          </a:r>
          <a:r>
            <a:rPr lang="en-US" sz="2700" kern="1200" dirty="0"/>
            <a:t>: Understand how to manipulate Copilot into successfully modifying legacy codebases</a:t>
          </a:r>
        </a:p>
      </dsp:txBody>
      <dsp:txXfrm>
        <a:off x="52431" y="132507"/>
        <a:ext cx="7781838" cy="969198"/>
      </dsp:txXfrm>
    </dsp:sp>
    <dsp:sp modelId="{8CAB9C2A-1EF9-4F58-A298-88000800CAF9}">
      <dsp:nvSpPr>
        <dsp:cNvPr id="0" name=""/>
        <dsp:cNvSpPr/>
      </dsp:nvSpPr>
      <dsp:spPr>
        <a:xfrm>
          <a:off x="0" y="1231896"/>
          <a:ext cx="7886700"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Course Perspective</a:t>
          </a:r>
          <a:r>
            <a:rPr lang="en-US" sz="2700" kern="1200" dirty="0"/>
            <a:t>: Focus on AI assistance and assisting AI in developing software</a:t>
          </a:r>
        </a:p>
      </dsp:txBody>
      <dsp:txXfrm>
        <a:off x="52431" y="1284327"/>
        <a:ext cx="7781838" cy="969198"/>
      </dsp:txXfrm>
    </dsp:sp>
    <dsp:sp modelId="{F7AA4163-5AFE-4B6B-8B25-5915AE771925}">
      <dsp:nvSpPr>
        <dsp:cNvPr id="0" name=""/>
        <dsp:cNvSpPr/>
      </dsp:nvSpPr>
      <dsp:spPr>
        <a:xfrm>
          <a:off x="0" y="2305956"/>
          <a:ext cx="7886700"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solidFill>
                <a:schemeClr val="bg1"/>
              </a:solidFill>
            </a:rPr>
            <a:t>Less emphasis on syntax</a:t>
          </a:r>
        </a:p>
        <a:p>
          <a:pPr marL="228600" lvl="1" indent="-228600" algn="l" defTabSz="933450">
            <a:lnSpc>
              <a:spcPct val="90000"/>
            </a:lnSpc>
            <a:spcBef>
              <a:spcPct val="0"/>
            </a:spcBef>
            <a:spcAft>
              <a:spcPct val="20000"/>
            </a:spcAft>
            <a:buChar char="•"/>
          </a:pPr>
          <a:r>
            <a:rPr lang="en-US" sz="2100" kern="1200" dirty="0">
              <a:solidFill>
                <a:schemeClr val="bg1"/>
              </a:solidFill>
            </a:rPr>
            <a:t>More emphasis on architecture, design, code quality, refactoring</a:t>
          </a:r>
        </a:p>
        <a:p>
          <a:pPr marL="228600" lvl="1" indent="-228600" algn="l" defTabSz="933450">
            <a:lnSpc>
              <a:spcPct val="90000"/>
            </a:lnSpc>
            <a:spcBef>
              <a:spcPct val="0"/>
            </a:spcBef>
            <a:spcAft>
              <a:spcPct val="20000"/>
            </a:spcAft>
            <a:buChar char="•"/>
          </a:pPr>
          <a:r>
            <a:rPr lang="en-US" sz="2100" kern="1200" dirty="0">
              <a:solidFill>
                <a:schemeClr val="bg1"/>
              </a:solidFill>
            </a:rPr>
            <a:t>Moving faster with less risk</a:t>
          </a:r>
        </a:p>
      </dsp:txBody>
      <dsp:txXfrm>
        <a:off x="0" y="2305956"/>
        <a:ext cx="7886700" cy="10898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B371-B8B9-0FFA-D5C2-E35362A7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E40A2-0673-F614-E89E-3313770C2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2068-D949-80A7-1B82-6F7302EEDF9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27A87CD-999A-DDD7-E74A-C8C45606BAD5}"/>
              </a:ext>
            </a:extLst>
          </p:cNvPr>
          <p:cNvSpPr>
            <a:spLocks noGrp="1"/>
          </p:cNvSpPr>
          <p:nvPr>
            <p:ph type="sldNum" sz="quarter" idx="10"/>
          </p:nvPr>
        </p:nvSpPr>
        <p:spPr/>
        <p:txBody>
          <a:bodyPr/>
          <a:lstStyle/>
          <a:p>
            <a:fld id="{18BDFEC3-8487-43E8-A154-7C12CBC1FFF2}" type="slidenum">
              <a:rPr lang="en-US"/>
              <a:t>3</a:t>
            </a:fld>
            <a:endParaRPr lang="en-US"/>
          </a:p>
        </p:txBody>
      </p:sp>
    </p:spTree>
    <p:extLst>
      <p:ext uri="{BB962C8B-B14F-4D97-AF65-F5344CB8AC3E}">
        <p14:creationId xmlns:p14="http://schemas.microsoft.com/office/powerpoint/2010/main" val="296647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notes State course objective: practical skills for using Copilot responsibly on legacy codebases. :::</a:t>
            </a:r>
          </a:p>
        </p:txBody>
      </p:sp>
      <p:sp>
        <p:nvSpPr>
          <p:cNvPr id="4" name="Slide Number Placeholder 3"/>
          <p:cNvSpPr>
            <a:spLocks noGrp="1"/>
          </p:cNvSpPr>
          <p:nvPr>
            <p:ph type="sldNum" sz="quarter" idx="5"/>
          </p:nvPr>
        </p:nvSpPr>
        <p:spPr/>
        <p:txBody>
          <a:bodyPr/>
          <a:lstStyle/>
          <a:p>
            <a:fld id="{18BDFEC3-8487-43E8-A154-7C12CBC1FFF2}" type="slidenum">
              <a:rPr lang="en-US" smtClean="0"/>
              <a:t>4</a:t>
            </a:fld>
            <a:endParaRPr lang="en-US"/>
          </a:p>
        </p:txBody>
      </p:sp>
    </p:spTree>
    <p:extLst>
      <p:ext uri="{BB962C8B-B14F-4D97-AF65-F5344CB8AC3E}">
        <p14:creationId xmlns:p14="http://schemas.microsoft.com/office/powerpoint/2010/main" val="3871625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F2EBC-94E0-CD54-AFB6-1DD2D3551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C203A-F519-3635-EFB9-EA72EB5C1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89ED2-7BB2-963C-371F-3A821676D668}"/>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66AC05D-C436-732A-6672-663DC2AD014F}"/>
              </a:ext>
            </a:extLst>
          </p:cNvPr>
          <p:cNvSpPr>
            <a:spLocks noGrp="1"/>
          </p:cNvSpPr>
          <p:nvPr>
            <p:ph type="sldNum" sz="quarter" idx="10"/>
          </p:nvPr>
        </p:nvSpPr>
        <p:spPr/>
        <p:txBody>
          <a:bodyPr/>
          <a:lstStyle/>
          <a:p>
            <a:fld id="{18BDFEC3-8487-43E8-A154-7C12CBC1FFF2}" type="slidenum">
              <a:rPr lang="en-US"/>
              <a:t>5</a:t>
            </a:fld>
            <a:endParaRPr lang="en-US"/>
          </a:p>
        </p:txBody>
      </p:sp>
    </p:spTree>
    <p:extLst>
      <p:ext uri="{BB962C8B-B14F-4D97-AF65-F5344CB8AC3E}">
        <p14:creationId xmlns:p14="http://schemas.microsoft.com/office/powerpoint/2010/main" val="712908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Brownfield and evergreen aren’t moral judgments — they’re states of a system. </a:t>
            </a:r>
          </a:p>
          <a:p>
            <a:endParaRPr lang="en-US" dirty="0"/>
          </a:p>
          <a:p>
            <a:r>
              <a:rPr lang="en-US" dirty="0"/>
              <a:t>Brownfield means you inherited constraints, history, and decisions made under different conditions. </a:t>
            </a:r>
          </a:p>
          <a:p>
            <a:endParaRPr lang="en-US" dirty="0"/>
          </a:p>
          <a:p>
            <a:r>
              <a:rPr lang="en-US" dirty="0"/>
              <a:t>Evergreen means you’re actively resisting entropy. </a:t>
            </a:r>
          </a:p>
          <a:p>
            <a:endParaRPr lang="en-US" dirty="0"/>
          </a:p>
          <a:p>
            <a:r>
              <a:rPr lang="en-US" dirty="0"/>
              <a:t>The distinction matters because it shapes how we approach change, risk, and modernization.</a:t>
            </a:r>
          </a:p>
        </p:txBody>
      </p:sp>
      <p:sp>
        <p:nvSpPr>
          <p:cNvPr id="4" name="Slide Number Placeholder 3"/>
          <p:cNvSpPr>
            <a:spLocks noGrp="1"/>
          </p:cNvSpPr>
          <p:nvPr>
            <p:ph type="sldNum" sz="quarter" idx="5"/>
          </p:nvPr>
        </p:nvSpPr>
        <p:spPr/>
        <p:txBody>
          <a:bodyPr/>
          <a:lstStyle/>
          <a:p>
            <a:fld id="{18BDFEC3-8487-43E8-A154-7C12CBC1FFF2}" type="slidenum">
              <a:rPr lang="en-US" smtClean="0"/>
              <a:t>6</a:t>
            </a:fld>
            <a:endParaRPr lang="en-US"/>
          </a:p>
        </p:txBody>
      </p:sp>
    </p:spTree>
    <p:extLst>
      <p:ext uri="{BB962C8B-B14F-4D97-AF65-F5344CB8AC3E}">
        <p14:creationId xmlns:p14="http://schemas.microsoft.com/office/powerpoint/2010/main" val="123151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Brownfield is often misunderstood as “legacy” or “broken.” </a:t>
            </a:r>
          </a:p>
          <a:p>
            <a:endParaRPr lang="en-US" dirty="0"/>
          </a:p>
          <a:p>
            <a:r>
              <a:rPr lang="en-US" dirty="0"/>
              <a:t>In reality, brownfield systems are the backbone of most businesses. </a:t>
            </a:r>
          </a:p>
          <a:p>
            <a:endParaRPr lang="en-US" dirty="0"/>
          </a:p>
          <a:p>
            <a:r>
              <a:rPr lang="en-US" dirty="0"/>
              <a:t>They’ve proven their value simply by existing and running. </a:t>
            </a:r>
          </a:p>
          <a:p>
            <a:endParaRPr lang="en-US" dirty="0"/>
          </a:p>
          <a:p>
            <a:r>
              <a:rPr lang="en-US" dirty="0"/>
              <a:t>The key is to approach them with respect — not fear — and to understand the constraints that shaped them.</a:t>
            </a:r>
          </a:p>
        </p:txBody>
      </p:sp>
      <p:sp>
        <p:nvSpPr>
          <p:cNvPr id="4" name="Slide Number Placeholder 3"/>
          <p:cNvSpPr>
            <a:spLocks noGrp="1"/>
          </p:cNvSpPr>
          <p:nvPr>
            <p:ph type="sldNum" sz="quarter" idx="5"/>
          </p:nvPr>
        </p:nvSpPr>
        <p:spPr/>
        <p:txBody>
          <a:bodyPr/>
          <a:lstStyle/>
          <a:p>
            <a:fld id="{18BDFEC3-8487-43E8-A154-7C12CBC1FFF2}" type="slidenum">
              <a:rPr lang="en-US" smtClean="0"/>
              <a:t>7</a:t>
            </a:fld>
            <a:endParaRPr lang="en-US"/>
          </a:p>
        </p:txBody>
      </p:sp>
    </p:spTree>
    <p:extLst>
      <p:ext uri="{BB962C8B-B14F-4D97-AF65-F5344CB8AC3E}">
        <p14:creationId xmlns:p14="http://schemas.microsoft.com/office/powerpoint/2010/main" val="1135895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doesn’t rot because engineers are careless. </a:t>
            </a:r>
          </a:p>
          <a:p>
            <a:endParaRPr lang="en-US" dirty="0"/>
          </a:p>
          <a:p>
            <a:r>
              <a:rPr lang="en-US" dirty="0"/>
              <a:t>It degrades because the world around it changes. </a:t>
            </a:r>
          </a:p>
          <a:p>
            <a:endParaRPr lang="en-US" dirty="0"/>
          </a:p>
          <a:p>
            <a:r>
              <a:rPr lang="en-US" dirty="0"/>
              <a:t>Businesses pivot. </a:t>
            </a:r>
          </a:p>
          <a:p>
            <a:r>
              <a:rPr lang="en-US" dirty="0"/>
              <a:t>Teams evolve. </a:t>
            </a:r>
          </a:p>
          <a:p>
            <a:r>
              <a:rPr lang="en-US" dirty="0"/>
              <a:t>Technologies shift. </a:t>
            </a:r>
          </a:p>
          <a:p>
            <a:r>
              <a:rPr lang="en-US" dirty="0"/>
              <a:t>Without intentional maintenance, systems drift away from their original design. </a:t>
            </a:r>
          </a:p>
          <a:p>
            <a:r>
              <a:rPr lang="en-US" dirty="0"/>
              <a:t>Evergreen practices exist to counteract this natural entropy.</a:t>
            </a:r>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3056380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Evergreen isn’t about rewriting everything. </a:t>
            </a:r>
          </a:p>
          <a:p>
            <a:endParaRPr lang="en-US" dirty="0"/>
          </a:p>
          <a:p>
            <a:r>
              <a:rPr lang="en-US" dirty="0"/>
              <a:t>It’s about maintaining alignment between the system and modern expectations. </a:t>
            </a:r>
          </a:p>
          <a:p>
            <a:endParaRPr lang="en-US" dirty="0"/>
          </a:p>
          <a:p>
            <a:r>
              <a:rPr lang="en-US" dirty="0"/>
              <a:t>The “rewrite test” is a mental model: if you wouldn’t build it this way today, you’ve identified drift. </a:t>
            </a:r>
          </a:p>
          <a:p>
            <a:endParaRPr lang="en-US" dirty="0"/>
          </a:p>
          <a:p>
            <a:r>
              <a:rPr lang="en-US" dirty="0"/>
              <a:t>The goal is to close that gap incrementally, safely, and sustainably.</a:t>
            </a:r>
          </a:p>
        </p:txBody>
      </p:sp>
      <p:sp>
        <p:nvSpPr>
          <p:cNvPr id="4" name="Slide Number Placeholder 3"/>
          <p:cNvSpPr>
            <a:spLocks noGrp="1"/>
          </p:cNvSpPr>
          <p:nvPr>
            <p:ph type="sldNum" sz="quarter" idx="5"/>
          </p:nvPr>
        </p:nvSpPr>
        <p:spPr/>
        <p:txBody>
          <a:bodyPr/>
          <a:lstStyle/>
          <a:p>
            <a:fld id="{18BDFEC3-8487-43E8-A154-7C12CBC1FFF2}" type="slidenum">
              <a:rPr lang="en-US" smtClean="0"/>
              <a:t>9</a:t>
            </a:fld>
            <a:endParaRPr lang="en-US"/>
          </a:p>
        </p:txBody>
      </p:sp>
    </p:spTree>
    <p:extLst>
      <p:ext uri="{BB962C8B-B14F-4D97-AF65-F5344CB8AC3E}">
        <p14:creationId xmlns:p14="http://schemas.microsoft.com/office/powerpoint/2010/main" val="1137725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often inherit systems with a sense of dread. </a:t>
            </a:r>
          </a:p>
          <a:p>
            <a:endParaRPr lang="en-US" dirty="0"/>
          </a:p>
          <a:p>
            <a:r>
              <a:rPr lang="en-US" dirty="0"/>
              <a:t>But fear leads to risky rewrites, cowboy refactors, and brittle changes. </a:t>
            </a:r>
          </a:p>
          <a:p>
            <a:endParaRPr lang="en-US" dirty="0"/>
          </a:p>
          <a:p>
            <a:r>
              <a:rPr lang="en-US" dirty="0"/>
              <a:t>Respect leads to curiosity, careful analysis, and safe modernization. </a:t>
            </a:r>
          </a:p>
          <a:p>
            <a:endParaRPr lang="en-US" dirty="0"/>
          </a:p>
          <a:p>
            <a:r>
              <a:rPr lang="en-US" dirty="0"/>
              <a:t>A working system is a gift — it gives you a stable foundation to improve from.</a:t>
            </a:r>
          </a:p>
        </p:txBody>
      </p:sp>
      <p:sp>
        <p:nvSpPr>
          <p:cNvPr id="4" name="Slide Number Placeholder 3"/>
          <p:cNvSpPr>
            <a:spLocks noGrp="1"/>
          </p:cNvSpPr>
          <p:nvPr>
            <p:ph type="sldNum" sz="quarter" idx="5"/>
          </p:nvPr>
        </p:nvSpPr>
        <p:spPr/>
        <p:txBody>
          <a:bodyPr/>
          <a:lstStyle/>
          <a:p>
            <a:fld id="{18BDFEC3-8487-43E8-A154-7C12CBC1FFF2}" type="slidenum">
              <a:rPr lang="en-US" smtClean="0"/>
              <a:t>10</a:t>
            </a:fld>
            <a:endParaRPr lang="en-US"/>
          </a:p>
        </p:txBody>
      </p:sp>
    </p:spTree>
    <p:extLst>
      <p:ext uri="{BB962C8B-B14F-4D97-AF65-F5344CB8AC3E}">
        <p14:creationId xmlns:p14="http://schemas.microsoft.com/office/powerpoint/2010/main" val="528771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reframing evergreen development as something that used to be aspirational and expensive — and showing how AI-assisted software development changes the economics.</a:t>
            </a:r>
          </a:p>
          <a:p>
            <a:r>
              <a:rPr lang="en-US" dirty="0"/>
              <a:t>Start by grounding the audience:</a:t>
            </a:r>
          </a:p>
          <a:p>
            <a:r>
              <a:rPr lang="en-US" b="1" dirty="0"/>
              <a:t>“Evergreen is a high bar.”</a:t>
            </a:r>
            <a:br>
              <a:rPr lang="en-US" dirty="0"/>
            </a:br>
            <a:r>
              <a:rPr lang="en-US" dirty="0"/>
              <a:t>Evergreen code isn’t just clean code. It’s code that </a:t>
            </a:r>
            <a:r>
              <a:rPr lang="en-US" i="1" dirty="0"/>
              <a:t>actively resists</a:t>
            </a:r>
            <a:r>
              <a:rPr lang="en-US" dirty="0"/>
              <a:t> technical debt. It stays aligned with modern patterns, security expectations, and architectural principles. Most brownfield systems don’t start here — and that’s normal. The goal is not perfection; it’s direction.</a:t>
            </a:r>
          </a:p>
          <a:p>
            <a:r>
              <a:rPr lang="en-US" b="1" dirty="0"/>
              <a:t>“Before AI-assisted development…”</a:t>
            </a:r>
            <a:br>
              <a:rPr lang="en-US" dirty="0"/>
            </a:br>
            <a:r>
              <a:rPr lang="en-US" dirty="0"/>
              <a:t>Historically, maintaining evergreen quality required significant engineering bandwidth. Teams needed deep system knowledge, strong architectural discipline, and time — which is always the scarcest resource. Even organizations that </a:t>
            </a:r>
            <a:r>
              <a:rPr lang="en-US" i="1" dirty="0"/>
              <a:t>wanted</a:t>
            </a:r>
            <a:r>
              <a:rPr lang="en-US" dirty="0"/>
              <a:t> evergreen systems often couldn’t justify the cost.</a:t>
            </a:r>
          </a:p>
          <a:p>
            <a:r>
              <a:rPr lang="en-US" b="1" dirty="0"/>
              <a:t>“Evergreen was difficult to maintain.”</a:t>
            </a:r>
            <a:br>
              <a:rPr lang="en-US" dirty="0"/>
            </a:br>
            <a:r>
              <a:rPr lang="en-US" dirty="0"/>
              <a:t>Once a system drifted, catching it up was painful. Refactoring was slow. Documentation lagged. Tests weren’t comprehensive enough to support aggressive modernization. The result was a widening gap between the system’s current state and what “good” looked like.</a:t>
            </a:r>
          </a:p>
          <a:p>
            <a:r>
              <a:rPr lang="en-US" b="1" dirty="0"/>
              <a:t>“Moving from brownfield to evergreen was cost‑prohibitive.”</a:t>
            </a:r>
            <a:br>
              <a:rPr lang="en-US" dirty="0"/>
            </a:br>
            <a:r>
              <a:rPr lang="en-US" dirty="0"/>
              <a:t>This is the key point: modernization wasn’t just technically hard — it was financially unrealistic. Rewrites were risky. Incremental improvements were slow. Leadership often accepted technical debt as the cost of doing business because the alternative was too expensive.</a:t>
            </a:r>
          </a:p>
          <a:p>
            <a:r>
              <a:rPr lang="en-US" dirty="0"/>
              <a:t>Now pivot to the opportunity:</a:t>
            </a:r>
          </a:p>
          <a:p>
            <a:r>
              <a:rPr lang="en-US" b="1" dirty="0"/>
              <a:t>“AI can assist with…”</a:t>
            </a:r>
            <a:endParaRPr lang="en-US" dirty="0"/>
          </a:p>
          <a:p>
            <a:r>
              <a:rPr lang="en-US" b="1" dirty="0"/>
              <a:t>Identifying technical debt</a:t>
            </a:r>
            <a:br>
              <a:rPr lang="en-US" dirty="0"/>
            </a:br>
            <a:r>
              <a:rPr lang="en-US" dirty="0"/>
              <a:t>AI can scan codebases, detect patterns of drift, highlight outdated dependencies, and surface hotspots that humans might miss. It gives teams a map of where the debt actually is.</a:t>
            </a:r>
          </a:p>
          <a:p>
            <a:r>
              <a:rPr lang="en-US" b="1" dirty="0"/>
              <a:t>Prioritizing modernizations</a:t>
            </a:r>
            <a:br>
              <a:rPr lang="en-US" dirty="0"/>
            </a:br>
            <a:r>
              <a:rPr lang="en-US" dirty="0"/>
              <a:t>Not all debt is equal. AI can help rank issues by impact, risk, and effort, turning an overwhelming backlog into a rational roadmap.</a:t>
            </a:r>
          </a:p>
          <a:p>
            <a:r>
              <a:rPr lang="en-US" b="1" dirty="0"/>
              <a:t>Implementing improvements</a:t>
            </a:r>
            <a:br>
              <a:rPr lang="en-US" dirty="0"/>
            </a:br>
            <a:r>
              <a:rPr lang="en-US" dirty="0"/>
              <a:t>This is where the economics shift. AI can draft refactors, update patterns, migrate APIs, and modernize modules — with humans reviewing instead of doing all the heavy lifting.</a:t>
            </a:r>
          </a:p>
          <a:p>
            <a:r>
              <a:rPr lang="en-US" b="1" dirty="0"/>
              <a:t>Validating implementations</a:t>
            </a:r>
            <a:br>
              <a:rPr lang="en-US" dirty="0"/>
            </a:br>
            <a:r>
              <a:rPr lang="en-US" dirty="0"/>
              <a:t>AI can generate tests, run consistency checks, compare behavior before and after changes, and flag regressions. This reduces the fear factor around touching old code.</a:t>
            </a:r>
          </a:p>
          <a:p>
            <a:r>
              <a:rPr lang="en-US" b="1" dirty="0"/>
              <a:t>Documenting progress</a:t>
            </a:r>
            <a:br>
              <a:rPr lang="en-US" dirty="0"/>
            </a:br>
            <a:r>
              <a:rPr lang="en-US" dirty="0"/>
              <a:t>Evergreen systems require traceability. AI can produce commit summaries, architectural notes, changelogs, and modernization reports automatically, keeping documentation aligned with reality.</a:t>
            </a:r>
          </a:p>
          <a:p>
            <a:r>
              <a:rPr lang="en-US" dirty="0"/>
              <a:t>Close with the strategic message:</a:t>
            </a:r>
          </a:p>
          <a:p>
            <a:r>
              <a:rPr lang="en-US" b="1" dirty="0"/>
              <a:t>AI doesn’t make evergreen effortless — but it makes it achievable.</a:t>
            </a:r>
            <a:br>
              <a:rPr lang="en-US" dirty="0"/>
            </a:br>
            <a:r>
              <a:rPr lang="en-US" dirty="0"/>
              <a:t>The bar hasn’t lowered. The cost of reaching it has.</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11</a:t>
            </a:fld>
            <a:endParaRPr lang="en-US"/>
          </a:p>
        </p:txBody>
      </p:sp>
    </p:spTree>
    <p:extLst>
      <p:ext uri="{BB962C8B-B14F-4D97-AF65-F5344CB8AC3E}">
        <p14:creationId xmlns:p14="http://schemas.microsoft.com/office/powerpoint/2010/main" val="2822621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AD40-C15B-9513-2B39-2600187A4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C56D2-0FB4-BFE9-15DB-9326ADEB3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E5197-175F-B9F3-804C-A433AA1D0D7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2EDDD37-AD82-F232-245B-A8B0A164B672}"/>
              </a:ext>
            </a:extLst>
          </p:cNvPr>
          <p:cNvSpPr>
            <a:spLocks noGrp="1"/>
          </p:cNvSpPr>
          <p:nvPr>
            <p:ph type="sldNum" sz="quarter" idx="10"/>
          </p:nvPr>
        </p:nvSpPr>
        <p:spPr/>
        <p:txBody>
          <a:bodyPr/>
          <a:lstStyle/>
          <a:p>
            <a:fld id="{18BDFEC3-8487-43E8-A154-7C12CBC1FFF2}" type="slidenum">
              <a:rPr lang="en-US"/>
              <a:t>12</a:t>
            </a:fld>
            <a:endParaRPr lang="en-US"/>
          </a:p>
        </p:txBody>
      </p:sp>
    </p:spTree>
    <p:extLst>
      <p:ext uri="{BB962C8B-B14F-4D97-AF65-F5344CB8AC3E}">
        <p14:creationId xmlns:p14="http://schemas.microsoft.com/office/powerpoint/2010/main" val="3111939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stage: AI doesn’t replace engineering discipline — it amplifies it.</a:t>
            </a:r>
          </a:p>
          <a:p>
            <a:endParaRPr lang="en-US" dirty="0"/>
          </a:p>
          <a:p>
            <a:r>
              <a:rPr lang="en-US" dirty="0"/>
              <a:t> Before we let AI touch a brownfield system, we need guardrails. </a:t>
            </a:r>
          </a:p>
          <a:p>
            <a:endParaRPr lang="en-US" dirty="0"/>
          </a:p>
          <a:p>
            <a:r>
              <a:rPr lang="en-US" dirty="0"/>
              <a:t>These safety measures aren’t optional; they’re what make AI‑assisted development sustainable and safe. </a:t>
            </a:r>
          </a:p>
          <a:p>
            <a:endParaRPr lang="en-US" dirty="0"/>
          </a:p>
          <a:p>
            <a:r>
              <a:rPr lang="en-US" dirty="0"/>
              <a:t>Think of them as the foundation that keeps modernization from turning into accidental rewrites or regressions.</a:t>
            </a:r>
          </a:p>
        </p:txBody>
      </p:sp>
      <p:sp>
        <p:nvSpPr>
          <p:cNvPr id="4" name="Slide Number Placeholder 3"/>
          <p:cNvSpPr>
            <a:spLocks noGrp="1"/>
          </p:cNvSpPr>
          <p:nvPr>
            <p:ph type="sldNum" sz="quarter" idx="5"/>
          </p:nvPr>
        </p:nvSpPr>
        <p:spPr/>
        <p:txBody>
          <a:bodyPr/>
          <a:lstStyle/>
          <a:p>
            <a:fld id="{18BDFEC3-8487-43E8-A154-7C12CBC1FFF2}" type="slidenum">
              <a:rPr lang="en-US" smtClean="0"/>
              <a:t>13</a:t>
            </a:fld>
            <a:endParaRPr lang="en-US"/>
          </a:p>
        </p:txBody>
      </p:sp>
    </p:spTree>
    <p:extLst>
      <p:ext uri="{BB962C8B-B14F-4D97-AF65-F5344CB8AC3E}">
        <p14:creationId xmlns:p14="http://schemas.microsoft.com/office/powerpoint/2010/main" val="3759442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produce large changes quickly. </a:t>
            </a:r>
          </a:p>
          <a:p>
            <a:endParaRPr lang="en-US" dirty="0"/>
          </a:p>
          <a:p>
            <a:r>
              <a:rPr lang="en-US" dirty="0"/>
              <a:t>That’s powerful — and dangerous without rollback. </a:t>
            </a:r>
          </a:p>
          <a:p>
            <a:endParaRPr lang="en-US" dirty="0"/>
          </a:p>
          <a:p>
            <a:r>
              <a:rPr lang="en-US" dirty="0"/>
              <a:t>Branches, frequent commits, and archives give you a safety net. </a:t>
            </a:r>
          </a:p>
          <a:p>
            <a:endParaRPr lang="en-US" dirty="0"/>
          </a:p>
          <a:p>
            <a:r>
              <a:rPr lang="en-US" dirty="0"/>
              <a:t>The goal is simple: no AI‑generated change should ever put you in a position where you can’t easily go back. </a:t>
            </a:r>
          </a:p>
          <a:p>
            <a:endParaRPr lang="en-US" dirty="0"/>
          </a:p>
          <a:p>
            <a:r>
              <a:rPr lang="en-US" dirty="0"/>
              <a:t>Rollback confidence is what enables experimentation</a:t>
            </a:r>
          </a:p>
        </p:txBody>
      </p:sp>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Tree>
    <p:extLst>
      <p:ext uri="{BB962C8B-B14F-4D97-AF65-F5344CB8AC3E}">
        <p14:creationId xmlns:p14="http://schemas.microsoft.com/office/powerpoint/2010/main" val="1819518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help generate tests, but you need a baseline first. Without a reliable test suite, you’re flying blind. The goal isn’t 100% coverage — it’s meaningful coverage. Tests should give you confidence that AI‑generated changes behave the same as before unless intentionally modified. This is what makes modernization safe instead of risky</a:t>
            </a:r>
          </a:p>
        </p:txBody>
      </p:sp>
      <p:sp>
        <p:nvSpPr>
          <p:cNvPr id="4" name="Slide Number Placeholder 3"/>
          <p:cNvSpPr>
            <a:spLocks noGrp="1"/>
          </p:cNvSpPr>
          <p:nvPr>
            <p:ph type="sldNum" sz="quarter" idx="5"/>
          </p:nvPr>
        </p:nvSpPr>
        <p:spPr/>
        <p:txBody>
          <a:bodyPr/>
          <a:lstStyle/>
          <a:p>
            <a:fld id="{18BDFEC3-8487-43E8-A154-7C12CBC1FFF2}" type="slidenum">
              <a:rPr lang="en-US" smtClean="0"/>
              <a:t>15</a:t>
            </a:fld>
            <a:endParaRPr lang="en-US"/>
          </a:p>
        </p:txBody>
      </p:sp>
    </p:spTree>
    <p:extLst>
      <p:ext uri="{BB962C8B-B14F-4D97-AF65-F5344CB8AC3E}">
        <p14:creationId xmlns:p14="http://schemas.microsoft.com/office/powerpoint/2010/main" val="1888022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fast, but it’s not authoritative. Every change needs review — not because AI is untrustworthy, but because context matters. Humans validate intent, architecture, and alignment with business rules. Automated checks enforce consistency. Together, they create a multi‑layered review process that keeps quality high.</a:t>
            </a:r>
          </a:p>
        </p:txBody>
      </p:sp>
      <p:sp>
        <p:nvSpPr>
          <p:cNvPr id="4" name="Slide Number Placeholder 3"/>
          <p:cNvSpPr>
            <a:spLocks noGrp="1"/>
          </p:cNvSpPr>
          <p:nvPr>
            <p:ph type="sldNum" sz="quarter" idx="5"/>
          </p:nvPr>
        </p:nvSpPr>
        <p:spPr/>
        <p:txBody>
          <a:bodyPr/>
          <a:lstStyle/>
          <a:p>
            <a:fld id="{18BDFEC3-8487-43E8-A154-7C12CBC1FFF2}" type="slidenum">
              <a:rPr lang="en-US" smtClean="0"/>
              <a:t>16</a:t>
            </a:fld>
            <a:endParaRPr lang="en-US"/>
          </a:p>
        </p:txBody>
      </p:sp>
    </p:spTree>
    <p:extLst>
      <p:ext uri="{BB962C8B-B14F-4D97-AF65-F5344CB8AC3E}">
        <p14:creationId xmlns:p14="http://schemas.microsoft.com/office/powerpoint/2010/main" val="1295287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Incrementalism is the antidote to brownfield fear. AI makes it tempting to modernize huge sections at once, but that’s where risk spikes. Instead, treat modernization as a series of controlled, reversible steps. Each step builds confidence. Each step is testable. Each step is safe. This is how evergreen systems emerge.</a:t>
            </a:r>
          </a:p>
        </p:txBody>
      </p:sp>
      <p:sp>
        <p:nvSpPr>
          <p:cNvPr id="4" name="Slide Number Placeholder 3"/>
          <p:cNvSpPr>
            <a:spLocks noGrp="1"/>
          </p:cNvSpPr>
          <p:nvPr>
            <p:ph type="sldNum" sz="quarter" idx="5"/>
          </p:nvPr>
        </p:nvSpPr>
        <p:spPr/>
        <p:txBody>
          <a:bodyPr/>
          <a:lstStyle/>
          <a:p>
            <a:fld id="{18BDFEC3-8487-43E8-A154-7C12CBC1FFF2}" type="slidenum">
              <a:rPr lang="en-US" smtClean="0"/>
              <a:t>17</a:t>
            </a:fld>
            <a:endParaRPr lang="en-US"/>
          </a:p>
        </p:txBody>
      </p:sp>
    </p:spTree>
    <p:extLst>
      <p:ext uri="{BB962C8B-B14F-4D97-AF65-F5344CB8AC3E}">
        <p14:creationId xmlns:p14="http://schemas.microsoft.com/office/powerpoint/2010/main" val="2575212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tends to produce large outputs unless constrained. Your job is to keep the scope tight. Small change sets are easier to understand, easier to test, and easier to roll back. They also reduce cognitive load for reviewers. This is how you maintain control while still benefiting from AI’s speed</a:t>
            </a:r>
          </a:p>
        </p:txBody>
      </p:sp>
      <p:sp>
        <p:nvSpPr>
          <p:cNvPr id="4" name="Slide Number Placeholder 3"/>
          <p:cNvSpPr>
            <a:spLocks noGrp="1"/>
          </p:cNvSpPr>
          <p:nvPr>
            <p:ph type="sldNum" sz="quarter" idx="5"/>
          </p:nvPr>
        </p:nvSpPr>
        <p:spPr/>
        <p:txBody>
          <a:bodyPr/>
          <a:lstStyle/>
          <a:p>
            <a:fld id="{18BDFEC3-8487-43E8-A154-7C12CBC1FFF2}" type="slidenum">
              <a:rPr lang="en-US" smtClean="0"/>
              <a:t>18</a:t>
            </a:fld>
            <a:endParaRPr lang="en-US"/>
          </a:p>
        </p:txBody>
      </p:sp>
    </p:spTree>
    <p:extLst>
      <p:ext uri="{BB962C8B-B14F-4D97-AF65-F5344CB8AC3E}">
        <p14:creationId xmlns:p14="http://schemas.microsoft.com/office/powerpoint/2010/main" val="2618870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is a core principle. Brownfield systems have survived real‑world conditions. They contain institutional knowledge and business logic that may not be documented anywhere else. AI can help modernize them, but only if we approach them with humility. The goal is not to erase the past — it’s to evolve it safely.</a:t>
            </a:r>
          </a:p>
        </p:txBody>
      </p:sp>
      <p:sp>
        <p:nvSpPr>
          <p:cNvPr id="4" name="Slide Number Placeholder 3"/>
          <p:cNvSpPr>
            <a:spLocks noGrp="1"/>
          </p:cNvSpPr>
          <p:nvPr>
            <p:ph type="sldNum" sz="quarter" idx="5"/>
          </p:nvPr>
        </p:nvSpPr>
        <p:spPr/>
        <p:txBody>
          <a:bodyPr/>
          <a:lstStyle/>
          <a:p>
            <a:fld id="{18BDFEC3-8487-43E8-A154-7C12CBC1FFF2}" type="slidenum">
              <a:rPr lang="en-US" smtClean="0"/>
              <a:t>19</a:t>
            </a:fld>
            <a:endParaRPr lang="en-US"/>
          </a:p>
        </p:txBody>
      </p:sp>
    </p:spTree>
    <p:extLst>
      <p:ext uri="{BB962C8B-B14F-4D97-AF65-F5344CB8AC3E}">
        <p14:creationId xmlns:p14="http://schemas.microsoft.com/office/powerpoint/2010/main" val="2358070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CC7A5-C1EC-18D7-EEF2-288E1B051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C46BE-EBB5-C714-A0BB-97499D364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E5A68-10C3-1101-7716-C3F519C8B56A}"/>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D1F9936C-15B2-5D0B-9BA2-DB8CF7E52FDE}"/>
              </a:ext>
            </a:extLst>
          </p:cNvPr>
          <p:cNvSpPr>
            <a:spLocks noGrp="1"/>
          </p:cNvSpPr>
          <p:nvPr>
            <p:ph type="sldNum" sz="quarter" idx="10"/>
          </p:nvPr>
        </p:nvSpPr>
        <p:spPr/>
        <p:txBody>
          <a:bodyPr/>
          <a:lstStyle/>
          <a:p>
            <a:fld id="{18BDFEC3-8487-43E8-A154-7C12CBC1FFF2}" type="slidenum">
              <a:rPr lang="en-US"/>
              <a:t>20</a:t>
            </a:fld>
            <a:endParaRPr lang="en-US"/>
          </a:p>
        </p:txBody>
      </p:sp>
    </p:spTree>
    <p:extLst>
      <p:ext uri="{BB962C8B-B14F-4D97-AF65-F5344CB8AC3E}">
        <p14:creationId xmlns:p14="http://schemas.microsoft.com/office/powerpoint/2010/main" val="2273723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Copilot as a tool that amplifies engineering discipline rather than replacing it. The message is: Copilot is not magic. It’s a reasoning engine that responds to structure, clarity, and context. When managed well, it becomes a force multiplier. When unmanaged, it becomes unpredictable.</a:t>
            </a:r>
          </a:p>
        </p:txBody>
      </p:sp>
      <p:sp>
        <p:nvSpPr>
          <p:cNvPr id="4" name="Slide Number Placeholder 3"/>
          <p:cNvSpPr>
            <a:spLocks noGrp="1"/>
          </p:cNvSpPr>
          <p:nvPr>
            <p:ph type="sldNum" sz="quarter" idx="5"/>
          </p:nvPr>
        </p:nvSpPr>
        <p:spPr/>
        <p:txBody>
          <a:bodyPr/>
          <a:lstStyle/>
          <a:p>
            <a:fld id="{18BDFEC3-8487-43E8-A154-7C12CBC1FFF2}" type="slidenum">
              <a:rPr lang="en-US" smtClean="0"/>
              <a:t>21</a:t>
            </a:fld>
            <a:endParaRPr lang="en-US"/>
          </a:p>
        </p:txBody>
      </p:sp>
    </p:spTree>
    <p:extLst>
      <p:ext uri="{BB962C8B-B14F-4D97-AF65-F5344CB8AC3E}">
        <p14:creationId xmlns:p14="http://schemas.microsoft.com/office/powerpoint/2010/main" val="14646617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resonates with engineering teams. Copilot behaves like a junior developer: capable, but lacking context and judgment. It thrives when you give it structure and feedback. It struggles when you ask it to “just figure it out.” The more intentional your guidance, the more reliable its output becomes.</a:t>
            </a:r>
          </a:p>
        </p:txBody>
      </p:sp>
      <p:sp>
        <p:nvSpPr>
          <p:cNvPr id="4" name="Slide Number Placeholder 3"/>
          <p:cNvSpPr>
            <a:spLocks noGrp="1"/>
          </p:cNvSpPr>
          <p:nvPr>
            <p:ph type="sldNum" sz="quarter" idx="5"/>
          </p:nvPr>
        </p:nvSpPr>
        <p:spPr/>
        <p:txBody>
          <a:bodyPr/>
          <a:lstStyle/>
          <a:p>
            <a:fld id="{18BDFEC3-8487-43E8-A154-7C12CBC1FFF2}" type="slidenum">
              <a:rPr lang="en-US" smtClean="0"/>
              <a:t>22</a:t>
            </a:fld>
            <a:endParaRPr lang="en-US"/>
          </a:p>
        </p:txBody>
      </p:sp>
    </p:spTree>
    <p:extLst>
      <p:ext uri="{BB962C8B-B14F-4D97-AF65-F5344CB8AC3E}">
        <p14:creationId xmlns:p14="http://schemas.microsoft.com/office/powerpoint/2010/main" val="3498716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windows are invisible but critical. When Copilot misses requirements or contradicts earlier decisions, it’s often because the relevant information fell outside its context window. The solution is not to “prompt harder” — it’s to structure the environment so the model always has the right information in view.</a:t>
            </a:r>
          </a:p>
        </p:txBody>
      </p:sp>
      <p:sp>
        <p:nvSpPr>
          <p:cNvPr id="4" name="Slide Number Placeholder 3"/>
          <p:cNvSpPr>
            <a:spLocks noGrp="1"/>
          </p:cNvSpPr>
          <p:nvPr>
            <p:ph type="sldNum" sz="quarter" idx="5"/>
          </p:nvPr>
        </p:nvSpPr>
        <p:spPr/>
        <p:txBody>
          <a:bodyPr/>
          <a:lstStyle/>
          <a:p>
            <a:fld id="{18BDFEC3-8487-43E8-A154-7C12CBC1FFF2}" type="slidenum">
              <a:rPr lang="en-US" smtClean="0"/>
              <a:t>23</a:t>
            </a:fld>
            <a:endParaRPr lang="en-US"/>
          </a:p>
        </p:txBody>
      </p:sp>
    </p:spTree>
    <p:extLst>
      <p:ext uri="{BB962C8B-B14F-4D97-AF65-F5344CB8AC3E}">
        <p14:creationId xmlns:p14="http://schemas.microsoft.com/office/powerpoint/2010/main" val="2210286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 is not about clever phrasing — it’s about clarity. Copilot performs best when you define intent, boundaries, and examples. Instruction files are especially powerful because they give Copilot a persistent “north star” for your codebase. Think of prompts as design briefs, not commands.</a:t>
            </a:r>
          </a:p>
        </p:txBody>
      </p:sp>
      <p:sp>
        <p:nvSpPr>
          <p:cNvPr id="4" name="Slide Number Placeholder 3"/>
          <p:cNvSpPr>
            <a:spLocks noGrp="1"/>
          </p:cNvSpPr>
          <p:nvPr>
            <p:ph type="sldNum" sz="quarter" idx="5"/>
          </p:nvPr>
        </p:nvSpPr>
        <p:spPr/>
        <p:txBody>
          <a:bodyPr/>
          <a:lstStyle/>
          <a:p>
            <a:fld id="{18BDFEC3-8487-43E8-A154-7C12CBC1FFF2}" type="slidenum">
              <a:rPr lang="en-US" smtClean="0"/>
              <a:t>24</a:t>
            </a:fld>
            <a:endParaRPr lang="en-US"/>
          </a:p>
        </p:txBody>
      </p:sp>
    </p:spTree>
    <p:extLst>
      <p:ext uri="{BB962C8B-B14F-4D97-AF65-F5344CB8AC3E}">
        <p14:creationId xmlns:p14="http://schemas.microsoft.com/office/powerpoint/2010/main" val="1737774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is a strategic decision. High‑end models are great for deep reasoning but can be slower or more expensive. Smaller models are fast and efficient but less capable. The key is to choose based on task complexity. For example: use a reasoning‑heavy model for designing a module, then switch to a lighter model for generating tests or scaffolding</a:t>
            </a:r>
          </a:p>
        </p:txBody>
      </p:sp>
      <p:sp>
        <p:nvSpPr>
          <p:cNvPr id="4" name="Slide Number Placeholder 3"/>
          <p:cNvSpPr>
            <a:spLocks noGrp="1"/>
          </p:cNvSpPr>
          <p:nvPr>
            <p:ph type="sldNum" sz="quarter" idx="5"/>
          </p:nvPr>
        </p:nvSpPr>
        <p:spPr/>
        <p:txBody>
          <a:bodyPr/>
          <a:lstStyle/>
          <a:p>
            <a:fld id="{18BDFEC3-8487-43E8-A154-7C12CBC1FFF2}" type="slidenum">
              <a:rPr lang="en-US" smtClean="0"/>
              <a:t>25</a:t>
            </a:fld>
            <a:endParaRPr lang="en-US"/>
          </a:p>
        </p:txBody>
      </p:sp>
    </p:spTree>
    <p:extLst>
      <p:ext uri="{BB962C8B-B14F-4D97-AF65-F5344CB8AC3E}">
        <p14:creationId xmlns:p14="http://schemas.microsoft.com/office/powerpoint/2010/main" val="18538013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048F-E453-0758-711C-3E345117B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D981F-FBF8-DE11-DD63-2597043EE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E3EA2-9F15-137C-EE16-707BAB7C46CC}"/>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3213A63-7A6F-3BCF-8147-9FFFC6BA74F2}"/>
              </a:ext>
            </a:extLst>
          </p:cNvPr>
          <p:cNvSpPr>
            <a:spLocks noGrp="1"/>
          </p:cNvSpPr>
          <p:nvPr>
            <p:ph type="sldNum" sz="quarter" idx="10"/>
          </p:nvPr>
        </p:nvSpPr>
        <p:spPr/>
        <p:txBody>
          <a:bodyPr/>
          <a:lstStyle/>
          <a:p>
            <a:fld id="{18BDFEC3-8487-43E8-A154-7C12CBC1FFF2}" type="slidenum">
              <a:rPr lang="en-US"/>
              <a:t>26</a:t>
            </a:fld>
            <a:endParaRPr lang="en-US"/>
          </a:p>
        </p:txBody>
      </p:sp>
    </p:spTree>
    <p:extLst>
      <p:ext uri="{BB962C8B-B14F-4D97-AF65-F5344CB8AC3E}">
        <p14:creationId xmlns:p14="http://schemas.microsoft.com/office/powerpoint/2010/main" val="1428326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opening slide frames the idea that AI quality is directly tied to context quality. Models don’t “understand” your repo—they interpret whatever you give them. Advanced context techniques let you control what the model sees and how reliably it stays aligned with your architecture.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t>
            </a:r>
            <a:r>
              <a:rPr>
                <a:latin typeface="Courier"/>
              </a:rPr>
              <a:t>#</a:t>
            </a:r>
            <a:r>
              <a:t> syntax is one of the most powerful ways to anchor Copilot. It forces the model to load specific files or directories into its working memory. This is essential when you want the model to follow existing patterns or avoid hallucinating APIs.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Spaces and knowledge bases give you a stable context layer that doesn’t depend on prompt length. Instead of repeating instructions every session, you store them once and let Copilot reference them automatically. This is especially valuable for brownfield systems with scattered tribal knowledge.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Premium models are incredible, but they’re not free. Monitoring usage helps teams understand where they’re over‑relying on heavyweight models. A tiered strategy ensures the right model is used for the right task, keeping costs predictable and output quality high.</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Open by explaining that token limits are one of the most important but least visible constraints in AI-assisted development. When a model exceeds its context window, it silently drops earlier content. This leads to missing requirements, contradictions, or forgotten rules. The goal of this section is to help developers recognize overflow symptoms and apply techniques to prevent them.</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Token limits are a hard boundary. Everything the model reads—your prompt, code snippets, examples, and even its own reasoning—counts toward the limit. When the limit is exceeded, the model truncates the earliest content, which often contains critical instructions or architectural rules.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Overflow is subtle. The model behaves as if you never gave it the missing information. Developers often misinterpret this as stubbornness or randomness, but it’s simply the model losing context due to token pressure. These symptoms are your early warning signs.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Summaries are your first line of defense. Instead of pasting entire files, summarize their purpose, interfaces, and constraints. Summaries dramatically reduce token usage while keeping the model aligned with the system’s intent. They also become reusable context anchors for future prompts.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Chunking keeps prompts small and manageable. Instead of asking the model to refactor a huge file, break the task into sections. This keeps each prompt within safe token limits and makes the output easier to review, test, and roll back if needed.</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Scoped prompts are about intentionality. Tell the model exactly what part of the system to focus on. This reduces token usage and improves reliability because the model isn’t trying to reason about the entire codebase at once. It also reduces hallucinations by narrowing the reasoning space.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Instruction files are a powerful way to reduce token load. Instead of repeating architectural rules or coding standards in every prompt, store them in a persistent instruction file. This frees up space for task‑specific context and keeps the model aligned with your evergreen architecture.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A15C-25F8-C21F-ABC5-DCB8CDB26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1E4BD-F3D5-6AB5-5509-9668D45B1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38A9F-E7A6-4DB6-46D9-D94DA8A4D2BA}"/>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90EDB856-AEE5-1D77-7911-775B84331AAA}"/>
              </a:ext>
            </a:extLst>
          </p:cNvPr>
          <p:cNvSpPr>
            <a:spLocks noGrp="1"/>
          </p:cNvSpPr>
          <p:nvPr>
            <p:ph type="sldNum" sz="quarter" idx="10"/>
          </p:nvPr>
        </p:nvSpPr>
        <p:spPr/>
        <p:txBody>
          <a:bodyPr/>
          <a:lstStyle/>
          <a:p>
            <a:fld id="{18BDFEC3-8487-43E8-A154-7C12CBC1FFF2}" type="slidenum">
              <a:rPr lang="en-US"/>
              <a:t>38</a:t>
            </a:fld>
            <a:endParaRPr lang="en-US"/>
          </a:p>
        </p:txBody>
      </p:sp>
    </p:spTree>
    <p:extLst>
      <p:ext uri="{BB962C8B-B14F-4D97-AF65-F5344CB8AC3E}">
        <p14:creationId xmlns:p14="http://schemas.microsoft.com/office/powerpoint/2010/main" val="11105683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foundation for safe, predictable AI‑assisted development. Guardrails ensure that AI output is intentional, reviewable, and aligned with architectural and organizational standards. These practices turn AI from a novelty into a disciplined engineering tool.</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Clarify the distinctions: instructions are stable, prompts are ephemeral, and chat modes define how the model behaves in a particular role. Together, they form a layered control system that shapes AI behavior and reduces drift.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storing these artifacts as files allows teams to version them, review them, and reuse them. This is essential for brownfield modernization, where consistency and traceability matter.</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Meta prompts are prompts about prompts. They let the AI generate structured artifacts on demand. This reduces manual effort and ensures that all artifacts follow a consistent pattern.</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When asking AI to generate an artifact, be explicit about structure and constraints. This prevents drift and ensures the output is usable without heavy editing.</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Provenance is essential for</a:t>
            </a:r>
            <a:r>
              <a:rPr lang="en-US" dirty="0"/>
              <a:t> conformance</a:t>
            </a:r>
            <a:r>
              <a:rPr dirty="0"/>
              <a:t>, auditability, and long‑term maintainability. 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foundational prompt‑writing skills. Encourage participants to choose a real task to make the exercise concrete.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reinforces the evergreen mindset and produces a reusable artifact for future AI‑assisted work.</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helps participants shape AI behavior to match brownfield realities.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Participants experience the leverage of meta prompts and see how AI can accelerate documentation.</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intuition for context management—one of the most important AI‑era engineering skills.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B51E7-6D53-CE0D-EC5B-0A7AF0E03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7D5D9-34F0-0C41-6B62-BB47BF33A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F7C5D-5733-4612-6909-A690E6BFD106}"/>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665B5D8-177A-5D7E-E266-F4F49A007EB2}"/>
              </a:ext>
            </a:extLst>
          </p:cNvPr>
          <p:cNvSpPr>
            <a:spLocks noGrp="1"/>
          </p:cNvSpPr>
          <p:nvPr>
            <p:ph type="sldNum" sz="quarter" idx="10"/>
          </p:nvPr>
        </p:nvSpPr>
        <p:spPr/>
        <p:txBody>
          <a:bodyPr/>
          <a:lstStyle/>
          <a:p>
            <a:fld id="{18BDFEC3-8487-43E8-A154-7C12CBC1FFF2}" type="slidenum">
              <a:rPr lang="en-US"/>
              <a:t>50</a:t>
            </a:fld>
            <a:endParaRPr lang="en-US"/>
          </a:p>
        </p:txBody>
      </p:sp>
    </p:spTree>
    <p:extLst>
      <p:ext uri="{BB962C8B-B14F-4D97-AF65-F5344CB8AC3E}">
        <p14:creationId xmlns:p14="http://schemas.microsoft.com/office/powerpoint/2010/main" val="26398328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foundation for safe, predictable AI‑assisted development. Guardrails ensure that AI output is intentional, reviewable, and aligned with architectural and organizational standards. These practices turn AI from a novelty into a disciplined engineering tool.</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Clarify the distinctions: instructions are stable, prompts are ephemeral, and chat modes define how the model behaves in a particular role. Together, they form a layered control system that shapes AI behavior and reduces drift.</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storing these artifacts as files allows teams to version them, review them, and reuse them. This is essential for brownfield modernization, where consistency and traceability matter.</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Meta prompts are prompts about prompts. They let the AI generate structured artifacts on demand. This reduces manual effort and ensures that all artifacts follow a consistent pattern.</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When asking AI to generate an artifact, be explicit about structure and constraints. This prevents drift and ensures the output is usable without heavy editing.</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Provenance is essential for</a:t>
            </a:r>
            <a:r>
              <a:rPr lang="en-US" dirty="0"/>
              <a:t> conformance</a:t>
            </a:r>
            <a:r>
              <a:rPr dirty="0"/>
              <a:t>, auditability, and long‑term maintainability. 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foundational prompt‑writing skills. Encourage participants to choose a real task to make the exercise concrete.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reinforces the evergreen mindset and produces a reusable artifact for future AI‑assisted work.</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helps participants shape AI behavior to match brownfield realities.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Participants experience the leverage of meta prompts and see how AI can accelerate documentation.</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intuition for context management—one of the most important AI‑era engineering skills.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5FA48-4A98-856D-5986-423699614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69846-2540-7AB0-75E1-BE1FC111D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30ED7-CF80-7056-1145-4405D3CD923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67D2CD2B-8E5F-1428-210B-9A267BFB11A6}"/>
              </a:ext>
            </a:extLst>
          </p:cNvPr>
          <p:cNvSpPr>
            <a:spLocks noGrp="1"/>
          </p:cNvSpPr>
          <p:nvPr>
            <p:ph type="sldNum" sz="quarter" idx="10"/>
          </p:nvPr>
        </p:nvSpPr>
        <p:spPr/>
        <p:txBody>
          <a:bodyPr/>
          <a:lstStyle/>
          <a:p>
            <a:fld id="{18BDFEC3-8487-43E8-A154-7C12CBC1FFF2}" type="slidenum">
              <a:rPr lang="en-US"/>
              <a:t>62</a:t>
            </a:fld>
            <a:endParaRPr lang="en-US"/>
          </a:p>
        </p:txBody>
      </p:sp>
    </p:spTree>
    <p:extLst>
      <p:ext uri="{BB962C8B-B14F-4D97-AF65-F5344CB8AC3E}">
        <p14:creationId xmlns:p14="http://schemas.microsoft.com/office/powerpoint/2010/main" val="17031889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excels at scanning large brownfield systems and surfacing hotspots. This reduces the manual effort required to understand legacy code and helps teams focus on the highest‑impact areas first.</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that automation doesn’t replace human judgment — it accelerates it. Humans still validate, refine, and prioritize issues, but AI handles the heavy lifting of drafting them.</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backlog‑building session. The goal is not volume — it’s clarity and actionability. Reinforce that a well‑structured backlog is the foundation for safe, incremental modernization.</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5629-7609-9AA9-EAEE-F3BBDF2F7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CAB3A-B4DF-3135-C05C-EB1C50FC8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D0975-0131-D3CA-DCDE-F5F0A384DCE0}"/>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0466E62-D87E-7DF6-F5AA-7E902810339E}"/>
              </a:ext>
            </a:extLst>
          </p:cNvPr>
          <p:cNvSpPr>
            <a:spLocks noGrp="1"/>
          </p:cNvSpPr>
          <p:nvPr>
            <p:ph type="sldNum" sz="quarter" idx="10"/>
          </p:nvPr>
        </p:nvSpPr>
        <p:spPr/>
        <p:txBody>
          <a:bodyPr/>
          <a:lstStyle/>
          <a:p>
            <a:fld id="{18BDFEC3-8487-43E8-A154-7C12CBC1FFF2}" type="slidenum">
              <a:rPr lang="en-US"/>
              <a:t>67</a:t>
            </a:fld>
            <a:endParaRPr lang="en-US"/>
          </a:p>
        </p:txBody>
      </p:sp>
    </p:spTree>
    <p:extLst>
      <p:ext uri="{BB962C8B-B14F-4D97-AF65-F5344CB8AC3E}">
        <p14:creationId xmlns:p14="http://schemas.microsoft.com/office/powerpoint/2010/main" val="20652005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Safety nets ensure that modernization efforts do not destabilize working systems. Emphasize that brownfield systems deserve respect, and safety nets are how we honor that reality.</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brownfield systems are valuable assets, not liabilities. Protection means minimizing risk, maintaining continuity, and ensuring that modernization is deliberate rather than accidental.</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code reviews are not replacements for human reviews — they are accelerators. They help catch issues early and provide a second set of eyes that never gets tired.</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Humans bring judgment, domain knowledge, and intuition — things AI cannot replicate. The combination of AI and human review creates a multi-layered safety net.</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automation is the ultimate safety net. Without tests, AI-assisted development becomes guesswork. With tests, it becomes a controlled, predictable process.</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planning session. The goal is not to fix everything — it’s to identify gaps and build a roadmap for safer development.</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54CF-4E7D-EE39-ED74-82AC1C005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AAE1E-6E14-5602-4BDC-540DE330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62EE3-8EE9-7678-5452-33467EDAFBC5}"/>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E1A49851-8551-EB6E-B2C0-3641566633ED}"/>
              </a:ext>
            </a:extLst>
          </p:cNvPr>
          <p:cNvSpPr>
            <a:spLocks noGrp="1"/>
          </p:cNvSpPr>
          <p:nvPr>
            <p:ph type="sldNum" sz="quarter" idx="10"/>
          </p:nvPr>
        </p:nvSpPr>
        <p:spPr/>
        <p:txBody>
          <a:bodyPr/>
          <a:lstStyle/>
          <a:p>
            <a:fld id="{18BDFEC3-8487-43E8-A154-7C12CBC1FFF2}" type="slidenum">
              <a:rPr lang="en-US"/>
              <a:t>74</a:t>
            </a:fld>
            <a:endParaRPr lang="en-US"/>
          </a:p>
        </p:txBody>
      </p:sp>
    </p:spTree>
    <p:extLst>
      <p:ext uri="{BB962C8B-B14F-4D97-AF65-F5344CB8AC3E}">
        <p14:creationId xmlns:p14="http://schemas.microsoft.com/office/powerpoint/2010/main" val="15641948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Safety nets ensure that modernization efforts do not destabilize working systems. Emphasize that brownfield systems deserve respect, and safety nets are how we honor that reality.</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brownfield systems are valuable assets, not liabilities. Protection means minimizing risk, maintaining continuity, and ensuring that modernization is deliberate rather than accidental.</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code reviews are not replacements for human reviews — they are accelerators. They help catch issues early and provide a second set of eyes that never gets tired.</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Humans bring judgment, domain knowledge, and intuition — things AI cannot replicate. The combination of AI and human review creates a multi-layered safety net.</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automation is the ultimate safety net. Without tests, AI-assisted development becomes guesswork. With tests, it becomes a controlled, predictable process.</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planning session. The goal is not to fix everything — it’s to identify gaps and build a roadmap for safer development.</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BB414-44EC-4F2F-B046-D04164602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DDB94-C987-C702-6508-42E46D613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4EFF3-CA79-B3ED-688F-B3A05F632AF2}"/>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7C6D749-9BBA-CAA6-77B3-5B5269858F40}"/>
              </a:ext>
            </a:extLst>
          </p:cNvPr>
          <p:cNvSpPr>
            <a:spLocks noGrp="1"/>
          </p:cNvSpPr>
          <p:nvPr>
            <p:ph type="sldNum" sz="quarter" idx="10"/>
          </p:nvPr>
        </p:nvSpPr>
        <p:spPr/>
        <p:txBody>
          <a:bodyPr/>
          <a:lstStyle/>
          <a:p>
            <a:fld id="{18BDFEC3-8487-43E8-A154-7C12CBC1FFF2}" type="slidenum">
              <a:rPr lang="en-US"/>
              <a:t>81</a:t>
            </a:fld>
            <a:endParaRPr lang="en-US"/>
          </a:p>
        </p:txBody>
      </p:sp>
    </p:spTree>
    <p:extLst>
      <p:ext uri="{BB962C8B-B14F-4D97-AF65-F5344CB8AC3E}">
        <p14:creationId xmlns:p14="http://schemas.microsoft.com/office/powerpoint/2010/main" val="32232996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Testing frameworks are the ultimate guardrail — they allow teams to modernize brownfield systems confidently and incrementally. Emphasize that robust tests are not optional; they are the foundation of evergreen code.</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accelerates test creation dramatically, but humans still validate correctness and intent. Comprehensive test suites give teams the confidence to refactor and modernize safely.</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suites age just like code. Without maintenance, they become brittle, noisy, or misleading. Encourage teams to treat test suites as living artifacts that evolve with the system.</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is excellent at pattern detection and coverage suggestions, but humans validate whether tests reflect real business rules. Together, they create a multi-layered validation process.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 coverage numbers can be deceptive. The goal is not 100% coverage — it’s meaningful coverage that protects behavior without creating maintenance burdens. Encourage teams to focus on value, not vanity metrics.</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task. The goal is not to generate as many tests as possible — it’s to improve the safety and clarity of the testing framework in a targeted, maintainable way.</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E0F7-EC9A-BC6E-E3D1-212BF2E68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A80C1-EF44-B180-7C8D-9B9882023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CBEEE-E8D1-7D80-5FB4-991334D1D4A5}"/>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3024BD85-38B0-2239-7D9B-0B6C398727CD}"/>
              </a:ext>
            </a:extLst>
          </p:cNvPr>
          <p:cNvSpPr>
            <a:spLocks noGrp="1"/>
          </p:cNvSpPr>
          <p:nvPr>
            <p:ph type="sldNum" sz="quarter" idx="10"/>
          </p:nvPr>
        </p:nvSpPr>
        <p:spPr/>
        <p:txBody>
          <a:bodyPr/>
          <a:lstStyle/>
          <a:p>
            <a:fld id="{18BDFEC3-8487-43E8-A154-7C12CBC1FFF2}" type="slidenum">
              <a:rPr lang="en-US"/>
              <a:t>88</a:t>
            </a:fld>
            <a:endParaRPr lang="en-US"/>
          </a:p>
        </p:txBody>
      </p:sp>
    </p:spTree>
    <p:extLst>
      <p:ext uri="{BB962C8B-B14F-4D97-AF65-F5344CB8AC3E}">
        <p14:creationId xmlns:p14="http://schemas.microsoft.com/office/powerpoint/2010/main" val="26524020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practical guide to modifying brownfield systems safely. Emphasize that the goal is not speed — it’s controlled, observable, reversible change. Feature flags, test suites, and production‑safe practices form the backbone of safe modernization.</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one of the most powerful tools for brownfield modernization. They allow teams to introduce changes gradually, observe behavior, and roll back instantly if needed. Stress that flags must be managed intentionally to avoid long‑term complexity.</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As‑Is tests freeze the current system’s behavior, while To‑Be tests define the target state. This dual‑suite approach allows teams to modernize safely without losing critical legacy behavior.</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Testing in production is not reckless when done correctly. With feature flags, observability, and controlled exposure, teams can validate changes under real conditions while minimizing risk.</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temporary scaffolding. If not retired, they become technical debt. Encourage teams to treat flag retirement as a first‑class engineering task.</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module from their brownfield system. The goal is to practice safe, reversible change — not to implement a large feature. Reinforce that feature flags are scaffolding, not permanent architecture.</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0A306-AD4C-46B5-40A3-E1C7B46C5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77B5D-533E-C4AA-4B96-DD9C7555D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C07E-320D-3DC7-59B5-80CB71B2739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0D655CDE-64E0-E327-2D12-E5AF4BFC4343}"/>
              </a:ext>
            </a:extLst>
          </p:cNvPr>
          <p:cNvSpPr>
            <a:spLocks noGrp="1"/>
          </p:cNvSpPr>
          <p:nvPr>
            <p:ph type="sldNum" sz="quarter" idx="10"/>
          </p:nvPr>
        </p:nvSpPr>
        <p:spPr/>
        <p:txBody>
          <a:bodyPr/>
          <a:lstStyle/>
          <a:p>
            <a:fld id="{18BDFEC3-8487-43E8-A154-7C12CBC1FFF2}" type="slidenum">
              <a:rPr lang="en-US"/>
              <a:t>95</a:t>
            </a:fld>
            <a:endParaRPr lang="en-US"/>
          </a:p>
        </p:txBody>
      </p:sp>
    </p:spTree>
    <p:extLst>
      <p:ext uri="{BB962C8B-B14F-4D97-AF65-F5344CB8AC3E}">
        <p14:creationId xmlns:p14="http://schemas.microsoft.com/office/powerpoint/2010/main" val="219800006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bridge between architectural intent and real code. </a:t>
            </a:r>
            <a:r>
              <a:rPr lang="en-US" dirty="0"/>
              <a:t>Conformance</a:t>
            </a:r>
            <a:r>
              <a:rPr dirty="0"/>
              <a:t> analysis ensures that AI-assisted and human-written code stays aligned with the rules defined in instruction files. This is how teams maintain evergreen quality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Instruction files define the “north star” for your codebase. </a:t>
            </a:r>
            <a:r>
              <a:rPr lang="en-US" dirty="0"/>
              <a:t>Conformance</a:t>
            </a:r>
            <a:r>
              <a:rPr dirty="0"/>
              <a:t> checks ensure that every change — AI-generated or human — aligns with those rules. This is essential for maintaining predictability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Automation accelerates the</a:t>
            </a:r>
            <a:r>
              <a:rPr lang="en-US" dirty="0"/>
              <a:t> conformance</a:t>
            </a:r>
            <a:r>
              <a:rPr dirty="0"/>
              <a:t> workflow. Instead of manually writing issues, AI can draft them instantly, leaving humans to validate and prioritize.</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Not all technical debt is equal. Prioritization ensures that teams focus on the highest‑value remediation work first, rather than chasing low‑impact issues.</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Remediation plans turn issues into action. They provide clarity, reduce risk, and ensure that modernization work is incremental and reversible.</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this as a real backlog‑building session. The goal is clarity and actionability, not volume.</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move from analysis to execution. The goal is to build modernization plans that are safe, thoughtful, and aligned with evergreen principles.</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B0D49-7041-4C5A-47AD-3C5E637C3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30C02-9A2F-3CA9-EC52-FFDC0B92A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36CDD-EBC7-BEA7-F0B8-CFAEA21BAB6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58572E3-0EDB-F7AE-25E3-059197F05ABB}"/>
              </a:ext>
            </a:extLst>
          </p:cNvPr>
          <p:cNvSpPr>
            <a:spLocks noGrp="1"/>
          </p:cNvSpPr>
          <p:nvPr>
            <p:ph type="sldNum" sz="quarter" idx="10"/>
          </p:nvPr>
        </p:nvSpPr>
        <p:spPr/>
        <p:txBody>
          <a:bodyPr/>
          <a:lstStyle/>
          <a:p>
            <a:fld id="{18BDFEC3-8487-43E8-A154-7C12CBC1FFF2}" type="slidenum">
              <a:rPr lang="en-US"/>
              <a:t>103</a:t>
            </a:fld>
            <a:endParaRPr lang="en-US"/>
          </a:p>
        </p:txBody>
      </p:sp>
    </p:spTree>
    <p:extLst>
      <p:ext uri="{BB962C8B-B14F-4D97-AF65-F5344CB8AC3E}">
        <p14:creationId xmlns:p14="http://schemas.microsoft.com/office/powerpoint/2010/main" val="297525758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moment where AI becomes an active contributor to modernization. Technical debt is inevitable in brownfield systems, but AI can help teams address it safely, incrementally, and with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Copilot responds best to structured, high‑signal prompts. The more explicit the constraints, the safer and more predictable the remediation.</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Assigning issues to Copilot formalizes the workflow. It treats Copilot like a junior developer who receives tasks, produces drafts, and awaits review.</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Copilot accelerates the work but does not replace human judgment. The human reviewer remains the final authority.</a:t>
            </a:r>
          </a:p>
        </p:txBody>
      </p:sp>
      <p:sp>
        <p:nvSpPr>
          <p:cNvPr id="4" name="Slide Number Placeholder 3"/>
          <p:cNvSpPr>
            <a:spLocks noGrp="1"/>
          </p:cNvSpPr>
          <p:nvPr>
            <p:ph type="sldNum" sz="quarter" idx="10"/>
          </p:nvPr>
        </p:nvSpPr>
        <p:spPr/>
        <p:txBody>
          <a:bodyPr/>
          <a:lstStyle/>
          <a:p>
            <a:fld id="{18BDFEC3-8487-43E8-A154-7C12CBC1FFF2}" type="slidenum">
              <a:rPr lang="en-US"/>
              <a:t>107</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example from their brownfield system. The goal is clarity and safety, not complexity.</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workflow of treating Copilot as a junior developer who receives tasks and produces drafts.</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exercise builds confidence in delegating larger tasks while maintaining safety and architectural alignment. Emphasize that humans remain the final reviewers.</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33453-E212-5A44-4A0C-58903F36C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64C72-712A-010A-F3AA-9ABB39D99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577F6-3875-B799-E14C-0F1CBAB8BE9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EB141BA-8F88-419C-A090-54C99E3D74AF}"/>
              </a:ext>
            </a:extLst>
          </p:cNvPr>
          <p:cNvSpPr>
            <a:spLocks noGrp="1"/>
          </p:cNvSpPr>
          <p:nvPr>
            <p:ph type="sldNum" sz="quarter" idx="10"/>
          </p:nvPr>
        </p:nvSpPr>
        <p:spPr/>
        <p:txBody>
          <a:bodyPr/>
          <a:lstStyle/>
          <a:p>
            <a:fld id="{18BDFEC3-8487-43E8-A154-7C12CBC1FFF2}" type="slidenum">
              <a:rPr lang="en-US"/>
              <a:t>111</a:t>
            </a:fld>
            <a:endParaRPr lang="en-US"/>
          </a:p>
        </p:txBody>
      </p:sp>
    </p:spTree>
    <p:extLst>
      <p:ext uri="{BB962C8B-B14F-4D97-AF65-F5344CB8AC3E}">
        <p14:creationId xmlns:p14="http://schemas.microsoft.com/office/powerpoint/2010/main" val="244713445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no single model is perfect. Using multiple models gives teams a broader perspective and helps catch errors or blind spots that one model alone might miss.</a:t>
            </a:r>
          </a:p>
        </p:txBody>
      </p:sp>
      <p:sp>
        <p:nvSpPr>
          <p:cNvPr id="4" name="Slide Number Placeholder 3"/>
          <p:cNvSpPr>
            <a:spLocks noGrp="1"/>
          </p:cNvSpPr>
          <p:nvPr>
            <p:ph type="sldNum" sz="quarter" idx="10"/>
          </p:nvPr>
        </p:nvSpPr>
        <p:spPr/>
        <p:txBody>
          <a:bodyPr/>
          <a:lstStyle/>
          <a:p>
            <a:fld id="{18BDFEC3-8487-43E8-A154-7C12CBC1FFF2}" type="slidenum">
              <a:rPr lang="en-US"/>
              <a:t>113</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model outputs like multiple drafts from different engineers. The goal is not to pick a winner — it’s to synthesize the best ideas.</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risk assessment is essential in brownfield systems. Even if a model produces elegant code, it may be too risky without proper guardrails.</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synthesis is the real power of multi‑model workflows. Teams can build a composite solution that is better than any single model’s output.</a:t>
            </a:r>
          </a:p>
        </p:txBody>
      </p:sp>
      <p:sp>
        <p:nvSpPr>
          <p:cNvPr id="4" name="Slide Number Placeholder 3"/>
          <p:cNvSpPr>
            <a:spLocks noGrp="1"/>
          </p:cNvSpPr>
          <p:nvPr>
            <p:ph type="sldNum" sz="quarter" idx="10"/>
          </p:nvPr>
        </p:nvSpPr>
        <p:spPr/>
        <p:txBody>
          <a:bodyPr/>
          <a:lstStyle/>
          <a:p>
            <a:fld id="{18BDFEC3-8487-43E8-A154-7C12CBC1FFF2}" type="slidenum">
              <a:rPr lang="en-US"/>
              <a:t>116</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think like reviewers comparing multiple PRs. The goal is to understand model behavior, not to pick a favorite.</a:t>
            </a:r>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see how different models interpret the same instructions — a key skill for multi‑model workflows.</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confidence in orchestrating multiple models as collaborators. The goal is synthesis, not competition.</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p:nvPicPr>
        <p:blipFill>
          <a:blip r:embed="rId13">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0.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65.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72.xml"/><Relationship Id="rId1" Type="http://schemas.openxmlformats.org/officeDocument/2006/relationships/slideLayout" Target="../slideLayouts/slideLayout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79.xml"/><Relationship Id="rId1" Type="http://schemas.openxmlformats.org/officeDocument/2006/relationships/slideLayout" Target="../slideLayouts/slideLayout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86.xml"/><Relationship Id="rId1" Type="http://schemas.openxmlformats.org/officeDocument/2006/relationships/slideLayout" Target="../slideLayouts/slideLayout3.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93.xml"/><Relationship Id="rId1" Type="http://schemas.openxmlformats.org/officeDocument/2006/relationships/slideLayout" Target="../slideLayouts/slideLayout3.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01.xml"/><Relationship Id="rId1" Type="http://schemas.openxmlformats.org/officeDocument/2006/relationships/slideLayout" Target="../slideLayouts/slideLayout3.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09.xml"/><Relationship Id="rId1" Type="http://schemas.openxmlformats.org/officeDocument/2006/relationships/slideLayout" Target="../slideLayouts/slideLayout3.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extLst>
              <p:ext uri="{D42A27DB-BD31-4B8C-83A1-F6EECF244321}">
                <p14:modId xmlns:p14="http://schemas.microsoft.com/office/powerpoint/2010/main" val="257906895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F85-A3B6-7497-4272-3CC23DB62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979F-0421-2D32-0707-23ED193871B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585B45F-769A-F26C-815F-E4831F499F04}"/>
              </a:ext>
            </a:extLst>
          </p:cNvPr>
          <p:cNvGraphicFramePr>
            <a:graphicFrameLocks noGrp="1"/>
          </p:cNvGraphicFramePr>
          <p:nvPr>
            <p:ph idx="1"/>
            <p:extLst>
              <p:ext uri="{D42A27DB-BD31-4B8C-83A1-F6EECF244321}">
                <p14:modId xmlns:p14="http://schemas.microsoft.com/office/powerpoint/2010/main" val="20225096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46422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a:t>Overview</a:t>
            </a:r>
          </a:p>
        </p:txBody>
      </p:sp>
      <p:graphicFrame>
        <p:nvGraphicFramePr>
          <p:cNvPr id="11" name="Content Placeholder 2">
            <a:extLst>
              <a:ext uri="{FF2B5EF4-FFF2-40B4-BE49-F238E27FC236}">
                <a16:creationId xmlns:a16="http://schemas.microsoft.com/office/drawing/2014/main" id="{31F8024A-744C-4E6A-DAE1-E7A0DEAF784D}"/>
              </a:ext>
            </a:extLst>
          </p:cNvPr>
          <p:cNvGraphicFramePr>
            <a:graphicFrameLocks noGrp="1"/>
          </p:cNvGraphicFramePr>
          <p:nvPr>
            <p:ph idx="1"/>
            <p:extLst>
              <p:ext uri="{D42A27DB-BD31-4B8C-83A1-F6EECF244321}">
                <p14:modId xmlns:p14="http://schemas.microsoft.com/office/powerpoint/2010/main" val="341844410"/>
              </p:ext>
            </p:extLst>
          </p:nvPr>
        </p:nvGraphicFramePr>
        <p:xfrm>
          <a:off x="628650" y="1096112"/>
          <a:ext cx="7886700" cy="3475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8EC02-17E1-1258-6E2C-D26756124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DE8B8-F748-3F1D-799C-FB5D4F32464D}"/>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8D6AD9F-D5F8-A7C3-3692-8F1D87B1C527}"/>
              </a:ext>
            </a:extLst>
          </p:cNvPr>
          <p:cNvGraphicFramePr>
            <a:graphicFrameLocks noGrp="1"/>
          </p:cNvGraphicFramePr>
          <p:nvPr>
            <p:ph idx="1"/>
            <p:extLst>
              <p:ext uri="{D42A27DB-BD31-4B8C-83A1-F6EECF244321}">
                <p14:modId xmlns:p14="http://schemas.microsoft.com/office/powerpoint/2010/main" val="380520999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76016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9424-719A-AEBF-D1EF-1BBDAFF5FEDD}"/>
              </a:ext>
            </a:extLst>
          </p:cNvPr>
          <p:cNvSpPr>
            <a:spLocks noGrp="1"/>
          </p:cNvSpPr>
          <p:nvPr>
            <p:ph type="title"/>
          </p:nvPr>
        </p:nvSpPr>
        <p:spPr/>
        <p:txBody>
          <a:bodyPr>
            <a:normAutofit fontScale="90000"/>
          </a:bodyPr>
          <a:lstStyle/>
          <a:p>
            <a:r>
              <a:rPr lang="en-US" dirty="0"/>
              <a:t>Brownfield vs. Evergreen Code</a:t>
            </a:r>
          </a:p>
        </p:txBody>
      </p:sp>
      <p:sp>
        <p:nvSpPr>
          <p:cNvPr id="3" name="Content Placeholder 2">
            <a:extLst>
              <a:ext uri="{FF2B5EF4-FFF2-40B4-BE49-F238E27FC236}">
                <a16:creationId xmlns:a16="http://schemas.microsoft.com/office/drawing/2014/main" id="{5CBDCA3B-67D5-5885-6251-9F43BC24C8F5}"/>
              </a:ext>
            </a:extLst>
          </p:cNvPr>
          <p:cNvSpPr>
            <a:spLocks noGrp="1"/>
          </p:cNvSpPr>
          <p:nvPr>
            <p:ph idx="1"/>
          </p:nvPr>
        </p:nvSpPr>
        <p:spPr/>
        <p:txBody>
          <a:bodyPr>
            <a:normAutofit/>
          </a:bodyPr>
          <a:lstStyle/>
          <a:p>
            <a:r>
              <a:rPr lang="en-US" dirty="0"/>
              <a:t>Most real-world software is brownfield, not greenfield</a:t>
            </a:r>
          </a:p>
          <a:p>
            <a:r>
              <a:rPr lang="en-US" dirty="0"/>
              <a:t>Brownfield ≠ “bad” — it simply means “already exists and is in use”</a:t>
            </a:r>
          </a:p>
          <a:p>
            <a:r>
              <a:rPr lang="en-US" dirty="0"/>
              <a:t>Evergreen code is a philosophy, not a technology stack</a:t>
            </a:r>
          </a:p>
          <a:p>
            <a:r>
              <a:rPr lang="en-US" dirty="0"/>
              <a:t>The goal: systems that remain maintainable, secure, and aligned with current best practices</a:t>
            </a:r>
          </a:p>
          <a:p>
            <a:endParaRPr lang="en-US" dirty="0"/>
          </a:p>
        </p:txBody>
      </p:sp>
    </p:spTree>
    <p:extLst>
      <p:ext uri="{BB962C8B-B14F-4D97-AF65-F5344CB8AC3E}">
        <p14:creationId xmlns:p14="http://schemas.microsoft.com/office/powerpoint/2010/main" val="38069838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0ACD-3D97-D461-DF19-837F53BD6D84}"/>
              </a:ext>
            </a:extLst>
          </p:cNvPr>
          <p:cNvSpPr>
            <a:spLocks noGrp="1"/>
          </p:cNvSpPr>
          <p:nvPr>
            <p:ph type="title"/>
          </p:nvPr>
        </p:nvSpPr>
        <p:spPr/>
        <p:txBody>
          <a:bodyPr>
            <a:normAutofit fontScale="90000"/>
          </a:bodyPr>
          <a:lstStyle/>
          <a:p>
            <a:r>
              <a:rPr lang="en-US" dirty="0"/>
              <a:t>What Defines Brownfield Code</a:t>
            </a:r>
          </a:p>
        </p:txBody>
      </p:sp>
      <p:sp>
        <p:nvSpPr>
          <p:cNvPr id="3" name="Content Placeholder 2">
            <a:extLst>
              <a:ext uri="{FF2B5EF4-FFF2-40B4-BE49-F238E27FC236}">
                <a16:creationId xmlns:a16="http://schemas.microsoft.com/office/drawing/2014/main" id="{AC619AE1-DF34-5895-E8BC-76482BD572DC}"/>
              </a:ext>
            </a:extLst>
          </p:cNvPr>
          <p:cNvSpPr>
            <a:spLocks noGrp="1"/>
          </p:cNvSpPr>
          <p:nvPr>
            <p:ph idx="1"/>
          </p:nvPr>
        </p:nvSpPr>
        <p:spPr/>
        <p:txBody>
          <a:bodyPr>
            <a:normAutofit lnSpcReduction="10000"/>
          </a:bodyPr>
          <a:lstStyle/>
          <a:p>
            <a:r>
              <a:rPr lang="en-US" dirty="0"/>
              <a:t>Brownfield code is</a:t>
            </a:r>
          </a:p>
          <a:p>
            <a:pPr lvl="1"/>
            <a:r>
              <a:rPr lang="en-US" dirty="0"/>
              <a:t>Existing systems with history, constraints, and accumulated decisions</a:t>
            </a:r>
          </a:p>
          <a:p>
            <a:pPr lvl="1"/>
            <a:r>
              <a:rPr lang="en-US" dirty="0"/>
              <a:t>Code shaped by real users, real deadlines, and real production incidents</a:t>
            </a:r>
          </a:p>
          <a:p>
            <a:pPr lvl="1"/>
            <a:r>
              <a:rPr lang="en-US" dirty="0"/>
              <a:t>Software that has survived contact with reality</a:t>
            </a:r>
          </a:p>
          <a:p>
            <a:r>
              <a:rPr lang="en-US" dirty="0"/>
              <a:t>Brownfield code is not</a:t>
            </a:r>
          </a:p>
          <a:p>
            <a:pPr lvl="1"/>
            <a:r>
              <a:rPr lang="en-US" dirty="0"/>
              <a:t>“Bad code”</a:t>
            </a:r>
          </a:p>
          <a:p>
            <a:pPr lvl="1"/>
            <a:r>
              <a:rPr lang="en-US" dirty="0"/>
              <a:t>“Legacy” in the pejorative sense</a:t>
            </a:r>
          </a:p>
          <a:p>
            <a:pPr lvl="1"/>
            <a:r>
              <a:rPr lang="en-US" dirty="0"/>
              <a:t>A sign of failure or poor engineering</a:t>
            </a:r>
          </a:p>
          <a:p>
            <a:endParaRPr lang="en-US" dirty="0"/>
          </a:p>
        </p:txBody>
      </p:sp>
    </p:spTree>
    <p:extLst>
      <p:ext uri="{BB962C8B-B14F-4D97-AF65-F5344CB8AC3E}">
        <p14:creationId xmlns:p14="http://schemas.microsoft.com/office/powerpoint/2010/main" val="1134016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E2B8-78C7-316E-0E78-FD4E64D3FDD4}"/>
              </a:ext>
            </a:extLst>
          </p:cNvPr>
          <p:cNvSpPr>
            <a:spLocks noGrp="1"/>
          </p:cNvSpPr>
          <p:nvPr>
            <p:ph type="title"/>
          </p:nvPr>
        </p:nvSpPr>
        <p:spPr/>
        <p:txBody>
          <a:bodyPr>
            <a:normAutofit fontScale="90000"/>
          </a:bodyPr>
          <a:lstStyle/>
          <a:p>
            <a:r>
              <a:rPr lang="en-US" dirty="0"/>
              <a:t>Why Codebases Degrade</a:t>
            </a:r>
          </a:p>
        </p:txBody>
      </p:sp>
      <p:sp>
        <p:nvSpPr>
          <p:cNvPr id="3" name="Content Placeholder 2">
            <a:extLst>
              <a:ext uri="{FF2B5EF4-FFF2-40B4-BE49-F238E27FC236}">
                <a16:creationId xmlns:a16="http://schemas.microsoft.com/office/drawing/2014/main" id="{BC12B94A-8991-4B98-2814-BBCC05C25284}"/>
              </a:ext>
            </a:extLst>
          </p:cNvPr>
          <p:cNvSpPr>
            <a:spLocks noGrp="1"/>
          </p:cNvSpPr>
          <p:nvPr>
            <p:ph idx="1"/>
          </p:nvPr>
        </p:nvSpPr>
        <p:spPr/>
        <p:txBody>
          <a:bodyPr>
            <a:normAutofit fontScale="85000" lnSpcReduction="20000"/>
          </a:bodyPr>
          <a:lstStyle/>
          <a:p>
            <a:r>
              <a:rPr lang="en-US" dirty="0"/>
              <a:t>Shifting business requirements</a:t>
            </a:r>
          </a:p>
          <a:p>
            <a:pPr lvl="1"/>
            <a:r>
              <a:rPr lang="en-US" dirty="0"/>
              <a:t>Code reflects the business at the moment it was written</a:t>
            </a:r>
          </a:p>
          <a:p>
            <a:r>
              <a:rPr lang="en-US" dirty="0"/>
              <a:t>Team turnover and knowledge loss</a:t>
            </a:r>
          </a:p>
          <a:p>
            <a:pPr lvl="1"/>
            <a:r>
              <a:rPr lang="en-US" dirty="0"/>
              <a:t>Tribal knowledge evaporates</a:t>
            </a:r>
          </a:p>
          <a:p>
            <a:r>
              <a:rPr lang="en-US" dirty="0"/>
              <a:t>Technology evolution</a:t>
            </a:r>
          </a:p>
          <a:p>
            <a:pPr lvl="1"/>
            <a:r>
              <a:rPr lang="en-US" dirty="0"/>
              <a:t>Frameworks, languages, and patterns age</a:t>
            </a:r>
          </a:p>
          <a:p>
            <a:r>
              <a:rPr lang="en-US" dirty="0"/>
              <a:t>Entropy and patchwork fixes</a:t>
            </a:r>
          </a:p>
          <a:p>
            <a:pPr lvl="1"/>
            <a:r>
              <a:rPr lang="en-US" dirty="0"/>
              <a:t>Quick fixes accumulate</a:t>
            </a:r>
          </a:p>
          <a:p>
            <a:pPr lvl="1"/>
            <a:r>
              <a:rPr lang="en-US" dirty="0"/>
              <a:t>Architectural drift emerges</a:t>
            </a:r>
          </a:p>
          <a:p>
            <a:r>
              <a:rPr lang="en-US" dirty="0"/>
              <a:t>Missing or outdated guardrails</a:t>
            </a:r>
          </a:p>
          <a:p>
            <a:pPr lvl="1"/>
            <a:r>
              <a:rPr lang="en-US" dirty="0"/>
              <a:t>Tests, documentation, and standards fall behind</a:t>
            </a:r>
          </a:p>
          <a:p>
            <a:endParaRPr lang="en-US" dirty="0"/>
          </a:p>
        </p:txBody>
      </p:sp>
    </p:spTree>
    <p:extLst>
      <p:ext uri="{BB962C8B-B14F-4D97-AF65-F5344CB8AC3E}">
        <p14:creationId xmlns:p14="http://schemas.microsoft.com/office/powerpoint/2010/main" val="90381502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38F9-AA48-1CED-A092-6E7B65A8FE0A}"/>
              </a:ext>
            </a:extLst>
          </p:cNvPr>
          <p:cNvSpPr>
            <a:spLocks noGrp="1"/>
          </p:cNvSpPr>
          <p:nvPr>
            <p:ph type="title"/>
          </p:nvPr>
        </p:nvSpPr>
        <p:spPr/>
        <p:txBody>
          <a:bodyPr>
            <a:normAutofit fontScale="90000"/>
          </a:bodyPr>
          <a:lstStyle/>
          <a:p>
            <a:r>
              <a:rPr lang="en-US" dirty="0"/>
              <a:t>The Evergreen Philosophy</a:t>
            </a:r>
          </a:p>
        </p:txBody>
      </p:sp>
      <p:sp>
        <p:nvSpPr>
          <p:cNvPr id="3" name="Content Placeholder 2">
            <a:extLst>
              <a:ext uri="{FF2B5EF4-FFF2-40B4-BE49-F238E27FC236}">
                <a16:creationId xmlns:a16="http://schemas.microsoft.com/office/drawing/2014/main" id="{8B272817-816C-C6B8-C5AE-721A4AD1D1A9}"/>
              </a:ext>
            </a:extLst>
          </p:cNvPr>
          <p:cNvSpPr>
            <a:spLocks noGrp="1"/>
          </p:cNvSpPr>
          <p:nvPr>
            <p:ph idx="1"/>
          </p:nvPr>
        </p:nvSpPr>
        <p:spPr/>
        <p:txBody>
          <a:bodyPr/>
          <a:lstStyle/>
          <a:p>
            <a:r>
              <a:rPr lang="en-US" dirty="0"/>
              <a:t>- Evergreen code asks one question:</a:t>
            </a:r>
          </a:p>
          <a:p>
            <a:pPr marL="0" indent="0">
              <a:buNone/>
            </a:pPr>
            <a:r>
              <a:rPr lang="en-US" dirty="0"/>
              <a:t>	“If we rewrote this today, would it look the same?”</a:t>
            </a:r>
          </a:p>
          <a:p>
            <a:r>
              <a:rPr lang="en-US" dirty="0"/>
              <a:t>If the answer is “yes,” the system is evergreen</a:t>
            </a:r>
          </a:p>
          <a:p>
            <a:r>
              <a:rPr lang="en-US" dirty="0"/>
              <a:t>If the answer is “no,” the gap defines your modernization roadmap</a:t>
            </a:r>
          </a:p>
          <a:p>
            <a:r>
              <a:rPr lang="en-US" dirty="0"/>
              <a:t>Evergreen is about continuous alignment, not perfection</a:t>
            </a:r>
          </a:p>
          <a:p>
            <a:r>
              <a:rPr lang="en-US" dirty="0"/>
              <a:t>Small, frequent improvements beat large rewrites</a:t>
            </a:r>
          </a:p>
          <a:p>
            <a:endParaRPr lang="en-US" dirty="0"/>
          </a:p>
        </p:txBody>
      </p:sp>
    </p:spTree>
    <p:extLst>
      <p:ext uri="{BB962C8B-B14F-4D97-AF65-F5344CB8AC3E}">
        <p14:creationId xmlns:p14="http://schemas.microsoft.com/office/powerpoint/2010/main" val="34218278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5A34-5DE5-3D46-E403-B65CF0F3E402}"/>
              </a:ext>
            </a:extLst>
          </p:cNvPr>
          <p:cNvSpPr>
            <a:spLocks noGrp="1"/>
          </p:cNvSpPr>
          <p:nvPr>
            <p:ph type="title"/>
          </p:nvPr>
        </p:nvSpPr>
        <p:spPr/>
        <p:txBody>
          <a:bodyPr>
            <a:noAutofit/>
          </a:bodyPr>
          <a:lstStyle/>
          <a:p>
            <a:r>
              <a:rPr lang="en-US" sz="2400" dirty="0"/>
              <a:t>Building Respect for Working Systems</a:t>
            </a:r>
          </a:p>
        </p:txBody>
      </p:sp>
      <p:sp>
        <p:nvSpPr>
          <p:cNvPr id="3" name="Content Placeholder 2">
            <a:extLst>
              <a:ext uri="{FF2B5EF4-FFF2-40B4-BE49-F238E27FC236}">
                <a16:creationId xmlns:a16="http://schemas.microsoft.com/office/drawing/2014/main" id="{AE5DDC50-57B9-9EF4-52A5-187529E706A2}"/>
              </a:ext>
            </a:extLst>
          </p:cNvPr>
          <p:cNvSpPr>
            <a:spLocks noGrp="1"/>
          </p:cNvSpPr>
          <p:nvPr>
            <p:ph idx="1"/>
          </p:nvPr>
        </p:nvSpPr>
        <p:spPr/>
        <p:txBody>
          <a:bodyPr/>
          <a:lstStyle/>
          <a:p>
            <a:r>
              <a:rPr lang="en-US" dirty="0"/>
              <a:t>Brownfield systems are valuable - they run the business</a:t>
            </a:r>
          </a:p>
          <a:p>
            <a:r>
              <a:rPr lang="en-US" dirty="0"/>
              <a:t>Fear leads to paralysis and avoidance</a:t>
            </a:r>
          </a:p>
          <a:p>
            <a:r>
              <a:rPr lang="en-US" dirty="0"/>
              <a:t>Respect leads to thoughtful, incremental improvement</a:t>
            </a:r>
          </a:p>
          <a:p>
            <a:r>
              <a:rPr lang="en-US" dirty="0"/>
              <a:t>Treat the system as a partner, not an adversary</a:t>
            </a:r>
          </a:p>
          <a:p>
            <a:r>
              <a:rPr lang="en-US" dirty="0"/>
              <a:t>“It works” is not an insult — it’s a success criterion</a:t>
            </a:r>
          </a:p>
          <a:p>
            <a:endParaRPr lang="en-US" dirty="0"/>
          </a:p>
        </p:txBody>
      </p:sp>
    </p:spTree>
    <p:extLst>
      <p:ext uri="{BB962C8B-B14F-4D97-AF65-F5344CB8AC3E}">
        <p14:creationId xmlns:p14="http://schemas.microsoft.com/office/powerpoint/2010/main" val="302561278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90A8-3FB1-1980-12E9-B7C288E64291}"/>
              </a:ext>
            </a:extLst>
          </p:cNvPr>
          <p:cNvSpPr>
            <a:spLocks noGrp="1"/>
          </p:cNvSpPr>
          <p:nvPr>
            <p:ph type="title"/>
          </p:nvPr>
        </p:nvSpPr>
        <p:spPr/>
        <p:txBody>
          <a:bodyPr>
            <a:normAutofit fontScale="90000"/>
          </a:bodyPr>
          <a:lstStyle/>
          <a:p>
            <a:r>
              <a:rPr lang="en-US" dirty="0"/>
              <a:t>Why Evergreen?</a:t>
            </a:r>
          </a:p>
        </p:txBody>
      </p:sp>
      <p:sp>
        <p:nvSpPr>
          <p:cNvPr id="3" name="Content Placeholder 2">
            <a:extLst>
              <a:ext uri="{FF2B5EF4-FFF2-40B4-BE49-F238E27FC236}">
                <a16:creationId xmlns:a16="http://schemas.microsoft.com/office/drawing/2014/main" id="{9A051CB0-3AD3-90F9-2557-420AACB114D8}"/>
              </a:ext>
            </a:extLst>
          </p:cNvPr>
          <p:cNvSpPr>
            <a:spLocks noGrp="1"/>
          </p:cNvSpPr>
          <p:nvPr>
            <p:ph idx="1"/>
          </p:nvPr>
        </p:nvSpPr>
        <p:spPr/>
        <p:txBody>
          <a:bodyPr>
            <a:normAutofit fontScale="92500" lnSpcReduction="20000"/>
          </a:bodyPr>
          <a:lstStyle/>
          <a:p>
            <a:r>
              <a:rPr lang="en-US" dirty="0"/>
              <a:t>Evergreen is a high bar that brownfield codebases should strive to achieve</a:t>
            </a:r>
          </a:p>
          <a:p>
            <a:r>
              <a:rPr lang="en-US" dirty="0"/>
              <a:t>Before AIASD</a:t>
            </a:r>
          </a:p>
          <a:p>
            <a:pPr lvl="1"/>
            <a:r>
              <a:rPr lang="en-US" dirty="0"/>
              <a:t>Evergreen was difficult to maintain</a:t>
            </a:r>
          </a:p>
          <a:p>
            <a:pPr lvl="1"/>
            <a:r>
              <a:rPr lang="en-US" dirty="0"/>
              <a:t>Moving from brownfield to evergreen was cost prohibited</a:t>
            </a:r>
          </a:p>
          <a:p>
            <a:r>
              <a:rPr lang="en-US" dirty="0"/>
              <a:t>AI can assist with </a:t>
            </a:r>
          </a:p>
          <a:p>
            <a:pPr lvl="1"/>
            <a:r>
              <a:rPr lang="en-US" dirty="0"/>
              <a:t>Identifying technical debt</a:t>
            </a:r>
          </a:p>
          <a:p>
            <a:pPr lvl="1"/>
            <a:r>
              <a:rPr lang="en-US" dirty="0"/>
              <a:t>Prioritizing modernizations</a:t>
            </a:r>
          </a:p>
          <a:p>
            <a:pPr lvl="1"/>
            <a:r>
              <a:rPr lang="en-US" dirty="0"/>
              <a:t>Implementing improvements</a:t>
            </a:r>
          </a:p>
          <a:p>
            <a:pPr lvl="1"/>
            <a:r>
              <a:rPr lang="en-US" dirty="0"/>
              <a:t>Validating implementations</a:t>
            </a:r>
          </a:p>
          <a:p>
            <a:pPr lvl="1"/>
            <a:r>
              <a:rPr lang="en-US" dirty="0"/>
              <a:t>Documenting progress</a:t>
            </a:r>
          </a:p>
          <a:p>
            <a:pPr lvl="2"/>
            <a:endParaRPr lang="en-US" dirty="0"/>
          </a:p>
          <a:p>
            <a:pPr lvl="1"/>
            <a:endParaRPr lang="en-US" dirty="0"/>
          </a:p>
          <a:p>
            <a:endParaRPr lang="en-US" dirty="0"/>
          </a:p>
        </p:txBody>
      </p:sp>
    </p:spTree>
    <p:extLst>
      <p:ext uri="{BB962C8B-B14F-4D97-AF65-F5344CB8AC3E}">
        <p14:creationId xmlns:p14="http://schemas.microsoft.com/office/powerpoint/2010/main" val="9455912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D915-77C7-243C-FA2A-AF7B0FF1E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CE4FC-20E1-A011-0546-32E0CEFD8C57}"/>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9F66FF0A-10D2-7C6C-62D7-F554D72E2205}"/>
              </a:ext>
            </a:extLst>
          </p:cNvPr>
          <p:cNvGraphicFramePr>
            <a:graphicFrameLocks noGrp="1"/>
          </p:cNvGraphicFramePr>
          <p:nvPr>
            <p:ph idx="1"/>
            <p:extLst>
              <p:ext uri="{D42A27DB-BD31-4B8C-83A1-F6EECF244321}">
                <p14:modId xmlns:p14="http://schemas.microsoft.com/office/powerpoint/2010/main" val="277150934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724238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9DDA-4883-A20C-36A1-CCEF305FFA0A}"/>
              </a:ext>
            </a:extLst>
          </p:cNvPr>
          <p:cNvSpPr>
            <a:spLocks noGrp="1"/>
          </p:cNvSpPr>
          <p:nvPr>
            <p:ph type="title"/>
          </p:nvPr>
        </p:nvSpPr>
        <p:spPr/>
        <p:txBody>
          <a:bodyPr>
            <a:normAutofit fontScale="90000"/>
          </a:bodyPr>
          <a:lstStyle/>
          <a:p>
            <a:r>
              <a:rPr lang="en-US" dirty="0"/>
              <a:t>Essential Safety Measures</a:t>
            </a:r>
          </a:p>
        </p:txBody>
      </p:sp>
      <p:sp>
        <p:nvSpPr>
          <p:cNvPr id="3" name="Content Placeholder 2">
            <a:extLst>
              <a:ext uri="{FF2B5EF4-FFF2-40B4-BE49-F238E27FC236}">
                <a16:creationId xmlns:a16="http://schemas.microsoft.com/office/drawing/2014/main" id="{AB4CCE7F-D3FA-1841-7E9A-A18C9B1F33BA}"/>
              </a:ext>
            </a:extLst>
          </p:cNvPr>
          <p:cNvSpPr>
            <a:spLocks noGrp="1"/>
          </p:cNvSpPr>
          <p:nvPr>
            <p:ph idx="1"/>
          </p:nvPr>
        </p:nvSpPr>
        <p:spPr/>
        <p:txBody>
          <a:bodyPr/>
          <a:lstStyle/>
          <a:p>
            <a:r>
              <a:rPr lang="en-US" dirty="0"/>
              <a:t>AI accelerates development, but it also accelerates mistakes</a:t>
            </a:r>
          </a:p>
          <a:p>
            <a:r>
              <a:rPr lang="en-US" dirty="0"/>
              <a:t>Strong safety nets must be in place before introducing AI into a brownfield codebase</a:t>
            </a:r>
          </a:p>
          <a:p>
            <a:r>
              <a:rPr lang="en-US" dirty="0"/>
              <a:t>These practices reduce risk, increase confidence, and protect production systems</a:t>
            </a:r>
          </a:p>
          <a:p>
            <a:endParaRPr lang="en-US" dirty="0"/>
          </a:p>
        </p:txBody>
      </p:sp>
    </p:spTree>
    <p:extLst>
      <p:ext uri="{BB962C8B-B14F-4D97-AF65-F5344CB8AC3E}">
        <p14:creationId xmlns:p14="http://schemas.microsoft.com/office/powerpoint/2010/main" val="380817419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2D515-9199-7628-36FA-5D282B75E796}"/>
              </a:ext>
            </a:extLst>
          </p:cNvPr>
          <p:cNvSpPr>
            <a:spLocks noGrp="1"/>
          </p:cNvSpPr>
          <p:nvPr>
            <p:ph type="title"/>
          </p:nvPr>
        </p:nvSpPr>
        <p:spPr/>
        <p:txBody>
          <a:bodyPr>
            <a:normAutofit fontScale="90000"/>
          </a:bodyPr>
          <a:lstStyle/>
          <a:p>
            <a:r>
              <a:rPr lang="en-US" dirty="0"/>
              <a:t>Backup &amp; Rollback Strategies</a:t>
            </a:r>
          </a:p>
        </p:txBody>
      </p:sp>
      <p:sp>
        <p:nvSpPr>
          <p:cNvPr id="3" name="Content Placeholder 2">
            <a:extLst>
              <a:ext uri="{FF2B5EF4-FFF2-40B4-BE49-F238E27FC236}">
                <a16:creationId xmlns:a16="http://schemas.microsoft.com/office/drawing/2014/main" id="{B306C9D8-6595-6F9D-ACF7-D358E506E055}"/>
              </a:ext>
            </a:extLst>
          </p:cNvPr>
          <p:cNvSpPr>
            <a:spLocks noGrp="1"/>
          </p:cNvSpPr>
          <p:nvPr>
            <p:ph idx="1"/>
          </p:nvPr>
        </p:nvSpPr>
        <p:spPr/>
        <p:txBody>
          <a:bodyPr/>
          <a:lstStyle/>
          <a:p>
            <a:r>
              <a:rPr lang="en-US" dirty="0"/>
              <a:t>Use branching strategies that isolate AI‑generated changes</a:t>
            </a:r>
          </a:p>
          <a:p>
            <a:r>
              <a:rPr lang="en-US" dirty="0"/>
              <a:t>Commit early and often to create natural rollback points</a:t>
            </a:r>
          </a:p>
          <a:p>
            <a:r>
              <a:rPr lang="en-US" dirty="0"/>
              <a:t>Archive snapshots of critical modules before modernization</a:t>
            </a:r>
          </a:p>
          <a:p>
            <a:r>
              <a:rPr lang="en-US" dirty="0"/>
              <a:t>Ensure you can revert any AI‑assisted change without drama</a:t>
            </a:r>
          </a:p>
          <a:p>
            <a:r>
              <a:rPr lang="en-US" dirty="0"/>
              <a:t>Use feature flags to separate release from deployment</a:t>
            </a:r>
          </a:p>
          <a:p>
            <a:endParaRPr lang="en-US" dirty="0"/>
          </a:p>
        </p:txBody>
      </p:sp>
    </p:spTree>
    <p:extLst>
      <p:ext uri="{BB962C8B-B14F-4D97-AF65-F5344CB8AC3E}">
        <p14:creationId xmlns:p14="http://schemas.microsoft.com/office/powerpoint/2010/main" val="273613815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315C-6B89-4FF4-5432-1E362C37A27D}"/>
              </a:ext>
            </a:extLst>
          </p:cNvPr>
          <p:cNvSpPr>
            <a:spLocks noGrp="1"/>
          </p:cNvSpPr>
          <p:nvPr>
            <p:ph type="title"/>
          </p:nvPr>
        </p:nvSpPr>
        <p:spPr/>
        <p:txBody>
          <a:bodyPr>
            <a:normAutofit fontScale="90000"/>
          </a:bodyPr>
          <a:lstStyle/>
          <a:p>
            <a:r>
              <a:rPr lang="en-US" dirty="0"/>
              <a:t>Testing Confidence Frameworks</a:t>
            </a:r>
          </a:p>
        </p:txBody>
      </p:sp>
      <p:sp>
        <p:nvSpPr>
          <p:cNvPr id="3" name="Content Placeholder 2">
            <a:extLst>
              <a:ext uri="{FF2B5EF4-FFF2-40B4-BE49-F238E27FC236}">
                <a16:creationId xmlns:a16="http://schemas.microsoft.com/office/drawing/2014/main" id="{E6B0B95D-2B73-AC76-3F27-719A17F7DF77}"/>
              </a:ext>
            </a:extLst>
          </p:cNvPr>
          <p:cNvSpPr>
            <a:spLocks noGrp="1"/>
          </p:cNvSpPr>
          <p:nvPr>
            <p:ph idx="1"/>
          </p:nvPr>
        </p:nvSpPr>
        <p:spPr/>
        <p:txBody>
          <a:bodyPr/>
          <a:lstStyle/>
          <a:p>
            <a:r>
              <a:rPr lang="en-US" dirty="0"/>
              <a:t>Strong tests are the backbone of safe AI‑assisted refactoring</a:t>
            </a:r>
          </a:p>
          <a:p>
            <a:r>
              <a:rPr lang="en-US" dirty="0"/>
              <a:t>Unit, integration, and behavioral tests validate AI output</a:t>
            </a:r>
          </a:p>
          <a:p>
            <a:r>
              <a:rPr lang="en-US" dirty="0"/>
              <a:t>Coverage matters less than signal quality</a:t>
            </a:r>
          </a:p>
          <a:p>
            <a:r>
              <a:rPr lang="en-US" dirty="0"/>
              <a:t>Tests should detect regressions, not just assert happy paths</a:t>
            </a:r>
          </a:p>
          <a:p>
            <a:endParaRPr lang="en-US" dirty="0"/>
          </a:p>
        </p:txBody>
      </p:sp>
    </p:spTree>
    <p:extLst>
      <p:ext uri="{BB962C8B-B14F-4D97-AF65-F5344CB8AC3E}">
        <p14:creationId xmlns:p14="http://schemas.microsoft.com/office/powerpoint/2010/main" val="74932919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330E-7501-BFC5-F921-52AA32C86833}"/>
              </a:ext>
            </a:extLst>
          </p:cNvPr>
          <p:cNvSpPr>
            <a:spLocks noGrp="1"/>
          </p:cNvSpPr>
          <p:nvPr>
            <p:ph type="title"/>
          </p:nvPr>
        </p:nvSpPr>
        <p:spPr/>
        <p:txBody>
          <a:bodyPr>
            <a:normAutofit fontScale="90000"/>
          </a:bodyPr>
          <a:lstStyle/>
          <a:p>
            <a:r>
              <a:rPr lang="en-US" dirty="0"/>
              <a:t>Change Review Processes</a:t>
            </a:r>
          </a:p>
        </p:txBody>
      </p:sp>
      <p:sp>
        <p:nvSpPr>
          <p:cNvPr id="3" name="Content Placeholder 2">
            <a:extLst>
              <a:ext uri="{FF2B5EF4-FFF2-40B4-BE49-F238E27FC236}">
                <a16:creationId xmlns:a16="http://schemas.microsoft.com/office/drawing/2014/main" id="{0E67DE67-3E71-9D9D-EC55-9BFB68BDC38C}"/>
              </a:ext>
            </a:extLst>
          </p:cNvPr>
          <p:cNvSpPr>
            <a:spLocks noGrp="1"/>
          </p:cNvSpPr>
          <p:nvPr>
            <p:ph idx="1"/>
          </p:nvPr>
        </p:nvSpPr>
        <p:spPr/>
        <p:txBody>
          <a:bodyPr/>
          <a:lstStyle/>
          <a:p>
            <a:r>
              <a:rPr lang="en-US" dirty="0"/>
              <a:t>Treat AI as a junior developer: everything gets reviewed</a:t>
            </a:r>
          </a:p>
          <a:p>
            <a:r>
              <a:rPr lang="en-US" dirty="0"/>
              <a:t>Use human‑in‑the‑loop validation for correctness and intent</a:t>
            </a:r>
          </a:p>
          <a:p>
            <a:r>
              <a:rPr lang="en-US" dirty="0"/>
              <a:t>Require architectural review for structural changes</a:t>
            </a:r>
          </a:p>
          <a:p>
            <a:r>
              <a:rPr lang="en-US" dirty="0"/>
              <a:t>Enforce standards through linters, static analysis, and policy checks</a:t>
            </a:r>
          </a:p>
          <a:p>
            <a:r>
              <a:rPr lang="en-US" dirty="0"/>
              <a:t>Leverage AI to reduce the review burden</a:t>
            </a:r>
          </a:p>
          <a:p>
            <a:endParaRPr lang="en-US" dirty="0"/>
          </a:p>
        </p:txBody>
      </p:sp>
    </p:spTree>
    <p:extLst>
      <p:ext uri="{BB962C8B-B14F-4D97-AF65-F5344CB8AC3E}">
        <p14:creationId xmlns:p14="http://schemas.microsoft.com/office/powerpoint/2010/main" val="334151485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D900-F4F9-CEC2-B836-505F0598F76D}"/>
              </a:ext>
            </a:extLst>
          </p:cNvPr>
          <p:cNvSpPr>
            <a:spLocks noGrp="1"/>
          </p:cNvSpPr>
          <p:nvPr>
            <p:ph type="title"/>
          </p:nvPr>
        </p:nvSpPr>
        <p:spPr/>
        <p:txBody>
          <a:bodyPr>
            <a:noAutofit/>
          </a:bodyPr>
          <a:lstStyle/>
          <a:p>
            <a:r>
              <a:rPr lang="en-US" sz="2800" dirty="0"/>
              <a:t>Incremental Change Methodology</a:t>
            </a:r>
          </a:p>
        </p:txBody>
      </p:sp>
      <p:sp>
        <p:nvSpPr>
          <p:cNvPr id="3" name="Content Placeholder 2">
            <a:extLst>
              <a:ext uri="{FF2B5EF4-FFF2-40B4-BE49-F238E27FC236}">
                <a16:creationId xmlns:a16="http://schemas.microsoft.com/office/drawing/2014/main" id="{8592BA75-A301-EF95-149A-8D3A512C08AA}"/>
              </a:ext>
            </a:extLst>
          </p:cNvPr>
          <p:cNvSpPr>
            <a:spLocks noGrp="1"/>
          </p:cNvSpPr>
          <p:nvPr>
            <p:ph idx="1"/>
          </p:nvPr>
        </p:nvSpPr>
        <p:spPr/>
        <p:txBody>
          <a:bodyPr/>
          <a:lstStyle/>
          <a:p>
            <a:r>
              <a:rPr lang="en-US" dirty="0"/>
              <a:t>Break modernization into small, safe, reversible steps</a:t>
            </a:r>
          </a:p>
          <a:p>
            <a:r>
              <a:rPr lang="en-US" dirty="0"/>
              <a:t>Avoid “big bang” refactors — they’re brittle and risky</a:t>
            </a:r>
          </a:p>
          <a:p>
            <a:r>
              <a:rPr lang="en-US" dirty="0"/>
              <a:t>Use iterative loops: propose → validate → refine → commit</a:t>
            </a:r>
          </a:p>
          <a:p>
            <a:r>
              <a:rPr lang="en-US" dirty="0"/>
              <a:t>Let AI assist with each step rather than entire subsystems at once</a:t>
            </a:r>
          </a:p>
          <a:p>
            <a:endParaRPr lang="en-US" dirty="0"/>
          </a:p>
        </p:txBody>
      </p:sp>
    </p:spTree>
    <p:extLst>
      <p:ext uri="{BB962C8B-B14F-4D97-AF65-F5344CB8AC3E}">
        <p14:creationId xmlns:p14="http://schemas.microsoft.com/office/powerpoint/2010/main" val="105293624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67AED-EB1A-2811-0735-CE5FD81074F7}"/>
              </a:ext>
            </a:extLst>
          </p:cNvPr>
          <p:cNvSpPr>
            <a:spLocks noGrp="1"/>
          </p:cNvSpPr>
          <p:nvPr>
            <p:ph type="title"/>
          </p:nvPr>
        </p:nvSpPr>
        <p:spPr/>
        <p:txBody>
          <a:bodyPr>
            <a:normAutofit fontScale="90000"/>
          </a:bodyPr>
          <a:lstStyle/>
          <a:p>
            <a:r>
              <a:rPr lang="en-US" dirty="0"/>
              <a:t>Keeping Change Sets Small</a:t>
            </a:r>
          </a:p>
        </p:txBody>
      </p:sp>
      <p:sp>
        <p:nvSpPr>
          <p:cNvPr id="3" name="Content Placeholder 2">
            <a:extLst>
              <a:ext uri="{FF2B5EF4-FFF2-40B4-BE49-F238E27FC236}">
                <a16:creationId xmlns:a16="http://schemas.microsoft.com/office/drawing/2014/main" id="{AA1A577C-DB0C-066E-BDB2-AE67F6A567CC}"/>
              </a:ext>
            </a:extLst>
          </p:cNvPr>
          <p:cNvSpPr>
            <a:spLocks noGrp="1"/>
          </p:cNvSpPr>
          <p:nvPr>
            <p:ph idx="1"/>
          </p:nvPr>
        </p:nvSpPr>
        <p:spPr/>
        <p:txBody>
          <a:bodyPr/>
          <a:lstStyle/>
          <a:p>
            <a:r>
              <a:rPr lang="en-US" dirty="0"/>
              <a:t>Small diffs are easier to review and validate</a:t>
            </a:r>
          </a:p>
          <a:p>
            <a:r>
              <a:rPr lang="en-US" dirty="0"/>
              <a:t>Small changes reduce merge conflicts and regression risk</a:t>
            </a:r>
          </a:p>
          <a:p>
            <a:r>
              <a:rPr lang="en-US" dirty="0"/>
              <a:t>AI should be instructed to limit scope intentionally</a:t>
            </a:r>
          </a:p>
          <a:p>
            <a:r>
              <a:rPr lang="en-US" dirty="0"/>
              <a:t>Small changes accumulate into large improvements over time</a:t>
            </a:r>
          </a:p>
          <a:p>
            <a:endParaRPr lang="en-US" dirty="0"/>
          </a:p>
        </p:txBody>
      </p:sp>
    </p:spTree>
    <p:extLst>
      <p:ext uri="{BB962C8B-B14F-4D97-AF65-F5344CB8AC3E}">
        <p14:creationId xmlns:p14="http://schemas.microsoft.com/office/powerpoint/2010/main" val="12502284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F496-DB76-CB78-E1E9-098C0DD78657}"/>
              </a:ext>
            </a:extLst>
          </p:cNvPr>
          <p:cNvSpPr>
            <a:spLocks noGrp="1"/>
          </p:cNvSpPr>
          <p:nvPr>
            <p:ph type="title"/>
          </p:nvPr>
        </p:nvSpPr>
        <p:spPr/>
        <p:txBody>
          <a:bodyPr>
            <a:normAutofit fontScale="90000"/>
          </a:bodyPr>
          <a:lstStyle/>
          <a:p>
            <a:r>
              <a:rPr lang="en-US" dirty="0"/>
              <a:t>Respecting Brownfield Code</a:t>
            </a:r>
          </a:p>
        </p:txBody>
      </p:sp>
      <p:sp>
        <p:nvSpPr>
          <p:cNvPr id="3" name="Content Placeholder 2">
            <a:extLst>
              <a:ext uri="{FF2B5EF4-FFF2-40B4-BE49-F238E27FC236}">
                <a16:creationId xmlns:a16="http://schemas.microsoft.com/office/drawing/2014/main" id="{65544EC1-EF51-8B3B-E691-E0663FC1554D}"/>
              </a:ext>
            </a:extLst>
          </p:cNvPr>
          <p:cNvSpPr>
            <a:spLocks noGrp="1"/>
          </p:cNvSpPr>
          <p:nvPr>
            <p:ph idx="1"/>
          </p:nvPr>
        </p:nvSpPr>
        <p:spPr/>
        <p:txBody>
          <a:bodyPr/>
          <a:lstStyle/>
          <a:p>
            <a:r>
              <a:rPr lang="en-US" dirty="0"/>
              <a:t>Brownfield systems are valuable – they run the business</a:t>
            </a:r>
          </a:p>
          <a:p>
            <a:r>
              <a:rPr lang="en-US" dirty="0"/>
              <a:t>Avoid assumptions that “old” means “wrong”</a:t>
            </a:r>
          </a:p>
          <a:p>
            <a:r>
              <a:rPr lang="en-US" dirty="0"/>
              <a:t>Understand the constraints that shaped the existing design</a:t>
            </a:r>
          </a:p>
          <a:p>
            <a:r>
              <a:rPr lang="en-US" dirty="0"/>
              <a:t>Modernize with empathy, not aggression</a:t>
            </a:r>
          </a:p>
          <a:p>
            <a:endParaRPr lang="en-US" dirty="0"/>
          </a:p>
        </p:txBody>
      </p:sp>
    </p:spTree>
    <p:extLst>
      <p:ext uri="{BB962C8B-B14F-4D97-AF65-F5344CB8AC3E}">
        <p14:creationId xmlns:p14="http://schemas.microsoft.com/office/powerpoint/2010/main" val="118018595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197E5-C518-E6D8-8534-DE7BD5E3B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4568-C854-C4A3-B709-5C432C5C35A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56DAF69-B1ED-E17A-2E5C-39A533941F35}"/>
              </a:ext>
            </a:extLst>
          </p:cNvPr>
          <p:cNvGraphicFramePr>
            <a:graphicFrameLocks noGrp="1"/>
          </p:cNvGraphicFramePr>
          <p:nvPr>
            <p:ph idx="1"/>
            <p:extLst>
              <p:ext uri="{D42A27DB-BD31-4B8C-83A1-F6EECF244321}">
                <p14:modId xmlns:p14="http://schemas.microsoft.com/office/powerpoint/2010/main" val="54859015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04729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9F95-C252-99E3-7D24-BD6A6FA32392}"/>
              </a:ext>
            </a:extLst>
          </p:cNvPr>
          <p:cNvSpPr>
            <a:spLocks noGrp="1"/>
          </p:cNvSpPr>
          <p:nvPr>
            <p:ph type="title"/>
          </p:nvPr>
        </p:nvSpPr>
        <p:spPr/>
        <p:txBody>
          <a:bodyPr>
            <a:noAutofit/>
          </a:bodyPr>
          <a:lstStyle/>
          <a:p>
            <a:r>
              <a:rPr lang="en-US" sz="2800" dirty="0"/>
              <a:t>Managing GitHub Copilot Effectively</a:t>
            </a:r>
          </a:p>
        </p:txBody>
      </p:sp>
      <p:sp>
        <p:nvSpPr>
          <p:cNvPr id="3" name="Content Placeholder 2">
            <a:extLst>
              <a:ext uri="{FF2B5EF4-FFF2-40B4-BE49-F238E27FC236}">
                <a16:creationId xmlns:a16="http://schemas.microsoft.com/office/drawing/2014/main" id="{2C53B977-EE84-D998-3FA6-53690156A802}"/>
              </a:ext>
            </a:extLst>
          </p:cNvPr>
          <p:cNvSpPr>
            <a:spLocks noGrp="1"/>
          </p:cNvSpPr>
          <p:nvPr>
            <p:ph idx="1"/>
          </p:nvPr>
        </p:nvSpPr>
        <p:spPr/>
        <p:txBody>
          <a:bodyPr/>
          <a:lstStyle/>
          <a:p>
            <a:r>
              <a:rPr lang="en-US" dirty="0"/>
              <a:t>Copilot is powerful, but not autonomous</a:t>
            </a:r>
          </a:p>
          <a:p>
            <a:r>
              <a:rPr lang="en-US" dirty="0"/>
              <a:t>Effective use requires structure, guardrails, and intent</a:t>
            </a:r>
          </a:p>
          <a:p>
            <a:r>
              <a:rPr lang="en-US" dirty="0"/>
              <a:t>Treat Copilot as a collaborator whose output improves with guidance</a:t>
            </a:r>
          </a:p>
          <a:p>
            <a:r>
              <a:rPr lang="en-US" dirty="0"/>
              <a:t>Your process determines the quality of its contributions</a:t>
            </a:r>
          </a:p>
          <a:p>
            <a:endParaRPr lang="en-US" dirty="0"/>
          </a:p>
        </p:txBody>
      </p:sp>
    </p:spTree>
    <p:extLst>
      <p:ext uri="{BB962C8B-B14F-4D97-AF65-F5344CB8AC3E}">
        <p14:creationId xmlns:p14="http://schemas.microsoft.com/office/powerpoint/2010/main" val="283202293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D2D0-7495-DB79-4AB4-38807E04E31C}"/>
              </a:ext>
            </a:extLst>
          </p:cNvPr>
          <p:cNvSpPr>
            <a:spLocks noGrp="1"/>
          </p:cNvSpPr>
          <p:nvPr>
            <p:ph type="title"/>
          </p:nvPr>
        </p:nvSpPr>
        <p:spPr/>
        <p:txBody>
          <a:bodyPr>
            <a:normAutofit fontScale="90000"/>
          </a:bodyPr>
          <a:lstStyle/>
          <a:p>
            <a:r>
              <a:rPr lang="en-US" dirty="0"/>
              <a:t>A Managed Junior Developer</a:t>
            </a:r>
          </a:p>
        </p:txBody>
      </p:sp>
      <p:sp>
        <p:nvSpPr>
          <p:cNvPr id="3" name="Content Placeholder 2">
            <a:extLst>
              <a:ext uri="{FF2B5EF4-FFF2-40B4-BE49-F238E27FC236}">
                <a16:creationId xmlns:a16="http://schemas.microsoft.com/office/drawing/2014/main" id="{513B330C-7F3B-02D0-B3E4-C8E695D20188}"/>
              </a:ext>
            </a:extLst>
          </p:cNvPr>
          <p:cNvSpPr>
            <a:spLocks noGrp="1"/>
          </p:cNvSpPr>
          <p:nvPr>
            <p:ph idx="1"/>
          </p:nvPr>
        </p:nvSpPr>
        <p:spPr/>
        <p:txBody>
          <a:bodyPr/>
          <a:lstStyle/>
          <a:p>
            <a:r>
              <a:rPr lang="en-US" dirty="0"/>
              <a:t>Copilot is fast, eager, and sometimes confidently wrong</a:t>
            </a:r>
          </a:p>
          <a:p>
            <a:r>
              <a:rPr lang="en-US" dirty="0"/>
              <a:t>Provide clear instructions, constraints, and examples</a:t>
            </a:r>
          </a:p>
          <a:p>
            <a:r>
              <a:rPr lang="en-US" dirty="0"/>
              <a:t>Review everything – trust its speed, not its judgment</a:t>
            </a:r>
          </a:p>
          <a:p>
            <a:r>
              <a:rPr lang="en-US" dirty="0"/>
              <a:t>Use iterative loops: instruct → generate → review → refine</a:t>
            </a:r>
          </a:p>
          <a:p>
            <a:r>
              <a:rPr lang="en-US" dirty="0"/>
              <a:t>Give Copilot ownership of tasks, not architecture</a:t>
            </a:r>
          </a:p>
          <a:p>
            <a:endParaRPr lang="en-US" dirty="0"/>
          </a:p>
        </p:txBody>
      </p:sp>
    </p:spTree>
    <p:extLst>
      <p:ext uri="{BB962C8B-B14F-4D97-AF65-F5344CB8AC3E}">
        <p14:creationId xmlns:p14="http://schemas.microsoft.com/office/powerpoint/2010/main" val="36902113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6D763-C0F5-E4C1-8683-7E5EEC692F24}"/>
              </a:ext>
            </a:extLst>
          </p:cNvPr>
          <p:cNvSpPr>
            <a:spLocks noGrp="1"/>
          </p:cNvSpPr>
          <p:nvPr>
            <p:ph type="title"/>
          </p:nvPr>
        </p:nvSpPr>
        <p:spPr/>
        <p:txBody>
          <a:bodyPr>
            <a:normAutofit fontScale="90000"/>
          </a:bodyPr>
          <a:lstStyle/>
          <a:p>
            <a:r>
              <a:rPr lang="en-US" dirty="0"/>
              <a:t>Understanding Context &amp; Tokens</a:t>
            </a:r>
          </a:p>
        </p:txBody>
      </p:sp>
      <p:sp>
        <p:nvSpPr>
          <p:cNvPr id="3" name="Content Placeholder 2">
            <a:extLst>
              <a:ext uri="{FF2B5EF4-FFF2-40B4-BE49-F238E27FC236}">
                <a16:creationId xmlns:a16="http://schemas.microsoft.com/office/drawing/2014/main" id="{B1A00227-B53E-48DF-C39C-B324E34955CA}"/>
              </a:ext>
            </a:extLst>
          </p:cNvPr>
          <p:cNvSpPr>
            <a:spLocks noGrp="1"/>
          </p:cNvSpPr>
          <p:nvPr>
            <p:ph idx="1"/>
          </p:nvPr>
        </p:nvSpPr>
        <p:spPr/>
        <p:txBody>
          <a:bodyPr>
            <a:normAutofit fontScale="92500"/>
          </a:bodyPr>
          <a:lstStyle/>
          <a:p>
            <a:r>
              <a:rPr lang="en-US" dirty="0"/>
              <a:t>Copilot can only “see” a limited amount of text at once</a:t>
            </a:r>
          </a:p>
          <a:p>
            <a:r>
              <a:rPr lang="en-US" dirty="0"/>
              <a:t>Large files, long conversations, or complex repos can exceed context</a:t>
            </a:r>
          </a:p>
          <a:p>
            <a:r>
              <a:rPr lang="en-US" dirty="0"/>
              <a:t>Important details may fall out of the window without you realizing</a:t>
            </a:r>
          </a:p>
          <a:p>
            <a:r>
              <a:rPr lang="en-US" dirty="0"/>
              <a:t>Use techniques to keep context focused:</a:t>
            </a:r>
          </a:p>
          <a:p>
            <a:pPr lvl="1"/>
            <a:r>
              <a:rPr lang="en-US" dirty="0"/>
              <a:t>Summaries</a:t>
            </a:r>
          </a:p>
          <a:p>
            <a:pPr lvl="1"/>
            <a:r>
              <a:rPr lang="en-US" dirty="0"/>
              <a:t>Instruction files</a:t>
            </a:r>
          </a:p>
          <a:p>
            <a:pPr lvl="1"/>
            <a:r>
              <a:rPr lang="en-US" dirty="0"/>
              <a:t>Modular prompts</a:t>
            </a:r>
          </a:p>
          <a:p>
            <a:pPr lvl="1"/>
            <a:r>
              <a:rPr lang="en-US" dirty="0"/>
              <a:t>Smaller working sets</a:t>
            </a:r>
          </a:p>
          <a:p>
            <a:endParaRPr lang="en-US" dirty="0"/>
          </a:p>
        </p:txBody>
      </p:sp>
    </p:spTree>
    <p:extLst>
      <p:ext uri="{BB962C8B-B14F-4D97-AF65-F5344CB8AC3E}">
        <p14:creationId xmlns:p14="http://schemas.microsoft.com/office/powerpoint/2010/main" val="66129924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6F91-1C01-2377-14DD-FF7DF9A443BE}"/>
              </a:ext>
            </a:extLst>
          </p:cNvPr>
          <p:cNvSpPr>
            <a:spLocks noGrp="1"/>
          </p:cNvSpPr>
          <p:nvPr>
            <p:ph type="title"/>
          </p:nvPr>
        </p:nvSpPr>
        <p:spPr/>
        <p:txBody>
          <a:bodyPr>
            <a:noAutofit/>
          </a:bodyPr>
          <a:lstStyle/>
          <a:p>
            <a:r>
              <a:rPr lang="en-US" sz="2800" dirty="0"/>
              <a:t>Prompt Engineering Best Practices</a:t>
            </a:r>
          </a:p>
        </p:txBody>
      </p:sp>
      <p:sp>
        <p:nvSpPr>
          <p:cNvPr id="3" name="Content Placeholder 2">
            <a:extLst>
              <a:ext uri="{FF2B5EF4-FFF2-40B4-BE49-F238E27FC236}">
                <a16:creationId xmlns:a16="http://schemas.microsoft.com/office/drawing/2014/main" id="{ED15D6A4-70C4-D550-5AFB-6FB4F9109022}"/>
              </a:ext>
            </a:extLst>
          </p:cNvPr>
          <p:cNvSpPr>
            <a:spLocks noGrp="1"/>
          </p:cNvSpPr>
          <p:nvPr>
            <p:ph idx="1"/>
          </p:nvPr>
        </p:nvSpPr>
        <p:spPr/>
        <p:txBody>
          <a:bodyPr/>
          <a:lstStyle/>
          <a:p>
            <a:r>
              <a:rPr lang="en-US" dirty="0"/>
              <a:t>Be explicit about goals, constraints, and success criteria</a:t>
            </a:r>
          </a:p>
          <a:p>
            <a:r>
              <a:rPr lang="en-US" dirty="0"/>
              <a:t>Provide examples of the desired pattern or style</a:t>
            </a:r>
          </a:p>
          <a:p>
            <a:r>
              <a:rPr lang="en-US" dirty="0"/>
              <a:t>Break large tasks into smaller, testable steps</a:t>
            </a:r>
          </a:p>
          <a:p>
            <a:r>
              <a:rPr lang="en-US" dirty="0"/>
              <a:t>Use instruction files for stable rules and architectural boundaries</a:t>
            </a:r>
          </a:p>
          <a:p>
            <a:r>
              <a:rPr lang="en-US" dirty="0"/>
              <a:t>Ask Copilot to explain its reasoning when correctness matters</a:t>
            </a:r>
          </a:p>
          <a:p>
            <a:endParaRPr lang="en-US" dirty="0"/>
          </a:p>
        </p:txBody>
      </p:sp>
    </p:spTree>
    <p:extLst>
      <p:ext uri="{BB962C8B-B14F-4D97-AF65-F5344CB8AC3E}">
        <p14:creationId xmlns:p14="http://schemas.microsoft.com/office/powerpoint/2010/main" val="85955394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4096-2A97-941F-E45C-666C132D7580}"/>
              </a:ext>
            </a:extLst>
          </p:cNvPr>
          <p:cNvSpPr>
            <a:spLocks noGrp="1"/>
          </p:cNvSpPr>
          <p:nvPr>
            <p:ph type="title"/>
          </p:nvPr>
        </p:nvSpPr>
        <p:spPr/>
        <p:txBody>
          <a:bodyPr>
            <a:normAutofit fontScale="90000"/>
          </a:bodyPr>
          <a:lstStyle/>
          <a:p>
            <a:r>
              <a:rPr lang="en-US" dirty="0"/>
              <a:t>Model Selection Strategies</a:t>
            </a:r>
          </a:p>
        </p:txBody>
      </p:sp>
      <p:sp>
        <p:nvSpPr>
          <p:cNvPr id="3" name="Content Placeholder 2">
            <a:extLst>
              <a:ext uri="{FF2B5EF4-FFF2-40B4-BE49-F238E27FC236}">
                <a16:creationId xmlns:a16="http://schemas.microsoft.com/office/drawing/2014/main" id="{B8F36928-B8A1-0B7B-A278-7A9C114D9BEC}"/>
              </a:ext>
            </a:extLst>
          </p:cNvPr>
          <p:cNvSpPr>
            <a:spLocks noGrp="1"/>
          </p:cNvSpPr>
          <p:nvPr>
            <p:ph idx="1"/>
          </p:nvPr>
        </p:nvSpPr>
        <p:spPr/>
        <p:txBody>
          <a:bodyPr>
            <a:normAutofit fontScale="92500" lnSpcReduction="20000"/>
          </a:bodyPr>
          <a:lstStyle/>
          <a:p>
            <a:r>
              <a:rPr lang="en-US" dirty="0"/>
              <a:t>Different models excel at different tasks</a:t>
            </a:r>
          </a:p>
          <a:p>
            <a:r>
              <a:rPr lang="en-US" dirty="0"/>
              <a:t>High‑end models (e.g., GPT‑4o, Claude Sonnet) are best for:</a:t>
            </a:r>
          </a:p>
          <a:p>
            <a:pPr lvl="1"/>
            <a:r>
              <a:rPr lang="en-US" dirty="0"/>
              <a:t>Architecture</a:t>
            </a:r>
          </a:p>
          <a:p>
            <a:pPr lvl="1"/>
            <a:r>
              <a:rPr lang="en-US" dirty="0"/>
              <a:t>Refactoring</a:t>
            </a:r>
          </a:p>
          <a:p>
            <a:pPr lvl="1"/>
            <a:r>
              <a:rPr lang="en-US" dirty="0"/>
              <a:t>Complex reasoning</a:t>
            </a:r>
          </a:p>
          <a:p>
            <a:pPr lvl="1"/>
            <a:r>
              <a:rPr lang="en-US" dirty="0"/>
              <a:t>Multi‑file changes</a:t>
            </a:r>
          </a:p>
          <a:p>
            <a:r>
              <a:rPr lang="en-US" dirty="0"/>
              <a:t>Lightweight models are ideal for:</a:t>
            </a:r>
          </a:p>
          <a:p>
            <a:pPr lvl="1"/>
            <a:r>
              <a:rPr lang="en-US" dirty="0"/>
              <a:t>Boilerplate</a:t>
            </a:r>
          </a:p>
          <a:p>
            <a:pPr lvl="1"/>
            <a:r>
              <a:rPr lang="en-US" dirty="0"/>
              <a:t>Repetitive tasks</a:t>
            </a:r>
          </a:p>
          <a:p>
            <a:pPr lvl="1"/>
            <a:r>
              <a:rPr lang="en-US" dirty="0"/>
              <a:t>Quick iterations</a:t>
            </a:r>
          </a:p>
          <a:p>
            <a:r>
              <a:rPr lang="en-US" dirty="0"/>
              <a:t>Match the model to the task, not the other way around</a:t>
            </a:r>
          </a:p>
          <a:p>
            <a:endParaRPr lang="en-US" dirty="0"/>
          </a:p>
        </p:txBody>
      </p:sp>
    </p:spTree>
    <p:extLst>
      <p:ext uri="{BB962C8B-B14F-4D97-AF65-F5344CB8AC3E}">
        <p14:creationId xmlns:p14="http://schemas.microsoft.com/office/powerpoint/2010/main" val="142226356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1BED9-35A1-2DDD-2055-3A572979D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E8580-B639-191C-53B6-ED74B497C323}"/>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94D1221-21EE-A548-AB62-934DC00116CE}"/>
              </a:ext>
            </a:extLst>
          </p:cNvPr>
          <p:cNvGraphicFramePr>
            <a:graphicFrameLocks noGrp="1"/>
          </p:cNvGraphicFramePr>
          <p:nvPr>
            <p:ph idx="1"/>
            <p:extLst>
              <p:ext uri="{D42A27DB-BD31-4B8C-83A1-F6EECF244321}">
                <p14:modId xmlns:p14="http://schemas.microsoft.com/office/powerpoint/2010/main" val="184073253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016351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Advanced Context Techniques</a:t>
            </a:r>
          </a:p>
        </p:txBody>
      </p:sp>
      <p:sp>
        <p:nvSpPr>
          <p:cNvPr id="3" name="Content Placeholder 2"/>
          <p:cNvSpPr>
            <a:spLocks noGrp="1"/>
          </p:cNvSpPr>
          <p:nvPr>
            <p:ph idx="1"/>
          </p:nvPr>
        </p:nvSpPr>
        <p:spPr/>
        <p:txBody>
          <a:bodyPr/>
          <a:lstStyle/>
          <a:p>
            <a:pPr lvl="0"/>
            <a:r>
              <a:t>Modern AI tools rely heavily on context quality</a:t>
            </a:r>
          </a:p>
          <a:p>
            <a:pPr lvl="0"/>
            <a:r>
              <a:t>Developers can shape context intentionally</a:t>
            </a:r>
          </a:p>
          <a:p>
            <a:pPr lvl="0"/>
            <a:r>
              <a:t>Reduces hallucinations, drift, and rework</a:t>
            </a:r>
          </a:p>
          <a:p>
            <a:pPr lvl="0"/>
            <a:r>
              <a:t>Strong context discipline is a core AI‑era skill</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File &amp; Folder Mentions (</a:t>
            </a:r>
            <a:r>
              <a:rPr b="1">
                <a:latin typeface="Courier"/>
              </a:rPr>
              <a:t>#</a:t>
            </a:r>
            <a:r>
              <a:rPr b="1"/>
              <a:t> Syntax)</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How it helps</a:t>
            </a:r>
          </a:p>
          <a:p>
            <a:pPr lvl="0"/>
            <a:r>
              <a:t>Explicitly pull files into context</a:t>
            </a:r>
          </a:p>
          <a:p>
            <a:pPr lvl="0"/>
            <a:r>
              <a:t>Ensures the model references real code, not guesses</a:t>
            </a:r>
          </a:p>
          <a:p>
            <a:pPr lvl="0"/>
            <a:r>
              <a:t>Supports cross‑file refactoring and API consistency</a:t>
            </a:r>
          </a:p>
          <a:p>
            <a:pPr lvl="0"/>
            <a:r>
              <a:t>Reduces drift in large repos</a:t>
            </a:r>
          </a:p>
          <a:p>
            <a:pPr marL="0" lvl="0" indent="0">
              <a:spcBef>
                <a:spcPts val="3000"/>
              </a:spcBef>
              <a:buNone/>
            </a:pPr>
            <a:r>
              <a:rPr b="1"/>
              <a:t>Examples</a:t>
            </a:r>
          </a:p>
          <a:p>
            <a:pPr lvl="0"/>
            <a:r>
              <a:rPr>
                <a:latin typeface="Courier"/>
              </a:rPr>
              <a:t>#src/utils/date.ts</a:t>
            </a:r>
          </a:p>
          <a:p>
            <a:pPr lvl="0"/>
            <a:r>
              <a:rPr>
                <a:latin typeface="Courier"/>
              </a:rPr>
              <a:t>#services/</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Spaces &amp; Knowledge Bases Integration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they matter</a:t>
            </a:r>
          </a:p>
          <a:p>
            <a:pPr lvl="0"/>
            <a:r>
              <a:t>Persistent, structured context containers</a:t>
            </a:r>
          </a:p>
          <a:p>
            <a:pPr lvl="0"/>
            <a:r>
              <a:t>Store architectural rules, domain models, coding standards</a:t>
            </a:r>
          </a:p>
          <a:p>
            <a:pPr lvl="0"/>
            <a:r>
              <a:t>Provide long‑term memory beyond a single prompt</a:t>
            </a:r>
          </a:p>
          <a:p>
            <a:pPr lvl="0"/>
            <a:r>
              <a:t>Ideal for instruction files and evergreen boundaries</a:t>
            </a:r>
          </a:p>
          <a:p>
            <a:pPr marL="0" lvl="0" indent="0">
              <a:spcBef>
                <a:spcPts val="3000"/>
              </a:spcBef>
              <a:buNone/>
            </a:pPr>
            <a:r>
              <a:rPr b="1"/>
              <a:t>Use cases</a:t>
            </a:r>
          </a:p>
          <a:p>
            <a:pPr lvl="0"/>
            <a:r>
              <a:t>Architecture constraints</a:t>
            </a:r>
          </a:p>
          <a:p>
            <a:pPr lvl="0"/>
            <a:r>
              <a:t>Domain terminology</a:t>
            </a:r>
          </a:p>
          <a:p>
            <a:pPr lvl="0"/>
            <a:r>
              <a:t>API contracts</a:t>
            </a:r>
          </a:p>
          <a:p>
            <a:pPr lvl="0"/>
            <a:r>
              <a:t>Coding conventions</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Premium Usage Monitoring</a:t>
            </a:r>
          </a:p>
        </p:txBody>
      </p:sp>
      <p:sp>
        <p:nvSpPr>
          <p:cNvPr id="3" name="Content Placeholder 2"/>
          <p:cNvSpPr>
            <a:spLocks noGrp="1"/>
          </p:cNvSpPr>
          <p:nvPr>
            <p:ph idx="1"/>
          </p:nvPr>
        </p:nvSpPr>
        <p:spPr/>
        <p:txBody>
          <a:bodyPr/>
          <a:lstStyle/>
          <a:p>
            <a:pPr lvl="0"/>
            <a:r>
              <a:rPr dirty="0"/>
              <a:t>High‑end models = high reasoning cost</a:t>
            </a:r>
          </a:p>
          <a:p>
            <a:pPr lvl="0"/>
            <a:r>
              <a:rPr dirty="0"/>
              <a:t>Monitor usage patterns to avoid unnecessary calls</a:t>
            </a:r>
          </a:p>
          <a:p>
            <a:pPr lvl="0"/>
            <a:r>
              <a:rPr dirty="0"/>
              <a:t>Use a tiered strategy:</a:t>
            </a:r>
          </a:p>
          <a:p>
            <a:pPr lvl="1"/>
            <a:r>
              <a:rPr dirty="0"/>
              <a:t>Premium for architecture &amp; refactoring</a:t>
            </a:r>
          </a:p>
          <a:p>
            <a:pPr lvl="1"/>
            <a:r>
              <a:rPr dirty="0"/>
              <a:t>Mid‑tier for implementation</a:t>
            </a:r>
          </a:p>
          <a:p>
            <a:pPr lvl="1"/>
            <a:r>
              <a:rPr dirty="0"/>
              <a:t>Lightweight for boilerplate</a:t>
            </a:r>
          </a:p>
          <a:p>
            <a:pPr lvl="0"/>
            <a:r>
              <a:rPr dirty="0"/>
              <a:t>Optimize prompts to reduce token </a:t>
            </a:r>
            <a:r>
              <a:rPr lang="en-US" dirty="0"/>
              <a:t>consumption</a:t>
            </a:r>
            <a:endParaRPr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Token Estimation &amp; Overflow Detection</a:t>
            </a:r>
          </a:p>
        </p:txBody>
      </p:sp>
      <p:sp>
        <p:nvSpPr>
          <p:cNvPr id="3" name="Content Placeholder 2"/>
          <p:cNvSpPr>
            <a:spLocks noGrp="1"/>
          </p:cNvSpPr>
          <p:nvPr>
            <p:ph idx="1"/>
          </p:nvPr>
        </p:nvSpPr>
        <p:spPr/>
        <p:txBody>
          <a:bodyPr>
            <a:normAutofit lnSpcReduction="10000"/>
          </a:bodyPr>
          <a:lstStyle/>
          <a:p>
            <a:pPr lvl="0"/>
            <a:r>
              <a:t>Models have strict token limits</a:t>
            </a:r>
          </a:p>
          <a:p>
            <a:pPr lvl="0"/>
            <a:r>
              <a:t>Overflow causes silent failures:</a:t>
            </a:r>
          </a:p>
          <a:p>
            <a:pPr lvl="1"/>
            <a:r>
              <a:t>Missing requirements</a:t>
            </a:r>
          </a:p>
          <a:p>
            <a:pPr lvl="1"/>
            <a:r>
              <a:t>Contradictions</a:t>
            </a:r>
          </a:p>
          <a:p>
            <a:pPr lvl="1"/>
            <a:r>
              <a:t>Forgotten rules</a:t>
            </a:r>
          </a:p>
          <a:p>
            <a:pPr lvl="0"/>
            <a:r>
              <a:t>Techniques to stay within limits:</a:t>
            </a:r>
          </a:p>
          <a:p>
            <a:pPr lvl="1"/>
            <a:r>
              <a:t>Summaries</a:t>
            </a:r>
          </a:p>
          <a:p>
            <a:pPr lvl="1"/>
            <a:r>
              <a:t>Chunking</a:t>
            </a:r>
          </a:p>
          <a:p>
            <a:pPr lvl="1"/>
            <a:r>
              <a:t>Scoped prompts</a:t>
            </a:r>
          </a:p>
          <a:p>
            <a:pPr lvl="1"/>
            <a:r>
              <a:t>Instruction files</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Why Token Limits Matter</a:t>
            </a:r>
          </a:p>
        </p:txBody>
      </p:sp>
      <p:sp>
        <p:nvSpPr>
          <p:cNvPr id="3" name="Content Placeholder 2"/>
          <p:cNvSpPr>
            <a:spLocks noGrp="1"/>
          </p:cNvSpPr>
          <p:nvPr>
            <p:ph idx="1"/>
          </p:nvPr>
        </p:nvSpPr>
        <p:spPr/>
        <p:txBody>
          <a:bodyPr/>
          <a:lstStyle/>
          <a:p>
            <a:pPr lvl="0"/>
            <a:r>
              <a:rPr dirty="0"/>
              <a:t>Every model has a maximum context window</a:t>
            </a:r>
          </a:p>
          <a:p>
            <a:pPr lvl="0"/>
            <a:r>
              <a:rPr dirty="0"/>
              <a:t>Prompts, code, examples, and instructions all consume tokens</a:t>
            </a:r>
          </a:p>
          <a:p>
            <a:pPr lvl="0"/>
            <a:r>
              <a:rPr dirty="0"/>
              <a:t>Exceeding the limit forces the model to discard earlier content</a:t>
            </a:r>
          </a:p>
          <a:p>
            <a:pPr lvl="0"/>
            <a:r>
              <a:rPr dirty="0"/>
              <a:t>The model never alerts you when this happens</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Silent Failure Modes</a:t>
            </a:r>
          </a:p>
        </p:txBody>
      </p:sp>
      <p:sp>
        <p:nvSpPr>
          <p:cNvPr id="3" name="Content Placeholder 2"/>
          <p:cNvSpPr>
            <a:spLocks noGrp="1"/>
          </p:cNvSpPr>
          <p:nvPr>
            <p:ph idx="1"/>
          </p:nvPr>
        </p:nvSpPr>
        <p:spPr/>
        <p:txBody>
          <a:bodyPr/>
          <a:lstStyle/>
          <a:p>
            <a:pPr marL="0" lvl="0" indent="0">
              <a:spcBef>
                <a:spcPts val="3000"/>
              </a:spcBef>
              <a:buNone/>
            </a:pPr>
            <a:r>
              <a:rPr b="1"/>
              <a:t>What Overflow Looks Like</a:t>
            </a:r>
          </a:p>
          <a:p>
            <a:pPr lvl="0"/>
            <a:r>
              <a:t>Missing requirements</a:t>
            </a:r>
          </a:p>
          <a:p>
            <a:pPr lvl="0"/>
            <a:r>
              <a:t>Contradictions</a:t>
            </a:r>
          </a:p>
          <a:p>
            <a:pPr lvl="0"/>
            <a:r>
              <a:t>Forgotten rules</a:t>
            </a:r>
          </a:p>
          <a:p>
            <a:pPr lvl="0"/>
            <a:r>
              <a:t>Inconsistent reasoning</a:t>
            </a:r>
          </a:p>
          <a:p>
            <a:pPr lvl="0"/>
            <a:r>
              <a:t>Loss of architectural constraints</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Summaries</a:t>
            </a:r>
          </a:p>
        </p:txBody>
      </p:sp>
      <p:sp>
        <p:nvSpPr>
          <p:cNvPr id="3" name="Content Placeholder 2"/>
          <p:cNvSpPr>
            <a:spLocks noGrp="1"/>
          </p:cNvSpPr>
          <p:nvPr>
            <p:ph idx="1"/>
          </p:nvPr>
        </p:nvSpPr>
        <p:spPr/>
        <p:txBody>
          <a:bodyPr/>
          <a:lstStyle/>
          <a:p>
            <a:pPr marL="0" lvl="0" indent="0">
              <a:spcBef>
                <a:spcPts val="3000"/>
              </a:spcBef>
              <a:buNone/>
            </a:pPr>
            <a:r>
              <a:rPr b="1"/>
              <a:t>How Summaries Help</a:t>
            </a:r>
          </a:p>
          <a:p>
            <a:pPr lvl="0"/>
            <a:r>
              <a:t>Compress large files into short, high‑signal descriptions</a:t>
            </a:r>
          </a:p>
          <a:p>
            <a:pPr lvl="0"/>
            <a:r>
              <a:t>Preserve intent without overwhelming the context window</a:t>
            </a:r>
          </a:p>
          <a:p>
            <a:pPr lvl="0"/>
            <a:r>
              <a:t>Reuse summaries across prompts</a:t>
            </a:r>
          </a:p>
          <a:p>
            <a:pPr lvl="0"/>
            <a:r>
              <a:t>Reduce noise and improve model alignment</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Chunking</a:t>
            </a:r>
          </a:p>
        </p:txBody>
      </p:sp>
      <p:sp>
        <p:nvSpPr>
          <p:cNvPr id="3" name="Content Placeholder 2"/>
          <p:cNvSpPr>
            <a:spLocks noGrp="1"/>
          </p:cNvSpPr>
          <p:nvPr>
            <p:ph idx="1"/>
          </p:nvPr>
        </p:nvSpPr>
        <p:spPr/>
        <p:txBody>
          <a:bodyPr/>
          <a:lstStyle/>
          <a:p>
            <a:pPr marL="0" lvl="0" indent="0">
              <a:spcBef>
                <a:spcPts val="3000"/>
              </a:spcBef>
              <a:buNone/>
            </a:pPr>
            <a:r>
              <a:rPr b="1"/>
              <a:t>How Chunking Works</a:t>
            </a:r>
          </a:p>
          <a:p>
            <a:pPr lvl="0"/>
            <a:r>
              <a:t>Break large tasks into smaller, self‑contained steps</a:t>
            </a:r>
          </a:p>
          <a:p>
            <a:pPr lvl="0"/>
            <a:r>
              <a:t>Provide only the relevant portion of the code</a:t>
            </a:r>
          </a:p>
          <a:p>
            <a:pPr lvl="0"/>
            <a:r>
              <a:t>Validate each chunk before moving on</a:t>
            </a:r>
          </a:p>
          <a:p>
            <a:pPr lvl="0"/>
            <a:r>
              <a:t>Prevents the model from being overloaded</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Scoped Prompts</a:t>
            </a:r>
          </a:p>
        </p:txBody>
      </p:sp>
      <p:sp>
        <p:nvSpPr>
          <p:cNvPr id="3" name="Content Placeholder 2"/>
          <p:cNvSpPr>
            <a:spLocks noGrp="1"/>
          </p:cNvSpPr>
          <p:nvPr>
            <p:ph idx="1"/>
          </p:nvPr>
        </p:nvSpPr>
        <p:spPr/>
        <p:txBody>
          <a:bodyPr/>
          <a:lstStyle/>
          <a:p>
            <a:pPr marL="0" lvl="0" indent="0">
              <a:spcBef>
                <a:spcPts val="3000"/>
              </a:spcBef>
              <a:buNone/>
            </a:pPr>
            <a:r>
              <a:rPr b="1"/>
              <a:t>Benefits</a:t>
            </a:r>
          </a:p>
          <a:p>
            <a:pPr lvl="0"/>
            <a:r>
              <a:t>Limit the model’s focus to a single module or function</a:t>
            </a:r>
          </a:p>
          <a:p>
            <a:pPr lvl="0"/>
            <a:r>
              <a:t>Reduce irrelevant context</a:t>
            </a:r>
          </a:p>
          <a:p>
            <a:pPr lvl="0"/>
            <a:r>
              <a:t>Improve accuracy and reduce hallucinations</a:t>
            </a:r>
          </a:p>
          <a:p>
            <a:pPr lvl="0"/>
            <a:r>
              <a:t>Keep token usage predictable</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Instruction Files</a:t>
            </a:r>
          </a:p>
        </p:txBody>
      </p:sp>
      <p:sp>
        <p:nvSpPr>
          <p:cNvPr id="3" name="Content Placeholder 2"/>
          <p:cNvSpPr>
            <a:spLocks noGrp="1"/>
          </p:cNvSpPr>
          <p:nvPr>
            <p:ph idx="1"/>
          </p:nvPr>
        </p:nvSpPr>
        <p:spPr/>
        <p:txBody>
          <a:bodyPr/>
          <a:lstStyle/>
          <a:p>
            <a:pPr marL="0" lvl="0" indent="0">
              <a:spcBef>
                <a:spcPts val="3000"/>
              </a:spcBef>
              <a:buNone/>
            </a:pPr>
            <a:r>
              <a:rPr b="1"/>
              <a:t>Why They Matter</a:t>
            </a:r>
          </a:p>
          <a:p>
            <a:pPr lvl="0"/>
            <a:r>
              <a:t>Move stable rules out of the active prompt</a:t>
            </a:r>
          </a:p>
          <a:p>
            <a:pPr lvl="0"/>
            <a:r>
              <a:t>Provide persistent architectural and style guidance</a:t>
            </a:r>
          </a:p>
          <a:p>
            <a:pPr lvl="0"/>
            <a:r>
              <a:t>Reduce repeated tokens across sessions</a:t>
            </a:r>
          </a:p>
          <a:p>
            <a:pPr lvl="0"/>
            <a:r>
              <a:t>Keep prompts short and high‑signal</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F6BC5-57A1-D2BB-FF74-81D216584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0EA6D-DE4D-6289-563A-7503D0E21CD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3C680BE3-7A9A-BC22-1ADF-DAB35134D56E}"/>
              </a:ext>
            </a:extLst>
          </p:cNvPr>
          <p:cNvGraphicFramePr>
            <a:graphicFrameLocks noGrp="1"/>
          </p:cNvGraphicFramePr>
          <p:nvPr>
            <p:ph idx="1"/>
            <p:extLst>
              <p:ext uri="{D42A27DB-BD31-4B8C-83A1-F6EECF244321}">
                <p14:modId xmlns:p14="http://schemas.microsoft.com/office/powerpoint/2010/main" val="51674585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131848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Adding AI Guardrails</a:t>
            </a:r>
          </a:p>
        </p:txBody>
      </p:sp>
      <p:sp>
        <p:nvSpPr>
          <p:cNvPr id="3" name="Content Placeholder 2"/>
          <p:cNvSpPr>
            <a:spLocks noGrp="1"/>
          </p:cNvSpPr>
          <p:nvPr>
            <p:ph idx="1"/>
          </p:nvPr>
        </p:nvSpPr>
        <p:spPr/>
        <p:txBody>
          <a:bodyPr/>
          <a:lstStyle/>
          <a:p>
            <a:pPr lvl="0"/>
            <a:r>
              <a:t>What are instructions, prompts, and chat modes</a:t>
            </a:r>
          </a:p>
          <a:p>
            <a:pPr lvl="0"/>
            <a:r>
              <a:t>Creating instruction, prompt, and chat mode files</a:t>
            </a:r>
          </a:p>
          <a:p>
            <a:pPr lvl="0"/>
            <a:r>
              <a:t>Meta prompts that generate these files</a:t>
            </a:r>
          </a:p>
          <a:p>
            <a:pPr lvl="0"/>
            <a:r>
              <a:t>Instructions for generating artifacts</a:t>
            </a:r>
          </a:p>
          <a:p>
            <a:pPr lvl="0"/>
            <a:r>
              <a:t>Enforcing provenance for AI‑assisted artifacts</a:t>
            </a:r>
          </a:p>
          <a:p>
            <a:pPr lvl="0"/>
            <a:r>
              <a:t>Exercises for hands‑on practice</a:t>
            </a: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Instructions, Prompts &amp; Chat Modes</a:t>
            </a:r>
          </a:p>
        </p:txBody>
      </p:sp>
      <p:sp>
        <p:nvSpPr>
          <p:cNvPr id="3" name="Content Placeholder 2"/>
          <p:cNvSpPr>
            <a:spLocks noGrp="1"/>
          </p:cNvSpPr>
          <p:nvPr>
            <p:ph idx="1"/>
          </p:nvPr>
        </p:nvSpPr>
        <p:spPr/>
        <p:txBody>
          <a:bodyPr/>
          <a:lstStyle/>
          <a:p>
            <a:pPr marL="0" lvl="0" indent="0">
              <a:spcBef>
                <a:spcPts val="3000"/>
              </a:spcBef>
              <a:buNone/>
            </a:pPr>
            <a:r>
              <a:rPr b="1" dirty="0"/>
              <a:t>Definitions</a:t>
            </a:r>
          </a:p>
          <a:p>
            <a:pPr lvl="0"/>
            <a:r>
              <a:rPr b="1" dirty="0"/>
              <a:t>Instructions</a:t>
            </a:r>
            <a:r>
              <a:rPr dirty="0"/>
              <a:t> </a:t>
            </a:r>
            <a:r>
              <a:rPr lang="en-US" dirty="0"/>
              <a:t>–</a:t>
            </a:r>
            <a:r>
              <a:rPr dirty="0"/>
              <a:t> Persistent rules that guide the model’s behavior</a:t>
            </a:r>
          </a:p>
          <a:p>
            <a:pPr lvl="0"/>
            <a:r>
              <a:rPr b="1" dirty="0"/>
              <a:t>Prompts</a:t>
            </a:r>
            <a:r>
              <a:rPr dirty="0"/>
              <a:t> </a:t>
            </a:r>
            <a:r>
              <a:rPr lang="en-US" dirty="0"/>
              <a:t>–</a:t>
            </a:r>
            <a:r>
              <a:rPr dirty="0"/>
              <a:t> Task‑specific requests defining intent and constraints</a:t>
            </a:r>
          </a:p>
          <a:p>
            <a:pPr lvl="0"/>
            <a:r>
              <a:rPr b="1" dirty="0"/>
              <a:t>Chat Modes</a:t>
            </a:r>
            <a:r>
              <a:rPr dirty="0"/>
              <a:t> </a:t>
            </a:r>
            <a:r>
              <a:rPr lang="en-US" dirty="0"/>
              <a:t>–</a:t>
            </a:r>
            <a:r>
              <a:rPr dirty="0"/>
              <a:t> Pre‑configured personas optimized for workflows</a:t>
            </a: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Instruction, Prompt &amp; Chat Mode Files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dirty="0"/>
              <a:t>Why create files?</a:t>
            </a:r>
          </a:p>
          <a:p>
            <a:pPr lvl="0"/>
            <a:r>
              <a:rPr dirty="0"/>
              <a:t>Ensures repeatability</a:t>
            </a:r>
          </a:p>
          <a:p>
            <a:pPr lvl="0"/>
            <a:r>
              <a:rPr dirty="0"/>
              <a:t>Reduces token usage</a:t>
            </a:r>
          </a:p>
          <a:p>
            <a:pPr lvl="0"/>
            <a:r>
              <a:rPr dirty="0"/>
              <a:t>Provides version‑controlled guardrails</a:t>
            </a:r>
          </a:p>
          <a:p>
            <a:pPr lvl="0"/>
            <a:r>
              <a:rPr dirty="0"/>
              <a:t>Enables team‑wide consistency</a:t>
            </a:r>
          </a:p>
          <a:p>
            <a:pPr marL="0" lvl="0" indent="0">
              <a:spcBef>
                <a:spcPts val="3000"/>
              </a:spcBef>
              <a:buNone/>
            </a:pPr>
            <a:r>
              <a:rPr b="1" dirty="0"/>
              <a:t>File types</a:t>
            </a:r>
          </a:p>
          <a:p>
            <a:pPr lvl="0"/>
            <a:r>
              <a:rPr lang="en-US" dirty="0">
                <a:latin typeface="Courier"/>
              </a:rPr>
              <a:t>.</a:t>
            </a:r>
            <a:r>
              <a:rPr dirty="0">
                <a:latin typeface="Courier"/>
              </a:rPr>
              <a:t>instructions.md</a:t>
            </a:r>
          </a:p>
          <a:p>
            <a:pPr lvl="0"/>
            <a:r>
              <a:rPr lang="en-US" dirty="0">
                <a:latin typeface="Courier"/>
              </a:rPr>
              <a:t>.</a:t>
            </a:r>
            <a:r>
              <a:rPr dirty="0">
                <a:latin typeface="Courier"/>
              </a:rPr>
              <a:t>prompt.md</a:t>
            </a:r>
          </a:p>
          <a:p>
            <a:pPr lvl="0"/>
            <a:r>
              <a:rPr lang="en-US" dirty="0">
                <a:latin typeface="Courier"/>
              </a:rPr>
              <a:t>.</a:t>
            </a:r>
            <a:r>
              <a:rPr dirty="0">
                <a:latin typeface="Courier"/>
              </a:rPr>
              <a:t>chatmode.md</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Meta Prompts for Generating Files</a:t>
            </a:r>
          </a:p>
        </p:txBody>
      </p:sp>
      <p:sp>
        <p:nvSpPr>
          <p:cNvPr id="3" name="Content Placeholder 2"/>
          <p:cNvSpPr>
            <a:spLocks noGrp="1"/>
          </p:cNvSpPr>
          <p:nvPr>
            <p:ph idx="1"/>
          </p:nvPr>
        </p:nvSpPr>
        <p:spPr/>
        <p:txBody>
          <a:bodyPr/>
          <a:lstStyle/>
          <a:p>
            <a:pPr marL="0" lvl="0" indent="0">
              <a:spcBef>
                <a:spcPts val="3000"/>
              </a:spcBef>
              <a:buNone/>
            </a:pPr>
            <a:r>
              <a:rPr b="1" dirty="0"/>
              <a:t>Meta prompts </a:t>
            </a:r>
            <a:r>
              <a:rPr lang="en-US" b="1" dirty="0"/>
              <a:t>guide</a:t>
            </a:r>
            <a:r>
              <a:rPr b="1" dirty="0"/>
              <a:t>:</a:t>
            </a:r>
          </a:p>
          <a:p>
            <a:pPr lvl="0"/>
            <a:r>
              <a:rPr lang="en-US" dirty="0"/>
              <a:t>C</a:t>
            </a:r>
            <a:r>
              <a:rPr dirty="0"/>
              <a:t>reation of instruction files</a:t>
            </a:r>
          </a:p>
          <a:p>
            <a:pPr lvl="0"/>
            <a:r>
              <a:rPr lang="en-US" dirty="0"/>
              <a:t>G</a:t>
            </a:r>
            <a:r>
              <a:rPr dirty="0"/>
              <a:t>eneration of reusable prompts</a:t>
            </a:r>
          </a:p>
          <a:p>
            <a:pPr lvl="0"/>
            <a:r>
              <a:rPr lang="en-US" dirty="0"/>
              <a:t>C</a:t>
            </a:r>
            <a:r>
              <a:rPr dirty="0"/>
              <a:t>onstruction of chat modes</a:t>
            </a:r>
          </a:p>
          <a:p>
            <a:pPr lvl="0"/>
            <a:r>
              <a:rPr lang="en-US" dirty="0"/>
              <a:t>Provide c</a:t>
            </a:r>
            <a:r>
              <a:rPr dirty="0"/>
              <a:t>onsistent formatting</a:t>
            </a:r>
            <a:r>
              <a:rPr lang="en-US" dirty="0"/>
              <a:t>,</a:t>
            </a:r>
            <a:r>
              <a:rPr dirty="0"/>
              <a:t> structure</a:t>
            </a:r>
            <a:r>
              <a:rPr lang="en-US" dirty="0"/>
              <a:t>, content</a:t>
            </a:r>
            <a:endParaRPr dirty="0"/>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Instructions for Generating Artifacts</a:t>
            </a:r>
          </a:p>
        </p:txBody>
      </p:sp>
      <p:sp>
        <p:nvSpPr>
          <p:cNvPr id="3" name="Content Placeholder 2"/>
          <p:cNvSpPr>
            <a:spLocks noGrp="1"/>
          </p:cNvSpPr>
          <p:nvPr>
            <p:ph idx="1"/>
          </p:nvPr>
        </p:nvSpPr>
        <p:spPr/>
        <p:txBody>
          <a:bodyPr/>
          <a:lstStyle/>
          <a:p>
            <a:pPr marL="0" lvl="0" indent="0">
              <a:spcBef>
                <a:spcPts val="3000"/>
              </a:spcBef>
              <a:buNone/>
            </a:pPr>
            <a:r>
              <a:rPr b="1" dirty="0"/>
              <a:t>Best practices</a:t>
            </a:r>
          </a:p>
          <a:p>
            <a:pPr lvl="0"/>
            <a:r>
              <a:rPr dirty="0"/>
              <a:t>Define the artifact type</a:t>
            </a:r>
          </a:p>
          <a:p>
            <a:pPr lvl="0"/>
            <a:r>
              <a:rPr dirty="0"/>
              <a:t>Specify required sections</a:t>
            </a:r>
          </a:p>
          <a:p>
            <a:pPr lvl="0"/>
            <a:r>
              <a:rPr dirty="0"/>
              <a:t>Provide examples or templates</a:t>
            </a:r>
          </a:p>
          <a:p>
            <a:pPr lvl="0"/>
            <a:r>
              <a:rPr dirty="0"/>
              <a:t>Include acceptance criteria</a:t>
            </a:r>
          </a:p>
          <a:p>
            <a:pPr lvl="0"/>
            <a:r>
              <a:rPr dirty="0"/>
              <a:t>Require the model to restate constraints</a:t>
            </a: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Enforcing Provenance for AI Artifacts</a:t>
            </a:r>
          </a:p>
        </p:txBody>
      </p:sp>
      <p:sp>
        <p:nvSpPr>
          <p:cNvPr id="3" name="Content Placeholder 2"/>
          <p:cNvSpPr>
            <a:spLocks noGrp="1"/>
          </p:cNvSpPr>
          <p:nvPr>
            <p:ph idx="1"/>
          </p:nvPr>
        </p:nvSpPr>
        <p:spPr/>
        <p:txBody>
          <a:bodyPr/>
          <a:lstStyle/>
          <a:p>
            <a:pPr marL="0" lvl="0" indent="0">
              <a:spcBef>
                <a:spcPts val="3000"/>
              </a:spcBef>
              <a:buNone/>
            </a:pPr>
            <a:r>
              <a:rPr b="1"/>
              <a:t>Provenance requirements</a:t>
            </a:r>
          </a:p>
          <a:p>
            <a:pPr lvl="0"/>
            <a:r>
              <a:t>Declare:</a:t>
            </a:r>
          </a:p>
          <a:p>
            <a:pPr lvl="1"/>
            <a:r>
              <a:t>AI involvement</a:t>
            </a:r>
          </a:p>
          <a:p>
            <a:pPr lvl="1"/>
            <a:r>
              <a:t>Model used</a:t>
            </a:r>
          </a:p>
          <a:p>
            <a:pPr lvl="1"/>
            <a:r>
              <a:t>Date generated</a:t>
            </a:r>
          </a:p>
          <a:p>
            <a:pPr lvl="1"/>
            <a:r>
              <a:t>Human reviewer</a:t>
            </a:r>
          </a:p>
          <a:p>
            <a:pPr lvl="0"/>
            <a:r>
              <a:t>Store provenance in headers or footers</a:t>
            </a:r>
          </a:p>
          <a:p>
            <a:pPr lvl="0"/>
            <a:r>
              <a:t>Track revisions in version control</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 Prompt File</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Understand prompt structure</a:t>
            </a:r>
          </a:p>
          <a:p>
            <a:pPr lvl="0"/>
            <a:r>
              <a:rPr dirty="0"/>
              <a:t>Practice defining task intent</a:t>
            </a:r>
          </a:p>
          <a:p>
            <a:pPr lvl="0"/>
            <a:r>
              <a:rPr dirty="0"/>
              <a:t>Apply constraints and success criteria</a:t>
            </a:r>
          </a:p>
          <a:p>
            <a:pPr marL="0" lvl="0" indent="0">
              <a:spcBef>
                <a:spcPts val="3000"/>
              </a:spcBef>
              <a:buNone/>
            </a:pPr>
            <a:r>
              <a:rPr b="1" dirty="0"/>
              <a:t>Activities</a:t>
            </a:r>
          </a:p>
          <a:p>
            <a:pPr marL="342900" lvl="0" indent="-342900">
              <a:buAutoNum type="arabicPeriod"/>
            </a:pPr>
            <a:r>
              <a:rPr dirty="0"/>
              <a:t>Choose a real task from your brownfield system</a:t>
            </a:r>
          </a:p>
          <a:p>
            <a:pPr marL="342900" lvl="0" indent="-342900">
              <a:buAutoNum type="arabicPeriod"/>
            </a:pPr>
            <a:r>
              <a:rPr dirty="0"/>
              <a:t>Write a reusable prompt file with:</a:t>
            </a:r>
          </a:p>
          <a:p>
            <a:pPr lvl="1"/>
            <a:r>
              <a:rPr dirty="0"/>
              <a:t>Task definition</a:t>
            </a:r>
          </a:p>
          <a:p>
            <a:pPr lvl="1"/>
            <a:r>
              <a:rPr dirty="0"/>
              <a:t>Constraints</a:t>
            </a:r>
          </a:p>
          <a:p>
            <a:pPr lvl="1"/>
            <a:r>
              <a:rPr dirty="0"/>
              <a:t>Success criteria</a:t>
            </a:r>
          </a:p>
          <a:p>
            <a:pPr lvl="1"/>
            <a:r>
              <a:rPr dirty="0"/>
              <a:t>Example input/output</a:t>
            </a:r>
          </a:p>
          <a:p>
            <a:pPr marL="342900" lvl="0" indent="-342900">
              <a:buAutoNum type="arabicPeriod"/>
            </a:pPr>
            <a:r>
              <a:rPr dirty="0"/>
              <a:t>Review with a partner</a:t>
            </a:r>
          </a:p>
          <a:p>
            <a:pPr marL="0" lvl="0" indent="0">
              <a:spcBef>
                <a:spcPts val="3000"/>
              </a:spcBef>
              <a:buNone/>
            </a:pPr>
            <a:r>
              <a:rPr b="1" dirty="0"/>
              <a:t>Success Criteria</a:t>
            </a:r>
          </a:p>
          <a:p>
            <a:pPr lvl="0"/>
            <a:r>
              <a:rPr dirty="0"/>
              <a:t>Prompt is clear, scoped, and reusable</a:t>
            </a:r>
          </a:p>
          <a:p>
            <a:pPr lvl="0"/>
            <a:r>
              <a:rPr dirty="0"/>
              <a:t>Includes constraints and success criteria</a:t>
            </a:r>
          </a:p>
          <a:p>
            <a:pPr lvl="0"/>
            <a:r>
              <a:rPr dirty="0"/>
              <a:t>Avoids unnecessary context</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an Instruction File for Evergreen Development</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Capture evergreen principles</a:t>
            </a:r>
          </a:p>
          <a:p>
            <a:pPr lvl="0"/>
            <a:r>
              <a:rPr dirty="0"/>
              <a:t>Define architectural boundaries</a:t>
            </a:r>
          </a:p>
          <a:p>
            <a:pPr lvl="0"/>
            <a:r>
              <a:rPr dirty="0"/>
              <a:t>Specify modernization rules</a:t>
            </a:r>
          </a:p>
          <a:p>
            <a:pPr marL="0" lvl="0" indent="0">
              <a:spcBef>
                <a:spcPts val="3000"/>
              </a:spcBef>
              <a:buNone/>
            </a:pPr>
            <a:r>
              <a:rPr b="1" dirty="0"/>
              <a:t>Activities</a:t>
            </a:r>
          </a:p>
          <a:p>
            <a:pPr marL="342900" lvl="0" indent="-342900">
              <a:buAutoNum type="arabicPeriod"/>
            </a:pPr>
            <a:r>
              <a:rPr dirty="0"/>
              <a:t>Draft an instruction file with:</a:t>
            </a:r>
          </a:p>
          <a:p>
            <a:pPr lvl="1"/>
            <a:r>
              <a:rPr dirty="0"/>
              <a:t>Evergreen philosophy</a:t>
            </a:r>
          </a:p>
          <a:p>
            <a:pPr lvl="1"/>
            <a:r>
              <a:rPr dirty="0"/>
              <a:t>Allowed and disallowed patterns</a:t>
            </a:r>
          </a:p>
          <a:p>
            <a:pPr lvl="1"/>
            <a:r>
              <a:rPr dirty="0"/>
              <a:t>Refactoring constraints</a:t>
            </a:r>
          </a:p>
          <a:p>
            <a:pPr lvl="1"/>
            <a:r>
              <a:rPr dirty="0"/>
              <a:t>Documentation expectations</a:t>
            </a:r>
          </a:p>
          <a:p>
            <a:pPr marL="342900" lvl="0" indent="-342900">
              <a:buAutoNum type="arabicPeriod"/>
            </a:pPr>
            <a:r>
              <a:rPr dirty="0"/>
              <a:t>Add provenance metadata</a:t>
            </a:r>
          </a:p>
          <a:p>
            <a:pPr marL="342900" lvl="0" indent="-342900">
              <a:buAutoNum type="arabicPeriod"/>
            </a:pPr>
            <a:r>
              <a:rPr dirty="0"/>
              <a:t>Share with the group</a:t>
            </a:r>
          </a:p>
          <a:p>
            <a:pPr marL="0" lvl="0" indent="0">
              <a:spcBef>
                <a:spcPts val="3000"/>
              </a:spcBef>
              <a:buNone/>
            </a:pPr>
            <a:r>
              <a:rPr b="1" dirty="0"/>
              <a:t>Success Criteria</a:t>
            </a:r>
          </a:p>
          <a:p>
            <a:pPr lvl="0"/>
            <a:r>
              <a:rPr dirty="0"/>
              <a:t>Instruction file is stable and reusable</a:t>
            </a:r>
          </a:p>
          <a:p>
            <a:pPr lvl="0"/>
            <a:r>
              <a:rPr dirty="0"/>
              <a:t>Reflects evergreen development values</a:t>
            </a:r>
          </a:p>
          <a:p>
            <a:pPr lvl="0"/>
            <a:r>
              <a:rPr dirty="0"/>
              <a:t>Provides clear guardrails</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Create a Chat Mode</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Define a persona optimized for brownfield work</a:t>
            </a:r>
          </a:p>
          <a:p>
            <a:pPr lvl="0"/>
            <a:r>
              <a:rPr dirty="0"/>
              <a:t>Emphasize safety and incrementalism</a:t>
            </a:r>
          </a:p>
          <a:p>
            <a:pPr lvl="0"/>
            <a:r>
              <a:rPr dirty="0"/>
              <a:t>Encode risk‑aware behaviors</a:t>
            </a:r>
          </a:p>
          <a:p>
            <a:pPr marL="0" lvl="0" indent="0">
              <a:spcBef>
                <a:spcPts val="3000"/>
              </a:spcBef>
              <a:buNone/>
            </a:pPr>
            <a:r>
              <a:rPr b="1" dirty="0"/>
              <a:t>Activities</a:t>
            </a:r>
          </a:p>
          <a:p>
            <a:pPr marL="342900" lvl="0" indent="-342900">
              <a:buAutoNum type="arabicPeriod"/>
            </a:pPr>
            <a:r>
              <a:rPr dirty="0"/>
              <a:t>Draft a chat mode that:</a:t>
            </a:r>
          </a:p>
          <a:p>
            <a:pPr lvl="1"/>
            <a:r>
              <a:rPr dirty="0"/>
              <a:t>Respects working systems</a:t>
            </a:r>
          </a:p>
          <a:p>
            <a:pPr lvl="1"/>
            <a:r>
              <a:rPr dirty="0"/>
              <a:t>Avoids risky rewrites</a:t>
            </a:r>
          </a:p>
          <a:p>
            <a:pPr lvl="1"/>
            <a:r>
              <a:rPr dirty="0"/>
              <a:t>Surfaces context gaps</a:t>
            </a:r>
          </a:p>
          <a:p>
            <a:pPr lvl="1"/>
            <a:r>
              <a:rPr dirty="0"/>
              <a:t>Encourages incremental changes</a:t>
            </a:r>
          </a:p>
          <a:p>
            <a:pPr marL="342900" lvl="0" indent="-342900">
              <a:buAutoNum type="arabicPeriod"/>
            </a:pPr>
            <a:r>
              <a:rPr dirty="0"/>
              <a:t>Add tone and behavioral guidelines</a:t>
            </a:r>
          </a:p>
          <a:p>
            <a:pPr marL="342900" lvl="0" indent="-342900">
              <a:buAutoNum type="arabicPeriod"/>
            </a:pPr>
            <a:r>
              <a:rPr dirty="0"/>
              <a:t>Add provenance metadata</a:t>
            </a:r>
          </a:p>
          <a:p>
            <a:pPr marL="0" lvl="0" indent="0">
              <a:spcBef>
                <a:spcPts val="3000"/>
              </a:spcBef>
              <a:buNone/>
            </a:pPr>
            <a:r>
              <a:rPr b="1" dirty="0"/>
              <a:t>Success Criteria</a:t>
            </a:r>
          </a:p>
          <a:p>
            <a:pPr lvl="0"/>
            <a:r>
              <a:rPr dirty="0"/>
              <a:t>Chat mode behaves like a cautious senior engineer</a:t>
            </a:r>
          </a:p>
          <a:p>
            <a:pPr lvl="0"/>
            <a:r>
              <a:rPr dirty="0"/>
              <a:t>Encourages safe modernization</a:t>
            </a:r>
          </a:p>
          <a:p>
            <a:pPr lvl="0"/>
            <a:r>
              <a:rPr dirty="0"/>
              <a:t>Includes clear behavioral rules</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Exercise: Generate Instruction Files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Use meta prompts to scale instruction‑file creation</a:t>
            </a:r>
          </a:p>
          <a:p>
            <a:pPr lvl="0"/>
            <a:r>
              <a:rPr dirty="0"/>
              <a:t>Capture module‑specific rules</a:t>
            </a:r>
          </a:p>
          <a:p>
            <a:pPr lvl="0"/>
            <a:r>
              <a:rPr dirty="0"/>
              <a:t>Encode domain and architectural constraints</a:t>
            </a:r>
          </a:p>
          <a:p>
            <a:pPr marL="0" lvl="0" indent="0">
              <a:spcBef>
                <a:spcPts val="3000"/>
              </a:spcBef>
              <a:buNone/>
            </a:pPr>
            <a:r>
              <a:rPr b="1" dirty="0"/>
              <a:t>Activities</a:t>
            </a:r>
          </a:p>
          <a:p>
            <a:pPr marL="342900" lvl="0" indent="-342900">
              <a:buAutoNum type="arabicPeriod"/>
            </a:pPr>
            <a:r>
              <a:rPr dirty="0"/>
              <a:t>Select 2–3 modules from your brownfield system</a:t>
            </a:r>
          </a:p>
          <a:p>
            <a:pPr marL="342900" lvl="0" indent="-342900">
              <a:buAutoNum type="arabicPeriod"/>
            </a:pPr>
            <a:r>
              <a:rPr dirty="0"/>
              <a:t>Use a meta prompt to generate instruction files</a:t>
            </a:r>
          </a:p>
          <a:p>
            <a:pPr marL="342900" lvl="0" indent="-342900">
              <a:buAutoNum type="arabicPeriod"/>
            </a:pPr>
            <a:r>
              <a:rPr dirty="0"/>
              <a:t>Add missing constraints manually</a:t>
            </a:r>
          </a:p>
          <a:p>
            <a:pPr marL="342900" lvl="0" indent="-342900">
              <a:buAutoNum type="arabicPeriod"/>
            </a:pPr>
            <a:r>
              <a:rPr dirty="0"/>
              <a:t>Add provenance metadata</a:t>
            </a:r>
          </a:p>
          <a:p>
            <a:pPr marL="342900" lvl="0" indent="-342900">
              <a:buAutoNum type="arabicPeriod"/>
            </a:pPr>
            <a:r>
              <a:rPr dirty="0"/>
              <a:t>Commit to version control</a:t>
            </a:r>
          </a:p>
          <a:p>
            <a:pPr marL="0" lvl="0" indent="0">
              <a:spcBef>
                <a:spcPts val="3000"/>
              </a:spcBef>
              <a:buNone/>
            </a:pPr>
            <a:r>
              <a:rPr b="1" dirty="0"/>
              <a:t>Success Criteria</a:t>
            </a:r>
          </a:p>
          <a:p>
            <a:pPr lvl="0"/>
            <a:r>
              <a:rPr dirty="0"/>
              <a:t>Instruction files reflect real system constraints</a:t>
            </a:r>
          </a:p>
          <a:p>
            <a:pPr lvl="0"/>
            <a:r>
              <a:rPr dirty="0"/>
              <a:t>Meta prompts produce consistent structure</a:t>
            </a:r>
          </a:p>
          <a:p>
            <a:pPr lvl="0"/>
            <a:r>
              <a:rPr dirty="0"/>
              <a:t>Files are ready for team use</a:t>
            </a: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Context‑Related Issues</a:t>
            </a:r>
          </a:p>
        </p:txBody>
      </p:sp>
      <p:sp>
        <p:nvSpPr>
          <p:cNvPr id="3" name="Content Placeholder 2"/>
          <p:cNvSpPr>
            <a:spLocks noGrp="1"/>
          </p:cNvSpPr>
          <p:nvPr>
            <p:ph idx="1"/>
          </p:nvPr>
        </p:nvSpPr>
        <p:spPr/>
        <p:txBody>
          <a:bodyPr numCol="2">
            <a:normAutofit fontScale="700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Identify missing context</a:t>
            </a:r>
          </a:p>
          <a:p>
            <a:pPr lvl="0"/>
            <a:r>
              <a:rPr dirty="0"/>
              <a:t>Detect token overflow risks</a:t>
            </a:r>
          </a:p>
          <a:p>
            <a:pPr lvl="0"/>
            <a:r>
              <a:rPr dirty="0"/>
              <a:t>Improve prompt scoping</a:t>
            </a:r>
          </a:p>
          <a:p>
            <a:pPr marL="0" lvl="0" indent="0">
              <a:spcBef>
                <a:spcPts val="3000"/>
              </a:spcBef>
              <a:buNone/>
            </a:pPr>
            <a:r>
              <a:rPr b="1" dirty="0"/>
              <a:t>Activities</a:t>
            </a:r>
          </a:p>
          <a:p>
            <a:pPr marL="342900" lvl="0" indent="-342900">
              <a:buAutoNum type="arabicPeriod"/>
            </a:pPr>
            <a:r>
              <a:rPr dirty="0"/>
              <a:t>Review a provided prompt and code sample</a:t>
            </a:r>
          </a:p>
          <a:p>
            <a:pPr marL="342900" lvl="0" indent="-342900">
              <a:buAutoNum type="arabicPeriod"/>
            </a:pPr>
            <a:r>
              <a:rPr dirty="0"/>
              <a:t>Identify:</a:t>
            </a:r>
          </a:p>
          <a:p>
            <a:pPr lvl="1"/>
            <a:r>
              <a:rPr dirty="0"/>
              <a:t>Missing context</a:t>
            </a:r>
          </a:p>
          <a:p>
            <a:pPr lvl="1"/>
            <a:r>
              <a:rPr dirty="0"/>
              <a:t>Ambiguous instructions</a:t>
            </a:r>
          </a:p>
          <a:p>
            <a:pPr lvl="1"/>
            <a:r>
              <a:rPr dirty="0"/>
              <a:t>Token‑overflow risks</a:t>
            </a:r>
          </a:p>
          <a:p>
            <a:pPr marL="342900" lvl="0" indent="-342900">
              <a:buAutoNum type="arabicPeriod"/>
            </a:pPr>
            <a:r>
              <a:rPr dirty="0"/>
              <a:t>Rewrite the prompt to be safer</a:t>
            </a:r>
          </a:p>
          <a:p>
            <a:pPr marL="342900" lvl="0" indent="-342900">
              <a:buAutoNum type="arabicPeriod"/>
            </a:pPr>
            <a:r>
              <a:rPr dirty="0"/>
              <a:t>Share improvements</a:t>
            </a:r>
          </a:p>
          <a:p>
            <a:pPr marL="0" lvl="0" indent="0">
              <a:spcBef>
                <a:spcPts val="3000"/>
              </a:spcBef>
              <a:buNone/>
            </a:pPr>
            <a:r>
              <a:rPr b="1" dirty="0"/>
              <a:t>Success Criteria</a:t>
            </a:r>
          </a:p>
          <a:p>
            <a:pPr lvl="0"/>
            <a:r>
              <a:rPr dirty="0"/>
              <a:t>Participants correctly identify context gaps</a:t>
            </a:r>
          </a:p>
          <a:p>
            <a:pPr lvl="0"/>
            <a:r>
              <a:rPr dirty="0"/>
              <a:t>Revised prompts are safer and more scoped</a:t>
            </a:r>
          </a:p>
          <a:p>
            <a:pPr lvl="0"/>
            <a:r>
              <a:rPr dirty="0"/>
              <a:t>Overflow risks are mitigated</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478C3-06D7-9DAB-6254-5263E50A9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590F8-ECB7-9F0D-38E8-DD2EA7B85660}"/>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E5515FF4-F223-9E47-39FB-190EDD11F933}"/>
              </a:ext>
            </a:extLst>
          </p:cNvPr>
          <p:cNvGraphicFramePr>
            <a:graphicFrameLocks noGrp="1"/>
          </p:cNvGraphicFramePr>
          <p:nvPr>
            <p:ph idx="1"/>
            <p:extLst>
              <p:ext uri="{D42A27DB-BD31-4B8C-83A1-F6EECF244321}">
                <p14:modId xmlns:p14="http://schemas.microsoft.com/office/powerpoint/2010/main" val="290131253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947850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Adding AI Guardrails</a:t>
            </a:r>
          </a:p>
        </p:txBody>
      </p:sp>
      <p:sp>
        <p:nvSpPr>
          <p:cNvPr id="3" name="Content Placeholder 2"/>
          <p:cNvSpPr>
            <a:spLocks noGrp="1"/>
          </p:cNvSpPr>
          <p:nvPr>
            <p:ph idx="1"/>
          </p:nvPr>
        </p:nvSpPr>
        <p:spPr/>
        <p:txBody>
          <a:bodyPr/>
          <a:lstStyle/>
          <a:p>
            <a:pPr lvl="0"/>
            <a:r>
              <a:t>What are instructions, prompts, and chat modes</a:t>
            </a:r>
          </a:p>
          <a:p>
            <a:pPr lvl="0"/>
            <a:r>
              <a:t>Creating instruction, prompt, and chat mode files</a:t>
            </a:r>
          </a:p>
          <a:p>
            <a:pPr lvl="0"/>
            <a:r>
              <a:t>Meta prompts that generate these files</a:t>
            </a:r>
          </a:p>
          <a:p>
            <a:pPr lvl="0"/>
            <a:r>
              <a:t>Instructions for generating artifacts</a:t>
            </a:r>
          </a:p>
          <a:p>
            <a:pPr lvl="0"/>
            <a:r>
              <a:t>Enforcing provenance for AI‑assisted artifacts</a:t>
            </a:r>
          </a:p>
          <a:p>
            <a:pPr lvl="0"/>
            <a:r>
              <a:t>Exercises for hands‑on practice</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What Are Instructions, Prompts &amp; Chat Modes?</a:t>
            </a:r>
          </a:p>
        </p:txBody>
      </p:sp>
      <p:sp>
        <p:nvSpPr>
          <p:cNvPr id="3" name="Content Placeholder 2"/>
          <p:cNvSpPr>
            <a:spLocks noGrp="1"/>
          </p:cNvSpPr>
          <p:nvPr>
            <p:ph idx="1"/>
          </p:nvPr>
        </p:nvSpPr>
        <p:spPr/>
        <p:txBody>
          <a:bodyPr/>
          <a:lstStyle/>
          <a:p>
            <a:pPr marL="0" lvl="0" indent="0">
              <a:spcBef>
                <a:spcPts val="3000"/>
              </a:spcBef>
              <a:buNone/>
            </a:pPr>
            <a:r>
              <a:rPr b="1"/>
              <a:t>Definitions</a:t>
            </a:r>
          </a:p>
          <a:p>
            <a:pPr lvl="0"/>
            <a:r>
              <a:rPr b="1"/>
              <a:t>Instructions</a:t>
            </a:r>
            <a:r>
              <a:t> — Persistent rules that guide the model’s behavior</a:t>
            </a:r>
          </a:p>
          <a:p>
            <a:pPr lvl="0"/>
            <a:r>
              <a:rPr b="1"/>
              <a:t>Prompts</a:t>
            </a:r>
            <a:r>
              <a:t> — Task‑specific requests defining intent and constraints</a:t>
            </a:r>
          </a:p>
          <a:p>
            <a:pPr lvl="0"/>
            <a:r>
              <a:rPr b="1"/>
              <a:t>Chat Modes</a:t>
            </a:r>
            <a:r>
              <a:t> — Pre‑configured personas optimized for workflows</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Instruction, Prompt &amp; Chat Mode Files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Why create files?</a:t>
            </a:r>
          </a:p>
          <a:p>
            <a:pPr lvl="0"/>
            <a:r>
              <a:t>Ensures repeatability</a:t>
            </a:r>
          </a:p>
          <a:p>
            <a:pPr lvl="0"/>
            <a:r>
              <a:t>Reduces token usage</a:t>
            </a:r>
          </a:p>
          <a:p>
            <a:pPr lvl="0"/>
            <a:r>
              <a:t>Provides version‑controlled guardrails</a:t>
            </a:r>
          </a:p>
          <a:p>
            <a:pPr lvl="0"/>
            <a:r>
              <a:t>Enables team‑wide consistency</a:t>
            </a:r>
          </a:p>
          <a:p>
            <a:pPr marL="0" lvl="0" indent="0">
              <a:spcBef>
                <a:spcPts val="3000"/>
              </a:spcBef>
              <a:buNone/>
            </a:pPr>
            <a:r>
              <a:rPr b="1"/>
              <a:t>File types</a:t>
            </a:r>
          </a:p>
          <a:p>
            <a:pPr lvl="0"/>
            <a:r>
              <a:rPr>
                <a:latin typeface="Courier"/>
              </a:rPr>
              <a:t>instructions.md</a:t>
            </a:r>
          </a:p>
          <a:p>
            <a:pPr lvl="0"/>
            <a:r>
              <a:rPr>
                <a:latin typeface="Courier"/>
              </a:rPr>
              <a:t>prompt.md</a:t>
            </a:r>
          </a:p>
          <a:p>
            <a:pPr lvl="0"/>
            <a:r>
              <a:rPr>
                <a:latin typeface="Courier"/>
              </a:rPr>
              <a:t>chat-mode.md</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Meta Prompts for Generating Files</a:t>
            </a:r>
          </a:p>
        </p:txBody>
      </p:sp>
      <p:sp>
        <p:nvSpPr>
          <p:cNvPr id="3" name="Content Placeholder 2"/>
          <p:cNvSpPr>
            <a:spLocks noGrp="1"/>
          </p:cNvSpPr>
          <p:nvPr>
            <p:ph idx="1"/>
          </p:nvPr>
        </p:nvSpPr>
        <p:spPr/>
        <p:txBody>
          <a:bodyPr/>
          <a:lstStyle/>
          <a:p>
            <a:pPr marL="0" lvl="0" indent="0">
              <a:spcBef>
                <a:spcPts val="3000"/>
              </a:spcBef>
              <a:buNone/>
            </a:pPr>
            <a:r>
              <a:rPr b="1"/>
              <a:t>Meta prompts enable:</a:t>
            </a:r>
          </a:p>
          <a:p>
            <a:pPr lvl="0"/>
            <a:r>
              <a:t>Automated creation of instruction files</a:t>
            </a:r>
          </a:p>
          <a:p>
            <a:pPr lvl="0"/>
            <a:r>
              <a:t>Automated generation of reusable prompts</a:t>
            </a:r>
          </a:p>
          <a:p>
            <a:pPr lvl="0"/>
            <a:r>
              <a:t>Automated construction of chat modes</a:t>
            </a:r>
          </a:p>
          <a:p>
            <a:pPr lvl="0"/>
            <a:r>
              <a:t>Consistent formatting and structure</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Instructions for Generating Artifacts</a:t>
            </a:r>
          </a:p>
        </p:txBody>
      </p:sp>
      <p:sp>
        <p:nvSpPr>
          <p:cNvPr id="3" name="Content Placeholder 2"/>
          <p:cNvSpPr>
            <a:spLocks noGrp="1"/>
          </p:cNvSpPr>
          <p:nvPr>
            <p:ph idx="1"/>
          </p:nvPr>
        </p:nvSpPr>
        <p:spPr/>
        <p:txBody>
          <a:bodyPr/>
          <a:lstStyle/>
          <a:p>
            <a:pPr marL="0" lvl="0" indent="0">
              <a:spcBef>
                <a:spcPts val="3000"/>
              </a:spcBef>
              <a:buNone/>
            </a:pPr>
            <a:r>
              <a:rPr b="1"/>
              <a:t>Best practices</a:t>
            </a:r>
          </a:p>
          <a:p>
            <a:pPr lvl="0"/>
            <a:r>
              <a:t>Define the artifact type</a:t>
            </a:r>
          </a:p>
          <a:p>
            <a:pPr lvl="0"/>
            <a:r>
              <a:t>Specify required sections</a:t>
            </a:r>
          </a:p>
          <a:p>
            <a:pPr lvl="0"/>
            <a:r>
              <a:t>Provide examples or templates</a:t>
            </a:r>
          </a:p>
          <a:p>
            <a:pPr lvl="0"/>
            <a:r>
              <a:t>Include acceptance criteria</a:t>
            </a:r>
          </a:p>
          <a:p>
            <a:pPr lvl="0"/>
            <a:r>
              <a:t>Require the model to restate constraints</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Enforcing Provenance for AI‑Assisted Artifacts</a:t>
            </a:r>
          </a:p>
        </p:txBody>
      </p:sp>
      <p:sp>
        <p:nvSpPr>
          <p:cNvPr id="3" name="Content Placeholder 2"/>
          <p:cNvSpPr>
            <a:spLocks noGrp="1"/>
          </p:cNvSpPr>
          <p:nvPr>
            <p:ph idx="1"/>
          </p:nvPr>
        </p:nvSpPr>
        <p:spPr/>
        <p:txBody>
          <a:bodyPr/>
          <a:lstStyle/>
          <a:p>
            <a:pPr marL="0" lvl="0" indent="0">
              <a:spcBef>
                <a:spcPts val="3000"/>
              </a:spcBef>
              <a:buNone/>
            </a:pPr>
            <a:r>
              <a:rPr b="1"/>
              <a:t>Provenance requirements</a:t>
            </a:r>
          </a:p>
          <a:p>
            <a:pPr lvl="0"/>
            <a:r>
              <a:t>Declare:</a:t>
            </a:r>
          </a:p>
          <a:p>
            <a:pPr lvl="1"/>
            <a:r>
              <a:t>AI involvement</a:t>
            </a:r>
          </a:p>
          <a:p>
            <a:pPr lvl="1"/>
            <a:r>
              <a:t>Model used</a:t>
            </a:r>
          </a:p>
          <a:p>
            <a:pPr lvl="1"/>
            <a:r>
              <a:t>Date generated</a:t>
            </a:r>
          </a:p>
          <a:p>
            <a:pPr lvl="1"/>
            <a:r>
              <a:t>Human reviewer</a:t>
            </a:r>
          </a:p>
          <a:p>
            <a:pPr lvl="0"/>
            <a:r>
              <a:t>Store provenance in headers or footers</a:t>
            </a:r>
          </a:p>
          <a:p>
            <a:pPr lvl="0"/>
            <a:r>
              <a:t>Track revisions in version control</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 Prompt File</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Understand prompt structure</a:t>
            </a:r>
          </a:p>
          <a:p>
            <a:pPr lvl="0"/>
            <a:r>
              <a:rPr dirty="0"/>
              <a:t>Practice defining task intent</a:t>
            </a:r>
          </a:p>
          <a:p>
            <a:pPr lvl="0"/>
            <a:r>
              <a:rPr dirty="0"/>
              <a:t>Apply constraints and success criteria</a:t>
            </a:r>
          </a:p>
          <a:p>
            <a:pPr marL="0" lvl="0" indent="0">
              <a:spcBef>
                <a:spcPts val="3000"/>
              </a:spcBef>
              <a:buNone/>
            </a:pPr>
            <a:r>
              <a:rPr b="1" dirty="0"/>
              <a:t>Activities</a:t>
            </a:r>
          </a:p>
          <a:p>
            <a:pPr marL="342900" lvl="0" indent="-342900">
              <a:buAutoNum type="arabicPeriod"/>
            </a:pPr>
            <a:r>
              <a:rPr dirty="0"/>
              <a:t>Choose a real task from your brownfield system</a:t>
            </a:r>
          </a:p>
          <a:p>
            <a:pPr marL="342900" lvl="0" indent="-342900">
              <a:buAutoNum type="arabicPeriod"/>
            </a:pPr>
            <a:r>
              <a:rPr dirty="0"/>
              <a:t>Write a reusable prompt file with:</a:t>
            </a:r>
          </a:p>
          <a:p>
            <a:pPr lvl="1"/>
            <a:r>
              <a:rPr dirty="0"/>
              <a:t>Task definition</a:t>
            </a:r>
          </a:p>
          <a:p>
            <a:pPr lvl="1"/>
            <a:r>
              <a:rPr dirty="0"/>
              <a:t>Constraints</a:t>
            </a:r>
          </a:p>
          <a:p>
            <a:pPr lvl="1"/>
            <a:r>
              <a:rPr dirty="0"/>
              <a:t>Success criteria</a:t>
            </a:r>
          </a:p>
          <a:p>
            <a:pPr lvl="1"/>
            <a:r>
              <a:rPr dirty="0"/>
              <a:t>Example input/output</a:t>
            </a:r>
          </a:p>
          <a:p>
            <a:pPr marL="342900" lvl="0" indent="-342900">
              <a:buAutoNum type="arabicPeriod"/>
            </a:pPr>
            <a:r>
              <a:rPr dirty="0"/>
              <a:t>Review with a partner</a:t>
            </a:r>
          </a:p>
          <a:p>
            <a:pPr marL="0" lvl="0" indent="0">
              <a:spcBef>
                <a:spcPts val="3000"/>
              </a:spcBef>
              <a:buNone/>
            </a:pPr>
            <a:r>
              <a:rPr b="1" dirty="0"/>
              <a:t>Success Criteria</a:t>
            </a:r>
          </a:p>
          <a:p>
            <a:pPr lvl="0"/>
            <a:r>
              <a:rPr dirty="0"/>
              <a:t>Prompt is clear, scoped, and reusable</a:t>
            </a:r>
          </a:p>
          <a:p>
            <a:pPr lvl="0"/>
            <a:r>
              <a:rPr dirty="0"/>
              <a:t>Includes constraints and success criteria</a:t>
            </a:r>
          </a:p>
          <a:p>
            <a:pPr lvl="0"/>
            <a:r>
              <a:rPr dirty="0"/>
              <a:t>Avoids unnecessary context</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an Instruction File for Evergreen Development</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Capture evergreen principles</a:t>
            </a:r>
          </a:p>
          <a:p>
            <a:pPr lvl="0"/>
            <a:r>
              <a:rPr dirty="0"/>
              <a:t>Define architectural boundaries</a:t>
            </a:r>
          </a:p>
          <a:p>
            <a:pPr lvl="0"/>
            <a:r>
              <a:rPr dirty="0"/>
              <a:t>Specify modernization rules</a:t>
            </a:r>
          </a:p>
          <a:p>
            <a:pPr marL="0" lvl="0" indent="0">
              <a:spcBef>
                <a:spcPts val="3000"/>
              </a:spcBef>
              <a:buNone/>
            </a:pPr>
            <a:r>
              <a:rPr b="1" dirty="0"/>
              <a:t>Activities</a:t>
            </a:r>
          </a:p>
          <a:p>
            <a:pPr marL="342900" lvl="0" indent="-342900">
              <a:buAutoNum type="arabicPeriod"/>
            </a:pPr>
            <a:r>
              <a:rPr dirty="0"/>
              <a:t>Draft an instruction file with:</a:t>
            </a:r>
          </a:p>
          <a:p>
            <a:pPr lvl="1"/>
            <a:r>
              <a:rPr dirty="0"/>
              <a:t>Evergreen philosophy</a:t>
            </a:r>
          </a:p>
          <a:p>
            <a:pPr lvl="1"/>
            <a:r>
              <a:rPr dirty="0"/>
              <a:t>Allowed and disallowed patterns</a:t>
            </a:r>
          </a:p>
          <a:p>
            <a:pPr lvl="1"/>
            <a:r>
              <a:rPr dirty="0"/>
              <a:t>Refactoring constraints</a:t>
            </a:r>
          </a:p>
          <a:p>
            <a:pPr lvl="1"/>
            <a:r>
              <a:rPr dirty="0"/>
              <a:t>Documentation expectations</a:t>
            </a:r>
          </a:p>
          <a:p>
            <a:pPr marL="342900" lvl="0" indent="-342900">
              <a:buAutoNum type="arabicPeriod"/>
            </a:pPr>
            <a:r>
              <a:rPr dirty="0"/>
              <a:t>Add provenance metadata</a:t>
            </a:r>
          </a:p>
          <a:p>
            <a:pPr marL="342900" lvl="0" indent="-342900">
              <a:buAutoNum type="arabicPeriod"/>
            </a:pPr>
            <a:r>
              <a:rPr dirty="0"/>
              <a:t>Share with the group</a:t>
            </a:r>
          </a:p>
          <a:p>
            <a:pPr marL="0" lvl="0" indent="0">
              <a:spcBef>
                <a:spcPts val="3000"/>
              </a:spcBef>
              <a:buNone/>
            </a:pPr>
            <a:r>
              <a:rPr b="1" dirty="0"/>
              <a:t>Success Criteria</a:t>
            </a:r>
          </a:p>
          <a:p>
            <a:pPr lvl="0"/>
            <a:r>
              <a:rPr dirty="0"/>
              <a:t>Instruction file is stable and reusable</a:t>
            </a:r>
          </a:p>
          <a:p>
            <a:pPr lvl="0"/>
            <a:r>
              <a:rPr dirty="0"/>
              <a:t>Reflects evergreen development values</a:t>
            </a:r>
          </a:p>
          <a:p>
            <a:pPr lvl="0"/>
            <a:r>
              <a:rPr dirty="0"/>
              <a:t>Provides clear guardrails</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 Chat Mode for a Brownfield Developer</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Define a persona optimized for brownfield work</a:t>
            </a:r>
          </a:p>
          <a:p>
            <a:pPr lvl="0"/>
            <a:r>
              <a:rPr dirty="0"/>
              <a:t>Emphasize safety and incrementalism</a:t>
            </a:r>
          </a:p>
          <a:p>
            <a:pPr lvl="0"/>
            <a:r>
              <a:rPr dirty="0"/>
              <a:t>Encode risk‑aware behaviors</a:t>
            </a:r>
          </a:p>
          <a:p>
            <a:pPr marL="0" lvl="0" indent="0">
              <a:spcBef>
                <a:spcPts val="3000"/>
              </a:spcBef>
              <a:buNone/>
            </a:pPr>
            <a:r>
              <a:rPr b="1" dirty="0"/>
              <a:t>Activities</a:t>
            </a:r>
          </a:p>
          <a:p>
            <a:pPr marL="342900" lvl="0" indent="-342900">
              <a:buAutoNum type="arabicPeriod"/>
            </a:pPr>
            <a:r>
              <a:rPr dirty="0"/>
              <a:t>Draft a chat mode that:</a:t>
            </a:r>
          </a:p>
          <a:p>
            <a:pPr lvl="1"/>
            <a:r>
              <a:rPr dirty="0"/>
              <a:t>Respects working systems</a:t>
            </a:r>
          </a:p>
          <a:p>
            <a:pPr lvl="1"/>
            <a:r>
              <a:rPr dirty="0"/>
              <a:t>Avoids risky rewrites</a:t>
            </a:r>
          </a:p>
          <a:p>
            <a:pPr lvl="1"/>
            <a:r>
              <a:rPr dirty="0"/>
              <a:t>Surfaces context gaps</a:t>
            </a:r>
          </a:p>
          <a:p>
            <a:pPr lvl="1"/>
            <a:r>
              <a:rPr dirty="0"/>
              <a:t>Encourages incremental changes</a:t>
            </a:r>
          </a:p>
          <a:p>
            <a:pPr marL="342900" lvl="0" indent="-342900">
              <a:buAutoNum type="arabicPeriod"/>
            </a:pPr>
            <a:r>
              <a:rPr dirty="0"/>
              <a:t>Add tone and behavioral guidelines</a:t>
            </a:r>
          </a:p>
          <a:p>
            <a:pPr marL="342900" lvl="0" indent="-342900">
              <a:buAutoNum type="arabicPeriod"/>
            </a:pPr>
            <a:r>
              <a:rPr dirty="0"/>
              <a:t>Add provenance metadata</a:t>
            </a:r>
          </a:p>
          <a:p>
            <a:pPr marL="0" lvl="0" indent="0">
              <a:spcBef>
                <a:spcPts val="3000"/>
              </a:spcBef>
              <a:buNone/>
            </a:pPr>
            <a:r>
              <a:rPr b="1" dirty="0"/>
              <a:t>Success Criteria</a:t>
            </a:r>
          </a:p>
          <a:p>
            <a:pPr lvl="0"/>
            <a:r>
              <a:rPr dirty="0"/>
              <a:t>Chat mode behaves like a cautious senior engineer</a:t>
            </a:r>
          </a:p>
          <a:p>
            <a:pPr lvl="0"/>
            <a:r>
              <a:rPr dirty="0"/>
              <a:t>Encourages safe modernization</a:t>
            </a:r>
          </a:p>
          <a:p>
            <a:pPr lvl="0"/>
            <a:r>
              <a:rPr dirty="0"/>
              <a:t>Includes clear behavioral rules</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Generate Instruction Files for a Brownfield Project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Use meta prompts to scale instruction‑file creation</a:t>
            </a:r>
          </a:p>
          <a:p>
            <a:pPr lvl="0"/>
            <a:r>
              <a:rPr dirty="0"/>
              <a:t>Capture module‑specific rules</a:t>
            </a:r>
          </a:p>
          <a:p>
            <a:pPr lvl="0"/>
            <a:r>
              <a:rPr dirty="0"/>
              <a:t>Encode domain and architectural constraints</a:t>
            </a:r>
          </a:p>
          <a:p>
            <a:pPr marL="0" lvl="0" indent="0">
              <a:spcBef>
                <a:spcPts val="3000"/>
              </a:spcBef>
              <a:buNone/>
            </a:pPr>
            <a:r>
              <a:rPr b="1" dirty="0"/>
              <a:t>Activities</a:t>
            </a:r>
          </a:p>
          <a:p>
            <a:pPr marL="342900" lvl="0" indent="-342900">
              <a:buAutoNum type="arabicPeriod"/>
            </a:pPr>
            <a:r>
              <a:rPr dirty="0"/>
              <a:t>Select 2–3 modules from your brownfield system</a:t>
            </a:r>
          </a:p>
          <a:p>
            <a:pPr marL="342900" lvl="0" indent="-342900">
              <a:buAutoNum type="arabicPeriod"/>
            </a:pPr>
            <a:r>
              <a:rPr dirty="0"/>
              <a:t>Use a meta prompt to generate instruction files</a:t>
            </a:r>
          </a:p>
          <a:p>
            <a:pPr marL="342900" lvl="0" indent="-342900">
              <a:buAutoNum type="arabicPeriod"/>
            </a:pPr>
            <a:r>
              <a:rPr dirty="0"/>
              <a:t>Add missing constraints manually</a:t>
            </a:r>
          </a:p>
          <a:p>
            <a:pPr marL="342900" lvl="0" indent="-342900">
              <a:buAutoNum type="arabicPeriod"/>
            </a:pPr>
            <a:r>
              <a:rPr dirty="0"/>
              <a:t>Add provenance metadata</a:t>
            </a:r>
          </a:p>
          <a:p>
            <a:pPr marL="342900" lvl="0" indent="-342900">
              <a:buAutoNum type="arabicPeriod"/>
            </a:pPr>
            <a:r>
              <a:rPr dirty="0"/>
              <a:t>Commit to version control</a:t>
            </a:r>
          </a:p>
          <a:p>
            <a:pPr marL="0" lvl="0" indent="0">
              <a:spcBef>
                <a:spcPts val="3000"/>
              </a:spcBef>
              <a:buNone/>
            </a:pPr>
            <a:r>
              <a:rPr b="1" dirty="0"/>
              <a:t>Success Criteria</a:t>
            </a:r>
          </a:p>
          <a:p>
            <a:pPr lvl="0"/>
            <a:r>
              <a:rPr dirty="0"/>
              <a:t>Instruction files reflect real system constraints</a:t>
            </a:r>
          </a:p>
          <a:p>
            <a:pPr lvl="0"/>
            <a:r>
              <a:rPr dirty="0"/>
              <a:t>Meta prompts produce consistent structure</a:t>
            </a:r>
          </a:p>
          <a:p>
            <a:pPr lvl="0"/>
            <a:r>
              <a:rPr dirty="0"/>
              <a:t>Files are ready for team use</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Checking for Context‑Related Issues</a:t>
            </a:r>
          </a:p>
        </p:txBody>
      </p:sp>
      <p:sp>
        <p:nvSpPr>
          <p:cNvPr id="3" name="Content Placeholder 2"/>
          <p:cNvSpPr>
            <a:spLocks noGrp="1"/>
          </p:cNvSpPr>
          <p:nvPr>
            <p:ph idx="1"/>
          </p:nvPr>
        </p:nvSpPr>
        <p:spPr/>
        <p:txBody>
          <a:bodyPr numCol="2">
            <a:normAutofit fontScale="700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Identify missing context</a:t>
            </a:r>
          </a:p>
          <a:p>
            <a:pPr lvl="0"/>
            <a:r>
              <a:rPr dirty="0"/>
              <a:t>Detect token overflow risks</a:t>
            </a:r>
          </a:p>
          <a:p>
            <a:pPr lvl="0"/>
            <a:r>
              <a:rPr dirty="0"/>
              <a:t>Improve prompt scoping</a:t>
            </a:r>
          </a:p>
          <a:p>
            <a:pPr marL="0" lvl="0" indent="0">
              <a:spcBef>
                <a:spcPts val="3000"/>
              </a:spcBef>
              <a:buNone/>
            </a:pPr>
            <a:r>
              <a:rPr b="1" dirty="0"/>
              <a:t>Activities</a:t>
            </a:r>
          </a:p>
          <a:p>
            <a:pPr marL="342900" lvl="0" indent="-342900">
              <a:buAutoNum type="arabicPeriod"/>
            </a:pPr>
            <a:r>
              <a:rPr dirty="0"/>
              <a:t>Review a provided prompt and code sample</a:t>
            </a:r>
          </a:p>
          <a:p>
            <a:pPr marL="342900" lvl="0" indent="-342900">
              <a:buAutoNum type="arabicPeriod"/>
            </a:pPr>
            <a:r>
              <a:rPr dirty="0"/>
              <a:t>Identify:</a:t>
            </a:r>
          </a:p>
          <a:p>
            <a:pPr lvl="1"/>
            <a:r>
              <a:rPr dirty="0"/>
              <a:t>Missing context</a:t>
            </a:r>
          </a:p>
          <a:p>
            <a:pPr lvl="1"/>
            <a:r>
              <a:rPr dirty="0"/>
              <a:t>Ambiguous instructions</a:t>
            </a:r>
          </a:p>
          <a:p>
            <a:pPr lvl="1"/>
            <a:r>
              <a:rPr dirty="0"/>
              <a:t>Token‑overflow risks</a:t>
            </a:r>
          </a:p>
          <a:p>
            <a:pPr marL="342900" lvl="0" indent="-342900">
              <a:buAutoNum type="arabicPeriod"/>
            </a:pPr>
            <a:r>
              <a:rPr dirty="0"/>
              <a:t>Rewrite the prompt to be safer</a:t>
            </a:r>
          </a:p>
          <a:p>
            <a:pPr marL="342900" lvl="0" indent="-342900">
              <a:buAutoNum type="arabicPeriod"/>
            </a:pPr>
            <a:r>
              <a:rPr dirty="0"/>
              <a:t>Share improvements</a:t>
            </a:r>
          </a:p>
          <a:p>
            <a:pPr marL="0" lvl="0" indent="0">
              <a:spcBef>
                <a:spcPts val="3000"/>
              </a:spcBef>
              <a:buNone/>
            </a:pPr>
            <a:r>
              <a:rPr b="1" dirty="0"/>
              <a:t>Success Criteria</a:t>
            </a:r>
          </a:p>
          <a:p>
            <a:pPr lvl="0"/>
            <a:r>
              <a:rPr dirty="0"/>
              <a:t>Participants correctly identify context gaps</a:t>
            </a:r>
          </a:p>
          <a:p>
            <a:pPr lvl="0"/>
            <a:r>
              <a:rPr dirty="0"/>
              <a:t>Revised prompts are safer and more scoped</a:t>
            </a:r>
          </a:p>
          <a:p>
            <a:pPr lvl="0"/>
            <a:r>
              <a:rPr dirty="0"/>
              <a:t>Overflow risks are mitigated</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2E5F2-FD7E-4E16-9687-DAA44BF59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FB955-6DE0-1D9D-0EE7-F5F3D9CCF7F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BA72A86F-3390-5B7A-2B06-0B2AD0C74539}"/>
              </a:ext>
            </a:extLst>
          </p:cNvPr>
          <p:cNvGraphicFramePr>
            <a:graphicFrameLocks noGrp="1"/>
          </p:cNvGraphicFramePr>
          <p:nvPr>
            <p:ph idx="1"/>
            <p:extLst>
              <p:ext uri="{D42A27DB-BD31-4B8C-83A1-F6EECF244321}">
                <p14:modId xmlns:p14="http://schemas.microsoft.com/office/powerpoint/2010/main" val="397870282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5824905"/>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Building a Backlog</a:t>
            </a:r>
          </a:p>
        </p:txBody>
      </p:sp>
      <p:sp>
        <p:nvSpPr>
          <p:cNvPr id="3" name="Content Placeholder 2"/>
          <p:cNvSpPr>
            <a:spLocks noGrp="1"/>
          </p:cNvSpPr>
          <p:nvPr>
            <p:ph idx="1"/>
          </p:nvPr>
        </p:nvSpPr>
        <p:spPr/>
        <p:txBody>
          <a:bodyPr/>
          <a:lstStyle/>
          <a:p>
            <a:pPr lvl="0"/>
            <a:r>
              <a:t>Identifying technical debt</a:t>
            </a:r>
          </a:p>
          <a:p>
            <a:pPr lvl="0"/>
            <a:r>
              <a:t>Automating the creation of GitHub issues</a:t>
            </a:r>
          </a:p>
          <a:p>
            <a:pPr lvl="0"/>
            <a:r>
              <a:t>Exercise: Building the backlog</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Identifying Technical Debt</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surface:</a:t>
            </a:r>
          </a:p>
          <a:p>
            <a:pPr lvl="0"/>
            <a:r>
              <a:t>Outdated patterns</a:t>
            </a:r>
          </a:p>
          <a:p>
            <a:pPr lvl="0"/>
            <a:r>
              <a:t>High‑complexity functions</a:t>
            </a:r>
          </a:p>
          <a:p>
            <a:pPr lvl="0"/>
            <a:r>
              <a:t>Duplicate logic</a:t>
            </a:r>
          </a:p>
          <a:p>
            <a:pPr lvl="0"/>
            <a:r>
              <a:t>Missing tests</a:t>
            </a:r>
          </a:p>
          <a:p>
            <a:pPr lvl="0"/>
            <a:r>
              <a:t>Security vulnerabilities</a:t>
            </a:r>
          </a:p>
          <a:p>
            <a:pPr lvl="0"/>
            <a:r>
              <a:t>Architectural drift</a:t>
            </a:r>
          </a:p>
          <a:p>
            <a:pPr marL="0" lvl="0" indent="0">
              <a:spcBef>
                <a:spcPts val="3000"/>
              </a:spcBef>
              <a:buNone/>
            </a:pPr>
            <a:r>
              <a:rPr b="1"/>
              <a:t>Benefits</a:t>
            </a:r>
          </a:p>
          <a:p>
            <a:pPr lvl="0"/>
            <a:r>
              <a:t>Faster discovery</a:t>
            </a:r>
          </a:p>
          <a:p>
            <a:pPr lvl="0"/>
            <a:r>
              <a:t>More consistent classification</a:t>
            </a:r>
          </a:p>
          <a:p>
            <a:pPr lvl="0"/>
            <a:r>
              <a:t>Prioritized modernization roadmap</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Automating the Creation of GitHub Issues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help generate:</a:t>
            </a:r>
          </a:p>
          <a:p>
            <a:pPr lvl="0"/>
            <a:r>
              <a:t>Issue titles</a:t>
            </a:r>
          </a:p>
          <a:p>
            <a:pPr lvl="0"/>
            <a:r>
              <a:t>Detailed descriptions</a:t>
            </a:r>
          </a:p>
          <a:p>
            <a:pPr lvl="0"/>
            <a:r>
              <a:t>Acceptance criteria</a:t>
            </a:r>
          </a:p>
          <a:p>
            <a:pPr lvl="0"/>
            <a:r>
              <a:t>Labels and metadata</a:t>
            </a:r>
          </a:p>
          <a:p>
            <a:pPr lvl="0"/>
            <a:r>
              <a:t>Suggested remediation steps</a:t>
            </a:r>
          </a:p>
          <a:p>
            <a:pPr marL="0" lvl="0" indent="0">
              <a:spcBef>
                <a:spcPts val="3000"/>
              </a:spcBef>
              <a:buNone/>
            </a:pPr>
            <a:r>
              <a:rPr b="1"/>
              <a:t>Why automate?</a:t>
            </a:r>
          </a:p>
          <a:p>
            <a:pPr lvl="0"/>
            <a:r>
              <a:t>Ensures consistency</a:t>
            </a:r>
          </a:p>
          <a:p>
            <a:pPr lvl="0"/>
            <a:r>
              <a:t>Reduces manual backlog grooming</a:t>
            </a:r>
          </a:p>
          <a:p>
            <a:pPr lvl="0"/>
            <a:r>
              <a:t>Produces actionable, high‑signal issues</a:t>
            </a:r>
          </a:p>
          <a:p>
            <a:pPr lvl="0"/>
            <a:r>
              <a:t>Accelerates modernization planning</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Backlog</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Practice identifying technical debt</a:t>
            </a:r>
          </a:p>
          <a:p>
            <a:pPr lvl="0"/>
            <a:r>
              <a:rPr dirty="0"/>
              <a:t>Convert findings into actionable GitHub issues</a:t>
            </a:r>
          </a:p>
          <a:p>
            <a:pPr lvl="0"/>
            <a:r>
              <a:rPr dirty="0"/>
              <a:t>Apply consistent structure and provenance</a:t>
            </a:r>
          </a:p>
          <a:p>
            <a:pPr lvl="0"/>
            <a:r>
              <a:rPr dirty="0"/>
              <a:t>Prioritize issues based on risk and impact</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Ask AI to identify:</a:t>
            </a:r>
          </a:p>
          <a:p>
            <a:pPr lvl="1"/>
            <a:r>
              <a:rPr dirty="0"/>
              <a:t>Technical debt</a:t>
            </a:r>
          </a:p>
          <a:p>
            <a:pPr lvl="1"/>
            <a:r>
              <a:rPr dirty="0"/>
              <a:t>Risks</a:t>
            </a:r>
          </a:p>
          <a:p>
            <a:pPr lvl="1"/>
            <a:r>
              <a:rPr dirty="0"/>
              <a:t>Missing tests</a:t>
            </a:r>
          </a:p>
          <a:p>
            <a:pPr lvl="1"/>
            <a:r>
              <a:rPr dirty="0"/>
              <a:t>Architectural violations</a:t>
            </a:r>
          </a:p>
          <a:p>
            <a:pPr marL="342900" lvl="0" indent="-342900">
              <a:buAutoNum type="arabicPeriod"/>
            </a:pPr>
            <a:r>
              <a:rPr dirty="0"/>
              <a:t>Convert each finding into a GitHub issue with:</a:t>
            </a:r>
          </a:p>
          <a:p>
            <a:pPr lvl="1"/>
            <a:r>
              <a:rPr dirty="0"/>
              <a:t>Title</a:t>
            </a:r>
          </a:p>
          <a:p>
            <a:pPr lvl="1"/>
            <a:r>
              <a:rPr dirty="0"/>
              <a:t>Description</a:t>
            </a:r>
          </a:p>
          <a:p>
            <a:pPr lvl="1"/>
            <a:r>
              <a:rPr dirty="0"/>
              <a:t>Acceptance criteria</a:t>
            </a:r>
          </a:p>
          <a:p>
            <a:pPr lvl="1"/>
            <a:r>
              <a:rPr dirty="0"/>
              <a:t>Labels</a:t>
            </a:r>
          </a:p>
          <a:p>
            <a:pPr lvl="1"/>
            <a:r>
              <a:rPr dirty="0"/>
              <a:t>Provenance metadata</a:t>
            </a:r>
          </a:p>
          <a:p>
            <a:pPr marL="342900" lvl="0" indent="-342900">
              <a:buAutoNum type="arabicPeriod"/>
            </a:pPr>
            <a:r>
              <a:rPr dirty="0"/>
              <a:t>Prioritize the issues using impact vs. effort.</a:t>
            </a:r>
          </a:p>
          <a:p>
            <a:pPr marL="342900" lvl="0" indent="-342900">
              <a:buAutoNum type="arabicPeriod"/>
            </a:pPr>
            <a:r>
              <a:rPr dirty="0"/>
              <a:t>Share your backlog with a partner for review.</a:t>
            </a:r>
          </a:p>
          <a:p>
            <a:pPr marL="0" lvl="0" indent="0">
              <a:spcBef>
                <a:spcPts val="3000"/>
              </a:spcBef>
              <a:buNone/>
            </a:pPr>
            <a:r>
              <a:rPr b="1" dirty="0"/>
              <a:t>Success Criteria</a:t>
            </a:r>
          </a:p>
          <a:p>
            <a:pPr lvl="0"/>
            <a:r>
              <a:rPr dirty="0"/>
              <a:t>Issues are clear, actionable, and well‑structured</a:t>
            </a:r>
          </a:p>
          <a:p>
            <a:pPr lvl="0"/>
            <a:r>
              <a:rPr dirty="0"/>
              <a:t>Provenance metadata is included</a:t>
            </a:r>
          </a:p>
          <a:p>
            <a:pPr lvl="0"/>
            <a:r>
              <a:rPr dirty="0"/>
              <a:t>Prioritization reflects real risk and effort</a:t>
            </a:r>
          </a:p>
          <a:p>
            <a:pPr lvl="0"/>
            <a:r>
              <a:rPr dirty="0"/>
              <a:t>Backlog is ready for team review</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2F94-66A8-C24E-8B89-4B5B3EC58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08A13-4351-3177-F6D2-3C0A5B88CE7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4A7E8AF-CB5E-5420-0C4B-436C5935E7A9}"/>
              </a:ext>
            </a:extLst>
          </p:cNvPr>
          <p:cNvGraphicFramePr>
            <a:graphicFrameLocks noGrp="1"/>
          </p:cNvGraphicFramePr>
          <p:nvPr>
            <p:ph idx="1"/>
            <p:extLst>
              <p:ext uri="{D42A27DB-BD31-4B8C-83A1-F6EECF244321}">
                <p14:modId xmlns:p14="http://schemas.microsoft.com/office/powerpoint/2010/main" val="321300959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7473389"/>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Building Safety Nets</a:t>
            </a:r>
          </a:p>
        </p:txBody>
      </p:sp>
      <p:sp>
        <p:nvSpPr>
          <p:cNvPr id="3" name="Content Placeholder 2"/>
          <p:cNvSpPr>
            <a:spLocks noGrp="1"/>
          </p:cNvSpPr>
          <p:nvPr>
            <p:ph idx="1"/>
          </p:nvPr>
        </p:nvSpPr>
        <p:spPr/>
        <p:txBody>
          <a:bodyPr/>
          <a:lstStyle/>
          <a:p>
            <a:pPr lvl="0"/>
            <a:r>
              <a:t>Protecting brownfield codebases</a:t>
            </a:r>
          </a:p>
          <a:p>
            <a:pPr lvl="0"/>
            <a:r>
              <a:t>Leveraging AI code reviews</a:t>
            </a:r>
          </a:p>
          <a:p>
            <a:pPr lvl="0"/>
            <a:r>
              <a:t>Effective human code reviews</a:t>
            </a:r>
          </a:p>
          <a:p>
            <a:pPr lvl="0"/>
            <a:r>
              <a:t>The role of test automation</a:t>
            </a:r>
          </a:p>
          <a:p>
            <a:pPr lvl="0"/>
            <a:r>
              <a:t>Exercise: Building safety nets in practice</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Protecting Brownfield Codebases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Key Practices</a:t>
            </a:r>
          </a:p>
          <a:p>
            <a:pPr lvl="0"/>
            <a:r>
              <a:t>Preserve existing behavior unless intentionally changed</a:t>
            </a:r>
          </a:p>
          <a:p>
            <a:pPr lvl="0"/>
            <a:r>
              <a:t>Avoid large, risky refactors</a:t>
            </a:r>
          </a:p>
          <a:p>
            <a:pPr lvl="0"/>
            <a:r>
              <a:t>Use incremental modernization</a:t>
            </a:r>
          </a:p>
          <a:p>
            <a:pPr lvl="0"/>
            <a:r>
              <a:t>Maintain architectural boundaries</a:t>
            </a:r>
          </a:p>
          <a:p>
            <a:pPr lvl="0"/>
            <a:r>
              <a:t>Document every AI-assisted change</a:t>
            </a:r>
          </a:p>
          <a:p>
            <a:pPr marL="0" lvl="0" indent="0">
              <a:spcBef>
                <a:spcPts val="3000"/>
              </a:spcBef>
              <a:buNone/>
            </a:pPr>
            <a:r>
              <a:rPr b="1"/>
              <a:t>Why it matters</a:t>
            </a:r>
          </a:p>
          <a:p>
            <a:pPr lvl="0"/>
            <a:r>
              <a:t>Brownfield systems run the business</a:t>
            </a:r>
          </a:p>
          <a:p>
            <a:pPr lvl="0"/>
            <a:r>
              <a:t>Stability is more important than novelty</a:t>
            </a:r>
          </a:p>
          <a:p>
            <a:pPr lvl="0"/>
            <a:r>
              <a:t>Safety nets reduce fear and increase confidence</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Leveraging AI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assist by:</a:t>
            </a:r>
          </a:p>
          <a:p>
            <a:pPr lvl="0"/>
            <a:r>
              <a:t>Highlighting risky changes</a:t>
            </a:r>
          </a:p>
          <a:p>
            <a:pPr lvl="0"/>
            <a:r>
              <a:t>Detecting missing tests</a:t>
            </a:r>
          </a:p>
          <a:p>
            <a:pPr lvl="0"/>
            <a:r>
              <a:t>Identifying architectural violations</a:t>
            </a:r>
          </a:p>
          <a:p>
            <a:pPr lvl="0"/>
            <a:r>
              <a:t>Suggesting safer alternatives</a:t>
            </a:r>
          </a:p>
          <a:p>
            <a:pPr lvl="0"/>
            <a:r>
              <a:t>Surfacing potential regressions</a:t>
            </a:r>
          </a:p>
          <a:p>
            <a:pPr marL="0" lvl="0" indent="0">
              <a:spcBef>
                <a:spcPts val="3000"/>
              </a:spcBef>
              <a:buNone/>
            </a:pPr>
            <a:r>
              <a:rPr b="1"/>
              <a:t>Benefits</a:t>
            </a:r>
          </a:p>
          <a:p>
            <a:pPr lvl="0"/>
            <a:r>
              <a:t>Faster feedback loops</a:t>
            </a:r>
          </a:p>
          <a:p>
            <a:pPr lvl="0"/>
            <a:r>
              <a:t>More consistent review quality</a:t>
            </a:r>
          </a:p>
          <a:p>
            <a:pPr lvl="0"/>
            <a:r>
              <a:t>Early detection of drift</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Effective Human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Human reviewers focus on:</a:t>
            </a:r>
          </a:p>
          <a:p>
            <a:pPr lvl="0"/>
            <a:r>
              <a:t>Intent and correctness</a:t>
            </a:r>
          </a:p>
          <a:p>
            <a:pPr lvl="0"/>
            <a:r>
              <a:t>Architectural alignment</a:t>
            </a:r>
          </a:p>
          <a:p>
            <a:pPr lvl="0"/>
            <a:r>
              <a:t>Business logic validation</a:t>
            </a:r>
          </a:p>
          <a:p>
            <a:pPr lvl="0"/>
            <a:r>
              <a:t>Risk assessment</a:t>
            </a:r>
          </a:p>
          <a:p>
            <a:pPr lvl="0"/>
            <a:r>
              <a:t>Ensuring changes are incremental and reversible</a:t>
            </a:r>
          </a:p>
          <a:p>
            <a:pPr marL="0" lvl="0" indent="0">
              <a:spcBef>
                <a:spcPts val="3000"/>
              </a:spcBef>
              <a:buNone/>
            </a:pPr>
            <a:r>
              <a:rPr b="1"/>
              <a:t>Best practices</a:t>
            </a:r>
          </a:p>
          <a:p>
            <a:pPr lvl="0"/>
            <a:r>
              <a:t>Review small change sets</a:t>
            </a:r>
          </a:p>
          <a:p>
            <a:pPr lvl="0"/>
            <a:r>
              <a:t>Ask for context when missing</a:t>
            </a:r>
          </a:p>
          <a:p>
            <a:pPr lvl="0"/>
            <a:r>
              <a:t>Validate AI-generated code with skepticism and curiosity</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The Role of Test Automation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Test automation provides:</a:t>
            </a:r>
          </a:p>
          <a:p>
            <a:pPr lvl="0"/>
            <a:r>
              <a:t>Behavioral guarantees</a:t>
            </a:r>
          </a:p>
          <a:p>
            <a:pPr lvl="0"/>
            <a:r>
              <a:t>Regression detection</a:t>
            </a:r>
          </a:p>
          <a:p>
            <a:pPr lvl="0"/>
            <a:r>
              <a:t>Confidence for modernization</a:t>
            </a:r>
          </a:p>
          <a:p>
            <a:pPr lvl="0"/>
            <a:r>
              <a:t>Guardrails for AI-assisted refactoring</a:t>
            </a:r>
          </a:p>
          <a:p>
            <a:pPr marL="0" lvl="0" indent="0">
              <a:spcBef>
                <a:spcPts val="3000"/>
              </a:spcBef>
              <a:buNone/>
            </a:pPr>
            <a:r>
              <a:rPr b="1"/>
              <a:t>Types of tests</a:t>
            </a:r>
          </a:p>
          <a:p>
            <a:pPr lvl="0"/>
            <a:r>
              <a:t>Unit tests</a:t>
            </a:r>
          </a:p>
          <a:p>
            <a:pPr lvl="0"/>
            <a:r>
              <a:t>Integration tests</a:t>
            </a:r>
          </a:p>
          <a:p>
            <a:pPr lvl="0"/>
            <a:r>
              <a:t>End-to-end tests</a:t>
            </a:r>
          </a:p>
          <a:p>
            <a:pPr lvl="0"/>
            <a:r>
              <a:t>Snapshot and contract tests</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Safety Nets</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missing safety nets in a brownfield system</a:t>
            </a:r>
          </a:p>
          <a:p>
            <a:pPr lvl="0"/>
            <a:r>
              <a:rPr dirty="0"/>
              <a:t>Strengthen protection using AI and human review practices</a:t>
            </a:r>
          </a:p>
          <a:p>
            <a:pPr lvl="0"/>
            <a:r>
              <a:rPr dirty="0"/>
              <a:t>Apply test automation principles</a:t>
            </a:r>
          </a:p>
          <a:p>
            <a:pPr lvl="0"/>
            <a:r>
              <a:rPr dirty="0"/>
              <a:t>Produce actionable improvements</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Identify existing safety nets (tests, reviews, documentation).</a:t>
            </a:r>
          </a:p>
          <a:p>
            <a:pPr marL="342900" lvl="0" indent="-342900">
              <a:buAutoNum type="arabicPeriod"/>
            </a:pPr>
            <a:r>
              <a:rPr dirty="0"/>
              <a:t>Ask AI to identify missing or weak safety nets.</a:t>
            </a:r>
          </a:p>
          <a:p>
            <a:pPr marL="342900" lvl="0" indent="-342900">
              <a:buAutoNum type="arabicPeriod"/>
            </a:pPr>
            <a:r>
              <a:rPr dirty="0"/>
              <a:t>Strengthen the safety nets by:</a:t>
            </a:r>
          </a:p>
          <a:p>
            <a:pPr lvl="1"/>
            <a:r>
              <a:rPr dirty="0"/>
              <a:t>Adding or updating tests</a:t>
            </a:r>
          </a:p>
          <a:p>
            <a:pPr lvl="1"/>
            <a:r>
              <a:rPr dirty="0"/>
              <a:t>Drafting review checklists</a:t>
            </a:r>
          </a:p>
          <a:p>
            <a:pPr lvl="1"/>
            <a:r>
              <a:rPr dirty="0"/>
              <a:t>Documenting architectural constraints</a:t>
            </a:r>
          </a:p>
          <a:p>
            <a:pPr marL="342900" lvl="0" indent="-342900">
              <a:buAutoNum type="arabicPeriod"/>
            </a:pPr>
            <a:r>
              <a:rPr dirty="0"/>
              <a:t>Share findings with a partner for validation.</a:t>
            </a:r>
          </a:p>
          <a:p>
            <a:pPr marL="0" lvl="0" indent="0">
              <a:spcBef>
                <a:spcPts val="3000"/>
              </a:spcBef>
              <a:buNone/>
            </a:pPr>
            <a:r>
              <a:rPr b="1" dirty="0"/>
              <a:t>Success Criteria</a:t>
            </a:r>
          </a:p>
          <a:p>
            <a:pPr lvl="0"/>
            <a:r>
              <a:rPr dirty="0"/>
              <a:t>Missing safety nets are clearly identified</a:t>
            </a:r>
          </a:p>
          <a:p>
            <a:pPr lvl="0"/>
            <a:r>
              <a:rPr dirty="0"/>
              <a:t>Proposed improvements are safe and incremental</a:t>
            </a:r>
          </a:p>
          <a:p>
            <a:pPr lvl="0"/>
            <a:r>
              <a:rPr dirty="0"/>
              <a:t>Test coverage or clarity is improved</a:t>
            </a:r>
          </a:p>
          <a:p>
            <a:pPr lvl="0"/>
            <a:r>
              <a:rPr dirty="0"/>
              <a:t>Review and documentation guardrails are strengthened</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FABF-F95F-400C-5344-16DD9B4C7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90F1E-CABB-AF53-6E03-FEE86EDB6E2C}"/>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99357BC-0016-CF2D-B54C-3ED307E9DBC9}"/>
              </a:ext>
            </a:extLst>
          </p:cNvPr>
          <p:cNvGraphicFramePr>
            <a:graphicFrameLocks noGrp="1"/>
          </p:cNvGraphicFramePr>
          <p:nvPr>
            <p:ph idx="1"/>
            <p:extLst>
              <p:ext uri="{D42A27DB-BD31-4B8C-83A1-F6EECF244321}">
                <p14:modId xmlns:p14="http://schemas.microsoft.com/office/powerpoint/2010/main" val="265190771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2704256"/>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Building Safety Nets</a:t>
            </a:r>
          </a:p>
        </p:txBody>
      </p:sp>
      <p:sp>
        <p:nvSpPr>
          <p:cNvPr id="3" name="Content Placeholder 2"/>
          <p:cNvSpPr>
            <a:spLocks noGrp="1"/>
          </p:cNvSpPr>
          <p:nvPr>
            <p:ph idx="1"/>
          </p:nvPr>
        </p:nvSpPr>
        <p:spPr/>
        <p:txBody>
          <a:bodyPr/>
          <a:lstStyle/>
          <a:p>
            <a:pPr lvl="0"/>
            <a:r>
              <a:t>Protecting brownfield codebases</a:t>
            </a:r>
          </a:p>
          <a:p>
            <a:pPr lvl="0"/>
            <a:r>
              <a:t>Leveraging AI code reviews</a:t>
            </a:r>
          </a:p>
          <a:p>
            <a:pPr lvl="0"/>
            <a:r>
              <a:t>Effective human code reviews</a:t>
            </a:r>
          </a:p>
          <a:p>
            <a:pPr lvl="0"/>
            <a:r>
              <a:t>The role of test automation</a:t>
            </a:r>
          </a:p>
          <a:p>
            <a:pPr lvl="0"/>
            <a:r>
              <a:t>Exercise: Building safety nets in practice</a:t>
            </a: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Protecting Brownfield Codebases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Key Practices</a:t>
            </a:r>
          </a:p>
          <a:p>
            <a:pPr lvl="0"/>
            <a:r>
              <a:t>Preserve existing behavior unless intentionally changed</a:t>
            </a:r>
          </a:p>
          <a:p>
            <a:pPr lvl="0"/>
            <a:r>
              <a:t>Avoid large, risky refactors</a:t>
            </a:r>
          </a:p>
          <a:p>
            <a:pPr lvl="0"/>
            <a:r>
              <a:t>Use incremental modernization</a:t>
            </a:r>
          </a:p>
          <a:p>
            <a:pPr lvl="0"/>
            <a:r>
              <a:t>Maintain architectural boundaries</a:t>
            </a:r>
          </a:p>
          <a:p>
            <a:pPr lvl="0"/>
            <a:r>
              <a:t>Document every AI-assisted change</a:t>
            </a:r>
          </a:p>
          <a:p>
            <a:pPr marL="0" lvl="0" indent="0">
              <a:spcBef>
                <a:spcPts val="3000"/>
              </a:spcBef>
              <a:buNone/>
            </a:pPr>
            <a:r>
              <a:rPr b="1"/>
              <a:t>Why it matters</a:t>
            </a:r>
          </a:p>
          <a:p>
            <a:pPr lvl="0"/>
            <a:r>
              <a:t>Brownfield systems run the business</a:t>
            </a:r>
          </a:p>
          <a:p>
            <a:pPr lvl="0"/>
            <a:r>
              <a:t>Stability is more important than novelty</a:t>
            </a:r>
          </a:p>
          <a:p>
            <a:pPr lvl="0"/>
            <a:r>
              <a:t>Safety nets reduce fear and increase confidence</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Leveraging AI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assist by:</a:t>
            </a:r>
          </a:p>
          <a:p>
            <a:pPr lvl="0"/>
            <a:r>
              <a:t>Highlighting risky changes</a:t>
            </a:r>
          </a:p>
          <a:p>
            <a:pPr lvl="0"/>
            <a:r>
              <a:t>Detecting missing tests</a:t>
            </a:r>
          </a:p>
          <a:p>
            <a:pPr lvl="0"/>
            <a:r>
              <a:t>Identifying architectural violations</a:t>
            </a:r>
          </a:p>
          <a:p>
            <a:pPr lvl="0"/>
            <a:r>
              <a:t>Suggesting safer alternatives</a:t>
            </a:r>
          </a:p>
          <a:p>
            <a:pPr lvl="0"/>
            <a:r>
              <a:t>Surfacing potential regressions</a:t>
            </a:r>
          </a:p>
          <a:p>
            <a:pPr marL="0" lvl="0" indent="0">
              <a:spcBef>
                <a:spcPts val="3000"/>
              </a:spcBef>
              <a:buNone/>
            </a:pPr>
            <a:r>
              <a:rPr b="1"/>
              <a:t>Benefits</a:t>
            </a:r>
          </a:p>
          <a:p>
            <a:pPr lvl="0"/>
            <a:r>
              <a:t>Faster feedback loops</a:t>
            </a:r>
          </a:p>
          <a:p>
            <a:pPr lvl="0"/>
            <a:r>
              <a:t>More consistent review quality</a:t>
            </a:r>
          </a:p>
          <a:p>
            <a:pPr lvl="0"/>
            <a:r>
              <a:t>Early detection of drift</a:t>
            </a: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Effective Human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Human reviewers focus on:</a:t>
            </a:r>
          </a:p>
          <a:p>
            <a:pPr lvl="0"/>
            <a:r>
              <a:t>Intent and correctness</a:t>
            </a:r>
          </a:p>
          <a:p>
            <a:pPr lvl="0"/>
            <a:r>
              <a:t>Architectural alignment</a:t>
            </a:r>
          </a:p>
          <a:p>
            <a:pPr lvl="0"/>
            <a:r>
              <a:t>Business logic validation</a:t>
            </a:r>
          </a:p>
          <a:p>
            <a:pPr lvl="0"/>
            <a:r>
              <a:t>Risk assessment</a:t>
            </a:r>
          </a:p>
          <a:p>
            <a:pPr lvl="0"/>
            <a:r>
              <a:t>Ensuring changes are incremental and reversible</a:t>
            </a:r>
          </a:p>
          <a:p>
            <a:pPr marL="0" lvl="0" indent="0">
              <a:spcBef>
                <a:spcPts val="3000"/>
              </a:spcBef>
              <a:buNone/>
            </a:pPr>
            <a:r>
              <a:rPr b="1"/>
              <a:t>Best practices</a:t>
            </a:r>
          </a:p>
          <a:p>
            <a:pPr lvl="0"/>
            <a:r>
              <a:t>Review small change sets</a:t>
            </a:r>
          </a:p>
          <a:p>
            <a:pPr lvl="0"/>
            <a:r>
              <a:t>Ask for context when missing</a:t>
            </a:r>
          </a:p>
          <a:p>
            <a:pPr lvl="0"/>
            <a:r>
              <a:t>Validate AI-generated code with skepticism and curiosity</a:t>
            </a: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The Role of Test Automation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Test automation provides:</a:t>
            </a:r>
          </a:p>
          <a:p>
            <a:pPr lvl="0"/>
            <a:r>
              <a:t>Behavioral guarantees</a:t>
            </a:r>
          </a:p>
          <a:p>
            <a:pPr lvl="0"/>
            <a:r>
              <a:t>Regression detection</a:t>
            </a:r>
          </a:p>
          <a:p>
            <a:pPr lvl="0"/>
            <a:r>
              <a:t>Confidence for modernization</a:t>
            </a:r>
          </a:p>
          <a:p>
            <a:pPr lvl="0"/>
            <a:r>
              <a:t>Guardrails for AI-assisted refactoring</a:t>
            </a:r>
          </a:p>
          <a:p>
            <a:pPr marL="0" lvl="0" indent="0">
              <a:spcBef>
                <a:spcPts val="3000"/>
              </a:spcBef>
              <a:buNone/>
            </a:pPr>
            <a:r>
              <a:rPr b="1"/>
              <a:t>Types of tests</a:t>
            </a:r>
          </a:p>
          <a:p>
            <a:pPr lvl="0"/>
            <a:r>
              <a:t>Unit tests</a:t>
            </a:r>
          </a:p>
          <a:p>
            <a:pPr lvl="0"/>
            <a:r>
              <a:t>Integration tests</a:t>
            </a:r>
          </a:p>
          <a:p>
            <a:pPr lvl="0"/>
            <a:r>
              <a:t>End-to-end tests</a:t>
            </a:r>
          </a:p>
          <a:p>
            <a:pPr lvl="0"/>
            <a:r>
              <a:t>Snapshot and contract tests</a:t>
            </a: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Safety Nets</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missing safety nets in a brownfield system</a:t>
            </a:r>
          </a:p>
          <a:p>
            <a:pPr lvl="0"/>
            <a:r>
              <a:rPr dirty="0"/>
              <a:t>Strengthen protection using AI and human review practices</a:t>
            </a:r>
          </a:p>
          <a:p>
            <a:pPr lvl="0"/>
            <a:r>
              <a:rPr dirty="0"/>
              <a:t>Apply test automation principles</a:t>
            </a:r>
          </a:p>
          <a:p>
            <a:pPr lvl="0"/>
            <a:r>
              <a:rPr dirty="0"/>
              <a:t>Produce actionable improvements</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Identify existing safety nets (tests, reviews, documentation).</a:t>
            </a:r>
          </a:p>
          <a:p>
            <a:pPr marL="342900" lvl="0" indent="-342900">
              <a:buAutoNum type="arabicPeriod"/>
            </a:pPr>
            <a:r>
              <a:rPr dirty="0"/>
              <a:t>Ask AI to identify missing or weak safety nets.</a:t>
            </a:r>
          </a:p>
          <a:p>
            <a:pPr marL="342900" lvl="0" indent="-342900">
              <a:buAutoNum type="arabicPeriod"/>
            </a:pPr>
            <a:r>
              <a:rPr dirty="0"/>
              <a:t>Strengthen the safety nets by:</a:t>
            </a:r>
          </a:p>
          <a:p>
            <a:pPr lvl="1"/>
            <a:r>
              <a:rPr dirty="0"/>
              <a:t>Adding or updating tests</a:t>
            </a:r>
          </a:p>
          <a:p>
            <a:pPr lvl="1"/>
            <a:r>
              <a:rPr dirty="0"/>
              <a:t>Drafting review checklists</a:t>
            </a:r>
          </a:p>
          <a:p>
            <a:pPr lvl="1"/>
            <a:r>
              <a:rPr dirty="0"/>
              <a:t>Documenting architectural constraints</a:t>
            </a:r>
          </a:p>
          <a:p>
            <a:pPr marL="342900" lvl="0" indent="-342900">
              <a:buAutoNum type="arabicPeriod"/>
            </a:pPr>
            <a:r>
              <a:rPr dirty="0"/>
              <a:t>Share findings with a partner for validation.</a:t>
            </a:r>
          </a:p>
          <a:p>
            <a:pPr marL="0" lvl="0" indent="0">
              <a:spcBef>
                <a:spcPts val="3000"/>
              </a:spcBef>
              <a:buNone/>
            </a:pPr>
            <a:r>
              <a:rPr b="1" dirty="0"/>
              <a:t>Success Criteria</a:t>
            </a:r>
          </a:p>
          <a:p>
            <a:pPr lvl="0"/>
            <a:r>
              <a:rPr dirty="0"/>
              <a:t>Missing safety nets are clearly identified</a:t>
            </a:r>
          </a:p>
          <a:p>
            <a:pPr lvl="0"/>
            <a:r>
              <a:rPr dirty="0"/>
              <a:t>Proposed improvements are safe and incremental</a:t>
            </a:r>
          </a:p>
          <a:p>
            <a:pPr lvl="0"/>
            <a:r>
              <a:rPr dirty="0"/>
              <a:t>Test coverage or clarity is improved</a:t>
            </a:r>
          </a:p>
          <a:p>
            <a:pPr lvl="0"/>
            <a:r>
              <a:rPr dirty="0"/>
              <a:t>Review and documentation guardrails are strengthened</a:t>
            </a:r>
          </a:p>
        </p:txBody>
      </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D796-3821-245D-B419-D32E507DD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3AC8A-4F1E-5992-57ED-216DD4CEED77}"/>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CB0D166A-3ADE-AD5F-B0CF-04AFE6C2C70D}"/>
              </a:ext>
            </a:extLst>
          </p:cNvPr>
          <p:cNvGraphicFramePr>
            <a:graphicFrameLocks noGrp="1"/>
          </p:cNvGraphicFramePr>
          <p:nvPr>
            <p:ph idx="1"/>
            <p:extLst>
              <p:ext uri="{D42A27DB-BD31-4B8C-83A1-F6EECF244321}">
                <p14:modId xmlns:p14="http://schemas.microsoft.com/office/powerpoint/2010/main" val="11768883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1535404"/>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Robust Testing Frameworks</a:t>
            </a:r>
          </a:p>
        </p:txBody>
      </p:sp>
      <p:sp>
        <p:nvSpPr>
          <p:cNvPr id="3" name="Content Placeholder 2"/>
          <p:cNvSpPr>
            <a:spLocks noGrp="1"/>
          </p:cNvSpPr>
          <p:nvPr>
            <p:ph idx="1"/>
          </p:nvPr>
        </p:nvSpPr>
        <p:spPr/>
        <p:txBody>
          <a:bodyPr/>
          <a:lstStyle/>
          <a:p>
            <a:pPr lvl="0"/>
            <a:r>
              <a:t>Generating comprehensive test suites</a:t>
            </a:r>
          </a:p>
          <a:p>
            <a:pPr lvl="0"/>
            <a:r>
              <a:t>Managing test suites over time</a:t>
            </a:r>
          </a:p>
          <a:p>
            <a:pPr lvl="0"/>
            <a:r>
              <a:t>Test review and validation strategies</a:t>
            </a:r>
          </a:p>
          <a:p>
            <a:pPr lvl="0"/>
            <a:r>
              <a:t>Balancing test coverage with maintainability</a:t>
            </a:r>
          </a:p>
          <a:p>
            <a:pPr lvl="0"/>
            <a:r>
              <a:t>Exercise: Strengthening your testing framework</a:t>
            </a: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Generating Comprehensive Test Suites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AI can help generate:</a:t>
            </a:r>
          </a:p>
          <a:p>
            <a:pPr lvl="0"/>
            <a:r>
              <a:rPr dirty="0"/>
              <a:t>Unit tests</a:t>
            </a:r>
          </a:p>
          <a:p>
            <a:pPr lvl="0"/>
            <a:r>
              <a:rPr dirty="0"/>
              <a:t>Integration tests</a:t>
            </a:r>
          </a:p>
          <a:p>
            <a:pPr lvl="0"/>
            <a:r>
              <a:rPr dirty="0"/>
              <a:t>End-to-end tests</a:t>
            </a:r>
          </a:p>
          <a:p>
            <a:pPr lvl="0"/>
            <a:r>
              <a:rPr dirty="0"/>
              <a:t>Snapshot and contract tests</a:t>
            </a:r>
          </a:p>
          <a:p>
            <a:pPr lvl="0"/>
            <a:r>
              <a:rPr dirty="0"/>
              <a:t>Edge-case and regression tests</a:t>
            </a:r>
          </a:p>
          <a:p>
            <a:pPr marL="0" lvl="0" indent="0">
              <a:spcBef>
                <a:spcPts val="3000"/>
              </a:spcBef>
              <a:buNone/>
            </a:pPr>
            <a:r>
              <a:rPr b="1" dirty="0"/>
              <a:t>Benefits</a:t>
            </a:r>
          </a:p>
          <a:p>
            <a:pPr lvl="0"/>
            <a:r>
              <a:rPr dirty="0"/>
              <a:t>Faster coverage expansion</a:t>
            </a:r>
          </a:p>
          <a:p>
            <a:pPr lvl="0"/>
            <a:r>
              <a:rPr dirty="0"/>
              <a:t>Consistent test structure</a:t>
            </a:r>
          </a:p>
          <a:p>
            <a:pPr lvl="0"/>
            <a:r>
              <a:rPr dirty="0"/>
              <a:t>Reduced onboarding time</a:t>
            </a:r>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Managing Test Suites Over Time</a:t>
            </a:r>
          </a:p>
        </p:txBody>
      </p:sp>
      <p:sp>
        <p:nvSpPr>
          <p:cNvPr id="3" name="Content Placeholder 2"/>
          <p:cNvSpPr>
            <a:spLocks noGrp="1"/>
          </p:cNvSpPr>
          <p:nvPr>
            <p:ph idx="1"/>
          </p:nvPr>
        </p:nvSpPr>
        <p:spPr/>
        <p:txBody>
          <a:bodyPr/>
          <a:lstStyle/>
          <a:p>
            <a:pPr marL="0" lvl="0" indent="0">
              <a:spcBef>
                <a:spcPts val="3000"/>
              </a:spcBef>
              <a:buNone/>
            </a:pPr>
            <a:r>
              <a:rPr b="1"/>
              <a:t>Key Practices</a:t>
            </a:r>
          </a:p>
          <a:p>
            <a:pPr lvl="0"/>
            <a:r>
              <a:t>Regularly prune obsolete tests</a:t>
            </a:r>
          </a:p>
          <a:p>
            <a:pPr lvl="0"/>
            <a:r>
              <a:t>Update tests alongside code changes</a:t>
            </a:r>
          </a:p>
          <a:p>
            <a:pPr lvl="0"/>
            <a:r>
              <a:t>Maintain clear naming and structure</a:t>
            </a:r>
          </a:p>
          <a:p>
            <a:pPr lvl="0"/>
            <a:r>
              <a:t>Use coverage reports to guide improvements</a:t>
            </a:r>
          </a:p>
          <a:p>
            <a:pPr lvl="0"/>
            <a:r>
              <a:t>Version-control test strategy documents</a:t>
            </a: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Test Review &amp; Validation Strategies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AI-assisted review can:</a:t>
            </a:r>
          </a:p>
          <a:p>
            <a:pPr lvl="0"/>
            <a:r>
              <a:t>Detect missing assertions</a:t>
            </a:r>
          </a:p>
          <a:p>
            <a:pPr lvl="0"/>
            <a:r>
              <a:t>Identify redundant tests</a:t>
            </a:r>
          </a:p>
          <a:p>
            <a:pPr lvl="0"/>
            <a:r>
              <a:t>Suggest edge cases</a:t>
            </a:r>
          </a:p>
          <a:p>
            <a:pPr lvl="0"/>
            <a:r>
              <a:t>Flag inconsistent patterns</a:t>
            </a:r>
          </a:p>
          <a:p>
            <a:pPr marL="0" lvl="0" indent="0">
              <a:spcBef>
                <a:spcPts val="3000"/>
              </a:spcBef>
              <a:buNone/>
            </a:pPr>
            <a:r>
              <a:rPr b="1"/>
              <a:t>Human reviewers focus on:</a:t>
            </a:r>
          </a:p>
          <a:p>
            <a:pPr lvl="0"/>
            <a:r>
              <a:t>Intent correctness</a:t>
            </a:r>
          </a:p>
          <a:p>
            <a:pPr lvl="0"/>
            <a:r>
              <a:t>Business logic validation</a:t>
            </a:r>
          </a:p>
          <a:p>
            <a:pPr lvl="0"/>
            <a:r>
              <a:t>Architectural alignment</a:t>
            </a: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000" b="1" dirty="0"/>
              <a:t>Balancing Test Coverage with Maintainability</a:t>
            </a:r>
          </a:p>
        </p:txBody>
      </p:sp>
      <p:sp>
        <p:nvSpPr>
          <p:cNvPr id="3" name="Content Placeholder 2"/>
          <p:cNvSpPr>
            <a:spLocks noGrp="1"/>
          </p:cNvSpPr>
          <p:nvPr>
            <p:ph idx="1"/>
          </p:nvPr>
        </p:nvSpPr>
        <p:spPr/>
        <p:txBody>
          <a:bodyPr/>
          <a:lstStyle/>
          <a:p>
            <a:pPr marL="0" lvl="0" indent="0">
              <a:spcBef>
                <a:spcPts val="3000"/>
              </a:spcBef>
              <a:buNone/>
            </a:pPr>
            <a:r>
              <a:rPr b="1" dirty="0"/>
              <a:t>Principles</a:t>
            </a:r>
          </a:p>
          <a:p>
            <a:pPr lvl="0"/>
            <a:r>
              <a:rPr dirty="0"/>
              <a:t>Aim for meaningful coverage, not maximal coverage</a:t>
            </a:r>
          </a:p>
          <a:p>
            <a:pPr lvl="0"/>
            <a:r>
              <a:rPr dirty="0"/>
              <a:t>Prioritize high-risk and high-change areas</a:t>
            </a:r>
          </a:p>
          <a:p>
            <a:pPr lvl="0"/>
            <a:r>
              <a:rPr dirty="0"/>
              <a:t>Avoid over-testing implementation details</a:t>
            </a:r>
          </a:p>
          <a:p>
            <a:pPr lvl="0"/>
            <a:r>
              <a:rPr dirty="0"/>
              <a:t>Keep tests readable and maintainable</a:t>
            </a: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Strengthening Your Testing Framework</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gaps in an existing test suite</a:t>
            </a:r>
          </a:p>
          <a:p>
            <a:pPr lvl="0"/>
            <a:r>
              <a:rPr dirty="0"/>
              <a:t>Use AI to generate missing tests</a:t>
            </a:r>
          </a:p>
          <a:p>
            <a:pPr lvl="0"/>
            <a:r>
              <a:rPr dirty="0"/>
              <a:t>Improve maintainability and structure</a:t>
            </a:r>
          </a:p>
          <a:p>
            <a:pPr lvl="0"/>
            <a:r>
              <a:rPr dirty="0"/>
              <a:t>Validate tests for correctness and intent</a:t>
            </a:r>
          </a:p>
          <a:p>
            <a:pPr marL="0" lvl="0" indent="0">
              <a:spcBef>
                <a:spcPts val="3000"/>
              </a:spcBef>
              <a:buNone/>
            </a:pPr>
            <a:r>
              <a:rPr b="1" dirty="0"/>
              <a:t>Activities</a:t>
            </a:r>
          </a:p>
          <a:p>
            <a:pPr marL="342900" lvl="0" indent="-342900">
              <a:buAutoNum type="arabicPeriod"/>
            </a:pPr>
            <a:r>
              <a:rPr dirty="0"/>
              <a:t>Select a brownfield module or function.</a:t>
            </a:r>
          </a:p>
          <a:p>
            <a:pPr marL="342900" lvl="0" indent="-342900">
              <a:buAutoNum type="arabicPeriod"/>
            </a:pPr>
            <a:r>
              <a:rPr dirty="0"/>
              <a:t>Review existing tests for:</a:t>
            </a:r>
          </a:p>
          <a:p>
            <a:pPr lvl="1"/>
            <a:r>
              <a:rPr dirty="0"/>
              <a:t>Coverage gaps</a:t>
            </a:r>
          </a:p>
          <a:p>
            <a:pPr lvl="1"/>
            <a:r>
              <a:rPr dirty="0"/>
              <a:t>Redundant or brittle tests</a:t>
            </a:r>
          </a:p>
          <a:p>
            <a:pPr lvl="1"/>
            <a:r>
              <a:rPr dirty="0"/>
              <a:t>Missing edge cases</a:t>
            </a:r>
          </a:p>
          <a:p>
            <a:pPr marL="342900" lvl="0" indent="-342900">
              <a:buAutoNum type="arabicPeriod"/>
            </a:pPr>
            <a:r>
              <a:rPr dirty="0"/>
              <a:t>Ask AI to generate missing tests.</a:t>
            </a:r>
          </a:p>
          <a:p>
            <a:pPr marL="342900" lvl="0" indent="-342900">
              <a:buAutoNum type="arabicPeriod"/>
            </a:pPr>
            <a:r>
              <a:rPr dirty="0"/>
              <a:t>Validate AI-generated tests for correctness.</a:t>
            </a:r>
          </a:p>
          <a:p>
            <a:pPr marL="342900" lvl="0" indent="-342900">
              <a:buAutoNum type="arabicPeriod"/>
            </a:pPr>
            <a:r>
              <a:rPr dirty="0"/>
              <a:t>Refactor or reorganize tests for clarity.</a:t>
            </a:r>
          </a:p>
          <a:p>
            <a:pPr marL="342900" lvl="0" indent="-342900">
              <a:buAutoNum type="arabicPeriod"/>
            </a:pPr>
            <a:r>
              <a:rPr dirty="0"/>
              <a:t>Add provenance metadata to all new tests.</a:t>
            </a:r>
          </a:p>
          <a:p>
            <a:pPr marL="0" lvl="0" indent="0">
              <a:spcBef>
                <a:spcPts val="3000"/>
              </a:spcBef>
              <a:buNone/>
            </a:pPr>
            <a:r>
              <a:rPr b="1" dirty="0"/>
              <a:t>Success Criteria</a:t>
            </a:r>
          </a:p>
          <a:p>
            <a:pPr lvl="0"/>
            <a:r>
              <a:rPr dirty="0"/>
              <a:t>Coverage gaps are identified and addressed</a:t>
            </a:r>
          </a:p>
          <a:p>
            <a:pPr lvl="0"/>
            <a:r>
              <a:rPr dirty="0"/>
              <a:t>AI-generated tests are validated and correct</a:t>
            </a:r>
          </a:p>
          <a:p>
            <a:pPr lvl="0"/>
            <a:r>
              <a:rPr dirty="0"/>
              <a:t>Test suite readability and structure improve</a:t>
            </a:r>
          </a:p>
          <a:p>
            <a:pPr lvl="0"/>
            <a:r>
              <a:rPr dirty="0"/>
              <a:t>Provenance metadata is included</a:t>
            </a:r>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A66C2-5DB8-1326-2788-FF49DB5F1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6A4E4-FC25-9E36-D03D-0553458C42E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727401C1-7FCE-1D69-538C-0F45E595A365}"/>
              </a:ext>
            </a:extLst>
          </p:cNvPr>
          <p:cNvGraphicFramePr>
            <a:graphicFrameLocks noGrp="1"/>
          </p:cNvGraphicFramePr>
          <p:nvPr>
            <p:ph idx="1"/>
            <p:extLst>
              <p:ext uri="{D42A27DB-BD31-4B8C-83A1-F6EECF244321}">
                <p14:modId xmlns:p14="http://schemas.microsoft.com/office/powerpoint/2010/main" val="740680605"/>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7958102"/>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Safe Brownfield Cod</a:t>
            </a:r>
            <a:r>
              <a:rPr lang="en-US" b="1" dirty="0"/>
              <a:t>ing</a:t>
            </a:r>
            <a:endParaRPr b="1" dirty="0"/>
          </a:p>
        </p:txBody>
      </p:sp>
      <p:sp>
        <p:nvSpPr>
          <p:cNvPr id="3" name="Content Placeholder 2"/>
          <p:cNvSpPr>
            <a:spLocks noGrp="1"/>
          </p:cNvSpPr>
          <p:nvPr>
            <p:ph idx="1"/>
          </p:nvPr>
        </p:nvSpPr>
        <p:spPr/>
        <p:txBody>
          <a:bodyPr/>
          <a:lstStyle/>
          <a:p>
            <a:pPr lvl="0"/>
            <a:r>
              <a:t>Using feature flags to minimize risk</a:t>
            </a:r>
          </a:p>
          <a:p>
            <a:pPr lvl="0"/>
            <a:r>
              <a:t>As‑Is and To‑Be test suites</a:t>
            </a:r>
          </a:p>
          <a:p>
            <a:pPr lvl="0"/>
            <a:r>
              <a:t>Testing in production</a:t>
            </a:r>
          </a:p>
          <a:p>
            <a:pPr lvl="0"/>
            <a:r>
              <a:t>Retiring feature flags</a:t>
            </a:r>
          </a:p>
          <a:p>
            <a:pPr lvl="0"/>
            <a:r>
              <a:t>Exercise: Implementing a feature flag</a:t>
            </a: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Using Feature Flags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feature flags matter</a:t>
            </a:r>
          </a:p>
          <a:p>
            <a:pPr lvl="0"/>
            <a:r>
              <a:t>Enable incremental rollout</a:t>
            </a:r>
          </a:p>
          <a:p>
            <a:pPr lvl="0"/>
            <a:r>
              <a:t>Allow instant rollback</a:t>
            </a:r>
          </a:p>
          <a:p>
            <a:pPr lvl="0"/>
            <a:r>
              <a:t>Reduce blast radius</a:t>
            </a:r>
          </a:p>
          <a:p>
            <a:pPr lvl="0"/>
            <a:r>
              <a:t>Support A/B testing and shadow traffic</a:t>
            </a:r>
          </a:p>
          <a:p>
            <a:pPr lvl="0"/>
            <a:r>
              <a:t>Decouple deployment from release</a:t>
            </a:r>
          </a:p>
          <a:p>
            <a:pPr marL="0" lvl="0" indent="0">
              <a:spcBef>
                <a:spcPts val="3000"/>
              </a:spcBef>
              <a:buNone/>
            </a:pPr>
            <a:r>
              <a:rPr b="1"/>
              <a:t>Best practices</a:t>
            </a:r>
          </a:p>
          <a:p>
            <a:pPr lvl="0"/>
            <a:r>
              <a:t>Keep flags short‑lived</a:t>
            </a:r>
          </a:p>
          <a:p>
            <a:pPr lvl="0"/>
            <a:r>
              <a:t>Name flags clearly</a:t>
            </a:r>
          </a:p>
          <a:p>
            <a:pPr lvl="0"/>
            <a:r>
              <a:t>Document intent and retirement criteria</a:t>
            </a:r>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As‑Is and To‑Be Test Suites</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As‑Is tests</a:t>
            </a:r>
          </a:p>
          <a:p>
            <a:pPr lvl="0"/>
            <a:r>
              <a:t>Capture current behavior</a:t>
            </a:r>
          </a:p>
          <a:p>
            <a:pPr lvl="0"/>
            <a:r>
              <a:t>Protect against regressions</a:t>
            </a:r>
          </a:p>
          <a:p>
            <a:pPr lvl="0"/>
            <a:r>
              <a:t>Document legacy expectations</a:t>
            </a:r>
          </a:p>
          <a:p>
            <a:pPr marL="0" lvl="0" indent="0">
              <a:spcBef>
                <a:spcPts val="3000"/>
              </a:spcBef>
              <a:buNone/>
            </a:pPr>
            <a:r>
              <a:rPr b="1"/>
              <a:t>To‑Be tests</a:t>
            </a:r>
          </a:p>
          <a:p>
            <a:pPr lvl="0"/>
            <a:r>
              <a:t>Define desired future behavior</a:t>
            </a:r>
          </a:p>
          <a:p>
            <a:pPr lvl="0"/>
            <a:r>
              <a:t>Guide modernization</a:t>
            </a:r>
          </a:p>
          <a:p>
            <a:pPr lvl="0"/>
            <a:r>
              <a:t>Validate new patterns and architecture</a:t>
            </a:r>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Testing in Production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Safe production testing techniques</a:t>
            </a:r>
          </a:p>
          <a:p>
            <a:pPr lvl="0"/>
            <a:r>
              <a:t>Feature‑flag‑controlled exposure</a:t>
            </a:r>
          </a:p>
          <a:p>
            <a:pPr lvl="0"/>
            <a:r>
              <a:t>Shadow traffic</a:t>
            </a:r>
          </a:p>
          <a:p>
            <a:pPr lvl="0"/>
            <a:r>
              <a:t>Canary releases</a:t>
            </a:r>
          </a:p>
          <a:p>
            <a:pPr lvl="0"/>
            <a:r>
              <a:t>Observability dashboards</a:t>
            </a:r>
          </a:p>
          <a:p>
            <a:pPr lvl="0"/>
            <a:r>
              <a:t>Error‑budget‑based rollout</a:t>
            </a:r>
          </a:p>
          <a:p>
            <a:pPr marL="0" lvl="0" indent="0">
              <a:spcBef>
                <a:spcPts val="3000"/>
              </a:spcBef>
              <a:buNone/>
            </a:pPr>
            <a:r>
              <a:rPr b="1"/>
              <a:t>Benefits</a:t>
            </a:r>
          </a:p>
          <a:p>
            <a:pPr lvl="0"/>
            <a:r>
              <a:t>Real‑world validation</a:t>
            </a:r>
          </a:p>
          <a:p>
            <a:pPr lvl="0"/>
            <a:r>
              <a:t>Early detection of edge cases</a:t>
            </a:r>
          </a:p>
          <a:p>
            <a:pPr lvl="0"/>
            <a:r>
              <a:t>Reduced risk of full‑scale failures</a:t>
            </a:r>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Retiring Feature Flags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retirement matters</a:t>
            </a:r>
          </a:p>
          <a:p>
            <a:pPr lvl="0"/>
            <a:r>
              <a:t>Prevents flag bloat</a:t>
            </a:r>
          </a:p>
          <a:p>
            <a:pPr lvl="0"/>
            <a:r>
              <a:t>Reduces cognitive load</a:t>
            </a:r>
          </a:p>
          <a:p>
            <a:pPr lvl="0"/>
            <a:r>
              <a:t>Simplifies code paths</a:t>
            </a:r>
          </a:p>
          <a:p>
            <a:pPr lvl="0"/>
            <a:r>
              <a:t>Ensures long‑term maintainability</a:t>
            </a:r>
          </a:p>
          <a:p>
            <a:pPr marL="0" lvl="0" indent="0">
              <a:spcBef>
                <a:spcPts val="3000"/>
              </a:spcBef>
              <a:buNone/>
            </a:pPr>
            <a:r>
              <a:rPr b="1"/>
              <a:t>Retirement workflow</a:t>
            </a:r>
          </a:p>
          <a:p>
            <a:pPr lvl="0"/>
            <a:r>
              <a:t>Validate stability</a:t>
            </a:r>
          </a:p>
          <a:p>
            <a:pPr lvl="0"/>
            <a:r>
              <a:t>Remove old code paths</a:t>
            </a:r>
          </a:p>
          <a:p>
            <a:pPr lvl="0"/>
            <a:r>
              <a:t>Update documentation</a:t>
            </a:r>
          </a:p>
          <a:p>
            <a:pPr lvl="0"/>
            <a:r>
              <a:t>Add provenance to the change</a:t>
            </a:r>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Implementing a Feature Flag</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Learn how to introduce a safe, reversible change</a:t>
            </a:r>
          </a:p>
          <a:p>
            <a:pPr lvl="0"/>
            <a:r>
              <a:rPr dirty="0"/>
              <a:t>Practice designing a feature flag workflow</a:t>
            </a:r>
          </a:p>
          <a:p>
            <a:pPr lvl="0"/>
            <a:r>
              <a:rPr dirty="0"/>
              <a:t>Understand As‑Is and To‑Be test implications</a:t>
            </a:r>
          </a:p>
          <a:p>
            <a:pPr lvl="0"/>
            <a:r>
              <a:rPr dirty="0"/>
              <a:t>Document rollout and retirement criteria</a:t>
            </a:r>
          </a:p>
          <a:p>
            <a:pPr marL="0" lvl="0" indent="0">
              <a:spcBef>
                <a:spcPts val="3000"/>
              </a:spcBef>
              <a:buNone/>
            </a:pPr>
            <a:r>
              <a:rPr b="1" dirty="0"/>
              <a:t>Activities</a:t>
            </a:r>
          </a:p>
          <a:p>
            <a:pPr marL="342900" lvl="0" indent="-342900">
              <a:buAutoNum type="arabicPeriod"/>
            </a:pPr>
            <a:r>
              <a:rPr dirty="0"/>
              <a:t>Select a small brownfield function or module.</a:t>
            </a:r>
          </a:p>
          <a:p>
            <a:pPr marL="342900" lvl="0" indent="-342900">
              <a:buAutoNum type="arabicPeriod"/>
            </a:pPr>
            <a:r>
              <a:rPr dirty="0"/>
              <a:t>Identify a safe, incremental change to introduce.</a:t>
            </a:r>
          </a:p>
          <a:p>
            <a:pPr marL="342900" lvl="0" indent="-342900">
              <a:buAutoNum type="arabicPeriod"/>
            </a:pPr>
            <a:r>
              <a:rPr dirty="0"/>
              <a:t>Design a feature flag with:</a:t>
            </a:r>
          </a:p>
          <a:p>
            <a:pPr lvl="1"/>
            <a:r>
              <a:rPr dirty="0"/>
              <a:t>Name</a:t>
            </a:r>
          </a:p>
          <a:p>
            <a:pPr lvl="1"/>
            <a:r>
              <a:rPr dirty="0"/>
              <a:t>Description</a:t>
            </a:r>
          </a:p>
          <a:p>
            <a:pPr lvl="1"/>
            <a:r>
              <a:rPr dirty="0"/>
              <a:t>Rollout plan</a:t>
            </a:r>
          </a:p>
          <a:p>
            <a:pPr lvl="1"/>
            <a:r>
              <a:rPr dirty="0"/>
              <a:t>Rollback plan</a:t>
            </a:r>
          </a:p>
          <a:p>
            <a:pPr lvl="1"/>
            <a:r>
              <a:rPr dirty="0"/>
              <a:t>Retirement criteria</a:t>
            </a:r>
          </a:p>
          <a:p>
            <a:pPr marL="342900" lvl="0" indent="-342900">
              <a:buAutoNum type="arabicPeriod"/>
            </a:pPr>
            <a:r>
              <a:rPr dirty="0"/>
              <a:t>Write As‑Is and To‑Be test cases.</a:t>
            </a:r>
          </a:p>
          <a:p>
            <a:pPr marL="342900" lvl="0" indent="-342900">
              <a:buAutoNum type="arabicPeriod"/>
            </a:pPr>
            <a:r>
              <a:rPr dirty="0"/>
              <a:t>Document the change with provenance metadata.</a:t>
            </a:r>
          </a:p>
          <a:p>
            <a:pPr marL="0" lvl="0" indent="0">
              <a:spcBef>
                <a:spcPts val="3000"/>
              </a:spcBef>
              <a:buNone/>
            </a:pPr>
            <a:r>
              <a:rPr b="1" dirty="0"/>
              <a:t>Success Criteria</a:t>
            </a:r>
          </a:p>
          <a:p>
            <a:pPr lvl="0"/>
            <a:r>
              <a:rPr dirty="0"/>
              <a:t>Feature flag is clearly defined and scoped</a:t>
            </a:r>
          </a:p>
          <a:p>
            <a:pPr lvl="0"/>
            <a:r>
              <a:rPr dirty="0"/>
              <a:t>Rollout and rollback plans are explicit</a:t>
            </a:r>
          </a:p>
          <a:p>
            <a:pPr lvl="0"/>
            <a:r>
              <a:rPr dirty="0"/>
              <a:t>As‑Is and To‑Be tests are correct and meaningful</a:t>
            </a:r>
          </a:p>
          <a:p>
            <a:pPr lvl="0"/>
            <a:r>
              <a:rPr dirty="0"/>
              <a:t>Retirement criteria are documented</a:t>
            </a:r>
          </a:p>
        </p:txBody>
      </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56CF9-C05A-C91B-90DF-9EA358E77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BC6E4-E3E3-B894-A60B-27207CAF444B}"/>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0E4F301-D4C5-5D11-F814-6835F333FEF4}"/>
              </a:ext>
            </a:extLst>
          </p:cNvPr>
          <p:cNvGraphicFramePr>
            <a:graphicFrameLocks noGrp="1"/>
          </p:cNvGraphicFramePr>
          <p:nvPr>
            <p:ph idx="1"/>
            <p:extLst>
              <p:ext uri="{D42A27DB-BD31-4B8C-83A1-F6EECF244321}">
                <p14:modId xmlns:p14="http://schemas.microsoft.com/office/powerpoint/2010/main" val="70331746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1301010"/>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b="1" dirty="0"/>
              <a:t>Conformance</a:t>
            </a:r>
            <a:r>
              <a:rPr b="1" dirty="0"/>
              <a:t> &amp; Gap Analysis</a:t>
            </a:r>
          </a:p>
        </p:txBody>
      </p:sp>
      <p:sp>
        <p:nvSpPr>
          <p:cNvPr id="3" name="Content Placeholder 2"/>
          <p:cNvSpPr>
            <a:spLocks noGrp="1"/>
          </p:cNvSpPr>
          <p:nvPr>
            <p:ph idx="1"/>
          </p:nvPr>
        </p:nvSpPr>
        <p:spPr/>
        <p:txBody>
          <a:bodyPr/>
          <a:lstStyle/>
          <a:p>
            <a:pPr lvl="0"/>
            <a:r>
              <a:rPr dirty="0"/>
              <a:t>Comparing implementations against instruction files</a:t>
            </a:r>
          </a:p>
          <a:p>
            <a:pPr lvl="0"/>
            <a:r>
              <a:rPr dirty="0"/>
              <a:t>Automated issue generation from</a:t>
            </a:r>
            <a:r>
              <a:rPr lang="en-US" dirty="0"/>
              <a:t> conformance</a:t>
            </a:r>
            <a:r>
              <a:rPr dirty="0"/>
              <a:t> gaps</a:t>
            </a:r>
          </a:p>
          <a:p>
            <a:pPr lvl="0"/>
            <a:r>
              <a:rPr dirty="0"/>
              <a:t>Prioritizing technical debt remediation</a:t>
            </a:r>
          </a:p>
          <a:p>
            <a:pPr lvl="0"/>
            <a:r>
              <a:rPr dirty="0"/>
              <a:t>Creating actionable remediation plans</a:t>
            </a:r>
          </a:p>
          <a:p>
            <a:pPr lvl="0"/>
            <a:r>
              <a:rPr dirty="0"/>
              <a:t>Exercises for hands‑on practice</a:t>
            </a:r>
          </a:p>
        </p:txBody>
      </p:sp>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Comparing Implementations Against Instruction Files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What to compare</a:t>
            </a:r>
          </a:p>
          <a:p>
            <a:pPr lvl="0"/>
            <a:r>
              <a:t>Coding standards</a:t>
            </a:r>
          </a:p>
          <a:p>
            <a:pPr lvl="0"/>
            <a:r>
              <a:t>Architectural boundaries</a:t>
            </a:r>
          </a:p>
          <a:p>
            <a:pPr lvl="0"/>
            <a:r>
              <a:t>Allowed/disallowed patterns</a:t>
            </a:r>
          </a:p>
          <a:p>
            <a:pPr lvl="0"/>
            <a:r>
              <a:t>Domain rules</a:t>
            </a:r>
          </a:p>
          <a:p>
            <a:pPr lvl="0"/>
            <a:r>
              <a:t>Documentation and provenance requirements</a:t>
            </a:r>
          </a:p>
          <a:p>
            <a:pPr marL="0" lvl="0" indent="0">
              <a:spcBef>
                <a:spcPts val="3000"/>
              </a:spcBef>
              <a:buNone/>
            </a:pPr>
            <a:r>
              <a:rPr b="1"/>
              <a:t>Why it matters</a:t>
            </a:r>
          </a:p>
          <a:p>
            <a:pPr lvl="0"/>
            <a:r>
              <a:t>Prevents drift</a:t>
            </a:r>
          </a:p>
          <a:p>
            <a:pPr lvl="0"/>
            <a:r>
              <a:t>Ensures consistency</a:t>
            </a:r>
          </a:p>
          <a:p>
            <a:pPr lvl="0"/>
            <a:r>
              <a:t>Enables safe modernization</a:t>
            </a:r>
          </a:p>
        </p:txBody>
      </p:sp>
    </p:spTree>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Automated Issue Generation From </a:t>
            </a:r>
            <a:r>
              <a:rPr lang="en-US" b="1" dirty="0"/>
              <a:t>Conformance</a:t>
            </a:r>
            <a:r>
              <a:rPr b="1" dirty="0"/>
              <a:t> Gaps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generate:</a:t>
            </a:r>
          </a:p>
          <a:p>
            <a:pPr lvl="0"/>
            <a:r>
              <a:t>Issue titles</a:t>
            </a:r>
          </a:p>
          <a:p>
            <a:pPr lvl="0"/>
            <a:r>
              <a:t>Detailed descriptions</a:t>
            </a:r>
          </a:p>
          <a:p>
            <a:pPr lvl="0"/>
            <a:r>
              <a:t>Violated rules</a:t>
            </a:r>
          </a:p>
          <a:p>
            <a:pPr lvl="0"/>
            <a:r>
              <a:t>Suggested fixes</a:t>
            </a:r>
          </a:p>
          <a:p>
            <a:pPr lvl="0"/>
            <a:r>
              <a:t>Acceptance criteria</a:t>
            </a:r>
          </a:p>
          <a:p>
            <a:pPr lvl="0"/>
            <a:r>
              <a:t>Provenance metadata</a:t>
            </a:r>
          </a:p>
          <a:p>
            <a:pPr marL="0" lvl="0" indent="0">
              <a:spcBef>
                <a:spcPts val="3000"/>
              </a:spcBef>
              <a:buNone/>
            </a:pPr>
            <a:r>
              <a:rPr b="1"/>
              <a:t>Benefits</a:t>
            </a:r>
          </a:p>
          <a:p>
            <a:pPr lvl="0"/>
            <a:r>
              <a:t>Faster backlog creation</a:t>
            </a:r>
          </a:p>
          <a:p>
            <a:pPr lvl="0"/>
            <a:r>
              <a:t>Consistent issue structure</a:t>
            </a:r>
          </a:p>
          <a:p>
            <a:pPr lvl="0"/>
            <a:r>
              <a:t>Reduced manual review effort</a:t>
            </a:r>
          </a:p>
        </p:txBody>
      </p:sp>
    </p:spTree>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Prioritizing Technical Debt Remediation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Prioritization factors</a:t>
            </a:r>
          </a:p>
          <a:p>
            <a:pPr lvl="0"/>
            <a:r>
              <a:t>Risk to stability</a:t>
            </a:r>
          </a:p>
          <a:p>
            <a:pPr lvl="0"/>
            <a:r>
              <a:t>Frequency of use</a:t>
            </a:r>
          </a:p>
          <a:p>
            <a:pPr lvl="0"/>
            <a:r>
              <a:t>Security implications</a:t>
            </a:r>
          </a:p>
          <a:p>
            <a:pPr lvl="0"/>
            <a:r>
              <a:t>Architectural importance</a:t>
            </a:r>
          </a:p>
          <a:p>
            <a:pPr lvl="0"/>
            <a:r>
              <a:t>Effort vs. impact</a:t>
            </a:r>
          </a:p>
          <a:p>
            <a:pPr marL="0" lvl="0" indent="0">
              <a:spcBef>
                <a:spcPts val="3000"/>
              </a:spcBef>
              <a:buNone/>
            </a:pPr>
            <a:r>
              <a:rPr b="1"/>
              <a:t>Approaches</a:t>
            </a:r>
          </a:p>
          <a:p>
            <a:pPr lvl="0"/>
            <a:r>
              <a:t>Impact/effort matrix</a:t>
            </a:r>
          </a:p>
          <a:p>
            <a:pPr lvl="0"/>
            <a:r>
              <a:t>Risk scoring</a:t>
            </a:r>
          </a:p>
          <a:p>
            <a:pPr lvl="0"/>
            <a:r>
              <a:t>Dependency analysis</a:t>
            </a:r>
          </a:p>
        </p:txBody>
      </p:sp>
    </p:spTree>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Actionable Remediation Plans</a:t>
            </a:r>
          </a:p>
        </p:txBody>
      </p:sp>
      <p:sp>
        <p:nvSpPr>
          <p:cNvPr id="3" name="Content Placeholder 2"/>
          <p:cNvSpPr>
            <a:spLocks noGrp="1"/>
          </p:cNvSpPr>
          <p:nvPr>
            <p:ph idx="1"/>
          </p:nvPr>
        </p:nvSpPr>
        <p:spPr/>
        <p:txBody>
          <a:bodyPr>
            <a:normAutofit lnSpcReduction="10000"/>
          </a:bodyPr>
          <a:lstStyle/>
          <a:p>
            <a:pPr marL="0" lvl="0" indent="0">
              <a:spcBef>
                <a:spcPts val="3000"/>
              </a:spcBef>
              <a:buNone/>
            </a:pPr>
            <a:r>
              <a:rPr b="1"/>
              <a:t>A strong remediation plan includes:</a:t>
            </a:r>
          </a:p>
          <a:p>
            <a:pPr lvl="0"/>
            <a:r>
              <a:t>Clear problem definition</a:t>
            </a:r>
          </a:p>
          <a:p>
            <a:pPr lvl="0"/>
            <a:r>
              <a:t>Root cause analysis</a:t>
            </a:r>
          </a:p>
          <a:p>
            <a:pPr lvl="0"/>
            <a:r>
              <a:t>Proposed solution</a:t>
            </a:r>
          </a:p>
          <a:p>
            <a:pPr lvl="0"/>
            <a:r>
              <a:t>Step‑by‑step implementation plan</a:t>
            </a:r>
          </a:p>
          <a:p>
            <a:pPr lvl="0"/>
            <a:r>
              <a:t>Rollback strategy</a:t>
            </a:r>
          </a:p>
          <a:p>
            <a:pPr lvl="0"/>
            <a:r>
              <a:t>Test updates</a:t>
            </a:r>
          </a:p>
          <a:p>
            <a:pPr lvl="0"/>
            <a:r>
              <a:t>Provenance metadata</a:t>
            </a:r>
          </a:p>
        </p:txBody>
      </p:sp>
    </p:spTree>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Generate Issues to Make the Codebase Evergreen</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Identify </a:t>
            </a:r>
            <a:r>
              <a:rPr lang="en-US" dirty="0"/>
              <a:t>conformance</a:t>
            </a:r>
            <a:r>
              <a:rPr dirty="0"/>
              <a:t> gaps</a:t>
            </a:r>
          </a:p>
          <a:p>
            <a:pPr lvl="0"/>
            <a:r>
              <a:rPr dirty="0"/>
              <a:t>Convert gaps into actionable issues</a:t>
            </a:r>
          </a:p>
          <a:p>
            <a:pPr lvl="0"/>
            <a:r>
              <a:rPr dirty="0"/>
              <a:t>Apply consistent structure and provenance</a:t>
            </a:r>
          </a:p>
          <a:p>
            <a:pPr lvl="0"/>
            <a:r>
              <a:rPr dirty="0"/>
              <a:t>Prioritize issues based on risk and impact</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Compare it against the project’s instruction file.</a:t>
            </a:r>
          </a:p>
          <a:p>
            <a:pPr marL="342900" lvl="0" indent="-342900">
              <a:buAutoNum type="arabicPeriod"/>
            </a:pPr>
            <a:r>
              <a:rPr dirty="0"/>
              <a:t>Ask AI to identify </a:t>
            </a:r>
            <a:r>
              <a:rPr lang="en-US" dirty="0"/>
              <a:t>conformance</a:t>
            </a:r>
            <a:r>
              <a:rPr dirty="0"/>
              <a:t> gaps.</a:t>
            </a:r>
          </a:p>
          <a:p>
            <a:pPr marL="342900" lvl="0" indent="-342900">
              <a:buAutoNum type="arabicPeriod"/>
            </a:pPr>
            <a:r>
              <a:rPr dirty="0"/>
              <a:t>Convert each gap into a GitHub issue with:</a:t>
            </a:r>
          </a:p>
          <a:p>
            <a:pPr lvl="1"/>
            <a:r>
              <a:rPr dirty="0"/>
              <a:t>Title</a:t>
            </a:r>
          </a:p>
          <a:p>
            <a:pPr lvl="1"/>
            <a:r>
              <a:rPr dirty="0"/>
              <a:t>Description</a:t>
            </a:r>
          </a:p>
          <a:p>
            <a:pPr lvl="1"/>
            <a:r>
              <a:rPr dirty="0"/>
              <a:t>Violated rule</a:t>
            </a:r>
          </a:p>
          <a:p>
            <a:pPr lvl="1"/>
            <a:r>
              <a:rPr dirty="0"/>
              <a:t>Suggested remediation</a:t>
            </a:r>
          </a:p>
          <a:p>
            <a:pPr lvl="1"/>
            <a:r>
              <a:rPr dirty="0"/>
              <a:t>Acceptance criteria</a:t>
            </a:r>
          </a:p>
          <a:p>
            <a:pPr lvl="1"/>
            <a:r>
              <a:rPr dirty="0"/>
              <a:t>Provenance metadata</a:t>
            </a:r>
          </a:p>
          <a:p>
            <a:pPr marL="342900" lvl="0" indent="-342900">
              <a:buAutoNum type="arabicPeriod"/>
            </a:pPr>
            <a:r>
              <a:rPr dirty="0"/>
              <a:t>Prioritize the issues.</a:t>
            </a:r>
          </a:p>
          <a:p>
            <a:pPr marL="0" lvl="0" indent="0">
              <a:spcBef>
                <a:spcPts val="3000"/>
              </a:spcBef>
              <a:buNone/>
            </a:pPr>
            <a:r>
              <a:rPr b="1" dirty="0"/>
              <a:t>Success Criteria</a:t>
            </a:r>
          </a:p>
          <a:p>
            <a:pPr lvl="0"/>
            <a:r>
              <a:rPr dirty="0"/>
              <a:t>Issues are clear, actionable, and aligned with instruction files</a:t>
            </a:r>
          </a:p>
          <a:p>
            <a:pPr lvl="0"/>
            <a:r>
              <a:rPr dirty="0"/>
              <a:t>Provenance metadata is included</a:t>
            </a:r>
          </a:p>
          <a:p>
            <a:pPr lvl="0"/>
            <a:r>
              <a:rPr dirty="0"/>
              <a:t>Prioritization reflects real risk and effort</a:t>
            </a:r>
          </a:p>
          <a:p>
            <a:pPr lvl="0"/>
            <a:r>
              <a:rPr dirty="0"/>
              <a:t>Backlog is ready for team review</a:t>
            </a:r>
          </a:p>
        </p:txBody>
      </p:sp>
    </p:spTree>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Create an Implementation Plan to Gracefully Make the Codebase Evergreen</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Translate issues into a structured remediation plan</a:t>
            </a:r>
          </a:p>
          <a:p>
            <a:pPr lvl="0"/>
            <a:r>
              <a:rPr dirty="0"/>
              <a:t>Ensure changes are incremental and reversible</a:t>
            </a:r>
          </a:p>
          <a:p>
            <a:pPr lvl="0"/>
            <a:r>
              <a:rPr dirty="0"/>
              <a:t>Align modernization with evergreen principles</a:t>
            </a:r>
          </a:p>
          <a:p>
            <a:pPr lvl="0"/>
            <a:r>
              <a:rPr dirty="0"/>
              <a:t>Incorporate testing and rollback strategies</a:t>
            </a:r>
          </a:p>
          <a:p>
            <a:pPr marL="0" lvl="0" indent="0">
              <a:spcBef>
                <a:spcPts val="3000"/>
              </a:spcBef>
              <a:buNone/>
            </a:pPr>
            <a:r>
              <a:rPr b="1" dirty="0"/>
              <a:t>Activities</a:t>
            </a:r>
          </a:p>
          <a:p>
            <a:pPr marL="342900" lvl="0" indent="-342900">
              <a:buAutoNum type="arabicPeriod"/>
            </a:pPr>
            <a:r>
              <a:rPr dirty="0"/>
              <a:t>Select 2–3 issues from the previous exercise.</a:t>
            </a:r>
          </a:p>
          <a:p>
            <a:pPr marL="342900" lvl="0" indent="-342900">
              <a:buAutoNum type="arabicPeriod"/>
            </a:pPr>
            <a:r>
              <a:rPr dirty="0"/>
              <a:t>For each issue, create a remediation plan including:</a:t>
            </a:r>
          </a:p>
          <a:p>
            <a:pPr lvl="1"/>
            <a:r>
              <a:rPr dirty="0"/>
              <a:t>Problem definition</a:t>
            </a:r>
          </a:p>
          <a:p>
            <a:pPr lvl="1"/>
            <a:r>
              <a:rPr dirty="0"/>
              <a:t>Root cause</a:t>
            </a:r>
          </a:p>
          <a:p>
            <a:pPr lvl="1"/>
            <a:r>
              <a:rPr dirty="0"/>
              <a:t>Proposed solution</a:t>
            </a:r>
          </a:p>
          <a:p>
            <a:pPr lvl="1"/>
            <a:r>
              <a:rPr dirty="0"/>
              <a:t>Step‑by‑step implementation</a:t>
            </a:r>
          </a:p>
          <a:p>
            <a:pPr lvl="1"/>
            <a:r>
              <a:rPr dirty="0"/>
              <a:t>Rollback plan</a:t>
            </a:r>
          </a:p>
          <a:p>
            <a:pPr lvl="1"/>
            <a:r>
              <a:rPr dirty="0"/>
              <a:t>Required test updates</a:t>
            </a:r>
          </a:p>
          <a:p>
            <a:pPr lvl="1"/>
            <a:r>
              <a:rPr dirty="0"/>
              <a:t>Documentation updates</a:t>
            </a:r>
          </a:p>
          <a:p>
            <a:pPr lvl="1"/>
            <a:r>
              <a:rPr dirty="0"/>
              <a:t>Provenance metadata</a:t>
            </a:r>
          </a:p>
          <a:p>
            <a:pPr marL="342900" lvl="0" indent="-342900">
              <a:buAutoNum type="arabicPeriod"/>
            </a:pPr>
            <a:r>
              <a:rPr dirty="0"/>
              <a:t>Review plans with a partner.</a:t>
            </a:r>
          </a:p>
          <a:p>
            <a:pPr marL="0" lvl="0" indent="0">
              <a:spcBef>
                <a:spcPts val="3000"/>
              </a:spcBef>
              <a:buNone/>
            </a:pPr>
            <a:r>
              <a:rPr b="1" dirty="0"/>
              <a:t>Success Criteria</a:t>
            </a:r>
          </a:p>
          <a:p>
            <a:pPr lvl="0"/>
            <a:r>
              <a:rPr dirty="0"/>
              <a:t>Plans are incremental, safe, and reversible</a:t>
            </a:r>
          </a:p>
          <a:p>
            <a:pPr lvl="0"/>
            <a:r>
              <a:rPr dirty="0"/>
              <a:t>Include clear steps and rollback strategies</a:t>
            </a:r>
          </a:p>
          <a:p>
            <a:pPr lvl="0"/>
            <a:r>
              <a:rPr dirty="0"/>
              <a:t>Align with evergreen development principles</a:t>
            </a:r>
          </a:p>
          <a:p>
            <a:pPr lvl="0"/>
            <a:r>
              <a:rPr dirty="0"/>
              <a:t>Include test and documentation updates</a:t>
            </a:r>
          </a:p>
          <a:p>
            <a:pPr lvl="0"/>
            <a:r>
              <a:rPr dirty="0"/>
              <a:t>Provenance metadata is present</a:t>
            </a:r>
          </a:p>
        </p:txBody>
      </p:sp>
    </p:spTree>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EF52-BD4E-5E2D-2BD9-07A1A47F3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57C94-D0E0-5055-76EE-46C1169CD9A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8BED507-267E-D771-EBCF-2D980DA8E1FC}"/>
              </a:ext>
            </a:extLst>
          </p:cNvPr>
          <p:cNvGraphicFramePr>
            <a:graphicFrameLocks noGrp="1"/>
          </p:cNvGraphicFramePr>
          <p:nvPr>
            <p:ph idx="1"/>
            <p:extLst>
              <p:ext uri="{D42A27DB-BD31-4B8C-83A1-F6EECF244321}">
                <p14:modId xmlns:p14="http://schemas.microsoft.com/office/powerpoint/2010/main" val="72371786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3123113"/>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Addressing Technical Debt</a:t>
            </a:r>
          </a:p>
        </p:txBody>
      </p:sp>
      <p:sp>
        <p:nvSpPr>
          <p:cNvPr id="3" name="Content Placeholder 2"/>
          <p:cNvSpPr>
            <a:spLocks noGrp="1"/>
          </p:cNvSpPr>
          <p:nvPr>
            <p:ph idx="1"/>
          </p:nvPr>
        </p:nvSpPr>
        <p:spPr/>
        <p:txBody>
          <a:bodyPr/>
          <a:lstStyle/>
          <a:p>
            <a:pPr lvl="0"/>
            <a:r>
              <a:t>Prompting Copilot to address debt</a:t>
            </a:r>
          </a:p>
          <a:p>
            <a:pPr lvl="0"/>
            <a:r>
              <a:t>Assigning issues to Copilot</a:t>
            </a:r>
          </a:p>
          <a:p>
            <a:pPr lvl="0"/>
            <a:r>
              <a:t>What Copilot does with assigned issues</a:t>
            </a:r>
          </a:p>
          <a:p>
            <a:pPr lvl="0"/>
            <a:r>
              <a:t>Exercises for hands‑on practice</a:t>
            </a:r>
          </a:p>
        </p:txBody>
      </p:sp>
    </p:spTree>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Prompting Copilot to Address Technical Debt</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Effective prompts include:</a:t>
            </a:r>
          </a:p>
          <a:p>
            <a:pPr lvl="0"/>
            <a:r>
              <a:t>Clear description of the debt</a:t>
            </a:r>
          </a:p>
          <a:p>
            <a:pPr lvl="0"/>
            <a:r>
              <a:t>Constraints and architectural rules</a:t>
            </a:r>
          </a:p>
          <a:p>
            <a:pPr lvl="0"/>
            <a:r>
              <a:t>Expected outcomes</a:t>
            </a:r>
          </a:p>
          <a:p>
            <a:pPr lvl="0"/>
            <a:r>
              <a:t>Required tests and documentation updates</a:t>
            </a:r>
          </a:p>
          <a:p>
            <a:pPr lvl="0"/>
            <a:r>
              <a:t>Provenance requirements</a:t>
            </a:r>
          </a:p>
          <a:p>
            <a:pPr marL="0" lvl="0" indent="0">
              <a:spcBef>
                <a:spcPts val="3000"/>
              </a:spcBef>
              <a:buNone/>
            </a:pPr>
            <a:r>
              <a:rPr b="1"/>
              <a:t>Benefits</a:t>
            </a:r>
          </a:p>
          <a:p>
            <a:pPr lvl="0"/>
            <a:r>
              <a:t>Faster remediation</a:t>
            </a:r>
          </a:p>
          <a:p>
            <a:pPr lvl="0"/>
            <a:r>
              <a:t>Consistent application of patterns</a:t>
            </a:r>
          </a:p>
          <a:p>
            <a:pPr lvl="0"/>
            <a:r>
              <a:t>Reduced manual effort</a:t>
            </a:r>
          </a:p>
        </p:txBody>
      </p:sp>
    </p:spTree>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Assigning Issues to Copilot</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How assignment works</a:t>
            </a:r>
          </a:p>
          <a:p>
            <a:pPr lvl="0"/>
            <a:r>
              <a:t>Convert technical debt into GitHub issues</a:t>
            </a:r>
          </a:p>
          <a:p>
            <a:pPr lvl="0"/>
            <a:r>
              <a:t>Provide context, constraints, and acceptance criteria</a:t>
            </a:r>
          </a:p>
          <a:p>
            <a:pPr lvl="0"/>
            <a:r>
              <a:t>Use Copilot to draft remediation steps</a:t>
            </a:r>
          </a:p>
          <a:p>
            <a:pPr lvl="0"/>
            <a:r>
              <a:t>Let Copilot propose code changes in PRs</a:t>
            </a:r>
          </a:p>
          <a:p>
            <a:pPr marL="0" lvl="0" indent="0">
              <a:spcBef>
                <a:spcPts val="3000"/>
              </a:spcBef>
              <a:buNone/>
            </a:pPr>
            <a:r>
              <a:rPr b="1"/>
              <a:t>Why assign issues?</a:t>
            </a:r>
          </a:p>
          <a:p>
            <a:pPr lvl="0"/>
            <a:r>
              <a:t>Creates a repeatable workflow</a:t>
            </a:r>
          </a:p>
          <a:p>
            <a:pPr lvl="0"/>
            <a:r>
              <a:t>Keeps humans in the reviewer role</a:t>
            </a:r>
          </a:p>
          <a:p>
            <a:pPr lvl="0"/>
            <a:r>
              <a:t>Ensures traceability and provenance</a:t>
            </a:r>
          </a:p>
        </p:txBody>
      </p:sp>
    </p:spTree>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What Copilot Does With Assigned Issues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Copilot can:</a:t>
            </a:r>
          </a:p>
          <a:p>
            <a:pPr lvl="0"/>
            <a:r>
              <a:t>Generate proposed fixes</a:t>
            </a:r>
          </a:p>
          <a:p>
            <a:pPr lvl="0"/>
            <a:r>
              <a:t>Update tests</a:t>
            </a:r>
          </a:p>
          <a:p>
            <a:pPr lvl="0"/>
            <a:r>
              <a:t>Add documentation</a:t>
            </a:r>
          </a:p>
          <a:p>
            <a:pPr lvl="0"/>
            <a:r>
              <a:t>Suggest safer alternatives</a:t>
            </a:r>
          </a:p>
          <a:p>
            <a:pPr lvl="0"/>
            <a:r>
              <a:t>Flag missing context</a:t>
            </a:r>
          </a:p>
          <a:p>
            <a:pPr lvl="0"/>
            <a:r>
              <a:t>Produce PR descriptions with provenance</a:t>
            </a:r>
          </a:p>
          <a:p>
            <a:pPr marL="0" lvl="0" indent="0">
              <a:spcBef>
                <a:spcPts val="3000"/>
              </a:spcBef>
              <a:buNone/>
            </a:pPr>
            <a:r>
              <a:rPr b="1"/>
              <a:t>Human responsibilities:</a:t>
            </a:r>
          </a:p>
          <a:p>
            <a:pPr lvl="0"/>
            <a:r>
              <a:t>Validate correctness</a:t>
            </a:r>
          </a:p>
          <a:p>
            <a:pPr lvl="0"/>
            <a:r>
              <a:t>Ensure architectural alignment</a:t>
            </a:r>
          </a:p>
          <a:p>
            <a:pPr lvl="0"/>
            <a:r>
              <a:t>Approve or request changes</a:t>
            </a:r>
          </a:p>
        </p:txBody>
      </p:sp>
    </p:spTree>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Prompt Copilot to Address Technical Debt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Practice writing high‑signal prompts</a:t>
            </a:r>
          </a:p>
          <a:p>
            <a:pPr lvl="0"/>
            <a:r>
              <a:rPr dirty="0"/>
              <a:t>Apply architectural constraints</a:t>
            </a:r>
          </a:p>
          <a:p>
            <a:pPr lvl="0"/>
            <a:r>
              <a:rPr dirty="0"/>
              <a:t>Produce safe, incremental remediation requests</a:t>
            </a:r>
          </a:p>
          <a:p>
            <a:pPr marL="0" lvl="0" indent="0">
              <a:spcBef>
                <a:spcPts val="3000"/>
              </a:spcBef>
              <a:buNone/>
            </a:pPr>
            <a:r>
              <a:rPr b="1" dirty="0"/>
              <a:t>Activities</a:t>
            </a:r>
          </a:p>
          <a:p>
            <a:pPr marL="342900" lvl="0" indent="-342900">
              <a:buAutoNum type="arabicPeriod"/>
            </a:pPr>
            <a:r>
              <a:rPr dirty="0"/>
              <a:t>Select a small piece of technical debt.</a:t>
            </a:r>
          </a:p>
          <a:p>
            <a:pPr marL="342900" lvl="0" indent="-342900">
              <a:buAutoNum type="arabicPeriod"/>
            </a:pPr>
            <a:r>
              <a:rPr dirty="0"/>
              <a:t>Write a prompt that includes:</a:t>
            </a:r>
          </a:p>
          <a:p>
            <a:pPr lvl="1"/>
            <a:r>
              <a:rPr dirty="0"/>
              <a:t>Description of the debt</a:t>
            </a:r>
          </a:p>
          <a:p>
            <a:pPr lvl="1"/>
            <a:r>
              <a:rPr dirty="0"/>
              <a:t>Constraints and rules</a:t>
            </a:r>
          </a:p>
          <a:p>
            <a:pPr lvl="1"/>
            <a:r>
              <a:rPr dirty="0"/>
              <a:t>Expected behavior</a:t>
            </a:r>
          </a:p>
          <a:p>
            <a:pPr lvl="1"/>
            <a:r>
              <a:rPr dirty="0"/>
              <a:t>Required tests and documentation</a:t>
            </a:r>
          </a:p>
          <a:p>
            <a:pPr marL="342900" lvl="0" indent="-342900">
              <a:buAutoNum type="arabicPeriod"/>
            </a:pPr>
            <a:r>
              <a:rPr dirty="0"/>
              <a:t>Ask Copilot to propose a remediation.</a:t>
            </a:r>
          </a:p>
          <a:p>
            <a:pPr marL="342900" lvl="0" indent="-342900">
              <a:buAutoNum type="arabicPeriod"/>
            </a:pPr>
            <a:r>
              <a:rPr dirty="0"/>
              <a:t>Review the output for correctness.</a:t>
            </a:r>
          </a:p>
          <a:p>
            <a:pPr marL="0" lvl="0" indent="0">
              <a:spcBef>
                <a:spcPts val="3000"/>
              </a:spcBef>
              <a:buNone/>
            </a:pPr>
            <a:r>
              <a:rPr b="1" dirty="0"/>
              <a:t>Success Criteria</a:t>
            </a:r>
          </a:p>
          <a:p>
            <a:pPr lvl="0"/>
            <a:r>
              <a:rPr dirty="0"/>
              <a:t>Prompt is clear, scoped, and actionable</a:t>
            </a:r>
          </a:p>
          <a:p>
            <a:pPr lvl="0"/>
            <a:r>
              <a:rPr dirty="0"/>
              <a:t>Copilot produces a safe, incremental change</a:t>
            </a:r>
          </a:p>
          <a:p>
            <a:pPr lvl="0"/>
            <a:r>
              <a:rPr dirty="0"/>
              <a:t>Output aligns with architectural rules</a:t>
            </a:r>
          </a:p>
          <a:p>
            <a:pPr lvl="0"/>
            <a:r>
              <a:rPr dirty="0"/>
              <a:t>Provenance metadata is included</a:t>
            </a:r>
          </a:p>
        </p:txBody>
      </p:sp>
    </p:spTree>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Assigning an Issue to Copilot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Convert technical debt into a structured issue</a:t>
            </a:r>
          </a:p>
          <a:p>
            <a:pPr lvl="0"/>
            <a:r>
              <a:rPr dirty="0"/>
              <a:t>Provide Copilot with actionable context</a:t>
            </a:r>
          </a:p>
          <a:p>
            <a:pPr lvl="0"/>
            <a:r>
              <a:rPr dirty="0"/>
              <a:t>Practice writing acceptance criteria</a:t>
            </a:r>
          </a:p>
          <a:p>
            <a:pPr marL="0" lvl="0" indent="0">
              <a:spcBef>
                <a:spcPts val="3000"/>
              </a:spcBef>
              <a:buNone/>
            </a:pPr>
            <a:r>
              <a:rPr b="1" dirty="0"/>
              <a:t>Activities</a:t>
            </a:r>
          </a:p>
          <a:p>
            <a:pPr marL="342900" lvl="0" indent="-342900">
              <a:buAutoNum type="arabicPeriod"/>
            </a:pPr>
            <a:r>
              <a:rPr dirty="0"/>
              <a:t>Select a technical debt item.</a:t>
            </a:r>
          </a:p>
          <a:p>
            <a:pPr marL="342900" lvl="0" indent="-342900">
              <a:buAutoNum type="arabicPeriod"/>
            </a:pPr>
            <a:r>
              <a:rPr dirty="0"/>
              <a:t>Create a GitHub‑style issue with:</a:t>
            </a:r>
          </a:p>
          <a:p>
            <a:pPr lvl="1"/>
            <a:r>
              <a:rPr dirty="0"/>
              <a:t>Title</a:t>
            </a:r>
          </a:p>
          <a:p>
            <a:pPr lvl="1"/>
            <a:r>
              <a:rPr dirty="0"/>
              <a:t>Description</a:t>
            </a:r>
          </a:p>
          <a:p>
            <a:pPr lvl="1"/>
            <a:r>
              <a:rPr dirty="0"/>
              <a:t>Impact and risk</a:t>
            </a:r>
          </a:p>
          <a:p>
            <a:pPr lvl="1"/>
            <a:r>
              <a:rPr dirty="0"/>
              <a:t>Acceptance criteria</a:t>
            </a:r>
          </a:p>
          <a:p>
            <a:pPr lvl="1"/>
            <a:r>
              <a:rPr dirty="0"/>
              <a:t>Provenance metadata</a:t>
            </a:r>
          </a:p>
          <a:p>
            <a:pPr marL="342900" lvl="0" indent="-342900">
              <a:buAutoNum type="arabicPeriod"/>
            </a:pPr>
            <a:r>
              <a:rPr dirty="0"/>
              <a:t>Assign the issue to Copilot.</a:t>
            </a:r>
          </a:p>
          <a:p>
            <a:pPr marL="342900" lvl="0" indent="-342900">
              <a:buAutoNum type="arabicPeriod"/>
            </a:pPr>
            <a:r>
              <a:rPr dirty="0"/>
              <a:t>Review Copilot’s proposed remediation.</a:t>
            </a:r>
          </a:p>
          <a:p>
            <a:pPr marL="0" lvl="0" indent="0">
              <a:spcBef>
                <a:spcPts val="3000"/>
              </a:spcBef>
              <a:buNone/>
            </a:pPr>
            <a:r>
              <a:rPr b="1" dirty="0"/>
              <a:t>Success Criteria</a:t>
            </a:r>
          </a:p>
          <a:p>
            <a:pPr lvl="0"/>
            <a:r>
              <a:rPr dirty="0"/>
              <a:t>Issue is clear and well‑structured</a:t>
            </a:r>
          </a:p>
          <a:p>
            <a:pPr lvl="0"/>
            <a:r>
              <a:rPr dirty="0"/>
              <a:t>Acceptance criteria are testable</a:t>
            </a:r>
          </a:p>
          <a:p>
            <a:pPr lvl="0"/>
            <a:r>
              <a:rPr dirty="0"/>
              <a:t>Copilot produces a relevant draft</a:t>
            </a:r>
          </a:p>
          <a:p>
            <a:pPr lvl="0"/>
            <a:r>
              <a:rPr dirty="0"/>
              <a:t>Provenance metadata is present</a:t>
            </a:r>
          </a:p>
        </p:txBody>
      </p:sp>
    </p:spTree>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Delegating Work to Copilot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Practice delegating multi‑step tasks</a:t>
            </a:r>
          </a:p>
          <a:p>
            <a:pPr lvl="0"/>
            <a:r>
              <a:rPr dirty="0"/>
              <a:t>Ensure Copilot follows architectural rules</a:t>
            </a:r>
          </a:p>
          <a:p>
            <a:pPr lvl="0"/>
            <a:r>
              <a:rPr dirty="0"/>
              <a:t>Validate AI‑generated remediation plans</a:t>
            </a:r>
          </a:p>
          <a:p>
            <a:pPr marL="0" lvl="0" indent="0">
              <a:spcBef>
                <a:spcPts val="3000"/>
              </a:spcBef>
              <a:buNone/>
            </a:pPr>
            <a:r>
              <a:rPr b="1" dirty="0"/>
              <a:t>Activities</a:t>
            </a:r>
          </a:p>
          <a:p>
            <a:pPr marL="342900" lvl="0" indent="-342900">
              <a:buAutoNum type="arabicPeriod"/>
            </a:pPr>
            <a:r>
              <a:rPr dirty="0"/>
              <a:t>Select a multi‑step technical debt item.</a:t>
            </a:r>
          </a:p>
          <a:p>
            <a:pPr marL="342900" lvl="0" indent="-342900">
              <a:buAutoNum type="arabicPeriod"/>
            </a:pPr>
            <a:r>
              <a:rPr dirty="0"/>
              <a:t>Ask Copilot to:</a:t>
            </a:r>
          </a:p>
          <a:p>
            <a:pPr lvl="1"/>
            <a:r>
              <a:rPr dirty="0"/>
              <a:t>Analyze the problem</a:t>
            </a:r>
          </a:p>
          <a:p>
            <a:pPr lvl="1"/>
            <a:r>
              <a:rPr dirty="0"/>
              <a:t>Propose a remediation plan</a:t>
            </a:r>
          </a:p>
          <a:p>
            <a:pPr lvl="1"/>
            <a:r>
              <a:rPr dirty="0"/>
              <a:t>Generate code changes</a:t>
            </a:r>
          </a:p>
          <a:p>
            <a:pPr lvl="1"/>
            <a:r>
              <a:rPr dirty="0"/>
              <a:t>Update tests</a:t>
            </a:r>
          </a:p>
          <a:p>
            <a:pPr lvl="1"/>
            <a:r>
              <a:rPr dirty="0"/>
              <a:t>Update documentation</a:t>
            </a:r>
          </a:p>
          <a:p>
            <a:pPr marL="342900" lvl="0" indent="-342900">
              <a:buAutoNum type="arabicPeriod"/>
            </a:pPr>
            <a:r>
              <a:rPr dirty="0"/>
              <a:t>Review Copilot’s output.</a:t>
            </a:r>
          </a:p>
          <a:p>
            <a:pPr marL="342900" lvl="0" indent="-342900">
              <a:buAutoNum type="arabicPeriod"/>
            </a:pPr>
            <a:r>
              <a:rPr dirty="0"/>
              <a:t>Identify missing context or risks.</a:t>
            </a:r>
          </a:p>
          <a:p>
            <a:pPr marL="0" lvl="0" indent="0">
              <a:spcBef>
                <a:spcPts val="3000"/>
              </a:spcBef>
              <a:buNone/>
            </a:pPr>
            <a:r>
              <a:rPr b="1" dirty="0"/>
              <a:t>Success Criteria</a:t>
            </a:r>
          </a:p>
          <a:p>
            <a:pPr lvl="0"/>
            <a:r>
              <a:rPr dirty="0"/>
              <a:t>Delegation prompt is complete and structured</a:t>
            </a:r>
          </a:p>
          <a:p>
            <a:pPr lvl="0"/>
            <a:r>
              <a:rPr dirty="0"/>
              <a:t>Copilot produces a multi‑step plan</a:t>
            </a:r>
          </a:p>
          <a:p>
            <a:pPr lvl="0"/>
            <a:r>
              <a:rPr dirty="0"/>
              <a:t>Output is safe, incremental, and reversible</a:t>
            </a:r>
          </a:p>
          <a:p>
            <a:pPr lvl="0"/>
            <a:r>
              <a:rPr dirty="0"/>
              <a:t>Human review identifies any gaps</a:t>
            </a:r>
          </a:p>
        </p:txBody>
      </p:sp>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D302-AE9C-3E24-BCD8-036F451FB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56910-A56F-E833-FDB8-A61A4D0E574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0008D7DD-2157-B1F6-F536-14D736D86232}"/>
              </a:ext>
            </a:extLst>
          </p:cNvPr>
          <p:cNvGraphicFramePr>
            <a:graphicFrameLocks noGrp="1"/>
          </p:cNvGraphicFramePr>
          <p:nvPr>
            <p:ph idx="1"/>
            <p:extLst>
              <p:ext uri="{D42A27DB-BD31-4B8C-83A1-F6EECF244321}">
                <p14:modId xmlns:p14="http://schemas.microsoft.com/office/powerpoint/2010/main" val="137472427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18604"/>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Multi‑Model Implementation Comparison</a:t>
            </a:r>
          </a:p>
        </p:txBody>
      </p:sp>
      <p:sp>
        <p:nvSpPr>
          <p:cNvPr id="3" name="Content Placeholder 2"/>
          <p:cNvSpPr>
            <a:spLocks noGrp="1"/>
          </p:cNvSpPr>
          <p:nvPr>
            <p:ph idx="1"/>
          </p:nvPr>
        </p:nvSpPr>
        <p:spPr/>
        <p:txBody>
          <a:bodyPr/>
          <a:lstStyle/>
          <a:p>
            <a:pPr lvl="0"/>
            <a:r>
              <a:t>Implementing changes with different AI models</a:t>
            </a:r>
          </a:p>
          <a:p>
            <a:pPr lvl="0"/>
            <a:r>
              <a:t>Comparing approaches and outcomes</a:t>
            </a:r>
          </a:p>
          <a:p>
            <a:pPr lvl="0"/>
            <a:r>
              <a:t>Risk assessment and quality evaluation</a:t>
            </a:r>
          </a:p>
          <a:p>
            <a:pPr lvl="0"/>
            <a:r>
              <a:t>Best practice synthesis</a:t>
            </a:r>
          </a:p>
          <a:p>
            <a:pPr lvl="0"/>
            <a:r>
              <a:t>Exercises for hands‑on practice</a:t>
            </a:r>
          </a:p>
        </p:txBody>
      </p:sp>
    </p:spTree>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Implementing Changes With Different AI Models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Why use multiple models?</a:t>
            </a:r>
          </a:p>
          <a:p>
            <a:pPr lvl="0"/>
            <a:r>
              <a:t>Different reasoning styles</a:t>
            </a:r>
          </a:p>
          <a:p>
            <a:pPr lvl="0"/>
            <a:r>
              <a:t>Different strengths (refactoring, documentation, architecture)</a:t>
            </a:r>
          </a:p>
          <a:p>
            <a:pPr lvl="0"/>
            <a:r>
              <a:t>Cross‑validation reduces risk</a:t>
            </a:r>
          </a:p>
          <a:p>
            <a:pPr lvl="0"/>
            <a:r>
              <a:t>Helps detect missing context or contradictions</a:t>
            </a:r>
          </a:p>
          <a:p>
            <a:pPr marL="0" lvl="0" indent="0">
              <a:spcBef>
                <a:spcPts val="3000"/>
              </a:spcBef>
              <a:buNone/>
            </a:pPr>
            <a:r>
              <a:rPr b="1"/>
              <a:t>Typical use cases</a:t>
            </a:r>
          </a:p>
          <a:p>
            <a:pPr lvl="0"/>
            <a:r>
              <a:t>Refactoring comparisons</a:t>
            </a:r>
          </a:p>
          <a:p>
            <a:pPr lvl="0"/>
            <a:r>
              <a:t>Documentation consistency checks</a:t>
            </a:r>
          </a:p>
          <a:p>
            <a:pPr lvl="0"/>
            <a:r>
              <a:t>Architecture proposal validation</a:t>
            </a:r>
          </a:p>
        </p:txBody>
      </p:sp>
    </p:spTree>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Comparing Approaches &amp; Outcomes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What to compare</a:t>
            </a:r>
          </a:p>
          <a:p>
            <a:pPr lvl="0"/>
            <a:r>
              <a:t>Code structure and clarity</a:t>
            </a:r>
          </a:p>
          <a:p>
            <a:pPr lvl="0"/>
            <a:r>
              <a:t>Architectural alignment</a:t>
            </a:r>
          </a:p>
          <a:p>
            <a:pPr lvl="0"/>
            <a:r>
              <a:t>Test quality</a:t>
            </a:r>
          </a:p>
          <a:p>
            <a:pPr lvl="0"/>
            <a:r>
              <a:t>Documentation completeness</a:t>
            </a:r>
          </a:p>
          <a:p>
            <a:pPr lvl="0"/>
            <a:r>
              <a:t>Risk level of proposed changes</a:t>
            </a:r>
          </a:p>
          <a:p>
            <a:pPr marL="0" lvl="0" indent="0">
              <a:spcBef>
                <a:spcPts val="3000"/>
              </a:spcBef>
              <a:buNone/>
            </a:pPr>
            <a:r>
              <a:rPr b="1"/>
              <a:t>Benefits</a:t>
            </a:r>
          </a:p>
          <a:p>
            <a:pPr lvl="0"/>
            <a:r>
              <a:t>Identifies the safest implementation</a:t>
            </a:r>
          </a:p>
          <a:p>
            <a:pPr lvl="0"/>
            <a:r>
              <a:t>Surfaces hidden assumptions</a:t>
            </a:r>
          </a:p>
          <a:p>
            <a:pPr lvl="0"/>
            <a:r>
              <a:t>Highlights model‑specific biases</a:t>
            </a:r>
          </a:p>
        </p:txBody>
      </p:sp>
    </p:spTree>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Risk Assessment &amp; Quality Evaluation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Risk indicators</a:t>
            </a:r>
          </a:p>
          <a:p>
            <a:pPr lvl="0"/>
            <a:r>
              <a:t>Missing tests</a:t>
            </a:r>
          </a:p>
          <a:p>
            <a:pPr lvl="0"/>
            <a:r>
              <a:t>Large or unnecessary refactors</a:t>
            </a:r>
          </a:p>
          <a:p>
            <a:pPr lvl="0"/>
            <a:r>
              <a:t>Violations of instruction files</a:t>
            </a:r>
          </a:p>
          <a:p>
            <a:pPr lvl="0"/>
            <a:r>
              <a:t>Unclear or undocumented behavior</a:t>
            </a:r>
          </a:p>
          <a:p>
            <a:pPr marL="0" lvl="0" indent="0">
              <a:spcBef>
                <a:spcPts val="3000"/>
              </a:spcBef>
              <a:buNone/>
            </a:pPr>
            <a:r>
              <a:rPr b="1"/>
              <a:t>Quality indicators</a:t>
            </a:r>
          </a:p>
          <a:p>
            <a:pPr lvl="0"/>
            <a:r>
              <a:t>Small, incremental changes</a:t>
            </a:r>
          </a:p>
          <a:p>
            <a:pPr lvl="0"/>
            <a:r>
              <a:t>Clear reasoning</a:t>
            </a:r>
          </a:p>
          <a:p>
            <a:pPr lvl="0"/>
            <a:r>
              <a:t>Strong test coverage</a:t>
            </a:r>
          </a:p>
          <a:p>
            <a:pPr lvl="0"/>
            <a:r>
              <a:t>Alignment with evergreen principles</a:t>
            </a:r>
          </a:p>
        </p:txBody>
      </p:sp>
    </p:spTree>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Best Practice Synthesis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Combine the strengths of each model</a:t>
            </a:r>
          </a:p>
          <a:p>
            <a:pPr lvl="0"/>
            <a:r>
              <a:t>Use one model for architecture</a:t>
            </a:r>
          </a:p>
          <a:p>
            <a:pPr lvl="0"/>
            <a:r>
              <a:t>Another for implementation</a:t>
            </a:r>
          </a:p>
          <a:p>
            <a:pPr lvl="0"/>
            <a:r>
              <a:t>Another for documentation</a:t>
            </a:r>
          </a:p>
          <a:p>
            <a:pPr lvl="0"/>
            <a:r>
              <a:t>Cross‑validate tests and reasoning</a:t>
            </a:r>
          </a:p>
          <a:p>
            <a:pPr marL="0" lvl="0" indent="0">
              <a:spcBef>
                <a:spcPts val="3000"/>
              </a:spcBef>
              <a:buNone/>
            </a:pPr>
            <a:r>
              <a:rPr b="1"/>
              <a:t>Outcome</a:t>
            </a:r>
          </a:p>
          <a:p>
            <a:pPr lvl="0"/>
            <a:r>
              <a:t>Higher quality</a:t>
            </a:r>
          </a:p>
          <a:p>
            <a:pPr lvl="0"/>
            <a:r>
              <a:t>Lower risk</a:t>
            </a:r>
          </a:p>
          <a:p>
            <a:pPr lvl="0"/>
            <a:r>
              <a:t>More predictable modernization</a:t>
            </a:r>
          </a:p>
        </p:txBody>
      </p:sp>
    </p:spTree>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Prompt Multiple Models to Address Technical Debt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Compare outputs from different models</a:t>
            </a:r>
          </a:p>
          <a:p>
            <a:pPr lvl="0"/>
            <a:r>
              <a:rPr dirty="0"/>
              <a:t>Identify strengths and weaknesses</a:t>
            </a:r>
          </a:p>
          <a:p>
            <a:pPr lvl="0"/>
            <a:r>
              <a:rPr dirty="0"/>
              <a:t>Evaluate risk and quality</a:t>
            </a:r>
          </a:p>
          <a:p>
            <a:pPr marL="0" lvl="0" indent="0">
              <a:spcBef>
                <a:spcPts val="3000"/>
              </a:spcBef>
              <a:buNone/>
            </a:pPr>
            <a:r>
              <a:rPr b="1" dirty="0"/>
              <a:t>Activities</a:t>
            </a:r>
          </a:p>
          <a:p>
            <a:pPr marL="342900" lvl="0" indent="-342900">
              <a:buAutoNum type="arabicPeriod"/>
            </a:pPr>
            <a:r>
              <a:rPr dirty="0"/>
              <a:t>Select a small technical debt item.</a:t>
            </a:r>
          </a:p>
          <a:p>
            <a:pPr marL="342900" lvl="0" indent="-342900">
              <a:buAutoNum type="arabicPeriod"/>
            </a:pPr>
            <a:r>
              <a:rPr dirty="0"/>
              <a:t>Prompt two or more models to propose a fix.</a:t>
            </a:r>
          </a:p>
          <a:p>
            <a:pPr marL="342900" lvl="0" indent="-342900">
              <a:buAutoNum type="arabicPeriod"/>
            </a:pPr>
            <a:r>
              <a:rPr dirty="0"/>
              <a:t>Compare outputs for:</a:t>
            </a:r>
          </a:p>
          <a:p>
            <a:pPr lvl="1"/>
            <a:r>
              <a:rPr dirty="0"/>
              <a:t>Safety</a:t>
            </a:r>
          </a:p>
          <a:p>
            <a:pPr lvl="1"/>
            <a:r>
              <a:rPr dirty="0"/>
              <a:t>Clarity</a:t>
            </a:r>
          </a:p>
          <a:p>
            <a:pPr lvl="1"/>
            <a:r>
              <a:rPr dirty="0"/>
              <a:t>Test coverage</a:t>
            </a:r>
          </a:p>
          <a:p>
            <a:pPr lvl="1"/>
            <a:r>
              <a:rPr dirty="0"/>
              <a:t>Architectural alignment</a:t>
            </a:r>
          </a:p>
          <a:p>
            <a:pPr marL="342900" lvl="0" indent="-342900">
              <a:buAutoNum type="arabicPeriod"/>
            </a:pPr>
            <a:r>
              <a:rPr dirty="0"/>
              <a:t>Synthesize the best elements into a final solution.</a:t>
            </a:r>
          </a:p>
          <a:p>
            <a:pPr marL="0" lvl="0" indent="0">
              <a:spcBef>
                <a:spcPts val="3000"/>
              </a:spcBef>
              <a:buNone/>
            </a:pPr>
            <a:r>
              <a:rPr b="1" dirty="0"/>
              <a:t>Success Criteria</a:t>
            </a:r>
          </a:p>
          <a:p>
            <a:pPr lvl="0"/>
            <a:r>
              <a:rPr dirty="0"/>
              <a:t>Differences between models are clearly identified</a:t>
            </a:r>
          </a:p>
          <a:p>
            <a:pPr lvl="0"/>
            <a:r>
              <a:rPr dirty="0"/>
              <a:t>Risks and strengths are evaluated</a:t>
            </a:r>
          </a:p>
          <a:p>
            <a:pPr lvl="0"/>
            <a:r>
              <a:rPr dirty="0"/>
              <a:t>Final synthesized solution is safe and incremental</a:t>
            </a:r>
          </a:p>
          <a:p>
            <a:pPr lvl="0"/>
            <a:r>
              <a:rPr dirty="0"/>
              <a:t>Provenance metadata is included</a:t>
            </a:r>
          </a:p>
        </p:txBody>
      </p:sp>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Assigning an Issue to Multiple Models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Practice delegating the same issue to different models</a:t>
            </a:r>
          </a:p>
          <a:p>
            <a:pPr lvl="0"/>
            <a:r>
              <a:rPr dirty="0"/>
              <a:t>Evaluate how each model interprets constraints</a:t>
            </a:r>
          </a:p>
          <a:p>
            <a:pPr lvl="0"/>
            <a:r>
              <a:rPr dirty="0"/>
              <a:t>Identify missing context</a:t>
            </a:r>
          </a:p>
          <a:p>
            <a:pPr marL="0" lvl="0" indent="0">
              <a:spcBef>
                <a:spcPts val="3000"/>
              </a:spcBef>
              <a:buNone/>
            </a:pPr>
            <a:r>
              <a:rPr b="1" dirty="0"/>
              <a:t>Activities</a:t>
            </a:r>
          </a:p>
          <a:p>
            <a:pPr marL="342900" lvl="0" indent="-342900">
              <a:buAutoNum type="arabicPeriod"/>
            </a:pPr>
            <a:r>
              <a:rPr dirty="0"/>
              <a:t>Create a GitHub‑style issue describing a technical debt item.</a:t>
            </a:r>
          </a:p>
          <a:p>
            <a:pPr marL="342900" lvl="0" indent="-342900">
              <a:buAutoNum type="arabicPeriod"/>
            </a:pPr>
            <a:r>
              <a:rPr dirty="0"/>
              <a:t>Assign the issue to two different models.</a:t>
            </a:r>
          </a:p>
          <a:p>
            <a:pPr marL="342900" lvl="0" indent="-342900">
              <a:buAutoNum type="arabicPeriod"/>
            </a:pPr>
            <a:r>
              <a:rPr dirty="0"/>
              <a:t>Compare their proposed remediation plans.</a:t>
            </a:r>
          </a:p>
          <a:p>
            <a:pPr marL="342900" lvl="0" indent="-342900">
              <a:buAutoNum type="arabicPeriod"/>
            </a:pPr>
            <a:r>
              <a:rPr dirty="0"/>
              <a:t>Identify missing context or contradictions.</a:t>
            </a:r>
          </a:p>
          <a:p>
            <a:pPr marL="0" lvl="0" indent="0">
              <a:spcBef>
                <a:spcPts val="3000"/>
              </a:spcBef>
              <a:buNone/>
            </a:pPr>
            <a:r>
              <a:rPr b="1" dirty="0"/>
              <a:t>Success Criteria</a:t>
            </a:r>
          </a:p>
          <a:p>
            <a:pPr lvl="0"/>
            <a:r>
              <a:rPr dirty="0"/>
              <a:t>Issue is clear and well‑structured</a:t>
            </a:r>
          </a:p>
          <a:p>
            <a:pPr lvl="0"/>
            <a:r>
              <a:rPr dirty="0"/>
              <a:t>Each model produces a distinct approach</a:t>
            </a:r>
          </a:p>
          <a:p>
            <a:pPr lvl="0"/>
            <a:r>
              <a:rPr dirty="0"/>
              <a:t>Missing context is identified and documented</a:t>
            </a:r>
          </a:p>
          <a:p>
            <a:pPr lvl="0"/>
            <a:r>
              <a:rPr dirty="0"/>
              <a:t>A preferred plan is selected based on safety and clarity</a:t>
            </a:r>
          </a:p>
        </p:txBody>
      </p:sp>
    </p:spTree>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Delegating Work to Multiple Models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Practice multi‑model delegation</a:t>
            </a:r>
          </a:p>
          <a:p>
            <a:pPr lvl="0"/>
            <a:r>
              <a:rPr dirty="0"/>
              <a:t>Evaluate multi‑step reasoning</a:t>
            </a:r>
          </a:p>
          <a:p>
            <a:pPr lvl="0"/>
            <a:r>
              <a:rPr dirty="0"/>
              <a:t>Synthesize best practices into a unified plan</a:t>
            </a:r>
          </a:p>
          <a:p>
            <a:pPr marL="0" lvl="0" indent="0">
              <a:spcBef>
                <a:spcPts val="3000"/>
              </a:spcBef>
              <a:buNone/>
            </a:pPr>
            <a:r>
              <a:rPr b="1" dirty="0"/>
              <a:t>Activities</a:t>
            </a:r>
          </a:p>
          <a:p>
            <a:pPr marL="342900" lvl="0" indent="-342900">
              <a:buAutoNum type="arabicPeriod"/>
            </a:pPr>
            <a:r>
              <a:rPr dirty="0"/>
              <a:t>Select a multi‑step modernization task.</a:t>
            </a:r>
          </a:p>
          <a:p>
            <a:pPr marL="342900" lvl="0" indent="-342900">
              <a:buAutoNum type="arabicPeriod"/>
            </a:pPr>
            <a:r>
              <a:rPr dirty="0"/>
              <a:t>Ask multiple models to:</a:t>
            </a:r>
          </a:p>
          <a:p>
            <a:pPr lvl="1"/>
            <a:r>
              <a:rPr dirty="0"/>
              <a:t>Analyze the problem</a:t>
            </a:r>
          </a:p>
          <a:p>
            <a:pPr lvl="1"/>
            <a:r>
              <a:rPr dirty="0"/>
              <a:t>Propose a remediation plan</a:t>
            </a:r>
          </a:p>
          <a:p>
            <a:pPr lvl="1"/>
            <a:r>
              <a:rPr dirty="0"/>
              <a:t>Suggest tests</a:t>
            </a:r>
          </a:p>
          <a:p>
            <a:pPr lvl="1"/>
            <a:r>
              <a:rPr dirty="0"/>
              <a:t>Suggest documentation updates</a:t>
            </a:r>
          </a:p>
          <a:p>
            <a:pPr marL="342900" lvl="0" indent="-342900">
              <a:buAutoNum type="arabicPeriod"/>
            </a:pPr>
            <a:r>
              <a:rPr dirty="0"/>
              <a:t>Compare the outputs.</a:t>
            </a:r>
          </a:p>
          <a:p>
            <a:pPr marL="342900" lvl="0" indent="-342900">
              <a:buAutoNum type="arabicPeriod"/>
            </a:pPr>
            <a:r>
              <a:rPr dirty="0"/>
              <a:t>Synthesize a final, safe, incremental plan.</a:t>
            </a:r>
          </a:p>
          <a:p>
            <a:pPr marL="0" lvl="0" indent="0">
              <a:spcBef>
                <a:spcPts val="3000"/>
              </a:spcBef>
              <a:buNone/>
            </a:pPr>
            <a:r>
              <a:rPr b="1" dirty="0"/>
              <a:t>Success Criteria</a:t>
            </a:r>
          </a:p>
          <a:p>
            <a:pPr lvl="0"/>
            <a:r>
              <a:rPr dirty="0"/>
              <a:t>Multi‑model differences are clearly understood</a:t>
            </a:r>
          </a:p>
          <a:p>
            <a:pPr lvl="0"/>
            <a:r>
              <a:rPr dirty="0"/>
              <a:t>Final plan is incremental, reversible, and well‑tested</a:t>
            </a:r>
          </a:p>
          <a:p>
            <a:pPr lvl="0"/>
            <a:r>
              <a:rPr dirty="0"/>
              <a:t>Documentation and provenance are included</a:t>
            </a:r>
          </a:p>
          <a:p>
            <a:pPr lvl="0"/>
            <a:r>
              <a:rPr dirty="0"/>
              <a:t>Risks are identified and mitigated</a:t>
            </a:r>
          </a:p>
        </p:txBody>
      </p:sp>
    </p:spTree>
  </p:cSld>
  <p:clrMapOvr>
    <a:masterClrMapping/>
  </p:clrMapOvr>
  <p:transition>
    <p:fade/>
  </p:transition>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7262</TotalTime>
  <Words>10480</Words>
  <Application>Microsoft Office PowerPoint</Application>
  <PresentationFormat>On-screen Show (16:9)</PresentationFormat>
  <Paragraphs>1673</Paragraphs>
  <Slides>119</Slides>
  <Notes>117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119</vt:i4>
      </vt:variant>
    </vt:vector>
  </HeadingPairs>
  <TitlesOfParts>
    <vt:vector size="125" baseType="lpstr">
      <vt:lpstr>Arial</vt:lpstr>
      <vt:lpstr>Calibri</vt:lpstr>
      <vt:lpstr>Courier</vt:lpstr>
      <vt:lpstr>Noto Sans</vt:lpstr>
      <vt:lpstr>Victor Mono</vt:lpstr>
      <vt:lpstr>CODE Training</vt:lpstr>
      <vt:lpstr>AI Assisted Software Development</vt:lpstr>
      <vt:lpstr>John Michael Miller</vt:lpstr>
      <vt:lpstr>Agenda</vt:lpstr>
      <vt:lpstr>Overview</vt:lpstr>
      <vt:lpstr>Agenda</vt:lpstr>
      <vt:lpstr>Brownfield vs. Evergreen Code</vt:lpstr>
      <vt:lpstr>What Defines Brownfield Code</vt:lpstr>
      <vt:lpstr>Why Codebases Degrade</vt:lpstr>
      <vt:lpstr>The Evergreen Philosophy</vt:lpstr>
      <vt:lpstr>Building Respect for Working Systems</vt:lpstr>
      <vt:lpstr>Why Evergreen?</vt:lpstr>
      <vt:lpstr>Agenda</vt:lpstr>
      <vt:lpstr>Essential Safety Measures</vt:lpstr>
      <vt:lpstr>Backup &amp; Rollback Strategies</vt:lpstr>
      <vt:lpstr>Testing Confidence Frameworks</vt:lpstr>
      <vt:lpstr>Change Review Processes</vt:lpstr>
      <vt:lpstr>Incremental Change Methodology</vt:lpstr>
      <vt:lpstr>Keeping Change Sets Small</vt:lpstr>
      <vt:lpstr>Respecting Brownfield Code</vt:lpstr>
      <vt:lpstr>Agenda</vt:lpstr>
      <vt:lpstr>Managing GitHub Copilot Effectively</vt:lpstr>
      <vt:lpstr>A Managed Junior Developer</vt:lpstr>
      <vt:lpstr>Understanding Context &amp; Tokens</vt:lpstr>
      <vt:lpstr>Prompt Engineering Best Practices</vt:lpstr>
      <vt:lpstr>Model Selection Strategies</vt:lpstr>
      <vt:lpstr>Agenda</vt:lpstr>
      <vt:lpstr>Advanced Context Techniques</vt:lpstr>
      <vt:lpstr>File &amp; Folder Mentions (# Syntax)</vt:lpstr>
      <vt:lpstr>Spaces &amp; Knowledge Bases Integration</vt:lpstr>
      <vt:lpstr>Premium Usage Monitoring</vt:lpstr>
      <vt:lpstr>Token Estimation &amp; Overflow Detection</vt:lpstr>
      <vt:lpstr>Why Token Limits Matter</vt:lpstr>
      <vt:lpstr>Silent Failure Modes</vt:lpstr>
      <vt:lpstr>Technique: Summaries</vt:lpstr>
      <vt:lpstr>Technique: Chunking</vt:lpstr>
      <vt:lpstr>Technique: Scoped Prompts</vt:lpstr>
      <vt:lpstr>Technique: Instruction Files</vt:lpstr>
      <vt:lpstr>Agenda</vt:lpstr>
      <vt:lpstr>Adding AI Guardrails</vt:lpstr>
      <vt:lpstr>Instructions, Prompts &amp; Chat Modes</vt:lpstr>
      <vt:lpstr>Creating Instruction, Prompt &amp; Chat Mode Files</vt:lpstr>
      <vt:lpstr>Meta Prompts for Generating Files</vt:lpstr>
      <vt:lpstr>Instructions for Generating Artifacts</vt:lpstr>
      <vt:lpstr>Enforcing Provenance for AI Artifacts</vt:lpstr>
      <vt:lpstr>Exercise: Create a Prompt File</vt:lpstr>
      <vt:lpstr>Exercise: Create an Instruction File for Evergreen Development</vt:lpstr>
      <vt:lpstr>Exercise: Create a Chat Mode</vt:lpstr>
      <vt:lpstr>Exercise: Generate Instruction Files</vt:lpstr>
      <vt:lpstr>Exercise: Context‑Related Issues</vt:lpstr>
      <vt:lpstr>Agenda</vt:lpstr>
      <vt:lpstr>Adding AI Guardrails</vt:lpstr>
      <vt:lpstr>What Are Instructions, Prompts &amp; Chat Modes?</vt:lpstr>
      <vt:lpstr>Creating Instruction, Prompt &amp; Chat Mode Files</vt:lpstr>
      <vt:lpstr>Meta Prompts for Generating Files</vt:lpstr>
      <vt:lpstr>Instructions for Generating Artifacts</vt:lpstr>
      <vt:lpstr>Enforcing Provenance for AI‑Assisted Artifacts</vt:lpstr>
      <vt:lpstr>Exercise: Create a Prompt File</vt:lpstr>
      <vt:lpstr>Exercise: Create an Instruction File for Evergreen Development</vt:lpstr>
      <vt:lpstr>Exercise: Create a Chat Mode for a Brownfield Developer</vt:lpstr>
      <vt:lpstr>Exercise: Generate Instruction Files for a Brownfield Project</vt:lpstr>
      <vt:lpstr>Exercise: Checking for Context‑Related Issues</vt:lpstr>
      <vt:lpstr>Agenda</vt:lpstr>
      <vt:lpstr>Building a Backlog</vt:lpstr>
      <vt:lpstr>Identifying Technical Debt</vt:lpstr>
      <vt:lpstr>Automating the Creation of GitHub Issues</vt:lpstr>
      <vt:lpstr>Exercise: Building the Backlog</vt:lpstr>
      <vt:lpstr>Agenda</vt:lpstr>
      <vt:lpstr>Building Safety Nets</vt:lpstr>
      <vt:lpstr>Protecting Brownfield Codebases</vt:lpstr>
      <vt:lpstr>Leveraging AI Code Reviews</vt:lpstr>
      <vt:lpstr>Effective Human Code Reviews</vt:lpstr>
      <vt:lpstr>The Role of Test Automation</vt:lpstr>
      <vt:lpstr>Exercise: Building the Safety Nets</vt:lpstr>
      <vt:lpstr>Agenda</vt:lpstr>
      <vt:lpstr>Building Safety Nets</vt:lpstr>
      <vt:lpstr>Protecting Brownfield Codebases</vt:lpstr>
      <vt:lpstr>Leveraging AI Code Reviews</vt:lpstr>
      <vt:lpstr>Effective Human Code Reviews</vt:lpstr>
      <vt:lpstr>The Role of Test Automation</vt:lpstr>
      <vt:lpstr>Exercise: Building the Safety Nets</vt:lpstr>
      <vt:lpstr>Agenda</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Agenda</vt:lpstr>
      <vt:lpstr>Safe Brownfield Coding</vt:lpstr>
      <vt:lpstr>Using Feature Flags</vt:lpstr>
      <vt:lpstr>As‑Is and To‑Be Test Suites</vt:lpstr>
      <vt:lpstr>Testing in Production</vt:lpstr>
      <vt:lpstr>Retiring Feature Flags</vt:lpstr>
      <vt:lpstr>Exercise: Implementing a Feature Flag</vt:lpstr>
      <vt:lpstr>Agenda</vt:lpstr>
      <vt:lpstr>Conformance &amp; Gap Analysis</vt:lpstr>
      <vt:lpstr>Comparing Implementations Against Instruction Files</vt:lpstr>
      <vt:lpstr>Automated Issue Generation From Conformance Gaps</vt:lpstr>
      <vt:lpstr>Prioritizing Technical Debt Remediation</vt:lpstr>
      <vt:lpstr>Creating Actionable Remediation Plans</vt:lpstr>
      <vt:lpstr>Exercise: Generate Issues to Make the Codebase Evergreen</vt:lpstr>
      <vt:lpstr>Exercise: Create an Implementation Plan to Gracefully Make the Codebase Evergreen</vt:lpstr>
      <vt:lpstr>Agenda</vt:lpstr>
      <vt:lpstr>Addressing Technical Debt</vt:lpstr>
      <vt:lpstr>Prompting Copilot to Address Technical Debt</vt:lpstr>
      <vt:lpstr>Assigning Issues to Copilot</vt:lpstr>
      <vt:lpstr>What Copilot Does With Assigned Issues</vt:lpstr>
      <vt:lpstr>Exercise: Prompt Copilot to Address Technical Debt</vt:lpstr>
      <vt:lpstr>Exercise: Assigning an Issue to Copilot</vt:lpstr>
      <vt:lpstr>Exercise: Delegating Work to Copilot</vt:lpstr>
      <vt:lpstr>Agenda</vt:lpstr>
      <vt:lpstr>Multi‑Model Implementation Comparison</vt:lpstr>
      <vt:lpstr>Implementing Changes With Different AI Models</vt:lpstr>
      <vt:lpstr>Comparing Approaches &amp; Outcomes</vt:lpstr>
      <vt:lpstr>Risk Assessment &amp; Quality Evaluation</vt:lpstr>
      <vt:lpstr>Best Practice Synthesis</vt:lpstr>
      <vt:lpstr>Exercise: Prompt Multiple Models to Address Technical Debt</vt:lpstr>
      <vt:lpstr>Exercise: Assigning an Issue to Multiple Models</vt:lpstr>
      <vt:lpstr>Exercise: Delegating Work to Multiple Models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keywords/>
  <cp:lastModifiedBy>John Miller</cp:lastModifiedBy>
  <cp:revision>9</cp:revision>
  <dcterms:created xsi:type="dcterms:W3CDTF">2025-10-20T13:07:02Z</dcterms:created>
  <dcterms:modified xsi:type="dcterms:W3CDTF">2026-02-04T21:56:48Z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