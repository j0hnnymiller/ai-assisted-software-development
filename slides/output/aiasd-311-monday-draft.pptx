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Lst>
    </p14:section>
    <p14:section name="AI Assisted Software Development" id="2304683370">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Intro to Copilot" id="4082559834">
      <p14:sldIdLst>
        <p14:sldId id="287"/>
        <p14:sldId id="288"/>
        <p14:sldId id="289"/>
        <p14:sldId id="290"/>
        <p14:sldId id="291"/>
        <p14:sldId id="292"/>
        <p14:sldId id="293"/>
        <p14:sldId id="294"/>
        <p14:sldId id="295"/>
        <p14:sldId id="296"/>
        <p14:sldId id="297"/>
        <p14:sldId id="298"/>
        <p14:sldId id="299"/>
      </p14:sldIdLst>
    </p14:section>
    <p14:section name="AI Assistance in Action" id="838715992">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Lst>
    </p14:section>
    <p14:section name="Adding AI Guardrails" id="3882947155">
      <p14:sldIdLst>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p>
            <a:r>
              <a:t>Key talking points:</a:t>
            </a:r>
          </a:p>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p>
            <a:r>
              <a:t>Transition: "Let's start by introducing ourselves..."</a:t>
            </a:r>
          </a:p>
          <a:p/>
          <a:p>
            <a:r>
              <a:t>---</a:t>
            </a:r>
          </a:p>
          <a:p/>
          <a:p>
            <a:r>
              <a:t>Source: slides\marp\welcome-to-aiasd.deck.md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p>
            <a:r>
              <a:t>---</a:t>
            </a:r>
          </a:p>
          <a:p/>
          <a:p>
            <a:r>
              <a:t>Source: slides\marp\john-michael-miller-intro.deck.md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Outline the day's goals and emphasize participation and hands-on exercises.</a:t>
            </a:r>
          </a:p>
          <a:p/>
          <a:p>
            <a:r>
              <a:t>---</a:t>
            </a:r>
          </a:p>
          <a:p/>
          <a:p>
            <a:r>
              <a:t>Source: slides\marp\introductions.deck.md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p>
            <a:r>
              <a:t>---</a:t>
            </a:r>
          </a:p>
          <a:p/>
          <a:p>
            <a:r>
              <a:t>Source: slides\marp\about-code.deck.md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week-long course structure. This overview helps participants understand the progression and big-picture organization of the training.</a:t>
            </a:r>
          </a:p>
          <a:p/>
          <a:p>
            <a:r>
              <a:t>Key talking points:</a:t>
            </a:r>
          </a:p>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p>
            <a:r>
              <a:t>Emphasize that guardrails come first because they're essential for safe, effective AI-assisted development. The brownfield/greenfield split acknowledges that these scenarios have different challenges and considerations.</a:t>
            </a:r>
          </a:p>
          <a:p/>
          <a:p>
            <a:r>
              <a:t>Transition: "Today we'll start with the foundation..."</a:t>
            </a:r>
          </a:p>
          <a:p/>
          <a:p>
            <a:r>
              <a:t>---</a:t>
            </a:r>
          </a:p>
          <a:p/>
          <a:p>
            <a:r>
              <a:t>Source: slides\marp\daily-themes.deck.md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**Transition**: "To understand why this is evolutionary, let's look at where we've been..."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**Transition**: "Assembly was a huge leap, but we were still thinking in machine terms. The next step was thinking in human terms..."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**Transition**: "But even high-level languages required thinking like a computer. The next step was thinking in terms of real-world objects and structures..."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**Transition**: "Objects were powerful, but developers still spent too much time on plumbing. The 90s brought integration..."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**Transition**: "While desktops became powerful, the internet was about to change everything..."</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**Transition**: "But web apps still ran on physical servers in data centers. Cloud computing changed that..."</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**Transition**: "Cloud and APIs raised the abstraction level. AI assistance raises it even higher..."</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**Transition**: "Now here comes AI. It's not a different ladder—it's another rung on the same ladder we've been climbing."</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**Transition**: "This natural language interaction is the crucial breakthrough. Let's explore what that means..."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**Transition**: "Let's look at specific examples of how AI understands intent..."</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**Transition**: "This sounds revolutionary, but remember—it's just another tool in a long line of tools..."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**Transition**: "But this doesn't mean we can skip the hard parts..."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**Transition**: "So what does the future actually look like?"</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**Transition**: "Let me wrap up with the key takeaways..."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**Optional**: If time, ask "What questions do you have?" and address 2-3 before moving on.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p>
            <a:r>
              <a:t>Key message: AI doesn't replace developers—it amplifies their capabilities</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is the broad philosophy. Prompt-First is the tactical layer that enables predictable AI behavior. You can do Prompt-First without being AI-First, but not the reverse.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heart of the comparison. AI-First is about organizational and architectural change. Prompt-First is about artifact discipline and predictable outputs.</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changes what you build and how you build it. Prompt-First changes how you communicate intent to the AI.</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hierarchy. Prompt-First is necessary but not sufficient for AI-First maturity.</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p>
            <a:r>
              <a:t>Core Principles</a:t>
            </a:r>
          </a:p>
          <a:p/>
          <a:p>
            <a:r>
              <a:t>Prompt-First Design</a:t>
            </a:r>
          </a:p>
          <a:p>
            <a:r>
              <a:t>“We start with structured prompts that capture behaviors, invariants, and interfaces. These become durable artifacts, just like design docs.”</a:t>
            </a:r>
          </a:p>
          <a:p/>
          <a:p>
            <a:r>
              <a:t>AI-Native Architecture</a:t>
            </a:r>
          </a:p>
          <a:p>
            <a:r>
              <a:t>“We design modules with clear boundaries so AI-generated components remain predictable and testable. Deterministic interfaces are essential.”</a:t>
            </a:r>
          </a:p>
          <a:p/>
          <a:p>
            <a:r>
              <a:t>Human-in-the-Loop</a:t>
            </a:r>
          </a:p>
          <a:p>
            <a:r>
              <a:t>“AI accelerates creation, but humans validate correctness, safety, and alignment with business intent. Review is built into the workflow.”</a:t>
            </a:r>
          </a:p>
          <a:p/>
          <a:p>
            <a:r>
              <a:t>Continuous Verification</a:t>
            </a:r>
          </a:p>
          <a:p>
            <a:r>
              <a:t>“Every AI-generated artifact—code, tests, docs—runs through automated checks. Static analysis, unit tests, and guardrails catch drift early.”</a:t>
            </a:r>
          </a:p>
          <a:p/>
          <a:p>
            <a:r>
              <a:t>Lifecycle Governance</a:t>
            </a:r>
          </a:p>
          <a:p>
            <a:r>
              <a:t>“We treat prompts, outputs, and revisions as versioned assets. Provenance and traceability matter for compliance, debugging, and long-term maintainability.”</a:t>
            </a:r>
          </a:p>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p>
            <a:r>
              <a:t>Core Practices</a:t>
            </a:r>
          </a:p>
          <a:p/>
          <a:p>
            <a:r>
              <a:t>Structured Prompts</a:t>
            </a:r>
          </a:p>
          <a:p>
            <a:r>
              <a:t>“We don't rely on ad-hoc prompting. We use templates for features, APIs, data models, tests, and refactors. This creates consistency and reduces ambiguity.”</a:t>
            </a:r>
          </a:p>
          <a:p/>
          <a:p>
            <a:r>
              <a:t>Instruction Files</a:t>
            </a:r>
          </a:p>
          <a:p>
            <a:r>
              <a:t>“These are durable, versioned prompt artifacts that guide AI generation. They act like living design documents that the AI reads every time it produces code.”</a:t>
            </a:r>
          </a:p>
          <a:p/>
          <a:p>
            <a:r>
              <a:t>Deterministic Boundaries</a:t>
            </a:r>
          </a:p>
          <a:p>
            <a:r>
              <a:t>“We design modules with clear contracts so AI-generated code stays predictable. The AI can generate the internals, but the interfaces remain stable and human-controlled.”</a:t>
            </a:r>
          </a:p>
          <a:p/>
          <a:p>
            <a:r>
              <a:t>Validation Loops</a:t>
            </a:r>
          </a:p>
          <a:p>
            <a:r>
              <a:t>“Every AI-generated artifact goes through automated tests and human review. The goal is to catch drift early and ensure correctness.”</a:t>
            </a:r>
          </a:p>
          <a:p/>
          <a:p>
            <a:r>
              <a:t>Prompt Versioning</a:t>
            </a:r>
          </a:p>
          <a:p>
            <a:r>
              <a:t>“Prompts evolve just like code. Tracking changes helps with debugging, reproducibility, and compliance.”</a:t>
            </a:r>
          </a:p>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help teams visualize the difference.</a:t>
            </a:r>
          </a:p>
          <a:p>
            <a:r>
              <a:t>Prompt-First is about interfaces; AI-First is about the entire workflow.</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this summary to reinforce the distinction.</a:t>
            </a:r>
          </a:p>
          <a:p>
            <a:r>
              <a:t>It's the cleanest way to remember the relationship.</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slides\marp\repository-and-tool-setup.deck.md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Set the context by explaining that this is foundational setup for all later course tasks. Guide participants to fork first, then clone their own fork, so they have push access and can safely make changes without affecting the original repository. If students hit authentication issues, pause briefly to confirm whether they are using SSH keys or HTTPS credentials and help them choose one method consistently. Close by asking everyone to run `git branch --show-current` so they can verify they are on the brownfield branch before moving forward.</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Frame this as brownfield readiness work and explain that a clean setup now prevents workflow friction later. Walk students through forking and cloning first, then move to PAT creation with a reminder to use least-privilege token scopes and never commit tokens to source control. During the hands-on period, check that everyone can authenticate successfully before they continue into subsequent labs. Transition by emphasizing that local clone plus PAT setup is the baseline for future repository analysis and change workflows.</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Use this slide as a consolidation exercise to reinforce the fork-first workflow pattern across multiple repositories. Encourage participants to describe the difference between upstream and origin in their own words, because that understanding reduces merge and push mistakes later in the course. If time permits, have learners quickly clone one of the forks and verify remotes using `git remote -v` as a confidence check. End with a short recap that forking gives each participant a safe workspace while preserving the integrity of the course-owned repositories.</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installation, auth, and a quick coding session; encourage participants to follow along.</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**Delivery Instructions:**</a:t>
            </a:r>
          </a:p>
          <a:p>
            <a:r>
              <a:t>This slide demonstrates the progression from terrible to excellent prompts—walk through each example deliberately.</a:t>
            </a:r>
          </a:p>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p>
            <a:r>
              <a:t>**Example 3 (Best):** Read the third prompt slowly, highlighting key improvements:</a:t>
            </a:r>
          </a:p>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p>
            <a:r>
              <a:t>**Key Teaching Point:** "The difference between prompt 1 and prompt 3 is the difference between Copilot asking YOU 10 clarifying questions versus Copilot just doing exactly what you need. Specificity saves time."</a:t>
            </a:r>
          </a:p>
          <a:p/>
          <a:p>
            <a:r>
              <a:t>**Audience Interaction:** Ask: "How many of you have written prompts like example 1? Don't worry—we all start there. By the end of today, you'll be writing prompts like example 3 automatically."</a:t>
            </a:r>
          </a:p>
          <a:p/>
          <a:p>
            <a:r>
              <a:t>**Transition:** "Now let's practice this in a hands-on lab where you'll learn to add context using @ symbols..."</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Ask vs Edit modes and when each is most useful. Speak to Agent Mode and Custom Chat Modes briefly. We'll work with those later.</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r>
              <a:t>Use this lab as the onboarding checkpoint for all remaining Copilot exercises. Start by confirming everyone has VS Code open and can reach the extension marketplace, then walk the room while participants sign in and complete authentication. Pause after each interface element so learners can find it before moving forward, especially quick chat and model selection since these are easy to miss for first-time users. Close by asking each participant to start one test chat so you can confirm readiness before transitioning to context management.</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Frame this as the first skill that directly improves Copilot output quality without changing tools or models. During the @ symbol walkthrough, have participants perform each step live and explain what new information Copilot gains from each context type. For the prompt comparison, ask learners to keep the same goal and only change context quality so the difference is obvious and measurable. End by normalizing context window limits as expected behavior, then reinforce the habit that new topic equals new chat.</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Introduce this lab as productivity hygiene that prevents context fatigue and low-quality responses later in the day. Coach participants to separate work streams by topic, and use quick chat for interruptions so their main conversation remains coherent and reusable. During the history review, have each learner identify one prompt that worked well and explain why it worked, which helps them build a personal prompting playbook. Finish with the context window management bullets as operational rules they can apply in every future session.</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Position this lab as decision-making practice so participants learn to match the mode to the work, not just default to one interface. In Ask mode, emphasize low-risk exploration and comparative learning with different models before making any code changes. In Edit mode, slow down and review diffs so learners build trust through verification rather than blind acceptance. In Agent mode, demonstrate value on a task that justifies automation, then connect the result to token usage so participants can balance cost and productivity in real workflows.</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collaborative development process we'll follow for building our calculator application — and mob programming will be central to how we work together.</a:t>
            </a:r>
          </a:p>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p>
            <a:r>
              <a:t>We begin with Project Setup, where the team configures the environment, aligns on goals, and prepares the repo. This is done as a mob — one keyboard, one screen, and everyone contributing ideas in real time. It ensures shared understanding from the start.</a:t>
            </a:r>
          </a:p>
          <a:p/>
          <a:p>
            <a:r>
              <a:t>At the end of the day, we introduce Evergreen Software Development — a mindset of continuous improvement.</a:t>
            </a:r>
          </a:p>
          <a:p/>
          <a:p>
            <a:r>
              <a:t>Random ideas:</a:t>
            </a:r>
          </a:p>
          <a:p>
            <a:r>
              <a:t>Implementing Observability</a:t>
            </a:r>
          </a:p>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p>
            <a:r>
              <a:t>---</a:t>
            </a:r>
          </a:p>
          <a:p/>
          <a:p>
            <a:r>
              <a:t>Source: slides\marp\vibe-coding.deck.md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project context available</a:t>
            </a:r>
          </a:p>
          <a:p/>
          <a:p>
            <a:r>
              <a:t>### Objectives</a:t>
            </a:r>
          </a:p>
          <a:p/>
          <a:p>
            <a:r>
              <a:t>- Scaffold core operations with AI assistance.</a:t>
            </a:r>
          </a:p>
          <a:p>
            <a:r>
              <a:t>- Validate generated logic before accepting changes.</a:t>
            </a:r>
          </a:p>
          <a:p>
            <a:r>
              <a:t>- Deliver a working baseline calculator.</a:t>
            </a:r>
          </a:p>
          <a:p/>
          <a:p>
            <a:r>
              <a:t>### Activities</a:t>
            </a:r>
          </a:p>
          <a:p/>
          <a:p>
            <a:r>
              <a:t>- Build project skeleton, implement 4 operations, and verify behavior.</a:t>
            </a:r>
          </a:p>
          <a:p>
            <a:r>
              <a:t>- Emphasize manual review of AI output before merge.</a:t>
            </a:r>
          </a:p>
          <a:p/>
          <a:p>
            <a:r>
              <a:t>### Success Criteria</a:t>
            </a:r>
          </a:p>
          <a:p/>
          <a:p>
            <a:r>
              <a:t>- Four operations work end-to-end.</a:t>
            </a:r>
          </a:p>
          <a:p>
            <a:r>
              <a:t>- Build is green.</a:t>
            </a:r>
          </a:p>
          <a:p>
            <a:r>
              <a:t>- Team can explain logic and edge-case handling.</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Basic calculator state model</a:t>
            </a:r>
          </a:p>
          <a:p/>
          <a:p>
            <a:r>
              <a:t>### Objectives</a:t>
            </a:r>
          </a:p>
          <a:p/>
          <a:p>
            <a:r>
              <a:t>- Separate entry-level clear from full reset behavior.</a:t>
            </a:r>
          </a:p>
          <a:p>
            <a:r>
              <a:t>- Verify expected transitions from each action.</a:t>
            </a:r>
          </a:p>
          <a:p/>
          <a:p>
            <a:r>
              <a:t>### Activities</a:t>
            </a:r>
          </a:p>
          <a:p/>
          <a:p>
            <a:r>
              <a:t>- Use focused prompts and test state transitions quickly.</a:t>
            </a:r>
          </a:p>
          <a:p/>
          <a:p>
            <a:r>
              <a:t>### Success Criteria</a:t>
            </a:r>
          </a:p>
          <a:p/>
          <a:p>
            <a:r>
              <a:t>- CE and C behaviors are consistent and explainable.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~00:12</a:t>
            </a:r>
          </a:p>
          <a:p/>
          <a:p/>
          <a:p>
            <a:r>
              <a:t>**Prerequisites:** Input parser in place</a:t>
            </a:r>
          </a:p>
          <a:p/>
          <a:p>
            <a:r>
              <a:t>### Objectives</a:t>
            </a:r>
          </a:p>
          <a:p/>
          <a:p>
            <a:r>
              <a:t>- Implement robust decimal parsing and validation.</a:t>
            </a:r>
          </a:p>
          <a:p/>
          <a:p>
            <a:r>
              <a:t>### Activities</a:t>
            </a:r>
          </a:p>
          <a:p/>
          <a:p>
            <a:r>
              <a:t>- Target parser rules, then validate with focused tests.</a:t>
            </a:r>
          </a:p>
          <a:p/>
          <a:p>
            <a:r>
              <a:t>### Success Criteria</a:t>
            </a:r>
          </a:p>
          <a:p/>
          <a:p>
            <a:r>
              <a:t>- No duplicate decimal points accepted.</a:t>
            </a:r>
          </a:p>
          <a:p>
            <a:r>
              <a:t>- Decimal math behaves correctly.</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~00:08</a:t>
            </a:r>
          </a:p>
          <a:p/>
          <a:p/>
          <a:p>
            <a:r>
              <a:t>**Prerequisites:** Numeric input flow functioning</a:t>
            </a:r>
          </a:p>
          <a:p/>
          <a:p>
            <a:r>
              <a:t>### Objectives</a:t>
            </a:r>
          </a:p>
          <a:p/>
          <a:p>
            <a:r>
              <a:t>- Add predictable sign toggling.</a:t>
            </a:r>
          </a:p>
          <a:p/>
          <a:p>
            <a:r>
              <a:t>### Activities</a:t>
            </a:r>
          </a:p>
          <a:p/>
          <a:p>
            <a:r>
              <a:t>- Keep implementation minimal and test transitions.</a:t>
            </a:r>
          </a:p>
          <a:p/>
          <a:p>
            <a:r>
              <a:t>### Success Criteria</a:t>
            </a:r>
          </a:p>
          <a:p/>
          <a:p>
            <a:r>
              <a:t>- Toggle is stable across value states.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arithmetic implemented</a:t>
            </a:r>
          </a:p>
          <a:p/>
          <a:p>
            <a:r>
              <a:t>### Objectives</a:t>
            </a:r>
          </a:p>
          <a:p/>
          <a:p>
            <a:r>
              <a:t>- Align percentage behavior with user expectations.</a:t>
            </a:r>
          </a:p>
          <a:p/>
          <a:p>
            <a:r>
              <a:t>### Activities</a:t>
            </a:r>
          </a:p>
          <a:p/>
          <a:p>
            <a:r>
              <a:t>- Compare generated logic with known calculator semantics.</a:t>
            </a:r>
          </a:p>
          <a:p/>
          <a:p>
            <a:r>
              <a:t>### Success Criteria</a:t>
            </a:r>
          </a:p>
          <a:p/>
          <a:p>
            <a:r>
              <a:t>- Three key percentage patterns operate correctly.</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~00:18</a:t>
            </a:r>
          </a:p>
          <a:p/>
          <a:p/>
          <a:p>
            <a:r>
              <a:t>**Prerequisites:** Calculator state architecture defined</a:t>
            </a:r>
          </a:p>
          <a:p/>
          <a:p>
            <a:r>
              <a:t>### Objectives</a:t>
            </a:r>
          </a:p>
          <a:p/>
          <a:p>
            <a:r>
              <a:t>- Add reliable memory operations.</a:t>
            </a:r>
          </a:p>
          <a:p/>
          <a:p>
            <a:r>
              <a:t>### Activities</a:t>
            </a:r>
          </a:p>
          <a:p/>
          <a:p>
            <a:r>
              <a:t>- Ensure memory state is explicit and testable.</a:t>
            </a:r>
          </a:p>
          <a:p/>
          <a:p>
            <a:r>
              <a:t>### Success Criteria</a:t>
            </a:r>
          </a:p>
          <a:p/>
          <a:p>
            <a:r>
              <a:t>- Memory operations are consistent and validated.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p>
            <a:r>
              <a:t>**Prerequisites:** Core operations implemented</a:t>
            </a:r>
          </a:p>
          <a:p/>
          <a:p>
            <a:r>
              <a:t>### Objectives</a:t>
            </a:r>
          </a:p>
          <a:p/>
          <a:p>
            <a:r>
              <a:t>- Build robust error paths without breaking user flow.</a:t>
            </a:r>
          </a:p>
          <a:p/>
          <a:p>
            <a:r>
              <a:t>### Activities</a:t>
            </a:r>
          </a:p>
          <a:p/>
          <a:p>
            <a:r>
              <a:t>- Validate both error detection and post-error recovery.</a:t>
            </a:r>
          </a:p>
          <a:p/>
          <a:p>
            <a:r>
              <a:t>### Success Criteria</a:t>
            </a:r>
          </a:p>
          <a:p/>
          <a:p>
            <a:r>
              <a:t>- Error handling is visible, predictable, and recoverable.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Advanced operation framework available</a:t>
            </a:r>
          </a:p>
          <a:p/>
          <a:p>
            <a:r>
              <a:t>### Objectives</a:t>
            </a:r>
          </a:p>
          <a:p/>
          <a:p>
            <a:r>
              <a:t>- Add trig support with explicit angle-mode handling.</a:t>
            </a:r>
          </a:p>
          <a:p/>
          <a:p>
            <a:r>
              <a:t>### Activities</a:t>
            </a:r>
          </a:p>
          <a:p/>
          <a:p>
            <a:r>
              <a:t>- Implement and validate both behavior and mode switching.</a:t>
            </a:r>
          </a:p>
          <a:p/>
          <a:p>
            <a:r>
              <a:t>### Success Criteria</a:t>
            </a:r>
          </a:p>
          <a:p/>
          <a:p>
            <a:r>
              <a:t>- Trig pipeline works end-to-end with tested expectations.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logic stable and testable</a:t>
            </a:r>
          </a:p>
          <a:p/>
          <a:p>
            <a:r>
              <a:t>### Objectives</a:t>
            </a:r>
          </a:p>
          <a:p/>
          <a:p>
            <a:r>
              <a:t>- Wire UI interactions cleanly to existing logic.</a:t>
            </a:r>
          </a:p>
          <a:p/>
          <a:p>
            <a:r>
              <a:t>### Activities</a:t>
            </a:r>
          </a:p>
          <a:p/>
          <a:p>
            <a:r>
              <a:t>- Prioritize event mapping clarity over visual polish.</a:t>
            </a:r>
          </a:p>
          <a:p/>
          <a:p>
            <a:r>
              <a:t>### Success Criteria</a:t>
            </a:r>
          </a:p>
          <a:p/>
          <a:p>
            <a:r>
              <a:t>- Workflow passes from input to output with no breaks.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logic implemented</a:t>
            </a:r>
          </a:p>
          <a:p/>
          <a:p>
            <a:r>
              <a:t>### Objectives</a:t>
            </a:r>
          </a:p>
          <a:p/>
          <a:p>
            <a:r>
              <a:t>- Improve test quality, not just test count.</a:t>
            </a:r>
          </a:p>
          <a:p/>
          <a:p>
            <a:r>
              <a:t>### Activities</a:t>
            </a:r>
          </a:p>
          <a:p/>
          <a:p>
            <a:r>
              <a:t>- Review generated tests critically before accepting.</a:t>
            </a:r>
          </a:p>
          <a:p/>
          <a:p>
            <a:r>
              <a:t>### Success Criteria</a:t>
            </a:r>
          </a:p>
          <a:p/>
          <a:p>
            <a:r>
              <a:t>- Test suite is meaningful, comprehensive, and green.</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test suite</a:t>
            </a:r>
          </a:p>
          <a:p/>
          <a:p>
            <a:r>
              <a:t>### Objectives</a:t>
            </a:r>
          </a:p>
          <a:p/>
          <a:p>
            <a:r>
              <a:t>- Use coverage as a guide for targeted testing.</a:t>
            </a:r>
          </a:p>
          <a:p/>
          <a:p>
            <a:r>
              <a:t>### Activities</a:t>
            </a:r>
          </a:p>
          <a:p/>
          <a:p>
            <a:r>
              <a:t>- Treat uncovered code as investigation points, not automatic defects.</a:t>
            </a:r>
          </a:p>
          <a:p/>
          <a:p>
            <a:r>
              <a:t>### Success Criteria</a:t>
            </a:r>
          </a:p>
          <a:p/>
          <a:p>
            <a:r>
              <a:t>- Coverage setup works and leads to actionable improvements.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Build/test environment configured</a:t>
            </a:r>
          </a:p>
          <a:p/>
          <a:p>
            <a:r>
              <a:t>### Objectives</a:t>
            </a:r>
          </a:p>
          <a:p/>
          <a:p>
            <a:r>
              <a:t>- Build confidence in diagnosing and fixing dependency failures.</a:t>
            </a:r>
          </a:p>
          <a:p/>
          <a:p>
            <a:r>
              <a:t>### Activities</a:t>
            </a:r>
          </a:p>
          <a:p/>
          <a:p>
            <a:r>
              <a:t>- Emphasize iterative debugging and evidence-based prompts.</a:t>
            </a:r>
          </a:p>
          <a:p/>
          <a:p>
            <a:r>
              <a:t>### Success Criteria</a:t>
            </a:r>
          </a:p>
          <a:p/>
          <a:p>
            <a:r>
              <a:t>- Issue resolution is repeatable and well-documented.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Working project baseline</a:t>
            </a:r>
          </a:p>
          <a:p/>
          <a:p>
            <a:r>
              <a:t>### Objectives</a:t>
            </a:r>
          </a:p>
          <a:p/>
          <a:p>
            <a:r>
              <a:t>- Turn AI suggestions into intentional quality improvements.</a:t>
            </a:r>
          </a:p>
          <a:p/>
          <a:p>
            <a:r>
              <a:t>### Activities</a:t>
            </a:r>
          </a:p>
          <a:p/>
          <a:p>
            <a:r>
              <a:t>- Keep only changes with clear maintainability value.</a:t>
            </a:r>
          </a:p>
          <a:p/>
          <a:p>
            <a:r>
              <a:t>### Success Criteria</a:t>
            </a:r>
          </a:p>
          <a:p/>
          <a:p>
            <a:r>
              <a:t>- Improvements are justified and validated.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multiple model options</a:t>
            </a:r>
          </a:p>
          <a:p/>
          <a:p>
            <a:r>
              <a:t>### Objectives</a:t>
            </a:r>
          </a:p>
          <a:p/>
          <a:p>
            <a:r>
              <a:t>- Build practical model-selection judgment.</a:t>
            </a:r>
          </a:p>
          <a:p/>
          <a:p>
            <a:r>
              <a:t>### Activities</a:t>
            </a:r>
          </a:p>
          <a:p/>
          <a:p>
            <a:r>
              <a:t>- Compare quality, speed, and token cost for same prompt.</a:t>
            </a:r>
          </a:p>
          <a:p/>
          <a:p>
            <a:r>
              <a:t>### Success Criteria</a:t>
            </a:r>
          </a:p>
          <a:p/>
          <a:p>
            <a:r>
              <a:t>- Team can explain when premium models are worth it.</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UI and logic currently coupled</a:t>
            </a:r>
          </a:p>
          <a:p/>
          <a:p>
            <a:r>
              <a:t>### Objectives</a:t>
            </a:r>
          </a:p>
          <a:p/>
          <a:p>
            <a:r>
              <a:t>- Improve architecture through separation of concerns.</a:t>
            </a:r>
          </a:p>
          <a:p/>
          <a:p>
            <a:r>
              <a:t>### Activities</a:t>
            </a:r>
          </a:p>
          <a:p/>
          <a:p>
            <a:r>
              <a:t>- Create clear, testable boundaries between UI and engine.</a:t>
            </a:r>
          </a:p>
          <a:p/>
          <a:p>
            <a:r>
              <a:t>### Success Criteria</a:t>
            </a:r>
          </a:p>
          <a:p/>
          <a:p>
            <a:r>
              <a:t>- Core logic is isolated and reusable.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Functional calculator project</a:t>
            </a:r>
          </a:p>
          <a:p/>
          <a:p>
            <a:r>
              <a:t>### Objectives</a:t>
            </a:r>
          </a:p>
          <a:p/>
          <a:p>
            <a:r>
              <a:t>- Apply practical security checks to working code.</a:t>
            </a:r>
          </a:p>
          <a:p/>
          <a:p>
            <a:r>
              <a:t>### Activities</a:t>
            </a:r>
          </a:p>
          <a:p/>
          <a:p>
            <a:r>
              <a:t>- Validate fixes with tests and review, not assumptions.</a:t>
            </a:r>
          </a:p>
          <a:p/>
          <a:p>
            <a:r>
              <a:t>### Success Criteria</a:t>
            </a:r>
          </a:p>
          <a:p/>
          <a:p>
            <a:r>
              <a:t>- Security posture improves with documented rationale.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code to document</a:t>
            </a:r>
          </a:p>
          <a:p/>
          <a:p>
            <a:r>
              <a:t>### Objectives</a:t>
            </a:r>
          </a:p>
          <a:p/>
          <a:p>
            <a:r>
              <a:t>- Produce maintainable, user-focused documentation.</a:t>
            </a:r>
          </a:p>
          <a:p/>
          <a:p>
            <a:r>
              <a:t>### Activities</a:t>
            </a:r>
          </a:p>
          <a:p/>
          <a:p>
            <a:r>
              <a:t>- Treat generated docs as drafts requiring technical review.</a:t>
            </a:r>
          </a:p>
          <a:p/>
          <a:p>
            <a:r>
              <a:t>### Success Criteria</a:t>
            </a:r>
          </a:p>
          <a:p/>
          <a:p>
            <a:r>
              <a:t>- Docs are complete, correct, and actionable.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Existing implementation with improvement opportunities</a:t>
            </a:r>
          </a:p>
          <a:p/>
          <a:p>
            <a:r>
              <a:t>### Objectives</a:t>
            </a:r>
          </a:p>
          <a:p/>
          <a:p>
            <a:r>
              <a:t>- Use AI for option generation, then apply engineering judgment.</a:t>
            </a:r>
          </a:p>
          <a:p/>
          <a:p>
            <a:r>
              <a:t>### Activities</a:t>
            </a:r>
          </a:p>
          <a:p/>
          <a:p>
            <a:r>
              <a:t>- Compare alternatives using explicit criteria.</a:t>
            </a:r>
          </a:p>
          <a:p/>
          <a:p>
            <a:r>
              <a:t>### Success Criteria</a:t>
            </a:r>
          </a:p>
          <a:p/>
          <a:p>
            <a:r>
              <a:t>- Selected refactor improves clarity without regressions.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~00:45</a:t>
            </a:r>
          </a:p>
          <a:p/>
          <a:p/>
          <a:p>
            <a:r>
              <a:t>**Prerequisites:** Lab 1 completed, existing test suite</a:t>
            </a:r>
          </a:p>
          <a:p/>
          <a:p>
            <a:r>
              <a:t>### Objectives</a:t>
            </a:r>
          </a:p>
          <a:p/>
          <a:p>
            <a:r>
              <a:t>- Analyze code coverage reports</a:t>
            </a:r>
          </a:p>
          <a:p>
            <a:r>
              <a:t>- Use Copilot to intelligently add tests</a:t>
            </a:r>
          </a:p>
          <a:p>
            <a:r>
              <a:t>- Achieve target coverage percentage</a:t>
            </a:r>
          </a:p>
          <a:p>
            <a:r>
              <a:t>- Balance quantity vs. quality of tests</a:t>
            </a:r>
          </a:p>
          <a:p/>
          <a:p>
            <a:r>
              <a:t>### Activities</a:t>
            </a:r>
          </a:p>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p>
            <a:r>
              <a:t>### Success Criteria</a:t>
            </a:r>
          </a:p>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p>
            <a:r>
              <a:t>### Key Learning Point</a:t>
            </a:r>
          </a:p>
          <a:p/>
          <a:p>
            <a:r>
              <a:t>As discovered in the session, asking Copilot to "increase coverage to 50%" can work because it can intelligently identify which code paths need testing. This can be more efficient than manually finding every gap, but quality checks are still required.</a:t>
            </a:r>
          </a:p>
          <a:p/>
          <a:p>
            <a:r>
              <a:t>---</a:t>
            </a:r>
          </a:p>
          <a:p/>
          <a:p>
            <a:r>
              <a:t>Source: slides\marp\exercise-test-coverage-improvement.deck.md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~00:60</a:t>
            </a:r>
          </a:p>
          <a:p/>
          <a:p/>
          <a:p>
            <a:r>
              <a:t>**Prerequisites:** Understanding of TDD principles</a:t>
            </a:r>
          </a:p>
          <a:p/>
          <a:p>
            <a:r>
              <a:t>### Objectives</a:t>
            </a:r>
          </a:p>
          <a:p/>
          <a:p>
            <a:r>
              <a:t>- Practice TDD workflow with AI assistance</a:t>
            </a:r>
          </a:p>
          <a:p>
            <a:r>
              <a:t>- Write failing tests before implementation</a:t>
            </a:r>
          </a:p>
          <a:p>
            <a:r>
              <a:t>- Use tests to drive design decisions</a:t>
            </a:r>
          </a:p>
          <a:p>
            <a:r>
              <a:t>- Understand red-green-refactor cycle</a:t>
            </a:r>
          </a:p>
          <a:p/>
          <a:p>
            <a:r>
              <a:t>### Activities</a:t>
            </a:r>
          </a:p>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p>
            <a:r>
              <a:t>### Success Criteria</a:t>
            </a:r>
          </a:p>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p>
            <a:r>
              <a:t>### TDD Cycle</a:t>
            </a:r>
          </a:p>
          <a:p/>
          <a:p>
            <a:r>
              <a:t>1. **Red:** Write a failing test.</a:t>
            </a:r>
          </a:p>
          <a:p>
            <a:r>
              <a:t>2. **Green:** Write minimal code to make it pass.</a:t>
            </a:r>
          </a:p>
          <a:p>
            <a:r>
              <a:t>3. **Refactor:** Improve code while keeping tests green.</a:t>
            </a:r>
          </a:p>
          <a:p/>
          <a:p>
            <a:r>
              <a:t>---</a:t>
            </a:r>
          </a:p>
          <a:p/>
          <a:p>
            <a:r>
              <a:t>Source: slides\marp\exercise-test-driven-development.deck.md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session on using AI to improve the pull request workflow. GitHub Copilot and related AI tools can dramatically reduce the friction of creating, reviewing, and merging pull requests.</a:t>
            </a:r>
          </a:p>
          <a:p/>
          <a:p>
            <a:r>
              <a:t>**Key Points**:</a:t>
            </a:r>
          </a:p>
          <a:p/>
          <a:p>
            <a:r>
              <a:t>- PRs are a critical communication artifact in software development</a:t>
            </a:r>
          </a:p>
          <a:p>
            <a:r>
              <a:t>- AI can help at every stage: drafting, describing, reviewing, and summarizing</a:t>
            </a:r>
          </a:p>
          <a:p>
            <a:r>
              <a:t>- The goal is not to replace human judgment but to reduce toil</a:t>
            </a:r>
          </a:p>
          <a:p/>
          <a:p>
            <a:r>
              <a:t>**Delivery**: Open by asking the audience how much time they spend writing PR descriptions or waiting for code review. Frame AI assistance as a way to reclaim that time.</a:t>
            </a:r>
          </a:p>
          <a:p/>
          <a:p>
            <a:r>
              <a:t>**Transition**: "Let's look at where AI fits in the pull request lifecycle."</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PR lifecycle is a feedback loop, not a one-way street</a:t>
            </a:r>
          </a:p>
          <a:p>
            <a:r>
              <a:t>2. Most developers focus on the code-writing stage but spend significant time on communication tasks</a:t>
            </a:r>
          </a:p>
          <a:p>
            <a:r>
              <a:t>3. AI assistance compresses the non-coding parts of the cycle</a:t>
            </a:r>
          </a:p>
          <a:p/>
          <a:p>
            <a:r>
              <a:t>**Examples to Share**:</a:t>
            </a:r>
          </a:p>
          <a:p/>
          <a:p>
            <a:r>
              <a:t>- A developer who writes great code but struggles with clear PR descriptions benefits from AI drafting</a:t>
            </a:r>
          </a:p>
          <a:p>
            <a:r>
              <a:t>- A reviewer who is overwhelmed with large PRs benefits from AI summaries</a:t>
            </a:r>
          </a:p>
          <a:p/>
          <a:p>
            <a:r>
              <a:t>**Audience Interaction**: "Which stage do you find most time-consuming or frustrating?"</a:t>
            </a:r>
          </a:p>
          <a:p/>
          <a:p>
            <a:r>
              <a:t>**Transition**: "Let's start with where most of the AI value is—creating the PR itself."</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p>
            <a:r>
              <a:t>**Demo Tip**: If demoing live, show `gh pr create` in the terminal and trigger Copilot suggestions in the description field.</a:t>
            </a:r>
          </a:p>
          <a:p/>
          <a:p>
            <a:r>
              <a:t>**Common Pitfall**: AI descriptions can be verbose. Encourage developers to trim and focus on the "why" rather than just the "what."</a:t>
            </a:r>
          </a:p>
          <a:p/>
          <a:p>
            <a:r>
              <a:t>**Audience Interaction**: "How many of you write a detailed PR description every time? How many leave it mostly empty?"</a:t>
            </a:r>
          </a:p>
          <a:p/>
          <a:p>
            <a:r>
              <a:t>**Transition**: "Once the PR is open, AI continues to help on the review side."</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output quality is proportional to the context you provide</a:t>
            </a:r>
          </a:p>
          <a:p>
            <a:r>
              <a:t>2. Referencing the issue number or user story helps Copilot add business context</a:t>
            </a:r>
          </a:p>
          <a:p>
            <a:r>
              <a:t>3. Structuring the prompt mirrors the structure you want in the output</a:t>
            </a:r>
          </a:p>
          <a:p/>
          <a:p>
            <a:r>
              <a:t>**Template to Share**:</a:t>
            </a:r>
          </a:p>
          <a:p>
            <a:r>
              <a:t>Show the three-section template on screen. Encourage teams to add this as a PR template in `.github/pull_request_template.md` so Copilot has a consistent structure to fill.</a:t>
            </a:r>
          </a:p>
          <a:p/>
          <a:p>
            <a:r>
              <a:t>**Pro Tip**: Commit messages also feed into the PR description. Good commit messages mean better AI-generated PRs.</a:t>
            </a:r>
          </a:p>
          <a:p/>
          <a:p>
            <a:r>
              <a:t>**Transition**: "Let's look at how AI helps on the review side of the process."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p>
            <a:r>
              <a:t>**Examples to Share**:</a:t>
            </a:r>
          </a:p>
          <a:p/>
          <a:p>
            <a:r>
              <a:t>- Reviewer asks: "Is there a simpler way to write this?" → Copilot suggests a refactored version</a:t>
            </a:r>
          </a:p>
          <a:p>
            <a:r>
              <a:t>- Reviewer asks: "Does this handle null input?" → Copilot analyzes and flags a potential null reference</a:t>
            </a:r>
          </a:p>
          <a:p/>
          <a:p>
            <a:r>
              <a:t>**Audience Interaction**: "Have you used Copilot Chat during a code review? What kinds of questions did you ask?"</a:t>
            </a:r>
          </a:p>
          <a:p/>
          <a:p>
            <a:r>
              <a:t>**Transition**: "Beyond individual comments, AI can also summarize entire PRs."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This feature is particularly valuable for large PRs with many files changed</a:t>
            </a:r>
          </a:p>
          <a:p>
            <a:r>
              <a:t>2. Summaries help async teams where reviewers may not have full context</a:t>
            </a:r>
          </a:p>
          <a:p>
            <a:r>
              <a:t>3. The summary can be copied directly into release notes or changelogs</a:t>
            </a:r>
          </a:p>
          <a:p/>
          <a:p>
            <a:r>
              <a:t>**Demo Tip**: Show the Copilot summary button on GitHub.com if doing a live demo. Highlight how it categorizes changes.</a:t>
            </a:r>
          </a:p>
          <a:p/>
          <a:p>
            <a:r>
              <a:t>**Pro Tip**: Teams can require a Copilot summary as part of their PR checklist to ensure all PRs are self-documenting.</a:t>
            </a:r>
          </a:p>
          <a:p/>
          <a:p>
            <a:r>
              <a:t>**Transition**: "Now let's look at how Copilot helps you respond to review feedback."</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p>
            <a:r>
              <a:t>**Workflow to Describe**:</a:t>
            </a:r>
          </a:p>
          <a:p/>
          <a:p>
            <a:r>
              <a:t>1. Reviewer leaves a comment: "This should use a parameterized query"</a:t>
            </a:r>
          </a:p>
          <a:p>
            <a:r>
              <a:t>2. Developer clicks Copilot suggestion next to the comment</a:t>
            </a:r>
          </a:p>
          <a:p>
            <a:r>
              <a:t>3. Copilot generates the parameterized version</a:t>
            </a:r>
          </a:p>
          <a:p>
            <a:r>
              <a:t>4. Developer reviews and commits</a:t>
            </a:r>
          </a:p>
          <a:p/>
          <a:p>
            <a:r>
              <a:t>**Audience Interaction**: "How many review cycles does a typical PR go through on your team? Could AI reduce that?"</a:t>
            </a:r>
          </a:p>
          <a:p/>
          <a:p>
            <a:r>
              <a:t>**Transition**: "Let's talk about automating the checks that run on every PR."</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p>
            <a:r>
              <a:t>**Architecture Note**: These actions run in GitHub Actions and post results as PR check statuses, integrating with existing branch protection rules.</a:t>
            </a:r>
          </a:p>
          <a:p/>
          <a:p>
            <a:r>
              <a:t>**Pro Tip**: Combine AI code review with conventional linting and testing so developers get a single, unified set of feedback.</a:t>
            </a:r>
          </a:p>
          <a:p/>
          <a:p>
            <a:r>
              <a:t>**Caution**: Avoid too many automated checks that create noise. Focus on high-signal rules.</a:t>
            </a:r>
          </a:p>
          <a:p/>
          <a:p>
            <a:r>
              <a:t>**Transition**: "Let's look at some real-world patterns teams are using today."</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p>
            <a:r>
              <a:t>**Transition**: "Before we wrap up, let's talk about best practices."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p>
            <a:r>
              <a:t>**Common Mistakes**:</a:t>
            </a:r>
          </a:p>
          <a:p/>
          <a:p>
            <a:r>
              <a:t>- Teams that enable every available check end up ignoring them all</a:t>
            </a:r>
          </a:p>
          <a:p>
            <a:r>
              <a:t>- Developers who merge AI descriptions verbatim lose the "why" context that only they know</a:t>
            </a:r>
          </a:p>
          <a:p>
            <a:r>
              <a:t>- Over-reliance on AI review can erode human review skills over time</a:t>
            </a:r>
          </a:p>
          <a:p/>
          <a:p>
            <a:r>
              <a:t>**Audience Interaction**: "What guardrails does your team have around AI-generated content in PRs?"</a:t>
            </a:r>
          </a:p>
          <a:p/>
          <a:p>
            <a:r>
              <a:t>**Transition**: "Let's summarize what we covered and talk about next steps."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Gradual adoption works better than a big-bang rollout</a:t>
            </a:r>
          </a:p>
          <a:p>
            <a:r>
              <a:t>2. Starting with PR descriptions has no risk and immediate value</a:t>
            </a:r>
          </a:p>
          <a:p>
            <a:r>
              <a:t>3. As teams build confidence, they can layer in automated checks</a:t>
            </a:r>
          </a:p>
          <a:p/>
          <a:p>
            <a:r>
              <a:t>**Call to Action**: Encourage each attendee to write their next PR description with Copilot's help and note the difference.</a:t>
            </a:r>
          </a:p>
          <a:p/>
          <a:p>
            <a:r>
              <a:t>**Resources**: Point to the GitHub Copilot docs and the gh CLI documentation for hands-on exploration.</a:t>
            </a:r>
          </a:p>
          <a:p/>
          <a:p>
            <a:r>
              <a:t>**Transition**: "Let's open it up for questions."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p>
            <a:r>
              <a:t>**Closing Message**: AI doesn't change what a good PR looks like—it reduces the effort required to create one. The standards, the review culture, and the human judgment remain essential.</a:t>
            </a:r>
          </a:p>
          <a:p/>
          <a:p>
            <a:r>
              <a:t>**Final Question for Audience**: "What's one part of your PR workflow you'd like AI to help with first?"</a:t>
            </a:r>
          </a:p>
          <a:p/>
          <a:p>
            <a:r>
              <a:t>**Thank the audience and open for Q&amp;A.**</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 single model is perfect. Using multiple models gives teams a broader perspective and helps catch errors or blind spots that one model alone might miss.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model outputs like multiple drafts from different engineers. The goal is not to pick a winner — it's to synthesize the best ideas.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risk assessment is essential in brownfield systems. Even if a model produces elegant code, it may be too risky without proper guardrails.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synthesis is the real power of multi-model workflows. Teams can build a composite solution that is better than any single model's output.</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Encourage participants to think like reviewers comparing multiple PRs. The goal is to understand model behavior, not to pick a favorite.</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helps participants see how different models interpret the same instructions — a key skill for multi-model workflows.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This exercise builds confidence in orchestrating multiple models as collaborators. The goal is synthesis, not competition.</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  Introduce Evergreen Software Development as a philosophy for building systems that can evolve indefinitely without degrading. This is crucial for AI-assisted development.</a:t>
            </a:r>
          </a:p>
          <a:p/>
          <a:p>
            <a:r>
              <a:t>Explain each principle:</a:t>
            </a:r>
          </a:p>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p>
            <a:r>
              <a:t>Key insight: Traditional software rots over time. Evergreen software is designed to be continuously regenerated and improved.</a:t>
            </a:r>
          </a:p>
          <a:p/>
          <a:p>
            <a:r>
              <a:t>Transition: "Let's see why software fails to be evergreen..."</a:t>
            </a:r>
          </a:p>
          <a:p/>
          <a:p>
            <a:r>
              <a:t>---</a:t>
            </a:r>
          </a:p>
          <a:p/>
          <a:p>
            <a:r>
              <a:t>Source: slides\marp\evergreen-software-core-principles.deck.md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  Explain the common anti-patterns that prevent software from being evergreen. These are the enemies of long-term maintainability.</a:t>
            </a:r>
          </a:p>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p>
            <a:r>
              <a:t>Real-world examples:</a:t>
            </a:r>
          </a:p>
          <a:p/>
          <a:p>
            <a:r>
              <a:t>- Legacy system with no documentation (intent rot)</a:t>
            </a:r>
          </a:p>
          <a:p>
            <a:r>
              <a:t>- Microservices with frequently changing APIs (unstable interfaces)</a:t>
            </a:r>
          </a:p>
          <a:p>
            <a:r>
              <a:t>- Monolith with circular dependencies (tight coupling)</a:t>
            </a:r>
          </a:p>
          <a:p/>
          <a:p>
            <a:r>
              <a:t>Transition: "Let's see how to avoid these pitfalls..."</a:t>
            </a:r>
          </a:p>
          <a:p/>
          <a:p>
            <a:r>
              <a:t>---</a:t>
            </a:r>
          </a:p>
          <a:p/>
          <a:p>
            <a:r>
              <a:t>Source: slides\marp\evergreen-software-core-principles.deck.md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AI-assisted development.</a:t>
            </a:r>
          </a:p>
          <a:p/>
          <a:p>
            <a:r>
              <a:t>Guardrails ensure that AI output is intentional, reviewable, and aligned with architectural and organizational standards.</a:t>
            </a:r>
          </a:p>
          <a:p/>
          <a:p>
            <a:r>
              <a:t>These practices turn AI from a novelty into a disciplined engineering tool.</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distinctions: instructions are stable, prompts are ephemeral, and Agents define how the model behaves in a particular role.</a:t>
            </a:r>
          </a:p>
          <a:p/>
          <a:p>
            <a:r>
              <a:t>Together, they form a layered control system that shapes AI behavior and reduces drift.</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storing these artifacts as files allows teams to version them, review them, and reuse them.</a:t>
            </a:r>
          </a:p>
          <a:p/>
          <a:p>
            <a:r>
              <a:t>This is essential for brownfield modernization, where consistency and traceability matter.</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prompts are prompts about prompts.</a:t>
            </a:r>
          </a:p>
          <a:p/>
          <a:p>
            <a:r>
              <a:t>They let the AI generate structured artifacts on demand.</a:t>
            </a:r>
          </a:p>
          <a:p/>
          <a:p>
            <a:r>
              <a:t>This reduces manual effort and ensures that all artifacts follow a consistent pattern.</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asking AI to generate an artifact, be explicit about structure and constraints.</a:t>
            </a:r>
          </a:p>
          <a:p/>
          <a:p>
            <a:r>
              <a:t>This prevents drift and ensures the output is usable without heavy editing.</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purpose of the AI-Assisted Output Instructions file: to enforce traceability, quality, and compliance for all AI-generated artifacts in the repository.</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mandatory metadata fields that must be embedded in every AI-generated file.</a:t>
            </a:r>
          </a:p>
          <a:p/>
          <a:p>
            <a:r>
              <a:t>These fields ensure each artifact can be traced back to its origin, model, and operator.</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and how to place provenance metadata.</a:t>
            </a:r>
          </a:p>
          <a:p/>
          <a:p>
            <a:r>
              <a:t>Markdown files must use embedded YAML front matter; only non-embeddable formats use sidecar files.</a:t>
            </a:r>
          </a:p>
          <a:p/>
          <a:p>
            <a:r>
              <a:t>Note: Instructions files have limited support for metadata and must use sidecar files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logging structure for AI chats.</a:t>
            </a:r>
          </a:p>
          <a:p/>
          <a:p>
            <a:r>
              <a:t>Each session gets its own folder, transcript, and summary, ensuring clear separation and traceability.</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quality gates and PR requirements.</a:t>
            </a:r>
          </a:p>
          <a:p/>
          <a:p>
            <a:r>
              <a:t>Artifacts must be fully documented, logs must exist, and sensitive data must be avoided.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requirements for GitHub Copilot integration.</a:t>
            </a:r>
          </a:p>
          <a:p/>
          <a:p>
            <a:r>
              <a:t>Copilot should automate chat management, metadata injection, and enforce compliance before generating files.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enforcement:</a:t>
            </a:r>
          </a:p>
          <a:p/>
          <a:p>
            <a:r>
              <a:t>PRs are blocked if requirements are not met.</a:t>
            </a:r>
          </a:p>
          <a:p/>
          <a:p>
            <a:r>
              <a:t>Any missing provenance must be remediated before merging.</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value of these instructions: they ensure every AI-assisted artifact is trustworthy, auditable, and compliant with team and industry standards.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foundational prompt-writing skills. Encourage participants to choose a real task to make the exercise concrete.</a:t>
            </a:r>
          </a:p>
          <a:p/>
          <a:p>
            <a:r>
              <a:t>Prompt: Create a prompt file that creates an instruction file for evergreen software development</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This reinforces the evergreen mindset and produces a reusable artifact for future AI-assisted work.</a:t>
            </a:r>
          </a:p>
          <a:p/>
          <a:p>
            <a:r>
              <a:t>Prompt: Submit the prompt #file:create-evergreen-software-instructions.prompt.md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helps participants shape AI behavior to match brownfield realities.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Participants experience the leverage of meta prompts and see how AI can accelerate documentation.</a:t>
            </a:r>
          </a:p>
          <a:p/>
          <a:p>
            <a:r>
              <a:t>Prompts:</a:t>
            </a:r>
          </a:p>
          <a:p/>
          <a:p>
            <a:r>
              <a:t>Create instruction files for the backend technologies</a:t>
            </a:r>
          </a:p>
          <a:p/>
          <a:p>
            <a:r>
              <a:t>Create instruction files for the front-end technologies</a:t>
            </a:r>
          </a:p>
          <a:p/>
          <a:p>
            <a:r>
              <a:t>Create instruction files for the front-end technologies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intuition for context management—one of the most important AI-era engineering skills.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**Transition**: "First, let me frame what we mean by 'persistent AI behavioral guidelines'..."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**Transition**: "So what exactly are instruction files? Let's define them..."</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**Transition**: "Let me show you what one looks like..."</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**Transition**: "When should you use instruction files? Let's look at common use cases..."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**Transition**: "Before we move on, let me share some best practices..."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**Transition**: Depending on agenda, either "Let's see this in action with a hands-on demo..." or "Questions about instruction files before we move on?"</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functional difference between the two instruction file types GitHub Copilot supports inside `.github/instructions/`.</a:t>
            </a:r>
          </a:p>
          <a:p>
            <a:r>
              <a:t>Repo‑level `.md` files are unconditional and always included.</a:t>
            </a:r>
          </a:p>
          <a:p>
            <a:r>
              <a:t>Scoped `.instructions.md` files are conditional, support `applyTo` and `exclude`, and only activate when relevant.</a:t>
            </a:r>
          </a:p>
          <a:p>
            <a:r>
              <a:t>The decision rule gives teams a simple, auditable way to choose the correct mechanism.</a:t>
            </a:r>
          </a:p>
          <a:p/>
          <a:p>
            <a:r>
              <a:t>---</a:t>
            </a:r>
          </a:p>
          <a:p/>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p>
            <a:r>
              <a:t>**Key Point**: This is about precision - getting Copilot to apply the right rules to the right files</a:t>
            </a:r>
          </a:p>
          <a:p>
            <a:r>
              <a:t>**Transition**: "Let's start by understanding what the applyTo field actually does"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applyTo field is part of the YAML front matter in instruction files. It uses glob patterns to match file paths. When you open a file in VS Code, Copilot checks all instruction files and loads only those whose applyTo pattern matches the current file.</a:t>
            </a:r>
          </a:p>
          <a:p/>
          <a:p>
            <a:r>
              <a:t>**Why this matters**: Without proper applyTo patterns, you might have documentation standards trying to apply to code files, or architecture patterns trying to apply to configuration files. This creates confusion and can lead to poor AI suggestions.</a:t>
            </a:r>
          </a:p>
          <a:p/>
          <a:p>
            <a:r>
              <a:t>**Example to share**: "Imagine having CQRS architecture instructions applying to your README files - that would be nonsensical. The applyTo field prevents this."</a:t>
            </a:r>
          </a:p>
          <a:p/>
          <a:p>
            <a:r>
              <a:t>**Transition**: "Now let's look at the most common pattern types you'll use"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double asterisk wildcard is the universal matcher. Use this for repository-wide policies that should apply everywhere - things like your AI-assisted output instructions, general quality standards, or compliance requirements.</a:t>
            </a:r>
          </a:p>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p>
            <a:r>
              <a:t>**Best practice**: Reserve universal patterns for truly universal policies. Most instructions should be more specific.</a:t>
            </a:r>
          </a:p>
          <a:p/>
          <a:p>
            <a:r>
              <a:t>**Real example from the repo**: The ai-assisted-output.instructions.md uses "\*_/_" because AI provenance metadata requirements apply to all AI-generated content regardless of file type.</a:t>
            </a:r>
          </a:p>
          <a:p/>
          <a:p>
            <a:r>
              <a:t>**Ask audience**: "How many instruction files do you think should realistically use universal patterns? Usually no more than 2-3."</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File extension matching is probably the most common pattern you'll use. The key syntax here is the brace expansion - that's the curly braces with comma-separated extensions.</a:t>
            </a:r>
          </a:p>
          <a:p/>
          <a:p>
            <a:r>
              <a:t>**Walking through the examples**:</a:t>
            </a:r>
          </a:p>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p>
            <a:r>
              <a:t>**Pro tip**: When you need to apply instructions to code files across multiple languages, use the brace expansion. In this repo, vertical slice architecture instructions use "\*_/_.{cs,ts,js,py,java,go,rb}" to cover all supported languages.</a:t>
            </a:r>
          </a:p>
          <a:p/>
          <a:p>
            <a:r>
              <a:t>**Common mistake**: Forgetting the **/ at the start means only files in the root directory match</a:t>
            </a:r>
          </a:p>
          <a:p>
            <a:r>
              <a:t>**Correct**: "**/_.md" matches all markdown files recursively</a:t>
            </a:r>
          </a:p>
          <a:p>
            <a:r>
              <a:t>**Incorrect**: "_.md" only matches markdown files in root directory</a:t>
            </a:r>
          </a:p>
          <a:p/>
          <a:p>
            <a:r>
              <a:t>**Demonstrate**: Show how the pattern breaks down visually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Directory-specific patterns are crucial for organizing large codebases. They let you say "these architecture rules only apply to source code" or "these formatting rules only apply to slides."</a:t>
            </a:r>
          </a:p>
          <a:p/>
          <a:p>
            <a:r>
              <a:t>**Breaking down the syntax**:</a:t>
            </a:r>
          </a:p>
          <a:p/>
          <a:p>
            <a:r>
              <a:t>- "slides/marp/**"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p>
            <a:r>
              <a:t>**Real-world example from this repo**: The marp-slides.instructions.md uses "slides/marp/\*\*" because those formatting rules should only apply to presentation slides, not to other markdown files like README.md or documentation.</a:t>
            </a:r>
          </a:p>
          <a:p/>
          <a:p>
            <a:r>
              <a:t>**Another example**: You might have vertical-slice.instructions.md with "src/Features/\*_/_.cs" so those architectural patterns only apply to feature code, not to infrastructure or configuration code.</a:t>
            </a:r>
          </a:p>
          <a:p/>
          <a:p>
            <a:r>
              <a:t>**Visual aid**: If possible, show the repository structure and how the pattern matches</a:t>
            </a:r>
          </a:p>
          <a:p>
            <a:r>
              <a:t>**Transition**: "Let's dive deeper into the glob syntax itself"</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This slide is your reference guide for glob pattern syntax. Let's walk through each one with careful attention to the distinctions:</a:t>
            </a:r>
          </a:p>
          <a:p/>
          <a:p>
            <a:r>
              <a:t>**Single asterisk (\*)**:</a:t>
            </a:r>
          </a:p>
          <a:p/>
          <a:p>
            <a:r>
              <a:t>- Matches any characters EXCEPT forward slash</a:t>
            </a:r>
          </a:p>
          <a:p>
            <a:r>
              <a:t>- "\*.md" matches "README.md" in the current directory</a:t>
            </a:r>
          </a:p>
          <a:p>
            <a:r>
              <a:t>- Does NOT match "docs/README.md" - the slash breaks the match</a:t>
            </a:r>
          </a:p>
          <a:p>
            <a:r>
              <a:t>- Think of it as "wildcard within one directory level"</a:t>
            </a:r>
          </a:p>
          <a:p/>
          <a:p>
            <a:r>
              <a:t>**Double asterisk (**)\*\*:</a:t>
            </a:r>
          </a:p>
          <a:p/>
          <a:p>
            <a:r>
              <a:t>- This is the recursive directory matcher</a:t>
            </a:r>
          </a:p>
          <a:p>
            <a:r>
              <a:t>- Can match zero or more directory levels</a:t>
            </a:r>
          </a:p>
          <a:p>
            <a:r>
              <a:t>- "\*_/_.md" matches files at any depth</a:t>
            </a:r>
          </a:p>
          <a:p>
            <a:r>
              <a:t>- Critical: It must be its own path segment - "**/" not "**/file.md"</a:t>
            </a:r>
          </a:p>
          <a:p/>
          <a:p>
            <a:r>
              <a:t>**Question mark (?)**:</a:t>
            </a:r>
          </a:p>
          <a:p/>
          <a:p>
            <a:r>
              <a:t>- Exactly one character (useful for versioned files)</a:t>
            </a:r>
          </a:p>
          <a:p>
            <a:r>
              <a:t>- "config?.json" matches "config1.json" and "configA.json"</a:t>
            </a:r>
          </a:p>
          <a:p>
            <a:r>
              <a:t>- Does NOT match "config10.json" (that's two characters)</a:t>
            </a:r>
          </a:p>
          <a:p/>
          <a:p>
            <a:r>
              <a:t>**Brackets [abc] and [a-z]**:</a:t>
            </a:r>
          </a:p>
          <a:p/>
          <a:p>
            <a:r>
              <a:t>- Character classes - match one character from the set</a:t>
            </a:r>
          </a:p>
          <a:p>
            <a:r>
              <a:t>- Useful for version numbers or variant files</a:t>
            </a:r>
          </a:p>
          <a:p>
            <a:r>
              <a:t>- "file[123].md" matches file1.md, file2.md, file3.md</a:t>
            </a:r>
          </a:p>
          <a:p/>
          <a:p>
            <a:r>
              <a:t>**Braces {a,b}**:</a:t>
            </a:r>
          </a:p>
          <a:p/>
          <a:p>
            <a:r>
              <a:t>- This is alternation - match any of the alternatives</a:t>
            </a:r>
          </a:p>
          <a:p>
            <a:r>
              <a:t>- Most commonly used for file extensions</a:t>
            </a:r>
          </a:p>
          <a:p>
            <a:r>
              <a:t>- "\*.{js,ts,jsx,tsx}" matches all JavaScript/TypeScript files</a:t>
            </a:r>
          </a:p>
          <a:p>
            <a:r>
              <a:t>- Each alternative can itself be a pattern</a:t>
            </a:r>
          </a:p>
          <a:p/>
          <a:p>
            <a:r>
              <a:t>**Demonstrate**: Show 2-3 concrete examples with actual files</a:t>
            </a:r>
          </a:p>
          <a:p>
            <a:r>
              <a:t>**Transition**: "Now let's see these patterns in action with real examples from this repository"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These are actual examples from the AI-Assisted-Software-Development-Course repository. Let's analyze why each pattern was chosen:</a:t>
            </a:r>
          </a:p>
          <a:p/>
          <a:p>
            <a:r>
              <a:t>**Example 1 - AI Output Standards**:</a:t>
            </a:r>
          </a:p>
          <a:p/>
          <a:p>
            <a:r>
              <a:t>- Uses "\*_/_" because AI provenance requirements apply to ALL artifacts</a:t>
            </a:r>
          </a:p>
          <a:p>
            <a:r>
              <a:t>- This includes code, docs, config files, images (via sidecar metadata)</a:t>
            </a:r>
          </a:p>
          <a:p>
            <a:r>
              <a:t>- Appropriate use of universal pattern because it's a universal policy</a:t>
            </a:r>
          </a:p>
          <a:p/>
          <a:p>
            <a:r>
              <a:t>**Example 2 - Vertical Slice Architecture**:</a:t>
            </a:r>
          </a:p>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p>
            <a:r>
              <a:t>**Example 3 - Business Rules Documentation**:</a:t>
            </a:r>
          </a:p>
          <a:p/>
          <a:p>
            <a:r>
              <a:t>- Only Markdown and text files</a:t>
            </a:r>
          </a:p>
          <a:p>
            <a:r>
              <a:t>- Instructions about translating business rules to documentation</a:t>
            </a:r>
          </a:p>
          <a:p>
            <a:r>
              <a:t>- Deliberately excludes code files</a:t>
            </a:r>
          </a:p>
          <a:p/>
          <a:p>
            <a:r>
              <a:t>**Example 4 - Marp Slide Formatting**:</a:t>
            </a:r>
          </a:p>
          <a:p/>
          <a:p>
            <a:r>
              <a:t>- Highly specific - only the slides directory</a:t>
            </a:r>
          </a:p>
          <a:p>
            <a:r>
              <a:t>- Even though slides are .md files, they have different formatting rules than regular docs</a:t>
            </a:r>
          </a:p>
          <a:p>
            <a:r>
              <a:t>- This specificity prevents slide formatting rules from applying to README.md</a:t>
            </a:r>
          </a:p>
          <a:p/>
          <a:p>
            <a:r>
              <a:t>**Example 5 - Prompt File Authoring**:</a:t>
            </a:r>
          </a:p>
          <a:p/>
          <a:p>
            <a:r>
              <a:t>- Targets the specialized .prompt.md file extension</a:t>
            </a:r>
          </a:p>
          <a:p>
            <a:r>
              <a:t>- These files have specific structure requirements</a:t>
            </a:r>
          </a:p>
          <a:p>
            <a:r>
              <a:t>- Using the exact extension prevents these rules from applying to regular markdown</a:t>
            </a:r>
          </a:p>
          <a:p/>
          <a:p>
            <a:r>
              <a:t>**Key lesson**: Notice how each pattern precisely targets its intended scope. There's no overlap or ambiguity.</a:t>
            </a:r>
          </a:p>
          <a:p/>
          <a:p>
            <a:r>
              <a:t>**Ask**: "Can anyone think of what would happen if example 4 used '\*_/_.md' instead? Right - slide formatting rules would apply to all markdown, including README files, causing conflicts."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establish three core best practices that will guide your applyTo pattern decisions:</a:t>
            </a:r>
          </a:p>
          <a:p/>
          <a:p>
            <a:r>
              <a:t>**Best Practice 1: Be Specific When Possible**</a:t>
            </a:r>
          </a:p>
          <a:p/>
          <a:p>
            <a:r>
              <a:t>The more specific your pattern, the better. Why?</a:t>
            </a:r>
          </a:p>
          <a:p/>
          <a:p>
            <a:r>
              <a:t>- Reduces Copilot context size (faster responses)</a:t>
            </a:r>
          </a:p>
          <a:p>
            <a:r>
              <a:t>- Prevents instruction conflicts</a:t>
            </a:r>
          </a:p>
          <a:p>
            <a:r>
              <a:t>- Makes intent clear to other developers</a:t>
            </a:r>
          </a:p>
          <a:p>
            <a:r>
              <a:t>- Easier to debug when instructions aren't applying as expected</a:t>
            </a:r>
          </a:p>
          <a:p/>
          <a:p>
            <a:r>
              <a:t>Counter-example: If you use "\*\*" for styling instructions that really only apply to frontend components, Copilot will load those instructions even when editing backend API code or database migrations. That's wasteful and confusing.</a:t>
            </a:r>
          </a:p>
          <a:p/>
          <a:p>
            <a:r>
              <a:t>**Best Practice 2: Use Brace Expansion**</a:t>
            </a:r>
          </a:p>
          <a:p/>
          <a:p>
            <a:r>
              <a:t>When instructions apply to multiple file types, use brace expansion rather than creating multiple instruction files:</a:t>
            </a:r>
          </a:p>
          <a:p/>
          <a:p>
            <a:r>
              <a:t>- Maintains single source of truth</a:t>
            </a:r>
          </a:p>
          <a:p>
            <a:r>
              <a:t>- Easier to update (one file instead of many)</a:t>
            </a:r>
          </a:p>
          <a:p>
            <a:r>
              <a:t>- Consistent rules across languages</a:t>
            </a:r>
          </a:p>
          <a:p/>
          <a:p>
            <a:r>
              <a:t>But be careful: Only group file types that truly need the same instructions. Don't group Python and JavaScript just because they're both "code" if the instructions differ.</a:t>
            </a:r>
          </a:p>
          <a:p/>
          <a:p>
            <a:r>
              <a:t>**Best Practice 3: Match Scope to Purpose**</a:t>
            </a:r>
          </a:p>
          <a:p/>
          <a:p>
            <a:r>
              <a:t>This is about semantic clarity:</a:t>
            </a:r>
          </a:p>
          <a:p/>
          <a:p>
            <a:r>
              <a:t>- Architecture patterns → Source code directories</a:t>
            </a:r>
          </a:p>
          <a:p>
            <a:r>
              <a:t>- Documentation standards → Docs directories</a:t>
            </a:r>
          </a:p>
          <a:p>
            <a:r>
              <a:t>- Testing guidelines → Test directories</a:t>
            </a:r>
          </a:p>
          <a:p>
            <a:r>
              <a:t>- Deployment instructions → CI/CD configs</a:t>
            </a:r>
          </a:p>
          <a:p/>
          <a:p>
            <a:r>
              <a:t>The pattern should make the instruction's purpose obvious at a glance.</a:t>
            </a:r>
          </a:p>
          <a:p/>
          <a:p>
            <a:r>
              <a:t>**Example of bad scope**: Having security scanning instructions with "\*_/_.md" - security scans don't apply to markdown files.</a:t>
            </a:r>
          </a:p>
          <a:p/>
          <a:p>
            <a:r>
              <a:t>**Example of good scope**: Having security scanning with "src/\*_/_.{cs,js,py}" - clearly applies to source code only.</a:t>
            </a:r>
          </a:p>
          <a:p/>
          <a:p>
            <a:r>
              <a:t>**Emphasize**: "Specificity is not just a performance optimization - it's about clarity and maintainability"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look at three common mistakes and how to avoid them:</a:t>
            </a:r>
          </a:p>
          <a:p/>
          <a:p>
            <a:r>
              <a:t>**Pitfall 1: Too Broad**</a:t>
            </a:r>
          </a:p>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p>
            <a:r>
              <a:t>**How to identify**: If your instruction file has a specific purpose that doesn't apply to ALL files, don't use "\*\*"</a:t>
            </a:r>
          </a:p>
          <a:p/>
          <a:p>
            <a:r>
              <a:t>**Fix**: Narrow to the specific directory or file types</a:t>
            </a:r>
          </a:p>
          <a:p/>
          <a:p>
            <a:r>
              <a:t>**Pitfall 2: Too Narrow**</a:t>
            </a:r>
          </a:p>
          <a:p/>
          <a:p>
            <a:r>
              <a:t>This is the opposite problem - being so specific that the instructions become brittle and hard to maintain. In the example, targeting only the UserManagement feature means:</a:t>
            </a:r>
          </a:p>
          <a:p/>
          <a:p>
            <a:r>
              <a:t>- You need separate instruction files for each feature</a:t>
            </a:r>
          </a:p>
          <a:p>
            <a:r>
              <a:t>- Adding a new feature requires a new instruction file</a:t>
            </a:r>
          </a:p>
          <a:p>
            <a:r>
              <a:t>- The same architectural patterns can't be shared across features</a:t>
            </a:r>
          </a:p>
          <a:p/>
          <a:p>
            <a:r>
              <a:t>**How to identify**: If you find yourself creating many nearly-identical instruction files, your patterns are too narrow</a:t>
            </a:r>
          </a:p>
          <a:p/>
          <a:p>
            <a:r>
              <a:t>**Fix**: Identify the common scope (like "src/Features/\*\*") and use that</a:t>
            </a:r>
          </a:p>
          <a:p/>
          <a:p>
            <a:r>
              <a:t>**Pitfall 3: Overlapping Instructions**</a:t>
            </a:r>
          </a:p>
          <a:p/>
          <a:p>
            <a:r>
              <a:t>This is the trickiest pitfall. When multiple instruction files match the same file path, Copilot loads all of them. Sometimes that's intentional (general coding standards + language-specific patterns), but often it's accidental and creates conflicts.</a:t>
            </a:r>
          </a:p>
          <a:p/>
          <a:p>
            <a:r>
              <a:t>**Concrete example**:</a:t>
            </a:r>
          </a:p>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p>
            <a:r>
              <a:t>**How to identify**: List all your instruction files and their patterns side-by-side. Look for overlaps.</a:t>
            </a:r>
          </a:p>
          <a:p/>
          <a:p>
            <a:r>
              <a:t>**Fix strategies**:</a:t>
            </a:r>
          </a:p>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p>
            <a:r>
              <a:t>**Interactive element**: "Has anyone experienced unexpected Copilot behavior? It might be due to overlapping instructions."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Testing your applyTo patterns before committing is crucial. Here are three methods, in order of sophistication:</a:t>
            </a:r>
          </a:p>
          <a:p/>
          <a:p>
            <a:r>
              <a:t>**Method 1: File System Commands**</a:t>
            </a:r>
          </a:p>
          <a:p/>
          <a:p>
            <a:r>
              <a:t>Use your shell's file finding capabilities to preview what matches:</a:t>
            </a:r>
          </a:p>
          <a:p/>
          <a:p>
            <a:r>
              <a:t>PowerShell (Windows):</a:t>
            </a:r>
          </a:p>
          <a:p/>
          <a:p>
            <a:r>
              <a:t>- Get-ChildItem with -Filter and -Recurse shows what files match</a:t>
            </a:r>
          </a:p>
          <a:p>
            <a:r>
              <a:t>- Can pipe to Where-Object for complex filtering</a:t>
            </a:r>
          </a:p>
          <a:p>
            <a:r>
              <a:t>- Example: Get-ChildItem -Path ".\src" -Filter "\*.cs" -Recurse | Select-Object FullName</a:t>
            </a:r>
          </a:p>
          <a:p/>
          <a:p>
            <a:r>
              <a:t>Bash/Zsh (Linux/Mac):</a:t>
            </a:r>
          </a:p>
          <a:p/>
          <a:p>
            <a:r>
              <a:t>- find command with -name flag</a:t>
            </a:r>
          </a:p>
          <a:p>
            <a:r>
              <a:t>- Can combine with grep for more complex patterns</a:t>
            </a:r>
          </a:p>
          <a:p>
            <a:r>
              <a:t>- Example: find ./src -name "\*.cs" -type f</a:t>
            </a:r>
          </a:p>
          <a:p/>
          <a:p>
            <a:r>
              <a:t>**Why this matters**: If your pattern matches more or fewer files than expected, you'll catch it before Copilot does.</a:t>
            </a:r>
          </a:p>
          <a:p/>
          <a:p>
            <a:r>
              <a:t>**Method 2: Online Glob Testers**</a:t>
            </a:r>
          </a:p>
          <a:p/>
          <a:p>
            <a:r>
              <a:t>Tools like globster.xyz let you:</a:t>
            </a:r>
          </a:p>
          <a:p/>
          <a:p>
            <a:r>
              <a:t>- Enter a glob pattern</a:t>
            </a:r>
          </a:p>
          <a:p>
            <a:r>
              <a:t>- Paste a list of file paths</a:t>
            </a:r>
          </a:p>
          <a:p>
            <a:r>
              <a:t>- See visually which paths match</a:t>
            </a:r>
          </a:p>
          <a:p/>
          <a:p>
            <a:r>
              <a:t>This is especially useful for complex patterns with brace expansion or character classes. You can experiment with patterns and see results immediately without touching your repository.</a:t>
            </a:r>
          </a:p>
          <a:p/>
          <a:p>
            <a:r>
              <a:t>**Pro tip**: Keep a browser tab with globster open when writing complex patterns</a:t>
            </a:r>
          </a:p>
          <a:p/>
          <a:p>
            <a:r>
              <a:t>**Method 3: Behavioral Testing**</a:t>
            </a:r>
          </a:p>
          <a:p/>
          <a:p>
            <a:r>
              <a:t>The ultimate test - does Copilot actually behave as expected?</a:t>
            </a:r>
          </a:p>
          <a:p/>
          <a:p>
            <a:r>
              <a:t>Steps:</a:t>
            </a:r>
          </a:p>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p>
            <a:r>
              <a:t>**Practical tip**: "I recommend testing every new instruction file pattern with method 1 or 2 before pushing to your team"</a:t>
            </a:r>
          </a:p>
          <a:p>
            <a:r>
              <a:t>**Transition**: "Let's wrap up with key takeaways"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consolidate the technical details about how pattern matching actually works in practice:</a:t>
            </a:r>
          </a:p>
          <a:p/>
          <a:p>
            <a:r>
              <a:t>**Evaluation Timing**:</a:t>
            </a:r>
          </a:p>
          <a:p>
            <a:r>
              <a:t>Pattern matching happens dynamically. When you open a file, VS Code/Copilot:</a:t>
            </a:r>
          </a:p>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p>
            <a:r>
              <a:t>This is important because it means pattern matching is NOT a one-time operation at startup - it happens constantly as you switch between files.</a:t>
            </a:r>
          </a:p>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p>
            <a:r>
              <a:t>**Example of intentional multiple matches**:</a:t>
            </a:r>
          </a:p>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p>
            <a:r>
              <a:t>**Repository Root**:</a:t>
            </a:r>
          </a:p>
          <a:p>
            <a:r>
              <a:t>All patterns are relative to the workspace root (where .git directory is located). There's no way to use absolute paths, which is good for portability.</a:t>
            </a:r>
          </a:p>
          <a:p/>
          <a:p>
            <a:r>
              <a:t>**Case Sensitivity**:</a:t>
            </a:r>
          </a:p>
          <a:p>
            <a:r>
              <a:t>Critical detail - this depends on the underlying file system:</a:t>
            </a:r>
          </a:p>
          <a:p/>
          <a:p>
            <a:r>
              <a:t>- Windows: case-insensitive ("\*.MD" matches "file.md")</a:t>
            </a:r>
          </a:p>
          <a:p>
            <a:r>
              <a:t>- Linux: case-sensitive ("\*.MD" matches "file.MD" but not "file.md")</a:t>
            </a:r>
          </a:p>
          <a:p>
            <a:r>
              <a:t>- macOS: depends on file system format (usually case-insensitive)</a:t>
            </a:r>
          </a:p>
          <a:p/>
          <a:p>
            <a:r>
              <a:t>Best practice: Always use lowercase in patterns and standardize file naming to lowercase to avoid cross-platform issues.</a:t>
            </a:r>
          </a:p>
          <a:p/>
          <a:p>
            <a:r>
              <a:t>**Important**: "The dynamic evaluation means you can test instruction changes immediately - just close and reopen a file"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wrap up with a practical decision-making framework:</a:t>
            </a:r>
          </a:p>
          <a:p/>
          <a:p>
            <a:r>
              <a:t>**The Four Essential Pattern Categories**:</a:t>
            </a:r>
          </a:p>
          <a:p/>
          <a:p>
            <a:r>
              <a:t>These four patterns cover 95% of real-world use cases. Let me give you concrete examples of when to use each:</a:t>
            </a:r>
          </a:p>
          <a:p/>
          <a:p>
            <a:r>
              <a:t>1. **Universal `**/\*`\*\*:</a:t>
            </a:r>
          </a:p>
          <a:p>
            <a:r>
              <a:t>- AI provenance policies</a:t>
            </a:r>
          </a:p>
          <a:p>
            <a:r>
              <a:t>- Security compliance requirements</a:t>
            </a:r>
          </a:p>
          <a:p>
            <a:r>
              <a:t>- Legal/licensing standards</a:t>
            </a:r>
          </a:p>
          <a:p>
            <a:r>
              <a:t>- Organization-wide conventions</a:t>
            </a:r>
          </a:p>
          <a:p>
            <a:r>
              <a:t>- Should be max 2-3 instruction files in your entire repo</a:t>
            </a:r>
          </a:p>
          <a:p/>
          <a:p>
            <a:r>
              <a:t>2. **Multi-extension `**/\*.{ext1,ext2}`\*\*:</a:t>
            </a:r>
          </a:p>
          <a:p>
            <a:r>
              <a:t>- Language-agnostic code quality patterns</a:t>
            </a:r>
          </a:p>
          <a:p>
            <a:r>
              <a:t>- Cross-language architecture styles</a:t>
            </a:r>
          </a:p>
          <a:p>
            <a:r>
              <a:t>- Multi-language testing strategies</a:t>
            </a:r>
          </a:p>
          <a:p>
            <a:r>
              <a:t>- Example: Vertical slice could apply to C#, TypeScript, Python features</a:t>
            </a:r>
          </a:p>
          <a:p/>
          <a:p>
            <a:r>
              <a:t>3. **Directory scope `directory/**`\*\*:</a:t>
            </a:r>
          </a:p>
          <a:p>
            <a:r>
              <a:t>- Slide formatting (slides/\*)</a:t>
            </a:r>
          </a:p>
          <a:p>
            <a:r>
              <a:t>- API documentation (docs/api/\*\*)</a:t>
            </a:r>
          </a:p>
          <a:p>
            <a:r>
              <a:t>- Feature isolation (src/Features/\*\*)</a:t>
            </a:r>
          </a:p>
          <a:p>
            <a:r>
              <a:t>- Test organization (tests/\*\*)</a:t>
            </a:r>
          </a:p>
          <a:p/>
          <a:p>
            <a:r>
              <a:t>4. **Specialized naming `**/\*.pattern.ext`\*\*:</a:t>
            </a:r>
          </a:p>
          <a:p>
            <a:r>
              <a:t>- Instruction files themselves (\*.instructions.md)</a:t>
            </a:r>
          </a:p>
          <a:p>
            <a:r>
              <a:t>- Prompt files (\*.prompt.md)</a:t>
            </a:r>
          </a:p>
          <a:p>
            <a:r>
              <a:t>- Test files (_.test.js, _.spec.ts)</a:t>
            </a:r>
          </a:p>
          <a:p>
            <a:r>
              <a:t>- Generated files (\*.generated.cs)</a:t>
            </a:r>
          </a:p>
          <a:p/>
          <a:p>
            <a:r>
              <a:t>**Using the Decision Tree**:</a:t>
            </a:r>
          </a:p>
          <a:p/>
          <a:p>
            <a:r>
              <a:t>Work through the questions in order. The first "yes" answer tells you which pattern category to use. Then refine within that category.</a:t>
            </a:r>
          </a:p>
          <a:p/>
          <a:p>
            <a:r>
              <a:t>Example walkthrough:</a:t>
            </a:r>
          </a:p>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p>
            <a:r>
              <a:t>**Documentation is Critical**:</a:t>
            </a:r>
          </a:p>
          <a:p/>
          <a:p>
            <a:r>
              <a:t>In your instruction file, add a comment in the front matter explaining the pattern choice:</a:t>
            </a:r>
          </a:p>
          <a:p/>
          <a:p>
            <a:r>
              <a:t>```yaml</a:t>
            </a:r>
          </a:p>
          <a:p>
            <a:r>
              <a:t>applyTo: "src/Features/**/*.cs"</a:t>
            </a:r>
          </a:p>
          <a:p>
            <a:r>
              <a:t>```</a:t>
            </a:r>
          </a:p>
          <a:p/>
          <a:p>
            <a:r>
              <a:t>This helps future developers (including yourself) understand the reasoning.</a:t>
            </a:r>
          </a:p>
          <a:p/>
          <a:p>
            <a:r>
              <a:t>**Review and Iterate**:</a:t>
            </a:r>
          </a:p>
          <a:p/>
          <a:p>
            <a:r>
              <a:t>Patterns aren't set in stone. If you notice:</a:t>
            </a:r>
          </a:p>
          <a:p/>
          <a:p>
            <a:r>
              <a:t>- Instructions not being applied when expected</a:t>
            </a:r>
          </a:p>
          <a:p>
            <a:r>
              <a:t>- Instructions being applied to wrong files</a:t>
            </a:r>
          </a:p>
          <a:p>
            <a:r>
              <a:t>- Need to refactor directory structure</a:t>
            </a:r>
          </a:p>
          <a:p/>
          <a:p>
            <a:r>
              <a:t>Then review and update your patterns. This is normal maintenance.</a:t>
            </a:r>
          </a:p>
          <a:p/>
          <a:p>
            <a:r>
              <a:t>**Final thought**: "Good applyTo patterns make Copilot predictable and reliable. Take the time to get them right."</a:t>
            </a:r>
          </a:p>
          <a:p/>
          <a:p>
            <a:r>
              <a:t>**End with**: "Questions about applyTo patterns or glob syntax?"</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 keep it brief and actionable.</a:t>
            </a:r>
          </a:p>
          <a:p/>
          <a:p>
            <a:r>
              <a:t>**Resources to Share**:</a:t>
            </a:r>
          </a:p>
          <a:p/>
          <a:p>
            <a:r>
              <a:t>Point attendees to:</a:t>
            </a:r>
          </a:p>
          <a:p/>
          <a:p>
            <a:r>
              <a:t>1. The globster.xyz website - they should bookmark this</a:t>
            </a:r>
          </a:p>
          <a:p>
            <a:r>
              <a:t>2. Official GitHub documentation on instruction files (if available)</a:t>
            </a:r>
          </a:p>
          <a:p>
            <a:r>
              <a:t>3. This repository's .github/instructions/ directory as examples</a:t>
            </a:r>
          </a:p>
          <a:p/>
          <a:p>
            <a:r>
              <a:t>**Practice Exercise**:</a:t>
            </a:r>
          </a:p>
          <a:p/>
          <a:p>
            <a:r>
              <a:t>These three exercises cover the main pattern categories:</a:t>
            </a:r>
          </a:p>
          <a:p/>
          <a:p>
            <a:r>
              <a:t>Exercise 1 - CQRS Architecture:</a:t>
            </a:r>
          </a:p>
          <a:p/>
          <a:p>
            <a:r>
              <a:t>- Should apply to: C#, TypeScript, Python code files</a:t>
            </a:r>
          </a:p>
          <a:p>
            <a:r>
              <a:t>- Suggested pattern: `src/**/*.{cs,ts,py}`</a:t>
            </a:r>
          </a:p>
          <a:p>
            <a:r>
              <a:t>- Excludes: tests, config files, documentation</a:t>
            </a:r>
          </a:p>
          <a:p>
            <a:r>
              <a:t>- Learning goal: Multi-extension file type targeting</a:t>
            </a:r>
          </a:p>
          <a:p/>
          <a:p>
            <a:r>
              <a:t>Exercise 2 - Mermaid Diagram Standards:</a:t>
            </a:r>
          </a:p>
          <a:p/>
          <a:p>
            <a:r>
              <a:t>- Should apply to: All markdown files with diagrams</a:t>
            </a:r>
          </a:p>
          <a:p>
            <a:r>
              <a:t>- Suggested pattern: `**/*.md` or `docs/**/*.md` if narrower</a:t>
            </a:r>
          </a:p>
          <a:p>
            <a:r>
              <a:t>- Excludes: Non-markdown files</a:t>
            </a:r>
          </a:p>
          <a:p>
            <a:r>
              <a:t>- Learning goal: Extension-based filtering</a:t>
            </a:r>
          </a:p>
          <a:p/>
          <a:p>
            <a:r>
              <a:t>Exercise 3 - Test Naming Conventions:</a:t>
            </a:r>
          </a:p>
          <a:p/>
          <a:p>
            <a:r>
              <a:t>- Should apply to: Test files only</a:t>
            </a:r>
          </a:p>
          <a:p>
            <a:r>
              <a:t>- Suggested pattern: `**/*.{test,spec}.{js,ts}` or `tests/**/*`</a:t>
            </a:r>
          </a:p>
          <a:p>
            <a:r>
              <a:t>- Excludes: Source code</a:t>
            </a:r>
          </a:p>
          <a:p>
            <a:r>
              <a:t>- Learning goal: Specialized naming patterns or directory scoping</a:t>
            </a:r>
          </a:p>
          <a:p/>
          <a:p>
            <a:r>
              <a:t>Have them create these instruction files with proper applyTo patterns and test whether they match the expected files using the methods from slide 9.</a:t>
            </a:r>
          </a:p>
          <a:p/>
          <a:p>
            <a:r>
              <a:t>**Timing for Q&amp;A**: Budget at least 5 minutes</a:t>
            </a:r>
          </a:p>
          <a:p>
            <a:r>
              <a:t>**Common questions to expect**:</a:t>
            </a:r>
          </a:p>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p>
            <a:r>
              <a:t>**Closing statement**: "Remember, good applyTo patterns are the key to making Copilot instruction files reliable and maintainable. Start with these patterns, test them thoroughly, and iterate based on real-world usage."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**Closing Remarks**:</a:t>
            </a:r>
          </a:p>
          <a:p/>
          <a:p>
            <a:r>
              <a:t>Thank you all for your attention. The applyTo pattern system might seem simple on the surface, but as we've seen, there's real depth to using it effectively.</a:t>
            </a:r>
          </a:p>
          <a:p/>
          <a:p>
            <a:r>
              <a:t>**Key messages to leave with**:</a:t>
            </a:r>
          </a:p>
          <a:p/>
          <a:p>
            <a:r>
              <a:t>1. Specificity prevents conflicts</a:t>
            </a:r>
          </a:p>
          <a:p>
            <a:r>
              <a:t>2. Test your patterns before committing</a:t>
            </a:r>
          </a:p>
          <a:p>
            <a:r>
              <a:t>3. Document your pattern choices</a:t>
            </a:r>
          </a:p>
          <a:p>
            <a:r>
              <a:t>4. Review and refine based on real usage</a:t>
            </a:r>
          </a:p>
          <a:p/>
          <a:p>
            <a:r>
              <a:t>**Engagement**:</a:t>
            </a:r>
          </a:p>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p>
            <a:r>
              <a:t>**Next Steps**:</a:t>
            </a:r>
          </a:p>
          <a:p/>
          <a:p>
            <a:r>
              <a:t>- Review the instruction files in this repository</a:t>
            </a:r>
          </a:p>
          <a:p>
            <a:r>
              <a:t>- Try the practice exercises</a:t>
            </a:r>
          </a:p>
          <a:p>
            <a:r>
              <a:t>- Start applying these patterns to your own projects</a:t>
            </a:r>
          </a:p>
          <a:p>
            <a:r>
              <a:t>- Share learnings with your team</a:t>
            </a:r>
          </a:p>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p>
            <a:r>
              <a:t>**Tone**: Encouraging and supportive - this is about continuous improvement</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core instruction files that govern AI-assisted development in this repository. These files are the foundation of the guardrails system.</a:t>
            </a:r>
          </a:p>
          <a:p/>
          <a:p>
            <a:r>
              <a:t>Explain each file's purpose:</a:t>
            </a:r>
          </a:p>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p>
            <a:r>
              <a:t>Emphasize the hierarchical nature: ai-assisted-output is the root policy that all others reference.</a:t>
            </a:r>
          </a:p>
          <a:p/>
          <a:p>
            <a:r>
              <a:t>Transition: "Let's dive into how to use these..."</a:t>
            </a:r>
          </a:p>
          <a:p/>
          <a:p>
            <a:r>
              <a:t>---</a:t>
            </a:r>
          </a:p>
          <a:p/>
          <a:p>
            <a:r>
              <a:t>Source: slides\marp\core-instruction-files.deck.md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usually fail by over-centralizing or over-fragmenting. Centralize non-negotiables, decentralize implementation guidance. Emphasize this prevents policy drift while keeping day-to-day delivery fast.</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proximity: put guidance where teams actually work. This improves discoverability and lowers onboarding time. Mention that folder-level rules should refine enterprise policy, not duplicate it.</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top-to-bottom. Describe how specificity should increase as scope narrows. If conflicts appear, resolve by specificity first, then by explicit policy precedence defined by your organization.</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action items. Suggest teams pilot this in one repo before scaling. Encourage adding quick validation prompts in CI or review checklists so instruction drift is detected early.</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repository tree, instruction conventions, and team roles for parallel work</a:t>
            </a:r>
          </a:p>
          <a:p/>
          <a:p>
            <a:r>
              <a:t>### Objectives</a:t>
            </a:r>
          </a:p>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p>
            <a:r>
              <a:t>### Activities</a:t>
            </a:r>
          </a:p>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p>
            <a:r>
              <a:t>### Success Criteria</a:t>
            </a:r>
          </a:p>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p>
            <a:r>
              <a:t>### Facilitation Tip</a:t>
            </a:r>
          </a:p>
          <a:p/>
          <a:p>
            <a:r>
              <a:t>Use a visible board (status: active, blocked, complete) for each session stream so the team can rebalance quickly when one stream stalls.</a:t>
            </a:r>
          </a:p>
          <a:p/>
          <a:p>
            <a:r>
              <a:t>---</a:t>
            </a:r>
          </a:p>
          <a:p/>
          <a:p>
            <a:r>
              <a:t>Source: slides\marp\exercise-technology-inventory-instructions.deck.md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Welcome to AI Assisted Software Development</a:t>
            </a:r>
          </a:p>
        </p:txBody>
      </p:sp>
      <p:sp>
        <p:nvSpPr>
          <p:cNvPr id="3" name="Subtitle 2"/>
          <p:cNvSpPr>
            <a:spLocks noGrp="1"/>
          </p:cNvSpPr>
          <p:nvPr>
            <p:ph type="subTitle" idx="1"/>
          </p:nvPr>
        </p:nvSpPr>
        <p:spPr/>
        <p:txBody>
          <a:bodyPr wrap="square">
            <a:normAutofit/>
          </a:bodyPr>
          <a:lstStyle/>
          <a:p/>
          <a:p>
            <a:r>
              <a:t>From Code to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wrap="square">
            <a:normAutofit/>
          </a:bodyPr>
          <a:lstStyle/>
          <a:p/>
          <a:p>
            <a:r>
              <a:rPr b="1"/>
              <a:t>Principal Software Engineer at CODE</a:t>
            </a:r>
          </a:p>
          <a:p>
            <a:r>
              <a:t>Played roles of developer, architect, devops engineer, platform engineer, test architect, release manager</a:t>
            </a:r>
          </a:p>
          <a:p>
            <a:r>
              <a:t>AI/ML Enthusiast and advocate for effectively using AI to write code</a:t>
            </a:r>
          </a:p>
          <a:p/>
          <a:p>
            <a:pPr/>
            <a:r>
              <a:t>LinkedIn: www.linkedin.com/in/johnmichaelmiller</a:t>
            </a:r>
          </a:p>
          <a:p>
            <a:pPr/>
            <a:r>
              <a:t>Email: john.miller@codemag.com</a:t>
            </a:r>
          </a:p>
          <a:p>
            <a:pPr/>
            <a:r>
              <a:t>Blog: codemag.com/blog/AIPractitioner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wrap="square">
            <a:normAutofit/>
          </a:bodyPr>
          <a:lstStyle/>
          <a:p/>
          <a:p>
            <a:pPr/>
            <a:r>
              <a:t>Who you are</a:t>
            </a:r>
          </a:p>
          <a:p>
            <a:pPr/>
            <a:r>
              <a:t>Who do you work for</a:t>
            </a:r>
          </a:p>
          <a:p>
            <a:pPr/>
            <a:r>
              <a:t>What you do</a:t>
            </a:r>
          </a:p>
          <a:p>
            <a:pPr/>
            <a:r>
              <a:t>What you've done with AI tools</a:t>
            </a:r>
          </a:p>
          <a:p>
            <a:pPr/>
            <a:r>
              <a:t>What you want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wrap="square">
            <a:normAutofit/>
          </a:bodyPr>
          <a:lstStyle/>
          <a:p/>
          <a:p>
            <a:r>
              <a:t>&lt;img src="images/CODE-30.jpg" style="width: 100%;" /&gt;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Day</a:t>
                      </a:r>
                    </a:p>
                  </a:txBody>
                  <a:tcPr/>
                </a:tc>
                <a:tc>
                  <a:txBody>
                    <a:bodyPr/>
                    <a:lstStyle/>
                    <a:p>
                      <a:pPr>
                        <a:defRPr b="1" sz="1296"/>
                      </a:pPr>
                      <a:r>
                        <a:t>Theme</a:t>
                      </a:r>
                    </a:p>
                  </a:txBody>
                  <a:tcPr/>
                </a:tc>
              </a:tr>
              <a:tr h="457200">
                <a:tc>
                  <a:txBody>
                    <a:bodyPr/>
                    <a:lstStyle/>
                    <a:p>
                      <a:r>
                        <a:t>Monday</a:t>
                      </a:r>
                    </a:p>
                  </a:txBody>
                  <a:tcPr/>
                </a:tc>
                <a:tc>
                  <a:txBody>
                    <a:bodyPr/>
                    <a:lstStyle/>
                    <a:p>
                      <a:r>
                        <a:t>AI Guardrails, Instructions</a:t>
                      </a:r>
                    </a:p>
                  </a:txBody>
                  <a:tcPr/>
                </a:tc>
              </a:tr>
              <a:tr h="457200">
                <a:tc>
                  <a:txBody>
                    <a:bodyPr/>
                    <a:lstStyle/>
                    <a:p>
                      <a:r>
                        <a:t>Tuesday</a:t>
                      </a:r>
                    </a:p>
                  </a:txBody>
                  <a:tcPr/>
                </a:tc>
                <a:tc>
                  <a:txBody>
                    <a:bodyPr/>
                    <a:lstStyle/>
                    <a:p>
                      <a:r>
                        <a:t>AI Guardrails, Prompts</a:t>
                      </a:r>
                    </a:p>
                  </a:txBody>
                  <a:tcPr/>
                </a:tc>
              </a:tr>
              <a:tr h="457200">
                <a:tc>
                  <a:txBody>
                    <a:bodyPr/>
                    <a:lstStyle/>
                    <a:p>
                      <a:r>
                        <a:t>Wednesday</a:t>
                      </a:r>
                    </a:p>
                  </a:txBody>
                  <a:tcPr/>
                </a:tc>
                <a:tc>
                  <a:txBody>
                    <a:bodyPr/>
                    <a:lstStyle/>
                    <a:p>
                      <a:r>
                        <a:t>AI Guardrails, Agents</a:t>
                      </a:r>
                    </a:p>
                  </a:txBody>
                  <a:tcPr/>
                </a:tc>
              </a:tr>
              <a:tr h="457200">
                <a:tc>
                  <a:txBody>
                    <a:bodyPr/>
                    <a:lstStyle/>
                    <a:p>
                      <a:r>
                        <a:t>Thursday</a:t>
                      </a:r>
                    </a:p>
                  </a:txBody>
                  <a:tcPr/>
                </a:tc>
                <a:tc>
                  <a:txBody>
                    <a:bodyPr/>
                    <a:lstStyle/>
                    <a:p>
                      <a:r>
                        <a:t>AI Assisted Brownfield Software Development</a:t>
                      </a:r>
                    </a:p>
                  </a:txBody>
                  <a:tcPr/>
                </a:tc>
              </a:tr>
              <a:tr h="457200">
                <a:tc>
                  <a:txBody>
                    <a:bodyPr/>
                    <a:lstStyle/>
                    <a:p>
                      <a:r>
                        <a:t>Friday</a:t>
                      </a:r>
                    </a:p>
                  </a:txBody>
                  <a:tcPr/>
                </a:tc>
                <a:tc>
                  <a:txBody>
                    <a:bodyPr/>
                    <a:lstStyle/>
                    <a:p>
                      <a:r>
                        <a:t>AI Assisted Greenfield Software Development</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AI Assisted Software Development</a:t>
            </a:r>
          </a:p>
          <a:p>
            <a:pPr/>
            <a:r>
              <a:t>Intro to Copilot</a:t>
            </a:r>
          </a:p>
          <a:p>
            <a:pPr/>
            <a:r>
              <a:t>AI Assistance in Action</a:t>
            </a:r>
          </a:p>
          <a:p>
            <a:pPr/>
            <a:r>
              <a:t>Adding AI Guardrails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wrap="square">
            <a:normAutofit/>
          </a:bodyPr>
          <a:lstStyle/>
          <a:p/>
          <a:p>
            <a:r>
              <a:rPr i="1"/>
              <a:t>"Programming hasn't changed, but how we go about it has changed, again."</a:t>
            </a:r>
          </a:p>
          <a:p/>
          <a:p>
            <a:pPr/>
            <a:r>
              <a:t>AI-assisted development is </a:t>
            </a:r>
            <a:r>
              <a:rPr b="1"/>
              <a:t>evolutionary</a:t>
            </a:r>
            <a:r>
              <a:t>, not revolutionary</a:t>
            </a:r>
          </a:p>
          <a:p>
            <a:pPr/>
            <a:r>
              <a:t>Programming has always been about </a:t>
            </a:r>
            <a:r>
              <a:rPr b="1"/>
              <a:t>expressing human intent</a:t>
            </a:r>
            <a:r>
              <a:t> to machines</a:t>
            </a:r>
          </a:p>
          <a:p>
            <a:pPr/>
            <a:r>
              <a:t>What changes is the </a:t>
            </a:r>
            <a:r>
              <a:rPr b="1"/>
              <a:t>sophistication of our tools</a:t>
            </a:r>
            <a:r>
              <a:t> for expressing intent</a:t>
            </a:r>
          </a:p>
          <a:p>
            <a:pPr/>
            <a:r>
              <a:t>The essence remains: bridging the gap between what we want and what machines can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Brief History: Machine Code &amp; Assembly (1940s)</a:t>
            </a:r>
          </a:p>
        </p:txBody>
      </p:sp>
      <p:sp>
        <p:nvSpPr>
          <p:cNvPr id="3" name="Content Placeholder 2"/>
          <p:cNvSpPr>
            <a:spLocks noGrp="1"/>
          </p:cNvSpPr>
          <p:nvPr>
            <p:ph idx="1"/>
          </p:nvPr>
        </p:nvSpPr>
        <p:spPr/>
        <p:txBody>
          <a:bodyPr wrap="square">
            <a:normAutofit/>
          </a:bodyPr>
          <a:lstStyle/>
          <a:p/>
          <a:p>
            <a:pPr/>
            <a:r>
              <a:rPr b="1"/>
              <a:t>Machine Code</a:t>
            </a:r>
            <a:r>
              <a:t>: Raw binary language executed directly by hardware</a:t>
            </a:r>
          </a:p>
          <a:p>
            <a:pPr/>
            <a:r>
              <a:rPr b="1"/>
              <a:t>Physical Programming</a:t>
            </a:r>
            <a:r>
              <a:t>:</a:t>
            </a:r>
          </a:p>
          <a:p>
            <a:r>
              <a:t>  - Flipping panel switches</a:t>
            </a:r>
          </a:p>
          <a:p>
            <a:r>
              <a:t>  - Plugging cables</a:t>
            </a:r>
          </a:p>
          <a:p>
            <a:r>
              <a:t>  - Feeding punched cards into IBM readers</a:t>
            </a:r>
          </a:p>
          <a:p>
            <a:r>
              <a:t>  - Threading perforated paper tape</a:t>
            </a:r>
          </a:p>
          <a:p/>
          <a:p>
            <a:r>
              <a:rPr b="1"/>
              <a:t>Assembly Language</a:t>
            </a:r>
            <a:r>
              <a:t>: Introduced symbolic mnemonics (MOV, ADD, JMP)</a:t>
            </a:r>
          </a:p>
          <a:p/>
          <a:p>
            <a:pPr/>
            <a:r>
              <a:rPr b="1"/>
              <a:t>Enabling Technology</a:t>
            </a:r>
            <a:r>
              <a:t>: Assemblers that translated mnemonics into machine code</a:t>
            </a:r>
          </a:p>
          <a:p>
            <a:pPr/>
            <a:r>
              <a:t>Still mainstream today in embedded systems and OS kernels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Languages (1950s-1970s)</a:t>
            </a:r>
          </a:p>
        </p:txBody>
      </p:sp>
      <p:sp>
        <p:nvSpPr>
          <p:cNvPr id="3" name="Content Placeholder 2"/>
          <p:cNvSpPr>
            <a:spLocks noGrp="1"/>
          </p:cNvSpPr>
          <p:nvPr>
            <p:ph idx="1"/>
          </p:nvPr>
        </p:nvSpPr>
        <p:spPr/>
        <p:txBody>
          <a:bodyPr wrap="square">
            <a:normAutofit/>
          </a:bodyPr>
          <a:lstStyle/>
          <a:p/>
          <a:p>
            <a:r>
              <a:rPr b="1"/>
              <a:t>The Abstraction Revolution</a:t>
            </a:r>
            <a:r>
              <a:t>:</a:t>
            </a:r>
          </a:p>
          <a:p/>
          <a:p>
            <a:pPr/>
            <a:r>
              <a:t>Math-like and business-oriented syntax</a:t>
            </a:r>
          </a:p>
          <a:p>
            <a:pPr/>
            <a:r>
              <a:rPr b="1"/>
              <a:t>Enabling Technologies</a:t>
            </a:r>
            <a:r>
              <a:t>: Compilers and interpreters</a:t>
            </a:r>
          </a:p>
          <a:p/>
          <a:p>
            <a:r>
              <a:rPr b="1"/>
              <a:t>Key Languages</a:t>
            </a:r>
            <a:r>
              <a:t>:</a:t>
            </a:r>
          </a:p>
          <a:p/>
          <a:p>
            <a:pPr/>
            <a:r>
              <a:rPr b="1"/>
              <a:t>FORTRAN (1957)</a:t>
            </a:r>
            <a:r>
              <a:t>: Pioneered scientific programming</a:t>
            </a:r>
          </a:p>
          <a:p>
            <a:pPr/>
            <a:r>
              <a:rPr b="1"/>
              <a:t>COBOL (1959)</a:t>
            </a:r>
            <a:r>
              <a:t>: Mainstream in business and government</a:t>
            </a:r>
          </a:p>
          <a:p>
            <a:pPr/>
            <a:r>
              <a:rPr b="1"/>
              <a:t>C (1972)</a:t>
            </a:r>
            <a:r>
              <a:t>: Spread with UNIX thanks to portable compilers</a:t>
            </a:r>
          </a:p>
          <a:p/>
          <a:p>
            <a:r>
              <a:rPr b="1"/>
              <a:t>Sensory Shift</a:t>
            </a:r>
            <a:r>
              <a:t>: From mechanical card punches to typewriter-style terminals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&amp; Object-Oriented Programming (1970s-1980s)</a:t>
            </a:r>
          </a:p>
        </p:txBody>
      </p:sp>
      <p:sp>
        <p:nvSpPr>
          <p:cNvPr id="3" name="Content Placeholder 2"/>
          <p:cNvSpPr>
            <a:spLocks noGrp="1"/>
          </p:cNvSpPr>
          <p:nvPr>
            <p:ph idx="1"/>
          </p:nvPr>
        </p:nvSpPr>
        <p:spPr/>
        <p:txBody>
          <a:bodyPr wrap="square">
            <a:normAutofit/>
          </a:bodyPr>
          <a:lstStyle/>
          <a:p/>
          <a:p>
            <a:r>
              <a:rPr b="1"/>
              <a:t>Focus</a:t>
            </a:r>
            <a:r>
              <a:t>: Modularity, reuse, and abstraction</a:t>
            </a:r>
          </a:p>
          <a:p/>
          <a:p>
            <a:r>
              <a:rPr b="1"/>
              <a:t>Key Developments</a:t>
            </a:r>
            <a:r>
              <a:t>:</a:t>
            </a:r>
          </a:p>
          <a:p/>
          <a:p>
            <a:pPr/>
            <a:r>
              <a:rPr b="1"/>
              <a:t>Pascal (1970)</a:t>
            </a:r>
            <a:r>
              <a:t>: Structured paradigms with compiler innovations</a:t>
            </a:r>
          </a:p>
          <a:p>
            <a:pPr/>
            <a:r>
              <a:rPr b="1"/>
              <a:t>C++ (1985)</a:t>
            </a:r>
            <a:r>
              <a:t>: Object-oriented compilers supporting inheritance and polymorphism</a:t>
            </a:r>
          </a:p>
          <a:p/>
          <a:p>
            <a:r>
              <a:rPr b="1"/>
              <a:t>Enabling Technologies</a:t>
            </a:r>
            <a:r>
              <a:t>:</a:t>
            </a:r>
          </a:p>
          <a:p/>
          <a:p>
            <a:pPr/>
            <a:r>
              <a:t>Advanced compiler innovations</a:t>
            </a:r>
          </a:p>
          <a:p>
            <a:pPr/>
            <a:r>
              <a:t>Support for inheritance and polymorphism</a:t>
            </a:r>
          </a:p>
          <a:p/>
          <a:p>
            <a:r>
              <a:rPr b="1"/>
              <a:t>Era Experience</a:t>
            </a:r>
            <a:r>
              <a:t>: CRT monitors with green text, floppy disks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wrap="square">
            <a:normAutofit/>
          </a:bodyPr>
          <a:lstStyle/>
          <a:p/>
          <a:p>
            <a:r>
              <a:rPr b="1"/>
              <a:t>The Integration Era</a:t>
            </a:r>
            <a:r>
              <a:t>:</a:t>
            </a:r>
          </a:p>
          <a:p/>
          <a:p>
            <a:pPr/>
            <a:r>
              <a:rPr b="1"/>
              <a:t>IDEs</a:t>
            </a:r>
            <a:r>
              <a:t>: Combined compilers, debuggers, and editors in graphical interfaces</a:t>
            </a:r>
          </a:p>
          <a:p>
            <a:pPr/>
            <a:r>
              <a:rPr b="1"/>
              <a:t>Visual Studio</a:t>
            </a:r>
            <a:r>
              <a:t>: Enabled by faster processors and GUI toolkits</a:t>
            </a:r>
          </a:p>
          <a:p>
            <a:pPr/>
            <a:r>
              <a:rPr b="1"/>
              <a:t>Java &amp; JVM (1995)</a:t>
            </a:r>
            <a:r>
              <a:t>: "Write once, run anywhere"</a:t>
            </a:r>
          </a:p>
          <a:p>
            <a:pPr/>
            <a:r>
              <a:rPr b="1"/>
              <a:t>Reusable Libraries</a:t>
            </a:r>
            <a:r>
              <a:t>: Abstracted common functionality</a:t>
            </a:r>
          </a:p>
          <a:p/>
          <a:p>
            <a:r>
              <a:rPr b="1"/>
              <a:t>Enabling Technologies</a:t>
            </a:r>
            <a:r>
              <a:t>:</a:t>
            </a:r>
          </a:p>
          <a:p/>
          <a:p>
            <a:pPr/>
            <a:r>
              <a:t>Faster processors, GUI toolkits, extensible plug-in architectures</a:t>
            </a:r>
          </a:p>
          <a:p>
            <a:pPr/>
            <a:r>
              <a:t>Virtual machines</a:t>
            </a:r>
          </a:p>
          <a:p/>
          <a:p>
            <a:r>
              <a:rPr b="1"/>
              <a:t>Experience</a:t>
            </a:r>
            <a:r>
              <a:t>: Mouse clicks, drag-and-drop, desktop computing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&amp; Scripting Languages (Late 1990s-2000s)</a:t>
            </a:r>
          </a:p>
        </p:txBody>
      </p:sp>
      <p:sp>
        <p:nvSpPr>
          <p:cNvPr id="3" name="Content Placeholder 2"/>
          <p:cNvSpPr>
            <a:spLocks noGrp="1"/>
          </p:cNvSpPr>
          <p:nvPr>
            <p:ph idx="1"/>
          </p:nvPr>
        </p:nvSpPr>
        <p:spPr/>
        <p:txBody>
          <a:bodyPr wrap="square">
            <a:normAutofit/>
          </a:bodyPr>
          <a:lstStyle/>
          <a:p/>
          <a:p>
            <a:r>
              <a:rPr b="1"/>
              <a:t>The Dynamic Web Era</a:t>
            </a:r>
            <a:r>
              <a:t>:</a:t>
            </a:r>
          </a:p>
          <a:p/>
          <a:p>
            <a:pPr/>
            <a:r>
              <a:rPr b="1"/>
              <a:t>JavaScript (1995)</a:t>
            </a:r>
            <a:r>
              <a:t>: Powered by Netscape, later V8 engine (2008)</a:t>
            </a:r>
          </a:p>
          <a:p>
            <a:pPr/>
            <a:r>
              <a:rPr b="1"/>
              <a:t>Python</a:t>
            </a:r>
            <a:r>
              <a:t>: Web development in 2000s, data science dominance</a:t>
            </a:r>
          </a:p>
          <a:p>
            <a:pPr/>
            <a:r>
              <a:rPr b="1"/>
              <a:t>Ruby on Rails (2004)</a:t>
            </a:r>
            <a:r>
              <a:t>: Abstracted web complexity</a:t>
            </a:r>
          </a:p>
          <a:p/>
          <a:p>
            <a:r>
              <a:rPr b="1"/>
              <a:t>Enabling Technologies</a:t>
            </a:r>
            <a:r>
              <a:t>:</a:t>
            </a:r>
          </a:p>
          <a:p/>
          <a:p>
            <a:pPr/>
            <a:r>
              <a:t>Browser engines, dynamic interpreters, frameworks</a:t>
            </a:r>
          </a:p>
          <a:p>
            <a:pPr/>
            <a:r>
              <a:t>Eclipse IDE (2001)</a:t>
            </a:r>
          </a:p>
          <a:p/>
          <a:p>
            <a:r>
              <a:rPr b="1"/>
              <a:t>Experience</a:t>
            </a:r>
            <a:r>
              <a:t>: Portable coding on laptops, coffee shop programming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APIs &amp; Low-Code Platforms (2010s)</a:t>
            </a:r>
          </a:p>
        </p:txBody>
      </p:sp>
      <p:sp>
        <p:nvSpPr>
          <p:cNvPr id="3" name="Content Placeholder 2"/>
          <p:cNvSpPr>
            <a:spLocks noGrp="1"/>
          </p:cNvSpPr>
          <p:nvPr>
            <p:ph idx="1"/>
          </p:nvPr>
        </p:nvSpPr>
        <p:spPr/>
        <p:txBody>
          <a:bodyPr wrap="square">
            <a:normAutofit/>
          </a:bodyPr>
          <a:lstStyle/>
          <a:p/>
          <a:p>
            <a:r>
              <a:rPr b="1"/>
              <a:t>The Orchestration Era</a:t>
            </a:r>
            <a:r>
              <a:t>:</a:t>
            </a:r>
          </a:p>
          <a:p/>
          <a:p>
            <a:pPr/>
            <a:r>
              <a:rPr b="1"/>
              <a:t>Cloud Computing</a:t>
            </a:r>
            <a:r>
              <a:t>: Virtualization and containerization (Docker, Kubernetes)</a:t>
            </a:r>
          </a:p>
          <a:p>
            <a:pPr/>
            <a:r>
              <a:rPr b="1"/>
              <a:t>APIs</a:t>
            </a:r>
            <a:r>
              <a:t>: REST and GraphQL enabled modular integration</a:t>
            </a:r>
          </a:p>
          <a:p>
            <a:pPr/>
            <a:r>
              <a:rPr b="1"/>
              <a:t>Low-Code Platforms</a:t>
            </a:r>
            <a:r>
              <a:t>: Mendix, OutSystems, PowerApps with visual compilers</a:t>
            </a:r>
          </a:p>
          <a:p/>
          <a:p>
            <a:r>
              <a:rPr b="1"/>
              <a:t>Transformation</a:t>
            </a:r>
            <a:r>
              <a:t>: Programming shifted from hardware-bound tasks to orchestration</a:t>
            </a:r>
          </a:p>
          <a:p/>
          <a:p>
            <a:r>
              <a:rPr b="1"/>
              <a:t>Experience</a:t>
            </a:r>
            <a:r>
              <a:t>: Browser dashboards, swiping, clicking, dragging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Modern Mainstream Coding Experience</a:t>
            </a:r>
          </a:p>
        </p:txBody>
      </p:sp>
      <p:sp>
        <p:nvSpPr>
          <p:cNvPr id="3" name="Content Placeholder 2"/>
          <p:cNvSpPr>
            <a:spLocks noGrp="1"/>
          </p:cNvSpPr>
          <p:nvPr>
            <p:ph idx="1"/>
          </p:nvPr>
        </p:nvSpPr>
        <p:spPr/>
        <p:txBody>
          <a:bodyPr wrap="square">
            <a:normAutofit/>
          </a:bodyPr>
          <a:lstStyle/>
          <a:p/>
          <a:p>
            <a:r>
              <a:rPr b="1"/>
              <a:t>Intent Interpretation</a:t>
            </a:r>
            <a:r>
              <a:t>:</a:t>
            </a:r>
          </a:p>
          <a:p/>
          <a:p>
            <a:pPr/>
            <a:r>
              <a:t>Developers express intent in higher-level languages, frameworks, and APIs</a:t>
            </a:r>
          </a:p>
          <a:p>
            <a:pPr/>
            <a:r>
              <a:t>Compilers, interpreters, and VMs translate intent into executable code</a:t>
            </a:r>
          </a:p>
          <a:p>
            <a:pPr/>
            <a:r>
              <a:t>Libraries and cloud services provide ready-made building blocks</a:t>
            </a:r>
          </a:p>
          <a:p>
            <a:pPr/>
            <a:r>
              <a:t>Less about micromanaging hardware, more about shaping logic and workflows</a:t>
            </a:r>
          </a:p>
          <a:p/>
          <a:p>
            <a:r>
              <a:rPr b="1"/>
              <a:t>The Core</a:t>
            </a:r>
            <a:r>
              <a:t>: Bridging human goals with machine execution through layers of abstraction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Coding (Present/Future)</a:t>
            </a:r>
          </a:p>
        </p:txBody>
      </p:sp>
      <p:sp>
        <p:nvSpPr>
          <p:cNvPr id="3" name="Content Placeholder 2"/>
          <p:cNvSpPr>
            <a:spLocks noGrp="1"/>
          </p:cNvSpPr>
          <p:nvPr>
            <p:ph idx="1"/>
          </p:nvPr>
        </p:nvSpPr>
        <p:spPr/>
        <p:txBody>
          <a:bodyPr wrap="square">
            <a:normAutofit/>
          </a:bodyPr>
          <a:lstStyle/>
          <a:p/>
          <a:p>
            <a:r>
              <a:rPr b="1"/>
              <a:t>The Natural Language Era</a:t>
            </a:r>
            <a:r>
              <a:t>:</a:t>
            </a:r>
          </a:p>
          <a:p/>
          <a:p>
            <a:r>
              <a:rPr b="1"/>
              <a:t>Enabling Technologies</a:t>
            </a:r>
            <a:r>
              <a:t>:</a:t>
            </a:r>
          </a:p>
          <a:p/>
          <a:p>
            <a:pPr/>
            <a:r>
              <a:t>Large language models trained on vast code repositories</a:t>
            </a:r>
          </a:p>
          <a:p>
            <a:pPr/>
            <a:r>
              <a:t>Contextual intent recognition</a:t>
            </a:r>
          </a:p>
          <a:p>
            <a:pPr/>
            <a:r>
              <a:t>IDE integration</a:t>
            </a:r>
          </a:p>
          <a:p/>
          <a:p>
            <a:r>
              <a:rPr b="1"/>
              <a:t>The Paradigm Shift</a:t>
            </a:r>
            <a:r>
              <a:t>: Programming becomes </a:t>
            </a:r>
            <a:r>
              <a:rPr b="1"/>
              <a:t>dialogue</a:t>
            </a:r>
          </a:p>
          <a:p/>
          <a:p>
            <a:pPr/>
            <a:r>
              <a:t>Express goals in plain language</a:t>
            </a:r>
          </a:p>
          <a:p>
            <a:pPr/>
            <a:r>
              <a:t>AI generates code, tests, and documentation</a:t>
            </a:r>
          </a:p>
          <a:p>
            <a:pPr/>
            <a:r>
              <a:t>Example: "Create a function that validates email addresses" → Complete implementation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Natural Language Coding: The Game Changer</a:t>
            </a:r>
          </a:p>
        </p:txBody>
      </p:sp>
      <p:sp>
        <p:nvSpPr>
          <p:cNvPr id="3" name="Content Placeholder 2"/>
          <p:cNvSpPr>
            <a:spLocks noGrp="1"/>
          </p:cNvSpPr>
          <p:nvPr>
            <p:ph idx="1"/>
          </p:nvPr>
        </p:nvSpPr>
        <p:spPr/>
        <p:txBody>
          <a:bodyPr wrap="square">
            <a:normAutofit/>
          </a:bodyPr>
          <a:lstStyle/>
          <a:p/>
          <a:p>
            <a:r>
              <a:rPr b="1"/>
              <a:t>Responsibility Shift</a:t>
            </a:r>
            <a:r>
              <a:t>:</a:t>
            </a:r>
          </a:p>
          <a:p/>
          <a:p>
            <a:pPr/>
            <a:r>
              <a:t>Previously: Coder translates intent into executable code</a:t>
            </a:r>
          </a:p>
          <a:p>
            <a:pPr/>
            <a:r>
              <a:t>Now: Intent expressed in natural language, AI interprets and generates</a:t>
            </a:r>
          </a:p>
          <a:p/>
          <a:p>
            <a:r>
              <a:rPr b="1"/>
              <a:t>New Role of Programmer</a:t>
            </a:r>
            <a:r>
              <a:t>:</a:t>
            </a:r>
          </a:p>
          <a:p/>
          <a:p>
            <a:pPr/>
            <a:r>
              <a:rPr b="1"/>
              <a:t>Curator of context</a:t>
            </a:r>
          </a:p>
          <a:p>
            <a:pPr/>
            <a:r>
              <a:rPr b="1"/>
              <a:t>Validator of output</a:t>
            </a:r>
          </a:p>
          <a:p>
            <a:pPr/>
            <a:r>
              <a:rPr b="1"/>
              <a:t>Steward of alignment</a:t>
            </a:r>
            <a:r>
              <a:t> between human goals and machine behavior</a:t>
            </a:r>
          </a:p>
          <a:p/>
          <a:p>
            <a:r>
              <a:rPr b="1"/>
              <a:t>Boundary Movement</a:t>
            </a:r>
            <a:r>
              <a:t>: Between domain expertise and implementation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Understands Intent—Not Just Commands</a:t>
            </a:r>
          </a:p>
        </p:txBody>
      </p:sp>
      <p:sp>
        <p:nvSpPr>
          <p:cNvPr id="3" name="Content Placeholder 2"/>
          <p:cNvSpPr>
            <a:spLocks noGrp="1"/>
          </p:cNvSpPr>
          <p:nvPr>
            <p:ph idx="1"/>
          </p:nvPr>
        </p:nvSpPr>
        <p:spPr/>
        <p:txBody>
          <a:bodyPr wrap="square">
            <a:normAutofit/>
          </a:bodyPr>
          <a:lstStyle/>
          <a:p/>
          <a:p>
            <a:r>
              <a:rPr b="1"/>
              <a:t>Beyond Parsing</a:t>
            </a:r>
            <a:r>
              <a:t>: AI understands what you mean</a:t>
            </a:r>
          </a:p>
          <a:p/>
          <a:p>
            <a:pPr/>
            <a:r>
              <a:t>"Make this faster" → Performance optimizations</a:t>
            </a:r>
          </a:p>
          <a:p>
            <a:pPr/>
            <a:r>
              <a:t>"Add error handling" → Proper exception management</a:t>
            </a:r>
          </a:p>
          <a:p>
            <a:pPr/>
            <a:r>
              <a:t>"Log the output" → Appropriate logging implementation</a:t>
            </a:r>
          </a:p>
          <a:p/>
          <a:p>
            <a:r>
              <a:rPr b="1"/>
              <a:t>New Interaction Modes</a:t>
            </a:r>
            <a:r>
              <a:t>:</a:t>
            </a:r>
          </a:p>
          <a:p/>
          <a:p>
            <a:pPr/>
            <a:r>
              <a:t>Sketches and examples as expressions of intent</a:t>
            </a:r>
          </a:p>
          <a:p>
            <a:pPr/>
            <a:r>
              <a:t>Test cases and bug reports → Code generation</a:t>
            </a:r>
          </a:p>
          <a:p>
            <a:pPr/>
            <a:r>
              <a:t>Conversational iteration like human collaboration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wrap="square">
            <a:normAutofit/>
          </a:bodyPr>
          <a:lstStyle/>
          <a:p/>
          <a:p>
            <a:r>
              <a:rPr b="1"/>
              <a:t>Historical Perspective</a:t>
            </a:r>
            <a:r>
              <a:t>:</a:t>
            </a:r>
          </a:p>
          <a:p/>
          <a:p>
            <a:pPr/>
            <a:r>
              <a:rPr b="1"/>
              <a:t>IDEs</a:t>
            </a:r>
            <a:r>
              <a:t>: Auto-complete and debugging</a:t>
            </a:r>
          </a:p>
          <a:p>
            <a:pPr/>
            <a:r>
              <a:rPr b="1"/>
              <a:t>Libraries</a:t>
            </a:r>
            <a:r>
              <a:t>: Reusable components</a:t>
            </a:r>
          </a:p>
          <a:p>
            <a:pPr/>
            <a:r>
              <a:rPr b="1"/>
              <a:t>AI</a:t>
            </a:r>
            <a:r>
              <a:t>: Intelligent scaffolding, pattern recognition, code generation</a:t>
            </a:r>
          </a:p>
          <a:p/>
          <a:p>
            <a:r>
              <a:rPr b="1"/>
              <a:t>Reality Check</a:t>
            </a:r>
            <a:r>
              <a:t>:</a:t>
            </a:r>
          </a:p>
          <a:p/>
          <a:p>
            <a:pPr/>
            <a:r>
              <a:t>AI is not replacing developers</a:t>
            </a:r>
          </a:p>
          <a:p>
            <a:pPr/>
            <a:r>
              <a:t>It's helping them move faster and think bigger</a:t>
            </a:r>
          </a:p>
          <a:p>
            <a:pPr/>
            <a:r>
              <a:t>Following the same pattern as previous innovations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wrap="square">
            <a:normAutofit/>
          </a:bodyPr>
          <a:lstStyle/>
          <a:p/>
          <a:p>
            <a:r>
              <a:rPr b="1"/>
              <a:t>Unchanged Responsibilities</a:t>
            </a:r>
            <a:r>
              <a:t>:</a:t>
            </a:r>
          </a:p>
          <a:p/>
          <a:p>
            <a:pPr/>
            <a:r>
              <a:rPr b="1"/>
              <a:t>Testing, review, and validation</a:t>
            </a:r>
            <a:r>
              <a:t> still required</a:t>
            </a:r>
          </a:p>
          <a:p>
            <a:pPr/>
            <a:r>
              <a:rPr b="1"/>
              <a:t>Architecture, correctness, security, ethics</a:t>
            </a:r>
            <a:r>
              <a:t> remain developer duties</a:t>
            </a:r>
          </a:p>
          <a:p>
            <a:pPr/>
            <a:r>
              <a:t>Critical thinking is still essential</a:t>
            </a:r>
          </a:p>
          <a:p/>
          <a:p>
            <a:r>
              <a:rPr b="1"/>
              <a:t>What Changed</a:t>
            </a:r>
            <a:r>
              <a:t>: How we express our goals</a:t>
            </a:r>
          </a:p>
          <a:p>
            <a:r>
              <a:rPr b="1"/>
              <a:t>What Didn't Change</a:t>
            </a:r>
            <a:r>
              <a:t>: Whether we need to think critically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Is Still Intent-Driven Development</a:t>
            </a:r>
          </a:p>
        </p:txBody>
      </p:sp>
      <p:sp>
        <p:nvSpPr>
          <p:cNvPr id="3" name="Content Placeholder 2"/>
          <p:cNvSpPr>
            <a:spLocks noGrp="1"/>
          </p:cNvSpPr>
          <p:nvPr>
            <p:ph idx="1"/>
          </p:nvPr>
        </p:nvSpPr>
        <p:spPr/>
        <p:txBody>
          <a:bodyPr wrap="square">
            <a:normAutofit/>
          </a:bodyPr>
          <a:lstStyle/>
          <a:p/>
          <a:p>
            <a:r>
              <a:rPr b="1"/>
              <a:t>Continuity</a:t>
            </a:r>
            <a:r>
              <a:t>:</a:t>
            </a:r>
          </a:p>
          <a:p/>
          <a:p>
            <a:pPr/>
            <a:r>
              <a:t>Core goal remains: getting computers to do what we need</a:t>
            </a:r>
          </a:p>
          <a:p>
            <a:pPr/>
            <a:r>
              <a:t>Instead of writing/debugging code → creating prompts and refining context</a:t>
            </a:r>
          </a:p>
          <a:p>
            <a:pPr/>
            <a:r>
              <a:t>Same learning curve pattern as all previous improvements</a:t>
            </a:r>
          </a:p>
          <a:p/>
          <a:p>
            <a:r>
              <a:rPr b="1"/>
              <a:t>Essential Truth</a:t>
            </a:r>
            <a:r>
              <a:t>: AI assistance is just another improvement in the long line of programming evolution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wrap="square">
            <a:normAutofit/>
          </a:bodyPr>
          <a:lstStyle/>
          <a:p/>
          <a:p>
            <a:r>
              <a:rPr b="1"/>
              <a:t>The Fundamental Truth</a:t>
            </a:r>
            <a:r>
              <a:t>:</a:t>
            </a:r>
          </a:p>
          <a:p/>
          <a:p>
            <a:pPr/>
            <a:r>
              <a:t>Programming has </a:t>
            </a:r>
            <a:r>
              <a:rPr b="1"/>
              <a:t>always</a:t>
            </a:r>
            <a:r>
              <a:t> been about translating human intent into machine action</a:t>
            </a:r>
          </a:p>
          <a:p>
            <a:pPr/>
            <a:r>
              <a:t>From punch cards to Python to AI prompts—the core challenge remains unchanged</a:t>
            </a:r>
          </a:p>
          <a:p>
            <a:pPr/>
            <a:r>
              <a:t>What evolves is not the essence of programming, but the sophistication of our tools</a:t>
            </a:r>
          </a:p>
          <a:p/>
          <a:p>
            <a:r>
              <a:rPr b="1"/>
              <a:t>AI's Role</a:t>
            </a:r>
            <a:r>
              <a:t>:</a:t>
            </a:r>
          </a:p>
          <a:p/>
          <a:p>
            <a:pPr/>
            <a:r>
              <a:t>Latest chapter in the ongoing story</a:t>
            </a:r>
          </a:p>
          <a:p>
            <a:pPr/>
            <a:r>
              <a:t>More intuitive ways to communicate with computers</a:t>
            </a:r>
          </a:p>
          <a:p>
            <a:pPr/>
            <a:r>
              <a:t>Preserves essential human responsibilities: design, validation, ethical oversight</a:t>
            </a:r>
          </a:p>
          <a:p/>
          <a:p>
            <a:r>
              <a:rPr b="1"/>
              <a:t>The Future</a:t>
            </a:r>
            <a:r>
              <a:t>: Not abandoning programming, but refining it—making it more accessible and efficient while keeping human creativity and judgment at the center.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wrap="square">
            <a:normAutofit/>
          </a:bodyPr>
          <a:lstStyle/>
          <a:p/>
          <a:p>
            <a:r>
              <a:t>What hasn't changed and what has.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AI Assisted Software Development</a:t>
            </a:r>
          </a:p>
        </p:txBody>
      </p:sp>
      <p:sp>
        <p:nvSpPr>
          <p:cNvPr id="3" name="Content Placeholder 2"/>
          <p:cNvSpPr>
            <a:spLocks noGrp="1"/>
          </p:cNvSpPr>
          <p:nvPr>
            <p:ph idx="1"/>
          </p:nvPr>
        </p:nvSpPr>
        <p:spPr/>
        <p:txBody>
          <a:bodyPr wrap="square">
            <a:normAutofit/>
          </a:bodyPr>
          <a:lstStyle/>
          <a:p/>
          <a:p>
            <a:r>
              <a:t>If used effectively, it will give you superpowers</a:t>
            </a:r>
          </a:p>
          <a:p/>
          <a:p>
            <a:pPr/>
            <a:r>
              <a:t>The courage to</a:t>
            </a:r>
          </a:p>
          <a:p>
            <a:r>
              <a:t>  - Take on codebases that few would touch</a:t>
            </a:r>
          </a:p>
          <a:p>
            <a:r>
              <a:t>  - Use technologies you should know but don't</a:t>
            </a:r>
          </a:p>
          <a:p>
            <a:r>
              <a:t>  - Write more high-quality code than you have ever written before</a:t>
            </a:r>
          </a:p>
          <a:p>
            <a:r>
              <a:t>  - Take on the nice to haves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AI-First &amp; Prompt-First</a:t>
            </a:r>
          </a:p>
        </p:txBody>
      </p:sp>
      <p:sp>
        <p:nvSpPr>
          <p:cNvPr id="3" name="Content Placeholder 2"/>
          <p:cNvSpPr>
            <a:spLocks noGrp="1"/>
          </p:cNvSpPr>
          <p:nvPr>
            <p:ph idx="1"/>
          </p:nvPr>
        </p:nvSpPr>
        <p:spPr/>
        <p:txBody>
          <a:bodyPr wrap="square">
            <a:normAutofit/>
          </a:bodyPr>
          <a:lstStyle/>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Focus Area</a:t>
                      </a:r>
                    </a:p>
                  </a:txBody>
                  <a:tcPr/>
                </a:tc>
                <a:tc>
                  <a:txBody>
                    <a:bodyPr/>
                    <a:lstStyle/>
                    <a:p>
                      <a:pPr>
                        <a:defRPr b="1" sz="1296"/>
                      </a:pPr>
                      <a:r>
                        <a:t>AI-First</a:t>
                      </a:r>
                    </a:p>
                  </a:txBody>
                  <a:tcPr/>
                </a:tc>
                <a:tc>
                  <a:txBody>
                    <a:bodyPr/>
                    <a:lstStyle/>
                    <a:p>
                      <a:pPr>
                        <a:defRPr b="1" sz="1296"/>
                      </a:pPr>
                      <a:r>
                        <a:t>Prompt-First</a:t>
                      </a:r>
                    </a:p>
                  </a:txBody>
                  <a:tcPr/>
                </a:tc>
              </a:tr>
              <a:tr h="457200">
                <a:tc>
                  <a:txBody>
                    <a:bodyPr/>
                    <a:lstStyle/>
                    <a:p>
                      <a:r>
                        <a:t>Scope</a:t>
                      </a:r>
                    </a:p>
                  </a:txBody>
                  <a:tcPr/>
                </a:tc>
                <a:tc>
                  <a:txBody>
                    <a:bodyPr/>
                    <a:lstStyle/>
                    <a:p>
                      <a:r>
                        <a:t>Entire SDLC</a:t>
                      </a:r>
                    </a:p>
                  </a:txBody>
                  <a:tcPr/>
                </a:tc>
                <a:tc>
                  <a:txBody>
                    <a:bodyPr/>
                    <a:lstStyle/>
                    <a:p>
                      <a:r>
                        <a:t>Interaction layer</a:t>
                      </a:r>
                    </a:p>
                  </a:txBody>
                  <a:tcPr/>
                </a:tc>
              </a:tr>
              <a:tr h="457200">
                <a:tc>
                  <a:txBody>
                    <a:bodyPr/>
                    <a:lstStyle/>
                    <a:p>
                      <a:r>
                        <a:t>Goal</a:t>
                      </a:r>
                    </a:p>
                  </a:txBody>
                  <a:tcPr/>
                </a:tc>
                <a:tc>
                  <a:txBody>
                    <a:bodyPr/>
                    <a:lstStyle/>
                    <a:p>
                      <a:r>
                        <a:t>Lifecycle integration</a:t>
                      </a:r>
                    </a:p>
                  </a:txBody>
                  <a:tcPr/>
                </a:tc>
                <a:tc>
                  <a:txBody>
                    <a:bodyPr/>
                    <a:lstStyle/>
                    <a:p>
                      <a:r>
                        <a:t>Deterministic AI behavior</a:t>
                      </a:r>
                    </a:p>
                  </a:txBody>
                  <a:tcPr/>
                </a:tc>
              </a:tr>
              <a:tr h="457200">
                <a:tc>
                  <a:txBody>
                    <a:bodyPr/>
                    <a:lstStyle/>
                    <a:p>
                      <a:r>
                        <a:t>Optimization</a:t>
                      </a:r>
                    </a:p>
                  </a:txBody>
                  <a:tcPr/>
                </a:tc>
                <a:tc>
                  <a:txBody>
                    <a:bodyPr/>
                    <a:lstStyle/>
                    <a:p>
                      <a:r>
                        <a:t>Velocity, governance</a:t>
                      </a:r>
                    </a:p>
                  </a:txBody>
                  <a:tcPr/>
                </a:tc>
                <a:tc>
                  <a:txBody>
                    <a:bodyPr/>
                    <a:lstStyle/>
                    <a:p>
                      <a:r>
                        <a:t>Prompt quality, reproducibility</a:t>
                      </a:r>
                    </a:p>
                  </a:txBody>
                  <a:tcPr/>
                </a:tc>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wrap="square">
            <a:normAutofit/>
          </a:bodyPr>
          <a:lstStyle/>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wrap="square">
            <a:normAutofit/>
          </a:bodyPr>
          <a:lstStyle/>
          <a:p/>
          <a:p>
            <a:r>
              <a:t>Prompt-First is a subset of AI-First.</a:t>
            </a:r>
          </a:p>
          <a:p>
            <a:r>
              <a:t>Prompt-First = mechanics</a:t>
            </a:r>
          </a:p>
          <a:p>
            <a:r>
              <a:t>AI-First = philosophy + architecture + lifecycle integration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idx="1"/>
          </p:nvPr>
        </p:nvSpPr>
        <p:spPr/>
        <p:txBody>
          <a:bodyPr wrap="square">
            <a:normAutofit/>
          </a:bodyPr>
          <a:lstStyle/>
          <a:p/>
          <a:p>
            <a:r>
              <a:t>Building software where AI is a core capability, not an add-on</a:t>
            </a:r>
          </a:p>
          <a:p>
            <a:r>
              <a:t>Why AI-First</a:t>
            </a:r>
          </a:p>
          <a:p/>
          <a:p>
            <a:pPr/>
            <a:r>
              <a:t>Software requirements increasingly expressed in natural language</a:t>
            </a:r>
          </a:p>
          <a:p>
            <a:pPr/>
            <a:r>
              <a:t>AI copilots accelerate architecture, coding, testing, and documentation</a:t>
            </a:r>
          </a:p>
          <a:p>
            <a:pPr/>
            <a:r>
              <a:t>Teams shift from “writing code” to “designing intent + validating outputs”</a:t>
            </a:r>
          </a:p>
          <a:p>
            <a:r>
              <a:t>  Core Principles</a:t>
            </a:r>
          </a:p>
          <a:p>
            <a:pPr/>
            <a:r>
              <a:t>Prompt-First Design: Requirements, architecture, and workflows expressed as structured prompts</a:t>
            </a:r>
          </a:p>
          <a:p>
            <a:pPr/>
            <a:r>
              <a:t>AI-Native Architecture: Modular services, clear boundaries, deterministic interfaces for AI-generated components</a:t>
            </a:r>
          </a:p>
          <a:p>
            <a:pPr/>
            <a:r>
              <a:t>Human-in-the-Loop: Review, validation, and traceability baked into every stage</a:t>
            </a:r>
          </a:p>
          <a:p>
            <a:pPr/>
            <a:r>
              <a:t>Continuous Verification: Automated tests, static analysis, and guardrails to ensure safe outputs</a:t>
            </a:r>
          </a:p>
          <a:p>
            <a:pPr/>
            <a:r>
              <a:t>Lifecycle Governance: Versioning, provenance, and risk-based controls for AI-generated artifacts</a:t>
            </a:r>
          </a:p>
          <a:p>
            <a:r>
              <a:t>  Outcomes</a:t>
            </a:r>
          </a:p>
          <a:p>
            <a:pPr/>
            <a:r>
              <a:t>Faster iteration cycles</a:t>
            </a:r>
          </a:p>
          <a:p>
            <a:pPr/>
            <a:r>
              <a:t>Higher coverage of documentation and tests</a:t>
            </a:r>
          </a:p>
          <a:p>
            <a:pPr/>
            <a:r>
              <a:t>Reduced cognitive load on developers</a:t>
            </a:r>
          </a:p>
          <a:p>
            <a:pPr/>
            <a:r>
              <a:t>More resilient, adaptable systems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Prompt-First Software Development</a:t>
            </a:r>
          </a:p>
        </p:txBody>
      </p:sp>
      <p:sp>
        <p:nvSpPr>
          <p:cNvPr id="3" name="Content Placeholder 2"/>
          <p:cNvSpPr>
            <a:spLocks noGrp="1"/>
          </p:cNvSpPr>
          <p:nvPr>
            <p:ph idx="1"/>
          </p:nvPr>
        </p:nvSpPr>
        <p:spPr/>
        <p:txBody>
          <a:bodyPr wrap="square">
            <a:normAutofit/>
          </a:bodyPr>
          <a:lstStyle/>
          <a:p/>
          <a:p>
            <a:r>
              <a:t>Design the intent first — let AI generate the implementation</a:t>
            </a:r>
          </a:p>
          <a:p>
            <a:r>
              <a:t>Why Prompt-First</a:t>
            </a:r>
          </a:p>
          <a:p/>
          <a:p>
            <a:pPr/>
            <a:r>
              <a:t>Behaviors, and constraints expressed in structured natural language</a:t>
            </a:r>
          </a:p>
          <a:p>
            <a:pPr/>
            <a:r>
              <a:t>Prompts become the new “source of truth” artifacts</a:t>
            </a:r>
          </a:p>
          <a:p>
            <a:pPr/>
            <a:r>
              <a:t>Teams shift from writing functions to defining outcomes, invariants, and interfaces</a:t>
            </a:r>
          </a:p>
          <a:p>
            <a:r>
              <a:t>  Core Practices</a:t>
            </a:r>
          </a:p>
          <a:p>
            <a:pPr/>
            <a:r>
              <a:t>Structured Prompts: Use templates for features, APIs, data models, tests, and refactors</a:t>
            </a:r>
          </a:p>
          <a:p>
            <a:pPr/>
            <a:r>
              <a:t>Instruction Files: Persistent, versioned artifacts guiding AI code generation</a:t>
            </a:r>
          </a:p>
          <a:p>
            <a:pPr/>
            <a:r>
              <a:t>Deterministic Boundaries: Clear module contracts so AI-generated code stays predictable</a:t>
            </a:r>
          </a:p>
          <a:p>
            <a:pPr/>
            <a:r>
              <a:t>Validation Loops: Automated tests + human review ensure correctness and safety</a:t>
            </a:r>
          </a:p>
          <a:p>
            <a:pPr/>
            <a:r>
              <a:t>Prompt Versioning: Track evolution of intent just like code changes</a:t>
            </a:r>
          </a:p>
          <a:p>
            <a:r>
              <a:t>  Benefits</a:t>
            </a:r>
          </a:p>
          <a:p>
            <a:pPr/>
            <a:r>
              <a:t>Faster iteration from idea → working software</a:t>
            </a:r>
          </a:p>
          <a:p>
            <a:pPr/>
            <a:r>
              <a:t>Higher consistency across generated components</a:t>
            </a:r>
          </a:p>
          <a:p>
            <a:pPr/>
            <a:r>
              <a:t>Reduced cognitive load on developers</a:t>
            </a:r>
          </a:p>
          <a:p>
            <a:pPr/>
            <a:r>
              <a:t>Better alignment between business intent and implementation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wrap="square">
            <a:normAutofit/>
          </a:bodyPr>
          <a:lstStyle/>
          <a:p/>
          <a:p>
            <a:r>
              <a:rPr b="1"/>
              <a:t>Prompt-First Example</a:t>
            </a:r>
          </a:p>
          <a:p/>
          <a:p>
            <a:pPr/>
            <a:r>
              <a:t>Promptfile for generating unit tests</a:t>
            </a:r>
          </a:p>
          <a:p>
            <a:pPr/>
            <a:r>
              <a:t>Instruction file for documentation</a:t>
            </a:r>
          </a:p>
          <a:p>
            <a:pPr/>
            <a:r>
              <a:t>Chat mode for brownfield developers</a:t>
            </a:r>
          </a:p>
          <a:p/>
          <a:p>
            <a:r>
              <a:rPr b="1"/>
              <a:t>AI-First Example</a:t>
            </a:r>
          </a:p>
          <a:p/>
          <a:p>
            <a:pPr/>
            <a:r>
              <a:t>Requirements → AI-generated scaffolds</a:t>
            </a:r>
          </a:p>
          <a:p>
            <a:pPr/>
            <a:r>
              <a:t>Code changes → AI-assisted reviews</a:t>
            </a:r>
          </a:p>
          <a:p>
            <a:pPr/>
            <a:r>
              <a:t>Docs → continuously AI-generated</a:t>
            </a:r>
          </a:p>
          <a:p>
            <a:pPr/>
            <a:r>
              <a:t>Modernization → AI-guided refactoring plans</a:t>
            </a:r>
          </a:p>
          <a:p>
            <a:pPr/>
            <a:r>
              <a:t>Provenance → enforced everywhere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**Shortest Summary**</a:t>
            </a:r>
          </a:p>
        </p:txBody>
      </p:sp>
      <p:sp>
        <p:nvSpPr>
          <p:cNvPr id="3" name="Content Placeholder 2"/>
          <p:cNvSpPr>
            <a:spLocks noGrp="1"/>
          </p:cNvSpPr>
          <p:nvPr>
            <p:ph idx="1"/>
          </p:nvPr>
        </p:nvSpPr>
        <p:spPr/>
        <p:txBody>
          <a:bodyPr wrap="square">
            <a:normAutofit/>
          </a:bodyPr>
          <a:lstStyle/>
          <a:p/>
          <a:p>
            <a:pPr/>
            <a:r>
              <a:rPr b="1"/>
              <a:t>AI-First = philosophy + architecture + lifecycle integration</a:t>
            </a:r>
          </a:p>
          <a:p>
            <a:pPr/>
            <a:r>
              <a:rPr b="1"/>
              <a:t>Prompt-First = structured, version-controlled interfaces for interacting with 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rPr b="1"/>
              <a:t>▶ Intro to Copilot</a:t>
            </a:r>
          </a:p>
          <a:p>
            <a:pPr/>
            <a:r>
              <a:t>AI Assistance in Action</a:t>
            </a:r>
          </a:p>
          <a:p>
            <a:pPr/>
            <a:r>
              <a:t>Adding AI Guardrails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wrap="square">
            <a:normAutofit/>
          </a:bodyPr>
          <a:lstStyle/>
          <a:p/>
          <a:p>
            <a:r>
              <a:t>Cloning course repository</a:t>
            </a:r>
          </a:p>
          <a:p>
            <a:r>
              <a:t>GitHub authentication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Clone the AI-Assisted-Software-Development Repository</a:t>
            </a:r>
          </a:p>
        </p:txBody>
      </p:sp>
      <p:sp>
        <p:nvSpPr>
          <p:cNvPr id="3" name="Content Placeholder 2"/>
          <p:cNvSpPr>
            <a:spLocks noGrp="1"/>
          </p:cNvSpPr>
          <p:nvPr>
            <p:ph idx="1" sz="half"/>
          </p:nvPr>
        </p:nvSpPr>
        <p:spPr/>
        <p:txBody>
          <a:bodyPr wrap="square">
            <a:normAutofit/>
          </a:bodyPr>
          <a:lstStyle/>
          <a:p/>
          <a:p>
            <a:r>
              <a:rPr b="1"/>
              <a:t>Setup and Objectives</a:t>
            </a:r>
          </a:p>
          <a:p/>
          <a:p>
            <a:r>
              <a:t>Prerequisites</a:t>
            </a:r>
          </a:p>
          <a:p/>
          <a:p>
            <a:pPr/>
            <a:r>
              <a:t>Git</a:t>
            </a:r>
          </a:p>
          <a:p>
            <a:pPr/>
            <a:r>
              <a:t>GitHub account</a:t>
            </a:r>
          </a:p>
          <a:p/>
          <a:p>
            <a:r>
              <a:t>Objectives</a:t>
            </a:r>
          </a:p>
          <a:p/>
          <a:p>
            <a:pPr/>
            <a:r>
              <a:t>Fork the AI-Assisted-Software-Development repository</a:t>
            </a:r>
          </a:p>
          <a:p>
            <a:pPr/>
            <a:r>
              <a:t>Clone your fork to your local machine</a:t>
            </a:r>
          </a:p>
          <a:p>
            <a:pPr/>
            <a:r>
              <a:t>Switch to the brownfield branch to confirm branch navigation</a:t>
            </a:r>
          </a:p>
        </p:txBody>
      </p:sp>
      <p:sp>
        <p:nvSpPr>
          <p:cNvPr id="4" name="Content Placeholder 3"/>
          <p:cNvSpPr>
            <a:spLocks noGrp="1"/>
          </p:cNvSpPr>
          <p:nvPr>
            <p:ph idx="2" sz="half"/>
          </p:nvPr>
        </p:nvSpPr>
        <p:spPr/>
        <p:txBody>
          <a:bodyPr wrap="square">
            <a:normAutofit/>
          </a:bodyPr>
          <a:lstStyle/>
          <a:p/>
          <a:p>
            <a:r>
              <a:rPr b="1"/>
              <a:t>Activities and Success Criteria</a:t>
            </a:r>
          </a:p>
          <a:p/>
          <a:p>
            <a:r>
              <a:t>Activities</a:t>
            </a:r>
          </a:p>
          <a:p/>
          <a:p>
            <a:r>
              <a:t>1. Search GitHub for AI-Assisted-Software-Development.</a:t>
            </a:r>
          </a:p>
          <a:p>
            <a:r>
              <a:t>2. Fork the repository into your GitHub account.</a:t>
            </a:r>
          </a:p>
          <a:p>
            <a:r>
              <a:t>3. Clone your fork locally with SSH or HTTPS.</a:t>
            </a:r>
          </a:p>
          <a:p>
            <a:r>
              <a:t>4. Open a terminal in the cloned repository.</a:t>
            </a:r>
          </a:p>
          <a:p>
            <a:r>
              <a:t>5. Switch to the brownfield branch.</a:t>
            </a:r>
          </a:p>
          <a:p/>
          <a:p>
            <a:r>
              <a:t>```bash</a:t>
            </a:r>
          </a:p>
          <a:p>
            <a:r>
              <a:t>git clone git@github.com:&lt;your-username&gt;/AI-Assisted-Software-Development.git</a:t>
            </a:r>
          </a:p>
          <a:p>
            <a:r>
              <a:t>cd AI-Assisted-Software-Development</a:t>
            </a:r>
          </a:p>
          <a:p>
            <a:r>
              <a:t>git checkout brownfield</a:t>
            </a:r>
          </a:p>
          <a:p>
            <a:r>
              <a:t>```</a:t>
            </a:r>
          </a:p>
          <a:p/>
          <a:p>
            <a:r>
              <a:t>Success Criteria</a:t>
            </a:r>
          </a:p>
          <a:p/>
          <a:p>
            <a:pPr/>
            <a:r>
              <a:t>Repository is forked under your GitHub account</a:t>
            </a:r>
          </a:p>
          <a:p>
            <a:pPr/>
            <a:r>
              <a:t>Cloned repository exists locally</a:t>
            </a:r>
          </a:p>
          <a:p>
            <a:pPr/>
            <a:r>
              <a:t>Brownfield branch is checked out successfully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AIASD-20260209-BF Repo</a:t>
            </a:r>
          </a:p>
        </p:txBody>
      </p:sp>
      <p:sp>
        <p:nvSpPr>
          <p:cNvPr id="3" name="Content Placeholder 2"/>
          <p:cNvSpPr>
            <a:spLocks noGrp="1"/>
          </p:cNvSpPr>
          <p:nvPr>
            <p:ph idx="1" sz="half"/>
          </p:nvPr>
        </p:nvSpPr>
        <p:spPr/>
        <p:txBody>
          <a:bodyPr wrap="square">
            <a:normAutofit/>
          </a:bodyPr>
          <a:lstStyle/>
          <a:p/>
          <a:p>
            <a:r>
              <a:rPr b="1"/>
              <a:t>Objectives</a:t>
            </a:r>
          </a:p>
          <a:p/>
          <a:p>
            <a:pPr/>
            <a:r>
              <a:t>Explore an unfamiliar codebase with a safe personal fork</a:t>
            </a:r>
          </a:p>
          <a:p>
            <a:pPr/>
            <a:r>
              <a:t>Clone and validate local access to the brownfield exercise repository</a:t>
            </a:r>
          </a:p>
          <a:p>
            <a:pPr/>
            <a:r>
              <a:t>Configure PAT-based authentication for GitHub operations</a:t>
            </a:r>
          </a:p>
        </p:txBody>
      </p:sp>
      <p:sp>
        <p:nvSpPr>
          <p:cNvPr id="4" name="Content Placeholder 3"/>
          <p:cNvSpPr>
            <a:spLocks noGrp="1"/>
          </p:cNvSpPr>
          <p:nvPr>
            <p:ph idx="2" sz="half"/>
          </p:nvPr>
        </p:nvSpPr>
        <p:spPr/>
        <p:txBody>
          <a:bodyPr wrap="square">
            <a:normAutofit/>
          </a:bodyPr>
          <a:lstStyle/>
          <a:p/>
          <a:p>
            <a:r>
              <a:rPr b="1"/>
              <a:t>Activities and Success Criteria</a:t>
            </a:r>
          </a:p>
          <a:p/>
          <a:p>
            <a:r>
              <a:t>Activities</a:t>
            </a:r>
          </a:p>
          <a:p/>
          <a:p>
            <a:r>
              <a:t>1. Open https://github.com/j0hnnymiller/AIASD-20260209-BF.git.</a:t>
            </a:r>
          </a:p>
          <a:p>
            <a:r>
              <a:t>2. Fork the repository to your personal GitHub account.</a:t>
            </a:r>
          </a:p>
          <a:p>
            <a:r>
              <a:t>3. Clone the forked repository locally.</a:t>
            </a:r>
          </a:p>
          <a:p>
            <a:r>
              <a:t>4. Create a GitHub PAT at https://github.com/settings/tokens.</a:t>
            </a:r>
          </a:p>
          <a:p>
            <a:r>
              <a:t>5. Store the token in the `GITHUB_TOKEN` environment variable.</a:t>
            </a:r>
          </a:p>
          <a:p/>
          <a:p>
            <a:r>
              <a:t>```bash</a:t>
            </a:r>
          </a:p>
          <a:p>
            <a:r>
              <a:t># PowerShell</a:t>
            </a:r>
          </a:p>
          <a:p>
            <a:r>
              <a:t>$env:GITHUB_TOKEN = "&lt;your-pat&gt;"</a:t>
            </a:r>
          </a:p>
          <a:p/>
          <a:p>
            <a:r>
              <a:t># Bash</a:t>
            </a:r>
          </a:p>
          <a:p>
            <a:r>
              <a:t>export GITHUB_TOKEN="&lt;your-pat&gt;"</a:t>
            </a:r>
          </a:p>
          <a:p>
            <a:r>
              <a:t>```</a:t>
            </a:r>
          </a:p>
          <a:p/>
          <a:p>
            <a:r>
              <a:t>Success Criteria</a:t>
            </a:r>
          </a:p>
          <a:p/>
          <a:p>
            <a:pPr/>
            <a:r>
              <a:t>Forked repository exists in your GitHub account</a:t>
            </a:r>
          </a:p>
          <a:p>
            <a:pPr/>
            <a:r>
              <a:t>Repository is available locally and can be opened in VS Code</a:t>
            </a:r>
          </a:p>
          <a:p>
            <a:pPr/>
            <a:r>
              <a:t>`GITHUB_TOKEN` is set in the current shell session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sz="half"/>
          </p:nvPr>
        </p:nvSpPr>
        <p:spPr/>
        <p:txBody>
          <a:bodyPr wrap="square">
            <a:normAutofit/>
          </a:bodyPr>
          <a:lstStyle/>
          <a:p/>
          <a:p>
            <a:r>
              <a:rPr b="1"/>
              <a:t>Objective</a:t>
            </a:r>
          </a:p>
          <a:p/>
          <a:p>
            <a:pPr/>
            <a:r>
              <a:t>Fork the course repositories needed for independent practice</a:t>
            </a:r>
          </a:p>
        </p:txBody>
      </p:sp>
      <p:sp>
        <p:nvSpPr>
          <p:cNvPr id="4" name="Content Placeholder 3"/>
          <p:cNvSpPr>
            <a:spLocks noGrp="1"/>
          </p:cNvSpPr>
          <p:nvPr>
            <p:ph idx="2" sz="half"/>
          </p:nvPr>
        </p:nvSpPr>
        <p:spPr/>
        <p:txBody>
          <a:bodyPr wrap="square">
            <a:normAutofit/>
          </a:bodyPr>
          <a:lstStyle/>
          <a:p/>
          <a:p>
            <a:r>
              <a:rPr b="1"/>
              <a:t>Activities and Success Criteria</a:t>
            </a:r>
          </a:p>
          <a:p/>
          <a:p>
            <a:r>
              <a:t>Activities</a:t>
            </a:r>
          </a:p>
          <a:p/>
          <a:p>
            <a:r>
              <a:t>1. Search GitHub for the following repositories:</a:t>
            </a:r>
          </a:p>
          <a:p>
            <a:r>
              <a:t>   - AI-Assisted-Software-Development</a:t>
            </a:r>
          </a:p>
          <a:p>
            <a:r>
              <a:t>   - zeus.academia.3b</a:t>
            </a:r>
          </a:p>
          <a:p>
            <a:r>
              <a:t>2. Fork both repositories into your GitHub account.</a:t>
            </a:r>
          </a:p>
          <a:p>
            <a:r>
              <a:t>3. Confirm each fork appears under your account.</a:t>
            </a:r>
          </a:p>
          <a:p>
            <a:r>
              <a:t>4. Optional: clone each fork locally for offline work.</a:t>
            </a:r>
          </a:p>
          <a:p/>
          <a:p>
            <a:r>
              <a:t>Success Criteria</a:t>
            </a:r>
          </a:p>
          <a:p/>
          <a:p>
            <a:pPr/>
            <a:r>
              <a:t>Both repositories are forked to your GitHub account</a:t>
            </a:r>
          </a:p>
          <a:p>
            <a:pPr/>
            <a:r>
              <a:t>You can identify the original upstream repositories</a:t>
            </a:r>
          </a:p>
          <a:p>
            <a:pPr/>
            <a:r>
              <a:t>You can explain why forking protects the source repositories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wrap="square">
            <a:normAutofit/>
          </a:bodyPr>
          <a:lstStyle/>
          <a:p/>
          <a:p>
            <a:r>
              <a:t>Installation and configuration</a:t>
            </a:r>
          </a:p>
          <a:p/>
          <a:p>
            <a:pPr/>
            <a:r>
              <a:t>Installing the extension</a:t>
            </a:r>
          </a:p>
          <a:p>
            <a:pPr/>
            <a:r>
              <a:t>Setting up authentication</a:t>
            </a:r>
          </a:p>
          <a:p>
            <a:pPr/>
            <a:r>
              <a:t>Configuring settings</a:t>
            </a:r>
          </a:p>
          <a:p>
            <a:r>
              <a:t>  Sharing configuration across an organization</a:t>
            </a:r>
          </a:p>
          <a:p>
            <a:pPr/>
            <a:r>
              <a:t>Shared configuration templates (e.g., .copilot/settings.json) can be distributed across projects to standardize behavior.</a:t>
            </a:r>
          </a:p>
          <a:p>
            <a:r>
              <a:t>  https://www.codemag.com/Blog/AI/AIASD-install-guide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wrap="square">
            <a:normAutofit/>
          </a:bodyPr>
          <a:lstStyle/>
          <a:p/>
          <a:p>
            <a:r>
              <a:t>Add error handling to my code</a:t>
            </a:r>
          </a:p>
          <a:p/>
          <a:p>
            <a:pPr/>
            <a:r>
              <a:t>Result: Generic response asking what type of errors, what language, what code?</a:t>
            </a:r>
          </a:p>
          <a:p>
            <a:r>
              <a:t>  Add error handling to my JavaScript function that calls an external API. I want to handle network timeouts, 404 errors, and JSON parsing failures. Return user-friendly error messages.</a:t>
            </a:r>
          </a:p>
          <a:p>
            <a:pPr/>
            <a:r>
              <a:t>Result: Better, but still generic without seeing actual code structure</a:t>
            </a:r>
          </a:p>
          <a:p>
            <a:r>
              <a:t>  @file:api-client.js Add comprehensive error handling to the fetchUserData function. Handle network timeouts (&gt;5s), HTTP errors (404, 500, etc.), and JSON parsing failures.   Return user-friendly error messages that match our existing error format in @file:error-types.js</a:t>
            </a:r>
          </a:p>
          <a:p>
            <a:pPr/>
            <a:r>
              <a:t>Result: Specific implementation that matches existing code patterns\*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Copilot in different modes</a:t>
            </a:r>
          </a:p>
        </p:txBody>
      </p:sp>
      <p:sp>
        <p:nvSpPr>
          <p:cNvPr id="3" name="Content Placeholder 2"/>
          <p:cNvSpPr>
            <a:spLocks noGrp="1"/>
          </p:cNvSpPr>
          <p:nvPr>
            <p:ph idx="1"/>
          </p:nvPr>
        </p:nvSpPr>
        <p:spPr/>
        <p:txBody>
          <a:bodyPr wrap="square">
            <a:normAutofit/>
          </a:bodyPr>
          <a:lstStyle/>
          <a:p/>
          <a:p>
            <a:r>
              <a:t>Ask Mode</a:t>
            </a:r>
          </a:p>
          <a:p/>
          <a:p>
            <a:pPr/>
            <a:r>
              <a:t>Simple prompt completion and inline suggestions</a:t>
            </a:r>
          </a:p>
          <a:p>
            <a:r>
              <a:t>  Edit Mode</a:t>
            </a:r>
          </a:p>
          <a:p>
            <a:pPr/>
            <a:r>
              <a:t>Automatic file edits</a:t>
            </a:r>
          </a:p>
          <a:p>
            <a:r>
              <a:t>  Agent Mode</a:t>
            </a:r>
          </a:p>
          <a:p>
            <a:pPr/>
            <a:r>
              <a:t>Perform actions on your behalf</a:t>
            </a:r>
          </a:p>
          <a:p>
            <a:r>
              <a:t>  Custom Modes</a:t>
            </a:r>
          </a:p>
          <a:p>
            <a:pPr/>
            <a:r>
              <a:t>Execute specific workflows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IDE / Editor</a:t>
                      </a:r>
                    </a:p>
                  </a:txBody>
                  <a:tcPr/>
                </a:tc>
                <a:tc>
                  <a:txBody>
                    <a:bodyPr/>
                    <a:lstStyle/>
                    <a:p>
                      <a:pPr>
                        <a:defRPr b="1" sz="1296"/>
                      </a:pPr>
                      <a:r>
                        <a:t>Built-In AI Features</a:t>
                      </a:r>
                    </a:p>
                  </a:txBody>
                  <a:tcPr/>
                </a:tc>
                <a:tc>
                  <a:txBody>
                    <a:bodyPr/>
                    <a:lstStyle/>
                    <a:p>
                      <a:pPr>
                        <a:defRPr b="1" sz="1296"/>
                      </a:pPr>
                      <a:r>
                        <a:t>Supported AI Assistants</a:t>
                      </a:r>
                    </a:p>
                  </a:txBody>
                  <a:tcPr/>
                </a:tc>
                <a:tc>
                  <a:txBody>
                    <a:bodyPr/>
                    <a:lstStyle/>
                    <a:p>
                      <a:pPr>
                        <a:defRPr b="1" sz="1296"/>
                      </a:pPr>
                      <a:r>
                        <a:t>Strengths</a:t>
                      </a:r>
                    </a:p>
                  </a:txBody>
                  <a:tcPr/>
                </a:tc>
                <a:tc>
                  <a:txBody>
                    <a:bodyPr/>
                    <a:lstStyle/>
                    <a:p>
                      <a:pPr>
                        <a:defRPr b="1" sz="1296"/>
                      </a:pPr>
                      <a:r>
                        <a:t>Limitations</a:t>
                      </a:r>
                    </a:p>
                  </a:txBody>
                  <a:tcPr/>
                </a:tc>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Getting Started with GitHub Copilot</a:t>
            </a:r>
          </a:p>
        </p:txBody>
      </p:sp>
      <p:sp>
        <p:nvSpPr>
          <p:cNvPr id="3" name="Content Placeholder 2"/>
          <p:cNvSpPr>
            <a:spLocks noGrp="1"/>
          </p:cNvSpPr>
          <p:nvPr>
            <p:ph idx="1" sz="half"/>
          </p:nvPr>
        </p:nvSpPr>
        <p:spPr/>
        <p:txBody>
          <a:bodyPr wrap="square">
            <a:normAutofit/>
          </a:bodyPr>
          <a:lstStyle/>
          <a:p/>
          <a:p>
            <a:r>
              <a:t>Objectives</a:t>
            </a:r>
          </a:p>
          <a:p/>
          <a:p>
            <a:pPr/>
            <a:r>
              <a:t>Install and configure GitHub Copilot</a:t>
            </a:r>
          </a:p>
          <a:p>
            <a:pPr/>
            <a:r>
              <a:t>Verify authentication with your GitHub account</a:t>
            </a:r>
          </a:p>
          <a:p>
            <a:pPr/>
            <a:r>
              <a:t>Explore core Copilot UI components in VS Code</a:t>
            </a:r>
          </a:p>
          <a:p/>
          <a:p>
            <a:r>
              <a:t>Activities</a:t>
            </a:r>
          </a:p>
          <a:p/>
          <a:p>
            <a:r>
              <a:t>1. Install the GitHub Copilot extension from the VS Code marketplace.</a:t>
            </a:r>
          </a:p>
          <a:p>
            <a:r>
              <a:t>2. Sign in with your GitHub account and verify Copilot access.</a:t>
            </a:r>
          </a:p>
          <a:p>
            <a:r>
              <a:t>3. Locate and explore:</a:t>
            </a:r>
          </a:p>
          <a:p>
            <a:r>
              <a:t>   - Chat window and chat history</a:t>
            </a:r>
          </a:p>
          <a:p>
            <a:r>
              <a:t>   - New chat button</a:t>
            </a:r>
          </a:p>
          <a:p>
            <a:r>
              <a:t>   - Quick chat feature and keyboard shortcut</a:t>
            </a:r>
          </a:p>
          <a:p>
            <a:r>
              <a:t>   - Settings menu</a:t>
            </a:r>
          </a:p>
          <a:p>
            <a:r>
              <a:t>   - Model selection dropdown</a:t>
            </a:r>
          </a:p>
          <a:p>
            <a:r>
              <a:t>4. Check your premium token usage bar.</a:t>
            </a:r>
          </a:p>
          <a:p>
            <a:r>
              <a:t>5. Create a new chat and experiment with the interface.</a:t>
            </a:r>
          </a:p>
          <a:p/>
          <a:p>
            <a:r>
              <a:t>Success Criteria</a:t>
            </a:r>
          </a:p>
          <a:p/>
          <a:p>
            <a:pPr/>
            <a:r>
              <a:t>Copilot extension is installed and authenticated</a:t>
            </a:r>
          </a:p>
          <a:p>
            <a:pPr/>
            <a:r>
              <a:t>You can open and close chat windows</a:t>
            </a:r>
          </a:p>
          <a:p>
            <a:pPr/>
            <a:r>
              <a:t>You can explain main chat versus quick chat</a:t>
            </a:r>
          </a:p>
          <a:p>
            <a:pPr/>
            <a:r>
              <a:t>You can find and use chat history</a:t>
            </a:r>
          </a:p>
        </p:txBody>
      </p:sp>
      <p:sp>
        <p:nvSpPr>
          <p:cNvPr id="4" name="Content Placeholder 3"/>
          <p:cNvSpPr>
            <a:spLocks noGrp="1"/>
          </p:cNvSpPr>
          <p:nvPr>
            <p:ph idx="2" sz="half"/>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Understanding Context Management</a:t>
            </a:r>
          </a:p>
        </p:txBody>
      </p:sp>
      <p:sp>
        <p:nvSpPr>
          <p:cNvPr id="3" name="Content Placeholder 2"/>
          <p:cNvSpPr>
            <a:spLocks noGrp="1"/>
          </p:cNvSpPr>
          <p:nvPr>
            <p:ph idx="1" sz="half"/>
          </p:nvPr>
        </p:nvSpPr>
        <p:spPr/>
        <p:txBody>
          <a:bodyPr wrap="square">
            <a:normAutofit/>
          </a:bodyPr>
          <a:lstStyle/>
          <a:p/>
          <a:p>
            <a:r>
              <a:t>Objectives</a:t>
            </a:r>
          </a:p>
          <a:p/>
          <a:p>
            <a:pPr/>
            <a:r>
              <a:t>Learn to add context using @ symbols</a:t>
            </a:r>
          </a:p>
          <a:p>
            <a:pPr/>
            <a:r>
              <a:t>Understand context window limitations</a:t>
            </a:r>
          </a:p>
          <a:p>
            <a:pPr/>
            <a:r>
              <a:t>Practice writing effective prompts</a:t>
            </a:r>
          </a:p>
          <a:p/>
          <a:p>
            <a:r>
              <a:t>Activities</a:t>
            </a:r>
          </a:p>
          <a:p/>
          <a:p>
            <a:r>
              <a:t>1. Basic context addition:</a:t>
            </a:r>
          </a:p>
          <a:p>
            <a:r>
              <a:t>   - Use `@workspace` to search your codebase</a:t>
            </a:r>
          </a:p>
          <a:p>
            <a:r>
              <a:t>   - Use `@file` to reference specific files</a:t>
            </a:r>
          </a:p>
          <a:p>
            <a:r>
              <a:t>   - Use `@terminal` to include command output</a:t>
            </a:r>
          </a:p>
          <a:p>
            <a:r>
              <a:t>   - Use `@vscode` for VS Code product questions</a:t>
            </a:r>
          </a:p>
          <a:p>
            <a:r>
              <a:t>2. Prompt practice:</a:t>
            </a:r>
          </a:p>
          <a:p>
            <a:r>
              <a:t>   - Write a vague prompt and observe the result</a:t>
            </a:r>
          </a:p>
          <a:p>
            <a:r>
              <a:t>   - Rewrite with specific context and compare quality</a:t>
            </a:r>
          </a:p>
          <a:p>
            <a:r>
              <a:t>   - Add file references to improve accuracy</a:t>
            </a:r>
          </a:p>
          <a:p>
            <a:r>
              <a:t>3. Context window experiment:</a:t>
            </a:r>
          </a:p>
          <a:p>
            <a:r>
              <a:t>   - Run a longer single conversation</a:t>
            </a:r>
          </a:p>
          <a:p>
            <a:r>
              <a:t>   - Observe when early context gets dropped</a:t>
            </a:r>
          </a:p>
          <a:p>
            <a:r>
              <a:t>   - Start a new chat when topic focus changes</a:t>
            </a:r>
          </a:p>
          <a:p/>
          <a:p>
            <a:r>
              <a:t>Success Criteria</a:t>
            </a:r>
          </a:p>
          <a:p/>
          <a:p>
            <a:pPr/>
            <a:r>
              <a:t>You can use all four @ context types</a:t>
            </a:r>
          </a:p>
          <a:p>
            <a:pPr/>
            <a:r>
              <a:t>You can identify when to start a fresh chat</a:t>
            </a:r>
          </a:p>
          <a:p>
            <a:pPr/>
            <a:r>
              <a:t>You can show quality improvements from specific prompts</a:t>
            </a:r>
          </a:p>
        </p:txBody>
      </p:sp>
      <p:sp>
        <p:nvSpPr>
          <p:cNvPr id="4" name="Content Placeholder 3"/>
          <p:cNvSpPr>
            <a:spLocks noGrp="1"/>
          </p:cNvSpPr>
          <p:nvPr>
            <p:ph idx="2" sz="half"/>
          </p:nvPr>
        </p:nvSpPr>
        <p:spPr/>
        <p:txBody>
          <a:bodyPr/>
          <a:lstStyle/>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Chat Management and Workflow</a:t>
            </a:r>
          </a:p>
        </p:txBody>
      </p:sp>
      <p:sp>
        <p:nvSpPr>
          <p:cNvPr id="3" name="Content Placeholder 2"/>
          <p:cNvSpPr>
            <a:spLocks noGrp="1"/>
          </p:cNvSpPr>
          <p:nvPr>
            <p:ph idx="1" sz="half"/>
          </p:nvPr>
        </p:nvSpPr>
        <p:spPr/>
        <p:txBody>
          <a:bodyPr wrap="square">
            <a:normAutofit/>
          </a:bodyPr>
          <a:lstStyle/>
          <a:p/>
          <a:p>
            <a:r>
              <a:t>Objectives</a:t>
            </a:r>
          </a:p>
          <a:p/>
          <a:p>
            <a:pPr/>
            <a:r>
              <a:t>Organize chat sessions effectively</a:t>
            </a:r>
          </a:p>
          <a:p>
            <a:pPr/>
            <a:r>
              <a:t>Use chat history as a working reference</a:t>
            </a:r>
          </a:p>
          <a:p>
            <a:pPr/>
            <a:r>
              <a:t>Develop efficient workflow patterns with main and quick chat</a:t>
            </a:r>
          </a:p>
          <a:p/>
          <a:p>
            <a:r>
              <a:t>Activities</a:t>
            </a:r>
          </a:p>
          <a:p/>
          <a:p>
            <a:r>
              <a:t>1. Chat organization:</a:t>
            </a:r>
          </a:p>
          <a:p>
            <a:r>
              <a:t>   - Review current chat history</a:t>
            </a:r>
          </a:p>
          <a:p>
            <a:r>
              <a:t>   - Identify conversations that should have been separate</a:t>
            </a:r>
          </a:p>
          <a:p>
            <a:r>
              <a:t>   - Practice starting new chats at natural topic boundaries</a:t>
            </a:r>
          </a:p>
          <a:p>
            <a:r>
              <a:t>2. Context preservation:</a:t>
            </a:r>
          </a:p>
          <a:p>
            <a:r>
              <a:t>   - Run one focused feature chat</a:t>
            </a:r>
          </a:p>
          <a:p>
            <a:r>
              <a:t>   - Add only relevant context files</a:t>
            </a:r>
          </a:p>
          <a:p>
            <a:r>
              <a:t>   - Complete work without context overflow</a:t>
            </a:r>
          </a:p>
          <a:p>
            <a:r>
              <a:t>3. Quick chat practice:</a:t>
            </a:r>
          </a:p>
          <a:p>
            <a:r>
              <a:t>   - Keep main chat for primary task flow</a:t>
            </a:r>
          </a:p>
          <a:p>
            <a:r>
              <a:t>   - Use quick chat for side questions</a:t>
            </a:r>
          </a:p>
          <a:p>
            <a:r>
              <a:t>   - Return to main chat with context preserved</a:t>
            </a:r>
          </a:p>
          <a:p>
            <a:r>
              <a:t>4. Chat history review:</a:t>
            </a:r>
          </a:p>
          <a:p>
            <a:r>
              <a:t>   - Locate previous high-quality solutions</a:t>
            </a:r>
          </a:p>
          <a:p>
            <a:r>
              <a:t>   - Identify prompts that worked well</a:t>
            </a:r>
          </a:p>
          <a:p>
            <a:r>
              <a:t>   - Capture repeatable prompt patterns</a:t>
            </a:r>
          </a:p>
          <a:p/>
          <a:p>
            <a:r>
              <a:t>Success Criteria</a:t>
            </a:r>
          </a:p>
          <a:p/>
          <a:p>
            <a:pPr/>
            <a:r>
              <a:t>Chat history is organized and meaningful</a:t>
            </a:r>
          </a:p>
          <a:p>
            <a:pPr/>
            <a:r>
              <a:t>You can quickly find and reuse previous solutions</a:t>
            </a:r>
          </a:p>
          <a:p>
            <a:pPr/>
            <a:r>
              <a:t>You can use multiple chat windows without losing primary context</a:t>
            </a:r>
          </a:p>
          <a:p/>
          <a:p>
            <a:r>
              <a:t>Context Window Management</a:t>
            </a:r>
          </a:p>
          <a:p/>
          <a:p>
            <a:pPr/>
            <a:r>
              <a:t>Context is a limited resource</a:t>
            </a:r>
          </a:p>
          <a:p>
            <a:pPr/>
            <a:r>
              <a:t>Start a new chat when focus changes</a:t>
            </a:r>
          </a:p>
          <a:p>
            <a:pPr/>
            <a:r>
              <a:t>Keep conversations targeted and specific</a:t>
            </a:r>
          </a:p>
          <a:p>
            <a:pPr/>
            <a:r>
              <a:t>If Copilot forgets early details, reset with a fresh chat</a:t>
            </a:r>
          </a:p>
        </p:txBody>
      </p:sp>
      <p:sp>
        <p:nvSpPr>
          <p:cNvPr id="4" name="Content Placeholder 3"/>
          <p:cNvSpPr>
            <a:spLocks noGrp="1"/>
          </p:cNvSpPr>
          <p:nvPr>
            <p:ph idx="2" sz="half"/>
          </p:nvPr>
        </p:nvSpPr>
        <p:spPr/>
        <p:txBody>
          <a:bodyPr/>
          <a:lstStyle/>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Exploring Copilot Modes</a:t>
            </a:r>
          </a:p>
        </p:txBody>
      </p:sp>
      <p:sp>
        <p:nvSpPr>
          <p:cNvPr id="3" name="Content Placeholder 2"/>
          <p:cNvSpPr>
            <a:spLocks noGrp="1"/>
          </p:cNvSpPr>
          <p:nvPr>
            <p:ph idx="1" sz="half"/>
          </p:nvPr>
        </p:nvSpPr>
        <p:spPr/>
        <p:txBody>
          <a:bodyPr wrap="square">
            <a:normAutofit/>
          </a:bodyPr>
          <a:lstStyle/>
          <a:p/>
          <a:p>
            <a:r>
              <a:t>Objectives</a:t>
            </a:r>
          </a:p>
          <a:p/>
          <a:p>
            <a:pPr/>
            <a:r>
              <a:t>Understand differences between Ask, Edit, and Agent modes</a:t>
            </a:r>
          </a:p>
          <a:p>
            <a:pPr/>
            <a:r>
              <a:t>Know when to use each mode</a:t>
            </a:r>
          </a:p>
          <a:p>
            <a:pPr/>
            <a:r>
              <a:t>Understand premium token usage implications</a:t>
            </a:r>
          </a:p>
          <a:p/>
          <a:p>
            <a:r>
              <a:t>Activities</a:t>
            </a:r>
          </a:p>
          <a:p/>
          <a:p>
            <a:r>
              <a:t>1. Ask mode:</a:t>
            </a:r>
          </a:p>
          <a:p>
            <a:r>
              <a:t>   - Ask Copilot to explain a selected code snippet</a:t>
            </a:r>
          </a:p>
          <a:p>
            <a:r>
              <a:t>   - Request multiple implementation approaches</a:t>
            </a:r>
          </a:p>
          <a:p>
            <a:r>
              <a:t>   - Try different models and compare response style</a:t>
            </a:r>
          </a:p>
          <a:p>
            <a:r>
              <a:t>   - Note that Ask mode is best for exploration</a:t>
            </a:r>
          </a:p>
          <a:p>
            <a:r>
              <a:t>2. Edit mode:</a:t>
            </a:r>
          </a:p>
          <a:p>
            <a:r>
              <a:t>   - Select existing code and request a refactor</a:t>
            </a:r>
          </a:p>
          <a:p>
            <a:r>
              <a:t>   - Review inline proposed changes</a:t>
            </a:r>
          </a:p>
          <a:p>
            <a:r>
              <a:t>   - Accept or reject updates intentionally</a:t>
            </a:r>
          </a:p>
          <a:p>
            <a:r>
              <a:t>3. Agent mode:</a:t>
            </a:r>
          </a:p>
          <a:p>
            <a:r>
              <a:t>   - Create a new file and add starter content</a:t>
            </a:r>
          </a:p>
          <a:p>
            <a:r>
              <a:t>   - Request coordinated changes across multiple files</a:t>
            </a:r>
          </a:p>
          <a:p>
            <a:r>
              <a:t>   - Ask Copilot to run terminal commands</a:t>
            </a:r>
          </a:p>
          <a:p>
            <a:r>
              <a:t>   - Recheck premium token usage after actions</a:t>
            </a:r>
          </a:p>
          <a:p/>
          <a:p>
            <a:r>
              <a:t>Success Criteria</a:t>
            </a:r>
          </a:p>
          <a:p/>
          <a:p>
            <a:pPr/>
            <a:r>
              <a:t>You can choose the right mode for the task</a:t>
            </a:r>
          </a:p>
          <a:p>
            <a:pPr/>
            <a:r>
              <a:t>You can explain relative token usage tradeoffs</a:t>
            </a:r>
          </a:p>
          <a:p>
            <a:pPr/>
            <a:r>
              <a:t>You can complete a multi-file action using Agent mode</a:t>
            </a:r>
          </a:p>
        </p:txBody>
      </p:sp>
      <p:sp>
        <p:nvSpPr>
          <p:cNvPr id="4" name="Content Placeholder 3"/>
          <p:cNvSpPr>
            <a:spLocks noGrp="1"/>
          </p:cNvSpPr>
          <p:nvPr>
            <p:ph idx="2" sz="half"/>
          </p:nvPr>
        </p:nvSpPr>
        <p:spPr/>
        <p:txBody>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t>Intro to Copilot</a:t>
            </a:r>
          </a:p>
          <a:p>
            <a:pPr/>
            <a:r>
              <a:rPr b="1"/>
              <a:t>▶ AI Assistance in Action</a:t>
            </a:r>
          </a:p>
          <a:p>
            <a:pPr/>
            <a:r>
              <a:t>Adding AI Guardrails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idx="1"/>
          </p:nvPr>
        </p:nvSpPr>
        <p:spPr/>
        <p:txBody>
          <a:bodyPr wrap="square">
            <a:normAutofit/>
          </a:bodyPr>
          <a:lstStyle/>
          <a:p/>
          <a:p>
            <a:r>
              <a:t>Project Setup</a:t>
            </a:r>
          </a:p>
          <a:p>
            <a:r>
              <a:t>Adding Features</a:t>
            </a:r>
          </a:p>
          <a:p/>
          <a:p>
            <a:pPr/>
            <a:r>
              <a:t>Basic Arithmetic - Addition, subtraction, multiplication, division</a:t>
            </a:r>
          </a:p>
          <a:p>
            <a:pPr/>
            <a:r>
              <a:t>Clear / Reset Function - Quickly resets the current input or entire calculation</a:t>
            </a:r>
          </a:p>
          <a:p>
            <a:pPr/>
            <a:r>
              <a:t>Decimal Support - Allows entry and computation with decimal numbers</a:t>
            </a:r>
          </a:p>
          <a:p>
            <a:pPr/>
            <a:r>
              <a:t>Sign Toggle (+/–) - Switches values between positive and negative</a:t>
            </a:r>
          </a:p>
          <a:p>
            <a:pPr/>
            <a:r>
              <a:t>Percentage Function - Converts values to percentages for quick calculations</a:t>
            </a:r>
          </a:p>
          <a:p>
            <a:pPr/>
            <a:r>
              <a:t>Memory Functions (M+, M–, MR, MC) - Store, recall, add to, or clear memory values</a:t>
            </a:r>
          </a:p>
          <a:p>
            <a:pPr/>
            <a:r>
              <a:t>Error Handling - Displays errors such as division by zero</a:t>
            </a:r>
          </a:p>
          <a:p>
            <a:pPr/>
            <a:r>
              <a:t>Simple, Intuitive Interface - Numeric keypad, operation buttons, and display screen</a:t>
            </a:r>
          </a:p>
          <a:p>
            <a:r>
              <a:t>  Test Automation</a:t>
            </a:r>
          </a:p>
          <a:p>
            <a:pPr/>
            <a:r>
              <a:t>Code Coverage</a:t>
            </a:r>
          </a:p>
          <a:p>
            <a:r>
              <a:t>  Dependency Management</a:t>
            </a:r>
          </a:p>
          <a:p>
            <a:r>
              <a:t>  Comparing Implementations</a:t>
            </a:r>
          </a:p>
          <a:p>
            <a:r>
              <a:t>  Chat Management</a:t>
            </a:r>
          </a:p>
          <a:p>
            <a:r>
              <a:t>  Intro to Evergreen Software Development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Setup and Basic Implementation</a:t>
            </a:r>
          </a:p>
        </p:txBody>
      </p:sp>
      <p:sp>
        <p:nvSpPr>
          <p:cNvPr id="3" name="Content Placeholder 2"/>
          <p:cNvSpPr>
            <a:spLocks noGrp="1"/>
          </p:cNvSpPr>
          <p:nvPr>
            <p:ph idx="1" sz="half"/>
          </p:nvPr>
        </p:nvSpPr>
        <p:spPr/>
        <p:txBody>
          <a:bodyPr wrap="square">
            <a:normAutofit/>
          </a:bodyPr>
          <a:lstStyle/>
          <a:p/>
          <a:p>
            <a:r>
              <a:t>Objectives</a:t>
            </a:r>
          </a:p>
          <a:p/>
          <a:p>
            <a:pPr/>
            <a:r>
              <a:t>Use AI to generate starter code for arithmetic operations</a:t>
            </a:r>
          </a:p>
          <a:p>
            <a:pPr/>
            <a:r>
              <a:t>Understand how to validate AI-generated logic</a:t>
            </a:r>
          </a:p>
          <a:p>
            <a:pPr/>
            <a:r>
              <a:t>Integrate addition, subtraction, multiplication, and division functions</a:t>
            </a:r>
          </a:p>
          <a:p/>
          <a:p>
            <a:r>
              <a:t>Activities</a:t>
            </a:r>
          </a:p>
          <a:p/>
          <a:p>
            <a:r>
              <a:t>1. Project Initialization:</a:t>
            </a:r>
          </a:p>
          <a:p/>
          <a:p>
            <a:pPr/>
            <a:r>
              <a:t>Prompt AI to create a new project</a:t>
            </a:r>
          </a:p>
          <a:p>
            <a:pPr/>
            <a:r>
              <a:t>Review generated project structure</a:t>
            </a:r>
          </a:p>
          <a:p>
            <a:pPr/>
            <a:r>
              <a:t>Verify build configuration</a:t>
            </a:r>
          </a:p>
          <a:p/>
          <a:p>
            <a:r>
              <a:t>2. Implement Basic Operations:</a:t>
            </a:r>
          </a:p>
          <a:p/>
          <a:p>
            <a:pPr/>
            <a:r>
              <a:t>Prompt AI to add methods for addition, subtraction, multiplication, and division</a:t>
            </a:r>
          </a:p>
          <a:p/>
          <a:p>
            <a:r>
              <a:t>3. Review the Code:</a:t>
            </a:r>
          </a:p>
          <a:p/>
          <a:p>
            <a:pPr/>
            <a:r>
              <a:t>Check correctness and edge cases</a:t>
            </a:r>
          </a:p>
          <a:p/>
          <a:p>
            <a:r>
              <a:t>4. Build and Run:</a:t>
            </a:r>
          </a:p>
          <a:p/>
          <a:p>
            <a:pPr/>
            <a:r>
              <a:t>Use Copilot to help with build commands</a:t>
            </a:r>
          </a:p>
          <a:p>
            <a:pPr/>
            <a:r>
              <a:t>Troubleshoot compilation errors with Copilot</a:t>
            </a:r>
          </a:p>
          <a:p>
            <a:pPr/>
            <a:r>
              <a:t>Run the application</a:t>
            </a:r>
          </a:p>
          <a:p/>
          <a:p>
            <a:r>
              <a:t>Success Criteria</a:t>
            </a:r>
          </a:p>
          <a:p/>
          <a:p>
            <a:pPr/>
            <a:r>
              <a:t>Working calculator with 4 basic operations</a:t>
            </a:r>
          </a:p>
          <a:p>
            <a:pPr/>
            <a:r>
              <a:t>Application compiles and runs successfully</a:t>
            </a:r>
          </a:p>
          <a:p>
            <a:pPr/>
            <a:r>
              <a:t>Generated code is critically reviewed</a:t>
            </a:r>
          </a:p>
        </p:txBody>
      </p:sp>
      <p:sp>
        <p:nvSpPr>
          <p:cNvPr id="4" name="Content Placeholder 3"/>
          <p:cNvSpPr>
            <a:spLocks noGrp="1"/>
          </p:cNvSpPr>
          <p:nvPr>
            <p:ph idx="2" sz="half"/>
          </p:nvPr>
        </p:nvSpPr>
        <p:spPr/>
        <p:txBody>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Clear / Reset</a:t>
            </a:r>
          </a:p>
        </p:txBody>
      </p:sp>
      <p:sp>
        <p:nvSpPr>
          <p:cNvPr id="3" name="Content Placeholder 2"/>
          <p:cNvSpPr>
            <a:spLocks noGrp="1"/>
          </p:cNvSpPr>
          <p:nvPr>
            <p:ph idx="1" sz="half"/>
          </p:nvPr>
        </p:nvSpPr>
        <p:spPr/>
        <p:txBody>
          <a:bodyPr wrap="square">
            <a:normAutofit/>
          </a:bodyPr>
          <a:lstStyle/>
          <a:p/>
          <a:p>
            <a:r>
              <a:t>Objectives</a:t>
            </a:r>
          </a:p>
          <a:p/>
          <a:p>
            <a:pPr/>
            <a:r>
              <a:t>Use AI to scaffold state-management logic</a:t>
            </a:r>
          </a:p>
          <a:p>
            <a:pPr/>
            <a:r>
              <a:t>Implement CE (clear entry) and C (clear all) behaviors</a:t>
            </a:r>
          </a:p>
          <a:p>
            <a:pPr/>
            <a:r>
              <a:t>Understand UI state transitions</a:t>
            </a:r>
          </a:p>
          <a:p/>
          <a:p>
            <a:r>
              <a:t>Activities</a:t>
            </a:r>
          </a:p>
          <a:p/>
          <a:p>
            <a:r>
              <a:t>1. Ask AI to outline the difference between CE and C</a:t>
            </a:r>
          </a:p>
          <a:p>
            <a:r>
              <a:t>2. Generate code for clearing current input vs full state</a:t>
            </a:r>
          </a:p>
          <a:p>
            <a:r>
              <a:t>3. Integrate logic into calculator state object</a:t>
            </a:r>
          </a:p>
          <a:p>
            <a:r>
              <a:t>4. Test transitions with sample input sequences</a:t>
            </a:r>
          </a:p>
          <a:p/>
          <a:p>
            <a:r>
              <a:t>Success Criteria</a:t>
            </a:r>
          </a:p>
          <a:p/>
          <a:p>
            <a:pPr/>
            <a:r>
              <a:t>CE clears only the active entry</a:t>
            </a:r>
          </a:p>
          <a:p>
            <a:pPr/>
            <a:r>
              <a:t>C resets the entire calculator state</a:t>
            </a:r>
          </a:p>
        </p:txBody>
      </p:sp>
      <p:sp>
        <p:nvSpPr>
          <p:cNvPr id="4" name="Content Placeholder 3"/>
          <p:cNvSpPr>
            <a:spLocks noGrp="1"/>
          </p:cNvSpPr>
          <p:nvPr>
            <p:ph idx="2" sz="half"/>
          </p:nvPr>
        </p:nvSpPr>
        <p:spPr/>
        <p:txBody>
          <a:bodyPr/>
          <a:lstStyle/>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Decimal Input</a:t>
            </a:r>
          </a:p>
        </p:txBody>
      </p:sp>
      <p:sp>
        <p:nvSpPr>
          <p:cNvPr id="3" name="Content Placeholder 2"/>
          <p:cNvSpPr>
            <a:spLocks noGrp="1"/>
          </p:cNvSpPr>
          <p:nvPr>
            <p:ph idx="1" sz="half"/>
          </p:nvPr>
        </p:nvSpPr>
        <p:spPr/>
        <p:txBody>
          <a:bodyPr wrap="square">
            <a:normAutofit/>
          </a:bodyPr>
          <a:lstStyle/>
          <a:p/>
          <a:p>
            <a:r>
              <a:t>Objectives</a:t>
            </a:r>
          </a:p>
          <a:p/>
          <a:p>
            <a:pPr/>
            <a:r>
              <a:t>Use AI to generate input-validation logic</a:t>
            </a:r>
          </a:p>
          <a:p>
            <a:pPr/>
            <a:r>
              <a:t>Prevent multiple decimal points</a:t>
            </a:r>
          </a:p>
          <a:p>
            <a:pPr/>
            <a:r>
              <a:t>Ensure decimals flow through arithmetic operations</a:t>
            </a:r>
          </a:p>
          <a:p/>
          <a:p>
            <a:r>
              <a:t>Activities</a:t>
            </a:r>
          </a:p>
          <a:p/>
          <a:p>
            <a:r>
              <a:t>1. Ask AI for a decimal input strategy</a:t>
            </a:r>
          </a:p>
          <a:p>
            <a:r>
              <a:t>2. Generate code to block duplicate decimals in one number</a:t>
            </a:r>
          </a:p>
          <a:p>
            <a:r>
              <a:t>3. Integrate decimal support into input parser</a:t>
            </a:r>
          </a:p>
          <a:p>
            <a:r>
              <a:t>4. Test decimal operations with AI-generated test cases</a:t>
            </a:r>
          </a:p>
          <a:p/>
          <a:p>
            <a:r>
              <a:t>Success Criteria</a:t>
            </a:r>
          </a:p>
          <a:p/>
          <a:p>
            <a:pPr/>
            <a:r>
              <a:t>Decimal input works without duplication errors</a:t>
            </a:r>
          </a:p>
          <a:p>
            <a:pPr/>
            <a:r>
              <a:t>Arithmetic with decimals is correct</a:t>
            </a:r>
          </a:p>
          <a:p>
            <a:pPr/>
            <a:r>
              <a:t>Validation logic is explainable</a:t>
            </a:r>
          </a:p>
        </p:txBody>
      </p:sp>
      <p:sp>
        <p:nvSpPr>
          <p:cNvPr id="4" name="Content Placeholder 3"/>
          <p:cNvSpPr>
            <a:spLocks noGrp="1"/>
          </p:cNvSpPr>
          <p:nvPr>
            <p:ph idx="2" sz="half"/>
          </p:nvPr>
        </p:nvSpPr>
        <p:spPr/>
        <p:txBody>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Sign Toggle (+/-)</a:t>
            </a:r>
          </a:p>
        </p:txBody>
      </p:sp>
      <p:sp>
        <p:nvSpPr>
          <p:cNvPr id="3" name="Content Placeholder 2"/>
          <p:cNvSpPr>
            <a:spLocks noGrp="1"/>
          </p:cNvSpPr>
          <p:nvPr>
            <p:ph idx="1" sz="half"/>
          </p:nvPr>
        </p:nvSpPr>
        <p:spPr/>
        <p:txBody>
          <a:bodyPr wrap="square">
            <a:normAutofit/>
          </a:bodyPr>
          <a:lstStyle/>
          <a:p/>
          <a:p>
            <a:r>
              <a:t>Objectives</a:t>
            </a:r>
          </a:p>
          <a:p/>
          <a:p>
            <a:pPr/>
            <a:r>
              <a:t>Use AI to generate sign-toggle logic</a:t>
            </a:r>
          </a:p>
          <a:p>
            <a:pPr/>
            <a:r>
              <a:t>Understand effect on active input and stored value</a:t>
            </a:r>
          </a:p>
          <a:p/>
          <a:p>
            <a:r>
              <a:t>Activities</a:t>
            </a:r>
          </a:p>
          <a:p/>
          <a:p>
            <a:r>
              <a:t>1. Ask AI to generate toggle-sign function for active value</a:t>
            </a:r>
          </a:p>
          <a:p>
            <a:r>
              <a:t>2. Integrate into input workflow</a:t>
            </a:r>
          </a:p>
          <a:p>
            <a:r>
              <a:t>3. Test before and after digit entry</a:t>
            </a:r>
          </a:p>
          <a:p/>
          <a:p>
            <a:r>
              <a:t>Success Criteria</a:t>
            </a:r>
          </a:p>
          <a:p/>
          <a:p>
            <a:pPr/>
            <a:r>
              <a:t>Sign toggle works for integers and decimals</a:t>
            </a:r>
          </a:p>
          <a:p>
            <a:pPr/>
            <a:r>
              <a:t>Learner can explain stored vs active value impact</a:t>
            </a:r>
          </a:p>
        </p:txBody>
      </p:sp>
      <p:sp>
        <p:nvSpPr>
          <p:cNvPr id="4" name="Content Placeholder 3"/>
          <p:cNvSpPr>
            <a:spLocks noGrp="1"/>
          </p:cNvSpPr>
          <p:nvPr>
            <p:ph idx="2" sz="half"/>
          </p:nvPr>
        </p:nvSpPr>
        <p:spPr/>
        <p:txBody>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Percentage</a:t>
            </a:r>
          </a:p>
        </p:txBody>
      </p:sp>
      <p:sp>
        <p:nvSpPr>
          <p:cNvPr id="3" name="Content Placeholder 2"/>
          <p:cNvSpPr>
            <a:spLocks noGrp="1"/>
          </p:cNvSpPr>
          <p:nvPr>
            <p:ph idx="1" sz="half"/>
          </p:nvPr>
        </p:nvSpPr>
        <p:spPr/>
        <p:txBody>
          <a:bodyPr wrap="square">
            <a:normAutofit/>
          </a:bodyPr>
          <a:lstStyle/>
          <a:p/>
          <a:p>
            <a:r>
              <a:t>Objectives</a:t>
            </a:r>
          </a:p>
          <a:p/>
          <a:p>
            <a:pPr/>
            <a:r>
              <a:t>Use AI to clarify percentage interpretation rules</a:t>
            </a:r>
          </a:p>
          <a:p>
            <a:pPr/>
            <a:r>
              <a:t>Implement percentage logic for common patterns</a:t>
            </a:r>
          </a:p>
          <a:p>
            <a:pPr/>
            <a:r>
              <a:t>Validate behavior with AI-generated examples</a:t>
            </a:r>
          </a:p>
          <a:p/>
          <a:p>
            <a:r>
              <a:t>Activities</a:t>
            </a:r>
          </a:p>
          <a:p/>
          <a:p>
            <a:r>
              <a:t>1. Ask AI how percentage should behave in a standard calculator</a:t>
            </a:r>
          </a:p>
          <a:p>
            <a:r>
              <a:t>2. Generate code for:</a:t>
            </a:r>
          </a:p>
          <a:p/>
          <a:p>
            <a:pPr/>
            <a:r>
              <a:t>X x Y%</a:t>
            </a:r>
          </a:p>
          <a:p>
            <a:pPr/>
            <a:r>
              <a:t>Y + X%</a:t>
            </a:r>
          </a:p>
          <a:p>
            <a:pPr/>
            <a:r>
              <a:t>Y - X%</a:t>
            </a:r>
          </a:p>
          <a:p/>
          <a:p>
            <a:r>
              <a:t>3. Test each pattern with AI-generated values</a:t>
            </a:r>
          </a:p>
          <a:p/>
          <a:p>
            <a:r>
              <a:t>Success Criteria</a:t>
            </a:r>
          </a:p>
          <a:p/>
          <a:p>
            <a:pPr/>
            <a:r>
              <a:t>Percentage operations match standard calculator behavior</a:t>
            </a:r>
          </a:p>
          <a:p>
            <a:pPr/>
            <a:r>
              <a:t>Learner can articulate percentage interpretation rules</a:t>
            </a:r>
          </a:p>
        </p:txBody>
      </p:sp>
      <p:sp>
        <p:nvSpPr>
          <p:cNvPr id="4" name="Content Placeholder 3"/>
          <p:cNvSpPr>
            <a:spLocks noGrp="1"/>
          </p:cNvSpPr>
          <p:nvPr>
            <p:ph idx="2" sz="half"/>
          </p:nvPr>
        </p:nvSpPr>
        <p:spPr/>
        <p:txBody>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Memory Functions (M+, M-, MR, MC)</a:t>
            </a:r>
          </a:p>
        </p:txBody>
      </p:sp>
      <p:sp>
        <p:nvSpPr>
          <p:cNvPr id="3" name="Content Placeholder 2"/>
          <p:cNvSpPr>
            <a:spLocks noGrp="1"/>
          </p:cNvSpPr>
          <p:nvPr>
            <p:ph idx="1" sz="half"/>
          </p:nvPr>
        </p:nvSpPr>
        <p:spPr/>
        <p:txBody>
          <a:bodyPr wrap="square">
            <a:normAutofit/>
          </a:bodyPr>
          <a:lstStyle/>
          <a:p/>
          <a:p>
            <a:r>
              <a:t>Objectives</a:t>
            </a:r>
          </a:p>
          <a:p/>
          <a:p>
            <a:pPr/>
            <a:r>
              <a:t>Use AI to design memory subsystem</a:t>
            </a:r>
          </a:p>
          <a:p>
            <a:pPr/>
            <a:r>
              <a:t>Implement memory add, subtract, recall, and clear</a:t>
            </a:r>
          </a:p>
          <a:p>
            <a:pPr/>
            <a:r>
              <a:t>Validate memory across multiple operations</a:t>
            </a:r>
          </a:p>
          <a:p/>
          <a:p>
            <a:r>
              <a:t>Activities</a:t>
            </a:r>
          </a:p>
          <a:p/>
          <a:p>
            <a:r>
              <a:t>1. Ask AI for memory-state structure</a:t>
            </a:r>
          </a:p>
          <a:p>
            <a:r>
              <a:t>2. Generate functions for M+, M-, MR, MC</a:t>
            </a:r>
          </a:p>
          <a:p>
            <a:r>
              <a:t>3. Integrate memory operations into calculator flow</a:t>
            </a:r>
          </a:p>
          <a:p>
            <a:r>
              <a:t>4. Test memory persistence over sequences</a:t>
            </a:r>
          </a:p>
          <a:p/>
          <a:p>
            <a:r>
              <a:t>Success Criteria</a:t>
            </a:r>
          </a:p>
          <a:p/>
          <a:p>
            <a:pPr/>
            <a:r>
              <a:t>Memory functions behave as expected</a:t>
            </a:r>
          </a:p>
          <a:p>
            <a:pPr/>
            <a:r>
              <a:t>Learner can explain memory state updates</a:t>
            </a:r>
          </a:p>
        </p:txBody>
      </p:sp>
      <p:sp>
        <p:nvSpPr>
          <p:cNvPr id="4" name="Content Placeholder 3"/>
          <p:cNvSpPr>
            <a:spLocks noGrp="1"/>
          </p:cNvSpPr>
          <p:nvPr>
            <p:ph idx="2" sz="half"/>
          </p:nvPr>
        </p:nvSpPr>
        <p:spPr/>
        <p:txBody>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Error Handling</a:t>
            </a:r>
          </a:p>
        </p:txBody>
      </p:sp>
      <p:sp>
        <p:nvSpPr>
          <p:cNvPr id="3" name="Content Placeholder 2"/>
          <p:cNvSpPr>
            <a:spLocks noGrp="1"/>
          </p:cNvSpPr>
          <p:nvPr>
            <p:ph idx="1" sz="half"/>
          </p:nvPr>
        </p:nvSpPr>
        <p:spPr/>
        <p:txBody>
          <a:bodyPr wrap="square">
            <a:normAutofit/>
          </a:bodyPr>
          <a:lstStyle/>
          <a:p/>
          <a:p>
            <a:r>
              <a:t>Objectives</a:t>
            </a:r>
          </a:p>
          <a:p/>
          <a:p>
            <a:pPr/>
            <a:r>
              <a:t>Use AI to identify common error conditions</a:t>
            </a:r>
          </a:p>
          <a:p>
            <a:pPr/>
            <a:r>
              <a:t>Implement error messages and recovery logic</a:t>
            </a:r>
          </a:p>
          <a:p>
            <a:pPr/>
            <a:r>
              <a:t>Ensure graceful reset after errors</a:t>
            </a:r>
          </a:p>
          <a:p/>
          <a:p>
            <a:r>
              <a:t>Activities</a:t>
            </a:r>
          </a:p>
          <a:p/>
          <a:p>
            <a:r>
              <a:t>1. Ask AI to list calculator errors (for example divide by zero)</a:t>
            </a:r>
          </a:p>
          <a:p>
            <a:r>
              <a:t>2. Generate error detection and display logic</a:t>
            </a:r>
          </a:p>
          <a:p>
            <a:r>
              <a:t>3. Implement reset path after an error</a:t>
            </a:r>
          </a:p>
          <a:p>
            <a:r>
              <a:t>4. Test error scenarios with AI-generated tests</a:t>
            </a:r>
          </a:p>
          <a:p/>
          <a:p>
            <a:r>
              <a:t>Success Criteria</a:t>
            </a:r>
          </a:p>
          <a:p/>
          <a:p>
            <a:pPr/>
            <a:r>
              <a:t>Errors are detected and displayed correctly</a:t>
            </a:r>
          </a:p>
          <a:p>
            <a:pPr/>
            <a:r>
              <a:t>Calculator recovers cleanly</a:t>
            </a:r>
          </a:p>
          <a:p>
            <a:pPr/>
            <a:r>
              <a:t>Learner can explain error-handling flow</a:t>
            </a:r>
          </a:p>
        </p:txBody>
      </p:sp>
      <p:sp>
        <p:nvSpPr>
          <p:cNvPr id="4" name="Content Placeholder 3"/>
          <p:cNvSpPr>
            <a:spLocks noGrp="1"/>
          </p:cNvSpPr>
          <p:nvPr>
            <p:ph idx="2" sz="half"/>
          </p:nvPr>
        </p:nvSpPr>
        <p:spPr/>
        <p:txBody>
          <a:bodyPr/>
          <a:lstStyle/>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Add Trigonometric Functions</a:t>
            </a:r>
          </a:p>
        </p:txBody>
      </p:sp>
      <p:sp>
        <p:nvSpPr>
          <p:cNvPr id="3" name="Content Placeholder 2"/>
          <p:cNvSpPr>
            <a:spLocks noGrp="1"/>
          </p:cNvSpPr>
          <p:nvPr>
            <p:ph idx="1" sz="half"/>
          </p:nvPr>
        </p:nvSpPr>
        <p:spPr/>
        <p:txBody>
          <a:bodyPr wrap="square">
            <a:normAutofit/>
          </a:bodyPr>
          <a:lstStyle/>
          <a:p/>
          <a:p>
            <a:r>
              <a:t>Objectives</a:t>
            </a:r>
          </a:p>
          <a:p/>
          <a:p>
            <a:pPr/>
            <a:r>
              <a:t>Integrate trigonometric operations</a:t>
            </a:r>
          </a:p>
          <a:p>
            <a:pPr/>
            <a:r>
              <a:t>Use AI for math wrappers and parsing logic</a:t>
            </a:r>
          </a:p>
          <a:p>
            <a:pPr/>
            <a:r>
              <a:t>Handle degrees vs radians correctly</a:t>
            </a:r>
          </a:p>
          <a:p/>
          <a:p>
            <a:r>
              <a:t>Activities</a:t>
            </a:r>
          </a:p>
          <a:p/>
          <a:p>
            <a:r>
              <a:t>1. Ask AI to generate sin, cos, tan functions using language math library</a:t>
            </a:r>
          </a:p>
          <a:p>
            <a:r>
              <a:t>2. Ask AI for degree/radian mode strategy</a:t>
            </a:r>
          </a:p>
          <a:p>
            <a:r>
              <a:t>3. Implement UI bindings or command triggers</a:t>
            </a:r>
          </a:p>
          <a:p>
            <a:r>
              <a:t>4. Generate sample input/output table with AI and validate</a:t>
            </a:r>
          </a:p>
          <a:p/>
          <a:p>
            <a:r>
              <a:t>Success Criteria</a:t>
            </a:r>
          </a:p>
          <a:p/>
          <a:p>
            <a:pPr/>
            <a:r>
              <a:t>Trig results are correct for selected angle mode</a:t>
            </a:r>
          </a:p>
          <a:p>
            <a:pPr/>
            <a:r>
              <a:t>Degree/radian switching works consistently</a:t>
            </a:r>
          </a:p>
          <a:p>
            <a:pPr/>
            <a:r>
              <a:t>UI or commands correctly call trig functions</a:t>
            </a:r>
          </a:p>
          <a:p>
            <a:pPr/>
            <a:r>
              <a:t>Learner can explain validation and refinement steps</a:t>
            </a:r>
          </a:p>
        </p:txBody>
      </p:sp>
      <p:sp>
        <p:nvSpPr>
          <p:cNvPr id="4" name="Content Placeholder 3"/>
          <p:cNvSpPr>
            <a:spLocks noGrp="1"/>
          </p:cNvSpPr>
          <p:nvPr>
            <p:ph idx="2" sz="half"/>
          </p:nvPr>
        </p:nvSpPr>
        <p:spPr/>
        <p:txBody>
          <a:bodyPr/>
          <a:lstStyle/>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idx="1" sz="half"/>
          </p:nvPr>
        </p:nvSpPr>
        <p:spPr/>
        <p:txBody>
          <a:bodyPr wrap="square">
            <a:normAutofit/>
          </a:bodyPr>
          <a:lstStyle/>
          <a:p/>
          <a:p>
            <a:r>
              <a:t>Objectives</a:t>
            </a:r>
          </a:p>
          <a:p/>
          <a:p>
            <a:pPr/>
            <a:r>
              <a:t>Use AI to scaffold UI event handlers</a:t>
            </a:r>
          </a:p>
          <a:p>
            <a:pPr/>
            <a:r>
              <a:t>Connect UI controls to logic functions</a:t>
            </a:r>
          </a:p>
          <a:p>
            <a:pPr/>
            <a:r>
              <a:t>Validate end-to-end workflow</a:t>
            </a:r>
          </a:p>
          <a:p/>
          <a:p>
            <a:r>
              <a:t>Activities</a:t>
            </a:r>
          </a:p>
          <a:p/>
          <a:p>
            <a:r>
              <a:t>1. Ask AI to generate event-binding code for numeric/operator controls</a:t>
            </a:r>
          </a:p>
          <a:p>
            <a:r>
              <a:t>2. Integrate logic functions from prior exercises</a:t>
            </a:r>
          </a:p>
          <a:p>
            <a:r>
              <a:t>3. Test full workflow:</a:t>
            </a:r>
          </a:p>
          <a:p/>
          <a:p>
            <a:pPr/>
            <a:r>
              <a:t>Enter decimal</a:t>
            </a:r>
          </a:p>
          <a:p>
            <a:pPr/>
            <a:r>
              <a:t>Toggle sign</a:t>
            </a:r>
          </a:p>
          <a:p>
            <a:pPr/>
            <a:r>
              <a:t>Apply percentage</a:t>
            </a:r>
          </a:p>
          <a:p>
            <a:pPr/>
            <a:r>
              <a:t>Store result in memory</a:t>
            </a:r>
          </a:p>
          <a:p/>
          <a:p>
            <a:r>
              <a:t>Success Criteria</a:t>
            </a:r>
          </a:p>
          <a:p/>
          <a:p>
            <a:pPr/>
            <a:r>
              <a:t>UI triggers all calculator functions correctly</a:t>
            </a:r>
          </a:p>
          <a:p>
            <a:pPr/>
            <a:r>
              <a:t>End-to-end workflow completes without errors</a:t>
            </a:r>
          </a:p>
          <a:p>
            <a:pPr/>
            <a:r>
              <a:t>Learner can explain UI-to-logic mapping</a:t>
            </a:r>
          </a:p>
        </p:txBody>
      </p:sp>
      <p:sp>
        <p:nvSpPr>
          <p:cNvPr id="4" name="Content Placeholder 3"/>
          <p:cNvSpPr>
            <a:spLocks noGrp="1"/>
          </p:cNvSpPr>
          <p:nvPr>
            <p:ph idx="2" sz="half"/>
          </p:nvPr>
        </p:nvSpPr>
        <p:spPr/>
        <p:txBody>
          <a:bodyPr/>
          <a:lstStyle/>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Testing</a:t>
            </a:r>
          </a:p>
        </p:txBody>
      </p:sp>
      <p:sp>
        <p:nvSpPr>
          <p:cNvPr id="3" name="Content Placeholder 2"/>
          <p:cNvSpPr>
            <a:spLocks noGrp="1"/>
          </p:cNvSpPr>
          <p:nvPr>
            <p:ph idx="1" sz="half"/>
          </p:nvPr>
        </p:nvSpPr>
        <p:spPr/>
        <p:txBody>
          <a:bodyPr wrap="square">
            <a:normAutofit/>
          </a:bodyPr>
          <a:lstStyle/>
          <a:p/>
          <a:p>
            <a:r>
              <a:t>Objectives</a:t>
            </a:r>
          </a:p>
          <a:p/>
          <a:p>
            <a:pPr/>
            <a:r>
              <a:t>Generate unit tests with AI assistance</a:t>
            </a:r>
          </a:p>
          <a:p>
            <a:pPr/>
            <a:r>
              <a:t>Identify quality issues in generated tests</a:t>
            </a:r>
          </a:p>
          <a:p>
            <a:pPr/>
            <a:r>
              <a:t>Understand why generated tests require review</a:t>
            </a:r>
          </a:p>
          <a:p/>
          <a:p>
            <a:r>
              <a:t>Activities</a:t>
            </a:r>
          </a:p>
          <a:p/>
          <a:p>
            <a:r>
              <a:t>1. Generate Initial Tests:</a:t>
            </a:r>
          </a:p>
          <a:p/>
          <a:p>
            <a:pPr/>
            <a:r>
              <a:t>Prompt: "Create unit tests for the calculator operations"</a:t>
            </a:r>
          </a:p>
          <a:p>
            <a:pPr/>
            <a:r>
              <a:t>Review generated test structure</a:t>
            </a:r>
          </a:p>
          <a:p>
            <a:pPr/>
            <a:r>
              <a:t>Verify tests call calculator code</a:t>
            </a:r>
          </a:p>
          <a:p/>
          <a:p>
            <a:r>
              <a:t>2. Fix Test Issues:</a:t>
            </a:r>
          </a:p>
          <a:p/>
          <a:p>
            <a:pPr/>
            <a:r>
              <a:t>If tests are trivial (for example 1 + 1 only), identify issue</a:t>
            </a:r>
          </a:p>
          <a:p>
            <a:pPr/>
            <a:r>
              <a:t>Prompt: "Update tests to call Calculator class methods"</a:t>
            </a:r>
          </a:p>
          <a:p>
            <a:pPr/>
            <a:r>
              <a:t>Verify improved test quality</a:t>
            </a:r>
          </a:p>
          <a:p/>
          <a:p>
            <a:r>
              <a:t>3. Run Tests:</a:t>
            </a:r>
          </a:p>
          <a:p/>
          <a:p>
            <a:pPr/>
            <a:r>
              <a:t>Execute test suite</a:t>
            </a:r>
          </a:p>
          <a:p>
            <a:pPr/>
            <a:r>
              <a:t>Review output</a:t>
            </a:r>
          </a:p>
          <a:p>
            <a:pPr/>
            <a:r>
              <a:t>Debug failing tests with Copilot</a:t>
            </a:r>
          </a:p>
          <a:p/>
          <a:p>
            <a:r>
              <a:t>4. Add Edge Cases:</a:t>
            </a:r>
          </a:p>
          <a:p/>
          <a:p>
            <a:pPr/>
            <a:r>
              <a:t>Prompt: "Add tests for edge cases like division by zero"</a:t>
            </a:r>
          </a:p>
          <a:p>
            <a:pPr/>
            <a:r>
              <a:t>Verify exception handling tests</a:t>
            </a:r>
          </a:p>
          <a:p/>
          <a:p>
            <a:r>
              <a:t>Success Criteria</a:t>
            </a:r>
          </a:p>
          <a:p/>
          <a:p>
            <a:pPr/>
            <a:r>
              <a:t>Minimum 8 test cases</a:t>
            </a:r>
          </a:p>
          <a:p>
            <a:pPr/>
            <a:r>
              <a:t>Tests call actual calculator methods</a:t>
            </a:r>
          </a:p>
          <a:p>
            <a:pPr/>
            <a:r>
              <a:t>Edge cases and error conditions included</a:t>
            </a:r>
          </a:p>
          <a:p>
            <a:pPr/>
            <a:r>
              <a:t>All tests pass</a:t>
            </a:r>
          </a:p>
        </p:txBody>
      </p:sp>
      <p:sp>
        <p:nvSpPr>
          <p:cNvPr id="4" name="Content Placeholder 3"/>
          <p:cNvSpPr>
            <a:spLocks noGrp="1"/>
          </p:cNvSpPr>
          <p:nvPr>
            <p:ph idx="2" sz="half"/>
          </p:nvPr>
        </p:nvSpPr>
        <p:spPr/>
        <p:txBody>
          <a:bodyPr/>
          <a:lstStyle/>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idx="1" sz="half"/>
          </p:nvPr>
        </p:nvSpPr>
        <p:spPr/>
        <p:txBody>
          <a:bodyPr wrap="square">
            <a:normAutofit/>
          </a:bodyPr>
          <a:lstStyle/>
          <a:p/>
          <a:p>
            <a:r>
              <a:t>Objectives</a:t>
            </a:r>
          </a:p>
          <a:p/>
          <a:p>
            <a:pPr/>
            <a:r>
              <a:t>Set up code coverage reporting</a:t>
            </a:r>
          </a:p>
          <a:p>
            <a:pPr/>
            <a:r>
              <a:t>Interpret coverage data</a:t>
            </a:r>
          </a:p>
          <a:p>
            <a:pPr/>
            <a:r>
              <a:t>Improve coverage based on identified gaps</a:t>
            </a:r>
          </a:p>
          <a:p/>
          <a:p>
            <a:r>
              <a:t>Activities</a:t>
            </a:r>
          </a:p>
          <a:p/>
          <a:p>
            <a:r>
              <a:t>1. Enable Coverage Collection:</a:t>
            </a:r>
          </a:p>
          <a:p/>
          <a:p>
            <a:pPr/>
            <a:r>
              <a:t>Prompt: "Add code coverage reporting to my test project"</a:t>
            </a:r>
          </a:p>
          <a:p>
            <a:pPr/>
            <a:r>
              <a:t>Review dependencies added</a:t>
            </a:r>
          </a:p>
          <a:p>
            <a:pPr/>
            <a:r>
              <a:t>Resolve NuGet/dependency issues with Copilot</a:t>
            </a:r>
          </a:p>
          <a:p/>
          <a:p>
            <a:r>
              <a:t>2. Generate Coverage Report:</a:t>
            </a:r>
          </a:p>
          <a:p/>
          <a:p>
            <a:pPr/>
            <a:r>
              <a:t>Run tests with coverage</a:t>
            </a:r>
          </a:p>
          <a:p>
            <a:pPr/>
            <a:r>
              <a:t>Review percentage</a:t>
            </a:r>
          </a:p>
          <a:p>
            <a:pPr/>
            <a:r>
              <a:t>Identify uncovered paths</a:t>
            </a:r>
          </a:p>
          <a:p/>
          <a:p>
            <a:r>
              <a:t>3. Improve Coverage:</a:t>
            </a:r>
          </a:p>
          <a:p/>
          <a:p>
            <a:pPr/>
            <a:r>
              <a:t>Add tests for uncovered methods</a:t>
            </a:r>
          </a:p>
          <a:p>
            <a:pPr/>
            <a:r>
              <a:t>Re-run coverage and verify improvement</a:t>
            </a:r>
          </a:p>
          <a:p>
            <a:pPr/>
            <a:r>
              <a:t>Discuss if 100% coverage is necessary</a:t>
            </a:r>
          </a:p>
          <a:p/>
          <a:p>
            <a:r>
              <a:t>Success Criteria</a:t>
            </a:r>
          </a:p>
          <a:p/>
          <a:p>
            <a:pPr/>
            <a:r>
              <a:t>Coverage reporting configured successfully</a:t>
            </a:r>
          </a:p>
          <a:p>
            <a:pPr/>
            <a:r>
              <a:t>Coverage reports can be generated and interpreted</a:t>
            </a:r>
          </a:p>
          <a:p>
            <a:pPr/>
            <a:r>
              <a:t>Reasonable coverage achieved (&gt;80% line coverage)</a:t>
            </a:r>
          </a:p>
          <a:p>
            <a:pPr/>
            <a:r>
              <a:t>Learner understands what coverage metrics mean</a:t>
            </a:r>
          </a:p>
        </p:txBody>
      </p:sp>
      <p:sp>
        <p:nvSpPr>
          <p:cNvPr id="4" name="Content Placeholder 3"/>
          <p:cNvSpPr>
            <a:spLocks noGrp="1"/>
          </p:cNvSpPr>
          <p:nvPr>
            <p:ph idx="2" sz="half"/>
          </p:nvPr>
        </p:nvSpPr>
        <p:spPr/>
        <p:txBody>
          <a:bodyPr/>
          <a:lstStyle/>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Dependency Management and Troubleshooting</a:t>
            </a:r>
          </a:p>
        </p:txBody>
      </p:sp>
      <p:sp>
        <p:nvSpPr>
          <p:cNvPr id="3" name="Content Placeholder 2"/>
          <p:cNvSpPr>
            <a:spLocks noGrp="1"/>
          </p:cNvSpPr>
          <p:nvPr>
            <p:ph idx="1" sz="half"/>
          </p:nvPr>
        </p:nvSpPr>
        <p:spPr/>
        <p:txBody>
          <a:bodyPr wrap="square">
            <a:normAutofit/>
          </a:bodyPr>
          <a:lstStyle/>
          <a:p/>
          <a:p>
            <a:r>
              <a:t>Objectives</a:t>
            </a:r>
          </a:p>
          <a:p/>
          <a:p>
            <a:pPr/>
            <a:r>
              <a:t>Use Copilot to resolve dependency issues</a:t>
            </a:r>
          </a:p>
          <a:p>
            <a:pPr/>
            <a:r>
              <a:t>Handle package restoration problems</a:t>
            </a:r>
          </a:p>
          <a:p>
            <a:pPr/>
            <a:r>
              <a:t>Practice iterative AI-assisted troubleshooting</a:t>
            </a:r>
          </a:p>
          <a:p/>
          <a:p>
            <a:r>
              <a:t>Activities</a:t>
            </a:r>
          </a:p>
          <a:p/>
          <a:p>
            <a:r>
              <a:t>1. Simulate or Identify a Dependency Issue:</a:t>
            </a:r>
          </a:p>
          <a:p/>
          <a:p>
            <a:pPr/>
            <a:r>
              <a:t>Introduce version conflict or use an existing issue</a:t>
            </a:r>
          </a:p>
          <a:p>
            <a:pPr/>
            <a:r>
              <a:t>Prompt: "I'm getting [specific error]. How do I fix it?"</a:t>
            </a:r>
          </a:p>
          <a:p/>
          <a:p>
            <a:r>
              <a:t>2. Follow Copilot Guidance:</a:t>
            </a:r>
          </a:p>
          <a:p/>
          <a:p>
            <a:pPr/>
            <a:r>
              <a:t>Review suggested solutions</a:t>
            </a:r>
          </a:p>
          <a:p>
            <a:pPr/>
            <a:r>
              <a:t>Evaluate alternatives</a:t>
            </a:r>
          </a:p>
          <a:p>
            <a:pPr/>
            <a:r>
              <a:t>Select best option collaboratively</a:t>
            </a:r>
          </a:p>
          <a:p/>
          <a:p>
            <a:r>
              <a:t>3. Iterative Resolution:</a:t>
            </a:r>
          </a:p>
          <a:p/>
          <a:p>
            <a:pPr/>
            <a:r>
              <a:t>Provide new error details when needed</a:t>
            </a:r>
          </a:p>
          <a:p>
            <a:pPr/>
            <a:r>
              <a:t>Continue until resolved</a:t>
            </a:r>
          </a:p>
          <a:p/>
          <a:p>
            <a:r>
              <a:t>4. Practice common issues:</a:t>
            </a:r>
          </a:p>
          <a:p/>
          <a:p>
            <a:pPr/>
            <a:r>
              <a:t>NuGet package source configuration</a:t>
            </a:r>
          </a:p>
          <a:p>
            <a:pPr/>
            <a:r>
              <a:t>MSTest adapter version conflicts</a:t>
            </a:r>
          </a:p>
          <a:p>
            <a:pPr/>
            <a:r>
              <a:t>.NET SDK targeting issues</a:t>
            </a:r>
          </a:p>
          <a:p>
            <a:pPr/>
            <a:r>
              <a:t>Package restoration failures</a:t>
            </a:r>
          </a:p>
          <a:p/>
          <a:p>
            <a:r>
              <a:t>Success Criteria</a:t>
            </a:r>
          </a:p>
          <a:p/>
          <a:p>
            <a:pPr/>
            <a:r>
              <a:t>At least one dependency issue resolved</a:t>
            </a:r>
          </a:p>
          <a:p>
            <a:pPr/>
            <a:r>
              <a:t>Learner can provide useful error context to Copilot</a:t>
            </a:r>
          </a:p>
          <a:p>
            <a:pPr/>
            <a:r>
              <a:t>Iterative problem-solving pattern demonstrated</a:t>
            </a:r>
          </a:p>
        </p:txBody>
      </p:sp>
      <p:sp>
        <p:nvSpPr>
          <p:cNvPr id="4" name="Content Placeholder 3"/>
          <p:cNvSpPr>
            <a:spLocks noGrp="1"/>
          </p:cNvSpPr>
          <p:nvPr>
            <p:ph idx="2" sz="half"/>
          </p:nvPr>
        </p:nvSpPr>
        <p:spPr/>
        <p:txBody>
          <a:bodyPr/>
          <a:lstStyle/>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Best Practices Review and Code Quality</a:t>
            </a:r>
          </a:p>
        </p:txBody>
      </p:sp>
      <p:sp>
        <p:nvSpPr>
          <p:cNvPr id="3" name="Content Placeholder 2"/>
          <p:cNvSpPr>
            <a:spLocks noGrp="1"/>
          </p:cNvSpPr>
          <p:nvPr>
            <p:ph idx="1" sz="half"/>
          </p:nvPr>
        </p:nvSpPr>
        <p:spPr/>
        <p:txBody>
          <a:bodyPr wrap="square">
            <a:normAutofit/>
          </a:bodyPr>
          <a:lstStyle/>
          <a:p/>
          <a:p>
            <a:r>
              <a:t>Objectives</a:t>
            </a:r>
          </a:p>
          <a:p/>
          <a:p>
            <a:pPr/>
            <a:r>
              <a:t>Apply best practices from session</a:t>
            </a:r>
          </a:p>
          <a:p>
            <a:pPr/>
            <a:r>
              <a:t>Review code quality systematically</a:t>
            </a:r>
          </a:p>
          <a:p>
            <a:pPr/>
            <a:r>
              <a:t>Identify and implement meaningful improvements</a:t>
            </a:r>
          </a:p>
          <a:p/>
          <a:p>
            <a:r>
              <a:t>Activities</a:t>
            </a:r>
          </a:p>
          <a:p/>
          <a:p>
            <a:r>
              <a:t>1. Code Quality Check:</a:t>
            </a:r>
          </a:p>
          <a:p/>
          <a:p>
            <a:pPr/>
            <a:r>
              <a:t>Prompt: "Suggest improvements for code quality and maintainability"</a:t>
            </a:r>
          </a:p>
          <a:p>
            <a:pPr/>
            <a:r>
              <a:t>Evaluate suggestions critically</a:t>
            </a:r>
          </a:p>
          <a:p>
            <a:pPr/>
            <a:r>
              <a:t>Implement high-value improvements</a:t>
            </a:r>
          </a:p>
          <a:p/>
          <a:p>
            <a:r>
              <a:t>Success Criteria</a:t>
            </a:r>
          </a:p>
          <a:p/>
          <a:p>
            <a:pPr/>
            <a:r>
              <a:t>Documentation and maintainability improved</a:t>
            </a:r>
          </a:p>
          <a:p>
            <a:pPr/>
            <a:r>
              <a:t>AI suggestions are critically evaluated before adoption</a:t>
            </a:r>
          </a:p>
        </p:txBody>
      </p:sp>
      <p:sp>
        <p:nvSpPr>
          <p:cNvPr id="4" name="Content Placeholder 3"/>
          <p:cNvSpPr>
            <a:spLocks noGrp="1"/>
          </p:cNvSpPr>
          <p:nvPr>
            <p:ph idx="2" sz="half"/>
          </p:nvPr>
        </p:nvSpPr>
        <p:spPr/>
        <p:txBody>
          <a:bodyPr/>
          <a:lstStyle/>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idx="1" sz="half"/>
          </p:nvPr>
        </p:nvSpPr>
        <p:spPr/>
        <p:txBody>
          <a:bodyPr wrap="square">
            <a:normAutofit/>
          </a:bodyPr>
          <a:lstStyle/>
          <a:p/>
          <a:p>
            <a:r>
              <a:t>Objectives</a:t>
            </a:r>
          </a:p>
          <a:p/>
          <a:p>
            <a:pPr/>
            <a:r>
              <a:t>Compare outputs from different AI models</a:t>
            </a:r>
          </a:p>
          <a:p>
            <a:pPr/>
            <a:r>
              <a:t>Understand premium vs standard model trade-offs</a:t>
            </a:r>
          </a:p>
          <a:p>
            <a:pPr/>
            <a:r>
              <a:t>Monitor token usage impact</a:t>
            </a:r>
          </a:p>
          <a:p/>
          <a:p>
            <a:r>
              <a:t>Activities</a:t>
            </a:r>
          </a:p>
          <a:p/>
          <a:p>
            <a:r>
              <a:t>1. Same Prompt, Different Models:</a:t>
            </a:r>
          </a:p>
          <a:p/>
          <a:p>
            <a:pPr/>
            <a:r>
              <a:t>Use one coding task (for example implement bubble sort)</a:t>
            </a:r>
          </a:p>
          <a:p>
            <a:pPr/>
            <a:r>
              <a:t>Compare standard and premium model outputs</a:t>
            </a:r>
          </a:p>
          <a:p/>
          <a:p>
            <a:r>
              <a:t>2. Token Usage Analysis:</a:t>
            </a:r>
          </a:p>
          <a:p/>
          <a:p>
            <a:pPr/>
            <a:r>
              <a:t>Check premium token bar before/after</a:t>
            </a:r>
          </a:p>
          <a:p>
            <a:pPr/>
            <a:r>
              <a:t>Estimate consumed tokens</a:t>
            </a:r>
          </a:p>
          <a:p>
            <a:pPr/>
            <a:r>
              <a:t>Discuss value vs cost</a:t>
            </a:r>
          </a:p>
          <a:p/>
          <a:p>
            <a:r>
              <a:t>3. Best Use Cases:</a:t>
            </a:r>
          </a:p>
          <a:p/>
          <a:p>
            <a:pPr/>
            <a:r>
              <a:t>Identify tasks for standard vs premium models</a:t>
            </a:r>
          </a:p>
          <a:p>
            <a:pPr/>
            <a:r>
              <a:t>Create model selection guidelines</a:t>
            </a:r>
          </a:p>
          <a:p/>
          <a:p>
            <a:r>
              <a:t>4. Ask Mode Advantage:</a:t>
            </a:r>
          </a:p>
          <a:p/>
          <a:p>
            <a:pPr/>
            <a:r>
              <a:t>Use Ask mode with premium model</a:t>
            </a:r>
          </a:p>
          <a:p>
            <a:pPr/>
            <a:r>
              <a:t>Compare with Agent mode token behavior</a:t>
            </a:r>
          </a:p>
          <a:p/>
          <a:p>
            <a:r>
              <a:t>Success Criteria</a:t>
            </a:r>
          </a:p>
          <a:p/>
          <a:p>
            <a:pPr/>
            <a:r>
              <a:t>At least two models compared</a:t>
            </a:r>
          </a:p>
          <a:p>
            <a:pPr/>
            <a:r>
              <a:t>Token consumption trade-offs understood</a:t>
            </a:r>
          </a:p>
          <a:p>
            <a:pPr/>
            <a:r>
              <a:t>Learner can choose model by task type</a:t>
            </a:r>
          </a:p>
        </p:txBody>
      </p:sp>
      <p:sp>
        <p:nvSpPr>
          <p:cNvPr id="4" name="Content Placeholder 3"/>
          <p:cNvSpPr>
            <a:spLocks noGrp="1"/>
          </p:cNvSpPr>
          <p:nvPr>
            <p:ph idx="2" sz="half"/>
          </p:nvPr>
        </p:nvSpPr>
        <p:spPr/>
        <p:txBody>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Encapsulate Core Logic</a:t>
            </a:r>
          </a:p>
        </p:txBody>
      </p:sp>
      <p:sp>
        <p:nvSpPr>
          <p:cNvPr id="3" name="Content Placeholder 2"/>
          <p:cNvSpPr>
            <a:spLocks noGrp="1"/>
          </p:cNvSpPr>
          <p:nvPr>
            <p:ph idx="1" sz="half"/>
          </p:nvPr>
        </p:nvSpPr>
        <p:spPr/>
        <p:txBody>
          <a:bodyPr wrap="square">
            <a:normAutofit/>
          </a:bodyPr>
          <a:lstStyle/>
          <a:p/>
          <a:p>
            <a:r>
              <a:t>Objectives</a:t>
            </a:r>
          </a:p>
          <a:p/>
          <a:p>
            <a:pPr/>
            <a:r>
              <a:t>Separate UI concerns from computational logic</a:t>
            </a:r>
          </a:p>
          <a:p>
            <a:pPr/>
            <a:r>
              <a:t>Use AI to scaffold standalone core logic module/class</a:t>
            </a:r>
          </a:p>
          <a:p>
            <a:pPr/>
            <a:r>
              <a:t>Ensure UI communicates through a clean API</a:t>
            </a:r>
          </a:p>
          <a:p>
            <a:pPr/>
            <a:r>
              <a:t>Validate improved testability and maintainability</a:t>
            </a:r>
          </a:p>
          <a:p/>
          <a:p>
            <a:r>
              <a:t>Activities</a:t>
            </a:r>
          </a:p>
          <a:p/>
          <a:p>
            <a:r>
              <a:t>1. Ask AI to generate dedicated component (for example CalculatorEngine or CalculatorCore) containing:</a:t>
            </a:r>
          </a:p>
          <a:p/>
          <a:p>
            <a:pPr/>
            <a:r>
              <a:t>Arithmetic operations</a:t>
            </a:r>
          </a:p>
          <a:p>
            <a:pPr/>
            <a:r>
              <a:t>State management</a:t>
            </a:r>
          </a:p>
          <a:p>
            <a:pPr/>
            <a:r>
              <a:t>Trig/percentage/memory logic where implemented</a:t>
            </a:r>
          </a:p>
          <a:p/>
          <a:p>
            <a:r>
              <a:t>2. Review and refine API surface (naming, inputs, outputs)</a:t>
            </a:r>
          </a:p>
          <a:p>
            <a:r>
              <a:t>3. Replace UI-embedded logic with component calls</a:t>
            </a:r>
          </a:p>
          <a:p/>
          <a:p>
            <a:r>
              <a:t>Success Criteria</a:t>
            </a:r>
          </a:p>
          <a:p/>
          <a:p>
            <a:pPr/>
            <a:r>
              <a:t>All features route through external logic component</a:t>
            </a:r>
          </a:p>
          <a:p>
            <a:pPr/>
            <a:r>
              <a:t>UI contains only event handling/display updates</a:t>
            </a:r>
          </a:p>
          <a:p>
            <a:pPr/>
            <a:r>
              <a:t>Learner can explain modularity and reuse benefits</a:t>
            </a:r>
          </a:p>
        </p:txBody>
      </p:sp>
      <p:sp>
        <p:nvSpPr>
          <p:cNvPr id="4" name="Content Placeholder 3"/>
          <p:cNvSpPr>
            <a:spLocks noGrp="1"/>
          </p:cNvSpPr>
          <p:nvPr>
            <p:ph idx="2" sz="half"/>
          </p:nvPr>
        </p:nvSpPr>
        <p:spPr/>
        <p:txBody>
          <a:bodyPr/>
          <a:lstStyle/>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idx="1" sz="half"/>
          </p:nvPr>
        </p:nvSpPr>
        <p:spPr/>
        <p:txBody>
          <a:bodyPr wrap="square">
            <a:normAutofit/>
          </a:bodyPr>
          <a:lstStyle/>
          <a:p/>
          <a:p>
            <a:r>
              <a:t>Objectives</a:t>
            </a:r>
          </a:p>
          <a:p/>
          <a:p>
            <a:pPr/>
            <a:r>
              <a:t>Systematically review code for security issues</a:t>
            </a:r>
          </a:p>
          <a:p>
            <a:pPr/>
            <a:r>
              <a:t>Address discovered vulnerabilities</a:t>
            </a:r>
          </a:p>
          <a:p>
            <a:pPr/>
            <a:r>
              <a:t>Strengthen input validation and safe patterns</a:t>
            </a:r>
          </a:p>
          <a:p/>
          <a:p>
            <a:r>
              <a:t>Activities</a:t>
            </a:r>
          </a:p>
          <a:p/>
          <a:p>
            <a:r>
              <a:t>1. Security Review:</a:t>
            </a:r>
          </a:p>
          <a:p/>
          <a:p>
            <a:pPr/>
            <a:r>
              <a:t>Prompt: "Review this code for security vulnerabilities"</a:t>
            </a:r>
          </a:p>
          <a:p>
            <a:pPr/>
            <a:r>
              <a:t>Address identified issues</a:t>
            </a:r>
          </a:p>
          <a:p>
            <a:pPr/>
            <a:r>
              <a:t>Add input validation where missing</a:t>
            </a:r>
          </a:p>
          <a:p/>
          <a:p>
            <a:r>
              <a:t>Success Criteria</a:t>
            </a:r>
          </a:p>
          <a:p/>
          <a:p>
            <a:pPr/>
            <a:r>
              <a:t>No obvious security issues remain</a:t>
            </a:r>
          </a:p>
          <a:p>
            <a:pPr/>
            <a:r>
              <a:t>AI recommendations are critically evaluated and validated</a:t>
            </a:r>
          </a:p>
        </p:txBody>
      </p:sp>
      <p:sp>
        <p:nvSpPr>
          <p:cNvPr id="4" name="Content Placeholder 3"/>
          <p:cNvSpPr>
            <a:spLocks noGrp="1"/>
          </p:cNvSpPr>
          <p:nvPr>
            <p:ph idx="2" sz="half"/>
          </p:nvPr>
        </p:nvSpPr>
        <p:spPr/>
        <p:txBody>
          <a:bodyPr/>
          <a:lstStyle/>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idx="1" sz="half"/>
          </p:nvPr>
        </p:nvSpPr>
        <p:spPr/>
        <p:txBody>
          <a:bodyPr wrap="square">
            <a:normAutofit/>
          </a:bodyPr>
          <a:lstStyle/>
          <a:p/>
          <a:p>
            <a:r>
              <a:t>Objectives</a:t>
            </a:r>
          </a:p>
          <a:p/>
          <a:p>
            <a:pPr/>
            <a:r>
              <a:t>Add and improve project documentation</a:t>
            </a:r>
          </a:p>
          <a:p>
            <a:pPr/>
            <a:r>
              <a:t>Review AI-generated docs for accuracy and completeness</a:t>
            </a:r>
          </a:p>
          <a:p/>
          <a:p>
            <a:r>
              <a:t>Activities</a:t>
            </a:r>
          </a:p>
          <a:p/>
          <a:p>
            <a:r>
              <a:t>1. Documentation:</a:t>
            </a:r>
          </a:p>
          <a:p/>
          <a:p>
            <a:pPr/>
            <a:r>
              <a:t>Ask Copilot to generate XML/doc comments</a:t>
            </a:r>
          </a:p>
          <a:p>
            <a:pPr/>
            <a:r>
              <a:t>Review and refine for correctness</a:t>
            </a:r>
          </a:p>
          <a:p>
            <a:pPr/>
            <a:r>
              <a:t>Add README usage instructions</a:t>
            </a:r>
          </a:p>
          <a:p>
            <a:pPr/>
            <a:r>
              <a:t>Ask AI to update existing documentation sections</a:t>
            </a:r>
          </a:p>
          <a:p/>
          <a:p>
            <a:r>
              <a:t>Success Criteria</a:t>
            </a:r>
          </a:p>
          <a:p/>
          <a:p>
            <a:pPr/>
            <a:r>
              <a:t>Documentation is comprehensive and accurate</a:t>
            </a:r>
          </a:p>
          <a:p>
            <a:pPr/>
            <a:r>
              <a:t>AI-generated content is critically reviewed before acceptance</a:t>
            </a:r>
          </a:p>
        </p:txBody>
      </p:sp>
      <p:sp>
        <p:nvSpPr>
          <p:cNvPr id="4" name="Content Placeholder 3"/>
          <p:cNvSpPr>
            <a:spLocks noGrp="1"/>
          </p:cNvSpPr>
          <p:nvPr>
            <p:ph idx="2" sz="half"/>
          </p:nvPr>
        </p:nvSpPr>
        <p:spPr/>
        <p:txBody>
          <a:bodyPr/>
          <a:lstStyle/>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idx="1" sz="half"/>
          </p:nvPr>
        </p:nvSpPr>
        <p:spPr/>
        <p:txBody>
          <a:bodyPr wrap="square">
            <a:normAutofit/>
          </a:bodyPr>
          <a:lstStyle/>
          <a:p/>
          <a:p>
            <a:r>
              <a:t>Objectives</a:t>
            </a:r>
          </a:p>
          <a:p/>
          <a:p>
            <a:pPr/>
            <a:r>
              <a:t>Apply refactoring best practices</a:t>
            </a:r>
          </a:p>
          <a:p>
            <a:pPr/>
            <a:r>
              <a:t>Compare alternative implementations</a:t>
            </a:r>
          </a:p>
          <a:p>
            <a:pPr/>
            <a:r>
              <a:t>Evaluate trade-offs before choosing changes</a:t>
            </a:r>
          </a:p>
          <a:p/>
          <a:p>
            <a:r>
              <a:t>Activities</a:t>
            </a:r>
          </a:p>
          <a:p/>
          <a:p>
            <a:r>
              <a:t>1. Refactoring Exercise:</a:t>
            </a:r>
          </a:p>
          <a:p/>
          <a:p>
            <a:pPr/>
            <a:r>
              <a:t>Ask Copilot for alternative implementations</a:t>
            </a:r>
          </a:p>
          <a:p>
            <a:pPr/>
            <a:r>
              <a:t>Compare readability, complexity, and maintainability</a:t>
            </a:r>
          </a:p>
          <a:p>
            <a:pPr/>
            <a:r>
              <a:t>Discuss trade-offs and select best approach</a:t>
            </a:r>
          </a:p>
          <a:p/>
          <a:p>
            <a:r>
              <a:t>Success Criteria</a:t>
            </a:r>
          </a:p>
          <a:p/>
          <a:p>
            <a:pPr/>
            <a:r>
              <a:t>At least one refactoring improvement implemented</a:t>
            </a:r>
          </a:p>
          <a:p>
            <a:pPr/>
            <a:r>
              <a:t>Code quality and maintainability improved</a:t>
            </a:r>
          </a:p>
          <a:p>
            <a:pPr/>
            <a:r>
              <a:t>AI suggestions critically evaluated</a:t>
            </a:r>
          </a:p>
        </p:txBody>
      </p:sp>
      <p:sp>
        <p:nvSpPr>
          <p:cNvPr id="4" name="Content Placeholder 3"/>
          <p:cNvSpPr>
            <a:spLocks noGrp="1"/>
          </p:cNvSpPr>
          <p:nvPr>
            <p:ph idx="2" sz="half"/>
          </p:nvPr>
        </p:nvSpPr>
        <p:spPr/>
        <p:txBody>
          <a:bodyPr/>
          <a:lstStyle/>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Test Coverage Improvement</a:t>
            </a:r>
          </a:p>
        </p:txBody>
      </p:sp>
      <p:sp>
        <p:nvSpPr>
          <p:cNvPr id="3" name="Content Placeholder 2"/>
          <p:cNvSpPr>
            <a:spLocks noGrp="1"/>
          </p:cNvSpPr>
          <p:nvPr>
            <p:ph idx="1" sz="half"/>
          </p:nvPr>
        </p:nvSpPr>
        <p:spPr/>
        <p:txBody>
          <a:bodyPr wrap="square">
            <a:normAutofit/>
          </a:bodyPr>
          <a:lstStyle/>
          <a:p/>
          <a:p>
            <a:r>
              <a:t>Objectives</a:t>
            </a:r>
          </a:p>
          <a:p>
            <a:pPr/>
            <a:r>
              <a:t>Analyze code coverage reports</a:t>
            </a:r>
          </a:p>
          <a:p>
            <a:pPr/>
            <a:r>
              <a:t>Use Copilot to intelligently add tests</a:t>
            </a:r>
          </a:p>
          <a:p>
            <a:pPr/>
            <a:r>
              <a:t>Achieve target coverage percentage</a:t>
            </a:r>
          </a:p>
          <a:p>
            <a:pPr/>
            <a:r>
              <a:t>Balance quantity vs. quality of tests</a:t>
            </a:r>
          </a:p>
          <a:p/>
          <a:p>
            <a:r>
              <a:t>Activities</a:t>
            </a:r>
          </a:p>
          <a:p>
            <a:r>
              <a:t>1. Review Current Coverage:</a:t>
            </a:r>
          </a:p>
          <a:p>
            <a:r>
              <a:t>  - Run tests with coverage reporting</a:t>
            </a:r>
          </a:p>
          <a:p>
            <a:r>
              <a:t>  - Identify uncovered code paths</a:t>
            </a:r>
          </a:p>
          <a:p>
            <a:r>
              <a:t>  - Analyze coverage percentage by file/class</a:t>
            </a:r>
          </a:p>
          <a:p>
            <a:r>
              <a:t>2. Targeted Test Generation:</a:t>
            </a:r>
          </a:p>
          <a:p>
            <a:r>
              <a:t>  - Prompt: "Add tests to increase code coverage to [X]%"</a:t>
            </a:r>
          </a:p>
          <a:p>
            <a:r>
              <a:t>  - Observe how Copilot identifies gaps</a:t>
            </a:r>
          </a:p>
          <a:p>
            <a:r>
              <a:t>  - Review generated tests for quality</a:t>
            </a:r>
          </a:p>
          <a:p>
            <a:r>
              <a:t>3. Strategic Coverage Improvement:</a:t>
            </a:r>
          </a:p>
          <a:p>
            <a:r>
              <a:t>  - Prompt: "Add tests for edge cases in division operation"</a:t>
            </a:r>
          </a:p>
          <a:p>
            <a:r>
              <a:t>  - Prompt: "Add tests for corner cases like divide by zero"</a:t>
            </a:r>
          </a:p>
          <a:p>
            <a:r>
              <a:t>  - Prompt: "Add integration tests for evaluate arithmetic method"</a:t>
            </a:r>
          </a:p>
          <a:p>
            <a:r>
              <a:t>4. Verify Test Quality:</a:t>
            </a:r>
          </a:p>
          <a:p>
            <a:r>
              <a:t>  - Confirm tests call real implementation code</a:t>
            </a:r>
          </a:p>
          <a:p>
            <a:r>
              <a:t>  - Confirm tests verify expected behavior, not just execution</a:t>
            </a:r>
          </a:p>
          <a:p>
            <a:r>
              <a:t>  - Confirm edge cases are properly handled</a:t>
            </a:r>
          </a:p>
          <a:p>
            <a:r>
              <a:t>5. Re-run Coverage:</a:t>
            </a:r>
          </a:p>
          <a:p>
            <a:r>
              <a:t>  - Execute test suite with coverage</a:t>
            </a:r>
          </a:p>
          <a:p>
            <a:r>
              <a:t>  - Compare before/after percentages</a:t>
            </a:r>
          </a:p>
          <a:p>
            <a:r>
              <a:t>  - Identify remaining gaps</a:t>
            </a:r>
          </a:p>
          <a:p/>
          <a:p>
            <a:r>
              <a:t>Success Criteria</a:t>
            </a:r>
          </a:p>
          <a:p>
            <a:pPr/>
            <a:r>
              <a:t>Code coverage increased by at least 20 percentage points</a:t>
            </a:r>
          </a:p>
          <a:p>
            <a:pPr/>
            <a:r>
              <a:t>All new tests are meaningful and test actual implementation</a:t>
            </a:r>
          </a:p>
          <a:p>
            <a:pPr/>
            <a:r>
              <a:t>Tests include edge cases and error conditions</a:t>
            </a:r>
          </a:p>
          <a:p>
            <a:pPr/>
            <a:r>
              <a:t>Coverage report shows improved metrics</a:t>
            </a:r>
          </a:p>
          <a:p>
            <a:pPr/>
            <a:r>
              <a:t>Understanding of test quality vs. quantity trade-offs</a:t>
            </a:r>
          </a:p>
        </p:txBody>
      </p:sp>
      <p:sp>
        <p:nvSpPr>
          <p:cNvPr id="4" name="Content Placeholder 3"/>
          <p:cNvSpPr>
            <a:spLocks noGrp="1"/>
          </p:cNvSpPr>
          <p:nvPr>
            <p:ph idx="2" sz="half"/>
          </p:nvPr>
        </p:nvSpPr>
        <p:spPr/>
        <p:txBody>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Lab 3 - Test-Driven Development (TDD) with Copilot</a:t>
            </a:r>
          </a:p>
        </p:txBody>
      </p:sp>
      <p:sp>
        <p:nvSpPr>
          <p:cNvPr id="3" name="Content Placeholder 2"/>
          <p:cNvSpPr>
            <a:spLocks noGrp="1"/>
          </p:cNvSpPr>
          <p:nvPr>
            <p:ph idx="1" sz="half"/>
          </p:nvPr>
        </p:nvSpPr>
        <p:spPr/>
        <p:txBody>
          <a:bodyPr wrap="square">
            <a:normAutofit/>
          </a:bodyPr>
          <a:lstStyle/>
          <a:p/>
          <a:p>
            <a:r>
              <a:t>Objectives</a:t>
            </a:r>
          </a:p>
          <a:p>
            <a:pPr/>
            <a:r>
              <a:t>Practice TDD workflow with AI assistance</a:t>
            </a:r>
          </a:p>
          <a:p>
            <a:pPr/>
            <a:r>
              <a:t>Write failing tests before implementation</a:t>
            </a:r>
          </a:p>
          <a:p>
            <a:pPr/>
            <a:r>
              <a:t>Use tests to drive design decisions</a:t>
            </a:r>
          </a:p>
          <a:p>
            <a:pPr/>
            <a:r>
              <a:t>Understand red-green-refactor cycle</a:t>
            </a:r>
          </a:p>
          <a:p/>
          <a:p>
            <a:r>
              <a:t>Activities</a:t>
            </a:r>
          </a:p>
          <a:p>
            <a:r>
              <a:t>1. Define New Feature:</a:t>
            </a:r>
          </a:p>
          <a:p>
            <a:r>
              <a:t>  - Choose a feature (for example, memory operations for calculator)</a:t>
            </a:r>
          </a:p>
          <a:p>
            <a:r>
              <a:t>  - Store current result (ANS/answer functionality)</a:t>
            </a:r>
          </a:p>
          <a:p>
            <a:r>
              <a:t>  - Recall previous result</a:t>
            </a:r>
          </a:p>
          <a:p>
            <a:r>
              <a:t>  - Handle "ANS + 5" style operations</a:t>
            </a:r>
          </a:p>
          <a:p>
            <a:r>
              <a:t>2. Write Failing Tests First:</a:t>
            </a:r>
          </a:p>
          <a:p>
            <a:r>
              <a:t>  - Prompt: "Using TDD, create tests for a memory/answer feature in the calculator. DO NOT implement the feature yet."</a:t>
            </a:r>
          </a:p>
          <a:p>
            <a:r>
              <a:t>  - Review generated tests</a:t>
            </a:r>
          </a:p>
          <a:p>
            <a:r>
              <a:t>  - Verify tests reference methods that do not exist yet</a:t>
            </a:r>
          </a:p>
          <a:p>
            <a:r>
              <a:t>3. Run Tests (Expect Failures):</a:t>
            </a:r>
          </a:p>
          <a:p>
            <a:r>
              <a:t>  - Execute test suite</a:t>
            </a:r>
          </a:p>
          <a:p>
            <a:r>
              <a:t>  - Observe compilation errors or test failures</a:t>
            </a:r>
          </a:p>
          <a:p>
            <a:r>
              <a:t>  - Document what is missing</a:t>
            </a:r>
          </a:p>
          <a:p>
            <a:r>
              <a:t>4. Implement Feature to Pass Tests:</a:t>
            </a:r>
          </a:p>
          <a:p>
            <a:r>
              <a:t>  - Prompt: "Implement the memory/answer feature to make the tests pass"</a:t>
            </a:r>
          </a:p>
          <a:p>
            <a:r>
              <a:t>  - Review generated implementation</a:t>
            </a:r>
          </a:p>
          <a:p>
            <a:r>
              <a:t>  - Run tests again</a:t>
            </a:r>
          </a:p>
          <a:p>
            <a:r>
              <a:t>  - Verify all tests now pass</a:t>
            </a:r>
          </a:p>
          <a:p>
            <a:r>
              <a:t>5. Refactor:</a:t>
            </a:r>
          </a:p>
          <a:p>
            <a:r>
              <a:t>  - With tests passing, ask for improvements</a:t>
            </a:r>
          </a:p>
          <a:p>
            <a:r>
              <a:t>  - Prompt: "Refactor the answer implementation for better readability"</a:t>
            </a:r>
          </a:p>
          <a:p>
            <a:r>
              <a:t>  - Verify tests still pass after refactoring</a:t>
            </a:r>
          </a:p>
          <a:p/>
          <a:p>
            <a:r>
              <a:t>Success Criteria</a:t>
            </a:r>
          </a:p>
          <a:p>
            <a:pPr/>
            <a:r>
              <a:t>Tests written before implementation</a:t>
            </a:r>
          </a:p>
          <a:p>
            <a:pPr/>
            <a:r>
              <a:t>Initial test run shows failures (red phase)</a:t>
            </a:r>
          </a:p>
          <a:p>
            <a:pPr/>
            <a:r>
              <a:t>Implementation makes all tests pass (green phase)</a:t>
            </a:r>
          </a:p>
          <a:p>
            <a:pPr/>
            <a:r>
              <a:t>Code refactored while maintaining passing tests</a:t>
            </a:r>
          </a:p>
          <a:p>
            <a:pPr/>
            <a:r>
              <a:t>Understanding of TDD benefits and workflow</a:t>
            </a:r>
          </a:p>
        </p:txBody>
      </p:sp>
      <p:sp>
        <p:nvSpPr>
          <p:cNvPr id="4" name="Content Placeholder 3"/>
          <p:cNvSpPr>
            <a:spLocks noGrp="1"/>
          </p:cNvSpPr>
          <p:nvPr>
            <p:ph idx="2" sz="half"/>
          </p:nvPr>
        </p:nvSpPr>
        <p:spPr/>
        <p:txBody>
          <a:bodyPr/>
          <a:lstStyle/>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wrap="square">
            <a:normAutofit/>
          </a:bodyPr>
          <a:lstStyle/>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wrap="square">
            <a:normAutofit/>
          </a:bodyPr>
          <a:lstStyle/>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wrap="square">
            <a:normAutofit/>
          </a:bodyPr>
          <a:lstStyle/>
          <a:p/>
          <a:p>
            <a:r>
              <a:t>```text</a:t>
            </a:r>
          </a:p>
          <a:p>
            <a:r>
              <a:t>You → intent           AI → working YAML</a:t>
            </a:r>
          </a:p>
          <a:p>
            <a:r>
              <a:t>   "run tests on PR"        on: [pull_request]</a:t>
            </a:r>
          </a:p>
          <a:p>
            <a:r>
              <a:t>                            jobs: test: ...</a:t>
            </a:r>
          </a:p>
          <a:p>
            <a:r>
              <a:t>```</a:t>
            </a:r>
          </a:p>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Actions YAML Generation</a:t>
            </a:r>
          </a:p>
        </p:txBody>
      </p:sp>
      <p:sp>
        <p:nvSpPr>
          <p:cNvPr id="3" name="Content Placeholder 2"/>
          <p:cNvSpPr>
            <a:spLocks noGrp="1"/>
          </p:cNvSpPr>
          <p:nvPr>
            <p:ph idx="1"/>
          </p:nvPr>
        </p:nvSpPr>
        <p:spPr/>
        <p:txBody>
          <a:bodyPr wrap="square">
            <a:normAutofit/>
          </a:bodyPr>
          <a:lstStyle/>
          <a:p/>
          <a:p>
            <a:r>
              <a:t>Ask Copilot in chat or inline:</a:t>
            </a:r>
          </a:p>
          <a:p/>
          <a:p>
            <a:r>
              <a:t>```text</a:t>
            </a:r>
          </a:p>
          <a:p>
            <a:r>
              <a:t>Prompt: "Create a GitHub Actions workflow that runs</a:t>
            </a:r>
          </a:p>
          <a:p>
            <a:r>
              <a:t>dotnet test on every pull request targeting main,</a:t>
            </a:r>
          </a:p>
          <a:p>
            <a:r>
              <a:t>uploads a code coverage report, and fails if</a:t>
            </a:r>
          </a:p>
          <a:p>
            <a:r>
              <a:t>coverage drops below 80%."</a:t>
            </a:r>
          </a:p>
          <a:p>
            <a:r>
              <a:t>```</a:t>
            </a:r>
          </a:p>
          <a:p/>
          <a:p>
            <a:r>
              <a:t>Copilot generates:</a:t>
            </a:r>
          </a:p>
          <a:p/>
          <a:p>
            <a:pPr/>
            <a:r>
              <a:t>Trigger block (`on:`)</a:t>
            </a:r>
          </a:p>
          <a:p>
            <a:pPr/>
            <a:r>
              <a:t>Job matrix</a:t>
            </a:r>
          </a:p>
          <a:p>
            <a:pPr/>
            <a:r>
              <a:t>Step sequence</a:t>
            </a:r>
          </a:p>
          <a:p>
            <a:pPr/>
            <a:r>
              <a:t>Coverage upload + threshold enforcement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an AI-Generated Workflow</a:t>
            </a:r>
          </a:p>
        </p:txBody>
      </p:sp>
      <p:sp>
        <p:nvSpPr>
          <p:cNvPr id="3" name="Content Placeholder 2"/>
          <p:cNvSpPr>
            <a:spLocks noGrp="1"/>
          </p:cNvSpPr>
          <p:nvPr>
            <p:ph idx="1"/>
          </p:nvPr>
        </p:nvSpPr>
        <p:spPr/>
        <p:txBody>
          <a:bodyPr wrap="square">
            <a:normAutofit/>
          </a:bodyPr>
          <a:lstStyle/>
          <a:p/>
          <a:p>
            <a:r>
              <a:t>```yaml</a:t>
            </a:r>
          </a:p>
          <a:p>
            <a:r>
              <a:t>name: CI</a:t>
            </a:r>
          </a:p>
          <a:p/>
          <a:p>
            <a:r>
              <a:t>on:</a:t>
            </a:r>
          </a:p>
          <a:p>
            <a:r>
              <a:t>  pull_request:</a:t>
            </a:r>
          </a:p>
          <a:p>
            <a:r>
              <a:t>    branches: [main]</a:t>
            </a:r>
          </a:p>
          <a:p/>
          <a:p>
            <a:r>
              <a:t>jobs:</a:t>
            </a:r>
          </a:p>
          <a:p>
            <a:r>
              <a:t>  build-and-test:</a:t>
            </a:r>
          </a:p>
          <a:p>
            <a:r>
              <a:t>    runs-on: ubuntu-latest</a:t>
            </a:r>
          </a:p>
          <a:p>
            <a:r>
              <a:t>    steps:</a:t>
            </a:r>
          </a:p>
          <a:p>
            <a:r>
              <a:t>      - uses: actions/checkout@v4</a:t>
            </a:r>
          </a:p>
          <a:p>
            <a:r>
              <a:t>      - uses: actions/setup-dotnet@v4</a:t>
            </a:r>
          </a:p>
          <a:p>
            <a:r>
              <a:t>        with:</a:t>
            </a:r>
          </a:p>
          <a:p>
            <a:r>
              <a:t>          dotnet-version: "8.x"</a:t>
            </a:r>
          </a:p>
          <a:p>
            <a:r>
              <a:t>      - run: dotnet restore</a:t>
            </a:r>
          </a:p>
          <a:p>
            <a:r>
              <a:t>      - run: dotnet build --no-restore</a:t>
            </a:r>
          </a:p>
          <a:p>
            <a:r>
              <a:t>      - run: dotnet test --no-build</a:t>
            </a:r>
          </a:p>
          <a:p>
            <a:r>
              <a:t>          --collect:"XPlat Code Coverage"</a:t>
            </a:r>
          </a:p>
          <a:p>
            <a: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wrap="square">
            <a:normAutofit/>
          </a:bodyPr>
          <a:lstStyle/>
          <a:p/>
          <a:p>
            <a:r>
              <a:t>Coverage gates enforce quality — AI helps configure them correctly</a:t>
            </a:r>
          </a:p>
          <a:p/>
          <a:p>
            <a:r>
              <a:t>```yaml</a:t>
            </a:r>
          </a:p>
          <a:p>
            <a:pPr/>
            <a:r>
              <a:t>name: Test with coverage</a:t>
            </a:r>
          </a:p>
          <a:p>
            <a:r>
              <a:t>  run: |</a:t>
            </a:r>
          </a:p>
          <a:p>
            <a:r>
              <a:t>    dotnet test --collect:"XPlat Code Coverage" \</a:t>
            </a:r>
          </a:p>
          <a:p>
            <a:r>
              <a:t>      -- DataCollectionRunSettings.DataCollectors \</a:t>
            </a:r>
          </a:p>
          <a:p>
            <a:r>
              <a:t>         .DataCollector.Configuration.Threshold=80</a:t>
            </a:r>
          </a:p>
          <a:p/>
          <a:p>
            <a:pPr/>
            <a:r>
              <a:t>name: Upload coverage</a:t>
            </a:r>
          </a:p>
          <a:p>
            <a:r>
              <a:t>  uses: codecov/codecov-action@v4</a:t>
            </a:r>
          </a:p>
          <a:p>
            <a:r>
              <a:t>  with:</a:t>
            </a:r>
          </a:p>
          <a:p>
            <a:r>
              <a:t>    fail_ci_if_error: true</a:t>
            </a:r>
          </a:p>
          <a:p>
            <a:r>
              <a:t>    threshold: 80</a:t>
            </a:r>
          </a:p>
          <a:p>
            <a:r>
              <a:t>```</a:t>
            </a:r>
          </a:p>
          <a:p/>
          <a:p>
            <a:r>
              <a:t>Ask Copilot: _"How do I fail the build if branch coverage drops below 80%?"_</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wrap="square">
            <a:normAutofit/>
          </a:bodyPr>
          <a:lstStyle/>
          <a:p/>
          <a:p>
            <a:r>
              <a:t>AI can generate: matrix builds, dependency caching, artifact upload</a:t>
            </a:r>
          </a:p>
          <a:p/>
          <a:p>
            <a:r>
              <a:t>```yaml</a:t>
            </a:r>
          </a:p>
          <a:p>
            <a:r>
              <a:t>strategy:</a:t>
            </a:r>
          </a:p>
          <a:p>
            <a:r>
              <a:t>  matrix:</a:t>
            </a:r>
          </a:p>
          <a:p>
            <a:r>
              <a:t>    os: [ubuntu-latest, windows-latest]</a:t>
            </a:r>
          </a:p>
          <a:p>
            <a:r>
              <a:t>    dotnet: ["7.x", "8.x"]</a:t>
            </a:r>
          </a:p>
          <a:p/>
          <a:p>
            <a:r>
              <a:t>steps:</a:t>
            </a:r>
          </a:p>
          <a:p>
            <a:r>
              <a:t>  - uses: actions/cache@v4</a:t>
            </a:r>
          </a:p>
          <a:p>
            <a:r>
              <a:t>    with:</a:t>
            </a:r>
          </a:p>
          <a:p>
            <a:r>
              <a:t>      path: ~/.nuget/packages</a:t>
            </a:r>
          </a:p>
          <a:p>
            <a:r>
              <a:t>      key: ${{ runner.os }}-nuget-</a:t>
            </a:r>
          </a:p>
          <a:p>
            <a:r>
              <a:t>        ${{ hashFiles('**/*.csproj') }}</a:t>
            </a:r>
          </a:p>
          <a:p/>
          <a:p>
            <a:r>
              <a:t>  - uses: actions/upload-artifact@v4</a:t>
            </a:r>
          </a:p>
          <a:p>
            <a:r>
              <a:t>    with:</a:t>
            </a:r>
          </a:p>
          <a:p>
            <a:r>
              <a:t>      name: test-results</a:t>
            </a:r>
          </a:p>
          <a:p>
            <a:r>
              <a:t>      path: TestResults/</a:t>
            </a:r>
          </a:p>
          <a:p>
            <a: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wrap="square">
            <a:normAutofit/>
          </a:bodyPr>
          <a:lstStyle/>
          <a:p/>
          <a:p>
            <a:r>
              <a:t>Pipelines rot — actions deprecate, runners change, dependencies drift</a:t>
            </a:r>
          </a:p>
          <a:p/>
          <a:p>
            <a:r>
              <a:t>Ask Copilot to:</a:t>
            </a:r>
          </a:p>
          <a:p/>
          <a:p>
            <a:pPr/>
            <a:r>
              <a:t>Explain a failing run from pasted log output</a:t>
            </a:r>
          </a:p>
          <a:p>
            <a:pPr/>
            <a:r>
              <a:t>Upgrade pinned action versions safely</a:t>
            </a:r>
          </a:p>
          <a:p>
            <a:pPr/>
            <a:r>
              <a:t>Refactor a 300-line workflow into reusable workflows</a:t>
            </a:r>
          </a:p>
          <a:p>
            <a:pPr/>
            <a:r>
              <a:t>Add a deployment stage to an existing CI workflow</a:t>
            </a:r>
          </a:p>
          <a:p/>
          <a:p>
            <a:r>
              <a:t>_"This workflow is failing with exit code 128 — here is the log. What is wrong?"_</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wrap="square">
            <a:normAutofit/>
          </a:bodyPr>
          <a:lstStyle/>
          <a:p/>
          <a:p>
            <a:r>
              <a:t>AI generates caller and callee in one prompt</a:t>
            </a:r>
          </a:p>
          <a:p/>
          <a:p>
            <a:r>
              <a:t>```yaml</a:t>
            </a:r>
          </a:p>
          <a:p>
            <a:r>
              <a:t># .github/workflows/reusable-test.yml</a:t>
            </a:r>
          </a:p>
          <a:p>
            <a:r>
              <a:t>on:</a:t>
            </a:r>
          </a:p>
          <a:p>
            <a:r>
              <a:t>  workflow_call:</a:t>
            </a:r>
          </a:p>
          <a:p>
            <a:r>
              <a:t>    inputs:</a:t>
            </a:r>
          </a:p>
          <a:p>
            <a:r>
              <a:t>      dotnet-version:</a:t>
            </a:r>
          </a:p>
          <a:p>
            <a:r>
              <a:t>        required: true</a:t>
            </a:r>
          </a:p>
          <a:p>
            <a:r>
              <a:t>        type: string</a:t>
            </a:r>
          </a:p>
          <a:p/>
          <a:p>
            <a:r>
              <a:t>jobs:</a:t>
            </a:r>
          </a:p>
          <a:p>
            <a:r>
              <a:t>  test:</a:t>
            </a:r>
          </a:p>
          <a:p>
            <a:r>
              <a:t>    runs-on: ubuntu-latest</a:t>
            </a:r>
          </a:p>
          <a:p>
            <a:r>
              <a:t>    steps:</a:t>
            </a:r>
          </a:p>
          <a:p>
            <a:r>
              <a:t>      - uses: actions/checkout@v4</a:t>
            </a:r>
          </a:p>
          <a:p>
            <a:r>
              <a:t>      - uses: actions/setup-dotnet@v4</a:t>
            </a:r>
          </a:p>
          <a:p>
            <a:r>
              <a:t>        with:</a:t>
            </a:r>
          </a:p>
          <a:p>
            <a:r>
              <a:t>          dotnet-version: ${{ inputs.dotnet-version }}</a:t>
            </a:r>
          </a:p>
          <a:p>
            <a:r>
              <a:t>      - run: dotnet test</a:t>
            </a:r>
          </a:p>
          <a:p>
            <a: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Secrets, Permissions, and Security</a:t>
            </a:r>
          </a:p>
        </p:txBody>
      </p:sp>
      <p:sp>
        <p:nvSpPr>
          <p:cNvPr id="3" name="Content Placeholder 2"/>
          <p:cNvSpPr>
            <a:spLocks noGrp="1"/>
          </p:cNvSpPr>
          <p:nvPr>
            <p:ph idx="1"/>
          </p:nvPr>
        </p:nvSpPr>
        <p:spPr/>
        <p:txBody>
          <a:bodyPr wrap="square">
            <a:normAutofit/>
          </a:bodyPr>
          <a:lstStyle/>
          <a:p/>
          <a:p>
            <a:r>
              <a:t>AI assists but YOU own security decisions</a:t>
            </a:r>
          </a:p>
          <a:p/>
          <a:p>
            <a:r>
              <a:t>```yaml</a:t>
            </a:r>
          </a:p>
          <a:p>
            <a:r>
              <a:t>permissions:</a:t>
            </a:r>
          </a:p>
          <a:p>
            <a:r>
              <a:t>  contents: read</a:t>
            </a:r>
          </a:p>
          <a:p>
            <a:r>
              <a:t>  checks: write # required for test reporters</a:t>
            </a:r>
          </a:p>
          <a:p>
            <a:r>
              <a:t>  pull-requests: write # required for PR comments</a:t>
            </a:r>
          </a:p>
          <a:p/>
          <a:p>
            <a:r>
              <a:t>env:</a:t>
            </a:r>
          </a:p>
          <a:p>
            <a:r>
              <a:t>  SONAR_TOKEN: ${{ secrets.SONAR_TOKEN }}</a:t>
            </a:r>
          </a:p>
          <a:p>
            <a:r>
              <a:t>```</a:t>
            </a:r>
          </a:p>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Zero to Pipeline: Live Workflow</a:t>
            </a:r>
          </a:p>
        </p:txBody>
      </p:sp>
      <p:sp>
        <p:nvSpPr>
          <p:cNvPr id="3" name="Content Placeholder 2"/>
          <p:cNvSpPr>
            <a:spLocks noGrp="1"/>
          </p:cNvSpPr>
          <p:nvPr>
            <p:ph idx="1"/>
          </p:nvPr>
        </p:nvSpPr>
        <p:spPr/>
        <p:txBody>
          <a:bodyPr wrap="square">
            <a:normAutofit/>
          </a:bodyPr>
          <a:lstStyle/>
          <a:p/>
          <a:p>
            <a:r>
              <a:t>```text</a:t>
            </a:r>
          </a:p>
          <a:p>
            <a:r>
              <a:t>1. Describe your stack to Copilot</a:t>
            </a:r>
          </a:p>
          <a:p>
            <a:r>
              <a:t>   "Node 20, Vitest, Playwright e2e, deploys to Azure"</a:t>
            </a:r>
          </a:p>
          <a:p/>
          <a:p>
            <a:r>
              <a:t>2. Ask for a complete CI workflow</a:t>
            </a:r>
          </a:p>
          <a:p>
            <a:r>
              <a:t>   → Copilot generates trigger, jobs, steps</a:t>
            </a:r>
          </a:p>
          <a:p/>
          <a:p>
            <a:r>
              <a:t>3. Ask for coverage enforcement</a:t>
            </a:r>
          </a:p>
          <a:p>
            <a:r>
              <a:t>   → Copilot adds threshold + upload steps</a:t>
            </a:r>
          </a:p>
          <a:p/>
          <a:p>
            <a:r>
              <a:t>4. Ask "what caching should I add?"</a:t>
            </a:r>
          </a:p>
          <a:p>
            <a:r>
              <a:t>   → Copilot adds node_modules cache with correct key</a:t>
            </a:r>
          </a:p>
          <a:p/>
          <a:p>
            <a:r>
              <a:t>5. Paste a failure log and ask "why?"</a:t>
            </a:r>
          </a:p>
          <a:p>
            <a:r>
              <a:t>   → Copilot diagnoses in seconds</a:t>
            </a:r>
          </a:p>
          <a:p>
            <a: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wrap="square">
            <a:normAutofit/>
          </a:bodyPr>
          <a:lstStyle/>
          <a:p/>
          <a:p>
            <a:r>
              <a:rPr b="1"/>
              <a:t>Goal</a:t>
            </a:r>
            <a:r>
              <a:t>: Generate a complete CI pipeline for a provided sample repo</a:t>
            </a:r>
          </a:p>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a:t>
            </a:r>
            <a:r>
              <a:rPr b="1"/>
              <a:t>Bonus</a:t>
            </a:r>
            <a:r>
              <a:t>: Add a matrix build for two Node versions</a:t>
            </a:r>
          </a:p>
          <a:p/>
          <a:p>
            <a:r>
              <a:t>_Sample repo link provided by instructor_</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Stage</a:t>
                      </a:r>
                    </a:p>
                  </a:txBody>
                  <a:tcPr/>
                </a:tc>
                <a:tc>
                  <a:txBody>
                    <a:bodyPr/>
                    <a:lstStyle/>
                    <a:p>
                      <a:pPr>
                        <a:defRPr b="1" sz="1296"/>
                      </a:pPr>
                      <a:r>
                        <a:t>AI Assistance</a:t>
                      </a:r>
                    </a:p>
                  </a:txBody>
                  <a:tcPr/>
                </a:tc>
              </a:tr>
              <a:tr h="457200">
                <a:tc>
                  <a:txBody>
                    <a:bodyPr/>
                    <a:lstStyle/>
                    <a:p>
                      <a:r>
                        <a:t>Writing code</a:t>
                      </a:r>
                    </a:p>
                  </a:txBody>
                  <a:tcPr/>
                </a:tc>
                <a:tc>
                  <a:txBody>
                    <a:bodyPr/>
                    <a:lstStyle/>
                    <a:p>
                      <a:r>
                        <a:t>Copilot completions</a:t>
                      </a:r>
                    </a:p>
                  </a:txBody>
                  <a:tcPr/>
                </a:tc>
              </a:tr>
              <a:tr h="457200">
                <a:tc>
                  <a:txBody>
                    <a:bodyPr/>
                    <a:lstStyle/>
                    <a:p>
                      <a:r>
                        <a:t>Drafting the PR</a:t>
                      </a:r>
                    </a:p>
                  </a:txBody>
                  <a:tcPr/>
                </a:tc>
                <a:tc>
                  <a:txBody>
                    <a:bodyPr/>
                    <a:lstStyle/>
                    <a:p>
                      <a:r>
                        <a:t>Generated description</a:t>
                      </a:r>
                    </a:p>
                  </a:txBody>
                  <a:tcPr/>
                </a:tc>
              </a:tr>
              <a:tr h="457200">
                <a:tc>
                  <a:txBody>
                    <a:bodyPr/>
                    <a:lstStyle/>
                    <a:p>
                      <a:r>
                        <a:t>Code review</a:t>
                      </a:r>
                    </a:p>
                  </a:txBody>
                  <a:tcPr/>
                </a:tc>
                <a:tc>
                  <a:txBody>
                    <a:bodyPr/>
                    <a:lstStyle/>
                    <a:p>
                      <a:r>
                        <a:t>Inline suggestions &amp; summaries</a:t>
                      </a:r>
                    </a:p>
                  </a:txBody>
                  <a:tcPr/>
                </a:tc>
              </a:tr>
              <a:tr h="457200">
                <a:tc>
                  <a:txBody>
                    <a:bodyPr/>
                    <a:lstStyle/>
                    <a:p>
                      <a:r>
                        <a:t>Addressing feedback</a:t>
                      </a:r>
                    </a:p>
                  </a:txBody>
                  <a:tcPr/>
                </a:tc>
                <a:tc>
                  <a:txBody>
                    <a:bodyPr/>
                    <a:lstStyle/>
                    <a:p>
                      <a:r>
                        <a:t>Guided fixes</a:t>
                      </a:r>
                    </a:p>
                  </a:txBody>
                  <a:tcPr/>
                </a:tc>
              </a:tr>
              <a:tr h="457200">
                <a:tc>
                  <a:txBody>
                    <a:bodyPr/>
                    <a:lstStyle/>
                    <a:p>
                      <a:r>
                        <a:t>Final merge</a:t>
                      </a:r>
                    </a:p>
                  </a:txBody>
                  <a:tcPr/>
                </a:tc>
                <a:tc>
                  <a:txBody>
                    <a:bodyPr/>
                    <a:lstStyle/>
                    <a:p>
                      <a:r>
                        <a:t>Automated checks</a:t>
                      </a:r>
                    </a:p>
                  </a:txBody>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wrap="square">
            <a:normAutofit/>
          </a:bodyPr>
          <a:lstStyle/>
          <a:p/>
          <a:p>
            <a:r>
              <a:t>GitHub Copilot can </a:t>
            </a:r>
            <a:r>
              <a:rPr b="1"/>
              <a:t>draft your PR description</a:t>
            </a:r>
            <a:r>
              <a:t> based on your diff:</a:t>
            </a:r>
          </a:p>
          <a:p/>
          <a:p>
            <a:pPr/>
            <a:r>
              <a:t>Summarizes </a:t>
            </a:r>
            <a:r>
              <a:rPr b="1"/>
              <a:t>what changed</a:t>
            </a:r>
            <a:r>
              <a:t> and </a:t>
            </a:r>
            <a:r>
              <a:rPr b="1"/>
              <a:t>why</a:t>
            </a:r>
          </a:p>
          <a:p>
            <a:pPr/>
            <a:r>
              <a:t>Suggests </a:t>
            </a:r>
            <a:r>
              <a:rPr b="1"/>
              <a:t>testing instructions</a:t>
            </a:r>
          </a:p>
          <a:p>
            <a:pPr/>
            <a:r>
              <a:t>Highlights </a:t>
            </a:r>
            <a:r>
              <a:rPr b="1"/>
              <a:t>breaking changes</a:t>
            </a:r>
          </a:p>
          <a:p>
            <a:pPr/>
            <a:r>
              <a:t>Links related </a:t>
            </a:r>
            <a:r>
              <a:rPr b="1"/>
              <a:t>issues and tickets</a:t>
            </a:r>
          </a:p>
          <a:p/>
          <a:p>
            <a:r>
              <a:rPr i="1"/>
              <a:t>💡 Use `gh pr create` with Copilot in the CLI, or the </a:t>
            </a:r>
            <a:r>
              <a:rPr b="1" i="1"/>
              <a:t>GitHub web editor</a:t>
            </a:r>
            <a:r>
              <a:rPr i="1"/>
              <a:t> with AI suggestions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wrap="square">
            <a:normAutofit/>
          </a:bodyPr>
          <a:lstStyle/>
          <a:p/>
          <a:p>
            <a:r>
              <a:t>Getting great AI output starts with </a:t>
            </a:r>
            <a:r>
              <a:rPr b="1"/>
              <a:t>good context</a:t>
            </a:r>
            <a:r>
              <a:t>:</a:t>
            </a:r>
          </a:p>
          <a:p/>
          <a:p>
            <a:r>
              <a:t>```markdown</a:t>
            </a:r>
          </a:p>
          <a:p>
            <a:r>
              <a:t># Good PR Description Prompt Pattern</a:t>
            </a:r>
          </a:p>
          <a:p/>
          <a:p/>
          <a:p>
            <a:pPr/>
            <a:r>
              <a:t>Brief bullet list of changes</a:t>
            </a:r>
          </a:p>
          <a:p/>
          <a:p/>
          <a:p>
            <a:pPr/>
            <a:r>
              <a:t>Business context or issue reference</a:t>
            </a:r>
          </a:p>
          <a:p/>
          <a:p/>
          <a:p>
            <a:pPr/>
            <a:r>
              <a:t>Step-by-step verification</a:t>
            </a:r>
          </a:p>
          <a:p>
            <a:r>
              <a:t>```</a:t>
            </a:r>
          </a:p>
          <a:p/>
          <a:p>
            <a:r>
              <a:t>Ask Copilot: _"Generate a PR description for these changes that explains the business impact"_</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wrap="square">
            <a:normAutofit/>
          </a:bodyPr>
          <a:lstStyle/>
          <a:p/>
          <a:p>
            <a:r>
              <a:t>GitHub Copilot assists reviewers with:</a:t>
            </a:r>
          </a:p>
          <a:p/>
          <a:p>
            <a:pPr/>
            <a:r>
              <a:rPr b="1"/>
              <a:t>Inline explanations</a:t>
            </a:r>
            <a:r>
              <a:t> of complex code</a:t>
            </a:r>
          </a:p>
          <a:p>
            <a:pPr/>
            <a:r>
              <a:rPr b="1"/>
              <a:t>Suggested improvements</a:t>
            </a:r>
            <a:r>
              <a:t> with rationale</a:t>
            </a:r>
          </a:p>
          <a:p>
            <a:pPr/>
            <a:r>
              <a:rPr b="1"/>
              <a:t>Security vulnerability</a:t>
            </a:r>
            <a:r>
              <a:t> detection</a:t>
            </a:r>
          </a:p>
          <a:p>
            <a:pPr/>
            <a:r>
              <a:rPr b="1"/>
              <a:t>Test coverage</a:t>
            </a:r>
            <a:r>
              <a:t> gap identification</a:t>
            </a:r>
          </a:p>
          <a:p>
            <a:pPr/>
            <a:r>
              <a:rPr b="1"/>
              <a:t>Style and convention</a:t>
            </a:r>
            <a:r>
              <a:t> enforcement</a:t>
            </a:r>
          </a:p>
          <a:p/>
          <a:p>
            <a:r>
              <a:rPr i="1"/>
              <a:t>Use `@workspace` in Copilot Chat to ask questions across the entire PR diff</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wrap="square">
            <a:normAutofit/>
          </a:bodyPr>
          <a:lstStyle/>
          <a:p/>
          <a:p>
            <a:r>
              <a:t>GitHub Copilot can </a:t>
            </a:r>
            <a:r>
              <a:rPr b="1"/>
              <a:t>summarize large PRs</a:t>
            </a:r>
            <a:r>
              <a:t> automatically:</a:t>
            </a:r>
          </a:p>
          <a:p/>
          <a:p>
            <a:pPr/>
            <a:r>
              <a:t>Condenses hundreds of lines of diff into a </a:t>
            </a:r>
            <a:r>
              <a:rPr b="1"/>
              <a:t>paragraph</a:t>
            </a:r>
          </a:p>
          <a:p>
            <a:pPr/>
            <a:r>
              <a:t>Categorizes changes: _features, fixes, refactors_</a:t>
            </a:r>
          </a:p>
          <a:p>
            <a:pPr/>
            <a:r>
              <a:t>Flags </a:t>
            </a:r>
            <a:r>
              <a:rPr b="1"/>
              <a:t>high-risk areas</a:t>
            </a:r>
            <a:r>
              <a:t> that need closer review</a:t>
            </a:r>
          </a:p>
          <a:p>
            <a:pPr/>
            <a:r>
              <a:t>Generates a </a:t>
            </a:r>
            <a:r>
              <a:rPr b="1"/>
              <a:t>changelog entry</a:t>
            </a:r>
            <a:r>
              <a:t> from the summary</a:t>
            </a:r>
          </a:p>
          <a:p/>
          <a:p>
            <a:r>
              <a:t>```</a:t>
            </a:r>
          </a:p>
          <a:p>
            <a:r>
              <a:t>GitHub.com → Pull Request → Copilot Summary button</a:t>
            </a:r>
          </a:p>
          <a:p>
            <a:r>
              <a: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Responding to Review Feedback</a:t>
            </a:r>
          </a:p>
        </p:txBody>
      </p:sp>
      <p:sp>
        <p:nvSpPr>
          <p:cNvPr id="3" name="Content Placeholder 2"/>
          <p:cNvSpPr>
            <a:spLocks noGrp="1"/>
          </p:cNvSpPr>
          <p:nvPr>
            <p:ph idx="1"/>
          </p:nvPr>
        </p:nvSpPr>
        <p:spPr/>
        <p:txBody>
          <a:bodyPr wrap="square">
            <a:normAutofit/>
          </a:bodyPr>
          <a:lstStyle/>
          <a:p/>
          <a:p>
            <a:r>
              <a:t>AI accelerates </a:t>
            </a:r>
            <a:r>
              <a:rPr b="1"/>
              <a:t>addressing reviewer comments</a:t>
            </a:r>
            <a:r>
              <a:t>:</a:t>
            </a:r>
          </a:p>
          <a:p/>
          <a:p>
            <a:r>
              <a:t>1. Copilot suggests </a:t>
            </a:r>
            <a:r>
              <a:rPr b="1"/>
              <a:t>code fixes</a:t>
            </a:r>
            <a:r>
              <a:t> inline from review comments</a:t>
            </a:r>
          </a:p>
          <a:p>
            <a:r>
              <a:t>2. Ask Copilot Chat: _"How do I fix this review comment?"_</a:t>
            </a:r>
          </a:p>
          <a:p>
            <a:r>
              <a:t>3. Copilot </a:t>
            </a:r>
            <a:r>
              <a:rPr b="1"/>
              <a:t>Autofix</a:t>
            </a:r>
            <a:r>
              <a:t> resolves flagged security issues</a:t>
            </a:r>
          </a:p>
          <a:p>
            <a:r>
              <a:t>4. Batch-address similar comments across files</a:t>
            </a:r>
          </a:p>
          <a:p/>
          <a:p>
            <a:r>
              <a:rPr i="1"/>
              <a:t>🔁 The feedback loop closes faster when AI drafts the fix and the human approves it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wrap="square">
            <a:normAutofit/>
          </a:bodyPr>
          <a:lstStyle/>
          <a:p/>
          <a:p>
            <a:r>
              <a:t>Integrate AI into your </a:t>
            </a:r>
            <a:r>
              <a:rPr b="1"/>
              <a:t>CI/CD pipeline</a:t>
            </a:r>
            <a:r>
              <a:t>:</a:t>
            </a:r>
          </a:p>
          <a:p/>
          <a:p>
            <a:r>
              <a:t>```yaml</a:t>
            </a:r>
          </a:p>
          <a:p>
            <a:r>
              <a:t># .github/workflows/pr-review.yml</a:t>
            </a:r>
          </a:p>
          <a:p>
            <a:pPr/>
            <a:r>
              <a:t>name: Copilot Code Review</a:t>
            </a:r>
          </a:p>
          <a:p>
            <a:r>
              <a:t>  uses: github/copilot-code-review@v1</a:t>
            </a:r>
          </a:p>
          <a:p/>
          <a:p>
            <a:pPr/>
            <a:r>
              <a:t>name: AI Security Scan</a:t>
            </a:r>
          </a:p>
          <a:p>
            <a:r>
              <a:t>  uses: github/advanced-security-action@v2</a:t>
            </a:r>
          </a:p>
          <a:p>
            <a:r>
              <a:t>```</a:t>
            </a:r>
          </a:p>
          <a:p/>
          <a:p>
            <a:pPr/>
            <a:r>
              <a:t>Run AI review on </a:t>
            </a:r>
            <a:r>
              <a:rPr b="1"/>
              <a:t>every PR automatically</a:t>
            </a:r>
          </a:p>
          <a:p>
            <a:pPr/>
            <a:r>
              <a:t>Block merges on </a:t>
            </a:r>
            <a:r>
              <a:rPr b="1"/>
              <a:t>critical AI-flagged issues</a:t>
            </a:r>
          </a:p>
          <a:p>
            <a:pPr/>
            <a:r>
              <a:t>Post AI summary as a </a:t>
            </a:r>
            <a:r>
              <a:rPr b="1"/>
              <a:t>PR comment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wrap="square">
            <a:normAutofit/>
          </a:bodyPr>
          <a:lstStyle/>
          <a:p/>
          <a:p>
            <a:r>
              <a:t>### Teams using AI for PRs report:</a:t>
            </a:r>
          </a:p>
          <a:p/>
          <a:p>
            <a:pPr/>
            <a:r>
              <a:rPr b="1"/>
              <a:t>40-60% reduction</a:t>
            </a:r>
            <a:r>
              <a:t> in time-to-first-review</a:t>
            </a:r>
          </a:p>
          <a:p>
            <a:pPr/>
            <a:r>
              <a:rPr b="1"/>
              <a:t>Clearer PR descriptions</a:t>
            </a:r>
            <a:r>
              <a:t> leading to fewer questions</a:t>
            </a:r>
          </a:p>
          <a:p>
            <a:pPr/>
            <a:r>
              <a:rPr b="1"/>
              <a:t>Faster onboarding</a:t>
            </a:r>
            <a:r>
              <a:t> — new devs produce PR-ready code sooner</a:t>
            </a:r>
          </a:p>
          <a:p>
            <a:pPr/>
            <a:r>
              <a:rPr b="1"/>
              <a:t>Higher review quality</a:t>
            </a:r>
            <a:r>
              <a:t> — reviewers catch logic issues, not style issues</a:t>
            </a:r>
          </a:p>
          <a:p/>
          <a:p>
            <a:r>
              <a:rPr i="1"/>
              <a:t>Source: GitHub internal data, 2024–2025 Copilot usage studies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wrap="square">
            <a:normAutofit/>
          </a:bodyPr>
          <a:lstStyle/>
          <a:p/>
          <a:p>
            <a:r>
              <a:t>✅ </a:t>
            </a:r>
            <a:r>
              <a:rPr b="1"/>
              <a:t>Do</a:t>
            </a:r>
          </a:p>
          <a:p/>
          <a:p>
            <a:pPr/>
            <a:r>
              <a:t>Review and personalize AI-generated descriptions</a:t>
            </a:r>
          </a:p>
          <a:p>
            <a:pPr/>
            <a:r>
              <a:t>Use Copilot Chat to ask questions during review</a:t>
            </a:r>
          </a:p>
          <a:p>
            <a:pPr/>
            <a:r>
              <a:t>Enable Copilot Autofix for security alerts</a:t>
            </a:r>
          </a:p>
          <a:p>
            <a:pPr/>
            <a:r>
              <a:t>Add a PR template to guide AI output</a:t>
            </a:r>
          </a:p>
          <a:p/>
          <a:p>
            <a:r>
              <a:t>❌ </a:t>
            </a:r>
            <a:r>
              <a:rPr b="1"/>
              <a:t>Avoid</a:t>
            </a:r>
          </a:p>
          <a:p/>
          <a:p>
            <a:pPr/>
            <a:r>
              <a:t>Merging AI-generated descriptions without reading them</a:t>
            </a:r>
          </a:p>
          <a:p>
            <a:pPr/>
            <a:r>
              <a:t>Treating AI review as a substitute for human judgment</a:t>
            </a:r>
          </a:p>
          <a:p>
            <a:pPr/>
            <a:r>
              <a:t>Over-automating to the point of alert fatigue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 Start small, build habits:</a:t>
            </a:r>
          </a:p>
          <a:p/>
          <a:p>
            <a:r>
              <a:t>1. </a:t>
            </a:r>
            <a:r>
              <a:rPr b="1"/>
              <a:t>Today</a:t>
            </a:r>
            <a:r>
              <a:t>: Use Copilot to draft your next PR description</a:t>
            </a:r>
          </a:p>
          <a:p>
            <a:r>
              <a:t>2. </a:t>
            </a:r>
            <a:r>
              <a:rPr b="1"/>
              <a:t>This week</a:t>
            </a:r>
            <a:r>
              <a:t>: Try Copilot Chat during your next code review</a:t>
            </a:r>
          </a:p>
          <a:p>
            <a:r>
              <a:t>3. </a:t>
            </a:r>
            <a:r>
              <a:rPr b="1"/>
              <a:t>This sprint</a:t>
            </a:r>
            <a:r>
              <a:t>: Add a PR template to guide AI descriptions</a:t>
            </a:r>
          </a:p>
          <a:p>
            <a:r>
              <a:t>4. </a:t>
            </a:r>
            <a:r>
              <a:rPr b="1"/>
              <a:t>This quarter</a:t>
            </a:r>
            <a:r>
              <a:t>: Automate AI checks in your CI pipeline</a:t>
            </a:r>
          </a:p>
          <a:p/>
          <a:p>
            <a:r>
              <a:rPr i="1"/>
              <a:t>📖 Resources:</a:t>
            </a:r>
          </a:p>
          <a:p>
            <a:r>
              <a:t>&gt;</a:t>
            </a:r>
          </a:p>
          <a:p>
            <a:pPr/>
            <a:r>
              <a:rPr i="1"/>
              <a:t>GitHub Copilot for PRs: https://docs.github.com/copilot</a:t>
            </a:r>
          </a:p>
          <a:p>
            <a:pPr/>
            <a:r>
              <a:rPr i="1"/>
              <a:t>GitHub Advanced Security: https://docs.github.com/en/code-security</a:t>
            </a:r>
          </a:p>
          <a:p>
            <a:pPr/>
            <a:r>
              <a:rPr i="1"/>
              <a:t>gh CLI: https://cli.github.com</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Without AI</a:t>
                      </a:r>
                    </a:p>
                  </a:txBody>
                  <a:tcPr/>
                </a:tc>
                <a:tc>
                  <a:txBody>
                    <a:bodyPr/>
                    <a:lstStyle/>
                    <a:p>
                      <a:pPr>
                        <a:defRPr b="1" sz="1296"/>
                      </a:pPr>
                      <a:r>
                        <a:t>With AI</a:t>
                      </a:r>
                    </a:p>
                  </a:txBody>
                  <a:tcPr/>
                </a:tc>
              </a:tr>
              <a:tr h="457200">
                <a:tc>
                  <a:txBody>
                    <a:bodyPr/>
                    <a:lstStyle/>
                    <a:p>
                      <a:r>
                        <a:t>Manual PR descriptions</a:t>
                      </a:r>
                    </a:p>
                  </a:txBody>
                  <a:tcPr/>
                </a:tc>
                <a:tc>
                  <a:txBody>
                    <a:bodyPr/>
                    <a:lstStyle/>
                    <a:p>
                      <a:r>
                        <a:t>Auto-generated, structured descriptions</a:t>
                      </a:r>
                    </a:p>
                  </a:txBody>
                  <a:tcPr/>
                </a:tc>
              </a:tr>
              <a:tr h="457200">
                <a:tc>
                  <a:txBody>
                    <a:bodyPr/>
                    <a:lstStyle/>
                    <a:p>
                      <a:r>
                        <a:t>Line-by-line review</a:t>
                      </a:r>
                    </a:p>
                  </a:txBody>
                  <a:tcPr/>
                </a:tc>
                <a:tc>
                  <a:txBody>
                    <a:bodyPr/>
                    <a:lstStyle/>
                    <a:p>
                      <a:r>
                        <a:t>AI-summarized highlights + human logic review</a:t>
                      </a:r>
                    </a:p>
                  </a:txBody>
                  <a:tcPr/>
                </a:tc>
              </a:tr>
              <a:tr h="457200">
                <a:tc>
                  <a:txBody>
                    <a:bodyPr/>
                    <a:lstStyle/>
                    <a:p>
                      <a:r>
                        <a:t>Slow feedback loops</a:t>
                      </a:r>
                    </a:p>
                  </a:txBody>
                  <a:tcPr/>
                </a:tc>
                <a:tc>
                  <a:txBody>
                    <a:bodyPr/>
                    <a:lstStyle/>
                    <a:p>
                      <a:r>
                        <a:t>Inline fix suggestions from review comments</a:t>
                      </a:r>
                    </a:p>
                  </a:txBody>
                  <a:tcPr/>
                </a:tc>
              </a:tr>
              <a:tr h="457200">
                <a:tc>
                  <a:txBody>
                    <a:bodyPr/>
                    <a:lstStyle/>
                    <a:p>
                      <a:r>
                        <a:t>Inconsistent standards</a:t>
                      </a:r>
                    </a:p>
                  </a:txBody>
                  <a:tcPr/>
                </a:tc>
                <a:tc>
                  <a:txBody>
                    <a:bodyPr/>
                    <a:lstStyle/>
                    <a:p>
                      <a:r>
                        <a:t>Automated checks on every PR</a:t>
                      </a:r>
                    </a:p>
                  </a:txBody>
                  <a:tcPr/>
                </a:tc>
              </a:tr>
              <a:tr h="457200">
                <a:tc>
                  <a:txBody>
                    <a:bodyPr/>
                    <a:lstStyle/>
                    <a:p>
                      <a:r>
                        <a:t>Slow onboarding</a:t>
                      </a:r>
                    </a:p>
                  </a:txBody>
                  <a:tcPr/>
                </a:tc>
                <a:tc>
                  <a:txBody>
                    <a:bodyPr/>
                    <a:lstStyle/>
                    <a:p>
                      <a:r>
                        <a:t>New devs match team standards faster</a:t>
                      </a:r>
                    </a:p>
                  </a:txBody>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Multi-Model Implementation Comparison</a:t>
            </a:r>
          </a:p>
        </p:txBody>
      </p:sp>
      <p:sp>
        <p:nvSpPr>
          <p:cNvPr id="3" name="Content Placeholder 2"/>
          <p:cNvSpPr>
            <a:spLocks noGrp="1"/>
          </p:cNvSpPr>
          <p:nvPr>
            <p:ph idx="1"/>
          </p:nvPr>
        </p:nvSpPr>
        <p:spPr/>
        <p:txBody>
          <a:bodyPr wrap="square">
            <a:normAutofit/>
          </a:bodyPr>
          <a:lstStyle/>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Changes With Different AI Models</a:t>
            </a:r>
          </a:p>
        </p:txBody>
      </p:sp>
      <p:sp>
        <p:nvSpPr>
          <p:cNvPr id="3" name="Content Placeholder 2"/>
          <p:cNvSpPr>
            <a:spLocks noGrp="1"/>
          </p:cNvSpPr>
          <p:nvPr>
            <p:ph idx="1"/>
          </p:nvPr>
        </p:nvSpPr>
        <p:spPr/>
        <p:txBody>
          <a:bodyPr wrap="square">
            <a:normAutofit/>
          </a:bodyPr>
          <a:lstStyle/>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Approaches &amp; Outcomes</a:t>
            </a:r>
          </a:p>
        </p:txBody>
      </p:sp>
      <p:sp>
        <p:nvSpPr>
          <p:cNvPr id="3" name="Content Placeholder 2"/>
          <p:cNvSpPr>
            <a:spLocks noGrp="1"/>
          </p:cNvSpPr>
          <p:nvPr>
            <p:ph idx="1"/>
          </p:nvPr>
        </p:nvSpPr>
        <p:spPr/>
        <p:txBody>
          <a:bodyPr wrap="square">
            <a:normAutofit/>
          </a:bodyPr>
          <a:lstStyle/>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Assessment &amp; Quality Evaluation</a:t>
            </a:r>
          </a:p>
        </p:txBody>
      </p:sp>
      <p:sp>
        <p:nvSpPr>
          <p:cNvPr id="3" name="Content Placeholder 2"/>
          <p:cNvSpPr>
            <a:spLocks noGrp="1"/>
          </p:cNvSpPr>
          <p:nvPr>
            <p:ph idx="1"/>
          </p:nvPr>
        </p:nvSpPr>
        <p:spPr/>
        <p:txBody>
          <a:bodyPr wrap="square">
            <a:normAutofit/>
          </a:bodyPr>
          <a:lstStyle/>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wrap="square">
            <a:normAutofit/>
          </a:bodyPr>
          <a:lstStyle/>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Prompt Multiple Models to Address Technical Debt</a:t>
            </a:r>
          </a:p>
        </p:txBody>
      </p:sp>
      <p:sp>
        <p:nvSpPr>
          <p:cNvPr id="3" name="Content Placeholder 2"/>
          <p:cNvSpPr>
            <a:spLocks noGrp="1"/>
          </p:cNvSpPr>
          <p:nvPr>
            <p:ph idx="1"/>
          </p:nvPr>
        </p:nvSpPr>
        <p:spPr/>
        <p:txBody>
          <a:bodyPr wrap="square">
            <a:normAutofit/>
          </a:bodyPr>
          <a:lstStyle/>
          <a:p/>
          <a:p>
            <a:r>
              <a:t>Objectives</a:t>
            </a:r>
          </a:p>
          <a:p>
            <a:r>
              <a:t>Compare outputs from different models</a:t>
            </a:r>
          </a:p>
          <a:p>
            <a:r>
              <a:t>Identify strengths and weaknesses</a:t>
            </a:r>
          </a:p>
          <a:p>
            <a:r>
              <a:t>Evaluate risk and quality</a:t>
            </a:r>
          </a:p>
          <a:p>
            <a:r>
              <a:t>Activities</a:t>
            </a:r>
          </a:p>
          <a:p>
            <a:r>
              <a:t>Select a small technical debt item.</a:t>
            </a:r>
          </a:p>
          <a:p>
            <a:r>
              <a:t>Prompt two or more models to propose a fix.</a:t>
            </a:r>
          </a:p>
          <a:p>
            <a:r>
              <a:t>Compare outputs for:</a:t>
            </a:r>
          </a:p>
          <a:p/>
          <a:p>
            <a:pPr/>
            <a:r>
              <a:t>Safety</a:t>
            </a:r>
          </a:p>
          <a:p>
            <a:pPr/>
            <a:r>
              <a:t>Clarity</a:t>
            </a:r>
          </a:p>
          <a:p>
            <a:pPr/>
            <a:r>
              <a:t>Test coverage</a:t>
            </a:r>
          </a:p>
          <a:p>
            <a:pPr/>
            <a:r>
              <a:t>Architectural alignment</a:t>
            </a:r>
          </a:p>
          <a:p>
            <a:r>
              <a:t>  Synthesize the best elements into a final solution.</a:t>
            </a:r>
          </a:p>
          <a:p>
            <a:r>
              <a:t>  Success Criteria</a:t>
            </a:r>
          </a:p>
          <a:p>
            <a:r>
              <a:t>  Differences between models are clearly identified</a:t>
            </a:r>
          </a:p>
          <a:p>
            <a:r>
              <a:t>  Risks and strengths are evaluated</a:t>
            </a:r>
          </a:p>
          <a:p>
            <a:r>
              <a:t>  Final synthesized solution is safe and incremental</a:t>
            </a:r>
          </a:p>
          <a:p>
            <a:r>
              <a:t>  Provenance metadata is included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Assigning an Issue to Multiple Models</a:t>
            </a:r>
          </a:p>
        </p:txBody>
      </p:sp>
      <p:sp>
        <p:nvSpPr>
          <p:cNvPr id="3" name="Content Placeholder 2"/>
          <p:cNvSpPr>
            <a:spLocks noGrp="1"/>
          </p:cNvSpPr>
          <p:nvPr>
            <p:ph idx="1"/>
          </p:nvPr>
        </p:nvSpPr>
        <p:spPr/>
        <p:txBody>
          <a:bodyPr wrap="square">
            <a:normAutofit/>
          </a:bodyPr>
          <a:lstStyle/>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Delegating Work to Multiple Models</a:t>
            </a:r>
          </a:p>
        </p:txBody>
      </p:sp>
      <p:sp>
        <p:nvSpPr>
          <p:cNvPr id="3" name="Content Placeholder 2"/>
          <p:cNvSpPr>
            <a:spLocks noGrp="1"/>
          </p:cNvSpPr>
          <p:nvPr>
            <p:ph idx="1"/>
          </p:nvPr>
        </p:nvSpPr>
        <p:spPr/>
        <p:txBody>
          <a:bodyPr wrap="square">
            <a:normAutofit/>
          </a:bodyPr>
          <a:lstStyle/>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p>
            <a:pPr/>
            <a:r>
              <a:t>Analyze the problem</a:t>
            </a:r>
          </a:p>
          <a:p>
            <a:pPr/>
            <a:r>
              <a:t>Propose a remediation plan</a:t>
            </a:r>
          </a:p>
          <a:p>
            <a:pPr/>
            <a:r>
              <a:t>Suggest tests</a:t>
            </a:r>
          </a:p>
          <a:p>
            <a:pPr/>
            <a:r>
              <a:t>Suggest documentation updates</a:t>
            </a:r>
          </a:p>
          <a:p>
            <a:r>
              <a:t>  Compare the outputs.</a:t>
            </a:r>
          </a:p>
          <a:p>
            <a:r>
              <a:t>  Synthesize a final, safe, incremental plan.</a:t>
            </a:r>
          </a:p>
          <a:p>
            <a:r>
              <a:t>  Success Criteria</a:t>
            </a:r>
          </a:p>
          <a:p>
            <a:r>
              <a:t>  Multi-model differences are clearly understood</a:t>
            </a:r>
          </a:p>
          <a:p>
            <a:r>
              <a:t>  Final plan is incremental, reversible, and well-tested</a:t>
            </a:r>
          </a:p>
          <a:p>
            <a:r>
              <a:t>  Documentation and provenance are included</a:t>
            </a:r>
          </a:p>
          <a:p>
            <a:r>
              <a:t>  Risks are identified and mitigated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Software Development - Core Principles</a:t>
            </a:r>
          </a:p>
        </p:txBody>
      </p:sp>
      <p:sp>
        <p:nvSpPr>
          <p:cNvPr id="3" name="Content Placeholder 2"/>
          <p:cNvSpPr>
            <a:spLocks noGrp="1"/>
          </p:cNvSpPr>
          <p:nvPr>
            <p:ph idx="1"/>
          </p:nvPr>
        </p:nvSpPr>
        <p:spPr/>
        <p:txBody>
          <a:bodyPr wrap="square">
            <a:normAutofit/>
          </a:bodyPr>
          <a:lstStyle/>
          <a:p/>
          <a:p>
            <a:r>
              <a:t>Intent-First Design</a:t>
            </a:r>
          </a:p>
          <a:p/>
          <a:p>
            <a:pPr/>
            <a:r>
              <a:t>Define the system's purpose, invariants, and boundaries before writing code to ensure long-term clarity.</a:t>
            </a:r>
          </a:p>
          <a:p>
            <a:r>
              <a:t>  Stable Interfaces, Evolving Internals</a:t>
            </a:r>
          </a:p>
          <a:p>
            <a:pPr/>
            <a:r>
              <a:t>Keep contracts predictable while allowing implementations to improve continuously.</a:t>
            </a:r>
          </a:p>
          <a:p>
            <a:r>
              <a:t>  Continuous Regeneration with Guardrails</a:t>
            </a:r>
          </a:p>
          <a:p>
            <a:pPr/>
            <a:r>
              <a:t>Use AI to rewrite or extend components safely, backed by tests, specs, and architectural constraints.</a:t>
            </a:r>
          </a:p>
          <a:p>
            <a:r>
              <a:t>  Modular, Replaceable Components</a:t>
            </a:r>
          </a:p>
          <a:p>
            <a:pPr/>
            <a:r>
              <a:t>Structure the system so any part can be regenerated, swapped, or upgraded without cascading breakage.</a:t>
            </a:r>
          </a:p>
          <a:p>
            <a:r>
              <a:t>  Lifecycle Governance</a:t>
            </a:r>
          </a:p>
          <a:p>
            <a:pPr/>
            <a:r>
              <a:t>Maintain quality through automated tests, versioning discipline, and human-in-the-loop validation.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Software Fails to Be Evergreen</a:t>
            </a:r>
          </a:p>
        </p:txBody>
      </p:sp>
      <p:sp>
        <p:nvSpPr>
          <p:cNvPr id="3" name="Content Placeholder 2"/>
          <p:cNvSpPr>
            <a:spLocks noGrp="1"/>
          </p:cNvSpPr>
          <p:nvPr>
            <p:ph idx="1"/>
          </p:nvPr>
        </p:nvSpPr>
        <p:spPr/>
        <p:txBody>
          <a:bodyPr wrap="square">
            <a:normAutofit/>
          </a:bodyPr>
          <a:lstStyle/>
          <a:p/>
          <a:p>
            <a:r>
              <a:t>Intent Rot</a:t>
            </a:r>
          </a:p>
          <a:p/>
          <a:p>
            <a:pPr/>
            <a:r>
              <a:t>The original purpose, constraints, and invariants are undocumented or lost, making safe regeneration impossible.</a:t>
            </a:r>
          </a:p>
          <a:p>
            <a:r>
              <a:t>  Unstable or Leaky Interfaces</a:t>
            </a:r>
          </a:p>
          <a:p>
            <a:pPr/>
            <a:r>
              <a:t>APIs, data contracts, and boundaries change unpredictably, causing cascading breakage when internals evolve.</a:t>
            </a:r>
          </a:p>
          <a:p>
            <a:r>
              <a:t>  Tightly Coupled Architecture</a:t>
            </a:r>
          </a:p>
          <a:p>
            <a:pPr/>
            <a:r>
              <a:t>Components depend on each other's internal details, preventing isolated regeneration or replacement.</a:t>
            </a:r>
          </a:p>
          <a:p>
            <a:r>
              <a:t>  Insufficient Guardrails</a:t>
            </a:r>
          </a:p>
          <a:p>
            <a:pPr/>
            <a:r>
              <a:t>Missing tests, specs, or validation layers mean AI-assisted regeneration can't be trusted to preserve behavior.</a:t>
            </a:r>
          </a:p>
          <a:p>
            <a:r>
              <a:t>  One-Off Patches and Drift</a:t>
            </a:r>
          </a:p>
          <a:p>
            <a:pPr/>
            <a:r>
              <a:t>Ad-hoc fixes accumulate, diverging the system from its intended design and making regeneration unsafe.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AI Assisted Software Development</a:t>
            </a:r>
          </a:p>
          <a:p>
            <a:pPr/>
            <a:r>
              <a:t>Intro to Copilot</a:t>
            </a:r>
          </a:p>
          <a:p>
            <a:pPr/>
            <a:r>
              <a:t>AI Assistance in Action</a:t>
            </a:r>
          </a:p>
          <a:p>
            <a:pPr/>
            <a:r>
              <a:rPr b="1"/>
              <a:t>▶ Adding AI Guardrails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Prompts &amp; Agents</a:t>
            </a:r>
          </a:p>
        </p:txBody>
      </p:sp>
      <p:sp>
        <p:nvSpPr>
          <p:cNvPr id="3" name="Content Placeholder 2"/>
          <p:cNvSpPr>
            <a:spLocks noGrp="1"/>
          </p:cNvSpPr>
          <p:nvPr>
            <p:ph idx="1"/>
          </p:nvPr>
        </p:nvSpPr>
        <p:spPr/>
        <p:txBody>
          <a:bodyPr wrap="square">
            <a:normAutofit/>
          </a:bodyPr>
          <a:lstStyle/>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Prompt &amp; Agent Files</a:t>
            </a:r>
          </a:p>
        </p:txBody>
      </p:sp>
      <p:sp>
        <p:nvSpPr>
          <p:cNvPr id="3" name="Content Placeholder 2"/>
          <p:cNvSpPr>
            <a:spLocks noGrp="1"/>
          </p:cNvSpPr>
          <p:nvPr>
            <p:ph idx="1"/>
          </p:nvPr>
        </p:nvSpPr>
        <p:spPr/>
        <p:txBody>
          <a:bodyPr wrap="square">
            <a:normAutofit/>
          </a:bodyPr>
          <a:lstStyle/>
          <a:p/>
          <a:p>
            <a:r>
              <a:t>Why create files?</a:t>
            </a:r>
          </a:p>
          <a:p>
            <a:r>
              <a:t>Ensures repeatability</a:t>
            </a:r>
          </a:p>
          <a:p>
            <a:r>
              <a:t>Reduces token usage</a:t>
            </a:r>
          </a:p>
          <a:p>
            <a:r>
              <a:t>Provides version-controlled guardrails</a:t>
            </a:r>
          </a:p>
          <a:p>
            <a:r>
              <a:t>Enables team-wide consistency</a:t>
            </a:r>
          </a:p>
          <a:p>
            <a:r>
              <a:t>File types</a:t>
            </a:r>
          </a:p>
          <a:p>
            <a:r>
              <a:t>.github/instructions/myinstructions.instructions.md</a:t>
            </a:r>
          </a:p>
          <a:p>
            <a:r>
              <a:t>.github/copilot/Promptfiles/myprompt.prompt.md</a:t>
            </a:r>
          </a:p>
          <a:p>
            <a:r>
              <a:t>.github/chatmodes/mychatmode.chatmode.md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wrap="square">
            <a:normAutofit/>
          </a:bodyPr>
          <a:lstStyle/>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Generating Artifacts</a:t>
            </a:r>
          </a:p>
        </p:txBody>
      </p:sp>
      <p:sp>
        <p:nvSpPr>
          <p:cNvPr id="3" name="Content Placeholder 2"/>
          <p:cNvSpPr>
            <a:spLocks noGrp="1"/>
          </p:cNvSpPr>
          <p:nvPr>
            <p:ph idx="1"/>
          </p:nvPr>
        </p:nvSpPr>
        <p:spPr/>
        <p:txBody>
          <a:bodyPr wrap="square">
            <a:normAutofit/>
          </a:bodyPr>
          <a:lstStyle/>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Enforcing Provenance for AI Artifacts</a:t>
            </a:r>
          </a:p>
        </p:txBody>
      </p:sp>
      <p:sp>
        <p:nvSpPr>
          <p:cNvPr id="3" name="Content Placeholder 2"/>
          <p:cNvSpPr>
            <a:spLocks noGrp="1"/>
          </p:cNvSpPr>
          <p:nvPr>
            <p:ph idx="1"/>
          </p:nvPr>
        </p:nvSpPr>
        <p:spPr/>
        <p:txBody>
          <a:bodyPr wrap="square">
            <a:normAutofit/>
          </a:bodyPr>
          <a:lstStyle/>
          <a:p/>
          <a:p>
            <a:r>
              <a:t>Provenance requirements</a:t>
            </a:r>
          </a:p>
          <a:p>
            <a:r>
              <a:t>Declare:</a:t>
            </a:r>
          </a:p>
          <a:p/>
          <a:p>
            <a:pPr/>
            <a:r>
              <a:t>AI involvement</a:t>
            </a:r>
          </a:p>
          <a:p>
            <a:pPr/>
            <a:r>
              <a:t>Model used</a:t>
            </a:r>
          </a:p>
          <a:p>
            <a:pPr/>
            <a:r>
              <a:t>Date generated</a:t>
            </a:r>
          </a:p>
          <a:p>
            <a:pPr/>
            <a:r>
              <a:t>Human reviewer</a:t>
            </a:r>
          </a:p>
          <a:p>
            <a:r>
              <a:t>  Store provenance in headers, footers, or side cars</a:t>
            </a:r>
          </a:p>
          <a:p>
            <a:r>
              <a:t>  Track revisions in version control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Copy the Core Instructions</a:t>
            </a:r>
          </a:p>
        </p:txBody>
      </p:sp>
      <p:sp>
        <p:nvSpPr>
          <p:cNvPr id="3" name="Content Placeholder 2"/>
          <p:cNvSpPr>
            <a:spLocks noGrp="1"/>
          </p:cNvSpPr>
          <p:nvPr>
            <p:ph idx="1"/>
          </p:nvPr>
        </p:nvSpPr>
        <p:spPr/>
        <p:txBody>
          <a:bodyPr wrap="square">
            <a:normAutofit/>
          </a:bodyPr>
          <a:lstStyle/>
          <a:p/>
          <a:p>
            <a:r>
              <a:t>Objectives:</a:t>
            </a:r>
          </a:p>
          <a:p>
            <a:r>
              <a:t>Understand file organization for AI-assisted output policies</a:t>
            </a:r>
          </a:p>
          <a:p>
            <a:r>
              <a:t>Practice copying files between repositories</a:t>
            </a:r>
          </a:p>
          <a:p>
            <a:r>
              <a:t>Ensure compliance with output metadata requirements</a:t>
            </a:r>
          </a:p>
          <a:p>
            <a:r>
              <a:t>Activities:</a:t>
            </a:r>
          </a:p>
          <a:p/>
          <a:p>
            <a:r>
              <a:t>1. Locate .github/instructions/ai-assisted-output.instructions.md in the AI-Assisted-Software-Development repository</a:t>
            </a:r>
          </a:p>
          <a:p>
            <a:r>
              <a:t>2. Copy the file into the .github/instructions folder of the current repository</a:t>
            </a:r>
          </a:p>
          <a:p>
            <a:r>
              <a:t>3. Copy these files as well:</a:t>
            </a:r>
          </a:p>
          <a:p>
            <a:r>
              <a:t>   chatmode-file.instructions.md</a:t>
            </a:r>
          </a:p>
          <a:p>
            <a:r>
              <a:t>   instruction-files.instructions.md</a:t>
            </a:r>
          </a:p>
          <a:p>
            <a:r>
              <a:t>   instruction-prompt-files.instructions.md</a:t>
            </a:r>
          </a:p>
          <a:p>
            <a:r>
              <a:t>   prompt-file.instructions.md</a:t>
            </a:r>
          </a:p>
          <a:p>
            <a:r>
              <a:t>4. Verify the copied files matches the original</a:t>
            </a:r>
          </a:p>
          <a:p>
            <a:r>
              <a:t>5. Review the instructions</a:t>
            </a:r>
          </a:p>
          <a:p>
            <a:r>
              <a:t>   Success Criteria:</a:t>
            </a:r>
          </a:p>
          <a:p>
            <a:r>
              <a:t>   The files are present in the current repo</a:t>
            </a:r>
          </a:p>
          <a:p>
            <a:r>
              <a:t>   The content matches the source file</a:t>
            </a:r>
          </a:p>
          <a:p>
            <a:r>
              <a:t>   No metadata or formatting is lost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AI Generated Artifacts</a:t>
            </a:r>
          </a:p>
        </p:txBody>
      </p:sp>
      <p:sp>
        <p:nvSpPr>
          <p:cNvPr id="3" name="Content Placeholder 2"/>
          <p:cNvSpPr>
            <a:spLocks noGrp="1"/>
          </p:cNvSpPr>
          <p:nvPr>
            <p:ph idx="1"/>
          </p:nvPr>
        </p:nvSpPr>
        <p:spPr/>
        <p:txBody>
          <a:bodyPr wrap="square">
            <a:normAutofit/>
          </a:bodyPr>
          <a:lstStyle/>
          <a:p/>
          <a:p>
            <a:r>
              <a:t>The one instruction file that rules them all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Output Instructions</a:t>
            </a:r>
          </a:p>
        </p:txBody>
      </p:sp>
      <p:sp>
        <p:nvSpPr>
          <p:cNvPr id="3" name="Content Placeholder 2"/>
          <p:cNvSpPr>
            <a:spLocks noGrp="1"/>
          </p:cNvSpPr>
          <p:nvPr>
            <p:ph idx="1"/>
          </p:nvPr>
        </p:nvSpPr>
        <p:spPr/>
        <p:txBody>
          <a:bodyPr wrap="square">
            <a:normAutofit/>
          </a:bodyPr>
          <a:lstStyle/>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Provenance Metadata</a:t>
            </a:r>
          </a:p>
        </p:txBody>
      </p:sp>
      <p:sp>
        <p:nvSpPr>
          <p:cNvPr id="3" name="Content Placeholder 2"/>
          <p:cNvSpPr>
            <a:spLocks noGrp="1"/>
          </p:cNvSpPr>
          <p:nvPr>
            <p:ph idx="1"/>
          </p:nvPr>
        </p:nvSpPr>
        <p:spPr/>
        <p:txBody>
          <a:bodyPr wrap="square">
            <a:normAutofit/>
          </a:bodyPr>
          <a:lstStyle/>
          <a:p/>
          <a:p>
            <a:r>
              <a:t>Every AI-assisted artifact must include:</a:t>
            </a:r>
          </a:p>
          <a:p/>
          <a:p>
            <a:pPr/>
            <a:r>
              <a:t>ai_generated: true</a:t>
            </a:r>
          </a:p>
          <a:p>
            <a:pPr/>
            <a:r>
              <a:t>model: provider/model@version</a:t>
            </a:r>
          </a:p>
          <a:p>
            <a:pPr/>
            <a:r>
              <a:t>operator: username</a:t>
            </a:r>
          </a:p>
          <a:p>
            <a:pPr/>
            <a:r>
              <a:t>chat_id: unique chat identifier</a:t>
            </a:r>
          </a:p>
          <a:p>
            <a:pPr/>
            <a:r>
              <a:t>prompt: exact prompt text</a:t>
            </a:r>
          </a:p>
          <a:p>
            <a:pPr/>
            <a:r>
              <a:t>started/ended: timestamps</a:t>
            </a:r>
          </a:p>
          <a:p>
            <a:pPr/>
            <a:r>
              <a:t>task_durations &amp; total_duration</a:t>
            </a:r>
          </a:p>
          <a:p>
            <a:pPr/>
            <a:r>
              <a:t>ai_log: path to conversation log</a:t>
            </a:r>
          </a:p>
          <a:p>
            <a:pPr/>
            <a:r>
              <a:t>source: who/what created the file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wrap="square">
            <a:normAutofit/>
          </a:bodyPr>
          <a:lstStyle/>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wrap="square">
            <a:normAutofit/>
          </a:bodyPr>
          <a:lstStyle/>
          <a:p/>
          <a:p>
            <a:r>
              <a:t>Each chat creates a unique log folder: ai-logs/yyyy/mm/dd/&lt;chat-id&gt;/</a:t>
            </a:r>
          </a:p>
          <a:p>
            <a:r>
              <a:t>Required files:</a:t>
            </a:r>
          </a:p>
          <a:p/>
          <a:p>
            <a:pPr/>
            <a:r>
              <a:t>conversation.md (full transcript)</a:t>
            </a:r>
          </a:p>
          <a:p>
            <a:pPr/>
            <a:r>
              <a:t>summary.md (objectives, decisions, outcomes)</a:t>
            </a:r>
          </a:p>
          <a:p>
            <a:pPr/>
            <a:r>
              <a:t>artifacts/ (optional)</a:t>
            </a:r>
          </a:p>
          <a:p>
            <a:r>
              <a:t>  Never reuse chat logs between sessions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wrap="square">
            <a:normAutofit/>
          </a:bodyPr>
          <a:lstStyle/>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Integration Requirements</a:t>
            </a:r>
          </a:p>
        </p:txBody>
      </p:sp>
      <p:sp>
        <p:nvSpPr>
          <p:cNvPr id="3" name="Content Placeholder 2"/>
          <p:cNvSpPr>
            <a:spLocks noGrp="1"/>
          </p:cNvSpPr>
          <p:nvPr>
            <p:ph idx="1"/>
          </p:nvPr>
        </p:nvSpPr>
        <p:spPr/>
        <p:txBody>
          <a:bodyPr wrap="square">
            <a:normAutofit/>
          </a:bodyPr>
          <a:lstStyle/>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wrap="square">
            <a:normAutofit/>
          </a:bodyPr>
          <a:lstStyle/>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wrap="square">
            <a:normAutofit/>
          </a:bodyPr>
          <a:lstStyle/>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wrap="square">
            <a:normAutofit/>
          </a:bodyPr>
          <a:lstStyle/>
          <a:p/>
          <a:p>
            <a:r>
              <a:t>chatmode-file.instructions.md</a:t>
            </a:r>
          </a:p>
          <a:p/>
          <a:p>
            <a:pPr/>
            <a:r>
              <a:t>Defines the structure and contents of agents</a:t>
            </a:r>
          </a:p>
          <a:p>
            <a:r>
              <a:t>  instruction-files.instructions.md</a:t>
            </a:r>
          </a:p>
          <a:p>
            <a:pPr/>
            <a:r>
              <a:t>Defines the structure and contents of instruction files</a:t>
            </a:r>
          </a:p>
          <a:p>
            <a:r>
              <a:t>  prompt-file.instructions.md</a:t>
            </a:r>
          </a:p>
          <a:p>
            <a:pPr/>
            <a:r>
              <a:t>Defines the structure and contents of prompts</a:t>
            </a:r>
          </a:p>
          <a:p>
            <a:r>
              <a:t>  instruction-prompt-files.instructions.md</a:t>
            </a:r>
          </a:p>
          <a:p>
            <a:pPr/>
            <a:r>
              <a:t>Defines the structure and contents of prompts the create instruction files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wrap="square">
            <a:normAutofit/>
          </a:bodyPr>
          <a:lstStyle/>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Instruction File for Evergreen Development</a:t>
            </a:r>
          </a:p>
        </p:txBody>
      </p:sp>
      <p:sp>
        <p:nvSpPr>
          <p:cNvPr id="3" name="Content Placeholder 2"/>
          <p:cNvSpPr>
            <a:spLocks noGrp="1"/>
          </p:cNvSpPr>
          <p:nvPr>
            <p:ph idx="1"/>
          </p:nvPr>
        </p:nvSpPr>
        <p:spPr/>
        <p:txBody>
          <a:bodyPr wrap="square">
            <a:normAutofit/>
          </a:bodyPr>
          <a:lstStyle/>
          <a:p/>
          <a:p>
            <a:r>
              <a:t>Objectives</a:t>
            </a:r>
          </a:p>
          <a:p>
            <a:r>
              <a:t>Capture evergreen principles</a:t>
            </a:r>
          </a:p>
          <a:p>
            <a:r>
              <a:t>Define architectural boundaries</a:t>
            </a:r>
          </a:p>
          <a:p>
            <a:r>
              <a:t>Specify modernization rules</a:t>
            </a:r>
          </a:p>
          <a:p>
            <a:r>
              <a:t>Activities</a:t>
            </a:r>
          </a:p>
          <a:p>
            <a:r>
              <a:t>Submit the Evergreen Instructions prompt</a:t>
            </a:r>
          </a:p>
          <a:p>
            <a:r>
              <a:t>Review the instructions</a:t>
            </a:r>
          </a:p>
          <a:p>
            <a:r>
              <a:t>Success Criteria</a:t>
            </a:r>
          </a:p>
          <a:p>
            <a:r>
              <a:t>Instruction file is stable and reusable</a:t>
            </a:r>
          </a:p>
          <a:p>
            <a:r>
              <a:t>Reflects evergreen development values</a:t>
            </a:r>
          </a:p>
          <a:p>
            <a:r>
              <a:t>Provides clear guardrails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wrap="square">
            <a:normAutofit/>
          </a:bodyPr>
          <a:lstStyle/>
          <a:p/>
          <a:p>
            <a:r>
              <a:t>Objectives</a:t>
            </a:r>
          </a:p>
          <a:p>
            <a:r>
              <a:t>Define a persona optimized for brownfield work</a:t>
            </a:r>
          </a:p>
          <a:p>
            <a:r>
              <a:t>Emphasize safety and incrementalism</a:t>
            </a:r>
          </a:p>
          <a:p>
            <a:r>
              <a:t>Encode risk-aware behaviors</a:t>
            </a:r>
          </a:p>
          <a:p>
            <a:r>
              <a:t>Activities</a:t>
            </a:r>
          </a:p>
          <a:p>
            <a:r>
              <a:t>Draft a Agent that:</a:t>
            </a:r>
          </a:p>
          <a:p/>
          <a:p>
            <a:pPr/>
            <a:r>
              <a:t>Respects working systems</a:t>
            </a:r>
          </a:p>
          <a:p>
            <a:pPr/>
            <a:r>
              <a:t>Avoids risky rewrites</a:t>
            </a:r>
          </a:p>
          <a:p>
            <a:pPr/>
            <a:r>
              <a:t>Surfaces context gaps</a:t>
            </a:r>
          </a:p>
          <a:p>
            <a:pPr/>
            <a:r>
              <a:t>Encourages incremental changes</a:t>
            </a:r>
          </a:p>
          <a:p>
            <a:r>
              <a:t>  Add tone and behavioral guidelines</a:t>
            </a:r>
          </a:p>
          <a:p>
            <a:r>
              <a:t>  Add provenance metadata</a:t>
            </a:r>
          </a:p>
          <a:p>
            <a:r>
              <a:t>  Success Criteria</a:t>
            </a:r>
          </a:p>
          <a:p>
            <a:r>
              <a:t>  Agent behaves like a cautious senior engineer</a:t>
            </a:r>
          </a:p>
          <a:p>
            <a:r>
              <a:t>  Encourages safe modernization</a:t>
            </a:r>
          </a:p>
          <a:p>
            <a:r>
              <a:t>  Includes clear behavioral rules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Generate Instruction Files</a:t>
            </a:r>
          </a:p>
        </p:txBody>
      </p:sp>
      <p:sp>
        <p:nvSpPr>
          <p:cNvPr id="3" name="Content Placeholder 2"/>
          <p:cNvSpPr>
            <a:spLocks noGrp="1"/>
          </p:cNvSpPr>
          <p:nvPr>
            <p:ph idx="1"/>
          </p:nvPr>
        </p:nvSpPr>
        <p:spPr/>
        <p:txBody>
          <a:bodyPr wrap="square">
            <a:normAutofit/>
          </a:bodyPr>
          <a:lstStyle/>
          <a:p/>
          <a:p>
            <a:r>
              <a:t>Objectives</a:t>
            </a:r>
          </a:p>
          <a:p>
            <a:r>
              <a:t>Use meta prompts to scale instruction-file creation</a:t>
            </a:r>
          </a:p>
          <a:p>
            <a:r>
              <a:t>Capture module-specific rules</a:t>
            </a:r>
          </a:p>
          <a:p>
            <a:r>
              <a:t>Encode domain and architectural constraints</a:t>
            </a:r>
          </a:p>
          <a:p>
            <a:r>
              <a:t>Activities</a:t>
            </a:r>
          </a:p>
          <a:p>
            <a:r>
              <a:t>Prompt Copilot to create instruction files for the standards and conventions of the tech stack</a:t>
            </a:r>
          </a:p>
          <a:p>
            <a:r>
              <a:t>Review instructions</a:t>
            </a:r>
          </a:p>
          <a:p>
            <a:r>
              <a:t>Success Criteria</a:t>
            </a:r>
          </a:p>
          <a:p>
            <a:r>
              <a:t>Instruction files reflect real system constraints</a:t>
            </a:r>
          </a:p>
          <a:p>
            <a:r>
              <a:t>Meta prompts produce consistent structure</a:t>
            </a:r>
          </a:p>
          <a:p>
            <a:r>
              <a:t>Files are ready for team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Context-Related Issues</a:t>
            </a:r>
          </a:p>
        </p:txBody>
      </p:sp>
      <p:sp>
        <p:nvSpPr>
          <p:cNvPr id="3" name="Content Placeholder 2"/>
          <p:cNvSpPr>
            <a:spLocks noGrp="1"/>
          </p:cNvSpPr>
          <p:nvPr>
            <p:ph idx="1"/>
          </p:nvPr>
        </p:nvSpPr>
        <p:spPr/>
        <p:txBody>
          <a:bodyPr wrap="square">
            <a:normAutofit/>
          </a:bodyPr>
          <a:lstStyle/>
          <a:p/>
          <a:p>
            <a:r>
              <a:t>Objectives</a:t>
            </a:r>
          </a:p>
          <a:p>
            <a:r>
              <a:t>Identify missing context</a:t>
            </a:r>
          </a:p>
          <a:p>
            <a:r>
              <a:t>Detect token overflow risks</a:t>
            </a:r>
          </a:p>
          <a:p>
            <a:r>
              <a:t>Improve prompt scoping</a:t>
            </a:r>
          </a:p>
          <a:p>
            <a:r>
              <a:t>Activities</a:t>
            </a:r>
          </a:p>
          <a:p>
            <a:r>
              <a:t>Copy the check-context.prompt.md file from the AIASD repository</a:t>
            </a:r>
          </a:p>
          <a:p>
            <a:r>
              <a:t>Review the prompt</a:t>
            </a:r>
          </a:p>
          <a:p>
            <a:r>
              <a:t>Submit the prompt</a:t>
            </a:r>
          </a:p>
          <a:p>
            <a:r>
              <a:t>Review the output</a:t>
            </a:r>
          </a:p>
          <a:p>
            <a:r>
              <a:t>Success Criteria</a:t>
            </a:r>
          </a:p>
          <a:p>
            <a:r>
              <a:t>Correctly identified context gaps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wrap="square">
            <a:normAutofit/>
          </a:bodyPr>
          <a:lstStyle/>
          <a:p/>
          <a:p>
            <a:r>
              <a:t>Definition</a:t>
            </a:r>
          </a:p>
          <a:p>
            <a:r>
              <a:t>Persistent configuration files that define AI behavior patterns</a:t>
            </a:r>
          </a:p>
          <a:p>
            <a:r>
              <a:t>Applied automatically across multiple interactions</a:t>
            </a:r>
          </a:p>
          <a:p>
            <a:r>
              <a:t>Establish consistent working standards and constraints</a:t>
            </a:r>
          </a:p>
          <a:p>
            <a:r>
              <a:t>Key Characteristics</a:t>
            </a:r>
          </a:p>
          <a:p>
            <a:r>
              <a:t>Scope: Repository-wide or context-specific</a:t>
            </a:r>
          </a:p>
          <a:p>
            <a:r>
              <a:t>Persistence: Active across all relevant AI interactions</a:t>
            </a:r>
          </a:p>
          <a:p>
            <a:r>
              <a:t>Purpose: Define “how” AI should work, not “what” to do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wrap="square">
            <a:normAutofit/>
          </a:bodyPr>
          <a:lstStyle/>
          <a:p/>
          <a:p>
            <a:r>
              <a:t>```markdown</a:t>
            </a:r>
          </a:p>
          <a:p>
            <a:r>
              <a:t>---</a:t>
            </a:r>
          </a:p>
          <a:p>
            <a:r>
              <a:t>description: Azure best practices for AI development</a:t>
            </a:r>
          </a:p>
          <a:p>
            <a:r>
              <a:t>applyTo: "**" # File pattern scope</a:t>
            </a:r>
          </a:p>
          <a:p>
            <a:r>
              <a:t>---</a:t>
            </a:r>
          </a:p>
          <a:p/>
          <a:p/>
          <a:p>
            <a:pPr/>
            <a:r>
              <a:t>Use Azure Tools when handling Azure requests</a:t>
            </a:r>
          </a:p>
          <a:p>
            <a:pPr/>
            <a:r>
              <a:t>Follow security best practices</a:t>
            </a:r>
          </a:p>
          <a:p>
            <a:pPr/>
            <a:r>
              <a:t>Implement proper error handling</a:t>
            </a:r>
          </a:p>
          <a:p>
            <a:pPr/>
            <a:r>
              <a:t>Generate comprehensive documentation</a:t>
            </a:r>
          </a:p>
          <a:p/>
          <a:p/>
          <a:p>
            <a:pPr/>
            <a:r>
              <a:t>Write tests before implementation</a:t>
            </a:r>
          </a:p>
          <a:p>
            <a:pPr/>
            <a:r>
              <a:t>Use dependency injection patterns</a:t>
            </a:r>
          </a:p>
          <a:p>
            <a:pPr/>
            <a:r>
              <a:t>Follow naming conventions</a:t>
            </a:r>
          </a:p>
          <a:p>
            <a:pPr/>
            <a:r>
              <a:t>Include proper logging</a:t>
            </a:r>
          </a:p>
          <a:p>
            <a:r>
              <a: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wrap="square">
            <a:normAutofit/>
          </a:bodyPr>
          <a:lstStyle/>
          <a:p/>
          <a:p>
            <a:r>
              <a:t>Perfect For:</a:t>
            </a:r>
          </a:p>
          <a:p>
            <a:r>
              <a:t>Coding Standards → Consistent style across projects</a:t>
            </a:r>
          </a:p>
          <a:p>
            <a:r>
              <a:t>Security Policies → Enforce security practices</a:t>
            </a:r>
          </a:p>
          <a:p>
            <a:r>
              <a:t>Quality Gates → Define testing and review requirements</a:t>
            </a:r>
          </a:p>
          <a:p>
            <a:r>
              <a:t>Technology Constraints → Specify approved frameworks/tools</a:t>
            </a:r>
          </a:p>
          <a:p>
            <a:r>
              <a:t>Examples:</a:t>
            </a:r>
          </a:p>
          <a:p>
            <a:r>
              <a:t>azure-development.instructions.md</a:t>
            </a:r>
          </a:p>
          <a:p>
            <a:r>
              <a:t>testing-standards.instructions.md</a:t>
            </a:r>
          </a:p>
          <a:p>
            <a:r>
              <a:t>security-requirements.instructions.md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idx="1"/>
          </p:nvPr>
        </p:nvSpPr>
        <p:spPr/>
        <p:txBody>
          <a:bodyPr wrap="square">
            <a:normAutofit/>
          </a:bodyPr>
          <a:lstStyle/>
          <a:p/>
          <a:p>
            <a:r>
              <a:t>✅ Do This:</a:t>
            </a:r>
          </a:p>
          <a:p>
            <a:r>
              <a:t>Keep instructions clear and actionable</a:t>
            </a:r>
          </a:p>
          <a:p>
            <a:r>
              <a:t>Use file patterns (applyTo: '\*\*') for broad scope</a:t>
            </a:r>
          </a:p>
          <a:p>
            <a:r>
              <a:t>Version control and document changes</a:t>
            </a:r>
          </a:p>
          <a:p>
            <a:r>
              <a:t>Test instruction effectiveness regularly</a:t>
            </a:r>
          </a:p>
          <a:p>
            <a:r>
              <a:t>❌ Avoid This:</a:t>
            </a:r>
          </a:p>
          <a:p>
            <a:r>
              <a:t>Overly complex or contradictory rules</a:t>
            </a:r>
          </a:p>
          <a:p>
            <a:r>
              <a:t>Too many instructions (cognitive overload)</a:t>
            </a:r>
          </a:p>
          <a:p>
            <a:r>
              <a:t>Instructions that conflict with prompt files</a:t>
            </a:r>
          </a:p>
          <a:p>
            <a:r>
              <a:t>Hardcoded values instead of parameters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Use Each Copilot Instruction File Type</a:t>
            </a:r>
          </a:p>
        </p:txBody>
      </p:sp>
      <p:sp>
        <p:nvSpPr>
          <p:cNvPr id="3" name="Content Placeholder 2"/>
          <p:cNvSpPr>
            <a:spLocks noGrp="1"/>
          </p:cNvSpPr>
          <p:nvPr>
            <p:ph idx="1"/>
          </p:nvPr>
        </p:nvSpPr>
        <p:spPr/>
        <p:txBody>
          <a:bodyPr wrap="square">
            <a:normAutofit/>
          </a:bodyPr>
          <a:lstStyle/>
          <a:p/>
          <a:p>
            <a:pPr/>
            <a:r>
              <a:t>Apply </a:t>
            </a:r>
            <a:r>
              <a:rPr b="1"/>
              <a:t>everywhere</a:t>
            </a:r>
            <a:r>
              <a:t> in the repo</a:t>
            </a:r>
          </a:p>
          <a:p>
            <a:pPr/>
            <a:r>
              <a:t>Always included</a:t>
            </a:r>
          </a:p>
          <a:p>
            <a:pPr/>
            <a:r>
              <a:t>For </a:t>
            </a:r>
            <a:r>
              <a:rPr b="1"/>
              <a:t>universal rules</a:t>
            </a:r>
            <a:r>
              <a:t>: style, security, logging, architecture</a:t>
            </a:r>
          </a:p>
          <a:p>
            <a:pPr/>
            <a:r>
              <a:t>No `applyTo` / `exclude` support</a:t>
            </a:r>
          </a:p>
          <a:p>
            <a:pPr/>
            <a:r>
              <a:t>Best for </a:t>
            </a:r>
            <a:r>
              <a:rPr b="1"/>
              <a:t>global, evergreen guidance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**Scoped `&lt;name&gt;.instructions.md` files**</a:t>
            </a:r>
          </a:p>
        </p:txBody>
      </p:sp>
      <p:sp>
        <p:nvSpPr>
          <p:cNvPr id="3" name="Content Placeholder 2"/>
          <p:cNvSpPr>
            <a:spLocks noGrp="1"/>
          </p:cNvSpPr>
          <p:nvPr>
            <p:ph idx="1"/>
          </p:nvPr>
        </p:nvSpPr>
        <p:spPr/>
        <p:txBody>
          <a:bodyPr wrap="square">
            <a:normAutofit/>
          </a:bodyPr>
          <a:lstStyle/>
          <a:p/>
          <a:p>
            <a:pPr/>
            <a:r>
              <a:t>Apply </a:t>
            </a:r>
            <a:r>
              <a:rPr b="1"/>
              <a:t>only</a:t>
            </a:r>
            <a:r>
              <a:t> when `applyTo` matches</a:t>
            </a:r>
          </a:p>
          <a:p>
            <a:pPr/>
            <a:r>
              <a:t>Can </a:t>
            </a:r>
            <a:r>
              <a:rPr b="1"/>
              <a:t>exclude</a:t>
            </a:r>
            <a:r>
              <a:t> paths</a:t>
            </a:r>
          </a:p>
          <a:p>
            <a:pPr/>
            <a:r>
              <a:t>For </a:t>
            </a:r>
            <a:r>
              <a:rPr b="1"/>
              <a:t>language-, framework-, or domain‑specific rules</a:t>
            </a:r>
          </a:p>
          <a:p>
            <a:pPr/>
            <a:r>
              <a:t>Ideal for precision control</a:t>
            </a:r>
          </a:p>
          <a:p>
            <a:pPr/>
            <a:r>
              <a:t>Best for </a:t>
            </a:r>
            <a:r>
              <a:rPr b="1"/>
              <a:t>targeted, contextual guidance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Rule**</a:t>
            </a:r>
          </a:p>
        </p:txBody>
      </p:sp>
      <p:sp>
        <p:nvSpPr>
          <p:cNvPr id="3" name="Content Placeholder 2"/>
          <p:cNvSpPr>
            <a:spLocks noGrp="1"/>
          </p:cNvSpPr>
          <p:nvPr>
            <p:ph idx="1"/>
          </p:nvPr>
        </p:nvSpPr>
        <p:spPr/>
        <p:txBody>
          <a:bodyPr wrap="square">
            <a:normAutofit/>
          </a:bodyPr>
          <a:lstStyle/>
          <a:p/>
          <a:p>
            <a:pPr/>
            <a:r>
              <a:t>If it should apply </a:t>
            </a:r>
            <a:r>
              <a:rPr b="1"/>
              <a:t>repo‑wide</a:t>
            </a:r>
            <a:r>
              <a:t> → use `.md`</a:t>
            </a:r>
          </a:p>
          <a:p>
            <a:pPr/>
            <a:r>
              <a:t>If it should apply </a:t>
            </a:r>
            <a:r>
              <a:rPr b="1"/>
              <a:t>only in certain paths</a:t>
            </a:r>
            <a:r>
              <a:t> → use `.instructions.md`</a:t>
            </a:r>
          </a:p>
          <a:p>
            <a:pPr/>
            <a:r>
              <a:t>If you need </a:t>
            </a:r>
            <a:r>
              <a:rPr b="1"/>
              <a:t>exclusions</a:t>
            </a:r>
            <a:r>
              <a:t> → must use `.instructions.md`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Instruction File `applyTo` Patterns</a:t>
            </a:r>
          </a:p>
        </p:txBody>
      </p:sp>
      <p:sp>
        <p:nvSpPr>
          <p:cNvPr id="3" name="Content Placeholder 2"/>
          <p:cNvSpPr>
            <a:spLocks noGrp="1"/>
          </p:cNvSpPr>
          <p:nvPr>
            <p:ph idx="1"/>
          </p:nvPr>
        </p:nvSpPr>
        <p:spPr/>
        <p:txBody>
          <a:bodyPr wrap="square">
            <a:normAutofit/>
          </a:bodyPr>
          <a:lstStyle/>
          <a:p/>
          <a:p>
            <a:r>
              <a:rPr b="1"/>
              <a:t>Understanding Glob Pattern Matching</a:t>
            </a:r>
          </a:p>
          <a:p/>
          <a:p>
            <a:r>
              <a:t>Controlling When Instructions Apply to Your Code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`appliesTo` Fits</a:t>
            </a:r>
          </a:p>
        </p:txBody>
      </p:sp>
      <p:sp>
        <p:nvSpPr>
          <p:cNvPr id="3" name="Content Placeholder 2"/>
          <p:cNvSpPr>
            <a:spLocks noGrp="1"/>
          </p:cNvSpPr>
          <p:nvPr>
            <p:ph idx="1"/>
          </p:nvPr>
        </p:nvSpPr>
        <p:spPr/>
        <p:txBody>
          <a:bodyPr wrap="square">
            <a:normAutofit/>
          </a:bodyPr>
          <a:lstStyle/>
          <a:p/>
          <a:p>
            <a:r>
              <a:t>The filtering mechanism for instruction files</a:t>
            </a:r>
          </a:p>
          <a:p/>
          <a:p>
            <a:r>
              <a:t>`appliesTo` is a </a:t>
            </a:r>
            <a:r>
              <a:rPr b="1"/>
              <a:t>selector</a:t>
            </a:r>
            <a:r>
              <a:t> that determines _when_ an instruction file</a:t>
            </a:r>
          </a:p>
          <a:p>
            <a:r>
              <a:t>is included in the stack.</a:t>
            </a:r>
          </a:p>
          <a:p/>
          <a:p>
            <a:r>
              <a:t>Common selectors include:</a:t>
            </a:r>
          </a:p>
          <a:p/>
          <a:p>
            <a:pPr/>
            <a:r>
              <a:rPr b="1"/>
              <a:t>repositories</a:t>
            </a:r>
            <a:r>
              <a:t> -- include only for specific repos</a:t>
            </a:r>
          </a:p>
          <a:p>
            <a:pPr/>
            <a:r>
              <a:rPr b="1"/>
              <a:t>languages</a:t>
            </a:r>
            <a:r>
              <a:t> -- include only for certain languages</a:t>
            </a:r>
          </a:p>
          <a:p>
            <a:pPr/>
            <a:r>
              <a:rPr b="1"/>
              <a:t>filePatterns</a:t>
            </a:r>
            <a:r>
              <a:t> -- include only when editing certain files</a:t>
            </a:r>
          </a:p>
          <a:p>
            <a:pPr/>
            <a:r>
              <a:rPr b="1"/>
              <a:t>tools</a:t>
            </a:r>
            <a:r>
              <a:t> -- include only when using specific Copilot features</a:t>
            </a:r>
          </a:p>
          <a:p>
            <a:pPr/>
            <a:r>
              <a:rPr b="1"/>
              <a:t>scopes</a:t>
            </a:r>
            <a:r>
              <a:t> -- include only in chat, only in editor, etc.</a:t>
            </a:r>
          </a:p>
          <a:p/>
          <a:p>
            <a:r>
              <a:rPr b="1"/>
              <a:t>Speaker Notes:</a:t>
            </a:r>
            <a:r>
              <a:t> `appliesTo` is not a guardrail itself. It's a routing</a:t>
            </a:r>
          </a:p>
          <a:p>
            <a:r>
              <a:t>rule. It prevents irrelevant instructions from polluting the stack and</a:t>
            </a:r>
          </a:p>
          <a:p>
            <a:r>
              <a:t>keeps the assistant focused.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`appliesTo` Interacts with the Stack</a:t>
            </a:r>
          </a:p>
        </p:txBody>
      </p:sp>
      <p:sp>
        <p:nvSpPr>
          <p:cNvPr id="3" name="Content Placeholder 2"/>
          <p:cNvSpPr>
            <a:spLocks noGrp="1"/>
          </p:cNvSpPr>
          <p:nvPr>
            <p:ph idx="1"/>
          </p:nvPr>
        </p:nvSpPr>
        <p:spPr/>
        <p:txBody>
          <a:bodyPr wrap="square">
            <a:normAutofit/>
          </a:bodyPr>
          <a:lstStyle/>
          <a:p/>
          <a:p>
            <a:r>
              <a:t>Filtering happens _before_ merging</a:t>
            </a:r>
          </a:p>
          <a:p/>
          <a:p>
            <a:r>
              <a:t>1.  Copilot discovers all instruction files in scope</a:t>
            </a:r>
          </a:p>
          <a:p>
            <a:r>
              <a:t>2.  Copilot filters them using `appliesTo`</a:t>
            </a:r>
          </a:p>
          <a:p>
            <a:r>
              <a:t>3.  Copilot merges the remaining files into the stack</a:t>
            </a:r>
          </a:p>
          <a:p/>
          <a:p>
            <a:r>
              <a:rPr b="1"/>
              <a:t>Speaker Notes:</a:t>
            </a:r>
            <a:r>
              <a:t> This means you can have many instruction files in</a:t>
            </a:r>
          </a:p>
          <a:p>
            <a:r>
              <a:t>`.github/instructions/`, but only the ones whose `appliesTo` match the</a:t>
            </a:r>
          </a:p>
          <a:p>
            <a:r>
              <a:t>current context will be included.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What is `applyTo`?</a:t>
            </a:r>
          </a:p>
        </p:txBody>
      </p:sp>
      <p:sp>
        <p:nvSpPr>
          <p:cNvPr id="3" name="Content Placeholder 2"/>
          <p:cNvSpPr>
            <a:spLocks noGrp="1"/>
          </p:cNvSpPr>
          <p:nvPr>
            <p:ph idx="1"/>
          </p:nvPr>
        </p:nvSpPr>
        <p:spPr/>
        <p:txBody>
          <a:bodyPr wrap="square">
            <a:normAutofit/>
          </a:bodyPr>
          <a:lstStyle/>
          <a:p/>
          <a:p>
            <a:r>
              <a:t>The `applyTo` field in instruction file front matter controls </a:t>
            </a:r>
            <a:r>
              <a:rPr b="1"/>
              <a:t>which files</a:t>
            </a:r>
            <a:r>
              <a:t> the instructions apply to.</a:t>
            </a:r>
          </a:p>
          <a:p/>
          <a:p>
            <a:r>
              <a:t>```yaml</a:t>
            </a:r>
          </a:p>
          <a:p>
            <a:r>
              <a:t>---</a:t>
            </a:r>
          </a:p>
          <a:p>
            <a:r>
              <a:t>applyTo: "**/*.md" # Applies to all Markdown files</a:t>
            </a:r>
          </a:p>
          <a:p>
            <a:r>
              <a:t>---</a:t>
            </a:r>
          </a:p>
          <a:p>
            <a:r>
              <a:t>```</a:t>
            </a:r>
          </a:p>
          <a:p/>
          <a:p>
            <a:r>
              <a:rPr b="1"/>
              <a:t>Why It Matters:</a:t>
            </a:r>
          </a:p>
          <a:p/>
          <a:p>
            <a:pPr/>
            <a:r>
              <a:t>✅ Apply architecture patterns only to code files</a:t>
            </a:r>
          </a:p>
          <a:p>
            <a:pPr/>
            <a:r>
              <a:t>✅ Apply documentation standards only to docs</a:t>
            </a:r>
          </a:p>
          <a:p>
            <a:pPr/>
            <a:r>
              <a:t>✅ Avoid conflicting instructions</a:t>
            </a:r>
          </a:p>
          <a:p>
            <a:pPr/>
            <a:r>
              <a:t>✅ Improve Copilot performance by reducing context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Universal Application</a:t>
            </a:r>
          </a:p>
        </p:txBody>
      </p:sp>
      <p:sp>
        <p:nvSpPr>
          <p:cNvPr id="3" name="Content Placeholder 2"/>
          <p:cNvSpPr>
            <a:spLocks noGrp="1"/>
          </p:cNvSpPr>
          <p:nvPr>
            <p:ph idx="1"/>
          </p:nvPr>
        </p:nvSpPr>
        <p:spPr/>
        <p:txBody>
          <a:bodyPr wrap="square">
            <a:normAutofit/>
          </a:bodyPr>
          <a:lstStyle/>
          <a:p/>
          <a:p>
            <a:r>
              <a:t>Apply instructions to </a:t>
            </a:r>
            <a:r>
              <a:rPr b="1"/>
              <a:t>all files</a:t>
            </a:r>
            <a:r>
              <a:t> in the repository:</a:t>
            </a:r>
          </a:p>
          <a:p/>
          <a:p>
            <a:r>
              <a:t>```yaml</a:t>
            </a:r>
          </a:p>
          <a:p>
            <a:r>
              <a:t>applyTo: "**"        # All files</a:t>
            </a:r>
          </a:p>
          <a:p>
            <a:r>
              <a:t>applyTo: "**/*"      # All files (explicit)</a:t>
            </a:r>
          </a:p>
          <a:p>
            <a:r>
              <a:t>```</a:t>
            </a:r>
          </a:p>
          <a:p/>
          <a:p>
            <a:r>
              <a:rPr b="1"/>
              <a:t>Use Cases:</a:t>
            </a:r>
          </a:p>
          <a:p/>
          <a:p>
            <a:pPr/>
            <a:r>
              <a:t>AI-assisted output policies</a:t>
            </a:r>
          </a:p>
          <a:p>
            <a:pPr/>
            <a:r>
              <a:t>General code quality standards</a:t>
            </a:r>
          </a:p>
          <a:p>
            <a:pPr/>
            <a:r>
              <a:t>Repository-wide conventions</a:t>
            </a:r>
          </a:p>
          <a:p>
            <a:pPr/>
            <a:r>
              <a:t>Copilot behavior guidelines</a:t>
            </a:r>
          </a:p>
          <a:p/>
          <a:p>
            <a:r>
              <a:rPr b="1"/>
              <a:t>⚠️ Caution:</a:t>
            </a:r>
            <a:r>
              <a:t> Use sparingly - can create conflicts with more specific instructions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wrap="square">
            <a:normAutofit/>
          </a:bodyPr>
          <a:lstStyle/>
          <a:p/>
          <a:p>
            <a:r>
              <a:t>Target specific file types using extension patterns:</a:t>
            </a:r>
          </a:p>
          <a:p/>
          <a:p>
            <a:r>
              <a:t>```yaml</a:t>
            </a:r>
          </a:p>
          <a:p>
            <a:r>
              <a:t>applyTo: "**/*.md"</a:t>
            </a:r>
          </a:p>
          <a:p/>
          <a:p>
            <a:r>
              <a:t>applyTo: "**/*.{cs,ts,js}"</a:t>
            </a:r>
          </a:p>
          <a:p/>
          <a:p>
            <a:r>
              <a:t>applyTo: "**/*.instructions.md"</a:t>
            </a:r>
          </a:p>
          <a:p>
            <a:r>
              <a:t>```</a:t>
            </a:r>
          </a:p>
          <a:p/>
          <a:p>
            <a:r>
              <a:rPr b="1"/>
              <a:t>Most Common:</a:t>
            </a:r>
          </a:p>
          <a:p/>
          <a:p>
            <a:pPr/>
            <a:r>
              <a:t>`**/*.md` - All Markdown files</a:t>
            </a:r>
          </a:p>
          <a:p>
            <a:pPr/>
            <a:r>
              <a:t>`**/*.{cs,ts,js,py}` - Multiple programming languages</a:t>
            </a:r>
          </a:p>
          <a:p>
            <a:pPr/>
            <a:r>
              <a:t>`**/*.test.js` - Test files</a:t>
            </a:r>
          </a:p>
          <a:p>
            <a:pPr/>
            <a:r>
              <a:t>`**/*.instructions.md` - Instruction files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wrap="square">
            <a:normAutofit/>
          </a:bodyPr>
          <a:lstStyle/>
          <a:p/>
          <a:p>
            <a:r>
              <a:t>Limit instructions to specific directories:</a:t>
            </a:r>
          </a:p>
          <a:p/>
          <a:p>
            <a:r>
              <a:t>```yaml</a:t>
            </a:r>
          </a:p>
          <a:p>
            <a:r>
              <a:t>applyTo: "slides/marp/**"</a:t>
            </a:r>
          </a:p>
          <a:p/>
          <a:p>
            <a:r>
              <a:t>applyTo: "src/Features/**/*.cs"</a:t>
            </a:r>
          </a:p>
          <a:p/>
          <a:p>
            <a:r>
              <a:t>applyTo: ".github/instructions/**/*.md"</a:t>
            </a:r>
          </a:p>
          <a:p>
            <a:r>
              <a:t>```</a:t>
            </a:r>
          </a:p>
          <a:p/>
          <a:p>
            <a:r>
              <a:rPr b="1"/>
              <a:t>Benefits:</a:t>
            </a:r>
          </a:p>
          <a:p/>
          <a:p>
            <a:pPr/>
            <a:r>
              <a:t>Isolate concerns (slides vs code vs docs)</a:t>
            </a:r>
          </a:p>
          <a:p>
            <a:pPr/>
            <a:r>
              <a:t>Different rules for different project areas</a:t>
            </a:r>
          </a:p>
          <a:p>
            <a:pPr/>
            <a:r>
              <a:t>Clearer instruction purpose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Pattern</a:t>
                      </a:r>
                    </a:p>
                  </a:txBody>
                  <a:tcPr/>
                </a:tc>
                <a:tc>
                  <a:txBody>
                    <a:bodyPr/>
                    <a:lstStyle/>
                    <a:p>
                      <a:pPr>
                        <a:defRPr b="1" sz="1296"/>
                      </a:pPr>
                      <a:r>
                        <a:t>Meaning</a:t>
                      </a:r>
                    </a:p>
                  </a:txBody>
                  <a:tcPr/>
                </a:tc>
                <a:tc>
                  <a:txBody>
                    <a:bodyPr/>
                    <a:lstStyle/>
                    <a:p>
                      <a:pPr>
                        <a:defRPr b="1" sz="1296"/>
                      </a:pPr>
                      <a:r>
                        <a:t>Example</a:t>
                      </a:r>
                    </a:p>
                  </a:txBody>
                  <a:tcPr/>
                </a:tc>
              </a:tr>
              <a:tr h="457200">
                <a:tc>
                  <a:txBody>
                    <a:bodyPr/>
                    <a:lstStyle/>
                    <a:p>
                      <a:r>
                        <a:t>`*`</a:t>
                      </a:r>
                    </a:p>
                  </a:txBody>
                  <a:tcPr/>
                </a:tc>
                <a:tc>
                  <a:txBody>
                    <a:bodyPr/>
                    <a:lstStyle/>
                    <a:p>
                      <a:r>
                        <a:t>Any characters (not `/`)</a:t>
                      </a:r>
                    </a:p>
                  </a:txBody>
                  <a:tcPr/>
                </a:tc>
                <a:tc>
                  <a:txBody>
                    <a:bodyPr/>
                    <a:lstStyle/>
                    <a:p>
                      <a:r>
                        <a:t>`*.md` → `README.md`</a:t>
                      </a:r>
                    </a:p>
                  </a:txBody>
                  <a:tcPr/>
                </a:tc>
              </a:tr>
              <a:tr h="457200">
                <a:tc>
                  <a:txBody>
                    <a:bodyPr/>
                    <a:lstStyle/>
                    <a:p>
                      <a:r>
                        <a:t>`**`</a:t>
                      </a:r>
                    </a:p>
                  </a:txBody>
                  <a:tcPr/>
                </a:tc>
                <a:tc>
                  <a:txBody>
                    <a:bodyPr/>
                    <a:lstStyle/>
                    <a:p>
                      <a:r>
                        <a:t>Zero or more directories</a:t>
                      </a:r>
                    </a:p>
                  </a:txBody>
                  <a:tcPr/>
                </a:tc>
                <a:tc>
                  <a:txBody>
                    <a:bodyPr/>
                    <a:lstStyle/>
                    <a:p>
                      <a:r>
                        <a:t>`**/*.md` → `docs/guide.md`</a:t>
                      </a:r>
                    </a:p>
                  </a:txBody>
                  <a:tcPr/>
                </a:tc>
              </a:tr>
              <a:tr h="457200">
                <a:tc>
                  <a:txBody>
                    <a:bodyPr/>
                    <a:lstStyle/>
                    <a:p>
                      <a:r>
                        <a:t>`?`</a:t>
                      </a:r>
                    </a:p>
                  </a:txBody>
                  <a:tcPr/>
                </a:tc>
                <a:tc>
                  <a:txBody>
                    <a:bodyPr/>
                    <a:lstStyle/>
                    <a:p>
                      <a:r>
                        <a:t>Single character</a:t>
                      </a:r>
                    </a:p>
                  </a:txBody>
                  <a:tcPr/>
                </a:tc>
                <a:tc>
                  <a:txBody>
                    <a:bodyPr/>
                    <a:lstStyle/>
                    <a:p>
                      <a:r>
                        <a:t>`file?.md` → `file1.md`</a:t>
                      </a:r>
                    </a:p>
                  </a:txBody>
                  <a:tcPr/>
                </a:tc>
              </a:tr>
              <a:tr h="457200">
                <a:tc>
                  <a:txBody>
                    <a:bodyPr/>
                    <a:lstStyle/>
                    <a:p>
                      <a:r>
                        <a:t>`[abc]`</a:t>
                      </a:r>
                    </a:p>
                  </a:txBody>
                  <a:tcPr/>
                </a:tc>
                <a:tc>
                  <a:txBody>
                    <a:bodyPr/>
                    <a:lstStyle/>
                    <a:p>
                      <a:r>
                        <a:t>Character set</a:t>
                      </a:r>
                    </a:p>
                  </a:txBody>
                  <a:tcPr/>
                </a:tc>
                <a:tc>
                  <a:txBody>
                    <a:bodyPr/>
                    <a:lstStyle/>
                    <a:p>
                      <a:r>
                        <a:t>`[abc].md` → `a.md`</a:t>
                      </a:r>
                    </a:p>
                  </a:txBody>
                  <a:tcPr/>
                </a:tc>
              </a:tr>
              <a:tr h="457200">
                <a:tc>
                  <a:txBody>
                    <a:bodyPr/>
                    <a:lstStyle/>
                    <a:p>
                      <a:r>
                        <a:t>`[a-z]`</a:t>
                      </a:r>
                    </a:p>
                  </a:txBody>
                  <a:tcPr/>
                </a:tc>
                <a:tc>
                  <a:txBody>
                    <a:bodyPr/>
                    <a:lstStyle/>
                    <a:p>
                      <a:r>
                        <a:t>Character range</a:t>
                      </a:r>
                    </a:p>
                  </a:txBody>
                  <a:tcPr/>
                </a:tc>
                <a:tc>
                  <a:txBody>
                    <a:bodyPr/>
                    <a:lstStyle/>
                    <a:p>
                      <a:r>
                        <a:t>`[a-z].md` → `x.md`</a:t>
                      </a:r>
                    </a:p>
                  </a:txBody>
                  <a:tcPr/>
                </a:tc>
              </a:tr>
              <a:tr h="457200">
                <a:tc>
                  <a:txBody>
                    <a:bodyPr/>
                    <a:lstStyle/>
                    <a:p>
                      <a:r>
                        <a:t>`{a,b}`</a:t>
                      </a:r>
                    </a:p>
                  </a:txBody>
                  <a:tcPr/>
                </a:tc>
                <a:tc>
                  <a:txBody>
                    <a:bodyPr/>
                    <a:lstStyle/>
                    <a:p>
                      <a:r>
                        <a:t>Alternatives</a:t>
                      </a:r>
                    </a:p>
                  </a:txBody>
                  <a:tcPr/>
                </a:tc>
                <a:tc>
                  <a:txBody>
                    <a:bodyPr/>
                    <a:lstStyle/>
                    <a:p>
                      <a:r>
                        <a:t>`*.{js,ts}` → `app.ts`</a:t>
                      </a:r>
                    </a:p>
                  </a:txBody>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wrap="square">
            <a:normAutofit/>
          </a:bodyPr>
          <a:lstStyle/>
          <a:p/>
          <a:p>
            <a:r>
              <a:t>From this repository's instruction files:</a:t>
            </a:r>
          </a:p>
          <a:p/>
          <a:p>
            <a:r>
              <a:t>```yaml</a:t>
            </a:r>
          </a:p>
          <a:p>
            <a:r>
              <a:t>applyTo: "**/*"</a:t>
            </a:r>
          </a:p>
          <a:p/>
          <a:p>
            <a:r>
              <a:t>applyTo: "**/*.{cs,ts,js,py,java,go,rb}"</a:t>
            </a:r>
          </a:p>
          <a:p/>
          <a:p>
            <a:r>
              <a:t>applyTo: "**/*.{md,txt}"</a:t>
            </a:r>
          </a:p>
          <a:p/>
          <a:p>
            <a:r>
              <a:t>applyTo: "slides/marp/**"</a:t>
            </a:r>
          </a:p>
          <a:p/>
          <a:p>
            <a:r>
              <a:t>applyTo: "**/*.prompt.md"</a:t>
            </a:r>
          </a:p>
          <a:p>
            <a:r>
              <a: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wrap="square">
            <a:normAutofit/>
          </a:bodyPr>
          <a:lstStyle/>
          <a:p/>
          <a:p>
            <a:r>
              <a:rPr b="1"/>
              <a:t>1. Be Specific When Possible</a:t>
            </a:r>
          </a:p>
          <a:p/>
          <a:p>
            <a:r>
              <a:t>```yaml</a:t>
            </a:r>
          </a:p>
          <a:p>
            <a:r>
              <a:t>✅ applyTo: "**/*.instructions.md"</a:t>
            </a:r>
          </a:p>
          <a:p>
            <a:r>
              <a:t>❌ applyTo: "**"</a:t>
            </a:r>
          </a:p>
          <a:p>
            <a:r>
              <a:t>```</a:t>
            </a:r>
          </a:p>
          <a:p/>
          <a:p>
            <a:r>
              <a:rPr b="1"/>
              <a:t>2. Use Brace Expansion for Multiple Extensions</a:t>
            </a:r>
          </a:p>
          <a:p/>
          <a:p>
            <a:r>
              <a:t>```yaml</a:t>
            </a:r>
          </a:p>
          <a:p>
            <a:r>
              <a:t>✅ applyTo: "**/*.{cs,ts,js}"</a:t>
            </a:r>
          </a:p>
          <a:p>
            <a:r>
              <a:t>❌ Three separate instruction files</a:t>
            </a:r>
          </a:p>
          <a:p>
            <a:r>
              <a:t>```</a:t>
            </a:r>
          </a:p>
          <a:p/>
          <a:p>
            <a:r>
              <a:rPr b="1"/>
              <a:t>3. Match Scope to Purpose</a:t>
            </a:r>
          </a:p>
          <a:p/>
          <a:p>
            <a:r>
              <a:t>```yaml</a:t>
            </a:r>
          </a:p>
          <a:p>
            <a:r>
              <a:t>applyTo: "src/**/*.{cs,ts,js}"</a:t>
            </a:r>
          </a:p>
          <a:p/>
          <a:p>
            <a:r>
              <a:t>applyTo: "slides/marp/**"</a:t>
            </a:r>
          </a:p>
          <a:p>
            <a:r>
              <a: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wrap="square">
            <a:normAutofit/>
          </a:bodyPr>
          <a:lstStyle/>
          <a:p/>
          <a:p>
            <a:r>
              <a:rPr b="1"/>
              <a:t>Pitfall 1: Too Broad</a:t>
            </a:r>
          </a:p>
          <a:p/>
          <a:p>
            <a:r>
              <a:t>```yaml</a:t>
            </a:r>
          </a:p>
          <a:p>
            <a:r>
              <a:t>❌ applyTo: "**" # For slide formatting</a:t>
            </a:r>
          </a:p>
          <a:p>
            <a:r>
              <a:t>✅ applyTo: "slides/**"</a:t>
            </a:r>
          </a:p>
          <a:p>
            <a:r>
              <a:t>```</a:t>
            </a:r>
          </a:p>
          <a:p/>
          <a:p>
            <a:r>
              <a:rPr b="1"/>
              <a:t>Pitfall 2: Too Narrow</a:t>
            </a:r>
          </a:p>
          <a:p/>
          <a:p>
            <a:r>
              <a:t>```yaml</a:t>
            </a:r>
          </a:p>
          <a:p>
            <a:r>
              <a:t>❌ applyTo: "src/Features/UserManagement/**/*.cs"</a:t>
            </a:r>
          </a:p>
          <a:p>
            <a:r>
              <a:t>✅ applyTo: "src/Features/**/*.cs"</a:t>
            </a:r>
          </a:p>
          <a:p>
            <a:r>
              <a:t>```</a:t>
            </a:r>
          </a:p>
          <a:p/>
          <a:p>
            <a:r>
              <a:rPr b="1"/>
              <a:t>Pitfall 3: Overlapping Instructions</a:t>
            </a:r>
          </a:p>
          <a:p/>
          <a:p>
            <a:r>
              <a:t>```yaml</a:t>
            </a:r>
          </a:p>
          <a:p>
            <a:r>
              <a:t>applyTo: "**/*.cs"  # All C# files</a:t>
            </a:r>
          </a:p>
          <a:p/>
          <a:p>
            <a:r>
              <a:t>applyTo: "src/**/*.cs"  # C# files in src</a:t>
            </a:r>
          </a:p>
          <a:p/>
          <a:p>
            <a:r>
              <a: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wrap="square">
            <a:normAutofit/>
          </a:bodyPr>
          <a:lstStyle/>
          <a:p/>
          <a:p>
            <a:r>
              <a:rPr b="1"/>
              <a:t>How to verify patterns work correctly:</a:t>
            </a:r>
          </a:p>
          <a:p/>
          <a:p>
            <a:r>
              <a:t>1. </a:t>
            </a:r>
            <a:r>
              <a:rPr b="1"/>
              <a:t>Use file search to preview matches:</a:t>
            </a:r>
          </a:p>
          <a:p/>
          <a:p>
            <a:r>
              <a:t>```powershell</a:t>
            </a:r>
          </a:p>
          <a:p>
            <a:r>
              <a:t>Get-ChildItem -Path . -Filter "*.md" -Recurse</a:t>
            </a:r>
          </a:p>
          <a:p/>
          <a:p>
            <a:r>
              <a:t>find . -name "*.md"</a:t>
            </a:r>
          </a:p>
          <a:p>
            <a:r>
              <a:t>```</a:t>
            </a:r>
          </a:p>
          <a:p/>
          <a:p>
            <a:r>
              <a:t>2. </a:t>
            </a:r>
            <a:r>
              <a:rPr b="1"/>
              <a:t>Online glob testers:</a:t>
            </a:r>
          </a:p>
          <a:p/>
          <a:p>
            <a:pPr/>
            <a:r>
              <a:t>globster.xyz: https://globster.xyz/</a:t>
            </a:r>
          </a:p>
          <a:p>
            <a:pPr/>
            <a:r>
              <a:t>Test patterns before committing</a:t>
            </a:r>
          </a:p>
          <a:p/>
          <a:p>
            <a:r>
              <a:t>3. </a:t>
            </a:r>
            <a:r>
              <a:rPr b="1"/>
              <a:t>Check Copilot behavior:</a:t>
            </a:r>
          </a:p>
          <a:p/>
          <a:p>
            <a:pPr/>
            <a:r>
              <a:t>Open a file that should match</a:t>
            </a:r>
          </a:p>
          <a:p>
            <a:pPr/>
            <a:r>
              <a:t>Verify instructions are being followed</a:t>
            </a:r>
          </a:p>
          <a:p>
            <a:pPr/>
            <a:r>
              <a:t>Check for unexpected behavior (might indicate wrong pattern)</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wrap="square">
            <a:normAutofit/>
          </a:bodyPr>
          <a:lstStyle/>
          <a:p/>
          <a:p>
            <a:r>
              <a:rPr b="1"/>
              <a:t>Key Points to Remember:</a:t>
            </a:r>
          </a:p>
          <a:p/>
          <a:p>
            <a:pPr/>
            <a:r>
              <a:t>Patterns are evaluated when files are opened</a:t>
            </a:r>
          </a:p>
          <a:p>
            <a:pPr/>
            <a:r>
              <a:t>Multiple instruction files can match the same file</a:t>
            </a:r>
          </a:p>
          <a:p>
            <a:pPr/>
            <a:r>
              <a:t>More specific patterns take precedence (in terms of clarity, not override)</a:t>
            </a:r>
          </a:p>
          <a:p>
            <a:pPr/>
            <a:r>
              <a:t>Patterns are relative to repository root</a:t>
            </a:r>
          </a:p>
          <a:p>
            <a:pPr/>
            <a:r>
              <a:t>Case sensitivity depends on file system (Windows: no, Linux: yes)</a:t>
            </a:r>
          </a:p>
          <a:p/>
          <a:p>
            <a:r>
              <a:rPr b="1"/>
              <a:t>When Copilot Evaluates Patterns:</a:t>
            </a:r>
          </a:p>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wrap="square">
            <a:normAutofit/>
          </a:bodyPr>
          <a:lstStyle/>
          <a:p/>
          <a:p>
            <a:r>
              <a:rPr b="1"/>
              <a:t>Essential Patterns:</a:t>
            </a:r>
          </a:p>
          <a:p/>
          <a:p>
            <a:pPr/>
            <a:r>
              <a:t>`**/*` or `**` - Universal (use sparingly)</a:t>
            </a:r>
          </a:p>
          <a:p>
            <a:pPr/>
            <a:r>
              <a:t>`**/*.{ext1,ext2}` - Multiple file types</a:t>
            </a:r>
          </a:p>
          <a:p>
            <a:pPr/>
            <a:r>
              <a:t>`directory/**` - Specific directory scope</a:t>
            </a:r>
          </a:p>
          <a:p>
            <a:pPr/>
            <a:r>
              <a:t>`**/*.specific.extension.md` - Specialized files</a:t>
            </a:r>
          </a:p>
          <a:p/>
          <a:p>
            <a:r>
              <a:rPr b="1"/>
              <a:t>Decision Tree:</a:t>
            </a:r>
          </a:p>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p>
            <a:r>
              <a:rPr b="1"/>
              <a:t>Remember:</a:t>
            </a:r>
          </a:p>
          <a:p/>
          <a:p>
            <a:pPr/>
            <a:r>
              <a:t>✅ Be as specific as necessary, no more, no less</a:t>
            </a:r>
          </a:p>
          <a:p>
            <a:pPr/>
            <a:r>
              <a:t>✅ Test patterns before committing</a:t>
            </a:r>
          </a:p>
          <a:p>
            <a:pPr/>
            <a:r>
              <a:t>✅ Document why each pattern was chosen</a:t>
            </a:r>
          </a:p>
          <a:p>
            <a:pPr/>
            <a:r>
              <a:t>✅ Review patterns when instructions aren't working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wrap="square">
            <a:normAutofit/>
          </a:bodyPr>
          <a:lstStyle/>
          <a:p/>
          <a:p>
            <a:r>
              <a:rPr b="1"/>
              <a:t>Documentation:</a:t>
            </a:r>
          </a:p>
          <a:p/>
          <a:p>
            <a:pPr/>
            <a:r>
              <a:t>Glob Pattern Syntax Reference: https://globster.xyz/</a:t>
            </a:r>
          </a:p>
          <a:p>
            <a:pPr/>
            <a:r>
              <a:t>GitHub Copilot Instruction Files Documentation</a:t>
            </a:r>
          </a:p>
          <a:p>
            <a:pPr/>
            <a:r>
              <a:t>AI-Assisted Output Instructions</a:t>
            </a:r>
          </a:p>
          <a:p/>
          <a:p>
            <a:r>
              <a:rPr b="1"/>
              <a:t>Practice Exercise:</a:t>
            </a:r>
          </a:p>
          <a:p>
            <a:r>
              <a:t>Create instruction files for:</a:t>
            </a:r>
          </a:p>
          <a:p/>
          <a:p>
            <a:r>
              <a:t>1. CQRS architecture patterns (code only)</a:t>
            </a:r>
          </a:p>
          <a:p>
            <a:r>
              <a:t>2. Mermaid diagram standards (markdown only)</a:t>
            </a:r>
          </a:p>
          <a:p>
            <a:r>
              <a:t>3. Test naming conventions (test files only)</a:t>
            </a:r>
          </a:p>
          <a:p/>
          <a:p>
            <a:r>
              <a:rPr b="1"/>
              <a:t>Questions?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wrap="square">
            <a:normAutofit/>
          </a:bodyPr>
          <a:lstStyle/>
          <a:p/>
          <a:p>
            <a:r>
              <a:rPr b="1"/>
              <a:t>Questions? Feedback?</a:t>
            </a:r>
          </a:p>
          <a:p/>
          <a:p>
            <a:r>
              <a:t>Connect with the AI-Assisted Software Development team</a:t>
            </a:r>
          </a:p>
          <a:p/>
          <a:p>
            <a:r>
              <a:t>GitHub: johnmillerATcodemag-com/AI-Assisted-Software-Development: https://github.com/johnmillerATcodemag-com/AI-Assisted-Software-Development-Course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Instruction File</a:t>
                      </a:r>
                    </a:p>
                  </a:txBody>
                  <a:tcPr/>
                </a:tc>
                <a:tc>
                  <a:txBody>
                    <a:bodyPr/>
                    <a:lstStyle/>
                    <a:p>
                      <a:pPr>
                        <a:defRPr b="1" sz="1296"/>
                      </a:pPr>
                      <a:r>
                        <a:t>Purpose</a:t>
                      </a:r>
                    </a:p>
                  </a:txBody>
                  <a:tcPr/>
                </a:tc>
              </a:tr>
              <a:tr h="457200">
                <a:tc>
                  <a:txBody>
                    <a:bodyPr/>
                    <a:lstStyle/>
                    <a:p>
                      <a:r>
                        <a:t>ai-assisted-output.instructions.md</a:t>
                      </a:r>
                    </a:p>
                  </a:txBody>
                  <a:tcPr/>
                </a:tc>
                <a:tc>
                  <a:txBody>
                    <a:bodyPr/>
                    <a:lstStyle/>
                    <a:p>
                      <a:r>
                        <a:t>Guidance for AI generated artifacts</a:t>
                      </a:r>
                    </a:p>
                  </a:txBody>
                  <a:tcPr/>
                </a:tc>
              </a:tr>
              <a:tr h="457200">
                <a:tc>
                  <a:txBody>
                    <a:bodyPr/>
                    <a:lstStyle/>
                    <a:p>
                      <a:r>
                        <a:t>chatmode-file.instructions.md</a:t>
                      </a:r>
                    </a:p>
                  </a:txBody>
                  <a:tcPr/>
                </a:tc>
                <a:tc>
                  <a:txBody>
                    <a:bodyPr/>
                    <a:lstStyle/>
                    <a:p>
                      <a:r>
                        <a:t>Guidance for generating chat modes</a:t>
                      </a:r>
                    </a:p>
                  </a:txBody>
                  <a:tcPr/>
                </a:tc>
              </a:tr>
              <a:tr h="457200">
                <a:tc>
                  <a:txBody>
                    <a:bodyPr/>
                    <a:lstStyle/>
                    <a:p>
                      <a:r>
                        <a:t>instruction-files.instructions.md</a:t>
                      </a:r>
                    </a:p>
                  </a:txBody>
                  <a:tcPr/>
                </a:tc>
                <a:tc>
                  <a:txBody>
                    <a:bodyPr/>
                    <a:lstStyle/>
                    <a:p>
                      <a:r>
                        <a:t>Guidance for generating instruction files</a:t>
                      </a:r>
                    </a:p>
                  </a:txBody>
                  <a:tcPr/>
                </a:tc>
              </a:tr>
              <a:tr h="457200">
                <a:tc>
                  <a:txBody>
                    <a:bodyPr/>
                    <a:lstStyle/>
                    <a:p>
                      <a:r>
                        <a:t>prompt-file.instructions.md</a:t>
                      </a:r>
                    </a:p>
                  </a:txBody>
                  <a:tcPr/>
                </a:tc>
                <a:tc>
                  <a:txBody>
                    <a:bodyPr/>
                    <a:lstStyle/>
                    <a:p>
                      <a:r>
                        <a:t>Guidance for generating prompt files</a:t>
                      </a:r>
                    </a:p>
                  </a:txBody>
                  <a:tcPr/>
                </a:tc>
              </a:tr>
              <a:tr h="457200">
                <a:tc>
                  <a:txBody>
                    <a:bodyPr/>
                    <a:lstStyle/>
                    <a:p>
                      <a:r>
                        <a:t>instruction-prompt-files.instructions.md</a:t>
                      </a:r>
                    </a:p>
                  </a:txBody>
                  <a:tcPr/>
                </a:tc>
                <a:tc>
                  <a:txBody>
                    <a:bodyPr/>
                    <a:lstStyle/>
                    <a:p>
                      <a:r>
                        <a:t>Guidance for generating prompts that generate instruction files</a:t>
                      </a:r>
                    </a:p>
                  </a:txBody>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vs. Repository Instruction Files</a:t>
            </a:r>
          </a:p>
        </p:txBody>
      </p:sp>
      <p:sp>
        <p:nvSpPr>
          <p:cNvPr id="3" name="Content Placeholder 2"/>
          <p:cNvSpPr>
            <a:spLocks noGrp="1"/>
          </p:cNvSpPr>
          <p:nvPr>
            <p:ph idx="1"/>
          </p:nvPr>
        </p:nvSpPr>
        <p:spPr/>
        <p:txBody>
          <a:bodyPr wrap="square">
            <a:normAutofit/>
          </a:bodyPr>
          <a:lstStyle/>
          <a:p/>
          <a:p>
            <a:pPr/>
            <a:r>
              <a:t>Business/Enterprise tier capabilities</a:t>
            </a:r>
          </a:p>
          <a:p>
            <a:pPr/>
            <a:r>
              <a:t>Path-scoped instruction files</a:t>
            </a:r>
          </a:p>
          <a:p>
            <a:pPr/>
            <a:r>
              <a:t>Folder-level technology-specific rules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Two Instruction Layers Exist</a:t>
            </a:r>
          </a:p>
        </p:txBody>
      </p:sp>
      <p:sp>
        <p:nvSpPr>
          <p:cNvPr id="3" name="Content Placeholder 2"/>
          <p:cNvSpPr>
            <a:spLocks noGrp="1"/>
          </p:cNvSpPr>
          <p:nvPr>
            <p:ph idx="1"/>
          </p:nvPr>
        </p:nvSpPr>
        <p:spPr/>
        <p:txBody>
          <a:bodyPr wrap="square">
            <a:normAutofit/>
          </a:bodyPr>
          <a:lstStyle/>
          <a:p/>
          <a:p>
            <a:pPr/>
            <a:r>
              <a:t>Enterprise instructions enforce baseline policy and governance</a:t>
            </a:r>
          </a:p>
          <a:p>
            <a:pPr/>
            <a:r>
              <a:t>Repository instructions optimize for project context and implementation detail</a:t>
            </a:r>
          </a:p>
          <a:p>
            <a:pPr/>
            <a:r>
              <a:t>Together they balance consistency and local autonomy</a:t>
            </a:r>
          </a:p>
          <a:p/>
          <a:p>
            <a:r>
              <a:t>### Key Idea</a:t>
            </a:r>
          </a:p>
          <a:p/>
          <a:p>
            <a:r>
              <a:t>Define global guardrails once, then narrow behavior where code lives.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Business/Enterprise Tier Capabilities</a:t>
            </a:r>
          </a:p>
        </p:txBody>
      </p:sp>
      <p:sp>
        <p:nvSpPr>
          <p:cNvPr id="3" name="Content Placeholder 2"/>
          <p:cNvSpPr>
            <a:spLocks noGrp="1"/>
          </p:cNvSpPr>
          <p:nvPr>
            <p:ph idx="1"/>
          </p:nvPr>
        </p:nvSpPr>
        <p:spPr/>
        <p:txBody>
          <a:bodyPr wrap="square">
            <a:normAutofit/>
          </a:bodyPr>
          <a:lstStyle/>
          <a:p/>
          <a:p>
            <a:pPr/>
            <a:r>
              <a:t>Organization-wide safety and compliance standards</a:t>
            </a:r>
          </a:p>
          <a:p>
            <a:pPr/>
            <a:r>
              <a:t>Approved model and tool usage policy</a:t>
            </a:r>
          </a:p>
          <a:p>
            <a:pPr/>
            <a:r>
              <a:t>Mandatory provenance and audit requirements</a:t>
            </a:r>
          </a:p>
          <a:p>
            <a:pPr/>
            <a:r>
              <a:t>Security and legal baselines (secret handling, license constraints)</a:t>
            </a:r>
          </a:p>
          <a:p>
            <a:pPr/>
            <a:r>
              <a:t>Shared quality gates for CI/CD</a:t>
            </a:r>
          </a:p>
          <a:p/>
          <a:p>
            <a:r>
              <a:t>### Typical Scope</a:t>
            </a:r>
          </a:p>
          <a:p/>
          <a:p>
            <a:r>
              <a:t>All repositories, all teams, all environments.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Path-Scoped Instruction Files</a:t>
            </a:r>
          </a:p>
        </p:txBody>
      </p:sp>
      <p:sp>
        <p:nvSpPr>
          <p:cNvPr id="3" name="Content Placeholder 2"/>
          <p:cNvSpPr>
            <a:spLocks noGrp="1"/>
          </p:cNvSpPr>
          <p:nvPr>
            <p:ph idx="1"/>
          </p:nvPr>
        </p:nvSpPr>
        <p:spPr/>
        <p:txBody>
          <a:bodyPr wrap="square">
            <a:normAutofit/>
          </a:bodyPr>
          <a:lstStyle/>
          <a:p/>
          <a:p>
            <a:r>
              <a:t>Path-scoped instructions apply behavior only where it is needed.</a:t>
            </a:r>
          </a:p>
          <a:p/>
          <a:p>
            <a:r>
              <a:t>```yaml</a:t>
            </a:r>
          </a:p>
          <a:p>
            <a:r>
              <a:t>applyTo: "slides/marp/**"</a:t>
            </a:r>
          </a:p>
          <a:p>
            <a:r>
              <a:t>```</a:t>
            </a:r>
          </a:p>
          <a:p/>
          <a:p>
            <a:r>
              <a:t>```yaml</a:t>
            </a:r>
          </a:p>
          <a:p>
            <a:r>
              <a:t>applyTo: "**/*.{cs,ts,js,py,java,go,rb}"</a:t>
            </a:r>
          </a:p>
          <a:p>
            <a:r>
              <a:t>```</a:t>
            </a:r>
          </a:p>
          <a:p/>
          <a:p>
            <a:r>
              <a:t>```yaml</a:t>
            </a:r>
          </a:p>
          <a:p>
            <a:r>
              <a:t>applyTo: "**/*.instructions.md"</a:t>
            </a:r>
          </a:p>
          <a:p>
            <a:r>
              <a:t>```</a:t>
            </a:r>
          </a:p>
          <a:p/>
          <a:p>
            <a:r>
              <a:t>### Benefit</a:t>
            </a:r>
          </a:p>
          <a:p/>
          <a:p>
            <a:r>
              <a:t>Granular control without forcing unrelated files to follow irrelevant rules.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Folder-Level Technology-Specific Rules</a:t>
            </a:r>
          </a:p>
        </p:txBody>
      </p:sp>
      <p:sp>
        <p:nvSpPr>
          <p:cNvPr id="3" name="Content Placeholder 2"/>
          <p:cNvSpPr>
            <a:spLocks noGrp="1"/>
          </p:cNvSpPr>
          <p:nvPr>
            <p:ph idx="1"/>
          </p:nvPr>
        </p:nvSpPr>
        <p:spPr/>
        <p:txBody>
          <a:bodyPr wrap="square">
            <a:normAutofit/>
          </a:bodyPr>
          <a:lstStyle/>
          <a:p/>
          <a:p>
            <a:r>
              <a:t>Use folder-level rules to match local stack and workflow.</a:t>
            </a:r>
          </a:p>
          <a:p/>
          <a:p>
            <a:pPr/>
            <a:r>
              <a:t>`slides/` for Marp formatting and speaker-note conventions</a:t>
            </a:r>
          </a:p>
          <a:p>
            <a:pPr/>
            <a:r>
              <a:t>`Labs/lab1-3-python/` for Python lint/test guidance</a:t>
            </a:r>
          </a:p>
          <a:p>
            <a:pPr/>
            <a:r>
              <a:t>`Labs/lab1-3-typescript/` for TypeScript build/test patterns</a:t>
            </a:r>
          </a:p>
          <a:p>
            <a:pPr/>
            <a:r>
              <a:t>`Course/course.github/` for docs automation and publishing rules</a:t>
            </a:r>
          </a:p>
          <a:p/>
          <a:p>
            <a:r>
              <a:t>### Pattern</a:t>
            </a:r>
          </a:p>
          <a:p/>
          <a:p>
            <a:r>
              <a:t>Place rules near code ownership boundaries.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Layering Model and Precedence</a:t>
            </a:r>
          </a:p>
        </p:txBody>
      </p:sp>
      <p:sp>
        <p:nvSpPr>
          <p:cNvPr id="3" name="Content Placeholder 2"/>
          <p:cNvSpPr>
            <a:spLocks noGrp="1"/>
          </p:cNvSpPr>
          <p:nvPr>
            <p:ph idx="1"/>
          </p:nvPr>
        </p:nvSpPr>
        <p:spPr/>
        <p:txBody>
          <a:bodyPr wrap="square">
            <a:normAutofit/>
          </a:bodyPr>
          <a:lstStyle/>
          <a:p/>
          <a:p>
            <a:r>
              <a:t>```mermaid</a:t>
            </a:r>
          </a:p>
          <a:p>
            <a:r>
              <a:t>flowchart TD</a:t>
            </a:r>
          </a:p>
          <a:p>
            <a:r>
              <a:t>  A[Enterprise Instructions\nGlobal Guardrails] --&gt; B[Repository Instructions\nProject Standards]</a:t>
            </a:r>
          </a:p>
          <a:p>
            <a:r>
              <a:t>  B --&gt; C[Path-Scoped Rules\nTargeted Behavior]</a:t>
            </a:r>
          </a:p>
          <a:p>
            <a:r>
              <a:t>  C --&gt; D[Folder-Level Tech Rules\nLocal Implementation]</a:t>
            </a:r>
          </a:p>
          <a:p>
            <a:r>
              <a:t>```</a:t>
            </a:r>
          </a:p>
          <a:p/>
          <a:p>
            <a:r>
              <a:t>### Resolution Rule</a:t>
            </a:r>
          </a:p>
          <a:p/>
          <a:p>
            <a:r>
              <a:t>Prefer the most specific matching instruction when guidance overlaps.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Governance Checklist</a:t>
            </a:r>
          </a:p>
        </p:txBody>
      </p:sp>
      <p:sp>
        <p:nvSpPr>
          <p:cNvPr id="3" name="Content Placeholder 2"/>
          <p:cNvSpPr>
            <a:spLocks noGrp="1"/>
          </p:cNvSpPr>
          <p:nvPr>
            <p:ph idx="1"/>
          </p:nvPr>
        </p:nvSpPr>
        <p:spPr/>
        <p:txBody>
          <a:bodyPr wrap="square">
            <a:normAutofit/>
          </a:bodyPr>
          <a:lstStyle/>
          <a:p/>
          <a:p>
            <a:pPr/>
            <a:r>
              <a:t>Keep enterprise files policy-focused and durable</a:t>
            </a:r>
          </a:p>
          <a:p>
            <a:pPr/>
            <a:r>
              <a:t>Keep repository files implementation-focused and current</a:t>
            </a:r>
          </a:p>
          <a:p>
            <a:pPr/>
            <a:r>
              <a:t>Use explicit `applyTo` patterns for every specialized rule file</a:t>
            </a:r>
          </a:p>
          <a:p>
            <a:pPr/>
            <a:r>
              <a:t>Review instruction overlap quarterly to reduce conflicts</a:t>
            </a:r>
          </a:p>
          <a:p>
            <a:pPr/>
            <a:r>
              <a:t>Validate behavior with small representative prompts per folder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Technology Inventory &amp; Instruction Generation</a:t>
            </a:r>
          </a:p>
        </p:txBody>
      </p:sp>
      <p:sp>
        <p:nvSpPr>
          <p:cNvPr id="3" name="Content Placeholder 2"/>
          <p:cNvSpPr>
            <a:spLocks noGrp="1"/>
          </p:cNvSpPr>
          <p:nvPr>
            <p:ph idx="1" sz="half"/>
          </p:nvPr>
        </p:nvSpPr>
        <p:spPr/>
        <p:txBody>
          <a:bodyPr wrap="square">
            <a:normAutofit/>
          </a:bodyPr>
          <a:lstStyle/>
          <a:p/>
          <a:p>
            <a:r>
              <a:t>Objectives</a:t>
            </a:r>
          </a:p>
          <a:p/>
          <a:p>
            <a:pPr/>
            <a:r>
              <a:t>Create a clear inventory of project technologies across the repository</a:t>
            </a:r>
          </a:p>
          <a:p>
            <a:pPr/>
            <a:r>
              <a:t>Use background sessions to run concurrent analysis and drafting work</a:t>
            </a:r>
          </a:p>
          <a:p>
            <a:pPr/>
            <a:r>
              <a:t>Generate multiple instruction files simultaneously from the inventory results</a:t>
            </a:r>
          </a:p>
          <a:p>
            <a:pPr/>
            <a:r>
              <a:t>Practice session management interface workflows for parallel task control</a:t>
            </a:r>
          </a:p>
          <a:p/>
          <a:p>
            <a:r>
              <a:t>Activities</a:t>
            </a:r>
          </a:p>
          <a:p/>
          <a:p>
            <a:r>
              <a:t>1. Technology Inventory Build:</a:t>
            </a:r>
          </a:p>
          <a:p/>
          <a:p>
            <a:pPr/>
            <a:r>
              <a:t>Scan the repository and list languages, frameworks, build tools, and test stacks</a:t>
            </a:r>
          </a:p>
          <a:p>
            <a:pPr/>
            <a:r>
              <a:t>Group technologies by folder ownership and lifecycle criticality</a:t>
            </a:r>
          </a:p>
          <a:p>
            <a:pPr/>
            <a:r>
              <a:t>Identify missing or outdated instruction coverage per technology area</a:t>
            </a:r>
          </a:p>
          <a:p/>
          <a:p>
            <a:r>
              <a:t>2. Background Session Orchestration:</a:t>
            </a:r>
          </a:p>
          <a:p/>
          <a:p>
            <a:pPr/>
            <a:r>
              <a:t>Start parallel background sessions for discovery, drafting, and validation</a:t>
            </a:r>
          </a:p>
          <a:p>
            <a:pPr/>
            <a:r>
              <a:t>Assign one focused outcome per session (inventory, file generation, review)</a:t>
            </a:r>
          </a:p>
          <a:p>
            <a:pPr/>
            <a:r>
              <a:t>Capture each session's outputs and merge findings into one working backlog</a:t>
            </a:r>
          </a:p>
          <a:p/>
          <a:p>
            <a:r>
              <a:t>3. Simultaneous Instruction Generation:</a:t>
            </a:r>
          </a:p>
          <a:p/>
          <a:p>
            <a:pPr/>
            <a:r>
              <a:t>Generate multiple instruction files for high-priority technology folders</a:t>
            </a:r>
          </a:p>
          <a:p>
            <a:pPr/>
            <a:r>
              <a:t>Apply path-scoped patterns to each generated instruction file</a:t>
            </a:r>
          </a:p>
          <a:p>
            <a:pPr/>
            <a:r>
              <a:t>Validate that each file is targeted, non-overlapping, and implementation-ready</a:t>
            </a:r>
          </a:p>
          <a:p/>
          <a:p>
            <a:r>
              <a:t>4. Session Management Interface Review:</a:t>
            </a:r>
          </a:p>
          <a:p/>
          <a:p>
            <a:pPr/>
            <a:r>
              <a:t>Track session state, ownership, and completion status</a:t>
            </a:r>
          </a:p>
          <a:p>
            <a:pPr/>
            <a:r>
              <a:t>Resolve collisions between concurrently generated instruction outputs</a:t>
            </a:r>
          </a:p>
          <a:p>
            <a:pPr/>
            <a:r>
              <a:t>Close sessions with a summarized decision log and next-step actions</a:t>
            </a:r>
          </a:p>
          <a:p/>
          <a:p>
            <a:r>
              <a:t>Success Criteria</a:t>
            </a:r>
          </a:p>
          <a:p/>
          <a:p>
            <a:pPr/>
            <a:r>
              <a:t>Technology inventory includes stack, location, and risk/priority attributes</a:t>
            </a:r>
          </a:p>
          <a:p>
            <a:pPr/>
            <a:r>
              <a:t>At least three instruction files are generated concurrently and scoped correctly</a:t>
            </a:r>
          </a:p>
          <a:p>
            <a:pPr/>
            <a:r>
              <a:t>Background sessions are documented with clear responsibilities and outcomes</a:t>
            </a:r>
          </a:p>
          <a:p>
            <a:pPr/>
            <a:r>
              <a:t>Session management process is repeatable for future multi-stream work</a:t>
            </a:r>
          </a:p>
        </p:txBody>
      </p:sp>
      <p:sp>
        <p:nvSpPr>
          <p:cNvPr id="4" name="Content Placeholder 3"/>
          <p:cNvSpPr>
            <a:spLocks noGrp="1"/>
          </p:cNvSpPr>
          <p:nvPr>
            <p:ph idx="2" sz="half"/>
          </p:nvPr>
        </p:nvSpPr>
        <p:spPr/>
        <p:txBody>
          <a:bodyPr/>
          <a:lstStyle/>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