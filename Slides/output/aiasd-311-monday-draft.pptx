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743" r:id="rId1"/>
  </p:sldMasterIdLst>
  <p:notesMasterIdLst>
    <p:notesMasterId r:id="rId2"/>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347" r:id="rId98"/>
    <p:sldId id="348" r:id="rId99"/>
    <p:sldId id="349" r:id="rId100"/>
    <p:sldId id="350" r:id="rId101"/>
    <p:sldId id="351" r:id="rId102"/>
    <p:sldId id="352" r:id="rId103"/>
    <p:sldId id="353" r:id="rId104"/>
    <p:sldId id="354" r:id="rId105"/>
    <p:sldId id="355" r:id="rId106"/>
    <p:sldId id="356" r:id="rId107"/>
    <p:sldId id="357" r:id="rId108"/>
    <p:sldId id="358" r:id="rId109"/>
    <p:sldId id="359" r:id="rId110"/>
    <p:sldId id="360" r:id="rId111"/>
    <p:sldId id="361" r:id="rId112"/>
    <p:sldId id="362" r:id="rId113"/>
    <p:sldId id="363" r:id="rId114"/>
    <p:sldId id="364" r:id="rId115"/>
    <p:sldId id="365" r:id="rId116"/>
    <p:sldId id="366" r:id="rId117"/>
    <p:sldId id="367" r:id="rId118"/>
    <p:sldId id="368" r:id="rId119"/>
    <p:sldId id="369" r:id="rId120"/>
    <p:sldId id="370" r:id="rId121"/>
    <p:sldId id="371" r:id="rId122"/>
    <p:sldId id="372" r:id="rId123"/>
    <p:sldId id="373" r:id="rId124"/>
    <p:sldId id="374" r:id="rId125"/>
    <p:sldId id="375" r:id="rId126"/>
    <p:sldId id="376" r:id="rId127"/>
    <p:sldId id="377" r:id="rId128"/>
    <p:sldId id="378" r:id="rId129"/>
    <p:sldId id="379" r:id="rId130"/>
    <p:sldId id="380" r:id="rId131"/>
    <p:sldId id="381" r:id="rId132"/>
    <p:sldId id="382" r:id="rId133"/>
    <p:sldId id="383" r:id="rId134"/>
    <p:sldId id="384" r:id="rId135"/>
    <p:sldId id="385" r:id="rId136"/>
    <p:sldId id="386" r:id="rId137"/>
    <p:sldId id="387" r:id="rId138"/>
    <p:sldId id="388" r:id="rId139"/>
    <p:sldId id="389" r:id="rId140"/>
    <p:sldId id="390" r:id="rId141"/>
    <p:sldId id="391" r:id="rId142"/>
    <p:sldId id="392" r:id="rId143"/>
    <p:sldId id="393" r:id="rId144"/>
    <p:sldId id="394" r:id="rId145"/>
    <p:sldId id="395" r:id="rId146"/>
    <p:sldId id="396" r:id="rId147"/>
    <p:sldId id="397" r:id="rId148"/>
    <p:sldId id="398" r:id="rId149"/>
    <p:sldId id="399" r:id="rId150"/>
    <p:sldId id="400" r:id="rId151"/>
    <p:sldId id="401" r:id="rId152"/>
    <p:sldId id="402" r:id="rId153"/>
    <p:sldId id="403" r:id="rId154"/>
    <p:sldId id="404" r:id="rId155"/>
    <p:sldId id="405" r:id="rId156"/>
    <p:sldId id="406" r:id="rId157"/>
    <p:sldId id="407" r:id="rId158"/>
    <p:sldId id="408" r:id="rId159"/>
    <p:sldId id="409" r:id="rId160"/>
    <p:sldId id="410" r:id="rId161"/>
    <p:sldId id="411" r:id="rId162"/>
    <p:sldId id="412" r:id="rId163"/>
    <p:sldId id="413" r:id="rId164"/>
    <p:sldId id="414" r:id="rId165"/>
    <p:sldId id="415" r:id="rId166"/>
    <p:sldId id="416" r:id="rId167"/>
    <p:sldId id="417" r:id="rId168"/>
    <p:sldId id="418" r:id="rId169"/>
    <p:sldId id="419" r:id="rId170"/>
    <p:sldId id="420" r:id="rId171"/>
    <p:sldId id="421" r:id="rId172"/>
    <p:sldId id="422" r:id="rId173"/>
    <p:sldId id="423" r:id="rId174"/>
    <p:sldId id="424" r:id="rId175"/>
    <p:sldId id="425" r:id="rId176"/>
    <p:sldId id="426" r:id="rId177"/>
    <p:sldId id="427" r:id="rId178"/>
    <p:sldId id="428" r:id="rId179"/>
    <p:sldId id="429" r:id="rId180"/>
    <p:sldId id="430" r:id="rId181"/>
    <p:sldId id="431" r:id="rId182"/>
    <p:sldId id="432" r:id="rId183"/>
    <p:sldId id="433" r:id="rId184"/>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14:sectionLst xmlns:p14="http://schemas.microsoft.com/office/powerpoint/2010/main">
    <p14:section name="Intro" id="2726081251">
      <p14:sldIdLst>
        <p14:sldId id="256"/>
        <p14:sldId id="257"/>
        <p14:sldId id="258"/>
        <p14:sldId id="259"/>
        <p14:sldId id="260"/>
      </p14:sldIdLst>
    </p14:section>
    <p14:section name="Module 1 - AIASD" id="73967469">
      <p14:sldIdLst>
        <p14:sldId id="261"/>
        <p14:sldId id="262"/>
        <p14:sldId id="263"/>
        <p14:sldId id="264"/>
        <p14:sldId id="265"/>
        <p14:sldId id="266"/>
        <p14:sldId id="267"/>
        <p14:sldId id="268"/>
        <p14:sldId id="269"/>
        <p14:sldId id="270"/>
        <p14:sldId id="271"/>
        <p14:sldId id="272"/>
        <p14:sldId id="273"/>
        <p14:sldId id="274"/>
        <p14:sldId id="275"/>
        <p14:sldId id="276"/>
        <p14:sldId id="277"/>
        <p14:sldId id="278"/>
        <p14:sldId id="279"/>
        <p14:sldId id="280"/>
        <p14:sldId id="281"/>
        <p14:sldId id="282"/>
        <p14:sldId id="283"/>
        <p14:sldId id="284"/>
        <p14:sldId id="285"/>
        <p14:sldId id="286"/>
        <p14:sldId id="287"/>
        <p14:sldId id="288"/>
      </p14:sldIdLst>
    </p14:section>
    <p14:section name="Module 2 - Intro to Copilot" id="1421142212">
      <p14:sldIdLst>
        <p14:sldId id="289"/>
        <p14:sldId id="290"/>
        <p14:sldId id="291"/>
        <p14:sldId id="292"/>
        <p14:sldId id="293"/>
        <p14:sldId id="294"/>
        <p14:sldId id="295"/>
        <p14:sldId id="296"/>
        <p14:sldId id="297"/>
        <p14:sldId id="298"/>
        <p14:sldId id="299"/>
        <p14:sldId id="300"/>
        <p14:sldId id="301"/>
        <p14:sldId id="302"/>
        <p14:sldId id="303"/>
      </p14:sldIdLst>
    </p14:section>
    <p14:section name="Module 3 - Vibbing" id="1404302434">
      <p14:sldIdLst>
        <p14:sldId id="304"/>
        <p14:sldId id="305"/>
        <p14:sldId id="306"/>
        <p14:sldId id="307"/>
        <p14:sldId id="308"/>
        <p14:sldId id="309"/>
        <p14:sldId id="310"/>
        <p14:sldId id="311"/>
        <p14:sldId id="312"/>
        <p14:sldId id="313"/>
        <p14:sldId id="314"/>
        <p14:sldId id="315"/>
        <p14:sldId id="316"/>
        <p14:sldId id="317"/>
        <p14:sldId id="318"/>
        <p14:sldId id="319"/>
        <p14:sldId id="320"/>
        <p14:sldId id="321"/>
        <p14:sldId id="322"/>
        <p14:sldId id="323"/>
        <p14:sldId id="324"/>
        <p14:sldId id="325"/>
        <p14:sldId id="326"/>
        <p14:sldId id="327"/>
        <p14:sldId id="328"/>
        <p14:sldId id="329"/>
        <p14:sldId id="330"/>
        <p14:sldId id="331"/>
        <p14:sldId id="332"/>
        <p14:sldId id="333"/>
        <p14:sldId id="334"/>
        <p14:sldId id="335"/>
        <p14:sldId id="336"/>
        <p14:sldId id="337"/>
        <p14:sldId id="338"/>
        <p14:sldId id="339"/>
        <p14:sldId id="340"/>
        <p14:sldId id="341"/>
        <p14:sldId id="342"/>
        <p14:sldId id="343"/>
        <p14:sldId id="344"/>
        <p14:sldId id="345"/>
        <p14:sldId id="346"/>
        <p14:sldId id="347"/>
        <p14:sldId id="348"/>
        <p14:sldId id="349"/>
        <p14:sldId id="350"/>
        <p14:sldId id="351"/>
        <p14:sldId id="352"/>
        <p14:sldId id="353"/>
        <p14:sldId id="354"/>
        <p14:sldId id="355"/>
        <p14:sldId id="356"/>
        <p14:sldId id="357"/>
        <p14:sldId id="358"/>
        <p14:sldId id="359"/>
        <p14:sldId id="360"/>
        <p14:sldId id="361"/>
        <p14:sldId id="362"/>
      </p14:sldIdLst>
    </p14:section>
    <p14:section name="Module 4 - Adding AI Guardrails" id="2342448863">
      <p14:sldIdLst>
        <p14:sldId id="363"/>
        <p14:sldId id="364"/>
        <p14:sldId id="365"/>
        <p14:sldId id="366"/>
        <p14:sldId id="367"/>
        <p14:sldId id="368"/>
        <p14:sldId id="369"/>
        <p14:sldId id="370"/>
        <p14:sldId id="371"/>
        <p14:sldId id="372"/>
        <p14:sldId id="373"/>
        <p14:sldId id="374"/>
        <p14:sldId id="375"/>
        <p14:sldId id="376"/>
        <p14:sldId id="377"/>
        <p14:sldId id="378"/>
        <p14:sldId id="379"/>
        <p14:sldId id="380"/>
        <p14:sldId id="381"/>
        <p14:sldId id="382"/>
        <p14:sldId id="383"/>
        <p14:sldId id="384"/>
        <p14:sldId id="385"/>
        <p14:sldId id="386"/>
        <p14:sldId id="387"/>
        <p14:sldId id="388"/>
        <p14:sldId id="389"/>
        <p14:sldId id="390"/>
        <p14:sldId id="391"/>
        <p14:sldId id="392"/>
        <p14:sldId id="393"/>
        <p14:sldId id="394"/>
        <p14:sldId id="395"/>
        <p14:sldId id="396"/>
        <p14:sldId id="397"/>
        <p14:sldId id="398"/>
        <p14:sldId id="399"/>
        <p14:sldId id="400"/>
        <p14:sldId id="401"/>
        <p14:sldId id="402"/>
        <p14:sldId id="403"/>
        <p14:sldId id="404"/>
        <p14:sldId id="405"/>
        <p14:sldId id="406"/>
        <p14:sldId id="407"/>
        <p14:sldId id="408"/>
        <p14:sldId id="409"/>
        <p14:sldId id="410"/>
        <p14:sldId id="411"/>
        <p14:sldId id="412"/>
        <p14:sldId id="413"/>
        <p14:sldId id="414"/>
        <p14:sldId id="415"/>
        <p14:sldId id="416"/>
        <p14:sldId id="417"/>
        <p14:sldId id="418"/>
      </p14:sldIdLst>
    </p14:section>
    <p14:section name="Module 5 - Managing Context" id="1159008676">
      <p14:sldIdLst>
        <p14:sldId id="419"/>
        <p14:sldId id="420"/>
        <p14:sldId id="421"/>
        <p14:sldId id="422"/>
        <p14:sldId id="423"/>
        <p14:sldId id="424"/>
        <p14:sldId id="425"/>
        <p14:sldId id="426"/>
        <p14:sldId id="427"/>
        <p14:sldId id="428"/>
        <p14:sldId id="429"/>
        <p14:sldId id="430"/>
        <p14:sldId id="431"/>
        <p14:sldId id="432"/>
        <p14:sldId id="433"/>
      </p14:sldIdLst>
    </p14:section>
  </p14:section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B08B12"/>
    <a:srgbClr val="8E1416"/>
    <a:srgbClr val="922123"/>
    <a:srgbClr val="AA8200"/>
    <a:srgbClr val="DEAA00"/>
    <a:srgbClr val="007FB1"/>
    <a:srgbClr val="38955A"/>
    <a:srgbClr val="920000"/>
    <a:srgbClr val="212121"/>
    <a:srgbClr val="2C4D7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20007" autoAdjust="0"/>
    <p:restoredTop sz="63597" autoAdjust="0"/>
  </p:normalViewPr>
  <p:slideViewPr>
    <p:cSldViewPr snapToGrid="0" showGuides="1">
      <p:cViewPr varScale="1">
        <p:scale>
          <a:sx n="70" d="100"/>
          <a:sy n="70" d="100"/>
        </p:scale>
        <p:origin x="33" y="630"/>
      </p:cViewPr>
      <p:guideLst/>
    </p:cSldViewPr>
  </p:slideViewPr>
  <p:outlineViewPr>
    <p:cViewPr>
      <p:scale>
        <a:sx n="33" d="100"/>
        <a:sy n="33" d="100"/>
      </p:scale>
      <p:origin x="0" y="-16152"/>
    </p:cViewPr>
  </p:outlin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notesMaster" Target="notesMasters/notesMaster1.xml"/><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 Id="rId120" Type="http://schemas.openxmlformats.org/officeDocument/2006/relationships/slide" Target="slides/slide114.xml"/><Relationship Id="rId121" Type="http://schemas.openxmlformats.org/officeDocument/2006/relationships/slide" Target="slides/slide115.xml"/><Relationship Id="rId122" Type="http://schemas.openxmlformats.org/officeDocument/2006/relationships/slide" Target="slides/slide116.xml"/><Relationship Id="rId123" Type="http://schemas.openxmlformats.org/officeDocument/2006/relationships/slide" Target="slides/slide117.xml"/><Relationship Id="rId124" Type="http://schemas.openxmlformats.org/officeDocument/2006/relationships/slide" Target="slides/slide118.xml"/><Relationship Id="rId125" Type="http://schemas.openxmlformats.org/officeDocument/2006/relationships/slide" Target="slides/slide119.xml"/><Relationship Id="rId126" Type="http://schemas.openxmlformats.org/officeDocument/2006/relationships/slide" Target="slides/slide120.xml"/><Relationship Id="rId127" Type="http://schemas.openxmlformats.org/officeDocument/2006/relationships/slide" Target="slides/slide121.xml"/><Relationship Id="rId128" Type="http://schemas.openxmlformats.org/officeDocument/2006/relationships/slide" Target="slides/slide122.xml"/><Relationship Id="rId129" Type="http://schemas.openxmlformats.org/officeDocument/2006/relationships/slide" Target="slides/slide123.xml"/><Relationship Id="rId130" Type="http://schemas.openxmlformats.org/officeDocument/2006/relationships/slide" Target="slides/slide124.xml"/><Relationship Id="rId131" Type="http://schemas.openxmlformats.org/officeDocument/2006/relationships/slide" Target="slides/slide125.xml"/><Relationship Id="rId132" Type="http://schemas.openxmlformats.org/officeDocument/2006/relationships/slide" Target="slides/slide126.xml"/><Relationship Id="rId133" Type="http://schemas.openxmlformats.org/officeDocument/2006/relationships/slide" Target="slides/slide127.xml"/><Relationship Id="rId134" Type="http://schemas.openxmlformats.org/officeDocument/2006/relationships/slide" Target="slides/slide128.xml"/><Relationship Id="rId135" Type="http://schemas.openxmlformats.org/officeDocument/2006/relationships/slide" Target="slides/slide129.xml"/><Relationship Id="rId136" Type="http://schemas.openxmlformats.org/officeDocument/2006/relationships/slide" Target="slides/slide130.xml"/><Relationship Id="rId137" Type="http://schemas.openxmlformats.org/officeDocument/2006/relationships/slide" Target="slides/slide131.xml"/><Relationship Id="rId138" Type="http://schemas.openxmlformats.org/officeDocument/2006/relationships/slide" Target="slides/slide132.xml"/><Relationship Id="rId139" Type="http://schemas.openxmlformats.org/officeDocument/2006/relationships/slide" Target="slides/slide133.xml"/><Relationship Id="rId140" Type="http://schemas.openxmlformats.org/officeDocument/2006/relationships/slide" Target="slides/slide134.xml"/><Relationship Id="rId141" Type="http://schemas.openxmlformats.org/officeDocument/2006/relationships/slide" Target="slides/slide135.xml"/><Relationship Id="rId142" Type="http://schemas.openxmlformats.org/officeDocument/2006/relationships/slide" Target="slides/slide136.xml"/><Relationship Id="rId143" Type="http://schemas.openxmlformats.org/officeDocument/2006/relationships/slide" Target="slides/slide137.xml"/><Relationship Id="rId144" Type="http://schemas.openxmlformats.org/officeDocument/2006/relationships/slide" Target="slides/slide138.xml"/><Relationship Id="rId145" Type="http://schemas.openxmlformats.org/officeDocument/2006/relationships/slide" Target="slides/slide139.xml"/><Relationship Id="rId146" Type="http://schemas.openxmlformats.org/officeDocument/2006/relationships/slide" Target="slides/slide140.xml"/><Relationship Id="rId147" Type="http://schemas.openxmlformats.org/officeDocument/2006/relationships/slide" Target="slides/slide141.xml"/><Relationship Id="rId148" Type="http://schemas.openxmlformats.org/officeDocument/2006/relationships/slide" Target="slides/slide142.xml"/><Relationship Id="rId149" Type="http://schemas.openxmlformats.org/officeDocument/2006/relationships/slide" Target="slides/slide143.xml"/><Relationship Id="rId150" Type="http://schemas.openxmlformats.org/officeDocument/2006/relationships/slide" Target="slides/slide144.xml"/><Relationship Id="rId151" Type="http://schemas.openxmlformats.org/officeDocument/2006/relationships/slide" Target="slides/slide145.xml"/><Relationship Id="rId152" Type="http://schemas.openxmlformats.org/officeDocument/2006/relationships/slide" Target="slides/slide146.xml"/><Relationship Id="rId153" Type="http://schemas.openxmlformats.org/officeDocument/2006/relationships/slide" Target="slides/slide147.xml"/><Relationship Id="rId154" Type="http://schemas.openxmlformats.org/officeDocument/2006/relationships/slide" Target="slides/slide148.xml"/><Relationship Id="rId155" Type="http://schemas.openxmlformats.org/officeDocument/2006/relationships/slide" Target="slides/slide149.xml"/><Relationship Id="rId156" Type="http://schemas.openxmlformats.org/officeDocument/2006/relationships/slide" Target="slides/slide150.xml"/><Relationship Id="rId157" Type="http://schemas.openxmlformats.org/officeDocument/2006/relationships/slide" Target="slides/slide151.xml"/><Relationship Id="rId158" Type="http://schemas.openxmlformats.org/officeDocument/2006/relationships/slide" Target="slides/slide152.xml"/><Relationship Id="rId159" Type="http://schemas.openxmlformats.org/officeDocument/2006/relationships/slide" Target="slides/slide153.xml"/><Relationship Id="rId160" Type="http://schemas.openxmlformats.org/officeDocument/2006/relationships/slide" Target="slides/slide154.xml"/><Relationship Id="rId161" Type="http://schemas.openxmlformats.org/officeDocument/2006/relationships/slide" Target="slides/slide155.xml"/><Relationship Id="rId162" Type="http://schemas.openxmlformats.org/officeDocument/2006/relationships/slide" Target="slides/slide156.xml"/><Relationship Id="rId163" Type="http://schemas.openxmlformats.org/officeDocument/2006/relationships/slide" Target="slides/slide157.xml"/><Relationship Id="rId164" Type="http://schemas.openxmlformats.org/officeDocument/2006/relationships/slide" Target="slides/slide158.xml"/><Relationship Id="rId165" Type="http://schemas.openxmlformats.org/officeDocument/2006/relationships/slide" Target="slides/slide159.xml"/><Relationship Id="rId166" Type="http://schemas.openxmlformats.org/officeDocument/2006/relationships/slide" Target="slides/slide160.xml"/><Relationship Id="rId167" Type="http://schemas.openxmlformats.org/officeDocument/2006/relationships/slide" Target="slides/slide161.xml"/><Relationship Id="rId168" Type="http://schemas.openxmlformats.org/officeDocument/2006/relationships/slide" Target="slides/slide162.xml"/><Relationship Id="rId169" Type="http://schemas.openxmlformats.org/officeDocument/2006/relationships/slide" Target="slides/slide163.xml"/><Relationship Id="rId170" Type="http://schemas.openxmlformats.org/officeDocument/2006/relationships/slide" Target="slides/slide164.xml"/><Relationship Id="rId171" Type="http://schemas.openxmlformats.org/officeDocument/2006/relationships/slide" Target="slides/slide165.xml"/><Relationship Id="rId172" Type="http://schemas.openxmlformats.org/officeDocument/2006/relationships/slide" Target="slides/slide166.xml"/><Relationship Id="rId173" Type="http://schemas.openxmlformats.org/officeDocument/2006/relationships/slide" Target="slides/slide167.xml"/><Relationship Id="rId174" Type="http://schemas.openxmlformats.org/officeDocument/2006/relationships/slide" Target="slides/slide168.xml"/><Relationship Id="rId175" Type="http://schemas.openxmlformats.org/officeDocument/2006/relationships/slide" Target="slides/slide169.xml"/><Relationship Id="rId176" Type="http://schemas.openxmlformats.org/officeDocument/2006/relationships/slide" Target="slides/slide170.xml"/><Relationship Id="rId177" Type="http://schemas.openxmlformats.org/officeDocument/2006/relationships/slide" Target="slides/slide171.xml"/><Relationship Id="rId178" Type="http://schemas.openxmlformats.org/officeDocument/2006/relationships/slide" Target="slides/slide172.xml"/><Relationship Id="rId179" Type="http://schemas.openxmlformats.org/officeDocument/2006/relationships/slide" Target="slides/slide173.xml"/><Relationship Id="rId180" Type="http://schemas.openxmlformats.org/officeDocument/2006/relationships/slide" Target="slides/slide174.xml"/><Relationship Id="rId181" Type="http://schemas.openxmlformats.org/officeDocument/2006/relationships/slide" Target="slides/slide175.xml"/><Relationship Id="rId182" Type="http://schemas.openxmlformats.org/officeDocument/2006/relationships/slide" Target="slides/slide176.xml"/><Relationship Id="rId183" Type="http://schemas.openxmlformats.org/officeDocument/2006/relationships/slide" Target="slides/slide177.xml"/><Relationship Id="rId184" Type="http://schemas.openxmlformats.org/officeDocument/2006/relationships/slide" Target="slides/slide17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E87355B-E5B2-6E48-8859-C40F7DC7FE0C}" type="datetimeFigureOut">
              <a:rPr lang="en-US" smtClean="0"/>
              <a:t>3/19/2026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8D31DA66-BB00-F84C-BB6F-3E6E140CFF70}" type="slidenum">
              <a:rPr lang="en-US" smtClean="0"/>
              <a:t>‹#›</a:t>
            </a:fld>
            <a:endParaRPr lang="en-US"/>
          </a:p>
        </p:txBody>
      </p:sp>
    </p:spTree>
    <p:extLst>
      <p:ext uri="{BB962C8B-B14F-4D97-AF65-F5344CB8AC3E}">
        <p14:creationId xmlns:p14="http://schemas.microsoft.com/office/powerpoint/2010/main" val="622745019"/>
      </p:ext>
    </p:extLst>
  </p:cSld>
  <p:clrMap bg1="lt1" tx1="dk1" bg2="lt2" tx2="dk2" accent1="accent1" accent2="accent2" accent3="accent3" accent4="accent4" accent5="accent5" accent6="accent6" hlink="hlink" folHlink="folHlink"/>
  <p:notesStyle>
    <a:lvl1pPr marL="0" algn="l" defTabSz="1219170" rtl="0" eaLnBrk="1" latinLnBrk="0" hangingPunct="1">
      <a:defRPr sz="1600" kern="1200">
        <a:solidFill>
          <a:schemeClr val="tx1"/>
        </a:solidFill>
        <a:latin typeface="+mn-lt"/>
        <a:ea typeface="+mn-ea"/>
        <a:cs typeface="+mn-cs"/>
      </a:defRPr>
    </a:lvl1pPr>
    <a:lvl2pPr marL="609585" algn="l" defTabSz="1219170" rtl="0" eaLnBrk="1" latinLnBrk="0" hangingPunct="1">
      <a:defRPr sz="1600" kern="1200">
        <a:solidFill>
          <a:schemeClr val="tx1"/>
        </a:solidFill>
        <a:latin typeface="+mn-lt"/>
        <a:ea typeface="+mn-ea"/>
        <a:cs typeface="+mn-cs"/>
      </a:defRPr>
    </a:lvl2pPr>
    <a:lvl3pPr marL="1219170" algn="l" defTabSz="1219170" rtl="0" eaLnBrk="1" latinLnBrk="0" hangingPunct="1">
      <a:defRPr sz="1600" kern="1200">
        <a:solidFill>
          <a:schemeClr val="tx1"/>
        </a:solidFill>
        <a:latin typeface="+mn-lt"/>
        <a:ea typeface="+mn-ea"/>
        <a:cs typeface="+mn-cs"/>
      </a:defRPr>
    </a:lvl3pPr>
    <a:lvl4pPr marL="1828754" algn="l" defTabSz="1219170" rtl="0" eaLnBrk="1" latinLnBrk="0" hangingPunct="1">
      <a:defRPr sz="1600" kern="1200">
        <a:solidFill>
          <a:schemeClr val="tx1"/>
        </a:solidFill>
        <a:latin typeface="+mn-lt"/>
        <a:ea typeface="+mn-ea"/>
        <a:cs typeface="+mn-cs"/>
      </a:defRPr>
    </a:lvl4pPr>
    <a:lvl5pPr marL="2438339" algn="l" defTabSz="1219170" rtl="0" eaLnBrk="1" latinLnBrk="0" hangingPunct="1">
      <a:defRPr sz="1600" kern="1200">
        <a:solidFill>
          <a:schemeClr val="tx1"/>
        </a:solidFill>
        <a:latin typeface="+mn-lt"/>
        <a:ea typeface="+mn-ea"/>
        <a:cs typeface="+mn-cs"/>
      </a:defRPr>
    </a:lvl5pPr>
    <a:lvl6pPr marL="3047924" algn="l" defTabSz="1219170" rtl="0" eaLnBrk="1" latinLnBrk="0" hangingPunct="1">
      <a:defRPr sz="1600" kern="1200">
        <a:solidFill>
          <a:schemeClr val="tx1"/>
        </a:solidFill>
        <a:latin typeface="+mn-lt"/>
        <a:ea typeface="+mn-ea"/>
        <a:cs typeface="+mn-cs"/>
      </a:defRPr>
    </a:lvl6pPr>
    <a:lvl7pPr marL="3657509" algn="l" defTabSz="1219170" rtl="0" eaLnBrk="1" latinLnBrk="0" hangingPunct="1">
      <a:defRPr sz="1600" kern="1200">
        <a:solidFill>
          <a:schemeClr val="tx1"/>
        </a:solidFill>
        <a:latin typeface="+mn-lt"/>
        <a:ea typeface="+mn-ea"/>
        <a:cs typeface="+mn-cs"/>
      </a:defRPr>
    </a:lvl7pPr>
    <a:lvl8pPr marL="4267093" algn="l" defTabSz="1219170" rtl="0" eaLnBrk="1" latinLnBrk="0" hangingPunct="1">
      <a:defRPr sz="1600" kern="1200">
        <a:solidFill>
          <a:schemeClr val="tx1"/>
        </a:solidFill>
        <a:latin typeface="+mn-lt"/>
        <a:ea typeface="+mn-ea"/>
        <a:cs typeface="+mn-cs"/>
      </a:defRPr>
    </a:lvl8pPr>
    <a:lvl9pPr marL="4876678" algn="l" defTabSz="1219170" rtl="0" eaLnBrk="1" latinLnBrk="0" hangingPunct="1">
      <a:defRPr sz="16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4.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5.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6.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7.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8.xml"/></Relationships>
</file>

<file path=ppt/notesSlides/_rels/notesSlide1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9.xml"/></Relationships>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0.xml"/></Relationships>
</file>

<file path=ppt/notesSlides/_rels/notesSlide1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1.xml"/></Relationships>
</file>

<file path=ppt/notesSlides/_rels/notesSlide1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2.xml"/></Relationships>
</file>

<file path=ppt/notesSlides/_rels/notesSlide1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3.xml"/></Relationships>
</file>

<file path=ppt/notesSlides/_rels/notesSlide1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4.xml"/></Relationships>
</file>

<file path=ppt/notesSlides/_rels/notesSlide1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5.xml"/></Relationships>
</file>

<file path=ppt/notesSlides/_rels/notesSlide1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6.xml"/></Relationships>
</file>

<file path=ppt/notesSlides/_rels/notesSlide1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7.xml"/></Relationships>
</file>

<file path=ppt/notesSlides/_rels/notesSlide1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8.xml"/></Relationships>
</file>

<file path=ppt/notesSlides/_rels/notesSlide1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9.xml"/></Relationships>
</file>

<file path=ppt/notesSlides/_rels/notesSlide1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0.xml"/></Relationships>
</file>

<file path=ppt/notesSlides/_rels/notesSlide1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1.xml"/></Relationships>
</file>

<file path=ppt/notesSlides/_rels/notesSlide1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2.xml"/></Relationships>
</file>

<file path=ppt/notesSlides/_rels/notesSlide1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3.xml"/></Relationships>
</file>

<file path=ppt/notesSlides/_rels/notesSlide1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4.xml"/></Relationships>
</file>

<file path=ppt/notesSlides/_rels/notesSlide1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5.xml"/></Relationships>
</file>

<file path=ppt/notesSlides/_rels/notesSlide1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6.xml"/></Relationships>
</file>

<file path=ppt/notesSlides/_rels/notesSlide1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7.xml"/></Relationships>
</file>

<file path=ppt/notesSlides/_rels/notesSlide1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8.xml"/></Relationships>
</file>

<file path=ppt/notesSlides/_rels/notesSlide1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9.xml"/></Relationships>
</file>

<file path=ppt/notesSlides/_rels/notesSlide1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0.xml"/></Relationships>
</file>

<file path=ppt/notesSlides/_rels/notesSlide1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1.xml"/></Relationships>
</file>

<file path=ppt/notesSlides/_rels/notesSlide1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2.xml"/></Relationships>
</file>

<file path=ppt/notesSlides/_rels/notesSlide1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3.xml"/></Relationships>
</file>

<file path=ppt/notesSlides/_rels/notesSlide1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4.xml"/></Relationships>
</file>

<file path=ppt/notesSlides/_rels/notesSlide1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5.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6.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7.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8.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9.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0.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1.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2.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3.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4.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5.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6.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7.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participants to the AI Assisted Software Development course. This is your opening slide, so set a positive and engaging tone. Introduce the course name and tagline "From Code to Copilot" which emphasizes the journey from traditional software development to AI-augmented practices.</a:t>
            </a:r>
          </a:p>
          <a:p/>
          <a:p>
            <a:r>
              <a:t>Key talking points:</a:t>
            </a:r>
          </a:p>
          <a:p/>
          <a:p>
            <a:r>
              <a:t>- Express enthusiasm about the learning journey ahead</a:t>
            </a:r>
          </a:p>
          <a:p>
            <a:r>
              <a:t>- Acknowledge the transformative nature of AI in software development</a:t>
            </a:r>
          </a:p>
          <a:p>
            <a:r>
              <a:t>- Set expectations that this will be hands-on and practical</a:t>
            </a:r>
          </a:p>
          <a:p>
            <a:r>
              <a:t>- Encourage questions and participation throughout</a:t>
            </a:r>
          </a:p>
          <a:p/>
          <a:p>
            <a:r>
              <a:t>Timing: Spend about 1-2 minutes on this welcome slide.</a:t>
            </a:r>
          </a:p>
          <a:p>
            <a:r>
              <a:t>Transition: "Let's start by introducing ourselves..."</a:t>
            </a:r>
          </a:p>
          <a:p/>
          <a:p>
            <a:r>
              <a:t>---</a:t>
            </a:r>
          </a:p>
          <a:p/>
          <a:p>
            <a:r>
              <a:t>Source: Slides\individual-slides\welcome-to-aiasd.md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John Michael Miller is a Principal Software Engineer at CODE with over 15 years of experience in software development. He has held various roles including developer, architect, DevOps engineer, platform engineer, test architect, and release manager. John is an AI/ML enthusiast and advocates for effectively using AI to write code. You can connect with him on LinkedIn, reach out via email, or read his blog posts on AI-assisted software development.</a:t>
            </a:r>
          </a:p>
          <a:p>
            <a:r>
              <a:t>- [AI Practitioner Resources](codemag.com/aipractitioner)</a:t>
            </a:r>
          </a:p>
          <a:p/>
          <a:p>
            <a:r>
              <a:t>---</a:t>
            </a:r>
          </a:p>
          <a:p/>
          <a:p>
            <a:r>
              <a:t>Source: Slides\individual-slides\john-michael-miller-intro.md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Day One: Outline the day’s goals and emphasize participation and hands-on exercises.</a:t>
            </a:r>
          </a:p>
          <a:p/>
          <a:p>
            <a:r>
              <a:t>---</a:t>
            </a:r>
          </a:p>
          <a:p/>
          <a:p>
            <a:r>
              <a:t>Source: Slides\individual-slides\introductions.md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CODE is a custom software company, a staff augmentation company, CODE Magazine for software developers, and training like this webinar. We've been in business for 30 years and the magazine just hit its 25th anniversary. Visit the website at https://www.codemag.com/ for more details.</a:t>
            </a:r>
          </a:p>
          <a:p/>
          <a:p>
            <a:r>
              <a:t>---</a:t>
            </a:r>
          </a:p>
          <a:p/>
          <a:p>
            <a:r>
              <a:t>Source: Slides\individual-slides\about-code.md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 week-long course structure. This overview helps participants understand the progression and big-picture organization of the training.</a:t>
            </a:r>
          </a:p>
          <a:p/>
          <a:p>
            <a:r>
              <a:t>Key talking points:</a:t>
            </a:r>
          </a:p>
          <a:p/>
          <a:p>
            <a:r>
              <a:t>- Days 1-3 focus on building AI guardrails through instructions, prompts, and agents</a:t>
            </a:r>
          </a:p>
          <a:p>
            <a:r>
              <a:t>- Thursday shifts to brownfield (existing codebases) scenarios</a:t>
            </a:r>
          </a:p>
          <a:p>
            <a:r>
              <a:t>- Friday covers greenfield (new projects) development</a:t>
            </a:r>
          </a:p>
          <a:p>
            <a:r>
              <a:t>- Each day builds on previous concepts</a:t>
            </a:r>
          </a:p>
          <a:p>
            <a:r>
              <a:t>- The progression moves from foundational controls to practical application</a:t>
            </a:r>
          </a:p>
          <a:p/>
          <a:p>
            <a:r>
              <a:t>Emphasize that guardrails come first because they're essential for safe, effective AI-assisted development. The brownfield/greenfield split acknowledges that these scenarios have different challenges and considerations.</a:t>
            </a:r>
          </a:p>
          <a:p/>
          <a:p>
            <a:r>
              <a:t>Timing: Spend 2-3 minutes walking through this roadmap.</a:t>
            </a:r>
          </a:p>
          <a:p>
            <a:r>
              <a:t>Transition: "Today we'll start with the foundation..."</a:t>
            </a:r>
          </a:p>
          <a:p/>
          <a:p>
            <a:r>
              <a:t>---</a:t>
            </a:r>
          </a:p>
          <a:p/>
          <a:p>
            <a:r>
              <a:t>Source: Slides\individual-slides\daily-themes.md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Auto-generated course navigation slide showing all modules with current section highlighted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Auto-generated section header slide to announce the section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Auto-generated section agenda slide listing slide titles from manifest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**Opening**: Start with the provocative quote to capture attention. Pause for effect after reading it aloud. **Key Message**: Emphasize that we're not witnessing a revolution but an evolution—AI tools are the latest step in a continuous chain of improvements. **Delivery**: Speak slowly and deliberately on the core thesis. Ask audience: "How many of you thought AI was going to replace programmers?" Acknowledge concerns but pivot to optimism. **Timing**: 2-3 minutes. **Transition**: "To understand why this is evolutionary, let's look at where we've been..."</a:t>
            </a:r>
          </a:p>
          <a:p/>
          <a:p>
            <a:r>
              <a:t>---</a:t>
            </a:r>
          </a:p>
          <a:p/>
          <a:p>
            <a:r>
              <a:t>Source: Slides\individual-slides\whats-the-big-deal.md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**Historical Context**: Paint a vivid picture of early programming—physically laborious and error-prone. Mention famous anecdote about Grace Hopper debugging a literal bug (moth) from hardware. **Key Point**: Assembly was the first major abstraction—replacing binary with human-readable mnemonics. **Example**: "MOV AX, BX" is much easier than "10001001 11011000". **Modern Relevance**: Note that assembly is still used today in systems programming, making this history relevant not ancient. **Timing**: 2 minutes. **Transition**: "Assembly was a huge leap, but we were still thinking in machine terms. The next step was thinking in human terms..."</a:t>
            </a:r>
          </a:p>
          <a:p/>
          <a:p>
            <a:r>
              <a:t>---</a:t>
            </a:r>
          </a:p>
          <a:p/>
          <a:p>
            <a:r>
              <a:t>Source: Slides\individual-slides\whats-the-big-deal.md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**Big Picture**: This era marked the shift from "speaking machine" to "speaking math" or "speaking business logic". **FORTRAN Example**: Scientists could write formulas directly rather than translating them into assembly. **COBOL Context**: COBOL's English-like syntax ("ADD SALES TO TOTAL") made programming accessible to business professionals, not just engineers. **C's Significance**: Portability revolution—write once, compile for different hardware. **Sensory Evolution**: Note the shift in human interface—from physical cards to keyboards. Ask audience if anyone has used punch cards. **Timing**: 3 minutes. **Transition**: "But even high-level languages required thinking like a computer. The next step was thinking in terms of real-world objects and structures..."</a:t>
            </a:r>
          </a:p>
          <a:p/>
          <a:p>
            <a:r>
              <a:t>---</a:t>
            </a:r>
          </a:p>
          <a:p/>
          <a:p>
            <a:r>
              <a:t>Source: Slides\individual-slides\whats-the-big-deal.md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**Conceptual Shift**: This era introduced thinking in terms of real-world objects and relationships. **Pascal**: Emphasized structured programming—breaking code into procedures and functions with clear flow control. **OOP Revolution**: C++ enabled modeling real-world entities as objects with properties and behaviors. **Example**: "Instead of separate functions for customer data, you have a Customer object that knows how to save itself, validate itself, etc." **Memory Lane**: If your audience includes older developers, ask about their experience with green-screen terminals and 5.25" floppy disks. **Timing**: 2-3 minutes. **Transition**: "Objects were powerful, but developers still spent too much time on plumbing. The 90s brought integration..."</a:t>
            </a:r>
          </a:p>
          <a:p/>
          <a:p>
            <a:r>
              <a:t>---</a:t>
            </a:r>
          </a:p>
          <a:p/>
          <a:p>
            <a:r>
              <a:t>Source: Slides\individual-slides\whats-the-big-deal.md</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**Integration Theme**: This era wasn't about new languages but about bringing tools together. **IDE Impact**: No more switching between separate compiler, debugger, and editor windows—everything integrated. **Visual Studio Example**: Drag-and-drop form design, IntelliSense autocomplete—made programming more visual and immediate. **Java's Promise**: "Write once, run anywhere" was revolutionary—JVM abstracted away hardware differences. **Libraries Evolution**: Don't write your own database connector, HTTP client, or encryption—use proven libraries. **Interactive Element**: Ask audience to raise hands if they remember life before IntelliSense. **Timing**: 2-3 minutes. **Transition**: "While desktops became powerful, the internet was about to change everything..."</a:t>
            </a:r>
          </a:p>
          <a:p/>
          <a:p>
            <a:r>
              <a:t>---</a:t>
            </a:r>
          </a:p>
          <a:p/>
          <a:p>
            <a:r>
              <a:t>Source: Slides\individual-slides\whats-the-big-deal.md</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**Web Revolution**: Internet shifted computing from desktop applications to browser-based services. **JavaScript Ubiquity**: Initially a toy language, became essential when V8 made it fast enough for serious applications. **Python's Versatility**: Started in web development, evolved into the dominant language for data science and AI/ML. **Rails Magic**: "Convention over configuration"—Rails showed that frameworks could make common tasks trivial. **Portability Shift**: Note the lifestyle change—developers could work from anywhere with WiFi. **Modern Context**: These languages and frameworks still dominate today. **Timing**: 2 minutes. **Transition**: "But web apps still ran on physical servers in data centers. Cloud computing changed that..."</a:t>
            </a:r>
          </a:p>
          <a:p/>
          <a:p>
            <a:r>
              <a:t>---</a:t>
            </a:r>
          </a:p>
          <a:p/>
          <a:p>
            <a:r>
              <a:t>Source: Slides\individual-slides\whats-the-big-deal.md</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**Orchestration Concept**: Developers became conductors—composing systems from managed services rather than building everything from scratch. **Cloud Impact**: "Need a database? Click button, get database. Need 100 servers? Auto-scale." Infrastructure became code. **API Economy**: Modern apps are mashups—Stripe for payments, Twilio for SMS, Auth0 for authentication. You orchestrate services, not write everything. **Low-Code**: Controversial topic—some see it as dumbing down, others as appropriate tool for business apps. Acknowledge both views. **Key Insight**: This is when programming truly shifted from "making hardware do things" to "composing services and logic". **Timing**: 3 minutes. **Transition**: "Cloud and APIs raised the abstraction level. AI assistance raises it even higher..."</a:t>
            </a:r>
          </a:p>
          <a:p/>
          <a:p>
            <a:r>
              <a:t>---</a:t>
            </a:r>
          </a:p>
          <a:p/>
          <a:p>
            <a:r>
              <a:t>Source: Slides\individual-slides\whats-the-big-deal.md</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**Synthesis Point**: This slide ties together the history—every era raised the abstraction level. **Visual Metaphor**: "Think of programming as a ladder—each rung takes you higher above the hardware, making it easier to see the big picture but relying on more layers below." **Modern Developer Reality**: Today's developers rarely think about memory management, CPU registers, or even which physical server runs their code. They think in terms of business logic and user experiences. **Key Question for Audience**: "How many of you have ever written assembly or C code?" Then: "How many wrote Java or Python today?" Shows the abstraction trajectory. **Timing**: 2 minutes. **Transition**: "Now here comes AI. It's not a different ladder—it's another rung on the same ladder we've been climbing."</a:t>
            </a:r>
          </a:p>
          <a:p/>
          <a:p>
            <a:r>
              <a:t>---</a:t>
            </a:r>
          </a:p>
          <a:p/>
          <a:p>
            <a:r>
              <a:t>Source: Slides\individual-slides\whats-the-big-deal.md</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**Paradigm Shift**: This is the key slide—AI enables expressing intent in natural language, not just formal syntax. **LLM Training**: Models trained on billions of lines of public code (GitHub, Stack Overflow, etc.) learn patterns and best practices. **IDE Integration**: Copilot, Cursor, Tabnine—AI is embedded in our daily tools, not separate applications. **Dialogue Metaphor**: "Programming becomes conversation. You say what you want, AI suggests how to do it, you refine through iteration." **Live Demo Opportunity**: If appropriate, show quick Copilot example here. **Audience Engagement**: "How many of you have tried GitHub Copilot or ChatGPT for coding?" **Timing**: 3-4 minutes. **Transition**: "This natural language interaction is the crucial breakthrough. Let's explore what that means..."</a:t>
            </a:r>
          </a:p>
          <a:p/>
          <a:p>
            <a:r>
              <a:t>---</a:t>
            </a:r>
          </a:p>
          <a:p/>
          <a:p>
            <a:r>
              <a:t>Source: Slides\individual-slides\whats-the-big-deal.md</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**Role Evolution**: This is about identity—developers worry "Am I being replaced?" Address this directly. **Curator of Context**: You provide requirements, constraints, examples, test cases. The better the context, the better the AI output. **Validator Role**: AI generates fast, but you must verify it's correct, secure, performant, maintainable. Critical thinking is MORE important, not less. **Steward of Alignment**: Ensuring the code does what users need, not just what you asked for. **Example**: "AI can generate a sorting algorithm, but you decide if sorting is even the right solution." **Reassurance**: "Your expertise shifts from syntax to strategy, from typing to thinking." **Timing**: 3 minutes. **Transition**: "Let's look at specific examples of how AI understands intent..."</a:t>
            </a:r>
          </a:p>
          <a:p/>
          <a:p>
            <a:r>
              <a:t>---</a:t>
            </a:r>
          </a:p>
          <a:p/>
          <a:p>
            <a:r>
              <a:t>Source: Slides\individual-slides\whats-the-big-deal.md</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**Intent Understanding**: This is what makes AI different from traditional autocomplete or code snippets. **Examples Walkthrough**: Go through each example slowly. "Make this faster" could mean caching, algorithm optimization, database indexing—AI considers context to choose. **Test-Driven Development**: "You can write tests first, AI generates implementation that passes tests. TDD on steroids!" **Bug Reports as Input**: Show how AI can read a bug report ("Users getting 500 error when submitting form") and suggest fixes. **Conversational Iteration**: "Too much like code that..." "Actually, make it more like..." — Natural back-and-forth refinement. **Live Example Opportunity**: If time permits, demonstrate a conversational refinement with AI. **Timing**: 3 minutes. **Transition**: "This sounds revolutionary, but remember—it's just another tool in a long line of tools..."</a:t>
            </a:r>
          </a:p>
          <a:p/>
          <a:p>
            <a:r>
              <a:t>---</a:t>
            </a:r>
          </a:p>
          <a:p/>
          <a:p>
            <a:r>
              <a:t>Source: Slides\individual-slides\whats-the-big-deal.md</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**Reassurance Slide**: This slide is the antidote to hype and fear. Speak with calm authority. **Historical Pattern**: Every new tool was feared—"High-level languages will make us lazy!" "IDEs will dumb down programmers!" Didn't happen. **Tool, Not Replacement**: Hammer didn't replace carpenters. Calculator didn't replace mathematicians. AI won't replace developers. **Speed and Scale**: "AI lets you work faster, tackle bigger problems, spend more time on creative and strategic work rather than boilerplate." **Personal Testimony**: If you have personal experience where AI helped you—share it. Humanizes the technology. **Address Anxiety**: Acknowledge that change is uncomfortable but emphasize continuity. **Timing**: 2-3 minutes. **Transition**: "But this doesn't mean we can skip the hard parts..."</a:t>
            </a:r>
          </a:p>
          <a:p/>
          <a:p>
            <a:r>
              <a:t>---</a:t>
            </a:r>
          </a:p>
          <a:p/>
          <a:p>
            <a:r>
              <a:t>Source: Slides\individual-slides\whats-the-big-deal.md</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**Critical Reality Check**: This slide balances the optimism. AI is powerful but not infallible. **Testing Remains Essential**: AI-generated code needs the same rigorous testing as human-written code. Maybe more, since you didn't write it. **Security Responsibility**: AI doesn't understand your threat model, compliance requirements, or security policies. You do. **Ethics and Bias**: AI trained on public code may reproduce problematic patterns (hardcoded credentials, insecure practices, biased algorithms). You're the filter. **Architecture Decisions**: AI can implement patterns, but you choose which patterns fit your system's needs. **Analogy**: "GPS tells you the route, but you still drive the car. You watch for hazards, make judgment calls, take responsibility." **Timing**: 2-3 minutes. **Transition**: "So what does the future actually look like?"</a:t>
            </a:r>
          </a:p>
          <a:p/>
          <a:p>
            <a:r>
              <a:t>---</a:t>
            </a:r>
          </a:p>
          <a:p/>
          <a:p>
            <a:r>
              <a:t>Source: Slides\individual-slides\whats-the-big-deal.md</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**Future Vision**: This slide looks forward while maintaining historical perspective. **Intent-Driven Continuity**: From assembly to C to Python to AI prompts—each step made intent clearer, implementation more abstracted. **Skills Evolution**: "Learning Python took time. Learning prompt engineering will take time. But it's the same kind of skill acquisition we've always done." **Learning Curve Reality**: Don't sugarcoat—there will be frustration, mistakes, and learning. But also breakthroughs and productivity gains. **Continuity Message**: "You're not starting over. You're building on everything you know. Your domain knowledge, debugging skills, design sense—all still essential." **Encouragement**: "This is an exciting time to be a developer. AI removes drudgery, letting us focus on the interesting problems." **Timing**: 2 minutes. **Transition**: "Let me wrap up with the key takeaways..."</a:t>
            </a:r>
          </a:p>
          <a:p/>
          <a:p>
            <a:r>
              <a:t>---</a:t>
            </a:r>
          </a:p>
          <a:p/>
          <a:p>
            <a:r>
              <a:t>Source: Slides\individual-slides\whats-the-big-deal.md</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**Closing Message**: This is your mic-drop moment. Speak with conviction and optimism. **Core Thesis Callback**: Circle back to opening quote—"Programming hasn't changed, but how we go about it has changed, again." **Fundamental Continuity**: Emphasize that this entire journey (70+ years) has been about expressing intent with increasing ease. AI is the latest, not the last, step. **Human Centrality**: "AI is a tool we wield, not a replacement for our judgment. We remain at the center—designers, validators, ethical stewards." **Accessibility Point**: AI will bring more people into programming by lowering barriers. That's a good thing. **Call to Action**: "The future belongs to developers who embrace these tools while maintaining the critical thinking and expertise that makes great software." **Ending Note**: Pause briefly after final sentence, let it land, then invite questions. **Timing**: 3 minutes including pause for questions. **Optional**: If time, ask "What questions do you have?" and address 2-3 before moving on.</a:t>
            </a:r>
          </a:p>
          <a:p/>
          <a:p>
            <a:r>
              <a:t>---</a:t>
            </a:r>
          </a:p>
          <a:p/>
          <a:p>
            <a:r>
              <a:t>Source: Slides\individual-slides\whats-the-big-deal.md</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Slides\individual-slides\the-ai-revolution.md</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Career Transformation: - Those who adapt: become 10x more productive, tackle bigger challenges, expand skill sets - Those who resist: may find themselves struggling with modern development expectations - New roles emerging: AI prompt engineers, AI code reviewers, AI-assisted architects</a:t>
            </a:r>
          </a:p>
          <a:p/>
          <a:p>
            <a:r>
              <a:t>Superpowers Explained: - Legacy codebases: AI can quickly understand and explain complex, undocumented systems - New technologies: Learn frameworks/languages faster with AI as a coding partner - Code quality: AI suggests improvements, catches bugs, generates comprehensive tests - Nice to haves: Features that were “too time-consuming” become feasible</a:t>
            </a:r>
          </a:p>
          <a:p/>
          <a:p>
            <a:r>
              <a:t>Examples to share: - Developer who used AI to modernize a 15-year-old PHP codebase in weeks instead of months - Team that adopted a new framework (React to Vue) with AI assistance in days - 80% reduction in boilerplate code writing time - Comprehensive test suites generated automatically</a:t>
            </a:r>
          </a:p>
          <a:p/>
          <a:p>
            <a:r>
              <a:t>Key message: AI doesn’t replace developers—it amplifies their capabilities</a:t>
            </a:r>
          </a:p>
          <a:p/>
          <a:p>
            <a:r>
              <a:t>---</a:t>
            </a:r>
          </a:p>
          <a:p/>
          <a:p>
            <a:r>
              <a:t>Source: Slides\individual-slides\the-ai-revolution.md</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AI-First is the broad philosophy. Prompt-First is the tactical layer that enables predictable AI behavior. You can do Prompt-First without being AI-First, but not the reverse.</a:t>
            </a:r>
          </a:p>
          <a:p/>
          <a:p>
            <a:r>
              <a:t>---</a:t>
            </a:r>
          </a:p>
          <a:p/>
          <a:p>
            <a:r>
              <a:t>Source: Slides\individual-slides\the-ai-revolution.md</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table is the heart of the comparison. AI-First is about organizational and architectural change. Prompt-First is about artifact discipline and predictable outputs.</a:t>
            </a:r>
          </a:p>
          <a:p/>
          <a:p>
            <a:r>
              <a:t>---</a:t>
            </a:r>
          </a:p>
          <a:p/>
          <a:p>
            <a:r>
              <a:t>Source: Slides\individual-slides\the-ai-revolution.md</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AI-First changes what you build and how you build it. Prompt-First changes how you communicate intent to the AI.</a:t>
            </a:r>
          </a:p>
          <a:p/>
          <a:p>
            <a:r>
              <a:t>---</a:t>
            </a:r>
          </a:p>
          <a:p/>
          <a:p>
            <a:r>
              <a:t>Source: Slides\individual-slides\the-ai-revolution.md</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conceptual hierarchy. Prompt-First is necessary but not sufficient for AI-First maturity.</a:t>
            </a:r>
          </a:p>
          <a:p/>
          <a:p>
            <a:r>
              <a:t>---</a:t>
            </a:r>
          </a:p>
          <a:p/>
          <a:p>
            <a:r>
              <a:t>Source: Slides\individual-slides\the-ai-revolution.md</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frames what we mean by AI-First development. The key idea is that AI isn’t an add-on or a productivity booster—it becomes a core capability of the software lifecycle. When we design systems today, we assume AI will participate in requirements, architecture, coding, testing, and documentation.</a:t>
            </a:r>
          </a:p>
          <a:p/>
          <a:p>
            <a:r>
              <a:t>Why AI-First</a:t>
            </a:r>
          </a:p>
          <a:p>
            <a:r>
              <a:t>“Teams increasingly express requirements in natural language. AI can interpret those requirements and generate scaffolding, code, tests, and documentation.”</a:t>
            </a:r>
          </a:p>
          <a:p>
            <a:r>
              <a:t>“This shifts the developer’s role from writing every line of code to defining intent, constraints, and quality expectations.”</a:t>
            </a:r>
          </a:p>
          <a:p>
            <a:r>
              <a:t>“The goal isn’t to replace engineering judgment—it’s to amplify it.”</a:t>
            </a:r>
          </a:p>
          <a:p/>
          <a:p>
            <a:r>
              <a:t>Core Principles</a:t>
            </a:r>
          </a:p>
          <a:p/>
          <a:p>
            <a:r>
              <a:t>Prompt-First Design</a:t>
            </a:r>
          </a:p>
          <a:p>
            <a:r>
              <a:t>“We start with structured prompts that capture behaviors, invariants, and interfaces. These become durable artifacts, just like design docs.”</a:t>
            </a:r>
          </a:p>
          <a:p/>
          <a:p>
            <a:r>
              <a:t>AI-Native Architecture</a:t>
            </a:r>
          </a:p>
          <a:p>
            <a:r>
              <a:t>“We design modules with clear boundaries so AI-generated components remain predictable and testable. Deterministic interfaces are essential.”</a:t>
            </a:r>
          </a:p>
          <a:p/>
          <a:p>
            <a:r>
              <a:t>Human-in-the-Loop</a:t>
            </a:r>
          </a:p>
          <a:p>
            <a:r>
              <a:t>“AI accelerates creation, but humans validate correctness, safety, and alignment with business intent. Review is built into the workflow.”</a:t>
            </a:r>
          </a:p>
          <a:p/>
          <a:p>
            <a:r>
              <a:t>Continuous Verification</a:t>
            </a:r>
          </a:p>
          <a:p>
            <a:r>
              <a:t>“Every AI-generated artifact—code, tests, docs—runs through automated checks. Static analysis, unit tests, and guardrails catch drift early.”</a:t>
            </a:r>
          </a:p>
          <a:p/>
          <a:p>
            <a:r>
              <a:t>Lifecycle Governance</a:t>
            </a:r>
          </a:p>
          <a:p>
            <a:r>
              <a:t>“We treat prompts, outputs, and revisions as versioned assets. Provenance and traceability matter for compliance, debugging, and long-term maintainability.”</a:t>
            </a:r>
          </a:p>
          <a:p/>
          <a:p>
            <a:r>
              <a:t>Outcomes</a:t>
            </a:r>
          </a:p>
          <a:p>
            <a:r>
              <a:t>“Teams iterate faster because intent moves directly into working prototypes.”</a:t>
            </a:r>
          </a:p>
          <a:p>
            <a:r>
              <a:t>“Documentation and test coverage improve because AI can generate them continuously.”</a:t>
            </a:r>
          </a:p>
          <a:p>
            <a:r>
              <a:t>“Developers spend more time on architecture and correctness, less on boilerplate.”</a:t>
            </a:r>
          </a:p>
          <a:p>
            <a:r>
              <a:t>“The result is software that’s more adaptable and resilient over time.”</a:t>
            </a:r>
          </a:p>
          <a:p/>
          <a:p>
            <a:r>
              <a:t>---</a:t>
            </a:r>
          </a:p>
          <a:p/>
          <a:p>
            <a:r>
              <a:t>Source: Slides\individual-slides\the-ai-revolution.md</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introduces the core idea behind Prompt-First development. Instead of starting with code, we start with intent. Prompts become the primary design artifact, and AI becomes the mechanism that turns intent into implementation.”</a:t>
            </a:r>
          </a:p>
          <a:p/>
          <a:p>
            <a:r>
              <a:t>Why Prompt-First</a:t>
            </a:r>
          </a:p>
          <a:p>
            <a:r>
              <a:t>“Modern development increasingly begins with natural-language descriptions of behavior. Prompt-First formalizes that by treating prompts as first-class inputs to the software lifecycle.”</a:t>
            </a:r>
          </a:p>
          <a:p>
            <a:r>
              <a:t>“The developer’s role shifts from writing code line-by-line to defining outcomes, constraints, invariants, and interfaces.”</a:t>
            </a:r>
          </a:p>
          <a:p>
            <a:r>
              <a:t>“This creates a tighter alignment between business intent and the resulting system.”</a:t>
            </a:r>
          </a:p>
          <a:p/>
          <a:p>
            <a:r>
              <a:t>Core Practices</a:t>
            </a:r>
          </a:p>
          <a:p/>
          <a:p>
            <a:r>
              <a:t>Structured Prompts</a:t>
            </a:r>
          </a:p>
          <a:p>
            <a:r>
              <a:t>“We don’t rely on ad-hoc prompting. We use templates for features, APIs, data models, tests, and refactors. This creates consistency and reduces ambiguity.”</a:t>
            </a:r>
          </a:p>
          <a:p/>
          <a:p>
            <a:r>
              <a:t>Instruction Files</a:t>
            </a:r>
          </a:p>
          <a:p>
            <a:r>
              <a:t>“These are durable, versioned prompt artifacts that guide AI generation. They act like living design documents that the AI reads every time it produces code.”</a:t>
            </a:r>
          </a:p>
          <a:p/>
          <a:p>
            <a:r>
              <a:t>Deterministic Boundaries</a:t>
            </a:r>
          </a:p>
          <a:p>
            <a:r>
              <a:t>“We design modules with clear contracts so AI-generated code stays predictable. The AI can generate the internals, but the interfaces remain stable and human-controlled.”</a:t>
            </a:r>
          </a:p>
          <a:p/>
          <a:p>
            <a:r>
              <a:t>Validation Loops</a:t>
            </a:r>
          </a:p>
          <a:p>
            <a:r>
              <a:t>“Every AI-generated artifact goes through automated tests and human review. The goal is to catch drift early and ensure correctness.”</a:t>
            </a:r>
          </a:p>
          <a:p/>
          <a:p>
            <a:r>
              <a:t>Prompt Versioning</a:t>
            </a:r>
          </a:p>
          <a:p>
            <a:r>
              <a:t>“Prompts evolve just like code. Tracking changes helps with debugging, reproducibility, and compliance.”</a:t>
            </a:r>
          </a:p>
          <a:p/>
          <a:p>
            <a:r>
              <a:t>Benefits</a:t>
            </a:r>
          </a:p>
          <a:p>
            <a:r>
              <a:t>“Teams move from idea to working software much faster because intent flows directly into generation.”</a:t>
            </a:r>
          </a:p>
          <a:p>
            <a:r>
              <a:t>“Generated components become more consistent because they’re driven by structured prompts, not one-off instructions.”</a:t>
            </a:r>
          </a:p>
          <a:p>
            <a:r>
              <a:t>“Developers spend more time on architecture and correctness, less on boilerplate.”</a:t>
            </a:r>
          </a:p>
          <a:p>
            <a:r>
              <a:t>“The end result is a system that’s easier to maintain and adapt over time.”</a:t>
            </a:r>
          </a:p>
          <a:p/>
          <a:p>
            <a:r>
              <a:t>---</a:t>
            </a:r>
          </a:p>
          <a:p/>
          <a:p>
            <a:r>
              <a:t>Source: Slides\individual-slides\the-ai-revolution.md</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these examples to help teams visualize the difference.</a:t>
            </a:r>
          </a:p>
          <a:p>
            <a:r>
              <a:t>Prompt-First is about interfaces; AI-First is about the entire workflow.</a:t>
            </a:r>
          </a:p>
          <a:p/>
          <a:p>
            <a:r>
              <a:t>---</a:t>
            </a:r>
          </a:p>
          <a:p/>
          <a:p>
            <a:r>
              <a:t>Source: Slides\individual-slides\the-ai-revolution.md</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End with this summary to reinforce the distinction.</a:t>
            </a:r>
          </a:p>
          <a:p>
            <a:r>
              <a:t>It’s the cleanest way to remember the relationship.</a:t>
            </a:r>
          </a:p>
          <a:p/>
          <a:p>
            <a:r>
              <a:t>---</a:t>
            </a:r>
          </a:p>
          <a:p/>
          <a:p>
            <a:r>
              <a:t>Source: Slides\individual-slides\the-ai-revolution.md</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Auto-generated course navigation slide showing all modules with current section highlighted</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Auto-generated section header slide to announce the section</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Auto-generated section agenda slide listing slide titles from manifest</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Slides\individual-slides\repository-and-tool-setup.md</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Objective: Fork the course repos Tasks</a:t>
            </a:r>
          </a:p>
          <a:p>
            <a:r>
              <a:t>Search GitHub for</a:t>
            </a:r>
          </a:p>
          <a:p>
            <a:r>
              <a:t>AI-Assisted-Software-Development</a:t>
            </a:r>
          </a:p>
          <a:p>
            <a:r>
              <a:t>Fork this repo</a:t>
            </a:r>
          </a:p>
          <a:p>
            <a:r>
              <a:t>This will create a personal copy under your GitHub account</a:t>
            </a:r>
          </a:p>
          <a:p>
            <a:r>
              <a:t>You can make changes without affecting the original repo</a:t>
            </a:r>
          </a:p>
          <a:p/>
          <a:p>
            <a:r>
              <a:t>---</a:t>
            </a:r>
          </a:p>
          <a:p/>
          <a:p>
            <a:r>
              <a:t>Source: Slides\individual-slides\repository-and-tool-setup.md</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Slides\individual-slides\repository-and-tool-setup.md</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Slides\individual-slides\repository-and-tool-setup.md</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installation, auth, and a quick coding session; encourage participants to follow along.</a:t>
            </a:r>
          </a:p>
          <a:p/>
          <a:p>
            <a:r>
              <a:t>---</a:t>
            </a:r>
          </a:p>
          <a:p/>
          <a:p>
            <a:r>
              <a:t>Source: Slides\individual-slides\hands-on-with-github-copilot-vs-code.md</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**Duration:** 20-30 minutes</a:t>
            </a:r>
          </a:p>
          <a:p>
            <a:r>
              <a:t>**Prerequisites:** VS Code installed</a:t>
            </a:r>
          </a:p>
          <a:p/>
          <a:p>
            <a:r>
              <a:t>### Objectives</a:t>
            </a:r>
          </a:p>
          <a:p/>
          <a:p>
            <a:r>
              <a:t>- Install and configure GitHub Copilot</a:t>
            </a:r>
          </a:p>
          <a:p>
            <a:r>
              <a:t>- Verify authentication with GitHub account</a:t>
            </a:r>
          </a:p>
          <a:p>
            <a:r>
              <a:t>- Explore the Copilot UI components</a:t>
            </a:r>
          </a:p>
          <a:p/>
          <a:p>
            <a:r>
              <a:t>### Activities</a:t>
            </a:r>
          </a:p>
          <a:p/>
          <a:p>
            <a:r>
              <a:t>1. Install GitHub Copilot extension from VS Code marketplace</a:t>
            </a:r>
          </a:p>
          <a:p>
            <a:r>
              <a:t>2. Sign in with your GitHub account (verify Copilot subscription)</a:t>
            </a:r>
          </a:p>
          <a:p>
            <a:r>
              <a:t>3. Locate and explore:</a:t>
            </a:r>
          </a:p>
          <a:p/>
          <a:p>
            <a:r>
              <a:t>- Chat window and chat history</a:t>
            </a:r>
          </a:p>
          <a:p>
            <a:r>
              <a:t>- New chat button</a:t>
            </a:r>
          </a:p>
          <a:p>
            <a:r>
              <a:t>- Quick chat feature (keyboard shortcut)</a:t>
            </a:r>
          </a:p>
          <a:p>
            <a:r>
              <a:t>- Settings menu</a:t>
            </a:r>
          </a:p>
          <a:p>
            <a:r>
              <a:t>- Model selection dropdown</a:t>
            </a:r>
          </a:p>
          <a:p/>
          <a:p>
            <a:r>
              <a:t>4. Check your premium token usage bar</a:t>
            </a:r>
          </a:p>
          <a:p>
            <a:r>
              <a:t>5. Create a new chat and experiment with the interface</a:t>
            </a:r>
          </a:p>
          <a:p/>
          <a:p>
            <a:r>
              <a:t>### Success Criteria</a:t>
            </a:r>
          </a:p>
          <a:p/>
          <a:p>
            <a:r>
              <a:t>- Copilot extension installed and authenticated</a:t>
            </a:r>
          </a:p>
          <a:p>
            <a:r>
              <a:t>- Can open/close chat windows</a:t>
            </a:r>
          </a:p>
          <a:p>
            <a:r>
              <a:t>- Understand difference between main chat and quick chat</a:t>
            </a:r>
          </a:p>
          <a:p>
            <a:r>
              <a:t>- Know where to find chat history</a:t>
            </a:r>
          </a:p>
          <a:p/>
          <a:p>
            <a:r>
              <a:t>---</a:t>
            </a:r>
          </a:p>
          <a:p/>
          <a:p>
            <a:r>
              <a:t>Source: Slides\individual-slides\hands-on-with-github-copilot-vs-code.md</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3-4 minutes</a:t>
            </a:r>
          </a:p>
          <a:p/>
          <a:p>
            <a:r>
              <a:t>**Delivery Instructions:**</a:t>
            </a:r>
          </a:p>
          <a:p>
            <a:r>
              <a:t>This slide demonstrates the progression from terrible to excellent prompts—walk through each example deliberately.</a:t>
            </a:r>
          </a:p>
          <a:p/>
          <a:p>
            <a:r>
              <a:t>**Example 1 (Bad):** "Add error handling to my code" - Read this with a slightly exasperated tone. Point out: What code? What language? What kind of errors? Copilot literally has no context to work with. This is like asking a contractor to "fix your house" with no other information.</a:t>
            </a:r>
          </a:p>
          <a:p/>
          <a:p>
            <a:r>
              <a:t>**Example 2 (Better):** Read the second prompt and note improvements: specifies JavaScript, specifies function purpose (external API call), lists specific error types (network timeouts, 404, JSON parsing). But emphasize the problem: "still generic without seeing actual code structure." Copilot doesn't know your coding patterns, your existing error handling approach, or your project structure.</a:t>
            </a:r>
          </a:p>
          <a:p/>
          <a:p>
            <a:r>
              <a:t>**Example 3 (Best):** Read the third prompt slowly, highlighting key improvements:</a:t>
            </a:r>
          </a:p>
          <a:p/>
          <a:p>
            <a:r>
              <a:t>- Uses `@file:api-client.js` to reference specific file (Copilot can see the actual code)</a:t>
            </a:r>
          </a:p>
          <a:p>
            <a:r>
              <a:t>- Names the exact function (`fetchUserData`)</a:t>
            </a:r>
          </a:p>
          <a:p>
            <a:r>
              <a:t>- Provides precise timeout threshold (&gt;5s, not just "timeouts")</a:t>
            </a:r>
          </a:p>
          <a:p>
            <a:r>
              <a:t>- Lists specific HTTP codes (404, 500, etc.)</a:t>
            </a:r>
          </a:p>
          <a:p>
            <a:r>
              <a:t>- References another file `@file:error-types.js` for consistency with existing patterns</a:t>
            </a:r>
          </a:p>
          <a:p/>
          <a:p>
            <a:r>
              <a:t>**Key Teaching Point:** "The difference between prompt 1 and prompt 3 is the difference between Copilot asking YOU 10 clarifying questions versus Copilot just doing exactly what you need. Specificity saves time."</a:t>
            </a:r>
          </a:p>
          <a:p/>
          <a:p>
            <a:r>
              <a:t>**Audience Interaction:** Ask: "How many of you have written prompts like example 1? Don't worry—we all start there. By the end of today, you'll be writing prompts like example 3 automatically."</a:t>
            </a:r>
          </a:p>
          <a:p/>
          <a:p>
            <a:r>
              <a:t>**Transition:** "Now let's practice this in a hands-on lab where you'll learn to add context using @ symbols..."</a:t>
            </a:r>
          </a:p>
          <a:p/>
          <a:p>
            <a:r>
              <a:t>---</a:t>
            </a:r>
          </a:p>
          <a:p/>
          <a:p>
            <a:r>
              <a:t>Source: Slides\individual-slides\hands-on-with-github-copilot-vs-code.md</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15-20 minutes hands-on lab with instructor guidance</a:t>
            </a:r>
          </a:p>
          <a:p/>
          <a:p>
            <a:r>
              <a:t>**Lab Introduction:**</a:t>
            </a:r>
          </a:p>
          <a:p>
            <a:r>
              <a:t>"This is your first real hands-on practice with context management. Open VS Code and follow along—we'll work through this together."</a:t>
            </a:r>
          </a:p>
          <a:p/>
          <a:p>
            <a:r>
              <a:t>**Activity 1: Basic Context Addition (5-7 minutes)**</a:t>
            </a:r>
          </a:p>
          <a:p>
            <a:r>
              <a:t>Walk through each @ symbol type:</a:t>
            </a:r>
          </a:p>
          <a:p/>
          <a:p>
            <a:r>
              <a:t>- **@workspace**: "Try typing @workspace and searching for a class or function name. Copilot will search your entire codebase."</a:t>
            </a:r>
          </a:p>
          <a:p>
            <a:r>
              <a:t>- **@file**: "Type @file and start typing a filename. This gives Copilot the full content of that file—like handing someone a document before asking a question about it."</a:t>
            </a:r>
          </a:p>
          <a:p>
            <a:r>
              <a:t>- **@terminal**: "If you've just run a command that failed, use @terminal to include the error output. Copilot can see the actual error messages and stack traces."</a:t>
            </a:r>
          </a:p>
          <a:p>
            <a:r>
              <a:t>- **@vscode**: "Ask questions like '@vscode how do I change the theme?' or '@vscode what's the keyboard shortcut for...?' This tells Copilot you're asking about VS Code itself, not your code."</a:t>
            </a:r>
          </a:p>
          <a:p/>
          <a:p>
            <a:r>
              <a:t>**Activity 2: Prompt Practice (5-7 minutes)**</a:t>
            </a:r>
          </a:p>
          <a:p/>
          <a:p>
            <a:r>
              <a:t>- Have participants write a vague prompt first (like "optimize this function" without context)</a:t>
            </a:r>
          </a:p>
          <a:p>
            <a:r>
              <a:t>- Show the generic result</a:t>
            </a:r>
          </a:p>
          <a:p>
            <a:r>
              <a:t>- Then rewrite: "@file:myfile.js optimize the calculateTotal function for large datasets (1000+ items)"</a:t>
            </a:r>
          </a:p>
          <a:p>
            <a:r>
              <a:t>- Compare the quality difference side-by-side</a:t>
            </a:r>
          </a:p>
          <a:p>
            <a:r>
              <a:t>- Emphasize: "Same question, dramatically different results—just by adding context."</a:t>
            </a:r>
          </a:p>
          <a:p/>
          <a:p>
            <a:r>
              <a:t>**Activity 3: Context Window Experiment (5 minutes)**</a:t>
            </a:r>
          </a:p>
          <a:p/>
          <a:p>
            <a:r>
              <a:t>- "Start a chat and keep asking follow-up questions. After 10-15 exchanges, ask Copilot to reference something you said at the beginning."</a:t>
            </a:r>
          </a:p>
          <a:p>
            <a:r>
              <a:t>- "Notice how Copilot might struggle or forget? That's context window limitations—the AI can only 'remember' a limited amount of conversation."</a:t>
            </a:r>
          </a:p>
          <a:p>
            <a:r>
              <a:t>- **Key Teaching Moment:** "When you notice this happening, start a fresh chat. Don't try to fight a shrinking context window—just open a new session for the new topic."</a:t>
            </a:r>
          </a:p>
          <a:p/>
          <a:p>
            <a:r>
              <a:t>**Common Pitfalls to Mention:**</a:t>
            </a:r>
          </a:p>
          <a:p/>
          <a:p>
            <a:r>
              <a:t>- Forgetting to use @ symbols and then being disappointed with vague results</a:t>
            </a:r>
          </a:p>
          <a:p>
            <a:r>
              <a:t>- Overloading one chat with too many unrelated questions</a:t>
            </a:r>
          </a:p>
          <a:p>
            <a:r>
              <a:t>- Not realizing the context window is full (Copilot gets "forgetful")</a:t>
            </a:r>
          </a:p>
          <a:p/>
          <a:p>
            <a:r>
              <a:t>**Success Check:**</a:t>
            </a:r>
          </a:p>
          <a:p>
            <a:r>
              <a:t>Walk around (if in person) or ask participants to confirm:</a:t>
            </a:r>
          </a:p>
          <a:p/>
          <a:p>
            <a:r>
              <a:t>- "Can everyone use @file to reference a specific file?" (Show of hands or chat confirmation)</a:t>
            </a:r>
          </a:p>
          <a:p>
            <a:r>
              <a:t>- "Can everyone see the difference between a vague prompt and one with context?"</a:t>
            </a:r>
          </a:p>
          <a:p/>
          <a:p>
            <a:r>
              <a:t>**Transition:** "Great work! Now that you understand context, let's talk about organizing your chat sessions for maximum efficiency..."</a:t>
            </a:r>
          </a:p>
          <a:p/>
          <a:p>
            <a:r>
              <a:t>---</a:t>
            </a:r>
          </a:p>
          <a:p/>
          <a:p>
            <a:r>
              <a:t>Source: Slides\individual-slides\hands-on-with-github-copilot-vs-code.md</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15-20 minutes hands-on lab</a:t>
            </a:r>
          </a:p>
          <a:p/>
          <a:p>
            <a:r>
              <a:t>**Lab Introduction:**</a:t>
            </a:r>
          </a:p>
          <a:p>
            <a:r>
              <a:t>"Chat management might sound boring, but it's the difference between constantly fighting Copilot and having smooth, productive conversations. Let's build good habits now."</a:t>
            </a:r>
          </a:p>
          <a:p/>
          <a:p>
            <a:r>
              <a:t>**Activity 1: Chat Organization (5 minutes)**</a:t>
            </a:r>
          </a:p>
          <a:p/>
          <a:p>
            <a:r>
              <a:t>- **Review Chat History:** "Open your chat history panel. Look at the chats you've created so far today."</a:t>
            </a:r>
          </a:p>
          <a:p>
            <a:r>
              <a:t>- **Identify Mistakes:** "Find a chat where you started asking about one thing (e.g., error handling) and then pivoted to something completely unrelated (e.g., database queries). That's a sign you should have started a new chat."</a:t>
            </a:r>
          </a:p>
          <a:p>
            <a:r>
              <a:t>- **Practice New Chats:** "Rule of thumb: If you're changing topics, start a new chat. If it's a follow-up or refinement of the current topic, continue the same chat."</a:t>
            </a:r>
          </a:p>
          <a:p>
            <a:r>
              <a:t>- **Example:** "Bad: One chat for 'implement login, fix CSS, add tests, refactor database layer.' Good: Four separate chats—each focused on one task."</a:t>
            </a:r>
          </a:p>
          <a:p/>
          <a:p>
            <a:r>
              <a:t>**Activity 2: Context Preservation (5 minutes)**</a:t>
            </a:r>
          </a:p>
          <a:p/>
          <a:p>
            <a:r>
              <a:t>- **Start Focused Chat:** "Pick ONE small feature to implement—something specific like 'add validation to the email field.'"</a:t>
            </a:r>
          </a:p>
          <a:p>
            <a:r>
              <a:t>- **Add Context Systematically:** "Start with @file references for the relevant files. Don't dump the entire codebase—just the files you know are involved."</a:t>
            </a:r>
          </a:p>
          <a:p>
            <a:r>
              <a:t>- **Track Progress:** "As you work through the task, keep the chat focused. If you finish and want to start something else, open a new chat."</a:t>
            </a:r>
          </a:p>
          <a:p>
            <a:r>
              <a:t>- **Success Indicator:** "You'll know you're doing this right when you complete a task without Copilot forgetting earlier parts of the conversation."</a:t>
            </a:r>
          </a:p>
          <a:p/>
          <a:p>
            <a:r>
              <a:t>**Activity 3: Quick Chat Practice (3-5 minutes)**</a:t>
            </a:r>
          </a:p>
          <a:p/>
          <a:p>
            <a:r>
              <a:t>- **Main Chat = Primary Work:** "Open your main chat. Start working on a feature implementation."</a:t>
            </a:r>
          </a:p>
          <a:p>
            <a:r>
              <a:t>- **Side Question = Quick Chat:** "While working, you might wonder: 'What's the VS Code shortcut for...?' or 'How does Array.prototype.reduce work?' Use Quick Chat (keyboard shortcut: show it on screen) for these side questions."</a:t>
            </a:r>
          </a:p>
          <a:p>
            <a:r>
              <a:t>- **Return to Main:** "After getting your answer, close Quick Chat and continue in your main chat. Your main context is preserved."</a:t>
            </a:r>
          </a:p>
          <a:p>
            <a:r>
              <a:t>- **Why This Matters:** "Quick Chat prevents your main chat from getting derailed by unrelated questions. Keeps your work chat focused and your question answered."</a:t>
            </a:r>
          </a:p>
          <a:p/>
          <a:p>
            <a:r>
              <a:t>**Activity 4: Chat History Review (3-5 minutes)**</a:t>
            </a:r>
          </a:p>
          <a:p/>
          <a:p>
            <a:r>
              <a:t>- **Find Previous Solutions:** "Go back to your chat history. Find a chat where Copilot gave you a good solution to a problem."</a:t>
            </a:r>
          </a:p>
          <a:p>
            <a:r>
              <a:t>- **Learn from Past Prompts:** "Look at what YOU asked. What made that prompt work? Was it specific? Did you use @file references? Did you provide examples?"</a:t>
            </a:r>
          </a:p>
          <a:p>
            <a:r>
              <a:t>- **Pattern Recognition:** "Over time, you'll notice: 'When I ask questions this way, I get better results.' That's your effective prompt pattern—document it, reuse it."</a:t>
            </a:r>
          </a:p>
          <a:p/>
          <a:p>
            <a:r>
              <a:t>**Key Reminders (bottom of slide):**</a:t>
            </a:r>
          </a:p>
          <a:p/>
          <a:p>
            <a:r>
              <a:t>- Point to "Context Window Management" bullets at the bottom</a:t>
            </a:r>
          </a:p>
          <a:p>
            <a:r>
              <a:t>- **Context is Limited:** "Think of context like RAM—you have a fixed amount. Use it wisely."</a:t>
            </a:r>
          </a:p>
          <a:p>
            <a:r>
              <a:t>- **New Chat = Fresh Start:** "When Copilot forgets earlier conversation, it's not broken—you've just hit the limit. Start fresh."</a:t>
            </a:r>
          </a:p>
          <a:p>
            <a:r>
              <a:t>- **Targeted Conversations:** "One chat, one topic. Multi-tasking doesn't work in AI chats any better than it works for humans."</a:t>
            </a:r>
          </a:p>
          <a:p/>
          <a:p>
            <a:r>
              <a:t>**Success Check:**</a:t>
            </a:r>
          </a:p>
          <a:p>
            <a:r>
              <a:t>Ask participants:</a:t>
            </a:r>
          </a:p>
          <a:p/>
          <a:p>
            <a:r>
              <a:t>- "Can everyone find their chat history panel?"</a:t>
            </a:r>
          </a:p>
          <a:p>
            <a:r>
              <a:t>- "Did everyone successfully use Quick Chat without losing main chat context?"</a:t>
            </a:r>
          </a:p>
          <a:p>
            <a:r>
              <a:t>- "Can you think of a time today where you should have started a new chat but didn't?"</a:t>
            </a:r>
          </a:p>
          <a:p/>
          <a:p>
            <a:r>
              <a:t>**Transition:** "Now that you know how to manage conversations, let's look at the different MODES Copilot offers—Ask, Edit, and Agent modes..."</a:t>
            </a:r>
          </a:p>
          <a:p/>
          <a:p>
            <a:r>
              <a:t>---</a:t>
            </a:r>
          </a:p>
          <a:p/>
          <a:p>
            <a:r>
              <a:t>Source: Slides\individual-slides\hands-on-with-github-copilot-vs-code.md</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Ask vs Edit modes and when each is most useful. Speak to Agent Mode and Custom Chat Modes briefly. We’ll work with those later.</a:t>
            </a:r>
          </a:p>
          <a:p/>
          <a:p>
            <a:r>
              <a:t>---</a:t>
            </a:r>
          </a:p>
          <a:p/>
          <a:p>
            <a:r>
              <a:t>Source: Slides\individual-slides\hands-on-with-github-copilot-vs-code.md</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15-20 minutes hands-on lab</a:t>
            </a:r>
          </a:p>
          <a:p/>
          <a:p>
            <a:r>
              <a:t>**Lab Introduction:**</a:t>
            </a:r>
          </a:p>
          <a:p>
            <a:r>
              <a:t>"This lab is about understanding the differences between Copilot modes and—critically—when each mode consumes your premium tokens. Let's dive in."</a:t>
            </a:r>
          </a:p>
          <a:p/>
          <a:p>
            <a:r>
              <a:t>**Activity 1: Ask Mode (5-7 minutes)**</a:t>
            </a:r>
          </a:p>
          <a:p/>
          <a:p>
            <a:r>
              <a:t>- **Explain a Code Snippet:** "Open a file in your project. Select a function. Ask Copilot: 'Explain what this function does.' Copilot will analyze and explain—no code changes."</a:t>
            </a:r>
          </a:p>
          <a:p>
            <a:r>
              <a:t>- **Request Multiple Approaches:** "Ask: 'Show me three different ways to implement this logic.' Copilot will provide alternatives in the chat without touching your files."</a:t>
            </a:r>
          </a:p>
          <a:p>
            <a:r>
              <a:t>- **Model Selection:** "Try asking the same question with different models (e.g., GPT-4o vs Claude). Notice how responses differ in style, depth, and tone."</a:t>
            </a:r>
          </a:p>
          <a:p>
            <a:r>
              <a:t>- **KEY POINT:** "Ask mode is read-only. No code changes = no risk. And here's the bonus: **Ask mode doesn't consume premium tokens** even when using advanced models. You can ask questions all day without worrying about token limits."</a:t>
            </a:r>
          </a:p>
          <a:p/>
          <a:p>
            <a:r>
              <a:t>**Why Ask Mode is Powerful:**</a:t>
            </a:r>
          </a:p>
          <a:p/>
          <a:p>
            <a:r>
              <a:t>- Safe exploration (no accidental code changes)</a:t>
            </a:r>
          </a:p>
          <a:p>
            <a:r>
              <a:t>- Great for learning ("Explain this regex pattern")</a:t>
            </a:r>
          </a:p>
          <a:p>
            <a:r>
              <a:t>- Perfect for brainstorming ("What are different ways to handle authentication?")</a:t>
            </a:r>
          </a:p>
          <a:p>
            <a:r>
              <a:t>- Free premium model access for questions</a:t>
            </a:r>
          </a:p>
          <a:p/>
          <a:p>
            <a:r>
              <a:t>**Activity 2: Edit Mode (5-7 minutes)**</a:t>
            </a:r>
          </a:p>
          <a:p/>
          <a:p>
            <a:r>
              <a:t>- **Select and Refactor:** "Highlight a block of code. Ask Copilot: 'Refactor this to use async/await' or 'Extract this into a separate function.'"</a:t>
            </a:r>
          </a:p>
          <a:p>
            <a:r>
              <a:t>- **Observe Inline Suggestions:** "Copilot will show proposed changes directly in your editor—highlighted text, additions, deletions."</a:t>
            </a:r>
          </a:p>
          <a:p>
            <a:r>
              <a:t>- **Accept or Reject:** "You can accept the entire change, accept parts of it, or reject and try again. This is interactive editing."</a:t>
            </a:r>
          </a:p>
          <a:p>
            <a:r>
              <a:t>- **Use Case:** "Edit mode is perfect for improving existing code: refactoring, renaming, restructuring, adding error handling, improving readability."</a:t>
            </a:r>
          </a:p>
          <a:p/>
          <a:p>
            <a:r>
              <a:t>**When to Use Edit Mode:**</a:t>
            </a:r>
          </a:p>
          <a:p/>
          <a:p>
            <a:r>
              <a:t>- You know exactly where the change needs to happen</a:t>
            </a:r>
          </a:p>
          <a:p>
            <a:r>
              <a:t>- You're refining or improving existing code</a:t>
            </a:r>
          </a:p>
          <a:p>
            <a:r>
              <a:t>- You want to see diffs before accepting changes</a:t>
            </a:r>
          </a:p>
          <a:p/>
          <a:p>
            <a:r>
              <a:t>**Activity 3: Agent Mode (5-7 minutes)**</a:t>
            </a:r>
          </a:p>
          <a:p/>
          <a:p>
            <a:r>
              <a:t>- **Create New File:** "Ask Copilot: 'Create a new file utils/validation.js and add email validation logic.' Copilot will create the file AND add content."</a:t>
            </a:r>
          </a:p>
          <a:p>
            <a:r>
              <a:t>- **Multi-File Changes:** "Request: 'Update all my test files to use the new mocking library.' Copilot will scan your project, identify test files, and modify them."</a:t>
            </a:r>
          </a:p>
          <a:p>
            <a:r>
              <a:t>- **Run Terminal Commands:** "Ask: 'Install the lodash package and add it to my imports.' Copilot can run `npm install lodash` for you."</a:t>
            </a:r>
          </a:p>
          <a:p>
            <a:r>
              <a:t>- **Check Premium Tokens:** "After these actions, check your token usage bar (top of chat window). **Agent mode DOES consume premium tokens** because Copilot is taking actions on your behalf—creating files, running commands, making decisions."</a:t>
            </a:r>
          </a:p>
          <a:p/>
          <a:p>
            <a:r>
              <a:t>**Agent Mode Power and Cost:**</a:t>
            </a:r>
          </a:p>
          <a:p/>
          <a:p>
            <a:r>
              <a:t>- Can handle complex multi-step tasks autonomously</a:t>
            </a:r>
          </a:p>
          <a:p>
            <a:r>
              <a:t>- Saves enormous time (one prompt → entire feature scaffolded)</a:t>
            </a:r>
          </a:p>
          <a:p>
            <a:r>
              <a:t>- But: Uses premium tokens because it's doing real work</a:t>
            </a:r>
          </a:p>
          <a:p>
            <a:r>
              <a:t>- Best for: scaffolding new features, bulk refactors, project setup</a:t>
            </a:r>
          </a:p>
          <a:p/>
          <a:p>
            <a:r>
              <a:t>**Token Strategy Discussion:**</a:t>
            </a:r>
          </a:p>
          <a:p/>
          <a:p>
            <a:r>
              <a:t>- "Think of Ask mode for learning and exploring (free premium)."</a:t>
            </a:r>
          </a:p>
          <a:p>
            <a:r>
              <a:t>- "Use Edit mode for targeted changes (moderate token use)."</a:t>
            </a:r>
          </a:p>
          <a:p>
            <a:r>
              <a:t>- "Save Agent mode for high-value complex tasks (premium tokens, totally worth it)."</a:t>
            </a:r>
          </a:p>
          <a:p/>
          <a:p>
            <a:r>
              <a:t>**Success Check:**</a:t>
            </a:r>
          </a:p>
          <a:p/>
          <a:p>
            <a:r>
              <a:t>- "Can everyone explain the difference between Ask and Agent mode?" (Ask: read-only, no tokens; Agent: takes action, uses tokens)</a:t>
            </a:r>
          </a:p>
          <a:p>
            <a:r>
              <a:t>- "Did everyone successfully use Agent mode to create a file?"</a:t>
            </a:r>
          </a:p>
          <a:p>
            <a:r>
              <a:t>- "Anyone hit token limits? Let's talk about managing usage."</a:t>
            </a:r>
          </a:p>
          <a:p/>
          <a:p>
            <a:r>
              <a:t>**Common Question:** "Why does Agent mode use tokens but Ask mode doesn't?"</a:t>
            </a:r>
          </a:p>
          <a:p>
            <a:r>
              <a:t>**Answer:** "Agent mode is actively doing work: analyzing your entire codebase, making decisions, creating files, running commands. That's expensive computation. Ask mode just answers questions based on what you show it—much simpler."</a:t>
            </a:r>
          </a:p>
          <a:p/>
          <a:p>
            <a:r>
              <a:t>**Transition:** "Now that you understand the modes, let's look at the broader IDE landscape—what other tools offer AI assistance, and how does Copilot compare..."</a:t>
            </a:r>
          </a:p>
          <a:p/>
          <a:p>
            <a:r>
              <a:t>---</a:t>
            </a:r>
          </a:p>
          <a:p/>
          <a:p>
            <a:r>
              <a:t>Source: Slides\individual-slides\hands-on-with-github-copilot-vs-code.md</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Slides\individual-slides\hands-on-with-github-copilot-vs-code.md</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Auto-generated course navigation slide showing all modules with current section highlighted</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Auto-generated section header slide to announce the section</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Auto-generated section agenda slide listing slide titles from manifest</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outlines the collaborative development process we’ll follow for building our calculator application — and mob programming will be central to how we work together.</a:t>
            </a:r>
          </a:p>
          <a:p/>
          <a:p>
            <a:r>
              <a:t>Except for Project Setup and Basic Arithmetic functions, the mob controls the direction of the implementation. The other labs are optional and can be used when the mob directs the development of that feature or as suggestions should the mob struggle for direction.</a:t>
            </a:r>
          </a:p>
          <a:p/>
          <a:p>
            <a:r>
              <a:t>We begin with Project Setup, where the team configures the environment, aligns on goals, and prepares the repo. This is done as a mob — one keyboard, one screen, and everyone contributing ideas in real time. It ensures shared understanding from the start.</a:t>
            </a:r>
          </a:p>
          <a:p/>
          <a:p>
            <a:r>
              <a:t>At the end of the day, we introduce Evergreen Software Development — a mindset of continuous improvement.</a:t>
            </a:r>
          </a:p>
          <a:p/>
          <a:p>
            <a:r>
              <a:t>Random ideas:</a:t>
            </a:r>
          </a:p>
          <a:p>
            <a:r>
              <a:t>Implementing Observability</a:t>
            </a:r>
          </a:p>
          <a:p/>
          <a:p>
            <a:r>
              <a:t>Scaffold a new C# command line project using .NET. The project should include:</a:t>
            </a:r>
          </a:p>
          <a:p>
            <a:r>
              <a:t>A Program.cs file with a simple "Hello, World!" example.</a:t>
            </a:r>
          </a:p>
          <a:p>
            <a:r>
              <a:t>A .csproj file configured for a console application.</a:t>
            </a:r>
          </a:p>
          <a:p>
            <a:r>
              <a:t>A README.md with build and run instructions.</a:t>
            </a:r>
          </a:p>
          <a:p>
            <a:r>
              <a:t>The project should be ready to build and run from the command line.</a:t>
            </a:r>
          </a:p>
          <a:p/>
          <a:p>
            <a:r>
              <a:t>---</a:t>
            </a:r>
          </a:p>
          <a:p/>
          <a:p>
            <a:r>
              <a:t>Source: Slides\individual-slides\vibe-coding.md</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**Duration:** 45-60 minutes</a:t>
            </a:r>
          </a:p>
          <a:p>
            <a:r>
              <a:t>**Prerequisites:** Calculator project context available</a:t>
            </a:r>
          </a:p>
          <a:p/>
          <a:p>
            <a:r>
              <a:t>### Objectives</a:t>
            </a:r>
          </a:p>
          <a:p/>
          <a:p>
            <a:r>
              <a:t>- Scaffold core operations with AI assistance.</a:t>
            </a:r>
          </a:p>
          <a:p>
            <a:r>
              <a:t>- Validate generated logic before accepting changes.</a:t>
            </a:r>
          </a:p>
          <a:p>
            <a:r>
              <a:t>- Deliver a working baseline calculator.</a:t>
            </a:r>
          </a:p>
          <a:p/>
          <a:p>
            <a:r>
              <a:t>### Activities</a:t>
            </a:r>
          </a:p>
          <a:p/>
          <a:p>
            <a:r>
              <a:t>- Build project skeleton, implement 4 operations, and verify behavior.</a:t>
            </a:r>
          </a:p>
          <a:p>
            <a:r>
              <a:t>- Emphasize manual review of AI output before merge.</a:t>
            </a:r>
          </a:p>
          <a:p/>
          <a:p>
            <a:r>
              <a:t>### Success Criteria</a:t>
            </a:r>
          </a:p>
          <a:p/>
          <a:p>
            <a:r>
              <a:t>- Four operations work end-to-end.</a:t>
            </a:r>
          </a:p>
          <a:p>
            <a:r>
              <a:t>- Build is green.</a:t>
            </a:r>
          </a:p>
          <a:p>
            <a:r>
              <a:t>- Team can explain logic and edge-case handling.</a:t>
            </a:r>
          </a:p>
          <a:p/>
          <a:p>
            <a:r>
              <a:t>---</a:t>
            </a:r>
          </a:p>
          <a:p/>
          <a:p>
            <a:r>
              <a:t>Source: Slides\individual-slides\exercise-calculator-project.md</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**Duration:** 15 minutes</a:t>
            </a:r>
          </a:p>
          <a:p>
            <a:r>
              <a:t>**Prerequisites:** Basic calculator state model</a:t>
            </a:r>
          </a:p>
          <a:p/>
          <a:p>
            <a:r>
              <a:t>### Objectives</a:t>
            </a:r>
          </a:p>
          <a:p/>
          <a:p>
            <a:r>
              <a:t>- Separate entry-level clear from full reset behavior.</a:t>
            </a:r>
          </a:p>
          <a:p>
            <a:r>
              <a:t>- Verify expected transitions from each action.</a:t>
            </a:r>
          </a:p>
          <a:p/>
          <a:p>
            <a:r>
              <a:t>### Activities</a:t>
            </a:r>
          </a:p>
          <a:p/>
          <a:p>
            <a:r>
              <a:t>- Use focused prompts and test state transitions quickly.</a:t>
            </a:r>
          </a:p>
          <a:p/>
          <a:p>
            <a:r>
              <a:t>### Success Criteria</a:t>
            </a:r>
          </a:p>
          <a:p/>
          <a:p>
            <a:r>
              <a:t>- CE and C behaviors are consistent and explainable.</a:t>
            </a:r>
          </a:p>
          <a:p/>
          <a:p>
            <a:r>
              <a:t>---</a:t>
            </a:r>
          </a:p>
          <a:p/>
          <a:p>
            <a:r>
              <a:t>Source: Slides\individual-slides\exercise-calculator-project.md</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**Duration:** 12 minutes</a:t>
            </a:r>
          </a:p>
          <a:p>
            <a:r>
              <a:t>**Prerequisites:** Input parser in place</a:t>
            </a:r>
          </a:p>
          <a:p/>
          <a:p>
            <a:r>
              <a:t>### Objectives</a:t>
            </a:r>
          </a:p>
          <a:p/>
          <a:p>
            <a:r>
              <a:t>- Implement robust decimal parsing and validation.</a:t>
            </a:r>
          </a:p>
          <a:p/>
          <a:p>
            <a:r>
              <a:t>### Activities</a:t>
            </a:r>
          </a:p>
          <a:p/>
          <a:p>
            <a:r>
              <a:t>- Target parser rules, then validate with focused tests.</a:t>
            </a:r>
          </a:p>
          <a:p/>
          <a:p>
            <a:r>
              <a:t>### Success Criteria</a:t>
            </a:r>
          </a:p>
          <a:p/>
          <a:p>
            <a:r>
              <a:t>- No duplicate decimal points accepted.</a:t>
            </a:r>
          </a:p>
          <a:p>
            <a:r>
              <a:t>- Decimal math behaves correctly.</a:t>
            </a:r>
          </a:p>
          <a:p/>
          <a:p>
            <a:r>
              <a:t>---</a:t>
            </a:r>
          </a:p>
          <a:p/>
          <a:p>
            <a:r>
              <a:t>Source: Slides\individual-slides\exercise-calculator-project.md</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**Duration:** 8 minutes</a:t>
            </a:r>
          </a:p>
          <a:p>
            <a:r>
              <a:t>**Prerequisites:** Numeric input flow functioning</a:t>
            </a:r>
          </a:p>
          <a:p/>
          <a:p>
            <a:r>
              <a:t>### Objectives</a:t>
            </a:r>
          </a:p>
          <a:p/>
          <a:p>
            <a:r>
              <a:t>- Add predictable sign toggling.</a:t>
            </a:r>
          </a:p>
          <a:p/>
          <a:p>
            <a:r>
              <a:t>### Activities</a:t>
            </a:r>
          </a:p>
          <a:p/>
          <a:p>
            <a:r>
              <a:t>- Keep implementation minimal and test transitions.</a:t>
            </a:r>
          </a:p>
          <a:p/>
          <a:p>
            <a:r>
              <a:t>### Success Criteria</a:t>
            </a:r>
          </a:p>
          <a:p/>
          <a:p>
            <a:r>
              <a:t>- Toggle is stable across value states.</a:t>
            </a:r>
          </a:p>
          <a:p/>
          <a:p>
            <a:r>
              <a:t>---</a:t>
            </a:r>
          </a:p>
          <a:p/>
          <a:p>
            <a:r>
              <a:t>Source: Slides\individual-slides\exercise-calculator-project.md</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**Duration:** 15 minutes</a:t>
            </a:r>
          </a:p>
          <a:p>
            <a:r>
              <a:t>**Prerequisites:** Core arithmetic implemented</a:t>
            </a:r>
          </a:p>
          <a:p/>
          <a:p>
            <a:r>
              <a:t>### Objectives</a:t>
            </a:r>
          </a:p>
          <a:p/>
          <a:p>
            <a:r>
              <a:t>- Align percentage behavior with user expectations.</a:t>
            </a:r>
          </a:p>
          <a:p/>
          <a:p>
            <a:r>
              <a:t>### Activities</a:t>
            </a:r>
          </a:p>
          <a:p/>
          <a:p>
            <a:r>
              <a:t>- Compare generated logic with known calculator semantics.</a:t>
            </a:r>
          </a:p>
          <a:p/>
          <a:p>
            <a:r>
              <a:t>### Success Criteria</a:t>
            </a:r>
          </a:p>
          <a:p/>
          <a:p>
            <a:r>
              <a:t>- Three key percentage patterns operate correctly.</a:t>
            </a:r>
          </a:p>
          <a:p/>
          <a:p>
            <a:r>
              <a:t>---</a:t>
            </a:r>
          </a:p>
          <a:p/>
          <a:p>
            <a:r>
              <a:t>Source: Slides\individual-slides\exercise-calculator-project.md</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**Duration:** 18 minutes</a:t>
            </a:r>
          </a:p>
          <a:p>
            <a:r>
              <a:t>**Prerequisites:** Calculator state architecture defined</a:t>
            </a:r>
          </a:p>
          <a:p/>
          <a:p>
            <a:r>
              <a:t>### Objectives</a:t>
            </a:r>
          </a:p>
          <a:p/>
          <a:p>
            <a:r>
              <a:t>- Add reliable memory operations.</a:t>
            </a:r>
          </a:p>
          <a:p/>
          <a:p>
            <a:r>
              <a:t>### Activities</a:t>
            </a:r>
          </a:p>
          <a:p/>
          <a:p>
            <a:r>
              <a:t>- Ensure memory state is explicit and testable.</a:t>
            </a:r>
          </a:p>
          <a:p/>
          <a:p>
            <a:r>
              <a:t>### Success Criteria</a:t>
            </a:r>
          </a:p>
          <a:p/>
          <a:p>
            <a:r>
              <a:t>- Memory operations are consistent and validated.</a:t>
            </a:r>
          </a:p>
          <a:p/>
          <a:p>
            <a:r>
              <a:t>---</a:t>
            </a:r>
          </a:p>
          <a:p/>
          <a:p>
            <a:r>
              <a:t>Source: Slides\individual-slides\exercise-calculator-project.md</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**Duration:** 10 minutes</a:t>
            </a:r>
          </a:p>
          <a:p>
            <a:r>
              <a:t>**Prerequisites:** Core operations implemented</a:t>
            </a:r>
          </a:p>
          <a:p/>
          <a:p>
            <a:r>
              <a:t>### Objectives</a:t>
            </a:r>
          </a:p>
          <a:p/>
          <a:p>
            <a:r>
              <a:t>- Build robust error paths without breaking user flow.</a:t>
            </a:r>
          </a:p>
          <a:p/>
          <a:p>
            <a:r>
              <a:t>### Activities</a:t>
            </a:r>
          </a:p>
          <a:p/>
          <a:p>
            <a:r>
              <a:t>- Validate both error detection and post-error recovery.</a:t>
            </a:r>
          </a:p>
          <a:p/>
          <a:p>
            <a:r>
              <a:t>### Success Criteria</a:t>
            </a:r>
          </a:p>
          <a:p/>
          <a:p>
            <a:r>
              <a:t>- Error handling is visible, predictable, and recoverable.</a:t>
            </a:r>
          </a:p>
          <a:p/>
          <a:p>
            <a:r>
              <a:t>---</a:t>
            </a:r>
          </a:p>
          <a:p/>
          <a:p>
            <a:r>
              <a:t>Source: Slides\individual-slides\exercise-calculator-project.md</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**Duration:** 15 minutes</a:t>
            </a:r>
          </a:p>
          <a:p>
            <a:r>
              <a:t>**Prerequisites:** Advanced operation framework available</a:t>
            </a:r>
          </a:p>
          <a:p/>
          <a:p>
            <a:r>
              <a:t>### Objectives</a:t>
            </a:r>
          </a:p>
          <a:p/>
          <a:p>
            <a:r>
              <a:t>- Add trig support with explicit angle-mode handling.</a:t>
            </a:r>
          </a:p>
          <a:p/>
          <a:p>
            <a:r>
              <a:t>### Activities</a:t>
            </a:r>
          </a:p>
          <a:p/>
          <a:p>
            <a:r>
              <a:t>- Implement and validate both behavior and mode switching.</a:t>
            </a:r>
          </a:p>
          <a:p/>
          <a:p>
            <a:r>
              <a:t>### Success Criteria</a:t>
            </a:r>
          </a:p>
          <a:p/>
          <a:p>
            <a:r>
              <a:t>- Trig pipeline works end-to-end with tested expectations.</a:t>
            </a:r>
          </a:p>
          <a:p/>
          <a:p>
            <a:r>
              <a:t>---</a:t>
            </a:r>
          </a:p>
          <a:p/>
          <a:p>
            <a:r>
              <a:t>Source: Slides\individual-slides\exercise-calculator-project.md</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**Duration:** 15 minutes</a:t>
            </a:r>
          </a:p>
          <a:p>
            <a:r>
              <a:t>**Prerequisites:** Core logic stable and testable</a:t>
            </a:r>
          </a:p>
          <a:p/>
          <a:p>
            <a:r>
              <a:t>### Objectives</a:t>
            </a:r>
          </a:p>
          <a:p/>
          <a:p>
            <a:r>
              <a:t>- Wire UI interactions cleanly to existing logic.</a:t>
            </a:r>
          </a:p>
          <a:p/>
          <a:p>
            <a:r>
              <a:t>### Activities</a:t>
            </a:r>
          </a:p>
          <a:p/>
          <a:p>
            <a:r>
              <a:t>- Prioritize event mapping clarity over visual polish.</a:t>
            </a:r>
          </a:p>
          <a:p/>
          <a:p>
            <a:r>
              <a:t>### Success Criteria</a:t>
            </a:r>
          </a:p>
          <a:p/>
          <a:p>
            <a:r>
              <a:t>- Workflow passes from input to output with no breaks.</a:t>
            </a:r>
          </a:p>
          <a:p/>
          <a:p>
            <a:r>
              <a:t>---</a:t>
            </a:r>
          </a:p>
          <a:p/>
          <a:p>
            <a:r>
              <a:t>Source: Slides\individual-slides\exercise-calculator-project.md</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**Duration:** 45-60 minutes</a:t>
            </a:r>
          </a:p>
          <a:p>
            <a:r>
              <a:t>**Prerequisites:** Calculator logic implemented</a:t>
            </a:r>
          </a:p>
          <a:p/>
          <a:p>
            <a:r>
              <a:t>### Objectives</a:t>
            </a:r>
          </a:p>
          <a:p/>
          <a:p>
            <a:r>
              <a:t>- Improve test quality, not just test count.</a:t>
            </a:r>
          </a:p>
          <a:p/>
          <a:p>
            <a:r>
              <a:t>### Activities</a:t>
            </a:r>
          </a:p>
          <a:p/>
          <a:p>
            <a:r>
              <a:t>- Review generated tests critically before accepting.</a:t>
            </a:r>
          </a:p>
          <a:p/>
          <a:p>
            <a:r>
              <a:t>### Success Criteria</a:t>
            </a:r>
          </a:p>
          <a:p/>
          <a:p>
            <a:r>
              <a:t>- Test suite is meaningful, comprehensive, and green.</a:t>
            </a:r>
          </a:p>
          <a:p/>
          <a:p>
            <a:r>
              <a:t>---</a:t>
            </a:r>
          </a:p>
          <a:p/>
          <a:p>
            <a:r>
              <a:t>Source: Slides\individual-slides\exercise-calculator-project.md</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**Duration:** 30-40 minutes</a:t>
            </a:r>
          </a:p>
          <a:p>
            <a:r>
              <a:t>**Prerequisites:** Stable test suite</a:t>
            </a:r>
          </a:p>
          <a:p/>
          <a:p>
            <a:r>
              <a:t>### Objectives</a:t>
            </a:r>
          </a:p>
          <a:p/>
          <a:p>
            <a:r>
              <a:t>- Use coverage as a guide for targeted testing.</a:t>
            </a:r>
          </a:p>
          <a:p/>
          <a:p>
            <a:r>
              <a:t>### Activities</a:t>
            </a:r>
          </a:p>
          <a:p/>
          <a:p>
            <a:r>
              <a:t>- Treat uncovered code as investigation points, not automatic defects.</a:t>
            </a:r>
          </a:p>
          <a:p/>
          <a:p>
            <a:r>
              <a:t>### Success Criteria</a:t>
            </a:r>
          </a:p>
          <a:p/>
          <a:p>
            <a:r>
              <a:t>- Coverage setup works and leads to actionable improvements.</a:t>
            </a:r>
          </a:p>
          <a:p/>
          <a:p>
            <a:r>
              <a:t>---</a:t>
            </a:r>
          </a:p>
          <a:p/>
          <a:p>
            <a:r>
              <a:t>Source: Slides\individual-slides\exercise-calculator-project.md</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**Duration:** 30-40 minutes</a:t>
            </a:r>
          </a:p>
          <a:p>
            <a:r>
              <a:t>**Prerequisites:** Build/test environment configured</a:t>
            </a:r>
          </a:p>
          <a:p/>
          <a:p>
            <a:r>
              <a:t>### Objectives</a:t>
            </a:r>
          </a:p>
          <a:p/>
          <a:p>
            <a:r>
              <a:t>- Build confidence in diagnosing and fixing dependency failures.</a:t>
            </a:r>
          </a:p>
          <a:p/>
          <a:p>
            <a:r>
              <a:t>### Activities</a:t>
            </a:r>
          </a:p>
          <a:p/>
          <a:p>
            <a:r>
              <a:t>- Emphasize iterative debugging and evidence-based prompts.</a:t>
            </a:r>
          </a:p>
          <a:p/>
          <a:p>
            <a:r>
              <a:t>### Success Criteria</a:t>
            </a:r>
          </a:p>
          <a:p/>
          <a:p>
            <a:r>
              <a:t>- Issue resolution is repeatable and well-documented.</a:t>
            </a:r>
          </a:p>
          <a:p/>
          <a:p>
            <a:r>
              <a:t>---</a:t>
            </a:r>
          </a:p>
          <a:p/>
          <a:p>
            <a:r>
              <a:t>Source: Slides\individual-slides\exercise-calculator-project.md</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**Duration:** 30-40 minutes</a:t>
            </a:r>
          </a:p>
          <a:p>
            <a:r>
              <a:t>**Prerequisites:** Working project baseline</a:t>
            </a:r>
          </a:p>
          <a:p/>
          <a:p>
            <a:r>
              <a:t>### Objectives</a:t>
            </a:r>
          </a:p>
          <a:p/>
          <a:p>
            <a:r>
              <a:t>- Turn AI suggestions into intentional quality improvements.</a:t>
            </a:r>
          </a:p>
          <a:p/>
          <a:p>
            <a:r>
              <a:t>### Activities</a:t>
            </a:r>
          </a:p>
          <a:p/>
          <a:p>
            <a:r>
              <a:t>- Keep only changes with clear maintainability value.</a:t>
            </a:r>
          </a:p>
          <a:p/>
          <a:p>
            <a:r>
              <a:t>### Success Criteria</a:t>
            </a:r>
          </a:p>
          <a:p/>
          <a:p>
            <a:r>
              <a:t>- Improvements are justified and validated.</a:t>
            </a:r>
          </a:p>
          <a:p/>
          <a:p>
            <a:r>
              <a:t>---</a:t>
            </a:r>
          </a:p>
          <a:p/>
          <a:p>
            <a:r>
              <a:t>Source: Slides\individual-slides\exercise-calculator-project.md</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**Duration:** 20-30 minutes</a:t>
            </a:r>
          </a:p>
          <a:p>
            <a:r>
              <a:t>**Prerequisites:** Access to multiple model options</a:t>
            </a:r>
          </a:p>
          <a:p/>
          <a:p>
            <a:r>
              <a:t>### Objectives</a:t>
            </a:r>
          </a:p>
          <a:p/>
          <a:p>
            <a:r>
              <a:t>- Build practical model-selection judgment.</a:t>
            </a:r>
          </a:p>
          <a:p/>
          <a:p>
            <a:r>
              <a:t>### Activities</a:t>
            </a:r>
          </a:p>
          <a:p/>
          <a:p>
            <a:r>
              <a:t>- Compare quality, speed, and token cost for same prompt.</a:t>
            </a:r>
          </a:p>
          <a:p/>
          <a:p>
            <a:r>
              <a:t>### Success Criteria</a:t>
            </a:r>
          </a:p>
          <a:p/>
          <a:p>
            <a:r>
              <a:t>- Team can explain when premium models are worth it.</a:t>
            </a:r>
          </a:p>
          <a:p/>
          <a:p>
            <a:r>
              <a:t>---</a:t>
            </a:r>
          </a:p>
          <a:p/>
          <a:p>
            <a:r>
              <a:t>Source: Slides\individual-slides\exercise-calculator-project.md</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**Duration:** 15 minutes</a:t>
            </a:r>
          </a:p>
          <a:p>
            <a:r>
              <a:t>**Prerequisites:** UI and logic currently coupled</a:t>
            </a:r>
          </a:p>
          <a:p/>
          <a:p>
            <a:r>
              <a:t>### Objectives</a:t>
            </a:r>
          </a:p>
          <a:p/>
          <a:p>
            <a:r>
              <a:t>- Improve architecture through separation of concerns.</a:t>
            </a:r>
          </a:p>
          <a:p/>
          <a:p>
            <a:r>
              <a:t>### Activities</a:t>
            </a:r>
          </a:p>
          <a:p/>
          <a:p>
            <a:r>
              <a:t>- Create clear, testable boundaries between UI and engine.</a:t>
            </a:r>
          </a:p>
          <a:p/>
          <a:p>
            <a:r>
              <a:t>### Success Criteria</a:t>
            </a:r>
          </a:p>
          <a:p/>
          <a:p>
            <a:r>
              <a:t>- Core logic is isolated and reusable.</a:t>
            </a:r>
          </a:p>
          <a:p/>
          <a:p>
            <a:r>
              <a:t>---</a:t>
            </a:r>
          </a:p>
          <a:p/>
          <a:p>
            <a:r>
              <a:t>Source: Slides\individual-slides\exercise-calculator-project.md</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**Duration:** 30-40 minutes</a:t>
            </a:r>
          </a:p>
          <a:p>
            <a:r>
              <a:t>**Prerequisites:** Functional calculator project</a:t>
            </a:r>
          </a:p>
          <a:p/>
          <a:p>
            <a:r>
              <a:t>### Objectives</a:t>
            </a:r>
          </a:p>
          <a:p/>
          <a:p>
            <a:r>
              <a:t>- Apply practical security checks to working code.</a:t>
            </a:r>
          </a:p>
          <a:p/>
          <a:p>
            <a:r>
              <a:t>### Activities</a:t>
            </a:r>
          </a:p>
          <a:p/>
          <a:p>
            <a:r>
              <a:t>- Validate fixes with tests and review, not assumptions.</a:t>
            </a:r>
          </a:p>
          <a:p/>
          <a:p>
            <a:r>
              <a:t>### Success Criteria</a:t>
            </a:r>
          </a:p>
          <a:p/>
          <a:p>
            <a:r>
              <a:t>- Security posture improves with documented rationale.</a:t>
            </a:r>
          </a:p>
          <a:p/>
          <a:p>
            <a:r>
              <a:t>---</a:t>
            </a:r>
          </a:p>
          <a:p/>
          <a:p>
            <a:r>
              <a:t>Source: Slides\individual-slides\exercise-calculator-project.md</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**Duration:** 30-40 minutes</a:t>
            </a:r>
          </a:p>
          <a:p>
            <a:r>
              <a:t>**Prerequisites:** Stable code to document</a:t>
            </a:r>
          </a:p>
          <a:p/>
          <a:p>
            <a:r>
              <a:t>### Objectives</a:t>
            </a:r>
          </a:p>
          <a:p/>
          <a:p>
            <a:r>
              <a:t>- Produce maintainable, user-focused documentation.</a:t>
            </a:r>
          </a:p>
          <a:p/>
          <a:p>
            <a:r>
              <a:t>### Activities</a:t>
            </a:r>
          </a:p>
          <a:p/>
          <a:p>
            <a:r>
              <a:t>- Treat generated docs as drafts requiring technical review.</a:t>
            </a:r>
          </a:p>
          <a:p/>
          <a:p>
            <a:r>
              <a:t>### Success Criteria</a:t>
            </a:r>
          </a:p>
          <a:p/>
          <a:p>
            <a:r>
              <a:t>- Docs are complete, correct, and actionable.</a:t>
            </a:r>
          </a:p>
          <a:p/>
          <a:p>
            <a:r>
              <a:t>---</a:t>
            </a:r>
          </a:p>
          <a:p/>
          <a:p>
            <a:r>
              <a:t>Source: Slides\individual-slides\exercise-calculator-project.md</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**Duration:** 30-40 minutes</a:t>
            </a:r>
          </a:p>
          <a:p>
            <a:r>
              <a:t>**Prerequisites:** Existing implementation with improvement opportunities</a:t>
            </a:r>
          </a:p>
          <a:p/>
          <a:p>
            <a:r>
              <a:t>### Objectives</a:t>
            </a:r>
          </a:p>
          <a:p/>
          <a:p>
            <a:r>
              <a:t>- Use AI for option generation, then apply engineering judgment.</a:t>
            </a:r>
          </a:p>
          <a:p/>
          <a:p>
            <a:r>
              <a:t>### Activities</a:t>
            </a:r>
          </a:p>
          <a:p/>
          <a:p>
            <a:r>
              <a:t>- Compare alternatives using explicit criteria.</a:t>
            </a:r>
          </a:p>
          <a:p/>
          <a:p>
            <a:r>
              <a:t>### Success Criteria</a:t>
            </a:r>
          </a:p>
          <a:p/>
          <a:p>
            <a:r>
              <a:t>- Selected refactor improves clarity without regressions.</a:t>
            </a:r>
          </a:p>
          <a:p/>
          <a:p>
            <a:r>
              <a:t>---</a:t>
            </a:r>
          </a:p>
          <a:p/>
          <a:p>
            <a:r>
              <a:t>Source: Slides\individual-slides\exercise-calculator-project.md</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**Duration:** 30-45 minutes</a:t>
            </a:r>
          </a:p>
          <a:p>
            <a:r>
              <a:t>**Prerequisites:** Lab 1 completed, existing test suite</a:t>
            </a:r>
          </a:p>
          <a:p/>
          <a:p>
            <a:r>
              <a:t>### Objectives</a:t>
            </a:r>
          </a:p>
          <a:p/>
          <a:p>
            <a:r>
              <a:t>- Analyze code coverage reports</a:t>
            </a:r>
          </a:p>
          <a:p>
            <a:r>
              <a:t>- Use Copilot to intelligently add tests</a:t>
            </a:r>
          </a:p>
          <a:p>
            <a:r>
              <a:t>- Achieve target coverage percentage</a:t>
            </a:r>
          </a:p>
          <a:p>
            <a:r>
              <a:t>- Balance quantity vs. quality of tests</a:t>
            </a:r>
          </a:p>
          <a:p/>
          <a:p>
            <a:r>
              <a:t>### Activities</a:t>
            </a:r>
          </a:p>
          <a:p/>
          <a:p>
            <a:r>
              <a:t>1. Review current coverage metrics and identify weak areas by file/class.</a:t>
            </a:r>
          </a:p>
          <a:p>
            <a:r>
              <a:t>2. Use Copilot prompts to generate targeted tests for uncovered code paths.</a:t>
            </a:r>
          </a:p>
          <a:p>
            <a:r>
              <a:t>3. Improve strategically with edge-case and integration-focused prompts.</a:t>
            </a:r>
          </a:p>
          <a:p>
            <a:r>
              <a:t>4. Validate test quality to ensure behavior is truly verified.</a:t>
            </a:r>
          </a:p>
          <a:p>
            <a:r>
              <a:t>5. Re-run coverage and compare before/after outcomes.</a:t>
            </a:r>
          </a:p>
          <a:p/>
          <a:p>
            <a:r>
              <a:t>### Success Criteria</a:t>
            </a:r>
          </a:p>
          <a:p/>
          <a:p>
            <a:r>
              <a:t>- Coverage increases by at least 20 percentage points.</a:t>
            </a:r>
          </a:p>
          <a:p>
            <a:r>
              <a:t>- New tests are meaningful and exercise actual implementation logic.</a:t>
            </a:r>
          </a:p>
          <a:p>
            <a:r>
              <a:t>- Edge cases and error conditions are covered.</a:t>
            </a:r>
          </a:p>
          <a:p>
            <a:r>
              <a:t>- Coverage reporting clearly shows improvement.</a:t>
            </a:r>
          </a:p>
          <a:p>
            <a:r>
              <a:t>- Participants can explain quality vs. quantity trade-offs.</a:t>
            </a:r>
          </a:p>
          <a:p/>
          <a:p>
            <a:r>
              <a:t>### Key Learning Point</a:t>
            </a:r>
          </a:p>
          <a:p/>
          <a:p>
            <a:r>
              <a:t>As discovered in the session, asking Copilot to "increase coverage to 50%" can work because it can intelligently identify which code paths need testing. This can be more efficient than manually finding every gap, but quality checks are still required.</a:t>
            </a:r>
          </a:p>
          <a:p/>
          <a:p>
            <a:r>
              <a:t>---</a:t>
            </a:r>
          </a:p>
          <a:p/>
          <a:p>
            <a:r>
              <a:t>Source: Slides\individual-slides\exercise-test-coverage-improvement.md</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**Duration:** 45-60 minutes</a:t>
            </a:r>
          </a:p>
          <a:p>
            <a:r>
              <a:t>**Prerequisites:** Understanding of TDD principles</a:t>
            </a:r>
          </a:p>
          <a:p/>
          <a:p>
            <a:r>
              <a:t>### Objectives</a:t>
            </a:r>
          </a:p>
          <a:p/>
          <a:p>
            <a:r>
              <a:t>- Practice TDD workflow with AI assistance</a:t>
            </a:r>
          </a:p>
          <a:p>
            <a:r>
              <a:t>- Write failing tests before implementation</a:t>
            </a:r>
          </a:p>
          <a:p>
            <a:r>
              <a:t>- Use tests to drive design decisions</a:t>
            </a:r>
          </a:p>
          <a:p>
            <a:r>
              <a:t>- Understand red-green-refactor cycle</a:t>
            </a:r>
          </a:p>
          <a:p/>
          <a:p>
            <a:r>
              <a:t>### Activities</a:t>
            </a:r>
          </a:p>
          <a:p/>
          <a:p>
            <a:r>
              <a:t>1. Select a small feature and define expected behavior.</a:t>
            </a:r>
          </a:p>
          <a:p>
            <a:r>
              <a:t>2. Ask Copilot for tests only, and confirm the implementation is still missing.</a:t>
            </a:r>
          </a:p>
          <a:p>
            <a:r>
              <a:t>3. Run tests and capture failures to validate the red phase.</a:t>
            </a:r>
          </a:p>
          <a:p>
            <a:r>
              <a:t>4. Implement the minimum code required to satisfy tests.</a:t>
            </a:r>
          </a:p>
          <a:p>
            <a:r>
              <a:t>5. Refactor for readability and maintainability while keeping tests green.</a:t>
            </a:r>
          </a:p>
          <a:p/>
          <a:p>
            <a:r>
              <a:t>### Success Criteria</a:t>
            </a:r>
          </a:p>
          <a:p/>
          <a:p>
            <a:r>
              <a:t>- Tests are authored before implementation code.</a:t>
            </a:r>
          </a:p>
          <a:p>
            <a:r>
              <a:t>- The first execution clearly fails (red).</a:t>
            </a:r>
          </a:p>
          <a:p>
            <a:r>
              <a:t>- Feature implementation makes tests pass (green).</a:t>
            </a:r>
          </a:p>
          <a:p>
            <a:r>
              <a:t>- Refactoring preserves passing tests.</a:t>
            </a:r>
          </a:p>
          <a:p>
            <a:r>
              <a:t>- Participants can explain the value of TDD in AI-assisted development.</a:t>
            </a:r>
          </a:p>
          <a:p/>
          <a:p>
            <a:r>
              <a:t>### TDD Cycle</a:t>
            </a:r>
          </a:p>
          <a:p/>
          <a:p>
            <a:r>
              <a:t>1. **Red:** Write a failing test.</a:t>
            </a:r>
          </a:p>
          <a:p>
            <a:r>
              <a:t>2. **Green:** Write minimal code to make it pass.</a:t>
            </a:r>
          </a:p>
          <a:p>
            <a:r>
              <a:t>3. **Refactor:** Improve code while keeping tests green.</a:t>
            </a:r>
          </a:p>
          <a:p/>
          <a:p>
            <a:r>
              <a:t>---</a:t>
            </a:r>
          </a:p>
          <a:p/>
          <a:p>
            <a:r>
              <a:t>Source: Slides\individual-slides\exercise-test-driven-development.md</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Introduce this module as a practical guide to using AI — specifically GitHub Copilot — to design, generate, and maintain CI/CD pipelines on GitHub Actions. Emphasize that the goal is not to automate humans out of the loop but to reduce the friction between "intent" and "working YAML". Many teams struggle to get a pipeline right on the first try; AI dramatically shortens that feedback cycle.</a:t>
            </a:r>
          </a:p>
          <a:p/>
          <a:p>
            <a:r>
              <a:t>---</a:t>
            </a:r>
          </a:p>
          <a:p/>
          <a:p>
            <a:r>
              <a:t>Source: Slides\individual-slides\ai-assisted-cicd-pipelines.md</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with empathy. Most developers have lost an afternoon to a mis-indented YAML block or an unexpected breaking change in a third-party action. These are not skill failures — they are complexity failures. AI closes the gap between "I know what I want" and "here is the correct YAML to achieve it."</a:t>
            </a:r>
          </a:p>
          <a:p/>
          <a:p>
            <a:r>
              <a:t>---</a:t>
            </a:r>
          </a:p>
          <a:p/>
          <a:p>
            <a:r>
              <a:t>Source: Slides\individual-slides\ai-assisted-cicd-pipelines.md</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the mental model: the developer provides intent, the AI provides syntactically correct, contextually appropriate YAML. This is not magic — the AI has seen thousands of pipelines. Stress that the developer still reviews and owns every line. AI accelerates the first draft and the debugging loop, not the decision-making.</a:t>
            </a:r>
          </a:p>
          <a:p/>
          <a:p>
            <a:r>
              <a:t>---</a:t>
            </a:r>
          </a:p>
          <a:p/>
          <a:p>
            <a:r>
              <a:t>Source: Slides\individual-slides\ai-assisted-cicd-pipelines.md</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demo opportunity: open a blank `.github/workflows/ci.yml` and type the prompt as a comment. Show how Copilot completes the file. Point out that the model understands dotnet CLI, the Coverlet report format, and the `codecov/codecov-action` convention. Then ask it to explain each step — students can use this to build mental models, not just cargo-cult YAML.</a:t>
            </a:r>
          </a:p>
          <a:p/>
          <a:p>
            <a:r>
              <a:t>---</a:t>
            </a:r>
          </a:p>
          <a:p/>
          <a:p>
            <a:r>
              <a:t>Source: Slides\individual-slides\ai-assisted-cicd-pipelines.md</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each section: triggers, runner, checkout, SDK setup, restore, build, test. Point out `actions/checkout@v4` — a pinned major version. Ask students: what happens if you omit the `--no-restore` flag on build? What if `ubuntu-latest` changes? These are exactly the questions AI can help answer in context. Normalize asking the AI "why is this step here?" as a learning technique.</a:t>
            </a:r>
          </a:p>
          <a:p/>
          <a:p>
            <a:r>
              <a:t>---</a:t>
            </a:r>
          </a:p>
          <a:p/>
          <a:p>
            <a:r>
              <a:t>Source: Slides\individual-slides\ai-assisted-cicd-pipelines.md</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Coverage thresholds are one of the most common sources of confusion: where does the threshold live? In the test runner config? In the upload action? In a separate tool? AI answers this correctly for the specific framework in use. Demo: ask Copilot the same question for Jest, pytest, and dotnet — show that the answer differs and the AI knows the difference. Emphasize that a threshold without enforcement is just aspirational documentation.</a:t>
            </a:r>
          </a:p>
          <a:p/>
          <a:p>
            <a:r>
              <a:t>---</a:t>
            </a:r>
          </a:p>
          <a:p/>
          <a:p>
            <a:r>
              <a:t>Source: Slides\individual-slides\ai-assisted-cicd-pipelines.md</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Matrix builds and caching are two patterns that dramatically improve pipeline performance but are tedious to hand-write. Show how asking Copilot "add a matrix build for Windows and Ubuntu across .NET 7 and 8" produces the correct strategy block. Ask it to explain the cache key hash — students often do not realize that changing a .csproj file correctly invalidates the cache. Artifact upload is another common gap; AI fills it without needing to hunt through documentation.</a:t>
            </a:r>
          </a:p>
          <a:p/>
          <a:p>
            <a:r>
              <a:t>---</a:t>
            </a:r>
          </a:p>
          <a:p/>
          <a:p>
            <a:r>
              <a:t>Source: Slides\individual-slides\ai-assisted-cicd-pipelines.md</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Maintenance is where AI pays long-term dividends. Demo: paste a failing workflow log into Copilot Chat and ask what is wrong. The model can identify common error patterns — missing permissions, wrong branch reference, deprecated node version warnings. Also show the refactoring use case: large workflows become hard to read; AI can extract shared steps into reusable workflows with `workflow_call` triggers without breaking existing runs.</a:t>
            </a:r>
          </a:p>
          <a:p/>
          <a:p>
            <a:r>
              <a:t>---</a:t>
            </a:r>
          </a:p>
          <a:p/>
          <a:p>
            <a:r>
              <a:t>Source: Slides\individual-slides\ai-assisted-cicd-pipelines.md</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Reusable workflows (`workflow_call`) are a powerful but often underused GitHub Actions feature. Teams that copy-paste CI logic across repos accumulate drift. AI can audit an existing set of workflows, identify duplicated patterns, and generate a reusable workflow plus updated callers in a single conversation. Show the prompt: "Here are our five workflow files. Extract the test steps into a reusable workflow and update each caller." This is a real time-saver in large organizations.</a:t>
            </a:r>
          </a:p>
          <a:p/>
          <a:p>
            <a:r>
              <a:t>---</a:t>
            </a:r>
          </a:p>
          <a:p/>
          <a:p>
            <a:r>
              <a:t>Source: Slides\individual-slides\ai-assisted-cicd-pipelines.md</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Stress that AI can suggest correct permission scopes but cannot see your repository's secret store or org policies. The developer must verify secret names and confirm that the minimum-privilege principle is applied. This is a great moment to discuss GITHUB_TOKEN permissions — defaulting to read-all is a common mistake that AI will flag if prompted. The key habit: ask AI "what permissions does this step need?" rather than granting write-all and moving on.</a:t>
            </a:r>
          </a:p>
          <a:p/>
          <a:p>
            <a:r>
              <a:t>---</a:t>
            </a:r>
          </a:p>
          <a:p/>
          <a:p>
            <a:r>
              <a:t>Source: Slides\individual-slides\ai-assisted-cicd-pipelines.md</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this five-step workflow live or in a recorded demo. The goal is to show the conversation as a dialogue, not a one-shot prompt. Each ask builds on the previous output. Encourage students to try this with their own stack immediately after the session. The pipeline does not need to be perfect on step 2 — that is the point. Iteration with AI is fast.</a:t>
            </a:r>
          </a:p>
          <a:p/>
          <a:p>
            <a:r>
              <a:t>---</a:t>
            </a:r>
          </a:p>
          <a:p/>
          <a:p>
            <a:r>
              <a:t>Source: Slides\individual-slides\ai-assisted-cicd-pipelines.md</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Allow 15–20 minutes. Circulate and watch for students who try to use Copilot as a black box without reading the output. Prompt them: "Can you explain line 12 to me?" That question forces engagement. Common issues: students forget to create the `.github/workflows/` directory, or they use the wrong indentation. AI usually catches these if students paste the file back and ask "is this correct YAML?" Debrief: what surprised you? What did the AI get wrong?</a:t>
            </a:r>
          </a:p>
          <a:p/>
          <a:p>
            <a:r>
              <a:t>---</a:t>
            </a:r>
          </a:p>
          <a:p/>
          <a:p>
            <a:r>
              <a:t>Source: Slides\individual-slides\ai-assisted-cicd-pipelines.md</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by reinforcing ownership. Students may be tempted to treat AI-generated pipelines as authoritative. Remind them that the AI has no knowledge of their org's compliance requirements, runner quotas, or secret naming conventions. The value is in speed and correctness of syntax — the developer still provides judgment. Leave time for questions; common ones are about self-hosted runners, environments and approval gates, and how to handle monorepos.</a:t>
            </a:r>
          </a:p>
          <a:p/>
          <a:p>
            <a:r>
              <a:t>---</a:t>
            </a:r>
          </a:p>
          <a:p/>
          <a:p>
            <a:r>
              <a:t>Source: Slides\individual-slides\ai-assisted-cicd-pipelines.md</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to this session on using AI to improve the pull request workflow. GitHub Copilot and related AI tools can dramatically reduce the friction of creating, reviewing, and merging pull requests.</a:t>
            </a:r>
          </a:p>
          <a:p/>
          <a:p>
            <a:r>
              <a:t>**Timing**: 1 minute for title slide</a:t>
            </a:r>
          </a:p>
          <a:p/>
          <a:p>
            <a:r>
              <a:t>**Key Points**:</a:t>
            </a:r>
          </a:p>
          <a:p/>
          <a:p>
            <a:r>
              <a:t>- PRs are a critical communication artifact in software development</a:t>
            </a:r>
          </a:p>
          <a:p>
            <a:r>
              <a:t>- AI can help at every stage: drafting, describing, reviewing, and summarizing</a:t>
            </a:r>
          </a:p>
          <a:p>
            <a:r>
              <a:t>- The goal is not to replace human judgment but to reduce toil</a:t>
            </a:r>
          </a:p>
          <a:p/>
          <a:p>
            <a:r>
              <a:t>**Delivery**: Open by asking the audience how much time they spend writing PR descriptions or waiting for code review. Frame AI assistance as a way to reclaim that time.</a:t>
            </a:r>
          </a:p>
          <a:p/>
          <a:p>
            <a:r>
              <a:t>**Transition**: "Let's look at where AI fits in the pull request lifecycle."</a:t>
            </a:r>
          </a:p>
          <a:p/>
          <a:p>
            <a:r>
              <a:t>---</a:t>
            </a:r>
          </a:p>
          <a:p/>
          <a:p>
            <a:r>
              <a:t>Source: Slides\individual-slides\ai-assisted-github-pull-requests.md</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p>
            <a:r>
              <a:t>**Key Points**:</a:t>
            </a:r>
          </a:p>
          <a:p/>
          <a:p>
            <a:r>
              <a:t>1. The PR lifecycle is a feedback loop, not a one-way street</a:t>
            </a:r>
          </a:p>
          <a:p>
            <a:r>
              <a:t>2. Most developers focus on the code-writing stage but spend significant time on communication tasks</a:t>
            </a:r>
          </a:p>
          <a:p>
            <a:r>
              <a:t>3. AI assistance compresses the non-coding parts of the cycle</a:t>
            </a:r>
          </a:p>
          <a:p/>
          <a:p>
            <a:r>
              <a:t>**Examples to Share**:</a:t>
            </a:r>
          </a:p>
          <a:p/>
          <a:p>
            <a:r>
              <a:t>- A developer who writes great code but struggles with clear PR descriptions benefits from AI drafting</a:t>
            </a:r>
          </a:p>
          <a:p>
            <a:r>
              <a:t>- A reviewer who is overwhelmed with large PRs benefits from AI summaries</a:t>
            </a:r>
          </a:p>
          <a:p/>
          <a:p>
            <a:r>
              <a:t>**Audience Interaction**: "Which stage do you find most time-consuming or frustrating?"</a:t>
            </a:r>
          </a:p>
          <a:p/>
          <a:p>
            <a:r>
              <a:t>**Transition**: "Let's start with where most of the AI value is—creating the PR itself."</a:t>
            </a:r>
          </a:p>
          <a:p/>
          <a:p>
            <a:r>
              <a:t>---</a:t>
            </a:r>
          </a:p>
          <a:p/>
          <a:p>
            <a:r>
              <a:t>Source: Slides\individual-slides\ai-assisted-github-pull-requests.md</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a:t>
            </a:r>
          </a:p>
          <a:p/>
          <a:p>
            <a:r>
              <a:t>**Key Points**:</a:t>
            </a:r>
          </a:p>
          <a:p/>
          <a:p>
            <a:r>
              <a:t>1. Copilot analyzes the diff and generates a structured description automatically</a:t>
            </a:r>
          </a:p>
          <a:p>
            <a:r>
              <a:t>2. Good PR descriptions save reviewers time and reduce back-and-forth questions</a:t>
            </a:r>
          </a:p>
          <a:p>
            <a:r>
              <a:t>3. The AI draft is a starting point—always review and personalize it</a:t>
            </a:r>
          </a:p>
          <a:p/>
          <a:p>
            <a:r>
              <a:t>**Demo Tip**: If demoing live, show `gh pr create` in the terminal and trigger Copilot suggestions in the description field.</a:t>
            </a:r>
          </a:p>
          <a:p/>
          <a:p>
            <a:r>
              <a:t>**Common Pitfall**: AI descriptions can be verbose. Encourage developers to trim and focus on the "why" rather than just the "what."</a:t>
            </a:r>
          </a:p>
          <a:p/>
          <a:p>
            <a:r>
              <a:t>**Audience Interaction**: "How many of you write a detailed PR description every time? How many leave it mostly empty?"</a:t>
            </a:r>
          </a:p>
          <a:p/>
          <a:p>
            <a:r>
              <a:t>**Transition**: "Once the PR is open, AI continues to help on the review side."</a:t>
            </a:r>
          </a:p>
          <a:p/>
          <a:p>
            <a:r>
              <a:t>---</a:t>
            </a:r>
          </a:p>
          <a:p/>
          <a:p>
            <a:r>
              <a:t>Source: Slides\individual-slides\ai-assisted-github-pull-requests.md</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a:t>
            </a:r>
          </a:p>
          <a:p/>
          <a:p>
            <a:r>
              <a:t>**Key Points**:</a:t>
            </a:r>
          </a:p>
          <a:p/>
          <a:p>
            <a:r>
              <a:t>1. AI output quality is proportional to the context you provide</a:t>
            </a:r>
          </a:p>
          <a:p>
            <a:r>
              <a:t>2. Referencing the issue number or user story helps Copilot add business context</a:t>
            </a:r>
          </a:p>
          <a:p>
            <a:r>
              <a:t>3. Structuring the prompt mirrors the structure you want in the output</a:t>
            </a:r>
          </a:p>
          <a:p/>
          <a:p>
            <a:r>
              <a:t>**Template to Share**:</a:t>
            </a:r>
          </a:p>
          <a:p>
            <a:r>
              <a:t>Show the three-section template on screen. Encourage teams to add this as a PR template in `.github/pull_request_template.md` so Copilot has a consistent structure to fill.</a:t>
            </a:r>
          </a:p>
          <a:p/>
          <a:p>
            <a:r>
              <a:t>**Pro Tip**: Commit messages also feed into the PR description. Good commit messages mean better AI-generated PRs.</a:t>
            </a:r>
          </a:p>
          <a:p/>
          <a:p>
            <a:r>
              <a:t>**Transition**: "Let's look at how AI helps on the review side of the process."</a:t>
            </a:r>
          </a:p>
          <a:p/>
          <a:p>
            <a:r>
              <a:t>---</a:t>
            </a:r>
          </a:p>
          <a:p/>
          <a:p>
            <a:r>
              <a:t>Source: Slides\individual-slides\ai-assisted-github-pull-requests.md</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a:t>
            </a:r>
          </a:p>
          <a:p/>
          <a:p>
            <a:r>
              <a:t>**Key Points**:</a:t>
            </a:r>
          </a:p>
          <a:p/>
          <a:p>
            <a:r>
              <a:t>1. AI doesn't replace human reviewers—it reduces the cognitive load so reviewers can focus on design and logic</a:t>
            </a:r>
          </a:p>
          <a:p>
            <a:r>
              <a:t>2. Copilot Chat in the PR view lets reviewers ask questions like "What does this function do?" without leaving the review</a:t>
            </a:r>
          </a:p>
          <a:p>
            <a:r>
              <a:t>3. Security scanning tools (GitHub Advanced Security + Copilot Autofix) can suggest fixes for flagged issues</a:t>
            </a:r>
          </a:p>
          <a:p/>
          <a:p>
            <a:r>
              <a:t>**Examples to Share**:</a:t>
            </a:r>
          </a:p>
          <a:p/>
          <a:p>
            <a:r>
              <a:t>- Reviewer asks: "Is there a simpler way to write this?" → Copilot suggests a refactored version</a:t>
            </a:r>
          </a:p>
          <a:p>
            <a:r>
              <a:t>- Reviewer asks: "Does this handle null input?" → Copilot analyzes and flags a potential null reference</a:t>
            </a:r>
          </a:p>
          <a:p/>
          <a:p>
            <a:r>
              <a:t>**Audience Interaction**: "Have you used Copilot Chat during a code review? What kinds of questions did you ask?"</a:t>
            </a:r>
          </a:p>
          <a:p/>
          <a:p>
            <a:r>
              <a:t>**Transition**: "Beyond individual comments, AI can also summarize entire PRs."</a:t>
            </a:r>
          </a:p>
          <a:p/>
          <a:p>
            <a:r>
              <a:t>---</a:t>
            </a:r>
          </a:p>
          <a:p/>
          <a:p>
            <a:r>
              <a:t>Source: Slides\individual-slides\ai-assisted-github-pull-requests.md</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p>
            <a:r>
              <a:t>**Key Points**:</a:t>
            </a:r>
          </a:p>
          <a:p/>
          <a:p>
            <a:r>
              <a:t>1. This feature is particularly valuable for large PRs with many files changed</a:t>
            </a:r>
          </a:p>
          <a:p>
            <a:r>
              <a:t>2. Summaries help async teams where reviewers may not have full context</a:t>
            </a:r>
          </a:p>
          <a:p>
            <a:r>
              <a:t>3. The summary can be copied directly into release notes or changelogs</a:t>
            </a:r>
          </a:p>
          <a:p/>
          <a:p>
            <a:r>
              <a:t>**Demo Tip**: Show the Copilot summary button on GitHub.com if doing a live demo. Highlight how it categorizes changes.</a:t>
            </a:r>
          </a:p>
          <a:p/>
          <a:p>
            <a:r>
              <a:t>**Pro Tip**: Teams can require a Copilot summary as part of their PR checklist to ensure all PRs are self-documenting.</a:t>
            </a:r>
          </a:p>
          <a:p/>
          <a:p>
            <a:r>
              <a:t>**Transition**: "Now let's look at how Copilot helps you respond to review feedback."</a:t>
            </a:r>
          </a:p>
          <a:p/>
          <a:p>
            <a:r>
              <a:t>---</a:t>
            </a:r>
          </a:p>
          <a:p/>
          <a:p>
            <a:r>
              <a:t>Source: Slides\individual-slides\ai-assisted-github-pull-requests.md</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a:t>
            </a:r>
          </a:p>
          <a:p/>
          <a:p>
            <a:r>
              <a:t>**Key Points**:</a:t>
            </a:r>
          </a:p>
          <a:p/>
          <a:p>
            <a:r>
              <a:t>1. The most time-consuming part of PR iteration is addressing multiple review comments</a:t>
            </a:r>
          </a:p>
          <a:p>
            <a:r>
              <a:t>2. Copilot can read a review comment and suggest the corresponding code change</a:t>
            </a:r>
          </a:p>
          <a:p>
            <a:r>
              <a:t>3. Autofix is especially powerful for security alerts—it not only flags the issue but provides the patched code</a:t>
            </a:r>
          </a:p>
          <a:p/>
          <a:p>
            <a:r>
              <a:t>**Workflow to Describe**:</a:t>
            </a:r>
          </a:p>
          <a:p/>
          <a:p>
            <a:r>
              <a:t>1. Reviewer leaves a comment: "This should use a parameterized query"</a:t>
            </a:r>
          </a:p>
          <a:p>
            <a:r>
              <a:t>2. Developer clicks Copilot suggestion next to the comment</a:t>
            </a:r>
          </a:p>
          <a:p>
            <a:r>
              <a:t>3. Copilot generates the parameterized version</a:t>
            </a:r>
          </a:p>
          <a:p>
            <a:r>
              <a:t>4. Developer reviews and commits</a:t>
            </a:r>
          </a:p>
          <a:p/>
          <a:p>
            <a:r>
              <a:t>**Audience Interaction**: "How many review cycles does a typical PR go through on your team? Could AI reduce that?"</a:t>
            </a:r>
          </a:p>
          <a:p/>
          <a:p>
            <a:r>
              <a:t>**Transition**: "Let's talk about automating the checks that run on every PR."</a:t>
            </a:r>
          </a:p>
          <a:p/>
          <a:p>
            <a:r>
              <a:t>---</a:t>
            </a:r>
          </a:p>
          <a:p/>
          <a:p>
            <a:r>
              <a:t>Source: Slides\individual-slides\ai-assisted-github-pull-requests.md</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a:t>
            </a:r>
          </a:p>
          <a:p/>
          <a:p>
            <a:r>
              <a:t>**Key Points**:</a:t>
            </a:r>
          </a:p>
          <a:p/>
          <a:p>
            <a:r>
              <a:t>1. Automating AI checks ensures consistency—every PR gets the same baseline review</a:t>
            </a:r>
          </a:p>
          <a:p>
            <a:r>
              <a:t>2. This is not a replacement for human review but a first pass that catches common issues</a:t>
            </a:r>
          </a:p>
          <a:p>
            <a:r>
              <a:t>3. Teams can configure severity thresholds to control which findings block merges</a:t>
            </a:r>
          </a:p>
          <a:p/>
          <a:p>
            <a:r>
              <a:t>**Architecture Note**: These actions run in GitHub Actions and post results as PR check statuses, integrating with existing branch protection rules.</a:t>
            </a:r>
          </a:p>
          <a:p/>
          <a:p>
            <a:r>
              <a:t>**Pro Tip**: Combine AI code review with conventional linting and testing so developers get a single, unified set of feedback.</a:t>
            </a:r>
          </a:p>
          <a:p/>
          <a:p>
            <a:r>
              <a:t>**Caution**: Avoid too many automated checks that create noise. Focus on high-signal rules.</a:t>
            </a:r>
          </a:p>
          <a:p/>
          <a:p>
            <a:r>
              <a:t>**Transition**: "Let's look at some real-world patterns teams are using today."</a:t>
            </a:r>
          </a:p>
          <a:p/>
          <a:p>
            <a:r>
              <a:t>---</a:t>
            </a:r>
          </a:p>
          <a:p/>
          <a:p>
            <a:r>
              <a:t>Source: Slides\individual-slides\ai-assisted-github-pull-requests.md</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p>
            <a:r>
              <a:t>**Key Points**:</a:t>
            </a:r>
          </a:p>
          <a:p/>
          <a:p>
            <a:r>
              <a:t>1. The biggest gains are in communication overhead, not code writing speed</a:t>
            </a:r>
          </a:p>
          <a:p>
            <a:r>
              <a:t>2. New team members benefit most because AI helps them match team standards faster</a:t>
            </a:r>
          </a:p>
          <a:p>
            <a:r>
              <a:t>3. Reviewers focus on what matters—architecture, correctness, maintainability—when AI handles style and common issues</a:t>
            </a:r>
          </a:p>
          <a:p/>
          <a:p>
            <a:r>
              <a:t>**Story to Share**: A team at a large enterprise reduced PR cycle time from 3 days to less than 1 day by combining AI-generated descriptions, automated checks, and Copilot Autofix. The change was primarily in the communication and iteration loop, not the code itself.</a:t>
            </a:r>
          </a:p>
          <a:p/>
          <a:p>
            <a:r>
              <a:t>**Transition**: "Before we wrap up, let's talk about best practices."</a:t>
            </a:r>
          </a:p>
          <a:p/>
          <a:p>
            <a:r>
              <a:t>---</a:t>
            </a:r>
          </a:p>
          <a:p/>
          <a:p>
            <a:r>
              <a:t>Source: Slides\individual-slides\ai-assisted-github-pull-requests.md</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a:t>
            </a:r>
          </a:p>
          <a:p/>
          <a:p>
            <a:r>
              <a:t>**Key Points**:</a:t>
            </a:r>
          </a:p>
          <a:p/>
          <a:p>
            <a:r>
              <a:t>1. AI is a collaborator, not an autopilot. Human oversight remains essential.</a:t>
            </a:r>
          </a:p>
          <a:p>
            <a:r>
              <a:t>2. The PR template acts as a contract between the author and the AI—providing structure improves output quality</a:t>
            </a:r>
          </a:p>
          <a:p>
            <a:r>
              <a:t>3. Alert fatigue is real. Configure automated checks to surface only actionable findings.</a:t>
            </a:r>
          </a:p>
          <a:p/>
          <a:p>
            <a:r>
              <a:t>**Common Mistakes**:</a:t>
            </a:r>
          </a:p>
          <a:p/>
          <a:p>
            <a:r>
              <a:t>- Teams that enable every available check end up ignoring them all</a:t>
            </a:r>
          </a:p>
          <a:p>
            <a:r>
              <a:t>- Developers who merge AI descriptions verbatim lose the "why" context that only they know</a:t>
            </a:r>
          </a:p>
          <a:p>
            <a:r>
              <a:t>- Over-reliance on AI review can erode human review skills over time</a:t>
            </a:r>
          </a:p>
          <a:p/>
          <a:p>
            <a:r>
              <a:t>**Audience Interaction**: "What guardrails does your team have around AI-generated content in PRs?"</a:t>
            </a:r>
          </a:p>
          <a:p/>
          <a:p>
            <a:r>
              <a:t>**Transition**: "Let's summarize what we covered and talk about next steps."</a:t>
            </a:r>
          </a:p>
          <a:p/>
          <a:p>
            <a:r>
              <a:t>---</a:t>
            </a:r>
          </a:p>
          <a:p/>
          <a:p>
            <a:r>
              <a:t>Source: Slides\individual-slides\ai-assisted-github-pull-requests.md</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p>
            <a:r>
              <a:t>**Key Points**:</a:t>
            </a:r>
          </a:p>
          <a:p/>
          <a:p>
            <a:r>
              <a:t>1. Gradual adoption works better than a big-bang rollout</a:t>
            </a:r>
          </a:p>
          <a:p>
            <a:r>
              <a:t>2. Starting with PR descriptions has no risk and immediate value</a:t>
            </a:r>
          </a:p>
          <a:p>
            <a:r>
              <a:t>3. As teams build confidence, they can layer in automated checks</a:t>
            </a:r>
          </a:p>
          <a:p/>
          <a:p>
            <a:r>
              <a:t>**Call to Action**: Encourage each attendee to write their next PR description with Copilot's help and note the difference.</a:t>
            </a:r>
          </a:p>
          <a:p/>
          <a:p>
            <a:r>
              <a:t>**Resources**: Point to the GitHub Copilot docs and the gh CLI documentation for hands-on exploration.</a:t>
            </a:r>
          </a:p>
          <a:p/>
          <a:p>
            <a:r>
              <a:t>**Transition**: "Let's open it up for questions."</a:t>
            </a:r>
          </a:p>
          <a:p/>
          <a:p>
            <a:r>
              <a:t>---</a:t>
            </a:r>
          </a:p>
          <a:p/>
          <a:p>
            <a:r>
              <a:t>Source: Slides\individual-slides\ai-assisted-github-pull-requests.md</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p>
            <a:r>
              <a:t>**Key Points**:</a:t>
            </a:r>
          </a:p>
          <a:p/>
          <a:p>
            <a:r>
              <a:t>1. The table reinforces the before/after contrast—anchor the value proposition</a:t>
            </a:r>
          </a:p>
          <a:p>
            <a:r>
              <a:t>2. The key insight: PRs shift from a documentation burden to a collaborative artifact</a:t>
            </a:r>
          </a:p>
          <a:p>
            <a:r>
              <a:t>3. The human role shifts from doing all the communication work to reviewing and approving AI-assisted communication</a:t>
            </a:r>
          </a:p>
          <a:p/>
          <a:p>
            <a:r>
              <a:t>**Closing Message**: AI doesn't change what a good PR looks like—it reduces the effort required to create one. The standards, the review culture, and the human judgment remain essential.</a:t>
            </a:r>
          </a:p>
          <a:p/>
          <a:p>
            <a:r>
              <a:t>**Final Question for Audience**: "What's one part of your PR workflow you'd like AI to help with first?"</a:t>
            </a:r>
          </a:p>
          <a:p/>
          <a:p>
            <a:r>
              <a:t>**Thank the audience and open for Q&amp;A.**</a:t>
            </a:r>
          </a:p>
          <a:p/>
          <a:p>
            <a:r>
              <a:t>---</a:t>
            </a:r>
          </a:p>
          <a:p/>
          <a:p>
            <a:r>
              <a:t>Source: Slides\individual-slides\ai-assisted-github-pull-requests.md</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Introduce this module as a way to help teams understand how different AI models behave when given the same task. Emphasize that multi‑model comparison is a powerful guardrail: it reduces hallucinations, improves quality, and helps teams choose the right model for the right job.</a:t>
            </a:r>
          </a:p>
          <a:p/>
          <a:p>
            <a:r>
              <a:t>---</a:t>
            </a:r>
          </a:p>
          <a:p/>
          <a:p>
            <a:r>
              <a:t>Source: Slides\individual-slides\multi‑model-implementation-comparison.md</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no single model is perfect. Using multiple models gives teams a broader perspective and helps catch errors or blind spots that one model alone might miss.</a:t>
            </a:r>
          </a:p>
          <a:p/>
          <a:p>
            <a:r>
              <a:t>---</a:t>
            </a:r>
          </a:p>
          <a:p/>
          <a:p>
            <a:r>
              <a:t>Source: Slides\individual-slides\multi‑model-implementation-comparison.md</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Encourage participants to treat model outputs like multiple drafts from different engineers. The goal is not to pick a winner — it’s to synthesize the best ideas.</a:t>
            </a:r>
          </a:p>
          <a:p/>
          <a:p>
            <a:r>
              <a:t>---</a:t>
            </a:r>
          </a:p>
          <a:p/>
          <a:p>
            <a:r>
              <a:t>Source: Slides\individual-slides\multi‑model-implementation-comparison.md</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Reinforce that risk assessment is essential in brownfield systems. Even if a model produces elegant code, it may be too risky without proper guardrails.</a:t>
            </a:r>
          </a:p>
          <a:p/>
          <a:p>
            <a:r>
              <a:t>---</a:t>
            </a:r>
          </a:p>
          <a:p/>
          <a:p>
            <a:r>
              <a:t>Source: Slides\individual-slides\multi‑model-implementation-comparison.md</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synthesis is the real power of multi‑model workflows. Teams can build a composite solution that is better than any single model’s output.</a:t>
            </a:r>
          </a:p>
          <a:p/>
          <a:p>
            <a:r>
              <a:t>---</a:t>
            </a:r>
          </a:p>
          <a:p/>
          <a:p>
            <a:r>
              <a:t>Source: Slides\individual-slides\multi‑model-implementation-comparison.md</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Encourage participants to think like reviewers comparing multiple PRs. The goal is to understand model behavior, not to pick a favorite.</a:t>
            </a:r>
          </a:p>
          <a:p/>
          <a:p>
            <a:r>
              <a:t>---</a:t>
            </a:r>
          </a:p>
          <a:p/>
          <a:p>
            <a:r>
              <a:t>Source: Slides\individual-slides\multi‑model-implementation-comparison.md</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exercise helps participants see how different models interpret the same instructions — a key skill for multi‑model workflows.</a:t>
            </a:r>
          </a:p>
          <a:p/>
          <a:p>
            <a:r>
              <a:t>---</a:t>
            </a:r>
          </a:p>
          <a:p/>
          <a:p>
            <a:r>
              <a:t>Source: Slides\individual-slides\multi‑model-implementation-comparison.md</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exercise builds confidence in orchestrating multiple models as collaborators. The goal is synthesis, not competition.</a:t>
            </a:r>
          </a:p>
          <a:p/>
          <a:p>
            <a:r>
              <a:t>---</a:t>
            </a:r>
          </a:p>
          <a:p/>
          <a:p>
            <a:r>
              <a:t>Source: Slides\individual-slides\multi‑model-implementation-comparison.md</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Introduce Evergreen Software Development as a philosophy for building systems that can evolve indefinitely without degrading. This is crucial for AI-assisted development.</a:t>
            </a:r>
          </a:p>
          <a:p/>
          <a:p>
            <a:r>
              <a:t>Explain each principle:</a:t>
            </a:r>
          </a:p>
          <a:p/>
          <a:p>
            <a:r>
              <a:t>1. Intent-First Design: Document WHY before WHAT. AI can regenerate code but needs clear intent.</a:t>
            </a:r>
          </a:p>
          <a:p>
            <a:r>
              <a:t>2. Stable Interfaces: Public contracts stay stable while implementations improve continuously.</a:t>
            </a:r>
          </a:p>
          <a:p>
            <a:r>
              <a:t>3. Continuous Regeneration: AI can safely rewrite components when guardrails (tests, specs) exist.</a:t>
            </a:r>
          </a:p>
          <a:p>
            <a:r>
              <a:t>4. Modular Components: Any piece can be regenerated without breaking the system.</a:t>
            </a:r>
          </a:p>
          <a:p>
            <a:r>
              <a:t>5. Lifecycle Governance: Quality maintained through automation and human oversight.</a:t>
            </a:r>
          </a:p>
          <a:p/>
          <a:p>
            <a:r>
              <a:t>Key insight: Traditional software rots over time. Evergreen software is designed to be continuously regenerated and improved.</a:t>
            </a:r>
          </a:p>
          <a:p/>
          <a:p>
            <a:r>
              <a:t>Timing: 4-5 minutes.</a:t>
            </a:r>
          </a:p>
          <a:p>
            <a:r>
              <a:t>Transition: "Let's see why software fails to be evergreen..."</a:t>
            </a:r>
          </a:p>
          <a:p/>
          <a:p>
            <a:r>
              <a:t>---</a:t>
            </a:r>
          </a:p>
          <a:p/>
          <a:p>
            <a:r>
              <a:t>Source: Slides\individual-slides\evergreen-software-core-principles.md</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the common anti-patterns that prevent software from being evergreen. These are the enemies of long-term maintainability.</a:t>
            </a:r>
          </a:p>
          <a:p/>
          <a:p>
            <a:r>
              <a:t>1. Intent Rot: Documentation becomes outdated or nonexistent. AI can't regenerate code when it doesn't know the purpose.</a:t>
            </a:r>
          </a:p>
          <a:p>
            <a:r>
              <a:t>2. Unstable Interfaces: Breaking changes cascade through the system. AI regeneration requires stable contracts.</a:t>
            </a:r>
          </a:p>
          <a:p>
            <a:r>
              <a:t>3. Tight Coupling: Changes in one component break others. AI can't safely regenerate tightly coupled code.</a:t>
            </a:r>
          </a:p>
          <a:p>
            <a:r>
              <a:t>4. Insufficient Guardrails: Without tests and specs, AI-generated code can't be validated.</a:t>
            </a:r>
          </a:p>
          <a:p>
            <a:r>
              <a:t>5. Drift: Ad-hoc fixes create divergence from the design. The system becomes unpredictable.</a:t>
            </a:r>
          </a:p>
          <a:p/>
          <a:p>
            <a:r>
              <a:t>Real-world examples:</a:t>
            </a:r>
          </a:p>
          <a:p/>
          <a:p>
            <a:r>
              <a:t>- Legacy system with no documentation (intent rot)</a:t>
            </a:r>
          </a:p>
          <a:p>
            <a:r>
              <a:t>- Microservices with frequently changing APIs (unstable interfaces)</a:t>
            </a:r>
          </a:p>
          <a:p>
            <a:r>
              <a:t>- Monolith with circular dependencies (tight coupling)</a:t>
            </a:r>
          </a:p>
          <a:p/>
          <a:p>
            <a:r>
              <a:t>Timing: 4-5 minutes.</a:t>
            </a:r>
          </a:p>
          <a:p>
            <a:r>
              <a:t>Transition: "Let's see how to avoid these pitfalls..."</a:t>
            </a:r>
          </a:p>
          <a:p/>
          <a:p>
            <a:r>
              <a:t>---</a:t>
            </a:r>
          </a:p>
          <a:p/>
          <a:p>
            <a:r>
              <a:t>Source: Slides\individual-slides\evergreen-software-core-principles.md</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Auto-generated course navigation slide showing all modules with current section highlighted</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Auto-generated section header slide to announce the section</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Auto-generated section agenda slide listing slide titles from manifest</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Introduce this module as the foundation for safe, predictable AI‑assisted development.</a:t>
            </a:r>
          </a:p>
          <a:p/>
          <a:p>
            <a:r>
              <a:t>Guardrails ensure that AI output is intentional, reviewable, and aligned with architectural and organizational standards.</a:t>
            </a:r>
          </a:p>
          <a:p/>
          <a:p>
            <a:r>
              <a:t>These practices turn AI from a novelty into a disciplined engineering tool.</a:t>
            </a:r>
          </a:p>
          <a:p/>
          <a:p>
            <a:r>
              <a:t>---</a:t>
            </a:r>
          </a:p>
          <a:p/>
          <a:p>
            <a:r>
              <a:t>Source: Slides\individual-slides\adding-ai-guardrails.md</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Clarify the distinctions: instructions are stable, prompts are ephemeral, and Agents define how the model behaves in a particular role.</a:t>
            </a:r>
          </a:p>
          <a:p/>
          <a:p>
            <a:r>
              <a:t>Together, they form a layered control system that shapes AI behavior and reduces drift.</a:t>
            </a:r>
          </a:p>
          <a:p/>
          <a:p>
            <a:r>
              <a:t>---</a:t>
            </a:r>
          </a:p>
          <a:p/>
          <a:p>
            <a:r>
              <a:t>Source: Slides\individual-slides\adding-ai-guardrails.md</a:t>
            </a:r>
          </a:p>
        </p:txBody>
      </p:sp>
      <p:sp>
        <p:nvSpPr>
          <p:cNvPr id="4" name="Slide Number Placeholder 3"/>
          <p:cNvSpPr>
            <a:spLocks noGrp="1"/>
          </p:cNvSpPr>
          <p:nvPr>
            <p:ph type="sldNum" idx="5" sz="quarter"/>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storing these artifacts as files allows teams to version them, review them, and reuse them.</a:t>
            </a:r>
          </a:p>
          <a:p/>
          <a:p>
            <a:r>
              <a:t>This is essential for brownfield modernization, where consistency and traceability matter.</a:t>
            </a:r>
          </a:p>
          <a:p/>
          <a:p>
            <a:r>
              <a:t>---</a:t>
            </a:r>
          </a:p>
          <a:p/>
          <a:p>
            <a:r>
              <a:t>Source: Slides\individual-slides\adding-ai-guardrails.md</a:t>
            </a:r>
          </a:p>
        </p:txBody>
      </p:sp>
      <p:sp>
        <p:nvSpPr>
          <p:cNvPr id="4" name="Slide Number Placeholder 3"/>
          <p:cNvSpPr>
            <a:spLocks noGrp="1"/>
          </p:cNvSpPr>
          <p:nvPr>
            <p:ph type="sldNum" idx="5" sz="quarter"/>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Meta prompts are prompts about prompts.</a:t>
            </a:r>
          </a:p>
          <a:p/>
          <a:p>
            <a:r>
              <a:t>They let the AI generate structured artifacts on demand.</a:t>
            </a:r>
          </a:p>
          <a:p/>
          <a:p>
            <a:r>
              <a:t>This reduces manual effort and ensures that all artifacts follow a consistent pattern.</a:t>
            </a:r>
          </a:p>
          <a:p/>
          <a:p>
            <a:r>
              <a:t>---</a:t>
            </a:r>
          </a:p>
          <a:p/>
          <a:p>
            <a:r>
              <a:t>Source: Slides\individual-slides\adding-ai-guardrails.md</a:t>
            </a:r>
          </a:p>
        </p:txBody>
      </p:sp>
      <p:sp>
        <p:nvSpPr>
          <p:cNvPr id="4" name="Slide Number Placeholder 3"/>
          <p:cNvSpPr>
            <a:spLocks noGrp="1"/>
          </p:cNvSpPr>
          <p:nvPr>
            <p:ph type="sldNum" idx="5" sz="quarter"/>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When asking AI to generate an artifact, be explicit about structure and constraints.</a:t>
            </a:r>
          </a:p>
          <a:p/>
          <a:p>
            <a:r>
              <a:t>This prevents drift and ensures the output is usable without heavy editing.</a:t>
            </a:r>
          </a:p>
          <a:p/>
          <a:p>
            <a:r>
              <a:t>---</a:t>
            </a:r>
          </a:p>
          <a:p/>
          <a:p>
            <a:r>
              <a:t>Source: Slides\individual-slides\adding-ai-guardrails.md</a:t>
            </a:r>
          </a:p>
        </p:txBody>
      </p:sp>
      <p:sp>
        <p:nvSpPr>
          <p:cNvPr id="4" name="Slide Number Placeholder 3"/>
          <p:cNvSpPr>
            <a:spLocks noGrp="1"/>
          </p:cNvSpPr>
          <p:nvPr>
            <p:ph type="sldNum" idx="5" sz="quarter"/>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Provenance is essential for conformance, auditability, and long‑term maintainability.</a:t>
            </a:r>
          </a:p>
          <a:p/>
          <a:p>
            <a:r>
              <a:t>It ensures teams know which artifacts were AI‑generated, which were human‑generated, and which were hybrid.</a:t>
            </a:r>
          </a:p>
          <a:p/>
          <a:p>
            <a:r>
              <a:t>---</a:t>
            </a:r>
          </a:p>
          <a:p/>
          <a:p>
            <a:r>
              <a:t>Source: Slides\individual-slides\adding-ai-guardrails.md</a:t>
            </a:r>
          </a:p>
        </p:txBody>
      </p:sp>
      <p:sp>
        <p:nvSpPr>
          <p:cNvPr id="4" name="Slide Number Placeholder 3"/>
          <p:cNvSpPr>
            <a:spLocks noGrp="1"/>
          </p:cNvSpPr>
          <p:nvPr>
            <p:ph type="sldNum" idx="5" sz="quarter"/>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exercise reinforces the importance of maintaining consistent AI-assisted output policies across repositories. By copying the instructions file, participants learn to manage compliance and provenance requirements for AI-generated artifacts. Ensure the copied file is identical and properly placed to support future AI work.</a:t>
            </a:r>
          </a:p>
          <a:p/>
          <a:p>
            <a:r>
              <a:t>---</a:t>
            </a:r>
          </a:p>
          <a:p/>
          <a:p>
            <a:r>
              <a:t>Source: Slides\individual-slides\adding-ai-guardrails.md</a:t>
            </a:r>
          </a:p>
        </p:txBody>
      </p:sp>
      <p:sp>
        <p:nvSpPr>
          <p:cNvPr id="4" name="Slide Number Placeholder 3"/>
          <p:cNvSpPr>
            <a:spLocks noGrp="1"/>
          </p:cNvSpPr>
          <p:nvPr>
            <p:ph type="sldNum" idx="5" sz="quarter"/>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Provenance is essential for conformance, auditability, and long‑term maintainability.</a:t>
            </a:r>
          </a:p>
          <a:p/>
          <a:p>
            <a:r>
              <a:t>It ensures teams know which artifacts were AI‑generated, which were human‑generated, and which were hybrid.</a:t>
            </a:r>
          </a:p>
          <a:p/>
          <a:p>
            <a:r>
              <a:t>---</a:t>
            </a:r>
          </a:p>
          <a:p/>
          <a:p>
            <a:r>
              <a:t>Source: Slides\individual-slides\adding-ai-guardrails.md</a:t>
            </a:r>
          </a:p>
        </p:txBody>
      </p:sp>
      <p:sp>
        <p:nvSpPr>
          <p:cNvPr id="4" name="Slide Number Placeholder 3"/>
          <p:cNvSpPr>
            <a:spLocks noGrp="1"/>
          </p:cNvSpPr>
          <p:nvPr>
            <p:ph type="sldNum" idx="5" sz="quarter"/>
          </p:nvPr>
        </p:nvSpPr>
        <p:spPr/>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introduces the purpose of the AI-Assisted Output Instructions file: to enforce traceability, quality, and compliance for all AI-generated artifacts in the repository.</a:t>
            </a:r>
          </a:p>
          <a:p/>
          <a:p>
            <a:r>
              <a:t>---</a:t>
            </a:r>
          </a:p>
          <a:p/>
          <a:p>
            <a:r>
              <a:t>Source: Slides\individual-slides\adding-ai-guardrails.md</a:t>
            </a:r>
          </a:p>
        </p:txBody>
      </p:sp>
      <p:sp>
        <p:nvSpPr>
          <p:cNvPr id="4" name="Slide Number Placeholder 3"/>
          <p:cNvSpPr>
            <a:spLocks noGrp="1"/>
          </p:cNvSpPr>
          <p:nvPr>
            <p:ph type="sldNum" idx="5" sz="quarter"/>
          </p:nvPr>
        </p:nvSpPr>
        <p:spPr/>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lists the mandatory metadata fields that must be embedded in every AI-generated file.</a:t>
            </a:r>
          </a:p>
          <a:p/>
          <a:p>
            <a:r>
              <a:t>These fields ensure each artifact can be traced back to its origin, model, and operator.</a:t>
            </a:r>
          </a:p>
          <a:p/>
          <a:p>
            <a:r>
              <a:t>---</a:t>
            </a:r>
          </a:p>
          <a:p/>
          <a:p>
            <a:r>
              <a:t>Source: Slides\individual-slides\adding-ai-guardrails.md</a:t>
            </a:r>
          </a:p>
        </p:txBody>
      </p:sp>
      <p:sp>
        <p:nvSpPr>
          <p:cNvPr id="4" name="Slide Number Placeholder 3"/>
          <p:cNvSpPr>
            <a:spLocks noGrp="1"/>
          </p:cNvSpPr>
          <p:nvPr>
            <p:ph type="sldNum" idx="5" sz="quarter"/>
          </p:nvPr>
        </p:nvSpPr>
        <p:spPr/>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explains where and how to place provenance metadata.</a:t>
            </a:r>
          </a:p>
          <a:p/>
          <a:p>
            <a:r>
              <a:t>Markdown files must use embedded YAML front matter; only non-embeddable formats use sidecar files.</a:t>
            </a:r>
          </a:p>
          <a:p/>
          <a:p>
            <a:r>
              <a:t>Note: Instructions files have limited support for metadata and must use sidecar files</a:t>
            </a:r>
          </a:p>
          <a:p/>
          <a:p>
            <a:r>
              <a:t>---</a:t>
            </a:r>
          </a:p>
          <a:p/>
          <a:p>
            <a:r>
              <a:t>Source: Slides\individual-slides\adding-ai-guardrails.md</a:t>
            </a:r>
          </a:p>
        </p:txBody>
      </p:sp>
      <p:sp>
        <p:nvSpPr>
          <p:cNvPr id="4" name="Slide Number Placeholder 3"/>
          <p:cNvSpPr>
            <a:spLocks noGrp="1"/>
          </p:cNvSpPr>
          <p:nvPr>
            <p:ph type="sldNum" idx="5" sz="quarter"/>
          </p:nvPr>
        </p:nvSpPr>
        <p:spPr/>
      </p:sp>
    </p:spTree>
  </p:cSld>
  <p:clrMapOvr>
    <a:masterClrMapping/>
  </p:clrMapOvr>
</p:notes>
</file>

<file path=ppt/notesSlides/notesSlide1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describes the logging structure for AI chats.</a:t>
            </a:r>
          </a:p>
          <a:p/>
          <a:p>
            <a:r>
              <a:t>Each session gets its own folder, transcript, and summary, ensuring clear separation and traceability.</a:t>
            </a:r>
          </a:p>
          <a:p/>
          <a:p>
            <a:r>
              <a:t>---</a:t>
            </a:r>
          </a:p>
          <a:p/>
          <a:p>
            <a:r>
              <a:t>Source: Slides\individual-slides\adding-ai-guardrails.md</a:t>
            </a:r>
          </a:p>
        </p:txBody>
      </p:sp>
      <p:sp>
        <p:nvSpPr>
          <p:cNvPr id="4" name="Slide Number Placeholder 3"/>
          <p:cNvSpPr>
            <a:spLocks noGrp="1"/>
          </p:cNvSpPr>
          <p:nvPr>
            <p:ph type="sldNum" idx="5" sz="quarter"/>
          </p:nvPr>
        </p:nvSpPr>
        <p:spPr/>
      </p:sp>
    </p:spTree>
  </p:cSld>
  <p:clrMapOvr>
    <a:masterClrMapping/>
  </p:clrMapOvr>
</p:notes>
</file>

<file path=ppt/notesSlides/notesSlide1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summarizes the quality gates and PR requirements.</a:t>
            </a:r>
          </a:p>
          <a:p/>
          <a:p>
            <a:r>
              <a:t>Artifacts must be fully documented, logs must exist, and sensitive data must be avoided.</a:t>
            </a:r>
          </a:p>
          <a:p/>
          <a:p>
            <a:r>
              <a:t>---</a:t>
            </a:r>
          </a:p>
          <a:p/>
          <a:p>
            <a:r>
              <a:t>Source: Slides\individual-slides\adding-ai-guardrails.md</a:t>
            </a:r>
          </a:p>
        </p:txBody>
      </p:sp>
      <p:sp>
        <p:nvSpPr>
          <p:cNvPr id="4" name="Slide Number Placeholder 3"/>
          <p:cNvSpPr>
            <a:spLocks noGrp="1"/>
          </p:cNvSpPr>
          <p:nvPr>
            <p:ph type="sldNum" idx="5" sz="quarter"/>
          </p:nvPr>
        </p:nvSpPr>
        <p:spPr/>
      </p:sp>
    </p:spTree>
  </p:cSld>
  <p:clrMapOvr>
    <a:masterClrMapping/>
  </p:clrMapOvr>
</p:notes>
</file>

<file path=ppt/notesSlides/notesSlide1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highlights the requirements for GitHub Copilot integration.</a:t>
            </a:r>
          </a:p>
          <a:p/>
          <a:p>
            <a:r>
              <a:t>Copilot should automate chat management, metadata injection, and enforce compliance before generating files.</a:t>
            </a:r>
          </a:p>
          <a:p/>
          <a:p>
            <a:r>
              <a:t>---</a:t>
            </a:r>
          </a:p>
          <a:p/>
          <a:p>
            <a:r>
              <a:t>Source: Slides\individual-slides\adding-ai-guardrails.md</a:t>
            </a:r>
          </a:p>
        </p:txBody>
      </p:sp>
      <p:sp>
        <p:nvSpPr>
          <p:cNvPr id="4" name="Slide Number Placeholder 3"/>
          <p:cNvSpPr>
            <a:spLocks noGrp="1"/>
          </p:cNvSpPr>
          <p:nvPr>
            <p:ph type="sldNum" idx="5" sz="quarter"/>
          </p:nvPr>
        </p:nvSpPr>
        <p:spPr/>
      </p:sp>
    </p:spTree>
  </p:cSld>
  <p:clrMapOvr>
    <a:masterClrMapping/>
  </p:clrMapOvr>
</p:notes>
</file>

<file path=ppt/notesSlides/notesSlide1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explains enforcement:</a:t>
            </a:r>
          </a:p>
          <a:p/>
          <a:p>
            <a:r>
              <a:t>PRs are blocked if requirements are not met.</a:t>
            </a:r>
          </a:p>
          <a:p/>
          <a:p>
            <a:r>
              <a:t>Any missing provenance must be remediated before merging.</a:t>
            </a:r>
          </a:p>
          <a:p/>
          <a:p>
            <a:r>
              <a:t>---</a:t>
            </a:r>
          </a:p>
          <a:p/>
          <a:p>
            <a:r>
              <a:t>Source: Slides\individual-slides\adding-ai-guardrails.md</a:t>
            </a:r>
          </a:p>
        </p:txBody>
      </p:sp>
      <p:sp>
        <p:nvSpPr>
          <p:cNvPr id="4" name="Slide Number Placeholder 3"/>
          <p:cNvSpPr>
            <a:spLocks noGrp="1"/>
          </p:cNvSpPr>
          <p:nvPr>
            <p:ph type="sldNum" idx="5" sz="quarter"/>
          </p:nvPr>
        </p:nvSpPr>
        <p:spPr/>
      </p:sp>
    </p:spTree>
  </p:cSld>
  <p:clrMapOvr>
    <a:masterClrMapping/>
  </p:clrMapOvr>
</p:notes>
</file>

<file path=ppt/notesSlides/notesSlide1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reinforces the value of these instructions: they ensure every AI-assisted artifact is trustworthy, auditable, and compliant with team and industry standards.</a:t>
            </a:r>
          </a:p>
          <a:p/>
          <a:p>
            <a:r>
              <a:t>---</a:t>
            </a:r>
          </a:p>
          <a:p/>
          <a:p>
            <a:r>
              <a:t>Source: Slides\individual-slides\adding-ai-guardrails.md</a:t>
            </a:r>
          </a:p>
        </p:txBody>
      </p:sp>
      <p:sp>
        <p:nvSpPr>
          <p:cNvPr id="4" name="Slide Number Placeholder 3"/>
          <p:cNvSpPr>
            <a:spLocks noGrp="1"/>
          </p:cNvSpPr>
          <p:nvPr>
            <p:ph type="sldNum" idx="5" sz="quarter"/>
          </p:nvPr>
        </p:nvSpPr>
        <p:spPr/>
      </p:sp>
    </p:spTree>
  </p:cSld>
  <p:clrMapOvr>
    <a:masterClrMapping/>
  </p:clrMapOvr>
</p:notes>
</file>

<file path=ppt/notesSlides/notesSlide1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Slides\individual-slides\adding-ai-guardrails.md</a:t>
            </a:r>
          </a:p>
        </p:txBody>
      </p:sp>
      <p:sp>
        <p:nvSpPr>
          <p:cNvPr id="4" name="Slide Number Placeholder 3"/>
          <p:cNvSpPr>
            <a:spLocks noGrp="1"/>
          </p:cNvSpPr>
          <p:nvPr>
            <p:ph type="sldNum" idx="5" sz="quarter"/>
          </p:nvPr>
        </p:nvSpPr>
        <p:spPr/>
      </p:sp>
    </p:spTree>
  </p:cSld>
  <p:clrMapOvr>
    <a:masterClrMapping/>
  </p:clrMapOvr>
</p:notes>
</file>

<file path=ppt/notesSlides/notesSlide1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exercise builds foundational prompt‑writing skills. Encourage participants to choose a real task to make the exercise concrete.</a:t>
            </a:r>
          </a:p>
          <a:p/>
          <a:p>
            <a:r>
              <a:t>Prompt: Create a prompt file that creates an instruction file for evergreen software development</a:t>
            </a:r>
          </a:p>
          <a:p/>
          <a:p>
            <a:r>
              <a:t>---</a:t>
            </a:r>
          </a:p>
          <a:p/>
          <a:p>
            <a:r>
              <a:t>Source: Slides\individual-slides\adding-ai-guardrails.md</a:t>
            </a:r>
          </a:p>
        </p:txBody>
      </p:sp>
      <p:sp>
        <p:nvSpPr>
          <p:cNvPr id="4" name="Slide Number Placeholder 3"/>
          <p:cNvSpPr>
            <a:spLocks noGrp="1"/>
          </p:cNvSpPr>
          <p:nvPr>
            <p:ph type="sldNum" idx="5" sz="quarter"/>
          </p:nvPr>
        </p:nvSpPr>
        <p:spPr/>
      </p:sp>
    </p:spTree>
  </p:cSld>
  <p:clrMapOvr>
    <a:masterClrMapping/>
  </p:clrMapOvr>
</p:notes>
</file>

<file path=ppt/notesSlides/notesSlide1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reinforces the evergreen mindset and produces a reusable artifact for future AI‑assisted work.</a:t>
            </a:r>
          </a:p>
          <a:p/>
          <a:p>
            <a:r>
              <a:t>Prompt: Submit the prompt #file:create-evergreen-software-instructions.prompt.md</a:t>
            </a:r>
          </a:p>
          <a:p/>
          <a:p>
            <a:r>
              <a:t>---</a:t>
            </a:r>
          </a:p>
          <a:p/>
          <a:p>
            <a:r>
              <a:t>Source: Slides\individual-slides\adding-ai-guardrails.md</a:t>
            </a:r>
          </a:p>
        </p:txBody>
      </p:sp>
      <p:sp>
        <p:nvSpPr>
          <p:cNvPr id="4" name="Slide Number Placeholder 3"/>
          <p:cNvSpPr>
            <a:spLocks noGrp="1"/>
          </p:cNvSpPr>
          <p:nvPr>
            <p:ph type="sldNum" idx="5" sz="quarter"/>
          </p:nvPr>
        </p:nvSpPr>
        <p:spPr/>
      </p:sp>
    </p:spTree>
  </p:cSld>
  <p:clrMapOvr>
    <a:masterClrMapping/>
  </p:clrMapOvr>
</p:notes>
</file>

<file path=ppt/notesSlides/notesSlide1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helps participants shape AI behavior to match brownfield realities.</a:t>
            </a:r>
          </a:p>
          <a:p/>
          <a:p>
            <a:r>
              <a:t>---</a:t>
            </a:r>
          </a:p>
          <a:p/>
          <a:p>
            <a:r>
              <a:t>Source: Slides\individual-slides\adding-ai-guardrails.md</a:t>
            </a:r>
          </a:p>
        </p:txBody>
      </p:sp>
      <p:sp>
        <p:nvSpPr>
          <p:cNvPr id="4" name="Slide Number Placeholder 3"/>
          <p:cNvSpPr>
            <a:spLocks noGrp="1"/>
          </p:cNvSpPr>
          <p:nvPr>
            <p:ph type="sldNum" idx="5" sz="quarter"/>
          </p:nvPr>
        </p:nvSpPr>
        <p:spPr/>
      </p:sp>
    </p:spTree>
  </p:cSld>
  <p:clrMapOvr>
    <a:masterClrMapping/>
  </p:clrMapOvr>
</p:notes>
</file>

<file path=ppt/notesSlides/notesSlide1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Participants experience the leverage of meta prompts and see how AI can accelerate documentation.</a:t>
            </a:r>
          </a:p>
          <a:p/>
          <a:p>
            <a:r>
              <a:t>Prompts:</a:t>
            </a:r>
          </a:p>
          <a:p/>
          <a:p>
            <a:r>
              <a:t>Create instruction files for the backend technologies</a:t>
            </a:r>
          </a:p>
          <a:p/>
          <a:p>
            <a:r>
              <a:t>Create instruction files for the front-end technologies</a:t>
            </a:r>
          </a:p>
          <a:p/>
          <a:p>
            <a:r>
              <a:t>Create instruction files for the front-end technologies</a:t>
            </a:r>
          </a:p>
          <a:p/>
          <a:p>
            <a:r>
              <a:t>---</a:t>
            </a:r>
          </a:p>
          <a:p/>
          <a:p>
            <a:r>
              <a:t>Source: Slides\individual-slides\adding-ai-guardrails.md</a:t>
            </a:r>
          </a:p>
        </p:txBody>
      </p:sp>
      <p:sp>
        <p:nvSpPr>
          <p:cNvPr id="4" name="Slide Number Placeholder 3"/>
          <p:cNvSpPr>
            <a:spLocks noGrp="1"/>
          </p:cNvSpPr>
          <p:nvPr>
            <p:ph type="sldNum" idx="5" sz="quarter"/>
          </p:nvPr>
        </p:nvSpPr>
        <p:spPr/>
      </p:sp>
    </p:spTree>
  </p:cSld>
  <p:clrMapOvr>
    <a:masterClrMapping/>
  </p:clrMapOvr>
</p:notes>
</file>

<file path=ppt/notesSlides/notesSlide1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exercise builds intuition for context management—one of the most important AI‑era engineering skills.</a:t>
            </a:r>
          </a:p>
          <a:p/>
          <a:p>
            <a:r>
              <a:t>---</a:t>
            </a:r>
          </a:p>
          <a:p/>
          <a:p>
            <a:r>
              <a:t>Source: Slides\individual-slides\adding-ai-guardrails.md</a:t>
            </a:r>
          </a:p>
        </p:txBody>
      </p:sp>
      <p:sp>
        <p:nvSpPr>
          <p:cNvPr id="4" name="Slide Number Placeholder 3"/>
          <p:cNvSpPr>
            <a:spLocks noGrp="1"/>
          </p:cNvSpPr>
          <p:nvPr>
            <p:ph type="sldNum" idx="5" sz="quarter"/>
          </p:nvPr>
        </p:nvSpPr>
        <p:spPr/>
      </p:sp>
    </p:spTree>
  </p:cSld>
  <p:clrMapOvr>
    <a:masterClrMapping/>
  </p:clrMapOvr>
</p:notes>
</file>

<file path=ppt/notesSlides/notesSlide1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**Opening**: This is the title slide introducing the concept of instruction files. **Keep It Brief**: Simply say "Let's talk about instruction files—a powerful way to guide AI behavior persistently across your projects." **Visual Cue**: Let the title appear, pause for 2-3 seconds. **No Content Yet**: Don't explain what they are—that's the next slide's job. **Timing**: 10-15 seconds. **Transition**: "First, let me frame what we mean by 'persistent AI behavioral guidelines'..."</a:t>
            </a:r>
          </a:p>
          <a:p/>
          <a:p>
            <a:r>
              <a:t>---</a:t>
            </a:r>
          </a:p>
          <a:p/>
          <a:p>
            <a:r>
              <a:t>Source: Slides\individual-slides\instruction-files.md</a:t>
            </a:r>
          </a:p>
        </p:txBody>
      </p:sp>
      <p:sp>
        <p:nvSpPr>
          <p:cNvPr id="4" name="Slide Number Placeholder 3"/>
          <p:cNvSpPr>
            <a:spLocks noGrp="1"/>
          </p:cNvSpPr>
          <p:nvPr>
            <p:ph type="sldNum" idx="5" sz="quarter"/>
          </p:nvPr>
        </p:nvSpPr>
        <p:spPr/>
      </p:sp>
    </p:spTree>
  </p:cSld>
  <p:clrMapOvr>
    <a:masterClrMapping/>
  </p:clrMapOvr>
</p:notes>
</file>

<file path=ppt/notesSlides/notesSlide1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the Concept**: This subtitle slide sets up the key mental model. **Persistent**: Emphasize that unlike one-time prompts, these rules stay active across multiple interactions. **Behavioral**: These files tell AI _how_ to work, not _what_ to build. **Guidelines vs Commands**: "Think of instruction files as automated code review rules that apply every time AI generates code." **Analogy**: "Like .editorconfig or .eslintrc files, but for AI behavior instead of code formatting." **Timing**: 30 seconds. **Transition**: "So what exactly are instruction files? Let's define them..."</a:t>
            </a:r>
          </a:p>
          <a:p/>
          <a:p>
            <a:r>
              <a:t>---</a:t>
            </a:r>
          </a:p>
          <a:p/>
          <a:p>
            <a:r>
              <a:t>Source: Slides\individual-slides\instruction-files.md</a:t>
            </a:r>
          </a:p>
        </p:txBody>
      </p:sp>
      <p:sp>
        <p:nvSpPr>
          <p:cNvPr id="4" name="Slide Number Placeholder 3"/>
          <p:cNvSpPr>
            <a:spLocks noGrp="1"/>
          </p:cNvSpPr>
          <p:nvPr>
            <p:ph type="sldNum" idx="5" sz="quarter"/>
          </p:nvPr>
        </p:nvSpPr>
        <p:spPr/>
      </p:sp>
    </p:spTree>
  </p:cSld>
  <p:clrMapOvr>
    <a:masterClrMapping/>
  </p:clrMapOvr>
</p:notes>
</file>

<file path=ppt/notesSlides/notesSlide1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**Definition Emphasis**: Read the definition slowly—this is foundational. **Configuration Metaphor**: "Just like you configure your IDE or linter, you configure your AI assistant with instruction files." **Automatic Application**: Key point: once created, they're automatically applied. No need to paste instructions repeatedly. **Standards Example**: "Example: All Azure code must use managed identities, no hardcoded keys. Put that in azure-dev.instructions.md, and AI will follow it automatically." **Scope Explanation**: Can apply broadly (`applyTo: "**"`) or narrowly (`applyTo: "*.cs"`). **How vs What**: Clarify: Instructions define _style_ ("use dependency injection") not _tasks_ ("build a login system"). **Audience Check**: "Does this distinction make sense—how versus what?" **Timing**: 2 minutes. **Transition**: "Let me show you what one looks like..."</a:t>
            </a:r>
          </a:p>
          <a:p/>
          <a:p>
            <a:r>
              <a:t>---</a:t>
            </a:r>
          </a:p>
          <a:p/>
          <a:p>
            <a:r>
              <a:t>Source: Slides\individual-slides\instruction-files.md</a:t>
            </a:r>
          </a:p>
        </p:txBody>
      </p:sp>
      <p:sp>
        <p:nvSpPr>
          <p:cNvPr id="4" name="Slide Number Placeholder 3"/>
          <p:cNvSpPr>
            <a:spLocks noGrp="1"/>
          </p:cNvSpPr>
          <p:nvPr>
            <p:ph type="sldNum" idx="5" sz="quarter"/>
          </p:nvPr>
        </p:nvSpPr>
        <p:spPr/>
      </p:sp>
    </p:spTree>
  </p:cSld>
  <p:clrMapOvr>
    <a:masterClrMapping/>
  </p:clrMapOvr>
</p:notes>
</file>

<file path=ppt/notesSlides/notesSlide1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Example**: Go section by section, don't rush. **YAML Front Matter**: "Every instruction file starts with metadata. Description explains purpose, applyTo defines scope." **ApplyTo Pattern**: Explain glob patterns—`"**"` means all files, `"*.py"` means Python only, `"src/**/*.ts"` means TypeScript in src folder. **Core Instructions**: "This section defines high-level principles—use Azure-specific tools, enforce security, proper error handling." **Code Generation Rules**: "This section gets tactical—TDD approach, dependency injection, naming standards, logging requirements." **Live Demo Opportunity**: If time permits, show a real instruction file from the repo. **Practical Point**: "AI reads this file automatically when working in your repo—no copy-paste needed." **Timing**: 3 minutes. **Transition**: "When should you use instruction files? Let's look at common use cases..."</a:t>
            </a:r>
          </a:p>
          <a:p/>
          <a:p>
            <a:r>
              <a:t>---</a:t>
            </a:r>
          </a:p>
          <a:p/>
          <a:p>
            <a:r>
              <a:t>Source: Slides\individual-slides\instruction-files.md</a:t>
            </a:r>
          </a:p>
        </p:txBody>
      </p:sp>
      <p:sp>
        <p:nvSpPr>
          <p:cNvPr id="4" name="Slide Number Placeholder 3"/>
          <p:cNvSpPr>
            <a:spLocks noGrp="1"/>
          </p:cNvSpPr>
          <p:nvPr>
            <p:ph type="sldNum" idx="5" sz="quarter"/>
          </p:nvPr>
        </p:nvSpPr>
        <p:spPr/>
      </p:sp>
    </p:spTree>
  </p:cSld>
  <p:clrMapOvr>
    <a:masterClrMapping/>
  </p:clrMapOvr>
</p:notes>
</file>

<file path=ppt/notesSlides/notesSlide1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Cases Overview**: These are the "why" behind instruction files. **Coding Standards**: "Every team has style preferences—indentation, naming, file organization. Instruction files codify this for AI." **Security Example**: "You can mandate: 'Never log passwords', 'Always sanitize user input', 'Use parameterized queries'. AI will follow these rules automatically." **Quality Gates**: "Require test coverage thresholds, code review checklists, documentation standards." **Technology Constraints**: "Enterprise scenario: only approved libraries/frameworks allowed. Instruction file enforces this." **Real Examples**: Point to each example filename and briefly explain: azure-development covers cloud-specific patterns, testing-standards defines test structure, security-requirements enforces security policies. **Team Benefit**: "This is especially powerful for teams—everyone's AI assistant follows the same rules, producing consistent output." **Timing**: 2-3 minutes. **Transition**: "Before we move on, let me share some best practices..."</a:t>
            </a:r>
          </a:p>
          <a:p/>
          <a:p>
            <a:r>
              <a:t>---</a:t>
            </a:r>
          </a:p>
          <a:p/>
          <a:p>
            <a:r>
              <a:t>Source: Slides\individual-slides\instruction-files.md</a:t>
            </a:r>
          </a:p>
        </p:txBody>
      </p:sp>
      <p:sp>
        <p:nvSpPr>
          <p:cNvPr id="4" name="Slide Number Placeholder 3"/>
          <p:cNvSpPr>
            <a:spLocks noGrp="1"/>
          </p:cNvSpPr>
          <p:nvPr>
            <p:ph type="sldNum" idx="5" sz="quarter"/>
          </p:nvPr>
        </p:nvSpPr>
        <p:spPr/>
      </p:sp>
    </p:spTree>
  </p:cSld>
  <p:clrMapOvr>
    <a:masterClrMapping/>
  </p:clrMapOvr>
</p:notes>
</file>

<file path=ppt/notesSlides/notesSlide1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**Best Practices Summary**: This slide prevents common mistakes. **Clear and Actionable**: Bad: "Code should be good." Good: "Use async/await for I/O operations." Be specific. **File Patterns**: Explain `applyTo` strategy—broad patterns for general rules, narrow patterns for specific contexts. **Version Control**: "Instruction files are code. Commit them, review changes, track evolution." **Test Effectiveness**: "After creating an instruction file, test it—ask AI to generate code and verify it follows the rules." **Avoid Complexity**: "If AI can't understand your instructions, they won't work. Keep language simple, rules unambiguous." **Cognitive Overload**: "Don't create 50 instruction files. AI (like humans) can only track so much. Consolidate related rules." **Conflicts**: "Instruction files apply automatically, prompts are one-time. Make sure they don't contradict each other." **No Hardcoding**: "Use parameters and environment variables, not hardcoded URLs or credentials." **Practical Advice**: "Start small—one or two instruction files. Expand based on team needs." **Timing**: 3 minutes. **Transition**: Depending on agenda, either "Let's see this in action with a hands-on demo..." or "Questions about instruction files before we move on?"</a:t>
            </a:r>
          </a:p>
          <a:p/>
          <a:p>
            <a:r>
              <a:t>---</a:t>
            </a:r>
          </a:p>
          <a:p/>
          <a:p>
            <a:r>
              <a:t>Source: Slides\individual-slides\instruction-files.md</a:t>
            </a:r>
          </a:p>
        </p:txBody>
      </p:sp>
      <p:sp>
        <p:nvSpPr>
          <p:cNvPr id="4" name="Slide Number Placeholder 3"/>
          <p:cNvSpPr>
            <a:spLocks noGrp="1"/>
          </p:cNvSpPr>
          <p:nvPr>
            <p:ph type="sldNum" idx="5" sz="quarter"/>
          </p:nvPr>
        </p:nvSpPr>
        <p:spPr/>
      </p:sp>
    </p:spTree>
  </p:cSld>
  <p:clrMapOvr>
    <a:masterClrMapping/>
  </p:clrMapOvr>
</p:notes>
</file>

<file path=ppt/notesSlides/notesSlide1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to this presentation on instruction file applyTo patterns. This is a critical concept for managing GitHub Copilot's behavior across your codebase. By the end of this session, you'll understand how to precisely control which files your instruction files apply to using glob patterns.</a:t>
            </a:r>
          </a:p>
          <a:p/>
          <a:p>
            <a:r>
              <a:t>**Timing**: 30 seconds for title slide</a:t>
            </a:r>
          </a:p>
          <a:p>
            <a:r>
              <a:t>**Key Point**: This is about precision - getting Copilot to apply the right rules to the right files</a:t>
            </a:r>
          </a:p>
          <a:p>
            <a:r>
              <a:t>**Transition**: "Let's start by understanding what the applyTo field actually does"</a:t>
            </a:r>
          </a:p>
          <a:p/>
          <a:p>
            <a:r>
              <a:t>---</a:t>
            </a:r>
          </a:p>
          <a:p/>
          <a:p>
            <a:r>
              <a:t>Source: Slides\individual-slides\instruction-file-applyto-patterns.md</a:t>
            </a:r>
          </a:p>
        </p:txBody>
      </p:sp>
      <p:sp>
        <p:nvSpPr>
          <p:cNvPr id="4" name="Slide Number Placeholder 3"/>
          <p:cNvSpPr>
            <a:spLocks noGrp="1"/>
          </p:cNvSpPr>
          <p:nvPr>
            <p:ph type="sldNum" idx="5" sz="quarter"/>
          </p:nvPr>
        </p:nvSpPr>
        <p:spPr/>
      </p:sp>
    </p:spTree>
  </p:cSld>
  <p:clrMapOvr>
    <a:masterClrMapping/>
  </p:clrMapOvr>
</p:notes>
</file>

<file path=ppt/notesSlides/notesSlide1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Slides\individual-slides\instruction-file-applyto-patterns.md</a:t>
            </a:r>
          </a:p>
        </p:txBody>
      </p:sp>
      <p:sp>
        <p:nvSpPr>
          <p:cNvPr id="4" name="Slide Number Placeholder 3"/>
          <p:cNvSpPr>
            <a:spLocks noGrp="1"/>
          </p:cNvSpPr>
          <p:nvPr>
            <p:ph type="sldNum" idx="5" sz="quarter"/>
          </p:nvPr>
        </p:nvSpPr>
        <p:spPr/>
      </p:sp>
    </p:spTree>
  </p:cSld>
  <p:clrMapOvr>
    <a:masterClrMapping/>
  </p:clrMapOvr>
</p:notes>
</file>

<file path=ppt/notesSlides/notesSlide1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Slides\individual-slides\instruction-file-applyto-patterns.md</a:t>
            </a:r>
          </a:p>
        </p:txBody>
      </p:sp>
      <p:sp>
        <p:nvSpPr>
          <p:cNvPr id="4" name="Slide Number Placeholder 3"/>
          <p:cNvSpPr>
            <a:spLocks noGrp="1"/>
          </p:cNvSpPr>
          <p:nvPr>
            <p:ph type="sldNum" idx="5" sz="quarter"/>
          </p:nvPr>
        </p:nvSpPr>
        <p:spPr/>
      </p:sp>
    </p:spTree>
  </p:cSld>
  <p:clrMapOvr>
    <a:masterClrMapping/>
  </p:clrMapOvr>
</p:notes>
</file>

<file path=ppt/notesSlides/notesSlide1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applyTo field is part of the YAML front matter in instruction files. It uses glob patterns to match file paths. When you open a file in VS Code, Copilot checks all instruction files and loads only those whose applyTo pattern matches the current file.</a:t>
            </a:r>
          </a:p>
          <a:p/>
          <a:p>
            <a:r>
              <a:t>**Why this matters**: Without proper applyTo patterns, you might have documentation standards trying to apply to code files, or architecture patterns trying to apply to configuration files. This creates confusion and can lead to poor AI suggestions.</a:t>
            </a:r>
          </a:p>
          <a:p/>
          <a:p>
            <a:r>
              <a:t>**Example to share**: "Imagine having CQRS architecture instructions applying to your README files - that would be nonsensical. The applyTo field prevents this."</a:t>
            </a:r>
          </a:p>
          <a:p/>
          <a:p>
            <a:r>
              <a:t>**Timing**: 1-1.5 minutes</a:t>
            </a:r>
          </a:p>
          <a:p>
            <a:r>
              <a:t>**Transition**: "Now let's look at the most common pattern types you'll use"</a:t>
            </a:r>
          </a:p>
          <a:p/>
          <a:p>
            <a:r>
              <a:t>---</a:t>
            </a:r>
          </a:p>
          <a:p/>
          <a:p>
            <a:r>
              <a:t>Source: Slides\individual-slides\instruction-file-applyto-patterns.md</a:t>
            </a:r>
          </a:p>
        </p:txBody>
      </p:sp>
      <p:sp>
        <p:nvSpPr>
          <p:cNvPr id="4" name="Slide Number Placeholder 3"/>
          <p:cNvSpPr>
            <a:spLocks noGrp="1"/>
          </p:cNvSpPr>
          <p:nvPr>
            <p:ph type="sldNum" idx="5" sz="quarter"/>
          </p:nvPr>
        </p:nvSpPr>
        <p:spPr/>
      </p:sp>
    </p:spTree>
  </p:cSld>
  <p:clrMapOvr>
    <a:masterClrMapping/>
  </p:clrMapOvr>
</p:notes>
</file>

<file path=ppt/notesSlides/notesSlide1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double asterisk wildcard is the universal matcher. Use this for repository-wide policies that should apply everywhere - things like your AI-assisted output instructions, general quality standards, or compliance requirements.</a:t>
            </a:r>
          </a:p>
          <a:p/>
          <a:p>
            <a:r>
              <a:t>**Important warning**: Overusing universal patterns is a common mistake. Every universal instruction adds to the context Copilot needs to process for every file. If you have 10 instruction files all using "\*\*", Copilot has to load all 10 for every single file you open.</a:t>
            </a:r>
          </a:p>
          <a:p/>
          <a:p>
            <a:r>
              <a:t>**Best practice**: Reserve universal patterns for truly universal policies. Most instructions should be more specific.</a:t>
            </a:r>
          </a:p>
          <a:p/>
          <a:p>
            <a:r>
              <a:t>**Real example from the repo**: The ai-assisted-output.instructions.md uses "\*_/_" because AI provenance metadata requirements apply to all AI-generated content regardless of file type.</a:t>
            </a:r>
          </a:p>
          <a:p/>
          <a:p>
            <a:r>
              <a:t>**Timing**: 1.5 minutes</a:t>
            </a:r>
          </a:p>
          <a:p>
            <a:r>
              <a:t>**Ask audience**: "How many instruction files do you think should realistically use universal patterns? Usually no more than 2-3."</a:t>
            </a:r>
          </a:p>
          <a:p/>
          <a:p>
            <a:r>
              <a:t>---</a:t>
            </a:r>
          </a:p>
          <a:p/>
          <a:p>
            <a:r>
              <a:t>Source: Slides\individual-slides\instruction-file-applyto-patterns.md</a:t>
            </a:r>
          </a:p>
        </p:txBody>
      </p:sp>
      <p:sp>
        <p:nvSpPr>
          <p:cNvPr id="4" name="Slide Number Placeholder 3"/>
          <p:cNvSpPr>
            <a:spLocks noGrp="1"/>
          </p:cNvSpPr>
          <p:nvPr>
            <p:ph type="sldNum" idx="5" sz="quarter"/>
          </p:nvPr>
        </p:nvSpPr>
        <p:spPr/>
      </p:sp>
    </p:spTree>
  </p:cSld>
  <p:clrMapOvr>
    <a:masterClrMapping/>
  </p:clrMapOvr>
</p:notes>
</file>

<file path=ppt/notesSlides/notesSlide1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File extension matching is probably the most common pattern you'll use. The key syntax here is the brace expansion - that's the curly braces with comma-separated extensions.</a:t>
            </a:r>
          </a:p>
          <a:p/>
          <a:p>
            <a:r>
              <a:t>**Walking through the examples**:</a:t>
            </a:r>
          </a:p>
          <a:p/>
          <a:p>
            <a:r>
              <a:t>1. "\*_/_.md" - Double star means any directory depth, forward slash, star means any filename, dot md means must end with .md</a:t>
            </a:r>
          </a:p>
          <a:p>
            <a:r>
              <a:t>2. The brace expansion lets you list multiple extensions without repeating the pattern</a:t>
            </a:r>
          </a:p>
          <a:p>
            <a:r>
              <a:t>3. You can be even more specific with compound extensions like .instructions.md</a:t>
            </a:r>
          </a:p>
          <a:p/>
          <a:p>
            <a:r>
              <a:t>**Pro tip**: When you need to apply instructions to code files across multiple languages, use the brace expansion. In this repo, vertical slice architecture instructions use "\*_/_.{cs,ts,js,py,java,go,rb}" to cover all supported languages.</a:t>
            </a:r>
          </a:p>
          <a:p/>
          <a:p>
            <a:r>
              <a:t>**Common mistake**: Forgetting the **/ at the start means only files in the root directory match</a:t>
            </a:r>
          </a:p>
          <a:p>
            <a:r>
              <a:t>**Correct**: "**/_.md" matches all markdown files recursively</a:t>
            </a:r>
          </a:p>
          <a:p>
            <a:r>
              <a:t>**Incorrect**: "_.md" only matches markdown files in root directory</a:t>
            </a:r>
          </a:p>
          <a:p/>
          <a:p>
            <a:r>
              <a:t>**Timing**: 2 minutes</a:t>
            </a:r>
          </a:p>
          <a:p>
            <a:r>
              <a:t>**Demonstrate**: Show how the pattern breaks down visually</a:t>
            </a:r>
          </a:p>
          <a:p/>
          <a:p>
            <a:r>
              <a:t>---</a:t>
            </a:r>
          </a:p>
          <a:p/>
          <a:p>
            <a:r>
              <a:t>Source: Slides\individual-slides\instruction-file-applyto-patterns.md</a:t>
            </a:r>
          </a:p>
        </p:txBody>
      </p:sp>
      <p:sp>
        <p:nvSpPr>
          <p:cNvPr id="4" name="Slide Number Placeholder 3"/>
          <p:cNvSpPr>
            <a:spLocks noGrp="1"/>
          </p:cNvSpPr>
          <p:nvPr>
            <p:ph type="sldNum" idx="5" sz="quarter"/>
          </p:nvPr>
        </p:nvSpPr>
        <p:spPr/>
      </p:sp>
    </p:spTree>
  </p:cSld>
  <p:clrMapOvr>
    <a:masterClrMapping/>
  </p:clrMapOvr>
</p:notes>
</file>

<file path=ppt/notesSlides/notesSlide1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Directory-specific patterns are crucial for organizing large codebases. They let you say "these architecture rules only apply to source code" or "these formatting rules only apply to slides."</a:t>
            </a:r>
          </a:p>
          <a:p/>
          <a:p>
            <a:r>
              <a:t>**Breaking down the syntax**:</a:t>
            </a:r>
          </a:p>
          <a:p/>
          <a:p>
            <a:r>
              <a:t>- "Slides/individual-slides/**" - Note there's no leading slash or asterisks. This matches the specific directory path, then /** means everything underneath it</a:t>
            </a:r>
          </a:p>
          <a:p>
            <a:r>
              <a:t>- "src/Features/\*_/_.cs" - Combines directory path with file extension filter</a:t>
            </a:r>
          </a:p>
          <a:p>
            <a:r>
              <a:t>- The pattern is always relative to the repository root</a:t>
            </a:r>
          </a:p>
          <a:p/>
          <a:p>
            <a:r>
              <a:t>**Real-world example from this repo**: The marp-slides.instructions.md uses "Slides/individual-slides/\*\*" because those formatting rules should only apply to presentation slides, not to other markdown files like README.md or documentation.</a:t>
            </a:r>
          </a:p>
          <a:p/>
          <a:p>
            <a:r>
              <a:t>**Another example**: You might have vertical-slice.instructions.md with "src/Features/\*_/_.cs" so those architectural patterns only apply to feature code, not to infrastructure or configuration code.</a:t>
            </a:r>
          </a:p>
          <a:p/>
          <a:p>
            <a:r>
              <a:t>**Timing**: 2 minutes</a:t>
            </a:r>
          </a:p>
          <a:p>
            <a:r>
              <a:t>**Visual aid**: If possible, show the repository structure and how the pattern matches</a:t>
            </a:r>
          </a:p>
          <a:p>
            <a:r>
              <a:t>**Transition**: "Let's dive deeper into the glob syntax itself"</a:t>
            </a:r>
          </a:p>
          <a:p/>
          <a:p>
            <a:r>
              <a:t>---</a:t>
            </a:r>
          </a:p>
          <a:p/>
          <a:p>
            <a:r>
              <a:t>Source: Slides\individual-slides\instruction-file-applyto-patterns.md</a:t>
            </a:r>
          </a:p>
        </p:txBody>
      </p:sp>
      <p:sp>
        <p:nvSpPr>
          <p:cNvPr id="4" name="Slide Number Placeholder 3"/>
          <p:cNvSpPr>
            <a:spLocks noGrp="1"/>
          </p:cNvSpPr>
          <p:nvPr>
            <p:ph type="sldNum" idx="5" sz="quarter"/>
          </p:nvPr>
        </p:nvSpPr>
        <p:spPr/>
      </p:sp>
    </p:spTree>
  </p:cSld>
  <p:clrMapOvr>
    <a:masterClrMapping/>
  </p:clrMapOvr>
</p:notes>
</file>

<file path=ppt/notesSlides/notesSlide1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your reference guide for glob pattern syntax. Let's walk through each one with careful attention to the distinctions:</a:t>
            </a:r>
          </a:p>
          <a:p/>
          <a:p>
            <a:r>
              <a:t>**Single asterisk (\*)**:</a:t>
            </a:r>
          </a:p>
          <a:p/>
          <a:p>
            <a:r>
              <a:t>- Matches any characters EXCEPT forward slash</a:t>
            </a:r>
          </a:p>
          <a:p>
            <a:r>
              <a:t>- "\*.md" matches "README.md" in the current directory</a:t>
            </a:r>
          </a:p>
          <a:p>
            <a:r>
              <a:t>- Does NOT match "docs/README.md" - the slash breaks the match</a:t>
            </a:r>
          </a:p>
          <a:p>
            <a:r>
              <a:t>- Think of it as "wildcard within one directory level"</a:t>
            </a:r>
          </a:p>
          <a:p/>
          <a:p>
            <a:r>
              <a:t>**Double asterisk (**)\*\*:</a:t>
            </a:r>
          </a:p>
          <a:p/>
          <a:p>
            <a:r>
              <a:t>- This is the recursive directory matcher</a:t>
            </a:r>
          </a:p>
          <a:p>
            <a:r>
              <a:t>- Can match zero or more directory levels</a:t>
            </a:r>
          </a:p>
          <a:p>
            <a:r>
              <a:t>- "\*_/_.md" matches files at any depth</a:t>
            </a:r>
          </a:p>
          <a:p>
            <a:r>
              <a:t>- Critical: It must be its own path segment - "**/" not "**/file.md"</a:t>
            </a:r>
          </a:p>
          <a:p/>
          <a:p>
            <a:r>
              <a:t>**Question mark (?)**:</a:t>
            </a:r>
          </a:p>
          <a:p/>
          <a:p>
            <a:r>
              <a:t>- Exactly one character (useful for versioned files)</a:t>
            </a:r>
          </a:p>
          <a:p>
            <a:r>
              <a:t>- "config?.json" matches "config1.json" and "configA.json"</a:t>
            </a:r>
          </a:p>
          <a:p>
            <a:r>
              <a:t>- Does NOT match "config10.json" (that's two characters)</a:t>
            </a:r>
          </a:p>
          <a:p/>
          <a:p>
            <a:r>
              <a:t>**Brackets [abc] and [a-z]**:</a:t>
            </a:r>
          </a:p>
          <a:p/>
          <a:p>
            <a:r>
              <a:t>- Character classes - match one character from the set</a:t>
            </a:r>
          </a:p>
          <a:p>
            <a:r>
              <a:t>- Useful for version numbers or variant files</a:t>
            </a:r>
          </a:p>
          <a:p>
            <a:r>
              <a:t>- "file[123].md" matches file1.md, file2.md, file3.md</a:t>
            </a:r>
          </a:p>
          <a:p/>
          <a:p>
            <a:r>
              <a:t>**Braces {a,b}**:</a:t>
            </a:r>
          </a:p>
          <a:p/>
          <a:p>
            <a:r>
              <a:t>- This is alternation - match any of the alternatives</a:t>
            </a:r>
          </a:p>
          <a:p>
            <a:r>
              <a:t>- Most commonly used for file extensions</a:t>
            </a:r>
          </a:p>
          <a:p>
            <a:r>
              <a:t>- "\*.{js,ts,jsx,tsx}" matches all JavaScript/TypeScript files</a:t>
            </a:r>
          </a:p>
          <a:p>
            <a:r>
              <a:t>- Each alternative can itself be a pattern</a:t>
            </a:r>
          </a:p>
          <a:p/>
          <a:p>
            <a:r>
              <a:t>**Timing**: 3 minutes - this is detailed, go slow</a:t>
            </a:r>
          </a:p>
          <a:p>
            <a:r>
              <a:t>**Demonstrate**: Show 2-3 concrete examples with actual files</a:t>
            </a:r>
          </a:p>
          <a:p>
            <a:r>
              <a:t>**Transition**: "Now let's see these patterns in action with real examples from this repository"</a:t>
            </a:r>
          </a:p>
          <a:p/>
          <a:p>
            <a:r>
              <a:t>---</a:t>
            </a:r>
          </a:p>
          <a:p/>
          <a:p>
            <a:r>
              <a:t>Source: Slides\individual-slides\instruction-file-applyto-patterns.md</a:t>
            </a:r>
          </a:p>
        </p:txBody>
      </p:sp>
      <p:sp>
        <p:nvSpPr>
          <p:cNvPr id="4" name="Slide Number Placeholder 3"/>
          <p:cNvSpPr>
            <a:spLocks noGrp="1"/>
          </p:cNvSpPr>
          <p:nvPr>
            <p:ph type="sldNum" idx="5" sz="quarter"/>
          </p:nvPr>
        </p:nvSpPr>
        <p:spPr/>
      </p:sp>
    </p:spTree>
  </p:cSld>
  <p:clrMapOvr>
    <a:masterClrMapping/>
  </p:clrMapOvr>
</p:notes>
</file>

<file path=ppt/notesSlides/notesSlide1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actual examples from the AI-Assisted-Software-Development-Course repository. Let's analyze why each pattern was chosen:</a:t>
            </a:r>
          </a:p>
          <a:p/>
          <a:p>
            <a:r>
              <a:t>**Example 1 - AI Output Standards**:</a:t>
            </a:r>
          </a:p>
          <a:p/>
          <a:p>
            <a:r>
              <a:t>- Uses "\*_/_" because AI provenance requirements apply to ALL artifacts</a:t>
            </a:r>
          </a:p>
          <a:p>
            <a:r>
              <a:t>- This includes code, docs, config files, images (via sidecar metadata)</a:t>
            </a:r>
          </a:p>
          <a:p>
            <a:r>
              <a:t>- Appropriate use of universal pattern because it's a universal policy</a:t>
            </a:r>
          </a:p>
          <a:p/>
          <a:p>
            <a:r>
              <a:t>**Example 2 - Vertical Slice Architecture**:</a:t>
            </a:r>
          </a:p>
          <a:p/>
          <a:p>
            <a:r>
              <a:t>- Targets only programming language source files</a:t>
            </a:r>
          </a:p>
          <a:p>
            <a:r>
              <a:t>- Notice it includes 7 different languages</a:t>
            </a:r>
          </a:p>
          <a:p>
            <a:r>
              <a:t>- Does NOT apply to config files (JSON, YAML) or documentation</a:t>
            </a:r>
          </a:p>
          <a:p>
            <a:r>
              <a:t>- This prevents architecture patterns from being suggested in README files</a:t>
            </a:r>
          </a:p>
          <a:p/>
          <a:p>
            <a:r>
              <a:t>**Example 3 - Business Rules Documentation**:</a:t>
            </a:r>
          </a:p>
          <a:p/>
          <a:p>
            <a:r>
              <a:t>- Only Markdown and text files</a:t>
            </a:r>
          </a:p>
          <a:p>
            <a:r>
              <a:t>- Instructions about translating business rules to documentation</a:t>
            </a:r>
          </a:p>
          <a:p>
            <a:r>
              <a:t>- Deliberately excludes code files</a:t>
            </a:r>
          </a:p>
          <a:p/>
          <a:p>
            <a:r>
              <a:t>**Example 4 - Marp Slide Formatting**:</a:t>
            </a:r>
          </a:p>
          <a:p/>
          <a:p>
            <a:r>
              <a:t>- Highly specific - only the slides directory</a:t>
            </a:r>
          </a:p>
          <a:p>
            <a:r>
              <a:t>- Even though slides are .md files, they have different formatting rules than regular docs</a:t>
            </a:r>
          </a:p>
          <a:p>
            <a:r>
              <a:t>- This specificity prevents slide formatting rules from applying to README.md</a:t>
            </a:r>
          </a:p>
          <a:p/>
          <a:p>
            <a:r>
              <a:t>**Example 5 - Prompt File Authoring**:</a:t>
            </a:r>
          </a:p>
          <a:p/>
          <a:p>
            <a:r>
              <a:t>- Targets the specialized .prompt.md file extension</a:t>
            </a:r>
          </a:p>
          <a:p>
            <a:r>
              <a:t>- These files have specific structure requirements</a:t>
            </a:r>
          </a:p>
          <a:p>
            <a:r>
              <a:t>- Using the exact extension prevents these rules from applying to regular markdown</a:t>
            </a:r>
          </a:p>
          <a:p/>
          <a:p>
            <a:r>
              <a:t>**Key lesson**: Notice how each pattern precisely targets its intended scope. There's no overlap or ambiguity.</a:t>
            </a:r>
          </a:p>
          <a:p/>
          <a:p>
            <a:r>
              <a:t>**Timing**: 2-3 minutes</a:t>
            </a:r>
          </a:p>
          <a:p>
            <a:r>
              <a:t>**Ask**: "Can anyone think of what would happen if example 4 used '\*_/_.md' instead? Right - slide formatting rules would apply to all markdown, including README files, causing conflicts."</a:t>
            </a:r>
          </a:p>
          <a:p/>
          <a:p>
            <a:r>
              <a:t>---</a:t>
            </a:r>
          </a:p>
          <a:p/>
          <a:p>
            <a:r>
              <a:t>Source: Slides\individual-slides\instruction-file-applyto-patterns.md</a:t>
            </a:r>
          </a:p>
        </p:txBody>
      </p:sp>
      <p:sp>
        <p:nvSpPr>
          <p:cNvPr id="4" name="Slide Number Placeholder 3"/>
          <p:cNvSpPr>
            <a:spLocks noGrp="1"/>
          </p:cNvSpPr>
          <p:nvPr>
            <p:ph type="sldNum" idx="5" sz="quarter"/>
          </p:nvPr>
        </p:nvSpPr>
        <p:spPr/>
      </p:sp>
    </p:spTree>
  </p:cSld>
  <p:clrMapOvr>
    <a:masterClrMapping/>
  </p:clrMapOvr>
</p:notes>
</file>

<file path=ppt/notesSlides/notesSlide1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Let's establish three core best practices that will guide your applyTo pattern decisions:</a:t>
            </a:r>
          </a:p>
          <a:p/>
          <a:p>
            <a:r>
              <a:t>**Best Practice 1: Be Specific When Possible**</a:t>
            </a:r>
          </a:p>
          <a:p/>
          <a:p>
            <a:r>
              <a:t>The more specific your pattern, the better. Why?</a:t>
            </a:r>
          </a:p>
          <a:p/>
          <a:p>
            <a:r>
              <a:t>- Reduces Copilot context size (faster responses)</a:t>
            </a:r>
          </a:p>
          <a:p>
            <a:r>
              <a:t>- Prevents instruction conflicts</a:t>
            </a:r>
          </a:p>
          <a:p>
            <a:r>
              <a:t>- Makes intent clear to other developers</a:t>
            </a:r>
          </a:p>
          <a:p>
            <a:r>
              <a:t>- Easier to debug when instructions aren't applying as expected</a:t>
            </a:r>
          </a:p>
          <a:p/>
          <a:p>
            <a:r>
              <a:t>Counter-example: If you use "\*\*" for styling instructions that really only apply to frontend components, Copilot will load those instructions even when editing backend API code or database migrations. That's wasteful and confusing.</a:t>
            </a:r>
          </a:p>
          <a:p/>
          <a:p>
            <a:r>
              <a:t>**Best Practice 2: Use Brace Expansion**</a:t>
            </a:r>
          </a:p>
          <a:p/>
          <a:p>
            <a:r>
              <a:t>When instructions apply to multiple file types, use brace expansion rather than creating multiple instruction files:</a:t>
            </a:r>
          </a:p>
          <a:p/>
          <a:p>
            <a:r>
              <a:t>- Maintains single source of truth</a:t>
            </a:r>
          </a:p>
          <a:p>
            <a:r>
              <a:t>- Easier to update (one file instead of many)</a:t>
            </a:r>
          </a:p>
          <a:p>
            <a:r>
              <a:t>- Consistent rules across languages</a:t>
            </a:r>
          </a:p>
          <a:p/>
          <a:p>
            <a:r>
              <a:t>But be careful: Only group file types that truly need the same instructions. Don't group Python and JavaScript just because they're both "code" if the instructions differ.</a:t>
            </a:r>
          </a:p>
          <a:p/>
          <a:p>
            <a:r>
              <a:t>**Best Practice 3: Match Scope to Purpose**</a:t>
            </a:r>
          </a:p>
          <a:p/>
          <a:p>
            <a:r>
              <a:t>This is about semantic clarity:</a:t>
            </a:r>
          </a:p>
          <a:p/>
          <a:p>
            <a:r>
              <a:t>- Architecture patterns → Source code directories</a:t>
            </a:r>
          </a:p>
          <a:p>
            <a:r>
              <a:t>- Documentation standards → Docs directories</a:t>
            </a:r>
          </a:p>
          <a:p>
            <a:r>
              <a:t>- Testing guidelines → Test directories</a:t>
            </a:r>
          </a:p>
          <a:p>
            <a:r>
              <a:t>- Deployment instructions → CI/CD configs</a:t>
            </a:r>
          </a:p>
          <a:p/>
          <a:p>
            <a:r>
              <a:t>The pattern should make the instruction's purpose obvious at a glance.</a:t>
            </a:r>
          </a:p>
          <a:p/>
          <a:p>
            <a:r>
              <a:t>**Example of bad scope**: Having security scanning instructions with "\*_/_.md" - security scans don't apply to markdown files.</a:t>
            </a:r>
          </a:p>
          <a:p/>
          <a:p>
            <a:r>
              <a:t>**Example of good scope**: Having security scanning with "src/\*_/_.{cs,js,py}" - clearly applies to source code only.</a:t>
            </a:r>
          </a:p>
          <a:p/>
          <a:p>
            <a:r>
              <a:t>**Timing**: 2.5 minutes</a:t>
            </a:r>
          </a:p>
          <a:p>
            <a:r>
              <a:t>**Emphasize**: "Specificity is not just a performance optimization - it's about clarity and maintainability"</a:t>
            </a:r>
          </a:p>
          <a:p/>
          <a:p>
            <a:r>
              <a:t>---</a:t>
            </a:r>
          </a:p>
          <a:p/>
          <a:p>
            <a:r>
              <a:t>Source: Slides\individual-slides\instruction-file-applyto-patterns.md</a:t>
            </a:r>
          </a:p>
        </p:txBody>
      </p:sp>
      <p:sp>
        <p:nvSpPr>
          <p:cNvPr id="4" name="Slide Number Placeholder 3"/>
          <p:cNvSpPr>
            <a:spLocks noGrp="1"/>
          </p:cNvSpPr>
          <p:nvPr>
            <p:ph type="sldNum" idx="5" sz="quarter"/>
          </p:nvPr>
        </p:nvSpPr>
        <p:spPr/>
      </p:sp>
    </p:spTree>
  </p:cSld>
  <p:clrMapOvr>
    <a:masterClrMapping/>
  </p:clrMapOvr>
</p:notes>
</file>

<file path=ppt/notesSlides/notesSlide1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Let's look at three common mistakes and how to avoid them:</a:t>
            </a:r>
          </a:p>
          <a:p/>
          <a:p>
            <a:r>
              <a:t>**Pitfall 1: Too Broad**</a:t>
            </a:r>
          </a:p>
          <a:p/>
          <a:p>
            <a:r>
              <a:t>This happens when you use a universal pattern for something specific. The example shows slide formatting instructions using "\*\*" - this would apply formatting rules designed for Marp presentations to every file in your repository, including C# code, JSON configs, and shell scripts. That's confusing for both developers and Copilot.</a:t>
            </a:r>
          </a:p>
          <a:p/>
          <a:p>
            <a:r>
              <a:t>**How to identify**: If your instruction file has a specific purpose that doesn't apply to ALL files, don't use "\*\*"</a:t>
            </a:r>
          </a:p>
          <a:p/>
          <a:p>
            <a:r>
              <a:t>**Fix**: Narrow to the specific directory or file types</a:t>
            </a:r>
          </a:p>
          <a:p/>
          <a:p>
            <a:r>
              <a:t>**Pitfall 2: Too Narrow**</a:t>
            </a:r>
          </a:p>
          <a:p/>
          <a:p>
            <a:r>
              <a:t>This is the opposite problem - being so specific that the instructions become brittle and hard to maintain. In the example, targeting only the UserManagement feature means:</a:t>
            </a:r>
          </a:p>
          <a:p/>
          <a:p>
            <a:r>
              <a:t>- You need separate instruction files for each feature</a:t>
            </a:r>
          </a:p>
          <a:p>
            <a:r>
              <a:t>- Adding a new feature requires a new instruction file</a:t>
            </a:r>
          </a:p>
          <a:p>
            <a:r>
              <a:t>- The same architectural patterns can't be shared across features</a:t>
            </a:r>
          </a:p>
          <a:p/>
          <a:p>
            <a:r>
              <a:t>**How to identify**: If you find yourself creating many nearly-identical instruction files, your patterns are too narrow</a:t>
            </a:r>
          </a:p>
          <a:p/>
          <a:p>
            <a:r>
              <a:t>**Fix**: Identify the common scope (like "src/Features/\*\*") and use that</a:t>
            </a:r>
          </a:p>
          <a:p/>
          <a:p>
            <a:r>
              <a:t>**Pitfall 3: Overlapping Instructions**</a:t>
            </a:r>
          </a:p>
          <a:p/>
          <a:p>
            <a:r>
              <a:t>This is the trickiest pitfall. When multiple instruction files match the same file path, Copilot loads all of them. Sometimes that's intentional (general coding standards + language-specific patterns), but often it's accidental and creates conflicts.</a:t>
            </a:r>
          </a:p>
          <a:p/>
          <a:p>
            <a:r>
              <a:t>**Concrete example**:</a:t>
            </a:r>
          </a:p>
          <a:p/>
          <a:p>
            <a:r>
              <a:t>- vertical-slice.instructions.md has "\*_/_.cs"</a:t>
            </a:r>
          </a:p>
          <a:p>
            <a:r>
              <a:t>- cqrs-architecture.instructions.md also has "\*_/_.cs"</a:t>
            </a:r>
          </a:p>
          <a:p>
            <a:r>
              <a:t>- Both get loaded for every C# file</a:t>
            </a:r>
          </a:p>
          <a:p>
            <a:r>
              <a:t>- If they have conflicting guidance (which architectural style to use), Copilot gets confused</a:t>
            </a:r>
          </a:p>
          <a:p/>
          <a:p>
            <a:r>
              <a:t>**How to identify**: List all your instruction files and their patterns side-by-side. Look for overlaps.</a:t>
            </a:r>
          </a:p>
          <a:p/>
          <a:p>
            <a:r>
              <a:t>**Fix strategies**:</a:t>
            </a:r>
          </a:p>
          <a:p/>
          <a:p>
            <a:r>
              <a:t>1. Make patterns mutually exclusive (one uses "src/Domain/**", the other uses "src/Infrastructure/**")</a:t>
            </a:r>
          </a:p>
          <a:p>
            <a:r>
              <a:t>2. Use more specific file naming patterns (one targets "_.Commands.cs", the other "_.Queries.cs")</a:t>
            </a:r>
          </a:p>
          <a:p>
            <a:r>
              <a:t>3. If overlap is intentional, ensure instructions are complementary, not contradictory</a:t>
            </a:r>
          </a:p>
          <a:p/>
          <a:p>
            <a:r>
              <a:t>**Timing**: 3 minutes - this is important, take time for questions</a:t>
            </a:r>
          </a:p>
          <a:p>
            <a:r>
              <a:t>**Interactive element**: "Has anyone experienced unexpected Copilot behavior? It might be due to overlapping instructions."</a:t>
            </a:r>
          </a:p>
          <a:p/>
          <a:p>
            <a:r>
              <a:t>---</a:t>
            </a:r>
          </a:p>
          <a:p/>
          <a:p>
            <a:r>
              <a:t>Source: Slides\individual-slides\instruction-file-applyto-patterns.md</a:t>
            </a:r>
          </a:p>
        </p:txBody>
      </p:sp>
      <p:sp>
        <p:nvSpPr>
          <p:cNvPr id="4" name="Slide Number Placeholder 3"/>
          <p:cNvSpPr>
            <a:spLocks noGrp="1"/>
          </p:cNvSpPr>
          <p:nvPr>
            <p:ph type="sldNum" idx="5" sz="quarter"/>
          </p:nvPr>
        </p:nvSpPr>
        <p:spPr/>
      </p:sp>
    </p:spTree>
  </p:cSld>
  <p:clrMapOvr>
    <a:masterClrMapping/>
  </p:clrMapOvr>
</p:notes>
</file>

<file path=ppt/notesSlides/notesSlide1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Testing your applyTo patterns before committing is crucial. Here are three methods, in order of sophistication:</a:t>
            </a:r>
          </a:p>
          <a:p/>
          <a:p>
            <a:r>
              <a:t>**Method 1: File System Commands**</a:t>
            </a:r>
          </a:p>
          <a:p/>
          <a:p>
            <a:r>
              <a:t>Use your shell's file finding capabilities to preview what matches:</a:t>
            </a:r>
          </a:p>
          <a:p/>
          <a:p>
            <a:r>
              <a:t>PowerShell (Windows):</a:t>
            </a:r>
          </a:p>
          <a:p/>
          <a:p>
            <a:r>
              <a:t>- Get-ChildItem with -Filter and -Recurse shows what files match</a:t>
            </a:r>
          </a:p>
          <a:p>
            <a:r>
              <a:t>- Can pipe to Where-Object for complex filtering</a:t>
            </a:r>
          </a:p>
          <a:p>
            <a:r>
              <a:t>- Example: Get-ChildItem -Path ".\src" -Filter "\*.cs" -Recurse | Select-Object FullName</a:t>
            </a:r>
          </a:p>
          <a:p/>
          <a:p>
            <a:r>
              <a:t>Bash/Zsh (Linux/Mac):</a:t>
            </a:r>
          </a:p>
          <a:p/>
          <a:p>
            <a:r>
              <a:t>- find command with -name flag</a:t>
            </a:r>
          </a:p>
          <a:p>
            <a:r>
              <a:t>- Can combine with grep for more complex patterns</a:t>
            </a:r>
          </a:p>
          <a:p>
            <a:r>
              <a:t>- Example: find ./src -name "\*.cs" -type f</a:t>
            </a:r>
          </a:p>
          <a:p/>
          <a:p>
            <a:r>
              <a:t>**Why this matters**: If your pattern matches more or fewer files than expected, you'll catch it before Copilot does.</a:t>
            </a:r>
          </a:p>
          <a:p/>
          <a:p>
            <a:r>
              <a:t>**Method 2: Online Glob Testers**</a:t>
            </a:r>
          </a:p>
          <a:p/>
          <a:p>
            <a:r>
              <a:t>Tools like globster.xyz let you:</a:t>
            </a:r>
          </a:p>
          <a:p/>
          <a:p>
            <a:r>
              <a:t>- Enter a glob pattern</a:t>
            </a:r>
          </a:p>
          <a:p>
            <a:r>
              <a:t>- Paste a list of file paths</a:t>
            </a:r>
          </a:p>
          <a:p>
            <a:r>
              <a:t>- See visually which paths match</a:t>
            </a:r>
          </a:p>
          <a:p/>
          <a:p>
            <a:r>
              <a:t>This is especially useful for complex patterns with brace expansion or character classes. You can experiment with patterns and see results immediately without touching your repository.</a:t>
            </a:r>
          </a:p>
          <a:p/>
          <a:p>
            <a:r>
              <a:t>**Pro tip**: Keep a browser tab with globster open when writing complex patterns</a:t>
            </a:r>
          </a:p>
          <a:p/>
          <a:p>
            <a:r>
              <a:t>**Method 3: Behavioral Testing**</a:t>
            </a:r>
          </a:p>
          <a:p/>
          <a:p>
            <a:r>
              <a:t>The ultimate test - does Copilot actually behave as expected?</a:t>
            </a:r>
          </a:p>
          <a:p/>
          <a:p>
            <a:r>
              <a:t>Steps:</a:t>
            </a:r>
          </a:p>
          <a:p/>
          <a:p>
            <a:r>
              <a:t>1. Add your instruction file with applyTo pattern</a:t>
            </a:r>
          </a:p>
          <a:p>
            <a:r>
              <a:t>2. Open a file that SHOULD match</a:t>
            </a:r>
          </a:p>
          <a:p>
            <a:r>
              <a:t>3. Ask Copilot to do something covered by the instruction</a:t>
            </a:r>
          </a:p>
          <a:p>
            <a:r>
              <a:t>4. Verify it follows the rules</a:t>
            </a:r>
          </a:p>
          <a:p>
            <a:r>
              <a:t>5. Open a file that SHOULD NOT match</a:t>
            </a:r>
          </a:p>
          <a:p>
            <a:r>
              <a:t>6. Verify Copilot doesn't apply those rules</a:t>
            </a:r>
          </a:p>
          <a:p/>
          <a:p>
            <a:r>
              <a:t>**Example**: After adding a vertical-slice.instructions.md with "src/\*_/_.cs", open a C# file in src/ and ask Copilot to create a new feature. It should use vertical slice architecture. Then open a C# file in tests/ and verify it doesn't try to apply feature architecture to test code.</a:t>
            </a:r>
          </a:p>
          <a:p/>
          <a:p>
            <a:r>
              <a:t>**Timing**: 2 minutes</a:t>
            </a:r>
          </a:p>
          <a:p>
            <a:r>
              <a:t>**Practical tip**: "I recommend testing every new instruction file pattern with method 1 or 2 before pushing to your team"</a:t>
            </a:r>
          </a:p>
          <a:p>
            <a:r>
              <a:t>**Transition**: "Let's wrap up with key takeaways"</a:t>
            </a:r>
          </a:p>
          <a:p/>
          <a:p>
            <a:r>
              <a:t>---</a:t>
            </a:r>
          </a:p>
          <a:p/>
          <a:p>
            <a:r>
              <a:t>Source: Slides\individual-slides\instruction-file-applyto-patterns.md</a:t>
            </a:r>
          </a:p>
        </p:txBody>
      </p:sp>
      <p:sp>
        <p:nvSpPr>
          <p:cNvPr id="4" name="Slide Number Placeholder 3"/>
          <p:cNvSpPr>
            <a:spLocks noGrp="1"/>
          </p:cNvSpPr>
          <p:nvPr>
            <p:ph type="sldNum" idx="5" sz="quarter"/>
          </p:nvPr>
        </p:nvSpPr>
        <p:spPr/>
      </p:sp>
    </p:spTree>
  </p:cSld>
  <p:clrMapOvr>
    <a:masterClrMapping/>
  </p:clrMapOvr>
</p:notes>
</file>

<file path=ppt/notesSlides/notesSlide1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Let's consolidate the technical details about how pattern matching actually works in practice:</a:t>
            </a:r>
          </a:p>
          <a:p/>
          <a:p>
            <a:r>
              <a:t>**Evaluation Timing**:</a:t>
            </a:r>
          </a:p>
          <a:p>
            <a:r>
              <a:t>Pattern matching happens dynamically. When you open a file, VS Code/Copilot:</a:t>
            </a:r>
          </a:p>
          <a:p/>
          <a:p>
            <a:r>
              <a:t>1. Scans all instruction files in the workspace</a:t>
            </a:r>
          </a:p>
          <a:p>
            <a:r>
              <a:t>2. Evaluates each applyTo pattern against the current file path</a:t>
            </a:r>
          </a:p>
          <a:p>
            <a:r>
              <a:t>3. Loads matching instructions into Copilot's context window</a:t>
            </a:r>
          </a:p>
          <a:p>
            <a:r>
              <a:t>4. This context is then used for all Copilot operations in that file</a:t>
            </a:r>
          </a:p>
          <a:p/>
          <a:p>
            <a:r>
              <a:t>This is important because it means pattern matching is NOT a one-time operation at startup - it happens constantly as you switch between files.</a:t>
            </a:r>
          </a:p>
          <a:p/>
          <a:p>
            <a:r>
              <a:t>**Multiple Matches**:</a:t>
            </a:r>
          </a:p>
          <a:p>
            <a:r>
              <a:t>It's perfectly valid for multiple instruction files to match the same file. Copilot will try to follow all applicable instructions. This is why avoiding conflicts is so important - if two instructions contradict each other, Copilot will struggle.</a:t>
            </a:r>
          </a:p>
          <a:p/>
          <a:p>
            <a:r>
              <a:t>**Example of intentional multiple matches**:</a:t>
            </a:r>
          </a:p>
          <a:p/>
          <a:p>
            <a:r>
              <a:t>- general-coding-standards.instructions.md with "\*_/_.cs"</a:t>
            </a:r>
          </a:p>
          <a:p>
            <a:r>
              <a:t>- vertical-slice-architecture.instructions.md with "src/Features/\*_/_.cs"</a:t>
            </a:r>
          </a:p>
          <a:p>
            <a:r>
              <a:t>- A file at "src/Features/Users/CreateUser.cs" matches both</a:t>
            </a:r>
          </a:p>
          <a:p>
            <a:r>
              <a:t>- Both instruction sets apply (general standards + architecture patterns)</a:t>
            </a:r>
          </a:p>
          <a:p>
            <a:r>
              <a:t>- This works if the instructions are complementary</a:t>
            </a:r>
          </a:p>
          <a:p/>
          <a:p>
            <a:r>
              <a:t>**Specificity and Precedence**:</a:t>
            </a:r>
          </a:p>
          <a:p>
            <a:r>
              <a:t>Unlike CSS, there's no formal "specificity" calculation where more specific patterns override less specific ones. Instead, ALL matching instructions are loaded. The idea of "precedence" is more about human clarity - more specific patterns make intent clearer, but don't technically override anything.</a:t>
            </a:r>
          </a:p>
          <a:p/>
          <a:p>
            <a:r>
              <a:t>**Repository Root**:</a:t>
            </a:r>
          </a:p>
          <a:p>
            <a:r>
              <a:t>All patterns are relative to the workspace root (where .git directory is located). There's no way to use absolute paths, which is good for portability.</a:t>
            </a:r>
          </a:p>
          <a:p/>
          <a:p>
            <a:r>
              <a:t>**Case Sensitivity**:</a:t>
            </a:r>
          </a:p>
          <a:p>
            <a:r>
              <a:t>Critical detail - this depends on the underlying file system:</a:t>
            </a:r>
          </a:p>
          <a:p/>
          <a:p>
            <a:r>
              <a:t>- Windows: case-insensitive ("\*.MD" matches "file.md")</a:t>
            </a:r>
          </a:p>
          <a:p>
            <a:r>
              <a:t>- Linux: case-sensitive ("\*.MD" matches "file.MD" but not "file.md")</a:t>
            </a:r>
          </a:p>
          <a:p>
            <a:r>
              <a:t>- macOS: depends on file system format (usually case-insensitive)</a:t>
            </a:r>
          </a:p>
          <a:p/>
          <a:p>
            <a:r>
              <a:t>Best practice: Always use lowercase in patterns and standardize file naming to lowercase to avoid cross-platform issues.</a:t>
            </a:r>
          </a:p>
          <a:p/>
          <a:p>
            <a:r>
              <a:t>**Timing**: 2-3 minutes</a:t>
            </a:r>
          </a:p>
          <a:p>
            <a:r>
              <a:t>**Important**: "The dynamic evaluation means you can test instruction changes immediately - just close and reopen a file"</a:t>
            </a:r>
          </a:p>
          <a:p/>
          <a:p>
            <a:r>
              <a:t>---</a:t>
            </a:r>
          </a:p>
          <a:p/>
          <a:p>
            <a:r>
              <a:t>Source: Slides\individual-slides\instruction-file-applyto-patterns.md</a:t>
            </a:r>
          </a:p>
        </p:txBody>
      </p:sp>
      <p:sp>
        <p:nvSpPr>
          <p:cNvPr id="4" name="Slide Number Placeholder 3"/>
          <p:cNvSpPr>
            <a:spLocks noGrp="1"/>
          </p:cNvSpPr>
          <p:nvPr>
            <p:ph type="sldNum" idx="5" sz="quarter"/>
          </p:nvPr>
        </p:nvSpPr>
        <p:spPr/>
      </p:sp>
    </p:spTree>
  </p:cSld>
  <p:clrMapOvr>
    <a:masterClrMapping/>
  </p:clrMapOvr>
</p:notes>
</file>

<file path=ppt/notesSlides/notesSlide1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Let's wrap up with a practical decision-making framework:</a:t>
            </a:r>
          </a:p>
          <a:p/>
          <a:p>
            <a:r>
              <a:t>**The Four Essential Pattern Categories**:</a:t>
            </a:r>
          </a:p>
          <a:p/>
          <a:p>
            <a:r>
              <a:t>These four patterns cover 95% of real-world use cases. Let me give you concrete examples of when to use each:</a:t>
            </a:r>
          </a:p>
          <a:p/>
          <a:p>
            <a:r>
              <a:t>1. **Universal `**/\*`\*\*:</a:t>
            </a:r>
          </a:p>
          <a:p>
            <a:r>
              <a:t>   - AI provenance policies</a:t>
            </a:r>
          </a:p>
          <a:p>
            <a:r>
              <a:t>   - Security compliance requirements</a:t>
            </a:r>
          </a:p>
          <a:p>
            <a:r>
              <a:t>   - Legal/licensing standards</a:t>
            </a:r>
          </a:p>
          <a:p>
            <a:r>
              <a:t>   - Organization-wide conventions</a:t>
            </a:r>
          </a:p>
          <a:p>
            <a:r>
              <a:t>   - Should be max 2-3 instruction files in your entire repo</a:t>
            </a:r>
          </a:p>
          <a:p/>
          <a:p>
            <a:r>
              <a:t>2. **Multi-extension `**/\*.{ext1,ext2}`\*\*:</a:t>
            </a:r>
          </a:p>
          <a:p>
            <a:r>
              <a:t>   - Language-agnostic code quality patterns</a:t>
            </a:r>
          </a:p>
          <a:p>
            <a:r>
              <a:t>   - Cross-language architecture styles</a:t>
            </a:r>
          </a:p>
          <a:p>
            <a:r>
              <a:t>   - Multi-language testing strategies</a:t>
            </a:r>
          </a:p>
          <a:p>
            <a:r>
              <a:t>   - Example: Vertical slice could apply to C#, TypeScript, Python features</a:t>
            </a:r>
          </a:p>
          <a:p/>
          <a:p>
            <a:r>
              <a:t>3. **Directory scope `directory/**`\*\*:</a:t>
            </a:r>
          </a:p>
          <a:p>
            <a:r>
              <a:t>   - Slide formatting (Slides/\*)</a:t>
            </a:r>
          </a:p>
          <a:p>
            <a:r>
              <a:t>   - API documentation (docs/api/\*\*)</a:t>
            </a:r>
          </a:p>
          <a:p>
            <a:r>
              <a:t>   - Feature isolation (src/Features/\*\*)</a:t>
            </a:r>
          </a:p>
          <a:p>
            <a:r>
              <a:t>   - Test organization (tests/\*\*)</a:t>
            </a:r>
          </a:p>
          <a:p/>
          <a:p>
            <a:r>
              <a:t>4. **Specialized naming `**/\*.pattern.ext`\*\*:</a:t>
            </a:r>
          </a:p>
          <a:p>
            <a:r>
              <a:t>   - Instruction files themselves (\*.instructions.md)</a:t>
            </a:r>
          </a:p>
          <a:p>
            <a:r>
              <a:t>   - Prompt files (\*.prompt.md)</a:t>
            </a:r>
          </a:p>
          <a:p>
            <a:r>
              <a:t>   - Test files (_.test.js, _.spec.ts)</a:t>
            </a:r>
          </a:p>
          <a:p>
            <a:r>
              <a:t>   - Generated files (\*.generated.cs)</a:t>
            </a:r>
          </a:p>
          <a:p/>
          <a:p>
            <a:r>
              <a:t>**Using the Decision Tree**:</a:t>
            </a:r>
          </a:p>
          <a:p/>
          <a:p>
            <a:r>
              <a:t>Work through the questions in order. The first "yes" answer tells you which pattern category to use. Then refine within that category.</a:t>
            </a:r>
          </a:p>
          <a:p/>
          <a:p>
            <a:r>
              <a:t>Example walkthrough:</a:t>
            </a:r>
          </a:p>
          <a:p/>
          <a:p>
            <a:r>
              <a:t>- "I'm creating architecture guidelines for CQRS"</a:t>
            </a:r>
          </a:p>
          <a:p>
            <a:r>
              <a:t>- Q1: All files? No (config files don't need CQRS patterns)</a:t>
            </a:r>
          </a:p>
          <a:p>
            <a:r>
              <a:t>- Q2: Specific file types? Yes - code files</a:t>
            </a:r>
          </a:p>
          <a:p>
            <a:r>
              <a:t>- → Use `**/*.{cs,ts,js,py}`</a:t>
            </a:r>
          </a:p>
          <a:p>
            <a:r>
              <a:t>- Refinement: Maybe only src directory: `src/**/*.{cs,ts,js,py}`</a:t>
            </a:r>
          </a:p>
          <a:p/>
          <a:p>
            <a:r>
              <a:t>**Documentation is Critical**:</a:t>
            </a:r>
          </a:p>
          <a:p/>
          <a:p>
            <a:r>
              <a:t>In your instruction file, add a comment in the front matter explaining the pattern choice:</a:t>
            </a:r>
          </a:p>
          <a:p/>
          <a:p>
            <a:r>
              <a:t>```yaml</a:t>
            </a:r>
          </a:p>
          <a:p>
            <a:r>
              <a:t>applyTo: "src/Features/**/*.cs"</a:t>
            </a:r>
          </a:p>
          <a:p>
            <a:r>
              <a:t>```</a:t>
            </a:r>
          </a:p>
          <a:p/>
          <a:p>
            <a:r>
              <a:t>This helps future developers (including yourself) understand the reasoning.</a:t>
            </a:r>
          </a:p>
          <a:p/>
          <a:p>
            <a:r>
              <a:t>**Review and Iterate**:</a:t>
            </a:r>
          </a:p>
          <a:p/>
          <a:p>
            <a:r>
              <a:t>Patterns aren't set in stone. If you notice:</a:t>
            </a:r>
          </a:p>
          <a:p/>
          <a:p>
            <a:r>
              <a:t>- Instructions not being applied when expected</a:t>
            </a:r>
          </a:p>
          <a:p>
            <a:r>
              <a:t>- Instructions being applied to wrong files</a:t>
            </a:r>
          </a:p>
          <a:p>
            <a:r>
              <a:t>- Need to refactor directory structure</a:t>
            </a:r>
          </a:p>
          <a:p/>
          <a:p>
            <a:r>
              <a:t>Then review and update your patterns. This is normal maintenance.</a:t>
            </a:r>
          </a:p>
          <a:p/>
          <a:p>
            <a:r>
              <a:t>**Final thought**: "Good applyTo patterns make Copilot predictable and reliable. Take the time to get them right."</a:t>
            </a:r>
          </a:p>
          <a:p/>
          <a:p>
            <a:r>
              <a:t>**Timing**: 3 minutes for comprehensive wrap-up</a:t>
            </a:r>
          </a:p>
          <a:p>
            <a:r>
              <a:t>**End with**: "Questions about applyTo patterns or glob syntax?"</a:t>
            </a:r>
          </a:p>
          <a:p/>
          <a:p>
            <a:r>
              <a:t>---</a:t>
            </a:r>
          </a:p>
          <a:p/>
          <a:p>
            <a:r>
              <a:t>Source: Slides\individual-slides\instruction-file-applyto-patterns.md</a:t>
            </a:r>
          </a:p>
        </p:txBody>
      </p:sp>
      <p:sp>
        <p:nvSpPr>
          <p:cNvPr id="4" name="Slide Number Placeholder 3"/>
          <p:cNvSpPr>
            <a:spLocks noGrp="1"/>
          </p:cNvSpPr>
          <p:nvPr>
            <p:ph type="sldNum" idx="5" sz="quarter"/>
          </p:nvPr>
        </p:nvSpPr>
        <p:spPr/>
      </p:sp>
    </p:spTree>
  </p:cSld>
  <p:clrMapOvr>
    <a:masterClrMapping/>
  </p:clrMapOvr>
</p:notes>
</file>

<file path=ppt/notesSlides/notesSlide1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closing slide - keep it brief and actionable.</a:t>
            </a:r>
          </a:p>
          <a:p/>
          <a:p>
            <a:r>
              <a:t>**Resources to Share**:</a:t>
            </a:r>
          </a:p>
          <a:p/>
          <a:p>
            <a:r>
              <a:t>Point attendees to:</a:t>
            </a:r>
          </a:p>
          <a:p/>
          <a:p>
            <a:r>
              <a:t>1. The globster.xyz website - they should bookmark this</a:t>
            </a:r>
          </a:p>
          <a:p>
            <a:r>
              <a:t>2. Official GitHub documentation on instruction files (if available)</a:t>
            </a:r>
          </a:p>
          <a:p>
            <a:r>
              <a:t>3. This repository's .github/instructions/ directory as examples</a:t>
            </a:r>
          </a:p>
          <a:p/>
          <a:p>
            <a:r>
              <a:t>**Practice Exercise**:</a:t>
            </a:r>
          </a:p>
          <a:p/>
          <a:p>
            <a:r>
              <a:t>These three exercises cover the main pattern categories:</a:t>
            </a:r>
          </a:p>
          <a:p/>
          <a:p>
            <a:r>
              <a:t>Exercise 1 - CQRS Architecture:</a:t>
            </a:r>
          </a:p>
          <a:p/>
          <a:p>
            <a:r>
              <a:t>- Should apply to: C#, TypeScript, Python code files</a:t>
            </a:r>
          </a:p>
          <a:p>
            <a:r>
              <a:t>- Suggested pattern: `src/**/*.{cs,ts,py}`</a:t>
            </a:r>
          </a:p>
          <a:p>
            <a:r>
              <a:t>- Excludes: tests, config files, documentation</a:t>
            </a:r>
          </a:p>
          <a:p>
            <a:r>
              <a:t>- Learning goal: Multi-extension file type targeting</a:t>
            </a:r>
          </a:p>
          <a:p/>
          <a:p>
            <a:r>
              <a:t>Exercise 2 - Mermaid Diagram Standards:</a:t>
            </a:r>
          </a:p>
          <a:p/>
          <a:p>
            <a:r>
              <a:t>- Should apply to: All markdown files with diagrams</a:t>
            </a:r>
          </a:p>
          <a:p>
            <a:r>
              <a:t>- Suggested pattern: `**/*.md` or `docs/**/*.md` if narrower</a:t>
            </a:r>
          </a:p>
          <a:p>
            <a:r>
              <a:t>- Excludes: Non-markdown files</a:t>
            </a:r>
          </a:p>
          <a:p>
            <a:r>
              <a:t>- Learning goal: Extension-based filtering</a:t>
            </a:r>
          </a:p>
          <a:p/>
          <a:p>
            <a:r>
              <a:t>Exercise 3 - Test Naming Conventions:</a:t>
            </a:r>
          </a:p>
          <a:p/>
          <a:p>
            <a:r>
              <a:t>- Should apply to: Test files only</a:t>
            </a:r>
          </a:p>
          <a:p>
            <a:r>
              <a:t>- Suggested pattern: `**/*.{test,spec}.{js,ts}` or `tests/**/*`</a:t>
            </a:r>
          </a:p>
          <a:p>
            <a:r>
              <a:t>- Excludes: Source code</a:t>
            </a:r>
          </a:p>
          <a:p>
            <a:r>
              <a:t>- Learning goal: Specialized naming patterns or directory scoping</a:t>
            </a:r>
          </a:p>
          <a:p/>
          <a:p>
            <a:r>
              <a:t>Have them create these instruction files with proper applyTo patterns and test whether they match the expected files using the methods from slide 9.</a:t>
            </a:r>
          </a:p>
          <a:p/>
          <a:p>
            <a:r>
              <a:t>**Timing for Q&amp;A**: Budget at least 5 minutes</a:t>
            </a:r>
          </a:p>
          <a:p>
            <a:r>
              <a:t>**Common questions to expect**:</a:t>
            </a:r>
          </a:p>
          <a:p/>
          <a:p>
            <a:r>
              <a:t>- "Can I use regex in applyTo?" (No, only glob patterns)</a:t>
            </a:r>
          </a:p>
          <a:p>
            <a:r>
              <a:t>- "What if I need NOT patterns?" (Use specific inclusion instead)</a:t>
            </a:r>
          </a:p>
          <a:p>
            <a:r>
              <a:t>- "Can patterns match directories themselves?" (Patterns match files, but `dir/**` matches all files in dir)</a:t>
            </a:r>
          </a:p>
          <a:p>
            <a:r>
              <a:t>- "How do I debug when patterns don't work?" (Use the testing methods from slide 9)</a:t>
            </a:r>
          </a:p>
          <a:p/>
          <a:p>
            <a:r>
              <a:t>**Closing statement**: "Remember, good applyTo patterns are the key to making Copilot instruction files reliable and maintainable. Start with these patterns, test them thoroughly, and iterate based on real-world usage."</a:t>
            </a:r>
          </a:p>
          <a:p/>
          <a:p>
            <a:r>
              <a:t>---</a:t>
            </a:r>
          </a:p>
          <a:p/>
          <a:p>
            <a:r>
              <a:t>Source: Slides\individual-slides\instruction-file-applyto-patterns.md</a:t>
            </a:r>
          </a:p>
        </p:txBody>
      </p:sp>
      <p:sp>
        <p:nvSpPr>
          <p:cNvPr id="4" name="Slide Number Placeholder 3"/>
          <p:cNvSpPr>
            <a:spLocks noGrp="1"/>
          </p:cNvSpPr>
          <p:nvPr>
            <p:ph type="sldNum" idx="5" sz="quarter"/>
          </p:nvPr>
        </p:nvSpPr>
        <p:spPr/>
      </p:sp>
    </p:spTree>
  </p:cSld>
  <p:clrMapOvr>
    <a:masterClrMapping/>
  </p:clrMapOvr>
</p:notes>
</file>

<file path=ppt/notesSlides/notesSlide1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**Closing Remarks**:</a:t>
            </a:r>
          </a:p>
          <a:p/>
          <a:p>
            <a:r>
              <a:t>Thank you all for your attention. The applyTo pattern system might seem simple on the surface, but as we've seen, there's real depth to using it effectively.</a:t>
            </a:r>
          </a:p>
          <a:p/>
          <a:p>
            <a:r>
              <a:t>**Key messages to leave with**:</a:t>
            </a:r>
          </a:p>
          <a:p/>
          <a:p>
            <a:r>
              <a:t>1. Specificity prevents conflicts</a:t>
            </a:r>
          </a:p>
          <a:p>
            <a:r>
              <a:t>2. Test your patterns before committing</a:t>
            </a:r>
          </a:p>
          <a:p>
            <a:r>
              <a:t>3. Document your pattern choices</a:t>
            </a:r>
          </a:p>
          <a:p>
            <a:r>
              <a:t>4. Review and refine based on real usage</a:t>
            </a:r>
          </a:p>
          <a:p/>
          <a:p>
            <a:r>
              <a:t>**Engagement**:</a:t>
            </a:r>
          </a:p>
          <a:p/>
          <a:p>
            <a:r>
              <a:t>- "Please reach out with questions as you implement these patterns in your projects"</a:t>
            </a:r>
          </a:p>
          <a:p>
            <a:r>
              <a:t>- "Share your experiences - both successes and challenges - with the team"</a:t>
            </a:r>
          </a:p>
          <a:p>
            <a:r>
              <a:t>- "The GitHub repository has many examples in the .github/instructions/ directory"</a:t>
            </a:r>
          </a:p>
          <a:p/>
          <a:p>
            <a:r>
              <a:t>**Next Steps**:</a:t>
            </a:r>
          </a:p>
          <a:p/>
          <a:p>
            <a:r>
              <a:t>- Review the instruction files in this repository</a:t>
            </a:r>
          </a:p>
          <a:p>
            <a:r>
              <a:t>- Try the practice exercises</a:t>
            </a:r>
          </a:p>
          <a:p>
            <a:r>
              <a:t>- Start applying these patterns to your own projects</a:t>
            </a:r>
          </a:p>
          <a:p>
            <a:r>
              <a:t>- Share learnings with your team</a:t>
            </a:r>
          </a:p>
          <a:p/>
          <a:p>
            <a:r>
              <a:t>**Call to Action**:</a:t>
            </a:r>
          </a:p>
          <a:p>
            <a:r>
              <a:t>"I'd encourage everyone to audit one of your existing projects this week - look at your instruction files and their applyTo patterns. Are they as specific as they could be? Are there conflicts? Use the testing methods we discussed to verify them."</a:t>
            </a:r>
          </a:p>
          <a:p/>
          <a:p>
            <a:r>
              <a:t>**Timing**: 1 minute</a:t>
            </a:r>
          </a:p>
          <a:p>
            <a:r>
              <a:t>**Tone**: Encouraging and supportive - this is about continuous improvement</a:t>
            </a:r>
          </a:p>
          <a:p/>
          <a:p>
            <a:r>
              <a:t>---</a:t>
            </a:r>
          </a:p>
          <a:p/>
          <a:p>
            <a:r>
              <a:t>Source: Slides\individual-slides\instruction-file-applyto-patterns.md</a:t>
            </a:r>
          </a:p>
        </p:txBody>
      </p:sp>
      <p:sp>
        <p:nvSpPr>
          <p:cNvPr id="4" name="Slide Number Placeholder 3"/>
          <p:cNvSpPr>
            <a:spLocks noGrp="1"/>
          </p:cNvSpPr>
          <p:nvPr>
            <p:ph type="sldNum" idx="5" sz="quarter"/>
          </p:nvPr>
        </p:nvSpPr>
        <p:spPr/>
      </p:sp>
    </p:spTree>
  </p:cSld>
  <p:clrMapOvr>
    <a:masterClrMapping/>
  </p:clrMapOvr>
</p:notes>
</file>

<file path=ppt/notesSlides/notesSlide1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 core instruction files that govern AI-assisted development in this repository. These files are the foundation of the guardrails system.</a:t>
            </a:r>
          </a:p>
          <a:p/>
          <a:p>
            <a:r>
              <a:t>Explain each file's purpose:</a:t>
            </a:r>
          </a:p>
          <a:p/>
          <a:p>
            <a:r>
              <a:t>- ai-assisted-output.instructions.md: The master policy for ALL AI-generated content, covering provenance, logging, and compliance</a:t>
            </a:r>
          </a:p>
          <a:p>
            <a:r>
              <a:t>- chatmode-file.instructions.md: Defines how to create custom chat modes for specific development workflows</a:t>
            </a:r>
          </a:p>
          <a:p>
            <a:r>
              <a:t>- instruction-files.instructions.md: Meta-instructions for creating new instruction files</a:t>
            </a:r>
          </a:p>
          <a:p>
            <a:r>
              <a:t>- prompt-file.instructions.md: Guidelines for creating reusable prompt files</a:t>
            </a:r>
          </a:p>
          <a:p>
            <a:r>
              <a:t>- instruction-prompt-files.instructions.md: Meta-prompts that generate instruction files</a:t>
            </a:r>
          </a:p>
          <a:p/>
          <a:p>
            <a:r>
              <a:t>Emphasize the hierarchical nature: ai-assisted-output is the root policy that all others reference.</a:t>
            </a:r>
          </a:p>
          <a:p/>
          <a:p>
            <a:r>
              <a:t>Timing: 2-3 minutes.</a:t>
            </a:r>
          </a:p>
          <a:p>
            <a:r>
              <a:t>Transition: "Let's dive into how to use these..."</a:t>
            </a:r>
          </a:p>
          <a:p/>
          <a:p>
            <a:r>
              <a:t>---</a:t>
            </a:r>
          </a:p>
          <a:p/>
          <a:p>
            <a:r>
              <a:t>Source: Slides\individual-slides\core-instruction-files.md</a:t>
            </a:r>
          </a:p>
        </p:txBody>
      </p:sp>
      <p:sp>
        <p:nvSpPr>
          <p:cNvPr id="4" name="Slide Number Placeholder 3"/>
          <p:cNvSpPr>
            <a:spLocks noGrp="1"/>
          </p:cNvSpPr>
          <p:nvPr>
            <p:ph type="sldNum" idx="5" sz="quarter"/>
          </p:nvPr>
        </p:nvSpPr>
        <p:spPr/>
      </p:sp>
    </p:spTree>
  </p:cSld>
  <p:clrMapOvr>
    <a:masterClrMapping/>
  </p:clrMapOvr>
</p:notes>
</file>

<file path=ppt/notesSlides/notesSlide1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this as a layering strategy, not an either-or choice. The audience should leave with a practical model for deciding what belongs at enterprise scope versus repository scope. Keep this opening to about 60-90 seconds.</a:t>
            </a:r>
          </a:p>
          <a:p/>
          <a:p>
            <a:r>
              <a:t>---</a:t>
            </a:r>
          </a:p>
          <a:p/>
          <a:p>
            <a:r>
              <a:t>Source: Slides\individual-slides\organizational-vs-repository-instruction-files.md</a:t>
            </a:r>
          </a:p>
        </p:txBody>
      </p:sp>
      <p:sp>
        <p:nvSpPr>
          <p:cNvPr id="4" name="Slide Number Placeholder 3"/>
          <p:cNvSpPr>
            <a:spLocks noGrp="1"/>
          </p:cNvSpPr>
          <p:nvPr>
            <p:ph type="sldNum" idx="5" sz="quarter"/>
          </p:nvPr>
        </p:nvSpPr>
        <p:spPr/>
      </p:sp>
    </p:spTree>
  </p:cSld>
  <p:clrMapOvr>
    <a:masterClrMapping/>
  </p:clrMapOvr>
</p:notes>
</file>

<file path=ppt/notesSlides/notesSlide1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teams usually fail by over-centralizing or over-fragmenting. Centralize non-negotiables, decentralize implementation guidance. Emphasize this prevents policy drift while keeping day-to-day delivery fast.</a:t>
            </a:r>
          </a:p>
          <a:p/>
          <a:p>
            <a:r>
              <a:t>---</a:t>
            </a:r>
          </a:p>
          <a:p/>
          <a:p>
            <a:r>
              <a:t>Source: Slides\individual-slides\organizational-vs-repository-instruction-files.md</a:t>
            </a:r>
          </a:p>
        </p:txBody>
      </p:sp>
      <p:sp>
        <p:nvSpPr>
          <p:cNvPr id="4" name="Slide Number Placeholder 3"/>
          <p:cNvSpPr>
            <a:spLocks noGrp="1"/>
          </p:cNvSpPr>
          <p:nvPr>
            <p:ph type="sldNum" idx="5" sz="quarter"/>
          </p:nvPr>
        </p:nvSpPr>
        <p:spPr/>
      </p:sp>
    </p:spTree>
  </p:cSld>
  <p:clrMapOvr>
    <a:masterClrMapping/>
  </p:clrMapOvr>
</p:notes>
</file>

<file path=ppt/notesSlides/notesSlide1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Call out that enterprise-tier files should be stable and short. They should define constraints, not feature behavior. Give examples: required metadata fields, approved hosts, restricted operations, and mandatory security checks.</a:t>
            </a:r>
          </a:p>
          <a:p/>
          <a:p>
            <a:r>
              <a:t>---</a:t>
            </a:r>
          </a:p>
          <a:p/>
          <a:p>
            <a:r>
              <a:t>Source: Slides\individual-slides\organizational-vs-repository-instruction-files.md</a:t>
            </a:r>
          </a:p>
        </p:txBody>
      </p:sp>
      <p:sp>
        <p:nvSpPr>
          <p:cNvPr id="4" name="Slide Number Placeholder 3"/>
          <p:cNvSpPr>
            <a:spLocks noGrp="1"/>
          </p:cNvSpPr>
          <p:nvPr>
            <p:ph type="sldNum" idx="5" sz="quarter"/>
          </p:nvPr>
        </p:nvSpPr>
        <p:spPr/>
      </p:sp>
    </p:spTree>
  </p:cSld>
  <p:clrMapOvr>
    <a:masterClrMapping/>
  </p:clrMapOvr>
</p:notes>
</file>

<file path=ppt/notesSlides/notesSlide1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path scoping is the precision tool. Show that slide-authoring rules should not apply to backend code, and coding constraints should not apply to markdown content. Mention that good glob design reduces noisy or conflicting behavior.</a:t>
            </a:r>
          </a:p>
          <a:p/>
          <a:p>
            <a:r>
              <a:t>---</a:t>
            </a:r>
          </a:p>
          <a:p/>
          <a:p>
            <a:r>
              <a:t>Source: Slides\individual-slides\organizational-vs-repository-instruction-files.md</a:t>
            </a:r>
          </a:p>
        </p:txBody>
      </p:sp>
      <p:sp>
        <p:nvSpPr>
          <p:cNvPr id="4" name="Slide Number Placeholder 3"/>
          <p:cNvSpPr>
            <a:spLocks noGrp="1"/>
          </p:cNvSpPr>
          <p:nvPr>
            <p:ph type="sldNum" idx="5" sz="quarter"/>
          </p:nvPr>
        </p:nvSpPr>
        <p:spPr/>
      </p:sp>
    </p:spTree>
  </p:cSld>
  <p:clrMapOvr>
    <a:masterClrMapping/>
  </p:clrMapOvr>
</p:notes>
</file>

<file path=ppt/notesSlides/notesSlide1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Reinforce proximity: put guidance where teams actually work. This improves discoverability and lowers onboarding time. Mention that folder-level rules should refine enterprise policy, not duplicate it.</a:t>
            </a:r>
          </a:p>
          <a:p/>
          <a:p>
            <a:r>
              <a:t>---</a:t>
            </a:r>
          </a:p>
          <a:p/>
          <a:p>
            <a:r>
              <a:t>Source: Slides\individual-slides\organizational-vs-repository-instruction-files.md</a:t>
            </a:r>
          </a:p>
        </p:txBody>
      </p:sp>
      <p:sp>
        <p:nvSpPr>
          <p:cNvPr id="4" name="Slide Number Placeholder 3"/>
          <p:cNvSpPr>
            <a:spLocks noGrp="1"/>
          </p:cNvSpPr>
          <p:nvPr>
            <p:ph type="sldNum" idx="5" sz="quarter"/>
          </p:nvPr>
        </p:nvSpPr>
        <p:spPr/>
      </p:sp>
    </p:spTree>
  </p:cSld>
  <p:clrMapOvr>
    <a:masterClrMapping/>
  </p:clrMapOvr>
</p:notes>
</file>

<file path=ppt/notesSlides/notesSlide1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stack top-to-bottom. Describe how specificity should increase as scope narrows. If conflicts appear, resolve by specificity first, then by explicit policy precedence defined by your organization.</a:t>
            </a:r>
          </a:p>
          <a:p/>
          <a:p>
            <a:r>
              <a:t>---</a:t>
            </a:r>
          </a:p>
          <a:p/>
          <a:p>
            <a:r>
              <a:t>Source: Slides\individual-slides\organizational-vs-repository-instruction-files.md</a:t>
            </a:r>
          </a:p>
        </p:txBody>
      </p:sp>
      <p:sp>
        <p:nvSpPr>
          <p:cNvPr id="4" name="Slide Number Placeholder 3"/>
          <p:cNvSpPr>
            <a:spLocks noGrp="1"/>
          </p:cNvSpPr>
          <p:nvPr>
            <p:ph type="sldNum" idx="5" sz="quarter"/>
          </p:nvPr>
        </p:nvSpPr>
        <p:spPr/>
      </p:sp>
    </p:spTree>
  </p:cSld>
  <p:clrMapOvr>
    <a:masterClrMapping/>
  </p:clrMapOvr>
</p:notes>
</file>

<file path=ppt/notesSlides/notesSlide1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End with action items. Suggest teams pilot this in one repo before scaling. Encourage adding quick validation prompts in CI or review checklists so instruction drift is detected early.</a:t>
            </a:r>
          </a:p>
          <a:p/>
          <a:p>
            <a:r>
              <a:t>---</a:t>
            </a:r>
          </a:p>
          <a:p/>
          <a:p>
            <a:r>
              <a:t>Source: Slides\individual-slides\organizational-vs-repository-instruction-files.md</a:t>
            </a:r>
          </a:p>
        </p:txBody>
      </p:sp>
      <p:sp>
        <p:nvSpPr>
          <p:cNvPr id="4" name="Slide Number Placeholder 3"/>
          <p:cNvSpPr>
            <a:spLocks noGrp="1"/>
          </p:cNvSpPr>
          <p:nvPr>
            <p:ph type="sldNum" idx="5" sz="quarter"/>
          </p:nvPr>
        </p:nvSpPr>
        <p:spPr/>
      </p:sp>
    </p:spTree>
  </p:cSld>
  <p:clrMapOvr>
    <a:masterClrMapping/>
  </p:clrMapOvr>
</p:notes>
</file>

<file path=ppt/notesSlides/notesSlide1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**Duration:** 25-30 minutes</a:t>
            </a:r>
          </a:p>
          <a:p>
            <a:r>
              <a:t>**Prerequisites:** Access to repository tree, instruction conventions, and team roles for parallel work</a:t>
            </a:r>
          </a:p>
          <a:p/>
          <a:p>
            <a:r>
              <a:t>### Objectives</a:t>
            </a:r>
          </a:p>
          <a:p/>
          <a:p>
            <a:r>
              <a:t>- Build a practical technology inventory that informs instruction planning.</a:t>
            </a:r>
          </a:p>
          <a:p>
            <a:r>
              <a:t>- Execute concurrent work safely with background sessions.</a:t>
            </a:r>
          </a:p>
          <a:p>
            <a:r>
              <a:t>- Produce multiple scoped instruction files in one coordinated workflow.</a:t>
            </a:r>
          </a:p>
          <a:p>
            <a:r>
              <a:t>- Use the session management interface to maintain control and traceability.</a:t>
            </a:r>
          </a:p>
          <a:p/>
          <a:p>
            <a:r>
              <a:t>### Activities</a:t>
            </a:r>
          </a:p>
          <a:p/>
          <a:p>
            <a:r>
              <a:t>1. Build a structured inventory first; avoid writing instruction files until the landscape is clear.</a:t>
            </a:r>
          </a:p>
          <a:p>
            <a:r>
              <a:t>2. Split participants into concurrent roles: inventory lead, instruction generator, and session coordinator.</a:t>
            </a:r>
          </a:p>
          <a:p>
            <a:r>
              <a:t>3. Generate scoped instruction files in parallel, then run a conflict review before acceptance.</a:t>
            </a:r>
          </a:p>
          <a:p>
            <a:r>
              <a:t>4. Finalize with a short session-management retrospective: what scaled, what collided, what to improve.</a:t>
            </a:r>
          </a:p>
          <a:p/>
          <a:p>
            <a:r>
              <a:t>### Success Criteria</a:t>
            </a:r>
          </a:p>
          <a:p/>
          <a:p>
            <a:r>
              <a:t>- Inventory coverage is complete enough to drive instruction priorities.</a:t>
            </a:r>
          </a:p>
          <a:p>
            <a:r>
              <a:t>- Parallel sessions finish with non-conflicting outputs.</a:t>
            </a:r>
          </a:p>
          <a:p>
            <a:r>
              <a:t>- Generated instruction files include clear scoping and ownership boundaries.</a:t>
            </a:r>
          </a:p>
          <a:p>
            <a:r>
              <a:t>- Team can reproduce the same workflow on another repository without redesigning the process.</a:t>
            </a:r>
          </a:p>
          <a:p/>
          <a:p>
            <a:r>
              <a:t>### Facilitation Tip</a:t>
            </a:r>
          </a:p>
          <a:p/>
          <a:p>
            <a:r>
              <a:t>Use a visible board (status: active, blocked, complete) for each session stream so the team can rebalance quickly when one stream stalls.</a:t>
            </a:r>
          </a:p>
          <a:p/>
          <a:p>
            <a:r>
              <a:t>---</a:t>
            </a:r>
          </a:p>
          <a:p/>
          <a:p>
            <a:r>
              <a:t>Source: Slides\individual-slides\exercise-technology-inventory-instructions.md</a:t>
            </a:r>
          </a:p>
        </p:txBody>
      </p:sp>
      <p:sp>
        <p:nvSpPr>
          <p:cNvPr id="4" name="Slide Number Placeholder 3"/>
          <p:cNvSpPr>
            <a:spLocks noGrp="1"/>
          </p:cNvSpPr>
          <p:nvPr>
            <p:ph type="sldNum" idx="5" sz="quarter"/>
          </p:nvPr>
        </p:nvSpPr>
        <p:spPr/>
      </p:sp>
    </p:spTree>
  </p:cSld>
  <p:clrMapOvr>
    <a:masterClrMapping/>
  </p:clrMapOvr>
</p:notes>
</file>

<file path=ppt/notesSlides/notesSlide1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Auto-generated course navigation slide showing all modules with current section highlighted</a:t>
            </a:r>
          </a:p>
        </p:txBody>
      </p:sp>
      <p:sp>
        <p:nvSpPr>
          <p:cNvPr id="4" name="Slide Number Placeholder 3"/>
          <p:cNvSpPr>
            <a:spLocks noGrp="1"/>
          </p:cNvSpPr>
          <p:nvPr>
            <p:ph type="sldNum" idx="5" sz="quarter"/>
          </p:nvPr>
        </p:nvSpPr>
        <p:spPr/>
      </p:sp>
    </p:spTree>
  </p:cSld>
  <p:clrMapOvr>
    <a:masterClrMapping/>
  </p:clrMapOvr>
</p:notes>
</file>

<file path=ppt/notesSlides/notesSlide1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Auto-generated section header slide to announce the section</a:t>
            </a:r>
          </a:p>
        </p:txBody>
      </p:sp>
      <p:sp>
        <p:nvSpPr>
          <p:cNvPr id="4" name="Slide Number Placeholder 3"/>
          <p:cNvSpPr>
            <a:spLocks noGrp="1"/>
          </p:cNvSpPr>
          <p:nvPr>
            <p:ph type="sldNum" idx="5" sz="quarter"/>
          </p:nvPr>
        </p:nvSpPr>
        <p:spPr/>
      </p:sp>
    </p:spTree>
  </p:cSld>
  <p:clrMapOvr>
    <a:masterClrMapping/>
  </p:clrMapOvr>
</p:notes>
</file>

<file path=ppt/notesSlides/notesSlide1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Auto-generated section agenda slide listing slide titles from manifest</a:t>
            </a:r>
          </a:p>
        </p:txBody>
      </p:sp>
      <p:sp>
        <p:nvSpPr>
          <p:cNvPr id="4" name="Slide Number Placeholder 3"/>
          <p:cNvSpPr>
            <a:spLocks noGrp="1"/>
          </p:cNvSpPr>
          <p:nvPr>
            <p:ph type="sldNum" idx="5" sz="quarter"/>
          </p:nvPr>
        </p:nvSpPr>
        <p:spPr/>
      </p:sp>
    </p:spTree>
  </p:cSld>
  <p:clrMapOvr>
    <a:masterClrMapping/>
  </p:clrMapOvr>
</p:notes>
</file>

<file path=ppt/notesSlides/notesSlide1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frames Copilot as a tool that amplifies engineering discipline rather than replacing it.</a:t>
            </a:r>
          </a:p>
          <a:p/>
          <a:p>
            <a:r>
              <a:t>The message is: Copilot is not magic.</a:t>
            </a:r>
          </a:p>
          <a:p/>
          <a:p>
            <a:r>
              <a:t>It’s a reasoning engine that responds to structure, clarity, and context.</a:t>
            </a:r>
          </a:p>
          <a:p/>
          <a:p>
            <a:r>
              <a:t>When managed well, it becomes a force multiplier.</a:t>
            </a:r>
          </a:p>
          <a:p/>
          <a:p>
            <a:r>
              <a:t>When unmanaged, it becomes unpredictable.</a:t>
            </a:r>
          </a:p>
          <a:p/>
          <a:p>
            <a:r>
              <a:t>---</a:t>
            </a:r>
          </a:p>
          <a:p/>
          <a:p>
            <a:r>
              <a:t>Source: Slides\individual-slides\managing-github-copilot-effectively.md</a:t>
            </a:r>
          </a:p>
        </p:txBody>
      </p:sp>
      <p:sp>
        <p:nvSpPr>
          <p:cNvPr id="4" name="Slide Number Placeholder 3"/>
          <p:cNvSpPr>
            <a:spLocks noGrp="1"/>
          </p:cNvSpPr>
          <p:nvPr>
            <p:ph type="sldNum" idx="5" sz="quarter"/>
          </p:nvPr>
        </p:nvSpPr>
        <p:spPr/>
      </p:sp>
    </p:spTree>
  </p:cSld>
  <p:clrMapOvr>
    <a:masterClrMapping/>
  </p:clrMapOvr>
</p:notes>
</file>

<file path=ppt/notesSlides/notesSlide1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analogy resonates with engineering teams.</a:t>
            </a:r>
          </a:p>
          <a:p/>
          <a:p>
            <a:r>
              <a:t>Copilot behaves like a junior developer: capable, but lacking context and judgment.</a:t>
            </a:r>
          </a:p>
          <a:p/>
          <a:p>
            <a:r>
              <a:t>It thrives when you give it structure and feedback.</a:t>
            </a:r>
          </a:p>
          <a:p/>
          <a:p>
            <a:r>
              <a:t>It struggles when you ask it to “just figure it out.”</a:t>
            </a:r>
          </a:p>
          <a:p/>
          <a:p>
            <a:r>
              <a:t>The more intentional your guidance, the more reliable its output becomes.</a:t>
            </a:r>
          </a:p>
          <a:p/>
          <a:p>
            <a:r>
              <a:t>---</a:t>
            </a:r>
          </a:p>
          <a:p/>
          <a:p>
            <a:r>
              <a:t>Source: Slides\individual-slides\managing-github-copilot-effectively.md</a:t>
            </a:r>
          </a:p>
        </p:txBody>
      </p:sp>
      <p:sp>
        <p:nvSpPr>
          <p:cNvPr id="4" name="Slide Number Placeholder 3"/>
          <p:cNvSpPr>
            <a:spLocks noGrp="1"/>
          </p:cNvSpPr>
          <p:nvPr>
            <p:ph type="sldNum" idx="5" sz="quarter"/>
          </p:nvPr>
        </p:nvSpPr>
        <p:spPr/>
      </p:sp>
    </p:spTree>
  </p:cSld>
  <p:clrMapOvr>
    <a:masterClrMapping/>
  </p:clrMapOvr>
</p:notes>
</file>

<file path=ppt/notesSlides/notesSlide1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Context windows are invisible but critical.</a:t>
            </a:r>
          </a:p>
          <a:p/>
          <a:p>
            <a:r>
              <a:t>When Copilot misses requirements or contradicts earlier decisions, it’s often because the relevant information fell outside its context window.</a:t>
            </a:r>
          </a:p>
          <a:p/>
          <a:p>
            <a:r>
              <a:t>The solution is not to “prompt harder” – it’s to structure the environment so the model always has the right information in view.</a:t>
            </a:r>
          </a:p>
          <a:p/>
          <a:p>
            <a:r>
              <a:t>---</a:t>
            </a:r>
          </a:p>
          <a:p/>
          <a:p>
            <a:r>
              <a:t>Source: Slides\individual-slides\managing-github-copilot-effectively.md</a:t>
            </a:r>
          </a:p>
        </p:txBody>
      </p:sp>
      <p:sp>
        <p:nvSpPr>
          <p:cNvPr id="4" name="Slide Number Placeholder 3"/>
          <p:cNvSpPr>
            <a:spLocks noGrp="1"/>
          </p:cNvSpPr>
          <p:nvPr>
            <p:ph type="sldNum" idx="5" sz="quarter"/>
          </p:nvPr>
        </p:nvSpPr>
        <p:spPr/>
      </p:sp>
    </p:spTree>
  </p:cSld>
  <p:clrMapOvr>
    <a:masterClrMapping/>
  </p:clrMapOvr>
</p:notes>
</file>

<file path=ppt/notesSlides/notesSlide1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Prompting is not about clever phrasing – it’s about clarity.</a:t>
            </a:r>
          </a:p>
          <a:p/>
          <a:p>
            <a:r>
              <a:t>Copilot performs best when you define intent, boundaries, and examples.</a:t>
            </a:r>
          </a:p>
          <a:p/>
          <a:p>
            <a:r>
              <a:t>Instruction files are especially powerful because they give Copilot a persistent “north star” for your codebase.</a:t>
            </a:r>
          </a:p>
          <a:p/>
          <a:p>
            <a:r>
              <a:t>Think of prompts as design briefs, not commands.</a:t>
            </a:r>
          </a:p>
          <a:p/>
          <a:p>
            <a:r>
              <a:t>---</a:t>
            </a:r>
          </a:p>
          <a:p/>
          <a:p>
            <a:r>
              <a:t>Source: Slides\individual-slides\managing-github-copilot-effectively.md</a:t>
            </a:r>
          </a:p>
        </p:txBody>
      </p:sp>
      <p:sp>
        <p:nvSpPr>
          <p:cNvPr id="4" name="Slide Number Placeholder 3"/>
          <p:cNvSpPr>
            <a:spLocks noGrp="1"/>
          </p:cNvSpPr>
          <p:nvPr>
            <p:ph type="sldNum" idx="5" sz="quarter"/>
          </p:nvPr>
        </p:nvSpPr>
        <p:spPr/>
      </p:sp>
    </p:spTree>
  </p:cSld>
  <p:clrMapOvr>
    <a:masterClrMapping/>
  </p:clrMapOvr>
</p:notes>
</file>

<file path=ppt/notesSlides/notesSlide1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Model selection is a strategic decision.</a:t>
            </a:r>
          </a:p>
          <a:p/>
          <a:p>
            <a:r>
              <a:t>High‑end models are great for deep reasoning but can be slower or more expensive.</a:t>
            </a:r>
          </a:p>
          <a:p/>
          <a:p>
            <a:r>
              <a:t>Smaller models are fast and efficient but less capable.</a:t>
            </a:r>
          </a:p>
          <a:p/>
          <a:p>
            <a:r>
              <a:t>The key is to choose based on task complexity.</a:t>
            </a:r>
          </a:p>
          <a:p/>
          <a:p>
            <a:r>
              <a:t>For example: use a reasoning‑heavy model for designing a module, then switch to a lighter model for generating tests or scaffolding</a:t>
            </a:r>
          </a:p>
          <a:p/>
          <a:p>
            <a:r>
              <a:t>---</a:t>
            </a:r>
          </a:p>
          <a:p/>
          <a:p>
            <a:r>
              <a:t>Source: Slides\individual-slides\managing-github-copilot-effectively.md</a:t>
            </a:r>
          </a:p>
        </p:txBody>
      </p:sp>
      <p:sp>
        <p:nvSpPr>
          <p:cNvPr id="4" name="Slide Number Placeholder 3"/>
          <p:cNvSpPr>
            <a:spLocks noGrp="1"/>
          </p:cNvSpPr>
          <p:nvPr>
            <p:ph type="sldNum" idx="5" sz="quarter"/>
          </p:nvPr>
        </p:nvSpPr>
        <p:spPr/>
      </p:sp>
    </p:spTree>
  </p:cSld>
  <p:clrMapOvr>
    <a:masterClrMapping/>
  </p:clrMapOvr>
</p:notes>
</file>

<file path=ppt/notesSlides/notesSlide1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 expectations for a practical session focused on repeatable team workflows. Emphasize that instruction quality and context discipline are the two biggest multipliers for reliable AI-assisted development.</a:t>
            </a:r>
          </a:p>
          <a:p/>
          <a:p>
            <a:r>
              <a:t>---</a:t>
            </a:r>
          </a:p>
          <a:p/>
          <a:p>
            <a:r>
              <a:t>Source: Slides\individual-slides\managing-instruction-files-context-windows.md</a:t>
            </a:r>
          </a:p>
        </p:txBody>
      </p:sp>
      <p:sp>
        <p:nvSpPr>
          <p:cNvPr id="4" name="Slide Number Placeholder 3"/>
          <p:cNvSpPr>
            <a:spLocks noGrp="1"/>
          </p:cNvSpPr>
          <p:nvPr>
            <p:ph type="sldNum" idx="5" sz="quarter"/>
          </p:nvPr>
        </p:nvSpPr>
        <p:spPr/>
      </p:sp>
    </p:spTree>
  </p:cSld>
  <p:clrMapOvr>
    <a:masterClrMapping/>
  </p:clrMapOvr>
</p:notes>
</file>

<file path=ppt/notesSlides/notesSlide1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teams should avoid copy-paste drift by maintaining canonical files and linking to them. Encourage pull-request reviews specifically for instruction changes, not just code changes.</a:t>
            </a:r>
          </a:p>
          <a:p/>
          <a:p>
            <a:r>
              <a:t>---</a:t>
            </a:r>
          </a:p>
          <a:p/>
          <a:p>
            <a:r>
              <a:t>Source: Slides\individual-slides\managing-instruction-files-context-windows.md</a:t>
            </a:r>
          </a:p>
        </p:txBody>
      </p:sp>
      <p:sp>
        <p:nvSpPr>
          <p:cNvPr id="4" name="Slide Number Placeholder 3"/>
          <p:cNvSpPr>
            <a:spLocks noGrp="1"/>
          </p:cNvSpPr>
          <p:nvPr>
            <p:ph type="sldNum" idx="5" sz="quarter"/>
          </p:nvPr>
        </p:nvSpPr>
        <p:spPr/>
      </p:sp>
    </p:spTree>
  </p:cSld>
  <p:clrMapOvr>
    <a:masterClrMapping/>
  </p:clrMapOvr>
</p:notes>
</file>

<file path=ppt/notesSlides/notesSlide1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broad-to-narrow scoping. Clarify that broad scopes are for policy and compliance, while narrow scopes are for stack-specific implementation rules.</a:t>
            </a:r>
          </a:p>
          <a:p/>
          <a:p>
            <a:r>
              <a:t>---</a:t>
            </a:r>
          </a:p>
          <a:p/>
          <a:p>
            <a:r>
              <a:t>Source: Slides\individual-slides\managing-instruction-files-context-windows.md</a:t>
            </a:r>
          </a:p>
        </p:txBody>
      </p:sp>
      <p:sp>
        <p:nvSpPr>
          <p:cNvPr id="4" name="Slide Number Placeholder 3"/>
          <p:cNvSpPr>
            <a:spLocks noGrp="1"/>
          </p:cNvSpPr>
          <p:nvPr>
            <p:ph type="sldNum" idx="5" sz="quarter"/>
          </p:nvPr>
        </p:nvSpPr>
        <p:spPr/>
      </p:sp>
    </p:spTree>
  </p:cSld>
  <p:clrMapOvr>
    <a:masterClrMapping/>
  </p:clrMapOvr>
</p:notes>
</file>

<file path=ppt/notesSlides/notesSlide1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participants to recognize degradation early rather than trying to salvage overloaded context. A clean new chat is usually cheaper than continued correction loops.</a:t>
            </a:r>
          </a:p>
          <a:p/>
          <a:p>
            <a:r>
              <a:t>---</a:t>
            </a:r>
          </a:p>
          <a:p/>
          <a:p>
            <a:r>
              <a:t>Source: Slides\individual-slides\managing-instruction-files-context-windows.md</a:t>
            </a:r>
          </a:p>
        </p:txBody>
      </p:sp>
      <p:sp>
        <p:nvSpPr>
          <p:cNvPr id="4" name="Slide Number Placeholder 3"/>
          <p:cNvSpPr>
            <a:spLocks noGrp="1"/>
          </p:cNvSpPr>
          <p:nvPr>
            <p:ph type="sldNum" idx="5" sz="quarter"/>
          </p:nvPr>
        </p:nvSpPr>
        <p:spPr/>
      </p:sp>
    </p:spTree>
  </p:cSld>
  <p:clrMapOvr>
    <a:masterClrMapping/>
  </p:clrMapOvr>
</p:notes>
</file>

<file path=ppt/notesSlides/notesSlide1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Stress that token efficiency is not only cost control; it improves response quality by reducing noise. Show that structured prompts plus instruction files usually outperform long conversational buildup.</a:t>
            </a:r>
          </a:p>
          <a:p/>
          <a:p>
            <a:r>
              <a:t>---</a:t>
            </a:r>
          </a:p>
          <a:p/>
          <a:p>
            <a:r>
              <a:t>Source: Slides\individual-slides\managing-instruction-files-context-windows.md</a:t>
            </a:r>
          </a:p>
        </p:txBody>
      </p:sp>
      <p:sp>
        <p:nvSpPr>
          <p:cNvPr id="4" name="Slide Number Placeholder 3"/>
          <p:cNvSpPr>
            <a:spLocks noGrp="1"/>
          </p:cNvSpPr>
          <p:nvPr>
            <p:ph type="sldNum" idx="5" sz="quarter"/>
          </p:nvPr>
        </p:nvSpPr>
        <p:spPr/>
      </p:sp>
    </p:spTree>
  </p:cSld>
  <p:clrMapOvr>
    <a:masterClrMapping/>
  </p:clrMapOvr>
</p:notes>
</file>

<file path=ppt/notesSlides/notesSlide1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as the operational model teams can adopt immediately. Recommend adding this flow to onboarding docs so new contributors learn instruction and context discipline from day one.</a:t>
            </a:r>
          </a:p>
          <a:p/>
          <a:p>
            <a:r>
              <a:t>---</a:t>
            </a:r>
          </a:p>
          <a:p/>
          <a:p>
            <a:r>
              <a:t>Source: Slides\individual-slides\managing-instruction-files-context-windows.md</a:t>
            </a:r>
          </a:p>
        </p:txBody>
      </p:sp>
      <p:sp>
        <p:nvSpPr>
          <p:cNvPr id="4" name="Slide Number Placeholder 3"/>
          <p:cNvSpPr>
            <a:spLocks noGrp="1"/>
          </p:cNvSpPr>
          <p:nvPr>
            <p:ph type="sldNum" idx="5" sz="quarter"/>
          </p:nvPr>
        </p:nvSpPr>
        <p:spPr/>
      </p:sp>
    </p:spTree>
  </p:cSld>
  <p:clrMapOvr>
    <a:masterClrMapping/>
  </p:clrMapOvr>
</p:notes>
</file>

<file path=ppt/notesSlides/notesSlide1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End with execution guidance. Suggest running a short retrospective after one sprint to measure improvements in output quality, rework rate, and token efficiency.</a:t>
            </a:r>
          </a:p>
          <a:p/>
          <a:p>
            <a:r>
              <a:t>---</a:t>
            </a:r>
          </a:p>
          <a:p/>
          <a:p>
            <a:r>
              <a:t>Source: Slides\individual-slides\managing-instruction-files-context-windows.md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3.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bg>
      <p:bgPr>
        <a:solidFill>
          <a:srgbClr val="007FB1"/>
        </a:solidFill>
        <a:effectLst/>
      </p:bgPr>
    </p:bg>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4E5D4979-0E48-181C-5438-B441393DCAC1}"/>
              </a:ext>
            </a:extLst>
          </p:cNvPr>
          <p:cNvPicPr>
            <a:picLocks noChangeAspect="1"/>
          </p:cNvPicPr>
          <p:nvPr userDrawn="1"/>
        </p:nvPicPr>
        <p:blipFill>
          <a:blip r:embed="rId2">
            <a:alphaModFix amt="20000"/>
          </a:blip>
          <a:srcRect l="301" t="5222" r="713" b="10945"/>
          <a:stretch/>
        </p:blipFill>
        <p:spPr>
          <a:xfrm>
            <a:off x="0" y="-1"/>
            <a:ext cx="12192000" cy="6858001"/>
          </a:xfrm>
          <a:prstGeom prst="rect">
            <a:avLst/>
          </a:prstGeom>
        </p:spPr>
      </p:pic>
      <p:sp>
        <p:nvSpPr>
          <p:cNvPr id="2" name="Title 1">
            <a:extLst>
              <a:ext uri="{FF2B5EF4-FFF2-40B4-BE49-F238E27FC236}">
                <a16:creationId xmlns:a16="http://schemas.microsoft.com/office/drawing/2014/main" id="{38BA191F-D9FD-C2EB-983F-9B42F26EB6F6}"/>
              </a:ext>
            </a:extLst>
          </p:cNvPr>
          <p:cNvSpPr>
            <a:spLocks noGrp="1"/>
          </p:cNvSpPr>
          <p:nvPr>
            <p:ph type="ctrTitle"/>
          </p:nvPr>
        </p:nvSpPr>
        <p:spPr>
          <a:xfrm>
            <a:off x="1524000" y="2759384"/>
            <a:ext cx="9144000" cy="1891556"/>
          </a:xfrm>
        </p:spPr>
        <p:txBody>
          <a:bodyPr anchor="b"/>
          <a:lstStyle>
            <a:lvl1pPr algn="ctr">
              <a:defRPr sz="6000"/>
            </a:lvl1pPr>
          </a:lstStyle>
          <a:p>
            <a:r>
              <a:rPr lang="en-US"/>
              <a:t>Click to edit Master title style</a:t>
            </a:r>
            <a:endParaRPr lang="en-US" dirty="0"/>
          </a:p>
        </p:txBody>
      </p:sp>
      <p:sp>
        <p:nvSpPr>
          <p:cNvPr id="3" name="Subtitle 2">
            <a:extLst>
              <a:ext uri="{FF2B5EF4-FFF2-40B4-BE49-F238E27FC236}">
                <a16:creationId xmlns:a16="http://schemas.microsoft.com/office/drawing/2014/main" id="{C2FDDE32-D155-6EE2-5EAC-C0A0C4B0AB69}"/>
              </a:ext>
            </a:extLst>
          </p:cNvPr>
          <p:cNvSpPr>
            <a:spLocks noGrp="1"/>
          </p:cNvSpPr>
          <p:nvPr>
            <p:ph type="subTitle" idx="1"/>
          </p:nvPr>
        </p:nvSpPr>
        <p:spPr>
          <a:xfrm>
            <a:off x="1524000" y="4952326"/>
            <a:ext cx="9144000" cy="1325070"/>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pic>
        <p:nvPicPr>
          <p:cNvPr id="5" name="Picture 4">
            <a:extLst>
              <a:ext uri="{FF2B5EF4-FFF2-40B4-BE49-F238E27FC236}">
                <a16:creationId xmlns:a16="http://schemas.microsoft.com/office/drawing/2014/main" id="{A09F10DC-7230-4581-E771-A51DC87C601D}"/>
              </a:ext>
            </a:extLst>
          </p:cNvPr>
          <p:cNvPicPr>
            <a:picLocks noChangeAspect="1"/>
          </p:cNvPicPr>
          <p:nvPr userDrawn="1"/>
        </p:nvPicPr>
        <p:blipFill>
          <a:blip r:embed="rId3" cstate="print">
            <a:extLst>
              <a:ext uri="{28A0092B-C50C-407E-A947-70E740481C1C}">
                <a14:useLocalDpi xmlns:a14="http://schemas.microsoft.com/office/drawing/2010/main" val="0"/>
              </a:ext>
            </a:extLst>
          </a:blip>
          <a:srcRect/>
          <a:stretch/>
        </p:blipFill>
        <p:spPr>
          <a:xfrm>
            <a:off x="4294437" y="1238105"/>
            <a:ext cx="3578217" cy="1288157"/>
          </a:xfrm>
          <a:prstGeom prst="rect">
            <a:avLst/>
          </a:prstGeom>
          <a:ln>
            <a:noFill/>
          </a:ln>
          <a:effectLst/>
        </p:spPr>
      </p:pic>
    </p:spTree>
    <p:extLst>
      <p:ext uri="{BB962C8B-B14F-4D97-AF65-F5344CB8AC3E}">
        <p14:creationId xmlns:p14="http://schemas.microsoft.com/office/powerpoint/2010/main" val="3742734728"/>
      </p:ext>
    </p:extLst>
  </p:cSld>
  <p:clrMapOvr>
    <a:masterClrMapping/>
  </p:clrMapOvr>
  <p:transition>
    <p:fade/>
  </p:transition>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D25008E-5CA0-DF16-8859-F3F3B6B4ECB1}"/>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B1D7D27F-181A-B717-23A8-6AE0FE66C8FD}"/>
              </a:ext>
            </a:extLst>
          </p:cNvPr>
          <p:cNvSpPr>
            <a:spLocks noGrp="1"/>
          </p:cNvSpPr>
          <p:nvPr>
            <p:ph idx="1"/>
          </p:nvPr>
        </p:nvSpPr>
        <p:spPr/>
        <p:txBody>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3205874076"/>
      </p:ext>
    </p:extLst>
  </p:cSld>
  <p:clrMapOvr>
    <a:masterClrMapping/>
  </p:clrMapOvr>
  <p:transition>
    <p:fade/>
  </p:transition>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D25008E-5CA0-DF16-8859-F3F3B6B4ECB1}"/>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B1D7D27F-181A-B717-23A8-6AE0FE66C8FD}"/>
              </a:ext>
            </a:extLst>
          </p:cNvPr>
          <p:cNvSpPr>
            <a:spLocks noGrp="1"/>
          </p:cNvSpPr>
          <p:nvPr>
            <p:ph idx="1"/>
          </p:nvPr>
        </p:nvSpPr>
        <p:spPr/>
        <p:txBody>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1722829596"/>
      </p:ext>
    </p:extLst>
  </p:cSld>
  <p:clrMapOvr>
    <a:masterClrMapping/>
  </p:clrMapOvr>
  <p:transition>
    <p:fade/>
  </p:transition>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23930F6-D2DF-F6C7-EE28-1317F8B2A17D}"/>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F97C4C2C-73A8-3DEC-B6FB-43F2345FC94D}"/>
              </a:ext>
            </a:extLst>
          </p:cNvPr>
          <p:cNvSpPr>
            <a:spLocks noGrp="1"/>
          </p:cNvSpPr>
          <p:nvPr>
            <p:ph sz="half" idx="1"/>
          </p:nvPr>
        </p:nvSpPr>
        <p:spPr>
          <a:xfrm>
            <a:off x="838200" y="1463752"/>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01FE4B54-0793-1D98-555E-E9470FF34B9A}"/>
              </a:ext>
            </a:extLst>
          </p:cNvPr>
          <p:cNvSpPr>
            <a:spLocks noGrp="1"/>
          </p:cNvSpPr>
          <p:nvPr>
            <p:ph sz="half" idx="2"/>
          </p:nvPr>
        </p:nvSpPr>
        <p:spPr>
          <a:xfrm>
            <a:off x="6172200" y="1463752"/>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4183185060"/>
      </p:ext>
    </p:extLst>
  </p:cSld>
  <p:clrMapOvr>
    <a:masterClrMapping/>
  </p:clrMapOvr>
  <p:transition>
    <p:fade/>
  </p:transition>
</p:sldLayout>
</file>

<file path=ppt/slideLayouts/slideLayout5.xml><?xml version="1.0" encoding="utf-8"?>
<p:sldLayout xmlns:a="http://schemas.openxmlformats.org/drawingml/2006/main" xmlns:r="http://schemas.openxmlformats.org/officeDocument/2006/relationships" xmlns:p="http://schemas.openxmlformats.org/presentationml/2006/main" type="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23930F6-D2DF-F6C7-EE28-1317F8B2A17D}"/>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F97C4C2C-73A8-3DEC-B6FB-43F2345FC94D}"/>
              </a:ext>
            </a:extLst>
          </p:cNvPr>
          <p:cNvSpPr>
            <a:spLocks noGrp="1"/>
          </p:cNvSpPr>
          <p:nvPr>
            <p:ph sz="half" idx="1"/>
          </p:nvPr>
        </p:nvSpPr>
        <p:spPr>
          <a:xfrm>
            <a:off x="838200" y="1463752"/>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01FE4B54-0793-1D98-555E-E9470FF34B9A}"/>
              </a:ext>
            </a:extLst>
          </p:cNvPr>
          <p:cNvSpPr>
            <a:spLocks noGrp="1"/>
          </p:cNvSpPr>
          <p:nvPr>
            <p:ph sz="half" idx="2"/>
          </p:nvPr>
        </p:nvSpPr>
        <p:spPr>
          <a:xfrm>
            <a:off x="6172202" y="1463752"/>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849783303"/>
      </p:ext>
    </p:extLst>
  </p:cSld>
  <p:clrMapOvr>
    <a:masterClrMapping/>
  </p:clrMapOvr>
  <p:transition>
    <p:fade/>
  </p:transition>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Centered Titl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9B468B-A6F2-4747-0841-93AC035CBDBA}"/>
              </a:ext>
            </a:extLst>
          </p:cNvPr>
          <p:cNvSpPr>
            <a:spLocks noGrp="1"/>
          </p:cNvSpPr>
          <p:nvPr>
            <p:ph type="title"/>
          </p:nvPr>
        </p:nvSpPr>
        <p:spPr>
          <a:xfrm>
            <a:off x="1631556" y="2644564"/>
            <a:ext cx="8928887" cy="1568871"/>
          </a:xfrm>
        </p:spPr>
        <p:txBody>
          <a:bodyPr/>
          <a:lstStyle>
            <a:lvl1pPr algn="ctr">
              <a:defRPr/>
            </a:lvl1pPr>
          </a:lstStyle>
          <a:p>
            <a:r>
              <a:rPr lang="en-US"/>
              <a:t>Click to edit Master title style</a:t>
            </a:r>
            <a:endParaRPr lang="en-US" dirty="0"/>
          </a:p>
        </p:txBody>
      </p:sp>
    </p:spTree>
    <p:extLst>
      <p:ext uri="{BB962C8B-B14F-4D97-AF65-F5344CB8AC3E}">
        <p14:creationId xmlns:p14="http://schemas.microsoft.com/office/powerpoint/2010/main" val="520210162"/>
      </p:ext>
    </p:extLst>
  </p:cSld>
  <p:clrMapOvr>
    <a:masterClrMapping/>
  </p:clrMapOvr>
  <p:transition>
    <p:fade/>
  </p:transition>
</p:sldLayout>
</file>

<file path=ppt/slideLayouts/slideLayout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9B468B-A6F2-4747-0841-93AC035CBDBA}"/>
              </a:ext>
            </a:extLst>
          </p:cNvPr>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1595456361"/>
      </p:ext>
    </p:extLst>
  </p:cSld>
  <p:clrMapOvr>
    <a:masterClrMapping/>
  </p:clrMapOvr>
  <p:transition>
    <p:fade/>
  </p:transition>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9B468B-A6F2-4747-0841-93AC035CBDBA}"/>
              </a:ext>
            </a:extLst>
          </p:cNvPr>
          <p:cNvSpPr>
            <a:spLocks noGrp="1"/>
          </p:cNvSpPr>
          <p:nvPr>
            <p:ph type="title"/>
          </p:nvPr>
        </p:nvSpPr>
        <p:spPr/>
        <p:txBody>
          <a:bodyPr/>
          <a:lstStyle/>
          <a:p>
            <a:r>
              <a:rPr lang="en-US"/>
              <a:t>Click to edit Master title style</a:t>
            </a:r>
          </a:p>
        </p:txBody>
      </p:sp>
      <p:sp>
        <p:nvSpPr>
          <p:cNvPr id="3" name="Picture Placeholder 3">
            <a:extLst>
              <a:ext uri="{FF2B5EF4-FFF2-40B4-BE49-F238E27FC236}">
                <a16:creationId xmlns:a16="http://schemas.microsoft.com/office/drawing/2014/main" id="{F1C99E23-E5F1-1D9C-BF82-D83E6E9F1346}"/>
              </a:ext>
            </a:extLst>
          </p:cNvPr>
          <p:cNvSpPr>
            <a:spLocks noGrp="1"/>
          </p:cNvSpPr>
          <p:nvPr>
            <p:ph type="pic" sz="quarter" idx="10"/>
          </p:nvPr>
        </p:nvSpPr>
        <p:spPr>
          <a:xfrm>
            <a:off x="900113" y="2433638"/>
            <a:ext cx="10391774" cy="3790950"/>
          </a:xfrm>
        </p:spPr>
        <p:txBody>
          <a:bodyPr/>
          <a:lstStyle/>
          <a:p>
            <a:endParaRPr lang="en-US"/>
          </a:p>
        </p:txBody>
      </p:sp>
      <p:sp>
        <p:nvSpPr>
          <p:cNvPr id="4" name="Text Placeholder 5">
            <a:extLst>
              <a:ext uri="{FF2B5EF4-FFF2-40B4-BE49-F238E27FC236}">
                <a16:creationId xmlns:a16="http://schemas.microsoft.com/office/drawing/2014/main" id="{63708861-970C-B5DB-BF46-526E75A04C16}"/>
              </a:ext>
            </a:extLst>
          </p:cNvPr>
          <p:cNvSpPr>
            <a:spLocks noGrp="1"/>
          </p:cNvSpPr>
          <p:nvPr>
            <p:ph type="body" sz="quarter" idx="11" hasCustomPrompt="1"/>
          </p:nvPr>
        </p:nvSpPr>
        <p:spPr>
          <a:xfrm>
            <a:off x="900113" y="1444625"/>
            <a:ext cx="10391774" cy="649288"/>
          </a:xfrm>
        </p:spPr>
        <p:txBody>
          <a:bodyPr/>
          <a:lstStyle>
            <a:lvl1pPr marL="0" indent="0">
              <a:buNone/>
              <a:defRPr/>
            </a:lvl1pPr>
          </a:lstStyle>
          <a:p>
            <a:pPr lvl="0"/>
            <a:r>
              <a:rPr lang="en-US" dirty="0"/>
              <a:t>Image Caption</a:t>
            </a:r>
          </a:p>
        </p:txBody>
      </p:sp>
    </p:spTree>
    <p:extLst>
      <p:ext uri="{BB962C8B-B14F-4D97-AF65-F5344CB8AC3E}">
        <p14:creationId xmlns:p14="http://schemas.microsoft.com/office/powerpoint/2010/main" val="1827457619"/>
      </p:ext>
    </p:extLst>
  </p:cSld>
  <p:clrMapOvr>
    <a:masterClrMapping/>
  </p:clrMapOvr>
  <p:transition>
    <p:fade/>
  </p:transition>
</p:sldLayout>
</file>

<file path=ppt/slideLayouts/slideLayout9.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671134239"/>
      </p:ext>
    </p:extLst>
  </p:cSld>
  <p:clrMapOvr>
    <a:masterClrMapping/>
  </p:clrMapOvr>
  <p:transition>
    <p:fade/>
  </p:transition>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type="blank" preserve="1">
  <p:cSld name="1_Blank">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7F7AB04E-CD14-3B5B-FB56-FF0AC2426BBE}"/>
              </a:ext>
            </a:extLst>
          </p:cNvPr>
          <p:cNvPicPr>
            <a:picLocks noChangeAspect="1"/>
          </p:cNvPicPr>
          <p:nvPr userDrawn="1"/>
        </p:nvPicPr>
        <p:blipFill>
          <a:blip r:embed="rId2">
            <a:alphaModFix amt="20000"/>
          </a:blip>
          <a:srcRect l="301" t="5222" r="713" b="10945"/>
          <a:stretch/>
        </p:blipFill>
        <p:spPr>
          <a:xfrm>
            <a:off x="0" y="-1"/>
            <a:ext cx="12192000" cy="6858001"/>
          </a:xfrm>
          <a:prstGeom prst="rect">
            <a:avLst/>
          </a:prstGeom>
        </p:spPr>
      </p:pic>
    </p:spTree>
    <p:extLst>
      <p:ext uri="{BB962C8B-B14F-4D97-AF65-F5344CB8AC3E}">
        <p14:creationId xmlns:p14="http://schemas.microsoft.com/office/powerpoint/2010/main" val="435387362"/>
      </p:ext>
    </p:extLst>
  </p:cSld>
  <p:clrMapOvr>
    <a:masterClrMapping/>
  </p:clrMapOvr>
  <p:transition>
    <p:fade/>
  </p:transition>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Code">
    <p:bg>
      <p:bgPr>
        <a:solidFill>
          <a:srgbClr val="212121"/>
        </a:solidFill>
        <a:effectLst/>
      </p:bgPr>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6DF442E2-8683-D251-03C0-5FDD0CBEBC4F}"/>
              </a:ext>
            </a:extLst>
          </p:cNvPr>
          <p:cNvSpPr>
            <a:spLocks noGrp="1"/>
          </p:cNvSpPr>
          <p:nvPr>
            <p:ph type="body" sz="quarter" idx="10" hasCustomPrompt="1"/>
          </p:nvPr>
        </p:nvSpPr>
        <p:spPr>
          <a:xfrm>
            <a:off x="833480" y="1051965"/>
            <a:ext cx="9831823" cy="313932"/>
          </a:xfrm>
        </p:spPr>
        <p:txBody>
          <a:bodyPr>
            <a:spAutoFit/>
          </a:bodyPr>
          <a:lstStyle>
            <a:lvl1pPr marL="0" indent="0">
              <a:buFontTx/>
              <a:buNone/>
              <a:defRPr sz="1600">
                <a:latin typeface="Victor Mono" pitchFamily="49" charset="0"/>
              </a:defRPr>
            </a:lvl1pPr>
            <a:lvl2pPr marL="457200" indent="0">
              <a:buFontTx/>
              <a:buNone/>
              <a:defRPr>
                <a:latin typeface="Victor Mono" pitchFamily="49" charset="0"/>
              </a:defRPr>
            </a:lvl2pPr>
            <a:lvl3pPr marL="914400" indent="0">
              <a:buFontTx/>
              <a:buNone/>
              <a:defRPr>
                <a:latin typeface="Victor Mono" pitchFamily="49" charset="0"/>
              </a:defRPr>
            </a:lvl3pPr>
            <a:lvl4pPr marL="1371600" indent="0">
              <a:buFontTx/>
              <a:buNone/>
              <a:defRPr>
                <a:latin typeface="Victor Mono" pitchFamily="49" charset="0"/>
              </a:defRPr>
            </a:lvl4pPr>
            <a:lvl5pPr marL="1828800" indent="0">
              <a:buFontTx/>
              <a:buNone/>
              <a:defRPr>
                <a:latin typeface="Victor Mono" pitchFamily="49" charset="0"/>
              </a:defRPr>
            </a:lvl5pPr>
          </a:lstStyle>
          <a:p>
            <a:pPr lvl="0"/>
            <a:r>
              <a:rPr lang="en-US" dirty="0"/>
              <a:t>Click to edit Code text</a:t>
            </a:r>
          </a:p>
        </p:txBody>
      </p:sp>
    </p:spTree>
    <p:extLst>
      <p:ext uri="{BB962C8B-B14F-4D97-AF65-F5344CB8AC3E}">
        <p14:creationId xmlns:p14="http://schemas.microsoft.com/office/powerpoint/2010/main" val="876091243"/>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image" Target="../media/image1.png"/><Relationship Id="rId14" Type="http://schemas.openxmlformats.org/officeDocument/2006/relationships/image" Target="../media/image2.png"/></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rgbClr val="007FB1"/>
        </a:solidFill>
        <a:effectLst/>
      </p:bgPr>
    </p:bg>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83C53BF9-6377-93D8-5BD7-30937619B4E2}"/>
              </a:ext>
            </a:extLst>
          </p:cNvPr>
          <p:cNvPicPr>
            <a:picLocks noChangeAspect="1"/>
          </p:cNvPicPr>
          <p:nvPr userDrawn="1"/>
        </p:nvPicPr>
        <p:blipFill>
          <a:blip r:embed="rId13">
            <a:alphaModFix amt="20000"/>
          </a:blip>
          <a:srcRect l="301" t="5222" r="713" b="10945"/>
          <a:stretch/>
        </p:blipFill>
        <p:spPr>
          <a:xfrm>
            <a:off x="0" y="-1"/>
            <a:ext cx="12192000" cy="6858001"/>
          </a:xfrm>
          <a:prstGeom prst="rect">
            <a:avLst/>
          </a:prstGeom>
        </p:spPr>
      </p:pic>
      <p:sp>
        <p:nvSpPr>
          <p:cNvPr id="2" name="Title Placeholder 1">
            <a:extLst>
              <a:ext uri="{FF2B5EF4-FFF2-40B4-BE49-F238E27FC236}">
                <a16:creationId xmlns:a16="http://schemas.microsoft.com/office/drawing/2014/main" id="{3A4163A3-B061-0949-1965-0375841BDB05}"/>
              </a:ext>
            </a:extLst>
          </p:cNvPr>
          <p:cNvSpPr>
            <a:spLocks noGrp="1"/>
          </p:cNvSpPr>
          <p:nvPr>
            <p:ph type="title"/>
          </p:nvPr>
        </p:nvSpPr>
        <p:spPr>
          <a:xfrm>
            <a:off x="838200" y="365126"/>
            <a:ext cx="8928887" cy="703024"/>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D4E76094-9BD4-ED01-3BE5-5F760EE32E2A}"/>
              </a:ext>
            </a:extLst>
          </p:cNvPr>
          <p:cNvSpPr>
            <a:spLocks noGrp="1"/>
          </p:cNvSpPr>
          <p:nvPr>
            <p:ph type="body" idx="1"/>
          </p:nvPr>
        </p:nvSpPr>
        <p:spPr>
          <a:xfrm>
            <a:off x="838200" y="1461483"/>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4" name="Picture 3">
            <a:extLst>
              <a:ext uri="{FF2B5EF4-FFF2-40B4-BE49-F238E27FC236}">
                <a16:creationId xmlns:a16="http://schemas.microsoft.com/office/drawing/2014/main" id="{CD6163BC-C951-C17F-421A-4AD743EDDB29}"/>
              </a:ext>
            </a:extLst>
          </p:cNvPr>
          <p:cNvPicPr>
            <a:picLocks noChangeAspect="1"/>
          </p:cNvPicPr>
          <p:nvPr userDrawn="1"/>
        </p:nvPicPr>
        <p:blipFill>
          <a:blip r:embed="rId14"/>
          <a:srcRect/>
          <a:stretch/>
        </p:blipFill>
        <p:spPr>
          <a:xfrm>
            <a:off x="10016117" y="424540"/>
            <a:ext cx="1783676" cy="643610"/>
          </a:xfrm>
          <a:prstGeom prst="rect">
            <a:avLst/>
          </a:prstGeom>
          <a:ln>
            <a:noFill/>
          </a:ln>
          <a:effectLst/>
        </p:spPr>
      </p:pic>
    </p:spTree>
    <p:extLst>
      <p:ext uri="{BB962C8B-B14F-4D97-AF65-F5344CB8AC3E}">
        <p14:creationId xmlns:p14="http://schemas.microsoft.com/office/powerpoint/2010/main" val="2005844286"/>
      </p:ext>
    </p:extLst>
  </p:cSld>
  <p:clrMap bg1="lt1" tx1="dk1" bg2="lt2" tx2="dk2" accent1="accent1" accent2="accent2" accent3="accent3" accent4="accent4" accent5="accent5" accent6="accent6" hlink="hlink" folHlink="folHlink"/>
  <p:sldLayoutIdLst>
    <p:sldLayoutId id="2147483744" r:id="rId1"/>
    <p:sldLayoutId id="2147483745" r:id="rId2"/>
    <p:sldLayoutId id="2147483797" r:id="rId3"/>
    <p:sldLayoutId id="2147483746" r:id="rId4"/>
    <p:sldLayoutId id="2147483784" r:id="rId5"/>
    <p:sldLayoutId id="2147483747" r:id="rId6"/>
    <p:sldLayoutId id="2147483748" r:id="rId7"/>
    <p:sldLayoutId id="2147483792" r:id="rId8"/>
    <p:sldLayoutId id="2147483749" r:id="rId9"/>
    <p:sldLayoutId id="2147483750" r:id="rId10"/>
    <p:sldLayoutId id="2147483751" r:id="rId11"/>
  </p:sldLayoutIdLst>
  <p:transition>
    <p:fade/>
  </p:transition>
  <p:txStyles>
    <p:titleStyle>
      <a:lvl1pPr algn="l" defTabSz="914400" rtl="0" eaLnBrk="1" latinLnBrk="0" hangingPunct="1">
        <a:lnSpc>
          <a:spcPct val="90000"/>
        </a:lnSpc>
        <a:spcBef>
          <a:spcPct val="0"/>
        </a:spcBef>
        <a:buNone/>
        <a:defRPr sz="4400" b="1" kern="1200">
          <a:solidFill>
            <a:schemeClr val="bg1"/>
          </a:solidFill>
          <a:latin typeface="Noto Sans" panose="020B0502040504020204" pitchFamily="34" charset="0"/>
          <a:ea typeface="Noto Sans" panose="020B0502040504020204" pitchFamily="34" charset="0"/>
          <a:cs typeface="Noto Sans" panose="020B0502040504020204" pitchFamily="34" charset="0"/>
        </a:defRPr>
      </a:lvl1pPr>
    </p:titleStyle>
    <p:bodyStyle>
      <a:lvl1pPr marL="228600" indent="-228600" algn="l" defTabSz="914400" rtl="0" eaLnBrk="1" latinLnBrk="0" hangingPunct="1">
        <a:lnSpc>
          <a:spcPct val="100000"/>
        </a:lnSpc>
        <a:spcBef>
          <a:spcPts val="1000"/>
        </a:spcBef>
        <a:buFont typeface="Arial" panose="020B0604020202020204" pitchFamily="34" charset="0"/>
        <a:buChar char="•"/>
        <a:defRPr sz="2800" kern="1200">
          <a:solidFill>
            <a:schemeClr val="bg1"/>
          </a:solidFill>
          <a:latin typeface="Noto Sans" panose="020B0502040504020204" pitchFamily="34" charset="0"/>
          <a:ea typeface="Noto Sans" panose="020B0502040504020204" pitchFamily="34" charset="0"/>
          <a:cs typeface="Noto Sans" panose="020B0502040504020204" pitchFamily="34" charset="0"/>
        </a:defRPr>
      </a:lvl1pPr>
      <a:lvl2pPr marL="685800" indent="-228600" algn="l" defTabSz="914400" rtl="0" eaLnBrk="1" latinLnBrk="0" hangingPunct="1">
        <a:lnSpc>
          <a:spcPct val="100000"/>
        </a:lnSpc>
        <a:spcBef>
          <a:spcPts val="500"/>
        </a:spcBef>
        <a:buFont typeface="Arial" panose="020B0604020202020204" pitchFamily="34" charset="0"/>
        <a:buChar char="•"/>
        <a:defRPr sz="2400" kern="1200">
          <a:solidFill>
            <a:schemeClr val="bg1"/>
          </a:solidFill>
          <a:latin typeface="Noto Sans" panose="020B0502040504020204" pitchFamily="34" charset="0"/>
          <a:ea typeface="Noto Sans" panose="020B0502040504020204" pitchFamily="34" charset="0"/>
          <a:cs typeface="Noto Sans" panose="020B0502040504020204" pitchFamily="34" charset="0"/>
        </a:defRPr>
      </a:lvl2pPr>
      <a:lvl3pPr marL="1143000" indent="-228600" algn="l" defTabSz="914400" rtl="0" eaLnBrk="1" latinLnBrk="0" hangingPunct="1">
        <a:lnSpc>
          <a:spcPct val="100000"/>
        </a:lnSpc>
        <a:spcBef>
          <a:spcPts val="500"/>
        </a:spcBef>
        <a:buFont typeface="Arial" panose="020B0604020202020204" pitchFamily="34" charset="0"/>
        <a:buChar char="•"/>
        <a:defRPr sz="2000" kern="1200">
          <a:solidFill>
            <a:schemeClr val="bg1"/>
          </a:solidFill>
          <a:latin typeface="Noto Sans" panose="020B0502040504020204" pitchFamily="34" charset="0"/>
          <a:ea typeface="Noto Sans" panose="020B0502040504020204" pitchFamily="34" charset="0"/>
          <a:cs typeface="Noto Sans" panose="020B0502040504020204" pitchFamily="34" charset="0"/>
        </a:defRPr>
      </a:lvl3pPr>
      <a:lvl4pPr marL="1600200" indent="-228600" algn="l" defTabSz="914400" rtl="0" eaLnBrk="1" latinLnBrk="0" hangingPunct="1">
        <a:lnSpc>
          <a:spcPct val="100000"/>
        </a:lnSpc>
        <a:spcBef>
          <a:spcPts val="500"/>
        </a:spcBef>
        <a:buFont typeface="Arial" panose="020B0604020202020204" pitchFamily="34" charset="0"/>
        <a:buChar char="•"/>
        <a:defRPr sz="1800" kern="1200">
          <a:solidFill>
            <a:schemeClr val="bg1"/>
          </a:solidFill>
          <a:latin typeface="Noto Sans" panose="020B0502040504020204" pitchFamily="34" charset="0"/>
          <a:ea typeface="Noto Sans" panose="020B0502040504020204" pitchFamily="34" charset="0"/>
          <a:cs typeface="Noto Sans" panose="020B0502040504020204" pitchFamily="34" charset="0"/>
        </a:defRPr>
      </a:lvl4pPr>
      <a:lvl5pPr marL="2057400" indent="-228600" algn="l" defTabSz="914400" rtl="0" eaLnBrk="1" latinLnBrk="0" hangingPunct="1">
        <a:lnSpc>
          <a:spcPct val="100000"/>
        </a:lnSpc>
        <a:spcBef>
          <a:spcPts val="500"/>
        </a:spcBef>
        <a:buFont typeface="Arial" panose="020B0604020202020204" pitchFamily="34" charset="0"/>
        <a:buChar char="•"/>
        <a:defRPr sz="1800" kern="1200">
          <a:solidFill>
            <a:schemeClr val="bg1"/>
          </a:solidFill>
          <a:latin typeface="Noto Sans" panose="020B0502040504020204" pitchFamily="34" charset="0"/>
          <a:ea typeface="Noto Sans" panose="020B0502040504020204" pitchFamily="34" charset="0"/>
          <a:cs typeface="Noto Sans" panose="020B0502040504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5.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6.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8.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9.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0.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1.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3.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4.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5.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6.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8.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9.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0.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1.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2.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3.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4.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5.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6.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8.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9.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0.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1.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2.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3.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4.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5.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6.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8.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9.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0.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1.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2.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3.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4.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5.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6.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7.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8.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9.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0.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1.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2.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3.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4.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5.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6.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7.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t>Welcome to AI Assisted Software Development</a:t>
            </a:r>
          </a:p>
        </p:txBody>
      </p:sp>
      <p:sp>
        <p:nvSpPr>
          <p:cNvPr id="3" name="Subtitle 2"/>
          <p:cNvSpPr>
            <a:spLocks noGrp="1"/>
          </p:cNvSpPr>
          <p:nvPr>
            <p:ph type="subTitle" idx="1"/>
          </p:nvPr>
        </p:nvSpPr>
        <p:spPr/>
        <p:txBody>
          <a:bodyPr/>
          <a:lstStyle/>
          <a:p>
            <a:r>
              <a:t>From Code to Copilot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John Michael Miller</a:t>
            </a:r>
          </a:p>
        </p:txBody>
      </p:sp>
      <p:sp>
        <p:nvSpPr>
          <p:cNvPr id="3" name="Content Placeholder 2"/>
          <p:cNvSpPr>
            <a:spLocks noGrp="1"/>
          </p:cNvSpPr>
          <p:nvPr>
            <p:ph idx="1"/>
          </p:nvPr>
        </p:nvSpPr>
        <p:spPr/>
        <p:txBody>
          <a:bodyPr wrap="square">
            <a:normAutofit/>
          </a:bodyPr>
          <a:lstStyle/>
          <a:p/>
          <a:p>
            <a:r>
              <a:rPr b="1"/>
              <a:t>Principal Software Engineer at CODE</a:t>
            </a:r>
          </a:p>
          <a:p>
            <a:r>
              <a:t>Played roles of developer, architect, devops engineer, platform engineer, test architect, release manager</a:t>
            </a:r>
          </a:p>
          <a:p>
            <a:r>
              <a:t>AI/ML Enthusiast and advocate for effectively using AI to write code</a:t>
            </a:r>
          </a:p>
          <a:p/>
          <a:p>
            <a:pPr/>
            <a:r>
              <a:t>LinkedIn: www.linkedin.com/in/johnmichaelmiller</a:t>
            </a:r>
          </a:p>
          <a:p>
            <a:pPr/>
            <a:r>
              <a:t>Email: john.miller@codemag.com</a:t>
            </a:r>
          </a:p>
          <a:p>
            <a:pPr/>
            <a:r>
              <a:t>Blog: codemag.com/blog/AIPractitioner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Introductions</a:t>
            </a:r>
          </a:p>
        </p:txBody>
      </p:sp>
      <p:sp>
        <p:nvSpPr>
          <p:cNvPr id="3" name="Content Placeholder 2"/>
          <p:cNvSpPr>
            <a:spLocks noGrp="1"/>
          </p:cNvSpPr>
          <p:nvPr>
            <p:ph idx="1"/>
          </p:nvPr>
        </p:nvSpPr>
        <p:spPr/>
        <p:txBody>
          <a:bodyPr wrap="square">
            <a:normAutofit/>
          </a:bodyPr>
          <a:lstStyle/>
          <a:p/>
          <a:p>
            <a:pPr/>
            <a:r>
              <a:t>Who you are</a:t>
            </a:r>
          </a:p>
          <a:p>
            <a:pPr/>
            <a:r>
              <a:t>Who do you work for</a:t>
            </a:r>
          </a:p>
          <a:p>
            <a:pPr/>
            <a:r>
              <a:t>What you do</a:t>
            </a:r>
          </a:p>
          <a:p>
            <a:pPr/>
            <a:r>
              <a:t>What you’ve done with AI tools</a:t>
            </a:r>
          </a:p>
          <a:p>
            <a:pPr/>
            <a:r>
              <a:t>What you want to learn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About CODE</a:t>
            </a:r>
          </a:p>
        </p:txBody>
      </p:sp>
      <p:sp>
        <p:nvSpPr>
          <p:cNvPr id="3" name="Content Placeholder 2"/>
          <p:cNvSpPr>
            <a:spLocks noGrp="1"/>
          </p:cNvSpPr>
          <p:nvPr>
            <p:ph idx="1"/>
          </p:nvPr>
        </p:nvSpPr>
        <p:spPr/>
        <p:txBody>
          <a:bodyPr wrap="square">
            <a:normAutofit/>
          </a:bodyPr>
          <a:lstStyle/>
          <a:p/>
          <a:p>
            <a:r>
              <a:t>&lt;img src="images/CODE-30.jpg" style="width: 100%;" /&gt;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Daily Themes</a:t>
            </a:r>
          </a:p>
        </p:txBody>
      </p:sp>
      <p:graphicFrame>
        <p:nvGraphicFramePr>
          <p:cNvPr id="3" name="Table 2"/>
          <p:cNvGraphicFramePr>
            <a:graphicFrameLocks noGrp="1"/>
          </p:cNvGraphicFramePr>
          <p:nvPr/>
        </p:nvGraphicFramePr>
        <p:xfrm>
          <a:off x="457200" y="1828800"/>
          <a:ext cx="8229600" cy="2743200"/>
        </p:xfrm>
        <a:graphic>
          <a:graphicData uri="http://schemas.openxmlformats.org/drawingml/2006/table">
            <a:tbl>
              <a:tblPr firstRow="1" bandRow="1">
                <a:tableStyleId>{5C22544A-7EE6-4342-B048-85BDC9FD1C3A}</a:tableStyleId>
              </a:tblPr>
              <a:tblGrid>
                <a:gridCol w="4114800"/>
                <a:gridCol w="4114800"/>
              </a:tblGrid>
              <a:tr h="457200">
                <a:tc>
                  <a:txBody>
                    <a:bodyPr/>
                    <a:lstStyle/>
                    <a:p>
                      <a:pPr>
                        <a:defRPr b="1" sz="1296"/>
                      </a:pPr>
                      <a:r>
                        <a:t>Day</a:t>
                      </a:r>
                    </a:p>
                  </a:txBody>
                  <a:tcPr/>
                </a:tc>
                <a:tc>
                  <a:txBody>
                    <a:bodyPr/>
                    <a:lstStyle/>
                    <a:p>
                      <a:pPr>
                        <a:defRPr b="1" sz="1296"/>
                      </a:pPr>
                      <a:r>
                        <a:t>Theme</a:t>
                      </a:r>
                    </a:p>
                  </a:txBody>
                  <a:tcPr/>
                </a:tc>
              </a:tr>
              <a:tr h="457200">
                <a:tc>
                  <a:txBody>
                    <a:bodyPr/>
                    <a:lstStyle/>
                    <a:p>
                      <a:r>
                        <a:t>Monday</a:t>
                      </a:r>
                    </a:p>
                  </a:txBody>
                  <a:tcPr/>
                </a:tc>
                <a:tc>
                  <a:txBody>
                    <a:bodyPr/>
                    <a:lstStyle/>
                    <a:p>
                      <a:r>
                        <a:t>AI Guardrails, Instructions</a:t>
                      </a:r>
                    </a:p>
                  </a:txBody>
                  <a:tcPr/>
                </a:tc>
              </a:tr>
              <a:tr h="457200">
                <a:tc>
                  <a:txBody>
                    <a:bodyPr/>
                    <a:lstStyle/>
                    <a:p>
                      <a:r>
                        <a:t>Tuesday</a:t>
                      </a:r>
                    </a:p>
                  </a:txBody>
                  <a:tcPr/>
                </a:tc>
                <a:tc>
                  <a:txBody>
                    <a:bodyPr/>
                    <a:lstStyle/>
                    <a:p>
                      <a:r>
                        <a:t>AI Guardrails, Prompts</a:t>
                      </a:r>
                    </a:p>
                  </a:txBody>
                  <a:tcPr/>
                </a:tc>
              </a:tr>
              <a:tr h="457200">
                <a:tc>
                  <a:txBody>
                    <a:bodyPr/>
                    <a:lstStyle/>
                    <a:p>
                      <a:r>
                        <a:t>Wednesday</a:t>
                      </a:r>
                    </a:p>
                  </a:txBody>
                  <a:tcPr/>
                </a:tc>
                <a:tc>
                  <a:txBody>
                    <a:bodyPr/>
                    <a:lstStyle/>
                    <a:p>
                      <a:r>
                        <a:t>AI Guardrails, Agents</a:t>
                      </a:r>
                    </a:p>
                  </a:txBody>
                  <a:tcPr/>
                </a:tc>
              </a:tr>
              <a:tr h="457200">
                <a:tc>
                  <a:txBody>
                    <a:bodyPr/>
                    <a:lstStyle/>
                    <a:p>
                      <a:r>
                        <a:t>Thursday</a:t>
                      </a:r>
                    </a:p>
                  </a:txBody>
                  <a:tcPr/>
                </a:tc>
                <a:tc>
                  <a:txBody>
                    <a:bodyPr/>
                    <a:lstStyle/>
                    <a:p>
                      <a:r>
                        <a:t>AI Assisted Brownfield Software Development</a:t>
                      </a:r>
                    </a:p>
                  </a:txBody>
                  <a:tcPr/>
                </a:tc>
              </a:tr>
              <a:tr h="457200">
                <a:tc>
                  <a:txBody>
                    <a:bodyPr/>
                    <a:lstStyle/>
                    <a:p>
                      <a:r>
                        <a:t>Friday</a:t>
                      </a:r>
                    </a:p>
                  </a:txBody>
                  <a:tcPr/>
                </a:tc>
                <a:tc>
                  <a:txBody>
                    <a:bodyPr/>
                    <a:lstStyle/>
                    <a:p>
                      <a:r>
                        <a:t>AI Assisted Greenfield Software Development</a:t>
                      </a:r>
                    </a:p>
                  </a:txBody>
                  <a:tcPr/>
                </a:tc>
              </a:tr>
            </a:tbl>
          </a:graphicData>
        </a:graphic>
      </p:graphicFrame>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Course Modules</a:t>
            </a:r>
          </a:p>
        </p:txBody>
      </p:sp>
      <p:sp>
        <p:nvSpPr>
          <p:cNvPr id="3" name="Content Placeholder 2"/>
          <p:cNvSpPr>
            <a:spLocks noGrp="1"/>
          </p:cNvSpPr>
          <p:nvPr>
            <p:ph idx="1"/>
          </p:nvPr>
        </p:nvSpPr>
        <p:spPr/>
        <p:txBody>
          <a:bodyPr wrap="square">
            <a:normAutofit/>
          </a:bodyPr>
          <a:lstStyle/>
          <a:p/>
          <a:p>
            <a:pPr/>
            <a:r>
              <a:t>Intro</a:t>
            </a:r>
          </a:p>
          <a:p>
            <a:pPr/>
            <a:r>
              <a:rPr b="1"/>
              <a:t>▶ Module 1 - AIASD</a:t>
            </a:r>
          </a:p>
          <a:p>
            <a:pPr/>
            <a:r>
              <a:t>Module 2 - Intro to Copilot</a:t>
            </a:r>
          </a:p>
          <a:p>
            <a:pPr/>
            <a:r>
              <a:t>Module 3 - Vibbing</a:t>
            </a:r>
          </a:p>
          <a:p>
            <a:pPr/>
            <a:r>
              <a:t>Module 4 - Adding AI Guardrails</a:t>
            </a:r>
          </a:p>
          <a:p>
            <a:pPr/>
            <a:r>
              <a:t>Module 5 - Managing Context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Module 1 - AIASD</a:t>
            </a:r>
          </a:p>
        </p:txBody>
      </p:sp>
      <p:sp>
        <p:nvSpPr>
          <p:cNvPr id="3" name="Content Placeholder 2"/>
          <p:cNvSpPr>
            <a:spLocks noGrp="1"/>
          </p:cNvSpPr>
          <p:nvPr>
            <p:ph idx="1"/>
          </p:nvPr>
        </p:nvSpPr>
        <p:spPr/>
        <p:txBody>
          <a:bodyPr/>
          <a:lstStyle/>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Module 1 - AIASD</a:t>
            </a:r>
          </a:p>
        </p:txBody>
      </p:sp>
      <p:sp>
        <p:nvSpPr>
          <p:cNvPr id="3" name="Content Placeholder 2"/>
          <p:cNvSpPr>
            <a:spLocks noGrp="1"/>
          </p:cNvSpPr>
          <p:nvPr>
            <p:ph idx="1"/>
          </p:nvPr>
        </p:nvSpPr>
        <p:spPr/>
        <p:txBody>
          <a:bodyPr wrap="square">
            <a:normAutofit/>
          </a:bodyPr>
          <a:lstStyle/>
          <a:p/>
          <a:p>
            <a:pPr/>
            <a:r>
              <a:t>WTBD - The Core Thesis</a:t>
            </a:r>
          </a:p>
          <a:p>
            <a:pPr/>
            <a:r>
              <a:t>The AI Revolution?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WTBD - The Core Thesis</a:t>
            </a:r>
          </a:p>
        </p:txBody>
      </p:sp>
      <p:sp>
        <p:nvSpPr>
          <p:cNvPr id="3" name="Content Placeholder 2"/>
          <p:cNvSpPr>
            <a:spLocks noGrp="1"/>
          </p:cNvSpPr>
          <p:nvPr>
            <p:ph idx="1"/>
          </p:nvPr>
        </p:nvSpPr>
        <p:spPr/>
        <p:txBody>
          <a:bodyPr wrap="square">
            <a:normAutofit/>
          </a:bodyPr>
          <a:lstStyle/>
          <a:p/>
          <a:p>
            <a:r>
              <a:rPr i="1"/>
              <a:t>"Programming hasn't changed, but how we go about it has changed, again."</a:t>
            </a:r>
          </a:p>
          <a:p/>
          <a:p>
            <a:pPr/>
            <a:r>
              <a:t>AI-assisted development is </a:t>
            </a:r>
            <a:r>
              <a:rPr b="1"/>
              <a:t>evolutionary</a:t>
            </a:r>
            <a:r>
              <a:t>, not revolutionary</a:t>
            </a:r>
          </a:p>
          <a:p>
            <a:pPr/>
            <a:r>
              <a:t>Programming has always been about </a:t>
            </a:r>
            <a:r>
              <a:rPr b="1"/>
              <a:t>expressing human intent</a:t>
            </a:r>
            <a:r>
              <a:t> to machines</a:t>
            </a:r>
          </a:p>
          <a:p>
            <a:pPr/>
            <a:r>
              <a:t>What changes is the </a:t>
            </a:r>
            <a:r>
              <a:rPr b="1"/>
              <a:t>sophistication of our tools</a:t>
            </a:r>
            <a:r>
              <a:t> for expressing intent</a:t>
            </a:r>
          </a:p>
          <a:p>
            <a:pPr/>
            <a:r>
              <a:t>The essence remains: bridging the gap between what we want and what machines can do</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 Brief History: Machine Code &amp; Assembly (1940s)</a:t>
            </a:r>
          </a:p>
        </p:txBody>
      </p:sp>
      <p:sp>
        <p:nvSpPr>
          <p:cNvPr id="3" name="Content Placeholder 2"/>
          <p:cNvSpPr>
            <a:spLocks noGrp="1"/>
          </p:cNvSpPr>
          <p:nvPr>
            <p:ph idx="1"/>
          </p:nvPr>
        </p:nvSpPr>
        <p:spPr/>
        <p:txBody>
          <a:bodyPr wrap="square">
            <a:normAutofit/>
          </a:bodyPr>
          <a:lstStyle/>
          <a:p/>
          <a:p>
            <a:pPr/>
            <a:r>
              <a:rPr b="1"/>
              <a:t>Machine Code</a:t>
            </a:r>
            <a:r>
              <a:t>: Raw binary language executed directly by hardware</a:t>
            </a:r>
          </a:p>
          <a:p>
            <a:pPr/>
            <a:r>
              <a:rPr b="1"/>
              <a:t>Physical Programming</a:t>
            </a:r>
            <a:r>
              <a:t>:</a:t>
            </a:r>
          </a:p>
          <a:p>
            <a:r>
              <a:t>  - Flipping panel switches</a:t>
            </a:r>
          </a:p>
          <a:p>
            <a:r>
              <a:t>  - Plugging cables</a:t>
            </a:r>
          </a:p>
          <a:p>
            <a:r>
              <a:t>  - Feeding punched cards into IBM readers</a:t>
            </a:r>
          </a:p>
          <a:p>
            <a:r>
              <a:t>  - Threading perforated paper tape</a:t>
            </a:r>
          </a:p>
          <a:p/>
          <a:p>
            <a:r>
              <a:rPr b="1"/>
              <a:t>Assembly Language</a:t>
            </a:r>
            <a:r>
              <a:t>: Introduced symbolic mnemonics (MOV, ADD, JMP)</a:t>
            </a:r>
          </a:p>
          <a:p/>
          <a:p>
            <a:pPr/>
            <a:r>
              <a:rPr b="1"/>
              <a:t>Enabling Technology</a:t>
            </a:r>
            <a:r>
              <a:t>: Assemblers that translated mnemonics into machine code</a:t>
            </a:r>
          </a:p>
          <a:p>
            <a:pPr/>
            <a:r>
              <a:t>Still mainstream today in embedded systems and OS kernels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High-Level Languages (1950s-1970s)</a:t>
            </a:r>
          </a:p>
        </p:txBody>
      </p:sp>
      <p:sp>
        <p:nvSpPr>
          <p:cNvPr id="3" name="Content Placeholder 2"/>
          <p:cNvSpPr>
            <a:spLocks noGrp="1"/>
          </p:cNvSpPr>
          <p:nvPr>
            <p:ph idx="1"/>
          </p:nvPr>
        </p:nvSpPr>
        <p:spPr/>
        <p:txBody>
          <a:bodyPr wrap="square">
            <a:normAutofit/>
          </a:bodyPr>
          <a:lstStyle/>
          <a:p/>
          <a:p>
            <a:r>
              <a:rPr b="1"/>
              <a:t>The Abstraction Revolution</a:t>
            </a:r>
            <a:r>
              <a:t>:</a:t>
            </a:r>
          </a:p>
          <a:p/>
          <a:p>
            <a:pPr/>
            <a:r>
              <a:t>Math-like and business-oriented syntax</a:t>
            </a:r>
          </a:p>
          <a:p>
            <a:pPr/>
            <a:r>
              <a:rPr b="1"/>
              <a:t>Enabling Technologies</a:t>
            </a:r>
            <a:r>
              <a:t>: Compilers and interpreters</a:t>
            </a:r>
          </a:p>
          <a:p/>
          <a:p>
            <a:r>
              <a:rPr b="1"/>
              <a:t>Key Languages</a:t>
            </a:r>
            <a:r>
              <a:t>:</a:t>
            </a:r>
          </a:p>
          <a:p/>
          <a:p>
            <a:pPr/>
            <a:r>
              <a:rPr b="1"/>
              <a:t>FORTRAN (1957)</a:t>
            </a:r>
            <a:r>
              <a:t>: Pioneered scientific programming</a:t>
            </a:r>
          </a:p>
          <a:p>
            <a:pPr/>
            <a:r>
              <a:rPr b="1"/>
              <a:t>COBOL (1959)</a:t>
            </a:r>
            <a:r>
              <a:t>: Mainstream in business and government</a:t>
            </a:r>
          </a:p>
          <a:p>
            <a:pPr/>
            <a:r>
              <a:rPr b="1"/>
              <a:t>C (1972)</a:t>
            </a:r>
            <a:r>
              <a:t>: Spread with UNIX thanks to portable compilers</a:t>
            </a:r>
          </a:p>
          <a:p/>
          <a:p>
            <a:r>
              <a:rPr b="1"/>
              <a:t>Sensory Shift</a:t>
            </a:r>
            <a:r>
              <a:t>: From mechanical card punches to typewriter-style terminals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Structured &amp; Object-Oriented Programming (1970s-1980s)</a:t>
            </a:r>
          </a:p>
        </p:txBody>
      </p:sp>
      <p:sp>
        <p:nvSpPr>
          <p:cNvPr id="3" name="Content Placeholder 2"/>
          <p:cNvSpPr>
            <a:spLocks noGrp="1"/>
          </p:cNvSpPr>
          <p:nvPr>
            <p:ph idx="1"/>
          </p:nvPr>
        </p:nvSpPr>
        <p:spPr/>
        <p:txBody>
          <a:bodyPr wrap="square">
            <a:normAutofit/>
          </a:bodyPr>
          <a:lstStyle/>
          <a:p/>
          <a:p>
            <a:r>
              <a:rPr b="1"/>
              <a:t>Focus</a:t>
            </a:r>
            <a:r>
              <a:t>: Modularity, reuse, and abstraction</a:t>
            </a:r>
          </a:p>
          <a:p/>
          <a:p>
            <a:r>
              <a:rPr b="1"/>
              <a:t>Key Developments</a:t>
            </a:r>
            <a:r>
              <a:t>:</a:t>
            </a:r>
          </a:p>
          <a:p/>
          <a:p>
            <a:pPr/>
            <a:r>
              <a:rPr b="1"/>
              <a:t>Pascal (1970)</a:t>
            </a:r>
            <a:r>
              <a:t>: Structured paradigms with compiler innovations</a:t>
            </a:r>
          </a:p>
          <a:p>
            <a:pPr/>
            <a:r>
              <a:rPr b="1"/>
              <a:t>C++ (1985)</a:t>
            </a:r>
            <a:r>
              <a:t>: Object-oriented compilers supporting inheritance and polymorphism</a:t>
            </a:r>
          </a:p>
          <a:p/>
          <a:p>
            <a:r>
              <a:rPr b="1"/>
              <a:t>Enabling Technologies</a:t>
            </a:r>
            <a:r>
              <a:t>:</a:t>
            </a:r>
          </a:p>
          <a:p/>
          <a:p>
            <a:pPr/>
            <a:r>
              <a:t>Advanced compiler innovations</a:t>
            </a:r>
          </a:p>
          <a:p>
            <a:pPr/>
            <a:r>
              <a:t>Support for inheritance and polymorphism</a:t>
            </a:r>
          </a:p>
          <a:p/>
          <a:p>
            <a:r>
              <a:rPr b="1"/>
              <a:t>Era Experience</a:t>
            </a:r>
            <a:r>
              <a:t>: CRT monitors with green text, floppy disks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IDEs &amp; Libraries (1990s)</a:t>
            </a:r>
          </a:p>
        </p:txBody>
      </p:sp>
      <p:sp>
        <p:nvSpPr>
          <p:cNvPr id="3" name="Content Placeholder 2"/>
          <p:cNvSpPr>
            <a:spLocks noGrp="1"/>
          </p:cNvSpPr>
          <p:nvPr>
            <p:ph idx="1"/>
          </p:nvPr>
        </p:nvSpPr>
        <p:spPr/>
        <p:txBody>
          <a:bodyPr wrap="square">
            <a:normAutofit/>
          </a:bodyPr>
          <a:lstStyle/>
          <a:p/>
          <a:p>
            <a:r>
              <a:rPr b="1"/>
              <a:t>The Integration Era</a:t>
            </a:r>
            <a:r>
              <a:t>:</a:t>
            </a:r>
          </a:p>
          <a:p/>
          <a:p>
            <a:pPr/>
            <a:r>
              <a:rPr b="1"/>
              <a:t>IDEs</a:t>
            </a:r>
            <a:r>
              <a:t>: Combined compilers, debuggers, and editors in graphical interfaces</a:t>
            </a:r>
          </a:p>
          <a:p>
            <a:pPr/>
            <a:r>
              <a:rPr b="1"/>
              <a:t>Visual Studio</a:t>
            </a:r>
            <a:r>
              <a:t>: Enabled by faster processors and GUI toolkits</a:t>
            </a:r>
          </a:p>
          <a:p>
            <a:pPr/>
            <a:r>
              <a:rPr b="1"/>
              <a:t>Java &amp; JVM (1995)</a:t>
            </a:r>
            <a:r>
              <a:t>: "Write once, run anywhere"</a:t>
            </a:r>
          </a:p>
          <a:p>
            <a:pPr/>
            <a:r>
              <a:rPr b="1"/>
              <a:t>Reusable Libraries</a:t>
            </a:r>
            <a:r>
              <a:t>: Abstracted common functionality</a:t>
            </a:r>
          </a:p>
          <a:p/>
          <a:p>
            <a:r>
              <a:rPr b="1"/>
              <a:t>Enabling Technologies</a:t>
            </a:r>
            <a:r>
              <a:t>:</a:t>
            </a:r>
          </a:p>
          <a:p/>
          <a:p>
            <a:pPr/>
            <a:r>
              <a:t>Faster processors, GUI toolkits, extensible plug-in architectures</a:t>
            </a:r>
          </a:p>
          <a:p>
            <a:pPr/>
            <a:r>
              <a:t>Virtual machines</a:t>
            </a:r>
          </a:p>
          <a:p/>
          <a:p>
            <a:r>
              <a:rPr b="1"/>
              <a:t>Experience</a:t>
            </a:r>
            <a:r>
              <a:t>: Mouse clicks, drag-and-drop, desktop computing</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Web &amp; Scripting Languages (Late 1990s-2000s)</a:t>
            </a:r>
          </a:p>
        </p:txBody>
      </p:sp>
      <p:sp>
        <p:nvSpPr>
          <p:cNvPr id="3" name="Content Placeholder 2"/>
          <p:cNvSpPr>
            <a:spLocks noGrp="1"/>
          </p:cNvSpPr>
          <p:nvPr>
            <p:ph idx="1"/>
          </p:nvPr>
        </p:nvSpPr>
        <p:spPr/>
        <p:txBody>
          <a:bodyPr wrap="square">
            <a:normAutofit/>
          </a:bodyPr>
          <a:lstStyle/>
          <a:p/>
          <a:p>
            <a:r>
              <a:rPr b="1"/>
              <a:t>The Dynamic Web Era</a:t>
            </a:r>
            <a:r>
              <a:t>:</a:t>
            </a:r>
          </a:p>
          <a:p/>
          <a:p>
            <a:pPr/>
            <a:r>
              <a:rPr b="1"/>
              <a:t>JavaScript (1995)</a:t>
            </a:r>
            <a:r>
              <a:t>: Powered by Netscape, later V8 engine (2008)</a:t>
            </a:r>
          </a:p>
          <a:p>
            <a:pPr/>
            <a:r>
              <a:rPr b="1"/>
              <a:t>Python</a:t>
            </a:r>
            <a:r>
              <a:t>: Web development in 2000s, data science dominance</a:t>
            </a:r>
          </a:p>
          <a:p>
            <a:pPr/>
            <a:r>
              <a:rPr b="1"/>
              <a:t>Ruby on Rails (2004)</a:t>
            </a:r>
            <a:r>
              <a:t>: Abstracted web complexity</a:t>
            </a:r>
          </a:p>
          <a:p/>
          <a:p>
            <a:r>
              <a:rPr b="1"/>
              <a:t>Enabling Technologies</a:t>
            </a:r>
            <a:r>
              <a:t>:</a:t>
            </a:r>
          </a:p>
          <a:p/>
          <a:p>
            <a:pPr/>
            <a:r>
              <a:t>Browser engines, dynamic interpreters, frameworks</a:t>
            </a:r>
          </a:p>
          <a:p>
            <a:pPr/>
            <a:r>
              <a:t>Eclipse IDE (2001)</a:t>
            </a:r>
          </a:p>
          <a:p/>
          <a:p>
            <a:r>
              <a:rPr b="1"/>
              <a:t>Experience</a:t>
            </a:r>
            <a:r>
              <a:t>: Portable coding on laptops, coffee shop programming</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Cloud, APIs &amp; Low-Code Platforms (2010s)</a:t>
            </a:r>
          </a:p>
        </p:txBody>
      </p:sp>
      <p:sp>
        <p:nvSpPr>
          <p:cNvPr id="3" name="Content Placeholder 2"/>
          <p:cNvSpPr>
            <a:spLocks noGrp="1"/>
          </p:cNvSpPr>
          <p:nvPr>
            <p:ph idx="1"/>
          </p:nvPr>
        </p:nvSpPr>
        <p:spPr/>
        <p:txBody>
          <a:bodyPr wrap="square">
            <a:normAutofit/>
          </a:bodyPr>
          <a:lstStyle/>
          <a:p/>
          <a:p>
            <a:r>
              <a:rPr b="1"/>
              <a:t>The Orchestration Era</a:t>
            </a:r>
            <a:r>
              <a:t>:</a:t>
            </a:r>
          </a:p>
          <a:p/>
          <a:p>
            <a:pPr/>
            <a:r>
              <a:rPr b="1"/>
              <a:t>Cloud Computing</a:t>
            </a:r>
            <a:r>
              <a:t>: Virtualization and containerization (Docker, Kubernetes)</a:t>
            </a:r>
          </a:p>
          <a:p>
            <a:pPr/>
            <a:r>
              <a:rPr b="1"/>
              <a:t>APIs</a:t>
            </a:r>
            <a:r>
              <a:t>: REST and GraphQL enabled modular integration</a:t>
            </a:r>
          </a:p>
          <a:p>
            <a:pPr/>
            <a:r>
              <a:rPr b="1"/>
              <a:t>Low-Code Platforms</a:t>
            </a:r>
            <a:r>
              <a:t>: Mendix, OutSystems, PowerApps with visual compilers</a:t>
            </a:r>
          </a:p>
          <a:p/>
          <a:p>
            <a:r>
              <a:rPr b="1"/>
              <a:t>Transformation</a:t>
            </a:r>
            <a:r>
              <a:t>: Programming shifted from hardware-bound tasks to orchestration</a:t>
            </a:r>
          </a:p>
          <a:p/>
          <a:p>
            <a:r>
              <a:rPr b="1"/>
              <a:t>Experience</a:t>
            </a:r>
            <a:r>
              <a:t>: Browser dashboards, swiping, clicking, dragging</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The Modern Mainstream Coding Experience</a:t>
            </a:r>
          </a:p>
        </p:txBody>
      </p:sp>
      <p:sp>
        <p:nvSpPr>
          <p:cNvPr id="3" name="Content Placeholder 2"/>
          <p:cNvSpPr>
            <a:spLocks noGrp="1"/>
          </p:cNvSpPr>
          <p:nvPr>
            <p:ph idx="1"/>
          </p:nvPr>
        </p:nvSpPr>
        <p:spPr/>
        <p:txBody>
          <a:bodyPr wrap="square">
            <a:normAutofit/>
          </a:bodyPr>
          <a:lstStyle/>
          <a:p/>
          <a:p>
            <a:r>
              <a:rPr b="1"/>
              <a:t>Intent Interpretation</a:t>
            </a:r>
            <a:r>
              <a:t>:</a:t>
            </a:r>
          </a:p>
          <a:p/>
          <a:p>
            <a:pPr/>
            <a:r>
              <a:t>Developers express intent in higher-level languages, frameworks, and APIs</a:t>
            </a:r>
          </a:p>
          <a:p>
            <a:pPr/>
            <a:r>
              <a:t>Compilers, interpreters, and VMs translate intent into executable code</a:t>
            </a:r>
          </a:p>
          <a:p>
            <a:pPr/>
            <a:r>
              <a:t>Libraries and cloud services provide ready-made building blocks</a:t>
            </a:r>
          </a:p>
          <a:p>
            <a:pPr/>
            <a:r>
              <a:t>Less about micromanaging hardware, more about shaping logic and workflows</a:t>
            </a:r>
          </a:p>
          <a:p/>
          <a:p>
            <a:r>
              <a:rPr b="1"/>
              <a:t>The Core</a:t>
            </a:r>
            <a:r>
              <a:t>: Bridging human goals with machine execution through layers of abstraction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AI-Assisted Coding (Present/Future)</a:t>
            </a:r>
          </a:p>
        </p:txBody>
      </p:sp>
      <p:sp>
        <p:nvSpPr>
          <p:cNvPr id="3" name="Content Placeholder 2"/>
          <p:cNvSpPr>
            <a:spLocks noGrp="1"/>
          </p:cNvSpPr>
          <p:nvPr>
            <p:ph idx="1"/>
          </p:nvPr>
        </p:nvSpPr>
        <p:spPr/>
        <p:txBody>
          <a:bodyPr wrap="square">
            <a:normAutofit/>
          </a:bodyPr>
          <a:lstStyle/>
          <a:p/>
          <a:p>
            <a:r>
              <a:rPr b="1"/>
              <a:t>The Natural Language Era</a:t>
            </a:r>
            <a:r>
              <a:t>:</a:t>
            </a:r>
          </a:p>
          <a:p/>
          <a:p>
            <a:r>
              <a:rPr b="1"/>
              <a:t>Enabling Technologies</a:t>
            </a:r>
            <a:r>
              <a:t>:</a:t>
            </a:r>
          </a:p>
          <a:p/>
          <a:p>
            <a:pPr/>
            <a:r>
              <a:t>Large language models trained on vast code repositories</a:t>
            </a:r>
          </a:p>
          <a:p>
            <a:pPr/>
            <a:r>
              <a:t>Contextual intent recognition</a:t>
            </a:r>
          </a:p>
          <a:p>
            <a:pPr/>
            <a:r>
              <a:t>IDE integration</a:t>
            </a:r>
          </a:p>
          <a:p/>
          <a:p>
            <a:r>
              <a:rPr b="1"/>
              <a:t>The Paradigm Shift</a:t>
            </a:r>
            <a:r>
              <a:t>: Programming becomes </a:t>
            </a:r>
            <a:r>
              <a:rPr b="1"/>
              <a:t>dialogue</a:t>
            </a:r>
          </a:p>
          <a:p/>
          <a:p>
            <a:pPr/>
            <a:r>
              <a:t>Express goals in plain language</a:t>
            </a:r>
          </a:p>
          <a:p>
            <a:pPr/>
            <a:r>
              <a:t>AI generates code, tests, and documentation</a:t>
            </a:r>
          </a:p>
          <a:p>
            <a:pPr/>
            <a:r>
              <a:t>Example: "Create a function that validates email addresses" → Complete implementation</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Natural Language Coding: The Game Changer</a:t>
            </a:r>
          </a:p>
        </p:txBody>
      </p:sp>
      <p:sp>
        <p:nvSpPr>
          <p:cNvPr id="3" name="Content Placeholder 2"/>
          <p:cNvSpPr>
            <a:spLocks noGrp="1"/>
          </p:cNvSpPr>
          <p:nvPr>
            <p:ph idx="1"/>
          </p:nvPr>
        </p:nvSpPr>
        <p:spPr/>
        <p:txBody>
          <a:bodyPr wrap="square">
            <a:normAutofit/>
          </a:bodyPr>
          <a:lstStyle/>
          <a:p/>
          <a:p>
            <a:r>
              <a:rPr b="1"/>
              <a:t>Responsibility Shift</a:t>
            </a:r>
            <a:r>
              <a:t>:</a:t>
            </a:r>
          </a:p>
          <a:p/>
          <a:p>
            <a:pPr/>
            <a:r>
              <a:t>Previously: Coder translates intent into executable code</a:t>
            </a:r>
          </a:p>
          <a:p>
            <a:pPr/>
            <a:r>
              <a:t>Now: Intent expressed in natural language, AI interprets and generates</a:t>
            </a:r>
          </a:p>
          <a:p/>
          <a:p>
            <a:r>
              <a:rPr b="1"/>
              <a:t>New Role of Programmer</a:t>
            </a:r>
            <a:r>
              <a:t>:</a:t>
            </a:r>
          </a:p>
          <a:p/>
          <a:p>
            <a:pPr/>
            <a:r>
              <a:rPr b="1"/>
              <a:t>Curator of context</a:t>
            </a:r>
          </a:p>
          <a:p>
            <a:pPr/>
            <a:r>
              <a:rPr b="1"/>
              <a:t>Validator of output</a:t>
            </a:r>
          </a:p>
          <a:p>
            <a:pPr/>
            <a:r>
              <a:rPr b="1"/>
              <a:t>Steward of alignment</a:t>
            </a:r>
            <a:r>
              <a:t> between human goals and machine behavior</a:t>
            </a:r>
          </a:p>
          <a:p/>
          <a:p>
            <a:r>
              <a:rPr b="1"/>
              <a:t>Boundary Movement</a:t>
            </a:r>
            <a:r>
              <a:t>: Between domain expertise and implementation</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AI Understands Intent—Not Just Commands</a:t>
            </a:r>
          </a:p>
        </p:txBody>
      </p:sp>
      <p:sp>
        <p:nvSpPr>
          <p:cNvPr id="3" name="Content Placeholder 2"/>
          <p:cNvSpPr>
            <a:spLocks noGrp="1"/>
          </p:cNvSpPr>
          <p:nvPr>
            <p:ph idx="1"/>
          </p:nvPr>
        </p:nvSpPr>
        <p:spPr/>
        <p:txBody>
          <a:bodyPr wrap="square">
            <a:normAutofit/>
          </a:bodyPr>
          <a:lstStyle/>
          <a:p/>
          <a:p>
            <a:r>
              <a:rPr b="1"/>
              <a:t>Beyond Parsing</a:t>
            </a:r>
            <a:r>
              <a:t>: AI understands what you mean</a:t>
            </a:r>
          </a:p>
          <a:p/>
          <a:p>
            <a:pPr/>
            <a:r>
              <a:t>"Make this faster" → Performance optimizations</a:t>
            </a:r>
          </a:p>
          <a:p>
            <a:pPr/>
            <a:r>
              <a:t>"Add error handling" → Proper exception management</a:t>
            </a:r>
          </a:p>
          <a:p>
            <a:pPr/>
            <a:r>
              <a:t>"Log the output" → Appropriate logging implementation</a:t>
            </a:r>
          </a:p>
          <a:p/>
          <a:p>
            <a:r>
              <a:rPr b="1"/>
              <a:t>New Interaction Modes</a:t>
            </a:r>
            <a:r>
              <a:t>:</a:t>
            </a:r>
          </a:p>
          <a:p/>
          <a:p>
            <a:pPr/>
            <a:r>
              <a:t>Sketches and examples as expressions of intent</a:t>
            </a:r>
          </a:p>
          <a:p>
            <a:pPr/>
            <a:r>
              <a:t>Test cases and bug reports → Code generation</a:t>
            </a:r>
          </a:p>
          <a:p>
            <a:pPr/>
            <a:r>
              <a:t>Conversational iteration like human collaboration</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It's Just Another Tool</a:t>
            </a:r>
          </a:p>
        </p:txBody>
      </p:sp>
      <p:sp>
        <p:nvSpPr>
          <p:cNvPr id="3" name="Content Placeholder 2"/>
          <p:cNvSpPr>
            <a:spLocks noGrp="1"/>
          </p:cNvSpPr>
          <p:nvPr>
            <p:ph idx="1"/>
          </p:nvPr>
        </p:nvSpPr>
        <p:spPr/>
        <p:txBody>
          <a:bodyPr wrap="square">
            <a:normAutofit/>
          </a:bodyPr>
          <a:lstStyle/>
          <a:p/>
          <a:p>
            <a:r>
              <a:rPr b="1"/>
              <a:t>Historical Perspective</a:t>
            </a:r>
            <a:r>
              <a:t>:</a:t>
            </a:r>
          </a:p>
          <a:p/>
          <a:p>
            <a:pPr/>
            <a:r>
              <a:rPr b="1"/>
              <a:t>IDEs</a:t>
            </a:r>
            <a:r>
              <a:t>: Auto-complete and debugging</a:t>
            </a:r>
          </a:p>
          <a:p>
            <a:pPr/>
            <a:r>
              <a:rPr b="1"/>
              <a:t>Libraries</a:t>
            </a:r>
            <a:r>
              <a:t>: Reusable components</a:t>
            </a:r>
          </a:p>
          <a:p>
            <a:pPr/>
            <a:r>
              <a:rPr b="1"/>
              <a:t>AI</a:t>
            </a:r>
            <a:r>
              <a:t>: Intelligent scaffolding, pattern recognition, code generation</a:t>
            </a:r>
          </a:p>
          <a:p/>
          <a:p>
            <a:r>
              <a:rPr b="1"/>
              <a:t>Reality Check</a:t>
            </a:r>
            <a:r>
              <a:t>:</a:t>
            </a:r>
          </a:p>
          <a:p/>
          <a:p>
            <a:pPr/>
            <a:r>
              <a:t>AI is not replacing developers</a:t>
            </a:r>
          </a:p>
          <a:p>
            <a:pPr/>
            <a:r>
              <a:t>It's helping them move faster and think bigger</a:t>
            </a:r>
          </a:p>
          <a:p>
            <a:pPr/>
            <a:r>
              <a:t>Following the same pattern as previous innovations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Verification Still Matters</a:t>
            </a:r>
          </a:p>
        </p:txBody>
      </p:sp>
      <p:sp>
        <p:nvSpPr>
          <p:cNvPr id="3" name="Content Placeholder 2"/>
          <p:cNvSpPr>
            <a:spLocks noGrp="1"/>
          </p:cNvSpPr>
          <p:nvPr>
            <p:ph idx="1"/>
          </p:nvPr>
        </p:nvSpPr>
        <p:spPr/>
        <p:txBody>
          <a:bodyPr wrap="square">
            <a:normAutofit/>
          </a:bodyPr>
          <a:lstStyle/>
          <a:p/>
          <a:p>
            <a:r>
              <a:rPr b="1"/>
              <a:t>Unchanged Responsibilities</a:t>
            </a:r>
            <a:r>
              <a:t>:</a:t>
            </a:r>
          </a:p>
          <a:p/>
          <a:p>
            <a:pPr/>
            <a:r>
              <a:rPr b="1"/>
              <a:t>Testing, review, and validation</a:t>
            </a:r>
            <a:r>
              <a:t> still required</a:t>
            </a:r>
          </a:p>
          <a:p>
            <a:pPr/>
            <a:r>
              <a:rPr b="1"/>
              <a:t>Architecture, correctness, security, ethics</a:t>
            </a:r>
            <a:r>
              <a:t> remain developer duties</a:t>
            </a:r>
          </a:p>
          <a:p>
            <a:pPr/>
            <a:r>
              <a:t>Critical thinking is still essential</a:t>
            </a:r>
          </a:p>
          <a:p/>
          <a:p>
            <a:r>
              <a:rPr b="1"/>
              <a:t>What Changed</a:t>
            </a:r>
            <a:r>
              <a:t>: How we express our goals</a:t>
            </a:r>
          </a:p>
          <a:p>
            <a:r>
              <a:rPr b="1"/>
              <a:t>What Didn't Change</a:t>
            </a:r>
            <a:r>
              <a:t>: Whether we need to think critically</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The Future Is Still Intent-Driven Development</a:t>
            </a:r>
          </a:p>
        </p:txBody>
      </p:sp>
      <p:sp>
        <p:nvSpPr>
          <p:cNvPr id="3" name="Content Placeholder 2"/>
          <p:cNvSpPr>
            <a:spLocks noGrp="1"/>
          </p:cNvSpPr>
          <p:nvPr>
            <p:ph idx="1"/>
          </p:nvPr>
        </p:nvSpPr>
        <p:spPr/>
        <p:txBody>
          <a:bodyPr wrap="square">
            <a:normAutofit/>
          </a:bodyPr>
          <a:lstStyle/>
          <a:p/>
          <a:p>
            <a:r>
              <a:rPr b="1"/>
              <a:t>Continuity</a:t>
            </a:r>
            <a:r>
              <a:t>:</a:t>
            </a:r>
          </a:p>
          <a:p/>
          <a:p>
            <a:pPr/>
            <a:r>
              <a:t>Core goal remains: getting computers to do what we need</a:t>
            </a:r>
          </a:p>
          <a:p>
            <a:pPr/>
            <a:r>
              <a:t>Instead of writing/debugging code → creating prompts and refining context</a:t>
            </a:r>
          </a:p>
          <a:p>
            <a:pPr/>
            <a:r>
              <a:t>Same learning curve pattern as all previous improvements</a:t>
            </a:r>
          </a:p>
          <a:p/>
          <a:p>
            <a:r>
              <a:rPr b="1"/>
              <a:t>Essential Truth</a:t>
            </a:r>
            <a:r>
              <a:t>: AI assistance is just another improvement in the long line of programming evolution</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Conclusion</a:t>
            </a:r>
          </a:p>
        </p:txBody>
      </p:sp>
      <p:sp>
        <p:nvSpPr>
          <p:cNvPr id="3" name="Content Placeholder 2"/>
          <p:cNvSpPr>
            <a:spLocks noGrp="1"/>
          </p:cNvSpPr>
          <p:nvPr>
            <p:ph idx="1"/>
          </p:nvPr>
        </p:nvSpPr>
        <p:spPr/>
        <p:txBody>
          <a:bodyPr wrap="square">
            <a:normAutofit/>
          </a:bodyPr>
          <a:lstStyle/>
          <a:p/>
          <a:p>
            <a:r>
              <a:rPr b="1"/>
              <a:t>The Fundamental Truth</a:t>
            </a:r>
            <a:r>
              <a:t>:</a:t>
            </a:r>
          </a:p>
          <a:p/>
          <a:p>
            <a:pPr/>
            <a:r>
              <a:t>Programming has </a:t>
            </a:r>
            <a:r>
              <a:rPr b="1"/>
              <a:t>always</a:t>
            </a:r>
            <a:r>
              <a:t> been about translating human intent into machine action</a:t>
            </a:r>
          </a:p>
          <a:p>
            <a:pPr/>
            <a:r>
              <a:t>From punch cards to Python to AI prompts—the core challenge remains unchanged</a:t>
            </a:r>
          </a:p>
          <a:p>
            <a:pPr/>
            <a:r>
              <a:t>What evolves is not the essence of programming, but the sophistication of our tools</a:t>
            </a:r>
          </a:p>
          <a:p/>
          <a:p>
            <a:r>
              <a:rPr b="1"/>
              <a:t>AI's Role</a:t>
            </a:r>
            <a:r>
              <a:t>:</a:t>
            </a:r>
          </a:p>
          <a:p/>
          <a:p>
            <a:pPr/>
            <a:r>
              <a:t>Latest chapter in the ongoing story</a:t>
            </a:r>
          </a:p>
          <a:p>
            <a:pPr/>
            <a:r>
              <a:t>More intuitive ways to communicate with computers</a:t>
            </a:r>
          </a:p>
          <a:p>
            <a:pPr/>
            <a:r>
              <a:t>Preserves essential human responsibilities: design, validation, ethical oversight</a:t>
            </a:r>
          </a:p>
          <a:p/>
          <a:p>
            <a:r>
              <a:rPr b="1"/>
              <a:t>The Future</a:t>
            </a:r>
            <a:r>
              <a:t>: Not abandoning programming, but refining it—making it more accessible and efficient while keeping human creativity and judgment at the center.</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The AI Revolution?</a:t>
            </a:r>
          </a:p>
        </p:txBody>
      </p:sp>
      <p:sp>
        <p:nvSpPr>
          <p:cNvPr id="3" name="Content Placeholder 2"/>
          <p:cNvSpPr>
            <a:spLocks noGrp="1"/>
          </p:cNvSpPr>
          <p:nvPr>
            <p:ph idx="1"/>
          </p:nvPr>
        </p:nvSpPr>
        <p:spPr/>
        <p:txBody>
          <a:bodyPr wrap="square">
            <a:normAutofit/>
          </a:bodyPr>
          <a:lstStyle/>
          <a:p/>
          <a:p>
            <a:r>
              <a:t>What hasn't changed and what has.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Why AI Assisted Software Development</a:t>
            </a:r>
          </a:p>
        </p:txBody>
      </p:sp>
      <p:sp>
        <p:nvSpPr>
          <p:cNvPr id="3" name="Content Placeholder 2"/>
          <p:cNvSpPr>
            <a:spLocks noGrp="1"/>
          </p:cNvSpPr>
          <p:nvPr>
            <p:ph idx="1"/>
          </p:nvPr>
        </p:nvSpPr>
        <p:spPr/>
        <p:txBody>
          <a:bodyPr wrap="square">
            <a:normAutofit/>
          </a:bodyPr>
          <a:lstStyle/>
          <a:p/>
          <a:p>
            <a:r>
              <a:t>If used effectively, it will give you superpowers</a:t>
            </a:r>
          </a:p>
          <a:p/>
          <a:p>
            <a:pPr/>
            <a:r>
              <a:t>The courage to</a:t>
            </a:r>
          </a:p>
          <a:p>
            <a:r>
              <a:t>  - Take on codebases that few would touch</a:t>
            </a:r>
          </a:p>
          <a:p>
            <a:r>
              <a:t>  - Use technologies you should know but don’t</a:t>
            </a:r>
          </a:p>
          <a:p>
            <a:r>
              <a:t>  - Write more high-quality code than you have ever written before</a:t>
            </a:r>
          </a:p>
          <a:p>
            <a:r>
              <a:t>  - Take on the nice to haves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AI-First &amp; Prompt-First</a:t>
            </a:r>
          </a:p>
        </p:txBody>
      </p:sp>
      <p:sp>
        <p:nvSpPr>
          <p:cNvPr id="3" name="Content Placeholder 2"/>
          <p:cNvSpPr>
            <a:spLocks noGrp="1"/>
          </p:cNvSpPr>
          <p:nvPr>
            <p:ph idx="1"/>
          </p:nvPr>
        </p:nvSpPr>
        <p:spPr/>
        <p:txBody>
          <a:bodyPr wrap="square">
            <a:normAutofit/>
          </a:bodyPr>
          <a:lstStyle/>
          <a:p/>
          <a:p>
            <a:r>
              <a:t>AI-First Development</a:t>
            </a:r>
          </a:p>
          <a:p>
            <a:r>
              <a:t>A software engineering philosophy where AI is embedded across the entire SDLC–requirements, design, implementation, testing, documentation, compliance, and maintenance.</a:t>
            </a:r>
          </a:p>
          <a:p>
            <a:r>
              <a:t>Prompt-First Development</a:t>
            </a:r>
          </a:p>
          <a:p>
            <a:r>
              <a:t>A workflow pattern where prompts, instruction files, and chat modes are treated as first-class, version-controlled artifacts.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What Each Optimizes For</a:t>
            </a:r>
          </a:p>
        </p:txBody>
      </p:sp>
      <p:graphicFrame>
        <p:nvGraphicFramePr>
          <p:cNvPr id="3" name="Table 2"/>
          <p:cNvGraphicFramePr>
            <a:graphicFrameLocks noGrp="1"/>
          </p:cNvGraphicFramePr>
          <p:nvPr/>
        </p:nvGraphicFramePr>
        <p:xfrm>
          <a:off x="457200" y="1828800"/>
          <a:ext cx="8229600" cy="2286000"/>
        </p:xfrm>
        <a:graphic>
          <a:graphicData uri="http://schemas.openxmlformats.org/drawingml/2006/table">
            <a:tbl>
              <a:tblPr firstRow="1" bandRow="1">
                <a:tableStyleId>{5C22544A-7EE6-4342-B048-85BDC9FD1C3A}</a:tableStyleId>
              </a:tblPr>
              <a:tblGrid>
                <a:gridCol w="2743200"/>
                <a:gridCol w="2743200"/>
                <a:gridCol w="2743200"/>
              </a:tblGrid>
              <a:tr h="457200">
                <a:tc>
                  <a:txBody>
                    <a:bodyPr/>
                    <a:lstStyle/>
                    <a:p>
                      <a:pPr>
                        <a:defRPr b="1" sz="1296"/>
                      </a:pPr>
                      <a:r>
                        <a:t>Focus Area</a:t>
                      </a:r>
                    </a:p>
                  </a:txBody>
                  <a:tcPr/>
                </a:tc>
                <a:tc>
                  <a:txBody>
                    <a:bodyPr/>
                    <a:lstStyle/>
                    <a:p>
                      <a:pPr>
                        <a:defRPr b="1" sz="1296"/>
                      </a:pPr>
                      <a:r>
                        <a:t>AI-First</a:t>
                      </a:r>
                    </a:p>
                  </a:txBody>
                  <a:tcPr/>
                </a:tc>
                <a:tc>
                  <a:txBody>
                    <a:bodyPr/>
                    <a:lstStyle/>
                    <a:p>
                      <a:pPr>
                        <a:defRPr b="1" sz="1296"/>
                      </a:pPr>
                      <a:r>
                        <a:t>Prompt-First</a:t>
                      </a:r>
                    </a:p>
                  </a:txBody>
                  <a:tcPr/>
                </a:tc>
              </a:tr>
              <a:tr h="457200">
                <a:tc>
                  <a:txBody>
                    <a:bodyPr/>
                    <a:lstStyle/>
                    <a:p>
                      <a:r>
                        <a:t>Scope</a:t>
                      </a:r>
                    </a:p>
                  </a:txBody>
                  <a:tcPr/>
                </a:tc>
                <a:tc>
                  <a:txBody>
                    <a:bodyPr/>
                    <a:lstStyle/>
                    <a:p>
                      <a:r>
                        <a:t>Entire SDLC</a:t>
                      </a:r>
                    </a:p>
                  </a:txBody>
                  <a:tcPr/>
                </a:tc>
                <a:tc>
                  <a:txBody>
                    <a:bodyPr/>
                    <a:lstStyle/>
                    <a:p>
                      <a:r>
                        <a:t>Interaction layer</a:t>
                      </a:r>
                    </a:p>
                  </a:txBody>
                  <a:tcPr/>
                </a:tc>
              </a:tr>
              <a:tr h="457200">
                <a:tc>
                  <a:txBody>
                    <a:bodyPr/>
                    <a:lstStyle/>
                    <a:p>
                      <a:r>
                        <a:t>Goal</a:t>
                      </a:r>
                    </a:p>
                  </a:txBody>
                  <a:tcPr/>
                </a:tc>
                <a:tc>
                  <a:txBody>
                    <a:bodyPr/>
                    <a:lstStyle/>
                    <a:p>
                      <a:r>
                        <a:t>Lifecycle integration</a:t>
                      </a:r>
                    </a:p>
                  </a:txBody>
                  <a:tcPr/>
                </a:tc>
                <a:tc>
                  <a:txBody>
                    <a:bodyPr/>
                    <a:lstStyle/>
                    <a:p>
                      <a:r>
                        <a:t>Deterministic AI behavior</a:t>
                      </a:r>
                    </a:p>
                  </a:txBody>
                  <a:tcPr/>
                </a:tc>
              </a:tr>
              <a:tr h="457200">
                <a:tc>
                  <a:txBody>
                    <a:bodyPr/>
                    <a:lstStyle/>
                    <a:p>
                      <a:r>
                        <a:t>Optimization</a:t>
                      </a:r>
                    </a:p>
                  </a:txBody>
                  <a:tcPr/>
                </a:tc>
                <a:tc>
                  <a:txBody>
                    <a:bodyPr/>
                    <a:lstStyle/>
                    <a:p>
                      <a:r>
                        <a:t>Velocity, governance</a:t>
                      </a:r>
                    </a:p>
                  </a:txBody>
                  <a:tcPr/>
                </a:tc>
                <a:tc>
                  <a:txBody>
                    <a:bodyPr/>
                    <a:lstStyle/>
                    <a:p>
                      <a:r>
                        <a:t>Prompt quality, reproducibility</a:t>
                      </a:r>
                    </a:p>
                  </a:txBody>
                  <a:tcPr/>
                </a:tc>
              </a:tr>
              <a:tr h="457200">
                <a:tc>
                  <a:txBody>
                    <a:bodyPr/>
                    <a:lstStyle/>
                    <a:p>
                      <a:r>
                        <a:t>Risk Controls</a:t>
                      </a:r>
                    </a:p>
                  </a:txBody>
                  <a:tcPr/>
                </a:tc>
                <a:tc>
                  <a:txBody>
                    <a:bodyPr/>
                    <a:lstStyle/>
                    <a:p>
                      <a:r>
                        <a:t>Human-in-loop, provenance</a:t>
                      </a:r>
                    </a:p>
                  </a:txBody>
                  <a:tcPr/>
                </a:tc>
                <a:tc>
                  <a:txBody>
                    <a:bodyPr/>
                    <a:lstStyle/>
                    <a:p>
                      <a:r>
                        <a:t>Versioned prompts, context control</a:t>
                      </a:r>
                    </a:p>
                  </a:txBody>
                  <a:tcPr/>
                </a:tc>
              </a:tr>
            </a:tbl>
          </a:graphicData>
        </a:graphic>
      </p:graphicFrame>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How They Treat Artifacts</a:t>
            </a:r>
          </a:p>
        </p:txBody>
      </p:sp>
      <p:sp>
        <p:nvSpPr>
          <p:cNvPr id="3" name="Content Placeholder 2"/>
          <p:cNvSpPr>
            <a:spLocks noGrp="1"/>
          </p:cNvSpPr>
          <p:nvPr>
            <p:ph idx="1"/>
          </p:nvPr>
        </p:nvSpPr>
        <p:spPr/>
        <p:txBody>
          <a:bodyPr wrap="square">
            <a:normAutofit/>
          </a:bodyPr>
          <a:lstStyle/>
          <a:p/>
          <a:p>
            <a:r>
              <a:t>AI-First</a:t>
            </a:r>
          </a:p>
          <a:p>
            <a:r>
              <a:t>Requirements written with AI collaboration in mind</a:t>
            </a:r>
          </a:p>
          <a:p>
            <a:r>
              <a:t>AI-generated scaffolds, tests, docs</a:t>
            </a:r>
          </a:p>
          <a:p>
            <a:r>
              <a:t>Provenance enforced across all AI outputs</a:t>
            </a:r>
          </a:p>
          <a:p>
            <a:r>
              <a:t>Architecture assumes AI participation</a:t>
            </a:r>
          </a:p>
          <a:p>
            <a:r>
              <a:t>Prompt-First</a:t>
            </a:r>
          </a:p>
          <a:p>
            <a:r>
              <a:t>Prompts and instruction files are version-controlled</a:t>
            </a:r>
          </a:p>
          <a:p>
            <a:r>
              <a:t>Prompts define behavioral contracts</a:t>
            </a:r>
          </a:p>
          <a:p>
            <a:r>
              <a:t>Reusable prompt modules</a:t>
            </a:r>
          </a:p>
          <a:p>
            <a:r>
              <a:t>Chat modes define safe, predictable interactions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Relationship Between the Two</a:t>
            </a:r>
          </a:p>
        </p:txBody>
      </p:sp>
      <p:sp>
        <p:nvSpPr>
          <p:cNvPr id="3" name="Content Placeholder 2"/>
          <p:cNvSpPr>
            <a:spLocks noGrp="1"/>
          </p:cNvSpPr>
          <p:nvPr>
            <p:ph idx="1"/>
          </p:nvPr>
        </p:nvSpPr>
        <p:spPr/>
        <p:txBody>
          <a:bodyPr wrap="square">
            <a:normAutofit/>
          </a:bodyPr>
          <a:lstStyle/>
          <a:p/>
          <a:p>
            <a:r>
              <a:t>Prompt-First is a subset of AI-First.</a:t>
            </a:r>
          </a:p>
          <a:p>
            <a:r>
              <a:t>Prompt-First = mechanics</a:t>
            </a:r>
          </a:p>
          <a:p>
            <a:r>
              <a:t>AI-First = philosophy + architecture + lifecycle integration</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AI First Software Development</a:t>
            </a:r>
          </a:p>
        </p:txBody>
      </p:sp>
      <p:sp>
        <p:nvSpPr>
          <p:cNvPr id="3" name="Content Placeholder 2"/>
          <p:cNvSpPr>
            <a:spLocks noGrp="1"/>
          </p:cNvSpPr>
          <p:nvPr>
            <p:ph idx="1"/>
          </p:nvPr>
        </p:nvSpPr>
        <p:spPr/>
        <p:txBody>
          <a:bodyPr wrap="square">
            <a:normAutofit/>
          </a:bodyPr>
          <a:lstStyle/>
          <a:p/>
          <a:p>
            <a:r>
              <a:t>Building software where AI is a core capability, not an add-on</a:t>
            </a:r>
          </a:p>
          <a:p>
            <a:r>
              <a:t>Why AI-First</a:t>
            </a:r>
          </a:p>
          <a:p/>
          <a:p>
            <a:pPr/>
            <a:r>
              <a:t>Software requirements increasingly expressed in natural language</a:t>
            </a:r>
          </a:p>
          <a:p>
            <a:pPr/>
            <a:r>
              <a:t>AI copilots accelerate architecture, coding, testing, and documentation</a:t>
            </a:r>
          </a:p>
          <a:p>
            <a:pPr/>
            <a:r>
              <a:t>Teams shift from “writing code” to “designing intent + validating outputs”</a:t>
            </a:r>
          </a:p>
          <a:p>
            <a:r>
              <a:t>  Core Principles</a:t>
            </a:r>
          </a:p>
          <a:p>
            <a:pPr/>
            <a:r>
              <a:t>Prompt-First Design: Requirements, architecture, and workflows expressed as structured prompts</a:t>
            </a:r>
          </a:p>
          <a:p>
            <a:pPr/>
            <a:r>
              <a:t>AI-Native Architecture: Modular services, clear boundaries, deterministic interfaces for AI-generated components</a:t>
            </a:r>
          </a:p>
          <a:p>
            <a:pPr/>
            <a:r>
              <a:t>Human-in-the-Loop: Review, validation, and traceability baked into every stage</a:t>
            </a:r>
          </a:p>
          <a:p>
            <a:pPr/>
            <a:r>
              <a:t>Continuous Verification: Automated tests, static analysis, and guardrails to ensure safe outputs</a:t>
            </a:r>
          </a:p>
          <a:p>
            <a:pPr/>
            <a:r>
              <a:t>Lifecycle Governance: Versioning, provenance, and risk-based controls for AI-generated artifacts</a:t>
            </a:r>
          </a:p>
          <a:p>
            <a:r>
              <a:t>  Outcomes</a:t>
            </a:r>
          </a:p>
          <a:p>
            <a:pPr/>
            <a:r>
              <a:t>Faster iteration cycles</a:t>
            </a:r>
          </a:p>
          <a:p>
            <a:pPr/>
            <a:r>
              <a:t>Higher coverage of documentation and tests</a:t>
            </a:r>
          </a:p>
          <a:p>
            <a:pPr/>
            <a:r>
              <a:t>Reduced cognitive load on developers</a:t>
            </a:r>
          </a:p>
          <a:p>
            <a:pPr/>
            <a:r>
              <a:t>More resilient, adaptable systems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Prompt-First Software Development</a:t>
            </a:r>
          </a:p>
        </p:txBody>
      </p:sp>
      <p:sp>
        <p:nvSpPr>
          <p:cNvPr id="3" name="Content Placeholder 2"/>
          <p:cNvSpPr>
            <a:spLocks noGrp="1"/>
          </p:cNvSpPr>
          <p:nvPr>
            <p:ph idx="1"/>
          </p:nvPr>
        </p:nvSpPr>
        <p:spPr/>
        <p:txBody>
          <a:bodyPr wrap="square">
            <a:normAutofit/>
          </a:bodyPr>
          <a:lstStyle/>
          <a:p/>
          <a:p>
            <a:r>
              <a:t>Design the intent first — let AI generate the implementation</a:t>
            </a:r>
          </a:p>
          <a:p>
            <a:r>
              <a:t>Why Prompt-First</a:t>
            </a:r>
          </a:p>
          <a:p/>
          <a:p>
            <a:pPr/>
            <a:r>
              <a:t>Behaviors, and constraints expressed in structured natural language</a:t>
            </a:r>
          </a:p>
          <a:p>
            <a:pPr/>
            <a:r>
              <a:t>Prompts become the new “source of truth” artifacts</a:t>
            </a:r>
          </a:p>
          <a:p>
            <a:pPr/>
            <a:r>
              <a:t>Teams shift from writing functions to defining outcomes, invariants, and interfaces</a:t>
            </a:r>
          </a:p>
          <a:p>
            <a:r>
              <a:t>  Core Practices</a:t>
            </a:r>
          </a:p>
          <a:p>
            <a:pPr/>
            <a:r>
              <a:t>Structured Prompts: Use templates for features, APIs, data models, tests, and refactors</a:t>
            </a:r>
          </a:p>
          <a:p>
            <a:pPr/>
            <a:r>
              <a:t>Instruction Files: Persistent, versioned artifacts guiding AI code generation</a:t>
            </a:r>
          </a:p>
          <a:p>
            <a:pPr/>
            <a:r>
              <a:t>Deterministic Boundaries: Clear module contracts so AI-generated code stays predictable</a:t>
            </a:r>
          </a:p>
          <a:p>
            <a:pPr/>
            <a:r>
              <a:t>Validation Loops: Automated tests + human review ensure correctness and safety</a:t>
            </a:r>
          </a:p>
          <a:p>
            <a:pPr/>
            <a:r>
              <a:t>Prompt Versioning: Track evolution of intent just like code changes</a:t>
            </a:r>
          </a:p>
          <a:p>
            <a:r>
              <a:t>  Benefits</a:t>
            </a:r>
          </a:p>
          <a:p>
            <a:pPr/>
            <a:r>
              <a:t>Faster iteration from idea → working software</a:t>
            </a:r>
          </a:p>
          <a:p>
            <a:pPr/>
            <a:r>
              <a:t>Higher consistency across generated components</a:t>
            </a:r>
          </a:p>
          <a:p>
            <a:pPr/>
            <a:r>
              <a:t>Reduced cognitive load on developers</a:t>
            </a:r>
          </a:p>
          <a:p>
            <a:pPr/>
            <a:r>
              <a:t>Better alignment between business intent and implementation</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**Concrete Examples**</a:t>
            </a:r>
          </a:p>
        </p:txBody>
      </p:sp>
      <p:sp>
        <p:nvSpPr>
          <p:cNvPr id="3" name="Content Placeholder 2"/>
          <p:cNvSpPr>
            <a:spLocks noGrp="1"/>
          </p:cNvSpPr>
          <p:nvPr>
            <p:ph idx="1"/>
          </p:nvPr>
        </p:nvSpPr>
        <p:spPr/>
        <p:txBody>
          <a:bodyPr wrap="square">
            <a:normAutofit/>
          </a:bodyPr>
          <a:lstStyle/>
          <a:p/>
          <a:p>
            <a:r>
              <a:rPr b="1"/>
              <a:t>Prompt-First Example</a:t>
            </a:r>
          </a:p>
          <a:p/>
          <a:p>
            <a:pPr/>
            <a:r>
              <a:t>Promptfile for generating unit tests</a:t>
            </a:r>
          </a:p>
          <a:p>
            <a:pPr/>
            <a:r>
              <a:t>Instruction file for documentation</a:t>
            </a:r>
          </a:p>
          <a:p>
            <a:pPr/>
            <a:r>
              <a:t>Chat mode for brownfield developers</a:t>
            </a:r>
          </a:p>
          <a:p/>
          <a:p>
            <a:r>
              <a:rPr b="1"/>
              <a:t>AI-First Example</a:t>
            </a:r>
          </a:p>
          <a:p/>
          <a:p>
            <a:pPr/>
            <a:r>
              <a:t>Requirements → AI-generated scaffolds</a:t>
            </a:r>
          </a:p>
          <a:p>
            <a:pPr/>
            <a:r>
              <a:t>Code changes → AI-assisted reviews</a:t>
            </a:r>
          </a:p>
          <a:p>
            <a:pPr/>
            <a:r>
              <a:t>Docs → continuously AI-generated</a:t>
            </a:r>
          </a:p>
          <a:p>
            <a:pPr/>
            <a:r>
              <a:t>Modernization → AI-guided refactoring plans</a:t>
            </a:r>
          </a:p>
          <a:p>
            <a:pPr/>
            <a:r>
              <a:t>Provenance → enforced everywhere</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**Shortest Summary**</a:t>
            </a:r>
          </a:p>
        </p:txBody>
      </p:sp>
      <p:sp>
        <p:nvSpPr>
          <p:cNvPr id="3" name="Content Placeholder 2"/>
          <p:cNvSpPr>
            <a:spLocks noGrp="1"/>
          </p:cNvSpPr>
          <p:nvPr>
            <p:ph idx="1"/>
          </p:nvPr>
        </p:nvSpPr>
        <p:spPr/>
        <p:txBody>
          <a:bodyPr wrap="square">
            <a:normAutofit/>
          </a:bodyPr>
          <a:lstStyle/>
          <a:p/>
          <a:p>
            <a:pPr/>
            <a:r>
              <a:rPr b="1"/>
              <a:t>AI-First = philosophy + architecture + lifecycle integration</a:t>
            </a:r>
          </a:p>
          <a:p>
            <a:pPr/>
            <a:r>
              <a:rPr b="1"/>
              <a:t>Prompt-First = structured, version-controlled interfaces for interacting with AI</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Course Modules</a:t>
            </a:r>
          </a:p>
        </p:txBody>
      </p:sp>
      <p:sp>
        <p:nvSpPr>
          <p:cNvPr id="3" name="Content Placeholder 2"/>
          <p:cNvSpPr>
            <a:spLocks noGrp="1"/>
          </p:cNvSpPr>
          <p:nvPr>
            <p:ph idx="1"/>
          </p:nvPr>
        </p:nvSpPr>
        <p:spPr/>
        <p:txBody>
          <a:bodyPr wrap="square">
            <a:normAutofit/>
          </a:bodyPr>
          <a:lstStyle/>
          <a:p/>
          <a:p>
            <a:pPr/>
            <a:r>
              <a:t>Intro</a:t>
            </a:r>
          </a:p>
          <a:p>
            <a:pPr/>
            <a:r>
              <a:t>Module 1 - AIASD</a:t>
            </a:r>
          </a:p>
          <a:p>
            <a:pPr/>
            <a:r>
              <a:rPr b="1"/>
              <a:t>▶ Module 2 - Intro to Copilot</a:t>
            </a:r>
          </a:p>
          <a:p>
            <a:pPr/>
            <a:r>
              <a:t>Module 3 - Vibbing</a:t>
            </a:r>
          </a:p>
          <a:p>
            <a:pPr/>
            <a:r>
              <a:t>Module 4 - Adding AI Guardrails</a:t>
            </a:r>
          </a:p>
          <a:p>
            <a:pPr/>
            <a:r>
              <a:t>Module 5 - Managing Context</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Module 2 - Intro to Copilot</a:t>
            </a:r>
          </a:p>
        </p:txBody>
      </p:sp>
      <p:sp>
        <p:nvSpPr>
          <p:cNvPr id="3" name="Content Placeholder 2"/>
          <p:cNvSpPr>
            <a:spLocks noGrp="1"/>
          </p:cNvSpPr>
          <p:nvPr>
            <p:ph idx="1"/>
          </p:nvPr>
        </p:nvSpPr>
        <p:spPr/>
        <p:txBody>
          <a:bodyPr/>
          <a:lstStyle/>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Module 2 - Intro to Copilot</a:t>
            </a:r>
          </a:p>
        </p:txBody>
      </p:sp>
      <p:sp>
        <p:nvSpPr>
          <p:cNvPr id="3" name="Content Placeholder 2"/>
          <p:cNvSpPr>
            <a:spLocks noGrp="1"/>
          </p:cNvSpPr>
          <p:nvPr>
            <p:ph idx="1"/>
          </p:nvPr>
        </p:nvSpPr>
        <p:spPr/>
        <p:txBody>
          <a:bodyPr wrap="square">
            <a:normAutofit/>
          </a:bodyPr>
          <a:lstStyle/>
          <a:p/>
          <a:p>
            <a:pPr/>
            <a:r>
              <a:t>Repository and Tool Setup</a:t>
            </a:r>
          </a:p>
          <a:p>
            <a:pPr/>
            <a:r>
              <a:t>Hands-On with GitHub Copilot</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Repository and Tool Setup</a:t>
            </a:r>
          </a:p>
        </p:txBody>
      </p:sp>
      <p:sp>
        <p:nvSpPr>
          <p:cNvPr id="3" name="Content Placeholder 2"/>
          <p:cNvSpPr>
            <a:spLocks noGrp="1"/>
          </p:cNvSpPr>
          <p:nvPr>
            <p:ph idx="1"/>
          </p:nvPr>
        </p:nvSpPr>
        <p:spPr/>
        <p:txBody>
          <a:bodyPr wrap="square">
            <a:normAutofit/>
          </a:bodyPr>
          <a:lstStyle/>
          <a:p/>
          <a:p>
            <a:r>
              <a:t>Cloning course repository</a:t>
            </a:r>
          </a:p>
          <a:p>
            <a:r>
              <a:t>GitHub authentication</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Lab: Clone the AI-Assisted-Software-Development Repository</a:t>
            </a:r>
          </a:p>
        </p:txBody>
      </p:sp>
      <p:sp>
        <p:nvSpPr>
          <p:cNvPr id="3" name="Content Placeholder 2"/>
          <p:cNvSpPr>
            <a:spLocks noGrp="1"/>
          </p:cNvSpPr>
          <p:nvPr>
            <p:ph idx="1"/>
          </p:nvPr>
        </p:nvSpPr>
        <p:spPr/>
        <p:txBody>
          <a:bodyPr wrap="square">
            <a:normAutofit/>
          </a:bodyPr>
          <a:lstStyle/>
          <a:p/>
          <a:p>
            <a:r>
              <a:t>Duration: 10 minutes</a:t>
            </a:r>
          </a:p>
          <a:p>
            <a:r>
              <a:t>Prerequisites: Git, GitHub account</a:t>
            </a:r>
          </a:p>
          <a:p>
            <a:r>
              <a:t>Objectives</a:t>
            </a:r>
          </a:p>
          <a:p>
            <a:r>
              <a:t>Fork the AI-Assisted-Software-Development repo</a:t>
            </a:r>
          </a:p>
          <a:p>
            <a:r>
              <a:t>Activities</a:t>
            </a:r>
          </a:p>
          <a:p>
            <a:r>
              <a:t>Clone the git@github.com:johnmillerATcodemag-com/AI-Assisted-Software-Development.gitrepository</a:t>
            </a:r>
          </a:p>
          <a:p>
            <a:r>
              <a:t>Switch to the brownfield branch</a:t>
            </a:r>
          </a:p>
          <a:p>
            <a:r>
              <a:t>Success Criteria</a:t>
            </a:r>
          </a:p>
          <a:p>
            <a:r>
              <a:t>Cloned repository exists locally</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Exercise: Fork the AIASD-20260209-BF Repo</a:t>
            </a:r>
          </a:p>
        </p:txBody>
      </p:sp>
      <p:sp>
        <p:nvSpPr>
          <p:cNvPr id="3" name="Content Placeholder 2"/>
          <p:cNvSpPr>
            <a:spLocks noGrp="1"/>
          </p:cNvSpPr>
          <p:nvPr>
            <p:ph idx="1"/>
          </p:nvPr>
        </p:nvSpPr>
        <p:spPr/>
        <p:txBody>
          <a:bodyPr wrap="square">
            <a:normAutofit/>
          </a:bodyPr>
          <a:lstStyle/>
          <a:p/>
          <a:p>
            <a:r>
              <a:t>Duration: 20 minutes</a:t>
            </a:r>
          </a:p>
          <a:p>
            <a:r>
              <a:t>Objectives: Explore an unfamiliar codebase</a:t>
            </a:r>
          </a:p>
          <a:p>
            <a:r>
              <a:t>Activities</a:t>
            </a:r>
          </a:p>
          <a:p>
            <a:r>
              <a:t>Fork this repo https://github.com/j0hnnymiller/AIASD-20260209-BF.git</a:t>
            </a:r>
          </a:p>
          <a:p>
            <a:r>
              <a:t>Clone the forked repo</a:t>
            </a:r>
          </a:p>
          <a:p>
            <a:r>
              <a:t>Create a GitHub PAT https://github.com/settings/tokens</a:t>
            </a:r>
          </a:p>
          <a:p>
            <a:r>
              <a:t>Store the PAT in the GITHUB_TOKEN environment variable</a:t>
            </a:r>
          </a:p>
          <a:p>
            <a:r>
              <a:t>Success Criteria</a:t>
            </a:r>
          </a:p>
          <a:p>
            <a:r>
              <a:t>Repo is available locally</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Exercise: Fork the repos</a:t>
            </a:r>
          </a:p>
        </p:txBody>
      </p:sp>
      <p:sp>
        <p:nvSpPr>
          <p:cNvPr id="3" name="Content Placeholder 2"/>
          <p:cNvSpPr>
            <a:spLocks noGrp="1"/>
          </p:cNvSpPr>
          <p:nvPr>
            <p:ph idx="1"/>
          </p:nvPr>
        </p:nvSpPr>
        <p:spPr/>
        <p:txBody>
          <a:bodyPr wrap="square">
            <a:normAutofit/>
          </a:bodyPr>
          <a:lstStyle/>
          <a:p/>
          <a:p>
            <a:r>
              <a:t>Objective: Fork the course repos</a:t>
            </a:r>
          </a:p>
          <a:p>
            <a:r>
              <a:t>Search GitHub for</a:t>
            </a:r>
          </a:p>
          <a:p>
            <a:pPr/>
            <a:r>
              <a:t>AI-Assisted-Software-Development</a:t>
            </a:r>
          </a:p>
          <a:p>
            <a:pPr/>
            <a:r>
              <a:t>zeus.academia.3b</a:t>
            </a:r>
          </a:p>
          <a:p>
            <a:r>
              <a:t>Fork the repos</a:t>
            </a:r>
          </a:p>
          <a:p>
            <a:pPr/>
            <a:r>
              <a:t>This will create a personal copy under your GitHub account</a:t>
            </a:r>
          </a:p>
          <a:p>
            <a:pPr/>
            <a:r>
              <a:t>You can make changes without affecting the original repo</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Hands-On with GitHub Copilot</a:t>
            </a:r>
          </a:p>
        </p:txBody>
      </p:sp>
      <p:sp>
        <p:nvSpPr>
          <p:cNvPr id="3" name="Content Placeholder 2"/>
          <p:cNvSpPr>
            <a:spLocks noGrp="1"/>
          </p:cNvSpPr>
          <p:nvPr>
            <p:ph idx="1"/>
          </p:nvPr>
        </p:nvSpPr>
        <p:spPr/>
        <p:txBody>
          <a:bodyPr wrap="square">
            <a:normAutofit/>
          </a:bodyPr>
          <a:lstStyle/>
          <a:p/>
          <a:p>
            <a:r>
              <a:t>Installation and configuration</a:t>
            </a:r>
          </a:p>
          <a:p/>
          <a:p>
            <a:pPr/>
            <a:r>
              <a:t>Installing the extension</a:t>
            </a:r>
          </a:p>
          <a:p>
            <a:pPr/>
            <a:r>
              <a:t>Setting up authentication</a:t>
            </a:r>
          </a:p>
          <a:p>
            <a:pPr/>
            <a:r>
              <a:t>Configuring settings</a:t>
            </a:r>
          </a:p>
          <a:p>
            <a:r>
              <a:t>  Sharing configuration across an organization</a:t>
            </a:r>
          </a:p>
          <a:p>
            <a:pPr/>
            <a:r>
              <a:t>Shared configuration templates (e.g., .copilot/settings.json) can be distributed across projects to standardize behavior.</a:t>
            </a:r>
          </a:p>
          <a:p>
            <a:r>
              <a:t>  https://www.codemag.com/Blog/AI/AIASD-install-guide</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Lab: Getting Started with GitHub Copilot</a:t>
            </a:r>
          </a:p>
        </p:txBody>
      </p:sp>
      <p:sp>
        <p:nvSpPr>
          <p:cNvPr id="3" name="Content Placeholder 2"/>
          <p:cNvSpPr>
            <a:spLocks noGrp="1"/>
          </p:cNvSpPr>
          <p:nvPr>
            <p:ph idx="1"/>
          </p:nvPr>
        </p:nvSpPr>
        <p:spPr/>
        <p:txBody>
          <a:bodyPr wrap="square">
            <a:normAutofit/>
          </a:bodyPr>
          <a:lstStyle/>
          <a:p/>
          <a:p>
            <a:r>
              <a:t>Duration: Follow along</a:t>
            </a:r>
          </a:p>
          <a:p>
            <a:r>
              <a:t>Objectives</a:t>
            </a:r>
          </a:p>
          <a:p>
            <a:r>
              <a:t>Install and configure GitHub Copilot</a:t>
            </a:r>
          </a:p>
          <a:p>
            <a:r>
              <a:t>Verify authentication with GitHub account</a:t>
            </a:r>
          </a:p>
          <a:p>
            <a:r>
              <a:t>Explore the Copilot UI components</a:t>
            </a:r>
          </a:p>
          <a:p>
            <a:r>
              <a:t>Activities</a:t>
            </a:r>
          </a:p>
          <a:p>
            <a:r>
              <a:t>Install GitHub Copilot extension from VS Code marketplace</a:t>
            </a:r>
          </a:p>
          <a:p>
            <a:r>
              <a:t>Sign in with your GitHub account (verify Copilot subscription)</a:t>
            </a:r>
          </a:p>
          <a:p>
            <a:r>
              <a:t>Locate and explore:</a:t>
            </a:r>
          </a:p>
          <a:p/>
          <a:p>
            <a:pPr/>
            <a:r>
              <a:t>Chat window and chat history</a:t>
            </a:r>
          </a:p>
          <a:p>
            <a:pPr/>
            <a:r>
              <a:t>New chat button</a:t>
            </a:r>
          </a:p>
          <a:p>
            <a:pPr/>
            <a:r>
              <a:t>Quick chat feature (keyboard shortcut)</a:t>
            </a:r>
          </a:p>
          <a:p>
            <a:pPr/>
            <a:r>
              <a:t>Settings menu</a:t>
            </a:r>
          </a:p>
          <a:p>
            <a:pPr/>
            <a:r>
              <a:t>Model selection dropdown</a:t>
            </a:r>
          </a:p>
          <a:p>
            <a:r>
              <a:t>  Check your premium token usage bar</a:t>
            </a:r>
          </a:p>
          <a:p>
            <a:r>
              <a:t>  Create a new chat and experiment with the interface</a:t>
            </a:r>
          </a:p>
          <a:p>
            <a:r>
              <a:t>  Success Criteria</a:t>
            </a:r>
          </a:p>
          <a:p>
            <a:pPr/>
            <a:r>
              <a:t>Copilot extension installed and authenticated</a:t>
            </a:r>
          </a:p>
          <a:p>
            <a:pPr/>
            <a:r>
              <a:t>Can open/close chat windows</a:t>
            </a:r>
          </a:p>
          <a:p>
            <a:pPr/>
            <a:r>
              <a:t>Understand difference between main chat and quick chat</a:t>
            </a:r>
          </a:p>
          <a:p>
            <a:pPr/>
            <a:r>
              <a:t>Know where to find chat history</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Prompt Specificity</a:t>
            </a:r>
          </a:p>
        </p:txBody>
      </p:sp>
      <p:sp>
        <p:nvSpPr>
          <p:cNvPr id="3" name="Content Placeholder 2"/>
          <p:cNvSpPr>
            <a:spLocks noGrp="1"/>
          </p:cNvSpPr>
          <p:nvPr>
            <p:ph idx="1"/>
          </p:nvPr>
        </p:nvSpPr>
        <p:spPr/>
        <p:txBody>
          <a:bodyPr wrap="square">
            <a:normAutofit/>
          </a:bodyPr>
          <a:lstStyle/>
          <a:p/>
          <a:p>
            <a:r>
              <a:t>Add error handling to my code</a:t>
            </a:r>
          </a:p>
          <a:p/>
          <a:p>
            <a:pPr/>
            <a:r>
              <a:t>Result: Generic response asking what type of errors, what language, what code?</a:t>
            </a:r>
          </a:p>
          <a:p>
            <a:r>
              <a:t>  Add error handling to my JavaScript function that calls an external API. I want to handle network timeouts, 404 errors, and JSON parsing failures. Return user-friendly error messages.</a:t>
            </a:r>
          </a:p>
          <a:p>
            <a:pPr/>
            <a:r>
              <a:t>Result: Better, but still generic without seeing actual code structure</a:t>
            </a:r>
          </a:p>
          <a:p>
            <a:r>
              <a:t>  @file:api-client.js Add comprehensive error handling to the fetchUserData function. Handle network timeouts (&gt;5s), HTTP errors (404, 500, etc.), and JSON parsing failures.   Return user-friendly error messages that match our existing error format in @file:error-types.js</a:t>
            </a:r>
          </a:p>
          <a:p>
            <a:pPr/>
            <a:r>
              <a:t>Result: Specific implementation that matches existing code patterns\*</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Lab: Understanding Context Management</a:t>
            </a:r>
          </a:p>
        </p:txBody>
      </p:sp>
      <p:sp>
        <p:nvSpPr>
          <p:cNvPr id="3" name="Content Placeholder 2"/>
          <p:cNvSpPr>
            <a:spLocks noGrp="1"/>
          </p:cNvSpPr>
          <p:nvPr>
            <p:ph idx="1"/>
          </p:nvPr>
        </p:nvSpPr>
        <p:spPr/>
        <p:txBody>
          <a:bodyPr wrap="square">
            <a:normAutofit/>
          </a:bodyPr>
          <a:lstStyle/>
          <a:p/>
          <a:p>
            <a:r>
              <a:t>Duration: Follow along</a:t>
            </a:r>
          </a:p>
          <a:p>
            <a:r>
              <a:t>Objectives</a:t>
            </a:r>
          </a:p>
          <a:p>
            <a:r>
              <a:t>Learn to add context using @ symbols</a:t>
            </a:r>
          </a:p>
          <a:p>
            <a:r>
              <a:t>Understand context window limitations</a:t>
            </a:r>
          </a:p>
          <a:p>
            <a:r>
              <a:t>Practice writing effective prompts</a:t>
            </a:r>
          </a:p>
          <a:p>
            <a:r>
              <a:t>Activities</a:t>
            </a:r>
          </a:p>
          <a:p/>
          <a:p>
            <a:r>
              <a:t>1. Basic Context Addition:</a:t>
            </a:r>
          </a:p>
          <a:p>
            <a:r>
              <a:t>   Use `@workspace` to search across your codebase</a:t>
            </a:r>
          </a:p>
          <a:p>
            <a:r>
              <a:t>   Use `@file` to reference specific files</a:t>
            </a:r>
          </a:p>
          <a:p>
            <a:r>
              <a:t>   Use `@terminal` to include terminal output in chat</a:t>
            </a:r>
          </a:p>
          <a:p>
            <a:r>
              <a:t>   Use `@vscode` to ask VS Code-specific questions</a:t>
            </a:r>
          </a:p>
          <a:p>
            <a:r>
              <a:t>2. Prompt Practice:</a:t>
            </a:r>
          </a:p>
          <a:p>
            <a:r>
              <a:t>   Write a vague prompt, observe results</a:t>
            </a:r>
          </a:p>
          <a:p>
            <a:r>
              <a:t>   Rewrite with specific context, compare results</a:t>
            </a:r>
          </a:p>
          <a:p>
            <a:r>
              <a:t>   Add file references to improve accuracy</a:t>
            </a:r>
          </a:p>
          <a:p>
            <a:r>
              <a:t>3. Context Window Experiment:</a:t>
            </a:r>
          </a:p>
          <a:p>
            <a:r>
              <a:t>   Start a long conversation in one chat</a:t>
            </a:r>
          </a:p>
          <a:p>
            <a:r>
              <a:t>   Notice when Copilot starts "forgetting" earlier context</a:t>
            </a:r>
          </a:p>
          <a:p>
            <a:r>
              <a:t>   Practice starting new chats for new topics</a:t>
            </a:r>
          </a:p>
          <a:p>
            <a:r>
              <a:t>   Success Criteria</a:t>
            </a:r>
          </a:p>
          <a:p>
            <a:r>
              <a:t>   Can use all @ context types</a:t>
            </a:r>
          </a:p>
          <a:p>
            <a:r>
              <a:t>   Understand when to start fresh chat sessions</a:t>
            </a:r>
          </a:p>
          <a:p>
            <a:r>
              <a:t>   Notice quality difference between vague and specific prompts</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Lab: Chat Management &amp; Workflow</a:t>
            </a:r>
          </a:p>
        </p:txBody>
      </p:sp>
      <p:sp>
        <p:nvSpPr>
          <p:cNvPr id="3" name="Content Placeholder 2"/>
          <p:cNvSpPr>
            <a:spLocks noGrp="1"/>
          </p:cNvSpPr>
          <p:nvPr>
            <p:ph idx="1"/>
          </p:nvPr>
        </p:nvSpPr>
        <p:spPr/>
        <p:txBody>
          <a:bodyPr wrap="square">
            <a:normAutofit/>
          </a:bodyPr>
          <a:lstStyle/>
          <a:p/>
          <a:p>
            <a:r>
              <a:t>Duration: Follow along</a:t>
            </a:r>
          </a:p>
          <a:p>
            <a:r>
              <a:t>Objectives</a:t>
            </a:r>
          </a:p>
          <a:p/>
          <a:p>
            <a:pPr/>
            <a:r>
              <a:t>Organize chat sessions effectively</a:t>
            </a:r>
          </a:p>
          <a:p>
            <a:pPr/>
            <a:r>
              <a:t>Use chat history for reference</a:t>
            </a:r>
          </a:p>
          <a:p>
            <a:pPr/>
            <a:r>
              <a:t>Develop efficient workflow patterns</a:t>
            </a:r>
          </a:p>
          <a:p>
            <a:r>
              <a:t>  Activities</a:t>
            </a:r>
          </a:p>
          <a:p/>
          <a:p>
            <a:r>
              <a:t>1. Chat Organization:</a:t>
            </a:r>
          </a:p>
          <a:p/>
          <a:p>
            <a:pPr/>
            <a:r>
              <a:t>Review your chat history</a:t>
            </a:r>
          </a:p>
          <a:p>
            <a:pPr/>
            <a:r>
              <a:t>Identify chats that should have been separate sessions</a:t>
            </a:r>
          </a:p>
          <a:p>
            <a:pPr/>
            <a:r>
              <a:t>Practice starting new chats at appropriate times</a:t>
            </a:r>
          </a:p>
          <a:p/>
          <a:p>
            <a:r>
              <a:t>2. Context Preservation:</a:t>
            </a:r>
          </a:p>
          <a:p/>
          <a:p>
            <a:pPr/>
            <a:r>
              <a:t>Start a focused chat for one feature</a:t>
            </a:r>
          </a:p>
          <a:p>
            <a:pPr/>
            <a:r>
              <a:t>Add relevant context systematically</a:t>
            </a:r>
          </a:p>
          <a:p>
            <a:pPr/>
            <a:r>
              <a:t>Complete task without context overflow</a:t>
            </a:r>
          </a:p>
          <a:p/>
          <a:p>
            <a:r>
              <a:t>3. Quick Chat Practice:</a:t>
            </a:r>
          </a:p>
          <a:p/>
          <a:p>
            <a:pPr/>
            <a:r>
              <a:t>Use main chat for primary task</a:t>
            </a:r>
          </a:p>
          <a:p>
            <a:pPr/>
            <a:r>
              <a:t>Use quick chat for side questions</a:t>
            </a:r>
          </a:p>
          <a:p>
            <a:pPr/>
            <a:r>
              <a:t>Return to main chat without losing context</a:t>
            </a:r>
          </a:p>
          <a:p/>
          <a:p>
            <a:r>
              <a:t>4. Chat History Review:</a:t>
            </a:r>
          </a:p>
          <a:p/>
          <a:p>
            <a:pPr/>
            <a:r>
              <a:t>Find and reference previous solutions</a:t>
            </a:r>
          </a:p>
          <a:p>
            <a:pPr/>
            <a:r>
              <a:t>Learn from past prompts that worked well</a:t>
            </a:r>
          </a:p>
          <a:p>
            <a:pPr/>
            <a:r>
              <a:t>Identify patterns in effective conversations</a:t>
            </a:r>
          </a:p>
          <a:p>
            <a:r>
              <a:t>  Success Criteria</a:t>
            </a:r>
          </a:p>
          <a:p>
            <a:pPr/>
            <a:r>
              <a:t>Chat history is organized and meaningful</a:t>
            </a:r>
          </a:p>
          <a:p>
            <a:pPr/>
            <a:r>
              <a:t>Can find and reference previous solutions</a:t>
            </a:r>
          </a:p>
          <a:p>
            <a:pPr/>
            <a:r>
              <a:t>Efficient workflow developed for using multiple chat windows</a:t>
            </a:r>
          </a:p>
          <a:p>
            <a:r>
              <a:t>  Context Window Management</a:t>
            </a:r>
          </a:p>
          <a:p>
            <a:pPr/>
            <a:r>
              <a:t>Remember from the session:</a:t>
            </a:r>
          </a:p>
          <a:p>
            <a:r>
              <a:t>  - Context is a </a:t>
            </a:r>
            <a:r>
              <a:rPr b="1"/>
              <a:t>limited resource</a:t>
            </a:r>
          </a:p>
          <a:p>
            <a:r>
              <a:t>  - Start new chat when changing focus areas</a:t>
            </a:r>
          </a:p>
          <a:p>
            <a:r>
              <a:t>  - Keep conversations targeted and specific</a:t>
            </a:r>
          </a:p>
          <a:p>
            <a:r>
              <a:t>  - When Copilot "forgets" earlier context, it's time for a new session</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Using Copilot in different modes</a:t>
            </a:r>
          </a:p>
        </p:txBody>
      </p:sp>
      <p:sp>
        <p:nvSpPr>
          <p:cNvPr id="3" name="Content Placeholder 2"/>
          <p:cNvSpPr>
            <a:spLocks noGrp="1"/>
          </p:cNvSpPr>
          <p:nvPr>
            <p:ph idx="1"/>
          </p:nvPr>
        </p:nvSpPr>
        <p:spPr/>
        <p:txBody>
          <a:bodyPr wrap="square">
            <a:normAutofit/>
          </a:bodyPr>
          <a:lstStyle/>
          <a:p/>
          <a:p>
            <a:r>
              <a:t>Ask Mode</a:t>
            </a:r>
          </a:p>
          <a:p/>
          <a:p>
            <a:pPr/>
            <a:r>
              <a:t>Simple prompt completion and inline suggestions</a:t>
            </a:r>
          </a:p>
          <a:p>
            <a:r>
              <a:t>  Edit Mode</a:t>
            </a:r>
          </a:p>
          <a:p>
            <a:pPr/>
            <a:r>
              <a:t>Automatic file edits</a:t>
            </a:r>
          </a:p>
          <a:p>
            <a:r>
              <a:t>  Agent Mode</a:t>
            </a:r>
          </a:p>
          <a:p>
            <a:pPr/>
            <a:r>
              <a:t>Perform actions on your behalf</a:t>
            </a:r>
          </a:p>
          <a:p>
            <a:r>
              <a:t>  Custom Modes</a:t>
            </a:r>
          </a:p>
          <a:p>
            <a:pPr/>
            <a:r>
              <a:t>Execute specific workflows</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Lab: Exploring Copilot Modes</a:t>
            </a:r>
          </a:p>
        </p:txBody>
      </p:sp>
      <p:sp>
        <p:nvSpPr>
          <p:cNvPr id="3" name="Content Placeholder 2"/>
          <p:cNvSpPr>
            <a:spLocks noGrp="1"/>
          </p:cNvSpPr>
          <p:nvPr>
            <p:ph idx="1"/>
          </p:nvPr>
        </p:nvSpPr>
        <p:spPr/>
        <p:txBody>
          <a:bodyPr wrap="square">
            <a:normAutofit/>
          </a:bodyPr>
          <a:lstStyle/>
          <a:p/>
          <a:p>
            <a:r>
              <a:t>Duration: Follow along</a:t>
            </a:r>
          </a:p>
          <a:p>
            <a:r>
              <a:t>Objectives</a:t>
            </a:r>
          </a:p>
          <a:p>
            <a:r>
              <a:t>Understand differences between Ask, Edit, and Agent modes</a:t>
            </a:r>
          </a:p>
          <a:p>
            <a:r>
              <a:t>Know when to use each mode</a:t>
            </a:r>
          </a:p>
          <a:p>
            <a:r>
              <a:t>Understand premium token implications</a:t>
            </a:r>
          </a:p>
          <a:p>
            <a:r>
              <a:t>Activities</a:t>
            </a:r>
          </a:p>
          <a:p/>
          <a:p>
            <a:r>
              <a:t>1. Ask Mode:</a:t>
            </a:r>
          </a:p>
          <a:p>
            <a:r>
              <a:t>   Ask Copilot to explain a code snippet (no changes made)</a:t>
            </a:r>
          </a:p>
          <a:p>
            <a:r>
              <a:t>   Request multiple implementation approaches</a:t>
            </a:r>
          </a:p>
          <a:p>
            <a:r>
              <a:t>   Try different models and observe response quality</a:t>
            </a:r>
          </a:p>
          <a:p>
            <a:r>
              <a:t>   Note: This doesn't consume premium tokens for advanced models</a:t>
            </a:r>
          </a:p>
          <a:p>
            <a:r>
              <a:t>2. Edit Mode:</a:t>
            </a:r>
          </a:p>
          <a:p>
            <a:r>
              <a:t>   Select code in a file</a:t>
            </a:r>
          </a:p>
          <a:p>
            <a:r>
              <a:t>   Ask Copilot to refactor it</a:t>
            </a:r>
          </a:p>
          <a:p>
            <a:r>
              <a:t>   Observe inline suggestions and changes</a:t>
            </a:r>
          </a:p>
          <a:p>
            <a:r>
              <a:t>   Accept or reject proposed changes</a:t>
            </a:r>
          </a:p>
          <a:p>
            <a:r>
              <a:t>3. Agent Mode:</a:t>
            </a:r>
          </a:p>
          <a:p>
            <a:r>
              <a:t>   Ask Copilot to create a new file and add content</a:t>
            </a:r>
          </a:p>
          <a:p>
            <a:r>
              <a:t>   Request changes across multiple files</a:t>
            </a:r>
          </a:p>
          <a:p>
            <a:r>
              <a:t>   Have Copilot run terminal commands</a:t>
            </a:r>
          </a:p>
          <a:p>
            <a:r>
              <a:t>   Check premium token usage after agent actions</a:t>
            </a:r>
          </a:p>
          <a:p>
            <a:r>
              <a:t>   Success Criteria</a:t>
            </a:r>
          </a:p>
          <a:p>
            <a:r>
              <a:t>   Can distinguish when to use each mode</a:t>
            </a:r>
          </a:p>
          <a:p>
            <a:r>
              <a:t>   Understand token consumption differences</a:t>
            </a:r>
          </a:p>
          <a:p>
            <a:r>
              <a:t>   Successfully use agent mode for multi-file operations</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IDE Support for AI Assistance</a:t>
            </a:r>
          </a:p>
        </p:txBody>
      </p:sp>
      <p:graphicFrame>
        <p:nvGraphicFramePr>
          <p:cNvPr id="3" name="Table 2"/>
          <p:cNvGraphicFramePr>
            <a:graphicFrameLocks noGrp="1"/>
          </p:cNvGraphicFramePr>
          <p:nvPr/>
        </p:nvGraphicFramePr>
        <p:xfrm>
          <a:off x="457200" y="1828800"/>
          <a:ext cx="8229600" cy="4114800"/>
        </p:xfrm>
        <a:graphic>
          <a:graphicData uri="http://schemas.openxmlformats.org/drawingml/2006/table">
            <a:tbl>
              <a:tblPr firstRow="1" bandRow="1">
                <a:tableStyleId>{5C22544A-7EE6-4342-B048-85BDC9FD1C3A}</a:tableStyleId>
              </a:tblPr>
              <a:tblGrid>
                <a:gridCol w="1645920"/>
                <a:gridCol w="1645920"/>
                <a:gridCol w="1645920"/>
                <a:gridCol w="1645920"/>
                <a:gridCol w="1645920"/>
              </a:tblGrid>
              <a:tr h="457200">
                <a:tc>
                  <a:txBody>
                    <a:bodyPr/>
                    <a:lstStyle/>
                    <a:p>
                      <a:pPr>
                        <a:defRPr b="1" sz="1296"/>
                      </a:pPr>
                      <a:r>
                        <a:t>IDE / Editor</a:t>
                      </a:r>
                    </a:p>
                  </a:txBody>
                  <a:tcPr/>
                </a:tc>
                <a:tc>
                  <a:txBody>
                    <a:bodyPr/>
                    <a:lstStyle/>
                    <a:p>
                      <a:pPr>
                        <a:defRPr b="1" sz="1296"/>
                      </a:pPr>
                      <a:r>
                        <a:t>Built-In AI Features</a:t>
                      </a:r>
                    </a:p>
                  </a:txBody>
                  <a:tcPr/>
                </a:tc>
                <a:tc>
                  <a:txBody>
                    <a:bodyPr/>
                    <a:lstStyle/>
                    <a:p>
                      <a:pPr>
                        <a:defRPr b="1" sz="1296"/>
                      </a:pPr>
                      <a:r>
                        <a:t>Supported AI Assistants</a:t>
                      </a:r>
                    </a:p>
                  </a:txBody>
                  <a:tcPr/>
                </a:tc>
                <a:tc>
                  <a:txBody>
                    <a:bodyPr/>
                    <a:lstStyle/>
                    <a:p>
                      <a:pPr>
                        <a:defRPr b="1" sz="1296"/>
                      </a:pPr>
                      <a:r>
                        <a:t>Strengths</a:t>
                      </a:r>
                    </a:p>
                  </a:txBody>
                  <a:tcPr/>
                </a:tc>
                <a:tc>
                  <a:txBody>
                    <a:bodyPr/>
                    <a:lstStyle/>
                    <a:p>
                      <a:pPr>
                        <a:defRPr b="1" sz="1296"/>
                      </a:pPr>
                      <a:r>
                        <a:t>Limitations</a:t>
                      </a:r>
                    </a:p>
                  </a:txBody>
                  <a:tcPr/>
                </a:tc>
              </a:tr>
              <a:tr h="457200">
                <a:tc>
                  <a:txBody>
                    <a:bodyPr/>
                    <a:lstStyle/>
                    <a:p>
                      <a:r>
                        <a:t>VS Code</a:t>
                      </a:r>
                    </a:p>
                  </a:txBody>
                  <a:tcPr/>
                </a:tc>
                <a:tc>
                  <a:txBody>
                    <a:bodyPr/>
                    <a:lstStyle/>
                    <a:p>
                      <a:r>
                        <a:t>Deep AI integration through extensions; increasingly AI-first workflows</a:t>
                      </a:r>
                    </a:p>
                  </a:txBody>
                  <a:tcPr/>
                </a:tc>
                <a:tc>
                  <a:txBody>
                    <a:bodyPr/>
                    <a:lstStyle/>
                    <a:p>
                      <a:r>
                        <a:t>GitHub Copilot, Cline, ChatGPT-based extensions, Gemini integrations</a:t>
                      </a:r>
                    </a:p>
                  </a:txBody>
                  <a:tcPr/>
                </a:tc>
                <a:tc>
                  <a:txBody>
                    <a:bodyPr/>
                    <a:lstStyle/>
                    <a:p>
                      <a:r>
                        <a:t>Extremely flexible; huge ecosystem; top-tier AI support; widely adopted</a:t>
                      </a:r>
                    </a:p>
                  </a:txBody>
                  <a:tcPr/>
                </a:tc>
                <a:tc>
                  <a:txBody>
                    <a:bodyPr/>
                    <a:lstStyle/>
                    <a:p>
                      <a:r>
                        <a:t>Requires extension management; quality varies by plugin</a:t>
                      </a:r>
                    </a:p>
                  </a:txBody>
                  <a:tcPr/>
                </a:tc>
              </a:tr>
              <a:tr h="457200">
                <a:tc>
                  <a:txBody>
                    <a:bodyPr/>
                    <a:lstStyle/>
                    <a:p>
                      <a:r>
                        <a:t>Visual Studio (Windows)</a:t>
                      </a:r>
                    </a:p>
                  </a:txBody>
                  <a:tcPr/>
                </a:tc>
                <a:tc>
                  <a:txBody>
                    <a:bodyPr/>
                    <a:lstStyle/>
                    <a:p>
                      <a:r>
                        <a:t>Native GitHub Copilot integration; AI-powered IntelliCode</a:t>
                      </a:r>
                    </a:p>
                  </a:txBody>
                  <a:tcPr/>
                </a:tc>
                <a:tc>
                  <a:txBody>
                    <a:bodyPr/>
                    <a:lstStyle/>
                    <a:p>
                      <a:r>
                        <a:t>GitHub Copilot, IntelliCode</a:t>
                      </a:r>
                    </a:p>
                  </a:txBody>
                  <a:tcPr/>
                </a:tc>
                <a:tc>
                  <a:txBody>
                    <a:bodyPr/>
                    <a:lstStyle/>
                    <a:p>
                      <a:r>
                        <a:t>Strong enterprise + .NET support; excellent refactoring and debugging</a:t>
                      </a:r>
                    </a:p>
                  </a:txBody>
                  <a:tcPr/>
                </a:tc>
                <a:tc>
                  <a:txBody>
                    <a:bodyPr/>
                    <a:lstStyle/>
                    <a:p>
                      <a:r>
                        <a:t>Less flexible than VS Code for non-Microsoft stacks</a:t>
                      </a:r>
                    </a:p>
                  </a:txBody>
                  <a:tcPr/>
                </a:tc>
              </a:tr>
              <a:tr h="457200">
                <a:tc>
                  <a:txBody>
                    <a:bodyPr/>
                    <a:lstStyle/>
                    <a:p>
                      <a:r>
                        <a:t>JetBrains IDEs</a:t>
                      </a:r>
                    </a:p>
                  </a:txBody>
                  <a:tcPr/>
                </a:tc>
                <a:tc>
                  <a:txBody>
                    <a:bodyPr/>
                    <a:lstStyle/>
                    <a:p>
                      <a:r>
                        <a:t>JetBrains AI Assistant; code completion, refactoring, doc generation</a:t>
                      </a:r>
                    </a:p>
                  </a:txBody>
                  <a:tcPr/>
                </a:tc>
                <a:tc>
                  <a:txBody>
                    <a:bodyPr/>
                    <a:lstStyle/>
                    <a:p>
                      <a:r>
                        <a:t>JetBrains AI Assistant, GitHub Copilot</a:t>
                      </a:r>
                    </a:p>
                  </a:txBody>
                  <a:tcPr/>
                </a:tc>
                <a:tc>
                  <a:txBody>
                    <a:bodyPr/>
                    <a:lstStyle/>
                    <a:p>
                      <a:r>
                        <a:t>Deep static analysis + AI; strong multi-language support</a:t>
                      </a:r>
                    </a:p>
                  </a:txBody>
                  <a:tcPr/>
                </a:tc>
                <a:tc>
                  <a:txBody>
                    <a:bodyPr/>
                    <a:lstStyle/>
                    <a:p>
                      <a:r>
                        <a:t>JetBrains AI Assistant is subscription-based; Copilot integration not as seamless</a:t>
                      </a:r>
                    </a:p>
                  </a:txBody>
                  <a:tcPr/>
                </a:tc>
              </a:tr>
              <a:tr h="457200">
                <a:tc>
                  <a:txBody>
                    <a:bodyPr/>
                    <a:lstStyle/>
                    <a:p>
                      <a:r>
                        <a:t>Cursor IDE</a:t>
                      </a:r>
                    </a:p>
                  </a:txBody>
                  <a:tcPr/>
                </a:tc>
                <a:tc>
                  <a:txBody>
                    <a:bodyPr/>
                    <a:lstStyle/>
                    <a:p>
                      <a:r>
                        <a:t>AI-first editor; conversational coding; multi-file reasoning</a:t>
                      </a:r>
                    </a:p>
                  </a:txBody>
                  <a:tcPr/>
                </a:tc>
                <a:tc>
                  <a:txBody>
                    <a:bodyPr/>
                    <a:lstStyle/>
                    <a:p>
                      <a:r>
                        <a:t>Built-in AI models (GPT-based, Claude-based), Copilot alternatives</a:t>
                      </a:r>
                    </a:p>
                  </a:txBody>
                  <a:tcPr/>
                </a:tc>
                <a:tc>
                  <a:txBody>
                    <a:bodyPr/>
                    <a:lstStyle/>
                    <a:p>
                      <a:r>
                        <a:t>Designed for AI pair-programming; strong repo-wide reasoning</a:t>
                      </a:r>
                    </a:p>
                  </a:txBody>
                  <a:tcPr/>
                </a:tc>
                <a:tc>
                  <a:txBody>
                    <a:bodyPr/>
                    <a:lstStyle/>
                    <a:p>
                      <a:r>
                        <a:t>Not a traditional IDE; still maturing for large enterprise workflows</a:t>
                      </a:r>
                    </a:p>
                  </a:txBody>
                  <a:tcPr/>
                </a:tc>
              </a:tr>
              <a:tr h="457200">
                <a:tc>
                  <a:txBody>
                    <a:bodyPr/>
                    <a:lstStyle/>
                    <a:p>
                      <a:r>
                        <a:t>Replit</a:t>
                      </a:r>
                    </a:p>
                  </a:txBody>
                  <a:tcPr/>
                </a:tc>
                <a:tc>
                  <a:txBody>
                    <a:bodyPr/>
                    <a:lstStyle/>
                    <a:p>
                      <a:r>
                        <a:t>AI-powered Ghostwriter for code generation, debugging, and explanations</a:t>
                      </a:r>
                    </a:p>
                  </a:txBody>
                  <a:tcPr/>
                </a:tc>
                <a:tc>
                  <a:txBody>
                    <a:bodyPr/>
                    <a:lstStyle/>
                    <a:p>
                      <a:r>
                        <a:t>Ghostwriter</a:t>
                      </a:r>
                    </a:p>
                  </a:txBody>
                  <a:tcPr/>
                </a:tc>
                <a:tc>
                  <a:txBody>
                    <a:bodyPr/>
                    <a:lstStyle/>
                    <a:p>
                      <a:r>
                        <a:t>Great for beginners and rapid prototyping; browser-based</a:t>
                      </a:r>
                    </a:p>
                  </a:txBody>
                  <a:tcPr/>
                </a:tc>
                <a:tc>
                  <a:txBody>
                    <a:bodyPr/>
                    <a:lstStyle/>
                    <a:p>
                      <a:r>
                        <a:t>Less powerful for large, multi-module projects</a:t>
                      </a:r>
                    </a:p>
                  </a:txBody>
                  <a:tcPr/>
                </a:tc>
              </a:tr>
              <a:tr h="457200">
                <a:tc>
                  <a:txBody>
                    <a:bodyPr/>
                    <a:lstStyle/>
                    <a:p>
                      <a:r>
                        <a:t>Builder.io / Builder Code Editor</a:t>
                      </a:r>
                    </a:p>
                  </a:txBody>
                  <a:tcPr/>
                </a:tc>
                <a:tc>
                  <a:txBody>
                    <a:bodyPr/>
                    <a:lstStyle/>
                    <a:p>
                      <a:r>
                        <a:t>AI-enhanced coding environment with integrated assistants</a:t>
                      </a:r>
                    </a:p>
                  </a:txBody>
                  <a:tcPr/>
                </a:tc>
                <a:tc>
                  <a:txBody>
                    <a:bodyPr/>
                    <a:lstStyle/>
                    <a:p>
                      <a:r>
                        <a:t>Multiple AI integrations depending on setup</a:t>
                      </a:r>
                    </a:p>
                  </a:txBody>
                  <a:tcPr/>
                </a:tc>
                <a:tc>
                  <a:txBody>
                    <a:bodyPr/>
                    <a:lstStyle/>
                    <a:p>
                      <a:r>
                        <a:t>Strong web-dev focus; modern AI-native UX</a:t>
                      </a:r>
                    </a:p>
                  </a:txBody>
                  <a:tcPr/>
                </a:tc>
                <a:tc>
                  <a:txBody>
                    <a:bodyPr/>
                    <a:lstStyle/>
                    <a:p>
                      <a:r>
                        <a:t>Not a general-purpose IDE</a:t>
                      </a:r>
                    </a:p>
                  </a:txBody>
                  <a:tcPr/>
                </a:tc>
              </a:tr>
              <a:tr h="457200">
                <a:tc>
                  <a:txBody>
                    <a:bodyPr/>
                    <a:lstStyle/>
                    <a:p>
                      <a:r>
                        <a:t>Code-B Editors</a:t>
                      </a:r>
                    </a:p>
                  </a:txBody>
                  <a:tcPr/>
                </a:tc>
                <a:tc>
                  <a:txBody>
                    <a:bodyPr/>
                    <a:lstStyle/>
                    <a:p>
                      <a:r>
                        <a:t>Predictive code generation, debugging, and review</a:t>
                      </a:r>
                    </a:p>
                  </a:txBody>
                  <a:tcPr/>
                </a:tc>
                <a:tc>
                  <a:txBody>
                    <a:bodyPr/>
                    <a:lstStyle/>
                    <a:p>
                      <a:r>
                        <a:t>Multiple AI models depending on configuration</a:t>
                      </a:r>
                    </a:p>
                  </a:txBody>
                  <a:tcPr/>
                </a:tc>
                <a:tc>
                  <a:txBody>
                    <a:bodyPr/>
                    <a:lstStyle/>
                    <a:p>
                      <a:r>
                        <a:t>Strong AI-centric workflows; optimized for speed</a:t>
                      </a:r>
                    </a:p>
                  </a:txBody>
                  <a:tcPr/>
                </a:tc>
                <a:tc>
                  <a:txBody>
                    <a:bodyPr/>
                    <a:lstStyle/>
                    <a:p>
                      <a:r>
                        <a:t>Less mainstream; smaller ecosystem</a:t>
                      </a:r>
                    </a:p>
                  </a:txBody>
                  <a:tcPr/>
                </a:tc>
              </a:tr>
              <a:tr h="457200">
                <a:tc>
                  <a:txBody>
                    <a:bodyPr/>
                    <a:lstStyle/>
                    <a:p>
                      <a:r>
                        <a:t>Claude Code</a:t>
                      </a:r>
                    </a:p>
                  </a:txBody>
                  <a:tcPr/>
                </a:tc>
                <a:tc>
                  <a:txBody>
                    <a:bodyPr/>
                    <a:lstStyle/>
                    <a:p>
                      <a:r>
                        <a:t>Terminal-first AI coding assistant; autonomous repo-wide reasoning</a:t>
                      </a:r>
                    </a:p>
                  </a:txBody>
                  <a:tcPr/>
                </a:tc>
                <a:tc>
                  <a:txBody>
                    <a:bodyPr/>
                    <a:lstStyle/>
                    <a:p>
                      <a:r>
                        <a:t>Latest models from Anthropic and other via configuration</a:t>
                      </a:r>
                    </a:p>
                  </a:txBody>
                  <a:tcPr/>
                </a:tc>
                <a:tc>
                  <a:txBody>
                    <a:bodyPr/>
                    <a:lstStyle/>
                    <a:p>
                      <a:r>
                        <a:t>Exceptional multi-file context handling; ideal for agentic workflows and automated patching</a:t>
                      </a:r>
                    </a:p>
                  </a:txBody>
                  <a:tcPr/>
                </a:tc>
                <a:tc>
                  <a:txBody>
                    <a:bodyPr/>
                    <a:lstStyle/>
                    <a:p>
                      <a:r>
                        <a:t>Not a GUI IDE; best suited for terminal-centric development and large codebases</a:t>
                      </a:r>
                    </a:p>
                  </a:txBody>
                  <a:tcPr/>
                </a:tc>
              </a:tr>
            </a:tbl>
          </a:graphicData>
        </a:graphic>
      </p:graphicFrame>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Course Modules</a:t>
            </a:r>
          </a:p>
        </p:txBody>
      </p:sp>
      <p:sp>
        <p:nvSpPr>
          <p:cNvPr id="3" name="Content Placeholder 2"/>
          <p:cNvSpPr>
            <a:spLocks noGrp="1"/>
          </p:cNvSpPr>
          <p:nvPr>
            <p:ph idx="1"/>
          </p:nvPr>
        </p:nvSpPr>
        <p:spPr/>
        <p:txBody>
          <a:bodyPr wrap="square">
            <a:normAutofit/>
          </a:bodyPr>
          <a:lstStyle/>
          <a:p/>
          <a:p>
            <a:pPr/>
            <a:r>
              <a:t>Intro</a:t>
            </a:r>
          </a:p>
          <a:p>
            <a:pPr/>
            <a:r>
              <a:t>Module 1 - AIASD</a:t>
            </a:r>
          </a:p>
          <a:p>
            <a:pPr/>
            <a:r>
              <a:t>Module 2 - Intro to Copilot</a:t>
            </a:r>
          </a:p>
          <a:p>
            <a:pPr/>
            <a:r>
              <a:rPr b="1"/>
              <a:t>▶ Module 3 - Vibbing</a:t>
            </a:r>
          </a:p>
          <a:p>
            <a:pPr/>
            <a:r>
              <a:t>Module 4 - Adding AI Guardrails</a:t>
            </a:r>
          </a:p>
          <a:p>
            <a:pPr/>
            <a:r>
              <a:t>Module 5 - Managing Context</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Module 3 - Vibbing</a:t>
            </a:r>
          </a:p>
        </p:txBody>
      </p:sp>
      <p:sp>
        <p:nvSpPr>
          <p:cNvPr id="3" name="Content Placeholder 2"/>
          <p:cNvSpPr>
            <a:spLocks noGrp="1"/>
          </p:cNvSpPr>
          <p:nvPr>
            <p:ph idx="1"/>
          </p:nvPr>
        </p:nvSpPr>
        <p:spPr/>
        <p:txBody>
          <a:bodyPr/>
          <a:lstStyle/>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Module 3 - Vibbing</a:t>
            </a:r>
          </a:p>
        </p:txBody>
      </p:sp>
      <p:sp>
        <p:nvSpPr>
          <p:cNvPr id="3" name="Content Placeholder 2"/>
          <p:cNvSpPr>
            <a:spLocks noGrp="1"/>
          </p:cNvSpPr>
          <p:nvPr>
            <p:ph idx="1"/>
          </p:nvPr>
        </p:nvSpPr>
        <p:spPr/>
        <p:txBody>
          <a:bodyPr wrap="square">
            <a:normAutofit/>
          </a:bodyPr>
          <a:lstStyle/>
          <a:p/>
          <a:p>
            <a:pPr/>
            <a:r>
              <a:t>Collaborating on a Solution</a:t>
            </a:r>
          </a:p>
          <a:p>
            <a:pPr/>
            <a:r>
              <a:t>Exercise: Calculator Project - Setup and Basic Implementation</a:t>
            </a:r>
          </a:p>
          <a:p>
            <a:pPr/>
            <a:r>
              <a:t>Exercise: Test Coverage Improvement</a:t>
            </a:r>
          </a:p>
          <a:p>
            <a:pPr/>
            <a:r>
              <a:t>Exercise: Lab 3 - Test-Driven Development (TDD) with Copilot</a:t>
            </a:r>
          </a:p>
          <a:p>
            <a:pPr/>
            <a:r>
              <a:t>AI-Assisted CI/CD Pipelines</a:t>
            </a:r>
          </a:p>
          <a:p>
            <a:pPr/>
            <a:r>
              <a:t>AI-Assisted GitHub Pull Requests</a:t>
            </a:r>
          </a:p>
          <a:p>
            <a:pPr/>
            <a:r>
              <a:t>Multi‑Model Implementation Comparison</a:t>
            </a:r>
          </a:p>
          <a:p>
            <a:pPr/>
            <a:r>
              <a:t>Evergreen Software Development - Core Principles</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Collaborating on a Solution</a:t>
            </a:r>
          </a:p>
        </p:txBody>
      </p:sp>
      <p:sp>
        <p:nvSpPr>
          <p:cNvPr id="3" name="Content Placeholder 2"/>
          <p:cNvSpPr>
            <a:spLocks noGrp="1"/>
          </p:cNvSpPr>
          <p:nvPr>
            <p:ph idx="1"/>
          </p:nvPr>
        </p:nvSpPr>
        <p:spPr/>
        <p:txBody>
          <a:bodyPr wrap="square">
            <a:normAutofit/>
          </a:bodyPr>
          <a:lstStyle/>
          <a:p/>
          <a:p>
            <a:r>
              <a:t>Project Setup</a:t>
            </a:r>
          </a:p>
          <a:p>
            <a:r>
              <a:t>Adding Features</a:t>
            </a:r>
          </a:p>
          <a:p>
            <a:pPr/>
            <a:r>
              <a:t>Basic Arithmetic - Addition, subtraction, multiplication, division</a:t>
            </a:r>
          </a:p>
          <a:p>
            <a:pPr/>
            <a:r>
              <a:t>Clear / Reset Function - Quickly resets the current input or entire calculation</a:t>
            </a:r>
          </a:p>
          <a:p>
            <a:pPr/>
            <a:r>
              <a:t>Decimal Support - Allows entry and computation with decimal numbers</a:t>
            </a:r>
          </a:p>
          <a:p>
            <a:pPr/>
            <a:r>
              <a:t>Sign Toggle (+/–) - Switches values between positive and negative</a:t>
            </a:r>
          </a:p>
          <a:p>
            <a:pPr/>
            <a:r>
              <a:t>Percentage Function - Converts values to percentages for quick calculations</a:t>
            </a:r>
          </a:p>
          <a:p>
            <a:pPr/>
            <a:r>
              <a:t>Memory Functions (M+, M–, MR, MC) - Store, recall, add to, or clear memory values</a:t>
            </a:r>
          </a:p>
          <a:p>
            <a:pPr/>
            <a:r>
              <a:t>Error Handling - Displays errors such as division by zero</a:t>
            </a:r>
          </a:p>
          <a:p>
            <a:pPr/>
            <a:r>
              <a:t>Simple, Intuitive Interface - Numeric keypad, operation buttons, and display screen</a:t>
            </a:r>
          </a:p>
          <a:p>
            <a:r>
              <a:t>Test Automation</a:t>
            </a:r>
          </a:p>
          <a:p>
            <a:pPr/>
            <a:r>
              <a:t>Code Coverage</a:t>
            </a:r>
          </a:p>
          <a:p>
            <a:r>
              <a:t>Dependency Management</a:t>
            </a:r>
          </a:p>
          <a:p>
            <a:r>
              <a:t>Comparing Implementations</a:t>
            </a:r>
          </a:p>
          <a:p>
            <a:r>
              <a:t>Chat Management</a:t>
            </a:r>
          </a:p>
          <a:p>
            <a:r>
              <a:t>Intro to Evergreen Software Development</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Exercise: Calculator Project - Setup and Basic Implementation</a:t>
            </a:r>
          </a:p>
        </p:txBody>
      </p:sp>
      <p:sp>
        <p:nvSpPr>
          <p:cNvPr id="3" name="Content Placeholder 2"/>
          <p:cNvSpPr>
            <a:spLocks noGrp="1"/>
          </p:cNvSpPr>
          <p:nvPr>
            <p:ph idx="1"/>
          </p:nvPr>
        </p:nvSpPr>
        <p:spPr/>
        <p:txBody>
          <a:bodyPr wrap="square">
            <a:normAutofit/>
          </a:bodyPr>
          <a:lstStyle/>
          <a:p/>
          <a:p>
            <a:r>
              <a:t>Duration: 45-60 minutes</a:t>
            </a:r>
          </a:p>
          <a:p/>
          <a:p>
            <a:r>
              <a:t>Objectives</a:t>
            </a:r>
          </a:p>
          <a:p/>
          <a:p>
            <a:pPr/>
            <a:r>
              <a:t>Use AI to generate starter code for arithmetic operations</a:t>
            </a:r>
          </a:p>
          <a:p>
            <a:pPr/>
            <a:r>
              <a:t>Understand how to validate AI-generated logic</a:t>
            </a:r>
          </a:p>
          <a:p>
            <a:pPr/>
            <a:r>
              <a:t>Integrate addition, subtraction, multiplication, and division functions</a:t>
            </a:r>
          </a:p>
          <a:p/>
          <a:p>
            <a:r>
              <a:t>Activities</a:t>
            </a:r>
          </a:p>
          <a:p/>
          <a:p>
            <a:r>
              <a:t>1. Project Initialization:</a:t>
            </a:r>
          </a:p>
          <a:p/>
          <a:p>
            <a:pPr/>
            <a:r>
              <a:t>Prompt AI to create a new project</a:t>
            </a:r>
          </a:p>
          <a:p>
            <a:pPr/>
            <a:r>
              <a:t>Review generated project structure</a:t>
            </a:r>
          </a:p>
          <a:p>
            <a:pPr/>
            <a:r>
              <a:t>Verify build configuration</a:t>
            </a:r>
          </a:p>
          <a:p/>
          <a:p>
            <a:r>
              <a:t>2. Implement Basic Operations:</a:t>
            </a:r>
          </a:p>
          <a:p/>
          <a:p>
            <a:pPr/>
            <a:r>
              <a:t>Prompt AI to add methods for addition, subtraction, multiplication, and division</a:t>
            </a:r>
          </a:p>
          <a:p/>
          <a:p>
            <a:r>
              <a:t>3. Review the Code:</a:t>
            </a:r>
          </a:p>
          <a:p/>
          <a:p>
            <a:pPr/>
            <a:r>
              <a:t>Check correctness and edge cases</a:t>
            </a:r>
          </a:p>
          <a:p/>
          <a:p>
            <a:r>
              <a:t>4. Build and Run:</a:t>
            </a:r>
          </a:p>
          <a:p/>
          <a:p>
            <a:pPr/>
            <a:r>
              <a:t>Use Copilot to help with build commands</a:t>
            </a:r>
          </a:p>
          <a:p>
            <a:pPr/>
            <a:r>
              <a:t>Troubleshoot compilation errors with Copilot</a:t>
            </a:r>
          </a:p>
          <a:p>
            <a:pPr/>
            <a:r>
              <a:t>Run the application</a:t>
            </a:r>
          </a:p>
          <a:p/>
          <a:p>
            <a:r>
              <a:t>Success Criteria</a:t>
            </a:r>
          </a:p>
          <a:p/>
          <a:p>
            <a:pPr/>
            <a:r>
              <a:t>Working calculator with 4 basic operations</a:t>
            </a:r>
          </a:p>
          <a:p>
            <a:pPr/>
            <a:r>
              <a:t>Application compiles and runs successfully</a:t>
            </a:r>
          </a:p>
          <a:p>
            <a:pPr/>
            <a:r>
              <a:t>Generated code is critically reviewed</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Exercise: Calculator Project - Clear / Reset</a:t>
            </a:r>
          </a:p>
        </p:txBody>
      </p:sp>
      <p:sp>
        <p:nvSpPr>
          <p:cNvPr id="3" name="Content Placeholder 2"/>
          <p:cNvSpPr>
            <a:spLocks noGrp="1"/>
          </p:cNvSpPr>
          <p:nvPr>
            <p:ph idx="1"/>
          </p:nvPr>
        </p:nvSpPr>
        <p:spPr/>
        <p:txBody>
          <a:bodyPr wrap="square">
            <a:normAutofit/>
          </a:bodyPr>
          <a:lstStyle/>
          <a:p/>
          <a:p>
            <a:r>
              <a:t>Duration: 15 minutes</a:t>
            </a:r>
          </a:p>
          <a:p/>
          <a:p>
            <a:r>
              <a:t>Objectives</a:t>
            </a:r>
          </a:p>
          <a:p/>
          <a:p>
            <a:pPr/>
            <a:r>
              <a:t>Use AI to scaffold state-management logic</a:t>
            </a:r>
          </a:p>
          <a:p>
            <a:pPr/>
            <a:r>
              <a:t>Implement CE (clear entry) and C (clear all) behaviors</a:t>
            </a:r>
          </a:p>
          <a:p>
            <a:pPr/>
            <a:r>
              <a:t>Understand UI state transitions</a:t>
            </a:r>
          </a:p>
          <a:p/>
          <a:p>
            <a:r>
              <a:t>Activities</a:t>
            </a:r>
          </a:p>
          <a:p/>
          <a:p>
            <a:r>
              <a:t>1. Ask AI to outline the difference between CE and C</a:t>
            </a:r>
          </a:p>
          <a:p>
            <a:r>
              <a:t>2. Generate code for clearing current input vs full state</a:t>
            </a:r>
          </a:p>
          <a:p>
            <a:r>
              <a:t>3. Integrate logic into calculator state object</a:t>
            </a:r>
          </a:p>
          <a:p>
            <a:r>
              <a:t>4. Test transitions with sample input sequences</a:t>
            </a:r>
          </a:p>
          <a:p/>
          <a:p>
            <a:r>
              <a:t>Success Criteria</a:t>
            </a:r>
          </a:p>
          <a:p/>
          <a:p>
            <a:pPr/>
            <a:r>
              <a:t>CE clears only the active entry</a:t>
            </a:r>
          </a:p>
          <a:p>
            <a:pPr/>
            <a:r>
              <a:t>C resets the entire calculator state</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Exercise: Calculator Project - Decimal Input</a:t>
            </a:r>
          </a:p>
        </p:txBody>
      </p:sp>
      <p:sp>
        <p:nvSpPr>
          <p:cNvPr id="3" name="Content Placeholder 2"/>
          <p:cNvSpPr>
            <a:spLocks noGrp="1"/>
          </p:cNvSpPr>
          <p:nvPr>
            <p:ph idx="1"/>
          </p:nvPr>
        </p:nvSpPr>
        <p:spPr/>
        <p:txBody>
          <a:bodyPr wrap="square">
            <a:normAutofit/>
          </a:bodyPr>
          <a:lstStyle/>
          <a:p/>
          <a:p>
            <a:r>
              <a:t>Duration: 12 minutes</a:t>
            </a:r>
          </a:p>
          <a:p/>
          <a:p>
            <a:r>
              <a:t>Objectives</a:t>
            </a:r>
          </a:p>
          <a:p/>
          <a:p>
            <a:pPr/>
            <a:r>
              <a:t>Use AI to generate input-validation logic</a:t>
            </a:r>
          </a:p>
          <a:p>
            <a:pPr/>
            <a:r>
              <a:t>Prevent multiple decimal points</a:t>
            </a:r>
          </a:p>
          <a:p>
            <a:pPr/>
            <a:r>
              <a:t>Ensure decimals flow through arithmetic operations</a:t>
            </a:r>
          </a:p>
          <a:p/>
          <a:p>
            <a:r>
              <a:t>Activities</a:t>
            </a:r>
          </a:p>
          <a:p/>
          <a:p>
            <a:r>
              <a:t>1. Ask AI for a decimal input strategy</a:t>
            </a:r>
          </a:p>
          <a:p>
            <a:r>
              <a:t>2. Generate code to block duplicate decimals in one number</a:t>
            </a:r>
          </a:p>
          <a:p>
            <a:r>
              <a:t>3. Integrate decimal support into input parser</a:t>
            </a:r>
          </a:p>
          <a:p>
            <a:r>
              <a:t>4. Test decimal operations with AI-generated test cases</a:t>
            </a:r>
          </a:p>
          <a:p/>
          <a:p>
            <a:r>
              <a:t>Success Criteria</a:t>
            </a:r>
          </a:p>
          <a:p/>
          <a:p>
            <a:pPr/>
            <a:r>
              <a:t>Decimal input works without duplication errors</a:t>
            </a:r>
          </a:p>
          <a:p>
            <a:pPr/>
            <a:r>
              <a:t>Arithmetic with decimals is correct</a:t>
            </a:r>
          </a:p>
          <a:p>
            <a:pPr/>
            <a:r>
              <a:t>Validation logic is explainable</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Exercise: Calculator Project - Sign Toggle (+/-)</a:t>
            </a:r>
          </a:p>
        </p:txBody>
      </p:sp>
      <p:sp>
        <p:nvSpPr>
          <p:cNvPr id="3" name="Content Placeholder 2"/>
          <p:cNvSpPr>
            <a:spLocks noGrp="1"/>
          </p:cNvSpPr>
          <p:nvPr>
            <p:ph idx="1"/>
          </p:nvPr>
        </p:nvSpPr>
        <p:spPr/>
        <p:txBody>
          <a:bodyPr wrap="square">
            <a:normAutofit/>
          </a:bodyPr>
          <a:lstStyle/>
          <a:p/>
          <a:p>
            <a:r>
              <a:t>Duration: 8 minutes</a:t>
            </a:r>
          </a:p>
          <a:p/>
          <a:p>
            <a:r>
              <a:t>Objectives</a:t>
            </a:r>
          </a:p>
          <a:p/>
          <a:p>
            <a:pPr/>
            <a:r>
              <a:t>Use AI to generate sign-toggle logic</a:t>
            </a:r>
          </a:p>
          <a:p>
            <a:pPr/>
            <a:r>
              <a:t>Understand effect on active input and stored value</a:t>
            </a:r>
          </a:p>
          <a:p/>
          <a:p>
            <a:r>
              <a:t>Activities</a:t>
            </a:r>
          </a:p>
          <a:p/>
          <a:p>
            <a:r>
              <a:t>1. Ask AI to generate toggle-sign function for active value</a:t>
            </a:r>
          </a:p>
          <a:p>
            <a:r>
              <a:t>2. Integrate into input workflow</a:t>
            </a:r>
          </a:p>
          <a:p>
            <a:r>
              <a:t>3. Test before and after digit entry</a:t>
            </a:r>
          </a:p>
          <a:p/>
          <a:p>
            <a:r>
              <a:t>Success Criteria</a:t>
            </a:r>
          </a:p>
          <a:p/>
          <a:p>
            <a:pPr/>
            <a:r>
              <a:t>Sign toggle works for integers and decimals</a:t>
            </a:r>
          </a:p>
          <a:p>
            <a:pPr/>
            <a:r>
              <a:t>Learner can explain stored vs active value impact</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Exercise: Calculator Project - Percentage</a:t>
            </a:r>
          </a:p>
        </p:txBody>
      </p:sp>
      <p:sp>
        <p:nvSpPr>
          <p:cNvPr id="3" name="Content Placeholder 2"/>
          <p:cNvSpPr>
            <a:spLocks noGrp="1"/>
          </p:cNvSpPr>
          <p:nvPr>
            <p:ph idx="1"/>
          </p:nvPr>
        </p:nvSpPr>
        <p:spPr/>
        <p:txBody>
          <a:bodyPr wrap="square">
            <a:normAutofit/>
          </a:bodyPr>
          <a:lstStyle/>
          <a:p/>
          <a:p>
            <a:r>
              <a:t>Duration: 15 minutes</a:t>
            </a:r>
          </a:p>
          <a:p/>
          <a:p>
            <a:r>
              <a:t>Objectives</a:t>
            </a:r>
          </a:p>
          <a:p/>
          <a:p>
            <a:pPr/>
            <a:r>
              <a:t>Use AI to clarify percentage interpretation rules</a:t>
            </a:r>
          </a:p>
          <a:p>
            <a:pPr/>
            <a:r>
              <a:t>Implement percentage logic for common patterns</a:t>
            </a:r>
          </a:p>
          <a:p>
            <a:pPr/>
            <a:r>
              <a:t>Validate behavior with AI-generated examples</a:t>
            </a:r>
          </a:p>
          <a:p/>
          <a:p>
            <a:r>
              <a:t>Activities</a:t>
            </a:r>
          </a:p>
          <a:p/>
          <a:p>
            <a:r>
              <a:t>1. Ask AI how percentage should behave in a standard calculator</a:t>
            </a:r>
          </a:p>
          <a:p>
            <a:r>
              <a:t>2. Generate code for:</a:t>
            </a:r>
          </a:p>
          <a:p/>
          <a:p>
            <a:pPr/>
            <a:r>
              <a:t>X x Y%</a:t>
            </a:r>
          </a:p>
          <a:p>
            <a:pPr/>
            <a:r>
              <a:t>Y + X%</a:t>
            </a:r>
          </a:p>
          <a:p>
            <a:pPr/>
            <a:r>
              <a:t>Y - X%</a:t>
            </a:r>
          </a:p>
          <a:p/>
          <a:p>
            <a:r>
              <a:t>3. Test each pattern with AI-generated values</a:t>
            </a:r>
          </a:p>
          <a:p/>
          <a:p>
            <a:r>
              <a:t>Success Criteria</a:t>
            </a:r>
          </a:p>
          <a:p/>
          <a:p>
            <a:pPr/>
            <a:r>
              <a:t>Percentage operations match standard calculator behavior</a:t>
            </a:r>
          </a:p>
          <a:p>
            <a:pPr/>
            <a:r>
              <a:t>Learner can articulate percentage interpretation rules</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Exercise: Calculator Project - Memory Functions (M+, M-, MR, MC)</a:t>
            </a:r>
          </a:p>
        </p:txBody>
      </p:sp>
      <p:sp>
        <p:nvSpPr>
          <p:cNvPr id="3" name="Content Placeholder 2"/>
          <p:cNvSpPr>
            <a:spLocks noGrp="1"/>
          </p:cNvSpPr>
          <p:nvPr>
            <p:ph idx="1"/>
          </p:nvPr>
        </p:nvSpPr>
        <p:spPr/>
        <p:txBody>
          <a:bodyPr wrap="square">
            <a:normAutofit/>
          </a:bodyPr>
          <a:lstStyle/>
          <a:p/>
          <a:p>
            <a:r>
              <a:t>Duration: 18 minutes</a:t>
            </a:r>
          </a:p>
          <a:p/>
          <a:p>
            <a:r>
              <a:t>Objectives</a:t>
            </a:r>
          </a:p>
          <a:p/>
          <a:p>
            <a:pPr/>
            <a:r>
              <a:t>Use AI to design memory subsystem</a:t>
            </a:r>
          </a:p>
          <a:p>
            <a:pPr/>
            <a:r>
              <a:t>Implement memory add, subtract, recall, and clear</a:t>
            </a:r>
          </a:p>
          <a:p>
            <a:pPr/>
            <a:r>
              <a:t>Validate memory across multiple operations</a:t>
            </a:r>
          </a:p>
          <a:p/>
          <a:p>
            <a:r>
              <a:t>Activities</a:t>
            </a:r>
          </a:p>
          <a:p/>
          <a:p>
            <a:r>
              <a:t>1. Ask AI for memory-state structure</a:t>
            </a:r>
          </a:p>
          <a:p>
            <a:r>
              <a:t>2. Generate functions for M+, M-, MR, MC</a:t>
            </a:r>
          </a:p>
          <a:p>
            <a:r>
              <a:t>3. Integrate memory operations into calculator flow</a:t>
            </a:r>
          </a:p>
          <a:p>
            <a:r>
              <a:t>4. Test memory persistence over sequences</a:t>
            </a:r>
          </a:p>
          <a:p/>
          <a:p>
            <a:r>
              <a:t>Success Criteria</a:t>
            </a:r>
          </a:p>
          <a:p/>
          <a:p>
            <a:pPr/>
            <a:r>
              <a:t>Memory functions behave as expected</a:t>
            </a:r>
          </a:p>
          <a:p>
            <a:pPr/>
            <a:r>
              <a:t>Learner can explain memory state updates</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Exercise: Calculator Project - Error Handling</a:t>
            </a:r>
          </a:p>
        </p:txBody>
      </p:sp>
      <p:sp>
        <p:nvSpPr>
          <p:cNvPr id="3" name="Content Placeholder 2"/>
          <p:cNvSpPr>
            <a:spLocks noGrp="1"/>
          </p:cNvSpPr>
          <p:nvPr>
            <p:ph idx="1"/>
          </p:nvPr>
        </p:nvSpPr>
        <p:spPr/>
        <p:txBody>
          <a:bodyPr wrap="square">
            <a:normAutofit/>
          </a:bodyPr>
          <a:lstStyle/>
          <a:p/>
          <a:p>
            <a:r>
              <a:t>Duration: 10 minutes</a:t>
            </a:r>
          </a:p>
          <a:p/>
          <a:p>
            <a:r>
              <a:t>Objectives</a:t>
            </a:r>
          </a:p>
          <a:p/>
          <a:p>
            <a:pPr/>
            <a:r>
              <a:t>Use AI to identify common error conditions</a:t>
            </a:r>
          </a:p>
          <a:p>
            <a:pPr/>
            <a:r>
              <a:t>Implement error messages and recovery logic</a:t>
            </a:r>
          </a:p>
          <a:p>
            <a:pPr/>
            <a:r>
              <a:t>Ensure graceful reset after errors</a:t>
            </a:r>
          </a:p>
          <a:p/>
          <a:p>
            <a:r>
              <a:t>Activities</a:t>
            </a:r>
          </a:p>
          <a:p/>
          <a:p>
            <a:r>
              <a:t>1. Ask AI to list calculator errors (for example divide by zero)</a:t>
            </a:r>
          </a:p>
          <a:p>
            <a:r>
              <a:t>2. Generate error detection and display logic</a:t>
            </a:r>
          </a:p>
          <a:p>
            <a:r>
              <a:t>3. Implement reset path after an error</a:t>
            </a:r>
          </a:p>
          <a:p>
            <a:r>
              <a:t>4. Test error scenarios with AI-generated tests</a:t>
            </a:r>
          </a:p>
          <a:p/>
          <a:p>
            <a:r>
              <a:t>Success Criteria</a:t>
            </a:r>
          </a:p>
          <a:p/>
          <a:p>
            <a:pPr/>
            <a:r>
              <a:t>Errors are detected and displayed correctly</a:t>
            </a:r>
          </a:p>
          <a:p>
            <a:pPr/>
            <a:r>
              <a:t>Calculator recovers cleanly</a:t>
            </a:r>
          </a:p>
          <a:p>
            <a:pPr/>
            <a:r>
              <a:t>Learner can explain error-handling flow</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Exercise: Calculator Project - Add Trigonometric Functions</a:t>
            </a:r>
          </a:p>
        </p:txBody>
      </p:sp>
      <p:sp>
        <p:nvSpPr>
          <p:cNvPr id="3" name="Content Placeholder 2"/>
          <p:cNvSpPr>
            <a:spLocks noGrp="1"/>
          </p:cNvSpPr>
          <p:nvPr>
            <p:ph idx="1"/>
          </p:nvPr>
        </p:nvSpPr>
        <p:spPr/>
        <p:txBody>
          <a:bodyPr wrap="square">
            <a:normAutofit/>
          </a:bodyPr>
          <a:lstStyle/>
          <a:p/>
          <a:p>
            <a:r>
              <a:t>Duration: 15 minutes</a:t>
            </a:r>
          </a:p>
          <a:p/>
          <a:p>
            <a:r>
              <a:t>Objectives</a:t>
            </a:r>
          </a:p>
          <a:p/>
          <a:p>
            <a:pPr/>
            <a:r>
              <a:t>Integrate trigonometric operations</a:t>
            </a:r>
          </a:p>
          <a:p>
            <a:pPr/>
            <a:r>
              <a:t>Use AI for math wrappers and parsing logic</a:t>
            </a:r>
          </a:p>
          <a:p>
            <a:pPr/>
            <a:r>
              <a:t>Handle degrees vs radians correctly</a:t>
            </a:r>
          </a:p>
          <a:p/>
          <a:p>
            <a:r>
              <a:t>Activities</a:t>
            </a:r>
          </a:p>
          <a:p/>
          <a:p>
            <a:r>
              <a:t>1. Ask AI to generate sin, cos, tan functions using language math library</a:t>
            </a:r>
          </a:p>
          <a:p>
            <a:r>
              <a:t>2. Ask AI for degree/radian mode strategy</a:t>
            </a:r>
          </a:p>
          <a:p>
            <a:r>
              <a:t>3. Implement UI bindings or command triggers</a:t>
            </a:r>
          </a:p>
          <a:p>
            <a:r>
              <a:t>4. Generate sample input/output table with AI and validate</a:t>
            </a:r>
          </a:p>
          <a:p/>
          <a:p>
            <a:r>
              <a:t>Success Criteria</a:t>
            </a:r>
          </a:p>
          <a:p/>
          <a:p>
            <a:pPr/>
            <a:r>
              <a:t>Trig results are correct for selected angle mode</a:t>
            </a:r>
          </a:p>
          <a:p>
            <a:pPr/>
            <a:r>
              <a:t>Degree/radian switching works consistently</a:t>
            </a:r>
          </a:p>
          <a:p>
            <a:pPr/>
            <a:r>
              <a:t>UI or commands correctly call trig functions</a:t>
            </a:r>
          </a:p>
          <a:p>
            <a:pPr/>
            <a:r>
              <a:t>Learner can explain validation and refinement steps</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Exercise: Calculator Project - UI</a:t>
            </a:r>
          </a:p>
        </p:txBody>
      </p:sp>
      <p:sp>
        <p:nvSpPr>
          <p:cNvPr id="3" name="Content Placeholder 2"/>
          <p:cNvSpPr>
            <a:spLocks noGrp="1"/>
          </p:cNvSpPr>
          <p:nvPr>
            <p:ph idx="1"/>
          </p:nvPr>
        </p:nvSpPr>
        <p:spPr/>
        <p:txBody>
          <a:bodyPr wrap="square">
            <a:normAutofit/>
          </a:bodyPr>
          <a:lstStyle/>
          <a:p/>
          <a:p>
            <a:r>
              <a:t>Duration: 15 minutes</a:t>
            </a:r>
          </a:p>
          <a:p/>
          <a:p>
            <a:r>
              <a:t>Objectives</a:t>
            </a:r>
          </a:p>
          <a:p/>
          <a:p>
            <a:pPr/>
            <a:r>
              <a:t>Use AI to scaffold UI event handlers</a:t>
            </a:r>
          </a:p>
          <a:p>
            <a:pPr/>
            <a:r>
              <a:t>Connect UI controls to logic functions</a:t>
            </a:r>
          </a:p>
          <a:p>
            <a:pPr/>
            <a:r>
              <a:t>Validate end-to-end workflow</a:t>
            </a:r>
          </a:p>
          <a:p/>
          <a:p>
            <a:r>
              <a:t>Activities</a:t>
            </a:r>
          </a:p>
          <a:p/>
          <a:p>
            <a:r>
              <a:t>1. Ask AI to generate event-binding code for numeric/operator controls</a:t>
            </a:r>
          </a:p>
          <a:p>
            <a:r>
              <a:t>2. Integrate logic functions from prior exercises</a:t>
            </a:r>
          </a:p>
          <a:p>
            <a:r>
              <a:t>3. Test full workflow:</a:t>
            </a:r>
          </a:p>
          <a:p/>
          <a:p>
            <a:pPr/>
            <a:r>
              <a:t>Enter decimal</a:t>
            </a:r>
          </a:p>
          <a:p>
            <a:pPr/>
            <a:r>
              <a:t>Toggle sign</a:t>
            </a:r>
          </a:p>
          <a:p>
            <a:pPr/>
            <a:r>
              <a:t>Apply percentage</a:t>
            </a:r>
          </a:p>
          <a:p>
            <a:pPr/>
            <a:r>
              <a:t>Store result in memory</a:t>
            </a:r>
          </a:p>
          <a:p/>
          <a:p>
            <a:r>
              <a:t>Success Criteria</a:t>
            </a:r>
          </a:p>
          <a:p/>
          <a:p>
            <a:pPr/>
            <a:r>
              <a:t>UI triggers all calculator functions correctly</a:t>
            </a:r>
          </a:p>
          <a:p>
            <a:pPr/>
            <a:r>
              <a:t>End-to-end workflow completes without errors</a:t>
            </a:r>
          </a:p>
          <a:p>
            <a:pPr/>
            <a:r>
              <a:t>Learner can explain UI-to-logic mapping</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Exercise: Calculator Project - Testing</a:t>
            </a:r>
          </a:p>
        </p:txBody>
      </p:sp>
      <p:sp>
        <p:nvSpPr>
          <p:cNvPr id="3" name="Content Placeholder 2"/>
          <p:cNvSpPr>
            <a:spLocks noGrp="1"/>
          </p:cNvSpPr>
          <p:nvPr>
            <p:ph idx="1"/>
          </p:nvPr>
        </p:nvSpPr>
        <p:spPr/>
        <p:txBody>
          <a:bodyPr wrap="square">
            <a:normAutofit/>
          </a:bodyPr>
          <a:lstStyle/>
          <a:p/>
          <a:p>
            <a:r>
              <a:t>Duration: 45-60 minutes</a:t>
            </a:r>
          </a:p>
          <a:p/>
          <a:p>
            <a:r>
              <a:t>Objectives</a:t>
            </a:r>
          </a:p>
          <a:p/>
          <a:p>
            <a:pPr/>
            <a:r>
              <a:t>Generate unit tests with AI assistance</a:t>
            </a:r>
          </a:p>
          <a:p>
            <a:pPr/>
            <a:r>
              <a:t>Identify quality issues in generated tests</a:t>
            </a:r>
          </a:p>
          <a:p>
            <a:pPr/>
            <a:r>
              <a:t>Understand why generated tests require review</a:t>
            </a:r>
          </a:p>
          <a:p/>
          <a:p>
            <a:r>
              <a:t>Activities</a:t>
            </a:r>
          </a:p>
          <a:p/>
          <a:p>
            <a:r>
              <a:t>1. Generate Initial Tests:</a:t>
            </a:r>
          </a:p>
          <a:p/>
          <a:p>
            <a:pPr/>
            <a:r>
              <a:t>Prompt: "Create unit tests for the calculator operations"</a:t>
            </a:r>
          </a:p>
          <a:p>
            <a:pPr/>
            <a:r>
              <a:t>Review generated test structure</a:t>
            </a:r>
          </a:p>
          <a:p>
            <a:pPr/>
            <a:r>
              <a:t>Verify tests call calculator code</a:t>
            </a:r>
          </a:p>
          <a:p/>
          <a:p>
            <a:r>
              <a:t>2. Fix Test Issues:</a:t>
            </a:r>
          </a:p>
          <a:p/>
          <a:p>
            <a:pPr/>
            <a:r>
              <a:t>If tests are trivial (for example 1 + 1 only), identify issue</a:t>
            </a:r>
          </a:p>
          <a:p>
            <a:pPr/>
            <a:r>
              <a:t>Prompt: "Update tests to call Calculator class methods"</a:t>
            </a:r>
          </a:p>
          <a:p>
            <a:pPr/>
            <a:r>
              <a:t>Verify improved test quality</a:t>
            </a:r>
          </a:p>
          <a:p/>
          <a:p>
            <a:r>
              <a:t>3. Run Tests:</a:t>
            </a:r>
          </a:p>
          <a:p/>
          <a:p>
            <a:pPr/>
            <a:r>
              <a:t>Execute test suite</a:t>
            </a:r>
          </a:p>
          <a:p>
            <a:pPr/>
            <a:r>
              <a:t>Review output</a:t>
            </a:r>
          </a:p>
          <a:p>
            <a:pPr/>
            <a:r>
              <a:t>Debug failing tests with Copilot</a:t>
            </a:r>
          </a:p>
          <a:p/>
          <a:p>
            <a:r>
              <a:t>4. Add Edge Cases:</a:t>
            </a:r>
          </a:p>
          <a:p/>
          <a:p>
            <a:pPr/>
            <a:r>
              <a:t>Prompt: "Add tests for edge cases like division by zero"</a:t>
            </a:r>
          </a:p>
          <a:p>
            <a:pPr/>
            <a:r>
              <a:t>Verify exception handling tests</a:t>
            </a:r>
          </a:p>
          <a:p/>
          <a:p>
            <a:r>
              <a:t>Success Criteria</a:t>
            </a:r>
          </a:p>
          <a:p/>
          <a:p>
            <a:pPr/>
            <a:r>
              <a:t>Minimum 8 test cases</a:t>
            </a:r>
          </a:p>
          <a:p>
            <a:pPr/>
            <a:r>
              <a:t>Tests call actual calculator methods</a:t>
            </a:r>
          </a:p>
          <a:p>
            <a:pPr/>
            <a:r>
              <a:t>Edge cases and error conditions included</a:t>
            </a:r>
          </a:p>
          <a:p>
            <a:pPr/>
            <a:r>
              <a:t>All tests pass</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Exercise: Code Coverage</a:t>
            </a:r>
          </a:p>
        </p:txBody>
      </p:sp>
      <p:sp>
        <p:nvSpPr>
          <p:cNvPr id="3" name="Content Placeholder 2"/>
          <p:cNvSpPr>
            <a:spLocks noGrp="1"/>
          </p:cNvSpPr>
          <p:nvPr>
            <p:ph idx="1"/>
          </p:nvPr>
        </p:nvSpPr>
        <p:spPr/>
        <p:txBody>
          <a:bodyPr wrap="square">
            <a:normAutofit/>
          </a:bodyPr>
          <a:lstStyle/>
          <a:p/>
          <a:p>
            <a:r>
              <a:t>Duration: 30-40 minutes</a:t>
            </a:r>
          </a:p>
          <a:p/>
          <a:p>
            <a:r>
              <a:t>Objectives</a:t>
            </a:r>
          </a:p>
          <a:p/>
          <a:p>
            <a:pPr/>
            <a:r>
              <a:t>Set up code coverage reporting</a:t>
            </a:r>
          </a:p>
          <a:p>
            <a:pPr/>
            <a:r>
              <a:t>Interpret coverage data</a:t>
            </a:r>
          </a:p>
          <a:p>
            <a:pPr/>
            <a:r>
              <a:t>Improve coverage based on identified gaps</a:t>
            </a:r>
          </a:p>
          <a:p/>
          <a:p>
            <a:r>
              <a:t>Activities</a:t>
            </a:r>
          </a:p>
          <a:p/>
          <a:p>
            <a:r>
              <a:t>1. Enable Coverage Collection:</a:t>
            </a:r>
          </a:p>
          <a:p/>
          <a:p>
            <a:pPr/>
            <a:r>
              <a:t>Prompt: "Add code coverage reporting to my test project"</a:t>
            </a:r>
          </a:p>
          <a:p>
            <a:pPr/>
            <a:r>
              <a:t>Review dependencies added</a:t>
            </a:r>
          </a:p>
          <a:p>
            <a:pPr/>
            <a:r>
              <a:t>Resolve NuGet/dependency issues with Copilot</a:t>
            </a:r>
          </a:p>
          <a:p/>
          <a:p>
            <a:r>
              <a:t>2. Generate Coverage Report:</a:t>
            </a:r>
          </a:p>
          <a:p/>
          <a:p>
            <a:pPr/>
            <a:r>
              <a:t>Run tests with coverage</a:t>
            </a:r>
          </a:p>
          <a:p>
            <a:pPr/>
            <a:r>
              <a:t>Review percentage</a:t>
            </a:r>
          </a:p>
          <a:p>
            <a:pPr/>
            <a:r>
              <a:t>Identify uncovered paths</a:t>
            </a:r>
          </a:p>
          <a:p/>
          <a:p>
            <a:r>
              <a:t>3. Improve Coverage:</a:t>
            </a:r>
          </a:p>
          <a:p/>
          <a:p>
            <a:pPr/>
            <a:r>
              <a:t>Add tests for uncovered methods</a:t>
            </a:r>
          </a:p>
          <a:p>
            <a:pPr/>
            <a:r>
              <a:t>Re-run coverage and verify improvement</a:t>
            </a:r>
          </a:p>
          <a:p>
            <a:pPr/>
            <a:r>
              <a:t>Discuss if 100% coverage is necessary</a:t>
            </a:r>
          </a:p>
          <a:p/>
          <a:p>
            <a:r>
              <a:t>Success Criteria</a:t>
            </a:r>
          </a:p>
          <a:p/>
          <a:p>
            <a:pPr/>
            <a:r>
              <a:t>Coverage reporting configured successfully</a:t>
            </a:r>
          </a:p>
          <a:p>
            <a:pPr/>
            <a:r>
              <a:t>Coverage reports can be generated and interpreted</a:t>
            </a:r>
          </a:p>
          <a:p>
            <a:pPr/>
            <a:r>
              <a:t>Reasonable coverage achieved (&gt;80% line coverage)</a:t>
            </a:r>
          </a:p>
          <a:p>
            <a:pPr/>
            <a:r>
              <a:t>Learner understands what coverage metrics mean</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Exercise: Dependency Management and Troubleshooting</a:t>
            </a:r>
          </a:p>
        </p:txBody>
      </p:sp>
      <p:sp>
        <p:nvSpPr>
          <p:cNvPr id="3" name="Content Placeholder 2"/>
          <p:cNvSpPr>
            <a:spLocks noGrp="1"/>
          </p:cNvSpPr>
          <p:nvPr>
            <p:ph idx="1"/>
          </p:nvPr>
        </p:nvSpPr>
        <p:spPr/>
        <p:txBody>
          <a:bodyPr wrap="square">
            <a:normAutofit/>
          </a:bodyPr>
          <a:lstStyle/>
          <a:p/>
          <a:p>
            <a:r>
              <a:t>Duration: 30-40 minutes</a:t>
            </a:r>
          </a:p>
          <a:p/>
          <a:p>
            <a:r>
              <a:t>Objectives</a:t>
            </a:r>
          </a:p>
          <a:p/>
          <a:p>
            <a:pPr/>
            <a:r>
              <a:t>Use Copilot to resolve dependency issues</a:t>
            </a:r>
          </a:p>
          <a:p>
            <a:pPr/>
            <a:r>
              <a:t>Handle package restoration problems</a:t>
            </a:r>
          </a:p>
          <a:p>
            <a:pPr/>
            <a:r>
              <a:t>Practice iterative AI-assisted troubleshooting</a:t>
            </a:r>
          </a:p>
          <a:p/>
          <a:p>
            <a:r>
              <a:t>Activities</a:t>
            </a:r>
          </a:p>
          <a:p/>
          <a:p>
            <a:r>
              <a:t>1. Simulate or Identify a Dependency Issue:</a:t>
            </a:r>
          </a:p>
          <a:p/>
          <a:p>
            <a:pPr/>
            <a:r>
              <a:t>Introduce version conflict or use an existing issue</a:t>
            </a:r>
          </a:p>
          <a:p>
            <a:pPr/>
            <a:r>
              <a:t>Prompt: "I'm getting [specific error]. How do I fix it?"</a:t>
            </a:r>
          </a:p>
          <a:p/>
          <a:p>
            <a:r>
              <a:t>2. Follow Copilot Guidance:</a:t>
            </a:r>
          </a:p>
          <a:p/>
          <a:p>
            <a:pPr/>
            <a:r>
              <a:t>Review suggested solutions</a:t>
            </a:r>
          </a:p>
          <a:p>
            <a:pPr/>
            <a:r>
              <a:t>Evaluate alternatives</a:t>
            </a:r>
          </a:p>
          <a:p>
            <a:pPr/>
            <a:r>
              <a:t>Select best option collaboratively</a:t>
            </a:r>
          </a:p>
          <a:p/>
          <a:p>
            <a:r>
              <a:t>3. Iterative Resolution:</a:t>
            </a:r>
          </a:p>
          <a:p/>
          <a:p>
            <a:pPr/>
            <a:r>
              <a:t>Provide new error details when needed</a:t>
            </a:r>
          </a:p>
          <a:p>
            <a:pPr/>
            <a:r>
              <a:t>Continue until resolved</a:t>
            </a:r>
          </a:p>
          <a:p/>
          <a:p>
            <a:r>
              <a:t>4. Practice common issues:</a:t>
            </a:r>
          </a:p>
          <a:p/>
          <a:p>
            <a:pPr/>
            <a:r>
              <a:t>NuGet package source configuration</a:t>
            </a:r>
          </a:p>
          <a:p>
            <a:pPr/>
            <a:r>
              <a:t>MSTest adapter version conflicts</a:t>
            </a:r>
          </a:p>
          <a:p>
            <a:pPr/>
            <a:r>
              <a:t>.NET SDK targeting issues</a:t>
            </a:r>
          </a:p>
          <a:p>
            <a:pPr/>
            <a:r>
              <a:t>Package restoration failures</a:t>
            </a:r>
          </a:p>
          <a:p/>
          <a:p>
            <a:r>
              <a:t>Success Criteria</a:t>
            </a:r>
          </a:p>
          <a:p/>
          <a:p>
            <a:pPr/>
            <a:r>
              <a:t>At least one dependency issue resolved</a:t>
            </a:r>
          </a:p>
          <a:p>
            <a:pPr/>
            <a:r>
              <a:t>Learner can provide useful error context to Copilot</a:t>
            </a:r>
          </a:p>
          <a:p>
            <a:pPr/>
            <a:r>
              <a:t>Iterative problem-solving pattern demonstrated</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Exercise: Best Practices Review and Code Quality</a:t>
            </a:r>
          </a:p>
        </p:txBody>
      </p:sp>
      <p:sp>
        <p:nvSpPr>
          <p:cNvPr id="3" name="Content Placeholder 2"/>
          <p:cNvSpPr>
            <a:spLocks noGrp="1"/>
          </p:cNvSpPr>
          <p:nvPr>
            <p:ph idx="1"/>
          </p:nvPr>
        </p:nvSpPr>
        <p:spPr/>
        <p:txBody>
          <a:bodyPr wrap="square">
            <a:normAutofit/>
          </a:bodyPr>
          <a:lstStyle/>
          <a:p/>
          <a:p>
            <a:r>
              <a:t>Duration: 30-40 minutes</a:t>
            </a:r>
          </a:p>
          <a:p/>
          <a:p>
            <a:r>
              <a:t>Objectives</a:t>
            </a:r>
          </a:p>
          <a:p/>
          <a:p>
            <a:pPr/>
            <a:r>
              <a:t>Apply best practices from session</a:t>
            </a:r>
          </a:p>
          <a:p>
            <a:pPr/>
            <a:r>
              <a:t>Review code quality systematically</a:t>
            </a:r>
          </a:p>
          <a:p>
            <a:pPr/>
            <a:r>
              <a:t>Identify and implement meaningful improvements</a:t>
            </a:r>
          </a:p>
          <a:p/>
          <a:p>
            <a:r>
              <a:t>Activities</a:t>
            </a:r>
          </a:p>
          <a:p/>
          <a:p>
            <a:r>
              <a:t>1. Code Quality Check:</a:t>
            </a:r>
          </a:p>
          <a:p/>
          <a:p>
            <a:pPr/>
            <a:r>
              <a:t>Prompt: "Suggest improvements for code quality and maintainability"</a:t>
            </a:r>
          </a:p>
          <a:p>
            <a:pPr/>
            <a:r>
              <a:t>Evaluate suggestions critically</a:t>
            </a:r>
          </a:p>
          <a:p>
            <a:pPr/>
            <a:r>
              <a:t>Implement high-value improvements</a:t>
            </a:r>
          </a:p>
          <a:p/>
          <a:p>
            <a:r>
              <a:t>Success Criteria</a:t>
            </a:r>
          </a:p>
          <a:p/>
          <a:p>
            <a:pPr/>
            <a:r>
              <a:t>Documentation and maintainability improved</a:t>
            </a:r>
          </a:p>
          <a:p>
            <a:pPr/>
            <a:r>
              <a:t>AI suggestions are critically evaluated before adoption</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Exercise: Model Comparisons</a:t>
            </a:r>
          </a:p>
        </p:txBody>
      </p:sp>
      <p:sp>
        <p:nvSpPr>
          <p:cNvPr id="3" name="Content Placeholder 2"/>
          <p:cNvSpPr>
            <a:spLocks noGrp="1"/>
          </p:cNvSpPr>
          <p:nvPr>
            <p:ph idx="1"/>
          </p:nvPr>
        </p:nvSpPr>
        <p:spPr/>
        <p:txBody>
          <a:bodyPr wrap="square">
            <a:normAutofit/>
          </a:bodyPr>
          <a:lstStyle/>
          <a:p/>
          <a:p>
            <a:r>
              <a:t>Duration: 20-30 minutes</a:t>
            </a:r>
          </a:p>
          <a:p/>
          <a:p>
            <a:r>
              <a:t>Objectives</a:t>
            </a:r>
          </a:p>
          <a:p/>
          <a:p>
            <a:pPr/>
            <a:r>
              <a:t>Compare outputs from different AI models</a:t>
            </a:r>
          </a:p>
          <a:p>
            <a:pPr/>
            <a:r>
              <a:t>Understand premium vs standard model trade-offs</a:t>
            </a:r>
          </a:p>
          <a:p>
            <a:pPr/>
            <a:r>
              <a:t>Monitor token usage impact</a:t>
            </a:r>
          </a:p>
          <a:p/>
          <a:p>
            <a:r>
              <a:t>Activities</a:t>
            </a:r>
          </a:p>
          <a:p/>
          <a:p>
            <a:r>
              <a:t>1. Same Prompt, Different Models:</a:t>
            </a:r>
          </a:p>
          <a:p/>
          <a:p>
            <a:pPr/>
            <a:r>
              <a:t>Use one coding task (for example implement bubble sort)</a:t>
            </a:r>
          </a:p>
          <a:p>
            <a:pPr/>
            <a:r>
              <a:t>Compare standard and premium model outputs</a:t>
            </a:r>
          </a:p>
          <a:p/>
          <a:p>
            <a:r>
              <a:t>2. Token Usage Analysis:</a:t>
            </a:r>
          </a:p>
          <a:p/>
          <a:p>
            <a:pPr/>
            <a:r>
              <a:t>Check premium token bar before/after</a:t>
            </a:r>
          </a:p>
          <a:p>
            <a:pPr/>
            <a:r>
              <a:t>Estimate consumed tokens</a:t>
            </a:r>
          </a:p>
          <a:p>
            <a:pPr/>
            <a:r>
              <a:t>Discuss value vs cost</a:t>
            </a:r>
          </a:p>
          <a:p/>
          <a:p>
            <a:r>
              <a:t>3. Best Use Cases:</a:t>
            </a:r>
          </a:p>
          <a:p/>
          <a:p>
            <a:pPr/>
            <a:r>
              <a:t>Identify tasks for standard vs premium models</a:t>
            </a:r>
          </a:p>
          <a:p>
            <a:pPr/>
            <a:r>
              <a:t>Create model selection guidelines</a:t>
            </a:r>
          </a:p>
          <a:p/>
          <a:p>
            <a:r>
              <a:t>4. Ask Mode Advantage:</a:t>
            </a:r>
          </a:p>
          <a:p/>
          <a:p>
            <a:pPr/>
            <a:r>
              <a:t>Use Ask mode with premium model</a:t>
            </a:r>
          </a:p>
          <a:p>
            <a:pPr/>
            <a:r>
              <a:t>Compare with Agent mode token behavior</a:t>
            </a:r>
          </a:p>
          <a:p/>
          <a:p>
            <a:r>
              <a:t>Success Criteria</a:t>
            </a:r>
          </a:p>
          <a:p/>
          <a:p>
            <a:pPr/>
            <a:r>
              <a:t>At least two models compared</a:t>
            </a:r>
          </a:p>
          <a:p>
            <a:pPr/>
            <a:r>
              <a:t>Token consumption trade-offs understood</a:t>
            </a:r>
          </a:p>
          <a:p>
            <a:pPr/>
            <a:r>
              <a:t>Learner can choose model by task type</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Exercise: Calculator Project - Encapsulate Core Logic</a:t>
            </a:r>
          </a:p>
        </p:txBody>
      </p:sp>
      <p:sp>
        <p:nvSpPr>
          <p:cNvPr id="3" name="Content Placeholder 2"/>
          <p:cNvSpPr>
            <a:spLocks noGrp="1"/>
          </p:cNvSpPr>
          <p:nvPr>
            <p:ph idx="1"/>
          </p:nvPr>
        </p:nvSpPr>
        <p:spPr/>
        <p:txBody>
          <a:bodyPr wrap="square">
            <a:normAutofit/>
          </a:bodyPr>
          <a:lstStyle/>
          <a:p/>
          <a:p>
            <a:r>
              <a:t>Duration: 15 minutes</a:t>
            </a:r>
          </a:p>
          <a:p/>
          <a:p>
            <a:r>
              <a:t>Objectives</a:t>
            </a:r>
          </a:p>
          <a:p/>
          <a:p>
            <a:pPr/>
            <a:r>
              <a:t>Separate UI concerns from computational logic</a:t>
            </a:r>
          </a:p>
          <a:p>
            <a:pPr/>
            <a:r>
              <a:t>Use AI to scaffold standalone core logic module/class</a:t>
            </a:r>
          </a:p>
          <a:p>
            <a:pPr/>
            <a:r>
              <a:t>Ensure UI communicates through a clean API</a:t>
            </a:r>
          </a:p>
          <a:p>
            <a:pPr/>
            <a:r>
              <a:t>Validate improved testability and maintainability</a:t>
            </a:r>
          </a:p>
          <a:p/>
          <a:p>
            <a:r>
              <a:t>Activities</a:t>
            </a:r>
          </a:p>
          <a:p/>
          <a:p>
            <a:r>
              <a:t>1. Ask AI to generate dedicated component (for example CalculatorEngine or CalculatorCore) containing:</a:t>
            </a:r>
          </a:p>
          <a:p/>
          <a:p>
            <a:pPr/>
            <a:r>
              <a:t>Arithmetic operations</a:t>
            </a:r>
          </a:p>
          <a:p>
            <a:pPr/>
            <a:r>
              <a:t>State management</a:t>
            </a:r>
          </a:p>
          <a:p>
            <a:pPr/>
            <a:r>
              <a:t>Trig/percentage/memory logic where implemented</a:t>
            </a:r>
          </a:p>
          <a:p/>
          <a:p>
            <a:r>
              <a:t>2. Review and refine API surface (naming, inputs, outputs)</a:t>
            </a:r>
          </a:p>
          <a:p>
            <a:r>
              <a:t>3. Replace UI-embedded logic with component calls</a:t>
            </a:r>
          </a:p>
          <a:p/>
          <a:p>
            <a:r>
              <a:t>Success Criteria</a:t>
            </a:r>
          </a:p>
          <a:p/>
          <a:p>
            <a:pPr/>
            <a:r>
              <a:t>All features route through external logic component</a:t>
            </a:r>
          </a:p>
          <a:p>
            <a:pPr/>
            <a:r>
              <a:t>UI contains only event handling/display updates</a:t>
            </a:r>
          </a:p>
          <a:p>
            <a:pPr/>
            <a:r>
              <a:t>Learner can explain modularity and reuse benefits</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Exercise: Security Review</a:t>
            </a:r>
          </a:p>
        </p:txBody>
      </p:sp>
      <p:sp>
        <p:nvSpPr>
          <p:cNvPr id="3" name="Content Placeholder 2"/>
          <p:cNvSpPr>
            <a:spLocks noGrp="1"/>
          </p:cNvSpPr>
          <p:nvPr>
            <p:ph idx="1"/>
          </p:nvPr>
        </p:nvSpPr>
        <p:spPr/>
        <p:txBody>
          <a:bodyPr wrap="square">
            <a:normAutofit/>
          </a:bodyPr>
          <a:lstStyle/>
          <a:p/>
          <a:p>
            <a:r>
              <a:t>Duration: 30-40 minutes</a:t>
            </a:r>
          </a:p>
          <a:p/>
          <a:p>
            <a:r>
              <a:t>Objectives</a:t>
            </a:r>
          </a:p>
          <a:p/>
          <a:p>
            <a:pPr/>
            <a:r>
              <a:t>Systematically review code for security issues</a:t>
            </a:r>
          </a:p>
          <a:p>
            <a:pPr/>
            <a:r>
              <a:t>Address discovered vulnerabilities</a:t>
            </a:r>
          </a:p>
          <a:p>
            <a:pPr/>
            <a:r>
              <a:t>Strengthen input validation and safe patterns</a:t>
            </a:r>
          </a:p>
          <a:p/>
          <a:p>
            <a:r>
              <a:t>Activities</a:t>
            </a:r>
          </a:p>
          <a:p/>
          <a:p>
            <a:r>
              <a:t>1. Security Review:</a:t>
            </a:r>
          </a:p>
          <a:p/>
          <a:p>
            <a:pPr/>
            <a:r>
              <a:t>Prompt: "Review this code for security vulnerabilities"</a:t>
            </a:r>
          </a:p>
          <a:p>
            <a:pPr/>
            <a:r>
              <a:t>Address identified issues</a:t>
            </a:r>
          </a:p>
          <a:p>
            <a:pPr/>
            <a:r>
              <a:t>Add input validation where missing</a:t>
            </a:r>
          </a:p>
          <a:p/>
          <a:p>
            <a:r>
              <a:t>Success Criteria</a:t>
            </a:r>
          </a:p>
          <a:p/>
          <a:p>
            <a:pPr/>
            <a:r>
              <a:t>No obvious security issues remain</a:t>
            </a:r>
          </a:p>
          <a:p>
            <a:pPr/>
            <a:r>
              <a:t>AI recommendations are critically evaluated and validated</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Exercise: Documentation</a:t>
            </a:r>
          </a:p>
        </p:txBody>
      </p:sp>
      <p:sp>
        <p:nvSpPr>
          <p:cNvPr id="3" name="Content Placeholder 2"/>
          <p:cNvSpPr>
            <a:spLocks noGrp="1"/>
          </p:cNvSpPr>
          <p:nvPr>
            <p:ph idx="1"/>
          </p:nvPr>
        </p:nvSpPr>
        <p:spPr/>
        <p:txBody>
          <a:bodyPr wrap="square">
            <a:normAutofit/>
          </a:bodyPr>
          <a:lstStyle/>
          <a:p/>
          <a:p>
            <a:r>
              <a:t>Duration: 30-40 minutes</a:t>
            </a:r>
          </a:p>
          <a:p/>
          <a:p>
            <a:r>
              <a:t>Objectives</a:t>
            </a:r>
          </a:p>
          <a:p/>
          <a:p>
            <a:pPr/>
            <a:r>
              <a:t>Add and improve project documentation</a:t>
            </a:r>
          </a:p>
          <a:p>
            <a:pPr/>
            <a:r>
              <a:t>Review AI-generated docs for accuracy and completeness</a:t>
            </a:r>
          </a:p>
          <a:p/>
          <a:p>
            <a:r>
              <a:t>Activities</a:t>
            </a:r>
          </a:p>
          <a:p/>
          <a:p>
            <a:r>
              <a:t>1. Documentation:</a:t>
            </a:r>
          </a:p>
          <a:p/>
          <a:p>
            <a:pPr/>
            <a:r>
              <a:t>Ask Copilot to generate XML/doc comments</a:t>
            </a:r>
          </a:p>
          <a:p>
            <a:pPr/>
            <a:r>
              <a:t>Review and refine for correctness</a:t>
            </a:r>
          </a:p>
          <a:p>
            <a:pPr/>
            <a:r>
              <a:t>Add README usage instructions</a:t>
            </a:r>
          </a:p>
          <a:p>
            <a:pPr/>
            <a:r>
              <a:t>Ask AI to update existing documentation sections</a:t>
            </a:r>
          </a:p>
          <a:p/>
          <a:p>
            <a:r>
              <a:t>Success Criteria</a:t>
            </a:r>
          </a:p>
          <a:p/>
          <a:p>
            <a:pPr/>
            <a:r>
              <a:t>Documentation is comprehensive and accurate</a:t>
            </a:r>
          </a:p>
          <a:p>
            <a:pPr/>
            <a:r>
              <a:t>AI-generated content is critically reviewed before acceptance</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Exercise: Refactoring</a:t>
            </a:r>
          </a:p>
        </p:txBody>
      </p:sp>
      <p:sp>
        <p:nvSpPr>
          <p:cNvPr id="3" name="Content Placeholder 2"/>
          <p:cNvSpPr>
            <a:spLocks noGrp="1"/>
          </p:cNvSpPr>
          <p:nvPr>
            <p:ph idx="1"/>
          </p:nvPr>
        </p:nvSpPr>
        <p:spPr/>
        <p:txBody>
          <a:bodyPr wrap="square">
            <a:normAutofit/>
          </a:bodyPr>
          <a:lstStyle/>
          <a:p/>
          <a:p>
            <a:r>
              <a:t>Duration: 30-40 minutes</a:t>
            </a:r>
          </a:p>
          <a:p/>
          <a:p>
            <a:r>
              <a:t>Objectives</a:t>
            </a:r>
          </a:p>
          <a:p/>
          <a:p>
            <a:pPr/>
            <a:r>
              <a:t>Apply refactoring best practices</a:t>
            </a:r>
          </a:p>
          <a:p>
            <a:pPr/>
            <a:r>
              <a:t>Compare alternative implementations</a:t>
            </a:r>
          </a:p>
          <a:p>
            <a:pPr/>
            <a:r>
              <a:t>Evaluate trade-offs before choosing changes</a:t>
            </a:r>
          </a:p>
          <a:p/>
          <a:p>
            <a:r>
              <a:t>Activities</a:t>
            </a:r>
          </a:p>
          <a:p/>
          <a:p>
            <a:r>
              <a:t>1. Refactoring Exercise:</a:t>
            </a:r>
          </a:p>
          <a:p/>
          <a:p>
            <a:pPr/>
            <a:r>
              <a:t>Ask Copilot for alternative implementations</a:t>
            </a:r>
          </a:p>
          <a:p>
            <a:pPr/>
            <a:r>
              <a:t>Compare readability, complexity, and maintainability</a:t>
            </a:r>
          </a:p>
          <a:p>
            <a:pPr/>
            <a:r>
              <a:t>Discuss trade-offs and select best approach</a:t>
            </a:r>
          </a:p>
          <a:p/>
          <a:p>
            <a:r>
              <a:t>Success Criteria</a:t>
            </a:r>
          </a:p>
          <a:p/>
          <a:p>
            <a:pPr/>
            <a:r>
              <a:t>At least one refactoring improvement implemented</a:t>
            </a:r>
          </a:p>
          <a:p>
            <a:pPr/>
            <a:r>
              <a:t>Code quality and maintainability improved</a:t>
            </a:r>
          </a:p>
          <a:p>
            <a:pPr/>
            <a:r>
              <a:t>AI suggestions critically evaluated</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Exercise: Test Coverage Improvement</a:t>
            </a:r>
          </a:p>
        </p:txBody>
      </p:sp>
      <p:sp>
        <p:nvSpPr>
          <p:cNvPr id="3" name="Content Placeholder 2"/>
          <p:cNvSpPr>
            <a:spLocks noGrp="1"/>
          </p:cNvSpPr>
          <p:nvPr>
            <p:ph idx="1"/>
          </p:nvPr>
        </p:nvSpPr>
        <p:spPr/>
        <p:txBody>
          <a:bodyPr wrap="square">
            <a:normAutofit/>
          </a:bodyPr>
          <a:lstStyle/>
          <a:p/>
          <a:p>
            <a:r>
              <a:t>Duration: 30-45 minutes</a:t>
            </a:r>
          </a:p>
          <a:p/>
          <a:p>
            <a:r>
              <a:t>Objectives</a:t>
            </a:r>
          </a:p>
          <a:p>
            <a:pPr/>
            <a:r>
              <a:t>Analyze code coverage reports</a:t>
            </a:r>
          </a:p>
          <a:p>
            <a:pPr/>
            <a:r>
              <a:t>Use Copilot to intelligently add tests</a:t>
            </a:r>
          </a:p>
          <a:p>
            <a:pPr/>
            <a:r>
              <a:t>Achieve target coverage percentage</a:t>
            </a:r>
          </a:p>
          <a:p>
            <a:pPr/>
            <a:r>
              <a:t>Balance quantity vs. quality of tests</a:t>
            </a:r>
          </a:p>
          <a:p/>
          <a:p>
            <a:r>
              <a:t>Activities</a:t>
            </a:r>
          </a:p>
          <a:p>
            <a:r>
              <a:t>1. Review Current Coverage:</a:t>
            </a:r>
          </a:p>
          <a:p>
            <a:r>
              <a:t>  - Run tests with coverage reporting</a:t>
            </a:r>
          </a:p>
          <a:p>
            <a:r>
              <a:t>  - Identify uncovered code paths</a:t>
            </a:r>
          </a:p>
          <a:p>
            <a:r>
              <a:t>  - Analyze coverage percentage by file/class</a:t>
            </a:r>
          </a:p>
          <a:p>
            <a:r>
              <a:t>2. Targeted Test Generation:</a:t>
            </a:r>
          </a:p>
          <a:p>
            <a:r>
              <a:t>  - Prompt: "Add tests to increase code coverage to [X]%"</a:t>
            </a:r>
          </a:p>
          <a:p>
            <a:r>
              <a:t>  - Observe how Copilot identifies gaps</a:t>
            </a:r>
          </a:p>
          <a:p>
            <a:r>
              <a:t>  - Review generated tests for quality</a:t>
            </a:r>
          </a:p>
          <a:p>
            <a:r>
              <a:t>3. Strategic Coverage Improvement:</a:t>
            </a:r>
          </a:p>
          <a:p>
            <a:r>
              <a:t>  - Prompt: "Add tests for edge cases in division operation"</a:t>
            </a:r>
          </a:p>
          <a:p>
            <a:r>
              <a:t>  - Prompt: "Add tests for corner cases like divide by zero"</a:t>
            </a:r>
          </a:p>
          <a:p>
            <a:r>
              <a:t>  - Prompt: "Add integration tests for evaluate arithmetic method"</a:t>
            </a:r>
          </a:p>
          <a:p>
            <a:r>
              <a:t>4. Verify Test Quality:</a:t>
            </a:r>
          </a:p>
          <a:p>
            <a:r>
              <a:t>  - Confirm tests call real implementation code</a:t>
            </a:r>
          </a:p>
          <a:p>
            <a:r>
              <a:t>  - Confirm tests verify expected behavior, not just execution</a:t>
            </a:r>
          </a:p>
          <a:p>
            <a:r>
              <a:t>  - Confirm edge cases are properly handled</a:t>
            </a:r>
          </a:p>
          <a:p>
            <a:r>
              <a:t>5. Re-run Coverage:</a:t>
            </a:r>
          </a:p>
          <a:p>
            <a:r>
              <a:t>  - Execute test suite with coverage</a:t>
            </a:r>
          </a:p>
          <a:p>
            <a:r>
              <a:t>  - Compare before/after percentages</a:t>
            </a:r>
          </a:p>
          <a:p>
            <a:r>
              <a:t>  - Identify remaining gaps</a:t>
            </a:r>
          </a:p>
          <a:p/>
          <a:p>
            <a:r>
              <a:t>Success Criteria</a:t>
            </a:r>
          </a:p>
          <a:p>
            <a:pPr/>
            <a:r>
              <a:t>Code coverage increased by at least 20 percentage points</a:t>
            </a:r>
          </a:p>
          <a:p>
            <a:pPr/>
            <a:r>
              <a:t>All new tests are meaningful and test actual implementation</a:t>
            </a:r>
          </a:p>
          <a:p>
            <a:pPr/>
            <a:r>
              <a:t>Tests include edge cases and error conditions</a:t>
            </a:r>
          </a:p>
          <a:p>
            <a:pPr/>
            <a:r>
              <a:t>Coverage report shows improved metrics</a:t>
            </a:r>
          </a:p>
          <a:p>
            <a:pPr/>
            <a:r>
              <a:t>Understanding of test quality vs. quantity trade-offs</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Exercise: Lab 3 - Test-Driven Development (TDD) with Copilot</a:t>
            </a:r>
          </a:p>
        </p:txBody>
      </p:sp>
      <p:sp>
        <p:nvSpPr>
          <p:cNvPr id="3" name="Content Placeholder 2"/>
          <p:cNvSpPr>
            <a:spLocks noGrp="1"/>
          </p:cNvSpPr>
          <p:nvPr>
            <p:ph idx="1"/>
          </p:nvPr>
        </p:nvSpPr>
        <p:spPr/>
        <p:txBody>
          <a:bodyPr wrap="square">
            <a:normAutofit/>
          </a:bodyPr>
          <a:lstStyle/>
          <a:p/>
          <a:p>
            <a:r>
              <a:t>Duration: 45-60 minutes</a:t>
            </a:r>
          </a:p>
          <a:p/>
          <a:p>
            <a:r>
              <a:t>Objectives</a:t>
            </a:r>
          </a:p>
          <a:p>
            <a:pPr/>
            <a:r>
              <a:t>Practice TDD workflow with AI assistance</a:t>
            </a:r>
          </a:p>
          <a:p>
            <a:pPr/>
            <a:r>
              <a:t>Write failing tests before implementation</a:t>
            </a:r>
          </a:p>
          <a:p>
            <a:pPr/>
            <a:r>
              <a:t>Use tests to drive design decisions</a:t>
            </a:r>
          </a:p>
          <a:p>
            <a:pPr/>
            <a:r>
              <a:t>Understand red-green-refactor cycle</a:t>
            </a:r>
          </a:p>
          <a:p/>
          <a:p>
            <a:r>
              <a:t>Activities</a:t>
            </a:r>
          </a:p>
          <a:p>
            <a:r>
              <a:t>1. Define New Feature:</a:t>
            </a:r>
          </a:p>
          <a:p>
            <a:r>
              <a:t>  - Choose a feature (for example, memory operations for calculator)</a:t>
            </a:r>
          </a:p>
          <a:p>
            <a:r>
              <a:t>  - Store current result (ANS/answer functionality)</a:t>
            </a:r>
          </a:p>
          <a:p>
            <a:r>
              <a:t>  - Recall previous result</a:t>
            </a:r>
          </a:p>
          <a:p>
            <a:r>
              <a:t>  - Handle "ANS + 5" style operations</a:t>
            </a:r>
          </a:p>
          <a:p>
            <a:r>
              <a:t>2. Write Failing Tests First:</a:t>
            </a:r>
          </a:p>
          <a:p>
            <a:r>
              <a:t>  - Prompt: "Using TDD, create tests for a memory/answer feature in the calculator. DO NOT implement the feature yet."</a:t>
            </a:r>
          </a:p>
          <a:p>
            <a:r>
              <a:t>  - Review generated tests</a:t>
            </a:r>
          </a:p>
          <a:p>
            <a:r>
              <a:t>  - Verify tests reference methods that do not exist yet</a:t>
            </a:r>
          </a:p>
          <a:p>
            <a:r>
              <a:t>3. Run Tests (Expect Failures):</a:t>
            </a:r>
          </a:p>
          <a:p>
            <a:r>
              <a:t>  - Execute test suite</a:t>
            </a:r>
          </a:p>
          <a:p>
            <a:r>
              <a:t>  - Observe compilation errors or test failures</a:t>
            </a:r>
          </a:p>
          <a:p>
            <a:r>
              <a:t>  - Document what is missing</a:t>
            </a:r>
          </a:p>
          <a:p>
            <a:r>
              <a:t>4. Implement Feature to Pass Tests:</a:t>
            </a:r>
          </a:p>
          <a:p>
            <a:r>
              <a:t>  - Prompt: "Implement the memory/answer feature to make the tests pass"</a:t>
            </a:r>
          </a:p>
          <a:p>
            <a:r>
              <a:t>  - Review generated implementation</a:t>
            </a:r>
          </a:p>
          <a:p>
            <a:r>
              <a:t>  - Run tests again</a:t>
            </a:r>
          </a:p>
          <a:p>
            <a:r>
              <a:t>  - Verify all tests now pass</a:t>
            </a:r>
          </a:p>
          <a:p>
            <a:r>
              <a:t>5. Refactor:</a:t>
            </a:r>
          </a:p>
          <a:p>
            <a:r>
              <a:t>  - With tests passing, ask for improvements</a:t>
            </a:r>
          </a:p>
          <a:p>
            <a:r>
              <a:t>  - Prompt: "Refactor the answer implementation for better readability"</a:t>
            </a:r>
          </a:p>
          <a:p>
            <a:r>
              <a:t>  - Verify tests still pass after refactoring</a:t>
            </a:r>
          </a:p>
          <a:p/>
          <a:p>
            <a:r>
              <a:t>Success Criteria</a:t>
            </a:r>
          </a:p>
          <a:p>
            <a:pPr/>
            <a:r>
              <a:t>Tests written before implementation</a:t>
            </a:r>
          </a:p>
          <a:p>
            <a:pPr/>
            <a:r>
              <a:t>Initial test run shows failures (red phase)</a:t>
            </a:r>
          </a:p>
          <a:p>
            <a:pPr/>
            <a:r>
              <a:t>Implementation makes all tests pass (green phase)</a:t>
            </a:r>
          </a:p>
          <a:p>
            <a:pPr/>
            <a:r>
              <a:t>Code refactored while maintaining passing tests</a:t>
            </a:r>
          </a:p>
          <a:p>
            <a:pPr/>
            <a:r>
              <a:t>Understanding of TDD benefits and workflow</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AI-Assisted CI/CD Pipelines</a:t>
            </a:r>
          </a:p>
        </p:txBody>
      </p:sp>
      <p:sp>
        <p:nvSpPr>
          <p:cNvPr id="3" name="Content Placeholder 2"/>
          <p:cNvSpPr>
            <a:spLocks noGrp="1"/>
          </p:cNvSpPr>
          <p:nvPr>
            <p:ph idx="1"/>
          </p:nvPr>
        </p:nvSpPr>
        <p:spPr/>
        <p:txBody>
          <a:bodyPr wrap="square">
            <a:normAutofit/>
          </a:bodyPr>
          <a:lstStyle/>
          <a:p/>
          <a:p>
            <a:r>
              <a:t>GitHub Actions YAML generation</a:t>
            </a:r>
          </a:p>
          <a:p>
            <a:r>
              <a:t>Build automation with AI</a:t>
            </a:r>
          </a:p>
          <a:p>
            <a:r>
              <a:t>Coverage thresholds</a:t>
            </a:r>
          </a:p>
          <a:p>
            <a:r>
              <a:t>Pipeline maintenance and evolution</a:t>
            </a:r>
          </a:p>
          <a:p>
            <a:r>
              <a:t>Exercise: Generate a pipeline from scratch</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Why Pipelines Are Hard</a:t>
            </a:r>
          </a:p>
        </p:txBody>
      </p:sp>
      <p:sp>
        <p:nvSpPr>
          <p:cNvPr id="3" name="Content Placeholder 2"/>
          <p:cNvSpPr>
            <a:spLocks noGrp="1"/>
          </p:cNvSpPr>
          <p:nvPr>
            <p:ph idx="1"/>
          </p:nvPr>
        </p:nvSpPr>
        <p:spPr/>
        <p:txBody>
          <a:bodyPr wrap="square">
            <a:normAutofit/>
          </a:bodyPr>
          <a:lstStyle/>
          <a:p/>
          <a:p>
            <a:r>
              <a:t>YAML syntax is unforgiving</a:t>
            </a:r>
          </a:p>
          <a:p>
            <a:r>
              <a:t>Action versions change constantly</a:t>
            </a:r>
          </a:p>
          <a:p>
            <a:r>
              <a:t>Environment variables, secrets, and caching rules interact unexpectedly</a:t>
            </a:r>
          </a:p>
          <a:p>
            <a:r>
              <a:t>Coverage gates, linting, and deployment steps differ per project</a:t>
            </a:r>
          </a:p>
          <a:p>
            <a:r>
              <a:t>Copy-paste drift between projects accumulates silently</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What AI Brings to CI/CD</a:t>
            </a:r>
          </a:p>
        </p:txBody>
      </p:sp>
      <p:sp>
        <p:nvSpPr>
          <p:cNvPr id="3" name="Content Placeholder 2"/>
          <p:cNvSpPr>
            <a:spLocks noGrp="1"/>
          </p:cNvSpPr>
          <p:nvPr>
            <p:ph idx="1"/>
          </p:nvPr>
        </p:nvSpPr>
        <p:spPr/>
        <p:txBody>
          <a:bodyPr wrap="square">
            <a:normAutofit/>
          </a:bodyPr>
          <a:lstStyle/>
          <a:p/>
          <a:p>
            <a:r>
              <a:t>```text</a:t>
            </a:r>
          </a:p>
          <a:p>
            <a:r>
              <a:t>You → intent           AI → working YAML</a:t>
            </a:r>
          </a:p>
          <a:p>
            <a:r>
              <a:t>   "run tests on PR"        on: [pull_request]</a:t>
            </a:r>
          </a:p>
          <a:p>
            <a:r>
              <a:t>                            jobs: test: ...</a:t>
            </a:r>
          </a:p>
          <a:p>
            <a:r>
              <a:t>```</a:t>
            </a:r>
          </a:p>
          <a:p/>
          <a:p>
            <a:r>
              <a:t>Generate pipelines from plain English</a:t>
            </a:r>
          </a:p>
          <a:p>
            <a:r>
              <a:t>Explain unfamiliar pipeline syntax</a:t>
            </a:r>
          </a:p>
          <a:p>
            <a:r>
              <a:t>Diagnose failing workflow runs from logs</a:t>
            </a:r>
          </a:p>
          <a:p>
            <a:r>
              <a:t>Suggest caching, matrix, and concurrency improvements</a:t>
            </a:r>
          </a:p>
          <a:p>
            <a:r>
              <a:t>Keep actions pinned and up to date</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GitHub Actions YAML Generation</a:t>
            </a:r>
          </a:p>
        </p:txBody>
      </p:sp>
      <p:sp>
        <p:nvSpPr>
          <p:cNvPr id="3" name="Content Placeholder 2"/>
          <p:cNvSpPr>
            <a:spLocks noGrp="1"/>
          </p:cNvSpPr>
          <p:nvPr>
            <p:ph idx="1"/>
          </p:nvPr>
        </p:nvSpPr>
        <p:spPr/>
        <p:txBody>
          <a:bodyPr wrap="square">
            <a:normAutofit/>
          </a:bodyPr>
          <a:lstStyle/>
          <a:p/>
          <a:p>
            <a:r>
              <a:t>Ask Copilot in chat or inline:</a:t>
            </a:r>
          </a:p>
          <a:p/>
          <a:p>
            <a:r>
              <a:t>```text</a:t>
            </a:r>
          </a:p>
          <a:p>
            <a:r>
              <a:t>Prompt: "Create a GitHub Actions workflow that runs</a:t>
            </a:r>
          </a:p>
          <a:p>
            <a:r>
              <a:t>dotnet test on every pull request targeting main,</a:t>
            </a:r>
          </a:p>
          <a:p>
            <a:r>
              <a:t>uploads a code coverage report, and fails if</a:t>
            </a:r>
          </a:p>
          <a:p>
            <a:r>
              <a:t>coverage drops below 80%."</a:t>
            </a:r>
          </a:p>
          <a:p>
            <a:r>
              <a:t>```</a:t>
            </a:r>
          </a:p>
          <a:p/>
          <a:p>
            <a:r>
              <a:t>Copilot generates:</a:t>
            </a:r>
          </a:p>
          <a:p/>
          <a:p>
            <a:pPr/>
            <a:r>
              <a:t>Trigger block (`on:`)</a:t>
            </a:r>
          </a:p>
          <a:p>
            <a:pPr/>
            <a:r>
              <a:t>Job matrix</a:t>
            </a:r>
          </a:p>
          <a:p>
            <a:pPr/>
            <a:r>
              <a:t>Step sequence</a:t>
            </a:r>
          </a:p>
          <a:p>
            <a:pPr/>
            <a:r>
              <a:t>Coverage upload + threshold enforcement</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Anatomy of an AI-Generated Workflow</a:t>
            </a:r>
          </a:p>
        </p:txBody>
      </p:sp>
      <p:sp>
        <p:nvSpPr>
          <p:cNvPr id="3" name="Content Placeholder 2"/>
          <p:cNvSpPr>
            <a:spLocks noGrp="1"/>
          </p:cNvSpPr>
          <p:nvPr>
            <p:ph idx="1"/>
          </p:nvPr>
        </p:nvSpPr>
        <p:spPr/>
        <p:txBody>
          <a:bodyPr wrap="square">
            <a:normAutofit/>
          </a:bodyPr>
          <a:lstStyle/>
          <a:p/>
          <a:p>
            <a:r>
              <a:t>```yaml</a:t>
            </a:r>
          </a:p>
          <a:p>
            <a:r>
              <a:t>name: CI</a:t>
            </a:r>
          </a:p>
          <a:p/>
          <a:p>
            <a:r>
              <a:t>on:</a:t>
            </a:r>
          </a:p>
          <a:p>
            <a:r>
              <a:t>  pull_request:</a:t>
            </a:r>
          </a:p>
          <a:p>
            <a:r>
              <a:t>    branches: [main]</a:t>
            </a:r>
          </a:p>
          <a:p/>
          <a:p>
            <a:r>
              <a:t>jobs:</a:t>
            </a:r>
          </a:p>
          <a:p>
            <a:r>
              <a:t>  build-and-test:</a:t>
            </a:r>
          </a:p>
          <a:p>
            <a:r>
              <a:t>    runs-on: ubuntu-latest</a:t>
            </a:r>
          </a:p>
          <a:p>
            <a:r>
              <a:t>    steps:</a:t>
            </a:r>
          </a:p>
          <a:p>
            <a:r>
              <a:t>      - uses: actions/checkout@v4</a:t>
            </a:r>
          </a:p>
          <a:p>
            <a:r>
              <a:t>      - uses: actions/setup-dotnet@v4</a:t>
            </a:r>
          </a:p>
          <a:p>
            <a:r>
              <a:t>        with:</a:t>
            </a:r>
          </a:p>
          <a:p>
            <a:r>
              <a:t>          dotnet-version: "8.x"</a:t>
            </a:r>
          </a:p>
          <a:p>
            <a:r>
              <a:t>      - run: dotnet restore</a:t>
            </a:r>
          </a:p>
          <a:p>
            <a:r>
              <a:t>      - run: dotnet build --no-restore</a:t>
            </a:r>
          </a:p>
          <a:p>
            <a:r>
              <a:t>      - run: dotnet test --no-build</a:t>
            </a:r>
          </a:p>
          <a:p>
            <a:r>
              <a:t>          --collect:"XPlat Code Coverage"</a:t>
            </a:r>
          </a:p>
          <a:p>
            <a:r>
              <a:t>```</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Coverage Thresholds</a:t>
            </a:r>
          </a:p>
        </p:txBody>
      </p:sp>
      <p:sp>
        <p:nvSpPr>
          <p:cNvPr id="3" name="Content Placeholder 2"/>
          <p:cNvSpPr>
            <a:spLocks noGrp="1"/>
          </p:cNvSpPr>
          <p:nvPr>
            <p:ph idx="1"/>
          </p:nvPr>
        </p:nvSpPr>
        <p:spPr/>
        <p:txBody>
          <a:bodyPr wrap="square">
            <a:normAutofit/>
          </a:bodyPr>
          <a:lstStyle/>
          <a:p/>
          <a:p>
            <a:r>
              <a:t>Coverage gates enforce quality — AI helps configure them correctly</a:t>
            </a:r>
          </a:p>
          <a:p/>
          <a:p>
            <a:r>
              <a:t>```yaml</a:t>
            </a:r>
          </a:p>
          <a:p>
            <a:pPr/>
            <a:r>
              <a:t>name: Test with coverage</a:t>
            </a:r>
          </a:p>
          <a:p>
            <a:r>
              <a:t>  run: |</a:t>
            </a:r>
          </a:p>
          <a:p>
            <a:r>
              <a:t>    dotnet test --collect:"XPlat Code Coverage" \</a:t>
            </a:r>
          </a:p>
          <a:p>
            <a:r>
              <a:t>      -- DataCollectionRunSettings.DataCollectors \</a:t>
            </a:r>
          </a:p>
          <a:p>
            <a:r>
              <a:t>         .DataCollector.Configuration.Threshold=80</a:t>
            </a:r>
          </a:p>
          <a:p/>
          <a:p>
            <a:pPr/>
            <a:r>
              <a:t>name: Upload coverage</a:t>
            </a:r>
          </a:p>
          <a:p>
            <a:r>
              <a:t>  uses: codecov/codecov-action@v4</a:t>
            </a:r>
          </a:p>
          <a:p>
            <a:r>
              <a:t>  with:</a:t>
            </a:r>
          </a:p>
          <a:p>
            <a:r>
              <a:t>    fail_ci_if_error: true</a:t>
            </a:r>
          </a:p>
          <a:p>
            <a:r>
              <a:t>    threshold: 80</a:t>
            </a:r>
          </a:p>
          <a:p>
            <a:r>
              <a:t>```</a:t>
            </a:r>
          </a:p>
          <a:p/>
          <a:p>
            <a:r>
              <a:t>Ask Copilot: _"How do I fail the build if branch coverage drops below 80%?"_</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Build Automation Patterns</a:t>
            </a:r>
          </a:p>
        </p:txBody>
      </p:sp>
      <p:sp>
        <p:nvSpPr>
          <p:cNvPr id="3" name="Content Placeholder 2"/>
          <p:cNvSpPr>
            <a:spLocks noGrp="1"/>
          </p:cNvSpPr>
          <p:nvPr>
            <p:ph idx="1"/>
          </p:nvPr>
        </p:nvSpPr>
        <p:spPr/>
        <p:txBody>
          <a:bodyPr wrap="square">
            <a:normAutofit/>
          </a:bodyPr>
          <a:lstStyle/>
          <a:p/>
          <a:p>
            <a:r>
              <a:t>AI can generate: matrix builds, dependency caching, artifact upload</a:t>
            </a:r>
          </a:p>
          <a:p/>
          <a:p>
            <a:r>
              <a:t>```yaml</a:t>
            </a:r>
          </a:p>
          <a:p>
            <a:r>
              <a:t>strategy:</a:t>
            </a:r>
          </a:p>
          <a:p>
            <a:r>
              <a:t>  matrix:</a:t>
            </a:r>
          </a:p>
          <a:p>
            <a:r>
              <a:t>    os: [ubuntu-latest, windows-latest]</a:t>
            </a:r>
          </a:p>
          <a:p>
            <a:r>
              <a:t>    dotnet: ["7.x", "8.x"]</a:t>
            </a:r>
          </a:p>
          <a:p/>
          <a:p>
            <a:r>
              <a:t>steps:</a:t>
            </a:r>
          </a:p>
          <a:p>
            <a:r>
              <a:t>  - uses: actions/cache@v4</a:t>
            </a:r>
          </a:p>
          <a:p>
            <a:r>
              <a:t>    with:</a:t>
            </a:r>
          </a:p>
          <a:p>
            <a:r>
              <a:t>      path: ~/.nuget/packages</a:t>
            </a:r>
          </a:p>
          <a:p>
            <a:r>
              <a:t>      key: ${{ runner.os }}-nuget-</a:t>
            </a:r>
          </a:p>
          <a:p>
            <a:r>
              <a:t>        ${{ hashFiles('**/*.csproj') }}</a:t>
            </a:r>
          </a:p>
          <a:p/>
          <a:p>
            <a:r>
              <a:t>  - uses: actions/upload-artifact@v4</a:t>
            </a:r>
          </a:p>
          <a:p>
            <a:r>
              <a:t>    with:</a:t>
            </a:r>
          </a:p>
          <a:p>
            <a:r>
              <a:t>      name: test-results</a:t>
            </a:r>
          </a:p>
          <a:p>
            <a:r>
              <a:t>      path: TestResults/</a:t>
            </a:r>
          </a:p>
          <a:p>
            <a:r>
              <a:t>```</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Maintaining Pipelines with AI</a:t>
            </a:r>
          </a:p>
        </p:txBody>
      </p:sp>
      <p:sp>
        <p:nvSpPr>
          <p:cNvPr id="3" name="Content Placeholder 2"/>
          <p:cNvSpPr>
            <a:spLocks noGrp="1"/>
          </p:cNvSpPr>
          <p:nvPr>
            <p:ph idx="1"/>
          </p:nvPr>
        </p:nvSpPr>
        <p:spPr/>
        <p:txBody>
          <a:bodyPr wrap="square">
            <a:normAutofit/>
          </a:bodyPr>
          <a:lstStyle/>
          <a:p/>
          <a:p>
            <a:r>
              <a:t>Pipelines rot — actions deprecate, runners change, dependencies drift</a:t>
            </a:r>
          </a:p>
          <a:p/>
          <a:p>
            <a:r>
              <a:t>Ask Copilot to:</a:t>
            </a:r>
          </a:p>
          <a:p/>
          <a:p>
            <a:pPr/>
            <a:r>
              <a:t>Explain a failing run from pasted log output</a:t>
            </a:r>
          </a:p>
          <a:p>
            <a:pPr/>
            <a:r>
              <a:t>Upgrade pinned action versions safely</a:t>
            </a:r>
          </a:p>
          <a:p>
            <a:pPr/>
            <a:r>
              <a:t>Refactor a 300-line workflow into reusable workflows</a:t>
            </a:r>
          </a:p>
          <a:p>
            <a:pPr/>
            <a:r>
              <a:t>Add a deployment stage to an existing CI workflow</a:t>
            </a:r>
          </a:p>
          <a:p/>
          <a:p>
            <a:r>
              <a:t>_"This workflow is failing with exit code 128 — here is the log. What is wrong?"_</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Reusable Workflows</a:t>
            </a:r>
          </a:p>
        </p:txBody>
      </p:sp>
      <p:sp>
        <p:nvSpPr>
          <p:cNvPr id="3" name="Content Placeholder 2"/>
          <p:cNvSpPr>
            <a:spLocks noGrp="1"/>
          </p:cNvSpPr>
          <p:nvPr>
            <p:ph idx="1"/>
          </p:nvPr>
        </p:nvSpPr>
        <p:spPr/>
        <p:txBody>
          <a:bodyPr wrap="square">
            <a:normAutofit/>
          </a:bodyPr>
          <a:lstStyle/>
          <a:p/>
          <a:p>
            <a:r>
              <a:t>AI generates caller and callee in one prompt</a:t>
            </a:r>
          </a:p>
          <a:p/>
          <a:p>
            <a:r>
              <a:t>```yaml</a:t>
            </a:r>
          </a:p>
          <a:p>
            <a:r>
              <a:t># .github/workflows/reusable-test.yml</a:t>
            </a:r>
          </a:p>
          <a:p>
            <a:r>
              <a:t>on:</a:t>
            </a:r>
          </a:p>
          <a:p>
            <a:r>
              <a:t>  workflow_call:</a:t>
            </a:r>
          </a:p>
          <a:p>
            <a:r>
              <a:t>    inputs:</a:t>
            </a:r>
          </a:p>
          <a:p>
            <a:r>
              <a:t>      dotnet-version:</a:t>
            </a:r>
          </a:p>
          <a:p>
            <a:r>
              <a:t>        required: true</a:t>
            </a:r>
          </a:p>
          <a:p>
            <a:r>
              <a:t>        type: string</a:t>
            </a:r>
          </a:p>
          <a:p/>
          <a:p>
            <a:r>
              <a:t>jobs:</a:t>
            </a:r>
          </a:p>
          <a:p>
            <a:r>
              <a:t>  test:</a:t>
            </a:r>
          </a:p>
          <a:p>
            <a:r>
              <a:t>    runs-on: ubuntu-latest</a:t>
            </a:r>
          </a:p>
          <a:p>
            <a:r>
              <a:t>    steps:</a:t>
            </a:r>
          </a:p>
          <a:p>
            <a:r>
              <a:t>      - uses: actions/checkout@v4</a:t>
            </a:r>
          </a:p>
          <a:p>
            <a:r>
              <a:t>      - uses: actions/setup-dotnet@v4</a:t>
            </a:r>
          </a:p>
          <a:p>
            <a:r>
              <a:t>        with:</a:t>
            </a:r>
          </a:p>
          <a:p>
            <a:r>
              <a:t>          dotnet-version: ${{ inputs.dotnet-version }}</a:t>
            </a:r>
          </a:p>
          <a:p>
            <a:r>
              <a:t>      - run: dotnet test</a:t>
            </a:r>
          </a:p>
          <a:p>
            <a:r>
              <a:t>```</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Secrets, Permissions, and Security</a:t>
            </a:r>
          </a:p>
        </p:txBody>
      </p:sp>
      <p:sp>
        <p:nvSpPr>
          <p:cNvPr id="3" name="Content Placeholder 2"/>
          <p:cNvSpPr>
            <a:spLocks noGrp="1"/>
          </p:cNvSpPr>
          <p:nvPr>
            <p:ph idx="1"/>
          </p:nvPr>
        </p:nvSpPr>
        <p:spPr/>
        <p:txBody>
          <a:bodyPr wrap="square">
            <a:normAutofit/>
          </a:bodyPr>
          <a:lstStyle/>
          <a:p/>
          <a:p>
            <a:r>
              <a:t>AI assists but YOU own security decisions</a:t>
            </a:r>
          </a:p>
          <a:p/>
          <a:p>
            <a:r>
              <a:t>```yaml</a:t>
            </a:r>
          </a:p>
          <a:p>
            <a:r>
              <a:t>permissions:</a:t>
            </a:r>
          </a:p>
          <a:p>
            <a:r>
              <a:t>  contents: read</a:t>
            </a:r>
          </a:p>
          <a:p>
            <a:r>
              <a:t>  checks: write # required for test reporters</a:t>
            </a:r>
          </a:p>
          <a:p>
            <a:r>
              <a:t>  pull-requests: write # required for PR comments</a:t>
            </a:r>
          </a:p>
          <a:p/>
          <a:p>
            <a:r>
              <a:t>env:</a:t>
            </a:r>
          </a:p>
          <a:p>
            <a:r>
              <a:t>  SONAR_TOKEN: ${{ secrets.SONAR_TOKEN }}</a:t>
            </a:r>
          </a:p>
          <a:p>
            <a:r>
              <a:t>```</a:t>
            </a:r>
          </a:p>
          <a:p/>
          <a:p>
            <a:r>
              <a:t>Ask AI: _"What is the minimum permissions block for uploading coverage?"_</a:t>
            </a:r>
          </a:p>
          <a:p>
            <a:r>
              <a:t>Review AI output — it cannot know your org's secret names</a:t>
            </a:r>
          </a:p>
          <a:p>
            <a:r>
              <a:t>Never commit secrets; use `${{ secrets.NAME }}`</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From Zero to Pipeline: Live Workflow</a:t>
            </a:r>
          </a:p>
        </p:txBody>
      </p:sp>
      <p:sp>
        <p:nvSpPr>
          <p:cNvPr id="3" name="Content Placeholder 2"/>
          <p:cNvSpPr>
            <a:spLocks noGrp="1"/>
          </p:cNvSpPr>
          <p:nvPr>
            <p:ph idx="1"/>
          </p:nvPr>
        </p:nvSpPr>
        <p:spPr/>
        <p:txBody>
          <a:bodyPr wrap="square">
            <a:normAutofit/>
          </a:bodyPr>
          <a:lstStyle/>
          <a:p/>
          <a:p>
            <a:r>
              <a:t>```text</a:t>
            </a:r>
          </a:p>
          <a:p>
            <a:r>
              <a:t>1. Describe your stack to Copilot</a:t>
            </a:r>
          </a:p>
          <a:p>
            <a:r>
              <a:t>   "Node 20, Vitest, Playwright e2e, deploys to Azure"</a:t>
            </a:r>
          </a:p>
          <a:p/>
          <a:p>
            <a:r>
              <a:t>2. Ask for a complete CI workflow</a:t>
            </a:r>
          </a:p>
          <a:p>
            <a:r>
              <a:t>   → Copilot generates trigger, jobs, steps</a:t>
            </a:r>
          </a:p>
          <a:p/>
          <a:p>
            <a:r>
              <a:t>3. Ask for coverage enforcement</a:t>
            </a:r>
          </a:p>
          <a:p>
            <a:r>
              <a:t>   → Copilot adds threshold + upload steps</a:t>
            </a:r>
          </a:p>
          <a:p/>
          <a:p>
            <a:r>
              <a:t>4. Ask "what caching should I add?"</a:t>
            </a:r>
          </a:p>
          <a:p>
            <a:r>
              <a:t>   → Copilot adds node_modules cache with correct key</a:t>
            </a:r>
          </a:p>
          <a:p/>
          <a:p>
            <a:r>
              <a:t>5. Paste a failure log and ask "why?"</a:t>
            </a:r>
          </a:p>
          <a:p>
            <a:r>
              <a:t>   → Copilot diagnoses in seconds</a:t>
            </a:r>
          </a:p>
          <a:p>
            <a:r>
              <a:t>```</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Hands-On Exercise</a:t>
            </a:r>
          </a:p>
        </p:txBody>
      </p:sp>
      <p:sp>
        <p:nvSpPr>
          <p:cNvPr id="3" name="Content Placeholder 2"/>
          <p:cNvSpPr>
            <a:spLocks noGrp="1"/>
          </p:cNvSpPr>
          <p:nvPr>
            <p:ph idx="1"/>
          </p:nvPr>
        </p:nvSpPr>
        <p:spPr/>
        <p:txBody>
          <a:bodyPr wrap="square">
            <a:normAutofit/>
          </a:bodyPr>
          <a:lstStyle/>
          <a:p/>
          <a:p>
            <a:r>
              <a:rPr b="1"/>
              <a:t>Goal</a:t>
            </a:r>
            <a:r>
              <a:t>: Generate a complete CI pipeline for a provided sample repo</a:t>
            </a:r>
          </a:p>
          <a:p/>
          <a:p>
            <a:r>
              <a:t>1. Open GitHub Copilot Chat in VS Code</a:t>
            </a:r>
          </a:p>
          <a:p>
            <a:r>
              <a:t>2. Ask: _"Create a GitHub Actions CI workflow for this project"_</a:t>
            </a:r>
          </a:p>
          <a:p>
            <a:r>
              <a:t>3. Review and commit the generated YAML</a:t>
            </a:r>
          </a:p>
          <a:p>
            <a:r>
              <a:t>4. Add a coverage threshold at 70%</a:t>
            </a:r>
          </a:p>
          <a:p>
            <a:r>
              <a:t>5. Ask Copilot to explain one step you do not understand</a:t>
            </a:r>
          </a:p>
          <a:p>
            <a:r>
              <a:t>6. </a:t>
            </a:r>
            <a:r>
              <a:rPr b="1"/>
              <a:t>Bonus</a:t>
            </a:r>
            <a:r>
              <a:t>: Add a matrix build for two Node versions</a:t>
            </a:r>
          </a:p>
          <a:p/>
          <a:p>
            <a:r>
              <a:t>_Sample repo link provided by instructor_</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Key Takeaways</a:t>
            </a:r>
          </a:p>
        </p:txBody>
      </p:sp>
      <p:sp>
        <p:nvSpPr>
          <p:cNvPr id="3" name="Content Placeholder 2"/>
          <p:cNvSpPr>
            <a:spLocks noGrp="1"/>
          </p:cNvSpPr>
          <p:nvPr>
            <p:ph idx="1"/>
          </p:nvPr>
        </p:nvSpPr>
        <p:spPr/>
        <p:txBody>
          <a:bodyPr wrap="square">
            <a:normAutofit/>
          </a:bodyPr>
          <a:lstStyle/>
          <a:p/>
          <a:p>
            <a:r>
              <a:t>AI dramatically shortens the pipeline feedback loop</a:t>
            </a:r>
          </a:p>
          <a:p>
            <a:r>
              <a:t>Generated YAML is a starting point — review every line</a:t>
            </a:r>
          </a:p>
          <a:p>
            <a:r>
              <a:t>Coverage thresholds belong in both the test runner _and_ the upload action</a:t>
            </a:r>
          </a:p>
          <a:p>
            <a:r>
              <a:t>Reusable workflows reduce drift across repositories</a:t>
            </a:r>
          </a:p>
          <a:p>
            <a:r>
              <a:t>Maintenance conversations are as valuable as generation</a:t>
            </a:r>
          </a:p>
          <a:p>
            <a:r>
              <a:t>You own the pipeline; AI is your co-pilot</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AI-Assisted GitHub Pull Requests</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The Pull Request Lifecycle</a:t>
            </a:r>
          </a:p>
        </p:txBody>
      </p:sp>
      <p:graphicFrame>
        <p:nvGraphicFramePr>
          <p:cNvPr id="3" name="Table 2"/>
          <p:cNvGraphicFramePr>
            <a:graphicFrameLocks noGrp="1"/>
          </p:cNvGraphicFramePr>
          <p:nvPr/>
        </p:nvGraphicFramePr>
        <p:xfrm>
          <a:off x="457200" y="1828800"/>
          <a:ext cx="8229600" cy="2743200"/>
        </p:xfrm>
        <a:graphic>
          <a:graphicData uri="http://schemas.openxmlformats.org/drawingml/2006/table">
            <a:tbl>
              <a:tblPr firstRow="1" bandRow="1">
                <a:tableStyleId>{5C22544A-7EE6-4342-B048-85BDC9FD1C3A}</a:tableStyleId>
              </a:tblPr>
              <a:tblGrid>
                <a:gridCol w="4114800"/>
                <a:gridCol w="4114800"/>
              </a:tblGrid>
              <a:tr h="457200">
                <a:tc>
                  <a:txBody>
                    <a:bodyPr/>
                    <a:lstStyle/>
                    <a:p>
                      <a:pPr>
                        <a:defRPr b="1" sz="1296"/>
                      </a:pPr>
                      <a:r>
                        <a:t>Stage</a:t>
                      </a:r>
                    </a:p>
                  </a:txBody>
                  <a:tcPr/>
                </a:tc>
                <a:tc>
                  <a:txBody>
                    <a:bodyPr/>
                    <a:lstStyle/>
                    <a:p>
                      <a:pPr>
                        <a:defRPr b="1" sz="1296"/>
                      </a:pPr>
                      <a:r>
                        <a:t>AI Assistance</a:t>
                      </a:r>
                    </a:p>
                  </a:txBody>
                  <a:tcPr/>
                </a:tc>
              </a:tr>
              <a:tr h="457200">
                <a:tc>
                  <a:txBody>
                    <a:bodyPr/>
                    <a:lstStyle/>
                    <a:p>
                      <a:r>
                        <a:t>Writing code</a:t>
                      </a:r>
                    </a:p>
                  </a:txBody>
                  <a:tcPr/>
                </a:tc>
                <a:tc>
                  <a:txBody>
                    <a:bodyPr/>
                    <a:lstStyle/>
                    <a:p>
                      <a:r>
                        <a:t>Copilot completions</a:t>
                      </a:r>
                    </a:p>
                  </a:txBody>
                  <a:tcPr/>
                </a:tc>
              </a:tr>
              <a:tr h="457200">
                <a:tc>
                  <a:txBody>
                    <a:bodyPr/>
                    <a:lstStyle/>
                    <a:p>
                      <a:r>
                        <a:t>Drafting the PR</a:t>
                      </a:r>
                    </a:p>
                  </a:txBody>
                  <a:tcPr/>
                </a:tc>
                <a:tc>
                  <a:txBody>
                    <a:bodyPr/>
                    <a:lstStyle/>
                    <a:p>
                      <a:r>
                        <a:t>Generated description</a:t>
                      </a:r>
                    </a:p>
                  </a:txBody>
                  <a:tcPr/>
                </a:tc>
              </a:tr>
              <a:tr h="457200">
                <a:tc>
                  <a:txBody>
                    <a:bodyPr/>
                    <a:lstStyle/>
                    <a:p>
                      <a:r>
                        <a:t>Code review</a:t>
                      </a:r>
                    </a:p>
                  </a:txBody>
                  <a:tcPr/>
                </a:tc>
                <a:tc>
                  <a:txBody>
                    <a:bodyPr/>
                    <a:lstStyle/>
                    <a:p>
                      <a:r>
                        <a:t>Inline suggestions &amp; summaries</a:t>
                      </a:r>
                    </a:p>
                  </a:txBody>
                  <a:tcPr/>
                </a:tc>
              </a:tr>
              <a:tr h="457200">
                <a:tc>
                  <a:txBody>
                    <a:bodyPr/>
                    <a:lstStyle/>
                    <a:p>
                      <a:r>
                        <a:t>Addressing feedback</a:t>
                      </a:r>
                    </a:p>
                  </a:txBody>
                  <a:tcPr/>
                </a:tc>
                <a:tc>
                  <a:txBody>
                    <a:bodyPr/>
                    <a:lstStyle/>
                    <a:p>
                      <a:r>
                        <a:t>Guided fixes</a:t>
                      </a:r>
                    </a:p>
                  </a:txBody>
                  <a:tcPr/>
                </a:tc>
              </a:tr>
              <a:tr h="457200">
                <a:tc>
                  <a:txBody>
                    <a:bodyPr/>
                    <a:lstStyle/>
                    <a:p>
                      <a:r>
                        <a:t>Final merge</a:t>
                      </a:r>
                    </a:p>
                  </a:txBody>
                  <a:tcPr/>
                </a:tc>
                <a:tc>
                  <a:txBody>
                    <a:bodyPr/>
                    <a:lstStyle/>
                    <a:p>
                      <a:r>
                        <a:t>Automated checks</a:t>
                      </a:r>
                    </a:p>
                  </a:txBody>
                  <a:tcPr/>
                </a:tc>
              </a:tr>
            </a:tbl>
          </a:graphicData>
        </a:graphic>
      </p:graphicFrame>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AI-Generated PR Descriptions</a:t>
            </a:r>
          </a:p>
        </p:txBody>
      </p:sp>
      <p:sp>
        <p:nvSpPr>
          <p:cNvPr id="3" name="Content Placeholder 2"/>
          <p:cNvSpPr>
            <a:spLocks noGrp="1"/>
          </p:cNvSpPr>
          <p:nvPr>
            <p:ph idx="1"/>
          </p:nvPr>
        </p:nvSpPr>
        <p:spPr/>
        <p:txBody>
          <a:bodyPr wrap="square">
            <a:normAutofit/>
          </a:bodyPr>
          <a:lstStyle/>
          <a:p/>
          <a:p>
            <a:r>
              <a:t>GitHub Copilot can </a:t>
            </a:r>
            <a:r>
              <a:rPr b="1"/>
              <a:t>draft your PR description</a:t>
            </a:r>
            <a:r>
              <a:t> based on your diff:</a:t>
            </a:r>
          </a:p>
          <a:p/>
          <a:p>
            <a:pPr/>
            <a:r>
              <a:t>Summarizes </a:t>
            </a:r>
            <a:r>
              <a:rPr b="1"/>
              <a:t>what changed</a:t>
            </a:r>
            <a:r>
              <a:t> and </a:t>
            </a:r>
            <a:r>
              <a:rPr b="1"/>
              <a:t>why</a:t>
            </a:r>
          </a:p>
          <a:p>
            <a:pPr/>
            <a:r>
              <a:t>Suggests </a:t>
            </a:r>
            <a:r>
              <a:rPr b="1"/>
              <a:t>testing instructions</a:t>
            </a:r>
          </a:p>
          <a:p>
            <a:pPr/>
            <a:r>
              <a:t>Highlights </a:t>
            </a:r>
            <a:r>
              <a:rPr b="1"/>
              <a:t>breaking changes</a:t>
            </a:r>
          </a:p>
          <a:p>
            <a:pPr/>
            <a:r>
              <a:t>Links related </a:t>
            </a:r>
            <a:r>
              <a:rPr b="1"/>
              <a:t>issues and tickets</a:t>
            </a:r>
          </a:p>
          <a:p/>
          <a:p>
            <a:r>
              <a:rPr i="1"/>
              <a:t>💡 Use `gh pr create` with Copilot in the CLI, or the </a:t>
            </a:r>
            <a:r>
              <a:rPr b="1" i="1"/>
              <a:t>GitHub web editor</a:t>
            </a:r>
            <a:r>
              <a:rPr i="1"/>
              <a:t> with AI suggestions</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Writing Effective PR Prompts</a:t>
            </a:r>
          </a:p>
        </p:txBody>
      </p:sp>
      <p:sp>
        <p:nvSpPr>
          <p:cNvPr id="3" name="Content Placeholder 2"/>
          <p:cNvSpPr>
            <a:spLocks noGrp="1"/>
          </p:cNvSpPr>
          <p:nvPr>
            <p:ph idx="1"/>
          </p:nvPr>
        </p:nvSpPr>
        <p:spPr/>
        <p:txBody>
          <a:bodyPr wrap="square">
            <a:normAutofit/>
          </a:bodyPr>
          <a:lstStyle/>
          <a:p/>
          <a:p>
            <a:r>
              <a:t>Getting great AI output starts with </a:t>
            </a:r>
            <a:r>
              <a:rPr b="1"/>
              <a:t>good context</a:t>
            </a:r>
            <a:r>
              <a:t>:</a:t>
            </a:r>
          </a:p>
          <a:p/>
          <a:p>
            <a:r>
              <a:t>```markdown</a:t>
            </a:r>
          </a:p>
          <a:p>
            <a:r>
              <a:t># Good PR Description Prompt Pattern</a:t>
            </a:r>
          </a:p>
          <a:p/>
          <a:p/>
          <a:p>
            <a:pPr/>
            <a:r>
              <a:t>Brief bullet list of changes</a:t>
            </a:r>
          </a:p>
          <a:p/>
          <a:p/>
          <a:p>
            <a:pPr/>
            <a:r>
              <a:t>Business context or issue reference</a:t>
            </a:r>
          </a:p>
          <a:p/>
          <a:p/>
          <a:p>
            <a:pPr/>
            <a:r>
              <a:t>Step-by-step verification</a:t>
            </a:r>
          </a:p>
          <a:p>
            <a:r>
              <a:t>```</a:t>
            </a:r>
          </a:p>
          <a:p/>
          <a:p>
            <a:r>
              <a:t>Ask Copilot: _"Generate a PR description for these changes that explains the business impact"_</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AI-Powered Code Review</a:t>
            </a:r>
          </a:p>
        </p:txBody>
      </p:sp>
      <p:sp>
        <p:nvSpPr>
          <p:cNvPr id="3" name="Content Placeholder 2"/>
          <p:cNvSpPr>
            <a:spLocks noGrp="1"/>
          </p:cNvSpPr>
          <p:nvPr>
            <p:ph idx="1"/>
          </p:nvPr>
        </p:nvSpPr>
        <p:spPr/>
        <p:txBody>
          <a:bodyPr wrap="square">
            <a:normAutofit/>
          </a:bodyPr>
          <a:lstStyle/>
          <a:p/>
          <a:p>
            <a:r>
              <a:t>GitHub Copilot assists reviewers with:</a:t>
            </a:r>
          </a:p>
          <a:p/>
          <a:p>
            <a:pPr/>
            <a:r>
              <a:rPr b="1"/>
              <a:t>Inline explanations</a:t>
            </a:r>
            <a:r>
              <a:t> of complex code</a:t>
            </a:r>
          </a:p>
          <a:p>
            <a:pPr/>
            <a:r>
              <a:rPr b="1"/>
              <a:t>Suggested improvements</a:t>
            </a:r>
            <a:r>
              <a:t> with rationale</a:t>
            </a:r>
          </a:p>
          <a:p>
            <a:pPr/>
            <a:r>
              <a:rPr b="1"/>
              <a:t>Security vulnerability</a:t>
            </a:r>
            <a:r>
              <a:t> detection</a:t>
            </a:r>
          </a:p>
          <a:p>
            <a:pPr/>
            <a:r>
              <a:rPr b="1"/>
              <a:t>Test coverage</a:t>
            </a:r>
            <a:r>
              <a:t> gap identification</a:t>
            </a:r>
          </a:p>
          <a:p>
            <a:pPr/>
            <a:r>
              <a:rPr b="1"/>
              <a:t>Style and convention</a:t>
            </a:r>
            <a:r>
              <a:t> enforcement</a:t>
            </a:r>
          </a:p>
          <a:p/>
          <a:p>
            <a:r>
              <a:rPr i="1"/>
              <a:t>Use `@workspace` in Copilot Chat to ask questions across the entire PR diff</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Copilot PR Summaries</a:t>
            </a:r>
          </a:p>
        </p:txBody>
      </p:sp>
      <p:sp>
        <p:nvSpPr>
          <p:cNvPr id="3" name="Content Placeholder 2"/>
          <p:cNvSpPr>
            <a:spLocks noGrp="1"/>
          </p:cNvSpPr>
          <p:nvPr>
            <p:ph idx="1"/>
          </p:nvPr>
        </p:nvSpPr>
        <p:spPr/>
        <p:txBody>
          <a:bodyPr wrap="square">
            <a:normAutofit/>
          </a:bodyPr>
          <a:lstStyle/>
          <a:p/>
          <a:p>
            <a:r>
              <a:t>GitHub Copilot can </a:t>
            </a:r>
            <a:r>
              <a:rPr b="1"/>
              <a:t>summarize large PRs</a:t>
            </a:r>
            <a:r>
              <a:t> automatically:</a:t>
            </a:r>
          </a:p>
          <a:p/>
          <a:p>
            <a:pPr/>
            <a:r>
              <a:t>Condenses hundreds of lines of diff into a </a:t>
            </a:r>
            <a:r>
              <a:rPr b="1"/>
              <a:t>paragraph</a:t>
            </a:r>
          </a:p>
          <a:p>
            <a:pPr/>
            <a:r>
              <a:t>Categorizes changes: _features, fixes, refactors_</a:t>
            </a:r>
          </a:p>
          <a:p>
            <a:pPr/>
            <a:r>
              <a:t>Flags </a:t>
            </a:r>
            <a:r>
              <a:rPr b="1"/>
              <a:t>high-risk areas</a:t>
            </a:r>
            <a:r>
              <a:t> that need closer review</a:t>
            </a:r>
          </a:p>
          <a:p>
            <a:pPr/>
            <a:r>
              <a:t>Generates a </a:t>
            </a:r>
            <a:r>
              <a:rPr b="1"/>
              <a:t>changelog entry</a:t>
            </a:r>
            <a:r>
              <a:t> from the summary</a:t>
            </a:r>
          </a:p>
          <a:p/>
          <a:p>
            <a:r>
              <a:t>```</a:t>
            </a:r>
          </a:p>
          <a:p>
            <a:r>
              <a:t>GitHub.com → Pull Request → Copilot Summary button</a:t>
            </a:r>
          </a:p>
          <a:p>
            <a:r>
              <a:t>```</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Responding to Review Feedback</a:t>
            </a:r>
          </a:p>
        </p:txBody>
      </p:sp>
      <p:sp>
        <p:nvSpPr>
          <p:cNvPr id="3" name="Content Placeholder 2"/>
          <p:cNvSpPr>
            <a:spLocks noGrp="1"/>
          </p:cNvSpPr>
          <p:nvPr>
            <p:ph idx="1"/>
          </p:nvPr>
        </p:nvSpPr>
        <p:spPr/>
        <p:txBody>
          <a:bodyPr wrap="square">
            <a:normAutofit/>
          </a:bodyPr>
          <a:lstStyle/>
          <a:p/>
          <a:p>
            <a:r>
              <a:t>AI accelerates </a:t>
            </a:r>
            <a:r>
              <a:rPr b="1"/>
              <a:t>addressing reviewer comments</a:t>
            </a:r>
            <a:r>
              <a:t>:</a:t>
            </a:r>
          </a:p>
          <a:p/>
          <a:p>
            <a:r>
              <a:t>1. Copilot suggests </a:t>
            </a:r>
            <a:r>
              <a:rPr b="1"/>
              <a:t>code fixes</a:t>
            </a:r>
            <a:r>
              <a:t> inline from review comments</a:t>
            </a:r>
          </a:p>
          <a:p>
            <a:r>
              <a:t>2. Ask Copilot Chat: _"How do I fix this review comment?"_</a:t>
            </a:r>
          </a:p>
          <a:p>
            <a:r>
              <a:t>3. Copilot </a:t>
            </a:r>
            <a:r>
              <a:rPr b="1"/>
              <a:t>Autofix</a:t>
            </a:r>
            <a:r>
              <a:t> resolves flagged security issues</a:t>
            </a:r>
          </a:p>
          <a:p>
            <a:r>
              <a:t>4. Batch-address similar comments across files</a:t>
            </a:r>
          </a:p>
          <a:p/>
          <a:p>
            <a:r>
              <a:rPr i="1"/>
              <a:t>🔁 The feedback loop closes faster when AI drafts the fix and the human approves it</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Automated PR Checks with AI</a:t>
            </a:r>
          </a:p>
        </p:txBody>
      </p:sp>
      <p:sp>
        <p:nvSpPr>
          <p:cNvPr id="3" name="Content Placeholder 2"/>
          <p:cNvSpPr>
            <a:spLocks noGrp="1"/>
          </p:cNvSpPr>
          <p:nvPr>
            <p:ph idx="1"/>
          </p:nvPr>
        </p:nvSpPr>
        <p:spPr/>
        <p:txBody>
          <a:bodyPr wrap="square">
            <a:normAutofit/>
          </a:bodyPr>
          <a:lstStyle/>
          <a:p/>
          <a:p>
            <a:r>
              <a:t>Integrate AI into your </a:t>
            </a:r>
            <a:r>
              <a:rPr b="1"/>
              <a:t>CI/CD pipeline</a:t>
            </a:r>
            <a:r>
              <a:t>:</a:t>
            </a:r>
          </a:p>
          <a:p/>
          <a:p>
            <a:r>
              <a:t>```yaml</a:t>
            </a:r>
          </a:p>
          <a:p>
            <a:r>
              <a:t># .github/workflows/pr-review.yml</a:t>
            </a:r>
          </a:p>
          <a:p>
            <a:pPr/>
            <a:r>
              <a:t>name: Copilot Code Review</a:t>
            </a:r>
          </a:p>
          <a:p>
            <a:r>
              <a:t>  uses: github/copilot-code-review@v1</a:t>
            </a:r>
          </a:p>
          <a:p/>
          <a:p>
            <a:pPr/>
            <a:r>
              <a:t>name: AI Security Scan</a:t>
            </a:r>
          </a:p>
          <a:p>
            <a:r>
              <a:t>  uses: github/advanced-security-action@v2</a:t>
            </a:r>
          </a:p>
          <a:p>
            <a:r>
              <a:t>```</a:t>
            </a:r>
          </a:p>
          <a:p/>
          <a:p>
            <a:pPr/>
            <a:r>
              <a:t>Run AI review on </a:t>
            </a:r>
            <a:r>
              <a:rPr b="1"/>
              <a:t>every PR automatically</a:t>
            </a:r>
          </a:p>
          <a:p>
            <a:pPr/>
            <a:r>
              <a:t>Block merges on </a:t>
            </a:r>
            <a:r>
              <a:rPr b="1"/>
              <a:t>critical AI-flagged issues</a:t>
            </a:r>
          </a:p>
          <a:p>
            <a:pPr/>
            <a:r>
              <a:t>Post AI summary as a </a:t>
            </a:r>
            <a:r>
              <a:rPr b="1"/>
              <a:t>PR comment</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Real-World Patterns</a:t>
            </a:r>
          </a:p>
        </p:txBody>
      </p:sp>
      <p:sp>
        <p:nvSpPr>
          <p:cNvPr id="3" name="Content Placeholder 2"/>
          <p:cNvSpPr>
            <a:spLocks noGrp="1"/>
          </p:cNvSpPr>
          <p:nvPr>
            <p:ph idx="1"/>
          </p:nvPr>
        </p:nvSpPr>
        <p:spPr/>
        <p:txBody>
          <a:bodyPr wrap="square">
            <a:normAutofit/>
          </a:bodyPr>
          <a:lstStyle/>
          <a:p/>
          <a:p>
            <a:r>
              <a:t>### Teams using AI for PRs report:</a:t>
            </a:r>
          </a:p>
          <a:p/>
          <a:p>
            <a:pPr/>
            <a:r>
              <a:rPr b="1"/>
              <a:t>40-60% reduction</a:t>
            </a:r>
            <a:r>
              <a:t> in time-to-first-review</a:t>
            </a:r>
          </a:p>
          <a:p>
            <a:pPr/>
            <a:r>
              <a:rPr b="1"/>
              <a:t>Clearer PR descriptions</a:t>
            </a:r>
            <a:r>
              <a:t> leading to fewer questions</a:t>
            </a:r>
          </a:p>
          <a:p>
            <a:pPr/>
            <a:r>
              <a:rPr b="1"/>
              <a:t>Faster onboarding</a:t>
            </a:r>
            <a:r>
              <a:t> — new devs produce PR-ready code sooner</a:t>
            </a:r>
          </a:p>
          <a:p>
            <a:pPr/>
            <a:r>
              <a:rPr b="1"/>
              <a:t>Higher review quality</a:t>
            </a:r>
            <a:r>
              <a:t> — reviewers catch logic issues, not style issues</a:t>
            </a:r>
          </a:p>
          <a:p/>
          <a:p>
            <a:r>
              <a:rPr i="1"/>
              <a:t>Source: GitHub internal data, 2024–2025 Copilot usage studies</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Best Practices</a:t>
            </a:r>
          </a:p>
        </p:txBody>
      </p:sp>
      <p:sp>
        <p:nvSpPr>
          <p:cNvPr id="3" name="Content Placeholder 2"/>
          <p:cNvSpPr>
            <a:spLocks noGrp="1"/>
          </p:cNvSpPr>
          <p:nvPr>
            <p:ph idx="1"/>
          </p:nvPr>
        </p:nvSpPr>
        <p:spPr/>
        <p:txBody>
          <a:bodyPr wrap="square">
            <a:normAutofit/>
          </a:bodyPr>
          <a:lstStyle/>
          <a:p/>
          <a:p>
            <a:r>
              <a:t>✅ </a:t>
            </a:r>
            <a:r>
              <a:rPr b="1"/>
              <a:t>Do</a:t>
            </a:r>
          </a:p>
          <a:p/>
          <a:p>
            <a:pPr/>
            <a:r>
              <a:t>Review and personalize AI-generated descriptions</a:t>
            </a:r>
          </a:p>
          <a:p>
            <a:pPr/>
            <a:r>
              <a:t>Use Copilot Chat to ask questions during review</a:t>
            </a:r>
          </a:p>
          <a:p>
            <a:pPr/>
            <a:r>
              <a:t>Enable Copilot Autofix for security alerts</a:t>
            </a:r>
          </a:p>
          <a:p>
            <a:pPr/>
            <a:r>
              <a:t>Add a PR template to guide AI output</a:t>
            </a:r>
          </a:p>
          <a:p/>
          <a:p>
            <a:r>
              <a:t>❌ </a:t>
            </a:r>
            <a:r>
              <a:rPr b="1"/>
              <a:t>Avoid</a:t>
            </a:r>
          </a:p>
          <a:p/>
          <a:p>
            <a:pPr/>
            <a:r>
              <a:t>Merging AI-generated descriptions without reading them</a:t>
            </a:r>
          </a:p>
          <a:p>
            <a:pPr/>
            <a:r>
              <a:t>Treating AI review as a substitute for human judgment</a:t>
            </a:r>
          </a:p>
          <a:p>
            <a:pPr/>
            <a:r>
              <a:t>Over-automating to the point of alert fatigue</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Getting Started</a:t>
            </a:r>
          </a:p>
        </p:txBody>
      </p:sp>
      <p:sp>
        <p:nvSpPr>
          <p:cNvPr id="3" name="Content Placeholder 2"/>
          <p:cNvSpPr>
            <a:spLocks noGrp="1"/>
          </p:cNvSpPr>
          <p:nvPr>
            <p:ph idx="1"/>
          </p:nvPr>
        </p:nvSpPr>
        <p:spPr/>
        <p:txBody>
          <a:bodyPr wrap="square">
            <a:normAutofit/>
          </a:bodyPr>
          <a:lstStyle/>
          <a:p/>
          <a:p>
            <a:r>
              <a:t>### Start small, build habits:</a:t>
            </a:r>
          </a:p>
          <a:p/>
          <a:p>
            <a:r>
              <a:t>1. </a:t>
            </a:r>
            <a:r>
              <a:rPr b="1"/>
              <a:t>Today</a:t>
            </a:r>
            <a:r>
              <a:t>: Use Copilot to draft your next PR description</a:t>
            </a:r>
          </a:p>
          <a:p>
            <a:r>
              <a:t>2. </a:t>
            </a:r>
            <a:r>
              <a:rPr b="1"/>
              <a:t>This week</a:t>
            </a:r>
            <a:r>
              <a:t>: Try Copilot Chat during your next code review</a:t>
            </a:r>
          </a:p>
          <a:p>
            <a:r>
              <a:t>3. </a:t>
            </a:r>
            <a:r>
              <a:rPr b="1"/>
              <a:t>This sprint</a:t>
            </a:r>
            <a:r>
              <a:t>: Add a PR template to guide AI descriptions</a:t>
            </a:r>
          </a:p>
          <a:p>
            <a:r>
              <a:t>4. </a:t>
            </a:r>
            <a:r>
              <a:rPr b="1"/>
              <a:t>This quarter</a:t>
            </a:r>
            <a:r>
              <a:t>: Automate AI checks in your CI pipeline</a:t>
            </a:r>
          </a:p>
          <a:p/>
          <a:p>
            <a:r>
              <a:rPr i="1"/>
              <a:t>📖 Resources:</a:t>
            </a:r>
          </a:p>
          <a:p>
            <a:r>
              <a:t>&gt;</a:t>
            </a:r>
          </a:p>
          <a:p>
            <a:pPr/>
            <a:r>
              <a:rPr i="1"/>
              <a:t>GitHub Copilot for PRs: https://docs.github.com/copilot</a:t>
            </a:r>
          </a:p>
          <a:p>
            <a:pPr/>
            <a:r>
              <a:rPr i="1"/>
              <a:t>GitHub Advanced Security: https://docs.github.com/en/code-security</a:t>
            </a:r>
          </a:p>
          <a:p>
            <a:pPr/>
            <a:r>
              <a:rPr i="1"/>
              <a:t>gh CLI: https://cli.github.com</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Summary</a:t>
            </a:r>
          </a:p>
        </p:txBody>
      </p:sp>
      <p:graphicFrame>
        <p:nvGraphicFramePr>
          <p:cNvPr id="3" name="Table 2"/>
          <p:cNvGraphicFramePr>
            <a:graphicFrameLocks noGrp="1"/>
          </p:cNvGraphicFramePr>
          <p:nvPr/>
        </p:nvGraphicFramePr>
        <p:xfrm>
          <a:off x="457200" y="1828800"/>
          <a:ext cx="8229600" cy="2743200"/>
        </p:xfrm>
        <a:graphic>
          <a:graphicData uri="http://schemas.openxmlformats.org/drawingml/2006/table">
            <a:tbl>
              <a:tblPr firstRow="1" bandRow="1">
                <a:tableStyleId>{5C22544A-7EE6-4342-B048-85BDC9FD1C3A}</a:tableStyleId>
              </a:tblPr>
              <a:tblGrid>
                <a:gridCol w="4114800"/>
                <a:gridCol w="4114800"/>
              </a:tblGrid>
              <a:tr h="457200">
                <a:tc>
                  <a:txBody>
                    <a:bodyPr/>
                    <a:lstStyle/>
                    <a:p>
                      <a:pPr>
                        <a:defRPr b="1" sz="1296"/>
                      </a:pPr>
                      <a:r>
                        <a:t>Without AI</a:t>
                      </a:r>
                    </a:p>
                  </a:txBody>
                  <a:tcPr/>
                </a:tc>
                <a:tc>
                  <a:txBody>
                    <a:bodyPr/>
                    <a:lstStyle/>
                    <a:p>
                      <a:pPr>
                        <a:defRPr b="1" sz="1296"/>
                      </a:pPr>
                      <a:r>
                        <a:t>With AI</a:t>
                      </a:r>
                    </a:p>
                  </a:txBody>
                  <a:tcPr/>
                </a:tc>
              </a:tr>
              <a:tr h="457200">
                <a:tc>
                  <a:txBody>
                    <a:bodyPr/>
                    <a:lstStyle/>
                    <a:p>
                      <a:r>
                        <a:t>Manual PR descriptions</a:t>
                      </a:r>
                    </a:p>
                  </a:txBody>
                  <a:tcPr/>
                </a:tc>
                <a:tc>
                  <a:txBody>
                    <a:bodyPr/>
                    <a:lstStyle/>
                    <a:p>
                      <a:r>
                        <a:t>Auto-generated, structured descriptions</a:t>
                      </a:r>
                    </a:p>
                  </a:txBody>
                  <a:tcPr/>
                </a:tc>
              </a:tr>
              <a:tr h="457200">
                <a:tc>
                  <a:txBody>
                    <a:bodyPr/>
                    <a:lstStyle/>
                    <a:p>
                      <a:r>
                        <a:t>Line-by-line review</a:t>
                      </a:r>
                    </a:p>
                  </a:txBody>
                  <a:tcPr/>
                </a:tc>
                <a:tc>
                  <a:txBody>
                    <a:bodyPr/>
                    <a:lstStyle/>
                    <a:p>
                      <a:r>
                        <a:t>AI-summarized highlights + human logic review</a:t>
                      </a:r>
                    </a:p>
                  </a:txBody>
                  <a:tcPr/>
                </a:tc>
              </a:tr>
              <a:tr h="457200">
                <a:tc>
                  <a:txBody>
                    <a:bodyPr/>
                    <a:lstStyle/>
                    <a:p>
                      <a:r>
                        <a:t>Slow feedback loops</a:t>
                      </a:r>
                    </a:p>
                  </a:txBody>
                  <a:tcPr/>
                </a:tc>
                <a:tc>
                  <a:txBody>
                    <a:bodyPr/>
                    <a:lstStyle/>
                    <a:p>
                      <a:r>
                        <a:t>Inline fix suggestions from review comments</a:t>
                      </a:r>
                    </a:p>
                  </a:txBody>
                  <a:tcPr/>
                </a:tc>
              </a:tr>
              <a:tr h="457200">
                <a:tc>
                  <a:txBody>
                    <a:bodyPr/>
                    <a:lstStyle/>
                    <a:p>
                      <a:r>
                        <a:t>Inconsistent standards</a:t>
                      </a:r>
                    </a:p>
                  </a:txBody>
                  <a:tcPr/>
                </a:tc>
                <a:tc>
                  <a:txBody>
                    <a:bodyPr/>
                    <a:lstStyle/>
                    <a:p>
                      <a:r>
                        <a:t>Automated checks on every PR</a:t>
                      </a:r>
                    </a:p>
                  </a:txBody>
                  <a:tcPr/>
                </a:tc>
              </a:tr>
              <a:tr h="457200">
                <a:tc>
                  <a:txBody>
                    <a:bodyPr/>
                    <a:lstStyle/>
                    <a:p>
                      <a:r>
                        <a:t>Slow onboarding</a:t>
                      </a:r>
                    </a:p>
                  </a:txBody>
                  <a:tcPr/>
                </a:tc>
                <a:tc>
                  <a:txBody>
                    <a:bodyPr/>
                    <a:lstStyle/>
                    <a:p>
                      <a:r>
                        <a:t>New devs match team standards faster</a:t>
                      </a:r>
                    </a:p>
                  </a:txBody>
                  <a:tcPr/>
                </a:tc>
              </a:tr>
            </a:tbl>
          </a:graphicData>
        </a:graphic>
      </p:graphicFrame>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Multi‑Model Implementation Comparison</a:t>
            </a:r>
          </a:p>
        </p:txBody>
      </p:sp>
      <p:sp>
        <p:nvSpPr>
          <p:cNvPr id="3" name="Content Placeholder 2"/>
          <p:cNvSpPr>
            <a:spLocks noGrp="1"/>
          </p:cNvSpPr>
          <p:nvPr>
            <p:ph idx="1"/>
          </p:nvPr>
        </p:nvSpPr>
        <p:spPr/>
        <p:txBody>
          <a:bodyPr wrap="square">
            <a:normAutofit/>
          </a:bodyPr>
          <a:lstStyle/>
          <a:p/>
          <a:p>
            <a:r>
              <a:t>Implementing changes with different AI models</a:t>
            </a:r>
          </a:p>
          <a:p>
            <a:r>
              <a:t>Comparing approaches and outcomes</a:t>
            </a:r>
          </a:p>
          <a:p>
            <a:r>
              <a:t>Risk assessment and quality evaluation</a:t>
            </a:r>
          </a:p>
          <a:p>
            <a:r>
              <a:t>Best practice synthesis</a:t>
            </a:r>
          </a:p>
          <a:p>
            <a:r>
              <a:t>Exercises for hands‑on practice</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Implementing Changes With Different AI Models</a:t>
            </a:r>
          </a:p>
        </p:txBody>
      </p:sp>
      <p:sp>
        <p:nvSpPr>
          <p:cNvPr id="3" name="Content Placeholder 2"/>
          <p:cNvSpPr>
            <a:spLocks noGrp="1"/>
          </p:cNvSpPr>
          <p:nvPr>
            <p:ph idx="1"/>
          </p:nvPr>
        </p:nvSpPr>
        <p:spPr/>
        <p:txBody>
          <a:bodyPr wrap="square">
            <a:normAutofit/>
          </a:bodyPr>
          <a:lstStyle/>
          <a:p/>
          <a:p>
            <a:r>
              <a:t>Why use multiple models?</a:t>
            </a:r>
          </a:p>
          <a:p>
            <a:r>
              <a:t>Different reasoning styles</a:t>
            </a:r>
          </a:p>
          <a:p>
            <a:r>
              <a:t>Different strengths (refactoring, documentation, architecture)</a:t>
            </a:r>
          </a:p>
          <a:p>
            <a:r>
              <a:t>Cross‑validation reduces risk</a:t>
            </a:r>
          </a:p>
          <a:p>
            <a:r>
              <a:t>Helps detect missing context or contradictions</a:t>
            </a:r>
          </a:p>
          <a:p>
            <a:r>
              <a:t>Typical use cases</a:t>
            </a:r>
          </a:p>
          <a:p>
            <a:r>
              <a:t>Refactoring comparisons</a:t>
            </a:r>
          </a:p>
          <a:p>
            <a:r>
              <a:t>Documentation consistency checks</a:t>
            </a:r>
          </a:p>
          <a:p>
            <a:r>
              <a:t>Architecture proposal validation</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Comparing Approaches &amp; Outcomes</a:t>
            </a:r>
          </a:p>
        </p:txBody>
      </p:sp>
      <p:sp>
        <p:nvSpPr>
          <p:cNvPr id="3" name="Content Placeholder 2"/>
          <p:cNvSpPr>
            <a:spLocks noGrp="1"/>
          </p:cNvSpPr>
          <p:nvPr>
            <p:ph idx="1"/>
          </p:nvPr>
        </p:nvSpPr>
        <p:spPr/>
        <p:txBody>
          <a:bodyPr wrap="square">
            <a:normAutofit/>
          </a:bodyPr>
          <a:lstStyle/>
          <a:p/>
          <a:p>
            <a:r>
              <a:t>What to compare</a:t>
            </a:r>
          </a:p>
          <a:p>
            <a:r>
              <a:t>Code structure and clarity</a:t>
            </a:r>
          </a:p>
          <a:p>
            <a:r>
              <a:t>Architectural alignment</a:t>
            </a:r>
          </a:p>
          <a:p>
            <a:r>
              <a:t>Test quality</a:t>
            </a:r>
          </a:p>
          <a:p>
            <a:r>
              <a:t>Documentation completeness</a:t>
            </a:r>
          </a:p>
          <a:p>
            <a:r>
              <a:t>Risk level of proposed changes</a:t>
            </a:r>
          </a:p>
          <a:p>
            <a:r>
              <a:t>Benefits</a:t>
            </a:r>
          </a:p>
          <a:p>
            <a:r>
              <a:t>Identifies the safest implementation</a:t>
            </a:r>
          </a:p>
          <a:p>
            <a:r>
              <a:t>Surfaces hidden assumptions</a:t>
            </a:r>
          </a:p>
          <a:p>
            <a:r>
              <a:t>Highlights model‑specific biases</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Risk Assessment &amp; Quality Evaluation</a:t>
            </a:r>
          </a:p>
        </p:txBody>
      </p:sp>
      <p:sp>
        <p:nvSpPr>
          <p:cNvPr id="3" name="Content Placeholder 2"/>
          <p:cNvSpPr>
            <a:spLocks noGrp="1"/>
          </p:cNvSpPr>
          <p:nvPr>
            <p:ph idx="1"/>
          </p:nvPr>
        </p:nvSpPr>
        <p:spPr/>
        <p:txBody>
          <a:bodyPr wrap="square">
            <a:normAutofit/>
          </a:bodyPr>
          <a:lstStyle/>
          <a:p/>
          <a:p>
            <a:r>
              <a:t>Risk indicators</a:t>
            </a:r>
          </a:p>
          <a:p>
            <a:r>
              <a:t>Missing tests</a:t>
            </a:r>
          </a:p>
          <a:p>
            <a:r>
              <a:t>Large or unnecessary refactors</a:t>
            </a:r>
          </a:p>
          <a:p>
            <a:r>
              <a:t>Violations of instruction files</a:t>
            </a:r>
          </a:p>
          <a:p>
            <a:r>
              <a:t>Unclear or undocumented behavior</a:t>
            </a:r>
          </a:p>
          <a:p>
            <a:r>
              <a:t>Quality indicators</a:t>
            </a:r>
          </a:p>
          <a:p>
            <a:r>
              <a:t>Small, incremental changes</a:t>
            </a:r>
          </a:p>
          <a:p>
            <a:r>
              <a:t>Clear reasoning</a:t>
            </a:r>
          </a:p>
          <a:p>
            <a:r>
              <a:t>Strong test coverage</a:t>
            </a:r>
          </a:p>
          <a:p>
            <a:r>
              <a:t>Alignment with evergreen principles</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Best Practice Synthesis</a:t>
            </a:r>
          </a:p>
        </p:txBody>
      </p:sp>
      <p:sp>
        <p:nvSpPr>
          <p:cNvPr id="3" name="Content Placeholder 2"/>
          <p:cNvSpPr>
            <a:spLocks noGrp="1"/>
          </p:cNvSpPr>
          <p:nvPr>
            <p:ph idx="1"/>
          </p:nvPr>
        </p:nvSpPr>
        <p:spPr/>
        <p:txBody>
          <a:bodyPr wrap="square">
            <a:normAutofit/>
          </a:bodyPr>
          <a:lstStyle/>
          <a:p/>
          <a:p>
            <a:r>
              <a:t>Combine the strengths of each model</a:t>
            </a:r>
          </a:p>
          <a:p>
            <a:r>
              <a:t>Use one model for architecture</a:t>
            </a:r>
          </a:p>
          <a:p>
            <a:r>
              <a:t>Another for implementation</a:t>
            </a:r>
          </a:p>
          <a:p>
            <a:r>
              <a:t>Another for documentation</a:t>
            </a:r>
          </a:p>
          <a:p>
            <a:r>
              <a:t>Cross‑validate tests and reasoning</a:t>
            </a:r>
          </a:p>
          <a:p>
            <a:r>
              <a:t>Outcome</a:t>
            </a:r>
          </a:p>
          <a:p>
            <a:r>
              <a:t>Higher quality</a:t>
            </a:r>
          </a:p>
          <a:p>
            <a:r>
              <a:t>Lower risk</a:t>
            </a:r>
          </a:p>
          <a:p>
            <a:r>
              <a:t>More predictable modernization</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Exercise: Prompt Multiple Models to Address Technical Debt</a:t>
            </a:r>
          </a:p>
        </p:txBody>
      </p:sp>
      <p:sp>
        <p:nvSpPr>
          <p:cNvPr id="3" name="Content Placeholder 2"/>
          <p:cNvSpPr>
            <a:spLocks noGrp="1"/>
          </p:cNvSpPr>
          <p:nvPr>
            <p:ph idx="1"/>
          </p:nvPr>
        </p:nvSpPr>
        <p:spPr/>
        <p:txBody>
          <a:bodyPr wrap="square">
            <a:normAutofit/>
          </a:bodyPr>
          <a:lstStyle/>
          <a:p/>
          <a:p>
            <a:r>
              <a:t>Duration</a:t>
            </a:r>
          </a:p>
          <a:p>
            <a:r>
              <a:t>15 minutes</a:t>
            </a:r>
          </a:p>
          <a:p>
            <a:r>
              <a:t>Objectives</a:t>
            </a:r>
          </a:p>
          <a:p>
            <a:r>
              <a:t>Compare outputs from different models</a:t>
            </a:r>
          </a:p>
          <a:p>
            <a:r>
              <a:t>Identify strengths and weaknesses</a:t>
            </a:r>
          </a:p>
          <a:p>
            <a:r>
              <a:t>Evaluate risk and quality</a:t>
            </a:r>
          </a:p>
          <a:p>
            <a:r>
              <a:t>Activities</a:t>
            </a:r>
          </a:p>
          <a:p>
            <a:r>
              <a:t>Select a small technical debt item.</a:t>
            </a:r>
          </a:p>
          <a:p>
            <a:r>
              <a:t>Prompt two or more models to propose a fix.</a:t>
            </a:r>
          </a:p>
          <a:p>
            <a:r>
              <a:t>Compare outputs for:</a:t>
            </a:r>
          </a:p>
          <a:p>
            <a:pPr/>
            <a:r>
              <a:t>Safety</a:t>
            </a:r>
          </a:p>
          <a:p>
            <a:pPr/>
            <a:r>
              <a:t>Clarity</a:t>
            </a:r>
          </a:p>
          <a:p>
            <a:pPr/>
            <a:r>
              <a:t>Test coverage</a:t>
            </a:r>
          </a:p>
          <a:p>
            <a:pPr/>
            <a:r>
              <a:t>Architectural alignment</a:t>
            </a:r>
          </a:p>
          <a:p>
            <a:r>
              <a:t>Synthesize the best elements into a final solution.</a:t>
            </a:r>
          </a:p>
          <a:p>
            <a:r>
              <a:t>Success Criteria</a:t>
            </a:r>
          </a:p>
          <a:p>
            <a:r>
              <a:t>Differences between models are clearly identified</a:t>
            </a:r>
          </a:p>
          <a:p>
            <a:r>
              <a:t>Risks and strengths are evaluated</a:t>
            </a:r>
          </a:p>
          <a:p>
            <a:r>
              <a:t>Final synthesized solution is safe and incremental</a:t>
            </a:r>
          </a:p>
          <a:p>
            <a:r>
              <a:t>Provenance metadata is included</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Exercise: Assigning an Issue to Multiple Models</a:t>
            </a:r>
          </a:p>
        </p:txBody>
      </p:sp>
      <p:sp>
        <p:nvSpPr>
          <p:cNvPr id="3" name="Content Placeholder 2"/>
          <p:cNvSpPr>
            <a:spLocks noGrp="1"/>
          </p:cNvSpPr>
          <p:nvPr>
            <p:ph idx="1"/>
          </p:nvPr>
        </p:nvSpPr>
        <p:spPr/>
        <p:txBody>
          <a:bodyPr wrap="square">
            <a:normAutofit/>
          </a:bodyPr>
          <a:lstStyle/>
          <a:p/>
          <a:p>
            <a:r>
              <a:t>Duration</a:t>
            </a:r>
          </a:p>
          <a:p>
            <a:r>
              <a:t>10 minutes</a:t>
            </a:r>
          </a:p>
          <a:p>
            <a:r>
              <a:t>Objectives</a:t>
            </a:r>
          </a:p>
          <a:p>
            <a:r>
              <a:t>Practice delegating the same issue to different models</a:t>
            </a:r>
          </a:p>
          <a:p>
            <a:r>
              <a:t>Evaluate how each model interprets constraints</a:t>
            </a:r>
          </a:p>
          <a:p>
            <a:r>
              <a:t>Identify missing context</a:t>
            </a:r>
          </a:p>
          <a:p>
            <a:r>
              <a:t>Activities</a:t>
            </a:r>
          </a:p>
          <a:p>
            <a:r>
              <a:t>Create a GitHub‑style issue describing a technical debt item.</a:t>
            </a:r>
          </a:p>
          <a:p>
            <a:r>
              <a:t>Assign the issue to two different models.</a:t>
            </a:r>
          </a:p>
          <a:p>
            <a:r>
              <a:t>Compare their proposed remediation plans.</a:t>
            </a:r>
          </a:p>
          <a:p>
            <a:r>
              <a:t>Identify missing context or contradictions.</a:t>
            </a:r>
          </a:p>
          <a:p>
            <a:r>
              <a:t>Success Criteria</a:t>
            </a:r>
          </a:p>
          <a:p>
            <a:r>
              <a:t>Issue is clear and well‑structured</a:t>
            </a:r>
          </a:p>
          <a:p>
            <a:r>
              <a:t>Each model produces a distinct approach</a:t>
            </a:r>
          </a:p>
          <a:p>
            <a:r>
              <a:t>Missing context is identified and documented</a:t>
            </a:r>
          </a:p>
          <a:p>
            <a:r>
              <a:t>A preferred plan is selected based on safety and clarity</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Exercise: Delegating Work to Multiple Models</a:t>
            </a:r>
          </a:p>
        </p:txBody>
      </p:sp>
      <p:sp>
        <p:nvSpPr>
          <p:cNvPr id="3" name="Content Placeholder 2"/>
          <p:cNvSpPr>
            <a:spLocks noGrp="1"/>
          </p:cNvSpPr>
          <p:nvPr>
            <p:ph idx="1"/>
          </p:nvPr>
        </p:nvSpPr>
        <p:spPr/>
        <p:txBody>
          <a:bodyPr wrap="square">
            <a:normAutofit/>
          </a:bodyPr>
          <a:lstStyle/>
          <a:p/>
          <a:p>
            <a:r>
              <a:t>Duration</a:t>
            </a:r>
          </a:p>
          <a:p>
            <a:r>
              <a:t>20 minutes</a:t>
            </a:r>
          </a:p>
          <a:p>
            <a:r>
              <a:t>Objectives</a:t>
            </a:r>
          </a:p>
          <a:p>
            <a:r>
              <a:t>Practice multi‑model delegation</a:t>
            </a:r>
          </a:p>
          <a:p>
            <a:r>
              <a:t>Evaluate multi‑step reasoning</a:t>
            </a:r>
          </a:p>
          <a:p>
            <a:r>
              <a:t>Synthesize best practices into a unified plan</a:t>
            </a:r>
          </a:p>
          <a:p>
            <a:r>
              <a:t>Activities</a:t>
            </a:r>
          </a:p>
          <a:p>
            <a:r>
              <a:t>Select a multi‑step modernization task.</a:t>
            </a:r>
          </a:p>
          <a:p>
            <a:r>
              <a:t>Ask multiple models to:</a:t>
            </a:r>
          </a:p>
          <a:p>
            <a:pPr/>
            <a:r>
              <a:t>Analyze the problem</a:t>
            </a:r>
          </a:p>
          <a:p>
            <a:pPr/>
            <a:r>
              <a:t>Propose a remediation plan</a:t>
            </a:r>
          </a:p>
          <a:p>
            <a:pPr/>
            <a:r>
              <a:t>Suggest tests</a:t>
            </a:r>
          </a:p>
          <a:p>
            <a:pPr/>
            <a:r>
              <a:t>Suggest documentation updates</a:t>
            </a:r>
          </a:p>
          <a:p>
            <a:r>
              <a:t>Compare the outputs.</a:t>
            </a:r>
          </a:p>
          <a:p>
            <a:r>
              <a:t>Synthesize a final, safe, incremental plan.</a:t>
            </a:r>
          </a:p>
          <a:p>
            <a:r>
              <a:t>Success Criteria</a:t>
            </a:r>
          </a:p>
          <a:p>
            <a:r>
              <a:t>Multi‑model differences are clearly understood</a:t>
            </a:r>
          </a:p>
          <a:p>
            <a:r>
              <a:t>Final plan is incremental, reversible, and well‑tested</a:t>
            </a:r>
          </a:p>
          <a:p>
            <a:r>
              <a:t>Documentation and provenance are included</a:t>
            </a:r>
          </a:p>
          <a:p>
            <a:r>
              <a:t>Risks are identified and mitigated</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Evergreen Software Development - Core Principles</a:t>
            </a:r>
          </a:p>
        </p:txBody>
      </p:sp>
      <p:sp>
        <p:nvSpPr>
          <p:cNvPr id="3" name="Content Placeholder 2"/>
          <p:cNvSpPr>
            <a:spLocks noGrp="1"/>
          </p:cNvSpPr>
          <p:nvPr>
            <p:ph idx="1"/>
          </p:nvPr>
        </p:nvSpPr>
        <p:spPr/>
        <p:txBody>
          <a:bodyPr wrap="square">
            <a:normAutofit/>
          </a:bodyPr>
          <a:lstStyle/>
          <a:p/>
          <a:p>
            <a:r>
              <a:t>Intent‑First Design</a:t>
            </a:r>
          </a:p>
          <a:p/>
          <a:p>
            <a:pPr/>
            <a:r>
              <a:t>Define the system’s purpose, invariants, and boundaries before writing code to ensure long‑term clarity.</a:t>
            </a:r>
          </a:p>
          <a:p>
            <a:r>
              <a:t>  Stable Interfaces, Evolving Internals</a:t>
            </a:r>
          </a:p>
          <a:p>
            <a:pPr/>
            <a:r>
              <a:t>Keep contracts predictable while allowing implementations to improve continuously.</a:t>
            </a:r>
          </a:p>
          <a:p>
            <a:r>
              <a:t>  Continuous Regeneration with Guardrails</a:t>
            </a:r>
          </a:p>
          <a:p>
            <a:pPr/>
            <a:r>
              <a:t>Use AI to rewrite or extend components safely, backed by tests, specs, and architectural constraints.</a:t>
            </a:r>
          </a:p>
          <a:p>
            <a:r>
              <a:t>  Modular, Replaceable Components</a:t>
            </a:r>
          </a:p>
          <a:p>
            <a:pPr/>
            <a:r>
              <a:t>Structure the system so any part can be regenerated, swapped, or upgraded without cascading breakage.</a:t>
            </a:r>
          </a:p>
          <a:p>
            <a:r>
              <a:t>  Lifecycle Governance</a:t>
            </a:r>
          </a:p>
          <a:p>
            <a:pPr/>
            <a:r>
              <a:t>Maintain quality through automated tests, versioning discipline, and human‑in‑the‑loop validation.</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Why Software Fails to Be Evergreen</a:t>
            </a:r>
          </a:p>
        </p:txBody>
      </p:sp>
      <p:sp>
        <p:nvSpPr>
          <p:cNvPr id="3" name="Content Placeholder 2"/>
          <p:cNvSpPr>
            <a:spLocks noGrp="1"/>
          </p:cNvSpPr>
          <p:nvPr>
            <p:ph idx="1"/>
          </p:nvPr>
        </p:nvSpPr>
        <p:spPr/>
        <p:txBody>
          <a:bodyPr wrap="square">
            <a:normAutofit/>
          </a:bodyPr>
          <a:lstStyle/>
          <a:p/>
          <a:p>
            <a:r>
              <a:t>Intent Rot</a:t>
            </a:r>
          </a:p>
          <a:p/>
          <a:p>
            <a:pPr/>
            <a:r>
              <a:t>The original purpose, constraints, and invariants are undocumented or lost, making safe regeneration impossible.</a:t>
            </a:r>
          </a:p>
          <a:p>
            <a:r>
              <a:t>  Unstable or Leaky Interfaces</a:t>
            </a:r>
          </a:p>
          <a:p>
            <a:pPr/>
            <a:r>
              <a:t>APIs, data contracts, and boundaries change unpredictably, causing cascading breakage when internals evolve.</a:t>
            </a:r>
          </a:p>
          <a:p>
            <a:r>
              <a:t>  Tightly Coupled Architecture</a:t>
            </a:r>
          </a:p>
          <a:p>
            <a:pPr/>
            <a:r>
              <a:t>Components depend on each other’s internal details, preventing isolated regeneration or replacement.</a:t>
            </a:r>
          </a:p>
          <a:p>
            <a:r>
              <a:t>  Insufficient Guardrails</a:t>
            </a:r>
          </a:p>
          <a:p>
            <a:pPr/>
            <a:r>
              <a:t>Missing tests, specs, or validation layers mean AI‑assisted regeneration can’t be trusted to preserve behavior.</a:t>
            </a:r>
          </a:p>
          <a:p>
            <a:r>
              <a:t>  One‑Off Patches and Drift</a:t>
            </a:r>
          </a:p>
          <a:p>
            <a:pPr/>
            <a:r>
              <a:t>Ad‑hoc fixes accumulate, diverging the system from its intended design and making regeneration unsafe.</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Course Modules</a:t>
            </a:r>
          </a:p>
        </p:txBody>
      </p:sp>
      <p:sp>
        <p:nvSpPr>
          <p:cNvPr id="3" name="Content Placeholder 2"/>
          <p:cNvSpPr>
            <a:spLocks noGrp="1"/>
          </p:cNvSpPr>
          <p:nvPr>
            <p:ph idx="1"/>
          </p:nvPr>
        </p:nvSpPr>
        <p:spPr/>
        <p:txBody>
          <a:bodyPr wrap="square">
            <a:normAutofit/>
          </a:bodyPr>
          <a:lstStyle/>
          <a:p/>
          <a:p>
            <a:pPr/>
            <a:r>
              <a:t>Intro</a:t>
            </a:r>
          </a:p>
          <a:p>
            <a:pPr/>
            <a:r>
              <a:t>Module 1 - AIASD</a:t>
            </a:r>
          </a:p>
          <a:p>
            <a:pPr/>
            <a:r>
              <a:t>Module 2 - Intro to Copilot</a:t>
            </a:r>
          </a:p>
          <a:p>
            <a:pPr/>
            <a:r>
              <a:t>Module 3 - Vibbing</a:t>
            </a:r>
          </a:p>
          <a:p>
            <a:pPr/>
            <a:r>
              <a:rPr b="1"/>
              <a:t>▶ Module 4 - Adding AI Guardrails</a:t>
            </a:r>
          </a:p>
          <a:p>
            <a:pPr/>
            <a:r>
              <a:t>Module 5 - Managing Context</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Module 4 - Adding AI Guardrails</a:t>
            </a:r>
          </a:p>
        </p:txBody>
      </p:sp>
      <p:sp>
        <p:nvSpPr>
          <p:cNvPr id="3" name="Content Placeholder 2"/>
          <p:cNvSpPr>
            <a:spLocks noGrp="1"/>
          </p:cNvSpPr>
          <p:nvPr>
            <p:ph idx="1"/>
          </p:nvPr>
        </p:nvSpPr>
        <p:spPr/>
        <p:txBody>
          <a:bodyPr/>
          <a:lstStyle/>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Module 4 - Adding AI Guardrails</a:t>
            </a:r>
          </a:p>
        </p:txBody>
      </p:sp>
      <p:sp>
        <p:nvSpPr>
          <p:cNvPr id="3" name="Content Placeholder 2"/>
          <p:cNvSpPr>
            <a:spLocks noGrp="1"/>
          </p:cNvSpPr>
          <p:nvPr>
            <p:ph idx="1"/>
          </p:nvPr>
        </p:nvSpPr>
        <p:spPr/>
        <p:txBody>
          <a:bodyPr wrap="square">
            <a:normAutofit/>
          </a:bodyPr>
          <a:lstStyle/>
          <a:p/>
          <a:p>
            <a:pPr/>
            <a:r>
              <a:t>Adding AI Guardrails</a:t>
            </a:r>
          </a:p>
          <a:p>
            <a:pPr/>
            <a:r>
              <a:t>Instruction Files</a:t>
            </a:r>
          </a:p>
          <a:p>
            <a:pPr/>
            <a:r>
              <a:t>🎯 Instruction File `applyTo` Patterns</a:t>
            </a:r>
          </a:p>
          <a:p>
            <a:pPr/>
            <a:r>
              <a:t>Core Instructions</a:t>
            </a:r>
          </a:p>
          <a:p>
            <a:pPr/>
            <a:r>
              <a:t>Organizational vs. Repository Instruction Files</a:t>
            </a:r>
          </a:p>
          <a:p>
            <a:pPr/>
            <a:r>
              <a:t>Exercise: Technology Inventory &amp; Instruction Generation</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Adding AI Guardrails</a:t>
            </a:r>
          </a:p>
        </p:txBody>
      </p:sp>
      <p:sp>
        <p:nvSpPr>
          <p:cNvPr id="3" name="Content Placeholder 2"/>
          <p:cNvSpPr>
            <a:spLocks noGrp="1"/>
          </p:cNvSpPr>
          <p:nvPr>
            <p:ph idx="1"/>
          </p:nvPr>
        </p:nvSpPr>
        <p:spPr/>
        <p:txBody>
          <a:bodyPr wrap="square">
            <a:normAutofit/>
          </a:bodyPr>
          <a:lstStyle/>
          <a:p/>
          <a:p>
            <a:r>
              <a:t>What are instructions, prompts, and Agents</a:t>
            </a:r>
          </a:p>
          <a:p>
            <a:r>
              <a:t>Creating instruction, prompt, and Agent files</a:t>
            </a:r>
          </a:p>
          <a:p>
            <a:r>
              <a:t>Meta prompts that generate these files</a:t>
            </a:r>
          </a:p>
          <a:p>
            <a:r>
              <a:t>Instructions for generating artifacts</a:t>
            </a:r>
          </a:p>
          <a:p>
            <a:r>
              <a:t>Enforcing provenance for AI‑assisted artifacts</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Instructions, Prompts &amp; Agents</a:t>
            </a:r>
          </a:p>
        </p:txBody>
      </p:sp>
      <p:sp>
        <p:nvSpPr>
          <p:cNvPr id="3" name="Content Placeholder 2"/>
          <p:cNvSpPr>
            <a:spLocks noGrp="1"/>
          </p:cNvSpPr>
          <p:nvPr>
            <p:ph idx="1"/>
          </p:nvPr>
        </p:nvSpPr>
        <p:spPr/>
        <p:txBody>
          <a:bodyPr wrap="square">
            <a:normAutofit/>
          </a:bodyPr>
          <a:lstStyle/>
          <a:p/>
          <a:p>
            <a:r>
              <a:t>Definitions</a:t>
            </a:r>
          </a:p>
          <a:p>
            <a:r>
              <a:t>Instructions – Persistent rules that guide the model’s behavior</a:t>
            </a:r>
          </a:p>
          <a:p>
            <a:r>
              <a:t>Prompts – Task‑specific requests defining intent and constraints</a:t>
            </a:r>
          </a:p>
          <a:p>
            <a:r>
              <a:t>Agents – Pre‑configured personas optimized for workflows</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Creating Instruction, Prompt &amp; Agent Files</a:t>
            </a:r>
          </a:p>
        </p:txBody>
      </p:sp>
      <p:sp>
        <p:nvSpPr>
          <p:cNvPr id="3" name="Content Placeholder 2"/>
          <p:cNvSpPr>
            <a:spLocks noGrp="1"/>
          </p:cNvSpPr>
          <p:nvPr>
            <p:ph idx="1"/>
          </p:nvPr>
        </p:nvSpPr>
        <p:spPr/>
        <p:txBody>
          <a:bodyPr wrap="square">
            <a:normAutofit/>
          </a:bodyPr>
          <a:lstStyle/>
          <a:p/>
          <a:p>
            <a:r>
              <a:t>Why create files?</a:t>
            </a:r>
          </a:p>
          <a:p>
            <a:r>
              <a:t>Ensures repeatability</a:t>
            </a:r>
          </a:p>
          <a:p>
            <a:r>
              <a:t>Reduces token usage</a:t>
            </a:r>
          </a:p>
          <a:p>
            <a:r>
              <a:t>Provides version‑controlled guardrails</a:t>
            </a:r>
          </a:p>
          <a:p>
            <a:r>
              <a:t>Enables team‑wide consistency</a:t>
            </a:r>
          </a:p>
          <a:p>
            <a:r>
              <a:t>File types</a:t>
            </a:r>
          </a:p>
          <a:p>
            <a:r>
              <a:t>.github/instructions/myinstructions.instructions.md</a:t>
            </a:r>
          </a:p>
          <a:p>
            <a:r>
              <a:t>.github/copilot/Promptfiles/myprompt.prompt.md</a:t>
            </a:r>
          </a:p>
          <a:p>
            <a:r>
              <a:t>.github/chatmodes/mychatmode.chatmode.md</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Meta Prompts</a:t>
            </a:r>
          </a:p>
        </p:txBody>
      </p:sp>
      <p:sp>
        <p:nvSpPr>
          <p:cNvPr id="3" name="Content Placeholder 2"/>
          <p:cNvSpPr>
            <a:spLocks noGrp="1"/>
          </p:cNvSpPr>
          <p:nvPr>
            <p:ph idx="1"/>
          </p:nvPr>
        </p:nvSpPr>
        <p:spPr/>
        <p:txBody>
          <a:bodyPr wrap="square">
            <a:normAutofit/>
          </a:bodyPr>
          <a:lstStyle/>
          <a:p/>
          <a:p>
            <a:r>
              <a:t>Meta prompts guide:</a:t>
            </a:r>
          </a:p>
          <a:p>
            <a:r>
              <a:t>Creation of instruction files</a:t>
            </a:r>
          </a:p>
          <a:p>
            <a:r>
              <a:t>Generation of reusable prompts</a:t>
            </a:r>
          </a:p>
          <a:p>
            <a:r>
              <a:t>Construction of Agents</a:t>
            </a:r>
          </a:p>
          <a:p>
            <a:r>
              <a:t>Provide consistent formatting, structure, content</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Instructions for Generating Artifacts</a:t>
            </a:r>
          </a:p>
        </p:txBody>
      </p:sp>
      <p:sp>
        <p:nvSpPr>
          <p:cNvPr id="3" name="Content Placeholder 2"/>
          <p:cNvSpPr>
            <a:spLocks noGrp="1"/>
          </p:cNvSpPr>
          <p:nvPr>
            <p:ph idx="1"/>
          </p:nvPr>
        </p:nvSpPr>
        <p:spPr/>
        <p:txBody>
          <a:bodyPr wrap="square">
            <a:normAutofit/>
          </a:bodyPr>
          <a:lstStyle/>
          <a:p/>
          <a:p>
            <a:r>
              <a:t>Best practices</a:t>
            </a:r>
          </a:p>
          <a:p>
            <a:r>
              <a:t>Define the artifact type</a:t>
            </a:r>
          </a:p>
          <a:p>
            <a:r>
              <a:t>Specify required sections</a:t>
            </a:r>
          </a:p>
          <a:p>
            <a:r>
              <a:t>Provide examples or templates</a:t>
            </a:r>
          </a:p>
          <a:p>
            <a:r>
              <a:t>Include acceptance criteria</a:t>
            </a:r>
          </a:p>
          <a:p>
            <a:r>
              <a:t>Require the model to restate constraints</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Enforcing Provenance for AI Artifacts</a:t>
            </a:r>
          </a:p>
        </p:txBody>
      </p:sp>
      <p:sp>
        <p:nvSpPr>
          <p:cNvPr id="3" name="Content Placeholder 2"/>
          <p:cNvSpPr>
            <a:spLocks noGrp="1"/>
          </p:cNvSpPr>
          <p:nvPr>
            <p:ph idx="1"/>
          </p:nvPr>
        </p:nvSpPr>
        <p:spPr/>
        <p:txBody>
          <a:bodyPr wrap="square">
            <a:normAutofit/>
          </a:bodyPr>
          <a:lstStyle/>
          <a:p/>
          <a:p>
            <a:r>
              <a:t>Provenance requirements</a:t>
            </a:r>
          </a:p>
          <a:p>
            <a:r>
              <a:t>Declare:</a:t>
            </a:r>
          </a:p>
          <a:p/>
          <a:p>
            <a:pPr/>
            <a:r>
              <a:t>AI involvement</a:t>
            </a:r>
          </a:p>
          <a:p>
            <a:pPr/>
            <a:r>
              <a:t>Model used</a:t>
            </a:r>
          </a:p>
          <a:p>
            <a:pPr/>
            <a:r>
              <a:t>Date generated</a:t>
            </a:r>
          </a:p>
          <a:p>
            <a:pPr/>
            <a:r>
              <a:t>Human reviewer</a:t>
            </a:r>
          </a:p>
          <a:p>
            <a:r>
              <a:t>  Store provenance in headers, footers, or side cars</a:t>
            </a:r>
          </a:p>
          <a:p>
            <a:r>
              <a:t>  Track revisions in version control</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Exercise: Copy the Core Instructions</a:t>
            </a:r>
          </a:p>
        </p:txBody>
      </p:sp>
      <p:sp>
        <p:nvSpPr>
          <p:cNvPr id="3" name="Content Placeholder 2"/>
          <p:cNvSpPr>
            <a:spLocks noGrp="1"/>
          </p:cNvSpPr>
          <p:nvPr>
            <p:ph idx="1"/>
          </p:nvPr>
        </p:nvSpPr>
        <p:spPr/>
        <p:txBody>
          <a:bodyPr wrap="square">
            <a:normAutofit/>
          </a:bodyPr>
          <a:lstStyle/>
          <a:p/>
          <a:p>
            <a:r>
              <a:t>Duration: 10 minutes</a:t>
            </a:r>
          </a:p>
          <a:p>
            <a:r>
              <a:t>Objectives:</a:t>
            </a:r>
          </a:p>
          <a:p>
            <a:r>
              <a:t>Understand file organization for AI-assisted output policies</a:t>
            </a:r>
          </a:p>
          <a:p>
            <a:r>
              <a:t>Practice copying files between repositories</a:t>
            </a:r>
          </a:p>
          <a:p>
            <a:r>
              <a:t>Ensure compliance with output metadata requirements</a:t>
            </a:r>
          </a:p>
          <a:p>
            <a:r>
              <a:t>Activities:</a:t>
            </a:r>
          </a:p>
          <a:p/>
          <a:p>
            <a:r>
              <a:t>1. Locate .github/instructions/ai-assisted-output.instructions.md in the AI-Assisted-Software-Development repository</a:t>
            </a:r>
          </a:p>
          <a:p>
            <a:r>
              <a:t>2. Copy the file into the .github/instructions folder of the current repository</a:t>
            </a:r>
          </a:p>
          <a:p>
            <a:r>
              <a:t>3. Copy these files as well:</a:t>
            </a:r>
          </a:p>
          <a:p>
            <a:r>
              <a:t>   chatmode-file.instructions.md</a:t>
            </a:r>
          </a:p>
          <a:p>
            <a:r>
              <a:t>   instruction-files.instructions.md</a:t>
            </a:r>
          </a:p>
          <a:p>
            <a:r>
              <a:t>   instruction-prompt-files.instructions.md</a:t>
            </a:r>
          </a:p>
          <a:p>
            <a:r>
              <a:t>   prompt-file.instructions.md</a:t>
            </a:r>
          </a:p>
          <a:p>
            <a:r>
              <a:t>4. Verify the copied files matches the original</a:t>
            </a:r>
          </a:p>
          <a:p>
            <a:r>
              <a:t>5. Review the instructions</a:t>
            </a:r>
          </a:p>
          <a:p>
            <a:r>
              <a:t>   Success Criteria:</a:t>
            </a:r>
          </a:p>
          <a:p>
            <a:r>
              <a:t>   The files are present in the current repo</a:t>
            </a:r>
          </a:p>
          <a:p>
            <a:r>
              <a:t>   The content matches the source file</a:t>
            </a:r>
          </a:p>
          <a:p>
            <a:r>
              <a:t>   No metadata or formatting is lost</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Instructions for AI Generated Artifacts</a:t>
            </a:r>
          </a:p>
        </p:txBody>
      </p:sp>
      <p:sp>
        <p:nvSpPr>
          <p:cNvPr id="3" name="Content Placeholder 2"/>
          <p:cNvSpPr>
            <a:spLocks noGrp="1"/>
          </p:cNvSpPr>
          <p:nvPr>
            <p:ph idx="1"/>
          </p:nvPr>
        </p:nvSpPr>
        <p:spPr/>
        <p:txBody>
          <a:bodyPr wrap="square">
            <a:normAutofit/>
          </a:bodyPr>
          <a:lstStyle/>
          <a:p/>
          <a:p>
            <a:r>
              <a:t>The one instruction file that rules them all</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AI-Assisted Output Instructions</a:t>
            </a:r>
          </a:p>
        </p:txBody>
      </p:sp>
      <p:sp>
        <p:nvSpPr>
          <p:cNvPr id="3" name="Content Placeholder 2"/>
          <p:cNvSpPr>
            <a:spLocks noGrp="1"/>
          </p:cNvSpPr>
          <p:nvPr>
            <p:ph idx="1"/>
          </p:nvPr>
        </p:nvSpPr>
        <p:spPr/>
        <p:txBody>
          <a:bodyPr wrap="square">
            <a:normAutofit/>
          </a:bodyPr>
          <a:lstStyle/>
          <a:p/>
          <a:p>
            <a:r>
              <a:t>Ensures provenance and logging for all AI-assisted outputs</a:t>
            </a:r>
          </a:p>
          <a:p>
            <a:r>
              <a:t>Defines required metadata, logging workflow, and quality gates</a:t>
            </a:r>
          </a:p>
          <a:p>
            <a:r>
              <a:t>Protects code quality and enables audits</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Required Provenance Metadata</a:t>
            </a:r>
          </a:p>
        </p:txBody>
      </p:sp>
      <p:sp>
        <p:nvSpPr>
          <p:cNvPr id="3" name="Content Placeholder 2"/>
          <p:cNvSpPr>
            <a:spLocks noGrp="1"/>
          </p:cNvSpPr>
          <p:nvPr>
            <p:ph idx="1"/>
          </p:nvPr>
        </p:nvSpPr>
        <p:spPr/>
        <p:txBody>
          <a:bodyPr wrap="square">
            <a:normAutofit/>
          </a:bodyPr>
          <a:lstStyle/>
          <a:p/>
          <a:p>
            <a:r>
              <a:t>Every AI-assisted artifact must include:</a:t>
            </a:r>
          </a:p>
          <a:p/>
          <a:p>
            <a:pPr/>
            <a:r>
              <a:t>ai_generated: true</a:t>
            </a:r>
          </a:p>
          <a:p>
            <a:pPr/>
            <a:r>
              <a:t>model: provider/model@version</a:t>
            </a:r>
          </a:p>
          <a:p>
            <a:pPr/>
            <a:r>
              <a:t>operator: username</a:t>
            </a:r>
          </a:p>
          <a:p>
            <a:pPr/>
            <a:r>
              <a:t>chat_id: unique chat identifier</a:t>
            </a:r>
          </a:p>
          <a:p>
            <a:pPr/>
            <a:r>
              <a:t>prompt: exact prompt text</a:t>
            </a:r>
          </a:p>
          <a:p>
            <a:pPr/>
            <a:r>
              <a:t>started/ended: timestamps</a:t>
            </a:r>
          </a:p>
          <a:p>
            <a:pPr/>
            <a:r>
              <a:t>task_durations &amp; total_duration</a:t>
            </a:r>
          </a:p>
          <a:p>
            <a:pPr/>
            <a:r>
              <a:t>ai_log: path to conversation log</a:t>
            </a:r>
          </a:p>
          <a:p>
            <a:pPr/>
            <a:r>
              <a:t>source: who/what created the file</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Metadata Placement Policy</a:t>
            </a:r>
          </a:p>
        </p:txBody>
      </p:sp>
      <p:sp>
        <p:nvSpPr>
          <p:cNvPr id="3" name="Content Placeholder 2"/>
          <p:cNvSpPr>
            <a:spLocks noGrp="1"/>
          </p:cNvSpPr>
          <p:nvPr>
            <p:ph idx="1"/>
          </p:nvPr>
        </p:nvSpPr>
        <p:spPr/>
        <p:txBody>
          <a:bodyPr wrap="square">
            <a:normAutofit/>
          </a:bodyPr>
          <a:lstStyle/>
          <a:p/>
          <a:p>
            <a:r>
              <a:t>Use YAML front matter for Markdown and similar formats</a:t>
            </a:r>
          </a:p>
          <a:p>
            <a:r>
              <a:t>For binaries/images, use a sidecar &lt;artifact&gt;.meta.md</a:t>
            </a:r>
          </a:p>
          <a:p>
            <a:r>
              <a:t>Never use sidecars for Markdown</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AI Chat Logging Workflow</a:t>
            </a:r>
          </a:p>
        </p:txBody>
      </p:sp>
      <p:sp>
        <p:nvSpPr>
          <p:cNvPr id="3" name="Content Placeholder 2"/>
          <p:cNvSpPr>
            <a:spLocks noGrp="1"/>
          </p:cNvSpPr>
          <p:nvPr>
            <p:ph idx="1"/>
          </p:nvPr>
        </p:nvSpPr>
        <p:spPr/>
        <p:txBody>
          <a:bodyPr wrap="square">
            <a:normAutofit/>
          </a:bodyPr>
          <a:lstStyle/>
          <a:p/>
          <a:p>
            <a:r>
              <a:t>Each chat creates a unique log folder: ai-logs/yyyy/mm/dd/&lt;chat-id&gt;/</a:t>
            </a:r>
          </a:p>
          <a:p>
            <a:r>
              <a:t>Required files:</a:t>
            </a:r>
          </a:p>
          <a:p/>
          <a:p>
            <a:pPr/>
            <a:r>
              <a:t>conversation.md (full transcript)</a:t>
            </a:r>
          </a:p>
          <a:p>
            <a:pPr/>
            <a:r>
              <a:t>summary.md (objectives, decisions, outcomes)</a:t>
            </a:r>
          </a:p>
          <a:p>
            <a:pPr/>
            <a:r>
              <a:t>artifacts/ (optional)</a:t>
            </a:r>
          </a:p>
          <a:p>
            <a:r>
              <a:t>  Never reuse chat logs between sessions</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Quality &amp; PR Checklist</a:t>
            </a:r>
          </a:p>
        </p:txBody>
      </p:sp>
      <p:sp>
        <p:nvSpPr>
          <p:cNvPr id="3" name="Content Placeholder 2"/>
          <p:cNvSpPr>
            <a:spLocks noGrp="1"/>
          </p:cNvSpPr>
          <p:nvPr>
            <p:ph idx="1"/>
          </p:nvPr>
        </p:nvSpPr>
        <p:spPr/>
        <p:txBody>
          <a:bodyPr wrap="square">
            <a:normAutofit/>
          </a:bodyPr>
          <a:lstStyle/>
          <a:p/>
          <a:p>
            <a:r>
              <a:t>Metadata complete and correct</a:t>
            </a:r>
          </a:p>
          <a:p>
            <a:r>
              <a:t>Conversation and summary logs exist</a:t>
            </a:r>
          </a:p>
          <a:p>
            <a:r>
              <a:t>README.md updated for notable artifacts</a:t>
            </a:r>
          </a:p>
          <a:p>
            <a:r>
              <a:t>No sensitive data in outputs</a:t>
            </a:r>
          </a:p>
          <a:p>
            <a:r>
              <a:t>All AI-generated content traces to a chat log</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Copilot Integration Requirements</a:t>
            </a:r>
          </a:p>
        </p:txBody>
      </p:sp>
      <p:sp>
        <p:nvSpPr>
          <p:cNvPr id="3" name="Content Placeholder 2"/>
          <p:cNvSpPr>
            <a:spLocks noGrp="1"/>
          </p:cNvSpPr>
          <p:nvPr>
            <p:ph idx="1"/>
          </p:nvPr>
        </p:nvSpPr>
        <p:spPr/>
        <p:txBody>
          <a:bodyPr wrap="square">
            <a:normAutofit/>
          </a:bodyPr>
          <a:lstStyle/>
          <a:p/>
          <a:p>
            <a:r>
              <a:t>Copilot must auto-manage chat IDs and logs</a:t>
            </a:r>
          </a:p>
          <a:p>
            <a:r>
              <a:t>Metadata injected automatically</a:t>
            </a:r>
          </a:p>
          <a:p>
            <a:r>
              <a:t>Block artifact creation if chat context is missing</a:t>
            </a:r>
          </a:p>
          <a:p>
            <a:r>
              <a:t>Enforce provenance before file creation</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Enforcement &amp; Remediation</a:t>
            </a:r>
          </a:p>
        </p:txBody>
      </p:sp>
      <p:sp>
        <p:nvSpPr>
          <p:cNvPr id="3" name="Content Placeholder 2"/>
          <p:cNvSpPr>
            <a:spLocks noGrp="1"/>
          </p:cNvSpPr>
          <p:nvPr>
            <p:ph idx="1"/>
          </p:nvPr>
        </p:nvSpPr>
        <p:spPr/>
        <p:txBody>
          <a:bodyPr wrap="square">
            <a:normAutofit/>
          </a:bodyPr>
          <a:lstStyle/>
          <a:p/>
          <a:p>
            <a:r>
              <a:t>PRs blocked if provenance is incomplete</a:t>
            </a:r>
          </a:p>
          <a:p>
            <a:r>
              <a:t>Missing logs or metadata must be added before merge</a:t>
            </a:r>
          </a:p>
          <a:p>
            <a:r>
              <a:t>Orphaned artifacts require reconstruction of logs and metadata</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Summary: Why This Matters</a:t>
            </a:r>
          </a:p>
        </p:txBody>
      </p:sp>
      <p:sp>
        <p:nvSpPr>
          <p:cNvPr id="3" name="Content Placeholder 2"/>
          <p:cNvSpPr>
            <a:spLocks noGrp="1"/>
          </p:cNvSpPr>
          <p:nvPr>
            <p:ph idx="1"/>
          </p:nvPr>
        </p:nvSpPr>
        <p:spPr/>
        <p:txBody>
          <a:bodyPr wrap="square">
            <a:normAutofit/>
          </a:bodyPr>
          <a:lstStyle/>
          <a:p/>
          <a:p>
            <a:r>
              <a:t>Enables auditability and trust in AI outputs</a:t>
            </a:r>
          </a:p>
          <a:p>
            <a:r>
              <a:t>Protects against orphaned or unverifiable artifacts</a:t>
            </a:r>
          </a:p>
          <a:p>
            <a:r>
              <a:t>Supports team collaboration and compliance</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Core Instruction files</a:t>
            </a:r>
          </a:p>
        </p:txBody>
      </p:sp>
      <p:sp>
        <p:nvSpPr>
          <p:cNvPr id="3" name="Content Placeholder 2"/>
          <p:cNvSpPr>
            <a:spLocks noGrp="1"/>
          </p:cNvSpPr>
          <p:nvPr>
            <p:ph idx="1"/>
          </p:nvPr>
        </p:nvSpPr>
        <p:spPr/>
        <p:txBody>
          <a:bodyPr wrap="square">
            <a:normAutofit/>
          </a:bodyPr>
          <a:lstStyle/>
          <a:p/>
          <a:p>
            <a:r>
              <a:t>chatmode-file.instructions.md</a:t>
            </a:r>
          </a:p>
          <a:p/>
          <a:p>
            <a:pPr/>
            <a:r>
              <a:t>Defines the structure and contents of agents</a:t>
            </a:r>
          </a:p>
          <a:p>
            <a:r>
              <a:t>  instruction-files.instructions.md</a:t>
            </a:r>
          </a:p>
          <a:p>
            <a:pPr/>
            <a:r>
              <a:t>Defines the structure and contents of instruction files</a:t>
            </a:r>
          </a:p>
          <a:p>
            <a:r>
              <a:t>  prompt-file.instructions.md</a:t>
            </a:r>
          </a:p>
          <a:p>
            <a:pPr/>
            <a:r>
              <a:t>Defines the structure and contents of prompts</a:t>
            </a:r>
          </a:p>
          <a:p>
            <a:r>
              <a:t>  instruction-prompt-files.instructions.md</a:t>
            </a:r>
          </a:p>
          <a:p>
            <a:pPr/>
            <a:r>
              <a:t>Defines the structure and contents of prompts the create instruction files</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Exercise: Create a Prompt File</a:t>
            </a:r>
          </a:p>
        </p:txBody>
      </p:sp>
      <p:sp>
        <p:nvSpPr>
          <p:cNvPr id="3" name="Content Placeholder 2"/>
          <p:cNvSpPr>
            <a:spLocks noGrp="1"/>
          </p:cNvSpPr>
          <p:nvPr>
            <p:ph idx="1"/>
          </p:nvPr>
        </p:nvSpPr>
        <p:spPr/>
        <p:txBody>
          <a:bodyPr wrap="square">
            <a:normAutofit/>
          </a:bodyPr>
          <a:lstStyle/>
          <a:p/>
          <a:p>
            <a:r>
              <a:t>Duration</a:t>
            </a:r>
          </a:p>
          <a:p>
            <a:r>
              <a:t>10 minutes</a:t>
            </a:r>
          </a:p>
          <a:p>
            <a:r>
              <a:t>Objectives</a:t>
            </a:r>
          </a:p>
          <a:p>
            <a:r>
              <a:t>Understand prompt structure</a:t>
            </a:r>
          </a:p>
          <a:p>
            <a:r>
              <a:t>Practice defining task intent</a:t>
            </a:r>
          </a:p>
          <a:p>
            <a:r>
              <a:t>Apply constraints and success criteria</a:t>
            </a:r>
          </a:p>
          <a:p>
            <a:r>
              <a:t>Activities</a:t>
            </a:r>
          </a:p>
          <a:p>
            <a:r>
              <a:t>Prompt Copilot to create a prompt file that creates an instruction file for evergreen software development</a:t>
            </a:r>
          </a:p>
          <a:p>
            <a:r>
              <a:t>Review the prompt</a:t>
            </a:r>
          </a:p>
          <a:p>
            <a:r>
              <a:t>Success Criteria</a:t>
            </a:r>
          </a:p>
          <a:p>
            <a:r>
              <a:t>Prompt is clear, scoped, and reusable</a:t>
            </a:r>
          </a:p>
          <a:p>
            <a:r>
              <a:t>Includes constraints and success criteria</a:t>
            </a:r>
          </a:p>
          <a:p>
            <a:r>
              <a:t>Avoids unnecessary context</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Exercise: Create an Instruction File for Evergreen Development</a:t>
            </a:r>
          </a:p>
        </p:txBody>
      </p:sp>
      <p:sp>
        <p:nvSpPr>
          <p:cNvPr id="3" name="Content Placeholder 2"/>
          <p:cNvSpPr>
            <a:spLocks noGrp="1"/>
          </p:cNvSpPr>
          <p:nvPr>
            <p:ph idx="1"/>
          </p:nvPr>
        </p:nvSpPr>
        <p:spPr/>
        <p:txBody>
          <a:bodyPr wrap="square">
            <a:normAutofit/>
          </a:bodyPr>
          <a:lstStyle/>
          <a:p/>
          <a:p>
            <a:r>
              <a:t>Duration</a:t>
            </a:r>
          </a:p>
          <a:p>
            <a:r>
              <a:t>15 minutes</a:t>
            </a:r>
          </a:p>
          <a:p>
            <a:r>
              <a:t>Objectives</a:t>
            </a:r>
          </a:p>
          <a:p>
            <a:r>
              <a:t>Capture evergreen principles</a:t>
            </a:r>
          </a:p>
          <a:p>
            <a:r>
              <a:t>Define architectural boundaries</a:t>
            </a:r>
          </a:p>
          <a:p>
            <a:r>
              <a:t>Specify modernization rules</a:t>
            </a:r>
          </a:p>
          <a:p>
            <a:r>
              <a:t>Activities</a:t>
            </a:r>
          </a:p>
          <a:p>
            <a:r>
              <a:t>Submit the Evergreen Instructions prompt</a:t>
            </a:r>
          </a:p>
          <a:p>
            <a:r>
              <a:t>Review the instructions</a:t>
            </a:r>
          </a:p>
          <a:p>
            <a:r>
              <a:t>Success Criteria</a:t>
            </a:r>
          </a:p>
          <a:p>
            <a:r>
              <a:t>Instruction file is stable and reusable</a:t>
            </a:r>
          </a:p>
          <a:p>
            <a:r>
              <a:t>Reflects evergreen development values</a:t>
            </a:r>
          </a:p>
          <a:p>
            <a:r>
              <a:t>Provides clear guardrails</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Exercise: Create an Agent</a:t>
            </a:r>
          </a:p>
        </p:txBody>
      </p:sp>
      <p:sp>
        <p:nvSpPr>
          <p:cNvPr id="3" name="Content Placeholder 2"/>
          <p:cNvSpPr>
            <a:spLocks noGrp="1"/>
          </p:cNvSpPr>
          <p:nvPr>
            <p:ph idx="1"/>
          </p:nvPr>
        </p:nvSpPr>
        <p:spPr/>
        <p:txBody>
          <a:bodyPr wrap="square">
            <a:normAutofit/>
          </a:bodyPr>
          <a:lstStyle/>
          <a:p/>
          <a:p>
            <a:r>
              <a:t>Duration</a:t>
            </a:r>
          </a:p>
          <a:p>
            <a:r>
              <a:t>10 minutes</a:t>
            </a:r>
          </a:p>
          <a:p>
            <a:r>
              <a:t>Objectives</a:t>
            </a:r>
          </a:p>
          <a:p>
            <a:r>
              <a:t>Define a persona optimized for brownfield work</a:t>
            </a:r>
          </a:p>
          <a:p>
            <a:r>
              <a:t>Emphasize safety and incrementalism</a:t>
            </a:r>
          </a:p>
          <a:p>
            <a:r>
              <a:t>Encode risk‑aware behaviors</a:t>
            </a:r>
          </a:p>
          <a:p>
            <a:r>
              <a:t>Activities</a:t>
            </a:r>
          </a:p>
          <a:p>
            <a:r>
              <a:t>Draft a Agent that:</a:t>
            </a:r>
          </a:p>
          <a:p/>
          <a:p>
            <a:pPr/>
            <a:r>
              <a:t>Respects working systems</a:t>
            </a:r>
          </a:p>
          <a:p>
            <a:pPr/>
            <a:r>
              <a:t>Avoids risky rewrites</a:t>
            </a:r>
          </a:p>
          <a:p>
            <a:pPr/>
            <a:r>
              <a:t>Surfaces context gaps</a:t>
            </a:r>
          </a:p>
          <a:p>
            <a:pPr/>
            <a:r>
              <a:t>Encourages incremental changes</a:t>
            </a:r>
          </a:p>
          <a:p>
            <a:r>
              <a:t>  Add tone and behavioral guidelines</a:t>
            </a:r>
          </a:p>
          <a:p>
            <a:r>
              <a:t>  Add provenance metadata</a:t>
            </a:r>
          </a:p>
          <a:p>
            <a:r>
              <a:t>  Success Criteria</a:t>
            </a:r>
          </a:p>
          <a:p>
            <a:r>
              <a:t>  Agent behaves like a cautious senior engineer</a:t>
            </a:r>
          </a:p>
          <a:p>
            <a:r>
              <a:t>  Encourages safe modernization</a:t>
            </a:r>
          </a:p>
          <a:p>
            <a:r>
              <a:t>  Includes clear behavioral rules</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Exercise: Generate Instruction Files</a:t>
            </a:r>
          </a:p>
        </p:txBody>
      </p:sp>
      <p:sp>
        <p:nvSpPr>
          <p:cNvPr id="3" name="Content Placeholder 2"/>
          <p:cNvSpPr>
            <a:spLocks noGrp="1"/>
          </p:cNvSpPr>
          <p:nvPr>
            <p:ph idx="1"/>
          </p:nvPr>
        </p:nvSpPr>
        <p:spPr/>
        <p:txBody>
          <a:bodyPr wrap="square">
            <a:normAutofit/>
          </a:bodyPr>
          <a:lstStyle/>
          <a:p/>
          <a:p>
            <a:r>
              <a:t>Duration</a:t>
            </a:r>
          </a:p>
          <a:p>
            <a:r>
              <a:t>20 minutes</a:t>
            </a:r>
          </a:p>
          <a:p>
            <a:r>
              <a:t>Objectives</a:t>
            </a:r>
          </a:p>
          <a:p>
            <a:r>
              <a:t>Use meta prompts to scale instruction‑file creation</a:t>
            </a:r>
          </a:p>
          <a:p>
            <a:r>
              <a:t>Capture module‑specific rules</a:t>
            </a:r>
          </a:p>
          <a:p>
            <a:r>
              <a:t>Encode domain and architectural constraints</a:t>
            </a:r>
          </a:p>
          <a:p>
            <a:r>
              <a:t>Activities</a:t>
            </a:r>
          </a:p>
          <a:p>
            <a:r>
              <a:t>Prompt Copilot to create instruction files for the standards and conventions of the tech stack</a:t>
            </a:r>
          </a:p>
          <a:p>
            <a:r>
              <a:t>Review instructions</a:t>
            </a:r>
          </a:p>
          <a:p>
            <a:r>
              <a:t>Success Criteria</a:t>
            </a:r>
          </a:p>
          <a:p>
            <a:r>
              <a:t>Instruction files reflect real system constraints</a:t>
            </a:r>
          </a:p>
          <a:p>
            <a:r>
              <a:t>Meta prompts produce consistent structure</a:t>
            </a:r>
          </a:p>
          <a:p>
            <a:r>
              <a:t>Files are ready for team use</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Exercise: Context‑Related Issues</a:t>
            </a:r>
          </a:p>
        </p:txBody>
      </p:sp>
      <p:sp>
        <p:nvSpPr>
          <p:cNvPr id="3" name="Content Placeholder 2"/>
          <p:cNvSpPr>
            <a:spLocks noGrp="1"/>
          </p:cNvSpPr>
          <p:nvPr>
            <p:ph idx="1"/>
          </p:nvPr>
        </p:nvSpPr>
        <p:spPr/>
        <p:txBody>
          <a:bodyPr wrap="square">
            <a:normAutofit/>
          </a:bodyPr>
          <a:lstStyle/>
          <a:p/>
          <a:p>
            <a:r>
              <a:t>Duration</a:t>
            </a:r>
          </a:p>
          <a:p>
            <a:r>
              <a:t>10 minutes</a:t>
            </a:r>
          </a:p>
          <a:p>
            <a:r>
              <a:t>Objectives</a:t>
            </a:r>
          </a:p>
          <a:p>
            <a:r>
              <a:t>Identify missing context</a:t>
            </a:r>
          </a:p>
          <a:p>
            <a:r>
              <a:t>Detect token overflow risks</a:t>
            </a:r>
          </a:p>
          <a:p>
            <a:r>
              <a:t>Improve prompt scoping</a:t>
            </a:r>
          </a:p>
          <a:p>
            <a:r>
              <a:t>Activities</a:t>
            </a:r>
          </a:p>
          <a:p>
            <a:r>
              <a:t>Copy the check-context.prompt.md file from the AIASD repository</a:t>
            </a:r>
          </a:p>
          <a:p>
            <a:r>
              <a:t>Review the prompt</a:t>
            </a:r>
          </a:p>
          <a:p>
            <a:r>
              <a:t>Submit the prompt</a:t>
            </a:r>
          </a:p>
          <a:p>
            <a:r>
              <a:t>Review the output</a:t>
            </a:r>
          </a:p>
          <a:p>
            <a:r>
              <a:t>Success Criteria</a:t>
            </a:r>
          </a:p>
          <a:p>
            <a:r>
              <a:t>Correctly identified context gaps</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Instruction Files</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Persistent AI Behavioral Guidelines</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What Are Instruction Files?</a:t>
            </a:r>
          </a:p>
        </p:txBody>
      </p:sp>
      <p:sp>
        <p:nvSpPr>
          <p:cNvPr id="3" name="Content Placeholder 2"/>
          <p:cNvSpPr>
            <a:spLocks noGrp="1"/>
          </p:cNvSpPr>
          <p:nvPr>
            <p:ph idx="1"/>
          </p:nvPr>
        </p:nvSpPr>
        <p:spPr/>
        <p:txBody>
          <a:bodyPr wrap="square">
            <a:normAutofit/>
          </a:bodyPr>
          <a:lstStyle/>
          <a:p/>
          <a:p>
            <a:r>
              <a:t>Definition</a:t>
            </a:r>
          </a:p>
          <a:p>
            <a:r>
              <a:t>Persistent configuration files that define AI behavior patterns</a:t>
            </a:r>
          </a:p>
          <a:p>
            <a:r>
              <a:t>Applied automatically across multiple interactions</a:t>
            </a:r>
          </a:p>
          <a:p>
            <a:r>
              <a:t>Establish consistent working standards and constraints</a:t>
            </a:r>
          </a:p>
          <a:p>
            <a:r>
              <a:t>Key Characteristics</a:t>
            </a:r>
          </a:p>
          <a:p>
            <a:r>
              <a:t>Scope: Repository-wide or context-specific</a:t>
            </a:r>
          </a:p>
          <a:p>
            <a:r>
              <a:t>Persistence: Active across all relevant AI interactions</a:t>
            </a:r>
          </a:p>
          <a:p>
            <a:r>
              <a:t>Purpose: Define “how” AI should work, not “what” to do</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Instruction File Structure</a:t>
            </a:r>
          </a:p>
        </p:txBody>
      </p:sp>
      <p:sp>
        <p:nvSpPr>
          <p:cNvPr id="3" name="Content Placeholder 2"/>
          <p:cNvSpPr>
            <a:spLocks noGrp="1"/>
          </p:cNvSpPr>
          <p:nvPr>
            <p:ph idx="1"/>
          </p:nvPr>
        </p:nvSpPr>
        <p:spPr/>
        <p:txBody>
          <a:bodyPr wrap="square">
            <a:normAutofit/>
          </a:bodyPr>
          <a:lstStyle/>
          <a:p/>
          <a:p>
            <a:r>
              <a:t>```markdown</a:t>
            </a:r>
          </a:p>
          <a:p>
            <a:r>
              <a:t>---</a:t>
            </a:r>
          </a:p>
          <a:p>
            <a:r>
              <a:t>description: Azure best practices for AI development</a:t>
            </a:r>
          </a:p>
          <a:p>
            <a:r>
              <a:t>applyTo: "**" # File pattern scope</a:t>
            </a:r>
          </a:p>
          <a:p>
            <a:r>
              <a:t>---</a:t>
            </a:r>
          </a:p>
          <a:p/>
          <a:p/>
          <a:p>
            <a:pPr/>
            <a:r>
              <a:t>Use Azure Tools when handling Azure requests</a:t>
            </a:r>
          </a:p>
          <a:p>
            <a:pPr/>
            <a:r>
              <a:t>Follow security best practices</a:t>
            </a:r>
          </a:p>
          <a:p>
            <a:pPr/>
            <a:r>
              <a:t>Implement proper error handling</a:t>
            </a:r>
          </a:p>
          <a:p>
            <a:pPr/>
            <a:r>
              <a:t>Generate comprehensive documentation</a:t>
            </a:r>
          </a:p>
          <a:p/>
          <a:p/>
          <a:p>
            <a:pPr/>
            <a:r>
              <a:t>Write tests before implementation</a:t>
            </a:r>
          </a:p>
          <a:p>
            <a:pPr/>
            <a:r>
              <a:t>Use dependency injection patterns</a:t>
            </a:r>
          </a:p>
          <a:p>
            <a:pPr/>
            <a:r>
              <a:t>Follow naming conventions</a:t>
            </a:r>
          </a:p>
          <a:p>
            <a:pPr/>
            <a:r>
              <a:t>Include proper logging</a:t>
            </a:r>
          </a:p>
          <a:p>
            <a:r>
              <a:t>```</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Instruction Files: Use Cases</a:t>
            </a:r>
          </a:p>
        </p:txBody>
      </p:sp>
      <p:sp>
        <p:nvSpPr>
          <p:cNvPr id="3" name="Content Placeholder 2"/>
          <p:cNvSpPr>
            <a:spLocks noGrp="1"/>
          </p:cNvSpPr>
          <p:nvPr>
            <p:ph idx="1"/>
          </p:nvPr>
        </p:nvSpPr>
        <p:spPr/>
        <p:txBody>
          <a:bodyPr wrap="square">
            <a:normAutofit/>
          </a:bodyPr>
          <a:lstStyle/>
          <a:p/>
          <a:p>
            <a:r>
              <a:t>Perfect For:</a:t>
            </a:r>
          </a:p>
          <a:p>
            <a:r>
              <a:t>Coding Standards → Consistent style across projects</a:t>
            </a:r>
          </a:p>
          <a:p>
            <a:r>
              <a:t>Security Policies → Enforce security practices</a:t>
            </a:r>
          </a:p>
          <a:p>
            <a:r>
              <a:t>Quality Gates → Define testing and review requirements</a:t>
            </a:r>
          </a:p>
          <a:p>
            <a:r>
              <a:t>Technology Constraints → Specify approved frameworks/tools</a:t>
            </a:r>
          </a:p>
          <a:p>
            <a:r>
              <a:t>Examples:</a:t>
            </a:r>
          </a:p>
          <a:p>
            <a:r>
              <a:t>azure-development.instructions.md</a:t>
            </a:r>
          </a:p>
          <a:p>
            <a:r>
              <a:t>testing-standards.instructions.md</a:t>
            </a:r>
          </a:p>
          <a:p>
            <a:r>
              <a:t>security-requirements.instructions.md</a:t>
            </a: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Instruction Files Best Practices</a:t>
            </a:r>
          </a:p>
        </p:txBody>
      </p:sp>
      <p:sp>
        <p:nvSpPr>
          <p:cNvPr id="3" name="Content Placeholder 2"/>
          <p:cNvSpPr>
            <a:spLocks noGrp="1"/>
          </p:cNvSpPr>
          <p:nvPr>
            <p:ph idx="1"/>
          </p:nvPr>
        </p:nvSpPr>
        <p:spPr/>
        <p:txBody>
          <a:bodyPr wrap="square">
            <a:normAutofit/>
          </a:bodyPr>
          <a:lstStyle/>
          <a:p/>
          <a:p>
            <a:r>
              <a:t>✅ Do This:</a:t>
            </a:r>
          </a:p>
          <a:p>
            <a:r>
              <a:t>Keep instructions clear and actionable</a:t>
            </a:r>
          </a:p>
          <a:p>
            <a:r>
              <a:t>Use file patterns (applyTo: '\*\*') for broad scope</a:t>
            </a:r>
          </a:p>
          <a:p>
            <a:r>
              <a:t>Version control and document changes</a:t>
            </a:r>
          </a:p>
          <a:p>
            <a:r>
              <a:t>Test instruction effectiveness regularly</a:t>
            </a:r>
          </a:p>
          <a:p>
            <a:r>
              <a:t>❌ Avoid This:</a:t>
            </a:r>
          </a:p>
          <a:p>
            <a:r>
              <a:t>Overly complex or contradictory rules</a:t>
            </a:r>
          </a:p>
          <a:p>
            <a:r>
              <a:t>Too many instructions (cognitive overload)</a:t>
            </a:r>
          </a:p>
          <a:p>
            <a:r>
              <a:t>Instructions that conflict with prompt files</a:t>
            </a:r>
          </a:p>
          <a:p>
            <a:r>
              <a:t>Hardcoded values instead of parameters</a:t>
            </a:r>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 Instruction File `applyTo` Patterns</a:t>
            </a:r>
          </a:p>
        </p:txBody>
      </p:sp>
      <p:sp>
        <p:nvSpPr>
          <p:cNvPr id="3" name="Content Placeholder 2"/>
          <p:cNvSpPr>
            <a:spLocks noGrp="1"/>
          </p:cNvSpPr>
          <p:nvPr>
            <p:ph idx="1"/>
          </p:nvPr>
        </p:nvSpPr>
        <p:spPr/>
        <p:txBody>
          <a:bodyPr wrap="square">
            <a:normAutofit/>
          </a:bodyPr>
          <a:lstStyle/>
          <a:p/>
          <a:p>
            <a:r>
              <a:rPr b="1"/>
              <a:t>Understanding Glob Pattern Matching</a:t>
            </a:r>
          </a:p>
          <a:p/>
          <a:p>
            <a:r>
              <a:t>Controlling When Instructions Apply to Your Code</a:t>
            </a:r>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Where `appliesTo` Fits</a:t>
            </a:r>
          </a:p>
        </p:txBody>
      </p:sp>
      <p:sp>
        <p:nvSpPr>
          <p:cNvPr id="3" name="Content Placeholder 2"/>
          <p:cNvSpPr>
            <a:spLocks noGrp="1"/>
          </p:cNvSpPr>
          <p:nvPr>
            <p:ph idx="1"/>
          </p:nvPr>
        </p:nvSpPr>
        <p:spPr/>
        <p:txBody>
          <a:bodyPr wrap="square">
            <a:normAutofit/>
          </a:bodyPr>
          <a:lstStyle/>
          <a:p/>
          <a:p>
            <a:r>
              <a:t>The filtering mechanism for instruction files</a:t>
            </a:r>
          </a:p>
          <a:p/>
          <a:p>
            <a:r>
              <a:t>`appliesTo` is a </a:t>
            </a:r>
            <a:r>
              <a:rPr b="1"/>
              <a:t>selector</a:t>
            </a:r>
            <a:r>
              <a:t> that determines _when_ an instruction file</a:t>
            </a:r>
          </a:p>
          <a:p>
            <a:r>
              <a:t>is included in the stack.</a:t>
            </a:r>
          </a:p>
          <a:p/>
          <a:p>
            <a:r>
              <a:t>Common selectors include:</a:t>
            </a:r>
          </a:p>
          <a:p/>
          <a:p>
            <a:pPr/>
            <a:r>
              <a:rPr b="1"/>
              <a:t>repositories</a:t>
            </a:r>
            <a:r>
              <a:t> -- include only for specific repos</a:t>
            </a:r>
          </a:p>
          <a:p>
            <a:pPr/>
            <a:r>
              <a:rPr b="1"/>
              <a:t>languages</a:t>
            </a:r>
            <a:r>
              <a:t> -- include only for certain languages</a:t>
            </a:r>
          </a:p>
          <a:p>
            <a:pPr/>
            <a:r>
              <a:rPr b="1"/>
              <a:t>filePatterns</a:t>
            </a:r>
            <a:r>
              <a:t> -- include only when editing certain files</a:t>
            </a:r>
          </a:p>
          <a:p>
            <a:pPr/>
            <a:r>
              <a:rPr b="1"/>
              <a:t>tools</a:t>
            </a:r>
            <a:r>
              <a:t> -- include only when using specific Copilot features</a:t>
            </a:r>
          </a:p>
          <a:p>
            <a:pPr/>
            <a:r>
              <a:rPr b="1"/>
              <a:t>scopes</a:t>
            </a:r>
            <a:r>
              <a:t> -- include only in chat, only in editor, etc.</a:t>
            </a:r>
          </a:p>
          <a:p/>
          <a:p>
            <a:r>
              <a:rPr b="1"/>
              <a:t>Speaker Notes:</a:t>
            </a:r>
            <a:r>
              <a:t> `appliesTo` is not a guardrail itself. It's a routing</a:t>
            </a:r>
          </a:p>
          <a:p>
            <a:r>
              <a:t>rule. It prevents irrelevant instructions from polluting the stack and</a:t>
            </a:r>
          </a:p>
          <a:p>
            <a:r>
              <a:t>keeps the assistant focused.</a:t>
            </a:r>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How `appliesTo` Interacts with the Stack</a:t>
            </a:r>
          </a:p>
        </p:txBody>
      </p:sp>
      <p:sp>
        <p:nvSpPr>
          <p:cNvPr id="3" name="Content Placeholder 2"/>
          <p:cNvSpPr>
            <a:spLocks noGrp="1"/>
          </p:cNvSpPr>
          <p:nvPr>
            <p:ph idx="1"/>
          </p:nvPr>
        </p:nvSpPr>
        <p:spPr/>
        <p:txBody>
          <a:bodyPr wrap="square">
            <a:normAutofit/>
          </a:bodyPr>
          <a:lstStyle/>
          <a:p/>
          <a:p>
            <a:r>
              <a:t>Filtering happens _before_ merging</a:t>
            </a:r>
          </a:p>
          <a:p/>
          <a:p>
            <a:r>
              <a:t>1.  Copilot discovers all instruction files in scope</a:t>
            </a:r>
          </a:p>
          <a:p>
            <a:r>
              <a:t>2.  Copilot filters them using `appliesTo`</a:t>
            </a:r>
          </a:p>
          <a:p>
            <a:r>
              <a:t>3.  Copilot merges the remaining files into the stack</a:t>
            </a:r>
          </a:p>
          <a:p/>
          <a:p>
            <a:r>
              <a:rPr b="1"/>
              <a:t>Speaker Notes:</a:t>
            </a:r>
            <a:r>
              <a:t> This means you can have many instruction files in</a:t>
            </a:r>
          </a:p>
          <a:p>
            <a:r>
              <a:t>`.github/instructions/`, but only the ones whose `appliesTo` match the</a:t>
            </a:r>
          </a:p>
          <a:p>
            <a:r>
              <a:t>current context will be included.</a:t>
            </a:r>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 What is `applyTo`?</a:t>
            </a:r>
          </a:p>
        </p:txBody>
      </p:sp>
      <p:sp>
        <p:nvSpPr>
          <p:cNvPr id="3" name="Content Placeholder 2"/>
          <p:cNvSpPr>
            <a:spLocks noGrp="1"/>
          </p:cNvSpPr>
          <p:nvPr>
            <p:ph idx="1"/>
          </p:nvPr>
        </p:nvSpPr>
        <p:spPr/>
        <p:txBody>
          <a:bodyPr wrap="square">
            <a:normAutofit/>
          </a:bodyPr>
          <a:lstStyle/>
          <a:p/>
          <a:p>
            <a:r>
              <a:t>The `applyTo` field in instruction file front matter controls </a:t>
            </a:r>
            <a:r>
              <a:rPr b="1"/>
              <a:t>which files</a:t>
            </a:r>
            <a:r>
              <a:t> the instructions apply to.</a:t>
            </a:r>
          </a:p>
          <a:p/>
          <a:p>
            <a:r>
              <a:t>```yaml</a:t>
            </a:r>
          </a:p>
          <a:p>
            <a:r>
              <a:t>---</a:t>
            </a:r>
          </a:p>
          <a:p>
            <a:r>
              <a:t>applyTo: "**/*.md" # Applies to all Markdown files</a:t>
            </a:r>
          </a:p>
          <a:p>
            <a:r>
              <a:t>---</a:t>
            </a:r>
          </a:p>
          <a:p>
            <a:r>
              <a:t>```</a:t>
            </a:r>
          </a:p>
          <a:p/>
          <a:p>
            <a:r>
              <a:rPr b="1"/>
              <a:t>Why It Matters:</a:t>
            </a:r>
          </a:p>
          <a:p/>
          <a:p>
            <a:pPr/>
            <a:r>
              <a:t>✅ Apply architecture patterns only to code files</a:t>
            </a:r>
          </a:p>
          <a:p>
            <a:pPr/>
            <a:r>
              <a:t>✅ Apply documentation standards only to docs</a:t>
            </a:r>
          </a:p>
          <a:p>
            <a:pPr/>
            <a:r>
              <a:t>✅ Avoid conflicting instructions</a:t>
            </a:r>
          </a:p>
          <a:p>
            <a:pPr/>
            <a:r>
              <a:t>✅ Improve Copilot performance by reducing context</a:t>
            </a:r>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 Universal Application</a:t>
            </a:r>
          </a:p>
        </p:txBody>
      </p:sp>
      <p:sp>
        <p:nvSpPr>
          <p:cNvPr id="3" name="Content Placeholder 2"/>
          <p:cNvSpPr>
            <a:spLocks noGrp="1"/>
          </p:cNvSpPr>
          <p:nvPr>
            <p:ph idx="1"/>
          </p:nvPr>
        </p:nvSpPr>
        <p:spPr/>
        <p:txBody>
          <a:bodyPr wrap="square">
            <a:normAutofit/>
          </a:bodyPr>
          <a:lstStyle/>
          <a:p/>
          <a:p>
            <a:r>
              <a:t>Apply instructions to </a:t>
            </a:r>
            <a:r>
              <a:rPr b="1"/>
              <a:t>all files</a:t>
            </a:r>
            <a:r>
              <a:t> in the repository:</a:t>
            </a:r>
          </a:p>
          <a:p/>
          <a:p>
            <a:r>
              <a:t>```yaml</a:t>
            </a:r>
          </a:p>
          <a:p>
            <a:r>
              <a:t>applyTo: "**"        # All files</a:t>
            </a:r>
          </a:p>
          <a:p>
            <a:r>
              <a:t>applyTo: "**/*"      # All files (explicit)</a:t>
            </a:r>
          </a:p>
          <a:p>
            <a:r>
              <a:t>```</a:t>
            </a:r>
          </a:p>
          <a:p/>
          <a:p>
            <a:r>
              <a:rPr b="1"/>
              <a:t>Use Cases:</a:t>
            </a:r>
          </a:p>
          <a:p/>
          <a:p>
            <a:pPr/>
            <a:r>
              <a:t>AI-assisted output policies</a:t>
            </a:r>
          </a:p>
          <a:p>
            <a:pPr/>
            <a:r>
              <a:t>General code quality standards</a:t>
            </a:r>
          </a:p>
          <a:p>
            <a:pPr/>
            <a:r>
              <a:t>Repository-wide conventions</a:t>
            </a:r>
          </a:p>
          <a:p>
            <a:pPr/>
            <a:r>
              <a:t>Copilot behavior guidelines</a:t>
            </a:r>
          </a:p>
          <a:p/>
          <a:p>
            <a:r>
              <a:rPr b="1"/>
              <a:t>⚠️ Caution:</a:t>
            </a:r>
            <a:r>
              <a:t> Use sparingly - can create conflicts with more specific instructions</a:t>
            </a:r>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 File Extension Matching</a:t>
            </a:r>
          </a:p>
        </p:txBody>
      </p:sp>
      <p:sp>
        <p:nvSpPr>
          <p:cNvPr id="3" name="Content Placeholder 2"/>
          <p:cNvSpPr>
            <a:spLocks noGrp="1"/>
          </p:cNvSpPr>
          <p:nvPr>
            <p:ph idx="1"/>
          </p:nvPr>
        </p:nvSpPr>
        <p:spPr/>
        <p:txBody>
          <a:bodyPr wrap="square">
            <a:normAutofit/>
          </a:bodyPr>
          <a:lstStyle/>
          <a:p/>
          <a:p>
            <a:r>
              <a:t>Target specific file types using extension patterns:</a:t>
            </a:r>
          </a:p>
          <a:p/>
          <a:p>
            <a:r>
              <a:t>```yaml</a:t>
            </a:r>
          </a:p>
          <a:p>
            <a:r>
              <a:t>applyTo: "**/*.md"</a:t>
            </a:r>
          </a:p>
          <a:p/>
          <a:p>
            <a:r>
              <a:t>applyTo: "**/*.{cs,ts,js}"</a:t>
            </a:r>
          </a:p>
          <a:p/>
          <a:p>
            <a:r>
              <a:t>applyTo: "**/*.instructions.md"</a:t>
            </a:r>
          </a:p>
          <a:p>
            <a:r>
              <a:t>```</a:t>
            </a:r>
          </a:p>
          <a:p/>
          <a:p>
            <a:r>
              <a:rPr b="1"/>
              <a:t>Most Common:</a:t>
            </a:r>
          </a:p>
          <a:p/>
          <a:p>
            <a:pPr/>
            <a:r>
              <a:t>`**/*.md` - All Markdown files</a:t>
            </a:r>
          </a:p>
          <a:p>
            <a:pPr/>
            <a:r>
              <a:t>`**/*.{cs,ts,js,py}` - Multiple programming languages</a:t>
            </a:r>
          </a:p>
          <a:p>
            <a:pPr/>
            <a:r>
              <a:t>`**/*.test.js` - Test files</a:t>
            </a:r>
          </a:p>
          <a:p>
            <a:pPr/>
            <a:r>
              <a:t>`**/*.instructions.md` - Instruction files</a:t>
            </a:r>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 Directory-Specific Patterns</a:t>
            </a:r>
          </a:p>
        </p:txBody>
      </p:sp>
      <p:sp>
        <p:nvSpPr>
          <p:cNvPr id="3" name="Content Placeholder 2"/>
          <p:cNvSpPr>
            <a:spLocks noGrp="1"/>
          </p:cNvSpPr>
          <p:nvPr>
            <p:ph idx="1"/>
          </p:nvPr>
        </p:nvSpPr>
        <p:spPr/>
        <p:txBody>
          <a:bodyPr wrap="square">
            <a:normAutofit/>
          </a:bodyPr>
          <a:lstStyle/>
          <a:p/>
          <a:p>
            <a:r>
              <a:t>Limit instructions to specific directories:</a:t>
            </a:r>
          </a:p>
          <a:p/>
          <a:p>
            <a:r>
              <a:t>```yaml</a:t>
            </a:r>
          </a:p>
          <a:p>
            <a:r>
              <a:t>applyTo: "Slides/individual-slides/**"</a:t>
            </a:r>
          </a:p>
          <a:p/>
          <a:p>
            <a:r>
              <a:t>applyTo: "src/Features/**/*.cs"</a:t>
            </a:r>
          </a:p>
          <a:p/>
          <a:p>
            <a:r>
              <a:t>applyTo: ".github/instructions/**/*.md"</a:t>
            </a:r>
          </a:p>
          <a:p>
            <a:r>
              <a:t>```</a:t>
            </a:r>
          </a:p>
          <a:p/>
          <a:p>
            <a:r>
              <a:rPr b="1"/>
              <a:t>Benefits:</a:t>
            </a:r>
          </a:p>
          <a:p/>
          <a:p>
            <a:pPr/>
            <a:r>
              <a:t>Isolate concerns (slides vs code vs docs)</a:t>
            </a:r>
          </a:p>
          <a:p>
            <a:pPr/>
            <a:r>
              <a:t>Different rules for different project areas</a:t>
            </a:r>
          </a:p>
          <a:p>
            <a:pPr/>
            <a:r>
              <a:t>Clearer instruction purpose</a:t>
            </a:r>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 Glob Pattern Syntax</a:t>
            </a:r>
          </a:p>
        </p:txBody>
      </p:sp>
      <p:graphicFrame>
        <p:nvGraphicFramePr>
          <p:cNvPr id="3" name="Table 2"/>
          <p:cNvGraphicFramePr>
            <a:graphicFrameLocks noGrp="1"/>
          </p:cNvGraphicFramePr>
          <p:nvPr/>
        </p:nvGraphicFramePr>
        <p:xfrm>
          <a:off x="457200" y="1828800"/>
          <a:ext cx="8229600" cy="3200400"/>
        </p:xfrm>
        <a:graphic>
          <a:graphicData uri="http://schemas.openxmlformats.org/drawingml/2006/table">
            <a:tbl>
              <a:tblPr firstRow="1" bandRow="1">
                <a:tableStyleId>{5C22544A-7EE6-4342-B048-85BDC9FD1C3A}</a:tableStyleId>
              </a:tblPr>
              <a:tblGrid>
                <a:gridCol w="2743200"/>
                <a:gridCol w="2743200"/>
                <a:gridCol w="2743200"/>
              </a:tblGrid>
              <a:tr h="457200">
                <a:tc>
                  <a:txBody>
                    <a:bodyPr/>
                    <a:lstStyle/>
                    <a:p>
                      <a:pPr>
                        <a:defRPr b="1" sz="1296"/>
                      </a:pPr>
                      <a:r>
                        <a:t>Pattern</a:t>
                      </a:r>
                    </a:p>
                  </a:txBody>
                  <a:tcPr/>
                </a:tc>
                <a:tc>
                  <a:txBody>
                    <a:bodyPr/>
                    <a:lstStyle/>
                    <a:p>
                      <a:pPr>
                        <a:defRPr b="1" sz="1296"/>
                      </a:pPr>
                      <a:r>
                        <a:t>Meaning</a:t>
                      </a:r>
                    </a:p>
                  </a:txBody>
                  <a:tcPr/>
                </a:tc>
                <a:tc>
                  <a:txBody>
                    <a:bodyPr/>
                    <a:lstStyle/>
                    <a:p>
                      <a:pPr>
                        <a:defRPr b="1" sz="1296"/>
                      </a:pPr>
                      <a:r>
                        <a:t>Example</a:t>
                      </a:r>
                    </a:p>
                  </a:txBody>
                  <a:tcPr/>
                </a:tc>
              </a:tr>
              <a:tr h="457200">
                <a:tc>
                  <a:txBody>
                    <a:bodyPr/>
                    <a:lstStyle/>
                    <a:p>
                      <a:r>
                        <a:t>`*`</a:t>
                      </a:r>
                    </a:p>
                  </a:txBody>
                  <a:tcPr/>
                </a:tc>
                <a:tc>
                  <a:txBody>
                    <a:bodyPr/>
                    <a:lstStyle/>
                    <a:p>
                      <a:r>
                        <a:t>Any characters (not `/`)</a:t>
                      </a:r>
                    </a:p>
                  </a:txBody>
                  <a:tcPr/>
                </a:tc>
                <a:tc>
                  <a:txBody>
                    <a:bodyPr/>
                    <a:lstStyle/>
                    <a:p>
                      <a:r>
                        <a:t>`*.md` → `README.md`</a:t>
                      </a:r>
                    </a:p>
                  </a:txBody>
                  <a:tcPr/>
                </a:tc>
              </a:tr>
              <a:tr h="457200">
                <a:tc>
                  <a:txBody>
                    <a:bodyPr/>
                    <a:lstStyle/>
                    <a:p>
                      <a:r>
                        <a:t>`**`</a:t>
                      </a:r>
                    </a:p>
                  </a:txBody>
                  <a:tcPr/>
                </a:tc>
                <a:tc>
                  <a:txBody>
                    <a:bodyPr/>
                    <a:lstStyle/>
                    <a:p>
                      <a:r>
                        <a:t>Zero or more directories</a:t>
                      </a:r>
                    </a:p>
                  </a:txBody>
                  <a:tcPr/>
                </a:tc>
                <a:tc>
                  <a:txBody>
                    <a:bodyPr/>
                    <a:lstStyle/>
                    <a:p>
                      <a:r>
                        <a:t>`**/*.md` → `docs/guide.md`</a:t>
                      </a:r>
                    </a:p>
                  </a:txBody>
                  <a:tcPr/>
                </a:tc>
              </a:tr>
              <a:tr h="457200">
                <a:tc>
                  <a:txBody>
                    <a:bodyPr/>
                    <a:lstStyle/>
                    <a:p>
                      <a:r>
                        <a:t>`?`</a:t>
                      </a:r>
                    </a:p>
                  </a:txBody>
                  <a:tcPr/>
                </a:tc>
                <a:tc>
                  <a:txBody>
                    <a:bodyPr/>
                    <a:lstStyle/>
                    <a:p>
                      <a:r>
                        <a:t>Single character</a:t>
                      </a:r>
                    </a:p>
                  </a:txBody>
                  <a:tcPr/>
                </a:tc>
                <a:tc>
                  <a:txBody>
                    <a:bodyPr/>
                    <a:lstStyle/>
                    <a:p>
                      <a:r>
                        <a:t>`file?.md` → `file1.md`</a:t>
                      </a:r>
                    </a:p>
                  </a:txBody>
                  <a:tcPr/>
                </a:tc>
              </a:tr>
              <a:tr h="457200">
                <a:tc>
                  <a:txBody>
                    <a:bodyPr/>
                    <a:lstStyle/>
                    <a:p>
                      <a:r>
                        <a:t>`[abc]`</a:t>
                      </a:r>
                    </a:p>
                  </a:txBody>
                  <a:tcPr/>
                </a:tc>
                <a:tc>
                  <a:txBody>
                    <a:bodyPr/>
                    <a:lstStyle/>
                    <a:p>
                      <a:r>
                        <a:t>Character set</a:t>
                      </a:r>
                    </a:p>
                  </a:txBody>
                  <a:tcPr/>
                </a:tc>
                <a:tc>
                  <a:txBody>
                    <a:bodyPr/>
                    <a:lstStyle/>
                    <a:p>
                      <a:r>
                        <a:t>`[abc].md` → `a.md`</a:t>
                      </a:r>
                    </a:p>
                  </a:txBody>
                  <a:tcPr/>
                </a:tc>
              </a:tr>
              <a:tr h="457200">
                <a:tc>
                  <a:txBody>
                    <a:bodyPr/>
                    <a:lstStyle/>
                    <a:p>
                      <a:r>
                        <a:t>`[a-z]`</a:t>
                      </a:r>
                    </a:p>
                  </a:txBody>
                  <a:tcPr/>
                </a:tc>
                <a:tc>
                  <a:txBody>
                    <a:bodyPr/>
                    <a:lstStyle/>
                    <a:p>
                      <a:r>
                        <a:t>Character range</a:t>
                      </a:r>
                    </a:p>
                  </a:txBody>
                  <a:tcPr/>
                </a:tc>
                <a:tc>
                  <a:txBody>
                    <a:bodyPr/>
                    <a:lstStyle/>
                    <a:p>
                      <a:r>
                        <a:t>`[a-z].md` → `x.md`</a:t>
                      </a:r>
                    </a:p>
                  </a:txBody>
                  <a:tcPr/>
                </a:tc>
              </a:tr>
              <a:tr h="457200">
                <a:tc>
                  <a:txBody>
                    <a:bodyPr/>
                    <a:lstStyle/>
                    <a:p>
                      <a:r>
                        <a:t>`{a,b}`</a:t>
                      </a:r>
                    </a:p>
                  </a:txBody>
                  <a:tcPr/>
                </a:tc>
                <a:tc>
                  <a:txBody>
                    <a:bodyPr/>
                    <a:lstStyle/>
                    <a:p>
                      <a:r>
                        <a:t>Alternatives</a:t>
                      </a:r>
                    </a:p>
                  </a:txBody>
                  <a:tcPr/>
                </a:tc>
                <a:tc>
                  <a:txBody>
                    <a:bodyPr/>
                    <a:lstStyle/>
                    <a:p>
                      <a:r>
                        <a:t>`*.{js,ts}` → `app.ts`</a:t>
                      </a:r>
                    </a:p>
                  </a:txBody>
                  <a:tcPr/>
                </a:tc>
              </a:tr>
            </a:tbl>
          </a:graphicData>
        </a:graphic>
      </p:graphicFrame>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 Real-World Examples</a:t>
            </a:r>
          </a:p>
        </p:txBody>
      </p:sp>
      <p:sp>
        <p:nvSpPr>
          <p:cNvPr id="3" name="Content Placeholder 2"/>
          <p:cNvSpPr>
            <a:spLocks noGrp="1"/>
          </p:cNvSpPr>
          <p:nvPr>
            <p:ph idx="1"/>
          </p:nvPr>
        </p:nvSpPr>
        <p:spPr/>
        <p:txBody>
          <a:bodyPr wrap="square">
            <a:normAutofit/>
          </a:bodyPr>
          <a:lstStyle/>
          <a:p/>
          <a:p>
            <a:r>
              <a:t>From this repository's instruction files:</a:t>
            </a:r>
          </a:p>
          <a:p/>
          <a:p>
            <a:r>
              <a:t>```yaml</a:t>
            </a:r>
          </a:p>
          <a:p>
            <a:r>
              <a:t>applyTo: "**/*"</a:t>
            </a:r>
          </a:p>
          <a:p/>
          <a:p>
            <a:r>
              <a:t>applyTo: "**/*.{cs,ts,js,py,java,go,rb}"</a:t>
            </a:r>
          </a:p>
          <a:p/>
          <a:p>
            <a:r>
              <a:t>applyTo: "**/*.{md,txt}"</a:t>
            </a:r>
          </a:p>
          <a:p/>
          <a:p>
            <a:r>
              <a:t>applyTo: "Slides/individual-slides/**"</a:t>
            </a:r>
          </a:p>
          <a:p/>
          <a:p>
            <a:r>
              <a:t>applyTo: "**/*.prompt.md"</a:t>
            </a:r>
          </a:p>
          <a:p>
            <a:r>
              <a:t>```</a:t>
            </a:r>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 Best Practices</a:t>
            </a:r>
          </a:p>
        </p:txBody>
      </p:sp>
      <p:sp>
        <p:nvSpPr>
          <p:cNvPr id="3" name="Content Placeholder 2"/>
          <p:cNvSpPr>
            <a:spLocks noGrp="1"/>
          </p:cNvSpPr>
          <p:nvPr>
            <p:ph idx="1"/>
          </p:nvPr>
        </p:nvSpPr>
        <p:spPr/>
        <p:txBody>
          <a:bodyPr wrap="square">
            <a:normAutofit/>
          </a:bodyPr>
          <a:lstStyle/>
          <a:p/>
          <a:p>
            <a:r>
              <a:rPr b="1"/>
              <a:t>1. Be Specific When Possible</a:t>
            </a:r>
          </a:p>
          <a:p/>
          <a:p>
            <a:r>
              <a:t>```yaml</a:t>
            </a:r>
          </a:p>
          <a:p>
            <a:r>
              <a:t>✅ applyTo: "**/*.instructions.md"</a:t>
            </a:r>
          </a:p>
          <a:p>
            <a:r>
              <a:t>❌ applyTo: "**"</a:t>
            </a:r>
          </a:p>
          <a:p>
            <a:r>
              <a:t>```</a:t>
            </a:r>
          </a:p>
          <a:p/>
          <a:p>
            <a:r>
              <a:rPr b="1"/>
              <a:t>2. Use Brace Expansion for Multiple Extensions</a:t>
            </a:r>
          </a:p>
          <a:p/>
          <a:p>
            <a:r>
              <a:t>```yaml</a:t>
            </a:r>
          </a:p>
          <a:p>
            <a:r>
              <a:t>✅ applyTo: "**/*.{cs,ts,js}"</a:t>
            </a:r>
          </a:p>
          <a:p>
            <a:r>
              <a:t>❌ Three separate instruction files</a:t>
            </a:r>
          </a:p>
          <a:p>
            <a:r>
              <a:t>```</a:t>
            </a:r>
          </a:p>
          <a:p/>
          <a:p>
            <a:r>
              <a:rPr b="1"/>
              <a:t>3. Match Scope to Purpose</a:t>
            </a:r>
          </a:p>
          <a:p/>
          <a:p>
            <a:r>
              <a:t>```yaml</a:t>
            </a:r>
          </a:p>
          <a:p>
            <a:r>
              <a:t>applyTo: "src/**/*.{cs,ts,js}"</a:t>
            </a:r>
          </a:p>
          <a:p/>
          <a:p>
            <a:r>
              <a:t>applyTo: "Slides/individual-slides/**"</a:t>
            </a:r>
          </a:p>
          <a:p>
            <a:r>
              <a:t>```</a:t>
            </a:r>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 Common Pitfalls</a:t>
            </a:r>
          </a:p>
        </p:txBody>
      </p:sp>
      <p:sp>
        <p:nvSpPr>
          <p:cNvPr id="3" name="Content Placeholder 2"/>
          <p:cNvSpPr>
            <a:spLocks noGrp="1"/>
          </p:cNvSpPr>
          <p:nvPr>
            <p:ph idx="1"/>
          </p:nvPr>
        </p:nvSpPr>
        <p:spPr/>
        <p:txBody>
          <a:bodyPr wrap="square">
            <a:normAutofit/>
          </a:bodyPr>
          <a:lstStyle/>
          <a:p/>
          <a:p>
            <a:r>
              <a:rPr b="1"/>
              <a:t>Pitfall 1: Too Broad</a:t>
            </a:r>
          </a:p>
          <a:p/>
          <a:p>
            <a:r>
              <a:t>```yaml</a:t>
            </a:r>
          </a:p>
          <a:p>
            <a:r>
              <a:t>❌ applyTo: "**" # For slide formatting</a:t>
            </a:r>
          </a:p>
          <a:p>
            <a:r>
              <a:t>✅ applyTo: "Slides/**"</a:t>
            </a:r>
          </a:p>
          <a:p>
            <a:r>
              <a:t>```</a:t>
            </a:r>
          </a:p>
          <a:p/>
          <a:p>
            <a:r>
              <a:rPr b="1"/>
              <a:t>Pitfall 2: Too Narrow</a:t>
            </a:r>
          </a:p>
          <a:p/>
          <a:p>
            <a:r>
              <a:t>```yaml</a:t>
            </a:r>
          </a:p>
          <a:p>
            <a:r>
              <a:t>❌ applyTo: "src/Features/UserManagement/**/*.cs"</a:t>
            </a:r>
          </a:p>
          <a:p>
            <a:r>
              <a:t>✅ applyTo: "src/Features/**/*.cs"</a:t>
            </a:r>
          </a:p>
          <a:p>
            <a:r>
              <a:t>```</a:t>
            </a:r>
          </a:p>
          <a:p/>
          <a:p>
            <a:r>
              <a:rPr b="1"/>
              <a:t>Pitfall 3: Overlapping Instructions</a:t>
            </a:r>
          </a:p>
          <a:p/>
          <a:p>
            <a:r>
              <a:t>```yaml</a:t>
            </a:r>
          </a:p>
          <a:p>
            <a:r>
              <a:t>applyTo: "**/*.cs"  # All C# files</a:t>
            </a:r>
          </a:p>
          <a:p/>
          <a:p>
            <a:r>
              <a:t>applyTo: "src/**/*.cs"  # C# files in src</a:t>
            </a:r>
          </a:p>
          <a:p/>
          <a:p>
            <a:r>
              <a:t>```</a:t>
            </a:r>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 Testing Your Patterns</a:t>
            </a:r>
          </a:p>
        </p:txBody>
      </p:sp>
      <p:sp>
        <p:nvSpPr>
          <p:cNvPr id="3" name="Content Placeholder 2"/>
          <p:cNvSpPr>
            <a:spLocks noGrp="1"/>
          </p:cNvSpPr>
          <p:nvPr>
            <p:ph idx="1"/>
          </p:nvPr>
        </p:nvSpPr>
        <p:spPr/>
        <p:txBody>
          <a:bodyPr wrap="square">
            <a:normAutofit/>
          </a:bodyPr>
          <a:lstStyle/>
          <a:p/>
          <a:p>
            <a:r>
              <a:rPr b="1"/>
              <a:t>How to verify patterns work correctly:</a:t>
            </a:r>
          </a:p>
          <a:p/>
          <a:p>
            <a:r>
              <a:t>1. </a:t>
            </a:r>
            <a:r>
              <a:rPr b="1"/>
              <a:t>Use file search to preview matches:</a:t>
            </a:r>
          </a:p>
          <a:p/>
          <a:p>
            <a:r>
              <a:t>```powershell</a:t>
            </a:r>
          </a:p>
          <a:p>
            <a:r>
              <a:t>Get-ChildItem -Path . -Filter "*.md" -Recurse</a:t>
            </a:r>
          </a:p>
          <a:p/>
          <a:p>
            <a:r>
              <a:t>find . -name "*.md"</a:t>
            </a:r>
          </a:p>
          <a:p>
            <a:r>
              <a:t>```</a:t>
            </a:r>
          </a:p>
          <a:p/>
          <a:p>
            <a:r>
              <a:t>2. </a:t>
            </a:r>
            <a:r>
              <a:rPr b="1"/>
              <a:t>Online glob testers:</a:t>
            </a:r>
          </a:p>
          <a:p/>
          <a:p>
            <a:pPr/>
            <a:r>
              <a:t>globster.xyz: https://globster.xyz/</a:t>
            </a:r>
          </a:p>
          <a:p>
            <a:pPr/>
            <a:r>
              <a:t>Test patterns before committing</a:t>
            </a:r>
          </a:p>
          <a:p/>
          <a:p>
            <a:r>
              <a:t>3. </a:t>
            </a:r>
            <a:r>
              <a:rPr b="1"/>
              <a:t>Check Copilot behavior:</a:t>
            </a:r>
          </a:p>
          <a:p/>
          <a:p>
            <a:pPr/>
            <a:r>
              <a:t>Open a file that should match</a:t>
            </a:r>
          </a:p>
          <a:p>
            <a:pPr/>
            <a:r>
              <a:t>Verify instructions are being followed</a:t>
            </a:r>
          </a:p>
          <a:p>
            <a:pPr/>
            <a:r>
              <a:t>Check for unexpected behavior (might indicate wrong pattern)</a:t>
            </a:r>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 Pattern Matching Rules</a:t>
            </a:r>
          </a:p>
        </p:txBody>
      </p:sp>
      <p:sp>
        <p:nvSpPr>
          <p:cNvPr id="3" name="Content Placeholder 2"/>
          <p:cNvSpPr>
            <a:spLocks noGrp="1"/>
          </p:cNvSpPr>
          <p:nvPr>
            <p:ph idx="1"/>
          </p:nvPr>
        </p:nvSpPr>
        <p:spPr/>
        <p:txBody>
          <a:bodyPr wrap="square">
            <a:normAutofit/>
          </a:bodyPr>
          <a:lstStyle/>
          <a:p/>
          <a:p>
            <a:r>
              <a:rPr b="1"/>
              <a:t>Key Points to Remember:</a:t>
            </a:r>
          </a:p>
          <a:p/>
          <a:p>
            <a:pPr/>
            <a:r>
              <a:t>Patterns are evaluated when files are opened</a:t>
            </a:r>
          </a:p>
          <a:p>
            <a:pPr/>
            <a:r>
              <a:t>Multiple instruction files can match the same file</a:t>
            </a:r>
          </a:p>
          <a:p>
            <a:pPr/>
            <a:r>
              <a:t>More specific patterns take precedence (in terms of clarity, not override)</a:t>
            </a:r>
          </a:p>
          <a:p>
            <a:pPr/>
            <a:r>
              <a:t>Patterns are relative to repository root</a:t>
            </a:r>
          </a:p>
          <a:p>
            <a:pPr/>
            <a:r>
              <a:t>Case sensitivity depends on file system (Windows: no, Linux: yes)</a:t>
            </a:r>
          </a:p>
          <a:p/>
          <a:p>
            <a:r>
              <a:rPr b="1"/>
              <a:t>When Copilot Evaluates Patterns:</a:t>
            </a:r>
          </a:p>
          <a:p/>
          <a:p>
            <a:r>
              <a:t>1. File opened in editor → Check all instruction files</a:t>
            </a:r>
          </a:p>
          <a:p>
            <a:r>
              <a:t>2. Load matching instructions into context</a:t>
            </a:r>
          </a:p>
          <a:p>
            <a:r>
              <a:t>3. Apply rules during code generation</a:t>
            </a:r>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 Summary &amp; Best Practices</a:t>
            </a:r>
          </a:p>
        </p:txBody>
      </p:sp>
      <p:sp>
        <p:nvSpPr>
          <p:cNvPr id="3" name="Content Placeholder 2"/>
          <p:cNvSpPr>
            <a:spLocks noGrp="1"/>
          </p:cNvSpPr>
          <p:nvPr>
            <p:ph idx="1"/>
          </p:nvPr>
        </p:nvSpPr>
        <p:spPr/>
        <p:txBody>
          <a:bodyPr wrap="square">
            <a:normAutofit/>
          </a:bodyPr>
          <a:lstStyle/>
          <a:p/>
          <a:p>
            <a:r>
              <a:rPr b="1"/>
              <a:t>Essential Patterns:</a:t>
            </a:r>
          </a:p>
          <a:p/>
          <a:p>
            <a:pPr/>
            <a:r>
              <a:t>`**/*` or `**` - Universal (use sparingly)</a:t>
            </a:r>
          </a:p>
          <a:p>
            <a:pPr/>
            <a:r>
              <a:t>`**/*.{ext1,ext2}` - Multiple file types</a:t>
            </a:r>
          </a:p>
          <a:p>
            <a:pPr/>
            <a:r>
              <a:t>`directory/**` - Specific directory scope</a:t>
            </a:r>
          </a:p>
          <a:p>
            <a:pPr/>
            <a:r>
              <a:t>`**/*.specific.extension.md` - Specialized files</a:t>
            </a:r>
          </a:p>
          <a:p/>
          <a:p>
            <a:r>
              <a:rPr b="1"/>
              <a:t>Decision Tree:</a:t>
            </a:r>
          </a:p>
          <a:p/>
          <a:p>
            <a:r>
              <a:t>1. Does this apply to ALL files? → Use `**/*`</a:t>
            </a:r>
          </a:p>
          <a:p>
            <a:r>
              <a:t>2. Does this apply to specific file types? → Use `**/*.{extensions}`</a:t>
            </a:r>
          </a:p>
          <a:p>
            <a:r>
              <a:t>3. Does this apply to a specific directory? → Use `directory/**`</a:t>
            </a:r>
          </a:p>
          <a:p>
            <a:r>
              <a:t>4. Does this apply to specific naming pattern? → Use `**/*.pattern.ext`</a:t>
            </a:r>
          </a:p>
          <a:p/>
          <a:p>
            <a:r>
              <a:rPr b="1"/>
              <a:t>Remember:</a:t>
            </a:r>
          </a:p>
          <a:p/>
          <a:p>
            <a:pPr/>
            <a:r>
              <a:t>✅ Be as specific as necessary, no more, no less</a:t>
            </a:r>
          </a:p>
          <a:p>
            <a:pPr/>
            <a:r>
              <a:t>✅ Test patterns before committing</a:t>
            </a:r>
          </a:p>
          <a:p>
            <a:pPr/>
            <a:r>
              <a:t>✅ Document why each pattern was chosen</a:t>
            </a:r>
          </a:p>
          <a:p>
            <a:pPr/>
            <a:r>
              <a:t>✅ Review patterns when instructions aren't working</a:t>
            </a:r>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 Resources &amp; Next Steps</a:t>
            </a:r>
          </a:p>
        </p:txBody>
      </p:sp>
      <p:sp>
        <p:nvSpPr>
          <p:cNvPr id="3" name="Content Placeholder 2"/>
          <p:cNvSpPr>
            <a:spLocks noGrp="1"/>
          </p:cNvSpPr>
          <p:nvPr>
            <p:ph idx="1"/>
          </p:nvPr>
        </p:nvSpPr>
        <p:spPr/>
        <p:txBody>
          <a:bodyPr wrap="square">
            <a:normAutofit/>
          </a:bodyPr>
          <a:lstStyle/>
          <a:p/>
          <a:p>
            <a:r>
              <a:rPr b="1"/>
              <a:t>Documentation:</a:t>
            </a:r>
          </a:p>
          <a:p/>
          <a:p>
            <a:pPr/>
            <a:r>
              <a:t>Glob Pattern Syntax Reference: https://globster.xyz/</a:t>
            </a:r>
          </a:p>
          <a:p>
            <a:pPr/>
            <a:r>
              <a:t>GitHub Copilot Instruction Files Documentation</a:t>
            </a:r>
          </a:p>
          <a:p>
            <a:pPr/>
            <a:r>
              <a:t>AI-Assisted Output Instructions</a:t>
            </a:r>
          </a:p>
          <a:p/>
          <a:p>
            <a:r>
              <a:rPr b="1"/>
              <a:t>Practice Exercise:</a:t>
            </a:r>
          </a:p>
          <a:p>
            <a:r>
              <a:t>Create instruction files for:</a:t>
            </a:r>
          </a:p>
          <a:p/>
          <a:p>
            <a:r>
              <a:t>1. CQRS architecture patterns (code only)</a:t>
            </a:r>
          </a:p>
          <a:p>
            <a:r>
              <a:t>2. Mermaid diagram standards (markdown only)</a:t>
            </a:r>
          </a:p>
          <a:p>
            <a:r>
              <a:t>3. Test naming conventions (test files only)</a:t>
            </a:r>
          </a:p>
          <a:p/>
          <a:p>
            <a:r>
              <a:rPr b="1"/>
              <a:t>Questions?</a:t>
            </a:r>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 Thank You!</a:t>
            </a:r>
          </a:p>
        </p:txBody>
      </p:sp>
      <p:sp>
        <p:nvSpPr>
          <p:cNvPr id="3" name="Content Placeholder 2"/>
          <p:cNvSpPr>
            <a:spLocks noGrp="1"/>
          </p:cNvSpPr>
          <p:nvPr>
            <p:ph idx="1"/>
          </p:nvPr>
        </p:nvSpPr>
        <p:spPr/>
        <p:txBody>
          <a:bodyPr wrap="square">
            <a:normAutofit/>
          </a:bodyPr>
          <a:lstStyle/>
          <a:p/>
          <a:p>
            <a:r>
              <a:rPr b="1"/>
              <a:t>Questions? Feedback?</a:t>
            </a:r>
          </a:p>
          <a:p/>
          <a:p>
            <a:r>
              <a:t>Connect with the AI-Assisted Software Development team</a:t>
            </a:r>
          </a:p>
          <a:p/>
          <a:p>
            <a:r>
              <a:t>GitHub: johnmillerATcodemag-com/AI-Assisted-Software-Development: https://github.com/johnmillerATcodemag-com/AI-Assisted-Software-Development-Course</a:t>
            </a:r>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Core Instructions</a:t>
            </a:r>
          </a:p>
        </p:txBody>
      </p:sp>
      <p:graphicFrame>
        <p:nvGraphicFramePr>
          <p:cNvPr id="3" name="Table 2"/>
          <p:cNvGraphicFramePr>
            <a:graphicFrameLocks noGrp="1"/>
          </p:cNvGraphicFramePr>
          <p:nvPr/>
        </p:nvGraphicFramePr>
        <p:xfrm>
          <a:off x="457200" y="1828800"/>
          <a:ext cx="8229600" cy="2743200"/>
        </p:xfrm>
        <a:graphic>
          <a:graphicData uri="http://schemas.openxmlformats.org/drawingml/2006/table">
            <a:tbl>
              <a:tblPr firstRow="1" bandRow="1">
                <a:tableStyleId>{5C22544A-7EE6-4342-B048-85BDC9FD1C3A}</a:tableStyleId>
              </a:tblPr>
              <a:tblGrid>
                <a:gridCol w="4114800"/>
                <a:gridCol w="4114800"/>
              </a:tblGrid>
              <a:tr h="457200">
                <a:tc>
                  <a:txBody>
                    <a:bodyPr/>
                    <a:lstStyle/>
                    <a:p>
                      <a:pPr>
                        <a:defRPr b="1" sz="1296"/>
                      </a:pPr>
                      <a:r>
                        <a:t>Instruction File</a:t>
                      </a:r>
                    </a:p>
                  </a:txBody>
                  <a:tcPr/>
                </a:tc>
                <a:tc>
                  <a:txBody>
                    <a:bodyPr/>
                    <a:lstStyle/>
                    <a:p>
                      <a:pPr>
                        <a:defRPr b="1" sz="1296"/>
                      </a:pPr>
                      <a:r>
                        <a:t>Purpose</a:t>
                      </a:r>
                    </a:p>
                  </a:txBody>
                  <a:tcPr/>
                </a:tc>
              </a:tr>
              <a:tr h="457200">
                <a:tc>
                  <a:txBody>
                    <a:bodyPr/>
                    <a:lstStyle/>
                    <a:p>
                      <a:r>
                        <a:t>ai-assisted-output.instructions.md</a:t>
                      </a:r>
                    </a:p>
                  </a:txBody>
                  <a:tcPr/>
                </a:tc>
                <a:tc>
                  <a:txBody>
                    <a:bodyPr/>
                    <a:lstStyle/>
                    <a:p>
                      <a:r>
                        <a:t>Guidance for AI generated artifacts</a:t>
                      </a:r>
                    </a:p>
                  </a:txBody>
                  <a:tcPr/>
                </a:tc>
              </a:tr>
              <a:tr h="457200">
                <a:tc>
                  <a:txBody>
                    <a:bodyPr/>
                    <a:lstStyle/>
                    <a:p>
                      <a:r>
                        <a:t>chatmode-file.instructions.md</a:t>
                      </a:r>
                    </a:p>
                  </a:txBody>
                  <a:tcPr/>
                </a:tc>
                <a:tc>
                  <a:txBody>
                    <a:bodyPr/>
                    <a:lstStyle/>
                    <a:p>
                      <a:r>
                        <a:t>Guidance for generating chat modes</a:t>
                      </a:r>
                    </a:p>
                  </a:txBody>
                  <a:tcPr/>
                </a:tc>
              </a:tr>
              <a:tr h="457200">
                <a:tc>
                  <a:txBody>
                    <a:bodyPr/>
                    <a:lstStyle/>
                    <a:p>
                      <a:r>
                        <a:t>instruction-files.instructions.md</a:t>
                      </a:r>
                    </a:p>
                  </a:txBody>
                  <a:tcPr/>
                </a:tc>
                <a:tc>
                  <a:txBody>
                    <a:bodyPr/>
                    <a:lstStyle/>
                    <a:p>
                      <a:r>
                        <a:t>Guidance for generating instruction files</a:t>
                      </a:r>
                    </a:p>
                  </a:txBody>
                  <a:tcPr/>
                </a:tc>
              </a:tr>
              <a:tr h="457200">
                <a:tc>
                  <a:txBody>
                    <a:bodyPr/>
                    <a:lstStyle/>
                    <a:p>
                      <a:r>
                        <a:t>prompt-file.instructions.md</a:t>
                      </a:r>
                    </a:p>
                  </a:txBody>
                  <a:tcPr/>
                </a:tc>
                <a:tc>
                  <a:txBody>
                    <a:bodyPr/>
                    <a:lstStyle/>
                    <a:p>
                      <a:r>
                        <a:t>Guidance for generating prompt files</a:t>
                      </a:r>
                    </a:p>
                  </a:txBody>
                  <a:tcPr/>
                </a:tc>
              </a:tr>
              <a:tr h="457200">
                <a:tc>
                  <a:txBody>
                    <a:bodyPr/>
                    <a:lstStyle/>
                    <a:p>
                      <a:r>
                        <a:t>instruction-prompt-files.instructions.md</a:t>
                      </a:r>
                    </a:p>
                  </a:txBody>
                  <a:tcPr/>
                </a:tc>
                <a:tc>
                  <a:txBody>
                    <a:bodyPr/>
                    <a:lstStyle/>
                    <a:p>
                      <a:r>
                        <a:t>Guidance for generating prompts that generate instruction files</a:t>
                      </a:r>
                    </a:p>
                  </a:txBody>
                  <a:tcPr/>
                </a:tc>
              </a:tr>
            </a:tbl>
          </a:graphicData>
        </a:graphic>
      </p:graphicFrame>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Organizational vs. Repository Instruction Files</a:t>
            </a:r>
          </a:p>
        </p:txBody>
      </p:sp>
      <p:sp>
        <p:nvSpPr>
          <p:cNvPr id="3" name="Content Placeholder 2"/>
          <p:cNvSpPr>
            <a:spLocks noGrp="1"/>
          </p:cNvSpPr>
          <p:nvPr>
            <p:ph idx="1"/>
          </p:nvPr>
        </p:nvSpPr>
        <p:spPr/>
        <p:txBody>
          <a:bodyPr wrap="square">
            <a:normAutofit/>
          </a:bodyPr>
          <a:lstStyle/>
          <a:p/>
          <a:p>
            <a:pPr/>
            <a:r>
              <a:t>Business/Enterprise tier capabilities</a:t>
            </a:r>
          </a:p>
          <a:p>
            <a:pPr/>
            <a:r>
              <a:t>Path-scoped instruction files</a:t>
            </a:r>
          </a:p>
          <a:p>
            <a:pPr/>
            <a:r>
              <a:t>Folder-level technology-specific rules</a:t>
            </a:r>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Why Two Instruction Layers Exist</a:t>
            </a:r>
          </a:p>
        </p:txBody>
      </p:sp>
      <p:sp>
        <p:nvSpPr>
          <p:cNvPr id="3" name="Content Placeholder 2"/>
          <p:cNvSpPr>
            <a:spLocks noGrp="1"/>
          </p:cNvSpPr>
          <p:nvPr>
            <p:ph idx="1"/>
          </p:nvPr>
        </p:nvSpPr>
        <p:spPr/>
        <p:txBody>
          <a:bodyPr wrap="square">
            <a:normAutofit/>
          </a:bodyPr>
          <a:lstStyle/>
          <a:p/>
          <a:p>
            <a:pPr/>
            <a:r>
              <a:t>Enterprise instructions enforce baseline policy and governance</a:t>
            </a:r>
          </a:p>
          <a:p>
            <a:pPr/>
            <a:r>
              <a:t>Repository instructions optimize for project context and implementation detail</a:t>
            </a:r>
          </a:p>
          <a:p>
            <a:pPr/>
            <a:r>
              <a:t>Together they balance consistency and local autonomy</a:t>
            </a:r>
          </a:p>
          <a:p/>
          <a:p>
            <a:r>
              <a:t>### Key Idea</a:t>
            </a:r>
          </a:p>
          <a:p/>
          <a:p>
            <a:r>
              <a:t>Define global guardrails once, then narrow behavior where code lives.</a:t>
            </a:r>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Business/Enterprise Tier Capabilities</a:t>
            </a:r>
          </a:p>
        </p:txBody>
      </p:sp>
      <p:sp>
        <p:nvSpPr>
          <p:cNvPr id="3" name="Content Placeholder 2"/>
          <p:cNvSpPr>
            <a:spLocks noGrp="1"/>
          </p:cNvSpPr>
          <p:nvPr>
            <p:ph idx="1"/>
          </p:nvPr>
        </p:nvSpPr>
        <p:spPr/>
        <p:txBody>
          <a:bodyPr wrap="square">
            <a:normAutofit/>
          </a:bodyPr>
          <a:lstStyle/>
          <a:p/>
          <a:p>
            <a:pPr/>
            <a:r>
              <a:t>Organization-wide safety and compliance standards</a:t>
            </a:r>
          </a:p>
          <a:p>
            <a:pPr/>
            <a:r>
              <a:t>Approved model and tool usage policy</a:t>
            </a:r>
          </a:p>
          <a:p>
            <a:pPr/>
            <a:r>
              <a:t>Mandatory provenance and audit requirements</a:t>
            </a:r>
          </a:p>
          <a:p>
            <a:pPr/>
            <a:r>
              <a:t>Security and legal baselines (secret handling, license constraints)</a:t>
            </a:r>
          </a:p>
          <a:p>
            <a:pPr/>
            <a:r>
              <a:t>Shared quality gates for CI/CD</a:t>
            </a:r>
          </a:p>
          <a:p/>
          <a:p>
            <a:r>
              <a:t>### Typical Scope</a:t>
            </a:r>
          </a:p>
          <a:p/>
          <a:p>
            <a:r>
              <a:t>All repositories, all teams, all environments.</a:t>
            </a:r>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Path-Scoped Instruction Files</a:t>
            </a:r>
          </a:p>
        </p:txBody>
      </p:sp>
      <p:sp>
        <p:nvSpPr>
          <p:cNvPr id="3" name="Content Placeholder 2"/>
          <p:cNvSpPr>
            <a:spLocks noGrp="1"/>
          </p:cNvSpPr>
          <p:nvPr>
            <p:ph idx="1"/>
          </p:nvPr>
        </p:nvSpPr>
        <p:spPr/>
        <p:txBody>
          <a:bodyPr wrap="square">
            <a:normAutofit/>
          </a:bodyPr>
          <a:lstStyle/>
          <a:p/>
          <a:p>
            <a:r>
              <a:t>Path-scoped instructions apply behavior only where it is needed.</a:t>
            </a:r>
          </a:p>
          <a:p/>
          <a:p>
            <a:r>
              <a:t>```yaml</a:t>
            </a:r>
          </a:p>
          <a:p>
            <a:r>
              <a:t>applyTo: "Slides/individual-slides/**"</a:t>
            </a:r>
          </a:p>
          <a:p>
            <a:r>
              <a:t>```</a:t>
            </a:r>
          </a:p>
          <a:p/>
          <a:p>
            <a:r>
              <a:t>```yaml</a:t>
            </a:r>
          </a:p>
          <a:p>
            <a:r>
              <a:t>applyTo: "**/*.{cs,ts,js,py,java,go,rb}"</a:t>
            </a:r>
          </a:p>
          <a:p>
            <a:r>
              <a:t>```</a:t>
            </a:r>
          </a:p>
          <a:p/>
          <a:p>
            <a:r>
              <a:t>```yaml</a:t>
            </a:r>
          </a:p>
          <a:p>
            <a:r>
              <a:t>applyTo: "**/*.instructions.md"</a:t>
            </a:r>
          </a:p>
          <a:p>
            <a:r>
              <a:t>```</a:t>
            </a:r>
          </a:p>
          <a:p/>
          <a:p>
            <a:r>
              <a:t>### Benefit</a:t>
            </a:r>
          </a:p>
          <a:p/>
          <a:p>
            <a:r>
              <a:t>Granular control without forcing unrelated files to follow irrelevant rules.</a:t>
            </a:r>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Folder-Level Technology-Specific Rules</a:t>
            </a:r>
          </a:p>
        </p:txBody>
      </p:sp>
      <p:sp>
        <p:nvSpPr>
          <p:cNvPr id="3" name="Content Placeholder 2"/>
          <p:cNvSpPr>
            <a:spLocks noGrp="1"/>
          </p:cNvSpPr>
          <p:nvPr>
            <p:ph idx="1"/>
          </p:nvPr>
        </p:nvSpPr>
        <p:spPr/>
        <p:txBody>
          <a:bodyPr wrap="square">
            <a:normAutofit/>
          </a:bodyPr>
          <a:lstStyle/>
          <a:p/>
          <a:p>
            <a:r>
              <a:t>Use folder-level rules to match local stack and workflow.</a:t>
            </a:r>
          </a:p>
          <a:p/>
          <a:p>
            <a:pPr/>
            <a:r>
              <a:t>`Slides/` for Marp formatting and speaker-note conventions</a:t>
            </a:r>
          </a:p>
          <a:p>
            <a:pPr/>
            <a:r>
              <a:t>`Labs/lab1-3-python/` for Python lint/test guidance</a:t>
            </a:r>
          </a:p>
          <a:p>
            <a:pPr/>
            <a:r>
              <a:t>`Labs/lab1-3-typescript/` for TypeScript build/test patterns</a:t>
            </a:r>
          </a:p>
          <a:p>
            <a:pPr/>
            <a:r>
              <a:t>`Course/course.github/` for docs automation and publishing rules</a:t>
            </a:r>
          </a:p>
          <a:p/>
          <a:p>
            <a:r>
              <a:t>### Pattern</a:t>
            </a:r>
          </a:p>
          <a:p/>
          <a:p>
            <a:r>
              <a:t>Place rules near code ownership boundaries.</a:t>
            </a:r>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Layering Model and Precedence</a:t>
            </a:r>
          </a:p>
        </p:txBody>
      </p:sp>
      <p:sp>
        <p:nvSpPr>
          <p:cNvPr id="3" name="Content Placeholder 2"/>
          <p:cNvSpPr>
            <a:spLocks noGrp="1"/>
          </p:cNvSpPr>
          <p:nvPr>
            <p:ph idx="1"/>
          </p:nvPr>
        </p:nvSpPr>
        <p:spPr/>
        <p:txBody>
          <a:bodyPr wrap="square">
            <a:normAutofit/>
          </a:bodyPr>
          <a:lstStyle/>
          <a:p/>
          <a:p>
            <a:r>
              <a:t>```mermaid</a:t>
            </a:r>
          </a:p>
          <a:p>
            <a:r>
              <a:t>flowchart TD</a:t>
            </a:r>
          </a:p>
          <a:p>
            <a:r>
              <a:t>  A[Enterprise Instructions\nGlobal Guardrails] --&gt; B[Repository Instructions\nProject Standards]</a:t>
            </a:r>
          </a:p>
          <a:p>
            <a:r>
              <a:t>  B --&gt; C[Path-Scoped Rules\nTargeted Behavior]</a:t>
            </a:r>
          </a:p>
          <a:p>
            <a:r>
              <a:t>  C --&gt; D[Folder-Level Tech Rules\nLocal Implementation]</a:t>
            </a:r>
          </a:p>
          <a:p>
            <a:r>
              <a:t>```</a:t>
            </a:r>
          </a:p>
          <a:p/>
          <a:p>
            <a:r>
              <a:t>### Resolution Rule</a:t>
            </a:r>
          </a:p>
          <a:p/>
          <a:p>
            <a:r>
              <a:t>Prefer the most specific matching instruction when guidance overlaps.</a:t>
            </a:r>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Practical Governance Checklist</a:t>
            </a:r>
          </a:p>
        </p:txBody>
      </p:sp>
      <p:sp>
        <p:nvSpPr>
          <p:cNvPr id="3" name="Content Placeholder 2"/>
          <p:cNvSpPr>
            <a:spLocks noGrp="1"/>
          </p:cNvSpPr>
          <p:nvPr>
            <p:ph idx="1"/>
          </p:nvPr>
        </p:nvSpPr>
        <p:spPr/>
        <p:txBody>
          <a:bodyPr wrap="square">
            <a:normAutofit/>
          </a:bodyPr>
          <a:lstStyle/>
          <a:p/>
          <a:p>
            <a:pPr/>
            <a:r>
              <a:t>Keep enterprise files policy-focused and durable</a:t>
            </a:r>
          </a:p>
          <a:p>
            <a:pPr/>
            <a:r>
              <a:t>Keep repository files implementation-focused and current</a:t>
            </a:r>
          </a:p>
          <a:p>
            <a:pPr/>
            <a:r>
              <a:t>Use explicit `applyTo` patterns for every specialized rule file</a:t>
            </a:r>
          </a:p>
          <a:p>
            <a:pPr/>
            <a:r>
              <a:t>Review instruction overlap quarterly to reduce conflicts</a:t>
            </a:r>
          </a:p>
          <a:p>
            <a:pPr/>
            <a:r>
              <a:t>Validate behavior with small representative prompts per folder</a:t>
            </a:r>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Exercise: Technology Inventory &amp; Instruction Generation</a:t>
            </a:r>
          </a:p>
        </p:txBody>
      </p:sp>
      <p:sp>
        <p:nvSpPr>
          <p:cNvPr id="3" name="Content Placeholder 2"/>
          <p:cNvSpPr>
            <a:spLocks noGrp="1"/>
          </p:cNvSpPr>
          <p:nvPr>
            <p:ph idx="1"/>
          </p:nvPr>
        </p:nvSpPr>
        <p:spPr/>
        <p:txBody>
          <a:bodyPr wrap="square">
            <a:normAutofit/>
          </a:bodyPr>
          <a:lstStyle/>
          <a:p/>
          <a:p>
            <a:r>
              <a:t>Duration: 25-30 minutes</a:t>
            </a:r>
          </a:p>
          <a:p/>
          <a:p>
            <a:r>
              <a:t>Objectives</a:t>
            </a:r>
          </a:p>
          <a:p/>
          <a:p>
            <a:pPr/>
            <a:r>
              <a:t>Create a clear inventory of project technologies across the repository</a:t>
            </a:r>
          </a:p>
          <a:p>
            <a:pPr/>
            <a:r>
              <a:t>Use background sessions to run concurrent analysis and drafting work</a:t>
            </a:r>
          </a:p>
          <a:p>
            <a:pPr/>
            <a:r>
              <a:t>Generate multiple instruction files simultaneously from the inventory results</a:t>
            </a:r>
          </a:p>
          <a:p>
            <a:pPr/>
            <a:r>
              <a:t>Practice session management interface workflows for parallel task control</a:t>
            </a:r>
          </a:p>
          <a:p/>
          <a:p>
            <a:r>
              <a:t>Activities</a:t>
            </a:r>
          </a:p>
          <a:p/>
          <a:p>
            <a:r>
              <a:t>1. Technology Inventory Build:</a:t>
            </a:r>
          </a:p>
          <a:p/>
          <a:p>
            <a:pPr/>
            <a:r>
              <a:t>Scan the repository and list languages, frameworks, build tools, and test stacks</a:t>
            </a:r>
          </a:p>
          <a:p>
            <a:pPr/>
            <a:r>
              <a:t>Group technologies by folder ownership and lifecycle criticality</a:t>
            </a:r>
          </a:p>
          <a:p>
            <a:pPr/>
            <a:r>
              <a:t>Identify missing or outdated instruction coverage per technology area</a:t>
            </a:r>
          </a:p>
          <a:p/>
          <a:p>
            <a:r>
              <a:t>2. Background Session Orchestration:</a:t>
            </a:r>
          </a:p>
          <a:p/>
          <a:p>
            <a:pPr/>
            <a:r>
              <a:t>Start parallel background sessions for discovery, drafting, and validation</a:t>
            </a:r>
          </a:p>
          <a:p>
            <a:pPr/>
            <a:r>
              <a:t>Assign one focused outcome per session (inventory, file generation, review)</a:t>
            </a:r>
          </a:p>
          <a:p>
            <a:pPr/>
            <a:r>
              <a:t>Capture each session's outputs and merge findings into one working backlog</a:t>
            </a:r>
          </a:p>
          <a:p/>
          <a:p>
            <a:r>
              <a:t>3. Simultaneous Instruction Generation:</a:t>
            </a:r>
          </a:p>
          <a:p/>
          <a:p>
            <a:pPr/>
            <a:r>
              <a:t>Generate multiple instruction files for high-priority technology folders</a:t>
            </a:r>
          </a:p>
          <a:p>
            <a:pPr/>
            <a:r>
              <a:t>Apply path-scoped patterns to each generated instruction file</a:t>
            </a:r>
          </a:p>
          <a:p>
            <a:pPr/>
            <a:r>
              <a:t>Validate that each file is targeted, non-overlapping, and implementation-ready</a:t>
            </a:r>
          </a:p>
          <a:p/>
          <a:p>
            <a:r>
              <a:t>4. Session Management Interface Review:</a:t>
            </a:r>
          </a:p>
          <a:p/>
          <a:p>
            <a:pPr/>
            <a:r>
              <a:t>Track session state, ownership, and completion status</a:t>
            </a:r>
          </a:p>
          <a:p>
            <a:pPr/>
            <a:r>
              <a:t>Resolve collisions between concurrently generated instruction outputs</a:t>
            </a:r>
          </a:p>
          <a:p>
            <a:pPr/>
            <a:r>
              <a:t>Close sessions with a summarized decision log and next-step actions</a:t>
            </a:r>
          </a:p>
          <a:p/>
          <a:p>
            <a:r>
              <a:t>Success Criteria</a:t>
            </a:r>
          </a:p>
          <a:p/>
          <a:p>
            <a:pPr/>
            <a:r>
              <a:t>Technology inventory includes stack, location, and risk/priority attributes</a:t>
            </a:r>
          </a:p>
          <a:p>
            <a:pPr/>
            <a:r>
              <a:t>At least three instruction files are generated concurrently and scoped correctly</a:t>
            </a:r>
          </a:p>
          <a:p>
            <a:pPr/>
            <a:r>
              <a:t>Background sessions are documented with clear responsibilities and outcomes</a:t>
            </a:r>
          </a:p>
          <a:p>
            <a:pPr/>
            <a:r>
              <a:t>Session management process is repeatable for future multi-stream work</a:t>
            </a:r>
          </a:p>
        </p:txBody>
      </p:sp>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Course Modules</a:t>
            </a:r>
          </a:p>
        </p:txBody>
      </p:sp>
      <p:sp>
        <p:nvSpPr>
          <p:cNvPr id="3" name="Content Placeholder 2"/>
          <p:cNvSpPr>
            <a:spLocks noGrp="1"/>
          </p:cNvSpPr>
          <p:nvPr>
            <p:ph idx="1"/>
          </p:nvPr>
        </p:nvSpPr>
        <p:spPr/>
        <p:txBody>
          <a:bodyPr wrap="square">
            <a:normAutofit/>
          </a:bodyPr>
          <a:lstStyle/>
          <a:p/>
          <a:p>
            <a:pPr/>
            <a:r>
              <a:t>Intro</a:t>
            </a:r>
          </a:p>
          <a:p>
            <a:pPr/>
            <a:r>
              <a:t>Module 1 - AIASD</a:t>
            </a:r>
          </a:p>
          <a:p>
            <a:pPr/>
            <a:r>
              <a:t>Module 2 - Intro to Copilot</a:t>
            </a:r>
          </a:p>
          <a:p>
            <a:pPr/>
            <a:r>
              <a:t>Module 3 - Vibbing</a:t>
            </a:r>
          </a:p>
          <a:p>
            <a:pPr/>
            <a:r>
              <a:t>Module 4 - Adding AI Guardrails</a:t>
            </a:r>
          </a:p>
          <a:p>
            <a:pPr/>
            <a:r>
              <a:rPr b="1"/>
              <a:t>▶ Module 5 - Managing Context</a:t>
            </a:r>
          </a:p>
        </p:txBody>
      </p:sp>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Module 5 - Managing Context</a:t>
            </a:r>
          </a:p>
        </p:txBody>
      </p:sp>
      <p:sp>
        <p:nvSpPr>
          <p:cNvPr id="3" name="Content Placeholder 2"/>
          <p:cNvSpPr>
            <a:spLocks noGrp="1"/>
          </p:cNvSpPr>
          <p:nvPr>
            <p:ph idx="1"/>
          </p:nvPr>
        </p:nvSpPr>
        <p:spPr/>
        <p:txBody>
          <a:bodyPr/>
          <a:lstStyle/>
          <a:p/>
        </p:txBody>
      </p:sp>
    </p:spTree>
  </p:cSld>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Module 5 - Managing Context</a:t>
            </a:r>
          </a:p>
        </p:txBody>
      </p:sp>
      <p:sp>
        <p:nvSpPr>
          <p:cNvPr id="3" name="Content Placeholder 2"/>
          <p:cNvSpPr>
            <a:spLocks noGrp="1"/>
          </p:cNvSpPr>
          <p:nvPr>
            <p:ph idx="1"/>
          </p:nvPr>
        </p:nvSpPr>
        <p:spPr/>
        <p:txBody>
          <a:bodyPr wrap="square">
            <a:normAutofit/>
          </a:bodyPr>
          <a:lstStyle/>
          <a:p/>
          <a:p>
            <a:pPr/>
            <a:r>
              <a:t>Managing GitHub Copilot Effectively</a:t>
            </a:r>
          </a:p>
          <a:p>
            <a:pPr/>
            <a:r>
              <a:t>Managing Instruction Files &amp; Context Windows</a:t>
            </a:r>
          </a:p>
        </p:txBody>
      </p:sp>
    </p:spTree>
  </p:cSld>
  <p:clrMapOvr>
    <a:masterClrMapping/>
  </p:clrMapOvr>
</p:sld>
</file>

<file path=ppt/slides/slide1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Managing GitHub Copilot Effectively</a:t>
            </a:r>
          </a:p>
        </p:txBody>
      </p:sp>
      <p:sp>
        <p:nvSpPr>
          <p:cNvPr id="3" name="Content Placeholder 2"/>
          <p:cNvSpPr>
            <a:spLocks noGrp="1"/>
          </p:cNvSpPr>
          <p:nvPr>
            <p:ph idx="1"/>
          </p:nvPr>
        </p:nvSpPr>
        <p:spPr/>
        <p:txBody>
          <a:bodyPr wrap="square">
            <a:normAutofit/>
          </a:bodyPr>
          <a:lstStyle/>
          <a:p/>
          <a:p>
            <a:r>
              <a:t>Copilot is powerful, but not entirely autonomous</a:t>
            </a:r>
          </a:p>
          <a:p>
            <a:r>
              <a:t>Effective use requires structure, guardrails, and clear intent</a:t>
            </a:r>
          </a:p>
          <a:p>
            <a:r>
              <a:t>Treat Copilot as a developer whose output improves with guidance</a:t>
            </a:r>
          </a:p>
          <a:p>
            <a:r>
              <a:t>Your process determines the quality of its contributions</a:t>
            </a:r>
          </a:p>
        </p:txBody>
      </p:sp>
    </p:spTree>
  </p:cSld>
  <p:clrMapOvr>
    <a:masterClrMapping/>
  </p:clrMapOvr>
</p:sld>
</file>

<file path=ppt/slides/slide1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 Managed Junior Developer</a:t>
            </a:r>
          </a:p>
        </p:txBody>
      </p:sp>
      <p:sp>
        <p:nvSpPr>
          <p:cNvPr id="3" name="Content Placeholder 2"/>
          <p:cNvSpPr>
            <a:spLocks noGrp="1"/>
          </p:cNvSpPr>
          <p:nvPr>
            <p:ph idx="1"/>
          </p:nvPr>
        </p:nvSpPr>
        <p:spPr/>
        <p:txBody>
          <a:bodyPr wrap="square">
            <a:normAutofit/>
          </a:bodyPr>
          <a:lstStyle/>
          <a:p/>
          <a:p>
            <a:r>
              <a:t>Copilot is fast, eager, and sometimes confidently wrong</a:t>
            </a:r>
          </a:p>
          <a:p>
            <a:r>
              <a:t>Provide clear instructions, constraints, and examples</a:t>
            </a:r>
          </a:p>
          <a:p>
            <a:r>
              <a:t>Review everything – trust its speed, not its judgment</a:t>
            </a:r>
          </a:p>
          <a:p>
            <a:r>
              <a:t>Use iterative loops: instruct → generate → review → refine</a:t>
            </a:r>
          </a:p>
          <a:p>
            <a:r>
              <a:t>Give Copilot ownership of tasks, not architecture</a:t>
            </a:r>
          </a:p>
        </p:txBody>
      </p:sp>
    </p:spTree>
  </p:cSld>
  <p:clrMapOvr>
    <a:masterClrMapping/>
  </p:clrMapOvr>
</p:sld>
</file>

<file path=ppt/slides/slide1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Understanding Context &amp; Tokens</a:t>
            </a:r>
          </a:p>
        </p:txBody>
      </p:sp>
      <p:sp>
        <p:nvSpPr>
          <p:cNvPr id="3" name="Content Placeholder 2"/>
          <p:cNvSpPr>
            <a:spLocks noGrp="1"/>
          </p:cNvSpPr>
          <p:nvPr>
            <p:ph idx="1"/>
          </p:nvPr>
        </p:nvSpPr>
        <p:spPr/>
        <p:txBody>
          <a:bodyPr wrap="square">
            <a:normAutofit/>
          </a:bodyPr>
          <a:lstStyle/>
          <a:p/>
          <a:p>
            <a:r>
              <a:t>Copilot can only “see” a limited amount of text at once</a:t>
            </a:r>
          </a:p>
          <a:p>
            <a:r>
              <a:t>Large files, long conversations, or complex repos can exceed context</a:t>
            </a:r>
          </a:p>
          <a:p>
            <a:r>
              <a:t>Important details may fall out of the window without you realizing</a:t>
            </a:r>
          </a:p>
          <a:p>
            <a:r>
              <a:t>Use these techniques to keep context focused:</a:t>
            </a:r>
          </a:p>
          <a:p>
            <a:pPr/>
            <a:r>
              <a:t>Summaries</a:t>
            </a:r>
          </a:p>
          <a:p>
            <a:pPr/>
            <a:r>
              <a:t>Instruction files</a:t>
            </a:r>
          </a:p>
          <a:p>
            <a:pPr/>
            <a:r>
              <a:t>Modular prompts</a:t>
            </a:r>
          </a:p>
          <a:p>
            <a:pPr/>
            <a:r>
              <a:t>Smaller working sets</a:t>
            </a:r>
          </a:p>
        </p:txBody>
      </p:sp>
    </p:spTree>
  </p:cSld>
  <p:clrMapOvr>
    <a:masterClrMapping/>
  </p:clrMapOvr>
</p:sld>
</file>

<file path=ppt/slides/slide1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Prompt Engineering Best Practices</a:t>
            </a:r>
          </a:p>
        </p:txBody>
      </p:sp>
      <p:sp>
        <p:nvSpPr>
          <p:cNvPr id="3" name="Content Placeholder 2"/>
          <p:cNvSpPr>
            <a:spLocks noGrp="1"/>
          </p:cNvSpPr>
          <p:nvPr>
            <p:ph idx="1"/>
          </p:nvPr>
        </p:nvSpPr>
        <p:spPr/>
        <p:txBody>
          <a:bodyPr wrap="square">
            <a:normAutofit/>
          </a:bodyPr>
          <a:lstStyle/>
          <a:p/>
          <a:p>
            <a:r>
              <a:t>Be explicit about goals, constraints, and success criteria</a:t>
            </a:r>
          </a:p>
          <a:p>
            <a:r>
              <a:t>Provide examples of the desired pattern or style</a:t>
            </a:r>
          </a:p>
          <a:p>
            <a:r>
              <a:t>Break large tasks into smaller, testable steps</a:t>
            </a:r>
          </a:p>
          <a:p>
            <a:r>
              <a:t>Use instruction files for stable rules and architectural boundaries</a:t>
            </a:r>
          </a:p>
          <a:p>
            <a:r>
              <a:t>Ask Copilot to explain its reasoning when correctness matters</a:t>
            </a:r>
          </a:p>
        </p:txBody>
      </p:sp>
    </p:spTree>
  </p:cSld>
  <p:clrMapOvr>
    <a:masterClrMapping/>
  </p:clrMapOvr>
</p:sld>
</file>

<file path=ppt/slides/slide1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Model Selection Strategies</a:t>
            </a:r>
          </a:p>
        </p:txBody>
      </p:sp>
      <p:sp>
        <p:nvSpPr>
          <p:cNvPr id="3" name="Content Placeholder 2"/>
          <p:cNvSpPr>
            <a:spLocks noGrp="1"/>
          </p:cNvSpPr>
          <p:nvPr>
            <p:ph idx="1"/>
          </p:nvPr>
        </p:nvSpPr>
        <p:spPr/>
        <p:txBody>
          <a:bodyPr wrap="square">
            <a:normAutofit/>
          </a:bodyPr>
          <a:lstStyle/>
          <a:p/>
          <a:p>
            <a:r>
              <a:t>Different models excel at different tasks</a:t>
            </a:r>
          </a:p>
          <a:p>
            <a:r>
              <a:t>High‑end models (e.g., GPT‑4o, Claude Sonnet) are best for:</a:t>
            </a:r>
          </a:p>
          <a:p>
            <a:pPr/>
            <a:r>
              <a:t>Architecture</a:t>
            </a:r>
          </a:p>
          <a:p>
            <a:pPr/>
            <a:r>
              <a:t>Refactoring</a:t>
            </a:r>
          </a:p>
          <a:p>
            <a:pPr/>
            <a:r>
              <a:t>Complex reasoning</a:t>
            </a:r>
          </a:p>
          <a:p>
            <a:pPr/>
            <a:r>
              <a:t>Multi‑file changes</a:t>
            </a:r>
          </a:p>
          <a:p>
            <a:r>
              <a:t>Lightweight models are ideal for:</a:t>
            </a:r>
          </a:p>
          <a:p>
            <a:pPr/>
            <a:r>
              <a:t>Boilerplate</a:t>
            </a:r>
          </a:p>
          <a:p>
            <a:pPr/>
            <a:r>
              <a:t>Repetitive tasks</a:t>
            </a:r>
          </a:p>
          <a:p>
            <a:pPr/>
            <a:r>
              <a:t>Quick iterations</a:t>
            </a:r>
          </a:p>
          <a:p>
            <a:r>
              <a:t>Match the model to the task, not the other way around</a:t>
            </a:r>
          </a:p>
        </p:txBody>
      </p:sp>
    </p:spTree>
  </p:cSld>
  <p:clrMapOvr>
    <a:masterClrMapping/>
  </p:clrMapOvr>
</p:sld>
</file>

<file path=ppt/slides/slide1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Managing Instruction Files &amp; Context Windows</a:t>
            </a:r>
          </a:p>
        </p:txBody>
      </p:sp>
      <p:sp>
        <p:nvSpPr>
          <p:cNvPr id="3" name="Content Placeholder 2"/>
          <p:cNvSpPr>
            <a:spLocks noGrp="1"/>
          </p:cNvSpPr>
          <p:nvPr>
            <p:ph idx="1"/>
          </p:nvPr>
        </p:nvSpPr>
        <p:spPr/>
        <p:txBody>
          <a:bodyPr wrap="square">
            <a:normAutofit/>
          </a:bodyPr>
          <a:lstStyle/>
          <a:p/>
          <a:p>
            <a:pPr/>
            <a:r>
              <a:t>Instruction sharing strategies</a:t>
            </a:r>
          </a:p>
          <a:p>
            <a:pPr/>
            <a:r>
              <a:t>Instruction file scope and application</a:t>
            </a:r>
          </a:p>
          <a:p>
            <a:pPr/>
            <a:r>
              <a:t>Context window monitoring tools</a:t>
            </a:r>
          </a:p>
          <a:p>
            <a:pPr/>
            <a:r>
              <a:t>Token consumption tracking</a:t>
            </a:r>
          </a:p>
        </p:txBody>
      </p:sp>
    </p:spTree>
  </p:cSld>
  <p:clrMapOvr>
    <a:masterClrMapping/>
  </p:clrMapOvr>
</p:sld>
</file>

<file path=ppt/slides/slide1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Instruction Sharing Strategies</a:t>
            </a:r>
          </a:p>
        </p:txBody>
      </p:sp>
      <p:sp>
        <p:nvSpPr>
          <p:cNvPr id="3" name="Content Placeholder 2"/>
          <p:cNvSpPr>
            <a:spLocks noGrp="1"/>
          </p:cNvSpPr>
          <p:nvPr>
            <p:ph idx="1"/>
          </p:nvPr>
        </p:nvSpPr>
        <p:spPr/>
        <p:txBody>
          <a:bodyPr wrap="square">
            <a:normAutofit/>
          </a:bodyPr>
          <a:lstStyle/>
          <a:p/>
          <a:p>
            <a:pPr/>
            <a:r>
              <a:t>Establish a central baseline in organization-level instructions</a:t>
            </a:r>
          </a:p>
          <a:p>
            <a:pPr/>
            <a:r>
              <a:t>Keep repository-level instructions close to implementation details</a:t>
            </a:r>
          </a:p>
          <a:p>
            <a:pPr/>
            <a:r>
              <a:t>Use reusable templates for recurring instruction patterns</a:t>
            </a:r>
          </a:p>
          <a:p>
            <a:pPr/>
            <a:r>
              <a:t>Share proven prompts and instruction snippets through version control</a:t>
            </a:r>
          </a:p>
          <a:p/>
          <a:p>
            <a:r>
              <a:t>### Team Pattern</a:t>
            </a:r>
          </a:p>
          <a:p/>
          <a:p>
            <a:r>
              <a:t>Centralize policy, decentralize implementation guidance.</a:t>
            </a:r>
          </a:p>
        </p:txBody>
      </p:sp>
    </p:spTree>
  </p:cSld>
  <p:clrMapOvr>
    <a:masterClrMapping/>
  </p:clrMapOvr>
</p:sld>
</file>

<file path=ppt/slides/slide1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Instruction File Scope and Application</a:t>
            </a:r>
          </a:p>
        </p:txBody>
      </p:sp>
      <p:sp>
        <p:nvSpPr>
          <p:cNvPr id="3" name="Content Placeholder 2"/>
          <p:cNvSpPr>
            <a:spLocks noGrp="1"/>
          </p:cNvSpPr>
          <p:nvPr>
            <p:ph idx="1"/>
          </p:nvPr>
        </p:nvSpPr>
        <p:spPr/>
        <p:txBody>
          <a:bodyPr wrap="square">
            <a:normAutofit/>
          </a:bodyPr>
          <a:lstStyle/>
          <a:p/>
          <a:p>
            <a:r>
              <a:t>Use scope to target behavior precisely with `applyTo` patterns.</a:t>
            </a:r>
          </a:p>
          <a:p/>
          <a:p>
            <a:r>
              <a:t>```yaml</a:t>
            </a:r>
          </a:p>
          <a:p>
            <a:r>
              <a:t>applyTo: "**/*"</a:t>
            </a:r>
          </a:p>
          <a:p>
            <a:r>
              <a:t>```</a:t>
            </a:r>
          </a:p>
          <a:p/>
          <a:p>
            <a:r>
              <a:t>```yaml</a:t>
            </a:r>
          </a:p>
          <a:p>
            <a:r>
              <a:t>applyTo: "Slides/individual-slides/**"</a:t>
            </a:r>
          </a:p>
          <a:p>
            <a:r>
              <a:t>```</a:t>
            </a:r>
          </a:p>
          <a:p/>
          <a:p>
            <a:r>
              <a:t>```yaml</a:t>
            </a:r>
          </a:p>
          <a:p>
            <a:r>
              <a:t>applyTo: "**/*.{cs,ts,js,py,java,go,rb}"</a:t>
            </a:r>
          </a:p>
          <a:p>
            <a:r>
              <a:t>```</a:t>
            </a:r>
          </a:p>
          <a:p/>
          <a:p>
            <a:r>
              <a:t>### Rule of Thumb</a:t>
            </a:r>
          </a:p>
          <a:p/>
          <a:p>
            <a:r>
              <a:t>The narrower the scope, the lower the risk of unintended instruction collisions.</a:t>
            </a:r>
          </a:p>
        </p:txBody>
      </p:sp>
    </p:spTree>
  </p:cSld>
  <p:clrMapOvr>
    <a:masterClrMapping/>
  </p:clrMapOvr>
</p:sld>
</file>

<file path=ppt/slides/slide1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Context Window Monitoring Tools</a:t>
            </a:r>
          </a:p>
        </p:txBody>
      </p:sp>
      <p:sp>
        <p:nvSpPr>
          <p:cNvPr id="3" name="Content Placeholder 2"/>
          <p:cNvSpPr>
            <a:spLocks noGrp="1"/>
          </p:cNvSpPr>
          <p:nvPr>
            <p:ph idx="1"/>
          </p:nvPr>
        </p:nvSpPr>
        <p:spPr/>
        <p:txBody>
          <a:bodyPr wrap="square">
            <a:normAutofit/>
          </a:bodyPr>
          <a:lstStyle/>
          <a:p/>
          <a:p>
            <a:pPr/>
            <a:r>
              <a:t>Use chat/session history panels to detect topic drift</a:t>
            </a:r>
          </a:p>
          <a:p>
            <a:pPr/>
            <a:r>
              <a:t>Track context attachments (`@workspace`, `@file`, `@terminal`) intentionally</a:t>
            </a:r>
          </a:p>
          <a:p>
            <a:pPr/>
            <a:r>
              <a:t>Start fresh chats when switching goals or bounded contexts</a:t>
            </a:r>
          </a:p>
          <a:p>
            <a:pPr/>
            <a:r>
              <a:t>Use lightweight check-ins: "What context are we currently using?"</a:t>
            </a:r>
          </a:p>
          <a:p/>
          <a:p>
            <a:r>
              <a:t>### Signals of Context Saturation</a:t>
            </a:r>
          </a:p>
          <a:p/>
          <a:p>
            <a:pPr/>
            <a:r>
              <a:t>Repeated clarifying questions</a:t>
            </a:r>
          </a:p>
          <a:p>
            <a:pPr/>
            <a:r>
              <a:t>Loss of earlier constraints</a:t>
            </a:r>
          </a:p>
          <a:p>
            <a:pPr/>
            <a:r>
              <a:t>Increasingly generic responses</a:t>
            </a:r>
          </a:p>
        </p:txBody>
      </p:sp>
    </p:spTree>
  </p:cSld>
  <p:clrMapOvr>
    <a:masterClrMapping/>
  </p:clrMapOvr>
</p:sld>
</file>

<file path=ppt/slides/slide1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Token Consumption Tracking</a:t>
            </a:r>
          </a:p>
        </p:txBody>
      </p:sp>
      <p:sp>
        <p:nvSpPr>
          <p:cNvPr id="3" name="Content Placeholder 2"/>
          <p:cNvSpPr>
            <a:spLocks noGrp="1"/>
          </p:cNvSpPr>
          <p:nvPr>
            <p:ph idx="1"/>
          </p:nvPr>
        </p:nvSpPr>
        <p:spPr/>
        <p:txBody>
          <a:bodyPr wrap="square">
            <a:normAutofit/>
          </a:bodyPr>
          <a:lstStyle/>
          <a:p/>
          <a:p>
            <a:pPr/>
            <a:r>
              <a:t>Monitor token usage indicators in the chat interface</a:t>
            </a:r>
          </a:p>
          <a:p>
            <a:pPr/>
            <a:r>
              <a:t>Prefer concise prompts with explicit file targets</a:t>
            </a:r>
          </a:p>
          <a:p>
            <a:pPr/>
            <a:r>
              <a:t>Split large tasks into smaller, well-bounded sessions</a:t>
            </a:r>
          </a:p>
          <a:p>
            <a:pPr/>
            <a:r>
              <a:t>Archive outcomes in files instead of keeping all context in-chat</a:t>
            </a:r>
          </a:p>
          <a:p/>
          <a:p>
            <a:r>
              <a:t>### Cost-Control Tactics</a:t>
            </a:r>
          </a:p>
          <a:p/>
          <a:p>
            <a:pPr/>
            <a:r>
              <a:t>Reduce redundant restatement</a:t>
            </a:r>
          </a:p>
          <a:p>
            <a:pPr/>
            <a:r>
              <a:t>Reuse instruction files over repeated long prompts</a:t>
            </a:r>
          </a:p>
          <a:p>
            <a:pPr/>
            <a:r>
              <a:t>Move stable constraints into persistent instruction artifacts</a:t>
            </a:r>
          </a:p>
        </p:txBody>
      </p:sp>
    </p:spTree>
  </p:cSld>
  <p:clrMapOvr>
    <a:masterClrMapping/>
  </p:clrMapOvr>
</p:sld>
</file>

<file path=ppt/slides/slide1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Workflow Blueprint</a:t>
            </a:r>
          </a:p>
        </p:txBody>
      </p:sp>
      <p:sp>
        <p:nvSpPr>
          <p:cNvPr id="3" name="Content Placeholder 2"/>
          <p:cNvSpPr>
            <a:spLocks noGrp="1"/>
          </p:cNvSpPr>
          <p:nvPr>
            <p:ph idx="1"/>
          </p:nvPr>
        </p:nvSpPr>
        <p:spPr/>
        <p:txBody>
          <a:bodyPr wrap="square">
            <a:normAutofit/>
          </a:bodyPr>
          <a:lstStyle/>
          <a:p/>
          <a:p>
            <a:r>
              <a:t>```mermaid</a:t>
            </a:r>
          </a:p>
          <a:p>
            <a:r>
              <a:t>flowchart LR</a:t>
            </a:r>
          </a:p>
          <a:p>
            <a:r>
              <a:t>  A[Define Task Goal] --&gt; B[Select Relevant Instruction Files]</a:t>
            </a:r>
          </a:p>
          <a:p>
            <a:r>
              <a:t>  B --&gt; C[Scope with applyTo Patterns]</a:t>
            </a:r>
          </a:p>
          <a:p>
            <a:r>
              <a:t>  C --&gt; D[Run Focused Chat Session]</a:t>
            </a:r>
          </a:p>
          <a:p>
            <a:r>
              <a:t>  D --&gt; E[Monitor Context and Tokens]</a:t>
            </a:r>
          </a:p>
          <a:p>
            <a:r>
              <a:t>  E --&gt; F[Persist Output and Start Next Session]</a:t>
            </a:r>
          </a:p>
          <a:p>
            <a:r>
              <a:t>```</a:t>
            </a:r>
          </a:p>
          <a:p/>
          <a:p>
            <a:r>
              <a:t>### Outcome</a:t>
            </a:r>
          </a:p>
          <a:p/>
          <a:p>
            <a:r>
              <a:t>Predictable outputs, lower token waste, and better team-level reuse.</a:t>
            </a:r>
          </a:p>
        </p:txBody>
      </p:sp>
    </p:spTree>
  </p:cSld>
  <p:clrMapOvr>
    <a:masterClrMapping/>
  </p:clrMapOvr>
</p:sld>
</file>

<file path=ppt/slides/slide1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Practical Checklist</a:t>
            </a:r>
          </a:p>
        </p:txBody>
      </p:sp>
      <p:sp>
        <p:nvSpPr>
          <p:cNvPr id="3" name="Content Placeholder 2"/>
          <p:cNvSpPr>
            <a:spLocks noGrp="1"/>
          </p:cNvSpPr>
          <p:nvPr>
            <p:ph idx="1"/>
          </p:nvPr>
        </p:nvSpPr>
        <p:spPr/>
        <p:txBody>
          <a:bodyPr wrap="square">
            <a:normAutofit/>
          </a:bodyPr>
          <a:lstStyle/>
          <a:p/>
          <a:p>
            <a:pPr/>
            <a:r>
              <a:t>Define where instructions live: org, repo, folder, or file scope</a:t>
            </a:r>
          </a:p>
          <a:p>
            <a:pPr/>
            <a:r>
              <a:t>Validate `applyTo` patterns before broad adoption</a:t>
            </a:r>
          </a:p>
          <a:p>
            <a:pPr/>
            <a:r>
              <a:t>Monitor context quality every major prompt turn</a:t>
            </a:r>
          </a:p>
          <a:p>
            <a:pPr/>
            <a:r>
              <a:t>Track token trends for long-running work streams</a:t>
            </a:r>
          </a:p>
          <a:p>
            <a:pPr/>
            <a:r>
              <a:t>Capture reusable instruction improvements in versioned files</a:t>
            </a:r>
          </a:p>
        </p:txBody>
      </p:sp>
    </p:spTree>
  </p:cSld>
  <p:clrMapOvr>
    <a:masterClrMapping/>
  </p:clrMapOvr>
</p:sld>
</file>

<file path=ppt/theme/theme1.xml><?xml version="1.0" encoding="utf-8"?>
<a:theme xmlns:a="http://schemas.openxmlformats.org/drawingml/2006/main" name="CODE Training">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jMM CODE Training Slide Template.potx" id="{C235AF94-6470-4DC8-ADA1-D5CA24C263BE}" vid="{E23727E8-263B-4C98-B166-009CDF69EE31}"/>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22</TotalTime>
  <Words>0</Words>
  <Application>Microsoft Office PowerPoint</Application>
  <PresentationFormat>Widescreen</PresentationFormat>
  <Paragraphs>0</Paragraphs>
  <Slides>0</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0</vt:i4>
      </vt:variant>
    </vt:vector>
  </HeadingPairs>
  <TitlesOfParts>
    <vt:vector size="5" baseType="lpstr">
      <vt:lpstr>Arial</vt:lpstr>
      <vt:lpstr>Calibri</vt:lpstr>
      <vt:lpstr>Noto Sans</vt:lpstr>
      <vt:lpstr>Victor Mono</vt:lpstr>
      <vt:lpstr>CODE Training</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John Miller</dc:creator>
  <cp:lastModifiedBy>John Miller</cp:lastModifiedBy>
  <cp:revision>5</cp:revision>
  <dcterms:created xsi:type="dcterms:W3CDTF">2025-10-19T18:09:53Z</dcterms:created>
  <dcterms:modified xsi:type="dcterms:W3CDTF">2026-03-20T05:03:54Z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0x010100587004330F6D8B418A43481AAFC77453</vt:lpwstr>
  </property>
</Properties>
</file>