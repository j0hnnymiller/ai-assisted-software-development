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14:sectionLst xmlns:p14="http://schemas.microsoft.com/office/powerpoint/2010/main">
    <p14:section name="Intro" id="83722996">
      <p14:sldIdLst>
        <p14:sldId id="256"/>
        <p14:sldId id="257"/>
        <p14:sldId id="258"/>
        <p14:sldId id="259"/>
        <p14:sldId id="260"/>
        <p14:sldId id="261"/>
        <p14:sldId id="262"/>
      </p14:sldIdLst>
    </p14:section>
    <p14:section name="Module 1 - AIASD" id="27766265">
      <p14:sldIdLst>
        <p14:sldId id="263"/>
        <p14:sldId id="264"/>
        <p14:sldId id="265"/>
        <p14:sldId id="266"/>
        <p14:sldId id="267"/>
      </p14:sldIdLst>
    </p14:section>
    <p14:section name="Module 2 - Intro to Copilot" id="44894564">
      <p14:sldIdLst>
        <p14:sldId id="268"/>
        <p14:sldId id="269"/>
        <p14:sldId id="270"/>
        <p14:sldId id="271"/>
        <p14:sldId id="272"/>
      </p14:sldIdLst>
    </p14:section>
    <p14:section name="Module 3 - Vibbing" id="93149552">
      <p14:sldIdLst>
        <p14:sldId id="273"/>
        <p14:sldId id="274"/>
        <p14:sldId id="275"/>
        <p14:sldId id="276"/>
        <p14:sldId id="277"/>
      </p14:sldIdLst>
    </p14:section>
    <p14:section name="Module 4 - Adding AI Guardrails" id="48399003">
      <p14:sldIdLst>
        <p14:sldId id="278"/>
        <p14:sldId id="279"/>
        <p14:sldId id="280"/>
        <p14:sldId id="281"/>
        <p14:sldId id="282"/>
        <p14:sldId id="283"/>
        <p14:sldId id="284"/>
      </p14:sldIdLst>
    </p14:section>
    <p14:section name="Module 5 - Managing Context" id="44098891">
      <p14:sldIdLst>
        <p14:sldId id="285"/>
        <p14:sldId id="286"/>
        <p14:sldId id="287"/>
        <p14:sldId id="288"/>
      </p14:sldIdLst>
    </p14:section>
    <p14:section name="Module 6 - Copilot for Teams" id="28332635">
      <p14:sldIdLst>
        <p14:sldId id="289"/>
        <p14:sldId id="290"/>
      </p14:sldIdLst>
    </p14:section>
  </p14:section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rPr b="1"/>
              <a:t>▶ Intro</a:t>
            </a:r>
          </a:p>
          <a:p>
            <a:pPr/>
            <a:r>
              <a:t>Module 1 - AIASD</a:t>
            </a:r>
          </a:p>
          <a:p>
            <a:pPr/>
            <a:r>
              <a:t>Module 2 - Intro to Copilot</a:t>
            </a:r>
          </a:p>
          <a:p>
            <a:pPr/>
            <a:r>
              <a:t>Module 3 - Vibbing</a:t>
            </a:r>
          </a:p>
          <a:p>
            <a:pPr/>
            <a:r>
              <a:t>Module 4 - Adding AI Guardrails</a:t>
            </a:r>
          </a:p>
          <a:p>
            <a:pPr/>
            <a:r>
              <a:t>Module 5 - Managing Context</a:t>
            </a:r>
          </a:p>
          <a:p>
            <a:pPr/>
            <a:r>
              <a:t>Module 6 - Copilot for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a:t>
            </a:r>
          </a:p>
        </p:txBody>
      </p:sp>
      <p:sp>
        <p:nvSpPr>
          <p:cNvPr id="3" name="Text Placeholder 2"/>
          <p:cNvSpPr>
            <a:spLocks noGrp="1"/>
          </p:cNvSpPr>
          <p:nvPr>
            <p:ph type="body"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a:t>
            </a:r>
          </a:p>
        </p:txBody>
      </p:sp>
      <p:sp>
        <p:nvSpPr>
          <p:cNvPr id="3" name="Content Placeholder 2"/>
          <p:cNvSpPr>
            <a:spLocks noGrp="1"/>
          </p:cNvSpPr>
          <p:nvPr>
            <p:ph idx="1"/>
          </p:nvPr>
        </p:nvSpPr>
        <p:spPr/>
        <p:txBody>
          <a:bodyPr/>
          <a:lstStyle/>
          <a:p/>
          <a:p>
            <a:pPr/>
            <a:r>
              <a:t>welcome-to-aiasd</a:t>
            </a:r>
          </a:p>
          <a:p>
            <a:pPr/>
            <a:r>
              <a:t>John Michael Miller</a:t>
            </a:r>
          </a:p>
          <a:p>
            <a:pPr/>
            <a:r>
              <a:t>Introductions</a:t>
            </a:r>
          </a:p>
          <a:p>
            <a:pPr/>
            <a:r>
              <a:t>About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welcome-to-aiasd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John Michael Miller</a:t>
            </a:r>
          </a:p>
        </p:txBody>
      </p:sp>
      <p:sp>
        <p:nvSpPr>
          <p:cNvPr id="3" name="Content Placeholder 2"/>
          <p:cNvSpPr>
            <a:spLocks noGrp="1"/>
          </p:cNvSpPr>
          <p:nvPr>
            <p:ph idx="1"/>
          </p:nvPr>
        </p:nvSpPr>
        <p:spPr/>
        <p:txBody>
          <a:bodyPr/>
          <a:lstStyle/>
          <a:p/>
          <a:p>
            <a:r>
              <a:t>👤 **Principal Software Engineer at CODE**</a:t>
            </a:r>
          </a:p>
          <a:p/>
          <a:p>
            <a:r>
              <a:t>🏢 Played roles of developer, architect, devops engineer, platform engineer, test architect, release manager</a:t>
            </a:r>
          </a:p>
          <a:p/>
          <a:p>
            <a:r>
              <a:t>🤖 AI/ML Enthusiast and advocate for effectively using AI to write code</a:t>
            </a:r>
          </a:p>
          <a:p/>
          <a:p>
            <a:pPr/>
            <a:r>
              <a:t>LinkedIn: [www.linkedin.com/in/johnmichaelmiller](https://www.linkedin.com/in/johnmichaelmiller)</a:t>
            </a:r>
          </a:p>
          <a:p>
            <a:pPr/>
            <a:r>
              <a:t>Email: [john.miller@codemag.com](mailto:john.miller@codemag.com)</a:t>
            </a:r>
          </a:p>
          <a:p>
            <a:pPr/>
            <a:r>
              <a:t>Blog: [codemag.com/blog/AIPractitioner](https://codemag.com/blog/AIPractitioner)</a:t>
            </a:r>
          </a:p>
          <a:p>
            <a:pPr/>
            <a:r>
              <a:t>[AI Practitioner Resources](https://codemag.com/aipractitioner)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Introductions</a:t>
            </a:r>
          </a:p>
        </p:txBody>
      </p:sp>
      <p:sp>
        <p:nvSpPr>
          <p:cNvPr id="3" name="Content Placeholder 2"/>
          <p:cNvSpPr>
            <a:spLocks noGrp="1"/>
          </p:cNvSpPr>
          <p:nvPr>
            <p:ph idx="1"/>
          </p:nvPr>
        </p:nvSpPr>
        <p:spPr/>
        <p:txBody>
          <a:bodyPr/>
          <a:lstStyle/>
          <a:p/>
          <a:p>
            <a:pPr/>
            <a:r>
              <a:t>Who you are</a:t>
            </a:r>
          </a:p>
          <a:p>
            <a:pPr/>
            <a:r>
              <a:t>Who do you work for</a:t>
            </a:r>
          </a:p>
          <a:p>
            <a:pPr/>
            <a:r>
              <a:t>What you do</a:t>
            </a:r>
          </a:p>
          <a:p>
            <a:pPr/>
            <a:r>
              <a:t>What you’ve done with AI tools</a:t>
            </a:r>
          </a:p>
          <a:p>
            <a:pPr/>
            <a:r>
              <a:t>What you want to learn</a:t>
            </a:r>
          </a:p>
          <a:p/>
          <a:p>
            <a:r>
              <a:t>::: notes</a:t>
            </a:r>
          </a:p>
          <a:p>
            <a:r>
              <a:t>Day One: Outline the day’s goals and emphasize participation and hands-on exercises.</a:t>
            </a:r>
          </a:p>
          <a:p>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CODE</a:t>
            </a:r>
          </a:p>
        </p:txBody>
      </p:sp>
      <p:sp>
        <p:nvSpPr>
          <p:cNvPr id="3" name="Content Placeholder 2"/>
          <p:cNvSpPr>
            <a:spLocks noGrp="1"/>
          </p:cNvSpPr>
          <p:nvPr>
            <p:ph idx="1"/>
          </p:nvPr>
        </p:nvSpPr>
        <p:spPr/>
        <p:txBody>
          <a:bodyPr/>
          <a:lstStyle/>
          <a:p/>
          <a:p>
            <a:r>
              <a:t>![bg contain](images/CODE-Group.png)</a:t>
            </a:r>
          </a:p>
          <a:p/>
          <a:p>
            <a:r>
              <a:t>::: notes</a:t>
            </a:r>
          </a:p>
          <a:p>
            <a: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t>Intro</a:t>
            </a:r>
          </a:p>
          <a:p>
            <a:pPr/>
            <a:r>
              <a:rPr b="1"/>
              <a:t>▶ Module 1 - AIASD</a:t>
            </a:r>
          </a:p>
          <a:p>
            <a:pPr/>
            <a:r>
              <a:t>Module 2 - Intro to Copilot</a:t>
            </a:r>
          </a:p>
          <a:p>
            <a:pPr/>
            <a:r>
              <a:t>Module 3 - Vibbing</a:t>
            </a:r>
          </a:p>
          <a:p>
            <a:pPr/>
            <a:r>
              <a:t>Module 4 - Adding AI Guardrails</a:t>
            </a:r>
          </a:p>
          <a:p>
            <a:pPr/>
            <a:r>
              <a:t>Module 5 - Managing Context</a:t>
            </a:r>
          </a:p>
          <a:p>
            <a:pPr/>
            <a:r>
              <a:t>Module 6 - Copilot for Teams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 AIASD</a:t>
            </a:r>
          </a:p>
        </p:txBody>
      </p:sp>
      <p:sp>
        <p:nvSpPr>
          <p:cNvPr id="3" name="Text Placeholder 2"/>
          <p:cNvSpPr>
            <a:spLocks noGrp="1"/>
          </p:cNvSpPr>
          <p:nvPr>
            <p:ph type="body"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 AIASD</a:t>
            </a:r>
          </a:p>
        </p:txBody>
      </p:sp>
      <p:sp>
        <p:nvSpPr>
          <p:cNvPr id="3" name="Content Placeholder 2"/>
          <p:cNvSpPr>
            <a:spLocks noGrp="1"/>
          </p:cNvSpPr>
          <p:nvPr>
            <p:ph idx="1"/>
          </p:nvPr>
        </p:nvSpPr>
        <p:spPr/>
        <p:txBody>
          <a:bodyPr/>
          <a:lstStyle/>
          <a:p/>
          <a:p>
            <a:pPr/>
            <a:r>
              <a:t>WTBD - The Core Thesis</a:t>
            </a:r>
          </a:p>
          <a:p>
            <a:pPr/>
            <a:r>
              <a:t>The AI Revolution?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WTBD - The Core Thesis</a:t>
            </a:r>
          </a:p>
        </p:txBody>
      </p:sp>
      <p:sp>
        <p:nvSpPr>
          <p:cNvPr id="3" name="Content Placeholder 2"/>
          <p:cNvSpPr>
            <a:spLocks noGrp="1"/>
          </p:cNvSpPr>
          <p:nvPr>
            <p:ph idx="1"/>
          </p:nvPr>
        </p:nvSpPr>
        <p:spPr/>
        <p:txBody>
          <a:bodyPr/>
          <a:lstStyle/>
          <a:p/>
          <a:p>
            <a:r>
              <a:t>&lt;!-- _class: lead --&gt;</a:t>
            </a:r>
          </a:p>
          <a:p/>
          <a:p/>
          <a:p>
            <a:r>
              <a:t>&gt; "Programming hasn't changed, but how we go about it has changed, again."</a:t>
            </a:r>
          </a:p>
          <a:p/>
          <a:p>
            <a:pPr/>
            <a:r>
              <a:t>AI-assisted development is **evolutionary**, not revolutionary</a:t>
            </a:r>
          </a:p>
          <a:p>
            <a:pPr/>
            <a:r>
              <a:t>Programming has always been about **expressing human intent** to machines</a:t>
            </a:r>
          </a:p>
          <a:p>
            <a:pPr/>
            <a:r>
              <a:t>What changes is the **sophistication of our tools** for expressing intent</a:t>
            </a:r>
          </a:p>
          <a:p>
            <a:pPr/>
            <a:r>
              <a:t>The essence remains: bridging the gap between what we want and what machines can do</a:t>
            </a:r>
          </a:p>
          <a:p/>
          <a:p>
            <a:r>
              <a:t>---</a:t>
            </a:r>
          </a:p>
          <a:p/>
          <a:p/>
          <a:p>
            <a:pPr/>
            <a:r>
              <a:t>**Machine Code**: Raw binary language executed directly by hardware</a:t>
            </a:r>
          </a:p>
          <a:p>
            <a:pPr/>
            <a:r>
              <a:t>**Physical Programming**:</a:t>
            </a:r>
          </a:p>
          <a:p>
            <a:r>
              <a:t>  - Flipping panel switches</a:t>
            </a:r>
          </a:p>
          <a:p>
            <a:r>
              <a:t>  - Plugging cables</a:t>
            </a:r>
          </a:p>
          <a:p>
            <a:r>
              <a:t>  - Feeding punched cards into IBM readers</a:t>
            </a:r>
          </a:p>
          <a:p>
            <a:r>
              <a:t>  - Threading perforated paper tape</a:t>
            </a:r>
          </a:p>
          <a:p/>
          <a:p>
            <a:r>
              <a:t>**Assembly Language**: Introduced symbolic mnemonics (MOV, ADD, JMP)</a:t>
            </a:r>
          </a:p>
          <a:p/>
          <a:p>
            <a:pPr/>
            <a:r>
              <a:t>**Enabling Technology**: Assemblers that translated mnemonics into machine code</a:t>
            </a:r>
          </a:p>
          <a:p>
            <a:pPr/>
            <a:r>
              <a:t>Still mainstream today in embedded systems and OS kernels</a:t>
            </a:r>
          </a:p>
          <a:p/>
          <a:p>
            <a:r>
              <a:t>---</a:t>
            </a:r>
          </a:p>
          <a:p/>
          <a:p/>
          <a:p>
            <a:r>
              <a:t>**The Abstraction Revolution**:</a:t>
            </a:r>
          </a:p>
          <a:p/>
          <a:p>
            <a:pPr/>
            <a:r>
              <a:t>Math-like and business-oriented syntax</a:t>
            </a:r>
          </a:p>
          <a:p>
            <a:pPr/>
            <a:r>
              <a:t>**Enabling Technologies**: Compilers and interpreters</a:t>
            </a:r>
          </a:p>
          <a:p/>
          <a:p>
            <a:r>
              <a:t>**Key Languages**:</a:t>
            </a:r>
          </a:p>
          <a:p/>
          <a:p>
            <a:pPr/>
            <a:r>
              <a:t>**FORTRAN (1957)**: Pioneered scientific programming</a:t>
            </a:r>
          </a:p>
          <a:p>
            <a:pPr/>
            <a:r>
              <a:t>**COBOL (1959)**: Mainstream in business and government</a:t>
            </a:r>
          </a:p>
          <a:p>
            <a:pPr/>
            <a:r>
              <a:t>**C (1972)**: Spread with UNIX thanks to portable compilers</a:t>
            </a:r>
          </a:p>
          <a:p/>
          <a:p>
            <a:r>
              <a:t>**Sensory Shift**: From mechanical card punches to typewriter-style terminals</a:t>
            </a:r>
          </a:p>
          <a:p/>
          <a:p>
            <a:r>
              <a:t>---</a:t>
            </a:r>
          </a:p>
          <a:p/>
          <a:p/>
          <a:p>
            <a:r>
              <a:t>**Focus**: Modularity, reuse, and abstraction</a:t>
            </a:r>
          </a:p>
          <a:p/>
          <a:p>
            <a:r>
              <a:t>**Key Developments**:</a:t>
            </a:r>
          </a:p>
          <a:p/>
          <a:p>
            <a:pPr/>
            <a:r>
              <a:t>**Pascal (1970)**: Structured paradigms with compiler innovations</a:t>
            </a:r>
          </a:p>
          <a:p>
            <a:pPr/>
            <a:r>
              <a:t>**C++ (1985)**: Object-oriented compilers supporting inheritance and polymorphism</a:t>
            </a:r>
          </a:p>
          <a:p/>
          <a:p>
            <a:r>
              <a:t>**Enabling Technologies**:</a:t>
            </a:r>
          </a:p>
          <a:p/>
          <a:p>
            <a:pPr/>
            <a:r>
              <a:t>Advanced compiler innovations</a:t>
            </a:r>
          </a:p>
          <a:p>
            <a:pPr/>
            <a:r>
              <a:t>Support for inheritance and polymorphism</a:t>
            </a:r>
          </a:p>
          <a:p/>
          <a:p>
            <a:r>
              <a:t>**Era Experience**: CRT monitors with green text, floppy disks</a:t>
            </a:r>
          </a:p>
          <a:p/>
          <a:p>
            <a:r>
              <a:t>---</a:t>
            </a:r>
          </a:p>
          <a:p/>
          <a:p/>
          <a:p>
            <a:r>
              <a:t>**The Integration Era**:</a:t>
            </a:r>
          </a:p>
          <a:p/>
          <a:p>
            <a:pPr/>
            <a:r>
              <a:t>**IDEs**: Combined compilers, debuggers, and editors in graphical interfaces</a:t>
            </a:r>
          </a:p>
          <a:p>
            <a:pPr/>
            <a:r>
              <a:t>**Visual Studio**: Enabled by faster processors and GUI toolkits</a:t>
            </a:r>
          </a:p>
          <a:p>
            <a:pPr/>
            <a:r>
              <a:t>**Java &amp; JVM (1995)**: "Write once, run anywhere"</a:t>
            </a:r>
          </a:p>
          <a:p>
            <a:pPr/>
            <a:r>
              <a:t>**Reusable Libraries**: Abstracted common functionality</a:t>
            </a:r>
          </a:p>
          <a:p/>
          <a:p>
            <a:r>
              <a:t>**Enabling Technologies**:</a:t>
            </a:r>
          </a:p>
          <a:p/>
          <a:p>
            <a:pPr/>
            <a:r>
              <a:t>Faster processors, GUI toolkits, extensible plug-in architectures</a:t>
            </a:r>
          </a:p>
          <a:p>
            <a:pPr/>
            <a:r>
              <a:t>Virtual machines</a:t>
            </a:r>
          </a:p>
          <a:p/>
          <a:p>
            <a:r>
              <a:t>**Experience**: Mouse clicks, drag-and-drop, desktop computing</a:t>
            </a:r>
          </a:p>
          <a:p/>
          <a:p>
            <a:r>
              <a:t>---</a:t>
            </a:r>
          </a:p>
          <a:p/>
          <a:p/>
          <a:p>
            <a:r>
              <a:t>**The Dynamic Web Era**:</a:t>
            </a:r>
          </a:p>
          <a:p/>
          <a:p>
            <a:pPr/>
            <a:r>
              <a:t>**JavaScript (1995)**: Powered by Netscape, later V8 engine (2008)</a:t>
            </a:r>
          </a:p>
          <a:p>
            <a:pPr/>
            <a:r>
              <a:t>**Python**: Web development in 2000s, data science dominance</a:t>
            </a:r>
          </a:p>
          <a:p>
            <a:pPr/>
            <a:r>
              <a:t>**Ruby on Rails (2004)**: Abstracted web complexity</a:t>
            </a:r>
          </a:p>
          <a:p/>
          <a:p>
            <a:r>
              <a:t>**Enabling Technologies**:</a:t>
            </a:r>
          </a:p>
          <a:p/>
          <a:p>
            <a:pPr/>
            <a:r>
              <a:t>Browser engines, dynamic interpreters, frameworks</a:t>
            </a:r>
          </a:p>
          <a:p>
            <a:pPr/>
            <a:r>
              <a:t>Eclipse IDE (2001)</a:t>
            </a:r>
          </a:p>
          <a:p/>
          <a:p>
            <a:r>
              <a:t>**Experience**: Portable coding on laptops, coffee shop programming</a:t>
            </a:r>
          </a:p>
          <a:p/>
          <a:p>
            <a:r>
              <a:t>---</a:t>
            </a:r>
          </a:p>
          <a:p/>
          <a:p/>
          <a:p>
            <a:r>
              <a:t>**The Orchestration Era**:</a:t>
            </a:r>
          </a:p>
          <a:p/>
          <a:p>
            <a:pPr/>
            <a:r>
              <a:t>**Cloud Computing**: Virtualization and containerization (Docker, Kubernetes)</a:t>
            </a:r>
          </a:p>
          <a:p>
            <a:pPr/>
            <a:r>
              <a:t>**APIs**: REST and GraphQL enabled modular integration</a:t>
            </a:r>
          </a:p>
          <a:p>
            <a:pPr/>
            <a:r>
              <a:t>**Low-Code Platforms**: Mendix, OutSystems, PowerApps with visual compilers</a:t>
            </a:r>
          </a:p>
          <a:p/>
          <a:p>
            <a:r>
              <a:t>**Transformation**: Programming shifted from hardware-bound tasks to orchestration</a:t>
            </a:r>
          </a:p>
          <a:p/>
          <a:p>
            <a:r>
              <a:t>**Experience**: Browser dashboards, swiping, clicking, dragging</a:t>
            </a:r>
          </a:p>
          <a:p/>
          <a:p>
            <a:r>
              <a:t>---</a:t>
            </a:r>
          </a:p>
          <a:p/>
          <a:p/>
          <a:p>
            <a:r>
              <a:t>**Intent Interpretation**:</a:t>
            </a:r>
          </a:p>
          <a:p/>
          <a:p>
            <a:pPr/>
            <a:r>
              <a:t>Developers express intent in higher-level languages, frameworks, and APIs</a:t>
            </a:r>
          </a:p>
          <a:p>
            <a:pPr/>
            <a:r>
              <a:t>Compilers, interpreters, and VMs translate intent into executable code</a:t>
            </a:r>
          </a:p>
          <a:p>
            <a:pPr/>
            <a:r>
              <a:t>Libraries and cloud services provide ready-made building blocks</a:t>
            </a:r>
          </a:p>
          <a:p>
            <a:pPr/>
            <a:r>
              <a:t>Less about micromanaging hardware, more about shaping logic and workflows</a:t>
            </a:r>
          </a:p>
          <a:p/>
          <a:p>
            <a:r>
              <a:t>**The Core**: Bridging human goals with machine execution through layers of abstraction</a:t>
            </a:r>
          </a:p>
          <a:p/>
          <a:p>
            <a:r>
              <a:t>---</a:t>
            </a:r>
          </a:p>
          <a:p/>
          <a:p/>
          <a:p>
            <a:r>
              <a:t>**The Natural Language Era**:</a:t>
            </a:r>
          </a:p>
          <a:p/>
          <a:p>
            <a:r>
              <a:t>**Enabling Technologies**:</a:t>
            </a:r>
          </a:p>
          <a:p/>
          <a:p>
            <a:pPr/>
            <a:r>
              <a:t>Large language models trained on vast code repositories</a:t>
            </a:r>
          </a:p>
          <a:p>
            <a:pPr/>
            <a:r>
              <a:t>Contextual intent recognition</a:t>
            </a:r>
          </a:p>
          <a:p>
            <a:pPr/>
            <a:r>
              <a:t>IDE integration</a:t>
            </a:r>
          </a:p>
          <a:p/>
          <a:p>
            <a:r>
              <a:t>**The Paradigm Shift**: Programming becomes **dialogue**</a:t>
            </a:r>
          </a:p>
          <a:p/>
          <a:p>
            <a:pPr/>
            <a:r>
              <a:t>Express goals in plain language</a:t>
            </a:r>
          </a:p>
          <a:p>
            <a:pPr/>
            <a:r>
              <a:t>AI generates code, tests, and documentation</a:t>
            </a:r>
          </a:p>
          <a:p>
            <a:pPr/>
            <a:r>
              <a:t>Example: "Create a function that validates email addresses" → Complete implementation</a:t>
            </a:r>
          </a:p>
          <a:p/>
          <a:p>
            <a:r>
              <a:t>---</a:t>
            </a:r>
          </a:p>
          <a:p/>
          <a:p/>
          <a:p>
            <a:r>
              <a:t>**Responsibility Shift**:</a:t>
            </a:r>
          </a:p>
          <a:p/>
          <a:p>
            <a:pPr/>
            <a:r>
              <a:t>Previously: Coder translates intent into executable code</a:t>
            </a:r>
          </a:p>
          <a:p>
            <a:pPr/>
            <a:r>
              <a:t>Now: Intent expressed in natural language, AI interprets and generates</a:t>
            </a:r>
          </a:p>
          <a:p/>
          <a:p>
            <a:r>
              <a:t>**New Role of Programmer**:</a:t>
            </a:r>
          </a:p>
          <a:p/>
          <a:p>
            <a:pPr/>
            <a:r>
              <a:t>**Curator of context**</a:t>
            </a:r>
          </a:p>
          <a:p>
            <a:pPr/>
            <a:r>
              <a:t>**Validator of output**</a:t>
            </a:r>
          </a:p>
          <a:p>
            <a:pPr/>
            <a:r>
              <a:t>**Steward of alignment** between human goals and machine behavior</a:t>
            </a:r>
          </a:p>
          <a:p/>
          <a:p>
            <a:r>
              <a:t>**Boundary Movement**: Between domain expertise and implementation</a:t>
            </a:r>
          </a:p>
          <a:p/>
          <a:p>
            <a:r>
              <a:t>---</a:t>
            </a:r>
          </a:p>
          <a:p/>
          <a:p/>
          <a:p>
            <a:r>
              <a:t>**Beyond Parsing**: AI understands what you mean</a:t>
            </a:r>
          </a:p>
          <a:p/>
          <a:p>
            <a:pPr/>
            <a:r>
              <a:t>"Make this faster" → Performance optimizations</a:t>
            </a:r>
          </a:p>
          <a:p>
            <a:pPr/>
            <a:r>
              <a:t>"Add error handling" → Proper exception management</a:t>
            </a:r>
          </a:p>
          <a:p>
            <a:pPr/>
            <a:r>
              <a:t>"Log the output" → Appropriate logging implementation</a:t>
            </a:r>
          </a:p>
          <a:p/>
          <a:p>
            <a:r>
              <a:t>**New Interaction Modes**:</a:t>
            </a:r>
          </a:p>
          <a:p/>
          <a:p>
            <a:pPr/>
            <a:r>
              <a:t>Sketches and examples as expressions of intent</a:t>
            </a:r>
          </a:p>
          <a:p>
            <a:pPr/>
            <a:r>
              <a:t>Test cases and bug reports → Code generation</a:t>
            </a:r>
          </a:p>
          <a:p>
            <a:pPr/>
            <a:r>
              <a:t>Conversational iteration like human collaboration</a:t>
            </a:r>
          </a:p>
          <a:p/>
          <a:p>
            <a:r>
              <a:t>---</a:t>
            </a:r>
          </a:p>
          <a:p/>
          <a:p/>
          <a:p>
            <a:r>
              <a:t>**Historical Perspective**:</a:t>
            </a:r>
          </a:p>
          <a:p/>
          <a:p>
            <a:pPr/>
            <a:r>
              <a:t>**IDEs**: Auto-complete and debugging</a:t>
            </a:r>
          </a:p>
          <a:p>
            <a:pPr/>
            <a:r>
              <a:t>**Libraries**: Reusable components</a:t>
            </a:r>
          </a:p>
          <a:p>
            <a:pPr/>
            <a:r>
              <a:t>**AI**: Intelligent scaffolding, pattern recognition, code generation</a:t>
            </a:r>
          </a:p>
          <a:p/>
          <a:p>
            <a:r>
              <a:t>**Reality Check**:</a:t>
            </a:r>
          </a:p>
          <a:p/>
          <a:p>
            <a:pPr/>
            <a:r>
              <a:t>AI is not replacing developers</a:t>
            </a:r>
          </a:p>
          <a:p>
            <a:pPr/>
            <a:r>
              <a:t>It's helping them move faster and think bigger</a:t>
            </a:r>
          </a:p>
          <a:p>
            <a:pPr/>
            <a:r>
              <a:t>Following the same pattern as previous innovations</a:t>
            </a:r>
          </a:p>
          <a:p/>
          <a:p>
            <a:r>
              <a:t>---</a:t>
            </a:r>
          </a:p>
          <a:p/>
          <a:p/>
          <a:p>
            <a:r>
              <a:t>**Unchanged Responsibilities**:</a:t>
            </a:r>
          </a:p>
          <a:p/>
          <a:p>
            <a:pPr/>
            <a:r>
              <a:t>**Testing, review, and validation** still required</a:t>
            </a:r>
          </a:p>
          <a:p>
            <a:pPr/>
            <a:r>
              <a:t>**Architecture, correctness, security, ethics** remain developer duties</a:t>
            </a:r>
          </a:p>
          <a:p>
            <a:pPr/>
            <a:r>
              <a:t>Critical thinking is still essential</a:t>
            </a:r>
          </a:p>
          <a:p/>
          <a:p>
            <a:r>
              <a:t>**What Changed**: How we express our goals</a:t>
            </a:r>
          </a:p>
          <a:p>
            <a:r>
              <a:t>**What Didn't Change**: Whether we need to think critically</a:t>
            </a:r>
          </a:p>
          <a:p/>
          <a:p>
            <a:r>
              <a:t>---</a:t>
            </a:r>
          </a:p>
          <a:p/>
          <a:p/>
          <a:p>
            <a:r>
              <a:t>**Continuity**:</a:t>
            </a:r>
          </a:p>
          <a:p/>
          <a:p>
            <a:pPr/>
            <a:r>
              <a:t>Core goal remains: getting computers to do what we need</a:t>
            </a:r>
          </a:p>
          <a:p>
            <a:pPr/>
            <a:r>
              <a:t>Instead of writing/debugging code → creating prompts and refining context</a:t>
            </a:r>
          </a:p>
          <a:p>
            <a:pPr/>
            <a:r>
              <a:t>Same learning curve pattern as all previous improvements</a:t>
            </a:r>
          </a:p>
          <a:p/>
          <a:p>
            <a:r>
              <a:t>**Essential Truth**: AI assistance is just another improvement in the long line of programming evolution</a:t>
            </a:r>
          </a:p>
          <a:p/>
          <a:p>
            <a:r>
              <a:t>---</a:t>
            </a:r>
          </a:p>
          <a:p/>
          <a:p/>
          <a:p>
            <a:r>
              <a:t>**The Fundamental Truth**:</a:t>
            </a:r>
          </a:p>
          <a:p/>
          <a:p>
            <a:pPr/>
            <a:r>
              <a:t>Programming has **always** been about translating human intent into machine action</a:t>
            </a:r>
          </a:p>
          <a:p>
            <a:pPr/>
            <a:r>
              <a:t>From punch cards to Python to AI prompts—the core challenge remains unchanged</a:t>
            </a:r>
          </a:p>
          <a:p>
            <a:pPr/>
            <a:r>
              <a:t>What evolves is not the essence of programming, but the sophistication of our tools</a:t>
            </a:r>
          </a:p>
          <a:p/>
          <a:p>
            <a:r>
              <a:t>**AI's Role**:</a:t>
            </a:r>
          </a:p>
          <a:p/>
          <a:p>
            <a:pPr/>
            <a:r>
              <a:t>Latest chapter in the ongoing story</a:t>
            </a:r>
          </a:p>
          <a:p>
            <a:pPr/>
            <a:r>
              <a:t>More intuitive ways to communicate with computers</a:t>
            </a:r>
          </a:p>
          <a:p>
            <a:pPr/>
            <a:r>
              <a:t>Preserves essential human responsibilities: design, validation, ethical oversight</a:t>
            </a:r>
          </a:p>
          <a:p/>
          <a:p>
            <a:r>
              <a:t>**The Future**: Not abandoning programming, but refining it—making it more accessible and efficient while keeping human creativity and judgment at the center.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AI Revolution?</a:t>
            </a:r>
          </a:p>
        </p:txBody>
      </p:sp>
      <p:sp>
        <p:nvSpPr>
          <p:cNvPr id="3" name="Content Placeholder 2"/>
          <p:cNvSpPr>
            <a:spLocks noGrp="1"/>
          </p:cNvSpPr>
          <p:nvPr>
            <p:ph idx="1"/>
          </p:nvPr>
        </p:nvSpPr>
        <p:spPr/>
        <p:txBody>
          <a:bodyPr/>
          <a:lstStyle/>
          <a:p/>
          <a:p>
            <a:r>
              <a:t>What hasn't changed and what has.</a:t>
            </a:r>
          </a:p>
          <a:p/>
          <a:p>
            <a:r>
              <a:t>---</a:t>
            </a:r>
          </a:p>
          <a:p/>
          <a:p/>
          <a:p>
            <a:r>
              <a:t>“Programming hasn’t changed, but how we go about it has changed, again.”</a:t>
            </a:r>
          </a:p>
          <a:p>
            <a:r>
              <a:t>AI-assisted development is evolutionary, not revolutionary</a:t>
            </a:r>
          </a:p>
          <a:p>
            <a:r>
              <a:t>Programming has always been about expressing human intent to machines</a:t>
            </a:r>
          </a:p>
          <a:p>
            <a:r>
              <a:t>What changes is the sophistication of our tools for expressing intent</a:t>
            </a:r>
          </a:p>
          <a:p>
            <a:r>
              <a:t>The essence remains: bridging the gap between what we want and what machines can do</a:t>
            </a:r>
          </a:p>
          <a:p/>
          <a:p>
            <a:r>
              <a:t>::: notes</a:t>
            </a:r>
          </a:p>
          <a:p>
            <a:r>
              <a:t>What is significant</a:t>
            </a:r>
          </a:p>
          <a:p/>
          <a:p>
            <a:r>
              <a:t>Natural Language</a:t>
            </a:r>
          </a:p>
          <a:p>
            <a:r>
              <a:t>Vast amount of knowledge available</a:t>
            </a:r>
          </a:p>
          <a:p>
            <a:r>
              <a:t>:::</a:t>
            </a:r>
          </a:p>
          <a:p/>
          <a:p>
            <a:r>
              <a:t>---</a:t>
            </a:r>
          </a:p>
          <a:p/>
          <a:p/>
          <a:p>
            <a:r>
              <a:t>If used effectively, it will give you superpowers</a:t>
            </a:r>
          </a:p>
          <a:p/>
          <a:p>
            <a:pPr/>
            <a:r>
              <a:t>The courage to</a:t>
            </a:r>
          </a:p>
          <a:p>
            <a:r>
              <a:t>  - Take on codebases that few would touch</a:t>
            </a:r>
          </a:p>
          <a:p>
            <a:r>
              <a:t>  - Use technologies you should know but don’t</a:t>
            </a:r>
          </a:p>
          <a:p>
            <a:r>
              <a:t>  - Write more high-quality code than you have ever written before</a:t>
            </a:r>
          </a:p>
          <a:p>
            <a:r>
              <a:t>  - Take on the nice to haves</a:t>
            </a:r>
          </a:p>
          <a:p/>
          <a:p>
            <a:r>
              <a:t>::: notes</a:t>
            </a:r>
          </a:p>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p>
            <a:r>
              <a:t>Key message: AI doesn’t replace developers—it amplifies their capabilities</a:t>
            </a:r>
          </a:p>
          <a:p>
            <a:r>
              <a:t>:::</a:t>
            </a:r>
          </a:p>
          <a:p/>
          <a:p>
            <a:r>
              <a:t>---</a:t>
            </a:r>
          </a:p>
          <a:p/>
          <a:p/>
          <a:p>
            <a:r>
              <a:t>AI‑First Development</a:t>
            </a:r>
          </a:p>
          <a:p>
            <a:r>
              <a:t>A software engineering philosophy where AI is embedded across the entire SDLC–requirements, design, implementation, testing, documentation, compliance, and maintenance.</a:t>
            </a:r>
          </a:p>
          <a:p>
            <a:r>
              <a:t>Prompt‑First Development</a:t>
            </a:r>
          </a:p>
          <a:p>
            <a:r>
              <a:t>A workflow pattern where prompts, instruction files, and chat modes are treated as first‑class, version‑controlled artifacts.</a:t>
            </a:r>
          </a:p>
          <a:p/>
          <a:p>
            <a:r>
              <a:t>::: notes</a:t>
            </a:r>
          </a:p>
          <a:p>
            <a:r>
              <a:t>AI‑First is the broad philosophy. Prompt‑First is the tactical layer that enables predictable AI behavior. You can do Prompt‑First without being AI‑First, but not the reverse.</a:t>
            </a:r>
          </a:p>
          <a:p>
            <a:r>
              <a:t>:::</a:t>
            </a:r>
          </a:p>
          <a:p/>
          <a:p>
            <a:r>
              <a:t>---</a:t>
            </a:r>
          </a:p>
          <a:p/>
          <a:p/>
          <a:p>
            <a:r>
              <a:t>| Focus Area    | AI‑First                  | Prompt‑First                       |</a:t>
            </a:r>
          </a:p>
          <a:p>
            <a:r>
              <a:t>| ------------- | ------------------------- | ---------------------------------- |</a:t>
            </a:r>
          </a:p>
          <a:p>
            <a:r>
              <a:t>| Scope         | Entire SDLC               | Interaction layer                  |</a:t>
            </a:r>
          </a:p>
          <a:p>
            <a:r>
              <a:t>| Goal          | Lifecycle integration     | Deterministic AI behavior          |</a:t>
            </a:r>
          </a:p>
          <a:p>
            <a:r>
              <a:t>| Optimization  | Velocity, governance      | Prompt quality, reproducibility    |</a:t>
            </a:r>
          </a:p>
          <a:p>
            <a:r>
              <a:t>| Risk Controls | Human‑in‑loop, provenance | Versioned prompts, context control |</a:t>
            </a:r>
          </a:p>
          <a:p/>
          <a:p>
            <a:r>
              <a:t>::: notes</a:t>
            </a:r>
          </a:p>
          <a:p>
            <a:r>
              <a:t>This table is the heart of the comparison. AI‑First is about organizational and architectural change. Prompt‑First is about artifact discipline and predictable outputs.</a:t>
            </a:r>
          </a:p>
          <a:p>
            <a:r>
              <a:t>:::</a:t>
            </a:r>
          </a:p>
          <a:p/>
          <a:p>
            <a:r>
              <a:t>---</a:t>
            </a:r>
          </a:p>
          <a:p/>
          <a:p/>
          <a:p>
            <a:r>
              <a:t>AI‑First</a:t>
            </a:r>
          </a:p>
          <a:p>
            <a:r>
              <a:t>Requirements written with AI collaboration in mind</a:t>
            </a:r>
          </a:p>
          <a:p>
            <a:r>
              <a:t>AI‑generated scaffolds, tests, docs</a:t>
            </a:r>
          </a:p>
          <a:p>
            <a:r>
              <a:t>Provenance enforced across all AI outputs</a:t>
            </a:r>
          </a:p>
          <a:p>
            <a:r>
              <a:t>Architecture assumes AI participation</a:t>
            </a:r>
          </a:p>
          <a:p>
            <a:r>
              <a:t>Prompt‑First</a:t>
            </a:r>
          </a:p>
          <a:p>
            <a:r>
              <a:t>Prompts and instruction files are version‑controlled</a:t>
            </a:r>
          </a:p>
          <a:p>
            <a:r>
              <a:t>Prompts define behavioral contracts</a:t>
            </a:r>
          </a:p>
          <a:p>
            <a:r>
              <a:t>Reusable prompt modules</a:t>
            </a:r>
          </a:p>
          <a:p>
            <a:r>
              <a:t>Chat modes define safe, predictable interactions</a:t>
            </a:r>
          </a:p>
          <a:p/>
          <a:p>
            <a:r>
              <a:t>::: notes</a:t>
            </a:r>
          </a:p>
          <a:p>
            <a:r>
              <a:t>AI‑First changes what you build and how you build it. Prompt‑First changes how you communicate intent to the AI.</a:t>
            </a:r>
          </a:p>
          <a:p>
            <a:r>
              <a:t>:::</a:t>
            </a:r>
          </a:p>
          <a:p/>
          <a:p>
            <a:r>
              <a:t>---</a:t>
            </a:r>
          </a:p>
          <a:p/>
          <a:p/>
          <a:p>
            <a:r>
              <a:t>Prompt‑First is a subset of AI‑First.</a:t>
            </a:r>
          </a:p>
          <a:p>
            <a:r>
              <a:t>Prompt‑First = mechanics</a:t>
            </a:r>
          </a:p>
          <a:p>
            <a:r>
              <a:t>AI‑First = philosophy + architecture + lifecycle integration</a:t>
            </a:r>
          </a:p>
          <a:p/>
          <a:p>
            <a:r>
              <a:t>::: notes</a:t>
            </a:r>
          </a:p>
          <a:p>
            <a:r>
              <a:t>This is the conceptual hierarchy. Prompt‑First is necessary but not sufficient for AI‑First maturity.</a:t>
            </a:r>
          </a:p>
          <a:p>
            <a:r>
              <a:t>:::</a:t>
            </a:r>
          </a:p>
          <a:p/>
          <a:p>
            <a:r>
              <a:t>---</a:t>
            </a:r>
          </a:p>
          <a:p/>
          <a:p/>
          <a:p>
            <a:r>
              <a:t>Building software where AI is a core capability, not an add‑on</a:t>
            </a:r>
          </a:p>
          <a:p>
            <a:r>
              <a:t>Why AI‑First</a:t>
            </a:r>
          </a:p>
          <a:p/>
          <a:p>
            <a:pPr/>
            <a:r>
              <a:t>Software requirements increasingly expressed in natural language</a:t>
            </a:r>
          </a:p>
          <a:p>
            <a:pPr/>
            <a:r>
              <a:t>AI copilots accelerate architecture, coding, testing, and documentation</a:t>
            </a:r>
          </a:p>
          <a:p>
            <a:pPr/>
            <a:r>
              <a:t>Teams shift from “writing code” to “designing intent + validating outputs”</a:t>
            </a:r>
          </a:p>
          <a:p>
            <a:r>
              <a:t>  Core Principles</a:t>
            </a:r>
          </a:p>
          <a:p>
            <a:pPr/>
            <a:r>
              <a:t>Prompt‑First Design: Requirements, architecture, and workflows expressed as structured prompts</a:t>
            </a:r>
          </a:p>
          <a:p>
            <a:pPr/>
            <a:r>
              <a:t>AI‑Native Architecture: Modular services, clear boundaries, deterministic interfaces for AI‑generated components</a:t>
            </a:r>
          </a:p>
          <a:p>
            <a:pPr/>
            <a:r>
              <a:t>Human‑in‑the‑Loop: Review, validation, and traceability baked into every stage</a:t>
            </a:r>
          </a:p>
          <a:p>
            <a:pPr/>
            <a:r>
              <a:t>Continuous Verification: Automated tests, static analysis, and guardrails to ensure safe outputs</a:t>
            </a:r>
          </a:p>
          <a:p>
            <a:pPr/>
            <a:r>
              <a:t>Lifecycle Governance: Versioning, provenance, and risk‑based controls for AI‑generated artifacts</a:t>
            </a:r>
          </a:p>
          <a:p>
            <a:r>
              <a:t>  Outcomes</a:t>
            </a:r>
          </a:p>
          <a:p>
            <a:pPr/>
            <a:r>
              <a:t>Faster iteration cycles</a:t>
            </a:r>
          </a:p>
          <a:p>
            <a:pPr/>
            <a:r>
              <a:t>Higher coverage of documentation and tests</a:t>
            </a:r>
          </a:p>
          <a:p>
            <a:pPr/>
            <a:r>
              <a:t>Reduced cognitive load on developers</a:t>
            </a:r>
          </a:p>
          <a:p>
            <a:pPr/>
            <a:r>
              <a:t>More resilient, adaptable systems</a:t>
            </a:r>
          </a:p>
          <a:p/>
          <a:p>
            <a:r>
              <a:t>::: notes</a:t>
            </a:r>
          </a:p>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p>
            <a:r>
              <a:t>Core Principles</a:t>
            </a:r>
          </a:p>
          <a:p/>
          <a:p>
            <a:r>
              <a:t>Prompt‑First Design</a:t>
            </a:r>
          </a:p>
          <a:p>
            <a:r>
              <a:t>“We start with structured prompts that capture behaviors, invariants, and interfaces. These become durable artifacts, just like design docs.”</a:t>
            </a:r>
          </a:p>
          <a:p/>
          <a:p>
            <a:r>
              <a:t>AI‑Native Architecture</a:t>
            </a:r>
          </a:p>
          <a:p>
            <a:r>
              <a:t>“We design modules with clear boundaries so AI‑generated components remain predictable and testable. Deterministic interfaces are essential.”</a:t>
            </a:r>
          </a:p>
          <a:p/>
          <a:p>
            <a:r>
              <a:t>Human‑in‑the‑Loop</a:t>
            </a:r>
          </a:p>
          <a:p>
            <a:r>
              <a:t>“AI accelerates creation, but humans validate correctness, safety, and alignment with business intent. Review is built into the workflow.”</a:t>
            </a:r>
          </a:p>
          <a:p/>
          <a:p>
            <a:r>
              <a:t>Continuous Verification</a:t>
            </a:r>
          </a:p>
          <a:p>
            <a:r>
              <a:t>“Every AI‑generated artifact—code, tests, docs—runs through automated checks. Static analysis, unit tests, and guardrails catch drift early.”</a:t>
            </a:r>
          </a:p>
          <a:p/>
          <a:p>
            <a:r>
              <a:t>Lifecycle Governance</a:t>
            </a:r>
          </a:p>
          <a:p>
            <a:r>
              <a:t>“We treat prompts, outputs, and revisions as versioned assets. Provenance and traceability matter for compliance, debugging, and long‑term maintainability.”</a:t>
            </a:r>
          </a:p>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r>
              <a:t>:::</a:t>
            </a:r>
          </a:p>
          <a:p/>
          <a:p>
            <a:r>
              <a:t>---</a:t>
            </a:r>
          </a:p>
          <a:p/>
          <a:p/>
          <a:p>
            <a:r>
              <a:t>Design the intent first — let AI generate the implementation</a:t>
            </a:r>
          </a:p>
          <a:p>
            <a:r>
              <a:t>Why Prompt‑First</a:t>
            </a:r>
          </a:p>
          <a:p/>
          <a:p>
            <a:pPr/>
            <a:r>
              <a:t>Behaviors, and constraints expressed in structured natural language</a:t>
            </a:r>
          </a:p>
          <a:p>
            <a:pPr/>
            <a:r>
              <a:t>Prompts become the new “source of truth” artifacts</a:t>
            </a:r>
          </a:p>
          <a:p>
            <a:pPr/>
            <a:r>
              <a:t>Teams shift from writing functions to defining outcomes, invariants, and interfaces</a:t>
            </a:r>
          </a:p>
          <a:p>
            <a:r>
              <a:t>  Core Practices</a:t>
            </a:r>
          </a:p>
          <a:p>
            <a:pPr/>
            <a:r>
              <a:t>Structured Prompts: Use templates for features, APIs, data models, tests, and refactors</a:t>
            </a:r>
          </a:p>
          <a:p>
            <a:pPr/>
            <a:r>
              <a:t>Instruction Files: Persistent, versioned artifacts guiding AI code generation</a:t>
            </a:r>
          </a:p>
          <a:p>
            <a:pPr/>
            <a:r>
              <a:t>Deterministic Boundaries: Clear module contracts so AI‑generated code stays predictable</a:t>
            </a:r>
          </a:p>
          <a:p>
            <a:pPr/>
            <a:r>
              <a:t>Validation Loops: Automated tests + human review ensure correctness and safety</a:t>
            </a:r>
          </a:p>
          <a:p>
            <a:pPr/>
            <a:r>
              <a:t>Prompt Versioning: Track evolution of intent just like code changes</a:t>
            </a:r>
          </a:p>
          <a:p>
            <a:r>
              <a:t>  Benefits</a:t>
            </a:r>
          </a:p>
          <a:p>
            <a:pPr/>
            <a:r>
              <a:t>Faster iteration from idea → working software</a:t>
            </a:r>
          </a:p>
          <a:p>
            <a:pPr/>
            <a:r>
              <a:t>Higher consistency across generated components</a:t>
            </a:r>
          </a:p>
          <a:p>
            <a:pPr/>
            <a:r>
              <a:t>Reduced cognitive load on developers</a:t>
            </a:r>
          </a:p>
          <a:p>
            <a:pPr/>
            <a:r>
              <a:t>Better alignment between business intent and implementation</a:t>
            </a:r>
          </a:p>
          <a:p/>
          <a:p>
            <a:r>
              <a:t>::: notes</a:t>
            </a:r>
          </a:p>
          <a:p>
            <a:r>
              <a:t>“This slide introduces the core idea behind Prompt‑First development. Instead of starting with code, we start with intent. Prompts become the primary design artifact, and AI becomes the mechanism that turns intent into implementation.”</a:t>
            </a:r>
          </a:p>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p>
            <a:r>
              <a:t>Core Practices</a:t>
            </a:r>
          </a:p>
          <a:p/>
          <a:p>
            <a:r>
              <a:t>Structured Prompts</a:t>
            </a:r>
          </a:p>
          <a:p>
            <a:r>
              <a:t>“We don’t rely on ad‑hoc prompting. We use templates for features, APIs, data models, tests, and refactors. This creates consistency and reduces ambiguity.”</a:t>
            </a:r>
          </a:p>
          <a:p/>
          <a:p>
            <a:r>
              <a:t>Instruction Files</a:t>
            </a:r>
          </a:p>
          <a:p>
            <a:r>
              <a:t>“These are durable, versioned prompt artifacts that guide AI generation. They act like living design documents that the AI reads every time it produces code.”</a:t>
            </a:r>
          </a:p>
          <a:p/>
          <a:p>
            <a:r>
              <a:t>Deterministic Boundaries</a:t>
            </a:r>
          </a:p>
          <a:p>
            <a:r>
              <a:t>“We design modules with clear contracts so AI‑generated code stays predictable. The AI can generate the internals, but the interfaces remain stable and human‑controlled.”</a:t>
            </a:r>
          </a:p>
          <a:p/>
          <a:p>
            <a:r>
              <a:t>Validation Loops</a:t>
            </a:r>
          </a:p>
          <a:p>
            <a:r>
              <a:t>“Every AI‑generated artifact goes through automated tests and human review. The goal is to catch drift early and ensure correctness.”</a:t>
            </a:r>
          </a:p>
          <a:p/>
          <a:p>
            <a:r>
              <a:t>Prompt Versioning</a:t>
            </a:r>
          </a:p>
          <a:p>
            <a:r>
              <a:t>“Prompts evolve just like code. Tracking changes helps with debugging, reproducibility, and compliance.”</a:t>
            </a:r>
          </a:p>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r>
              <a:t>:::</a:t>
            </a:r>
          </a:p>
          <a:p/>
          <a:p>
            <a:r>
              <a:t>---</a:t>
            </a:r>
          </a:p>
          <a:p/>
          <a:p/>
          <a:p>
            <a:r>
              <a:t>**Prompt‑First Example**</a:t>
            </a:r>
          </a:p>
          <a:p/>
          <a:p>
            <a:pPr/>
            <a:r>
              <a:t>Promptfile for generating unit tests</a:t>
            </a:r>
          </a:p>
          <a:p>
            <a:pPr/>
            <a:r>
              <a:t>Instruction file for documentation</a:t>
            </a:r>
          </a:p>
          <a:p>
            <a:pPr/>
            <a:r>
              <a:t>Chat mode for brownfield developers</a:t>
            </a:r>
          </a:p>
          <a:p/>
          <a:p>
            <a:r>
              <a:t>**AI‑First Example**</a:t>
            </a:r>
          </a:p>
          <a:p/>
          <a:p>
            <a:pPr/>
            <a:r>
              <a:t>Requirements → AI‑generated scaffolds</a:t>
            </a:r>
          </a:p>
          <a:p>
            <a:pPr/>
            <a:r>
              <a:t>Code changes → AI‑assisted reviews</a:t>
            </a:r>
          </a:p>
          <a:p>
            <a:pPr/>
            <a:r>
              <a:t>Docs → continuously AI‑generated</a:t>
            </a:r>
          </a:p>
          <a:p>
            <a:pPr/>
            <a:r>
              <a:t>Modernization → AI‑guided refactoring plans</a:t>
            </a:r>
          </a:p>
          <a:p>
            <a:pPr/>
            <a:r>
              <a:t>Provenance → enforced everywhere</a:t>
            </a:r>
          </a:p>
          <a:p/>
          <a:p>
            <a:r>
              <a:t>::: notes</a:t>
            </a:r>
          </a:p>
          <a:p>
            <a:r>
              <a:t>Use these examples to help teams visualize the difference.</a:t>
            </a:r>
          </a:p>
          <a:p>
            <a:r>
              <a:t>Prompt‑First is about interfaces; AI‑First is about the entire workflow.</a:t>
            </a:r>
          </a:p>
          <a:p>
            <a:r>
              <a:t>:::</a:t>
            </a:r>
          </a:p>
          <a:p/>
          <a:p>
            <a:r>
              <a:t>---</a:t>
            </a:r>
          </a:p>
          <a:p/>
          <a:p/>
          <a:p>
            <a:pPr/>
            <a:r>
              <a:t>**AI‑First = philosophy + architecture + lifecycle integration**</a:t>
            </a:r>
          </a:p>
          <a:p>
            <a:pPr/>
            <a:r>
              <a:t>**Prompt‑First = structured, version‑controlled interfaces for interacting with AI**</a:t>
            </a:r>
          </a:p>
          <a:p/>
          <a:p>
            <a:r>
              <a:t>::: notes</a:t>
            </a:r>
          </a:p>
          <a:p>
            <a:r>
              <a:t>End with this summary to reinforce the distinction.</a:t>
            </a:r>
          </a:p>
          <a:p>
            <a:r>
              <a:t>It’s the cleanest way to remember the relationship.</a:t>
            </a:r>
          </a:p>
          <a:p>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t>Intro</a:t>
            </a:r>
          </a:p>
          <a:p>
            <a:pPr/>
            <a:r>
              <a:t>Module 1 - AIASD</a:t>
            </a:r>
          </a:p>
          <a:p>
            <a:pPr/>
            <a:r>
              <a:rPr b="1"/>
              <a:t>▶ Module 2 - Intro to Copilot</a:t>
            </a:r>
          </a:p>
          <a:p>
            <a:pPr/>
            <a:r>
              <a:t>Module 3 - Vibbing</a:t>
            </a:r>
          </a:p>
          <a:p>
            <a:pPr/>
            <a:r>
              <a:t>Module 4 - Adding AI Guardrails</a:t>
            </a:r>
          </a:p>
          <a:p>
            <a:pPr/>
            <a:r>
              <a:t>Module 5 - Managing Context</a:t>
            </a:r>
          </a:p>
          <a:p>
            <a:pPr/>
            <a:r>
              <a:t>Module 6 - Copilot for Teams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 Intro to Copilot</a:t>
            </a:r>
          </a:p>
        </p:txBody>
      </p:sp>
      <p:sp>
        <p:nvSpPr>
          <p:cNvPr id="3" name="Text Placeholder 2"/>
          <p:cNvSpPr>
            <a:spLocks noGrp="1"/>
          </p:cNvSpPr>
          <p:nvPr>
            <p:ph type="body" idx="1"/>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 Intro to Copilot</a:t>
            </a:r>
          </a:p>
        </p:txBody>
      </p:sp>
      <p:sp>
        <p:nvSpPr>
          <p:cNvPr id="3" name="Content Placeholder 2"/>
          <p:cNvSpPr>
            <a:spLocks noGrp="1"/>
          </p:cNvSpPr>
          <p:nvPr>
            <p:ph idx="1"/>
          </p:nvPr>
        </p:nvSpPr>
        <p:spPr/>
        <p:txBody>
          <a:bodyPr/>
          <a:lstStyle/>
          <a:p/>
          <a:p>
            <a:pPr/>
            <a:r>
              <a:t>Repository and Tool Setup</a:t>
            </a:r>
          </a:p>
          <a:p>
            <a:pPr/>
            <a:r>
              <a:t>Hands-On with GitHub Copilot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Repository and Tool Setup</a:t>
            </a:r>
          </a:p>
        </p:txBody>
      </p:sp>
      <p:sp>
        <p:nvSpPr>
          <p:cNvPr id="3" name="Content Placeholder 2"/>
          <p:cNvSpPr>
            <a:spLocks noGrp="1"/>
          </p:cNvSpPr>
          <p:nvPr>
            <p:ph idx="1"/>
          </p:nvPr>
        </p:nvSpPr>
        <p:spPr/>
        <p:txBody>
          <a:bodyPr/>
          <a:lstStyle/>
          <a:p/>
          <a:p>
            <a:r>
              <a:t>Cloning course repository</a:t>
            </a:r>
          </a:p>
          <a:p>
            <a:r>
              <a:t>GitHub authentication</a:t>
            </a:r>
          </a:p>
          <a:p/>
          <a:p>
            <a:r>
              <a:t>---</a:t>
            </a:r>
          </a:p>
          <a:p/>
          <a:p/>
          <a:p>
            <a:r>
              <a:t>Duration: 10 minutes</a:t>
            </a:r>
          </a:p>
          <a:p>
            <a:r>
              <a:t>Prerequisites: Git, GitHub account</a:t>
            </a:r>
          </a:p>
          <a:p>
            <a:r>
              <a:t>Objectives</a:t>
            </a:r>
          </a:p>
          <a:p>
            <a:r>
              <a:t>Fork the AI-Assisted-Software-Development repo</a:t>
            </a:r>
          </a:p>
          <a:p>
            <a:r>
              <a:t>Activities</a:t>
            </a:r>
          </a:p>
          <a:p>
            <a:r>
              <a:t>Clone the git@github.com:johnmillerATcodemag-com/AI-Assisted-Software-Development.gitrepository</a:t>
            </a:r>
          </a:p>
          <a:p>
            <a:r>
              <a:t>Switch to the brownfield branch</a:t>
            </a:r>
          </a:p>
          <a:p>
            <a:r>
              <a:t>Success Criteria</a:t>
            </a:r>
          </a:p>
          <a:p>
            <a:r>
              <a:t>Cloned repository exists locally</a:t>
            </a:r>
          </a:p>
          <a:p/>
          <a:p>
            <a:r>
              <a:t>::: notes</a:t>
            </a:r>
          </a:p>
          <a:p>
            <a:r>
              <a:t>Objective: Fork the course repos Tasks</a:t>
            </a:r>
          </a:p>
          <a:p>
            <a:r>
              <a:t>Search GitHub for</a:t>
            </a:r>
          </a:p>
          <a:p>
            <a:r>
              <a:t>AI-Assisted-Software-Development</a:t>
            </a:r>
          </a:p>
          <a:p>
            <a:r>
              <a:t>Fork this repo</a:t>
            </a:r>
          </a:p>
          <a:p>
            <a:r>
              <a:t>This will create a personal copy under your GitHub account</a:t>
            </a:r>
          </a:p>
          <a:p>
            <a:r>
              <a:t>You can make changes without affecting the original repo</a:t>
            </a:r>
          </a:p>
          <a:p>
            <a:r>
              <a:t>:::</a:t>
            </a:r>
          </a:p>
          <a:p/>
          <a:p>
            <a:r>
              <a:t>---</a:t>
            </a:r>
          </a:p>
          <a:p/>
          <a:p/>
          <a:p>
            <a:r>
              <a:t>Duration: 20 minutes</a:t>
            </a:r>
          </a:p>
          <a:p>
            <a:r>
              <a:t>Objectives: Explore an unfamiliar codebase</a:t>
            </a:r>
          </a:p>
          <a:p>
            <a:r>
              <a:t>Activities</a:t>
            </a:r>
          </a:p>
          <a:p>
            <a:r>
              <a:t>Fork this repo https://github.com/j0hnnymiller/AIASD-20260209-BF.git</a:t>
            </a:r>
          </a:p>
          <a:p>
            <a:r>
              <a:t>Clone the forked repo</a:t>
            </a:r>
          </a:p>
          <a:p>
            <a:r>
              <a:t>Create a GitHub PAT https://github.com/settings/tokens</a:t>
            </a:r>
          </a:p>
          <a:p>
            <a:r>
              <a:t>Store the PAT in the GITHUB_TOKEN environment variable</a:t>
            </a:r>
          </a:p>
          <a:p>
            <a:r>
              <a:t>Success Criteria</a:t>
            </a:r>
          </a:p>
          <a:p>
            <a:r>
              <a:t>Repo is available locally</a:t>
            </a:r>
          </a:p>
          <a:p/>
          <a:p>
            <a:r>
              <a:t>---</a:t>
            </a:r>
          </a:p>
          <a:p/>
          <a:p/>
          <a:p>
            <a:r>
              <a:t>Objective: Fork the course repos</a:t>
            </a:r>
          </a:p>
          <a:p>
            <a:r>
              <a:t>Search GitHub for</a:t>
            </a:r>
          </a:p>
          <a:p>
            <a:pPr/>
            <a:r>
              <a:t>AI-Assisted-Software-Development</a:t>
            </a:r>
          </a:p>
          <a:p>
            <a:pPr/>
            <a:r>
              <a:t>zeus.academia.3b</a:t>
            </a:r>
          </a:p>
          <a:p>
            <a:r>
              <a:t>Fork the repos</a:t>
            </a:r>
          </a:p>
          <a:p>
            <a:pPr/>
            <a:r>
              <a:t>This will create a personal copy under your GitHub account</a:t>
            </a:r>
          </a:p>
          <a:p>
            <a:pPr/>
            <a:r>
              <a:t>You can make changes without affecting the original repo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with GitHub Copilot</a:t>
            </a:r>
          </a:p>
        </p:txBody>
      </p:sp>
      <p:sp>
        <p:nvSpPr>
          <p:cNvPr id="3" name="Content Placeholder 2"/>
          <p:cNvSpPr>
            <a:spLocks noGrp="1"/>
          </p:cNvSpPr>
          <p:nvPr>
            <p:ph idx="1"/>
          </p:nvPr>
        </p:nvSpPr>
        <p:spPr/>
        <p:txBody>
          <a:bodyPr/>
          <a:lstStyle/>
          <a:p/>
          <a:p>
            <a:r>
              <a:t>Installation and configuration</a:t>
            </a:r>
          </a:p>
          <a:p>
            <a:pPr/>
            <a:r>
              <a:t>Installing the extension</a:t>
            </a:r>
          </a:p>
          <a:p>
            <a:pPr/>
            <a:r>
              <a:t>Setting up authentication</a:t>
            </a:r>
          </a:p>
          <a:p>
            <a:pPr/>
            <a:r>
              <a:t>Configuring settings</a:t>
            </a:r>
          </a:p>
          <a:p>
            <a:r>
              <a:t>Sharing configuration across an organization</a:t>
            </a:r>
          </a:p>
          <a:p>
            <a:pPr/>
            <a:r>
              <a:t>Shared configuration templates (e.g., .copilot/settings.json) can be distributed across projects to standardize behavior.</a:t>
            </a:r>
          </a:p>
          <a:p>
            <a:r>
              <a:t>https://www.codemag.com/Blog/AI/AIASD-install-guide</a:t>
            </a:r>
          </a:p>
          <a:p/>
          <a:p>
            <a:r>
              <a:t>::: notes</a:t>
            </a:r>
          </a:p>
          <a:p>
            <a:r>
              <a:t>Walk through installation, auth, and a quick coding session; encourage participants to follow along.</a:t>
            </a:r>
          </a:p>
          <a:p>
            <a:r>
              <a:t>:::</a:t>
            </a:r>
          </a:p>
          <a:p/>
          <a:p>
            <a:r>
              <a:t>---</a:t>
            </a:r>
          </a:p>
          <a:p/>
          <a:p/>
          <a:p>
            <a:r>
              <a:t>Duration: Follow along</a:t>
            </a:r>
          </a:p>
          <a:p>
            <a:r>
              <a:t>Objectives</a:t>
            </a:r>
          </a:p>
          <a:p>
            <a:r>
              <a:t>Install and configure GitHub Copilot</a:t>
            </a:r>
          </a:p>
          <a:p>
            <a:r>
              <a:t>Verify authentication with GitHub account</a:t>
            </a:r>
          </a:p>
          <a:p>
            <a:r>
              <a:t>Explore the Copilot UI components</a:t>
            </a:r>
          </a:p>
          <a:p>
            <a:r>
              <a:t>Activities</a:t>
            </a:r>
          </a:p>
          <a:p>
            <a:r>
              <a:t>Install GitHub Copilot extension from VS Code marketplace</a:t>
            </a:r>
          </a:p>
          <a:p>
            <a:r>
              <a:t>Sign in with your GitHub account (verify Copilot subscription)</a:t>
            </a:r>
          </a:p>
          <a:p>
            <a:r>
              <a:t>Locate and explore:</a:t>
            </a:r>
          </a:p>
          <a:p>
            <a:pPr/>
            <a:r>
              <a:t>Chat window and chat history</a:t>
            </a:r>
          </a:p>
          <a:p>
            <a:pPr/>
            <a:r>
              <a:t>New chat button</a:t>
            </a:r>
          </a:p>
          <a:p>
            <a:pPr/>
            <a:r>
              <a:t>Quick chat feature (keyboard shortcut)</a:t>
            </a:r>
          </a:p>
          <a:p>
            <a:pPr/>
            <a:r>
              <a:t>Settings menu</a:t>
            </a:r>
          </a:p>
          <a:p>
            <a:pPr/>
            <a:r>
              <a:t>Model selection dropdown</a:t>
            </a:r>
          </a:p>
          <a:p>
            <a:r>
              <a:t>Check your premium token usage bar</a:t>
            </a:r>
          </a:p>
          <a:p>
            <a:r>
              <a:t>Create a new chat and experiment with the interface</a:t>
            </a:r>
          </a:p>
          <a:p>
            <a:r>
              <a:t>Success Criteria</a:t>
            </a:r>
          </a:p>
          <a:p>
            <a:pPr/>
            <a:r>
              <a:t>Copilot extension installed and authenticated</a:t>
            </a:r>
          </a:p>
          <a:p>
            <a:pPr/>
            <a:r>
              <a:t>Can open/close chat windows</a:t>
            </a:r>
          </a:p>
          <a:p>
            <a:pPr/>
            <a:r>
              <a:t>Understand difference between main chat and quick chat</a:t>
            </a:r>
          </a:p>
          <a:p>
            <a:pPr/>
            <a:r>
              <a:t>Know where to find chat history</a:t>
            </a:r>
          </a:p>
          <a:p/>
          <a:p>
            <a:r>
              <a:t>::: notes</a:t>
            </a:r>
          </a:p>
          <a:p/>
          <a:p/>
          <a:p>
            <a:r>
              <a:t>**Duration:** 20-30 minutes</a:t>
            </a:r>
          </a:p>
          <a:p>
            <a:r>
              <a:t>**Prerequisites:** VS Code installed</a:t>
            </a:r>
          </a:p>
          <a:p/>
          <a:p/>
          <a:p>
            <a:r>
              <a:t>### Objectives</a:t>
            </a:r>
          </a:p>
          <a:p/>
          <a:p/>
          <a:p>
            <a:pPr/>
            <a:r>
              <a:t>Install and configure GitHub Copilot</a:t>
            </a:r>
          </a:p>
          <a:p>
            <a:pPr/>
            <a:r>
              <a:t>Verify authentication with GitHub account</a:t>
            </a:r>
          </a:p>
          <a:p>
            <a:pPr/>
            <a:r>
              <a:t>Explore the Copilot UI components</a:t>
            </a:r>
          </a:p>
          <a:p/>
          <a:p/>
          <a:p>
            <a:r>
              <a:t>### Activities</a:t>
            </a:r>
          </a:p>
          <a:p/>
          <a:p/>
          <a:p>
            <a:r>
              <a:t>1. Install GitHub Copilot extension from VS Code marketplace</a:t>
            </a:r>
          </a:p>
          <a:p>
            <a:r>
              <a:t>2. Sign in with your GitHub account (verify Copilot subscription)</a:t>
            </a:r>
          </a:p>
          <a:p>
            <a:r>
              <a:t>3. Locate and explore:</a:t>
            </a:r>
          </a:p>
          <a:p>
            <a:pPr/>
            <a:r>
              <a:t>Chat window and chat history</a:t>
            </a:r>
          </a:p>
          <a:p>
            <a:pPr/>
            <a:r>
              <a:t>New chat button</a:t>
            </a:r>
          </a:p>
          <a:p>
            <a:pPr/>
            <a:r>
              <a:t>Quick chat feature (keyboard shortcut)</a:t>
            </a:r>
          </a:p>
          <a:p>
            <a:pPr/>
            <a:r>
              <a:t>Settings menu</a:t>
            </a:r>
          </a:p>
          <a:p>
            <a:pPr/>
            <a:r>
              <a:t>Model selection dropdown</a:t>
            </a:r>
          </a:p>
          <a:p>
            <a:r>
              <a:t>4. Check your premium token usage bar</a:t>
            </a:r>
          </a:p>
          <a:p>
            <a:r>
              <a:t>5. Create a new chat and experiment with the interface</a:t>
            </a:r>
          </a:p>
          <a:p/>
          <a:p/>
          <a:p>
            <a:r>
              <a:t>### Success Criteria</a:t>
            </a:r>
          </a:p>
          <a:p/>
          <a:p/>
          <a:p>
            <a:pPr/>
            <a:r>
              <a:t>Copilot extension installed and authenticated</a:t>
            </a:r>
          </a:p>
          <a:p>
            <a:pPr/>
            <a:r>
              <a:t>Can open/close chat windows</a:t>
            </a:r>
          </a:p>
          <a:p>
            <a:pPr/>
            <a:r>
              <a:t>Understand difference between main chat and quick chat</a:t>
            </a:r>
          </a:p>
          <a:p>
            <a:pPr/>
            <a:r>
              <a:t>Know where to find chat history</a:t>
            </a:r>
          </a:p>
          <a:p>
            <a:r>
              <a:t>:::</a:t>
            </a:r>
          </a:p>
          <a:p/>
          <a:p>
            <a:r>
              <a:t>---</a:t>
            </a:r>
          </a:p>
          <a:p/>
          <a:p/>
          <a:p>
            <a:r>
              <a:t>Add error handling to my code</a:t>
            </a:r>
          </a:p>
          <a:p>
            <a:pPr/>
            <a:r>
              <a:t>Result: Generic response asking what type of errors, what language, what code?</a:t>
            </a:r>
          </a:p>
          <a:p>
            <a:r>
              <a:t>Add error handling to my JavaScript function that calls an external API. I want to handle network timeouts, 404 errors, and JSON parsing failures. Return user-friendly error messages.</a:t>
            </a:r>
          </a:p>
          <a:p>
            <a:pPr/>
            <a:r>
              <a:t>Result: Better, but still generic without seeing actual code structure</a:t>
            </a:r>
          </a:p>
          <a:p>
            <a:r>
              <a:t>@file:api-client.js Add comprehensive error handling to the fetchUserData function. Handle network timeouts (&gt;5s), HTTP errors (404, 500, etc.), and JSON parsing failures.   Return user-friendly error messages that match our existing error format in @file:error-types.js</a:t>
            </a:r>
          </a:p>
          <a:p>
            <a:pPr/>
            <a:r>
              <a:t>Result: Specific implementation that matches existing code patterns*</a:t>
            </a:r>
          </a:p>
          <a:p/>
          <a:p>
            <a:r>
              <a:t>---</a:t>
            </a:r>
          </a:p>
          <a:p/>
          <a:p/>
          <a:p>
            <a:r>
              <a:t>Duration: Follow along</a:t>
            </a:r>
          </a:p>
          <a:p>
            <a:r>
              <a:t>Objectives</a:t>
            </a:r>
          </a:p>
          <a:p>
            <a:r>
              <a:t>Learn to add context using @ symbols</a:t>
            </a:r>
          </a:p>
          <a:p>
            <a:r>
              <a:t>Understand context window limitations</a:t>
            </a:r>
          </a:p>
          <a:p>
            <a:r>
              <a:t>Practice writing effective prompts</a:t>
            </a:r>
          </a:p>
          <a:p>
            <a:r>
              <a:t>Activities</a:t>
            </a:r>
          </a:p>
          <a:p>
            <a:r>
              <a:t>1. Basic Context Addition:</a:t>
            </a:r>
          </a:p>
          <a:p>
            <a:r>
              <a:t>Use `@workspace` to search across your codebase</a:t>
            </a:r>
          </a:p>
          <a:p>
            <a:r>
              <a:t>Use `@file` to reference specific files</a:t>
            </a:r>
          </a:p>
          <a:p>
            <a:r>
              <a:t>Use `@terminal` to include terminal output in chat</a:t>
            </a:r>
          </a:p>
          <a:p>
            <a:r>
              <a:t>Use `@vscode` to ask VS Code-specific questions</a:t>
            </a:r>
          </a:p>
          <a:p>
            <a:r>
              <a:t>2. Prompt Practice:</a:t>
            </a:r>
          </a:p>
          <a:p>
            <a:r>
              <a:t>Write a vague prompt, observe results</a:t>
            </a:r>
          </a:p>
          <a:p>
            <a:r>
              <a:t>Rewrite with specific context, compare results</a:t>
            </a:r>
          </a:p>
          <a:p>
            <a:r>
              <a:t>Add file references to improve accuracy</a:t>
            </a:r>
          </a:p>
          <a:p>
            <a:r>
              <a:t>3. Context Window Experiment:</a:t>
            </a:r>
          </a:p>
          <a:p>
            <a:r>
              <a:t>Start a long conversation in one chat</a:t>
            </a:r>
          </a:p>
          <a:p>
            <a:r>
              <a:t>Notice when Copilot starts "forgetting" earlier context</a:t>
            </a:r>
          </a:p>
          <a:p>
            <a:r>
              <a:t>Practice starting new chats for new topics</a:t>
            </a:r>
          </a:p>
          <a:p>
            <a:r>
              <a:t>Success Criteria</a:t>
            </a:r>
          </a:p>
          <a:p>
            <a:r>
              <a:t>Can use all @ context types</a:t>
            </a:r>
          </a:p>
          <a:p>
            <a:r>
              <a:t>Understand when to start fresh chat sessions</a:t>
            </a:r>
          </a:p>
          <a:p>
            <a:r>
              <a:t>Notice quality difference between vague and specific prompts</a:t>
            </a:r>
          </a:p>
          <a:p/>
          <a:p>
            <a:r>
              <a:t>---</a:t>
            </a:r>
          </a:p>
          <a:p/>
          <a:p/>
          <a:p>
            <a:r>
              <a:t>Duration: Follow along</a:t>
            </a:r>
          </a:p>
          <a:p>
            <a:r>
              <a:t>Objectives</a:t>
            </a:r>
          </a:p>
          <a:p>
            <a:pPr/>
            <a:r>
              <a:t>Organize chat sessions effectively</a:t>
            </a:r>
          </a:p>
          <a:p>
            <a:pPr/>
            <a:r>
              <a:t>Use chat history for reference</a:t>
            </a:r>
          </a:p>
          <a:p>
            <a:pPr/>
            <a:r>
              <a:t>Develop efficient workflow patterns</a:t>
            </a:r>
          </a:p>
          <a:p>
            <a:r>
              <a:t>Activities</a:t>
            </a:r>
          </a:p>
          <a:p>
            <a:r>
              <a:t>1. Chat Organization:</a:t>
            </a:r>
          </a:p>
          <a:p>
            <a:pPr/>
            <a:r>
              <a:t>Review your chat history</a:t>
            </a:r>
          </a:p>
          <a:p>
            <a:pPr/>
            <a:r>
              <a:t>Identify chats that should have been separate sessions</a:t>
            </a:r>
          </a:p>
          <a:p>
            <a:pPr/>
            <a:r>
              <a:t>Practice starting new chats at appropriate times</a:t>
            </a:r>
          </a:p>
          <a:p>
            <a:r>
              <a:t>2. Context Preservation:</a:t>
            </a:r>
          </a:p>
          <a:p>
            <a:pPr/>
            <a:r>
              <a:t>Start a focused chat for one feature</a:t>
            </a:r>
          </a:p>
          <a:p>
            <a:pPr/>
            <a:r>
              <a:t>Add relevant context systematically</a:t>
            </a:r>
          </a:p>
          <a:p>
            <a:pPr/>
            <a:r>
              <a:t>Complete task without context overflow</a:t>
            </a:r>
          </a:p>
          <a:p>
            <a:r>
              <a:t>3. Quick Chat Practice:</a:t>
            </a:r>
          </a:p>
          <a:p>
            <a:pPr/>
            <a:r>
              <a:t>Use main chat for primary task</a:t>
            </a:r>
          </a:p>
          <a:p>
            <a:pPr/>
            <a:r>
              <a:t>Use quick chat for side questions</a:t>
            </a:r>
          </a:p>
          <a:p>
            <a:pPr/>
            <a:r>
              <a:t>Return to main chat without losing context</a:t>
            </a:r>
          </a:p>
          <a:p>
            <a:r>
              <a:t>4. Chat History Review:</a:t>
            </a:r>
          </a:p>
          <a:p>
            <a:pPr/>
            <a:r>
              <a:t>Find and reference previous solutions</a:t>
            </a:r>
          </a:p>
          <a:p>
            <a:pPr/>
            <a:r>
              <a:t>Learn from past prompts that worked well</a:t>
            </a:r>
          </a:p>
          <a:p>
            <a:pPr/>
            <a:r>
              <a:t>Identify patterns in effective conversations</a:t>
            </a:r>
          </a:p>
          <a:p>
            <a:r>
              <a:t>Success Criteria</a:t>
            </a:r>
          </a:p>
          <a:p>
            <a:pPr/>
            <a:r>
              <a:t>Chat history is organized and meaningful</a:t>
            </a:r>
          </a:p>
          <a:p>
            <a:pPr/>
            <a:r>
              <a:t>Can find and reference previous solutions</a:t>
            </a:r>
          </a:p>
          <a:p>
            <a:pPr/>
            <a:r>
              <a:t>Efficient workflow developed for using multiple chat windows</a:t>
            </a:r>
          </a:p>
          <a:p>
            <a:r>
              <a:t>Context Window Management</a:t>
            </a:r>
          </a:p>
          <a:p>
            <a:pPr/>
            <a:r>
              <a:t>Remember from the session:</a:t>
            </a:r>
          </a:p>
          <a:p>
            <a:r>
              <a:t>  - Context is a **limited resource**</a:t>
            </a:r>
          </a:p>
          <a:p>
            <a:r>
              <a:t>  - Start new chat when changing focus areas</a:t>
            </a:r>
          </a:p>
          <a:p>
            <a:r>
              <a:t>  - Keep conversations targeted and specific</a:t>
            </a:r>
          </a:p>
          <a:p>
            <a:r>
              <a:t>  - When Copilot "forgets" earlier context, it's time for a new session</a:t>
            </a:r>
          </a:p>
          <a:p/>
          <a:p>
            <a:r>
              <a:t>---</a:t>
            </a:r>
          </a:p>
          <a:p/>
          <a:p/>
          <a:p>
            <a:r>
              <a:t>Ask Mode</a:t>
            </a:r>
          </a:p>
          <a:p>
            <a:pPr/>
            <a:r>
              <a:t>Simple prompt completion and inline suggestions</a:t>
            </a:r>
          </a:p>
          <a:p>
            <a:r>
              <a:t>Edit Mode</a:t>
            </a:r>
          </a:p>
          <a:p>
            <a:pPr/>
            <a:r>
              <a:t>Automatic file edits</a:t>
            </a:r>
          </a:p>
          <a:p>
            <a:r>
              <a:t>Agent Mode</a:t>
            </a:r>
          </a:p>
          <a:p>
            <a:pPr/>
            <a:r>
              <a:t>Perform actions on your behalf</a:t>
            </a:r>
          </a:p>
          <a:p>
            <a:r>
              <a:t>Custom Modes</a:t>
            </a:r>
          </a:p>
          <a:p>
            <a:pPr/>
            <a:r>
              <a:t>Execute specific workflows</a:t>
            </a:r>
          </a:p>
          <a:p/>
          <a:p>
            <a:r>
              <a:t>::: notes</a:t>
            </a:r>
          </a:p>
          <a:p>
            <a:r>
              <a:t>Explain Ask vs Edit modes and when each is most useful. Speak to Agent Mode and Custom Chat Modes briefly. We’ll work with those later.</a:t>
            </a:r>
          </a:p>
          <a:p>
            <a:r>
              <a:t>:::</a:t>
            </a:r>
          </a:p>
          <a:p/>
          <a:p>
            <a:r>
              <a:t>---</a:t>
            </a:r>
          </a:p>
          <a:p/>
          <a:p/>
          <a:p>
            <a:r>
              <a:t>Duration: Follow along</a:t>
            </a:r>
          </a:p>
          <a:p>
            <a:r>
              <a:t>Objectives</a:t>
            </a:r>
          </a:p>
          <a:p>
            <a:r>
              <a:t>Understand differences between Ask, Edit, and Agent modes</a:t>
            </a:r>
          </a:p>
          <a:p>
            <a:r>
              <a:t>Know when to use each mode</a:t>
            </a:r>
          </a:p>
          <a:p>
            <a:r>
              <a:t>Understand premium token implications</a:t>
            </a:r>
          </a:p>
          <a:p>
            <a:r>
              <a:t>Activities</a:t>
            </a:r>
          </a:p>
          <a:p>
            <a:r>
              <a:t>1. Ask Mode:</a:t>
            </a:r>
          </a:p>
          <a:p>
            <a:r>
              <a:t>Ask Copilot to explain a code snippet (no changes made)</a:t>
            </a:r>
          </a:p>
          <a:p>
            <a:r>
              <a:t>Request multiple implementation approaches</a:t>
            </a:r>
          </a:p>
          <a:p>
            <a:r>
              <a:t>Try different models and observe response quality</a:t>
            </a:r>
          </a:p>
          <a:p>
            <a:r>
              <a:t>Note: This doesn't consume premium tokens for advanced models</a:t>
            </a:r>
          </a:p>
          <a:p>
            <a:r>
              <a:t>2. Edit Mode:</a:t>
            </a:r>
          </a:p>
          <a:p>
            <a:r>
              <a:t>Select code in a file</a:t>
            </a:r>
          </a:p>
          <a:p>
            <a:r>
              <a:t>Ask Copilot to refactor it</a:t>
            </a:r>
          </a:p>
          <a:p>
            <a:r>
              <a:t>Observe inline suggestions and changes</a:t>
            </a:r>
          </a:p>
          <a:p>
            <a:r>
              <a:t>Accept or reject proposed changes</a:t>
            </a:r>
          </a:p>
          <a:p>
            <a:r>
              <a:t>3. Agent Mode:</a:t>
            </a:r>
          </a:p>
          <a:p>
            <a:r>
              <a:t>Ask Copilot to create a new file and add content</a:t>
            </a:r>
          </a:p>
          <a:p>
            <a:r>
              <a:t>Request changes across multiple files</a:t>
            </a:r>
          </a:p>
          <a:p>
            <a:r>
              <a:t>Have Copilot run terminal commands</a:t>
            </a:r>
          </a:p>
          <a:p>
            <a:r>
              <a:t>Check premium token usage after agent actions</a:t>
            </a:r>
          </a:p>
          <a:p>
            <a:r>
              <a:t>Success Criteria</a:t>
            </a:r>
          </a:p>
          <a:p>
            <a:r>
              <a:t>Can distinguish when to use each mode</a:t>
            </a:r>
          </a:p>
          <a:p>
            <a:r>
              <a:t>Understand token consumption differences</a:t>
            </a:r>
          </a:p>
          <a:p>
            <a:r>
              <a:t>Successfully use agent mode for multi-file operations</a:t>
            </a:r>
          </a:p>
          <a:p/>
          <a:p>
            <a:r>
              <a:t>---</a:t>
            </a:r>
          </a:p>
          <a:p/>
          <a:p/>
          <a:p>
            <a:r>
              <a:t>IDE / Editor | Built-In AI Features | Supported AI Assistants | Strengths | Limitations</a:t>
            </a:r>
          </a:p>
          <a:p>
            <a:r>
              <a:t>--- | --- | --- | --- | ---</a:t>
            </a:r>
          </a:p>
          <a:p>
            <a:r>
              <a:t>VS Code | Deep AI integration through extensions; increasingly AI-first workflows | GitHub Copilot, Cline, ChatGPT-based extensions, Gemini integrations | Extremely flexible; huge ecosystem; top-tier AI support; widely adopted | Requires extension management; quality varies by plugin</a:t>
            </a:r>
          </a:p>
          <a:p>
            <a:r>
              <a:t>Visual Studio (Windows) | Native GitHub Copilot integration; AI-powered IntelliCode | GitHub Copilot, IntelliCode | Strong enterprise + .NET support; excellent refactoring and debugging | Less flexible than VS Code for non-Microsoft stacks</a:t>
            </a:r>
          </a:p>
          <a:p>
            <a:r>
              <a:t>JetBrains IDEs | JetBrains AI Assistant; code completion, refactoring, doc generation | JetBrains AI Assistant, GitHub Copilot | Deep static analysis + AI; strong multi-language support | JetBrains AI Assistant is subscription-based; Copilot integration not as seamless</a:t>
            </a:r>
          </a:p>
          <a:p>
            <a:r>
              <a:t>Cursor IDE | AI-first editor; conversational coding; multi-file reasoning | Built-in AI models (GPT-based, Claude-based), Copilot alternatives | Designed for AI pair-programming; strong repo-wide reasoning | Not a traditional IDE; still maturing for large enterprise workflows</a:t>
            </a:r>
          </a:p>
          <a:p>
            <a:r>
              <a:t>Replit | AI-powered Ghostwriter for code generation, debugging, and explanations | Ghostwriter | Great for beginners and rapid prototyping; browser-based | Less powerful for large, multi-module projects</a:t>
            </a:r>
          </a:p>
          <a:p>
            <a:r>
              <a:t>Builder.io / Builder Code Editor | AI-enhanced coding environment with integrated assistants | Multiple AI integrations depending on setup | Strong web-dev focus; modern AI-native UX | Not a general-purpose IDE</a:t>
            </a:r>
          </a:p>
          <a:p>
            <a:r>
              <a:t>Code-B Editors | Predictive code generation, debugging, and review | Multiple AI models depending on configuration | Strong AI-centric workflows; optimized for speed | Less mainstream; smaller ecosystem</a:t>
            </a:r>
          </a:p>
          <a:p>
            <a:r>
              <a:t>Claude Code | Terminal-first AI coding assistant; autonomous repo-wide reasoning | Latest models from Anthropic and other via configuration | Exceptional multi-file context handling; ideal for agentic workflows and automated patching | Not a GUI IDE; best suited for terminal-centric development and large codebases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t>Intro</a:t>
            </a:r>
          </a:p>
          <a:p>
            <a:pPr/>
            <a:r>
              <a:t>Module 1 - AIASD</a:t>
            </a:r>
          </a:p>
          <a:p>
            <a:pPr/>
            <a:r>
              <a:t>Module 2 - Intro to Copilot</a:t>
            </a:r>
          </a:p>
          <a:p>
            <a:pPr/>
            <a:r>
              <a:rPr b="1"/>
              <a:t>▶ Module 3 - Vibbing</a:t>
            </a:r>
          </a:p>
          <a:p>
            <a:pPr/>
            <a:r>
              <a:t>Module 4 - Adding AI Guardrails</a:t>
            </a:r>
          </a:p>
          <a:p>
            <a:pPr/>
            <a:r>
              <a:t>Module 5 - Managing Context</a:t>
            </a:r>
          </a:p>
          <a:p>
            <a:pPr/>
            <a:r>
              <a:t>Module 6 - Copilot for Teams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 Vibbing</a:t>
            </a:r>
          </a:p>
        </p:txBody>
      </p:sp>
      <p:sp>
        <p:nvSpPr>
          <p:cNvPr id="3" name="Text Placeholder 2"/>
          <p:cNvSpPr>
            <a:spLocks noGrp="1"/>
          </p:cNvSpPr>
          <p:nvPr>
            <p:ph type="body" idx="1"/>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 Vibbing</a:t>
            </a:r>
          </a:p>
        </p:txBody>
      </p:sp>
      <p:sp>
        <p:nvSpPr>
          <p:cNvPr id="3" name="Content Placeholder 2"/>
          <p:cNvSpPr>
            <a:spLocks noGrp="1"/>
          </p:cNvSpPr>
          <p:nvPr>
            <p:ph idx="1"/>
          </p:nvPr>
        </p:nvSpPr>
        <p:spPr/>
        <p:txBody>
          <a:bodyPr/>
          <a:lstStyle/>
          <a:p/>
          <a:p>
            <a:pPr/>
            <a:r>
              <a:t>Collaborating on a Solution</a:t>
            </a:r>
          </a:p>
          <a:p>
            <a:pPr/>
            <a:r>
              <a:t>Multi‑Model Implementation Comparison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Collaborating on a Solution</a:t>
            </a:r>
          </a:p>
        </p:txBody>
      </p:sp>
      <p:sp>
        <p:nvSpPr>
          <p:cNvPr id="3" name="Content Placeholder 2"/>
          <p:cNvSpPr>
            <a:spLocks noGrp="1"/>
          </p:cNvSpPr>
          <p:nvPr>
            <p:ph idx="1"/>
          </p:nvPr>
        </p:nvSpPr>
        <p:spPr/>
        <p:txBody>
          <a:bodyPr/>
          <a:lstStyle/>
          <a:p/>
          <a:p>
            <a:r>
              <a:t>Project Setup</a:t>
            </a:r>
          </a:p>
          <a:p>
            <a:r>
              <a:t>Adding Features</a:t>
            </a:r>
          </a:p>
          <a:p>
            <a:pPr/>
            <a:r>
              <a:t>Basic Arithmetic - Addition, subtraction, multiplication, division</a:t>
            </a:r>
          </a:p>
          <a:p>
            <a:pPr/>
            <a:r>
              <a:t>Clear / Reset Function - Quickly resets the current input or entire calculation</a:t>
            </a:r>
          </a:p>
          <a:p>
            <a:pPr/>
            <a:r>
              <a:t>Decimal Support - Allows entry and computation with decimal numbers</a:t>
            </a:r>
          </a:p>
          <a:p>
            <a:pPr/>
            <a:r>
              <a:t>Sign Toggle (+/–) - Switches values between positive and negative</a:t>
            </a:r>
          </a:p>
          <a:p>
            <a:pPr/>
            <a:r>
              <a:t>Percentage Function - Converts values to percentages for quick calculations</a:t>
            </a:r>
          </a:p>
          <a:p>
            <a:pPr/>
            <a:r>
              <a:t>Memory Functions (M+, M–, MR, MC) - Store, recall, add to, or clear memory values</a:t>
            </a:r>
          </a:p>
          <a:p>
            <a:pPr/>
            <a:r>
              <a:t>Error Handling - Displays errors such as division by zero</a:t>
            </a:r>
          </a:p>
          <a:p>
            <a:pPr/>
            <a:r>
              <a:t>Simple, Intuitive Interface - Numeric keypad, operation buttons, and display screen</a:t>
            </a:r>
          </a:p>
          <a:p>
            <a:r>
              <a:t>Test Automation</a:t>
            </a:r>
          </a:p>
          <a:p>
            <a:pPr/>
            <a:r>
              <a:t>Code Coverage</a:t>
            </a:r>
          </a:p>
          <a:p>
            <a:r>
              <a:t>Dependency Management</a:t>
            </a:r>
          </a:p>
          <a:p>
            <a:r>
              <a:t>Comparing Implementations</a:t>
            </a:r>
          </a:p>
          <a:p>
            <a:r>
              <a:t>Chat Management</a:t>
            </a:r>
          </a:p>
          <a:p>
            <a:r>
              <a:t>Intro to Evergreen Software Development</a:t>
            </a:r>
          </a:p>
          <a:p/>
          <a:p>
            <a:r>
              <a:t>::: notes</a:t>
            </a:r>
          </a:p>
          <a:p>
            <a:r>
              <a:t>This slide outlines the collaborative development process we’ll follow for building our calculator application — and mob programming will be central to how we work together.</a:t>
            </a:r>
          </a:p>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p>
            <a:r>
              <a:t>We begin with Project Setup, where the team configures the environment, aligns on goals, and prepares the repo. This is done as a mob — one keyboard, one screen, and everyone contributing ideas in real time. It ensures shared understanding from the start.</a:t>
            </a:r>
          </a:p>
          <a:p/>
          <a:p>
            <a:r>
              <a:t>At the end of the day, we introduce Evergreen Software Development — a mindset of continuous improvement.</a:t>
            </a:r>
          </a:p>
          <a:p/>
          <a:p>
            <a:r>
              <a:t>Random ideas:</a:t>
            </a:r>
          </a:p>
          <a:p>
            <a:r>
              <a:t>Implementing Observability</a:t>
            </a:r>
          </a:p>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r>
              <a:t>:::</a:t>
            </a:r>
          </a:p>
          <a:p/>
          <a:p>
            <a:r>
              <a:t>---</a:t>
            </a:r>
          </a:p>
          <a:p/>
          <a:p/>
          <a:p>
            <a:r>
              <a:t>Duration: 45-60 minutes</a:t>
            </a:r>
          </a:p>
          <a:p>
            <a:r>
              <a:t>Objectives</a:t>
            </a:r>
          </a:p>
          <a:p>
            <a:pPr/>
            <a:r>
              <a:t>Use AI to generate starter code for arithmetic operations</a:t>
            </a:r>
          </a:p>
          <a:p>
            <a:pPr/>
            <a:r>
              <a:t>Understand how to validate AI‑generated logic</a:t>
            </a:r>
          </a:p>
          <a:p>
            <a:pPr/>
            <a:r>
              <a:t>Integrate addition, subtraction, multiplication, and division functions</a:t>
            </a:r>
          </a:p>
          <a:p>
            <a:r>
              <a:t>Activities</a:t>
            </a:r>
          </a:p>
          <a:p>
            <a:r>
              <a:t>1. Project Initialization:</a:t>
            </a:r>
          </a:p>
          <a:p>
            <a:pPr/>
            <a:r>
              <a:t>Prompt AI to create a new project</a:t>
            </a:r>
          </a:p>
          <a:p>
            <a:pPr/>
            <a:r>
              <a:t>Review generated project structure</a:t>
            </a:r>
          </a:p>
          <a:p>
            <a:pPr/>
            <a:r>
              <a:t>Verify build configuration</a:t>
            </a:r>
          </a:p>
          <a:p>
            <a:r>
              <a:t>2. Implement Basic Operations:</a:t>
            </a:r>
          </a:p>
          <a:p>
            <a:pPr/>
            <a:r>
              <a:t>Prompt AI to add methods for addition, subtraction, multiplication, and division</a:t>
            </a:r>
          </a:p>
          <a:p>
            <a:r>
              <a:t>3. Review the Code:</a:t>
            </a:r>
          </a:p>
          <a:p>
            <a:pPr/>
            <a:r>
              <a:t>For correctness and edge cases</a:t>
            </a:r>
          </a:p>
          <a:p>
            <a:r>
              <a:t>4. Build and Run:</a:t>
            </a:r>
          </a:p>
          <a:p>
            <a:pPr/>
            <a:r>
              <a:t>Use Copilot to help with build commands</a:t>
            </a:r>
          </a:p>
          <a:p>
            <a:pPr/>
            <a:r>
              <a:t>Troubleshoot any compilation errors with Copilot's help</a:t>
            </a:r>
          </a:p>
          <a:p>
            <a:pPr/>
            <a:r>
              <a:t>Run the application</a:t>
            </a:r>
          </a:p>
          <a:p>
            <a:r>
              <a:t>Success Criteria</a:t>
            </a:r>
          </a:p>
          <a:p>
            <a:pPr/>
            <a:r>
              <a:t>Working calculator with 4 basic operations</a:t>
            </a:r>
          </a:p>
          <a:p>
            <a:pPr/>
            <a:r>
              <a:t>Application compiles and runs successfully</a:t>
            </a:r>
          </a:p>
          <a:p>
            <a:pPr/>
            <a:r>
              <a:t>You've critically reviewed all generated code</a:t>
            </a:r>
          </a:p>
          <a:p/>
          <a:p>
            <a:r>
              <a:t>---</a:t>
            </a:r>
          </a:p>
          <a:p/>
          <a:p/>
          <a:p>
            <a:r>
              <a:t>Duration: 15 minutes</a:t>
            </a:r>
          </a:p>
          <a:p>
            <a:r>
              <a:t>Objectives</a:t>
            </a:r>
          </a:p>
          <a:p>
            <a:pPr/>
            <a:r>
              <a:t>Use AI to scaffold state‑management logic</a:t>
            </a:r>
          </a:p>
          <a:p>
            <a:pPr/>
            <a:r>
              <a:t>Implement CE (clear entry) and C (clear all) behaviors</a:t>
            </a:r>
          </a:p>
          <a:p>
            <a:pPr/>
            <a:r>
              <a:t>Understand how AI can help reason about UI state transitions</a:t>
            </a:r>
          </a:p>
          <a:p>
            <a:r>
              <a:t>Activities</a:t>
            </a:r>
          </a:p>
          <a:p>
            <a:r>
              <a:t>Prompt AI to outline the difference between CE and C</a:t>
            </a:r>
          </a:p>
          <a:p>
            <a:r>
              <a:t>Generate code for clearing the current input vs. full state</a:t>
            </a:r>
          </a:p>
          <a:p>
            <a:r>
              <a:t>Integrate the logic into your calculator’s state object</a:t>
            </a:r>
          </a:p>
          <a:p>
            <a:r>
              <a:t>Test transitions by simulating user input sequences</a:t>
            </a:r>
          </a:p>
          <a:p>
            <a:r>
              <a:t>Success Criteria</a:t>
            </a:r>
          </a:p>
          <a:p>
            <a:pPr/>
            <a:r>
              <a:t>- CE clears only the active entry</a:t>
            </a:r>
          </a:p>
          <a:p>
            <a:pPr/>
            <a:r>
              <a:t>- C resets the entire calculator state</a:t>
            </a:r>
          </a:p>
          <a:p/>
          <a:p>
            <a:r>
              <a:t>---</a:t>
            </a:r>
          </a:p>
          <a:p/>
          <a:p/>
          <a:p>
            <a:r>
              <a:t>Duration: 12 minutes</a:t>
            </a:r>
          </a:p>
          <a:p>
            <a:r>
              <a:t>Objectives</a:t>
            </a:r>
          </a:p>
          <a:p>
            <a:r>
              <a:t>Use AI to generate input‑validation logic</a:t>
            </a:r>
          </a:p>
          <a:p>
            <a:r>
              <a:t>Prevent multiple decimal points</a:t>
            </a:r>
          </a:p>
          <a:p>
            <a:r>
              <a:t>Ensure decimals flow correctly through arithmetic operation</a:t>
            </a:r>
          </a:p>
          <a:p>
            <a:r>
              <a:t>Activities</a:t>
            </a:r>
          </a:p>
          <a:p>
            <a:r>
              <a:t>Ask AI to propose a strategy for handling decimal input</a:t>
            </a:r>
          </a:p>
          <a:p>
            <a:r>
              <a:t>Generate code to block multiple decimals in a single number</a:t>
            </a:r>
          </a:p>
          <a:p>
            <a:r>
              <a:t>Integrate decimal support into the existing input parser</a:t>
            </a:r>
          </a:p>
          <a:p>
            <a:r>
              <a:t>Test decimal operations using AI‑generated test cases</a:t>
            </a:r>
          </a:p>
          <a:p>
            <a:r>
              <a:t>Success Criteria</a:t>
            </a:r>
          </a:p>
          <a:p>
            <a:r>
              <a:t>Decimal input works without duplication errors</a:t>
            </a:r>
          </a:p>
          <a:p>
            <a:r>
              <a:t>Arithmetic with decimals produces correct results</a:t>
            </a:r>
          </a:p>
          <a:p>
            <a:r>
              <a:t>Learner can explain the validation logic</a:t>
            </a:r>
          </a:p>
          <a:p/>
          <a:p>
            <a:r>
              <a:t>---</a:t>
            </a:r>
          </a:p>
          <a:p/>
          <a:p/>
          <a:p>
            <a:r>
              <a:t>Duration: 8 minutes</a:t>
            </a:r>
          </a:p>
          <a:p>
            <a:r>
              <a:t>Objectives</a:t>
            </a:r>
          </a:p>
          <a:p>
            <a:pPr/>
            <a:r>
              <a:t>Use AI to generate logic for toggling numeric sign</a:t>
            </a:r>
          </a:p>
          <a:p>
            <a:pPr/>
            <a:r>
              <a:t>Understand how sign toggling interacts with current input and stored values</a:t>
            </a:r>
          </a:p>
          <a:p>
            <a:r>
              <a:t>Activities</a:t>
            </a:r>
          </a:p>
          <a:p>
            <a:r>
              <a:t>Ask AI to generate a function that toggles sign on the active value</a:t>
            </a:r>
          </a:p>
          <a:p>
            <a:r>
              <a:t>Integrate the function into the input workflow</a:t>
            </a:r>
          </a:p>
          <a:p>
            <a:r>
              <a:t>Test sign toggling before and after entering digits</a:t>
            </a:r>
          </a:p>
          <a:p>
            <a:r>
              <a:t>Success Criteria</a:t>
            </a:r>
          </a:p>
          <a:p>
            <a:pPr/>
            <a:r>
              <a:t>Sign toggle works consistently for integers and decimals</a:t>
            </a:r>
          </a:p>
          <a:p>
            <a:pPr/>
            <a:r>
              <a:t>Learner can explain how the toggle affects stored vs. active value</a:t>
            </a:r>
          </a:p>
          <a:p/>
          <a:p>
            <a:r>
              <a:t>---</a:t>
            </a:r>
          </a:p>
          <a:p/>
          <a:p/>
          <a:p>
            <a:r>
              <a:t>Duration: 15 minutes</a:t>
            </a:r>
          </a:p>
          <a:p>
            <a:r>
              <a:t>Objectives</a:t>
            </a:r>
          </a:p>
          <a:p>
            <a:pPr/>
            <a:r>
              <a:t>Use AI to clarify how calculators interpret %</a:t>
            </a:r>
          </a:p>
          <a:p>
            <a:pPr/>
            <a:r>
              <a:t>Implement percentage logic for common patterns</a:t>
            </a:r>
          </a:p>
          <a:p>
            <a:pPr/>
            <a:r>
              <a:t>Validate behavior with AI‑generated examples</a:t>
            </a:r>
          </a:p>
          <a:p>
            <a:r>
              <a:t>Activities</a:t>
            </a:r>
          </a:p>
          <a:p>
            <a:r>
              <a:t>Ask AI to explain how % should behave in a standard calculator</a:t>
            </a:r>
          </a:p>
          <a:p>
            <a:r>
              <a:t>Generate code for:</a:t>
            </a:r>
          </a:p>
          <a:p>
            <a:r>
              <a:t>X × Y%</a:t>
            </a:r>
          </a:p>
          <a:p>
            <a:r>
              <a:t>Y + X%</a:t>
            </a:r>
          </a:p>
          <a:p>
            <a:r>
              <a:t>Y – X%</a:t>
            </a:r>
          </a:p>
          <a:p>
            <a:r>
              <a:t>3. Test each pattern with AI‑generated sample values</a:t>
            </a:r>
          </a:p>
          <a:p>
            <a:r>
              <a:t>Success Criteria</a:t>
            </a:r>
          </a:p>
          <a:p>
            <a:r>
              <a:t>Percentage operations match standard calculator behavior</a:t>
            </a:r>
          </a:p>
          <a:p>
            <a:r>
              <a:t>Learner can articulate the interpretation rules for %</a:t>
            </a:r>
          </a:p>
          <a:p/>
          <a:p>
            <a:r>
              <a:t>---</a:t>
            </a:r>
          </a:p>
          <a:p/>
          <a:p/>
          <a:p>
            <a:r>
              <a:t>Duration: 18 minutes</a:t>
            </a:r>
          </a:p>
          <a:p>
            <a:r>
              <a:t>Objectives</a:t>
            </a:r>
          </a:p>
          <a:p>
            <a:pPr/>
            <a:r>
              <a:t>Use AI to design a memory subsystem</a:t>
            </a:r>
          </a:p>
          <a:p>
            <a:pPr/>
            <a:r>
              <a:t>Implement memory add, subtract, recall, and clear</a:t>
            </a:r>
          </a:p>
          <a:p>
            <a:pPr/>
            <a:r>
              <a:t>Validate memory behavior across multiple operations</a:t>
            </a:r>
          </a:p>
          <a:p>
            <a:r>
              <a:t>Activities</a:t>
            </a:r>
          </a:p>
          <a:p>
            <a:r>
              <a:t>Ask AI to propose a memory‑state structure</a:t>
            </a:r>
          </a:p>
          <a:p>
            <a:r>
              <a:t>Generate functions for M+, M–, MR, MC</a:t>
            </a:r>
          </a:p>
          <a:p>
            <a:r>
              <a:t>Integrate memory operations into the calculator workflow</a:t>
            </a:r>
          </a:p>
          <a:p>
            <a:r>
              <a:t>Test memory persistence across multiple calculations</a:t>
            </a:r>
          </a:p>
          <a:p>
            <a:r>
              <a:t>Success Criteria</a:t>
            </a:r>
          </a:p>
          <a:p>
            <a:pPr/>
            <a:r>
              <a:t>Memory functions behave as expected</a:t>
            </a:r>
          </a:p>
          <a:p>
            <a:pPr/>
            <a:r>
              <a:t>Learner can explain how memory state is stored and updated</a:t>
            </a:r>
          </a:p>
          <a:p/>
          <a:p>
            <a:r>
              <a:t>---</a:t>
            </a:r>
          </a:p>
          <a:p/>
          <a:p/>
          <a:p>
            <a:r>
              <a:t>Duration: 10 minutes</a:t>
            </a:r>
          </a:p>
          <a:p>
            <a:r>
              <a:t>Objectives</a:t>
            </a:r>
          </a:p>
          <a:p>
            <a:pPr/>
            <a:r>
              <a:t>Use AI to identify common error conditions</a:t>
            </a:r>
          </a:p>
          <a:p>
            <a:pPr/>
            <a:r>
              <a:t>Implement error messages and recovery logic</a:t>
            </a:r>
          </a:p>
          <a:p>
            <a:pPr/>
            <a:r>
              <a:t>Ensure the calculator resets gracefully after errors</a:t>
            </a:r>
          </a:p>
          <a:p>
            <a:r>
              <a:t>Activities</a:t>
            </a:r>
          </a:p>
          <a:p>
            <a:r>
              <a:t>Ask AI to list typical calculator errors (e.g., divide by zero)</a:t>
            </a:r>
          </a:p>
          <a:p>
            <a:r>
              <a:t>Generate code for error detection and display</a:t>
            </a:r>
          </a:p>
          <a:p>
            <a:r>
              <a:t>Implement a reset path after an error</a:t>
            </a:r>
          </a:p>
          <a:p>
            <a:r>
              <a:t>Test error scenarios using AI‑generated test cases</a:t>
            </a:r>
          </a:p>
          <a:p>
            <a:r>
              <a:t>Success Criteria</a:t>
            </a:r>
          </a:p>
          <a:p>
            <a:pPr/>
            <a:r>
              <a:t>Errors are detected and displayed correctly</a:t>
            </a:r>
          </a:p>
          <a:p>
            <a:pPr/>
            <a:r>
              <a:t>Calculator recovers cleanly after reset</a:t>
            </a:r>
          </a:p>
          <a:p>
            <a:pPr/>
            <a:r>
              <a:t>Learner can describe the error‑handling flow</a:t>
            </a:r>
          </a:p>
          <a:p/>
          <a:p>
            <a:r>
              <a:t>---</a:t>
            </a:r>
          </a:p>
          <a:p/>
          <a:p/>
          <a:p>
            <a:r>
              <a:t>Duration: 15 minutes</a:t>
            </a:r>
          </a:p>
          <a:p>
            <a:r>
              <a:t>Objectives</a:t>
            </a:r>
          </a:p>
          <a:p>
            <a:pPr/>
            <a:r>
              <a:t>Integrate trigonometric functions into the calculator’s operation set</a:t>
            </a:r>
          </a:p>
          <a:p>
            <a:pPr/>
            <a:r>
              <a:t>Use AI to generate math‑library wrappers and input‑parsing logic</a:t>
            </a:r>
          </a:p>
          <a:p>
            <a:pPr/>
            <a:r>
              <a:t>Ensure correct handling of degrees vs. radians</a:t>
            </a:r>
          </a:p>
          <a:p>
            <a:r>
              <a:t>Activities</a:t>
            </a:r>
          </a:p>
          <a:p>
            <a:r>
              <a:t>Ask AI to generate functions for sin, cos, and tan using your language’s math library</a:t>
            </a:r>
          </a:p>
          <a:p>
            <a:r>
              <a:t>Prompt AI to propose a strategy for handling degree/radian mode</a:t>
            </a:r>
          </a:p>
          <a:p>
            <a:r>
              <a:t>Implement UI bindings or command triggers for each trig function</a:t>
            </a:r>
          </a:p>
          <a:p>
            <a:r>
              <a:t>Use AI to generate a table of sample inputs and expected outputs</a:t>
            </a:r>
          </a:p>
          <a:p>
            <a:r>
              <a:t>Success Criteria</a:t>
            </a:r>
          </a:p>
          <a:p>
            <a:pPr/>
            <a:r>
              <a:t>Trig functions compute correct values in the selected angle mode</a:t>
            </a:r>
          </a:p>
          <a:p>
            <a:pPr/>
            <a:r>
              <a:t>Degree/radian mode switching works consistently</a:t>
            </a:r>
          </a:p>
          <a:p>
            <a:pPr/>
            <a:r>
              <a:t>UI or command triggers correctly call the trig functions</a:t>
            </a:r>
          </a:p>
          <a:p>
            <a:pPr/>
            <a:r>
              <a:t>Learner can explain how AI‑generated code was validated and refine</a:t>
            </a:r>
          </a:p>
          <a:p/>
          <a:p>
            <a:r>
              <a:t>---</a:t>
            </a:r>
          </a:p>
          <a:p/>
          <a:p/>
          <a:p>
            <a:r>
              <a:t>Duration: 15 minutes</a:t>
            </a:r>
          </a:p>
          <a:p>
            <a:r>
              <a:t>Objectives</a:t>
            </a:r>
          </a:p>
          <a:p>
            <a:pPr/>
            <a:r>
              <a:t>Use AI to scaffold UI event handlers</a:t>
            </a:r>
          </a:p>
          <a:p>
            <a:pPr/>
            <a:r>
              <a:t>Connect buttons to logic functions</a:t>
            </a:r>
          </a:p>
          <a:p>
            <a:pPr/>
            <a:r>
              <a:t>Validate end‑to‑end user workflow</a:t>
            </a:r>
          </a:p>
          <a:p>
            <a:r>
              <a:t>Activities</a:t>
            </a:r>
          </a:p>
          <a:p>
            <a:r>
              <a:t>Ask AI to generate event‑binding code for numeric and operator buttons</a:t>
            </a:r>
          </a:p>
          <a:p>
            <a:r>
              <a:t>Integrate logic functions from previous labs</a:t>
            </a:r>
          </a:p>
          <a:p>
            <a:r>
              <a:t>Test a full workflow:</a:t>
            </a:r>
          </a:p>
          <a:p>
            <a:pPr/>
            <a:r>
              <a:t>Enter decimal</a:t>
            </a:r>
          </a:p>
          <a:p>
            <a:pPr/>
            <a:r>
              <a:t>Toggle sign</a:t>
            </a:r>
          </a:p>
          <a:p>
            <a:pPr/>
            <a:r>
              <a:t>Apply percentage</a:t>
            </a:r>
          </a:p>
          <a:p>
            <a:pPr/>
            <a:r>
              <a:t>Store result in memory</a:t>
            </a:r>
          </a:p>
          <a:p>
            <a:r>
              <a:t>Success Criteria</a:t>
            </a:r>
          </a:p>
          <a:p>
            <a:pPr/>
            <a:r>
              <a:t>UI correctly triggers all calculator functions</a:t>
            </a:r>
          </a:p>
          <a:p>
            <a:pPr/>
            <a:r>
              <a:t>Full workflow completes without errors</a:t>
            </a:r>
          </a:p>
          <a:p>
            <a:pPr/>
            <a:r>
              <a:t>Learner can explain how UI events map to logic functions</a:t>
            </a:r>
          </a:p>
          <a:p/>
          <a:p>
            <a:r>
              <a:t>---</a:t>
            </a:r>
          </a:p>
          <a:p/>
          <a:p/>
          <a:p>
            <a:r>
              <a:t>Duration: 45-60 minutes</a:t>
            </a:r>
          </a:p>
          <a:p>
            <a:r>
              <a:t>Objectives</a:t>
            </a:r>
          </a:p>
          <a:p>
            <a:pPr/>
            <a:r>
              <a:t>Generate unit tests with AI assistance</a:t>
            </a:r>
          </a:p>
          <a:p>
            <a:pPr/>
            <a:r>
              <a:t>Identify quality issues in generated tests</a:t>
            </a:r>
          </a:p>
          <a:p>
            <a:pPr/>
            <a:r>
              <a:t>Understand the importance of reviewing AI-generated tests</a:t>
            </a:r>
          </a:p>
          <a:p>
            <a:r>
              <a:t>Activities</a:t>
            </a:r>
          </a:p>
          <a:p>
            <a:r>
              <a:t>1. Generate Initial Tests:</a:t>
            </a:r>
          </a:p>
          <a:p>
            <a:pPr/>
            <a:r>
              <a:t>Prompt: "Create unit tests for the calculator operations"</a:t>
            </a:r>
          </a:p>
          <a:p>
            <a:pPr/>
            <a:r>
              <a:t>Review generated test structure</a:t>
            </a:r>
          </a:p>
          <a:p>
            <a:pPr/>
            <a:r>
              <a:t>Critical Review: Are tests calling your calculator code?</a:t>
            </a:r>
          </a:p>
          <a:p>
            <a:r>
              <a:t>2. Fix Test Issues (Replicating Session Demo):</a:t>
            </a:r>
          </a:p>
          <a:p>
            <a:pPr/>
            <a:r>
              <a:t>If tests are too simple (like `1 + 1 = 2` without calling calculator):</a:t>
            </a:r>
          </a:p>
          <a:p>
            <a:pPr/>
            <a:r>
              <a:t>Identify the problem</a:t>
            </a:r>
          </a:p>
          <a:p>
            <a:pPr/>
            <a:r>
              <a:t>Ask Copilot to fix it: "Update tests to call Calculator class methods"</a:t>
            </a:r>
          </a:p>
          <a:p>
            <a:pPr/>
            <a:r>
              <a:t>Verify tests now test actual implementation</a:t>
            </a:r>
          </a:p>
          <a:p>
            <a:r>
              <a:t>3. Run Tests:</a:t>
            </a:r>
          </a:p>
          <a:p>
            <a:pPr/>
            <a:r>
              <a:t>Execute test suite</a:t>
            </a:r>
          </a:p>
          <a:p>
            <a:pPr/>
            <a:r>
              <a:t>Review test output</a:t>
            </a:r>
          </a:p>
          <a:p>
            <a:pPr/>
            <a:r>
              <a:t>Debug any failing tests with Copilot's help</a:t>
            </a:r>
          </a:p>
          <a:p>
            <a:r>
              <a:t>4. Add Edge Cases:</a:t>
            </a:r>
          </a:p>
          <a:p>
            <a:pPr/>
            <a:r>
              <a:t>Prompt: "Add tests for edge cases like division by zero"</a:t>
            </a:r>
          </a:p>
          <a:p>
            <a:pPr/>
            <a:r>
              <a:t>Verify exception handling tests are correct</a:t>
            </a:r>
          </a:p>
          <a:p>
            <a:r>
              <a:t>Success Criteria</a:t>
            </a:r>
          </a:p>
          <a:p>
            <a:pPr/>
            <a:r>
              <a:t>Test suite with minimum 8 test cases</a:t>
            </a:r>
          </a:p>
          <a:p>
            <a:pPr/>
            <a:r>
              <a:t>All tests call actual calculator methods (not just language arithmetic)</a:t>
            </a:r>
          </a:p>
          <a:p>
            <a:pPr/>
            <a:r>
              <a:t>Tests include edge cases and error conditions</a:t>
            </a:r>
          </a:p>
          <a:p>
            <a:pPr/>
            <a:r>
              <a:t>All tests pass</a:t>
            </a:r>
          </a:p>
          <a:p/>
          <a:p>
            <a:r>
              <a:t>---</a:t>
            </a:r>
          </a:p>
          <a:p/>
          <a:p/>
          <a:p>
            <a:r>
              <a:t>Duration: 30-40 minutes</a:t>
            </a:r>
          </a:p>
          <a:p>
            <a:r>
              <a:t>Objectives</a:t>
            </a:r>
          </a:p>
          <a:p>
            <a:pPr/>
            <a:r>
              <a:t>Set up code coverage reporting</a:t>
            </a:r>
          </a:p>
          <a:p>
            <a:pPr/>
            <a:r>
              <a:t>Interpret coverage results</a:t>
            </a:r>
          </a:p>
          <a:p>
            <a:pPr/>
            <a:r>
              <a:t>Improve test coverage based on gaps</a:t>
            </a:r>
          </a:p>
          <a:p>
            <a:r>
              <a:t>Activities</a:t>
            </a:r>
          </a:p>
          <a:p>
            <a:r>
              <a:t>1. Enable Coverage Collection:</a:t>
            </a:r>
          </a:p>
          <a:p>
            <a:pPr/>
            <a:r>
              <a:t>Prompt: "Add code coverage reporting to my test project"</a:t>
            </a:r>
          </a:p>
          <a:p>
            <a:pPr/>
            <a:r>
              <a:t>Review package dependencies added</a:t>
            </a:r>
          </a:p>
          <a:p>
            <a:pPr/>
            <a:r>
              <a:t>Handle any NuGet/dependency issues with Copilot's help</a:t>
            </a:r>
          </a:p>
          <a:p>
            <a:r>
              <a:t>2. Generate Coverage Report:</a:t>
            </a:r>
          </a:p>
          <a:p>
            <a:pPr/>
            <a:r>
              <a:t>Run tests with coverage enabled</a:t>
            </a:r>
          </a:p>
          <a:p>
            <a:pPr/>
            <a:r>
              <a:t>Review coverage percentage</a:t>
            </a:r>
          </a:p>
          <a:p>
            <a:pPr/>
            <a:r>
              <a:t>Identify uncovered code paths</a:t>
            </a:r>
          </a:p>
          <a:p>
            <a:r>
              <a:t>3. Improve Coverage:</a:t>
            </a:r>
          </a:p>
          <a:p>
            <a:pPr/>
            <a:r>
              <a:t>Add tests for uncovered methods</a:t>
            </a:r>
          </a:p>
          <a:p>
            <a:pPr/>
            <a:r>
              <a:t>Re-run coverage to verify improvement</a:t>
            </a:r>
          </a:p>
          <a:p>
            <a:pPr/>
            <a:r>
              <a:t>Discuss: Is 100% coverage always necessary?</a:t>
            </a:r>
          </a:p>
          <a:p>
            <a:r>
              <a:t>Success Criteria</a:t>
            </a:r>
          </a:p>
          <a:p>
            <a:pPr/>
            <a:r>
              <a:t>Code coverage reporting successfully configured</a:t>
            </a:r>
          </a:p>
          <a:p>
            <a:pPr/>
            <a:r>
              <a:t>Can generate and read coverage reports</a:t>
            </a:r>
          </a:p>
          <a:p>
            <a:pPr/>
            <a:r>
              <a:t>Achieved reasonable coverage (&gt;80% line coverage)</a:t>
            </a:r>
          </a:p>
          <a:p>
            <a:pPr/>
            <a:r>
              <a:t>Understand what coverage metrics mean</a:t>
            </a:r>
          </a:p>
          <a:p>
            <a:r>
              <a:t>Discussion Points</a:t>
            </a:r>
          </a:p>
          <a:p>
            <a:pPr/>
            <a:r>
              <a:t>Feature coverage vs. code coverage (as raised by Tom in the session)</a:t>
            </a:r>
          </a:p>
          <a:p>
            <a:pPr/>
            <a:r>
              <a:t>When is test coverage sufficient?</a:t>
            </a:r>
          </a:p>
          <a:p>
            <a:pPr/>
            <a:r>
              <a:t>Quality of tests vs. quantity</a:t>
            </a:r>
          </a:p>
          <a:p/>
          <a:p>
            <a:r>
              <a:t>---</a:t>
            </a:r>
          </a:p>
          <a:p/>
          <a:p/>
          <a:p>
            <a:r>
              <a:t>Duration: 30-40 minutes</a:t>
            </a:r>
          </a:p>
          <a:p>
            <a:r>
              <a:t>Objectives</a:t>
            </a:r>
          </a:p>
          <a:p>
            <a:pPr/>
            <a:r>
              <a:t>Use Copilot to resolve dependency issues</a:t>
            </a:r>
          </a:p>
          <a:p>
            <a:pPr/>
            <a:r>
              <a:t>Handle package restoration problems</a:t>
            </a:r>
          </a:p>
          <a:p>
            <a:pPr/>
            <a:r>
              <a:t>Practice iterative problem-solving with AI</a:t>
            </a:r>
          </a:p>
          <a:p>
            <a:r>
              <a:t>Activities</a:t>
            </a:r>
          </a:p>
          <a:p>
            <a:r>
              <a:t>1. Simulate or Identify a Dependency Issue:</a:t>
            </a:r>
          </a:p>
          <a:p>
            <a:pPr/>
            <a:r>
              <a:t>Introduce a version conflict (or use existing issue)</a:t>
            </a:r>
          </a:p>
          <a:p>
            <a:pPr/>
            <a:r>
              <a:t>Prompt: "I'm getting [specific error]. How do I fix it?"</a:t>
            </a:r>
          </a:p>
          <a:p>
            <a:r>
              <a:t>2. Follow Copilot's Guidance:</a:t>
            </a:r>
          </a:p>
          <a:p>
            <a:pPr/>
            <a:r>
              <a:t>Review suggested solutions</a:t>
            </a:r>
          </a:p>
          <a:p>
            <a:pPr/>
            <a:r>
              <a:t>Evaluate multiple approaches if offered</a:t>
            </a:r>
          </a:p>
          <a:p>
            <a:pPr/>
            <a:r>
              <a:t>Choose best solution collaboratively</a:t>
            </a:r>
          </a:p>
          <a:p>
            <a:r>
              <a:t>3. Iterative Resolution:</a:t>
            </a:r>
          </a:p>
          <a:p>
            <a:pPr/>
            <a:r>
              <a:t>If first solution doesn't work, provide error details</a:t>
            </a:r>
          </a:p>
          <a:p>
            <a:pPr/>
            <a:r>
              <a:t>Continue conversation until resolved</a:t>
            </a:r>
          </a:p>
          <a:p>
            <a:r>
              <a:t>4. Common Issues to Practice:</a:t>
            </a:r>
          </a:p>
          <a:p>
            <a:pPr/>
            <a:r>
              <a:t>NuGet package source configuration</a:t>
            </a:r>
          </a:p>
          <a:p>
            <a:pPr/>
            <a:r>
              <a:t>MSTest adapter version conflicts</a:t>
            </a:r>
          </a:p>
          <a:p>
            <a:pPr/>
            <a:r>
              <a:t>.NET SDK targeting issues</a:t>
            </a:r>
          </a:p>
          <a:p>
            <a:pPr/>
            <a:r>
              <a:t>Package restoration failures</a:t>
            </a:r>
          </a:p>
          <a:p>
            <a:r>
              <a:t>Success Criteria</a:t>
            </a:r>
          </a:p>
          <a:p>
            <a:pPr/>
            <a:r>
              <a:t>Successfully resolved at least one dependency issue</a:t>
            </a:r>
          </a:p>
          <a:p>
            <a:pPr/>
            <a:r>
              <a:t>Understand how to provide error context to Copilot</a:t>
            </a:r>
          </a:p>
          <a:p>
            <a:pPr/>
            <a:r>
              <a:t>Practiced iterative problem-solving approach</a:t>
            </a:r>
          </a:p>
          <a:p>
            <a:r>
              <a:t>Real-World Scenario</a:t>
            </a:r>
          </a:p>
          <a:p>
            <a:pPr/>
            <a:r>
              <a:t>This lab replicates the exact dependency challenges encountered in the training session:</a:t>
            </a:r>
          </a:p>
          <a:p>
            <a:pPr/>
            <a:r>
              <a:t>Updating test project to target .NET 8</a:t>
            </a:r>
          </a:p>
          <a:p>
            <a:pPr/>
            <a:r>
              <a:t>Resolving NuGet.org package source mapping</a:t>
            </a:r>
          </a:p>
          <a:p>
            <a:pPr/>
            <a:r>
              <a:t>MSTest adapter compatibility issues</a:t>
            </a:r>
          </a:p>
          <a:p/>
          <a:p>
            <a:r>
              <a:t>---</a:t>
            </a:r>
          </a:p>
          <a:p/>
          <a:p/>
          <a:p>
            <a:r>
              <a:t>Duration: 30-40 minutes</a:t>
            </a:r>
          </a:p>
          <a:p>
            <a:r>
              <a:t>Objectives</a:t>
            </a:r>
          </a:p>
          <a:p>
            <a:pPr/>
            <a:r>
              <a:t>Apply best practices learned in session</a:t>
            </a:r>
          </a:p>
          <a:p>
            <a:pPr/>
            <a:r>
              <a:t>Review code quality systematically</a:t>
            </a:r>
          </a:p>
          <a:p>
            <a:pPr/>
            <a:r>
              <a:t>Identify and fix issues</a:t>
            </a:r>
          </a:p>
          <a:p>
            <a:r>
              <a:t>Activities</a:t>
            </a:r>
          </a:p>
          <a:p>
            <a:r>
              <a:t>1. Code Quality Check:</a:t>
            </a:r>
          </a:p>
          <a:p>
            <a:pPr/>
            <a:r>
              <a:t>Prompt: "Suggest improvements for code quality and maintainability"</a:t>
            </a:r>
          </a:p>
          <a:p>
            <a:pPr/>
            <a:r>
              <a:t>Evaluate suggestions critically</a:t>
            </a:r>
          </a:p>
          <a:p>
            <a:pPr/>
            <a:r>
              <a:t>Implement valuable improvements</a:t>
            </a:r>
          </a:p>
          <a:p>
            <a:r>
              <a:t>Success Criteria</a:t>
            </a:r>
          </a:p>
          <a:p>
            <a:pPr/>
            <a:r>
              <a:t>Comprehensive documentation added</a:t>
            </a:r>
          </a:p>
          <a:p>
            <a:pPr/>
            <a:r>
              <a:t>Critically evaluated all AI suggestions</a:t>
            </a:r>
          </a:p>
          <a:p/>
          <a:p>
            <a:r>
              <a:t>---</a:t>
            </a:r>
          </a:p>
          <a:p/>
          <a:p/>
          <a:p>
            <a:r>
              <a:t>Duration: 20-30 minutes</a:t>
            </a:r>
          </a:p>
          <a:p>
            <a:r>
              <a:t>Objectives</a:t>
            </a:r>
          </a:p>
          <a:p>
            <a:pPr/>
            <a:r>
              <a:t>Compare outputs from different AI models</a:t>
            </a:r>
          </a:p>
          <a:p>
            <a:pPr/>
            <a:r>
              <a:t>Understand when to use premium vs standard models</a:t>
            </a:r>
          </a:p>
          <a:p>
            <a:pPr/>
            <a:r>
              <a:t>Monitor token usage</a:t>
            </a:r>
          </a:p>
          <a:p>
            <a:r>
              <a:t>Activities</a:t>
            </a:r>
          </a:p>
          <a:p>
            <a:r>
              <a:t>1. Same Prompt, Different Models:</a:t>
            </a:r>
          </a:p>
          <a:p>
            <a:pPr/>
            <a:r>
              <a:t>Choose a coding task (e.g., "implement bubble sort")</a:t>
            </a:r>
          </a:p>
          <a:p>
            <a:pPr/>
            <a:r>
              <a:t>Try with GPT-4 (standard - unlimited)</a:t>
            </a:r>
          </a:p>
          <a:p>
            <a:pPr/>
            <a:r>
              <a:t>Try with Claude Sonnet (premium - 1x token)</a:t>
            </a:r>
          </a:p>
          <a:p>
            <a:pPr/>
            <a:r>
              <a:t>Compare results for quality, style, completeness</a:t>
            </a:r>
          </a:p>
          <a:p>
            <a:r>
              <a:t>2. Token Usage Analysis:</a:t>
            </a:r>
          </a:p>
          <a:p>
            <a:pPr/>
            <a:r>
              <a:t>Check premium token bar before and after</a:t>
            </a:r>
          </a:p>
          <a:p>
            <a:pPr/>
            <a:r>
              <a:t>Calculate tokens consumed</a:t>
            </a:r>
          </a:p>
          <a:p>
            <a:pPr/>
            <a:r>
              <a:t>Discuss: Was premium model worth the cost?</a:t>
            </a:r>
          </a:p>
          <a:p>
            <a:r>
              <a:t>3. Best Use Cases:</a:t>
            </a:r>
          </a:p>
          <a:p>
            <a:pPr/>
            <a:r>
              <a:t>Identify tasks where standard models suffice</a:t>
            </a:r>
          </a:p>
          <a:p>
            <a:pPr/>
            <a:r>
              <a:t>Identify tasks requiring premium models</a:t>
            </a:r>
          </a:p>
          <a:p>
            <a:pPr/>
            <a:r>
              <a:t>Create personal guidelines for model selection</a:t>
            </a:r>
          </a:p>
          <a:p>
            <a:r>
              <a:t>4. Ask Mode Advantage:</a:t>
            </a:r>
          </a:p>
          <a:p>
            <a:pPr/>
            <a:r>
              <a:t>Use Ask mode with premium models (no token cost)</a:t>
            </a:r>
          </a:p>
          <a:p>
            <a:pPr/>
            <a:r>
              <a:t>Compare to Agent mode token consumption</a:t>
            </a:r>
          </a:p>
          <a:p>
            <a:r>
              <a:t>Success Criteria</a:t>
            </a:r>
          </a:p>
          <a:p>
            <a:pPr/>
            <a:r>
              <a:t>Compared at least 2 different models</a:t>
            </a:r>
          </a:p>
          <a:p>
            <a:pPr/>
            <a:r>
              <a:t>Understand token consumption impact</a:t>
            </a:r>
          </a:p>
          <a:p>
            <a:pPr/>
            <a:r>
              <a:t>Can make informed model selection decisions</a:t>
            </a:r>
          </a:p>
          <a:p>
            <a:r>
              <a:t>Token Economics</a:t>
            </a:r>
          </a:p>
          <a:p>
            <a:pPr/>
            <a:r>
              <a:t>Standard models (unlimited): ChatGPT-4</a:t>
            </a:r>
          </a:p>
          <a:p>
            <a:pPr/>
            <a:r>
              <a:t>Premium tokens (counted):</a:t>
            </a:r>
          </a:p>
          <a:p>
            <a:pPr/>
            <a:r>
              <a:t>Claude Haiku 4.5: 1/3 token per request</a:t>
            </a:r>
          </a:p>
          <a:p>
            <a:pPr/>
            <a:r>
              <a:t>Claude Sonnet: 1x token per request</a:t>
            </a:r>
          </a:p>
          <a:p>
            <a:pPr/>
            <a:r>
              <a:t>O2 mini: 1/3 token per request</a:t>
            </a:r>
          </a:p>
          <a:p>
            <a:pPr/>
            <a:r>
              <a:t>New models: May be 10x when first released</a:t>
            </a:r>
          </a:p>
          <a:p/>
          <a:p>
            <a:r>
              <a:t>---</a:t>
            </a:r>
          </a:p>
          <a:p/>
          <a:p/>
          <a:p>
            <a:r>
              <a:t>Duration: 15 minutes</a:t>
            </a:r>
          </a:p>
          <a:p>
            <a:r>
              <a:t>Objectives</a:t>
            </a:r>
          </a:p>
          <a:p>
            <a:r>
              <a:t>Separate UI concerns from computational logic</a:t>
            </a:r>
          </a:p>
          <a:p>
            <a:r>
              <a:t>Use AI to scaffold a standalone “core logic” module/class</a:t>
            </a:r>
          </a:p>
          <a:p>
            <a:r>
              <a:t>Ensure the UI communicates with the logic layer through a clean, well‑defined API</a:t>
            </a:r>
          </a:p>
          <a:p>
            <a:r>
              <a:t>Validate that encapsulation improves testability and maintainability</a:t>
            </a:r>
          </a:p>
          <a:p>
            <a:r>
              <a:t>Activities</a:t>
            </a:r>
          </a:p>
          <a:p>
            <a:r>
              <a:t>1. - Ask AI to generate a dedicated component (e.g., CalculatorEngine, CalculatorCore) containing:</a:t>
            </a:r>
          </a:p>
          <a:p>
            <a:pPr/>
            <a:r>
              <a:t>Arithmetic operations</a:t>
            </a:r>
          </a:p>
          <a:p>
            <a:pPr/>
            <a:r>
              <a:t>State management</a:t>
            </a:r>
          </a:p>
          <a:p>
            <a:pPr/>
            <a:r>
              <a:t>Trig/percentage/memory logic (if implemented)</a:t>
            </a:r>
          </a:p>
          <a:p>
            <a:r>
              <a:t>2. Review the AI‑generated API surface and refine naming, inputs, and return types</a:t>
            </a:r>
          </a:p>
          <a:p>
            <a:r>
              <a:t>3. Replace UI‑embedded logic with calls into the new component</a:t>
            </a:r>
          </a:p>
          <a:p>
            <a:r>
              <a:t>Success Criteria</a:t>
            </a:r>
          </a:p>
          <a:p>
            <a:pPr/>
            <a:r>
              <a:t>All calculator features run through the external logic component</a:t>
            </a:r>
          </a:p>
          <a:p>
            <a:pPr/>
            <a:r>
              <a:t>UI contains no computational logic — only event handling and display updates</a:t>
            </a:r>
          </a:p>
          <a:p>
            <a:pPr/>
            <a:r>
              <a:t>Learner can explain how encapsulation improves modularity, reuse, and AI‑assisted development workflow</a:t>
            </a:r>
          </a:p>
          <a:p/>
          <a:p>
            <a:r>
              <a:t>---</a:t>
            </a:r>
          </a:p>
          <a:p/>
          <a:p/>
          <a:p>
            <a:r>
              <a:t>Duration: 30-40 minutes</a:t>
            </a:r>
          </a:p>
          <a:p>
            <a:r>
              <a:t>Objectives</a:t>
            </a:r>
          </a:p>
          <a:p>
            <a:pPr/>
            <a:r>
              <a:t>Apply best practices learned in session</a:t>
            </a:r>
          </a:p>
          <a:p>
            <a:pPr/>
            <a:r>
              <a:t>Review code quality systematically</a:t>
            </a:r>
          </a:p>
          <a:p>
            <a:pPr/>
            <a:r>
              <a:t>Identify and fix issues</a:t>
            </a:r>
          </a:p>
          <a:p>
            <a:r>
              <a:t>Activities</a:t>
            </a:r>
          </a:p>
          <a:p>
            <a:r>
              <a:t>1. Security Review:</a:t>
            </a:r>
          </a:p>
          <a:p>
            <a:pPr/>
            <a:r>
              <a:t>Prompt: "Review this code for security vulnerabilities"</a:t>
            </a:r>
          </a:p>
          <a:p>
            <a:pPr/>
            <a:r>
              <a:t>Address any identified issues</a:t>
            </a:r>
          </a:p>
          <a:p>
            <a:pPr/>
            <a:r>
              <a:t>Add input validation where missing</a:t>
            </a:r>
          </a:p>
          <a:p>
            <a:r>
              <a:t>Success Criteria</a:t>
            </a:r>
          </a:p>
          <a:p>
            <a:pPr/>
            <a:r>
              <a:t>Code has no obvious security issues</a:t>
            </a:r>
          </a:p>
          <a:p>
            <a:pPr/>
            <a:r>
              <a:t>Critically evaluated all AI suggestions</a:t>
            </a:r>
          </a:p>
          <a:p/>
          <a:p>
            <a:r>
              <a:t>---</a:t>
            </a:r>
          </a:p>
          <a:p/>
          <a:p/>
          <a:p>
            <a:r>
              <a:t>Duration: 30-40 minutes</a:t>
            </a:r>
          </a:p>
          <a:p>
            <a:r>
              <a:t>Objectives</a:t>
            </a:r>
          </a:p>
          <a:p>
            <a:pPr/>
            <a:r>
              <a:t>Add documentation to a project</a:t>
            </a:r>
          </a:p>
          <a:p>
            <a:pPr/>
            <a:r>
              <a:t>Update existing documentation</a:t>
            </a:r>
          </a:p>
          <a:p>
            <a:r>
              <a:t>Activities</a:t>
            </a:r>
          </a:p>
          <a:p>
            <a:r>
              <a:t>1. Documentation:</a:t>
            </a:r>
          </a:p>
          <a:p>
            <a:pPr/>
            <a:r>
              <a:t>Ask Copilot to generate XML/doc comments</a:t>
            </a:r>
          </a:p>
          <a:p>
            <a:pPr/>
            <a:r>
              <a:t>Review for accuracy and completeness</a:t>
            </a:r>
          </a:p>
          <a:p>
            <a:pPr/>
            <a:r>
              <a:t>Add README with usage instruction</a:t>
            </a:r>
          </a:p>
          <a:p>
            <a:pPr/>
            <a:r>
              <a:t>Ask AI to update existing documentation</a:t>
            </a:r>
          </a:p>
          <a:p>
            <a:r>
              <a:t>Success Criteria</a:t>
            </a:r>
          </a:p>
          <a:p>
            <a:pPr/>
            <a:r>
              <a:t>Comprehensive documentation added</a:t>
            </a:r>
          </a:p>
          <a:p>
            <a:pPr/>
            <a:r>
              <a:t>Critically evaluated all AI suggestions</a:t>
            </a:r>
          </a:p>
          <a:p/>
          <a:p>
            <a:r>
              <a:t>---</a:t>
            </a:r>
          </a:p>
          <a:p/>
          <a:p/>
          <a:p>
            <a:r>
              <a:t>Duration: 30-40 minutes</a:t>
            </a:r>
          </a:p>
          <a:p>
            <a:r>
              <a:t>Objectives</a:t>
            </a:r>
          </a:p>
          <a:p>
            <a:pPr/>
            <a:r>
              <a:t>Apply best practices learned in session</a:t>
            </a:r>
          </a:p>
          <a:p>
            <a:pPr/>
            <a:r>
              <a:t>Review code quality systematically</a:t>
            </a:r>
          </a:p>
          <a:p>
            <a:pPr/>
            <a:r>
              <a:t>Identify and fix issues</a:t>
            </a:r>
          </a:p>
          <a:p>
            <a:r>
              <a:t>Activities</a:t>
            </a:r>
          </a:p>
          <a:p>
            <a:r>
              <a:t>1. Refactoring Exercise:</a:t>
            </a:r>
          </a:p>
          <a:p>
            <a:pPr/>
            <a:r>
              <a:t>Ask Copilot for alternative implementation approaches</a:t>
            </a:r>
          </a:p>
          <a:p>
            <a:pPr/>
            <a:r>
              <a:t>Compare different solutions</a:t>
            </a:r>
          </a:p>
          <a:p>
            <a:pPr/>
            <a:r>
              <a:t>Discuss trade-offs (as mentioned in session)</a:t>
            </a:r>
          </a:p>
          <a:p>
            <a:r>
              <a:t>Success Criteria</a:t>
            </a:r>
          </a:p>
          <a:p>
            <a:pPr/>
            <a:r>
              <a:t>Code has no obvious security issues</a:t>
            </a:r>
          </a:p>
          <a:p>
            <a:pPr/>
            <a:r>
              <a:t>Comprehensive documentation added</a:t>
            </a:r>
          </a:p>
          <a:p>
            <a:pPr/>
            <a:r>
              <a:t>At least one refactoring improvement implemented</a:t>
            </a:r>
          </a:p>
          <a:p>
            <a:pPr/>
            <a:r>
              <a:t>Critically evaluated all AI suggestions</a:t>
            </a:r>
          </a:p>
          <a:p/>
          <a:p>
            <a:r>
              <a:t>---</a:t>
            </a:r>
          </a:p>
          <a:p/>
          <a:p/>
          <a:p>
            <a:r>
              <a:t>Intent‑First Design</a:t>
            </a:r>
          </a:p>
          <a:p>
            <a:pPr/>
            <a:r>
              <a:t>Define the system’s purpose, invariants, and boundaries before writing code to ensure long‑term clarity.</a:t>
            </a:r>
          </a:p>
          <a:p>
            <a:r>
              <a:t>Stable Interfaces, Evolving Internals</a:t>
            </a:r>
          </a:p>
          <a:p>
            <a:pPr/>
            <a:r>
              <a:t>Keep contracts predictable while allowing implementations to improve continuously.</a:t>
            </a:r>
          </a:p>
          <a:p>
            <a:r>
              <a:t>Continuous Regeneration with Guardrails</a:t>
            </a:r>
          </a:p>
          <a:p>
            <a:pPr/>
            <a:r>
              <a:t>Use AI to rewrite or extend components safely, backed by tests, specs, and architectural constraints.</a:t>
            </a:r>
          </a:p>
          <a:p>
            <a:r>
              <a:t>Modular, Replaceable Components</a:t>
            </a:r>
          </a:p>
          <a:p>
            <a:pPr/>
            <a:r>
              <a:t>Structure the system so any part can be regenerated, swapped, or upgraded without cascading breakage.</a:t>
            </a:r>
          </a:p>
          <a:p>
            <a:r>
              <a:t>Lifecycle Governance</a:t>
            </a:r>
          </a:p>
          <a:p>
            <a:pPr/>
            <a:r>
              <a:t>Maintain quality through automated tests, versioning discipline, and human‑in‑the‑loop validation.</a:t>
            </a:r>
          </a:p>
          <a:p/>
          <a:p>
            <a:r>
              <a:t>---</a:t>
            </a:r>
          </a:p>
          <a:p/>
          <a:p/>
          <a:p>
            <a:r>
              <a:t>Engineering approach: systematic, tested, documented, maintainable</a:t>
            </a:r>
          </a:p>
          <a:p>
            <a:r>
              <a:t>Vibe coding: “it works” mentality, technical debt accumulation</a:t>
            </a:r>
          </a:p>
          <a:p>
            <a:r>
              <a:t>AI should enhance engineering practices, not replace them</a:t>
            </a:r>
          </a:p>
          <a:p>
            <a:r>
              <a:t>Proper testing, code review, and architecture still essential</a:t>
            </a:r>
          </a:p>
          <a:p/>
          <a:p>
            <a:r>
              <a:t>::: notes</a:t>
            </a:r>
          </a:p>
          <a:p>
            <a:r>
              <a:t>Contrast disciplined engineering practices with quick “vibe” coding; stress that AI should augment engineering rigor, not replace it.</a:t>
            </a:r>
          </a:p>
          <a:p>
            <a:r>
              <a:t>:::</a:t>
            </a:r>
          </a:p>
          <a:p/>
          <a:p>
            <a:r>
              <a:t>---</a:t>
            </a:r>
          </a:p>
          <a:p/>
          <a:p/>
          <a:p>
            <a:r>
              <a:t>Intent Rot</a:t>
            </a:r>
          </a:p>
          <a:p>
            <a:pPr/>
            <a:r>
              <a:t>The original purpose, constraints, and invariants are undocumented or lost, making safe regeneration impossible.</a:t>
            </a:r>
          </a:p>
          <a:p>
            <a:r>
              <a:t>Unstable or Leaky Interfaces</a:t>
            </a:r>
          </a:p>
          <a:p>
            <a:pPr/>
            <a:r>
              <a:t>APIs, data contracts, and boundaries change unpredictably, causing cascading breakage when internals evolve.</a:t>
            </a:r>
          </a:p>
          <a:p>
            <a:r>
              <a:t>Tightly Coupled Architecture</a:t>
            </a:r>
          </a:p>
          <a:p>
            <a:pPr/>
            <a:r>
              <a:t>Components depend on each other’s internal details, preventing isolated regeneration or replacement.</a:t>
            </a:r>
          </a:p>
          <a:p>
            <a:r>
              <a:t>Insufficient Guardrails</a:t>
            </a:r>
          </a:p>
          <a:p>
            <a:pPr/>
            <a:r>
              <a:t>Missing tests, specs, or validation layers mean AI‑assisted regeneration can’t be trusted to preserve behavior.</a:t>
            </a:r>
          </a:p>
          <a:p>
            <a:r>
              <a:t>One‑Off Patches and Drift</a:t>
            </a:r>
          </a:p>
          <a:p>
            <a:pPr/>
            <a:r>
              <a:t>Ad‑hoc fixes accumulate, diverging the system from its intended design and making regeneration unsafe.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Multi‑Model Implementation Comparison</a:t>
            </a:r>
          </a:p>
        </p:txBody>
      </p:sp>
      <p:sp>
        <p:nvSpPr>
          <p:cNvPr id="3" name="Content Placeholder 2"/>
          <p:cNvSpPr>
            <a:spLocks noGrp="1"/>
          </p:cNvSpPr>
          <p:nvPr>
            <p:ph idx="1"/>
          </p:nvPr>
        </p:nvSpPr>
        <p:spPr/>
        <p:txBody>
          <a:bodyPr/>
          <a:lstStyle/>
          <a:p/>
          <a:p>
            <a:r>
              <a:t>Implementing changes with different AI models</a:t>
            </a:r>
          </a:p>
          <a:p>
            <a:r>
              <a:t>Comparing approaches and outcomes</a:t>
            </a:r>
          </a:p>
          <a:p>
            <a:r>
              <a:t>Risk assessment and quality evaluation</a:t>
            </a:r>
          </a:p>
          <a:p>
            <a:r>
              <a:t>Best practice synthesis</a:t>
            </a:r>
          </a:p>
          <a:p>
            <a:r>
              <a:t>Exercises for hands‑on practice</a:t>
            </a:r>
          </a:p>
          <a:p/>
          <a:p>
            <a:r>
              <a:t>::: notes</a:t>
            </a:r>
          </a:p>
          <a:p>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r>
              <a:t>:::</a:t>
            </a:r>
          </a:p>
          <a:p/>
          <a:p>
            <a:r>
              <a:t>---</a:t>
            </a:r>
          </a:p>
          <a:p/>
          <a:p/>
          <a:p>
            <a:r>
              <a:t>Why use multiple models?</a:t>
            </a:r>
          </a:p>
          <a:p>
            <a:r>
              <a:t>Different reasoning styles</a:t>
            </a:r>
          </a:p>
          <a:p>
            <a:r>
              <a:t>Different strengths (refactoring, documentation, architecture)</a:t>
            </a:r>
          </a:p>
          <a:p>
            <a:r>
              <a:t>Cross‑validation reduces risk</a:t>
            </a:r>
          </a:p>
          <a:p>
            <a:r>
              <a:t>Helps detect missing context or contradictions</a:t>
            </a:r>
          </a:p>
          <a:p>
            <a:r>
              <a:t>Typical use cases</a:t>
            </a:r>
          </a:p>
          <a:p>
            <a:r>
              <a:t>Refactoring comparisons</a:t>
            </a:r>
          </a:p>
          <a:p>
            <a:r>
              <a:t>Documentation consistency checks</a:t>
            </a:r>
          </a:p>
          <a:p>
            <a:r>
              <a:t>Architecture proposal validation</a:t>
            </a:r>
          </a:p>
          <a:p/>
          <a:p>
            <a:r>
              <a:t>::: notes</a:t>
            </a:r>
          </a:p>
          <a:p>
            <a:r>
              <a:t>Explain that no single model is perfect. Using multiple models gives teams a broader perspective and helps catch errors or blind spots that one model alone might miss.</a:t>
            </a:r>
          </a:p>
          <a:p>
            <a:r>
              <a:t>:::</a:t>
            </a:r>
          </a:p>
          <a:p/>
          <a:p>
            <a:r>
              <a:t>---</a:t>
            </a:r>
          </a:p>
          <a:p/>
          <a:p/>
          <a:p>
            <a:r>
              <a:t>What to compare</a:t>
            </a:r>
          </a:p>
          <a:p>
            <a:r>
              <a:t>Code structure and clarity</a:t>
            </a:r>
          </a:p>
          <a:p>
            <a:r>
              <a:t>Architectural alignment</a:t>
            </a:r>
          </a:p>
          <a:p>
            <a:r>
              <a:t>Test quality</a:t>
            </a:r>
          </a:p>
          <a:p>
            <a:r>
              <a:t>Documentation completeness</a:t>
            </a:r>
          </a:p>
          <a:p>
            <a:r>
              <a:t>Risk level of proposed changes</a:t>
            </a:r>
          </a:p>
          <a:p>
            <a:r>
              <a:t>Benefits</a:t>
            </a:r>
          </a:p>
          <a:p>
            <a:r>
              <a:t>Identifies the safest implementation</a:t>
            </a:r>
          </a:p>
          <a:p>
            <a:r>
              <a:t>Surfaces hidden assumptions</a:t>
            </a:r>
          </a:p>
          <a:p>
            <a:r>
              <a:t>Highlights model‑specific biases</a:t>
            </a:r>
          </a:p>
          <a:p/>
          <a:p>
            <a:r>
              <a:t>::: notes</a:t>
            </a:r>
          </a:p>
          <a:p>
            <a:r>
              <a:t>Encourage participants to treat model outputs like multiple drafts from different engineers. The goal is not to pick a winner — it’s to synthesize the best ideas.</a:t>
            </a:r>
          </a:p>
          <a:p>
            <a:r>
              <a:t>:::</a:t>
            </a:r>
          </a:p>
          <a:p/>
          <a:p>
            <a:r>
              <a:t>---</a:t>
            </a:r>
          </a:p>
          <a:p/>
          <a:p/>
          <a:p>
            <a:r>
              <a:t>Risk indicators</a:t>
            </a:r>
          </a:p>
          <a:p>
            <a:r>
              <a:t>Missing tests</a:t>
            </a:r>
          </a:p>
          <a:p>
            <a:r>
              <a:t>Large or unnecessary refactors</a:t>
            </a:r>
          </a:p>
          <a:p>
            <a:r>
              <a:t>Violations of instruction files</a:t>
            </a:r>
          </a:p>
          <a:p>
            <a:r>
              <a:t>Unclear or undocumented behavior</a:t>
            </a:r>
          </a:p>
          <a:p>
            <a:r>
              <a:t>Quality indicators</a:t>
            </a:r>
          </a:p>
          <a:p>
            <a:r>
              <a:t>Small, incremental changes</a:t>
            </a:r>
          </a:p>
          <a:p>
            <a:r>
              <a:t>Clear reasoning</a:t>
            </a:r>
          </a:p>
          <a:p>
            <a:r>
              <a:t>Strong test coverage</a:t>
            </a:r>
          </a:p>
          <a:p>
            <a:r>
              <a:t>Alignment with evergreen principles</a:t>
            </a:r>
          </a:p>
          <a:p/>
          <a:p>
            <a:r>
              <a:t>::: notes</a:t>
            </a:r>
          </a:p>
          <a:p>
            <a:r>
              <a:t>Reinforce that risk assessment is essential in brownfield systems. Even if a model produces elegant code, it may be too risky without proper guardrails.</a:t>
            </a:r>
          </a:p>
          <a:p>
            <a:r>
              <a:t>:::</a:t>
            </a:r>
          </a:p>
          <a:p/>
          <a:p>
            <a:r>
              <a:t>---</a:t>
            </a:r>
          </a:p>
          <a:p/>
          <a:p/>
          <a:p>
            <a:r>
              <a:t>Combine the strengths of each model</a:t>
            </a:r>
          </a:p>
          <a:p>
            <a:r>
              <a:t>Use one model for architecture</a:t>
            </a:r>
          </a:p>
          <a:p>
            <a:r>
              <a:t>Another for implementation</a:t>
            </a:r>
          </a:p>
          <a:p>
            <a:r>
              <a:t>Another for documentation</a:t>
            </a:r>
          </a:p>
          <a:p>
            <a:r>
              <a:t>Cross‑validate tests and reasoning</a:t>
            </a:r>
          </a:p>
          <a:p>
            <a:r>
              <a:t>Outcome</a:t>
            </a:r>
          </a:p>
          <a:p>
            <a:r>
              <a:t>Higher quality</a:t>
            </a:r>
          </a:p>
          <a:p>
            <a:r>
              <a:t>Lower risk</a:t>
            </a:r>
          </a:p>
          <a:p>
            <a:r>
              <a:t>More predictable modernization</a:t>
            </a:r>
          </a:p>
          <a:p/>
          <a:p>
            <a:r>
              <a:t>::: notes</a:t>
            </a:r>
          </a:p>
          <a:p>
            <a:r>
              <a:t>Explain that synthesis is the real power of multi‑model workflows. Teams can build a composite solution that is better than any single model’s output.</a:t>
            </a:r>
          </a:p>
          <a:p>
            <a:r>
              <a:t>:::</a:t>
            </a:r>
          </a:p>
          <a:p/>
          <a:p>
            <a:r>
              <a:t>---</a:t>
            </a:r>
          </a:p>
          <a:p/>
          <a:p/>
          <a:p>
            <a:r>
              <a:t>Duration</a:t>
            </a:r>
          </a:p>
          <a:p>
            <a:r>
              <a:t>15 minutes</a:t>
            </a:r>
          </a:p>
          <a:p>
            <a:r>
              <a:t>Objectives</a:t>
            </a:r>
          </a:p>
          <a:p>
            <a:r>
              <a:t>Compare outputs from different models</a:t>
            </a:r>
          </a:p>
          <a:p>
            <a:r>
              <a:t>Identify strengths and weaknesses</a:t>
            </a:r>
          </a:p>
          <a:p>
            <a:r>
              <a:t>Evaluate risk and quality</a:t>
            </a:r>
          </a:p>
          <a:p>
            <a:r>
              <a:t>Activities</a:t>
            </a:r>
          </a:p>
          <a:p>
            <a:r>
              <a:t>Select a small technical debt item.</a:t>
            </a:r>
          </a:p>
          <a:p>
            <a:r>
              <a:t>Prompt two or more models to propose a fix.</a:t>
            </a:r>
          </a:p>
          <a:p>
            <a:r>
              <a:t>Compare outputs for:</a:t>
            </a:r>
          </a:p>
          <a:p>
            <a:pPr/>
            <a:r>
              <a:t>Safety</a:t>
            </a:r>
          </a:p>
          <a:p>
            <a:pPr/>
            <a:r>
              <a:t>Clarity</a:t>
            </a:r>
          </a:p>
          <a:p>
            <a:pPr/>
            <a:r>
              <a:t>Test coverage</a:t>
            </a:r>
          </a:p>
          <a:p>
            <a:pPr/>
            <a:r>
              <a:t>Architectural alignment</a:t>
            </a:r>
          </a:p>
          <a:p>
            <a:r>
              <a:t>Synthesize the best elements into a final solution.</a:t>
            </a:r>
          </a:p>
          <a:p>
            <a:r>
              <a:t>Success Criteria</a:t>
            </a:r>
          </a:p>
          <a:p>
            <a:r>
              <a:t>Differences between models are clearly identified</a:t>
            </a:r>
          </a:p>
          <a:p>
            <a:r>
              <a:t>Risks and strengths are evaluated</a:t>
            </a:r>
          </a:p>
          <a:p>
            <a:r>
              <a:t>Final synthesized solution is safe and incremental</a:t>
            </a:r>
          </a:p>
          <a:p>
            <a:r>
              <a:t>Provenance metadata is included</a:t>
            </a:r>
          </a:p>
          <a:p/>
          <a:p>
            <a:r>
              <a:t>::: notes</a:t>
            </a:r>
          </a:p>
          <a:p>
            <a:r>
              <a:t>Encourage participants to think like reviewers comparing multiple PRs. The goal is to understand model behavior, not to pick a favorite.</a:t>
            </a:r>
          </a:p>
          <a:p>
            <a:r>
              <a:t>:::</a:t>
            </a:r>
          </a:p>
          <a:p/>
          <a:p>
            <a:r>
              <a:t>---</a:t>
            </a:r>
          </a:p>
          <a:p/>
          <a:p/>
          <a:p>
            <a:r>
              <a:t>Duration</a:t>
            </a:r>
          </a:p>
          <a:p>
            <a:r>
              <a:t>10 minutes</a:t>
            </a:r>
          </a:p>
          <a:p>
            <a:r>
              <a:t>Objectives</a:t>
            </a:r>
          </a:p>
          <a:p>
            <a:r>
              <a:t>Practice delegating the same issue to different models</a:t>
            </a:r>
          </a:p>
          <a:p>
            <a:r>
              <a:t>Evaluate how each model interprets constraints</a:t>
            </a:r>
          </a:p>
          <a:p>
            <a:r>
              <a:t>Identify missing context</a:t>
            </a:r>
          </a:p>
          <a:p>
            <a:r>
              <a:t>Activities</a:t>
            </a:r>
          </a:p>
          <a:p>
            <a:r>
              <a:t>Create a GitHub‑style issue describing a technical debt item.</a:t>
            </a:r>
          </a:p>
          <a:p>
            <a:r>
              <a:t>Assign the issue to two different models.</a:t>
            </a:r>
          </a:p>
          <a:p>
            <a:r>
              <a:t>Compare their proposed remediation plans.</a:t>
            </a:r>
          </a:p>
          <a:p>
            <a:r>
              <a:t>Identify missing context or contradictions.</a:t>
            </a:r>
          </a:p>
          <a:p>
            <a:r>
              <a:t>Success Criteria</a:t>
            </a:r>
          </a:p>
          <a:p>
            <a:r>
              <a:t>Issue is clear and well‑structured</a:t>
            </a:r>
          </a:p>
          <a:p>
            <a:r>
              <a:t>Each model produces a distinct approach</a:t>
            </a:r>
          </a:p>
          <a:p>
            <a:r>
              <a:t>Missing context is identified and documented</a:t>
            </a:r>
          </a:p>
          <a:p>
            <a:r>
              <a:t>A preferred plan is selected based on safety and clarity</a:t>
            </a:r>
          </a:p>
          <a:p/>
          <a:p>
            <a:r>
              <a:t>::: notes</a:t>
            </a:r>
          </a:p>
          <a:p>
            <a:r>
              <a:t>This exercise helps participants see how different models interpret the same instructions — a key skill for multi‑model workflows.</a:t>
            </a:r>
          </a:p>
          <a:p>
            <a:r>
              <a:t>:::</a:t>
            </a:r>
          </a:p>
          <a:p/>
          <a:p>
            <a:r>
              <a:t>---</a:t>
            </a:r>
          </a:p>
          <a:p/>
          <a:p/>
          <a:p>
            <a:r>
              <a:t>Duration</a:t>
            </a:r>
          </a:p>
          <a:p>
            <a:r>
              <a:t>20 minutes</a:t>
            </a:r>
          </a:p>
          <a:p>
            <a:r>
              <a:t>Objectives</a:t>
            </a:r>
          </a:p>
          <a:p>
            <a:r>
              <a:t>Practice multi‑model delegation</a:t>
            </a:r>
          </a:p>
          <a:p>
            <a:r>
              <a:t>Evaluate multi‑step reasoning</a:t>
            </a:r>
          </a:p>
          <a:p>
            <a:r>
              <a:t>Synthesize best practices into a unified plan</a:t>
            </a:r>
          </a:p>
          <a:p>
            <a:r>
              <a:t>Activities</a:t>
            </a:r>
          </a:p>
          <a:p>
            <a:r>
              <a:t>Select a multi‑step modernization task.</a:t>
            </a:r>
          </a:p>
          <a:p>
            <a:r>
              <a:t>Ask multiple models to:</a:t>
            </a:r>
          </a:p>
          <a:p>
            <a:pPr/>
            <a:r>
              <a:t>Analyze the problem</a:t>
            </a:r>
          </a:p>
          <a:p>
            <a:pPr/>
            <a:r>
              <a:t>Propose a remediation plan</a:t>
            </a:r>
          </a:p>
          <a:p>
            <a:pPr/>
            <a:r>
              <a:t>Suggest tests</a:t>
            </a:r>
          </a:p>
          <a:p>
            <a:pPr/>
            <a:r>
              <a:t>Suggest documentation updates</a:t>
            </a:r>
          </a:p>
          <a:p>
            <a:r>
              <a:t>Compare the outputs.</a:t>
            </a:r>
          </a:p>
          <a:p>
            <a:r>
              <a:t>Synthesize a final, safe, incremental plan.</a:t>
            </a:r>
          </a:p>
          <a:p>
            <a:r>
              <a:t>Success Criteria</a:t>
            </a:r>
          </a:p>
          <a:p>
            <a:r>
              <a:t>Multi‑model differences are clearly understood</a:t>
            </a:r>
          </a:p>
          <a:p>
            <a:r>
              <a:t>Final plan is incremental, reversible, and well‑tested</a:t>
            </a:r>
          </a:p>
          <a:p>
            <a:r>
              <a:t>Documentation and provenance are included</a:t>
            </a:r>
          </a:p>
          <a:p>
            <a:r>
              <a:t>Risks are identified and mitigated</a:t>
            </a:r>
          </a:p>
          <a:p/>
          <a:p>
            <a:r>
              <a:t>::: notes</a:t>
            </a:r>
          </a:p>
          <a:p>
            <a:r>
              <a:t>This exercise builds confidence in orchestrating multiple models as collaborators. The goal is synthesis, not competition.</a:t>
            </a:r>
          </a:p>
          <a:p>
            <a: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t>Intro</a:t>
            </a:r>
          </a:p>
          <a:p>
            <a:pPr/>
            <a:r>
              <a:t>Module 1 - AIASD</a:t>
            </a:r>
          </a:p>
          <a:p>
            <a:pPr/>
            <a:r>
              <a:t>Module 2 - Intro to Copilot</a:t>
            </a:r>
          </a:p>
          <a:p>
            <a:pPr/>
            <a:r>
              <a:t>Module 3 - Vibbing</a:t>
            </a:r>
          </a:p>
          <a:p>
            <a:pPr/>
            <a:r>
              <a:rPr b="1"/>
              <a:t>▶ Module 4 - Adding AI Guardrails</a:t>
            </a:r>
          </a:p>
          <a:p>
            <a:pPr/>
            <a:r>
              <a:t>Module 5 - Managing Context</a:t>
            </a:r>
          </a:p>
          <a:p>
            <a:pPr/>
            <a:r>
              <a:t>Module 6 - Copilot for Teams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 Adding AI Guardrails</a:t>
            </a:r>
          </a:p>
        </p:txBody>
      </p:sp>
      <p:sp>
        <p:nvSpPr>
          <p:cNvPr id="3" name="Text Placeholder 2"/>
          <p:cNvSpPr>
            <a:spLocks noGrp="1"/>
          </p:cNvSpPr>
          <p:nvPr>
            <p:ph type="body"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 Adding AI Guardrails</a:t>
            </a:r>
          </a:p>
        </p:txBody>
      </p:sp>
      <p:sp>
        <p:nvSpPr>
          <p:cNvPr id="3" name="Content Placeholder 2"/>
          <p:cNvSpPr>
            <a:spLocks noGrp="1"/>
          </p:cNvSpPr>
          <p:nvPr>
            <p:ph idx="1"/>
          </p:nvPr>
        </p:nvSpPr>
        <p:spPr/>
        <p:txBody>
          <a:bodyPr/>
          <a:lstStyle/>
          <a:p/>
          <a:p>
            <a:pPr/>
            <a:r>
              <a:t>Adding AI Guardrails</a:t>
            </a:r>
          </a:p>
          <a:p>
            <a:pPr/>
            <a:r>
              <a:t>Instruction Files</a:t>
            </a:r>
          </a:p>
          <a:p>
            <a:pPr/>
            <a:r>
              <a:t>🎯 Instruction File `applyTo` Patterns</a:t>
            </a:r>
          </a:p>
          <a:p>
            <a:pPr/>
            <a:r>
              <a:t>Core Instructions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Adding AI Guardrails</a:t>
            </a:r>
          </a:p>
        </p:txBody>
      </p:sp>
      <p:sp>
        <p:nvSpPr>
          <p:cNvPr id="3" name="Content Placeholder 2"/>
          <p:cNvSpPr>
            <a:spLocks noGrp="1"/>
          </p:cNvSpPr>
          <p:nvPr>
            <p:ph idx="1"/>
          </p:nvPr>
        </p:nvSpPr>
        <p:spPr/>
        <p:txBody>
          <a:bodyPr/>
          <a:lstStyle/>
          <a:p/>
          <a:p>
            <a:r>
              <a:t>What are instructions, prompts, and Agents</a:t>
            </a:r>
          </a:p>
          <a:p>
            <a:r>
              <a:t>Creating instruction, prompt, and Agent files</a:t>
            </a:r>
          </a:p>
          <a:p>
            <a:r>
              <a:t>Meta prompts that generate these files</a:t>
            </a:r>
          </a:p>
          <a:p>
            <a:r>
              <a:t>Instructions for generating artifacts</a:t>
            </a:r>
          </a:p>
          <a:p>
            <a:r>
              <a:t>Enforcing provenance for AI‑assisted artifacts</a:t>
            </a:r>
          </a:p>
          <a:p/>
          <a:p>
            <a:r>
              <a:t>::: notes</a:t>
            </a:r>
          </a:p>
          <a:p>
            <a:r>
              <a:t>Introduce this module as the foundation for safe, predictable AI‑assisted development.</a:t>
            </a:r>
          </a:p>
          <a:p/>
          <a:p>
            <a:r>
              <a:t>Guardrails ensure that AI output is intentional, reviewable, and aligned with architectural and organizational standards.</a:t>
            </a:r>
          </a:p>
          <a:p/>
          <a:p>
            <a:r>
              <a:t>These practices turn AI from a novelty into a disciplined engineering tool.</a:t>
            </a:r>
          </a:p>
          <a:p>
            <a:r>
              <a:t>:::</a:t>
            </a:r>
          </a:p>
          <a:p/>
          <a:p>
            <a:r>
              <a:t>---</a:t>
            </a:r>
          </a:p>
          <a:p/>
          <a:p/>
          <a:p>
            <a:r>
              <a:t>Definitions</a:t>
            </a:r>
          </a:p>
          <a:p>
            <a:r>
              <a:t>Instructions – Persistent rules that guide the model’s behavior</a:t>
            </a:r>
          </a:p>
          <a:p>
            <a:r>
              <a:t>Prompts – Task‑specific requests defining intent and constraints</a:t>
            </a:r>
          </a:p>
          <a:p>
            <a:r>
              <a:t>Agents – Pre‑configured personas optimized for workflows</a:t>
            </a:r>
          </a:p>
          <a:p/>
          <a:p>
            <a:r>
              <a:t>::: notes</a:t>
            </a:r>
          </a:p>
          <a:p>
            <a:r>
              <a:t>Clarify the distinctions: instructions are stable, prompts are ephemeral, and Agents define how the model behaves in a particular role.</a:t>
            </a:r>
          </a:p>
          <a:p/>
          <a:p>
            <a:r>
              <a:t>Together, they form a layered control system that shapes AI behavior and reduces drift.</a:t>
            </a:r>
          </a:p>
          <a:p>
            <a:r>
              <a:t>:::</a:t>
            </a:r>
          </a:p>
          <a:p/>
          <a:p>
            <a:r>
              <a:t>---</a:t>
            </a:r>
          </a:p>
          <a:p/>
          <a:p/>
          <a:p>
            <a:r>
              <a:t>Why create files?</a:t>
            </a:r>
          </a:p>
          <a:p>
            <a:r>
              <a:t>Ensures repeatability</a:t>
            </a:r>
          </a:p>
          <a:p>
            <a:r>
              <a:t>Reduces token usage</a:t>
            </a:r>
          </a:p>
          <a:p>
            <a:r>
              <a:t>Provides version‑controlled guardrails</a:t>
            </a:r>
          </a:p>
          <a:p>
            <a:r>
              <a:t>Enables team‑wide consistency</a:t>
            </a:r>
          </a:p>
          <a:p>
            <a:r>
              <a:t>File types</a:t>
            </a:r>
          </a:p>
          <a:p>
            <a:r>
              <a:t>.github/instructions/myinstructions.instructions.md</a:t>
            </a:r>
          </a:p>
          <a:p>
            <a:r>
              <a:t>.github/prompts/myprompt.prompt.md</a:t>
            </a:r>
          </a:p>
          <a:p>
            <a:r>
              <a:t>.github/chatmodes/mychatmode.chatmode.md</a:t>
            </a:r>
          </a:p>
          <a:p/>
          <a:p>
            <a:r>
              <a:t>::: notes</a:t>
            </a:r>
          </a:p>
          <a:p>
            <a:r>
              <a:t>Explain that storing these artifacts as files allows teams to version them, review them, and reuse them.</a:t>
            </a:r>
          </a:p>
          <a:p/>
          <a:p>
            <a:r>
              <a:t>This is essential for brownfield modernization, where consistency and traceability matter.</a:t>
            </a:r>
          </a:p>
          <a:p>
            <a:r>
              <a:t>:::</a:t>
            </a:r>
          </a:p>
          <a:p/>
          <a:p>
            <a:r>
              <a:t>---</a:t>
            </a:r>
          </a:p>
          <a:p/>
          <a:p/>
          <a:p>
            <a:r>
              <a:t>Meta prompts guide:</a:t>
            </a:r>
          </a:p>
          <a:p>
            <a:r>
              <a:t>Creation of instruction files</a:t>
            </a:r>
          </a:p>
          <a:p>
            <a:r>
              <a:t>Generation of reusable prompts</a:t>
            </a:r>
          </a:p>
          <a:p>
            <a:r>
              <a:t>Construction of Agents</a:t>
            </a:r>
          </a:p>
          <a:p>
            <a:r>
              <a:t>Provide consistent formatting, structure, content</a:t>
            </a:r>
          </a:p>
          <a:p/>
          <a:p>
            <a:r>
              <a:t>::: notes</a:t>
            </a:r>
          </a:p>
          <a:p>
            <a:r>
              <a:t>Meta prompts are prompts about prompts.</a:t>
            </a:r>
          </a:p>
          <a:p/>
          <a:p>
            <a:r>
              <a:t>They let the AI generate structured artifacts on demand.</a:t>
            </a:r>
          </a:p>
          <a:p/>
          <a:p>
            <a:r>
              <a:t>This reduces manual effort and ensures that all artifacts follow a consistent pattern.</a:t>
            </a:r>
          </a:p>
          <a:p>
            <a:r>
              <a:t>:::</a:t>
            </a:r>
          </a:p>
          <a:p/>
          <a:p>
            <a:r>
              <a:t>---</a:t>
            </a:r>
          </a:p>
          <a:p/>
          <a:p/>
          <a:p>
            <a:r>
              <a:t>Best practices</a:t>
            </a:r>
          </a:p>
          <a:p>
            <a:r>
              <a:t>Define the artifact type</a:t>
            </a:r>
          </a:p>
          <a:p>
            <a:r>
              <a:t>Specify required sections</a:t>
            </a:r>
          </a:p>
          <a:p>
            <a:r>
              <a:t>Provide examples or templates</a:t>
            </a:r>
          </a:p>
          <a:p>
            <a:r>
              <a:t>Include acceptance criteria</a:t>
            </a:r>
          </a:p>
          <a:p>
            <a:r>
              <a:t>Require the model to restate constraints</a:t>
            </a:r>
          </a:p>
          <a:p/>
          <a:p>
            <a:r>
              <a:t>::: notes</a:t>
            </a:r>
          </a:p>
          <a:p>
            <a:r>
              <a:t>When asking AI to generate an artifact, be explicit about structure and constraints.</a:t>
            </a:r>
          </a:p>
          <a:p/>
          <a:p>
            <a:r>
              <a:t>This prevents drift and ensures the output is usable without heavy editing.</a:t>
            </a:r>
          </a:p>
          <a:p>
            <a:r>
              <a:t>:::</a:t>
            </a:r>
          </a:p>
          <a:p/>
          <a:p>
            <a:r>
              <a:t>---</a:t>
            </a:r>
          </a:p>
          <a:p/>
          <a:p/>
          <a:p>
            <a:r>
              <a:t>Provenance requirements</a:t>
            </a:r>
          </a:p>
          <a:p>
            <a:r>
              <a:t>Declare:</a:t>
            </a:r>
          </a:p>
          <a:p>
            <a:pPr/>
            <a:r>
              <a:t>AI involvement</a:t>
            </a:r>
          </a:p>
          <a:p>
            <a:pPr/>
            <a:r>
              <a:t>Model used</a:t>
            </a:r>
          </a:p>
          <a:p>
            <a:pPr/>
            <a:r>
              <a:t>Date generated</a:t>
            </a:r>
          </a:p>
          <a:p>
            <a:pPr/>
            <a:r>
              <a:t>Human reviewer</a:t>
            </a:r>
          </a:p>
          <a:p>
            <a:r>
              <a:t>Store provenance in headers, footers, or side cars</a:t>
            </a:r>
          </a:p>
          <a:p>
            <a:r>
              <a:t>Track revisions in version control</a:t>
            </a:r>
          </a:p>
          <a:p/>
          <a:p>
            <a:r>
              <a:t>::: notes</a:t>
            </a:r>
          </a:p>
          <a:p>
            <a:r>
              <a:t>Provenance is essential for conformance, auditability, and long‑term maintainability.</a:t>
            </a:r>
          </a:p>
          <a:p/>
          <a:p>
            <a:r>
              <a:t>It ensures teams know which artifacts were AI‑generated, which were human‑generated, and which were hybrid.</a:t>
            </a:r>
          </a:p>
          <a:p>
            <a:r>
              <a:t>:::</a:t>
            </a:r>
          </a:p>
          <a:p/>
          <a:p>
            <a:r>
              <a:t>---</a:t>
            </a:r>
          </a:p>
          <a:p/>
          <a:p/>
          <a:p>
            <a:r>
              <a:t>Duration: 10 minutes</a:t>
            </a:r>
          </a:p>
          <a:p>
            <a:r>
              <a:t>Objectives:</a:t>
            </a:r>
          </a:p>
          <a:p>
            <a:r>
              <a:t>Understand file organization for AI-assisted output policies</a:t>
            </a:r>
          </a:p>
          <a:p>
            <a:r>
              <a:t>Practice copying files between repositories</a:t>
            </a:r>
          </a:p>
          <a:p>
            <a:r>
              <a:t>Ensure compliance with output metadata requirements</a:t>
            </a:r>
          </a:p>
          <a:p>
            <a:r>
              <a:t>Activities:</a:t>
            </a:r>
          </a:p>
          <a:p>
            <a:r>
              <a:t>1. Locate .github/instructions/ai-assisted-output.instructions.md in the AI-Assisted-Software-Development repository</a:t>
            </a:r>
          </a:p>
          <a:p>
            <a:r>
              <a:t>2. Copy the file into the .github/instructions folder of the current repository</a:t>
            </a:r>
          </a:p>
          <a:p>
            <a:r>
              <a:t>3. Copy these files as well:</a:t>
            </a:r>
          </a:p>
          <a:p>
            <a:r>
              <a:t>chatmode-file.instructions.md</a:t>
            </a:r>
          </a:p>
          <a:p>
            <a:r>
              <a:t>instruction-files.instructions.md</a:t>
            </a:r>
          </a:p>
          <a:p>
            <a:r>
              <a:t>instruction-prompt-files.instructions.md</a:t>
            </a:r>
          </a:p>
          <a:p>
            <a:r>
              <a:t>prompt-file.instructions.md</a:t>
            </a:r>
          </a:p>
          <a:p>
            <a:r>
              <a:t>4. Verify the copied files matches the original</a:t>
            </a:r>
          </a:p>
          <a:p>
            <a:r>
              <a:t>5. Review the instructions</a:t>
            </a:r>
          </a:p>
          <a:p>
            <a:r>
              <a:t>Success Criteria:</a:t>
            </a:r>
          </a:p>
          <a:p>
            <a:r>
              <a:t>The files are present in the current repo</a:t>
            </a:r>
          </a:p>
          <a:p>
            <a:r>
              <a:t>The content matches the source file</a:t>
            </a:r>
          </a:p>
          <a:p>
            <a:r>
              <a:t>No metadata or formatting is lost</a:t>
            </a:r>
          </a:p>
          <a:p/>
          <a:p>
            <a:r>
              <a:t>::: notes</a:t>
            </a:r>
          </a:p>
          <a:p>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a:p>
            <a:r>
              <a:t>:::</a:t>
            </a:r>
          </a:p>
          <a:p/>
          <a:p>
            <a:r>
              <a:t>---</a:t>
            </a:r>
          </a:p>
          <a:p/>
          <a:p/>
          <a:p>
            <a:r>
              <a:t>The one instruction file that rules them all</a:t>
            </a:r>
          </a:p>
          <a:p/>
          <a:p>
            <a:r>
              <a:t>::: notes</a:t>
            </a:r>
          </a:p>
          <a:p>
            <a:r>
              <a:t>Provenance is essential for conformance, auditability, and long‑term maintainability.</a:t>
            </a:r>
          </a:p>
          <a:p/>
          <a:p>
            <a:r>
              <a:t>It ensures teams know which artifacts were AI‑generated, which were human‑generated, and which were hybrid.</a:t>
            </a:r>
          </a:p>
          <a:p>
            <a:r>
              <a:t>:::</a:t>
            </a:r>
          </a:p>
          <a:p/>
          <a:p>
            <a:r>
              <a:t>---</a:t>
            </a:r>
          </a:p>
          <a:p/>
          <a:p/>
          <a:p>
            <a:r>
              <a:t>Ensures provenance and logging for all AI-assisted outputs</a:t>
            </a:r>
          </a:p>
          <a:p>
            <a:r>
              <a:t>Defines required metadata, logging workflow, and quality gates</a:t>
            </a:r>
          </a:p>
          <a:p>
            <a:r>
              <a:t>Protects code quality and enables audits</a:t>
            </a:r>
          </a:p>
          <a:p/>
          <a:p>
            <a:r>
              <a:t>::: notes</a:t>
            </a:r>
          </a:p>
          <a:p>
            <a:r>
              <a:t>This slide introduces the purpose of the AI-Assisted Output Instructions file: to enforce traceability, quality, and compliance for all AI-generated artifacts in the repository.</a:t>
            </a:r>
          </a:p>
          <a:p>
            <a:r>
              <a:t>:::</a:t>
            </a:r>
          </a:p>
          <a:p/>
          <a:p>
            <a:r>
              <a:t>---</a:t>
            </a:r>
          </a:p>
          <a:p/>
          <a:p/>
          <a:p>
            <a:r>
              <a:t>Every AI-assisted artifact must include:</a:t>
            </a:r>
          </a:p>
          <a:p>
            <a:pPr/>
            <a:r>
              <a:t>ai_generated: true</a:t>
            </a:r>
          </a:p>
          <a:p>
            <a:pPr/>
            <a:r>
              <a:t>model: provider/model@version</a:t>
            </a:r>
          </a:p>
          <a:p>
            <a:pPr/>
            <a:r>
              <a:t>operator: username</a:t>
            </a:r>
          </a:p>
          <a:p>
            <a:pPr/>
            <a:r>
              <a:t>chat_id: unique chat identifier</a:t>
            </a:r>
          </a:p>
          <a:p>
            <a:pPr/>
            <a:r>
              <a:t>prompt: exact prompt text</a:t>
            </a:r>
          </a:p>
          <a:p>
            <a:pPr/>
            <a:r>
              <a:t>started/ended: timestamps</a:t>
            </a:r>
          </a:p>
          <a:p>
            <a:pPr/>
            <a:r>
              <a:t>task_durations &amp; total_duration</a:t>
            </a:r>
          </a:p>
          <a:p>
            <a:pPr/>
            <a:r>
              <a:t>ai_log: path to conversation log</a:t>
            </a:r>
          </a:p>
          <a:p>
            <a:pPr/>
            <a:r>
              <a:t>source: who/what created the file</a:t>
            </a:r>
          </a:p>
          <a:p/>
          <a:p>
            <a:r>
              <a:t>::: notes</a:t>
            </a:r>
          </a:p>
          <a:p>
            <a:r>
              <a:t>This slide lists the mandatory metadata fields that must be embedded in every AI-generated file.</a:t>
            </a:r>
          </a:p>
          <a:p/>
          <a:p>
            <a:r>
              <a:t>These fields ensure each artifact can be traced back to its origin, model, and operator.</a:t>
            </a:r>
          </a:p>
          <a:p>
            <a:r>
              <a:t>:::</a:t>
            </a:r>
          </a:p>
          <a:p/>
          <a:p>
            <a:r>
              <a:t>---</a:t>
            </a:r>
          </a:p>
          <a:p/>
          <a:p/>
          <a:p>
            <a:r>
              <a:t>Use YAML front matter for Markdown and similar formats</a:t>
            </a:r>
          </a:p>
          <a:p>
            <a:r>
              <a:t>For binaries/images, use a sidecar &lt;artifact&gt;.meta.md</a:t>
            </a:r>
          </a:p>
          <a:p>
            <a:r>
              <a:t>Never use sidecars for Markdown</a:t>
            </a:r>
          </a:p>
          <a:p/>
          <a:p>
            <a:r>
              <a:t>::: notes</a:t>
            </a:r>
          </a:p>
          <a:p>
            <a:r>
              <a:t>This slide explains where and how to place provenance metadata.</a:t>
            </a:r>
          </a:p>
          <a:p/>
          <a:p>
            <a:r>
              <a:t>Markdown files must use embedded YAML front matter; only non-embeddable formats use sidecar files.</a:t>
            </a:r>
          </a:p>
          <a:p/>
          <a:p>
            <a:r>
              <a:t>Note: Instructions files have limited support for metadata and must use sidecar files</a:t>
            </a:r>
          </a:p>
          <a:p>
            <a:r>
              <a:t>:::</a:t>
            </a:r>
          </a:p>
          <a:p/>
          <a:p>
            <a:r>
              <a:t>---</a:t>
            </a:r>
          </a:p>
          <a:p/>
          <a:p/>
          <a:p>
            <a:r>
              <a:t>Each chat creates a unique log folder: ai-logs/yyyy/mm/dd/&lt;chat-id&gt;/</a:t>
            </a:r>
          </a:p>
          <a:p>
            <a:r>
              <a:t>Required files:</a:t>
            </a:r>
          </a:p>
          <a:p>
            <a:pPr/>
            <a:r>
              <a:t>conversation.md (full transcript)</a:t>
            </a:r>
          </a:p>
          <a:p>
            <a:pPr/>
            <a:r>
              <a:t>summary.md (objectives, decisions, outcomes)</a:t>
            </a:r>
          </a:p>
          <a:p>
            <a:pPr/>
            <a:r>
              <a:t>artifacts/ (optional)</a:t>
            </a:r>
          </a:p>
          <a:p>
            <a:r>
              <a:t>Never reuse chat logs between sessions</a:t>
            </a:r>
          </a:p>
          <a:p/>
          <a:p>
            <a:r>
              <a:t>::: notes</a:t>
            </a:r>
          </a:p>
          <a:p>
            <a:r>
              <a:t>This slide describes the logging structure for AI chats.</a:t>
            </a:r>
          </a:p>
          <a:p/>
          <a:p>
            <a:r>
              <a:t>Each session gets its own folder, transcript, and summary, ensuring clear separation and traceability.</a:t>
            </a:r>
          </a:p>
          <a:p>
            <a:r>
              <a:t>:::</a:t>
            </a:r>
          </a:p>
          <a:p/>
          <a:p>
            <a:r>
              <a:t>---</a:t>
            </a:r>
          </a:p>
          <a:p/>
          <a:p/>
          <a:p>
            <a:r>
              <a:t>Metadata complete and correct</a:t>
            </a:r>
          </a:p>
          <a:p>
            <a:r>
              <a:t>Conversation and summary logs exist</a:t>
            </a:r>
          </a:p>
          <a:p>
            <a:r>
              <a:t>README.md updated for notable artifacts</a:t>
            </a:r>
          </a:p>
          <a:p>
            <a:r>
              <a:t>No sensitive data in outputs</a:t>
            </a:r>
          </a:p>
          <a:p>
            <a:r>
              <a:t>All AI-generated content traces to a chat log</a:t>
            </a:r>
          </a:p>
          <a:p/>
          <a:p>
            <a:r>
              <a:t>::: notes</a:t>
            </a:r>
          </a:p>
          <a:p>
            <a:r>
              <a:t>This slide summarizes the quality gates and PR requirements.</a:t>
            </a:r>
          </a:p>
          <a:p/>
          <a:p>
            <a:r>
              <a:t>Artifacts must be fully documented, logs must exist, and sensitive data must be avoided.</a:t>
            </a:r>
          </a:p>
          <a:p>
            <a:r>
              <a:t>:::</a:t>
            </a:r>
          </a:p>
          <a:p/>
          <a:p>
            <a:r>
              <a:t>---</a:t>
            </a:r>
          </a:p>
          <a:p/>
          <a:p/>
          <a:p>
            <a:r>
              <a:t>Copilot must auto-manage chat IDs and logs</a:t>
            </a:r>
          </a:p>
          <a:p>
            <a:r>
              <a:t>Metadata injected automatically</a:t>
            </a:r>
          </a:p>
          <a:p>
            <a:r>
              <a:t>Block artifact creation if chat context is missing</a:t>
            </a:r>
          </a:p>
          <a:p>
            <a:r>
              <a:t>Enforce provenance before file creation</a:t>
            </a:r>
          </a:p>
          <a:p/>
          <a:p>
            <a:r>
              <a:t>::: notes</a:t>
            </a:r>
          </a:p>
          <a:p>
            <a:r>
              <a:t>This slide highlights the requirements for GitHub Copilot integration.</a:t>
            </a:r>
          </a:p>
          <a:p/>
          <a:p>
            <a:r>
              <a:t>Copilot should automate chat management, metadata injection, and enforce compliance before generating files.</a:t>
            </a:r>
          </a:p>
          <a:p>
            <a:r>
              <a:t>:::</a:t>
            </a:r>
          </a:p>
          <a:p/>
          <a:p>
            <a:r>
              <a:t>---</a:t>
            </a:r>
          </a:p>
          <a:p/>
          <a:p/>
          <a:p>
            <a:r>
              <a:t>PRs blocked if provenance is incomplete</a:t>
            </a:r>
          </a:p>
          <a:p>
            <a:r>
              <a:t>Missing logs or metadata must be added before merge</a:t>
            </a:r>
          </a:p>
          <a:p>
            <a:r>
              <a:t>Orphaned artifacts require reconstruction of logs and metadata</a:t>
            </a:r>
          </a:p>
          <a:p/>
          <a:p>
            <a:r>
              <a:t>::: notes</a:t>
            </a:r>
          </a:p>
          <a:p>
            <a:r>
              <a:t>This slide explains enforcement:</a:t>
            </a:r>
          </a:p>
          <a:p/>
          <a:p>
            <a:r>
              <a:t>PRs are blocked if requirements are not met.</a:t>
            </a:r>
          </a:p>
          <a:p/>
          <a:p>
            <a:r>
              <a:t>Any missing provenance must be remediated before merging.</a:t>
            </a:r>
          </a:p>
          <a:p>
            <a:r>
              <a:t>:::</a:t>
            </a:r>
          </a:p>
          <a:p/>
          <a:p>
            <a:r>
              <a:t>---</a:t>
            </a:r>
          </a:p>
          <a:p/>
          <a:p/>
          <a:p>
            <a:r>
              <a:t>Enables auditability and trust in AI outputs</a:t>
            </a:r>
          </a:p>
          <a:p>
            <a:r>
              <a:t>Protects against orphaned or unverifiable artifacts</a:t>
            </a:r>
          </a:p>
          <a:p>
            <a:r>
              <a:t>Supports team collaboration and compliance</a:t>
            </a:r>
          </a:p>
          <a:p/>
          <a:p>
            <a:r>
              <a:t>::: notes</a:t>
            </a:r>
          </a:p>
          <a:p>
            <a:r>
              <a:t>This slide reinforces the value of these instructions: they ensure every AI-assisted artifact is trustworthy, auditable, and compliant with team and industry standards.</a:t>
            </a:r>
          </a:p>
          <a:p>
            <a:r>
              <a:t>:::</a:t>
            </a:r>
          </a:p>
          <a:p/>
          <a:p>
            <a:r>
              <a:t>---</a:t>
            </a:r>
          </a:p>
          <a:p/>
          <a:p/>
          <a:p>
            <a:r>
              <a:t>chatmode-file.instructions.md</a:t>
            </a:r>
          </a:p>
          <a:p>
            <a:pPr/>
            <a:r>
              <a:t>Defines the structure and contents of agents</a:t>
            </a:r>
          </a:p>
          <a:p>
            <a:r>
              <a:t>instruction-files.instructions.md</a:t>
            </a:r>
          </a:p>
          <a:p>
            <a:pPr/>
            <a:r>
              <a:t>Defines the structure and contents of instruction files</a:t>
            </a:r>
          </a:p>
          <a:p>
            <a:r>
              <a:t>prompt-file.instructions.md</a:t>
            </a:r>
          </a:p>
          <a:p>
            <a:pPr/>
            <a:r>
              <a:t>Defines the structure and contents of prompts</a:t>
            </a:r>
          </a:p>
          <a:p>
            <a:r>
              <a:t>instruction-prompt-files.instructions.md</a:t>
            </a:r>
          </a:p>
          <a:p>
            <a:pPr/>
            <a:r>
              <a:t>Defines the structure and contents of prompts the create instruction files</a:t>
            </a:r>
          </a:p>
          <a:p/>
          <a:p>
            <a:r>
              <a:t>---</a:t>
            </a:r>
          </a:p>
          <a:p/>
          <a:p/>
          <a:p>
            <a:r>
              <a:t>Duration</a:t>
            </a:r>
          </a:p>
          <a:p>
            <a:r>
              <a:t>10 minutes</a:t>
            </a:r>
          </a:p>
          <a:p>
            <a:r>
              <a:t>Objectives</a:t>
            </a:r>
          </a:p>
          <a:p>
            <a:r>
              <a:t>Understand prompt structure</a:t>
            </a:r>
          </a:p>
          <a:p>
            <a:r>
              <a:t>Practice defining task intent</a:t>
            </a:r>
          </a:p>
          <a:p>
            <a:r>
              <a:t>Apply constraints and success criteria</a:t>
            </a:r>
          </a:p>
          <a:p>
            <a:r>
              <a:t>Activities</a:t>
            </a:r>
          </a:p>
          <a:p>
            <a:r>
              <a:t>Prompt Copilot to create a prompt file that creates an instruction file for evergreen software development</a:t>
            </a:r>
          </a:p>
          <a:p>
            <a:r>
              <a:t>Review the prompt</a:t>
            </a:r>
          </a:p>
          <a:p>
            <a:r>
              <a:t>Success Criteria</a:t>
            </a:r>
          </a:p>
          <a:p>
            <a:r>
              <a:t>Prompt is clear, scoped, and reusable</a:t>
            </a:r>
          </a:p>
          <a:p>
            <a:r>
              <a:t>Includes constraints and success criteria</a:t>
            </a:r>
          </a:p>
          <a:p>
            <a:r>
              <a:t>Avoids unnecessary context</a:t>
            </a:r>
          </a:p>
          <a:p/>
          <a:p>
            <a:r>
              <a:t>::: notes</a:t>
            </a:r>
          </a:p>
          <a:p>
            <a:r>
              <a:t>This exercise builds foundational prompt‑writing skills. Encourage participants to choose a real task to make the exercise concrete.</a:t>
            </a:r>
          </a:p>
          <a:p/>
          <a:p>
            <a:r>
              <a:t>Prompt: Create a prompt file that creates an instruction file for evergreen software development</a:t>
            </a:r>
          </a:p>
          <a:p>
            <a:r>
              <a:t>:::</a:t>
            </a:r>
          </a:p>
          <a:p/>
          <a:p>
            <a:r>
              <a:t>---</a:t>
            </a:r>
          </a:p>
          <a:p/>
          <a:p/>
          <a:p>
            <a:r>
              <a:t>Duration</a:t>
            </a:r>
          </a:p>
          <a:p>
            <a:r>
              <a:t>15 minutes</a:t>
            </a:r>
          </a:p>
          <a:p>
            <a:r>
              <a:t>Objectives</a:t>
            </a:r>
          </a:p>
          <a:p>
            <a:r>
              <a:t>Capture evergreen principles</a:t>
            </a:r>
          </a:p>
          <a:p>
            <a:r>
              <a:t>Define architectural boundaries</a:t>
            </a:r>
          </a:p>
          <a:p>
            <a:r>
              <a:t>Specify modernization rules</a:t>
            </a:r>
          </a:p>
          <a:p>
            <a:r>
              <a:t>Activities</a:t>
            </a:r>
          </a:p>
          <a:p>
            <a:r>
              <a:t>Submit the Evergreen Instructions prompt</a:t>
            </a:r>
          </a:p>
          <a:p>
            <a:r>
              <a:t>Review the instructions</a:t>
            </a:r>
          </a:p>
          <a:p>
            <a:r>
              <a:t>Success Criteria</a:t>
            </a:r>
          </a:p>
          <a:p>
            <a:r>
              <a:t>Instruction file is stable and reusable</a:t>
            </a:r>
          </a:p>
          <a:p>
            <a:r>
              <a:t>Reflects evergreen development values</a:t>
            </a:r>
          </a:p>
          <a:p>
            <a:r>
              <a:t>Provides clear guardrails</a:t>
            </a:r>
          </a:p>
          <a:p/>
          <a:p>
            <a:r>
              <a:t>::: notes</a:t>
            </a:r>
          </a:p>
          <a:p>
            <a:r>
              <a:t>This reinforces the evergreen mindset and produces a reusable artifact for future AI‑assisted work.</a:t>
            </a:r>
          </a:p>
          <a:p/>
          <a:p>
            <a:r>
              <a:t>Prompt: Submit the prompt #file:create-evergreen-software-instructions.prompt.md</a:t>
            </a:r>
          </a:p>
          <a:p>
            <a:r>
              <a:t>:::</a:t>
            </a:r>
          </a:p>
          <a:p/>
          <a:p>
            <a:r>
              <a:t>---</a:t>
            </a:r>
          </a:p>
          <a:p/>
          <a:p/>
          <a:p>
            <a:r>
              <a:t>Duration</a:t>
            </a:r>
          </a:p>
          <a:p>
            <a:r>
              <a:t>10 minutes</a:t>
            </a:r>
          </a:p>
          <a:p>
            <a:r>
              <a:t>Objectives</a:t>
            </a:r>
          </a:p>
          <a:p>
            <a:r>
              <a:t>Define a persona optimized for brownfield work</a:t>
            </a:r>
          </a:p>
          <a:p>
            <a:r>
              <a:t>Emphasize safety and incrementalism</a:t>
            </a:r>
          </a:p>
          <a:p>
            <a:r>
              <a:t>Encode risk‑aware behaviors</a:t>
            </a:r>
          </a:p>
          <a:p>
            <a:r>
              <a:t>Activities</a:t>
            </a:r>
          </a:p>
          <a:p>
            <a:r>
              <a:t>Draft a Agent that:</a:t>
            </a:r>
          </a:p>
          <a:p>
            <a:pPr/>
            <a:r>
              <a:t>Respects working systems</a:t>
            </a:r>
          </a:p>
          <a:p>
            <a:pPr/>
            <a:r>
              <a:t>Avoids risky rewrites</a:t>
            </a:r>
          </a:p>
          <a:p>
            <a:pPr/>
            <a:r>
              <a:t>Surfaces context gaps</a:t>
            </a:r>
          </a:p>
          <a:p>
            <a:pPr/>
            <a:r>
              <a:t>Encourages incremental changes</a:t>
            </a:r>
          </a:p>
          <a:p>
            <a:r>
              <a:t>Add tone and behavioral guidelines</a:t>
            </a:r>
          </a:p>
          <a:p>
            <a:r>
              <a:t>Add provenance metadata</a:t>
            </a:r>
          </a:p>
          <a:p>
            <a:r>
              <a:t>Success Criteria</a:t>
            </a:r>
          </a:p>
          <a:p>
            <a:r>
              <a:t>Agent behaves like a cautious senior engineer</a:t>
            </a:r>
          </a:p>
          <a:p>
            <a:r>
              <a:t>Encourages safe modernization</a:t>
            </a:r>
          </a:p>
          <a:p>
            <a:r>
              <a:t>Includes clear behavioral rules</a:t>
            </a:r>
          </a:p>
          <a:p/>
          <a:p>
            <a:r>
              <a:t>::: notes</a:t>
            </a:r>
          </a:p>
          <a:p>
            <a:r>
              <a:t>This helps participants shape AI behavior to match brownfield realities.</a:t>
            </a:r>
          </a:p>
          <a:p>
            <a:r>
              <a:t>:::</a:t>
            </a:r>
          </a:p>
          <a:p/>
          <a:p>
            <a:r>
              <a:t>---</a:t>
            </a:r>
          </a:p>
          <a:p/>
          <a:p/>
          <a:p>
            <a:r>
              <a:t>Duration</a:t>
            </a:r>
          </a:p>
          <a:p>
            <a:r>
              <a:t>20 minutes</a:t>
            </a:r>
          </a:p>
          <a:p>
            <a:r>
              <a:t>Objectives</a:t>
            </a:r>
          </a:p>
          <a:p>
            <a:r>
              <a:t>Use meta prompts to scale instruction‑file creation</a:t>
            </a:r>
          </a:p>
          <a:p>
            <a:r>
              <a:t>Capture module‑specific rules</a:t>
            </a:r>
          </a:p>
          <a:p>
            <a:r>
              <a:t>Encode domain and architectural constraints</a:t>
            </a:r>
          </a:p>
          <a:p>
            <a:r>
              <a:t>Activities</a:t>
            </a:r>
          </a:p>
          <a:p>
            <a:r>
              <a:t>Prompt Copilot to create instruction files for the standards and conventions of the tech stack</a:t>
            </a:r>
          </a:p>
          <a:p>
            <a:r>
              <a:t>Review instructions</a:t>
            </a:r>
          </a:p>
          <a:p>
            <a:r>
              <a:t>Success Criteria</a:t>
            </a:r>
          </a:p>
          <a:p>
            <a:r>
              <a:t>Instruction files reflect real system constraints</a:t>
            </a:r>
          </a:p>
          <a:p>
            <a:r>
              <a:t>Meta prompts produce consistent structure</a:t>
            </a:r>
          </a:p>
          <a:p>
            <a:r>
              <a:t>Files are ready for team use</a:t>
            </a:r>
          </a:p>
          <a:p/>
          <a:p>
            <a:r>
              <a:t>::: notes</a:t>
            </a:r>
          </a:p>
          <a:p>
            <a:r>
              <a:t>Participants experience the leverage of meta prompts and see how AI can accelerate documentation.</a:t>
            </a:r>
          </a:p>
          <a:p/>
          <a:p>
            <a:r>
              <a:t>Prompts:</a:t>
            </a:r>
          </a:p>
          <a:p/>
          <a:p>
            <a:r>
              <a:t>Create instruction files for the backend technologies</a:t>
            </a:r>
          </a:p>
          <a:p/>
          <a:p>
            <a:r>
              <a:t>Create instruction files for the front-end technologies</a:t>
            </a:r>
          </a:p>
          <a:p/>
          <a:p>
            <a:r>
              <a:t>Create instruction files for the front-end technologies</a:t>
            </a:r>
          </a:p>
          <a:p>
            <a:r>
              <a:t>:::</a:t>
            </a:r>
          </a:p>
          <a:p/>
          <a:p>
            <a:r>
              <a:t>---</a:t>
            </a:r>
          </a:p>
          <a:p/>
          <a:p/>
          <a:p>
            <a:r>
              <a:t>Duration</a:t>
            </a:r>
          </a:p>
          <a:p>
            <a:r>
              <a:t>10 minutes</a:t>
            </a:r>
          </a:p>
          <a:p>
            <a:r>
              <a:t>Objectives</a:t>
            </a:r>
          </a:p>
          <a:p>
            <a:r>
              <a:t>Identify missing context</a:t>
            </a:r>
          </a:p>
          <a:p>
            <a:r>
              <a:t>Detect token overflow risks</a:t>
            </a:r>
          </a:p>
          <a:p>
            <a:r>
              <a:t>Improve prompt scoping</a:t>
            </a:r>
          </a:p>
          <a:p>
            <a:r>
              <a:t>Activities</a:t>
            </a:r>
          </a:p>
          <a:p>
            <a:r>
              <a:t>Copy the check-context.prompt.md file from the AIASD repository</a:t>
            </a:r>
          </a:p>
          <a:p>
            <a:r>
              <a:t>Review the prompt</a:t>
            </a:r>
          </a:p>
          <a:p>
            <a:r>
              <a:t>Submit the prompt</a:t>
            </a:r>
          </a:p>
          <a:p>
            <a:r>
              <a:t>Review the output</a:t>
            </a:r>
          </a:p>
          <a:p>
            <a:r>
              <a:t>Success Criteria</a:t>
            </a:r>
          </a:p>
          <a:p>
            <a:r>
              <a:t>Correctly identified context gaps</a:t>
            </a:r>
          </a:p>
          <a:p/>
          <a:p>
            <a:r>
              <a:t>::: notes</a:t>
            </a:r>
          </a:p>
          <a:p>
            <a:r>
              <a:t>This exercise builds intuition for context management—one of the most important AI‑era engineering skills.</a:t>
            </a:r>
          </a:p>
          <a:p>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Instruction Files</a:t>
            </a:r>
          </a:p>
        </p:txBody>
      </p:sp>
      <p:sp>
        <p:nvSpPr>
          <p:cNvPr id="3" name="Content Placeholder 2"/>
          <p:cNvSpPr>
            <a:spLocks noGrp="1"/>
          </p:cNvSpPr>
          <p:nvPr>
            <p:ph idx="1"/>
          </p:nvPr>
        </p:nvSpPr>
        <p:spPr/>
        <p:txBody>
          <a:bodyPr/>
          <a:lstStyle/>
          <a:p/>
          <a:p>
            <a:r>
              <a:t>---</a:t>
            </a:r>
          </a:p>
          <a:p/>
          <a:p/>
          <a:p>
            <a:r>
              <a:t>---</a:t>
            </a:r>
          </a:p>
          <a:p/>
          <a:p/>
          <a:p>
            <a:r>
              <a:t>Definition</a:t>
            </a:r>
          </a:p>
          <a:p>
            <a:r>
              <a:t>Persistent configuration files that define AI behavior patterns</a:t>
            </a:r>
          </a:p>
          <a:p>
            <a:r>
              <a:t>Applied automatically across multiple interactions</a:t>
            </a:r>
          </a:p>
          <a:p>
            <a:r>
              <a:t>Establish consistent working standards and constraints</a:t>
            </a:r>
          </a:p>
          <a:p>
            <a:r>
              <a:t>Key Characteristics</a:t>
            </a:r>
          </a:p>
          <a:p>
            <a:r>
              <a:t>Scope: Repository-wide or context-specific</a:t>
            </a:r>
          </a:p>
          <a:p>
            <a:r>
              <a:t>Persistence: Active across all relevant AI interactions</a:t>
            </a:r>
          </a:p>
          <a:p>
            <a:r>
              <a:t>Purpose: Define “how” AI should work, not “what” to do</a:t>
            </a:r>
          </a:p>
          <a:p/>
          <a:p>
            <a:r>
              <a:t>---</a:t>
            </a:r>
          </a:p>
          <a:p/>
          <a:p/>
          <a:p>
            <a:r>
              <a:t>```markdown</a:t>
            </a:r>
          </a:p>
          <a:p>
            <a:r>
              <a:t>---</a:t>
            </a:r>
          </a:p>
          <a:p>
            <a:r>
              <a:t>description: Azure best practices for AI development</a:t>
            </a:r>
          </a:p>
          <a:p>
            <a:r>
              <a:t>applyTo: "**" # File pattern scope</a:t>
            </a:r>
          </a:p>
          <a:p>
            <a:r>
              <a:t>---</a:t>
            </a:r>
          </a:p>
          <a:p/>
          <a:p>
            <a:r>
              <a:t># Core Instructions</a:t>
            </a:r>
          </a:p>
          <a:p/>
          <a:p>
            <a:pPr/>
            <a:r>
              <a:t>Use Azure Tools when handling Azure requests</a:t>
            </a:r>
          </a:p>
          <a:p>
            <a:pPr/>
            <a:r>
              <a:t>Follow security best practices</a:t>
            </a:r>
          </a:p>
          <a:p>
            <a:pPr/>
            <a:r>
              <a:t>Implement proper error handling</a:t>
            </a:r>
          </a:p>
          <a:p>
            <a:pPr/>
            <a:r>
              <a:t>Generate comprehensive documentation</a:t>
            </a:r>
          </a:p>
          <a:p/>
          <a:p>
            <a:r>
              <a:t># Code Generation Rules</a:t>
            </a:r>
          </a:p>
          <a:p/>
          <a:p>
            <a:pPr/>
            <a:r>
              <a:t>Write tests before implementation</a:t>
            </a:r>
          </a:p>
          <a:p>
            <a:pPr/>
            <a:r>
              <a:t>Use dependency injection patterns</a:t>
            </a:r>
          </a:p>
          <a:p>
            <a:pPr/>
            <a:r>
              <a:t>Follow naming conventions</a:t>
            </a:r>
          </a:p>
          <a:p>
            <a:pPr/>
            <a:r>
              <a:t>Include proper logging</a:t>
            </a:r>
          </a:p>
          <a:p>
            <a:r>
              <a:t>```</a:t>
            </a:r>
          </a:p>
          <a:p/>
          <a:p>
            <a:r>
              <a:t>---</a:t>
            </a:r>
          </a:p>
          <a:p/>
          <a:p/>
          <a:p>
            <a:r>
              <a:t>Perfect For:</a:t>
            </a:r>
          </a:p>
          <a:p>
            <a:r>
              <a:t>Coding Standards → Consistent style across projects</a:t>
            </a:r>
          </a:p>
          <a:p>
            <a:r>
              <a:t>Security Policies → Enforce security practices</a:t>
            </a:r>
          </a:p>
          <a:p>
            <a:r>
              <a:t>Quality Gates → Define testing and review requirements</a:t>
            </a:r>
          </a:p>
          <a:p>
            <a:r>
              <a:t>Technology Constraints → Specify approved frameworks/tools</a:t>
            </a:r>
          </a:p>
          <a:p>
            <a:r>
              <a:t>Examples:</a:t>
            </a:r>
          </a:p>
          <a:p>
            <a:r>
              <a:t>azure-development.instructions.md</a:t>
            </a:r>
          </a:p>
          <a:p>
            <a:r>
              <a:t>testing-standards.instructions.md</a:t>
            </a:r>
          </a:p>
          <a:p>
            <a:r>
              <a:t>security-requirements.instructions.md</a:t>
            </a:r>
          </a:p>
          <a:p/>
          <a:p>
            <a:r>
              <a:t>---</a:t>
            </a:r>
          </a:p>
          <a:p/>
          <a:p/>
          <a:p>
            <a:r>
              <a:t>✅ Do This:</a:t>
            </a:r>
          </a:p>
          <a:p>
            <a:r>
              <a:t>Keep instructions clear and actionable</a:t>
            </a:r>
          </a:p>
          <a:p>
            <a:r>
              <a:t>Use file patterns (applyTo: '**') for broad scope</a:t>
            </a:r>
          </a:p>
          <a:p>
            <a:r>
              <a:t>Version control and document changes</a:t>
            </a:r>
          </a:p>
          <a:p>
            <a:r>
              <a:t>Test instruction effectiveness regularly</a:t>
            </a:r>
          </a:p>
          <a:p>
            <a:r>
              <a:t>❌ Avoid This:</a:t>
            </a:r>
          </a:p>
          <a:p>
            <a:r>
              <a:t>Overly complex or contradictory rules</a:t>
            </a:r>
          </a:p>
          <a:p>
            <a:r>
              <a:t>Too many instructions (cognitive overload)</a:t>
            </a:r>
          </a:p>
          <a:p>
            <a:r>
              <a:t>Instructions that conflict with prompt files</a:t>
            </a:r>
          </a:p>
          <a:p>
            <a:r>
              <a:t>Hardcoded values instead of parameters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Instruction File `applyTo` Patterns</a:t>
            </a:r>
          </a:p>
        </p:txBody>
      </p:sp>
      <p:sp>
        <p:nvSpPr>
          <p:cNvPr id="3" name="Content Placeholder 2"/>
          <p:cNvSpPr>
            <a:spLocks noGrp="1"/>
          </p:cNvSpPr>
          <p:nvPr>
            <p:ph idx="1"/>
          </p:nvPr>
        </p:nvSpPr>
        <p:spPr/>
        <p:txBody>
          <a:bodyPr/>
          <a:lstStyle/>
          <a:p/>
          <a:p>
            <a:r>
              <a:t>**Understanding Glob Pattern Matching**</a:t>
            </a:r>
          </a:p>
          <a:p/>
          <a:p>
            <a:r>
              <a:t>Controlling When Instructions Apply to Your Code</a:t>
            </a:r>
          </a:p>
          <a:p/>
          <a:p>
            <a:r>
              <a:t>::: notes</a:t>
            </a:r>
          </a:p>
          <a:p>
            <a: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p>
            <a:r>
              <a:t>**Timing**: 30 seconds for title slide</a:t>
            </a:r>
          </a:p>
          <a:p>
            <a:r>
              <a:t>**Key Point**: This is about precision - getting Copilot to apply the right rules to the right files</a:t>
            </a:r>
          </a:p>
          <a:p>
            <a:r>
              <a:t>**Transition**: "Let's start by understanding what the applyTo field actually does"</a:t>
            </a:r>
          </a:p>
          <a:p>
            <a:r>
              <a:t>:::</a:t>
            </a:r>
          </a:p>
          <a:p/>
          <a:p>
            <a:r>
              <a:t>------------------------------------------------------------------------</a:t>
            </a:r>
          </a:p>
          <a:p/>
          <a:p/>
          <a:p>
            <a:r>
              <a:t>The filtering mechanism for instruction files</a:t>
            </a:r>
          </a:p>
          <a:p/>
          <a:p>
            <a:r>
              <a:t>`appliesTo` is a **selector** that determines *when* an instruction file</a:t>
            </a:r>
          </a:p>
          <a:p>
            <a:r>
              <a:t>is included in the stack.</a:t>
            </a:r>
          </a:p>
          <a:p/>
          <a:p>
            <a:r>
              <a:t>Common selectors include:</a:t>
            </a:r>
          </a:p>
          <a:p/>
          <a:p>
            <a:pPr/>
            <a:r>
              <a:t>  **repositories** -- include only for specific repos</a:t>
            </a:r>
          </a:p>
          <a:p>
            <a:pPr/>
            <a:r>
              <a:t>  **languages** -- include only for certain languages</a:t>
            </a:r>
          </a:p>
          <a:p>
            <a:pPr/>
            <a:r>
              <a:t>  **filePatterns** -- include only when editing certain files</a:t>
            </a:r>
          </a:p>
          <a:p>
            <a:pPr/>
            <a:r>
              <a:t>  **tools** -- include only when using specific Copilot features</a:t>
            </a:r>
          </a:p>
          <a:p>
            <a:pPr/>
            <a:r>
              <a:t>  **scopes** -- include only in chat, only in editor, etc.</a:t>
            </a:r>
          </a:p>
          <a:p/>
          <a:p>
            <a:r>
              <a:t>**Speaker Notes:** `appliesTo` is not a guardrail itself. It's a routing</a:t>
            </a:r>
          </a:p>
          <a:p>
            <a:r>
              <a:t>rule. It prevents irrelevant instructions from polluting the stack and</a:t>
            </a:r>
          </a:p>
          <a:p>
            <a:r>
              <a:t>keeps the assistant focused.</a:t>
            </a:r>
          </a:p>
          <a:p/>
          <a:p>
            <a:r>
              <a:t>------------------------------------------------------------------------</a:t>
            </a:r>
          </a:p>
          <a:p/>
          <a:p/>
          <a:p>
            <a:r>
              <a:t>Filtering happens *before* merging</a:t>
            </a:r>
          </a:p>
          <a:p/>
          <a:p>
            <a:r>
              <a:t>1.  Copilot discovers all instruction files in scope</a:t>
            </a:r>
          </a:p>
          <a:p>
            <a:r>
              <a:t>2.  Copilot filters them using `appliesTo`</a:t>
            </a:r>
          </a:p>
          <a:p>
            <a:r>
              <a:t>3.  Copilot merges the remaining files into the stack</a:t>
            </a:r>
          </a:p>
          <a:p/>
          <a:p>
            <a:r>
              <a:t>**Speaker Notes:** This means you can have many instruction files in</a:t>
            </a:r>
          </a:p>
          <a:p>
            <a:r>
              <a:t>`.github/instructions/`, but only the ones whose `appliesTo` match the</a:t>
            </a:r>
          </a:p>
          <a:p>
            <a:r>
              <a:t>current context will be included.</a:t>
            </a:r>
          </a:p>
          <a:p/>
          <a:p>
            <a:r>
              <a:t>---</a:t>
            </a:r>
          </a:p>
          <a:p/>
          <a:p/>
          <a:p>
            <a:r>
              <a:t>The `applyTo` field in instruction file front matter controls **which files** the instructions apply to.</a:t>
            </a:r>
          </a:p>
          <a:p/>
          <a:p>
            <a:r>
              <a:t>```yaml</a:t>
            </a:r>
          </a:p>
          <a:p>
            <a:r>
              <a:t>---</a:t>
            </a:r>
          </a:p>
          <a:p>
            <a:r>
              <a:t>applyTo: "**/*.md" # Applies to all Markdown files</a:t>
            </a:r>
          </a:p>
          <a:p>
            <a:r>
              <a:t>---</a:t>
            </a:r>
          </a:p>
          <a:p>
            <a:r>
              <a:t>```</a:t>
            </a:r>
          </a:p>
          <a:p/>
          <a:p>
            <a:r>
              <a:t>**Why It Matters:**</a:t>
            </a:r>
          </a:p>
          <a:p/>
          <a:p>
            <a:pPr/>
            <a:r>
              <a:t>✅ Apply architecture patterns only to code files</a:t>
            </a:r>
          </a:p>
          <a:p>
            <a:pPr/>
            <a:r>
              <a:t>✅ Apply documentation standards only to docs</a:t>
            </a:r>
          </a:p>
          <a:p>
            <a:pPr/>
            <a:r>
              <a:t>✅ Avoid conflicting instructions</a:t>
            </a:r>
          </a:p>
          <a:p>
            <a:pPr/>
            <a:r>
              <a:t>✅ Improve Copilot performance by reducing context</a:t>
            </a:r>
          </a:p>
          <a:p/>
          <a:p>
            <a:r>
              <a:t>::: notes</a:t>
            </a:r>
          </a:p>
          <a:p>
            <a:r>
              <a:t>The applyTo field is part of the YAML front matter in instruction files. It uses glob patterns to match file paths. When you open a file in VS Code, Copilot checks all instruction files and loads only those whose applyTo pattern matches the current file.</a:t>
            </a:r>
          </a:p>
          <a:p/>
          <a:p>
            <a:r>
              <a:t>**Why this matters**: Without proper applyTo patterns, you might have documentation standards trying to apply to code files, or architecture patterns trying to apply to configuration files. This creates confusion and can lead to poor AI suggestions.</a:t>
            </a:r>
          </a:p>
          <a:p/>
          <a:p>
            <a:r>
              <a:t>**Example to share**: "Imagine having CQRS architecture instructions applying to your README files - that would be nonsensical. The applyTo field prevents this."</a:t>
            </a:r>
          </a:p>
          <a:p/>
          <a:p>
            <a:r>
              <a:t>**Timing**: 1-1.5 minutes</a:t>
            </a:r>
          </a:p>
          <a:p>
            <a:r>
              <a:t>**Transition**: "Now let's look at the most common pattern types you'll use"</a:t>
            </a:r>
          </a:p>
          <a:p>
            <a:r>
              <a:t>:::</a:t>
            </a:r>
          </a:p>
          <a:p/>
          <a:p>
            <a:r>
              <a:t>---</a:t>
            </a:r>
          </a:p>
          <a:p/>
          <a:p/>
          <a:p>
            <a:r>
              <a:t>Apply instructions to **all files** in the repository:</a:t>
            </a:r>
          </a:p>
          <a:p/>
          <a:p>
            <a:r>
              <a:t>```yaml</a:t>
            </a:r>
          </a:p>
          <a:p>
            <a:r>
              <a:t>applyTo: "**"        # All files</a:t>
            </a:r>
          </a:p>
          <a:p>
            <a:r>
              <a:t>applyTo: "**/*"      # All files (explicit)</a:t>
            </a:r>
          </a:p>
          <a:p>
            <a:r>
              <a:t>```</a:t>
            </a:r>
          </a:p>
          <a:p/>
          <a:p>
            <a:r>
              <a:t>**Use Cases:**</a:t>
            </a:r>
          </a:p>
          <a:p/>
          <a:p>
            <a:pPr/>
            <a:r>
              <a:t>AI-assisted output policies</a:t>
            </a:r>
          </a:p>
          <a:p>
            <a:pPr/>
            <a:r>
              <a:t>General code quality standards</a:t>
            </a:r>
          </a:p>
          <a:p>
            <a:pPr/>
            <a:r>
              <a:t>Repository-wide conventions</a:t>
            </a:r>
          </a:p>
          <a:p>
            <a:pPr/>
            <a:r>
              <a:t>Copilot behavior guidelines</a:t>
            </a:r>
          </a:p>
          <a:p/>
          <a:p>
            <a:r>
              <a:t>**⚠️ Caution:** Use sparingly - can create conflicts with more specific instructions</a:t>
            </a:r>
          </a:p>
          <a:p/>
          <a:p>
            <a:r>
              <a:t>::: notes</a:t>
            </a:r>
          </a:p>
          <a:p>
            <a:r>
              <a:t>The double asterisk wildcard is the universal matcher. Use this for repository-wide policies that should apply everywhere - things like your AI-assisted output instructions, general quality standards, or compliance requirements.</a:t>
            </a:r>
          </a:p>
          <a:p/>
          <a:p>
            <a:r>
              <a:t>**Important warning**: Overusing universal patterns is a common mistake. Every universal instruction adds to the context Copilot needs to process for every file. If you have 10 instruction files all using "\*\*", Copilot has to load all 10 for every single file you open.</a:t>
            </a:r>
          </a:p>
          <a:p/>
          <a:p>
            <a:r>
              <a:t>**Best practice**: Reserve universal patterns for truly universal policies. Most instructions should be more specific.</a:t>
            </a:r>
          </a:p>
          <a:p/>
          <a:p>
            <a:r>
              <a:t>**Real example from the repo**: The ai-assisted-output.instructions.md uses "\*_/_" because AI provenance metadata requirements apply to all AI-generated content regardless of file type.</a:t>
            </a:r>
          </a:p>
          <a:p/>
          <a:p>
            <a:r>
              <a:t>**Timing**: 1.5 minutes</a:t>
            </a:r>
          </a:p>
          <a:p>
            <a:r>
              <a:t>**Ask audience**: "How many instruction files do you think should realistically use universal patterns? Usually no more than 2-3."</a:t>
            </a:r>
          </a:p>
          <a:p>
            <a:r>
              <a:t>:::</a:t>
            </a:r>
          </a:p>
          <a:p/>
          <a:p>
            <a:r>
              <a:t>---</a:t>
            </a:r>
          </a:p>
          <a:p/>
          <a:p/>
          <a:p>
            <a:r>
              <a:t>Target specific file types using extension patterns:</a:t>
            </a:r>
          </a:p>
          <a:p/>
          <a:p>
            <a:r>
              <a:t>```yaml</a:t>
            </a:r>
          </a:p>
          <a:p>
            <a:r>
              <a:t># Single extension</a:t>
            </a:r>
          </a:p>
          <a:p>
            <a:r>
              <a:t>applyTo: "**/*.md"</a:t>
            </a:r>
          </a:p>
          <a:p/>
          <a:p>
            <a:r>
              <a:t># Multiple extensions (brace expansion)</a:t>
            </a:r>
          </a:p>
          <a:p>
            <a:r>
              <a:t>applyTo: "**/*.{cs,ts,js}"</a:t>
            </a:r>
          </a:p>
          <a:p/>
          <a:p>
            <a:r>
              <a:t># Specific file naming pattern</a:t>
            </a:r>
          </a:p>
          <a:p>
            <a:r>
              <a:t>applyTo: "**/*.instructions.md"</a:t>
            </a:r>
          </a:p>
          <a:p>
            <a:r>
              <a:t>```</a:t>
            </a:r>
          </a:p>
          <a:p/>
          <a:p>
            <a:r>
              <a:t>**Most Common:**</a:t>
            </a:r>
          </a:p>
          <a:p/>
          <a:p>
            <a:pPr/>
            <a:r>
              <a:t>`**/*.md` - All Markdown files</a:t>
            </a:r>
          </a:p>
          <a:p>
            <a:pPr/>
            <a:r>
              <a:t>`**/*.{cs,ts,js,py}` - Multiple programming languages</a:t>
            </a:r>
          </a:p>
          <a:p>
            <a:pPr/>
            <a:r>
              <a:t>`**/*.test.js` - Test files</a:t>
            </a:r>
          </a:p>
          <a:p>
            <a:pPr/>
            <a:r>
              <a:t>`**/*.instructions.md` - Instruction files</a:t>
            </a:r>
          </a:p>
          <a:p/>
          <a:p>
            <a:r>
              <a:t>::: notes</a:t>
            </a:r>
          </a:p>
          <a:p>
            <a:r>
              <a:t>File extension matching is probably the most common pattern you'll use. The key syntax here is the brace expansion - that's the curly braces with comma-separated extensions.</a:t>
            </a:r>
          </a:p>
          <a:p/>
          <a:p>
            <a:r>
              <a:t>**Walking through the examples**:</a:t>
            </a:r>
          </a:p>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p>
            <a:r>
              <a:t>**Pro tip**: When you need to apply instructions to code files across multiple languages, use the brace expansion. In this repo, vertical slice architecture instructions use "\*_/_.{cs,ts,js,py,java,go,rb}" to cover all supported languages.</a:t>
            </a:r>
          </a:p>
          <a:p/>
          <a:p>
            <a:r>
              <a:t>**Common mistake**: Forgetting the **/ at the start means only files in the root directory match</a:t>
            </a:r>
          </a:p>
          <a:p>
            <a:r>
              <a:t>**Correct**: "**/_.md" matches all markdown files recursively</a:t>
            </a:r>
          </a:p>
          <a:p>
            <a:r>
              <a:t>**Incorrect**: "_.md" only matches markdown files in root directory</a:t>
            </a:r>
          </a:p>
          <a:p/>
          <a:p>
            <a:r>
              <a:t>**Timing**: 2 minutes</a:t>
            </a:r>
          </a:p>
          <a:p>
            <a:r>
              <a:t>**Demonstrate**: Show how the pattern breaks down visually</a:t>
            </a:r>
          </a:p>
          <a:p>
            <a:r>
              <a:t>:::</a:t>
            </a:r>
          </a:p>
          <a:p/>
          <a:p>
            <a:r>
              <a:t>---</a:t>
            </a:r>
          </a:p>
          <a:p/>
          <a:p/>
          <a:p>
            <a:r>
              <a:t>Limit instructions to specific directories:</a:t>
            </a:r>
          </a:p>
          <a:p/>
          <a:p>
            <a:r>
              <a:t>```yaml</a:t>
            </a:r>
          </a:p>
          <a:p>
            <a:r>
              <a:t># All files in a directory</a:t>
            </a:r>
          </a:p>
          <a:p>
            <a:r>
              <a:t>applyTo: "Slides/individual-slides/**"</a:t>
            </a:r>
          </a:p>
          <a:p/>
          <a:p>
            <a:r>
              <a:t># Specific file type in directory</a:t>
            </a:r>
          </a:p>
          <a:p>
            <a:r>
              <a:t>applyTo: "src/Features/**/*.cs"</a:t>
            </a:r>
          </a:p>
          <a:p/>
          <a:p>
            <a:r>
              <a:t># Multiple directory levels</a:t>
            </a:r>
          </a:p>
          <a:p>
            <a:r>
              <a:t>applyTo: ".github/instructions/**/*.md"</a:t>
            </a:r>
          </a:p>
          <a:p>
            <a:r>
              <a:t>```</a:t>
            </a:r>
          </a:p>
          <a:p/>
          <a:p>
            <a:r>
              <a:t>**Benefits:**</a:t>
            </a:r>
          </a:p>
          <a:p/>
          <a:p>
            <a:pPr/>
            <a:r>
              <a:t>Isolate concerns (slides vs code vs docs)</a:t>
            </a:r>
          </a:p>
          <a:p>
            <a:pPr/>
            <a:r>
              <a:t>Different rules for different project areas</a:t>
            </a:r>
          </a:p>
          <a:p>
            <a:pPr/>
            <a:r>
              <a:t>Clearer instruction purpose</a:t>
            </a:r>
          </a:p>
          <a:p/>
          <a:p>
            <a:r>
              <a:t>::: notes</a:t>
            </a:r>
          </a:p>
          <a:p>
            <a:r>
              <a:t>Directory-specific patterns are crucial for organizing large codebases. They let you say "these architecture rules only apply to source code" or "these formatting rules only apply to slides."</a:t>
            </a:r>
          </a:p>
          <a:p/>
          <a:p>
            <a:r>
              <a:t>**Breaking down the syntax**:</a:t>
            </a:r>
          </a:p>
          <a:p/>
          <a:p>
            <a:pPr/>
            <a:r>
              <a:t>"Slides/individual-slides/**" - Note there's no leading slash or asterisks. This matches the specific directory path, then /** means everything underneath it</a:t>
            </a:r>
          </a:p>
          <a:p>
            <a:pPr/>
            <a:r>
              <a:t>"src/Features/\*_/_.cs" - Combines directory path with file extension filter</a:t>
            </a:r>
          </a:p>
          <a:p>
            <a:pPr/>
            <a:r>
              <a:t>The pattern is always relative to the repository root</a:t>
            </a:r>
          </a:p>
          <a:p/>
          <a:p>
            <a:r>
              <a:t>**Real-world example from this repo**: The marp-slides.instructions.md uses "Slides/individual-slides/\*\*" because those formatting rules should only apply to presentation slides, not to other markdown files like README.md or documentation.</a:t>
            </a:r>
          </a:p>
          <a:p/>
          <a:p>
            <a:r>
              <a:t>**Another example**: You might have vertical-slice.instructions.md with "src/Features/\*_/_.cs" so those architectural patterns only apply to feature code, not to infrastructure or configuration code.</a:t>
            </a:r>
          </a:p>
          <a:p/>
          <a:p>
            <a:r>
              <a:t>**Timing**: 2 minutes</a:t>
            </a:r>
          </a:p>
          <a:p>
            <a:r>
              <a:t>**Visual aid**: If possible, show the repository structure and how the pattern matches</a:t>
            </a:r>
          </a:p>
          <a:p>
            <a:r>
              <a:t>**Transition**: "Let's dive deeper into the glob syntax itself"</a:t>
            </a:r>
          </a:p>
          <a:p>
            <a:r>
              <a:t>:::</a:t>
            </a:r>
          </a:p>
          <a:p/>
          <a:p>
            <a:r>
              <a:t>---</a:t>
            </a:r>
          </a:p>
          <a:p/>
          <a:p/>
          <a:p>
            <a:r>
              <a:t>Understanding the building blocks:</a:t>
            </a:r>
          </a:p>
          <a:p/>
          <a:p>
            <a:r>
              <a:t>| Pattern | Meaning                  | Example                     |</a:t>
            </a:r>
          </a:p>
          <a:p>
            <a:r>
              <a:t>| ------- | ------------------------ | --------------------------- |</a:t>
            </a:r>
          </a:p>
          <a:p>
            <a:r>
              <a:t>| `*`     | Any characters (not `/`) | `*.md` → `README.md`        |</a:t>
            </a:r>
          </a:p>
          <a:p>
            <a:r>
              <a:t>| `**`    | Zero or more directories | `**/*.md` → `docs/guide.md` |</a:t>
            </a:r>
          </a:p>
          <a:p>
            <a:r>
              <a:t>| `?`     | Single character         | `file?.md` → `file1.md`     |</a:t>
            </a:r>
          </a:p>
          <a:p>
            <a:r>
              <a:t>| `[abc]` | Character set            | `[abc].md` → `a.md`         |</a:t>
            </a:r>
          </a:p>
          <a:p>
            <a:r>
              <a:t>| `[a-z]` | Character range          | `[a-z].md` → `x.md`         |</a:t>
            </a:r>
          </a:p>
          <a:p>
            <a:r>
              <a:t>| `{a,b}` | Alternatives             | `*.{js,ts}` → `app.ts`      |</a:t>
            </a:r>
          </a:p>
          <a:p/>
          <a:p>
            <a:r>
              <a:t>::: notes</a:t>
            </a:r>
          </a:p>
          <a:p>
            <a:r>
              <a:t>This slide is your reference guide for glob pattern syntax. Let's walk through each one with careful attention to the distinctions:</a:t>
            </a:r>
          </a:p>
          <a:p/>
          <a:p>
            <a:r>
              <a:t>**Single asterisk (\*)**:</a:t>
            </a:r>
          </a:p>
          <a:p/>
          <a:p>
            <a:pPr/>
            <a:r>
              <a:t>Matches any characters EXCEPT forward slash</a:t>
            </a:r>
          </a:p>
          <a:p>
            <a:pPr/>
            <a:r>
              <a:t>"\*.md" matches "README.md" in the current directory</a:t>
            </a:r>
          </a:p>
          <a:p>
            <a:pPr/>
            <a:r>
              <a:t>Does NOT match "docs/README.md" - the slash breaks the match</a:t>
            </a:r>
          </a:p>
          <a:p>
            <a:pPr/>
            <a:r>
              <a:t>Think of it as "wildcard within one directory level"</a:t>
            </a:r>
          </a:p>
          <a:p/>
          <a:p>
            <a:r>
              <a:t>**Double asterisk (**)\*\*:</a:t>
            </a:r>
          </a:p>
          <a:p/>
          <a:p>
            <a:pPr/>
            <a:r>
              <a:t>This is the recursive directory matcher</a:t>
            </a:r>
          </a:p>
          <a:p>
            <a:pPr/>
            <a:r>
              <a:t>Can match zero or more directory levels</a:t>
            </a:r>
          </a:p>
          <a:p>
            <a:pPr/>
            <a:r>
              <a:t>"\*_/_.md" matches files at any depth</a:t>
            </a:r>
          </a:p>
          <a:p>
            <a:pPr/>
            <a:r>
              <a:t>Critical: It must be its own path segment - "**/" not "**/file.md"</a:t>
            </a:r>
          </a:p>
          <a:p/>
          <a:p>
            <a:r>
              <a:t>**Question mark (?)**:</a:t>
            </a:r>
          </a:p>
          <a:p/>
          <a:p>
            <a:pPr/>
            <a:r>
              <a:t>Exactly one character (useful for versioned files)</a:t>
            </a:r>
          </a:p>
          <a:p>
            <a:pPr/>
            <a:r>
              <a:t>"config?.json" matches "config1.json" and "configA.json"</a:t>
            </a:r>
          </a:p>
          <a:p>
            <a:pPr/>
            <a:r>
              <a:t>Does NOT match "config10.json" (that's two characters)</a:t>
            </a:r>
          </a:p>
          <a:p/>
          <a:p>
            <a:r>
              <a:t>**Brackets [abc] and [a-z]**:</a:t>
            </a:r>
          </a:p>
          <a:p/>
          <a:p>
            <a:pPr/>
            <a:r>
              <a:t>Character classes - match one character from the set</a:t>
            </a:r>
          </a:p>
          <a:p>
            <a:pPr/>
            <a:r>
              <a:t>Useful for version numbers or variant files</a:t>
            </a:r>
          </a:p>
          <a:p>
            <a:pPr/>
            <a:r>
              <a:t>"file[123].md" matches file1.md, file2.md, file3.md</a:t>
            </a:r>
          </a:p>
          <a:p/>
          <a:p>
            <a:r>
              <a:t>**Braces {a,b}**:</a:t>
            </a:r>
          </a:p>
          <a:p/>
          <a:p>
            <a:pPr/>
            <a:r>
              <a:t>This is alternation - match any of the alternatives</a:t>
            </a:r>
          </a:p>
          <a:p>
            <a:pPr/>
            <a:r>
              <a:t>Most commonly used for file extensions</a:t>
            </a:r>
          </a:p>
          <a:p>
            <a:pPr/>
            <a:r>
              <a:t>"\*.{js,ts,jsx,tsx}" matches all JavaScript/TypeScript files</a:t>
            </a:r>
          </a:p>
          <a:p>
            <a:pPr/>
            <a:r>
              <a:t>Each alternative can itself be a pattern</a:t>
            </a:r>
          </a:p>
          <a:p/>
          <a:p>
            <a:r>
              <a:t>**Timing**: 3 minutes - this is detailed, go slow</a:t>
            </a:r>
          </a:p>
          <a:p>
            <a:r>
              <a:t>**Demonstrate**: Show 2-3 concrete examples with actual files</a:t>
            </a:r>
          </a:p>
          <a:p>
            <a:r>
              <a:t>**Transition**: "Now let's see these patterns in action with real examples from this repository"</a:t>
            </a:r>
          </a:p>
          <a:p>
            <a:r>
              <a:t>:::</a:t>
            </a:r>
          </a:p>
          <a:p/>
          <a:p>
            <a:r>
              <a:t>---</a:t>
            </a:r>
          </a:p>
          <a:p/>
          <a:p/>
          <a:p>
            <a:r>
              <a:t>From this repository's instruction files:</a:t>
            </a:r>
          </a:p>
          <a:p/>
          <a:p>
            <a:r>
              <a:t>```yaml</a:t>
            </a:r>
          </a:p>
          <a:p>
            <a:r>
              <a:t># 1. AI Output Standards (Universal)</a:t>
            </a:r>
          </a:p>
          <a:p>
            <a:r>
              <a:t>applyTo: "**/*"</a:t>
            </a:r>
          </a:p>
          <a:p/>
          <a:p>
            <a:r>
              <a:t># 2. Vertical Slice Architecture (Code)</a:t>
            </a:r>
          </a:p>
          <a:p>
            <a:r>
              <a:t>applyTo: "**/*.{cs,ts,js,py,java,go,rb}"</a:t>
            </a:r>
          </a:p>
          <a:p/>
          <a:p>
            <a:r>
              <a:t># 3. Business Rules Documentation</a:t>
            </a:r>
          </a:p>
          <a:p>
            <a:r>
              <a:t>applyTo: "**/*.{md,txt}"</a:t>
            </a:r>
          </a:p>
          <a:p/>
          <a:p>
            <a:r>
              <a:t># 4. Marp Slide Formatting</a:t>
            </a:r>
          </a:p>
          <a:p>
            <a:r>
              <a:t>applyTo: "Slides/individual-slides/**"</a:t>
            </a:r>
          </a:p>
          <a:p/>
          <a:p>
            <a:r>
              <a:t># 5. Prompt File Authoring</a:t>
            </a:r>
          </a:p>
          <a:p>
            <a:r>
              <a:t>applyTo: "**/*.prompt.md"</a:t>
            </a:r>
          </a:p>
          <a:p>
            <a:r>
              <a:t>```</a:t>
            </a:r>
          </a:p>
          <a:p/>
          <a:p>
            <a:r>
              <a:t>::: notes</a:t>
            </a:r>
          </a:p>
          <a:p>
            <a:r>
              <a:t>These are actual examples from the AI-Assisted-Software-Development-Course repository. Let's analyze why each pattern was chosen:</a:t>
            </a:r>
          </a:p>
          <a:p/>
          <a:p>
            <a:r>
              <a:t>**Example 1 - AI Output Standards**:</a:t>
            </a:r>
          </a:p>
          <a:p/>
          <a:p>
            <a:pPr/>
            <a:r>
              <a:t>Uses "\*_/_" because AI provenance requirements apply to ALL artifacts</a:t>
            </a:r>
          </a:p>
          <a:p>
            <a:pPr/>
            <a:r>
              <a:t>This includes code, docs, config files, images (via sidecar metadata)</a:t>
            </a:r>
          </a:p>
          <a:p>
            <a:pPr/>
            <a:r>
              <a:t>Appropriate use of universal pattern because it's a universal policy</a:t>
            </a:r>
          </a:p>
          <a:p/>
          <a:p>
            <a:r>
              <a:t>**Example 2 - Vertical Slice Architecture**:</a:t>
            </a:r>
          </a:p>
          <a:p/>
          <a:p>
            <a:pPr/>
            <a:r>
              <a:t>Targets only programming language source files</a:t>
            </a:r>
          </a:p>
          <a:p>
            <a:pPr/>
            <a:r>
              <a:t>Notice it includes 7 different languages</a:t>
            </a:r>
          </a:p>
          <a:p>
            <a:pPr/>
            <a:r>
              <a:t>Does NOT apply to config files (JSON, YAML) or documentation</a:t>
            </a:r>
          </a:p>
          <a:p>
            <a:pPr/>
            <a:r>
              <a:t>This prevents architecture patterns from being suggested in README files</a:t>
            </a:r>
          </a:p>
          <a:p/>
          <a:p>
            <a:r>
              <a:t>**Example 3 - Business Rules Documentation**:</a:t>
            </a:r>
          </a:p>
          <a:p/>
          <a:p>
            <a:pPr/>
            <a:r>
              <a:t>Only Markdown and text files</a:t>
            </a:r>
          </a:p>
          <a:p>
            <a:pPr/>
            <a:r>
              <a:t>Instructions about translating business rules to documentation</a:t>
            </a:r>
          </a:p>
          <a:p>
            <a:pPr/>
            <a:r>
              <a:t>Deliberately excludes code files</a:t>
            </a:r>
          </a:p>
          <a:p/>
          <a:p>
            <a:r>
              <a:t>**Example 4 - Marp Slide Formatting**:</a:t>
            </a:r>
          </a:p>
          <a:p/>
          <a:p>
            <a:pPr/>
            <a:r>
              <a:t>Highly specific - only the slides directory</a:t>
            </a:r>
          </a:p>
          <a:p>
            <a:pPr/>
            <a:r>
              <a:t>Even though slides are .md files, they have different formatting rules than regular docs</a:t>
            </a:r>
          </a:p>
          <a:p>
            <a:pPr/>
            <a:r>
              <a:t>This specificity prevents slide formatting rules from applying to README.md</a:t>
            </a:r>
          </a:p>
          <a:p/>
          <a:p>
            <a:r>
              <a:t>**Example 5 - Prompt File Authoring**:</a:t>
            </a:r>
          </a:p>
          <a:p/>
          <a:p>
            <a:pPr/>
            <a:r>
              <a:t>Targets the specialized .prompt.md file extension</a:t>
            </a:r>
          </a:p>
          <a:p>
            <a:pPr/>
            <a:r>
              <a:t>These files have specific structure requirements</a:t>
            </a:r>
          </a:p>
          <a:p>
            <a:pPr/>
            <a:r>
              <a:t>Using the exact extension prevents these rules from applying to regular markdown</a:t>
            </a:r>
          </a:p>
          <a:p/>
          <a:p>
            <a:r>
              <a:t>**Key lesson**: Notice how each pattern precisely targets its intended scope. There's no overlap or ambiguity.</a:t>
            </a:r>
          </a:p>
          <a:p/>
          <a:p>
            <a:r>
              <a:t>**Timing**: 2-3 minutes</a:t>
            </a:r>
          </a:p>
          <a:p>
            <a:r>
              <a:t>**Ask**: "Can anyone think of what would happen if example 4 used '\*_/_.md' instead? Right - slide formatting rules would apply to all markdown, including README files, causing conflicts."</a:t>
            </a:r>
          </a:p>
          <a:p>
            <a:r>
              <a:t>:::</a:t>
            </a:r>
          </a:p>
          <a:p/>
          <a:p>
            <a:r>
              <a:t>---</a:t>
            </a:r>
          </a:p>
          <a:p/>
          <a:p/>
          <a:p>
            <a:r>
              <a:t>**1. Be Specific When Possible**</a:t>
            </a:r>
          </a:p>
          <a:p/>
          <a:p>
            <a:r>
              <a:t>```yaml</a:t>
            </a:r>
          </a:p>
          <a:p>
            <a:r>
              <a:t>✅ applyTo: "**/*.instructions.md"</a:t>
            </a:r>
          </a:p>
          <a:p>
            <a:r>
              <a:t>❌ applyTo: "**"</a:t>
            </a:r>
          </a:p>
          <a:p>
            <a:r>
              <a:t>```</a:t>
            </a:r>
          </a:p>
          <a:p/>
          <a:p>
            <a:r>
              <a:t>**2. Use Brace Expansion for Multiple Extensions**</a:t>
            </a:r>
          </a:p>
          <a:p/>
          <a:p>
            <a:r>
              <a:t>```yaml</a:t>
            </a:r>
          </a:p>
          <a:p>
            <a:r>
              <a:t>✅ applyTo: "**/*.{cs,ts,js}"</a:t>
            </a:r>
          </a:p>
          <a:p>
            <a:r>
              <a:t>❌ Three separate instruction files</a:t>
            </a:r>
          </a:p>
          <a:p>
            <a:r>
              <a:t>```</a:t>
            </a:r>
          </a:p>
          <a:p/>
          <a:p>
            <a:r>
              <a:t>**3. Match Scope to Purpose**</a:t>
            </a:r>
          </a:p>
          <a:p/>
          <a:p>
            <a:r>
              <a:t>```yaml</a:t>
            </a:r>
          </a:p>
          <a:p>
            <a:r>
              <a:t># Architecture → Code files</a:t>
            </a:r>
          </a:p>
          <a:p>
            <a:r>
              <a:t>applyTo: "src/**/*.{cs,ts,js}"</a:t>
            </a:r>
          </a:p>
          <a:p/>
          <a:p>
            <a:r>
              <a:t># Formatting → Specific directory</a:t>
            </a:r>
          </a:p>
          <a:p>
            <a:r>
              <a:t>applyTo: "Slides/individual-slides/**"</a:t>
            </a:r>
          </a:p>
          <a:p>
            <a:r>
              <a:t>```</a:t>
            </a:r>
          </a:p>
          <a:p/>
          <a:p>
            <a:r>
              <a:t>::: notes</a:t>
            </a:r>
          </a:p>
          <a:p>
            <a:r>
              <a:t>Let's establish three core best practices that will guide your applyTo pattern decisions:</a:t>
            </a:r>
          </a:p>
          <a:p/>
          <a:p>
            <a:r>
              <a:t>**Best Practice 1: Be Specific When Possible**</a:t>
            </a:r>
          </a:p>
          <a:p/>
          <a:p>
            <a:r>
              <a:t>The more specific your pattern, the better. Why?</a:t>
            </a:r>
          </a:p>
          <a:p/>
          <a:p>
            <a:pPr/>
            <a:r>
              <a:t>Reduces Copilot context size (faster responses)</a:t>
            </a:r>
          </a:p>
          <a:p>
            <a:pPr/>
            <a:r>
              <a:t>Prevents instruction conflicts</a:t>
            </a:r>
          </a:p>
          <a:p>
            <a:pPr/>
            <a:r>
              <a:t>Makes intent clear to other developers</a:t>
            </a:r>
          </a:p>
          <a:p>
            <a:pPr/>
            <a:r>
              <a:t>Easier to debug when instructions aren't applying as expected</a:t>
            </a:r>
          </a:p>
          <a:p/>
          <a:p>
            <a:r>
              <a:t>Counter-example: If you use "\*\*" for styling instructions that really only apply to frontend components, Copilot will load those instructions even when editing backend API code or database migrations. That's wasteful and confusing.</a:t>
            </a:r>
          </a:p>
          <a:p/>
          <a:p>
            <a:r>
              <a:t>**Best Practice 2: Use Brace Expansion**</a:t>
            </a:r>
          </a:p>
          <a:p/>
          <a:p>
            <a:r>
              <a:t>When instructions apply to multiple file types, use brace expansion rather than creating multiple instruction files:</a:t>
            </a:r>
          </a:p>
          <a:p/>
          <a:p>
            <a:pPr/>
            <a:r>
              <a:t>Maintains single source of truth</a:t>
            </a:r>
          </a:p>
          <a:p>
            <a:pPr/>
            <a:r>
              <a:t>Easier to update (one file instead of many)</a:t>
            </a:r>
          </a:p>
          <a:p>
            <a:pPr/>
            <a:r>
              <a:t>Consistent rules across languages</a:t>
            </a:r>
          </a:p>
          <a:p/>
          <a:p>
            <a:r>
              <a:t>But be careful: Only group file types that truly need the same instructions. Don't group Python and JavaScript just because they're both "code" if the instructions differ.</a:t>
            </a:r>
          </a:p>
          <a:p/>
          <a:p>
            <a:r>
              <a:t>**Best Practice 3: Match Scope to Purpose**</a:t>
            </a:r>
          </a:p>
          <a:p/>
          <a:p>
            <a:r>
              <a:t>This is about semantic clarity:</a:t>
            </a:r>
          </a:p>
          <a:p/>
          <a:p>
            <a:pPr/>
            <a:r>
              <a:t>Architecture patterns → Source code directories</a:t>
            </a:r>
          </a:p>
          <a:p>
            <a:pPr/>
            <a:r>
              <a:t>Documentation standards → Docs directories</a:t>
            </a:r>
          </a:p>
          <a:p>
            <a:pPr/>
            <a:r>
              <a:t>Testing guidelines → Test directories</a:t>
            </a:r>
          </a:p>
          <a:p>
            <a:pPr/>
            <a:r>
              <a:t>Deployment instructions → CI/CD configs</a:t>
            </a:r>
          </a:p>
          <a:p/>
          <a:p>
            <a:r>
              <a:t>The pattern should make the instruction's purpose obvious at a glance.</a:t>
            </a:r>
          </a:p>
          <a:p/>
          <a:p>
            <a:r>
              <a:t>**Example of bad scope**: Having security scanning instructions with "\*_/_.md" - security scans don't apply to markdown files.</a:t>
            </a:r>
          </a:p>
          <a:p/>
          <a:p>
            <a:r>
              <a:t>**Example of good scope**: Having security scanning with "src/\*_/_.{cs,js,py}" - clearly applies to source code only.</a:t>
            </a:r>
          </a:p>
          <a:p/>
          <a:p>
            <a:r>
              <a:t>**Timing**: 2.5 minutes</a:t>
            </a:r>
          </a:p>
          <a:p>
            <a:r>
              <a:t>**Emphasize**: "Specificity is not just a performance optimization - it's about clarity and maintainability"</a:t>
            </a:r>
          </a:p>
          <a:p>
            <a:r>
              <a:t>:::</a:t>
            </a:r>
          </a:p>
          <a:p/>
          <a:p>
            <a:r>
              <a:t>---</a:t>
            </a:r>
          </a:p>
          <a:p/>
          <a:p/>
          <a:p>
            <a:r>
              <a:t>**Pitfall 1: Too Broad**</a:t>
            </a:r>
          </a:p>
          <a:p/>
          <a:p>
            <a:r>
              <a:t>```yaml</a:t>
            </a:r>
          </a:p>
          <a:p>
            <a:r>
              <a:t>❌ applyTo: "**" # For slide formatting</a:t>
            </a:r>
          </a:p>
          <a:p>
            <a:r>
              <a:t>✅ applyTo: "Slides/**"</a:t>
            </a:r>
          </a:p>
          <a:p>
            <a:r>
              <a:t>```</a:t>
            </a:r>
          </a:p>
          <a:p/>
          <a:p>
            <a:r>
              <a:t>**Pitfall 2: Too Narrow**</a:t>
            </a:r>
          </a:p>
          <a:p/>
          <a:p>
            <a:r>
              <a:t>```yaml</a:t>
            </a:r>
          </a:p>
          <a:p>
            <a:r>
              <a:t>❌ applyTo: "src/Features/UserManagement/**/*.cs"</a:t>
            </a:r>
          </a:p>
          <a:p>
            <a:r>
              <a:t>✅ applyTo: "src/Features/**/*.cs"</a:t>
            </a:r>
          </a:p>
          <a:p>
            <a:r>
              <a:t>```</a:t>
            </a:r>
          </a:p>
          <a:p/>
          <a:p>
            <a:r>
              <a:t>**Pitfall 3: Overlapping Instructions**</a:t>
            </a:r>
          </a:p>
          <a:p/>
          <a:p>
            <a:r>
              <a:t>```yaml</a:t>
            </a:r>
          </a:p>
          <a:p>
            <a:r>
              <a:t># File 1</a:t>
            </a:r>
          </a:p>
          <a:p>
            <a:r>
              <a:t>applyTo: "**/*.cs"  # All C# files</a:t>
            </a:r>
          </a:p>
          <a:p/>
          <a:p>
            <a:r>
              <a:t># File 2</a:t>
            </a:r>
          </a:p>
          <a:p>
            <a:r>
              <a:t>applyTo: "src/**/*.cs"  # C# files in src</a:t>
            </a:r>
          </a:p>
          <a:p/>
          <a:p>
            <a:r>
              <a:t># Result: Both apply to src/**/*.cs → potential conflicts</a:t>
            </a:r>
          </a:p>
          <a:p>
            <a:r>
              <a:t>```</a:t>
            </a:r>
          </a:p>
          <a:p/>
          <a:p>
            <a:r>
              <a:t>::: notes</a:t>
            </a:r>
          </a:p>
          <a:p>
            <a:r>
              <a:t>Let's look at three common mistakes and how to avoid them:</a:t>
            </a:r>
          </a:p>
          <a:p/>
          <a:p>
            <a:r>
              <a:t>**Pitfall 1: Too Broad**</a:t>
            </a:r>
          </a:p>
          <a:p/>
          <a:p>
            <a:r>
              <a:t>This happens when you use a universal pattern for something specific. The example shows slide formatting instructions using "\*\*" - this would apply formatting rules designed for Marp presentations to every file in your repository, including C# code, JSON configs, and shell scripts. That's confusing for both developers and Copilot.</a:t>
            </a:r>
          </a:p>
          <a:p/>
          <a:p>
            <a:r>
              <a:t>**How to identify**: If your instruction file has a specific purpose that doesn't apply to ALL files, don't use "\*\*"</a:t>
            </a:r>
          </a:p>
          <a:p/>
          <a:p>
            <a:r>
              <a:t>**Fix**: Narrow to the specific directory or file types</a:t>
            </a:r>
          </a:p>
          <a:p/>
          <a:p>
            <a:r>
              <a:t>**Pitfall 2: Too Narrow**</a:t>
            </a:r>
          </a:p>
          <a:p/>
          <a:p>
            <a:r>
              <a:t>This is the opposite problem - being so specific that the instructions become brittle and hard to maintain. In the example, targeting only the UserManagement feature means:</a:t>
            </a:r>
          </a:p>
          <a:p/>
          <a:p>
            <a:pPr/>
            <a:r>
              <a:t>You need separate instruction files for each feature</a:t>
            </a:r>
          </a:p>
          <a:p>
            <a:pPr/>
            <a:r>
              <a:t>Adding a new feature requires a new instruction file</a:t>
            </a:r>
          </a:p>
          <a:p>
            <a:pPr/>
            <a:r>
              <a:t>The same architectural patterns can't be shared across features</a:t>
            </a:r>
          </a:p>
          <a:p/>
          <a:p>
            <a:r>
              <a:t>**How to identify**: If you find yourself creating many nearly-identical instruction files, your patterns are too narrow</a:t>
            </a:r>
          </a:p>
          <a:p/>
          <a:p>
            <a:r>
              <a:t>**Fix**: Identify the common scope (like "src/Features/\*\*") and use that</a:t>
            </a:r>
          </a:p>
          <a:p/>
          <a:p>
            <a:r>
              <a:t>**Pitfall 3: Overlapping Instructions**</a:t>
            </a:r>
          </a:p>
          <a:p/>
          <a:p>
            <a:r>
              <a:t>This is the trickiest pitfall. When multiple instruction files match the same file path, Copilot loads all of them. Sometimes that's intentional (general coding standards + language-specific patterns), but often it's accidental and creates conflicts.</a:t>
            </a:r>
          </a:p>
          <a:p/>
          <a:p>
            <a:r>
              <a:t>**Concrete example**:</a:t>
            </a:r>
          </a:p>
          <a:p/>
          <a:p>
            <a:pPr/>
            <a:r>
              <a:t>vertical-slice.instructions.md has "\*_/_.cs"</a:t>
            </a:r>
          </a:p>
          <a:p>
            <a:pPr/>
            <a:r>
              <a:t>cqrs-architecture.instructions.md also has "\*_/_.cs"</a:t>
            </a:r>
          </a:p>
          <a:p>
            <a:pPr/>
            <a:r>
              <a:t>Both get loaded for every C# file</a:t>
            </a:r>
          </a:p>
          <a:p>
            <a:pPr/>
            <a:r>
              <a:t>If they have conflicting guidance (which architectural style to use), Copilot gets confused</a:t>
            </a:r>
          </a:p>
          <a:p/>
          <a:p>
            <a:r>
              <a:t>**How to identify**: List all your instruction files and their patterns side-by-side. Look for overlaps.</a:t>
            </a:r>
          </a:p>
          <a:p/>
          <a:p>
            <a:r>
              <a:t>**Fix strategies**:</a:t>
            </a:r>
          </a:p>
          <a:p/>
          <a:p>
            <a:r>
              <a:t>1. Make patterns mutually exclusive (one uses "src/Domain/**", the other uses "src/Infrastructure/**")</a:t>
            </a:r>
          </a:p>
          <a:p>
            <a:r>
              <a:t>2. Use more specific file naming patterns (one targets "_.Commands.cs", the other "_.Queries.cs")</a:t>
            </a:r>
          </a:p>
          <a:p>
            <a:r>
              <a:t>3. If overlap is intentional, ensure instructions are complementary, not contradictory</a:t>
            </a:r>
          </a:p>
          <a:p/>
          <a:p>
            <a:r>
              <a:t>**Timing**: 3 minutes - this is important, take time for questions</a:t>
            </a:r>
          </a:p>
          <a:p>
            <a:r>
              <a:t>**Interactive element**: "Has anyone experienced unexpected Copilot behavior? It might be due to overlapping instructions."</a:t>
            </a:r>
          </a:p>
          <a:p>
            <a:r>
              <a:t>:::</a:t>
            </a:r>
          </a:p>
          <a:p/>
          <a:p>
            <a:r>
              <a:t>---</a:t>
            </a:r>
          </a:p>
          <a:p/>
          <a:p/>
          <a:p>
            <a:r>
              <a:t>**How to verify patterns work correctly:**</a:t>
            </a:r>
          </a:p>
          <a:p/>
          <a:p>
            <a:r>
              <a:t>1. **Use file search to preview matches:**</a:t>
            </a:r>
          </a:p>
          <a:p/>
          <a:p>
            <a:r>
              <a:t>```powershell</a:t>
            </a:r>
          </a:p>
          <a:p>
            <a:r>
              <a:t># PowerShell</a:t>
            </a:r>
          </a:p>
          <a:p>
            <a:r>
              <a:t>Get-ChildItem -Path . -Filter "*.md" -Recurse</a:t>
            </a:r>
          </a:p>
          <a:p/>
          <a:p>
            <a:r>
              <a:t># Bash/Zsh</a:t>
            </a:r>
          </a:p>
          <a:p>
            <a:r>
              <a:t>find . -name "*.md"</a:t>
            </a:r>
          </a:p>
          <a:p>
            <a:r>
              <a:t>```</a:t>
            </a:r>
          </a:p>
          <a:p/>
          <a:p>
            <a:r>
              <a:t>2. **Online glob testers:**</a:t>
            </a:r>
          </a:p>
          <a:p/>
          <a:p>
            <a:pPr/>
            <a:r>
              <a:t>[globster.xyz](https://globster.xyz/)</a:t>
            </a:r>
          </a:p>
          <a:p>
            <a:pPr/>
            <a:r>
              <a:t>Test patterns before committing</a:t>
            </a:r>
          </a:p>
          <a:p/>
          <a:p>
            <a:r>
              <a:t>3. **Check Copilot behavior:**</a:t>
            </a:r>
          </a:p>
          <a:p/>
          <a:p>
            <a:pPr/>
            <a:r>
              <a:t>Open a file that should match</a:t>
            </a:r>
          </a:p>
          <a:p>
            <a:pPr/>
            <a:r>
              <a:t>Verify instructions are being followed</a:t>
            </a:r>
          </a:p>
          <a:p>
            <a:pPr/>
            <a:r>
              <a:t>Check for unexpected behavior (might indicate wrong pattern)</a:t>
            </a:r>
          </a:p>
          <a:p/>
          <a:p>
            <a:r>
              <a:t>::: notes</a:t>
            </a:r>
          </a:p>
          <a:p>
            <a:r>
              <a:t>Testing your applyTo patterns before committing is crucial. Here are three methods, in order of sophistication:</a:t>
            </a:r>
          </a:p>
          <a:p/>
          <a:p>
            <a:r>
              <a:t>**Method 1: File System Commands**</a:t>
            </a:r>
          </a:p>
          <a:p/>
          <a:p>
            <a:r>
              <a:t>Use your shell's file finding capabilities to preview what matches:</a:t>
            </a:r>
          </a:p>
          <a:p/>
          <a:p>
            <a:r>
              <a:t>PowerShell (Windows):</a:t>
            </a:r>
          </a:p>
          <a:p/>
          <a:p>
            <a:pPr/>
            <a:r>
              <a:t>Get-ChildItem with -Filter and -Recurse shows what files match</a:t>
            </a:r>
          </a:p>
          <a:p>
            <a:pPr/>
            <a:r>
              <a:t>Can pipe to Where-Object for complex filtering</a:t>
            </a:r>
          </a:p>
          <a:p>
            <a:pPr/>
            <a:r>
              <a:t>Example: Get-ChildItem -Path ".\src" -Filter "\*.cs" -Recurse | Select-Object FullName</a:t>
            </a:r>
          </a:p>
          <a:p/>
          <a:p>
            <a:r>
              <a:t>Bash/Zsh (Linux/Mac):</a:t>
            </a:r>
          </a:p>
          <a:p/>
          <a:p>
            <a:pPr/>
            <a:r>
              <a:t>find command with -name flag</a:t>
            </a:r>
          </a:p>
          <a:p>
            <a:pPr/>
            <a:r>
              <a:t>Can combine with grep for more complex patterns</a:t>
            </a:r>
          </a:p>
          <a:p>
            <a:pPr/>
            <a:r>
              <a:t>Example: find ./src -name "\*.cs" -type f</a:t>
            </a:r>
          </a:p>
          <a:p/>
          <a:p>
            <a:r>
              <a:t>**Why this matters**: If your pattern matches more or fewer files than expected, you'll catch it before Copilot does.</a:t>
            </a:r>
          </a:p>
          <a:p/>
          <a:p>
            <a:r>
              <a:t>**Method 2: Online Glob Testers**</a:t>
            </a:r>
          </a:p>
          <a:p/>
          <a:p>
            <a:r>
              <a:t>Tools like globster.xyz let you:</a:t>
            </a:r>
          </a:p>
          <a:p/>
          <a:p>
            <a:pPr/>
            <a:r>
              <a:t>Enter a glob pattern</a:t>
            </a:r>
          </a:p>
          <a:p>
            <a:pPr/>
            <a:r>
              <a:t>Paste a list of file paths</a:t>
            </a:r>
          </a:p>
          <a:p>
            <a:pPr/>
            <a:r>
              <a:t>See visually which paths match</a:t>
            </a:r>
          </a:p>
          <a:p/>
          <a:p>
            <a:r>
              <a:t>This is especially useful for complex patterns with brace expansion or character classes. You can experiment with patterns and see results immediately without touching your repository.</a:t>
            </a:r>
          </a:p>
          <a:p/>
          <a:p>
            <a:r>
              <a:t>**Pro tip**: Keep a browser tab with globster open when writing complex patterns</a:t>
            </a:r>
          </a:p>
          <a:p/>
          <a:p>
            <a:r>
              <a:t>**Method 3: Behavioral Testing**</a:t>
            </a:r>
          </a:p>
          <a:p/>
          <a:p>
            <a:r>
              <a:t>The ultimate test - does Copilot actually behave as expected?</a:t>
            </a:r>
          </a:p>
          <a:p/>
          <a:p>
            <a:r>
              <a:t>Steps:</a:t>
            </a:r>
          </a:p>
          <a:p/>
          <a:p>
            <a:r>
              <a:t>1. Add your instruction file with applyTo pattern</a:t>
            </a:r>
          </a:p>
          <a:p>
            <a:r>
              <a:t>2. Open a file that SHOULD match</a:t>
            </a:r>
          </a:p>
          <a:p>
            <a:r>
              <a:t>3. Ask Copilot to do something covered by the instruction</a:t>
            </a:r>
          </a:p>
          <a:p>
            <a:r>
              <a:t>4. Verify it follows the rules</a:t>
            </a:r>
          </a:p>
          <a:p>
            <a:r>
              <a:t>5. Open a file that SHOULD NOT match</a:t>
            </a:r>
          </a:p>
          <a:p>
            <a:r>
              <a:t>6. Verify Copilot doesn't apply those rules</a:t>
            </a:r>
          </a:p>
          <a:p/>
          <a:p>
            <a:r>
              <a:t>**Example**: After adding a vertical-slice.instructions.md with "src/\*_/_.cs", open a C# file in src/ and ask Copilot to create a new feature. It should use vertical slice architecture. Then open a C# file in tests/ and verify it doesn't try to apply feature architecture to test code.</a:t>
            </a:r>
          </a:p>
          <a:p/>
          <a:p>
            <a:r>
              <a:t>**Timing**: 2 minutes</a:t>
            </a:r>
          </a:p>
          <a:p>
            <a:r>
              <a:t>**Practical tip**: "I recommend testing every new instruction file pattern with method 1 or 2 before pushing to your team"</a:t>
            </a:r>
          </a:p>
          <a:p>
            <a:r>
              <a:t>**Transition**: "Let's wrap up with key takeaways"</a:t>
            </a:r>
          </a:p>
          <a:p>
            <a:r>
              <a:t>:::</a:t>
            </a:r>
          </a:p>
          <a:p/>
          <a:p>
            <a:r>
              <a:t>---</a:t>
            </a:r>
          </a:p>
          <a:p/>
          <a:p/>
          <a:p>
            <a:r>
              <a:t>**Key Points to Remember:**</a:t>
            </a:r>
          </a:p>
          <a:p/>
          <a:p>
            <a:pPr/>
            <a:r>
              <a:t>Patterns are evaluated when files are opened</a:t>
            </a:r>
          </a:p>
          <a:p>
            <a:pPr/>
            <a:r>
              <a:t>Multiple instruction files can match the same file</a:t>
            </a:r>
          </a:p>
          <a:p>
            <a:pPr/>
            <a:r>
              <a:t>More specific patterns take precedence (in terms of clarity, not override)</a:t>
            </a:r>
          </a:p>
          <a:p>
            <a:pPr/>
            <a:r>
              <a:t>Patterns are relative to repository root</a:t>
            </a:r>
          </a:p>
          <a:p>
            <a:pPr/>
            <a:r>
              <a:t>Case sensitivity depends on file system (Windows: no, Linux: yes)</a:t>
            </a:r>
          </a:p>
          <a:p/>
          <a:p>
            <a:r>
              <a:t>**When Copilot Evaluates Patterns:**</a:t>
            </a:r>
          </a:p>
          <a:p/>
          <a:p>
            <a:r>
              <a:t>1. File opened in editor → Check all instruction files</a:t>
            </a:r>
          </a:p>
          <a:p>
            <a:r>
              <a:t>2. Load matching instructions into context</a:t>
            </a:r>
          </a:p>
          <a:p>
            <a:r>
              <a:t>3. Apply rules during code generation</a:t>
            </a:r>
          </a:p>
          <a:p/>
          <a:p>
            <a:r>
              <a:t>::: notes</a:t>
            </a:r>
          </a:p>
          <a:p>
            <a:r>
              <a:t>Let's consolidate the technical details about how pattern matching actually works in practice:</a:t>
            </a:r>
          </a:p>
          <a:p/>
          <a:p>
            <a:r>
              <a:t>**Evaluation Timing**:</a:t>
            </a:r>
          </a:p>
          <a:p>
            <a:r>
              <a:t>Pattern matching happens dynamically. When you open a file, VS Code/Copilot:</a:t>
            </a:r>
          </a:p>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p>
            <a:r>
              <a:t>This is important because it means pattern matching is NOT a one-time operation at startup - it happens constantly as you switch between files.</a:t>
            </a:r>
          </a:p>
          <a:p/>
          <a:p>
            <a:r>
              <a:t>**Multiple Matches**:</a:t>
            </a:r>
          </a:p>
          <a:p>
            <a:r>
              <a:t>It's perfectly valid for multiple instruction files to match the same file. Copilot will try to follow all applicable instructions. This is why avoiding conflicts is so important - if two instructions contradict each other, Copilot will struggle.</a:t>
            </a:r>
          </a:p>
          <a:p/>
          <a:p>
            <a:r>
              <a:t>**Example of intentional multiple matches**:</a:t>
            </a:r>
          </a:p>
          <a:p/>
          <a:p>
            <a:pPr/>
            <a:r>
              <a:t>general-coding-standards.instructions.md with "\*_/_.cs"</a:t>
            </a:r>
          </a:p>
          <a:p>
            <a:pPr/>
            <a:r>
              <a:t>vertical-slice-architecture.instructions.md with "src/Features/\*_/_.cs"</a:t>
            </a:r>
          </a:p>
          <a:p>
            <a:pPr/>
            <a:r>
              <a:t>A file at "src/Features/Users/CreateUser.cs" matches both</a:t>
            </a:r>
          </a:p>
          <a:p>
            <a:pPr/>
            <a:r>
              <a:t>Both instruction sets apply (general standards + architecture patterns)</a:t>
            </a:r>
          </a:p>
          <a:p>
            <a:pPr/>
            <a:r>
              <a:t>This works if the instructions are complementary</a:t>
            </a:r>
          </a:p>
          <a:p/>
          <a:p>
            <a:r>
              <a:t>**Specificity and Precedence**:</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p>
            <a:r>
              <a:t>**Repository Root**:</a:t>
            </a:r>
          </a:p>
          <a:p>
            <a:r>
              <a:t>All patterns are relative to the workspace root (where .git directory is located). There's no way to use absolute paths, which is good for portability.</a:t>
            </a:r>
          </a:p>
          <a:p/>
          <a:p>
            <a:r>
              <a:t>**Case Sensitivity**:</a:t>
            </a:r>
          </a:p>
          <a:p>
            <a:r>
              <a:t>Critical detail - this depends on the underlying file system:</a:t>
            </a:r>
          </a:p>
          <a:p/>
          <a:p>
            <a:pPr/>
            <a:r>
              <a:t>Windows: case-insensitive ("\*.MD" matches "file.md")</a:t>
            </a:r>
          </a:p>
          <a:p>
            <a:pPr/>
            <a:r>
              <a:t>Linux: case-sensitive ("\*.MD" matches "file.MD" but not "file.md")</a:t>
            </a:r>
          </a:p>
          <a:p>
            <a:pPr/>
            <a:r>
              <a:t>macOS: depends on file system format (usually case-insensitive)</a:t>
            </a:r>
          </a:p>
          <a:p/>
          <a:p>
            <a:r>
              <a:t>Best practice: Always use lowercase in patterns and standardize file naming to lowercase to avoid cross-platform issues.</a:t>
            </a:r>
          </a:p>
          <a:p/>
          <a:p>
            <a:r>
              <a:t>**Timing**: 2-3 minutes</a:t>
            </a:r>
          </a:p>
          <a:p>
            <a:r>
              <a:t>**Important**: "The dynamic evaluation means you can test instruction changes immediately - just close and reopen a file"</a:t>
            </a:r>
          </a:p>
          <a:p>
            <a:r>
              <a:t>:::</a:t>
            </a:r>
          </a:p>
          <a:p/>
          <a:p>
            <a:r>
              <a:t>---</a:t>
            </a:r>
          </a:p>
          <a:p/>
          <a:p/>
          <a:p>
            <a:r>
              <a:t>**Essential Patterns:**</a:t>
            </a:r>
          </a:p>
          <a:p/>
          <a:p>
            <a:pPr/>
            <a:r>
              <a:t>`**/*` or `**` - Universal (use sparingly)</a:t>
            </a:r>
          </a:p>
          <a:p>
            <a:pPr/>
            <a:r>
              <a:t>`**/*.{ext1,ext2}` - Multiple file types</a:t>
            </a:r>
          </a:p>
          <a:p>
            <a:pPr/>
            <a:r>
              <a:t>`directory/**` - Specific directory scope</a:t>
            </a:r>
          </a:p>
          <a:p>
            <a:pPr/>
            <a:r>
              <a:t>`**/*.specific.extension.md` - Specialized files</a:t>
            </a:r>
          </a:p>
          <a:p/>
          <a:p>
            <a:r>
              <a:t>**Decision Tree:**</a:t>
            </a:r>
          </a:p>
          <a:p/>
          <a:p>
            <a:r>
              <a:t>1. Does this apply to ALL files? → Use `**/*`</a:t>
            </a:r>
          </a:p>
          <a:p>
            <a:r>
              <a:t>2. Does this apply to specific file types? → Use `**/*.{extensions}`</a:t>
            </a:r>
          </a:p>
          <a:p>
            <a:r>
              <a:t>3. Does this apply to a specific directory? → Use `directory/**`</a:t>
            </a:r>
          </a:p>
          <a:p>
            <a:r>
              <a:t>4. Does this apply to specific naming pattern? → Use `**/*.pattern.ext`</a:t>
            </a:r>
          </a:p>
          <a:p/>
          <a:p>
            <a:r>
              <a:t>**Remember:**</a:t>
            </a:r>
          </a:p>
          <a:p/>
          <a:p>
            <a:pPr/>
            <a:r>
              <a:t>✅ Be as specific as necessary, no more, no less</a:t>
            </a:r>
          </a:p>
          <a:p>
            <a:pPr/>
            <a:r>
              <a:t>✅ Test patterns before committing</a:t>
            </a:r>
          </a:p>
          <a:p>
            <a:pPr/>
            <a:r>
              <a:t>✅ Document why each pattern was chosen</a:t>
            </a:r>
          </a:p>
          <a:p>
            <a:pPr/>
            <a:r>
              <a:t>✅ Review patterns when instructions aren't working</a:t>
            </a:r>
          </a:p>
          <a:p/>
          <a:p>
            <a:r>
              <a:t>::: notes</a:t>
            </a:r>
          </a:p>
          <a:p>
            <a:r>
              <a:t>Let's wrap up with a practical decision-making framework:</a:t>
            </a:r>
          </a:p>
          <a:p/>
          <a:p>
            <a:r>
              <a:t>**The Four Essential Pattern Categories**:</a:t>
            </a:r>
          </a:p>
          <a:p/>
          <a:p>
            <a:r>
              <a:t>These four patterns cover 95% of real-world use cases. Let me give you concrete examples of when to use each:</a:t>
            </a:r>
          </a:p>
          <a:p/>
          <a:p>
            <a:r>
              <a:t>1. **Universal `**/\*`\*\*:</a:t>
            </a:r>
          </a:p>
          <a:p>
            <a:r>
              <a:t>   - AI provenance policies</a:t>
            </a:r>
          </a:p>
          <a:p>
            <a:r>
              <a:t>   - Security compliance requirements</a:t>
            </a:r>
          </a:p>
          <a:p>
            <a:r>
              <a:t>   - Legal/licensing standards</a:t>
            </a:r>
          </a:p>
          <a:p>
            <a:r>
              <a:t>   - Organization-wide conventions</a:t>
            </a:r>
          </a:p>
          <a:p>
            <a:r>
              <a:t>   - Should be max 2-3 instruction files in your entire repo</a:t>
            </a:r>
          </a:p>
          <a:p/>
          <a:p>
            <a:r>
              <a:t>2. **Multi-extension `**/\*.{ext1,ext2}`\*\*:</a:t>
            </a:r>
          </a:p>
          <a:p>
            <a:r>
              <a:t>   - Language-agnostic code quality patterns</a:t>
            </a:r>
          </a:p>
          <a:p>
            <a:r>
              <a:t>   - Cross-language architecture styles</a:t>
            </a:r>
          </a:p>
          <a:p>
            <a:r>
              <a:t>   - Multi-language testing strategies</a:t>
            </a:r>
          </a:p>
          <a:p>
            <a:r>
              <a:t>   - Example: Vertical slice could apply to C#, TypeScript, Python features</a:t>
            </a:r>
          </a:p>
          <a:p/>
          <a:p>
            <a:r>
              <a:t>3. **Directory scope `directory/**`\*\*:</a:t>
            </a:r>
          </a:p>
          <a:p>
            <a:r>
              <a:t>   - Slide formatting (Slides/\*)</a:t>
            </a:r>
          </a:p>
          <a:p>
            <a:r>
              <a:t>   - API documentation (docs/api/\*\*)</a:t>
            </a:r>
          </a:p>
          <a:p>
            <a:r>
              <a:t>   - Feature isolation (src/Features/\*\*)</a:t>
            </a:r>
          </a:p>
          <a:p>
            <a:r>
              <a:t>   - Test organization (tests/\*\*)</a:t>
            </a:r>
          </a:p>
          <a:p/>
          <a:p>
            <a:r>
              <a:t>4. **Specialized naming `**/\*.pattern.ext`\*\*:</a:t>
            </a:r>
          </a:p>
          <a:p>
            <a:r>
              <a:t>   - Instruction files themselves (\*.instructions.md)</a:t>
            </a:r>
          </a:p>
          <a:p>
            <a:r>
              <a:t>   - Prompt files (\*.prompt.md)</a:t>
            </a:r>
          </a:p>
          <a:p>
            <a:r>
              <a:t>   - Test files (_.test.js, _.spec.ts)</a:t>
            </a:r>
          </a:p>
          <a:p>
            <a:r>
              <a:t>   - Generated files (\*.generated.cs)</a:t>
            </a:r>
          </a:p>
          <a:p/>
          <a:p>
            <a:r>
              <a:t>**Using the Decision Tree**:</a:t>
            </a:r>
          </a:p>
          <a:p/>
          <a:p>
            <a:r>
              <a:t>Work through the questions in order. The first "yes" answer tells you which pattern category to use. Then refine within that category.</a:t>
            </a:r>
          </a:p>
          <a:p/>
          <a:p>
            <a:r>
              <a:t>Example walkthrough:</a:t>
            </a:r>
          </a:p>
          <a:p/>
          <a:p>
            <a:pPr/>
            <a:r>
              <a:t>"I'm creating architecture guidelines for CQRS"</a:t>
            </a:r>
          </a:p>
          <a:p>
            <a:pPr/>
            <a:r>
              <a:t>Q1: All files? No (config files don't need CQRS patterns)</a:t>
            </a:r>
          </a:p>
          <a:p>
            <a:pPr/>
            <a:r>
              <a:t>Q2: Specific file types? Yes - code files</a:t>
            </a:r>
          </a:p>
          <a:p>
            <a:pPr/>
            <a:r>
              <a:t>→ Use `**/*.{cs,ts,js,py}`</a:t>
            </a:r>
          </a:p>
          <a:p>
            <a:pPr/>
            <a:r>
              <a:t>Refinement: Maybe only src directory: `src/**/*.{cs,ts,js,py}`</a:t>
            </a:r>
          </a:p>
          <a:p/>
          <a:p>
            <a:r>
              <a:t>**Documentation is Critical**:</a:t>
            </a:r>
          </a:p>
          <a:p/>
          <a:p>
            <a:r>
              <a:t>In your instruction file, add a comment in the front matter explaining the pattern choice:</a:t>
            </a:r>
          </a:p>
          <a:p/>
          <a:p>
            <a:r>
              <a:t>```yaml</a:t>
            </a:r>
          </a:p>
          <a:p>
            <a:r>
              <a:t>applyTo: "src/Features/**/*.cs"</a:t>
            </a:r>
          </a:p>
          <a:p>
            <a:r>
              <a:t># Rationale: Apply vertical slice architecture to feature code only,</a:t>
            </a:r>
          </a:p>
          <a:p>
            <a:r>
              <a:t># excluding infrastructure, shared utilities, and tests</a:t>
            </a:r>
          </a:p>
          <a:p>
            <a:r>
              <a:t>```</a:t>
            </a:r>
          </a:p>
          <a:p/>
          <a:p>
            <a:r>
              <a:t>This helps future developers (including yourself) understand the reasoning.</a:t>
            </a:r>
          </a:p>
          <a:p/>
          <a:p>
            <a:r>
              <a:t>**Review and Iterate**:</a:t>
            </a:r>
          </a:p>
          <a:p/>
          <a:p>
            <a:r>
              <a:t>Patterns aren't set in stone. If you notice:</a:t>
            </a:r>
          </a:p>
          <a:p/>
          <a:p>
            <a:pPr/>
            <a:r>
              <a:t>Instructions not being applied when expected</a:t>
            </a:r>
          </a:p>
          <a:p>
            <a:pPr/>
            <a:r>
              <a:t>Instructions being applied to wrong files</a:t>
            </a:r>
          </a:p>
          <a:p>
            <a:pPr/>
            <a:r>
              <a:t>Need to refactor directory structure</a:t>
            </a:r>
          </a:p>
          <a:p/>
          <a:p>
            <a:r>
              <a:t>Then review and update your patterns. This is normal maintenance.</a:t>
            </a:r>
          </a:p>
          <a:p/>
          <a:p>
            <a:r>
              <a:t>**Final thought**: "Good applyTo patterns make Copilot predictable and reliable. Take the time to get them right."</a:t>
            </a:r>
          </a:p>
          <a:p/>
          <a:p>
            <a:r>
              <a:t>**Timing**: 3 minutes for comprehensive wrap-up</a:t>
            </a:r>
          </a:p>
          <a:p>
            <a:r>
              <a:t>**End with**: "Questions about applyTo patterns or glob syntax?"</a:t>
            </a:r>
          </a:p>
          <a:p>
            <a:r>
              <a:t>:::</a:t>
            </a:r>
          </a:p>
          <a:p/>
          <a:p>
            <a:r>
              <a:t>---</a:t>
            </a:r>
          </a:p>
          <a:p/>
          <a:p/>
          <a:p>
            <a:r>
              <a:t>**Documentation:**</a:t>
            </a:r>
          </a:p>
          <a:p/>
          <a:p>
            <a:pPr/>
            <a:r>
              <a:t>[Glob Pattern Syntax Reference](https://globster.xyz/)</a:t>
            </a:r>
          </a:p>
          <a:p>
            <a:pPr/>
            <a:r>
              <a:t>GitHub Copilot Instruction Files Documentation</a:t>
            </a:r>
          </a:p>
          <a:p>
            <a:pPr/>
            <a:r>
              <a:t>AI-Assisted Output Instructions</a:t>
            </a:r>
          </a:p>
          <a:p/>
          <a:p>
            <a:r>
              <a:t>**Practice Exercise:**</a:t>
            </a:r>
          </a:p>
          <a:p>
            <a:r>
              <a:t>Create instruction files for:</a:t>
            </a:r>
          </a:p>
          <a:p/>
          <a:p>
            <a:r>
              <a:t>1. CQRS architecture patterns (code only)</a:t>
            </a:r>
          </a:p>
          <a:p>
            <a:r>
              <a:t>2. Mermaid diagram standards (markdown only)</a:t>
            </a:r>
          </a:p>
          <a:p>
            <a:r>
              <a:t>3. Test naming conventions (test files only)</a:t>
            </a:r>
          </a:p>
          <a:p/>
          <a:p>
            <a:r>
              <a:t>**Questions?**</a:t>
            </a:r>
          </a:p>
          <a:p/>
          <a:p>
            <a:r>
              <a:t>::: notes</a:t>
            </a:r>
          </a:p>
          <a:p>
            <a:r>
              <a:t>This is the closing slide - keep it brief and actionable.</a:t>
            </a:r>
          </a:p>
          <a:p/>
          <a:p>
            <a:r>
              <a:t>**Resources to Share**:</a:t>
            </a:r>
          </a:p>
          <a:p/>
          <a:p>
            <a:r>
              <a:t>Point attendees to:</a:t>
            </a:r>
          </a:p>
          <a:p/>
          <a:p>
            <a:r>
              <a:t>1. The globster.xyz website - they should bookmark this</a:t>
            </a:r>
          </a:p>
          <a:p>
            <a:r>
              <a:t>2. Official GitHub documentation on instruction files (if available)</a:t>
            </a:r>
          </a:p>
          <a:p>
            <a:r>
              <a:t>3. This repository's .github/instructions/ directory as examples</a:t>
            </a:r>
          </a:p>
          <a:p/>
          <a:p>
            <a:r>
              <a:t>**Practice Exercise**:</a:t>
            </a:r>
          </a:p>
          <a:p/>
          <a:p>
            <a:r>
              <a:t>These three exercises cover the main pattern categories:</a:t>
            </a:r>
          </a:p>
          <a:p/>
          <a:p>
            <a:r>
              <a:t>Exercise 1 - CQRS Architecture:</a:t>
            </a:r>
          </a:p>
          <a:p/>
          <a:p>
            <a:pPr/>
            <a:r>
              <a:t>Should apply to: C#, TypeScript, Python code files</a:t>
            </a:r>
          </a:p>
          <a:p>
            <a:pPr/>
            <a:r>
              <a:t>Suggested pattern: `src/**/*.{cs,ts,py}`</a:t>
            </a:r>
          </a:p>
          <a:p>
            <a:pPr/>
            <a:r>
              <a:t>Excludes: tests, config files, documentation</a:t>
            </a:r>
          </a:p>
          <a:p>
            <a:pPr/>
            <a:r>
              <a:t>Learning goal: Multi-extension file type targeting</a:t>
            </a:r>
          </a:p>
          <a:p/>
          <a:p>
            <a:r>
              <a:t>Exercise 2 - Mermaid Diagram Standards:</a:t>
            </a:r>
          </a:p>
          <a:p/>
          <a:p>
            <a:pPr/>
            <a:r>
              <a:t>Should apply to: All markdown files with diagrams</a:t>
            </a:r>
          </a:p>
          <a:p>
            <a:pPr/>
            <a:r>
              <a:t>Suggested pattern: `**/*.md` or `docs/**/*.md` if narrower</a:t>
            </a:r>
          </a:p>
          <a:p>
            <a:pPr/>
            <a:r>
              <a:t>Excludes: Non-markdown files</a:t>
            </a:r>
          </a:p>
          <a:p>
            <a:pPr/>
            <a:r>
              <a:t>Learning goal: Extension-based filtering</a:t>
            </a:r>
          </a:p>
          <a:p/>
          <a:p>
            <a:r>
              <a:t>Exercise 3 - Test Naming Conventions:</a:t>
            </a:r>
          </a:p>
          <a:p/>
          <a:p>
            <a:pPr/>
            <a:r>
              <a:t>Should apply to: Test files only</a:t>
            </a:r>
          </a:p>
          <a:p>
            <a:pPr/>
            <a:r>
              <a:t>Suggested pattern: `**/*.{test,spec}.{js,ts}` or `tests/**/*`</a:t>
            </a:r>
          </a:p>
          <a:p>
            <a:pPr/>
            <a:r>
              <a:t>Excludes: Source code</a:t>
            </a:r>
          </a:p>
          <a:p>
            <a:pPr/>
            <a:r>
              <a:t>Learning goal: Specialized naming patterns or directory scoping</a:t>
            </a:r>
          </a:p>
          <a:p/>
          <a:p>
            <a:r>
              <a:t>Have them create these instruction files with proper applyTo patterns and test whether they match the expected files using the methods from slide 9.</a:t>
            </a:r>
          </a:p>
          <a:p/>
          <a:p>
            <a:r>
              <a:t>**Timing for Q&amp;A**: Budget at least 5 minutes</a:t>
            </a:r>
          </a:p>
          <a:p>
            <a:r>
              <a:t>**Common questions to expect**:</a:t>
            </a:r>
          </a:p>
          <a:p/>
          <a:p>
            <a:pPr/>
            <a:r>
              <a:t>"Can I use regex in applyTo?" (No, only glob patterns)</a:t>
            </a:r>
          </a:p>
          <a:p>
            <a:pPr/>
            <a:r>
              <a:t>"What if I need NOT patterns?" (Use specific inclusion instead)</a:t>
            </a:r>
          </a:p>
          <a:p>
            <a:pPr/>
            <a:r>
              <a:t>"Can patterns match directories themselves?" (Patterns match files, but `dir/**` matches all files in dir)</a:t>
            </a:r>
          </a:p>
          <a:p>
            <a:pPr/>
            <a:r>
              <a:t>"How do I debug when patterns don't work?" (Use the testing methods from slide 9)</a:t>
            </a:r>
          </a:p>
          <a:p/>
          <a:p>
            <a:r>
              <a:t>**Closing statement**: "Remember, good applyTo patterns are the key to making Copilot instruction files reliable and maintainable. Start with these patterns, test them thoroughly, and iterate based on real-world usage."</a:t>
            </a:r>
          </a:p>
          <a:p>
            <a:r>
              <a:t>:::</a:t>
            </a:r>
          </a:p>
          <a:p/>
          <a:p>
            <a:r>
              <a:t>---</a:t>
            </a:r>
          </a:p>
          <a:p/>
          <a:p/>
          <a:p>
            <a:r>
              <a:t>**Questions? Feedback?**</a:t>
            </a:r>
          </a:p>
          <a:p/>
          <a:p>
            <a:r>
              <a:t>Connect with the AI-Assisted Software Development team</a:t>
            </a:r>
          </a:p>
          <a:p/>
          <a:p>
            <a:r>
              <a:t>GitHub: [johnmillerATcodemag-com/AI-Assisted-Software-Development](https://github.com/johnmillerATcodemag-com/AI-Assisted-Software-Development-Course)</a:t>
            </a:r>
          </a:p>
          <a:p/>
          <a:p>
            <a:r>
              <a:t>::: notes</a:t>
            </a:r>
          </a:p>
          <a:p>
            <a:r>
              <a:t>**Closing Remarks**:</a:t>
            </a:r>
          </a:p>
          <a:p/>
          <a:p>
            <a:r>
              <a:t>Thank you all for your attention. The applyTo pattern system might seem simple on the surface, but as we've seen, there's real depth to using it effectively.</a:t>
            </a:r>
          </a:p>
          <a:p/>
          <a:p>
            <a:r>
              <a:t>**Key messages to leave with**:</a:t>
            </a:r>
          </a:p>
          <a:p/>
          <a:p>
            <a:r>
              <a:t>1. Specificity prevents conflicts</a:t>
            </a:r>
          </a:p>
          <a:p>
            <a:r>
              <a:t>2. Test your patterns before committing</a:t>
            </a:r>
          </a:p>
          <a:p>
            <a:r>
              <a:t>3. Document your pattern choices</a:t>
            </a:r>
          </a:p>
          <a:p>
            <a:r>
              <a:t>4. Review and refine based on real usage</a:t>
            </a:r>
          </a:p>
          <a:p/>
          <a:p>
            <a:r>
              <a:t>**Engagement**:</a:t>
            </a:r>
          </a:p>
          <a:p/>
          <a:p>
            <a:pPr/>
            <a:r>
              <a:t>"Please reach out with questions as you implement these patterns in your projects"</a:t>
            </a:r>
          </a:p>
          <a:p>
            <a:pPr/>
            <a:r>
              <a:t>"Share your experiences - both successes and challenges - with the team"</a:t>
            </a:r>
          </a:p>
          <a:p>
            <a:pPr/>
            <a:r>
              <a:t>"The GitHub repository has many examples in the .github/instructions/ directory"</a:t>
            </a:r>
          </a:p>
          <a:p/>
          <a:p>
            <a:r>
              <a:t>**Next Steps**:</a:t>
            </a:r>
          </a:p>
          <a:p/>
          <a:p>
            <a:pPr/>
            <a:r>
              <a:t>Review the instruction files in this repository</a:t>
            </a:r>
          </a:p>
          <a:p>
            <a:pPr/>
            <a:r>
              <a:t>Try the practice exercises</a:t>
            </a:r>
          </a:p>
          <a:p>
            <a:pPr/>
            <a:r>
              <a:t>Start applying these patterns to your own projects</a:t>
            </a:r>
          </a:p>
          <a:p>
            <a:pPr/>
            <a:r>
              <a:t>Share learnings with your team</a:t>
            </a:r>
          </a:p>
          <a:p/>
          <a:p>
            <a:r>
              <a:t>**Call to Action**:</a:t>
            </a:r>
          </a:p>
          <a:p>
            <a:r>
              <a:t>"I'd encourage everyone to audit one of your existing projects this week - look at your instruction files and their applyTo patterns. Are they as specific as they could be? Are there conflicts? Use the testing methods we discussed to verify them."</a:t>
            </a:r>
          </a:p>
          <a:p/>
          <a:p>
            <a:r>
              <a:t>**Timing**: 1 minute</a:t>
            </a:r>
          </a:p>
          <a:p>
            <a:r>
              <a:t>**Tone**: Encouraging and supportive - this is about continuous improvement</a:t>
            </a:r>
          </a:p>
          <a:p>
            <a: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Instructions</a:t>
            </a:r>
          </a:p>
        </p:txBody>
      </p:sp>
      <p:sp>
        <p:nvSpPr>
          <p:cNvPr id="3" name="Content Placeholder 2"/>
          <p:cNvSpPr>
            <a:spLocks noGrp="1"/>
          </p:cNvSpPr>
          <p:nvPr>
            <p:ph idx="1"/>
          </p:nvPr>
        </p:nvSpPr>
        <p:spPr/>
        <p:txBody>
          <a:bodyPr/>
          <a:lstStyle/>
          <a:p/>
          <a:p>
            <a:r>
              <a:t>Instruction File | Purpose</a:t>
            </a:r>
          </a:p>
          <a:p>
            <a:r>
              <a:t>--- | ---</a:t>
            </a:r>
          </a:p>
          <a:p>
            <a:r>
              <a:t>ai-assisted-output.instructions.md | Guidance for AI generated artifacts</a:t>
            </a:r>
          </a:p>
          <a:p>
            <a:r>
              <a:t>chatmode-file.instructions.md | Guidance for generating chat modes</a:t>
            </a:r>
          </a:p>
          <a:p>
            <a:r>
              <a:t>instruction-files.instructions.md | Guidance for generating instruction files</a:t>
            </a:r>
          </a:p>
          <a:p>
            <a:r>
              <a:t>prompt-file.instructions.md | Guidance for generating prompt files</a:t>
            </a:r>
          </a:p>
          <a:p>
            <a:r>
              <a:t>instruction-prompt-files.instructions.md | Guidance for generating prompts that generate instruction files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t>Intro</a:t>
            </a:r>
          </a:p>
          <a:p>
            <a:pPr/>
            <a:r>
              <a:t>Module 1 - AIASD</a:t>
            </a:r>
          </a:p>
          <a:p>
            <a:pPr/>
            <a:r>
              <a:t>Module 2 - Intro to Copilot</a:t>
            </a:r>
          </a:p>
          <a:p>
            <a:pPr/>
            <a:r>
              <a:t>Module 3 - Vibbing</a:t>
            </a:r>
          </a:p>
          <a:p>
            <a:pPr/>
            <a:r>
              <a:t>Module 4 - Adding AI Guardrails</a:t>
            </a:r>
          </a:p>
          <a:p>
            <a:pPr/>
            <a:r>
              <a:rPr b="1"/>
              <a:t>▶ Module 5 - Managing Context</a:t>
            </a:r>
          </a:p>
          <a:p>
            <a:pPr/>
            <a:r>
              <a:t>Module 6 - Copilot for Teams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Managing Context</a:t>
            </a:r>
          </a:p>
        </p:txBody>
      </p:sp>
      <p:sp>
        <p:nvSpPr>
          <p:cNvPr id="3" name="Text Placeholder 2"/>
          <p:cNvSpPr>
            <a:spLocks noGrp="1"/>
          </p:cNvSpPr>
          <p:nvPr>
            <p:ph type="body"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Managing Context</a:t>
            </a:r>
          </a:p>
        </p:txBody>
      </p:sp>
      <p:sp>
        <p:nvSpPr>
          <p:cNvPr id="3" name="Content Placeholder 2"/>
          <p:cNvSpPr>
            <a:spLocks noGrp="1"/>
          </p:cNvSpPr>
          <p:nvPr>
            <p:ph idx="1"/>
          </p:nvPr>
        </p:nvSpPr>
        <p:spPr/>
        <p:txBody>
          <a:bodyPr/>
          <a:lstStyle/>
          <a:p/>
          <a:p>
            <a:pPr/>
            <a:r>
              <a:t>Managing GitHub Copilot Effectively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Managing GitHub Copilot Effectively</a:t>
            </a:r>
          </a:p>
        </p:txBody>
      </p:sp>
      <p:sp>
        <p:nvSpPr>
          <p:cNvPr id="3" name="Content Placeholder 2"/>
          <p:cNvSpPr>
            <a:spLocks noGrp="1"/>
          </p:cNvSpPr>
          <p:nvPr>
            <p:ph idx="1"/>
          </p:nvPr>
        </p:nvSpPr>
        <p:spPr/>
        <p:txBody>
          <a:bodyPr/>
          <a:lstStyle/>
          <a:p/>
          <a:p>
            <a:r>
              <a:t>Copilot is powerful, but not entirely autonomous</a:t>
            </a:r>
          </a:p>
          <a:p>
            <a:r>
              <a:t>Effective use requires structure, guardrails, and clear intent</a:t>
            </a:r>
          </a:p>
          <a:p>
            <a:r>
              <a:t>Treat Copilot as a developer whose output improves with guidance</a:t>
            </a:r>
          </a:p>
          <a:p>
            <a:r>
              <a:t>Your process determines the quality of its contributions</a:t>
            </a:r>
          </a:p>
          <a:p/>
          <a:p>
            <a:r>
              <a:t>::: notes</a:t>
            </a:r>
          </a:p>
          <a:p>
            <a:r>
              <a:t>This slide frames Copilot as a tool that amplifies engineering discipline rather than replacing it.</a:t>
            </a:r>
          </a:p>
          <a:p/>
          <a:p>
            <a:r>
              <a:t>The message is: Copilot is not magic.</a:t>
            </a:r>
          </a:p>
          <a:p/>
          <a:p>
            <a:r>
              <a:t>It’s a reasoning engine that responds to structure, clarity, and context.</a:t>
            </a:r>
          </a:p>
          <a:p/>
          <a:p>
            <a:r>
              <a:t>When managed well, it becomes a force multiplier.</a:t>
            </a:r>
          </a:p>
          <a:p/>
          <a:p>
            <a:r>
              <a:t>When unmanaged, it becomes unpredictable.</a:t>
            </a:r>
          </a:p>
          <a:p>
            <a:r>
              <a:t>:::</a:t>
            </a:r>
          </a:p>
          <a:p/>
          <a:p>
            <a:r>
              <a:t>---</a:t>
            </a:r>
          </a:p>
          <a:p/>
          <a:p/>
          <a:p>
            <a:r>
              <a:t>Copilot is fast, eager, and sometimes confidently wrong</a:t>
            </a:r>
          </a:p>
          <a:p>
            <a:r>
              <a:t>Provide clear instructions, constraints, and examples</a:t>
            </a:r>
          </a:p>
          <a:p>
            <a:r>
              <a:t>Review everything – trust its speed, not its judgment</a:t>
            </a:r>
          </a:p>
          <a:p>
            <a:r>
              <a:t>Use iterative loops: instruct → generate → review → refine</a:t>
            </a:r>
          </a:p>
          <a:p>
            <a:r>
              <a:t>Give Copilot ownership of tasks, not architecture</a:t>
            </a:r>
          </a:p>
          <a:p/>
          <a:p>
            <a:r>
              <a:t>::: notes</a:t>
            </a:r>
          </a:p>
          <a:p>
            <a:r>
              <a:t>This analogy resonates with engineering teams.</a:t>
            </a:r>
          </a:p>
          <a:p/>
          <a:p>
            <a:r>
              <a:t>Copilot behaves like a junior developer: capable, but lacking context and judgment.</a:t>
            </a:r>
          </a:p>
          <a:p/>
          <a:p>
            <a:r>
              <a:t>It thrives when you give it structure and feedback.</a:t>
            </a:r>
          </a:p>
          <a:p/>
          <a:p>
            <a:r>
              <a:t>It struggles when you ask it to “just figure it out.”</a:t>
            </a:r>
          </a:p>
          <a:p/>
          <a:p>
            <a:r>
              <a:t>The more intentional your guidance, the more reliable its output becomes.</a:t>
            </a:r>
          </a:p>
          <a:p>
            <a:r>
              <a:t>:::</a:t>
            </a:r>
          </a:p>
          <a:p/>
          <a:p>
            <a:r>
              <a:t>---</a:t>
            </a:r>
          </a:p>
          <a:p/>
          <a:p/>
          <a:p>
            <a:r>
              <a:t>Copilot can only “see” a limited amount of text at once</a:t>
            </a:r>
          </a:p>
          <a:p>
            <a:r>
              <a:t>Large files, long conversations, or complex repos can exceed context</a:t>
            </a:r>
          </a:p>
          <a:p>
            <a:r>
              <a:t>Important details may fall out of the window without you realizing</a:t>
            </a:r>
          </a:p>
          <a:p>
            <a:r>
              <a:t>Use these techniques to keep context focused:</a:t>
            </a:r>
          </a:p>
          <a:p>
            <a:pPr/>
            <a:r>
              <a:t>Summaries</a:t>
            </a:r>
          </a:p>
          <a:p>
            <a:pPr/>
            <a:r>
              <a:t>Instruction files</a:t>
            </a:r>
          </a:p>
          <a:p>
            <a:pPr/>
            <a:r>
              <a:t>Modular prompts</a:t>
            </a:r>
          </a:p>
          <a:p>
            <a:pPr/>
            <a:r>
              <a:t>Smaller working sets</a:t>
            </a:r>
          </a:p>
          <a:p/>
          <a:p>
            <a:r>
              <a:t>::: notes</a:t>
            </a:r>
          </a:p>
          <a:p>
            <a:r>
              <a:t>Context windows are invisible but critical.</a:t>
            </a:r>
          </a:p>
          <a:p/>
          <a:p>
            <a:r>
              <a:t>When Copilot misses requirements or contradicts earlier decisions, it’s often because the relevant information fell outside its context window.</a:t>
            </a:r>
          </a:p>
          <a:p/>
          <a:p>
            <a:r>
              <a:t>The solution is not to “prompt harder” – it’s to structure the environment so the model always has the right information in view.</a:t>
            </a:r>
          </a:p>
          <a:p>
            <a:r>
              <a:t>:::</a:t>
            </a:r>
          </a:p>
          <a:p/>
          <a:p>
            <a:r>
              <a:t>---</a:t>
            </a:r>
          </a:p>
          <a:p/>
          <a:p/>
          <a:p>
            <a:r>
              <a:t>Be explicit about goals, constraints, and success criteria</a:t>
            </a:r>
          </a:p>
          <a:p>
            <a:r>
              <a:t>Provide examples of the desired pattern or style</a:t>
            </a:r>
          </a:p>
          <a:p>
            <a:r>
              <a:t>Break large tasks into smaller, testable steps</a:t>
            </a:r>
          </a:p>
          <a:p>
            <a:r>
              <a:t>Use instruction files for stable rules and architectural boundaries</a:t>
            </a:r>
          </a:p>
          <a:p>
            <a:r>
              <a:t>Ask Copilot to explain its reasoning when correctness matters</a:t>
            </a:r>
          </a:p>
          <a:p/>
          <a:p>
            <a:r>
              <a:t>::: notes</a:t>
            </a:r>
          </a:p>
          <a:p>
            <a:r>
              <a:t>Prompting is not about clever phrasing – it’s about clarity.</a:t>
            </a:r>
          </a:p>
          <a:p/>
          <a:p>
            <a:r>
              <a:t>Copilot performs best when you define intent, boundaries, and examples.</a:t>
            </a:r>
          </a:p>
          <a:p/>
          <a:p>
            <a:r>
              <a:t>Instruction files are especially powerful because they give Copilot a persistent “north star” for your codebase.</a:t>
            </a:r>
          </a:p>
          <a:p/>
          <a:p>
            <a:r>
              <a:t>Think of prompts as design briefs, not commands.</a:t>
            </a:r>
          </a:p>
          <a:p>
            <a:r>
              <a:t>:::</a:t>
            </a:r>
          </a:p>
          <a:p/>
          <a:p>
            <a:r>
              <a:t>---</a:t>
            </a:r>
          </a:p>
          <a:p/>
          <a:p/>
          <a:p>
            <a:r>
              <a:t>Different models excel at different tasks</a:t>
            </a:r>
          </a:p>
          <a:p>
            <a:r>
              <a:t>High‑end models (e.g., GPT‑4o, Claude Sonnet) are best for:</a:t>
            </a:r>
          </a:p>
          <a:p>
            <a:pPr/>
            <a:r>
              <a:t>Architecture</a:t>
            </a:r>
          </a:p>
          <a:p>
            <a:pPr/>
            <a:r>
              <a:t>Refactoring</a:t>
            </a:r>
          </a:p>
          <a:p>
            <a:pPr/>
            <a:r>
              <a:t>Complex reasoning</a:t>
            </a:r>
          </a:p>
          <a:p>
            <a:pPr/>
            <a:r>
              <a:t>Multi‑file changes</a:t>
            </a:r>
          </a:p>
          <a:p>
            <a:r>
              <a:t>Lightweight models are ideal for:</a:t>
            </a:r>
          </a:p>
          <a:p>
            <a:pPr/>
            <a:r>
              <a:t>Boilerplate</a:t>
            </a:r>
          </a:p>
          <a:p>
            <a:pPr/>
            <a:r>
              <a:t>Repetitive tasks</a:t>
            </a:r>
          </a:p>
          <a:p>
            <a:pPr/>
            <a:r>
              <a:t>Quick iterations</a:t>
            </a:r>
          </a:p>
          <a:p>
            <a:r>
              <a:t>Match the model to the task, not the other way around</a:t>
            </a:r>
          </a:p>
          <a:p/>
          <a:p>
            <a:r>
              <a:t>::: notes</a:t>
            </a:r>
          </a:p>
          <a:p>
            <a:r>
              <a:t>Model selection is a strategic decision.</a:t>
            </a:r>
          </a:p>
          <a:p/>
          <a:p>
            <a:r>
              <a:t>High‑end models are great for deep reasoning but can be slower or more expensive.</a:t>
            </a:r>
          </a:p>
          <a:p/>
          <a:p>
            <a:r>
              <a:t>Smaller models are fast and efficient but less capable.</a:t>
            </a:r>
          </a:p>
          <a:p/>
          <a:p>
            <a:r>
              <a:t>The key is to choose based on task complexity.</a:t>
            </a:r>
          </a:p>
          <a:p/>
          <a:p>
            <a:r>
              <a:t>For example: use a reasoning‑heavy model for designing a module, then switch to a lighter model for generating tests or scaffolding</a:t>
            </a:r>
          </a:p>
          <a:p>
            <a: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Course Modules</a:t>
            </a:r>
          </a:p>
        </p:txBody>
      </p:sp>
      <p:sp>
        <p:nvSpPr>
          <p:cNvPr id="3" name="Content Placeholder 2"/>
          <p:cNvSpPr>
            <a:spLocks noGrp="1"/>
          </p:cNvSpPr>
          <p:nvPr>
            <p:ph idx="1"/>
          </p:nvPr>
        </p:nvSpPr>
        <p:spPr/>
        <p:txBody>
          <a:bodyPr/>
          <a:lstStyle/>
          <a:p/>
          <a:p>
            <a:pPr/>
            <a:r>
              <a:t>Intro</a:t>
            </a:r>
          </a:p>
          <a:p>
            <a:pPr/>
            <a:r>
              <a:t>Module 1 - AIASD</a:t>
            </a:r>
          </a:p>
          <a:p>
            <a:pPr/>
            <a:r>
              <a:t>Module 2 - Intro to Copilot</a:t>
            </a:r>
          </a:p>
          <a:p>
            <a:pPr/>
            <a:r>
              <a:t>Module 3 - Vibbing</a:t>
            </a:r>
          </a:p>
          <a:p>
            <a:pPr/>
            <a:r>
              <a:t>Module 4 - Adding AI Guardrails</a:t>
            </a:r>
          </a:p>
          <a:p>
            <a:pPr/>
            <a:r>
              <a:t>Module 5 - Managing Context</a:t>
            </a:r>
          </a:p>
          <a:p>
            <a:pPr/>
            <a:r>
              <a:rPr b="1"/>
              <a:t>▶ Module 6 - Copilot for Teams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6 - Copilot for Teams</a:t>
            </a:r>
          </a:p>
        </p:txBody>
      </p:sp>
      <p:sp>
        <p:nvSpPr>
          <p:cNvPr id="3" name="Text Placeholder 2"/>
          <p:cNvSpPr>
            <a:spLocks noGrp="1"/>
          </p:cNvSpPr>
          <p:nvPr>
            <p:ph type="body"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