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Welcome! This presentation covers CQRS (Command Query Responsibility Segregation) - a powerful architectural pattern that separates read and write operations for improved scalability, performance, and maintainability.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delivery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CQRS solves real scalability and performance problems in complex applications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We’ll explore when to use it and when to avoid it</a:t>
            </a:r>
          </a:p>
          <a:p>
            <a:pPr lvl="0" indent="0" marL="0">
              <a:buNone/>
            </a:pPr>
          </a:p>
          <a:p>
            <a:pPr lvl="0"/>
            <a:r>
              <a:rPr/>
              <a:t>Concrete examples and implementation patterns you can apply immediately</a:t>
            </a:r>
          </a:p>
          <a:p>
            <a:pPr lvl="0" indent="0" marL="0">
              <a:buNone/>
            </a:pPr>
          </a:p>
          <a:p>
            <a:pPr lvl="0"/>
            <a:r>
              <a:rPr/>
              <a:t>Time allocation: 2-3 minutes for introduction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“How many of you have struggled with complex queries that slow down your application’s write operations? Or database schemas that try to serve both analytical reports and transactional updates?”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“CQRS addresses these exact challenges by recognizing that reads and writes often have fundamentally different requirements…”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Core concept explanation:</a:t>
            </a:r>
            <a:r>
              <a:rPr/>
              <a:t> CQRS is based on the simple principle that reads and writes often have very different requirements: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Write operations need:</a:t>
            </a:r>
            <a:r>
              <a:rPr/>
              <a:t> - Strong consistency and validation - Complex business rule enforcement - Transactional integrity - Normalized data structures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Read operations need:</a:t>
            </a:r>
            <a:r>
              <a:rPr/>
              <a:t> - Fast response times - Denormalized data for efficiency - Complex aggregations and filtering - High availability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Trying to use the same model for both creates compromises that hurt both.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Analogies:</a:t>
            </a:r>
            <a:r>
              <a:rPr/>
              <a:t> - Like having separate entrances for depositing vs. withdrawing money at a bank - Or different interfaces for writing vs. reading a book - Specialized tools for specialized jobs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Important clarification:</a:t>
            </a:r>
            <a:r>
              <a:rPr/>
              <a:t> CQRS doesn’t require separate databases (though it often leads there). You can start with separate models using the same database.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Address common misconceptions:</a:t>
            </a:r>
            <a:r>
              <a:rPr/>
              <a:t> - This isn’t just about database separation - It’s not the same as Event Sourcing (though they work well together) - It doesn’t mean every operation needs to be async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explore when CQRS adds value vs when it adds unnecessary complexity…”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CQRS Adds Value: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scenarios:</a:t>
            </a:r>
            <a:r>
              <a:rPr/>
              <a:t> - E-commerce: Product catalog queries vs. order processing - Financial systems: Account balance queries vs. transaction processing</a:t>
            </a:r>
            <a:br/>
            <a:r>
              <a:rPr/>
              <a:t>- Social media: Feed generation vs. posting content - Analytics: Reporting queries vs. operational data entry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Domain complexity scenarios:</a:t>
            </a:r>
            <a:r>
              <a:rPr/>
              <a:t> - Order management: Complex aggregation rules for writes, denormalized views for dashboards - Inventory: Stock level enforcement vs. availability queries across channels - Customer service: Ticket workflow management vs. reporting and analytics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Real-world example:</a:t>
            </a:r>
            <a:r>
              <a:rPr/>
              <a:t> “A client had order processing where a single order update touched 15+ database tables but their dashboard queries needed denormalized data across those same tables. Read queries were taking 3-5 seconds and blocking write operations. CQRS allowed them to optimize writes for speed and consistency while pre-building read models for instant query response.”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Warning signs you need CQRS:</a:t>
            </a:r>
            <a:r>
              <a:rPr/>
              <a:t> - Queries requiring 5+ table joins for simple UI displays - Write operations waiting for read-heavy queries to complete - Different parts of your application fighting for database resources - Difficulty optimizing for both read and write performance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Warning signs you DON’T need CQRS:</a:t>
            </a:r>
            <a:r>
              <a:rPr/>
              <a:t> - Todo list applications - Simple content management - Internal business tools with &lt;100 users - Startups validating product-market fit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Risk assessment:</a:t>
            </a:r>
            <a:r>
              <a:rPr/>
              <a:t> CQRS adds operational complexity. Only use when the benefits clearly outweigh the costs.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Team capability assessment:</a:t>
            </a:r>
            <a:r>
              <a:rPr/>
              <a:t> - Do you have monitoring and observability tools? - Can your team handle eventual consistency? - Do you have experience with message queues/event systems?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“For teams ready for CQRS, let’s explore the core principles that make it work…”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Principle #1: Command-Query Separation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goes beyond just method naming - it’s about fundamentally different responsibilities: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Command characteristics: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Commands are task-based, not CRUD-based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ProcessOrderCommand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OrderId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PaymentInfo PaymentInfo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Business intent is clear from the name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Never this: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UpdateOrderCommand </a:t>
            </a:r>
            <a:r>
              <a:rPr i="1">
                <a:solidFill>
                  <a:srgbClr val="60A0B0"/>
                </a:solidFill>
                <a:latin typeface="Courier"/>
              </a:rPr>
              <a:t>// Too generic!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Query characteristics: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Queries are shaped for specific needs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OrderSummaryQuery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DateRange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CustomerId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Returns exactly what the UI needs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Principle #2: Model Optimization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Write model example: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  </a:t>
            </a:r>
            <a:r>
              <a:rPr i="1">
                <a:solidFill>
                  <a:srgbClr val="60A0B0"/>
                </a:solidFill>
                <a:latin typeface="Courier"/>
              </a:rPr>
              <a:t>// Rich aggregate with business logic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ProcessPayment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PaymentInfo info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Status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OrderStatus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Pending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InvalidOperationException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"Cannot process non-pending order"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Complex business rules here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ValidatePayment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info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ApplyDiscounts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UpdateInventory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etc.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Read model example: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OrderSummaryView  </a:t>
            </a:r>
            <a:r>
              <a:rPr i="1">
                <a:solidFill>
                  <a:srgbClr val="60A0B0"/>
                </a:solidFill>
                <a:latin typeface="Courier"/>
              </a:rPr>
              <a:t>// Flat, denormalized for queries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OrderId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CustomerName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Denormalized from Customer table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ProductNames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Concatenated from OrderItems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TotalWithTax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Pre-calculated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StatusDisplay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Formatted for UI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separate models matter:</a:t>
            </a:r>
            <a:r>
              <a:rPr/>
              <a:t> - Write model can enforce complex business rules without worrying about query performance - Read model can be optimized for specific UI scenarios without compromising write logic - Each model evolves independently based on its concerns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beginner mistake:</a:t>
            </a:r>
            <a:r>
              <a:rPr/>
              <a:t> Trying to use the same model for both reads and writes. This creates a “god model” that’s optimized for nothing.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see how these models work together in a complete architecture…”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Component Deep Dive: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Command API:</a:t>
            </a:r>
            <a:r>
              <a:rPr/>
              <a:t> - Accepts commands from clients (web, mobile, API consumers) - First line of validation (basic structure, authentication) - Routes to appropriate command handlers - Returns success/failure responses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Command Handlers:</a:t>
            </a:r>
            <a:r>
              <a:rPr/>
              <a:t> - Contain business logic and domain rules - Load aggregates from write store - Execute business operations - Persist changes and publish events - Example: </a:t>
            </a:r>
            <a:r>
              <a:rPr>
                <a:latin typeface="Courier"/>
              </a:rPr>
              <a:t>ProcessOrderHandler</a:t>
            </a:r>
            <a:r>
              <a:rPr/>
              <a:t>, </a:t>
            </a:r>
            <a:r>
              <a:rPr>
                <a:latin typeface="Courier"/>
              </a:rPr>
              <a:t>UpdateInventoryHandler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Write Store:</a:t>
            </a:r>
            <a:r>
              <a:rPr/>
              <a:t> - Source of truth for all data - Optimized for transactions and consistency - Usually a traditional relational database - Stores normalized data with enforced constraints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Event Publisher:</a:t>
            </a:r>
            <a:r>
              <a:rPr/>
              <a:t> - Publishes domain events after successful writes - Ensures reliable event delivery (outbox pattern) - Enables decoupling between write and read sides - Examples: “OrderProcessed”, “InventoryUpdated”, “CustomerRegistered”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Query Handlers:</a:t>
            </a:r>
            <a:r>
              <a:rPr/>
              <a:t> - Execute read-only operations - Access pre-built read models - Apply filtering, paging, sorting - Format data for specific consumers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Read Models (Projections):</a:t>
            </a:r>
            <a:r>
              <a:rPr/>
              <a:t> - Denormalized views built from events - Optimized for query performance - Can be stored in different databases (SQL, NoSQL, search engines) - Multiple read models for different use cases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Event Flow Example:</a:t>
            </a:r>
            <a:r>
              <a:rPr/>
              <a:t> 1. </a:t>
            </a:r>
            <a:r>
              <a:rPr>
                <a:latin typeface="Courier"/>
              </a:rPr>
              <a:t>ProcessOrderCommand</a:t>
            </a:r>
            <a:r>
              <a:rPr/>
              <a:t> → </a:t>
            </a:r>
            <a:r>
              <a:rPr>
                <a:latin typeface="Courier"/>
              </a:rPr>
              <a:t>ProcessOrderHandler</a:t>
            </a:r>
            <a:r>
              <a:rPr/>
              <a:t> 2. Handler validates business rules and updates write store 3. </a:t>
            </a:r>
            <a:r>
              <a:rPr>
                <a:latin typeface="Courier"/>
              </a:rPr>
              <a:t>OrderProcessedEvent</a:t>
            </a:r>
            <a:r>
              <a:rPr/>
              <a:t> published 4. </a:t>
            </a:r>
            <a:r>
              <a:rPr>
                <a:latin typeface="Courier"/>
              </a:rPr>
              <a:t>OrderSummaryProjection</a:t>
            </a:r>
            <a:r>
              <a:rPr/>
              <a:t> handler updates read model 5. </a:t>
            </a:r>
            <a:r>
              <a:rPr>
                <a:latin typeface="Courier"/>
              </a:rPr>
              <a:t>GetOrderSummaryQuery</a:t>
            </a:r>
            <a:r>
              <a:rPr/>
              <a:t> reads from optimized read model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Storage Options:</a:t>
            </a:r>
            <a:r>
              <a:rPr/>
              <a:t> - </a:t>
            </a:r>
            <a:r>
              <a:rPr b="1"/>
              <a:t>Write Store</a:t>
            </a:r>
            <a:r>
              <a:rPr/>
              <a:t>: PostgreSQL, SQL Server (ACID transactions) - </a:t>
            </a:r>
            <a:r>
              <a:rPr b="1"/>
              <a:t>Read Store</a:t>
            </a:r>
            <a:r>
              <a:rPr/>
              <a:t>: MongoDB (documents), Redis (caching), Elasticsearch (search)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Scalability Benefits:</a:t>
            </a:r>
            <a:r>
              <a:rPr/>
              <a:t> - Write side scales for transaction throughput - Read side scales for query volume - Different databases can be optimized for their specific workloads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dive deeper into designing effective commands…”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Task-Based Command Design: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task-based vs. CRUD:</a:t>
            </a:r>
            <a:r>
              <a:rPr/>
              <a:t> - Task-based commands express business intent clearly - Easier to implement business rules and validations - Better alignment with user workflows - Clearer API contracts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Command naming patterns:</a:t>
            </a:r>
            <a:r>
              <a:rPr/>
              <a:t> - Use verbs that match business language: </a:t>
            </a:r>
            <a:r>
              <a:rPr>
                <a:latin typeface="Courier"/>
              </a:rPr>
              <a:t>ProcessOrder</a:t>
            </a:r>
            <a:r>
              <a:rPr/>
              <a:t>, </a:t>
            </a:r>
            <a:r>
              <a:rPr>
                <a:latin typeface="Courier"/>
              </a:rPr>
              <a:t>ApproveLeave</a:t>
            </a:r>
            <a:r>
              <a:rPr/>
              <a:t>, </a:t>
            </a:r>
            <a:r>
              <a:rPr>
                <a:latin typeface="Courier"/>
              </a:rPr>
              <a:t>ScheduleMeeting</a:t>
            </a:r>
            <a:r>
              <a:rPr/>
              <a:t> - Avoid generic terms: </a:t>
            </a:r>
            <a:r>
              <a:rPr>
                <a:latin typeface="Courier"/>
              </a:rPr>
              <a:t>UpdateX</a:t>
            </a:r>
            <a:r>
              <a:rPr/>
              <a:t>, </a:t>
            </a:r>
            <a:r>
              <a:rPr>
                <a:latin typeface="Courier"/>
              </a:rPr>
              <a:t>ModifyX</a:t>
            </a:r>
            <a:r>
              <a:rPr/>
              <a:t>, </a:t>
            </a:r>
            <a:r>
              <a:rPr>
                <a:latin typeface="Courier"/>
              </a:rPr>
              <a:t>ChangeX</a:t>
            </a:r>
            <a:r>
              <a:rPr/>
              <a:t> - Include context when needed: </a:t>
            </a:r>
            <a:r>
              <a:rPr>
                <a:latin typeface="Courier"/>
              </a:rPr>
              <a:t>ProcessOrderPayment</a:t>
            </a:r>
            <a:r>
              <a:rPr/>
              <a:t> vs. just </a:t>
            </a:r>
            <a:r>
              <a:rPr>
                <a:latin typeface="Courier"/>
              </a:rPr>
              <a:t>ProcessPayment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Command structure:</a:t>
            </a:r>
            <a:r>
              <a:rPr/>
              <a:t> - Include only data needed for the operation - No behavior or logic in command objects - Immutable data contracts - Use value objects for complex data (Address, Money, etc.)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Command validation strategy:</a:t>
            </a:r>
            <a:r>
              <a:rPr/>
              <a:t> 1. </a:t>
            </a:r>
            <a:r>
              <a:rPr b="1"/>
              <a:t>Structural validation</a:t>
            </a:r>
            <a:r>
              <a:rPr/>
              <a:t>: Basic data type/format validation at API level 2. </a:t>
            </a:r>
            <a:r>
              <a:rPr b="1"/>
              <a:t>Business validation</a:t>
            </a:r>
            <a:r>
              <a:rPr/>
              <a:t>: Complex rules in the handler that require domain knowledge 3. </a:t>
            </a:r>
            <a:r>
              <a:rPr b="1"/>
              <a:t>Cross-aggregate validation</a:t>
            </a:r>
            <a:r>
              <a:rPr/>
              <a:t>: Use domain services when needed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Handler responsibilities:</a:t>
            </a:r>
            <a:r>
              <a:rPr/>
              <a:t> 1. </a:t>
            </a:r>
            <a:r>
              <a:rPr b="1"/>
              <a:t>Load</a:t>
            </a:r>
            <a:r>
              <a:rPr/>
              <a:t>: Get necessary aggregates from the write store 2. </a:t>
            </a:r>
            <a:r>
              <a:rPr b="1"/>
              <a:t>Execute</a:t>
            </a:r>
            <a:r>
              <a:rPr/>
              <a:t>: Call domain methods that contain business logic 3. </a:t>
            </a:r>
            <a:r>
              <a:rPr b="1"/>
              <a:t>Persist</a:t>
            </a:r>
            <a:r>
              <a:rPr/>
              <a:t>: Save changes to the write store 4. </a:t>
            </a:r>
            <a:r>
              <a:rPr b="1"/>
              <a:t>Publish</a:t>
            </a:r>
            <a:r>
              <a:rPr/>
              <a:t>: Emit events for interested parties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Error handling patterns: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Return success/failure, don't throw exceptions for business rule violations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(!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CanBeProcessed</a:t>
            </a:r>
            <a:r>
              <a:rPr>
                <a:solidFill>
                  <a:srgbClr val="666666"/>
                </a:solidFill>
                <a:latin typeface="Courier"/>
              </a:rPr>
              <a:t>())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Failure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"Order cannot be processed in current state"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Throw exceptions only for technical errors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paymentService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InvalidOperationException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"Payment service not configured"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Aggregate design:</a:t>
            </a:r>
            <a:r>
              <a:rPr/>
              <a:t> - Keep aggregates small and focused - One command should typically affect one aggregate - Use domain events for cross-aggregate communication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Idempotency:</a:t>
            </a:r>
            <a:r>
              <a:rPr/>
              <a:t> Commands should be idempotent when possible: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Check if already processed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Status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OrderStatus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Processed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Success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Already done, that's fine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Testing strategy:</a:t>
            </a:r>
            <a:r>
              <a:rPr/>
              <a:t> - Test command handlers, not just commands - Use mocks for repositories and external services - Focus on business logic scenarios - Test both success and failure cases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see how the query side is designed for optimal reading…”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Query Model Design Philosophy: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Shape for specific consumers:</a:t>
            </a:r>
            <a:r>
              <a:rPr/>
              <a:t> Each query model should be designed for a specific use case, not generic data access.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UI-driven design:</a:t>
            </a:r>
            <a:r>
              <a:rPr/>
              <a:t> - Start with the UI mockup or wireframe - Design the query response to exactly match what the UI needs - Include computed/formatted values to minimize client-side logic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Example scenarios: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Dashboard queries: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SalesDashboardQuery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DateRange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Region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SalesDashboardView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TotalRevenue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OrderCount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AverageOrderValue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Pre-calculated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TopProduct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TopSellingProducts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Dictionary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RevenueByCategory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Mobile vs. Web:</a:t>
            </a:r>
            <a:r>
              <a:rPr/>
              <a:t> Different clients may need different representations: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Mobile - minimal data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OrderSummaryMobileView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OrderNumber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StatusIcon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"✓", "🚚", "⏳"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Total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Web - detailed data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OrderSummaryWebView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OrderNumber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DetailedStatus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OrderDate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OrderLineItem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Items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ShippingInfo Shipping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... much more detail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Projection patterns: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1. Real-time projections:</a:t>
            </a:r>
            <a:r>
              <a:rPr/>
              <a:t> - Updated immediately when events occur - Good for critical business data - Requires reliable event processing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2. Batch projections:</a:t>
            </a:r>
            <a:r>
              <a:rPr/>
              <a:t> - Updated on schedule (hourly, daily) - Good for analytical data - More efficient for large datasets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3. On-demand projections:</a:t>
            </a:r>
            <a:r>
              <a:rPr/>
              <a:t> - Built when requested (with caching) - Good for rarely-used or expensive queries - Balances performance vs. storage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Read model storage strategies: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Single database approach:</a:t>
            </a:r>
            <a:r>
              <a:rPr/>
              <a:t> - Use views or materialized views - Simpler to manage - Still get query optimization benefits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Separate database approach:</a:t>
            </a:r>
            <a:r>
              <a:rPr/>
              <a:t> - Use different database technologies (MongoDB, Redis, Elasticsearch) - Better performance and scalability - More operational complexity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Query handler responsibilities: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OrderHistoryQueryHandler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IQueryHandler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OrderHistoryQuery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OrderHistoryView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OrderHistoryView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OrderHistoryQuery query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1. Apply filtering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baseQuery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_readDatabase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Where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CustomerId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CustomerId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FromDate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HasValue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baseQuery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baseQuery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Where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OrderDate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FromDate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2. Apply paging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orders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baseQuery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Skip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PageSize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PageSize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ToListAsync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3. Shape response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OrderHistoryView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Orders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orders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TotalCount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baseQuery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CountAsync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br/>
            <a:r>
              <a:rPr>
                <a:latin typeface="Courier"/>
              </a:rPr>
              <a:t>            Page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PageSize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PageSize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considerations:</a:t>
            </a:r>
            <a:r>
              <a:rPr/>
              <a:t> - Use indexes optimized for query patterns - Consider caching for frequently accessed data - Monitor and optimize slow queries - Use database-specific features (SQL Server columnstore, PostgreSQL partial indexes)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address one of the biggest concerns with CQRS - data consistency…”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Understanding Eventual Consistency: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What it means:</a:t>
            </a:r>
            <a:r>
              <a:rPr/>
              <a:t> - Write operations complete immediately - Read models are updated shortly after (usually milliseconds to seconds) - There’s a brief window where reads might not reflect the latest writes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it’s usually acceptable:</a:t>
            </a:r>
            <a:r>
              <a:rPr/>
              <a:t> - Most business operations can tolerate slight delays - Users often expect some processing time for complex operations - Massive scalability benefits outweigh minor consistency delays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scenarios: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E-commerce example:</a:t>
            </a:r>
            <a:r>
              <a:rPr/>
              <a:t> 1. User places order → Write model updated (order saved) 2. User redirected to “Thank you” page 3. Background: Order details projected to read models 4. User can view order in “My Orders” (updated within seconds)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Social media example:</a:t>
            </a:r>
            <a:r>
              <a:rPr/>
              <a:t> 1. User posts content → Write model stores post 2. User sees confirmation message 3. Background: Post projected to feeds, search indexes 4. Post appears in followers’ feeds (seconds later)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Managing user expectations: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UI patterns for eventual consistency: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Optimistic UI - show expected result immediately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processOrder</a:t>
            </a:r>
            <a:r>
              <a:rPr>
                <a:latin typeface="Courier"/>
              </a:rPr>
              <a:t>(order) 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1. Update UI optimistically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showOrderProcessing</a:t>
            </a:r>
            <a:r>
              <a:rPr>
                <a:latin typeface="Courier"/>
              </a:rPr>
              <a:t>(order)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2. Send command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api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processOrder</a:t>
            </a:r>
            <a:r>
              <a:rPr>
                <a:latin typeface="Courier"/>
              </a:rPr>
              <a:t>(order)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3. Poll for read model updates or use websockets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pollForOrderStatus</a:t>
            </a:r>
            <a:r>
              <a:rPr>
                <a:latin typeface="Courier"/>
              </a:rPr>
              <a:t>(order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id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Consistency requirement analysis: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Questions to ask:</a:t>
            </a:r>
            <a:r>
              <a:rPr/>
              <a:t> 1. What happens if the user sees stale data? 2 Is this a safety-critical operation? 3. Can we use optimistic UI patterns? 4. What’s the business impact of delays?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Strong consistency scenarios:</a:t>
            </a:r>
            <a:r>
              <a:rPr/>
              <a:t> - Financial transactions (bank balances) - Inventory checks during purchase - Security/authorization decisions - Regulatory compliance data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Eventual consistency scenarios:</a:t>
            </a:r>
            <a:r>
              <a:rPr/>
              <a:t> - User profile information - Product recommendations - Activity feeds and notifications - Analytics and reporting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Implementation strategies: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Outbox pattern for reliability: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ProcessOrder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transaction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BeginTransactionAsync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1. Write to business tables</a:t>
            </a:r>
            <a:br/>
            <a:r>
              <a:rPr>
                <a:latin typeface="Courier"/>
              </a:rPr>
              <a:t>    await _orderRepository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2. Write to outbox table (same transaction)</a:t>
            </a:r>
            <a:br/>
            <a:r>
              <a:rPr>
                <a:latin typeface="Courier"/>
              </a:rPr>
              <a:t>    await _outboxRepository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OutboxEvent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EventType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nameof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OrderProcessedEvent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    EventData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JsonSerializer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Serialize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orderEvent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    CreatedAt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DateTime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UtcNow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await transaction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CommitAsync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3. Background service publishes from outbox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Monitoring consistency lag:</a:t>
            </a:r>
            <a:r>
              <a:rPr/>
              <a:t> - Track time between write and read model updates - Alert on unusual delays - Provide user feedback for slow operations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Bounded staleness:</a:t>
            </a:r>
            <a:r>
              <a:rPr/>
              <a:t> Some applications need a middle ground: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ReadModelWithFreshness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T Data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LastUpdated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TimeSpan MaxStaleness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IsStale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DateTime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UtcNow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LastUpdated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MaxStaleness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look at practical implementation examples…”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Complete CQRS Implementation Walkthrough: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Write Side Deep Dive: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Domain modeling:</a:t>
            </a:r>
            <a:r>
              <a:rPr/>
              <a:t> The Order aggregate encapsulates all business rules about order processing: - State validation (can’t process a non-pending order) - Business rule enforcement (payment must match order total) - Domain event emission (for projection updates)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aggregates matter in CQRS:</a:t>
            </a:r>
            <a:r>
              <a:rPr/>
              <a:t> - Commands target single aggregates for consistency - Aggregates maintain business invariants - Clear boundaries for transaction scope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Event design: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OrderProcessedEvent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IDomainEvent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OrderId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CustomerId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Amount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ProcessedAt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OrderItemData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Items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Include all data needed by projections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Avoid requiring additional queries in projection handlers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Read Side Deep Dive: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Projection strategy:</a:t>
            </a:r>
            <a:r>
              <a:rPr/>
              <a:t> The projection handler builds a denormalized view that combines data from multiple sources: - Order details from the event - Customer information from customer service - Computed values (can be cancelled, item summary)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denormalization helps:</a:t>
            </a:r>
            <a:r>
              <a:rPr/>
              <a:t> - Single query returns all data needed by UI - No complex joins at query time - Pre-computed business rules (CanBeCancelled) - Formatted display values (ItemSummary)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Real-world considerations: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Error handling in projections: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OrderProcessedEvent @event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Projection logic here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Exception ex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Log error and decide: retry, dead letter, or skip</a:t>
            </a:r>
            <a:br/>
            <a:r>
              <a:rPr>
                <a:latin typeface="Courier"/>
              </a:rPr>
              <a:t>        _logger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LogError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"Failed to project OrderProcessedEvent for order {OrderId}"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For critical projections, throw to retry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For non-critical projections, log and continue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Projection idempotency:</a:t>
            </a:r>
            <a:r>
              <a:rPr/>
              <a:t> Projections should be idempotent since events might be replayed: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OrderProcessedEvent @event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existing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_readDatabase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GetOrderSummaryAsync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existing</a:t>
            </a:r>
            <a:r>
              <a:rPr>
                <a:solidFill>
                  <a:srgbClr val="666666"/>
                </a:solidFill>
                <a:latin typeface="Courier"/>
              </a:rPr>
              <a:t>?.</a:t>
            </a:r>
            <a:r>
              <a:rPr>
                <a:solidFill>
                  <a:srgbClr val="06287E"/>
                </a:solidFill>
                <a:latin typeface="Courier"/>
              </a:rPr>
              <a:t>ProcessedDate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ProcessedAt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Already processed this exact event, skip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Process the event...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Multiple read models:</a:t>
            </a:r>
            <a:r>
              <a:rPr/>
              <a:t> Different consumers need different views: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Admin dashboard view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OrderAdminView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OrderId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PaymentStatus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RefundAmount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Notes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Internal details not needed by customers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Customer view 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OrderCustomerView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OrderNumber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Friendly display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TrackingNumber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EstimatedDelivery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Customer-focused information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optimization: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Batch processing for efficiency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OrderSummaryBatchProjection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HandleBatch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OrderProcessedEvent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events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Process multiple events in single database operation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summaries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events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CreateOrderSummary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await _readDatabase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BulkUpsertAsync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summaries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Query optimization: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OrderQueryHandler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PagedResult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OrderSummaryView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GetCustomerOrders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CustomerOrderQuery query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Use database-specific optimizations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await _readDatabase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Orders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Where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CustomerId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CustomerId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Where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ProcessedDate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FromDate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Use indexed columns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OrderByDescending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ProcessedDate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OrderSummaryView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Project only needed fields</a:t>
            </a:r>
            <a:br/>
            <a:r>
              <a:rPr>
                <a:latin typeface="Courier"/>
              </a:rPr>
              <a:t>                OrderId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TotalAmount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TotalAmount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etc.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})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ToPagedResultAsync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PageSize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look at best practices and common pitfalls…”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Best Practices Deep Dive: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Start Simple Philosophy: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Many teams rush to implement full CQRS with separate databases, message queues, and event sourcing all at once. This leads to complexity overload.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Progressive CQRS adoption:</a:t>
            </a:r>
            <a:r>
              <a:rPr/>
              <a:t> 1. </a:t>
            </a:r>
            <a:r>
              <a:rPr b="1"/>
              <a:t>Phase 1</a:t>
            </a:r>
            <a:r>
              <a:rPr/>
              <a:t>: Separate command/query handlers, same database 2. </a:t>
            </a:r>
            <a:r>
              <a:rPr b="1"/>
              <a:t>Phase 2</a:t>
            </a:r>
            <a:r>
              <a:rPr/>
              <a:t>: Add read-optimized views/tables 3. </a:t>
            </a:r>
            <a:r>
              <a:rPr b="1"/>
              <a:t>Phase 3</a:t>
            </a:r>
            <a:r>
              <a:rPr/>
              <a:t>: Separate read database when performance demands it 4. </a:t>
            </a:r>
            <a:r>
              <a:rPr b="1"/>
              <a:t>Phase 4</a:t>
            </a:r>
            <a:r>
              <a:rPr/>
              <a:t>: Add event sourcing if audit/replay is needed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Example of starting simple: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Phase 1: Same database, different models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OrderWriteModel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Rich domain model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OrderReadModel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Flat, denormalized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Both use same database, but different tables/views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Use Case-Driven Design: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Instead of thinking “How do I expose my data?”, think “What does this UI/feature need?”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Example - Product search: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Generic (anti-pattern)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GetProductQuery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ProductId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Specific (good pattern)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ProductSearchQuery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SearchTerm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Categories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PriceRange PriceRange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SortOption SortBy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ProductSearchResult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ProductId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Title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Price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ImageUrl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Rating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ReviewCount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InStock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Exactly what the product search UI needs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Anti-Pattern Deep Dive: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Shared Models Problem:</a:t>
            </a:r>
            <a:r>
              <a:rPr/>
              <a:t> When you use the same model for reads and writes, you get: - Complex models that serve multiple masters - Brittle code that breaks when read or write requirements change - Poor performance (over-fetching for reads, complex updates for writes)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CRUD Commands Problem:</a:t>
            </a:r>
            <a:r>
              <a:rPr/>
              <a:t> Generic update commands are maintainability nightmares: - Unclear business intent - Difficult to implement business rules - Hard to test all possible combinations - Security issues (what if someone updates fields they shouldn’t?)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Mixed Concerns Problem:</a:t>
            </a:r>
            <a:r>
              <a:rPr/>
              <a:t> When command handlers return query data: - Violates single responsibility principle - Makes commands harder to test - Couples write and read logic - User gets inconsistent data (command succeeded but query shows old data)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Additional Anti-Patterns: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Chatty Commands: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DON'T: Multiple commands for single business operation</a:t>
            </a:r>
            <a:br/>
            <a:r>
              <a:rPr>
                <a:latin typeface="Courier"/>
              </a:rPr>
              <a:t>await _mediator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CreateOrderCommand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customerId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await _mediator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AddOrderItemCommand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item1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await _mediator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AddOrderItemCommand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item2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await _mediator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ProcessOrderCommand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DO: Single command for complete operation</a:t>
            </a:r>
            <a:br/>
            <a:r>
              <a:rPr>
                <a:latin typeface="Courier"/>
              </a:rPr>
              <a:t>await _mediator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PlaceOrderCommand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customerId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items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Anemic Read Models: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DON'T: Read models that require additional logic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OrderView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Price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Tax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Client has to calculate total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DO: Read models with all computed values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OrderView 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Subtotal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Tax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Total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Pre-calculated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TotalDisplay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"$123.45"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Synchronous Projections: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DON'T: Update read models synchronously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OrderProcessedEvent @event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await _writeRepository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await _readRepository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UpdateOrderSummary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Blocks writes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DO: Async projection updates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OrderProcessedEvent @event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await _writeRepository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_eventPublisher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PublishAsync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Async read model updates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Monitoring and Operations: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metrics to track:</a:t>
            </a:r>
            <a:r>
              <a:rPr/>
              <a:t> - Command processing time (95th percentile) - Event processing lag (time from event to projection update) - Read model freshness (how stale are the read models?) - Error rates (commands failing, projection failures)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Alerting thresholds:</a:t>
            </a:r>
            <a:r>
              <a:rPr/>
              <a:t> - Command latency &gt; 200ms (for most operations) - Projection lag &gt; 5 seconds (for real-time projections) - Error rate &gt; 1% (for production systems)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discuss migration strategies for existing systems…”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Migration Strategy Details: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gradual migration:</a:t>
            </a:r>
            <a:r>
              <a:rPr/>
              <a:t> - Reduces risk of breaking existing functionality - Allows team to learn patterns incrementally - Provides early wins to build confidence - Enables rollback at each phase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Choosing the first use case: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Good first candidates:</a:t>
            </a:r>
            <a:r>
              <a:rPr/>
              <a:t> - Features with performance problems - New features being developed - Features with complex read requirements - Features that don’t affect critical business operations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Bad first candidates:</a:t>
            </a:r>
            <a:r>
              <a:rPr/>
              <a:t> - Core business operations (billing, payments) - Features with tight coupling to other systems - Features without clear read/write boundaries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Phase-by-Phase Details: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Phase 1 Implementation: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Before: Fat service with mixed concerns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OrderService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OrderDto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ProcessAndGetOrder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ProcessOrderRequest request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Mixed write and read logic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</a:t>
            </a:r>
            <a:r>
              <a:rPr>
                <a:solidFill>
                  <a:srgbClr val="06287E"/>
                </a:solidFill>
                <a:latin typeface="Courier"/>
              </a:rPr>
              <a:t>ProcessOrder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request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await </a:t>
            </a:r>
            <a:r>
              <a:rPr>
                <a:solidFill>
                  <a:srgbClr val="06287E"/>
                </a:solidFill>
                <a:latin typeface="Courier"/>
              </a:rPr>
              <a:t>FormatOrderForDisplay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After: Separated concerns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ProcessOrderHandler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Pure write logic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await </a:t>
            </a:r>
            <a:r>
              <a:rPr>
                <a:solidFill>
                  <a:srgbClr val="06287E"/>
                </a:solidFill>
                <a:latin typeface="Courier"/>
              </a:rPr>
              <a:t>ProcessOrderLogic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GetOrderHandler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OrderView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GetOrderQuery query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Pure read logic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await </a:t>
            </a:r>
            <a:r>
              <a:rPr>
                <a:solidFill>
                  <a:srgbClr val="06287E"/>
                </a:solidFill>
                <a:latin typeface="Courier"/>
              </a:rPr>
              <a:t>GetOrderLogic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query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Phase 2 Benefits:</a:t>
            </a:r>
            <a:r>
              <a:rPr/>
              <a:t> - Immediate query performance improvements - No changes to application logic - Safe to implement and test - Measurable benefits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Phase 2 Example: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Instead of complex runtime joins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o.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, c.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, oi.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 o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customers c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o.customer_id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c.customer_id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order_items oi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o.order_id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oi.order_id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Use pre-built view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order_summary_view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order_id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Phase 3 Challenges:</a:t>
            </a:r>
            <a:r>
              <a:rPr/>
              <a:t> - Event publishing infrastructure - Message delivery guarantees - Projection error handling - Event schema evolution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Projection deployment strategy: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Deploy projection handler first (consuming events)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Then deploy command handler (publishing events)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This prevents event loss during deployment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Phase 4 Considerations:</a:t>
            </a:r>
            <a:r>
              <a:rPr/>
              <a:t> - Only when single database becomes bottleneck - Requires separate infrastructure - Operational complexity increases significantly - Consider alternatives first (read replicas, caching)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Migration Safety Nets: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Dual writes during transition: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OrderProcessedEvent @event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Update new read model</a:t>
            </a:r>
            <a:br/>
            <a:r>
              <a:rPr>
                <a:latin typeface="Courier"/>
              </a:rPr>
              <a:t>    await _newProjection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UpdateAsync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Temporarily also update old model for safety</a:t>
            </a:r>
            <a:br/>
            <a:r>
              <a:rPr>
                <a:latin typeface="Courier"/>
              </a:rPr>
              <a:t>    await _legacyService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UpdateOrderSummary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Remove legacy update after validation period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Shadow mode testing: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OrderView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GetOrderQuery query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Primary: Use legacy system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legacyResult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_legacyService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query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Shadow: Test new system (don't return result)</a:t>
            </a:r>
            <a:br/>
            <a:r>
              <a:rPr>
                <a:latin typeface="Courier"/>
              </a:rPr>
              <a:t>    _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Task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Run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newResult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_newQueryHandler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query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    _metrics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CompareResults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legacyResult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newResult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Exception ex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_logger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LogWarning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"New query handler failed"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legacyResult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Rollback strategies:</a:t>
            </a:r>
            <a:r>
              <a:rPr/>
              <a:t> - Feature flags to switch between old and new implementations - Keep legacy code until new system proves stable - Database rollback scripts for schema changes - Event replay capabilities for projection rebuilds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Success metrics:</a:t>
            </a:r>
            <a:r>
              <a:rPr/>
              <a:t> - Query response time improvements - Write throughput improvements - Developer velocity (time to add new features) - System reliability (error rates, uptime)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migration mistakes:</a:t>
            </a:r>
            <a:r>
              <a:rPr/>
              <a:t> - Trying to migrate everything at once - Not establishing monitoring before changes - Underestimating operational complexity - Not having rollback plans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wrap up with key takeaways and Q&amp;A…”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Final Inspiration and Practical Advice: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Core Value Proposition:</a:t>
            </a:r>
            <a:r>
              <a:rPr/>
              <a:t> CQRS isn’t just about architecture - it’s about recognizing that reads and writes have fundamentally different requirements and optimizing for both.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Real-world impact stories:</a:t>
            </a:r>
            <a:r>
              <a:rPr/>
              <a:t> - “A client reduced dashboard load times from 30 seconds to under 1 second by moving to CQRS read models” - “Order processing throughput increased 5x when complex reporting queries were moved to separate read models” - “Development velocity improved because developers could optimize writes and reads independently”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Action plan for attendees: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Week 1: Assessment</a:t>
            </a:r>
            <a:r>
              <a:rPr/>
              <a:t> - Identify performance bottlenecks in your current system - Look for places where complex queries affect write performance - Assess your team’s operational capabilities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Week 2: Experiment</a:t>
            </a:r>
            <a:r>
              <a:rPr/>
              <a:t> - Choose one feature with clear read/write separation - Implement separate handlers using existing database - Measure performance improvements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Month 1: Expand</a:t>
            </a:r>
            <a:r>
              <a:rPr/>
              <a:t> - Add read-optimized views or tables - Implement event publishing for projection updates - Monitor consistency and performance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Month 3: Evaluate</a:t>
            </a:r>
            <a:r>
              <a:rPr/>
              <a:t> - Assess whether separate read store is needed - Plan broader CQRS adoption if beneficial - Share learnings with team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When NOT to pursue CQRS:</a:t>
            </a:r>
            <a:r>
              <a:rPr/>
              <a:t> - Simple applications without performance problems - Small teams without operational expertise - Domains without clear read/write boundaries - Startups focusing on product-market fit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Success indicators:</a:t>
            </a:r>
            <a:r>
              <a:rPr/>
              <a:t> - Improved query performance - Better write throughput - Easier feature development - Reduced database contention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Warning signs:</a:t>
            </a:r>
            <a:r>
              <a:rPr/>
              <a:t> - Increased operational complexity without clear benefits - Team struggling with eventual consistency concepts - Over-engineering simple operations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Final thoughts:</a:t>
            </a:r>
            <a:r>
              <a:rPr/>
              <a:t> - CQRS is a tool for specific problems, not a universal solution - Start with the simplest implementation that solves your problem - Focus on measurable improvements, not architectural purity - Remember: the best architecture is the one your team can execute effectively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Questions to consider:</a:t>
            </a:r>
            <a:r>
              <a:rPr/>
              <a:t> - “What are your specific performance pain points?” - “How comfortable is your team with eventual consistency?” - “Do you have monitoring and observability in place?”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 to Q&amp;A:</a:t>
            </a:r>
            <a:r>
              <a:rPr/>
              <a:t> “Now let’s discuss your specific challenges and how CQRS might help address them…”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Q&amp;A Management: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questions and prepared answers: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Q1: “Isn’t CQRS just overcomplicating simple CRUD operations?”</a:t>
            </a:r>
            <a:r>
              <a:rPr/>
              <a:t> A: Yes, for simple CRUD! CQRS adds value when: - You have performance bottlenecks - Complex business rules affect simple reads - Different consumers need different data shapes - Read and write scalability needs differ significantly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Don’t use CQRS for todo lists or simple content management.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Q2: “How do you handle transactions that span multiple aggregates?”</a:t>
            </a:r>
            <a:r>
              <a:rPr/>
              <a:t> A: Two approaches: 1. </a:t>
            </a:r>
            <a:r>
              <a:rPr b="1"/>
              <a:t>Saga pattern</a:t>
            </a:r>
            <a:r>
              <a:rPr/>
              <a:t>: Orchestrate through events and compensating actions 2. </a:t>
            </a:r>
            <a:r>
              <a:rPr b="1"/>
              <a:t>Process managers</a:t>
            </a:r>
            <a:r>
              <a:rPr/>
              <a:t>: Coordinate multiple commands based on business workflow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Example: Order processing might emit events that inventory and billing services react to.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Q3: “What about reporting queries that need data from multiple bounded contexts?”</a:t>
            </a:r>
            <a:r>
              <a:rPr/>
              <a:t> A: Several strategies: 1. </a:t>
            </a:r>
            <a:r>
              <a:rPr b="1"/>
              <a:t>Dedicated reporting database</a:t>
            </a:r>
            <a:r>
              <a:rPr/>
              <a:t>: ETL from multiple sources 2. </a:t>
            </a:r>
            <a:r>
              <a:rPr b="1"/>
              <a:t>Event-driven reporting</a:t>
            </a:r>
            <a:r>
              <a:rPr/>
              <a:t>: Build reporting projections from events across contexts 3. </a:t>
            </a:r>
            <a:r>
              <a:rPr b="1"/>
              <a:t>API composition</a:t>
            </a:r>
            <a:r>
              <a:rPr/>
              <a:t>: Aggregate data from multiple services at query time 4. </a:t>
            </a:r>
            <a:r>
              <a:rPr b="1"/>
              <a:t>Data lake approach</a:t>
            </a:r>
            <a:r>
              <a:rPr/>
              <a:t>: Stream events to analytics platform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Q4: “How do you test eventual consistency?”</a:t>
            </a:r>
            <a:r>
              <a:rPr/>
              <a:t> A: Testing strategies: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Test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OrderProcessing_EventuallyUpdatesReadModel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Arrange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CreateTestOrder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Act</a:t>
            </a:r>
            <a:br/>
            <a:r>
              <a:rPr>
                <a:latin typeface="Courier"/>
              </a:rPr>
              <a:t>    await _commandHandler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ProcessOrderCommand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Assert - poll until read model updated</a:t>
            </a:r>
            <a:br/>
            <a:r>
              <a:rPr>
                <a:latin typeface="Courier"/>
              </a:rPr>
              <a:t>    await Eventually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AssertAsync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readModel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_queryHandler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GetOrderQuery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        Assert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That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readModel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Status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EqualTo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"Processed"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r>
              <a:rPr>
                <a:latin typeface="Courier"/>
              </a:rPr>
              <a:t> timeout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TimeSpan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FromSeconds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Q5: “What’s the difference between CQRS and Event Sourcing?”</a:t>
            </a:r>
            <a:r>
              <a:rPr/>
              <a:t> A: Often confused, but different patterns: - </a:t>
            </a:r>
            <a:r>
              <a:rPr b="1"/>
              <a:t>CQRS</a:t>
            </a:r>
            <a:r>
              <a:rPr/>
              <a:t>: Separate read and write models - </a:t>
            </a:r>
            <a:r>
              <a:rPr b="1"/>
              <a:t>Event Sourcing</a:t>
            </a:r>
            <a:r>
              <a:rPr/>
              <a:t>: Store events instead of current state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They work well together but solve different problems: - CQRS solves performance and scalability - Event Sourcing solves auditability and temporal queries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Q6: “How do you handle schema evolution in read models?”</a:t>
            </a:r>
            <a:r>
              <a:rPr/>
              <a:t> A: Versioning strategies: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Version your read models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OrderSummaryViewV2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OrderId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TotalAmount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NewField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Added in V2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static</a:t>
            </a:r>
            <a:r>
              <a:rPr>
                <a:latin typeface="Courier"/>
              </a:rPr>
              <a:t> OrderSummaryViewV2 </a:t>
            </a:r>
            <a:r>
              <a:rPr>
                <a:solidFill>
                  <a:srgbClr val="06287E"/>
                </a:solidFill>
                <a:latin typeface="Courier"/>
              </a:rPr>
              <a:t>FromV1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OrderSummaryView v1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OrderSummaryViewV2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OrderId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TotalAmount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TotalAmount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NewField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DeriveFromExisting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Q7: “What about GDPR and data deletion with CQRS?”</a:t>
            </a:r>
            <a:r>
              <a:rPr/>
              <a:t> A: Design considerations: - Include deletion events that cascade to read models - Use encryption with key deletion for “right to be forgotten” - Design aggregates with GDPR in mind from the start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Engagement techniques:</a:t>
            </a:r>
            <a:r>
              <a:rPr/>
              <a:t> - Ask for specific scenarios from audience - Draw architecture diagrams on whiteboard based on their challenges - Role-play consistency scenarios to make concepts concrete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opportunities:</a:t>
            </a:r>
            <a:r>
              <a:rPr/>
              <a:t> - Workshop on CQRS implementation patterns - Architecture review sessions for specific applications - Performance optimization consulting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hyperlink" Target="https://eventstore.com" TargetMode="External" /><Relationship Id="rId4" Type="http://schemas.openxmlformats.org/officeDocument/2006/relationships/hyperlink" Target="https://github.com/jbogard/MediatR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hyperlink" Target="https://martinfowler.com/bliki/CQRS.html" TargetMode="External" /><Relationship Id="rId4" Type="http://schemas.openxmlformats.org/officeDocument/2006/relationships/hyperlink" Target="https://eventstore.com" TargetMode="External" /><Relationship Id="rId5" Type="http://schemas.openxmlformats.org/officeDocument/2006/relationships/hyperlink" Target="https://github.com/jbogard/Mediat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CQRS Architecture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Command Query Responsibility Segregation for Scalable Systems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CQRS?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Architectural pattern that separates command (write) and query (read) responsibilities</a:t>
            </a:r>
          </a:p>
          <a:p>
            <a:pPr lvl="0"/>
            <a:r>
              <a:rPr/>
              <a:t>📝 </a:t>
            </a:r>
            <a:r>
              <a:rPr b="1"/>
              <a:t>Commands</a:t>
            </a:r>
            <a:r>
              <a:rPr/>
              <a:t> - Modify application state, enforce business rules</a:t>
            </a:r>
          </a:p>
          <a:p>
            <a:pPr lvl="0"/>
            <a:r>
              <a:rPr/>
              <a:t>📖 </a:t>
            </a:r>
            <a:r>
              <a:rPr b="1"/>
              <a:t>Queries</a:t>
            </a:r>
            <a:r>
              <a:rPr/>
              <a:t> - Retrieve data, optimized for specific use cases</a:t>
            </a:r>
            <a:br/>
          </a:p>
          <a:p>
            <a:pPr lvl="0"/>
            <a:r>
              <a:rPr/>
              <a:t>🏗️ </a:t>
            </a:r>
            <a:r>
              <a:rPr b="1"/>
              <a:t>Separate Models</a:t>
            </a:r>
            <a:r>
              <a:rPr/>
              <a:t> - Different data structures for reads vs writes</a:t>
            </a:r>
          </a:p>
          <a:p>
            <a:pPr lvl="0"/>
            <a:r>
              <a:rPr/>
              <a:t>⚡ </a:t>
            </a:r>
            <a:r>
              <a:rPr b="1"/>
              <a:t>Independent Scaling</a:t>
            </a:r>
            <a:r>
              <a:rPr/>
              <a:t> - Scale read and write sides independently</a:t>
            </a:r>
          </a:p>
          <a:p>
            <a:pPr lvl="0"/>
            <a:r>
              <a:rPr/>
              <a:t>🎯 </a:t>
            </a:r>
            <a:r>
              <a:rPr b="1"/>
              <a:t>Optimized for Purpose</a:t>
            </a:r>
            <a:r>
              <a:rPr/>
              <a:t> - Each side optimized for its specific concerns</a:t>
            </a:r>
          </a:p>
          <a:p>
            <a:pPr lvl="0" indent="0" marL="0">
              <a:buNone/>
            </a:pPr>
            <a:r>
              <a:rPr b="1"/>
              <a:t>Traditional vs CQRS:</a:t>
            </a:r>
          </a:p>
          <a:p>
            <a:pPr lvl="0" indent="0">
              <a:buNone/>
            </a:pPr>
            <a:r>
              <a:rPr>
                <a:latin typeface="Courier"/>
              </a:rPr>
              <a:t>Traditional (single model):          CQRS (separate models):
User ←→ Service ←→ Database          Commands → Write Model → Write DB
                                    Queries  ← Read Models  ← Read DB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Use CQRS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Good Candidates for CQRS</a:t>
            </a:r>
          </a:p>
          <a:p>
            <a:pPr lvl="0" indent="0" marL="0">
              <a:buNone/>
            </a:pPr>
            <a:r>
              <a:rPr b="1"/>
              <a:t>Performance &amp; Scalability Issues:</a:t>
            </a:r>
            <a:r>
              <a:rPr/>
              <a:t> - Read/write workloads scale differently - Complex queries slowing down transactional operations - Need for high read throughput vs. consistent writes</a:t>
            </a:r>
          </a:p>
          <a:p>
            <a:pPr lvl="0" indent="0" marL="0">
              <a:buNone/>
            </a:pPr>
            <a:r>
              <a:rPr b="1"/>
              <a:t>Domain Complexity:</a:t>
            </a:r>
            <a:r>
              <a:rPr/>
              <a:t> - Rich business rules that don’t map well to query needs - Different stakeholders need different views of the same data - Audit trails and event-driven workflows required</a:t>
            </a:r>
          </a:p>
          <a:p>
            <a:pPr lvl="0" indent="0" marL="0">
              <a:buNone/>
            </a:pPr>
            <a:r>
              <a:rPr b="1"/>
              <a:t>Team &amp; System Boundaries:</a:t>
            </a:r>
            <a:r>
              <a:rPr/>
              <a:t> - Separate teams managing read vs. write operations - Integration with multiple external systems - Need for multiple read models (web, mobile, reports)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When to Avoid CQRS</a:t>
            </a:r>
          </a:p>
          <a:p>
            <a:pPr lvl="0"/>
            <a:r>
              <a:rPr/>
              <a:t>Simple CRUD applications with balanced read/write patterns</a:t>
            </a:r>
          </a:p>
          <a:p>
            <a:pPr lvl="0"/>
            <a:r>
              <a:rPr/>
              <a:t>Small teams without operational expertise</a:t>
            </a:r>
          </a:p>
          <a:p>
            <a:pPr lvl="0"/>
            <a:r>
              <a:rPr/>
              <a:t>Low-complexity domains with straightforward data access needs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CQRS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Command-Query Separation</a:t>
            </a:r>
          </a:p>
          <a:p>
            <a:pPr lvl="0" indent="0" marL="0">
              <a:buNone/>
            </a:pPr>
            <a:r>
              <a:rPr b="1"/>
              <a:t>Commands (Write Side):</a:t>
            </a:r>
            <a:r>
              <a:rPr/>
              <a:t> - Modify application state - Enforce business rules and invariants - Return success/failure (minimal data) - Can fail and should be validated</a:t>
            </a:r>
          </a:p>
          <a:p>
            <a:pPr lvl="0" indent="0" marL="0">
              <a:buNone/>
            </a:pPr>
            <a:r>
              <a:rPr b="1"/>
              <a:t>Queries (Read Side):</a:t>
            </a:r>
            <a:r>
              <a:rPr/>
              <a:t> - Retrieve data for presentation - Never modify state - Optimized for specific use cases - Should always succeed (read-only)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Optimized Models</a:t>
            </a:r>
          </a:p>
          <a:p>
            <a:pPr lvl="0" indent="0" marL="0">
              <a:buNone/>
            </a:pPr>
            <a:r>
              <a:rPr b="1"/>
              <a:t>Write Model:</a:t>
            </a:r>
            <a:r>
              <a:rPr/>
              <a:t> - Normalized for consistency - Rich domain logic - Transaction boundaries - Aggregate roots</a:t>
            </a:r>
          </a:p>
          <a:p>
            <a:pPr lvl="0" indent="0" marL="0">
              <a:buNone/>
            </a:pPr>
            <a:r>
              <a:rPr b="1"/>
              <a:t>Read Model:</a:t>
            </a:r>
            <a:r>
              <a:rPr/>
              <a:t> - Denormalized for performance - Shaped for UI/consumer needs - Pre-computed values - Multiple specialized views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CQRS 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Essential Components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    ┌─────────────────┐
│   Command API   │    │    Query API    │
│  (Write Side)   │    │   (Read Side)   │
└─────────┬───────┘    └─────────┬───────┘
          │                      │
          ▼                      ▼
┌─────────────────┐    ┌─────────────────┐
│ Command Handler │    │ Query Handler   │
└─────────┬───────┘    └─────────┬───────┘
          │                      │
          ▼                      ▼
┌─────────────────┐    ┌─────────────────┐
│   Write Store   │◄───┤  Read Models    │
│  (Source of     │    │  (Projections)  │
│   Truth)        │    │                 │
└─────────────────┘    └─────────────────┘
          │
          ▼
┌─────────────────┐
│ Event Publisher │
└─────────────────┘</a:t>
            </a:r>
          </a:p>
          <a:p>
            <a:pPr lvl="0" indent="0" marL="0">
              <a:buNone/>
            </a:pPr>
            <a:r>
              <a:rPr b="1"/>
              <a:t>Data Flow:</a:t>
            </a:r>
            <a:r>
              <a:rPr/>
              <a:t> 1. Commands → Validation → Business Logic → Write Store 2. Events → Projection Updates → Read Models</a:t>
            </a:r>
            <a:br/>
            <a:r>
              <a:rPr/>
              <a:t>3. Queries → Read Models → Formatted Results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Command Model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Task-Based Commands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GOOD: Task-based, intention-revealing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ProcessOrderCommand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OrderId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PaymentDetails Payment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ShippingAddress Address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ApproveRefundCommand 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RefundId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ApprovalReason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ApprovedBy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❌ BAD: CRUD-based, generic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UpdateOrderCommand  </a:t>
            </a:r>
            <a:r>
              <a:rPr i="1">
                <a:solidFill>
                  <a:srgbClr val="60A0B0"/>
                </a:solidFill>
                <a:latin typeface="Courier"/>
              </a:rPr>
              <a:t>// What kind of update?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OrderId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Dictionary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object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Changes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Command Handler Pattern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ProcessOrderHandler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ICommandHandler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ProcessOrderCommand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1. Load aggregate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_orderRepository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GetById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2. Execute business logic</a:t>
            </a:r>
            <a:br/>
            <a:r>
              <a:rPr>
                <a:latin typeface="Courier"/>
              </a:rPr>
              <a:t>        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ProcessPayment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Payment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SetShippingAddress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Address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3. Persist changes</a:t>
            </a:r>
            <a:br/>
            <a:r>
              <a:rPr>
                <a:latin typeface="Courier"/>
              </a:rPr>
              <a:t>        await _orderRepository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4. Publish events</a:t>
            </a:r>
            <a:br/>
            <a:r>
              <a:rPr>
                <a:latin typeface="Courier"/>
              </a:rPr>
              <a:t>        await _eventPublisher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PublishAsync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OrderProcessedEvent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Success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 Model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Shaped for Consumers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✅ GOOD: UI-specific query models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CustomerOrderHistoryQuery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CustomerId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FromDate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PageSize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Page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CustomerOrderHistoryView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OrderId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OrderDate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StatusDisplay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// "Shipped on March 5th"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decimal</a:t>
            </a:r>
            <a:r>
              <a:rPr>
                <a:latin typeface="Courier"/>
              </a:rPr>
              <a:t> TotalAmount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ProductSummary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// "3 items: Book, Pen, +"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CanCancel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         </a:t>
            </a:r>
            <a:r>
              <a:rPr i="1">
                <a:solidFill>
                  <a:srgbClr val="60A0B0"/>
                </a:solidFill>
                <a:latin typeface="Courier"/>
              </a:rPr>
              <a:t>// Pre-computed business rule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Read Model Patterns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Projection handler updates read models from events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OrderSummaryProjectionHandler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IEventHandler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OrderProcessedEvent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OrderProcessedEvent @event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orderSummary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OrderSummaryView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OrderId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ToString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br/>
            <a:r>
              <a:rPr>
                <a:latin typeface="Courier"/>
              </a:rPr>
              <a:t>            CustomerName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CustomerName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OrderDate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ProcessedAt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StatusDisplay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FormatStatus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Status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        TotalAmount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Total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ProductSummary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CreateProductSummary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Items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await _readDatabase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UpsertAsync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orderSummary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Consistency Patterns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Eventual Consistency</a:t>
            </a:r>
          </a:p>
          <a:p>
            <a:pPr lvl="0" indent="0" marL="0">
              <a:buNone/>
            </a:pPr>
            <a:r>
              <a:rPr b="1"/>
              <a:t>Default CQRS Pattern:</a:t>
            </a:r>
          </a:p>
          <a:p>
            <a:pPr lvl="0" indent="0">
              <a:buNone/>
            </a:pPr>
            <a:r>
              <a:rPr>
                <a:latin typeface="Courier"/>
              </a:rPr>
              <a:t>Command → Write Store → Event → Read Model Update
   ↓           ↓          ↓           ↓
  1ms        5ms       10ms        15ms</a:t>
            </a:r>
          </a:p>
          <a:p>
            <a:pPr lvl="0" indent="0" marL="0">
              <a:buNone/>
            </a:pPr>
            <a:r>
              <a:rPr b="1"/>
              <a:t>User Experience:</a:t>
            </a:r>
            <a:r>
              <a:rPr/>
              <a:t> - Write operation completes immediately - Read models updated shortly after - UI shows “processing” or optimistic updates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Consistency Decision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Consistency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Banking transactions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write store directly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User profile 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CQRS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Order 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Bounded staleness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TTL-based refresh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Analytics 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Batch projections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Implementation Patterns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Pattern 1: Eventual consistency (standard)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await _writeModel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await _eventPublisher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Publish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OrderProcessedEvent</a:t>
            </a:r>
            <a:r>
              <a:rPr>
                <a:solidFill>
                  <a:srgbClr val="666666"/>
                </a:solidFill>
                <a:latin typeface="Courier"/>
              </a:rPr>
              <a:t>(...));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Read model will be updated asynchronously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Success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Pattern 2: Strong consistency (when needed)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OrderView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GetCriticalOrderData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Guid orderId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For critical data, query the write store directly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_writeStore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MapToView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E-Commerce Order Processing</a:t>
            </a:r>
          </a:p>
          <a:p>
            <a:pPr lvl="0" indent="0" marL="0">
              <a:buNone/>
            </a:pPr>
            <a:r>
              <a:rPr b="1"/>
              <a:t>Command Side: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Order aggregate enforces business rules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CustomerId CustomerId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OrderStatus Status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OrderItem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Items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ProcessPayment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PaymentInfo payment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Status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OrderStatus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Pending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InvalidOperationException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"Order not in correct state"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    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Items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Price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payment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Amount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InvalidOperationException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"Payment amount mismatch"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    </a:t>
            </a:r>
            <a:br/>
            <a:r>
              <a:rPr>
                <a:latin typeface="Courier"/>
              </a:rPr>
              <a:t>        Status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OrderStatus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Emit domain event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AddDomainEvent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OrderProcessedEvent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CustomerId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payment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Amount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Command handler orchestrates the workflow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ProcessOrderHandler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order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_orderRepository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GetByIdAsync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ProcessPayment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Payment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await _orderRepository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await _eventPublisher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PublishAsync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DomainEvents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Success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Query Side: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Projection creates optimized read models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OrderSummaryProjection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IEventHandler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OrderProcessedEvent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OrderProcessedEvent @event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Build denormalized view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customer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_customerService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CustomerId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orderItems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_orderItemService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summary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OrderSummaryView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OrderId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CustomerName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"{customer.FirstName} {customer.LastName}"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CustomerEmail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customer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TotalAmount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Amount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ItemCount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orderItems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ItemSummary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CreateItemSummary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orderItems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        ProcessedDate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ProcessedAt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CanBeCancelled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CanCancelOrder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ProcessedAt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await _readDatabase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UpsertAsync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summary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CanCancelOrder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DateTime processedAt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DateTime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UtcNow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processedAt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TimeSpan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FromHours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&amp; 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CQRS Best Practices</a:t>
            </a:r>
          </a:p>
          <a:p>
            <a:pPr lvl="0" indent="0" marL="0">
              <a:buNone/>
            </a:pPr>
            <a:r>
              <a:rPr b="1"/>
              <a:t>1. Start Simple</a:t>
            </a:r>
            <a:r>
              <a:rPr/>
              <a:t> - Begin with shared database, separate models - Add read store when performance requires it - Don’t over-engineer early</a:t>
            </a:r>
          </a:p>
          <a:p>
            <a:pPr lvl="0" indent="0" marL="0">
              <a:buNone/>
            </a:pPr>
            <a:r>
              <a:rPr b="1"/>
              <a:t>2. Design for Specific Use Cases</a:t>
            </a:r>
            <a:r>
              <a:rPr/>
              <a:t> - Shape queries for UI requirements - Create multiple read models for different consumers - Avoid generic “get everything” queries</a:t>
            </a:r>
          </a:p>
          <a:p>
            <a:pPr lvl="0" indent="0" marL="0">
              <a:buNone/>
            </a:pPr>
            <a:r>
              <a:rPr b="1"/>
              <a:t>3. Event-Driven Projections</a:t>
            </a:r>
            <a:r>
              <a:rPr/>
              <a:t> - Use events to update read models - Make projections idempotent - Handle projection failures gracefully</a:t>
            </a:r>
          </a:p>
          <a:p>
            <a:pPr lvl="0" indent="0" marL="0">
              <a:buNone/>
            </a:pPr>
            <a:r>
              <a:rPr b="1"/>
              <a:t>4. Monitor Everything</a:t>
            </a:r>
            <a:r>
              <a:rPr/>
              <a:t> - Track command latency - Monitor projection lag - Alert on consistency delays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Common Anti-Patterns</a:t>
            </a:r>
          </a:p>
          <a:p>
            <a:pPr lvl="0" indent="0" marL="0">
              <a:buNone/>
            </a:pPr>
            <a:r>
              <a:rPr b="1"/>
              <a:t>1. Shared Models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DON'T: Use same model for reads and writes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 </a:t>
            </a:r>
            <a:r>
              <a:rPr i="1">
                <a:solidFill>
                  <a:srgbClr val="60A0B0"/>
                </a:solidFill>
                <a:latin typeface="Courier"/>
              </a:rPr>
              <a:t>// Used for both!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Write concern: business logic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ProcessPayment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PaymentInfo info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Read concern: UI display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DisplayStatus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FormatStatus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Status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2. CRUD-based Commands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DON'T: Generic update commands 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UpdateOrderCommand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Dictionary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object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Changes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DO: Task-based commands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ProcessOrderPaymentCommand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PaymentInfo Payment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3. Query Logic in Command Handlers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DON'T: Mix query logic with commands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OrderDto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Process the order (good)</a:t>
            </a:r>
            <a:br/>
            <a:r>
              <a:rPr>
                <a:latin typeface="Courier"/>
              </a:rPr>
              <a:t>    await </a:t>
            </a:r>
            <a:r>
              <a:rPr>
                <a:solidFill>
                  <a:srgbClr val="06287E"/>
                </a:solidFill>
                <a:latin typeface="Courier"/>
              </a:rPr>
              <a:t>ProcessOrderLogic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Return formatted data (bad - this is a query concern!)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await </a:t>
            </a:r>
            <a:r>
              <a:rPr>
                <a:solidFill>
                  <a:srgbClr val="06287E"/>
                </a:solidFill>
                <a:latin typeface="Courier"/>
              </a:rPr>
              <a:t>FormatOrderForDisplay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Migration to CQRS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Gradual Migration Strategy</a:t>
            </a:r>
          </a:p>
          <a:p>
            <a:pPr lvl="0" indent="0" marL="0">
              <a:buNone/>
            </a:pPr>
            <a:r>
              <a:rPr b="1"/>
              <a:t>Phase 1: Introduce Command/Query Separation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Start with existing model, separate handlers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OrderService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Write operations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CancelOrder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CancelOrderCommand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Read operations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OrderView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GetOrder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GetOrderQuery query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OrderView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GetCustomerOrders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CustomerOrdersQuery query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Phase 2: Optimize Read Models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Add read-optimized tables/views</a:t>
            </a:r>
            <a:br/>
            <a:r>
              <a:rPr>
                <a:latin typeface="Courier"/>
              </a:rPr>
              <a:t>CREATE VIEW order_summary_view AS</a:t>
            </a:r>
            <a:br/>
            <a:r>
              <a:rPr>
                <a:latin typeface="Courier"/>
              </a:rPr>
              <a:t>SELECT </a:t>
            </a:r>
            <a:br/>
            <a:r>
              <a:rPr>
                <a:latin typeface="Courier"/>
              </a:rPr>
              <a:t>   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first_name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 '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last_name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customer_name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total_amount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item_id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item_count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created_date</a:t>
            </a:r>
            <a:br/>
            <a:r>
              <a:rPr>
                <a:latin typeface="Courier"/>
              </a:rPr>
              <a:t>FROM orders o</a:t>
            </a:r>
            <a:br/>
            <a:r>
              <a:rPr>
                <a:latin typeface="Courier"/>
              </a:rPr>
              <a:t>JOIN customers c ON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customer_id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customer_id</a:t>
            </a:r>
            <a:br/>
            <a:r>
              <a:rPr>
                <a:latin typeface="Courier"/>
              </a:rPr>
              <a:t>JOIN order_items oi ON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order_id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order_id</a:t>
            </a:r>
            <a:br/>
            <a:r>
              <a:rPr>
                <a:latin typeface="Courier"/>
              </a:rPr>
              <a:t>GROUP BY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order_id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first_name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last_name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total_amount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created_date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Phase 3: Event-Driven Projections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Add event publishing and projection handlers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ProcessOrderHandler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ProcessOrderCommand command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Existing business logic</a:t>
            </a:r>
            <a:br/>
            <a:r>
              <a:rPr>
                <a:latin typeface="Courier"/>
              </a:rPr>
              <a:t>        await </a:t>
            </a:r>
            <a:r>
              <a:rPr>
                <a:solidFill>
                  <a:srgbClr val="06287E"/>
                </a:solidFill>
                <a:latin typeface="Courier"/>
              </a:rPr>
              <a:t>ProcessOrderLogic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Add event publishing</a:t>
            </a:r>
            <a:br/>
            <a:r>
              <a:rPr>
                <a:latin typeface="Courier"/>
              </a:rPr>
              <a:t>        await _eventPublisher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PublishAsync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OrderProcessedEvent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OrderId</a:t>
            </a:r>
            <a:r>
              <a:rPr>
                <a:solidFill>
                  <a:srgbClr val="666666"/>
                </a:solidFill>
                <a:latin typeface="Courier"/>
              </a:rPr>
              <a:t>));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Phase 4: Separate Read Store (if needed)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Migration Checklist</a:t>
            </a:r>
          </a:p>
          <a:p>
            <a:pPr lvl="0"/>
            <a:r>
              <a:rPr/>
              <a:t>☐ Identify high-value use case to convert first</a:t>
            </a:r>
          </a:p>
          <a:p>
            <a:pPr lvl="0"/>
            <a:r>
              <a:rPr/>
              <a:t>☐ Establish monitoring for current performance baseline</a:t>
            </a:r>
          </a:p>
          <a:p>
            <a:pPr lvl="0"/>
            <a:r>
              <a:rPr/>
              <a:t>☐ Implement command/query separation with existing data store</a:t>
            </a:r>
          </a:p>
          <a:p>
            <a:pPr lvl="0"/>
            <a:r>
              <a:rPr/>
              <a:t>☐ Add event publishing infrastructure</a:t>
            </a:r>
          </a:p>
          <a:p>
            <a:pPr lvl="0"/>
            <a:r>
              <a:rPr/>
              <a:t>☐ Create first projection with monitoring</a:t>
            </a:r>
          </a:p>
          <a:p>
            <a:pPr lvl="0"/>
            <a:r>
              <a:rPr/>
              <a:t>☐ Validate read model consistency</a:t>
            </a:r>
          </a:p>
          <a:p>
            <a:pPr lvl="0"/>
            <a:r>
              <a:rPr/>
              <a:t>☐ Gradually migrate other use cases</a:t>
            </a:r>
          </a:p>
          <a:p>
            <a:pPr lvl="0"/>
            <a:r>
              <a:rPr/>
              <a:t>☐ Consider separate read store only when performance requires 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CQRS Promise</a:t>
            </a:r>
          </a:p>
          <a:p>
            <a:pPr lvl="0" indent="0" marL="0">
              <a:buNone/>
            </a:pPr>
            <a:r>
              <a:rPr b="1"/>
              <a:t>🎯 Separate read and write concerns for optimal performance</a:t>
            </a:r>
          </a:p>
          <a:p>
            <a:pPr lvl="0" indent="0" marL="0">
              <a:buNone/>
            </a:pPr>
            <a:r>
              <a:rPr b="1"/>
              <a:t>⚡ Scale reads and writes independently</a:t>
            </a:r>
          </a:p>
          <a:p>
            <a:pPr lvl="0" indent="0" marL="0">
              <a:buNone/>
            </a:pPr>
            <a:r>
              <a:rPr b="1"/>
              <a:t>🔧 Optimize each side for its specific requirements</a:t>
            </a:r>
          </a:p>
          <a:p>
            <a:pPr lvl="0" indent="0" marL="0">
              <a:buNone/>
            </a:pPr>
            <a:r>
              <a:rPr b="1"/>
              <a:t>📊 Build powerful read models for complex queries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CQRS Adds Value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Performance problems</a:t>
            </a:r>
            <a:r>
              <a:rPr/>
              <a:t> with complex queries slowing writes ✅ </a:t>
            </a:r>
            <a:r>
              <a:rPr b="1"/>
              <a:t>Scalability needs</a:t>
            </a:r>
            <a:r>
              <a:rPr/>
              <a:t> with different read/write patterns</a:t>
            </a:r>
            <a:br/>
            <a:r>
              <a:rPr/>
              <a:t>✅ </a:t>
            </a:r>
            <a:r>
              <a:rPr b="1"/>
              <a:t>Domain complexity</a:t>
            </a:r>
            <a:r>
              <a:rPr/>
              <a:t> requiring rich business logic ✅ </a:t>
            </a:r>
            <a:r>
              <a:rPr b="1"/>
              <a:t>Multiple consumers</a:t>
            </a:r>
            <a:r>
              <a:rPr/>
              <a:t> needing different data views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Remember</a:t>
            </a:r>
          </a:p>
          <a:p>
            <a:pPr lvl="0"/>
            <a:r>
              <a:rPr b="1"/>
              <a:t>Start simple</a:t>
            </a:r>
            <a:r>
              <a:rPr/>
              <a:t> - Don’t over-engineer early</a:t>
            </a:r>
          </a:p>
          <a:p>
            <a:pPr lvl="0"/>
            <a:r>
              <a:rPr b="1"/>
              <a:t>Embrace eventual consistency</a:t>
            </a:r>
            <a:r>
              <a:rPr/>
              <a:t> - It’s usually acceptable</a:t>
            </a:r>
          </a:p>
          <a:p>
            <a:pPr lvl="0"/>
            <a:r>
              <a:rPr b="1"/>
              <a:t>Design for use cases</a:t>
            </a:r>
            <a:r>
              <a:rPr/>
              <a:t> - Shape queries for specific needs</a:t>
            </a:r>
          </a:p>
          <a:p>
            <a:pPr lvl="0"/>
            <a:r>
              <a:rPr b="1"/>
              <a:t>Monitor everything</a:t>
            </a:r>
            <a:r>
              <a:rPr/>
              <a:t> - Track latency and consistency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Resources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 b="1"/>
              <a:t>CQRS Guide</a:t>
            </a:r>
            <a:r>
              <a:rPr/>
              <a:t>: </a:t>
            </a:r>
            <a:r>
              <a:rPr>
                <a:latin typeface="Courier"/>
              </a:rPr>
              <a:t>.github/instructions/cqrs-architecture.instructions.md</a:t>
            </a:r>
            <a:r>
              <a:rPr/>
              <a:t> 🔗 </a:t>
            </a:r>
            <a:r>
              <a:rPr b="1"/>
              <a:t>Event Store</a:t>
            </a:r>
            <a:r>
              <a:rPr/>
              <a:t>: </a:t>
            </a:r>
            <a:r>
              <a:rPr>
                <a:hlinkClick r:id="rId3"/>
              </a:rPr>
              <a:t>eventstore.com</a:t>
            </a:r>
            <a:r>
              <a:rPr/>
              <a:t> 🔗 </a:t>
            </a:r>
            <a:r>
              <a:rPr b="1"/>
              <a:t>MediatR</a:t>
            </a:r>
            <a:r>
              <a:rPr/>
              <a:t>: </a:t>
            </a:r>
            <a:r>
              <a:rPr>
                <a:hlinkClick r:id="rId4"/>
              </a:rPr>
              <a:t>github.com/jbogard/MediatR</a:t>
            </a:r>
            <a:r>
              <a:rPr/>
              <a:t> 📚 </a:t>
            </a:r>
            <a:r>
              <a:rPr b="1"/>
              <a:t>Further Reading</a:t>
            </a:r>
            <a:r>
              <a:rPr/>
              <a:t>: “Implementing Domain-Driven Design” by Vaughn Vernon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Discuss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What performance challenges do you face with your current data access patterns?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Where do you see complex queries affecting write operations?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What concerns do you have about eventual consistency?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How do you currently handle scalability for reads vs. writes?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Thank You!</a:t>
            </a:r>
          </a:p>
          <a:p>
            <a:pPr lvl="0" indent="0" marL="0">
              <a:buNone/>
            </a:pPr>
            <a:r>
              <a:rPr b="1"/>
              <a:t>Slides and documentation available at:</a:t>
            </a:r>
            <a:r>
              <a:rPr/>
              <a:t> 📂 </a:t>
            </a:r>
            <a:r>
              <a:rPr>
                <a:latin typeface="Courier"/>
              </a:rPr>
              <a:t>AI-Assisted-Software-Development/Slides/individual-slides/</a:t>
            </a:r>
            <a:r>
              <a:rPr/>
              <a:t> 📚 </a:t>
            </a:r>
            <a:r>
              <a:rPr>
                <a:latin typeface="Courier"/>
              </a:rPr>
              <a:t>AI-Assisted-Software-Development/.github/instructions/</a:t>
            </a:r>
          </a:p>
          <a:p>
            <a:pPr lvl="0" indent="0" marL="0">
              <a:buNone/>
            </a:pPr>
            <a:r>
              <a:rPr b="1"/>
              <a:t>Additional resources:</a:t>
            </a:r>
            <a:r>
              <a:rPr/>
              <a:t> 🔗 </a:t>
            </a:r>
            <a:r>
              <a:rPr b="1"/>
              <a:t>Martin Fowler’s CQRS</a:t>
            </a:r>
            <a:r>
              <a:rPr/>
              <a:t>: </a:t>
            </a:r>
            <a:r>
              <a:rPr>
                <a:hlinkClick r:id="rId3"/>
              </a:rPr>
              <a:t>martinfowler.com/bliki/CQRS.html</a:t>
            </a:r>
            <a:r>
              <a:rPr/>
              <a:t> 🔗 </a:t>
            </a:r>
            <a:r>
              <a:rPr b="1"/>
              <a:t>Greg Young’s Event Store</a:t>
            </a:r>
            <a:r>
              <a:rPr/>
              <a:t>: </a:t>
            </a:r>
            <a:r>
              <a:rPr>
                <a:hlinkClick r:id="rId4"/>
              </a:rPr>
              <a:t>eventstore.com</a:t>
            </a:r>
            <a:r>
              <a:rPr/>
              <a:t> 🔗 </a:t>
            </a:r>
            <a:r>
              <a:rPr b="1"/>
              <a:t>MediatR for .NET</a:t>
            </a:r>
            <a:r>
              <a:rPr/>
              <a:t>: </a:t>
            </a:r>
            <a:r>
              <a:rPr>
                <a:hlinkClick r:id="rId5"/>
              </a:rPr>
              <a:t>github.com/jbogard/MediatR</a:t>
            </a:r>
            <a:r>
              <a:rPr/>
              <a:t> 🔗 </a:t>
            </a:r>
            <a:r>
              <a:rPr b="1"/>
              <a:t>CQRS Architecture Guide</a:t>
            </a:r>
            <a:r>
              <a:rPr/>
              <a:t>: </a:t>
            </a:r>
            <a:r>
              <a:rPr>
                <a:latin typeface="Courier"/>
              </a:rPr>
              <a:t>.github/instructions/cqrs-architecture.instructions.md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2026-02-08T06:45:27Z</dcterms:created>
  <dcterms:modified xsi:type="dcterms:W3CDTF">2026-02-08T06:45:27Z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_generated">
    <vt:lpwstr>True</vt:lpwstr>
  </property>
  <property fmtid="{D5CDD505-2E9C-101B-9397-08002B2CF9AE}" pid="3" name="ai_log">
    <vt:lpwstr>ai-logs/2026/02/07/cqrs-architecture-slides-20260207/conversation.md</vt:lpwstr>
  </property>
  <property fmtid="{D5CDD505-2E9C-101B-9397-08002B2CF9AE}" pid="4" name="chat_id">
    <vt:lpwstr>cqrs-architecture-slides-20260207</vt:lpwstr>
  </property>
  <property fmtid="{D5CDD505-2E9C-101B-9397-08002B2CF9AE}" pid="5" name="ended">
    <vt:lpwstr>2026-02-07T19:15:00Z</vt:lpwstr>
  </property>
  <property fmtid="{D5CDD505-2E9C-101B-9397-08002B2CF9AE}" pid="6" name="model">
    <vt:lpwstr>anthropic/claude-3.5-sonnet@2024-10-22</vt:lpwstr>
  </property>
  <property fmtid="{D5CDD505-2E9C-101B-9397-08002B2CF9AE}" pid="7" name="operator">
    <vt:lpwstr>johnmillerATcodemag-com</vt:lpwstr>
  </property>
  <property fmtid="{D5CDD505-2E9C-101B-9397-08002B2CF9AE}" pid="8" name="prompt">
    <vt:lpwstr>create slides that explain the CQRS architecture pattern</vt:lpwstr>
  </property>
  <property fmtid="{D5CDD505-2E9C-101B-9397-08002B2CF9AE}" pid="9" name="source">
    <vt:lpwstr>johnmillerATcodemag-com</vt:lpwstr>
  </property>
  <property fmtid="{D5CDD505-2E9C-101B-9397-08002B2CF9AE}" pid="10" name="started">
    <vt:lpwstr>2026-02-07T18:30:00Z</vt:lpwstr>
  </property>
  <property fmtid="{D5CDD505-2E9C-101B-9397-08002B2CF9AE}" pid="11" name="task_durations">
    <vt:lpwstr/>
  </property>
  <property fmtid="{D5CDD505-2E9C-101B-9397-08002B2CF9AE}" pid="12" name="total_duration">
    <vt:lpwstr>00:45:00</vt:lpwstr>
  </property>
</Properties>
</file>