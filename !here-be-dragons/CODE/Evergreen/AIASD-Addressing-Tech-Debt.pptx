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notesMaster" Target="notesMasters/notesMaster1.xml" /><Relationship Id="rId12" Type="http://schemas.openxmlformats.org/officeDocument/2006/relationships/viewProps" Target="viewProps.xml" /><Relationship Id="rId11" Type="http://schemas.openxmlformats.org/officeDocument/2006/relationships/presProps" Target="presProps.xml" /><Relationship Id="rId1" Type="http://schemas.openxmlformats.org/officeDocument/2006/relationships/slideMaster" Target="slideMasters/slideMaster1.xml" /><Relationship Id="rId14" Type="http://schemas.openxmlformats.org/officeDocument/2006/relationships/tableStyles" Target="tableStyles.xml" /><Relationship Id="rId13"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Introduce this module as the moment where AI becomes an active contributor to modernization. Technical debt is inevitable in brownfield systems, but AI can help teams address it safely, incrementally, and with strong guardrails.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Explain that Copilot responds best to structured, high‑signal prompts. The more explicit the constraints, the safer and more predictable the remediation.</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Assigning issues to Copilot formalizes the workflow. It treats Copilot like a junior developer who receives tasks, produces drafts, and awaits review.</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Reinforce that Copilot accelerates the work but does not replace human judgment. The human reviewer remains the final authority.</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Encourage participants to choose a real example from their brownfield system. The goal is clarity and safety, not complexity.</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exercise reinforces the workflow of treating Copilot as a junior developer who receives tasks and produces drafts.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exercise builds confidence in delegating larger tasks while maintaining safety and architectural alignment. Emphasize that humans remain the final reviewers.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Addressing Technical Debt</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Addressing Technical Debt</a:t>
            </a:r>
          </a:p>
        </p:txBody>
      </p:sp>
      <p:sp>
        <p:nvSpPr>
          <p:cNvPr id="3" name="Content Placeholder 2"/>
          <p:cNvSpPr>
            <a:spLocks noGrp="1"/>
          </p:cNvSpPr>
          <p:nvPr>
            <p:ph idx="1"/>
          </p:nvPr>
        </p:nvSpPr>
        <p:spPr/>
        <p:txBody>
          <a:bodyPr/>
          <a:lstStyle/>
          <a:p>
            <a:pPr lvl="0"/>
            <a:r>
              <a:rPr/>
              <a:t>Prompting Copilot to address debt</a:t>
            </a:r>
          </a:p>
          <a:p>
            <a:pPr lvl="0"/>
            <a:r>
              <a:rPr/>
              <a:t>Assigning issues to Copilot</a:t>
            </a:r>
          </a:p>
          <a:p>
            <a:pPr lvl="0"/>
            <a:r>
              <a:rPr/>
              <a:t>What Copilot does with assigned issues</a:t>
            </a:r>
          </a:p>
          <a:p>
            <a:pPr lvl="0"/>
            <a:r>
              <a:rPr/>
              <a:t>Exercises for hands‑on practice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Prompting Copilot to Address Technical Debt</a:t>
            </a:r>
          </a:p>
        </p:txBody>
      </p:sp>
      <p:sp>
        <p:nvSpPr>
          <p:cNvPr id="3" name="Content Placeholder 2"/>
          <p:cNvSpPr>
            <a:spLocks noGrp="1"/>
          </p:cNvSpPr>
          <p:nvPr>
            <p:ph idx="1"/>
          </p:nvPr>
        </p:nvSpPr>
        <p:spPr/>
        <p:txBody>
          <a:bodyPr/>
          <a:lstStyle/>
          <a:p>
            <a:pPr lvl="0" indent="0" marL="0">
              <a:spcBef>
                <a:spcPts val="3000"/>
              </a:spcBef>
              <a:buNone/>
            </a:pPr>
            <a:r>
              <a:rPr b="1"/>
              <a:t>Effective prompts include:</a:t>
            </a:r>
          </a:p>
          <a:p>
            <a:pPr lvl="0"/>
            <a:r>
              <a:rPr/>
              <a:t>Clear description of the debt</a:t>
            </a:r>
          </a:p>
          <a:p>
            <a:pPr lvl="0"/>
            <a:r>
              <a:rPr/>
              <a:t>Constraints and architectural rules</a:t>
            </a:r>
          </a:p>
          <a:p>
            <a:pPr lvl="0"/>
            <a:r>
              <a:rPr/>
              <a:t>Expected outcomes</a:t>
            </a:r>
          </a:p>
          <a:p>
            <a:pPr lvl="0"/>
            <a:r>
              <a:rPr/>
              <a:t>Required tests and documentation updates</a:t>
            </a:r>
          </a:p>
          <a:p>
            <a:pPr lvl="0"/>
            <a:r>
              <a:rPr/>
              <a:t>Provenance requirements</a:t>
            </a:r>
          </a:p>
          <a:p>
            <a:pPr lvl="0" indent="0" marL="0">
              <a:spcBef>
                <a:spcPts val="3000"/>
              </a:spcBef>
              <a:buNone/>
            </a:pPr>
            <a:r>
              <a:rPr b="1"/>
              <a:t>Benefits</a:t>
            </a:r>
          </a:p>
          <a:p>
            <a:pPr lvl="0"/>
            <a:r>
              <a:rPr/>
              <a:t>Faster remediation</a:t>
            </a:r>
          </a:p>
          <a:p>
            <a:pPr lvl="0"/>
            <a:r>
              <a:rPr/>
              <a:t>Consistent application of patterns</a:t>
            </a:r>
          </a:p>
          <a:p>
            <a:pPr lvl="0"/>
            <a:r>
              <a:rPr/>
              <a:t>Reduced manual effort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Assigning Issues to Copilot</a:t>
            </a:r>
          </a:p>
        </p:txBody>
      </p:sp>
      <p:sp>
        <p:nvSpPr>
          <p:cNvPr id="3" name="Content Placeholder 2"/>
          <p:cNvSpPr>
            <a:spLocks noGrp="1"/>
          </p:cNvSpPr>
          <p:nvPr>
            <p:ph idx="1"/>
          </p:nvPr>
        </p:nvSpPr>
        <p:spPr/>
        <p:txBody>
          <a:bodyPr/>
          <a:lstStyle/>
          <a:p>
            <a:pPr lvl="0" indent="0" marL="0">
              <a:spcBef>
                <a:spcPts val="3000"/>
              </a:spcBef>
              <a:buNone/>
            </a:pPr>
            <a:r>
              <a:rPr b="1"/>
              <a:t>How assignment works</a:t>
            </a:r>
          </a:p>
          <a:p>
            <a:pPr lvl="0"/>
            <a:r>
              <a:rPr/>
              <a:t>Convert technical debt into GitHub issues</a:t>
            </a:r>
          </a:p>
          <a:p>
            <a:pPr lvl="0"/>
            <a:r>
              <a:rPr/>
              <a:t>Provide context, constraints, and acceptance criteria</a:t>
            </a:r>
          </a:p>
          <a:p>
            <a:pPr lvl="0"/>
            <a:r>
              <a:rPr/>
              <a:t>Use Copilot to draft remediation steps</a:t>
            </a:r>
          </a:p>
          <a:p>
            <a:pPr lvl="0"/>
            <a:r>
              <a:rPr/>
              <a:t>Let Copilot propose code changes in PRs</a:t>
            </a:r>
          </a:p>
          <a:p>
            <a:pPr lvl="0" indent="0" marL="0">
              <a:spcBef>
                <a:spcPts val="3000"/>
              </a:spcBef>
              <a:buNone/>
            </a:pPr>
            <a:r>
              <a:rPr b="1"/>
              <a:t>Why assign issues?</a:t>
            </a:r>
          </a:p>
          <a:p>
            <a:pPr lvl="0"/>
            <a:r>
              <a:rPr/>
              <a:t>Creates a repeatable workflow</a:t>
            </a:r>
          </a:p>
          <a:p>
            <a:pPr lvl="0"/>
            <a:r>
              <a:rPr/>
              <a:t>Keeps humans in the reviewer role</a:t>
            </a:r>
          </a:p>
          <a:p>
            <a:pPr lvl="0"/>
            <a:r>
              <a:rPr/>
              <a:t>Ensures traceability and provenance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What Copilot Does With Assigned Issues</a:t>
            </a:r>
          </a:p>
        </p:txBody>
      </p:sp>
      <p:sp>
        <p:nvSpPr>
          <p:cNvPr id="3" name="Content Placeholder 2"/>
          <p:cNvSpPr>
            <a:spLocks noGrp="1"/>
          </p:cNvSpPr>
          <p:nvPr>
            <p:ph idx="1"/>
          </p:nvPr>
        </p:nvSpPr>
        <p:spPr/>
        <p:txBody>
          <a:bodyPr/>
          <a:lstStyle/>
          <a:p>
            <a:pPr lvl="0" indent="0" marL="0">
              <a:spcBef>
                <a:spcPts val="3000"/>
              </a:spcBef>
              <a:buNone/>
            </a:pPr>
            <a:r>
              <a:rPr b="1"/>
              <a:t>Copilot can:</a:t>
            </a:r>
          </a:p>
          <a:p>
            <a:pPr lvl="0"/>
            <a:r>
              <a:rPr/>
              <a:t>Generate proposed fixes</a:t>
            </a:r>
          </a:p>
          <a:p>
            <a:pPr lvl="0"/>
            <a:r>
              <a:rPr/>
              <a:t>Update tests</a:t>
            </a:r>
          </a:p>
          <a:p>
            <a:pPr lvl="0"/>
            <a:r>
              <a:rPr/>
              <a:t>Add documentation</a:t>
            </a:r>
          </a:p>
          <a:p>
            <a:pPr lvl="0"/>
            <a:r>
              <a:rPr/>
              <a:t>Suggest safer alternatives</a:t>
            </a:r>
          </a:p>
          <a:p>
            <a:pPr lvl="0"/>
            <a:r>
              <a:rPr/>
              <a:t>Flag missing context</a:t>
            </a:r>
          </a:p>
          <a:p>
            <a:pPr lvl="0"/>
            <a:r>
              <a:rPr/>
              <a:t>Produce PR descriptions with provenance</a:t>
            </a:r>
          </a:p>
          <a:p>
            <a:pPr lvl="0" indent="0" marL="0">
              <a:spcBef>
                <a:spcPts val="3000"/>
              </a:spcBef>
              <a:buNone/>
            </a:pPr>
            <a:r>
              <a:rPr b="1"/>
              <a:t>Human responsibilities:</a:t>
            </a:r>
          </a:p>
          <a:p>
            <a:pPr lvl="0"/>
            <a:r>
              <a:rPr/>
              <a:t>Validate correctness</a:t>
            </a:r>
          </a:p>
          <a:p>
            <a:pPr lvl="0"/>
            <a:r>
              <a:rPr/>
              <a:t>Ensure architectural alignment</a:t>
            </a:r>
          </a:p>
          <a:p>
            <a:pPr lvl="0"/>
            <a:r>
              <a:rPr/>
              <a:t>Approve or request changes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Exercise: Prompt Copilot to Address Technical Debt</a:t>
            </a:r>
          </a:p>
        </p:txBody>
      </p:sp>
      <p:sp>
        <p:nvSpPr>
          <p:cNvPr id="3" name="Content Placeholder 2"/>
          <p:cNvSpPr>
            <a:spLocks noGrp="1"/>
          </p:cNvSpPr>
          <p:nvPr>
            <p:ph idx="1"/>
          </p:nvPr>
        </p:nvSpPr>
        <p:spPr/>
        <p:txBody>
          <a:bodyPr/>
          <a:lstStyle/>
          <a:p>
            <a:pPr lvl="0" indent="0" marL="0">
              <a:spcBef>
                <a:spcPts val="3000"/>
              </a:spcBef>
              <a:buNone/>
            </a:pPr>
            <a:r>
              <a:rPr b="1"/>
              <a:t>Duration</a:t>
            </a:r>
          </a:p>
          <a:p>
            <a:pPr lvl="0" indent="0" marL="0">
              <a:buNone/>
            </a:pPr>
            <a:r>
              <a:rPr/>
              <a:t>10 minutes</a:t>
            </a:r>
          </a:p>
          <a:p>
            <a:pPr lvl="0" indent="0" marL="0">
              <a:spcBef>
                <a:spcPts val="3000"/>
              </a:spcBef>
              <a:buNone/>
            </a:pPr>
            <a:r>
              <a:rPr b="1"/>
              <a:t>Objectives</a:t>
            </a:r>
          </a:p>
          <a:p>
            <a:pPr lvl="0"/>
            <a:r>
              <a:rPr/>
              <a:t>Practice writing high‑signal prompts</a:t>
            </a:r>
          </a:p>
          <a:p>
            <a:pPr lvl="0"/>
            <a:r>
              <a:rPr/>
              <a:t>Apply architectural constraints</a:t>
            </a:r>
          </a:p>
          <a:p>
            <a:pPr lvl="0"/>
            <a:r>
              <a:rPr/>
              <a:t>Produce safe, incremental remediation requests</a:t>
            </a:r>
          </a:p>
          <a:p>
            <a:pPr lvl="0" indent="0" marL="0">
              <a:spcBef>
                <a:spcPts val="3000"/>
              </a:spcBef>
              <a:buNone/>
            </a:pPr>
            <a:r>
              <a:rPr b="1"/>
              <a:t>Activities</a:t>
            </a:r>
          </a:p>
          <a:p>
            <a:pPr lvl="0" indent="-342900" marL="342900">
              <a:buAutoNum type="arabicPeriod"/>
            </a:pPr>
            <a:r>
              <a:rPr/>
              <a:t>Select a small piece of technical debt.</a:t>
            </a:r>
          </a:p>
          <a:p>
            <a:pPr lvl="0" indent="-342900" marL="342900">
              <a:buAutoNum type="arabicPeriod"/>
            </a:pPr>
            <a:r>
              <a:rPr/>
              <a:t>Write a prompt that includes:</a:t>
            </a:r>
          </a:p>
          <a:p>
            <a:pPr lvl="1"/>
            <a:r>
              <a:rPr/>
              <a:t>Description of the debt</a:t>
            </a:r>
          </a:p>
          <a:p>
            <a:pPr lvl="1"/>
            <a:r>
              <a:rPr/>
              <a:t>Constraints and rules</a:t>
            </a:r>
          </a:p>
          <a:p>
            <a:pPr lvl="1"/>
            <a:r>
              <a:rPr/>
              <a:t>Expected behavior</a:t>
            </a:r>
          </a:p>
          <a:p>
            <a:pPr lvl="1"/>
            <a:r>
              <a:rPr/>
              <a:t>Required tests and documentation</a:t>
            </a:r>
          </a:p>
          <a:p>
            <a:pPr lvl="0" indent="-342900" marL="342900">
              <a:buAutoNum type="arabicPeriod"/>
            </a:pPr>
            <a:r>
              <a:rPr/>
              <a:t>Ask Copilot to propose a remediation.</a:t>
            </a:r>
          </a:p>
          <a:p>
            <a:pPr lvl="0" indent="-342900" marL="342900">
              <a:buAutoNum type="arabicPeriod"/>
            </a:pPr>
            <a:r>
              <a:rPr/>
              <a:t>Review the output for correctness.</a:t>
            </a:r>
          </a:p>
          <a:p>
            <a:pPr lvl="0" indent="0" marL="0">
              <a:spcBef>
                <a:spcPts val="3000"/>
              </a:spcBef>
              <a:buNone/>
            </a:pPr>
            <a:r>
              <a:rPr b="1"/>
              <a:t>Success Criteria</a:t>
            </a:r>
          </a:p>
          <a:p>
            <a:pPr lvl="0"/>
            <a:r>
              <a:rPr/>
              <a:t>Prompt is clear, scoped, and actionable</a:t>
            </a:r>
          </a:p>
          <a:p>
            <a:pPr lvl="0"/>
            <a:r>
              <a:rPr/>
              <a:t>Copilot produces a safe, incremental change</a:t>
            </a:r>
          </a:p>
          <a:p>
            <a:pPr lvl="0"/>
            <a:r>
              <a:rPr/>
              <a:t>Output aligns with architectural rules</a:t>
            </a:r>
          </a:p>
          <a:p>
            <a:pPr lvl="0"/>
            <a:r>
              <a:rPr/>
              <a:t>Provenance metadata is included</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Exercise: Assigning an Issue to Copilot</a:t>
            </a:r>
          </a:p>
        </p:txBody>
      </p:sp>
      <p:sp>
        <p:nvSpPr>
          <p:cNvPr id="3" name="Content Placeholder 2"/>
          <p:cNvSpPr>
            <a:spLocks noGrp="1"/>
          </p:cNvSpPr>
          <p:nvPr>
            <p:ph idx="1"/>
          </p:nvPr>
        </p:nvSpPr>
        <p:spPr/>
        <p:txBody>
          <a:bodyPr/>
          <a:lstStyle/>
          <a:p>
            <a:pPr lvl="0" indent="0" marL="0">
              <a:spcBef>
                <a:spcPts val="3000"/>
              </a:spcBef>
              <a:buNone/>
            </a:pPr>
            <a:r>
              <a:rPr b="1"/>
              <a:t>Duration</a:t>
            </a:r>
          </a:p>
          <a:p>
            <a:pPr lvl="0" indent="0" marL="0">
              <a:buNone/>
            </a:pPr>
            <a:r>
              <a:rPr/>
              <a:t>10 minutes</a:t>
            </a:r>
          </a:p>
          <a:p>
            <a:pPr lvl="0" indent="0" marL="0">
              <a:spcBef>
                <a:spcPts val="3000"/>
              </a:spcBef>
              <a:buNone/>
            </a:pPr>
            <a:r>
              <a:rPr b="1"/>
              <a:t>Objectives</a:t>
            </a:r>
          </a:p>
          <a:p>
            <a:pPr lvl="0"/>
            <a:r>
              <a:rPr/>
              <a:t>Convert technical debt into a structured issue</a:t>
            </a:r>
          </a:p>
          <a:p>
            <a:pPr lvl="0"/>
            <a:r>
              <a:rPr/>
              <a:t>Provide Copilot with actionable context</a:t>
            </a:r>
          </a:p>
          <a:p>
            <a:pPr lvl="0"/>
            <a:r>
              <a:rPr/>
              <a:t>Practice writing acceptance criteria</a:t>
            </a:r>
          </a:p>
          <a:p>
            <a:pPr lvl="0" indent="0" marL="0">
              <a:spcBef>
                <a:spcPts val="3000"/>
              </a:spcBef>
              <a:buNone/>
            </a:pPr>
            <a:r>
              <a:rPr b="1"/>
              <a:t>Activities</a:t>
            </a:r>
          </a:p>
          <a:p>
            <a:pPr lvl="0" indent="-342900" marL="342900">
              <a:buAutoNum type="arabicPeriod"/>
            </a:pPr>
            <a:r>
              <a:rPr/>
              <a:t>Select a technical debt item.</a:t>
            </a:r>
          </a:p>
          <a:p>
            <a:pPr lvl="0" indent="-342900" marL="342900">
              <a:buAutoNum type="arabicPeriod"/>
            </a:pPr>
            <a:r>
              <a:rPr/>
              <a:t>Create a GitHub‑style issue with:</a:t>
            </a:r>
          </a:p>
          <a:p>
            <a:pPr lvl="1"/>
            <a:r>
              <a:rPr/>
              <a:t>Title</a:t>
            </a:r>
          </a:p>
          <a:p>
            <a:pPr lvl="1"/>
            <a:r>
              <a:rPr/>
              <a:t>Description</a:t>
            </a:r>
          </a:p>
          <a:p>
            <a:pPr lvl="1"/>
            <a:r>
              <a:rPr/>
              <a:t>Impact and risk</a:t>
            </a:r>
          </a:p>
          <a:p>
            <a:pPr lvl="1"/>
            <a:r>
              <a:rPr/>
              <a:t>Acceptance criteria</a:t>
            </a:r>
          </a:p>
          <a:p>
            <a:pPr lvl="1"/>
            <a:r>
              <a:rPr/>
              <a:t>Provenance metadata</a:t>
            </a:r>
          </a:p>
          <a:p>
            <a:pPr lvl="0" indent="-342900" marL="342900">
              <a:buAutoNum type="arabicPeriod"/>
            </a:pPr>
            <a:r>
              <a:rPr/>
              <a:t>Assign the issue to Copilot.</a:t>
            </a:r>
          </a:p>
          <a:p>
            <a:pPr lvl="0" indent="-342900" marL="342900">
              <a:buAutoNum type="arabicPeriod"/>
            </a:pPr>
            <a:r>
              <a:rPr/>
              <a:t>Review Copilot’s proposed remediation.</a:t>
            </a:r>
          </a:p>
          <a:p>
            <a:pPr lvl="0" indent="0" marL="0">
              <a:spcBef>
                <a:spcPts val="3000"/>
              </a:spcBef>
              <a:buNone/>
            </a:pPr>
            <a:r>
              <a:rPr b="1"/>
              <a:t>Success Criteria</a:t>
            </a:r>
          </a:p>
          <a:p>
            <a:pPr lvl="0"/>
            <a:r>
              <a:rPr/>
              <a:t>Issue is clear and well‑structured</a:t>
            </a:r>
          </a:p>
          <a:p>
            <a:pPr lvl="0"/>
            <a:r>
              <a:rPr/>
              <a:t>Acceptance criteria are testable</a:t>
            </a:r>
          </a:p>
          <a:p>
            <a:pPr lvl="0"/>
            <a:r>
              <a:rPr/>
              <a:t>Copilot produces a relevant draft</a:t>
            </a:r>
          </a:p>
          <a:p>
            <a:pPr lvl="0"/>
            <a:r>
              <a:rPr/>
              <a:t>Provenance metadata is present</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Exercise: Delegating Work to Copilot</a:t>
            </a:r>
          </a:p>
        </p:txBody>
      </p:sp>
      <p:sp>
        <p:nvSpPr>
          <p:cNvPr id="3" name="Content Placeholder 2"/>
          <p:cNvSpPr>
            <a:spLocks noGrp="1"/>
          </p:cNvSpPr>
          <p:nvPr>
            <p:ph idx="1"/>
          </p:nvPr>
        </p:nvSpPr>
        <p:spPr/>
        <p:txBody>
          <a:bodyPr/>
          <a:lstStyle/>
          <a:p>
            <a:pPr lvl="0" indent="0" marL="0">
              <a:spcBef>
                <a:spcPts val="3000"/>
              </a:spcBef>
              <a:buNone/>
            </a:pPr>
            <a:r>
              <a:rPr b="1"/>
              <a:t>Duration</a:t>
            </a:r>
          </a:p>
          <a:p>
            <a:pPr lvl="0" indent="0" marL="0">
              <a:buNone/>
            </a:pPr>
            <a:r>
              <a:rPr/>
              <a:t>15 minutes</a:t>
            </a:r>
          </a:p>
          <a:p>
            <a:pPr lvl="0" indent="0" marL="0">
              <a:spcBef>
                <a:spcPts val="3000"/>
              </a:spcBef>
              <a:buNone/>
            </a:pPr>
            <a:r>
              <a:rPr b="1"/>
              <a:t>Objectives</a:t>
            </a:r>
          </a:p>
          <a:p>
            <a:pPr lvl="0"/>
            <a:r>
              <a:rPr/>
              <a:t>Practice delegating multi‑step tasks</a:t>
            </a:r>
          </a:p>
          <a:p>
            <a:pPr lvl="0"/>
            <a:r>
              <a:rPr/>
              <a:t>Ensure Copilot follows architectural rules</a:t>
            </a:r>
          </a:p>
          <a:p>
            <a:pPr lvl="0"/>
            <a:r>
              <a:rPr/>
              <a:t>Validate AI‑generated remediation plans</a:t>
            </a:r>
          </a:p>
          <a:p>
            <a:pPr lvl="0" indent="0" marL="0">
              <a:spcBef>
                <a:spcPts val="3000"/>
              </a:spcBef>
              <a:buNone/>
            </a:pPr>
            <a:r>
              <a:rPr b="1"/>
              <a:t>Activities</a:t>
            </a:r>
          </a:p>
          <a:p>
            <a:pPr lvl="0" indent="-342900" marL="342900">
              <a:buAutoNum type="arabicPeriod"/>
            </a:pPr>
            <a:r>
              <a:rPr/>
              <a:t>Select a multi‑step technical debt item.</a:t>
            </a:r>
          </a:p>
          <a:p>
            <a:pPr lvl="0" indent="-342900" marL="342900">
              <a:buAutoNum type="arabicPeriod"/>
            </a:pPr>
            <a:r>
              <a:rPr/>
              <a:t>Ask Copilot to:</a:t>
            </a:r>
          </a:p>
          <a:p>
            <a:pPr lvl="1"/>
            <a:r>
              <a:rPr/>
              <a:t>Analyze the problem</a:t>
            </a:r>
          </a:p>
          <a:p>
            <a:pPr lvl="1"/>
            <a:r>
              <a:rPr/>
              <a:t>Propose a remediation plan</a:t>
            </a:r>
          </a:p>
          <a:p>
            <a:pPr lvl="1"/>
            <a:r>
              <a:rPr/>
              <a:t>Generate code changes</a:t>
            </a:r>
          </a:p>
          <a:p>
            <a:pPr lvl="1"/>
            <a:r>
              <a:rPr/>
              <a:t>Update tests</a:t>
            </a:r>
          </a:p>
          <a:p>
            <a:pPr lvl="1"/>
            <a:r>
              <a:rPr/>
              <a:t>Update documentation</a:t>
            </a:r>
          </a:p>
          <a:p>
            <a:pPr lvl="0" indent="-342900" marL="342900">
              <a:buAutoNum type="arabicPeriod"/>
            </a:pPr>
            <a:r>
              <a:rPr/>
              <a:t>Review Copilot’s output.</a:t>
            </a:r>
          </a:p>
          <a:p>
            <a:pPr lvl="0" indent="-342900" marL="342900">
              <a:buAutoNum type="arabicPeriod"/>
            </a:pPr>
            <a:r>
              <a:rPr/>
              <a:t>Identify missing context or risks.</a:t>
            </a:r>
          </a:p>
          <a:p>
            <a:pPr lvl="0" indent="0" marL="0">
              <a:spcBef>
                <a:spcPts val="3000"/>
              </a:spcBef>
              <a:buNone/>
            </a:pPr>
            <a:r>
              <a:rPr b="1"/>
              <a:t>Success Criteria</a:t>
            </a:r>
          </a:p>
          <a:p>
            <a:pPr lvl="0"/>
            <a:r>
              <a:rPr/>
              <a:t>Delegation prompt is complete and structured</a:t>
            </a:r>
          </a:p>
          <a:p>
            <a:pPr lvl="0"/>
            <a:r>
              <a:rPr/>
              <a:t>Copilot produces a multi‑step plan</a:t>
            </a:r>
          </a:p>
          <a:p>
            <a:pPr lvl="0"/>
            <a:r>
              <a:rPr/>
              <a:t>Output is safe, incremental, and reversible</a:t>
            </a:r>
          </a:p>
          <a:p>
            <a:pPr lvl="0"/>
            <a:r>
              <a:rPr/>
              <a:t>Human review identifies any gaps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Addressing Technical Debt</dc:title>
  <dc:creator/>
  <cp:keywords/>
  <dcterms:created xsi:type="dcterms:W3CDTF">2026-02-04T21:10:28Z</dcterms:created>
  <dcterms:modified xsi:type="dcterms:W3CDTF">2026-02-04T21:10:28Z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arp">
    <vt:lpwstr>True</vt:lpwstr>
  </property>
  <property fmtid="{D5CDD505-2E9C-101B-9397-08002B2CF9AE}" pid="3" name="paginate">
    <vt:lpwstr>True</vt:lpwstr>
  </property>
  <property fmtid="{D5CDD505-2E9C-101B-9397-08002B2CF9AE}" pid="4" name="theme">
    <vt:lpwstr>default</vt:lpwstr>
  </property>
</Properties>
</file>