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5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2" d="100"/>
          <a:sy n="122" d="100"/>
        </p:scale>
        <p:origin x="75" y="3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introduces the concept of forking the AIASD Brownfield Example repository. Forking creates a personal copy of the repository under your GitHub account, allowing you to experiment and make changes without affecting the original.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1 minute for title slide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Forking is essential for hands-on practice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Creates an independent copy you can modify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Maintains connection to the original repository for updates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Delivery</a:t>
            </a:r>
            <a:r>
              <a:t>: Emphasize that forking is a one-time setup step that enables all subsequent exercises.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understand why we fork instead of just cloning.”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Forking creates a full copy on GitHub under your account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You have full control over your fork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sync changes from the original (upstream) repository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Essential for contributing back via pull requests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Notes</a:t>
            </a:r>
            <a:r>
              <a:t>: If showing live, navigate to GitHub and show the fork button.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Questions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“Can I just clone directly?” - Yes, but you can’t push changes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“What if the original updates?” - We’ll cover syncing forks later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“Now let’s walk through the forking process.”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3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Most intuitive method for beginners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Visual confirmation of each step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Immediate feedback in the UI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Open the repository URL in a browser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Point out the Fork button location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the fork creation dialog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Explain the options (copy all branches vs main only)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the resulting forked repository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“I don’t see the Fork button” - Check if you’re logged into GitHub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“It says ‘already forked’” - You already have a fork; use that one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Best Practice</a:t>
            </a:r>
            <a:r>
              <a:t>: Recommend copying main branch only for cleaner starting point.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“For those comfortable with the command line, here’s the CLI approach.”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3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Faster for developers comfortable with CLI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combine fork and clone in single command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Automatically sets up upstream remote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</a:t>
            </a:r>
            <a:r>
              <a:rPr>
                <a:latin typeface="Courier"/>
              </a:rPr>
              <a:t>gh auth status</a:t>
            </a:r>
            <a:r>
              <a:t> to verify authentication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Run </a:t>
            </a:r>
            <a:r>
              <a:rPr>
                <a:latin typeface="Courier"/>
              </a:rPr>
              <a:t>gh repo fork j0hnnymiller/AIASD-Brownfield-Example --clone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342900" lvl="0" indent="-342900">
              <a:buAutoNum type="arabicPeriod"/>
            </a:pPr>
            <a:r>
              <a:t>Show the resulting local directory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Run </a:t>
            </a:r>
            <a:r>
              <a:rPr>
                <a:latin typeface="Courier"/>
              </a:rPr>
              <a:t>git remote -v</a:t>
            </a:r>
            <a:r>
              <a:t> to show origin and upstream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Prerequisites Check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Verify students have GitHub CLI installed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If not, direct them to the UI method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CLI Benefits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Scriptable and repeatable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Easier to integrate into workflows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Automatically configures remotes properly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“gh command not found” - Need to install GitHub CLI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“Authentication failed” - Run </a:t>
            </a:r>
            <a:r>
              <a:rPr>
                <a:latin typeface="Courier"/>
              </a:rPr>
              <a:t>gh auth login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rPr b="1"/>
              <a:t>Transition</a:t>
            </a:r>
            <a:r>
              <a:t>: “After forking, you need to clone your fork locally.”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Clone creates a local working copy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Origin points to YOUR fork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SSH vs HTTPS depends on authentication preference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Copy the clone URL from GitHub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Run git clone command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</a:t>
            </a:r>
            <a:r>
              <a:rPr>
                <a:latin typeface="Courier"/>
              </a:rPr>
              <a:t>git remote -v</a:t>
            </a:r>
            <a:r>
              <a:t> output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directory structure with </a:t>
            </a:r>
            <a:r>
              <a:rPr>
                <a:latin typeface="Courier"/>
              </a:rPr>
              <a:t>ls</a:t>
            </a:r>
            <a:r>
              <a:t> or </a:t>
            </a:r>
            <a:r>
              <a:rPr>
                <a:latin typeface="Courier"/>
              </a:rPr>
              <a:t>dir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rPr b="1"/>
              <a:t>HTTPS vs SSH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HTTPS: Works everywhere, may require token auth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SSH: Requires SSH key setup but more convenient long-term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Verification Steps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Check that origin points to YOUR fork, not the original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Verify you can see the files locally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“Permission denied” - Authentication problem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“Repository not found” - Check the URL has YOUR username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“Next, let’s set up the connection to the original repository.”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Upstream tracks the original repository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Origin tracks your fork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Standard naming convention in Git workflows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Run </a:t>
            </a:r>
            <a:r>
              <a:rPr>
                <a:latin typeface="Courier"/>
              </a:rPr>
              <a:t>git remote add upstream</a:t>
            </a:r>
            <a:r>
              <a:t> command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</a:t>
            </a:r>
            <a:r>
              <a:rPr>
                <a:latin typeface="Courier"/>
              </a:rPr>
              <a:t>git remote -v</a:t>
            </a:r>
            <a:r>
              <a:t> showing both remotes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Explain origin vs upstream terminology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Conceptual Model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 indent="0">
              <a:buNone/>
            </a:pPr>
            <a:r>
              <a:rPr>
                <a:latin typeface="Courier"/>
              </a:rPr>
              <a:t>[Original Repo] ← upstream ← [Your Local Copy] → origin → [Your Fork]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rPr b="1"/>
              <a:t>When to Use Each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git push origin</a:t>
            </a:r>
            <a:r>
              <a:t> - Save your work to your fork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git pull upstream main</a:t>
            </a:r>
            <a:r>
              <a:t> - Get updates from original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git push upstream</a:t>
            </a:r>
            <a:r>
              <a:t> - Usually disabled (no permission)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“Upstream already exists” - Already configured, skip this step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Name confusion - Remind that these are just labels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Best Practice</a:t>
            </a:r>
            <a:r>
              <a:t>: Always fetch from upstream before starting new work.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“Now you’re ready to work with the repository.”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3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Always start from updated main branch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Work in feature branches, not main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Push to origin (your fork)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create PRs to practice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the complete workflow sequence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Emphasize the fetch → merge → branch pattern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Demonstrate creating a feature branch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a sample commit and push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Best Practices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Keep main branch clean and in sync with upstream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Use descriptive branch names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Commit frequently with clear messages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Fork Workflow Diagram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 indent="0">
              <a:buNone/>
            </a:pPr>
            <a:r>
              <a:rPr>
                <a:latin typeface="Courier"/>
              </a:rPr>
              <a:t>upstream/main → your/main → feature-branch → commit → push → PR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rPr b="1"/>
              <a:t>Syncing Frequency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Beginning of each work session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Before creating new branches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After major updates announced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“Diverged branches” - Resolve conflicts carefully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“Push failed” - Might be pushing to wrong remote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look at what to do when the original repository updates.”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Original repository may receive updates during the course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Your fork doesn’t auto-sync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Manual sync keeps you current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Two methods: CLI or GitHub UI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the command sequence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Navigate to fork on GitHub and show “Sync fork” button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Explain when this button appears (when behind upstream)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When to Sync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Before starting new exercises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When instructor announces updates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If you see “This branch is X commits behind”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Conflict Resolution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If you modified main: conflicts possible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Best practice: never modify main directly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If conflicts occur, may need to reset or resolve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UI Sync Benefits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Visual confirmation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No CLI needed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Safe for simple cases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CLI Sync Benefits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More control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see exactly what’s updating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Better for complex scenarios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“Now you have everything you need to work with the repository.”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Use this checklist to verify correct setup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All students should complete this before moving 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Quick command to verify remotes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Interactive Activity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Have students raise hands when each item is completed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Walk around to help anyone stuck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Address common issues as they arise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Troubleshooting 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 b="1"/>
              <a:t>Wrong origin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1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set-url origin https://github.com/YOUR_USERNAME/AIASD-Brownfield-Example.git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342900" lvl="0" indent="-342900">
              <a:buAutoNum type="arabicPeriod"/>
            </a:pPr>
            <a:r>
              <a:rPr b="1"/>
              <a:t>Missing upstream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1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add upstream https://github.com/j0hnnymiller/AIASD-Brownfield-Example.git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342900" lvl="0" indent="-342900">
              <a:buAutoNum type="arabicPeriod"/>
            </a:pPr>
            <a:r>
              <a:rPr b="1"/>
              <a:t>Fork not created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Return to fork instructions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Verify GitHub login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Success Criteria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All remotes configured correctly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fetch from upstream without errors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Local directory contains expected files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“With your brownfield fork ready, let’s set up the course materials repository.”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Second repository to fork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Contains all course curriculum materials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Your personal reference copy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customize and annotate freely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Repository Purpose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Master course content repository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Slides, labs, and documentation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Instruction files for AI assistants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Templates and examples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Benefits of Forking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Personalize the content with your notes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Keep access to materials long-term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Practice forking workflow again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contribute improvements back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Differentiation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Brownfield Example = Practice codebase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AI-Assisted-Software-Development = Course materials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Both are forked for full control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fork this repository using the same methods we learned.”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Same forking process as brownfield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Students should be familiar with steps now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go faster since it’s the second fork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Open repository URL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Quick demonstration of fork button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CLI alternative for speed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Emphasize this is repetition for practice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Name Considerations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keep default name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Or rename to something memorable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Example: </a:t>
            </a:r>
            <a:r>
              <a:rPr>
                <a:latin typeface="Courier"/>
              </a:rPr>
              <a:t>my-aiasd-course-2026-03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rPr b="1"/>
              <a:t>CLI Advantage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If you did brownfield via CLI, this is even faster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One command to fork and clone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Automatic remote configuration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Questions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“Do I need both forks?” - Yes, different purposes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“Can I just use one?” - Each serves different role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“Why not just share access?” - Forking gives you control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“Now let’s clone and set up this repository.”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Standard fork workflow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Same steps as brownfield repository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Students should be comfortable with this now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Run clone command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Navigate into directory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Add upstream remote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Verify with </a:t>
            </a:r>
            <a:r>
              <a:rPr>
                <a:latin typeface="Courier"/>
              </a:rPr>
              <a:t>git remote -v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rPr b="1"/>
              <a:t>Directory Structure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Show key folders: Slides/, Labs/, CODE/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Point out .github/instructions/ folder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Mention ai-logs/ for provenance tracking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Remote Configuration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Origin = Your fork (for your changes)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Upstream = Original (for course updates)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Same pattern as brownfield repo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Syncing Strategy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Pull updates from upstream when instructor announces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Push your notes/changes to origin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Keep your fork current with course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“Authentication failed” - Check GitHub credentials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“Directory exists” - Already cloned, just cd into it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“Permission denied” - Verify fork was created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“Now you have access to all course materials in your own fork.”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This is a different workflow from forking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Direct clone with personal branches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Used for collaborative course work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Each student works on their own branch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Differentiation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Brownfield Example = Your fork (full control)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20260323-AIASD = Shared repo (personal branches)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When to Use Each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Fork: Long-term projects, portfolio work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Clone + Branch: Team environments, courses, shared projects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clone this repository and set up your personal workspace.”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Standard git clone operation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No forking needed for this repository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Origin points directly to the shared repository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All students clone the same repository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Copy repository URL from GitHub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Run git clone command in your workspace directory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Navigate into the cloned directory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Verify with </a:t>
            </a:r>
            <a:r>
              <a:rPr>
                <a:latin typeface="Courier"/>
              </a:rPr>
              <a:t>git remote -v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rPr b="1"/>
              <a:t>Directory Organization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Suggest cloning in a dedicated course workspace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Example: </a:t>
            </a:r>
            <a:r>
              <a:rPr>
                <a:latin typeface="Courier"/>
              </a:rPr>
              <a:t>C:\git\courses\aiasd\</a:t>
            </a:r>
            <a:r>
              <a:t> or </a:t>
            </a:r>
            <a:r>
              <a:rPr>
                <a:latin typeface="Courier"/>
              </a:rPr>
              <a:t>~/courses/aiasd/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rPr b="1"/>
              <a:t>HTTPS vs SSH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HTTPS: Works immediately, may prompt for credentials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SSH: Requires SSH key setup but smoother for multiple operations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“Authentication failed”: Need GitHub credentials or token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“Already exists”: Directory name conflict, clone elsewhere or rename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“Now let’s create your personal branch.”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Each student creates their own named branch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Branch names should be unique and identifiable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This prevents conflicts between students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All work happens in personal branches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Naming Convention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Use lowercase with hyphens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Include “workspace” or “dev” suffix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Examples: </a:t>
            </a:r>
            <a:r>
              <a:rPr>
                <a:latin typeface="Courier"/>
              </a:rPr>
              <a:t>john-smith-workspace</a:t>
            </a:r>
            <a:r>
              <a:t>, </a:t>
            </a:r>
            <a:r>
              <a:rPr>
                <a:latin typeface="Courier"/>
              </a:rPr>
              <a:t>jane-doe-dev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lvl="0"/>
            <a:r>
              <a:t>Avoid special characters except hyphens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creating a branch with example name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</a:t>
            </a:r>
            <a:r>
              <a:rPr>
                <a:latin typeface="Courier"/>
              </a:rPr>
              <a:t>git branch</a:t>
            </a:r>
            <a:r>
              <a:t> output highlighting active branch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Explain the asterisk (*) indicates current branch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Why Personal Branches?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Isolates your work from others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Safe to experiment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Easy to reset if needed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be pushed for instructor review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Branch Strategy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One main personal branch for the session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create feature branches off your personal branch if needed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push your branch and verify the setup.”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2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Push creates your branch on the remote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-u</a:t>
            </a:r>
            <a:r>
              <a:t> flag sets up tracking for easier future pushes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Verify with a test commit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Confirms you have push access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Demo Instructions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Push the branch with </a:t>
            </a:r>
            <a:r>
              <a:rPr>
                <a:latin typeface="Courier"/>
              </a:rPr>
              <a:t>-u</a:t>
            </a:r>
            <a:r>
              <a:t> flag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the tracking information with </a:t>
            </a:r>
            <a:r>
              <a:rPr>
                <a:latin typeface="Courier"/>
              </a:rPr>
              <a:t>git branch -vv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342900" lvl="0" indent="-342900">
              <a:buAutoNum type="arabicPeriod"/>
            </a:pPr>
            <a:r>
              <a:t>Create a test commit and push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Show the branch on GitHub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Upstream Tracking Benefits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Can use </a:t>
            </a:r>
            <a:r>
              <a:rPr>
                <a:latin typeface="Courier"/>
              </a:rPr>
              <a:t>git push</a:t>
            </a:r>
            <a:r>
              <a:t> without specifying branch name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git pull</a:t>
            </a:r>
            <a:r>
              <a:t> automatically knows where to pull from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git status</a:t>
            </a:r>
            <a:r>
              <a:t> shows ahead/behind information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Permissions Check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If push fails, may not have repository access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Instructor needs to add you as collaborator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Provide your GitHub username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Best Practice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Push your branch early to claim the name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Commit and push regularly during exercises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Allows instructor to review your progress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“Permission denied”: Need to be added as collaborator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“Branch already exists”: Someone else used that name, choose another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“Now you have all three repositories set up - let’s review the workflow.”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Timing</a:t>
            </a:r>
            <a:r>
              <a:t>: 1 minute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Setup is complete for all three repositories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Two forks for independent work and reference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Personal branch for collaborative session work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Safe environment to learn and practice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Foundation for all future exercises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Three Repository Summary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Brownfield fork</a:t>
            </a:r>
            <a:r>
              <a:t>: Your independent practice workspace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Course Materials fork</a:t>
            </a:r>
            <a:r>
              <a:t>: Your personal curriculum reference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20260323-AIASD</a:t>
            </a:r>
            <a:r>
              <a:t>: Collaborative session workspace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Encouragement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Setup is a one-time effort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Worth it for comprehensive hands-on practice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Mistakes are learning opportunities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You have both independent and collaborative spaces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Preview Next Content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Next we’ll explore the repository structures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Then dive into the codebases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Start making AI-assisted improvements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Apply techniques in all three contexts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Resources Note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Bookmark all three repository URLs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Reference when needed throughout course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Forking applies to any open-source contribution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Branching applies to team development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Final Check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“Any questions about repository setup?”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Address any remaining concerns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Ensure everyone has all three repos ready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Verify everyone can push/pull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explore what’s inside these repositories.”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69538"/>
            <a:ext cx="6858000" cy="1418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714244"/>
            <a:ext cx="6858000" cy="99380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0828" y="928579"/>
            <a:ext cx="2683663" cy="96611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612451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486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9737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767729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366456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668" y="1973171"/>
            <a:ext cx="6696665" cy="117665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7136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810959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085" y="1825228"/>
            <a:ext cx="7793831" cy="28432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085" y="1083469"/>
            <a:ext cx="7793831" cy="4869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39409202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2390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336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111" y="788974"/>
            <a:ext cx="7373867" cy="276999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200">
                <a:latin typeface="Victor Mono" pitchFamily="49" charset="0"/>
              </a:defRPr>
            </a:lvl1pPr>
            <a:lvl2pPr marL="342900" indent="0">
              <a:buFontTx/>
              <a:buNone/>
              <a:defRPr>
                <a:latin typeface="Victor Mono" pitchFamily="49" charset="0"/>
              </a:defRPr>
            </a:lvl2pPr>
            <a:lvl3pPr marL="685800" indent="0">
              <a:buFontTx/>
              <a:buNone/>
              <a:defRPr>
                <a:latin typeface="Victor Mono" pitchFamily="49" charset="0"/>
              </a:defRPr>
            </a:lvl3pPr>
            <a:lvl4pPr marL="1028700" indent="0">
              <a:buFontTx/>
              <a:buNone/>
              <a:defRPr>
                <a:latin typeface="Victor Mono" pitchFamily="49" charset="0"/>
              </a:defRPr>
            </a:lvl4pPr>
            <a:lvl5pPr marL="13716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1037212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5"/>
            <a:ext cx="6696665" cy="527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09611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512088" y="318405"/>
            <a:ext cx="1337757" cy="48270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4118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Forking the AIASD Brownfield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Getting Your Own Copy to Work With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Why Fork Instead of Clone?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 dirty="0"/>
              <a:t>Forking Benefits</a:t>
            </a:r>
            <a:r>
              <a:rPr dirty="0"/>
              <a:t>:</a:t>
            </a:r>
          </a:p>
          <a:p>
            <a:pPr lvl="0"/>
            <a:r>
              <a:rPr dirty="0"/>
              <a:t>✅ Your own GitHub repository</a:t>
            </a:r>
          </a:p>
          <a:p>
            <a:pPr lvl="0"/>
            <a:r>
              <a:rPr dirty="0"/>
              <a:t>✅ Safe to experiment and break things</a:t>
            </a:r>
          </a:p>
          <a:p>
            <a:pPr lvl="0"/>
            <a:r>
              <a:rPr dirty="0"/>
              <a:t>✅ Can create pull requests back to original</a:t>
            </a:r>
          </a:p>
          <a:p>
            <a:pPr lvl="0"/>
            <a:r>
              <a:rPr dirty="0"/>
              <a:t>✅ Easy to sync updates from upstream</a:t>
            </a:r>
          </a:p>
          <a:p>
            <a:pPr lvl="0"/>
            <a:r>
              <a:rPr dirty="0"/>
              <a:t>✅ Visible in your GitHub profile</a:t>
            </a:r>
          </a:p>
          <a:p>
            <a:pPr marL="0" lvl="0" indent="0">
              <a:buNone/>
            </a:pPr>
            <a:r>
              <a:rPr b="1" dirty="0"/>
              <a:t>Direct Cloning</a:t>
            </a:r>
            <a:r>
              <a:rPr dirty="0"/>
              <a:t>:</a:t>
            </a:r>
          </a:p>
          <a:p>
            <a:pPr lvl="0"/>
            <a:r>
              <a:rPr dirty="0"/>
              <a:t>❌ No push permissions to original repo</a:t>
            </a:r>
          </a:p>
          <a:p>
            <a:pPr lvl="0"/>
            <a:r>
              <a:rPr dirty="0"/>
              <a:t>❌ Changes stay local only</a:t>
            </a:r>
          </a:p>
          <a:p>
            <a:pPr lvl="0"/>
            <a:r>
              <a:rPr dirty="0"/>
              <a:t>❌ No practice with PR workflow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Forking Via GitHub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Method 1: Web Interface</a:t>
            </a:r>
          </a:p>
          <a:p>
            <a:pPr marL="342900" lvl="0" indent="-342900">
              <a:buAutoNum type="arabicPeriod"/>
            </a:pPr>
            <a:r>
              <a:rPr b="1"/>
              <a:t>Navigate</a:t>
            </a:r>
            <a:r>
              <a:t> to https://github.com/j0hnnymiller/AIASD-Brownfield-Example</a:t>
            </a:r>
          </a:p>
          <a:p>
            <a:pPr marL="342900" lvl="0" indent="-342900">
              <a:buAutoNum type="arabicPeriod"/>
            </a:pPr>
            <a:r>
              <a:rPr b="1"/>
              <a:t>Click</a:t>
            </a:r>
            <a:r>
              <a:t> the Fork button (top-right corner)</a:t>
            </a:r>
          </a:p>
          <a:p>
            <a:pPr marL="342900" lvl="0" indent="-342900">
              <a:buAutoNum type="arabicPeriod"/>
            </a:pPr>
            <a:r>
              <a:rPr b="1"/>
              <a:t>Select</a:t>
            </a:r>
            <a:r>
              <a:t> your GitHub account as the destination</a:t>
            </a:r>
          </a:p>
          <a:p>
            <a:pPr marL="342900" lvl="0" indent="-342900">
              <a:buAutoNum type="arabicPeriod"/>
            </a:pPr>
            <a:r>
              <a:rPr b="1"/>
              <a:t>Optionally</a:t>
            </a:r>
            <a:r>
              <a:t> rename your fork</a:t>
            </a:r>
          </a:p>
          <a:p>
            <a:pPr marL="342900" lvl="0" indent="-342900">
              <a:buAutoNum type="arabicPeriod"/>
            </a:pPr>
            <a:r>
              <a:rPr b="1"/>
              <a:t>Choose</a:t>
            </a:r>
            <a:r>
              <a:t> to copy the main branch only (recommended)</a:t>
            </a:r>
          </a:p>
          <a:p>
            <a:pPr marL="342900" lvl="0" indent="-342900">
              <a:buAutoNum type="arabicPeriod"/>
            </a:pPr>
            <a:r>
              <a:rPr b="1"/>
              <a:t>Click</a:t>
            </a:r>
            <a:r>
              <a:t> “Create Fork”</a:t>
            </a:r>
          </a:p>
          <a:p>
            <a:pPr marL="0" lvl="0" indent="0">
              <a:buNone/>
            </a:pPr>
            <a:r>
              <a:t>✨ </a:t>
            </a:r>
            <a:r>
              <a:rPr b="1"/>
              <a:t>Result</a:t>
            </a:r>
            <a:r>
              <a:t>: Repository now exists at </a:t>
            </a:r>
            <a:r>
              <a:rPr>
                <a:latin typeface="Courier"/>
              </a:rPr>
              <a:t>https://github.com/YOUR_USERNAME/AIASD-Brownfield-Example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Forking Via GitHub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Method 2: Command Line (gh CLI)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Fork the repository</a:t>
            </a:r>
            <a:br/>
            <a:r>
              <a:rPr>
                <a:latin typeface="Courier"/>
              </a:rPr>
              <a:t>gh repo fork j0hnnymiller/AIASD-Brownfield-Example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Fork and clone in one step</a:t>
            </a:r>
            <a:br/>
            <a:r>
              <a:rPr>
                <a:latin typeface="Courier"/>
              </a:rPr>
              <a:t>gh repo fork j0hnnymiller/AIASD-Brownfield-Example </a:t>
            </a:r>
            <a:r>
              <a:rPr>
                <a:solidFill>
                  <a:srgbClr val="7D9029"/>
                </a:solidFill>
                <a:latin typeface="Courier"/>
              </a:rPr>
              <a:t>--clone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Fork with a custom name</a:t>
            </a:r>
            <a:br/>
            <a:r>
              <a:rPr>
                <a:latin typeface="Courier"/>
              </a:rPr>
              <a:t>gh repo fork j0hnnymiller/AIASD-Brownfield-Example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--fork-name</a:t>
            </a:r>
            <a:r>
              <a:rPr>
                <a:latin typeface="Courier"/>
              </a:rPr>
              <a:t> my-brownfield-example</a:t>
            </a:r>
          </a:p>
          <a:p>
            <a:pPr marL="0" lvl="0" indent="0">
              <a:buNone/>
            </a:pPr>
            <a:r>
              <a:rPr b="1"/>
              <a:t>Prerequisites</a:t>
            </a:r>
            <a:r>
              <a:t>: GitHub CLI installed and authenticated</a:t>
            </a:r>
          </a:p>
          <a:p>
            <a:pPr lvl="0"/>
            <a:r>
              <a:t>Install: </a:t>
            </a:r>
            <a:r>
              <a:rPr>
                <a:latin typeface="Courier"/>
              </a:rPr>
              <a:t>winget install GitHub.cli</a:t>
            </a:r>
            <a:r>
              <a:t> (Windows)</a:t>
            </a:r>
          </a:p>
          <a:p>
            <a:pPr lvl="0"/>
            <a:r>
              <a:t>Auth: </a:t>
            </a:r>
            <a:r>
              <a:rPr>
                <a:latin typeface="Courier"/>
              </a:rPr>
              <a:t>gh auth login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Cloning Your Fork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Getting the Code on Your Machine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Clone your fork (if you didn't use --clone)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https://github.com/YOUR_USERNAME/AIASD-Brownfield-Example.git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Or use SSH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git@github.com:YOUR_USERNAME/AIASD-Brownfield-Example.git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Navigate into the directory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AIASD-Brownfield-Example</a:t>
            </a:r>
          </a:p>
          <a:p>
            <a:pPr marL="0" lvl="0" indent="0">
              <a:buNone/>
            </a:pPr>
            <a:r>
              <a:rPr b="1"/>
              <a:t>Verify your setup</a:t>
            </a:r>
            <a:r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Check remote configuration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Should show: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origin  https://github.com/YOUR_USERNAME/AIASD-Brownfield-Example.git (fetch)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origin  https://github.com/YOUR_USERNAME/AIASD-Brownfield-Example.git (push)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Setting Up Upstream Remote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Staying Connected to the Original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Add the original repository as 'upstream'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add upstream https://github.com/j0hnnymiller/AIASD-Brownfield-Example.git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Verify both remotes are configured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Should show: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origin    https://github.com/YOUR_USERNAME/AIASD-Brownfield-Example.git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upstream  https://github.com/j0hnnymiller/AIASD-Brownfield-Example.git</a:t>
            </a:r>
          </a:p>
          <a:p>
            <a:pPr marL="0" lvl="0" indent="0">
              <a:buNone/>
            </a:pPr>
            <a:r>
              <a:rPr b="1"/>
              <a:t>Why?</a:t>
            </a:r>
            <a:r>
              <a:t> This lets you pull updates from the original repository while working in your fork.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Your Fork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Making Changes and Staying Updated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1. Fetch latest changes from original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fetch upstream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Merge upstream changes into your main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main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merge upstream/main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Create a feature branch for your 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</a:t>
            </a:r>
            <a:r>
              <a:rPr>
                <a:solidFill>
                  <a:srgbClr val="7D9029"/>
                </a:solidFill>
                <a:latin typeface="Courier"/>
              </a:rPr>
              <a:t>-b</a:t>
            </a:r>
            <a:r>
              <a:rPr>
                <a:latin typeface="Courier"/>
              </a:rPr>
              <a:t> feature/my-changes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4. Make changes, commit, and push to YOUR fork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"Your changes"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origin feature/my-changes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5. Create a Pull Request on GitHub (optional)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Syncing Your Fork with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Keeping Your Fork Current</a:t>
            </a:r>
          </a:p>
          <a:p>
            <a:pPr marL="0" lvl="0" indent="0">
              <a:buNone/>
            </a:pPr>
            <a:r>
              <a:rPr b="1"/>
              <a:t>When the original repository gets updates: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Fetch all changes from upstream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fetch upstream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Switch to your main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main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Merge upstream changes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merge upstream/main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Push updates to your fork on GitHub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origin main</a:t>
            </a:r>
          </a:p>
          <a:p>
            <a:pPr marL="0" lvl="0" indent="0">
              <a:buNone/>
            </a:pPr>
            <a:r>
              <a:rPr b="1"/>
              <a:t>Alternative: GitHub UI Method</a:t>
            </a:r>
          </a:p>
          <a:p>
            <a:pPr lvl="0"/>
            <a:r>
              <a:t>Click “Sync fork” button on your fork’s GitHub page</a:t>
            </a:r>
          </a:p>
          <a:p>
            <a:pPr lvl="0"/>
            <a:r>
              <a:t>Click “Update branch” to sync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Verification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Confirm Your Setup</a:t>
            </a:r>
          </a:p>
          <a:p>
            <a:pPr lvl="0"/>
            <a:r>
              <a:t>☐ Repository forked to your GitHub account</a:t>
            </a:r>
          </a:p>
          <a:p>
            <a:pPr lvl="0"/>
            <a:r>
              <a:t>☐ Fork cloned to your local machine</a:t>
            </a:r>
          </a:p>
          <a:p>
            <a:pPr lvl="0"/>
            <a:r>
              <a:t>☐ </a:t>
            </a:r>
            <a:r>
              <a:rPr>
                <a:latin typeface="Courier"/>
              </a:rPr>
              <a:t>origin</a:t>
            </a:r>
            <a:r>
              <a:t> remote points to YOUR fork</a:t>
            </a:r>
          </a:p>
          <a:p>
            <a:pPr lvl="0"/>
            <a:r>
              <a:t>☐ </a:t>
            </a:r>
            <a:r>
              <a:rPr>
                <a:latin typeface="Courier"/>
              </a:rPr>
              <a:t>upstream</a:t>
            </a:r>
            <a:r>
              <a:t> remote points to original repository</a:t>
            </a:r>
          </a:p>
          <a:p>
            <a:pPr lvl="0"/>
            <a:r>
              <a:t>☐ Can successfully run </a:t>
            </a:r>
            <a:r>
              <a:rPr>
                <a:latin typeface="Courier"/>
              </a:rPr>
              <a:t>git fetch upstream</a:t>
            </a:r>
          </a:p>
          <a:p>
            <a:pPr lvl="0"/>
            <a:r>
              <a:t>☐ Repository builds/runs locally (we’ll test this next)</a:t>
            </a:r>
          </a:p>
          <a:p>
            <a:pPr marL="0" lvl="0" indent="0">
              <a:buNone/>
            </a:pPr>
            <a:r>
              <a:rPr b="1"/>
              <a:t>Quick Test</a:t>
            </a:r>
            <a:r>
              <a:t>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grep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'(origin|upstream)'</a:t>
            </a:r>
          </a:p>
          <a:p>
            <a:pPr marL="0" lvl="0" indent="0">
              <a:buNone/>
            </a:pPr>
            <a:r>
              <a:rPr b="1"/>
              <a:t>Expected Output</a:t>
            </a:r>
            <a:r>
              <a:t>:</a:t>
            </a:r>
          </a:p>
          <a:p>
            <a:pPr lvl="0"/>
            <a:r>
              <a:rPr>
                <a:latin typeface="Courier"/>
              </a:rPr>
              <a:t>origin</a:t>
            </a:r>
            <a:r>
              <a:t>: your username</a:t>
            </a:r>
          </a:p>
          <a:p>
            <a:pPr lvl="0"/>
            <a:r>
              <a:rPr>
                <a:latin typeface="Courier"/>
              </a:rPr>
              <a:t>upstream</a:t>
            </a:r>
            <a:r>
              <a:t>: j0hnnymiller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Forking the Course Materials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Getting Your Own Copy of AI-Assisted-Software-Development</a:t>
            </a:r>
          </a:p>
          <a:p>
            <a:pPr marL="0" lvl="0" indent="0">
              <a:buNone/>
            </a:pPr>
            <a:r>
              <a:rPr b="1" dirty="0"/>
              <a:t>Now let’s fork the course materials repository:</a:t>
            </a:r>
          </a:p>
          <a:p>
            <a:pPr marL="0" lvl="0" indent="0">
              <a:buNone/>
            </a:pPr>
            <a:r>
              <a:rPr dirty="0"/>
              <a:t>Repository: </a:t>
            </a:r>
            <a:r>
              <a:rPr dirty="0">
                <a:latin typeface="Courier"/>
              </a:rPr>
              <a:t>https://github.com/johnmillerATcodemag-com/AI-Assisted-Software-Development.git</a:t>
            </a:r>
          </a:p>
          <a:p>
            <a:pPr marL="0" lvl="0" indent="0">
              <a:buNone/>
            </a:pPr>
            <a:r>
              <a:rPr b="1" dirty="0"/>
              <a:t>This repository contains:</a:t>
            </a:r>
          </a:p>
          <a:p>
            <a:pPr lvl="0"/>
            <a:r>
              <a:rPr dirty="0"/>
              <a:t>Reference documentation</a:t>
            </a:r>
          </a:p>
          <a:p>
            <a:pPr lvl="0"/>
            <a:r>
              <a:rPr dirty="0"/>
              <a:t>AI-assisted development instructions</a:t>
            </a:r>
          </a:p>
          <a:p>
            <a:pPr lvl="0"/>
            <a:r>
              <a:rPr dirty="0"/>
              <a:t>Workshop materials and examples</a:t>
            </a:r>
          </a:p>
          <a:p>
            <a:pPr marL="0" lvl="0" indent="0">
              <a:buNone/>
            </a:pPr>
            <a:r>
              <a:rPr b="1" dirty="0"/>
              <a:t>Why fork this one too?</a:t>
            </a:r>
            <a:r>
              <a:rPr dirty="0"/>
              <a:t> You can customize content, add notes, and keep your version even after the course.</a:t>
            </a:r>
            <a:r>
              <a:rPr lang="en-US" dirty="0"/>
              <a:t> This repo will change without notice. A fork will allow you to pull changes when you are ready.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Forking AI-Assisted-Software-Development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Method 1: GitHub UI</a:t>
            </a:r>
          </a:p>
          <a:p>
            <a:pPr marL="342900" lvl="0" indent="-342900">
              <a:buAutoNum type="arabicPeriod"/>
            </a:pPr>
            <a:r>
              <a:rPr b="1"/>
              <a:t>Navigate</a:t>
            </a:r>
            <a:r>
              <a:t> to https://github.com/johnmillerATcodemag-com/AI-Assisted-Software-Development</a:t>
            </a:r>
          </a:p>
          <a:p>
            <a:pPr marL="342900" lvl="0" indent="-342900">
              <a:buAutoNum type="arabicPeriod"/>
            </a:pPr>
            <a:r>
              <a:rPr b="1"/>
              <a:t>Click</a:t>
            </a:r>
            <a:r>
              <a:t> the Fork button (top-right corner)</a:t>
            </a:r>
          </a:p>
          <a:p>
            <a:pPr marL="342900" lvl="0" indent="-342900">
              <a:buAutoNum type="arabicPeriod"/>
            </a:pPr>
            <a:r>
              <a:rPr b="1"/>
              <a:t>Select</a:t>
            </a:r>
            <a:r>
              <a:t> your GitHub account as destination</a:t>
            </a:r>
          </a:p>
          <a:p>
            <a:pPr marL="342900" lvl="0" indent="-342900">
              <a:buAutoNum type="arabicPeriod"/>
            </a:pPr>
            <a:r>
              <a:rPr b="1"/>
              <a:t>Optionally</a:t>
            </a:r>
            <a:r>
              <a:t> rename (e.g., </a:t>
            </a:r>
            <a:r>
              <a:rPr>
                <a:latin typeface="Courier"/>
              </a:rPr>
              <a:t>my-aiasd-course</a:t>
            </a:r>
            <a:r>
              <a:t>)</a:t>
            </a:r>
          </a:p>
          <a:p>
            <a:pPr marL="342900" lvl="0" indent="-342900">
              <a:buAutoNum type="arabicPeriod"/>
            </a:pPr>
            <a:r>
              <a:rPr b="1"/>
              <a:t>Choose</a:t>
            </a:r>
            <a:r>
              <a:t> to copy the main branch only (recommended)</a:t>
            </a:r>
          </a:p>
          <a:p>
            <a:pPr marL="342900" lvl="0" indent="-342900">
              <a:buAutoNum type="arabicPeriod"/>
            </a:pPr>
            <a:r>
              <a:rPr b="1"/>
              <a:t>Click</a:t>
            </a:r>
            <a:r>
              <a:t> “Create Fork”</a:t>
            </a:r>
          </a:p>
          <a:p>
            <a:pPr marL="0" lvl="0" indent="0">
              <a:buNone/>
            </a:pPr>
            <a:r>
              <a:t>✨ </a:t>
            </a:r>
            <a:r>
              <a:rPr b="1"/>
              <a:t>Result</a:t>
            </a:r>
            <a:r>
              <a:t>: Repository at </a:t>
            </a:r>
            <a:r>
              <a:rPr>
                <a:latin typeface="Courier"/>
              </a:rPr>
              <a:t>https://github.com/YOUR_USERNAME/AI-Assisted-Software-Development</a:t>
            </a:r>
          </a:p>
          <a:p>
            <a:pPr marL="0" lvl="0" indent="0">
              <a:buNone/>
            </a:pPr>
            <a:r>
              <a:rPr b="1"/>
              <a:t>Or via GitHub CLI: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Fork the repository</a:t>
            </a:r>
            <a:br/>
            <a:r>
              <a:rPr>
                <a:latin typeface="Courier"/>
              </a:rPr>
              <a:t>gh repo fork johnmillerATcodemag-com/AI-Assisted-Software-Development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Fork and clone in one step</a:t>
            </a:r>
            <a:br/>
            <a:r>
              <a:rPr>
                <a:latin typeface="Courier"/>
              </a:rPr>
              <a:t>gh repo fork johnmillerATcodemag-com/AI-Assisted-Software-Development </a:t>
            </a:r>
            <a:r>
              <a:rPr>
                <a:solidFill>
                  <a:srgbClr val="7D9029"/>
                </a:solidFill>
                <a:latin typeface="Courier"/>
              </a:rPr>
              <a:t>--clone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Cloning and Setting Up Course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Getting the Repository Locally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Clone your fork (if you didn't use --clone)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https://github.com/YOUR_USERNAME/AI-Assisted-Software-Development.git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Or use SSH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git@github.com:YOUR_USERNAME/AI-Assisted-Software-Development.git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Navigate into the directory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AI-Assisted-Software-Development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Add upstream remote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add upstream https://github.com/johnmillerATcodemag-com/AI-Assisted-Software-Development.git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Verify remotes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</a:p>
          <a:p>
            <a:pPr marL="0" lvl="0" indent="0">
              <a:buNone/>
            </a:pPr>
            <a:r>
              <a:rPr b="1"/>
              <a:t>Expected output:</a:t>
            </a:r>
          </a:p>
          <a:p>
            <a:pPr lvl="0" indent="0">
              <a:buNone/>
            </a:pPr>
            <a:r>
              <a:rPr>
                <a:latin typeface="Courier"/>
              </a:rPr>
              <a:t>origin    https://github.com/YOUR_USERNAME/AI-Assisted-Software-Development.git
upstream  https://github.com/johnmillerATcodemag-com/AI-Assisted-Software-Development.git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Cloning the Course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Working with the 20260323-AIASD Repository</a:t>
            </a:r>
          </a:p>
          <a:p>
            <a:pPr marL="0" lvl="0" indent="0">
              <a:buNone/>
            </a:pPr>
            <a:r>
              <a:rPr b="1" dirty="0"/>
              <a:t>For this session, we’ll also use a dedicated course repository:</a:t>
            </a:r>
          </a:p>
          <a:p>
            <a:pPr marL="0" lvl="0" indent="0">
              <a:buNone/>
            </a:pPr>
            <a:r>
              <a:rPr dirty="0"/>
              <a:t>Repository: </a:t>
            </a:r>
            <a:r>
              <a:rPr dirty="0">
                <a:latin typeface="Courier"/>
              </a:rPr>
              <a:t>https://github.com/j0hnnymiller/20260323-aiasd.git</a:t>
            </a:r>
          </a:p>
          <a:p>
            <a:pPr marL="0" lvl="0" indent="0">
              <a:buNone/>
            </a:pPr>
            <a:r>
              <a:rPr b="1" dirty="0"/>
              <a:t>This repository </a:t>
            </a:r>
            <a:r>
              <a:rPr lang="en-US" b="1" dirty="0"/>
              <a:t>will </a:t>
            </a:r>
            <a:r>
              <a:rPr b="1" dirty="0"/>
              <a:t>contain:</a:t>
            </a:r>
          </a:p>
          <a:p>
            <a:pPr lvl="0"/>
            <a:r>
              <a:rPr dirty="0"/>
              <a:t>Course-specific examples</a:t>
            </a:r>
          </a:p>
          <a:p>
            <a:pPr lvl="0"/>
            <a:r>
              <a:rPr dirty="0"/>
              <a:t>Hands-on exercises</a:t>
            </a:r>
          </a:p>
          <a:p>
            <a:pPr lvl="0"/>
            <a:r>
              <a:rPr dirty="0"/>
              <a:t>Session materials</a:t>
            </a:r>
          </a:p>
          <a:p>
            <a:pPr lvl="0"/>
            <a:r>
              <a:rPr dirty="0"/>
              <a:t>Starting templates</a:t>
            </a:r>
          </a:p>
          <a:p>
            <a:pPr marL="0" lvl="0" indent="0">
              <a:buNone/>
            </a:pPr>
            <a:r>
              <a:rPr b="1" dirty="0"/>
              <a:t>Note:</a:t>
            </a:r>
            <a:r>
              <a:rPr dirty="0"/>
              <a:t> Unlike the brownfield example, we’ll clone this directly and work on personal branches.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Cloning the 20260323-AIASD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Getting Started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Clone the repository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https://github.com/j0hnnymiller/20260323-aiasd.git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Navigate into the directory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20260323-aiasd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Check current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branch</a:t>
            </a:r>
          </a:p>
          <a:p>
            <a:pPr marL="0" lvl="0" indent="0">
              <a:buNone/>
            </a:pPr>
            <a:r>
              <a:rPr b="1"/>
              <a:t>Or using SSH: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git@github.com:j0hnnymiller/20260323-aiasd.git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20260323-aiasd</a:t>
            </a:r>
          </a:p>
          <a:p>
            <a:pPr marL="0" lvl="0" indent="0">
              <a:buNone/>
            </a:pPr>
            <a:r>
              <a:rPr b="1"/>
              <a:t>Verify the clone: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Check remote configuration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Should show: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origin  https://github.com/j0hnnymiller/20260323-aiasd.git (fetch)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origin  https://github.com/j0hnnymiller/20260323-aiasd.git (push)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Creating Your Personal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Setting Up Your Workspace</a:t>
            </a:r>
          </a:p>
          <a:p>
            <a:pPr marL="0" lvl="0" indent="0">
              <a:buNone/>
            </a:pPr>
            <a:r>
              <a:rPr b="1"/>
              <a:t>Create a branch with your name or identifier: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Create and switch to your personal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</a:t>
            </a:r>
            <a:r>
              <a:rPr>
                <a:solidFill>
                  <a:srgbClr val="7D9029"/>
                </a:solidFill>
                <a:latin typeface="Courier"/>
              </a:rPr>
              <a:t>-b</a:t>
            </a:r>
            <a:r>
              <a:rPr>
                <a:latin typeface="Courier"/>
              </a:rPr>
              <a:t> yourname-workspace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Example with actual name: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</a:t>
            </a:r>
            <a:r>
              <a:rPr>
                <a:solidFill>
                  <a:srgbClr val="7D9029"/>
                </a:solidFill>
                <a:latin typeface="Courier"/>
              </a:rPr>
              <a:t>-b</a:t>
            </a:r>
            <a:r>
              <a:rPr>
                <a:latin typeface="Courier"/>
              </a:rPr>
              <a:t> john-miller-workspace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Or use a convention like firstname-lastname: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</a:t>
            </a:r>
            <a:r>
              <a:rPr>
                <a:solidFill>
                  <a:srgbClr val="7D9029"/>
                </a:solidFill>
                <a:latin typeface="Courier"/>
              </a:rPr>
              <a:t>-b</a:t>
            </a:r>
            <a:r>
              <a:rPr>
                <a:latin typeface="Courier"/>
              </a:rPr>
              <a:t> jane-doe-workspace</a:t>
            </a:r>
          </a:p>
          <a:p>
            <a:pPr marL="0" lvl="0" indent="0">
              <a:buNone/>
            </a:pPr>
            <a:r>
              <a:rPr b="1"/>
              <a:t>Verify your branch: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Check current branch (should show your new branch with *)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branch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Or see current branch in prompt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status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Pushing Your Personal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Making Your Branch Available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Push your branch to the remote repository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</a:t>
            </a:r>
            <a:r>
              <a:rPr>
                <a:solidFill>
                  <a:srgbClr val="7D9029"/>
                </a:solidFill>
                <a:latin typeface="Courier"/>
              </a:rPr>
              <a:t>-u</a:t>
            </a:r>
            <a:r>
              <a:rPr>
                <a:latin typeface="Courier"/>
              </a:rPr>
              <a:t> origin yourname-workspace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The -u flag sets up tracking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Future pushes can just be: git push</a:t>
            </a:r>
          </a:p>
          <a:p>
            <a:pPr marL="0" lvl="0" indent="0">
              <a:buNone/>
            </a:pPr>
            <a:r>
              <a:rPr b="1"/>
              <a:t>After pushing: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Verify tracking is set up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branch </a:t>
            </a:r>
            <a:r>
              <a:rPr>
                <a:solidFill>
                  <a:srgbClr val="7D9029"/>
                </a:solidFill>
                <a:latin typeface="Courier"/>
              </a:rPr>
              <a:t>-vv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Should show your branch tracking origin/yourname-workspace</a:t>
            </a:r>
          </a:p>
          <a:p>
            <a:pPr marL="0" lvl="0" indent="0">
              <a:buNone/>
            </a:pPr>
            <a:r>
              <a:rPr b="1"/>
              <a:t>Create a test commit to verify access: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Create a test file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"# My Workspace"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README-yourname.md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README-yourname.md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"Initial workspace setup"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Ready to Develop!</a:t>
            </a:r>
          </a:p>
          <a:p>
            <a:pPr marL="0" lvl="0" indent="0">
              <a:buNone/>
            </a:pPr>
            <a:r>
              <a:rPr b="1" dirty="0"/>
              <a:t>You’re now prepared to:</a:t>
            </a:r>
          </a:p>
          <a:p>
            <a:pPr marL="342900" lvl="0" indent="-342900">
              <a:buAutoNum type="arabicPeriod"/>
            </a:pPr>
            <a:r>
              <a:rPr dirty="0"/>
              <a:t>✅ Experiment freely in your brownfield fork</a:t>
            </a:r>
          </a:p>
          <a:p>
            <a:pPr marL="342900" lvl="0" indent="-342900">
              <a:buAutoNum type="arabicPeriod"/>
            </a:pPr>
            <a:r>
              <a:rPr dirty="0"/>
              <a:t>✅ Reference course materials in your curriculum fork</a:t>
            </a:r>
          </a:p>
          <a:p>
            <a:pPr marL="342900" lvl="0" indent="-342900">
              <a:buAutoNum type="arabicPeriod"/>
            </a:pPr>
            <a:r>
              <a:rPr dirty="0"/>
              <a:t>✅ Work collaboratively in the session repository</a:t>
            </a:r>
          </a:p>
          <a:p>
            <a:pPr marL="342900" lvl="0" indent="-342900">
              <a:buAutoNum type="arabicPeriod"/>
            </a:pPr>
            <a:r>
              <a:rPr dirty="0"/>
              <a:t>✅ Follow along with all course exercises</a:t>
            </a:r>
          </a:p>
          <a:p>
            <a:pPr marL="342900" lvl="0" indent="-342900">
              <a:buAutoNum type="arabicPeriod"/>
            </a:pPr>
            <a:r>
              <a:rPr dirty="0"/>
              <a:t>✅ Practice pull request workflows</a:t>
            </a:r>
          </a:p>
          <a:p>
            <a:pPr marL="342900" lvl="0" indent="-342900">
              <a:buAutoNum type="arabicPeriod"/>
            </a:pPr>
            <a:r>
              <a:rPr dirty="0"/>
              <a:t>✅ Sync updates as the course progresses</a:t>
            </a:r>
          </a:p>
          <a:p>
            <a:pPr marL="342900" lvl="0" indent="-342900">
              <a:buAutoNum type="arabicPeriod"/>
            </a:pPr>
            <a:r>
              <a:rPr dirty="0"/>
              <a:t>✅ Create branches for different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8E883-D4B4-A7F0-7DD8-63E86E11B6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r>
              <a:rPr lang="en-US" b="1" dirty="0"/>
              <a:t>Resources:</a:t>
            </a:r>
          </a:p>
          <a:p>
            <a:pPr lvl="0"/>
            <a:r>
              <a:rPr lang="en-US" dirty="0"/>
              <a:t>Brownfield Repository: https://github.com/j0hnnymiller/AIASD-Brownfield-Example</a:t>
            </a:r>
          </a:p>
          <a:p>
            <a:pPr lvl="0"/>
            <a:r>
              <a:rPr lang="en-US" dirty="0"/>
              <a:t>Your Brownfield Fork: </a:t>
            </a:r>
            <a:r>
              <a:rPr lang="en-US" dirty="0">
                <a:latin typeface="Courier"/>
              </a:rPr>
              <a:t>https://github.com/YOUR_USERNAME/AIASD-Brownfield-Example</a:t>
            </a:r>
          </a:p>
          <a:p>
            <a:pPr lvl="0"/>
            <a:r>
              <a:rPr lang="en-US" dirty="0"/>
              <a:t>Course Materials: https://github.com/johnmillerATcodemag-com/AI-Assisted-Software-Development</a:t>
            </a:r>
          </a:p>
          <a:p>
            <a:pPr lvl="0"/>
            <a:r>
              <a:rPr lang="en-US" dirty="0"/>
              <a:t>Your Course Fork: </a:t>
            </a:r>
            <a:r>
              <a:rPr lang="en-US" dirty="0">
                <a:latin typeface="Courier"/>
              </a:rPr>
              <a:t>https://github.com/YOUR_USERNAME/AI-Assisted-Software-Development</a:t>
            </a:r>
          </a:p>
          <a:p>
            <a:pPr lvl="0"/>
            <a:r>
              <a:rPr lang="en-US" dirty="0"/>
              <a:t>Session Repository: https://github.com/j0hnnymiller/20260323-aiasd</a:t>
            </a:r>
          </a:p>
          <a:p>
            <a:pPr lvl="0"/>
            <a:r>
              <a:rPr lang="en-US" dirty="0"/>
              <a:t>Your Branch: </a:t>
            </a:r>
            <a:r>
              <a:rPr lang="en-US" dirty="0" err="1">
                <a:latin typeface="Courier"/>
              </a:rPr>
              <a:t>yourname</a:t>
            </a:r>
            <a:r>
              <a:rPr lang="en-US" dirty="0">
                <a:latin typeface="Courier"/>
              </a:rPr>
              <a:t>-workspace</a:t>
            </a:r>
          </a:p>
          <a:p>
            <a:pPr lvl="0"/>
            <a:r>
              <a:rPr lang="en-US" dirty="0"/>
              <a:t>GitHub Docs: https://docs.github.com/en/get-started/quickstart/fork-a-repo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^jMM CODE Training Slide Template.potx" id="{C235AF94-6470-4DC8-ADA1-D5CA24C263BE}" vid="{E23727E8-263B-4C98-B166-009CDF69EE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jMM-CODE-Training-Slide-Template-clean</Template>
  <TotalTime>0</TotalTime>
  <Words>3899</Words>
  <Application>Microsoft Office PowerPoint</Application>
  <PresentationFormat>On-screen Show (16:9)</PresentationFormat>
  <Paragraphs>849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</vt:lpstr>
      <vt:lpstr>Noto Sans</vt:lpstr>
      <vt:lpstr>Victor Mono</vt:lpstr>
      <vt:lpstr>CODE Training</vt:lpstr>
      <vt:lpstr>Forking the AIASD Brownfield Repository</vt:lpstr>
      <vt:lpstr>Why Fork Instead of Clone?</vt:lpstr>
      <vt:lpstr>Forking Via GitHub UI</vt:lpstr>
      <vt:lpstr>Forking Via GitHub CLI</vt:lpstr>
      <vt:lpstr>Cloning Your Fork</vt:lpstr>
      <vt:lpstr>Setting Up Upstream Remote</vt:lpstr>
      <vt:lpstr>Your Fork Workflow</vt:lpstr>
      <vt:lpstr>Syncing Your Fork with Updates</vt:lpstr>
      <vt:lpstr>Verification Checklist</vt:lpstr>
      <vt:lpstr>Forking the Course Materials Repository</vt:lpstr>
      <vt:lpstr>Forking AI-Assisted-Software-Development</vt:lpstr>
      <vt:lpstr>Cloning and Setting Up Course Materials</vt:lpstr>
      <vt:lpstr>Cloning the Course Repository</vt:lpstr>
      <vt:lpstr>Cloning the 20260323-AIASD Repository</vt:lpstr>
      <vt:lpstr>Creating Your Personal Branch</vt:lpstr>
      <vt:lpstr>Pushing Your Personal Branch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John Miller</cp:lastModifiedBy>
  <cp:revision>1</cp:revision>
  <dcterms:created xsi:type="dcterms:W3CDTF">2026-03-18T20:47:32Z</dcterms:created>
  <dcterms:modified xsi:type="dcterms:W3CDTF">2026-03-18T21:20:12Z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_generated">
    <vt:lpwstr>True</vt:lpwstr>
  </property>
  <property fmtid="{D5CDD505-2E9C-101B-9397-08002B2CF9AE}" pid="3" name="ai_log">
    <vt:lpwstr>ai-logs/2026/03/18/aiasd-three-repos-setup-20260318/conversation.md</vt:lpwstr>
  </property>
  <property fmtid="{D5CDD505-2E9C-101B-9397-08002B2CF9AE}" pid="4" name="chat_id">
    <vt:lpwstr>aiasd-three-repos-setup-20260318</vt:lpwstr>
  </property>
  <property fmtid="{D5CDD505-2E9C-101B-9397-08002B2CF9AE}" pid="5" name="ended">
    <vt:lpwstr>2026-03-18T01:10:00Z</vt:lpwstr>
  </property>
  <property fmtid="{D5CDD505-2E9C-101B-9397-08002B2CF9AE}" pid="6" name="marp">
    <vt:lpwstr>True</vt:lpwstr>
  </property>
  <property fmtid="{D5CDD505-2E9C-101B-9397-08002B2CF9AE}" pid="7" name="model">
    <vt:lpwstr>anthropic/claude-sonnet-4.6</vt:lpwstr>
  </property>
  <property fmtid="{D5CDD505-2E9C-101B-9397-08002B2CF9AE}" pid="8" name="operator">
    <vt:lpwstr>johnmillerATcodemag-com</vt:lpwstr>
  </property>
  <property fmtid="{D5CDD505-2E9C-101B-9397-08002B2CF9AE}" pid="9" name="paginate">
    <vt:lpwstr>True</vt:lpwstr>
  </property>
  <property fmtid="{D5CDD505-2E9C-101B-9397-08002B2CF9AE}" pid="10" name="prompt">
    <vt:lpwstr>Add instructions for: 1. Forking the AIASD-Brownfield-Example repository (j0hnnymiller/AIASD-Brownfield-Example) 2. Forking the course materials repository (johnmillerATcodemag-com/AI-Assisted-Software-Development) 3. Cloning the session repository (j0hnnymiller/20260323-aiasd.git) and creating personal branches 4. Add detailed descriptions elaborating on repository purposes and contentsShow all three repository workflows with proper distinctions between fork and clone strategies.</vt:lpwstr>
  </property>
  <property fmtid="{D5CDD505-2E9C-101B-9397-08002B2CF9AE}" pid="11" name="source">
    <vt:lpwstr>johnmillerATcodemag-com</vt:lpwstr>
  </property>
  <property fmtid="{D5CDD505-2E9C-101B-9397-08002B2CF9AE}" pid="12" name="started">
    <vt:lpwstr>2026-03-18T00:00:00Z</vt:lpwstr>
  </property>
  <property fmtid="{D5CDD505-2E9C-101B-9397-08002B2CF9AE}" pid="13" name="task_durations">
    <vt:lpwstr/>
  </property>
  <property fmtid="{D5CDD505-2E9C-101B-9397-08002B2CF9AE}" pid="14" name="theme">
    <vt:lpwstr>default</vt:lpwstr>
  </property>
  <property fmtid="{D5CDD505-2E9C-101B-9397-08002B2CF9AE}" pid="15" name="total_duration">
    <vt:lpwstr>01:10:00</vt:lpwstr>
  </property>
</Properties>
</file>