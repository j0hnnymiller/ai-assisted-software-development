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notesMaster" Target="notesMasters/notesMaster1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Welcome! This presentation covers vertical slice architecture - a powerful alternative to traditional layered architectures. Today, you’ll learn how to organize code around business features rather than technical layers.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delivery points: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approach dramatically improves maintainability and team velocity</a:t>
            </a:r>
          </a:p>
          <a:p>
            <a:pPr lvl="0" indent="0" marL="0">
              <a:buNone/>
            </a:pPr>
          </a:p>
          <a:p>
            <a:pPr lvl="0"/>
            <a:r>
              <a:rPr/>
              <a:t>We’ll see concrete examples you can implement immediately</a:t>
            </a:r>
          </a:p>
          <a:p>
            <a:pPr lvl="0" indent="0" marL="0">
              <a:buNone/>
            </a:pPr>
          </a:p>
          <a:p>
            <a:pPr lvl="0"/>
            <a:r>
              <a:rPr/>
              <a:t>Time allocation: 2-3 minutes for introduction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Audience engagement:</a:t>
            </a:r>
            <a:r>
              <a:rPr/>
              <a:t> “How many of you have worked on a project where changing one feature required modifying files in 5+ different folders?”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“Vertical slices solve exactly this problem by organizing code around complete features…”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Core concept explanation:</a:t>
            </a:r>
            <a:r>
              <a:rPr/>
              <a:t> Traditional layered architecture separates code by technical concerns (UI, business logic, data access). Vertical slices organize by business features instead.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Key analogies:</a:t>
            </a:r>
          </a:p>
          <a:p>
            <a:pPr lvl="0" indent="0" marL="0">
              <a:buNone/>
            </a:pPr>
          </a:p>
          <a:p>
            <a:pPr lvl="0"/>
            <a:r>
              <a:rPr/>
              <a:t>Think of a layered cake vs. a sliced pie - each pie slice contains all layers</a:t>
            </a:r>
          </a:p>
          <a:p>
            <a:pPr lvl="0" indent="0" marL="0">
              <a:buNone/>
            </a:pPr>
          </a:p>
          <a:p>
            <a:pPr lvl="0"/>
            <a:r>
              <a:rPr/>
              <a:t>Like organizing a store by product category vs. by what floor items are 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Emphasize: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isn’t just renaming folders - it’s a fundamental shift in how we think about code organization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Each feature becomes a complete vertical “slice” through the application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question pre-empt:</a:t>
            </a:r>
            <a:r>
              <a:rPr/>
              <a:t> “Doesn’t this create duplication?” Answer: Some tactical duplication is acceptable to gain strategic isolation and maintainability.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understand why this approach is gaining popularity…”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Real-world impact discussion: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Development Speed:</a:t>
            </a:r>
          </a:p>
          <a:p>
            <a:pPr lvl="0" indent="0" marL="0">
              <a:buNone/>
            </a:pPr>
          </a:p>
          <a:p>
            <a:pPr lvl="0"/>
            <a:r>
              <a:rPr/>
              <a:t>In traditional layered apps, adding a new feature touches 4-7 files across multiple folders</a:t>
            </a:r>
          </a:p>
          <a:p>
            <a:pPr lvl="0" indent="0" marL="0">
              <a:buNone/>
            </a:pPr>
          </a:p>
          <a:p>
            <a:pPr lvl="0"/>
            <a:r>
              <a:rPr/>
              <a:t>With vertical slices, everything is in one feature folder - typically 2-3x faster development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“Adding user registration in layered: Controller → Service → Repository → Models. In vertical slices: just add UserRegistration folder with all components.”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Maintenance Story:</a:t>
            </a:r>
            <a:r>
              <a:rPr/>
              <a:t> Share an example: “When fixing a bug in user registration, you only need to look in the UserRegistration folder. Everything’s there. No hunting through Services, Repositories, etc.”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Team Collaboration: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Multiple developers can work on different features without stepping on each other</a:t>
            </a:r>
          </a:p>
          <a:p>
            <a:pPr lvl="0" indent="0" marL="0">
              <a:buNone/>
            </a:pPr>
          </a:p>
          <a:p>
            <a:pPr lvl="0"/>
            <a:r>
              <a:rPr/>
              <a:t>Feature folders create natural boundaries</a:t>
            </a:r>
          </a:p>
          <a:p>
            <a:pPr lvl="0" indent="0" marL="0">
              <a:buNone/>
            </a:pPr>
          </a:p>
          <a:p>
            <a:pPr lvl="0"/>
            <a:r>
              <a:rPr/>
              <a:t>Junior developers can own entire features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Statistics to share:</a:t>
            </a:r>
          </a:p>
          <a:p>
            <a:pPr lvl="0" indent="0" marL="0">
              <a:buNone/>
            </a:pPr>
          </a:p>
          <a:p>
            <a:pPr lvl="0"/>
            <a:r>
              <a:rPr/>
              <a:t>Teams report 30-40% fewer merge conflicts</a:t>
            </a:r>
          </a:p>
          <a:p>
            <a:pPr lvl="0" indent="0" marL="0">
              <a:buNone/>
            </a:pPr>
          </a:p>
          <a:p>
            <a:pPr lvl="0"/>
            <a:r>
              <a:rPr/>
              <a:t>Bug fix time reduced by 50% (bugs localized to features)</a:t>
            </a:r>
          </a:p>
          <a:p>
            <a:pPr lvl="0" indent="0" marL="0">
              <a:buNone/>
            </a:pPr>
          </a:p>
          <a:p>
            <a:pPr lvl="0"/>
            <a:r>
              <a:rPr/>
              <a:t>Onboarding time for new developers cut in half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“These benefits come from following core principles…”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Principle 1 - Feature Independence (most critical):</a:t>
            </a:r>
            <a:r>
              <a:rPr/>
              <a:t> This is the #1 rule that teams violate. When violated, you lose all benefits of vertical slices.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Bad scenario:</a:t>
            </a:r>
            <a:r>
              <a:rPr/>
              <a:t> OrderCheckout feature directly uses UserRegistration feature’s classes. Now changes to UserRegistration can break OrderCheckout.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Solution pattern: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 shared interface in /Common: </a:t>
            </a:r>
            <a:r>
              <a:rPr>
                <a:latin typeface="Courier"/>
              </a:rPr>
              <a:t>IUserProvider</a:t>
            </a:r>
          </a:p>
          <a:p>
            <a:pPr lvl="0" indent="0" marL="0">
              <a:buNone/>
            </a:pPr>
          </a:p>
          <a:p>
            <a:pPr lvl="0"/>
            <a:r>
              <a:rPr/>
              <a:t>Both features use this interface</a:t>
            </a:r>
          </a:p>
          <a:p>
            <a:pPr lvl="0" indent="0" marL="0">
              <a:buNone/>
            </a:pPr>
          </a:p>
          <a:p>
            <a:pPr lvl="0"/>
            <a:r>
              <a:rPr/>
              <a:t>Features remain decoupled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Analogy:</a:t>
            </a:r>
            <a:r>
              <a:rPr/>
              <a:t> Electrical outlets - devices (features) don’t connect directly to each other, they use a shared standard (interface).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Principle 2 - Complete Encapsulation:</a:t>
            </a:r>
            <a:r>
              <a:rPr/>
              <a:t> Each feature folder should read like a mini-application. Someone new should be able to understand the entire feature by reading just that folder.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Included in feature:</a:t>
            </a:r>
          </a:p>
          <a:p>
            <a:pPr lvl="0" indent="0" marL="0">
              <a:buNone/>
            </a:pPr>
          </a:p>
          <a:p>
            <a:pPr lvl="0"/>
            <a:r>
              <a:rPr/>
              <a:t>Request object (Command/Query)</a:t>
            </a:r>
          </a:p>
          <a:p>
            <a:pPr lvl="0" indent="0" marL="0">
              <a:buNone/>
            </a:pPr>
          </a:p>
          <a:p>
            <a:pPr lvl="0"/>
            <a:r>
              <a:rPr/>
              <a:t>Business logic (Handler)</a:t>
            </a:r>
          </a:p>
          <a:p>
            <a:pPr lvl="0" indent="0" marL="0">
              <a:buNone/>
            </a:pPr>
          </a:p>
          <a:p>
            <a:pPr lvl="0"/>
            <a:r>
              <a:rPr/>
              <a:t>Validation rules (Validator)</a:t>
            </a:r>
          </a:p>
          <a:p>
            <a:pPr lvl="0" indent="0" marL="0">
              <a:buNone/>
            </a:pPr>
          </a:p>
          <a:p>
            <a:pPr lvl="0"/>
            <a:r>
              <a:rPr/>
              <a:t>Response DTO (Result)</a:t>
            </a:r>
          </a:p>
          <a:p>
            <a:pPr lvl="0" indent="0" marL="0">
              <a:buNone/>
            </a:pPr>
          </a:p>
          <a:p>
            <a:pPr lvl="0"/>
            <a:r>
              <a:rPr/>
              <a:t>Feature-specific data access</a:t>
            </a:r>
          </a:p>
          <a:p>
            <a:pPr lvl="0" indent="0" marL="0">
              <a:buNone/>
            </a:pPr>
          </a:p>
          <a:p>
            <a:pPr lvl="0"/>
            <a:r>
              <a:rPr/>
              <a:t>Feature-specific models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Principle 3 - Thin Entry Points:</a:t>
            </a:r>
            <a:r>
              <a:rPr/>
              <a:t> Controllers are “dumb adapters” - they translate HTTP to domain requests. Maximum 5-10 lines per controller action.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Principle 4 - Business Logic Location:</a:t>
            </a:r>
            <a:r>
              <a:rPr/>
              <a:t> All decision-making, orchestration, and business rules live in Handlers. Not in controllers, not in repositories, not in services.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Verification question:</a:t>
            </a:r>
            <a:r>
              <a:rPr/>
              <a:t> “Can you understand the complete business logic by reading just the handler?”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see how these principles manifest in actual code structure…”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File-by-file walkthrough: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1. RegisterUserCommand.cs</a:t>
            </a:r>
            <a:r>
              <a:rPr/>
              <a:t> (The Request)</a:t>
            </a:r>
          </a:p>
          <a:p>
            <a:pPr lvl="0" indent="0" marL="0">
              <a:buNone/>
            </a:pPr>
          </a:p>
          <a:p>
            <a:pPr lvl="0"/>
            <a:r>
              <a:rPr/>
              <a:t>Immutable record/class</a:t>
            </a:r>
          </a:p>
          <a:p>
            <a:pPr lvl="0" indent="0" marL="0">
              <a:buNone/>
            </a:pPr>
          </a:p>
          <a:p>
            <a:pPr lvl="0"/>
            <a:r>
              <a:rPr/>
              <a:t>Contains only input data</a:t>
            </a:r>
          </a:p>
          <a:p>
            <a:pPr lvl="0" indent="0" marL="0">
              <a:buNone/>
            </a:pPr>
          </a:p>
          <a:p>
            <a:pPr lvl="0"/>
            <a:r>
              <a:rPr/>
              <a:t>Implements </a:t>
            </a:r>
            <a:r>
              <a:rPr>
                <a:latin typeface="Courier"/>
              </a:rPr>
              <a:t>IRequest&lt;TResponse&gt;</a:t>
            </a:r>
            <a:r>
              <a:rPr/>
              <a:t> for MediatR</a:t>
            </a:r>
          </a:p>
          <a:p>
            <a:pPr lvl="0" indent="0" marL="0">
              <a:buNone/>
            </a:pPr>
          </a:p>
          <a:p>
            <a:pPr lvl="0"/>
            <a:r>
              <a:rPr/>
              <a:t>No logic, no validation - pure data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 properties: Email, Password, FirstName, LastName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2. RegisterUserHandler.cs</a:t>
            </a:r>
            <a:r>
              <a:rPr/>
              <a:t> (The Heart)</a:t>
            </a:r>
          </a:p>
          <a:p>
            <a:pPr lvl="0" indent="0" marL="0">
              <a:buNone/>
            </a:pPr>
          </a:p>
          <a:p>
            <a:pPr lvl="0"/>
            <a:r>
              <a:rPr/>
              <a:t>Implements </a:t>
            </a:r>
            <a:r>
              <a:rPr>
                <a:latin typeface="Courier"/>
              </a:rPr>
              <a:t>IRequestHandler&lt;TRequest, TResponse&gt;</a:t>
            </a:r>
          </a:p>
          <a:p>
            <a:pPr lvl="0" indent="0" marL="0">
              <a:buNone/>
            </a:pPr>
          </a:p>
          <a:p>
            <a:pPr lvl="0"/>
            <a:r>
              <a:rPr/>
              <a:t>THIS is where your feature lives</a:t>
            </a:r>
          </a:p>
          <a:p>
            <a:pPr lvl="0" indent="0" marL="0">
              <a:buNone/>
            </a:pPr>
          </a:p>
          <a:p>
            <a:pPr lvl="0"/>
            <a:r>
              <a:rPr/>
              <a:t>Orchestrates all dependencies</a:t>
            </a:r>
          </a:p>
          <a:p>
            <a:pPr lvl="0" indent="0" marL="0">
              <a:buNone/>
            </a:pPr>
          </a:p>
          <a:p>
            <a:pPr lvl="0"/>
            <a:r>
              <a:rPr/>
              <a:t>Contains business rules: “Check if user exists”, “Hash password”, “Send welcome email”</a:t>
            </a:r>
          </a:p>
          <a:p>
            <a:pPr lvl="0" indent="0" marL="0">
              <a:buNone/>
            </a:pPr>
          </a:p>
          <a:p>
            <a:pPr lvl="0"/>
            <a:r>
              <a:rPr/>
              <a:t>Returns Result (success or failure)</a:t>
            </a:r>
          </a:p>
          <a:p>
            <a:pPr lvl="0" indent="0" marL="0">
              <a:buNone/>
            </a:pPr>
          </a:p>
          <a:p>
            <a:pPr lvl="0"/>
            <a:r>
              <a:rPr/>
              <a:t>Typical size: 30-100 lines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3. RegisterUserValidator.cs</a:t>
            </a:r>
            <a:r>
              <a:rPr/>
              <a:t> (Input Validation)</a:t>
            </a:r>
          </a:p>
          <a:p>
            <a:pPr lvl="0" indent="0" marL="0">
              <a:buNone/>
            </a:pPr>
          </a:p>
          <a:p>
            <a:pPr lvl="0"/>
            <a:r>
              <a:rPr/>
              <a:t>Uses FluentValidation library</a:t>
            </a:r>
          </a:p>
          <a:p>
            <a:pPr lvl="0" indent="0" marL="0">
              <a:buNone/>
            </a:pPr>
          </a:p>
          <a:p>
            <a:pPr lvl="0"/>
            <a:r>
              <a:rPr/>
              <a:t>Validates email format, password strength, required fields</a:t>
            </a:r>
          </a:p>
          <a:p>
            <a:pPr lvl="0" indent="0" marL="0">
              <a:buNone/>
            </a:pPr>
          </a:p>
          <a:p>
            <a:pPr lvl="0"/>
            <a:r>
              <a:rPr/>
              <a:t>Runs BEFORE handler executes</a:t>
            </a:r>
          </a:p>
          <a:p>
            <a:pPr lvl="0" indent="0" marL="0">
              <a:buNone/>
            </a:pPr>
          </a:p>
          <a:p>
            <a:pPr lvl="0"/>
            <a:r>
              <a:rPr/>
              <a:t>Separates validation from business logic</a:t>
            </a:r>
          </a:p>
          <a:p>
            <a:pPr lvl="0" indent="0" marL="0">
              <a:buNone/>
            </a:pPr>
          </a:p>
          <a:p>
            <a:pPr lvl="0"/>
            <a:r>
              <a:rPr/>
              <a:t>Makes validation rules explicit and testable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4. RegistrationResult.cs</a:t>
            </a:r>
            <a:r>
              <a:rPr/>
              <a:t> (The Response)</a:t>
            </a:r>
          </a:p>
          <a:p>
            <a:pPr lvl="0" indent="0" marL="0">
              <a:buNone/>
            </a:pPr>
          </a:p>
          <a:p>
            <a:pPr lvl="0"/>
            <a:r>
              <a:rPr/>
              <a:t>What the caller receives</a:t>
            </a:r>
          </a:p>
          <a:p>
            <a:pPr lvl="0" indent="0" marL="0">
              <a:buNone/>
            </a:pPr>
          </a:p>
          <a:p>
            <a:pPr lvl="0"/>
            <a:r>
              <a:rPr/>
              <a:t>Often different from domain entities</a:t>
            </a:r>
          </a:p>
          <a:p>
            <a:pPr lvl="0" indent="0" marL="0">
              <a:buNone/>
            </a:pPr>
          </a:p>
          <a:p>
            <a:pPr lvl="0"/>
            <a:r>
              <a:rPr/>
              <a:t>Contains only needed information: UserId, Email, RegistrationDate</a:t>
            </a:r>
          </a:p>
          <a:p>
            <a:pPr lvl="0" indent="0" marL="0">
              <a:buNone/>
            </a:pPr>
          </a:p>
          <a:p>
            <a:pPr lvl="0"/>
            <a:r>
              <a:rPr/>
              <a:t>No sensitive data (never return password hash!)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5. UserRegistrationRepository.cs</a:t>
            </a:r>
            <a:r>
              <a:rPr/>
              <a:t> (Optional Data Access)</a:t>
            </a:r>
          </a:p>
          <a:p>
            <a:pPr lvl="0" indent="0" marL="0">
              <a:buNone/>
            </a:pPr>
          </a:p>
          <a:p>
            <a:pPr lvl="0"/>
            <a:r>
              <a:rPr/>
              <a:t>Feature-specific queries only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CheckEmailExists(), SaveUser()</a:t>
            </a:r>
          </a:p>
          <a:p>
            <a:pPr lvl="0" indent="0" marL="0">
              <a:buNone/>
            </a:pPr>
          </a:p>
          <a:p>
            <a:pPr lvl="0"/>
            <a:r>
              <a:rPr/>
              <a:t>Not a generic repository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Only used by this feature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Naming Convention Rules:</a:t>
            </a:r>
          </a:p>
          <a:p>
            <a:pPr lvl="0" indent="0" marL="0">
              <a:buNone/>
            </a:pPr>
          </a:p>
          <a:p>
            <a:pPr lvl="0"/>
            <a:r>
              <a:rPr/>
              <a:t>Feature folder: PascalCase, singular (UserRegistration, not UserRegistrations)</a:t>
            </a:r>
          </a:p>
          <a:p>
            <a:pPr lvl="0" indent="0" marL="0">
              <a:buNone/>
            </a:pPr>
          </a:p>
          <a:p>
            <a:pPr lvl="0"/>
            <a:r>
              <a:rPr/>
              <a:t>Command: VerbEntityCommand (RegisterUserCommand)</a:t>
            </a:r>
          </a:p>
          <a:p>
            <a:pPr lvl="0" indent="0" marL="0">
              <a:buNone/>
            </a:pPr>
          </a:p>
          <a:p>
            <a:pPr lvl="0"/>
            <a:r>
              <a:rPr/>
              <a:t>Query: VerbEntityQuery (GetUserProfileQuery)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Handler: VerbEntityHandler (RegisterUserHandler)</a:t>
            </a:r>
          </a:p>
          <a:p>
            <a:pPr lvl="0" indent="0" marL="0">
              <a:buNone/>
            </a:pPr>
          </a:p>
          <a:p>
            <a:pPr lvl="0"/>
            <a:r>
              <a:rPr/>
              <a:t>Consistency is critical for navigation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talk about the order in which we build these components…”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Implementation order rationale: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Command First?</a:t>
            </a:r>
          </a:p>
          <a:p>
            <a:pPr lvl="0" indent="0" marL="0">
              <a:buNone/>
            </a:pPr>
          </a:p>
          <a:p>
            <a:pPr lvl="0"/>
            <a:r>
              <a:rPr/>
              <a:t>Defines the “front door” of your feature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Makes dependencies and requirements crystal clear</a:t>
            </a:r>
          </a:p>
          <a:p>
            <a:pPr lvl="0" indent="0" marL="0">
              <a:buNone/>
            </a:pPr>
          </a:p>
          <a:p>
            <a:pPr lvl="0"/>
            <a:r>
              <a:rPr/>
              <a:t>Forces you to think about the interface before implementation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“What information do I need to register a user? Email, password, name. Done.”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Result Second?</a:t>
            </a:r>
          </a:p>
          <a:p>
            <a:pPr lvl="0" indent="0" marL="0">
              <a:buNone/>
            </a:pPr>
          </a:p>
          <a:p>
            <a:pPr lvl="0"/>
            <a:r>
              <a:rPr/>
              <a:t>Know what you’re returning before implementing how to get it</a:t>
            </a:r>
          </a:p>
          <a:p>
            <a:pPr lvl="0" indent="0" marL="0">
              <a:buNone/>
            </a:pPr>
          </a:p>
          <a:p>
            <a:pPr lvl="0"/>
            <a:r>
              <a:rPr/>
              <a:t>Prevents “implementation-driven design”</a:t>
            </a:r>
          </a:p>
          <a:p>
            <a:pPr lvl="0" indent="0" marL="0">
              <a:buNone/>
            </a:pPr>
          </a:p>
          <a:p>
            <a:pPr lvl="0"/>
            <a:r>
              <a:rPr/>
              <a:t>Makes the handler’s goal explicit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“I need to return: UserId, Email, RegisteredAt timestamp”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Validator Third?</a:t>
            </a:r>
          </a:p>
          <a:p>
            <a:pPr lvl="0" indent="0" marL="0">
              <a:buNone/>
            </a:pPr>
          </a:p>
          <a:p>
            <a:pPr lvl="0"/>
            <a:r>
              <a:rPr/>
              <a:t>Separate validation concerns from business logic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Handler can assume validated input</a:t>
            </a:r>
          </a:p>
          <a:p>
            <a:pPr lvl="0" indent="0" marL="0">
              <a:buNone/>
            </a:pPr>
          </a:p>
          <a:p>
            <a:pPr lvl="0"/>
            <a:r>
              <a:rPr/>
              <a:t>Validation rules documented and testable separately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Email format, password strength, required fields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Handler Fourth?</a:t>
            </a:r>
          </a:p>
          <a:p>
            <a:pPr lvl="0" indent="0" marL="0">
              <a:buNone/>
            </a:pPr>
          </a:p>
          <a:p>
            <a:pPr lvl="0"/>
            <a:r>
              <a:rPr/>
              <a:t>Now you know: what comes in (Command), what goes out (Result), what’s valid (Validator)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Handler just needs to implement the business logic</a:t>
            </a:r>
          </a:p>
          <a:p>
            <a:pPr lvl="0" indent="0" marL="0">
              <a:buNone/>
            </a:pPr>
          </a:p>
          <a:p>
            <a:pPr lvl="0"/>
            <a:r>
              <a:rPr/>
              <a:t>All contracts are clear</a:t>
            </a:r>
          </a:p>
          <a:p>
            <a:pPr lvl="0" indent="0" marL="0">
              <a:buNone/>
            </a:pPr>
          </a:p>
          <a:p>
            <a:pPr lvl="0"/>
            <a:r>
              <a:rPr/>
              <a:t>Focus purely on the “how”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Controller Fifth?</a:t>
            </a:r>
          </a:p>
          <a:p>
            <a:pPr lvl="0" indent="0" marL="0">
              <a:buNone/>
            </a:pPr>
          </a:p>
          <a:p>
            <a:pPr lvl="0"/>
            <a:r>
              <a:rPr/>
              <a:t>Thin adapter layer</a:t>
            </a:r>
          </a:p>
          <a:p>
            <a:pPr lvl="0" indent="0" marL="0">
              <a:buNone/>
            </a:pPr>
          </a:p>
          <a:p>
            <a:pPr lvl="0"/>
            <a:r>
              <a:rPr/>
              <a:t>Just routes HTTP → MediatR → HTTP</a:t>
            </a:r>
          </a:p>
          <a:p>
            <a:pPr lvl="0" indent="0" marL="0">
              <a:buNone/>
            </a:pPr>
          </a:p>
          <a:p>
            <a:pPr lvl="0"/>
            <a:r>
              <a:rPr/>
              <a:t>No business logic, no decisions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Literally 5 lines of code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Tests Last?</a:t>
            </a:r>
          </a:p>
          <a:p>
            <a:pPr lvl="0" indent="0" marL="0">
              <a:buNone/>
            </a:pPr>
          </a:p>
          <a:p>
            <a:pPr lvl="0"/>
            <a:r>
              <a:rPr/>
              <a:t>Now you have something to test!</a:t>
            </a:r>
          </a:p>
          <a:p>
            <a:pPr lvl="0" indent="0" marL="0">
              <a:buNone/>
            </a:pPr>
          </a:p>
          <a:p>
            <a:pPr lvl="0"/>
            <a:r>
              <a:rPr/>
              <a:t>Test from the handler (core logic)</a:t>
            </a:r>
          </a:p>
          <a:p>
            <a:pPr lvl="0" indent="0" marL="0">
              <a:buNone/>
            </a:pPr>
          </a:p>
          <a:p>
            <a:pPr lvl="0"/>
            <a:r>
              <a:rPr/>
              <a:t>Mock dependencies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business rules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Building Analogy:</a:t>
            </a:r>
            <a:r>
              <a:rPr/>
              <a:t> Like building a house: foundation (contract), framing (structure), plumbing/electrical (logic), then paint (controller), then inspection (tests).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mistake:</a:t>
            </a:r>
            <a:r>
              <a:rPr/>
              <a:t> Teams often start with the handler or controller. This leads to constantly changing interfaces and rework.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 tip:</a:t>
            </a:r>
            <a:r>
              <a:rPr/>
              <a:t> “If your command changes after you’ve written the handler, you started in the wrong order.”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look at actual code for each component…”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Command vs Query distinction (CQRS pattern):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Commands:</a:t>
            </a:r>
          </a:p>
          <a:p>
            <a:pPr lvl="0" indent="0" marL="0">
              <a:buNone/>
            </a:pPr>
          </a:p>
          <a:p>
            <a:pPr lvl="0"/>
            <a:r>
              <a:rPr/>
              <a:t>Perform actions: Register, Update, Delete, Create</a:t>
            </a:r>
          </a:p>
          <a:p>
            <a:pPr lvl="0" indent="0" marL="0">
              <a:buNone/>
            </a:pPr>
          </a:p>
          <a:p>
            <a:pPr lvl="0"/>
            <a:r>
              <a:rPr/>
              <a:t>Modify application state</a:t>
            </a:r>
          </a:p>
          <a:p>
            <a:pPr lvl="0" indent="0" marL="0">
              <a:buNone/>
            </a:pPr>
          </a:p>
          <a:p>
            <a:pPr lvl="0"/>
            <a:r>
              <a:rPr/>
              <a:t>Often return success/failure + minimal data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RegisterUserCommand, UpdateProfileCommand, DeleteAccountCommand</a:t>
            </a:r>
          </a:p>
          <a:p>
            <a:pPr lvl="0" indent="0" marL="0">
              <a:buNone/>
            </a:pPr>
          </a:p>
          <a:p>
            <a:pPr lvl="0"/>
            <a:r>
              <a:rPr/>
              <a:t>Naming: VerbEntityCommand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Queries:</a:t>
            </a:r>
          </a:p>
          <a:p>
            <a:pPr lvl="0" indent="0" marL="0">
              <a:buNone/>
            </a:pPr>
          </a:p>
          <a:p>
            <a:pPr lvl="0"/>
            <a:r>
              <a:rPr/>
              <a:t>Retrieve data: Get, List, Search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Read-only operations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Return data snapshots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GetUserProfileQuery, SearchProductsQuery, ListOrdersQuery</a:t>
            </a:r>
          </a:p>
          <a:p>
            <a:pPr lvl="0" indent="0" marL="0">
              <a:buNone/>
            </a:pPr>
          </a:p>
          <a:p>
            <a:pPr lvl="0"/>
            <a:r>
              <a:rPr/>
              <a:t>Naming: VerbEntityQuery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use records?</a:t>
            </a:r>
          </a:p>
          <a:p>
            <a:pPr lvl="0" indent="0" marL="0">
              <a:buNone/>
            </a:pPr>
          </a:p>
          <a:p>
            <a:pPr lvl="0"/>
            <a:r>
              <a:rPr/>
              <a:t>Immutable by default (with-expressions for copying)</a:t>
            </a:r>
          </a:p>
          <a:p>
            <a:pPr lvl="0" indent="0" marL="0">
              <a:buNone/>
            </a:pPr>
          </a:p>
          <a:p>
            <a:pPr lvl="0"/>
            <a:r>
              <a:rPr/>
              <a:t>Value-based equality</a:t>
            </a:r>
          </a:p>
          <a:p>
            <a:pPr lvl="0" indent="0" marL="0">
              <a:buNone/>
            </a:pPr>
          </a:p>
          <a:p>
            <a:pPr lvl="0"/>
            <a:r>
              <a:rPr/>
              <a:t>Concise syntax</a:t>
            </a:r>
          </a:p>
          <a:p>
            <a:pPr lvl="0" indent="0" marL="0">
              <a:buNone/>
            </a:pPr>
          </a:p>
          <a:p>
            <a:pPr lvl="0"/>
            <a:r>
              <a:rPr/>
              <a:t>Clearly signals “this is data, not behavior”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IRequest explanation: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MediatR pattern interface</a:t>
            </a:r>
          </a:p>
          <a:p>
            <a:pPr lvl="0" indent="0" marL="0">
              <a:buNone/>
            </a:pPr>
          </a:p>
          <a:p>
            <a:pPr lvl="0"/>
            <a:r>
              <a:rPr/>
              <a:t>TResponse is what the handler returns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</a:t>
            </a:r>
            <a:r>
              <a:rPr>
                <a:latin typeface="Courier"/>
              </a:rPr>
              <a:t>IRequest&lt;Result&lt;RegistrationResult&gt;&gt;</a:t>
            </a:r>
          </a:p>
          <a:p>
            <a:pPr lvl="0" indent="0" marL="0">
              <a:buNone/>
            </a:pPr>
          </a:p>
          <a:p>
            <a:pPr lvl="1"/>
            <a:r>
              <a:rPr/>
              <a:t>Handler will return Result</a:t>
            </a:r>
          </a:p>
          <a:p>
            <a:pPr lvl="0" indent="0" marL="0">
              <a:buNone/>
            </a:pPr>
          </a:p>
          <a:p>
            <a:pPr lvl="1"/>
            <a:r>
              <a:rPr/>
              <a:t>Result is a success/failure wrapper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Design principle:</a:t>
            </a:r>
            <a:r>
              <a:rPr/>
              <a:t> Commands/Queries are the “public API” of your feature. Design them as if they’re REST API contracts.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What NOT to include:</a:t>
            </a:r>
          </a:p>
          <a:p>
            <a:pPr lvl="0" indent="0" marL="0">
              <a:buNone/>
            </a:pPr>
          </a:p>
          <a:p>
            <a:pPr lvl="0"/>
            <a:r>
              <a:rPr/>
              <a:t>❌ Validation logic</a:t>
            </a:r>
          </a:p>
          <a:p>
            <a:pPr lvl="0" indent="0" marL="0">
              <a:buNone/>
            </a:pPr>
          </a:p>
          <a:p>
            <a:pPr lvl="0"/>
            <a:r>
              <a:rPr/>
              <a:t>❌ Business logic</a:t>
            </a:r>
          </a:p>
          <a:p>
            <a:pPr lvl="0" indent="0" marL="0">
              <a:buNone/>
            </a:pPr>
          </a:p>
          <a:p>
            <a:pPr lvl="0"/>
            <a:r>
              <a:rPr/>
              <a:t>❌ Utility methods</a:t>
            </a:r>
          </a:p>
          <a:p>
            <a:pPr lvl="0" indent="0" marL="0">
              <a:buNone/>
            </a:pPr>
          </a:p>
          <a:p>
            <a:pPr lvl="0"/>
            <a:r>
              <a:rPr/>
              <a:t>❌ Calculated properties</a:t>
            </a:r>
          </a:p>
          <a:p>
            <a:pPr lvl="0" indent="0" marL="0">
              <a:buNone/>
            </a:pPr>
          </a:p>
          <a:p>
            <a:pPr lvl="0"/>
            <a:r>
              <a:rPr/>
              <a:t>❌ Mutable state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Language variations: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TypeScript: Use classes with readonly properties</a:t>
            </a:r>
          </a:p>
          <a:p>
            <a:pPr lvl="0" indent="0" marL="0">
              <a:buNone/>
            </a:pPr>
          </a:p>
          <a:p>
            <a:pPr lvl="0"/>
            <a:r>
              <a:rPr/>
              <a:t>Python: Use dataclasses with frozen=True</a:t>
            </a:r>
          </a:p>
          <a:p>
            <a:pPr lvl="0" indent="0" marL="0">
              <a:buNone/>
            </a:pPr>
          </a:p>
          <a:p>
            <a:pPr lvl="0"/>
            <a:r>
              <a:rPr/>
              <a:t>Java: Use records (Java 16+)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 tip:</a:t>
            </a:r>
            <a:r>
              <a:rPr/>
              <a:t> “If your command has methods beyond properties, you’re doing it wrong.”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see where the real work happens - the handler…”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Handler deep dive - this is the most important component: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Structure of a good handler: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1. Business Rule Checks (Lines 14-17):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First, verify business constraints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“User with this email already exists”</a:t>
            </a:r>
          </a:p>
          <a:p>
            <a:pPr lvl="0" indent="0" marL="0">
              <a:buNone/>
            </a:pPr>
          </a:p>
          <a:p>
            <a:pPr lvl="0"/>
            <a:r>
              <a:rPr/>
              <a:t>Return early if rules violated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domain language in error messages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2. Entity Creation with Logic (Lines 19-27):</a:t>
            </a:r>
          </a:p>
          <a:p>
            <a:pPr lvl="0" indent="0" marL="0">
              <a:buNone/>
            </a:pPr>
          </a:p>
          <a:p>
            <a:pPr lvl="0"/>
            <a:r>
              <a:rPr/>
              <a:t>Transform input to domain model</a:t>
            </a:r>
          </a:p>
          <a:p>
            <a:pPr lvl="0" indent="0" marL="0">
              <a:buNone/>
            </a:pPr>
          </a:p>
          <a:p>
            <a:pPr lvl="0"/>
            <a:r>
              <a:rPr/>
              <a:t>Apply business logic (password hashing)</a:t>
            </a:r>
          </a:p>
          <a:p>
            <a:pPr lvl="0" indent="0" marL="0">
              <a:buNone/>
            </a:pPr>
          </a:p>
          <a:p>
            <a:pPr lvl="0"/>
            <a:r>
              <a:rPr/>
              <a:t>Set system-generated values (ID, timestamps)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 rich domain objects, not anemic DTOs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3. Persistence (Lines 29-30):</a:t>
            </a:r>
          </a:p>
          <a:p>
            <a:pPr lvl="0" indent="0" marL="0">
              <a:buNone/>
            </a:pPr>
          </a:p>
          <a:p>
            <a:pPr lvl="0"/>
            <a:r>
              <a:rPr/>
              <a:t>Save to database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Unit of Work pattern (SaveChanges)</a:t>
            </a:r>
          </a:p>
          <a:p>
            <a:pPr lvl="0" indent="0" marL="0">
              <a:buNone/>
            </a:pPr>
          </a:p>
          <a:p>
            <a:pPr lvl="0"/>
            <a:r>
              <a:rPr/>
              <a:t>Consider transaction boundaries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Handle database exceptions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4. Side Effects (Line 32-33):</a:t>
            </a:r>
          </a:p>
          <a:p>
            <a:pPr lvl="0" indent="0" marL="0">
              <a:buNone/>
            </a:pPr>
          </a:p>
          <a:p>
            <a:pPr lvl="0"/>
            <a:r>
              <a:rPr/>
              <a:t>Actions beyond saving: emails, events, notifications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These are OK here - handler orchestrates the complete feature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Consider async fire-and-forget or message queues for resilience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5. Result Mapping (Lines 35-39):</a:t>
            </a:r>
          </a:p>
          <a:p>
            <a:pPr lvl="0" indent="0" marL="0">
              <a:buNone/>
            </a:pPr>
          </a:p>
          <a:p>
            <a:pPr lvl="0"/>
            <a:r>
              <a:rPr/>
              <a:t>Map domain model to result DTO</a:t>
            </a:r>
          </a:p>
          <a:p>
            <a:pPr lvl="0" indent="0" marL="0">
              <a:buNone/>
            </a:pPr>
          </a:p>
          <a:p>
            <a:pPr lvl="0"/>
            <a:r>
              <a:rPr/>
              <a:t>Return only necessary information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Result pattern for explicit success/failure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Dependency injection:</a:t>
            </a:r>
            <a:r>
              <a:rPr/>
              <a:t> Notice constructor takes 3 dependencies:</a:t>
            </a:r>
          </a:p>
          <a:p>
            <a:pPr lvl="0" indent="0" marL="0">
              <a:buNone/>
            </a:pPr>
          </a:p>
          <a:p>
            <a:pPr lvl="0"/>
            <a:r>
              <a:rPr/>
              <a:t>Database context for data access</a:t>
            </a:r>
          </a:p>
          <a:p>
            <a:pPr lvl="0" indent="0" marL="0">
              <a:buNone/>
            </a:pPr>
          </a:p>
          <a:p>
            <a:pPr lvl="0"/>
            <a:r>
              <a:rPr/>
              <a:t>Password hasher for security</a:t>
            </a:r>
          </a:p>
          <a:p>
            <a:pPr lvl="0" indent="0" marL="0">
              <a:buNone/>
            </a:pPr>
          </a:p>
          <a:p>
            <a:pPr lvl="0"/>
            <a:r>
              <a:rPr/>
              <a:t>Email service for side effects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Handler responsibilities:</a:t>
            </a:r>
            <a:r>
              <a:rPr/>
              <a:t> ✅ Business rules and decisions ✅ Orchestrating dependencies ✅ Error handling and validation ✅ Transaction boundaries ✅ Mapping between layers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Handler should NOT:</a:t>
            </a:r>
            <a:r>
              <a:rPr/>
              <a:t> ❌ Contain HTTP concerns (status codes, headers) ❌ Perform input validation (that’s validator’s job) ❌ Directly reference other features ❌ Contain presentation logic ❌ Be over 150 lines (split if larger)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Result pattern explanation:</a:t>
            </a:r>
            <a:r>
              <a:rPr/>
              <a:t> Instead of throwing exceptions: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&gt;.</a:t>
            </a:r>
            <a:r>
              <a:rPr>
                <a:solidFill>
                  <a:srgbClr val="06287E"/>
                </a:solidFill>
                <a:latin typeface="Courier"/>
              </a:rPr>
              <a:t>Success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 ← Everything worked</a:t>
            </a:r>
            <a:br/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&gt;.</a:t>
            </a:r>
            <a:r>
              <a:rPr>
                <a:solidFill>
                  <a:srgbClr val="06287E"/>
                </a:solidFill>
                <a:latin typeface="Courier"/>
              </a:rPr>
              <a:t>Failure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error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 ← Business rule violation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makes errors explicit and forces handling.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Async patterns:</a:t>
            </a:r>
          </a:p>
          <a:p>
            <a:pPr lvl="0" indent="0" marL="0">
              <a:buNone/>
            </a:pPr>
          </a:p>
          <a:p>
            <a:pPr lvl="0"/>
            <a:r>
              <a:rPr/>
              <a:t>Always use CancellationToken for cancellation support</a:t>
            </a:r>
          </a:p>
          <a:p>
            <a:pPr lvl="0" indent="0" marL="0">
              <a:buNone/>
            </a:pPr>
          </a:p>
          <a:p>
            <a:pPr lvl="0"/>
            <a:r>
              <a:rPr/>
              <a:t>Await all async operations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Don’t use .Result or .Wait() (causes deadlocks)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Testing strategy:</a:t>
            </a:r>
            <a:r>
              <a:rPr/>
              <a:t> Handlers are your primary test target:</a:t>
            </a:r>
          </a:p>
          <a:p>
            <a:pPr lvl="0" indent="0" marL="0">
              <a:buNone/>
            </a:pPr>
          </a:p>
          <a:p>
            <a:pPr lvl="0"/>
            <a:r>
              <a:rPr/>
              <a:t>Mock the dependencies (IDbContext, IPasswordHasher, etc.)</a:t>
            </a:r>
          </a:p>
          <a:p>
            <a:pPr lvl="0" indent="0" marL="0">
              <a:buNone/>
            </a:pPr>
          </a:p>
          <a:p>
            <a:pPr lvl="0"/>
            <a:r>
              <a:rPr/>
              <a:t>Test business logic thoroughly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both success and failure paths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Performance consideration:</a:t>
            </a:r>
            <a:r>
              <a:rPr/>
              <a:t> Don’t make handlers do too much. If complex, consider:</a:t>
            </a:r>
          </a:p>
          <a:p>
            <a:pPr lvl="0" indent="0" marL="0">
              <a:buNone/>
            </a:pPr>
          </a:p>
          <a:p>
            <a:pPr lvl="0"/>
            <a:r>
              <a:rPr/>
              <a:t>Domain events for side effects</a:t>
            </a:r>
          </a:p>
          <a:p>
            <a:pPr lvl="0" indent="0" marL="0">
              <a:buNone/>
            </a:pPr>
          </a:p>
          <a:p>
            <a:pPr lvl="0"/>
            <a:r>
              <a:rPr/>
              <a:t>Separate handler for complex orchestration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Move heavy processing to background jobs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“Notice the handler doesn’t validate input - that’s the validator’s job…”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Validator section: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separate validators?</a:t>
            </a:r>
          </a:p>
          <a:p>
            <a:pPr lvl="0" indent="0" marL="0">
              <a:buNone/>
            </a:pPr>
          </a:p>
          <a:p>
            <a:pPr lvl="0"/>
            <a:r>
              <a:rPr/>
              <a:t>Clear separation of concerns</a:t>
            </a:r>
          </a:p>
          <a:p>
            <a:pPr lvl="0" indent="0" marL="0">
              <a:buNone/>
            </a:pPr>
          </a:p>
          <a:p>
            <a:pPr lvl="0"/>
            <a:r>
              <a:rPr/>
              <a:t>Validation rules explicit and discoverable</a:t>
            </a:r>
          </a:p>
          <a:p>
            <a:pPr lvl="0" indent="0" marL="0">
              <a:buNone/>
            </a:pPr>
          </a:p>
          <a:p>
            <a:pPr lvl="0"/>
            <a:r>
              <a:rPr/>
              <a:t>Easy to test validation in isolation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Can be reused or modified independently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FluentValidation benefits:</a:t>
            </a:r>
          </a:p>
          <a:p>
            <a:pPr lvl="0" indent="0" marL="0">
              <a:buNone/>
            </a:pPr>
          </a:p>
          <a:p>
            <a:pPr lvl="0"/>
            <a:r>
              <a:rPr/>
              <a:t>Expressive, readable syntax</a:t>
            </a:r>
          </a:p>
          <a:p>
            <a:pPr lvl="0" indent="0" marL="0">
              <a:buNone/>
            </a:pPr>
          </a:p>
          <a:p>
            <a:pPr lvl="0"/>
            <a:r>
              <a:rPr/>
              <a:t>Built-in common validations (email, length, range)</a:t>
            </a:r>
          </a:p>
          <a:p>
            <a:pPr lvl="0" indent="0" marL="0">
              <a:buNone/>
            </a:pPr>
          </a:p>
          <a:p>
            <a:pPr lvl="0"/>
            <a:r>
              <a:rPr/>
              <a:t>Custom validation rules easy to add</a:t>
            </a:r>
          </a:p>
          <a:p>
            <a:pPr lvl="0" indent="0" marL="0">
              <a:buNone/>
            </a:pPr>
          </a:p>
          <a:p>
            <a:pPr lvl="0"/>
            <a:r>
              <a:rPr/>
              <a:t>Excellent error messages</a:t>
            </a:r>
          </a:p>
          <a:p>
            <a:pPr lvl="0" indent="0" marL="0">
              <a:buNone/>
            </a:pPr>
          </a:p>
          <a:p>
            <a:pPr lvl="0"/>
            <a:r>
              <a:rPr/>
              <a:t>Integration with ASP.NET Core model binding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Validation execution: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Runs BEFORE handler executes (via MediatR pipeline behavior)</a:t>
            </a:r>
          </a:p>
          <a:p>
            <a:pPr lvl="0" indent="0" marL="0">
              <a:buNone/>
            </a:pPr>
          </a:p>
          <a:p>
            <a:pPr lvl="0"/>
            <a:r>
              <a:rPr/>
              <a:t>If validation fails, handler never runs</a:t>
            </a:r>
          </a:p>
          <a:p>
            <a:pPr lvl="0" indent="0" marL="0">
              <a:buNone/>
            </a:pPr>
          </a:p>
          <a:p>
            <a:pPr lvl="0"/>
            <a:r>
              <a:rPr/>
              <a:t>Returns 400 Bad Request automatically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What to validate here:</a:t>
            </a:r>
            <a:r>
              <a:rPr/>
              <a:t> ✅ Format and structure (email format, password strength) ✅ Required fields ✅ Length constraints ✅ Pattern matching ✅ Value ranges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What NOT to validate here:</a:t>
            </a:r>
            <a:r>
              <a:rPr/>
              <a:t> ❌ Business rules (“user already exists”) ← that’s handler’s job ❌ Authorization (“user has permission”) ← that’s auth middleware’s job ❌ Database-dependent checks ← too slow, do in handler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Validation vs Business Rules:</a:t>
            </a:r>
          </a:p>
          <a:p>
            <a:pPr lvl="0" indent="0" marL="0">
              <a:buNone/>
            </a:pPr>
          </a:p>
          <a:p>
            <a:pPr lvl="0"/>
            <a:r>
              <a:rPr/>
              <a:t>Validation: “Is this input structurally valid?”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Business Rules: “Does this violate domain constraints?”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Example: Email format = validation, email already taken = business rule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Controller section: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ideal controller:</a:t>
            </a:r>
          </a:p>
          <a:p>
            <a:pPr lvl="0" indent="0" marL="0">
              <a:buNone/>
            </a:pPr>
          </a:p>
          <a:p>
            <a:pPr lvl="0"/>
            <a:r>
              <a:rPr/>
              <a:t>5-10 lines per action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Zero business logic</a:t>
            </a:r>
          </a:p>
          <a:p>
            <a:pPr lvl="0" indent="0" marL="0">
              <a:buNone/>
            </a:pPr>
          </a:p>
          <a:p>
            <a:pPr lvl="0"/>
            <a:r>
              <a:rPr/>
              <a:t>Zero data access</a:t>
            </a:r>
          </a:p>
          <a:p>
            <a:pPr lvl="0" indent="0" marL="0">
              <a:buNone/>
            </a:pPr>
          </a:p>
          <a:p>
            <a:pPr lvl="0"/>
            <a:r>
              <a:rPr/>
              <a:t>Just routing: HTTP → MediatR → HTTP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What controllers DO:</a:t>
            </a:r>
            <a:r>
              <a:rPr/>
              <a:t> ✅ Route HTTP requests to handlers (via MediatR) ✅ Map HTTP status codes from results ✅ Handle HTTP concerns (headers, content negotiation) ✅ Apply HTTP attributes (route, verb, auth)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What controllers DON’T DO:</a:t>
            </a:r>
            <a:r>
              <a:rPr/>
              <a:t> ❌ Business logic ❌ Validation ❌ Data access ❌ Complex error handling ❌ DTO mapping (handler does this)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MediatR pattern: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_mediator.Send(command)</a:t>
            </a:r>
            <a:r>
              <a:rPr/>
              <a:t> dispatches to correct handler</a:t>
            </a:r>
          </a:p>
          <a:p>
            <a:pPr lvl="0" indent="0" marL="0">
              <a:buNone/>
            </a:pPr>
          </a:p>
          <a:p>
            <a:pPr lvl="0"/>
            <a:r>
              <a:rPr/>
              <a:t>MediatR finds RegsiterUserHandler automatically</a:t>
            </a:r>
          </a:p>
          <a:p>
            <a:pPr lvl="0" indent="0" marL="0">
              <a:buNone/>
            </a:pPr>
          </a:p>
          <a:p>
            <a:pPr lvl="0"/>
            <a:r>
              <a:rPr/>
              <a:t>Runs validation pipeline</a:t>
            </a:r>
          </a:p>
          <a:p>
            <a:pPr lvl="0" indent="0" marL="0">
              <a:buNone/>
            </a:pPr>
          </a:p>
          <a:p>
            <a:pPr lvl="0"/>
            <a:r>
              <a:rPr/>
              <a:t>Returns result to controller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Result mapping to HTTP: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IsSuccess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Ok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BadRequest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400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Could also map:</a:t>
            </a:r>
          </a:p>
          <a:p>
            <a:pPr lvl="0" indent="0" marL="0">
              <a:buNone/>
            </a:pPr>
          </a:p>
          <a:p>
            <a:pPr lvl="0"/>
            <a:r>
              <a:rPr/>
              <a:t>NotFound(404) for missing resources</a:t>
            </a:r>
          </a:p>
          <a:p>
            <a:pPr lvl="0" indent="0" marL="0">
              <a:buNone/>
            </a:pPr>
          </a:p>
          <a:p>
            <a:pPr lvl="0"/>
            <a:r>
              <a:rPr/>
              <a:t>Conflict(409) for business rule violations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Unauthorized(401) for auth failures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Testing controllers:</a:t>
            </a:r>
            <a:r>
              <a:rPr/>
              <a:t> Usually skip unit testing controllers (too simple). Test via integration tests instead.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Anti-pattern to avoid: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❌ FAT CONTROLLER - Don't do this!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HttpPost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IActionResult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RegisterRequest request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IsNullOrEmpty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request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BadRequest</a:t>
            </a:r>
            <a:r>
              <a:rPr>
                <a:solidFill>
                  <a:srgbClr val="666666"/>
                </a:solidFill>
                <a:latin typeface="Courier"/>
              </a:rPr>
              <a:t>(...);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_dbContext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Users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FindAsync</a:t>
            </a:r>
            <a:r>
              <a:rPr>
                <a:solidFill>
                  <a:srgbClr val="666666"/>
                </a:solidFill>
                <a:latin typeface="Courier"/>
              </a:rPr>
              <a:t>(...);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user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Conflict</a:t>
            </a:r>
            <a:r>
              <a:rPr>
                <a:solidFill>
                  <a:srgbClr val="666666"/>
                </a:solidFill>
                <a:latin typeface="Courier"/>
              </a:rPr>
              <a:t>(...);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// ... 50 more lines of logic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“Now let’s discuss common mistakes to avoid…”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Anti-Pattern 1: Feature Dependencies (MOST COMMON MISTAKE)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problem:</a:t>
            </a:r>
          </a:p>
          <a:p>
            <a:pPr lvl="0" indent="0" marL="0">
              <a:buNone/>
            </a:pPr>
          </a:p>
          <a:p>
            <a:pPr lvl="0"/>
            <a:r>
              <a:rPr/>
              <a:t>OrderCheckout feature imports from UserManagement feature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Creates tight coupling between features</a:t>
            </a:r>
          </a:p>
          <a:p>
            <a:pPr lvl="0" indent="0" marL="0">
              <a:buNone/>
            </a:pPr>
          </a:p>
          <a:p>
            <a:pPr lvl="0"/>
            <a:r>
              <a:rPr/>
              <a:t>Changes to UserManagement break OrderCheckout</a:t>
            </a:r>
          </a:p>
          <a:p>
            <a:pPr lvl="0" indent="0" marL="0">
              <a:buNone/>
            </a:pPr>
          </a:p>
          <a:p>
            <a:pPr lvl="0"/>
            <a:r>
              <a:rPr/>
              <a:t>Loses all benefits of vertical slices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Real-world scenario:</a:t>
            </a:r>
            <a:r>
              <a:rPr/>
              <a:t> Team adds parameter to UserService.GetUser(). Now OrderCheckout compiler errors. Need to update OrderCheckout, retest, redeploy. Features are mow entangled.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solution pattern: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In /Common/Interfaces/IUserProvider.cs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r>
              <a:rPr>
                <a:latin typeface="Courier"/>
              </a:rPr>
              <a:t> IUserProvider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GetUserAsync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Guid userId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UserManagement feature implements it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OrderCheckout feature uses it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Both depend on abstraction, not each other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How to detect:</a:t>
            </a:r>
            <a:r>
              <a:rPr/>
              <a:t> Search codebase for: </a:t>
            </a:r>
            <a:r>
              <a:rPr>
                <a:latin typeface="Courier"/>
              </a:rPr>
              <a:t>using Features.</a:t>
            </a:r>
            <a:r>
              <a:rPr/>
              <a:t> outside same feature Any found = violation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Anti-Pattern 2: Anemic Handlers (SECOND MOST COMMON)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problem: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Handler does nothing, just calls a service</a:t>
            </a:r>
          </a:p>
          <a:p>
            <a:pPr lvl="0" indent="0" marL="0">
              <a:buNone/>
            </a:pPr>
          </a:p>
          <a:p>
            <a:pPr lvl="0"/>
            <a:r>
              <a:rPr/>
              <a:t>All logic in ill-defined “services”</a:t>
            </a:r>
          </a:p>
          <a:p>
            <a:pPr lvl="0" indent="0" marL="0">
              <a:buNone/>
            </a:pPr>
          </a:p>
          <a:p>
            <a:pPr lvl="0"/>
            <a:r>
              <a:rPr/>
              <a:t>You’ve recreated layered architecture in disguise!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Why teams do this:</a:t>
            </a:r>
          </a:p>
          <a:p>
            <a:pPr lvl="0" indent="0" marL="0">
              <a:buNone/>
            </a:pPr>
          </a:p>
          <a:p>
            <a:pPr lvl="0"/>
            <a:r>
              <a:rPr/>
              <a:t>Habit from layered architecture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Think handlers are “just routing”</a:t>
            </a:r>
          </a:p>
          <a:p>
            <a:pPr lvl="0" indent="0" marL="0">
              <a:buNone/>
            </a:pPr>
          </a:p>
          <a:p>
            <a:pPr lvl="0"/>
            <a:r>
              <a:rPr/>
              <a:t>Fear of “fat handlers”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truth:</a:t>
            </a:r>
            <a:r>
              <a:rPr/>
              <a:t> Handlers SHOULD be “fat” with business logic. That’s their purpose!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Good handler characteristics:</a:t>
            </a:r>
          </a:p>
          <a:p>
            <a:pPr lvl="0" indent="0" marL="0">
              <a:buNone/>
            </a:pPr>
          </a:p>
          <a:p>
            <a:pPr lvl="0"/>
            <a:r>
              <a:rPr/>
              <a:t>30-150 lines</a:t>
            </a:r>
          </a:p>
          <a:p>
            <a:pPr lvl="0" indent="0" marL="0">
              <a:buNone/>
            </a:pPr>
          </a:p>
          <a:p>
            <a:pPr lvl="0"/>
            <a:r>
              <a:rPr/>
              <a:t>Orchestrates dependencies</a:t>
            </a:r>
          </a:p>
          <a:p>
            <a:pPr lvl="0" indent="0" marL="0">
              <a:buNone/>
            </a:pPr>
          </a:p>
          <a:p>
            <a:pPr lvl="0"/>
            <a:r>
              <a:rPr/>
              <a:t>Contains business rules and decisions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Maps between layers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Anti-Pattern 3: Fat Controllers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problem:</a:t>
            </a:r>
          </a:p>
          <a:p>
            <a:pPr lvl="0" indent="0" marL="0">
              <a:buNone/>
            </a:pPr>
          </a:p>
          <a:p>
            <a:pPr lvl="0"/>
            <a:r>
              <a:rPr/>
              <a:t>Business logic in controller</a:t>
            </a:r>
          </a:p>
          <a:p>
            <a:pPr lvl="0" indent="0" marL="0">
              <a:buNone/>
            </a:pPr>
          </a:p>
          <a:p>
            <a:pPr lvl="0"/>
            <a:r>
              <a:rPr/>
              <a:t>Validation in controller</a:t>
            </a:r>
          </a:p>
          <a:p>
            <a:pPr lvl="0" indent="0" marL="0">
              <a:buNone/>
            </a:pPr>
          </a:p>
          <a:p>
            <a:pPr lvl="0"/>
            <a:r>
              <a:rPr/>
              <a:t>Data access in controller</a:t>
            </a:r>
          </a:p>
          <a:p>
            <a:pPr lvl="0" indent="0" marL="0">
              <a:buNone/>
            </a:pPr>
          </a:p>
          <a:p>
            <a:pPr lvl="0"/>
            <a:r>
              <a:rPr/>
              <a:t>Controller becomes untestable mess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“controller is a humble object” principle:</a:t>
            </a:r>
          </a:p>
          <a:p>
            <a:pPr lvl="0" indent="0" marL="0">
              <a:buNone/>
            </a:pPr>
          </a:p>
          <a:p>
            <a:pPr lvl="0"/>
            <a:r>
              <a:rPr/>
              <a:t>So simple it doesn’t need unit tests</a:t>
            </a:r>
          </a:p>
          <a:p>
            <a:pPr lvl="0" indent="0" marL="0">
              <a:buNone/>
            </a:pPr>
          </a:p>
          <a:p>
            <a:pPr lvl="0"/>
            <a:r>
              <a:rPr/>
              <a:t>Just adapts HTTP to domain and back</a:t>
            </a:r>
          </a:p>
          <a:p>
            <a:pPr lvl="0" indent="0" marL="0">
              <a:buNone/>
            </a:pPr>
          </a:p>
          <a:p>
            <a:pPr lvl="0"/>
            <a:r>
              <a:rPr/>
              <a:t>All testable logic in handlers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Real-world fat controller story:</a:t>
            </a:r>
            <a:r>
              <a:rPr/>
              <a:t> “I once saw a controller method with 400 lines. It had database queries, business logic, email sending, PDF generation, and logging. Testing required spinning up the entire web stack. A nightmare.”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Other common anti-patterns: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❌ Shared repositories across features:</a:t>
            </a:r>
            <a:r>
              <a:rPr/>
              <a:t> Don’t create a generic UserRepository used by 10 features. Create feature-specific data access.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❌ Feature suffixes everywhere:</a:t>
            </a:r>
            <a:r>
              <a:rPr/>
              <a:t> Bad: UserRegistrationCommand, UserRegistrationHandler, UserRegistrationValidator Good: Put them in /Features/UserRegistration/ folder, then just: RegisterUserCommand, RegisterUserHandler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❌ Premature abstraction:</a:t>
            </a:r>
            <a:r>
              <a:rPr/>
              <a:t> Don’t create shared base classes for handlers “in case we need it later.” YAGNI (You Aren’t Gonna Need It).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How to verify you’re doing it right: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Feature folders are balanced in size (no huge god-features)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No </a:t>
            </a:r>
            <a:r>
              <a:rPr>
                <a:latin typeface="Courier"/>
              </a:rPr>
              <a:t>using Features.X</a:t>
            </a:r>
            <a:r>
              <a:rPr/>
              <a:t> from feature Y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Handlers contain visible business logic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Controllers are 5-10 lines per action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Can delete a feature folder without breaking others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talk about testing vertical slices…”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Testing strategy for vertical slices: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Primary test target: HANDLERS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Handlers contain all business logic</a:t>
            </a:r>
          </a:p>
          <a:p>
            <a:pPr lvl="0" indent="0" marL="0">
              <a:buNone/>
            </a:pPr>
          </a:p>
          <a:p>
            <a:pPr lvl="0"/>
            <a:r>
              <a:rPr/>
              <a:t>Most important code to test</a:t>
            </a:r>
          </a:p>
          <a:p>
            <a:pPr lvl="0" indent="0" marL="0">
              <a:buNone/>
            </a:pPr>
          </a:p>
          <a:p>
            <a:pPr lvl="0"/>
            <a:r>
              <a:rPr/>
              <a:t>Most complex code to test</a:t>
            </a:r>
          </a:p>
          <a:p>
            <a:pPr lvl="0" indent="0" marL="0">
              <a:buNone/>
            </a:pPr>
          </a:p>
          <a:p>
            <a:pPr lvl="0"/>
            <a:r>
              <a:rPr/>
              <a:t>High test coverage here = high confidence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Secondary test target: VALIDATORS</a:t>
            </a:r>
          </a:p>
          <a:p>
            <a:pPr lvl="0" indent="0" marL="0">
              <a:buNone/>
            </a:pPr>
          </a:p>
          <a:p>
            <a:pPr lvl="0"/>
            <a:r>
              <a:rPr/>
              <a:t>Test validation rules</a:t>
            </a:r>
          </a:p>
          <a:p>
            <a:pPr lvl="0" indent="0" marL="0">
              <a:buNone/>
            </a:pPr>
          </a:p>
          <a:p>
            <a:pPr lvl="0"/>
            <a:r>
              <a:rPr/>
              <a:t>Usually simpler than handler tests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rule messages are correct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Skip: CONTROLLERS</a:t>
            </a:r>
          </a:p>
          <a:p>
            <a:pPr lvl="0" indent="0" marL="0">
              <a:buNone/>
            </a:pPr>
          </a:p>
          <a:p>
            <a:pPr lvl="0"/>
            <a:r>
              <a:rPr/>
              <a:t>Too simple to unit test</a:t>
            </a:r>
          </a:p>
          <a:p>
            <a:pPr lvl="0" indent="0" marL="0">
              <a:buNone/>
            </a:pPr>
          </a:p>
          <a:p>
            <a:pPr lvl="0"/>
            <a:r>
              <a:rPr/>
              <a:t>Test via integration tests instead</a:t>
            </a:r>
          </a:p>
          <a:p>
            <a:pPr lvl="0" indent="0" marL="0">
              <a:buNone/>
            </a:pPr>
          </a:p>
          <a:p>
            <a:pPr lvl="0"/>
            <a:r>
              <a:rPr/>
              <a:t>Or just rely on manual testing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Skip: COMMANDS/QUERIES</a:t>
            </a:r>
          </a:p>
          <a:p>
            <a:pPr lvl="0" indent="0" marL="0">
              <a:buNone/>
            </a:pPr>
          </a:p>
          <a:p>
            <a:pPr lvl="0"/>
            <a:r>
              <a:rPr/>
              <a:t>Just data structures, nothing to test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Unit testing handlers - the setup: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1. Mock dependencies: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Mock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IDbContext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Database access</a:t>
            </a:r>
            <a:br/>
            <a:r>
              <a:rPr>
                <a:latin typeface="Courier"/>
              </a:rPr>
              <a:t>Mock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IPasswordHasher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External services</a:t>
            </a:r>
            <a:br/>
            <a:r>
              <a:rPr>
                <a:latin typeface="Courier"/>
              </a:rPr>
              <a:t>Mock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IEmailService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Side effects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2. Create handler with mocks: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_handler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RegisterUserHandler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_dbContextMock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Object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_hasherMock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Object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_emailServiceMock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Object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);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What to test: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✅ Happy path:</a:t>
            </a:r>
          </a:p>
          <a:p>
            <a:pPr lvl="0" indent="0" marL="0">
              <a:buNone/>
            </a:pPr>
          </a:p>
          <a:p>
            <a:pPr lvl="0"/>
            <a:r>
              <a:rPr/>
              <a:t>Valid input → Success result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correct data saved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side effects called (email sent)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result contains expected values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✅ Business rule violations:</a:t>
            </a:r>
          </a:p>
          <a:p>
            <a:pPr lvl="0" indent="0" marL="0">
              <a:buNone/>
            </a:pPr>
          </a:p>
          <a:p>
            <a:pPr lvl="0"/>
            <a:r>
              <a:rPr/>
              <a:t>Duplicate user → Failure result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error message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database NOT modified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✅ Edge cases:</a:t>
            </a:r>
          </a:p>
          <a:p>
            <a:pPr lvl="0" indent="0" marL="0">
              <a:buNone/>
            </a:pPr>
          </a:p>
          <a:p>
            <a:pPr lvl="0"/>
            <a:r>
              <a:rPr/>
              <a:t>Empty strings (if validator allows)</a:t>
            </a:r>
          </a:p>
          <a:p>
            <a:pPr lvl="0" indent="0" marL="0">
              <a:buNone/>
            </a:pPr>
          </a:p>
          <a:p>
            <a:pPr lvl="0"/>
            <a:r>
              <a:rPr/>
              <a:t>Boundary values</a:t>
            </a:r>
          </a:p>
          <a:p>
            <a:pPr lvl="0" indent="0" marL="0">
              <a:buNone/>
            </a:pPr>
          </a:p>
          <a:p>
            <a:pPr lvl="0"/>
            <a:r>
              <a:rPr/>
              <a:t>Null handling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✅ Exception handling:</a:t>
            </a:r>
          </a:p>
          <a:p>
            <a:pPr lvl="0" indent="0" marL="0">
              <a:buNone/>
            </a:pPr>
          </a:p>
          <a:p>
            <a:pPr lvl="0"/>
            <a:r>
              <a:rPr/>
              <a:t>Database failure → Failure result</a:t>
            </a:r>
          </a:p>
          <a:p>
            <a:pPr lvl="0" indent="0" marL="0">
              <a:buNone/>
            </a:pPr>
          </a:p>
          <a:p>
            <a:pPr lvl="0"/>
            <a:r>
              <a:rPr/>
              <a:t>External service failure → Failure result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transactions rolled back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Test structure - AAA pattern: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Arrange: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 command with test data</a:t>
            </a:r>
          </a:p>
          <a:p>
            <a:pPr lvl="0" indent="0" marL="0">
              <a:buNone/>
            </a:pPr>
          </a:p>
          <a:p>
            <a:pPr lvl="0"/>
            <a:r>
              <a:rPr/>
              <a:t>Set up mock behaviors</a:t>
            </a:r>
          </a:p>
          <a:p>
            <a:pPr lvl="0" indent="0" marL="0">
              <a:buNone/>
            </a:pPr>
          </a:p>
          <a:p>
            <a:pPr lvl="0"/>
            <a:r>
              <a:rPr/>
              <a:t>Configure expected responses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Act:</a:t>
            </a:r>
          </a:p>
          <a:p>
            <a:pPr lvl="0" indent="0" marL="0">
              <a:buNone/>
            </a:pPr>
          </a:p>
          <a:p>
            <a:pPr lvl="0"/>
            <a:r>
              <a:rPr/>
              <a:t>Call handler.Handle(command)</a:t>
            </a:r>
          </a:p>
          <a:p>
            <a:pPr lvl="0" indent="0" marL="0">
              <a:buNone/>
            </a:pPr>
          </a:p>
          <a:p>
            <a:pPr lvl="0"/>
            <a:r>
              <a:rPr/>
              <a:t>Get result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Assert: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result.IsSuccess / IsFailure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result.Value contents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mocks called correctly (Verify)</a:t>
            </a:r>
          </a:p>
          <a:p>
            <a:pPr lvl="0" indent="0" marL="0">
              <a:buNone/>
            </a:pPr>
          </a:p>
          <a:p>
            <a:pPr lvl="0"/>
            <a:r>
              <a:rPr/>
              <a:t>Check call counts (Times.Once, Times.Never)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Mock setup patterns: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Async database queries: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_dbContextMock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Setup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db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db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Users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AnyAsync</a:t>
            </a:r>
            <a:r>
              <a:rPr>
                <a:solidFill>
                  <a:srgbClr val="666666"/>
                </a:solidFill>
                <a:latin typeface="Courier"/>
              </a:rPr>
              <a:t>(...))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ReturnsAsync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Returns new object: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_hasherMock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Setup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h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Hash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IsAny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&gt;()))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Returns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"hashed_password"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Verification patterns: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Verify method called: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_dbContextMock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Verify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db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db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SaveChangesAsync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IsAny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CancellationToken</a:t>
            </a:r>
            <a:r>
              <a:rPr>
                <a:solidFill>
                  <a:srgbClr val="666666"/>
                </a:solidFill>
                <a:latin typeface="Courier"/>
              </a:rPr>
              <a:t>&gt;()),</a:t>
            </a:r>
            <a:br/>
            <a:r>
              <a:rPr>
                <a:latin typeface="Courier"/>
              </a:rPr>
              <a:t>    Times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Once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);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Verify method NOT called: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_emailServiceMock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Verify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e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SendWelcomeEmailAsync</a:t>
            </a:r>
            <a:r>
              <a:rPr>
                <a:solidFill>
                  <a:srgbClr val="666666"/>
                </a:solidFill>
                <a:latin typeface="Courier"/>
              </a:rPr>
              <a:t>(...),</a:t>
            </a:r>
            <a:br/>
            <a:r>
              <a:rPr>
                <a:latin typeface="Courier"/>
              </a:rPr>
              <a:t>    Times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Never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);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Integration testing:</a:t>
            </a:r>
            <a:r>
              <a:rPr/>
              <a:t> Test complete features end-to-end:</a:t>
            </a:r>
          </a:p>
          <a:p>
            <a:pPr lvl="0" indent="0" marL="0">
              <a:buNone/>
            </a:pPr>
          </a:p>
          <a:p>
            <a:pPr lvl="0"/>
            <a:r>
              <a:rPr/>
              <a:t>HTTP request → Controller → Handler → Database</a:t>
            </a:r>
          </a:p>
          <a:p>
            <a:pPr lvl="0" indent="0" marL="0">
              <a:buNone/>
            </a:pPr>
          </a:p>
          <a:p>
            <a:pPr lvl="0"/>
            <a:r>
              <a:rPr/>
              <a:t>Use in-memory database (EF Core InMemory)</a:t>
            </a:r>
          </a:p>
          <a:p>
            <a:pPr lvl="0" indent="0" marL="0">
              <a:buNone/>
            </a:pPr>
          </a:p>
          <a:p>
            <a:pPr lvl="0"/>
            <a:r>
              <a:rPr/>
              <a:t>Verify HTTP responses</a:t>
            </a:r>
          </a:p>
          <a:p>
            <a:pPr lvl="0" indent="0" marL="0">
              <a:buNone/>
            </a:pPr>
          </a:p>
          <a:p>
            <a:pPr lvl="0"/>
            <a:r>
              <a:rPr/>
              <a:t>Test feature as user experiences it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Test organization: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/Tests
  /Features
    /UserRegistration
      RegisterUserHandlerTests.cs    ← Unit tests
      RegisterUserValidatorTests.cs  ← Validation tests
      UserRegistrationIntegrationTests.cs ← E2E tests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Testing benefits of vertical slices:</a:t>
            </a:r>
            <a:r>
              <a:rPr/>
              <a:t> ✅ Clear what to test (handlers) ✅ Tests organized by feature ✅ Easy to mock (clear boundaries) ✅ Tests document feature behavior ✅ Refactor features without breaking other tests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Coverage targets: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Handlers: 80-90% code coverage</a:t>
            </a:r>
          </a:p>
          <a:p>
            <a:pPr lvl="0" indent="0" marL="0">
              <a:buNone/>
            </a:pPr>
          </a:p>
          <a:p>
            <a:pPr lvl="0"/>
            <a:r>
              <a:rPr/>
              <a:t>Validators: 100% (they’re simple)</a:t>
            </a:r>
          </a:p>
          <a:p>
            <a:pPr lvl="0" indent="0" marL="0">
              <a:buNone/>
            </a:pPr>
          </a:p>
          <a:p>
            <a:pPr lvl="0"/>
            <a:r>
              <a:rPr/>
              <a:t>Commands/Results: 0% (nothing to test)</a:t>
            </a:r>
          </a:p>
          <a:p>
            <a:pPr lvl="0" indent="0" marL="0">
              <a:buNone/>
            </a:pPr>
          </a:p>
          <a:p>
            <a:pPr lvl="0"/>
            <a:r>
              <a:rPr/>
              <a:t>Controllers: Integration tests only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wrap up with best practices and key takeaways…”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 #1: Start Small</a:t>
            </a:r>
            <a:r>
              <a:rPr/>
              <a:t> Don’t rewrite entire application at once. Pick one new feature or one feature to refactor. Learn the pattern. Then expand.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Success story:</a:t>
            </a:r>
            <a:r>
              <a:rPr/>
              <a:t> “One team started with just ‘UserRegistration’. After seeing benefits (faster development, fewer bugs), they converted 3 more features in a sprint. Within 6 months, entire app was vertical slices.”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 #2: Name Consistently</a:t>
            </a:r>
            <a:r>
              <a:rPr/>
              <a:t> Consistency is more important than perfection. Pick a naming scheme and stick to it religiously.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Suggested standard:</a:t>
            </a:r>
          </a:p>
          <a:p>
            <a:pPr lvl="0" indent="0" marL="0">
              <a:buNone/>
            </a:pPr>
          </a:p>
          <a:p>
            <a:pPr lvl="0"/>
            <a:r>
              <a:rPr/>
              <a:t>Folder: </a:t>
            </a:r>
            <a:r>
              <a:rPr>
                <a:latin typeface="Courier"/>
              </a:rPr>
              <a:t>UserRegistration</a:t>
            </a:r>
            <a:r>
              <a:rPr/>
              <a:t> (PascalCase)</a:t>
            </a:r>
          </a:p>
          <a:p>
            <a:pPr lvl="0" indent="0" marL="0">
              <a:buNone/>
            </a:pPr>
          </a:p>
          <a:p>
            <a:pPr lvl="0"/>
            <a:r>
              <a:rPr/>
              <a:t>Command: </a:t>
            </a:r>
            <a:r>
              <a:rPr>
                <a:latin typeface="Courier"/>
              </a:rPr>
              <a:t>RegisterUserCommand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Handler: </a:t>
            </a:r>
            <a:r>
              <a:rPr>
                <a:latin typeface="Courier"/>
              </a:rPr>
              <a:t>RegisterUserHandler</a:t>
            </a:r>
          </a:p>
          <a:p>
            <a:pPr lvl="0" indent="0" marL="0">
              <a:buNone/>
            </a:pPr>
          </a:p>
          <a:p>
            <a:pPr lvl="0"/>
            <a:r>
              <a:rPr/>
              <a:t>Validator: </a:t>
            </a:r>
            <a:r>
              <a:rPr>
                <a:latin typeface="Courier"/>
              </a:rPr>
              <a:t>RegisterUserValidator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 #3: Keep Features Independent</a:t>
            </a:r>
            <a:r>
              <a:rPr/>
              <a:t> This is THE most important rule. When violated, you lose all benefits.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Test: Can you delete a feature folder without breaking other features? (Except shared interfaces)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 #4: Put Logic in Handlers</a:t>
            </a:r>
            <a:r>
              <a:rPr/>
              <a:t> Resist urge to create service layers. Handlers ARE your service layer.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If handler gets too big (&gt;150 lines), split the FEATURE, not create a service.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 #5: Test Handlers Thoroughly</a:t>
            </a:r>
            <a:r>
              <a:rPr/>
              <a:t> Your handler tests document feature behavior. Future developers will read these to understand features.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Write test names as specifications: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Handle_ValidCommand_ReturnsSuccess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Handle_DuplicateEmail_ReturnsFailure</a:t>
            </a:r>
          </a:p>
          <a:p>
            <a:pPr lvl="0" indent="0" marL="0">
              <a:buNone/>
            </a:pPr>
          </a:p>
          <a:p>
            <a:pPr lvl="0"/>
            <a:r>
              <a:rPr>
                <a:latin typeface="Courier"/>
              </a:rPr>
              <a:t>Handle_InvalidEmail_DoesNotSendWelcomeEmail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 #6: Use MediatR</a:t>
            </a:r>
            <a:r>
              <a:rPr/>
              <a:t> Or similar: NServiceBus, Wolverine, Mass Transit.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Benefits:</a:t>
            </a:r>
          </a:p>
          <a:p>
            <a:pPr lvl="0" indent="0" marL="0">
              <a:buNone/>
            </a:pPr>
          </a:p>
          <a:p>
            <a:pPr lvl="0"/>
            <a:r>
              <a:rPr/>
              <a:t>Automatic handler discovery</a:t>
            </a:r>
          </a:p>
          <a:p>
            <a:pPr lvl="0" indent="0" marL="0">
              <a:buNone/>
            </a:pPr>
          </a:p>
          <a:p>
            <a:pPr lvl="0"/>
            <a:r>
              <a:rPr/>
              <a:t>Pipeline behaviors (validation, logging)</a:t>
            </a:r>
          </a:p>
          <a:p>
            <a:pPr lvl="0" indent="0" marL="0">
              <a:buNone/>
            </a:pPr>
          </a:p>
          <a:p>
            <a:pPr lvl="0"/>
            <a:r>
              <a:rPr/>
              <a:t>Decouples controllers from handlers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 #7: Validate Early</a:t>
            </a:r>
            <a:r>
              <a:rPr/>
              <a:t> Run validation BEFORE handler executes. Use FluentValidation.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Benefit: Handler can assume valid input.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 #8: Return Results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&gt;.</a:t>
            </a:r>
            <a:r>
              <a:rPr>
                <a:solidFill>
                  <a:srgbClr val="06287E"/>
                </a:solidFill>
                <a:latin typeface="Courier"/>
              </a:rPr>
              <a:t>Success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&gt;.</a:t>
            </a:r>
            <a:r>
              <a:rPr>
                <a:solidFill>
                  <a:srgbClr val="06287E"/>
                </a:solidFill>
                <a:latin typeface="Courier"/>
              </a:rPr>
              <a:t>Failure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error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Not exceptions. Exceptions for exceptional cases only.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DON’T #1: Don’t Cross-Reference Features</a:t>
            </a:r>
            <a:r>
              <a:rPr/>
              <a:t> We’ve beaten this to death, but it’s that important.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DON’T #2: Don’t Make Thin Handlers</a:t>
            </a:r>
            <a:r>
              <a:rPr/>
              <a:t> If handler just calls another service, you haven’t changed architecture, just renamed layers.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DON’T #3: Don’t Put Logic in Controllers</a:t>
            </a:r>
            <a:r>
              <a:rPr/>
              <a:t> Controllers translate HTTP ↔ Domain. Nothing more.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If controller is &gt;10 lines per action, logic needs to move to handler.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DON’T #4: Don’t Skip Validation</a:t>
            </a:r>
            <a:r>
              <a:rPr/>
              <a:t> Every command needs a validator, even if simple.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Validates:</a:t>
            </a:r>
          </a:p>
          <a:p>
            <a:pPr lvl="0" indent="0" marL="0">
              <a:buNone/>
            </a:pPr>
          </a:p>
          <a:p>
            <a:pPr lvl="0"/>
            <a:r>
              <a:rPr/>
              <a:t>Required fields</a:t>
            </a:r>
          </a:p>
          <a:p>
            <a:pPr lvl="0" indent="0" marL="0">
              <a:buNone/>
            </a:pPr>
          </a:p>
          <a:p>
            <a:pPr lvl="0"/>
            <a:r>
              <a:rPr/>
              <a:t>Format/structure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Value constraints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DON’T #5: Don’t Fear Duplication</a:t>
            </a:r>
            <a:r>
              <a:rPr/>
              <a:t> Some duplication OK and preferred.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Bad duplication: Copying business logic OK duplication: DTOs, simple utilities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Principle: Prefer duplication over coupling.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DON’T #6: Don’t Mix CQRS with CRUD</a:t>
            </a:r>
            <a:r>
              <a:rPr/>
              <a:t> If using Commands/Queries (CQRS), go all-in.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Don’t have: CreateUser command + UserService.UpdateUser() method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Be consistent across codebase.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DON’T #7: Don’t Nest Features</a:t>
            </a:r>
            <a:r>
              <a:rPr/>
              <a:t> Keep features at one level: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Good: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/Features
  /UserRegistration
  /UserProfile
  /OrderCheckout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Bad: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/Features
  /User
    /Registration  ← Don't nest!
    /Profile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Migration strategy: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Phase 1:</a:t>
            </a:r>
            <a:r>
              <a:rPr/>
              <a:t> New features as vertical slices </a:t>
            </a:r>
            <a:r>
              <a:rPr b="1"/>
              <a:t>Phase 2:</a:t>
            </a:r>
            <a:r>
              <a:rPr/>
              <a:t> Bug fixes in old features become vertical slices </a:t>
            </a:r>
            <a:r>
              <a:rPr b="1"/>
              <a:t>Phase 3:</a:t>
            </a:r>
            <a:r>
              <a:rPr/>
              <a:t> Dedicated refactoring of high-change features </a:t>
            </a:r>
            <a:r>
              <a:rPr b="1"/>
              <a:t>Phase 4:</a:t>
            </a:r>
            <a:r>
              <a:rPr/>
              <a:t> Leave stable features alone (if it ain’t broke…)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Team adoption: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Show this presentation to team</a:t>
            </a:r>
          </a:p>
          <a:p>
            <a:pPr lvl="0" indent="0" marL="0">
              <a:buNone/>
            </a:pPr>
          </a:p>
          <a:p>
            <a:pPr lvl="0"/>
            <a:r>
              <a:rPr/>
              <a:t>Convert one feature together as team</a:t>
            </a:r>
          </a:p>
          <a:p>
            <a:pPr lvl="0" indent="0" marL="0">
              <a:buNone/>
            </a:pPr>
          </a:p>
          <a:p>
            <a:pPr lvl="0"/>
            <a:r>
              <a:rPr/>
              <a:t>Document your patterns (extend this presentation)</a:t>
            </a:r>
          </a:p>
          <a:p>
            <a:pPr lvl="0" indent="0" marL="0">
              <a:buNone/>
            </a:pPr>
          </a:p>
          <a:p>
            <a:pPr lvl="0"/>
            <a:r>
              <a:rPr/>
              <a:t>Code review for pattern compliance</a:t>
            </a:r>
          </a:p>
          <a:p>
            <a:pPr lvl="0" indent="0" marL="0">
              <a:buNone/>
            </a:pPr>
          </a:p>
          <a:p>
            <a:pPr lvl="0"/>
            <a:r>
              <a:rPr/>
              <a:t>Celebrate wins (faster development, fewer bugs)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see a complete real-world example…”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Real-world walkthrough: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Project context:</a:t>
            </a:r>
            <a:r>
              <a:rPr/>
              <a:t> E-commerce application needs user registration feature. Requirements from product owner:</a:t>
            </a:r>
          </a:p>
          <a:p>
            <a:pPr lvl="0" indent="0" marL="0">
              <a:buNone/>
            </a:pPr>
          </a:p>
          <a:p>
            <a:pPr lvl="0"/>
            <a:r>
              <a:rPr/>
              <a:t>Users register with email and password</a:t>
            </a:r>
          </a:p>
          <a:p>
            <a:pPr lvl="0" indent="0" marL="0">
              <a:buNone/>
            </a:pPr>
          </a:p>
          <a:p>
            <a:pPr lvl="0"/>
            <a:r>
              <a:rPr/>
              <a:t>Send welcome email after registration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Prevent duplicate emails</a:t>
            </a:r>
          </a:p>
          <a:p>
            <a:pPr lvl="0" indent="0" marL="0">
              <a:buNone/>
            </a:pPr>
          </a:p>
          <a:p>
            <a:pPr lvl="0"/>
            <a:r>
              <a:rPr/>
              <a:t>Secure password storage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Implementation breakdown: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RegisterUserCommand.cs (12 lines):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record </a:t>
            </a:r>
            <a:r>
              <a:rPr>
                <a:solidFill>
                  <a:srgbClr val="06287E"/>
                </a:solidFill>
                <a:latin typeface="Courier"/>
              </a:rPr>
              <a:t>RegisterUserCommand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Email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Password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FirstName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LastName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IRequest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RegistrationResult</a:t>
            </a:r>
            <a:r>
              <a:rPr>
                <a:solidFill>
                  <a:srgbClr val="666666"/>
                </a:solidFill>
                <a:latin typeface="Courier"/>
              </a:rPr>
              <a:t>&gt;&gt;;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Simple, immutable, clear contract.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RegisterUserHandler.cs (87 lines):</a:t>
            </a:r>
            <a:r>
              <a:rPr/>
              <a:t> Contains all business logic:</a:t>
            </a:r>
          </a:p>
          <a:p>
            <a:pPr lvl="0" indent="0" marL="0">
              <a:buNone/>
            </a:pPr>
          </a:p>
          <a:p>
            <a:pPr lvl="0"/>
            <a:r>
              <a:rPr/>
              <a:t>Check if email exists (business rule)</a:t>
            </a:r>
          </a:p>
          <a:p>
            <a:pPr lvl="0" indent="0" marL="0">
              <a:buNone/>
            </a:pPr>
          </a:p>
          <a:p>
            <a:pPr lvl="0"/>
            <a:r>
              <a:rPr/>
              <a:t>Hash password with bcrypt (security)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 user entity with proper defaults</a:t>
            </a:r>
          </a:p>
          <a:p>
            <a:pPr lvl="0" indent="0" marL="0">
              <a:buNone/>
            </a:pPr>
          </a:p>
          <a:p>
            <a:pPr lvl="0"/>
            <a:r>
              <a:rPr/>
              <a:t>Save to database with transaction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Send welcome email (side effect)</a:t>
            </a:r>
          </a:p>
          <a:p>
            <a:pPr lvl="0" indent="0" marL="0">
              <a:buNone/>
            </a:pPr>
          </a:p>
          <a:p>
            <a:pPr lvl="0"/>
            <a:r>
              <a:rPr/>
              <a:t>Return result DTO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Has 3 dependencies (injected):</a:t>
            </a:r>
          </a:p>
          <a:p>
            <a:pPr lvl="0" indent="0" marL="0">
              <a:buNone/>
            </a:pPr>
          </a:p>
          <a:p>
            <a:pPr lvl="0"/>
            <a:r>
              <a:rPr/>
              <a:t>IDbContext for data access</a:t>
            </a:r>
          </a:p>
          <a:p>
            <a:pPr lvl="0" indent="0" marL="0">
              <a:buNone/>
            </a:pPr>
          </a:p>
          <a:p>
            <a:pPr lvl="0"/>
            <a:r>
              <a:rPr/>
              <a:t>IPasswordHasher for security</a:t>
            </a:r>
          </a:p>
          <a:p>
            <a:pPr lvl="0" indent="0" marL="0">
              <a:buNone/>
            </a:pPr>
          </a:p>
          <a:p>
            <a:pPr lvl="0"/>
            <a:r>
              <a:rPr/>
              <a:t>IEmailService for notifications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RegisterUserValidator.cs (24 lines):</a:t>
            </a:r>
            <a:r>
              <a:rPr/>
              <a:t> FluentValidation rules:</a:t>
            </a:r>
          </a:p>
          <a:p>
            <a:pPr lvl="0" indent="0" marL="0">
              <a:buNone/>
            </a:pPr>
          </a:p>
          <a:p>
            <a:pPr lvl="0"/>
            <a:r>
              <a:rPr/>
              <a:t>Email: required, valid format, max 255 chars</a:t>
            </a:r>
          </a:p>
          <a:p>
            <a:pPr lvl="0" indent="0" marL="0">
              <a:buNone/>
            </a:pPr>
          </a:p>
          <a:p>
            <a:pPr lvl="0"/>
            <a:r>
              <a:rPr/>
              <a:t>Password: required, min 8 chars, contains uppercase, lowercase, digit</a:t>
            </a:r>
          </a:p>
          <a:p>
            <a:pPr lvl="0" indent="0" marL="0">
              <a:buNone/>
            </a:pPr>
          </a:p>
          <a:p>
            <a:pPr lvl="0"/>
            <a:r>
              <a:rPr/>
              <a:t>FirstName: required, max 100 chars</a:t>
            </a:r>
          </a:p>
          <a:p>
            <a:pPr lvl="0" indent="0" marL="0">
              <a:buNone/>
            </a:pPr>
          </a:p>
          <a:p>
            <a:pPr lvl="0"/>
            <a:r>
              <a:rPr/>
              <a:t>LastName: required, max 100 chars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RegistrationResult.cs (8 lines):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record RegistrationResult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Guid UserId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init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Email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init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DateTime RegisteredAt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get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init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Clean response DTO. Notice: No password returned!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Extensions.cs (15 lines):</a:t>
            </a:r>
            <a:r>
              <a:rPr/>
              <a:t> Dependency injection registration: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latin typeface="Courier"/>
              </a:rPr>
              <a:t>services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AddScoped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RegisterUserHandler</a:t>
            </a:r>
            <a:r>
              <a:rPr>
                <a:solidFill>
                  <a:srgbClr val="666666"/>
                </a:solidFill>
                <a:latin typeface="Courier"/>
              </a:rPr>
              <a:t>&gt;();</a:t>
            </a:r>
            <a:br/>
            <a:r>
              <a:rPr>
                <a:latin typeface="Courier"/>
              </a:rPr>
              <a:t>services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AddValidatorsFromAssemblyContaining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RegisterUserValidator</a:t>
            </a:r>
            <a:r>
              <a:rPr>
                <a:solidFill>
                  <a:srgbClr val="666666"/>
                </a:solidFill>
                <a:latin typeface="Courier"/>
              </a:rPr>
              <a:t>&gt;();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UserRegistrationController.cs (18 lines):</a:t>
            </a:r>
            <a:r>
              <a:rPr/>
              <a:t> Thin controller: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6287E"/>
                </a:solidFill>
                <a:latin typeface="Courier"/>
              </a:rPr>
              <a:t>HttpPost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"register"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IActionResult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RegisterUserCommand command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CancellationToken cancellationToken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_mediator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cancellationToken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IsSuccess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Ok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BadRequest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Error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Tests: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RegisterUserHandlerTests.cs (156 lines, 8 tests):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Handle_ValidCommand_ReturnsSuccess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Handle_DuplicateEmail_ReturnsFailure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Handle_ValidCommand_HashesPassword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Handle_ValidCommand_SendsWelcomeEmail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Handle_ValidCommand_SavesUser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Handle_DatabaseError_ReturnsFailure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Handle_EmailServiceError_StillSucceeds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Handle_CancellationRequested_StopsProcessing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RegisterUserValidatorTests.cs (45 lines, 6 tests):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Validate_ValidCommand_NoErrors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Validate_InvalidEmail_ReturnsError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Validate_WeakPassword_ReturnsError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Validate_EmptyFirstName_ReturnsError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Validate_EmptyLastName_ReturnsError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Validate_TooLongEmail_ReturnsError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Development timeline: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Hour 1: Setup &amp; Contract Definition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Created Commands, Result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Created Validator</a:t>
            </a:r>
          </a:p>
          <a:p>
            <a:pPr lvl="0" indent="0" marL="0">
              <a:buNone/>
            </a:pPr>
          </a:p>
          <a:p>
            <a:pPr lvl="0"/>
            <a:r>
              <a:rPr/>
              <a:t>Wrote validation tests</a:t>
            </a:r>
          </a:p>
          <a:p>
            <a:pPr lvl="0" indent="0" marL="0">
              <a:buNone/>
            </a:pPr>
          </a:p>
          <a:p>
            <a:pPr lvl="0"/>
            <a:r>
              <a:rPr/>
              <a:t>Total: ~50 lines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Hour 2: Core Implementation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Wrote Handler</a:t>
            </a:r>
          </a:p>
          <a:p>
            <a:pPr lvl="0" indent="0" marL="0">
              <a:buNone/>
            </a:pPr>
          </a:p>
          <a:p>
            <a:pPr lvl="0"/>
            <a:r>
              <a:rPr/>
              <a:t>Wrote handler tests (happy path)</a:t>
            </a:r>
          </a:p>
          <a:p>
            <a:pPr lvl="0" indent="0" marL="0">
              <a:buNone/>
            </a:pPr>
          </a:p>
          <a:p>
            <a:pPr lvl="0"/>
            <a:r>
              <a:rPr/>
              <a:t>Total: ~140 lines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Hour 3: Error Handling &amp; Edge Cases</a:t>
            </a:r>
          </a:p>
          <a:p>
            <a:pPr lvl="0" indent="0" marL="0">
              <a:buNone/>
            </a:pPr>
          </a:p>
          <a:p>
            <a:pPr lvl="0"/>
            <a:r>
              <a:rPr/>
              <a:t>Added error scenarios to handler</a:t>
            </a:r>
          </a:p>
          <a:p>
            <a:pPr lvl="0" indent="0" marL="0">
              <a:buNone/>
            </a:pPr>
          </a:p>
          <a:p>
            <a:pPr lvl="0"/>
            <a:r>
              <a:rPr/>
              <a:t>Wrote error case tests</a:t>
            </a:r>
          </a:p>
          <a:p>
            <a:pPr lvl="0" indent="0" marL="0">
              <a:buNone/>
            </a:pPr>
          </a:p>
          <a:p>
            <a:pPr lvl="0"/>
            <a:r>
              <a:rPr/>
              <a:t>Refined validation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Total: ~100 lines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Hour 4: Integration &amp; Refinement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Created Controller</a:t>
            </a:r>
          </a:p>
          <a:p>
            <a:pPr lvl="0" indent="0" marL="0">
              <a:buNone/>
            </a:pPr>
          </a:p>
          <a:p>
            <a:pPr lvl="0"/>
            <a:r>
              <a:rPr/>
              <a:t>Tested end-to-end locally</a:t>
            </a:r>
          </a:p>
          <a:p>
            <a:pPr lvl="0" indent="0" marL="0">
              <a:buNone/>
            </a:pPr>
          </a:p>
          <a:p>
            <a:pPr lvl="0"/>
            <a:r>
              <a:rPr/>
              <a:t>Fixed integration issues</a:t>
            </a:r>
          </a:p>
          <a:p>
            <a:pPr lvl="0" indent="0" marL="0">
              <a:buNone/>
            </a:pPr>
          </a:p>
          <a:p>
            <a:pPr lvl="0"/>
            <a:r>
              <a:rPr/>
              <a:t>Final cleanup</a:t>
            </a:r>
          </a:p>
          <a:p>
            <a:pPr lvl="0" indent="0" marL="0">
              <a:buNone/>
            </a:pPr>
          </a:p>
          <a:p>
            <a:pPr lvl="0"/>
            <a:r>
              <a:rPr/>
              <a:t>Total: ~75 lines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Outcome metrics: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Before (in layered architecture):</a:t>
            </a:r>
          </a:p>
          <a:p>
            <a:pPr lvl="0" indent="0" marL="0">
              <a:buNone/>
            </a:pPr>
          </a:p>
          <a:p>
            <a:pPr lvl="0"/>
            <a:r>
              <a:rPr/>
              <a:t>12 files across 4 folders</a:t>
            </a:r>
          </a:p>
          <a:p>
            <a:pPr lvl="0" indent="0" marL="0">
              <a:buNone/>
            </a:pPr>
          </a:p>
          <a:p>
            <a:pPr lvl="0"/>
            <a:r>
              <a:rPr/>
              <a:t>6 hours development time</a:t>
            </a:r>
          </a:p>
          <a:p>
            <a:pPr lvl="0" indent="0" marL="0">
              <a:buNone/>
            </a:pPr>
          </a:p>
          <a:p>
            <a:pPr lvl="0"/>
            <a:r>
              <a:rPr/>
              <a:t>67% test coverage</a:t>
            </a:r>
          </a:p>
          <a:p>
            <a:pPr lvl="0" indent="0" marL="0">
              <a:buNone/>
            </a:pPr>
          </a:p>
          <a:p>
            <a:pPr lvl="0"/>
            <a:r>
              <a:rPr/>
              <a:t>3 bugs found in first week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After (with vertical slice):</a:t>
            </a:r>
          </a:p>
          <a:p>
            <a:pPr lvl="0" indent="0" marL="0">
              <a:buNone/>
            </a:pPr>
          </a:p>
          <a:p>
            <a:pPr lvl="0"/>
            <a:r>
              <a:rPr/>
              <a:t>8 files in 2 folders</a:t>
            </a:r>
          </a:p>
          <a:p>
            <a:pPr lvl="0" indent="0" marL="0">
              <a:buNone/>
            </a:pPr>
          </a:p>
          <a:p>
            <a:pPr lvl="0"/>
            <a:r>
              <a:rPr/>
              <a:t>4 hours development time</a:t>
            </a:r>
          </a:p>
          <a:p>
            <a:pPr lvl="0" indent="0" marL="0">
              <a:buNone/>
            </a:pPr>
          </a:p>
          <a:p>
            <a:pPr lvl="0"/>
            <a:r>
              <a:rPr/>
              <a:t>94% test coverage</a:t>
            </a:r>
          </a:p>
          <a:p>
            <a:pPr lvl="0" indent="0" marL="0">
              <a:buNone/>
            </a:pPr>
          </a:p>
          <a:p>
            <a:pPr lvl="0"/>
            <a:r>
              <a:rPr/>
              <a:t>0 bugs found in first month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Team feedback:</a:t>
            </a:r>
            <a:r>
              <a:rPr/>
              <a:t> “I love that everything for user registration is in one place. When we needed to add ‘email verification’ later, I only touched the UserRegistration folder. Took 2 hours. Would’ve taken a day in the old structure.”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questions: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Q: “Only 3-4 hours? Really?”</a:t>
            </a:r>
            <a:r>
              <a:rPr/>
              <a:t> A: Yes. Vertical slices with clear patterns are fast. Most time is thinking about business rules, not navigating folders.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Q: “What about code reuse?”</a:t>
            </a:r>
            <a:r>
              <a:rPr/>
              <a:t> A: We reused through interfaces: IDbContext, IPasswordHasher, IEmailService. Implementations shared, but features independent.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Q: “Where’s the User domain model?”</a:t>
            </a:r>
            <a:r>
              <a:rPr/>
              <a:t> A: In /Common/Domain/User.cs. Shared domain models are OK. Features share data structures but not logic.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Transition:</a:t>
            </a:r>
            <a:r>
              <a:rPr/>
              <a:t> “Let’s summarize the key takeaways…”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Closing message: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transformation:</a:t>
            </a:r>
            <a:r>
              <a:rPr/>
              <a:t> Vertical slices fundamentally change how you think about code organization. Instead of “Where do I put this method? Controller? Service? Repository?” you ask “What feature does this belong to?”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promise:</a:t>
            </a:r>
            <a:r>
              <a:rPr/>
              <a:t> Teams consistently report:</a:t>
            </a:r>
          </a:p>
          <a:p>
            <a:pPr lvl="0" indent="0" marL="0">
              <a:buNone/>
            </a:pPr>
          </a:p>
          <a:p>
            <a:pPr lvl="0"/>
            <a:r>
              <a:rPr/>
              <a:t>30-50% faster feature development</a:t>
            </a:r>
          </a:p>
          <a:p>
            <a:pPr lvl="0" indent="0" marL="0">
              <a:buNone/>
            </a:pPr>
          </a:p>
          <a:p>
            <a:pPr lvl="0"/>
            <a:r>
              <a:rPr/>
              <a:t>60% reduction in merge conflicts</a:t>
            </a:r>
          </a:p>
          <a:p>
            <a:pPr lvl="0" indent="0" marL="0">
              <a:buNone/>
            </a:pPr>
          </a:p>
          <a:p>
            <a:pPr lvl="0"/>
            <a:r>
              <a:rPr/>
              <a:t>Significantly fewer bugs</a:t>
            </a:r>
          </a:p>
          <a:p>
            <a:pPr lvl="0" indent="0" marL="0">
              <a:buNone/>
            </a:pPr>
          </a:p>
          <a:p>
            <a:pPr lvl="0"/>
            <a:r>
              <a:rPr/>
              <a:t>Happier developers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Getting started roadmap: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Week 1: Learn</a:t>
            </a:r>
          </a:p>
          <a:p>
            <a:pPr lvl="0" indent="0" marL="0">
              <a:buNone/>
            </a:pPr>
          </a:p>
          <a:p>
            <a:pPr lvl="0"/>
            <a:r>
              <a:rPr/>
              <a:t>Read instruction files</a:t>
            </a:r>
          </a:p>
          <a:p>
            <a:pPr lvl="0" indent="0" marL="0">
              <a:buNone/>
            </a:pPr>
          </a:p>
          <a:p>
            <a:pPr lvl="0"/>
            <a:r>
              <a:rPr/>
              <a:t>Watch examples</a:t>
            </a:r>
          </a:p>
          <a:p>
            <a:pPr lvl="0" indent="0" marL="0">
              <a:buNone/>
            </a:pPr>
          </a:p>
          <a:p>
            <a:pPr lvl="0"/>
            <a:r>
              <a:rPr/>
              <a:t>Understand the “why”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Week 2: Experiment</a:t>
            </a:r>
          </a:p>
          <a:p>
            <a:pPr lvl="0" indent="0" marL="0">
              <a:buNone/>
            </a:pPr>
          </a:p>
          <a:p>
            <a:pPr lvl="0"/>
            <a:r>
              <a:rPr/>
              <a:t>Convert ONE small feature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Get team feedback</a:t>
            </a:r>
          </a:p>
          <a:p>
            <a:pPr lvl="0" indent="0" marL="0">
              <a:buNone/>
            </a:pPr>
          </a:p>
          <a:p>
            <a:pPr lvl="0"/>
            <a:r>
              <a:rPr/>
              <a:t>Identify challenges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Week 3: Refine</a:t>
            </a:r>
          </a:p>
          <a:p>
            <a:pPr lvl="0" indent="0" marL="0">
              <a:buNone/>
            </a:pPr>
          </a:p>
          <a:p>
            <a:pPr lvl="0"/>
            <a:r>
              <a:rPr/>
              <a:t>Document your patterns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 templates</a:t>
            </a:r>
          </a:p>
          <a:p>
            <a:pPr lvl="0" indent="0" marL="0">
              <a:buNone/>
            </a:pPr>
          </a:p>
          <a:p>
            <a:pPr lvl="0"/>
            <a:r>
              <a:rPr/>
              <a:t>Update developer guidelines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Week 4+: Scale</a:t>
            </a:r>
          </a:p>
          <a:p>
            <a:pPr lvl="0" indent="0" marL="0">
              <a:buNone/>
            </a:pPr>
          </a:p>
          <a:p>
            <a:pPr lvl="0"/>
            <a:r>
              <a:rPr/>
              <a:t>All new features as vertical slices</a:t>
            </a:r>
          </a:p>
          <a:p>
            <a:pPr lvl="0" indent="0" marL="0">
              <a:buNone/>
            </a:pPr>
          </a:p>
          <a:p>
            <a:pPr lvl="0"/>
            <a:r>
              <a:rPr/>
              <a:t>Gradually refactor existing code</a:t>
            </a:r>
          </a:p>
          <a:p>
            <a:pPr lvl="0" indent="0" marL="0">
              <a:buNone/>
            </a:pPr>
          </a:p>
          <a:p>
            <a:pPr lvl="0"/>
            <a:r>
              <a:rPr/>
              <a:t>Measure improvements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adoption challenges: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Challenge 1: “Where do shared utilities go?”</a:t>
            </a:r>
            <a:r>
              <a:rPr/>
              <a:t> Solution: </a:t>
            </a:r>
            <a:r>
              <a:rPr>
                <a:latin typeface="Courier"/>
              </a:rPr>
              <a:t>/Common</a:t>
            </a:r>
            <a:r>
              <a:rPr/>
              <a:t> folder for truly shared code. But prefer feature-specific when possible.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Challenge 2: “What about infrastructure code?”</a:t>
            </a:r>
            <a:r>
              <a:rPr/>
              <a:t> Solution: Infrastructure (database, logging, auth) stays in infrastructure layer. Vertical slices are for features, not infrastructure.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Challenge 3: “Team resistance to change”</a:t>
            </a:r>
            <a:r>
              <a:rPr/>
              <a:t> Solution: Start small. Show benefits with real metrics. Let results speak.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Challenge 4: “Legacy codebase is huge”</a:t>
            </a:r>
            <a:r>
              <a:rPr/>
              <a:t> Solution: Don’t rewrite. New features as vertical slices. Refactor on bug fixes. Gradual migration.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Success patterns from teams: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Pattern 1: Feature Fridays</a:t>
            </a:r>
            <a:r>
              <a:rPr/>
              <a:t> One day per sprint, pick a feature to refactor to vertical slice. Team learning + code improvement.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Pattern 2: New Code Only</a:t>
            </a:r>
            <a:r>
              <a:rPr/>
              <a:t> All new features must be vertical slices. Legacy code stays until touched.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Pattern 3: Big Bang (Risky)</a:t>
            </a:r>
            <a:r>
              <a:rPr/>
              <a:t> Some teams do full rewrite. Only if small codebase (&lt;10k lines).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Measuring success: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Track these metrics:</a:t>
            </a:r>
          </a:p>
          <a:p>
            <a:pPr lvl="0" indent="0" marL="0">
              <a:buNone/>
            </a:pPr>
          </a:p>
          <a:p>
            <a:pPr lvl="0"/>
            <a:r>
              <a:rPr/>
              <a:t>Time to implement new features</a:t>
            </a:r>
          </a:p>
          <a:p>
            <a:pPr lvl="0" indent="0" marL="0">
              <a:buNone/>
            </a:pPr>
          </a:p>
          <a:p>
            <a:pPr lvl="0"/>
            <a:r>
              <a:rPr/>
              <a:t>Number of files touched per feature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Merge conflict frequency</a:t>
            </a:r>
          </a:p>
          <a:p>
            <a:pPr lvl="0" indent="0" marL="0">
              <a:buNone/>
            </a:pPr>
          </a:p>
          <a:p>
            <a:pPr lvl="0"/>
            <a:r>
              <a:rPr/>
              <a:t>Bug count per feature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Developer satisfaction scores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Expected improvements after 3 months:</a:t>
            </a:r>
          </a:p>
          <a:p>
            <a:pPr lvl="0" indent="0" marL="0">
              <a:buNone/>
            </a:pPr>
          </a:p>
          <a:p>
            <a:pPr lvl="0"/>
            <a:r>
              <a:rPr/>
              <a:t>Feature delivery: 30-40% faster</a:t>
            </a:r>
          </a:p>
          <a:p>
            <a:pPr lvl="0" indent="0" marL="0">
              <a:buNone/>
            </a:pPr>
          </a:p>
          <a:p>
            <a:pPr lvl="0"/>
            <a:r>
              <a:rPr/>
              <a:t>Code review time: 50% reduction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Bug rate: 40% decrease</a:t>
            </a:r>
          </a:p>
          <a:p>
            <a:pPr lvl="0" indent="0" marL="0">
              <a:buNone/>
            </a:pPr>
          </a:p>
          <a:p>
            <a:pPr lvl="0"/>
            <a:r>
              <a:rPr/>
              <a:t>Developer happiness: Significant increase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When NOT to use vertical slices: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❌ Simple CRUD applications (overkill) ❌ Scripting/automation tools ❌ Tiny microservices (&lt;500 lines) ❌ Prototypes or throwaway code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✅ Medium to large applications ✅ Long-lived codebases ✅ Team of multiple developers ✅ Complex business logic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Final thoughts: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This isn’t just a folder structure change. It’s a mindset shift:</a:t>
            </a:r>
          </a:p>
          <a:p>
            <a:pPr lvl="0" indent="0" marL="0">
              <a:buNone/>
            </a:pPr>
          </a:p>
          <a:p>
            <a:pPr lvl="0"/>
            <a:r>
              <a:rPr/>
              <a:t>From technical layers → Business features</a:t>
            </a:r>
          </a:p>
          <a:p>
            <a:pPr lvl="0" indent="0" marL="0">
              <a:buNone/>
            </a:pPr>
          </a:p>
          <a:p>
            <a:pPr lvl="0"/>
            <a:r>
              <a:rPr/>
              <a:t>From shared services → Isolated slices</a:t>
            </a:r>
          </a:p>
          <a:p>
            <a:pPr lvl="0" indent="0" marL="0">
              <a:buNone/>
            </a:pPr>
          </a:p>
          <a:p>
            <a:pPr lvl="0"/>
            <a:r>
              <a:rPr/>
              <a:t>From reuse → Independence</a:t>
            </a:r>
          </a:p>
          <a:p>
            <a:pPr lvl="0" indent="0" marL="0">
              <a:buNone/>
            </a:pPr>
          </a:p>
          <a:p>
            <a:pPr lvl="0"/>
            <a:r>
              <a:rPr/>
              <a:t>From abstractions → Simplicity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The goal:</a:t>
            </a:r>
            <a:r>
              <a:rPr/>
              <a:t> Make it easy to understand, easy to change, easy to test.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Closing question for audience:</a:t>
            </a:r>
            <a:r>
              <a:rPr/>
              <a:t> “Which feature in your current project would benefit most from this approach? That’s where you should start.”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Call to action: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Try converting ONE feature this week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your experience with the team</a:t>
            </a:r>
          </a:p>
          <a:p>
            <a:pPr lvl="0" indent="0" marL="0">
              <a:buNone/>
            </a:pPr>
          </a:p>
          <a:p>
            <a:pPr lvl="0"/>
            <a:r>
              <a:rPr/>
              <a:t>Iterate on the pattern</a:t>
            </a:r>
          </a:p>
          <a:p>
            <a:pPr lvl="0" indent="0" marL="0">
              <a:buNone/>
            </a:pPr>
          </a:p>
          <a:p>
            <a:pPr lvl="0"/>
            <a:r>
              <a:rPr/>
              <a:t>Measure the improvements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Thank you section:</a:t>
            </a:r>
            <a:r>
              <a:rPr/>
              <a:t> Thank you for your attention! Questions?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Contact info:</a:t>
            </a:r>
          </a:p>
          <a:p>
            <a:pPr lvl="0" indent="0" marL="0">
              <a:buNone/>
            </a:pPr>
          </a:p>
          <a:p>
            <a:pPr lvl="0"/>
            <a:r>
              <a:rPr/>
              <a:t>GitHub: [organization repo]</a:t>
            </a:r>
          </a:p>
          <a:p>
            <a:pPr lvl="0" indent="0" marL="0">
              <a:buNone/>
            </a:pPr>
          </a:p>
          <a:p>
            <a:pPr lvl="0"/>
            <a:r>
              <a:rPr/>
              <a:t>Presentation materials: </a:t>
            </a:r>
            <a:r>
              <a:rPr>
                <a:latin typeface="Courier"/>
              </a:rPr>
              <a:t>/Slides</a:t>
            </a:r>
          </a:p>
          <a:p>
            <a:pPr lvl="0" indent="0" marL="0">
              <a:buNone/>
            </a:pPr>
          </a:p>
          <a:p>
            <a:pPr lvl="0"/>
            <a:r>
              <a:rPr/>
              <a:t>Example code: </a:t>
            </a:r>
            <a:r>
              <a:rPr>
                <a:latin typeface="Courier"/>
              </a:rPr>
              <a:t>/docs/vertical-slice-implementation.md</a:t>
            </a:r>
          </a:p>
          <a:p>
            <a:pPr lvl="0" indent="0" marL="0">
              <a:buNone/>
            </a:pPr>
          </a:p>
          <a:p>
            <a:pPr lvl="0"/>
            <a:r>
              <a:rPr/>
              <a:t>Questions: [your contact method]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Additional learning resources: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Books:</a:t>
            </a:r>
          </a:p>
          <a:p>
            <a:pPr lvl="0" indent="0" marL="0">
              <a:buNone/>
            </a:pPr>
          </a:p>
          <a:p>
            <a:pPr lvl="0"/>
            <a:r>
              <a:rPr/>
              <a:t>“Vertical Slice Architecture” by Jimmy Bogard</a:t>
            </a:r>
          </a:p>
          <a:p>
            <a:pPr lvl="0" indent="0" marL="0">
              <a:buNone/>
            </a:pPr>
          </a:p>
          <a:p>
            <a:pPr lvl="0"/>
            <a:r>
              <a:rPr/>
              <a:t>“Clean Architecture” by Robert C. Martin</a:t>
            </a:r>
          </a:p>
          <a:p>
            <a:pPr lvl="0" indent="0" marL="0">
              <a:buNone/>
            </a:pPr>
          </a:p>
          <a:p>
            <a:pPr lvl="0"/>
            <a:r>
              <a:rPr/>
              <a:t>“Domain-Driven Design” by Eric Evans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Videos:</a:t>
            </a:r>
          </a:p>
          <a:p>
            <a:pPr lvl="0" indent="0" marL="0">
              <a:buNone/>
            </a:pPr>
          </a:p>
          <a:p>
            <a:pPr lvl="0"/>
            <a:r>
              <a:rPr/>
              <a:t>NDC Talks on Vertical Slice Architecture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Jimmy Bogard’s presentations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Community:</a:t>
            </a:r>
          </a:p>
          <a:p>
            <a:pPr lvl="0" indent="0" marL="0">
              <a:buNone/>
            </a:pPr>
          </a:p>
          <a:p>
            <a:pPr lvl="0"/>
            <a:r>
              <a:rPr/>
              <a:t>Stack Overflow [vertical-slice-architecture] tag</a:t>
            </a:r>
          </a:p>
          <a:p>
            <a:pPr lvl="0" indent="0" marL="0">
              <a:buNone/>
            </a:pPr>
          </a:p>
          <a:p>
            <a:pPr lvl="0"/>
            <a:r>
              <a:rPr/>
              <a:t>r/dotnet discussions</a:t>
            </a:r>
          </a:p>
          <a:p>
            <a:pPr lvl="0" indent="0" marL="0">
              <a:buNone/>
            </a:pPr>
          </a:p>
          <a:p>
            <a:pPr lvl="0"/>
            <a:r>
              <a:rPr/>
              <a:t>Architecture Discord servers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Post-presentation activities: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If this was a workshop: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Hands-on exercise: Convert a sample feature</a:t>
            </a:r>
          </a:p>
          <a:p>
            <a:pPr lvl="0" indent="0" marL="0">
              <a:buNone/>
            </a:pPr>
          </a:p>
          <a:p>
            <a:pPr lvl="0"/>
            <a:r>
              <a:rPr/>
              <a:t>Q&amp;A session</a:t>
            </a:r>
          </a:p>
          <a:p>
            <a:pPr lvl="0" indent="0" marL="0">
              <a:buNone/>
            </a:pPr>
          </a:p>
          <a:p>
            <a:pPr lvl="0"/>
            <a:r>
              <a:rPr/>
              <a:t>Pair programming session</a:t>
            </a:r>
          </a:p>
          <a:p>
            <a:pPr lvl="0" indent="0" marL="0">
              <a:buNone/>
            </a:pPr>
          </a:p>
          <a:p>
            <a:pPr lvl="0"/>
            <a:r>
              <a:rPr/>
              <a:t>Code review of attendee’s attempts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Remember:</a:t>
            </a:r>
            <a:r>
              <a:rPr/>
              <a:t> The best architecture is the one your team can execute consistently. Start simple, iterate, improve.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Q&amp;A Management: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Common questions and answers: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Q1: “How do you handle shared business logic between features?”</a:t>
            </a:r>
            <a:r>
              <a:rPr/>
              <a:t> A: Several approaches: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Shared interfaces in /Common/Interfaces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Domain events for cross-feature communication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Shared domain services (sparingly)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Accept some duplication if features truly different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Key: Don’t prematurely abstract. Wait until you have 3+ features needing same logic.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Q2: “What about database migrations with EF Core?”</a:t>
            </a:r>
            <a:r>
              <a:rPr/>
              <a:t> A: Options: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Keep migrations in infrastructure layer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Feature-specific migrations (advanced)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Use migration folders per feature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Recommendation: Start with centralized migrations, move to per-feature when needed.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Q3: “How granular should features be?”</a:t>
            </a:r>
            <a:r>
              <a:rPr/>
              <a:t> A: Goldilocks principle:</a:t>
            </a:r>
          </a:p>
          <a:p>
            <a:pPr lvl="0" indent="0" marL="0">
              <a:buNone/>
            </a:pPr>
          </a:p>
          <a:p>
            <a:pPr lvl="0"/>
            <a:r>
              <a:rPr/>
              <a:t>Too big: “UserManagement” (too many concerns)</a:t>
            </a:r>
          </a:p>
          <a:p>
            <a:pPr lvl="0" indent="0" marL="0">
              <a:buNone/>
            </a:pPr>
          </a:p>
          <a:p>
            <a:pPr lvl="0"/>
            <a:r>
              <a:rPr/>
              <a:t>Too small: “SendEmail” (not a complete feature)</a:t>
            </a:r>
          </a:p>
          <a:p>
            <a:pPr lvl="0" indent="0" marL="0">
              <a:buNone/>
            </a:pPr>
          </a:p>
          <a:p>
            <a:pPr lvl="0"/>
            <a:r>
              <a:rPr/>
              <a:t>Just right: “UserRegistration”, “PasswordReset”, “ProfileUpdate”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Rule of thumb: One user story = One feature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Q4: “What about performance? Don’t vertical slices create duplication?”</a:t>
            </a:r>
            <a:r>
              <a:rPr/>
              <a:t> A:</a:t>
            </a:r>
          </a:p>
          <a:p>
            <a:pPr lvl="0" indent="0" marL="0">
              <a:buNone/>
            </a:pPr>
          </a:p>
          <a:p>
            <a:pPr lvl="0"/>
            <a:r>
              <a:rPr/>
              <a:t>Duplication: Some, but minimal. Usually just DTOs and simple logic.</a:t>
            </a:r>
          </a:p>
          <a:p>
            <a:pPr lvl="0" indent="0" marL="0">
              <a:buNone/>
            </a:pPr>
          </a:p>
          <a:p>
            <a:pPr lvl="0"/>
            <a:r>
              <a:rPr/>
              <a:t>Performance: No impact. Code organization doesn’t affect runtime performance.</a:t>
            </a:r>
          </a:p>
          <a:p>
            <a:pPr lvl="0" indent="0" marL="0">
              <a:buNone/>
            </a:pPr>
          </a:p>
          <a:p>
            <a:pPr lvl="0"/>
            <a:r>
              <a:rPr/>
              <a:t>Actually helps: Clear boundaries make optimization easier.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Q5: “How do you handle transactions across features?”</a:t>
            </a:r>
            <a:r>
              <a:rPr/>
              <a:t> A: Two approaches: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Saga pattern with domain events (recommended)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Orchestration handler that uses multiple features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Example: OrderCheckout might emit events that UserManagement and Inventory react to.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Q6: “What about reporting that needs data from multiple features?”</a:t>
            </a:r>
            <a:r>
              <a:rPr/>
              <a:t> A: Reporting is special: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Create /Queries folder alongside /Features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Queries can access database directly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Or build dedicated read models (CQRS)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Reports aren’t features, they’re read operations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Q7: “How do you refactor existing layered code?”</a:t>
            </a:r>
            <a:r>
              <a:rPr/>
              <a:t> A: Gradual migration: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Identify a feature boundary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Create /Features/[Feature] folder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Move related Controller, Service, Repository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Combine into Command + Handler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Add tests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Delete old layer files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Start with newest or most-changed features.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Q8: “Don’t we lose reusability?”</a:t>
            </a:r>
            <a:r>
              <a:rPr/>
              <a:t> A: Shift in thinking:</a:t>
            </a:r>
          </a:p>
          <a:p>
            <a:pPr lvl="0" indent="0" marL="0">
              <a:buNone/>
            </a:pPr>
          </a:p>
          <a:p>
            <a:pPr lvl="0"/>
            <a:r>
              <a:rPr/>
              <a:t>Lost: Service classes used by many</a:t>
            </a:r>
          </a:p>
          <a:p>
            <a:pPr lvl="0" indent="0" marL="0">
              <a:buNone/>
            </a:pPr>
          </a:p>
          <a:p>
            <a:pPr lvl="0"/>
            <a:r>
              <a:rPr/>
              <a:t>Gained: Features that change independently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Reuse through: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Shared interfaces</a:t>
            </a:r>
          </a:p>
          <a:p>
            <a:pPr lvl="0" indent="0" marL="0">
              <a:buNone/>
            </a:pPr>
          </a:p>
          <a:p>
            <a:pPr lvl="0"/>
            <a:r>
              <a:rPr/>
              <a:t>Domain entities</a:t>
            </a:r>
          </a:p>
          <a:p>
            <a:pPr lvl="0" indent="0" marL="0">
              <a:buNone/>
            </a:pPr>
          </a:p>
          <a:p>
            <a:pPr lvl="0"/>
            <a:r>
              <a:rPr/>
              <a:t>Infrastructure services</a:t>
            </a:r>
          </a:p>
          <a:p>
            <a:pPr lvl="0" indent="0" marL="0">
              <a:buNone/>
            </a:pPr>
          </a:p>
          <a:p>
            <a:pPr lvl="0"/>
            <a:r>
              <a:rPr/>
              <a:t>Common utilities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Prefer independence over reuse.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Q9: “What about authentication/authorization?”</a:t>
            </a:r>
            <a:r>
              <a:rPr/>
              <a:t> A: Cross-cutting concerns stay cross-cutting:</a:t>
            </a:r>
          </a:p>
          <a:p>
            <a:pPr lvl="0" indent="0" marL="0">
              <a:buNone/>
            </a:pPr>
          </a:p>
          <a:p>
            <a:pPr lvl="0"/>
            <a:r>
              <a:rPr/>
              <a:t>Auth remains in middleware/filters</a:t>
            </a:r>
          </a:p>
          <a:p>
            <a:pPr lvl="0" indent="0" marL="0">
              <a:buNone/>
            </a:pPr>
          </a:p>
          <a:p>
            <a:pPr lvl="0"/>
            <a:r>
              <a:rPr/>
              <a:t>Handlers can inject ICurrentUser to get identity</a:t>
            </a:r>
          </a:p>
          <a:p>
            <a:pPr lvl="0" indent="0" marL="0">
              <a:buNone/>
            </a:pPr>
          </a:p>
          <a:p>
            <a:pPr lvl="0"/>
            <a:r>
              <a:rPr/>
              <a:t>Authorization policies applied at controller/endpoint level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 marL="0">
              <a:buNone/>
            </a:pP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6287E"/>
                </a:solidFill>
                <a:latin typeface="Courier"/>
              </a:rPr>
              <a:t>Authorize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Policy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"UserPolicy"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6287E"/>
                </a:solidFill>
                <a:latin typeface="Courier"/>
              </a:rPr>
              <a:t>HttpPost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"register"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IActionResult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>
                <a:solidFill>
                  <a:srgbClr val="666666"/>
                </a:solidFill>
                <a:latin typeface="Courier"/>
              </a:rPr>
              <a:t>(...)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Q10: “Is this just CQRS?”</a:t>
            </a:r>
            <a:r>
              <a:rPr/>
              <a:t> A: Related but different:</a:t>
            </a:r>
          </a:p>
          <a:p>
            <a:pPr lvl="0" indent="0" marL="0">
              <a:buNone/>
            </a:pPr>
          </a:p>
          <a:p>
            <a:pPr lvl="0"/>
            <a:r>
              <a:rPr/>
              <a:t>CQRS: Separate read from write models</a:t>
            </a:r>
          </a:p>
          <a:p>
            <a:pPr lvl="0" indent="0" marL="0">
              <a:buNone/>
            </a:pPr>
          </a:p>
          <a:p>
            <a:pPr lvl="0"/>
            <a:r>
              <a:rPr/>
              <a:t>Vertical Slices: Organize by feature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You can combine them! Commands and Queries organized in feature slices.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Discussion prompts: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Prompt 1: “Think of a recent feature you implemented…”</a:t>
            </a:r>
          </a:p>
          <a:p>
            <a:pPr lvl="0" indent="0" marL="0">
              <a:buNone/>
            </a:pPr>
          </a:p>
          <a:p>
            <a:pPr lvl="0"/>
            <a:r>
              <a:rPr/>
              <a:t>How many files did you touch?</a:t>
            </a:r>
          </a:p>
          <a:p>
            <a:pPr lvl="0" indent="0" marL="0">
              <a:buNone/>
            </a:pPr>
          </a:p>
          <a:p>
            <a:pPr lvl="0"/>
            <a:r>
              <a:rPr/>
              <a:t>How many folders did you navigate?</a:t>
            </a:r>
          </a:p>
          <a:p>
            <a:pPr lvl="0" indent="0" marL="0">
              <a:buNone/>
            </a:pPr>
          </a:p>
          <a:p>
            <a:pPr lvl="0"/>
            <a:r>
              <a:rPr/>
              <a:t>Could you find everything quickly?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Prompt 2: “How would this feature look as a vertical slice?”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What would be in the feature folder?</a:t>
            </a:r>
          </a:p>
          <a:p>
            <a:pPr lvl="0" indent="0" marL="0">
              <a:buNone/>
            </a:pPr>
          </a:p>
          <a:p>
            <a:pPr lvl="0"/>
            <a:r>
              <a:rPr/>
              <a:t>What would be shared?</a:t>
            </a:r>
          </a:p>
          <a:p>
            <a:pPr lvl="0" indent="0" marL="0">
              <a:buNone/>
            </a:pPr>
          </a:p>
          <a:p>
            <a:pPr lvl="0"/>
            <a:r>
              <a:rPr/>
              <a:t>Would it be simpler or more complex?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Prompt 3: “What’s stopping you from trying this?”</a:t>
            </a:r>
          </a:p>
          <a:p>
            <a:pPr lvl="0" indent="0" marL="0">
              <a:buNone/>
            </a:pPr>
          </a:p>
          <a:p>
            <a:pPr lvl="0"/>
            <a:r>
              <a:rPr/>
              <a:t>Team buy-in?</a:t>
            </a:r>
          </a:p>
          <a:p>
            <a:pPr lvl="0" indent="0" marL="0">
              <a:buNone/>
            </a:pPr>
          </a:p>
          <a:p>
            <a:pPr lvl="0"/>
            <a:r>
              <a:rPr/>
              <a:t>Learning curve?</a:t>
            </a:r>
          </a:p>
          <a:p>
            <a:pPr lvl="0" indent="0" marL="0">
              <a:buNone/>
            </a:pPr>
          </a:p>
          <a:p>
            <a:pPr lvl="0"/>
            <a:r>
              <a:rPr/>
              <a:t>Existing codebase size?</a:t>
            </a:r>
          </a:p>
          <a:p>
            <a:pPr lvl="0" indent="0" marL="0">
              <a:buNone/>
            </a:pPr>
          </a:p>
          <a:p>
            <a:pPr lvl="0"/>
            <a:r>
              <a:rPr/>
              <a:t>Something else?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Workshop activity:</a:t>
            </a:r>
            <a:r>
              <a:rPr/>
              <a:t> If time allows, have attendees: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Sketch out a feature from their codebase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Design it as a vertical slice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Present to group</a:t>
            </a:r>
          </a:p>
          <a:p>
            <a:pPr lvl="0" indent="0" marL="0">
              <a:buNone/>
            </a:pPr>
          </a:p>
          <a:p>
            <a:pPr lvl="0" indent="-342900" marL="342900">
              <a:buAutoNum type="arabicPeriod"/>
            </a:pPr>
            <a:r>
              <a:rPr/>
              <a:t>Get feedback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Closing thoughts:</a:t>
            </a:r>
          </a:p>
          <a:p>
            <a:pPr lvl="0" indent="0" marL="0">
              <a:buNone/>
            </a:pPr>
          </a:p>
          <a:p>
            <a:pPr lvl="0"/>
            <a:r>
              <a:rPr/>
              <a:t>Don’t aim for perfection</a:t>
            </a:r>
          </a:p>
          <a:p>
            <a:pPr lvl="0" indent="0" marL="0">
              <a:buNone/>
            </a:pPr>
          </a:p>
          <a:p>
            <a:pPr lvl="0"/>
            <a:r>
              <a:rPr/>
              <a:t>Start small and iterate</a:t>
            </a:r>
          </a:p>
          <a:p>
            <a:pPr lvl="0" indent="0" marL="0">
              <a:buNone/>
            </a:pPr>
          </a:p>
          <a:p>
            <a:pPr lvl="0"/>
            <a:r>
              <a:rPr/>
              <a:t>Measure the impact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learnings with team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Follow-up resources:</a:t>
            </a:r>
          </a:p>
          <a:p>
            <a:pPr lvl="0" indent="0" marL="0">
              <a:buNone/>
            </a:pPr>
          </a:p>
          <a:p>
            <a:pPr lvl="0"/>
            <a:r>
              <a:rPr/>
              <a:t>Office hours: [schedule link]</a:t>
            </a:r>
          </a:p>
          <a:p>
            <a:pPr lvl="0" indent="0" marL="0">
              <a:buNone/>
            </a:pPr>
          </a:p>
          <a:p>
            <a:pPr lvl="0"/>
            <a:r>
              <a:rPr/>
              <a:t>Code review sessions: [schedule link]</a:t>
            </a:r>
          </a:p>
          <a:p>
            <a:pPr lvl="0" indent="0" marL="0">
              <a:buNone/>
            </a:pPr>
          </a:p>
          <a:p>
            <a:pPr lvl="0"/>
            <a:r>
              <a:rPr/>
              <a:t>Slack channel: #vertical-slices</a:t>
            </a:r>
          </a:p>
          <a:p>
            <a:pPr lvl="0" indent="0" marL="0">
              <a:buNone/>
            </a:pPr>
          </a:p>
          <a:p>
            <a:pPr lvl="0"/>
            <a:r>
              <a:rPr/>
              <a:t>Documentation: [wiki link]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Thank you message:</a:t>
            </a:r>
            <a:r>
              <a:rPr/>
              <a:t> “Thank you all for your engagement! Remember: the goal isn’t to follow this pattern religiously, but to organize code in a way that makes your team more productive. Take what works, adapt what doesn’t, and share your learnings. Good luck with your implementations!”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 b="1"/>
              <a:t>Post-presentation:</a:t>
            </a:r>
          </a:p>
          <a:p>
            <a:pPr lvl="0" indent="0" marL="0">
              <a:buNone/>
            </a:pPr>
          </a:p>
          <a:p>
            <a:pPr lvl="0"/>
            <a:r>
              <a:rPr/>
              <a:t>Send slides to attendees</a:t>
            </a:r>
          </a:p>
          <a:p>
            <a:pPr lvl="0" indent="0" marL="0">
              <a:buNone/>
            </a:pPr>
          </a:p>
          <a:p>
            <a:pPr lvl="0"/>
            <a:r>
              <a:rPr/>
              <a:t>Share example repository</a:t>
            </a:r>
          </a:p>
          <a:p>
            <a:pPr lvl="0" indent="0" marL="0">
              <a:buNone/>
            </a:pPr>
          </a:p>
          <a:p>
            <a:pPr lvl="0"/>
            <a:r>
              <a:rPr/>
              <a:t>Schedule follow-up session in 1 month</a:t>
            </a:r>
          </a:p>
          <a:p>
            <a:pPr lvl="0" indent="0" marL="0">
              <a:buNone/>
            </a:pPr>
          </a:p>
          <a:p>
            <a:pPr lvl="0"/>
            <a:r>
              <a:rPr/>
              <a:t>Create feedback survey</a:t>
            </a:r>
          </a:p>
          <a:p>
            <a:pPr lvl="0" indent="0" marL="0">
              <a:buNone/>
            </a:pPr>
          </a:p>
          <a:p>
            <a:pPr lvl="0"/>
            <a:r>
              <a:rPr/>
              <a:t>Compile Q&amp;A document from session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hyperlink" Target="https://github.com/jbogard/MediatR" TargetMode="External" /><Relationship Id="rId4" Type="http://schemas.openxmlformats.org/officeDocument/2006/relationships/hyperlink" Target="https://fluentvalidation.net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hyperlink" Target="https://github.com/jbogard/MediatR" TargetMode="External" /><Relationship Id="rId4" Type="http://schemas.openxmlformats.org/officeDocument/2006/relationships/hyperlink" Target="https://fluentvalidation.net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Implementing Vertical Slices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Feature-Centric Architecture for Modern Applications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Are Vertical Slices?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Architecture pattern organizing code by features, not layers</a:t>
            </a:r>
          </a:p>
          <a:p>
            <a:pPr lvl="0"/>
            <a:r>
              <a:rPr/>
              <a:t>🎯 </a:t>
            </a:r>
            <a:r>
              <a:rPr b="1"/>
              <a:t>Feature-focused</a:t>
            </a:r>
            <a:r>
              <a:rPr/>
              <a:t> - Complete business capabilities in one place</a:t>
            </a:r>
          </a:p>
          <a:p>
            <a:pPr lvl="0"/>
            <a:r>
              <a:rPr/>
              <a:t>🔄 </a:t>
            </a:r>
            <a:r>
              <a:rPr b="1"/>
              <a:t>Cross-cutting</a:t>
            </a:r>
            <a:r>
              <a:rPr/>
              <a:t> - Spans all technical layers vertically</a:t>
            </a:r>
          </a:p>
          <a:p>
            <a:pPr lvl="0"/>
            <a:r>
              <a:rPr/>
              <a:t>📦 </a:t>
            </a:r>
            <a:r>
              <a:rPr b="1"/>
              <a:t>Self-contained</a:t>
            </a:r>
            <a:r>
              <a:rPr/>
              <a:t> - Everything needed for a feature together</a:t>
            </a:r>
          </a:p>
          <a:p>
            <a:pPr lvl="0"/>
            <a:r>
              <a:rPr/>
              <a:t>🚫 </a:t>
            </a:r>
            <a:r>
              <a:rPr b="1"/>
              <a:t>Independent</a:t>
            </a:r>
            <a:r>
              <a:rPr/>
              <a:t> - Features don’t directly reference each other</a:t>
            </a:r>
          </a:p>
          <a:p>
            <a:pPr lvl="0"/>
            <a:r>
              <a:rPr/>
              <a:t>⚡ </a:t>
            </a:r>
            <a:r>
              <a:rPr b="1"/>
              <a:t>Maintainable</a:t>
            </a:r>
            <a:r>
              <a:rPr/>
              <a:t> - Changes localized to single feature folder</a:t>
            </a:r>
          </a:p>
          <a:p>
            <a:pPr lvl="0" indent="0" marL="0">
              <a:buNone/>
            </a:pPr>
            <a:r>
              <a:rPr b="1"/>
              <a:t>Traditional Layered vs Vertical Slices:</a:t>
            </a:r>
          </a:p>
          <a:p>
            <a:pPr lvl="0" indent="0">
              <a:buNone/>
            </a:pPr>
            <a:r>
              <a:rPr>
                <a:latin typeface="Courier"/>
              </a:rPr>
              <a:t>Layered:                    Vertical Slices:
/Controllers                /Features
/Services                     /UserRegistration
/Repositories                   - RegisterUserCommand.cs
/Models                         - RegisterUserHandler.cs
                                - RegisterUserValidator.cs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Use Vertical Slices?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Developer Experience Benefits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Faster Feature Development</a:t>
            </a:r>
          </a:p>
          <a:p>
            <a:pPr lvl="0"/>
            <a:r>
              <a:rPr/>
              <a:t>All related code in one location</a:t>
            </a:r>
          </a:p>
          <a:p>
            <a:pPr lvl="0"/>
            <a:r>
              <a:rPr/>
              <a:t>No jumping between folders</a:t>
            </a:r>
          </a:p>
          <a:p>
            <a:pPr lvl="0"/>
            <a:r>
              <a:rPr/>
              <a:t>New features don’t affect existing ones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Easier Maintenance</a:t>
            </a:r>
          </a:p>
          <a:p>
            <a:pPr lvl="0"/>
            <a:r>
              <a:rPr/>
              <a:t>Changes isolated to single feature</a:t>
            </a:r>
          </a:p>
          <a:p>
            <a:pPr lvl="0"/>
            <a:r>
              <a:rPr/>
              <a:t>Clear boundaries reduce bugs</a:t>
            </a:r>
          </a:p>
          <a:p>
            <a:pPr lvl="0"/>
            <a:r>
              <a:rPr/>
              <a:t>Refactoring contained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Better Team Collaboration</a:t>
            </a:r>
          </a:p>
          <a:p>
            <a:pPr lvl="0"/>
            <a:r>
              <a:rPr/>
              <a:t>Developers work on separate features simultaneously</a:t>
            </a:r>
          </a:p>
          <a:p>
            <a:pPr lvl="0"/>
            <a:r>
              <a:rPr/>
              <a:t>Fewer merge conflicts</a:t>
            </a:r>
          </a:p>
          <a:p>
            <a:pPr lvl="0"/>
            <a:r>
              <a:rPr/>
              <a:t>Clear ownership and responsibility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Improved Testability</a:t>
            </a:r>
          </a:p>
          <a:p>
            <a:pPr lvl="0"/>
            <a:r>
              <a:rPr/>
              <a:t>Test complete features, not layers</a:t>
            </a:r>
          </a:p>
          <a:p>
            <a:pPr lvl="0"/>
            <a:r>
              <a:rPr/>
              <a:t>Mock at feature boundaries</a:t>
            </a:r>
          </a:p>
          <a:p>
            <a:pPr lvl="0"/>
            <a:r>
              <a:rPr/>
              <a:t>Integration tests straightforward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Principles of Vertical Slices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Feature Independence</a:t>
            </a:r>
          </a:p>
          <a:p>
            <a:pPr lvl="0" indent="0" marL="0">
              <a:buNone/>
            </a:pPr>
            <a:r>
              <a:rPr b="1"/>
              <a:t>Features NEVER directly reference other features</a:t>
            </a:r>
          </a:p>
          <a:p>
            <a:pPr lvl="0" indent="0">
              <a:buNone/>
            </a:pPr>
            <a:r>
              <a:rPr>
                <a:latin typeface="Courier"/>
              </a:rPr>
              <a:t>❌ WRONG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Direct feature dependency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using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UserManagement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OrderHandler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readonly</a:t>
            </a:r>
            <a:r>
              <a:rPr>
                <a:latin typeface="Courier"/>
              </a:rPr>
              <a:t> UserService _userService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Cross-feature coupling!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✅ CORRECT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Shared </a:t>
            </a:r>
            <a:r>
              <a:rPr b="1">
                <a:solidFill>
                  <a:srgbClr val="007020"/>
                </a:solidFill>
                <a:latin typeface="Courier"/>
              </a:rPr>
              <a:t>interface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using</a:t>
            </a:r>
            <a:r>
              <a:rPr>
                <a:latin typeface="Courier"/>
              </a:rPr>
              <a:t> Common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Interfaces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OrderHandler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readonly</a:t>
            </a:r>
            <a:r>
              <a:rPr>
                <a:latin typeface="Courier"/>
              </a:rPr>
              <a:t> IUserProvider _userProvider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Abstraction!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Complete Encapsulation</a:t>
            </a:r>
          </a:p>
          <a:p>
            <a:pPr lvl="0" indent="0" marL="0">
              <a:buNone/>
            </a:pPr>
            <a:r>
              <a:rPr b="1"/>
              <a:t>Everything needed for a feature lives in its folder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Thin Entry Points</a:t>
            </a:r>
          </a:p>
          <a:p>
            <a:pPr lvl="0" indent="0" marL="0">
              <a:buNone/>
            </a:pPr>
            <a:r>
              <a:rPr b="1"/>
              <a:t>Controllers/endpoints only route to feature handlers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Business Logic in Handlers</a:t>
            </a:r>
          </a:p>
          <a:p>
            <a:pPr lvl="0" indent="0" marL="0">
              <a:buNone/>
            </a:pPr>
            <a:r>
              <a:rPr b="1"/>
              <a:t>Handlers contain the real feature implementation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Feature Structure: Anatomy of a Slice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Standard Feature Components</a:t>
            </a:r>
          </a:p>
          <a:p>
            <a:pPr lvl="0" indent="0">
              <a:buNone/>
            </a:pPr>
            <a:r>
              <a:rPr>
                <a:latin typeface="Courier"/>
              </a:rPr>
              <a:t>/Features
  /UserRegistration                  ← Feature folder
    RegisterUserCommand.cs           ← Request DTO (what comes in)
    RegisterUserHandler.cs           ← Business logic (the core)
    RegisterUserValidator.cs         ← Input validation rules
    RegistrationResult.cs            ← Response DTO (what goes out)
    UserRegistrationRepository.cs    ← Data access (if needed)
    Extensions.cs                    ← DI registration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Component Responsibilities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346200"/>
                <a:gridCol w="2476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Contains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Command/Query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Request contract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Input properties, IRequest marker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Handler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Core feature logic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Business rules, orchestration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Validator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Input 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FluentValidation rules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Result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Response contract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Output properties, DTOs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Repository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access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Feature-specific queries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Implementation Order: Build Vertically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Right Sequence Matters</a:t>
            </a:r>
          </a:p>
          <a:p>
            <a:pPr lvl="0" indent="0">
              <a:buNone/>
            </a:pPr>
            <a:r>
              <a:rPr>
                <a:latin typeface="Courier"/>
              </a:rPr>
              <a:t>1. Command/Query ────→ Define the contract first
   public record RegisterUserCommand(string Email, ...)
2. Result DTO ───────→ Define what comes back
   public record RegistrationResult { ... }
3. Validator ────────→ Define validation rules
   public class RegisterUserValidator : AbstractValidator&lt;...&gt;
4. Handler ──────────→ Implement business logic
   public class RegisterUserHandler : IRequestHandler&lt;...&gt;
5. Controller ───────→ Wire up HTTP endpoint
   [HttpPost] Register(command) → _mediator.Send(command)
6. Tests ────────────→ Validate everything works
   RegisterUserHandlerTests.cs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Why This Order?</a:t>
            </a:r>
          </a:p>
          <a:p>
            <a:pPr lvl="0"/>
            <a:r>
              <a:rPr b="1"/>
              <a:t>Outside-in</a:t>
            </a:r>
            <a:r>
              <a:rPr/>
              <a:t>: Start with what callers see (contract)</a:t>
            </a:r>
          </a:p>
          <a:p>
            <a:pPr lvl="0"/>
            <a:r>
              <a:rPr b="1"/>
              <a:t>Clear dependencies</a:t>
            </a:r>
            <a:r>
              <a:rPr/>
              <a:t>: Each step builds on previous</a:t>
            </a:r>
          </a:p>
          <a:p>
            <a:pPr lvl="0"/>
            <a:r>
              <a:rPr b="1"/>
              <a:t>No rework</a:t>
            </a:r>
            <a:r>
              <a:rPr/>
              <a:t>: Avoid changing earlier components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Example: The Command/Query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Request DTOs Are Simple and Immutable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Command (for writes/mutations)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record </a:t>
            </a:r>
            <a:r>
              <a:rPr>
                <a:solidFill>
                  <a:srgbClr val="06287E"/>
                </a:solidFill>
                <a:latin typeface="Courier"/>
              </a:rPr>
              <a:t>RegisterUserCommand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Email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Password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FirstName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latin typeface="Courier"/>
              </a:rPr>
              <a:t> LastName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IRequest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RegistrationResult</a:t>
            </a:r>
            <a:r>
              <a:rPr>
                <a:solidFill>
                  <a:srgbClr val="666666"/>
                </a:solidFill>
                <a:latin typeface="Courier"/>
              </a:rPr>
              <a:t>&gt;&gt;;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// Query (for reads)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record </a:t>
            </a:r>
            <a:r>
              <a:rPr>
                <a:solidFill>
                  <a:srgbClr val="06287E"/>
                </a:solidFill>
                <a:latin typeface="Courier"/>
              </a:rPr>
              <a:t>GetUserProfileQuery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Guid UserId</a:t>
            </a:r>
            <a:br/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IRequest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UserProfileDto</a:t>
            </a:r>
            <a:r>
              <a:rPr>
                <a:solidFill>
                  <a:srgbClr val="666666"/>
                </a:solidFill>
                <a:latin typeface="Courier"/>
              </a:rPr>
              <a:t>&gt;&gt;;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Characteristics</a:t>
            </a:r>
          </a:p>
          <a:p>
            <a:pPr lvl="0" indent="0" marL="0">
              <a:buNone/>
            </a:pPr>
            <a:r>
              <a:rPr/>
              <a:t>✅ Use </a:t>
            </a:r>
            <a:r>
              <a:rPr>
                <a:latin typeface="Courier"/>
              </a:rPr>
              <a:t>record</a:t>
            </a:r>
            <a:r>
              <a:rPr/>
              <a:t> for immutability (C#) ✅ All data as constructor parameters ✅ Implement </a:t>
            </a:r>
            <a:r>
              <a:rPr>
                <a:latin typeface="Courier"/>
              </a:rPr>
              <a:t>IRequest&lt;TResponse&gt;</a:t>
            </a:r>
            <a:r>
              <a:rPr/>
              <a:t> (MediatR pattern) ✅ Commands modify state, Queries read state ✅ No logic, no methods - pure data contracts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Example: The Handler (Core Logic)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Handlers Orchestrate Feature Behavior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RegisterUserHandler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IRequestHandler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RegisterUserCommand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RegistrationResult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readonly</a:t>
            </a:r>
            <a:r>
              <a:rPr>
                <a:latin typeface="Courier"/>
              </a:rPr>
              <a:t> IDbContext _dbContext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readonly</a:t>
            </a:r>
            <a:r>
              <a:rPr>
                <a:latin typeface="Courier"/>
              </a:rPr>
              <a:t> IPasswordHasher _passwordHasher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readonly</a:t>
            </a:r>
            <a:r>
              <a:rPr>
                <a:latin typeface="Courier"/>
              </a:rPr>
              <a:t> IEmailService _emailService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RegistrationResult</a:t>
            </a:r>
            <a:r>
              <a:rPr>
                <a:solidFill>
                  <a:srgbClr val="666666"/>
                </a:solidFill>
                <a:latin typeface="Courier"/>
              </a:rPr>
              <a:t>&gt;&gt;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RegisterUserCommand command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CancellationToken cancellationToken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1. Business rule: Check existence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exists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_dbContext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Users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AnyAsync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u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cancellationToken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exists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RegistrationResult</a:t>
            </a:r>
            <a:r>
              <a:rPr>
                <a:solidFill>
                  <a:srgbClr val="666666"/>
                </a:solidFill>
                <a:latin typeface="Courier"/>
              </a:rPr>
              <a:t>&gt;.</a:t>
            </a:r>
            <a:r>
              <a:rPr>
                <a:solidFill>
                  <a:srgbClr val="06287E"/>
                </a:solidFill>
                <a:latin typeface="Courier"/>
              </a:rPr>
              <a:t>Failure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"User already exists"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2. Create entity with business logic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Guid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NewGuid</a:t>
            </a:r>
            <a:r>
              <a:rPr>
                <a:solidFill>
                  <a:srgbClr val="666666"/>
                </a:solidFill>
                <a:latin typeface="Courier"/>
              </a:rPr>
              <a:t>(),</a:t>
            </a:r>
            <a:br/>
            <a:r>
              <a:rPr>
                <a:latin typeface="Courier"/>
              </a:rPr>
              <a:t>            Email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PasswordHash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_passwordHasher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Hash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Password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latin typeface="Courier"/>
              </a:rPr>
              <a:t>            FirstName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FirstName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LastName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command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LastName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CreatedAt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DateTime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UtcNow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};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3. Persist changes</a:t>
            </a:r>
            <a:br/>
            <a:r>
              <a:rPr>
                <a:latin typeface="Courier"/>
              </a:rPr>
              <a:t>        _dbContext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Users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Add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await _dbContext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SaveChangesAsync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cancellationToken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4. Side effects</a:t>
            </a:r>
            <a:br/>
            <a:r>
              <a:rPr>
                <a:latin typeface="Courier"/>
              </a:rPr>
              <a:t>        await _emailService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SendWelcomeEmailAsync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FirstName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5. Return success result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RegistrationResult</a:t>
            </a:r>
            <a:r>
              <a:rPr>
                <a:solidFill>
                  <a:srgbClr val="666666"/>
                </a:solidFill>
                <a:latin typeface="Courier"/>
              </a:rPr>
              <a:t>&gt;.</a:t>
            </a:r>
            <a:r>
              <a:rPr>
                <a:solidFill>
                  <a:srgbClr val="06287E"/>
                </a:solidFill>
                <a:latin typeface="Courier"/>
              </a:rPr>
              <a:t>Success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RegistrationResult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    UserId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Email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    RegisteredAt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user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CreatedAt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666666"/>
                </a:solidFill>
                <a:latin typeface="Courier"/>
              </a:rPr>
              <a:t>});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Code Example: Validation &amp; Controllers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Validators (Use FluentValidation)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RegisterUserValidator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AbstractValidator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RegisterUserCommand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RegisterUserValidator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RuleFor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NotEmpty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WithMessage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"Email is required"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EmailAddress</a:t>
            </a:r>
            <a:r>
              <a:rPr>
                <a:solidFill>
                  <a:srgbClr val="666666"/>
                </a:solidFill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WithMessage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"Invalid email format"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MaximumLength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255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RuleFor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Password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NotEmpty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MinimumLength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Matches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</a:t>
            </a:r>
            <a:r>
              <a:rPr>
                <a:solidFill>
                  <a:srgbClr val="4070A0"/>
                </a:solidFill>
                <a:latin typeface="Courier"/>
              </a:rPr>
              <a:t>"[A-Z]"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WithMessage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"Must contain uppercase"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Matches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@</a:t>
            </a:r>
            <a:r>
              <a:rPr>
                <a:solidFill>
                  <a:srgbClr val="4070A0"/>
                </a:solidFill>
                <a:latin typeface="Courier"/>
              </a:rPr>
              <a:t>"[0-9]"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solidFill>
                  <a:srgbClr val="06287E"/>
                </a:solidFill>
                <a:latin typeface="Courier"/>
              </a:rPr>
              <a:t>WithMessage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"Must contain digit"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RuleFor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FirstName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NotEmpty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MaximumLength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Controllers (Keep Them Thin!)</a:t>
            </a:r>
          </a:p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ApiController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6287E"/>
                </a:solidFill>
                <a:latin typeface="Courier"/>
              </a:rPr>
              <a:t>Route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"api/users"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UserRegistrationController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ControllerBase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readonly</a:t>
            </a:r>
            <a:r>
              <a:rPr>
                <a:latin typeface="Courier"/>
              </a:rPr>
              <a:t> IMediator _mediator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06287E"/>
                </a:solidFill>
                <a:latin typeface="Courier"/>
              </a:rPr>
              <a:t>HttpPost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"register"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IActionResult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RegisterUserCommand command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        CancellationToken cancellationToken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_mediator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cancellationToken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IsSuccess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?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Ok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BadRequest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Error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Anti-Patterns: What NOT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❌ Anti-Pattern 1: Feature Dependencies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NEVER reference another feature directly!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using</a:t>
            </a:r>
            <a:r>
              <a:rPr>
                <a:latin typeface="Courier"/>
              </a:rPr>
              <a:t> Features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UserManagement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OrderCheckoutHandler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readonly</a:t>
            </a:r>
            <a:r>
              <a:rPr>
                <a:latin typeface="Courier"/>
              </a:rPr>
              <a:t> UserService _userService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❌ Cross-feature coupling!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Solution:</a:t>
            </a:r>
            <a:r>
              <a:rPr/>
              <a:t> Use shared interfaces in </a:t>
            </a:r>
            <a:r>
              <a:rPr>
                <a:latin typeface="Courier"/>
              </a:rPr>
              <a:t>/Common/Interfaces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Anti-Pattern 2: Anemic Handlers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Handler just passes through to service - pointless!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RegisterUserHandler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 cmd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await _userService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cmd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❌ No value added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 b="1"/>
              <a:t>Solution:</a:t>
            </a:r>
            <a:r>
              <a:rPr/>
              <a:t> Put business logic IN the handler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Anti-Pattern 3: Fat Controllers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// Business logic in controller - wrong layer!</a:t>
            </a:r>
            <a:br/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HttpPost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IActionResult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Request req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IsNullOrEmpty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req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BadRequest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❌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user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_db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Users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FindAsync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req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         </a:t>
            </a:r>
            <a:r>
              <a:rPr i="1">
                <a:solidFill>
                  <a:srgbClr val="60A0B0"/>
                </a:solidFill>
                <a:latin typeface="Courier"/>
              </a:rPr>
              <a:t>// ❌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user </a:t>
            </a:r>
            <a:r>
              <a:rPr>
                <a:solidFill>
                  <a:srgbClr val="666666"/>
                </a:solidFill>
                <a:latin typeface="Courier"/>
              </a:rPr>
              <a:t>!=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null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Conflict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  <a:r>
              <a:rPr>
                <a:latin typeface="Courier"/>
              </a:rPr>
              <a:t>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// ❌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Testing Strategy for Vertical Slices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 the Handler, Not the Controller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RegisterUserHandlerTests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readonly</a:t>
            </a:r>
            <a:r>
              <a:rPr>
                <a:latin typeface="Courier"/>
              </a:rPr>
              <a:t> Mock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IDbContext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_dbContextMock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readonly</a:t>
            </a:r>
            <a:r>
              <a:rPr>
                <a:latin typeface="Courier"/>
              </a:rPr>
              <a:t> Mock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IPasswordHasher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_hasherMock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private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readonly</a:t>
            </a:r>
            <a:r>
              <a:rPr>
                <a:latin typeface="Courier"/>
              </a:rPr>
              <a:t> RegisterUserHandler _handler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br/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Fact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Handle_ValidCommand_ReturnsSuccess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Arrange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command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RegisterUserCommand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4070A0"/>
                </a:solidFill>
                <a:latin typeface="Courier"/>
              </a:rPr>
              <a:t>"test@example.com"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"Pass123!"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"John"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"Doe"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_dbContextMock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Setup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db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db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Users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AnyAsync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IsAny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Expression</a:t>
            </a:r>
            <a:r>
              <a:rPr>
                <a:solidFill>
                  <a:srgbClr val="666666"/>
                </a:solidFill>
                <a:latin typeface="Courier"/>
              </a:rPr>
              <a:t>&lt;...&gt;&gt;(),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...))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ReturnsAsync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_hasherMock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Setup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h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h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Hash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IsAny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solidFill>
                  <a:srgbClr val="902000"/>
                </a:solidFill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&gt;()))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Returns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"hashed_password"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Act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_handler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CancellationToken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None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Assert</a:t>
            </a:r>
            <a:br/>
            <a:r>
              <a:rPr>
                <a:latin typeface="Courier"/>
              </a:rPr>
              <a:t>        Assert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IsSuccess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Assert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Equal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"test@example.com"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Value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Email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_dbContextMock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Verify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db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db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SaveChangesAsync</a:t>
            </a:r>
            <a:r>
              <a:rPr>
                <a:solidFill>
                  <a:srgbClr val="666666"/>
                </a:solidFill>
                <a:latin typeface="Courier"/>
              </a:rPr>
              <a:t>(...),</a:t>
            </a:r>
            <a:r>
              <a:rPr>
                <a:latin typeface="Courier"/>
              </a:rPr>
              <a:t> Times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Once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Fact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public</a:t>
            </a:r>
            <a:r>
              <a:rPr>
                <a:latin typeface="Courier"/>
              </a:rPr>
              <a:t> async Task </a:t>
            </a:r>
            <a:r>
              <a:rPr>
                <a:solidFill>
                  <a:srgbClr val="06287E"/>
                </a:solidFill>
                <a:latin typeface="Courier"/>
              </a:rPr>
              <a:t>Handle_DuplicateEmail_ReturnsFailure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Arrange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command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new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RegisterUserCommand</a:t>
            </a:r>
            <a:r>
              <a:rPr>
                <a:solidFill>
                  <a:srgbClr val="666666"/>
                </a:solidFill>
                <a:latin typeface="Courier"/>
              </a:rPr>
              <a:t>(...);</a:t>
            </a:r>
            <a:br/>
            <a:r>
              <a:rPr>
                <a:latin typeface="Courier"/>
              </a:rPr>
              <a:t>        _dbContextMock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Setup</a:t>
            </a:r>
            <a:r>
              <a:rPr>
                <a:solidFill>
                  <a:srgbClr val="666666"/>
                </a:solidFill>
                <a:latin typeface="Courier"/>
              </a:rPr>
              <a:t>(...).</a:t>
            </a:r>
            <a:r>
              <a:rPr>
                <a:solidFill>
                  <a:srgbClr val="06287E"/>
                </a:solidFill>
                <a:latin typeface="Courier"/>
              </a:rPr>
              <a:t>ReturnsAsync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 b="1">
                <a:solidFill>
                  <a:srgbClr val="007020"/>
                </a:solidFill>
                <a:latin typeface="Courier"/>
              </a:rPr>
              <a:t>true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r>
              <a:rPr>
                <a:latin typeface="Courier"/>
              </a:rPr>
              <a:t> </a:t>
            </a:r>
            <a:r>
              <a:rPr i="1">
                <a:solidFill>
                  <a:srgbClr val="60A0B0"/>
                </a:solidFill>
                <a:latin typeface="Courier"/>
              </a:rPr>
              <a:t>// User exists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Act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902000"/>
                </a:solidFill>
                <a:latin typeface="Courier"/>
              </a:rPr>
              <a:t>var</a:t>
            </a:r>
            <a:r>
              <a:rPr>
                <a:latin typeface="Courier"/>
              </a:rPr>
              <a:t>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await _handler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Handle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command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CancellationToken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None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br/>
            <a:r>
              <a:rPr>
                <a:latin typeface="Courier"/>
              </a:rPr>
              <a:t>        </a:t>
            </a:r>
            <a:r>
              <a:rPr i="1">
                <a:solidFill>
                  <a:srgbClr val="60A0B0"/>
                </a:solidFill>
                <a:latin typeface="Courier"/>
              </a:rPr>
              <a:t>// Assert</a:t>
            </a:r>
            <a:br/>
            <a:r>
              <a:rPr>
                <a:latin typeface="Courier"/>
              </a:rPr>
              <a:t>        Assert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False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IsSuccess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    Assert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Contains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"already exists"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result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Error</a:t>
            </a:r>
            <a:r>
              <a:rPr>
                <a:solidFill>
                  <a:srgbClr val="666666"/>
                </a:solidFill>
                <a:latin typeface="Courier"/>
              </a:rPr>
              <a:t>);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DO These Things</a:t>
            </a:r>
          </a:p>
          <a:p>
            <a:pPr lvl="0" indent="-342900" marL="342900">
              <a:buAutoNum type="arabicPeriod"/>
            </a:pPr>
            <a:r>
              <a:rPr b="1"/>
              <a:t>Start small</a:t>
            </a:r>
            <a:r>
              <a:rPr/>
              <a:t> - Convert one feature to verify the pattern</a:t>
            </a:r>
          </a:p>
          <a:p>
            <a:pPr lvl="0" indent="-342900" marL="342900">
              <a:buAutoNum type="arabicPeriod"/>
            </a:pPr>
            <a:r>
              <a:rPr b="1"/>
              <a:t>Name consistently</a:t>
            </a:r>
            <a:r>
              <a:rPr/>
              <a:t> - VerbEntityCommand/Handler/Validator</a:t>
            </a:r>
          </a:p>
          <a:p>
            <a:pPr lvl="0" indent="-342900" marL="342900">
              <a:buAutoNum type="arabicPeriod"/>
            </a:pPr>
            <a:r>
              <a:rPr b="1"/>
              <a:t>Keep features independent</a:t>
            </a:r>
            <a:r>
              <a:rPr/>
              <a:t> - Use shared interfaces</a:t>
            </a:r>
          </a:p>
          <a:p>
            <a:pPr lvl="0" indent="-342900" marL="342900">
              <a:buAutoNum type="arabicPeriod"/>
            </a:pPr>
            <a:r>
              <a:rPr b="1"/>
              <a:t>Put logic in handlers</a:t>
            </a:r>
            <a:r>
              <a:rPr/>
              <a:t> - Not services or controllers</a:t>
            </a:r>
          </a:p>
          <a:p>
            <a:pPr lvl="0" indent="-342900" marL="342900">
              <a:buAutoNum type="arabicPeriod"/>
            </a:pPr>
            <a:r>
              <a:rPr b="1"/>
              <a:t>Test handlers thoroughly</a:t>
            </a:r>
            <a:r>
              <a:rPr/>
              <a:t> - They contain your business logic</a:t>
            </a:r>
          </a:p>
          <a:p>
            <a:pPr lvl="0" indent="-342900" marL="342900">
              <a:buAutoNum type="arabicPeriod"/>
            </a:pPr>
            <a:r>
              <a:rPr b="1"/>
              <a:t>Use mediatR</a:t>
            </a:r>
            <a:r>
              <a:rPr/>
              <a:t> - Or similar mediator pattern library</a:t>
            </a:r>
          </a:p>
          <a:p>
            <a:pPr lvl="0" indent="-342900" marL="342900">
              <a:buAutoNum type="arabicPeriod"/>
            </a:pPr>
            <a:r>
              <a:rPr b="1"/>
              <a:t>Validate early</a:t>
            </a:r>
            <a:r>
              <a:rPr/>
              <a:t> - Separate validators from handlers</a:t>
            </a:r>
          </a:p>
          <a:p>
            <a:pPr lvl="0" indent="-342900" marL="342900">
              <a:buAutoNum type="arabicPeriod"/>
            </a:pPr>
            <a:r>
              <a:rPr b="1"/>
              <a:t>Return Results</a:t>
            </a:r>
            <a:r>
              <a:rPr/>
              <a:t> - Not exceptions for business rule violations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❌ DON’T Do These Things</a:t>
            </a:r>
          </a:p>
          <a:p>
            <a:pPr lvl="0" indent="-342900" marL="342900">
              <a:buAutoNum type="arabicPeriod"/>
            </a:pPr>
            <a:r>
              <a:rPr b="1"/>
              <a:t>Don’t cross-reference features</a:t>
            </a:r>
            <a:r>
              <a:rPr/>
              <a:t> - Creates coupling</a:t>
            </a:r>
          </a:p>
          <a:p>
            <a:pPr lvl="0" indent="-342900" marL="342900">
              <a:buAutoNum type="arabicPeriod"/>
            </a:pPr>
            <a:r>
              <a:rPr b="1"/>
              <a:t>Don’t make thin handlers</a:t>
            </a:r>
            <a:r>
              <a:rPr/>
              <a:t> - They should contain logic</a:t>
            </a:r>
          </a:p>
          <a:p>
            <a:pPr lvl="0" indent="-342900" marL="342900">
              <a:buAutoNum type="arabicPeriod"/>
            </a:pPr>
            <a:r>
              <a:rPr b="1"/>
              <a:t>Don’t put logic in controllers</a:t>
            </a:r>
            <a:r>
              <a:rPr/>
              <a:t> - Keep them thin</a:t>
            </a:r>
          </a:p>
          <a:p>
            <a:pPr lvl="0" indent="-342900" marL="342900">
              <a:buAutoNum type="arabicPeriod"/>
            </a:pPr>
            <a:r>
              <a:rPr b="1"/>
              <a:t>Don’t skip validation</a:t>
            </a:r>
            <a:r>
              <a:rPr/>
              <a:t> - Every command needs validation</a:t>
            </a:r>
          </a:p>
          <a:p>
            <a:pPr lvl="0" indent="-342900" marL="342900">
              <a:buAutoNum type="arabicPeriod"/>
            </a:pPr>
            <a:r>
              <a:rPr b="1"/>
              <a:t>Don’t fear some duplication</a:t>
            </a:r>
            <a:r>
              <a:rPr/>
              <a:t> - Better than tight coupling</a:t>
            </a:r>
          </a:p>
          <a:p>
            <a:pPr lvl="0" indent="-342900" marL="342900">
              <a:buAutoNum type="arabicPeriod"/>
            </a:pPr>
            <a:r>
              <a:rPr b="1"/>
              <a:t>Don’t mix CQRS with CRUD</a:t>
            </a:r>
            <a:r>
              <a:rPr/>
              <a:t> - Be consistent</a:t>
            </a:r>
          </a:p>
          <a:p>
            <a:pPr lvl="0" indent="-342900" marL="342900">
              <a:buAutoNum type="arabicPeriod"/>
            </a:pPr>
            <a:r>
              <a:rPr b="1"/>
              <a:t>Don’t nest features</a:t>
            </a:r>
            <a:r>
              <a:rPr/>
              <a:t> - Keep flat structure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Real-World Example: User Registration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Complete Feature Implementation</a:t>
            </a:r>
          </a:p>
          <a:p>
            <a:pPr lvl="0" indent="0" marL="0">
              <a:buNone/>
            </a:pPr>
            <a:r>
              <a:rPr b="1"/>
              <a:t>Files created:</a:t>
            </a:r>
          </a:p>
          <a:p>
            <a:pPr lvl="0" indent="0">
              <a:buNone/>
            </a:pPr>
            <a:r>
              <a:rPr>
                <a:latin typeface="Courier"/>
              </a:rPr>
              <a:t>/Features/UserRegistration/
  ├── RegisterUserCommand.cs        (12 lines)
  ├── RegisterUserHandler.cs        (87 lines)
  ├── RegisterUserValidator.cs      (24 lines)
  ├── RegistrationResult.cs         (8 lines)
  └── Extensions.cs                 (15 lines - DI setup)
/Api/Controllers/
  └── UserRegistrationController.cs (18 lines)
/Tests/Features/UserRegistration/
  ├── RegisterUserHandlerTests.cs   (156 lines - 8 tests)
  └── RegisterUserValidatorTests.cs (45 lines - 6 tests)</a:t>
            </a:r>
          </a:p>
          <a:p>
            <a:pPr lvl="0" indent="0" marL="0">
              <a:buNone/>
            </a:pPr>
            <a:r>
              <a:rPr b="1"/>
              <a:t>Total:</a:t>
            </a:r>
            <a:r>
              <a:rPr/>
              <a:t> 8 files, ~365 lines </a:t>
            </a:r>
            <a:r>
              <a:rPr b="1"/>
              <a:t>Development time:</a:t>
            </a:r>
            <a:r>
              <a:rPr/>
              <a:t> 3-4 hours for complete feature </a:t>
            </a:r>
            <a:r>
              <a:rPr b="1"/>
              <a:t>Test coverage:</a:t>
            </a:r>
            <a:r>
              <a:rPr/>
              <a:t> 94% </a:t>
            </a:r>
            <a:r>
              <a:rPr b="1"/>
              <a:t>Dependencies:</a:t>
            </a:r>
            <a:r>
              <a:rPr/>
              <a:t> 3 shared interfaces (IDbContext, IPasswordHasher, IEmailService)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We Delivered</a:t>
            </a:r>
          </a:p>
          <a:p>
            <a:pPr lvl="0" indent="0" marL="0">
              <a:buNone/>
            </a:pPr>
            <a:r>
              <a:rPr/>
              <a:t>✅ Email-based user registration with password ✅ Duplicate email prevention ✅ Password hashing (bcrypt) ✅ Welcome email on successful registration ✅ Input validation (email format, password strength) ✅ Comprehensive error handling ✅ Complete test coverage ✅ Production-ready code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Vertical Slice Promise</a:t>
            </a:r>
          </a:p>
          <a:p>
            <a:pPr lvl="0" indent="0" marL="0">
              <a:buNone/>
            </a:pPr>
            <a:r>
              <a:rPr b="1"/>
              <a:t>🎯 Organize by feature, not technical layer</a:t>
            </a:r>
          </a:p>
          <a:p>
            <a:pPr lvl="0" indent="0" marL="0">
              <a:buNone/>
            </a:pPr>
            <a:r>
              <a:rPr b="1"/>
              <a:t>📦 Complete features in self-contained folders</a:t>
            </a:r>
          </a:p>
          <a:p>
            <a:pPr lvl="0" indent="0" marL="0">
              <a:buNone/>
            </a:pPr>
            <a:r>
              <a:rPr b="1"/>
              <a:t>⚡ Faster development, easier maintenance</a:t>
            </a:r>
          </a:p>
          <a:p>
            <a:pPr lvl="0" indent="0" marL="0">
              <a:buNone/>
            </a:pPr>
            <a:r>
              <a:rPr b="1"/>
              <a:t>🧪 Better testability and quality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Getting Started</a:t>
            </a:r>
          </a:p>
          <a:p>
            <a:pPr lvl="0" indent="-342900" marL="342900">
              <a:buAutoNum type="arabicPeriod"/>
            </a:pPr>
            <a:r>
              <a:rPr b="1"/>
              <a:t>Learn the pattern</a:t>
            </a:r>
            <a:r>
              <a:rPr/>
              <a:t> - Understand Commands, Handlers, Validators</a:t>
            </a:r>
          </a:p>
          <a:p>
            <a:pPr lvl="0" indent="-342900" marL="342900">
              <a:buAutoNum type="arabicPeriod"/>
            </a:pPr>
            <a:r>
              <a:rPr b="1"/>
              <a:t>Start with one feature</a:t>
            </a:r>
            <a:r>
              <a:rPr/>
              <a:t> - Don’t rewrite everything at once</a:t>
            </a:r>
          </a:p>
          <a:p>
            <a:pPr lvl="0" indent="-342900" marL="342900">
              <a:buAutoNum type="arabicPeriod"/>
            </a:pPr>
            <a:r>
              <a:rPr b="1"/>
              <a:t>Follow the principles</a:t>
            </a:r>
            <a:r>
              <a:rPr/>
              <a:t> - Feature independence is critical</a:t>
            </a:r>
          </a:p>
          <a:p>
            <a:pPr lvl="0" indent="-342900" marL="342900">
              <a:buAutoNum type="arabicPeriod"/>
            </a:pPr>
            <a:r>
              <a:rPr b="1"/>
              <a:t>Test your handlers</a:t>
            </a:r>
            <a:r>
              <a:rPr/>
              <a:t> - They contain your business logic</a:t>
            </a:r>
          </a:p>
          <a:p>
            <a:pPr lvl="0" indent="-342900" marL="342900">
              <a:buAutoNum type="arabicPeriod"/>
            </a:pPr>
            <a:r>
              <a:rPr b="1"/>
              <a:t>Iterate and improve</a:t>
            </a:r>
            <a:r>
              <a:rPr/>
              <a:t> - Refine your patterns as you learn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Resources</a:t>
            </a:r>
          </a:p>
          <a:p>
            <a:pPr lvl="0"/>
            <a:r>
              <a:rPr b="1"/>
              <a:t>This repo:</a:t>
            </a:r>
            <a:r>
              <a:rPr/>
              <a:t> </a:t>
            </a:r>
            <a:r>
              <a:rPr>
                <a:latin typeface="Courier"/>
              </a:rPr>
              <a:t>.github/instructions/vertical-slice.instructions.md</a:t>
            </a:r>
          </a:p>
          <a:p>
            <a:pPr lvl="0"/>
            <a:r>
              <a:rPr b="1"/>
              <a:t>Example code:</a:t>
            </a:r>
            <a:r>
              <a:rPr/>
              <a:t> </a:t>
            </a:r>
            <a:r>
              <a:rPr>
                <a:latin typeface="Courier"/>
              </a:rPr>
              <a:t>/docs/vertical-slice-implementation.md</a:t>
            </a:r>
          </a:p>
          <a:p>
            <a:pPr lvl="0"/>
            <a:r>
              <a:rPr b="1"/>
              <a:t>MediatR:</a:t>
            </a:r>
            <a:r>
              <a:rPr/>
              <a:t> </a:t>
            </a:r>
            <a:r>
              <a:rPr>
                <a:hlinkClick r:id="rId3"/>
              </a:rPr>
              <a:t>github.com/jbogard/MediatR</a:t>
            </a:r>
          </a:p>
          <a:p>
            <a:pPr lvl="0"/>
            <a:r>
              <a:rPr b="1"/>
              <a:t>FluentValidation:</a:t>
            </a:r>
            <a:r>
              <a:rPr/>
              <a:t> </a:t>
            </a:r>
            <a:r>
              <a:rPr>
                <a:hlinkClick r:id="rId4"/>
              </a:rPr>
              <a:t>fluentvalidation.net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Let’s Discuss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What challenges do you face with your current architecture?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Which features in your codebase would benefit most from vertical slices?</a:t>
            </a:r>
          </a:p>
          <a:p>
            <a:pPr lvl="0" indent="0" marL="0">
              <a:buNone/>
            </a:pPr>
            <a:r>
              <a:rPr/>
              <a:t>💬 </a:t>
            </a:r>
            <a:r>
              <a:rPr b="1"/>
              <a:t>What concerns do you have about adopting this pattern?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Thank You!</a:t>
            </a:r>
          </a:p>
          <a:p>
            <a:pPr lvl="0" indent="0" marL="0">
              <a:buNone/>
            </a:pPr>
            <a:r>
              <a:rPr b="1"/>
              <a:t>Slides and code examples available at:</a:t>
            </a:r>
            <a:r>
              <a:rPr/>
              <a:t> 📂 </a:t>
            </a:r>
            <a:r>
              <a:rPr>
                <a:latin typeface="Courier"/>
              </a:rPr>
              <a:t>AI-Assisted-Software-Development/Slides/individual-slides/</a:t>
            </a:r>
            <a:r>
              <a:rPr/>
              <a:t> 📚 </a:t>
            </a:r>
            <a:r>
              <a:rPr>
                <a:latin typeface="Courier"/>
              </a:rPr>
              <a:t>AI-Assisted-Software-Development/docs/</a:t>
            </a:r>
          </a:p>
          <a:p>
            <a:pPr lvl="0" indent="0" marL="0">
              <a:buNone/>
            </a:pPr>
            <a:r>
              <a:rPr b="1"/>
              <a:t>Additional resources:</a:t>
            </a:r>
            <a:r>
              <a:rPr/>
              <a:t> 🔗 MediatR: </a:t>
            </a:r>
            <a:r>
              <a:rPr>
                <a:hlinkClick r:id="rId3"/>
              </a:rPr>
              <a:t>github.com/jbogard/MediatR</a:t>
            </a:r>
            <a:r>
              <a:rPr/>
              <a:t> 🔗 FluentValidation: </a:t>
            </a:r>
            <a:r>
              <a:rPr>
                <a:hlinkClick r:id="rId4"/>
              </a:rPr>
              <a:t>fluentvalidation.net</a:t>
            </a:r>
            <a:r>
              <a:rPr/>
              <a:t> 🔗 Vertical Slice Architecture Guide: </a:t>
            </a:r>
            <a:r>
              <a:rPr>
                <a:latin typeface="Courier"/>
              </a:rPr>
              <a:t>.github/instructions/vertical-slice.instructions.md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2026-02-08T06:09:19Z</dcterms:created>
  <dcterms:modified xsi:type="dcterms:W3CDTF">2026-02-08T06:09:19Z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_generated">
    <vt:lpwstr>True</vt:lpwstr>
  </property>
  <property fmtid="{D5CDD505-2E9C-101B-9397-08002B2CF9AE}" pid="3" name="ai_log">
    <vt:lpwstr>ai-logs/2026/02/07/vertical-slices-slides-20260207/conversation.md</vt:lpwstr>
  </property>
  <property fmtid="{D5CDD505-2E9C-101B-9397-08002B2CF9AE}" pid="4" name="chat_id">
    <vt:lpwstr>vertical-slices-slides-20260207</vt:lpwstr>
  </property>
  <property fmtid="{D5CDD505-2E9C-101B-9397-08002B2CF9AE}" pid="5" name="ended">
    <vt:lpwstr>2026-02-07T00:35:00Z</vt:lpwstr>
  </property>
  <property fmtid="{D5CDD505-2E9C-101B-9397-08002B2CF9AE}" pid="6" name="model">
    <vt:lpwstr>anthropic/claude-3.5-sonnet@2024-10-22</vt:lpwstr>
  </property>
  <property fmtid="{D5CDD505-2E9C-101B-9397-08002B2CF9AE}" pid="7" name="operator">
    <vt:lpwstr>johnmillerATcodemag-com</vt:lpwstr>
  </property>
  <property fmtid="{D5CDD505-2E9C-101B-9397-08002B2CF9AE}" pid="8" name="prompt">
    <vt:lpwstr>create a marp slide deck explain implementing using vertical slices</vt:lpwstr>
  </property>
  <property fmtid="{D5CDD505-2E9C-101B-9397-08002B2CF9AE}" pid="9" name="source">
    <vt:lpwstr>johnmillerATcodemag-com</vt:lpwstr>
  </property>
  <property fmtid="{D5CDD505-2E9C-101B-9397-08002B2CF9AE}" pid="10" name="started">
    <vt:lpwstr>2026-02-07T00:15:00Z</vt:lpwstr>
  </property>
  <property fmtid="{D5CDD505-2E9C-101B-9397-08002B2CF9AE}" pid="11" name="task_durations">
    <vt:lpwstr/>
  </property>
  <property fmtid="{D5CDD505-2E9C-101B-9397-08002B2CF9AE}" pid="12" name="total_duration">
    <vt:lpwstr>00:20:00</vt:lpwstr>
  </property>
</Properties>
</file>