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429" r:id="rId2"/>
    <p:sldId id="428" r:id="rId3"/>
    <p:sldId id="430" r:id="rId4"/>
    <p:sldId id="42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F5107-BB81-4069-B98C-4069B077BF4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FDF2B-15A7-42C7-9F6A-28EF6AEE8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summarizes the functional difference between the two instruction file types GitHub Copilot supports inside </a:t>
            </a:r>
            <a:r>
              <a:rPr>
                <a:latin typeface="Courier"/>
              </a:rPr>
              <a:t>.github/instructions/</a:t>
            </a:r>
            <a:r>
              <a:t>. Repo‑level </a:t>
            </a:r>
            <a:r>
              <a:rPr>
                <a:latin typeface="Courier"/>
              </a:rPr>
              <a:t>.md</a:t>
            </a:r>
            <a:r>
              <a:t> files are unconditional and always included. Scoped </a:t>
            </a:r>
            <a:r>
              <a:rPr>
                <a:latin typeface="Courier"/>
              </a:rPr>
              <a:t>.instructions.md</a:t>
            </a:r>
            <a:r>
              <a:t> files are conditional, support </a:t>
            </a:r>
            <a:r>
              <a:rPr>
                <a:latin typeface="Courier"/>
              </a:rPr>
              <a:t>applyTo</a:t>
            </a:r>
            <a:r>
              <a:t> and </a:t>
            </a:r>
            <a:r>
              <a:rPr>
                <a:latin typeface="Courier"/>
              </a:rPr>
              <a:t>exclude</a:t>
            </a:r>
            <a:r>
              <a:t>, and only activate when relevant. The decision rule gives teams a simple, auditable way to choose the correct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489C-7F4E-C54B-F41A-A076884DE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DC137-BAEC-9ED7-0FD9-AFCC97335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B40C2-23C7-D149-243B-0EC69386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D411-85E7-42DC-A7CB-34002515052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08F5C-505F-BDFB-12A3-3113BE79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8EF3B-78ED-3BD0-BE42-4C7DD4307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CECC-6C4F-481B-8D53-766D7970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11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46C44-6947-FFBD-1196-E2D2AF06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0E982-6D15-F781-499F-B7B765700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34ED9-7F24-202F-93CF-A1B4E04F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D411-85E7-42DC-A7CB-34002515052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FF07-E560-D542-36D7-65DF48AC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1E4F0-7095-55CB-737A-C2C3D1E06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CECC-6C4F-481B-8D53-766D7970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1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6DED-0D6C-996E-2BB2-2565E7902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50981-A3EE-6A71-EA78-03A9BE3B7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098F6-8C81-EF17-D984-7D02617E4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D411-85E7-42DC-A7CB-34002515052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38A34-D61B-2C11-5E18-43877AD7B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6B987-390B-C01B-3F7F-C0A6641D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CECC-6C4F-481B-8D53-766D7970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3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D2CE6-DCDD-1A19-E690-49ABF030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7DCCB-5DF1-ED86-64BD-87DBA2492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77344-B0B1-E5AF-1BDA-C7C4C1201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22E90-5984-3622-5874-117EFBCF6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D411-85E7-42DC-A7CB-34002515052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9F1FB-67C6-3727-50D2-E6312C76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6E434-B9E6-6A76-B699-B2A327BE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CECC-6C4F-481B-8D53-766D7970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F8355-E847-F463-1B50-3FE0EC0A0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EDC2D-46F9-4181-B2D2-84FEE82F6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1A14C-FD5D-49D4-7FAB-658F81C4B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76EEC-2F2C-E4EC-0A9B-6967521A8B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1D7D3D-7887-AA50-A40B-AF8BE60DA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92B656-F57D-5729-17BF-555991F45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D411-85E7-42DC-A7CB-34002515052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FC9797-9102-6995-9E60-5DEB3B61F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7022C-F07A-6EFC-B48A-1135E0EE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CECC-6C4F-481B-8D53-766D7970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87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7255-E094-B33B-E334-2EEA90FDB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5D1E3-1000-223C-325E-1C2A5964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D411-85E7-42DC-A7CB-34002515052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03585-B0EC-5C2A-AC7F-1F89309B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DEEEB-986F-7557-5294-3518A7F0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CECC-6C4F-481B-8D53-766D7970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5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859296-BBB1-2D01-B19B-60A0ED0D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D411-85E7-42DC-A7CB-34002515052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887D3-566B-099B-EE44-794CD6D0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20057-6D1C-9CC5-1496-C0768EFC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CECC-6C4F-481B-8D53-766D7970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83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9C1D-B372-C1FB-E68C-2C4EF388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77DC5-7B3F-8B61-1E37-03AC218A2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4C38C-7F63-AED9-B071-26E7D7F9D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3F056-B06B-2AE9-21B6-493BA7BF1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D411-85E7-42DC-A7CB-34002515052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0DA5B-4E95-09AF-EBBC-E9C2B16C1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CFEB9-F1BA-BE35-614F-FD626EBF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CECC-6C4F-481B-8D53-766D7970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4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B0B8-5F18-4D06-EE9C-D68D71452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F987D-D597-359D-AE6B-33172E979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B2399-4688-F6DD-F4E0-FE04C7691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D245A-F06E-4436-318E-31F50EE6F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D411-85E7-42DC-A7CB-34002515052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C5A6A-2D48-B657-D76F-4124355A8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3A960-4F1E-85AA-159D-B8957529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CECC-6C4F-481B-8D53-766D7970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2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EAA3-3BAB-8353-137E-1F54E27C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3270B-5DA1-7EC7-2467-EB5043CE6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0C16A-FF7F-A158-A6A1-02FC64A3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D411-85E7-42DC-A7CB-34002515052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8C050-CAE9-906F-AF9D-443E5F6F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C8F3-51C8-49B9-DD13-6CFA845B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CECC-6C4F-481B-8D53-766D7970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1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7E2907-793C-3070-2931-89A818850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1740A-69F9-DB22-A5B6-109C98EA8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3D1B5-DDC3-26E8-7ABB-3BDB0EF8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D411-85E7-42DC-A7CB-34002515052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65754-CDE3-8C7F-9AA5-6F15015C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9DEB6-6548-851D-F946-707328BF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CECC-6C4F-481B-8D53-766D7970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00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32405-0CEA-167C-D89F-8C965C441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DFB4C-335E-DA67-04DE-D2BAE6FB3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7832B-DA84-844F-95ED-C5A56A533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5ED411-85E7-42DC-A7CB-34002515052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FE60D-6ADC-F41D-B0F8-2CB5657AB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1BBF8-2FDA-28E4-12E0-364C730E5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5CECC-6C4F-481B-8D53-766D7970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4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Scoped </a:t>
            </a:r>
            <a:r>
              <a:rPr b="1">
                <a:latin typeface="Courier"/>
              </a:rPr>
              <a:t>&lt;name&gt;.instructions.md</a:t>
            </a:r>
            <a:r>
              <a:rPr b="1"/>
              <a:t>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Apply </a:t>
            </a:r>
            <a:r>
              <a:rPr b="1"/>
              <a:t>only</a:t>
            </a:r>
            <a:r>
              <a:t> when </a:t>
            </a:r>
            <a:r>
              <a:rPr>
                <a:latin typeface="Courier"/>
              </a:rPr>
              <a:t>applyTo</a:t>
            </a:r>
            <a:r>
              <a:t> matches</a:t>
            </a:r>
          </a:p>
          <a:p>
            <a:pPr lvl="0"/>
            <a:r>
              <a:t>Can </a:t>
            </a:r>
            <a:r>
              <a:rPr b="1"/>
              <a:t>exclude</a:t>
            </a:r>
            <a:r>
              <a:t> paths</a:t>
            </a:r>
          </a:p>
          <a:p>
            <a:pPr lvl="0"/>
            <a:r>
              <a:t>For </a:t>
            </a:r>
            <a:r>
              <a:rPr b="1"/>
              <a:t>language-, framework-, or domain‑specific rules</a:t>
            </a:r>
          </a:p>
          <a:p>
            <a:pPr lvl="0"/>
            <a:r>
              <a:t>Ideal for precision control</a:t>
            </a:r>
          </a:p>
          <a:p>
            <a:pPr lvl="0"/>
            <a:r>
              <a:t>Best for </a:t>
            </a:r>
            <a:r>
              <a:rPr b="1"/>
              <a:t>targeted, contextual guidance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Repo‑level </a:t>
            </a:r>
            <a:r>
              <a:rPr b="1">
                <a:latin typeface="Courier"/>
              </a:rPr>
              <a:t>.md</a:t>
            </a:r>
            <a:r>
              <a:rPr b="1"/>
              <a:t>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Apply </a:t>
            </a:r>
            <a:r>
              <a:rPr b="1"/>
              <a:t>everywhere</a:t>
            </a:r>
            <a:r>
              <a:t> in the repo</a:t>
            </a:r>
          </a:p>
          <a:p>
            <a:pPr lvl="0"/>
            <a:r>
              <a:t>Always included</a:t>
            </a:r>
          </a:p>
          <a:p>
            <a:pPr lvl="0"/>
            <a:r>
              <a:t>For </a:t>
            </a:r>
            <a:r>
              <a:rPr b="1"/>
              <a:t>universal rules</a:t>
            </a:r>
            <a:r>
              <a:t>: style, security, logging, architecture</a:t>
            </a:r>
          </a:p>
          <a:p>
            <a:pPr lvl="0"/>
            <a:r>
              <a:t>No </a:t>
            </a:r>
            <a:r>
              <a:rPr>
                <a:latin typeface="Courier"/>
              </a:rPr>
              <a:t>applyTo</a:t>
            </a:r>
            <a:r>
              <a:t> / </a:t>
            </a:r>
            <a:r>
              <a:rPr>
                <a:latin typeface="Courier"/>
              </a:rPr>
              <a:t>exclude</a:t>
            </a:r>
            <a:r>
              <a:t> support</a:t>
            </a:r>
          </a:p>
          <a:p>
            <a:pPr lvl="0"/>
            <a:r>
              <a:t>Best for </a:t>
            </a:r>
            <a:r>
              <a:rPr b="1"/>
              <a:t>global, evergreen guidance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Decision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If it should apply </a:t>
            </a:r>
            <a:r>
              <a:rPr b="1"/>
              <a:t>repo‑wide</a:t>
            </a:r>
            <a:r>
              <a:t> → use </a:t>
            </a:r>
            <a:r>
              <a:rPr>
                <a:latin typeface="Courier"/>
              </a:rPr>
              <a:t>.md</a:t>
            </a:r>
          </a:p>
          <a:p>
            <a:pPr lvl="0"/>
            <a:r>
              <a:t>If it should apply </a:t>
            </a:r>
            <a:r>
              <a:rPr b="1"/>
              <a:t>only in certain paths</a:t>
            </a:r>
            <a:r>
              <a:t> → use </a:t>
            </a:r>
            <a:r>
              <a:rPr>
                <a:latin typeface="Courier"/>
              </a:rPr>
              <a:t>.instructions.md</a:t>
            </a:r>
          </a:p>
          <a:p>
            <a:pPr lvl="0"/>
            <a:r>
              <a:t>If you need </a:t>
            </a:r>
            <a:r>
              <a:rPr b="1"/>
              <a:t>exclusions</a:t>
            </a:r>
            <a:r>
              <a:t> → must use </a:t>
            </a:r>
            <a:r>
              <a:rPr>
                <a:latin typeface="Courier"/>
              </a:rPr>
              <a:t>.instructions.md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28405-DFBE-6AC5-0B29-A799746C4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exclude: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A1EE5-F536-F18C-AF3F-87D46000E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applyTo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 - "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/**“</a:t>
            </a:r>
          </a:p>
          <a:p>
            <a:pPr marL="0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exclude:</a:t>
            </a:r>
          </a:p>
          <a:p>
            <a:pPr marL="0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 - "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/experimental/**“</a:t>
            </a:r>
          </a:p>
          <a:p>
            <a:pPr marL="0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 - "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/legacy/*.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js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269675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206</Words>
  <Application>Microsoft Office PowerPoint</Application>
  <PresentationFormat>Widescreen</PresentationFormat>
  <Paragraphs>24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Cascadia Code</vt:lpstr>
      <vt:lpstr>Courier</vt:lpstr>
      <vt:lpstr>Office Theme</vt:lpstr>
      <vt:lpstr>Scoped &lt;name&gt;.instructions.md files</vt:lpstr>
      <vt:lpstr>Repo‑level .md files</vt:lpstr>
      <vt:lpstr>Decision Rule</vt:lpstr>
      <vt:lpstr>exclude: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2026-03-31T03:20:51Z</dcterms:created>
  <dcterms:modified xsi:type="dcterms:W3CDTF">2026-03-31T03:23:30Z</dcterms:modified>
</cp:coreProperties>
</file>