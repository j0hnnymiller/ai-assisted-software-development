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3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  <p14:sectionLst xmlns:p14="http://schemas.microsoft.com/office/powerpoint/2010/main">
    <p14:section name="Intro" id="2726081251">
      <p14:sldIdLst>
        <p14:sldId id="256"/>
        <p14:sldId id="257"/>
        <p14:sldId id="258"/>
        <p14:sldId id="259"/>
        <p14:sldId id="260"/>
      </p14:sldIdLst>
    </p14:section>
    <p14:section name="Module 1 - AIASD" id="73967469">
      <p14:sldIdLst>
        <p14:sldId id="261"/>
        <p14:sldId id="262"/>
        <p14:sldId id="263"/>
        <p14:sldId id="264"/>
        <p14:sldId id="265"/>
        <p14:sldId id="266"/>
        <p14:sldId id="267"/>
        <p14:sldId id="268"/>
        <p14:sldId id="269"/>
        <p14:sldId id="270"/>
        <p14:sldId id="271"/>
        <p14:sldId id="272"/>
        <p14:sldId id="273"/>
        <p14:sldId id="274"/>
        <p14:sldId id="275"/>
        <p14:sldId id="276"/>
        <p14:sldId id="277"/>
        <p14:sldId id="278"/>
        <p14:sldId id="279"/>
        <p14:sldId id="280"/>
        <p14:sldId id="281"/>
        <p14:sldId id="282"/>
        <p14:sldId id="283"/>
        <p14:sldId id="284"/>
        <p14:sldId id="285"/>
        <p14:sldId id="286"/>
        <p14:sldId id="287"/>
        <p14:sldId id="288"/>
        <p14:sldId id="289"/>
      </p14:sldIdLst>
    </p14:section>
    <p14:section name="Module 2 - Intro to Copilot" id="3156110570">
      <p14:sldIdLst>
        <p14:sldId id="290"/>
        <p14:sldId id="291"/>
        <p14:sldId id="292"/>
        <p14:sldId id="293"/>
        <p14:sldId id="294"/>
        <p14:sldId id="295"/>
        <p14:sldId id="296"/>
        <p14:sldId id="297"/>
        <p14:sldId id="298"/>
        <p14:sldId id="299"/>
        <p14:sldId id="300"/>
        <p14:sldId id="301"/>
        <p14:sldId id="302"/>
        <p14:sldId id="303"/>
        <p14:sldId id="304"/>
      </p14:sldIdLst>
    </p14:section>
    <p14:section name="Module 3 - Vibbing" id="3997344085">
      <p14:sldIdLst>
        <p14:sldId id="305"/>
        <p14:sldId id="306"/>
        <p14:sldId id="307"/>
        <p14:sldId id="308"/>
        <p14:sldId id="309"/>
        <p14:sldId id="310"/>
        <p14:sldId id="311"/>
        <p14:sldId id="312"/>
        <p14:sldId id="313"/>
        <p14:sldId id="314"/>
        <p14:sldId id="315"/>
        <p14:sldId id="316"/>
        <p14:sldId id="317"/>
        <p14:sldId id="318"/>
        <p14:sldId id="319"/>
        <p14:sldId id="320"/>
        <p14:sldId id="321"/>
        <p14:sldId id="322"/>
        <p14:sldId id="323"/>
        <p14:sldId id="324"/>
        <p14:sldId id="325"/>
        <p14:sldId id="326"/>
        <p14:sldId id="327"/>
        <p14:sldId id="328"/>
        <p14:sldId id="329"/>
        <p14:sldId id="330"/>
        <p14:sldId id="331"/>
        <p14:sldId id="332"/>
        <p14:sldId id="333"/>
        <p14:sldId id="334"/>
        <p14:sldId id="335"/>
        <p14:sldId id="336"/>
        <p14:sldId id="337"/>
        <p14:sldId id="338"/>
        <p14:sldId id="339"/>
        <p14:sldId id="340"/>
        <p14:sldId id="341"/>
        <p14:sldId id="342"/>
        <p14:sldId id="343"/>
        <p14:sldId id="344"/>
        <p14:sldId id="345"/>
        <p14:sldId id="346"/>
        <p14:sldId id="347"/>
        <p14:sldId id="348"/>
        <p14:sldId id="349"/>
        <p14:sldId id="350"/>
        <p14:sldId id="351"/>
        <p14:sldId id="352"/>
        <p14:sldId id="353"/>
        <p14:sldId id="354"/>
        <p14:sldId id="355"/>
        <p14:sldId id="356"/>
        <p14:sldId id="357"/>
        <p14:sldId id="358"/>
        <p14:sldId id="359"/>
        <p14:sldId id="360"/>
        <p14:sldId id="361"/>
        <p14:sldId id="362"/>
        <p14:sldId id="363"/>
      </p14:sldIdLst>
    </p14:section>
    <p14:section name="Module 4 - Adding AI Guardrails" id="1512240909">
      <p14:sldIdLst>
        <p14:sldId id="364"/>
        <p14:sldId id="365"/>
        <p14:sldId id="366"/>
        <p14:sldId id="367"/>
        <p14:sldId id="368"/>
        <p14:sldId id="369"/>
        <p14:sldId id="370"/>
        <p14:sldId id="371"/>
        <p14:sldId id="372"/>
        <p14:sldId id="373"/>
        <p14:sldId id="374"/>
        <p14:sldId id="375"/>
        <p14:sldId id="376"/>
        <p14:sldId id="377"/>
        <p14:sldId id="378"/>
        <p14:sldId id="379"/>
        <p14:sldId id="380"/>
        <p14:sldId id="381"/>
        <p14:sldId id="382"/>
        <p14:sldId id="383"/>
        <p14:sldId id="384"/>
        <p14:sldId id="385"/>
        <p14:sldId id="386"/>
        <p14:sldId id="387"/>
        <p14:sldId id="388"/>
        <p14:sldId id="389"/>
        <p14:sldId id="390"/>
        <p14:sldId id="391"/>
        <p14:sldId id="392"/>
        <p14:sldId id="393"/>
        <p14:sldId id="394"/>
        <p14:sldId id="395"/>
        <p14:sldId id="396"/>
        <p14:sldId id="397"/>
        <p14:sldId id="398"/>
        <p14:sldId id="399"/>
        <p14:sldId id="400"/>
        <p14:sldId id="401"/>
        <p14:sldId id="402"/>
        <p14:sldId id="403"/>
        <p14:sldId id="404"/>
        <p14:sldId id="405"/>
        <p14:sldId id="406"/>
        <p14:sldId id="407"/>
        <p14:sldId id="408"/>
        <p14:sldId id="409"/>
        <p14:sldId id="410"/>
        <p14:sldId id="411"/>
        <p14:sldId id="412"/>
        <p14:sldId id="413"/>
        <p14:sldId id="414"/>
        <p14:sldId id="415"/>
        <p14:sldId id="416"/>
        <p14:sldId id="417"/>
        <p14:sldId id="418"/>
        <p14:sldId id="419"/>
      </p14:sldIdLst>
    </p14:section>
    <p14:section name="Module 5 - Managing Context" id="899616849">
      <p14:sldIdLst>
        <p14:sldId id="420"/>
        <p14:sldId id="421"/>
        <p14:sldId id="422"/>
        <p14:sldId id="423"/>
        <p14:sldId id="424"/>
        <p14:sldId id="425"/>
        <p14:sldId id="426"/>
        <p14:sldId id="427"/>
        <p14:sldId id="428"/>
        <p14:sldId id="429"/>
        <p14:sldId id="430"/>
        <p14:sldId id="431"/>
        <p14:sldId id="432"/>
        <p14:sldId id="433"/>
        <p14:sldId id="434"/>
      </p14:sldIdLst>
    </p14:section>
  </p14:section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8B12"/>
    <a:srgbClr val="8E1416"/>
    <a:srgbClr val="922123"/>
    <a:srgbClr val="AA8200"/>
    <a:srgbClr val="DEAA00"/>
    <a:srgbClr val="007FB1"/>
    <a:srgbClr val="38955A"/>
    <a:srgbClr val="920000"/>
    <a:srgbClr val="212121"/>
    <a:srgbClr val="2C4D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63597" autoAdjust="0"/>
  </p:normalViewPr>
  <p:slideViewPr>
    <p:cSldViewPr snapToGrid="0" showGuides="1">
      <p:cViewPr varScale="1">
        <p:scale>
          <a:sx n="70" d="100"/>
          <a:sy n="70" d="100"/>
        </p:scale>
        <p:origin x="717" y="36"/>
      </p:cViewPr>
      <p:guideLst/>
    </p:cSldViewPr>
  </p:slideViewPr>
  <p:outlineViewPr>
    <p:cViewPr>
      <p:scale>
        <a:sx n="33" d="100"/>
        <a:sy n="33" d="100"/>
      </p:scale>
      <p:origin x="0" y="-161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7355B-E5B2-6E48-8859-C40F7DC7FE0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1DA66-BB00-F84C-BB6F-3E6E140CF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45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Slides\individual-slides\welcome-to-aiasd.md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Slides\individual-slides\john-michael-miller-intro.md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Slides\individual-slides\introductions.md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Slides\individual-slides\about-code.md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Slides\individual-slides\daily-themes.md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Auto-generated section header slide to announce the section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Auto-generated section agenda slide listing slide titles from manifest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Slides\individual-slides\whats-the-big-deal.md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Slides\individual-slides\whats-the-big-deal.md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Slides\individual-slides\whats-the-big-deal.md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Slides\individual-slides\whats-the-big-deal.md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Slides\individual-slides\whats-the-big-deal.md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Slides\individual-slides\whats-the-big-deal.md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Slides\individual-slides\whats-the-big-deal.md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Slides\individual-slides\whats-the-big-deal.md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Slides\individual-slides\whats-the-big-deal.md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Slides\individual-slides\whats-the-big-deal.md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Slides\individual-slides\whats-the-big-deal.md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Slides\individual-slides\whats-the-big-deal.md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Slides\individual-slides\whats-the-big-deal.md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Slides\individual-slides\whats-the-big-deal.md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Slides\individual-slides\whats-the-big-deal.md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Slides\individual-slides\the-ai-revolution.md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Slides\individual-slides\the-ai-revolution.md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Slides\individual-slides\the-ai-revolution.md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Slides\individual-slides\the-ai-revolution.md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Slides\individual-slides\the-ai-revolution.md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Slides\individual-slides\the-ai-revolution.md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Slides\individual-slides\the-ai-revolution.md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Slides\individual-slides\the-ai-revolution.md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Slides\individual-slides\the-ai-revolution.md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Slides\individual-slides\the-ai-revolution.md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Slides\individual-slides\the-ai-revolution.md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Auto-generated section header slide to announce the section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Auto-generated section agenda slide listing slide titles from manifest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Slides\individual-slides\repository-and-tool-setup.md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Slides\individual-slides\repository-and-tool-setup.md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Slides\individual-slides\repository-and-tool-setup.md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Slides\individual-slides\repository-and-tool-setup.md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Slides\individual-slides\hands-on-with-github-copilot-vs-code.md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Slides\individual-slides\hands-on-with-github-copilot-vs-code.md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Slides\individual-slides\hands-on-with-github-copilot-vs-code.md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Slides\individual-slides\hands-on-with-github-copilot-vs-code.md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Slides\individual-slides\hands-on-with-github-copilot-vs-code.md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Slides\individual-slides\hands-on-with-github-copilot-vs-code.md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Slides\individual-slides\hands-on-with-github-copilot-vs-code.md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Slides\individual-slides\hands-on-with-github-copilot-vs-code.md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Auto-generated section header slide to announce the section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Auto-generated section agenda slide listing slide titles from manifest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Slides\individual-slides\vibe-coding.md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Slides\individual-slides\exercise-calculator-project.md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Slides\individual-slides\exercise-calculator-project.md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Slides\individual-slides\exercise-calculator-project.md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Slides\individual-slides\exercise-calculator-project.md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Slides\individual-slides\exercise-calculator-project.md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Slides\individual-slides\exercise-calculator-project.md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Slides\individual-slides\exercise-calculator-project.md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Slides\individual-slides\exercise-calculator-project.md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Slides\individual-slides\exercise-calculator-project.md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Slides\individual-slides\exercise-calculator-project.md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Slides\individual-slides\exercise-calculator-project.md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Slides\individual-slides\exercise-calculator-project.md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Slides\individual-slides\exercise-calculator-project.md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Slides\individual-slides\exercise-calculator-project.md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Slides\individual-slides\exercise-calculator-project.md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Slides\individual-slides\exercise-calculator-project.md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Slides\individual-slides\exercise-calculator-project.md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Slides\individual-slides\exercise-calculator-project.md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Slides\individual-slides\exercise-test-coverage-improvement.md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Slides\individual-slides\exercise-test-driven-development.md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Slides\individual-slides\ai-assisted-cicd-pipelines.md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Slides\individual-slides\ai-assisted-cicd-pipelines.md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Slides\individual-slides\ai-assisted-cicd-pipelines.md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Slides\individual-slides\ai-assisted-cicd-pipelines.md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Slides\individual-slides\ai-assisted-cicd-pipelines.md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Slides\individual-slides\ai-assisted-cicd-pipelines.md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Slides\individual-slides\ai-assisted-cicd-pipelines.md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Slides\individual-slides\ai-assisted-cicd-pipelines.md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Slides\individual-slides\ai-assisted-cicd-pipelines.md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Slides\individual-slides\ai-assisted-cicd-pipelines.md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Slides\individual-slides\ai-assisted-cicd-pipelines.md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Slides\individual-slides\ai-assisted-cicd-pipelines.md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Slides\individual-slides\ai-assisted-cicd-pipelines.md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Slides\individual-slides\ai-assisted-github-pull-requests.md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Slides\individual-slides\ai-assisted-github-pull-requests.md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Slides\individual-slides\ai-assisted-github-pull-requests.md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Slides\individual-slides\ai-assisted-github-pull-requests.md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Slides\individual-slides\ai-assisted-github-pull-requests.md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Slides\individual-slides\ai-assisted-github-pull-requests.md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Slides\individual-slides\ai-assisted-github-pull-requests.md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Slides\individual-slides\ai-assisted-github-pull-requests.md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Slides\individual-slides\ai-assisted-github-pull-requests.md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Slides\individual-slides\ai-assisted-github-pull-requests.md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Slides\individual-slides\ai-assisted-github-pull-requests.md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Slides\individual-slides\ai-assisted-github-pull-requests.md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Slides\individual-slides\multi‑model-implementation-comparison.md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Slides\individual-slides\multi‑model-implementation-comparison.md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Slides\individual-slides\multi‑model-implementation-comparison.md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Slides\individual-slides\multi‑model-implementation-comparison.md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Slides\individual-slides\multi‑model-implementation-comparison.md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Slides\individual-slides\multi‑model-implementation-comparison.md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Slides\individual-slides\multi‑model-implementation-comparison.md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Slides\individual-slides\multi‑model-implementation-comparison.md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Slides\individual-slides\evergreen-software-core-principles.md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Slides\individual-slides\evergreen-software-core-principles.md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Auto-generated section header slide to announce the section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Auto-generated section agenda slide listing slide titles from manifest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Slides\individual-slides\adding-ai-guardrails.md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Slides\individual-slides\instruction-file-applyto-patterns.md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Slides\individual-slides\instruction-file-applyto-patterns.md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Slides\individual-slides\instruction-file-applyto-patterns.md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Slides\individual-slides\instruction-file-applyto-patterns.md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Slides\individual-slides\instruction-file-applyto-patterns.md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Slides\individual-slides\instruction-file-applyto-patterns.md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Slides\individual-slides\instruction-file-applyto-patterns.md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Slides\individual-slides\instruction-file-applyto-patterns.md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Slides\individual-slides\instruction-file-applyto-patterns.md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Slides\individual-slides\instruction-file-applyto-patterns.md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Slides\individual-slides\instruction-file-applyto-patterns.md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Slides\individual-slides\instruction-file-applyto-patterns.md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Slides\individual-slides\instruction-file-applyto-patterns.md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Slides\individual-slides\instruction-file-applyto-patterns.md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Slides\individual-slides\instruction-file-applyto-patterns.md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Slides\individual-slides\instruction-file-applyto-patterns.md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Slides\individual-slides\core-instruction-files.md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Slides\individual-slides\organizational-vs-repository-instruction-files.md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Slides\individual-slides\organizational-vs-repository-instruction-files.md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Slides\individual-slides\organizational-vs-repository-instruction-files.md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Slides\individual-slides\organizational-vs-repository-instruction-files.md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Slides\individual-slides\organizational-vs-repository-instruction-files.md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Slides\individual-slides\organizational-vs-repository-instruction-files.md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Slides\individual-slides\organizational-vs-repository-instruction-files.md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Slides\individual-slides\exercise-technology-inventory-instructions.md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Auto-generated section header slide to announce the section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Auto-generated section agenda slide listing slide titles from manifest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Slides\individual-slides\managing-github-copilot-effectively.md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Slides\individual-slides\managing-github-copilot-effectively.md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Slides\individual-slides\managing-github-copilot-effectively.md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Slides\individual-slides\managing-github-copilot-effectively.md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Slides\individual-slides\managing-github-copilot-effectively.md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Slides\individual-slides\managing-instruction-files-context-windows.md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Slides\individual-slides\managing-instruction-files-context-windows.md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Slides\individual-slides\managing-instruction-files-context-windows.md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Slides\individual-slides\managing-instruction-files-context-windows.md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Slides\individual-slides\managing-instruction-files-context-windows.md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Slides\individual-slides\managing-instruction-files-context-windows.md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Slides\individual-slides\managing-instruction-files-context-windows.md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5D4979-0E48-181C-5438-B441393DCA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F10DC-7230-4581-E771-A51DC87C601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4437" y="1238105"/>
            <a:ext cx="3578217" cy="128815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427347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58740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8295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318506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978330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3089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21016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545636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F1C99E23-E5F1-1D9C-BF82-D83E6E9F13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113" y="2433638"/>
            <a:ext cx="10391774" cy="379095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3708861-970C-B5DB-BF46-526E75A04C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444625"/>
            <a:ext cx="10391774" cy="6492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182745761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11342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7AB04E-CD14-3B5B-FB56-FF0AC2426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873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876091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C53BF9-6377-93D8-5BD7-30937619B4E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163BC-C951-C17F-421A-4AD743EDDB2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10016117" y="424540"/>
            <a:ext cx="1783676" cy="64361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0584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97" r:id="rId3"/>
    <p:sldLayoutId id="2147483746" r:id="rId4"/>
    <p:sldLayoutId id="2147483784" r:id="rId5"/>
    <p:sldLayoutId id="2147483747" r:id="rId6"/>
    <p:sldLayoutId id="2147483748" r:id="rId7"/>
    <p:sldLayoutId id="2147483792" r:id="rId8"/>
    <p:sldLayoutId id="2147483749" r:id="rId9"/>
    <p:sldLayoutId id="2147483750" r:id="rId10"/>
    <p:sldLayoutId id="2147483751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AI Assisted Software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Code to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John Michael Miller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Principal Software Engineer at CODE</a:t>
            </a:r>
          </a:p>
          <a:p>
            <a:r>
              <a:t>Played roles of developer, architect, devops engineer, platform engineer, test architect, release manager</a:t>
            </a:r>
          </a:p>
          <a:p>
            <a:r>
              <a:t>AI/ML Enthusiast and advocate for effectively using AI to write code</a:t>
            </a:r>
          </a:p>
          <a:p/>
          <a:p>
            <a:pPr/>
            <a:r>
              <a:t>LinkedIn: www.linkedin.com/in/johnmichaelmiller</a:t>
            </a:r>
          </a:p>
          <a:p>
            <a:pPr/>
            <a:r>
              <a:t>Email: john.miller@codemag.com</a:t>
            </a:r>
          </a:p>
          <a:p>
            <a:pPr/>
            <a:r>
              <a:t>Blog: codemag.com/blog/AIPractitioner</a:t>
            </a:r>
          </a:p>
          <a:p>
            <a:pPr/>
            <a:r>
              <a:t>AI Practitioner Resources: codemag.com/aipractitioner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t>Who you are</a:t>
            </a:r>
          </a:p>
          <a:p>
            <a:pPr/>
            <a:r>
              <a:t>Who do you work for</a:t>
            </a:r>
          </a:p>
          <a:p>
            <a:pPr/>
            <a:r>
              <a:t>What you do</a:t>
            </a:r>
          </a:p>
          <a:p>
            <a:pPr/>
            <a:r>
              <a:t>What you’ve done with AI tools</a:t>
            </a:r>
          </a:p>
          <a:p>
            <a:pPr/>
            <a:r>
              <a:t>What you want to 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COD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Themes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96"/>
                      </a:pPr>
                      <a: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96"/>
                      </a:pPr>
                      <a:r>
                        <a:t>Theme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Guardrails, Instructions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Tuesday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Guardrails, Prompts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Wednesday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Guardrails, Agents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Thursday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Assisted Brownfield Software Development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Assisted Greenfield Software Development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t>Intro</a:t>
            </a:r>
          </a:p>
          <a:p>
            <a:pPr/>
            <a:r>
              <a:rPr b="1"/>
              <a:t>▶ Module 1 - AIASD</a:t>
            </a:r>
          </a:p>
          <a:p>
            <a:pPr/>
            <a:r>
              <a:t>Module 2 - Intro to Copilot</a:t>
            </a:r>
          </a:p>
          <a:p>
            <a:pPr/>
            <a:r>
              <a:t>Module 3 - Vibbing</a:t>
            </a:r>
          </a:p>
          <a:p>
            <a:pPr/>
            <a:r>
              <a:t>Module 4 - Adding AI Guardrails</a:t>
            </a:r>
          </a:p>
          <a:p>
            <a:pPr/>
            <a:r>
              <a:t>Module 5 - Managing Context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1 - AIASD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1 - AIASD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t>WTBD - The Core Thesis</a:t>
            </a:r>
          </a:p>
          <a:p>
            <a:pPr/>
            <a:r>
              <a:t>The AI Revolution?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WTBD - The Core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&gt; "Programming hasn't changed, but how we go about it has changed, again."</a:t>
            </a:r>
          </a:p>
          <a:p/>
          <a:p>
            <a:pPr/>
            <a:r>
              <a:t>AI-assisted development is </a:t>
            </a:r>
            <a:r>
              <a:rPr b="1"/>
              <a:t>evolutionary</a:t>
            </a:r>
            <a:r>
              <a:t>, not revolutionary</a:t>
            </a:r>
          </a:p>
          <a:p>
            <a:pPr/>
            <a:r>
              <a:t>Programming has always been about </a:t>
            </a:r>
            <a:r>
              <a:rPr b="1"/>
              <a:t>expressing human intent</a:t>
            </a:r>
            <a:r>
              <a:t> to machines</a:t>
            </a:r>
          </a:p>
          <a:p>
            <a:pPr/>
            <a:r>
              <a:t>What changes is the </a:t>
            </a:r>
            <a:r>
              <a:rPr b="1"/>
              <a:t>sophistication of our tools</a:t>
            </a:r>
            <a:r>
              <a:t> for expressing intent</a:t>
            </a:r>
          </a:p>
          <a:p>
            <a:pPr/>
            <a:r>
              <a:t>The essence remains: bridging the gap between what we want and what machines can 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Brief History: Machine Code &amp; Assembly (1940s)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rPr b="1"/>
              <a:t>Machine Code</a:t>
            </a:r>
            <a:r>
              <a:t>: Raw binary language executed directly by hardware</a:t>
            </a:r>
          </a:p>
          <a:p>
            <a:pPr/>
            <a:r>
              <a:rPr b="1"/>
              <a:t>Physical Programming</a:t>
            </a:r>
            <a:r>
              <a:t>:</a:t>
            </a:r>
          </a:p>
          <a:p>
            <a:r>
              <a:t>  - Flipping panel switches</a:t>
            </a:r>
          </a:p>
          <a:p>
            <a:r>
              <a:t>  - Plugging cables</a:t>
            </a:r>
          </a:p>
          <a:p>
            <a:r>
              <a:t>  - Feeding punched cards into IBM readers</a:t>
            </a:r>
          </a:p>
          <a:p>
            <a:r>
              <a:t>  - Threading perforated paper tape</a:t>
            </a:r>
          </a:p>
          <a:p/>
          <a:p>
            <a:r>
              <a:rPr b="1"/>
              <a:t>Assembly Language</a:t>
            </a:r>
            <a:r>
              <a:t>: Introduced symbolic mnemonics (MOV, ADD, JMP)</a:t>
            </a:r>
          </a:p>
          <a:p/>
          <a:p>
            <a:pPr/>
            <a:r>
              <a:rPr b="1"/>
              <a:t>Enabling Technology</a:t>
            </a:r>
            <a:r>
              <a:t>: Assemblers that translated mnemonics into machine code</a:t>
            </a:r>
          </a:p>
          <a:p>
            <a:pPr/>
            <a:r>
              <a:t>Still mainstream today in embedded systems and OS kernels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Languages (1950s-1970s)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The Abstraction Revolution</a:t>
            </a:r>
            <a:r>
              <a:t>:</a:t>
            </a:r>
          </a:p>
          <a:p/>
          <a:p>
            <a:pPr/>
            <a:r>
              <a:t>Math-like and business-oriented syntax</a:t>
            </a:r>
          </a:p>
          <a:p>
            <a:pPr/>
            <a:r>
              <a:rPr b="1"/>
              <a:t>Enabling Technologies</a:t>
            </a:r>
            <a:r>
              <a:t>: Compilers and interpreters</a:t>
            </a:r>
          </a:p>
          <a:p/>
          <a:p>
            <a:r>
              <a:rPr b="1"/>
              <a:t>Key Languages</a:t>
            </a:r>
            <a:r>
              <a:t>:</a:t>
            </a:r>
          </a:p>
          <a:p/>
          <a:p>
            <a:pPr/>
            <a:r>
              <a:rPr b="1"/>
              <a:t>FORTRAN (1957)</a:t>
            </a:r>
            <a:r>
              <a:t>: Pioneered scientific programming</a:t>
            </a:r>
          </a:p>
          <a:p>
            <a:pPr/>
            <a:r>
              <a:rPr b="1"/>
              <a:t>COBOL (1959)</a:t>
            </a:r>
            <a:r>
              <a:t>: Mainstream in business and government</a:t>
            </a:r>
          </a:p>
          <a:p>
            <a:pPr/>
            <a:r>
              <a:rPr b="1"/>
              <a:t>C (1972)</a:t>
            </a:r>
            <a:r>
              <a:t>: Spread with UNIX thanks to portable compilers</a:t>
            </a:r>
          </a:p>
          <a:p/>
          <a:p>
            <a:r>
              <a:rPr b="1"/>
              <a:t>Sensory Shift</a:t>
            </a:r>
            <a:r>
              <a:t>: From mechanical card punches to typewriter-style terminals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&amp; Object-Oriented Programming (1970s-1980s)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Focus</a:t>
            </a:r>
            <a:r>
              <a:t>: Modularity, reuse, and abstraction</a:t>
            </a:r>
          </a:p>
          <a:p/>
          <a:p>
            <a:r>
              <a:rPr b="1"/>
              <a:t>Key Developments</a:t>
            </a:r>
            <a:r>
              <a:t>:</a:t>
            </a:r>
          </a:p>
          <a:p/>
          <a:p>
            <a:pPr/>
            <a:r>
              <a:rPr b="1"/>
              <a:t>Pascal (1970)</a:t>
            </a:r>
            <a:r>
              <a:t>: Structured paradigms with compiler innovations</a:t>
            </a:r>
          </a:p>
          <a:p>
            <a:pPr/>
            <a:r>
              <a:rPr b="1"/>
              <a:t>C++ (1985)</a:t>
            </a:r>
            <a:r>
              <a:t>: Object-oriented compilers supporting inheritance and polymorphism</a:t>
            </a:r>
          </a:p>
          <a:p/>
          <a:p>
            <a:r>
              <a:rPr b="1"/>
              <a:t>Enabling Technologies</a:t>
            </a:r>
            <a:r>
              <a:t>:</a:t>
            </a:r>
          </a:p>
          <a:p/>
          <a:p>
            <a:pPr/>
            <a:r>
              <a:t>Advanced compiler innovations</a:t>
            </a:r>
          </a:p>
          <a:p>
            <a:pPr/>
            <a:r>
              <a:t>Support for inheritance and polymorphism</a:t>
            </a:r>
          </a:p>
          <a:p/>
          <a:p>
            <a:r>
              <a:rPr b="1"/>
              <a:t>Era Experience</a:t>
            </a:r>
            <a:r>
              <a:t>: CRT monitors with green text, floppy disks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IDEs &amp; Libraries (1990s)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The Integration Era</a:t>
            </a:r>
            <a:r>
              <a:t>:</a:t>
            </a:r>
          </a:p>
          <a:p/>
          <a:p>
            <a:pPr/>
            <a:r>
              <a:rPr b="1"/>
              <a:t>IDEs</a:t>
            </a:r>
            <a:r>
              <a:t>: Combined compilers, debuggers, and editors in graphical interfaces</a:t>
            </a:r>
          </a:p>
          <a:p>
            <a:pPr/>
            <a:r>
              <a:rPr b="1"/>
              <a:t>Visual Studio</a:t>
            </a:r>
            <a:r>
              <a:t>: Enabled by faster processors and GUI toolkits</a:t>
            </a:r>
          </a:p>
          <a:p>
            <a:pPr/>
            <a:r>
              <a:rPr b="1"/>
              <a:t>Java &amp; JVM (1995)</a:t>
            </a:r>
            <a:r>
              <a:t>: "Write once, run anywhere"</a:t>
            </a:r>
          </a:p>
          <a:p>
            <a:pPr/>
            <a:r>
              <a:rPr b="1"/>
              <a:t>Reusable Libraries</a:t>
            </a:r>
            <a:r>
              <a:t>: Abstracted common functionality</a:t>
            </a:r>
          </a:p>
          <a:p/>
          <a:p>
            <a:r>
              <a:rPr b="1"/>
              <a:t>Enabling Technologies</a:t>
            </a:r>
            <a:r>
              <a:t>:</a:t>
            </a:r>
          </a:p>
          <a:p/>
          <a:p>
            <a:pPr/>
            <a:r>
              <a:t>Faster processors, GUI toolkits, extensible plug-in architectures</a:t>
            </a:r>
          </a:p>
          <a:p>
            <a:pPr/>
            <a:r>
              <a:t>Virtual machines</a:t>
            </a:r>
          </a:p>
          <a:p/>
          <a:p>
            <a:r>
              <a:rPr b="1"/>
              <a:t>Experience</a:t>
            </a:r>
            <a:r>
              <a:t>: Mouse clicks, drag-and-drop, desktop computing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&amp; Scripting Languages (Late 1990s-2000s)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The Dynamic Web Era</a:t>
            </a:r>
            <a:r>
              <a:t>:</a:t>
            </a:r>
          </a:p>
          <a:p/>
          <a:p>
            <a:pPr/>
            <a:r>
              <a:rPr b="1"/>
              <a:t>JavaScript (1995)</a:t>
            </a:r>
            <a:r>
              <a:t>: Powered by Netscape, later V8 engine (2008)</a:t>
            </a:r>
          </a:p>
          <a:p>
            <a:pPr/>
            <a:r>
              <a:rPr b="1"/>
              <a:t>Python</a:t>
            </a:r>
            <a:r>
              <a:t>: Web development in 2000s, data science dominance</a:t>
            </a:r>
          </a:p>
          <a:p>
            <a:pPr/>
            <a:r>
              <a:rPr b="1"/>
              <a:t>Ruby on Rails (2004)</a:t>
            </a:r>
            <a:r>
              <a:t>: Abstracted web complexity</a:t>
            </a:r>
          </a:p>
          <a:p/>
          <a:p>
            <a:r>
              <a:rPr b="1"/>
              <a:t>Enabling Technologies</a:t>
            </a:r>
            <a:r>
              <a:t>:</a:t>
            </a:r>
          </a:p>
          <a:p/>
          <a:p>
            <a:pPr/>
            <a:r>
              <a:t>Browser engines, dynamic interpreters, frameworks</a:t>
            </a:r>
          </a:p>
          <a:p>
            <a:pPr/>
            <a:r>
              <a:t>Eclipse IDE (2001)</a:t>
            </a:r>
          </a:p>
          <a:p/>
          <a:p>
            <a:r>
              <a:rPr b="1"/>
              <a:t>Experience</a:t>
            </a:r>
            <a:r>
              <a:t>: Portable coding on laptops, coffee shop programming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Cloud, APIs &amp; Low-Code Platforms (2010s)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The Orchestration Era</a:t>
            </a:r>
            <a:r>
              <a:t>:</a:t>
            </a:r>
          </a:p>
          <a:p/>
          <a:p>
            <a:pPr/>
            <a:r>
              <a:rPr b="1"/>
              <a:t>Cloud Computing</a:t>
            </a:r>
            <a:r>
              <a:t>: Virtualization and containerization (Docker, Kubernetes)</a:t>
            </a:r>
          </a:p>
          <a:p>
            <a:pPr/>
            <a:r>
              <a:rPr b="1"/>
              <a:t>APIs</a:t>
            </a:r>
            <a:r>
              <a:t>: REST and GraphQL enabled modular integration</a:t>
            </a:r>
          </a:p>
          <a:p>
            <a:pPr/>
            <a:r>
              <a:rPr b="1"/>
              <a:t>Low-Code Platforms</a:t>
            </a:r>
            <a:r>
              <a:t>: Mendix, OutSystems, PowerApps with visual compilers</a:t>
            </a:r>
          </a:p>
          <a:p/>
          <a:p>
            <a:r>
              <a:rPr b="1"/>
              <a:t>Transformation</a:t>
            </a:r>
            <a:r>
              <a:t>: Programming shifted from hardware-bound tasks to orchestration</a:t>
            </a:r>
          </a:p>
          <a:p/>
          <a:p>
            <a:r>
              <a:rPr b="1"/>
              <a:t>Experience</a:t>
            </a:r>
            <a:r>
              <a:t>: Browser dashboards, swiping, clicking, dragging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Modern Mainstream Coding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Intent Interpretation</a:t>
            </a:r>
            <a:r>
              <a:t>:</a:t>
            </a:r>
          </a:p>
          <a:p/>
          <a:p>
            <a:pPr/>
            <a:r>
              <a:t>Developers express intent in higher-level languages, frameworks, and APIs</a:t>
            </a:r>
          </a:p>
          <a:p>
            <a:pPr/>
            <a:r>
              <a:t>Compilers, interpreters, and VMs translate intent into executable code</a:t>
            </a:r>
          </a:p>
          <a:p>
            <a:pPr/>
            <a:r>
              <a:t>Libraries and cloud services provide ready-made building blocks</a:t>
            </a:r>
          </a:p>
          <a:p>
            <a:pPr/>
            <a:r>
              <a:t>Less about micromanaging hardware, more about shaping logic and workflows</a:t>
            </a:r>
          </a:p>
          <a:p/>
          <a:p>
            <a:r>
              <a:rPr b="1"/>
              <a:t>The Core</a:t>
            </a:r>
            <a:r>
              <a:t>: Bridging human goals with machine execution through layers of abstraction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AI-Assisted Coding (Present/Future)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The Natural Language Era</a:t>
            </a:r>
            <a:r>
              <a:t>:</a:t>
            </a:r>
          </a:p>
          <a:p/>
          <a:p>
            <a:r>
              <a:rPr b="1"/>
              <a:t>Enabling Technologies</a:t>
            </a:r>
            <a:r>
              <a:t>:</a:t>
            </a:r>
          </a:p>
          <a:p/>
          <a:p>
            <a:pPr/>
            <a:r>
              <a:t>Large language models trained on vast code repositories</a:t>
            </a:r>
          </a:p>
          <a:p>
            <a:pPr/>
            <a:r>
              <a:t>Contextual intent recognition</a:t>
            </a:r>
          </a:p>
          <a:p>
            <a:pPr/>
            <a:r>
              <a:t>IDE integration</a:t>
            </a:r>
          </a:p>
          <a:p/>
          <a:p>
            <a:r>
              <a:rPr b="1"/>
              <a:t>The Paradigm Shift</a:t>
            </a:r>
            <a:r>
              <a:t>: Programming becomes </a:t>
            </a:r>
            <a:r>
              <a:rPr b="1"/>
              <a:t>dialogue</a:t>
            </a:r>
          </a:p>
          <a:p/>
          <a:p>
            <a:pPr/>
            <a:r>
              <a:t>Express goals in plain language</a:t>
            </a:r>
          </a:p>
          <a:p>
            <a:pPr/>
            <a:r>
              <a:t>AI generates code, tests, and documentation</a:t>
            </a:r>
          </a:p>
          <a:p>
            <a:pPr/>
            <a:r>
              <a:t>Example: "Create a function that validates email addresses" → Complete implementation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Natural Language Coding: The Game Changer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Responsibility Shift</a:t>
            </a:r>
            <a:r>
              <a:t>:</a:t>
            </a:r>
          </a:p>
          <a:p/>
          <a:p>
            <a:pPr/>
            <a:r>
              <a:t>Previously: Coder translates intent into executable code</a:t>
            </a:r>
          </a:p>
          <a:p>
            <a:pPr/>
            <a:r>
              <a:t>Now: Intent expressed in natural language, AI interprets and generates</a:t>
            </a:r>
          </a:p>
          <a:p/>
          <a:p>
            <a:r>
              <a:rPr b="1"/>
              <a:t>New Role of Programmer</a:t>
            </a:r>
            <a:r>
              <a:t>:</a:t>
            </a:r>
          </a:p>
          <a:p/>
          <a:p>
            <a:pPr/>
            <a:r>
              <a:rPr b="1"/>
              <a:t>Curator of context</a:t>
            </a:r>
          </a:p>
          <a:p>
            <a:pPr/>
            <a:r>
              <a:rPr b="1"/>
              <a:t>Validator of output</a:t>
            </a:r>
          </a:p>
          <a:p>
            <a:pPr/>
            <a:r>
              <a:rPr b="1"/>
              <a:t>Steward of alignment</a:t>
            </a:r>
            <a:r>
              <a:t> between human goals and machine behavior</a:t>
            </a:r>
          </a:p>
          <a:p/>
          <a:p>
            <a:r>
              <a:rPr b="1"/>
              <a:t>Boundary Movement</a:t>
            </a:r>
            <a:r>
              <a:t>: Between domain expertise and implementation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Understands Intent—Not Just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Beyond Parsing</a:t>
            </a:r>
            <a:r>
              <a:t>: AI understands what you mean</a:t>
            </a:r>
          </a:p>
          <a:p/>
          <a:p>
            <a:pPr/>
            <a:r>
              <a:t>"Make this faster" → Performance optimizations</a:t>
            </a:r>
          </a:p>
          <a:p>
            <a:pPr/>
            <a:r>
              <a:t>"Add error handling" → Proper exception management</a:t>
            </a:r>
          </a:p>
          <a:p>
            <a:pPr/>
            <a:r>
              <a:t>"Log the output" → Appropriate logging implementation</a:t>
            </a:r>
          </a:p>
          <a:p/>
          <a:p>
            <a:r>
              <a:rPr b="1"/>
              <a:t>New Interaction Modes</a:t>
            </a:r>
            <a:r>
              <a:t>:</a:t>
            </a:r>
          </a:p>
          <a:p/>
          <a:p>
            <a:pPr/>
            <a:r>
              <a:t>Sketches and examples as expressions of intent</a:t>
            </a:r>
          </a:p>
          <a:p>
            <a:pPr/>
            <a:r>
              <a:t>Test cases and bug reports → Code generation</a:t>
            </a:r>
          </a:p>
          <a:p>
            <a:pPr/>
            <a:r>
              <a:t>Conversational iteration like human collaboration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It's Just Another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Historical Perspective</a:t>
            </a:r>
            <a:r>
              <a:t>:</a:t>
            </a:r>
          </a:p>
          <a:p/>
          <a:p>
            <a:pPr/>
            <a:r>
              <a:rPr b="1"/>
              <a:t>IDEs</a:t>
            </a:r>
            <a:r>
              <a:t>: Auto-complete and debugging</a:t>
            </a:r>
          </a:p>
          <a:p>
            <a:pPr/>
            <a:r>
              <a:rPr b="1"/>
              <a:t>Libraries</a:t>
            </a:r>
            <a:r>
              <a:t>: Reusable components</a:t>
            </a:r>
          </a:p>
          <a:p>
            <a:pPr/>
            <a:r>
              <a:rPr b="1"/>
              <a:t>AI</a:t>
            </a:r>
            <a:r>
              <a:t>: Intelligent scaffolding, pattern recognition, code generation</a:t>
            </a:r>
          </a:p>
          <a:p/>
          <a:p>
            <a:r>
              <a:rPr b="1"/>
              <a:t>Reality Check</a:t>
            </a:r>
            <a:r>
              <a:t>:</a:t>
            </a:r>
          </a:p>
          <a:p/>
          <a:p>
            <a:pPr/>
            <a:r>
              <a:t>AI is not replacing developers</a:t>
            </a:r>
          </a:p>
          <a:p>
            <a:pPr/>
            <a:r>
              <a:t>It's helping them move faster and think bigger</a:t>
            </a:r>
          </a:p>
          <a:p>
            <a:pPr/>
            <a:r>
              <a:t>Following the same pattern as previous innovations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Still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Unchanged Responsibilities</a:t>
            </a:r>
            <a:r>
              <a:t>:</a:t>
            </a:r>
          </a:p>
          <a:p/>
          <a:p>
            <a:pPr/>
            <a:r>
              <a:rPr b="1"/>
              <a:t>Testing, review, and validation</a:t>
            </a:r>
            <a:r>
              <a:t> still required</a:t>
            </a:r>
          </a:p>
          <a:p>
            <a:pPr/>
            <a:r>
              <a:rPr b="1"/>
              <a:t>Architecture, correctness, security, ethics</a:t>
            </a:r>
            <a:r>
              <a:t> remain developer duties</a:t>
            </a:r>
          </a:p>
          <a:p>
            <a:pPr/>
            <a:r>
              <a:t>Critical thinking is still essential</a:t>
            </a:r>
          </a:p>
          <a:p/>
          <a:p>
            <a:r>
              <a:rPr b="1"/>
              <a:t>What Changed</a:t>
            </a:r>
            <a:r>
              <a:t>: How we express our goals</a:t>
            </a:r>
          </a:p>
          <a:p>
            <a:r>
              <a:rPr b="1"/>
              <a:t>What Didn't Change</a:t>
            </a:r>
            <a:r>
              <a:t>: Whether we need to think critically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Is Still Intent-Driven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Continuity</a:t>
            </a:r>
            <a:r>
              <a:t>:</a:t>
            </a:r>
          </a:p>
          <a:p/>
          <a:p>
            <a:pPr/>
            <a:r>
              <a:t>Core goal remains: getting computers to do what we need</a:t>
            </a:r>
          </a:p>
          <a:p>
            <a:pPr/>
            <a:r>
              <a:t>Instead of writing/debugging code → creating prompts and refining context</a:t>
            </a:r>
          </a:p>
          <a:p>
            <a:pPr/>
            <a:r>
              <a:t>Same learning curve pattern as all previous improvements</a:t>
            </a:r>
          </a:p>
          <a:p/>
          <a:p>
            <a:r>
              <a:rPr b="1"/>
              <a:t>Essential Truth</a:t>
            </a:r>
            <a:r>
              <a:t>: AI assistance is just another improvement in the long line of programming evolution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The Fundamental Truth</a:t>
            </a:r>
            <a:r>
              <a:t>:</a:t>
            </a:r>
          </a:p>
          <a:p/>
          <a:p>
            <a:pPr/>
            <a:r>
              <a:t>Programming has </a:t>
            </a:r>
            <a:r>
              <a:rPr b="1"/>
              <a:t>always</a:t>
            </a:r>
            <a:r>
              <a:t> been about translating human intent into machine action</a:t>
            </a:r>
          </a:p>
          <a:p>
            <a:pPr/>
            <a:r>
              <a:t>From punch cards to Python to AI prompts—the core challenge remains unchanged</a:t>
            </a:r>
          </a:p>
          <a:p>
            <a:pPr/>
            <a:r>
              <a:t>What evolves is not the essence of programming, but the sophistication of our tools</a:t>
            </a:r>
          </a:p>
          <a:p/>
          <a:p>
            <a:r>
              <a:rPr b="1"/>
              <a:t>AI's Role</a:t>
            </a:r>
            <a:r>
              <a:t>:</a:t>
            </a:r>
          </a:p>
          <a:p/>
          <a:p>
            <a:pPr/>
            <a:r>
              <a:t>Latest chapter in the ongoing story</a:t>
            </a:r>
          </a:p>
          <a:p>
            <a:pPr/>
            <a:r>
              <a:t>More intuitive ways to communicate with computers</a:t>
            </a:r>
          </a:p>
          <a:p>
            <a:pPr/>
            <a:r>
              <a:t>Preserves essential human responsibilities: design, validation, ethical oversight</a:t>
            </a:r>
          </a:p>
          <a:p/>
          <a:p>
            <a:r>
              <a:rPr b="1"/>
              <a:t>The Future</a:t>
            </a:r>
            <a:r>
              <a:t>: Not abandoning programming, but refining it—making it more accessible and efficient while keeping human creativity and judgment at the center.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Revolution?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What hasn't changed and what has.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“Programming hasn’t changed, but how we go about it has changed, again.”</a:t>
            </a:r>
          </a:p>
          <a:p>
            <a:r>
              <a:t>AI-assisted development is evolutionary, not revolutionary</a:t>
            </a:r>
          </a:p>
          <a:p>
            <a:r>
              <a:t>Programming has always been about expressing human intent to machines</a:t>
            </a:r>
          </a:p>
          <a:p>
            <a:r>
              <a:t>What changes is the sophistication of our tools for expressing intent</a:t>
            </a:r>
          </a:p>
          <a:p>
            <a:r>
              <a:t>The essence remains: bridging the gap between what we want and what machines can do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AI Assisted 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If used effectively, it will give you superpowers</a:t>
            </a:r>
          </a:p>
          <a:p/>
          <a:p>
            <a:pPr/>
            <a:r>
              <a:t>The courage to</a:t>
            </a:r>
          </a:p>
          <a:p>
            <a:r>
              <a:t>  - Take on codebases that few would touch</a:t>
            </a:r>
          </a:p>
          <a:p>
            <a:r>
              <a:t>  - Use technologies you should know but don’t</a:t>
            </a:r>
          </a:p>
          <a:p>
            <a:r>
              <a:t>  - Write more high-quality code than you have ever written before</a:t>
            </a:r>
          </a:p>
          <a:p>
            <a:r>
              <a:t>  - Take on the nice to haves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AI‑First &amp; Prompt‑First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AI‑First Development</a:t>
            </a:r>
          </a:p>
          <a:p>
            <a:r>
              <a:t>A software engineering philosophy where AI is embedded across the entire SDLC–requirements, design, implementation, testing, documentation, compliance, and maintenance.</a:t>
            </a:r>
          </a:p>
          <a:p>
            <a:r>
              <a:t>Prompt‑First Development</a:t>
            </a:r>
          </a:p>
          <a:p>
            <a:r>
              <a:t>A workflow pattern where prompts, instruction files, and chat modes are treated as first‑class, version‑controlled artifacts.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Each Optimizes For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96"/>
                      </a:pPr>
                      <a:r>
                        <a:t>Focus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96"/>
                      </a:pPr>
                      <a:r>
                        <a:t>AI‑First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96"/>
                      </a:pPr>
                      <a:r>
                        <a:t>Prompt‑First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Entire SDLC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Interaction layer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Lifecycle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Deterministic AI behavior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Velocity,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quality, reproducibility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Risk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Human‑in‑loop, provenance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Versioned prompts, context control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They Treat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AI‑First</a:t>
            </a:r>
          </a:p>
          <a:p>
            <a:r>
              <a:t>Requirements written with AI collaboration in mind</a:t>
            </a:r>
          </a:p>
          <a:p>
            <a:r>
              <a:t>AI‑generated scaffolds, tests, docs</a:t>
            </a:r>
          </a:p>
          <a:p>
            <a:r>
              <a:t>Provenance enforced across all AI outputs</a:t>
            </a:r>
          </a:p>
          <a:p>
            <a:r>
              <a:t>Architecture assumes AI participation</a:t>
            </a:r>
          </a:p>
          <a:p>
            <a:r>
              <a:t>Prompt‑First</a:t>
            </a:r>
          </a:p>
          <a:p>
            <a:r>
              <a:t>Prompts and instruction files are version‑controlled</a:t>
            </a:r>
          </a:p>
          <a:p>
            <a:r>
              <a:t>Prompts define behavioral contracts</a:t>
            </a:r>
          </a:p>
          <a:p>
            <a:r>
              <a:t>Reusable prompt modules</a:t>
            </a:r>
          </a:p>
          <a:p>
            <a:r>
              <a:t>Chat modes define safe, predictable interactions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Between the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Prompt‑First is a subset of AI‑First.</a:t>
            </a:r>
          </a:p>
          <a:p>
            <a:r>
              <a:t>Prompt‑First = mechanics</a:t>
            </a:r>
          </a:p>
          <a:p>
            <a:r>
              <a:t>AI‑First = philosophy + architecture + lifecycle integration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First 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Building software where AI is a core capability, not an add‑on</a:t>
            </a:r>
          </a:p>
          <a:p>
            <a:r>
              <a:t>Why AI‑First</a:t>
            </a:r>
          </a:p>
          <a:p/>
          <a:p>
            <a:pPr/>
            <a:r>
              <a:t>Software requirements increasingly expressed in natural language</a:t>
            </a:r>
          </a:p>
          <a:p>
            <a:pPr/>
            <a:r>
              <a:t>AI copilots accelerate architecture, coding, testing, and documentation</a:t>
            </a:r>
          </a:p>
          <a:p>
            <a:pPr/>
            <a:r>
              <a:t>Teams shift from “writing code” to “designing intent + validating outputs”</a:t>
            </a:r>
          </a:p>
          <a:p>
            <a:r>
              <a:t>  Core Principles</a:t>
            </a:r>
          </a:p>
          <a:p>
            <a:pPr/>
            <a:r>
              <a:t>Prompt‑First Design: Requirements, architecture, and workflows expressed as structured prompts</a:t>
            </a:r>
          </a:p>
          <a:p>
            <a:pPr/>
            <a:r>
              <a:t>AI‑Native Architecture: Modular services, clear boundaries, deterministic interfaces for AI‑generated components</a:t>
            </a:r>
          </a:p>
          <a:p>
            <a:pPr/>
            <a:r>
              <a:t>Human‑in‑the‑Loop: Review, validation, and traceability baked into every stage</a:t>
            </a:r>
          </a:p>
          <a:p>
            <a:pPr/>
            <a:r>
              <a:t>Continuous Verification: Automated tests, static analysis, and guardrails to ensure safe outputs</a:t>
            </a:r>
          </a:p>
          <a:p>
            <a:pPr/>
            <a:r>
              <a:t>Lifecycle Governance: Versioning, provenance, and risk‑based controls for AI‑generated artifacts</a:t>
            </a:r>
          </a:p>
          <a:p>
            <a:r>
              <a:t>  Outcomes</a:t>
            </a:r>
          </a:p>
          <a:p>
            <a:pPr/>
            <a:r>
              <a:t>Faster iteration cycles</a:t>
            </a:r>
          </a:p>
          <a:p>
            <a:pPr/>
            <a:r>
              <a:t>Higher coverage of documentation and tests</a:t>
            </a:r>
          </a:p>
          <a:p>
            <a:pPr/>
            <a:r>
              <a:t>Reduced cognitive load on developers</a:t>
            </a:r>
          </a:p>
          <a:p>
            <a:pPr/>
            <a:r>
              <a:t>More resilient, adaptable systems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Prompt‑First 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Design the intent first — let AI generate the implementation</a:t>
            </a:r>
          </a:p>
          <a:p>
            <a:r>
              <a:t>Why Prompt‑First</a:t>
            </a:r>
          </a:p>
          <a:p/>
          <a:p>
            <a:pPr/>
            <a:r>
              <a:t>Behaviors, and constraints expressed in structured natural language</a:t>
            </a:r>
          </a:p>
          <a:p>
            <a:pPr/>
            <a:r>
              <a:t>Prompts become the new “source of truth” artifacts</a:t>
            </a:r>
          </a:p>
          <a:p>
            <a:pPr/>
            <a:r>
              <a:t>Teams shift from writing functions to defining outcomes, invariants, and interfaces</a:t>
            </a:r>
          </a:p>
          <a:p>
            <a:r>
              <a:t>  Core Practices</a:t>
            </a:r>
          </a:p>
          <a:p>
            <a:pPr/>
            <a:r>
              <a:t>Structured Prompts: Use templates for features, APIs, data models, tests, and refactors</a:t>
            </a:r>
          </a:p>
          <a:p>
            <a:pPr/>
            <a:r>
              <a:t>Instruction Files: Persistent, versioned artifacts guiding AI code generation</a:t>
            </a:r>
          </a:p>
          <a:p>
            <a:pPr/>
            <a:r>
              <a:t>Deterministic Boundaries: Clear module contracts so AI‑generated code stays predictable</a:t>
            </a:r>
          </a:p>
          <a:p>
            <a:pPr/>
            <a:r>
              <a:t>Validation Loops: Automated tests + human review ensure correctness and safety</a:t>
            </a:r>
          </a:p>
          <a:p>
            <a:pPr/>
            <a:r>
              <a:t>Prompt Versioning: Track evolution of intent just like code changes</a:t>
            </a:r>
          </a:p>
          <a:p>
            <a:r>
              <a:t>  Benefits</a:t>
            </a:r>
          </a:p>
          <a:p>
            <a:pPr/>
            <a:r>
              <a:t>Faster iteration from idea → working software</a:t>
            </a:r>
          </a:p>
          <a:p>
            <a:pPr/>
            <a:r>
              <a:t>Higher consistency across generated components</a:t>
            </a:r>
          </a:p>
          <a:p>
            <a:pPr/>
            <a:r>
              <a:t>Reduced cognitive load on developers</a:t>
            </a:r>
          </a:p>
          <a:p>
            <a:pPr/>
            <a:r>
              <a:t>Better alignment between business intent and implementation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**Concrete Examples**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Prompt‑First Example</a:t>
            </a:r>
          </a:p>
          <a:p/>
          <a:p>
            <a:pPr/>
            <a:r>
              <a:t>Promptfile for generating unit tests</a:t>
            </a:r>
          </a:p>
          <a:p>
            <a:pPr/>
            <a:r>
              <a:t>Instruction file for documentation</a:t>
            </a:r>
          </a:p>
          <a:p>
            <a:pPr/>
            <a:r>
              <a:t>Chat mode for brownfield developers</a:t>
            </a:r>
          </a:p>
          <a:p/>
          <a:p>
            <a:r>
              <a:rPr b="1"/>
              <a:t>AI‑First Example</a:t>
            </a:r>
          </a:p>
          <a:p/>
          <a:p>
            <a:pPr/>
            <a:r>
              <a:t>Requirements → AI‑generated scaffolds</a:t>
            </a:r>
          </a:p>
          <a:p>
            <a:pPr/>
            <a:r>
              <a:t>Code changes → AI‑assisted reviews</a:t>
            </a:r>
          </a:p>
          <a:p>
            <a:pPr/>
            <a:r>
              <a:t>Docs → continuously AI‑generated</a:t>
            </a:r>
          </a:p>
          <a:p>
            <a:pPr/>
            <a:r>
              <a:t>Modernization → AI‑guided refactoring plans</a:t>
            </a:r>
          </a:p>
          <a:p>
            <a:pPr/>
            <a:r>
              <a:t>Provenance → enforced everywhere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**Shortest Summary**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rPr b="1"/>
              <a:t>AI‑First = philosophy + architecture + lifecycle integration</a:t>
            </a:r>
          </a:p>
          <a:p>
            <a:pPr/>
            <a:r>
              <a:rPr b="1"/>
              <a:t>Prompt‑First = structured, version‑controlled interfaces for interacting with AI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t>Intro</a:t>
            </a:r>
          </a:p>
          <a:p>
            <a:pPr/>
            <a:r>
              <a:t>Module 1 - AIASD</a:t>
            </a:r>
          </a:p>
          <a:p>
            <a:pPr/>
            <a:r>
              <a:rPr b="1"/>
              <a:t>▶ Module 2 - Intro to Copilot</a:t>
            </a:r>
          </a:p>
          <a:p>
            <a:pPr/>
            <a:r>
              <a:t>Module 3 - Vibbing</a:t>
            </a:r>
          </a:p>
          <a:p>
            <a:pPr/>
            <a:r>
              <a:t>Module 4 - Adding AI Guardrails</a:t>
            </a:r>
          </a:p>
          <a:p>
            <a:pPr/>
            <a:r>
              <a:t>Module 5 - Managing Context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2 - Intro to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2 - Intro to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t>Repository and Tool Setup</a:t>
            </a:r>
          </a:p>
          <a:p>
            <a:pPr/>
            <a:r>
              <a:t>Hands-On with GitHub Copilot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and Tool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Cloning course repository</a:t>
            </a:r>
          </a:p>
          <a:p>
            <a:r>
              <a:t>GitHub authentication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Lab: Clone the AI-Assisted-Software-Development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10 minutes</a:t>
            </a:r>
          </a:p>
          <a:p>
            <a:r>
              <a:t>Prerequisites: Git, GitHub account</a:t>
            </a:r>
          </a:p>
          <a:p>
            <a:r>
              <a:t>Objectives</a:t>
            </a:r>
          </a:p>
          <a:p>
            <a:r>
              <a:t>Fork the AI-Assisted-Software-Development repo</a:t>
            </a:r>
          </a:p>
          <a:p>
            <a:r>
              <a:t>Activities</a:t>
            </a:r>
          </a:p>
          <a:p>
            <a:r>
              <a:t>Clone the git@github.com:johnmillerATcodemag-com/AI-Assisted-Software-Development.gitrepository</a:t>
            </a:r>
          </a:p>
          <a:p>
            <a:r>
              <a:t>Switch to the brownfield branch</a:t>
            </a:r>
          </a:p>
          <a:p>
            <a:r>
              <a:t>Success Criteria</a:t>
            </a:r>
          </a:p>
          <a:p>
            <a:r>
              <a:t>Cloned repository exists locally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Fork the AIASD-20260209-BF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20 minutes</a:t>
            </a:r>
          </a:p>
          <a:p>
            <a:r>
              <a:t>Objectives: Explore an unfamiliar codebase</a:t>
            </a:r>
          </a:p>
          <a:p>
            <a:r>
              <a:t>Activities</a:t>
            </a:r>
          </a:p>
          <a:p>
            <a:r>
              <a:t>Fork this repo https://github.com/j0hnnymiller/AIASD-20260209-BF.git</a:t>
            </a:r>
          </a:p>
          <a:p>
            <a:r>
              <a:t>Clone the forked repo</a:t>
            </a:r>
          </a:p>
          <a:p>
            <a:r>
              <a:t>Create a GitHub PAT https://github.com/settings/tokens</a:t>
            </a:r>
          </a:p>
          <a:p>
            <a:r>
              <a:t>Store the PAT in the GITHUB_TOKEN environment variable</a:t>
            </a:r>
          </a:p>
          <a:p>
            <a:r>
              <a:t>Success Criteria</a:t>
            </a:r>
          </a:p>
          <a:p>
            <a:r>
              <a:t>Repo is available locally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Fork the repos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Objective: Fork the course repos</a:t>
            </a:r>
          </a:p>
          <a:p>
            <a:r>
              <a:t>Search GitHub for</a:t>
            </a:r>
          </a:p>
          <a:p>
            <a:pPr/>
            <a:r>
              <a:t>AI-Assisted-Software-Development</a:t>
            </a:r>
          </a:p>
          <a:p>
            <a:pPr/>
            <a:r>
              <a:t>zeus.academia.3b</a:t>
            </a:r>
          </a:p>
          <a:p>
            <a:r>
              <a:t>Fork the repos</a:t>
            </a:r>
          </a:p>
          <a:p>
            <a:pPr/>
            <a:r>
              <a:t>This will create a personal copy under your GitHub account</a:t>
            </a:r>
          </a:p>
          <a:p>
            <a:pPr/>
            <a:r>
              <a:t>You can make changes without affecting the original repo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with GitHub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Installation and configuration</a:t>
            </a:r>
          </a:p>
          <a:p>
            <a:pPr/>
            <a:r>
              <a:t>Installing the extension</a:t>
            </a:r>
          </a:p>
          <a:p>
            <a:pPr/>
            <a:r>
              <a:t>Setting up authentication</a:t>
            </a:r>
          </a:p>
          <a:p>
            <a:pPr/>
            <a:r>
              <a:t>Configuring settings</a:t>
            </a:r>
          </a:p>
          <a:p>
            <a:r>
              <a:t>Sharing configuration across an organization</a:t>
            </a:r>
          </a:p>
          <a:p>
            <a:pPr/>
            <a:r>
              <a:t>Shared configuration templates (e.g., .copilot/settings.json) can be distributed across projects to standardize behavior.</a:t>
            </a:r>
          </a:p>
          <a:p>
            <a:r>
              <a:t>https://www.codemag.com/Blog/AI/AIASD-install-guide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Lab: Getting Started with GitHub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Follow along</a:t>
            </a:r>
          </a:p>
          <a:p>
            <a:r>
              <a:t>Objectives</a:t>
            </a:r>
          </a:p>
          <a:p>
            <a:r>
              <a:t>Install and configure GitHub Copilot</a:t>
            </a:r>
          </a:p>
          <a:p>
            <a:r>
              <a:t>Verify authentication with GitHub account</a:t>
            </a:r>
          </a:p>
          <a:p>
            <a:r>
              <a:t>Explore the Copilot UI components</a:t>
            </a:r>
          </a:p>
          <a:p>
            <a:r>
              <a:t>Activities</a:t>
            </a:r>
          </a:p>
          <a:p>
            <a:r>
              <a:t>Install GitHub Copilot extension from VS Code marketplace</a:t>
            </a:r>
          </a:p>
          <a:p>
            <a:r>
              <a:t>Sign in with your GitHub account (verify Copilot subscription)</a:t>
            </a:r>
          </a:p>
          <a:p>
            <a:r>
              <a:t>Locate and explore:</a:t>
            </a:r>
          </a:p>
          <a:p>
            <a:pPr/>
            <a:r>
              <a:t>Chat window and chat history</a:t>
            </a:r>
          </a:p>
          <a:p>
            <a:pPr/>
            <a:r>
              <a:t>New chat button</a:t>
            </a:r>
          </a:p>
          <a:p>
            <a:pPr/>
            <a:r>
              <a:t>Quick chat feature (keyboard shortcut)</a:t>
            </a:r>
          </a:p>
          <a:p>
            <a:pPr/>
            <a:r>
              <a:t>Settings menu</a:t>
            </a:r>
          </a:p>
          <a:p>
            <a:pPr/>
            <a:r>
              <a:t>Model selection dropdown</a:t>
            </a:r>
          </a:p>
          <a:p>
            <a:r>
              <a:t>Check your premium token usage bar</a:t>
            </a:r>
          </a:p>
          <a:p>
            <a:r>
              <a:t>Create a new chat and experiment with the interface</a:t>
            </a:r>
          </a:p>
          <a:p>
            <a:r>
              <a:t>Success Criteria</a:t>
            </a:r>
          </a:p>
          <a:p>
            <a:pPr/>
            <a:r>
              <a:t>Copilot extension installed and authenticated</a:t>
            </a:r>
          </a:p>
          <a:p>
            <a:pPr/>
            <a:r>
              <a:t>Can open/close chat windows</a:t>
            </a:r>
          </a:p>
          <a:p>
            <a:pPr/>
            <a:r>
              <a:t>Understand difference between main chat and quick chat</a:t>
            </a:r>
          </a:p>
          <a:p>
            <a:pPr/>
            <a:r>
              <a:t>Know where to find chat history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Specificity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Add error handling to my code</a:t>
            </a:r>
          </a:p>
          <a:p>
            <a:pPr/>
            <a:r>
              <a:t>Result: Generic response asking what type of errors, what language, what code?</a:t>
            </a:r>
          </a:p>
          <a:p>
            <a:r>
              <a:t>Add error handling to my JavaScript function that calls an external API. I want to handle network timeouts, 404 errors, and JSON parsing failures. Return user-friendly error messages.</a:t>
            </a:r>
          </a:p>
          <a:p>
            <a:pPr/>
            <a:r>
              <a:t>Result: Better, but still generic without seeing actual code structure</a:t>
            </a:r>
          </a:p>
          <a:p>
            <a:r>
              <a:t>@file:api-client.js Add comprehensive error handling to the fetchUserData function. Handle network timeouts (&gt;5s), HTTP errors (404, 500, etc.), and JSON parsing failures.   Return user-friendly error messages that match our existing error format in @file:error-types.js</a:t>
            </a:r>
          </a:p>
          <a:p>
            <a:pPr/>
            <a:r>
              <a:t>Result: Specific implementation that matches existing code patterns*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Lab: Understanding Context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Follow along</a:t>
            </a:r>
          </a:p>
          <a:p>
            <a:r>
              <a:t>Objectives</a:t>
            </a:r>
          </a:p>
          <a:p>
            <a:r>
              <a:t>Learn to add context using @ symbols</a:t>
            </a:r>
          </a:p>
          <a:p>
            <a:r>
              <a:t>Understand context window limitations</a:t>
            </a:r>
          </a:p>
          <a:p>
            <a:r>
              <a:t>Practice writing effective prompts</a:t>
            </a:r>
          </a:p>
          <a:p>
            <a:r>
              <a:t>Activities</a:t>
            </a:r>
          </a:p>
          <a:p>
            <a:r>
              <a:t>1. Basic Context Addition:</a:t>
            </a:r>
          </a:p>
          <a:p>
            <a:r>
              <a:t>Use `@workspace` to search across your codebase</a:t>
            </a:r>
          </a:p>
          <a:p>
            <a:r>
              <a:t>Use `@file` to reference specific files</a:t>
            </a:r>
          </a:p>
          <a:p>
            <a:r>
              <a:t>Use `@terminal` to include terminal output in chat</a:t>
            </a:r>
          </a:p>
          <a:p>
            <a:r>
              <a:t>Use `@vscode` to ask VS Code-specific questions</a:t>
            </a:r>
          </a:p>
          <a:p>
            <a:r>
              <a:t>2. Prompt Practice:</a:t>
            </a:r>
          </a:p>
          <a:p>
            <a:r>
              <a:t>Write a vague prompt, observe results</a:t>
            </a:r>
          </a:p>
          <a:p>
            <a:r>
              <a:t>Rewrite with specific context, compare results</a:t>
            </a:r>
          </a:p>
          <a:p>
            <a:r>
              <a:t>Add file references to improve accuracy</a:t>
            </a:r>
          </a:p>
          <a:p>
            <a:r>
              <a:t>3. Context Window Experiment:</a:t>
            </a:r>
          </a:p>
          <a:p>
            <a:r>
              <a:t>Start a long conversation in one chat</a:t>
            </a:r>
          </a:p>
          <a:p>
            <a:r>
              <a:t>Notice when Copilot starts "forgetting" earlier context</a:t>
            </a:r>
          </a:p>
          <a:p>
            <a:r>
              <a:t>Practice starting new chats for new topics</a:t>
            </a:r>
          </a:p>
          <a:p>
            <a:r>
              <a:t>Success Criteria</a:t>
            </a:r>
          </a:p>
          <a:p>
            <a:r>
              <a:t>Can use all @ context types</a:t>
            </a:r>
          </a:p>
          <a:p>
            <a:r>
              <a:t>Understand when to start fresh chat sessions</a:t>
            </a:r>
          </a:p>
          <a:p>
            <a:r>
              <a:t>Notice quality difference between vague and specific prompts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Lab: Chat Management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Follow along</a:t>
            </a:r>
          </a:p>
          <a:p>
            <a:r>
              <a:t>Objectives</a:t>
            </a:r>
          </a:p>
          <a:p>
            <a:pPr/>
            <a:r>
              <a:t>Organize chat sessions effectively</a:t>
            </a:r>
          </a:p>
          <a:p>
            <a:pPr/>
            <a:r>
              <a:t>Use chat history for reference</a:t>
            </a:r>
          </a:p>
          <a:p>
            <a:pPr/>
            <a:r>
              <a:t>Develop efficient workflow patterns</a:t>
            </a:r>
          </a:p>
          <a:p>
            <a:r>
              <a:t>Activities</a:t>
            </a:r>
          </a:p>
          <a:p>
            <a:r>
              <a:t>1. Chat Organization:</a:t>
            </a:r>
          </a:p>
          <a:p>
            <a:pPr/>
            <a:r>
              <a:t>Review your chat history</a:t>
            </a:r>
          </a:p>
          <a:p>
            <a:pPr/>
            <a:r>
              <a:t>Identify chats that should have been separate sessions</a:t>
            </a:r>
          </a:p>
          <a:p>
            <a:pPr/>
            <a:r>
              <a:t>Practice starting new chats at appropriate times</a:t>
            </a:r>
          </a:p>
          <a:p>
            <a:r>
              <a:t>2. Context Preservation:</a:t>
            </a:r>
          </a:p>
          <a:p>
            <a:pPr/>
            <a:r>
              <a:t>Start a focused chat for one feature</a:t>
            </a:r>
          </a:p>
          <a:p>
            <a:pPr/>
            <a:r>
              <a:t>Add relevant context systematically</a:t>
            </a:r>
          </a:p>
          <a:p>
            <a:pPr/>
            <a:r>
              <a:t>Complete task without context overflow</a:t>
            </a:r>
          </a:p>
          <a:p>
            <a:r>
              <a:t>3. Quick Chat Practice:</a:t>
            </a:r>
          </a:p>
          <a:p>
            <a:pPr/>
            <a:r>
              <a:t>Use main chat for primary task</a:t>
            </a:r>
          </a:p>
          <a:p>
            <a:pPr/>
            <a:r>
              <a:t>Use quick chat for side questions</a:t>
            </a:r>
          </a:p>
          <a:p>
            <a:pPr/>
            <a:r>
              <a:t>Return to main chat without losing context</a:t>
            </a:r>
          </a:p>
          <a:p>
            <a:r>
              <a:t>4. Chat History Review:</a:t>
            </a:r>
          </a:p>
          <a:p>
            <a:pPr/>
            <a:r>
              <a:t>Find and reference previous solutions</a:t>
            </a:r>
          </a:p>
          <a:p>
            <a:pPr/>
            <a:r>
              <a:t>Learn from past prompts that worked well</a:t>
            </a:r>
          </a:p>
          <a:p>
            <a:pPr/>
            <a:r>
              <a:t>Identify patterns in effective conversations</a:t>
            </a:r>
          </a:p>
          <a:p>
            <a:r>
              <a:t>Success Criteria</a:t>
            </a:r>
          </a:p>
          <a:p>
            <a:pPr/>
            <a:r>
              <a:t>Chat history is organized and meaningful</a:t>
            </a:r>
          </a:p>
          <a:p>
            <a:pPr/>
            <a:r>
              <a:t>Can find and reference previous solutions</a:t>
            </a:r>
          </a:p>
          <a:p>
            <a:pPr/>
            <a:r>
              <a:t>Efficient workflow developed for using multiple chat windows</a:t>
            </a:r>
          </a:p>
          <a:p>
            <a:r>
              <a:t>Context Window Management</a:t>
            </a:r>
          </a:p>
          <a:p>
            <a:pPr/>
            <a:r>
              <a:t>Remember from the session:</a:t>
            </a:r>
          </a:p>
          <a:p>
            <a:r>
              <a:t>  - Context is a </a:t>
            </a:r>
            <a:r>
              <a:rPr b="1"/>
              <a:t>limited resource</a:t>
            </a:r>
          </a:p>
          <a:p>
            <a:r>
              <a:t>  - Start new chat when changing focus areas</a:t>
            </a:r>
          </a:p>
          <a:p>
            <a:r>
              <a:t>  - Keep conversations targeted and specific</a:t>
            </a:r>
          </a:p>
          <a:p>
            <a:r>
              <a:t>  - When Copilot "forgets" earlier context, it's time for a new session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Copilot in different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Ask Mode</a:t>
            </a:r>
          </a:p>
          <a:p>
            <a:pPr/>
            <a:r>
              <a:t>Simple prompt completion and inline suggestions</a:t>
            </a:r>
          </a:p>
          <a:p>
            <a:r>
              <a:t>Edit Mode</a:t>
            </a:r>
          </a:p>
          <a:p>
            <a:pPr/>
            <a:r>
              <a:t>Automatic file edits</a:t>
            </a:r>
          </a:p>
          <a:p>
            <a:r>
              <a:t>Agent Mode</a:t>
            </a:r>
          </a:p>
          <a:p>
            <a:pPr/>
            <a:r>
              <a:t>Perform actions on your behalf</a:t>
            </a:r>
          </a:p>
          <a:p>
            <a:r>
              <a:t>Custom Modes</a:t>
            </a:r>
          </a:p>
          <a:p>
            <a:pPr/>
            <a:r>
              <a:t>Execute specific workflows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Lab: Exploring Copilot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Follow along</a:t>
            </a:r>
          </a:p>
          <a:p>
            <a:r>
              <a:t>Objectives</a:t>
            </a:r>
          </a:p>
          <a:p>
            <a:r>
              <a:t>Understand differences between Ask, Edit, and Agent modes</a:t>
            </a:r>
          </a:p>
          <a:p>
            <a:r>
              <a:t>Know when to use each mode</a:t>
            </a:r>
          </a:p>
          <a:p>
            <a:r>
              <a:t>Understand premium token implications</a:t>
            </a:r>
          </a:p>
          <a:p>
            <a:r>
              <a:t>Activities</a:t>
            </a:r>
          </a:p>
          <a:p>
            <a:r>
              <a:t>1. Ask Mode:</a:t>
            </a:r>
          </a:p>
          <a:p>
            <a:r>
              <a:t>Ask Copilot to explain a code snippet (no changes made)</a:t>
            </a:r>
          </a:p>
          <a:p>
            <a:r>
              <a:t>Request multiple implementation approaches</a:t>
            </a:r>
          </a:p>
          <a:p>
            <a:r>
              <a:t>Try different models and observe response quality</a:t>
            </a:r>
          </a:p>
          <a:p>
            <a:r>
              <a:t>Note: This doesn't consume premium tokens for advanced models</a:t>
            </a:r>
          </a:p>
          <a:p>
            <a:r>
              <a:t>2. Edit Mode:</a:t>
            </a:r>
          </a:p>
          <a:p>
            <a:r>
              <a:t>Select code in a file</a:t>
            </a:r>
          </a:p>
          <a:p>
            <a:r>
              <a:t>Ask Copilot to refactor it</a:t>
            </a:r>
          </a:p>
          <a:p>
            <a:r>
              <a:t>Observe inline suggestions and changes</a:t>
            </a:r>
          </a:p>
          <a:p>
            <a:r>
              <a:t>Accept or reject proposed changes</a:t>
            </a:r>
          </a:p>
          <a:p>
            <a:r>
              <a:t>3. Agent Mode:</a:t>
            </a:r>
          </a:p>
          <a:p>
            <a:r>
              <a:t>Ask Copilot to create a new file and add content</a:t>
            </a:r>
          </a:p>
          <a:p>
            <a:r>
              <a:t>Request changes across multiple files</a:t>
            </a:r>
          </a:p>
          <a:p>
            <a:r>
              <a:t>Have Copilot run terminal commands</a:t>
            </a:r>
          </a:p>
          <a:p>
            <a:r>
              <a:t>Check premium token usage after agent actions</a:t>
            </a:r>
          </a:p>
          <a:p>
            <a:r>
              <a:t>Success Criteria</a:t>
            </a:r>
          </a:p>
          <a:p>
            <a:r>
              <a:t>Can distinguish when to use each mode</a:t>
            </a:r>
          </a:p>
          <a:p>
            <a:r>
              <a:t>Understand token consumption differences</a:t>
            </a:r>
          </a:p>
          <a:p>
            <a:r>
              <a:t>Successfully use agent mode for multi-file operations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 Support for AI Assistance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96"/>
                      </a:pPr>
                      <a:r>
                        <a:t>IDE / Editor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96"/>
                      </a:pPr>
                      <a:r>
                        <a:t>Built-In AI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96"/>
                      </a:pPr>
                      <a:r>
                        <a:t>Supported AI Assistants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96"/>
                      </a:pPr>
                      <a:r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96"/>
                      </a:pPr>
                      <a:r>
                        <a:t>Limitations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VS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Deep AI integration through extensions; increasingly AI-first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GitHub Copilot, Cline, ChatGPT-based extensions, Gemini integrations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Extremely flexible; huge ecosystem; top-tier AI support; widely adopted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Requires extension management; quality varies by plugin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Visual Studio (Windows)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Native GitHub Copilot integration; AI-powered IntelliCode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GitHub Copilot, IntelliCode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 enterprise + .NET support; excellent refactoring and debugging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Less flexible than VS Code for non-Microsoft stacks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JetBrains 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JetBrains AI Assistant; code completion, refactoring, doc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JetBrains AI Assistant, GitHub 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Deep static analysis + AI; strong multi-language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JetBrains AI Assistant is subscription-based; Copilot integration not as seamless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Cursor 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AI-first editor; conversational coding; multi-file 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Built-in AI models (GPT-based, Claude-based), Copilot alternatives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Designed for AI pair-programming; strong repo-wide 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a traditional IDE; still maturing for large enterprise workflows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AI-powered Ghostwriter for code generation, debugging, and explanations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Ghostwriter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Great for beginners and rapid prototyping; browser-based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Less powerful for large, multi-module projects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Builder.io / Builder Code Editor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AI-enhanced coding environment with integrated assistants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Multiple AI integrations depending 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 web-dev focus; modern AI-native 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a general-purpose IDE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Code-B Editors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Predictive code generation, debugging, and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Multiple AI models depending on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 AI-centric workflows; optimized for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Less mainstream; smaller ecosystem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Claude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Terminal-first AI coding assistant; autonomous repo-wide 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Latest models from Anthropic and other via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Exceptional multi-file context handling; ideal for agentic workflows and automated patching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a GUI IDE; best suited for terminal-centric development and large codebases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t>Intro</a:t>
            </a:r>
          </a:p>
          <a:p>
            <a:pPr/>
            <a:r>
              <a:t>Module 1 - AIASD</a:t>
            </a:r>
          </a:p>
          <a:p>
            <a:pPr/>
            <a:r>
              <a:t>Module 2 - Intro to Copilot</a:t>
            </a:r>
          </a:p>
          <a:p>
            <a:pPr/>
            <a:r>
              <a:rPr b="1"/>
              <a:t>▶ Module 3 - Vibbing</a:t>
            </a:r>
          </a:p>
          <a:p>
            <a:pPr/>
            <a:r>
              <a:t>Module 4 - Adding AI Guardrails</a:t>
            </a:r>
          </a:p>
          <a:p>
            <a:pPr/>
            <a:r>
              <a:t>Module 5 - Managing Context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3 - Vibbing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3 - Vibbing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t>Collaborating on a Solution</a:t>
            </a:r>
          </a:p>
          <a:p>
            <a:pPr/>
            <a:r>
              <a:t>Exercise: Calculator Project - Setup and Basic Implementation</a:t>
            </a:r>
          </a:p>
          <a:p>
            <a:pPr/>
            <a:r>
              <a:t>Exercise: Test Coverage Improvement</a:t>
            </a:r>
          </a:p>
          <a:p>
            <a:pPr/>
            <a:r>
              <a:t>Exercise: Lab 3 - Test-Driven Development (TDD) with Copilot</a:t>
            </a:r>
          </a:p>
          <a:p>
            <a:pPr/>
            <a:r>
              <a:t>AI-Assisted CI/CD Pipelines</a:t>
            </a:r>
          </a:p>
          <a:p>
            <a:pPr/>
            <a:r>
              <a:t>AI-Assisted GitHub Pull Requests</a:t>
            </a:r>
          </a:p>
          <a:p>
            <a:pPr/>
            <a:r>
              <a:t>Multi‑Model Implementation Comparison</a:t>
            </a:r>
          </a:p>
          <a:p>
            <a:pPr/>
            <a:r>
              <a:t>Evergreen Software Development - Core Principles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Collaborating on a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Project Setup</a:t>
            </a:r>
          </a:p>
          <a:p>
            <a:r>
              <a:t>Adding Features</a:t>
            </a:r>
          </a:p>
          <a:p>
            <a:pPr/>
            <a:r>
              <a:t>Basic Arithmetic - Addition, subtraction, multiplication, division</a:t>
            </a:r>
          </a:p>
          <a:p>
            <a:pPr/>
            <a:r>
              <a:t>Clear / Reset Function - Quickly resets the current input or entire calculation</a:t>
            </a:r>
          </a:p>
          <a:p>
            <a:pPr/>
            <a:r>
              <a:t>Decimal Support - Allows entry and computation with decimal numbers</a:t>
            </a:r>
          </a:p>
          <a:p>
            <a:pPr/>
            <a:r>
              <a:t>Sign Toggle (+/–) - Switches values between positive and negative</a:t>
            </a:r>
          </a:p>
          <a:p>
            <a:pPr/>
            <a:r>
              <a:t>Percentage Function - Converts values to percentages for quick calculations</a:t>
            </a:r>
          </a:p>
          <a:p>
            <a:pPr/>
            <a:r>
              <a:t>Memory Functions (M+, M–, MR, MC) - Store, recall, add to, or clear memory values</a:t>
            </a:r>
          </a:p>
          <a:p>
            <a:pPr/>
            <a:r>
              <a:t>Error Handling - Displays errors such as division by zero</a:t>
            </a:r>
          </a:p>
          <a:p>
            <a:pPr/>
            <a:r>
              <a:t>Simple, Intuitive Interface - Numeric keypad, operation buttons, and display screen</a:t>
            </a:r>
          </a:p>
          <a:p>
            <a:r>
              <a:t>Test Automation</a:t>
            </a:r>
          </a:p>
          <a:p>
            <a:pPr/>
            <a:r>
              <a:t>Code Coverage</a:t>
            </a:r>
          </a:p>
          <a:p>
            <a:r>
              <a:t>Dependency Management</a:t>
            </a:r>
          </a:p>
          <a:p>
            <a:r>
              <a:t>Comparing Implementations</a:t>
            </a:r>
          </a:p>
          <a:p>
            <a:r>
              <a:t>Chat Management</a:t>
            </a:r>
          </a:p>
          <a:p>
            <a:r>
              <a:t>Intro to Evergreen Software Development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Calculator Project - Setup and Basic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45-60 minutes</a:t>
            </a:r>
          </a:p>
          <a:p/>
          <a:p>
            <a:r>
              <a:t>Objectives</a:t>
            </a:r>
          </a:p>
          <a:p/>
          <a:p>
            <a:pPr/>
            <a:r>
              <a:t>Use AI to generate starter code for arithmetic operations</a:t>
            </a:r>
          </a:p>
          <a:p>
            <a:pPr/>
            <a:r>
              <a:t>Understand how to validate AI-generated logic</a:t>
            </a:r>
          </a:p>
          <a:p>
            <a:pPr/>
            <a:r>
              <a:t>Integrate addition, subtraction, multiplication, and division functions</a:t>
            </a:r>
          </a:p>
          <a:p/>
          <a:p>
            <a:r>
              <a:t>Activities</a:t>
            </a:r>
          </a:p>
          <a:p/>
          <a:p>
            <a:r>
              <a:t>1. Project Initialization:</a:t>
            </a:r>
          </a:p>
          <a:p/>
          <a:p>
            <a:pPr/>
            <a:r>
              <a:t>Prompt AI to create a new project</a:t>
            </a:r>
          </a:p>
          <a:p>
            <a:pPr/>
            <a:r>
              <a:t>Review generated project structure</a:t>
            </a:r>
          </a:p>
          <a:p>
            <a:pPr/>
            <a:r>
              <a:t>Verify build configuration</a:t>
            </a:r>
          </a:p>
          <a:p/>
          <a:p>
            <a:r>
              <a:t>2. Implement Basic Operations:</a:t>
            </a:r>
          </a:p>
          <a:p/>
          <a:p>
            <a:pPr/>
            <a:r>
              <a:t>Prompt AI to add methods for addition, subtraction, multiplication, and division</a:t>
            </a:r>
          </a:p>
          <a:p/>
          <a:p>
            <a:r>
              <a:t>3. Review the Code:</a:t>
            </a:r>
          </a:p>
          <a:p/>
          <a:p>
            <a:pPr/>
            <a:r>
              <a:t>Check correctness and edge cases</a:t>
            </a:r>
          </a:p>
          <a:p/>
          <a:p>
            <a:r>
              <a:t>4. Build and Run:</a:t>
            </a:r>
          </a:p>
          <a:p/>
          <a:p>
            <a:pPr/>
            <a:r>
              <a:t>Use Copilot to help with build commands</a:t>
            </a:r>
          </a:p>
          <a:p>
            <a:pPr/>
            <a:r>
              <a:t>Troubleshoot compilation errors with Copilot</a:t>
            </a:r>
          </a:p>
          <a:p>
            <a:pPr/>
            <a:r>
              <a:t>Run the application</a:t>
            </a:r>
          </a:p>
          <a:p/>
          <a:p>
            <a:r>
              <a:t>Success Criteria</a:t>
            </a:r>
          </a:p>
          <a:p/>
          <a:p>
            <a:pPr/>
            <a:r>
              <a:t>Working calculator with 4 basic operations</a:t>
            </a:r>
          </a:p>
          <a:p>
            <a:pPr/>
            <a:r>
              <a:t>Application compiles and runs successfully</a:t>
            </a:r>
          </a:p>
          <a:p>
            <a:pPr/>
            <a:r>
              <a:t>Generated code is critically reviewed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Calculator Project - Clear / Reset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15 minutes</a:t>
            </a:r>
          </a:p>
          <a:p/>
          <a:p>
            <a:r>
              <a:t>Objectives</a:t>
            </a:r>
          </a:p>
          <a:p/>
          <a:p>
            <a:pPr/>
            <a:r>
              <a:t>Use AI to scaffold state-management logic</a:t>
            </a:r>
          </a:p>
          <a:p>
            <a:pPr/>
            <a:r>
              <a:t>Implement CE (clear entry) and C (clear all) behaviors</a:t>
            </a:r>
          </a:p>
          <a:p>
            <a:pPr/>
            <a:r>
              <a:t>Understand UI state transitions</a:t>
            </a:r>
          </a:p>
          <a:p/>
          <a:p>
            <a:r>
              <a:t>Activities</a:t>
            </a:r>
          </a:p>
          <a:p/>
          <a:p>
            <a:r>
              <a:t>1. Ask AI to outline the difference between CE and C</a:t>
            </a:r>
          </a:p>
          <a:p>
            <a:r>
              <a:t>2. Generate code for clearing current input vs full state</a:t>
            </a:r>
          </a:p>
          <a:p>
            <a:r>
              <a:t>3. Integrate logic into calculator state object</a:t>
            </a:r>
          </a:p>
          <a:p>
            <a:r>
              <a:t>4. Test transitions with sample input sequences</a:t>
            </a:r>
          </a:p>
          <a:p/>
          <a:p>
            <a:r>
              <a:t>Success Criteria</a:t>
            </a:r>
          </a:p>
          <a:p/>
          <a:p>
            <a:pPr/>
            <a:r>
              <a:t>CE clears only the active entry</a:t>
            </a:r>
          </a:p>
          <a:p>
            <a:pPr/>
            <a:r>
              <a:t>C resets the entire calculator state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Calculator Project - Decimal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12 minutes</a:t>
            </a:r>
          </a:p>
          <a:p/>
          <a:p>
            <a:r>
              <a:t>Objectives</a:t>
            </a:r>
          </a:p>
          <a:p/>
          <a:p>
            <a:pPr/>
            <a:r>
              <a:t>Use AI to generate input-validation logic</a:t>
            </a:r>
          </a:p>
          <a:p>
            <a:pPr/>
            <a:r>
              <a:t>Prevent multiple decimal points</a:t>
            </a:r>
          </a:p>
          <a:p>
            <a:pPr/>
            <a:r>
              <a:t>Ensure decimals flow through arithmetic operations</a:t>
            </a:r>
          </a:p>
          <a:p/>
          <a:p>
            <a:r>
              <a:t>Activities</a:t>
            </a:r>
          </a:p>
          <a:p/>
          <a:p>
            <a:r>
              <a:t>1. Ask AI for a decimal input strategy</a:t>
            </a:r>
          </a:p>
          <a:p>
            <a:r>
              <a:t>2. Generate code to block duplicate decimals in one number</a:t>
            </a:r>
          </a:p>
          <a:p>
            <a:r>
              <a:t>3. Integrate decimal support into input parser</a:t>
            </a:r>
          </a:p>
          <a:p>
            <a:r>
              <a:t>4. Test decimal operations with AI-generated test cases</a:t>
            </a:r>
          </a:p>
          <a:p/>
          <a:p>
            <a:r>
              <a:t>Success Criteria</a:t>
            </a:r>
          </a:p>
          <a:p/>
          <a:p>
            <a:pPr/>
            <a:r>
              <a:t>Decimal input works without duplication errors</a:t>
            </a:r>
          </a:p>
          <a:p>
            <a:pPr/>
            <a:r>
              <a:t>Arithmetic with decimals is correct</a:t>
            </a:r>
          </a:p>
          <a:p>
            <a:pPr/>
            <a:r>
              <a:t>Validation logic is explainable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Calculator Project - Sign Toggle (+/-)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8 minutes</a:t>
            </a:r>
          </a:p>
          <a:p/>
          <a:p>
            <a:r>
              <a:t>Objectives</a:t>
            </a:r>
          </a:p>
          <a:p/>
          <a:p>
            <a:pPr/>
            <a:r>
              <a:t>Use AI to generate sign-toggle logic</a:t>
            </a:r>
          </a:p>
          <a:p>
            <a:pPr/>
            <a:r>
              <a:t>Understand effect on active input and stored value</a:t>
            </a:r>
          </a:p>
          <a:p/>
          <a:p>
            <a:r>
              <a:t>Activities</a:t>
            </a:r>
          </a:p>
          <a:p/>
          <a:p>
            <a:r>
              <a:t>1. Ask AI to generate toggle-sign function for active value</a:t>
            </a:r>
          </a:p>
          <a:p>
            <a:r>
              <a:t>2. Integrate into input workflow</a:t>
            </a:r>
          </a:p>
          <a:p>
            <a:r>
              <a:t>3. Test before and after digit entry</a:t>
            </a:r>
          </a:p>
          <a:p/>
          <a:p>
            <a:r>
              <a:t>Success Criteria</a:t>
            </a:r>
          </a:p>
          <a:p/>
          <a:p>
            <a:pPr/>
            <a:r>
              <a:t>Sign toggle works for integers and decimals</a:t>
            </a:r>
          </a:p>
          <a:p>
            <a:pPr/>
            <a:r>
              <a:t>Learner can explain stored vs active value impact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Calculator Project - Percentage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15 minutes</a:t>
            </a:r>
          </a:p>
          <a:p/>
          <a:p>
            <a:r>
              <a:t>Objectives</a:t>
            </a:r>
          </a:p>
          <a:p/>
          <a:p>
            <a:pPr/>
            <a:r>
              <a:t>Use AI to clarify percentage interpretation rules</a:t>
            </a:r>
          </a:p>
          <a:p>
            <a:pPr/>
            <a:r>
              <a:t>Implement percentage logic for common patterns</a:t>
            </a:r>
          </a:p>
          <a:p>
            <a:pPr/>
            <a:r>
              <a:t>Validate behavior with AI-generated examples</a:t>
            </a:r>
          </a:p>
          <a:p/>
          <a:p>
            <a:r>
              <a:t>Activities</a:t>
            </a:r>
          </a:p>
          <a:p/>
          <a:p>
            <a:r>
              <a:t>1. Ask AI how percentage should behave in a standard calculator</a:t>
            </a:r>
          </a:p>
          <a:p>
            <a:r>
              <a:t>2. Generate code for:</a:t>
            </a:r>
          </a:p>
          <a:p/>
          <a:p>
            <a:pPr/>
            <a:r>
              <a:t>X x Y%</a:t>
            </a:r>
          </a:p>
          <a:p>
            <a:pPr/>
            <a:r>
              <a:t>Y + X%</a:t>
            </a:r>
          </a:p>
          <a:p>
            <a:pPr/>
            <a:r>
              <a:t>Y - X%</a:t>
            </a:r>
          </a:p>
          <a:p/>
          <a:p>
            <a:r>
              <a:t>3. Test each pattern with AI-generated values</a:t>
            </a:r>
          </a:p>
          <a:p/>
          <a:p>
            <a:r>
              <a:t>Success Criteria</a:t>
            </a:r>
          </a:p>
          <a:p/>
          <a:p>
            <a:pPr/>
            <a:r>
              <a:t>Percentage operations match standard calculator behavior</a:t>
            </a:r>
          </a:p>
          <a:p>
            <a:pPr/>
            <a:r>
              <a:t>Learner can articulate percentage interpretation rules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Calculator Project - Memory Functions (M+, M-, MR, MC)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18 minutes</a:t>
            </a:r>
          </a:p>
          <a:p/>
          <a:p>
            <a:r>
              <a:t>Objectives</a:t>
            </a:r>
          </a:p>
          <a:p/>
          <a:p>
            <a:pPr/>
            <a:r>
              <a:t>Use AI to design memory subsystem</a:t>
            </a:r>
          </a:p>
          <a:p>
            <a:pPr/>
            <a:r>
              <a:t>Implement memory add, subtract, recall, and clear</a:t>
            </a:r>
          </a:p>
          <a:p>
            <a:pPr/>
            <a:r>
              <a:t>Validate memory across multiple operations</a:t>
            </a:r>
          </a:p>
          <a:p/>
          <a:p>
            <a:r>
              <a:t>Activities</a:t>
            </a:r>
          </a:p>
          <a:p/>
          <a:p>
            <a:r>
              <a:t>1. Ask AI for memory-state structure</a:t>
            </a:r>
          </a:p>
          <a:p>
            <a:r>
              <a:t>2. Generate functions for M+, M-, MR, MC</a:t>
            </a:r>
          </a:p>
          <a:p>
            <a:r>
              <a:t>3. Integrate memory operations into calculator flow</a:t>
            </a:r>
          </a:p>
          <a:p>
            <a:r>
              <a:t>4. Test memory persistence over sequences</a:t>
            </a:r>
          </a:p>
          <a:p/>
          <a:p>
            <a:r>
              <a:t>Success Criteria</a:t>
            </a:r>
          </a:p>
          <a:p/>
          <a:p>
            <a:pPr/>
            <a:r>
              <a:t>Memory functions behave as expected</a:t>
            </a:r>
          </a:p>
          <a:p>
            <a:pPr/>
            <a:r>
              <a:t>Learner can explain memory state updates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Calculator Project -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10 minutes</a:t>
            </a:r>
          </a:p>
          <a:p/>
          <a:p>
            <a:r>
              <a:t>Objectives</a:t>
            </a:r>
          </a:p>
          <a:p/>
          <a:p>
            <a:pPr/>
            <a:r>
              <a:t>Use AI to identify common error conditions</a:t>
            </a:r>
          </a:p>
          <a:p>
            <a:pPr/>
            <a:r>
              <a:t>Implement error messages and recovery logic</a:t>
            </a:r>
          </a:p>
          <a:p>
            <a:pPr/>
            <a:r>
              <a:t>Ensure graceful reset after errors</a:t>
            </a:r>
          </a:p>
          <a:p/>
          <a:p>
            <a:r>
              <a:t>Activities</a:t>
            </a:r>
          </a:p>
          <a:p/>
          <a:p>
            <a:r>
              <a:t>1. Ask AI to list calculator errors (for example divide by zero)</a:t>
            </a:r>
          </a:p>
          <a:p>
            <a:r>
              <a:t>2. Generate error detection and display logic</a:t>
            </a:r>
          </a:p>
          <a:p>
            <a:r>
              <a:t>3. Implement reset path after an error</a:t>
            </a:r>
          </a:p>
          <a:p>
            <a:r>
              <a:t>4. Test error scenarios with AI-generated tests</a:t>
            </a:r>
          </a:p>
          <a:p/>
          <a:p>
            <a:r>
              <a:t>Success Criteria</a:t>
            </a:r>
          </a:p>
          <a:p/>
          <a:p>
            <a:pPr/>
            <a:r>
              <a:t>Errors are detected and displayed correctly</a:t>
            </a:r>
          </a:p>
          <a:p>
            <a:pPr/>
            <a:r>
              <a:t>Calculator recovers cleanly</a:t>
            </a:r>
          </a:p>
          <a:p>
            <a:pPr/>
            <a:r>
              <a:t>Learner can explain error-handling flow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Calculator Project - Add Trigonometric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15 minutes</a:t>
            </a:r>
          </a:p>
          <a:p/>
          <a:p>
            <a:r>
              <a:t>Objectives</a:t>
            </a:r>
          </a:p>
          <a:p/>
          <a:p>
            <a:pPr/>
            <a:r>
              <a:t>Integrate trigonometric operations</a:t>
            </a:r>
          </a:p>
          <a:p>
            <a:pPr/>
            <a:r>
              <a:t>Use AI for math wrappers and parsing logic</a:t>
            </a:r>
          </a:p>
          <a:p>
            <a:pPr/>
            <a:r>
              <a:t>Handle degrees vs radians correctly</a:t>
            </a:r>
          </a:p>
          <a:p/>
          <a:p>
            <a:r>
              <a:t>Activities</a:t>
            </a:r>
          </a:p>
          <a:p/>
          <a:p>
            <a:r>
              <a:t>1. Ask AI to generate sin, cos, tan functions using language math library</a:t>
            </a:r>
          </a:p>
          <a:p>
            <a:r>
              <a:t>2. Ask AI for degree/radian mode strategy</a:t>
            </a:r>
          </a:p>
          <a:p>
            <a:r>
              <a:t>3. Implement UI bindings or command triggers</a:t>
            </a:r>
          </a:p>
          <a:p>
            <a:r>
              <a:t>4. Generate sample input/output table with AI and validate</a:t>
            </a:r>
          </a:p>
          <a:p/>
          <a:p>
            <a:r>
              <a:t>Success Criteria</a:t>
            </a:r>
          </a:p>
          <a:p/>
          <a:p>
            <a:pPr/>
            <a:r>
              <a:t>Trig results are correct for selected angle mode</a:t>
            </a:r>
          </a:p>
          <a:p>
            <a:pPr/>
            <a:r>
              <a:t>Degree/radian switching works consistently</a:t>
            </a:r>
          </a:p>
          <a:p>
            <a:pPr/>
            <a:r>
              <a:t>UI or commands correctly call trig functions</a:t>
            </a:r>
          </a:p>
          <a:p>
            <a:pPr/>
            <a:r>
              <a:t>Learner can explain validation and refinement steps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Calculator Project -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15 minutes</a:t>
            </a:r>
          </a:p>
          <a:p/>
          <a:p>
            <a:r>
              <a:t>Objectives</a:t>
            </a:r>
          </a:p>
          <a:p/>
          <a:p>
            <a:pPr/>
            <a:r>
              <a:t>Use AI to scaffold UI event handlers</a:t>
            </a:r>
          </a:p>
          <a:p>
            <a:pPr/>
            <a:r>
              <a:t>Connect UI controls to logic functions</a:t>
            </a:r>
          </a:p>
          <a:p>
            <a:pPr/>
            <a:r>
              <a:t>Validate end-to-end workflow</a:t>
            </a:r>
          </a:p>
          <a:p/>
          <a:p>
            <a:r>
              <a:t>Activities</a:t>
            </a:r>
          </a:p>
          <a:p/>
          <a:p>
            <a:r>
              <a:t>1. Ask AI to generate event-binding code for numeric/operator controls</a:t>
            </a:r>
          </a:p>
          <a:p>
            <a:r>
              <a:t>2. Integrate logic functions from prior exercises</a:t>
            </a:r>
          </a:p>
          <a:p>
            <a:r>
              <a:t>3. Test full workflow:</a:t>
            </a:r>
          </a:p>
          <a:p/>
          <a:p>
            <a:pPr/>
            <a:r>
              <a:t>Enter decimal</a:t>
            </a:r>
          </a:p>
          <a:p>
            <a:pPr/>
            <a:r>
              <a:t>Toggle sign</a:t>
            </a:r>
          </a:p>
          <a:p>
            <a:pPr/>
            <a:r>
              <a:t>Apply percentage</a:t>
            </a:r>
          </a:p>
          <a:p>
            <a:pPr/>
            <a:r>
              <a:t>Store result in memory</a:t>
            </a:r>
          </a:p>
          <a:p/>
          <a:p>
            <a:r>
              <a:t>Success Criteria</a:t>
            </a:r>
          </a:p>
          <a:p/>
          <a:p>
            <a:pPr/>
            <a:r>
              <a:t>UI triggers all calculator functions correctly</a:t>
            </a:r>
          </a:p>
          <a:p>
            <a:pPr/>
            <a:r>
              <a:t>End-to-end workflow completes without errors</a:t>
            </a:r>
          </a:p>
          <a:p>
            <a:pPr/>
            <a:r>
              <a:t>Learner can explain UI-to-logic mapping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Calculator Project -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45-60 minutes</a:t>
            </a:r>
          </a:p>
          <a:p/>
          <a:p>
            <a:r>
              <a:t>Objectives</a:t>
            </a:r>
          </a:p>
          <a:p/>
          <a:p>
            <a:pPr/>
            <a:r>
              <a:t>Generate unit tests with AI assistance</a:t>
            </a:r>
          </a:p>
          <a:p>
            <a:pPr/>
            <a:r>
              <a:t>Identify quality issues in generated tests</a:t>
            </a:r>
          </a:p>
          <a:p>
            <a:pPr/>
            <a:r>
              <a:t>Understand why generated tests require review</a:t>
            </a:r>
          </a:p>
          <a:p/>
          <a:p>
            <a:r>
              <a:t>Activities</a:t>
            </a:r>
          </a:p>
          <a:p/>
          <a:p>
            <a:r>
              <a:t>1. Generate Initial Tests:</a:t>
            </a:r>
          </a:p>
          <a:p/>
          <a:p>
            <a:pPr/>
            <a:r>
              <a:t>Prompt: "Create unit tests for the calculator operations"</a:t>
            </a:r>
          </a:p>
          <a:p>
            <a:pPr/>
            <a:r>
              <a:t>Review generated test structure</a:t>
            </a:r>
          </a:p>
          <a:p>
            <a:pPr/>
            <a:r>
              <a:t>Verify tests call calculator code</a:t>
            </a:r>
          </a:p>
          <a:p/>
          <a:p>
            <a:r>
              <a:t>2. Fix Test Issues:</a:t>
            </a:r>
          </a:p>
          <a:p/>
          <a:p>
            <a:pPr/>
            <a:r>
              <a:t>If tests are trivial (for example 1 + 1 only), identify issue</a:t>
            </a:r>
          </a:p>
          <a:p>
            <a:pPr/>
            <a:r>
              <a:t>Prompt: "Update tests to call Calculator class methods"</a:t>
            </a:r>
          </a:p>
          <a:p>
            <a:pPr/>
            <a:r>
              <a:t>Verify improved test quality</a:t>
            </a:r>
          </a:p>
          <a:p/>
          <a:p>
            <a:r>
              <a:t>3. Run Tests:</a:t>
            </a:r>
          </a:p>
          <a:p/>
          <a:p>
            <a:pPr/>
            <a:r>
              <a:t>Execute test suite</a:t>
            </a:r>
          </a:p>
          <a:p>
            <a:pPr/>
            <a:r>
              <a:t>Review output</a:t>
            </a:r>
          </a:p>
          <a:p>
            <a:pPr/>
            <a:r>
              <a:t>Debug failing tests with Copilot</a:t>
            </a:r>
          </a:p>
          <a:p/>
          <a:p>
            <a:r>
              <a:t>4. Add Edge Cases:</a:t>
            </a:r>
          </a:p>
          <a:p/>
          <a:p>
            <a:pPr/>
            <a:r>
              <a:t>Prompt: "Add tests for edge cases like division by zero"</a:t>
            </a:r>
          </a:p>
          <a:p>
            <a:pPr/>
            <a:r>
              <a:t>Verify exception handling tests</a:t>
            </a:r>
          </a:p>
          <a:p/>
          <a:p>
            <a:r>
              <a:t>Success Criteria</a:t>
            </a:r>
          </a:p>
          <a:p/>
          <a:p>
            <a:pPr/>
            <a:r>
              <a:t>Minimum 8 test cases</a:t>
            </a:r>
          </a:p>
          <a:p>
            <a:pPr/>
            <a:r>
              <a:t>Tests call actual calculator methods</a:t>
            </a:r>
          </a:p>
          <a:p>
            <a:pPr/>
            <a:r>
              <a:t>Edge cases and error conditions included</a:t>
            </a:r>
          </a:p>
          <a:p>
            <a:pPr/>
            <a:r>
              <a:t>All tests pass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Code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30-40 minutes</a:t>
            </a:r>
          </a:p>
          <a:p/>
          <a:p>
            <a:r>
              <a:t>Objectives</a:t>
            </a:r>
          </a:p>
          <a:p/>
          <a:p>
            <a:pPr/>
            <a:r>
              <a:t>Set up code coverage reporting</a:t>
            </a:r>
          </a:p>
          <a:p>
            <a:pPr/>
            <a:r>
              <a:t>Interpret coverage data</a:t>
            </a:r>
          </a:p>
          <a:p>
            <a:pPr/>
            <a:r>
              <a:t>Improve coverage based on identified gaps</a:t>
            </a:r>
          </a:p>
          <a:p/>
          <a:p>
            <a:r>
              <a:t>Activities</a:t>
            </a:r>
          </a:p>
          <a:p/>
          <a:p>
            <a:r>
              <a:t>1. Enable Coverage Collection:</a:t>
            </a:r>
          </a:p>
          <a:p/>
          <a:p>
            <a:pPr/>
            <a:r>
              <a:t>Prompt: "Add code coverage reporting to my test project"</a:t>
            </a:r>
          </a:p>
          <a:p>
            <a:pPr/>
            <a:r>
              <a:t>Review dependencies added</a:t>
            </a:r>
          </a:p>
          <a:p>
            <a:pPr/>
            <a:r>
              <a:t>Resolve NuGet/dependency issues with Copilot</a:t>
            </a:r>
          </a:p>
          <a:p/>
          <a:p>
            <a:r>
              <a:t>2. Generate Coverage Report:</a:t>
            </a:r>
          </a:p>
          <a:p/>
          <a:p>
            <a:pPr/>
            <a:r>
              <a:t>Run tests with coverage</a:t>
            </a:r>
          </a:p>
          <a:p>
            <a:pPr/>
            <a:r>
              <a:t>Review percentage</a:t>
            </a:r>
          </a:p>
          <a:p>
            <a:pPr/>
            <a:r>
              <a:t>Identify uncovered paths</a:t>
            </a:r>
          </a:p>
          <a:p/>
          <a:p>
            <a:r>
              <a:t>3. Improve Coverage:</a:t>
            </a:r>
          </a:p>
          <a:p/>
          <a:p>
            <a:pPr/>
            <a:r>
              <a:t>Add tests for uncovered methods</a:t>
            </a:r>
          </a:p>
          <a:p>
            <a:pPr/>
            <a:r>
              <a:t>Re-run coverage and verify improvement</a:t>
            </a:r>
          </a:p>
          <a:p>
            <a:pPr/>
            <a:r>
              <a:t>Discuss if 100% coverage is necessary</a:t>
            </a:r>
          </a:p>
          <a:p/>
          <a:p>
            <a:r>
              <a:t>Success Criteria</a:t>
            </a:r>
          </a:p>
          <a:p/>
          <a:p>
            <a:pPr/>
            <a:r>
              <a:t>Coverage reporting configured successfully</a:t>
            </a:r>
          </a:p>
          <a:p>
            <a:pPr/>
            <a:r>
              <a:t>Coverage reports can be generated and interpreted</a:t>
            </a:r>
          </a:p>
          <a:p>
            <a:pPr/>
            <a:r>
              <a:t>Reasonable coverage achieved (&gt;80% line coverage)</a:t>
            </a:r>
          </a:p>
          <a:p>
            <a:pPr/>
            <a:r>
              <a:t>Learner understands what coverage metrics mean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Dependency Management and 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30-40 minutes</a:t>
            </a:r>
          </a:p>
          <a:p/>
          <a:p>
            <a:r>
              <a:t>Objectives</a:t>
            </a:r>
          </a:p>
          <a:p/>
          <a:p>
            <a:pPr/>
            <a:r>
              <a:t>Use Copilot to resolve dependency issues</a:t>
            </a:r>
          </a:p>
          <a:p>
            <a:pPr/>
            <a:r>
              <a:t>Handle package restoration problems</a:t>
            </a:r>
          </a:p>
          <a:p>
            <a:pPr/>
            <a:r>
              <a:t>Practice iterative AI-assisted troubleshooting</a:t>
            </a:r>
          </a:p>
          <a:p/>
          <a:p>
            <a:r>
              <a:t>Activities</a:t>
            </a:r>
          </a:p>
          <a:p/>
          <a:p>
            <a:r>
              <a:t>1. Simulate or Identify a Dependency Issue:</a:t>
            </a:r>
          </a:p>
          <a:p/>
          <a:p>
            <a:pPr/>
            <a:r>
              <a:t>Introduce version conflict or use an existing issue</a:t>
            </a:r>
          </a:p>
          <a:p>
            <a:pPr/>
            <a:r>
              <a:t>Prompt: "I'm getting [specific error]. How do I fix it?"</a:t>
            </a:r>
          </a:p>
          <a:p/>
          <a:p>
            <a:r>
              <a:t>2. Follow Copilot Guidance:</a:t>
            </a:r>
          </a:p>
          <a:p/>
          <a:p>
            <a:pPr/>
            <a:r>
              <a:t>Review suggested solutions</a:t>
            </a:r>
          </a:p>
          <a:p>
            <a:pPr/>
            <a:r>
              <a:t>Evaluate alternatives</a:t>
            </a:r>
          </a:p>
          <a:p>
            <a:pPr/>
            <a:r>
              <a:t>Select best option collaboratively</a:t>
            </a:r>
          </a:p>
          <a:p/>
          <a:p>
            <a:r>
              <a:t>3. Iterative Resolution:</a:t>
            </a:r>
          </a:p>
          <a:p/>
          <a:p>
            <a:pPr/>
            <a:r>
              <a:t>Provide new error details when needed</a:t>
            </a:r>
          </a:p>
          <a:p>
            <a:pPr/>
            <a:r>
              <a:t>Continue until resolved</a:t>
            </a:r>
          </a:p>
          <a:p/>
          <a:p>
            <a:r>
              <a:t>4. Practice common issues:</a:t>
            </a:r>
          </a:p>
          <a:p/>
          <a:p>
            <a:pPr/>
            <a:r>
              <a:t>NuGet package source configuration</a:t>
            </a:r>
          </a:p>
          <a:p>
            <a:pPr/>
            <a:r>
              <a:t>MSTest adapter version conflicts</a:t>
            </a:r>
          </a:p>
          <a:p>
            <a:pPr/>
            <a:r>
              <a:t>.NET SDK targeting issues</a:t>
            </a:r>
          </a:p>
          <a:p>
            <a:pPr/>
            <a:r>
              <a:t>Package restoration failures</a:t>
            </a:r>
          </a:p>
          <a:p/>
          <a:p>
            <a:r>
              <a:t>Success Criteria</a:t>
            </a:r>
          </a:p>
          <a:p/>
          <a:p>
            <a:pPr/>
            <a:r>
              <a:t>At least one dependency issue resolved</a:t>
            </a:r>
          </a:p>
          <a:p>
            <a:pPr/>
            <a:r>
              <a:t>Learner can provide useful error context to Copilot</a:t>
            </a:r>
          </a:p>
          <a:p>
            <a:pPr/>
            <a:r>
              <a:t>Iterative problem-solving pattern demonstrated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Best Practices Review and Code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30-40 minutes</a:t>
            </a:r>
          </a:p>
          <a:p/>
          <a:p>
            <a:r>
              <a:t>Objectives</a:t>
            </a:r>
          </a:p>
          <a:p/>
          <a:p>
            <a:pPr/>
            <a:r>
              <a:t>Apply best practices from session</a:t>
            </a:r>
          </a:p>
          <a:p>
            <a:pPr/>
            <a:r>
              <a:t>Review code quality systematically</a:t>
            </a:r>
          </a:p>
          <a:p>
            <a:pPr/>
            <a:r>
              <a:t>Identify and implement meaningful improvements</a:t>
            </a:r>
          </a:p>
          <a:p/>
          <a:p>
            <a:r>
              <a:t>Activities</a:t>
            </a:r>
          </a:p>
          <a:p/>
          <a:p>
            <a:r>
              <a:t>1. Code Quality Check:</a:t>
            </a:r>
          </a:p>
          <a:p/>
          <a:p>
            <a:pPr/>
            <a:r>
              <a:t>Prompt: "Suggest improvements for code quality and maintainability"</a:t>
            </a:r>
          </a:p>
          <a:p>
            <a:pPr/>
            <a:r>
              <a:t>Evaluate suggestions critically</a:t>
            </a:r>
          </a:p>
          <a:p>
            <a:pPr/>
            <a:r>
              <a:t>Implement high-value improvements</a:t>
            </a:r>
          </a:p>
          <a:p/>
          <a:p>
            <a:r>
              <a:t>Success Criteria</a:t>
            </a:r>
          </a:p>
          <a:p/>
          <a:p>
            <a:pPr/>
            <a:r>
              <a:t>Documentation and maintainability improved</a:t>
            </a:r>
          </a:p>
          <a:p>
            <a:pPr/>
            <a:r>
              <a:t>AI suggestions are critically evaluated before adoption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Model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20-30 minutes</a:t>
            </a:r>
          </a:p>
          <a:p/>
          <a:p>
            <a:r>
              <a:t>Objectives</a:t>
            </a:r>
          </a:p>
          <a:p/>
          <a:p>
            <a:pPr/>
            <a:r>
              <a:t>Compare outputs from different AI models</a:t>
            </a:r>
          </a:p>
          <a:p>
            <a:pPr/>
            <a:r>
              <a:t>Understand premium vs standard model trade-offs</a:t>
            </a:r>
          </a:p>
          <a:p>
            <a:pPr/>
            <a:r>
              <a:t>Monitor token usage impact</a:t>
            </a:r>
          </a:p>
          <a:p/>
          <a:p>
            <a:r>
              <a:t>Activities</a:t>
            </a:r>
          </a:p>
          <a:p/>
          <a:p>
            <a:r>
              <a:t>1. Same Prompt, Different Models:</a:t>
            </a:r>
          </a:p>
          <a:p/>
          <a:p>
            <a:pPr/>
            <a:r>
              <a:t>Use one coding task (for example implement bubble sort)</a:t>
            </a:r>
          </a:p>
          <a:p>
            <a:pPr/>
            <a:r>
              <a:t>Compare standard and premium model outputs</a:t>
            </a:r>
          </a:p>
          <a:p/>
          <a:p>
            <a:r>
              <a:t>2. Token Usage Analysis:</a:t>
            </a:r>
          </a:p>
          <a:p/>
          <a:p>
            <a:pPr/>
            <a:r>
              <a:t>Check premium token bar before/after</a:t>
            </a:r>
          </a:p>
          <a:p>
            <a:pPr/>
            <a:r>
              <a:t>Estimate consumed tokens</a:t>
            </a:r>
          </a:p>
          <a:p>
            <a:pPr/>
            <a:r>
              <a:t>Discuss value vs cost</a:t>
            </a:r>
          </a:p>
          <a:p/>
          <a:p>
            <a:r>
              <a:t>3. Best Use Cases:</a:t>
            </a:r>
          </a:p>
          <a:p/>
          <a:p>
            <a:pPr/>
            <a:r>
              <a:t>Identify tasks for standard vs premium models</a:t>
            </a:r>
          </a:p>
          <a:p>
            <a:pPr/>
            <a:r>
              <a:t>Create model selection guidelines</a:t>
            </a:r>
          </a:p>
          <a:p/>
          <a:p>
            <a:r>
              <a:t>4. Ask Mode Advantage:</a:t>
            </a:r>
          </a:p>
          <a:p/>
          <a:p>
            <a:pPr/>
            <a:r>
              <a:t>Use Ask mode with premium model</a:t>
            </a:r>
          </a:p>
          <a:p>
            <a:pPr/>
            <a:r>
              <a:t>Compare with Agent mode token behavior</a:t>
            </a:r>
          </a:p>
          <a:p/>
          <a:p>
            <a:r>
              <a:t>Success Criteria</a:t>
            </a:r>
          </a:p>
          <a:p/>
          <a:p>
            <a:pPr/>
            <a:r>
              <a:t>At least two models compared</a:t>
            </a:r>
          </a:p>
          <a:p>
            <a:pPr/>
            <a:r>
              <a:t>Token consumption trade-offs understood</a:t>
            </a:r>
          </a:p>
          <a:p>
            <a:pPr/>
            <a:r>
              <a:t>Learner can choose model by task type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Calculator Project - Encapsulate Core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15 minutes</a:t>
            </a:r>
          </a:p>
          <a:p/>
          <a:p>
            <a:r>
              <a:t>Objectives</a:t>
            </a:r>
          </a:p>
          <a:p/>
          <a:p>
            <a:pPr/>
            <a:r>
              <a:t>Separate UI concerns from computational logic</a:t>
            </a:r>
          </a:p>
          <a:p>
            <a:pPr/>
            <a:r>
              <a:t>Use AI to scaffold standalone core logic module/class</a:t>
            </a:r>
          </a:p>
          <a:p>
            <a:pPr/>
            <a:r>
              <a:t>Ensure UI communicates through a clean API</a:t>
            </a:r>
          </a:p>
          <a:p>
            <a:pPr/>
            <a:r>
              <a:t>Validate improved testability and maintainability</a:t>
            </a:r>
          </a:p>
          <a:p/>
          <a:p>
            <a:r>
              <a:t>Activities</a:t>
            </a:r>
          </a:p>
          <a:p/>
          <a:p>
            <a:r>
              <a:t>1. Ask AI to generate dedicated component (for example CalculatorEngine or CalculatorCore) containing:</a:t>
            </a:r>
          </a:p>
          <a:p/>
          <a:p>
            <a:pPr/>
            <a:r>
              <a:t>Arithmetic operations</a:t>
            </a:r>
          </a:p>
          <a:p>
            <a:pPr/>
            <a:r>
              <a:t>State management</a:t>
            </a:r>
          </a:p>
          <a:p>
            <a:pPr/>
            <a:r>
              <a:t>Trig/percentage/memory logic where implemented</a:t>
            </a:r>
          </a:p>
          <a:p/>
          <a:p>
            <a:r>
              <a:t>2. Review and refine API surface (naming, inputs, outputs)</a:t>
            </a:r>
          </a:p>
          <a:p>
            <a:r>
              <a:t>3. Replace UI-embedded logic with component calls</a:t>
            </a:r>
          </a:p>
          <a:p/>
          <a:p>
            <a:r>
              <a:t>Success Criteria</a:t>
            </a:r>
          </a:p>
          <a:p/>
          <a:p>
            <a:pPr/>
            <a:r>
              <a:t>All features route through external logic component</a:t>
            </a:r>
          </a:p>
          <a:p>
            <a:pPr/>
            <a:r>
              <a:t>UI contains only event handling/display updates</a:t>
            </a:r>
          </a:p>
          <a:p>
            <a:pPr/>
            <a:r>
              <a:t>Learner can explain modularity and reuse benefits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Security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30-40 minutes</a:t>
            </a:r>
          </a:p>
          <a:p/>
          <a:p>
            <a:r>
              <a:t>Objectives</a:t>
            </a:r>
          </a:p>
          <a:p/>
          <a:p>
            <a:pPr/>
            <a:r>
              <a:t>Systematically review code for security issues</a:t>
            </a:r>
          </a:p>
          <a:p>
            <a:pPr/>
            <a:r>
              <a:t>Address discovered vulnerabilities</a:t>
            </a:r>
          </a:p>
          <a:p>
            <a:pPr/>
            <a:r>
              <a:t>Strengthen input validation and safe patterns</a:t>
            </a:r>
          </a:p>
          <a:p/>
          <a:p>
            <a:r>
              <a:t>Activities</a:t>
            </a:r>
          </a:p>
          <a:p/>
          <a:p>
            <a:r>
              <a:t>1. Security Review:</a:t>
            </a:r>
          </a:p>
          <a:p/>
          <a:p>
            <a:pPr/>
            <a:r>
              <a:t>Prompt: "Review this code for security vulnerabilities"</a:t>
            </a:r>
          </a:p>
          <a:p>
            <a:pPr/>
            <a:r>
              <a:t>Address identified issues</a:t>
            </a:r>
          </a:p>
          <a:p>
            <a:pPr/>
            <a:r>
              <a:t>Add input validation where missing</a:t>
            </a:r>
          </a:p>
          <a:p/>
          <a:p>
            <a:r>
              <a:t>Success Criteria</a:t>
            </a:r>
          </a:p>
          <a:p/>
          <a:p>
            <a:pPr/>
            <a:r>
              <a:t>No obvious security issues remain</a:t>
            </a:r>
          </a:p>
          <a:p>
            <a:pPr/>
            <a:r>
              <a:t>AI recommendations are critically evaluated and validated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30-40 minutes</a:t>
            </a:r>
          </a:p>
          <a:p/>
          <a:p>
            <a:r>
              <a:t>Objectives</a:t>
            </a:r>
          </a:p>
          <a:p/>
          <a:p>
            <a:pPr/>
            <a:r>
              <a:t>Add and improve project documentation</a:t>
            </a:r>
          </a:p>
          <a:p>
            <a:pPr/>
            <a:r>
              <a:t>Review AI-generated docs for accuracy and completeness</a:t>
            </a:r>
          </a:p>
          <a:p/>
          <a:p>
            <a:r>
              <a:t>Activities</a:t>
            </a:r>
          </a:p>
          <a:p/>
          <a:p>
            <a:r>
              <a:t>1. Documentation:</a:t>
            </a:r>
          </a:p>
          <a:p/>
          <a:p>
            <a:pPr/>
            <a:r>
              <a:t>Ask Copilot to generate XML/doc comments</a:t>
            </a:r>
          </a:p>
          <a:p>
            <a:pPr/>
            <a:r>
              <a:t>Review and refine for correctness</a:t>
            </a:r>
          </a:p>
          <a:p>
            <a:pPr/>
            <a:r>
              <a:t>Add README usage instructions</a:t>
            </a:r>
          </a:p>
          <a:p>
            <a:pPr/>
            <a:r>
              <a:t>Ask AI to update existing documentation sections</a:t>
            </a:r>
          </a:p>
          <a:p/>
          <a:p>
            <a:r>
              <a:t>Success Criteria</a:t>
            </a:r>
          </a:p>
          <a:p/>
          <a:p>
            <a:pPr/>
            <a:r>
              <a:t>Documentation is comprehensive and accurate</a:t>
            </a:r>
          </a:p>
          <a:p>
            <a:pPr/>
            <a:r>
              <a:t>AI-generated content is critically reviewed before acceptance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Refactoring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30-40 minutes</a:t>
            </a:r>
          </a:p>
          <a:p/>
          <a:p>
            <a:r>
              <a:t>Objectives</a:t>
            </a:r>
          </a:p>
          <a:p/>
          <a:p>
            <a:pPr/>
            <a:r>
              <a:t>Apply refactoring best practices</a:t>
            </a:r>
          </a:p>
          <a:p>
            <a:pPr/>
            <a:r>
              <a:t>Compare alternative implementations</a:t>
            </a:r>
          </a:p>
          <a:p>
            <a:pPr/>
            <a:r>
              <a:t>Evaluate trade-offs before choosing changes</a:t>
            </a:r>
          </a:p>
          <a:p/>
          <a:p>
            <a:r>
              <a:t>Activities</a:t>
            </a:r>
          </a:p>
          <a:p/>
          <a:p>
            <a:r>
              <a:t>1. Refactoring Exercise:</a:t>
            </a:r>
          </a:p>
          <a:p/>
          <a:p>
            <a:pPr/>
            <a:r>
              <a:t>Ask Copilot for alternative implementations</a:t>
            </a:r>
          </a:p>
          <a:p>
            <a:pPr/>
            <a:r>
              <a:t>Compare readability, complexity, and maintainability</a:t>
            </a:r>
          </a:p>
          <a:p>
            <a:pPr/>
            <a:r>
              <a:t>Discuss trade-offs and select best approach</a:t>
            </a:r>
          </a:p>
          <a:p/>
          <a:p>
            <a:r>
              <a:t>Success Criteria</a:t>
            </a:r>
          </a:p>
          <a:p/>
          <a:p>
            <a:pPr/>
            <a:r>
              <a:t>At least one refactoring improvement implemented</a:t>
            </a:r>
          </a:p>
          <a:p>
            <a:pPr/>
            <a:r>
              <a:t>Code quality and maintainability improved</a:t>
            </a:r>
          </a:p>
          <a:p>
            <a:pPr/>
            <a:r>
              <a:t>AI suggestions critically evaluated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Test Coverage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30-45 minutes</a:t>
            </a:r>
          </a:p>
          <a:p/>
          <a:p>
            <a:r>
              <a:t>Objectives</a:t>
            </a:r>
          </a:p>
          <a:p>
            <a:pPr/>
            <a:r>
              <a:t>Analyze code coverage reports</a:t>
            </a:r>
          </a:p>
          <a:p>
            <a:pPr/>
            <a:r>
              <a:t>Use Copilot to intelligently add tests</a:t>
            </a:r>
          </a:p>
          <a:p>
            <a:pPr/>
            <a:r>
              <a:t>Achieve target coverage percentage</a:t>
            </a:r>
          </a:p>
          <a:p>
            <a:pPr/>
            <a:r>
              <a:t>Balance quantity vs. quality of tests</a:t>
            </a:r>
          </a:p>
          <a:p/>
          <a:p>
            <a:r>
              <a:t>Activities</a:t>
            </a:r>
          </a:p>
          <a:p>
            <a:r>
              <a:t>1. Review Current Coverage:</a:t>
            </a:r>
          </a:p>
          <a:p>
            <a:r>
              <a:t>  - Run tests with coverage reporting</a:t>
            </a:r>
          </a:p>
          <a:p>
            <a:r>
              <a:t>  - Identify uncovered code paths</a:t>
            </a:r>
          </a:p>
          <a:p>
            <a:r>
              <a:t>  - Analyze coverage percentage by file/class</a:t>
            </a:r>
          </a:p>
          <a:p>
            <a:r>
              <a:t>2. Targeted Test Generation:</a:t>
            </a:r>
          </a:p>
          <a:p>
            <a:r>
              <a:t>  - Prompt: "Add tests to increase code coverage to [X]%"</a:t>
            </a:r>
          </a:p>
          <a:p>
            <a:r>
              <a:t>  - Observe how Copilot identifies gaps</a:t>
            </a:r>
          </a:p>
          <a:p>
            <a:r>
              <a:t>  - Review generated tests for quality</a:t>
            </a:r>
          </a:p>
          <a:p>
            <a:r>
              <a:t>3. Strategic Coverage Improvement:</a:t>
            </a:r>
          </a:p>
          <a:p>
            <a:r>
              <a:t>  - Prompt: "Add tests for edge cases in division operation"</a:t>
            </a:r>
          </a:p>
          <a:p>
            <a:r>
              <a:t>  - Prompt: "Add tests for corner cases like divide by zero"</a:t>
            </a:r>
          </a:p>
          <a:p>
            <a:r>
              <a:t>  - Prompt: "Add integration tests for evaluate arithmetic method"</a:t>
            </a:r>
          </a:p>
          <a:p>
            <a:r>
              <a:t>4. Verify Test Quality:</a:t>
            </a:r>
          </a:p>
          <a:p>
            <a:r>
              <a:t>  - Confirm tests call real implementation code</a:t>
            </a:r>
          </a:p>
          <a:p>
            <a:r>
              <a:t>  - Confirm tests verify expected behavior, not just execution</a:t>
            </a:r>
          </a:p>
          <a:p>
            <a:r>
              <a:t>  - Confirm edge cases are properly handled</a:t>
            </a:r>
          </a:p>
          <a:p>
            <a:r>
              <a:t>5. Re-run Coverage:</a:t>
            </a:r>
          </a:p>
          <a:p>
            <a:r>
              <a:t>  - Execute test suite with coverage</a:t>
            </a:r>
          </a:p>
          <a:p>
            <a:r>
              <a:t>  - Compare before/after percentages</a:t>
            </a:r>
          </a:p>
          <a:p>
            <a:r>
              <a:t>  - Identify remaining gaps</a:t>
            </a:r>
          </a:p>
          <a:p/>
          <a:p>
            <a:r>
              <a:t>Success Criteria</a:t>
            </a:r>
          </a:p>
          <a:p>
            <a:pPr/>
            <a:r>
              <a:t>Code coverage increased by at least 20 percentage points</a:t>
            </a:r>
          </a:p>
          <a:p>
            <a:pPr/>
            <a:r>
              <a:t>All new tests are meaningful and test actual implementation</a:t>
            </a:r>
          </a:p>
          <a:p>
            <a:pPr/>
            <a:r>
              <a:t>Tests include edge cases and error conditions</a:t>
            </a:r>
          </a:p>
          <a:p>
            <a:pPr/>
            <a:r>
              <a:t>Coverage report shows improved metrics</a:t>
            </a:r>
          </a:p>
          <a:p>
            <a:pPr/>
            <a:r>
              <a:t>Understanding of test quality vs. quantity trade-offs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Lab 3 - Test-Driven Development (TDD) with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45-60 minutes</a:t>
            </a:r>
          </a:p>
          <a:p/>
          <a:p>
            <a:r>
              <a:t>Objectives</a:t>
            </a:r>
          </a:p>
          <a:p>
            <a:pPr/>
            <a:r>
              <a:t>Practice TDD workflow with AI assistance</a:t>
            </a:r>
          </a:p>
          <a:p>
            <a:pPr/>
            <a:r>
              <a:t>Write failing tests before implementation</a:t>
            </a:r>
          </a:p>
          <a:p>
            <a:pPr/>
            <a:r>
              <a:t>Use tests to drive design decisions</a:t>
            </a:r>
          </a:p>
          <a:p>
            <a:pPr/>
            <a:r>
              <a:t>Understand red-green-refactor cycle</a:t>
            </a:r>
          </a:p>
          <a:p/>
          <a:p>
            <a:r>
              <a:t>Activities</a:t>
            </a:r>
          </a:p>
          <a:p>
            <a:r>
              <a:t>1. Define New Feature:</a:t>
            </a:r>
          </a:p>
          <a:p>
            <a:r>
              <a:t>  - Choose a feature (for example, memory operations for calculator)</a:t>
            </a:r>
          </a:p>
          <a:p>
            <a:r>
              <a:t>  - Store current result (ANS/answer functionality)</a:t>
            </a:r>
          </a:p>
          <a:p>
            <a:r>
              <a:t>  - Recall previous result</a:t>
            </a:r>
          </a:p>
          <a:p>
            <a:r>
              <a:t>  - Handle "ANS + 5" style operations</a:t>
            </a:r>
          </a:p>
          <a:p>
            <a:r>
              <a:t>2. Write Failing Tests First:</a:t>
            </a:r>
          </a:p>
          <a:p>
            <a:r>
              <a:t>  - Prompt: "Using TDD, create tests for a memory/answer feature in the calculator. DO NOT implement the feature yet."</a:t>
            </a:r>
          </a:p>
          <a:p>
            <a:r>
              <a:t>  - Review generated tests</a:t>
            </a:r>
          </a:p>
          <a:p>
            <a:r>
              <a:t>  - Verify tests reference methods that do not exist yet</a:t>
            </a:r>
          </a:p>
          <a:p>
            <a:r>
              <a:t>3. Run Tests (Expect Failures):</a:t>
            </a:r>
          </a:p>
          <a:p>
            <a:r>
              <a:t>  - Execute test suite</a:t>
            </a:r>
          </a:p>
          <a:p>
            <a:r>
              <a:t>  - Observe compilation errors or test failures</a:t>
            </a:r>
          </a:p>
          <a:p>
            <a:r>
              <a:t>  - Document what is missing</a:t>
            </a:r>
          </a:p>
          <a:p>
            <a:r>
              <a:t>4. Implement Feature to Pass Tests:</a:t>
            </a:r>
          </a:p>
          <a:p>
            <a:r>
              <a:t>  - Prompt: "Implement the memory/answer feature to make the tests pass"</a:t>
            </a:r>
          </a:p>
          <a:p>
            <a:r>
              <a:t>  - Review generated implementation</a:t>
            </a:r>
          </a:p>
          <a:p>
            <a:r>
              <a:t>  - Run tests again</a:t>
            </a:r>
          </a:p>
          <a:p>
            <a:r>
              <a:t>  - Verify all tests now pass</a:t>
            </a:r>
          </a:p>
          <a:p>
            <a:r>
              <a:t>5. Refactor:</a:t>
            </a:r>
          </a:p>
          <a:p>
            <a:r>
              <a:t>  - With tests passing, ask for improvements</a:t>
            </a:r>
          </a:p>
          <a:p>
            <a:r>
              <a:t>  - Prompt: "Refactor the answer implementation for better readability"</a:t>
            </a:r>
          </a:p>
          <a:p>
            <a:r>
              <a:t>  - Verify tests still pass after refactoring</a:t>
            </a:r>
          </a:p>
          <a:p/>
          <a:p>
            <a:r>
              <a:t>Success Criteria</a:t>
            </a:r>
          </a:p>
          <a:p>
            <a:pPr/>
            <a:r>
              <a:t>Tests written before implementation</a:t>
            </a:r>
          </a:p>
          <a:p>
            <a:pPr/>
            <a:r>
              <a:t>Initial test run shows failures (red phase)</a:t>
            </a:r>
          </a:p>
          <a:p>
            <a:pPr/>
            <a:r>
              <a:t>Implementation makes all tests pass (green phase)</a:t>
            </a:r>
          </a:p>
          <a:p>
            <a:pPr/>
            <a:r>
              <a:t>Code refactored while maintaining passing tests</a:t>
            </a:r>
          </a:p>
          <a:p>
            <a:pPr/>
            <a:r>
              <a:t>Understanding of TDD benefits and workflow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AI-Assisted CI/CD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GitHub Actions YAML generation</a:t>
            </a:r>
          </a:p>
          <a:p>
            <a:r>
              <a:t>Build automation with AI</a:t>
            </a:r>
          </a:p>
          <a:p>
            <a:r>
              <a:t>Coverage thresholds</a:t>
            </a:r>
          </a:p>
          <a:p>
            <a:r>
              <a:t>Pipeline maintenance and evolution</a:t>
            </a:r>
          </a:p>
          <a:p>
            <a:r>
              <a:t>Exercise: Generate a pipeline from scratch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Pipelines Are Hard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YAML syntax is unforgiving</a:t>
            </a:r>
          </a:p>
          <a:p>
            <a:r>
              <a:t>Action versions change constantly</a:t>
            </a:r>
          </a:p>
          <a:p>
            <a:r>
              <a:t>Environment variables, secrets, and caching rules interact unexpectedly</a:t>
            </a:r>
          </a:p>
          <a:p>
            <a:r>
              <a:t>Coverage gates, linting, and deployment steps differ per project</a:t>
            </a:r>
          </a:p>
          <a:p>
            <a:r>
              <a:t>Copy-paste drift between projects accumulates silently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AI Brings to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```text</a:t>
            </a:r>
          </a:p>
          <a:p>
            <a:r>
              <a:t>You → intent           AI → working YAML</a:t>
            </a:r>
          </a:p>
          <a:p>
            <a:r>
              <a:t>   "run tests on PR"        on: [pull_request]</a:t>
            </a:r>
          </a:p>
          <a:p>
            <a:r>
              <a:t>                            jobs: test: ...</a:t>
            </a:r>
          </a:p>
          <a:p>
            <a:r>
              <a:t>```</a:t>
            </a:r>
          </a:p>
          <a:p/>
          <a:p>
            <a:r>
              <a:t>Generate pipelines from plain English</a:t>
            </a:r>
          </a:p>
          <a:p>
            <a:r>
              <a:t>Explain unfamiliar pipeline syntax</a:t>
            </a:r>
          </a:p>
          <a:p>
            <a:r>
              <a:t>Diagnose failing workflow runs from logs</a:t>
            </a:r>
          </a:p>
          <a:p>
            <a:r>
              <a:t>Suggest caching, matrix, and concurrency improvements</a:t>
            </a:r>
          </a:p>
          <a:p>
            <a:r>
              <a:t>Keep actions pinned and up to date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Actions YAML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Ask Copilot in chat or inline:</a:t>
            </a:r>
          </a:p>
          <a:p/>
          <a:p>
            <a:r>
              <a:t>```text</a:t>
            </a:r>
          </a:p>
          <a:p>
            <a:r>
              <a:t>Prompt: "Create a GitHub Actions workflow that runs</a:t>
            </a:r>
          </a:p>
          <a:p>
            <a:r>
              <a:t>dotnet test on every pull request targeting main,</a:t>
            </a:r>
          </a:p>
          <a:p>
            <a:r>
              <a:t>uploads a code coverage report, and fails if</a:t>
            </a:r>
          </a:p>
          <a:p>
            <a:r>
              <a:t>coverage drops below 80%."</a:t>
            </a:r>
          </a:p>
          <a:p>
            <a:r>
              <a:t>```</a:t>
            </a:r>
          </a:p>
          <a:p/>
          <a:p>
            <a:r>
              <a:t>Copilot generates:</a:t>
            </a:r>
          </a:p>
          <a:p/>
          <a:p>
            <a:pPr/>
            <a:r>
              <a:t>Trigger block (`on:`)</a:t>
            </a:r>
          </a:p>
          <a:p>
            <a:pPr/>
            <a:r>
              <a:t>Job matrix</a:t>
            </a:r>
          </a:p>
          <a:p>
            <a:pPr/>
            <a:r>
              <a:t>Step sequence</a:t>
            </a:r>
          </a:p>
          <a:p>
            <a:pPr/>
            <a:r>
              <a:t>Coverage upload + threshold enforcement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an AI-Generated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```yaml</a:t>
            </a:r>
          </a:p>
          <a:p>
            <a:r>
              <a:t>name: CI</a:t>
            </a:r>
          </a:p>
          <a:p/>
          <a:p>
            <a:r>
              <a:t>on:</a:t>
            </a:r>
          </a:p>
          <a:p>
            <a:r>
              <a:t>  pull_request:</a:t>
            </a:r>
          </a:p>
          <a:p>
            <a:r>
              <a:t>    branches: [main]</a:t>
            </a:r>
          </a:p>
          <a:p/>
          <a:p>
            <a:r>
              <a:t>jobs:</a:t>
            </a:r>
          </a:p>
          <a:p>
            <a:r>
              <a:t>  build-and-test:</a:t>
            </a:r>
          </a:p>
          <a:p>
            <a:r>
              <a:t>    runs-on: ubuntu-latest</a:t>
            </a:r>
          </a:p>
          <a:p>
            <a:r>
              <a:t>    steps:</a:t>
            </a:r>
          </a:p>
          <a:p>
            <a:r>
              <a:t>      - uses: actions/checkout@v4</a:t>
            </a:r>
          </a:p>
          <a:p>
            <a:r>
              <a:t>      - uses: actions/setup-dotnet@v4</a:t>
            </a:r>
          </a:p>
          <a:p>
            <a:r>
              <a:t>        with:</a:t>
            </a:r>
          </a:p>
          <a:p>
            <a:r>
              <a:t>          dotnet-version: "8.x"</a:t>
            </a:r>
          </a:p>
          <a:p>
            <a:r>
              <a:t>      - run: dotnet restore</a:t>
            </a:r>
          </a:p>
          <a:p>
            <a:r>
              <a:t>      - run: dotnet build --no-restore</a:t>
            </a:r>
          </a:p>
          <a:p>
            <a:r>
              <a:t>      - run: dotnet test --no-build</a:t>
            </a:r>
          </a:p>
          <a:p>
            <a:r>
              <a:t>          --collect:"XPlat Code Coverage"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Coverage Thresholds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Coverage gates enforce quality — AI helps configure them correctly</a:t>
            </a:r>
          </a:p>
          <a:p/>
          <a:p>
            <a:r>
              <a:t>```yaml</a:t>
            </a:r>
          </a:p>
          <a:p>
            <a:pPr/>
            <a:r>
              <a:t>name: Test with coverage</a:t>
            </a:r>
          </a:p>
          <a:p>
            <a:r>
              <a:t>  run: |</a:t>
            </a:r>
          </a:p>
          <a:p>
            <a:r>
              <a:t>    dotnet test --collect:"XPlat Code Coverage" \</a:t>
            </a:r>
          </a:p>
          <a:p>
            <a:r>
              <a:t>      -- DataCollectionRunSettings.DataCollectors \</a:t>
            </a:r>
          </a:p>
          <a:p>
            <a:r>
              <a:t>         .DataCollector.Configuration.Threshold=80</a:t>
            </a:r>
          </a:p>
          <a:p/>
          <a:p>
            <a:pPr/>
            <a:r>
              <a:t>name: Upload coverage</a:t>
            </a:r>
          </a:p>
          <a:p>
            <a:r>
              <a:t>  uses: codecov/codecov-action@v4</a:t>
            </a:r>
          </a:p>
          <a:p>
            <a:r>
              <a:t>  with:</a:t>
            </a:r>
          </a:p>
          <a:p>
            <a:r>
              <a:t>    fail_ci_if_error: true</a:t>
            </a:r>
          </a:p>
          <a:p>
            <a:r>
              <a:t>    threshold: 80</a:t>
            </a:r>
          </a:p>
          <a:p>
            <a:r>
              <a:t>```</a:t>
            </a:r>
          </a:p>
          <a:p/>
          <a:p>
            <a:r>
              <a:t>Ask Copilot: _"How do I fail the build if branch coverage drops below 80%?"_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Automation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AI can generate: matrix builds, dependency caching, artifact upload</a:t>
            </a:r>
          </a:p>
          <a:p/>
          <a:p>
            <a:r>
              <a:t>```yaml</a:t>
            </a:r>
          </a:p>
          <a:p>
            <a:r>
              <a:t>strategy:</a:t>
            </a:r>
          </a:p>
          <a:p>
            <a:r>
              <a:t>  matrix:</a:t>
            </a:r>
          </a:p>
          <a:p>
            <a:r>
              <a:t>    os: [ubuntu-latest, windows-latest]</a:t>
            </a:r>
          </a:p>
          <a:p>
            <a:r>
              <a:t>    dotnet: ["7.x", "8.x"]</a:t>
            </a:r>
          </a:p>
          <a:p/>
          <a:p>
            <a:r>
              <a:t>steps:</a:t>
            </a:r>
          </a:p>
          <a:p>
            <a:r>
              <a:t>  - uses: actions/cache@v4</a:t>
            </a:r>
          </a:p>
          <a:p>
            <a:r>
              <a:t>    with:</a:t>
            </a:r>
          </a:p>
          <a:p>
            <a:r>
              <a:t>      path: ~/.nuget/packages</a:t>
            </a:r>
          </a:p>
          <a:p>
            <a:r>
              <a:t>      key: ${{ runner.os }}-nuget-</a:t>
            </a:r>
          </a:p>
          <a:p>
            <a:r>
              <a:t>        ${{ hashFiles('**/*.csproj') }}</a:t>
            </a:r>
          </a:p>
          <a:p/>
          <a:p>
            <a:r>
              <a:t>  - uses: actions/upload-artifact@v4</a:t>
            </a:r>
          </a:p>
          <a:p>
            <a:r>
              <a:t>    with:</a:t>
            </a:r>
          </a:p>
          <a:p>
            <a:r>
              <a:t>      name: test-results</a:t>
            </a:r>
          </a:p>
          <a:p>
            <a:r>
              <a:t>      path: TestResults/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Maintaining Pipelines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Pipelines rot — actions deprecate, runners change, dependencies drift</a:t>
            </a:r>
          </a:p>
          <a:p/>
          <a:p>
            <a:r>
              <a:t>Ask Copilot to:</a:t>
            </a:r>
          </a:p>
          <a:p/>
          <a:p>
            <a:pPr/>
            <a:r>
              <a:t>Explain a failing run from pasted log output</a:t>
            </a:r>
          </a:p>
          <a:p>
            <a:pPr/>
            <a:r>
              <a:t>Upgrade pinned action versions safely</a:t>
            </a:r>
          </a:p>
          <a:p>
            <a:pPr/>
            <a:r>
              <a:t>Refactor a 300-line workflow into reusable workflows</a:t>
            </a:r>
          </a:p>
          <a:p>
            <a:pPr/>
            <a:r>
              <a:t>Add a deployment stage to an existing CI workflow</a:t>
            </a:r>
          </a:p>
          <a:p/>
          <a:p>
            <a:r>
              <a:t>_"This workflow is failing with exit code 128 — here is the log. What is wrong?"_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Reusable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AI generates caller and callee in one prompt</a:t>
            </a:r>
          </a:p>
          <a:p/>
          <a:p>
            <a:r>
              <a:t>```yaml</a:t>
            </a:r>
          </a:p>
          <a:p>
            <a:r>
              <a:t># .github/workflows/reusable-test.yml</a:t>
            </a:r>
          </a:p>
          <a:p>
            <a:r>
              <a:t>on:</a:t>
            </a:r>
          </a:p>
          <a:p>
            <a:r>
              <a:t>  workflow_call:</a:t>
            </a:r>
          </a:p>
          <a:p>
            <a:r>
              <a:t>    inputs:</a:t>
            </a:r>
          </a:p>
          <a:p>
            <a:r>
              <a:t>      dotnet-version:</a:t>
            </a:r>
          </a:p>
          <a:p>
            <a:r>
              <a:t>        required: true</a:t>
            </a:r>
          </a:p>
          <a:p>
            <a:r>
              <a:t>        type: string</a:t>
            </a:r>
          </a:p>
          <a:p/>
          <a:p>
            <a:r>
              <a:t>jobs:</a:t>
            </a:r>
          </a:p>
          <a:p>
            <a:r>
              <a:t>  test:</a:t>
            </a:r>
          </a:p>
          <a:p>
            <a:r>
              <a:t>    runs-on: ubuntu-latest</a:t>
            </a:r>
          </a:p>
          <a:p>
            <a:r>
              <a:t>    steps:</a:t>
            </a:r>
          </a:p>
          <a:p>
            <a:r>
              <a:t>      - uses: actions/checkout@v4</a:t>
            </a:r>
          </a:p>
          <a:p>
            <a:r>
              <a:t>      - uses: actions/setup-dotnet@v4</a:t>
            </a:r>
          </a:p>
          <a:p>
            <a:r>
              <a:t>        with:</a:t>
            </a:r>
          </a:p>
          <a:p>
            <a:r>
              <a:t>          dotnet-version: ${{ inputs.dotnet-version }}</a:t>
            </a:r>
          </a:p>
          <a:p>
            <a:r>
              <a:t>      - run: dotnet test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Secrets, Permissions, and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AI assists but YOU own security decisions</a:t>
            </a:r>
          </a:p>
          <a:p/>
          <a:p>
            <a:r>
              <a:t>```yaml</a:t>
            </a:r>
          </a:p>
          <a:p>
            <a:r>
              <a:t>permissions:</a:t>
            </a:r>
          </a:p>
          <a:p>
            <a:r>
              <a:t>  contents: read</a:t>
            </a:r>
          </a:p>
          <a:p>
            <a:r>
              <a:t>  checks: write # required for test reporters</a:t>
            </a:r>
          </a:p>
          <a:p>
            <a:r>
              <a:t>  pull-requests: write # required for PR comments</a:t>
            </a:r>
          </a:p>
          <a:p/>
          <a:p>
            <a:r>
              <a:t>env:</a:t>
            </a:r>
          </a:p>
          <a:p>
            <a:r>
              <a:t>  SONAR_TOKEN: ${{ secrets.SONAR_TOKEN }}</a:t>
            </a:r>
          </a:p>
          <a:p>
            <a:r>
              <a:t>```</a:t>
            </a:r>
          </a:p>
          <a:p/>
          <a:p>
            <a:r>
              <a:t>Ask AI: _"What is the minimum permissions block for uploading coverage?"_</a:t>
            </a:r>
          </a:p>
          <a:p>
            <a:r>
              <a:t>Review AI output — it cannot know your org's secret names</a:t>
            </a:r>
          </a:p>
          <a:p>
            <a:r>
              <a:t>Never commit secrets; use `${{ secrets.NAME }}`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Zero to Pipeline: Live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```text</a:t>
            </a:r>
          </a:p>
          <a:p>
            <a:r>
              <a:t>1. Describe your stack to Copilot</a:t>
            </a:r>
          </a:p>
          <a:p>
            <a:r>
              <a:t>   "Node 20, Vitest, Playwright e2e, deploys to Azure"</a:t>
            </a:r>
          </a:p>
          <a:p/>
          <a:p>
            <a:r>
              <a:t>2. Ask for a complete CI workflow</a:t>
            </a:r>
          </a:p>
          <a:p>
            <a:r>
              <a:t>   → Copilot generates trigger, jobs, steps</a:t>
            </a:r>
          </a:p>
          <a:p/>
          <a:p>
            <a:r>
              <a:t>3. Ask for coverage enforcement</a:t>
            </a:r>
          </a:p>
          <a:p>
            <a:r>
              <a:t>   → Copilot adds threshold + upload steps</a:t>
            </a:r>
          </a:p>
          <a:p/>
          <a:p>
            <a:r>
              <a:t>4. Ask "what caching should I add?"</a:t>
            </a:r>
          </a:p>
          <a:p>
            <a:r>
              <a:t>   → Copilot adds node_modules cache with correct key</a:t>
            </a:r>
          </a:p>
          <a:p/>
          <a:p>
            <a:r>
              <a:t>5. Paste a failure log and ask "why?"</a:t>
            </a:r>
          </a:p>
          <a:p>
            <a:r>
              <a:t>   → Copilot diagnoses in seconds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Goal</a:t>
            </a:r>
            <a:r>
              <a:t>: Generate a complete CI pipeline for a provided sample repo</a:t>
            </a:r>
          </a:p>
          <a:p/>
          <a:p>
            <a:r>
              <a:t>1. Open GitHub Copilot Chat in VS Code</a:t>
            </a:r>
          </a:p>
          <a:p>
            <a:r>
              <a:t>2. Ask: _"Create a GitHub Actions CI workflow for this project"_</a:t>
            </a:r>
          </a:p>
          <a:p>
            <a:r>
              <a:t>3. Review and commit the generated YAML</a:t>
            </a:r>
          </a:p>
          <a:p>
            <a:r>
              <a:t>4. Add a coverage threshold at 70%</a:t>
            </a:r>
          </a:p>
          <a:p>
            <a:r>
              <a:t>5. Ask Copilot to explain one step you do not understand</a:t>
            </a:r>
          </a:p>
          <a:p>
            <a:r>
              <a:t>6. </a:t>
            </a:r>
            <a:r>
              <a:rPr b="1"/>
              <a:t>Bonus</a:t>
            </a:r>
            <a:r>
              <a:t>: Add a matrix build for two Node versions</a:t>
            </a:r>
          </a:p>
          <a:p/>
          <a:p>
            <a:r>
              <a:t>_Sample repo link provided by instructor_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AI dramatically shortens the pipeline feedback loop</a:t>
            </a:r>
          </a:p>
          <a:p>
            <a:r>
              <a:t>Generated YAML is a starting point — review every line</a:t>
            </a:r>
          </a:p>
          <a:p>
            <a:r>
              <a:t>Coverage thresholds belong in both the test runner _and_ the upload action</a:t>
            </a:r>
          </a:p>
          <a:p>
            <a:r>
              <a:t>Reusable workflows reduce drift across repositories</a:t>
            </a:r>
          </a:p>
          <a:p>
            <a:r>
              <a:t>Maintenance conversations are as valuable as generation</a:t>
            </a:r>
          </a:p>
          <a:p>
            <a:r>
              <a:t>You own the pipeline; AI is your co-pilot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AI-Assisted GitHub Pull Requests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Pull Request Lifecycle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96"/>
                      </a:pPr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96"/>
                      </a:pPr>
                      <a:r>
                        <a:t>AI Assistance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Writing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Copilot completions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Drafting the 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Generated description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Code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Inline suggestions &amp; summaries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Addressing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Guided fixes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Final merge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Automated checks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AI-Generated PR Descriptions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GitHub Copilot can </a:t>
            </a:r>
            <a:r>
              <a:rPr b="1"/>
              <a:t>draft your PR description</a:t>
            </a:r>
            <a:r>
              <a:t> based on your diff:</a:t>
            </a:r>
          </a:p>
          <a:p/>
          <a:p>
            <a:pPr/>
            <a:r>
              <a:t>Summarizes </a:t>
            </a:r>
            <a:r>
              <a:rPr b="1"/>
              <a:t>what changed</a:t>
            </a:r>
            <a:r>
              <a:t> and </a:t>
            </a:r>
            <a:r>
              <a:rPr b="1"/>
              <a:t>why</a:t>
            </a:r>
          </a:p>
          <a:p>
            <a:pPr/>
            <a:r>
              <a:t>Suggests </a:t>
            </a:r>
            <a:r>
              <a:rPr b="1"/>
              <a:t>testing instructions</a:t>
            </a:r>
          </a:p>
          <a:p>
            <a:pPr/>
            <a:r>
              <a:t>Highlights </a:t>
            </a:r>
            <a:r>
              <a:rPr b="1"/>
              <a:t>breaking changes</a:t>
            </a:r>
          </a:p>
          <a:p>
            <a:pPr/>
            <a:r>
              <a:t>Links related </a:t>
            </a:r>
            <a:r>
              <a:rPr b="1"/>
              <a:t>issues and tickets</a:t>
            </a:r>
          </a:p>
          <a:p/>
          <a:p>
            <a:r>
              <a:t>&gt; 💡 Use `gh pr create` with Copilot in the CLI, or the </a:t>
            </a:r>
            <a:r>
              <a:rPr b="1"/>
              <a:t>GitHub web editor</a:t>
            </a:r>
            <a:r>
              <a:t> with AI suggestions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Effective PR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Getting great AI output starts with </a:t>
            </a:r>
            <a:r>
              <a:rPr b="1"/>
              <a:t>good context</a:t>
            </a:r>
            <a:r>
              <a:t>:</a:t>
            </a:r>
          </a:p>
          <a:p/>
          <a:p>
            <a:r>
              <a:t>```markdown</a:t>
            </a:r>
          </a:p>
          <a:p>
            <a:r>
              <a:t># Good PR Description Prompt Pattern</a:t>
            </a:r>
          </a:p>
          <a:p/>
          <a:p/>
          <a:p>
            <a:pPr/>
            <a:r>
              <a:t>Brief bullet list of changes</a:t>
            </a:r>
          </a:p>
          <a:p/>
          <a:p/>
          <a:p>
            <a:pPr/>
            <a:r>
              <a:t>Business context or issue reference</a:t>
            </a:r>
          </a:p>
          <a:p/>
          <a:p/>
          <a:p>
            <a:pPr/>
            <a:r>
              <a:t>Step-by-step verification</a:t>
            </a:r>
          </a:p>
          <a:p>
            <a:r>
              <a:t>```</a:t>
            </a:r>
          </a:p>
          <a:p/>
          <a:p>
            <a:r>
              <a:t>Ask Copilot: _"Generate a PR description for these changes that explains the business impact"_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Code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GitHub Copilot assists reviewers with:</a:t>
            </a:r>
          </a:p>
          <a:p/>
          <a:p>
            <a:pPr/>
            <a:r>
              <a:rPr b="1"/>
              <a:t>Inline explanations</a:t>
            </a:r>
            <a:r>
              <a:t> of complex code</a:t>
            </a:r>
          </a:p>
          <a:p>
            <a:pPr/>
            <a:r>
              <a:rPr b="1"/>
              <a:t>Suggested improvements</a:t>
            </a:r>
            <a:r>
              <a:t> with rationale</a:t>
            </a:r>
          </a:p>
          <a:p>
            <a:pPr/>
            <a:r>
              <a:rPr b="1"/>
              <a:t>Security vulnerability</a:t>
            </a:r>
            <a:r>
              <a:t> detection</a:t>
            </a:r>
          </a:p>
          <a:p>
            <a:pPr/>
            <a:r>
              <a:rPr b="1"/>
              <a:t>Test coverage</a:t>
            </a:r>
            <a:r>
              <a:t> gap identification</a:t>
            </a:r>
          </a:p>
          <a:p>
            <a:pPr/>
            <a:r>
              <a:rPr b="1"/>
              <a:t>Style and convention</a:t>
            </a:r>
            <a:r>
              <a:t> enforcement</a:t>
            </a:r>
          </a:p>
          <a:p/>
          <a:p>
            <a:r>
              <a:t>&gt; Use `@workspace` in Copilot Chat to ask questions across the entire PR diff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 PR Summaries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GitHub Copilot can </a:t>
            </a:r>
            <a:r>
              <a:rPr b="1"/>
              <a:t>summarize large PRs</a:t>
            </a:r>
            <a:r>
              <a:t> automatically:</a:t>
            </a:r>
          </a:p>
          <a:p/>
          <a:p>
            <a:pPr/>
            <a:r>
              <a:t>Condenses hundreds of lines of diff into a </a:t>
            </a:r>
            <a:r>
              <a:rPr b="1"/>
              <a:t>paragraph</a:t>
            </a:r>
          </a:p>
          <a:p>
            <a:pPr/>
            <a:r>
              <a:t>Categorizes changes: _features, fixes, refactors_</a:t>
            </a:r>
          </a:p>
          <a:p>
            <a:pPr/>
            <a:r>
              <a:t>Flags </a:t>
            </a:r>
            <a:r>
              <a:rPr b="1"/>
              <a:t>high-risk areas</a:t>
            </a:r>
            <a:r>
              <a:t> that need closer review</a:t>
            </a:r>
          </a:p>
          <a:p>
            <a:pPr/>
            <a:r>
              <a:t>Generates a </a:t>
            </a:r>
            <a:r>
              <a:rPr b="1"/>
              <a:t>changelog entry</a:t>
            </a:r>
            <a:r>
              <a:t> from the summary</a:t>
            </a:r>
          </a:p>
          <a:p/>
          <a:p>
            <a:r>
              <a:t>```</a:t>
            </a:r>
          </a:p>
          <a:p>
            <a:r>
              <a:t>GitHub.com → Pull Request → Copilot Summary button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Responding to Review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AI accelerates </a:t>
            </a:r>
            <a:r>
              <a:rPr b="1"/>
              <a:t>addressing reviewer comments</a:t>
            </a:r>
            <a:r>
              <a:t>:</a:t>
            </a:r>
          </a:p>
          <a:p/>
          <a:p>
            <a:r>
              <a:t>1. Copilot suggests </a:t>
            </a:r>
            <a:r>
              <a:rPr b="1"/>
              <a:t>code fixes</a:t>
            </a:r>
            <a:r>
              <a:t> inline from review comments</a:t>
            </a:r>
          </a:p>
          <a:p>
            <a:r>
              <a:t>2. Ask Copilot Chat: _"How do I fix this review comment?"_</a:t>
            </a:r>
          </a:p>
          <a:p>
            <a:r>
              <a:t>3. Copilot </a:t>
            </a:r>
            <a:r>
              <a:rPr b="1"/>
              <a:t>Autofix</a:t>
            </a:r>
            <a:r>
              <a:t> resolves flagged security issues</a:t>
            </a:r>
          </a:p>
          <a:p>
            <a:r>
              <a:t>4. Batch-address similar comments across files</a:t>
            </a:r>
          </a:p>
          <a:p/>
          <a:p>
            <a:r>
              <a:t>&gt; 🔁 The feedback loop closes faster when AI drafts the fix and the human approves it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PR Checks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Integrate AI into your </a:t>
            </a:r>
            <a:r>
              <a:rPr b="1"/>
              <a:t>CI/CD pipeline</a:t>
            </a:r>
            <a:r>
              <a:t>:</a:t>
            </a:r>
          </a:p>
          <a:p/>
          <a:p>
            <a:r>
              <a:t>```yaml</a:t>
            </a:r>
          </a:p>
          <a:p>
            <a:r>
              <a:t># .github/workflows/pr-review.yml</a:t>
            </a:r>
          </a:p>
          <a:p>
            <a:pPr/>
            <a:r>
              <a:t>name: Copilot Code Review</a:t>
            </a:r>
          </a:p>
          <a:p>
            <a:r>
              <a:t>  uses: github/copilot-code-review@v1</a:t>
            </a:r>
          </a:p>
          <a:p/>
          <a:p>
            <a:pPr/>
            <a:r>
              <a:t>name: AI Security Scan</a:t>
            </a:r>
          </a:p>
          <a:p>
            <a:r>
              <a:t>  uses: github/advanced-security-action@v2</a:t>
            </a:r>
          </a:p>
          <a:p>
            <a:r>
              <a:t>```</a:t>
            </a:r>
          </a:p>
          <a:p/>
          <a:p>
            <a:pPr/>
            <a:r>
              <a:t>Run AI review on </a:t>
            </a:r>
            <a:r>
              <a:rPr b="1"/>
              <a:t>every PR automatically</a:t>
            </a:r>
          </a:p>
          <a:p>
            <a:pPr/>
            <a:r>
              <a:t>Block merges on </a:t>
            </a:r>
            <a:r>
              <a:rPr b="1"/>
              <a:t>critical AI-flagged issues</a:t>
            </a:r>
          </a:p>
          <a:p>
            <a:pPr/>
            <a:r>
              <a:t>Post AI summary as a </a:t>
            </a:r>
            <a:r>
              <a:rPr b="1"/>
              <a:t>PR comment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### Teams using AI for PRs report:</a:t>
            </a:r>
          </a:p>
          <a:p/>
          <a:p>
            <a:pPr/>
            <a:r>
              <a:rPr b="1"/>
              <a:t>40-60% reduction</a:t>
            </a:r>
            <a:r>
              <a:t> in time-to-first-review</a:t>
            </a:r>
          </a:p>
          <a:p>
            <a:pPr/>
            <a:r>
              <a:rPr b="1"/>
              <a:t>Clearer PR descriptions</a:t>
            </a:r>
            <a:r>
              <a:t> leading to fewer questions</a:t>
            </a:r>
          </a:p>
          <a:p>
            <a:pPr/>
            <a:r>
              <a:rPr b="1"/>
              <a:t>Faster onboarding</a:t>
            </a:r>
            <a:r>
              <a:t> — new devs produce PR-ready code sooner</a:t>
            </a:r>
          </a:p>
          <a:p>
            <a:pPr/>
            <a:r>
              <a:rPr b="1"/>
              <a:t>Higher review quality</a:t>
            </a:r>
            <a:r>
              <a:t> — reviewers catch logic issues, not style issues</a:t>
            </a:r>
          </a:p>
          <a:p/>
          <a:p>
            <a:r>
              <a:t>&gt; Source: GitHub internal data, 2024–2025 Copilot usage studies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✅ </a:t>
            </a:r>
            <a:r>
              <a:rPr b="1"/>
              <a:t>Do</a:t>
            </a:r>
          </a:p>
          <a:p/>
          <a:p>
            <a:pPr/>
            <a:r>
              <a:t>Review and personalize AI-generated descriptions</a:t>
            </a:r>
          </a:p>
          <a:p>
            <a:pPr/>
            <a:r>
              <a:t>Use Copilot Chat to ask questions during review</a:t>
            </a:r>
          </a:p>
          <a:p>
            <a:pPr/>
            <a:r>
              <a:t>Enable Copilot Autofix for security alerts</a:t>
            </a:r>
          </a:p>
          <a:p>
            <a:pPr/>
            <a:r>
              <a:t>Add a PR template to guide AI output</a:t>
            </a:r>
          </a:p>
          <a:p/>
          <a:p>
            <a:r>
              <a:t>❌ </a:t>
            </a:r>
            <a:r>
              <a:rPr b="1"/>
              <a:t>Avoid</a:t>
            </a:r>
          </a:p>
          <a:p/>
          <a:p>
            <a:pPr/>
            <a:r>
              <a:t>Merging AI-generated descriptions without reading them</a:t>
            </a:r>
          </a:p>
          <a:p>
            <a:pPr/>
            <a:r>
              <a:t>Treating AI review as a substitute for human judgment</a:t>
            </a:r>
          </a:p>
          <a:p>
            <a:pPr/>
            <a:r>
              <a:t>Over-automating to the point of alert fatigue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### Start small, build habits:</a:t>
            </a:r>
          </a:p>
          <a:p/>
          <a:p>
            <a:r>
              <a:t>1. </a:t>
            </a:r>
            <a:r>
              <a:rPr b="1"/>
              <a:t>Today</a:t>
            </a:r>
            <a:r>
              <a:t>: Use Copilot to draft your next PR description</a:t>
            </a:r>
          </a:p>
          <a:p>
            <a:r>
              <a:t>2. </a:t>
            </a:r>
            <a:r>
              <a:rPr b="1"/>
              <a:t>This week</a:t>
            </a:r>
            <a:r>
              <a:t>: Try Copilot Chat during your next code review</a:t>
            </a:r>
          </a:p>
          <a:p>
            <a:r>
              <a:t>3. </a:t>
            </a:r>
            <a:r>
              <a:rPr b="1"/>
              <a:t>This sprint</a:t>
            </a:r>
            <a:r>
              <a:t>: Add a PR template to guide AI descriptions</a:t>
            </a:r>
          </a:p>
          <a:p>
            <a:r>
              <a:t>4. </a:t>
            </a:r>
            <a:r>
              <a:rPr b="1"/>
              <a:t>This quarter</a:t>
            </a:r>
            <a:r>
              <a:t>: Automate AI checks in your CI pipeline</a:t>
            </a:r>
          </a:p>
          <a:p/>
          <a:p>
            <a:r>
              <a:t>&gt; 📖 Resources:</a:t>
            </a:r>
          </a:p>
          <a:p>
            <a:r>
              <a:t>&gt;</a:t>
            </a:r>
          </a:p>
          <a:p>
            <a:r>
              <a:t>&gt; - GitHub Copilot for PRs: https://docs.github.com/copilot</a:t>
            </a:r>
          </a:p>
          <a:p>
            <a:r>
              <a:t>&gt; - GitHub Advanced Security: https://docs.github.com/en/code-security</a:t>
            </a:r>
          </a:p>
          <a:p>
            <a:r>
              <a:t>&gt; - gh CLI: https://cli.github.com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96"/>
                      </a:pPr>
                      <a:r>
                        <a:t>Without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96"/>
                      </a:pPr>
                      <a:r>
                        <a:t>With AI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Manual PR descriptions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Auto-generated, structured descriptions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Line-by-line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AI-summarized highlights + human logic review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Slow feedback loops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Inline fix suggestions from review comments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Inconsistent standards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Automated checks on every PR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Slow 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New devs match team standards faster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Multi‑Model Implementation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Implementing changes with different AI models</a:t>
            </a:r>
          </a:p>
          <a:p>
            <a:r>
              <a:t>Comparing approaches and outcomes</a:t>
            </a:r>
          </a:p>
          <a:p>
            <a:r>
              <a:t>Risk assessment and quality evaluation</a:t>
            </a:r>
          </a:p>
          <a:p>
            <a:r>
              <a:t>Best practice synthesis</a:t>
            </a:r>
          </a:p>
          <a:p>
            <a:r>
              <a:t>Exercises for hands‑on practice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Implementing Changes With Different AI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Why use multiple models?</a:t>
            </a:r>
          </a:p>
          <a:p>
            <a:r>
              <a:t>Different reasoning styles</a:t>
            </a:r>
          </a:p>
          <a:p>
            <a:r>
              <a:t>Different strengths (refactoring, documentation, architecture)</a:t>
            </a:r>
          </a:p>
          <a:p>
            <a:r>
              <a:t>Cross‑validation reduces risk</a:t>
            </a:r>
          </a:p>
          <a:p>
            <a:r>
              <a:t>Helps detect missing context or contradictions</a:t>
            </a:r>
          </a:p>
          <a:p>
            <a:r>
              <a:t>Typical use cases</a:t>
            </a:r>
          </a:p>
          <a:p>
            <a:r>
              <a:t>Refactoring comparisons</a:t>
            </a:r>
          </a:p>
          <a:p>
            <a:r>
              <a:t>Documentation consistency checks</a:t>
            </a:r>
          </a:p>
          <a:p>
            <a:r>
              <a:t>Architecture proposal validation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Approaches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What to compare</a:t>
            </a:r>
          </a:p>
          <a:p>
            <a:r>
              <a:t>Code structure and clarity</a:t>
            </a:r>
          </a:p>
          <a:p>
            <a:r>
              <a:t>Architectural alignment</a:t>
            </a:r>
          </a:p>
          <a:p>
            <a:r>
              <a:t>Test quality</a:t>
            </a:r>
          </a:p>
          <a:p>
            <a:r>
              <a:t>Documentation completeness</a:t>
            </a:r>
          </a:p>
          <a:p>
            <a:r>
              <a:t>Risk level of proposed changes</a:t>
            </a:r>
          </a:p>
          <a:p>
            <a:r>
              <a:t>Benefits</a:t>
            </a:r>
          </a:p>
          <a:p>
            <a:r>
              <a:t>Identifies the safest implementation</a:t>
            </a:r>
          </a:p>
          <a:p>
            <a:r>
              <a:t>Surfaces hidden assumptions</a:t>
            </a:r>
          </a:p>
          <a:p>
            <a:r>
              <a:t>Highlights model‑specific biases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 &amp; Quality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Risk indicators</a:t>
            </a:r>
          </a:p>
          <a:p>
            <a:r>
              <a:t>Missing tests</a:t>
            </a:r>
          </a:p>
          <a:p>
            <a:r>
              <a:t>Large or unnecessary refactors</a:t>
            </a:r>
          </a:p>
          <a:p>
            <a:r>
              <a:t>Violations of instruction files</a:t>
            </a:r>
          </a:p>
          <a:p>
            <a:r>
              <a:t>Unclear or undocumented behavior</a:t>
            </a:r>
          </a:p>
          <a:p>
            <a:r>
              <a:t>Quality indicators</a:t>
            </a:r>
          </a:p>
          <a:p>
            <a:r>
              <a:t>Small, incremental changes</a:t>
            </a:r>
          </a:p>
          <a:p>
            <a:r>
              <a:t>Clear reasoning</a:t>
            </a:r>
          </a:p>
          <a:p>
            <a:r>
              <a:t>Strong test coverage</a:t>
            </a:r>
          </a:p>
          <a:p>
            <a:r>
              <a:t>Alignment with evergreen principles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Combine the strengths of each model</a:t>
            </a:r>
          </a:p>
          <a:p>
            <a:r>
              <a:t>Use one model for architecture</a:t>
            </a:r>
          </a:p>
          <a:p>
            <a:r>
              <a:t>Another for implementation</a:t>
            </a:r>
          </a:p>
          <a:p>
            <a:r>
              <a:t>Another for documentation</a:t>
            </a:r>
          </a:p>
          <a:p>
            <a:r>
              <a:t>Cross‑validate tests and reasoning</a:t>
            </a:r>
          </a:p>
          <a:p>
            <a:r>
              <a:t>Outcome</a:t>
            </a:r>
          </a:p>
          <a:p>
            <a:r>
              <a:t>Higher quality</a:t>
            </a:r>
          </a:p>
          <a:p>
            <a:r>
              <a:t>Lower risk</a:t>
            </a:r>
          </a:p>
          <a:p>
            <a:r>
              <a:t>More predictable modernization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Prompt Multiple Models to Address Technical Debt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</a:t>
            </a:r>
          </a:p>
          <a:p>
            <a:r>
              <a:t>15 minutes</a:t>
            </a:r>
          </a:p>
          <a:p>
            <a:r>
              <a:t>Objectives</a:t>
            </a:r>
          </a:p>
          <a:p>
            <a:r>
              <a:t>Compare outputs from different models</a:t>
            </a:r>
          </a:p>
          <a:p>
            <a:r>
              <a:t>Identify strengths and weaknesses</a:t>
            </a:r>
          </a:p>
          <a:p>
            <a:r>
              <a:t>Evaluate risk and quality</a:t>
            </a:r>
          </a:p>
          <a:p>
            <a:r>
              <a:t>Activities</a:t>
            </a:r>
          </a:p>
          <a:p>
            <a:r>
              <a:t>Select a small technical debt item.</a:t>
            </a:r>
          </a:p>
          <a:p>
            <a:r>
              <a:t>Prompt two or more models to propose a fix.</a:t>
            </a:r>
          </a:p>
          <a:p>
            <a:r>
              <a:t>Compare outputs for:</a:t>
            </a:r>
          </a:p>
          <a:p>
            <a:pPr/>
            <a:r>
              <a:t>Safety</a:t>
            </a:r>
          </a:p>
          <a:p>
            <a:pPr/>
            <a:r>
              <a:t>Clarity</a:t>
            </a:r>
          </a:p>
          <a:p>
            <a:pPr/>
            <a:r>
              <a:t>Test coverage</a:t>
            </a:r>
          </a:p>
          <a:p>
            <a:pPr/>
            <a:r>
              <a:t>Architectural alignment</a:t>
            </a:r>
          </a:p>
          <a:p>
            <a:r>
              <a:t>Synthesize the best elements into a final solution.</a:t>
            </a:r>
          </a:p>
          <a:p>
            <a:r>
              <a:t>Success Criteria</a:t>
            </a:r>
          </a:p>
          <a:p>
            <a:r>
              <a:t>Differences between models are clearly identified</a:t>
            </a:r>
          </a:p>
          <a:p>
            <a:r>
              <a:t>Risks and strengths are evaluated</a:t>
            </a:r>
          </a:p>
          <a:p>
            <a:r>
              <a:t>Final synthesized solution is safe and incremental</a:t>
            </a:r>
          </a:p>
          <a:p>
            <a:r>
              <a:t>Provenance metadata is included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Assigning an Issue to Multiple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</a:t>
            </a:r>
          </a:p>
          <a:p>
            <a:r>
              <a:t>10 minutes</a:t>
            </a:r>
          </a:p>
          <a:p>
            <a:r>
              <a:t>Objectives</a:t>
            </a:r>
          </a:p>
          <a:p>
            <a:r>
              <a:t>Practice delegating the same issue to different models</a:t>
            </a:r>
          </a:p>
          <a:p>
            <a:r>
              <a:t>Evaluate how each model interprets constraints</a:t>
            </a:r>
          </a:p>
          <a:p>
            <a:r>
              <a:t>Identify missing context</a:t>
            </a:r>
          </a:p>
          <a:p>
            <a:r>
              <a:t>Activities</a:t>
            </a:r>
          </a:p>
          <a:p>
            <a:r>
              <a:t>Create a GitHub‑style issue describing a technical debt item.</a:t>
            </a:r>
          </a:p>
          <a:p>
            <a:r>
              <a:t>Assign the issue to two different models.</a:t>
            </a:r>
          </a:p>
          <a:p>
            <a:r>
              <a:t>Compare their proposed remediation plans.</a:t>
            </a:r>
          </a:p>
          <a:p>
            <a:r>
              <a:t>Identify missing context or contradictions.</a:t>
            </a:r>
          </a:p>
          <a:p>
            <a:r>
              <a:t>Success Criteria</a:t>
            </a:r>
          </a:p>
          <a:p>
            <a:r>
              <a:t>Issue is clear and well‑structured</a:t>
            </a:r>
          </a:p>
          <a:p>
            <a:r>
              <a:t>Each model produces a distinct approach</a:t>
            </a:r>
          </a:p>
          <a:p>
            <a:r>
              <a:t>Missing context is identified and documented</a:t>
            </a:r>
          </a:p>
          <a:p>
            <a:r>
              <a:t>A preferred plan is selected based on safety and clarity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Delegating Work to Multiple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</a:t>
            </a:r>
          </a:p>
          <a:p>
            <a:r>
              <a:t>20 minutes</a:t>
            </a:r>
          </a:p>
          <a:p>
            <a:r>
              <a:t>Objectives</a:t>
            </a:r>
          </a:p>
          <a:p>
            <a:r>
              <a:t>Practice multi‑model delegation</a:t>
            </a:r>
          </a:p>
          <a:p>
            <a:r>
              <a:t>Evaluate multi‑step reasoning</a:t>
            </a:r>
          </a:p>
          <a:p>
            <a:r>
              <a:t>Synthesize best practices into a unified plan</a:t>
            </a:r>
          </a:p>
          <a:p>
            <a:r>
              <a:t>Activities</a:t>
            </a:r>
          </a:p>
          <a:p>
            <a:r>
              <a:t>Select a multi‑step modernization task.</a:t>
            </a:r>
          </a:p>
          <a:p>
            <a:r>
              <a:t>Ask multiple models to:</a:t>
            </a:r>
          </a:p>
          <a:p>
            <a:pPr/>
            <a:r>
              <a:t>Analyze the problem</a:t>
            </a:r>
          </a:p>
          <a:p>
            <a:pPr/>
            <a:r>
              <a:t>Propose a remediation plan</a:t>
            </a:r>
          </a:p>
          <a:p>
            <a:pPr/>
            <a:r>
              <a:t>Suggest tests</a:t>
            </a:r>
          </a:p>
          <a:p>
            <a:pPr/>
            <a:r>
              <a:t>Suggest documentation updates</a:t>
            </a:r>
          </a:p>
          <a:p>
            <a:r>
              <a:t>Compare the outputs.</a:t>
            </a:r>
          </a:p>
          <a:p>
            <a:r>
              <a:t>Synthesize a final, safe, incremental plan.</a:t>
            </a:r>
          </a:p>
          <a:p>
            <a:r>
              <a:t>Success Criteria</a:t>
            </a:r>
          </a:p>
          <a:p>
            <a:r>
              <a:t>Multi‑model differences are clearly understood</a:t>
            </a:r>
          </a:p>
          <a:p>
            <a:r>
              <a:t>Final plan is incremental, reversible, and well‑tested</a:t>
            </a:r>
          </a:p>
          <a:p>
            <a:r>
              <a:t>Documentation and provenance are included</a:t>
            </a:r>
          </a:p>
          <a:p>
            <a:r>
              <a:t>Risks are identified and mitigated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Evergreen Software Development - 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Intent‑First Design</a:t>
            </a:r>
          </a:p>
          <a:p>
            <a:r>
              <a:t>  - Define the system’s purpose, invariants, and boundaries before writing code to ensure long‑term clarity.</a:t>
            </a:r>
          </a:p>
          <a:p>
            <a:r>
              <a:t>Stable Interfaces, Evolving Internals</a:t>
            </a:r>
          </a:p>
          <a:p>
            <a:r>
              <a:t>  - Keep contracts predictable while allowing implementations to improve continuously.</a:t>
            </a:r>
          </a:p>
          <a:p>
            <a:r>
              <a:t>Continuous Regeneration with Guardrails</a:t>
            </a:r>
          </a:p>
          <a:p>
            <a:r>
              <a:t>  - Use AI to rewrite or extend components safely, backed by tests, specs, and architectural constraints.</a:t>
            </a:r>
          </a:p>
          <a:p>
            <a:r>
              <a:t>Modular, Replaceable Components</a:t>
            </a:r>
          </a:p>
          <a:p>
            <a:r>
              <a:t>  - Structure the system so any part can be regenerated, swapped, or upgraded without cascading breakage.</a:t>
            </a:r>
          </a:p>
          <a:p>
            <a:r>
              <a:t>Lifecycle Governance</a:t>
            </a:r>
          </a:p>
          <a:p>
            <a:r>
              <a:t>  - Maintain quality through automated tests, versioning discipline, and human‑in‑the‑loop validation.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Software Fails to Be Evergreen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Intent Rot</a:t>
            </a:r>
          </a:p>
          <a:p>
            <a:r>
              <a:t>  - The original purpose, constraints, and invariants are undocumented or lost, making safe regeneration impossible.</a:t>
            </a:r>
          </a:p>
          <a:p>
            <a:r>
              <a:t>Unstable or Leaky Interfaces</a:t>
            </a:r>
          </a:p>
          <a:p>
            <a:r>
              <a:t>  - APIs, data contracts, and boundaries change unpredictably, causing cascading breakage when internals evolve.</a:t>
            </a:r>
          </a:p>
          <a:p>
            <a:r>
              <a:t>Tightly Coupled Architecture</a:t>
            </a:r>
          </a:p>
          <a:p>
            <a:r>
              <a:t>  - Components depend on each other’s internal details, preventing isolated regeneration or replacement.</a:t>
            </a:r>
          </a:p>
          <a:p>
            <a:r>
              <a:t>Insufficient Guardrails</a:t>
            </a:r>
          </a:p>
          <a:p>
            <a:r>
              <a:t>  - Missing tests, specs, or validation layers mean AI‑assisted regeneration can’t be trusted to preserve behavior.</a:t>
            </a:r>
          </a:p>
          <a:p>
            <a:r>
              <a:t>One‑Off Patches and Drift</a:t>
            </a:r>
          </a:p>
          <a:p>
            <a:r>
              <a:t>  - Ad‑hoc fixes accumulate, diverging the system from its intended design and making regeneration unsafe.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t>Intro</a:t>
            </a:r>
          </a:p>
          <a:p>
            <a:pPr/>
            <a:r>
              <a:t>Module 1 - AIASD</a:t>
            </a:r>
          </a:p>
          <a:p>
            <a:pPr/>
            <a:r>
              <a:t>Module 2 - Intro to Copilot</a:t>
            </a:r>
          </a:p>
          <a:p>
            <a:pPr/>
            <a:r>
              <a:t>Module 3 - Vibbing</a:t>
            </a:r>
          </a:p>
          <a:p>
            <a:pPr/>
            <a:r>
              <a:rPr b="1"/>
              <a:t>▶ Module 4 - Adding AI Guardrails</a:t>
            </a:r>
          </a:p>
          <a:p>
            <a:pPr/>
            <a:r>
              <a:t>Module 5 - Managing Context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4 - Adding AI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4 - Adding AI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t>Adding AI Guardrails</a:t>
            </a:r>
          </a:p>
          <a:p>
            <a:pPr/>
            <a:r>
              <a:t>Instruction Files</a:t>
            </a:r>
          </a:p>
          <a:p>
            <a:pPr/>
            <a:r>
              <a:t>🎯 Instruction File `applyTo` Patterns</a:t>
            </a:r>
          </a:p>
          <a:p>
            <a:pPr/>
            <a:r>
              <a:t>Core Instructions</a:t>
            </a:r>
          </a:p>
          <a:p>
            <a:pPr/>
            <a:r>
              <a:t>Organizational vs. Repository Instruction Files</a:t>
            </a:r>
          </a:p>
          <a:p>
            <a:pPr/>
            <a:r>
              <a:t>Exercise: Technology Inventory &amp; Instruction Generation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AI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What are instructions, prompts, and Agents</a:t>
            </a:r>
          </a:p>
          <a:p>
            <a:r>
              <a:t>Creating instruction, prompt, and Agent files</a:t>
            </a:r>
          </a:p>
          <a:p>
            <a:r>
              <a:t>Meta prompts that generate these files</a:t>
            </a:r>
          </a:p>
          <a:p>
            <a:r>
              <a:t>Instructions for generating artifacts</a:t>
            </a:r>
          </a:p>
          <a:p>
            <a:r>
              <a:t>Enforcing provenance for AI‑assisted artifacts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Instructions, Prompts &amp;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Definitions</a:t>
            </a:r>
          </a:p>
          <a:p>
            <a:r>
              <a:t>Instructions – Persistent rules that guide the model’s behavior</a:t>
            </a:r>
          </a:p>
          <a:p>
            <a:r>
              <a:t>Prompts – Task‑specific requests defining intent and constraints</a:t>
            </a:r>
          </a:p>
          <a:p>
            <a:r>
              <a:t>Agents – Pre‑configured personas optimized for workflows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Instruction, Prompt &amp; Agent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Why create files?</a:t>
            </a:r>
          </a:p>
          <a:p>
            <a:r>
              <a:t>Ensures repeatability</a:t>
            </a:r>
          </a:p>
          <a:p>
            <a:r>
              <a:t>Reduces token usage</a:t>
            </a:r>
          </a:p>
          <a:p>
            <a:r>
              <a:t>Provides version‑controlled guardrails</a:t>
            </a:r>
          </a:p>
          <a:p>
            <a:r>
              <a:t>Enables team‑wide consistency</a:t>
            </a:r>
          </a:p>
          <a:p>
            <a:r>
              <a:t>File types</a:t>
            </a:r>
          </a:p>
          <a:p>
            <a:r>
              <a:t>.github/instructions/myinstructions.instructions.md</a:t>
            </a:r>
          </a:p>
          <a:p>
            <a:r>
              <a:t>.github/prompts/myprompt.prompt.md</a:t>
            </a:r>
          </a:p>
          <a:p>
            <a:r>
              <a:t>.github/chatmodes/mychatmode.chatmode.md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Meta prompts guide:</a:t>
            </a:r>
          </a:p>
          <a:p>
            <a:r>
              <a:t>Creation of instruction files</a:t>
            </a:r>
          </a:p>
          <a:p>
            <a:r>
              <a:t>Generation of reusable prompts</a:t>
            </a:r>
          </a:p>
          <a:p>
            <a:r>
              <a:t>Construction of Agents</a:t>
            </a:r>
          </a:p>
          <a:p>
            <a:r>
              <a:t>Provide consistent formatting, structure, content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Instructions for Generating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Best practices</a:t>
            </a:r>
          </a:p>
          <a:p>
            <a:r>
              <a:t>Define the artifact type</a:t>
            </a:r>
          </a:p>
          <a:p>
            <a:r>
              <a:t>Specify required sections</a:t>
            </a:r>
          </a:p>
          <a:p>
            <a:r>
              <a:t>Provide examples or templates</a:t>
            </a:r>
          </a:p>
          <a:p>
            <a:r>
              <a:t>Include acceptance criteria</a:t>
            </a:r>
          </a:p>
          <a:p>
            <a:r>
              <a:t>Require the model to restate constraints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Enforcing Provenance for AI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Provenance requirements</a:t>
            </a:r>
          </a:p>
          <a:p>
            <a:r>
              <a:t>Declare:</a:t>
            </a:r>
          </a:p>
          <a:p>
            <a:pPr/>
            <a:r>
              <a:t>AI involvement</a:t>
            </a:r>
          </a:p>
          <a:p>
            <a:pPr/>
            <a:r>
              <a:t>Model used</a:t>
            </a:r>
          </a:p>
          <a:p>
            <a:pPr/>
            <a:r>
              <a:t>Date generated</a:t>
            </a:r>
          </a:p>
          <a:p>
            <a:pPr/>
            <a:r>
              <a:t>Human reviewer</a:t>
            </a:r>
          </a:p>
          <a:p>
            <a:r>
              <a:t>Store provenance in headers, footers, or side cars</a:t>
            </a:r>
          </a:p>
          <a:p>
            <a:r>
              <a:t>Track revisions in version control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Copy the Core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10 minutes</a:t>
            </a:r>
          </a:p>
          <a:p>
            <a:r>
              <a:t>Objectives:</a:t>
            </a:r>
          </a:p>
          <a:p>
            <a:r>
              <a:t>Understand file organization for AI-assisted output policies</a:t>
            </a:r>
          </a:p>
          <a:p>
            <a:r>
              <a:t>Practice copying files between repositories</a:t>
            </a:r>
          </a:p>
          <a:p>
            <a:r>
              <a:t>Ensure compliance with output metadata requirements</a:t>
            </a:r>
          </a:p>
          <a:p>
            <a:r>
              <a:t>Activities:</a:t>
            </a:r>
          </a:p>
          <a:p>
            <a:r>
              <a:t>1. Locate .github/instructions/ai-assisted-output.instructions.md in the AI-Assisted-Software-Development repository</a:t>
            </a:r>
          </a:p>
          <a:p>
            <a:r>
              <a:t>2. Copy the file into the .github/instructions folder of the current repository</a:t>
            </a:r>
          </a:p>
          <a:p>
            <a:r>
              <a:t>3. Copy these files as well:</a:t>
            </a:r>
          </a:p>
          <a:p>
            <a:r>
              <a:t>chatmode-file.instructions.md</a:t>
            </a:r>
          </a:p>
          <a:p>
            <a:r>
              <a:t>instruction-files.instructions.md</a:t>
            </a:r>
          </a:p>
          <a:p>
            <a:r>
              <a:t>instruction-prompt-files.instructions.md</a:t>
            </a:r>
          </a:p>
          <a:p>
            <a:r>
              <a:t>prompt-file.instructions.md</a:t>
            </a:r>
          </a:p>
          <a:p>
            <a:r>
              <a:t>4. Verify the copied files matches the original</a:t>
            </a:r>
          </a:p>
          <a:p>
            <a:r>
              <a:t>5. Review the instructions</a:t>
            </a:r>
          </a:p>
          <a:p>
            <a:r>
              <a:t>Success Criteria:</a:t>
            </a:r>
          </a:p>
          <a:p>
            <a:r>
              <a:t>The files are present in the current repo</a:t>
            </a:r>
          </a:p>
          <a:p>
            <a:r>
              <a:t>The content matches the source file</a:t>
            </a:r>
          </a:p>
          <a:p>
            <a:r>
              <a:t>No metadata or formatting is lost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Instructions for AI Generated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The one instruction file that rules them all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AI-Assisted Output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Ensures provenance and logging for all AI-assisted outputs</a:t>
            </a:r>
          </a:p>
          <a:p>
            <a:r>
              <a:t>Defines required metadata, logging workflow, and quality gates</a:t>
            </a:r>
          </a:p>
          <a:p>
            <a:r>
              <a:t>Protects code quality and enables audits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Provenance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Every AI-assisted artifact must include:</a:t>
            </a:r>
          </a:p>
          <a:p>
            <a:pPr/>
            <a:r>
              <a:t>ai_generated: true</a:t>
            </a:r>
          </a:p>
          <a:p>
            <a:pPr/>
            <a:r>
              <a:t>model: provider/model@version</a:t>
            </a:r>
          </a:p>
          <a:p>
            <a:pPr/>
            <a:r>
              <a:t>operator: username</a:t>
            </a:r>
          </a:p>
          <a:p>
            <a:pPr/>
            <a:r>
              <a:t>chat_id: unique chat identifier</a:t>
            </a:r>
          </a:p>
          <a:p>
            <a:pPr/>
            <a:r>
              <a:t>prompt: exact prompt text</a:t>
            </a:r>
          </a:p>
          <a:p>
            <a:pPr/>
            <a:r>
              <a:t>started/ended: timestamps</a:t>
            </a:r>
          </a:p>
          <a:p>
            <a:pPr/>
            <a:r>
              <a:t>task_durations &amp; total_duration</a:t>
            </a:r>
          </a:p>
          <a:p>
            <a:pPr/>
            <a:r>
              <a:t>ai_log: path to conversation log</a:t>
            </a:r>
          </a:p>
          <a:p>
            <a:pPr/>
            <a:r>
              <a:t>source: who/what created the file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Metadata Placement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Use YAML front matter for Markdown and similar formats</a:t>
            </a:r>
          </a:p>
          <a:p>
            <a:r>
              <a:t>For binaries/images, use a sidecar &lt;artifact&gt;.meta.md</a:t>
            </a:r>
          </a:p>
          <a:p>
            <a:r>
              <a:t>Never use sidecars for Markdown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Chat Logging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Each chat creates a unique log folder: ai-logs/yyyy/mm/dd/&lt;chat-id&gt;/</a:t>
            </a:r>
          </a:p>
          <a:p>
            <a:r>
              <a:t>Required files:</a:t>
            </a:r>
          </a:p>
          <a:p>
            <a:pPr/>
            <a:r>
              <a:t>conversation.md (full transcript)</a:t>
            </a:r>
          </a:p>
          <a:p>
            <a:pPr/>
            <a:r>
              <a:t>summary.md (objectives, decisions, outcomes)</a:t>
            </a:r>
          </a:p>
          <a:p>
            <a:pPr/>
            <a:r>
              <a:t>artifacts/ (optional)</a:t>
            </a:r>
          </a:p>
          <a:p>
            <a:r>
              <a:t>Never reuse chat logs between sessions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&amp; PR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Metadata complete and correct</a:t>
            </a:r>
          </a:p>
          <a:p>
            <a:r>
              <a:t>Conversation and summary logs exist</a:t>
            </a:r>
          </a:p>
          <a:p>
            <a:r>
              <a:t>README.md updated for notable artifacts</a:t>
            </a:r>
          </a:p>
          <a:p>
            <a:r>
              <a:t>No sensitive data in outputs</a:t>
            </a:r>
          </a:p>
          <a:p>
            <a:r>
              <a:t>All AI-generated content traces to a chat log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 Integration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Copilot must auto-manage chat IDs and logs</a:t>
            </a:r>
          </a:p>
          <a:p>
            <a:r>
              <a:t>Metadata injected automatically</a:t>
            </a:r>
          </a:p>
          <a:p>
            <a:r>
              <a:t>Block artifact creation if chat context is missing</a:t>
            </a:r>
          </a:p>
          <a:p>
            <a:r>
              <a:t>Enforce provenance before file creation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Enforcement &amp; Remediation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PRs blocked if provenance is incomplete</a:t>
            </a:r>
          </a:p>
          <a:p>
            <a:r>
              <a:t>Missing logs or metadata must be added before merge</a:t>
            </a:r>
          </a:p>
          <a:p>
            <a:r>
              <a:t>Orphaned artifacts require reconstruction of logs and metadata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Summary: 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Enables auditability and trust in AI outputs</a:t>
            </a:r>
          </a:p>
          <a:p>
            <a:r>
              <a:t>Protects against orphaned or unverifiable artifacts</a:t>
            </a:r>
          </a:p>
          <a:p>
            <a:r>
              <a:t>Supports team collaboration and compliance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Instruction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chatmode-file.instructions.md</a:t>
            </a:r>
          </a:p>
          <a:p>
            <a:pPr/>
            <a:r>
              <a:t>Defines the structure and contents of agents</a:t>
            </a:r>
          </a:p>
          <a:p>
            <a:r>
              <a:t>instruction-files.instructions.md</a:t>
            </a:r>
          </a:p>
          <a:p>
            <a:pPr/>
            <a:r>
              <a:t>Defines the structure and contents of instruction files</a:t>
            </a:r>
          </a:p>
          <a:p>
            <a:r>
              <a:t>prompt-file.instructions.md</a:t>
            </a:r>
          </a:p>
          <a:p>
            <a:pPr/>
            <a:r>
              <a:t>Defines the structure and contents of prompts</a:t>
            </a:r>
          </a:p>
          <a:p>
            <a:r>
              <a:t>instruction-prompt-files.instructions.md</a:t>
            </a:r>
          </a:p>
          <a:p>
            <a:pPr/>
            <a:r>
              <a:t>Defines the structure and contents of prompts the create instruction files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Create a Prompt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</a:t>
            </a:r>
          </a:p>
          <a:p>
            <a:r>
              <a:t>10 minutes</a:t>
            </a:r>
          </a:p>
          <a:p>
            <a:r>
              <a:t>Objectives</a:t>
            </a:r>
          </a:p>
          <a:p>
            <a:r>
              <a:t>Understand prompt structure</a:t>
            </a:r>
          </a:p>
          <a:p>
            <a:r>
              <a:t>Practice defining task intent</a:t>
            </a:r>
          </a:p>
          <a:p>
            <a:r>
              <a:t>Apply constraints and success criteria</a:t>
            </a:r>
          </a:p>
          <a:p>
            <a:r>
              <a:t>Activities</a:t>
            </a:r>
          </a:p>
          <a:p>
            <a:r>
              <a:t>Prompt Copilot to create a prompt file that creates an instruction file for evergreen software development</a:t>
            </a:r>
          </a:p>
          <a:p>
            <a:r>
              <a:t>Review the prompt</a:t>
            </a:r>
          </a:p>
          <a:p>
            <a:r>
              <a:t>Success Criteria</a:t>
            </a:r>
          </a:p>
          <a:p>
            <a:r>
              <a:t>Prompt is clear, scoped, and reusable</a:t>
            </a:r>
          </a:p>
          <a:p>
            <a:r>
              <a:t>Includes constraints and success criteria</a:t>
            </a:r>
          </a:p>
          <a:p>
            <a:r>
              <a:t>Avoids unnecessary context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Create an Instruction File for Evergreen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</a:t>
            </a:r>
          </a:p>
          <a:p>
            <a:r>
              <a:t>15 minutes</a:t>
            </a:r>
          </a:p>
          <a:p>
            <a:r>
              <a:t>Objectives</a:t>
            </a:r>
          </a:p>
          <a:p>
            <a:r>
              <a:t>Capture evergreen principles</a:t>
            </a:r>
          </a:p>
          <a:p>
            <a:r>
              <a:t>Define architectural boundaries</a:t>
            </a:r>
          </a:p>
          <a:p>
            <a:r>
              <a:t>Specify modernization rules</a:t>
            </a:r>
          </a:p>
          <a:p>
            <a:r>
              <a:t>Activities</a:t>
            </a:r>
          </a:p>
          <a:p>
            <a:r>
              <a:t>Submit the Evergreen Instructions prompt</a:t>
            </a:r>
          </a:p>
          <a:p>
            <a:r>
              <a:t>Review the instructions</a:t>
            </a:r>
          </a:p>
          <a:p>
            <a:r>
              <a:t>Success Criteria</a:t>
            </a:r>
          </a:p>
          <a:p>
            <a:r>
              <a:t>Instruction file is stable and reusable</a:t>
            </a:r>
          </a:p>
          <a:p>
            <a:r>
              <a:t>Reflects evergreen development values</a:t>
            </a:r>
          </a:p>
          <a:p>
            <a:r>
              <a:t>Provides clear guardrails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Create an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</a:t>
            </a:r>
          </a:p>
          <a:p>
            <a:r>
              <a:t>10 minutes</a:t>
            </a:r>
          </a:p>
          <a:p>
            <a:r>
              <a:t>Objectives</a:t>
            </a:r>
          </a:p>
          <a:p>
            <a:r>
              <a:t>Define a persona optimized for brownfield work</a:t>
            </a:r>
          </a:p>
          <a:p>
            <a:r>
              <a:t>Emphasize safety and incrementalism</a:t>
            </a:r>
          </a:p>
          <a:p>
            <a:r>
              <a:t>Encode risk‑aware behaviors</a:t>
            </a:r>
          </a:p>
          <a:p>
            <a:r>
              <a:t>Activities</a:t>
            </a:r>
          </a:p>
          <a:p>
            <a:r>
              <a:t>Draft a Agent that:</a:t>
            </a:r>
          </a:p>
          <a:p>
            <a:pPr/>
            <a:r>
              <a:t>Respects working systems</a:t>
            </a:r>
          </a:p>
          <a:p>
            <a:pPr/>
            <a:r>
              <a:t>Avoids risky rewrites</a:t>
            </a:r>
          </a:p>
          <a:p>
            <a:pPr/>
            <a:r>
              <a:t>Surfaces context gaps</a:t>
            </a:r>
          </a:p>
          <a:p>
            <a:pPr/>
            <a:r>
              <a:t>Encourages incremental changes</a:t>
            </a:r>
          </a:p>
          <a:p>
            <a:r>
              <a:t>Add tone and behavioral guidelines</a:t>
            </a:r>
          </a:p>
          <a:p>
            <a:r>
              <a:t>Add provenance metadata</a:t>
            </a:r>
          </a:p>
          <a:p>
            <a:r>
              <a:t>Success Criteria</a:t>
            </a:r>
          </a:p>
          <a:p>
            <a:r>
              <a:t>Agent behaves like a cautious senior engineer</a:t>
            </a:r>
          </a:p>
          <a:p>
            <a:r>
              <a:t>Encourages safe modernization</a:t>
            </a:r>
          </a:p>
          <a:p>
            <a:r>
              <a:t>Includes clear behavioral rules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Generate Instruction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</a:t>
            </a:r>
          </a:p>
          <a:p>
            <a:r>
              <a:t>20 minutes</a:t>
            </a:r>
          </a:p>
          <a:p>
            <a:r>
              <a:t>Objectives</a:t>
            </a:r>
          </a:p>
          <a:p>
            <a:r>
              <a:t>Use meta prompts to scale instruction‑file creation</a:t>
            </a:r>
          </a:p>
          <a:p>
            <a:r>
              <a:t>Capture module‑specific rules</a:t>
            </a:r>
          </a:p>
          <a:p>
            <a:r>
              <a:t>Encode domain and architectural constraints</a:t>
            </a:r>
          </a:p>
          <a:p>
            <a:r>
              <a:t>Activities</a:t>
            </a:r>
          </a:p>
          <a:p>
            <a:r>
              <a:t>Prompt Copilot to create instruction files for the standards and conventions of the tech stack</a:t>
            </a:r>
          </a:p>
          <a:p>
            <a:r>
              <a:t>Review instructions</a:t>
            </a:r>
          </a:p>
          <a:p>
            <a:r>
              <a:t>Success Criteria</a:t>
            </a:r>
          </a:p>
          <a:p>
            <a:r>
              <a:t>Instruction files reflect real system constraints</a:t>
            </a:r>
          </a:p>
          <a:p>
            <a:r>
              <a:t>Meta prompts produce consistent structure</a:t>
            </a:r>
          </a:p>
          <a:p>
            <a:r>
              <a:t>Files are ready for team use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Context‑Related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</a:t>
            </a:r>
          </a:p>
          <a:p>
            <a:r>
              <a:t>10 minutes</a:t>
            </a:r>
          </a:p>
          <a:p>
            <a:r>
              <a:t>Objectives</a:t>
            </a:r>
          </a:p>
          <a:p>
            <a:r>
              <a:t>Identify missing context</a:t>
            </a:r>
          </a:p>
          <a:p>
            <a:r>
              <a:t>Detect token overflow risks</a:t>
            </a:r>
          </a:p>
          <a:p>
            <a:r>
              <a:t>Improve prompt scoping</a:t>
            </a:r>
          </a:p>
          <a:p>
            <a:r>
              <a:t>Activities</a:t>
            </a:r>
          </a:p>
          <a:p>
            <a:r>
              <a:t>Copy the check-context.prompt.md file from the AIASD repository</a:t>
            </a:r>
          </a:p>
          <a:p>
            <a:r>
              <a:t>Review the prompt</a:t>
            </a:r>
          </a:p>
          <a:p>
            <a:r>
              <a:t>Submit the prompt</a:t>
            </a:r>
          </a:p>
          <a:p>
            <a:r>
              <a:t>Review the output</a:t>
            </a:r>
          </a:p>
          <a:p>
            <a:r>
              <a:t>Success Criteria</a:t>
            </a:r>
          </a:p>
          <a:p>
            <a:r>
              <a:t>Correctly identified context gaps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Instruction Files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Persistent AI Behavioral Guidelines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Instruction Files?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Definition</a:t>
            </a:r>
          </a:p>
          <a:p>
            <a:r>
              <a:t>Persistent configuration files that define AI behavior patterns</a:t>
            </a:r>
          </a:p>
          <a:p>
            <a:r>
              <a:t>Applied automatically across multiple interactions</a:t>
            </a:r>
          </a:p>
          <a:p>
            <a:r>
              <a:t>Establish consistent working standards and constraints</a:t>
            </a:r>
          </a:p>
          <a:p>
            <a:r>
              <a:t>Key Characteristics</a:t>
            </a:r>
          </a:p>
          <a:p>
            <a:r>
              <a:t>Scope: Repository-wide or context-specific</a:t>
            </a:r>
          </a:p>
          <a:p>
            <a:r>
              <a:t>Persistence: Active across all relevant AI interactions</a:t>
            </a:r>
          </a:p>
          <a:p>
            <a:r>
              <a:t>Purpose: Define “how” AI should work, not “what” to do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Instruction File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```markdown</a:t>
            </a:r>
          </a:p>
          <a:p>
            <a:r>
              <a:t>---</a:t>
            </a:r>
          </a:p>
          <a:p>
            <a:r>
              <a:t>description: Azure best practices for AI development</a:t>
            </a:r>
          </a:p>
          <a:p>
            <a:r>
              <a:t>applyTo: "**" # File pattern scope</a:t>
            </a:r>
          </a:p>
          <a:p>
            <a:r>
              <a:t>---</a:t>
            </a:r>
          </a:p>
          <a:p/>
          <a:p/>
          <a:p>
            <a:pPr/>
            <a:r>
              <a:t>Use Azure Tools when handling Azure requests</a:t>
            </a:r>
          </a:p>
          <a:p>
            <a:pPr/>
            <a:r>
              <a:t>Follow security best practices</a:t>
            </a:r>
          </a:p>
          <a:p>
            <a:pPr/>
            <a:r>
              <a:t>Implement proper error handling</a:t>
            </a:r>
          </a:p>
          <a:p>
            <a:pPr/>
            <a:r>
              <a:t>Generate comprehensive documentation</a:t>
            </a:r>
          </a:p>
          <a:p/>
          <a:p/>
          <a:p>
            <a:pPr/>
            <a:r>
              <a:t>Write tests before implementation</a:t>
            </a:r>
          </a:p>
          <a:p>
            <a:pPr/>
            <a:r>
              <a:t>Use dependency injection patterns</a:t>
            </a:r>
          </a:p>
          <a:p>
            <a:pPr/>
            <a:r>
              <a:t>Follow naming conventions</a:t>
            </a:r>
          </a:p>
          <a:p>
            <a:pPr/>
            <a:r>
              <a:t>Include proper logging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Instruction Files: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Perfect For:</a:t>
            </a:r>
          </a:p>
          <a:p>
            <a:r>
              <a:t>Coding Standards → Consistent style across projects</a:t>
            </a:r>
          </a:p>
          <a:p>
            <a:r>
              <a:t>Security Policies → Enforce security practices</a:t>
            </a:r>
          </a:p>
          <a:p>
            <a:r>
              <a:t>Quality Gates → Define testing and review requirements</a:t>
            </a:r>
          </a:p>
          <a:p>
            <a:r>
              <a:t>Technology Constraints → Specify approved frameworks/tools</a:t>
            </a:r>
          </a:p>
          <a:p>
            <a:r>
              <a:t>Examples:</a:t>
            </a:r>
          </a:p>
          <a:p>
            <a:r>
              <a:t>azure-development.instructions.md</a:t>
            </a:r>
          </a:p>
          <a:p>
            <a:r>
              <a:t>testing-standards.instructions.md</a:t>
            </a:r>
          </a:p>
          <a:p>
            <a:r>
              <a:t>security-requirements.instructions.md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Instruction Files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✅ Do This:</a:t>
            </a:r>
          </a:p>
          <a:p>
            <a:r>
              <a:t>Keep instructions clear and actionable</a:t>
            </a:r>
          </a:p>
          <a:p>
            <a:r>
              <a:t>Use file patterns (applyTo: '\*\*') for broad scope</a:t>
            </a:r>
          </a:p>
          <a:p>
            <a:r>
              <a:t>Version control and document changes</a:t>
            </a:r>
          </a:p>
          <a:p>
            <a:r>
              <a:t>Test instruction effectiveness regularly</a:t>
            </a:r>
          </a:p>
          <a:p>
            <a:r>
              <a:t>❌ Avoid This:</a:t>
            </a:r>
          </a:p>
          <a:p>
            <a:r>
              <a:t>Overly complex or contradictory rules</a:t>
            </a:r>
          </a:p>
          <a:p>
            <a:r>
              <a:t>Too many instructions (cognitive overload)</a:t>
            </a:r>
          </a:p>
          <a:p>
            <a:r>
              <a:t>Instructions that conflict with prompt files</a:t>
            </a:r>
          </a:p>
          <a:p>
            <a:r>
              <a:t>Hardcoded values instead of parameters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Instruction File `applyTo`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Understanding Glob Pattern Matching</a:t>
            </a:r>
          </a:p>
          <a:p/>
          <a:p>
            <a:r>
              <a:t>Controlling When Instructions Apply to Your Code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`appliesTo`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The filtering mechanism for instruction files</a:t>
            </a:r>
          </a:p>
          <a:p/>
          <a:p>
            <a:r>
              <a:t>`appliesTo` is a </a:t>
            </a:r>
            <a:r>
              <a:rPr b="1"/>
              <a:t>selector</a:t>
            </a:r>
            <a:r>
              <a:t> that determines _when_ an instruction file</a:t>
            </a:r>
          </a:p>
          <a:p>
            <a:r>
              <a:t>is included in the stack.</a:t>
            </a:r>
          </a:p>
          <a:p/>
          <a:p>
            <a:r>
              <a:t>Common selectors include:</a:t>
            </a:r>
          </a:p>
          <a:p/>
          <a:p>
            <a:pPr/>
            <a:r>
              <a:rPr b="1"/>
              <a:t>repositories</a:t>
            </a:r>
            <a:r>
              <a:t> -- include only for specific repos</a:t>
            </a:r>
          </a:p>
          <a:p>
            <a:pPr/>
            <a:r>
              <a:rPr b="1"/>
              <a:t>languages</a:t>
            </a:r>
            <a:r>
              <a:t> -- include only for certain languages</a:t>
            </a:r>
          </a:p>
          <a:p>
            <a:pPr/>
            <a:r>
              <a:rPr b="1"/>
              <a:t>filePatterns</a:t>
            </a:r>
            <a:r>
              <a:t> -- include only when editing certain files</a:t>
            </a:r>
          </a:p>
          <a:p>
            <a:pPr/>
            <a:r>
              <a:rPr b="1"/>
              <a:t>tools</a:t>
            </a:r>
            <a:r>
              <a:t> -- include only when using specific Copilot features</a:t>
            </a:r>
          </a:p>
          <a:p>
            <a:pPr/>
            <a:r>
              <a:rPr b="1"/>
              <a:t>scopes</a:t>
            </a:r>
            <a:r>
              <a:t> -- include only in chat, only in editor, etc.</a:t>
            </a:r>
          </a:p>
          <a:p/>
          <a:p>
            <a:r>
              <a:rPr b="1"/>
              <a:t>Speaker Notes:</a:t>
            </a:r>
            <a:r>
              <a:t> `appliesTo` is not a guardrail itself. It's a routing</a:t>
            </a:r>
          </a:p>
          <a:p>
            <a:r>
              <a:t>rule. It prevents irrelevant instructions from polluting the stack and</a:t>
            </a:r>
          </a:p>
          <a:p>
            <a:r>
              <a:t>keeps the assistant focused.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`appliesTo` Interacts with the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Filtering happens _before_ merging</a:t>
            </a:r>
          </a:p>
          <a:p/>
          <a:p>
            <a:r>
              <a:t>1.  Copilot discovers all instruction files in scope</a:t>
            </a:r>
          </a:p>
          <a:p>
            <a:r>
              <a:t>2.  Copilot filters them using `appliesTo`</a:t>
            </a:r>
          </a:p>
          <a:p>
            <a:r>
              <a:t>3.  Copilot merges the remaining files into the stack</a:t>
            </a:r>
          </a:p>
          <a:p/>
          <a:p>
            <a:r>
              <a:rPr b="1"/>
              <a:t>Speaker Notes:</a:t>
            </a:r>
            <a:r>
              <a:t> This means you can have many instruction files in</a:t>
            </a:r>
          </a:p>
          <a:p>
            <a:r>
              <a:t>`.github/instructions/`, but only the ones whose `appliesTo` match the</a:t>
            </a:r>
          </a:p>
          <a:p>
            <a:r>
              <a:t>current context will be included.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📋 What is `applyTo`?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The `applyTo` field in instruction file front matter controls </a:t>
            </a:r>
            <a:r>
              <a:rPr b="1"/>
              <a:t>which files</a:t>
            </a:r>
            <a:r>
              <a:t> the instructions apply to.</a:t>
            </a:r>
          </a:p>
          <a:p/>
          <a:p>
            <a:r>
              <a:t>```yaml</a:t>
            </a:r>
          </a:p>
          <a:p>
            <a:r>
              <a:t>---</a:t>
            </a:r>
          </a:p>
          <a:p>
            <a:r>
              <a:t>applyTo: "**/*.md" # Applies to all Markdown files</a:t>
            </a:r>
          </a:p>
          <a:p>
            <a:r>
              <a:t>---</a:t>
            </a:r>
          </a:p>
          <a:p>
            <a:r>
              <a:t>```</a:t>
            </a:r>
          </a:p>
          <a:p/>
          <a:p>
            <a:r>
              <a:rPr b="1"/>
              <a:t>Why It Matters:</a:t>
            </a:r>
          </a:p>
          <a:p/>
          <a:p>
            <a:pPr/>
            <a:r>
              <a:t>✅ Apply architecture patterns only to code files</a:t>
            </a:r>
          </a:p>
          <a:p>
            <a:pPr/>
            <a:r>
              <a:t>✅ Apply documentation standards only to docs</a:t>
            </a:r>
          </a:p>
          <a:p>
            <a:pPr/>
            <a:r>
              <a:t>✅ Avoid conflicting instructions</a:t>
            </a:r>
          </a:p>
          <a:p>
            <a:pPr/>
            <a:r>
              <a:t>✅ Improve Copilot performance by reducing context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🌐 Universal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Apply instructions to </a:t>
            </a:r>
            <a:r>
              <a:rPr b="1"/>
              <a:t>all files</a:t>
            </a:r>
            <a:r>
              <a:t> in the repository:</a:t>
            </a:r>
          </a:p>
          <a:p/>
          <a:p>
            <a:r>
              <a:t>```yaml</a:t>
            </a:r>
          </a:p>
          <a:p>
            <a:r>
              <a:t>applyTo: "**"        # All files</a:t>
            </a:r>
          </a:p>
          <a:p>
            <a:r>
              <a:t>applyTo: "**/*"      # All files (explicit)</a:t>
            </a:r>
          </a:p>
          <a:p>
            <a:r>
              <a:t>```</a:t>
            </a:r>
          </a:p>
          <a:p/>
          <a:p>
            <a:r>
              <a:rPr b="1"/>
              <a:t>Use Cases:</a:t>
            </a:r>
          </a:p>
          <a:p/>
          <a:p>
            <a:pPr/>
            <a:r>
              <a:t>AI-assisted output policies</a:t>
            </a:r>
          </a:p>
          <a:p>
            <a:pPr/>
            <a:r>
              <a:t>General code quality standards</a:t>
            </a:r>
          </a:p>
          <a:p>
            <a:pPr/>
            <a:r>
              <a:t>Repository-wide conventions</a:t>
            </a:r>
          </a:p>
          <a:p>
            <a:pPr/>
            <a:r>
              <a:t>Copilot behavior guidelines</a:t>
            </a:r>
          </a:p>
          <a:p/>
          <a:p>
            <a:r>
              <a:rPr b="1"/>
              <a:t>⚠️ Caution:</a:t>
            </a:r>
            <a:r>
              <a:t> Use sparingly - can create conflicts with more specific instructions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📝 File Extension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Target specific file types using extension patterns:</a:t>
            </a:r>
          </a:p>
          <a:p/>
          <a:p>
            <a:r>
              <a:t>```yaml</a:t>
            </a:r>
          </a:p>
          <a:p>
            <a:r>
              <a:t>applyTo: "**/*.md"</a:t>
            </a:r>
          </a:p>
          <a:p/>
          <a:p>
            <a:r>
              <a:t>applyTo: "**/*.{cs,ts,js}"</a:t>
            </a:r>
          </a:p>
          <a:p/>
          <a:p>
            <a:r>
              <a:t>applyTo: "**/*.instructions.md"</a:t>
            </a:r>
          </a:p>
          <a:p>
            <a:r>
              <a:t>```</a:t>
            </a:r>
          </a:p>
          <a:p/>
          <a:p>
            <a:r>
              <a:rPr b="1"/>
              <a:t>Most Common:</a:t>
            </a:r>
          </a:p>
          <a:p/>
          <a:p>
            <a:pPr/>
            <a:r>
              <a:t>`**/*.md` - All Markdown files</a:t>
            </a:r>
          </a:p>
          <a:p>
            <a:pPr/>
            <a:r>
              <a:t>`**/*.{cs,ts,js,py}` - Multiple programming languages</a:t>
            </a:r>
          </a:p>
          <a:p>
            <a:pPr/>
            <a:r>
              <a:t>`**/*.test.js` - Test files</a:t>
            </a:r>
          </a:p>
          <a:p>
            <a:pPr/>
            <a:r>
              <a:t>`**/*.instructions.md` - Instruction files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📁 Directory-Specific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Limit instructions to specific directories:</a:t>
            </a:r>
          </a:p>
          <a:p/>
          <a:p>
            <a:r>
              <a:t>```yaml</a:t>
            </a:r>
          </a:p>
          <a:p>
            <a:r>
              <a:t>applyTo: "Slides/individual-slides/**"</a:t>
            </a:r>
          </a:p>
          <a:p/>
          <a:p>
            <a:r>
              <a:t>applyTo: "src/Features/**/*.cs"</a:t>
            </a:r>
          </a:p>
          <a:p/>
          <a:p>
            <a:r>
              <a:t>applyTo: ".github/instructions/**/*.md"</a:t>
            </a:r>
          </a:p>
          <a:p>
            <a:r>
              <a:t>```</a:t>
            </a:r>
          </a:p>
          <a:p/>
          <a:p>
            <a:r>
              <a:rPr b="1"/>
              <a:t>Benefits:</a:t>
            </a:r>
          </a:p>
          <a:p/>
          <a:p>
            <a:pPr/>
            <a:r>
              <a:t>Isolate concerns (slides vs code vs docs)</a:t>
            </a:r>
          </a:p>
          <a:p>
            <a:pPr/>
            <a:r>
              <a:t>Different rules for different project areas</a:t>
            </a:r>
          </a:p>
          <a:p>
            <a:pPr/>
            <a:r>
              <a:t>Clearer instruction purpose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🔤 Glob Pattern Syntax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96"/>
                      </a:pPr>
                      <a:r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96"/>
                      </a:pPr>
                      <a: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96"/>
                      </a:pPr>
                      <a:r>
                        <a:t>Example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`*`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Any characters (not `/`)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`*.md` → `README.md`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`**`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Zero or more directories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`**/*.md` → `docs/guide.md`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`?`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Single 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`file?.md` → `file1.md`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`[abc]`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Character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`[abc].md` → `a.md`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`[a-z]`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Character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`[a-z].md` → `x.md`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`{a,b}`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Alternatives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`*.{js,ts}` → `app.ts`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💼 Real-World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From this repository's instruction files:</a:t>
            </a:r>
          </a:p>
          <a:p/>
          <a:p>
            <a:r>
              <a:t>```yaml</a:t>
            </a:r>
          </a:p>
          <a:p>
            <a:r>
              <a:t>applyTo: "**/*"</a:t>
            </a:r>
          </a:p>
          <a:p/>
          <a:p>
            <a:r>
              <a:t>applyTo: "**/*.{cs,ts,js,py,java,go,rb}"</a:t>
            </a:r>
          </a:p>
          <a:p/>
          <a:p>
            <a:r>
              <a:t>applyTo: "**/*.{md,txt}"</a:t>
            </a:r>
          </a:p>
          <a:p/>
          <a:p>
            <a:r>
              <a:t>applyTo: "Slides/individual-slides/**"</a:t>
            </a:r>
          </a:p>
          <a:p/>
          <a:p>
            <a:r>
              <a:t>applyTo: "**/*.prompt.md"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1. Be Specific When Possible</a:t>
            </a:r>
          </a:p>
          <a:p/>
          <a:p>
            <a:r>
              <a:t>```yaml</a:t>
            </a:r>
          </a:p>
          <a:p>
            <a:r>
              <a:t>✅ applyTo: "**/*.instructions.md"</a:t>
            </a:r>
          </a:p>
          <a:p>
            <a:r>
              <a:t>❌ applyTo: "**"</a:t>
            </a:r>
          </a:p>
          <a:p>
            <a:r>
              <a:t>```</a:t>
            </a:r>
          </a:p>
          <a:p/>
          <a:p>
            <a:r>
              <a:rPr b="1"/>
              <a:t>2. Use Brace Expansion for Multiple Extensions</a:t>
            </a:r>
          </a:p>
          <a:p/>
          <a:p>
            <a:r>
              <a:t>```yaml</a:t>
            </a:r>
          </a:p>
          <a:p>
            <a:r>
              <a:t>✅ applyTo: "**/*.{cs,ts,js}"</a:t>
            </a:r>
          </a:p>
          <a:p>
            <a:r>
              <a:t>❌ Three separate instruction files</a:t>
            </a:r>
          </a:p>
          <a:p>
            <a:r>
              <a:t>```</a:t>
            </a:r>
          </a:p>
          <a:p/>
          <a:p>
            <a:r>
              <a:rPr b="1"/>
              <a:t>3. Match Scope to Purpose</a:t>
            </a:r>
          </a:p>
          <a:p/>
          <a:p>
            <a:r>
              <a:t>```yaml</a:t>
            </a:r>
          </a:p>
          <a:p>
            <a:r>
              <a:t>applyTo: "src/**/*.{cs,ts,js}"</a:t>
            </a:r>
          </a:p>
          <a:p/>
          <a:p>
            <a:r>
              <a:t>applyTo: "Slides/individual-slides/**"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⚠️ Common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Pitfall 1: Too Broad</a:t>
            </a:r>
          </a:p>
          <a:p/>
          <a:p>
            <a:r>
              <a:t>```yaml</a:t>
            </a:r>
          </a:p>
          <a:p>
            <a:r>
              <a:t>❌ applyTo: "**" # For slide formatting</a:t>
            </a:r>
          </a:p>
          <a:p>
            <a:r>
              <a:t>✅ applyTo: "Slides/**"</a:t>
            </a:r>
          </a:p>
          <a:p>
            <a:r>
              <a:t>```</a:t>
            </a:r>
          </a:p>
          <a:p/>
          <a:p>
            <a:r>
              <a:rPr b="1"/>
              <a:t>Pitfall 2: Too Narrow</a:t>
            </a:r>
          </a:p>
          <a:p/>
          <a:p>
            <a:r>
              <a:t>```yaml</a:t>
            </a:r>
          </a:p>
          <a:p>
            <a:r>
              <a:t>❌ applyTo: "src/Features/UserManagement/**/*.cs"</a:t>
            </a:r>
          </a:p>
          <a:p>
            <a:r>
              <a:t>✅ applyTo: "src/Features/**/*.cs"</a:t>
            </a:r>
          </a:p>
          <a:p>
            <a:r>
              <a:t>```</a:t>
            </a:r>
          </a:p>
          <a:p/>
          <a:p>
            <a:r>
              <a:rPr b="1"/>
              <a:t>Pitfall 3: Overlapping Instructions</a:t>
            </a:r>
          </a:p>
          <a:p/>
          <a:p>
            <a:r>
              <a:t>```yaml</a:t>
            </a:r>
          </a:p>
          <a:p>
            <a:r>
              <a:t>applyTo: "**/*.cs"  # All C# files</a:t>
            </a:r>
          </a:p>
          <a:p/>
          <a:p>
            <a:r>
              <a:t>applyTo: "src/**/*.cs"  # C# files in src</a:t>
            </a:r>
          </a:p>
          <a:p/>
          <a:p>
            <a:r>
              <a:t>```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🔍 Testing Your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How to verify patterns work correctly:</a:t>
            </a:r>
          </a:p>
          <a:p/>
          <a:p>
            <a:r>
              <a:t>1. </a:t>
            </a:r>
            <a:r>
              <a:rPr b="1"/>
              <a:t>Use file search to preview matches:</a:t>
            </a:r>
          </a:p>
          <a:p/>
          <a:p>
            <a:r>
              <a:t>```powershell</a:t>
            </a:r>
          </a:p>
          <a:p>
            <a:r>
              <a:t>Get-ChildItem -Path . -Filter "*.md" -Recurse</a:t>
            </a:r>
          </a:p>
          <a:p/>
          <a:p>
            <a:r>
              <a:t>find . -name "*.md"</a:t>
            </a:r>
          </a:p>
          <a:p>
            <a:r>
              <a:t>```</a:t>
            </a:r>
          </a:p>
          <a:p/>
          <a:p>
            <a:r>
              <a:t>2. </a:t>
            </a:r>
            <a:r>
              <a:rPr b="1"/>
              <a:t>Online glob testers:</a:t>
            </a:r>
          </a:p>
          <a:p/>
          <a:p>
            <a:pPr/>
            <a:r>
              <a:t>globster.xyz: https://globster.xyz/</a:t>
            </a:r>
          </a:p>
          <a:p>
            <a:pPr/>
            <a:r>
              <a:t>Test patterns before committing</a:t>
            </a:r>
          </a:p>
          <a:p/>
          <a:p>
            <a:r>
              <a:t>3. </a:t>
            </a:r>
            <a:r>
              <a:rPr b="1"/>
              <a:t>Check Copilot behavior:</a:t>
            </a:r>
          </a:p>
          <a:p/>
          <a:p>
            <a:pPr/>
            <a:r>
              <a:t>Open a file that should match</a:t>
            </a:r>
          </a:p>
          <a:p>
            <a:pPr/>
            <a:r>
              <a:t>Verify instructions are being followed</a:t>
            </a:r>
          </a:p>
          <a:p>
            <a:pPr/>
            <a:r>
              <a:t>Check for unexpected behavior (might indicate wrong pattern)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📚 Pattern Matching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Key Points to Remember:</a:t>
            </a:r>
          </a:p>
          <a:p/>
          <a:p>
            <a:pPr/>
            <a:r>
              <a:t>Patterns are evaluated when files are opened</a:t>
            </a:r>
          </a:p>
          <a:p>
            <a:pPr/>
            <a:r>
              <a:t>Multiple instruction files can match the same file</a:t>
            </a:r>
          </a:p>
          <a:p>
            <a:pPr/>
            <a:r>
              <a:t>More specific patterns take precedence (in terms of clarity, not override)</a:t>
            </a:r>
          </a:p>
          <a:p>
            <a:pPr/>
            <a:r>
              <a:t>Patterns are relative to repository root</a:t>
            </a:r>
          </a:p>
          <a:p>
            <a:pPr/>
            <a:r>
              <a:t>Case sensitivity depends on file system (Windows: no, Linux: yes)</a:t>
            </a:r>
          </a:p>
          <a:p/>
          <a:p>
            <a:r>
              <a:rPr b="1"/>
              <a:t>When Copilot Evaluates Patterns:</a:t>
            </a:r>
          </a:p>
          <a:p/>
          <a:p>
            <a:r>
              <a:t>1. File opened in editor → Check all instruction files</a:t>
            </a:r>
          </a:p>
          <a:p>
            <a:r>
              <a:t>2. Load matching instructions into context</a:t>
            </a:r>
          </a:p>
          <a:p>
            <a:r>
              <a:t>3. Apply rules during code generation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🎓 Summary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Essential Patterns:</a:t>
            </a:r>
          </a:p>
          <a:p/>
          <a:p>
            <a:pPr/>
            <a:r>
              <a:t>`**/*` or `**` - Universal (use sparingly)</a:t>
            </a:r>
          </a:p>
          <a:p>
            <a:pPr/>
            <a:r>
              <a:t>`**/*.{ext1,ext2}` - Multiple file types</a:t>
            </a:r>
          </a:p>
          <a:p>
            <a:pPr/>
            <a:r>
              <a:t>`directory/**` - Specific directory scope</a:t>
            </a:r>
          </a:p>
          <a:p>
            <a:pPr/>
            <a:r>
              <a:t>`**/*.specific.extension.md` - Specialized files</a:t>
            </a:r>
          </a:p>
          <a:p/>
          <a:p>
            <a:r>
              <a:rPr b="1"/>
              <a:t>Decision Tree:</a:t>
            </a:r>
          </a:p>
          <a:p/>
          <a:p>
            <a:r>
              <a:t>1. Does this apply to ALL files? → Use `**/*`</a:t>
            </a:r>
          </a:p>
          <a:p>
            <a:r>
              <a:t>2. Does this apply to specific file types? → Use `**/*.{extensions}`</a:t>
            </a:r>
          </a:p>
          <a:p>
            <a:r>
              <a:t>3. Does this apply to a specific directory? → Use `directory/**`</a:t>
            </a:r>
          </a:p>
          <a:p>
            <a:r>
              <a:t>4. Does this apply to specific naming pattern? → Use `**/*.pattern.ext`</a:t>
            </a:r>
          </a:p>
          <a:p/>
          <a:p>
            <a:r>
              <a:rPr b="1"/>
              <a:t>Remember:</a:t>
            </a:r>
          </a:p>
          <a:p/>
          <a:p>
            <a:pPr/>
            <a:r>
              <a:t>✅ Be as specific as necessary, no more, no less</a:t>
            </a:r>
          </a:p>
          <a:p>
            <a:pPr/>
            <a:r>
              <a:t>✅ Test patterns before committing</a:t>
            </a:r>
          </a:p>
          <a:p>
            <a:pPr/>
            <a:r>
              <a:t>✅ Document why each pattern was chosen</a:t>
            </a:r>
          </a:p>
          <a:p>
            <a:pPr/>
            <a:r>
              <a:t>✅ Review patterns when instructions aren't working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💡 Resources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Documentation:</a:t>
            </a:r>
          </a:p>
          <a:p/>
          <a:p>
            <a:pPr/>
            <a:r>
              <a:t>Glob Pattern Syntax Reference: https://globster.xyz/</a:t>
            </a:r>
          </a:p>
          <a:p>
            <a:pPr/>
            <a:r>
              <a:t>GitHub Copilot Instruction Files Documentation</a:t>
            </a:r>
          </a:p>
          <a:p>
            <a:pPr/>
            <a:r>
              <a:t>AI-Assisted Output Instructions</a:t>
            </a:r>
          </a:p>
          <a:p/>
          <a:p>
            <a:r>
              <a:rPr b="1"/>
              <a:t>Practice Exercise:</a:t>
            </a:r>
          </a:p>
          <a:p>
            <a:r>
              <a:t>Create instruction files for:</a:t>
            </a:r>
          </a:p>
          <a:p/>
          <a:p>
            <a:r>
              <a:t>1. CQRS architecture patterns (code only)</a:t>
            </a:r>
          </a:p>
          <a:p>
            <a:r>
              <a:t>2. Mermaid diagram standards (markdown only)</a:t>
            </a:r>
          </a:p>
          <a:p>
            <a:r>
              <a:t>3. Test naming conventions (test files only)</a:t>
            </a:r>
          </a:p>
          <a:p/>
          <a:p>
            <a:r>
              <a:rPr b="1"/>
              <a:t>Questions?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📧 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rPr b="1"/>
              <a:t>Questions? Feedback?</a:t>
            </a:r>
          </a:p>
          <a:p/>
          <a:p>
            <a:r>
              <a:t>Connect with the AI-Assisted Software Development team</a:t>
            </a:r>
          </a:p>
          <a:p/>
          <a:p>
            <a:r>
              <a:t>GitHub: johnmillerATcodemag-com/AI-Assisted-Software-Development: https://github.com/johnmillerATcodemag-com/AI-Assisted-Software-Development-Course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Instructions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96"/>
                      </a:pPr>
                      <a:r>
                        <a:t>Instruction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96"/>
                      </a:pPr>
                      <a:r>
                        <a:t>Purpose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ai-assisted-output.instructions.md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Guidance for AI generated artifacts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chatmode-file.instructions.md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Guidance for generating chat modes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instruction-files.instructions.md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Guidance for generating instruction files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prompt-file.instructions.md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Guidance for generating prompt files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instruction-prompt-files.instructions.md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Guidance for generating prompts that generate instruction files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Organizational vs. Repository Instruction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t>Business/Enterprise tier capabilities</a:t>
            </a:r>
          </a:p>
          <a:p>
            <a:pPr/>
            <a:r>
              <a:t>Path-scoped instruction files</a:t>
            </a:r>
          </a:p>
          <a:p>
            <a:pPr/>
            <a:r>
              <a:t>Folder-level technology-specific rules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Two Instruction Layers Exist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t>Enterprise instructions enforce baseline policy and governance</a:t>
            </a:r>
          </a:p>
          <a:p>
            <a:pPr/>
            <a:r>
              <a:t>Repository instructions optimize for project context and implementation detail</a:t>
            </a:r>
          </a:p>
          <a:p>
            <a:pPr/>
            <a:r>
              <a:t>Together they balance consistency and local autonomy</a:t>
            </a:r>
          </a:p>
          <a:p/>
          <a:p>
            <a:r>
              <a:t>### Key Idea</a:t>
            </a:r>
          </a:p>
          <a:p/>
          <a:p>
            <a:r>
              <a:t>Define global guardrails once, then narrow behavior where code lives.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Business/Enterprise Tier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t>Organization-wide safety and compliance standards</a:t>
            </a:r>
          </a:p>
          <a:p>
            <a:pPr/>
            <a:r>
              <a:t>Approved model and tool usage policy</a:t>
            </a:r>
          </a:p>
          <a:p>
            <a:pPr/>
            <a:r>
              <a:t>Mandatory provenance and audit requirements</a:t>
            </a:r>
          </a:p>
          <a:p>
            <a:pPr/>
            <a:r>
              <a:t>Security and legal baselines (secret handling, license constraints)</a:t>
            </a:r>
          </a:p>
          <a:p>
            <a:pPr/>
            <a:r>
              <a:t>Shared quality gates for CI/CD</a:t>
            </a:r>
          </a:p>
          <a:p/>
          <a:p>
            <a:r>
              <a:t>### Typical Scope</a:t>
            </a:r>
          </a:p>
          <a:p/>
          <a:p>
            <a:r>
              <a:t>All repositories, all teams, all environments.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Path-Scoped Instruction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Path-scoped instructions apply behavior only where it is needed.</a:t>
            </a:r>
          </a:p>
          <a:p/>
          <a:p>
            <a:r>
              <a:t>```yaml</a:t>
            </a:r>
          </a:p>
          <a:p>
            <a:r>
              <a:t>applyTo: "Slides/individual-slides/**"</a:t>
            </a:r>
          </a:p>
          <a:p>
            <a:r>
              <a:t>```</a:t>
            </a:r>
          </a:p>
          <a:p/>
          <a:p>
            <a:r>
              <a:t>```yaml</a:t>
            </a:r>
          </a:p>
          <a:p>
            <a:r>
              <a:t>applyTo: "**/*.{cs,ts,js,py,java,go,rb}"</a:t>
            </a:r>
          </a:p>
          <a:p>
            <a:r>
              <a:t>```</a:t>
            </a:r>
          </a:p>
          <a:p/>
          <a:p>
            <a:r>
              <a:t>```yaml</a:t>
            </a:r>
          </a:p>
          <a:p>
            <a:r>
              <a:t>applyTo: "**/*.instructions.md"</a:t>
            </a:r>
          </a:p>
          <a:p>
            <a:r>
              <a:t>```</a:t>
            </a:r>
          </a:p>
          <a:p/>
          <a:p>
            <a:r>
              <a:t>### Benefit</a:t>
            </a:r>
          </a:p>
          <a:p/>
          <a:p>
            <a:r>
              <a:t>Granular control without forcing unrelated files to follow irrelevant rules.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Folder-Level Technology-Specific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Use folder-level rules to match local stack and workflow.</a:t>
            </a:r>
          </a:p>
          <a:p/>
          <a:p>
            <a:pPr/>
            <a:r>
              <a:t>`Slides/` for Marp formatting and speaker-note conventions</a:t>
            </a:r>
          </a:p>
          <a:p>
            <a:pPr/>
            <a:r>
              <a:t>`Labs/lab1-3-python/` for Python lint/test guidance</a:t>
            </a:r>
          </a:p>
          <a:p>
            <a:pPr/>
            <a:r>
              <a:t>`Labs/lab1-3-typescript/` for TypeScript build/test patterns</a:t>
            </a:r>
          </a:p>
          <a:p>
            <a:pPr/>
            <a:r>
              <a:t>`Course/course.github/` for docs automation and publishing rules</a:t>
            </a:r>
          </a:p>
          <a:p/>
          <a:p>
            <a:r>
              <a:t>### Pattern</a:t>
            </a:r>
          </a:p>
          <a:p/>
          <a:p>
            <a:r>
              <a:t>Place rules near code ownership boundaries.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Layering Model and Precedence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```mermaid</a:t>
            </a:r>
          </a:p>
          <a:p>
            <a:r>
              <a:t>flowchart TD</a:t>
            </a:r>
          </a:p>
          <a:p>
            <a:r>
              <a:t>  A[Enterprise Instructions\nGlobal Guardrails] --&gt; B[Repository Instructions\nProject Standards]</a:t>
            </a:r>
          </a:p>
          <a:p>
            <a:r>
              <a:t>  B --&gt; C[Path-Scoped Rules\nTargeted Behavior]</a:t>
            </a:r>
          </a:p>
          <a:p>
            <a:r>
              <a:t>  C --&gt; D[Folder-Level Tech Rules\nLocal Implementation]</a:t>
            </a:r>
          </a:p>
          <a:p>
            <a:r>
              <a:t>```</a:t>
            </a:r>
          </a:p>
          <a:p/>
          <a:p>
            <a:r>
              <a:t>### Resolution Rule</a:t>
            </a:r>
          </a:p>
          <a:p/>
          <a:p>
            <a:r>
              <a:t>Prefer the most specific matching instruction when guidance overlaps.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Governance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t>Keep enterprise files policy-focused and durable</a:t>
            </a:r>
          </a:p>
          <a:p>
            <a:pPr/>
            <a:r>
              <a:t>Keep repository files implementation-focused and current</a:t>
            </a:r>
          </a:p>
          <a:p>
            <a:pPr/>
            <a:r>
              <a:t>Use explicit `applyTo` patterns for every specialized rule file</a:t>
            </a:r>
          </a:p>
          <a:p>
            <a:pPr/>
            <a:r>
              <a:t>Review instruction overlap quarterly to reduce conflicts</a:t>
            </a:r>
          </a:p>
          <a:p>
            <a:pPr/>
            <a:r>
              <a:t>Validate behavior with small representative prompts per folder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Technology Inventory &amp; Instruction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Duration: 25-30 minutes</a:t>
            </a:r>
          </a:p>
          <a:p/>
          <a:p>
            <a:r>
              <a:t>Objectives</a:t>
            </a:r>
          </a:p>
          <a:p/>
          <a:p>
            <a:pPr/>
            <a:r>
              <a:t>Create a clear inventory of project technologies across the repository</a:t>
            </a:r>
          </a:p>
          <a:p>
            <a:pPr/>
            <a:r>
              <a:t>Use background sessions to run concurrent analysis and drafting work</a:t>
            </a:r>
          </a:p>
          <a:p>
            <a:pPr/>
            <a:r>
              <a:t>Generate multiple instruction files simultaneously from the inventory results</a:t>
            </a:r>
          </a:p>
          <a:p>
            <a:pPr/>
            <a:r>
              <a:t>Practice session management interface workflows for parallel task control</a:t>
            </a:r>
          </a:p>
          <a:p/>
          <a:p>
            <a:r>
              <a:t>Activities</a:t>
            </a:r>
          </a:p>
          <a:p/>
          <a:p>
            <a:r>
              <a:t>1. Technology Inventory Build:</a:t>
            </a:r>
          </a:p>
          <a:p/>
          <a:p>
            <a:pPr/>
            <a:r>
              <a:t>Scan the repository and list languages, frameworks, build tools, and test stacks</a:t>
            </a:r>
          </a:p>
          <a:p>
            <a:pPr/>
            <a:r>
              <a:t>Group technologies by folder ownership and lifecycle criticality</a:t>
            </a:r>
          </a:p>
          <a:p>
            <a:pPr/>
            <a:r>
              <a:t>Identify missing or outdated instruction coverage per technology area</a:t>
            </a:r>
          </a:p>
          <a:p/>
          <a:p>
            <a:r>
              <a:t>2. Background Session Orchestration:</a:t>
            </a:r>
          </a:p>
          <a:p/>
          <a:p>
            <a:pPr/>
            <a:r>
              <a:t>Start parallel background sessions for discovery, drafting, and validation</a:t>
            </a:r>
          </a:p>
          <a:p>
            <a:pPr/>
            <a:r>
              <a:t>Assign one focused outcome per session (inventory, file generation, review)</a:t>
            </a:r>
          </a:p>
          <a:p>
            <a:pPr/>
            <a:r>
              <a:t>Capture each session's outputs and merge findings into one working backlog</a:t>
            </a:r>
          </a:p>
          <a:p/>
          <a:p>
            <a:r>
              <a:t>3. Simultaneous Instruction Generation:</a:t>
            </a:r>
          </a:p>
          <a:p/>
          <a:p>
            <a:pPr/>
            <a:r>
              <a:t>Generate multiple instruction files for high-priority technology folders</a:t>
            </a:r>
          </a:p>
          <a:p>
            <a:pPr/>
            <a:r>
              <a:t>Apply path-scoped patterns to each generated instruction file</a:t>
            </a:r>
          </a:p>
          <a:p>
            <a:pPr/>
            <a:r>
              <a:t>Validate that each file is targeted, non-overlapping, and implementation-ready</a:t>
            </a:r>
          </a:p>
          <a:p/>
          <a:p>
            <a:r>
              <a:t>4. Session Management Interface Review:</a:t>
            </a:r>
          </a:p>
          <a:p/>
          <a:p>
            <a:pPr/>
            <a:r>
              <a:t>Track session state, ownership, and completion status</a:t>
            </a:r>
          </a:p>
          <a:p>
            <a:pPr/>
            <a:r>
              <a:t>Resolve collisions between concurrently generated instruction outputs</a:t>
            </a:r>
          </a:p>
          <a:p>
            <a:pPr/>
            <a:r>
              <a:t>Close sessions with a summarized decision log and next-step actions</a:t>
            </a:r>
          </a:p>
          <a:p/>
          <a:p>
            <a:r>
              <a:t>Success Criteria</a:t>
            </a:r>
          </a:p>
          <a:p/>
          <a:p>
            <a:pPr/>
            <a:r>
              <a:t>Technology inventory includes stack, location, and risk/priority attributes</a:t>
            </a:r>
          </a:p>
          <a:p>
            <a:pPr/>
            <a:r>
              <a:t>At least three instruction files are generated concurrently and scoped correctly</a:t>
            </a:r>
          </a:p>
          <a:p>
            <a:pPr/>
            <a:r>
              <a:t>Background sessions are documented with clear responsibilities and outcomes</a:t>
            </a:r>
          </a:p>
          <a:p>
            <a:pPr/>
            <a:r>
              <a:t>Session management process is repeatable for future multi-stream work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t>Intro</a:t>
            </a:r>
          </a:p>
          <a:p>
            <a:pPr/>
            <a:r>
              <a:t>Module 1 - AIASD</a:t>
            </a:r>
          </a:p>
          <a:p>
            <a:pPr/>
            <a:r>
              <a:t>Module 2 - Intro to Copilot</a:t>
            </a:r>
          </a:p>
          <a:p>
            <a:pPr/>
            <a:r>
              <a:t>Module 3 - Vibbing</a:t>
            </a:r>
          </a:p>
          <a:p>
            <a:pPr/>
            <a:r>
              <a:t>Module 4 - Adding AI Guardrails</a:t>
            </a:r>
          </a:p>
          <a:p>
            <a:pPr/>
            <a:r>
              <a:rPr b="1"/>
              <a:t>▶ Module 5 - Managing Context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5 - Managing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5 - Managing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t>Managing GitHub Copilot Effectively</a:t>
            </a:r>
          </a:p>
          <a:p>
            <a:pPr/>
            <a:r>
              <a:t>Managing Instruction Files &amp; Context Windows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Managing GitHub Copilot Effectively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Copilot is powerful, but not entirely autonomous</a:t>
            </a:r>
          </a:p>
          <a:p>
            <a:r>
              <a:t>Effective use requires structure, guardrails, and clear intent</a:t>
            </a:r>
          </a:p>
          <a:p>
            <a:r>
              <a:t>Treat Copilot as a developer whose output improves with guidance</a:t>
            </a:r>
          </a:p>
          <a:p>
            <a:r>
              <a:t>Your process determines the quality of its contributions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Managed Junior Developer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Copilot is fast, eager, and sometimes confidently wrong</a:t>
            </a:r>
          </a:p>
          <a:p>
            <a:r>
              <a:t>Provide clear instructions, constraints, and examples</a:t>
            </a:r>
          </a:p>
          <a:p>
            <a:r>
              <a:t>Review everything – trust its speed, not its judgment</a:t>
            </a:r>
          </a:p>
          <a:p>
            <a:r>
              <a:t>Use iterative loops: instruct → generate → review → refine</a:t>
            </a:r>
          </a:p>
          <a:p>
            <a:r>
              <a:t>Give Copilot ownership of tasks, not architecture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Context &amp; Tokens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Copilot can only “see” a limited amount of text at once</a:t>
            </a:r>
          </a:p>
          <a:p>
            <a:r>
              <a:t>Large files, long conversations, or complex repos can exceed context</a:t>
            </a:r>
          </a:p>
          <a:p>
            <a:r>
              <a:t>Important details may fall out of the window without you realizing</a:t>
            </a:r>
          </a:p>
          <a:p>
            <a:r>
              <a:t>Use these techniques to keep context focused:</a:t>
            </a:r>
          </a:p>
          <a:p>
            <a:pPr/>
            <a:r>
              <a:t>Summaries</a:t>
            </a:r>
          </a:p>
          <a:p>
            <a:pPr/>
            <a:r>
              <a:t>Instruction files</a:t>
            </a:r>
          </a:p>
          <a:p>
            <a:pPr/>
            <a:r>
              <a:t>Modular prompts</a:t>
            </a:r>
          </a:p>
          <a:p>
            <a:pPr/>
            <a:r>
              <a:t>Smaller working sets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Engineering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Be explicit about goals, constraints, and success criteria</a:t>
            </a:r>
          </a:p>
          <a:p>
            <a:r>
              <a:t>Provide examples of the desired pattern or style</a:t>
            </a:r>
          </a:p>
          <a:p>
            <a:r>
              <a:t>Break large tasks into smaller, testable steps</a:t>
            </a:r>
          </a:p>
          <a:p>
            <a:r>
              <a:t>Use instruction files for stable rules and architectural boundaries</a:t>
            </a:r>
          </a:p>
          <a:p>
            <a:r>
              <a:t>Ask Copilot to explain its reasoning when correctness matters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Different models excel at different tasks</a:t>
            </a:r>
          </a:p>
          <a:p>
            <a:r>
              <a:t>High‑end models (e.g., GPT‑4o, Claude Sonnet) are best for:</a:t>
            </a:r>
          </a:p>
          <a:p>
            <a:pPr/>
            <a:r>
              <a:t>Architecture</a:t>
            </a:r>
          </a:p>
          <a:p>
            <a:pPr/>
            <a:r>
              <a:t>Refactoring</a:t>
            </a:r>
          </a:p>
          <a:p>
            <a:pPr/>
            <a:r>
              <a:t>Complex reasoning</a:t>
            </a:r>
          </a:p>
          <a:p>
            <a:pPr/>
            <a:r>
              <a:t>Multi‑file changes</a:t>
            </a:r>
          </a:p>
          <a:p>
            <a:r>
              <a:t>Lightweight models are ideal for:</a:t>
            </a:r>
          </a:p>
          <a:p>
            <a:pPr/>
            <a:r>
              <a:t>Boilerplate</a:t>
            </a:r>
          </a:p>
          <a:p>
            <a:pPr/>
            <a:r>
              <a:t>Repetitive tasks</a:t>
            </a:r>
          </a:p>
          <a:p>
            <a:pPr/>
            <a:r>
              <a:t>Quick iterations</a:t>
            </a:r>
          </a:p>
          <a:p>
            <a:r>
              <a:t>Match the model to the task, not the other way around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Managing Instruction Files &amp; Context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t>Instruction sharing strategies</a:t>
            </a:r>
          </a:p>
          <a:p>
            <a:pPr/>
            <a:r>
              <a:t>Instruction file scope and application</a:t>
            </a:r>
          </a:p>
          <a:p>
            <a:pPr/>
            <a:r>
              <a:t>Context window monitoring tools</a:t>
            </a:r>
          </a:p>
          <a:p>
            <a:pPr/>
            <a:r>
              <a:t>Token consumption tracking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Instruction Sharing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t>Establish a central baseline in organization-level instructions</a:t>
            </a:r>
          </a:p>
          <a:p>
            <a:pPr/>
            <a:r>
              <a:t>Keep repository-level instructions close to implementation details</a:t>
            </a:r>
          </a:p>
          <a:p>
            <a:pPr/>
            <a:r>
              <a:t>Use reusable templates for recurring instruction patterns</a:t>
            </a:r>
          </a:p>
          <a:p>
            <a:pPr/>
            <a:r>
              <a:t>Share proven prompts and instruction snippets through version control</a:t>
            </a:r>
          </a:p>
          <a:p/>
          <a:p>
            <a:r>
              <a:t>### Team Pattern</a:t>
            </a:r>
          </a:p>
          <a:p/>
          <a:p>
            <a:r>
              <a:t>Centralize policy, decentralize implementation guidance.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Instruction File Scope and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Use scope to target behavior precisely with `applyTo` patterns.</a:t>
            </a:r>
          </a:p>
          <a:p/>
          <a:p>
            <a:r>
              <a:t>```yaml</a:t>
            </a:r>
          </a:p>
          <a:p>
            <a:r>
              <a:t>applyTo: "**/*"</a:t>
            </a:r>
          </a:p>
          <a:p>
            <a:r>
              <a:t>```</a:t>
            </a:r>
          </a:p>
          <a:p/>
          <a:p>
            <a:r>
              <a:t>```yaml</a:t>
            </a:r>
          </a:p>
          <a:p>
            <a:r>
              <a:t>applyTo: "Slides/individual-slides/**"</a:t>
            </a:r>
          </a:p>
          <a:p>
            <a:r>
              <a:t>```</a:t>
            </a:r>
          </a:p>
          <a:p/>
          <a:p>
            <a:r>
              <a:t>```yaml</a:t>
            </a:r>
          </a:p>
          <a:p>
            <a:r>
              <a:t>applyTo: "**/*.{cs,ts,js,py,java,go,rb}"</a:t>
            </a:r>
          </a:p>
          <a:p>
            <a:r>
              <a:t>```</a:t>
            </a:r>
          </a:p>
          <a:p/>
          <a:p>
            <a:r>
              <a:t>### Rule of Thumb</a:t>
            </a:r>
          </a:p>
          <a:p/>
          <a:p>
            <a:r>
              <a:t>The narrower the scope, the lower the risk of unintended instruction collisions.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Window Monitoring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t>Use chat/session history panels to detect topic drift</a:t>
            </a:r>
          </a:p>
          <a:p>
            <a:pPr/>
            <a:r>
              <a:t>Track context attachments (`@workspace`, `@file`, `@terminal`) intentionally</a:t>
            </a:r>
          </a:p>
          <a:p>
            <a:pPr/>
            <a:r>
              <a:t>Start fresh chats when switching goals or bounded contexts</a:t>
            </a:r>
          </a:p>
          <a:p>
            <a:pPr/>
            <a:r>
              <a:t>Use lightweight check-ins: "What context are we currently using?"</a:t>
            </a:r>
          </a:p>
          <a:p/>
          <a:p>
            <a:r>
              <a:t>### Signals of Context Saturation</a:t>
            </a:r>
          </a:p>
          <a:p/>
          <a:p>
            <a:pPr/>
            <a:r>
              <a:t>Repeated clarifying questions</a:t>
            </a:r>
          </a:p>
          <a:p>
            <a:pPr/>
            <a:r>
              <a:t>Loss of earlier constraints</a:t>
            </a:r>
          </a:p>
          <a:p>
            <a:pPr/>
            <a:r>
              <a:t>Increasingly generic responses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 Consumption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t>Monitor token usage indicators in the chat interface</a:t>
            </a:r>
          </a:p>
          <a:p>
            <a:pPr/>
            <a:r>
              <a:t>Prefer concise prompts with explicit file targets</a:t>
            </a:r>
          </a:p>
          <a:p>
            <a:pPr/>
            <a:r>
              <a:t>Split large tasks into smaller, well-bounded sessions</a:t>
            </a:r>
          </a:p>
          <a:p>
            <a:pPr/>
            <a:r>
              <a:t>Archive outcomes in files instead of keeping all context in-chat</a:t>
            </a:r>
          </a:p>
          <a:p/>
          <a:p>
            <a:r>
              <a:t>### Cost-Control Tactics</a:t>
            </a:r>
          </a:p>
          <a:p/>
          <a:p>
            <a:pPr/>
            <a:r>
              <a:t>Reduce redundant restatement</a:t>
            </a:r>
          </a:p>
          <a:p>
            <a:pPr/>
            <a:r>
              <a:t>Reuse instruction files over repeated long prompts</a:t>
            </a:r>
          </a:p>
          <a:p>
            <a:pPr/>
            <a:r>
              <a:t>Move stable constraints into persistent instruction artifacts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Blueprint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r>
              <a:t>```mermaid</a:t>
            </a:r>
          </a:p>
          <a:p>
            <a:r>
              <a:t>flowchart LR</a:t>
            </a:r>
          </a:p>
          <a:p>
            <a:r>
              <a:t>  A[Define Task Goal] --&gt; B[Select Relevant Instruction Files]</a:t>
            </a:r>
          </a:p>
          <a:p>
            <a:r>
              <a:t>  B --&gt; C[Scope with applyTo Patterns]</a:t>
            </a:r>
          </a:p>
          <a:p>
            <a:r>
              <a:t>  C --&gt; D[Run Focused Chat Session]</a:t>
            </a:r>
          </a:p>
          <a:p>
            <a:r>
              <a:t>  D --&gt; E[Monitor Context and Tokens]</a:t>
            </a:r>
          </a:p>
          <a:p>
            <a:r>
              <a:t>  E --&gt; F[Persist Output and Start Next Session]</a:t>
            </a:r>
          </a:p>
          <a:p>
            <a:r>
              <a:t>```</a:t>
            </a:r>
          </a:p>
          <a:p/>
          <a:p>
            <a:r>
              <a:t>### Outcome</a:t>
            </a:r>
          </a:p>
          <a:p/>
          <a:p>
            <a:r>
              <a:t>Predictable outputs, lower token waste, and better team-level reuse.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/>
            <a:r>
              <a:t>Define where instructions live: org, repo, folder, or file scope</a:t>
            </a:r>
          </a:p>
          <a:p>
            <a:pPr/>
            <a:r>
              <a:t>Validate `applyTo` patterns before broad adoption</a:t>
            </a:r>
          </a:p>
          <a:p>
            <a:pPr/>
            <a:r>
              <a:t>Monitor context quality every major prompt turn</a:t>
            </a:r>
          </a:p>
          <a:p>
            <a:pPr/>
            <a:r>
              <a:t>Track token trends for long-running work streams</a:t>
            </a:r>
          </a:p>
          <a:p>
            <a:pPr/>
            <a:r>
              <a:t>Capture reusable instruction improvements in versioned files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 Train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^jMM CODE Training Slide Template.potx" id="{C235AF94-6470-4DC8-ADA1-D5CA24C263BE}" vid="{E23727E8-263B-4C98-B166-009CDF69EE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Noto Sans</vt:lpstr>
      <vt:lpstr>Victor Mono</vt:lpstr>
      <vt:lpstr>CODE Training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4</cp:revision>
  <dcterms:created xsi:type="dcterms:W3CDTF">2025-10-19T18:09:53Z</dcterms:created>
  <dcterms:modified xsi:type="dcterms:W3CDTF">2026-03-17T16:43:56Z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0x010100587004330F6D8B418A43481AAFC77453</vt:lpwstr>
  </property>
</Properties>
</file>