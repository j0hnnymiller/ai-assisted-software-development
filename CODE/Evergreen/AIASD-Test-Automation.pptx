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notesMaster" Target="notesMasters/notesMaster1.xml" /><Relationship Id="rId11" Type="http://schemas.openxmlformats.org/officeDocument/2006/relationships/viewProps" Target="viewProps.xml" /><Relationship Id="rId10" Type="http://schemas.openxmlformats.org/officeDocument/2006/relationships/presProps" Target="presProps.xml" /><Relationship Id="rId1" Type="http://schemas.openxmlformats.org/officeDocument/2006/relationships/slideMaster" Target="slideMasters/slideMaster1.xml" /><Relationship Id="rId13" Type="http://schemas.openxmlformats.org/officeDocument/2006/relationships/tableStyles" Target="tableStyles.xml" /><Relationship Id="rId12"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Introduce this module as the foundation for safe, predictable modernization. Test automation and quality gates are the mechanisms that allow teams to move quickly without breaking brownfield systems. AI accelerates these workflows but must be guided by strong guardrails.</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Explain that AI dramatically accelerates test creation, but humans still validate correctness and intent. Emphasize that tests are only valuable when they reflect real business behavior, not just code structure.</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Static analysis tools catch syntax and style issues, but AI can reason about architecture, intent, and domain rules. This creates a deeper layer of quality enforcement.</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Coverage numbers alone are misleading. AI helps teams understand whether tests are </a:t>
            </a:r>
            <a:r>
              <a:rPr i="1"/>
              <a:t>adequate</a:t>
            </a:r>
            <a:r>
              <a:rPr/>
              <a:t>, not just numerous. Adequacy is the real measure of safety.</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Quality gates turn best practices into automated enforcement. They ensure that every change — human or AI‑generated — meets the team’s standards before merging.</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Encourage participants to treat this as a real modernization task. The goal is not to generate as many tests as possible — it’s to improve the safety, clarity, and maintainability of the testing framework in a targeted, evergreen‑aligned way.</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Test Automation &amp; Code Quality</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Test Automation &amp; Code Quality</a:t>
            </a:r>
          </a:p>
        </p:txBody>
      </p:sp>
      <p:sp>
        <p:nvSpPr>
          <p:cNvPr id="3" name="Content Placeholder 2"/>
          <p:cNvSpPr>
            <a:spLocks noGrp="1"/>
          </p:cNvSpPr>
          <p:nvPr>
            <p:ph idx="1"/>
          </p:nvPr>
        </p:nvSpPr>
        <p:spPr/>
        <p:txBody>
          <a:bodyPr/>
          <a:lstStyle/>
          <a:p>
            <a:pPr lvl="0"/>
            <a:r>
              <a:rPr/>
              <a:t>AI‑assisted test generation (unit, integration, E2E)</a:t>
            </a:r>
          </a:p>
          <a:p>
            <a:pPr lvl="0"/>
            <a:r>
              <a:rPr/>
              <a:t>Intelligent linting beyond static analysis</a:t>
            </a:r>
          </a:p>
          <a:p>
            <a:pPr lvl="0"/>
            <a:r>
              <a:rPr/>
              <a:t>Coverage analysis and test adequacy assessment</a:t>
            </a:r>
          </a:p>
          <a:p>
            <a:pPr lvl="0"/>
            <a:r>
              <a:rPr/>
              <a:t>Automated quality gates</a:t>
            </a:r>
          </a:p>
          <a:p>
            <a:pPr lvl="0"/>
            <a:r>
              <a:rPr/>
              <a:t>Exercise: Strengthening test automation &amp; quality</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AI‑Assisted Test Generation</a:t>
            </a:r>
          </a:p>
        </p:txBody>
      </p:sp>
      <p:sp>
        <p:nvSpPr>
          <p:cNvPr id="3" name="Content Placeholder 2"/>
          <p:cNvSpPr>
            <a:spLocks noGrp="1"/>
          </p:cNvSpPr>
          <p:nvPr>
            <p:ph idx="1"/>
          </p:nvPr>
        </p:nvSpPr>
        <p:spPr/>
        <p:txBody>
          <a:bodyPr/>
          <a:lstStyle/>
          <a:p>
            <a:pPr lvl="0" indent="0" marL="0">
              <a:spcBef>
                <a:spcPts val="3000"/>
              </a:spcBef>
              <a:buNone/>
            </a:pPr>
            <a:r>
              <a:rPr b="1"/>
              <a:t>AI can generate:</a:t>
            </a:r>
          </a:p>
          <a:p>
            <a:pPr lvl="0"/>
            <a:r>
              <a:rPr b="1"/>
              <a:t>Unit tests</a:t>
            </a:r>
            <a:r>
              <a:rPr/>
              <a:t> for functions, classes, and utilities</a:t>
            </a:r>
          </a:p>
          <a:p>
            <a:pPr lvl="0"/>
            <a:r>
              <a:rPr b="1"/>
              <a:t>Integration tests</a:t>
            </a:r>
            <a:r>
              <a:rPr/>
              <a:t> for module interactions</a:t>
            </a:r>
          </a:p>
          <a:p>
            <a:pPr lvl="0"/>
            <a:r>
              <a:rPr b="1"/>
              <a:t>End‑to‑end tests</a:t>
            </a:r>
            <a:r>
              <a:rPr/>
              <a:t> for full workflows</a:t>
            </a:r>
          </a:p>
          <a:p>
            <a:pPr lvl="0"/>
            <a:r>
              <a:rPr b="1"/>
              <a:t>Edge‑case tests</a:t>
            </a:r>
            <a:r>
              <a:rPr/>
              <a:t> and regression scenarios</a:t>
            </a:r>
          </a:p>
          <a:p>
            <a:pPr lvl="0"/>
            <a:r>
              <a:rPr b="1"/>
              <a:t>Contract tests</a:t>
            </a:r>
            <a:r>
              <a:rPr/>
              <a:t> for APIs and services</a:t>
            </a:r>
          </a:p>
          <a:p>
            <a:pPr lvl="0" indent="0" marL="0">
              <a:spcBef>
                <a:spcPts val="3000"/>
              </a:spcBef>
              <a:buNone/>
            </a:pPr>
            <a:r>
              <a:rPr b="1"/>
              <a:t>Benefits</a:t>
            </a:r>
          </a:p>
          <a:p>
            <a:pPr lvl="0"/>
            <a:r>
              <a:rPr/>
              <a:t>Rapid coverage expansion</a:t>
            </a:r>
          </a:p>
          <a:p>
            <a:pPr lvl="0"/>
            <a:r>
              <a:rPr/>
              <a:t>Consistent structure and naming</a:t>
            </a:r>
          </a:p>
          <a:p>
            <a:pPr lvl="0"/>
            <a:r>
              <a:rPr/>
              <a:t>Reduced onboarding time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Intelligent Linting Beyond Static Analysis</a:t>
            </a:r>
          </a:p>
        </p:txBody>
      </p:sp>
      <p:sp>
        <p:nvSpPr>
          <p:cNvPr id="3" name="Content Placeholder 2"/>
          <p:cNvSpPr>
            <a:spLocks noGrp="1"/>
          </p:cNvSpPr>
          <p:nvPr>
            <p:ph idx="1"/>
          </p:nvPr>
        </p:nvSpPr>
        <p:spPr/>
        <p:txBody>
          <a:bodyPr/>
          <a:lstStyle/>
          <a:p>
            <a:pPr lvl="0" indent="0" marL="0">
              <a:spcBef>
                <a:spcPts val="3000"/>
              </a:spcBef>
              <a:buNone/>
            </a:pPr>
            <a:r>
              <a:rPr b="1"/>
              <a:t>AI‑enhanced linting can detect:</a:t>
            </a:r>
          </a:p>
          <a:p>
            <a:pPr lvl="0"/>
            <a:r>
              <a:rPr/>
              <a:t>Architectural violations</a:t>
            </a:r>
          </a:p>
          <a:p>
            <a:pPr lvl="0"/>
            <a:r>
              <a:rPr/>
              <a:t>Anti‑patterns</a:t>
            </a:r>
          </a:p>
          <a:p>
            <a:pPr lvl="0"/>
            <a:r>
              <a:rPr/>
              <a:t>Unsafe refactors</a:t>
            </a:r>
          </a:p>
          <a:p>
            <a:pPr lvl="0"/>
            <a:r>
              <a:rPr/>
              <a:t>Missing documentation</a:t>
            </a:r>
          </a:p>
          <a:p>
            <a:pPr lvl="0"/>
            <a:r>
              <a:rPr/>
              <a:t>Inconsistent naming or domain terminology</a:t>
            </a:r>
          </a:p>
          <a:p>
            <a:pPr lvl="0" indent="0" marL="0">
              <a:spcBef>
                <a:spcPts val="3000"/>
              </a:spcBef>
              <a:buNone/>
            </a:pPr>
            <a:r>
              <a:rPr b="1"/>
              <a:t>Why it matters</a:t>
            </a:r>
          </a:p>
          <a:p>
            <a:pPr lvl="0"/>
            <a:r>
              <a:rPr/>
              <a:t>Goes beyond syntax</a:t>
            </a:r>
          </a:p>
          <a:p>
            <a:pPr lvl="0"/>
            <a:r>
              <a:rPr/>
              <a:t>Enforces architectural guardrails</a:t>
            </a:r>
          </a:p>
          <a:p>
            <a:pPr lvl="0"/>
            <a:r>
              <a:rPr/>
              <a:t>Reduces long‑term technical debt</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Coverage Analysis &amp; Test Adequacy Assessment</a:t>
            </a:r>
          </a:p>
        </p:txBody>
      </p:sp>
      <p:sp>
        <p:nvSpPr>
          <p:cNvPr id="3" name="Content Placeholder 2"/>
          <p:cNvSpPr>
            <a:spLocks noGrp="1"/>
          </p:cNvSpPr>
          <p:nvPr>
            <p:ph idx="1"/>
          </p:nvPr>
        </p:nvSpPr>
        <p:spPr/>
        <p:txBody>
          <a:bodyPr/>
          <a:lstStyle/>
          <a:p>
            <a:pPr lvl="0" indent="0" marL="0">
              <a:spcBef>
                <a:spcPts val="3000"/>
              </a:spcBef>
              <a:buNone/>
            </a:pPr>
            <a:r>
              <a:rPr b="1"/>
              <a:t>AI can help evaluate:</a:t>
            </a:r>
          </a:p>
          <a:p>
            <a:pPr lvl="0"/>
            <a:r>
              <a:rPr/>
              <a:t>Coverage gaps</a:t>
            </a:r>
          </a:p>
          <a:p>
            <a:pPr lvl="0"/>
            <a:r>
              <a:rPr/>
              <a:t>Missing edge cases</a:t>
            </a:r>
          </a:p>
          <a:p>
            <a:pPr lvl="0"/>
            <a:r>
              <a:rPr/>
              <a:t>Over‑testing of implementation details</a:t>
            </a:r>
          </a:p>
          <a:p>
            <a:pPr lvl="0"/>
            <a:r>
              <a:rPr/>
              <a:t>Under‑testing of business logic</a:t>
            </a:r>
          </a:p>
          <a:p>
            <a:pPr lvl="0"/>
            <a:r>
              <a:rPr/>
              <a:t>Redundant or brittle tests</a:t>
            </a:r>
          </a:p>
          <a:p>
            <a:pPr lvl="0" indent="0" marL="0">
              <a:spcBef>
                <a:spcPts val="3000"/>
              </a:spcBef>
              <a:buNone/>
            </a:pPr>
            <a:r>
              <a:rPr b="1"/>
              <a:t>Outcomes</a:t>
            </a:r>
          </a:p>
          <a:p>
            <a:pPr lvl="0"/>
            <a:r>
              <a:rPr/>
              <a:t>More meaningful coverage</a:t>
            </a:r>
          </a:p>
          <a:p>
            <a:pPr lvl="0"/>
            <a:r>
              <a:rPr/>
              <a:t>Better alignment with real behavior</a:t>
            </a:r>
          </a:p>
          <a:p>
            <a:pPr lvl="0"/>
            <a:r>
              <a:rPr/>
              <a:t>Reduced maintenance burden</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Automated Quality Gates</a:t>
            </a:r>
          </a:p>
        </p:txBody>
      </p:sp>
      <p:sp>
        <p:nvSpPr>
          <p:cNvPr id="3" name="Content Placeholder 2"/>
          <p:cNvSpPr>
            <a:spLocks noGrp="1"/>
          </p:cNvSpPr>
          <p:nvPr>
            <p:ph idx="1"/>
          </p:nvPr>
        </p:nvSpPr>
        <p:spPr/>
        <p:txBody>
          <a:bodyPr/>
          <a:lstStyle/>
          <a:p>
            <a:pPr lvl="0" indent="0" marL="0">
              <a:spcBef>
                <a:spcPts val="3000"/>
              </a:spcBef>
              <a:buNone/>
            </a:pPr>
            <a:r>
              <a:rPr b="1"/>
              <a:t>Quality gates can enforce:</a:t>
            </a:r>
          </a:p>
          <a:p>
            <a:pPr lvl="0"/>
            <a:r>
              <a:rPr/>
              <a:t>Minimum test coverage</a:t>
            </a:r>
          </a:p>
          <a:p>
            <a:pPr lvl="0"/>
            <a:r>
              <a:rPr/>
              <a:t>Linting and architectural checks</a:t>
            </a:r>
          </a:p>
          <a:p>
            <a:pPr lvl="0"/>
            <a:r>
              <a:rPr/>
              <a:t>Provenance requirements</a:t>
            </a:r>
          </a:p>
          <a:p>
            <a:pPr lvl="0"/>
            <a:r>
              <a:rPr/>
              <a:t>PR‑level test generation</a:t>
            </a:r>
          </a:p>
          <a:p>
            <a:pPr lvl="0"/>
            <a:r>
              <a:rPr/>
              <a:t>Risk scoring for changes</a:t>
            </a:r>
          </a:p>
          <a:p>
            <a:pPr lvl="0" indent="0" marL="0">
              <a:spcBef>
                <a:spcPts val="3000"/>
              </a:spcBef>
              <a:buNone/>
            </a:pPr>
            <a:r>
              <a:rPr b="1"/>
              <a:t>Benefits</a:t>
            </a:r>
          </a:p>
          <a:p>
            <a:pPr lvl="0"/>
            <a:r>
              <a:rPr/>
              <a:t>Prevents regressions</a:t>
            </a:r>
          </a:p>
          <a:p>
            <a:pPr lvl="0"/>
            <a:r>
              <a:rPr/>
              <a:t>Ensures consistent quality</a:t>
            </a:r>
          </a:p>
          <a:p>
            <a:pPr lvl="0"/>
            <a:r>
              <a:rPr/>
              <a:t>Supports evergreen development</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Exercise: Strengthening Test Automation &amp; Code Quality</a:t>
            </a:r>
          </a:p>
        </p:txBody>
      </p:sp>
      <p:sp>
        <p:nvSpPr>
          <p:cNvPr id="3" name="Content Placeholder 2"/>
          <p:cNvSpPr>
            <a:spLocks noGrp="1"/>
          </p:cNvSpPr>
          <p:nvPr>
            <p:ph idx="1"/>
          </p:nvPr>
        </p:nvSpPr>
        <p:spPr/>
        <p:txBody>
          <a:bodyPr/>
          <a:lstStyle/>
          <a:p>
            <a:pPr lvl="0" indent="0" marL="0">
              <a:spcBef>
                <a:spcPts val="3000"/>
              </a:spcBef>
              <a:buNone/>
            </a:pPr>
            <a:r>
              <a:rPr b="1"/>
              <a:t>Duration</a:t>
            </a:r>
          </a:p>
          <a:p>
            <a:pPr lvl="0" indent="0" marL="0">
              <a:buNone/>
            </a:pPr>
            <a:r>
              <a:rPr/>
              <a:t>20 minutes</a:t>
            </a:r>
          </a:p>
          <a:p>
            <a:pPr lvl="0" indent="0" marL="0">
              <a:spcBef>
                <a:spcPts val="3000"/>
              </a:spcBef>
              <a:buNone/>
            </a:pPr>
            <a:r>
              <a:rPr b="1"/>
              <a:t>Objectives</a:t>
            </a:r>
          </a:p>
          <a:p>
            <a:pPr lvl="0"/>
            <a:r>
              <a:rPr/>
              <a:t>Identify gaps in test automation</a:t>
            </a:r>
          </a:p>
          <a:p>
            <a:pPr lvl="0"/>
            <a:r>
              <a:rPr/>
              <a:t>Use AI to generate missing tests</a:t>
            </a:r>
          </a:p>
          <a:p>
            <a:pPr lvl="0"/>
            <a:r>
              <a:rPr/>
              <a:t>Apply intelligent linting and quality gates</a:t>
            </a:r>
          </a:p>
          <a:p>
            <a:pPr lvl="0"/>
            <a:r>
              <a:rPr/>
              <a:t>Validate test adequacy and architectural alignment</a:t>
            </a:r>
          </a:p>
          <a:p>
            <a:pPr lvl="0" indent="0" marL="0">
              <a:spcBef>
                <a:spcPts val="3000"/>
              </a:spcBef>
              <a:buNone/>
            </a:pPr>
            <a:r>
              <a:rPr b="1"/>
              <a:t>Activities</a:t>
            </a:r>
          </a:p>
          <a:p>
            <a:pPr lvl="0" indent="-342900" marL="342900">
              <a:buAutoNum type="arabicPeriod"/>
            </a:pPr>
            <a:r>
              <a:rPr/>
              <a:t>Select a brownfield module or function.</a:t>
            </a:r>
          </a:p>
          <a:p>
            <a:pPr lvl="0" indent="-342900" marL="342900">
              <a:buAutoNum type="arabicPeriod"/>
            </a:pPr>
            <a:r>
              <a:rPr/>
              <a:t>Review existing tests for:</a:t>
            </a:r>
          </a:p>
          <a:p>
            <a:pPr lvl="1"/>
            <a:r>
              <a:rPr/>
              <a:t>Coverage gaps</a:t>
            </a:r>
          </a:p>
          <a:p>
            <a:pPr lvl="1"/>
            <a:r>
              <a:rPr/>
              <a:t>Missing edge cases</a:t>
            </a:r>
          </a:p>
          <a:p>
            <a:pPr lvl="1"/>
            <a:r>
              <a:rPr/>
              <a:t>Redundant or brittle tests</a:t>
            </a:r>
          </a:p>
          <a:p>
            <a:pPr lvl="0" indent="-342900" marL="342900">
              <a:buAutoNum type="arabicPeriod"/>
            </a:pPr>
            <a:r>
              <a:rPr/>
              <a:t>Ask AI to generate missing tests.</a:t>
            </a:r>
          </a:p>
          <a:p>
            <a:pPr lvl="0" indent="-342900" marL="342900">
              <a:buAutoNum type="arabicPeriod"/>
            </a:pPr>
            <a:r>
              <a:rPr/>
              <a:t>Run linting and architectural checks.</a:t>
            </a:r>
          </a:p>
          <a:p>
            <a:pPr lvl="0" indent="-342900" marL="342900">
              <a:buAutoNum type="arabicPeriod"/>
            </a:pPr>
            <a:r>
              <a:rPr/>
              <a:t>Propose quality gates to enforce improvements.</a:t>
            </a:r>
          </a:p>
          <a:p>
            <a:pPr lvl="0" indent="-342900" marL="342900">
              <a:buAutoNum type="arabicPeriod"/>
            </a:pPr>
            <a:r>
              <a:rPr/>
              <a:t>Add provenance metadata to all new artifacts.</a:t>
            </a:r>
          </a:p>
          <a:p>
            <a:pPr lvl="0" indent="0" marL="0">
              <a:spcBef>
                <a:spcPts val="3000"/>
              </a:spcBef>
              <a:buNone/>
            </a:pPr>
            <a:r>
              <a:rPr b="1"/>
              <a:t>Success Criteria</a:t>
            </a:r>
          </a:p>
          <a:p>
            <a:pPr lvl="0"/>
            <a:r>
              <a:rPr/>
              <a:t>Coverage gaps are identified and addressed</a:t>
            </a:r>
          </a:p>
          <a:p>
            <a:pPr lvl="0"/>
            <a:r>
              <a:rPr/>
              <a:t>AI‑generated tests are validated and correct</a:t>
            </a:r>
          </a:p>
          <a:p>
            <a:pPr lvl="0"/>
            <a:r>
              <a:rPr/>
              <a:t>Linting and architectural issues are resolved</a:t>
            </a:r>
          </a:p>
          <a:p>
            <a:pPr lvl="0"/>
            <a:r>
              <a:rPr/>
              <a:t>Proposed quality gates are actionable and safe</a:t>
            </a:r>
          </a:p>
          <a:p>
            <a:pPr lvl="0"/>
            <a:r>
              <a:rPr/>
              <a:t>Provenance metadata is included</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 Automation &amp; Code Quality</dc:title>
  <dc:creator/>
  <cp:keywords/>
  <dcterms:created xsi:type="dcterms:W3CDTF">2026-02-05T06:22:01Z</dcterms:created>
  <dcterms:modified xsi:type="dcterms:W3CDTF">2026-02-05T06:22:01Z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arp">
    <vt:lpwstr>True</vt:lpwstr>
  </property>
  <property fmtid="{D5CDD505-2E9C-101B-9397-08002B2CF9AE}" pid="3" name="paginate">
    <vt:lpwstr>True</vt:lpwstr>
  </property>
  <property fmtid="{D5CDD505-2E9C-101B-9397-08002B2CF9AE}" pid="4" name="theme">
    <vt:lpwstr>default</vt:lpwstr>
  </property>
</Properties>
</file>