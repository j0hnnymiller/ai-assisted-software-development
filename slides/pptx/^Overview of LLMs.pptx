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2" r:id="rId4"/>
    <p:sldId id="264" r:id="rId5"/>
    <p:sldId id="265" r:id="rId6"/>
    <p:sldId id="267" r:id="rId7"/>
    <p:sldId id="268" r:id="rId8"/>
    <p:sldId id="269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B1897-F041-4CE9-AB75-F53A8BFD405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24B2C-0D4B-4B7C-A06D-1A91D900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4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t>Emphasize that LLMs don’t actually “understand” code like humans do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They use transformer architecture to recognize patterns and context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Token-based processing: code is broken into tokens (words, symbols, operators)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Explain that attention mechanisms are what make modern LLMs so powerful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The scale is what makes the difference - billions of parameters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When we say LLMs “understand” relationships, we mean they can statistically correlate patterns across tokens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This pattern matching is extremely sophisticated but lacks true semantic comprehension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Example: An LLM can recognize that a variable declared early in a function should be referenced later, not because it understands variables conceptually, but because it has seen this pattern millions of times in training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The “understanding” is really about statistical associations between code patterns, not conceptual knowledge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This is why LLMs can generate syntactically correct code that is logically flawed - they match patterns without true comprehension of the underlying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Introduce LLMs at a high level: what they are, how they’re trained, and why they matter for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Capabilities: Describe common uses (completion, refactoring, tests) and show a quick live example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Limitations: Emphasize hallucination, context limits, and the need for human review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Do’s: Give practical tips—clear prompts, review, testing, and using AI for repetitive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Don’ts: Warn against blind acceptance of suggestions, entering sensitive data in prompts, and skipping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Input Processing</a:t>
            </a:r>
            <a:r>
              <a:t>: - Developer provides natural language prompts + existing code context - Input is tokenized into discrete units the model can process - Tokens are converted to numerical vectors (embeddings)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Core Processing</a:t>
            </a:r>
            <a:r>
              <a:t>: - Transformer layers use self-attention to understand relationships - Context window maintains recent conversation/code history - Pattern recognition identifies relevant code structures and syntax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Output Generation</a:t>
            </a:r>
            <a:r>
              <a:t>: - Model generates probability distributions for next tokens - Decoding strategies determine how to select from probabilities - Output is converted back to readable code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Human in the Loop</a:t>
            </a:r>
            <a:r>
              <a:t>: - Critical validation step - AI is a tool, not a replacement - Feedback loop for prompt refinement and learning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Training Influence</a:t>
            </a:r>
            <a:r>
              <a:t>: - Large code repositories provide pattern knowledge - Fine-tuning specializes models for coding tasks - Quality of training data directly impacts output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E87C-FC3A-BB10-B29B-26636F3F6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2CF29-A67C-2408-FAA8-5AA701A09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4BDF1-0FCE-EBF7-C4DB-EA9D490F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C6666-4897-576C-1FB9-95E4A446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71E7-F674-4A4D-8957-359516D0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5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269D-26B7-00A1-4F75-731D6E9A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21AF-ECE2-A815-59AE-FF1C03507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1DB87-5F00-A1EE-0F05-23ACF5FB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274AC-C655-CF8B-CEE6-F24192DF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9FB6D-8072-E7DD-E433-E6880B71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3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ACBD-ABD6-5FFA-7D3C-2FD7E22E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B8E86-E477-EB29-9AE3-787F27336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611FB-C70F-F7F3-3C91-89AEA631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0D74A-CFE9-460C-63A1-167F91C7F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83967-CD9A-1451-FB0D-EBFEC17A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5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8A40-110F-5C67-6AD5-56C026A9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DE9A1-8439-8238-7134-491884E43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0B15F-3C50-4050-0753-8DE224D9D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A354B-7F76-D847-8342-86A29CF6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D1586-D186-9130-3B97-A65B059F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3FEE3-281D-1881-9AB2-EDDD79AB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DADC-38A3-2DBB-B064-D91B3D7C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84CCC-0FEE-20E9-AC2C-509EE7E4E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53967-D47C-628B-6B1D-F3546EFBA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EBD1E-4E60-2BC9-287E-108B4BE94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078DE-65D8-5FD3-6516-C162AAB9C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9C6A5-ADD6-99C8-239A-E8FE52C3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0DC06-DD44-C7AD-8AD5-6C6D9209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402C5-394F-3F3A-0069-6EACB140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86FB-45B8-133A-4A8F-563890AF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6089BF-88C0-553B-864C-E4CF869E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70410-BF78-A893-2EED-FF296B49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428C4-0613-FC6F-503E-B5CEE667A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78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7534F-8BF4-9EA4-2F27-8663A477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B0949-059C-C317-32AD-719362C5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6D3F7-1565-BCFC-BFF7-BE3E8C05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3A6E-8BC4-C422-4D71-96200406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3260-5CE0-04A6-BD98-818EF7A3D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7FB6B-76E2-4EBA-4920-58E1B4838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163CF-2EF7-0A83-6273-E742EF2C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4901E-1356-7DA1-64BC-D10D8572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1645C-7DB3-FF69-FA9A-B8CA6129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6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C1EC-C374-576B-89D7-49D4B4DB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D6CBA-0C12-CC57-C26C-3D83AE6C0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234D3-849A-558D-01B0-E322D9BD6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6CA4C-087D-A8C3-6C42-1C53CDCA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43945-15DF-A737-D8A1-4777ACC6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3219D-D1E4-798A-4C8C-A25D1E50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0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2FF8-708E-C654-9C61-C6F56955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67365-6956-02D8-03FB-1AFA9D537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552CC-BD7F-360D-31BC-543F33C82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C612A-FE02-B907-94EE-42D2D39A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C5275-83E1-9740-68DE-DA7FC7A9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5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07EA8-6ABD-5F74-007B-7954332D3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76A60-89D2-1783-6BE7-6E36DC9DC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05292-CFFA-1E0E-05FB-D951A37D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C40E7-22C2-8CAB-9621-8E96AA5A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B619A-0C44-0161-03B5-C5B3BF97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0512B-4497-0A3A-3101-8CD431F6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1484A-514D-350E-B309-A3D941A81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F2E5A-4E4A-E705-C1AE-14AC91A39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E3CB0-355B-47BA-B921-AACF333B56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1FB3B-4C55-A57F-2A3D-221C57371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8CB61-8C65-4793-1FCF-2A2FB0083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69FC5-B0C3-480C-8328-AF550DC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4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CODE/Fundementals/LLM-Architecture-Diagram.p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7039-D523-87AE-0F34-4BD64286B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7CE59-E5ED-7F55-509F-C9EE21CA62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8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Conceptual Overview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LLMs are trained on massive datasets of code and natural language</a:t>
            </a:r>
          </a:p>
          <a:p>
            <a:pPr lvl="0"/>
            <a:r>
              <a:rPr dirty="0"/>
              <a:t>They use transformer architecture to understand patterns</a:t>
            </a:r>
          </a:p>
          <a:p>
            <a:pPr lvl="0"/>
            <a:r>
              <a:rPr dirty="0"/>
              <a:t>Token-based processing: code is broken into tokens</a:t>
            </a:r>
          </a:p>
          <a:p>
            <a:pPr lvl="0"/>
            <a:r>
              <a:rPr dirty="0"/>
              <a:t>Attention mechanisms help models focus on relevant parts of context</a:t>
            </a:r>
          </a:p>
          <a:p>
            <a:pPr lvl="0"/>
            <a:r>
              <a:rPr dirty="0"/>
              <a:t>Generate probabilistic next-token predictions based on training patterns</a:t>
            </a:r>
          </a:p>
          <a:p>
            <a:pPr lvl="0"/>
            <a:r>
              <a:rPr dirty="0"/>
              <a:t>No true “understanding” - pattern matching at massive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General Introduction to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Large Language Models</a:t>
            </a:r>
          </a:p>
          <a:p>
            <a:pPr lvl="0"/>
            <a:r>
              <a:rPr dirty="0"/>
              <a:t>Conceptual overview of how LLMs work</a:t>
            </a:r>
          </a:p>
          <a:p>
            <a:pPr lvl="0"/>
            <a:r>
              <a:rPr dirty="0"/>
              <a:t>Capabilities and limitations of LLMs in coding</a:t>
            </a:r>
          </a:p>
          <a:p>
            <a:pPr lvl="0"/>
            <a:r>
              <a:rPr dirty="0"/>
              <a:t>Software engineering with AI as a tool vs. “Vibe Coding”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Code completion and generation from natural language</a:t>
            </a:r>
          </a:p>
          <a:p>
            <a:pPr lvl="0"/>
            <a:r>
              <a:t>Refactoring and code optimization suggestions</a:t>
            </a:r>
          </a:p>
          <a:p>
            <a:pPr lvl="0"/>
            <a:r>
              <a:t>Bug detection and fixing recommendations</a:t>
            </a:r>
          </a:p>
          <a:p>
            <a:pPr lvl="0"/>
            <a:r>
              <a:t>Documentation generation</a:t>
            </a:r>
          </a:p>
          <a:p>
            <a:pPr lvl="0"/>
            <a:r>
              <a:t>Test case creation</a:t>
            </a:r>
          </a:p>
          <a:p>
            <a:pPr lvl="0"/>
            <a:r>
              <a:t>Code explanation and commenting</a:t>
            </a:r>
          </a:p>
          <a:p>
            <a:pPr lvl="0"/>
            <a:r>
              <a:t>Multi-language support and translation between languages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Limitations</a:t>
            </a:r>
            <a:r>
              <a:rPr lang="en-US" dirty="0"/>
              <a:t>*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t>No real-time knowledge updates (training cutoff dates)</a:t>
            </a:r>
          </a:p>
          <a:p>
            <a:pPr lvl="0"/>
            <a:r>
              <a:t>Can generate syntactically correct but logically flawed code</a:t>
            </a:r>
          </a:p>
          <a:p>
            <a:pPr lvl="0"/>
            <a:r>
              <a:t>Hallucination: confident-sounding but incorrect suggestions</a:t>
            </a:r>
          </a:p>
          <a:p>
            <a:pPr lvl="0"/>
            <a:r>
              <a:t>Context window limitations (finite memory)</a:t>
            </a:r>
          </a:p>
          <a:p>
            <a:pPr lvl="0"/>
            <a:r>
              <a:t>Does not “understand” business logic or domain-specific requirements</a:t>
            </a:r>
          </a:p>
          <a:p>
            <a:pPr lvl="0"/>
            <a:r>
              <a:t>Security vulnerabilities if not carefully reviewed</a:t>
            </a:r>
          </a:p>
          <a:p>
            <a:pPr lvl="0"/>
            <a:r>
              <a:t>Bias from training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A5191-1777-EB0C-D58B-7F3ABDBA7DBF}"/>
              </a:ext>
            </a:extLst>
          </p:cNvPr>
          <p:cNvSpPr txBox="1"/>
          <p:nvPr/>
        </p:nvSpPr>
        <p:spPr>
          <a:xfrm>
            <a:off x="1102582" y="6392850"/>
            <a:ext cx="3179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*Subject to change without notice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Do’s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Always review and test AI-generated code</a:t>
            </a:r>
          </a:p>
          <a:p>
            <a:pPr lvl="0"/>
            <a:r>
              <a:rPr dirty="0"/>
              <a:t>Provide clear, specific prompts with context</a:t>
            </a:r>
          </a:p>
          <a:p>
            <a:pPr lvl="0"/>
            <a:r>
              <a:rPr dirty="0"/>
              <a:t>Use AI to explore different implementation approaches</a:t>
            </a:r>
          </a:p>
          <a:p>
            <a:pPr lvl="0"/>
            <a:r>
              <a:rPr dirty="0"/>
              <a:t>Leverage AI for documentation and test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Don’ts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Blindly accept AI suggestions without review</a:t>
            </a:r>
          </a:p>
          <a:p>
            <a:pPr lvl="0"/>
            <a:r>
              <a:rPr dirty="0"/>
              <a:t>Skip testing because “AI wrote it”</a:t>
            </a:r>
          </a:p>
          <a:p>
            <a:pPr lvl="0"/>
            <a:r>
              <a:rPr dirty="0"/>
              <a:t>Use AI for critical security or safety-critical code without extensive validation</a:t>
            </a:r>
          </a:p>
          <a:p>
            <a:pPr lvl="0"/>
            <a:r>
              <a:rPr dirty="0"/>
              <a:t>Rely on AI for architectural decisions without human oversight</a:t>
            </a:r>
          </a:p>
          <a:p>
            <a:pPr lvl="0"/>
            <a:r>
              <a:rPr dirty="0"/>
              <a:t>Generate code without understanding the underlying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LLM Architecture for Code Generation</a:t>
            </a:r>
          </a:p>
        </p:txBody>
      </p:sp>
      <p:pic>
        <p:nvPicPr>
          <p:cNvPr id="5" name="Picture 4">
            <a:hlinkClick r:id="rId3" action="ppaction://hlinkfile"/>
            <a:extLst>
              <a:ext uri="{FF2B5EF4-FFF2-40B4-BE49-F238E27FC236}">
                <a16:creationId xmlns:a16="http://schemas.microsoft.com/office/drawing/2014/main" id="{22D5CDB8-C60F-DE0D-AAD3-1DB406914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869" y="991897"/>
            <a:ext cx="2810235" cy="55009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E549-9E5F-BA5D-A097-5B566E80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Comparing LLMs for Code Generation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7C669-6E43-EB63-5D1A-127C711E1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Leaderboards  </a:t>
            </a:r>
          </a:p>
          <a:p>
            <a:pPr lvl="0"/>
            <a:r>
              <a:rPr lang="en-US" dirty="0"/>
              <a:t>Core Benchmarks</a:t>
            </a:r>
          </a:p>
          <a:p>
            <a:pPr lvl="0"/>
            <a:r>
              <a:rPr lang="en-US" dirty="0"/>
              <a:t>Surveys &amp; Deep‑Dive Research </a:t>
            </a:r>
          </a:p>
          <a:p>
            <a:pPr lvl="0"/>
            <a:r>
              <a:rPr lang="en-US" dirty="0"/>
              <a:t>Evaluation Frameworks </a:t>
            </a:r>
          </a:p>
        </p:txBody>
      </p:sp>
    </p:spTree>
    <p:extLst>
      <p:ext uri="{BB962C8B-B14F-4D97-AF65-F5344CB8AC3E}">
        <p14:creationId xmlns:p14="http://schemas.microsoft.com/office/powerpoint/2010/main" val="1402752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Widescreen</PresentationFormat>
  <Paragraphs>86</Paragraphs>
  <Slides>9</Slides>
  <Notes>7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Conceptual Overview of LLMs</vt:lpstr>
      <vt:lpstr>General Introduction to LLMs</vt:lpstr>
      <vt:lpstr>Capabilities</vt:lpstr>
      <vt:lpstr>Limitations*</vt:lpstr>
      <vt:lpstr>Do’s</vt:lpstr>
      <vt:lpstr>Don’ts</vt:lpstr>
      <vt:lpstr>LLM Architecture for Code Generation</vt:lpstr>
      <vt:lpstr>Comparing LLMs for Code Generation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2</cp:revision>
  <dcterms:created xsi:type="dcterms:W3CDTF">2026-03-05T03:06:04Z</dcterms:created>
  <dcterms:modified xsi:type="dcterms:W3CDTF">2026-03-05T03:07:52Z</dcterms:modified>
</cp:coreProperties>
</file>