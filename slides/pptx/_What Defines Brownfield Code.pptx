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61" r:id="rId2"/>
    <p:sldId id="362" r:id="rId3"/>
    <p:sldId id="363" r:id="rId4"/>
    <p:sldId id="364" r:id="rId5"/>
    <p:sldId id="3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759697-8E6B-4BCA-8C0F-8344C22DC2FF}">
          <p14:sldIdLst/>
        </p14:section>
        <p14:section name="Evergreen" id="{ED8CE59D-3200-4899-BE23-3F6FC91BDE69}">
          <p14:sldIdLst>
            <p14:sldId id="361"/>
            <p14:sldId id="362"/>
            <p14:sldId id="363"/>
            <p14:sldId id="364"/>
            <p14:sldId id="3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05FF-5B9D-45E1-A21E-8163512A3007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F71F1-341E-4211-AE6D-1B6511486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Brownfield is often misunderstood as “legacy” or “broken.” </a:t>
            </a:r>
          </a:p>
          <a:p>
            <a:endParaRPr lang="en-US" dirty="0"/>
          </a:p>
          <a:p>
            <a:r>
              <a:rPr lang="en-US" dirty="0"/>
              <a:t>In reality, brownfield systems are the backbone of most businesses. </a:t>
            </a:r>
          </a:p>
          <a:p>
            <a:endParaRPr lang="en-US" dirty="0"/>
          </a:p>
          <a:p>
            <a:r>
              <a:rPr lang="en-US" dirty="0"/>
              <a:t>They’ve proven their value simply by existing and running. </a:t>
            </a:r>
          </a:p>
          <a:p>
            <a:endParaRPr lang="en-US" dirty="0"/>
          </a:p>
          <a:p>
            <a:r>
              <a:rPr lang="en-US" dirty="0"/>
              <a:t>The key is to approach them with respect — not fear — and to understand the constraints that shaped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95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doesn’t rot because engineers are careless. </a:t>
            </a:r>
          </a:p>
          <a:p>
            <a:endParaRPr lang="en-US" dirty="0"/>
          </a:p>
          <a:p>
            <a:r>
              <a:rPr lang="en-US" dirty="0"/>
              <a:t>It degrades because the world around it changes. </a:t>
            </a:r>
          </a:p>
          <a:p>
            <a:endParaRPr lang="en-US" dirty="0"/>
          </a:p>
          <a:p>
            <a:r>
              <a:rPr lang="en-US" dirty="0"/>
              <a:t>Businesses pivot. </a:t>
            </a:r>
          </a:p>
          <a:p>
            <a:r>
              <a:rPr lang="en-US" dirty="0"/>
              <a:t>Teams evolve. </a:t>
            </a:r>
          </a:p>
          <a:p>
            <a:r>
              <a:rPr lang="en-US" dirty="0"/>
              <a:t>Technologies shift. </a:t>
            </a:r>
          </a:p>
          <a:p>
            <a:r>
              <a:rPr lang="en-US" dirty="0"/>
              <a:t>Without intentional maintenance, systems drift away from their original design. </a:t>
            </a:r>
          </a:p>
          <a:p>
            <a:r>
              <a:rPr lang="en-US" dirty="0"/>
              <a:t>Evergreen practices exist to counteract this natural entropy.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0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Evergreen isn’t about rewriting everything. </a:t>
            </a:r>
          </a:p>
          <a:p>
            <a:endParaRPr lang="en-US" dirty="0"/>
          </a:p>
          <a:p>
            <a:r>
              <a:rPr lang="en-US" dirty="0"/>
              <a:t>It’s about maintaining alignment between the system and modern expectations. </a:t>
            </a:r>
          </a:p>
          <a:p>
            <a:endParaRPr lang="en-US" dirty="0"/>
          </a:p>
          <a:p>
            <a:r>
              <a:rPr lang="en-US" dirty="0"/>
              <a:t>The “rewrite test” is a mental model: if you wouldn’t build it this way today, you’ve identified drift. </a:t>
            </a:r>
          </a:p>
          <a:p>
            <a:endParaRPr lang="en-US" dirty="0"/>
          </a:p>
          <a:p>
            <a:r>
              <a:rPr lang="en-US" dirty="0"/>
              <a:t>The goal is to close that gap incrementally, safely, and sustainably.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725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Engineers often inherit systems with a sense of dread. </a:t>
            </a:r>
          </a:p>
          <a:p>
            <a:endParaRPr lang="en-US" dirty="0"/>
          </a:p>
          <a:p>
            <a:r>
              <a:rPr lang="en-US" dirty="0"/>
              <a:t>But fear leads to risky rewrites, cowboy refactors, and brittle changes. </a:t>
            </a:r>
          </a:p>
          <a:p>
            <a:endParaRPr lang="en-US" dirty="0"/>
          </a:p>
          <a:p>
            <a:r>
              <a:rPr lang="en-US" dirty="0"/>
              <a:t>Respect leads to curiosity, careful analysis, and safe modernization. </a:t>
            </a:r>
          </a:p>
          <a:p>
            <a:endParaRPr lang="en-US" dirty="0"/>
          </a:p>
          <a:p>
            <a:r>
              <a:rPr lang="en-US" dirty="0"/>
              <a:t>A working system is a gift — it gives you a stable foundation to improve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77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reframing evergreen development as something that used to be aspirational and expensive — and showing how AI-assisted software development changes the economics.</a:t>
            </a:r>
          </a:p>
          <a:p>
            <a:r>
              <a:rPr lang="en-US" dirty="0"/>
              <a:t>Start by grounding the audience:</a:t>
            </a:r>
          </a:p>
          <a:p>
            <a:r>
              <a:rPr lang="en-US" b="1" dirty="0"/>
              <a:t>“Evergreen is a high bar.”</a:t>
            </a:r>
            <a:br>
              <a:rPr lang="en-US" dirty="0"/>
            </a:br>
            <a:r>
              <a:rPr lang="en-US" dirty="0"/>
              <a:t>Evergreen code isn’t just clean code. It’s code that </a:t>
            </a:r>
            <a:r>
              <a:rPr lang="en-US" i="1" dirty="0"/>
              <a:t>actively resists</a:t>
            </a:r>
            <a:r>
              <a:rPr lang="en-US" dirty="0"/>
              <a:t> technical debt. It stays aligned with modern patterns, security expectations, and architectural principles. Most brownfield systems don’t start here — and that’s normal. The goal is not perfection; it’s direction.</a:t>
            </a:r>
          </a:p>
          <a:p>
            <a:r>
              <a:rPr lang="en-US" b="1" dirty="0"/>
              <a:t>“Before AI-assisted development…”</a:t>
            </a:r>
            <a:br>
              <a:rPr lang="en-US" dirty="0"/>
            </a:br>
            <a:r>
              <a:rPr lang="en-US" dirty="0"/>
              <a:t>Historically, maintaining evergreen quality required significant engineering bandwidth. Teams needed deep system knowledge, strong architectural discipline, and time — which is always the scarcest resource. Even organizations that </a:t>
            </a:r>
            <a:r>
              <a:rPr lang="en-US" i="1" dirty="0"/>
              <a:t>wanted</a:t>
            </a:r>
            <a:r>
              <a:rPr lang="en-US" dirty="0"/>
              <a:t> evergreen systems often couldn’t justify the cost.</a:t>
            </a:r>
          </a:p>
          <a:p>
            <a:r>
              <a:rPr lang="en-US" b="1" dirty="0"/>
              <a:t>“Evergreen was difficult to maintain.”</a:t>
            </a:r>
            <a:br>
              <a:rPr lang="en-US" dirty="0"/>
            </a:br>
            <a:r>
              <a:rPr lang="en-US" dirty="0"/>
              <a:t>Once a system drifted, catching it up was painful. Refactoring was slow. Documentation lagged. Tests weren’t comprehensive enough to support aggressive modernization. The result was a widening gap between the system’s current state and what “good” looked like.</a:t>
            </a:r>
          </a:p>
          <a:p>
            <a:r>
              <a:rPr lang="en-US" b="1" dirty="0"/>
              <a:t>“Moving from brownfield to evergreen was cost‑prohibitive.”</a:t>
            </a:r>
            <a:br>
              <a:rPr lang="en-US" dirty="0"/>
            </a:br>
            <a:r>
              <a:rPr lang="en-US" dirty="0"/>
              <a:t>This is the key point: modernization wasn’t just technically hard — it was financially unrealistic. Rewrites were risky. Incremental improvements were slow. Leadership often accepted technical debt as the cost of doing business because the alternative was too expensive.</a:t>
            </a:r>
          </a:p>
          <a:p>
            <a:r>
              <a:rPr lang="en-US" dirty="0"/>
              <a:t>Now pivot to the opportunity:</a:t>
            </a:r>
          </a:p>
          <a:p>
            <a:r>
              <a:rPr lang="en-US" b="1" dirty="0"/>
              <a:t>“AI can assist with…”</a:t>
            </a:r>
            <a:endParaRPr lang="en-US" dirty="0"/>
          </a:p>
          <a:p>
            <a:r>
              <a:rPr lang="en-US" b="1" dirty="0"/>
              <a:t>Identifying technical debt</a:t>
            </a:r>
            <a:br>
              <a:rPr lang="en-US" dirty="0"/>
            </a:br>
            <a:r>
              <a:rPr lang="en-US" dirty="0"/>
              <a:t>AI can scan codebases, detect patterns of drift, highlight outdated dependencies, and surface hotspots that humans might miss. It gives teams a map of where the debt actually is.</a:t>
            </a:r>
          </a:p>
          <a:p>
            <a:r>
              <a:rPr lang="en-US" b="1" dirty="0"/>
              <a:t>Prioritizing modernizations</a:t>
            </a:r>
            <a:br>
              <a:rPr lang="en-US" dirty="0"/>
            </a:br>
            <a:r>
              <a:rPr lang="en-US" dirty="0"/>
              <a:t>Not all debt is equal. AI can help rank issues by impact, risk, and effort, turning an overwhelming backlog into a rational roadmap.</a:t>
            </a:r>
          </a:p>
          <a:p>
            <a:r>
              <a:rPr lang="en-US" b="1" dirty="0"/>
              <a:t>Implementing improvements</a:t>
            </a:r>
            <a:br>
              <a:rPr lang="en-US" dirty="0"/>
            </a:br>
            <a:r>
              <a:rPr lang="en-US" dirty="0"/>
              <a:t>This is where the economics shift. AI can draft refactors, update patterns, migrate APIs, and modernize modules — with humans reviewing instead of doing all the heavy lifting.</a:t>
            </a:r>
          </a:p>
          <a:p>
            <a:r>
              <a:rPr lang="en-US" b="1" dirty="0"/>
              <a:t>Validating implementations</a:t>
            </a:r>
            <a:br>
              <a:rPr lang="en-US" dirty="0"/>
            </a:br>
            <a:r>
              <a:rPr lang="en-US" dirty="0"/>
              <a:t>AI can generate tests, run consistency checks, compare behavior before and after changes, and flag regressions. This reduces the fear factor around touching old code.</a:t>
            </a:r>
          </a:p>
          <a:p>
            <a:r>
              <a:rPr lang="en-US" b="1" dirty="0"/>
              <a:t>Documenting progress</a:t>
            </a:r>
            <a:br>
              <a:rPr lang="en-US" dirty="0"/>
            </a:br>
            <a:r>
              <a:rPr lang="en-US" dirty="0"/>
              <a:t>Evergreen systems require traceability. AI can produce commit summaries, architectural notes, changelogs, and modernization reports automatically, keeping documentation aligned with reality.</a:t>
            </a:r>
          </a:p>
          <a:p>
            <a:r>
              <a:rPr lang="en-US" dirty="0"/>
              <a:t>Close with the strategic message:</a:t>
            </a:r>
          </a:p>
          <a:p>
            <a:r>
              <a:rPr lang="en-US" b="1" dirty="0"/>
              <a:t>AI doesn’t make evergreen effortless — but it makes it achievable.</a:t>
            </a:r>
            <a:br>
              <a:rPr lang="en-US" dirty="0"/>
            </a:br>
            <a:r>
              <a:rPr lang="en-US" dirty="0"/>
              <a:t>The bar hasn’t lowered. The cost of reaching it has.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21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5D73-58EF-DB71-1110-6A1570E45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35AD-54E7-09E4-F604-52E140963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EB08-3F18-889B-39BD-989D4180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ABD7-D972-3F96-DE74-4B546F24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18D73-8E9C-31DA-3766-E32D6CE5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3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262D7-8A24-F1CC-11DD-99D7D451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AFE0-ADA0-AE1A-378F-D5B82305F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A9758-4F24-4AD8-F104-2BAEEEF3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5CE00-3FD4-A7B1-0625-50FB84D00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7CC92-0613-CC7A-0593-234030B7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F0AA-B814-6CDA-D44E-C1A4B87B0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6196A-D07A-3B5E-993D-34EA4C4C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19674-89E7-D120-0032-4C5A8250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5A995-AE0A-2F7E-BD3A-CF154F2B7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0F073-0847-2347-CEE4-8FA0EE9B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86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04FF-0F84-811A-62C4-F92A96FB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416F5-84D7-948C-F490-B00FA4FC34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809B36-CF31-E86A-0329-8149AF485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B6598-0D14-C23F-FDC5-B209C6D38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17591-D465-E3CF-2CA1-3DA9527E3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C6214-DC1B-D783-D751-03C27BCA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7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3E76-B8BA-B310-3B32-DF85F83A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10476-27A0-4B7E-12C1-36EEBF44B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C1171-1B39-519D-27BD-5BA50B161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597E2-0381-C28E-5CCA-312A2A34D5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937D2-CCE3-505A-BF3A-7F2931DEC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E3E925-AEC6-0021-4CE5-BCC5C425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550DE-F313-0EDB-3F56-581080B6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EA611D-20BD-72B4-641B-26CF0D7F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5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46FF-1695-C241-DB47-C578C1BEB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5ACF7-FE6E-FD1E-D1F8-03B6D5E2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E586C-3A09-3787-20DC-A4953ECD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E2F57-6299-511B-A20A-4FC312930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5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E52B0-7972-FB49-58A6-6ABDB53BA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28956-75B3-4852-7792-B1D716A4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EFFD1-E996-2E27-D42E-B5CAE88A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1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8BB4E-4555-CB77-21B0-A7403CCB9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91C2A-3871-6AFA-B53D-8D24FAD7A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D381A-98CE-DC35-32B7-3785EF424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A63D1-B2DF-3445-CFFD-AA705314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D155B-2AB7-4AB5-4938-BEF528E8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2090B-3A96-6B0C-9DA6-ACB58D05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6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95B9-9296-05C4-6863-032997DA9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598986-1538-3185-5B70-3A9BBA671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2F513-40C0-82D5-C8B9-88823EB9E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8E87C-1B99-44C4-6E9C-90F33100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F4727-143A-73F1-93AB-7A7BA9447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4C0A4-DAD9-6B1C-319B-06071184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90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2903-AA04-FE7A-82DB-A9355CAB8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9689A-B58D-FF3F-C41D-18E7775F1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0538-94ED-485D-9C3B-DC88AE2C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CE8A-DD59-8BFE-2973-CCFB7ABF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890D3-54DB-78D3-C71E-98574812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9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79EF8-D997-C1F3-4ADB-CDA7F6274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E972B-3C45-0516-FEF3-BC8FF6E272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0D087-3082-7CB8-5412-EA8EA39F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4929E-152D-BF3E-A58F-EC89E757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725B1-66BB-B7C2-2066-7320C0BB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2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B100E-690C-B2AB-4DB3-EB40ACFA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BE819-360A-2C16-1755-742AD28F8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700D-173B-F0A3-757F-246F9A8AC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28098-8C35-4FF9-8BB0-B8F00B4A944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7FAE7-0B2C-7DE6-1C72-3ED795D2F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51F73-053C-FC1C-1D71-D73BFCC67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B2E9E-1B91-45A1-8085-C2A1DA974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16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0ACD-3D97-D461-DF19-837F53BD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Defines Brownfield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19AE1-DF34-5895-E8BC-76482BD57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Brownfield code is</a:t>
            </a:r>
          </a:p>
          <a:p>
            <a:pPr lvl="1"/>
            <a:r>
              <a:rPr lang="en-US" dirty="0"/>
              <a:t>Existing systems with history, constraints, and accumulated decisions</a:t>
            </a:r>
          </a:p>
          <a:p>
            <a:pPr lvl="1"/>
            <a:r>
              <a:rPr lang="en-US" dirty="0"/>
              <a:t>Code shaped by real users, real deadlines, and real production incidents</a:t>
            </a:r>
          </a:p>
          <a:p>
            <a:pPr lvl="1"/>
            <a:r>
              <a:rPr lang="en-US" dirty="0"/>
              <a:t>Software that has survived contact with reality</a:t>
            </a:r>
          </a:p>
          <a:p>
            <a:pPr lvl="1"/>
            <a:r>
              <a:rPr lang="en-US" dirty="0"/>
              <a:t>It’s the best we could do at the time with the tools and resources available</a:t>
            </a:r>
          </a:p>
          <a:p>
            <a:r>
              <a:rPr lang="en-US" dirty="0"/>
              <a:t>Brownfield code is not</a:t>
            </a:r>
          </a:p>
          <a:p>
            <a:pPr lvl="1"/>
            <a:r>
              <a:rPr lang="en-US" dirty="0"/>
              <a:t>“Bad code”</a:t>
            </a:r>
          </a:p>
          <a:p>
            <a:pPr lvl="1"/>
            <a:r>
              <a:rPr lang="en-US" dirty="0"/>
              <a:t>“Legacy” in the pejorative sense</a:t>
            </a:r>
          </a:p>
          <a:p>
            <a:pPr lvl="1"/>
            <a:r>
              <a:rPr lang="en-US" dirty="0"/>
              <a:t>A sign of failure or poor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01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CE2B8-78C7-316E-0E78-FD4E64D3F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Codebases Degrade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2B94A-8991-4B98-2814-BBCC05C25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Shifting business requirements</a:t>
            </a:r>
          </a:p>
          <a:p>
            <a:pPr lvl="1"/>
            <a:r>
              <a:rPr lang="en-US" dirty="0"/>
              <a:t>Code reflects the business at the moment it was written</a:t>
            </a:r>
          </a:p>
          <a:p>
            <a:r>
              <a:rPr lang="en-US" dirty="0"/>
              <a:t>Team turnover and knowledge loss</a:t>
            </a:r>
          </a:p>
          <a:p>
            <a:pPr lvl="1"/>
            <a:r>
              <a:rPr lang="en-US" dirty="0"/>
              <a:t>Tribal knowledge evaporates</a:t>
            </a:r>
          </a:p>
          <a:p>
            <a:r>
              <a:rPr lang="en-US" dirty="0"/>
              <a:t>Technology evolution</a:t>
            </a:r>
          </a:p>
          <a:p>
            <a:pPr lvl="1"/>
            <a:r>
              <a:rPr lang="en-US" dirty="0"/>
              <a:t>Frameworks, languages, and patterns age</a:t>
            </a:r>
          </a:p>
          <a:p>
            <a:r>
              <a:rPr lang="en-US" dirty="0"/>
              <a:t>Entropy and patchwork fixes</a:t>
            </a:r>
          </a:p>
          <a:p>
            <a:pPr lvl="1"/>
            <a:r>
              <a:rPr lang="en-US" dirty="0"/>
              <a:t>Quick fixes accumulate</a:t>
            </a:r>
          </a:p>
          <a:p>
            <a:pPr lvl="1"/>
            <a:r>
              <a:rPr lang="en-US" dirty="0"/>
              <a:t>Architectural drift emerges</a:t>
            </a:r>
          </a:p>
          <a:p>
            <a:r>
              <a:rPr lang="en-US" dirty="0"/>
              <a:t>Missing or outdated guardrails</a:t>
            </a:r>
          </a:p>
          <a:p>
            <a:pPr lvl="1"/>
            <a:r>
              <a:rPr lang="en-US" dirty="0"/>
              <a:t>Tests, documentation, and standards fall behind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81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138F9-AA48-1CED-A092-6E7B65A8F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Evergreen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72817-816C-C6B8-C5AE-721A4AD1D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Evergreen code asks one question:</a:t>
            </a:r>
          </a:p>
          <a:p>
            <a:r>
              <a:rPr lang="en-US" dirty="0"/>
              <a:t>	“If we rewrote this today, would it look the same?”</a:t>
            </a:r>
          </a:p>
          <a:p>
            <a:r>
              <a:rPr lang="en-US" dirty="0"/>
              <a:t>If the answer is “yes,” the system is evergreen</a:t>
            </a:r>
          </a:p>
          <a:p>
            <a:r>
              <a:rPr lang="en-US" dirty="0"/>
              <a:t>If the answer is “no,” the gap defines your modernization roadmap</a:t>
            </a:r>
          </a:p>
          <a:p>
            <a:r>
              <a:rPr lang="en-US" dirty="0"/>
              <a:t>Evergreen is about continuous alignment, not perfection</a:t>
            </a:r>
          </a:p>
          <a:p>
            <a:r>
              <a:rPr lang="en-US" dirty="0"/>
              <a:t>Small, frequent improvements beat large rewrites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82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5A34-5DE5-3D46-E403-B65CF0F3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Building Respect for Working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DDC50-57B9-9EF4-52A5-187529E7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Brownfield systems are valuable - they run the business</a:t>
            </a:r>
          </a:p>
          <a:p>
            <a:r>
              <a:rPr lang="en-US" dirty="0"/>
              <a:t>Fear of change leads to paralysis and avoidance</a:t>
            </a:r>
          </a:p>
          <a:p>
            <a:r>
              <a:rPr lang="en-US" dirty="0"/>
              <a:t>Respect leads to thoughtful, incremental improvement</a:t>
            </a:r>
          </a:p>
          <a:p>
            <a:r>
              <a:rPr lang="en-US" dirty="0"/>
              <a:t>Treat the system as a partner, not an adversary</a:t>
            </a:r>
          </a:p>
          <a:p>
            <a:r>
              <a:rPr lang="en-US" dirty="0"/>
              <a:t>“It works” is not an insult – it’s a success criterion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61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90A8-3FB1-1980-12E9-B7C288E6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Evergreen?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51CB0-3AD3-90F9-2557-420AACB11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Evergreen is a high bar that all brownfield codebases should strive to achieve</a:t>
            </a:r>
          </a:p>
          <a:p>
            <a:r>
              <a:rPr lang="en-US" dirty="0"/>
              <a:t>Before AIASD</a:t>
            </a:r>
          </a:p>
          <a:p>
            <a:pPr lvl="1"/>
            <a:r>
              <a:rPr lang="en-US" dirty="0"/>
              <a:t>Evergreen was difficult to maintain</a:t>
            </a:r>
          </a:p>
          <a:p>
            <a:pPr lvl="1"/>
            <a:r>
              <a:rPr lang="en-US" dirty="0"/>
              <a:t>Moving from brownfield to evergreen was cost prohibited</a:t>
            </a:r>
          </a:p>
          <a:p>
            <a:r>
              <a:rPr lang="en-US" dirty="0"/>
              <a:t>AI can assist with </a:t>
            </a:r>
          </a:p>
          <a:p>
            <a:pPr lvl="1"/>
            <a:r>
              <a:rPr lang="en-US" dirty="0"/>
              <a:t>Identifying technical debt</a:t>
            </a:r>
          </a:p>
          <a:p>
            <a:pPr lvl="1"/>
            <a:r>
              <a:rPr lang="en-US" dirty="0"/>
              <a:t>Prioritizing modernizations</a:t>
            </a:r>
          </a:p>
          <a:p>
            <a:pPr lvl="1"/>
            <a:r>
              <a:rPr lang="en-US" dirty="0"/>
              <a:t>Implementing improvements</a:t>
            </a:r>
          </a:p>
          <a:p>
            <a:pPr lvl="1"/>
            <a:r>
              <a:rPr lang="en-US" dirty="0"/>
              <a:t>Validating implementations</a:t>
            </a:r>
          </a:p>
          <a:p>
            <a:pPr lvl="1"/>
            <a:r>
              <a:rPr lang="en-US" dirty="0"/>
              <a:t>Documenting progress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59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962</Words>
  <Application>Microsoft Office PowerPoint</Application>
  <PresentationFormat>Widescreen</PresentationFormat>
  <Paragraphs>97</Paragraphs>
  <Slides>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What Defines Brownfield Code</vt:lpstr>
      <vt:lpstr>Why Codebases Degrade</vt:lpstr>
      <vt:lpstr>The Evergreen Philosophy</vt:lpstr>
      <vt:lpstr>Building Respect for Working Systems</vt:lpstr>
      <vt:lpstr>Why Evergreen?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2026-03-05T20:33:15Z</dcterms:created>
  <dcterms:modified xsi:type="dcterms:W3CDTF">2026-03-05T20:35:00Z</dcterms:modified>
</cp:coreProperties>
</file>