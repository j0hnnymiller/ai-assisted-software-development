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49"/>
  </p:notesMasterIdLst>
  <p:sldIdLst>
    <p:sldId id="256" r:id="rId2"/>
    <p:sldId id="257" r:id="rId3"/>
    <p:sldId id="260" r:id="rId4"/>
    <p:sldId id="261" r:id="rId5"/>
    <p:sldId id="271" r:id="rId6"/>
    <p:sldId id="258" r:id="rId7"/>
    <p:sldId id="259" r:id="rId8"/>
    <p:sldId id="324" r:id="rId9"/>
    <p:sldId id="325" r:id="rId10"/>
    <p:sldId id="326" r:id="rId11"/>
    <p:sldId id="263" r:id="rId12"/>
    <p:sldId id="264" r:id="rId13"/>
    <p:sldId id="327" r:id="rId14"/>
    <p:sldId id="328" r:id="rId15"/>
    <p:sldId id="329" r:id="rId16"/>
    <p:sldId id="330" r:id="rId17"/>
    <p:sldId id="331" r:id="rId18"/>
    <p:sldId id="262" r:id="rId19"/>
    <p:sldId id="265" r:id="rId20"/>
    <p:sldId id="266" r:id="rId21"/>
    <p:sldId id="267" r:id="rId22"/>
    <p:sldId id="268" r:id="rId23"/>
    <p:sldId id="269" r:id="rId24"/>
    <p:sldId id="319" r:id="rId25"/>
    <p:sldId id="318" r:id="rId26"/>
    <p:sldId id="332" r:id="rId27"/>
    <p:sldId id="312" r:id="rId28"/>
    <p:sldId id="313" r:id="rId29"/>
    <p:sldId id="279" r:id="rId30"/>
    <p:sldId id="333" r:id="rId31"/>
    <p:sldId id="346" r:id="rId32"/>
    <p:sldId id="334" r:id="rId33"/>
    <p:sldId id="276" r:id="rId34"/>
    <p:sldId id="277" r:id="rId35"/>
    <p:sldId id="278" r:id="rId36"/>
    <p:sldId id="302" r:id="rId37"/>
    <p:sldId id="303" r:id="rId38"/>
    <p:sldId id="305" r:id="rId39"/>
    <p:sldId id="306" r:id="rId40"/>
    <p:sldId id="308" r:id="rId41"/>
    <p:sldId id="309" r:id="rId42"/>
    <p:sldId id="310" r:id="rId43"/>
    <p:sldId id="314" r:id="rId44"/>
    <p:sldId id="315" r:id="rId45"/>
    <p:sldId id="316" r:id="rId46"/>
    <p:sldId id="317" r:id="rId47"/>
    <p:sldId id="272" r:id="rId48"/>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BA452CD8-C589-41EA-A40E-FAEE8007EAF1}">
          <p14:sldIdLst>
            <p14:sldId id="256"/>
            <p14:sldId id="257"/>
            <p14:sldId id="260"/>
            <p14:sldId id="261"/>
          </p14:sldIdLst>
        </p14:section>
        <p14:section name="Prep" id="{1E53FE23-1DED-4377-B212-2151D62CDEAC}">
          <p14:sldIdLst>
            <p14:sldId id="271"/>
            <p14:sldId id="258"/>
            <p14:sldId id="259"/>
            <p14:sldId id="324"/>
            <p14:sldId id="325"/>
            <p14:sldId id="326"/>
            <p14:sldId id="263"/>
            <p14:sldId id="264"/>
            <p14:sldId id="327"/>
            <p14:sldId id="328"/>
            <p14:sldId id="329"/>
            <p14:sldId id="330"/>
            <p14:sldId id="331"/>
          </p14:sldIdLst>
        </p14:section>
        <p14:section name="Requirements" id="{89BE5F03-6197-4245-83F9-03C9281CFB9D}">
          <p14:sldIdLst>
            <p14:sldId id="262"/>
            <p14:sldId id="265"/>
            <p14:sldId id="266"/>
            <p14:sldId id="267"/>
            <p14:sldId id="268"/>
            <p14:sldId id="269"/>
            <p14:sldId id="319"/>
            <p14:sldId id="318"/>
          </p14:sldIdLst>
        </p14:section>
        <p14:section name="Planning" id="{AB2A052B-29BF-4DFF-B5A8-F0EF7ED6E78D}">
          <p14:sldIdLst>
            <p14:sldId id="332"/>
            <p14:sldId id="312"/>
            <p14:sldId id="313"/>
            <p14:sldId id="279"/>
          </p14:sldIdLst>
        </p14:section>
        <p14:section name="Intruction Prompts" id="{34D0664A-C2AE-4FF1-A91F-1D51C3F8EF48}">
          <p14:sldIdLst>
            <p14:sldId id="333"/>
            <p14:sldId id="346"/>
            <p14:sldId id="334"/>
          </p14:sldIdLst>
        </p14:section>
        <p14:section name="Implementation Prompts" id="{B646777F-9DCE-4849-96D0-0EB34096FA54}">
          <p14:sldIdLst>
            <p14:sldId id="276"/>
          </p14:sldIdLst>
        </p14:section>
        <p14:section name="Implementation" id="{0AB4BB57-1B0C-4FD0-AB41-9167B8641526}">
          <p14:sldIdLst>
            <p14:sldId id="277"/>
          </p14:sldIdLst>
        </p14:section>
        <p14:section name="Conclusion" id="{88AE7165-2595-46F7-9D48-AB868C65F527}">
          <p14:sldIdLst>
            <p14:sldId id="278"/>
          </p14:sldIdLst>
        </p14:section>
        <p14:section name="Archive" id="{775D2C25-879D-4400-AE15-4D6CB802EAF0}">
          <p14:sldIdLst>
            <p14:sldId id="302"/>
            <p14:sldId id="303"/>
            <p14:sldId id="305"/>
            <p14:sldId id="306"/>
            <p14:sldId id="308"/>
            <p14:sldId id="309"/>
            <p14:sldId id="310"/>
            <p14:sldId id="314"/>
            <p14:sldId id="315"/>
            <p14:sldId id="316"/>
            <p14:sldId id="317"/>
            <p14:sldId id="272"/>
          </p14:sldIdLst>
        </p14:section>
      </p14:sectionLst>
    </p:ex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FD4443E-F989-4FC4-A0C8-D5A2AF1F390B}" styleName="Dark Style 1 - Accent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43" autoAdjust="0"/>
    <p:restoredTop sz="77874" autoAdjust="0"/>
  </p:normalViewPr>
  <p:slideViewPr>
    <p:cSldViewPr snapToGrid="0" snapToObjects="1">
      <p:cViewPr varScale="1">
        <p:scale>
          <a:sx n="114" d="100"/>
          <a:sy n="114" d="100"/>
        </p:scale>
        <p:origin x="315" y="51"/>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diagrams/_rels/data1.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svg"/><Relationship Id="rId1" Type="http://schemas.openxmlformats.org/officeDocument/2006/relationships/image" Target="../media/image4.png"/><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diagrams/_rels/drawing1.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svg"/><Relationship Id="rId1" Type="http://schemas.openxmlformats.org/officeDocument/2006/relationships/image" Target="../media/image4.png"/><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80362AA-CFA7-4186-9A4F-0CD2C5781A05}" type="doc">
      <dgm:prSet loTypeId="urn:microsoft.com/office/officeart/2018/5/layout/IconCircleLabelList" loCatId="icon" qsTypeId="urn:microsoft.com/office/officeart/2005/8/quickstyle/simple1" qsCatId="simple" csTypeId="urn:microsoft.com/office/officeart/2005/8/colors/accent2_2" csCatId="accent2" phldr="1"/>
      <dgm:spPr/>
      <dgm:t>
        <a:bodyPr/>
        <a:lstStyle/>
        <a:p>
          <a:endParaRPr lang="en-US"/>
        </a:p>
      </dgm:t>
    </dgm:pt>
    <dgm:pt modelId="{CDFE04F2-C17A-42B4-BF3D-650381D65E68}">
      <dgm:prSet/>
      <dgm:spPr/>
      <dgm:t>
        <a:bodyPr/>
        <a:lstStyle/>
        <a:p>
          <a:pPr>
            <a:defRPr cap="all"/>
          </a:pPr>
          <a:r>
            <a:rPr lang="en-US"/>
            <a:t>Business rules</a:t>
          </a:r>
        </a:p>
      </dgm:t>
    </dgm:pt>
    <dgm:pt modelId="{4F751CFE-C861-4354-BA64-A742AB2D5291}" type="parTrans" cxnId="{4C53150A-0402-4A96-B712-D7B405984BDF}">
      <dgm:prSet/>
      <dgm:spPr/>
      <dgm:t>
        <a:bodyPr/>
        <a:lstStyle/>
        <a:p>
          <a:endParaRPr lang="en-US"/>
        </a:p>
      </dgm:t>
    </dgm:pt>
    <dgm:pt modelId="{3C6E9780-49A8-4ABF-94D8-67846F0AFA82}" type="sibTrans" cxnId="{4C53150A-0402-4A96-B712-D7B405984BDF}">
      <dgm:prSet/>
      <dgm:spPr/>
      <dgm:t>
        <a:bodyPr/>
        <a:lstStyle/>
        <a:p>
          <a:endParaRPr lang="en-US"/>
        </a:p>
      </dgm:t>
    </dgm:pt>
    <dgm:pt modelId="{A97BF373-6481-4DB2-B92A-52613CFB88EE}">
      <dgm:prSet/>
      <dgm:spPr/>
      <dgm:t>
        <a:bodyPr/>
        <a:lstStyle/>
        <a:p>
          <a:pPr>
            <a:defRPr cap="all"/>
          </a:pPr>
          <a:r>
            <a:rPr lang="en-US"/>
            <a:t>Workflows</a:t>
          </a:r>
        </a:p>
      </dgm:t>
    </dgm:pt>
    <dgm:pt modelId="{E9B53A6D-0DCE-4768-A6F6-B09F87456473}" type="parTrans" cxnId="{0DE53BBA-041C-4252-BCC0-168ABE28CE0B}">
      <dgm:prSet/>
      <dgm:spPr/>
      <dgm:t>
        <a:bodyPr/>
        <a:lstStyle/>
        <a:p>
          <a:endParaRPr lang="en-US"/>
        </a:p>
      </dgm:t>
    </dgm:pt>
    <dgm:pt modelId="{563FB25C-6502-4C56-9C7B-C6ACAD2DF57B}" type="sibTrans" cxnId="{0DE53BBA-041C-4252-BCC0-168ABE28CE0B}">
      <dgm:prSet/>
      <dgm:spPr/>
      <dgm:t>
        <a:bodyPr/>
        <a:lstStyle/>
        <a:p>
          <a:endParaRPr lang="en-US"/>
        </a:p>
      </dgm:t>
    </dgm:pt>
    <dgm:pt modelId="{BA497A9C-3708-4F2A-A8AF-F01D97784B2A}">
      <dgm:prSet/>
      <dgm:spPr/>
      <dgm:t>
        <a:bodyPr/>
        <a:lstStyle/>
        <a:p>
          <a:pPr>
            <a:defRPr cap="all"/>
          </a:pPr>
          <a:r>
            <a:rPr lang="en-US"/>
            <a:t>Tech stack</a:t>
          </a:r>
        </a:p>
      </dgm:t>
    </dgm:pt>
    <dgm:pt modelId="{43486A9B-431E-4C88-B82A-38B14D73C5D1}" type="parTrans" cxnId="{2EE0817C-67A0-478C-89A5-E7BB837A7BBC}">
      <dgm:prSet/>
      <dgm:spPr/>
      <dgm:t>
        <a:bodyPr/>
        <a:lstStyle/>
        <a:p>
          <a:endParaRPr lang="en-US"/>
        </a:p>
      </dgm:t>
    </dgm:pt>
    <dgm:pt modelId="{A4CCA0C5-0E40-4B00-A400-DD52B3DF7175}" type="sibTrans" cxnId="{2EE0817C-67A0-478C-89A5-E7BB837A7BBC}">
      <dgm:prSet/>
      <dgm:spPr/>
      <dgm:t>
        <a:bodyPr/>
        <a:lstStyle/>
        <a:p>
          <a:endParaRPr lang="en-US"/>
        </a:p>
      </dgm:t>
    </dgm:pt>
    <dgm:pt modelId="{C525FC69-D396-4EE7-BC31-9E2D01B1FAD0}">
      <dgm:prSet/>
      <dgm:spPr/>
      <dgm:t>
        <a:bodyPr/>
        <a:lstStyle/>
        <a:p>
          <a:pPr>
            <a:defRPr cap="all"/>
          </a:pPr>
          <a:r>
            <a:rPr lang="en-US"/>
            <a:t>Architecture</a:t>
          </a:r>
        </a:p>
      </dgm:t>
    </dgm:pt>
    <dgm:pt modelId="{31020E5F-8E7F-4B20-B074-3C59E7D97022}" type="parTrans" cxnId="{CFE851A4-4DE4-4EAA-ACE0-F849E501A028}">
      <dgm:prSet/>
      <dgm:spPr/>
      <dgm:t>
        <a:bodyPr/>
        <a:lstStyle/>
        <a:p>
          <a:endParaRPr lang="en-US"/>
        </a:p>
      </dgm:t>
    </dgm:pt>
    <dgm:pt modelId="{6CD7BE4E-C00C-4533-B247-E2A1B6E310E9}" type="sibTrans" cxnId="{CFE851A4-4DE4-4EAA-ACE0-F849E501A028}">
      <dgm:prSet/>
      <dgm:spPr/>
      <dgm:t>
        <a:bodyPr/>
        <a:lstStyle/>
        <a:p>
          <a:endParaRPr lang="en-US"/>
        </a:p>
      </dgm:t>
    </dgm:pt>
    <dgm:pt modelId="{BAB64876-436D-4396-AF89-9B27B2162A1E}" type="pres">
      <dgm:prSet presAssocID="{380362AA-CFA7-4186-9A4F-0CD2C5781A05}" presName="root" presStyleCnt="0">
        <dgm:presLayoutVars>
          <dgm:dir/>
          <dgm:resizeHandles val="exact"/>
        </dgm:presLayoutVars>
      </dgm:prSet>
      <dgm:spPr/>
    </dgm:pt>
    <dgm:pt modelId="{A0725C8A-DE4A-459A-932C-8A109844E47B}" type="pres">
      <dgm:prSet presAssocID="{CDFE04F2-C17A-42B4-BF3D-650381D65E68}" presName="compNode" presStyleCnt="0"/>
      <dgm:spPr/>
    </dgm:pt>
    <dgm:pt modelId="{061E6BC1-2272-4EAE-A900-EA40B9FB49E0}" type="pres">
      <dgm:prSet presAssocID="{CDFE04F2-C17A-42B4-BF3D-650381D65E68}" presName="iconBgRect" presStyleLbl="bgShp" presStyleIdx="0" presStyleCnt="4"/>
      <dgm:spPr/>
    </dgm:pt>
    <dgm:pt modelId="{3AA8AD76-CA92-45B3-81B9-8F109EE00ACC}" type="pres">
      <dgm:prSet presAssocID="{CDFE04F2-C17A-42B4-BF3D-650381D65E68}"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andshake"/>
        </a:ext>
      </dgm:extLst>
    </dgm:pt>
    <dgm:pt modelId="{F6271CEF-2BB8-4E6B-8D2C-EB33B980B9CF}" type="pres">
      <dgm:prSet presAssocID="{CDFE04F2-C17A-42B4-BF3D-650381D65E68}" presName="spaceRect" presStyleCnt="0"/>
      <dgm:spPr/>
    </dgm:pt>
    <dgm:pt modelId="{CD4C2A3D-BCE8-43E0-936E-99290149579D}" type="pres">
      <dgm:prSet presAssocID="{CDFE04F2-C17A-42B4-BF3D-650381D65E68}" presName="textRect" presStyleLbl="revTx" presStyleIdx="0" presStyleCnt="4">
        <dgm:presLayoutVars>
          <dgm:chMax val="1"/>
          <dgm:chPref val="1"/>
        </dgm:presLayoutVars>
      </dgm:prSet>
      <dgm:spPr/>
    </dgm:pt>
    <dgm:pt modelId="{6FEB45C6-D07D-4BE5-9216-D7C7FC065FBC}" type="pres">
      <dgm:prSet presAssocID="{3C6E9780-49A8-4ABF-94D8-67846F0AFA82}" presName="sibTrans" presStyleCnt="0"/>
      <dgm:spPr/>
    </dgm:pt>
    <dgm:pt modelId="{784FD126-90FA-4AE2-988F-E0B4FE103542}" type="pres">
      <dgm:prSet presAssocID="{A97BF373-6481-4DB2-B92A-52613CFB88EE}" presName="compNode" presStyleCnt="0"/>
      <dgm:spPr/>
    </dgm:pt>
    <dgm:pt modelId="{3EE710BF-CC67-4416-AD16-5A4D27FD12B3}" type="pres">
      <dgm:prSet presAssocID="{A97BF373-6481-4DB2-B92A-52613CFB88EE}" presName="iconBgRect" presStyleLbl="bgShp" presStyleIdx="1" presStyleCnt="4"/>
      <dgm:spPr/>
    </dgm:pt>
    <dgm:pt modelId="{251F1EFE-2A6E-486A-9BB2-68EF27EC7BD8}" type="pres">
      <dgm:prSet presAssocID="{A97BF373-6481-4DB2-B92A-52613CFB88EE}"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75E58E26-FBF9-4DAC-905D-955E5BC41C5C}" type="pres">
      <dgm:prSet presAssocID="{A97BF373-6481-4DB2-B92A-52613CFB88EE}" presName="spaceRect" presStyleCnt="0"/>
      <dgm:spPr/>
    </dgm:pt>
    <dgm:pt modelId="{375293F4-0CD5-45E6-AF10-1A11F04A47A0}" type="pres">
      <dgm:prSet presAssocID="{A97BF373-6481-4DB2-B92A-52613CFB88EE}" presName="textRect" presStyleLbl="revTx" presStyleIdx="1" presStyleCnt="4">
        <dgm:presLayoutVars>
          <dgm:chMax val="1"/>
          <dgm:chPref val="1"/>
        </dgm:presLayoutVars>
      </dgm:prSet>
      <dgm:spPr/>
    </dgm:pt>
    <dgm:pt modelId="{A94416DA-B6DA-4F09-A3AA-0A8C6889B4BD}" type="pres">
      <dgm:prSet presAssocID="{563FB25C-6502-4C56-9C7B-C6ACAD2DF57B}" presName="sibTrans" presStyleCnt="0"/>
      <dgm:spPr/>
    </dgm:pt>
    <dgm:pt modelId="{6756C7A9-5AC1-4A03-A9DB-4F6E01B82FBC}" type="pres">
      <dgm:prSet presAssocID="{BA497A9C-3708-4F2A-A8AF-F01D97784B2A}" presName="compNode" presStyleCnt="0"/>
      <dgm:spPr/>
    </dgm:pt>
    <dgm:pt modelId="{E4D0C971-3F1D-4F7F-AB15-11485DF395F5}" type="pres">
      <dgm:prSet presAssocID="{BA497A9C-3708-4F2A-A8AF-F01D97784B2A}" presName="iconBgRect" presStyleLbl="bgShp" presStyleIdx="2" presStyleCnt="4"/>
      <dgm:spPr/>
    </dgm:pt>
    <dgm:pt modelId="{E628593C-DCB4-477F-849E-DFF69A149C19}" type="pres">
      <dgm:prSet presAssocID="{BA497A9C-3708-4F2A-A8AF-F01D97784B2A}"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Database"/>
        </a:ext>
      </dgm:extLst>
    </dgm:pt>
    <dgm:pt modelId="{B4236339-67E2-400D-87BC-20A352803702}" type="pres">
      <dgm:prSet presAssocID="{BA497A9C-3708-4F2A-A8AF-F01D97784B2A}" presName="spaceRect" presStyleCnt="0"/>
      <dgm:spPr/>
    </dgm:pt>
    <dgm:pt modelId="{1C4A96BC-9451-4393-949A-BD2835A2D326}" type="pres">
      <dgm:prSet presAssocID="{BA497A9C-3708-4F2A-A8AF-F01D97784B2A}" presName="textRect" presStyleLbl="revTx" presStyleIdx="2" presStyleCnt="4">
        <dgm:presLayoutVars>
          <dgm:chMax val="1"/>
          <dgm:chPref val="1"/>
        </dgm:presLayoutVars>
      </dgm:prSet>
      <dgm:spPr/>
    </dgm:pt>
    <dgm:pt modelId="{8DE4A139-A523-4D50-8492-89E47E3B2A0F}" type="pres">
      <dgm:prSet presAssocID="{A4CCA0C5-0E40-4B00-A400-DD52B3DF7175}" presName="sibTrans" presStyleCnt="0"/>
      <dgm:spPr/>
    </dgm:pt>
    <dgm:pt modelId="{EE7AB31D-EE92-46F7-A6C7-08532D0666CD}" type="pres">
      <dgm:prSet presAssocID="{C525FC69-D396-4EE7-BC31-9E2D01B1FAD0}" presName="compNode" presStyleCnt="0"/>
      <dgm:spPr/>
    </dgm:pt>
    <dgm:pt modelId="{E60CAC09-0DC2-4CF2-9913-5C08B309E9E0}" type="pres">
      <dgm:prSet presAssocID="{C525FC69-D396-4EE7-BC31-9E2D01B1FAD0}" presName="iconBgRect" presStyleLbl="bgShp" presStyleIdx="3" presStyleCnt="4"/>
      <dgm:spPr/>
    </dgm:pt>
    <dgm:pt modelId="{B5B3BDAF-ABD3-42C9-BB67-17C4DAC38627}" type="pres">
      <dgm:prSet presAssocID="{C525FC69-D396-4EE7-BC31-9E2D01B1FAD0}"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Bridge scene"/>
        </a:ext>
      </dgm:extLst>
    </dgm:pt>
    <dgm:pt modelId="{00EBB419-984A-4EA8-B9C1-B2F37ECF3FE0}" type="pres">
      <dgm:prSet presAssocID="{C525FC69-D396-4EE7-BC31-9E2D01B1FAD0}" presName="spaceRect" presStyleCnt="0"/>
      <dgm:spPr/>
    </dgm:pt>
    <dgm:pt modelId="{A00AAAE9-7EAC-4D2C-97DC-449D37B75628}" type="pres">
      <dgm:prSet presAssocID="{C525FC69-D396-4EE7-BC31-9E2D01B1FAD0}" presName="textRect" presStyleLbl="revTx" presStyleIdx="3" presStyleCnt="4">
        <dgm:presLayoutVars>
          <dgm:chMax val="1"/>
          <dgm:chPref val="1"/>
        </dgm:presLayoutVars>
      </dgm:prSet>
      <dgm:spPr/>
    </dgm:pt>
  </dgm:ptLst>
  <dgm:cxnLst>
    <dgm:cxn modelId="{4C53150A-0402-4A96-B712-D7B405984BDF}" srcId="{380362AA-CFA7-4186-9A4F-0CD2C5781A05}" destId="{CDFE04F2-C17A-42B4-BF3D-650381D65E68}" srcOrd="0" destOrd="0" parTransId="{4F751CFE-C861-4354-BA64-A742AB2D5291}" sibTransId="{3C6E9780-49A8-4ABF-94D8-67846F0AFA82}"/>
    <dgm:cxn modelId="{96A02B40-FBDD-46EA-8345-9CCD745C2E34}" type="presOf" srcId="{A97BF373-6481-4DB2-B92A-52613CFB88EE}" destId="{375293F4-0CD5-45E6-AF10-1A11F04A47A0}" srcOrd="0" destOrd="0" presId="urn:microsoft.com/office/officeart/2018/5/layout/IconCircleLabelList"/>
    <dgm:cxn modelId="{2EE0817C-67A0-478C-89A5-E7BB837A7BBC}" srcId="{380362AA-CFA7-4186-9A4F-0CD2C5781A05}" destId="{BA497A9C-3708-4F2A-A8AF-F01D97784B2A}" srcOrd="2" destOrd="0" parTransId="{43486A9B-431E-4C88-B82A-38B14D73C5D1}" sibTransId="{A4CCA0C5-0E40-4B00-A400-DD52B3DF7175}"/>
    <dgm:cxn modelId="{CFE851A4-4DE4-4EAA-ACE0-F849E501A028}" srcId="{380362AA-CFA7-4186-9A4F-0CD2C5781A05}" destId="{C525FC69-D396-4EE7-BC31-9E2D01B1FAD0}" srcOrd="3" destOrd="0" parTransId="{31020E5F-8E7F-4B20-B074-3C59E7D97022}" sibTransId="{6CD7BE4E-C00C-4533-B247-E2A1B6E310E9}"/>
    <dgm:cxn modelId="{0DE53BBA-041C-4252-BCC0-168ABE28CE0B}" srcId="{380362AA-CFA7-4186-9A4F-0CD2C5781A05}" destId="{A97BF373-6481-4DB2-B92A-52613CFB88EE}" srcOrd="1" destOrd="0" parTransId="{E9B53A6D-0DCE-4768-A6F6-B09F87456473}" sibTransId="{563FB25C-6502-4C56-9C7B-C6ACAD2DF57B}"/>
    <dgm:cxn modelId="{8665BFBE-F745-4481-9E42-6FFADC43B24B}" type="presOf" srcId="{CDFE04F2-C17A-42B4-BF3D-650381D65E68}" destId="{CD4C2A3D-BCE8-43E0-936E-99290149579D}" srcOrd="0" destOrd="0" presId="urn:microsoft.com/office/officeart/2018/5/layout/IconCircleLabelList"/>
    <dgm:cxn modelId="{355FA2D5-8101-41E9-A42B-B704B9787B2D}" type="presOf" srcId="{380362AA-CFA7-4186-9A4F-0CD2C5781A05}" destId="{BAB64876-436D-4396-AF89-9B27B2162A1E}" srcOrd="0" destOrd="0" presId="urn:microsoft.com/office/officeart/2018/5/layout/IconCircleLabelList"/>
    <dgm:cxn modelId="{A9A965DD-F324-4881-ACE6-9AE9D0D5732D}" type="presOf" srcId="{BA497A9C-3708-4F2A-A8AF-F01D97784B2A}" destId="{1C4A96BC-9451-4393-949A-BD2835A2D326}" srcOrd="0" destOrd="0" presId="urn:microsoft.com/office/officeart/2018/5/layout/IconCircleLabelList"/>
    <dgm:cxn modelId="{43097FFF-3D54-4849-A31B-187CF65ECA2F}" type="presOf" srcId="{C525FC69-D396-4EE7-BC31-9E2D01B1FAD0}" destId="{A00AAAE9-7EAC-4D2C-97DC-449D37B75628}" srcOrd="0" destOrd="0" presId="urn:microsoft.com/office/officeart/2018/5/layout/IconCircleLabelList"/>
    <dgm:cxn modelId="{D8A21499-96EA-4452-AD45-CAF002F7798D}" type="presParOf" srcId="{BAB64876-436D-4396-AF89-9B27B2162A1E}" destId="{A0725C8A-DE4A-459A-932C-8A109844E47B}" srcOrd="0" destOrd="0" presId="urn:microsoft.com/office/officeart/2018/5/layout/IconCircleLabelList"/>
    <dgm:cxn modelId="{FF2091B0-A6BC-4463-9E7E-26C24F9A159E}" type="presParOf" srcId="{A0725C8A-DE4A-459A-932C-8A109844E47B}" destId="{061E6BC1-2272-4EAE-A900-EA40B9FB49E0}" srcOrd="0" destOrd="0" presId="urn:microsoft.com/office/officeart/2018/5/layout/IconCircleLabelList"/>
    <dgm:cxn modelId="{2F6B11CF-A881-4385-9B69-B4C175EC75E2}" type="presParOf" srcId="{A0725C8A-DE4A-459A-932C-8A109844E47B}" destId="{3AA8AD76-CA92-45B3-81B9-8F109EE00ACC}" srcOrd="1" destOrd="0" presId="urn:microsoft.com/office/officeart/2018/5/layout/IconCircleLabelList"/>
    <dgm:cxn modelId="{F2D2C459-CDAC-4B2C-BCC4-4F117E76D87C}" type="presParOf" srcId="{A0725C8A-DE4A-459A-932C-8A109844E47B}" destId="{F6271CEF-2BB8-4E6B-8D2C-EB33B980B9CF}" srcOrd="2" destOrd="0" presId="urn:microsoft.com/office/officeart/2018/5/layout/IconCircleLabelList"/>
    <dgm:cxn modelId="{E3EBC539-B27D-4A32-971C-9884D18887FD}" type="presParOf" srcId="{A0725C8A-DE4A-459A-932C-8A109844E47B}" destId="{CD4C2A3D-BCE8-43E0-936E-99290149579D}" srcOrd="3" destOrd="0" presId="urn:microsoft.com/office/officeart/2018/5/layout/IconCircleLabelList"/>
    <dgm:cxn modelId="{F48226DD-DCCE-4AB1-A57F-D599AAEC8CFF}" type="presParOf" srcId="{BAB64876-436D-4396-AF89-9B27B2162A1E}" destId="{6FEB45C6-D07D-4BE5-9216-D7C7FC065FBC}" srcOrd="1" destOrd="0" presId="urn:microsoft.com/office/officeart/2018/5/layout/IconCircleLabelList"/>
    <dgm:cxn modelId="{4053C7FB-80E7-44A4-ABAA-A73D48AFA57A}" type="presParOf" srcId="{BAB64876-436D-4396-AF89-9B27B2162A1E}" destId="{784FD126-90FA-4AE2-988F-E0B4FE103542}" srcOrd="2" destOrd="0" presId="urn:microsoft.com/office/officeart/2018/5/layout/IconCircleLabelList"/>
    <dgm:cxn modelId="{FB2F5E84-508E-4294-B713-F14F147F2A03}" type="presParOf" srcId="{784FD126-90FA-4AE2-988F-E0B4FE103542}" destId="{3EE710BF-CC67-4416-AD16-5A4D27FD12B3}" srcOrd="0" destOrd="0" presId="urn:microsoft.com/office/officeart/2018/5/layout/IconCircleLabelList"/>
    <dgm:cxn modelId="{AC50950A-7249-4E89-99B4-FA761D1CBC83}" type="presParOf" srcId="{784FD126-90FA-4AE2-988F-E0B4FE103542}" destId="{251F1EFE-2A6E-486A-9BB2-68EF27EC7BD8}" srcOrd="1" destOrd="0" presId="urn:microsoft.com/office/officeart/2018/5/layout/IconCircleLabelList"/>
    <dgm:cxn modelId="{73A3C45F-079C-405D-993A-C8720CDECB5E}" type="presParOf" srcId="{784FD126-90FA-4AE2-988F-E0B4FE103542}" destId="{75E58E26-FBF9-4DAC-905D-955E5BC41C5C}" srcOrd="2" destOrd="0" presId="urn:microsoft.com/office/officeart/2018/5/layout/IconCircleLabelList"/>
    <dgm:cxn modelId="{2A4B818A-F537-440E-8143-177BE68DC48B}" type="presParOf" srcId="{784FD126-90FA-4AE2-988F-E0B4FE103542}" destId="{375293F4-0CD5-45E6-AF10-1A11F04A47A0}" srcOrd="3" destOrd="0" presId="urn:microsoft.com/office/officeart/2018/5/layout/IconCircleLabelList"/>
    <dgm:cxn modelId="{BD3D4A1D-7BDC-4AF8-88C2-6B6BB19A7A82}" type="presParOf" srcId="{BAB64876-436D-4396-AF89-9B27B2162A1E}" destId="{A94416DA-B6DA-4F09-A3AA-0A8C6889B4BD}" srcOrd="3" destOrd="0" presId="urn:microsoft.com/office/officeart/2018/5/layout/IconCircleLabelList"/>
    <dgm:cxn modelId="{D0631E89-623F-416C-BBA2-42145D63709A}" type="presParOf" srcId="{BAB64876-436D-4396-AF89-9B27B2162A1E}" destId="{6756C7A9-5AC1-4A03-A9DB-4F6E01B82FBC}" srcOrd="4" destOrd="0" presId="urn:microsoft.com/office/officeart/2018/5/layout/IconCircleLabelList"/>
    <dgm:cxn modelId="{87CF1826-6317-47F7-AF27-15DEB6DCCC9B}" type="presParOf" srcId="{6756C7A9-5AC1-4A03-A9DB-4F6E01B82FBC}" destId="{E4D0C971-3F1D-4F7F-AB15-11485DF395F5}" srcOrd="0" destOrd="0" presId="urn:microsoft.com/office/officeart/2018/5/layout/IconCircleLabelList"/>
    <dgm:cxn modelId="{4DE02EAD-F571-472D-9F68-29DF6CA197CD}" type="presParOf" srcId="{6756C7A9-5AC1-4A03-A9DB-4F6E01B82FBC}" destId="{E628593C-DCB4-477F-849E-DFF69A149C19}" srcOrd="1" destOrd="0" presId="urn:microsoft.com/office/officeart/2018/5/layout/IconCircleLabelList"/>
    <dgm:cxn modelId="{06D10BEB-002C-47C9-BB5F-59B2EC7912C6}" type="presParOf" srcId="{6756C7A9-5AC1-4A03-A9DB-4F6E01B82FBC}" destId="{B4236339-67E2-400D-87BC-20A352803702}" srcOrd="2" destOrd="0" presId="urn:microsoft.com/office/officeart/2018/5/layout/IconCircleLabelList"/>
    <dgm:cxn modelId="{BF8BC9C8-F3AC-45BE-8C3F-47D3284BE3AF}" type="presParOf" srcId="{6756C7A9-5AC1-4A03-A9DB-4F6E01B82FBC}" destId="{1C4A96BC-9451-4393-949A-BD2835A2D326}" srcOrd="3" destOrd="0" presId="urn:microsoft.com/office/officeart/2018/5/layout/IconCircleLabelList"/>
    <dgm:cxn modelId="{80BD89E4-3A57-4112-8D3A-7F522F63E45F}" type="presParOf" srcId="{BAB64876-436D-4396-AF89-9B27B2162A1E}" destId="{8DE4A139-A523-4D50-8492-89E47E3B2A0F}" srcOrd="5" destOrd="0" presId="urn:microsoft.com/office/officeart/2018/5/layout/IconCircleLabelList"/>
    <dgm:cxn modelId="{50421AAF-BAF7-4C76-B4DE-C0C57F77ABDC}" type="presParOf" srcId="{BAB64876-436D-4396-AF89-9B27B2162A1E}" destId="{EE7AB31D-EE92-46F7-A6C7-08532D0666CD}" srcOrd="6" destOrd="0" presId="urn:microsoft.com/office/officeart/2018/5/layout/IconCircleLabelList"/>
    <dgm:cxn modelId="{58A2C88D-1234-4997-87C7-727C9E76EBE3}" type="presParOf" srcId="{EE7AB31D-EE92-46F7-A6C7-08532D0666CD}" destId="{E60CAC09-0DC2-4CF2-9913-5C08B309E9E0}" srcOrd="0" destOrd="0" presId="urn:microsoft.com/office/officeart/2018/5/layout/IconCircleLabelList"/>
    <dgm:cxn modelId="{7124DB24-84BD-4A73-BE4D-793EF502D3D9}" type="presParOf" srcId="{EE7AB31D-EE92-46F7-A6C7-08532D0666CD}" destId="{B5B3BDAF-ABD3-42C9-BB67-17C4DAC38627}" srcOrd="1" destOrd="0" presId="urn:microsoft.com/office/officeart/2018/5/layout/IconCircleLabelList"/>
    <dgm:cxn modelId="{1A4F49DF-AB41-4B06-A284-27B995E80824}" type="presParOf" srcId="{EE7AB31D-EE92-46F7-A6C7-08532D0666CD}" destId="{00EBB419-984A-4EA8-B9C1-B2F37ECF3FE0}" srcOrd="2" destOrd="0" presId="urn:microsoft.com/office/officeart/2018/5/layout/IconCircleLabelList"/>
    <dgm:cxn modelId="{2A481108-8668-4752-AA33-93CF1C76BD72}" type="presParOf" srcId="{EE7AB31D-EE92-46F7-A6C7-08532D0666CD}" destId="{A00AAAE9-7EAC-4D2C-97DC-449D37B75628}"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61E6BC1-2272-4EAE-A900-EA40B9FB49E0}">
      <dsp:nvSpPr>
        <dsp:cNvPr id="0" name=""/>
        <dsp:cNvSpPr/>
      </dsp:nvSpPr>
      <dsp:spPr>
        <a:xfrm>
          <a:off x="341781" y="586556"/>
          <a:ext cx="1062615" cy="1062615"/>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AA8AD76-CA92-45B3-81B9-8F109EE00ACC}">
      <dsp:nvSpPr>
        <dsp:cNvPr id="0" name=""/>
        <dsp:cNvSpPr/>
      </dsp:nvSpPr>
      <dsp:spPr>
        <a:xfrm>
          <a:off x="568240" y="813015"/>
          <a:ext cx="609697" cy="60969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D4C2A3D-BCE8-43E0-936E-99290149579D}">
      <dsp:nvSpPr>
        <dsp:cNvPr id="0" name=""/>
        <dsp:cNvSpPr/>
      </dsp:nvSpPr>
      <dsp:spPr>
        <a:xfrm>
          <a:off x="2092" y="1980150"/>
          <a:ext cx="1741992" cy="6967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977900">
            <a:lnSpc>
              <a:spcPct val="90000"/>
            </a:lnSpc>
            <a:spcBef>
              <a:spcPct val="0"/>
            </a:spcBef>
            <a:spcAft>
              <a:spcPct val="35000"/>
            </a:spcAft>
            <a:buNone/>
            <a:defRPr cap="all"/>
          </a:pPr>
          <a:r>
            <a:rPr lang="en-US" sz="2200" kern="1200"/>
            <a:t>Business rules</a:t>
          </a:r>
        </a:p>
      </dsp:txBody>
      <dsp:txXfrm>
        <a:off x="2092" y="1980150"/>
        <a:ext cx="1741992" cy="696796"/>
      </dsp:txXfrm>
    </dsp:sp>
    <dsp:sp modelId="{3EE710BF-CC67-4416-AD16-5A4D27FD12B3}">
      <dsp:nvSpPr>
        <dsp:cNvPr id="0" name=""/>
        <dsp:cNvSpPr/>
      </dsp:nvSpPr>
      <dsp:spPr>
        <a:xfrm>
          <a:off x="2388621" y="586556"/>
          <a:ext cx="1062615" cy="1062615"/>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51F1EFE-2A6E-486A-9BB2-68EF27EC7BD8}">
      <dsp:nvSpPr>
        <dsp:cNvPr id="0" name=""/>
        <dsp:cNvSpPr/>
      </dsp:nvSpPr>
      <dsp:spPr>
        <a:xfrm>
          <a:off x="2615080" y="813015"/>
          <a:ext cx="609697" cy="60969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75293F4-0CD5-45E6-AF10-1A11F04A47A0}">
      <dsp:nvSpPr>
        <dsp:cNvPr id="0" name=""/>
        <dsp:cNvSpPr/>
      </dsp:nvSpPr>
      <dsp:spPr>
        <a:xfrm>
          <a:off x="2048933" y="1980150"/>
          <a:ext cx="1741992" cy="6967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977900">
            <a:lnSpc>
              <a:spcPct val="90000"/>
            </a:lnSpc>
            <a:spcBef>
              <a:spcPct val="0"/>
            </a:spcBef>
            <a:spcAft>
              <a:spcPct val="35000"/>
            </a:spcAft>
            <a:buNone/>
            <a:defRPr cap="all"/>
          </a:pPr>
          <a:r>
            <a:rPr lang="en-US" sz="2200" kern="1200"/>
            <a:t>Workflows</a:t>
          </a:r>
        </a:p>
      </dsp:txBody>
      <dsp:txXfrm>
        <a:off x="2048933" y="1980150"/>
        <a:ext cx="1741992" cy="696796"/>
      </dsp:txXfrm>
    </dsp:sp>
    <dsp:sp modelId="{E4D0C971-3F1D-4F7F-AB15-11485DF395F5}">
      <dsp:nvSpPr>
        <dsp:cNvPr id="0" name=""/>
        <dsp:cNvSpPr/>
      </dsp:nvSpPr>
      <dsp:spPr>
        <a:xfrm>
          <a:off x="4435462" y="586556"/>
          <a:ext cx="1062615" cy="1062615"/>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628593C-DCB4-477F-849E-DFF69A149C19}">
      <dsp:nvSpPr>
        <dsp:cNvPr id="0" name=""/>
        <dsp:cNvSpPr/>
      </dsp:nvSpPr>
      <dsp:spPr>
        <a:xfrm>
          <a:off x="4661921" y="813015"/>
          <a:ext cx="609697" cy="60969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C4A96BC-9451-4393-949A-BD2835A2D326}">
      <dsp:nvSpPr>
        <dsp:cNvPr id="0" name=""/>
        <dsp:cNvSpPr/>
      </dsp:nvSpPr>
      <dsp:spPr>
        <a:xfrm>
          <a:off x="4095774" y="1980150"/>
          <a:ext cx="1741992" cy="6967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977900">
            <a:lnSpc>
              <a:spcPct val="90000"/>
            </a:lnSpc>
            <a:spcBef>
              <a:spcPct val="0"/>
            </a:spcBef>
            <a:spcAft>
              <a:spcPct val="35000"/>
            </a:spcAft>
            <a:buNone/>
            <a:defRPr cap="all"/>
          </a:pPr>
          <a:r>
            <a:rPr lang="en-US" sz="2200" kern="1200"/>
            <a:t>Tech stack</a:t>
          </a:r>
        </a:p>
      </dsp:txBody>
      <dsp:txXfrm>
        <a:off x="4095774" y="1980150"/>
        <a:ext cx="1741992" cy="696796"/>
      </dsp:txXfrm>
    </dsp:sp>
    <dsp:sp modelId="{E60CAC09-0DC2-4CF2-9913-5C08B309E9E0}">
      <dsp:nvSpPr>
        <dsp:cNvPr id="0" name=""/>
        <dsp:cNvSpPr/>
      </dsp:nvSpPr>
      <dsp:spPr>
        <a:xfrm>
          <a:off x="6482303" y="586556"/>
          <a:ext cx="1062615" cy="1062615"/>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5B3BDAF-ABD3-42C9-BB67-17C4DAC38627}">
      <dsp:nvSpPr>
        <dsp:cNvPr id="0" name=""/>
        <dsp:cNvSpPr/>
      </dsp:nvSpPr>
      <dsp:spPr>
        <a:xfrm>
          <a:off x="6708762" y="813015"/>
          <a:ext cx="609697" cy="609697"/>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00AAAE9-7EAC-4D2C-97DC-449D37B75628}">
      <dsp:nvSpPr>
        <dsp:cNvPr id="0" name=""/>
        <dsp:cNvSpPr/>
      </dsp:nvSpPr>
      <dsp:spPr>
        <a:xfrm>
          <a:off x="6142615" y="1980150"/>
          <a:ext cx="1741992" cy="69679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977900">
            <a:lnSpc>
              <a:spcPct val="90000"/>
            </a:lnSpc>
            <a:spcBef>
              <a:spcPct val="0"/>
            </a:spcBef>
            <a:spcAft>
              <a:spcPct val="35000"/>
            </a:spcAft>
            <a:buNone/>
            <a:defRPr cap="all"/>
          </a:pPr>
          <a:r>
            <a:rPr lang="en-US" sz="2200" kern="1200"/>
            <a:t>Architecture</a:t>
          </a:r>
        </a:p>
      </dsp:txBody>
      <dsp:txXfrm>
        <a:off x="6142615" y="1980150"/>
        <a:ext cx="1741992" cy="696796"/>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This presentation covers 8 critical roles in modern software development. Each persona has unique needs when working with GitHub Copilot Chat. We’ll explore both the skills needed and responsibilities required. Focus on practical, actionable guidance for each role. Tables format allows easy comparison between skills and responsibilities.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Product Managers are the bridge between business and technical teams. Their success with AI depends on clear requirement translation. Key challenge: ensuring AI outputs align with business objectives. Focus on iterative refinement - rarely get perfect results on first try. Context management is crucial for complex feature discussions. Always validate AI-generated requirements against business goals.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Solution Architects work at the highest technical abstraction level. Pattern recognition is critical - AI often suggests common patterns. Must validate AI architectural decisions against enterprise standards. Integration planning is complex - AI can help model system interactions. Risk mitigation is a key responsibility - evaluate long-term implications. Knowledge sharing ensures AI insights benefit the broader organization.</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Senior Developers are power users of AI coding assistance. Code generation prompting requires precise, specific requests. Debug assistance can dramatically speed troubleshooting. Code review with AI combines human insight with AI analysis. Security review is critical - AI may suggest vulnerable patterns. Mentorship integration helps junior developers use AI effectively. Performance optimization requires evaluating AI suggestions carefully.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Technical Writers can leverage AI for content creation and organization. Content structuring helps AI create logical, well-organized documentation. Audience adaptation is key - same content needs different presentations. Style consistency maintains organizational voice across AI-generated content. Technical verification ensures accuracy - AI can hallucinate technical details. Multi-format publishing expands content reach and usability. Editorial standards maintain quality and consistency.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Security Reviewers must validate all AI security recommendations. Threat modeling with AI can identify vulnerabilities humans might miss. Compliance analysis leverages AI’s knowledge of regulatory requirements. Risk assessment requires balancing AI suggestions with security expertise. Security testing scenarios can be comprehensive with AI assistance. Policy enforcement ensures AI recommendations align with org standards. Audit trail maintenance is critical for security accountability.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DevOps Engineers can accelerate infrastructure automation with AI. Infrastructure as Code generation can speed deployment and configuration. CI/CD pipeline design benefits from AI optimization suggestions. Monitoring and alerting strategies become more comprehensive with AI. Automation scripting reduces manual operational overhead. Pipeline reliability must be validated - AI-generated configs need testing. Cost management is crucial - review AI suggestions for optimization opportunities.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DevTest Engineers can dramatically improve test coverage with AI. Test case generation creates comprehensive scenarios across functional areas. Test data management becomes easier with AI-generated realistic datasets. Automation framework development accelerates with AI assistance. Performance testing strategies benefit from AI-designed load scenarios. Test coverage validation ensures AI-generated tests are comprehensive. Quality metrics tracking provides insights into AI-assisted testing effectiveness.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SREs can leverage AI for faster incident response and resolution. Incident response benefits from AI’s rapid analysis and diagnosis capabilities. SLA/SLO monitoring becomes more comprehensive with AI-generated metrics. Capacity planning leverages AI for accurate resource forecasting. Post-mortem analysis creates thorough incident reviews with AI assistance. System reliability requires validating AI-driven monitoring recommendations. Performance optimization is continuous with AI insights into system behavior.</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create prompt files for the interactive commands in the #file:solution-architect.chatmode.md. call the prompt files when the interactive commands are triggered</a:t>
            </a:r>
            <a:br>
              <a:rPr lang="en-US" dirty="0"/>
            </a:br>
            <a:br>
              <a:rPr lang="en-US" dirty="0"/>
            </a:br>
            <a:r>
              <a:rPr lang="en-US" dirty="0"/>
              <a:t>created:</a:t>
            </a:r>
            <a:br>
              <a:rPr lang="en-US" dirty="0"/>
            </a:br>
            <a:br>
              <a:rPr lang="en-US" dirty="0"/>
            </a:br>
            <a:r>
              <a:rPr lang="en-US" dirty="0"/>
              <a:t> * architecture-design.prompt.md - Comprehensive system architecture designs</a:t>
            </a:r>
          </a:p>
          <a:p>
            <a:r>
              <a:rPr lang="en-US" dirty="0"/>
              <a:t>  * pattern-analysis.prompt.md - Architectural pattern analysis and recommendations</a:t>
            </a:r>
          </a:p>
          <a:p>
            <a:r>
              <a:rPr lang="en-US" dirty="0"/>
              <a:t>  * technology-evaluation.prompt.md - Technology evaluation and selection</a:t>
            </a:r>
          </a:p>
          <a:p>
            <a:r>
              <a:rPr lang="en-US" dirty="0"/>
              <a:t>  * scalability-planning.prompt.md - Scalability and capacity planning</a:t>
            </a:r>
          </a:p>
          <a:p>
            <a:r>
              <a:rPr lang="en-US" dirty="0"/>
              <a:t>  * integration-design.prompt.md - System integration and API design</a:t>
            </a:r>
          </a:p>
          <a:p>
            <a:r>
              <a:rPr lang="en-US" dirty="0"/>
              <a:t>  * security-architecture.prompt.md - Security controls and threat mitigation</a:t>
            </a:r>
          </a:p>
          <a:p>
            <a:r>
              <a:rPr lang="en-US" dirty="0"/>
              <a:t>  * performance-analysis.prompt.md - Performance analysis and bottleneck identification</a:t>
            </a:r>
          </a:p>
          <a:p>
            <a:r>
              <a:rPr lang="en-US" dirty="0"/>
              <a:t>  * migration-strategy.prompt.md - System migration and modernization planning</a:t>
            </a:r>
          </a:p>
          <a:p>
            <a:r>
              <a:rPr lang="en-US" dirty="0"/>
              <a:t>  * compliance-check.prompt.md - Compliance validation and standards alignment</a:t>
            </a:r>
          </a:p>
          <a:p>
            <a:r>
              <a:rPr lang="en-US" dirty="0"/>
              <a:t>  * risk-assessment.prompt.md - Architectural risk assessment and mitigation</a:t>
            </a:r>
          </a:p>
        </p:txBody>
      </p:sp>
      <p:sp>
        <p:nvSpPr>
          <p:cNvPr id="4" name="Slide Number Placeholder 3"/>
          <p:cNvSpPr>
            <a:spLocks noGrp="1"/>
          </p:cNvSpPr>
          <p:nvPr>
            <p:ph type="sldNum" sz="quarter" idx="5"/>
          </p:nvPr>
        </p:nvSpPr>
        <p:spPr/>
        <p:txBody>
          <a:bodyPr/>
          <a:lstStyle/>
          <a:p>
            <a:fld id="{18BDFEC3-8487-43E8-A154-7C12CBC1FFF2}" type="slidenum">
              <a:rPr lang="en-US" smtClean="0"/>
              <a:t>15</a:t>
            </a:fld>
            <a:endParaRPr lang="en-US"/>
          </a:p>
        </p:txBody>
      </p:sp>
    </p:spTree>
    <p:extLst>
      <p:ext uri="{BB962C8B-B14F-4D97-AF65-F5344CB8AC3E}">
        <p14:creationId xmlns:p14="http://schemas.microsoft.com/office/powerpoint/2010/main" val="40433797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when using the solution architect chat mode, explain what happens when I ask it to design a new architecture for windows application</a:t>
            </a:r>
          </a:p>
        </p:txBody>
      </p:sp>
      <p:sp>
        <p:nvSpPr>
          <p:cNvPr id="4" name="Slide Number Placeholder 3"/>
          <p:cNvSpPr>
            <a:spLocks noGrp="1"/>
          </p:cNvSpPr>
          <p:nvPr>
            <p:ph type="sldNum" sz="quarter" idx="5"/>
          </p:nvPr>
        </p:nvSpPr>
        <p:spPr/>
        <p:txBody>
          <a:bodyPr/>
          <a:lstStyle/>
          <a:p>
            <a:fld id="{18BDFEC3-8487-43E8-A154-7C12CBC1FFF2}" type="slidenum">
              <a:rPr lang="en-US" smtClean="0"/>
              <a:t>16</a:t>
            </a:fld>
            <a:endParaRPr lang="en-US"/>
          </a:p>
        </p:txBody>
      </p:sp>
    </p:spTree>
    <p:extLst>
      <p:ext uri="{BB962C8B-B14F-4D97-AF65-F5344CB8AC3E}">
        <p14:creationId xmlns:p14="http://schemas.microsoft.com/office/powerpoint/2010/main" val="36513065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Shift to greenfield best practices: requirements, prompts, and verification workflows.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7B9EB-5AB9-BE88-7B8B-41A57E8B90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41B712-B007-0558-C970-105DA3A5CB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AD2D6E-4A0B-E357-02DC-EF7EA0522C87}"/>
              </a:ext>
            </a:extLst>
          </p:cNvPr>
          <p:cNvSpPr>
            <a:spLocks noGrp="1"/>
          </p:cNvSpPr>
          <p:nvPr>
            <p:ph type="body" idx="1"/>
          </p:nvPr>
        </p:nvSpPr>
        <p:spPr/>
        <p:txBody>
          <a:bodyPr/>
          <a:lstStyle/>
          <a:p>
            <a:pPr marL="0" lvl="0" indent="0">
              <a:buNone/>
            </a:pPr>
            <a:r>
              <a:rPr dirty="0"/>
              <a:t>Author requirement docs, then use Copilot to generate scaffolding and validate alignment.</a:t>
            </a:r>
            <a:endParaRPr lang="en-US" dirty="0"/>
          </a:p>
          <a:p>
            <a:pPr marL="0" lvl="0" indent="0">
              <a:buNone/>
            </a:pPr>
            <a:endParaRPr lang="en-US" dirty="0"/>
          </a:p>
          <a:p>
            <a:pPr marL="0" lvl="0" indent="0">
              <a:buNone/>
            </a:pPr>
            <a:r>
              <a:rPr lang="en-US" dirty="0"/>
              <a:t>Prompt: create a requirements document for a simple calculator application</a:t>
            </a:r>
            <a:endParaRPr dirty="0"/>
          </a:p>
        </p:txBody>
      </p:sp>
      <p:sp>
        <p:nvSpPr>
          <p:cNvPr id="4" name="Slide Number Placeholder 3">
            <a:extLst>
              <a:ext uri="{FF2B5EF4-FFF2-40B4-BE49-F238E27FC236}">
                <a16:creationId xmlns:a16="http://schemas.microsoft.com/office/drawing/2014/main" id="{F3AB0AF7-2AB3-0768-B825-46277EC11A55}"/>
              </a:ext>
            </a:extLst>
          </p:cNvPr>
          <p:cNvSpPr>
            <a:spLocks noGrp="1"/>
          </p:cNvSpPr>
          <p:nvPr>
            <p:ph type="sldNum" sz="quarter" idx="10"/>
          </p:nvPr>
        </p:nvSpPr>
        <p:spPr/>
        <p:txBody>
          <a:bodyPr/>
          <a:lstStyle/>
          <a:p>
            <a:fld id="{18BDFEC3-8487-43E8-A154-7C12CBC1FFF2}" type="slidenum">
              <a:rPr lang="en-US"/>
              <a:t>24</a:t>
            </a:fld>
            <a:endParaRPr lang="en-US"/>
          </a:p>
        </p:txBody>
      </p:sp>
    </p:spTree>
    <p:extLst>
      <p:ext uri="{BB962C8B-B14F-4D97-AF65-F5344CB8AC3E}">
        <p14:creationId xmlns:p14="http://schemas.microsoft.com/office/powerpoint/2010/main" val="24775275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C27E4-8B22-9DFA-3EE7-E8B996D698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B89BA0-B868-710D-0848-551141B369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1BC8061-6C81-38DE-6C1A-C7C6924F6F0F}"/>
              </a:ext>
            </a:extLst>
          </p:cNvPr>
          <p:cNvSpPr>
            <a:spLocks noGrp="1"/>
          </p:cNvSpPr>
          <p:nvPr>
            <p:ph type="body" idx="1"/>
          </p:nvPr>
        </p:nvSpPr>
        <p:spPr/>
        <p:txBody>
          <a:bodyPr/>
          <a:lstStyle/>
          <a:p>
            <a:pPr marL="0" lvl="0" indent="0">
              <a:buNone/>
            </a:pPr>
            <a:r>
              <a:t>Author requirement docs, then use Copilot to generate scaffolding and validate alignment.</a:t>
            </a:r>
          </a:p>
        </p:txBody>
      </p:sp>
      <p:sp>
        <p:nvSpPr>
          <p:cNvPr id="4" name="Slide Number Placeholder 3">
            <a:extLst>
              <a:ext uri="{FF2B5EF4-FFF2-40B4-BE49-F238E27FC236}">
                <a16:creationId xmlns:a16="http://schemas.microsoft.com/office/drawing/2014/main" id="{4396AFEA-BBFD-78A2-A630-763C9A33DB8D}"/>
              </a:ext>
            </a:extLst>
          </p:cNvPr>
          <p:cNvSpPr>
            <a:spLocks noGrp="1"/>
          </p:cNvSpPr>
          <p:nvPr>
            <p:ph type="sldNum" sz="quarter" idx="10"/>
          </p:nvPr>
        </p:nvSpPr>
        <p:spPr/>
        <p:txBody>
          <a:bodyPr/>
          <a:lstStyle/>
          <a:p>
            <a:fld id="{18BDFEC3-8487-43E8-A154-7C12CBC1FFF2}" type="slidenum">
              <a:rPr lang="en-US"/>
              <a:t>25</a:t>
            </a:fld>
            <a:endParaRPr lang="en-US"/>
          </a:p>
        </p:txBody>
      </p:sp>
    </p:spTree>
    <p:extLst>
      <p:ext uri="{BB962C8B-B14F-4D97-AF65-F5344CB8AC3E}">
        <p14:creationId xmlns:p14="http://schemas.microsoft.com/office/powerpoint/2010/main" val="7816764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CB856-884D-4158-CF8A-C57A9655A5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5843C2-11BA-20AE-8833-775659DB67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AF9FDF-DE9E-6F22-78ED-807986106E08}"/>
              </a:ext>
            </a:extLst>
          </p:cNvPr>
          <p:cNvSpPr>
            <a:spLocks noGrp="1"/>
          </p:cNvSpPr>
          <p:nvPr>
            <p:ph type="body" idx="1"/>
          </p:nvPr>
        </p:nvSpPr>
        <p:spPr/>
        <p:txBody>
          <a:bodyPr/>
          <a:lstStyle/>
          <a:p>
            <a:pPr marL="0" lvl="0" indent="0">
              <a:buNone/>
            </a:pPr>
            <a:r>
              <a:rPr lang="en-US" dirty="0"/>
              <a:t>Prompts:</a:t>
            </a:r>
          </a:p>
          <a:p>
            <a:pPr marL="0" lvl="0" indent="0">
              <a:buNone/>
            </a:pPr>
            <a:endParaRPr lang="en-US" dirty="0"/>
          </a:p>
          <a:p>
            <a:pPr marL="0" lvl="0" indent="0">
              <a:buNone/>
            </a:pPr>
            <a:r>
              <a:rPr lang="en-US" dirty="0"/>
              <a:t>using #file:business-rules-to-slices.instructions.md update the #file:calculator-app-requirements.md implementation plan to implement using vertical slices</a:t>
            </a:r>
          </a:p>
          <a:p>
            <a:pPr marL="0" lvl="0" indent="0">
              <a:buNone/>
            </a:pPr>
            <a:br>
              <a:rPr lang="en-US" dirty="0"/>
            </a:br>
            <a:r>
              <a:rPr lang="en-US" dirty="0"/>
              <a:t>what is the difference between the phases and vertical slices?</a:t>
            </a:r>
          </a:p>
          <a:p>
            <a:pPr marL="0" lvl="0" indent="0">
              <a:buNone/>
            </a:pPr>
            <a:endParaRPr lang="en-US" dirty="0"/>
          </a:p>
          <a:p>
            <a:pPr marL="0" lvl="0" indent="0">
              <a:buNone/>
            </a:pPr>
            <a:r>
              <a:rPr lang="en-US" dirty="0"/>
              <a:t>update the plan to make this distinction clear</a:t>
            </a:r>
          </a:p>
          <a:p>
            <a:pPr marL="0" lvl="0" indent="0">
              <a:buNone/>
            </a:pPr>
            <a:endParaRPr lang="en-US" dirty="0"/>
          </a:p>
          <a:p>
            <a:pPr marL="0" lvl="0" indent="0">
              <a:buNone/>
            </a:pPr>
            <a:r>
              <a:rPr lang="en-US" dirty="0"/>
              <a:t>add a diagram that shows the phases -&gt; slices -&gt; use cases</a:t>
            </a:r>
          </a:p>
          <a:p>
            <a:pPr marL="0" lvl="0" indent="0">
              <a:buNone/>
            </a:pPr>
            <a:endParaRPr lang="en-US" dirty="0"/>
          </a:p>
          <a:p>
            <a:pPr marL="0" lvl="0" indent="0">
              <a:buNone/>
            </a:pPr>
            <a:r>
              <a:rPr lang="en-US" dirty="0"/>
              <a:t>which of the slices can be implemented in parallel and which have a </a:t>
            </a:r>
            <a:r>
              <a:rPr lang="en-US" dirty="0" err="1"/>
              <a:t>dependancy</a:t>
            </a:r>
            <a:r>
              <a:rPr lang="en-US" dirty="0"/>
              <a:t> on another slice</a:t>
            </a:r>
          </a:p>
          <a:p>
            <a:pPr marL="0" lvl="0" indent="0">
              <a:buNone/>
            </a:pPr>
            <a:endParaRPr lang="en-US" dirty="0"/>
          </a:p>
          <a:p>
            <a:pPr marL="0" lvl="0" indent="0">
              <a:buNone/>
            </a:pPr>
            <a:endParaRPr lang="en-US" dirty="0"/>
          </a:p>
        </p:txBody>
      </p:sp>
      <p:sp>
        <p:nvSpPr>
          <p:cNvPr id="4" name="Slide Number Placeholder 3">
            <a:extLst>
              <a:ext uri="{FF2B5EF4-FFF2-40B4-BE49-F238E27FC236}">
                <a16:creationId xmlns:a16="http://schemas.microsoft.com/office/drawing/2014/main" id="{61DD5F92-B21A-13CD-50B4-A7AEE94E7CF4}"/>
              </a:ext>
            </a:extLst>
          </p:cNvPr>
          <p:cNvSpPr>
            <a:spLocks noGrp="1"/>
          </p:cNvSpPr>
          <p:nvPr>
            <p:ph type="sldNum" sz="quarter" idx="10"/>
          </p:nvPr>
        </p:nvSpPr>
        <p:spPr/>
        <p:txBody>
          <a:bodyPr/>
          <a:lstStyle/>
          <a:p>
            <a:fld id="{18BDFEC3-8487-43E8-A154-7C12CBC1FFF2}" type="slidenum">
              <a:rPr lang="en-US"/>
              <a:t>26</a:t>
            </a:fld>
            <a:endParaRPr lang="en-US"/>
          </a:p>
        </p:txBody>
      </p:sp>
    </p:spTree>
    <p:extLst>
      <p:ext uri="{BB962C8B-B14F-4D97-AF65-F5344CB8AC3E}">
        <p14:creationId xmlns:p14="http://schemas.microsoft.com/office/powerpoint/2010/main" val="26024886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a:t>Core concept explanation:</a:t>
            </a:r>
            <a:r>
              <a:t> Traditional layered architecture separates code by technical concerns (UI, business logic, data access). Vertical slices organize by business features instead.</a:t>
            </a:r>
          </a:p>
          <a:p>
            <a:pPr marL="0" lvl="0" indent="0">
              <a:buNone/>
            </a:pPr>
            <a:endParaRPr/>
          </a:p>
          <a:p>
            <a:pPr marL="0" lvl="0" indent="0">
              <a:buNone/>
            </a:pPr>
            <a:r>
              <a:rPr b="1"/>
              <a:t>Key analogies:</a:t>
            </a:r>
          </a:p>
          <a:p>
            <a:pPr marL="0" lvl="0" indent="0">
              <a:buNone/>
            </a:pPr>
            <a:endParaRPr b="1"/>
          </a:p>
          <a:p>
            <a:pPr lvl="0"/>
            <a:r>
              <a:t>Think of a layered cake vs. a sliced pie - each pie slice contains all layers</a:t>
            </a:r>
          </a:p>
          <a:p>
            <a:pPr marL="0" lvl="0" indent="0">
              <a:buNone/>
            </a:pPr>
            <a:endParaRPr/>
          </a:p>
          <a:p>
            <a:pPr lvl="0"/>
            <a:r>
              <a:t>Like organizing a store by product category vs. by what floor items are on</a:t>
            </a:r>
          </a:p>
          <a:p>
            <a:pPr marL="0" lvl="0" indent="0">
              <a:buNone/>
            </a:pPr>
            <a:endParaRPr/>
          </a:p>
          <a:p>
            <a:pPr marL="0" lvl="0" indent="0">
              <a:buNone/>
            </a:pPr>
            <a:r>
              <a:rPr b="1"/>
              <a:t>Emphasize:</a:t>
            </a:r>
          </a:p>
          <a:p>
            <a:pPr marL="0" lvl="0" indent="0">
              <a:buNone/>
            </a:pPr>
            <a:endParaRPr b="1"/>
          </a:p>
          <a:p>
            <a:pPr lvl="0"/>
            <a:r>
              <a:t>This isn’t just renaming folders - it’s a fundamental shift in how we think about code organization</a:t>
            </a:r>
          </a:p>
          <a:p>
            <a:pPr marL="0" lvl="0" indent="0">
              <a:buNone/>
            </a:pPr>
            <a:endParaRPr/>
          </a:p>
          <a:p>
            <a:pPr lvl="0"/>
            <a:r>
              <a:t>Each feature becomes a complete vertical “slice” through the application</a:t>
            </a:r>
          </a:p>
          <a:p>
            <a:pPr marL="0" lvl="0" indent="0">
              <a:buNone/>
            </a:pPr>
            <a:endParaRPr/>
          </a:p>
          <a:p>
            <a:pPr marL="0" lvl="0" indent="0">
              <a:buNone/>
            </a:pPr>
            <a:r>
              <a:rPr b="1"/>
              <a:t>Common question pre-empt:</a:t>
            </a:r>
            <a:r>
              <a:t> “Doesn’t this create duplication?” Answer: Some tactical duplication is acceptable to gain strategic isolation and maintainability.</a:t>
            </a:r>
          </a:p>
          <a:p>
            <a:pPr marL="0" lvl="0" indent="0">
              <a:buNone/>
            </a:pPr>
            <a:endParaRPr/>
          </a:p>
          <a:p>
            <a:pPr marL="0" lvl="0" indent="0">
              <a:buNone/>
            </a:pPr>
            <a:r>
              <a:rPr b="1"/>
              <a:t>Transition:</a:t>
            </a:r>
            <a:r>
              <a:t> “Let’s understand why this approach is gaining popularity…”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rPr b="1"/>
              <a:t>Real-world impact discussion:</a:t>
            </a:r>
          </a:p>
          <a:p>
            <a:pPr marL="0" lvl="0" indent="0">
              <a:buNone/>
            </a:pPr>
            <a:endParaRPr b="1"/>
          </a:p>
          <a:p>
            <a:pPr marL="0" lvl="0" indent="0">
              <a:buNone/>
            </a:pPr>
            <a:r>
              <a:rPr b="1"/>
              <a:t>Development Speed:</a:t>
            </a:r>
          </a:p>
          <a:p>
            <a:pPr marL="0" lvl="0" indent="0">
              <a:buNone/>
            </a:pPr>
            <a:endParaRPr b="1"/>
          </a:p>
          <a:p>
            <a:pPr lvl="0"/>
            <a:r>
              <a:t>In traditional layered apps, adding a new feature touches 4-7 files across multiple folders</a:t>
            </a:r>
          </a:p>
          <a:p>
            <a:pPr marL="0" lvl="0" indent="0">
              <a:buNone/>
            </a:pPr>
            <a:endParaRPr/>
          </a:p>
          <a:p>
            <a:pPr lvl="0"/>
            <a:r>
              <a:t>With vertical slices, everything is in one feature folder - typically 2-3x faster development</a:t>
            </a:r>
          </a:p>
          <a:p>
            <a:pPr marL="0" lvl="0" indent="0">
              <a:buNone/>
            </a:pPr>
            <a:endParaRPr/>
          </a:p>
          <a:p>
            <a:pPr lvl="0"/>
            <a:r>
              <a:t>Example: “Adding user registration in layered: Controller → Service → Repository → Models. In vertical slices: just add UserRegistration folder with all components.”</a:t>
            </a:r>
          </a:p>
          <a:p>
            <a:pPr marL="0" lvl="0" indent="0">
              <a:buNone/>
            </a:pPr>
            <a:endParaRPr/>
          </a:p>
          <a:p>
            <a:pPr marL="0" lvl="0" indent="0">
              <a:buNone/>
            </a:pPr>
            <a:r>
              <a:rPr b="1"/>
              <a:t>Maintenance Story:</a:t>
            </a:r>
            <a:r>
              <a:t> Share an example: “When fixing a bug in user registration, you only need to look in the UserRegistration folder. Everything’s there. No hunting through Services, Repositories, etc.”</a:t>
            </a:r>
          </a:p>
          <a:p>
            <a:pPr marL="0" lvl="0" indent="0">
              <a:buNone/>
            </a:pPr>
            <a:endParaRPr/>
          </a:p>
          <a:p>
            <a:pPr marL="0" lvl="0" indent="0">
              <a:buNone/>
            </a:pPr>
            <a:r>
              <a:rPr b="1"/>
              <a:t>Team Collaboration:</a:t>
            </a:r>
          </a:p>
          <a:p>
            <a:pPr marL="0" lvl="0" indent="0">
              <a:buNone/>
            </a:pPr>
            <a:endParaRPr b="1"/>
          </a:p>
          <a:p>
            <a:pPr lvl="0"/>
            <a:r>
              <a:t>Multiple developers can work on different features without stepping on each other</a:t>
            </a:r>
          </a:p>
          <a:p>
            <a:pPr marL="0" lvl="0" indent="0">
              <a:buNone/>
            </a:pPr>
            <a:endParaRPr/>
          </a:p>
          <a:p>
            <a:pPr lvl="0"/>
            <a:r>
              <a:t>Feature folders create natural boundaries</a:t>
            </a:r>
          </a:p>
          <a:p>
            <a:pPr marL="0" lvl="0" indent="0">
              <a:buNone/>
            </a:pPr>
            <a:endParaRPr/>
          </a:p>
          <a:p>
            <a:pPr lvl="0"/>
            <a:r>
              <a:t>Junior developers can own entire features</a:t>
            </a:r>
          </a:p>
          <a:p>
            <a:pPr marL="0" lvl="0" indent="0">
              <a:buNone/>
            </a:pPr>
            <a:endParaRPr/>
          </a:p>
          <a:p>
            <a:pPr marL="0" lvl="0" indent="0">
              <a:buNone/>
            </a:pPr>
            <a:r>
              <a:rPr b="1"/>
              <a:t>Statistics to share:</a:t>
            </a:r>
          </a:p>
          <a:p>
            <a:pPr marL="0" lvl="0" indent="0">
              <a:buNone/>
            </a:pPr>
            <a:endParaRPr b="1"/>
          </a:p>
          <a:p>
            <a:pPr lvl="0"/>
            <a:r>
              <a:t>Teams report 30-40% fewer merge conflicts</a:t>
            </a:r>
          </a:p>
          <a:p>
            <a:pPr marL="0" lvl="0" indent="0">
              <a:buNone/>
            </a:pPr>
            <a:endParaRPr/>
          </a:p>
          <a:p>
            <a:pPr lvl="0"/>
            <a:r>
              <a:t>Bug fix time reduced by 50% (bugs localized to features)</a:t>
            </a:r>
          </a:p>
          <a:p>
            <a:pPr marL="0" lvl="0" indent="0">
              <a:buNone/>
            </a:pPr>
            <a:endParaRPr/>
          </a:p>
          <a:p>
            <a:pPr lvl="0"/>
            <a:r>
              <a:t>Onboarding time for new developers cut in half</a:t>
            </a:r>
          </a:p>
          <a:p>
            <a:pPr marL="0" lvl="0" indent="0">
              <a:buNone/>
            </a:pPr>
            <a:endParaRPr/>
          </a:p>
          <a:p>
            <a:pPr marL="0" lvl="0" indent="0">
              <a:buNone/>
            </a:pPr>
            <a:r>
              <a:rPr b="1"/>
              <a:t>Transition:</a:t>
            </a:r>
            <a:r>
              <a:t> “These benefits come from following core principles…”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Teach how to craft reproducible prompts and verification checks to validate generated code.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Execute prompts in custom modes, verify outputs, and refine prompts based on failures.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Summarize key takeaways, next steps, and open the floor for questions and feedback.</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buNone/>
            </a:pPr>
            <a:r>
              <a:t>Final day: custom chat modes, verification prompts, and wrap-up exercises.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rgbClr val="007FB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E5D4979-0E48-181C-5438-B441393DCAC1}"/>
              </a:ext>
            </a:extLst>
          </p:cNvPr>
          <p:cNvPicPr>
            <a:picLocks noChangeAspect="1"/>
          </p:cNvPicPr>
          <p:nvPr/>
        </p:nvPicPr>
        <p:blipFill>
          <a:blip r:embed="rId2">
            <a:alphaModFix amt="20000"/>
          </a:blip>
          <a:srcRect l="301" t="5222" r="713" b="10945"/>
          <a:stretch/>
        </p:blipFill>
        <p:spPr>
          <a:xfrm>
            <a:off x="0" y="-1"/>
            <a:ext cx="9144000" cy="5143501"/>
          </a:xfrm>
          <a:prstGeom prst="rect">
            <a:avLst/>
          </a:prstGeom>
        </p:spPr>
      </p:pic>
      <p:sp>
        <p:nvSpPr>
          <p:cNvPr id="2" name="Title 1">
            <a:extLst>
              <a:ext uri="{FF2B5EF4-FFF2-40B4-BE49-F238E27FC236}">
                <a16:creationId xmlns:a16="http://schemas.microsoft.com/office/drawing/2014/main" id="{38BA191F-D9FD-C2EB-983F-9B42F26EB6F6}"/>
              </a:ext>
            </a:extLst>
          </p:cNvPr>
          <p:cNvSpPr>
            <a:spLocks noGrp="1"/>
          </p:cNvSpPr>
          <p:nvPr>
            <p:ph type="ctrTitle"/>
          </p:nvPr>
        </p:nvSpPr>
        <p:spPr>
          <a:xfrm>
            <a:off x="1143000" y="2069538"/>
            <a:ext cx="6858000" cy="1418667"/>
          </a:xfrm>
        </p:spPr>
        <p:txBody>
          <a:bodyPr anchor="b"/>
          <a:lstStyle>
            <a:lvl1pPr algn="ctr">
              <a:defRPr sz="45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C2FDDE32-D155-6EE2-5EAC-C0A0C4B0AB69}"/>
              </a:ext>
            </a:extLst>
          </p:cNvPr>
          <p:cNvSpPr>
            <a:spLocks noGrp="1"/>
          </p:cNvSpPr>
          <p:nvPr>
            <p:ph type="subTitle" idx="1"/>
          </p:nvPr>
        </p:nvSpPr>
        <p:spPr>
          <a:xfrm>
            <a:off x="1143000" y="3714244"/>
            <a:ext cx="6858000" cy="99380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pic>
        <p:nvPicPr>
          <p:cNvPr id="5" name="Picture 4">
            <a:extLst>
              <a:ext uri="{FF2B5EF4-FFF2-40B4-BE49-F238E27FC236}">
                <a16:creationId xmlns:a16="http://schemas.microsoft.com/office/drawing/2014/main" id="{A09F10DC-7230-4581-E771-A51DC87C601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220828" y="928579"/>
            <a:ext cx="2683663" cy="966118"/>
          </a:xfrm>
          <a:prstGeom prst="rect">
            <a:avLst/>
          </a:prstGeom>
          <a:ln>
            <a:noFill/>
          </a:ln>
          <a:effectLst/>
        </p:spPr>
      </p:pic>
    </p:spTree>
    <p:extLst>
      <p:ext uri="{BB962C8B-B14F-4D97-AF65-F5344CB8AC3E}">
        <p14:creationId xmlns:p14="http://schemas.microsoft.com/office/powerpoint/2010/main" val="1968234332"/>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065130316"/>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90831449"/>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628650" y="1097814"/>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4629150" y="1097814"/>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5498384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628650" y="1097814"/>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4629150" y="1097814"/>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9788710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entere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a:xfrm>
            <a:off x="1223668" y="1973171"/>
            <a:ext cx="6696665" cy="1176653"/>
          </a:xfrm>
        </p:spPr>
        <p:txBody>
          <a:bodyPr/>
          <a:lstStyle>
            <a:lvl1pPr algn="ctr">
              <a:defRPr/>
            </a:lvl1pPr>
          </a:lstStyle>
          <a:p>
            <a:r>
              <a:rPr lang="en-US"/>
              <a:t>Click to edit Master title style</a:t>
            </a:r>
            <a:endParaRPr lang="en-US" dirty="0"/>
          </a:p>
        </p:txBody>
      </p:sp>
    </p:spTree>
    <p:extLst>
      <p:ext uri="{BB962C8B-B14F-4D97-AF65-F5344CB8AC3E}">
        <p14:creationId xmlns:p14="http://schemas.microsoft.com/office/powerpoint/2010/main" val="29419893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07914445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
        <p:nvSpPr>
          <p:cNvPr id="3" name="Picture Placeholder 3">
            <a:extLst>
              <a:ext uri="{FF2B5EF4-FFF2-40B4-BE49-F238E27FC236}">
                <a16:creationId xmlns:a16="http://schemas.microsoft.com/office/drawing/2014/main" id="{F1C99E23-E5F1-1D9C-BF82-D83E6E9F1346}"/>
              </a:ext>
            </a:extLst>
          </p:cNvPr>
          <p:cNvSpPr>
            <a:spLocks noGrp="1"/>
          </p:cNvSpPr>
          <p:nvPr>
            <p:ph type="pic" sz="quarter" idx="10"/>
          </p:nvPr>
        </p:nvSpPr>
        <p:spPr>
          <a:xfrm>
            <a:off x="675085" y="1825228"/>
            <a:ext cx="7793831" cy="2843213"/>
          </a:xfrm>
        </p:spPr>
        <p:txBody>
          <a:bodyPr/>
          <a:lstStyle/>
          <a:p>
            <a:r>
              <a:rPr lang="en-US"/>
              <a:t>Click icon to add picture</a:t>
            </a:r>
          </a:p>
        </p:txBody>
      </p:sp>
      <p:sp>
        <p:nvSpPr>
          <p:cNvPr id="4" name="Text Placeholder 5">
            <a:extLst>
              <a:ext uri="{FF2B5EF4-FFF2-40B4-BE49-F238E27FC236}">
                <a16:creationId xmlns:a16="http://schemas.microsoft.com/office/drawing/2014/main" id="{63708861-970C-B5DB-BF46-526E75A04C16}"/>
              </a:ext>
            </a:extLst>
          </p:cNvPr>
          <p:cNvSpPr>
            <a:spLocks noGrp="1"/>
          </p:cNvSpPr>
          <p:nvPr>
            <p:ph type="body" sz="quarter" idx="11" hasCustomPrompt="1"/>
          </p:nvPr>
        </p:nvSpPr>
        <p:spPr>
          <a:xfrm>
            <a:off x="675085" y="1083469"/>
            <a:ext cx="7793831" cy="486966"/>
          </a:xfrm>
        </p:spPr>
        <p:txBody>
          <a:bodyPr/>
          <a:lstStyle>
            <a:lvl1pPr marL="0" indent="0">
              <a:buNone/>
              <a:defRPr/>
            </a:lvl1pPr>
          </a:lstStyle>
          <a:p>
            <a:pPr lvl="0"/>
            <a:r>
              <a:rPr lang="en-US" dirty="0"/>
              <a:t>Image Caption</a:t>
            </a:r>
          </a:p>
        </p:txBody>
      </p:sp>
    </p:spTree>
    <p:extLst>
      <p:ext uri="{BB962C8B-B14F-4D97-AF65-F5344CB8AC3E}">
        <p14:creationId xmlns:p14="http://schemas.microsoft.com/office/powerpoint/2010/main" val="40678282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207103269"/>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1_Blank">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F7AB04E-CD14-3B5B-FB56-FF0AC2426BBE}"/>
              </a:ext>
            </a:extLst>
          </p:cNvPr>
          <p:cNvPicPr>
            <a:picLocks noChangeAspect="1"/>
          </p:cNvPicPr>
          <p:nvPr/>
        </p:nvPicPr>
        <p:blipFill>
          <a:blip r:embed="rId2">
            <a:alphaModFix amt="20000"/>
          </a:blip>
          <a:srcRect l="301" t="5222" r="713" b="10945"/>
          <a:stretch/>
        </p:blipFill>
        <p:spPr>
          <a:xfrm>
            <a:off x="0" y="-1"/>
            <a:ext cx="9144000" cy="5143501"/>
          </a:xfrm>
          <a:prstGeom prst="rect">
            <a:avLst/>
          </a:prstGeom>
        </p:spPr>
      </p:pic>
    </p:spTree>
    <p:extLst>
      <p:ext uri="{BB962C8B-B14F-4D97-AF65-F5344CB8AC3E}">
        <p14:creationId xmlns:p14="http://schemas.microsoft.com/office/powerpoint/2010/main" val="3405660414"/>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de">
    <p:bg>
      <p:bgPr>
        <a:solidFill>
          <a:srgbClr val="21212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DF442E2-8683-D251-03C0-5FDD0CBEBC4F}"/>
              </a:ext>
            </a:extLst>
          </p:cNvPr>
          <p:cNvSpPr>
            <a:spLocks noGrp="1"/>
          </p:cNvSpPr>
          <p:nvPr>
            <p:ph type="body" sz="quarter" idx="10" hasCustomPrompt="1"/>
          </p:nvPr>
        </p:nvSpPr>
        <p:spPr>
          <a:xfrm>
            <a:off x="625111" y="788974"/>
            <a:ext cx="7373867" cy="276999"/>
          </a:xfrm>
        </p:spPr>
        <p:txBody>
          <a:bodyPr>
            <a:spAutoFit/>
          </a:bodyPr>
          <a:lstStyle>
            <a:lvl1pPr marL="0" indent="0">
              <a:buFontTx/>
              <a:buNone/>
              <a:defRPr sz="1200">
                <a:latin typeface="Victor Mono" pitchFamily="49" charset="0"/>
              </a:defRPr>
            </a:lvl1pPr>
            <a:lvl2pPr marL="342900" indent="0">
              <a:buFontTx/>
              <a:buNone/>
              <a:defRPr>
                <a:latin typeface="Victor Mono" pitchFamily="49" charset="0"/>
              </a:defRPr>
            </a:lvl2pPr>
            <a:lvl3pPr marL="685800" indent="0">
              <a:buFontTx/>
              <a:buNone/>
              <a:defRPr>
                <a:latin typeface="Victor Mono" pitchFamily="49" charset="0"/>
              </a:defRPr>
            </a:lvl3pPr>
            <a:lvl4pPr marL="1028700" indent="0">
              <a:buFontTx/>
              <a:buNone/>
              <a:defRPr>
                <a:latin typeface="Victor Mono" pitchFamily="49" charset="0"/>
              </a:defRPr>
            </a:lvl4pPr>
            <a:lvl5pPr marL="1371600" indent="0">
              <a:buFontTx/>
              <a:buNone/>
              <a:defRPr>
                <a:latin typeface="Victor Mono" pitchFamily="49" charset="0"/>
              </a:defRPr>
            </a:lvl5pPr>
          </a:lstStyle>
          <a:p>
            <a:pPr lvl="0"/>
            <a:r>
              <a:rPr lang="en-US" dirty="0"/>
              <a:t>Click to edit Code text</a:t>
            </a:r>
          </a:p>
        </p:txBody>
      </p:sp>
    </p:spTree>
    <p:extLst>
      <p:ext uri="{BB962C8B-B14F-4D97-AF65-F5344CB8AC3E}">
        <p14:creationId xmlns:p14="http://schemas.microsoft.com/office/powerpoint/2010/main" val="361492918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cSld name="1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9086361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07FB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3C53BF9-6377-93D8-5BD7-30937619B4E2}"/>
              </a:ext>
            </a:extLst>
          </p:cNvPr>
          <p:cNvPicPr>
            <a:picLocks noChangeAspect="1"/>
          </p:cNvPicPr>
          <p:nvPr/>
        </p:nvPicPr>
        <p:blipFill>
          <a:blip r:embed="rId14">
            <a:alphaModFix amt="20000"/>
          </a:blip>
          <a:srcRect l="301" t="5222" r="713" b="10945"/>
          <a:stretch/>
        </p:blipFill>
        <p:spPr>
          <a:xfrm>
            <a:off x="0" y="-1"/>
            <a:ext cx="9144000" cy="5143501"/>
          </a:xfrm>
          <a:prstGeom prst="rect">
            <a:avLst/>
          </a:prstGeom>
        </p:spPr>
      </p:pic>
      <p:sp>
        <p:nvSpPr>
          <p:cNvPr id="2" name="Title Placeholder 1">
            <a:extLst>
              <a:ext uri="{FF2B5EF4-FFF2-40B4-BE49-F238E27FC236}">
                <a16:creationId xmlns:a16="http://schemas.microsoft.com/office/drawing/2014/main" id="{3A4163A3-B061-0949-1965-0375841BDB05}"/>
              </a:ext>
            </a:extLst>
          </p:cNvPr>
          <p:cNvSpPr>
            <a:spLocks noGrp="1"/>
          </p:cNvSpPr>
          <p:nvPr>
            <p:ph type="title"/>
          </p:nvPr>
        </p:nvSpPr>
        <p:spPr>
          <a:xfrm>
            <a:off x="628651" y="273845"/>
            <a:ext cx="6696665" cy="52726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4E76094-9BD4-ED01-3BE5-5F760EE32E2A}"/>
              </a:ext>
            </a:extLst>
          </p:cNvPr>
          <p:cNvSpPr>
            <a:spLocks noGrp="1"/>
          </p:cNvSpPr>
          <p:nvPr>
            <p:ph type="body" idx="1"/>
          </p:nvPr>
        </p:nvSpPr>
        <p:spPr>
          <a:xfrm>
            <a:off x="628650" y="1096112"/>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4" name="Picture 3">
            <a:extLst>
              <a:ext uri="{FF2B5EF4-FFF2-40B4-BE49-F238E27FC236}">
                <a16:creationId xmlns:a16="http://schemas.microsoft.com/office/drawing/2014/main" id="{CD6163BC-C951-C17F-421A-4AD743EDDB29}"/>
              </a:ext>
            </a:extLst>
          </p:cNvPr>
          <p:cNvPicPr>
            <a:picLocks noChangeAspect="1"/>
          </p:cNvPicPr>
          <p:nvPr/>
        </p:nvPicPr>
        <p:blipFill>
          <a:blip r:embed="rId15"/>
          <a:srcRect/>
          <a:stretch/>
        </p:blipFill>
        <p:spPr>
          <a:xfrm>
            <a:off x="7512088" y="318405"/>
            <a:ext cx="1337757" cy="482708"/>
          </a:xfrm>
          <a:prstGeom prst="rect">
            <a:avLst/>
          </a:prstGeom>
          <a:ln>
            <a:noFill/>
          </a:ln>
          <a:effectLst/>
        </p:spPr>
      </p:pic>
    </p:spTree>
    <p:extLst>
      <p:ext uri="{BB962C8B-B14F-4D97-AF65-F5344CB8AC3E}">
        <p14:creationId xmlns:p14="http://schemas.microsoft.com/office/powerpoint/2010/main" val="124476669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ransition>
    <p:fade/>
  </p:transition>
  <p:txStyles>
    <p:titleStyle>
      <a:lvl1pPr algn="l" defTabSz="685800" rtl="0" eaLnBrk="1" latinLnBrk="0" hangingPunct="1">
        <a:lnSpc>
          <a:spcPct val="90000"/>
        </a:lnSpc>
        <a:spcBef>
          <a:spcPct val="0"/>
        </a:spcBef>
        <a:buNone/>
        <a:defRPr sz="3300" b="1"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p:titleStyle>
    <p:bodyStyle>
      <a:lvl1pPr marL="171450" indent="-171450" algn="l" defTabSz="685800" rtl="0" eaLnBrk="1" latinLnBrk="0" hangingPunct="1">
        <a:lnSpc>
          <a:spcPct val="100000"/>
        </a:lnSpc>
        <a:spcBef>
          <a:spcPts val="750"/>
        </a:spcBef>
        <a:buFont typeface="Arial" panose="020B0604020202020204" pitchFamily="34" charset="0"/>
        <a:buChar char="•"/>
        <a:defRPr sz="21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vl2pPr marL="514350" indent="-171450" algn="l" defTabSz="685800" rtl="0" eaLnBrk="1" latinLnBrk="0" hangingPunct="1">
        <a:lnSpc>
          <a:spcPct val="100000"/>
        </a:lnSpc>
        <a:spcBef>
          <a:spcPts val="375"/>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2pPr>
      <a:lvl3pPr marL="857250" indent="-171450" algn="l" defTabSz="685800" rtl="0" eaLnBrk="1" latinLnBrk="0" hangingPunct="1">
        <a:lnSpc>
          <a:spcPct val="100000"/>
        </a:lnSpc>
        <a:spcBef>
          <a:spcPts val="375"/>
        </a:spcBef>
        <a:buFont typeface="Arial" panose="020B0604020202020204" pitchFamily="34" charset="0"/>
        <a:buChar char="•"/>
        <a:defRPr sz="15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3pPr>
      <a:lvl4pPr marL="1200150" indent="-171450" algn="l" defTabSz="685800" rtl="0" eaLnBrk="1" latinLnBrk="0" hangingPunct="1">
        <a:lnSpc>
          <a:spcPct val="100000"/>
        </a:lnSpc>
        <a:spcBef>
          <a:spcPts val="375"/>
        </a:spcBef>
        <a:buFont typeface="Arial" panose="020B0604020202020204" pitchFamily="34" charset="0"/>
        <a:buChar char="•"/>
        <a:defRPr sz="135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4pPr>
      <a:lvl5pPr marL="1543050" indent="-171450" algn="l" defTabSz="685800" rtl="0" eaLnBrk="1" latinLnBrk="0" hangingPunct="1">
        <a:lnSpc>
          <a:spcPct val="100000"/>
        </a:lnSpc>
        <a:spcBef>
          <a:spcPts val="375"/>
        </a:spcBef>
        <a:buFont typeface="Arial" panose="020B0604020202020204" pitchFamily="34" charset="0"/>
        <a:buChar char="•"/>
        <a:defRPr sz="135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github.com/johnmillerATcodemag-com/zeus.academia.2" TargetMode="External"/><Relationship Id="rId2" Type="http://schemas.openxmlformats.org/officeDocument/2006/relationships/hyperlink" Target="https://orm.net/pdf/ORMwhitePaper.pdf"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marL="0" lvl="0" indent="0">
              <a:buNone/>
            </a:pPr>
            <a:r>
              <a:t>AI Assisted Software Development</a:t>
            </a:r>
          </a:p>
        </p:txBody>
      </p:sp>
      <p:sp>
        <p:nvSpPr>
          <p:cNvPr id="3" name="Subtitle 2">
            <a:extLst>
              <a:ext uri="{FF2B5EF4-FFF2-40B4-BE49-F238E27FC236}">
                <a16:creationId xmlns:a16="http://schemas.microsoft.com/office/drawing/2014/main" id="{933D4F2C-1BCD-B092-91D0-87438359579E}"/>
              </a:ext>
            </a:extLst>
          </p:cNvPr>
          <p:cNvSpPr>
            <a:spLocks noGrp="1"/>
          </p:cNvSpPr>
          <p:nvPr>
            <p:ph type="subTitle" idx="1"/>
          </p:nvPr>
        </p:nvSpPr>
        <p:spPr/>
        <p:txBody>
          <a:bodyPr/>
          <a:lstStyle/>
          <a:p>
            <a:r>
              <a:rPr lang="en-US" dirty="0"/>
              <a:t>Requirements </a:t>
            </a:r>
            <a:r>
              <a:rPr lang="en-US" dirty="0">
                <a:sym typeface="Wingdings" panose="05000000000000000000" pitchFamily="2" charset="2"/>
              </a:rPr>
              <a:t> Code</a:t>
            </a:r>
            <a:endParaRPr lang="en-US" dirty="0"/>
          </a:p>
        </p:txBody>
      </p:sp>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John Michael Miller</a:t>
            </a:r>
          </a:p>
        </p:txBody>
      </p:sp>
      <p:sp>
        <p:nvSpPr>
          <p:cNvPr id="3" name="Content Placeholder 2"/>
          <p:cNvSpPr>
            <a:spLocks noGrp="1"/>
          </p:cNvSpPr>
          <p:nvPr>
            <p:ph idx="1"/>
          </p:nvPr>
        </p:nvSpPr>
        <p:spPr/>
        <p:txBody>
          <a:bodyPr/>
          <a:lstStyle/>
          <a:p>
            <a:pPr marL="0" lvl="0" indent="0">
              <a:buNone/>
            </a:pPr>
            <a:r>
              <a:t>Senior Software Engineer at Code Staffing</a:t>
            </a:r>
          </a:p>
          <a:p>
            <a:pPr marL="0" lvl="0" indent="0">
              <a:buNone/>
            </a:pPr>
            <a:r>
              <a:t>Played roles of developer, architect, devops engineer, platform engineer, test architect, release manager</a:t>
            </a:r>
          </a:p>
          <a:p>
            <a:pPr marL="0" lvl="0" indent="0">
              <a:buNone/>
            </a:pPr>
            <a:r>
              <a:t>AI/ML Enthusiast and advocate for Effectively using AI to write code</a:t>
            </a:r>
          </a:p>
          <a:p>
            <a:pPr lvl="0"/>
            <a:r>
              <a:t>LinkedIn: </a:t>
            </a:r>
            <a:r>
              <a:rPr>
                <a:latin typeface="Courier"/>
              </a:rPr>
              <a:t>www.linkedin.com/in/johnmichaelmiller</a:t>
            </a:r>
          </a:p>
          <a:p>
            <a:pPr lvl="0"/>
            <a:r>
              <a:t>Email: </a:t>
            </a:r>
            <a:r>
              <a:rPr>
                <a:latin typeface="Courier"/>
              </a:rPr>
              <a:t>john.miller@codestaffing.com</a:t>
            </a:r>
          </a:p>
          <a:p>
            <a:pPr lvl="0"/>
            <a:r>
              <a:t>Blog: </a:t>
            </a:r>
            <a:r>
              <a:rPr>
                <a:latin typeface="Courier"/>
              </a:rPr>
              <a:t>https://codemag.com/blog/AIPractitioner</a:t>
            </a:r>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lang="en-US" dirty="0"/>
              <a:t>Agenda</a:t>
            </a:r>
            <a:endParaRPr dirty="0"/>
          </a:p>
        </p:txBody>
      </p:sp>
      <p:sp>
        <p:nvSpPr>
          <p:cNvPr id="3" name="Content Placeholder 2"/>
          <p:cNvSpPr>
            <a:spLocks noGrp="1"/>
          </p:cNvSpPr>
          <p:nvPr>
            <p:ph idx="1"/>
          </p:nvPr>
        </p:nvSpPr>
        <p:spPr/>
        <p:txBody>
          <a:bodyPr>
            <a:normAutofit fontScale="77500" lnSpcReduction="20000"/>
          </a:bodyPr>
          <a:lstStyle/>
          <a:p>
            <a:pPr lvl="0"/>
            <a:r>
              <a:rPr dirty="0"/>
              <a:t>AI Assisted Workflow</a:t>
            </a:r>
          </a:p>
          <a:p>
            <a:pPr lvl="0"/>
            <a:r>
              <a:rPr dirty="0"/>
              <a:t>Project Requirements</a:t>
            </a:r>
          </a:p>
          <a:p>
            <a:pPr lvl="1"/>
            <a:r>
              <a:rPr dirty="0"/>
              <a:t>What requirements?</a:t>
            </a:r>
          </a:p>
          <a:p>
            <a:pPr lvl="1"/>
            <a:r>
              <a:rPr dirty="0"/>
              <a:t>Conceptual Models</a:t>
            </a:r>
          </a:p>
          <a:p>
            <a:pPr lvl="1"/>
            <a:r>
              <a:rPr dirty="0"/>
              <a:t>Workflows</a:t>
            </a:r>
            <a:endParaRPr lang="en-US" dirty="0"/>
          </a:p>
          <a:p>
            <a:r>
              <a:rPr lang="en-US" dirty="0"/>
              <a:t>Project Instructions</a:t>
            </a:r>
            <a:endParaRPr dirty="0"/>
          </a:p>
          <a:p>
            <a:pPr lvl="0"/>
            <a:r>
              <a:rPr dirty="0"/>
              <a:t>Implementation Prompts</a:t>
            </a:r>
          </a:p>
          <a:p>
            <a:pPr lvl="1"/>
            <a:r>
              <a:rPr dirty="0"/>
              <a:t>Implementation Verification</a:t>
            </a:r>
          </a:p>
          <a:p>
            <a:pPr lvl="1"/>
            <a:r>
              <a:rPr dirty="0"/>
              <a:t>Executing Implementation Prompts</a:t>
            </a:r>
          </a:p>
          <a:p>
            <a:pPr lvl="0"/>
            <a:r>
              <a:rPr dirty="0"/>
              <a:t>Lessons Learned</a:t>
            </a:r>
          </a:p>
          <a:p>
            <a:pPr lvl="0"/>
            <a:r>
              <a:rPr dirty="0"/>
              <a:t>Iteration 3</a:t>
            </a:r>
          </a:p>
          <a:p>
            <a:pPr lvl="0"/>
            <a:r>
              <a:rPr dirty="0"/>
              <a:t>Tips and Tricks</a:t>
            </a:r>
          </a:p>
        </p:txBody>
      </p:sp>
    </p:spTree>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Exercise</a:t>
            </a:r>
            <a:r>
              <a:rPr lang="en-US" dirty="0"/>
              <a:t>:</a:t>
            </a:r>
            <a:r>
              <a:rPr dirty="0"/>
              <a:t> Fork the repos</a:t>
            </a:r>
          </a:p>
        </p:txBody>
      </p:sp>
      <p:sp>
        <p:nvSpPr>
          <p:cNvPr id="3" name="Content Placeholder 2"/>
          <p:cNvSpPr>
            <a:spLocks noGrp="1"/>
          </p:cNvSpPr>
          <p:nvPr>
            <p:ph idx="1"/>
          </p:nvPr>
        </p:nvSpPr>
        <p:spPr/>
        <p:txBody>
          <a:bodyPr/>
          <a:lstStyle/>
          <a:p>
            <a:pPr marL="0" lvl="0" indent="0">
              <a:buNone/>
            </a:pPr>
            <a:r>
              <a:rPr b="1" dirty="0"/>
              <a:t>Objective</a:t>
            </a:r>
            <a:r>
              <a:rPr dirty="0"/>
              <a:t>: Fork the course repos</a:t>
            </a:r>
          </a:p>
          <a:p>
            <a:pPr lvl="0"/>
            <a:r>
              <a:rPr dirty="0"/>
              <a:t>Search GitHub for</a:t>
            </a:r>
          </a:p>
          <a:p>
            <a:pPr lvl="1"/>
            <a:r>
              <a:rPr dirty="0"/>
              <a:t>AI-Assisted-Software-Development</a:t>
            </a:r>
          </a:p>
          <a:p>
            <a:pPr lvl="1"/>
            <a:r>
              <a:rPr dirty="0"/>
              <a:t>zeus.academia.3</a:t>
            </a:r>
            <a:r>
              <a:rPr lang="en-US" dirty="0"/>
              <a:t>b</a:t>
            </a:r>
            <a:endParaRPr dirty="0"/>
          </a:p>
          <a:p>
            <a:pPr lvl="0"/>
            <a:r>
              <a:rPr dirty="0"/>
              <a:t>Fork the repos</a:t>
            </a:r>
          </a:p>
          <a:p>
            <a:pPr lvl="1"/>
            <a:r>
              <a:rPr dirty="0"/>
              <a:t>This will create a personal copy under your GitHub account</a:t>
            </a:r>
          </a:p>
          <a:p>
            <a:pPr lvl="1"/>
            <a:r>
              <a:rPr dirty="0"/>
              <a:t>You can make changes without affecting the original repo</a:t>
            </a:r>
          </a:p>
        </p:txBody>
      </p:sp>
    </p:spTree>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New Development</a:t>
            </a:r>
          </a:p>
        </p:txBody>
      </p:sp>
      <p:sp>
        <p:nvSpPr>
          <p:cNvPr id="10" name="TextBox 9">
            <a:extLst>
              <a:ext uri="{FF2B5EF4-FFF2-40B4-BE49-F238E27FC236}">
                <a16:creationId xmlns:a16="http://schemas.microsoft.com/office/drawing/2014/main" id="{E7553694-1259-3468-CDD7-FDEEAA1452D9}"/>
              </a:ext>
            </a:extLst>
          </p:cNvPr>
          <p:cNvSpPr txBox="1"/>
          <p:nvPr/>
        </p:nvSpPr>
        <p:spPr>
          <a:xfrm>
            <a:off x="628651" y="1340338"/>
            <a:ext cx="7940918" cy="1692771"/>
          </a:xfrm>
          <a:prstGeom prst="rect">
            <a:avLst/>
          </a:prstGeom>
          <a:noFill/>
        </p:spPr>
        <p:txBody>
          <a:bodyPr wrap="square">
            <a:spAutoFit/>
          </a:bodyPr>
          <a:lstStyle/>
          <a:p>
            <a:pPr marL="171450" marR="0" lvl="0" indent="-171450" algn="l" defTabSz="685800" rtl="0" eaLnBrk="1" fontAlgn="auto" latinLnBrk="0" hangingPunct="1">
              <a:lnSpc>
                <a:spcPct val="100000"/>
              </a:lnSpc>
              <a:spcBef>
                <a:spcPts val="750"/>
              </a:spcBef>
              <a:spcAft>
                <a:spcPts val="0"/>
              </a:spcAft>
              <a:buClrTx/>
              <a:buSzTx/>
              <a:buFont typeface="Arial" panose="020B0604020202020204" pitchFamily="34" charset="0"/>
              <a:buChar char="•"/>
              <a:tabLst/>
              <a:defRPr/>
            </a:pPr>
            <a:r>
              <a:rPr kumimoji="0" lang="en-US" sz="2100" b="0"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Creating Custom Chat Modes for Greenfield development</a:t>
            </a:r>
          </a:p>
          <a:p>
            <a:pPr marL="171450" marR="0" lvl="0" indent="-171450" algn="l" defTabSz="685800" rtl="0" eaLnBrk="1" fontAlgn="auto" latinLnBrk="0" hangingPunct="1">
              <a:lnSpc>
                <a:spcPct val="100000"/>
              </a:lnSpc>
              <a:spcBef>
                <a:spcPts val="750"/>
              </a:spcBef>
              <a:spcAft>
                <a:spcPts val="0"/>
              </a:spcAft>
              <a:buClrTx/>
              <a:buSzTx/>
              <a:buFont typeface="Arial" panose="020B0604020202020204" pitchFamily="34" charset="0"/>
              <a:buChar char="•"/>
              <a:tabLst/>
              <a:defRPr/>
            </a:pPr>
            <a:r>
              <a:rPr lang="en-US" sz="2100" dirty="0">
                <a:solidFill>
                  <a:prstClr val="white"/>
                </a:solidFill>
                <a:latin typeface="Noto Sans" panose="020B0502040504020204" pitchFamily="34" charset="0"/>
                <a:ea typeface="Noto Sans" panose="020B0502040504020204" pitchFamily="34" charset="0"/>
                <a:cs typeface="Noto Sans" panose="020B0502040504020204" pitchFamily="34" charset="0"/>
              </a:rPr>
              <a:t>Chat Mode Command Prompts</a:t>
            </a:r>
            <a:endParaRPr kumimoji="0" lang="en-US" sz="2100" b="0"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marR="0" lvl="0" indent="-171450" algn="l" defTabSz="685800" rtl="0" eaLnBrk="1" fontAlgn="auto" latinLnBrk="0" hangingPunct="1">
              <a:lnSpc>
                <a:spcPct val="100000"/>
              </a:lnSpc>
              <a:spcBef>
                <a:spcPts val="750"/>
              </a:spcBef>
              <a:spcAft>
                <a:spcPts val="0"/>
              </a:spcAft>
              <a:buClrTx/>
              <a:buSzTx/>
              <a:buFont typeface="Arial" panose="020B0604020202020204" pitchFamily="34" charset="0"/>
              <a:buChar char="•"/>
              <a:tabLst/>
              <a:defRPr/>
            </a:pPr>
            <a:r>
              <a:rPr lang="en-US" sz="2100" dirty="0">
                <a:solidFill>
                  <a:prstClr val="white"/>
                </a:solidFill>
                <a:latin typeface="Noto Sans" panose="020B0502040504020204" pitchFamily="34" charset="0"/>
                <a:ea typeface="Noto Sans" panose="020B0502040504020204" pitchFamily="34" charset="0"/>
                <a:cs typeface="Noto Sans" panose="020B0502040504020204" pitchFamily="34" charset="0"/>
              </a:rPr>
              <a:t>Core Instruction Files</a:t>
            </a:r>
          </a:p>
          <a:p>
            <a:pPr marR="0" lvl="0" algn="l" defTabSz="685800" rtl="0" eaLnBrk="1" fontAlgn="auto" latinLnBrk="0" hangingPunct="1">
              <a:lnSpc>
                <a:spcPct val="100000"/>
              </a:lnSpc>
              <a:spcBef>
                <a:spcPts val="750"/>
              </a:spcBef>
              <a:spcAft>
                <a:spcPts val="0"/>
              </a:spcAft>
              <a:buClrTx/>
              <a:buSzTx/>
              <a:tabLst/>
              <a:defRPr/>
            </a:pPr>
            <a:endParaRPr kumimoji="0" lang="en-US" sz="2100" b="0"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spTree>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2E22F-2DD1-2F34-B7C7-08E54E2A2230}"/>
              </a:ext>
            </a:extLst>
          </p:cNvPr>
          <p:cNvSpPr>
            <a:spLocks noGrp="1"/>
          </p:cNvSpPr>
          <p:nvPr>
            <p:ph type="title"/>
          </p:nvPr>
        </p:nvSpPr>
        <p:spPr/>
        <p:txBody>
          <a:bodyPr>
            <a:normAutofit fontScale="90000"/>
          </a:bodyPr>
          <a:lstStyle/>
          <a:p>
            <a:r>
              <a:rPr lang="en-US" dirty="0"/>
              <a:t>Greenfield Chat Modes</a:t>
            </a:r>
          </a:p>
        </p:txBody>
      </p:sp>
      <p:sp>
        <p:nvSpPr>
          <p:cNvPr id="3" name="Content Placeholder 2"/>
          <p:cNvSpPr>
            <a:spLocks noGrp="1"/>
          </p:cNvSpPr>
          <p:nvPr>
            <p:ph idx="1"/>
          </p:nvPr>
        </p:nvSpPr>
        <p:spPr/>
        <p:txBody>
          <a:bodyPr>
            <a:normAutofit lnSpcReduction="10000"/>
          </a:bodyPr>
          <a:lstStyle/>
          <a:p>
            <a:pPr lvl="0"/>
            <a:r>
              <a:rPr dirty="0"/>
              <a:t>Product Manager</a:t>
            </a:r>
          </a:p>
          <a:p>
            <a:pPr lvl="0"/>
            <a:r>
              <a:rPr dirty="0"/>
              <a:t>Solution Architect</a:t>
            </a:r>
          </a:p>
          <a:p>
            <a:pPr lvl="0"/>
            <a:r>
              <a:rPr dirty="0"/>
              <a:t>Senior Developer</a:t>
            </a:r>
          </a:p>
          <a:p>
            <a:pPr lvl="0"/>
            <a:r>
              <a:rPr dirty="0"/>
              <a:t>Technical Writer</a:t>
            </a:r>
          </a:p>
          <a:p>
            <a:pPr lvl="0"/>
            <a:r>
              <a:rPr dirty="0"/>
              <a:t>Security Reviewer</a:t>
            </a:r>
          </a:p>
          <a:p>
            <a:pPr lvl="0"/>
            <a:r>
              <a:rPr dirty="0"/>
              <a:t>DevOps Engineer</a:t>
            </a:r>
          </a:p>
          <a:p>
            <a:pPr lvl="0"/>
            <a:r>
              <a:rPr dirty="0"/>
              <a:t>DevTest Engineer</a:t>
            </a:r>
          </a:p>
          <a:p>
            <a:pPr lvl="0"/>
            <a:r>
              <a:rPr dirty="0"/>
              <a:t>SRE (Site Reliability Engineer)</a:t>
            </a:r>
          </a:p>
        </p:txBody>
      </p:sp>
    </p:spTree>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Product Manager</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169988526"/>
              </p:ext>
            </p:extLst>
          </p:nvPr>
        </p:nvGraphicFramePr>
        <p:xfrm>
          <a:off x="457200" y="1193800"/>
          <a:ext cx="8229600" cy="2811780"/>
        </p:xfrm>
        <a:graphic>
          <a:graphicData uri="http://schemas.openxmlformats.org/drawingml/2006/table">
            <a:tbl>
              <a:tblPr firstRow="1" bandRow="1">
                <a:tableStyleId>{FABFCF23-3B69-468F-B69F-88F6DE6A72F2}</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0">
                <a:tc>
                  <a:txBody>
                    <a:bodyPr/>
                    <a:lstStyle/>
                    <a:p>
                      <a:pPr marL="0" lvl="0" indent="0">
                        <a:buNone/>
                      </a:pPr>
                      <a:r>
                        <a:rPr b="1"/>
                        <a:t>Skills</a:t>
                      </a:r>
                    </a:p>
                  </a:txBody>
                  <a:tcPr/>
                </a:tc>
                <a:tc>
                  <a:txBody>
                    <a:bodyPr/>
                    <a:lstStyle/>
                    <a:p>
                      <a:pPr marL="0" lvl="0" indent="0">
                        <a:buNone/>
                      </a:pPr>
                      <a:r>
                        <a:rPr b="1"/>
                        <a:t>Responsibilities</a:t>
                      </a:r>
                    </a:p>
                  </a:txBody>
                  <a:tcPr/>
                </a:tc>
                <a:extLst>
                  <a:ext uri="{0D108BD9-81ED-4DB2-BD59-A6C34878D82A}">
                    <a16:rowId xmlns:a16="http://schemas.microsoft.com/office/drawing/2014/main" val="10000"/>
                  </a:ext>
                </a:extLst>
              </a:tr>
              <a:tr h="0">
                <a:tc>
                  <a:txBody>
                    <a:bodyPr/>
                    <a:lstStyle/>
                    <a:p>
                      <a:pPr marL="0" lvl="0" indent="0">
                        <a:buNone/>
                      </a:pPr>
                      <a:r>
                        <a:rPr b="1"/>
                        <a:t>Requirements Translation</a:t>
                      </a:r>
                      <a:r>
                        <a:t> - Convert business needs into precise technical prompts</a:t>
                      </a:r>
                    </a:p>
                  </a:txBody>
                  <a:tcPr/>
                </a:tc>
                <a:tc>
                  <a:txBody>
                    <a:bodyPr/>
                    <a:lstStyle/>
                    <a:p>
                      <a:pPr marL="0" lvl="0" indent="0">
                        <a:buNone/>
                      </a:pPr>
                      <a:r>
                        <a:rPr b="1"/>
                        <a:t>Requirement Validation</a:t>
                      </a:r>
                      <a:r>
                        <a:t> - Ensure AI-generated requirements align with business objectives</a:t>
                      </a:r>
                    </a:p>
                  </a:txBody>
                  <a:tcPr/>
                </a:tc>
                <a:extLst>
                  <a:ext uri="{0D108BD9-81ED-4DB2-BD59-A6C34878D82A}">
                    <a16:rowId xmlns:a16="http://schemas.microsoft.com/office/drawing/2014/main" val="10001"/>
                  </a:ext>
                </a:extLst>
              </a:tr>
              <a:tr h="0">
                <a:tc>
                  <a:txBody>
                    <a:bodyPr/>
                    <a:lstStyle/>
                    <a:p>
                      <a:pPr marL="0" lvl="0" indent="0">
                        <a:buNone/>
                      </a:pPr>
                      <a:r>
                        <a:rPr b="1"/>
                        <a:t>Context Management</a:t>
                      </a:r>
                      <a:r>
                        <a:t> - Maintain conversation threads for complex feature discussions</a:t>
                      </a:r>
                    </a:p>
                  </a:txBody>
                  <a:tcPr/>
                </a:tc>
                <a:tc>
                  <a:txBody>
                    <a:bodyPr/>
                    <a:lstStyle/>
                    <a:p>
                      <a:pPr marL="0" lvl="0" indent="0">
                        <a:buNone/>
                      </a:pPr>
                      <a:r>
                        <a:rPr b="1"/>
                        <a:t>Quality Assurance</a:t>
                      </a:r>
                      <a:r>
                        <a:t> - Review AI outputs for accuracy, completeness, and feasibility</a:t>
                      </a:r>
                    </a:p>
                  </a:txBody>
                  <a:tcPr/>
                </a:tc>
                <a:extLst>
                  <a:ext uri="{0D108BD9-81ED-4DB2-BD59-A6C34878D82A}">
                    <a16:rowId xmlns:a16="http://schemas.microsoft.com/office/drawing/2014/main" val="10002"/>
                  </a:ext>
                </a:extLst>
              </a:tr>
              <a:tr h="0">
                <a:tc>
                  <a:txBody>
                    <a:bodyPr/>
                    <a:lstStyle/>
                    <a:p>
                      <a:pPr marL="0" lvl="0" indent="0">
                        <a:buNone/>
                      </a:pPr>
                      <a:r>
                        <a:rPr b="1"/>
                        <a:t>Documentation Review</a:t>
                      </a:r>
                      <a:r>
                        <a:t> - Evaluate AI-generated specs, user stories, and technical docs</a:t>
                      </a:r>
                    </a:p>
                  </a:txBody>
                  <a:tcPr/>
                </a:tc>
                <a:tc>
                  <a:txBody>
                    <a:bodyPr/>
                    <a:lstStyle/>
                    <a:p>
                      <a:pPr marL="0" lvl="0" indent="0">
                        <a:buNone/>
                      </a:pPr>
                      <a:r>
                        <a:rPr b="1"/>
                        <a:t>Cross-functional Alignment</a:t>
                      </a:r>
                      <a:r>
                        <a:t> - Coordinate AI-assisted planning across development teams</a:t>
                      </a:r>
                    </a:p>
                  </a:txBody>
                  <a:tcPr/>
                </a:tc>
                <a:extLst>
                  <a:ext uri="{0D108BD9-81ED-4DB2-BD59-A6C34878D82A}">
                    <a16:rowId xmlns:a16="http://schemas.microsoft.com/office/drawing/2014/main" val="10003"/>
                  </a:ext>
                </a:extLst>
              </a:tr>
              <a:tr h="0">
                <a:tc>
                  <a:txBody>
                    <a:bodyPr/>
                    <a:lstStyle/>
                    <a:p>
                      <a:pPr marL="0" lvl="0" indent="0">
                        <a:buNone/>
                      </a:pPr>
                      <a:r>
                        <a:rPr b="1"/>
                        <a:t>Stakeholder Communication</a:t>
                      </a:r>
                      <a:r>
                        <a:t> - Present AI-assisted analysis to technical and business teams</a:t>
                      </a:r>
                    </a:p>
                  </a:txBody>
                  <a:tcPr/>
                </a:tc>
                <a:tc>
                  <a:txBody>
                    <a:bodyPr/>
                    <a:lstStyle/>
                    <a:p>
                      <a:pPr marL="0" lvl="0" indent="0">
                        <a:buNone/>
                      </a:pPr>
                      <a:r>
                        <a:rPr b="1"/>
                        <a:t>Risk Assessment</a:t>
                      </a:r>
                      <a:r>
                        <a:t> - Identify potential issues in AI-suggested technical approaches</a:t>
                      </a:r>
                    </a:p>
                  </a:txBody>
                  <a:tcPr/>
                </a:tc>
                <a:extLst>
                  <a:ext uri="{0D108BD9-81ED-4DB2-BD59-A6C34878D82A}">
                    <a16:rowId xmlns:a16="http://schemas.microsoft.com/office/drawing/2014/main" val="10004"/>
                  </a:ext>
                </a:extLst>
              </a:tr>
              <a:tr h="0">
                <a:tc>
                  <a:txBody>
                    <a:bodyPr/>
                    <a:lstStyle/>
                    <a:p>
                      <a:pPr marL="0" lvl="0" indent="0">
                        <a:buNone/>
                      </a:pPr>
                      <a:r>
                        <a:rPr b="1"/>
                        <a:t>Iterative Refinement</a:t>
                      </a:r>
                      <a:r>
                        <a:t> - Guide AI through multiple rounds of requirement clarification</a:t>
                      </a:r>
                    </a:p>
                  </a:txBody>
                  <a:tcPr/>
                </a:tc>
                <a:tc>
                  <a:txBody>
                    <a:bodyPr/>
                    <a:lstStyle/>
                    <a:p>
                      <a:pPr marL="0" lvl="0" indent="0">
                        <a:buNone/>
                      </a:pPr>
                      <a:r>
                        <a:rPr b="1" dirty="0"/>
                        <a:t>Delivery Tracking</a:t>
                      </a:r>
                      <a:r>
                        <a:rPr dirty="0"/>
                        <a:t> - Use AI insights to monitor progress and adjust roadmaps accordingly</a:t>
                      </a:r>
                    </a:p>
                  </a:txBody>
                  <a:tcPr/>
                </a:tc>
                <a:extLst>
                  <a:ext uri="{0D108BD9-81ED-4DB2-BD59-A6C34878D82A}">
                    <a16:rowId xmlns:a16="http://schemas.microsoft.com/office/drawing/2014/main" val="10005"/>
                  </a:ext>
                </a:extLst>
              </a:tr>
            </a:tbl>
          </a:graphicData>
        </a:graphic>
      </p:graphicFrame>
    </p:spTree>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Solution Architect</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2053803056"/>
              </p:ext>
            </p:extLst>
          </p:nvPr>
        </p:nvGraphicFramePr>
        <p:xfrm>
          <a:off x="457200" y="1193800"/>
          <a:ext cx="8229600" cy="2811780"/>
        </p:xfrm>
        <a:graphic>
          <a:graphicData uri="http://schemas.openxmlformats.org/drawingml/2006/table">
            <a:tbl>
              <a:tblPr firstRow="1" bandRow="1">
                <a:tableStyleId>{FABFCF23-3B69-468F-B69F-88F6DE6A72F2}</a:tableStyleId>
              </a:tblPr>
              <a:tblGrid>
                <a:gridCol w="4178300">
                  <a:extLst>
                    <a:ext uri="{9D8B030D-6E8A-4147-A177-3AD203B41FA5}">
                      <a16:colId xmlns:a16="http://schemas.microsoft.com/office/drawing/2014/main" val="20000"/>
                    </a:ext>
                  </a:extLst>
                </a:gridCol>
                <a:gridCol w="4051300">
                  <a:extLst>
                    <a:ext uri="{9D8B030D-6E8A-4147-A177-3AD203B41FA5}">
                      <a16:colId xmlns:a16="http://schemas.microsoft.com/office/drawing/2014/main" val="20001"/>
                    </a:ext>
                  </a:extLst>
                </a:gridCol>
              </a:tblGrid>
              <a:tr h="0">
                <a:tc>
                  <a:txBody>
                    <a:bodyPr/>
                    <a:lstStyle/>
                    <a:p>
                      <a:pPr marL="0" lvl="0" indent="0">
                        <a:buNone/>
                      </a:pPr>
                      <a:r>
                        <a:rPr b="1"/>
                        <a:t>Skills</a:t>
                      </a:r>
                    </a:p>
                  </a:txBody>
                  <a:tcPr/>
                </a:tc>
                <a:tc>
                  <a:txBody>
                    <a:bodyPr/>
                    <a:lstStyle/>
                    <a:p>
                      <a:pPr marL="0" lvl="0" indent="0">
                        <a:buNone/>
                      </a:pPr>
                      <a:r>
                        <a:rPr b="1"/>
                        <a:t>Responsibilities</a:t>
                      </a:r>
                    </a:p>
                  </a:txBody>
                  <a:tcPr/>
                </a:tc>
                <a:extLst>
                  <a:ext uri="{0D108BD9-81ED-4DB2-BD59-A6C34878D82A}">
                    <a16:rowId xmlns:a16="http://schemas.microsoft.com/office/drawing/2014/main" val="10000"/>
                  </a:ext>
                </a:extLst>
              </a:tr>
              <a:tr h="0">
                <a:tc>
                  <a:txBody>
                    <a:bodyPr/>
                    <a:lstStyle/>
                    <a:p>
                      <a:pPr marL="0" lvl="0" indent="0">
                        <a:buNone/>
                      </a:pPr>
                      <a:r>
                        <a:rPr b="1" dirty="0"/>
                        <a:t>Architecture Prompting</a:t>
                      </a:r>
                      <a:r>
                        <a:rPr dirty="0"/>
                        <a:t> - Frame complex system design questions for optimal AI responses</a:t>
                      </a:r>
                    </a:p>
                  </a:txBody>
                  <a:tcPr/>
                </a:tc>
                <a:tc>
                  <a:txBody>
                    <a:bodyPr/>
                    <a:lstStyle/>
                    <a:p>
                      <a:pPr marL="0" lvl="0" indent="0">
                        <a:buNone/>
                      </a:pPr>
                      <a:r>
                        <a:rPr b="1"/>
                        <a:t>Design Validation</a:t>
                      </a:r>
                      <a:r>
                        <a:t> - Verify AI-generated architectural decisions against enterprise standards</a:t>
                      </a:r>
                    </a:p>
                  </a:txBody>
                  <a:tcPr/>
                </a:tc>
                <a:extLst>
                  <a:ext uri="{0D108BD9-81ED-4DB2-BD59-A6C34878D82A}">
                    <a16:rowId xmlns:a16="http://schemas.microsoft.com/office/drawing/2014/main" val="10001"/>
                  </a:ext>
                </a:extLst>
              </a:tr>
              <a:tr h="0">
                <a:tc>
                  <a:txBody>
                    <a:bodyPr/>
                    <a:lstStyle/>
                    <a:p>
                      <a:pPr marL="0" lvl="0" indent="0">
                        <a:buNone/>
                      </a:pPr>
                      <a:r>
                        <a:rPr b="1"/>
                        <a:t>Pattern Recognition</a:t>
                      </a:r>
                      <a:r>
                        <a:t> - Identify and validate AI-suggested architectural patterns and anti-patterns</a:t>
                      </a:r>
                    </a:p>
                  </a:txBody>
                  <a:tcPr/>
                </a:tc>
                <a:tc>
                  <a:txBody>
                    <a:bodyPr/>
                    <a:lstStyle/>
                    <a:p>
                      <a:pPr marL="0" lvl="0" indent="0">
                        <a:buNone/>
                      </a:pPr>
                      <a:r>
                        <a:rPr b="1"/>
                        <a:t>Technical Governance</a:t>
                      </a:r>
                      <a:r>
                        <a:t> - Ensure AI-assisted designs follow organizational guidelines</a:t>
                      </a:r>
                    </a:p>
                  </a:txBody>
                  <a:tcPr/>
                </a:tc>
                <a:extLst>
                  <a:ext uri="{0D108BD9-81ED-4DB2-BD59-A6C34878D82A}">
                    <a16:rowId xmlns:a16="http://schemas.microsoft.com/office/drawing/2014/main" val="10002"/>
                  </a:ext>
                </a:extLst>
              </a:tr>
              <a:tr h="0">
                <a:tc>
                  <a:txBody>
                    <a:bodyPr/>
                    <a:lstStyle/>
                    <a:p>
                      <a:pPr marL="0" lvl="0" indent="0">
                        <a:buNone/>
                      </a:pPr>
                      <a:r>
                        <a:rPr b="1"/>
                        <a:t>Technology Evaluation</a:t>
                      </a:r>
                      <a:r>
                        <a:t> - Assess AI recommendations for technology stack decisions</a:t>
                      </a:r>
                    </a:p>
                  </a:txBody>
                  <a:tcPr/>
                </a:tc>
                <a:tc>
                  <a:txBody>
                    <a:bodyPr/>
                    <a:lstStyle/>
                    <a:p>
                      <a:pPr marL="0" lvl="0" indent="0">
                        <a:buNone/>
                      </a:pPr>
                      <a:r>
                        <a:rPr b="1"/>
                        <a:t>Risk Mitigation</a:t>
                      </a:r>
                      <a:r>
                        <a:t> - Evaluate AI suggestions for security, performance, and maintainability risks</a:t>
                      </a:r>
                    </a:p>
                  </a:txBody>
                  <a:tcPr/>
                </a:tc>
                <a:extLst>
                  <a:ext uri="{0D108BD9-81ED-4DB2-BD59-A6C34878D82A}">
                    <a16:rowId xmlns:a16="http://schemas.microsoft.com/office/drawing/2014/main" val="10003"/>
                  </a:ext>
                </a:extLst>
              </a:tr>
              <a:tr h="0">
                <a:tc>
                  <a:txBody>
                    <a:bodyPr/>
                    <a:lstStyle/>
                    <a:p>
                      <a:pPr marL="0" lvl="0" indent="0">
                        <a:buNone/>
                      </a:pPr>
                      <a:r>
                        <a:rPr b="1"/>
                        <a:t>Scalability Analysis</a:t>
                      </a:r>
                      <a:r>
                        <a:t> - Guide AI through performance and scalability considerations</a:t>
                      </a:r>
                    </a:p>
                  </a:txBody>
                  <a:tcPr/>
                </a:tc>
                <a:tc>
                  <a:txBody>
                    <a:bodyPr/>
                    <a:lstStyle/>
                    <a:p>
                      <a:pPr marL="0" lvl="0" indent="0">
                        <a:buNone/>
                      </a:pPr>
                      <a:r>
                        <a:rPr b="1"/>
                        <a:t>Knowledge Sharing</a:t>
                      </a:r>
                      <a:r>
                        <a:t> - Document and communicate AI-derived architectural insights</a:t>
                      </a:r>
                    </a:p>
                  </a:txBody>
                  <a:tcPr/>
                </a:tc>
                <a:extLst>
                  <a:ext uri="{0D108BD9-81ED-4DB2-BD59-A6C34878D82A}">
                    <a16:rowId xmlns:a16="http://schemas.microsoft.com/office/drawing/2014/main" val="10004"/>
                  </a:ext>
                </a:extLst>
              </a:tr>
              <a:tr h="0">
                <a:tc>
                  <a:txBody>
                    <a:bodyPr/>
                    <a:lstStyle/>
                    <a:p>
                      <a:pPr marL="0" lvl="0" indent="0">
                        <a:buNone/>
                      </a:pPr>
                      <a:r>
                        <a:rPr b="1"/>
                        <a:t>Integration Planning</a:t>
                      </a:r>
                      <a:r>
                        <a:t> - Use AI to model system interactions and API designs</a:t>
                      </a:r>
                    </a:p>
                  </a:txBody>
                  <a:tcPr/>
                </a:tc>
                <a:tc>
                  <a:txBody>
                    <a:bodyPr/>
                    <a:lstStyle/>
                    <a:p>
                      <a:pPr marL="0" lvl="0" indent="0">
                        <a:buNone/>
                      </a:pPr>
                      <a:r>
                        <a:rPr b="1" dirty="0"/>
                        <a:t>Standards Compliance</a:t>
                      </a:r>
                      <a:r>
                        <a:rPr dirty="0"/>
                        <a:t> - Maintain adherence to coding standards and architectural principles</a:t>
                      </a:r>
                    </a:p>
                  </a:txBody>
                  <a:tcPr/>
                </a:tc>
                <a:extLst>
                  <a:ext uri="{0D108BD9-81ED-4DB2-BD59-A6C34878D82A}">
                    <a16:rowId xmlns:a16="http://schemas.microsoft.com/office/drawing/2014/main" val="10005"/>
                  </a:ext>
                </a:extLst>
              </a:tr>
            </a:tbl>
          </a:graphicData>
        </a:graphic>
      </p:graphicFrame>
    </p:spTree>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Senior Developer</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644197032"/>
              </p:ext>
            </p:extLst>
          </p:nvPr>
        </p:nvGraphicFramePr>
        <p:xfrm>
          <a:off x="457200" y="1193800"/>
          <a:ext cx="8229600" cy="2811780"/>
        </p:xfrm>
        <a:graphic>
          <a:graphicData uri="http://schemas.openxmlformats.org/drawingml/2006/table">
            <a:tbl>
              <a:tblPr firstRow="1" bandRow="1">
                <a:tableStyleId>{FABFCF23-3B69-468F-B69F-88F6DE6A72F2}</a:tableStyleId>
              </a:tblPr>
              <a:tblGrid>
                <a:gridCol w="3771900">
                  <a:extLst>
                    <a:ext uri="{9D8B030D-6E8A-4147-A177-3AD203B41FA5}">
                      <a16:colId xmlns:a16="http://schemas.microsoft.com/office/drawing/2014/main" val="20000"/>
                    </a:ext>
                  </a:extLst>
                </a:gridCol>
                <a:gridCol w="4457700">
                  <a:extLst>
                    <a:ext uri="{9D8B030D-6E8A-4147-A177-3AD203B41FA5}">
                      <a16:colId xmlns:a16="http://schemas.microsoft.com/office/drawing/2014/main" val="20001"/>
                    </a:ext>
                  </a:extLst>
                </a:gridCol>
              </a:tblGrid>
              <a:tr h="0">
                <a:tc>
                  <a:txBody>
                    <a:bodyPr/>
                    <a:lstStyle/>
                    <a:p>
                      <a:pPr marL="0" lvl="0" indent="0">
                        <a:buNone/>
                      </a:pPr>
                      <a:r>
                        <a:rPr b="1"/>
                        <a:t>Skills</a:t>
                      </a:r>
                    </a:p>
                  </a:txBody>
                  <a:tcPr/>
                </a:tc>
                <a:tc>
                  <a:txBody>
                    <a:bodyPr/>
                    <a:lstStyle/>
                    <a:p>
                      <a:pPr marL="0" lvl="0" indent="0">
                        <a:buNone/>
                      </a:pPr>
                      <a:r>
                        <a:rPr b="1"/>
                        <a:t>Responsibilities</a:t>
                      </a:r>
                    </a:p>
                  </a:txBody>
                  <a:tcPr/>
                </a:tc>
                <a:extLst>
                  <a:ext uri="{0D108BD9-81ED-4DB2-BD59-A6C34878D82A}">
                    <a16:rowId xmlns:a16="http://schemas.microsoft.com/office/drawing/2014/main" val="10000"/>
                  </a:ext>
                </a:extLst>
              </a:tr>
              <a:tr h="0">
                <a:tc>
                  <a:txBody>
                    <a:bodyPr/>
                    <a:lstStyle/>
                    <a:p>
                      <a:pPr marL="0" lvl="0" indent="0">
                        <a:buNone/>
                      </a:pPr>
                      <a:r>
                        <a:rPr b="1" dirty="0"/>
                        <a:t>Code Generation Prompting</a:t>
                      </a:r>
                      <a:r>
                        <a:rPr dirty="0"/>
                        <a:t> - Craft precise requests for complex code implementations</a:t>
                      </a:r>
                    </a:p>
                  </a:txBody>
                  <a:tcPr/>
                </a:tc>
                <a:tc>
                  <a:txBody>
                    <a:bodyPr/>
                    <a:lstStyle/>
                    <a:p>
                      <a:pPr marL="0" lvl="0" indent="0">
                        <a:buNone/>
                      </a:pPr>
                      <a:r>
                        <a:rPr b="1"/>
                        <a:t>Code Quality Assurance</a:t>
                      </a:r>
                      <a:r>
                        <a:t> - Validate AI-generated code for correctness, efficiency, and maintainability</a:t>
                      </a:r>
                    </a:p>
                  </a:txBody>
                  <a:tcPr/>
                </a:tc>
                <a:extLst>
                  <a:ext uri="{0D108BD9-81ED-4DB2-BD59-A6C34878D82A}">
                    <a16:rowId xmlns:a16="http://schemas.microsoft.com/office/drawing/2014/main" val="10001"/>
                  </a:ext>
                </a:extLst>
              </a:tr>
              <a:tr h="0">
                <a:tc>
                  <a:txBody>
                    <a:bodyPr/>
                    <a:lstStyle/>
                    <a:p>
                      <a:pPr marL="0" lvl="0" indent="0">
                        <a:buNone/>
                      </a:pPr>
                      <a:r>
                        <a:rPr b="1"/>
                        <a:t>Debug Assistance</a:t>
                      </a:r>
                      <a:r>
                        <a:t> - Effectively use AI for troubleshooting and error resolution</a:t>
                      </a:r>
                    </a:p>
                  </a:txBody>
                  <a:tcPr/>
                </a:tc>
                <a:tc>
                  <a:txBody>
                    <a:bodyPr/>
                    <a:lstStyle/>
                    <a:p>
                      <a:pPr marL="0" lvl="0" indent="0">
                        <a:buNone/>
                      </a:pPr>
                      <a:r>
                        <a:rPr b="1"/>
                        <a:t>Security Review</a:t>
                      </a:r>
                      <a:r>
                        <a:t> - Ensure AI-suggested code follows security best practices</a:t>
                      </a:r>
                    </a:p>
                  </a:txBody>
                  <a:tcPr/>
                </a:tc>
                <a:extLst>
                  <a:ext uri="{0D108BD9-81ED-4DB2-BD59-A6C34878D82A}">
                    <a16:rowId xmlns:a16="http://schemas.microsoft.com/office/drawing/2014/main" val="10002"/>
                  </a:ext>
                </a:extLst>
              </a:tr>
              <a:tr h="0">
                <a:tc>
                  <a:txBody>
                    <a:bodyPr/>
                    <a:lstStyle/>
                    <a:p>
                      <a:pPr marL="0" lvl="0" indent="0">
                        <a:buNone/>
                      </a:pPr>
                      <a:r>
                        <a:rPr b="1"/>
                        <a:t>Code Review with AI</a:t>
                      </a:r>
                      <a:r>
                        <a:t> - Combine human experience with AI analysis for thorough reviews</a:t>
                      </a:r>
                    </a:p>
                  </a:txBody>
                  <a:tcPr/>
                </a:tc>
                <a:tc>
                  <a:txBody>
                    <a:bodyPr/>
                    <a:lstStyle/>
                    <a:p>
                      <a:pPr marL="0" lvl="0" indent="0">
                        <a:buNone/>
                      </a:pPr>
                      <a:r>
                        <a:rPr b="1"/>
                        <a:t>Performance Optimization</a:t>
                      </a:r>
                      <a:r>
                        <a:t> - Analyze AI recommendations for potential performance impacts</a:t>
                      </a:r>
                    </a:p>
                  </a:txBody>
                  <a:tcPr/>
                </a:tc>
                <a:extLst>
                  <a:ext uri="{0D108BD9-81ED-4DB2-BD59-A6C34878D82A}">
                    <a16:rowId xmlns:a16="http://schemas.microsoft.com/office/drawing/2014/main" val="10003"/>
                  </a:ext>
                </a:extLst>
              </a:tr>
              <a:tr h="0">
                <a:tc>
                  <a:txBody>
                    <a:bodyPr/>
                    <a:lstStyle/>
                    <a:p>
                      <a:pPr marL="0" lvl="0" indent="0">
                        <a:buNone/>
                      </a:pPr>
                      <a:r>
                        <a:rPr b="1"/>
                        <a:t>Refactoring Guidance</a:t>
                      </a:r>
                      <a:r>
                        <a:t> - Leverage AI for code improvement and optimization suggestions</a:t>
                      </a:r>
                    </a:p>
                  </a:txBody>
                  <a:tcPr/>
                </a:tc>
                <a:tc>
                  <a:txBody>
                    <a:bodyPr/>
                    <a:lstStyle/>
                    <a:p>
                      <a:pPr marL="0" lvl="0" indent="0">
                        <a:buNone/>
                      </a:pPr>
                      <a:r>
                        <a:rPr b="1"/>
                        <a:t>Mentorship Integration</a:t>
                      </a:r>
                      <a:r>
                        <a:t> - Guide junior developers in effective AI-assisted development</a:t>
                      </a:r>
                    </a:p>
                  </a:txBody>
                  <a:tcPr/>
                </a:tc>
                <a:extLst>
                  <a:ext uri="{0D108BD9-81ED-4DB2-BD59-A6C34878D82A}">
                    <a16:rowId xmlns:a16="http://schemas.microsoft.com/office/drawing/2014/main" val="10004"/>
                  </a:ext>
                </a:extLst>
              </a:tr>
              <a:tr h="0">
                <a:tc>
                  <a:txBody>
                    <a:bodyPr/>
                    <a:lstStyle/>
                    <a:p>
                      <a:pPr marL="0" lvl="0" indent="0">
                        <a:buNone/>
                      </a:pPr>
                      <a:r>
                        <a:rPr b="1"/>
                        <a:t>Testing Strategy</a:t>
                      </a:r>
                      <a:r>
                        <a:t> - Use AI to generate comprehensive test cases and scenarios</a:t>
                      </a:r>
                    </a:p>
                  </a:txBody>
                  <a:tcPr/>
                </a:tc>
                <a:tc>
                  <a:txBody>
                    <a:bodyPr/>
                    <a:lstStyle/>
                    <a:p>
                      <a:pPr marL="0" lvl="0" indent="0">
                        <a:buNone/>
                      </a:pPr>
                      <a:r>
                        <a:rPr b="1" dirty="0"/>
                        <a:t>Technical Debt Management</a:t>
                      </a:r>
                      <a:r>
                        <a:rPr dirty="0"/>
                        <a:t> - Use AI insights to identify and prioritize technical debt reduction</a:t>
                      </a:r>
                    </a:p>
                  </a:txBody>
                  <a:tcPr/>
                </a:tc>
                <a:extLst>
                  <a:ext uri="{0D108BD9-81ED-4DB2-BD59-A6C34878D82A}">
                    <a16:rowId xmlns:a16="http://schemas.microsoft.com/office/drawing/2014/main" val="10005"/>
                  </a:ext>
                </a:extLst>
              </a:tr>
            </a:tbl>
          </a:graphicData>
        </a:graphic>
      </p:graphicFrame>
    </p:spTree>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Technical Writer</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3357913608"/>
              </p:ext>
            </p:extLst>
          </p:nvPr>
        </p:nvGraphicFramePr>
        <p:xfrm>
          <a:off x="457200" y="1193800"/>
          <a:ext cx="8229600" cy="2811780"/>
        </p:xfrm>
        <a:graphic>
          <a:graphicData uri="http://schemas.openxmlformats.org/drawingml/2006/table">
            <a:tbl>
              <a:tblPr firstRow="1" bandRow="1">
                <a:tableStyleId>{FABFCF23-3B69-468F-B69F-88F6DE6A72F2}</a:tableStyleId>
              </a:tblPr>
              <a:tblGrid>
                <a:gridCol w="4025900">
                  <a:extLst>
                    <a:ext uri="{9D8B030D-6E8A-4147-A177-3AD203B41FA5}">
                      <a16:colId xmlns:a16="http://schemas.microsoft.com/office/drawing/2014/main" val="20000"/>
                    </a:ext>
                  </a:extLst>
                </a:gridCol>
                <a:gridCol w="4203700">
                  <a:extLst>
                    <a:ext uri="{9D8B030D-6E8A-4147-A177-3AD203B41FA5}">
                      <a16:colId xmlns:a16="http://schemas.microsoft.com/office/drawing/2014/main" val="20001"/>
                    </a:ext>
                  </a:extLst>
                </a:gridCol>
              </a:tblGrid>
              <a:tr h="0">
                <a:tc>
                  <a:txBody>
                    <a:bodyPr/>
                    <a:lstStyle/>
                    <a:p>
                      <a:pPr marL="0" lvl="0" indent="0">
                        <a:buNone/>
                      </a:pPr>
                      <a:r>
                        <a:rPr b="1"/>
                        <a:t>Skills</a:t>
                      </a:r>
                    </a:p>
                  </a:txBody>
                  <a:tcPr/>
                </a:tc>
                <a:tc>
                  <a:txBody>
                    <a:bodyPr/>
                    <a:lstStyle/>
                    <a:p>
                      <a:pPr marL="0" lvl="0" indent="0">
                        <a:buNone/>
                      </a:pPr>
                      <a:r>
                        <a:rPr b="1"/>
                        <a:t>Responsibilities</a:t>
                      </a:r>
                    </a:p>
                  </a:txBody>
                  <a:tcPr/>
                </a:tc>
                <a:extLst>
                  <a:ext uri="{0D108BD9-81ED-4DB2-BD59-A6C34878D82A}">
                    <a16:rowId xmlns:a16="http://schemas.microsoft.com/office/drawing/2014/main" val="10000"/>
                  </a:ext>
                </a:extLst>
              </a:tr>
              <a:tr h="0">
                <a:tc>
                  <a:txBody>
                    <a:bodyPr/>
                    <a:lstStyle/>
                    <a:p>
                      <a:pPr marL="0" lvl="0" indent="0">
                        <a:buNone/>
                      </a:pPr>
                      <a:r>
                        <a:rPr b="1" dirty="0"/>
                        <a:t>Content Structuring</a:t>
                      </a:r>
                      <a:r>
                        <a:rPr dirty="0"/>
                        <a:t> - Guide AI to create well-organized, logical documentation flow</a:t>
                      </a:r>
                    </a:p>
                  </a:txBody>
                  <a:tcPr/>
                </a:tc>
                <a:tc>
                  <a:txBody>
                    <a:bodyPr/>
                    <a:lstStyle/>
                    <a:p>
                      <a:pPr marL="0" lvl="0" indent="0">
                        <a:buNone/>
                      </a:pPr>
                      <a:r>
                        <a:rPr b="1"/>
                        <a:t>Content Accuracy</a:t>
                      </a:r>
                      <a:r>
                        <a:t> - Ensure all AI-generated documentation is technically correct and current</a:t>
                      </a:r>
                    </a:p>
                  </a:txBody>
                  <a:tcPr/>
                </a:tc>
                <a:extLst>
                  <a:ext uri="{0D108BD9-81ED-4DB2-BD59-A6C34878D82A}">
                    <a16:rowId xmlns:a16="http://schemas.microsoft.com/office/drawing/2014/main" val="10001"/>
                  </a:ext>
                </a:extLst>
              </a:tr>
              <a:tr h="0">
                <a:tc>
                  <a:txBody>
                    <a:bodyPr/>
                    <a:lstStyle/>
                    <a:p>
                      <a:pPr marL="0" lvl="0" indent="0">
                        <a:buNone/>
                      </a:pPr>
                      <a:r>
                        <a:rPr b="1"/>
                        <a:t>Audience Adaptation</a:t>
                      </a:r>
                      <a:r>
                        <a:t> - Adjust AI outputs for different technical skill levels and roles</a:t>
                      </a:r>
                    </a:p>
                  </a:txBody>
                  <a:tcPr/>
                </a:tc>
                <a:tc>
                  <a:txBody>
                    <a:bodyPr/>
                    <a:lstStyle/>
                    <a:p>
                      <a:pPr marL="0" lvl="0" indent="0">
                        <a:buNone/>
                      </a:pPr>
                      <a:r>
                        <a:rPr b="1"/>
                        <a:t>Editorial Standards</a:t>
                      </a:r>
                      <a:r>
                        <a:t> - Maintain quality, clarity, and consistency in AI-assisted content</a:t>
                      </a:r>
                    </a:p>
                  </a:txBody>
                  <a:tcPr/>
                </a:tc>
                <a:extLst>
                  <a:ext uri="{0D108BD9-81ED-4DB2-BD59-A6C34878D82A}">
                    <a16:rowId xmlns:a16="http://schemas.microsoft.com/office/drawing/2014/main" val="10002"/>
                  </a:ext>
                </a:extLst>
              </a:tr>
              <a:tr h="0">
                <a:tc>
                  <a:txBody>
                    <a:bodyPr/>
                    <a:lstStyle/>
                    <a:p>
                      <a:pPr marL="0" lvl="0" indent="0">
                        <a:buNone/>
                      </a:pPr>
                      <a:r>
                        <a:rPr b="1"/>
                        <a:t>Style Consistency</a:t>
                      </a:r>
                      <a:r>
                        <a:t> - Maintain organizational voice and formatting standards in AI content</a:t>
                      </a:r>
                    </a:p>
                  </a:txBody>
                  <a:tcPr/>
                </a:tc>
                <a:tc>
                  <a:txBody>
                    <a:bodyPr/>
                    <a:lstStyle/>
                    <a:p>
                      <a:pPr marL="0" lvl="0" indent="0">
                        <a:buNone/>
                      </a:pPr>
                      <a:r>
                        <a:rPr b="1"/>
                        <a:t>User Experience</a:t>
                      </a:r>
                      <a:r>
                        <a:t> - Optimize AI-generated docs for end-user comprehension and usability</a:t>
                      </a:r>
                    </a:p>
                  </a:txBody>
                  <a:tcPr/>
                </a:tc>
                <a:extLst>
                  <a:ext uri="{0D108BD9-81ED-4DB2-BD59-A6C34878D82A}">
                    <a16:rowId xmlns:a16="http://schemas.microsoft.com/office/drawing/2014/main" val="10003"/>
                  </a:ext>
                </a:extLst>
              </a:tr>
              <a:tr h="0">
                <a:tc>
                  <a:txBody>
                    <a:bodyPr/>
                    <a:lstStyle/>
                    <a:p>
                      <a:pPr marL="0" lvl="0" indent="0">
                        <a:buNone/>
                      </a:pPr>
                      <a:r>
                        <a:rPr b="1"/>
                        <a:t>Technical Verification</a:t>
                      </a:r>
                      <a:r>
                        <a:t> - Validate AI-generated technical content for accuracy</a:t>
                      </a:r>
                    </a:p>
                  </a:txBody>
                  <a:tcPr/>
                </a:tc>
                <a:tc>
                  <a:txBody>
                    <a:bodyPr/>
                    <a:lstStyle/>
                    <a:p>
                      <a:pPr marL="0" lvl="0" indent="0">
                        <a:buNone/>
                      </a:pPr>
                      <a:r>
                        <a:rPr b="1"/>
                        <a:t>Version Control</a:t>
                      </a:r>
                      <a:r>
                        <a:t> - Manage documentation updates and revisions with AI assistance</a:t>
                      </a:r>
                    </a:p>
                  </a:txBody>
                  <a:tcPr/>
                </a:tc>
                <a:extLst>
                  <a:ext uri="{0D108BD9-81ED-4DB2-BD59-A6C34878D82A}">
                    <a16:rowId xmlns:a16="http://schemas.microsoft.com/office/drawing/2014/main" val="10004"/>
                  </a:ext>
                </a:extLst>
              </a:tr>
              <a:tr h="0">
                <a:tc>
                  <a:txBody>
                    <a:bodyPr/>
                    <a:lstStyle/>
                    <a:p>
                      <a:pPr marL="0" lvl="0" indent="0">
                        <a:buNone/>
                      </a:pPr>
                      <a:r>
                        <a:rPr b="1"/>
                        <a:t>Multi-format Publishing</a:t>
                      </a:r>
                      <a:r>
                        <a:t> - Convert AI outputs across various documentation formats</a:t>
                      </a:r>
                    </a:p>
                  </a:txBody>
                  <a:tcPr/>
                </a:tc>
                <a:tc>
                  <a:txBody>
                    <a:bodyPr/>
                    <a:lstStyle/>
                    <a:p>
                      <a:pPr marL="0" lvl="0" indent="0">
                        <a:buNone/>
                      </a:pPr>
                      <a:r>
                        <a:rPr b="1" dirty="0"/>
                        <a:t>Cross-team Collaboration</a:t>
                      </a:r>
                      <a:r>
                        <a:rPr dirty="0"/>
                        <a:t> - Coordinate with SMEs to validate and enhance AI-generated content</a:t>
                      </a:r>
                    </a:p>
                  </a:txBody>
                  <a:tcPr/>
                </a:tc>
                <a:extLst>
                  <a:ext uri="{0D108BD9-81ED-4DB2-BD59-A6C34878D82A}">
                    <a16:rowId xmlns:a16="http://schemas.microsoft.com/office/drawing/2014/main" val="10005"/>
                  </a:ext>
                </a:extLst>
              </a:tr>
            </a:tbl>
          </a:graphicData>
        </a:graphic>
      </p:graphicFrame>
    </p:spTree>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Security Reviewer</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1450581366"/>
              </p:ext>
            </p:extLst>
          </p:nvPr>
        </p:nvGraphicFramePr>
        <p:xfrm>
          <a:off x="457200" y="1193800"/>
          <a:ext cx="8229600" cy="2811780"/>
        </p:xfrm>
        <a:graphic>
          <a:graphicData uri="http://schemas.openxmlformats.org/drawingml/2006/table">
            <a:tbl>
              <a:tblPr firstRow="1" bandRow="1">
                <a:tableStyleId>{FABFCF23-3B69-468F-B69F-88F6DE6A72F2}</a:tableStyleId>
              </a:tblPr>
              <a:tblGrid>
                <a:gridCol w="4013200">
                  <a:extLst>
                    <a:ext uri="{9D8B030D-6E8A-4147-A177-3AD203B41FA5}">
                      <a16:colId xmlns:a16="http://schemas.microsoft.com/office/drawing/2014/main" val="20000"/>
                    </a:ext>
                  </a:extLst>
                </a:gridCol>
                <a:gridCol w="4216400">
                  <a:extLst>
                    <a:ext uri="{9D8B030D-6E8A-4147-A177-3AD203B41FA5}">
                      <a16:colId xmlns:a16="http://schemas.microsoft.com/office/drawing/2014/main" val="20001"/>
                    </a:ext>
                  </a:extLst>
                </a:gridCol>
              </a:tblGrid>
              <a:tr h="0">
                <a:tc>
                  <a:txBody>
                    <a:bodyPr/>
                    <a:lstStyle/>
                    <a:p>
                      <a:pPr marL="0" lvl="0" indent="0">
                        <a:buNone/>
                      </a:pPr>
                      <a:r>
                        <a:rPr b="1"/>
                        <a:t>Skills</a:t>
                      </a:r>
                    </a:p>
                  </a:txBody>
                  <a:tcPr/>
                </a:tc>
                <a:tc>
                  <a:txBody>
                    <a:bodyPr/>
                    <a:lstStyle/>
                    <a:p>
                      <a:pPr marL="0" lvl="0" indent="0">
                        <a:buNone/>
                      </a:pPr>
                      <a:r>
                        <a:rPr b="1"/>
                        <a:t>Responsibilities</a:t>
                      </a:r>
                    </a:p>
                  </a:txBody>
                  <a:tcPr/>
                </a:tc>
                <a:extLst>
                  <a:ext uri="{0D108BD9-81ED-4DB2-BD59-A6C34878D82A}">
                    <a16:rowId xmlns:a16="http://schemas.microsoft.com/office/drawing/2014/main" val="10000"/>
                  </a:ext>
                </a:extLst>
              </a:tr>
              <a:tr h="0">
                <a:tc>
                  <a:txBody>
                    <a:bodyPr/>
                    <a:lstStyle/>
                    <a:p>
                      <a:pPr marL="0" lvl="0" indent="0">
                        <a:buNone/>
                      </a:pPr>
                      <a:r>
                        <a:rPr b="1"/>
                        <a:t>Threat Modeling</a:t>
                      </a:r>
                      <a:r>
                        <a:t> - Use AI to identify potential security vulnerabilities and attack vectors</a:t>
                      </a:r>
                    </a:p>
                  </a:txBody>
                  <a:tcPr/>
                </a:tc>
                <a:tc>
                  <a:txBody>
                    <a:bodyPr/>
                    <a:lstStyle/>
                    <a:p>
                      <a:pPr marL="0" lvl="0" indent="0">
                        <a:buNone/>
                      </a:pPr>
                      <a:r>
                        <a:rPr b="1"/>
                        <a:t>Vulnerability Assessment</a:t>
                      </a:r>
                      <a:r>
                        <a:t> - Validate AI-identified security issues and remediation strategies</a:t>
                      </a:r>
                    </a:p>
                  </a:txBody>
                  <a:tcPr/>
                </a:tc>
                <a:extLst>
                  <a:ext uri="{0D108BD9-81ED-4DB2-BD59-A6C34878D82A}">
                    <a16:rowId xmlns:a16="http://schemas.microsoft.com/office/drawing/2014/main" val="10001"/>
                  </a:ext>
                </a:extLst>
              </a:tr>
              <a:tr h="0">
                <a:tc>
                  <a:txBody>
                    <a:bodyPr/>
                    <a:lstStyle/>
                    <a:p>
                      <a:pPr marL="0" lvl="0" indent="0">
                        <a:buNone/>
                      </a:pPr>
                      <a:r>
                        <a:rPr b="1" dirty="0"/>
                        <a:t>Compliance Analysis</a:t>
                      </a:r>
                      <a:r>
                        <a:rPr dirty="0"/>
                        <a:t> - Leverage AI for regulatory and standards compliance checking</a:t>
                      </a:r>
                    </a:p>
                  </a:txBody>
                  <a:tcPr/>
                </a:tc>
                <a:tc>
                  <a:txBody>
                    <a:bodyPr/>
                    <a:lstStyle/>
                    <a:p>
                      <a:pPr marL="0" lvl="0" indent="0">
                        <a:buNone/>
                      </a:pPr>
                      <a:r>
                        <a:rPr b="1"/>
                        <a:t>Code Security Review</a:t>
                      </a:r>
                      <a:r>
                        <a:t> - Ensure AI-suggested code changes don’t introduce security risks</a:t>
                      </a:r>
                    </a:p>
                  </a:txBody>
                  <a:tcPr/>
                </a:tc>
                <a:extLst>
                  <a:ext uri="{0D108BD9-81ED-4DB2-BD59-A6C34878D82A}">
                    <a16:rowId xmlns:a16="http://schemas.microsoft.com/office/drawing/2014/main" val="10002"/>
                  </a:ext>
                </a:extLst>
              </a:tr>
              <a:tr h="0">
                <a:tc>
                  <a:txBody>
                    <a:bodyPr/>
                    <a:lstStyle/>
                    <a:p>
                      <a:pPr marL="0" lvl="0" indent="0">
                        <a:buNone/>
                      </a:pPr>
                      <a:r>
                        <a:rPr b="1"/>
                        <a:t>Risk Assessment</a:t>
                      </a:r>
                      <a:r>
                        <a:t> - Guide AI through security impact analysis and risk prioritization</a:t>
                      </a:r>
                    </a:p>
                  </a:txBody>
                  <a:tcPr/>
                </a:tc>
                <a:tc>
                  <a:txBody>
                    <a:bodyPr/>
                    <a:lstStyle/>
                    <a:p>
                      <a:pPr marL="0" lvl="0" indent="0">
                        <a:buNone/>
                      </a:pPr>
                      <a:r>
                        <a:rPr b="1"/>
                        <a:t>Policy Enforcement</a:t>
                      </a:r>
                      <a:r>
                        <a:t> - Verify AI recommendations align with organizational security policies</a:t>
                      </a:r>
                    </a:p>
                  </a:txBody>
                  <a:tcPr/>
                </a:tc>
                <a:extLst>
                  <a:ext uri="{0D108BD9-81ED-4DB2-BD59-A6C34878D82A}">
                    <a16:rowId xmlns:a16="http://schemas.microsoft.com/office/drawing/2014/main" val="10003"/>
                  </a:ext>
                </a:extLst>
              </a:tr>
              <a:tr h="0">
                <a:tc>
                  <a:txBody>
                    <a:bodyPr/>
                    <a:lstStyle/>
                    <a:p>
                      <a:pPr marL="0" lvl="0" indent="0">
                        <a:buNone/>
                      </a:pPr>
                      <a:r>
                        <a:rPr b="1"/>
                        <a:t>Security Testing</a:t>
                      </a:r>
                      <a:r>
                        <a:t> - Generate security test cases and penetration testing scenarios</a:t>
                      </a:r>
                    </a:p>
                  </a:txBody>
                  <a:tcPr/>
                </a:tc>
                <a:tc>
                  <a:txBody>
                    <a:bodyPr/>
                    <a:lstStyle/>
                    <a:p>
                      <a:pPr marL="0" lvl="0" indent="0">
                        <a:buNone/>
                      </a:pPr>
                      <a:r>
                        <a:rPr b="1"/>
                        <a:t>Audit Trail Maintenance</a:t>
                      </a:r>
                      <a:r>
                        <a:t> - Document security decisions and rationale for AI-assisted reviews</a:t>
                      </a:r>
                    </a:p>
                  </a:txBody>
                  <a:tcPr/>
                </a:tc>
                <a:extLst>
                  <a:ext uri="{0D108BD9-81ED-4DB2-BD59-A6C34878D82A}">
                    <a16:rowId xmlns:a16="http://schemas.microsoft.com/office/drawing/2014/main" val="10004"/>
                  </a:ext>
                </a:extLst>
              </a:tr>
              <a:tr h="0">
                <a:tc>
                  <a:txBody>
                    <a:bodyPr/>
                    <a:lstStyle/>
                    <a:p>
                      <a:pPr marL="0" lvl="0" indent="0">
                        <a:buNone/>
                      </a:pPr>
                      <a:r>
                        <a:rPr b="1"/>
                        <a:t>Incident Response</a:t>
                      </a:r>
                      <a:r>
                        <a:t> - Use AI for security event analysis and response planning</a:t>
                      </a:r>
                    </a:p>
                  </a:txBody>
                  <a:tcPr/>
                </a:tc>
                <a:tc>
                  <a:txBody>
                    <a:bodyPr/>
                    <a:lstStyle/>
                    <a:p>
                      <a:pPr marL="0" lvl="0" indent="0">
                        <a:buNone/>
                      </a:pPr>
                      <a:r>
                        <a:rPr b="1" dirty="0"/>
                        <a:t>Threat Intelligence</a:t>
                      </a:r>
                      <a:r>
                        <a:rPr dirty="0"/>
                        <a:t> - Stay current on security trends that may affect AI recommendation quality</a:t>
                      </a:r>
                    </a:p>
                  </a:txBody>
                  <a:tcPr/>
                </a:tc>
                <a:extLst>
                  <a:ext uri="{0D108BD9-81ED-4DB2-BD59-A6C34878D82A}">
                    <a16:rowId xmlns:a16="http://schemas.microsoft.com/office/drawing/2014/main" val="10005"/>
                  </a:ext>
                </a:extLst>
              </a:tr>
            </a:tbl>
          </a:graphicData>
        </a:graphic>
      </p:graphicFrame>
    </p:spTree>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DevOps Engineer</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217698373"/>
              </p:ext>
            </p:extLst>
          </p:nvPr>
        </p:nvGraphicFramePr>
        <p:xfrm>
          <a:off x="457200" y="1193800"/>
          <a:ext cx="8229600" cy="2811780"/>
        </p:xfrm>
        <a:graphic>
          <a:graphicData uri="http://schemas.openxmlformats.org/drawingml/2006/table">
            <a:tbl>
              <a:tblPr firstRow="1" bandRow="1">
                <a:tableStyleId>{FABFCF23-3B69-468F-B69F-88F6DE6A72F2}</a:tableStyleId>
              </a:tblPr>
              <a:tblGrid>
                <a:gridCol w="4140200">
                  <a:extLst>
                    <a:ext uri="{9D8B030D-6E8A-4147-A177-3AD203B41FA5}">
                      <a16:colId xmlns:a16="http://schemas.microsoft.com/office/drawing/2014/main" val="20000"/>
                    </a:ext>
                  </a:extLst>
                </a:gridCol>
                <a:gridCol w="4089400">
                  <a:extLst>
                    <a:ext uri="{9D8B030D-6E8A-4147-A177-3AD203B41FA5}">
                      <a16:colId xmlns:a16="http://schemas.microsoft.com/office/drawing/2014/main" val="20001"/>
                    </a:ext>
                  </a:extLst>
                </a:gridCol>
              </a:tblGrid>
              <a:tr h="0">
                <a:tc>
                  <a:txBody>
                    <a:bodyPr/>
                    <a:lstStyle/>
                    <a:p>
                      <a:pPr marL="0" lvl="0" indent="0">
                        <a:buNone/>
                      </a:pPr>
                      <a:r>
                        <a:rPr b="1" dirty="0"/>
                        <a:t>Skills</a:t>
                      </a:r>
                    </a:p>
                  </a:txBody>
                  <a:tcPr/>
                </a:tc>
                <a:tc>
                  <a:txBody>
                    <a:bodyPr/>
                    <a:lstStyle/>
                    <a:p>
                      <a:pPr marL="0" lvl="0" indent="0">
                        <a:buNone/>
                      </a:pPr>
                      <a:r>
                        <a:rPr b="1"/>
                        <a:t>Responsibilities</a:t>
                      </a:r>
                    </a:p>
                  </a:txBody>
                  <a:tcPr/>
                </a:tc>
                <a:extLst>
                  <a:ext uri="{0D108BD9-81ED-4DB2-BD59-A6C34878D82A}">
                    <a16:rowId xmlns:a16="http://schemas.microsoft.com/office/drawing/2014/main" val="10000"/>
                  </a:ext>
                </a:extLst>
              </a:tr>
              <a:tr h="0">
                <a:tc>
                  <a:txBody>
                    <a:bodyPr/>
                    <a:lstStyle/>
                    <a:p>
                      <a:pPr marL="0" lvl="0" indent="0">
                        <a:buNone/>
                      </a:pPr>
                      <a:r>
                        <a:rPr b="1"/>
                        <a:t>Infrastructure as Code</a:t>
                      </a:r>
                      <a:r>
                        <a:t> - Generate and optimize IaC templates, scripts, and configurations</a:t>
                      </a:r>
                    </a:p>
                  </a:txBody>
                  <a:tcPr/>
                </a:tc>
                <a:tc>
                  <a:txBody>
                    <a:bodyPr/>
                    <a:lstStyle/>
                    <a:p>
                      <a:pPr marL="0" lvl="0" indent="0">
                        <a:buNone/>
                      </a:pPr>
                      <a:r>
                        <a:rPr b="1"/>
                        <a:t>Pipeline Reliability</a:t>
                      </a:r>
                      <a:r>
                        <a:t> - Ensure AI-generated CI/CD configurations are stable and efficient</a:t>
                      </a:r>
                    </a:p>
                  </a:txBody>
                  <a:tcPr/>
                </a:tc>
                <a:extLst>
                  <a:ext uri="{0D108BD9-81ED-4DB2-BD59-A6C34878D82A}">
                    <a16:rowId xmlns:a16="http://schemas.microsoft.com/office/drawing/2014/main" val="10001"/>
                  </a:ext>
                </a:extLst>
              </a:tr>
              <a:tr h="0">
                <a:tc>
                  <a:txBody>
                    <a:bodyPr/>
                    <a:lstStyle/>
                    <a:p>
                      <a:pPr marL="0" lvl="0" indent="0">
                        <a:buNone/>
                      </a:pPr>
                      <a:r>
                        <a:rPr b="1"/>
                        <a:t>CI/CD Pipeline Design</a:t>
                      </a:r>
                      <a:r>
                        <a:t> - Use AI for build, test, and deployment pipeline optimization</a:t>
                      </a:r>
                    </a:p>
                  </a:txBody>
                  <a:tcPr/>
                </a:tc>
                <a:tc>
                  <a:txBody>
                    <a:bodyPr/>
                    <a:lstStyle/>
                    <a:p>
                      <a:pPr marL="0" lvl="0" indent="0">
                        <a:buNone/>
                      </a:pPr>
                      <a:r>
                        <a:rPr b="1"/>
                        <a:t>Security Integration</a:t>
                      </a:r>
                      <a:r>
                        <a:t> - Validate AI-suggested DevSecOps practices and security controls</a:t>
                      </a:r>
                    </a:p>
                  </a:txBody>
                  <a:tcPr/>
                </a:tc>
                <a:extLst>
                  <a:ext uri="{0D108BD9-81ED-4DB2-BD59-A6C34878D82A}">
                    <a16:rowId xmlns:a16="http://schemas.microsoft.com/office/drawing/2014/main" val="10002"/>
                  </a:ext>
                </a:extLst>
              </a:tr>
              <a:tr h="0">
                <a:tc>
                  <a:txBody>
                    <a:bodyPr/>
                    <a:lstStyle/>
                    <a:p>
                      <a:pPr marL="0" lvl="0" indent="0">
                        <a:buNone/>
                      </a:pPr>
                      <a:r>
                        <a:rPr b="1"/>
                        <a:t>Monitoring &amp; Alerting</a:t>
                      </a:r>
                      <a:r>
                        <a:t> - Create comprehensive observability strategies with AI assistance</a:t>
                      </a:r>
                    </a:p>
                  </a:txBody>
                  <a:tcPr/>
                </a:tc>
                <a:tc>
                  <a:txBody>
                    <a:bodyPr/>
                    <a:lstStyle/>
                    <a:p>
                      <a:pPr marL="0" lvl="0" indent="0">
                        <a:buNone/>
                      </a:pPr>
                      <a:r>
                        <a:rPr b="1"/>
                        <a:t>Performance Monitoring</a:t>
                      </a:r>
                      <a:r>
                        <a:t> - Implement AI-recommended monitoring and alerting strategies</a:t>
                      </a:r>
                    </a:p>
                  </a:txBody>
                  <a:tcPr/>
                </a:tc>
                <a:extLst>
                  <a:ext uri="{0D108BD9-81ED-4DB2-BD59-A6C34878D82A}">
                    <a16:rowId xmlns:a16="http://schemas.microsoft.com/office/drawing/2014/main" val="10003"/>
                  </a:ext>
                </a:extLst>
              </a:tr>
              <a:tr h="0">
                <a:tc>
                  <a:txBody>
                    <a:bodyPr/>
                    <a:lstStyle/>
                    <a:p>
                      <a:pPr marL="0" lvl="0" indent="0">
                        <a:buNone/>
                      </a:pPr>
                      <a:r>
                        <a:rPr b="1"/>
                        <a:t>Automation Scripting</a:t>
                      </a:r>
                      <a:r>
                        <a:t> - Generate operational scripts and automation workflows</a:t>
                      </a:r>
                    </a:p>
                  </a:txBody>
                  <a:tcPr/>
                </a:tc>
                <a:tc>
                  <a:txBody>
                    <a:bodyPr/>
                    <a:lstStyle/>
                    <a:p>
                      <a:pPr marL="0" lvl="0" indent="0">
                        <a:buNone/>
                      </a:pPr>
                      <a:r>
                        <a:rPr b="1"/>
                        <a:t>Cost Management</a:t>
                      </a:r>
                      <a:r>
                        <a:t> - Review AI suggestions for infrastructure cost optimization</a:t>
                      </a:r>
                    </a:p>
                  </a:txBody>
                  <a:tcPr/>
                </a:tc>
                <a:extLst>
                  <a:ext uri="{0D108BD9-81ED-4DB2-BD59-A6C34878D82A}">
                    <a16:rowId xmlns:a16="http://schemas.microsoft.com/office/drawing/2014/main" val="10004"/>
                  </a:ext>
                </a:extLst>
              </a:tr>
              <a:tr h="0">
                <a:tc>
                  <a:txBody>
                    <a:bodyPr/>
                    <a:lstStyle/>
                    <a:p>
                      <a:pPr marL="0" lvl="0" indent="0">
                        <a:buNone/>
                      </a:pPr>
                      <a:r>
                        <a:rPr b="1"/>
                        <a:t>Cloud Resource Optimization</a:t>
                      </a:r>
                      <a:r>
                        <a:t> - Leverage AI for cost optimization and resource management</a:t>
                      </a:r>
                    </a:p>
                  </a:txBody>
                  <a:tcPr/>
                </a:tc>
                <a:tc>
                  <a:txBody>
                    <a:bodyPr/>
                    <a:lstStyle/>
                    <a:p>
                      <a:pPr marL="0" lvl="0" indent="0">
                        <a:buNone/>
                      </a:pPr>
                      <a:r>
                        <a:rPr b="1" dirty="0"/>
                        <a:t>Disaster Recovery</a:t>
                      </a:r>
                      <a:r>
                        <a:rPr dirty="0"/>
                        <a:t> - Develop and test AI-assisted backup and recovery procedures</a:t>
                      </a:r>
                    </a:p>
                  </a:txBody>
                  <a:tcPr/>
                </a:tc>
                <a:extLst>
                  <a:ext uri="{0D108BD9-81ED-4DB2-BD59-A6C34878D82A}">
                    <a16:rowId xmlns:a16="http://schemas.microsoft.com/office/drawing/2014/main" val="10005"/>
                  </a:ext>
                </a:extLst>
              </a:tr>
            </a:tbl>
          </a:graphicData>
        </a:graphic>
      </p:graphicFrame>
    </p:spTree>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DevTest Engineer</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1780611036"/>
              </p:ext>
            </p:extLst>
          </p:nvPr>
        </p:nvGraphicFramePr>
        <p:xfrm>
          <a:off x="457200" y="1193800"/>
          <a:ext cx="8229600" cy="2811780"/>
        </p:xfrm>
        <a:graphic>
          <a:graphicData uri="http://schemas.openxmlformats.org/drawingml/2006/table">
            <a:tbl>
              <a:tblPr firstRow="1" bandRow="1">
                <a:tableStyleId>{FABFCF23-3B69-468F-B69F-88F6DE6A72F2}</a:tableStyleId>
              </a:tblPr>
              <a:tblGrid>
                <a:gridCol w="4432300">
                  <a:extLst>
                    <a:ext uri="{9D8B030D-6E8A-4147-A177-3AD203B41FA5}">
                      <a16:colId xmlns:a16="http://schemas.microsoft.com/office/drawing/2014/main" val="20000"/>
                    </a:ext>
                  </a:extLst>
                </a:gridCol>
                <a:gridCol w="3797300">
                  <a:extLst>
                    <a:ext uri="{9D8B030D-6E8A-4147-A177-3AD203B41FA5}">
                      <a16:colId xmlns:a16="http://schemas.microsoft.com/office/drawing/2014/main" val="20001"/>
                    </a:ext>
                  </a:extLst>
                </a:gridCol>
              </a:tblGrid>
              <a:tr h="0">
                <a:tc>
                  <a:txBody>
                    <a:bodyPr/>
                    <a:lstStyle/>
                    <a:p>
                      <a:pPr marL="0" lvl="0" indent="0">
                        <a:buNone/>
                      </a:pPr>
                      <a:r>
                        <a:rPr b="1"/>
                        <a:t>Skills</a:t>
                      </a:r>
                    </a:p>
                  </a:txBody>
                  <a:tcPr/>
                </a:tc>
                <a:tc>
                  <a:txBody>
                    <a:bodyPr/>
                    <a:lstStyle/>
                    <a:p>
                      <a:pPr marL="0" lvl="0" indent="0">
                        <a:buNone/>
                      </a:pPr>
                      <a:r>
                        <a:rPr b="1"/>
                        <a:t>Responsibilities</a:t>
                      </a:r>
                    </a:p>
                  </a:txBody>
                  <a:tcPr/>
                </a:tc>
                <a:extLst>
                  <a:ext uri="{0D108BD9-81ED-4DB2-BD59-A6C34878D82A}">
                    <a16:rowId xmlns:a16="http://schemas.microsoft.com/office/drawing/2014/main" val="10000"/>
                  </a:ext>
                </a:extLst>
              </a:tr>
              <a:tr h="0">
                <a:tc>
                  <a:txBody>
                    <a:bodyPr/>
                    <a:lstStyle/>
                    <a:p>
                      <a:pPr marL="0" lvl="0" indent="0">
                        <a:buNone/>
                      </a:pPr>
                      <a:r>
                        <a:rPr b="1" dirty="0"/>
                        <a:t>Test Case Generation</a:t>
                      </a:r>
                      <a:r>
                        <a:rPr dirty="0"/>
                        <a:t> - Create comprehensive test scenarios across functional and non-functional areas</a:t>
                      </a:r>
                    </a:p>
                  </a:txBody>
                  <a:tcPr/>
                </a:tc>
                <a:tc>
                  <a:txBody>
                    <a:bodyPr/>
                    <a:lstStyle/>
                    <a:p>
                      <a:pPr marL="0" lvl="0" indent="0">
                        <a:buNone/>
                      </a:pPr>
                      <a:r>
                        <a:rPr b="1"/>
                        <a:t>Test Coverage Validation</a:t>
                      </a:r>
                      <a:r>
                        <a:t> - Ensure AI-generated tests provide adequate coverage</a:t>
                      </a:r>
                    </a:p>
                  </a:txBody>
                  <a:tcPr/>
                </a:tc>
                <a:extLst>
                  <a:ext uri="{0D108BD9-81ED-4DB2-BD59-A6C34878D82A}">
                    <a16:rowId xmlns:a16="http://schemas.microsoft.com/office/drawing/2014/main" val="10001"/>
                  </a:ext>
                </a:extLst>
              </a:tr>
              <a:tr h="0">
                <a:tc>
                  <a:txBody>
                    <a:bodyPr/>
                    <a:lstStyle/>
                    <a:p>
                      <a:pPr marL="0" lvl="0" indent="0">
                        <a:buNone/>
                      </a:pPr>
                      <a:r>
                        <a:rPr b="1"/>
                        <a:t>Test Data Management</a:t>
                      </a:r>
                      <a:r>
                        <a:t> - Generate realistic test data sets and scenarios</a:t>
                      </a:r>
                    </a:p>
                  </a:txBody>
                  <a:tcPr/>
                </a:tc>
                <a:tc>
                  <a:txBody>
                    <a:bodyPr/>
                    <a:lstStyle/>
                    <a:p>
                      <a:pPr marL="0" lvl="0" indent="0">
                        <a:buNone/>
                      </a:pPr>
                      <a:r>
                        <a:rPr b="1"/>
                        <a:t>Test Environment Management</a:t>
                      </a:r>
                      <a:r>
                        <a:t> - Maintain consistent, reliable test environments</a:t>
                      </a:r>
                    </a:p>
                  </a:txBody>
                  <a:tcPr/>
                </a:tc>
                <a:extLst>
                  <a:ext uri="{0D108BD9-81ED-4DB2-BD59-A6C34878D82A}">
                    <a16:rowId xmlns:a16="http://schemas.microsoft.com/office/drawing/2014/main" val="10002"/>
                  </a:ext>
                </a:extLst>
              </a:tr>
              <a:tr h="0">
                <a:tc>
                  <a:txBody>
                    <a:bodyPr/>
                    <a:lstStyle/>
                    <a:p>
                      <a:pPr marL="0" lvl="0" indent="0">
                        <a:buNone/>
                      </a:pPr>
                      <a:r>
                        <a:rPr b="1"/>
                        <a:t>Automation Framework</a:t>
                      </a:r>
                      <a:r>
                        <a:t> - Build robust test automation with AI assistance</a:t>
                      </a:r>
                    </a:p>
                  </a:txBody>
                  <a:tcPr/>
                </a:tc>
                <a:tc>
                  <a:txBody>
                    <a:bodyPr/>
                    <a:lstStyle/>
                    <a:p>
                      <a:pPr marL="0" lvl="0" indent="0">
                        <a:buNone/>
                      </a:pPr>
                      <a:r>
                        <a:rPr b="1"/>
                        <a:t>Quality Metrics</a:t>
                      </a:r>
                      <a:r>
                        <a:t> - Track and report on quality metrics derived from AI-assisted testing</a:t>
                      </a:r>
                    </a:p>
                  </a:txBody>
                  <a:tcPr/>
                </a:tc>
                <a:extLst>
                  <a:ext uri="{0D108BD9-81ED-4DB2-BD59-A6C34878D82A}">
                    <a16:rowId xmlns:a16="http://schemas.microsoft.com/office/drawing/2014/main" val="10003"/>
                  </a:ext>
                </a:extLst>
              </a:tr>
              <a:tr h="0">
                <a:tc>
                  <a:txBody>
                    <a:bodyPr/>
                    <a:lstStyle/>
                    <a:p>
                      <a:pPr marL="0" lvl="0" indent="0">
                        <a:buNone/>
                      </a:pPr>
                      <a:r>
                        <a:rPr b="1"/>
                        <a:t>Performance Testing</a:t>
                      </a:r>
                      <a:r>
                        <a:t> - Design load, stress, and performance test strategies</a:t>
                      </a:r>
                    </a:p>
                  </a:txBody>
                  <a:tcPr/>
                </a:tc>
                <a:tc>
                  <a:txBody>
                    <a:bodyPr/>
                    <a:lstStyle/>
                    <a:p>
                      <a:pPr marL="0" lvl="0" indent="0">
                        <a:buNone/>
                      </a:pPr>
                      <a:r>
                        <a:rPr b="1"/>
                        <a:t>Test Maintenance</a:t>
                      </a:r>
                      <a:r>
                        <a:t> - Keep AI-generated test suites current with application changes</a:t>
                      </a:r>
                    </a:p>
                  </a:txBody>
                  <a:tcPr/>
                </a:tc>
                <a:extLst>
                  <a:ext uri="{0D108BD9-81ED-4DB2-BD59-A6C34878D82A}">
                    <a16:rowId xmlns:a16="http://schemas.microsoft.com/office/drawing/2014/main" val="10004"/>
                  </a:ext>
                </a:extLst>
              </a:tr>
              <a:tr h="0">
                <a:tc>
                  <a:txBody>
                    <a:bodyPr/>
                    <a:lstStyle/>
                    <a:p>
                      <a:pPr marL="0" lvl="0" indent="0">
                        <a:buNone/>
                      </a:pPr>
                      <a:r>
                        <a:rPr b="1"/>
                        <a:t>Defect Analysis</a:t>
                      </a:r>
                      <a:r>
                        <a:t> - Use AI for root cause analysis and bug reproduction</a:t>
                      </a:r>
                    </a:p>
                  </a:txBody>
                  <a:tcPr/>
                </a:tc>
                <a:tc>
                  <a:txBody>
                    <a:bodyPr/>
                    <a:lstStyle/>
                    <a:p>
                      <a:pPr marL="0" lvl="0" indent="0">
                        <a:buNone/>
                      </a:pPr>
                      <a:r>
                        <a:rPr b="1" dirty="0"/>
                        <a:t>Bug Triage</a:t>
                      </a:r>
                      <a:r>
                        <a:rPr dirty="0"/>
                        <a:t> - Prioritize and categorize defects with AI analysis support</a:t>
                      </a:r>
                    </a:p>
                  </a:txBody>
                  <a:tcPr/>
                </a:tc>
                <a:extLst>
                  <a:ext uri="{0D108BD9-81ED-4DB2-BD59-A6C34878D82A}">
                    <a16:rowId xmlns:a16="http://schemas.microsoft.com/office/drawing/2014/main" val="10005"/>
                  </a:ext>
                </a:extLst>
              </a:tr>
            </a:tbl>
          </a:graphicData>
        </a:graphic>
      </p:graphicFrame>
    </p:spTree>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SRE (Site Reliability Engineer)</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3588077965"/>
              </p:ext>
            </p:extLst>
          </p:nvPr>
        </p:nvGraphicFramePr>
        <p:xfrm>
          <a:off x="457200" y="1193800"/>
          <a:ext cx="8229600" cy="2811780"/>
        </p:xfrm>
        <a:graphic>
          <a:graphicData uri="http://schemas.openxmlformats.org/drawingml/2006/table">
            <a:tbl>
              <a:tblPr firstRow="1" bandRow="1">
                <a:tableStyleId>{FABFCF23-3B69-468F-B69F-88F6DE6A72F2}</a:tableStyleId>
              </a:tblPr>
              <a:tblGrid>
                <a:gridCol w="3911600">
                  <a:extLst>
                    <a:ext uri="{9D8B030D-6E8A-4147-A177-3AD203B41FA5}">
                      <a16:colId xmlns:a16="http://schemas.microsoft.com/office/drawing/2014/main" val="20000"/>
                    </a:ext>
                  </a:extLst>
                </a:gridCol>
                <a:gridCol w="4318000">
                  <a:extLst>
                    <a:ext uri="{9D8B030D-6E8A-4147-A177-3AD203B41FA5}">
                      <a16:colId xmlns:a16="http://schemas.microsoft.com/office/drawing/2014/main" val="20001"/>
                    </a:ext>
                  </a:extLst>
                </a:gridCol>
              </a:tblGrid>
              <a:tr h="0">
                <a:tc>
                  <a:txBody>
                    <a:bodyPr/>
                    <a:lstStyle/>
                    <a:p>
                      <a:pPr marL="0" lvl="0" indent="0">
                        <a:buNone/>
                      </a:pPr>
                      <a:r>
                        <a:rPr b="1"/>
                        <a:t>Skills</a:t>
                      </a:r>
                    </a:p>
                  </a:txBody>
                  <a:tcPr/>
                </a:tc>
                <a:tc>
                  <a:txBody>
                    <a:bodyPr/>
                    <a:lstStyle/>
                    <a:p>
                      <a:pPr marL="0" lvl="0" indent="0">
                        <a:buNone/>
                      </a:pPr>
                      <a:r>
                        <a:rPr b="1"/>
                        <a:t>Responsibilities</a:t>
                      </a:r>
                    </a:p>
                  </a:txBody>
                  <a:tcPr/>
                </a:tc>
                <a:extLst>
                  <a:ext uri="{0D108BD9-81ED-4DB2-BD59-A6C34878D82A}">
                    <a16:rowId xmlns:a16="http://schemas.microsoft.com/office/drawing/2014/main" val="10000"/>
                  </a:ext>
                </a:extLst>
              </a:tr>
              <a:tr h="0">
                <a:tc>
                  <a:txBody>
                    <a:bodyPr/>
                    <a:lstStyle/>
                    <a:p>
                      <a:pPr marL="0" lvl="0" indent="0">
                        <a:buNone/>
                      </a:pPr>
                      <a:r>
                        <a:rPr b="1"/>
                        <a:t>Incident Response</a:t>
                      </a:r>
                      <a:r>
                        <a:t> - Use AI for rapid incident analysis, diagnosis, and resolution</a:t>
                      </a:r>
                    </a:p>
                  </a:txBody>
                  <a:tcPr/>
                </a:tc>
                <a:tc>
                  <a:txBody>
                    <a:bodyPr/>
                    <a:lstStyle/>
                    <a:p>
                      <a:pPr marL="0" lvl="0" indent="0">
                        <a:buNone/>
                      </a:pPr>
                      <a:r>
                        <a:rPr b="1"/>
                        <a:t>System Reliability</a:t>
                      </a:r>
                      <a:r>
                        <a:t> - Maintain service availability using AI-driven monitoring and response</a:t>
                      </a:r>
                    </a:p>
                  </a:txBody>
                  <a:tcPr/>
                </a:tc>
                <a:extLst>
                  <a:ext uri="{0D108BD9-81ED-4DB2-BD59-A6C34878D82A}">
                    <a16:rowId xmlns:a16="http://schemas.microsoft.com/office/drawing/2014/main" val="10001"/>
                  </a:ext>
                </a:extLst>
              </a:tr>
              <a:tr h="0">
                <a:tc>
                  <a:txBody>
                    <a:bodyPr/>
                    <a:lstStyle/>
                    <a:p>
                      <a:pPr marL="0" lvl="0" indent="0">
                        <a:buNone/>
                      </a:pPr>
                      <a:r>
                        <a:rPr b="1"/>
                        <a:t>SLA/SLO Monitoring</a:t>
                      </a:r>
                      <a:r>
                        <a:t> - Generate comprehensive reliability metrics and alerting</a:t>
                      </a:r>
                    </a:p>
                  </a:txBody>
                  <a:tcPr/>
                </a:tc>
                <a:tc>
                  <a:txBody>
                    <a:bodyPr/>
                    <a:lstStyle/>
                    <a:p>
                      <a:pPr marL="0" lvl="0" indent="0">
                        <a:buNone/>
                      </a:pPr>
                      <a:r>
                        <a:rPr b="1"/>
                        <a:t>Performance Optimization</a:t>
                      </a:r>
                      <a:r>
                        <a:t> - Continuously improve system performance with AI insights</a:t>
                      </a:r>
                    </a:p>
                  </a:txBody>
                  <a:tcPr/>
                </a:tc>
                <a:extLst>
                  <a:ext uri="{0D108BD9-81ED-4DB2-BD59-A6C34878D82A}">
                    <a16:rowId xmlns:a16="http://schemas.microsoft.com/office/drawing/2014/main" val="10002"/>
                  </a:ext>
                </a:extLst>
              </a:tr>
              <a:tr h="0">
                <a:tc>
                  <a:txBody>
                    <a:bodyPr/>
                    <a:lstStyle/>
                    <a:p>
                      <a:pPr marL="0" lvl="0" indent="0">
                        <a:buNone/>
                      </a:pPr>
                      <a:r>
                        <a:rPr b="1"/>
                        <a:t>Capacity Planning</a:t>
                      </a:r>
                      <a:r>
                        <a:t> - Leverage AI for resource forecasting and scaling decisions</a:t>
                      </a:r>
                    </a:p>
                  </a:txBody>
                  <a:tcPr/>
                </a:tc>
                <a:tc>
                  <a:txBody>
                    <a:bodyPr/>
                    <a:lstStyle/>
                    <a:p>
                      <a:pPr marL="0" lvl="0" indent="0">
                        <a:buNone/>
                      </a:pPr>
                      <a:r>
                        <a:rPr b="1"/>
                        <a:t>Incident Documentation</a:t>
                      </a:r>
                      <a:r>
                        <a:t> - Create detailed incident reports and prevention strategies</a:t>
                      </a:r>
                    </a:p>
                  </a:txBody>
                  <a:tcPr/>
                </a:tc>
                <a:extLst>
                  <a:ext uri="{0D108BD9-81ED-4DB2-BD59-A6C34878D82A}">
                    <a16:rowId xmlns:a16="http://schemas.microsoft.com/office/drawing/2014/main" val="10003"/>
                  </a:ext>
                </a:extLst>
              </a:tr>
              <a:tr h="0">
                <a:tc>
                  <a:txBody>
                    <a:bodyPr/>
                    <a:lstStyle/>
                    <a:p>
                      <a:pPr marL="0" lvl="0" indent="0">
                        <a:buNone/>
                      </a:pPr>
                      <a:r>
                        <a:rPr b="1"/>
                        <a:t>Post-mortem Analysis</a:t>
                      </a:r>
                      <a:r>
                        <a:t> - Create thorough incident reviews with AI assistance</a:t>
                      </a:r>
                    </a:p>
                  </a:txBody>
                  <a:tcPr/>
                </a:tc>
                <a:tc>
                  <a:txBody>
                    <a:bodyPr/>
                    <a:lstStyle/>
                    <a:p>
                      <a:pPr marL="0" lvl="0" indent="0">
                        <a:buNone/>
                      </a:pPr>
                      <a:r>
                        <a:rPr b="1"/>
                        <a:t>Change Management</a:t>
                      </a:r>
                      <a:r>
                        <a:t> - Assess deployment risks using AI-powered analysis</a:t>
                      </a:r>
                    </a:p>
                  </a:txBody>
                  <a:tcPr/>
                </a:tc>
                <a:extLst>
                  <a:ext uri="{0D108BD9-81ED-4DB2-BD59-A6C34878D82A}">
                    <a16:rowId xmlns:a16="http://schemas.microsoft.com/office/drawing/2014/main" val="10004"/>
                  </a:ext>
                </a:extLst>
              </a:tr>
              <a:tr h="0">
                <a:tc>
                  <a:txBody>
                    <a:bodyPr/>
                    <a:lstStyle/>
                    <a:p>
                      <a:pPr marL="0" lvl="0" indent="0">
                        <a:buNone/>
                      </a:pPr>
                      <a:r>
                        <a:rPr b="1"/>
                        <a:t>Reliability Engineering</a:t>
                      </a:r>
                      <a:r>
                        <a:t> - Design fault-tolerant systems with AI recommendations</a:t>
                      </a:r>
                    </a:p>
                  </a:txBody>
                  <a:tcPr/>
                </a:tc>
                <a:tc>
                  <a:txBody>
                    <a:bodyPr/>
                    <a:lstStyle/>
                    <a:p>
                      <a:pPr marL="0" lvl="0" indent="0">
                        <a:buNone/>
                      </a:pPr>
                      <a:r>
                        <a:rPr b="1" dirty="0"/>
                        <a:t>On-call Excellence</a:t>
                      </a:r>
                      <a:r>
                        <a:rPr dirty="0"/>
                        <a:t> - Optimize on-call procedures and reduce MTTR with AI support</a:t>
                      </a:r>
                    </a:p>
                  </a:txBody>
                  <a:tcPr/>
                </a:tc>
                <a:extLst>
                  <a:ext uri="{0D108BD9-81ED-4DB2-BD59-A6C34878D82A}">
                    <a16:rowId xmlns:a16="http://schemas.microsoft.com/office/drawing/2014/main" val="10005"/>
                  </a:ext>
                </a:extLst>
              </a:tr>
            </a:tbl>
          </a:graphicData>
        </a:graphic>
      </p:graphicFrame>
    </p:spTree>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FB5A13-09BE-07DF-26D2-33DAB2032FB6}"/>
              </a:ext>
            </a:extLst>
          </p:cNvPr>
          <p:cNvSpPr>
            <a:spLocks noGrp="1"/>
          </p:cNvSpPr>
          <p:nvPr>
            <p:ph type="title"/>
          </p:nvPr>
        </p:nvSpPr>
        <p:spPr/>
        <p:txBody>
          <a:bodyPr>
            <a:normAutofit fontScale="90000"/>
          </a:bodyPr>
          <a:lstStyle/>
          <a:p>
            <a:r>
              <a:rPr lang="en-US" dirty="0"/>
              <a:t>Solution Architect Prompts</a:t>
            </a:r>
          </a:p>
        </p:txBody>
      </p:sp>
      <p:graphicFrame>
        <p:nvGraphicFramePr>
          <p:cNvPr id="7" name="Content Placeholder 3">
            <a:extLst>
              <a:ext uri="{FF2B5EF4-FFF2-40B4-BE49-F238E27FC236}">
                <a16:creationId xmlns:a16="http://schemas.microsoft.com/office/drawing/2014/main" id="{A65F688E-CEC1-CC07-F162-8F46D986CA98}"/>
              </a:ext>
            </a:extLst>
          </p:cNvPr>
          <p:cNvGraphicFramePr>
            <a:graphicFrameLocks noGrp="1"/>
          </p:cNvGraphicFramePr>
          <p:nvPr>
            <p:ph idx="1"/>
            <p:extLst>
              <p:ext uri="{D42A27DB-BD31-4B8C-83A1-F6EECF244321}">
                <p14:modId xmlns:p14="http://schemas.microsoft.com/office/powerpoint/2010/main" val="2255588581"/>
              </p:ext>
            </p:extLst>
          </p:nvPr>
        </p:nvGraphicFramePr>
        <p:xfrm>
          <a:off x="628650" y="1095375"/>
          <a:ext cx="7887915" cy="3456816"/>
        </p:xfrm>
        <a:graphic>
          <a:graphicData uri="http://schemas.openxmlformats.org/drawingml/2006/table">
            <a:tbl>
              <a:tblPr firstRow="1">
                <a:tableStyleId>{FABFCF23-3B69-468F-B69F-88F6DE6A72F2}</a:tableStyleId>
              </a:tblPr>
              <a:tblGrid>
                <a:gridCol w="3217941">
                  <a:extLst>
                    <a:ext uri="{9D8B030D-6E8A-4147-A177-3AD203B41FA5}">
                      <a16:colId xmlns:a16="http://schemas.microsoft.com/office/drawing/2014/main" val="2881061085"/>
                    </a:ext>
                  </a:extLst>
                </a:gridCol>
                <a:gridCol w="4669974">
                  <a:extLst>
                    <a:ext uri="{9D8B030D-6E8A-4147-A177-3AD203B41FA5}">
                      <a16:colId xmlns:a16="http://schemas.microsoft.com/office/drawing/2014/main" val="1829283823"/>
                    </a:ext>
                  </a:extLst>
                </a:gridCol>
              </a:tblGrid>
              <a:tr h="314256">
                <a:tc>
                  <a:txBody>
                    <a:bodyPr/>
                    <a:lstStyle/>
                    <a:p>
                      <a:pPr marL="0" marR="0" fontAlgn="t">
                        <a:buNone/>
                      </a:pPr>
                      <a:r>
                        <a:rPr lang="en-US" sz="1100">
                          <a:effectLst/>
                        </a:rPr>
                        <a:t>Prompt File</a:t>
                      </a:r>
                      <a:endParaRPr lang="en-US" sz="1100">
                        <a:effectLst/>
                        <a:latin typeface="Calibri" panose="020F0502020204030204" pitchFamily="34" charset="0"/>
                      </a:endParaRPr>
                    </a:p>
                  </a:txBody>
                  <a:tcPr marL="50800" marR="50800" marT="50800" marB="50800"/>
                </a:tc>
                <a:tc>
                  <a:txBody>
                    <a:bodyPr/>
                    <a:lstStyle/>
                    <a:p>
                      <a:pPr marL="0" marR="0" fontAlgn="t">
                        <a:buNone/>
                      </a:pPr>
                      <a:r>
                        <a:rPr lang="en-US" sz="1100">
                          <a:effectLst/>
                        </a:rPr>
                        <a:t>Description</a:t>
                      </a:r>
                      <a:endParaRPr lang="en-US" sz="1100">
                        <a:effectLst/>
                        <a:latin typeface="Calibri" panose="020F0502020204030204" pitchFamily="34" charset="0"/>
                      </a:endParaRPr>
                    </a:p>
                  </a:txBody>
                  <a:tcPr marL="50800" marR="50800" marT="50800" marB="50800"/>
                </a:tc>
                <a:extLst>
                  <a:ext uri="{0D108BD9-81ED-4DB2-BD59-A6C34878D82A}">
                    <a16:rowId xmlns:a16="http://schemas.microsoft.com/office/drawing/2014/main" val="469250328"/>
                  </a:ext>
                </a:extLst>
              </a:tr>
              <a:tr h="314256">
                <a:tc>
                  <a:txBody>
                    <a:bodyPr/>
                    <a:lstStyle/>
                    <a:p>
                      <a:pPr marL="0" marR="0" fontAlgn="t">
                        <a:buNone/>
                      </a:pPr>
                      <a:r>
                        <a:rPr lang="en-US" sz="1100">
                          <a:effectLst/>
                        </a:rPr>
                        <a:t>architecture-design.prompt.md</a:t>
                      </a:r>
                      <a:endParaRPr lang="en-US" sz="1100">
                        <a:effectLst/>
                        <a:latin typeface="Calibri" panose="020F0502020204030204" pitchFamily="34" charset="0"/>
                      </a:endParaRPr>
                    </a:p>
                  </a:txBody>
                  <a:tcPr marL="50800" marR="50800" marT="50800" marB="50800"/>
                </a:tc>
                <a:tc>
                  <a:txBody>
                    <a:bodyPr/>
                    <a:lstStyle/>
                    <a:p>
                      <a:pPr marL="0" marR="0" fontAlgn="t">
                        <a:buNone/>
                      </a:pPr>
                      <a:r>
                        <a:rPr lang="en-US" sz="1100">
                          <a:effectLst/>
                        </a:rPr>
                        <a:t>Comprehensive system architecture designs</a:t>
                      </a:r>
                      <a:endParaRPr lang="en-US" sz="1100">
                        <a:effectLst/>
                        <a:latin typeface="Calibri" panose="020F0502020204030204" pitchFamily="34" charset="0"/>
                      </a:endParaRPr>
                    </a:p>
                  </a:txBody>
                  <a:tcPr marL="50800" marR="50800" marT="50800" marB="50800"/>
                </a:tc>
                <a:extLst>
                  <a:ext uri="{0D108BD9-81ED-4DB2-BD59-A6C34878D82A}">
                    <a16:rowId xmlns:a16="http://schemas.microsoft.com/office/drawing/2014/main" val="3447864658"/>
                  </a:ext>
                </a:extLst>
              </a:tr>
              <a:tr h="314256">
                <a:tc>
                  <a:txBody>
                    <a:bodyPr/>
                    <a:lstStyle/>
                    <a:p>
                      <a:pPr marL="0" marR="0" fontAlgn="t">
                        <a:buNone/>
                      </a:pPr>
                      <a:r>
                        <a:rPr lang="en-US" sz="1100">
                          <a:effectLst/>
                        </a:rPr>
                        <a:t>pattern-analysis.prompt.md</a:t>
                      </a:r>
                      <a:endParaRPr lang="en-US" sz="1100">
                        <a:effectLst/>
                        <a:latin typeface="Calibri" panose="020F0502020204030204" pitchFamily="34" charset="0"/>
                      </a:endParaRPr>
                    </a:p>
                  </a:txBody>
                  <a:tcPr marL="50800" marR="50800" marT="50800" marB="50800"/>
                </a:tc>
                <a:tc>
                  <a:txBody>
                    <a:bodyPr/>
                    <a:lstStyle/>
                    <a:p>
                      <a:pPr marL="0" marR="0" fontAlgn="t">
                        <a:buNone/>
                      </a:pPr>
                      <a:r>
                        <a:rPr lang="en-US" sz="1100">
                          <a:effectLst/>
                        </a:rPr>
                        <a:t>Architectural pattern analysis and recommendations</a:t>
                      </a:r>
                      <a:endParaRPr lang="en-US" sz="1100">
                        <a:effectLst/>
                        <a:latin typeface="Calibri" panose="020F0502020204030204" pitchFamily="34" charset="0"/>
                      </a:endParaRPr>
                    </a:p>
                  </a:txBody>
                  <a:tcPr marL="50800" marR="50800" marT="50800" marB="50800"/>
                </a:tc>
                <a:extLst>
                  <a:ext uri="{0D108BD9-81ED-4DB2-BD59-A6C34878D82A}">
                    <a16:rowId xmlns:a16="http://schemas.microsoft.com/office/drawing/2014/main" val="2313302320"/>
                  </a:ext>
                </a:extLst>
              </a:tr>
              <a:tr h="314256">
                <a:tc>
                  <a:txBody>
                    <a:bodyPr/>
                    <a:lstStyle/>
                    <a:p>
                      <a:pPr marL="0" marR="0" fontAlgn="t">
                        <a:buNone/>
                      </a:pPr>
                      <a:r>
                        <a:rPr lang="en-US" sz="1100">
                          <a:effectLst/>
                        </a:rPr>
                        <a:t>technology-evaluation.prompt.md</a:t>
                      </a:r>
                      <a:endParaRPr lang="en-US" sz="1100">
                        <a:effectLst/>
                        <a:latin typeface="Calibri" panose="020F0502020204030204" pitchFamily="34" charset="0"/>
                      </a:endParaRPr>
                    </a:p>
                  </a:txBody>
                  <a:tcPr marL="50800" marR="50800" marT="50800" marB="50800"/>
                </a:tc>
                <a:tc>
                  <a:txBody>
                    <a:bodyPr/>
                    <a:lstStyle/>
                    <a:p>
                      <a:pPr marL="0" marR="0" fontAlgn="t">
                        <a:buNone/>
                      </a:pPr>
                      <a:r>
                        <a:rPr lang="en-US" sz="1100">
                          <a:effectLst/>
                        </a:rPr>
                        <a:t>Technology evaluation and selection</a:t>
                      </a:r>
                      <a:endParaRPr lang="en-US" sz="1100">
                        <a:effectLst/>
                        <a:latin typeface="Calibri" panose="020F0502020204030204" pitchFamily="34" charset="0"/>
                      </a:endParaRPr>
                    </a:p>
                  </a:txBody>
                  <a:tcPr marL="50800" marR="50800" marT="50800" marB="50800"/>
                </a:tc>
                <a:extLst>
                  <a:ext uri="{0D108BD9-81ED-4DB2-BD59-A6C34878D82A}">
                    <a16:rowId xmlns:a16="http://schemas.microsoft.com/office/drawing/2014/main" val="905596791"/>
                  </a:ext>
                </a:extLst>
              </a:tr>
              <a:tr h="314256">
                <a:tc>
                  <a:txBody>
                    <a:bodyPr/>
                    <a:lstStyle/>
                    <a:p>
                      <a:pPr marL="0" marR="0" fontAlgn="t">
                        <a:buNone/>
                      </a:pPr>
                      <a:r>
                        <a:rPr lang="en-US" sz="1100">
                          <a:effectLst/>
                        </a:rPr>
                        <a:t>scalability-planning.prompt.md</a:t>
                      </a:r>
                      <a:endParaRPr lang="en-US" sz="1100">
                        <a:effectLst/>
                        <a:latin typeface="Calibri" panose="020F0502020204030204" pitchFamily="34" charset="0"/>
                      </a:endParaRPr>
                    </a:p>
                  </a:txBody>
                  <a:tcPr marL="50800" marR="50800" marT="50800" marB="50800"/>
                </a:tc>
                <a:tc>
                  <a:txBody>
                    <a:bodyPr/>
                    <a:lstStyle/>
                    <a:p>
                      <a:pPr marL="0" marR="0" fontAlgn="t">
                        <a:buNone/>
                      </a:pPr>
                      <a:r>
                        <a:rPr lang="en-US" sz="1100">
                          <a:effectLst/>
                        </a:rPr>
                        <a:t>Scalability and capacity planning</a:t>
                      </a:r>
                      <a:endParaRPr lang="en-US" sz="1100">
                        <a:effectLst/>
                        <a:latin typeface="Calibri" panose="020F0502020204030204" pitchFamily="34" charset="0"/>
                      </a:endParaRPr>
                    </a:p>
                  </a:txBody>
                  <a:tcPr marL="50800" marR="50800" marT="50800" marB="50800"/>
                </a:tc>
                <a:extLst>
                  <a:ext uri="{0D108BD9-81ED-4DB2-BD59-A6C34878D82A}">
                    <a16:rowId xmlns:a16="http://schemas.microsoft.com/office/drawing/2014/main" val="2405897616"/>
                  </a:ext>
                </a:extLst>
              </a:tr>
              <a:tr h="314256">
                <a:tc>
                  <a:txBody>
                    <a:bodyPr/>
                    <a:lstStyle/>
                    <a:p>
                      <a:pPr marL="0" marR="0" fontAlgn="t">
                        <a:buNone/>
                      </a:pPr>
                      <a:r>
                        <a:rPr lang="en-US" sz="1100">
                          <a:effectLst/>
                        </a:rPr>
                        <a:t>integration-design.prompt.md</a:t>
                      </a:r>
                      <a:endParaRPr lang="en-US" sz="1100">
                        <a:effectLst/>
                        <a:latin typeface="Calibri" panose="020F0502020204030204" pitchFamily="34" charset="0"/>
                      </a:endParaRPr>
                    </a:p>
                  </a:txBody>
                  <a:tcPr marL="50800" marR="50800" marT="50800" marB="50800"/>
                </a:tc>
                <a:tc>
                  <a:txBody>
                    <a:bodyPr/>
                    <a:lstStyle/>
                    <a:p>
                      <a:pPr marL="0" marR="0" fontAlgn="t">
                        <a:buNone/>
                      </a:pPr>
                      <a:r>
                        <a:rPr lang="en-US" sz="1100">
                          <a:effectLst/>
                        </a:rPr>
                        <a:t>System integration and API design</a:t>
                      </a:r>
                      <a:endParaRPr lang="en-US" sz="1100">
                        <a:effectLst/>
                        <a:latin typeface="Calibri" panose="020F0502020204030204" pitchFamily="34" charset="0"/>
                      </a:endParaRPr>
                    </a:p>
                  </a:txBody>
                  <a:tcPr marL="50800" marR="50800" marT="50800" marB="50800"/>
                </a:tc>
                <a:extLst>
                  <a:ext uri="{0D108BD9-81ED-4DB2-BD59-A6C34878D82A}">
                    <a16:rowId xmlns:a16="http://schemas.microsoft.com/office/drawing/2014/main" val="3558223382"/>
                  </a:ext>
                </a:extLst>
              </a:tr>
              <a:tr h="314256">
                <a:tc>
                  <a:txBody>
                    <a:bodyPr/>
                    <a:lstStyle/>
                    <a:p>
                      <a:pPr marL="0" marR="0" fontAlgn="t">
                        <a:buNone/>
                      </a:pPr>
                      <a:r>
                        <a:rPr lang="en-US" sz="1100">
                          <a:effectLst/>
                        </a:rPr>
                        <a:t>security-architecture.prompt.md</a:t>
                      </a:r>
                      <a:endParaRPr lang="en-US" sz="1100">
                        <a:effectLst/>
                        <a:latin typeface="Calibri" panose="020F0502020204030204" pitchFamily="34" charset="0"/>
                      </a:endParaRPr>
                    </a:p>
                  </a:txBody>
                  <a:tcPr marL="50800" marR="50800" marT="50800" marB="50800"/>
                </a:tc>
                <a:tc>
                  <a:txBody>
                    <a:bodyPr/>
                    <a:lstStyle/>
                    <a:p>
                      <a:pPr marL="0" marR="0" fontAlgn="t">
                        <a:buNone/>
                      </a:pPr>
                      <a:r>
                        <a:rPr lang="en-US" sz="1100">
                          <a:effectLst/>
                        </a:rPr>
                        <a:t>Security controls and threat mitigation</a:t>
                      </a:r>
                      <a:endParaRPr lang="en-US" sz="1100">
                        <a:effectLst/>
                        <a:latin typeface="Calibri" panose="020F0502020204030204" pitchFamily="34" charset="0"/>
                      </a:endParaRPr>
                    </a:p>
                  </a:txBody>
                  <a:tcPr marL="50800" marR="50800" marT="50800" marB="50800"/>
                </a:tc>
                <a:extLst>
                  <a:ext uri="{0D108BD9-81ED-4DB2-BD59-A6C34878D82A}">
                    <a16:rowId xmlns:a16="http://schemas.microsoft.com/office/drawing/2014/main" val="899883846"/>
                  </a:ext>
                </a:extLst>
              </a:tr>
              <a:tr h="314256">
                <a:tc>
                  <a:txBody>
                    <a:bodyPr/>
                    <a:lstStyle/>
                    <a:p>
                      <a:pPr marL="0" marR="0" fontAlgn="t">
                        <a:buNone/>
                      </a:pPr>
                      <a:r>
                        <a:rPr lang="en-US" sz="1100">
                          <a:effectLst/>
                        </a:rPr>
                        <a:t>performance-analysis.prompt.md</a:t>
                      </a:r>
                      <a:endParaRPr lang="en-US" sz="1100">
                        <a:effectLst/>
                        <a:latin typeface="Calibri" panose="020F0502020204030204" pitchFamily="34" charset="0"/>
                      </a:endParaRPr>
                    </a:p>
                  </a:txBody>
                  <a:tcPr marL="50800" marR="50800" marT="50800" marB="50800"/>
                </a:tc>
                <a:tc>
                  <a:txBody>
                    <a:bodyPr/>
                    <a:lstStyle/>
                    <a:p>
                      <a:pPr marL="0" marR="0" fontAlgn="t">
                        <a:buNone/>
                      </a:pPr>
                      <a:r>
                        <a:rPr lang="en-US" sz="1100">
                          <a:effectLst/>
                        </a:rPr>
                        <a:t>Performance analysis and bottleneck identification</a:t>
                      </a:r>
                      <a:endParaRPr lang="en-US" sz="1100">
                        <a:effectLst/>
                        <a:latin typeface="Calibri" panose="020F0502020204030204" pitchFamily="34" charset="0"/>
                      </a:endParaRPr>
                    </a:p>
                  </a:txBody>
                  <a:tcPr marL="50800" marR="50800" marT="50800" marB="50800"/>
                </a:tc>
                <a:extLst>
                  <a:ext uri="{0D108BD9-81ED-4DB2-BD59-A6C34878D82A}">
                    <a16:rowId xmlns:a16="http://schemas.microsoft.com/office/drawing/2014/main" val="795159104"/>
                  </a:ext>
                </a:extLst>
              </a:tr>
              <a:tr h="314256">
                <a:tc>
                  <a:txBody>
                    <a:bodyPr/>
                    <a:lstStyle/>
                    <a:p>
                      <a:pPr marL="0" marR="0" fontAlgn="t">
                        <a:buNone/>
                      </a:pPr>
                      <a:r>
                        <a:rPr lang="en-US" sz="1100">
                          <a:effectLst/>
                        </a:rPr>
                        <a:t>migration-strategy.prompt.md </a:t>
                      </a:r>
                      <a:endParaRPr lang="en-US" sz="1100">
                        <a:effectLst/>
                        <a:latin typeface="Calibri" panose="020F0502020204030204" pitchFamily="34" charset="0"/>
                      </a:endParaRPr>
                    </a:p>
                  </a:txBody>
                  <a:tcPr marL="50800" marR="50800" marT="50800" marB="50800"/>
                </a:tc>
                <a:tc>
                  <a:txBody>
                    <a:bodyPr/>
                    <a:lstStyle/>
                    <a:p>
                      <a:pPr marL="0" marR="0" fontAlgn="t">
                        <a:buNone/>
                      </a:pPr>
                      <a:r>
                        <a:rPr lang="en-US" sz="1100">
                          <a:effectLst/>
                        </a:rPr>
                        <a:t>System migration and modernization planning</a:t>
                      </a:r>
                      <a:endParaRPr lang="en-US" sz="1100">
                        <a:effectLst/>
                        <a:latin typeface="Calibri" panose="020F0502020204030204" pitchFamily="34" charset="0"/>
                      </a:endParaRPr>
                    </a:p>
                  </a:txBody>
                  <a:tcPr marL="50800" marR="50800" marT="50800" marB="50800"/>
                </a:tc>
                <a:extLst>
                  <a:ext uri="{0D108BD9-81ED-4DB2-BD59-A6C34878D82A}">
                    <a16:rowId xmlns:a16="http://schemas.microsoft.com/office/drawing/2014/main" val="2373535624"/>
                  </a:ext>
                </a:extLst>
              </a:tr>
              <a:tr h="314256">
                <a:tc>
                  <a:txBody>
                    <a:bodyPr/>
                    <a:lstStyle/>
                    <a:p>
                      <a:pPr marL="0" marR="0" fontAlgn="t">
                        <a:buNone/>
                      </a:pPr>
                      <a:r>
                        <a:rPr lang="en-US" sz="1100">
                          <a:effectLst/>
                        </a:rPr>
                        <a:t>compliance-check.prompt.md </a:t>
                      </a:r>
                      <a:endParaRPr lang="en-US" sz="1100">
                        <a:effectLst/>
                        <a:latin typeface="Calibri" panose="020F0502020204030204" pitchFamily="34" charset="0"/>
                      </a:endParaRPr>
                    </a:p>
                  </a:txBody>
                  <a:tcPr marL="50800" marR="50800" marT="50800" marB="50800"/>
                </a:tc>
                <a:tc>
                  <a:txBody>
                    <a:bodyPr/>
                    <a:lstStyle/>
                    <a:p>
                      <a:pPr marL="0" marR="0" fontAlgn="t">
                        <a:buNone/>
                      </a:pPr>
                      <a:r>
                        <a:rPr lang="en-US" sz="1100">
                          <a:effectLst/>
                        </a:rPr>
                        <a:t>Compliance validation and standards alignment</a:t>
                      </a:r>
                      <a:endParaRPr lang="en-US" sz="1100">
                        <a:effectLst/>
                        <a:latin typeface="Calibri" panose="020F0502020204030204" pitchFamily="34" charset="0"/>
                      </a:endParaRPr>
                    </a:p>
                  </a:txBody>
                  <a:tcPr marL="50800" marR="50800" marT="50800" marB="50800"/>
                </a:tc>
                <a:extLst>
                  <a:ext uri="{0D108BD9-81ED-4DB2-BD59-A6C34878D82A}">
                    <a16:rowId xmlns:a16="http://schemas.microsoft.com/office/drawing/2014/main" val="2745448672"/>
                  </a:ext>
                </a:extLst>
              </a:tr>
              <a:tr h="314256">
                <a:tc>
                  <a:txBody>
                    <a:bodyPr/>
                    <a:lstStyle/>
                    <a:p>
                      <a:pPr marL="0" marR="0" fontAlgn="t">
                        <a:buNone/>
                      </a:pPr>
                      <a:r>
                        <a:rPr lang="en-US" sz="1100">
                          <a:effectLst/>
                        </a:rPr>
                        <a:t>risk-assessment.prompt.md </a:t>
                      </a:r>
                      <a:endParaRPr lang="en-US" sz="1100">
                        <a:effectLst/>
                        <a:latin typeface="Calibri" panose="020F0502020204030204" pitchFamily="34" charset="0"/>
                      </a:endParaRPr>
                    </a:p>
                  </a:txBody>
                  <a:tcPr marL="50800" marR="50800" marT="50800" marB="50800"/>
                </a:tc>
                <a:tc>
                  <a:txBody>
                    <a:bodyPr/>
                    <a:lstStyle/>
                    <a:p>
                      <a:pPr marL="0" marR="0" fontAlgn="t">
                        <a:buNone/>
                      </a:pPr>
                      <a:r>
                        <a:rPr lang="en-US" sz="1100" dirty="0">
                          <a:effectLst/>
                        </a:rPr>
                        <a:t>Architectural risk assessment and mitigation</a:t>
                      </a:r>
                      <a:endParaRPr lang="en-US" sz="11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371524656"/>
                  </a:ext>
                </a:extLst>
              </a:tr>
            </a:tbl>
          </a:graphicData>
        </a:graphic>
      </p:graphicFrame>
    </p:spTree>
    <p:extLst>
      <p:ext uri="{BB962C8B-B14F-4D97-AF65-F5344CB8AC3E}">
        <p14:creationId xmlns:p14="http://schemas.microsoft.com/office/powerpoint/2010/main" val="3807235151"/>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015D9-C82B-0277-6627-5BE32019CB34}"/>
              </a:ext>
            </a:extLst>
          </p:cNvPr>
          <p:cNvSpPr>
            <a:spLocks noGrp="1"/>
          </p:cNvSpPr>
          <p:nvPr>
            <p:ph type="title"/>
          </p:nvPr>
        </p:nvSpPr>
        <p:spPr/>
        <p:txBody>
          <a:bodyPr>
            <a:noAutofit/>
          </a:bodyPr>
          <a:lstStyle/>
          <a:p>
            <a:r>
              <a:rPr lang="en-US" sz="2400" b="0" dirty="0"/>
              <a:t>If you said: </a:t>
            </a:r>
            <a:r>
              <a:rPr lang="en-US" sz="2400" b="0" i="1" dirty="0"/>
              <a:t>"Design an architecture for a Windows desktop application that manages real-time inventory for a warehouse"</a:t>
            </a:r>
            <a:endParaRPr lang="en-US" sz="2400" dirty="0"/>
          </a:p>
        </p:txBody>
      </p:sp>
      <p:sp>
        <p:nvSpPr>
          <p:cNvPr id="3" name="Content Placeholder 2">
            <a:extLst>
              <a:ext uri="{FF2B5EF4-FFF2-40B4-BE49-F238E27FC236}">
                <a16:creationId xmlns:a16="http://schemas.microsoft.com/office/drawing/2014/main" id="{4EC20C40-8652-01D7-987E-E8DE82175735}"/>
              </a:ext>
            </a:extLst>
          </p:cNvPr>
          <p:cNvSpPr>
            <a:spLocks noGrp="1"/>
          </p:cNvSpPr>
          <p:nvPr>
            <p:ph idx="1"/>
          </p:nvPr>
        </p:nvSpPr>
        <p:spPr>
          <a:xfrm>
            <a:off x="628651" y="1271210"/>
            <a:ext cx="7886700" cy="3263504"/>
          </a:xfrm>
        </p:spPr>
        <p:txBody>
          <a:bodyPr>
            <a:normAutofit fontScale="77500" lnSpcReduction="20000"/>
          </a:bodyPr>
          <a:lstStyle/>
          <a:p>
            <a:pPr marL="0" indent="0">
              <a:buNone/>
            </a:pPr>
            <a:r>
              <a:rPr lang="en-US" dirty="0"/>
              <a:t>The </a:t>
            </a:r>
            <a:r>
              <a:rPr lang="en-US" dirty="0" err="1"/>
              <a:t>chatmode</a:t>
            </a:r>
            <a:r>
              <a:rPr lang="en-US" dirty="0"/>
              <a:t> would deliver:</a:t>
            </a:r>
          </a:p>
          <a:p>
            <a:r>
              <a:rPr lang="en-US" dirty="0"/>
              <a:t>Component breakdown (UI for warehouse staff, inventory service, database layer, real-time sync)</a:t>
            </a:r>
          </a:p>
          <a:p>
            <a:r>
              <a:rPr lang="en-US" dirty="0"/>
              <a:t>Tech stack (</a:t>
            </a:r>
            <a:r>
              <a:rPr lang="en-US" dirty="0" err="1"/>
              <a:t>WinUI</a:t>
            </a:r>
            <a:r>
              <a:rPr lang="en-US" dirty="0"/>
              <a:t> 3 or WPF, .NET 8, SQL Server, </a:t>
            </a:r>
            <a:r>
              <a:rPr lang="en-US" dirty="0" err="1"/>
              <a:t>SignalR</a:t>
            </a:r>
            <a:r>
              <a:rPr lang="en-US" dirty="0"/>
              <a:t> for real-time updates)</a:t>
            </a:r>
          </a:p>
          <a:p>
            <a:r>
              <a:rPr lang="en-US" dirty="0"/>
              <a:t>Patterns (MVVM for UI, Repository pattern for data, async/await for responsiveness)</a:t>
            </a:r>
          </a:p>
          <a:p>
            <a:r>
              <a:rPr lang="en-US" dirty="0"/>
              <a:t>Performance angles (connection pooling, efficient queries, UI thread optimization)</a:t>
            </a:r>
          </a:p>
          <a:p>
            <a:r>
              <a:rPr lang="en-US" dirty="0"/>
              <a:t>Security (role-based access, encrypted communications, audit logging)</a:t>
            </a:r>
          </a:p>
          <a:p>
            <a:r>
              <a:rPr lang="en-US" dirty="0"/>
              <a:t>Rollout plan (Phase 1: core inventory, Phase 2: real-time sync, Phase 3: analytics)</a:t>
            </a:r>
          </a:p>
        </p:txBody>
      </p:sp>
    </p:spTree>
    <p:extLst>
      <p:ext uri="{BB962C8B-B14F-4D97-AF65-F5344CB8AC3E}">
        <p14:creationId xmlns:p14="http://schemas.microsoft.com/office/powerpoint/2010/main" val="3505318897"/>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3D9A8-C2EA-5F2C-FAA3-014840E7D5E4}"/>
              </a:ext>
            </a:extLst>
          </p:cNvPr>
          <p:cNvSpPr>
            <a:spLocks noGrp="1"/>
          </p:cNvSpPr>
          <p:nvPr>
            <p:ph type="title"/>
          </p:nvPr>
        </p:nvSpPr>
        <p:spPr/>
        <p:txBody>
          <a:bodyPr>
            <a:normAutofit fontScale="90000"/>
          </a:bodyPr>
          <a:lstStyle/>
          <a:p>
            <a:r>
              <a:rPr lang="en-US" dirty="0"/>
              <a:t>Core Instructions</a:t>
            </a:r>
          </a:p>
        </p:txBody>
      </p:sp>
      <p:graphicFrame>
        <p:nvGraphicFramePr>
          <p:cNvPr id="4" name="Content Placeholder 3">
            <a:extLst>
              <a:ext uri="{FF2B5EF4-FFF2-40B4-BE49-F238E27FC236}">
                <a16:creationId xmlns:a16="http://schemas.microsoft.com/office/drawing/2014/main" id="{74EEE5E6-1B3A-0144-C88D-84D15271FD03}"/>
              </a:ext>
            </a:extLst>
          </p:cNvPr>
          <p:cNvGraphicFramePr>
            <a:graphicFrameLocks noGrp="1"/>
          </p:cNvGraphicFramePr>
          <p:nvPr>
            <p:ph idx="1"/>
            <p:extLst>
              <p:ext uri="{D42A27DB-BD31-4B8C-83A1-F6EECF244321}">
                <p14:modId xmlns:p14="http://schemas.microsoft.com/office/powerpoint/2010/main" val="113260826"/>
              </p:ext>
            </p:extLst>
          </p:nvPr>
        </p:nvGraphicFramePr>
        <p:xfrm>
          <a:off x="628651" y="1031846"/>
          <a:ext cx="7693227" cy="3489822"/>
        </p:xfrm>
        <a:graphic>
          <a:graphicData uri="http://schemas.openxmlformats.org/drawingml/2006/table">
            <a:tbl>
              <a:tblPr firstRow="1">
                <a:tableStyleId>{FABFCF23-3B69-468F-B69F-88F6DE6A72F2}</a:tableStyleId>
              </a:tblPr>
              <a:tblGrid>
                <a:gridCol w="3089922">
                  <a:extLst>
                    <a:ext uri="{9D8B030D-6E8A-4147-A177-3AD203B41FA5}">
                      <a16:colId xmlns:a16="http://schemas.microsoft.com/office/drawing/2014/main" val="3459932695"/>
                    </a:ext>
                  </a:extLst>
                </a:gridCol>
                <a:gridCol w="4603305">
                  <a:extLst>
                    <a:ext uri="{9D8B030D-6E8A-4147-A177-3AD203B41FA5}">
                      <a16:colId xmlns:a16="http://schemas.microsoft.com/office/drawing/2014/main" val="1422433491"/>
                    </a:ext>
                  </a:extLst>
                </a:gridCol>
              </a:tblGrid>
              <a:tr h="526953">
                <a:tc>
                  <a:txBody>
                    <a:bodyPr/>
                    <a:lstStyle/>
                    <a:p>
                      <a:pPr marL="0" marR="0" fontAlgn="t">
                        <a:buNone/>
                      </a:pPr>
                      <a:r>
                        <a:rPr lang="en-US" sz="1400">
                          <a:effectLst/>
                        </a:rPr>
                        <a:t>Instruction File</a:t>
                      </a:r>
                      <a:endParaRPr lang="en-US" sz="1400">
                        <a:effectLst/>
                        <a:latin typeface="Calibri" panose="020F0502020204030204" pitchFamily="34" charset="0"/>
                      </a:endParaRPr>
                    </a:p>
                  </a:txBody>
                  <a:tcPr marL="50800" marR="50800" marT="50800" marB="50800"/>
                </a:tc>
                <a:tc>
                  <a:txBody>
                    <a:bodyPr/>
                    <a:lstStyle/>
                    <a:p>
                      <a:pPr marL="0" marR="0" fontAlgn="t">
                        <a:buNone/>
                      </a:pPr>
                      <a:r>
                        <a:rPr lang="en-US" sz="1400">
                          <a:effectLst/>
                        </a:rPr>
                        <a:t>Purpose</a:t>
                      </a:r>
                      <a:endParaRPr lang="en-US" sz="1400">
                        <a:effectLst/>
                        <a:latin typeface="Calibri" panose="020F0502020204030204" pitchFamily="34" charset="0"/>
                      </a:endParaRPr>
                    </a:p>
                  </a:txBody>
                  <a:tcPr marL="50800" marR="50800" marT="50800" marB="50800"/>
                </a:tc>
                <a:extLst>
                  <a:ext uri="{0D108BD9-81ED-4DB2-BD59-A6C34878D82A}">
                    <a16:rowId xmlns:a16="http://schemas.microsoft.com/office/drawing/2014/main" val="1278902151"/>
                  </a:ext>
                </a:extLst>
              </a:tr>
              <a:tr h="526953">
                <a:tc>
                  <a:txBody>
                    <a:bodyPr/>
                    <a:lstStyle/>
                    <a:p>
                      <a:pPr marL="0" marR="0" fontAlgn="t">
                        <a:buNone/>
                      </a:pPr>
                      <a:r>
                        <a:rPr lang="en-US" sz="1400">
                          <a:effectLst/>
                        </a:rPr>
                        <a:t>ai-assisted-output.instructions.md</a:t>
                      </a:r>
                      <a:endParaRPr lang="en-US" sz="1400">
                        <a:effectLst/>
                        <a:latin typeface="Calibri" panose="020F0502020204030204" pitchFamily="34" charset="0"/>
                      </a:endParaRPr>
                    </a:p>
                  </a:txBody>
                  <a:tcPr marL="50800" marR="50800" marT="50800" marB="50800"/>
                </a:tc>
                <a:tc>
                  <a:txBody>
                    <a:bodyPr/>
                    <a:lstStyle/>
                    <a:p>
                      <a:pPr marL="0" marR="0" fontAlgn="t">
                        <a:buNone/>
                      </a:pPr>
                      <a:r>
                        <a:rPr lang="en-US" sz="1400">
                          <a:effectLst/>
                        </a:rPr>
                        <a:t>Guidance for AI generated artifacts</a:t>
                      </a:r>
                      <a:endParaRPr lang="en-US" sz="1400">
                        <a:effectLst/>
                        <a:latin typeface="Calibri" panose="020F0502020204030204" pitchFamily="34" charset="0"/>
                      </a:endParaRPr>
                    </a:p>
                  </a:txBody>
                  <a:tcPr marL="50800" marR="50800" marT="50800" marB="50800"/>
                </a:tc>
                <a:extLst>
                  <a:ext uri="{0D108BD9-81ED-4DB2-BD59-A6C34878D82A}">
                    <a16:rowId xmlns:a16="http://schemas.microsoft.com/office/drawing/2014/main" val="738283939"/>
                  </a:ext>
                </a:extLst>
              </a:tr>
              <a:tr h="526953">
                <a:tc>
                  <a:txBody>
                    <a:bodyPr/>
                    <a:lstStyle/>
                    <a:p>
                      <a:pPr marL="0" marR="0" fontAlgn="t">
                        <a:buNone/>
                      </a:pPr>
                      <a:r>
                        <a:rPr lang="en-US" sz="1400" dirty="0">
                          <a:effectLst/>
                        </a:rPr>
                        <a:t>chatmode-file.instructions.md</a:t>
                      </a:r>
                      <a:endParaRPr lang="en-US" sz="1400" dirty="0">
                        <a:effectLst/>
                        <a:latin typeface="Calibri" panose="020F0502020204030204" pitchFamily="34" charset="0"/>
                      </a:endParaRPr>
                    </a:p>
                  </a:txBody>
                  <a:tcPr marL="50800" marR="50800" marT="50800" marB="50800"/>
                </a:tc>
                <a:tc>
                  <a:txBody>
                    <a:bodyPr/>
                    <a:lstStyle/>
                    <a:p>
                      <a:pPr marL="0" marR="0" fontAlgn="t">
                        <a:buNone/>
                      </a:pPr>
                      <a:r>
                        <a:rPr lang="en-US" sz="1400">
                          <a:effectLst/>
                        </a:rPr>
                        <a:t>Guidance for generating chat modes</a:t>
                      </a:r>
                      <a:endParaRPr lang="en-US" sz="1400">
                        <a:effectLst/>
                        <a:latin typeface="Calibri" panose="020F0502020204030204" pitchFamily="34" charset="0"/>
                      </a:endParaRPr>
                    </a:p>
                  </a:txBody>
                  <a:tcPr marL="50800" marR="50800" marT="50800" marB="50800"/>
                </a:tc>
                <a:extLst>
                  <a:ext uri="{0D108BD9-81ED-4DB2-BD59-A6C34878D82A}">
                    <a16:rowId xmlns:a16="http://schemas.microsoft.com/office/drawing/2014/main" val="778921446"/>
                  </a:ext>
                </a:extLst>
              </a:tr>
              <a:tr h="526953">
                <a:tc>
                  <a:txBody>
                    <a:bodyPr/>
                    <a:lstStyle/>
                    <a:p>
                      <a:pPr marL="0" marR="0" fontAlgn="t">
                        <a:buNone/>
                      </a:pPr>
                      <a:r>
                        <a:rPr lang="en-US" sz="1400" dirty="0">
                          <a:effectLst/>
                        </a:rPr>
                        <a:t>instruction-files.instructions.md</a:t>
                      </a:r>
                      <a:endParaRPr lang="en-US" sz="1400" dirty="0">
                        <a:effectLst/>
                        <a:latin typeface="Calibri" panose="020F0502020204030204" pitchFamily="34" charset="0"/>
                      </a:endParaRPr>
                    </a:p>
                  </a:txBody>
                  <a:tcPr marL="50800" marR="50800" marT="50800" marB="50800"/>
                </a:tc>
                <a:tc>
                  <a:txBody>
                    <a:bodyPr/>
                    <a:lstStyle/>
                    <a:p>
                      <a:pPr marL="0" marR="0" fontAlgn="t">
                        <a:buNone/>
                      </a:pPr>
                      <a:r>
                        <a:rPr lang="en-US" sz="1400">
                          <a:effectLst/>
                        </a:rPr>
                        <a:t>Guidance for generating instruction files</a:t>
                      </a:r>
                      <a:endParaRPr lang="en-US" sz="1400">
                        <a:effectLst/>
                        <a:latin typeface="Calibri" panose="020F0502020204030204" pitchFamily="34" charset="0"/>
                      </a:endParaRPr>
                    </a:p>
                  </a:txBody>
                  <a:tcPr marL="50800" marR="50800" marT="50800" marB="50800"/>
                </a:tc>
                <a:extLst>
                  <a:ext uri="{0D108BD9-81ED-4DB2-BD59-A6C34878D82A}">
                    <a16:rowId xmlns:a16="http://schemas.microsoft.com/office/drawing/2014/main" val="2592660300"/>
                  </a:ext>
                </a:extLst>
              </a:tr>
              <a:tr h="526953">
                <a:tc>
                  <a:txBody>
                    <a:bodyPr/>
                    <a:lstStyle/>
                    <a:p>
                      <a:pPr marL="0" marR="0" fontAlgn="t">
                        <a:buNone/>
                      </a:pPr>
                      <a:r>
                        <a:rPr lang="en-US" sz="1400">
                          <a:effectLst/>
                        </a:rPr>
                        <a:t>prompt-file.instructions.md</a:t>
                      </a:r>
                      <a:endParaRPr lang="en-US" sz="1400">
                        <a:effectLst/>
                        <a:latin typeface="Calibri" panose="020F0502020204030204" pitchFamily="34" charset="0"/>
                      </a:endParaRPr>
                    </a:p>
                  </a:txBody>
                  <a:tcPr marL="50800" marR="50800" marT="50800" marB="50800"/>
                </a:tc>
                <a:tc>
                  <a:txBody>
                    <a:bodyPr/>
                    <a:lstStyle/>
                    <a:p>
                      <a:pPr marL="0" marR="0" fontAlgn="t">
                        <a:buNone/>
                      </a:pPr>
                      <a:r>
                        <a:rPr lang="en-US" sz="1400">
                          <a:effectLst/>
                        </a:rPr>
                        <a:t>Guidance for generating prompt files</a:t>
                      </a:r>
                      <a:endParaRPr lang="en-US" sz="1400">
                        <a:effectLst/>
                        <a:latin typeface="Calibri" panose="020F0502020204030204" pitchFamily="34" charset="0"/>
                      </a:endParaRPr>
                    </a:p>
                  </a:txBody>
                  <a:tcPr marL="50800" marR="50800" marT="50800" marB="50800"/>
                </a:tc>
                <a:extLst>
                  <a:ext uri="{0D108BD9-81ED-4DB2-BD59-A6C34878D82A}">
                    <a16:rowId xmlns:a16="http://schemas.microsoft.com/office/drawing/2014/main" val="3135365050"/>
                  </a:ext>
                </a:extLst>
              </a:tr>
              <a:tr h="855057">
                <a:tc>
                  <a:txBody>
                    <a:bodyPr/>
                    <a:lstStyle/>
                    <a:p>
                      <a:pPr marL="0" marR="0" fontAlgn="t">
                        <a:buNone/>
                      </a:pPr>
                      <a:r>
                        <a:rPr lang="en-US" sz="1400">
                          <a:effectLst/>
                        </a:rPr>
                        <a:t>instruction-prompt-files.instructions.md</a:t>
                      </a:r>
                      <a:endParaRPr lang="en-US" sz="1400">
                        <a:effectLst/>
                        <a:latin typeface="Calibri" panose="020F0502020204030204" pitchFamily="34" charset="0"/>
                      </a:endParaRPr>
                    </a:p>
                  </a:txBody>
                  <a:tcPr marL="50800" marR="50800" marT="50800" marB="50800"/>
                </a:tc>
                <a:tc>
                  <a:txBody>
                    <a:bodyPr/>
                    <a:lstStyle/>
                    <a:p>
                      <a:pPr marL="0" marR="0" fontAlgn="t">
                        <a:buNone/>
                      </a:pPr>
                      <a:r>
                        <a:rPr lang="en-US" sz="1400" dirty="0">
                          <a:effectLst/>
                        </a:rPr>
                        <a:t>Guidance for generating prompts that generate instruction files</a:t>
                      </a:r>
                      <a:endParaRPr lang="en-US" sz="14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799221147"/>
                  </a:ext>
                </a:extLst>
              </a:tr>
            </a:tbl>
          </a:graphicData>
        </a:graphic>
      </p:graphicFrame>
    </p:spTree>
    <p:extLst>
      <p:ext uri="{BB962C8B-B14F-4D97-AF65-F5344CB8AC3E}">
        <p14:creationId xmlns:p14="http://schemas.microsoft.com/office/powerpoint/2010/main" val="545939707"/>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1" y="273845"/>
            <a:ext cx="6696665" cy="527268"/>
          </a:xfrm>
        </p:spPr>
        <p:txBody>
          <a:bodyPr anchor="ctr">
            <a:normAutofit/>
          </a:bodyPr>
          <a:lstStyle/>
          <a:p>
            <a:pPr marL="0" lvl="0" indent="0">
              <a:buNone/>
            </a:pPr>
            <a:r>
              <a:rPr lang="en-US" sz="2800"/>
              <a:t>Starting with Project Requirements</a:t>
            </a:r>
          </a:p>
        </p:txBody>
      </p:sp>
      <p:graphicFrame>
        <p:nvGraphicFramePr>
          <p:cNvPr id="5" name="Content Placeholder 2">
            <a:extLst>
              <a:ext uri="{FF2B5EF4-FFF2-40B4-BE49-F238E27FC236}">
                <a16:creationId xmlns:a16="http://schemas.microsoft.com/office/drawing/2014/main" id="{A4C96B23-C707-0543-5C91-4E0C85B34001}"/>
              </a:ext>
            </a:extLst>
          </p:cNvPr>
          <p:cNvGraphicFramePr>
            <a:graphicFrameLocks noGrp="1"/>
          </p:cNvGraphicFramePr>
          <p:nvPr>
            <p:ph idx="1"/>
            <p:extLst>
              <p:ext uri="{D42A27DB-BD31-4B8C-83A1-F6EECF244321}">
                <p14:modId xmlns:p14="http://schemas.microsoft.com/office/powerpoint/2010/main" val="3027353756"/>
              </p:ext>
            </p:extLst>
          </p:nvPr>
        </p:nvGraphicFramePr>
        <p:xfrm>
          <a:off x="628650" y="1096112"/>
          <a:ext cx="7886700" cy="32635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rot="16200000">
            <a:off x="-1768974" y="2339073"/>
            <a:ext cx="4786313" cy="527268"/>
          </a:xfrm>
        </p:spPr>
        <p:txBody>
          <a:bodyPr anchor="ctr">
            <a:noAutofit/>
          </a:bodyPr>
          <a:lstStyle/>
          <a:p>
            <a:pPr marL="0" lvl="0" indent="0">
              <a:buNone/>
            </a:pPr>
            <a:r>
              <a:rPr lang="en-US" sz="2000" dirty="0"/>
              <a:t>Business Rules as Requirements</a:t>
            </a:r>
          </a:p>
        </p:txBody>
      </p:sp>
      <p:pic>
        <p:nvPicPr>
          <p:cNvPr id="4" name="Picture 3" descr="A diagram of a computer program">
            <a:extLst>
              <a:ext uri="{FF2B5EF4-FFF2-40B4-BE49-F238E27FC236}">
                <a16:creationId xmlns:a16="http://schemas.microsoft.com/office/drawing/2014/main" id="{70D26D8A-8732-4CF8-585E-F0A48D3A050F}"/>
              </a:ext>
            </a:extLst>
          </p:cNvPr>
          <p:cNvPicPr>
            <a:picLocks noChangeAspect="1"/>
          </p:cNvPicPr>
          <p:nvPr/>
        </p:nvPicPr>
        <p:blipFill>
          <a:blip r:embed="rId2"/>
          <a:stretch>
            <a:fillRect/>
          </a:stretch>
        </p:blipFill>
        <p:spPr>
          <a:xfrm>
            <a:off x="1800225" y="129563"/>
            <a:ext cx="4862332" cy="4801553"/>
          </a:xfrm>
          <a:prstGeom prst="rect">
            <a:avLst/>
          </a:prstGeom>
          <a:noFill/>
        </p:spPr>
      </p:pic>
    </p:spTree>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Conceptual Models</a:t>
            </a:r>
          </a:p>
        </p:txBody>
      </p:sp>
      <p:sp>
        <p:nvSpPr>
          <p:cNvPr id="3" name="Content Placeholder 2"/>
          <p:cNvSpPr>
            <a:spLocks noGrp="1"/>
          </p:cNvSpPr>
          <p:nvPr>
            <p:ph idx="1"/>
          </p:nvPr>
        </p:nvSpPr>
        <p:spPr/>
        <p:txBody>
          <a:bodyPr/>
          <a:lstStyle/>
          <a:p>
            <a:pPr lvl="0"/>
            <a:r>
              <a:t>Technology Agnostic</a:t>
            </a:r>
          </a:p>
          <a:p>
            <a:pPr lvl="1"/>
            <a:r>
              <a:t>Transformable into Logical Models</a:t>
            </a:r>
          </a:p>
          <a:p>
            <a:pPr lvl="0"/>
            <a:r>
              <a:t>Clarity</a:t>
            </a:r>
          </a:p>
          <a:p>
            <a:pPr lvl="0"/>
            <a:r>
              <a:t>Expressive</a:t>
            </a:r>
          </a:p>
          <a:p>
            <a:pPr lvl="0"/>
            <a:r>
              <a:t>Formal</a:t>
            </a:r>
          </a:p>
          <a:p>
            <a:pPr lvl="0"/>
            <a:r>
              <a:t>Conceptual Models are not a requirement</a:t>
            </a:r>
          </a:p>
        </p:txBody>
      </p:sp>
    </p:spTree>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Object Role Models</a:t>
            </a:r>
          </a:p>
        </p:txBody>
      </p:sp>
      <p:sp>
        <p:nvSpPr>
          <p:cNvPr id="3" name="Content Placeholder 2"/>
          <p:cNvSpPr>
            <a:spLocks noGrp="1"/>
          </p:cNvSpPr>
          <p:nvPr>
            <p:ph idx="1"/>
          </p:nvPr>
        </p:nvSpPr>
        <p:spPr/>
        <p:txBody>
          <a:bodyPr/>
          <a:lstStyle/>
          <a:p>
            <a:pPr lvl="0"/>
            <a:r>
              <a:t>A type of conceptual model</a:t>
            </a:r>
          </a:p>
          <a:p>
            <a:pPr lvl="0"/>
            <a:r>
              <a:t>Supported by a Visual Studio Extension (NORMA)</a:t>
            </a:r>
          </a:p>
          <a:p>
            <a:pPr lvl="0"/>
            <a:r>
              <a:t>Object Role Models are textual and visual</a:t>
            </a:r>
          </a:p>
          <a:p>
            <a:pPr lvl="1"/>
            <a:r>
              <a:t>Text can be visualized</a:t>
            </a:r>
          </a:p>
          <a:p>
            <a:pPr lvl="1"/>
            <a:r>
              <a:t>Diagrams can be verbalized</a:t>
            </a:r>
          </a:p>
          <a:p>
            <a:pPr lvl="0"/>
            <a:r>
              <a:t>Textual representation is in a formal natural language that can be validated by subject matter experts</a:t>
            </a:r>
          </a:p>
        </p:txBody>
      </p:sp>
    </p:spTree>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Zeus.Academia.</a:t>
            </a:r>
            <a:r>
              <a:rPr lang="en-US" dirty="0"/>
              <a:t>3b</a:t>
            </a:r>
            <a:endParaRPr dirty="0"/>
          </a:p>
        </p:txBody>
      </p:sp>
      <p:sp>
        <p:nvSpPr>
          <p:cNvPr id="3" name="Content Placeholder 2"/>
          <p:cNvSpPr>
            <a:spLocks noGrp="1"/>
          </p:cNvSpPr>
          <p:nvPr>
            <p:ph idx="1"/>
          </p:nvPr>
        </p:nvSpPr>
        <p:spPr/>
        <p:txBody>
          <a:bodyPr>
            <a:normAutofit/>
          </a:bodyPr>
          <a:lstStyle/>
          <a:p>
            <a:pPr lvl="0"/>
            <a:r>
              <a:rPr dirty="0"/>
              <a:t>Based on a publicly available model of a commonly understood domain</a:t>
            </a:r>
          </a:p>
          <a:p>
            <a:pPr lvl="1"/>
            <a:r>
              <a:rPr dirty="0"/>
              <a:t>https://orm.net/pdf/ORMwhitePaper.pdf</a:t>
            </a:r>
            <a:endParaRPr dirty="0">
              <a:hlinkClick r:id="rId2"/>
            </a:endParaRPr>
          </a:p>
          <a:p>
            <a:pPr lvl="0"/>
            <a:r>
              <a:rPr dirty="0"/>
              <a:t>Allows us to quickly move from requirements to implementation</a:t>
            </a:r>
          </a:p>
          <a:p>
            <a:pPr lvl="1"/>
            <a:r>
              <a:rPr dirty="0"/>
              <a:t>https://github.com/johnmillerATcodemag-com/zeus.academia.</a:t>
            </a:r>
            <a:r>
              <a:rPr lang="en-US" dirty="0"/>
              <a:t>3b</a:t>
            </a:r>
            <a:endParaRPr dirty="0">
              <a:hlinkClick r:id="rId3"/>
            </a:endParaRPr>
          </a:p>
          <a:p>
            <a:pPr lvl="0"/>
            <a:r>
              <a:rPr dirty="0"/>
              <a:t>Why </a:t>
            </a:r>
            <a:r>
              <a:rPr lang="en-US" dirty="0"/>
              <a:t>3b</a:t>
            </a:r>
            <a:r>
              <a:rPr dirty="0"/>
              <a:t>?</a:t>
            </a:r>
          </a:p>
          <a:p>
            <a:pPr lvl="1"/>
            <a:r>
              <a:rPr lang="en-US" dirty="0"/>
              <a:t>Third</a:t>
            </a:r>
            <a:r>
              <a:rPr dirty="0"/>
              <a:t> Iteration</a:t>
            </a:r>
            <a:r>
              <a:rPr lang="en-US" dirty="0"/>
              <a:t> in progress</a:t>
            </a:r>
            <a:endParaRPr dirty="0"/>
          </a:p>
          <a:p>
            <a:pPr lvl="1"/>
            <a:r>
              <a:rPr dirty="0"/>
              <a:t>If something is hard, do it often</a:t>
            </a:r>
          </a:p>
        </p:txBody>
      </p:sp>
    </p:spTree>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rPr dirty="0"/>
              <a:t>Use</a:t>
            </a:r>
            <a:r>
              <a:rPr lang="en-US" dirty="0"/>
              <a:t> Cases</a:t>
            </a:r>
            <a:endParaRPr dirty="0"/>
          </a:p>
        </p:txBody>
      </p:sp>
      <p:sp>
        <p:nvSpPr>
          <p:cNvPr id="3" name="Content Placeholder 2"/>
          <p:cNvSpPr>
            <a:spLocks noGrp="1"/>
          </p:cNvSpPr>
          <p:nvPr>
            <p:ph idx="1"/>
          </p:nvPr>
        </p:nvSpPr>
        <p:spPr/>
        <p:txBody>
          <a:bodyPr>
            <a:normAutofit/>
          </a:bodyPr>
          <a:lstStyle/>
          <a:p>
            <a:pPr marL="0" lvl="0" indent="0">
              <a:buNone/>
            </a:pPr>
            <a:r>
              <a:rPr dirty="0"/>
              <a:t>Use cases are specific scenarios that guide data capture and processing in the application</a:t>
            </a:r>
          </a:p>
          <a:p>
            <a:pPr lvl="1"/>
            <a:r>
              <a:rPr dirty="0"/>
              <a:t>Promote a Lecturer to Senior Lecturer</a:t>
            </a:r>
          </a:p>
          <a:p>
            <a:pPr lvl="1"/>
            <a:r>
              <a:rPr dirty="0"/>
              <a:t>Promote a Senior Lecturer to Associate Professor</a:t>
            </a:r>
          </a:p>
          <a:p>
            <a:pPr lvl="1"/>
            <a:r>
              <a:rPr dirty="0"/>
              <a:t>Promote an Associate Professor to Professor</a:t>
            </a:r>
          </a:p>
          <a:p>
            <a:pPr lvl="1"/>
            <a:r>
              <a:rPr dirty="0"/>
              <a:t>Assign a Class to an Academic</a:t>
            </a:r>
          </a:p>
          <a:p>
            <a:pPr lvl="1"/>
            <a:r>
              <a:rPr dirty="0"/>
              <a:t>Add a new Academic to the faculty capturing all required information and allowing the capture of optional information</a:t>
            </a:r>
          </a:p>
        </p:txBody>
      </p:sp>
    </p:spTree>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22686-6902-6B44-B73B-5EAB74063E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FB2983-AF22-C9D6-A732-E37C7475FE5C}"/>
              </a:ext>
            </a:extLst>
          </p:cNvPr>
          <p:cNvSpPr>
            <a:spLocks noGrp="1"/>
          </p:cNvSpPr>
          <p:nvPr>
            <p:ph type="title"/>
          </p:nvPr>
        </p:nvSpPr>
        <p:spPr/>
        <p:txBody>
          <a:bodyPr>
            <a:noAutofit/>
          </a:bodyPr>
          <a:lstStyle/>
          <a:p>
            <a:pPr marL="0" lvl="0" indent="0">
              <a:buNone/>
            </a:pPr>
            <a:r>
              <a:rPr sz="2000" dirty="0"/>
              <a:t>Exercise</a:t>
            </a:r>
            <a:r>
              <a:rPr lang="en-US" sz="2000" dirty="0"/>
              <a:t>:</a:t>
            </a:r>
            <a:r>
              <a:rPr sz="2000" dirty="0"/>
              <a:t> </a:t>
            </a:r>
            <a:r>
              <a:rPr lang="en-US" sz="2000" dirty="0"/>
              <a:t>Generate Business Requirements</a:t>
            </a:r>
            <a:endParaRPr sz="2000" dirty="0"/>
          </a:p>
        </p:txBody>
      </p:sp>
      <p:sp>
        <p:nvSpPr>
          <p:cNvPr id="3" name="Content Placeholder 2">
            <a:extLst>
              <a:ext uri="{FF2B5EF4-FFF2-40B4-BE49-F238E27FC236}">
                <a16:creationId xmlns:a16="http://schemas.microsoft.com/office/drawing/2014/main" id="{4F763219-5146-453F-6E3A-0F4694A0A2AA}"/>
              </a:ext>
            </a:extLst>
          </p:cNvPr>
          <p:cNvSpPr>
            <a:spLocks noGrp="1"/>
          </p:cNvSpPr>
          <p:nvPr>
            <p:ph idx="1"/>
          </p:nvPr>
        </p:nvSpPr>
        <p:spPr/>
        <p:txBody>
          <a:bodyPr numCol="2">
            <a:normAutofit fontScale="77500" lnSpcReduction="20000"/>
          </a:bodyPr>
          <a:lstStyle/>
          <a:p>
            <a:pPr marL="0" lvl="0" indent="0">
              <a:buNone/>
            </a:pPr>
            <a:r>
              <a:rPr lang="en-US" b="1" dirty="0"/>
              <a:t>Duration</a:t>
            </a:r>
            <a:r>
              <a:rPr lang="en-US" dirty="0"/>
              <a:t>: 20 minutes</a:t>
            </a:r>
          </a:p>
          <a:p>
            <a:pPr marL="0" lvl="0" indent="0">
              <a:buNone/>
            </a:pPr>
            <a:r>
              <a:rPr lang="en-US" b="1" dirty="0"/>
              <a:t> </a:t>
            </a:r>
            <a:br>
              <a:rPr lang="en-US" b="1" dirty="0"/>
            </a:br>
            <a:r>
              <a:rPr b="1" dirty="0"/>
              <a:t>Objective</a:t>
            </a:r>
            <a:r>
              <a:rPr lang="en-US" b="1" dirty="0"/>
              <a:t>s</a:t>
            </a:r>
            <a:r>
              <a:rPr dirty="0"/>
              <a:t>: </a:t>
            </a:r>
            <a:endParaRPr lang="en-US" dirty="0"/>
          </a:p>
          <a:p>
            <a:r>
              <a:rPr lang="en-US" dirty="0"/>
              <a:t>Use the Product Manager chat mode to create a requirements document for a calculator</a:t>
            </a:r>
          </a:p>
          <a:p>
            <a:pPr lvl="0"/>
            <a:endParaRPr lang="en-US" dirty="0"/>
          </a:p>
          <a:p>
            <a:pPr marL="0" lvl="0" indent="0">
              <a:buNone/>
            </a:pPr>
            <a:r>
              <a:rPr lang="en-US" b="1" dirty="0"/>
              <a:t>Activities</a:t>
            </a:r>
            <a:r>
              <a:rPr lang="en-US" dirty="0"/>
              <a:t>:</a:t>
            </a:r>
          </a:p>
          <a:p>
            <a:pPr marL="457200" lvl="0" indent="-457200">
              <a:buFont typeface="+mj-lt"/>
              <a:buAutoNum type="arabicPeriod"/>
            </a:pPr>
            <a:r>
              <a:rPr lang="en-US" dirty="0"/>
              <a:t>Activate the Product Manager chat mode</a:t>
            </a:r>
          </a:p>
          <a:p>
            <a:pPr marL="457200" lvl="0" indent="-457200">
              <a:buFont typeface="+mj-lt"/>
              <a:buAutoNum type="arabicPeriod"/>
            </a:pPr>
            <a:r>
              <a:rPr lang="en-US" dirty="0"/>
              <a:t>Prompt the AI to create a requirements document</a:t>
            </a:r>
          </a:p>
          <a:p>
            <a:pPr marL="457200" lvl="0" indent="-457200">
              <a:buFont typeface="+mj-lt"/>
              <a:buAutoNum type="arabicPeriod"/>
            </a:pPr>
            <a:r>
              <a:rPr lang="en-US" dirty="0"/>
              <a:t>Review the requirements</a:t>
            </a:r>
          </a:p>
          <a:p>
            <a:pPr marL="457200" lvl="0" indent="-457200">
              <a:buFont typeface="+mj-lt"/>
              <a:buAutoNum type="arabicPeriod"/>
            </a:pPr>
            <a:r>
              <a:rPr lang="en-US" dirty="0"/>
              <a:t>Add an implementation plan using vertical slices</a:t>
            </a:r>
          </a:p>
          <a:p>
            <a:pPr marL="457200" lvl="0" indent="-457200">
              <a:buFont typeface="+mj-lt"/>
              <a:buAutoNum type="arabicPeriod"/>
            </a:pPr>
            <a:r>
              <a:rPr lang="en-US" dirty="0"/>
              <a:t>Review the changes</a:t>
            </a:r>
          </a:p>
          <a:p>
            <a:pPr marL="457200" lvl="0" indent="-457200">
              <a:buFont typeface="+mj-lt"/>
              <a:buAutoNum type="arabicPeriod"/>
            </a:pPr>
            <a:r>
              <a:rPr lang="en-US" dirty="0"/>
              <a:t>Add a diagram showing the relationship between Phases, Slices, and User Stories</a:t>
            </a:r>
          </a:p>
          <a:p>
            <a:pPr marL="0" lvl="0" indent="0">
              <a:spcBef>
                <a:spcPts val="3000"/>
              </a:spcBef>
              <a:buNone/>
            </a:pPr>
            <a:r>
              <a:rPr lang="en-US" b="1" dirty="0"/>
              <a:t>Success Criteria</a:t>
            </a:r>
          </a:p>
          <a:p>
            <a:pPr lvl="0"/>
            <a:r>
              <a:rPr lang="en-US" dirty="0"/>
              <a:t>The requirements document exists and passes review</a:t>
            </a:r>
            <a:endParaRPr dirty="0"/>
          </a:p>
        </p:txBody>
      </p:sp>
    </p:spTree>
    <p:extLst>
      <p:ext uri="{BB962C8B-B14F-4D97-AF65-F5344CB8AC3E}">
        <p14:creationId xmlns:p14="http://schemas.microsoft.com/office/powerpoint/2010/main" val="2493475576"/>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EC064-1B2B-6AE4-5112-6EAB5298CB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C6591A-BAA1-6DF9-EC39-523935C53979}"/>
              </a:ext>
            </a:extLst>
          </p:cNvPr>
          <p:cNvSpPr>
            <a:spLocks noGrp="1"/>
          </p:cNvSpPr>
          <p:nvPr>
            <p:ph type="title"/>
          </p:nvPr>
        </p:nvSpPr>
        <p:spPr/>
        <p:txBody>
          <a:bodyPr>
            <a:normAutofit fontScale="90000"/>
          </a:bodyPr>
          <a:lstStyle/>
          <a:p>
            <a:pPr marL="0" lvl="0" indent="0">
              <a:buNone/>
            </a:pPr>
            <a:r>
              <a:rPr dirty="0"/>
              <a:t>Exercise</a:t>
            </a:r>
            <a:r>
              <a:rPr lang="en-US" dirty="0"/>
              <a:t>:</a:t>
            </a:r>
            <a:r>
              <a:rPr dirty="0"/>
              <a:t> Create Project Requirement</a:t>
            </a:r>
          </a:p>
        </p:txBody>
      </p:sp>
      <p:sp>
        <p:nvSpPr>
          <p:cNvPr id="3" name="Content Placeholder 2">
            <a:extLst>
              <a:ext uri="{FF2B5EF4-FFF2-40B4-BE49-F238E27FC236}">
                <a16:creationId xmlns:a16="http://schemas.microsoft.com/office/drawing/2014/main" id="{833119EE-82F6-E1AD-B59A-E16B536748A7}"/>
              </a:ext>
            </a:extLst>
          </p:cNvPr>
          <p:cNvSpPr>
            <a:spLocks noGrp="1"/>
          </p:cNvSpPr>
          <p:nvPr>
            <p:ph idx="1"/>
          </p:nvPr>
        </p:nvSpPr>
        <p:spPr/>
        <p:txBody>
          <a:bodyPr>
            <a:normAutofit fontScale="70000" lnSpcReduction="20000"/>
          </a:bodyPr>
          <a:lstStyle/>
          <a:p>
            <a:pPr lvl="0"/>
            <a:r>
              <a:rPr b="1" dirty="0"/>
              <a:t>Objective</a:t>
            </a:r>
            <a:r>
              <a:rPr dirty="0"/>
              <a:t>: Create project requirement instructions, some project-specific, some generic, using both manual and Copilot-assisted methods.</a:t>
            </a:r>
          </a:p>
          <a:p>
            <a:pPr lvl="0"/>
            <a:r>
              <a:rPr dirty="0"/>
              <a:t>Manually create a </a:t>
            </a:r>
            <a:r>
              <a:rPr lang="en-US" dirty="0"/>
              <a:t>business requirements</a:t>
            </a:r>
            <a:r>
              <a:rPr dirty="0"/>
              <a:t>.md file and add:</a:t>
            </a:r>
          </a:p>
          <a:p>
            <a:pPr lvl="1"/>
            <a:r>
              <a:rPr dirty="0"/>
              <a:t>Business rules</a:t>
            </a:r>
          </a:p>
          <a:p>
            <a:pPr lvl="1"/>
            <a:r>
              <a:rPr dirty="0"/>
              <a:t>Workflows</a:t>
            </a:r>
          </a:p>
          <a:p>
            <a:pPr lvl="1"/>
            <a:r>
              <a:rPr dirty="0"/>
              <a:t>Purpose</a:t>
            </a:r>
          </a:p>
          <a:p>
            <a:pPr lvl="1"/>
            <a:r>
              <a:rPr dirty="0"/>
              <a:t>Tech stack</a:t>
            </a:r>
          </a:p>
          <a:p>
            <a:pPr lvl="1"/>
            <a:r>
              <a:rPr dirty="0"/>
              <a:t>Architecture</a:t>
            </a:r>
          </a:p>
          <a:p>
            <a:pPr lvl="0"/>
            <a:r>
              <a:rPr dirty="0"/>
              <a:t>Use Copilot to generate instruction files using the copilot-instructions.md and the codebase for context.</a:t>
            </a:r>
          </a:p>
          <a:p>
            <a:pPr marL="0" lvl="0" indent="0">
              <a:buNone/>
            </a:pPr>
            <a:r>
              <a:rPr b="1" dirty="0"/>
              <a:t>Bonus</a:t>
            </a:r>
            <a:r>
              <a:rPr dirty="0"/>
              <a:t>:</a:t>
            </a:r>
          </a:p>
          <a:p>
            <a:pPr lvl="0"/>
            <a:r>
              <a:rPr dirty="0"/>
              <a:t>Review instruction files for errors and omissions.</a:t>
            </a:r>
          </a:p>
          <a:p>
            <a:pPr lvl="0"/>
            <a:r>
              <a:rPr dirty="0"/>
              <a:t>Ask Copilot to suggest changes based on evolving tech and practices.</a:t>
            </a:r>
          </a:p>
        </p:txBody>
      </p:sp>
    </p:spTree>
    <p:extLst>
      <p:ext uri="{BB962C8B-B14F-4D97-AF65-F5344CB8AC3E}">
        <p14:creationId xmlns:p14="http://schemas.microsoft.com/office/powerpoint/2010/main" val="1113893641"/>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31545F-75A3-67AE-96D5-043E408B45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93AEF5-47BB-6F3F-AFE5-70E365B2FDB1}"/>
              </a:ext>
            </a:extLst>
          </p:cNvPr>
          <p:cNvSpPr>
            <a:spLocks noGrp="1"/>
          </p:cNvSpPr>
          <p:nvPr>
            <p:ph type="title"/>
          </p:nvPr>
        </p:nvSpPr>
        <p:spPr/>
        <p:txBody>
          <a:bodyPr>
            <a:noAutofit/>
          </a:bodyPr>
          <a:lstStyle/>
          <a:p>
            <a:pPr marL="0" lvl="0" indent="0">
              <a:buNone/>
            </a:pPr>
            <a:r>
              <a:rPr sz="2000" dirty="0"/>
              <a:t>Exercise</a:t>
            </a:r>
            <a:r>
              <a:rPr lang="en-US" sz="2000" dirty="0"/>
              <a:t>:</a:t>
            </a:r>
            <a:r>
              <a:rPr sz="2000" dirty="0"/>
              <a:t> </a:t>
            </a:r>
            <a:r>
              <a:rPr lang="en-US" sz="2000" dirty="0"/>
              <a:t>Generate Business Requirements</a:t>
            </a:r>
            <a:endParaRPr sz="2000" dirty="0"/>
          </a:p>
        </p:txBody>
      </p:sp>
      <p:sp>
        <p:nvSpPr>
          <p:cNvPr id="3" name="Content Placeholder 2">
            <a:extLst>
              <a:ext uri="{FF2B5EF4-FFF2-40B4-BE49-F238E27FC236}">
                <a16:creationId xmlns:a16="http://schemas.microsoft.com/office/drawing/2014/main" id="{C657BE98-6382-587E-D375-364E6E119421}"/>
              </a:ext>
            </a:extLst>
          </p:cNvPr>
          <p:cNvSpPr>
            <a:spLocks noGrp="1"/>
          </p:cNvSpPr>
          <p:nvPr>
            <p:ph idx="1"/>
          </p:nvPr>
        </p:nvSpPr>
        <p:spPr/>
        <p:txBody>
          <a:bodyPr numCol="2">
            <a:normAutofit fontScale="92500" lnSpcReduction="20000"/>
          </a:bodyPr>
          <a:lstStyle/>
          <a:p>
            <a:pPr marL="0" lvl="0" indent="0">
              <a:buNone/>
            </a:pPr>
            <a:r>
              <a:rPr lang="en-US" b="1" dirty="0"/>
              <a:t>Duration</a:t>
            </a:r>
            <a:r>
              <a:rPr lang="en-US" dirty="0"/>
              <a:t>: 20 minutes</a:t>
            </a:r>
          </a:p>
          <a:p>
            <a:pPr marL="0" lvl="0" indent="0">
              <a:buNone/>
            </a:pPr>
            <a:r>
              <a:rPr lang="en-US" b="1" dirty="0"/>
              <a:t> </a:t>
            </a:r>
            <a:br>
              <a:rPr lang="en-US" b="1" dirty="0"/>
            </a:br>
            <a:r>
              <a:rPr b="1" dirty="0"/>
              <a:t>Objective</a:t>
            </a:r>
            <a:r>
              <a:rPr lang="en-US" b="1" dirty="0"/>
              <a:t>s</a:t>
            </a:r>
            <a:r>
              <a:rPr dirty="0"/>
              <a:t>: </a:t>
            </a:r>
            <a:endParaRPr lang="en-US" dirty="0"/>
          </a:p>
          <a:p>
            <a:r>
              <a:rPr lang="en-US" dirty="0"/>
              <a:t>Use the Product Manager chat mode to update the requirements document to implement using vertical slices</a:t>
            </a:r>
          </a:p>
          <a:p>
            <a:pPr lvl="0"/>
            <a:endParaRPr lang="en-US" dirty="0"/>
          </a:p>
          <a:p>
            <a:pPr marL="0" lvl="0" indent="0">
              <a:buNone/>
            </a:pPr>
            <a:r>
              <a:rPr lang="en-US" b="1" dirty="0"/>
              <a:t>Activities</a:t>
            </a:r>
            <a:r>
              <a:rPr lang="en-US" dirty="0"/>
              <a:t>:</a:t>
            </a:r>
          </a:p>
          <a:p>
            <a:pPr marL="457200" lvl="0" indent="-457200">
              <a:buFont typeface="+mj-lt"/>
              <a:buAutoNum type="arabicPeriod"/>
            </a:pPr>
            <a:r>
              <a:rPr lang="en-US" dirty="0"/>
              <a:t>Activate the Product Manager chat mode</a:t>
            </a:r>
          </a:p>
          <a:p>
            <a:pPr marL="457200" lvl="0" indent="-457200">
              <a:buFont typeface="+mj-lt"/>
              <a:buAutoNum type="arabicPeriod"/>
            </a:pPr>
            <a:r>
              <a:rPr lang="en-US" dirty="0"/>
              <a:t>Prompt the AI to add a vertical slices implementation plan</a:t>
            </a:r>
          </a:p>
          <a:p>
            <a:pPr marL="457200" lvl="0" indent="-457200">
              <a:buFont typeface="+mj-lt"/>
              <a:buAutoNum type="arabicPeriod"/>
            </a:pPr>
            <a:r>
              <a:rPr lang="en-US" dirty="0"/>
              <a:t>Review the changes</a:t>
            </a:r>
          </a:p>
          <a:p>
            <a:pPr marL="457200" lvl="0" indent="-457200">
              <a:buFont typeface="+mj-lt"/>
              <a:buAutoNum type="arabicPeriod"/>
            </a:pPr>
            <a:r>
              <a:rPr lang="en-US" dirty="0"/>
              <a:t>Add a diagram showing the relationship between Phases, Slices, and User Stories</a:t>
            </a:r>
          </a:p>
          <a:p>
            <a:pPr marL="0" lvl="0" indent="0">
              <a:spcBef>
                <a:spcPts val="3000"/>
              </a:spcBef>
              <a:buNone/>
            </a:pPr>
            <a:r>
              <a:rPr lang="en-US" b="1" dirty="0"/>
              <a:t>Success Criteria</a:t>
            </a:r>
          </a:p>
          <a:p>
            <a:pPr lvl="0"/>
            <a:r>
              <a:rPr lang="en-US" dirty="0"/>
              <a:t>The implementation plan passes review</a:t>
            </a:r>
            <a:endParaRPr dirty="0"/>
          </a:p>
        </p:txBody>
      </p:sp>
    </p:spTree>
    <p:extLst>
      <p:ext uri="{BB962C8B-B14F-4D97-AF65-F5344CB8AC3E}">
        <p14:creationId xmlns:p14="http://schemas.microsoft.com/office/powerpoint/2010/main" val="2280152492"/>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Getting Started Checklist</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dirty="0"/>
              <a:t>Phase 1: Foundation</a:t>
            </a:r>
          </a:p>
          <a:p>
            <a:pPr lvl="0"/>
            <a:r>
              <a:rPr dirty="0"/>
              <a:t>☐ Create core instruction files for your tech stack</a:t>
            </a:r>
          </a:p>
          <a:p>
            <a:pPr lvl="0"/>
            <a:r>
              <a:rPr dirty="0"/>
              <a:t>☐ Establish coding standards and quality gates</a:t>
            </a:r>
          </a:p>
          <a:p>
            <a:pPr lvl="0"/>
            <a:r>
              <a:rPr dirty="0"/>
              <a:t>☐ Define security and compliance requirements</a:t>
            </a:r>
          </a:p>
          <a:p>
            <a:pPr lvl="0"/>
            <a:r>
              <a:rPr dirty="0"/>
              <a:t>☐ Test instruction file effectiveness</a:t>
            </a:r>
          </a:p>
          <a:p>
            <a:pPr marL="0" lvl="0" indent="0">
              <a:spcBef>
                <a:spcPts val="3000"/>
              </a:spcBef>
              <a:buNone/>
            </a:pPr>
            <a:r>
              <a:rPr b="1" dirty="0"/>
              <a:t>Phase 2: Automation</a:t>
            </a:r>
          </a:p>
          <a:p>
            <a:pPr lvl="0"/>
            <a:r>
              <a:rPr dirty="0"/>
              <a:t>☐ Identify repeatable development tasks</a:t>
            </a:r>
          </a:p>
          <a:p>
            <a:pPr lvl="0"/>
            <a:r>
              <a:rPr dirty="0"/>
              <a:t>☐ Create prompt files for common workflows</a:t>
            </a:r>
          </a:p>
          <a:p>
            <a:pPr lvl="0"/>
            <a:r>
              <a:rPr dirty="0"/>
              <a:t>☐ Build task-specific execution templates</a:t>
            </a:r>
          </a:p>
          <a:p>
            <a:pPr lvl="0"/>
            <a:r>
              <a:rPr dirty="0"/>
              <a:t>☐ Validate prompt file outputs</a:t>
            </a:r>
          </a:p>
        </p:txBody>
      </p:sp>
    </p:spTree>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Getting Started Checklist (Continued)</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dirty="0"/>
              <a:t>Phase 3: Specialization</a:t>
            </a:r>
            <a:endParaRPr lang="en-US" b="1" dirty="0"/>
          </a:p>
          <a:p>
            <a:pPr lvl="0"/>
            <a:r>
              <a:rPr lang="en-US" dirty="0"/>
              <a:t>☐ Identify domain expertise needs</a:t>
            </a:r>
          </a:p>
          <a:p>
            <a:pPr lvl="0"/>
            <a:r>
              <a:rPr dirty="0"/>
              <a:t>☐ Create custom chat modes for key roles</a:t>
            </a:r>
          </a:p>
          <a:p>
            <a:pPr lvl="0"/>
            <a:r>
              <a:rPr dirty="0"/>
              <a:t>☐ Test conversational effectiveness</a:t>
            </a:r>
          </a:p>
          <a:p>
            <a:pPr lvl="0"/>
            <a:r>
              <a:rPr dirty="0"/>
              <a:t>☐ Document mode usage guidelines</a:t>
            </a:r>
          </a:p>
          <a:p>
            <a:pPr marL="0" lvl="0" indent="0">
              <a:spcBef>
                <a:spcPts val="3000"/>
              </a:spcBef>
              <a:buNone/>
            </a:pPr>
            <a:r>
              <a:rPr b="1" dirty="0"/>
              <a:t>Phase 4: Integration</a:t>
            </a:r>
          </a:p>
          <a:p>
            <a:pPr lvl="0"/>
            <a:r>
              <a:rPr dirty="0"/>
              <a:t>☐ Combine approaches for complex workflows</a:t>
            </a:r>
          </a:p>
          <a:p>
            <a:pPr lvl="0"/>
            <a:r>
              <a:rPr dirty="0"/>
              <a:t>☐ Establish team usage standards</a:t>
            </a:r>
          </a:p>
          <a:p>
            <a:pPr lvl="0"/>
            <a:r>
              <a:rPr dirty="0"/>
              <a:t>☐ Create training materials</a:t>
            </a:r>
          </a:p>
          <a:p>
            <a:pPr lvl="0"/>
            <a:r>
              <a:rPr dirty="0"/>
              <a:t>☐ Monitor and iterate on effectiveness</a:t>
            </a:r>
          </a:p>
        </p:txBody>
      </p:sp>
    </p:spTree>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89B33-1331-7E92-0B1F-A0F52432F1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0F416A-BECD-4814-1E6A-AF0984C1BA93}"/>
              </a:ext>
            </a:extLst>
          </p:cNvPr>
          <p:cNvSpPr>
            <a:spLocks noGrp="1"/>
          </p:cNvSpPr>
          <p:nvPr>
            <p:ph type="title"/>
          </p:nvPr>
        </p:nvSpPr>
        <p:spPr>
          <a:xfrm>
            <a:off x="628651" y="273845"/>
            <a:ext cx="6696665" cy="527268"/>
          </a:xfrm>
        </p:spPr>
        <p:txBody>
          <a:bodyPr anchor="ctr">
            <a:normAutofit/>
          </a:bodyPr>
          <a:lstStyle/>
          <a:p>
            <a:pPr marL="0" lvl="0" indent="0">
              <a:buNone/>
            </a:pPr>
            <a:r>
              <a:rPr lang="en-US" sz="3100"/>
              <a:t>High Level AI Assisted Workflow</a:t>
            </a:r>
          </a:p>
        </p:txBody>
      </p:sp>
      <p:sp>
        <p:nvSpPr>
          <p:cNvPr id="3" name="Content Placeholder 2">
            <a:extLst>
              <a:ext uri="{FF2B5EF4-FFF2-40B4-BE49-F238E27FC236}">
                <a16:creationId xmlns:a16="http://schemas.microsoft.com/office/drawing/2014/main" id="{98A226ED-A4F8-1346-FDAC-A42A98859317}"/>
              </a:ext>
            </a:extLst>
          </p:cNvPr>
          <p:cNvSpPr>
            <a:spLocks noGrp="1"/>
          </p:cNvSpPr>
          <p:nvPr>
            <p:ph sz="half" idx="1"/>
          </p:nvPr>
        </p:nvSpPr>
        <p:spPr>
          <a:xfrm>
            <a:off x="628650" y="1097814"/>
            <a:ext cx="3886200" cy="3263504"/>
          </a:xfrm>
        </p:spPr>
        <p:txBody>
          <a:bodyPr>
            <a:normAutofit fontScale="92500"/>
          </a:bodyPr>
          <a:lstStyle/>
          <a:p>
            <a:pPr marL="0" indent="0">
              <a:lnSpc>
                <a:spcPct val="90000"/>
              </a:lnSpc>
              <a:buNone/>
            </a:pPr>
            <a:r>
              <a:rPr lang="en-US" sz="1200" dirty="0"/>
              <a:t>From Requirements to a Solution</a:t>
            </a:r>
          </a:p>
          <a:p>
            <a:pPr>
              <a:lnSpc>
                <a:spcPct val="90000"/>
              </a:lnSpc>
            </a:pPr>
            <a:r>
              <a:rPr lang="en-US" sz="1200" dirty="0"/>
              <a:t>Stakeholders (SMEs, Architects, SREs, DBAs, etc.) define the requirements with AI assistance</a:t>
            </a:r>
          </a:p>
          <a:p>
            <a:pPr>
              <a:lnSpc>
                <a:spcPct val="90000"/>
              </a:lnSpc>
            </a:pPr>
            <a:r>
              <a:rPr lang="en-US" sz="1200" dirty="0"/>
              <a:t>AI transforms the requirements into implementation instructions files that guide the implementation</a:t>
            </a:r>
          </a:p>
          <a:p>
            <a:pPr lvl="1">
              <a:lnSpc>
                <a:spcPct val="90000"/>
              </a:lnSpc>
            </a:pPr>
            <a:r>
              <a:rPr lang="en-US" sz="900" dirty="0"/>
              <a:t>Stakeholders review, improve, and approve the instruction files</a:t>
            </a:r>
          </a:p>
          <a:p>
            <a:pPr>
              <a:lnSpc>
                <a:spcPct val="90000"/>
              </a:lnSpc>
            </a:pPr>
            <a:r>
              <a:rPr lang="en-US" sz="1200" dirty="0"/>
              <a:t>AI uses instruction files to create prompts to implement the business requirements</a:t>
            </a:r>
          </a:p>
          <a:p>
            <a:pPr lvl="1">
              <a:lnSpc>
                <a:spcPct val="90000"/>
              </a:lnSpc>
            </a:pPr>
            <a:r>
              <a:rPr lang="en-US" sz="900" dirty="0"/>
              <a:t>Implementation prompts tell AI how to implement a feature and how to verify that the feature meets the acceptance criteria</a:t>
            </a:r>
          </a:p>
          <a:p>
            <a:pPr lvl="1">
              <a:lnSpc>
                <a:spcPct val="90000"/>
              </a:lnSpc>
            </a:pPr>
            <a:r>
              <a:rPr lang="en-US" sz="900" dirty="0"/>
              <a:t>Stakeholders review, improve, and approve the implementation prompts</a:t>
            </a:r>
          </a:p>
          <a:p>
            <a:pPr>
              <a:lnSpc>
                <a:spcPct val="90000"/>
              </a:lnSpc>
            </a:pPr>
            <a:r>
              <a:rPr lang="en-US" sz="1200" dirty="0"/>
              <a:t>Submitting the implementation prompts </a:t>
            </a:r>
          </a:p>
          <a:p>
            <a:pPr lvl="1">
              <a:lnSpc>
                <a:spcPct val="90000"/>
              </a:lnSpc>
            </a:pPr>
            <a:r>
              <a:rPr lang="en-US" sz="900" dirty="0"/>
              <a:t>Generates an implementation that conforms to the implementation instructions and meets the acceptance criteria</a:t>
            </a:r>
          </a:p>
          <a:p>
            <a:pPr lvl="1">
              <a:lnSpc>
                <a:spcPct val="90000"/>
              </a:lnSpc>
            </a:pPr>
            <a:r>
              <a:rPr lang="en-US" sz="900" dirty="0"/>
              <a:t>Stakeholders review and approve implementation</a:t>
            </a:r>
          </a:p>
        </p:txBody>
      </p:sp>
      <p:pic>
        <p:nvPicPr>
          <p:cNvPr id="5" name="Picture 4" descr="A diagram of a process&#10;&#10;AI-generated content may be incorrect.">
            <a:extLst>
              <a:ext uri="{FF2B5EF4-FFF2-40B4-BE49-F238E27FC236}">
                <a16:creationId xmlns:a16="http://schemas.microsoft.com/office/drawing/2014/main" id="{74BAB682-42D9-328E-E1D0-B8D32BFB2E37}"/>
              </a:ext>
            </a:extLst>
          </p:cNvPr>
          <p:cNvPicPr>
            <a:picLocks noChangeAspect="1"/>
          </p:cNvPicPr>
          <p:nvPr/>
        </p:nvPicPr>
        <p:blipFill>
          <a:blip r:embed="rId2"/>
          <a:stretch>
            <a:fillRect/>
          </a:stretch>
        </p:blipFill>
        <p:spPr>
          <a:xfrm>
            <a:off x="5829803" y="1097814"/>
            <a:ext cx="1484894" cy="3263504"/>
          </a:xfrm>
          <a:prstGeom prst="rect">
            <a:avLst/>
          </a:prstGeom>
          <a:noFill/>
        </p:spPr>
      </p:pic>
    </p:spTree>
    <p:extLst>
      <p:ext uri="{BB962C8B-B14F-4D97-AF65-F5344CB8AC3E}">
        <p14:creationId xmlns:p14="http://schemas.microsoft.com/office/powerpoint/2010/main" val="748560259"/>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What Are Vertical Slices?</a:t>
            </a:r>
          </a:p>
        </p:txBody>
      </p:sp>
      <p:sp>
        <p:nvSpPr>
          <p:cNvPr id="3" name="Content Placeholder 2"/>
          <p:cNvSpPr>
            <a:spLocks noGrp="1"/>
          </p:cNvSpPr>
          <p:nvPr>
            <p:ph idx="1"/>
          </p:nvPr>
        </p:nvSpPr>
        <p:spPr/>
        <p:txBody>
          <a:bodyPr>
            <a:normAutofit fontScale="92500"/>
          </a:bodyPr>
          <a:lstStyle/>
          <a:p>
            <a:pPr marL="0" lvl="0" indent="0">
              <a:buNone/>
            </a:pPr>
            <a:r>
              <a:rPr b="1" dirty="0"/>
              <a:t>Architecture pattern organizing code by features, not layers</a:t>
            </a:r>
          </a:p>
          <a:p>
            <a:pPr lvl="0"/>
            <a:r>
              <a:rPr dirty="0"/>
              <a:t>🎯 </a:t>
            </a:r>
            <a:r>
              <a:rPr b="1" dirty="0"/>
              <a:t>Feature-focused</a:t>
            </a:r>
            <a:r>
              <a:rPr dirty="0"/>
              <a:t> - Complete business capabilities in one place</a:t>
            </a:r>
          </a:p>
          <a:p>
            <a:pPr lvl="0"/>
            <a:r>
              <a:rPr dirty="0"/>
              <a:t>🔄 </a:t>
            </a:r>
            <a:r>
              <a:rPr b="1" dirty="0"/>
              <a:t>Cross-cutting</a:t>
            </a:r>
            <a:r>
              <a:rPr dirty="0"/>
              <a:t> - Spans all technical layers vertically</a:t>
            </a:r>
          </a:p>
          <a:p>
            <a:pPr lvl="0"/>
            <a:r>
              <a:rPr dirty="0"/>
              <a:t>📦 </a:t>
            </a:r>
            <a:r>
              <a:rPr b="1" dirty="0"/>
              <a:t>Self-contained</a:t>
            </a:r>
            <a:r>
              <a:rPr dirty="0"/>
              <a:t> - Everything needed for a feature together</a:t>
            </a:r>
          </a:p>
          <a:p>
            <a:pPr lvl="0"/>
            <a:r>
              <a:rPr dirty="0"/>
              <a:t>🚫 </a:t>
            </a:r>
            <a:r>
              <a:rPr b="1" dirty="0"/>
              <a:t>Independent</a:t>
            </a:r>
            <a:r>
              <a:rPr dirty="0"/>
              <a:t> - Features don’t directly reference each other</a:t>
            </a:r>
          </a:p>
          <a:p>
            <a:pPr lvl="0"/>
            <a:r>
              <a:rPr dirty="0"/>
              <a:t>⚡ </a:t>
            </a:r>
            <a:r>
              <a:rPr b="1" dirty="0"/>
              <a:t>Maintainable</a:t>
            </a:r>
            <a:r>
              <a:rPr dirty="0"/>
              <a:t> - Changes localized to single feature folder</a:t>
            </a:r>
          </a:p>
          <a:p>
            <a:pPr marL="0" lvl="0" indent="0">
              <a:buNone/>
            </a:pPr>
            <a:endParaRPr b="1" dirty="0"/>
          </a:p>
        </p:txBody>
      </p:sp>
    </p:spTree>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EAF071-5CAF-8760-3430-8ACC3B6FA437}"/>
              </a:ext>
            </a:extLst>
          </p:cNvPr>
          <p:cNvSpPr>
            <a:spLocks noGrp="1"/>
          </p:cNvSpPr>
          <p:nvPr>
            <p:ph type="title"/>
          </p:nvPr>
        </p:nvSpPr>
        <p:spPr/>
        <p:txBody>
          <a:bodyPr>
            <a:noAutofit/>
          </a:bodyPr>
          <a:lstStyle/>
          <a:p>
            <a:r>
              <a:rPr lang="en-US" sz="2400" dirty="0"/>
              <a:t>Traditional Layered vs Vertical Slices:</a:t>
            </a:r>
          </a:p>
        </p:txBody>
      </p:sp>
      <p:graphicFrame>
        <p:nvGraphicFramePr>
          <p:cNvPr id="4" name="Content Placeholder 3">
            <a:extLst>
              <a:ext uri="{FF2B5EF4-FFF2-40B4-BE49-F238E27FC236}">
                <a16:creationId xmlns:a16="http://schemas.microsoft.com/office/drawing/2014/main" id="{5246AFBE-8C64-DE5B-E6A0-4400C95A3B94}"/>
              </a:ext>
            </a:extLst>
          </p:cNvPr>
          <p:cNvGraphicFramePr>
            <a:graphicFrameLocks noGrp="1"/>
          </p:cNvGraphicFramePr>
          <p:nvPr>
            <p:ph idx="1"/>
            <p:extLst>
              <p:ext uri="{D42A27DB-BD31-4B8C-83A1-F6EECF244321}">
                <p14:modId xmlns:p14="http://schemas.microsoft.com/office/powerpoint/2010/main" val="1994485447"/>
              </p:ext>
            </p:extLst>
          </p:nvPr>
        </p:nvGraphicFramePr>
        <p:xfrm>
          <a:off x="503339" y="1044429"/>
          <a:ext cx="7940180" cy="3073895"/>
        </p:xfrm>
        <a:graphic>
          <a:graphicData uri="http://schemas.openxmlformats.org/drawingml/2006/table">
            <a:tbl>
              <a:tblPr firstRow="1">
                <a:tableStyleId>{FABFCF23-3B69-468F-B69F-88F6DE6A72F2}</a:tableStyleId>
              </a:tblPr>
              <a:tblGrid>
                <a:gridCol w="2908998">
                  <a:extLst>
                    <a:ext uri="{9D8B030D-6E8A-4147-A177-3AD203B41FA5}">
                      <a16:colId xmlns:a16="http://schemas.microsoft.com/office/drawing/2014/main" val="2223051993"/>
                    </a:ext>
                  </a:extLst>
                </a:gridCol>
                <a:gridCol w="5031182">
                  <a:extLst>
                    <a:ext uri="{9D8B030D-6E8A-4147-A177-3AD203B41FA5}">
                      <a16:colId xmlns:a16="http://schemas.microsoft.com/office/drawing/2014/main" val="1123534923"/>
                    </a:ext>
                  </a:extLst>
                </a:gridCol>
              </a:tblGrid>
              <a:tr h="406866">
                <a:tc>
                  <a:txBody>
                    <a:bodyPr/>
                    <a:lstStyle/>
                    <a:p>
                      <a:pPr marL="0" marR="0" fontAlgn="t">
                        <a:buNone/>
                      </a:pPr>
                      <a:r>
                        <a:rPr lang="en-US" sz="2000" dirty="0">
                          <a:effectLst/>
                        </a:rPr>
                        <a:t>Layered</a:t>
                      </a:r>
                      <a:endParaRPr lang="en-US" sz="2000" dirty="0">
                        <a:effectLst/>
                        <a:latin typeface="Calibri" panose="020F0502020204030204" pitchFamily="34" charset="0"/>
                      </a:endParaRPr>
                    </a:p>
                  </a:txBody>
                  <a:tcPr marL="50800" marR="50800" marT="50800" marB="50800"/>
                </a:tc>
                <a:tc>
                  <a:txBody>
                    <a:bodyPr/>
                    <a:lstStyle/>
                    <a:p>
                      <a:pPr marL="0" marR="0" fontAlgn="t">
                        <a:buNone/>
                      </a:pPr>
                      <a:r>
                        <a:rPr lang="en-US" sz="2000" dirty="0">
                          <a:effectLst/>
                        </a:rPr>
                        <a:t>Vertical Slices</a:t>
                      </a:r>
                      <a:endParaRPr lang="en-US" sz="20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3637166644"/>
                  </a:ext>
                </a:extLst>
              </a:tr>
              <a:tr h="2667029">
                <a:tc>
                  <a:txBody>
                    <a:bodyPr/>
                    <a:lstStyle/>
                    <a:p>
                      <a:pPr marL="0" marR="0" fontAlgn="t">
                        <a:buNone/>
                      </a:pPr>
                      <a:r>
                        <a:rPr lang="en-US" sz="2000">
                          <a:effectLst/>
                        </a:rPr>
                        <a:t>/Controllers</a:t>
                      </a:r>
                    </a:p>
                    <a:p>
                      <a:pPr marL="0" marR="0" fontAlgn="t">
                        <a:buNone/>
                      </a:pPr>
                      <a:r>
                        <a:rPr lang="en-US" sz="2000">
                          <a:effectLst/>
                        </a:rPr>
                        <a:t>/Services</a:t>
                      </a:r>
                      <a:br>
                        <a:rPr lang="en-US" sz="2000">
                          <a:effectLst/>
                        </a:rPr>
                      </a:br>
                      <a:r>
                        <a:rPr lang="en-US" sz="2000">
                          <a:effectLst/>
                        </a:rPr>
                        <a:t>/Repositories</a:t>
                      </a:r>
                      <a:br>
                        <a:rPr lang="en-US" sz="2000">
                          <a:effectLst/>
                        </a:rPr>
                      </a:br>
                      <a:r>
                        <a:rPr lang="en-US" sz="2000">
                          <a:effectLst/>
                        </a:rPr>
                        <a:t>/Models</a:t>
                      </a:r>
                      <a:endParaRPr lang="en-US" sz="2000">
                        <a:effectLst/>
                        <a:latin typeface="Calibri" panose="020F0502020204030204" pitchFamily="34" charset="0"/>
                      </a:endParaRPr>
                    </a:p>
                  </a:txBody>
                  <a:tcPr marL="50800" marR="50800" marT="50800" marB="50800"/>
                </a:tc>
                <a:tc>
                  <a:txBody>
                    <a:bodyPr/>
                    <a:lstStyle/>
                    <a:p>
                      <a:pPr marL="0" marR="0" fontAlgn="t">
                        <a:buNone/>
                      </a:pPr>
                      <a:r>
                        <a:rPr lang="en-US" sz="2000" dirty="0">
                          <a:effectLst/>
                        </a:rPr>
                        <a:t>/Features</a:t>
                      </a:r>
                      <a:br>
                        <a:rPr lang="en-US" sz="2000" dirty="0">
                          <a:effectLst/>
                        </a:rPr>
                      </a:br>
                      <a:r>
                        <a:rPr lang="en-US" sz="2000" dirty="0">
                          <a:effectLst/>
                        </a:rPr>
                        <a:t>  /</a:t>
                      </a:r>
                      <a:r>
                        <a:rPr lang="en-US" sz="2000" dirty="0" err="1">
                          <a:effectLst/>
                        </a:rPr>
                        <a:t>UserRegistration</a:t>
                      </a:r>
                      <a:br>
                        <a:rPr lang="en-US" sz="2000" dirty="0">
                          <a:effectLst/>
                        </a:rPr>
                      </a:br>
                      <a:r>
                        <a:rPr lang="en-US" sz="2000" dirty="0">
                          <a:effectLst/>
                        </a:rPr>
                        <a:t>    - </a:t>
                      </a:r>
                      <a:r>
                        <a:rPr lang="en-US" sz="2000" dirty="0" err="1">
                          <a:effectLst/>
                        </a:rPr>
                        <a:t>RegisterUserCommand.cs</a:t>
                      </a:r>
                      <a:br>
                        <a:rPr lang="en-US" sz="2000" dirty="0">
                          <a:effectLst/>
                        </a:rPr>
                      </a:br>
                      <a:r>
                        <a:rPr lang="en-US" sz="2000" dirty="0">
                          <a:effectLst/>
                        </a:rPr>
                        <a:t>    - </a:t>
                      </a:r>
                      <a:r>
                        <a:rPr lang="en-US" sz="2000" dirty="0" err="1">
                          <a:effectLst/>
                        </a:rPr>
                        <a:t>RegisterUserHandler.cs</a:t>
                      </a:r>
                      <a:br>
                        <a:rPr lang="en-US" sz="2000" dirty="0">
                          <a:effectLst/>
                        </a:rPr>
                      </a:br>
                      <a:r>
                        <a:rPr lang="en-US" sz="2000" dirty="0">
                          <a:effectLst/>
                        </a:rPr>
                        <a:t>    - </a:t>
                      </a:r>
                      <a:r>
                        <a:rPr lang="en-US" sz="2000" dirty="0" err="1">
                          <a:effectLst/>
                        </a:rPr>
                        <a:t>RegisterUserValidator.cs</a:t>
                      </a:r>
                      <a:endParaRPr lang="en-US" sz="2000" dirty="0">
                        <a:effectLst/>
                        <a:latin typeface="Calibri" panose="020F0502020204030204" pitchFamily="34" charset="0"/>
                      </a:endParaRPr>
                    </a:p>
                  </a:txBody>
                  <a:tcPr marL="50800" marR="50800" marT="50800" marB="50800"/>
                </a:tc>
                <a:extLst>
                  <a:ext uri="{0D108BD9-81ED-4DB2-BD59-A6C34878D82A}">
                    <a16:rowId xmlns:a16="http://schemas.microsoft.com/office/drawing/2014/main" val="2047049980"/>
                  </a:ext>
                </a:extLst>
              </a:tr>
            </a:tbl>
          </a:graphicData>
        </a:graphic>
      </p:graphicFrame>
    </p:spTree>
    <p:extLst>
      <p:ext uri="{BB962C8B-B14F-4D97-AF65-F5344CB8AC3E}">
        <p14:creationId xmlns:p14="http://schemas.microsoft.com/office/powerpoint/2010/main" val="3310752600"/>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Why Use Vertical Slices?</a:t>
            </a:r>
          </a:p>
        </p:txBody>
      </p:sp>
      <p:sp>
        <p:nvSpPr>
          <p:cNvPr id="3" name="Content Placeholder 2"/>
          <p:cNvSpPr>
            <a:spLocks noGrp="1"/>
          </p:cNvSpPr>
          <p:nvPr>
            <p:ph idx="1"/>
          </p:nvPr>
        </p:nvSpPr>
        <p:spPr/>
        <p:txBody>
          <a:bodyPr numCol="2">
            <a:normAutofit fontScale="85000" lnSpcReduction="20000"/>
          </a:bodyPr>
          <a:lstStyle/>
          <a:p>
            <a:pPr marL="0" lvl="0" indent="0">
              <a:spcBef>
                <a:spcPts val="3000"/>
              </a:spcBef>
              <a:buNone/>
            </a:pPr>
            <a:r>
              <a:rPr b="1" dirty="0"/>
              <a:t>Developer Experience Benefits</a:t>
            </a:r>
          </a:p>
          <a:p>
            <a:pPr marL="0" lvl="0" indent="0">
              <a:buNone/>
            </a:pPr>
            <a:r>
              <a:rPr dirty="0"/>
              <a:t>✅ </a:t>
            </a:r>
            <a:r>
              <a:rPr b="1" dirty="0"/>
              <a:t>Faster Feature Development</a:t>
            </a:r>
          </a:p>
          <a:p>
            <a:pPr lvl="0"/>
            <a:r>
              <a:rPr dirty="0"/>
              <a:t>All related code in one location</a:t>
            </a:r>
          </a:p>
          <a:p>
            <a:pPr lvl="0"/>
            <a:r>
              <a:rPr dirty="0"/>
              <a:t>No jumping between folders</a:t>
            </a:r>
          </a:p>
          <a:p>
            <a:pPr lvl="0"/>
            <a:r>
              <a:rPr dirty="0"/>
              <a:t>New features don’t affect existing ones</a:t>
            </a:r>
          </a:p>
          <a:p>
            <a:pPr marL="0" lvl="0" indent="0">
              <a:buNone/>
            </a:pPr>
            <a:r>
              <a:rPr dirty="0"/>
              <a:t>✅ </a:t>
            </a:r>
            <a:r>
              <a:rPr b="1" dirty="0"/>
              <a:t>Easier Maintenance</a:t>
            </a:r>
          </a:p>
          <a:p>
            <a:pPr lvl="0"/>
            <a:r>
              <a:rPr dirty="0"/>
              <a:t>Changes isolated to single feature</a:t>
            </a:r>
          </a:p>
          <a:p>
            <a:pPr lvl="0"/>
            <a:r>
              <a:rPr dirty="0"/>
              <a:t>Clear boundaries reduce bugs</a:t>
            </a:r>
          </a:p>
          <a:p>
            <a:pPr lvl="0"/>
            <a:r>
              <a:rPr dirty="0"/>
              <a:t>Refactoring contained</a:t>
            </a:r>
          </a:p>
          <a:p>
            <a:pPr marL="0" lvl="0" indent="0">
              <a:buNone/>
            </a:pPr>
            <a:r>
              <a:rPr dirty="0"/>
              <a:t>✅ </a:t>
            </a:r>
            <a:r>
              <a:rPr b="1" dirty="0"/>
              <a:t>Better Team Collaboration</a:t>
            </a:r>
          </a:p>
          <a:p>
            <a:pPr lvl="0"/>
            <a:r>
              <a:rPr dirty="0"/>
              <a:t>Developers work on separate features simultaneously</a:t>
            </a:r>
          </a:p>
          <a:p>
            <a:pPr lvl="0"/>
            <a:r>
              <a:rPr dirty="0"/>
              <a:t>Fewer merge conflicts</a:t>
            </a:r>
          </a:p>
          <a:p>
            <a:pPr lvl="0"/>
            <a:r>
              <a:rPr dirty="0"/>
              <a:t>Clear ownership and responsibility</a:t>
            </a:r>
          </a:p>
          <a:p>
            <a:pPr marL="0" lvl="0" indent="0">
              <a:buNone/>
            </a:pPr>
            <a:r>
              <a:rPr dirty="0"/>
              <a:t>✅ </a:t>
            </a:r>
            <a:r>
              <a:rPr b="1" dirty="0"/>
              <a:t>Improved Testability</a:t>
            </a:r>
          </a:p>
          <a:p>
            <a:pPr lvl="0"/>
            <a:r>
              <a:rPr dirty="0"/>
              <a:t>Test complete features, not layers</a:t>
            </a:r>
          </a:p>
          <a:p>
            <a:pPr lvl="0"/>
            <a:r>
              <a:rPr dirty="0"/>
              <a:t>Mock at feature boundaries</a:t>
            </a:r>
          </a:p>
          <a:p>
            <a:pPr lvl="0"/>
            <a:r>
              <a:rPr dirty="0"/>
              <a:t>Integration tests straightforward</a:t>
            </a:r>
          </a:p>
        </p:txBody>
      </p:sp>
    </p:spTree>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Generating Implementation Prompts &amp; Verification</a:t>
            </a:r>
          </a:p>
        </p:txBody>
      </p:sp>
      <p:sp>
        <p:nvSpPr>
          <p:cNvPr id="3" name="Content Placeholder 2"/>
          <p:cNvSpPr>
            <a:spLocks noGrp="1"/>
          </p:cNvSpPr>
          <p:nvPr>
            <p:ph idx="1"/>
          </p:nvPr>
        </p:nvSpPr>
        <p:spPr/>
        <p:txBody>
          <a:bodyPr/>
          <a:lstStyle/>
          <a:p>
            <a:pPr lvl="0"/>
            <a:r>
              <a:t>Implementation prompts</a:t>
            </a:r>
          </a:p>
          <a:p>
            <a:pPr lvl="0"/>
            <a:r>
              <a:t>Implementation verification</a:t>
            </a:r>
          </a:p>
        </p:txBody>
      </p:sp>
    </p:spTree>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Exercise #12 – Executing Prompts</a:t>
            </a:r>
          </a:p>
        </p:txBody>
      </p:sp>
      <p:sp>
        <p:nvSpPr>
          <p:cNvPr id="3" name="Content Placeholder 2"/>
          <p:cNvSpPr>
            <a:spLocks noGrp="1"/>
          </p:cNvSpPr>
          <p:nvPr>
            <p:ph idx="1"/>
          </p:nvPr>
        </p:nvSpPr>
        <p:spPr/>
        <p:txBody>
          <a:bodyPr/>
          <a:lstStyle/>
          <a:p>
            <a:pPr marL="0" lvl="0" indent="0">
              <a:buNone/>
            </a:pPr>
            <a:r>
              <a:rPr b="1"/>
              <a:t>Objective</a:t>
            </a:r>
            <a:r>
              <a:t>: Execute implementation prompts using custom chat modes.</a:t>
            </a:r>
          </a:p>
          <a:p>
            <a:pPr lvl="0"/>
            <a:r>
              <a:t>Review the implementation prompts created earlier.</a:t>
            </a:r>
          </a:p>
          <a:p>
            <a:pPr lvl="0"/>
            <a:r>
              <a:t>Use prompts to guide agent actions.</a:t>
            </a:r>
          </a:p>
          <a:p>
            <a:pPr lvl="0"/>
            <a:r>
              <a:t>Test agent responses to prompts.</a:t>
            </a:r>
          </a:p>
          <a:p>
            <a:pPr lvl="0"/>
            <a:r>
              <a:t>Verify implementation passes verification checks.</a:t>
            </a:r>
          </a:p>
        </p:txBody>
      </p:sp>
    </p:spTree>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Wrap-Up and Open Q&amp;A</a:t>
            </a:r>
          </a:p>
        </p:txBody>
      </p:sp>
      <p:sp>
        <p:nvSpPr>
          <p:cNvPr id="3" name="Content Placeholder 2"/>
          <p:cNvSpPr>
            <a:spLocks noGrp="1"/>
          </p:cNvSpPr>
          <p:nvPr>
            <p:ph idx="1"/>
          </p:nvPr>
        </p:nvSpPr>
        <p:spPr/>
        <p:txBody>
          <a:bodyPr/>
          <a:lstStyle/>
          <a:p>
            <a:pPr lvl="0"/>
            <a:r>
              <a:t>Review the day’s learning outcomes.</a:t>
            </a:r>
          </a:p>
          <a:p>
            <a:pPr lvl="0"/>
            <a:r>
              <a:t>Address questions or concerns.</a:t>
            </a:r>
          </a:p>
          <a:p>
            <a:pPr lvl="0"/>
            <a:r>
              <a:t>Discuss next steps and future learning opportunities.</a:t>
            </a:r>
          </a:p>
        </p:txBody>
      </p:sp>
    </p:spTree>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Decision Framework</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a:t>Use Instruction Files When:</a:t>
            </a:r>
          </a:p>
          <a:p>
            <a:pPr lvl="0"/>
            <a:r>
              <a:t>✅ Need consistent behavior across all AI interactions</a:t>
            </a:r>
          </a:p>
          <a:p>
            <a:pPr lvl="0"/>
            <a:r>
              <a:t>✅ Enforcing organizational standards/policies</a:t>
            </a:r>
          </a:p>
          <a:p>
            <a:pPr lvl="0"/>
            <a:r>
              <a:t>✅ Setting up coding conventions and quality gates</a:t>
            </a:r>
          </a:p>
          <a:p>
            <a:pPr lvl="0"/>
            <a:r>
              <a:t>✅ Defining security or compliance requirements</a:t>
            </a:r>
          </a:p>
          <a:p>
            <a:pPr marL="0" lvl="0" indent="0">
              <a:spcBef>
                <a:spcPts val="3000"/>
              </a:spcBef>
              <a:buNone/>
            </a:pPr>
            <a:r>
              <a:rPr b="1"/>
              <a:t>Use Prompt Files When:</a:t>
            </a:r>
          </a:p>
          <a:p>
            <a:pPr lvl="0"/>
            <a:r>
              <a:t>✅ Have repeatable, structured tasks</a:t>
            </a:r>
          </a:p>
          <a:p>
            <a:pPr lvl="0"/>
            <a:r>
              <a:t>✅ Need detailed step-by-step execution</a:t>
            </a:r>
          </a:p>
          <a:p>
            <a:pPr lvl="0"/>
            <a:r>
              <a:t>✅ Want to standardize complex workflows</a:t>
            </a:r>
          </a:p>
          <a:p>
            <a:pPr lvl="0"/>
            <a:r>
              <a:t>✅ Building reusable automation templates</a:t>
            </a:r>
          </a:p>
        </p:txBody>
      </p:sp>
    </p:spTree>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Decision Framework (Continued)</a:t>
            </a:r>
          </a:p>
        </p:txBody>
      </p:sp>
      <p:sp>
        <p:nvSpPr>
          <p:cNvPr id="3" name="Content Placeholder 2"/>
          <p:cNvSpPr>
            <a:spLocks noGrp="1"/>
          </p:cNvSpPr>
          <p:nvPr>
            <p:ph idx="1"/>
          </p:nvPr>
        </p:nvSpPr>
        <p:spPr/>
        <p:txBody>
          <a:bodyPr>
            <a:normAutofit fontScale="85000" lnSpcReduction="20000"/>
          </a:bodyPr>
          <a:lstStyle/>
          <a:p>
            <a:pPr marL="0" lvl="0" indent="0">
              <a:spcBef>
                <a:spcPts val="3000"/>
              </a:spcBef>
              <a:buNone/>
            </a:pPr>
            <a:r>
              <a:rPr b="1"/>
              <a:t>Use Custom Chat Modes When:</a:t>
            </a:r>
          </a:p>
          <a:p>
            <a:pPr lvl="0"/>
            <a:r>
              <a:t>✅ Need specialized domain expertise</a:t>
            </a:r>
          </a:p>
          <a:p>
            <a:pPr lvl="0"/>
            <a:r>
              <a:t>✅ Want AI to act as specific professional role</a:t>
            </a:r>
          </a:p>
          <a:p>
            <a:pPr lvl="0"/>
            <a:r>
              <a:t>✅ Exploring problems from different perspectives</a:t>
            </a:r>
          </a:p>
          <a:p>
            <a:pPr lvl="0"/>
            <a:r>
              <a:t>✅ Learning or getting advice in specific areas</a:t>
            </a:r>
          </a:p>
          <a:p>
            <a:pPr marL="0" lvl="0" indent="0">
              <a:spcBef>
                <a:spcPts val="3000"/>
              </a:spcBef>
              <a:buNone/>
            </a:pPr>
            <a:r>
              <a:rPr b="1"/>
              <a:t>Combine Approaches When:</a:t>
            </a:r>
          </a:p>
          <a:p>
            <a:pPr lvl="0"/>
            <a:r>
              <a:t>✅ Building comprehensive AI-assisted workflows</a:t>
            </a:r>
          </a:p>
          <a:p>
            <a:pPr lvl="0"/>
            <a:r>
              <a:t>✅ Need both consistency AND specialization</a:t>
            </a:r>
          </a:p>
          <a:p>
            <a:pPr lvl="0"/>
            <a:r>
              <a:t>✅ Managing complex, multi-phase projects</a:t>
            </a:r>
          </a:p>
        </p:txBody>
      </p:sp>
    </p:spTree>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Layered Integration Approach</a:t>
            </a:r>
          </a:p>
        </p:txBody>
      </p:sp>
      <p:sp>
        <p:nvSpPr>
          <p:cNvPr id="3" name="Content Placeholder 2"/>
          <p:cNvSpPr>
            <a:spLocks noGrp="1"/>
          </p:cNvSpPr>
          <p:nvPr>
            <p:ph idx="1"/>
          </p:nvPr>
        </p:nvSpPr>
        <p:spPr/>
        <p:txBody>
          <a:bodyPr>
            <a:normAutofit fontScale="62500" lnSpcReduction="20000"/>
          </a:bodyPr>
          <a:lstStyle/>
          <a:p>
            <a:pPr lvl="0" indent="0">
              <a:buNone/>
            </a:pPr>
            <a:r>
              <a:rPr>
                <a:latin typeface="Courier"/>
              </a:rPr>
              <a:t>┌─────────────────────────────────────┐
│     Custom Chat Mode               │  ← Conversational Context
│  (Security Architect Persona)      │
├─────────────────────────────────────┤
│     Prompt Files                   │  ← Task Execution
│  (Security Audit Template)         │
├─────────────────────────────────────┤
│     Instruction Files              │  ← Base Behavior
│  (Security Standards, Coding Rules) │
└─────────────────────────────────────┘</a:t>
            </a:r>
          </a:p>
          <a:p>
            <a:pPr marL="0" lvl="0" indent="0">
              <a:buNone/>
            </a:pPr>
            <a:r>
              <a:rPr b="1"/>
              <a:t>Result</a:t>
            </a:r>
            <a:r>
              <a:t>: Specialized security expert using standardized processes with consistent quality standards</a:t>
            </a:r>
          </a:p>
        </p:txBody>
      </p:sp>
    </p:spTree>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Real-World Integration Example</a:t>
            </a:r>
          </a:p>
        </p:txBody>
      </p:sp>
      <p:sp>
        <p:nvSpPr>
          <p:cNvPr id="3" name="Content Placeholder 2"/>
          <p:cNvSpPr>
            <a:spLocks noGrp="1"/>
          </p:cNvSpPr>
          <p:nvPr>
            <p:ph idx="1"/>
          </p:nvPr>
        </p:nvSpPr>
        <p:spPr/>
        <p:txBody>
          <a:bodyPr>
            <a:normAutofit fontScale="85000" lnSpcReduction="20000"/>
          </a:bodyPr>
          <a:lstStyle/>
          <a:p>
            <a:pPr marL="0" lvl="0" indent="0">
              <a:spcBef>
                <a:spcPts val="3000"/>
              </a:spcBef>
              <a:buNone/>
            </a:pPr>
            <a:r>
              <a:rPr b="1"/>
              <a:t>Scenario: Implementing User Authentication</a:t>
            </a:r>
          </a:p>
          <a:p>
            <a:pPr marL="342900" lvl="0" indent="-342900">
              <a:buAutoNum type="arabicPeriod"/>
            </a:pPr>
            <a:r>
              <a:rPr b="1"/>
              <a:t>Instruction Files</a:t>
            </a:r>
            <a:r>
              <a:t> provide:</a:t>
            </a:r>
          </a:p>
          <a:p>
            <a:pPr lvl="1"/>
            <a:r>
              <a:t>Security coding standards</a:t>
            </a:r>
          </a:p>
          <a:p>
            <a:pPr lvl="1"/>
            <a:r>
              <a:t>Testing requirements</a:t>
            </a:r>
          </a:p>
          <a:p>
            <a:pPr lvl="1"/>
            <a:r>
              <a:t>Documentation standards</a:t>
            </a:r>
          </a:p>
          <a:p>
            <a:pPr marL="342900" lvl="0" indent="-342900">
              <a:buAutoNum type="arabicPeriod"/>
            </a:pPr>
            <a:r>
              <a:rPr b="1"/>
              <a:t>Prompt File</a:t>
            </a:r>
            <a:r>
              <a:t> executes:</a:t>
            </a:r>
          </a:p>
          <a:p>
            <a:pPr lvl="1"/>
            <a:r>
              <a:t>“Implement OAuth2 Authentication System”</a:t>
            </a:r>
          </a:p>
          <a:p>
            <a:pPr lvl="1"/>
            <a:r>
              <a:t>Step-by-step implementation guide</a:t>
            </a:r>
          </a:p>
          <a:p>
            <a:pPr marL="342900" lvl="0" indent="-342900">
              <a:buAutoNum type="arabicPeriod"/>
            </a:pPr>
            <a:r>
              <a:rPr b="1"/>
              <a:t>Custom Chat Mode</a:t>
            </a:r>
            <a:r>
              <a:t> offers:</a:t>
            </a:r>
          </a:p>
          <a:p>
            <a:pPr lvl="1"/>
            <a:r>
              <a:t>Security Architect expertise</a:t>
            </a:r>
          </a:p>
          <a:p>
            <a:pPr lvl="1"/>
            <a:r>
              <a:t>Best practice recommendations</a:t>
            </a:r>
          </a:p>
          <a:p>
            <a:pPr lvl="1"/>
            <a:r>
              <a:t>Threat modeling insights</a:t>
            </a:r>
          </a:p>
        </p:txBody>
      </p:sp>
    </p:spTree>
  </p:cSld>
  <p:clrMapOvr>
    <a:masterClrMapping/>
  </p:clrMapOvr>
  <p:transition>
    <p:fade/>
  </p:transition>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Instruction Files Best Practices</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a:t>✅ Do This:</a:t>
            </a:r>
          </a:p>
          <a:p>
            <a:pPr lvl="0"/>
            <a:r>
              <a:t>Keep instructions clear and actionable</a:t>
            </a:r>
          </a:p>
          <a:p>
            <a:pPr lvl="0"/>
            <a:r>
              <a:t>Use file patterns (</a:t>
            </a:r>
            <a:r>
              <a:rPr>
                <a:latin typeface="Courier"/>
              </a:rPr>
              <a:t>applyTo: '**'</a:t>
            </a:r>
            <a:r>
              <a:t>) for broad scope</a:t>
            </a:r>
          </a:p>
          <a:p>
            <a:pPr lvl="0"/>
            <a:r>
              <a:t>Version control and document changes</a:t>
            </a:r>
          </a:p>
          <a:p>
            <a:pPr lvl="0"/>
            <a:r>
              <a:t>Test instruction effectiveness regularly</a:t>
            </a:r>
          </a:p>
          <a:p>
            <a:pPr marL="0" lvl="0" indent="0">
              <a:spcBef>
                <a:spcPts val="3000"/>
              </a:spcBef>
              <a:buNone/>
            </a:pPr>
            <a:r>
              <a:rPr b="1"/>
              <a:t>❌ Avoid This:</a:t>
            </a:r>
          </a:p>
          <a:p>
            <a:pPr lvl="0"/>
            <a:r>
              <a:t>Overly complex or contradictory rules</a:t>
            </a:r>
          </a:p>
          <a:p>
            <a:pPr lvl="0"/>
            <a:r>
              <a:t>Too many instructions (cognitive overload)</a:t>
            </a:r>
          </a:p>
          <a:p>
            <a:pPr lvl="0"/>
            <a:r>
              <a:t>Instructions that conflict with prompt files</a:t>
            </a:r>
          </a:p>
          <a:p>
            <a:pPr lvl="0"/>
            <a:r>
              <a:t>Hardcoded values instead of parameters</a:t>
            </a:r>
          </a:p>
        </p:txBody>
      </p:sp>
    </p:spTree>
  </p:cSld>
  <p:clrMapOvr>
    <a:masterClrMapping/>
  </p:clrMapOvr>
  <p:transition>
    <p:fade/>
  </p:transition>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Prompt Files Best Practices</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a:t>✅ Do This:</a:t>
            </a:r>
          </a:p>
          <a:p>
            <a:pPr lvl="0"/>
            <a:r>
              <a:t>Include comprehensive metadata</a:t>
            </a:r>
          </a:p>
          <a:p>
            <a:pPr lvl="0"/>
            <a:r>
              <a:t>Provide clear context and requirements</a:t>
            </a:r>
          </a:p>
          <a:p>
            <a:pPr lvl="0"/>
            <a:r>
              <a:t>Specify expected deliverables</a:t>
            </a:r>
          </a:p>
          <a:p>
            <a:pPr lvl="0"/>
            <a:r>
              <a:t>Include verification steps</a:t>
            </a:r>
          </a:p>
          <a:p>
            <a:pPr marL="0" lvl="0" indent="0">
              <a:spcBef>
                <a:spcPts val="3000"/>
              </a:spcBef>
              <a:buNone/>
            </a:pPr>
            <a:r>
              <a:rPr b="1"/>
              <a:t>❌ Avoid This:</a:t>
            </a:r>
          </a:p>
          <a:p>
            <a:pPr lvl="0"/>
            <a:r>
              <a:t>Vague or ambiguous instructions</a:t>
            </a:r>
          </a:p>
          <a:p>
            <a:pPr lvl="0"/>
            <a:r>
              <a:t>Missing prerequisite information</a:t>
            </a:r>
          </a:p>
          <a:p>
            <a:pPr lvl="0"/>
            <a:r>
              <a:t>No success criteria defined</a:t>
            </a:r>
          </a:p>
          <a:p>
            <a:pPr lvl="0"/>
            <a:r>
              <a:t>Overly complex single prompts (break them down)</a:t>
            </a:r>
          </a:p>
        </p:txBody>
      </p:sp>
    </p:spTree>
  </p:cSld>
  <p:clrMapOvr>
    <a:masterClrMapping/>
  </p:clrMapOvr>
  <p:transition>
    <p:fade/>
  </p:transition>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Custom Chat Modes Best Practices</a:t>
            </a:r>
          </a:p>
        </p:txBody>
      </p:sp>
      <p:sp>
        <p:nvSpPr>
          <p:cNvPr id="3" name="Content Placeholder 2"/>
          <p:cNvSpPr>
            <a:spLocks noGrp="1"/>
          </p:cNvSpPr>
          <p:nvPr>
            <p:ph idx="1"/>
          </p:nvPr>
        </p:nvSpPr>
        <p:spPr/>
        <p:txBody>
          <a:bodyPr>
            <a:normAutofit fontScale="77500" lnSpcReduction="20000"/>
          </a:bodyPr>
          <a:lstStyle/>
          <a:p>
            <a:pPr marL="0" lvl="0" indent="0">
              <a:spcBef>
                <a:spcPts val="3000"/>
              </a:spcBef>
              <a:buNone/>
            </a:pPr>
            <a:r>
              <a:rPr b="1"/>
              <a:t>✅ Do This:</a:t>
            </a:r>
          </a:p>
          <a:p>
            <a:pPr lvl="0"/>
            <a:r>
              <a:t>Define clear expertise boundaries</a:t>
            </a:r>
          </a:p>
          <a:p>
            <a:pPr lvl="0"/>
            <a:r>
              <a:t>Provide rich contextual background</a:t>
            </a:r>
          </a:p>
          <a:p>
            <a:pPr lvl="0"/>
            <a:r>
              <a:t>Establish consistent personality/voice</a:t>
            </a:r>
          </a:p>
          <a:p>
            <a:pPr lvl="0"/>
            <a:r>
              <a:t>Include relevant constraints and preferences</a:t>
            </a:r>
          </a:p>
          <a:p>
            <a:pPr marL="0" lvl="0" indent="0">
              <a:spcBef>
                <a:spcPts val="3000"/>
              </a:spcBef>
              <a:buNone/>
            </a:pPr>
            <a:r>
              <a:rPr b="1"/>
              <a:t>❌ Avoid This:</a:t>
            </a:r>
          </a:p>
          <a:p>
            <a:pPr lvl="0"/>
            <a:r>
              <a:t>Conflicting expertise claims</a:t>
            </a:r>
          </a:p>
          <a:p>
            <a:pPr lvl="0"/>
            <a:r>
              <a:t>Too broad or unfocused roles</a:t>
            </a:r>
          </a:p>
          <a:p>
            <a:pPr lvl="0"/>
            <a:r>
              <a:t>Personality that conflicts with task needs</a:t>
            </a:r>
          </a:p>
          <a:p>
            <a:pPr lvl="0"/>
            <a:r>
              <a:t>Missing essential domain knowledge</a:t>
            </a:r>
          </a:p>
        </p:txBody>
      </p:sp>
    </p:spTree>
  </p:cSld>
  <p:clrMapOvr>
    <a:masterClrMapping/>
  </p:clrMapOvr>
  <p:transition>
    <p:fade/>
  </p:transition>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Key Takeaways</a:t>
            </a:r>
          </a:p>
        </p:txBody>
      </p:sp>
    </p:spTree>
  </p:cSld>
  <p:clrMapOvr>
    <a:masterClrMapping/>
  </p:clrMapOvr>
  <p:transition>
    <p:fade/>
  </p:transition>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Summary: Three Complementary Approaches</a:t>
            </a:r>
          </a:p>
        </p:txBody>
      </p:sp>
      <p:sp>
        <p:nvSpPr>
          <p:cNvPr id="3" name="Content Placeholder 2"/>
          <p:cNvSpPr>
            <a:spLocks noGrp="1"/>
          </p:cNvSpPr>
          <p:nvPr>
            <p:ph idx="1"/>
          </p:nvPr>
        </p:nvSpPr>
        <p:spPr/>
        <p:txBody>
          <a:bodyPr>
            <a:normAutofit fontScale="92500" lnSpcReduction="10000"/>
          </a:bodyPr>
          <a:lstStyle/>
          <a:p>
            <a:pPr marL="0" lvl="0" indent="0">
              <a:spcBef>
                <a:spcPts val="3000"/>
              </a:spcBef>
              <a:buNone/>
            </a:pPr>
            <a:r>
              <a:rPr b="1"/>
              <a:t>🏗️ Instruction Files</a:t>
            </a:r>
          </a:p>
          <a:p>
            <a:pPr marL="0" lvl="0" indent="0">
              <a:buNone/>
            </a:pPr>
            <a:r>
              <a:t>Foundation layer that ensures </a:t>
            </a:r>
            <a:r>
              <a:rPr b="1"/>
              <a:t>consistent, quality AI behavior</a:t>
            </a:r>
          </a:p>
          <a:p>
            <a:pPr marL="0" lvl="0" indent="0">
              <a:spcBef>
                <a:spcPts val="3000"/>
              </a:spcBef>
              <a:buNone/>
            </a:pPr>
            <a:r>
              <a:rPr b="1"/>
              <a:t>⚡ Prompt Files</a:t>
            </a:r>
          </a:p>
          <a:p>
            <a:pPr marL="0" lvl="0" indent="0">
              <a:buNone/>
            </a:pPr>
            <a:r>
              <a:t>Execution layer that provides </a:t>
            </a:r>
            <a:r>
              <a:rPr b="1"/>
              <a:t>repeatable, structured task automation</a:t>
            </a:r>
          </a:p>
          <a:p>
            <a:pPr marL="0" lvl="0" indent="0">
              <a:spcBef>
                <a:spcPts val="3000"/>
              </a:spcBef>
              <a:buNone/>
            </a:pPr>
            <a:r>
              <a:rPr b="1"/>
              <a:t>🎯 Custom Chat Modes</a:t>
            </a:r>
          </a:p>
          <a:p>
            <a:pPr marL="0" lvl="0" indent="0">
              <a:buNone/>
            </a:pPr>
            <a:r>
              <a:t>Expertise layer that delivers </a:t>
            </a:r>
            <a:r>
              <a:rPr b="1"/>
              <a:t>specialized knowledge and perspectives</a:t>
            </a:r>
          </a:p>
        </p:txBody>
      </p:sp>
    </p:spTree>
  </p:cSld>
  <p:clrMapOvr>
    <a:masterClrMapping/>
  </p:clrMapOvr>
  <p:transition>
    <p:fade/>
  </p:transition>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The Integration Advantage</a:t>
            </a:r>
          </a:p>
        </p:txBody>
      </p:sp>
      <p:sp>
        <p:nvSpPr>
          <p:cNvPr id="3" name="Content Placeholder 2"/>
          <p:cNvSpPr>
            <a:spLocks noGrp="1"/>
          </p:cNvSpPr>
          <p:nvPr>
            <p:ph idx="1"/>
          </p:nvPr>
        </p:nvSpPr>
        <p:spPr/>
        <p:txBody>
          <a:bodyPr>
            <a:normAutofit fontScale="92500" lnSpcReduction="20000"/>
          </a:bodyPr>
          <a:lstStyle/>
          <a:p>
            <a:pPr marL="0" lvl="0" indent="0">
              <a:spcBef>
                <a:spcPts val="3000"/>
              </a:spcBef>
              <a:buNone/>
            </a:pPr>
            <a:r>
              <a:rPr b="1"/>
              <a:t>When Used Together:</a:t>
            </a:r>
          </a:p>
          <a:p>
            <a:pPr lvl="0"/>
            <a:r>
              <a:rPr b="1"/>
              <a:t>Higher Quality</a:t>
            </a:r>
            <a:r>
              <a:t>: Consistent standards + structured execution + expert knowledge</a:t>
            </a:r>
          </a:p>
          <a:p>
            <a:pPr lvl="0"/>
            <a:r>
              <a:rPr b="1"/>
              <a:t>Greater Efficiency</a:t>
            </a:r>
            <a:r>
              <a:t>: Automated workflows with specialized guidance</a:t>
            </a:r>
          </a:p>
          <a:p>
            <a:pPr lvl="0"/>
            <a:r>
              <a:rPr b="1"/>
              <a:t>Better Outcomes</a:t>
            </a:r>
            <a:r>
              <a:t>: Comprehensive approach covers all development aspects</a:t>
            </a:r>
          </a:p>
          <a:p>
            <a:pPr lvl="0"/>
            <a:r>
              <a:rPr b="1"/>
              <a:t>Reduced Risk</a:t>
            </a:r>
            <a:r>
              <a:t>: Multiple layers of validation and expertise</a:t>
            </a:r>
          </a:p>
          <a:p>
            <a:pPr marL="0" lvl="0" indent="0">
              <a:spcBef>
                <a:spcPts val="3000"/>
              </a:spcBef>
              <a:buNone/>
            </a:pPr>
            <a:r>
              <a:rPr b="1"/>
              <a:t>Result: AI becomes a true development partner, not just a code generator</a:t>
            </a:r>
          </a:p>
        </p:txBody>
      </p:sp>
    </p:spTree>
  </p:cSld>
  <p:clrMapOvr>
    <a:masterClrMapping/>
  </p:clrMapOvr>
  <p:transition>
    <p:fade/>
  </p:transition>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Resources &amp; References</a:t>
            </a:r>
          </a:p>
        </p:txBody>
      </p:sp>
      <p:sp>
        <p:nvSpPr>
          <p:cNvPr id="3" name="Content Placeholder 2"/>
          <p:cNvSpPr>
            <a:spLocks noGrp="1"/>
          </p:cNvSpPr>
          <p:nvPr>
            <p:ph idx="1"/>
          </p:nvPr>
        </p:nvSpPr>
        <p:spPr/>
        <p:txBody>
          <a:bodyPr>
            <a:normAutofit fontScale="85000" lnSpcReduction="20000"/>
          </a:bodyPr>
          <a:lstStyle/>
          <a:p>
            <a:pPr marL="0" lvl="0" indent="0">
              <a:spcBef>
                <a:spcPts val="3000"/>
              </a:spcBef>
              <a:buNone/>
            </a:pPr>
            <a:r>
              <a:rPr b="1"/>
              <a:t>Implementation Templates:</a:t>
            </a:r>
          </a:p>
          <a:p>
            <a:pPr lvl="0"/>
            <a:r>
              <a:rPr b="1"/>
              <a:t>Instruction Files</a:t>
            </a:r>
            <a:r>
              <a:t>: </a:t>
            </a:r>
            <a:r>
              <a:rPr>
                <a:latin typeface="Courier"/>
              </a:rPr>
              <a:t>.github/instructions/*.instructions.md</a:t>
            </a:r>
          </a:p>
          <a:p>
            <a:pPr lvl="0"/>
            <a:r>
              <a:rPr b="1"/>
              <a:t>Prompt Files</a:t>
            </a:r>
            <a:r>
              <a:t>: </a:t>
            </a:r>
            <a:r>
              <a:rPr>
                <a:latin typeface="Courier"/>
              </a:rPr>
              <a:t>.github/prompts/*.prompt.md</a:t>
            </a:r>
          </a:p>
          <a:p>
            <a:pPr lvl="0"/>
            <a:r>
              <a:rPr b="1"/>
              <a:t>Chat Mode Configs</a:t>
            </a:r>
            <a:r>
              <a:t>: Custom mode documentation</a:t>
            </a:r>
          </a:p>
          <a:p>
            <a:pPr marL="0" lvl="0" indent="0">
              <a:spcBef>
                <a:spcPts val="3000"/>
              </a:spcBef>
              <a:buNone/>
            </a:pPr>
            <a:r>
              <a:rPr b="1"/>
              <a:t>Documentation:</a:t>
            </a:r>
          </a:p>
          <a:p>
            <a:pPr lvl="0"/>
            <a:r>
              <a:t>AI-Assisted Output Instructions</a:t>
            </a:r>
          </a:p>
          <a:p>
            <a:pPr lvl="0"/>
            <a:r>
              <a:t>Copilot Integration Guidelines</a:t>
            </a:r>
          </a:p>
          <a:p>
            <a:pPr lvl="0"/>
            <a:r>
              <a:t>Best Practices Repository</a:t>
            </a:r>
          </a:p>
          <a:p>
            <a:pPr marL="0" lvl="0" indent="0">
              <a:buNone/>
            </a:pPr>
            <a:r>
              <a:rPr b="1"/>
              <a:t>Contact</a:t>
            </a:r>
            <a:r>
              <a:t>: john.miller@codestaffing.com</a:t>
            </a:r>
          </a:p>
        </p:txBody>
      </p:sp>
    </p:spTree>
  </p:cSld>
  <p:clrMapOvr>
    <a:masterClrMapping/>
  </p:clrMapOvr>
  <p:transition>
    <p:fade/>
  </p:transition>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dirty="0"/>
              <a:t>Creating Custom Chat Modes</a:t>
            </a:r>
          </a:p>
          <a:p>
            <a:pPr lvl="0"/>
            <a:r>
              <a:rPr dirty="0"/>
              <a:t>Generating Implementation Prompts &amp; Verification</a:t>
            </a:r>
          </a:p>
          <a:p>
            <a:pPr lvl="0"/>
            <a:r>
              <a:rPr dirty="0"/>
              <a:t>Exercises</a:t>
            </a:r>
          </a:p>
          <a:p>
            <a:pPr lvl="0"/>
            <a:r>
              <a:rPr dirty="0"/>
              <a:t>Wrap-Up and Open Q&amp;A</a:t>
            </a:r>
          </a:p>
        </p:txBody>
      </p:sp>
    </p:spTree>
  </p:cSld>
  <p:clrMapOvr>
    <a:masterClrMapping/>
  </p:clrMapOvr>
  <p:transition>
    <p:fade/>
  </p:transition>
</p:sld>
</file>

<file path=ppt/theme/theme1.xml><?xml version="1.0" encoding="utf-8"?>
<a:theme xmlns:a="http://schemas.openxmlformats.org/drawingml/2006/main" name="CODE Training">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1DEA5D72-37B1-4E22-BDC4-A589D83B7646}" vid="{DD254BF8-1D5F-4196-AA68-4DB20BF61A0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jMM CODE Training Slide Template-Plato-SP9</Template>
  <TotalTime>3200</TotalTime>
  <Words>4186</Words>
  <Application>Microsoft Office PowerPoint</Application>
  <PresentationFormat>On-screen Show (16:9)</PresentationFormat>
  <Paragraphs>546</Paragraphs>
  <Slides>47</Slides>
  <Notes>21</Notes>
  <HiddenSlides>14</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47</vt:i4>
      </vt:variant>
    </vt:vector>
  </HeadingPairs>
  <TitlesOfParts>
    <vt:vector size="54" baseType="lpstr">
      <vt:lpstr>Arial</vt:lpstr>
      <vt:lpstr>Calibri</vt:lpstr>
      <vt:lpstr>Courier</vt:lpstr>
      <vt:lpstr>Noto Sans</vt:lpstr>
      <vt:lpstr>Victor Mono</vt:lpstr>
      <vt:lpstr>Wingdings</vt:lpstr>
      <vt:lpstr>CODE Training</vt:lpstr>
      <vt:lpstr>AI Assisted Software Development</vt:lpstr>
      <vt:lpstr>John Michael Miller</vt:lpstr>
      <vt:lpstr>Agenda</vt:lpstr>
      <vt:lpstr>Exercise: Fork the repos</vt:lpstr>
      <vt:lpstr>New Development</vt:lpstr>
      <vt:lpstr>Greenfield Chat Modes</vt:lpstr>
      <vt:lpstr>Product Manager</vt:lpstr>
      <vt:lpstr>Solution Architect</vt:lpstr>
      <vt:lpstr>Senior Developer</vt:lpstr>
      <vt:lpstr>Technical Writer</vt:lpstr>
      <vt:lpstr>Security Reviewer</vt:lpstr>
      <vt:lpstr>DevOps Engineer</vt:lpstr>
      <vt:lpstr>DevTest Engineer</vt:lpstr>
      <vt:lpstr>SRE (Site Reliability Engineer)</vt:lpstr>
      <vt:lpstr>Solution Architect Prompts</vt:lpstr>
      <vt:lpstr>If you said: "Design an architecture for a Windows desktop application that manages real-time inventory for a warehouse"</vt:lpstr>
      <vt:lpstr>Core Instructions</vt:lpstr>
      <vt:lpstr>Starting with Project Requirements</vt:lpstr>
      <vt:lpstr>Business Rules as Requirements</vt:lpstr>
      <vt:lpstr>Conceptual Models</vt:lpstr>
      <vt:lpstr>Object Role Models</vt:lpstr>
      <vt:lpstr>Zeus.Academia.3b</vt:lpstr>
      <vt:lpstr>Use Cases</vt:lpstr>
      <vt:lpstr>Exercise: Generate Business Requirements</vt:lpstr>
      <vt:lpstr>Exercise: Create Project Requirement</vt:lpstr>
      <vt:lpstr>Exercise: Generate Business Requirements</vt:lpstr>
      <vt:lpstr>Getting Started Checklist</vt:lpstr>
      <vt:lpstr>Getting Started Checklist (Continued)</vt:lpstr>
      <vt:lpstr>High Level AI Assisted Workflow</vt:lpstr>
      <vt:lpstr>What Are Vertical Slices?</vt:lpstr>
      <vt:lpstr>Traditional Layered vs Vertical Slices:</vt:lpstr>
      <vt:lpstr>Why Use Vertical Slices?</vt:lpstr>
      <vt:lpstr>Generating Implementation Prompts &amp; Verification</vt:lpstr>
      <vt:lpstr>Exercise #12 – Executing Prompts</vt:lpstr>
      <vt:lpstr>Wrap-Up and Open Q&amp;A</vt:lpstr>
      <vt:lpstr>Decision Framework</vt:lpstr>
      <vt:lpstr>Decision Framework (Continued)</vt:lpstr>
      <vt:lpstr>Layered Integration Approach</vt:lpstr>
      <vt:lpstr>Real-World Integration Example</vt:lpstr>
      <vt:lpstr>Instruction Files Best Practices</vt:lpstr>
      <vt:lpstr>Prompt Files Best Practices</vt:lpstr>
      <vt:lpstr>Custom Chat Modes Best Practices</vt:lpstr>
      <vt:lpstr>Key Takeaways</vt:lpstr>
      <vt:lpstr>Summary: Three Complementary Approaches</vt:lpstr>
      <vt:lpstr>The Integration Advantage</vt:lpstr>
      <vt:lpstr>Resources &amp; References</vt:lpstr>
      <vt:lpstr>PowerPoint Presentation</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John Miller</cp:lastModifiedBy>
  <cp:revision>5</cp:revision>
  <dcterms:created xsi:type="dcterms:W3CDTF">2025-10-23T13:42:31Z</dcterms:created>
  <dcterms:modified xsi:type="dcterms:W3CDTF">2026-02-09T14:15:18Z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class">
    <vt:lpwstr>lead</vt:lpwstr>
  </property>
  <property fmtid="{D5CDD505-2E9C-101B-9397-08002B2CF9AE}" pid="3" name="backgroundColor">
    <vt:lpwstr>#fff</vt:lpwstr>
  </property>
  <property fmtid="{D5CDD505-2E9C-101B-9397-08002B2CF9AE}" pid="4" name="marp">
    <vt:lpwstr>True</vt:lpwstr>
  </property>
  <property fmtid="{D5CDD505-2E9C-101B-9397-08002B2CF9AE}" pid="5" name="paginate">
    <vt:lpwstr>True</vt:lpwstr>
  </property>
</Properties>
</file>