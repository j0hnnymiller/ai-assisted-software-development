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notesMaster" Target="notesMasters/notesMaster1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summarizes the functional difference between the two instruction file types GitHub Copilot supports inside </a:t>
            </a:r>
            <a:r>
              <a:rPr>
                <a:latin typeface="Courier"/>
              </a:rPr>
              <a:t>.github/instructions/</a:t>
            </a:r>
            <a:r>
              <a:rPr/>
              <a:t>. Repo‑level </a:t>
            </a:r>
            <a:r>
              <a:rPr>
                <a:latin typeface="Courier"/>
              </a:rPr>
              <a:t>.md</a:t>
            </a:r>
            <a:r>
              <a:rPr/>
              <a:t> files are unconditional and always included. Scoped </a:t>
            </a:r>
            <a:r>
              <a:rPr>
                <a:latin typeface="Courier"/>
              </a:rPr>
              <a:t>.instructions.md</a:t>
            </a:r>
            <a:r>
              <a:rPr/>
              <a:t> files are conditional, support </a:t>
            </a:r>
            <a:r>
              <a:rPr>
                <a:latin typeface="Courier"/>
              </a:rPr>
              <a:t>applyTo</a:t>
            </a:r>
            <a:r>
              <a:rPr/>
              <a:t> and </a:t>
            </a:r>
            <a:r>
              <a:rPr>
                <a:latin typeface="Courier"/>
              </a:rPr>
              <a:t>exclude</a:t>
            </a:r>
            <a:r>
              <a:rPr/>
              <a:t>, and only activate when relevant. The decision rule gives teams a simple, auditable way to choose the correct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to Use Each Copilot Instruction File Type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Repo‑level </a:t>
            </a:r>
            <a:r>
              <a:rPr b="1">
                <a:latin typeface="Courier"/>
              </a:rPr>
              <a:t>.md</a:t>
            </a:r>
            <a:r>
              <a:rPr b="1"/>
              <a:t>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Apply </a:t>
            </a:r>
            <a:r>
              <a:rPr b="1"/>
              <a:t>everywhere</a:t>
            </a:r>
            <a:r>
              <a:rPr/>
              <a:t> in the repo</a:t>
            </a:r>
          </a:p>
          <a:p>
            <a:pPr lvl="0"/>
            <a:r>
              <a:rPr/>
              <a:t>Always included</a:t>
            </a:r>
          </a:p>
          <a:p>
            <a:pPr lvl="0"/>
            <a:r>
              <a:rPr/>
              <a:t>For </a:t>
            </a:r>
            <a:r>
              <a:rPr b="1"/>
              <a:t>universal rules</a:t>
            </a:r>
            <a:r>
              <a:rPr/>
              <a:t>: style, security, logging, architecture</a:t>
            </a:r>
          </a:p>
          <a:p>
            <a:pPr lvl="0"/>
            <a:r>
              <a:rPr/>
              <a:t>No </a:t>
            </a:r>
            <a:r>
              <a:rPr>
                <a:latin typeface="Courier"/>
              </a:rPr>
              <a:t>applyTo</a:t>
            </a:r>
            <a:r>
              <a:rPr/>
              <a:t> / </a:t>
            </a:r>
            <a:r>
              <a:rPr>
                <a:latin typeface="Courier"/>
              </a:rPr>
              <a:t>exclude</a:t>
            </a:r>
            <a:r>
              <a:rPr/>
              <a:t> support</a:t>
            </a:r>
          </a:p>
          <a:p>
            <a:pPr lvl="0"/>
            <a:r>
              <a:rPr/>
              <a:t>Best for </a:t>
            </a:r>
            <a:r>
              <a:rPr b="1"/>
              <a:t>global, evergreen guidance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Scoped </a:t>
            </a:r>
            <a:r>
              <a:rPr b="1">
                <a:latin typeface="Courier"/>
              </a:rPr>
              <a:t>&lt;name&gt;.instructions.md</a:t>
            </a:r>
            <a:r>
              <a:rPr b="1"/>
              <a:t>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Apply </a:t>
            </a:r>
            <a:r>
              <a:rPr b="1"/>
              <a:t>only</a:t>
            </a:r>
            <a:r>
              <a:rPr/>
              <a:t> when </a:t>
            </a:r>
            <a:r>
              <a:rPr>
                <a:latin typeface="Courier"/>
              </a:rPr>
              <a:t>applyTo</a:t>
            </a:r>
            <a:r>
              <a:rPr/>
              <a:t> matches</a:t>
            </a:r>
          </a:p>
          <a:p>
            <a:pPr lvl="0"/>
            <a:r>
              <a:rPr/>
              <a:t>Can </a:t>
            </a:r>
            <a:r>
              <a:rPr b="1"/>
              <a:t>exclude</a:t>
            </a:r>
            <a:r>
              <a:rPr/>
              <a:t> paths</a:t>
            </a:r>
          </a:p>
          <a:p>
            <a:pPr lvl="0"/>
            <a:r>
              <a:rPr/>
              <a:t>For </a:t>
            </a:r>
            <a:r>
              <a:rPr b="1"/>
              <a:t>language-, framework-, or domain‑specific rules</a:t>
            </a:r>
          </a:p>
          <a:p>
            <a:pPr lvl="0"/>
            <a:r>
              <a:rPr/>
              <a:t>Ideal for precision control</a:t>
            </a:r>
          </a:p>
          <a:p>
            <a:pPr lvl="0"/>
            <a:r>
              <a:rPr/>
              <a:t>Best for </a:t>
            </a:r>
            <a:r>
              <a:rPr b="1"/>
              <a:t>targeted, contextual guidance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Decision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If it should apply </a:t>
            </a:r>
            <a:r>
              <a:rPr b="1"/>
              <a:t>repo‑wide</a:t>
            </a:r>
            <a:r>
              <a:rPr/>
              <a:t> → use </a:t>
            </a:r>
            <a:r>
              <a:rPr>
                <a:latin typeface="Courier"/>
              </a:rPr>
              <a:t>.md</a:t>
            </a:r>
          </a:p>
          <a:p>
            <a:pPr lvl="0"/>
            <a:r>
              <a:rPr/>
              <a:t>If it should apply </a:t>
            </a:r>
            <a:r>
              <a:rPr b="1"/>
              <a:t>only in certain paths</a:t>
            </a:r>
            <a:r>
              <a:rPr/>
              <a:t> → use </a:t>
            </a:r>
            <a:r>
              <a:rPr>
                <a:latin typeface="Courier"/>
              </a:rPr>
              <a:t>.instructions.md</a:t>
            </a:r>
          </a:p>
          <a:p>
            <a:pPr lvl="0"/>
            <a:r>
              <a:rPr/>
              <a:t>If you need </a:t>
            </a:r>
            <a:r>
              <a:rPr b="1"/>
              <a:t>exclusions</a:t>
            </a:r>
            <a:r>
              <a:rPr/>
              <a:t> → must use </a:t>
            </a:r>
            <a:r>
              <a:rPr>
                <a:latin typeface="Courier"/>
              </a:rPr>
              <a:t>.instructions.md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2026-03-24T03:03:47Z</dcterms:created>
  <dcterms:modified xsi:type="dcterms:W3CDTF">2026-03-24T03:03:47Z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False</vt:lpwstr>
  </property>
</Properties>
</file>