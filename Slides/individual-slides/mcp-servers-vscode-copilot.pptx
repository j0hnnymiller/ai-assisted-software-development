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notesMaster" Target="notesMasters/notesMaster1.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tableStyles" Target="tableStyles.xml" /><Relationship Id="rId1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Delivery</a:t>
            </a:r>
            <a:r>
              <a:rPr/>
              <a:t>: Start with enthusiasm - focus on immediate productivity gains by using existing tools.</a:t>
            </a:r>
          </a:p>
          <a:p>
            <a:pPr lvl="0" indent="0" marL="0">
              <a:buNone/>
            </a:pPr>
          </a:p>
          <a:p>
            <a:pPr lvl="0" indent="0" marL="0">
              <a:buNone/>
            </a:pPr>
            <a:r>
              <a:rPr b="1"/>
              <a:t>Timing</a:t>
            </a:r>
            <a:r>
              <a:rPr/>
              <a:t>: 1 minute - brief introduction</a:t>
            </a:r>
          </a:p>
          <a:p>
            <a:pPr lvl="0" indent="0" marL="0">
              <a:buNone/>
            </a:pPr>
          </a:p>
          <a:p>
            <a:pPr lvl="0" indent="0" marL="0">
              <a:buNone/>
            </a:pPr>
            <a:r>
              <a:rPr b="1"/>
              <a:t>Key Points</a:t>
            </a:r>
            <a:r>
              <a:rPr/>
              <a:t>:</a:t>
            </a:r>
          </a:p>
          <a:p>
            <a:pPr lvl="0" indent="0" marL="0">
              <a:buNone/>
            </a:pPr>
          </a:p>
          <a:p>
            <a:pPr lvl="0"/>
            <a:r>
              <a:rPr/>
              <a:t>MCP servers are ready-to-use tools that enhance Copilot</a:t>
            </a:r>
          </a:p>
          <a:p>
            <a:pPr lvl="0" indent="0" marL="0">
              <a:buNone/>
            </a:pPr>
          </a:p>
          <a:p>
            <a:pPr lvl="0"/>
            <a:r>
              <a:rPr/>
              <a:t>No need to build from scratch - consume existing servers</a:t>
            </a:r>
          </a:p>
          <a:p>
            <a:pPr lvl="0" indent="0" marL="0">
              <a:buNone/>
            </a:pPr>
          </a:p>
          <a:p>
            <a:pPr lvl="0"/>
            <a:r>
              <a:rPr/>
              <a:t>Dozens of community servers available today</a:t>
            </a:r>
          </a:p>
          <a:p>
            <a:pPr lvl="0" indent="0" marL="0">
              <a:buNone/>
            </a:pPr>
          </a:p>
          <a:p>
            <a:pPr lvl="0"/>
            <a:r>
              <a:rPr/>
              <a:t>Simple configuration unlocks powerful capabilities</a:t>
            </a:r>
          </a:p>
          <a:p>
            <a:pPr lvl="0" indent="0" marL="0">
              <a:buNone/>
            </a:pPr>
          </a:p>
          <a:p>
            <a:pPr lvl="0" indent="0" marL="0">
              <a:buNone/>
            </a:pPr>
            <a:r>
              <a:rPr b="1"/>
              <a:t>Transition</a:t>
            </a:r>
            <a:r>
              <a:rPr/>
              <a:t>: “Let’s explore how to use MCP servers to enhance your development workflow”</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Delivery</a:t>
            </a:r>
            <a:r>
              <a:rPr/>
              <a:t>: Emphasize “consume not create” - developers use existing servers.</a:t>
            </a:r>
          </a:p>
          <a:p>
            <a:pPr lvl="0" indent="0" marL="0">
              <a:buNone/>
            </a:pPr>
          </a:p>
          <a:p>
            <a:pPr lvl="0" indent="0" marL="0">
              <a:buNone/>
            </a:pPr>
            <a:r>
              <a:rPr b="1"/>
              <a:t>Timing</a:t>
            </a:r>
            <a:r>
              <a:rPr/>
              <a:t>: 2-3 minutes</a:t>
            </a:r>
          </a:p>
          <a:p>
            <a:pPr lvl="0" indent="0" marL="0">
              <a:buNone/>
            </a:pPr>
          </a:p>
          <a:p>
            <a:pPr lvl="0" indent="0" marL="0">
              <a:buNone/>
            </a:pPr>
            <a:r>
              <a:rPr b="1"/>
              <a:t>Key Points</a:t>
            </a:r>
            <a:r>
              <a:rPr/>
              <a:t>:</a:t>
            </a:r>
          </a:p>
          <a:p>
            <a:pPr lvl="0" indent="0" marL="0">
              <a:buNone/>
            </a:pPr>
          </a:p>
          <a:p>
            <a:pPr lvl="0"/>
            <a:r>
              <a:rPr/>
              <a:t>MCP servers are like npm packages - install and use</a:t>
            </a:r>
          </a:p>
          <a:p>
            <a:pPr lvl="0" indent="0" marL="0">
              <a:buNone/>
            </a:pPr>
          </a:p>
          <a:p>
            <a:pPr lvl="0"/>
            <a:r>
              <a:rPr/>
              <a:t>Large ecosystem of ready-to-use servers</a:t>
            </a:r>
          </a:p>
          <a:p>
            <a:pPr lvl="0" indent="0" marL="0">
              <a:buNone/>
            </a:pPr>
          </a:p>
          <a:p>
            <a:pPr lvl="0"/>
            <a:r>
              <a:rPr/>
              <a:t>Community maintains servers for databases, APIs, file systems, etc.</a:t>
            </a:r>
          </a:p>
          <a:p>
            <a:pPr lvl="0" indent="0" marL="0">
              <a:buNone/>
            </a:pPr>
          </a:p>
          <a:p>
            <a:pPr lvl="0"/>
            <a:r>
              <a:rPr/>
              <a:t>Configuration is simple JSON - no coding required</a:t>
            </a:r>
          </a:p>
          <a:p>
            <a:pPr lvl="0" indent="0" marL="0">
              <a:buNone/>
            </a:pPr>
          </a:p>
          <a:p>
            <a:pPr lvl="0" indent="0" marL="0">
              <a:buNone/>
            </a:pPr>
            <a:r>
              <a:rPr b="1"/>
              <a:t>Examples</a:t>
            </a:r>
            <a:r>
              <a:rPr/>
              <a:t>:</a:t>
            </a:r>
          </a:p>
          <a:p>
            <a:pPr lvl="0" indent="0" marL="0">
              <a:buNone/>
            </a:pPr>
          </a:p>
          <a:p>
            <a:pPr lvl="0"/>
            <a:r>
              <a:rPr/>
              <a:t>GitHub MCP Server: Access repos and issues</a:t>
            </a:r>
          </a:p>
          <a:p>
            <a:pPr lvl="0" indent="0" marL="0">
              <a:buNone/>
            </a:pPr>
          </a:p>
          <a:p>
            <a:pPr lvl="0"/>
            <a:r>
              <a:rPr/>
              <a:t>Postgres MCP Server: Query your database</a:t>
            </a:r>
          </a:p>
          <a:p>
            <a:pPr lvl="0" indent="0" marL="0">
              <a:buNone/>
            </a:pPr>
          </a:p>
          <a:p>
            <a:pPr lvl="0"/>
            <a:r>
              <a:rPr/>
              <a:t>Filesystem MCP Server: Safe file access for Copilot</a:t>
            </a:r>
          </a:p>
          <a:p>
            <a:pPr lvl="0" indent="0" marL="0">
              <a:buNone/>
            </a:pPr>
          </a:p>
          <a:p>
            <a:pPr lvl="0"/>
            <a:r>
              <a:rPr/>
              <a:t>Slack MCP Server: Read channels and messages</a:t>
            </a:r>
          </a:p>
          <a:p>
            <a:pPr lvl="0" indent="0" marL="0">
              <a:buNone/>
            </a:pPr>
          </a:p>
          <a:p>
            <a:pPr lvl="0" indent="0" marL="0">
              <a:buNone/>
            </a:pPr>
            <a:r>
              <a:rPr b="1"/>
              <a:t>Transition</a:t>
            </a:r>
            <a:r>
              <a:rPr/>
              <a:t>: “Let’s see the architecture from a consumer’s perspective”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Delivery</a:t>
            </a:r>
            <a:r>
              <a:rPr/>
              <a:t>: Focus on what the developer controls - configuration, not code.</a:t>
            </a:r>
          </a:p>
          <a:p>
            <a:pPr lvl="0" indent="0" marL="0">
              <a:buNone/>
            </a:pPr>
          </a:p>
          <a:p>
            <a:pPr lvl="0" indent="0" marL="0">
              <a:buNone/>
            </a:pPr>
            <a:r>
              <a:rPr b="1"/>
              <a:t>Timing</a:t>
            </a:r>
            <a:r>
              <a:rPr/>
              <a:t>: 3-4 minutes</a:t>
            </a:r>
          </a:p>
          <a:p>
            <a:pPr lvl="0" indent="0" marL="0">
              <a:buNone/>
            </a:pPr>
          </a:p>
          <a:p>
            <a:pPr lvl="0" indent="0" marL="0">
              <a:buNone/>
            </a:pPr>
            <a:r>
              <a:rPr b="1"/>
              <a:t>Key Points</a:t>
            </a:r>
            <a:r>
              <a:rPr/>
              <a:t>:</a:t>
            </a:r>
          </a:p>
          <a:p>
            <a:pPr lvl="0" indent="0" marL="0">
              <a:buNone/>
            </a:pPr>
          </a:p>
          <a:p>
            <a:pPr lvl="0"/>
            <a:r>
              <a:rPr/>
              <a:t>You don’t write server code - you configure existing servers</a:t>
            </a:r>
          </a:p>
          <a:p>
            <a:pPr lvl="0" indent="0" marL="0">
              <a:buNone/>
            </a:pPr>
          </a:p>
          <a:p>
            <a:pPr lvl="0"/>
            <a:r>
              <a:rPr/>
              <a:t>Servers are distributed as npm packages, Python packages, or binaries</a:t>
            </a:r>
          </a:p>
          <a:p>
            <a:pPr lvl="0" indent="0" marL="0">
              <a:buNone/>
            </a:pPr>
          </a:p>
          <a:p>
            <a:pPr lvl="0"/>
            <a:r>
              <a:rPr/>
              <a:t>Your job: Install server + configure what it can access</a:t>
            </a:r>
          </a:p>
          <a:p>
            <a:pPr lvl="0" indent="0" marL="0">
              <a:buNone/>
            </a:pPr>
          </a:p>
          <a:p>
            <a:pPr lvl="0"/>
            <a:r>
              <a:rPr/>
              <a:t>Communication happens automatically once configured</a:t>
            </a:r>
          </a:p>
          <a:p>
            <a:pPr lvl="0" indent="0" marL="0">
              <a:buNone/>
            </a:pPr>
          </a:p>
          <a:p>
            <a:pPr lvl="0" indent="0" marL="0">
              <a:buNone/>
            </a:pPr>
            <a:r>
              <a:rPr b="1"/>
              <a:t>Examples</a:t>
            </a:r>
            <a:r>
              <a:rPr/>
              <a:t>:</a:t>
            </a:r>
          </a:p>
          <a:p>
            <a:pPr lvl="0" indent="0" marL="0">
              <a:buNone/>
            </a:pPr>
          </a:p>
          <a:p>
            <a:pPr lvl="0"/>
            <a:r>
              <a:rPr/>
              <a:t>Install </a:t>
            </a:r>
            <a:r>
              <a:rPr>
                <a:latin typeface="Courier"/>
              </a:rPr>
              <a:t>@modelcontextprotocol/server-github</a:t>
            </a:r>
            <a:r>
              <a:rPr/>
              <a:t> via npm</a:t>
            </a:r>
          </a:p>
          <a:p>
            <a:pPr lvl="0" indent="0" marL="0">
              <a:buNone/>
            </a:pPr>
          </a:p>
          <a:p>
            <a:pPr lvl="0"/>
            <a:r>
              <a:rPr/>
              <a:t>Configure with your GitHub token</a:t>
            </a:r>
          </a:p>
          <a:p>
            <a:pPr lvl="0" indent="0" marL="0">
              <a:buNone/>
            </a:pPr>
          </a:p>
          <a:p>
            <a:pPr lvl="0"/>
            <a:r>
              <a:rPr/>
              <a:t>Copilot can now access your repos for better context</a:t>
            </a:r>
          </a:p>
          <a:p>
            <a:pPr lvl="0" indent="0" marL="0">
              <a:buNone/>
            </a:pPr>
          </a:p>
          <a:p>
            <a:pPr lvl="0" indent="0" marL="0">
              <a:buNone/>
            </a:pPr>
            <a:r>
              <a:rPr b="1"/>
              <a:t>Consumer Focus</a:t>
            </a:r>
            <a:r>
              <a:rPr/>
              <a:t>:</a:t>
            </a:r>
          </a:p>
          <a:p>
            <a:pPr lvl="0" indent="0" marL="0">
              <a:buNone/>
            </a:pPr>
          </a:p>
          <a:p>
            <a:pPr lvl="0"/>
            <a:r>
              <a:rPr/>
              <a:t>Think “install and configure” not “build and deploy”</a:t>
            </a:r>
          </a:p>
          <a:p>
            <a:pPr lvl="0" indent="0" marL="0">
              <a:buNone/>
            </a:pPr>
          </a:p>
          <a:p>
            <a:pPr lvl="0"/>
            <a:r>
              <a:rPr/>
              <a:t>Like using VS Code extensions - install from marketplace</a:t>
            </a:r>
          </a:p>
          <a:p>
            <a:pPr lvl="0" indent="0" marL="0">
              <a:buNone/>
            </a:pPr>
          </a:p>
          <a:p>
            <a:pPr lvl="0" indent="0" marL="0">
              <a:buNone/>
            </a:pPr>
            <a:r>
              <a:rPr b="1"/>
              <a:t>Transition</a:t>
            </a:r>
            <a:r>
              <a:rPr/>
              <a:t>: “Let’s install your first MCP server”</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Delivery</a:t>
            </a:r>
            <a:r>
              <a:rPr/>
              <a:t>: Walk through real example - emphasize it’s just package installation.</a:t>
            </a:r>
          </a:p>
          <a:p>
            <a:pPr lvl="0" indent="0" marL="0">
              <a:buNone/>
            </a:pPr>
          </a:p>
          <a:p>
            <a:pPr lvl="0" indent="0" marL="0">
              <a:buNone/>
            </a:pPr>
            <a:r>
              <a:rPr b="1"/>
              <a:t>Timing</a:t>
            </a:r>
            <a:r>
              <a:rPr/>
              <a:t>: 4-5 minutes (show live demo if possible)</a:t>
            </a:r>
          </a:p>
          <a:p>
            <a:pPr lvl="0" indent="0" marL="0">
              <a:buNone/>
            </a:pPr>
          </a:p>
          <a:p>
            <a:pPr lvl="0" indent="0" marL="0">
              <a:buNone/>
            </a:pPr>
            <a:r>
              <a:rPr b="1"/>
              <a:t>Key Points</a:t>
            </a:r>
            <a:r>
              <a:rPr/>
              <a:t>:</a:t>
            </a:r>
          </a:p>
          <a:p>
            <a:pPr lvl="0" indent="0" marL="0">
              <a:buNone/>
            </a:pPr>
          </a:p>
          <a:p>
            <a:pPr lvl="0"/>
            <a:r>
              <a:rPr/>
              <a:t>Install like any npm/pip package</a:t>
            </a:r>
          </a:p>
          <a:p>
            <a:pPr lvl="0" indent="0" marL="0">
              <a:buNone/>
            </a:pPr>
          </a:p>
          <a:p>
            <a:pPr lvl="0"/>
            <a:r>
              <a:rPr/>
              <a:t>Configure with credentials and options</a:t>
            </a:r>
          </a:p>
          <a:p>
            <a:pPr lvl="0" indent="0" marL="0">
              <a:buNone/>
            </a:pPr>
          </a:p>
          <a:p>
            <a:pPr lvl="0"/>
            <a:r>
              <a:rPr/>
              <a:t>Servers start automatically with VS Code</a:t>
            </a:r>
          </a:p>
          <a:p>
            <a:pPr lvl="0" indent="0" marL="0">
              <a:buNone/>
            </a:pPr>
          </a:p>
          <a:p>
            <a:pPr lvl="0"/>
            <a:r>
              <a:rPr/>
              <a:t>Multiple servers can run together</a:t>
            </a:r>
          </a:p>
          <a:p>
            <a:pPr lvl="0" indent="0" marL="0">
              <a:buNone/>
            </a:pPr>
          </a:p>
          <a:p>
            <a:pPr lvl="0" indent="0" marL="0">
              <a:buNone/>
            </a:pPr>
            <a:r>
              <a:rPr b="1"/>
              <a:t>Available Servers</a:t>
            </a:r>
            <a:r>
              <a:rPr/>
              <a:t> (mention these):</a:t>
            </a:r>
          </a:p>
          <a:p>
            <a:pPr lvl="0" indent="0" marL="0">
              <a:buNone/>
            </a:pPr>
          </a:p>
          <a:p>
            <a:pPr lvl="0"/>
            <a:r>
              <a:rPr>
                <a:latin typeface="Courier"/>
              </a:rPr>
              <a:t>@modelcontextprotocol/server-github</a:t>
            </a:r>
            <a:r>
              <a:rPr/>
              <a:t> - GitHub integration</a:t>
            </a:r>
          </a:p>
          <a:p>
            <a:pPr lvl="0" indent="0" marL="0">
              <a:buNone/>
            </a:pPr>
          </a:p>
          <a:p>
            <a:pPr lvl="0"/>
            <a:r>
              <a:rPr>
                <a:latin typeface="Courier"/>
              </a:rPr>
              <a:t>@modelcontextprotocol/server-postgres</a:t>
            </a:r>
            <a:r>
              <a:rPr/>
              <a:t> - Database access</a:t>
            </a:r>
          </a:p>
          <a:p>
            <a:pPr lvl="0" indent="0" marL="0">
              <a:buNone/>
            </a:pPr>
          </a:p>
          <a:p>
            <a:pPr lvl="0"/>
            <a:r>
              <a:rPr>
                <a:latin typeface="Courier"/>
              </a:rPr>
              <a:t>@modelcontextprotocol/server-filesystem</a:t>
            </a:r>
            <a:r>
              <a:rPr/>
              <a:t> - Safe file access</a:t>
            </a:r>
          </a:p>
          <a:p>
            <a:pPr lvl="0" indent="0" marL="0">
              <a:buNone/>
            </a:pPr>
          </a:p>
          <a:p>
            <a:pPr lvl="0"/>
            <a:r>
              <a:rPr>
                <a:latin typeface="Courier"/>
              </a:rPr>
              <a:t>@modelcontextprotocol/server-sqlite</a:t>
            </a:r>
            <a:r>
              <a:rPr/>
              <a:t> - SQLite queries</a:t>
            </a:r>
          </a:p>
          <a:p>
            <a:pPr lvl="0" indent="0" marL="0">
              <a:buNone/>
            </a:pPr>
          </a:p>
          <a:p>
            <a:pPr lvl="0" indent="0" marL="0">
              <a:buNone/>
            </a:pPr>
            <a:r>
              <a:rPr b="1"/>
              <a:t>Common Issues</a:t>
            </a:r>
            <a:r>
              <a:rPr/>
              <a:t>:</a:t>
            </a:r>
          </a:p>
          <a:p>
            <a:pPr lvl="0" indent="0" marL="0">
              <a:buNone/>
            </a:pPr>
          </a:p>
          <a:p>
            <a:pPr lvl="0"/>
            <a:r>
              <a:rPr/>
              <a:t>Missing credentials: Set environment variables</a:t>
            </a:r>
          </a:p>
          <a:p>
            <a:pPr lvl="0" indent="0" marL="0">
              <a:buNone/>
            </a:pPr>
          </a:p>
          <a:p>
            <a:pPr lvl="0"/>
            <a:r>
              <a:rPr/>
              <a:t>Package not found: Check npm registry or install from GitHub</a:t>
            </a:r>
          </a:p>
          <a:p>
            <a:pPr lvl="0" indent="0" marL="0">
              <a:buNone/>
            </a:pPr>
          </a:p>
          <a:p>
            <a:pPr lvl="0"/>
            <a:r>
              <a:rPr/>
              <a:t>Permission errors: Verify token scopes</a:t>
            </a:r>
          </a:p>
          <a:p>
            <a:pPr lvl="0" indent="0" marL="0">
              <a:buNone/>
            </a:pPr>
          </a:p>
          <a:p>
            <a:pPr lvl="0" indent="0" marL="0">
              <a:buNone/>
            </a:pPr>
            <a:r>
              <a:rPr b="1"/>
              <a:t>Transition</a:t>
            </a:r>
            <a:r>
              <a:rPr/>
              <a:t>: “Now let’s see Copilot use this context”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Delivery</a:t>
            </a:r>
            <a:r>
              <a:rPr/>
              <a:t>: Emphasize the “before and after” - how completions improve with MCP context.</a:t>
            </a:r>
          </a:p>
          <a:p>
            <a:pPr lvl="0" indent="0" marL="0">
              <a:buNone/>
            </a:pPr>
          </a:p>
          <a:p>
            <a:pPr lvl="0" indent="0" marL="0">
              <a:buNone/>
            </a:pPr>
            <a:r>
              <a:rPr b="1"/>
              <a:t>Timing</a:t>
            </a:r>
            <a:r>
              <a:rPr/>
              <a:t>: 4-5 minutes</a:t>
            </a:r>
          </a:p>
          <a:p>
            <a:pPr lvl="0" indent="0" marL="0">
              <a:buNone/>
            </a:pPr>
          </a:p>
          <a:p>
            <a:pPr lvl="0" indent="0" marL="0">
              <a:buNone/>
            </a:pPr>
            <a:r>
              <a:rPr b="1"/>
              <a:t>Key Points</a:t>
            </a:r>
            <a:r>
              <a:rPr/>
              <a:t>:</a:t>
            </a:r>
          </a:p>
          <a:p>
            <a:pPr lvl="0" indent="0" marL="0">
              <a:buNone/>
            </a:pPr>
          </a:p>
          <a:p>
            <a:pPr lvl="0"/>
            <a:r>
              <a:rPr/>
              <a:t>Without MCP: Generic completions based on training data</a:t>
            </a:r>
          </a:p>
          <a:p>
            <a:pPr lvl="0" indent="0" marL="0">
              <a:buNone/>
            </a:pPr>
          </a:p>
          <a:p>
            <a:pPr lvl="0"/>
            <a:r>
              <a:rPr/>
              <a:t>With MCP: Completions that match YOUR codebase patterns</a:t>
            </a:r>
          </a:p>
          <a:p>
            <a:pPr lvl="0" indent="0" marL="0">
              <a:buNone/>
            </a:pPr>
          </a:p>
          <a:p>
            <a:pPr lvl="0"/>
            <a:r>
              <a:rPr/>
              <a:t>Security: MCP enforces what Copilot can access</a:t>
            </a:r>
          </a:p>
          <a:p>
            <a:pPr lvl="0" indent="0" marL="0">
              <a:buNone/>
            </a:pPr>
          </a:p>
          <a:p>
            <a:pPr lvl="0"/>
            <a:r>
              <a:rPr/>
              <a:t>Customization: Define project-specific rules and patterns</a:t>
            </a:r>
          </a:p>
          <a:p>
            <a:pPr lvl="0" indent="0" marL="0">
              <a:buNone/>
            </a:pPr>
          </a:p>
          <a:p>
            <a:pPr lvl="0" indent="0" marL="0">
              <a:buNone/>
            </a:pPr>
            <a:r>
              <a:rPr b="1"/>
              <a:t>Examples</a:t>
            </a:r>
            <a:r>
              <a:rPr/>
              <a:t>:</a:t>
            </a:r>
          </a:p>
          <a:p>
            <a:pPr lvl="0" indent="0" marL="0">
              <a:buNone/>
            </a:pPr>
          </a:p>
          <a:p>
            <a:pPr lvl="0"/>
            <a:r>
              <a:rPr/>
              <a:t>Database connection: MCP provides your connection pattern</a:t>
            </a:r>
          </a:p>
          <a:p>
            <a:pPr lvl="0" indent="0" marL="0">
              <a:buNone/>
            </a:pPr>
          </a:p>
          <a:p>
            <a:pPr lvl="0"/>
            <a:r>
              <a:rPr/>
              <a:t>API calls: MCP shares your error handling approach</a:t>
            </a:r>
          </a:p>
          <a:p>
            <a:pPr lvl="0" indent="0" marL="0">
              <a:buNone/>
            </a:pPr>
          </a:p>
          <a:p>
            <a:pPr lvl="0"/>
            <a:r>
              <a:rPr/>
              <a:t>Testing: MCP provides your test framework patterns</a:t>
            </a:r>
          </a:p>
          <a:p>
            <a:pPr lvl="0" indent="0" marL="0">
              <a:buNone/>
            </a:pPr>
          </a:p>
          <a:p>
            <a:pPr lvl="0" indent="0" marL="0">
              <a:buNone/>
            </a:pPr>
            <a:r>
              <a:rPr b="1"/>
              <a:t>Background Context</a:t>
            </a:r>
            <a:r>
              <a:rPr/>
              <a:t>:</a:t>
            </a:r>
          </a:p>
          <a:p>
            <a:pPr lvl="0" indent="0" marL="0">
              <a:buNone/>
            </a:pPr>
          </a:p>
          <a:p>
            <a:pPr lvl="0"/>
            <a:r>
              <a:rPr/>
              <a:t>MCP servers can implement rate limiting</a:t>
            </a:r>
          </a:p>
          <a:p>
            <a:pPr lvl="0" indent="0" marL="0">
              <a:buNone/>
            </a:pPr>
          </a:p>
          <a:p>
            <a:pPr lvl="0"/>
            <a:r>
              <a:rPr/>
              <a:t>Audit logs track what context was provided</a:t>
            </a:r>
          </a:p>
          <a:p>
            <a:pPr lvl="0" indent="0" marL="0">
              <a:buNone/>
            </a:pPr>
          </a:p>
          <a:p>
            <a:pPr lvl="0"/>
            <a:r>
              <a:rPr/>
              <a:t>Permission model prevents unauthorized access</a:t>
            </a:r>
          </a:p>
          <a:p>
            <a:pPr lvl="0" indent="0" marL="0">
              <a:buNone/>
            </a:pPr>
          </a:p>
          <a:p>
            <a:pPr lvl="0" indent="0" marL="0">
              <a:buNone/>
            </a:pPr>
            <a:r>
              <a:rPr b="1"/>
              <a:t>Transition</a:t>
            </a:r>
            <a:r>
              <a:rPr/>
              <a:t>: “Let’s look at some practical scenarios”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Delivery</a:t>
            </a:r>
            <a:r>
              <a:rPr/>
              <a:t>: This is a “shopping list” - show what’s available to install.</a:t>
            </a:r>
          </a:p>
          <a:p>
            <a:pPr lvl="0" indent="0" marL="0">
              <a:buNone/>
            </a:pPr>
          </a:p>
          <a:p>
            <a:pPr lvl="0" indent="0" marL="0">
              <a:buNone/>
            </a:pPr>
            <a:r>
              <a:rPr b="1"/>
              <a:t>Timing</a:t>
            </a:r>
            <a:r>
              <a:rPr/>
              <a:t>: 4-5 minutes</a:t>
            </a:r>
          </a:p>
          <a:p>
            <a:pPr lvl="0" indent="0" marL="0">
              <a:buNone/>
            </a:pPr>
          </a:p>
          <a:p>
            <a:pPr lvl="0" indent="0" marL="0">
              <a:buNone/>
            </a:pPr>
            <a:r>
              <a:rPr b="1"/>
              <a:t>Key Points</a:t>
            </a:r>
            <a:r>
              <a:rPr/>
              <a:t>:</a:t>
            </a:r>
          </a:p>
          <a:p>
            <a:pPr lvl="0" indent="0" marL="0">
              <a:buNone/>
            </a:pPr>
          </a:p>
          <a:p>
            <a:pPr lvl="0"/>
            <a:r>
              <a:rPr/>
              <a:t>All these servers exist today - just install and configure</a:t>
            </a:r>
          </a:p>
          <a:p>
            <a:pPr lvl="0" indent="0" marL="0">
              <a:buNone/>
            </a:pPr>
          </a:p>
          <a:p>
            <a:pPr lvl="0"/>
            <a:r>
              <a:rPr/>
              <a:t>Community actively building more servers</a:t>
            </a:r>
          </a:p>
          <a:p>
            <a:pPr lvl="0" indent="0" marL="0">
              <a:buNone/>
            </a:pPr>
          </a:p>
          <a:p>
            <a:pPr lvl="0"/>
            <a:r>
              <a:rPr/>
              <a:t>Official servers maintained by protocol creators</a:t>
            </a:r>
          </a:p>
          <a:p>
            <a:pPr lvl="0" indent="0" marL="0">
              <a:buNone/>
            </a:pPr>
          </a:p>
          <a:p>
            <a:pPr lvl="0"/>
            <a:r>
              <a:rPr/>
              <a:t>Third-party servers for specialized needs</a:t>
            </a:r>
          </a:p>
          <a:p>
            <a:pPr lvl="0" indent="0" marL="0">
              <a:buNone/>
            </a:pPr>
          </a:p>
          <a:p>
            <a:pPr lvl="0" indent="0" marL="0">
              <a:buNone/>
            </a:pPr>
            <a:r>
              <a:rPr b="1"/>
              <a:t>Specific Examples</a:t>
            </a:r>
            <a:r>
              <a:rPr/>
              <a:t>:</a:t>
            </a:r>
          </a:p>
          <a:p>
            <a:pPr lvl="0" indent="0" marL="0">
              <a:buNone/>
            </a:pPr>
          </a:p>
          <a:p>
            <a:pPr lvl="0"/>
            <a:r>
              <a:rPr>
                <a:latin typeface="Courier"/>
              </a:rPr>
              <a:t>@modelcontextprotocol/server-github</a:t>
            </a:r>
            <a:r>
              <a:rPr/>
              <a:t>: Full GitHub integration</a:t>
            </a:r>
          </a:p>
          <a:p>
            <a:pPr lvl="0" indent="0" marL="0">
              <a:buNone/>
            </a:pPr>
          </a:p>
          <a:p>
            <a:pPr lvl="0"/>
            <a:r>
              <a:rPr>
                <a:latin typeface="Courier"/>
              </a:rPr>
              <a:t>@modelcontextprotocol/server-postgres</a:t>
            </a:r>
            <a:r>
              <a:rPr/>
              <a:t>: Direct database queries</a:t>
            </a:r>
          </a:p>
          <a:p>
            <a:pPr lvl="0" indent="0" marL="0">
              <a:buNone/>
            </a:pPr>
          </a:p>
          <a:p>
            <a:pPr lvl="0"/>
            <a:r>
              <a:rPr>
                <a:latin typeface="Courier"/>
              </a:rPr>
              <a:t>@modelcontextprotocol/server-filesystem</a:t>
            </a:r>
            <a:r>
              <a:rPr/>
              <a:t>: Workspace file access</a:t>
            </a:r>
          </a:p>
          <a:p>
            <a:pPr lvl="0" indent="0" marL="0">
              <a:buNone/>
            </a:pPr>
          </a:p>
          <a:p>
            <a:pPr lvl="0"/>
            <a:r>
              <a:rPr>
                <a:latin typeface="Courier"/>
              </a:rPr>
              <a:t>@modelcontextprotocol/server-brave-search</a:t>
            </a:r>
            <a:r>
              <a:rPr/>
              <a:t>: Web search integration</a:t>
            </a:r>
          </a:p>
          <a:p>
            <a:pPr lvl="0" indent="0" marL="0">
              <a:buNone/>
            </a:pPr>
          </a:p>
          <a:p>
            <a:pPr lvl="0"/>
            <a:r>
              <a:rPr>
                <a:latin typeface="Courier"/>
              </a:rPr>
              <a:t>@modelcontextprotocol/server-puppeteer</a:t>
            </a:r>
            <a:r>
              <a:rPr/>
              <a:t>: Browser automation</a:t>
            </a:r>
          </a:p>
          <a:p>
            <a:pPr lvl="0" indent="0" marL="0">
              <a:buNone/>
            </a:pPr>
          </a:p>
          <a:p>
            <a:pPr lvl="0" indent="0" marL="0">
              <a:buNone/>
            </a:pPr>
            <a:r>
              <a:rPr b="1"/>
              <a:t>Real Usage</a:t>
            </a:r>
            <a:r>
              <a:rPr/>
              <a:t>:</a:t>
            </a:r>
          </a:p>
          <a:p>
            <a:pPr lvl="0" indent="0" marL="0">
              <a:buNone/>
            </a:pPr>
          </a:p>
          <a:p>
            <a:pPr lvl="0"/>
            <a:r>
              <a:rPr/>
              <a:t>GitHub server: “Show me similar issues” → searches your repos</a:t>
            </a:r>
          </a:p>
          <a:p>
            <a:pPr lvl="0" indent="0" marL="0">
              <a:buNone/>
            </a:pPr>
          </a:p>
          <a:p>
            <a:pPr lvl="0"/>
            <a:r>
              <a:rPr/>
              <a:t>DB server: “Generate migration for this schema” → queries current schema</a:t>
            </a:r>
          </a:p>
          <a:p>
            <a:pPr lvl="0" indent="0" marL="0">
              <a:buNone/>
            </a:pPr>
          </a:p>
          <a:p>
            <a:pPr lvl="0"/>
            <a:r>
              <a:rPr/>
              <a:t>Filesystem: “Refactor all files using pattern X” → scans project</a:t>
            </a:r>
          </a:p>
          <a:p>
            <a:pPr lvl="0" indent="0" marL="0">
              <a:buNone/>
            </a:pPr>
          </a:p>
          <a:p>
            <a:pPr lvl="0" indent="0" marL="0">
              <a:buNone/>
            </a:pPr>
            <a:r>
              <a:rPr b="1"/>
              <a:t>Where to Find</a:t>
            </a:r>
            <a:r>
              <a:rPr/>
              <a:t>:</a:t>
            </a:r>
          </a:p>
          <a:p>
            <a:pPr lvl="0" indent="0" marL="0">
              <a:buNone/>
            </a:pPr>
          </a:p>
          <a:p>
            <a:pPr lvl="0"/>
            <a:r>
              <a:rPr/>
              <a:t>Official: https://github.com/modelcontextprotocol/servers</a:t>
            </a:r>
          </a:p>
          <a:p>
            <a:pPr lvl="0" indent="0" marL="0">
              <a:buNone/>
            </a:pPr>
          </a:p>
          <a:p>
            <a:pPr lvl="0"/>
            <a:r>
              <a:rPr/>
              <a:t>Community: npm/pip with “mcp-server” tag</a:t>
            </a:r>
          </a:p>
          <a:p>
            <a:pPr lvl="0" indent="0" marL="0">
              <a:buNone/>
            </a:pPr>
          </a:p>
          <a:p>
            <a:pPr lvl="0" indent="0" marL="0">
              <a:buNone/>
            </a:pPr>
            <a:r>
              <a:rPr b="1"/>
              <a:t>Transition</a:t>
            </a:r>
            <a:r>
              <a:rPr/>
              <a:t>: “Let’s talk about configuring these safely”</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Delivery</a:t>
            </a:r>
            <a:r>
              <a:rPr/>
              <a:t>: Security from consumer perspective - what you control in config.</a:t>
            </a:r>
          </a:p>
          <a:p>
            <a:pPr lvl="0" indent="0" marL="0">
              <a:buNone/>
            </a:pPr>
          </a:p>
          <a:p>
            <a:pPr lvl="0" indent="0" marL="0">
              <a:buNone/>
            </a:pPr>
            <a:r>
              <a:rPr b="1"/>
              <a:t>Timing</a:t>
            </a:r>
            <a:r>
              <a:rPr/>
              <a:t>: 3-4 minutes</a:t>
            </a:r>
          </a:p>
          <a:p>
            <a:pPr lvl="0" indent="0" marL="0">
              <a:buNone/>
            </a:pPr>
          </a:p>
          <a:p>
            <a:pPr lvl="0" indent="0" marL="0">
              <a:buNone/>
            </a:pPr>
            <a:r>
              <a:rPr b="1"/>
              <a:t>Key Points</a:t>
            </a:r>
            <a:r>
              <a:rPr/>
              <a:t>:</a:t>
            </a:r>
          </a:p>
          <a:p>
            <a:pPr lvl="0" indent="0" marL="0">
              <a:buNone/>
            </a:pPr>
          </a:p>
          <a:p>
            <a:pPr lvl="0"/>
            <a:r>
              <a:rPr/>
              <a:t>You control what each server can access via configuration</a:t>
            </a:r>
          </a:p>
          <a:p>
            <a:pPr lvl="0" indent="0" marL="0">
              <a:buNone/>
            </a:pPr>
          </a:p>
          <a:p>
            <a:pPr lvl="0"/>
            <a:r>
              <a:rPr/>
              <a:t>Servers can’t bypass permissions you set</a:t>
            </a:r>
          </a:p>
          <a:p>
            <a:pPr lvl="0" indent="0" marL="0">
              <a:buNone/>
            </a:pPr>
          </a:p>
          <a:p>
            <a:pPr lvl="0"/>
            <a:r>
              <a:rPr/>
              <a:t>Credentials stay in environment variables, never in code</a:t>
            </a:r>
          </a:p>
          <a:p>
            <a:pPr lvl="0" indent="0" marL="0">
              <a:buNone/>
            </a:pPr>
          </a:p>
          <a:p>
            <a:pPr lvl="0"/>
            <a:r>
              <a:rPr/>
              <a:t>Official servers are audited and maintained</a:t>
            </a:r>
          </a:p>
          <a:p>
            <a:pPr lvl="0" indent="0" marL="0">
              <a:buNone/>
            </a:pPr>
          </a:p>
          <a:p>
            <a:pPr lvl="0" indent="0" marL="0">
              <a:buNone/>
            </a:pPr>
            <a:r>
              <a:rPr b="1"/>
              <a:t>Configuration Examples</a:t>
            </a:r>
            <a:r>
              <a:rPr/>
              <a:t>:</a:t>
            </a:r>
          </a:p>
          <a:p>
            <a:pPr lvl="0" indent="0" marL="0">
              <a:buNone/>
            </a:pPr>
          </a:p>
          <a:p>
            <a:pPr lvl="0" indent="0">
              <a:buNone/>
            </a:pPr>
            <a:r>
              <a:rPr b="1">
                <a:solidFill>
                  <a:srgbClr val="FF0000"/>
                </a:solidFill>
                <a:latin typeface="Courier"/>
              </a:rPr>
              <a:t>//</a:t>
            </a:r>
            <a:r>
              <a:rPr>
                <a:latin typeface="Courier"/>
              </a:rPr>
              <a:t> </a:t>
            </a:r>
            <a:r>
              <a:rPr b="1">
                <a:solidFill>
                  <a:srgbClr val="FF0000"/>
                </a:solidFill>
                <a:latin typeface="Courier"/>
              </a:rPr>
              <a:t>Good:</a:t>
            </a:r>
            <a:r>
              <a:rPr>
                <a:latin typeface="Courier"/>
              </a:rPr>
              <a:t> </a:t>
            </a:r>
            <a:r>
              <a:rPr b="1">
                <a:solidFill>
                  <a:srgbClr val="FF0000"/>
                </a:solidFill>
                <a:latin typeface="Courier"/>
              </a:rPr>
              <a:t>Scoped</a:t>
            </a:r>
            <a:r>
              <a:rPr>
                <a:latin typeface="Courier"/>
              </a:rPr>
              <a:t> </a:t>
            </a:r>
            <a:r>
              <a:rPr b="1">
                <a:solidFill>
                  <a:srgbClr val="FF0000"/>
                </a:solidFill>
                <a:latin typeface="Courier"/>
              </a:rPr>
              <a:t>GitHub</a:t>
            </a:r>
            <a:r>
              <a:rPr>
                <a:latin typeface="Courier"/>
              </a:rPr>
              <a:t> </a:t>
            </a:r>
            <a:r>
              <a:rPr b="1">
                <a:solidFill>
                  <a:srgbClr val="FF0000"/>
                </a:solidFill>
                <a:latin typeface="Courier"/>
              </a:rPr>
              <a:t>token</a:t>
            </a:r>
            <a:br/>
            <a:r>
              <a:rPr b="1">
                <a:solidFill>
                  <a:srgbClr val="FF0000"/>
                </a:solidFill>
                <a:latin typeface="Courier"/>
              </a:rPr>
              <a:t>"env":</a:t>
            </a:r>
            <a:r>
              <a:rPr>
                <a:latin typeface="Courier"/>
              </a:rPr>
              <a:t> </a:t>
            </a:r>
            <a:r>
              <a:rPr>
                <a:solidFill>
                  <a:srgbClr val="06287E"/>
                </a:solidFill>
                <a:latin typeface="Courier"/>
              </a:rPr>
              <a:t>{</a:t>
            </a:r>
            <a:r>
              <a:rPr>
                <a:latin typeface="Courier"/>
              </a:rPr>
              <a:t> </a:t>
            </a:r>
            <a:r>
              <a:rPr>
                <a:solidFill>
                  <a:srgbClr val="902000"/>
                </a:solidFill>
                <a:latin typeface="Courier"/>
              </a:rPr>
              <a:t>"GITHUB_TOKEN"</a:t>
            </a:r>
            <a:r>
              <a:rPr>
                <a:solidFill>
                  <a:srgbClr val="06287E"/>
                </a:solidFill>
                <a:latin typeface="Courier"/>
              </a:rPr>
              <a:t>:</a:t>
            </a:r>
            <a:r>
              <a:rPr>
                <a:latin typeface="Courier"/>
              </a:rPr>
              <a:t> </a:t>
            </a:r>
            <a:r>
              <a:rPr>
                <a:solidFill>
                  <a:srgbClr val="4070A0"/>
                </a:solidFill>
                <a:latin typeface="Courier"/>
              </a:rPr>
              <a:t>"${env:GH_READ_TOKEN}"</a:t>
            </a:r>
            <a:r>
              <a:rPr>
                <a:latin typeface="Courier"/>
              </a:rPr>
              <a:t> </a:t>
            </a:r>
            <a:r>
              <a:rPr>
                <a:solidFill>
                  <a:srgbClr val="06287E"/>
                </a:solidFill>
                <a:latin typeface="Courier"/>
              </a:rPr>
              <a:t>}</a:t>
            </a:r>
            <a:br/>
            <a:br/>
            <a:r>
              <a:rPr b="1">
                <a:solidFill>
                  <a:srgbClr val="FF0000"/>
                </a:solidFill>
                <a:latin typeface="Courier"/>
              </a:rPr>
              <a:t>//</a:t>
            </a:r>
            <a:r>
              <a:rPr>
                <a:latin typeface="Courier"/>
              </a:rPr>
              <a:t> </a:t>
            </a:r>
            <a:r>
              <a:rPr b="1">
                <a:solidFill>
                  <a:srgbClr val="FF0000"/>
                </a:solidFill>
                <a:latin typeface="Courier"/>
              </a:rPr>
              <a:t>Good:</a:t>
            </a:r>
            <a:r>
              <a:rPr>
                <a:latin typeface="Courier"/>
              </a:rPr>
              <a:t> </a:t>
            </a:r>
            <a:r>
              <a:rPr b="1">
                <a:solidFill>
                  <a:srgbClr val="FF0000"/>
                </a:solidFill>
                <a:latin typeface="Courier"/>
              </a:rPr>
              <a:t>Limited</a:t>
            </a:r>
            <a:r>
              <a:rPr>
                <a:latin typeface="Courier"/>
              </a:rPr>
              <a:t> </a:t>
            </a:r>
            <a:r>
              <a:rPr b="1">
                <a:solidFill>
                  <a:srgbClr val="FF0000"/>
                </a:solidFill>
                <a:latin typeface="Courier"/>
              </a:rPr>
              <a:t>database</a:t>
            </a:r>
            <a:r>
              <a:rPr>
                <a:latin typeface="Courier"/>
              </a:rPr>
              <a:t> </a:t>
            </a:r>
            <a:r>
              <a:rPr b="1">
                <a:solidFill>
                  <a:srgbClr val="FF0000"/>
                </a:solidFill>
                <a:latin typeface="Courier"/>
              </a:rPr>
              <a:t>access</a:t>
            </a:r>
            <a:br/>
            <a:r>
              <a:rPr b="1">
                <a:solidFill>
                  <a:srgbClr val="FF0000"/>
                </a:solidFill>
                <a:latin typeface="Courier"/>
              </a:rPr>
              <a:t>"env":</a:t>
            </a:r>
            <a:r>
              <a:rPr>
                <a:latin typeface="Courier"/>
              </a:rPr>
              <a:t> </a:t>
            </a:r>
            <a:r>
              <a:rPr>
                <a:solidFill>
                  <a:srgbClr val="06287E"/>
                </a:solidFill>
                <a:latin typeface="Courier"/>
              </a:rPr>
              <a:t>{</a:t>
            </a:r>
            <a:r>
              <a:rPr>
                <a:latin typeface="Courier"/>
              </a:rPr>
              <a:t> </a:t>
            </a:r>
            <a:r>
              <a:rPr>
                <a:solidFill>
                  <a:srgbClr val="902000"/>
                </a:solidFill>
                <a:latin typeface="Courier"/>
              </a:rPr>
              <a:t>"DATABASE_URL"</a:t>
            </a:r>
            <a:r>
              <a:rPr>
                <a:solidFill>
                  <a:srgbClr val="06287E"/>
                </a:solidFill>
                <a:latin typeface="Courier"/>
              </a:rPr>
              <a:t>:</a:t>
            </a:r>
            <a:r>
              <a:rPr>
                <a:latin typeface="Courier"/>
              </a:rPr>
              <a:t> </a:t>
            </a:r>
            <a:r>
              <a:rPr>
                <a:solidFill>
                  <a:srgbClr val="4070A0"/>
                </a:solidFill>
                <a:latin typeface="Courier"/>
              </a:rPr>
              <a:t>"readonly-connection-string"</a:t>
            </a:r>
            <a:r>
              <a:rPr>
                <a:latin typeface="Courier"/>
              </a:rPr>
              <a:t> </a:t>
            </a:r>
            <a:r>
              <a:rPr>
                <a:solidFill>
                  <a:srgbClr val="06287E"/>
                </a:solidFill>
                <a:latin typeface="Courier"/>
              </a:rPr>
              <a:t>}</a:t>
            </a:r>
            <a:br/>
            <a:br/>
            <a:r>
              <a:rPr b="1">
                <a:solidFill>
                  <a:srgbClr val="FF0000"/>
                </a:solidFill>
                <a:latin typeface="Courier"/>
              </a:rPr>
              <a:t>//</a:t>
            </a:r>
            <a:r>
              <a:rPr>
                <a:latin typeface="Courier"/>
              </a:rPr>
              <a:t> </a:t>
            </a:r>
            <a:r>
              <a:rPr b="1">
                <a:solidFill>
                  <a:srgbClr val="FF0000"/>
                </a:solidFill>
                <a:latin typeface="Courier"/>
              </a:rPr>
              <a:t>Bad:</a:t>
            </a:r>
            <a:r>
              <a:rPr>
                <a:latin typeface="Courier"/>
              </a:rPr>
              <a:t> </a:t>
            </a:r>
            <a:r>
              <a:rPr b="1">
                <a:solidFill>
                  <a:srgbClr val="FF0000"/>
                </a:solidFill>
                <a:latin typeface="Courier"/>
              </a:rPr>
              <a:t>Full</a:t>
            </a:r>
            <a:r>
              <a:rPr>
                <a:latin typeface="Courier"/>
              </a:rPr>
              <a:t> </a:t>
            </a:r>
            <a:r>
              <a:rPr b="1">
                <a:solidFill>
                  <a:srgbClr val="FF0000"/>
                </a:solidFill>
                <a:latin typeface="Courier"/>
              </a:rPr>
              <a:t>access</a:t>
            </a:r>
            <a:r>
              <a:rPr>
                <a:latin typeface="Courier"/>
              </a:rPr>
              <a:t> </a:t>
            </a:r>
            <a:r>
              <a:rPr b="1">
                <a:solidFill>
                  <a:srgbClr val="FF0000"/>
                </a:solidFill>
                <a:latin typeface="Courier"/>
              </a:rPr>
              <a:t>token</a:t>
            </a:r>
            <a:br/>
            <a:r>
              <a:rPr b="1">
                <a:solidFill>
                  <a:srgbClr val="FF0000"/>
                </a:solidFill>
                <a:latin typeface="Courier"/>
              </a:rPr>
              <a:t>"env":</a:t>
            </a:r>
            <a:r>
              <a:rPr>
                <a:latin typeface="Courier"/>
              </a:rPr>
              <a:t> </a:t>
            </a:r>
            <a:r>
              <a:rPr>
                <a:solidFill>
                  <a:srgbClr val="06287E"/>
                </a:solidFill>
                <a:latin typeface="Courier"/>
              </a:rPr>
              <a:t>{</a:t>
            </a:r>
            <a:r>
              <a:rPr>
                <a:latin typeface="Courier"/>
              </a:rPr>
              <a:t> </a:t>
            </a:r>
            <a:r>
              <a:rPr>
                <a:solidFill>
                  <a:srgbClr val="902000"/>
                </a:solidFill>
                <a:latin typeface="Courier"/>
              </a:rPr>
              <a:t>"TOKEN"</a:t>
            </a:r>
            <a:r>
              <a:rPr>
                <a:solidFill>
                  <a:srgbClr val="06287E"/>
                </a:solidFill>
                <a:latin typeface="Courier"/>
              </a:rPr>
              <a:t>:</a:t>
            </a:r>
            <a:r>
              <a:rPr>
                <a:latin typeface="Courier"/>
              </a:rPr>
              <a:t> </a:t>
            </a:r>
            <a:r>
              <a:rPr>
                <a:solidFill>
                  <a:srgbClr val="4070A0"/>
                </a:solidFill>
                <a:latin typeface="Courier"/>
              </a:rPr>
              <a:t>"full-admin-token-hardcoded"</a:t>
            </a:r>
            <a:r>
              <a:rPr>
                <a:latin typeface="Courier"/>
              </a:rPr>
              <a:t> </a:t>
            </a:r>
            <a:r>
              <a:rPr>
                <a:solidFill>
                  <a:srgbClr val="06287E"/>
                </a:solidFill>
                <a:latin typeface="Courier"/>
              </a:rPr>
              <a:t>}</a:t>
            </a:r>
          </a:p>
          <a:p>
            <a:pPr lvl="0" indent="0" marL="0">
              <a:buNone/>
            </a:pPr>
          </a:p>
          <a:p>
            <a:pPr lvl="0" indent="0" marL="0">
              <a:buNone/>
            </a:pPr>
            <a:r>
              <a:rPr b="1"/>
              <a:t>Best Practices</a:t>
            </a:r>
            <a:r>
              <a:rPr/>
              <a:t>:</a:t>
            </a:r>
          </a:p>
          <a:p>
            <a:pPr lvl="0" indent="0" marL="0">
              <a:buNone/>
            </a:pPr>
          </a:p>
          <a:p>
            <a:pPr lvl="0"/>
            <a:r>
              <a:rPr/>
              <a:t>GitHub: Use personal access token with repo:read only</a:t>
            </a:r>
          </a:p>
          <a:p>
            <a:pPr lvl="0" indent="0" marL="0">
              <a:buNone/>
            </a:pPr>
          </a:p>
          <a:p>
            <a:pPr lvl="0"/>
            <a:r>
              <a:rPr/>
              <a:t>Database: Create read-only database user</a:t>
            </a:r>
          </a:p>
          <a:p>
            <a:pPr lvl="0" indent="0" marL="0">
              <a:buNone/>
            </a:pPr>
          </a:p>
          <a:p>
            <a:pPr lvl="0"/>
            <a:r>
              <a:rPr/>
              <a:t>Filesystem: Specify exact directories in config</a:t>
            </a:r>
          </a:p>
          <a:p>
            <a:pPr lvl="0" indent="0" marL="0">
              <a:buNone/>
            </a:pPr>
          </a:p>
          <a:p>
            <a:pPr lvl="0"/>
            <a:r>
              <a:rPr/>
              <a:t>Review: Check server code on GitHub before installing</a:t>
            </a:r>
          </a:p>
          <a:p>
            <a:pPr lvl="0" indent="0" marL="0">
              <a:buNone/>
            </a:pPr>
          </a:p>
          <a:p>
            <a:pPr lvl="0" indent="0" marL="0">
              <a:buNone/>
            </a:pPr>
            <a:r>
              <a:rPr b="1"/>
              <a:t>Common Mistakes</a:t>
            </a:r>
            <a:r>
              <a:rPr/>
              <a:t>:</a:t>
            </a:r>
          </a:p>
          <a:p>
            <a:pPr lvl="0" indent="0" marL="0">
              <a:buNone/>
            </a:pPr>
          </a:p>
          <a:p>
            <a:pPr lvl="0"/>
            <a:r>
              <a:rPr/>
              <a:t>Using admin credentials when reader role sufficient</a:t>
            </a:r>
          </a:p>
          <a:p>
            <a:pPr lvl="0" indent="0" marL="0">
              <a:buNone/>
            </a:pPr>
          </a:p>
          <a:p>
            <a:pPr lvl="0"/>
            <a:r>
              <a:rPr/>
              <a:t>Granting access to entire filesystem</a:t>
            </a:r>
          </a:p>
          <a:p>
            <a:pPr lvl="0" indent="0" marL="0">
              <a:buNone/>
            </a:pPr>
          </a:p>
          <a:p>
            <a:pPr lvl="0"/>
            <a:r>
              <a:rPr/>
              <a:t>Not reviewing what data server sends to AI</a:t>
            </a:r>
          </a:p>
          <a:p>
            <a:pPr lvl="0" indent="0" marL="0">
              <a:buNone/>
            </a:pPr>
          </a:p>
          <a:p>
            <a:pPr lvl="0" indent="0" marL="0">
              <a:buNone/>
            </a:pPr>
            <a:r>
              <a:rPr b="1"/>
              <a:t>Transition</a:t>
            </a:r>
            <a:r>
              <a:rPr/>
              <a:t>: “Let’s get you started with your first server”</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Delivery</a:t>
            </a:r>
            <a:r>
              <a:rPr/>
              <a:t>: Make it feel achievable - “you can do this today.”</a:t>
            </a:r>
          </a:p>
          <a:p>
            <a:pPr lvl="0" indent="0" marL="0">
              <a:buNone/>
            </a:pPr>
          </a:p>
          <a:p>
            <a:pPr lvl="0" indent="0" marL="0">
              <a:buNone/>
            </a:pPr>
            <a:r>
              <a:rPr b="1"/>
              <a:t>Timing</a:t>
            </a:r>
            <a:r>
              <a:rPr/>
              <a:t>: 2-3 minutes</a:t>
            </a:r>
          </a:p>
          <a:p>
            <a:pPr lvl="0" indent="0" marL="0">
              <a:buNone/>
            </a:pPr>
          </a:p>
          <a:p>
            <a:pPr lvl="0" indent="0" marL="0">
              <a:buNone/>
            </a:pPr>
            <a:r>
              <a:rPr b="1"/>
              <a:t>Key Points</a:t>
            </a:r>
            <a:r>
              <a:rPr/>
              <a:t>:</a:t>
            </a:r>
          </a:p>
          <a:p>
            <a:pPr lvl="0" indent="0" marL="0">
              <a:buNone/>
            </a:pPr>
          </a:p>
          <a:p>
            <a:pPr lvl="0"/>
            <a:r>
              <a:rPr/>
              <a:t>Don’t try to install all servers at once</a:t>
            </a:r>
          </a:p>
          <a:p>
            <a:pPr lvl="0" indent="0" marL="0">
              <a:buNone/>
            </a:pPr>
          </a:p>
          <a:p>
            <a:pPr lvl="0"/>
            <a:r>
              <a:rPr/>
              <a:t>Pick ONE that solves a pain point</a:t>
            </a:r>
          </a:p>
          <a:p>
            <a:pPr lvl="0" indent="0" marL="0">
              <a:buNone/>
            </a:pPr>
          </a:p>
          <a:p>
            <a:pPr lvl="0"/>
            <a:r>
              <a:rPr/>
              <a:t>Test thoroughly before adding more</a:t>
            </a:r>
          </a:p>
          <a:p>
            <a:pPr lvl="0" indent="0" marL="0">
              <a:buNone/>
            </a:pPr>
          </a:p>
          <a:p>
            <a:pPr lvl="0"/>
            <a:r>
              <a:rPr/>
              <a:t>Active community helps with issues</a:t>
            </a:r>
          </a:p>
          <a:p>
            <a:pPr lvl="0" indent="0" marL="0">
              <a:buNone/>
            </a:pPr>
          </a:p>
          <a:p>
            <a:pPr lvl="0" indent="0" marL="0">
              <a:buNone/>
            </a:pPr>
            <a:r>
              <a:rPr b="1"/>
              <a:t>Recommended First Server</a:t>
            </a:r>
            <a:r>
              <a:rPr/>
              <a:t>:</a:t>
            </a:r>
          </a:p>
          <a:p>
            <a:pPr lvl="0" indent="0" marL="0">
              <a:buNone/>
            </a:pPr>
          </a:p>
          <a:p>
            <a:pPr lvl="0"/>
            <a:r>
              <a:rPr b="1"/>
              <a:t>Filesystem</a:t>
            </a:r>
            <a:r>
              <a:rPr/>
              <a:t> if you want Copilot to understand your project structure</a:t>
            </a:r>
          </a:p>
          <a:p>
            <a:pPr lvl="0" indent="0" marL="0">
              <a:buNone/>
            </a:pPr>
          </a:p>
          <a:p>
            <a:pPr lvl="0"/>
            <a:r>
              <a:rPr b="1"/>
              <a:t>GitHub</a:t>
            </a:r>
            <a:r>
              <a:rPr/>
              <a:t> if you want context from issues and PRs</a:t>
            </a:r>
          </a:p>
          <a:p>
            <a:pPr lvl="0" indent="0" marL="0">
              <a:buNone/>
            </a:pPr>
          </a:p>
          <a:p>
            <a:pPr lvl="0"/>
            <a:r>
              <a:rPr b="1"/>
              <a:t>Postgres</a:t>
            </a:r>
            <a:r>
              <a:rPr/>
              <a:t> if you want schema-aware SQL generation</a:t>
            </a:r>
          </a:p>
          <a:p>
            <a:pPr lvl="0" indent="0" marL="0">
              <a:buNone/>
            </a:pPr>
          </a:p>
          <a:p>
            <a:pPr lvl="0" indent="0" marL="0">
              <a:buNone/>
            </a:pPr>
            <a:r>
              <a:rPr b="1"/>
              <a:t>Step-by-Step</a:t>
            </a:r>
            <a:r>
              <a:rPr/>
              <a:t>:</a:t>
            </a:r>
          </a:p>
          <a:p>
            <a:pPr lvl="0" indent="0" marL="0">
              <a:buNone/>
            </a:pPr>
          </a:p>
          <a:p>
            <a:pPr lvl="0" indent="0">
              <a:buNone/>
            </a:pPr>
            <a:r>
              <a:rPr i="1">
                <a:solidFill>
                  <a:srgbClr val="60A0B0"/>
                </a:solidFill>
                <a:latin typeface="Courier"/>
              </a:rPr>
              <a:t># 1. Install server</a:t>
            </a:r>
            <a:br/>
            <a:r>
              <a:rPr>
                <a:latin typeface="Courier"/>
              </a:rPr>
              <a:t>npm install </a:t>
            </a:r>
            <a:r>
              <a:rPr>
                <a:solidFill>
                  <a:srgbClr val="7D9029"/>
                </a:solidFill>
                <a:latin typeface="Courier"/>
              </a:rPr>
              <a:t>-g</a:t>
            </a:r>
            <a:r>
              <a:rPr>
                <a:latin typeface="Courier"/>
              </a:rPr>
              <a:t> @modelcontextprotocol/server-filesystem</a:t>
            </a:r>
            <a:br/>
            <a:br/>
            <a:r>
              <a:rPr i="1">
                <a:solidFill>
                  <a:srgbClr val="60A0B0"/>
                </a:solidFill>
                <a:latin typeface="Courier"/>
              </a:rPr>
              <a:t># 2. Configure VS Code settings.json</a:t>
            </a:r>
            <a:br/>
            <a:r>
              <a:rPr b="1">
                <a:solidFill>
                  <a:srgbClr val="007020"/>
                </a:solidFill>
                <a:latin typeface="Courier"/>
              </a:rPr>
              <a:t>{</a:t>
            </a:r>
            <a:br/>
            <a:r>
              <a:rPr>
                <a:latin typeface="Courier"/>
              </a:rPr>
              <a:t>  </a:t>
            </a:r>
            <a:r>
              <a:rPr>
                <a:solidFill>
                  <a:srgbClr val="4070A0"/>
                </a:solidFill>
                <a:latin typeface="Courier"/>
              </a:rPr>
              <a:t>"mcp.servers"</a:t>
            </a:r>
            <a:r>
              <a:rPr>
                <a:latin typeface="Courier"/>
              </a:rPr>
              <a:t>: {</a:t>
            </a:r>
            <a:br/>
            <a:r>
              <a:rPr>
                <a:latin typeface="Courier"/>
              </a:rPr>
              <a:t>    </a:t>
            </a:r>
            <a:r>
              <a:rPr>
                <a:solidFill>
                  <a:srgbClr val="4070A0"/>
                </a:solidFill>
                <a:latin typeface="Courier"/>
              </a:rPr>
              <a:t>"filesystem"</a:t>
            </a:r>
            <a:r>
              <a:rPr>
                <a:latin typeface="Courier"/>
              </a:rPr>
              <a:t>: {</a:t>
            </a:r>
            <a:br/>
            <a:r>
              <a:rPr>
                <a:latin typeface="Courier"/>
              </a:rPr>
              <a:t>      </a:t>
            </a:r>
            <a:r>
              <a:rPr>
                <a:solidFill>
                  <a:srgbClr val="4070A0"/>
                </a:solidFill>
                <a:latin typeface="Courier"/>
              </a:rPr>
              <a:t>"command"</a:t>
            </a:r>
            <a:r>
              <a:rPr>
                <a:latin typeface="Courier"/>
              </a:rPr>
              <a:t>: </a:t>
            </a:r>
            <a:r>
              <a:rPr>
                <a:solidFill>
                  <a:srgbClr val="4070A0"/>
                </a:solidFill>
                <a:latin typeface="Courier"/>
              </a:rPr>
              <a:t>"mcp-server-filesystem"</a:t>
            </a:r>
            <a:r>
              <a:rPr>
                <a:latin typeface="Courier"/>
              </a:rPr>
              <a:t>,</a:t>
            </a:r>
            <a:br/>
            <a:r>
              <a:rPr>
                <a:latin typeface="Courier"/>
              </a:rPr>
              <a:t>      </a:t>
            </a:r>
            <a:r>
              <a:rPr>
                <a:solidFill>
                  <a:srgbClr val="4070A0"/>
                </a:solidFill>
                <a:latin typeface="Courier"/>
              </a:rPr>
              <a:t>"args"</a:t>
            </a:r>
            <a:r>
              <a:rPr>
                <a:latin typeface="Courier"/>
              </a:rPr>
              <a:t>: </a:t>
            </a:r>
            <a:r>
              <a:rPr>
                <a:solidFill>
                  <a:srgbClr val="BC7A00"/>
                </a:solidFill>
                <a:latin typeface="Courier"/>
              </a:rPr>
              <a:t>[</a:t>
            </a:r>
            <a:r>
              <a:rPr>
                <a:solidFill>
                  <a:srgbClr val="4070A0"/>
                </a:solidFill>
                <a:latin typeface="Courier"/>
              </a:rPr>
              <a:t>"</a:t>
            </a:r>
            <a:r>
              <a:rPr>
                <a:solidFill>
                  <a:srgbClr val="19177C"/>
                </a:solidFill>
                <a:latin typeface="Courier"/>
              </a:rPr>
              <a:t>${workspaceFolder}</a:t>
            </a:r>
            <a:r>
              <a:rPr>
                <a:solidFill>
                  <a:srgbClr val="4070A0"/>
                </a:solidFill>
                <a:latin typeface="Courier"/>
              </a:rPr>
              <a:t>"</a:t>
            </a:r>
            <a:r>
              <a:rPr>
                <a:solidFill>
                  <a:srgbClr val="BC7A00"/>
                </a:solidFill>
                <a:latin typeface="Courier"/>
              </a:rPr>
              <a:t>]</a:t>
            </a:r>
            <a:br/>
            <a:r>
              <a:rPr>
                <a:latin typeface="Courier"/>
              </a:rPr>
              <a:t>    </a:t>
            </a:r>
            <a:r>
              <a:rPr b="1">
                <a:solidFill>
                  <a:srgbClr val="007020"/>
                </a:solidFill>
                <a:latin typeface="Courier"/>
              </a:rPr>
              <a:t>}</a:t>
            </a:r>
            <a:br/>
            <a:r>
              <a:rPr>
                <a:latin typeface="Courier"/>
              </a:rPr>
              <a:t>  </a:t>
            </a:r>
            <a:r>
              <a:rPr b="1">
                <a:solidFill>
                  <a:srgbClr val="FF0000"/>
                </a:solidFill>
                <a:latin typeface="Courier"/>
              </a:rPr>
              <a:t>}</a:t>
            </a:r>
            <a:br/>
            <a:r>
              <a:rPr b="1">
                <a:solidFill>
                  <a:srgbClr val="FF0000"/>
                </a:solidFill>
                <a:latin typeface="Courier"/>
              </a:rPr>
              <a:t>}</a:t>
            </a:r>
            <a:br/>
            <a:br/>
            <a:r>
              <a:rPr i="1">
                <a:solidFill>
                  <a:srgbClr val="60A0B0"/>
                </a:solidFill>
                <a:latin typeface="Courier"/>
              </a:rPr>
              <a:t># 3. Reload VS Code</a:t>
            </a:r>
            <a:br/>
            <a:r>
              <a:rPr i="1">
                <a:solidFill>
                  <a:srgbClr val="60A0B0"/>
                </a:solidFill>
                <a:latin typeface="Courier"/>
              </a:rPr>
              <a:t># 4. Ask Copilot: "What files are in this project?"</a:t>
            </a:r>
          </a:p>
          <a:p>
            <a:pPr lvl="0" indent="0" marL="0">
              <a:buNone/>
            </a:pPr>
          </a:p>
          <a:p>
            <a:pPr lvl="0" indent="0" marL="0">
              <a:buNone/>
            </a:pPr>
            <a:r>
              <a:rPr b="1"/>
              <a:t>Transition</a:t>
            </a:r>
            <a:r>
              <a:rPr/>
              <a:t>: “Questions about getting started?”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Delivery</a:t>
            </a:r>
            <a:r>
              <a:rPr/>
              <a:t>: Pause for questions. Emphasize the “install and configure” message.</a:t>
            </a:r>
          </a:p>
          <a:p>
            <a:pPr lvl="0" indent="0" marL="0">
              <a:buNone/>
            </a:pPr>
          </a:p>
          <a:p>
            <a:pPr lvl="0" indent="0" marL="0">
              <a:buNone/>
            </a:pPr>
            <a:r>
              <a:rPr b="1"/>
              <a:t>Timing</a:t>
            </a:r>
            <a:r>
              <a:rPr/>
              <a:t>: 5-10 minutes for Q&amp;A</a:t>
            </a:r>
          </a:p>
          <a:p>
            <a:pPr lvl="0" indent="0" marL="0">
              <a:buNone/>
            </a:pPr>
          </a:p>
          <a:p>
            <a:pPr lvl="0" indent="0" marL="0">
              <a:buNone/>
            </a:pPr>
            <a:r>
              <a:rPr b="1"/>
              <a:t>Key Points to Reinforce</a:t>
            </a:r>
            <a:r>
              <a:rPr/>
              <a:t>:</a:t>
            </a:r>
          </a:p>
          <a:p>
            <a:pPr lvl="0" indent="0" marL="0">
              <a:buNone/>
            </a:pPr>
          </a:p>
          <a:p>
            <a:pPr lvl="0"/>
            <a:r>
              <a:rPr/>
              <a:t>MCP servers = ready-to-use packages</a:t>
            </a:r>
          </a:p>
          <a:p>
            <a:pPr lvl="0" indent="0" marL="0">
              <a:buNone/>
            </a:pPr>
          </a:p>
          <a:p>
            <a:pPr lvl="0"/>
            <a:r>
              <a:rPr/>
              <a:t>Consumer mindset: install, configure, use</a:t>
            </a:r>
          </a:p>
          <a:p>
            <a:pPr lvl="0" indent="0" marL="0">
              <a:buNone/>
            </a:pPr>
          </a:p>
          <a:p>
            <a:pPr lvl="0"/>
            <a:r>
              <a:rPr/>
              <a:t>No coding required - just configuration</a:t>
            </a:r>
          </a:p>
          <a:p>
            <a:pPr lvl="0" indent="0" marL="0">
              <a:buNone/>
            </a:pPr>
          </a:p>
          <a:p>
            <a:pPr lvl="0"/>
            <a:r>
              <a:rPr/>
              <a:t>Practical benefits today, not future promises</a:t>
            </a:r>
          </a:p>
          <a:p>
            <a:pPr lvl="0" indent="0" marL="0">
              <a:buNone/>
            </a:pPr>
          </a:p>
          <a:p>
            <a:pPr lvl="0" indent="0" marL="0">
              <a:buNone/>
            </a:pPr>
            <a:r>
              <a:rPr b="1"/>
              <a:t>Common Questions to Expect</a:t>
            </a:r>
            <a:r>
              <a:rPr/>
              <a:t>:</a:t>
            </a:r>
          </a:p>
          <a:p>
            <a:pPr lvl="0" indent="0" marL="0">
              <a:buNone/>
            </a:pPr>
          </a:p>
          <a:p>
            <a:pPr lvl="0"/>
            <a:r>
              <a:rPr/>
              <a:t>“Do I need to write code?” (No, just configure existing servers)</a:t>
            </a:r>
          </a:p>
          <a:p>
            <a:pPr lvl="0" indent="0" marL="0">
              <a:buNone/>
            </a:pPr>
          </a:p>
          <a:p>
            <a:pPr lvl="0"/>
            <a:r>
              <a:rPr/>
              <a:t>“What about performance?” (Minimal overhead, servers run locally)</a:t>
            </a:r>
          </a:p>
          <a:p>
            <a:pPr lvl="0" indent="0" marL="0">
              <a:buNone/>
            </a:pPr>
          </a:p>
          <a:p>
            <a:pPr lvl="0"/>
            <a:r>
              <a:rPr/>
              <a:t>“Can I use multiple servers?” (Yes, configure as many as needed)</a:t>
            </a:r>
          </a:p>
          <a:p>
            <a:pPr lvl="0" indent="0" marL="0">
              <a:buNone/>
            </a:pPr>
          </a:p>
          <a:p>
            <a:pPr lvl="0"/>
            <a:r>
              <a:rPr/>
              <a:t>“Is this free?” (Yes, open source protocol and servers)</a:t>
            </a:r>
          </a:p>
          <a:p>
            <a:pPr lvl="0" indent="0" marL="0">
              <a:buNone/>
            </a:pPr>
          </a:p>
          <a:p>
            <a:pPr lvl="0"/>
            <a:r>
              <a:rPr/>
              <a:t>“Can we use this with internal models?” (Yes, any LLM that supports tools)</a:t>
            </a:r>
          </a:p>
          <a:p>
            <a:pPr lvl="0" indent="0" marL="0">
              <a:buNone/>
            </a:pPr>
          </a:p>
          <a:p>
            <a:pPr lvl="0"/>
            <a:r>
              <a:rPr/>
              <a:t>“What’s the learning curve?” (Start with samples, ramp up gradually)</a:t>
            </a:r>
          </a:p>
          <a:p>
            <a:pPr lvl="0" indent="0" marL="0">
              <a:buNone/>
            </a:pPr>
          </a:p>
          <a:p>
            <a:pPr lvl="0" indent="0" marL="0">
              <a:buNone/>
            </a:pPr>
            <a:r>
              <a:rPr b="1"/>
              <a:t>Follow-Up Actions</a:t>
            </a:r>
            <a:r>
              <a:rPr/>
              <a:t>:</a:t>
            </a:r>
          </a:p>
          <a:p>
            <a:pPr lvl="0" indent="0" marL="0">
              <a:buNone/>
            </a:pPr>
          </a:p>
          <a:p>
            <a:pPr lvl="0"/>
            <a:r>
              <a:rPr/>
              <a:t>Share links to resources in chat</a:t>
            </a:r>
          </a:p>
          <a:p>
            <a:pPr lvl="0" indent="0" marL="0">
              <a:buNone/>
            </a:pPr>
          </a:p>
          <a:p>
            <a:pPr lvl="0"/>
            <a:r>
              <a:rPr/>
              <a:t>Offer to help with setup in office hours</a:t>
            </a:r>
          </a:p>
          <a:p>
            <a:pPr lvl="0" indent="0" marL="0">
              <a:buNone/>
            </a:pPr>
          </a:p>
          <a:p>
            <a:pPr lvl="0"/>
            <a:r>
              <a:rPr/>
              <a:t>Schedule follow-up for advanced topics</a:t>
            </a:r>
          </a:p>
          <a:p>
            <a:pPr lvl="0" indent="0" marL="0">
              <a:buNone/>
            </a:pPr>
          </a:p>
          <a:p>
            <a:pPr lvl="0"/>
            <a:r>
              <a:rPr/>
              <a:t>Collect feedback for next session</a:t>
            </a:r>
          </a:p>
          <a:p>
            <a:pPr lvl="0" indent="0" marL="0">
              <a:buNone/>
            </a:pPr>
          </a:p>
          <a:p>
            <a:pPr lvl="0" indent="0" marL="0">
              <a:buNone/>
            </a:pPr>
            <a:r>
              <a:rPr b="1"/>
              <a:t>Closing</a:t>
            </a:r>
            <a:r>
              <a:rPr/>
              <a:t>: “Thank you! Feel free to reach out with questions as you implement MCP in your workflows.”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Using MCP Servers with VS Code &amp; Copilot</a:t>
            </a:r>
          </a:p>
        </p:txBody>
      </p:sp>
      <p:sp>
        <p:nvSpPr>
          <p:cNvPr id="3" name="Content Placeholder 2"/>
          <p:cNvSpPr>
            <a:spLocks noGrp="1"/>
          </p:cNvSpPr>
          <p:nvPr>
            <p:ph idx="1"/>
          </p:nvPr>
        </p:nvSpPr>
        <p:spPr/>
        <p:txBody>
          <a:bodyPr/>
          <a:lstStyle/>
          <a:p>
            <a:pPr lvl="0" indent="0" marL="0">
              <a:buNone/>
            </a:pPr>
            <a:r>
              <a:rPr/>
              <a:t>Leverage existing MCP servers to supercharge your AI development workflow</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MCP?</a:t>
            </a:r>
          </a:p>
          <a:p>
            <a:pPr lvl="0" indent="0" marL="0">
              <a:buNone/>
            </a:pPr>
            <a:r>
              <a:rPr b="1"/>
              <a:t>Model Context Protocol (MCP)</a:t>
            </a:r>
            <a:r>
              <a:rPr/>
              <a:t> is a standardized protocol that:</a:t>
            </a:r>
          </a:p>
          <a:p>
            <a:pPr lvl="0"/>
            <a:r>
              <a:rPr/>
              <a:t>Connects Copilot to external data sources via </a:t>
            </a:r>
            <a:r>
              <a:rPr b="1"/>
              <a:t>MCP Servers</a:t>
            </a:r>
          </a:p>
          <a:p>
            <a:pPr lvl="0"/>
            <a:r>
              <a:rPr b="1"/>
              <a:t>Pre-built servers</a:t>
            </a:r>
            <a:r>
              <a:rPr/>
              <a:t> provide ready-to-use capabilities</a:t>
            </a:r>
          </a:p>
          <a:p>
            <a:pPr lvl="0"/>
            <a:r>
              <a:rPr/>
              <a:t>You </a:t>
            </a:r>
            <a:r>
              <a:rPr b="1"/>
              <a:t>configure and consume</a:t>
            </a:r>
            <a:r>
              <a:rPr/>
              <a:t> servers, not build them</a:t>
            </a:r>
          </a:p>
          <a:p>
            <a:pPr lvl="0"/>
            <a:r>
              <a:rPr/>
              <a:t>Community servers available for common tasks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MCP Architecture Overview</a:t>
            </a:r>
          </a:p>
          <a:p>
            <a:pPr lvl="0" indent="0">
              <a:buNone/>
            </a:pPr>
            <a:r>
              <a:rPr>
                <a:latin typeface="Courier"/>
              </a:rPr>
              <a:t>graph LR
    A[VS Code&lt;br/&gt;Copilot&lt;br/&gt;Client] &lt;--&gt;|JSON-RPC| B[MCP Server&lt;br/&gt;Transport Layer]
    B &lt;--&gt;|Protocol| C[Resources&lt;br/&gt;Files, APIs,&lt;br/&gt;Databases]
    style A fill:#0078d4,color:#fff
    style B fill:#68217a,color:#fff
    style C fill:#107c10,color:#fff</a:t>
            </a:r>
          </a:p>
          <a:p>
            <a:pPr lvl="0" indent="0" marL="0">
              <a:buNone/>
            </a:pPr>
            <a:r>
              <a:rPr b="1"/>
              <a:t>Key Components</a:t>
            </a:r>
            <a:r>
              <a:rPr/>
              <a:t>:</a:t>
            </a:r>
          </a:p>
          <a:p>
            <a:pPr lvl="0"/>
            <a:r>
              <a:rPr b="1"/>
              <a:t>Client</a:t>
            </a:r>
            <a:r>
              <a:rPr/>
              <a:t>: VS Code/Copilot (you configure this)</a:t>
            </a:r>
          </a:p>
          <a:p>
            <a:pPr lvl="0"/>
            <a:r>
              <a:rPr b="1"/>
              <a:t>Server</a:t>
            </a:r>
            <a:r>
              <a:rPr/>
              <a:t>: Pre-built tools (you install these)</a:t>
            </a:r>
          </a:p>
          <a:p>
            <a:pPr lvl="0"/>
            <a:r>
              <a:rPr b="1"/>
              <a:t>Resources</a:t>
            </a:r>
            <a:r>
              <a:rPr/>
              <a:t>: Data the server accesses (you configure permissions)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Installing Your First MCP Server</a:t>
            </a:r>
          </a:p>
          <a:p>
            <a:pPr lvl="0" indent="0" marL="0">
              <a:buNone/>
            </a:pPr>
            <a:r>
              <a:rPr b="1"/>
              <a:t>Example: GitHub MCP Server</a:t>
            </a:r>
          </a:p>
          <a:p>
            <a:pPr lvl="0" indent="-342900" marL="342900">
              <a:buAutoNum type="arabicPeriod"/>
            </a:pPr>
            <a:r>
              <a:rPr/>
              <a:t>Install the server package:</a:t>
            </a:r>
          </a:p>
          <a:p>
            <a:pPr lvl="1" indent="0">
              <a:buNone/>
            </a:pPr>
            <a:r>
              <a:rPr>
                <a:latin typeface="Courier"/>
              </a:rPr>
              <a:t>npm install </a:t>
            </a:r>
            <a:r>
              <a:rPr>
                <a:solidFill>
                  <a:srgbClr val="7D9029"/>
                </a:solidFill>
                <a:latin typeface="Courier"/>
              </a:rPr>
              <a:t>-g</a:t>
            </a:r>
            <a:r>
              <a:rPr>
                <a:latin typeface="Courier"/>
              </a:rPr>
              <a:t> @modelcontextprotocol/server-github</a:t>
            </a:r>
          </a:p>
          <a:p>
            <a:pPr lvl="0" indent="-342900" marL="342900">
              <a:buAutoNum type="arabicPeriod"/>
            </a:pPr>
            <a:r>
              <a:rPr/>
              <a:t>Configure in VS Code </a:t>
            </a:r>
            <a:r>
              <a:rPr>
                <a:latin typeface="Courier"/>
              </a:rPr>
              <a:t>settings.json</a:t>
            </a:r>
            <a:r>
              <a:rPr/>
              <a:t>:</a:t>
            </a:r>
          </a:p>
          <a:p>
            <a:pPr lvl="1" indent="0">
              <a:buNone/>
            </a:pPr>
            <a:r>
              <a:rPr>
                <a:solidFill>
                  <a:srgbClr val="06287E"/>
                </a:solidFill>
                <a:latin typeface="Courier"/>
              </a:rPr>
              <a:t>{</a:t>
            </a:r>
            <a:br/>
            <a:r>
              <a:rPr>
                <a:latin typeface="Courier"/>
              </a:rPr>
              <a:t>  </a:t>
            </a:r>
            <a:r>
              <a:rPr>
                <a:solidFill>
                  <a:srgbClr val="902000"/>
                </a:solidFill>
                <a:latin typeface="Courier"/>
              </a:rPr>
              <a:t>"mcp.servers"</a:t>
            </a:r>
            <a:r>
              <a:rPr>
                <a:solidFill>
                  <a:srgbClr val="06287E"/>
                </a:solidFill>
                <a:latin typeface="Courier"/>
              </a:rPr>
              <a:t>:</a:t>
            </a:r>
            <a:r>
              <a:rPr>
                <a:latin typeface="Courier"/>
              </a:rPr>
              <a:t> </a:t>
            </a:r>
            <a:r>
              <a:rPr>
                <a:solidFill>
                  <a:srgbClr val="06287E"/>
                </a:solidFill>
                <a:latin typeface="Courier"/>
              </a:rPr>
              <a:t>{</a:t>
            </a:r>
            <a:br/>
            <a:r>
              <a:rPr>
                <a:latin typeface="Courier"/>
              </a:rPr>
              <a:t>    </a:t>
            </a:r>
            <a:r>
              <a:rPr>
                <a:solidFill>
                  <a:srgbClr val="902000"/>
                </a:solidFill>
                <a:latin typeface="Courier"/>
              </a:rPr>
              <a:t>"github"</a:t>
            </a:r>
            <a:r>
              <a:rPr>
                <a:solidFill>
                  <a:srgbClr val="06287E"/>
                </a:solidFill>
                <a:latin typeface="Courier"/>
              </a:rPr>
              <a:t>:</a:t>
            </a:r>
            <a:r>
              <a:rPr>
                <a:latin typeface="Courier"/>
              </a:rPr>
              <a:t> </a:t>
            </a:r>
            <a:r>
              <a:rPr>
                <a:solidFill>
                  <a:srgbClr val="06287E"/>
                </a:solidFill>
                <a:latin typeface="Courier"/>
              </a:rPr>
              <a:t>{</a:t>
            </a:r>
            <a:br/>
            <a:r>
              <a:rPr>
                <a:latin typeface="Courier"/>
              </a:rPr>
              <a:t>      </a:t>
            </a:r>
            <a:r>
              <a:rPr>
                <a:solidFill>
                  <a:srgbClr val="902000"/>
                </a:solidFill>
                <a:latin typeface="Courier"/>
              </a:rPr>
              <a:t>"command"</a:t>
            </a:r>
            <a:r>
              <a:rPr>
                <a:solidFill>
                  <a:srgbClr val="06287E"/>
                </a:solidFill>
                <a:latin typeface="Courier"/>
              </a:rPr>
              <a:t>:</a:t>
            </a:r>
            <a:r>
              <a:rPr>
                <a:latin typeface="Courier"/>
              </a:rPr>
              <a:t> </a:t>
            </a:r>
            <a:r>
              <a:rPr>
                <a:solidFill>
                  <a:srgbClr val="4070A0"/>
                </a:solidFill>
                <a:latin typeface="Courier"/>
              </a:rPr>
              <a:t>"mcp-server-github"</a:t>
            </a:r>
            <a:r>
              <a:rPr>
                <a:solidFill>
                  <a:srgbClr val="06287E"/>
                </a:solidFill>
                <a:latin typeface="Courier"/>
              </a:rPr>
              <a:t>,</a:t>
            </a:r>
            <a:br/>
            <a:r>
              <a:rPr>
                <a:latin typeface="Courier"/>
              </a:rPr>
              <a:t>      </a:t>
            </a:r>
            <a:r>
              <a:rPr>
                <a:solidFill>
                  <a:srgbClr val="902000"/>
                </a:solidFill>
                <a:latin typeface="Courier"/>
              </a:rPr>
              <a:t>"env"</a:t>
            </a:r>
            <a:r>
              <a:rPr>
                <a:solidFill>
                  <a:srgbClr val="06287E"/>
                </a:solidFill>
                <a:latin typeface="Courier"/>
              </a:rPr>
              <a:t>:</a:t>
            </a:r>
            <a:r>
              <a:rPr>
                <a:latin typeface="Courier"/>
              </a:rPr>
              <a:t> </a:t>
            </a:r>
            <a:r>
              <a:rPr>
                <a:solidFill>
                  <a:srgbClr val="06287E"/>
                </a:solidFill>
                <a:latin typeface="Courier"/>
              </a:rPr>
              <a:t>{</a:t>
            </a:r>
            <a:r>
              <a:rPr>
                <a:latin typeface="Courier"/>
              </a:rPr>
              <a:t> </a:t>
            </a:r>
            <a:r>
              <a:rPr>
                <a:solidFill>
                  <a:srgbClr val="902000"/>
                </a:solidFill>
                <a:latin typeface="Courier"/>
              </a:rPr>
              <a:t>"GITHUB_TOKEN"</a:t>
            </a:r>
            <a:r>
              <a:rPr>
                <a:solidFill>
                  <a:srgbClr val="06287E"/>
                </a:solidFill>
                <a:latin typeface="Courier"/>
              </a:rPr>
              <a:t>:</a:t>
            </a:r>
            <a:r>
              <a:rPr>
                <a:latin typeface="Courier"/>
              </a:rPr>
              <a:t> </a:t>
            </a:r>
            <a:r>
              <a:rPr>
                <a:solidFill>
                  <a:srgbClr val="4070A0"/>
                </a:solidFill>
                <a:latin typeface="Courier"/>
              </a:rPr>
              <a:t>"${env:GITHUB_TOKEN}"</a:t>
            </a:r>
            <a:r>
              <a:rPr>
                <a:latin typeface="Courier"/>
              </a:rPr>
              <a:t> </a:t>
            </a:r>
            <a:r>
              <a:rPr>
                <a:solidFill>
                  <a:srgbClr val="06287E"/>
                </a:solidFill>
                <a:latin typeface="Courier"/>
              </a:rPr>
              <a:t>}</a:t>
            </a:r>
            <a:br/>
            <a:r>
              <a:rPr>
                <a:latin typeface="Courier"/>
              </a:rPr>
              <a:t>    </a:t>
            </a:r>
            <a:r>
              <a:rPr>
                <a:solidFill>
                  <a:srgbClr val="06287E"/>
                </a:solidFill>
                <a:latin typeface="Courier"/>
              </a:rPr>
              <a:t>}</a:t>
            </a:r>
            <a:br/>
            <a:r>
              <a:rPr>
                <a:latin typeface="Courier"/>
              </a:rPr>
              <a:t>  </a:t>
            </a:r>
            <a:r>
              <a:rPr>
                <a:solidFill>
                  <a:srgbClr val="06287E"/>
                </a:solidFill>
                <a:latin typeface="Courier"/>
              </a:rPr>
              <a:t>}</a:t>
            </a:r>
            <a:br/>
            <a:r>
              <a:rPr>
                <a:solidFill>
                  <a:srgbClr val="06287E"/>
                </a:solidFill>
                <a:latin typeface="Courier"/>
              </a:rPr>
              <a:t>}</a:t>
            </a:r>
          </a:p>
          <a:p>
            <a:pPr lvl="0" indent="-342900" marL="342900">
              <a:buAutoNum type="arabicPeriod"/>
            </a:pPr>
            <a:r>
              <a:rPr/>
              <a:t>Reload VS Code - MCP server starts automatically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Copilot + MCP Integration</a:t>
            </a:r>
          </a:p>
          <a:p>
            <a:pPr lvl="0" indent="0" marL="0">
              <a:buNone/>
            </a:pPr>
            <a:r>
              <a:rPr b="1"/>
              <a:t>Enhanced Capabilities</a:t>
            </a:r>
            <a:r>
              <a:rPr/>
              <a:t>:</a:t>
            </a:r>
          </a:p>
          <a:p>
            <a:pPr lvl="0"/>
            <a:r>
              <a:rPr b="1"/>
              <a:t>Context-Aware Completions</a:t>
            </a:r>
            <a:r>
              <a:rPr/>
              <a:t>: Access to project-specific context</a:t>
            </a:r>
          </a:p>
          <a:p>
            <a:pPr lvl="0"/>
            <a:r>
              <a:rPr b="1"/>
              <a:t>Tool Use</a:t>
            </a:r>
            <a:r>
              <a:rPr/>
              <a:t>: Copilot can invoke tools via MCP</a:t>
            </a:r>
          </a:p>
          <a:p>
            <a:pPr lvl="0"/>
            <a:r>
              <a:rPr b="1"/>
              <a:t>Custom Instructions</a:t>
            </a:r>
            <a:r>
              <a:rPr/>
              <a:t>: Per-project guidance</a:t>
            </a:r>
          </a:p>
          <a:p>
            <a:pPr lvl="0"/>
            <a:r>
              <a:rPr b="1"/>
              <a:t>Security Boundaries</a:t>
            </a:r>
            <a:r>
              <a:rPr/>
              <a:t>: Controlled access to resources</a:t>
            </a:r>
          </a:p>
          <a:p>
            <a:pPr lvl="0" indent="0" marL="0">
              <a:buNone/>
            </a:pPr>
            <a:r>
              <a:rPr b="1"/>
              <a:t>Example Flow</a:t>
            </a:r>
            <a:r>
              <a:rPr/>
              <a:t>:</a:t>
            </a:r>
          </a:p>
          <a:p>
            <a:pPr lvl="0" indent="0">
              <a:buNone/>
            </a:pPr>
            <a:r>
              <a:rPr>
                <a:latin typeface="Courier"/>
              </a:rPr>
              <a:t>sequenceDiagram
    participant Dev as Developer
    participant Copilot as GitHub Copilot
    participant MCP as MCP Server
    participant Res as Resources
    Dev-&gt;&gt;Copilot: Type: "Create user auth"
    Copilot-&gt;&gt;MCP: Request context
    MCP-&gt;&gt;Res: Fetch auth patterns, schema
    Res--&gt;&gt;MCP: Return context
    MCP--&gt;&gt;Copilot: Provide structured context
    Copilot--&gt;&gt;Dev: Generate matching code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Popular MCP Servers to Use</a:t>
            </a:r>
          </a:p>
          <a:p>
            <a:pPr lvl="0" indent="0">
              <a:buNone/>
            </a:pPr>
            <a:r>
              <a:rPr>
                <a:latin typeface="Courier"/>
              </a:rPr>
              <a:t>graph TD
    Marketplace[MCP Server&lt;br/&gt;Marketplace]
    Marketplace --&gt; GitHub[GitHub Server]
    Marketplace --&gt; DB[Database Servers]
    Marketplace --&gt; FS[Filesystem Server]
    Marketplace --&gt; Web[Web &amp; APIs]
    GitHub --&gt; GitOut[Repos, Issues,&lt;br/&gt;Pull Requests]
    DB --&gt; DBOut[Postgres, MySQL,&lt;br/&gt;SQLite, MongoDB]
    FS --&gt; FSOut[Safe file access&lt;br/&gt;Project context]
    Web --&gt; WebOut[REST APIs,&lt;br/&gt;GraphQL, HTTP]
    style Marketplace fill:#68217a,color:#fff</a:t>
            </a:r>
          </a:p>
          <a:p>
            <a:pPr lvl="0" indent="0" marL="0">
              <a:buNone/>
            </a:pPr>
            <a:r>
              <a:rPr b="1"/>
              <a:t>Ready-to-Use Servers</a:t>
            </a:r>
            <a:r>
              <a:rPr/>
              <a:t>:</a:t>
            </a:r>
          </a:p>
          <a:p>
            <a:pPr lvl="0"/>
            <a:r>
              <a:rPr b="1"/>
              <a:t>GitHub</a:t>
            </a:r>
            <a:r>
              <a:rPr/>
              <a:t>: Access repos, issues, PRs for context</a:t>
            </a:r>
          </a:p>
          <a:p>
            <a:pPr lvl="0"/>
            <a:r>
              <a:rPr b="1"/>
              <a:t>Databases</a:t>
            </a:r>
            <a:r>
              <a:rPr/>
              <a:t>: Query schemas and data safely</a:t>
            </a:r>
          </a:p>
          <a:p>
            <a:pPr lvl="0"/>
            <a:r>
              <a:rPr b="1"/>
              <a:t>Filesystem</a:t>
            </a:r>
            <a:r>
              <a:rPr/>
              <a:t>: Give Copilot controlled file access</a:t>
            </a:r>
          </a:p>
          <a:p>
            <a:pPr lvl="0"/>
            <a:r>
              <a:rPr b="1"/>
              <a:t>Web/APIs</a:t>
            </a:r>
            <a:r>
              <a:rPr/>
              <a:t>: Integrate with REST and GraphQL services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Configuring Servers Securely</a:t>
            </a:r>
          </a:p>
          <a:p>
            <a:pPr lvl="0" indent="0" marL="0">
              <a:buNone/>
            </a:pPr>
            <a:r>
              <a:rPr b="1"/>
              <a:t>Security When Consuming Servers</a:t>
            </a:r>
            <a:r>
              <a:rPr/>
              <a:t>:</a:t>
            </a:r>
          </a:p>
          <a:p>
            <a:pPr lvl="0"/>
            <a:r>
              <a:rPr/>
              <a:t>✅ Use environment variables for credentials</a:t>
            </a:r>
          </a:p>
          <a:p>
            <a:pPr lvl="0"/>
            <a:r>
              <a:rPr/>
              <a:t>✅ Grant minimum necessary permissions</a:t>
            </a:r>
          </a:p>
          <a:p>
            <a:pPr lvl="0"/>
            <a:r>
              <a:rPr/>
              <a:t>✅ Review server source code before installing</a:t>
            </a:r>
          </a:p>
          <a:p>
            <a:pPr lvl="0"/>
            <a:r>
              <a:rPr/>
              <a:t>✅ Configure allowed paths/resources explicitly</a:t>
            </a:r>
          </a:p>
          <a:p>
            <a:pPr lvl="0"/>
            <a:r>
              <a:rPr/>
              <a:t>❌ Never hardcode tokens in settings</a:t>
            </a:r>
          </a:p>
          <a:p>
            <a:pPr lvl="0" indent="0" marL="0">
              <a:buNone/>
            </a:pPr>
            <a:r>
              <a:rPr b="1"/>
              <a:t>Configuration Best Practices</a:t>
            </a:r>
            <a:r>
              <a:rPr/>
              <a:t>:</a:t>
            </a:r>
          </a:p>
          <a:p>
            <a:pPr lvl="0"/>
            <a:r>
              <a:rPr/>
              <a:t>Start with read-only servers</a:t>
            </a:r>
          </a:p>
          <a:p>
            <a:pPr lvl="0"/>
            <a:r>
              <a:rPr/>
              <a:t>Use scoped tokens (not full access)</a:t>
            </a:r>
          </a:p>
          <a:p>
            <a:pPr lvl="0"/>
            <a:r>
              <a:rPr/>
              <a:t>Enable only needed capabilities</a:t>
            </a:r>
          </a:p>
          <a:p>
            <a:pPr lvl="0"/>
            <a:r>
              <a:rPr/>
              <a:t>Test in non-production first</a:t>
            </a:r>
          </a:p>
          <a:p>
            <a:pPr lvl="0"/>
            <a:r>
              <a:rPr/>
              <a:t>Keep servers updated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Getting Started: Your First Hour</a:t>
            </a:r>
          </a:p>
          <a:p>
            <a:pPr lvl="0" indent="0" marL="0">
              <a:buNone/>
            </a:pPr>
            <a:r>
              <a:rPr b="1"/>
              <a:t>Quick Start (30 minutes)</a:t>
            </a:r>
            <a:r>
              <a:rPr/>
              <a:t>:</a:t>
            </a:r>
          </a:p>
          <a:p>
            <a:pPr lvl="0" indent="-342900" marL="342900">
              <a:buAutoNum type="arabicPeriod"/>
            </a:pPr>
            <a:r>
              <a:rPr/>
              <a:t>Install MCP extension for VS Code</a:t>
            </a:r>
          </a:p>
          <a:p>
            <a:pPr lvl="0" indent="-342900" marL="342900">
              <a:buAutoNum type="arabicPeriod"/>
            </a:pPr>
            <a:r>
              <a:rPr/>
              <a:t>Pick one server: GitHub OR Filesystem</a:t>
            </a:r>
          </a:p>
          <a:p>
            <a:pPr lvl="0" indent="-342900" marL="342900">
              <a:buAutoNum type="arabicPeriod"/>
            </a:pPr>
            <a:r>
              <a:rPr/>
              <a:t>Configure credentials in environment</a:t>
            </a:r>
          </a:p>
          <a:p>
            <a:pPr lvl="0" indent="-342900" marL="342900">
              <a:buAutoNum type="arabicPeriod"/>
            </a:pPr>
            <a:r>
              <a:rPr/>
              <a:t>Add server config to </a:t>
            </a:r>
            <a:r>
              <a:rPr>
                <a:latin typeface="Courier"/>
              </a:rPr>
              <a:t>settings.json</a:t>
            </a:r>
          </a:p>
          <a:p>
            <a:pPr lvl="0" indent="-342900" marL="342900">
              <a:buAutoNum type="arabicPeriod"/>
            </a:pPr>
            <a:r>
              <a:rPr/>
              <a:t>Reload VS Code and test with Copilot</a:t>
            </a:r>
          </a:p>
          <a:p>
            <a:pPr lvl="0" indent="0" marL="0">
              <a:buNone/>
            </a:pPr>
            <a:r>
              <a:rPr b="1"/>
              <a:t>Resources</a:t>
            </a:r>
            <a:r>
              <a:rPr/>
              <a:t>:</a:t>
            </a:r>
          </a:p>
          <a:p>
            <a:pPr lvl="0"/>
            <a:r>
              <a:rPr/>
              <a:t>Server Directory: https://github.com/modelcontextprotocol/servers</a:t>
            </a:r>
          </a:p>
          <a:p>
            <a:pPr lvl="0"/>
            <a:r>
              <a:rPr/>
              <a:t>Official Servers: npm </a:t>
            </a:r>
            <a:r>
              <a:rPr>
                <a:latin typeface="Courier"/>
              </a:rPr>
              <a:t>@modelcontextprotocol/server-*</a:t>
            </a:r>
          </a:p>
          <a:p>
            <a:pPr lvl="0"/>
            <a:r>
              <a:rPr/>
              <a:t>VS Code Extension: Search “MCP” in marketplace</a:t>
            </a:r>
          </a:p>
          <a:p>
            <a:pPr lvl="0"/>
            <a:r>
              <a:rPr/>
              <a:t>Community: Discord, GitHub Discussions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Summary &amp; Key Takeaways</a:t>
            </a:r>
          </a:p>
          <a:p>
            <a:pPr lvl="0" indent="0" marL="0">
              <a:buNone/>
            </a:pPr>
            <a:r>
              <a:rPr b="1"/>
              <a:t>Using MCP Servers</a:t>
            </a:r>
            <a:r>
              <a:rPr/>
              <a:t>:</a:t>
            </a:r>
          </a:p>
          <a:p>
            <a:pPr lvl="0"/>
            <a:r>
              <a:rPr/>
              <a:t>Install and configure ready-to-use servers</a:t>
            </a:r>
          </a:p>
          <a:p>
            <a:pPr lvl="0"/>
            <a:r>
              <a:rPr/>
              <a:t>No need to build - consume existing community servers</a:t>
            </a:r>
          </a:p>
          <a:p>
            <a:pPr lvl="0"/>
            <a:r>
              <a:rPr/>
              <a:t>Simple JSON configuration unlocks powerful features</a:t>
            </a:r>
          </a:p>
          <a:p>
            <a:pPr lvl="0"/>
            <a:r>
              <a:rPr/>
              <a:t>Enhanced Copilot with project-specific context</a:t>
            </a:r>
          </a:p>
          <a:p>
            <a:pPr lvl="0" indent="0" marL="0">
              <a:buNone/>
            </a:pPr>
            <a:r>
              <a:rPr b="1"/>
              <a:t>Remember</a:t>
            </a:r>
            <a:r>
              <a:rPr/>
              <a:t>:</a:t>
            </a:r>
          </a:p>
          <a:p>
            <a:pPr lvl="0"/>
            <a:r>
              <a:rPr/>
              <a:t>Start with one server (Filesystem or GitHub)</a:t>
            </a:r>
          </a:p>
          <a:p>
            <a:pPr lvl="0"/>
            <a:r>
              <a:rPr/>
              <a:t>Use environment variables for credentials</a:t>
            </a:r>
          </a:p>
          <a:p>
            <a:pPr lvl="0"/>
            <a:r>
              <a:rPr/>
              <a:t>Official servers at github.com/modelcontextprotocol/servers</a:t>
            </a:r>
          </a:p>
          <a:p>
            <a:pPr lvl="0"/>
            <a:r>
              <a:rPr/>
              <a:t>Active community for support</a:t>
            </a:r>
          </a:p>
          <a:p>
            <a:pPr lvl="0" indent="0" marL="0">
              <a:buNone/>
            </a:pPr>
            <a:r>
              <a:rPr b="1"/>
              <a:t>Questions?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2026-02-12T04:55:31Z</dcterms:created>
  <dcterms:modified xsi:type="dcterms:W3CDTF">2026-02-12T04:55:31Z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_generated">
    <vt:lpwstr>True</vt:lpwstr>
  </property>
  <property fmtid="{D5CDD505-2E9C-101B-9397-08002B2CF9AE}" pid="3" name="ai_log">
    <vt:lpwstr>ai-logs/2026/02/10/mcp-vscode-copilot-20260210/conversation.md</vt:lpwstr>
  </property>
  <property fmtid="{D5CDD505-2E9C-101B-9397-08002B2CF9AE}" pid="4" name="chat_id">
    <vt:lpwstr>mcp-vscode-copilot-20260210</vt:lpwstr>
  </property>
  <property fmtid="{D5CDD505-2E9C-101B-9397-08002B2CF9AE}" pid="5" name="ended">
    <vt:lpwstr>2026-02-10T16:15:00Z</vt:lpwstr>
  </property>
  <property fmtid="{D5CDD505-2E9C-101B-9397-08002B2CF9AE}" pid="6" name="model">
    <vt:lpwstr>anthropic/claude-3.5-sonnet@2024-10-22</vt:lpwstr>
  </property>
  <property fmtid="{D5CDD505-2E9C-101B-9397-08002B2CF9AE}" pid="7" name="operator">
    <vt:lpwstr>johnmillerATcodemag-com</vt:lpwstr>
  </property>
  <property fmtid="{D5CDD505-2E9C-101B-9397-08002B2CF9AE}" pid="8" name="prompt">
    <vt:lpwstr>create a marp deck with speaker notes in explain MCP Servers in VSCode and Copilot update the marp instructions to use mermaid for all diagrams. the regenerate the desk to show that it works update the the deck to focus more on consuming MCP servers than creating them</vt:lpwstr>
  </property>
  <property fmtid="{D5CDD505-2E9C-101B-9397-08002B2CF9AE}" pid="9" name="source">
    <vt:lpwstr>johnmillerATcodemag-com</vt:lpwstr>
  </property>
  <property fmtid="{D5CDD505-2E9C-101B-9397-08002B2CF9AE}" pid="10" name="started">
    <vt:lpwstr>2026-02-10T15:30:00Z</vt:lpwstr>
  </property>
  <property fmtid="{D5CDD505-2E9C-101B-9397-08002B2CF9AE}" pid="11" name="task_durations">
    <vt:lpwstr/>
  </property>
  <property fmtid="{D5CDD505-2E9C-101B-9397-08002B2CF9AE}" pid="12" name="total_duration">
    <vt:lpwstr>00:45:00</vt:lpwstr>
  </property>
</Properties>
</file>