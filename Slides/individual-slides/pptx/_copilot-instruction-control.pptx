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notesMaster" Target="notesMasters/notesMaster1.xml" /><Relationship Id="rId14" Type="http://schemas.openxmlformats.org/officeDocument/2006/relationships/viewProps" Target="viewProps.xml" /><Relationship Id="rId13" Type="http://schemas.openxmlformats.org/officeDocument/2006/relationships/presProps" Target="presProps.xml" /><Relationship Id="rId1" Type="http://schemas.openxmlformats.org/officeDocument/2006/relationships/slideMaster" Target="slideMasters/slideMaster1.xml" /><Relationship Id="rId16" Type="http://schemas.openxmlformats.org/officeDocument/2006/relationships/tableStyles" Target="tableStyles.xml" /><Relationship Id="rId1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Welcome to this session on controlling GitHub Copilot instruction files. This is a critical topic for teams implementing AI-assisted development workflows, as understanding how instructions are submitted with every prompt is essential for maintaining consistency, reducing token costs, and ensuring the right context reaches your AI assistant.</a:t>
            </a:r>
          </a:p>
          <a:p>
            <a:pPr lvl="0" indent="0" marL="0">
              <a:buNone/>
            </a:pPr>
          </a:p>
          <a:p>
            <a:pPr lvl="0" indent="0" marL="0">
              <a:buNone/>
            </a:pPr>
            <a:r>
              <a:rPr/>
              <a:t>Today we’ll cover four key areas: how the automatic inclusion system works through the applyTo field, how prompt files interact with instructions, how chat modes affect instruction submission, and practical strategies for controlling your context.</a:t>
            </a:r>
          </a:p>
          <a:p>
            <a:pPr lvl="0" indent="0" marL="0">
              <a:buNone/>
            </a:pPr>
          </a:p>
          <a:p>
            <a:pPr lvl="0" indent="0" marL="0">
              <a:buNone/>
            </a:pPr>
            <a:r>
              <a:rPr/>
              <a:t>This session assumes you’re familiar with basic GitHub Copilot usage and have worked with instruction files before. If you haven’t, we recommend reviewing the “Creating Instruction Files” session first.</a:t>
            </a:r>
          </a:p>
          <a:p>
            <a:pPr lvl="0" indent="0" marL="0">
              <a:buNone/>
            </a:pPr>
          </a:p>
          <a:p>
            <a:pPr lvl="0" indent="0" marL="0">
              <a:buNone/>
            </a:pPr>
            <a:r>
              <a:rPr/>
              <a:t>Estimated time: 15-20 minutes including Q&amp;A.</a:t>
            </a:r>
          </a:p>
        </p:txBody>
      </p:sp>
      <p:sp>
        <p:nvSpPr>
          <p:cNvPr id="4" name="Slide Number Placeholder 3"/>
          <p:cNvSpPr>
            <a:spLocks noGrp="1"/>
          </p:cNvSpPr>
          <p:nvPr>
            <p:ph type="sldNum" sz="quarter" idx="10"/>
          </p:nvPr>
        </p:nvSpPr>
        <p:spPr/>
        <p:txBody>
          <a:bodyPr/>
          <a:lstStyle/>
          <a:p>
            <a:fld id="{18BDFEC3-8487-43E8-A154-7C12CBC1FFF2}"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start with the fundamental concept: GitHub Copilot includes instruction files with every prompt you send, but it’s not random - it’s controlled by pattern matching.</a:t>
            </a:r>
          </a:p>
          <a:p>
            <a:pPr lvl="0" indent="0" marL="0">
              <a:buNone/>
            </a:pPr>
          </a:p>
          <a:p>
            <a:pPr lvl="0" indent="0" marL="0">
              <a:buNone/>
            </a:pPr>
            <a:r>
              <a:rPr/>
              <a:t>The key mechanism is the applyTo field in the YAML front matter of instruction files. This field contains a glob pattern that determines which files trigger automatic inclusion of that instruction file.</a:t>
            </a:r>
          </a:p>
          <a:p>
            <a:pPr lvl="0" indent="0" marL="0">
              <a:buNone/>
            </a:pPr>
          </a:p>
          <a:p>
            <a:pPr lvl="0" indent="0" marL="0">
              <a:buNone/>
            </a:pPr>
            <a:r>
              <a:rPr/>
              <a:t>In this example, we have security instructions that apply to TypeScript, JavaScript, and Python files. When you open or edit any file matching this pattern - like src/api.ts - these security instructions are automatically included in the context sent to the AI model.</a:t>
            </a:r>
          </a:p>
          <a:p>
            <a:pPr lvl="0" indent="0" marL="0">
              <a:buNone/>
            </a:pPr>
          </a:p>
          <a:p>
            <a:pPr lvl="0" indent="0" marL="0">
              <a:buNone/>
            </a:pPr>
            <a:r>
              <a:rPr/>
              <a:t>This is incredibly powerful because it means:</a:t>
            </a:r>
          </a:p>
          <a:p>
            <a:pPr lvl="0" indent="0" marL="0">
              <a:buNone/>
            </a:pPr>
          </a:p>
          <a:p>
            <a:pPr lvl="0" indent="-342900" marL="342900">
              <a:buAutoNum type="arabicPeriod"/>
            </a:pPr>
            <a:r>
              <a:rPr/>
              <a:t>Instructions follow the files they’re relevant to</a:t>
            </a:r>
          </a:p>
          <a:p>
            <a:pPr lvl="0" indent="0" marL="0">
              <a:buNone/>
            </a:pPr>
          </a:p>
          <a:p>
            <a:pPr lvl="0" indent="-342900" marL="342900">
              <a:buAutoNum type="arabicPeriod"/>
            </a:pPr>
            <a:r>
              <a:rPr/>
              <a:t>You don’t need to manually reference instructions every time</a:t>
            </a:r>
          </a:p>
          <a:p>
            <a:pPr lvl="0" indent="0" marL="0">
              <a:buNone/>
            </a:pPr>
          </a:p>
          <a:p>
            <a:pPr lvl="0" indent="-342900" marL="342900">
              <a:buAutoNum type="arabicPeriod"/>
            </a:pPr>
            <a:r>
              <a:rPr/>
              <a:t>Different file types can have different instruction contexts</a:t>
            </a:r>
          </a:p>
          <a:p>
            <a:pPr lvl="0" indent="0" marL="0">
              <a:buNone/>
            </a:pPr>
          </a:p>
          <a:p>
            <a:pPr lvl="0" indent="-342900" marL="342900">
              <a:buAutoNum type="arabicPeriod"/>
            </a:pPr>
            <a:r>
              <a:rPr/>
              <a:t>Token usage is optimized by only including relevant instructions</a:t>
            </a:r>
          </a:p>
          <a:p>
            <a:pPr lvl="0" indent="0" marL="0">
              <a:buNone/>
            </a:pPr>
          </a:p>
          <a:p>
            <a:pPr lvl="0" indent="0" marL="0">
              <a:buNone/>
            </a:pPr>
            <a:r>
              <a:rPr/>
              <a:t>Think of it like having domain experts looking over your shoulder, but only when you’re working in their domain. You wouldn’t want your database architect reviewing your CSS files, and you wouldn’t want your UI designer reviewing your SQL queries. The applyTo field ensures the right expertise is present at the right time.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applyTo field uses glob patterns, which give you three levels of granularity for controlling instruction scope.</a:t>
            </a:r>
          </a:p>
          <a:p>
            <a:pPr lvl="0" indent="0" marL="0">
              <a:buNone/>
            </a:pPr>
          </a:p>
          <a:p>
            <a:pPr lvl="0" indent="0" marL="0">
              <a:buNone/>
            </a:pPr>
            <a:r>
              <a:rPr/>
              <a:t>Level 1: Global patterns like “*</a:t>
            </a:r>
            <a:r>
              <a:rPr i="1"/>
              <a:t>/</a:t>
            </a:r>
            <a:r>
              <a:rPr/>
              <a:t>” apply to every file in your repository. Use this sparingly for truly universal instructions like AI provenance requirements or company-wide coding standards. The ai-assisted-output.instructions.md file is a perfect example - it applies everywhere because every AI-generated output needs provenance metadata.</a:t>
            </a:r>
          </a:p>
          <a:p>
            <a:pPr lvl="0" indent="0" marL="0">
              <a:buNone/>
            </a:pPr>
          </a:p>
          <a:p>
            <a:pPr lvl="0" indent="0" marL="0">
              <a:buNone/>
            </a:pPr>
            <a:r>
              <a:rPr/>
              <a:t>Level 2: Directory-specific patterns like “Slides/individual-slides/**” target a specific folder hierarchy. This is ideal for instructions that only make sense in certain parts of your codebase. Marp slide instructions only matter when you’re creating slides, so they target that directory exclusively.</a:t>
            </a:r>
          </a:p>
          <a:p>
            <a:pPr lvl="0" indent="0" marL="0">
              <a:buNone/>
            </a:pPr>
          </a:p>
          <a:p>
            <a:pPr lvl="0" indent="0" marL="0">
              <a:buNone/>
            </a:pPr>
            <a:r>
              <a:rPr/>
              <a:t>Level 3: Type-specific patterns like “*</a:t>
            </a:r>
            <a:r>
              <a:rPr i="1"/>
              <a:t>/</a:t>
            </a:r>
            <a:r>
              <a:rPr/>
              <a:t>.{cs,ts,js}” apply to specific file extensions regardless of location. This is perfect for language-specific instructions, architectural patterns, or technology-specific guidelines. Vertical slice architecture instructions might only apply to backend code files.</a:t>
            </a:r>
          </a:p>
          <a:p>
            <a:pPr lvl="0" indent="0" marL="0">
              <a:buNone/>
            </a:pPr>
          </a:p>
          <a:p>
            <a:pPr lvl="0" indent="0" marL="0">
              <a:buNone/>
            </a:pPr>
            <a:r>
              <a:rPr/>
              <a:t>The matching happens automatically when you:</a:t>
            </a:r>
          </a:p>
          <a:p>
            <a:pPr lvl="0" indent="0" marL="0">
              <a:buNone/>
            </a:pPr>
          </a:p>
          <a:p>
            <a:pPr lvl="0"/>
            <a:r>
              <a:rPr/>
              <a:t>Open a file in the editor</a:t>
            </a:r>
          </a:p>
          <a:p>
            <a:pPr lvl="0" indent="0" marL="0">
              <a:buNone/>
            </a:pPr>
          </a:p>
          <a:p>
            <a:pPr lvl="0"/>
            <a:r>
              <a:rPr/>
              <a:t>Reference a file in chat</a:t>
            </a:r>
          </a:p>
          <a:p>
            <a:pPr lvl="0" indent="0" marL="0">
              <a:buNone/>
            </a:pPr>
          </a:p>
          <a:p>
            <a:pPr lvl="0"/>
            <a:r>
              <a:rPr/>
              <a:t>Run a command that targets specific files</a:t>
            </a:r>
          </a:p>
          <a:p>
            <a:pPr lvl="0" indent="0" marL="0">
              <a:buNone/>
            </a:pPr>
          </a:p>
          <a:p>
            <a:pPr lvl="0" indent="0" marL="0">
              <a:buNone/>
            </a:pPr>
            <a:r>
              <a:rPr/>
              <a:t>Pro tip: You can combine these patterns. For example, “src/*</a:t>
            </a:r>
            <a:r>
              <a:rPr i="1"/>
              <a:t>/</a:t>
            </a:r>
            <a:r>
              <a:rPr/>
              <a:t>.test.{ts,js}” would only match test files in the src directory. This allows very precise control over which instructions apply where.</a:t>
            </a:r>
          </a:p>
          <a:p>
            <a:pPr lvl="0" indent="0" marL="0">
              <a:buNone/>
            </a:pPr>
          </a:p>
          <a:p>
            <a:pPr lvl="0" indent="0" marL="0">
              <a:buNone/>
            </a:pPr>
            <a:r>
              <a:rPr/>
              <a:t>One important caveat: If an instruction file has NO applyTo field, it won’t be automatically included at all. You’d need to manually reference it with @-mentions.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common source of confusion, so let’s clarify: prompt files and instruction files serve different purposes and work in different ways.</a:t>
            </a:r>
          </a:p>
          <a:p>
            <a:pPr lvl="0" indent="0" marL="0">
              <a:buNone/>
            </a:pPr>
          </a:p>
          <a:p>
            <a:pPr lvl="0" indent="0" marL="0">
              <a:buNone/>
            </a:pPr>
            <a:r>
              <a:rPr/>
              <a:t>Prompt files are executable tasks - they’re like scripts you run to accomplish specific goals. They contain the prompt text, expected deliverables, and requirements. When you execute a prompt file, you’re asking the AI to perform a specific task following specific guidelines.</a:t>
            </a:r>
          </a:p>
          <a:p>
            <a:pPr lvl="0" indent="0" marL="0">
              <a:buNone/>
            </a:pPr>
          </a:p>
          <a:p>
            <a:pPr lvl="0" indent="0" marL="0">
              <a:buNone/>
            </a:pPr>
            <a:r>
              <a:rPr/>
              <a:t>However, prompt files don’t control the automatic inclusion of instruction files. What happens instead is:</a:t>
            </a:r>
          </a:p>
          <a:p>
            <a:pPr lvl="0" indent="0" marL="0">
              <a:buNone/>
            </a:pPr>
          </a:p>
          <a:p>
            <a:pPr lvl="0" indent="-342900" marL="342900">
              <a:buAutoNum type="arabicPeriod"/>
            </a:pPr>
            <a:r>
              <a:rPr/>
              <a:t>You execute a prompt file (say, create-api.prompt.md)</a:t>
            </a:r>
          </a:p>
          <a:p>
            <a:pPr lvl="0" indent="0" marL="0">
              <a:buNone/>
            </a:pPr>
          </a:p>
          <a:p>
            <a:pPr lvl="0" indent="-342900" marL="342900">
              <a:buAutoNum type="arabicPeriod"/>
            </a:pPr>
            <a:r>
              <a:rPr/>
              <a:t>The prompt content itself can mention or reference instruction files</a:t>
            </a:r>
          </a:p>
          <a:p>
            <a:pPr lvl="0" indent="0" marL="0">
              <a:buNone/>
            </a:pPr>
          </a:p>
          <a:p>
            <a:pPr lvl="0" indent="-342900" marL="342900">
              <a:buAutoNum type="arabicPeriod"/>
            </a:pPr>
            <a:r>
              <a:rPr/>
              <a:t>The AI reads those references as part of the prompt</a:t>
            </a:r>
          </a:p>
          <a:p>
            <a:pPr lvl="0" indent="0" marL="0">
              <a:buNone/>
            </a:pPr>
          </a:p>
          <a:p>
            <a:pPr lvl="0" indent="-342900" marL="342900">
              <a:buAutoNum type="arabicPeriod"/>
            </a:pPr>
            <a:r>
              <a:rPr/>
              <a:t>But the automatic inclusion of instruction files is still controlled by the applyTo patterns matching the files being created or modified</a:t>
            </a:r>
          </a:p>
          <a:p>
            <a:pPr lvl="0" indent="0" marL="0">
              <a:buNone/>
            </a:pPr>
          </a:p>
          <a:p>
            <a:pPr lvl="0" indent="0" marL="0">
              <a:buNone/>
            </a:pPr>
            <a:r>
              <a:rPr/>
              <a:t>Here’s a practical scenario: You run a prompt to create a new TypeScript API file. The prompt mentions that security instructions must be followed. The security.instructions.md file has applyTo: “*</a:t>
            </a:r>
            <a:r>
              <a:rPr i="1"/>
              <a:t>/</a:t>
            </a:r>
            <a:r>
              <a:rPr/>
              <a:t>.ts”. When the AI creates the new .ts file:</a:t>
            </a:r>
          </a:p>
          <a:p>
            <a:pPr lvl="0" indent="0" marL="0">
              <a:buNone/>
            </a:pPr>
          </a:p>
          <a:p>
            <a:pPr lvl="0"/>
            <a:r>
              <a:rPr/>
              <a:t>The prompt content enforces the requirement</a:t>
            </a:r>
          </a:p>
          <a:p>
            <a:pPr lvl="0" indent="0" marL="0">
              <a:buNone/>
            </a:pPr>
          </a:p>
          <a:p>
            <a:pPr lvl="0"/>
            <a:r>
              <a:rPr/>
              <a:t>The applyTo pattern causes automatic inclusion</a:t>
            </a:r>
          </a:p>
          <a:p>
            <a:pPr lvl="0" indent="0" marL="0">
              <a:buNone/>
            </a:pPr>
          </a:p>
          <a:p>
            <a:pPr lvl="0"/>
            <a:r>
              <a:rPr/>
              <a:t>Both work together, but through different mechanisms</a:t>
            </a:r>
          </a:p>
          <a:p>
            <a:pPr lvl="0" indent="0" marL="0">
              <a:buNone/>
            </a:pPr>
          </a:p>
          <a:p>
            <a:pPr lvl="0" indent="0" marL="0">
              <a:buNone/>
            </a:pPr>
            <a:r>
              <a:rPr/>
              <a:t>Think of it this way: Prompt files are the “what to do”, instruction files are the “how to do it”, and applyTo patterns are the “when to apply the how”.</a:t>
            </a:r>
          </a:p>
          <a:p>
            <a:pPr lvl="0" indent="0" marL="0">
              <a:buNone/>
            </a:pPr>
          </a:p>
          <a:p>
            <a:pPr lvl="0" indent="0" marL="0">
              <a:buNone/>
            </a:pPr>
            <a:r>
              <a:rPr/>
              <a:t>The prompt metadata can specify output paths, which helps the system know what file types to expect and therefore which instructions might become relevant, but it’s still the applyTo matching that does the heavy lifting.</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Chat modes are often misunderstood as another way to control instruction inclusion, but they actually serve a different purpose. Let’s clarify their role in the context submission system.</a:t>
            </a:r>
          </a:p>
          <a:p>
            <a:pPr lvl="0" indent="0" marL="0">
              <a:buNone/>
            </a:pPr>
          </a:p>
          <a:p>
            <a:pPr lvl="0" indent="0" marL="0">
              <a:buNone/>
            </a:pPr>
            <a:r>
              <a:rPr/>
              <a:t>Chat modes create specialized AI personas with domain expertise. When you activate a chat mode, you’re essentially telling the AI “act as a security expert” or “act as a documentation specialist”. The chat mode defines:</a:t>
            </a:r>
          </a:p>
          <a:p>
            <a:pPr lvl="0" indent="0" marL="0">
              <a:buNone/>
            </a:pPr>
          </a:p>
          <a:p>
            <a:pPr lvl="0"/>
            <a:r>
              <a:rPr/>
              <a:t>The role and mission of the AI</a:t>
            </a:r>
          </a:p>
          <a:p>
            <a:pPr lvl="0" indent="0" marL="0">
              <a:buNone/>
            </a:pPr>
          </a:p>
          <a:p>
            <a:pPr lvl="0"/>
            <a:r>
              <a:rPr/>
              <a:t>Core areas of expertise</a:t>
            </a:r>
          </a:p>
          <a:p>
            <a:pPr lvl="0" indent="0" marL="0">
              <a:buNone/>
            </a:pPr>
          </a:p>
          <a:p>
            <a:pPr lvl="0"/>
            <a:r>
              <a:rPr/>
              <a:t>Communication style and tone</a:t>
            </a:r>
          </a:p>
          <a:p>
            <a:pPr lvl="0" indent="0" marL="0">
              <a:buNone/>
            </a:pPr>
          </a:p>
          <a:p>
            <a:pPr lvl="0"/>
            <a:r>
              <a:rPr/>
              <a:t>Specialized commands or workflows</a:t>
            </a:r>
          </a:p>
          <a:p>
            <a:pPr lvl="0" indent="0" marL="0">
              <a:buNone/>
            </a:pPr>
          </a:p>
          <a:p>
            <a:pPr lvl="0"/>
            <a:r>
              <a:rPr/>
              <a:t>Response formatting preferences</a:t>
            </a:r>
          </a:p>
          <a:p>
            <a:pPr lvl="0" indent="0" marL="0">
              <a:buNone/>
            </a:pPr>
          </a:p>
          <a:p>
            <a:pPr lvl="0" indent="0" marL="0">
              <a:buNone/>
            </a:pPr>
            <a:r>
              <a:rPr/>
              <a:t>But here’s the key: chat modes don’t override or control the applyTo pattern matching system. Instead, they layer on top of it. Let’s walk through the flow:</a:t>
            </a:r>
          </a:p>
          <a:p>
            <a:pPr lvl="0" indent="0" marL="0">
              <a:buNone/>
            </a:pPr>
          </a:p>
          <a:p>
            <a:pPr lvl="0" indent="-342900" marL="342900">
              <a:buAutoNum type="arabicPeriod"/>
            </a:pPr>
            <a:r>
              <a:rPr/>
              <a:t>You’re editing a TypeScript file (src/auth.ts)</a:t>
            </a:r>
          </a:p>
          <a:p>
            <a:pPr lvl="0" indent="0" marL="0">
              <a:buNone/>
            </a:pPr>
          </a:p>
          <a:p>
            <a:pPr lvl="0" indent="-342900" marL="342900">
              <a:buAutoNum type="arabicPeriod"/>
            </a:pPr>
            <a:r>
              <a:rPr/>
              <a:t>applyTo patterns are evaluated - security.instructions.md matches</a:t>
            </a:r>
          </a:p>
          <a:p>
            <a:pPr lvl="0" indent="0" marL="0">
              <a:buNone/>
            </a:pPr>
          </a:p>
          <a:p>
            <a:pPr lvl="0" indent="-342900" marL="342900">
              <a:buAutoNum type="arabicPeriod"/>
            </a:pPr>
            <a:r>
              <a:rPr/>
              <a:t>The security instructions are auto-included in context</a:t>
            </a:r>
          </a:p>
          <a:p>
            <a:pPr lvl="0" indent="0" marL="0">
              <a:buNone/>
            </a:pPr>
          </a:p>
          <a:p>
            <a:pPr lvl="0" indent="-342900" marL="342900">
              <a:buAutoNum type="arabicPeriod"/>
            </a:pPr>
            <a:r>
              <a:rPr/>
              <a:t>You have the “Security Analyzer” chat mode active</a:t>
            </a:r>
          </a:p>
          <a:p>
            <a:pPr lvl="0" indent="0" marL="0">
              <a:buNone/>
            </a:pPr>
          </a:p>
          <a:p>
            <a:pPr lvl="0" indent="-342900" marL="342900">
              <a:buAutoNum type="arabicPeriod"/>
            </a:pPr>
            <a:r>
              <a:rPr/>
              <a:t>The chat mode persona is added to the context</a:t>
            </a:r>
          </a:p>
          <a:p>
            <a:pPr lvl="0" indent="0" marL="0">
              <a:buNone/>
            </a:pPr>
          </a:p>
          <a:p>
            <a:pPr lvl="0" indent="-342900" marL="342900">
              <a:buAutoNum type="arabicPeriod"/>
            </a:pPr>
            <a:r>
              <a:rPr/>
              <a:t>The AI now has: the file, the security instructions, AND the security expert persona</a:t>
            </a:r>
          </a:p>
          <a:p>
            <a:pPr lvl="0" indent="0" marL="0">
              <a:buNone/>
            </a:pPr>
          </a:p>
          <a:p>
            <a:pPr lvl="0" indent="0" marL="0">
              <a:buNone/>
            </a:pPr>
            <a:r>
              <a:rPr/>
              <a:t>The diagram shows this flow. The file type drives instruction inclusion through pattern matching, and the chat mode adds a specialized persona layer on top. They’re complementary, not competitive.</a:t>
            </a:r>
          </a:p>
          <a:p>
            <a:pPr lvl="0" indent="0" marL="0">
              <a:buNone/>
            </a:pPr>
          </a:p>
          <a:p>
            <a:pPr lvl="0" indent="0" marL="0">
              <a:buNone/>
            </a:pPr>
            <a:r>
              <a:rPr/>
              <a:t>A practical benefit: You could have security instructions that are very technical and rule-based, while the security analyzer chat mode adds conversational expertise and interactive commands. The instructions say “what to check”, the chat mode says “how to explain findings”.</a:t>
            </a:r>
          </a:p>
          <a:p>
            <a:pPr lvl="0" indent="0" marL="0">
              <a:buNone/>
            </a:pPr>
          </a:p>
          <a:p>
            <a:pPr lvl="0" indent="0" marL="0">
              <a:buNone/>
            </a:pPr>
            <a:r>
              <a:rPr/>
              <a:t>One important note: If your chat mode references specific instruction files in its content, those references work like any other reference - they become part of the conversation, but they don’t change the automatic inclusion patterns.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let’s bring it all together with the complete control hierarchy. This shows the order in which different elements contribute to the context that gets submitted with your Copilot prompts.</a:t>
            </a:r>
          </a:p>
          <a:p>
            <a:pPr lvl="0" indent="0" marL="0">
              <a:buNone/>
            </a:pPr>
          </a:p>
          <a:p>
            <a:pPr lvl="0" indent="0" marL="0">
              <a:buNone/>
            </a:pPr>
            <a:r>
              <a:rPr/>
              <a:t>Level 1: The Foundation - The File Being Edited Everything starts with the actual file you’re working on. This could be a file you have open, a file you’re creating, or files you reference in conversation. This establishes the base context and triggers the pattern matching system.</a:t>
            </a:r>
          </a:p>
          <a:p>
            <a:pPr lvl="0" indent="0" marL="0">
              <a:buNone/>
            </a:pPr>
          </a:p>
          <a:p>
            <a:pPr lvl="0" indent="0" marL="0">
              <a:buNone/>
            </a:pPr>
            <a:r>
              <a:rPr/>
              <a:t>Level 2: Automatic Layer - Instruction Files Based on the file from level 1, the system evaluates all applyTo patterns in your instruction files. Every instruction file whose pattern matches your current file is automatically included. This happens silently in the background - you don’t see it, but it’s there. This is the primary control mechanism we’ve been discussing.</a:t>
            </a:r>
          </a:p>
          <a:p>
            <a:pPr lvl="0" indent="0" marL="0">
              <a:buNone/>
            </a:pPr>
          </a:p>
          <a:p>
            <a:pPr lvl="0" indent="0" marL="0">
              <a:buNone/>
            </a:pPr>
            <a:r>
              <a:rPr/>
              <a:t>Level 3: Persona Layer - Active Chat Mode If you have a chat mode active, its persona definition, methodology, and guidelines are added to the context. This doesn’t replace the instructions from level 2, it augments them. Think of this as the “personality” that interprets and applies the technical instructions.</a:t>
            </a:r>
          </a:p>
          <a:p>
            <a:pPr lvl="0" indent="0" marL="0">
              <a:buNone/>
            </a:pPr>
          </a:p>
          <a:p>
            <a:pPr lvl="0" indent="0" marL="0">
              <a:buNone/>
            </a:pPr>
            <a:r>
              <a:rPr/>
              <a:t>Level 4: Task Layer - Prompt Files When you execute a prompt file, its content becomes part of the conversation. Any references to instruction files in the prompt text are processed. The prompt often specifies what type of output to create, which can trigger additional applyTo matching for the target files.</a:t>
            </a:r>
          </a:p>
          <a:p>
            <a:pPr lvl="0" indent="0" marL="0">
              <a:buNone/>
            </a:pPr>
          </a:p>
          <a:p>
            <a:pPr lvl="0" indent="0" marL="0">
              <a:buNone/>
            </a:pPr>
            <a:r>
              <a:rPr/>
              <a:t>Level 5: Explicit Layer - Manual @-mentions Finally, you can always manually reference specific instruction files using @-mentions in your chat. This overrides the automatic system - if an instruction file doesn’t have an applyTo match but you @-mention it, it gets included anyway.</a:t>
            </a:r>
          </a:p>
          <a:p>
            <a:pPr lvl="0" indent="0" marL="0">
              <a:buNone/>
            </a:pPr>
          </a:p>
          <a:p>
            <a:pPr lvl="0" indent="0" marL="0">
              <a:buNone/>
            </a:pPr>
            <a:r>
              <a:rPr/>
              <a:t>Understanding this hierarchy helps you:</a:t>
            </a:r>
          </a:p>
          <a:p>
            <a:pPr lvl="0" indent="0" marL="0">
              <a:buNone/>
            </a:pPr>
          </a:p>
          <a:p>
            <a:pPr lvl="0"/>
            <a:r>
              <a:rPr/>
              <a:t>Debug why certain instructions aren’t being applied</a:t>
            </a:r>
          </a:p>
          <a:p>
            <a:pPr lvl="0" indent="0" marL="0">
              <a:buNone/>
            </a:pPr>
          </a:p>
          <a:p>
            <a:pPr lvl="0"/>
            <a:r>
              <a:rPr/>
              <a:t>Optimize token usage by avoiding redundant inclusion</a:t>
            </a:r>
          </a:p>
          <a:p>
            <a:pPr lvl="0" indent="0" marL="0">
              <a:buNone/>
            </a:pPr>
          </a:p>
          <a:p>
            <a:pPr lvl="0"/>
            <a:r>
              <a:rPr/>
              <a:t>Design better instruction file patterns</a:t>
            </a:r>
          </a:p>
          <a:p>
            <a:pPr lvl="0" indent="0" marL="0">
              <a:buNone/>
            </a:pPr>
          </a:p>
          <a:p>
            <a:pPr lvl="0"/>
            <a:r>
              <a:rPr/>
              <a:t>Structure your workflow for maximum efficiency</a:t>
            </a:r>
          </a:p>
          <a:p>
            <a:pPr lvl="0" indent="0" marL="0">
              <a:buNone/>
            </a:pPr>
          </a:p>
          <a:p>
            <a:pPr lvl="0" indent="0" marL="0">
              <a:buNone/>
            </a:pPr>
            <a:r>
              <a:rPr/>
              <a:t>Pro tip: Use levels 1-2 for 90% of your work (file-driven automatic inclusion), level 3 for specialized domains (chat modes), and levels 4-5 for exceptional cases (specific tasks or overrides).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conclude with four practical strategies you can use to manage instruction context effectively. These are patterns we’ve seen work well in real development teams.</a:t>
            </a:r>
          </a:p>
          <a:p>
            <a:pPr lvl="0" indent="0" marL="0">
              <a:buNone/>
            </a:pPr>
          </a:p>
          <a:p>
            <a:pPr lvl="0" indent="0" marL="0">
              <a:buNone/>
            </a:pPr>
            <a:r>
              <a:rPr/>
              <a:t>Strategy 1: Specific Patterns (Recommended for Most Cases) Use precise glob patterns that match only the files where instructions are relevant. For example, if you have vertical slice architecture instructions, apply them only to your backend code: “src/backend/*</a:t>
            </a:r>
            <a:r>
              <a:rPr i="1"/>
              <a:t>/</a:t>
            </a:r>
            <a:r>
              <a:rPr/>
              <a:t>.{cs,ts,py}”. This keeps your context clean and focused. It also reduces token costs since irrelevant instructions aren’t included.</a:t>
            </a:r>
          </a:p>
          <a:p>
            <a:pPr lvl="0" indent="0" marL="0">
              <a:buNone/>
            </a:pPr>
          </a:p>
          <a:p>
            <a:pPr lvl="0" indent="0" marL="0">
              <a:buNone/>
            </a:pPr>
            <a:r>
              <a:rPr/>
              <a:t>When to use: This should be your default strategy. Be specific about where instructions apply. Think about the actual files developers will be editing and match those patterns.</a:t>
            </a:r>
          </a:p>
          <a:p>
            <a:pPr lvl="0" indent="0" marL="0">
              <a:buNone/>
            </a:pPr>
          </a:p>
          <a:p>
            <a:pPr lvl="0" indent="0" marL="0">
              <a:buNone/>
            </a:pPr>
            <a:r>
              <a:rPr/>
              <a:t>Strategy 2: No applyTo Field (For Specialized Use) Some instruction files shouldn’t automatically include anywhere. These are typically:</a:t>
            </a:r>
          </a:p>
          <a:p>
            <a:pPr lvl="0" indent="0" marL="0">
              <a:buNone/>
            </a:pPr>
          </a:p>
          <a:p>
            <a:pPr lvl="0"/>
            <a:r>
              <a:rPr/>
              <a:t>Very specialized instructions that rarely apply</a:t>
            </a:r>
          </a:p>
          <a:p>
            <a:pPr lvl="0" indent="0" marL="0">
              <a:buNone/>
            </a:pPr>
          </a:p>
          <a:p>
            <a:pPr lvl="0"/>
            <a:r>
              <a:rPr/>
              <a:t>Experimental guidelines you’re testing</a:t>
            </a:r>
          </a:p>
          <a:p>
            <a:pPr lvl="0" indent="0" marL="0">
              <a:buNone/>
            </a:pPr>
          </a:p>
          <a:p>
            <a:pPr lvl="0"/>
            <a:r>
              <a:rPr/>
              <a:t>Documentation that needs explicit consent to follow</a:t>
            </a:r>
          </a:p>
          <a:p>
            <a:pPr lvl="0" indent="0" marL="0">
              <a:buNone/>
            </a:pPr>
          </a:p>
          <a:p>
            <a:pPr lvl="0"/>
            <a:r>
              <a:rPr/>
              <a:t>Instructions with high token costs that should be opt-in</a:t>
            </a:r>
          </a:p>
          <a:p>
            <a:pPr lvl="0" indent="0" marL="0">
              <a:buNone/>
            </a:pPr>
          </a:p>
          <a:p>
            <a:pPr lvl="0" indent="0" marL="0">
              <a:buNone/>
            </a:pPr>
            <a:r>
              <a:rPr/>
              <a:t>When to use: For instructions that might cause confusion if automatically included, or that are so specialized that automatic inclusion would rarely be appropriate. Developers must @-mention these explicitly.</a:t>
            </a:r>
          </a:p>
          <a:p>
            <a:pPr lvl="0" indent="0" marL="0">
              <a:buNone/>
            </a:pPr>
          </a:p>
          <a:p>
            <a:pPr lvl="0" indent="0" marL="0">
              <a:buNone/>
            </a:pPr>
            <a:r>
              <a:rPr/>
              <a:t>Strategy 3: Global with Overrides (Advanced) Start with global instructions that apply everywhere (like AI provenance requirements), then create more specific instruction files that override or extend them for particular domains. For example:</a:t>
            </a:r>
          </a:p>
          <a:p>
            <a:pPr lvl="0" indent="0" marL="0">
              <a:buNone/>
            </a:pPr>
          </a:p>
          <a:p>
            <a:pPr lvl="0"/>
            <a:r>
              <a:rPr/>
              <a:t>ai-assisted-output.instructions.md: applyTo: “*</a:t>
            </a:r>
            <a:r>
              <a:rPr i="1"/>
              <a:t>/</a:t>
            </a:r>
            <a:r>
              <a:rPr/>
              <a:t>”</a:t>
            </a:r>
          </a:p>
          <a:p>
            <a:pPr lvl="0" indent="0" marL="0">
              <a:buNone/>
            </a:pPr>
          </a:p>
          <a:p>
            <a:pPr lvl="0"/>
            <a:r>
              <a:rPr/>
              <a:t>ai-assisted-code-output.instructions.md: applyTo: “*</a:t>
            </a:r>
            <a:r>
              <a:rPr i="1"/>
              <a:t>/</a:t>
            </a:r>
            <a:r>
              <a:rPr/>
              <a:t>.{code}” The more specific file can provide additional requirements that layer on top of the global ones.</a:t>
            </a:r>
          </a:p>
          <a:p>
            <a:pPr lvl="0" indent="0" marL="0">
              <a:buNone/>
            </a:pPr>
          </a:p>
          <a:p>
            <a:pPr lvl="0" indent="0" marL="0">
              <a:buNone/>
            </a:pPr>
            <a:r>
              <a:rPr/>
              <a:t>When to use: When you have a base set of universal requirements but need domain-specific extensions. Be careful not to create conflicting instructions.</a:t>
            </a:r>
          </a:p>
          <a:p>
            <a:pPr lvl="0" indent="0" marL="0">
              <a:buNone/>
            </a:pPr>
          </a:p>
          <a:p>
            <a:pPr lvl="0" indent="0" marL="0">
              <a:buNone/>
            </a:pPr>
            <a:r>
              <a:rPr/>
              <a:t>Strategy 4: Directory Isolation (For Large Projects) In large monorepos or projects with distinct sections, isolate instructions by directory. Frontend, backend, mobile, docs, infrastructure - each gets its own instruction files with directory-specific patterns. This prevents cross-contamination of concerns.</a:t>
            </a:r>
          </a:p>
          <a:p>
            <a:pPr lvl="0" indent="0" marL="0">
              <a:buNone/>
            </a:pPr>
          </a:p>
          <a:p>
            <a:pPr lvl="0" indent="0" marL="0">
              <a:buNone/>
            </a:pPr>
            <a:r>
              <a:rPr/>
              <a:t>When to use: Projects with clear architectural boundaries, multi-team codebases, or when different parts of your system have fundamentally different requirements.</a:t>
            </a:r>
          </a:p>
          <a:p>
            <a:pPr lvl="0" indent="0" marL="0">
              <a:buNone/>
            </a:pPr>
          </a:p>
          <a:p>
            <a:pPr lvl="0" indent="0" marL="0">
              <a:buNone/>
            </a:pPr>
            <a:r>
              <a:rPr/>
              <a:t>Implementation tip: Document your strategy in your repository’s README so the team understands the pattern matching approach you’re using. Include examples of which files trigger which instructions.</a:t>
            </a:r>
          </a:p>
          <a:p>
            <a:pPr lvl="0" indent="0" marL="0">
              <a:buNone/>
            </a:pPr>
          </a:p>
          <a:p>
            <a:pPr lvl="0" indent="0" marL="0">
              <a:buNone/>
            </a:pPr>
            <a:r>
              <a:rPr/>
              <a:t>Remember: You can see which instructions are active by checking the Copilot context window or by asking Copilot “which instruction files are currently active?”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look at real examples from your actual workspace to see these strategies in action. These are live instruction files that demonstrate the patterns we’ve discussed.</a:t>
            </a:r>
          </a:p>
          <a:p>
            <a:pPr lvl="0" indent="0" marL="0">
              <a:buNone/>
            </a:pPr>
          </a:p>
          <a:p>
            <a:pPr lvl="0" indent="0" marL="0">
              <a:buNone/>
            </a:pPr>
            <a:r>
              <a:rPr/>
              <a:t>Example 1: Universal Requirements The ai-assisted-output.instructions.md file uses the global pattern “*</a:t>
            </a:r>
            <a:r>
              <a:rPr i="1"/>
              <a:t>/</a:t>
            </a:r>
            <a:r>
              <a:rPr/>
              <a:t>”. This makes sense because every AI-generated artifact in your repository needs complete provenance metadata - the chat ID, model used, timestamps, operator, etc. There’s no file type that should be exempt from these requirements. This is a perfect use case for global application.</a:t>
            </a:r>
          </a:p>
          <a:p>
            <a:pPr lvl="0" indent="0" marL="0">
              <a:buNone/>
            </a:pPr>
          </a:p>
          <a:p>
            <a:pPr lvl="0" indent="0" marL="0">
              <a:buNone/>
            </a:pPr>
            <a:r>
              <a:rPr/>
              <a:t>Example 2: Language-Specific Guidance The vertical-slice-implementation.instructions.md file applies to code files across multiple languages. Notice the pattern includes cs, ts, js, py, java, go, and rb extensions. This instruction file contains architectural guidance about implementing vertical slice architecture, which is relevant to any programming language but not relevant to markdown docs, config files, or slides. By targeting only code files, it stays out of the way when you’re writing documentation.</a:t>
            </a:r>
          </a:p>
          <a:p>
            <a:pPr lvl="0" indent="0" marL="0">
              <a:buNone/>
            </a:pPr>
          </a:p>
          <a:p>
            <a:pPr lvl="0" indent="0" marL="0">
              <a:buNone/>
            </a:pPr>
            <a:r>
              <a:rPr/>
              <a:t>Example 3: Directory-Specific Rules The marp-slides.instructions.md file uses “Slides/individual-slides/**” to target only the specific directory where slide content is created. Marp formatting rules, speaker note syntax, and presentation structure guidance only makes sense for slide files. If this pattern was broader, you’d get slide-specific instructions while writing code, which would be confusing and waste tokens.</a:t>
            </a:r>
          </a:p>
          <a:p>
            <a:pPr lvl="0" indent="0" marL="0">
              <a:buNone/>
            </a:pPr>
          </a:p>
          <a:p>
            <a:pPr lvl="0" indent="0" marL="0">
              <a:buNone/>
            </a:pPr>
            <a:r>
              <a:rPr/>
              <a:t>Example 4: File Type Specialization The chatmode-file.instructions.md file applies only to files ending in .chatmode.md. This is hyper-specific because the instructions are about creating chat mode definition files - they’re only relevant when you’re actually authoring a chat mode. This prevents developers from seeing chat mode creation instructions when they’re working on normal documentation.</a:t>
            </a:r>
          </a:p>
          <a:p>
            <a:pPr lvl="0" indent="0" marL="0">
              <a:buNone/>
            </a:pPr>
          </a:p>
          <a:p>
            <a:pPr lvl="0" indent="0" marL="0">
              <a:buNone/>
            </a:pPr>
            <a:r>
              <a:rPr/>
              <a:t>The pattern: Start with the question “When would a developer need this guidance?” Then write the most specific pattern that matches those situations. Too broad and you waste tokens and cause confusion. Too narrow and the instructions won’t be there when needed.</a:t>
            </a:r>
          </a:p>
          <a:p>
            <a:pPr lvl="0" indent="0" marL="0">
              <a:buNone/>
            </a:pPr>
          </a:p>
          <a:p>
            <a:pPr lvl="0" indent="0" marL="0">
              <a:buNone/>
            </a:pPr>
            <a:r>
              <a:rPr/>
              <a:t>You can examine your own instruction files and ask: “Is this applyTo pattern optimal? Could it be more specific? Is it too specific and causing instructions to be missed?”</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wrap up with the five key takeaways you should remember from this session.</a:t>
            </a:r>
          </a:p>
          <a:p>
            <a:pPr lvl="0" indent="0" marL="0">
              <a:buNone/>
            </a:pPr>
          </a:p>
          <a:p>
            <a:pPr lvl="0" indent="0" marL="0">
              <a:buNone/>
            </a:pPr>
            <a:r>
              <a:rPr/>
              <a:t>First and most important: The applyTo field is your primary control mechanism. This glob pattern in the instruction file’s YAML front matter determines when that file automatically includes in context. Master glob patterns and you master context control. If you remember nothing else from this session, remember this point.</a:t>
            </a:r>
          </a:p>
          <a:p>
            <a:pPr lvl="0" indent="0" marL="0">
              <a:buNone/>
            </a:pPr>
          </a:p>
          <a:p>
            <a:pPr lvl="0" indent="0" marL="0">
              <a:buNone/>
            </a:pPr>
            <a:r>
              <a:rPr/>
              <a:t>Second: Prompt files are not instruction controllers. They’re task executors that can reference instructions in their content, but they don’t override or control the applyTo pattern matching system. Think of prompts as “what to do” and instructions as “how to do it” - they’re complementary, not competitive.</a:t>
            </a:r>
          </a:p>
          <a:p>
            <a:pPr lvl="0" indent="0" marL="0">
              <a:buNone/>
            </a:pPr>
          </a:p>
          <a:p>
            <a:pPr lvl="0" indent="0" marL="0">
              <a:buNone/>
            </a:pPr>
            <a:r>
              <a:rPr/>
              <a:t>Third: Chat modes create specialized AI personas that layer on top of the instruction system. They don’t replace or filter instructions; they add context, expertise, and communication style. Use chat modes to add personality and specialized workflows, not to control instruction inclusion.</a:t>
            </a:r>
          </a:p>
          <a:p>
            <a:pPr lvl="0" indent="0" marL="0">
              <a:buNone/>
            </a:pPr>
          </a:p>
          <a:p>
            <a:pPr lvl="0" indent="0" marL="0">
              <a:buNone/>
            </a:pPr>
            <a:r>
              <a:rPr/>
              <a:t>Fourth: Understanding the hierarchy helps you debug and optimize. When something unexpected happens - instructions not being applied, wrong context being included, token limits being hit - trace through the hierarchy: What file am I working on? What patterns match? What chat mode is active? What prompt am I running? What did I manually @-mention?</a:t>
            </a:r>
          </a:p>
          <a:p>
            <a:pPr lvl="0" indent="0" marL="0">
              <a:buNone/>
            </a:pPr>
          </a:p>
          <a:p>
            <a:pPr lvl="0" indent="0" marL="0">
              <a:buNone/>
            </a:pPr>
            <a:r>
              <a:rPr/>
              <a:t>Fifth: Specificity beats generality. It’s tempting to use broad patterns like “*</a:t>
            </a:r>
            <a:r>
              <a:rPr i="1"/>
              <a:t>/</a:t>
            </a:r>
            <a:r>
              <a:rPr/>
              <a:t>” for everything, but resist that temptation. Specific patterns mean:</a:t>
            </a:r>
          </a:p>
          <a:p>
            <a:pPr lvl="0" indent="0" marL="0">
              <a:buNone/>
            </a:pPr>
          </a:p>
          <a:p>
            <a:pPr lvl="0"/>
            <a:r>
              <a:rPr/>
              <a:t>Lower token costs (only relevant context)</a:t>
            </a:r>
          </a:p>
          <a:p>
            <a:pPr lvl="0" indent="0" marL="0">
              <a:buNone/>
            </a:pPr>
          </a:p>
          <a:p>
            <a:pPr lvl="0"/>
            <a:r>
              <a:rPr/>
              <a:t>Faster responses (less to process)</a:t>
            </a:r>
          </a:p>
          <a:p>
            <a:pPr lvl="0" indent="0" marL="0">
              <a:buNone/>
            </a:pPr>
          </a:p>
          <a:p>
            <a:pPr lvl="0"/>
            <a:r>
              <a:rPr/>
              <a:t>Better quality (more focused guidance)</a:t>
            </a:r>
          </a:p>
          <a:p>
            <a:pPr lvl="0" indent="0" marL="0">
              <a:buNone/>
            </a:pPr>
          </a:p>
          <a:p>
            <a:pPr lvl="0"/>
            <a:r>
              <a:rPr/>
              <a:t>Fewer conflicts (clearer which rules apply)</a:t>
            </a:r>
          </a:p>
          <a:p>
            <a:pPr lvl="0" indent="0" marL="0">
              <a:buNone/>
            </a:pPr>
          </a:p>
          <a:p>
            <a:pPr lvl="0" indent="0" marL="0">
              <a:buNone/>
            </a:pPr>
            <a:r>
              <a:rPr/>
              <a:t>A well-designed instruction file system uses specific patterns that precisely match the files where guidance is needed.</a:t>
            </a:r>
          </a:p>
          <a:p>
            <a:pPr lvl="0" indent="0" marL="0">
              <a:buNone/>
            </a:pPr>
          </a:p>
          <a:p>
            <a:pPr lvl="0" indent="0" marL="0">
              <a:buNone/>
            </a:pPr>
            <a:r>
              <a:rPr/>
              <a:t>Action items for after this session:</a:t>
            </a:r>
          </a:p>
          <a:p>
            <a:pPr lvl="0" indent="0" marL="0">
              <a:buNone/>
            </a:pPr>
          </a:p>
          <a:p>
            <a:pPr lvl="0" indent="-342900" marL="342900">
              <a:buAutoNum type="arabicPeriod"/>
            </a:pPr>
            <a:r>
              <a:rPr/>
              <a:t>Audit your instruction files - check every applyTo pattern</a:t>
            </a:r>
          </a:p>
          <a:p>
            <a:pPr lvl="0" indent="0" marL="0">
              <a:buNone/>
            </a:pPr>
          </a:p>
          <a:p>
            <a:pPr lvl="0" indent="-342900" marL="342900">
              <a:buAutoNum type="arabicPeriod"/>
            </a:pPr>
            <a:r>
              <a:rPr/>
              <a:t>Test what happens when you edit different file types</a:t>
            </a:r>
          </a:p>
          <a:p>
            <a:pPr lvl="0" indent="0" marL="0">
              <a:buNone/>
            </a:pPr>
          </a:p>
          <a:p>
            <a:pPr lvl="0" indent="-342900" marL="342900">
              <a:buAutoNum type="arabicPeriod"/>
            </a:pPr>
            <a:r>
              <a:rPr/>
              <a:t>Document your pattern strategy for your team</a:t>
            </a:r>
          </a:p>
          <a:p>
            <a:pPr lvl="0" indent="0" marL="0">
              <a:buNone/>
            </a:pPr>
          </a:p>
          <a:p>
            <a:pPr lvl="0" indent="-342900" marL="342900">
              <a:buAutoNum type="arabicPeriod"/>
            </a:pPr>
            <a:r>
              <a:rPr/>
              <a:t>Consider creating directory-specific or type-specific instruction files if you currently have too many global patterns</a:t>
            </a:r>
          </a:p>
          <a:p>
            <a:pPr lvl="0" indent="0" marL="0">
              <a:buNone/>
            </a:pPr>
          </a:p>
          <a:p>
            <a:pPr lvl="0" indent="0" marL="0">
              <a:buNone/>
            </a:pPr>
            <a:r>
              <a:rPr/>
              <a:t>Questions to consider:</a:t>
            </a:r>
          </a:p>
          <a:p>
            <a:pPr lvl="0" indent="0" marL="0">
              <a:buNone/>
            </a:pPr>
          </a:p>
          <a:p>
            <a:pPr lvl="0"/>
            <a:r>
              <a:rPr/>
              <a:t>Are your patterns too broad or too narrow?</a:t>
            </a:r>
          </a:p>
          <a:p>
            <a:pPr lvl="0" indent="0" marL="0">
              <a:buNone/>
            </a:pPr>
          </a:p>
          <a:p>
            <a:pPr lvl="0"/>
            <a:r>
              <a:rPr/>
              <a:t>Do you have instructions without applyTo fields that should have them?</a:t>
            </a:r>
          </a:p>
          <a:p>
            <a:pPr lvl="0" indent="0" marL="0">
              <a:buNone/>
            </a:pPr>
          </a:p>
          <a:p>
            <a:pPr lvl="0"/>
            <a:r>
              <a:rPr/>
              <a:t>Are there conflicting instructions applying to the same files?</a:t>
            </a:r>
          </a:p>
          <a:p>
            <a:pPr lvl="0" indent="0" marL="0">
              <a:buNone/>
            </a:pPr>
          </a:p>
          <a:p>
            <a:pPr lvl="0"/>
            <a:r>
              <a:rPr/>
              <a:t>Could you reduce token usage with more specific patterns?</a:t>
            </a:r>
          </a:p>
          <a:p>
            <a:pPr lvl="0" indent="0" marL="0">
              <a:buNone/>
            </a:pPr>
          </a:p>
          <a:p>
            <a:pPr lvl="0" indent="0" marL="0">
              <a:buNone/>
            </a:pPr>
            <a:r>
              <a:rPr/>
              <a:t>Thank you for your attention. Let’s open it up for questions.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final slide is for the Q&amp;A portion. Let me provide you with answers to the most common questions we receive about instruction file control, so you’re prepared for the discussion.</a:t>
            </a:r>
          </a:p>
          <a:p>
            <a:pPr lvl="0" indent="0" marL="0">
              <a:buNone/>
            </a:pPr>
          </a:p>
          <a:p>
            <a:pPr lvl="0" indent="0" marL="0">
              <a:buNone/>
            </a:pPr>
            <a:r>
              <a:rPr/>
              <a:t>Question 1: “How do I see which instructions are active for my current file?” Answer: You can explicitly ask GitHub Copilot in chat: “Which instruction files are currently active?” or “What instructions are you following right now?” Copilot will list the instruction files in its context. You can also check the Copilot context panel if your IDE supports it. Some teams also create a test prompt that lists all applyTo patterns and their match status.</a:t>
            </a:r>
          </a:p>
          <a:p>
            <a:pPr lvl="0" indent="0" marL="0">
              <a:buNone/>
            </a:pPr>
          </a:p>
          <a:p>
            <a:pPr lvl="0" indent="0" marL="0">
              <a:buNone/>
            </a:pPr>
            <a:r>
              <a:rPr/>
              <a:t>Question 2: “Can I temporarily disable an instruction file?” Answer: There are a few approaches:</a:t>
            </a:r>
          </a:p>
          <a:p>
            <a:pPr lvl="0" indent="0" marL="0">
              <a:buNone/>
            </a:pPr>
          </a:p>
          <a:p>
            <a:pPr lvl="0"/>
            <a:r>
              <a:rPr/>
              <a:t>Rename the file temporarily (remove .instructions.md extension)</a:t>
            </a:r>
          </a:p>
          <a:p>
            <a:pPr lvl="0" indent="0" marL="0">
              <a:buNone/>
            </a:pPr>
          </a:p>
          <a:p>
            <a:pPr lvl="0"/>
            <a:r>
              <a:rPr/>
              <a:t>Comment out the applyTo field in the YAML front matter</a:t>
            </a:r>
          </a:p>
          <a:p>
            <a:pPr lvl="0" indent="0" marL="0">
              <a:buNone/>
            </a:pPr>
          </a:p>
          <a:p>
            <a:pPr lvl="0"/>
            <a:r>
              <a:rPr/>
              <a:t>Move the file outside the .github/instructions/ directory</a:t>
            </a:r>
          </a:p>
          <a:p>
            <a:pPr lvl="0" indent="0" marL="0">
              <a:buNone/>
            </a:pPr>
          </a:p>
          <a:p>
            <a:pPr lvl="0"/>
            <a:r>
              <a:rPr/>
              <a:t>Use @-mentions to explicitly include only the instructions you want for a specific task Remember to document why you’re disabling it and when you plan to re-enable it.</a:t>
            </a:r>
          </a:p>
          <a:p>
            <a:pPr lvl="0" indent="0" marL="0">
              <a:buNone/>
            </a:pPr>
          </a:p>
          <a:p>
            <a:pPr lvl="0" indent="0" marL="0">
              <a:buNone/>
            </a:pPr>
            <a:r>
              <a:rPr/>
              <a:t>Question 3: “What happens when two instruction files conflict?” Answer: Both files are included in context, and the AI attempts to reconcile them. However, explicit conflicts (like “always do X” vs “never do X”) should be resolved by:</a:t>
            </a:r>
          </a:p>
          <a:p>
            <a:pPr lvl="0" indent="0" marL="0">
              <a:buNone/>
            </a:pPr>
          </a:p>
          <a:p>
            <a:pPr lvl="0"/>
            <a:r>
              <a:rPr/>
              <a:t>Making applyTo patterns mutually exclusive</a:t>
            </a:r>
          </a:p>
          <a:p>
            <a:pPr lvl="0" indent="0" marL="0">
              <a:buNone/>
            </a:pPr>
          </a:p>
          <a:p>
            <a:pPr lvl="0"/>
            <a:r>
              <a:rPr/>
              <a:t>Using one file as the base and another as an override with clear precedence rules</a:t>
            </a:r>
          </a:p>
          <a:p>
            <a:pPr lvl="0" indent="0" marL="0">
              <a:buNone/>
            </a:pPr>
          </a:p>
          <a:p>
            <a:pPr lvl="0"/>
            <a:r>
              <a:rPr/>
              <a:t>Merging the conflicting files into a single coherent instruction set Good naming and clear scope help prevent conflicts.</a:t>
            </a:r>
          </a:p>
          <a:p>
            <a:pPr lvl="0" indent="0" marL="0">
              <a:buNone/>
            </a:pPr>
          </a:p>
          <a:p>
            <a:pPr lvl="0" indent="0" marL="0">
              <a:buNone/>
            </a:pPr>
            <a:r>
              <a:rPr/>
              <a:t>Question 4: “How can I debug unexpected instruction inclusion?” Answer: Follow this debugging process:</a:t>
            </a:r>
          </a:p>
          <a:p>
            <a:pPr lvl="0" indent="0" marL="0">
              <a:buNone/>
            </a:pPr>
          </a:p>
          <a:p>
            <a:pPr lvl="0" indent="-342900" marL="342900">
              <a:buAutoNum type="arabicPeriod"/>
            </a:pPr>
            <a:r>
              <a:rPr/>
              <a:t>Ask Copilot what instructions are active</a:t>
            </a:r>
          </a:p>
          <a:p>
            <a:pPr lvl="0" indent="0" marL="0">
              <a:buNone/>
            </a:pPr>
          </a:p>
          <a:p>
            <a:pPr lvl="0" indent="-342900" marL="342900">
              <a:buAutoNum type="arabicPeriod"/>
            </a:pPr>
            <a:r>
              <a:rPr/>
              <a:t>Check the applyTo patterns in those files</a:t>
            </a:r>
          </a:p>
          <a:p>
            <a:pPr lvl="0" indent="0" marL="0">
              <a:buNone/>
            </a:pPr>
          </a:p>
          <a:p>
            <a:pPr lvl="0" indent="-342900" marL="342900">
              <a:buAutoNum type="arabicPeriod"/>
            </a:pPr>
            <a:r>
              <a:rPr/>
              <a:t>Verify what file type you’re working with</a:t>
            </a:r>
          </a:p>
          <a:p>
            <a:pPr lvl="0" indent="0" marL="0">
              <a:buNone/>
            </a:pPr>
          </a:p>
          <a:p>
            <a:pPr lvl="0" indent="-342900" marL="342900">
              <a:buAutoNum type="arabicPeriod"/>
            </a:pPr>
            <a:r>
              <a:rPr/>
              <a:t>Test the glob pattern using a pattern tester</a:t>
            </a:r>
          </a:p>
          <a:p>
            <a:pPr lvl="0" indent="0" marL="0">
              <a:buNone/>
            </a:pPr>
          </a:p>
          <a:p>
            <a:pPr lvl="0" indent="-342900" marL="342900">
              <a:buAutoNum type="arabicPeriod"/>
            </a:pPr>
            <a:r>
              <a:rPr/>
              <a:t>Check if you have any global patterns that might be catching this file</a:t>
            </a:r>
          </a:p>
          <a:p>
            <a:pPr lvl="0" indent="0" marL="0">
              <a:buNone/>
            </a:pPr>
          </a:p>
          <a:p>
            <a:pPr lvl="0" indent="-342900" marL="342900">
              <a:buAutoNum type="arabicPeriod"/>
            </a:pPr>
            <a:r>
              <a:rPr/>
              <a:t>Look for recently added instruction files that might have overly broad patterns</a:t>
            </a:r>
          </a:p>
          <a:p>
            <a:pPr lvl="0" indent="0" marL="0">
              <a:buNone/>
            </a:pPr>
          </a:p>
          <a:p>
            <a:pPr lvl="0" indent="0" marL="0">
              <a:buNone/>
            </a:pPr>
            <a:r>
              <a:rPr/>
              <a:t>Additional discussion points:</a:t>
            </a:r>
          </a:p>
          <a:p>
            <a:pPr lvl="0" indent="0" marL="0">
              <a:buNone/>
            </a:pPr>
          </a:p>
          <a:p>
            <a:pPr lvl="0"/>
            <a:r>
              <a:rPr/>
              <a:t>Share examples of instruction patterns that worked well for your team</a:t>
            </a:r>
          </a:p>
          <a:p>
            <a:pPr lvl="0" indent="0" marL="0">
              <a:buNone/>
            </a:pPr>
          </a:p>
          <a:p>
            <a:pPr lvl="0"/>
            <a:r>
              <a:rPr/>
              <a:t>Discuss challenges with token limits and how specific patterns helped</a:t>
            </a:r>
          </a:p>
          <a:p>
            <a:pPr lvl="0" indent="0" marL="0">
              <a:buNone/>
            </a:pPr>
          </a:p>
          <a:p>
            <a:pPr lvl="0"/>
            <a:r>
              <a:rPr/>
              <a:t>Talk about the process for creating new instruction files</a:t>
            </a:r>
          </a:p>
          <a:p>
            <a:pPr lvl="0" indent="0" marL="0">
              <a:buNone/>
            </a:pPr>
          </a:p>
          <a:p>
            <a:pPr lvl="0"/>
            <a:r>
              <a:rPr/>
              <a:t>Review the governance model for instruction file approval</a:t>
            </a:r>
          </a:p>
          <a:p>
            <a:pPr lvl="0" indent="0" marL="0">
              <a:buNone/>
            </a:pPr>
          </a:p>
          <a:p>
            <a:pPr lvl="0" indent="0" marL="0">
              <a:buNone/>
            </a:pPr>
            <a:r>
              <a:rPr/>
              <a:t>The resources listed are the canonical documentation files in your repository. Encourage your team to read these for deeper understanding of the instruction file system.</a:t>
            </a:r>
          </a:p>
          <a:p>
            <a:pPr lvl="0" indent="0" marL="0">
              <a:buNone/>
            </a:pPr>
          </a:p>
          <a:p>
            <a:pPr lvl="0" indent="0" marL="0">
              <a:buNone/>
            </a:pPr>
            <a:r>
              <a:rPr/>
              <a:t>For ongoing support, consider:</a:t>
            </a:r>
          </a:p>
          <a:p>
            <a:pPr lvl="0" indent="0" marL="0">
              <a:buNone/>
            </a:pPr>
          </a:p>
          <a:p>
            <a:pPr lvl="0"/>
            <a:r>
              <a:rPr/>
              <a:t>Creating a team channel for instruction file discussions</a:t>
            </a:r>
          </a:p>
          <a:p>
            <a:pPr lvl="0" indent="0" marL="0">
              <a:buNone/>
            </a:pPr>
          </a:p>
          <a:p>
            <a:pPr lvl="0"/>
            <a:r>
              <a:rPr/>
              <a:t>Establishing a regular review cycle for instruction files</a:t>
            </a:r>
          </a:p>
          <a:p>
            <a:pPr lvl="0" indent="0" marL="0">
              <a:buNone/>
            </a:pPr>
          </a:p>
          <a:p>
            <a:pPr lvl="0"/>
            <a:r>
              <a:rPr/>
              <a:t>Assigning an “instruction file owner” who maintains the system</a:t>
            </a:r>
          </a:p>
          <a:p>
            <a:pPr lvl="0" indent="0" marL="0">
              <a:buNone/>
            </a:pPr>
          </a:p>
          <a:p>
            <a:pPr lvl="0"/>
            <a:r>
              <a:rPr/>
              <a:t>Building tools to visualize instruction coverage across your codebase</a:t>
            </a:r>
          </a:p>
          <a:p>
            <a:pPr lvl="0" indent="0" marL="0">
              <a:buNone/>
            </a:pPr>
          </a:p>
          <a:p>
            <a:pPr lvl="0" indent="0" marL="0">
              <a:buNone/>
            </a:pPr>
            <a:r>
              <a:rPr/>
              <a:t>Thank you all for participating. I’ll stick around for individual questions after we adjourn.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Controlling GitHub Copilot Instruction Files</a:t>
            </a:r>
          </a:p>
        </p:txBody>
      </p:sp>
      <p:sp>
        <p:nvSpPr>
          <p:cNvPr id="3" name="Content Placeholder 2"/>
          <p:cNvSpPr>
            <a:spLocks noGrp="1"/>
          </p:cNvSpPr>
          <p:nvPr>
            <p:ph idx="1"/>
          </p:nvPr>
        </p:nvSpPr>
        <p:spPr/>
        <p:txBody>
          <a:bodyPr/>
          <a:lstStyle/>
          <a:p>
            <a:pPr lvl="0" indent="0" marL="0">
              <a:buNone/>
            </a:pPr>
            <a:r>
              <a:rPr b="1"/>
              <a:t>Understanding Context Submission in AI-Assisted Development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Core Concept</a:t>
            </a:r>
          </a:p>
        </p:txBody>
      </p:sp>
      <p:sp>
        <p:nvSpPr>
          <p:cNvPr id="3" name="Content Placeholder 2"/>
          <p:cNvSpPr>
            <a:spLocks noGrp="1"/>
          </p:cNvSpPr>
          <p:nvPr>
            <p:ph idx="1"/>
          </p:nvPr>
        </p:nvSpPr>
        <p:spPr/>
        <p:txBody>
          <a:bodyPr/>
          <a:lstStyle/>
          <a:p>
            <a:pPr lvl="0" indent="0" marL="0">
              <a:buNone/>
            </a:pPr>
            <a:r>
              <a:rPr b="1"/>
              <a:t>Every Copilot prompt includes relevant instruction files automatically</a:t>
            </a:r>
          </a:p>
          <a:p>
            <a:pPr lvl="0" indent="0">
              <a:buNone/>
            </a:pPr>
            <a:r>
              <a:rPr i="1">
                <a:solidFill>
                  <a:srgbClr val="60A0B0"/>
                </a:solidFill>
                <a:latin typeface="Courier"/>
              </a:rPr>
              <a:t># .github/instructions/security.instructions.md</a:t>
            </a:r>
            <a:br/>
            <a:r>
              <a:rPr>
                <a:solidFill>
                  <a:srgbClr val="BC7A00"/>
                </a:solidFill>
                <a:latin typeface="Courier"/>
              </a:rPr>
              <a:t>---</a:t>
            </a: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"**/*.{ts,js,py}"</a:t>
            </a:r>
            <a:br/>
            <a:r>
              <a:rPr>
                <a:solidFill>
                  <a:srgbClr val="BC7A00"/>
                </a:solidFill>
                <a:latin typeface="Courier"/>
              </a:rPr>
              <a:t>---</a:t>
            </a:r>
            <a:br/>
            <a:r>
              <a:rPr i="1">
                <a:solidFill>
                  <a:srgbClr val="60A0B0"/>
                </a:solidFill>
                <a:latin typeface="Courier"/>
              </a:rPr>
              <a:t># Security Best Practices</a:t>
            </a:r>
            <a:br/>
            <a:r>
              <a:rPr i="1">
                <a:solidFill>
                  <a:srgbClr val="60A0B0"/>
                </a:solidFill>
                <a:latin typeface="Courier"/>
              </a:rPr>
              <a:t>...</a:t>
            </a:r>
          </a:p>
          <a:p>
            <a:pPr lvl="0" indent="0" marL="0">
              <a:buNone/>
            </a:pPr>
            <a:r>
              <a:rPr/>
              <a:t>When you work on </a:t>
            </a:r>
            <a:r>
              <a:rPr>
                <a:latin typeface="Courier"/>
              </a:rPr>
              <a:t>src/api.ts</a:t>
            </a:r>
            <a:r>
              <a:rPr/>
              <a:t> → Security instructions </a:t>
            </a:r>
            <a:r>
              <a:rPr b="1"/>
              <a:t>automatically included</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applyTo Field: Pattern Matching</a:t>
            </a:r>
          </a:p>
        </p:txBody>
      </p:sp>
      <p:sp>
        <p:nvSpPr>
          <p:cNvPr id="3" name="Content Placeholder 2"/>
          <p:cNvSpPr>
            <a:spLocks noGrp="1"/>
          </p:cNvSpPr>
          <p:nvPr>
            <p:ph idx="1"/>
          </p:nvPr>
        </p:nvSpPr>
        <p:spPr/>
        <p:txBody>
          <a:bodyPr/>
          <a:lstStyle/>
          <a:p>
            <a:pPr lvl="0" indent="0" marL="0">
              <a:buNone/>
            </a:pPr>
            <a:r>
              <a:rPr b="1"/>
              <a:t>Three Levels of Scope Control</a:t>
            </a:r>
          </a:p>
          <a:p>
            <a:pPr lvl="0" indent="0">
              <a:buNone/>
            </a:pPr>
            <a:r>
              <a:rPr i="1">
                <a:solidFill>
                  <a:srgbClr val="60A0B0"/>
                </a:solidFill>
                <a:latin typeface="Courier"/>
              </a:rPr>
              <a:t># Global - Everything</a:t>
            </a: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a:t>
            </a:r>
            <a:br/>
            <a:br/>
            <a:r>
              <a:rPr i="1">
                <a:solidFill>
                  <a:srgbClr val="60A0B0"/>
                </a:solidFill>
                <a:latin typeface="Courier"/>
              </a:rPr>
              <a:t># Directory-Specific - Slides only</a:t>
            </a: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"Slides/individual-slides/**"</a:t>
            </a:r>
            <a:br/>
            <a:br/>
            <a:r>
              <a:rPr i="1">
                <a:solidFill>
                  <a:srgbClr val="60A0B0"/>
                </a:solidFill>
                <a:latin typeface="Courier"/>
              </a:rPr>
              <a:t># Type-Specific - Code files only</a:t>
            </a: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"**/*.{cs,ts,js,py,java,go,rb}"</a:t>
            </a:r>
          </a:p>
          <a:p>
            <a:pPr lvl="0" indent="0" marL="0">
              <a:buNone/>
            </a:pPr>
            <a:r>
              <a:rPr b="1"/>
              <a:t>Result</a:t>
            </a:r>
            <a:r>
              <a:rPr/>
              <a:t>: Only matching instruction files are included in context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Prompt Files: Reference, Don’t Control</a:t>
            </a:r>
          </a:p>
        </p:txBody>
      </p:sp>
      <p:sp>
        <p:nvSpPr>
          <p:cNvPr id="3" name="Content Placeholder 2"/>
          <p:cNvSpPr>
            <a:spLocks noGrp="1"/>
          </p:cNvSpPr>
          <p:nvPr>
            <p:ph idx="1"/>
          </p:nvPr>
        </p:nvSpPr>
        <p:spPr/>
        <p:txBody>
          <a:bodyPr/>
          <a:lstStyle/>
          <a:p>
            <a:pPr lvl="0" indent="0" marL="0">
              <a:buNone/>
            </a:pPr>
            <a:r>
              <a:rPr b="1"/>
              <a:t>Prompt files execute tasks, they don’t control instruction inclusion</a:t>
            </a:r>
          </a:p>
          <a:p>
            <a:pPr lvl="0" indent="0">
              <a:buNone/>
            </a:pPr>
            <a:r>
              <a:rPr i="1">
                <a:solidFill>
                  <a:srgbClr val="60A0B0"/>
                </a:solidFill>
                <a:latin typeface="Courier"/>
              </a:rPr>
              <a:t>&lt;!-- .github/prompts/create-api.prompt.md --&gt;</a:t>
            </a:r>
            <a:br/>
            <a:br/>
            <a:r>
              <a:rPr>
                <a:latin typeface="Courier"/>
              </a:rPr>
              <a:t>**CRITICAL**: All AI-generated artifacts MUST comply with</a:t>
            </a:r>
            <a:br/>
            <a:r>
              <a:rPr b="1" i="1">
                <a:solidFill>
                  <a:srgbClr val="60A0B0"/>
                </a:solidFill>
                <a:latin typeface="Courier"/>
              </a:rPr>
              <a:t>`.github/instructions/ai-assisted-output.instructions.md`</a:t>
            </a:r>
          </a:p>
          <a:p>
            <a:pPr lvl="0" indent="0" marL="0">
              <a:buNone/>
            </a:pPr>
            <a:r>
              <a:rPr b="1"/>
              <a:t>Key Distinction</a:t>
            </a:r>
            <a:r>
              <a:rPr/>
              <a:t>:</a:t>
            </a:r>
          </a:p>
          <a:p>
            <a:pPr lvl="0"/>
            <a:r>
              <a:rPr/>
              <a:t>✅ Can </a:t>
            </a:r>
            <a:r>
              <a:rPr b="1"/>
              <a:t>reference</a:t>
            </a:r>
            <a:r>
              <a:rPr/>
              <a:t> instruction requirements in content</a:t>
            </a:r>
          </a:p>
          <a:p>
            <a:pPr lvl="0"/>
            <a:r>
              <a:rPr/>
              <a:t>❌ </a:t>
            </a:r>
            <a:r>
              <a:rPr b="1"/>
              <a:t>Don’t control</a:t>
            </a:r>
            <a:r>
              <a:rPr/>
              <a:t> which instructions auto-include</a:t>
            </a:r>
          </a:p>
          <a:p>
            <a:pPr lvl="0"/>
            <a:r>
              <a:rPr/>
              <a:t>🎯 The target file’s </a:t>
            </a:r>
            <a:r>
              <a:rPr>
                <a:latin typeface="Courier"/>
              </a:rPr>
              <a:t>applyTo</a:t>
            </a:r>
            <a:r>
              <a:rPr/>
              <a:t> matching still determines inclusion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Chat Modes: Persona, Not Pattern Control</a:t>
            </a:r>
          </a:p>
        </p:txBody>
      </p:sp>
      <p:sp>
        <p:nvSpPr>
          <p:cNvPr id="3" name="Content Placeholder 2"/>
          <p:cNvSpPr>
            <a:spLocks noGrp="1"/>
          </p:cNvSpPr>
          <p:nvPr>
            <p:ph idx="1"/>
          </p:nvPr>
        </p:nvSpPr>
        <p:spPr/>
        <p:txBody>
          <a:bodyPr/>
          <a:lstStyle/>
          <a:p>
            <a:pPr lvl="0" indent="0" marL="0">
              <a:buNone/>
            </a:pPr>
            <a:r>
              <a:rPr b="1"/>
              <a:t>Chat modes create specialized contexts, not instruction filters</a:t>
            </a:r>
          </a:p>
          <a:p>
            <a:pPr lvl="0" indent="0">
              <a:buNone/>
            </a:pPr>
            <a:r>
              <a:rPr i="1">
                <a:solidFill>
                  <a:srgbClr val="60A0B0"/>
                </a:solidFill>
                <a:latin typeface="Courier"/>
              </a:rPr>
              <a:t># .github/chatmodes/security-analyzer.chatmode.md</a:t>
            </a:r>
            <a:br/>
            <a:r>
              <a:rPr i="1">
                <a:solidFill>
                  <a:srgbClr val="60A0B0"/>
                </a:solidFill>
                <a:latin typeface="Courier"/>
              </a:rPr>
              <a:t># Focus: Code security, vulnerability detection</a:t>
            </a:r>
          </a:p>
          <a:p>
            <a:pPr lvl="0" indent="0" marL="0">
              <a:buNone/>
            </a:pPr>
            <a:r>
              <a:rPr b="1"/>
              <a:t>Interaction Model</a:t>
            </a:r>
            <a:r>
              <a:rPr/>
              <a:t>:</a:t>
            </a:r>
          </a:p>
          <a:p>
            <a:pPr lvl="0" indent="0">
              <a:buNone/>
            </a:pPr>
            <a:r>
              <a:rPr>
                <a:latin typeface="Courier"/>
              </a:rPr>
              <a:t>graph LR
    A[File Being Edited] --&gt; B{applyTo Match?}
    B --&gt;|Yes| C[Auto-Include Instructions]
    B --&gt;|No| D[Skip Instructions]
    C --&gt; E[Add Chat Mode Persona]
    D --&gt; E
    E --&gt; F[Generate Response]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Control Hierarchy</a:t>
            </a:r>
          </a:p>
        </p:txBody>
      </p:sp>
      <p:sp>
        <p:nvSpPr>
          <p:cNvPr id="3" name="Content Placeholder 2"/>
          <p:cNvSpPr>
            <a:spLocks noGrp="1"/>
          </p:cNvSpPr>
          <p:nvPr>
            <p:ph idx="1"/>
          </p:nvPr>
        </p:nvSpPr>
        <p:spPr/>
        <p:txBody>
          <a:bodyPr/>
          <a:lstStyle/>
          <a:p>
            <a:pPr lvl="0" indent="0" marL="0">
              <a:buNone/>
            </a:pPr>
            <a:r>
              <a:rPr b="1"/>
              <a:t>Understanding the complete context assembly</a:t>
            </a:r>
          </a:p>
          <a:p>
            <a:pPr lvl="0" indent="0">
              <a:buNone/>
            </a:pPr>
            <a:r>
              <a:rPr>
                <a:latin typeface="Courier"/>
              </a:rPr>
              <a:t>1. 📝 File Being Edited (e.g., src/api.ts)
          ↓
2. 🎯 Instruction Files (applyTo pattern matching)
          ↓
3. 🎭 Active Chat Mode (if any - adds persona/context)
          ↓
4. 📋 Prompt Files (can reference additional instructions)
          ↓
5. 👤 Manual @-mentions (explicit instruction references)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Practical Control Strategies</a:t>
            </a:r>
          </a:p>
        </p:txBody>
      </p:sp>
      <p:sp>
        <p:nvSpPr>
          <p:cNvPr id="4" name="Text Placeholder 3"/>
          <p:cNvSpPr>
            <a:spLocks noGrp="1"/>
          </p:cNvSpPr>
          <p:nvPr>
            <p:ph idx="2" sz="half" type="body"/>
          </p:nvPr>
        </p:nvSpPr>
        <p:spPr/>
        <p:txBody>
          <a:bodyPr/>
          <a:lstStyle/>
          <a:p>
            <a:pPr lvl="0" indent="0" marL="0">
              <a:buNone/>
            </a:pPr>
            <a:r>
              <a:rPr b="1"/>
              <a:t>Four approaches to managing instruction context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498600"/>
                <a:gridCol w="1447800"/>
                <a:gridCol w="2159000"/>
              </a:tblGrid>
              <a:tr h="0">
                <a:tc>
                  <a:txBody>
                    <a:bodyPr/>
                    <a:lstStyle/>
                    <a:p>
                      <a:pPr lvl="0" indent="0" marL="0">
                        <a:buNone/>
                      </a:pPr>
                      <a:r>
                        <a:rPr/>
                        <a:t>Strategy</a:t>
                      </a:r>
                    </a:p>
                  </a:txBody>
                  <a:tcPr/>
                </a:tc>
                <a:tc>
                  <a:txBody>
                    <a:bodyPr/>
                    <a:lstStyle/>
                    <a:p>
                      <a:pPr lvl="0" indent="0" marL="0">
                        <a:buNone/>
                      </a:pPr>
                      <a:r>
                        <a:rPr/>
                        <a:t>Use Case</a:t>
                      </a:r>
                    </a:p>
                  </a:txBody>
                  <a:tcPr/>
                </a:tc>
                <a:tc>
                  <a:txBody>
                    <a:bodyPr/>
                    <a:lstStyle/>
                    <a:p>
                      <a:pPr lvl="0" indent="0" marL="0">
                        <a:buNone/>
                      </a:pPr>
                      <a:r>
                        <a:rPr/>
                        <a:t>Example</a:t>
                      </a:r>
                    </a:p>
                  </a:txBody>
                  <a:tcPr/>
                </a:tc>
              </a:tr>
              <a:tr h="0">
                <a:tc>
                  <a:txBody>
                    <a:bodyPr/>
                    <a:lstStyle/>
                    <a:p>
                      <a:pPr lvl="0" indent="0" marL="0">
                        <a:buNone/>
                      </a:pPr>
                      <a:r>
                        <a:rPr b="1"/>
                        <a:t>Specific Patterns</a:t>
                      </a:r>
                    </a:p>
                  </a:txBody>
                </a:tc>
                <a:tc>
                  <a:txBody>
                    <a:bodyPr/>
                    <a:lstStyle/>
                    <a:p>
                      <a:pPr lvl="0" indent="0" marL="0">
                        <a:buNone/>
                      </a:pPr>
                      <a:r>
                        <a:rPr/>
                        <a:t>Domain-specific guidance</a:t>
                      </a:r>
                    </a:p>
                  </a:txBody>
                </a:tc>
                <a:tc>
                  <a:txBody>
                    <a:bodyPr/>
                    <a:lstStyle/>
                    <a:p>
                      <a:pPr lvl="0" indent="0" marL="0">
                        <a:buNone/>
                      </a:pPr>
                      <a:r>
                        <a:rPr>
                          <a:latin typeface="Courier"/>
                        </a:rPr>
                        <a:t>src/**/*.ts</a:t>
                      </a:r>
                      <a:r>
                        <a:rPr/>
                        <a:t> for backend TypeScript</a:t>
                      </a:r>
                    </a:p>
                  </a:txBody>
                </a:tc>
              </a:tr>
              <a:tr h="0">
                <a:tc>
                  <a:txBody>
                    <a:bodyPr/>
                    <a:lstStyle/>
                    <a:p>
                      <a:pPr lvl="0" indent="0" marL="0">
                        <a:buNone/>
                      </a:pPr>
                      <a:r>
                        <a:rPr b="1"/>
                        <a:t>No applyTo</a:t>
                      </a:r>
                    </a:p>
                  </a:txBody>
                </a:tc>
                <a:tc>
                  <a:txBody>
                    <a:bodyPr/>
                    <a:lstStyle/>
                    <a:p>
                      <a:pPr lvl="0" indent="0" marL="0">
                        <a:buNone/>
                      </a:pPr>
                      <a:r>
                        <a:rPr/>
                        <a:t>Manual inclusion only</a:t>
                      </a:r>
                    </a:p>
                  </a:txBody>
                </a:tc>
                <a:tc>
                  <a:txBody>
                    <a:bodyPr/>
                    <a:lstStyle/>
                    <a:p>
                      <a:pPr lvl="0" indent="0" marL="0">
                        <a:buNone/>
                      </a:pPr>
                      <a:r>
                        <a:rPr/>
                        <a:t>Docs that need explicit opt-in</a:t>
                      </a:r>
                    </a:p>
                  </a:txBody>
                </a:tc>
              </a:tr>
              <a:tr h="0">
                <a:tc>
                  <a:txBody>
                    <a:bodyPr/>
                    <a:lstStyle/>
                    <a:p>
                      <a:pPr lvl="0" indent="0" marL="0">
                        <a:buNone/>
                      </a:pPr>
                      <a:r>
                        <a:rPr b="1"/>
                        <a:t>Global with Overrides</a:t>
                      </a:r>
                    </a:p>
                  </a:txBody>
                </a:tc>
                <a:tc>
                  <a:txBody>
                    <a:bodyPr/>
                    <a:lstStyle/>
                    <a:p>
                      <a:pPr lvl="0" indent="0" marL="0">
                        <a:buNone/>
                      </a:pPr>
                      <a:r>
                        <a:rPr/>
                        <a:t>Base + specialized</a:t>
                      </a:r>
                    </a:p>
                  </a:txBody>
                </a:tc>
                <a:tc>
                  <a:txBody>
                    <a:bodyPr/>
                    <a:lstStyle/>
                    <a:p>
                      <a:pPr lvl="0" indent="0" marL="0">
                        <a:buNone/>
                      </a:pPr>
                      <a:r>
                        <a:rPr>
                          <a:latin typeface="Courier"/>
                        </a:rPr>
                        <a:t>**/*</a:t>
                      </a:r>
                      <a:r>
                        <a:rPr/>
                        <a:t> + specific overrides</a:t>
                      </a:r>
                    </a:p>
                  </a:txBody>
                </a:tc>
              </a:tr>
              <a:tr h="0">
                <a:tc>
                  <a:txBody>
                    <a:bodyPr/>
                    <a:lstStyle/>
                    <a:p>
                      <a:pPr lvl="0" indent="0" marL="0">
                        <a:buNone/>
                      </a:pPr>
                      <a:r>
                        <a:rPr b="1"/>
                        <a:t>Directory Isolation</a:t>
                      </a:r>
                    </a:p>
                  </a:txBody>
                </a:tc>
                <a:tc>
                  <a:txBody>
                    <a:bodyPr/>
                    <a:lstStyle/>
                    <a:p>
                      <a:pPr lvl="0" indent="0" marL="0">
                        <a:buNone/>
                      </a:pPr>
                      <a:r>
                        <a:rPr/>
                        <a:t>Project sections</a:t>
                      </a:r>
                    </a:p>
                  </a:txBody>
                </a:tc>
                <a:tc>
                  <a:txBody>
                    <a:bodyPr/>
                    <a:lstStyle/>
                    <a:p>
                      <a:pPr lvl="0" indent="0" marL="0">
                        <a:buNone/>
                      </a:pPr>
                      <a:r>
                        <a:rPr>
                          <a:latin typeface="Courier"/>
                        </a:rPr>
                        <a:t>frontend/**</a:t>
                      </a:r>
                      <a:r>
                        <a:rPr/>
                        <a:t> vs </a:t>
                      </a:r>
                      <a:r>
                        <a:rPr>
                          <a:latin typeface="Courier"/>
                        </a:rPr>
                        <a:t>backend/**</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Real-World Examples</a:t>
            </a:r>
          </a:p>
        </p:txBody>
      </p:sp>
      <p:sp>
        <p:nvSpPr>
          <p:cNvPr id="3" name="Content Placeholder 2"/>
          <p:cNvSpPr>
            <a:spLocks noGrp="1"/>
          </p:cNvSpPr>
          <p:nvPr>
            <p:ph idx="1"/>
          </p:nvPr>
        </p:nvSpPr>
        <p:spPr/>
        <p:txBody>
          <a:bodyPr/>
          <a:lstStyle/>
          <a:p>
            <a:pPr lvl="0" indent="0" marL="0">
              <a:buNone/>
            </a:pPr>
            <a:r>
              <a:rPr b="1"/>
              <a:t>From your current workspace</a:t>
            </a:r>
          </a:p>
          <a:p>
            <a:pPr lvl="0" indent="0">
              <a:buNone/>
            </a:pPr>
            <a:r>
              <a:rPr i="1">
                <a:solidFill>
                  <a:srgbClr val="60A0B0"/>
                </a:solidFill>
                <a:latin typeface="Courier"/>
              </a:rPr>
              <a:t># ai-assisted-output.instructions.md</a:t>
            </a: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a:t>
            </a:r>
            <a:br/>
            <a:r>
              <a:rPr i="1">
                <a:solidFill>
                  <a:srgbClr val="60A0B0"/>
                </a:solidFill>
                <a:latin typeface="Courier"/>
              </a:rPr>
              <a:t># ✅ Applies everywhere - fundamental provenance requirements</a:t>
            </a:r>
            <a:br/>
            <a:br/>
            <a:r>
              <a:rPr i="1">
                <a:solidFill>
                  <a:srgbClr val="60A0B0"/>
                </a:solidFill>
                <a:latin typeface="Courier"/>
              </a:rPr>
              <a:t># vertical-slice-implementation.instructions.md</a:t>
            </a: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"**/*.{cs,ts,js,py,java,go,rb}"</a:t>
            </a:r>
            <a:br/>
            <a:r>
              <a:rPr i="1">
                <a:solidFill>
                  <a:srgbClr val="60A0B0"/>
                </a:solidFill>
                <a:latin typeface="Courier"/>
              </a:rPr>
              <a:t># ✅ Code files only - architectural guidance</a:t>
            </a:r>
            <a:br/>
            <a:br/>
            <a:r>
              <a:rPr i="1">
                <a:solidFill>
                  <a:srgbClr val="60A0B0"/>
                </a:solidFill>
                <a:latin typeface="Courier"/>
              </a:rPr>
              <a:t># marp-slides.instructions.md</a:t>
            </a: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"Slides/individual-slides/**"</a:t>
            </a:r>
            <a:br/>
            <a:r>
              <a:rPr i="1">
                <a:solidFill>
                  <a:srgbClr val="60A0B0"/>
                </a:solidFill>
                <a:latin typeface="Courier"/>
              </a:rPr>
              <a:t># ✅ Specific directory - presentation formatting</a:t>
            </a:r>
            <a:br/>
            <a:br/>
            <a:r>
              <a:rPr i="1">
                <a:solidFill>
                  <a:srgbClr val="60A0B0"/>
                </a:solidFill>
                <a:latin typeface="Courier"/>
              </a:rPr>
              <a:t># chatmode-file.instructions.md</a:t>
            </a: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"**/*.chatmode.md"</a:t>
            </a:r>
            <a:br/>
            <a:r>
              <a:rPr i="1">
                <a:solidFill>
                  <a:srgbClr val="60A0B0"/>
                </a:solidFill>
                <a:latin typeface="Courier"/>
              </a:rPr>
              <a:t># ✅ Specific file type - chat mode creation rules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Takeaways</a:t>
            </a:r>
          </a:p>
        </p:txBody>
      </p:sp>
      <p:sp>
        <p:nvSpPr>
          <p:cNvPr id="3" name="Content Placeholder 2"/>
          <p:cNvSpPr>
            <a:spLocks noGrp="1"/>
          </p:cNvSpPr>
          <p:nvPr>
            <p:ph idx="1"/>
          </p:nvPr>
        </p:nvSpPr>
        <p:spPr/>
        <p:txBody>
          <a:bodyPr/>
          <a:lstStyle/>
          <a:p>
            <a:pPr lvl="0" indent="-342900" marL="342900">
              <a:buAutoNum type="arabicPeriod"/>
            </a:pPr>
            <a:r>
              <a:rPr b="1"/>
              <a:t>applyTo field controls automatic inclusion</a:t>
            </a:r>
            <a:r>
              <a:rPr/>
              <a:t> via glob patterns</a:t>
            </a:r>
          </a:p>
          <a:p>
            <a:pPr lvl="0" indent="-342900" marL="342900">
              <a:buAutoNum type="arabicPeriod"/>
            </a:pPr>
            <a:r>
              <a:rPr b="1"/>
              <a:t>Prompt files reference but don’t control</a:t>
            </a:r>
            <a:r>
              <a:rPr/>
              <a:t> instruction selection</a:t>
            </a:r>
          </a:p>
          <a:p>
            <a:pPr lvl="0" indent="-342900" marL="342900">
              <a:buAutoNum type="arabicPeriod"/>
            </a:pPr>
            <a:r>
              <a:rPr b="1"/>
              <a:t>Chat modes add personas</a:t>
            </a:r>
            <a:r>
              <a:rPr/>
              <a:t>, not pattern overrides</a:t>
            </a:r>
          </a:p>
          <a:p>
            <a:pPr lvl="0" indent="-342900" marL="342900">
              <a:buAutoNum type="arabicPeriod"/>
            </a:pPr>
            <a:r>
              <a:rPr b="1"/>
              <a:t>Hierarchy determines context</a:t>
            </a:r>
            <a:r>
              <a:rPr/>
              <a:t>: File → Instructions → Persona → Task → Manual</a:t>
            </a:r>
          </a:p>
          <a:p>
            <a:pPr lvl="0" indent="-342900" marL="342900">
              <a:buAutoNum type="arabicPeriod"/>
            </a:pPr>
            <a:r>
              <a:rPr b="1"/>
              <a:t>Be intentional with patterns</a:t>
            </a:r>
            <a:r>
              <a:rPr/>
              <a:t> to optimize context and token usage</a:t>
            </a:r>
          </a:p>
          <a:p>
            <a:pPr lvl="0" indent="0" marL="0">
              <a:buNone/>
            </a:pPr>
            <a:r>
              <a:rPr b="1"/>
              <a:t>Remember</a:t>
            </a:r>
            <a:r>
              <a:rPr/>
              <a:t>: Specificity is your friend - match patterns to actual use cases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&amp; Discussion</a:t>
            </a:r>
          </a:p>
        </p:txBody>
      </p:sp>
      <p:sp>
        <p:nvSpPr>
          <p:cNvPr id="3" name="Content Placeholder 2"/>
          <p:cNvSpPr>
            <a:spLocks noGrp="1"/>
          </p:cNvSpPr>
          <p:nvPr>
            <p:ph idx="1"/>
          </p:nvPr>
        </p:nvSpPr>
        <p:spPr/>
        <p:txBody>
          <a:bodyPr/>
          <a:lstStyle/>
          <a:p>
            <a:pPr lvl="0" indent="0" marL="0">
              <a:buNone/>
            </a:pPr>
            <a:r>
              <a:rPr b="1"/>
              <a:t>Common Questions</a:t>
            </a:r>
            <a:r>
              <a:rPr/>
              <a:t>:</a:t>
            </a:r>
          </a:p>
          <a:p>
            <a:pPr lvl="0"/>
            <a:r>
              <a:rPr/>
              <a:t>How do I see which instructions are active for my current file?</a:t>
            </a:r>
          </a:p>
          <a:p>
            <a:pPr lvl="0"/>
            <a:r>
              <a:rPr/>
              <a:t>Can I temporarily disable an instruction file?</a:t>
            </a:r>
          </a:p>
          <a:p>
            <a:pPr lvl="0"/>
            <a:r>
              <a:rPr/>
              <a:t>What happens when two instruction files conflict?</a:t>
            </a:r>
          </a:p>
          <a:p>
            <a:pPr lvl="0"/>
            <a:r>
              <a:rPr/>
              <a:t>How can I debug unexpected instruction inclusion?</a:t>
            </a:r>
          </a:p>
          <a:p>
            <a:pPr lvl="0" indent="0" marL="0">
              <a:buNone/>
            </a:pPr>
            <a:r>
              <a:rPr b="1"/>
              <a:t>Resources</a:t>
            </a:r>
            <a:r>
              <a:rPr/>
              <a:t>:</a:t>
            </a:r>
          </a:p>
          <a:p>
            <a:pPr lvl="0"/>
            <a:r>
              <a:rPr>
                <a:latin typeface="Courier"/>
              </a:rPr>
              <a:t>.github/instructions/instruction-files.instructions.md</a:t>
            </a:r>
          </a:p>
          <a:p>
            <a:pPr lvl="0"/>
            <a:r>
              <a:rPr>
                <a:latin typeface="Courier"/>
              </a:rPr>
              <a:t>.github/instructions/copilot-instructions.md</a:t>
            </a:r>
          </a:p>
          <a:p>
            <a:pPr lvl="0"/>
            <a:r>
              <a:rPr>
                <a:latin typeface="Courier"/>
              </a:rPr>
              <a:t>.github/instructions/ai-assisted-output.instructions.md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2026-02-12T06:34:12Z</dcterms:created>
  <dcterms:modified xsi:type="dcterms:W3CDTF">2026-02-12T06:34:12Z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_generated">
    <vt:lpwstr>True</vt:lpwstr>
  </property>
  <property fmtid="{D5CDD505-2E9C-101B-9397-08002B2CF9AE}" pid="3" name="ai_log">
    <vt:lpwstr>ai-logs/2026/02/11/copilot-instruction-control-20260211/conversation.md</vt:lpwstr>
  </property>
  <property fmtid="{D5CDD505-2E9C-101B-9397-08002B2CF9AE}" pid="4" name="chat_id">
    <vt:lpwstr>copilot-instruction-control-20260211</vt:lpwstr>
  </property>
  <property fmtid="{D5CDD505-2E9C-101B-9397-08002B2CF9AE}" pid="5" name="ended">
    <vt:lpwstr>2026-02-11T10:15:00Z</vt:lpwstr>
  </property>
  <property fmtid="{D5CDD505-2E9C-101B-9397-08002B2CF9AE}" pid="6" name="marp">
    <vt:lpwstr>True</vt:lpwstr>
  </property>
  <property fmtid="{D5CDD505-2E9C-101B-9397-08002B2CF9AE}" pid="7" name="model">
    <vt:lpwstr>anthropic/claude-3.5-sonnet@2024-10-22</vt:lpwstr>
  </property>
  <property fmtid="{D5CDD505-2E9C-101B-9397-08002B2CF9AE}" pid="8" name="operator">
    <vt:lpwstr>johnmillerATcodemag-com</vt:lpwstr>
  </property>
  <property fmtid="{D5CDD505-2E9C-101B-9397-08002B2CF9AE}" pid="9" name="paginate">
    <vt:lpwstr>True</vt:lpwstr>
  </property>
  <property fmtid="{D5CDD505-2E9C-101B-9397-08002B2CF9AE}" pid="10" name="prompt">
    <vt:lpwstr>Create a Marp deck explaining how GitHub Copilot instruction files are submitted with every prompt, how to control which instruction files get submitted, how prompt files affect which instruction files are submitted, and how chat modes affect which instructions are submitted.</vt:lpwstr>
  </property>
  <property fmtid="{D5CDD505-2E9C-101B-9397-08002B2CF9AE}" pid="11" name="source">
    <vt:lpwstr>johnmillerATcodemag-com</vt:lpwstr>
  </property>
  <property fmtid="{D5CDD505-2E9C-101B-9397-08002B2CF9AE}" pid="12" name="started">
    <vt:lpwstr>2026-02-11T10:00:00Z</vt:lpwstr>
  </property>
  <property fmtid="{D5CDD505-2E9C-101B-9397-08002B2CF9AE}" pid="13" name="task_durations">
    <vt:lpwstr/>
  </property>
  <property fmtid="{D5CDD505-2E9C-101B-9397-08002B2CF9AE}" pid="14" name="theme">
    <vt:lpwstr>default</vt:lpwstr>
  </property>
  <property fmtid="{D5CDD505-2E9C-101B-9397-08002B2CF9AE}" pid="15" name="total_duration">
    <vt:lpwstr>00:15:00</vt:lpwstr>
  </property>
</Properties>
</file>