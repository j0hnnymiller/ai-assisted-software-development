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notesMaster" Target="notesMasters/notesMaster1.xml" /><Relationship Id="rId16" Type="http://schemas.openxmlformats.org/officeDocument/2006/relationships/viewProps" Target="viewProps.xml" /><Relationship Id="rId1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8" Type="http://schemas.openxmlformats.org/officeDocument/2006/relationships/tableStyles" Target="tableStyles.xml" /><Relationship Id="rId1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Introduce this module as a practical demonstration of how AI can accelerate documentation, analysis, and modernization in brownfield systems. Emphasize that documentation is not a side activity — it is a core guardrail for safe AI‑assisted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Explain that AI can maintain documentation continuously, reducing drift between code and docs. This is especially valuable in brownfield systems where documentation is often outdated or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can infer architecture from code structure, configuration files, and naming conventions. These diagrams help teams understand legacy systems quickly and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is one of the most powerful uses of AI in brownfield modernization. It reduces onboarding time and helps engineers understand risky areas before making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can scan large codebases and surface hotspots that deserve attention. This helps teams prioritize modernization work and avoid guesswork.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exercise helps participants build confidence in using AI to document unfamiliar code safely and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These guides reduce onboarding time and ensure consistent workflows across teams. They also help prevent tribal knowledge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Encourage participants to treat diagrams as drafts — AI can generate the structure, but humans refine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helps keep documentation evergreen by updating it alongside code changes. This reduces drift and improves maintainability.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Different models have different strengths. Cross‑validation is a powerful guardrail for correctness, especially in brownfield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exercise reinforces the importance of guardrails and helps participants practice applying them to real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Documentation Generation &amp; Code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Documentation Generation &amp; Code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Automated README and documentation updates</a:t>
            </a:r>
          </a:p>
          <a:p>
            <a:pPr lvl="0"/>
            <a:r>
              <a:rPr/>
              <a:t>Architecture diagram generation</a:t>
            </a:r>
          </a:p>
          <a:p>
            <a:pPr lvl="0"/>
            <a:r>
              <a:rPr/>
              <a:t>Complex code explanation and mapping</a:t>
            </a:r>
          </a:p>
          <a:p>
            <a:pPr lvl="0"/>
            <a:r>
              <a:rPr/>
              <a:t>Identifying technical debt hotspots</a:t>
            </a:r>
          </a:p>
          <a:p>
            <a:pPr lvl="0"/>
            <a:r>
              <a:rPr/>
              <a:t>Exercises for hands‑on practice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Automated README &amp; Documentation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Capabilities</a:t>
            </a:r>
          </a:p>
          <a:p>
            <a:pPr lvl="0"/>
            <a:r>
              <a:rPr/>
              <a:t>Generate or update README files</a:t>
            </a:r>
          </a:p>
          <a:p>
            <a:pPr lvl="0"/>
            <a:r>
              <a:rPr/>
              <a:t>Create module‑level documentation</a:t>
            </a:r>
          </a:p>
          <a:p>
            <a:pPr lvl="0"/>
            <a:r>
              <a:rPr/>
              <a:t>Produce API references and usage examples</a:t>
            </a:r>
          </a:p>
          <a:p>
            <a:pPr lvl="0"/>
            <a:r>
              <a:rPr/>
              <a:t>Keep documentation aligned with code changes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Architecture Diagram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AI can generate</a:t>
            </a:r>
          </a:p>
          <a:p>
            <a:pPr lvl="0"/>
            <a:r>
              <a:rPr/>
              <a:t>High‑level system diagrams</a:t>
            </a:r>
          </a:p>
          <a:p>
            <a:pPr lvl="0"/>
            <a:r>
              <a:rPr/>
              <a:t>Module dependency graphs</a:t>
            </a:r>
          </a:p>
          <a:p>
            <a:pPr lvl="0"/>
            <a:r>
              <a:rPr/>
              <a:t>Data flow diagrams</a:t>
            </a:r>
          </a:p>
          <a:p>
            <a:pPr lvl="0"/>
            <a:r>
              <a:rPr/>
              <a:t>Deployment topologies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Complex Code Explanation &amp;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can help with:</a:t>
            </a:r>
          </a:p>
          <a:p>
            <a:pPr lvl="0"/>
            <a:r>
              <a:rPr/>
              <a:t>Explaining unfamiliar or legacy code</a:t>
            </a:r>
          </a:p>
          <a:p>
            <a:pPr lvl="0"/>
            <a:r>
              <a:rPr/>
              <a:t>Mapping call chains and dependencies</a:t>
            </a:r>
          </a:p>
          <a:p>
            <a:pPr lvl="0"/>
            <a:r>
              <a:rPr/>
              <a:t>Identifying hidden coupling</a:t>
            </a:r>
          </a:p>
          <a:p>
            <a:pPr lvl="0"/>
            <a:r>
              <a:rPr/>
              <a:t>Translating code into human‑readable narratives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Identifying Technical Debt Hotspots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can detect:</a:t>
            </a:r>
          </a:p>
          <a:p>
            <a:pPr lvl="0"/>
            <a:r>
              <a:rPr/>
              <a:t>Outdated patterns</a:t>
            </a:r>
          </a:p>
          <a:p>
            <a:pPr lvl="0"/>
            <a:r>
              <a:rPr/>
              <a:t>Duplicate logic</a:t>
            </a:r>
          </a:p>
          <a:p>
            <a:pPr lvl="0"/>
            <a:r>
              <a:rPr/>
              <a:t>Missing tests</a:t>
            </a:r>
          </a:p>
          <a:p>
            <a:pPr lvl="0"/>
            <a:r>
              <a:rPr/>
              <a:t>High‑complexity functions</a:t>
            </a:r>
          </a:p>
          <a:p>
            <a:pPr lvl="0"/>
            <a:r>
              <a:rPr/>
              <a:t>Security risks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Exercise: Brownfield Code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Duration</a:t>
            </a:r>
          </a:p>
          <a:p>
            <a:pPr lvl="0" indent="0" marL="0">
              <a:buNone/>
            </a:pPr>
            <a:r>
              <a:rPr/>
              <a:t>15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/>
            <a:r>
              <a:rPr/>
              <a:t>Practice generating documentation for legacy code</a:t>
            </a:r>
          </a:p>
          <a:p>
            <a:pPr lvl="0"/>
            <a:r>
              <a:rPr/>
              <a:t>Identify missing or unclear areas</a:t>
            </a:r>
          </a:p>
          <a:p>
            <a:pPr lvl="0"/>
            <a:r>
              <a:rPr/>
              <a:t>Produce high‑signal summaries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Activities</a:t>
            </a:r>
          </a:p>
          <a:p>
            <a:pPr lvl="0" indent="-342900" marL="342900">
              <a:buAutoNum type="arabicPeriod"/>
            </a:pPr>
            <a:r>
              <a:rPr/>
              <a:t>Select a brownfield module or file</a:t>
            </a:r>
          </a:p>
          <a:p>
            <a:pPr lvl="0" indent="-342900" marL="342900">
              <a:buAutoNum type="arabicPeriod"/>
            </a:pPr>
            <a:r>
              <a:rPr/>
              <a:t>Ask AI to generate:</a:t>
            </a:r>
          </a:p>
          <a:p>
            <a:pPr lvl="1"/>
            <a:r>
              <a:rPr/>
              <a:t>A summary</a:t>
            </a:r>
          </a:p>
          <a:p>
            <a:pPr lvl="1"/>
            <a:r>
              <a:rPr/>
              <a:t>Key responsibilities</a:t>
            </a:r>
          </a:p>
          <a:p>
            <a:pPr lvl="1"/>
            <a:r>
              <a:rPr/>
              <a:t>Inputs/outputs</a:t>
            </a:r>
          </a:p>
          <a:p>
            <a:pPr lvl="1"/>
            <a:r>
              <a:rPr/>
              <a:t>Known risks</a:t>
            </a:r>
          </a:p>
          <a:p>
            <a:pPr lvl="0" indent="-342900" marL="342900">
              <a:buAutoNum type="arabicPeriod"/>
            </a:pPr>
            <a:r>
              <a:rPr/>
              <a:t>Add provenance metadata</a:t>
            </a:r>
          </a:p>
          <a:p>
            <a:pPr lvl="0" indent="-342900" marL="342900">
              <a:buAutoNum type="arabicPeriod"/>
            </a:pPr>
            <a:r>
              <a:rPr/>
              <a:t>Review with a partner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Success Criteria</a:t>
            </a:r>
          </a:p>
          <a:p>
            <a:pPr lvl="0"/>
            <a:r>
              <a:rPr/>
              <a:t>Documentation is accurate and concise</a:t>
            </a:r>
          </a:p>
          <a:p>
            <a:pPr lvl="0"/>
            <a:r>
              <a:rPr/>
              <a:t>Risks and gaps are clearly identified</a:t>
            </a:r>
          </a:p>
          <a:p>
            <a:pPr lvl="0"/>
            <a:r>
              <a:rPr/>
              <a:t>Provenance is included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Generate Development &amp; Deployment Guides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can produce:</a:t>
            </a:r>
          </a:p>
          <a:p>
            <a:pPr lvl="0"/>
            <a:r>
              <a:rPr/>
              <a:t>Setup instructions</a:t>
            </a:r>
          </a:p>
          <a:p>
            <a:pPr lvl="0"/>
            <a:r>
              <a:rPr/>
              <a:t>Local development workflows</a:t>
            </a:r>
          </a:p>
          <a:p>
            <a:pPr lvl="0"/>
            <a:r>
              <a:rPr/>
              <a:t>CI/CD pipeline explanations</a:t>
            </a:r>
          </a:p>
          <a:p>
            <a:pPr lvl="0"/>
            <a:r>
              <a:rPr/>
              <a:t>Deployment steps and rollback procedures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Create Architecture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AI‑generated diagrams include:</a:t>
            </a:r>
          </a:p>
          <a:p>
            <a:pPr lvl="0"/>
            <a:r>
              <a:rPr/>
              <a:t>System boundaries</a:t>
            </a:r>
          </a:p>
          <a:p>
            <a:pPr lvl="0"/>
            <a:r>
              <a:rPr/>
              <a:t>Module interactions</a:t>
            </a:r>
          </a:p>
          <a:p>
            <a:pPr lvl="0"/>
            <a:r>
              <a:rPr/>
              <a:t>Data flows</a:t>
            </a:r>
          </a:p>
          <a:p>
            <a:pPr lvl="0"/>
            <a:r>
              <a:rPr/>
              <a:t>Deployment environments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Update Project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AI can update:</a:t>
            </a:r>
          </a:p>
          <a:p>
            <a:pPr lvl="0"/>
            <a:r>
              <a:rPr/>
              <a:t>CHANGELOGs</a:t>
            </a:r>
          </a:p>
          <a:p>
            <a:pPr lvl="0"/>
            <a:r>
              <a:rPr/>
              <a:t>CONTRIBUTING guides</a:t>
            </a:r>
          </a:p>
          <a:p>
            <a:pPr lvl="0"/>
            <a:r>
              <a:rPr/>
              <a:t>API references</a:t>
            </a:r>
          </a:p>
          <a:p>
            <a:pPr lvl="0"/>
            <a:r>
              <a:rPr/>
              <a:t>Module‑level docs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Cross‑Validate With Multiple AI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cross‑validate?</a:t>
            </a:r>
          </a:p>
          <a:p>
            <a:pPr lvl="0"/>
            <a:r>
              <a:rPr/>
              <a:t>Reduce hallucinations</a:t>
            </a:r>
          </a:p>
          <a:p>
            <a:pPr lvl="0"/>
            <a:r>
              <a:rPr/>
              <a:t>Catch inconsistencies</a:t>
            </a:r>
          </a:p>
          <a:p>
            <a:pPr lvl="0"/>
            <a:r>
              <a:rPr/>
              <a:t>Improve accuracy</a:t>
            </a:r>
          </a:p>
          <a:p>
            <a:pPr lvl="0"/>
            <a:r>
              <a:rPr/>
              <a:t>Validate architectural assumptions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Exercise: Identifying Code Outside the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Duration</a:t>
            </a:r>
          </a:p>
          <a:p>
            <a:pPr lvl="0" indent="0" marL="0">
              <a:buNone/>
            </a:pPr>
            <a:r>
              <a:rPr/>
              <a:t>10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/>
            <a:r>
              <a:rPr/>
              <a:t>Detect code that violates architectural rules</a:t>
            </a:r>
          </a:p>
          <a:p>
            <a:pPr lvl="0"/>
            <a:r>
              <a:rPr/>
              <a:t>Identify patterns that contradict instruction files</a:t>
            </a:r>
          </a:p>
          <a:p>
            <a:pPr lvl="0"/>
            <a:r>
              <a:rPr/>
              <a:t>Practice safe analysis workflows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Activities</a:t>
            </a:r>
          </a:p>
          <a:p>
            <a:pPr lvl="0" indent="-342900" marL="342900">
              <a:buAutoNum type="arabicPeriod"/>
            </a:pPr>
            <a:r>
              <a:rPr/>
              <a:t>Review a provided code sample</a:t>
            </a:r>
          </a:p>
          <a:p>
            <a:pPr lvl="0" indent="-342900" marL="342900">
              <a:buAutoNum type="arabicPeriod"/>
            </a:pPr>
            <a:r>
              <a:rPr/>
              <a:t>Compare it against the project’s instruction file</a:t>
            </a:r>
          </a:p>
          <a:p>
            <a:pPr lvl="0" indent="-342900" marL="342900">
              <a:buAutoNum type="arabicPeriod"/>
            </a:pPr>
            <a:r>
              <a:rPr/>
              <a:t>Identify violations or risky patterns</a:t>
            </a:r>
          </a:p>
          <a:p>
            <a:pPr lvl="0" indent="-342900" marL="342900">
              <a:buAutoNum type="arabicPeriod"/>
            </a:pPr>
            <a:r>
              <a:rPr/>
              <a:t>Propose safe remediation steps</a:t>
            </a:r>
          </a:p>
          <a:p>
            <a:pPr lvl="0" indent="-342900" marL="342900">
              <a:buAutoNum type="arabicPeriod"/>
            </a:pPr>
            <a:r>
              <a:rPr/>
              <a:t>Document findings with provenance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Success Criteria</a:t>
            </a:r>
          </a:p>
          <a:p>
            <a:pPr lvl="0"/>
            <a:r>
              <a:rPr/>
              <a:t>Violations are correctly identified</a:t>
            </a:r>
          </a:p>
          <a:p>
            <a:pPr lvl="0"/>
            <a:r>
              <a:rPr/>
              <a:t>Remediation steps are safe and incremental</a:t>
            </a:r>
          </a:p>
          <a:p>
            <a:pPr lvl="0"/>
            <a:r>
              <a:rPr/>
              <a:t>Documentation includes provenance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Documentation Generation &amp; Code Analysis</dc:title>
  <dc:creator/>
  <cp:keywords/>
  <dcterms:created xsi:type="dcterms:W3CDTF">2026-02-04T20:23:41Z</dcterms:created>
  <dcterms:modified xsi:type="dcterms:W3CDTF">2026-02-04T20:23:41Z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default</vt:lpwstr>
  </property>
</Properties>
</file>