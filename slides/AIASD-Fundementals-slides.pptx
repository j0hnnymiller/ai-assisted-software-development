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4"/>
  </p:notesMasterIdLst>
  <p:sldIdLst>
    <p:sldId id="256" r:id="rId2"/>
    <p:sldId id="257" r:id="rId3"/>
    <p:sldId id="2141411852" r:id="rId4"/>
    <p:sldId id="258" r:id="rId5"/>
    <p:sldId id="358" r:id="rId6"/>
    <p:sldId id="260" r:id="rId7"/>
    <p:sldId id="357" r:id="rId8"/>
    <p:sldId id="360" r:id="rId9"/>
    <p:sldId id="261" r:id="rId10"/>
    <p:sldId id="363" r:id="rId11"/>
    <p:sldId id="259" r:id="rId12"/>
    <p:sldId id="364" r:id="rId13"/>
    <p:sldId id="365" r:id="rId14"/>
    <p:sldId id="326" r:id="rId15"/>
    <p:sldId id="327" r:id="rId16"/>
    <p:sldId id="356" r:id="rId17"/>
    <p:sldId id="262" r:id="rId18"/>
    <p:sldId id="263" r:id="rId19"/>
    <p:sldId id="264" r:id="rId20"/>
    <p:sldId id="265" r:id="rId21"/>
    <p:sldId id="267" r:id="rId22"/>
    <p:sldId id="268" r:id="rId23"/>
    <p:sldId id="355" r:id="rId24"/>
    <p:sldId id="269" r:id="rId25"/>
    <p:sldId id="294" r:id="rId26"/>
    <p:sldId id="295" r:id="rId27"/>
    <p:sldId id="296" r:id="rId28"/>
    <p:sldId id="297" r:id="rId29"/>
    <p:sldId id="298" r:id="rId30"/>
    <p:sldId id="299" r:id="rId31"/>
    <p:sldId id="300" r:id="rId32"/>
    <p:sldId id="354" r:id="rId33"/>
    <p:sldId id="270" r:id="rId34"/>
    <p:sldId id="271" r:id="rId35"/>
    <p:sldId id="272" r:id="rId36"/>
    <p:sldId id="273" r:id="rId37"/>
    <p:sldId id="274" r:id="rId38"/>
    <p:sldId id="275" r:id="rId39"/>
    <p:sldId id="276" r:id="rId40"/>
    <p:sldId id="277" r:id="rId41"/>
    <p:sldId id="278" r:id="rId42"/>
    <p:sldId id="279" r:id="rId43"/>
    <p:sldId id="353" r:id="rId44"/>
    <p:sldId id="282" r:id="rId45"/>
    <p:sldId id="289" r:id="rId46"/>
    <p:sldId id="361" r:id="rId47"/>
    <p:sldId id="290" r:id="rId48"/>
    <p:sldId id="324" r:id="rId49"/>
    <p:sldId id="284" r:id="rId50"/>
    <p:sldId id="291" r:id="rId51"/>
    <p:sldId id="341" r:id="rId52"/>
    <p:sldId id="352" r:id="rId53"/>
    <p:sldId id="302" r:id="rId54"/>
    <p:sldId id="305" r:id="rId55"/>
    <p:sldId id="306" r:id="rId56"/>
    <p:sldId id="293" r:id="rId57"/>
    <p:sldId id="307" r:id="rId58"/>
    <p:sldId id="308" r:id="rId59"/>
    <p:sldId id="309" r:id="rId60"/>
    <p:sldId id="310" r:id="rId61"/>
    <p:sldId id="311" r:id="rId62"/>
    <p:sldId id="312" r:id="rId63"/>
    <p:sldId id="313" r:id="rId64"/>
    <p:sldId id="314" r:id="rId65"/>
    <p:sldId id="315" r:id="rId66"/>
    <p:sldId id="317" r:id="rId67"/>
    <p:sldId id="325" r:id="rId68"/>
    <p:sldId id="349" r:id="rId69"/>
    <p:sldId id="266" r:id="rId70"/>
    <p:sldId id="328" r:id="rId71"/>
    <p:sldId id="332" r:id="rId72"/>
    <p:sldId id="318" r:id="rId73"/>
    <p:sldId id="333" r:id="rId74"/>
    <p:sldId id="334" r:id="rId75"/>
    <p:sldId id="335" r:id="rId76"/>
    <p:sldId id="336" r:id="rId77"/>
    <p:sldId id="337" r:id="rId78"/>
    <p:sldId id="338" r:id="rId79"/>
    <p:sldId id="339" r:id="rId80"/>
    <p:sldId id="340" r:id="rId81"/>
    <p:sldId id="319" r:id="rId82"/>
    <p:sldId id="320" r:id="rId83"/>
    <p:sldId id="321" r:id="rId84"/>
    <p:sldId id="329" r:id="rId85"/>
    <p:sldId id="322" r:id="rId86"/>
    <p:sldId id="330" r:id="rId87"/>
    <p:sldId id="331" r:id="rId88"/>
    <p:sldId id="323" r:id="rId89"/>
    <p:sldId id="359" r:id="rId90"/>
    <p:sldId id="342" r:id="rId91"/>
    <p:sldId id="351" r:id="rId92"/>
    <p:sldId id="292" r:id="rId9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2141411852"/>
            <p14:sldId id="258"/>
            <p14:sldId id="358"/>
            <p14:sldId id="260"/>
          </p14:sldIdLst>
        </p14:section>
        <p14:section name="Module 1 - AIASD" id="{AFD3C0C2-169C-4657-88A9-3F3080FB0A33}">
          <p14:sldIdLst>
            <p14:sldId id="357"/>
            <p14:sldId id="360"/>
            <p14:sldId id="261"/>
            <p14:sldId id="363"/>
            <p14:sldId id="259"/>
            <p14:sldId id="364"/>
            <p14:sldId id="365"/>
            <p14:sldId id="326"/>
            <p14:sldId id="327"/>
            <p14:sldId id="356"/>
            <p14:sldId id="262"/>
            <p14:sldId id="263"/>
            <p14:sldId id="264"/>
            <p14:sldId id="265"/>
            <p14:sldId id="267"/>
            <p14:sldId id="268"/>
            <p14:sldId id="355"/>
            <p14:sldId id="269"/>
            <p14:sldId id="294"/>
            <p14:sldId id="295"/>
            <p14:sldId id="296"/>
            <p14:sldId id="297"/>
            <p14:sldId id="298"/>
            <p14:sldId id="299"/>
            <p14:sldId id="300"/>
          </p14:sldIdLst>
        </p14:section>
        <p14:section name="Module 2 - Copilot for Teams" id="{DE5C73BD-6438-4DCA-9BC7-DA208EAC31FF}">
          <p14:sldIdLst>
            <p14:sldId id="354"/>
            <p14:sldId id="270"/>
            <p14:sldId id="271"/>
            <p14:sldId id="272"/>
            <p14:sldId id="273"/>
            <p14:sldId id="274"/>
            <p14:sldId id="275"/>
            <p14:sldId id="276"/>
            <p14:sldId id="277"/>
            <p14:sldId id="278"/>
            <p14:sldId id="279"/>
          </p14:sldIdLst>
        </p14:section>
        <p14:section name="Module 3 - Intro to Copilot" id="{D4B84A6B-4CCF-4925-9268-AC537DADB594}">
          <p14:sldIdLst>
            <p14:sldId id="353"/>
            <p14:sldId id="282"/>
            <p14:sldId id="289"/>
            <p14:sldId id="361"/>
            <p14:sldId id="290"/>
            <p14:sldId id="324"/>
            <p14:sldId id="284"/>
            <p14:sldId id="291"/>
            <p14:sldId id="341"/>
          </p14:sldIdLst>
        </p14:section>
        <p14:section name="Module 4 - Mobbing" id="{E1B29615-8B71-43FF-BFE5-7C3104E0A3FC}">
          <p14:sldIdLst>
            <p14:sldId id="352"/>
            <p14:sldId id="302"/>
            <p14:sldId id="305"/>
            <p14:sldId id="306"/>
            <p14:sldId id="293"/>
            <p14:sldId id="307"/>
            <p14:sldId id="308"/>
            <p14:sldId id="309"/>
            <p14:sldId id="310"/>
            <p14:sldId id="311"/>
            <p14:sldId id="312"/>
            <p14:sldId id="313"/>
            <p14:sldId id="314"/>
            <p14:sldId id="315"/>
            <p14:sldId id="317"/>
            <p14:sldId id="325"/>
          </p14:sldIdLst>
        </p14:section>
        <p14:section name="Module 5 - Vibbing" id="{00BC05B0-1DB3-4C65-B36D-19AAF79B9D97}">
          <p14:sldIdLst>
            <p14:sldId id="349"/>
            <p14:sldId id="266"/>
            <p14:sldId id="328"/>
            <p14:sldId id="332"/>
            <p14:sldId id="318"/>
            <p14:sldId id="333"/>
            <p14:sldId id="334"/>
            <p14:sldId id="335"/>
            <p14:sldId id="336"/>
            <p14:sldId id="337"/>
            <p14:sldId id="338"/>
            <p14:sldId id="339"/>
            <p14:sldId id="340"/>
            <p14:sldId id="319"/>
            <p14:sldId id="320"/>
            <p14:sldId id="321"/>
            <p14:sldId id="329"/>
            <p14:sldId id="322"/>
            <p14:sldId id="330"/>
            <p14:sldId id="331"/>
            <p14:sldId id="323"/>
            <p14:sldId id="359"/>
            <p14:sldId id="342"/>
            <p14:sldId id="351"/>
            <p14:sldId id="29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B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8" autoAdjust="0"/>
    <p:restoredTop sz="69468" autoAdjust="0"/>
  </p:normalViewPr>
  <p:slideViewPr>
    <p:cSldViewPr snapToGrid="0" snapToObjects="1">
      <p:cViewPr varScale="1">
        <p:scale>
          <a:sx n="160" d="100"/>
          <a:sy n="160" d="100"/>
        </p:scale>
        <p:origin x="860" y="96"/>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hyperlink" Target="https://ai-resources.codemag.com/" TargetMode="External"/><Relationship Id="rId1" Type="http://schemas.openxmlformats.org/officeDocument/2006/relationships/hyperlink" Target="https://codemag.com/blog/AIPractitioner" TargetMode="Externa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hyperlink" Target="https://ai-resources.codemag.com/" TargetMode="External"/><Relationship Id="rId3" Type="http://schemas.openxmlformats.org/officeDocument/2006/relationships/image" Target="../media/image6.png"/><Relationship Id="rId7" Type="http://schemas.openxmlformats.org/officeDocument/2006/relationships/hyperlink" Target="https://codemag.com/blog/AIPractitioner" TargetMode="External"/><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dirty="0"/>
            <a:t>Played roles of developer, architect, </a:t>
          </a:r>
          <a:r>
            <a:rPr lang="en-US" dirty="0" err="1"/>
            <a:t>devops</a:t>
          </a:r>
          <a:r>
            <a:rPr lang="en-US" dirty="0"/>
            <a:t>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dirty="0"/>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dirty="0"/>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dirty="0"/>
            <a:t>Email: john.miller@codemag.com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dirty="0"/>
            <a:t>Blog: </a:t>
          </a:r>
          <a:r>
            <a:rPr lang="en-US" dirty="0">
              <a:hlinkClick xmlns:r="http://schemas.openxmlformats.org/officeDocument/2006/relationships" r:id="rId1"/>
            </a:rPr>
            <a:t>https://codemag.com/blog/AIPractitioner</a:t>
          </a:r>
          <a:endParaRPr lang="en-US" dirty="0"/>
        </a:p>
        <a:p>
          <a:r>
            <a:rPr lang="en-US" dirty="0">
              <a:hlinkClick xmlns:r="http://schemas.openxmlformats.org/officeDocument/2006/relationships" r:id="rId2"/>
            </a:rPr>
            <a:t>AI Practitioner Resources</a:t>
          </a:r>
          <a:endParaRPr lang="en-US" dirty="0"/>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A70087-EC59-4C5B-A39F-FFC6E0A5E890}" type="doc">
      <dgm:prSet loTypeId="urn:microsoft.com/office/officeart/2018/5/layout/CenteredIconLabelDescriptionList" loCatId="icon" qsTypeId="urn:microsoft.com/office/officeart/2005/8/quickstyle/simple1" qsCatId="simple" csTypeId="urn:microsoft.com/office/officeart/2005/8/colors/accent3_2" csCatId="accent3" phldr="1"/>
      <dgm:spPr/>
      <dgm:t>
        <a:bodyPr/>
        <a:lstStyle/>
        <a:p>
          <a:endParaRPr lang="en-US"/>
        </a:p>
      </dgm:t>
    </dgm:pt>
    <dgm:pt modelId="{6E4A2204-3B46-4658-A181-9F47CAAB8D6E}">
      <dgm:prSet/>
      <dgm:spPr/>
      <dgm:t>
        <a:bodyPr/>
        <a:lstStyle/>
        <a:p>
          <a:pPr>
            <a:lnSpc>
              <a:spcPct val="100000"/>
            </a:lnSpc>
            <a:defRPr b="1"/>
          </a:pPr>
          <a:r>
            <a:rPr lang="en-US"/>
            <a:t>Welcome</a:t>
          </a:r>
        </a:p>
      </dgm:t>
    </dgm:pt>
    <dgm:pt modelId="{2BE53A25-7B66-4318-81C9-C3D6364744DD}" type="parTrans" cxnId="{0071819A-A233-4409-A667-F0ABA6271154}">
      <dgm:prSet/>
      <dgm:spPr/>
      <dgm:t>
        <a:bodyPr/>
        <a:lstStyle/>
        <a:p>
          <a:endParaRPr lang="en-US"/>
        </a:p>
      </dgm:t>
    </dgm:pt>
    <dgm:pt modelId="{DEBE7214-9E77-45B7-9462-E042C27D5D01}" type="sibTrans" cxnId="{0071819A-A233-4409-A667-F0ABA6271154}">
      <dgm:prSet/>
      <dgm:spPr/>
      <dgm:t>
        <a:bodyPr/>
        <a:lstStyle/>
        <a:p>
          <a:endParaRPr lang="en-US"/>
        </a:p>
      </dgm:t>
    </dgm:pt>
    <dgm:pt modelId="{47B09624-B7DD-4BA5-B896-70212879C06A}">
      <dgm:prSet/>
      <dgm:spPr/>
      <dgm:t>
        <a:bodyPr/>
        <a:lstStyle/>
        <a:p>
          <a:pPr>
            <a:lnSpc>
              <a:spcPct val="100000"/>
            </a:lnSpc>
            <a:defRPr b="1"/>
          </a:pPr>
          <a:r>
            <a:rPr lang="en-US"/>
            <a:t>Introductions</a:t>
          </a:r>
        </a:p>
      </dgm:t>
    </dgm:pt>
    <dgm:pt modelId="{FD531F31-C182-4B43-954E-CFDF59E3CEEC}" type="parTrans" cxnId="{7D72269F-88C2-4F48-89CB-7D3DBC7032DA}">
      <dgm:prSet/>
      <dgm:spPr/>
      <dgm:t>
        <a:bodyPr/>
        <a:lstStyle/>
        <a:p>
          <a:endParaRPr lang="en-US"/>
        </a:p>
      </dgm:t>
    </dgm:pt>
    <dgm:pt modelId="{9851AB21-6B01-42F5-BB72-00AE26BA315D}" type="sibTrans" cxnId="{7D72269F-88C2-4F48-89CB-7D3DBC7032DA}">
      <dgm:prSet/>
      <dgm:spPr/>
      <dgm:t>
        <a:bodyPr/>
        <a:lstStyle/>
        <a:p>
          <a:endParaRPr lang="en-US"/>
        </a:p>
      </dgm:t>
    </dgm:pt>
    <dgm:pt modelId="{400CDCC8-8E30-4E0D-9572-1F68D35AE369}">
      <dgm:prSet/>
      <dgm:spPr/>
      <dgm:t>
        <a:bodyPr/>
        <a:lstStyle/>
        <a:p>
          <a:pPr>
            <a:lnSpc>
              <a:spcPct val="100000"/>
            </a:lnSpc>
          </a:pPr>
          <a:r>
            <a:rPr lang="en-US" dirty="0"/>
            <a:t>Who you are</a:t>
          </a:r>
        </a:p>
      </dgm:t>
    </dgm:pt>
    <dgm:pt modelId="{AC4DE159-7D39-4DA3-82F3-F84F78982036}" type="parTrans" cxnId="{27C9DF73-10AE-40B1-B483-8017D20052DF}">
      <dgm:prSet/>
      <dgm:spPr/>
      <dgm:t>
        <a:bodyPr/>
        <a:lstStyle/>
        <a:p>
          <a:endParaRPr lang="en-US"/>
        </a:p>
      </dgm:t>
    </dgm:pt>
    <dgm:pt modelId="{A69B6DA9-4C68-4372-BC87-C54618F3BAFE}" type="sibTrans" cxnId="{27C9DF73-10AE-40B1-B483-8017D20052DF}">
      <dgm:prSet/>
      <dgm:spPr/>
      <dgm:t>
        <a:bodyPr/>
        <a:lstStyle/>
        <a:p>
          <a:endParaRPr lang="en-US"/>
        </a:p>
      </dgm:t>
    </dgm:pt>
    <dgm:pt modelId="{E77B3523-3C4E-4ECC-850D-D561B6160117}">
      <dgm:prSet/>
      <dgm:spPr/>
      <dgm:t>
        <a:bodyPr/>
        <a:lstStyle/>
        <a:p>
          <a:pPr>
            <a:lnSpc>
              <a:spcPct val="100000"/>
            </a:lnSpc>
          </a:pPr>
          <a:r>
            <a:rPr lang="en-US" dirty="0"/>
            <a:t>What you do</a:t>
          </a:r>
        </a:p>
      </dgm:t>
    </dgm:pt>
    <dgm:pt modelId="{B351A241-2288-4369-B76A-CDDFAC3ADBE8}" type="parTrans" cxnId="{89F57380-B4E0-4ABC-B081-8B1F8BE5B2FD}">
      <dgm:prSet/>
      <dgm:spPr/>
      <dgm:t>
        <a:bodyPr/>
        <a:lstStyle/>
        <a:p>
          <a:endParaRPr lang="en-US"/>
        </a:p>
      </dgm:t>
    </dgm:pt>
    <dgm:pt modelId="{E48D23FC-E3FB-4406-AD9A-25CBA0115A12}" type="sibTrans" cxnId="{89F57380-B4E0-4ABC-B081-8B1F8BE5B2FD}">
      <dgm:prSet/>
      <dgm:spPr/>
      <dgm:t>
        <a:bodyPr/>
        <a:lstStyle/>
        <a:p>
          <a:endParaRPr lang="en-US"/>
        </a:p>
      </dgm:t>
    </dgm:pt>
    <dgm:pt modelId="{E438FF6A-AA0F-4AF6-8F5E-91811E322EC0}">
      <dgm:prSet/>
      <dgm:spPr/>
      <dgm:t>
        <a:bodyPr/>
        <a:lstStyle/>
        <a:p>
          <a:pPr>
            <a:lnSpc>
              <a:spcPct val="100000"/>
            </a:lnSpc>
          </a:pPr>
          <a:r>
            <a:rPr lang="en-US"/>
            <a:t>What you’ve done with AI tools</a:t>
          </a:r>
        </a:p>
      </dgm:t>
    </dgm:pt>
    <dgm:pt modelId="{4CF92500-4DEA-4E05-B406-609F7A8F1F4E}" type="parTrans" cxnId="{5148A0EB-8E94-42FE-9C27-53DC70EA789B}">
      <dgm:prSet/>
      <dgm:spPr/>
      <dgm:t>
        <a:bodyPr/>
        <a:lstStyle/>
        <a:p>
          <a:endParaRPr lang="en-US"/>
        </a:p>
      </dgm:t>
    </dgm:pt>
    <dgm:pt modelId="{C774A871-ADA8-4F02-9438-99A28AE35C1A}" type="sibTrans" cxnId="{5148A0EB-8E94-42FE-9C27-53DC70EA789B}">
      <dgm:prSet/>
      <dgm:spPr/>
      <dgm:t>
        <a:bodyPr/>
        <a:lstStyle/>
        <a:p>
          <a:endParaRPr lang="en-US"/>
        </a:p>
      </dgm:t>
    </dgm:pt>
    <dgm:pt modelId="{0DEDF133-833B-46EA-8E2C-78F8261F2447}">
      <dgm:prSet/>
      <dgm:spPr/>
      <dgm:t>
        <a:bodyPr/>
        <a:lstStyle/>
        <a:p>
          <a:pPr>
            <a:lnSpc>
              <a:spcPct val="100000"/>
            </a:lnSpc>
          </a:pPr>
          <a:r>
            <a:rPr lang="en-US"/>
            <a:t>What you want to learn</a:t>
          </a:r>
        </a:p>
      </dgm:t>
    </dgm:pt>
    <dgm:pt modelId="{BCF81F32-86B3-4258-B04C-5CFEDF195FF7}" type="parTrans" cxnId="{DE73BCC8-0E10-42BD-844F-DB85AE075391}">
      <dgm:prSet/>
      <dgm:spPr/>
      <dgm:t>
        <a:bodyPr/>
        <a:lstStyle/>
        <a:p>
          <a:endParaRPr lang="en-US"/>
        </a:p>
      </dgm:t>
    </dgm:pt>
    <dgm:pt modelId="{0FA3AD26-7678-4B94-906E-53A906172AD7}" type="sibTrans" cxnId="{DE73BCC8-0E10-42BD-844F-DB85AE075391}">
      <dgm:prSet/>
      <dgm:spPr/>
      <dgm:t>
        <a:bodyPr/>
        <a:lstStyle/>
        <a:p>
          <a:endParaRPr lang="en-US"/>
        </a:p>
      </dgm:t>
    </dgm:pt>
    <dgm:pt modelId="{8032F83A-8B3F-4BD4-AA62-ECE89DD1D49C}">
      <dgm:prSet/>
      <dgm:spPr/>
      <dgm:t>
        <a:bodyPr/>
        <a:lstStyle/>
        <a:p>
          <a:pPr>
            <a:lnSpc>
              <a:spcPct val="100000"/>
            </a:lnSpc>
          </a:pPr>
          <a:r>
            <a:rPr lang="en-US"/>
            <a:t>Who do you work for</a:t>
          </a:r>
          <a:endParaRPr lang="en-US" dirty="0"/>
        </a:p>
      </dgm:t>
    </dgm:pt>
    <dgm:pt modelId="{D4C8F710-FBCF-4ACB-B3F3-79000A3BE89C}" type="parTrans" cxnId="{D1ADE7BF-8C82-4EBC-92FC-4C0E01CE5873}">
      <dgm:prSet/>
      <dgm:spPr/>
      <dgm:t>
        <a:bodyPr/>
        <a:lstStyle/>
        <a:p>
          <a:endParaRPr lang="en-US"/>
        </a:p>
      </dgm:t>
    </dgm:pt>
    <dgm:pt modelId="{C8CB29A2-6331-4468-8EE2-1F5E3FEB89EE}" type="sibTrans" cxnId="{D1ADE7BF-8C82-4EBC-92FC-4C0E01CE5873}">
      <dgm:prSet/>
      <dgm:spPr/>
      <dgm:t>
        <a:bodyPr/>
        <a:lstStyle/>
        <a:p>
          <a:endParaRPr lang="en-US"/>
        </a:p>
      </dgm:t>
    </dgm:pt>
    <dgm:pt modelId="{80CA04FA-D1FB-4BB1-9254-EAABCF565ABB}" type="pres">
      <dgm:prSet presAssocID="{E2A70087-EC59-4C5B-A39F-FFC6E0A5E890}" presName="root" presStyleCnt="0">
        <dgm:presLayoutVars>
          <dgm:dir/>
          <dgm:resizeHandles val="exact"/>
        </dgm:presLayoutVars>
      </dgm:prSet>
      <dgm:spPr/>
    </dgm:pt>
    <dgm:pt modelId="{288B0A5C-CD14-41BB-87CC-5A6196376AF9}" type="pres">
      <dgm:prSet presAssocID="{6E4A2204-3B46-4658-A181-9F47CAAB8D6E}" presName="compNode" presStyleCnt="0"/>
      <dgm:spPr/>
    </dgm:pt>
    <dgm:pt modelId="{6F55575F-F97F-43EF-82D6-A082F92FA2A1}" type="pres">
      <dgm:prSet presAssocID="{6E4A2204-3B46-4658-A181-9F47CAAB8D6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lloons"/>
        </a:ext>
      </dgm:extLst>
    </dgm:pt>
    <dgm:pt modelId="{0C9FD2FA-5632-4528-AAD8-496B2088E401}" type="pres">
      <dgm:prSet presAssocID="{6E4A2204-3B46-4658-A181-9F47CAAB8D6E}" presName="iconSpace" presStyleCnt="0"/>
      <dgm:spPr/>
    </dgm:pt>
    <dgm:pt modelId="{EAFEB3A3-A119-4B1F-9F42-1F09668E74CC}" type="pres">
      <dgm:prSet presAssocID="{6E4A2204-3B46-4658-A181-9F47CAAB8D6E}" presName="parTx" presStyleLbl="revTx" presStyleIdx="0" presStyleCnt="4">
        <dgm:presLayoutVars>
          <dgm:chMax val="0"/>
          <dgm:chPref val="0"/>
        </dgm:presLayoutVars>
      </dgm:prSet>
      <dgm:spPr/>
    </dgm:pt>
    <dgm:pt modelId="{3C40442F-33DA-4163-94EB-ED6148EF7FCE}" type="pres">
      <dgm:prSet presAssocID="{6E4A2204-3B46-4658-A181-9F47CAAB8D6E}" presName="txSpace" presStyleCnt="0"/>
      <dgm:spPr/>
    </dgm:pt>
    <dgm:pt modelId="{916E80E7-A09E-4743-911E-10EF9EBDC1F9}" type="pres">
      <dgm:prSet presAssocID="{6E4A2204-3B46-4658-A181-9F47CAAB8D6E}" presName="desTx" presStyleLbl="revTx" presStyleIdx="1" presStyleCnt="4">
        <dgm:presLayoutVars/>
      </dgm:prSet>
      <dgm:spPr/>
    </dgm:pt>
    <dgm:pt modelId="{8D41F983-9306-4FA7-9C46-36469E7EE6CE}" type="pres">
      <dgm:prSet presAssocID="{DEBE7214-9E77-45B7-9462-E042C27D5D01}" presName="sibTrans" presStyleCnt="0"/>
      <dgm:spPr/>
    </dgm:pt>
    <dgm:pt modelId="{709B8E64-FB82-4213-BADF-89C94AA863B3}" type="pres">
      <dgm:prSet presAssocID="{47B09624-B7DD-4BA5-B896-70212879C06A}" presName="compNode" presStyleCnt="0"/>
      <dgm:spPr/>
    </dgm:pt>
    <dgm:pt modelId="{314EC855-BFCB-45B5-A007-B6537E978242}" type="pres">
      <dgm:prSet presAssocID="{47B09624-B7DD-4BA5-B896-70212879C06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4F98EE5-0554-4DB1-973F-D9D989816A9F}" type="pres">
      <dgm:prSet presAssocID="{47B09624-B7DD-4BA5-B896-70212879C06A}" presName="iconSpace" presStyleCnt="0"/>
      <dgm:spPr/>
    </dgm:pt>
    <dgm:pt modelId="{FD470903-F8D7-4267-AC24-4367BDEA66CD}" type="pres">
      <dgm:prSet presAssocID="{47B09624-B7DD-4BA5-B896-70212879C06A}" presName="parTx" presStyleLbl="revTx" presStyleIdx="2" presStyleCnt="4">
        <dgm:presLayoutVars>
          <dgm:chMax val="0"/>
          <dgm:chPref val="0"/>
        </dgm:presLayoutVars>
      </dgm:prSet>
      <dgm:spPr/>
    </dgm:pt>
    <dgm:pt modelId="{8F2E3F7A-15E7-4F70-B58E-0DC9576875A6}" type="pres">
      <dgm:prSet presAssocID="{47B09624-B7DD-4BA5-B896-70212879C06A}" presName="txSpace" presStyleCnt="0"/>
      <dgm:spPr/>
    </dgm:pt>
    <dgm:pt modelId="{0A5A4119-3246-488F-AC0F-CB271B574A42}" type="pres">
      <dgm:prSet presAssocID="{47B09624-B7DD-4BA5-B896-70212879C06A}" presName="desTx" presStyleLbl="revTx" presStyleIdx="3" presStyleCnt="4">
        <dgm:presLayoutVars/>
      </dgm:prSet>
      <dgm:spPr/>
    </dgm:pt>
  </dgm:ptLst>
  <dgm:cxnLst>
    <dgm:cxn modelId="{826C8927-248D-476A-8181-3CF27A81ABC4}" type="presOf" srcId="{E2A70087-EC59-4C5B-A39F-FFC6E0A5E890}" destId="{80CA04FA-D1FB-4BB1-9254-EAABCF565ABB}" srcOrd="0" destOrd="0" presId="urn:microsoft.com/office/officeart/2018/5/layout/CenteredIconLabelDescriptionList"/>
    <dgm:cxn modelId="{F37BD22E-DC1D-4531-9E74-BDB12EC743FC}" type="presOf" srcId="{0DEDF133-833B-46EA-8E2C-78F8261F2447}" destId="{0A5A4119-3246-488F-AC0F-CB271B574A42}" srcOrd="0" destOrd="4" presId="urn:microsoft.com/office/officeart/2018/5/layout/CenteredIconLabelDescriptionList"/>
    <dgm:cxn modelId="{B179D14F-C90B-44C3-B64D-DD14275F6A04}" type="presOf" srcId="{E438FF6A-AA0F-4AF6-8F5E-91811E322EC0}" destId="{0A5A4119-3246-488F-AC0F-CB271B574A42}" srcOrd="0" destOrd="3" presId="urn:microsoft.com/office/officeart/2018/5/layout/CenteredIconLabelDescriptionList"/>
    <dgm:cxn modelId="{BFD50053-7515-427C-ADDB-6FA2CCF3974E}" type="presOf" srcId="{47B09624-B7DD-4BA5-B896-70212879C06A}" destId="{FD470903-F8D7-4267-AC24-4367BDEA66CD}" srcOrd="0" destOrd="0" presId="urn:microsoft.com/office/officeart/2018/5/layout/CenteredIconLabelDescriptionList"/>
    <dgm:cxn modelId="{27C9DF73-10AE-40B1-B483-8017D20052DF}" srcId="{47B09624-B7DD-4BA5-B896-70212879C06A}" destId="{400CDCC8-8E30-4E0D-9572-1F68D35AE369}" srcOrd="0" destOrd="0" parTransId="{AC4DE159-7D39-4DA3-82F3-F84F78982036}" sibTransId="{A69B6DA9-4C68-4372-BC87-C54618F3BAFE}"/>
    <dgm:cxn modelId="{E690B958-A9D6-4CBE-8CEE-DE1B3E9D38EC}" type="presOf" srcId="{E77B3523-3C4E-4ECC-850D-D561B6160117}" destId="{0A5A4119-3246-488F-AC0F-CB271B574A42}" srcOrd="0" destOrd="2" presId="urn:microsoft.com/office/officeart/2018/5/layout/CenteredIconLabelDescriptionList"/>
    <dgm:cxn modelId="{73A8717B-54F3-44D6-9158-88458DB6DB55}" type="presOf" srcId="{8032F83A-8B3F-4BD4-AA62-ECE89DD1D49C}" destId="{0A5A4119-3246-488F-AC0F-CB271B574A42}" srcOrd="0" destOrd="1" presId="urn:microsoft.com/office/officeart/2018/5/layout/CenteredIconLabelDescriptionList"/>
    <dgm:cxn modelId="{89F57380-B4E0-4ABC-B081-8B1F8BE5B2FD}" srcId="{47B09624-B7DD-4BA5-B896-70212879C06A}" destId="{E77B3523-3C4E-4ECC-850D-D561B6160117}" srcOrd="2" destOrd="0" parTransId="{B351A241-2288-4369-B76A-CDDFAC3ADBE8}" sibTransId="{E48D23FC-E3FB-4406-AD9A-25CBA0115A12}"/>
    <dgm:cxn modelId="{9E5A028F-CDCB-4312-B7C7-57AD4F6F72E2}" type="presOf" srcId="{400CDCC8-8E30-4E0D-9572-1F68D35AE369}" destId="{0A5A4119-3246-488F-AC0F-CB271B574A42}" srcOrd="0" destOrd="0" presId="urn:microsoft.com/office/officeart/2018/5/layout/CenteredIconLabelDescriptionList"/>
    <dgm:cxn modelId="{0071819A-A233-4409-A667-F0ABA6271154}" srcId="{E2A70087-EC59-4C5B-A39F-FFC6E0A5E890}" destId="{6E4A2204-3B46-4658-A181-9F47CAAB8D6E}" srcOrd="0" destOrd="0" parTransId="{2BE53A25-7B66-4318-81C9-C3D6364744DD}" sibTransId="{DEBE7214-9E77-45B7-9462-E042C27D5D01}"/>
    <dgm:cxn modelId="{7D72269F-88C2-4F48-89CB-7D3DBC7032DA}" srcId="{E2A70087-EC59-4C5B-A39F-FFC6E0A5E890}" destId="{47B09624-B7DD-4BA5-B896-70212879C06A}" srcOrd="1" destOrd="0" parTransId="{FD531F31-C182-4B43-954E-CFDF59E3CEEC}" sibTransId="{9851AB21-6B01-42F5-BB72-00AE26BA315D}"/>
    <dgm:cxn modelId="{3ED54FBF-B65C-4A0F-8937-F55B98ED3779}" type="presOf" srcId="{6E4A2204-3B46-4658-A181-9F47CAAB8D6E}" destId="{EAFEB3A3-A119-4B1F-9F42-1F09668E74CC}" srcOrd="0" destOrd="0" presId="urn:microsoft.com/office/officeart/2018/5/layout/CenteredIconLabelDescriptionList"/>
    <dgm:cxn modelId="{D1ADE7BF-8C82-4EBC-92FC-4C0E01CE5873}" srcId="{47B09624-B7DD-4BA5-B896-70212879C06A}" destId="{8032F83A-8B3F-4BD4-AA62-ECE89DD1D49C}" srcOrd="1" destOrd="0" parTransId="{D4C8F710-FBCF-4ACB-B3F3-79000A3BE89C}" sibTransId="{C8CB29A2-6331-4468-8EE2-1F5E3FEB89EE}"/>
    <dgm:cxn modelId="{DE73BCC8-0E10-42BD-844F-DB85AE075391}" srcId="{47B09624-B7DD-4BA5-B896-70212879C06A}" destId="{0DEDF133-833B-46EA-8E2C-78F8261F2447}" srcOrd="4" destOrd="0" parTransId="{BCF81F32-86B3-4258-B04C-5CFEDF195FF7}" sibTransId="{0FA3AD26-7678-4B94-906E-53A906172AD7}"/>
    <dgm:cxn modelId="{5148A0EB-8E94-42FE-9C27-53DC70EA789B}" srcId="{47B09624-B7DD-4BA5-B896-70212879C06A}" destId="{E438FF6A-AA0F-4AF6-8F5E-91811E322EC0}" srcOrd="3" destOrd="0" parTransId="{4CF92500-4DEA-4E05-B406-609F7A8F1F4E}" sibTransId="{C774A871-ADA8-4F02-9438-99A28AE35C1A}"/>
    <dgm:cxn modelId="{D886C810-56AC-4F50-821F-246A63EC6F03}" type="presParOf" srcId="{80CA04FA-D1FB-4BB1-9254-EAABCF565ABB}" destId="{288B0A5C-CD14-41BB-87CC-5A6196376AF9}" srcOrd="0" destOrd="0" presId="urn:microsoft.com/office/officeart/2018/5/layout/CenteredIconLabelDescriptionList"/>
    <dgm:cxn modelId="{650AEEE5-4805-4EE9-8C62-9FE4670CD18E}" type="presParOf" srcId="{288B0A5C-CD14-41BB-87CC-5A6196376AF9}" destId="{6F55575F-F97F-43EF-82D6-A082F92FA2A1}" srcOrd="0" destOrd="0" presId="urn:microsoft.com/office/officeart/2018/5/layout/CenteredIconLabelDescriptionList"/>
    <dgm:cxn modelId="{6BA402FC-2B52-4210-9D5C-96A52AD3A18A}" type="presParOf" srcId="{288B0A5C-CD14-41BB-87CC-5A6196376AF9}" destId="{0C9FD2FA-5632-4528-AAD8-496B2088E401}" srcOrd="1" destOrd="0" presId="urn:microsoft.com/office/officeart/2018/5/layout/CenteredIconLabelDescriptionList"/>
    <dgm:cxn modelId="{FD4C1019-3E01-4FC4-88AA-F6116A97BCD5}" type="presParOf" srcId="{288B0A5C-CD14-41BB-87CC-5A6196376AF9}" destId="{EAFEB3A3-A119-4B1F-9F42-1F09668E74CC}" srcOrd="2" destOrd="0" presId="urn:microsoft.com/office/officeart/2018/5/layout/CenteredIconLabelDescriptionList"/>
    <dgm:cxn modelId="{8BC4C4A8-4164-412C-AA66-8F782EECA103}" type="presParOf" srcId="{288B0A5C-CD14-41BB-87CC-5A6196376AF9}" destId="{3C40442F-33DA-4163-94EB-ED6148EF7FCE}" srcOrd="3" destOrd="0" presId="urn:microsoft.com/office/officeart/2018/5/layout/CenteredIconLabelDescriptionList"/>
    <dgm:cxn modelId="{D5A92FBA-0C2D-49B0-8709-1D4A55BF2A86}" type="presParOf" srcId="{288B0A5C-CD14-41BB-87CC-5A6196376AF9}" destId="{916E80E7-A09E-4743-911E-10EF9EBDC1F9}" srcOrd="4" destOrd="0" presId="urn:microsoft.com/office/officeart/2018/5/layout/CenteredIconLabelDescriptionList"/>
    <dgm:cxn modelId="{3B5AA9C5-E6AF-4991-BAF9-51ED6CB1180B}" type="presParOf" srcId="{80CA04FA-D1FB-4BB1-9254-EAABCF565ABB}" destId="{8D41F983-9306-4FA7-9C46-36469E7EE6CE}" srcOrd="1" destOrd="0" presId="urn:microsoft.com/office/officeart/2018/5/layout/CenteredIconLabelDescriptionList"/>
    <dgm:cxn modelId="{04AA16DC-F44F-486B-964B-DE83F5EBA252}" type="presParOf" srcId="{80CA04FA-D1FB-4BB1-9254-EAABCF565ABB}" destId="{709B8E64-FB82-4213-BADF-89C94AA863B3}" srcOrd="2" destOrd="0" presId="urn:microsoft.com/office/officeart/2018/5/layout/CenteredIconLabelDescriptionList"/>
    <dgm:cxn modelId="{238315FF-2074-4C18-A74D-8707C425D1CC}" type="presParOf" srcId="{709B8E64-FB82-4213-BADF-89C94AA863B3}" destId="{314EC855-BFCB-45B5-A007-B6537E978242}" srcOrd="0" destOrd="0" presId="urn:microsoft.com/office/officeart/2018/5/layout/CenteredIconLabelDescriptionList"/>
    <dgm:cxn modelId="{09294DF9-B142-40C4-BA8C-37132CBF00E5}" type="presParOf" srcId="{709B8E64-FB82-4213-BADF-89C94AA863B3}" destId="{D4F98EE5-0554-4DB1-973F-D9D989816A9F}" srcOrd="1" destOrd="0" presId="urn:microsoft.com/office/officeart/2018/5/layout/CenteredIconLabelDescriptionList"/>
    <dgm:cxn modelId="{270D1564-BF0E-4710-9A9E-3893EA9CE4DA}" type="presParOf" srcId="{709B8E64-FB82-4213-BADF-89C94AA863B3}" destId="{FD470903-F8D7-4267-AC24-4367BDEA66CD}" srcOrd="2" destOrd="0" presId="urn:microsoft.com/office/officeart/2018/5/layout/CenteredIconLabelDescriptionList"/>
    <dgm:cxn modelId="{BC1BDA59-0B42-44A8-9B5C-E33BA370520D}" type="presParOf" srcId="{709B8E64-FB82-4213-BADF-89C94AA863B3}" destId="{8F2E3F7A-15E7-4F70-B58E-0DC9576875A6}" srcOrd="3" destOrd="0" presId="urn:microsoft.com/office/officeart/2018/5/layout/CenteredIconLabelDescriptionList"/>
    <dgm:cxn modelId="{6859ED47-BA1C-460A-A81C-B50D17F0BD81}" type="presParOf" srcId="{709B8E64-FB82-4213-BADF-89C94AA863B3}" destId="{0A5A4119-3246-488F-AC0F-CB271B574A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6"/>
          </a:fillRef>
          <a:effectRef idx="1">
            <a:schemeClr val="accent6"/>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EEE61-265D-4924-A7E3-D421782E3B5A}">
      <dgm:prSet/>
      <dgm:spPr/>
      <dgm:t>
        <a:bodyPr/>
        <a:lstStyle/>
        <a:p>
          <a:r>
            <a:rPr lang="en-US" b="1" dirty="0"/>
            <a:t>Course Objective</a:t>
          </a:r>
          <a:r>
            <a:rPr lang="en-US" dirty="0"/>
            <a:t>: Understand AI code generation using Copilot</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dirty="0"/>
            <a:t>Course Perspective</a:t>
          </a:r>
          <a:r>
            <a:rPr lang="en-US" dirty="0"/>
            <a:t>: AI assistance and assisting the AI</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Less emphasis on syntax</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More emphasis on architecture, design, code quality, refactoring</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faster with less risk</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tyle>
          <a:lnRef idx="3">
            <a:schemeClr val="lt1"/>
          </a:lnRef>
          <a:fillRef idx="1">
            <a:schemeClr val="accent6"/>
          </a:fillRef>
          <a:effectRef idx="1">
            <a:schemeClr val="accent6"/>
          </a:effectRef>
          <a:fontRef idx="minor">
            <a:schemeClr val="lt1"/>
          </a:fontRef>
        </dgm:style>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tyle>
          <a:lnRef idx="3">
            <a:schemeClr val="lt1"/>
          </a:lnRef>
          <a:fillRef idx="1">
            <a:schemeClr val="accent6"/>
          </a:fillRef>
          <a:effectRef idx="1">
            <a:schemeClr val="accent6"/>
          </a:effectRef>
          <a:fontRef idx="minor">
            <a:schemeClr val="lt1"/>
          </a:fontRef>
        </dgm:style>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C3B5098D-C2AF-4FF2-994D-B9FD49642837}">
      <dgm:prSet>
        <dgm:style>
          <a:lnRef idx="3">
            <a:schemeClr val="lt1"/>
          </a:lnRef>
          <a:fillRef idx="1">
            <a:schemeClr val="accent6"/>
          </a:fillRef>
          <a:effectRef idx="1">
            <a:schemeClr val="accent6"/>
          </a:effectRef>
          <a:fontRef idx="minor">
            <a:schemeClr val="lt1"/>
          </a:fontRef>
        </dgm:style>
      </dgm:prSet>
      <dgm:spPr/>
      <dgm:t>
        <a:bodyPr/>
        <a:lstStyle/>
        <a:p>
          <a:r>
            <a:rPr lang="en-US" dirty="0"/>
            <a:t>What’s Next</a:t>
          </a:r>
        </a:p>
      </dgm:t>
    </dgm:pt>
    <dgm:pt modelId="{D7075F73-24C6-47EB-A63F-159FE538D8B1}" type="parTrans" cxnId="{894E0698-6B0F-446A-8917-5199D350D42B}">
      <dgm:prSet/>
      <dgm:spPr/>
    </dgm:pt>
    <dgm:pt modelId="{1E55753F-1117-4071-A7C0-29FDE4B09F5C}" type="sibTrans" cxnId="{894E0698-6B0F-446A-8917-5199D350D42B}">
      <dgm:prSet/>
      <dgm:spPr/>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069569A2-BF35-4B40-81A9-F15D5FE602A8}" type="pres">
      <dgm:prSet presAssocID="{D5CAD8C7-F68E-47DB-9A4F-D338C9C62666}" presName="sibTrans" presStyleLbl="sibTrans1D1" presStyleIdx="8" presStyleCnt="9"/>
      <dgm:spPr/>
    </dgm:pt>
    <dgm:pt modelId="{DFB88843-E7EF-4B96-B75E-9C397A529F9A}" type="pres">
      <dgm:prSet presAssocID="{D5CAD8C7-F68E-47DB-9A4F-D338C9C62666}" presName="connectorText" presStyleLbl="sibTrans1D1" presStyleIdx="8" presStyleCnt="9"/>
      <dgm:spPr/>
    </dgm:pt>
    <dgm:pt modelId="{3718F240-0B68-4894-B759-F65CD44F84FA}" type="pres">
      <dgm:prSet presAssocID="{C3B5098D-C2AF-4FF2-994D-B9FD49642837}"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F9046F26-C399-4F65-8058-C8596991562E}" type="presOf" srcId="{C3B5098D-C2AF-4FF2-994D-B9FD49642837}" destId="{3718F240-0B68-4894-B759-F65CD44F84FA}"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A2710546-4079-433C-9CDB-9A4D4C720C09}" type="presOf" srcId="{D5CAD8C7-F68E-47DB-9A4F-D338C9C62666}" destId="{DFB88843-E7EF-4B96-B75E-9C397A529F9A}"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06400A59-3B3D-4E86-9DC9-81C07C1BFB2D}" type="presOf" srcId="{D5CAD8C7-F68E-47DB-9A4F-D338C9C62666}" destId="{069569A2-BF35-4B40-81A9-F15D5FE602A8}"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894E0698-6B0F-446A-8917-5199D350D42B}" srcId="{078E72EE-1E90-466C-9655-CAA4DCA5B467}" destId="{C3B5098D-C2AF-4FF2-994D-B9FD49642837}" srcOrd="9" destOrd="0" parTransId="{D7075F73-24C6-47EB-A63F-159FE538D8B1}" sibTransId="{1E55753F-1117-4071-A7C0-29FDE4B09F5C}"/>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94633228-A4A1-4A6E-831E-F3E7C7E23E60}" type="presParOf" srcId="{0181DA28-EB27-4761-804B-B376FF9C80AE}" destId="{069569A2-BF35-4B40-81A9-F15D5FE602A8}" srcOrd="17" destOrd="0" presId="urn:microsoft.com/office/officeart/2016/7/layout/RepeatingBendingProcessNew"/>
    <dgm:cxn modelId="{ACBFEB49-A715-4E4D-8B66-069A5E09E7D9}" type="presParOf" srcId="{069569A2-BF35-4B40-81A9-F15D5FE602A8}" destId="{DFB88843-E7EF-4B96-B75E-9C397A529F9A}" srcOrd="0" destOrd="0" presId="urn:microsoft.com/office/officeart/2016/7/layout/RepeatingBendingProcessNew"/>
    <dgm:cxn modelId="{F8D7D9C5-3611-47E8-9EB9-5408246065A1}" type="presParOf" srcId="{0181DA28-EB27-4761-804B-B376FF9C80AE}" destId="{3718F240-0B68-4894-B759-F65CD44F84FA}"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1991"/>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715" y="211532"/>
          <a:ext cx="512210" cy="5122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5641" y="1991"/>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a:t>
          </a:r>
        </a:p>
      </dsp:txBody>
      <dsp:txXfrm>
        <a:off x="1075641" y="1991"/>
        <a:ext cx="6810006" cy="931291"/>
      </dsp:txXfrm>
    </dsp:sp>
    <dsp:sp modelId="{F7EF9AAE-6EA6-48BC-8CE6-E43A4019C779}">
      <dsp:nvSpPr>
        <dsp:cNvPr id="0" name=""/>
        <dsp:cNvSpPr/>
      </dsp:nvSpPr>
      <dsp:spPr>
        <a:xfrm>
          <a:off x="0" y="1166106"/>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715" y="1375646"/>
          <a:ext cx="512210" cy="5122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5641" y="1166106"/>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Played roles of developer, architect, </a:t>
          </a:r>
          <a:r>
            <a:rPr lang="en-US" sz="1800" kern="1200" dirty="0" err="1"/>
            <a:t>devops</a:t>
          </a:r>
          <a:r>
            <a:rPr lang="en-US" sz="1800" kern="1200" dirty="0"/>
            <a:t> engineer, platform engineer, test architect, release manager</a:t>
          </a:r>
        </a:p>
      </dsp:txBody>
      <dsp:txXfrm>
        <a:off x="1075641" y="1166106"/>
        <a:ext cx="6810006" cy="931291"/>
      </dsp:txXfrm>
    </dsp:sp>
    <dsp:sp modelId="{1F150B33-5B01-41D7-B34B-31321D5314B8}">
      <dsp:nvSpPr>
        <dsp:cNvPr id="0" name=""/>
        <dsp:cNvSpPr/>
      </dsp:nvSpPr>
      <dsp:spPr>
        <a:xfrm>
          <a:off x="0" y="2330220"/>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715" y="2539761"/>
          <a:ext cx="512210" cy="5122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5641" y="2330220"/>
          <a:ext cx="3549015"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AI/ML Enthusiast and advocate for Effectively using AI to write code</a:t>
          </a:r>
        </a:p>
      </dsp:txBody>
      <dsp:txXfrm>
        <a:off x="1075641" y="2330220"/>
        <a:ext cx="3549015" cy="931291"/>
      </dsp:txXfrm>
    </dsp:sp>
    <dsp:sp modelId="{D3707FF8-46B5-4898-83C6-BFB962BB255D}">
      <dsp:nvSpPr>
        <dsp:cNvPr id="0" name=""/>
        <dsp:cNvSpPr/>
      </dsp:nvSpPr>
      <dsp:spPr>
        <a:xfrm>
          <a:off x="4624656" y="2330220"/>
          <a:ext cx="3260991"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488950">
            <a:lnSpc>
              <a:spcPct val="90000"/>
            </a:lnSpc>
            <a:spcBef>
              <a:spcPct val="0"/>
            </a:spcBef>
            <a:spcAft>
              <a:spcPct val="35000"/>
            </a:spcAft>
            <a:buNone/>
          </a:pPr>
          <a:r>
            <a:rPr lang="en-US" sz="1100" kern="1200" dirty="0"/>
            <a:t>LinkedIn: www.linkedin.com/in/johnmichaelmiller</a:t>
          </a:r>
        </a:p>
        <a:p>
          <a:pPr marL="0" lvl="0" indent="0" algn="l" defTabSz="488950">
            <a:lnSpc>
              <a:spcPct val="90000"/>
            </a:lnSpc>
            <a:spcBef>
              <a:spcPct val="0"/>
            </a:spcBef>
            <a:spcAft>
              <a:spcPct val="35000"/>
            </a:spcAft>
            <a:buNone/>
          </a:pPr>
          <a:r>
            <a:rPr lang="en-US" sz="1100" kern="1200" dirty="0"/>
            <a:t>Email: john.miller@codemag.com</a:t>
          </a:r>
        </a:p>
        <a:p>
          <a:pPr marL="0" lvl="0" indent="0" algn="l" defTabSz="488950">
            <a:lnSpc>
              <a:spcPct val="90000"/>
            </a:lnSpc>
            <a:spcBef>
              <a:spcPct val="0"/>
            </a:spcBef>
            <a:spcAft>
              <a:spcPct val="35000"/>
            </a:spcAft>
            <a:buNone/>
          </a:pPr>
          <a:r>
            <a:rPr lang="en-US" sz="1100" kern="1200" dirty="0"/>
            <a:t>Blog: </a:t>
          </a:r>
          <a:r>
            <a:rPr lang="en-US" sz="1100" kern="1200" dirty="0">
              <a:hlinkClick xmlns:r="http://schemas.openxmlformats.org/officeDocument/2006/relationships" r:id="rId7"/>
            </a:rPr>
            <a:t>https://codemag.com/blog/AIPractitioner</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rId8"/>
            </a:rPr>
            <a:t>AI Practitioner Resources</a:t>
          </a:r>
          <a:endParaRPr lang="en-US" sz="1100" kern="1200" dirty="0"/>
        </a:p>
      </dsp:txBody>
      <dsp:txXfrm>
        <a:off x="4624656" y="2330220"/>
        <a:ext cx="3260991" cy="9312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5575F-F97F-43EF-82D6-A082F92FA2A1}">
      <dsp:nvSpPr>
        <dsp:cNvPr id="0" name=""/>
        <dsp:cNvSpPr/>
      </dsp:nvSpPr>
      <dsp:spPr>
        <a:xfrm>
          <a:off x="1168919" y="25725"/>
          <a:ext cx="1252377" cy="12349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EB3A3-A119-4B1F-9F42-1F09668E74CC}">
      <dsp:nvSpPr>
        <dsp:cNvPr id="0" name=""/>
        <dsp:cNvSpPr/>
      </dsp:nvSpPr>
      <dsp:spPr>
        <a:xfrm>
          <a:off x="5997" y="1417163"/>
          <a:ext cx="3578220" cy="52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a:t>Welcome</a:t>
          </a:r>
        </a:p>
      </dsp:txBody>
      <dsp:txXfrm>
        <a:off x="5997" y="1417163"/>
        <a:ext cx="3578220" cy="529252"/>
      </dsp:txXfrm>
    </dsp:sp>
    <dsp:sp modelId="{916E80E7-A09E-4743-911E-10EF9EBDC1F9}">
      <dsp:nvSpPr>
        <dsp:cNvPr id="0" name=""/>
        <dsp:cNvSpPr/>
      </dsp:nvSpPr>
      <dsp:spPr>
        <a:xfrm>
          <a:off x="5997" y="2019214"/>
          <a:ext cx="3578220" cy="1646437"/>
        </a:xfrm>
        <a:prstGeom prst="rect">
          <a:avLst/>
        </a:prstGeom>
        <a:noFill/>
        <a:ln>
          <a:noFill/>
        </a:ln>
        <a:effectLst/>
      </dsp:spPr>
      <dsp:style>
        <a:lnRef idx="0">
          <a:scrgbClr r="0" g="0" b="0"/>
        </a:lnRef>
        <a:fillRef idx="0">
          <a:scrgbClr r="0" g="0" b="0"/>
        </a:fillRef>
        <a:effectRef idx="0">
          <a:scrgbClr r="0" g="0" b="0"/>
        </a:effectRef>
        <a:fontRef idx="minor"/>
      </dsp:style>
    </dsp:sp>
    <dsp:sp modelId="{314EC855-BFCB-45B5-A007-B6537E978242}">
      <dsp:nvSpPr>
        <dsp:cNvPr id="0" name=""/>
        <dsp:cNvSpPr/>
      </dsp:nvSpPr>
      <dsp:spPr>
        <a:xfrm>
          <a:off x="5373328" y="25725"/>
          <a:ext cx="1252377" cy="12349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470903-F8D7-4267-AC24-4367BDEA66CD}">
      <dsp:nvSpPr>
        <dsp:cNvPr id="0" name=""/>
        <dsp:cNvSpPr/>
      </dsp:nvSpPr>
      <dsp:spPr>
        <a:xfrm>
          <a:off x="4210406" y="1417163"/>
          <a:ext cx="3578220" cy="52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a:t>Introductions</a:t>
          </a:r>
        </a:p>
      </dsp:txBody>
      <dsp:txXfrm>
        <a:off x="4210406" y="1417163"/>
        <a:ext cx="3578220" cy="529252"/>
      </dsp:txXfrm>
    </dsp:sp>
    <dsp:sp modelId="{0A5A4119-3246-488F-AC0F-CB271B574A42}">
      <dsp:nvSpPr>
        <dsp:cNvPr id="0" name=""/>
        <dsp:cNvSpPr/>
      </dsp:nvSpPr>
      <dsp:spPr>
        <a:xfrm>
          <a:off x="4210406" y="2019214"/>
          <a:ext cx="3578220" cy="1646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Who you are</a:t>
          </a:r>
        </a:p>
        <a:p>
          <a:pPr marL="0" lvl="0" indent="0" algn="ctr" defTabSz="755650">
            <a:lnSpc>
              <a:spcPct val="100000"/>
            </a:lnSpc>
            <a:spcBef>
              <a:spcPct val="0"/>
            </a:spcBef>
            <a:spcAft>
              <a:spcPct val="35000"/>
            </a:spcAft>
            <a:buNone/>
          </a:pPr>
          <a:r>
            <a:rPr lang="en-US" sz="1700" kern="1200"/>
            <a:t>Who do you work for</a:t>
          </a:r>
          <a:endParaRPr lang="en-US" sz="1700" kern="1200" dirty="0"/>
        </a:p>
        <a:p>
          <a:pPr marL="0" lvl="0" indent="0" algn="ctr" defTabSz="755650">
            <a:lnSpc>
              <a:spcPct val="100000"/>
            </a:lnSpc>
            <a:spcBef>
              <a:spcPct val="0"/>
            </a:spcBef>
            <a:spcAft>
              <a:spcPct val="35000"/>
            </a:spcAft>
            <a:buNone/>
          </a:pPr>
          <a:r>
            <a:rPr lang="en-US" sz="1700" kern="1200" dirty="0"/>
            <a:t>What you do</a:t>
          </a:r>
        </a:p>
        <a:p>
          <a:pPr marL="0" lvl="0" indent="0" algn="ctr" defTabSz="755650">
            <a:lnSpc>
              <a:spcPct val="100000"/>
            </a:lnSpc>
            <a:spcBef>
              <a:spcPct val="0"/>
            </a:spcBef>
            <a:spcAft>
              <a:spcPct val="35000"/>
            </a:spcAft>
            <a:buNone/>
          </a:pPr>
          <a:r>
            <a:rPr lang="en-US" sz="1700" kern="1200"/>
            <a:t>What you’ve done with AI tools</a:t>
          </a:r>
        </a:p>
        <a:p>
          <a:pPr marL="0" lvl="0" indent="0" algn="ctr" defTabSz="755650">
            <a:lnSpc>
              <a:spcPct val="100000"/>
            </a:lnSpc>
            <a:spcBef>
              <a:spcPct val="0"/>
            </a:spcBef>
            <a:spcAft>
              <a:spcPct val="35000"/>
            </a:spcAft>
            <a:buNone/>
          </a:pPr>
          <a:r>
            <a:rPr lang="en-US" sz="1700" kern="1200"/>
            <a:t>What you want to learn</a:t>
          </a:r>
        </a:p>
      </dsp:txBody>
      <dsp:txXfrm>
        <a:off x="4210406" y="2019214"/>
        <a:ext cx="3578220" cy="1646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35286"/>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Course Objective</a:t>
          </a:r>
          <a:r>
            <a:rPr lang="en-US" sz="2600" kern="1200" dirty="0"/>
            <a:t>: Understand AI code generation using Copilot</a:t>
          </a:r>
        </a:p>
      </dsp:txBody>
      <dsp:txXfrm>
        <a:off x="50489" y="85775"/>
        <a:ext cx="7785722" cy="933302"/>
      </dsp:txXfrm>
    </dsp:sp>
    <dsp:sp modelId="{8CAB9C2A-1EF9-4F58-A298-88000800CAF9}">
      <dsp:nvSpPr>
        <dsp:cNvPr id="0" name=""/>
        <dsp:cNvSpPr/>
      </dsp:nvSpPr>
      <dsp:spPr>
        <a:xfrm>
          <a:off x="0" y="1144447"/>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Course Perspective</a:t>
          </a:r>
          <a:r>
            <a:rPr lang="en-US" sz="2600" kern="1200" dirty="0"/>
            <a:t>: AI assistance and assisting the AI</a:t>
          </a:r>
        </a:p>
      </dsp:txBody>
      <dsp:txXfrm>
        <a:off x="50489" y="1194936"/>
        <a:ext cx="7785722" cy="933302"/>
      </dsp:txXfrm>
    </dsp:sp>
    <dsp:sp modelId="{F7AA4163-5AFE-4B6B-8B25-5915AE771925}">
      <dsp:nvSpPr>
        <dsp:cNvPr id="0" name=""/>
        <dsp:cNvSpPr/>
      </dsp:nvSpPr>
      <dsp:spPr>
        <a:xfrm>
          <a:off x="0" y="2178727"/>
          <a:ext cx="78867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chemeClr val="bg1"/>
              </a:solidFill>
            </a:rPr>
            <a:t>Less emphasis on syntax</a:t>
          </a:r>
        </a:p>
        <a:p>
          <a:pPr marL="228600" lvl="1" indent="-228600" algn="l" defTabSz="889000">
            <a:lnSpc>
              <a:spcPct val="90000"/>
            </a:lnSpc>
            <a:spcBef>
              <a:spcPct val="0"/>
            </a:spcBef>
            <a:spcAft>
              <a:spcPct val="20000"/>
            </a:spcAft>
            <a:buChar char="•"/>
          </a:pPr>
          <a:r>
            <a:rPr lang="en-US" sz="2000" kern="1200" dirty="0">
              <a:solidFill>
                <a:schemeClr val="bg1"/>
              </a:solidFill>
            </a:rPr>
            <a:t>More emphasis on architecture, design, code quality, refactoring</a:t>
          </a:r>
        </a:p>
        <a:p>
          <a:pPr marL="228600" lvl="1" indent="-228600" algn="l" defTabSz="889000">
            <a:lnSpc>
              <a:spcPct val="90000"/>
            </a:lnSpc>
            <a:spcBef>
              <a:spcPct val="0"/>
            </a:spcBef>
            <a:spcAft>
              <a:spcPct val="20000"/>
            </a:spcAft>
            <a:buChar char="•"/>
          </a:pPr>
          <a:r>
            <a:rPr lang="en-US" sz="2000" kern="1200" dirty="0">
              <a:solidFill>
                <a:schemeClr val="bg1"/>
              </a:solidFill>
            </a:rPr>
            <a:t>Moving faster with less risk</a:t>
          </a:r>
        </a:p>
      </dsp:txBody>
      <dsp:txXfrm>
        <a:off x="0" y="2178727"/>
        <a:ext cx="7886700" cy="10494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069569A2-BF35-4B40-81A9-F15D5FE602A8}">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3718F240-0B68-4894-B759-F65CD44F84FA}">
      <dsp:nvSpPr>
        <dsp:cNvPr id="0" name=""/>
        <dsp:cNvSpPr/>
      </dsp:nvSpPr>
      <dsp:spPr>
        <a:xfrm>
          <a:off x="2335327"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vscode-file://vscode-app/c:/Users/JohnM/AppData/Local/Programs/Microsoft%20VS%20Code/bdd88df003/resources/app/out/vs/code/electron-browser/workbench/workbench.html"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3</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5</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89EE-D7B1-C7ED-5630-81DAD6C21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79DE9-FD12-0822-EE7D-7DA064607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C11AE-5D47-ACC9-991D-776A82A343AD}"/>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04E16CE-3E6E-1BD7-D1ED-2C219F1B9E81}"/>
              </a:ext>
            </a:extLst>
          </p:cNvPr>
          <p:cNvSpPr>
            <a:spLocks noGrp="1"/>
          </p:cNvSpPr>
          <p:nvPr>
            <p:ph type="sldNum" sz="quarter" idx="10"/>
          </p:nvPr>
        </p:nvSpPr>
        <p:spPr/>
        <p:txBody>
          <a:bodyPr/>
          <a:lstStyle/>
          <a:p>
            <a:fld id="{18BDFEC3-8487-43E8-A154-7C12CBC1FFF2}" type="slidenum">
              <a:rPr lang="en-US"/>
              <a:t>7</a:t>
            </a:fld>
            <a:endParaRPr lang="en-US"/>
          </a:p>
        </p:txBody>
      </p:sp>
    </p:spTree>
    <p:extLst>
      <p:ext uri="{BB962C8B-B14F-4D97-AF65-F5344CB8AC3E}">
        <p14:creationId xmlns:p14="http://schemas.microsoft.com/office/powerpoint/2010/main" val="3930831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significant</a:t>
            </a:r>
          </a:p>
          <a:p>
            <a:endParaRPr lang="en-US" dirty="0"/>
          </a:p>
          <a:p>
            <a:r>
              <a:rPr lang="en-US" dirty="0"/>
              <a:t>Natural Language</a:t>
            </a:r>
          </a:p>
          <a:p>
            <a:r>
              <a:rPr lang="en-US" dirty="0"/>
              <a:t>Vast amount of knowledge available</a:t>
            </a:r>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717065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dirty="0"/>
              <a:t>Career Transformation:</a:t>
            </a:r>
            <a:r>
              <a:rPr dirty="0"/>
              <a:t> - Those who adapt: become 10x more productive, tackle bigger challenges, expand skill sets - Those who resist: may find themselves struggling with modern development expectations - New roles emerging: AI prompt engineers, AI code reviewers, AI-assisted architects</a:t>
            </a:r>
          </a:p>
          <a:p>
            <a:pPr marL="0" lvl="0" indent="0">
              <a:buNone/>
            </a:pPr>
            <a:endParaRPr dirty="0"/>
          </a:p>
          <a:p>
            <a:pPr marL="0" lvl="0" indent="0">
              <a:buNone/>
            </a:pPr>
            <a:r>
              <a:rPr b="1" dirty="0"/>
              <a:t>Superpowers Explained:</a:t>
            </a:r>
            <a:r>
              <a:rPr dirty="0"/>
              <a:t> - </a:t>
            </a:r>
            <a:r>
              <a:rPr b="1" dirty="0"/>
              <a:t>Legacy codebases</a:t>
            </a:r>
            <a:r>
              <a:rPr dirty="0"/>
              <a:t>: AI can quickly understand and explain complex, undocumented systems - </a:t>
            </a:r>
            <a:r>
              <a:rPr b="1" dirty="0"/>
              <a:t>New technologies</a:t>
            </a:r>
            <a:r>
              <a:rPr dirty="0"/>
              <a:t>: Learn frameworks/languages faster with AI as a coding partner - </a:t>
            </a:r>
            <a:r>
              <a:rPr b="1" dirty="0"/>
              <a:t>Code quality</a:t>
            </a:r>
            <a:r>
              <a:rPr dirty="0"/>
              <a:t>: AI suggests improvements, catches bugs, generates comprehensive tests - </a:t>
            </a:r>
            <a:r>
              <a:rPr b="1" dirty="0"/>
              <a:t>Nice to haves</a:t>
            </a:r>
            <a:r>
              <a:rPr dirty="0"/>
              <a:t>: Features that were “too time-consuming” become feasible</a:t>
            </a:r>
          </a:p>
          <a:p>
            <a:pPr marL="0" lvl="0" indent="0">
              <a:buNone/>
            </a:pPr>
            <a:endParaRPr dirty="0"/>
          </a:p>
          <a:p>
            <a:pPr marL="0" lvl="0" indent="0">
              <a:buNone/>
            </a:pPr>
            <a:r>
              <a:rPr b="1" dirty="0"/>
              <a:t>Examples to share:</a:t>
            </a:r>
            <a:r>
              <a:rPr dirty="0"/>
              <a:t> - Developer who used AI to modernize a 15-year-old PHP codebase in weeks instead of months - Team that adopted a new framework (React to Vue) with AI assistance in days - 80% reduction in boilerplate code writing time - Comprehensive test suites generated automatically</a:t>
            </a:r>
          </a:p>
          <a:p>
            <a:pPr marL="0" lvl="0" indent="0">
              <a:buNone/>
            </a:pPr>
            <a:endParaRPr dirty="0"/>
          </a:p>
          <a:p>
            <a:pPr marL="0" lvl="0" indent="0">
              <a:buNone/>
            </a:pPr>
            <a:r>
              <a:rPr b="1" dirty="0"/>
              <a:t>Key message</a:t>
            </a:r>
            <a:r>
              <a:rPr dirty="0"/>
              <a:t>: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is the broad philosophy. Prompt‑First is the tactical layer that enables predictable AI behavior. You can do Prompt‑First without being AI‑First, but not the reverse.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table is the heart of the comparison. AI‑First is about organizational and architectural change. Prompt‑First is about artifact discipline and predictable outputs.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changes </a:t>
            </a:r>
            <a:r>
              <a:rPr i="1"/>
              <a:t>what</a:t>
            </a:r>
            <a:r>
              <a:t> you build and </a:t>
            </a:r>
            <a:r>
              <a:rPr i="1"/>
              <a:t>how</a:t>
            </a:r>
            <a:r>
              <a:t> you build it. Prompt‑First changes </a:t>
            </a:r>
            <a:r>
              <a:rPr i="1"/>
              <a:t>how you communicate intent</a:t>
            </a:r>
            <a:r>
              <a:t> to the AI.</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conceptual hierarchy. Prompt‑First is necessary but not sufficient for AI‑First maturity.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what we mean by </a:t>
            </a:r>
            <a:r>
              <a:rPr lang="en-US" i="1" dirty="0"/>
              <a:t>AI‑First</a:t>
            </a:r>
            <a:r>
              <a:rPr lang="en-US" dirty="0"/>
              <a:t> development. The key idea is that AI isn’t an add‑on or a productivity booster—it becomes a core capability of the software lifecycle. When we design systems today, we assume AI will participate in requirements, architecture, coding, testing, and documentation.</a:t>
            </a:r>
          </a:p>
          <a:p>
            <a:endParaRPr lang="en-US" b="1" dirty="0"/>
          </a:p>
          <a:p>
            <a:r>
              <a:rPr lang="en-US" b="1" dirty="0"/>
              <a:t>Why AI‑First</a:t>
            </a:r>
            <a:endParaRPr lang="en-US" dirty="0"/>
          </a:p>
          <a:p>
            <a:r>
              <a:rPr lang="en-US" dirty="0"/>
              <a:t>“Teams increasingly express requirements in natural language. AI can interpret those requirements and generate scaffolding, code, tests, and documentation.”</a:t>
            </a:r>
          </a:p>
          <a:p>
            <a:r>
              <a:rPr lang="en-US" dirty="0"/>
              <a:t>“This shifts the developer’s role from writing every line of code to defining intent, constraints, and quality expectations.”</a:t>
            </a:r>
          </a:p>
          <a:p>
            <a:r>
              <a:rPr lang="en-US" dirty="0"/>
              <a:t>“The goal isn’t to replace engineering judgment—it’s to amplify it.”</a:t>
            </a:r>
          </a:p>
          <a:p>
            <a:endParaRPr lang="en-US" b="1" dirty="0"/>
          </a:p>
          <a:p>
            <a:r>
              <a:rPr lang="en-US" b="1" dirty="0"/>
              <a:t>Core Principles</a:t>
            </a:r>
            <a:endParaRPr lang="en-US" dirty="0"/>
          </a:p>
          <a:p>
            <a:endParaRPr lang="en-US" b="1" dirty="0"/>
          </a:p>
          <a:p>
            <a:r>
              <a:rPr lang="en-US" b="1" dirty="0"/>
              <a:t>Prompt‑First Design</a:t>
            </a:r>
            <a:br>
              <a:rPr lang="en-US" dirty="0"/>
            </a:br>
            <a:r>
              <a:rPr lang="en-US" dirty="0"/>
              <a:t>“We start with structured prompts that capture behaviors, invariants, and interfaces. These become durable artifacts, just like design docs.”</a:t>
            </a:r>
          </a:p>
          <a:p>
            <a:endParaRPr lang="en-US" b="1" dirty="0"/>
          </a:p>
          <a:p>
            <a:r>
              <a:rPr lang="en-US" b="1" dirty="0"/>
              <a:t>AI‑Native Architecture</a:t>
            </a:r>
            <a:br>
              <a:rPr lang="en-US" dirty="0"/>
            </a:br>
            <a:r>
              <a:rPr lang="en-US" dirty="0"/>
              <a:t>“We design modules with clear boundaries so AI‑generated components remain predictable and testable. Deterministic interfaces are essential.”</a:t>
            </a:r>
          </a:p>
          <a:p>
            <a:endParaRPr lang="en-US" b="1" dirty="0"/>
          </a:p>
          <a:p>
            <a:r>
              <a:rPr lang="en-US" b="1" dirty="0"/>
              <a:t>Human‑in‑the‑Loop</a:t>
            </a:r>
            <a:br>
              <a:rPr lang="en-US" dirty="0"/>
            </a:br>
            <a:r>
              <a:rPr lang="en-US" dirty="0"/>
              <a:t>“AI accelerates creation, but humans validate correctness, safety, and alignment with business intent. Review is built into the workflow.”</a:t>
            </a:r>
          </a:p>
          <a:p>
            <a:endParaRPr lang="en-US" b="1" dirty="0"/>
          </a:p>
          <a:p>
            <a:r>
              <a:rPr lang="en-US" b="1" dirty="0"/>
              <a:t>Continuous Verification</a:t>
            </a:r>
            <a:br>
              <a:rPr lang="en-US" dirty="0"/>
            </a:br>
            <a:r>
              <a:rPr lang="en-US" dirty="0"/>
              <a:t>“Every AI‑generated artifact—code, tests, docs—runs through automated checks. Static analysis, unit tests, and guardrails catch drift early.”</a:t>
            </a:r>
          </a:p>
          <a:p>
            <a:endParaRPr lang="en-US" b="1" dirty="0"/>
          </a:p>
          <a:p>
            <a:r>
              <a:rPr lang="en-US" b="1" dirty="0"/>
              <a:t>Lifecycle Governance</a:t>
            </a:r>
            <a:br>
              <a:rPr lang="en-US" dirty="0"/>
            </a:br>
            <a:r>
              <a:rPr lang="en-US" dirty="0"/>
              <a:t>“We treat prompts, outputs, and revisions as versioned assets. Provenance and traceability matter for compliance, debugging, and long‑term maintainability.”</a:t>
            </a:r>
          </a:p>
          <a:p>
            <a:endParaRPr lang="en-US" b="1" dirty="0"/>
          </a:p>
          <a:p>
            <a:r>
              <a:rPr lang="en-US" b="1" dirty="0"/>
              <a:t>Outcomes</a:t>
            </a:r>
            <a:endParaRPr lang="en-US" dirty="0"/>
          </a:p>
          <a:p>
            <a:r>
              <a:rPr lang="en-US" dirty="0"/>
              <a:t>“Teams iterate faster because intent moves directly into working prototypes.”</a:t>
            </a:r>
          </a:p>
          <a:p>
            <a:r>
              <a:rPr lang="en-US" dirty="0"/>
              <a:t>“Documentation and test coverage improve because AI can generate them continuously.”</a:t>
            </a:r>
          </a:p>
          <a:p>
            <a:r>
              <a:rPr lang="en-US" dirty="0"/>
              <a:t>“Developers spend more time on architecture and correctness, less on boilerplate.”</a:t>
            </a:r>
          </a:p>
          <a:p>
            <a:r>
              <a:rPr lang="en-US" dirty="0"/>
              <a:t>“The result is software that’s more adaptable and resilient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1309165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idea behind Prompt‑First development. Instead of starting with code, we start with intent. Prompts become the primary design artifact, and AI becomes the mechanism that turns intent into implementation.”</a:t>
            </a:r>
          </a:p>
          <a:p>
            <a:endParaRPr lang="en-US" b="1" dirty="0"/>
          </a:p>
          <a:p>
            <a:r>
              <a:rPr lang="en-US" b="1" dirty="0"/>
              <a:t>Why Prompt‑First</a:t>
            </a:r>
            <a:endParaRPr lang="en-US" dirty="0"/>
          </a:p>
          <a:p>
            <a:r>
              <a:rPr lang="en-US" dirty="0"/>
              <a:t>“Modern development increasingly begins with natural‑language descriptions of behavior. Prompt‑First formalizes that by treating prompts as first‑class inputs to the software lifecycle.”</a:t>
            </a:r>
          </a:p>
          <a:p>
            <a:r>
              <a:rPr lang="en-US" dirty="0"/>
              <a:t>“The developer’s role shifts from writing code line‑by‑line to defining outcomes, constraints, invariants, and interfaces.”</a:t>
            </a:r>
          </a:p>
          <a:p>
            <a:r>
              <a:rPr lang="en-US" dirty="0"/>
              <a:t>“This creates a tighter alignment between business intent and the resulting system.”</a:t>
            </a:r>
          </a:p>
          <a:p>
            <a:endParaRPr lang="en-US" b="1" dirty="0"/>
          </a:p>
          <a:p>
            <a:r>
              <a:rPr lang="en-US" b="1" dirty="0"/>
              <a:t>Core Practices</a:t>
            </a:r>
            <a:endParaRPr lang="en-US" dirty="0"/>
          </a:p>
          <a:p>
            <a:endParaRPr lang="en-US" b="1" dirty="0"/>
          </a:p>
          <a:p>
            <a:r>
              <a:rPr lang="en-US" b="1" dirty="0"/>
              <a:t>Structured Prompts</a:t>
            </a:r>
            <a:br>
              <a:rPr lang="en-US" dirty="0"/>
            </a:br>
            <a:r>
              <a:rPr lang="en-US" dirty="0"/>
              <a:t>“We don’t rely on ad‑hoc prompting. We use templates for features, APIs, data models, tests, and refactors. This creates consistency and reduces ambiguity.”</a:t>
            </a:r>
          </a:p>
          <a:p>
            <a:endParaRPr lang="en-US" b="1" dirty="0"/>
          </a:p>
          <a:p>
            <a:r>
              <a:rPr lang="en-US" b="1" dirty="0"/>
              <a:t>Instruction Files</a:t>
            </a:r>
            <a:br>
              <a:rPr lang="en-US" dirty="0"/>
            </a:br>
            <a:r>
              <a:rPr lang="en-US" dirty="0"/>
              <a:t>“These are durable, versioned prompt artifacts that guide AI generation. They act like living design documents that the AI reads every time it produces code.”</a:t>
            </a:r>
          </a:p>
          <a:p>
            <a:endParaRPr lang="en-US" b="1" dirty="0"/>
          </a:p>
          <a:p>
            <a:r>
              <a:rPr lang="en-US" b="1" dirty="0"/>
              <a:t>Deterministic Boundaries</a:t>
            </a:r>
            <a:br>
              <a:rPr lang="en-US" dirty="0"/>
            </a:br>
            <a:r>
              <a:rPr lang="en-US" dirty="0"/>
              <a:t>“We design modules with clear contracts so AI‑generated code stays predictable. The AI can generate the internals, but the interfaces remain stable and human‑controlled.”</a:t>
            </a:r>
          </a:p>
          <a:p>
            <a:endParaRPr lang="en-US" b="1" dirty="0"/>
          </a:p>
          <a:p>
            <a:r>
              <a:rPr lang="en-US" b="1" dirty="0"/>
              <a:t>Validation Loops</a:t>
            </a:r>
            <a:br>
              <a:rPr lang="en-US" dirty="0"/>
            </a:br>
            <a:r>
              <a:rPr lang="en-US" dirty="0"/>
              <a:t>“Every AI‑generated artifact goes through automated tests and human review. The goal is to catch drift early and ensure correctness.”</a:t>
            </a:r>
          </a:p>
          <a:p>
            <a:endParaRPr lang="en-US" b="1" dirty="0"/>
          </a:p>
          <a:p>
            <a:r>
              <a:rPr lang="en-US" b="1" dirty="0"/>
              <a:t>Prompt Versioning</a:t>
            </a:r>
            <a:br>
              <a:rPr lang="en-US" dirty="0"/>
            </a:br>
            <a:r>
              <a:rPr lang="en-US" dirty="0"/>
              <a:t>“Prompts evolve just like code. Tracking changes helps with debugging, reproducibility, and compliance.”</a:t>
            </a:r>
          </a:p>
          <a:p>
            <a:endParaRPr lang="en-US" b="1" dirty="0"/>
          </a:p>
          <a:p>
            <a:r>
              <a:rPr lang="en-US" b="1" dirty="0"/>
              <a:t>Benefits</a:t>
            </a:r>
            <a:endParaRPr lang="en-US" dirty="0"/>
          </a:p>
          <a:p>
            <a:r>
              <a:rPr lang="en-US" dirty="0"/>
              <a:t>“Teams move from idea to working software much faster because intent flows directly into generation.”</a:t>
            </a:r>
          </a:p>
          <a:p>
            <a:r>
              <a:rPr lang="en-US" dirty="0"/>
              <a:t>“Generated components become more consistent because they’re driven by structured prompts, not one‑off instructions.”</a:t>
            </a:r>
          </a:p>
          <a:p>
            <a:r>
              <a:rPr lang="en-US" dirty="0"/>
              <a:t>“Developers spend more time on architecture and correctness, less on boilerplate.”</a:t>
            </a:r>
          </a:p>
          <a:p>
            <a:r>
              <a:rPr lang="en-US" dirty="0"/>
              <a:t>“The end result is a system that’s easier to maintain and adapt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Tree>
    <p:extLst>
      <p:ext uri="{BB962C8B-B14F-4D97-AF65-F5344CB8AC3E}">
        <p14:creationId xmlns:p14="http://schemas.microsoft.com/office/powerpoint/2010/main" val="4086250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A21D-702B-746C-6B90-EAECA477B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F9679-AE38-0A20-47CD-01575D372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DE7CA-C535-784F-0110-1C301FDF5AC9}"/>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F606FC22-723A-79DD-3A55-0E257F7FD6CC}"/>
              </a:ext>
            </a:extLst>
          </p:cNvPr>
          <p:cNvSpPr>
            <a:spLocks noGrp="1"/>
          </p:cNvSpPr>
          <p:nvPr>
            <p:ph type="sldNum" sz="quarter" idx="10"/>
          </p:nvPr>
        </p:nvSpPr>
        <p:spPr/>
        <p:txBody>
          <a:bodyPr/>
          <a:lstStyle/>
          <a:p>
            <a:fld id="{18BDFEC3-8487-43E8-A154-7C12CBC1FFF2}" type="slidenum">
              <a:rPr lang="en-US"/>
              <a:t>16</a:t>
            </a:fld>
            <a:endParaRPr lang="en-US"/>
          </a:p>
        </p:txBody>
      </p:sp>
    </p:spTree>
    <p:extLst>
      <p:ext uri="{BB962C8B-B14F-4D97-AF65-F5344CB8AC3E}">
        <p14:creationId xmlns:p14="http://schemas.microsoft.com/office/powerpoint/2010/main" val="257828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LLMs at a high level: what they are, how they’re trained, and why they matter for developers.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t>Emphasize that LLMs don’t actually “understand” code like humans do</a:t>
            </a:r>
          </a:p>
          <a:p>
            <a:pPr marL="0" lvl="0" indent="0">
              <a:buNone/>
            </a:pPr>
            <a:endParaRPr/>
          </a:p>
          <a:p>
            <a:pPr lvl="0"/>
            <a:r>
              <a:t>They use transformer architecture to recognize patterns and context</a:t>
            </a:r>
          </a:p>
          <a:p>
            <a:pPr marL="0" lvl="0" indent="0">
              <a:buNone/>
            </a:pPr>
            <a:endParaRPr/>
          </a:p>
          <a:p>
            <a:pPr lvl="0"/>
            <a:r>
              <a:t>Token-based processing: code is broken into tokens (words, symbols, operators)</a:t>
            </a:r>
          </a:p>
          <a:p>
            <a:pPr marL="0" lvl="0" indent="0">
              <a:buNone/>
            </a:pPr>
            <a:endParaRPr/>
          </a:p>
          <a:p>
            <a:pPr lvl="0"/>
            <a:r>
              <a:t>Explain that attention mechanisms are what make modern LLMs so powerful</a:t>
            </a:r>
          </a:p>
          <a:p>
            <a:pPr marL="0" lvl="0" indent="0">
              <a:buNone/>
            </a:pPr>
            <a:endParaRPr/>
          </a:p>
          <a:p>
            <a:pPr lvl="0"/>
            <a:r>
              <a:t>The scale is what makes the difference - billions of parameters</a:t>
            </a:r>
          </a:p>
          <a:p>
            <a:pPr marL="0" lvl="0" indent="0">
              <a:buNone/>
            </a:pPr>
            <a:endParaRPr/>
          </a:p>
          <a:p>
            <a:pPr lvl="0"/>
            <a:r>
              <a:t>When we say LLMs “understand” relationships, we mean they can statistically correlate patterns across tokens</a:t>
            </a:r>
          </a:p>
          <a:p>
            <a:pPr marL="0" lvl="0" indent="0">
              <a:buNone/>
            </a:pPr>
            <a:endParaRPr/>
          </a:p>
          <a:p>
            <a:pPr lvl="0"/>
            <a:r>
              <a:t>This pattern matching is extremely sophisticated but lacks true semantic comprehension</a:t>
            </a:r>
          </a:p>
          <a:p>
            <a:pPr marL="0" lvl="0" indent="0">
              <a:buNone/>
            </a:pPr>
            <a:endParaRPr/>
          </a:p>
          <a:p>
            <a:pPr lvl="0"/>
            <a:r>
              <a:t>Example: An LLM can recognize that a variable declared early in a function should be referenced later, not because it understands variables conceptually, but because it has seen this pattern millions of times in training</a:t>
            </a:r>
          </a:p>
          <a:p>
            <a:pPr marL="0" lvl="0" indent="0">
              <a:buNone/>
            </a:pPr>
            <a:endParaRPr/>
          </a:p>
          <a:p>
            <a:pPr lvl="0"/>
            <a:r>
              <a:t>The “understanding” is really about statistical associations between code patterns, not conceptual knowledge</a:t>
            </a:r>
          </a:p>
          <a:p>
            <a:pPr marL="0" lvl="0" indent="0">
              <a:buNone/>
            </a:pPr>
            <a:endParaRPr/>
          </a:p>
          <a:p>
            <a:pPr lvl="0"/>
            <a:r>
              <a:t>This is why LLMs can generate syntactically correct code that is logically flawed - they match patterns without true comprehension of the underlying logic</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Capabilities: Describe common uses (completion, refactoring, tests) and show a quick live example if time permits.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Limitations: Emphasize hallucination, context limits, and the need for human review and testing.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Do’s: Give practical tips—clear prompts, review, testing, and using AI for repetitive work.</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Don’ts: Warn against blind acceptance of suggestions, entering sensitive data in prompts, and skipping tests.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6B84-BF67-C458-5545-99E2C5C82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CDFA6-58EF-42DB-B0E2-FB4CB53BE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2607B-6B1D-C96F-1B26-CF66FF6817B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AEA050E9-2977-F6DA-239F-C2A504FED71E}"/>
              </a:ext>
            </a:extLst>
          </p:cNvPr>
          <p:cNvSpPr>
            <a:spLocks noGrp="1"/>
          </p:cNvSpPr>
          <p:nvPr>
            <p:ph type="sldNum" sz="quarter" idx="10"/>
          </p:nvPr>
        </p:nvSpPr>
        <p:spPr/>
        <p:txBody>
          <a:bodyPr/>
          <a:lstStyle/>
          <a:p>
            <a:fld id="{18BDFEC3-8487-43E8-A154-7C12CBC1FFF2}" type="slidenum">
              <a:rPr lang="en-US"/>
              <a:t>23</a:t>
            </a:fld>
            <a:endParaRPr lang="en-US"/>
          </a:p>
        </p:txBody>
      </p:sp>
    </p:spTree>
    <p:extLst>
      <p:ext uri="{BB962C8B-B14F-4D97-AF65-F5344CB8AC3E}">
        <p14:creationId xmlns:p14="http://schemas.microsoft.com/office/powerpoint/2010/main" val="201507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Input Processing</a:t>
            </a:r>
            <a:r>
              <a:t>: - Developer provides natural language prompts + existing code context - Input is tokenized into discrete units the model can process - Tokens are converted to numerical vectors (embeddings)</a:t>
            </a:r>
          </a:p>
          <a:p>
            <a:pPr marL="0" lvl="0" indent="0">
              <a:buNone/>
            </a:pPr>
            <a:endParaRPr/>
          </a:p>
          <a:p>
            <a:pPr marL="0" lvl="0" indent="0">
              <a:buNone/>
            </a:pPr>
            <a:r>
              <a:rPr b="1"/>
              <a:t>Core Processing</a:t>
            </a:r>
            <a:r>
              <a:t>: - Transformer layers use self-attention to understand relationships - Context window maintains recent conversation/code history - Pattern recognition identifies relevant code structures and syntax</a:t>
            </a:r>
          </a:p>
          <a:p>
            <a:pPr marL="0" lvl="0" indent="0">
              <a:buNone/>
            </a:pPr>
            <a:endParaRPr/>
          </a:p>
          <a:p>
            <a:pPr marL="0" lvl="0" indent="0">
              <a:buNone/>
            </a:pPr>
            <a:r>
              <a:rPr b="1"/>
              <a:t>Output Generation</a:t>
            </a:r>
            <a:r>
              <a:t>: - Model generates probability distributions for next tokens - Decoding strategies determine how to select from probabilities - Output is converted back to readable code</a:t>
            </a:r>
          </a:p>
          <a:p>
            <a:pPr marL="0" lvl="0" indent="0">
              <a:buNone/>
            </a:pPr>
            <a:endParaRPr/>
          </a:p>
          <a:p>
            <a:pPr marL="0" lvl="0" indent="0">
              <a:buNone/>
            </a:pPr>
            <a:r>
              <a:rPr b="1"/>
              <a:t>Human in the Loop</a:t>
            </a:r>
            <a:r>
              <a:t>: - Critical validation step - AI is a tool, not a replacement - Feedback loop for prompt refinement and learning</a:t>
            </a:r>
          </a:p>
          <a:p>
            <a:pPr marL="0" lvl="0" indent="0">
              <a:buNone/>
            </a:pPr>
            <a:endParaRPr/>
          </a:p>
          <a:p>
            <a:pPr marL="0" lvl="0" indent="0">
              <a:buNone/>
            </a:pPr>
            <a:r>
              <a:rPr b="1"/>
              <a:t>Training Influence</a:t>
            </a:r>
            <a:r>
              <a:t>: - Large code repositories provide pattern knowledge - Fine-tuning specializes models for coding tasks - Quality of training data directly impacts output quality</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Contamination‑Free Benchmarks</a:t>
            </a:r>
          </a:p>
          <a:p>
            <a:r>
              <a:rPr lang="en-US" dirty="0"/>
              <a:t>Why They Matter — and How They Work</a:t>
            </a:r>
          </a:p>
          <a:p>
            <a:r>
              <a:rPr lang="en-US" dirty="0"/>
              <a:t>Contamination‑free benchmarks exist because modern LLMs are trained on </a:t>
            </a:r>
            <a:r>
              <a:rPr lang="en-US" b="1" dirty="0"/>
              <a:t>massive, scraped corpora</a:t>
            </a:r>
            <a:r>
              <a:rPr lang="en-US" dirty="0"/>
              <a:t> that often include the very benchmarks used to evaluate them. If a model has already seen the test set during training, its score is inflated — sometimes dramatically — and no longer reflects real reasoning or coding 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contamination‑free benchmark is designed to </a:t>
            </a:r>
            <a:r>
              <a:rPr lang="en-US" b="1" dirty="0"/>
              <a:t>eliminate that inflation</a:t>
            </a:r>
            <a:r>
              <a:rPr lang="en-US" dirty="0"/>
              <a:t> and give you a score you can actually trust.</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31</a:t>
            </a:fld>
            <a:endParaRPr lang="en-US"/>
          </a:p>
        </p:txBody>
      </p:sp>
    </p:spTree>
    <p:extLst>
      <p:ext uri="{BB962C8B-B14F-4D97-AF65-F5344CB8AC3E}">
        <p14:creationId xmlns:p14="http://schemas.microsoft.com/office/powerpoint/2010/main" val="991548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43AF1-ADAF-828D-2065-D34E9C683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88140-ADD6-C802-2EE7-220F7D7A4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DE256-7738-D89F-3ABA-AB17881A7D2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5A092C7-1D46-057A-B865-19BF8DB9A885}"/>
              </a:ext>
            </a:extLst>
          </p:cNvPr>
          <p:cNvSpPr>
            <a:spLocks noGrp="1"/>
          </p:cNvSpPr>
          <p:nvPr>
            <p:ph type="sldNum" sz="quarter" idx="10"/>
          </p:nvPr>
        </p:nvSpPr>
        <p:spPr/>
        <p:txBody>
          <a:bodyPr/>
          <a:lstStyle/>
          <a:p>
            <a:fld id="{18BDFEC3-8487-43E8-A154-7C12CBC1FFF2}" type="slidenum">
              <a:rPr lang="en-US"/>
              <a:t>32</a:t>
            </a:fld>
            <a:endParaRPr lang="en-US"/>
          </a:p>
        </p:txBody>
      </p:sp>
    </p:spTree>
    <p:extLst>
      <p:ext uri="{BB962C8B-B14F-4D97-AF65-F5344CB8AC3E}">
        <p14:creationId xmlns:p14="http://schemas.microsoft.com/office/powerpoint/2010/main" val="415675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Outline governance, admin controls, and adoption factors (training, policy, developer onboarding).</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the motivating questions about IP, privacy, and safe use that led to this presentation.</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productivity, documentation, test generation, and onboarding benefits with brief examples.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Cover IP leakage, code quality risks, and developer overreliance; suggest mitigations for each.</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Discuss regulatory impacts, auditability, and how to enforce coding policies with automated checks.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data flows, model retraining policy for enterprise plans, and recommended org controls to protect IP.</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risks of suggested code resembling public repos and recommend legal review and filter settings.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Summarize plan differences and pick considerations (control, audit, scale) for each offering.</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Practical checklist: avoid secrets in prompts, enable public-code filters, and establish review processes.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Point attendees to official docs and FAQs; recommend follow-up reading links on the slide.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C912-5025-38F0-606E-0434328F4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3111D-B73F-988F-3704-349041F02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2A0D8-0BC2-12C7-E57B-76670E5BCC2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87CA825F-E8D7-8B1C-1832-6ADECE7D5F8B}"/>
              </a:ext>
            </a:extLst>
          </p:cNvPr>
          <p:cNvSpPr>
            <a:spLocks noGrp="1"/>
          </p:cNvSpPr>
          <p:nvPr>
            <p:ph type="sldNum" sz="quarter" idx="10"/>
          </p:nvPr>
        </p:nvSpPr>
        <p:spPr/>
        <p:txBody>
          <a:bodyPr/>
          <a:lstStyle/>
          <a:p>
            <a:fld id="{18BDFEC3-8487-43E8-A154-7C12CBC1FFF2}" type="slidenum">
              <a:rPr lang="en-US"/>
              <a:t>43</a:t>
            </a:fld>
            <a:endParaRPr lang="en-US"/>
          </a:p>
        </p:txBody>
      </p:sp>
    </p:spTree>
    <p:extLst>
      <p:ext uri="{BB962C8B-B14F-4D97-AF65-F5344CB8AC3E}">
        <p14:creationId xmlns:p14="http://schemas.microsoft.com/office/powerpoint/2010/main" val="20564619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**Lab 1: Getting Started with GitHub Copilot**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**Duration:**</a:t>
            </a:r>
            <a:r>
              <a:rPr lang="en-US" sz="1200" b="0" kern="1200" dirty="0">
                <a:solidFill>
                  <a:schemeClr val="tx1"/>
                </a:solidFill>
                <a:effectLst/>
                <a:latin typeface="+mn-lt"/>
                <a:ea typeface="+mn-ea"/>
                <a:cs typeface="+mn-cs"/>
              </a:rPr>
              <a:t> 20-30 minutes</a:t>
            </a:r>
          </a:p>
          <a:p>
            <a:r>
              <a:rPr lang="en-US" sz="1200" b="1" kern="1200" dirty="0">
                <a:solidFill>
                  <a:schemeClr val="tx1"/>
                </a:solidFill>
                <a:effectLst/>
                <a:latin typeface="+mn-lt"/>
                <a:ea typeface="+mn-ea"/>
                <a:cs typeface="+mn-cs"/>
              </a:rPr>
              <a:t>**Prerequisites:**</a:t>
            </a:r>
            <a:r>
              <a:rPr lang="en-US" sz="1200" b="0" kern="1200" dirty="0">
                <a:solidFill>
                  <a:schemeClr val="tx1"/>
                </a:solidFill>
                <a:effectLst/>
                <a:latin typeface="+mn-lt"/>
                <a:ea typeface="+mn-ea"/>
                <a:cs typeface="+mn-cs"/>
              </a:rPr>
              <a:t> VS Code installed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Objectives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Install and configure GitHub Copilot</a:t>
            </a:r>
          </a:p>
          <a:p>
            <a:r>
              <a:rPr lang="en-US" sz="1200" b="0" kern="1200" dirty="0">
                <a:solidFill>
                  <a:schemeClr val="tx1"/>
                </a:solidFill>
                <a:effectLst/>
                <a:latin typeface="+mn-lt"/>
                <a:ea typeface="+mn-ea"/>
                <a:cs typeface="+mn-cs"/>
              </a:rPr>
              <a:t>- Verify authentication with GitHub account</a:t>
            </a:r>
          </a:p>
          <a:p>
            <a:r>
              <a:rPr lang="en-US" sz="1200" b="0" kern="1200" dirty="0">
                <a:solidFill>
                  <a:schemeClr val="tx1"/>
                </a:solidFill>
                <a:effectLst/>
                <a:latin typeface="+mn-lt"/>
                <a:ea typeface="+mn-ea"/>
                <a:cs typeface="+mn-cs"/>
              </a:rPr>
              <a:t>- Explore the Copilot UI components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Activities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Install GitHub Copilot extension from VS Code marketplace</a:t>
            </a:r>
          </a:p>
          <a:p>
            <a:r>
              <a:rPr lang="en-US" sz="1200" b="0" kern="1200" dirty="0">
                <a:solidFill>
                  <a:schemeClr val="tx1"/>
                </a:solidFill>
                <a:effectLst/>
                <a:latin typeface="+mn-lt"/>
                <a:ea typeface="+mn-ea"/>
                <a:cs typeface="+mn-cs"/>
              </a:rPr>
              <a:t>2. Sign in with your GitHub account (verify Copilot subscription)</a:t>
            </a:r>
          </a:p>
          <a:p>
            <a:r>
              <a:rPr lang="en-US" sz="1200" b="0" kern="1200" dirty="0">
                <a:solidFill>
                  <a:schemeClr val="tx1"/>
                </a:solidFill>
                <a:effectLst/>
                <a:latin typeface="+mn-lt"/>
                <a:ea typeface="+mn-ea"/>
                <a:cs typeface="+mn-cs"/>
              </a:rPr>
              <a:t>3. Locate and explore:</a:t>
            </a:r>
          </a:p>
          <a:p>
            <a:r>
              <a:rPr lang="en-US" sz="1200" b="0" kern="1200" dirty="0">
                <a:solidFill>
                  <a:schemeClr val="tx1"/>
                </a:solidFill>
                <a:effectLst/>
                <a:latin typeface="+mn-lt"/>
                <a:ea typeface="+mn-ea"/>
                <a:cs typeface="+mn-cs"/>
              </a:rPr>
              <a:t>   - Chat window and chat history</a:t>
            </a:r>
          </a:p>
          <a:p>
            <a:r>
              <a:rPr lang="en-US" sz="1200" b="0" kern="1200" dirty="0">
                <a:solidFill>
                  <a:schemeClr val="tx1"/>
                </a:solidFill>
                <a:effectLst/>
                <a:latin typeface="+mn-lt"/>
                <a:ea typeface="+mn-ea"/>
                <a:cs typeface="+mn-cs"/>
              </a:rPr>
              <a:t>   - New chat button</a:t>
            </a:r>
          </a:p>
          <a:p>
            <a:r>
              <a:rPr lang="en-US" sz="1200" b="0" kern="1200" dirty="0">
                <a:solidFill>
                  <a:schemeClr val="tx1"/>
                </a:solidFill>
                <a:effectLst/>
                <a:latin typeface="+mn-lt"/>
                <a:ea typeface="+mn-ea"/>
                <a:cs typeface="+mn-cs"/>
              </a:rPr>
              <a:t>   - Quick chat feature (keyboard shortcut)</a:t>
            </a:r>
          </a:p>
          <a:p>
            <a:r>
              <a:rPr lang="en-US" sz="1200" b="0" kern="1200" dirty="0">
                <a:solidFill>
                  <a:schemeClr val="tx1"/>
                </a:solidFill>
                <a:effectLst/>
                <a:latin typeface="+mn-lt"/>
                <a:ea typeface="+mn-ea"/>
                <a:cs typeface="+mn-cs"/>
              </a:rPr>
              <a:t>   - Settings menu</a:t>
            </a:r>
          </a:p>
          <a:p>
            <a:r>
              <a:rPr lang="en-US" sz="1200" b="0" kern="1200" dirty="0">
                <a:solidFill>
                  <a:schemeClr val="tx1"/>
                </a:solidFill>
                <a:effectLst/>
                <a:latin typeface="+mn-lt"/>
                <a:ea typeface="+mn-ea"/>
                <a:cs typeface="+mn-cs"/>
              </a:rPr>
              <a:t>   - Model selection dropdown</a:t>
            </a:r>
          </a:p>
          <a:p>
            <a:r>
              <a:rPr lang="en-US" sz="1200" b="0" kern="1200" dirty="0">
                <a:solidFill>
                  <a:schemeClr val="tx1"/>
                </a:solidFill>
                <a:effectLst/>
                <a:latin typeface="+mn-lt"/>
                <a:ea typeface="+mn-ea"/>
                <a:cs typeface="+mn-cs"/>
              </a:rPr>
              <a:t>4. Check your premium token usage bar</a:t>
            </a:r>
          </a:p>
          <a:p>
            <a:r>
              <a:rPr lang="en-US" sz="1200" b="0" kern="1200" dirty="0">
                <a:solidFill>
                  <a:schemeClr val="tx1"/>
                </a:solidFill>
                <a:effectLst/>
                <a:latin typeface="+mn-lt"/>
                <a:ea typeface="+mn-ea"/>
                <a:cs typeface="+mn-cs"/>
              </a:rPr>
              <a:t>5. Create a new chat and experiment with the interface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Success Criteria</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Copilot extension installed and authenticated</a:t>
            </a:r>
          </a:p>
          <a:p>
            <a:r>
              <a:rPr lang="en-US" sz="1200" b="0" kern="1200" dirty="0">
                <a:solidFill>
                  <a:schemeClr val="tx1"/>
                </a:solidFill>
                <a:effectLst/>
                <a:latin typeface="+mn-lt"/>
                <a:ea typeface="+mn-ea"/>
                <a:cs typeface="+mn-cs"/>
              </a:rPr>
              <a:t>- Can open/close chat windows</a:t>
            </a:r>
          </a:p>
          <a:p>
            <a:r>
              <a:rPr lang="en-US" sz="1200" b="0" kern="1200" dirty="0">
                <a:solidFill>
                  <a:schemeClr val="tx1"/>
                </a:solidFill>
                <a:effectLst/>
                <a:latin typeface="+mn-lt"/>
                <a:ea typeface="+mn-ea"/>
                <a:cs typeface="+mn-cs"/>
              </a:rPr>
              <a:t>- Understand difference between main chat and quick chat</a:t>
            </a:r>
          </a:p>
          <a:p>
            <a:r>
              <a:rPr lang="en-US" sz="1200" b="0" kern="1200" dirty="0">
                <a:solidFill>
                  <a:schemeClr val="tx1"/>
                </a:solidFill>
                <a:effectLst/>
                <a:latin typeface="+mn-lt"/>
                <a:ea typeface="+mn-ea"/>
                <a:cs typeface="+mn-cs"/>
              </a:rPr>
              <a:t>- Know where to find chat history</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45</a:t>
            </a:fld>
            <a:endParaRPr lang="en-US"/>
          </a:p>
        </p:txBody>
      </p:sp>
    </p:spTree>
    <p:extLst>
      <p:ext uri="{BB962C8B-B14F-4D97-AF65-F5344CB8AC3E}">
        <p14:creationId xmlns:p14="http://schemas.microsoft.com/office/powerpoint/2010/main" val="19685956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9EC8-FBD2-23D3-A1BB-F0CF7E819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C3DFC-4CC6-633E-8555-25F2B220F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18B0-A309-6B18-DDA6-C94A1527FB5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3570CCD-6FDD-D015-FDBE-6F03BCCC267C}"/>
              </a:ext>
            </a:extLst>
          </p:cNvPr>
          <p:cNvSpPr>
            <a:spLocks noGrp="1"/>
          </p:cNvSpPr>
          <p:nvPr>
            <p:ph type="sldNum" sz="quarter" idx="10"/>
          </p:nvPr>
        </p:nvSpPr>
        <p:spPr/>
        <p:txBody>
          <a:bodyPr/>
          <a:lstStyle/>
          <a:p>
            <a:fld id="{18BDFEC3-8487-43E8-A154-7C12CBC1FFF2}" type="slidenum">
              <a:rPr lang="en-US"/>
              <a:t>52</a:t>
            </a:fld>
            <a:endParaRPr lang="en-US"/>
          </a:p>
        </p:txBody>
      </p:sp>
    </p:spTree>
    <p:extLst>
      <p:ext uri="{BB962C8B-B14F-4D97-AF65-F5344CB8AC3E}">
        <p14:creationId xmlns:p14="http://schemas.microsoft.com/office/powerpoint/2010/main" val="38064945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Mob programming in a AIASD course? </a:t>
            </a:r>
            <a:br>
              <a:rPr lang="en-US" dirty="0"/>
            </a:br>
            <a:br>
              <a:rPr lang="en-US" dirty="0"/>
            </a:br>
            <a:r>
              <a:rPr lang="en-US" dirty="0"/>
              <a:t>AI code generation is</a:t>
            </a:r>
            <a:r>
              <a:rPr lang="en-US" baseline="0" dirty="0"/>
              <a:t> nondeterministic. Attendees working on their own will see different output which will be difficult to explain. So rather than working on labs individually, work on them as a group using a shared codebase. This way they get the “hands-on” experience they expect without the nondeterministic nature of AI getting in the way.</a:t>
            </a:r>
          </a:p>
          <a:p>
            <a:endParaRPr lang="en-US" baseline="0" dirty="0"/>
          </a:p>
          <a:p>
            <a:r>
              <a:rPr lang="en-US" baseline="0" dirty="0"/>
              <a:t>Mob.sh makes this collaboration easier and more seamless. </a:t>
            </a:r>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53</a:t>
            </a:fld>
            <a:endParaRPr lang="en-US"/>
          </a:p>
        </p:txBody>
      </p:sp>
    </p:spTree>
    <p:extLst>
      <p:ext uri="{BB962C8B-B14F-4D97-AF65-F5344CB8AC3E}">
        <p14:creationId xmlns:p14="http://schemas.microsoft.com/office/powerpoint/2010/main" val="12469760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b="1" dirty="0"/>
              <a:t>Objective</a:t>
            </a:r>
            <a:r>
              <a:rPr lang="en-US" dirty="0"/>
              <a:t>: Fork the course repos </a:t>
            </a:r>
            <a:r>
              <a:rPr lang="en-US" b="1" dirty="0"/>
              <a:t>Tasks</a:t>
            </a:r>
          </a:p>
          <a:p>
            <a:pPr lvl="0"/>
            <a:r>
              <a:rPr lang="en-US" dirty="0"/>
              <a:t>Search GitHub for</a:t>
            </a:r>
          </a:p>
          <a:p>
            <a:pPr lvl="1"/>
            <a:r>
              <a:rPr lang="en-US" dirty="0"/>
              <a:t>AI-Assisted-Software-Development</a:t>
            </a:r>
          </a:p>
          <a:p>
            <a:pPr lvl="0"/>
            <a:r>
              <a:rPr lang="en-US" dirty="0"/>
              <a:t>Fork this repo</a:t>
            </a:r>
          </a:p>
          <a:p>
            <a:pPr lvl="1"/>
            <a:r>
              <a:rPr lang="en-US" dirty="0"/>
              <a:t>This will create a personal copy under your GitHub account</a:t>
            </a:r>
          </a:p>
          <a:p>
            <a:pPr lvl="1"/>
            <a:r>
              <a:rPr lang="en-US" dirty="0"/>
              <a:t>You can make changes without affecting the original repo</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56</a:t>
            </a:fld>
            <a:endParaRPr lang="en-US"/>
          </a:p>
        </p:txBody>
      </p:sp>
    </p:spTree>
    <p:extLst>
      <p:ext uri="{BB962C8B-B14F-4D97-AF65-F5344CB8AC3E}">
        <p14:creationId xmlns:p14="http://schemas.microsoft.com/office/powerpoint/2010/main" val="7589184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BE7C-9FAE-47DA-29E5-63F9E7F7A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0CEE3-3741-B46A-D22C-9A59835CF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71BD8-C3C0-B75D-2460-0D2FAACB1DBD}"/>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83CE6D6-AA20-F40A-E045-E83219A80041}"/>
              </a:ext>
            </a:extLst>
          </p:cNvPr>
          <p:cNvSpPr>
            <a:spLocks noGrp="1"/>
          </p:cNvSpPr>
          <p:nvPr>
            <p:ph type="sldNum" sz="quarter" idx="10"/>
          </p:nvPr>
        </p:nvSpPr>
        <p:spPr/>
        <p:txBody>
          <a:bodyPr/>
          <a:lstStyle/>
          <a:p>
            <a:fld id="{18BDFEC3-8487-43E8-A154-7C12CBC1FFF2}" type="slidenum">
              <a:rPr lang="en-US"/>
              <a:t>68</a:t>
            </a:fld>
            <a:endParaRPr lang="en-US"/>
          </a:p>
        </p:txBody>
      </p:sp>
    </p:spTree>
    <p:extLst>
      <p:ext uri="{BB962C8B-B14F-4D97-AF65-F5344CB8AC3E}">
        <p14:creationId xmlns:p14="http://schemas.microsoft.com/office/powerpoint/2010/main" val="885352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slide outlines the collaborative development process we’ll follow for building our calculator application — and mob programming will be central to how we work together.</a:t>
            </a:r>
            <a:br>
              <a:rPr lang="en-US" dirty="0">
                <a:effectLst/>
              </a:rPr>
            </a:br>
            <a:br>
              <a:rPr lang="en-US" dirty="0">
                <a:effectLst/>
              </a:rPr>
            </a:br>
            <a:r>
              <a:rPr lang="en-US" dirty="0">
                <a:effectLst/>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lang="en-US" dirty="0">
              <a:effectLst/>
            </a:endParaRPr>
          </a:p>
          <a:p>
            <a:r>
              <a:rPr lang="en-US" dirty="0">
                <a:effectLst/>
              </a:rPr>
              <a:t>We begin with </a:t>
            </a:r>
            <a:r>
              <a:rPr lang="en-US" b="1" dirty="0">
                <a:effectLst/>
              </a:rPr>
              <a:t>Project Setup</a:t>
            </a:r>
            <a:r>
              <a:rPr lang="en-US" dirty="0">
                <a:effectLst/>
              </a:rPr>
              <a:t>, where the team configures the environment, aligns on goals, and prepares the repo. This is done as a mob — one keyboard, one screen, and everyone contributing ideas in real time. It ensures shared understanding from the start.</a:t>
            </a:r>
          </a:p>
          <a:p>
            <a:endParaRPr lang="en-US" dirty="0">
              <a:effectLst/>
            </a:endParaRPr>
          </a:p>
          <a:p>
            <a:r>
              <a:rPr lang="en-US" dirty="0">
                <a:effectLst/>
              </a:rPr>
              <a:t>At the end of the day, we introduce </a:t>
            </a:r>
            <a:r>
              <a:rPr lang="en-US" b="1" dirty="0">
                <a:effectLst/>
              </a:rPr>
              <a:t>Evergreen Software Development</a:t>
            </a:r>
            <a:r>
              <a:rPr lang="en-US" dirty="0">
                <a:effectLst/>
              </a:rPr>
              <a:t> — a mindset of continuous improvement. </a:t>
            </a:r>
            <a:br>
              <a:rPr lang="en-US" dirty="0">
                <a:effectLst/>
              </a:rPr>
            </a:br>
            <a:br>
              <a:rPr lang="en-US" dirty="0">
                <a:effectLst/>
              </a:rPr>
            </a:br>
            <a:r>
              <a:rPr lang="en-US" dirty="0">
                <a:effectLst/>
              </a:rPr>
              <a:t>Random ideas:</a:t>
            </a:r>
            <a:br>
              <a:rPr lang="en-US" dirty="0">
                <a:effectLst/>
              </a:rPr>
            </a:br>
            <a:r>
              <a:rPr lang="en-US" dirty="0">
                <a:effectLst/>
              </a:rPr>
              <a:t>Implementing Observability</a:t>
            </a:r>
          </a:p>
          <a:p>
            <a:endParaRPr lang="en-US" dirty="0">
              <a:effectLst/>
            </a:endParaRPr>
          </a:p>
          <a:p>
            <a:r>
              <a:rPr lang="en-US" sz="1200" b="0" i="0" kern="1200" dirty="0">
                <a:solidFill>
                  <a:schemeClr val="tx1"/>
                </a:solidFill>
                <a:effectLst/>
                <a:latin typeface="+mn-lt"/>
                <a:ea typeface="+mn-ea"/>
                <a:cs typeface="+mn-cs"/>
              </a:rPr>
              <a:t>Scaffold a new C# command line project using .NET. The project should include: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Program.cs</a:t>
            </a:r>
            <a:r>
              <a:rPr lang="en-US" sz="1200" b="0" i="0" kern="1200" dirty="0">
                <a:solidFill>
                  <a:schemeClr val="tx1"/>
                </a:solidFill>
                <a:effectLst/>
                <a:latin typeface="+mn-lt"/>
                <a:ea typeface="+mn-ea"/>
                <a:cs typeface="+mn-cs"/>
              </a:rPr>
              <a:t> file with a simple "Hello, World!" example.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csproj</a:t>
            </a:r>
            <a:r>
              <a:rPr lang="en-US" sz="1200" b="0" i="0" kern="1200" dirty="0">
                <a:solidFill>
                  <a:schemeClr val="tx1"/>
                </a:solidFill>
                <a:effectLst/>
                <a:latin typeface="+mn-lt"/>
                <a:ea typeface="+mn-ea"/>
                <a:cs typeface="+mn-cs"/>
              </a:rPr>
              <a:t> file configured for a console application.</a:t>
            </a:r>
          </a:p>
          <a:p>
            <a:r>
              <a:rPr lang="en-US" sz="1200" b="0" i="0" kern="1200" dirty="0">
                <a:solidFill>
                  <a:schemeClr val="tx1"/>
                </a:solidFill>
                <a:effectLst/>
                <a:latin typeface="+mn-lt"/>
                <a:ea typeface="+mn-ea"/>
                <a:cs typeface="+mn-cs"/>
              </a:rPr>
              <a:t>A </a:t>
            </a:r>
            <a:r>
              <a:rPr lang="en-US" sz="1200" b="0" i="0" u="none" strike="noStrike" kern="1200" dirty="0">
                <a:solidFill>
                  <a:schemeClr val="tx1"/>
                </a:solidFill>
                <a:effectLst/>
                <a:latin typeface="+mn-lt"/>
                <a:ea typeface="+mn-ea"/>
                <a:cs typeface="+mn-cs"/>
                <a:hlinkClick r:id="rId3"/>
              </a:rPr>
              <a:t>README.md</a:t>
            </a:r>
            <a:r>
              <a:rPr lang="en-US" sz="1200" b="0" i="0" kern="1200" dirty="0">
                <a:solidFill>
                  <a:schemeClr val="tx1"/>
                </a:solidFill>
                <a:effectLst/>
                <a:latin typeface="+mn-lt"/>
                <a:ea typeface="+mn-ea"/>
                <a:cs typeface="+mn-cs"/>
              </a:rPr>
              <a:t> with build and run instructions.</a:t>
            </a:r>
          </a:p>
          <a:p>
            <a:r>
              <a:rPr lang="en-US" sz="1200" b="0" i="0" kern="1200" dirty="0">
                <a:solidFill>
                  <a:schemeClr val="tx1"/>
                </a:solidFill>
                <a:effectLst/>
                <a:latin typeface="+mn-lt"/>
                <a:ea typeface="+mn-ea"/>
                <a:cs typeface="+mn-cs"/>
              </a:rPr>
              <a:t>The project should be ready to build and run from the command line.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70</a:t>
            </a:fld>
            <a:endParaRPr lang="en-US"/>
          </a:p>
        </p:txBody>
      </p:sp>
    </p:spTree>
    <p:extLst>
      <p:ext uri="{BB962C8B-B14F-4D97-AF65-F5344CB8AC3E}">
        <p14:creationId xmlns:p14="http://schemas.microsoft.com/office/powerpoint/2010/main" val="39194012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E91B0-C61C-CD50-ADB0-736E45C34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5920F-38B2-41DE-DDD7-A1C5AE7A2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6C7ED-8AE3-0C38-9B8C-D4FB5180954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B07569C-F37F-8E48-86B3-09416473392A}"/>
              </a:ext>
            </a:extLst>
          </p:cNvPr>
          <p:cNvSpPr>
            <a:spLocks noGrp="1"/>
          </p:cNvSpPr>
          <p:nvPr>
            <p:ph type="sldNum" sz="quarter" idx="10"/>
          </p:nvPr>
        </p:nvSpPr>
        <p:spPr/>
        <p:txBody>
          <a:bodyPr/>
          <a:lstStyle/>
          <a:p>
            <a:fld id="{18BDFEC3-8487-43E8-A154-7C12CBC1FFF2}" type="slidenum">
              <a:rPr lang="en-US"/>
              <a:t>91</a:t>
            </a:fld>
            <a:endParaRPr lang="en-US"/>
          </a:p>
        </p:txBody>
      </p:sp>
    </p:spTree>
    <p:extLst>
      <p:ext uri="{BB962C8B-B14F-4D97-AF65-F5344CB8AC3E}">
        <p14:creationId xmlns:p14="http://schemas.microsoft.com/office/powerpoint/2010/main" val="25068308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bg>
      <p:bgPr>
        <a:solidFill>
          <a:srgbClr val="007FB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638298" y="83424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3" Type="http://schemas.openxmlformats.org/officeDocument/2006/relationships/hyperlink" Target="../CODE/Fundementals/LLM-Architecture-Diagram.p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privacy.microsoft.com/en-us/privacystatement"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docs.github.com/en/copilot"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hyperlink" Target="https://docs.github.com/en/copilot/security" TargetMode="External"/><Relationship Id="rId4" Type="http://schemas.openxmlformats.org/officeDocument/2006/relationships/hyperlink" Target="https://github.com/features/copilot-for-business" TargetMode="Externa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bing.com/search?q=%22https%3A%2F%2Fgithub.com%2Fremotemobprogramming%2Fmob%22" TargetMode="External"/><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31252379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872116" y="3391847"/>
            <a:ext cx="7399768" cy="923330"/>
          </a:xfrm>
          <a:prstGeom prst="rect">
            <a:avLst/>
          </a:prstGeom>
          <a:noFill/>
        </p:spPr>
        <p:txBody>
          <a:bodyPr wrap="square">
            <a:spAutoFit/>
          </a:bodyPr>
          <a:lstStyle/>
          <a:p>
            <a:pPr algn="ctr" defTabSz="685800">
              <a:spcBef>
                <a:spcPts val="750"/>
              </a:spcBef>
              <a:defRPr/>
            </a:pPr>
            <a:r>
              <a:rPr lang="en-U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3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394421" y="1904690"/>
            <a:ext cx="6355156" cy="1276971"/>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2671393" y="932720"/>
            <a:ext cx="3811142" cy="113381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marL="0" lvl="0" indent="0">
              <a:buNone/>
            </a:pPr>
            <a:r>
              <a:rPr lang="en-US" sz="3100" dirty="0"/>
              <a:t>AI Assisted Software Development</a:t>
            </a:r>
          </a:p>
        </p:txBody>
      </p:sp>
      <p:graphicFrame>
        <p:nvGraphicFramePr>
          <p:cNvPr id="5" name="Content Placeholder 2">
            <a:extLst>
              <a:ext uri="{FF2B5EF4-FFF2-40B4-BE49-F238E27FC236}">
                <a16:creationId xmlns:a16="http://schemas.microsoft.com/office/drawing/2014/main" id="{2B2D6827-DF9F-D1D0-2BBB-A2DB910F5134}"/>
              </a:ext>
            </a:extLst>
          </p:cNvPr>
          <p:cNvGraphicFramePr>
            <a:graphicFrameLocks noGrp="1"/>
          </p:cNvGraphicFramePr>
          <p:nvPr>
            <p:ph type="pic" sz="quarter" idx="10"/>
            <p:extLst>
              <p:ext uri="{D42A27DB-BD31-4B8C-83A1-F6EECF244321}">
                <p14:modId xmlns:p14="http://schemas.microsoft.com/office/powerpoint/2010/main" val="3115450561"/>
              </p:ext>
            </p:extLst>
          </p:nvPr>
        </p:nvGraphicFramePr>
        <p:xfrm>
          <a:off x="674688" y="977462"/>
          <a:ext cx="7794625" cy="3691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1075A7DB-B027-FDC5-B4A8-471F34D97340}"/>
              </a:ext>
            </a:extLst>
          </p:cNvPr>
          <p:cNvSpPr>
            <a:spLocks noGrp="1"/>
          </p:cNvSpPr>
          <p:nvPr>
            <p:ph type="body" sz="quarter" idx="11"/>
          </p:nvPr>
        </p:nvSpPr>
        <p:spPr/>
        <p:txBody>
          <a:bodyPr/>
          <a:lstStyle/>
          <a:p>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133359558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42842443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E54B-78D7-6771-8A37-8A385301D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2D4C8-1B73-7579-A3BE-241467F6432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9CAC804-79AF-DA5A-0EB9-5625E18EB8EC}"/>
              </a:ext>
            </a:extLst>
          </p:cNvPr>
          <p:cNvGraphicFramePr>
            <a:graphicFrameLocks noGrp="1"/>
          </p:cNvGraphicFramePr>
          <p:nvPr>
            <p:ph idx="1"/>
            <p:extLst>
              <p:ext uri="{D42A27DB-BD31-4B8C-83A1-F6EECF244321}">
                <p14:modId xmlns:p14="http://schemas.microsoft.com/office/powerpoint/2010/main" val="81878000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395501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The AI Revolution?</a:t>
            </a:r>
            <a:endParaRPr dirty="0"/>
          </a:p>
        </p:txBody>
      </p:sp>
      <p:sp>
        <p:nvSpPr>
          <p:cNvPr id="3" name="Content Placeholder 2"/>
          <p:cNvSpPr>
            <a:spLocks noGrp="1"/>
          </p:cNvSpPr>
          <p:nvPr>
            <p:ph idx="1"/>
          </p:nvPr>
        </p:nvSpPr>
        <p:spPr/>
        <p:txBody>
          <a:bodyPr>
            <a:normAutofit fontScale="92500" lnSpcReduction="10000"/>
          </a:bodyPr>
          <a:lstStyle/>
          <a:p>
            <a:pPr marL="1270000" lvl="0" indent="0">
              <a:buNone/>
            </a:pPr>
            <a:r>
              <a:rPr sz="2000" dirty="0"/>
              <a:t>“Programming hasn’t changed, but how we go about it has changed, again.”</a:t>
            </a:r>
            <a:endParaRPr lang="en-US" sz="2000" dirty="0"/>
          </a:p>
          <a:p>
            <a:pPr marL="1270000" lvl="0" indent="0">
              <a:buNone/>
            </a:pPr>
            <a:endParaRPr sz="2000" dirty="0"/>
          </a:p>
          <a:p>
            <a:pPr lvl="0"/>
            <a:r>
              <a:rPr dirty="0"/>
              <a:t>AI-assisted development is </a:t>
            </a:r>
            <a:r>
              <a:rPr b="1" dirty="0"/>
              <a:t>evolutionary</a:t>
            </a:r>
            <a:r>
              <a:rPr dirty="0"/>
              <a:t>, not revolutionary</a:t>
            </a:r>
          </a:p>
          <a:p>
            <a:pPr lvl="0"/>
            <a:r>
              <a:rPr dirty="0"/>
              <a:t>Programming has always been about </a:t>
            </a:r>
            <a:r>
              <a:rPr b="1" dirty="0"/>
              <a:t>expressing human intent</a:t>
            </a:r>
            <a:r>
              <a:rPr dirty="0"/>
              <a:t> to machines</a:t>
            </a:r>
          </a:p>
          <a:p>
            <a:pPr lvl="0"/>
            <a:r>
              <a:rPr dirty="0"/>
              <a:t>What changes is the </a:t>
            </a:r>
            <a:r>
              <a:rPr b="1" dirty="0"/>
              <a:t>sophistication of our tools</a:t>
            </a:r>
            <a:r>
              <a:rPr dirty="0"/>
              <a:t> for expressing intent</a:t>
            </a:r>
          </a:p>
          <a:p>
            <a:pPr lvl="0"/>
            <a:r>
              <a:rPr dirty="0"/>
              <a:t>The essence remains: bridging the gap between what we want and what machines can do</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Why AI Assisted Software Development</a:t>
            </a:r>
          </a:p>
        </p:txBody>
      </p:sp>
      <p:sp>
        <p:nvSpPr>
          <p:cNvPr id="3" name="Content Placeholder 2"/>
          <p:cNvSpPr>
            <a:spLocks noGrp="1"/>
          </p:cNvSpPr>
          <p:nvPr>
            <p:ph idx="1"/>
          </p:nvPr>
        </p:nvSpPr>
        <p:spPr/>
        <p:txBody>
          <a:bodyPr/>
          <a:lstStyle/>
          <a:p>
            <a:pPr lvl="0"/>
            <a:r>
              <a:rPr dirty="0"/>
              <a:t>If used effectively, it will give you superpowers</a:t>
            </a:r>
          </a:p>
          <a:p>
            <a:pPr lvl="1"/>
            <a:r>
              <a:rPr dirty="0"/>
              <a:t>The courage to</a:t>
            </a:r>
          </a:p>
          <a:p>
            <a:pPr lvl="2"/>
            <a:r>
              <a:rPr dirty="0"/>
              <a:t>Take on codebases that few would touch</a:t>
            </a:r>
          </a:p>
          <a:p>
            <a:pPr lvl="2"/>
            <a:r>
              <a:rPr dirty="0"/>
              <a:t>Use technologies you should know but don’t</a:t>
            </a:r>
          </a:p>
          <a:p>
            <a:pPr lvl="2"/>
            <a:r>
              <a:rPr dirty="0"/>
              <a:t>Write more high-quality code than you have ever written before</a:t>
            </a:r>
          </a:p>
          <a:p>
            <a:pPr lvl="2"/>
            <a:r>
              <a:rPr dirty="0"/>
              <a:t>Take on the nice to haves</a:t>
            </a:r>
            <a:endParaRPr lang="en-US"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AI‑First &amp; Prompt‑First</a:t>
            </a:r>
            <a:endParaRPr b="1" dirty="0"/>
          </a:p>
        </p:txBody>
      </p:sp>
      <p:sp>
        <p:nvSpPr>
          <p:cNvPr id="3" name="Content Placeholder 2"/>
          <p:cNvSpPr>
            <a:spLocks noGrp="1"/>
          </p:cNvSpPr>
          <p:nvPr>
            <p:ph idx="1"/>
          </p:nvPr>
        </p:nvSpPr>
        <p:spPr/>
        <p:txBody>
          <a:bodyPr/>
          <a:lstStyle/>
          <a:p>
            <a:pPr marL="0" lvl="0" indent="0">
              <a:spcBef>
                <a:spcPts val="3000"/>
              </a:spcBef>
              <a:buNone/>
            </a:pPr>
            <a:r>
              <a:rPr b="1" dirty="0"/>
              <a:t>AI‑First Development</a:t>
            </a:r>
          </a:p>
          <a:p>
            <a:pPr marL="0" lvl="0" indent="0">
              <a:buNone/>
            </a:pPr>
            <a:r>
              <a:rPr dirty="0"/>
              <a:t>A software engineering philosophy where AI is embedded across the entire SDLC</a:t>
            </a:r>
            <a:r>
              <a:rPr lang="en-US" dirty="0"/>
              <a:t>–</a:t>
            </a:r>
            <a:r>
              <a:rPr dirty="0"/>
              <a:t>requirements, design, implementation, testing, documentation, compliance, and maintenance.</a:t>
            </a:r>
          </a:p>
          <a:p>
            <a:pPr marL="0" lvl="0" indent="0">
              <a:spcBef>
                <a:spcPts val="3000"/>
              </a:spcBef>
              <a:buNone/>
            </a:pPr>
            <a:r>
              <a:rPr b="1" dirty="0"/>
              <a:t>Prompt‑First Development</a:t>
            </a:r>
          </a:p>
          <a:p>
            <a:pPr marL="0" lvl="0" indent="0">
              <a:buNone/>
            </a:pPr>
            <a:r>
              <a:rPr dirty="0"/>
              <a:t>A workflow pattern where prompts, instruction files, and chat modes are treated as first‑class, version‑controlled artifacts.</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Each Optimizes For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37563904"/>
              </p:ext>
            </p:extLst>
          </p:nvPr>
        </p:nvGraphicFramePr>
        <p:xfrm>
          <a:off x="457200" y="1193800"/>
          <a:ext cx="8229600" cy="1485900"/>
        </p:xfrm>
        <a:graphic>
          <a:graphicData uri="http://schemas.openxmlformats.org/drawingml/2006/table">
            <a:tbl>
              <a:tblPr firstRow="1" bandRow="1">
                <a:tableStyleId>{FABFCF23-3B69-468F-B69F-88F6DE6A72F2}</a:tableStyleId>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lvl="0" indent="0">
                        <a:buNone/>
                      </a:pPr>
                      <a:r>
                        <a:t>Focus Area</a:t>
                      </a:r>
                    </a:p>
                  </a:txBody>
                  <a:tcPr/>
                </a:tc>
                <a:tc>
                  <a:txBody>
                    <a:bodyPr/>
                    <a:lstStyle/>
                    <a:p>
                      <a:pPr marL="0" lvl="0" indent="0">
                        <a:buNone/>
                      </a:pPr>
                      <a:r>
                        <a:t>AI‑First</a:t>
                      </a:r>
                    </a:p>
                  </a:txBody>
                  <a:tcPr/>
                </a:tc>
                <a:tc>
                  <a:txBody>
                    <a:bodyPr/>
                    <a:lstStyle/>
                    <a:p>
                      <a:pPr marL="0" lvl="0" indent="0">
                        <a:buNone/>
                      </a:pPr>
                      <a:r>
                        <a:t>Prompt‑First</a:t>
                      </a:r>
                    </a:p>
                  </a:txBody>
                  <a:tcPr/>
                </a:tc>
                <a:extLst>
                  <a:ext uri="{0D108BD9-81ED-4DB2-BD59-A6C34878D82A}">
                    <a16:rowId xmlns:a16="http://schemas.microsoft.com/office/drawing/2014/main" val="10000"/>
                  </a:ext>
                </a:extLst>
              </a:tr>
              <a:tr h="0">
                <a:tc>
                  <a:txBody>
                    <a:bodyPr/>
                    <a:lstStyle/>
                    <a:p>
                      <a:pPr marL="0" lvl="0" indent="0">
                        <a:buNone/>
                      </a:pPr>
                      <a:r>
                        <a:t>Scope</a:t>
                      </a:r>
                    </a:p>
                  </a:txBody>
                  <a:tcPr/>
                </a:tc>
                <a:tc>
                  <a:txBody>
                    <a:bodyPr/>
                    <a:lstStyle/>
                    <a:p>
                      <a:pPr marL="0" lvl="0" indent="0">
                        <a:buNone/>
                      </a:pPr>
                      <a:r>
                        <a:t>Entire SDLC</a:t>
                      </a:r>
                    </a:p>
                  </a:txBody>
                  <a:tcPr/>
                </a:tc>
                <a:tc>
                  <a:txBody>
                    <a:bodyPr/>
                    <a:lstStyle/>
                    <a:p>
                      <a:pPr marL="0" lvl="0" indent="0">
                        <a:buNone/>
                      </a:pPr>
                      <a:r>
                        <a:t>Interaction layer</a:t>
                      </a:r>
                    </a:p>
                  </a:txBody>
                  <a:tcPr/>
                </a:tc>
                <a:extLst>
                  <a:ext uri="{0D108BD9-81ED-4DB2-BD59-A6C34878D82A}">
                    <a16:rowId xmlns:a16="http://schemas.microsoft.com/office/drawing/2014/main" val="10001"/>
                  </a:ext>
                </a:extLst>
              </a:tr>
              <a:tr h="0">
                <a:tc>
                  <a:txBody>
                    <a:bodyPr/>
                    <a:lstStyle/>
                    <a:p>
                      <a:pPr marL="0" lvl="0" indent="0">
                        <a:buNone/>
                      </a:pPr>
                      <a:r>
                        <a:t>Goal</a:t>
                      </a:r>
                    </a:p>
                  </a:txBody>
                  <a:tcPr/>
                </a:tc>
                <a:tc>
                  <a:txBody>
                    <a:bodyPr/>
                    <a:lstStyle/>
                    <a:p>
                      <a:pPr marL="0" lvl="0" indent="0">
                        <a:buNone/>
                      </a:pPr>
                      <a:r>
                        <a:t>Lifecycle integration</a:t>
                      </a:r>
                    </a:p>
                  </a:txBody>
                  <a:tcPr/>
                </a:tc>
                <a:tc>
                  <a:txBody>
                    <a:bodyPr/>
                    <a:lstStyle/>
                    <a:p>
                      <a:pPr marL="0" lvl="0" indent="0">
                        <a:buNone/>
                      </a:pPr>
                      <a:r>
                        <a:t>Deterministic AI behavior</a:t>
                      </a:r>
                    </a:p>
                  </a:txBody>
                  <a:tcPr/>
                </a:tc>
                <a:extLst>
                  <a:ext uri="{0D108BD9-81ED-4DB2-BD59-A6C34878D82A}">
                    <a16:rowId xmlns:a16="http://schemas.microsoft.com/office/drawing/2014/main" val="10002"/>
                  </a:ext>
                </a:extLst>
              </a:tr>
              <a:tr h="0">
                <a:tc>
                  <a:txBody>
                    <a:bodyPr/>
                    <a:lstStyle/>
                    <a:p>
                      <a:pPr marL="0" lvl="0" indent="0">
                        <a:buNone/>
                      </a:pPr>
                      <a:r>
                        <a:t>Optimization</a:t>
                      </a:r>
                    </a:p>
                  </a:txBody>
                  <a:tcPr/>
                </a:tc>
                <a:tc>
                  <a:txBody>
                    <a:bodyPr/>
                    <a:lstStyle/>
                    <a:p>
                      <a:pPr marL="0" lvl="0" indent="0">
                        <a:buNone/>
                      </a:pPr>
                      <a:r>
                        <a:t>Velocity, governance</a:t>
                      </a:r>
                    </a:p>
                  </a:txBody>
                  <a:tcPr/>
                </a:tc>
                <a:tc>
                  <a:txBody>
                    <a:bodyPr/>
                    <a:lstStyle/>
                    <a:p>
                      <a:pPr marL="0" lvl="0" indent="0">
                        <a:buNone/>
                      </a:pPr>
                      <a:r>
                        <a:t>Prompt quality, reproducibility</a:t>
                      </a:r>
                    </a:p>
                  </a:txBody>
                  <a:tcPr/>
                </a:tc>
                <a:extLst>
                  <a:ext uri="{0D108BD9-81ED-4DB2-BD59-A6C34878D82A}">
                    <a16:rowId xmlns:a16="http://schemas.microsoft.com/office/drawing/2014/main" val="10003"/>
                  </a:ext>
                </a:extLst>
              </a:tr>
              <a:tr h="0">
                <a:tc>
                  <a:txBody>
                    <a:bodyPr/>
                    <a:lstStyle/>
                    <a:p>
                      <a:pPr marL="0" lvl="0" indent="0">
                        <a:buNone/>
                      </a:pPr>
                      <a:r>
                        <a:t>Risk Controls</a:t>
                      </a:r>
                    </a:p>
                  </a:txBody>
                  <a:tcPr/>
                </a:tc>
                <a:tc>
                  <a:txBody>
                    <a:bodyPr/>
                    <a:lstStyle/>
                    <a:p>
                      <a:pPr marL="0" lvl="0" indent="0">
                        <a:buNone/>
                      </a:pPr>
                      <a:r>
                        <a:rPr dirty="0"/>
                        <a:t>Human‑in‑loop, provenance</a:t>
                      </a:r>
                    </a:p>
                  </a:txBody>
                  <a:tcPr/>
                </a:tc>
                <a:tc>
                  <a:txBody>
                    <a:bodyPr/>
                    <a:lstStyle/>
                    <a:p>
                      <a:pPr marL="0" lvl="0" indent="0">
                        <a:buNone/>
                      </a:pPr>
                      <a:r>
                        <a:rPr dirty="0"/>
                        <a:t>Versioned prompts, context control</a:t>
                      </a:r>
                    </a:p>
                  </a:txBody>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How They Treat Artifacts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AI‑First</a:t>
            </a:r>
          </a:p>
          <a:p>
            <a:pPr lvl="0"/>
            <a:r>
              <a:rPr dirty="0"/>
              <a:t>Requirements written with AI collaboration in mind</a:t>
            </a:r>
          </a:p>
          <a:p>
            <a:pPr lvl="0"/>
            <a:r>
              <a:rPr dirty="0"/>
              <a:t>AI‑generated scaffolds, tests, docs</a:t>
            </a:r>
          </a:p>
          <a:p>
            <a:pPr lvl="0"/>
            <a:r>
              <a:rPr dirty="0"/>
              <a:t>Provenance enforced across all AI outputs</a:t>
            </a:r>
          </a:p>
          <a:p>
            <a:pPr lvl="0"/>
            <a:r>
              <a:rPr dirty="0"/>
              <a:t>Architecture assumes AI participation</a:t>
            </a:r>
          </a:p>
          <a:p>
            <a:pPr marL="0" lvl="0" indent="0">
              <a:spcBef>
                <a:spcPts val="3000"/>
              </a:spcBef>
              <a:buNone/>
            </a:pPr>
            <a:r>
              <a:rPr b="1" dirty="0"/>
              <a:t>Prompt‑First</a:t>
            </a:r>
          </a:p>
          <a:p>
            <a:pPr lvl="0"/>
            <a:r>
              <a:rPr dirty="0"/>
              <a:t>Prompts and instruction files are version‑controlled</a:t>
            </a:r>
          </a:p>
          <a:p>
            <a:pPr lvl="0"/>
            <a:r>
              <a:rPr dirty="0"/>
              <a:t>Prompts define behavioral contracts</a:t>
            </a:r>
          </a:p>
          <a:p>
            <a:pPr lvl="0"/>
            <a:r>
              <a:rPr dirty="0"/>
              <a:t>Reusable prompt modules</a:t>
            </a:r>
          </a:p>
          <a:p>
            <a:pPr lvl="0"/>
            <a:r>
              <a:rPr dirty="0"/>
              <a:t>Chat modes define safe, predictable interactions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Relationship Between the Two</a:t>
            </a:r>
          </a:p>
        </p:txBody>
      </p:sp>
      <p:sp>
        <p:nvSpPr>
          <p:cNvPr id="3" name="Content Placeholder 2"/>
          <p:cNvSpPr>
            <a:spLocks noGrp="1"/>
          </p:cNvSpPr>
          <p:nvPr>
            <p:ph idx="1"/>
          </p:nvPr>
        </p:nvSpPr>
        <p:spPr/>
        <p:txBody>
          <a:bodyPr/>
          <a:lstStyle/>
          <a:p>
            <a:pPr marL="0" lvl="0" indent="0">
              <a:buNone/>
            </a:pPr>
            <a:r>
              <a:rPr b="1"/>
              <a:t>Prompt‑First is a subset of AI‑First.</a:t>
            </a:r>
          </a:p>
          <a:p>
            <a:pPr lvl="0"/>
            <a:r>
              <a:t>Prompt‑First = mechanics</a:t>
            </a:r>
          </a:p>
          <a:p>
            <a:pPr lvl="0"/>
            <a:r>
              <a:t>AI‑First = philosophy + architecture + lifecycle integration</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5BC-7B40-2F68-9C8D-21CAE7E58CAE}"/>
              </a:ext>
            </a:extLst>
          </p:cNvPr>
          <p:cNvSpPr>
            <a:spLocks noGrp="1"/>
          </p:cNvSpPr>
          <p:nvPr>
            <p:ph type="title"/>
          </p:nvPr>
        </p:nvSpPr>
        <p:spPr/>
        <p:txBody>
          <a:bodyPr>
            <a:normAutofit fontScale="90000"/>
          </a:bodyPr>
          <a:lstStyle/>
          <a:p>
            <a:r>
              <a:rPr lang="en-US" dirty="0"/>
              <a:t>AI First </a:t>
            </a:r>
            <a:r>
              <a:rPr lang="en-US" sz="3600" dirty="0"/>
              <a:t>Software Development</a:t>
            </a:r>
            <a:endParaRPr lang="en-US" dirty="0"/>
          </a:p>
        </p:txBody>
      </p:sp>
      <p:sp>
        <p:nvSpPr>
          <p:cNvPr id="3" name="Content Placeholder 2">
            <a:extLst>
              <a:ext uri="{FF2B5EF4-FFF2-40B4-BE49-F238E27FC236}">
                <a16:creationId xmlns:a16="http://schemas.microsoft.com/office/drawing/2014/main" id="{762E5A45-BD24-E24D-31FB-D68C26F1AC5E}"/>
              </a:ext>
            </a:extLst>
          </p:cNvPr>
          <p:cNvSpPr>
            <a:spLocks noGrp="1"/>
          </p:cNvSpPr>
          <p:nvPr>
            <p:ph idx="1"/>
          </p:nvPr>
        </p:nvSpPr>
        <p:spPr/>
        <p:txBody>
          <a:bodyPr>
            <a:normAutofit fontScale="47500" lnSpcReduction="20000"/>
          </a:bodyPr>
          <a:lstStyle/>
          <a:p>
            <a:pPr marL="0" indent="0">
              <a:buNone/>
            </a:pPr>
            <a:r>
              <a:rPr lang="en-US" i="1" dirty="0"/>
              <a:t>Building software where AI is a core capability, not an add‑on</a:t>
            </a:r>
          </a:p>
          <a:p>
            <a:endParaRPr lang="en-US" b="1" i="1" dirty="0"/>
          </a:p>
          <a:p>
            <a:r>
              <a:rPr lang="en-US" b="1" dirty="0"/>
              <a:t>Why AI‑First</a:t>
            </a:r>
            <a:endParaRPr lang="en-US" dirty="0"/>
          </a:p>
          <a:p>
            <a:pPr lvl="1"/>
            <a:r>
              <a:rPr lang="en-US" dirty="0"/>
              <a:t>Software requirements increasingly expressed in natural language</a:t>
            </a:r>
          </a:p>
          <a:p>
            <a:pPr lvl="1"/>
            <a:r>
              <a:rPr lang="en-US" dirty="0"/>
              <a:t>AI copilots accelerate architecture, coding, testing, and documentation</a:t>
            </a:r>
          </a:p>
          <a:p>
            <a:pPr lvl="1"/>
            <a:r>
              <a:rPr lang="en-US" dirty="0"/>
              <a:t>Teams shift from “writing code” to “designing intent + validating outputs”</a:t>
            </a:r>
          </a:p>
          <a:p>
            <a:r>
              <a:rPr lang="en-US" b="1" dirty="0"/>
              <a:t>Core Principles</a:t>
            </a:r>
            <a:endParaRPr lang="en-US" dirty="0"/>
          </a:p>
          <a:p>
            <a:pPr lvl="1"/>
            <a:r>
              <a:rPr lang="en-US" b="1" dirty="0"/>
              <a:t>Prompt‑First Design:</a:t>
            </a:r>
            <a:r>
              <a:rPr lang="en-US" dirty="0"/>
              <a:t> Requirements, architecture, and workflows expressed as structured prompts</a:t>
            </a:r>
          </a:p>
          <a:p>
            <a:pPr lvl="1"/>
            <a:r>
              <a:rPr lang="en-US" b="1" dirty="0"/>
              <a:t>AI‑Native Architecture:</a:t>
            </a:r>
            <a:r>
              <a:rPr lang="en-US" dirty="0"/>
              <a:t> Modular services, clear boundaries, deterministic interfaces for AI‑generated components</a:t>
            </a:r>
          </a:p>
          <a:p>
            <a:pPr lvl="1"/>
            <a:r>
              <a:rPr lang="en-US" b="1" dirty="0"/>
              <a:t>Human‑in‑the‑Loop:</a:t>
            </a:r>
            <a:r>
              <a:rPr lang="en-US" dirty="0"/>
              <a:t> Review, validation, and traceability baked into every stage</a:t>
            </a:r>
          </a:p>
          <a:p>
            <a:pPr lvl="1"/>
            <a:r>
              <a:rPr lang="en-US" b="1" dirty="0"/>
              <a:t>Continuous Verification:</a:t>
            </a:r>
            <a:r>
              <a:rPr lang="en-US" dirty="0"/>
              <a:t> Automated tests, static analysis, and guardrails to ensure safe outputs</a:t>
            </a:r>
          </a:p>
          <a:p>
            <a:pPr lvl="1"/>
            <a:r>
              <a:rPr lang="en-US" b="1" dirty="0"/>
              <a:t>Lifecycle Governance:</a:t>
            </a:r>
            <a:r>
              <a:rPr lang="en-US" dirty="0"/>
              <a:t> Versioning, provenance, and risk‑based controls for AI‑generated artifacts</a:t>
            </a:r>
          </a:p>
          <a:p>
            <a:r>
              <a:rPr lang="en-US" b="1" dirty="0"/>
              <a:t>Outcomes</a:t>
            </a:r>
            <a:endParaRPr lang="en-US" dirty="0"/>
          </a:p>
          <a:p>
            <a:pPr lvl="1"/>
            <a:r>
              <a:rPr lang="en-US" dirty="0"/>
              <a:t>Faster iteration cycles</a:t>
            </a:r>
          </a:p>
          <a:p>
            <a:pPr lvl="1"/>
            <a:r>
              <a:rPr lang="en-US" dirty="0"/>
              <a:t>Higher coverage of documentation and tests</a:t>
            </a:r>
          </a:p>
          <a:p>
            <a:pPr lvl="1"/>
            <a:r>
              <a:rPr lang="en-US" dirty="0"/>
              <a:t>Reduced cognitive load on developers</a:t>
            </a:r>
          </a:p>
          <a:p>
            <a:pPr lvl="1"/>
            <a:r>
              <a:rPr lang="en-US" dirty="0"/>
              <a:t>More resilient, adaptable systems</a:t>
            </a:r>
          </a:p>
        </p:txBody>
      </p:sp>
    </p:spTree>
    <p:extLst>
      <p:ext uri="{BB962C8B-B14F-4D97-AF65-F5344CB8AC3E}">
        <p14:creationId xmlns:p14="http://schemas.microsoft.com/office/powerpoint/2010/main" val="41449826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4E18-4497-4039-1BF6-C51FCE79393A}"/>
              </a:ext>
            </a:extLst>
          </p:cNvPr>
          <p:cNvSpPr>
            <a:spLocks noGrp="1"/>
          </p:cNvSpPr>
          <p:nvPr>
            <p:ph type="title"/>
          </p:nvPr>
        </p:nvSpPr>
        <p:spPr/>
        <p:txBody>
          <a:bodyPr>
            <a:noAutofit/>
          </a:bodyPr>
          <a:lstStyle/>
          <a:p>
            <a:r>
              <a:rPr lang="en-US" sz="2800" dirty="0"/>
              <a:t>Prompt‑First Software Development</a:t>
            </a:r>
          </a:p>
        </p:txBody>
      </p:sp>
      <p:sp>
        <p:nvSpPr>
          <p:cNvPr id="3" name="Content Placeholder 2">
            <a:extLst>
              <a:ext uri="{FF2B5EF4-FFF2-40B4-BE49-F238E27FC236}">
                <a16:creationId xmlns:a16="http://schemas.microsoft.com/office/drawing/2014/main" id="{5EAA5206-8908-DB9E-DE43-3276CBF64FCC}"/>
              </a:ext>
            </a:extLst>
          </p:cNvPr>
          <p:cNvSpPr>
            <a:spLocks noGrp="1"/>
          </p:cNvSpPr>
          <p:nvPr>
            <p:ph idx="1"/>
          </p:nvPr>
        </p:nvSpPr>
        <p:spPr/>
        <p:txBody>
          <a:bodyPr>
            <a:normAutofit fontScale="47500" lnSpcReduction="20000"/>
          </a:bodyPr>
          <a:lstStyle/>
          <a:p>
            <a:pPr marL="0" indent="0">
              <a:buNone/>
            </a:pPr>
            <a:r>
              <a:rPr lang="en-US" b="1" i="1" dirty="0"/>
              <a:t>Design the intent first — let AI generate the implementation</a:t>
            </a:r>
          </a:p>
          <a:p>
            <a:pPr marL="0" indent="0">
              <a:buNone/>
            </a:pPr>
            <a:endParaRPr lang="en-US" b="1" dirty="0"/>
          </a:p>
          <a:p>
            <a:r>
              <a:rPr lang="en-US" b="1" dirty="0"/>
              <a:t>Why Prompt‑First</a:t>
            </a:r>
          </a:p>
          <a:p>
            <a:pPr lvl="1"/>
            <a:r>
              <a:rPr lang="en-US" dirty="0"/>
              <a:t>Behaviors, and constraints expressed in structured natural language</a:t>
            </a:r>
          </a:p>
          <a:p>
            <a:pPr lvl="1"/>
            <a:r>
              <a:rPr lang="en-US" dirty="0"/>
              <a:t>Prompts become the new “source of truth” artifacts</a:t>
            </a:r>
          </a:p>
          <a:p>
            <a:pPr lvl="1"/>
            <a:r>
              <a:rPr lang="en-US" dirty="0"/>
              <a:t>Teams shift from writing functions to defining outcomes, invariants, and interfaces</a:t>
            </a:r>
          </a:p>
          <a:p>
            <a:r>
              <a:rPr lang="en-US" b="1" dirty="0"/>
              <a:t>Core Practices</a:t>
            </a:r>
          </a:p>
          <a:p>
            <a:pPr lvl="1"/>
            <a:r>
              <a:rPr lang="en-US" dirty="0"/>
              <a:t>Structured Prompts: Use templates for features, APIs, data models, tests, and refactors</a:t>
            </a:r>
          </a:p>
          <a:p>
            <a:pPr lvl="1"/>
            <a:r>
              <a:rPr lang="en-US" dirty="0"/>
              <a:t>Instruction Files: Persistent, versioned artifacts guiding AI code generation</a:t>
            </a:r>
          </a:p>
          <a:p>
            <a:pPr lvl="1"/>
            <a:r>
              <a:rPr lang="en-US" dirty="0"/>
              <a:t>Deterministic Boundaries: Clear module contracts so AI‑generated code stays predictable</a:t>
            </a:r>
          </a:p>
          <a:p>
            <a:pPr lvl="1"/>
            <a:r>
              <a:rPr lang="en-US" dirty="0"/>
              <a:t>Validation Loops: Automated tests + human review ensure correctness and safety</a:t>
            </a:r>
          </a:p>
          <a:p>
            <a:pPr lvl="1"/>
            <a:r>
              <a:rPr lang="en-US" dirty="0"/>
              <a:t>Prompt Versioning: Track evolution of intent just like code changes</a:t>
            </a:r>
          </a:p>
          <a:p>
            <a:r>
              <a:rPr lang="en-US" b="1" dirty="0"/>
              <a:t>Benefits</a:t>
            </a:r>
          </a:p>
          <a:p>
            <a:pPr lvl="1"/>
            <a:r>
              <a:rPr lang="en-US" dirty="0"/>
              <a:t>Faster iteration from idea → working software</a:t>
            </a:r>
          </a:p>
          <a:p>
            <a:pPr lvl="1"/>
            <a:r>
              <a:rPr lang="en-US" dirty="0"/>
              <a:t>Higher consistency across generated components</a:t>
            </a:r>
          </a:p>
          <a:p>
            <a:pPr lvl="1"/>
            <a:r>
              <a:rPr lang="en-US" dirty="0"/>
              <a:t>Reduced cognitive load on developers</a:t>
            </a:r>
          </a:p>
          <a:p>
            <a:pPr lvl="1"/>
            <a:r>
              <a:rPr lang="en-US" dirty="0"/>
              <a:t>Better alignment between business intent and implementation</a:t>
            </a:r>
          </a:p>
        </p:txBody>
      </p:sp>
    </p:spTree>
    <p:extLst>
      <p:ext uri="{BB962C8B-B14F-4D97-AF65-F5344CB8AC3E}">
        <p14:creationId xmlns:p14="http://schemas.microsoft.com/office/powerpoint/2010/main" val="204308914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33159-20FC-9929-EEC3-46305448E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B297F-201B-199D-63FC-AB58AB837064}"/>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9FE9192-5C4D-B6E2-80F9-76CF4A85671B}"/>
              </a:ext>
            </a:extLst>
          </p:cNvPr>
          <p:cNvGraphicFramePr>
            <a:graphicFrameLocks noGrp="1"/>
          </p:cNvGraphicFramePr>
          <p:nvPr>
            <p:ph idx="1"/>
            <p:extLst>
              <p:ext uri="{D42A27DB-BD31-4B8C-83A1-F6EECF244321}">
                <p14:modId xmlns:p14="http://schemas.microsoft.com/office/powerpoint/2010/main" val="117310109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2738214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General Introduction to LLMs</a:t>
            </a:r>
          </a:p>
        </p:txBody>
      </p:sp>
      <p:sp>
        <p:nvSpPr>
          <p:cNvPr id="3" name="Content Placeholder 2"/>
          <p:cNvSpPr>
            <a:spLocks noGrp="1"/>
          </p:cNvSpPr>
          <p:nvPr>
            <p:ph idx="1"/>
          </p:nvPr>
        </p:nvSpPr>
        <p:spPr/>
        <p:txBody>
          <a:bodyPr/>
          <a:lstStyle/>
          <a:p>
            <a:pPr lvl="0"/>
            <a:r>
              <a:rPr dirty="0"/>
              <a:t>Large Language Models</a:t>
            </a:r>
          </a:p>
          <a:p>
            <a:pPr lvl="0"/>
            <a:r>
              <a:rPr dirty="0"/>
              <a:t>Conceptual overview of how LLMs work</a:t>
            </a:r>
          </a:p>
          <a:p>
            <a:pPr lvl="0"/>
            <a:r>
              <a:rPr dirty="0"/>
              <a:t>Capabilities and limitations of LLMs in coding</a:t>
            </a:r>
          </a:p>
          <a:p>
            <a:pPr lvl="0"/>
            <a:r>
              <a:rPr dirty="0"/>
              <a:t>Software engineering with AI as a tool vs. “Vibe Coding”</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Conceptual Overview of LLMs</a:t>
            </a:r>
          </a:p>
        </p:txBody>
      </p:sp>
      <p:sp>
        <p:nvSpPr>
          <p:cNvPr id="3" name="Content Placeholder 2"/>
          <p:cNvSpPr>
            <a:spLocks noGrp="1"/>
          </p:cNvSpPr>
          <p:nvPr>
            <p:ph idx="1"/>
          </p:nvPr>
        </p:nvSpPr>
        <p:spPr/>
        <p:txBody>
          <a:bodyPr>
            <a:normAutofit fontScale="92500"/>
          </a:bodyPr>
          <a:lstStyle/>
          <a:p>
            <a:pPr lvl="0"/>
            <a:r>
              <a:rPr dirty="0"/>
              <a:t>LLMs are trained on massive datasets of code and natural language</a:t>
            </a:r>
          </a:p>
          <a:p>
            <a:pPr lvl="0"/>
            <a:r>
              <a:rPr dirty="0"/>
              <a:t>They use transformer architecture to understand patterns</a:t>
            </a:r>
          </a:p>
          <a:p>
            <a:pPr lvl="0"/>
            <a:r>
              <a:rPr dirty="0"/>
              <a:t>Token-based processing: code is broken into tokens</a:t>
            </a:r>
          </a:p>
          <a:p>
            <a:pPr lvl="0"/>
            <a:r>
              <a:rPr dirty="0"/>
              <a:t>Attention mechanisms help models focus on relevant parts of context</a:t>
            </a:r>
          </a:p>
          <a:p>
            <a:pPr lvl="0"/>
            <a:r>
              <a:rPr dirty="0"/>
              <a:t>Generate probabilistic next-token predictions based on training patterns</a:t>
            </a:r>
          </a:p>
          <a:p>
            <a:pPr lvl="0"/>
            <a:r>
              <a:rPr dirty="0"/>
              <a:t>No true “understanding” - pattern matching at massive scale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Capabilities</a:t>
            </a:r>
          </a:p>
        </p:txBody>
      </p:sp>
      <p:sp>
        <p:nvSpPr>
          <p:cNvPr id="3" name="Content Placeholder 2"/>
          <p:cNvSpPr>
            <a:spLocks noGrp="1"/>
          </p:cNvSpPr>
          <p:nvPr>
            <p:ph idx="1"/>
          </p:nvPr>
        </p:nvSpPr>
        <p:spPr/>
        <p:txBody>
          <a:bodyPr/>
          <a:lstStyle/>
          <a:p>
            <a:pPr lvl="0"/>
            <a:r>
              <a:t>Code completion and generation from natural language</a:t>
            </a:r>
          </a:p>
          <a:p>
            <a:pPr lvl="0"/>
            <a:r>
              <a:t>Refactoring and code optimization suggestions</a:t>
            </a:r>
          </a:p>
          <a:p>
            <a:pPr lvl="0"/>
            <a:r>
              <a:t>Bug detection and fixing recommendations</a:t>
            </a:r>
          </a:p>
          <a:p>
            <a:pPr lvl="0"/>
            <a:r>
              <a:t>Documentation generation</a:t>
            </a:r>
          </a:p>
          <a:p>
            <a:pPr lvl="0"/>
            <a:r>
              <a:t>Test case creation</a:t>
            </a:r>
          </a:p>
          <a:p>
            <a:pPr lvl="0"/>
            <a:r>
              <a:t>Code explanation and commenting</a:t>
            </a:r>
          </a:p>
          <a:p>
            <a:pPr lvl="0"/>
            <a:r>
              <a:t>Multi-language support and translation between languages</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Limitations</a:t>
            </a:r>
            <a:r>
              <a:rPr lang="en-US" dirty="0"/>
              <a:t>*</a:t>
            </a:r>
            <a:endParaRPr dirty="0"/>
          </a:p>
        </p:txBody>
      </p:sp>
      <p:sp>
        <p:nvSpPr>
          <p:cNvPr id="3" name="Content Placeholder 2"/>
          <p:cNvSpPr>
            <a:spLocks noGrp="1"/>
          </p:cNvSpPr>
          <p:nvPr>
            <p:ph idx="1"/>
          </p:nvPr>
        </p:nvSpPr>
        <p:spPr/>
        <p:txBody>
          <a:bodyPr>
            <a:normAutofit fontScale="92500"/>
          </a:bodyPr>
          <a:lstStyle/>
          <a:p>
            <a:pPr lvl="0"/>
            <a:r>
              <a:t>No real-time knowledge updates (training cutoff dates)</a:t>
            </a:r>
          </a:p>
          <a:p>
            <a:pPr lvl="0"/>
            <a:r>
              <a:t>Can generate syntactically correct but logically flawed code</a:t>
            </a:r>
          </a:p>
          <a:p>
            <a:pPr lvl="0"/>
            <a:r>
              <a:t>Hallucination: confident-sounding but incorrect suggestions</a:t>
            </a:r>
          </a:p>
          <a:p>
            <a:pPr lvl="0"/>
            <a:r>
              <a:t>Context window limitations (finite memory)</a:t>
            </a:r>
          </a:p>
          <a:p>
            <a:pPr lvl="0"/>
            <a:r>
              <a:t>Does not “understand” business logic or domain-specific requirements</a:t>
            </a:r>
          </a:p>
          <a:p>
            <a:pPr lvl="0"/>
            <a:r>
              <a:t>Security vulnerabilities if not carefully reviewed</a:t>
            </a:r>
          </a:p>
          <a:p>
            <a:pPr lvl="0"/>
            <a:r>
              <a:t>Bias from training data</a:t>
            </a:r>
          </a:p>
        </p:txBody>
      </p:sp>
      <p:sp>
        <p:nvSpPr>
          <p:cNvPr id="4" name="TextBox 3">
            <a:extLst>
              <a:ext uri="{FF2B5EF4-FFF2-40B4-BE49-F238E27FC236}">
                <a16:creationId xmlns:a16="http://schemas.microsoft.com/office/drawing/2014/main" id="{8CDA5191-1777-EB0C-D58B-7F3ABDBA7DBF}"/>
              </a:ext>
            </a:extLst>
          </p:cNvPr>
          <p:cNvSpPr txBox="1"/>
          <p:nvPr/>
        </p:nvSpPr>
        <p:spPr>
          <a:xfrm>
            <a:off x="826936" y="4794637"/>
            <a:ext cx="2325124" cy="276999"/>
          </a:xfrm>
          <a:prstGeom prst="rect">
            <a:avLst/>
          </a:prstGeom>
          <a:noFill/>
        </p:spPr>
        <p:txBody>
          <a:bodyPr wrap="none" rtlCol="0">
            <a:spAutoFit/>
          </a:bodyPr>
          <a:lstStyle/>
          <a:p>
            <a:r>
              <a:rPr lang="en-US" sz="1200" dirty="0">
                <a:solidFill>
                  <a:schemeClr val="bg1"/>
                </a:solidFill>
              </a:rPr>
              <a:t>*Subject to change without notice</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Do’s</a:t>
            </a:r>
          </a:p>
        </p:txBody>
      </p:sp>
      <p:sp>
        <p:nvSpPr>
          <p:cNvPr id="3" name="Content Placeholder 2"/>
          <p:cNvSpPr>
            <a:spLocks noGrp="1"/>
          </p:cNvSpPr>
          <p:nvPr>
            <p:ph idx="1"/>
          </p:nvPr>
        </p:nvSpPr>
        <p:spPr/>
        <p:txBody>
          <a:bodyPr/>
          <a:lstStyle/>
          <a:p>
            <a:pPr lvl="0"/>
            <a:r>
              <a:rPr dirty="0"/>
              <a:t>Always review and test AI-generated code</a:t>
            </a:r>
          </a:p>
          <a:p>
            <a:pPr lvl="0"/>
            <a:r>
              <a:rPr dirty="0"/>
              <a:t>Provide clear, specific prompts with context</a:t>
            </a:r>
          </a:p>
          <a:p>
            <a:pPr lvl="0"/>
            <a:r>
              <a:rPr dirty="0"/>
              <a:t>Use AI to explore different implementation approaches</a:t>
            </a:r>
          </a:p>
          <a:p>
            <a:pPr lvl="0"/>
            <a:r>
              <a:rPr dirty="0"/>
              <a:t>Leverage AI for documentation and test generation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Don’ts</a:t>
            </a:r>
          </a:p>
        </p:txBody>
      </p:sp>
      <p:sp>
        <p:nvSpPr>
          <p:cNvPr id="3" name="Content Placeholder 2"/>
          <p:cNvSpPr>
            <a:spLocks noGrp="1"/>
          </p:cNvSpPr>
          <p:nvPr>
            <p:ph idx="1"/>
          </p:nvPr>
        </p:nvSpPr>
        <p:spPr/>
        <p:txBody>
          <a:bodyPr/>
          <a:lstStyle/>
          <a:p>
            <a:pPr lvl="0"/>
            <a:r>
              <a:rPr dirty="0"/>
              <a:t>Blindly accept AI suggestions without review</a:t>
            </a:r>
          </a:p>
          <a:p>
            <a:pPr lvl="0"/>
            <a:r>
              <a:rPr dirty="0"/>
              <a:t>Skip testing because “AI wrote it”</a:t>
            </a:r>
          </a:p>
          <a:p>
            <a:pPr lvl="0"/>
            <a:r>
              <a:rPr dirty="0"/>
              <a:t>Use AI for critical security or safety-critical code without extensive validation</a:t>
            </a:r>
          </a:p>
          <a:p>
            <a:pPr lvl="0"/>
            <a:r>
              <a:rPr dirty="0"/>
              <a:t>Rely on AI for architectural decisions without human oversight</a:t>
            </a:r>
          </a:p>
          <a:p>
            <a:pPr lvl="0"/>
            <a:r>
              <a:rPr dirty="0"/>
              <a:t>Generate code without understanding the underlying logic</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2C8A-6173-832F-314C-470976410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B2BD3-F018-9586-2E9F-4486F8173FE9}"/>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D65835F-3B86-8C06-6615-615FB80AE366}"/>
              </a:ext>
            </a:extLst>
          </p:cNvPr>
          <p:cNvGraphicFramePr>
            <a:graphicFrameLocks noGrp="1"/>
          </p:cNvGraphicFramePr>
          <p:nvPr>
            <p:ph idx="1"/>
            <p:extLst>
              <p:ext uri="{D42A27DB-BD31-4B8C-83A1-F6EECF244321}">
                <p14:modId xmlns:p14="http://schemas.microsoft.com/office/powerpoint/2010/main" val="378096028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974247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LLM Architecture for Code Generation</a:t>
            </a:r>
          </a:p>
        </p:txBody>
      </p:sp>
      <p:pic>
        <p:nvPicPr>
          <p:cNvPr id="5" name="Picture 4">
            <a:hlinkClick r:id="rId3" action="ppaction://hlinkfile"/>
            <a:extLst>
              <a:ext uri="{FF2B5EF4-FFF2-40B4-BE49-F238E27FC236}">
                <a16:creationId xmlns:a16="http://schemas.microsoft.com/office/drawing/2014/main" id="{22D5CDB8-C60F-DE0D-AAD3-1DB406914667}"/>
              </a:ext>
            </a:extLst>
          </p:cNvPr>
          <p:cNvPicPr>
            <a:picLocks noChangeAspect="1"/>
          </p:cNvPicPr>
          <p:nvPr/>
        </p:nvPicPr>
        <p:blipFill>
          <a:blip r:embed="rId4"/>
          <a:stretch>
            <a:fillRect/>
          </a:stretch>
        </p:blipFill>
        <p:spPr>
          <a:xfrm>
            <a:off x="3305902" y="743922"/>
            <a:ext cx="2107676" cy="4125733"/>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21CD-D08C-155D-E5E0-034AA9DB640E}"/>
              </a:ext>
            </a:extLst>
          </p:cNvPr>
          <p:cNvSpPr>
            <a:spLocks noGrp="1"/>
          </p:cNvSpPr>
          <p:nvPr>
            <p:ph type="title"/>
          </p:nvPr>
        </p:nvSpPr>
        <p:spPr/>
        <p:txBody>
          <a:bodyPr>
            <a:normAutofit fontScale="90000"/>
          </a:bodyPr>
          <a:lstStyle/>
          <a:p>
            <a:r>
              <a:rPr lang="en-US" dirty="0"/>
              <a:t>Model Selection &amp; Comparison</a:t>
            </a:r>
          </a:p>
        </p:txBody>
      </p:sp>
      <p:sp>
        <p:nvSpPr>
          <p:cNvPr id="8" name="TextBox 7">
            <a:extLst>
              <a:ext uri="{FF2B5EF4-FFF2-40B4-BE49-F238E27FC236}">
                <a16:creationId xmlns:a16="http://schemas.microsoft.com/office/drawing/2014/main" id="{E1EFE41C-EECB-0156-8DD9-B3F3DC59D10E}"/>
              </a:ext>
            </a:extLst>
          </p:cNvPr>
          <p:cNvSpPr txBox="1"/>
          <p:nvPr/>
        </p:nvSpPr>
        <p:spPr>
          <a:xfrm>
            <a:off x="6309360" y="1196671"/>
            <a:ext cx="2536466" cy="1107996"/>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rPr>
              <a:t>Available models vary over time (Jan 18, 2026)</a:t>
            </a:r>
          </a:p>
          <a:p>
            <a:pPr marL="285750" indent="-285750">
              <a:buFont typeface="Arial" panose="020B0604020202020204" pitchFamily="34" charset="0"/>
              <a:buChar char="•"/>
            </a:pPr>
            <a:r>
              <a:rPr lang="en-US" sz="1200" dirty="0">
                <a:solidFill>
                  <a:schemeClr val="bg1"/>
                </a:solidFill>
              </a:rPr>
              <a:t>Multipliers vary with Copilot Subscription level</a:t>
            </a:r>
          </a:p>
          <a:p>
            <a:endParaRPr lang="en-US" dirty="0"/>
          </a:p>
        </p:txBody>
      </p:sp>
      <p:sp>
        <p:nvSpPr>
          <p:cNvPr id="9" name="Text Placeholder 8">
            <a:extLst>
              <a:ext uri="{FF2B5EF4-FFF2-40B4-BE49-F238E27FC236}">
                <a16:creationId xmlns:a16="http://schemas.microsoft.com/office/drawing/2014/main" id="{A8DB620D-6A7E-EDC3-62B5-DD028F9BFB78}"/>
              </a:ext>
            </a:extLst>
          </p:cNvPr>
          <p:cNvSpPr>
            <a:spLocks noGrp="1"/>
          </p:cNvSpPr>
          <p:nvPr>
            <p:ph type="body" idx="4294967295"/>
          </p:nvPr>
        </p:nvSpPr>
        <p:spPr/>
        <p:txBody>
          <a:bodyPr/>
          <a:lstStyle/>
          <a:p>
            <a:endParaRPr lang="en-US" dirty="0"/>
          </a:p>
        </p:txBody>
      </p:sp>
      <p:graphicFrame>
        <p:nvGraphicFramePr>
          <p:cNvPr id="5" name="Content Placeholder 6">
            <a:extLst>
              <a:ext uri="{FF2B5EF4-FFF2-40B4-BE49-F238E27FC236}">
                <a16:creationId xmlns:a16="http://schemas.microsoft.com/office/drawing/2014/main" id="{FA4F80B7-D29D-74AE-0C4A-C34C91118935}"/>
              </a:ext>
            </a:extLst>
          </p:cNvPr>
          <p:cNvGraphicFramePr>
            <a:graphicFrameLocks noGrp="1"/>
          </p:cNvGraphicFramePr>
          <p:nvPr>
            <p:ph idx="1"/>
            <p:extLst>
              <p:ext uri="{D42A27DB-BD31-4B8C-83A1-F6EECF244321}">
                <p14:modId xmlns:p14="http://schemas.microsoft.com/office/powerpoint/2010/main" val="3143368364"/>
              </p:ext>
            </p:extLst>
          </p:nvPr>
        </p:nvGraphicFramePr>
        <p:xfrm>
          <a:off x="628650" y="1095375"/>
          <a:ext cx="5449509" cy="3774286"/>
        </p:xfrm>
        <a:graphic>
          <a:graphicData uri="http://schemas.openxmlformats.org/drawingml/2006/table">
            <a:tbl>
              <a:tblPr firstRow="1">
                <a:tableStyleId>{FABFCF23-3B69-468F-B69F-88F6DE6A72F2}</a:tableStyleId>
              </a:tblPr>
              <a:tblGrid>
                <a:gridCol w="2327815">
                  <a:extLst>
                    <a:ext uri="{9D8B030D-6E8A-4147-A177-3AD203B41FA5}">
                      <a16:colId xmlns:a16="http://schemas.microsoft.com/office/drawing/2014/main" val="3250386483"/>
                    </a:ext>
                  </a:extLst>
                </a:gridCol>
                <a:gridCol w="740056">
                  <a:extLst>
                    <a:ext uri="{9D8B030D-6E8A-4147-A177-3AD203B41FA5}">
                      <a16:colId xmlns:a16="http://schemas.microsoft.com/office/drawing/2014/main" val="2989335004"/>
                    </a:ext>
                  </a:extLst>
                </a:gridCol>
                <a:gridCol w="659323">
                  <a:extLst>
                    <a:ext uri="{9D8B030D-6E8A-4147-A177-3AD203B41FA5}">
                      <a16:colId xmlns:a16="http://schemas.microsoft.com/office/drawing/2014/main" val="3483188030"/>
                    </a:ext>
                  </a:extLst>
                </a:gridCol>
                <a:gridCol w="928436">
                  <a:extLst>
                    <a:ext uri="{9D8B030D-6E8A-4147-A177-3AD203B41FA5}">
                      <a16:colId xmlns:a16="http://schemas.microsoft.com/office/drawing/2014/main" val="677894953"/>
                    </a:ext>
                  </a:extLst>
                </a:gridCol>
                <a:gridCol w="793879">
                  <a:extLst>
                    <a:ext uri="{9D8B030D-6E8A-4147-A177-3AD203B41FA5}">
                      <a16:colId xmlns:a16="http://schemas.microsoft.com/office/drawing/2014/main" val="3977995991"/>
                    </a:ext>
                  </a:extLst>
                </a:gridCol>
              </a:tblGrid>
              <a:tr h="471784">
                <a:tc>
                  <a:txBody>
                    <a:bodyPr/>
                    <a:lstStyle/>
                    <a:p>
                      <a:pPr algn="l" fontAlgn="b">
                        <a:buNone/>
                      </a:pPr>
                      <a:r>
                        <a:rPr lang="en-US" sz="900" u="none" strike="noStrike" baseline="0">
                          <a:effectLst/>
                        </a:rPr>
                        <a:t>Name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Input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Output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Capabilities</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dirty="0">
                          <a:effectLst/>
                        </a:rPr>
                        <a:t>Multiplier</a:t>
                      </a:r>
                      <a:endParaRPr lang="en-US" sz="900" b="1" i="0" u="none" strike="noStrike" baseline="0" dirty="0">
                        <a:solidFill>
                          <a:srgbClr val="FFFFFF"/>
                        </a:solidFill>
                        <a:effectLst/>
                        <a:latin typeface="Aptos Narrow" panose="020B0004020202020204" pitchFamily="34" charset="0"/>
                      </a:endParaRPr>
                    </a:p>
                  </a:txBody>
                  <a:tcPr marL="4690" marR="4690" marT="4690" marB="0" anchor="ctr"/>
                </a:tc>
                <a:extLst>
                  <a:ext uri="{0D108BD9-81ED-4DB2-BD59-A6C34878D82A}">
                    <a16:rowId xmlns:a16="http://schemas.microsoft.com/office/drawing/2014/main" val="1126559668"/>
                  </a:ext>
                </a:extLst>
              </a:tr>
              <a:tr h="157262">
                <a:tc>
                  <a:txBody>
                    <a:bodyPr/>
                    <a:lstStyle/>
                    <a:p>
                      <a:pPr algn="l" fontAlgn="b">
                        <a:buNone/>
                      </a:pPr>
                      <a:r>
                        <a:rPr lang="en-US" sz="800" u="none" strike="noStrike">
                          <a:effectLst/>
                        </a:rPr>
                        <a:t>Claude Haiku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7959761"/>
                  </a:ext>
                </a:extLst>
              </a:tr>
              <a:tr h="157262">
                <a:tc>
                  <a:txBody>
                    <a:bodyPr/>
                    <a:lstStyle/>
                    <a:p>
                      <a:pPr algn="l" fontAlgn="b">
                        <a:buNone/>
                      </a:pPr>
                      <a:r>
                        <a:rPr lang="en-US" sz="800" u="none" strike="noStrike">
                          <a:effectLst/>
                        </a:rPr>
                        <a:t>Claude Opus 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68015959"/>
                  </a:ext>
                </a:extLst>
              </a:tr>
              <a:tr h="157262">
                <a:tc>
                  <a:txBody>
                    <a:bodyPr/>
                    <a:lstStyle/>
                    <a:p>
                      <a:pPr algn="l" fontAlgn="b">
                        <a:buNone/>
                      </a:pPr>
                      <a:r>
                        <a:rPr lang="en-US" sz="800" u="none" strike="noStrike">
                          <a:effectLst/>
                        </a:rPr>
                        <a:t>Claude Opus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439270255"/>
                  </a:ext>
                </a:extLst>
              </a:tr>
              <a:tr h="157262">
                <a:tc>
                  <a:txBody>
                    <a:bodyPr/>
                    <a:lstStyle/>
                    <a:p>
                      <a:pPr algn="l" fontAlgn="b">
                        <a:buNone/>
                      </a:pPr>
                      <a:r>
                        <a:rPr lang="en-US" sz="800" u="none" strike="noStrike">
                          <a:effectLst/>
                        </a:rPr>
                        <a:t>Claude Sonnet 4</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45561923"/>
                  </a:ext>
                </a:extLst>
              </a:tr>
              <a:tr h="157262">
                <a:tc>
                  <a:txBody>
                    <a:bodyPr/>
                    <a:lstStyle/>
                    <a:p>
                      <a:pPr algn="l" fontAlgn="b">
                        <a:buNone/>
                      </a:pPr>
                      <a:r>
                        <a:rPr lang="en-US" sz="800" u="none" strike="noStrike">
                          <a:effectLst/>
                        </a:rPr>
                        <a:t>Claude Sonnet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777861514"/>
                  </a:ext>
                </a:extLst>
              </a:tr>
              <a:tr h="157262">
                <a:tc>
                  <a:txBody>
                    <a:bodyPr/>
                    <a:lstStyle/>
                    <a:p>
                      <a:pPr algn="l" fontAlgn="b">
                        <a:buNone/>
                      </a:pPr>
                      <a:r>
                        <a:rPr lang="en-US" sz="800" u="none" strike="noStrike">
                          <a:effectLst/>
                        </a:rPr>
                        <a:t>Gemini 2.5 P 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103186698"/>
                  </a:ext>
                </a:extLst>
              </a:tr>
              <a:tr h="157262">
                <a:tc>
                  <a:txBody>
                    <a:bodyPr/>
                    <a:lstStyle/>
                    <a:p>
                      <a:pPr algn="l" fontAlgn="b">
                        <a:buNone/>
                      </a:pPr>
                      <a:r>
                        <a:rPr lang="en-US" sz="800" u="none" strike="noStrike">
                          <a:effectLst/>
                        </a:rPr>
                        <a:t>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617462524"/>
                  </a:ext>
                </a:extLst>
              </a:tr>
              <a:tr h="157262">
                <a:tc>
                  <a:txBody>
                    <a:bodyPr/>
                    <a:lstStyle/>
                    <a:p>
                      <a:pPr algn="l" fontAlgn="b">
                        <a:buNone/>
                      </a:pPr>
                      <a:r>
                        <a:rPr lang="en-US" sz="800" u="none" strike="noStrike">
                          <a:effectLst/>
                        </a:rPr>
                        <a:t>Gemini 3 Pro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585847230"/>
                  </a:ext>
                </a:extLst>
              </a:tr>
              <a:tr h="157262">
                <a:tc>
                  <a:txBody>
                    <a:bodyPr/>
                    <a:lstStyle/>
                    <a:p>
                      <a:pPr algn="l" fontAlgn="b">
                        <a:buNone/>
                      </a:pPr>
                      <a:r>
                        <a:rPr lang="en-US" sz="800" u="none" strike="noStrike">
                          <a:effectLst/>
                        </a:rPr>
                        <a:t>GPT-4.1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111K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00858576"/>
                  </a:ext>
                </a:extLst>
              </a:tr>
              <a:tr h="157262">
                <a:tc>
                  <a:txBody>
                    <a:bodyPr/>
                    <a:lstStyle/>
                    <a:p>
                      <a:pPr algn="l" fontAlgn="b">
                        <a:buNone/>
                      </a:pPr>
                      <a:r>
                        <a:rPr lang="en-US" sz="800" u="none" strike="noStrike">
                          <a:effectLst/>
                        </a:rPr>
                        <a:t>GPT-4o</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098744528"/>
                  </a:ext>
                </a:extLst>
              </a:tr>
              <a:tr h="157262">
                <a:tc>
                  <a:txBody>
                    <a:bodyPr/>
                    <a:lstStyle/>
                    <a:p>
                      <a:pPr algn="l" fontAlgn="b">
                        <a:buNone/>
                      </a:pPr>
                      <a:r>
                        <a:rPr lang="en-US" sz="800" u="none" strike="noStrike">
                          <a:effectLst/>
                        </a:rPr>
                        <a:t>GPT-5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396768393"/>
                  </a:ext>
                </a:extLst>
              </a:tr>
              <a:tr h="157262">
                <a:tc>
                  <a:txBody>
                    <a:bodyPr/>
                    <a:lstStyle/>
                    <a:p>
                      <a:pPr algn="l" fontAlgn="b">
                        <a:buNone/>
                      </a:pPr>
                      <a:r>
                        <a:rPr lang="en-US" sz="800" u="none" strike="noStrike">
                          <a:effectLst/>
                        </a:rPr>
                        <a:t>GPT-5 mini</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41217255"/>
                  </a:ext>
                </a:extLst>
              </a:tr>
              <a:tr h="157262">
                <a:tc>
                  <a:txBody>
                    <a:bodyPr/>
                    <a:lstStyle/>
                    <a:p>
                      <a:pPr algn="l" fontAlgn="b">
                        <a:buNone/>
                      </a:pPr>
                      <a:r>
                        <a:rPr lang="en-US" sz="800" u="none" strike="noStrike">
                          <a:effectLst/>
                        </a:rPr>
                        <a:t>GPT-5-Codex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061650793"/>
                  </a:ext>
                </a:extLst>
              </a:tr>
              <a:tr h="157262">
                <a:tc>
                  <a:txBody>
                    <a:bodyPr/>
                    <a:lstStyle/>
                    <a:p>
                      <a:pPr algn="l" fontAlgn="b">
                        <a:buNone/>
                      </a:pPr>
                      <a:r>
                        <a:rPr lang="en-US" sz="800" u="none" strike="noStrike">
                          <a:effectLst/>
                        </a:rPr>
                        <a:t>GPT-5.1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575963862"/>
                  </a:ext>
                </a:extLst>
              </a:tr>
              <a:tr h="157262">
                <a:tc>
                  <a:txBody>
                    <a:bodyPr/>
                    <a:lstStyle/>
                    <a:p>
                      <a:pPr algn="l" fontAlgn="b">
                        <a:buNone/>
                      </a:pPr>
                      <a:r>
                        <a:rPr lang="en-US" sz="800" u="none" strike="noStrike">
                          <a:effectLst/>
                        </a:rPr>
                        <a:t>GPT-5.1-Codex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18600504"/>
                  </a:ext>
                </a:extLst>
              </a:tr>
              <a:tr h="157262">
                <a:tc>
                  <a:txBody>
                    <a:bodyPr/>
                    <a:lstStyle/>
                    <a:p>
                      <a:pPr algn="l" fontAlgn="b">
                        <a:buNone/>
                      </a:pPr>
                      <a:r>
                        <a:rPr lang="en-US" sz="800" u="none" strike="noStrike">
                          <a:effectLst/>
                        </a:rPr>
                        <a:t>GPT-5.1-Codex-Max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104896029"/>
                  </a:ext>
                </a:extLst>
              </a:tr>
              <a:tr h="157262">
                <a:tc>
                  <a:txBody>
                    <a:bodyPr/>
                    <a:lstStyle/>
                    <a:p>
                      <a:pPr algn="l" fontAlgn="b">
                        <a:buNone/>
                      </a:pPr>
                      <a:r>
                        <a:rPr lang="en-US" sz="800" u="none" strike="noStrike">
                          <a:effectLst/>
                        </a:rPr>
                        <a:t>GPT-5.1-Codex-Mini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931764968"/>
                  </a:ext>
                </a:extLst>
              </a:tr>
              <a:tr h="157262">
                <a:tc>
                  <a:txBody>
                    <a:bodyPr/>
                    <a:lstStyle/>
                    <a:p>
                      <a:pPr algn="l" fontAlgn="b">
                        <a:buNone/>
                      </a:pPr>
                      <a:r>
                        <a:rPr lang="en-US" sz="800" u="none" strike="noStrike">
                          <a:effectLst/>
                        </a:rPr>
                        <a:t>GPT-5.2</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865198966"/>
                  </a:ext>
                </a:extLst>
              </a:tr>
              <a:tr h="157262">
                <a:tc>
                  <a:txBody>
                    <a:bodyPr/>
                    <a:lstStyle/>
                    <a:p>
                      <a:pPr algn="l" fontAlgn="b">
                        <a:buNone/>
                      </a:pPr>
                      <a:r>
                        <a:rPr lang="en-US" sz="800" u="none" strike="noStrike">
                          <a:effectLst/>
                        </a:rPr>
                        <a:t>GPT-5.2-Codex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272K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364713514"/>
                  </a:ext>
                </a:extLst>
              </a:tr>
              <a:tr h="157262">
                <a:tc>
                  <a:txBody>
                    <a:bodyPr/>
                    <a:lstStyle/>
                    <a:p>
                      <a:pPr algn="l" fontAlgn="b">
                        <a:buNone/>
                      </a:pPr>
                      <a:r>
                        <a:rPr lang="en-US" sz="800" u="none" strike="noStrike">
                          <a:effectLst/>
                        </a:rPr>
                        <a:t>Grok Code Fast 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215983949"/>
                  </a:ext>
                </a:extLst>
              </a:tr>
              <a:tr h="157262">
                <a:tc>
                  <a:txBody>
                    <a:bodyPr/>
                    <a:lstStyle/>
                    <a:p>
                      <a:pPr algn="l" fontAlgn="b">
                        <a:buNone/>
                      </a:pPr>
                      <a:r>
                        <a:rPr lang="en-US" sz="800" u="none" strike="noStrike">
                          <a:effectLst/>
                        </a:rPr>
                        <a:t>Raptor 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200K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dirty="0">
                          <a:effectLst/>
                        </a:rPr>
                        <a:t>0x</a:t>
                      </a:r>
                      <a:endParaRPr lang="en-US" sz="800" b="0" i="0" u="none" strike="noStrike" dirty="0">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134091050"/>
                  </a:ext>
                </a:extLst>
              </a:tr>
            </a:tbl>
          </a:graphicData>
        </a:graphic>
      </p:graphicFrame>
    </p:spTree>
    <p:extLst>
      <p:ext uri="{BB962C8B-B14F-4D97-AF65-F5344CB8AC3E}">
        <p14:creationId xmlns:p14="http://schemas.microsoft.com/office/powerpoint/2010/main" val="401937755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E549-9E5F-BA5D-A097-5B566E806AAF}"/>
              </a:ext>
            </a:extLst>
          </p:cNvPr>
          <p:cNvSpPr>
            <a:spLocks noGrp="1"/>
          </p:cNvSpPr>
          <p:nvPr>
            <p:ph type="title"/>
          </p:nvPr>
        </p:nvSpPr>
        <p:spPr/>
        <p:txBody>
          <a:bodyPr>
            <a:noAutofit/>
          </a:bodyPr>
          <a:lstStyle/>
          <a:p>
            <a:r>
              <a:rPr lang="en-US" sz="2400" dirty="0"/>
              <a:t>Comparing LLMs for Code Generation </a:t>
            </a:r>
          </a:p>
        </p:txBody>
      </p:sp>
      <p:sp>
        <p:nvSpPr>
          <p:cNvPr id="3" name="Content Placeholder 2">
            <a:extLst>
              <a:ext uri="{FF2B5EF4-FFF2-40B4-BE49-F238E27FC236}">
                <a16:creationId xmlns:a16="http://schemas.microsoft.com/office/drawing/2014/main" id="{4467C669-6E43-EB63-5D1A-127C711E10D3}"/>
              </a:ext>
            </a:extLst>
          </p:cNvPr>
          <p:cNvSpPr>
            <a:spLocks noGrp="1"/>
          </p:cNvSpPr>
          <p:nvPr>
            <p:ph idx="1"/>
          </p:nvPr>
        </p:nvSpPr>
        <p:spPr/>
        <p:txBody>
          <a:bodyPr>
            <a:normAutofit/>
          </a:bodyPr>
          <a:lstStyle/>
          <a:p>
            <a:r>
              <a:rPr lang="en-US" dirty="0"/>
              <a:t>Public Leaderboards  </a:t>
            </a:r>
          </a:p>
          <a:p>
            <a:pPr lvl="0"/>
            <a:r>
              <a:rPr lang="en-US" dirty="0"/>
              <a:t>Core Benchmarks</a:t>
            </a:r>
          </a:p>
          <a:p>
            <a:pPr lvl="0"/>
            <a:r>
              <a:rPr lang="en-US" dirty="0"/>
              <a:t>Surveys &amp; Deep‑Dive Research </a:t>
            </a:r>
          </a:p>
          <a:p>
            <a:pPr lvl="0"/>
            <a:r>
              <a:rPr lang="en-US" dirty="0"/>
              <a:t>Evaluation Frameworks </a:t>
            </a:r>
          </a:p>
        </p:txBody>
      </p:sp>
    </p:spTree>
    <p:extLst>
      <p:ext uri="{BB962C8B-B14F-4D97-AF65-F5344CB8AC3E}">
        <p14:creationId xmlns:p14="http://schemas.microsoft.com/office/powerpoint/2010/main" val="14027521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1C88-E452-DB96-C5F6-602DBE078412}"/>
              </a:ext>
            </a:extLst>
          </p:cNvPr>
          <p:cNvSpPr>
            <a:spLocks noGrp="1"/>
          </p:cNvSpPr>
          <p:nvPr>
            <p:ph type="title"/>
          </p:nvPr>
        </p:nvSpPr>
        <p:spPr/>
        <p:txBody>
          <a:bodyPr>
            <a:normAutofit fontScale="90000"/>
          </a:bodyPr>
          <a:lstStyle/>
          <a:p>
            <a:r>
              <a:rPr lang="en-US" dirty="0"/>
              <a:t>Public Leaderboards  </a:t>
            </a:r>
          </a:p>
        </p:txBody>
      </p:sp>
      <p:sp>
        <p:nvSpPr>
          <p:cNvPr id="3" name="Content Placeholder 2">
            <a:extLst>
              <a:ext uri="{FF2B5EF4-FFF2-40B4-BE49-F238E27FC236}">
                <a16:creationId xmlns:a16="http://schemas.microsoft.com/office/drawing/2014/main" id="{4B9DF648-6473-E950-D0CD-2567E9E3AC4F}"/>
              </a:ext>
            </a:extLst>
          </p:cNvPr>
          <p:cNvSpPr>
            <a:spLocks noGrp="1"/>
          </p:cNvSpPr>
          <p:nvPr>
            <p:ph idx="1"/>
          </p:nvPr>
        </p:nvSpPr>
        <p:spPr/>
        <p:txBody>
          <a:bodyPr>
            <a:normAutofit/>
          </a:bodyPr>
          <a:lstStyle/>
          <a:p>
            <a:pPr marL="342900" lvl="1" indent="0">
              <a:buNone/>
            </a:pPr>
            <a:r>
              <a:rPr lang="en-US" dirty="0"/>
              <a:t>Where to See Model‑to‑Model Comparisons</a:t>
            </a:r>
          </a:p>
          <a:p>
            <a:pPr marL="342900" lvl="1" indent="0">
              <a:buNone/>
            </a:pPr>
            <a:endParaRPr lang="en-US" dirty="0"/>
          </a:p>
          <a:p>
            <a:pPr lvl="1"/>
            <a:r>
              <a:rPr lang="en-US" dirty="0"/>
              <a:t>LLM‑Stats Coding Leaderboard</a:t>
            </a:r>
          </a:p>
          <a:p>
            <a:pPr lvl="2"/>
            <a:r>
              <a:rPr lang="en-US" dirty="0"/>
              <a:t>Aggregates 20+ coding benchmarks    </a:t>
            </a:r>
          </a:p>
          <a:p>
            <a:pPr lvl="2"/>
            <a:r>
              <a:rPr lang="en-US" dirty="0"/>
              <a:t>Shows top performers across </a:t>
            </a:r>
            <a:r>
              <a:rPr lang="en-US" dirty="0" err="1"/>
              <a:t>HumanEval</a:t>
            </a:r>
            <a:r>
              <a:rPr lang="en-US" dirty="0"/>
              <a:t>, </a:t>
            </a:r>
            <a:r>
              <a:rPr lang="en-US" dirty="0" err="1"/>
              <a:t>LiveCodeBench</a:t>
            </a:r>
            <a:r>
              <a:rPr lang="en-US" dirty="0"/>
              <a:t>, etc.</a:t>
            </a:r>
          </a:p>
          <a:p>
            <a:pPr lvl="1"/>
            <a:r>
              <a:rPr lang="en-US" dirty="0"/>
              <a:t>TechRadar’s Coding LLM Guide</a:t>
            </a:r>
          </a:p>
          <a:p>
            <a:pPr lvl="2"/>
            <a:r>
              <a:rPr lang="en-US" dirty="0"/>
              <a:t>- Editorial comparison of strengths (debugging, test generation, etc.)</a:t>
            </a:r>
          </a:p>
          <a:p>
            <a:pPr lvl="1"/>
            <a:r>
              <a:rPr lang="en-US" dirty="0" err="1"/>
              <a:t>Zencoder’s</a:t>
            </a:r>
            <a:r>
              <a:rPr lang="en-US" dirty="0"/>
              <a:t> 2026 Model Comparison</a:t>
            </a:r>
          </a:p>
          <a:p>
            <a:pPr lvl="2"/>
            <a:r>
              <a:rPr lang="en-US" dirty="0"/>
              <a:t>Breaks down accuracy, reasoning, and context window-</a:t>
            </a:r>
          </a:p>
        </p:txBody>
      </p:sp>
    </p:spTree>
    <p:extLst>
      <p:ext uri="{BB962C8B-B14F-4D97-AF65-F5344CB8AC3E}">
        <p14:creationId xmlns:p14="http://schemas.microsoft.com/office/powerpoint/2010/main" val="148875010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43F0-7388-F3D3-91C8-913D7F105C56}"/>
              </a:ext>
            </a:extLst>
          </p:cNvPr>
          <p:cNvSpPr>
            <a:spLocks noGrp="1"/>
          </p:cNvSpPr>
          <p:nvPr>
            <p:ph type="title"/>
          </p:nvPr>
        </p:nvSpPr>
        <p:spPr/>
        <p:txBody>
          <a:bodyPr>
            <a:normAutofit fontScale="90000"/>
          </a:bodyPr>
          <a:lstStyle/>
          <a:p>
            <a:pPr lvl="0"/>
            <a:r>
              <a:rPr lang="en-US" dirty="0"/>
              <a:t>Core Benchmarks</a:t>
            </a:r>
          </a:p>
        </p:txBody>
      </p:sp>
      <p:sp>
        <p:nvSpPr>
          <p:cNvPr id="3" name="Content Placeholder 2">
            <a:extLst>
              <a:ext uri="{FF2B5EF4-FFF2-40B4-BE49-F238E27FC236}">
                <a16:creationId xmlns:a16="http://schemas.microsoft.com/office/drawing/2014/main" id="{2044977E-01F1-BF0A-8D52-0E6F7F633963}"/>
              </a:ext>
            </a:extLst>
          </p:cNvPr>
          <p:cNvSpPr>
            <a:spLocks noGrp="1"/>
          </p:cNvSpPr>
          <p:nvPr>
            <p:ph idx="1"/>
          </p:nvPr>
        </p:nvSpPr>
        <p:spPr/>
        <p:txBody>
          <a:bodyPr>
            <a:normAutofit fontScale="92500" lnSpcReduction="10000"/>
          </a:bodyPr>
          <a:lstStyle/>
          <a:p>
            <a:pPr marL="342900" lvl="1" indent="0">
              <a:buNone/>
            </a:pPr>
            <a:r>
              <a:rPr lang="en-US" dirty="0"/>
              <a:t>What Models Are Actually Tested On</a:t>
            </a:r>
          </a:p>
          <a:p>
            <a:pPr marL="342900" lvl="1" indent="0">
              <a:buNone/>
            </a:pPr>
            <a:endParaRPr lang="en-US" dirty="0"/>
          </a:p>
          <a:p>
            <a:pPr lvl="1"/>
            <a:r>
              <a:rPr lang="en-US" dirty="0" err="1"/>
              <a:t>HumanEval</a:t>
            </a:r>
            <a:endParaRPr lang="en-US" dirty="0"/>
          </a:p>
          <a:p>
            <a:pPr lvl="2"/>
            <a:r>
              <a:rPr lang="en-US" dirty="0"/>
              <a:t>Classic functional‑correctness benchmark for Python</a:t>
            </a:r>
          </a:p>
          <a:p>
            <a:pPr lvl="1"/>
            <a:r>
              <a:rPr lang="en-US" dirty="0" err="1"/>
              <a:t>LiveCodeBench</a:t>
            </a:r>
            <a:endParaRPr lang="en-US" dirty="0"/>
          </a:p>
          <a:p>
            <a:pPr lvl="2"/>
            <a:r>
              <a:rPr lang="en-US" dirty="0"/>
              <a:t>Contamination‑free, holistic benchmark for modern LLMs</a:t>
            </a:r>
          </a:p>
          <a:p>
            <a:pPr lvl="1"/>
            <a:r>
              <a:rPr lang="en-US" dirty="0"/>
              <a:t>MBPP (Mostly Basic Programming Problems)</a:t>
            </a:r>
          </a:p>
          <a:p>
            <a:pPr lvl="2"/>
            <a:r>
              <a:rPr lang="en-US" dirty="0"/>
              <a:t>Simple algorithmic tasks across languages</a:t>
            </a:r>
          </a:p>
          <a:p>
            <a:pPr lvl="1"/>
            <a:r>
              <a:rPr lang="en-US" dirty="0"/>
              <a:t>SWE‑Bench</a:t>
            </a:r>
          </a:p>
          <a:p>
            <a:pPr lvl="2"/>
            <a:r>
              <a:rPr lang="en-US" dirty="0"/>
              <a:t>Real‑world GitHub issue resolution</a:t>
            </a:r>
          </a:p>
          <a:p>
            <a:pPr lvl="1"/>
            <a:r>
              <a:rPr lang="en-US" dirty="0" err="1"/>
              <a:t>DevQualityEval</a:t>
            </a:r>
            <a:endParaRPr lang="en-US" dirty="0"/>
          </a:p>
          <a:p>
            <a:pPr lvl="2"/>
            <a:r>
              <a:rPr lang="en-US" dirty="0"/>
              <a:t>Evaluates test generation for Java and Go</a:t>
            </a:r>
          </a:p>
        </p:txBody>
      </p:sp>
    </p:spTree>
    <p:extLst>
      <p:ext uri="{BB962C8B-B14F-4D97-AF65-F5344CB8AC3E}">
        <p14:creationId xmlns:p14="http://schemas.microsoft.com/office/powerpoint/2010/main" val="425774206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40B3-8C51-DA3D-9183-F7D58E78418A}"/>
              </a:ext>
            </a:extLst>
          </p:cNvPr>
          <p:cNvSpPr>
            <a:spLocks noGrp="1"/>
          </p:cNvSpPr>
          <p:nvPr>
            <p:ph type="title"/>
          </p:nvPr>
        </p:nvSpPr>
        <p:spPr/>
        <p:txBody>
          <a:bodyPr>
            <a:normAutofit fontScale="90000"/>
          </a:bodyPr>
          <a:lstStyle/>
          <a:p>
            <a:pPr lvl="0"/>
            <a:r>
              <a:rPr lang="en-US" dirty="0"/>
              <a:t>Surveys &amp; Deep‑Dive Research  </a:t>
            </a:r>
          </a:p>
        </p:txBody>
      </p:sp>
      <p:sp>
        <p:nvSpPr>
          <p:cNvPr id="3" name="Content Placeholder 2">
            <a:extLst>
              <a:ext uri="{FF2B5EF4-FFF2-40B4-BE49-F238E27FC236}">
                <a16:creationId xmlns:a16="http://schemas.microsoft.com/office/drawing/2014/main" id="{7F7652A3-0FD4-8C54-0B1F-804EE1C6388F}"/>
              </a:ext>
            </a:extLst>
          </p:cNvPr>
          <p:cNvSpPr>
            <a:spLocks noGrp="1"/>
          </p:cNvSpPr>
          <p:nvPr>
            <p:ph idx="1"/>
          </p:nvPr>
        </p:nvSpPr>
        <p:spPr/>
        <p:txBody>
          <a:bodyPr>
            <a:normAutofit fontScale="92500" lnSpcReduction="10000"/>
          </a:bodyPr>
          <a:lstStyle/>
          <a:p>
            <a:pPr marL="0" indent="0">
              <a:buNone/>
            </a:pPr>
            <a:r>
              <a:rPr lang="en-US" dirty="0"/>
              <a:t>Understanding the Landscape</a:t>
            </a:r>
          </a:p>
          <a:p>
            <a:pPr marL="0" indent="0">
              <a:buNone/>
            </a:pPr>
            <a:endParaRPr lang="en-US" dirty="0"/>
          </a:p>
          <a:p>
            <a:r>
              <a:rPr lang="en-US" dirty="0"/>
              <a:t>Academic Surveys (</a:t>
            </a:r>
            <a:r>
              <a:rPr lang="en-US" dirty="0" err="1"/>
              <a:t>arXiv</a:t>
            </a:r>
            <a:r>
              <a:rPr lang="en-US" dirty="0"/>
              <a:t>)</a:t>
            </a:r>
          </a:p>
          <a:p>
            <a:pPr lvl="1"/>
            <a:r>
              <a:rPr lang="en-US" dirty="0"/>
              <a:t>Comprehensive overviews of techniques, benchmarks, and model families</a:t>
            </a:r>
          </a:p>
          <a:p>
            <a:r>
              <a:rPr lang="en-US" dirty="0"/>
              <a:t>Benchmark Explainers (Vellum, Analytics Vidhya)</a:t>
            </a:r>
          </a:p>
          <a:p>
            <a:pPr lvl="1"/>
            <a:r>
              <a:rPr lang="en-US" dirty="0"/>
              <a:t> Strengths and weaknesses of each benchmark    </a:t>
            </a:r>
          </a:p>
          <a:p>
            <a:pPr lvl="1"/>
            <a:r>
              <a:rPr lang="en-US" dirty="0"/>
              <a:t>How to interpret results</a:t>
            </a:r>
          </a:p>
          <a:p>
            <a:r>
              <a:rPr lang="en-US" dirty="0"/>
              <a:t>Specialized Benchmarks</a:t>
            </a:r>
          </a:p>
          <a:p>
            <a:pPr lvl="1"/>
            <a:r>
              <a:rPr lang="en-US" dirty="0"/>
              <a:t> </a:t>
            </a:r>
            <a:r>
              <a:rPr lang="en-US" dirty="0" err="1"/>
              <a:t>SwiftEval</a:t>
            </a:r>
            <a:r>
              <a:rPr lang="en-US" dirty="0"/>
              <a:t>, domain‑specific coding evaluations, </a:t>
            </a:r>
            <a:r>
              <a:rPr lang="en-US" dirty="0" err="1"/>
              <a:t>etc</a:t>
            </a:r>
            <a:endParaRPr lang="en-US" dirty="0"/>
          </a:p>
        </p:txBody>
      </p:sp>
    </p:spTree>
    <p:extLst>
      <p:ext uri="{BB962C8B-B14F-4D97-AF65-F5344CB8AC3E}">
        <p14:creationId xmlns:p14="http://schemas.microsoft.com/office/powerpoint/2010/main" val="160651691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2412-57FD-0DE8-DA07-50277AE30E2B}"/>
              </a:ext>
            </a:extLst>
          </p:cNvPr>
          <p:cNvSpPr>
            <a:spLocks noGrp="1"/>
          </p:cNvSpPr>
          <p:nvPr>
            <p:ph type="title"/>
          </p:nvPr>
        </p:nvSpPr>
        <p:spPr/>
        <p:txBody>
          <a:bodyPr>
            <a:normAutofit fontScale="90000"/>
          </a:bodyPr>
          <a:lstStyle/>
          <a:p>
            <a:pPr lvl="0"/>
            <a:r>
              <a:rPr lang="en-US" dirty="0"/>
              <a:t>Evaluation Frameworks  </a:t>
            </a:r>
          </a:p>
        </p:txBody>
      </p:sp>
      <p:sp>
        <p:nvSpPr>
          <p:cNvPr id="3" name="Content Placeholder 2">
            <a:extLst>
              <a:ext uri="{FF2B5EF4-FFF2-40B4-BE49-F238E27FC236}">
                <a16:creationId xmlns:a16="http://schemas.microsoft.com/office/drawing/2014/main" id="{F7C41A7D-4B5E-D94E-B15B-1E52A6D056D6}"/>
              </a:ext>
            </a:extLst>
          </p:cNvPr>
          <p:cNvSpPr>
            <a:spLocks noGrp="1"/>
          </p:cNvSpPr>
          <p:nvPr>
            <p:ph idx="1"/>
          </p:nvPr>
        </p:nvSpPr>
        <p:spPr/>
        <p:txBody>
          <a:bodyPr>
            <a:normAutofit/>
          </a:bodyPr>
          <a:lstStyle/>
          <a:p>
            <a:pPr lvl="1"/>
            <a:r>
              <a:rPr lang="en-US" dirty="0"/>
              <a:t>Tools for Running Your Own Tests</a:t>
            </a:r>
          </a:p>
          <a:p>
            <a:pPr lvl="2"/>
            <a:r>
              <a:rPr lang="en-US" dirty="0" err="1"/>
              <a:t>Symflower</a:t>
            </a:r>
            <a:r>
              <a:rPr lang="en-US" dirty="0"/>
              <a:t> </a:t>
            </a:r>
            <a:r>
              <a:rPr lang="en-US" dirty="0" err="1"/>
              <a:t>DevQualityEval</a:t>
            </a:r>
            <a:endParaRPr lang="en-US" dirty="0"/>
          </a:p>
          <a:p>
            <a:pPr lvl="3"/>
            <a:r>
              <a:rPr lang="en-US" dirty="0"/>
              <a:t>Open‑source framework for code and test generation evaluation</a:t>
            </a:r>
          </a:p>
          <a:p>
            <a:pPr lvl="2"/>
            <a:r>
              <a:rPr lang="en-US" dirty="0" err="1"/>
              <a:t>CodeArena</a:t>
            </a:r>
            <a:r>
              <a:rPr lang="en-US" dirty="0"/>
              <a:t> (</a:t>
            </a:r>
            <a:r>
              <a:rPr lang="en-US" dirty="0" err="1"/>
              <a:t>HuggingFace</a:t>
            </a:r>
            <a:r>
              <a:rPr lang="en-US" dirty="0"/>
              <a:t>)</a:t>
            </a:r>
          </a:p>
          <a:p>
            <a:pPr lvl="3"/>
            <a:r>
              <a:rPr lang="en-US" dirty="0"/>
              <a:t> Collective evaluation platform for coding tasks</a:t>
            </a:r>
          </a:p>
          <a:p>
            <a:pPr lvl="2"/>
            <a:r>
              <a:rPr lang="en-US" dirty="0"/>
              <a:t>Automatic Benchmark Generation Tools</a:t>
            </a:r>
          </a:p>
          <a:p>
            <a:pPr lvl="3"/>
            <a:r>
              <a:rPr lang="en-US" dirty="0"/>
              <a:t> Research into LLM‑generated benchmarks and judge reliability</a:t>
            </a:r>
          </a:p>
        </p:txBody>
      </p:sp>
    </p:spTree>
    <p:extLst>
      <p:ext uri="{BB962C8B-B14F-4D97-AF65-F5344CB8AC3E}">
        <p14:creationId xmlns:p14="http://schemas.microsoft.com/office/powerpoint/2010/main" val="20207266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2247-04C0-347B-5B3F-DBCA2A3A7837}"/>
              </a:ext>
            </a:extLst>
          </p:cNvPr>
          <p:cNvSpPr>
            <a:spLocks noGrp="1"/>
          </p:cNvSpPr>
          <p:nvPr>
            <p:ph type="title"/>
          </p:nvPr>
        </p:nvSpPr>
        <p:spPr/>
        <p:txBody>
          <a:bodyPr>
            <a:normAutofit fontScale="90000"/>
          </a:bodyPr>
          <a:lstStyle/>
          <a:p>
            <a:r>
              <a:rPr lang="en-US" dirty="0"/>
              <a:t>Selecting Models</a:t>
            </a:r>
          </a:p>
        </p:txBody>
      </p:sp>
      <p:sp>
        <p:nvSpPr>
          <p:cNvPr id="3" name="Content Placeholder 2">
            <a:extLst>
              <a:ext uri="{FF2B5EF4-FFF2-40B4-BE49-F238E27FC236}">
                <a16:creationId xmlns:a16="http://schemas.microsoft.com/office/drawing/2014/main" id="{DCE2D761-DE73-BB6E-CB8E-1D634175E5F5}"/>
              </a:ext>
            </a:extLst>
          </p:cNvPr>
          <p:cNvSpPr>
            <a:spLocks noGrp="1"/>
          </p:cNvSpPr>
          <p:nvPr>
            <p:ph idx="1"/>
          </p:nvPr>
        </p:nvSpPr>
        <p:spPr/>
        <p:txBody>
          <a:bodyPr/>
          <a:lstStyle/>
          <a:p>
            <a:r>
              <a:rPr lang="en-US" dirty="0"/>
              <a:t>Select benchmarks aligned with your workflow  </a:t>
            </a:r>
          </a:p>
          <a:p>
            <a:r>
              <a:rPr lang="en-US" dirty="0"/>
              <a:t>Combine leaderboards + hands‑on evaluation</a:t>
            </a:r>
          </a:p>
          <a:p>
            <a:r>
              <a:rPr lang="en-US" dirty="0"/>
              <a:t>Build a repeatable internal benchmark suite</a:t>
            </a:r>
          </a:p>
          <a:p>
            <a:r>
              <a:rPr lang="en-US" dirty="0"/>
              <a:t>Track contamination‑free benchmarks for reliability</a:t>
            </a:r>
          </a:p>
        </p:txBody>
      </p:sp>
    </p:spTree>
    <p:extLst>
      <p:ext uri="{BB962C8B-B14F-4D97-AF65-F5344CB8AC3E}">
        <p14:creationId xmlns:p14="http://schemas.microsoft.com/office/powerpoint/2010/main" val="273671375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9193-3964-E21E-B553-DB3BC18B2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91907-5A9C-77C6-DF14-C10776F704B8}"/>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117C8A-06CE-3BA7-682A-BE84AAF3BBFD}"/>
              </a:ext>
            </a:extLst>
          </p:cNvPr>
          <p:cNvGraphicFramePr>
            <a:graphicFrameLocks noGrp="1"/>
          </p:cNvGraphicFramePr>
          <p:nvPr>
            <p:ph idx="1"/>
            <p:extLst>
              <p:ext uri="{D42A27DB-BD31-4B8C-83A1-F6EECF244321}">
                <p14:modId xmlns:p14="http://schemas.microsoft.com/office/powerpoint/2010/main" val="58509045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574943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GitHub Copilot for Teams</a:t>
            </a:r>
            <a:br>
              <a:rPr lang="en-US" dirty="0"/>
            </a:br>
            <a:r>
              <a:rPr sz="2700" dirty="0"/>
              <a:t>Key Considerations for Adoption</a:t>
            </a:r>
          </a:p>
        </p:txBody>
      </p:sp>
      <p:sp>
        <p:nvSpPr>
          <p:cNvPr id="3" name="Content Placeholder 2"/>
          <p:cNvSpPr>
            <a:spLocks noGrp="1"/>
          </p:cNvSpPr>
          <p:nvPr>
            <p:ph idx="1"/>
          </p:nvPr>
        </p:nvSpPr>
        <p:spPr>
          <a:xfrm>
            <a:off x="628650" y="2116183"/>
            <a:ext cx="7886700" cy="527268"/>
          </a:xfrm>
        </p:spPr>
        <p:txBody>
          <a:bodyPr/>
          <a:lstStyle/>
          <a:p>
            <a:pPr marL="0" lvl="0" indent="0">
              <a:buNone/>
            </a:pPr>
            <a:r>
              <a:rPr i="1" dirty="0"/>
              <a:t>Empowering developers with AI while protecting your codebase</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What Prompted This Deck?</a:t>
            </a:r>
          </a:p>
        </p:txBody>
      </p:sp>
      <p:sp>
        <p:nvSpPr>
          <p:cNvPr id="3" name="Content Placeholder 2"/>
          <p:cNvSpPr>
            <a:spLocks noGrp="1"/>
          </p:cNvSpPr>
          <p:nvPr>
            <p:ph idx="1"/>
          </p:nvPr>
        </p:nvSpPr>
        <p:spPr/>
        <p:txBody>
          <a:bodyPr/>
          <a:lstStyle/>
          <a:p>
            <a:pPr marL="1270000" lvl="0" indent="0">
              <a:buNone/>
            </a:pPr>
            <a:r>
              <a:rPr sz="2000" dirty="0"/>
              <a:t>I want to know how GitHub </a:t>
            </a:r>
            <a:r>
              <a:rPr lang="en-US" sz="2000" dirty="0"/>
              <a:t>C</a:t>
            </a:r>
            <a:r>
              <a:rPr sz="2000" dirty="0"/>
              <a:t>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Benefits for Organizations</a:t>
            </a:r>
          </a:p>
        </p:txBody>
      </p:sp>
      <p:sp>
        <p:nvSpPr>
          <p:cNvPr id="3" name="Content Placeholder 2"/>
          <p:cNvSpPr>
            <a:spLocks noGrp="1"/>
          </p:cNvSpPr>
          <p:nvPr>
            <p:ph idx="1"/>
          </p:nvPr>
        </p:nvSpPr>
        <p:spPr/>
        <p:txBody>
          <a:bodyPr/>
          <a:lstStyle/>
          <a:p>
            <a:pPr lvl="0"/>
            <a:r>
              <a:rPr dirty="0"/>
              <a:t>Accelerated Development</a:t>
            </a:r>
            <a:endParaRPr lang="en-US" dirty="0"/>
          </a:p>
          <a:p>
            <a:pPr lvl="1"/>
            <a:r>
              <a:rPr dirty="0"/>
              <a:t>Faster prototyping, fewer boilerplate tasks</a:t>
            </a:r>
          </a:p>
          <a:p>
            <a:pPr lvl="0"/>
            <a:r>
              <a:rPr dirty="0"/>
              <a:t>Improved Documentation</a:t>
            </a:r>
            <a:endParaRPr lang="en-US" dirty="0"/>
          </a:p>
          <a:p>
            <a:pPr lvl="1"/>
            <a:r>
              <a:rPr dirty="0"/>
              <a:t>Auto-generates comments and README content</a:t>
            </a:r>
          </a:p>
          <a:p>
            <a:pPr lvl="0"/>
            <a:r>
              <a:rPr dirty="0"/>
              <a:t>Enhanced Testing</a:t>
            </a:r>
            <a:endParaRPr lang="en-US" dirty="0"/>
          </a:p>
          <a:p>
            <a:pPr lvl="1"/>
            <a:r>
              <a:rPr dirty="0"/>
              <a:t>Suggests unit tests and edge cases</a:t>
            </a:r>
          </a:p>
          <a:p>
            <a:pPr lvl="0"/>
            <a:r>
              <a:rPr dirty="0"/>
              <a:t>Team Productivity</a:t>
            </a:r>
            <a:endParaRPr lang="en-US" dirty="0"/>
          </a:p>
          <a:p>
            <a:pPr lvl="1"/>
            <a:r>
              <a:rPr dirty="0"/>
              <a:t>Reduces cognitive load, supports onboarding</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Risks to Consider</a:t>
            </a:r>
          </a:p>
        </p:txBody>
      </p:sp>
      <p:sp>
        <p:nvSpPr>
          <p:cNvPr id="3" name="Content Placeholder 2"/>
          <p:cNvSpPr>
            <a:spLocks noGrp="1"/>
          </p:cNvSpPr>
          <p:nvPr>
            <p:ph idx="1"/>
          </p:nvPr>
        </p:nvSpPr>
        <p:spPr/>
        <p:txBody>
          <a:bodyPr>
            <a:normAutofit fontScale="92500" lnSpcReduction="20000"/>
          </a:bodyPr>
          <a:lstStyle/>
          <a:p>
            <a:pPr lvl="0"/>
            <a:r>
              <a:rPr dirty="0"/>
              <a:t>IP Leakage Concerns</a:t>
            </a:r>
          </a:p>
          <a:p>
            <a:pPr lvl="1"/>
            <a:r>
              <a:rPr dirty="0"/>
              <a:t>Copilot may suggest code similar to public repositories</a:t>
            </a:r>
          </a:p>
          <a:p>
            <a:pPr lvl="1"/>
            <a:r>
              <a:rPr dirty="0"/>
              <a:t>Risk of inadvertently using copyrighted or licensed code</a:t>
            </a:r>
          </a:p>
          <a:p>
            <a:pPr lvl="1"/>
            <a:r>
              <a:rPr dirty="0"/>
              <a:t>Mitigation: Enable public code filters and review suggestions carefully</a:t>
            </a:r>
          </a:p>
          <a:p>
            <a:pPr lvl="0"/>
            <a:r>
              <a:rPr dirty="0"/>
              <a:t>Code Quality and Accuracy</a:t>
            </a:r>
          </a:p>
          <a:p>
            <a:pPr lvl="1"/>
            <a:r>
              <a:rPr dirty="0"/>
              <a:t>AI-generated code may contain bugs, inefficiencies, or security flaws</a:t>
            </a:r>
          </a:p>
          <a:p>
            <a:pPr lvl="1"/>
            <a:r>
              <a:rPr dirty="0"/>
              <a:t>Always validate and test before deployment</a:t>
            </a:r>
          </a:p>
          <a:p>
            <a:pPr lvl="1"/>
            <a:r>
              <a:rPr dirty="0"/>
              <a:t>Treat Copilot as a drafting tool, not a source of truth</a:t>
            </a:r>
          </a:p>
          <a:p>
            <a:pPr lvl="0"/>
            <a:r>
              <a:rPr dirty="0"/>
              <a:t>Developer Overreliance</a:t>
            </a:r>
          </a:p>
          <a:p>
            <a:pPr lvl="1"/>
            <a:r>
              <a:rPr dirty="0"/>
              <a:t>Risk of reduced understanding or critical thinking</a:t>
            </a:r>
          </a:p>
          <a:p>
            <a:pPr lvl="1"/>
            <a:r>
              <a:rPr dirty="0"/>
              <a:t>Encourage code reviews and pair programming to maintain rigor</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Governance and Compliance Risks</a:t>
            </a:r>
          </a:p>
        </p:txBody>
      </p:sp>
      <p:sp>
        <p:nvSpPr>
          <p:cNvPr id="3" name="Content Placeholder 2"/>
          <p:cNvSpPr>
            <a:spLocks noGrp="1"/>
          </p:cNvSpPr>
          <p:nvPr>
            <p:ph idx="1"/>
          </p:nvPr>
        </p:nvSpPr>
        <p:spPr/>
        <p:txBody>
          <a:bodyPr>
            <a:normAutofit fontScale="92500" lnSpcReduction="10000"/>
          </a:bodyPr>
          <a:lstStyle/>
          <a:p>
            <a:pPr lvl="0"/>
            <a:r>
              <a:rPr dirty="0"/>
              <a:t>Regulatory Compliance</a:t>
            </a:r>
          </a:p>
          <a:p>
            <a:pPr lvl="1"/>
            <a:r>
              <a:rPr dirty="0"/>
              <a:t>Generated code may not meet industry-specific standards (e.g., HIPAA, PCI-DSS)</a:t>
            </a:r>
          </a:p>
          <a:p>
            <a:pPr lvl="1"/>
            <a:r>
              <a:rPr dirty="0"/>
              <a:t>Organizations must enforce coding policies and audits</a:t>
            </a:r>
          </a:p>
          <a:p>
            <a:pPr lvl="0"/>
            <a:r>
              <a:rPr dirty="0"/>
              <a:t>Data Privacy and Security</a:t>
            </a:r>
          </a:p>
          <a:p>
            <a:pPr lvl="1"/>
            <a:r>
              <a:rPr dirty="0"/>
              <a:t>Sensitive data should never be typed into prompts</a:t>
            </a:r>
          </a:p>
          <a:p>
            <a:pPr lvl="1"/>
            <a:r>
              <a:rPr dirty="0"/>
              <a:t>Use Copilot in secure environments with clear usage guidelines</a:t>
            </a:r>
          </a:p>
          <a:p>
            <a:pPr lvl="0"/>
            <a:r>
              <a:rPr dirty="0"/>
              <a:t>Licensing Ambiguity</a:t>
            </a:r>
          </a:p>
          <a:p>
            <a:pPr lvl="1"/>
            <a:r>
              <a:rPr dirty="0"/>
              <a:t>Copilot suggestions may resemble code under restrictive licenses</a:t>
            </a:r>
          </a:p>
          <a:p>
            <a:pPr lvl="1"/>
            <a:r>
              <a:rPr dirty="0"/>
              <a:t>Legal teams should define acceptable use policies and monitor compliance</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IP and Data Protection</a:t>
            </a:r>
          </a:p>
        </p:txBody>
      </p:sp>
      <p:sp>
        <p:nvSpPr>
          <p:cNvPr id="3" name="Content Placeholder 2"/>
          <p:cNvSpPr>
            <a:spLocks noGrp="1"/>
          </p:cNvSpPr>
          <p:nvPr>
            <p:ph idx="1"/>
          </p:nvPr>
        </p:nvSpPr>
        <p:spPr/>
        <p:txBody>
          <a:bodyPr/>
          <a:lstStyle/>
          <a:p>
            <a:pPr lvl="0"/>
            <a:r>
              <a:t>Your code is </a:t>
            </a:r>
            <a:r>
              <a:rPr b="1"/>
              <a:t>not used to retrain the model</a:t>
            </a:r>
            <a:r>
              <a:t> (with Copilot for Business/Enterprise)</a:t>
            </a:r>
          </a:p>
          <a:p>
            <a:pPr lvl="0"/>
            <a:r>
              <a:t>Suggestions are generated locally — no code is shared unless feedback is submitted</a:t>
            </a:r>
          </a:p>
          <a:p>
            <a:pPr lvl="0"/>
            <a:r>
              <a:t>No leakage between users: your private code is </a:t>
            </a:r>
            <a:r>
              <a:rPr b="1"/>
              <a:t>not exposed to others</a:t>
            </a:r>
          </a:p>
          <a:p>
            <a:pPr lvl="0"/>
            <a:r>
              <a:t>Admins can </a:t>
            </a:r>
            <a:r>
              <a:rPr b="1"/>
              <a:t>disable suggestions matching public code</a:t>
            </a:r>
            <a:r>
              <a:t> for added safety</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Licensing and Legal Considerations</a:t>
            </a:r>
          </a:p>
        </p:txBody>
      </p:sp>
      <p:sp>
        <p:nvSpPr>
          <p:cNvPr id="3" name="Content Placeholder 2"/>
          <p:cNvSpPr>
            <a:spLocks noGrp="1"/>
          </p:cNvSpPr>
          <p:nvPr>
            <p:ph idx="1"/>
          </p:nvPr>
        </p:nvSpPr>
        <p:spPr/>
        <p:txBody>
          <a:bodyPr/>
          <a:lstStyle/>
          <a:p>
            <a:pPr lvl="0"/>
            <a:r>
              <a:rPr dirty="0"/>
              <a:t>Copilot may suggest code similar to public repositories</a:t>
            </a:r>
          </a:p>
          <a:p>
            <a:pPr lvl="0"/>
            <a:r>
              <a:rPr dirty="0"/>
              <a:t>GitHub provides a </a:t>
            </a:r>
            <a:r>
              <a:rPr b="1" dirty="0"/>
              <a:t>filter to block matching public code</a:t>
            </a:r>
          </a:p>
          <a:p>
            <a:pPr lvl="0"/>
            <a:r>
              <a:rPr dirty="0"/>
              <a:t>Organizations should review Copilot’s Terms of Service and Privacy Statement</a:t>
            </a:r>
            <a:endParaRPr dirty="0">
              <a:hlinkClick r:id="rId3"/>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Deployment Options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99609608"/>
              </p:ext>
            </p:extLst>
          </p:nvPr>
        </p:nvGraphicFramePr>
        <p:xfrm>
          <a:off x="457200" y="1193800"/>
          <a:ext cx="8229600" cy="1188720"/>
        </p:xfrm>
        <a:graphic>
          <a:graphicData uri="http://schemas.openxmlformats.org/drawingml/2006/table">
            <a:tbl>
              <a:tblPr firstRow="1">
                <a:tableStyleId>{FABFCF23-3B69-468F-B69F-88F6DE6A72F2}</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rPr dirty="0"/>
                        <a:t>Plan</a:t>
                      </a:r>
                    </a:p>
                  </a:txBody>
                  <a:tcPr/>
                </a:tc>
                <a:tc>
                  <a:txBody>
                    <a:bodyPr/>
                    <a:lstStyle/>
                    <a:p>
                      <a:pPr marL="0" lvl="0" indent="0">
                        <a:buNone/>
                      </a:pPr>
                      <a:r>
                        <a:t>Key Features</a:t>
                      </a:r>
                    </a:p>
                  </a:txBody>
                  <a:tcPr/>
                </a:tc>
                <a:tc>
                  <a:txBody>
                    <a:bodyPr/>
                    <a:lstStyle/>
                    <a:p>
                      <a:pPr marL="0" lvl="0" indent="0">
                        <a:buNone/>
                      </a:pPr>
                      <a:r>
                        <a:t>IP Protection</a:t>
                      </a:r>
                    </a:p>
                  </a:txBody>
                  <a:tcPr/>
                </a:tc>
                <a:extLst>
                  <a:ext uri="{0D108BD9-81ED-4DB2-BD59-A6C34878D82A}">
                    <a16:rowId xmlns:a16="http://schemas.microsoft.com/office/drawing/2014/main" val="10000"/>
                  </a:ext>
                </a:extLst>
              </a:tr>
              <a:tr h="0">
                <a:tc>
                  <a:txBody>
                    <a:bodyPr/>
                    <a:lstStyle/>
                    <a:p>
                      <a:pPr marL="0" lvl="0" indent="0">
                        <a:buNone/>
                      </a:pPr>
                      <a:r>
                        <a:rPr dirty="0"/>
                        <a:t>Copilot Individual</a:t>
                      </a:r>
                      <a:r>
                        <a:rPr lang="en-US" dirty="0"/>
                        <a:t> (Pro, Pro+)</a:t>
                      </a:r>
                      <a:endParaRPr dirty="0"/>
                    </a:p>
                  </a:txBody>
                  <a:tcPr/>
                </a:tc>
                <a:tc>
                  <a:txBody>
                    <a:bodyPr/>
                    <a:lstStyle/>
                    <a:p>
                      <a:pPr marL="0" lvl="0" indent="0">
                        <a:buNone/>
                      </a:pPr>
                      <a:r>
                        <a:t>Personal use, no admin controls</a:t>
                      </a:r>
                    </a:p>
                  </a:txBody>
                  <a:tcPr/>
                </a:tc>
                <a:tc>
                  <a:txBody>
                    <a:bodyPr/>
                    <a:lstStyle/>
                    <a:p>
                      <a:pPr marL="0" lvl="0" indent="0">
                        <a:buNone/>
                      </a:pPr>
                      <a:r>
                        <a:t>Limited</a:t>
                      </a:r>
                    </a:p>
                  </a:txBody>
                  <a:tcPr/>
                </a:tc>
                <a:extLst>
                  <a:ext uri="{0D108BD9-81ED-4DB2-BD59-A6C34878D82A}">
                    <a16:rowId xmlns:a16="http://schemas.microsoft.com/office/drawing/2014/main" val="10001"/>
                  </a:ext>
                </a:extLst>
              </a:tr>
              <a:tr h="0">
                <a:tc>
                  <a:txBody>
                    <a:bodyPr/>
                    <a:lstStyle/>
                    <a:p>
                      <a:pPr marL="0" lvl="0" indent="0">
                        <a:buNone/>
                      </a:pPr>
                      <a:r>
                        <a:t>Copilot for Business</a:t>
                      </a:r>
                    </a:p>
                  </a:txBody>
                  <a:tcPr/>
                </a:tc>
                <a:tc>
                  <a:txBody>
                    <a:bodyPr/>
                    <a:lstStyle/>
                    <a:p>
                      <a:pPr marL="0" lvl="0" indent="0">
                        <a:buNone/>
                      </a:pPr>
                      <a:r>
                        <a:t>Admin controls, policy enforcement</a:t>
                      </a:r>
                    </a:p>
                  </a:txBody>
                  <a:tcPr/>
                </a:tc>
                <a:tc>
                  <a:txBody>
                    <a:bodyPr/>
                    <a:lstStyle/>
                    <a:p>
                      <a:pPr marL="0" lvl="0" indent="0">
                        <a:buNone/>
                      </a:pPr>
                      <a:r>
                        <a:t>Strong</a:t>
                      </a:r>
                    </a:p>
                  </a:txBody>
                  <a:tcPr/>
                </a:tc>
                <a:extLst>
                  <a:ext uri="{0D108BD9-81ED-4DB2-BD59-A6C34878D82A}">
                    <a16:rowId xmlns:a16="http://schemas.microsoft.com/office/drawing/2014/main" val="10002"/>
                  </a:ext>
                </a:extLst>
              </a:tr>
              <a:tr h="0">
                <a:tc>
                  <a:txBody>
                    <a:bodyPr/>
                    <a:lstStyle/>
                    <a:p>
                      <a:pPr marL="0" lvl="0" indent="0">
                        <a:buNone/>
                      </a:pPr>
                      <a:r>
                        <a:t>Copilot for Enterprise</a:t>
                      </a:r>
                    </a:p>
                  </a:txBody>
                  <a:tcPr/>
                </a:tc>
                <a:tc>
                  <a:txBody>
                    <a:bodyPr/>
                    <a:lstStyle/>
                    <a:p>
                      <a:pPr marL="0" lvl="0" indent="0">
                        <a:buNone/>
                      </a:pPr>
                      <a:r>
                        <a:t>Org-wide policy, audit tools</a:t>
                      </a:r>
                    </a:p>
                  </a:txBody>
                  <a:tcPr/>
                </a:tc>
                <a:tc>
                  <a:txBody>
                    <a:bodyPr/>
                    <a:lstStyle/>
                    <a:p>
                      <a:pPr marL="0" lvl="0" indent="0">
                        <a:buNone/>
                      </a:pPr>
                      <a:r>
                        <a:rPr dirty="0"/>
                        <a:t>Strongest</a:t>
                      </a:r>
                    </a:p>
                  </a:txBody>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Best Practices for Safe Use</a:t>
            </a:r>
          </a:p>
        </p:txBody>
      </p:sp>
      <p:sp>
        <p:nvSpPr>
          <p:cNvPr id="3" name="Content Placeholder 2"/>
          <p:cNvSpPr>
            <a:spLocks noGrp="1"/>
          </p:cNvSpPr>
          <p:nvPr>
            <p:ph idx="1"/>
          </p:nvPr>
        </p:nvSpPr>
        <p:spPr/>
        <p:txBody>
          <a:bodyPr/>
          <a:lstStyle/>
          <a:p>
            <a:pPr lvl="0"/>
            <a:r>
              <a:rPr dirty="0"/>
              <a:t>Enable public code filters</a:t>
            </a:r>
          </a:p>
          <a:p>
            <a:pPr lvl="0"/>
            <a:r>
              <a:rPr lang="en-US" dirty="0"/>
              <a:t>Establish a r</a:t>
            </a:r>
            <a:r>
              <a:rPr dirty="0"/>
              <a:t>eview </a:t>
            </a:r>
            <a:r>
              <a:rPr lang="en-US" dirty="0"/>
              <a:t>process</a:t>
            </a:r>
            <a:endParaRPr dirty="0"/>
          </a:p>
          <a:p>
            <a:pPr lvl="0"/>
            <a:r>
              <a:rPr dirty="0"/>
              <a:t>Educate teams on responsible use and licensing awareness</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Resources</a:t>
            </a:r>
          </a:p>
        </p:txBody>
      </p:sp>
      <p:sp>
        <p:nvSpPr>
          <p:cNvPr id="3" name="Content Placeholder 2"/>
          <p:cNvSpPr>
            <a:spLocks noGrp="1"/>
          </p:cNvSpPr>
          <p:nvPr>
            <p:ph idx="1"/>
          </p:nvPr>
        </p:nvSpPr>
        <p:spPr/>
        <p:txBody>
          <a:bodyPr/>
          <a:lstStyle/>
          <a:p>
            <a:pPr lvl="0"/>
            <a:r>
              <a:rPr dirty="0"/>
              <a:t>Copilot Documentation</a:t>
            </a:r>
            <a:r>
              <a:rPr lang="en-US" dirty="0"/>
              <a:t>: </a:t>
            </a:r>
          </a:p>
          <a:p>
            <a:pPr lvl="1"/>
            <a:r>
              <a:rPr lang="en-US" dirty="0"/>
              <a:t>https://docs.github.com/en/copilot</a:t>
            </a:r>
            <a:endParaRPr dirty="0">
              <a:hlinkClick r:id="rId3"/>
            </a:endParaRPr>
          </a:p>
          <a:p>
            <a:pPr lvl="0"/>
            <a:r>
              <a:rPr dirty="0"/>
              <a:t>Copilot for Business Overview</a:t>
            </a:r>
            <a:endParaRPr lang="en-US" dirty="0"/>
          </a:p>
          <a:p>
            <a:pPr lvl="1"/>
            <a:r>
              <a:rPr lang="en-US" dirty="0"/>
              <a:t>https://github.com/features/copilot-for-business</a:t>
            </a:r>
            <a:endParaRPr dirty="0">
              <a:hlinkClick r:id="rId4"/>
            </a:endParaRPr>
          </a:p>
          <a:p>
            <a:pPr lvl="0"/>
            <a:r>
              <a:rPr dirty="0"/>
              <a:t>Security and Privacy FAQ</a:t>
            </a:r>
            <a:endParaRPr lang="en-US" dirty="0"/>
          </a:p>
          <a:p>
            <a:pPr lvl="1"/>
            <a:r>
              <a:rPr lang="en-US" dirty="0"/>
              <a:t>https://docs.github.com/en/copilot/security</a:t>
            </a:r>
            <a:endParaRPr dirty="0">
              <a:hlinkClick r:id="rId5"/>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ECC9-DFC4-2F6C-3B16-2926BDDA0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9C5D-E58E-9607-840D-21FCBB06A691}"/>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D26924F8-18D7-C075-0F31-F906C794EB07}"/>
              </a:ext>
            </a:extLst>
          </p:cNvPr>
          <p:cNvGraphicFramePr>
            <a:graphicFrameLocks noGrp="1"/>
          </p:cNvGraphicFramePr>
          <p:nvPr>
            <p:ph idx="1"/>
            <p:extLst>
              <p:ext uri="{D42A27DB-BD31-4B8C-83A1-F6EECF244321}">
                <p14:modId xmlns:p14="http://schemas.microsoft.com/office/powerpoint/2010/main" val="121804590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678646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Hands-On with GitHub Copilot</a:t>
            </a:r>
          </a:p>
        </p:txBody>
      </p:sp>
      <p:sp>
        <p:nvSpPr>
          <p:cNvPr id="3" name="Content Placeholder 2"/>
          <p:cNvSpPr>
            <a:spLocks noGrp="1"/>
          </p:cNvSpPr>
          <p:nvPr>
            <p:ph idx="1"/>
          </p:nvPr>
        </p:nvSpPr>
        <p:spPr/>
        <p:txBody>
          <a:bodyPr/>
          <a:lstStyle/>
          <a:p>
            <a:pPr lvl="0"/>
            <a:r>
              <a:rPr dirty="0"/>
              <a:t>Installation and configuration</a:t>
            </a:r>
          </a:p>
          <a:p>
            <a:pPr lvl="1"/>
            <a:r>
              <a:rPr dirty="0"/>
              <a:t>Installing the extension</a:t>
            </a:r>
          </a:p>
          <a:p>
            <a:pPr lvl="1"/>
            <a:r>
              <a:rPr dirty="0"/>
              <a:t>Setting up authentication</a:t>
            </a:r>
          </a:p>
          <a:p>
            <a:pPr lvl="1"/>
            <a:r>
              <a:rPr dirty="0"/>
              <a:t>Configuring settings</a:t>
            </a:r>
          </a:p>
          <a:p>
            <a:pPr lvl="0"/>
            <a:r>
              <a:rPr dirty="0"/>
              <a:t>Sharing configuration across an organization</a:t>
            </a:r>
          </a:p>
          <a:p>
            <a:pPr lvl="1"/>
            <a:r>
              <a:rPr dirty="0"/>
              <a:t>Shared configuration templates (e.g., .copilot/</a:t>
            </a:r>
            <a:r>
              <a:rPr dirty="0" err="1"/>
              <a:t>settings.json</a:t>
            </a:r>
            <a:r>
              <a:rPr dirty="0"/>
              <a:t>) can be distributed across projects to standardize behavior.</a:t>
            </a:r>
          </a:p>
        </p:txBody>
      </p:sp>
      <p:sp>
        <p:nvSpPr>
          <p:cNvPr id="4" name="TextBox 3">
            <a:extLst>
              <a:ext uri="{FF2B5EF4-FFF2-40B4-BE49-F238E27FC236}">
                <a16:creationId xmlns:a16="http://schemas.microsoft.com/office/drawing/2014/main" id="{F195768C-7C52-086D-0AE6-5BC7596CB55B}"/>
              </a:ext>
            </a:extLst>
          </p:cNvPr>
          <p:cNvSpPr txBox="1"/>
          <p:nvPr/>
        </p:nvSpPr>
        <p:spPr>
          <a:xfrm>
            <a:off x="822959" y="4544282"/>
            <a:ext cx="6782463" cy="369332"/>
          </a:xfrm>
          <a:prstGeom prst="rect">
            <a:avLst/>
          </a:prstGeom>
          <a:noFill/>
        </p:spPr>
        <p:txBody>
          <a:bodyPr wrap="square">
            <a:spAutoFit/>
          </a:bodyPr>
          <a:lstStyle/>
          <a:p>
            <a:r>
              <a:rPr lang="en-US" dirty="0">
                <a:solidFill>
                  <a:schemeClr val="bg1"/>
                </a:solidFill>
              </a:rPr>
              <a:t>https://www.codemag.com/Blog/AI/AIASD-install-guide</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53240-B859-31D6-6B9C-0848F31FEE84}"/>
              </a:ext>
            </a:extLst>
          </p:cNvPr>
          <p:cNvSpPr>
            <a:spLocks noGrp="1"/>
          </p:cNvSpPr>
          <p:nvPr>
            <p:ph type="title"/>
          </p:nvPr>
        </p:nvSpPr>
        <p:spPr/>
        <p:txBody>
          <a:bodyPr>
            <a:noAutofit/>
          </a:bodyPr>
          <a:lstStyle/>
          <a:p>
            <a:r>
              <a:rPr lang="en-US" sz="2000" dirty="0"/>
              <a:t>Lab: Getting Started with GitHub Copilot</a:t>
            </a:r>
          </a:p>
        </p:txBody>
      </p:sp>
      <p:sp>
        <p:nvSpPr>
          <p:cNvPr id="3" name="Content Placeholder 2">
            <a:extLst>
              <a:ext uri="{FF2B5EF4-FFF2-40B4-BE49-F238E27FC236}">
                <a16:creationId xmlns:a16="http://schemas.microsoft.com/office/drawing/2014/main" id="{0D77E06A-A98C-5A6F-2203-AD384D1D1792}"/>
              </a:ext>
            </a:extLst>
          </p:cNvPr>
          <p:cNvSpPr>
            <a:spLocks noGrp="1"/>
          </p:cNvSpPr>
          <p:nvPr>
            <p:ph idx="1"/>
          </p:nvPr>
        </p:nvSpPr>
        <p:spPr/>
        <p:txBody>
          <a:bodyPr numCol="2">
            <a:normAutofit fontScale="62500" lnSpcReduction="20000"/>
          </a:bodyPr>
          <a:lstStyle/>
          <a:p>
            <a:pPr marL="0" indent="0">
              <a:buNone/>
            </a:pPr>
            <a:r>
              <a:rPr lang="en-US" b="1" dirty="0"/>
              <a:t>Duration:</a:t>
            </a:r>
            <a:r>
              <a:rPr lang="en-US" dirty="0"/>
              <a:t> Follow along</a:t>
            </a:r>
          </a:p>
          <a:p>
            <a:pPr marL="0" indent="0">
              <a:buNone/>
            </a:pPr>
            <a:endParaRPr lang="en-US" dirty="0"/>
          </a:p>
          <a:p>
            <a:pPr marL="0" indent="0">
              <a:buNone/>
            </a:pPr>
            <a:r>
              <a:rPr lang="en-US" b="1" dirty="0"/>
              <a:t>Objectives</a:t>
            </a:r>
          </a:p>
          <a:p>
            <a:r>
              <a:rPr lang="en-US" dirty="0"/>
              <a:t>Install and configure GitHub Copilot</a:t>
            </a:r>
          </a:p>
          <a:p>
            <a:r>
              <a:rPr lang="en-US" dirty="0"/>
              <a:t>Verify authentication with GitHub account</a:t>
            </a:r>
          </a:p>
          <a:p>
            <a:r>
              <a:rPr lang="en-US" dirty="0"/>
              <a:t>Explore the Copilot UI components</a:t>
            </a:r>
          </a:p>
          <a:p>
            <a:endParaRPr lang="en-US" dirty="0"/>
          </a:p>
          <a:p>
            <a:pPr marL="0" indent="0">
              <a:buNone/>
            </a:pPr>
            <a:r>
              <a:rPr lang="en-US" b="1" dirty="0"/>
              <a:t>Activities</a:t>
            </a:r>
            <a:endParaRPr lang="en-US" dirty="0"/>
          </a:p>
          <a:p>
            <a:pPr marL="457200" indent="-457200">
              <a:buFont typeface="+mj-lt"/>
              <a:buAutoNum type="arabicPeriod"/>
            </a:pPr>
            <a:r>
              <a:rPr lang="en-US" dirty="0"/>
              <a:t>Install GitHub Copilot extension from VS Code marketplace</a:t>
            </a:r>
          </a:p>
          <a:p>
            <a:pPr marL="457200" indent="-457200">
              <a:buFont typeface="+mj-lt"/>
              <a:buAutoNum type="arabicPeriod"/>
            </a:pPr>
            <a:r>
              <a:rPr lang="en-US" dirty="0"/>
              <a:t>Sign in with your GitHub account (verify Copilot subscription)</a:t>
            </a:r>
          </a:p>
          <a:p>
            <a:pPr marL="457200" indent="-457200">
              <a:buFont typeface="+mj-lt"/>
              <a:buAutoNum type="arabicPeriod"/>
            </a:pPr>
            <a:r>
              <a:rPr lang="en-US" dirty="0"/>
              <a:t>Locate and explore:</a:t>
            </a:r>
          </a:p>
          <a:p>
            <a:pPr lvl="1"/>
            <a:r>
              <a:rPr lang="en-US" dirty="0"/>
              <a:t>Chat window and chat history</a:t>
            </a:r>
          </a:p>
          <a:p>
            <a:pPr lvl="1"/>
            <a:r>
              <a:rPr lang="en-US" dirty="0"/>
              <a:t>New chat button</a:t>
            </a:r>
          </a:p>
          <a:p>
            <a:pPr lvl="1"/>
            <a:r>
              <a:rPr lang="en-US" dirty="0"/>
              <a:t>Quick chat feature (keyboard shortcut)</a:t>
            </a:r>
          </a:p>
          <a:p>
            <a:pPr lvl="1"/>
            <a:r>
              <a:rPr lang="en-US" dirty="0"/>
              <a:t>Settings menu</a:t>
            </a:r>
          </a:p>
          <a:p>
            <a:pPr lvl="1"/>
            <a:r>
              <a:rPr lang="en-US" dirty="0"/>
              <a:t>Model selection dropdown</a:t>
            </a:r>
          </a:p>
          <a:p>
            <a:pPr marL="342900" indent="-342900">
              <a:buFont typeface="+mj-lt"/>
              <a:buAutoNum type="arabicPeriod"/>
            </a:pPr>
            <a:r>
              <a:rPr lang="en-US" dirty="0"/>
              <a:t>Check your premium token usage bar</a:t>
            </a:r>
          </a:p>
          <a:p>
            <a:pPr marL="342900" indent="-342900">
              <a:buFont typeface="+mj-lt"/>
              <a:buAutoNum type="arabicPeriod"/>
            </a:pPr>
            <a:r>
              <a:rPr lang="en-US" dirty="0"/>
              <a:t>Create a new chat and experiment with the interface</a:t>
            </a:r>
          </a:p>
          <a:p>
            <a:pPr marL="0" indent="0">
              <a:buNone/>
            </a:pPr>
            <a:endParaRPr lang="en-US" dirty="0"/>
          </a:p>
          <a:p>
            <a:pPr marL="0" indent="0">
              <a:buNone/>
            </a:pPr>
            <a:r>
              <a:rPr lang="en-US" b="1" dirty="0"/>
              <a:t>Success Criteria</a:t>
            </a:r>
          </a:p>
          <a:p>
            <a:pPr lvl="1"/>
            <a:r>
              <a:rPr lang="en-US" dirty="0"/>
              <a:t>Copilot extension installed and authenticated</a:t>
            </a:r>
          </a:p>
          <a:p>
            <a:pPr lvl="1"/>
            <a:r>
              <a:rPr lang="en-US" dirty="0"/>
              <a:t>Can open/close chat windows</a:t>
            </a:r>
          </a:p>
          <a:p>
            <a:pPr lvl="1"/>
            <a:r>
              <a:rPr lang="en-US" dirty="0"/>
              <a:t>Understand difference between main chat and quick chat</a:t>
            </a:r>
          </a:p>
          <a:p>
            <a:pPr lvl="1"/>
            <a:r>
              <a:rPr lang="en-US" dirty="0"/>
              <a:t>Know where to find chat history</a:t>
            </a:r>
          </a:p>
          <a:p>
            <a:endParaRPr lang="en-US" dirty="0"/>
          </a:p>
        </p:txBody>
      </p:sp>
    </p:spTree>
    <p:extLst>
      <p:ext uri="{BB962C8B-B14F-4D97-AF65-F5344CB8AC3E}">
        <p14:creationId xmlns:p14="http://schemas.microsoft.com/office/powerpoint/2010/main" val="148919389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CED87-EAED-C218-A4D1-174FDEB7CC25}"/>
              </a:ext>
            </a:extLst>
          </p:cNvPr>
          <p:cNvSpPr>
            <a:spLocks noGrp="1"/>
          </p:cNvSpPr>
          <p:nvPr>
            <p:ph type="title"/>
          </p:nvPr>
        </p:nvSpPr>
        <p:spPr/>
        <p:txBody>
          <a:bodyPr>
            <a:normAutofit fontScale="90000"/>
          </a:bodyPr>
          <a:lstStyle/>
          <a:p>
            <a:r>
              <a:rPr lang="en-US" dirty="0"/>
              <a:t>Prompt Specificity</a:t>
            </a:r>
          </a:p>
        </p:txBody>
      </p:sp>
      <p:sp>
        <p:nvSpPr>
          <p:cNvPr id="3" name="Content Placeholder 2">
            <a:extLst>
              <a:ext uri="{FF2B5EF4-FFF2-40B4-BE49-F238E27FC236}">
                <a16:creationId xmlns:a16="http://schemas.microsoft.com/office/drawing/2014/main" id="{5E786B25-78A9-F3C1-C478-5BC6B0627ED6}"/>
              </a:ext>
            </a:extLst>
          </p:cNvPr>
          <p:cNvSpPr>
            <a:spLocks noGrp="1"/>
          </p:cNvSpPr>
          <p:nvPr>
            <p:ph idx="1"/>
          </p:nvPr>
        </p:nvSpPr>
        <p:spPr/>
        <p:txBody>
          <a:bodyPr numCol="2">
            <a:normAutofit/>
          </a:bodyPr>
          <a:lstStyle/>
          <a:p>
            <a:r>
              <a:rPr lang="en-US" sz="1600" dirty="0"/>
              <a:t>Add error handling to my code</a:t>
            </a:r>
          </a:p>
          <a:p>
            <a:pPr lvl="1"/>
            <a:r>
              <a:rPr lang="en-US" sz="1400" i="1" dirty="0"/>
              <a:t>Result: Generic response asking what type of errors, what language, what code?</a:t>
            </a:r>
            <a:br>
              <a:rPr lang="en-US" sz="1400" dirty="0"/>
            </a:br>
            <a:endParaRPr lang="en-US" sz="1400" dirty="0"/>
          </a:p>
          <a:p>
            <a:r>
              <a:rPr lang="en-US" sz="1600" dirty="0"/>
              <a:t>Add error handling to my JavaScript function that calls an external API. I want to handle network timeouts, 404 errors, and JSON parsing failures. Return user-friendly error messages.</a:t>
            </a:r>
          </a:p>
          <a:p>
            <a:pPr lvl="1"/>
            <a:r>
              <a:rPr lang="en-US" sz="1400" i="1" dirty="0"/>
              <a:t>Result: Better, but still generic without seeing actual code structure</a:t>
            </a:r>
            <a:endParaRPr lang="en-US" sz="1400" dirty="0"/>
          </a:p>
          <a:p>
            <a:endParaRPr lang="en-US" sz="1600" dirty="0"/>
          </a:p>
          <a:p>
            <a:r>
              <a:rPr lang="en-US" sz="1600" dirty="0"/>
              <a:t>@file:api-client.js Add comprehensive error handling to the </a:t>
            </a:r>
            <a:r>
              <a:rPr lang="en-US" sz="1600" dirty="0" err="1"/>
              <a:t>fetchUserData</a:t>
            </a:r>
            <a:r>
              <a:rPr lang="en-US" sz="1600" dirty="0"/>
              <a:t> function. Handle network timeouts (&gt;5s), HTTP errors (404, 500, etc.), and JSON parsing failures.   Return user-friendly error messages that match our existing error format in @file:error-types.js</a:t>
            </a:r>
          </a:p>
          <a:p>
            <a:pPr lvl="1"/>
            <a:r>
              <a:rPr lang="en-US" sz="1400" i="1" dirty="0"/>
              <a:t>Result: Specific implementation that matches existing code patterns*</a:t>
            </a:r>
            <a:endParaRPr lang="en-US" sz="1400" dirty="0"/>
          </a:p>
          <a:p>
            <a:br>
              <a:rPr lang="en-US" sz="1600" dirty="0"/>
            </a:br>
            <a:endParaRPr lang="en-US" sz="1600" dirty="0"/>
          </a:p>
          <a:p>
            <a:endParaRPr lang="en-US" sz="1600" dirty="0"/>
          </a:p>
        </p:txBody>
      </p:sp>
    </p:spTree>
    <p:extLst>
      <p:ext uri="{BB962C8B-B14F-4D97-AF65-F5344CB8AC3E}">
        <p14:creationId xmlns:p14="http://schemas.microsoft.com/office/powerpoint/2010/main" val="214587554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1476-D9E5-ECB4-62C7-95118416E883}"/>
              </a:ext>
            </a:extLst>
          </p:cNvPr>
          <p:cNvSpPr>
            <a:spLocks noGrp="1"/>
          </p:cNvSpPr>
          <p:nvPr>
            <p:ph type="title"/>
          </p:nvPr>
        </p:nvSpPr>
        <p:spPr/>
        <p:txBody>
          <a:bodyPr>
            <a:noAutofit/>
          </a:bodyPr>
          <a:lstStyle/>
          <a:p>
            <a:r>
              <a:rPr lang="en-US" sz="2000" dirty="0"/>
              <a:t>Lab: Understanding Context Management</a:t>
            </a:r>
          </a:p>
        </p:txBody>
      </p:sp>
      <p:sp>
        <p:nvSpPr>
          <p:cNvPr id="3" name="Content Placeholder 2">
            <a:extLst>
              <a:ext uri="{FF2B5EF4-FFF2-40B4-BE49-F238E27FC236}">
                <a16:creationId xmlns:a16="http://schemas.microsoft.com/office/drawing/2014/main" id="{394FA5E8-1BBD-A630-956D-BBF09A9A2C1A}"/>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Follow along</a:t>
            </a:r>
          </a:p>
          <a:p>
            <a:endParaRPr lang="en-US" dirty="0"/>
          </a:p>
          <a:p>
            <a:pPr marL="0" indent="0">
              <a:buNone/>
            </a:pPr>
            <a:r>
              <a:rPr lang="en-US" b="1" dirty="0"/>
              <a:t>Objectives</a:t>
            </a:r>
            <a:endParaRPr lang="en-US" dirty="0"/>
          </a:p>
          <a:p>
            <a:r>
              <a:rPr lang="en-US" dirty="0"/>
              <a:t>Learn to add context using @ symbols</a:t>
            </a:r>
          </a:p>
          <a:p>
            <a:r>
              <a:rPr lang="en-US" dirty="0"/>
              <a:t>Understand context window limitations</a:t>
            </a:r>
          </a:p>
          <a:p>
            <a:r>
              <a:rPr lang="en-US" dirty="0"/>
              <a:t>Practice writing effective prompts</a:t>
            </a:r>
          </a:p>
          <a:p>
            <a:endParaRPr lang="en-US" dirty="0"/>
          </a:p>
          <a:p>
            <a:pPr marL="0" indent="0">
              <a:buNone/>
            </a:pPr>
            <a:r>
              <a:rPr lang="en-US" b="1" dirty="0"/>
              <a:t>Activities</a:t>
            </a:r>
            <a:endParaRPr lang="en-US" dirty="0"/>
          </a:p>
          <a:p>
            <a:pPr marL="0" indent="0">
              <a:buNone/>
            </a:pPr>
            <a:r>
              <a:rPr lang="en-US" b="1" dirty="0"/>
              <a:t>1. Basic Context Addition:</a:t>
            </a:r>
            <a:endParaRPr lang="en-US" dirty="0"/>
          </a:p>
          <a:p>
            <a:r>
              <a:rPr lang="en-US" dirty="0"/>
              <a:t>Use `@workspace` to search across your codebase</a:t>
            </a:r>
          </a:p>
          <a:p>
            <a:r>
              <a:rPr lang="en-US" dirty="0"/>
              <a:t>Use `@file` to reference specific files</a:t>
            </a:r>
          </a:p>
          <a:p>
            <a:r>
              <a:rPr lang="en-US" dirty="0"/>
              <a:t> Use `@terminal` to include terminal output in chat</a:t>
            </a:r>
          </a:p>
          <a:p>
            <a:r>
              <a:rPr lang="en-US" dirty="0"/>
              <a:t>Use `@</a:t>
            </a:r>
            <a:r>
              <a:rPr lang="en-US" dirty="0" err="1"/>
              <a:t>vscode</a:t>
            </a:r>
            <a:r>
              <a:rPr lang="en-US" dirty="0"/>
              <a:t>` to ask VS Code-specific questions</a:t>
            </a:r>
            <a:br>
              <a:rPr lang="en-US" dirty="0"/>
            </a:br>
            <a:endParaRPr lang="en-US" dirty="0"/>
          </a:p>
          <a:p>
            <a:pPr marL="0" indent="0">
              <a:buNone/>
            </a:pPr>
            <a:r>
              <a:rPr lang="en-US" b="1" dirty="0"/>
              <a:t>2. Prompt Practice:</a:t>
            </a:r>
            <a:endParaRPr lang="en-US" dirty="0"/>
          </a:p>
          <a:p>
            <a:r>
              <a:rPr lang="en-US" dirty="0"/>
              <a:t>Write a vague prompt, observe results</a:t>
            </a:r>
          </a:p>
          <a:p>
            <a:r>
              <a:rPr lang="en-US" dirty="0"/>
              <a:t> Rewrite with specific context, compare results</a:t>
            </a:r>
          </a:p>
          <a:p>
            <a:r>
              <a:rPr lang="en-US" dirty="0"/>
              <a:t>Add file references to improve accuracy</a:t>
            </a:r>
            <a:br>
              <a:rPr lang="en-US" dirty="0"/>
            </a:br>
            <a:endParaRPr lang="en-US" dirty="0"/>
          </a:p>
          <a:p>
            <a:pPr marL="0" indent="0">
              <a:buNone/>
            </a:pPr>
            <a:r>
              <a:rPr lang="en-US" b="1" dirty="0"/>
              <a:t>3. Context Window Experiment:</a:t>
            </a:r>
            <a:endParaRPr lang="en-US" dirty="0"/>
          </a:p>
          <a:p>
            <a:r>
              <a:rPr lang="en-US" strike="sngStrike" dirty="0"/>
              <a:t>Start a long conversation in one chat</a:t>
            </a:r>
          </a:p>
          <a:p>
            <a:r>
              <a:rPr lang="en-US" strike="sngStrike" dirty="0"/>
              <a:t>Notice when Copilot starts "forgetting" earlier context</a:t>
            </a:r>
          </a:p>
          <a:p>
            <a:r>
              <a:rPr lang="en-US" dirty="0"/>
              <a:t>Practice starting new chats for new topics</a:t>
            </a:r>
            <a:br>
              <a:rPr lang="en-US" dirty="0"/>
            </a:br>
            <a:endParaRPr lang="en-US" dirty="0"/>
          </a:p>
          <a:p>
            <a:pPr marL="0" indent="0">
              <a:buNone/>
            </a:pPr>
            <a:r>
              <a:rPr lang="en-US" b="1" dirty="0"/>
              <a:t>Success Criteria</a:t>
            </a:r>
            <a:endParaRPr lang="en-US" dirty="0"/>
          </a:p>
          <a:p>
            <a:r>
              <a:rPr lang="en-US" dirty="0"/>
              <a:t>Can use all @ context types</a:t>
            </a:r>
          </a:p>
          <a:p>
            <a:r>
              <a:rPr lang="en-US" dirty="0"/>
              <a:t>Understand when to start fresh chat sessions</a:t>
            </a:r>
          </a:p>
          <a:p>
            <a:r>
              <a:rPr lang="en-US" dirty="0"/>
              <a:t>Notice quality difference between vague and specific prompts</a:t>
            </a:r>
          </a:p>
          <a:p>
            <a:pPr marL="0" indent="0">
              <a:buNone/>
            </a:pPr>
            <a:endParaRPr lang="en-US" dirty="0"/>
          </a:p>
        </p:txBody>
      </p:sp>
    </p:spTree>
    <p:extLst>
      <p:ext uri="{BB962C8B-B14F-4D97-AF65-F5344CB8AC3E}">
        <p14:creationId xmlns:p14="http://schemas.microsoft.com/office/powerpoint/2010/main" val="232527546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F343-193F-08DB-457F-30FFFCC076BF}"/>
              </a:ext>
            </a:extLst>
          </p:cNvPr>
          <p:cNvSpPr>
            <a:spLocks noGrp="1"/>
          </p:cNvSpPr>
          <p:nvPr>
            <p:ph type="title"/>
          </p:nvPr>
        </p:nvSpPr>
        <p:spPr/>
        <p:txBody>
          <a:bodyPr>
            <a:noAutofit/>
          </a:bodyPr>
          <a:lstStyle/>
          <a:p>
            <a:r>
              <a:rPr lang="en-US" sz="2400" dirty="0"/>
              <a:t>Lab: Chat Management &amp; Workflow</a:t>
            </a:r>
          </a:p>
        </p:txBody>
      </p:sp>
      <p:sp>
        <p:nvSpPr>
          <p:cNvPr id="3" name="Content Placeholder 2">
            <a:extLst>
              <a:ext uri="{FF2B5EF4-FFF2-40B4-BE49-F238E27FC236}">
                <a16:creationId xmlns:a16="http://schemas.microsoft.com/office/drawing/2014/main" id="{069F62B3-DBAB-B622-DDAD-1B2955AF0273}"/>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Follow along</a:t>
            </a:r>
            <a:br>
              <a:rPr lang="en-US" dirty="0"/>
            </a:br>
            <a:endParaRPr lang="en-US" dirty="0"/>
          </a:p>
          <a:p>
            <a:pPr marL="0" indent="0">
              <a:buNone/>
            </a:pPr>
            <a:r>
              <a:rPr lang="en-US" b="1" dirty="0"/>
              <a:t>Objectives</a:t>
            </a:r>
            <a:br>
              <a:rPr lang="en-US" dirty="0"/>
            </a:br>
            <a:endParaRPr lang="en-US" dirty="0"/>
          </a:p>
          <a:p>
            <a:pPr lvl="1"/>
            <a:r>
              <a:rPr lang="en-US" dirty="0"/>
              <a:t>Organize chat sessions effectively</a:t>
            </a:r>
          </a:p>
          <a:p>
            <a:pPr lvl="1"/>
            <a:r>
              <a:rPr lang="en-US" dirty="0"/>
              <a:t>Use chat history for reference</a:t>
            </a:r>
          </a:p>
          <a:p>
            <a:pPr lvl="1"/>
            <a:r>
              <a:rPr lang="en-US" dirty="0"/>
              <a:t>Develop efficient workflow patterns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Chat Organization:</a:t>
            </a:r>
            <a:br>
              <a:rPr lang="en-US" dirty="0"/>
            </a:br>
            <a:endParaRPr lang="en-US" dirty="0"/>
          </a:p>
          <a:p>
            <a:pPr lvl="1"/>
            <a:r>
              <a:rPr lang="en-US" dirty="0"/>
              <a:t>Review your chat history</a:t>
            </a:r>
          </a:p>
          <a:p>
            <a:pPr lvl="1"/>
            <a:r>
              <a:rPr lang="en-US" dirty="0"/>
              <a:t>Identify chats that should have been separate sessions</a:t>
            </a:r>
          </a:p>
          <a:p>
            <a:pPr lvl="1"/>
            <a:r>
              <a:rPr lang="en-US" dirty="0"/>
              <a:t>Practice starting new chats at appropriate times</a:t>
            </a:r>
            <a:br>
              <a:rPr lang="en-US" dirty="0"/>
            </a:br>
            <a:endParaRPr lang="en-US" dirty="0"/>
          </a:p>
          <a:p>
            <a:pPr marL="0" indent="0">
              <a:buNone/>
            </a:pPr>
            <a:r>
              <a:rPr lang="en-US" dirty="0"/>
              <a:t>2. </a:t>
            </a:r>
            <a:r>
              <a:rPr lang="en-US" b="1" dirty="0"/>
              <a:t>Context Preservation:</a:t>
            </a:r>
            <a:br>
              <a:rPr lang="en-US" dirty="0"/>
            </a:br>
            <a:endParaRPr lang="en-US" dirty="0"/>
          </a:p>
          <a:p>
            <a:pPr lvl="1"/>
            <a:r>
              <a:rPr lang="en-US" dirty="0"/>
              <a:t>Start a focused chat for one feature</a:t>
            </a:r>
          </a:p>
          <a:p>
            <a:pPr lvl="1"/>
            <a:r>
              <a:rPr lang="en-US" dirty="0"/>
              <a:t>Add relevant context systematically</a:t>
            </a:r>
          </a:p>
          <a:p>
            <a:pPr lvl="1"/>
            <a:r>
              <a:rPr lang="en-US" dirty="0"/>
              <a:t>Complete task without context overflow</a:t>
            </a:r>
            <a:br>
              <a:rPr lang="en-US" dirty="0"/>
            </a:br>
            <a:endParaRPr lang="en-US" dirty="0"/>
          </a:p>
          <a:p>
            <a:pPr marL="0" indent="0">
              <a:buNone/>
            </a:pPr>
            <a:r>
              <a:rPr lang="en-US" dirty="0"/>
              <a:t>3. </a:t>
            </a:r>
            <a:r>
              <a:rPr lang="en-US" b="1" dirty="0"/>
              <a:t>Quick Chat Practice:</a:t>
            </a:r>
            <a:br>
              <a:rPr lang="en-US" dirty="0"/>
            </a:br>
            <a:endParaRPr lang="en-US" dirty="0"/>
          </a:p>
          <a:p>
            <a:pPr lvl="1"/>
            <a:r>
              <a:rPr lang="en-US" dirty="0"/>
              <a:t>Use main chat for primary task</a:t>
            </a:r>
          </a:p>
          <a:p>
            <a:pPr lvl="1"/>
            <a:r>
              <a:rPr lang="en-US" dirty="0"/>
              <a:t>Use quick chat for side questions</a:t>
            </a:r>
          </a:p>
          <a:p>
            <a:pPr lvl="1"/>
            <a:r>
              <a:rPr lang="en-US" dirty="0"/>
              <a:t>Return to main chat without losing context</a:t>
            </a:r>
            <a:br>
              <a:rPr lang="en-US" dirty="0"/>
            </a:br>
            <a:endParaRPr lang="en-US" dirty="0"/>
          </a:p>
          <a:p>
            <a:pPr marL="0" indent="0">
              <a:buNone/>
            </a:pPr>
            <a:r>
              <a:rPr lang="en-US" dirty="0"/>
              <a:t>4. </a:t>
            </a:r>
            <a:r>
              <a:rPr lang="en-US" b="1" dirty="0"/>
              <a:t>Chat History Review:</a:t>
            </a:r>
            <a:endParaRPr lang="en-US" dirty="0"/>
          </a:p>
          <a:p>
            <a:pPr lvl="1"/>
            <a:r>
              <a:rPr lang="en-US" dirty="0"/>
              <a:t>Find and reference previous solutions</a:t>
            </a:r>
          </a:p>
          <a:p>
            <a:pPr lvl="1"/>
            <a:r>
              <a:rPr lang="en-US" dirty="0"/>
              <a:t>Learn from past prompts that worked well</a:t>
            </a:r>
          </a:p>
          <a:p>
            <a:pPr lvl="1"/>
            <a:r>
              <a:rPr lang="en-US" dirty="0"/>
              <a:t>Identify patterns in effective conversations</a:t>
            </a:r>
            <a:br>
              <a:rPr lang="en-US" dirty="0"/>
            </a:br>
            <a:endParaRPr lang="en-US" dirty="0"/>
          </a:p>
          <a:p>
            <a:pPr marL="0" indent="0">
              <a:buNone/>
            </a:pPr>
            <a:r>
              <a:rPr lang="en-US" b="1" dirty="0"/>
              <a:t>Success Criteria</a:t>
            </a:r>
            <a:br>
              <a:rPr lang="en-US" dirty="0"/>
            </a:br>
            <a:endParaRPr lang="en-US" dirty="0"/>
          </a:p>
          <a:p>
            <a:pPr lvl="1"/>
            <a:r>
              <a:rPr lang="en-US" dirty="0"/>
              <a:t>Chat history is organized and meaningful</a:t>
            </a:r>
          </a:p>
          <a:p>
            <a:pPr lvl="1"/>
            <a:r>
              <a:rPr lang="en-US" dirty="0"/>
              <a:t>Can find and reference previous solutions</a:t>
            </a:r>
          </a:p>
          <a:p>
            <a:pPr lvl="1"/>
            <a:r>
              <a:rPr lang="en-US" dirty="0"/>
              <a:t>Efficient workflow developed for using multiple chat windows</a:t>
            </a:r>
            <a:br>
              <a:rPr lang="en-US" dirty="0"/>
            </a:br>
            <a:endParaRPr lang="en-US" dirty="0"/>
          </a:p>
          <a:p>
            <a:pPr marL="0" indent="0">
              <a:buNone/>
            </a:pPr>
            <a:r>
              <a:rPr lang="en-US" b="1" dirty="0"/>
              <a:t>Context Window Management</a:t>
            </a:r>
            <a:br>
              <a:rPr lang="en-US" dirty="0"/>
            </a:br>
            <a:endParaRPr lang="en-US" dirty="0"/>
          </a:p>
          <a:p>
            <a:pPr lvl="1"/>
            <a:r>
              <a:rPr lang="en-US" dirty="0"/>
              <a:t>Remember from the session:</a:t>
            </a:r>
            <a:br>
              <a:rPr lang="en-US" dirty="0"/>
            </a:br>
            <a:endParaRPr lang="en-US" dirty="0"/>
          </a:p>
          <a:p>
            <a:pPr lvl="2"/>
            <a:r>
              <a:rPr lang="en-US" dirty="0"/>
              <a:t>Context is a </a:t>
            </a:r>
            <a:r>
              <a:rPr lang="en-US" b="1" dirty="0"/>
              <a:t>**limited resource**</a:t>
            </a:r>
            <a:endParaRPr lang="en-US" dirty="0"/>
          </a:p>
          <a:p>
            <a:pPr lvl="2"/>
            <a:r>
              <a:rPr lang="en-US" dirty="0"/>
              <a:t>Start new chat when changing focus areas</a:t>
            </a:r>
          </a:p>
          <a:p>
            <a:pPr lvl="2"/>
            <a:r>
              <a:rPr lang="en-US" dirty="0"/>
              <a:t>Keep conversations targeted and specific</a:t>
            </a:r>
          </a:p>
          <a:p>
            <a:pPr lvl="2"/>
            <a:r>
              <a:rPr lang="en-US" dirty="0"/>
              <a:t>When Copilot "forgets" earlier context, it's time for a new session</a:t>
            </a:r>
          </a:p>
        </p:txBody>
      </p:sp>
    </p:spTree>
    <p:extLst>
      <p:ext uri="{BB962C8B-B14F-4D97-AF65-F5344CB8AC3E}">
        <p14:creationId xmlns:p14="http://schemas.microsoft.com/office/powerpoint/2010/main" val="1780068362"/>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Using Copilot in different modes</a:t>
            </a:r>
          </a:p>
        </p:txBody>
      </p:sp>
      <p:sp>
        <p:nvSpPr>
          <p:cNvPr id="3" name="Content Placeholder 2"/>
          <p:cNvSpPr>
            <a:spLocks noGrp="1"/>
          </p:cNvSpPr>
          <p:nvPr>
            <p:ph idx="1"/>
          </p:nvPr>
        </p:nvSpPr>
        <p:spPr/>
        <p:txBody>
          <a:bodyPr/>
          <a:lstStyle/>
          <a:p>
            <a:pPr lvl="0"/>
            <a:r>
              <a:rPr dirty="0"/>
              <a:t>Ask Mode</a:t>
            </a:r>
          </a:p>
          <a:p>
            <a:pPr lvl="1"/>
            <a:r>
              <a:rPr lang="en-US" dirty="0"/>
              <a:t>Simple prompt completion and inline suggestions </a:t>
            </a:r>
          </a:p>
          <a:p>
            <a:pPr lvl="0"/>
            <a:r>
              <a:rPr dirty="0"/>
              <a:t>Edit Mode</a:t>
            </a:r>
            <a:endParaRPr lang="en-US" dirty="0"/>
          </a:p>
          <a:p>
            <a:pPr lvl="1"/>
            <a:r>
              <a:rPr lang="en-US" dirty="0"/>
              <a:t>Automatic file edits</a:t>
            </a:r>
          </a:p>
          <a:p>
            <a:r>
              <a:rPr lang="en-US" dirty="0"/>
              <a:t>Agent Mode</a:t>
            </a:r>
          </a:p>
          <a:p>
            <a:pPr lvl="1"/>
            <a:r>
              <a:rPr lang="en-US" dirty="0"/>
              <a:t>Perform actions on your behalf</a:t>
            </a:r>
          </a:p>
          <a:p>
            <a:r>
              <a:rPr lang="en-US" dirty="0"/>
              <a:t>Custom Modes</a:t>
            </a:r>
          </a:p>
          <a:p>
            <a:pPr lvl="1"/>
            <a:r>
              <a:rPr lang="en-US" dirty="0"/>
              <a:t>Execute specific workflows</a:t>
            </a:r>
          </a:p>
          <a:p>
            <a:pPr lvl="1"/>
            <a:endParaRPr dirty="0"/>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EAA42-C06B-CB63-0798-9082797F6BD5}"/>
              </a:ext>
            </a:extLst>
          </p:cNvPr>
          <p:cNvSpPr>
            <a:spLocks noGrp="1"/>
          </p:cNvSpPr>
          <p:nvPr>
            <p:ph type="title"/>
          </p:nvPr>
        </p:nvSpPr>
        <p:spPr/>
        <p:txBody>
          <a:bodyPr>
            <a:normAutofit/>
          </a:bodyPr>
          <a:lstStyle/>
          <a:p>
            <a:r>
              <a:rPr lang="en-US" sz="2000" dirty="0"/>
              <a:t>Lab: Exploring Copilot Modes</a:t>
            </a:r>
          </a:p>
        </p:txBody>
      </p:sp>
      <p:sp>
        <p:nvSpPr>
          <p:cNvPr id="3" name="Content Placeholder 2">
            <a:extLst>
              <a:ext uri="{FF2B5EF4-FFF2-40B4-BE49-F238E27FC236}">
                <a16:creationId xmlns:a16="http://schemas.microsoft.com/office/drawing/2014/main" id="{B2BF867C-A24D-C665-CB10-3F9E9E3775AE}"/>
              </a:ext>
            </a:extLst>
          </p:cNvPr>
          <p:cNvSpPr>
            <a:spLocks noGrp="1"/>
          </p:cNvSpPr>
          <p:nvPr>
            <p:ph idx="1"/>
          </p:nvPr>
        </p:nvSpPr>
        <p:spPr/>
        <p:txBody>
          <a:bodyPr numCol="2">
            <a:normAutofit fontScale="40000" lnSpcReduction="20000"/>
          </a:bodyPr>
          <a:lstStyle/>
          <a:p>
            <a:pPr marL="0" indent="0">
              <a:buNone/>
            </a:pPr>
            <a:r>
              <a:rPr lang="en-US" b="1" dirty="0"/>
              <a:t>Duration: Follow along</a:t>
            </a:r>
            <a:br>
              <a:rPr lang="en-US" dirty="0"/>
            </a:br>
            <a:endParaRPr lang="en-US" dirty="0"/>
          </a:p>
          <a:p>
            <a:pPr marL="0" indent="0">
              <a:buNone/>
            </a:pPr>
            <a:r>
              <a:rPr lang="en-US" b="1" dirty="0"/>
              <a:t>Objectives</a:t>
            </a:r>
            <a:endParaRPr lang="en-US" dirty="0"/>
          </a:p>
          <a:p>
            <a:r>
              <a:rPr lang="en-US" dirty="0"/>
              <a:t>Understand differences between Ask, Edit, and Agent modes</a:t>
            </a:r>
          </a:p>
          <a:p>
            <a:r>
              <a:rPr lang="en-US" dirty="0"/>
              <a:t>Know when to use each mode</a:t>
            </a:r>
          </a:p>
          <a:p>
            <a:r>
              <a:rPr lang="en-US" dirty="0"/>
              <a:t>Understand premium token implications</a:t>
            </a:r>
            <a:br>
              <a:rPr lang="en-US" dirty="0"/>
            </a:br>
            <a:endParaRPr lang="en-US" dirty="0"/>
          </a:p>
          <a:p>
            <a:pPr marL="0" indent="0">
              <a:buNone/>
            </a:pPr>
            <a:r>
              <a:rPr lang="en-US" b="1" dirty="0"/>
              <a:t>Activities</a:t>
            </a:r>
            <a:endParaRPr lang="en-US" dirty="0"/>
          </a:p>
          <a:p>
            <a:pPr marL="0" indent="0">
              <a:buNone/>
            </a:pPr>
            <a:r>
              <a:rPr lang="en-US" dirty="0"/>
              <a:t>1. </a:t>
            </a:r>
            <a:r>
              <a:rPr lang="en-US" b="1" dirty="0"/>
              <a:t>Ask Mode:</a:t>
            </a:r>
            <a:endParaRPr lang="en-US" dirty="0"/>
          </a:p>
          <a:p>
            <a:r>
              <a:rPr lang="en-US" dirty="0"/>
              <a:t>Ask Copilot to explain a code snippet (no changes made)</a:t>
            </a:r>
          </a:p>
          <a:p>
            <a:r>
              <a:rPr lang="en-US" dirty="0"/>
              <a:t>Request multiple implementation approaches</a:t>
            </a:r>
          </a:p>
          <a:p>
            <a:r>
              <a:rPr lang="en-US" dirty="0"/>
              <a:t>Try different models and observe response quality</a:t>
            </a:r>
          </a:p>
          <a:p>
            <a:r>
              <a:rPr lang="en-US" b="1" dirty="0"/>
              <a:t>Note: </a:t>
            </a:r>
            <a:r>
              <a:rPr lang="en-US" dirty="0"/>
              <a:t>This doesn't consume premium tokens for advanced models</a:t>
            </a:r>
          </a:p>
          <a:p>
            <a:endParaRPr lang="en-US" dirty="0"/>
          </a:p>
          <a:p>
            <a:pPr marL="0" indent="0">
              <a:buNone/>
            </a:pPr>
            <a:r>
              <a:rPr lang="en-US" dirty="0"/>
              <a:t>2. </a:t>
            </a:r>
            <a:r>
              <a:rPr lang="en-US" b="1" dirty="0"/>
              <a:t>Edit Mode:</a:t>
            </a:r>
            <a:endParaRPr lang="en-US" dirty="0"/>
          </a:p>
          <a:p>
            <a:r>
              <a:rPr lang="en-US" dirty="0"/>
              <a:t>Select code in a file</a:t>
            </a:r>
          </a:p>
          <a:p>
            <a:r>
              <a:rPr lang="en-US" dirty="0"/>
              <a:t>Ask Copilot to refactor it</a:t>
            </a:r>
          </a:p>
          <a:p>
            <a:r>
              <a:rPr lang="en-US" dirty="0"/>
              <a:t>Observe inline suggestions and changes</a:t>
            </a:r>
          </a:p>
          <a:p>
            <a:r>
              <a:rPr lang="en-US" dirty="0"/>
              <a:t>Accept or reject proposed changes</a:t>
            </a:r>
          </a:p>
          <a:p>
            <a:endParaRPr lang="en-US" dirty="0"/>
          </a:p>
          <a:p>
            <a:pPr marL="0" indent="0">
              <a:buNone/>
            </a:pPr>
            <a:r>
              <a:rPr lang="en-US" dirty="0"/>
              <a:t>3. </a:t>
            </a:r>
            <a:r>
              <a:rPr lang="en-US" b="1" dirty="0"/>
              <a:t>Agent Mode:</a:t>
            </a:r>
            <a:endParaRPr lang="en-US" dirty="0"/>
          </a:p>
          <a:p>
            <a:r>
              <a:rPr lang="en-US" dirty="0"/>
              <a:t>Ask Copilot to create a new file and add content</a:t>
            </a:r>
          </a:p>
          <a:p>
            <a:r>
              <a:rPr lang="en-US" dirty="0"/>
              <a:t>Request changes across multiple files</a:t>
            </a:r>
          </a:p>
          <a:p>
            <a:r>
              <a:rPr lang="en-US" dirty="0"/>
              <a:t>Have Copilot run terminal commands</a:t>
            </a:r>
          </a:p>
          <a:p>
            <a:r>
              <a:rPr lang="en-US" dirty="0"/>
              <a:t>Check premium token usage after agent actions</a:t>
            </a:r>
          </a:p>
          <a:p>
            <a:endParaRPr lang="en-US" dirty="0"/>
          </a:p>
          <a:p>
            <a:pPr marL="0" indent="0">
              <a:buNone/>
            </a:pPr>
            <a:r>
              <a:rPr lang="en-US" b="1" dirty="0"/>
              <a:t>Success Criteria</a:t>
            </a:r>
            <a:endParaRPr lang="en-US" dirty="0"/>
          </a:p>
          <a:p>
            <a:r>
              <a:rPr lang="en-US" dirty="0"/>
              <a:t>Can distinguish when to use each mode</a:t>
            </a:r>
          </a:p>
          <a:p>
            <a:r>
              <a:rPr lang="en-US" dirty="0"/>
              <a:t>Understand token consumption differences</a:t>
            </a:r>
          </a:p>
          <a:p>
            <a:r>
              <a:rPr lang="en-US" dirty="0"/>
              <a:t>Successfully use agent mode for multi-file operations</a:t>
            </a:r>
          </a:p>
        </p:txBody>
      </p:sp>
    </p:spTree>
    <p:extLst>
      <p:ext uri="{BB962C8B-B14F-4D97-AF65-F5344CB8AC3E}">
        <p14:creationId xmlns:p14="http://schemas.microsoft.com/office/powerpoint/2010/main" val="169761696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1037-E3C9-620E-E508-CDA7B23E739F}"/>
              </a:ext>
            </a:extLst>
          </p:cNvPr>
          <p:cNvSpPr>
            <a:spLocks noGrp="1"/>
          </p:cNvSpPr>
          <p:nvPr>
            <p:ph type="title"/>
          </p:nvPr>
        </p:nvSpPr>
        <p:spPr/>
        <p:txBody>
          <a:bodyPr>
            <a:normAutofit fontScale="90000"/>
          </a:bodyPr>
          <a:lstStyle/>
          <a:p>
            <a:r>
              <a:rPr lang="en-US" dirty="0"/>
              <a:t>IDE Support for AI Assistance</a:t>
            </a:r>
          </a:p>
        </p:txBody>
      </p:sp>
      <p:sp>
        <p:nvSpPr>
          <p:cNvPr id="3" name="Content Placeholder 2">
            <a:extLst>
              <a:ext uri="{FF2B5EF4-FFF2-40B4-BE49-F238E27FC236}">
                <a16:creationId xmlns:a16="http://schemas.microsoft.com/office/drawing/2014/main" id="{58428250-A147-2BF6-46BB-FF145AF0B879}"/>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1C7C87D1-6E27-71CC-6A0A-39B8AAC0CFED}"/>
              </a:ext>
            </a:extLst>
          </p:cNvPr>
          <p:cNvGraphicFramePr>
            <a:graphicFrameLocks noGrp="1"/>
          </p:cNvGraphicFramePr>
          <p:nvPr>
            <p:extLst>
              <p:ext uri="{D42A27DB-BD31-4B8C-83A1-F6EECF244321}">
                <p14:modId xmlns:p14="http://schemas.microsoft.com/office/powerpoint/2010/main" val="143164211"/>
              </p:ext>
            </p:extLst>
          </p:nvPr>
        </p:nvGraphicFramePr>
        <p:xfrm>
          <a:off x="401541" y="964037"/>
          <a:ext cx="8173939" cy="3843553"/>
        </p:xfrm>
        <a:graphic>
          <a:graphicData uri="http://schemas.openxmlformats.org/drawingml/2006/table">
            <a:tbl>
              <a:tblPr firstRow="1">
                <a:tableStyleId>{FABFCF23-3B69-468F-B69F-88F6DE6A72F2}</a:tableStyleId>
              </a:tblPr>
              <a:tblGrid>
                <a:gridCol w="1190379">
                  <a:extLst>
                    <a:ext uri="{9D8B030D-6E8A-4147-A177-3AD203B41FA5}">
                      <a16:colId xmlns:a16="http://schemas.microsoft.com/office/drawing/2014/main" val="20000"/>
                    </a:ext>
                  </a:extLst>
                </a:gridCol>
                <a:gridCol w="1745890">
                  <a:extLst>
                    <a:ext uri="{9D8B030D-6E8A-4147-A177-3AD203B41FA5}">
                      <a16:colId xmlns:a16="http://schemas.microsoft.com/office/drawing/2014/main" val="20001"/>
                    </a:ext>
                  </a:extLst>
                </a:gridCol>
                <a:gridCol w="1745890">
                  <a:extLst>
                    <a:ext uri="{9D8B030D-6E8A-4147-A177-3AD203B41FA5}">
                      <a16:colId xmlns:a16="http://schemas.microsoft.com/office/drawing/2014/main" val="20002"/>
                    </a:ext>
                  </a:extLst>
                </a:gridCol>
                <a:gridCol w="1745890">
                  <a:extLst>
                    <a:ext uri="{9D8B030D-6E8A-4147-A177-3AD203B41FA5}">
                      <a16:colId xmlns:a16="http://schemas.microsoft.com/office/drawing/2014/main" val="20003"/>
                    </a:ext>
                  </a:extLst>
                </a:gridCol>
                <a:gridCol w="1745890">
                  <a:extLst>
                    <a:ext uri="{9D8B030D-6E8A-4147-A177-3AD203B41FA5}">
                      <a16:colId xmlns:a16="http://schemas.microsoft.com/office/drawing/2014/main" val="20004"/>
                    </a:ext>
                  </a:extLst>
                </a:gridCol>
              </a:tblGrid>
              <a:tr h="229172">
                <a:tc>
                  <a:txBody>
                    <a:bodyPr/>
                    <a:lstStyle/>
                    <a:p>
                      <a:pPr algn="l">
                        <a:defRPr sz="1200" b="1"/>
                      </a:pPr>
                      <a:r>
                        <a:rPr sz="900"/>
                        <a:t>IDE / Editor</a:t>
                      </a:r>
                    </a:p>
                  </a:txBody>
                  <a:tcPr/>
                </a:tc>
                <a:tc>
                  <a:txBody>
                    <a:bodyPr/>
                    <a:lstStyle/>
                    <a:p>
                      <a:pPr algn="l">
                        <a:defRPr sz="1200" b="1"/>
                      </a:pPr>
                      <a:r>
                        <a:rPr sz="900"/>
                        <a:t>Built-In AI Features</a:t>
                      </a:r>
                    </a:p>
                  </a:txBody>
                  <a:tcPr/>
                </a:tc>
                <a:tc>
                  <a:txBody>
                    <a:bodyPr/>
                    <a:lstStyle/>
                    <a:p>
                      <a:pPr algn="l">
                        <a:defRPr sz="1200" b="1"/>
                      </a:pPr>
                      <a:r>
                        <a:rPr sz="900" dirty="0"/>
                        <a:t>Supported AI Assistants</a:t>
                      </a:r>
                    </a:p>
                  </a:txBody>
                  <a:tcPr/>
                </a:tc>
                <a:tc>
                  <a:txBody>
                    <a:bodyPr/>
                    <a:lstStyle/>
                    <a:p>
                      <a:pPr algn="l">
                        <a:defRPr sz="1200" b="1"/>
                      </a:pPr>
                      <a:r>
                        <a:rPr sz="900"/>
                        <a:t>Strengths</a:t>
                      </a:r>
                    </a:p>
                  </a:txBody>
                  <a:tcPr/>
                </a:tc>
                <a:tc>
                  <a:txBody>
                    <a:bodyPr/>
                    <a:lstStyle/>
                    <a:p>
                      <a:pPr algn="l">
                        <a:defRPr sz="1200" b="1"/>
                      </a:pPr>
                      <a:r>
                        <a:rPr sz="900" dirty="0"/>
                        <a:t>Limitations</a:t>
                      </a:r>
                    </a:p>
                  </a:txBody>
                  <a:tcPr/>
                </a:tc>
                <a:extLst>
                  <a:ext uri="{0D108BD9-81ED-4DB2-BD59-A6C34878D82A}">
                    <a16:rowId xmlns:a16="http://schemas.microsoft.com/office/drawing/2014/main" val="10000"/>
                  </a:ext>
                </a:extLst>
              </a:tr>
              <a:tr h="515879">
                <a:tc>
                  <a:txBody>
                    <a:bodyPr/>
                    <a:lstStyle/>
                    <a:p>
                      <a:pPr algn="l">
                        <a:defRPr sz="1100"/>
                      </a:pPr>
                      <a:r>
                        <a:rPr sz="800"/>
                        <a:t>VS Code</a:t>
                      </a:r>
                    </a:p>
                  </a:txBody>
                  <a:tcPr/>
                </a:tc>
                <a:tc>
                  <a:txBody>
                    <a:bodyPr/>
                    <a:lstStyle/>
                    <a:p>
                      <a:pPr algn="l">
                        <a:defRPr sz="1100"/>
                      </a:pPr>
                      <a:r>
                        <a:rPr sz="800"/>
                        <a:t>Deep AI integration through extensions; increasingly AI-first workflows</a:t>
                      </a:r>
                    </a:p>
                  </a:txBody>
                  <a:tcPr/>
                </a:tc>
                <a:tc>
                  <a:txBody>
                    <a:bodyPr/>
                    <a:lstStyle/>
                    <a:p>
                      <a:pPr algn="l">
                        <a:defRPr sz="1100"/>
                      </a:pPr>
                      <a:r>
                        <a:rPr sz="800" dirty="0"/>
                        <a:t>GitHub Copilot, Cline, ChatGPT-based extensions, Gemini integrations</a:t>
                      </a:r>
                    </a:p>
                  </a:txBody>
                  <a:tcPr/>
                </a:tc>
                <a:tc>
                  <a:txBody>
                    <a:bodyPr/>
                    <a:lstStyle/>
                    <a:p>
                      <a:pPr algn="l">
                        <a:defRPr sz="1100"/>
                      </a:pPr>
                      <a:r>
                        <a:rPr sz="800"/>
                        <a:t>Extremely flexible; huge ecosystem; top-tier AI support; widely adopted</a:t>
                      </a:r>
                    </a:p>
                  </a:txBody>
                  <a:tcPr/>
                </a:tc>
                <a:tc>
                  <a:txBody>
                    <a:bodyPr/>
                    <a:lstStyle/>
                    <a:p>
                      <a:pPr algn="l">
                        <a:defRPr sz="1100"/>
                      </a:pPr>
                      <a:r>
                        <a:rPr sz="800"/>
                        <a:t>Requires extension management; quality varies by plugin</a:t>
                      </a:r>
                    </a:p>
                  </a:txBody>
                  <a:tcPr/>
                </a:tc>
                <a:extLst>
                  <a:ext uri="{0D108BD9-81ED-4DB2-BD59-A6C34878D82A}">
                    <a16:rowId xmlns:a16="http://schemas.microsoft.com/office/drawing/2014/main" val="10001"/>
                  </a:ext>
                </a:extLst>
              </a:tr>
              <a:tr h="402386">
                <a:tc>
                  <a:txBody>
                    <a:bodyPr/>
                    <a:lstStyle/>
                    <a:p>
                      <a:pPr algn="l">
                        <a:defRPr sz="1100"/>
                      </a:pPr>
                      <a:r>
                        <a:rPr sz="800"/>
                        <a:t>Visual Studio (Windows)</a:t>
                      </a:r>
                    </a:p>
                  </a:txBody>
                  <a:tcPr/>
                </a:tc>
                <a:tc>
                  <a:txBody>
                    <a:bodyPr/>
                    <a:lstStyle/>
                    <a:p>
                      <a:pPr algn="l">
                        <a:defRPr sz="1100"/>
                      </a:pPr>
                      <a:r>
                        <a:rPr sz="800"/>
                        <a:t>Native GitHub Copilot integration; AI-powered IntelliCode</a:t>
                      </a:r>
                    </a:p>
                  </a:txBody>
                  <a:tcPr/>
                </a:tc>
                <a:tc>
                  <a:txBody>
                    <a:bodyPr/>
                    <a:lstStyle/>
                    <a:p>
                      <a:pPr algn="l">
                        <a:defRPr sz="1100"/>
                      </a:pPr>
                      <a:r>
                        <a:rPr sz="800"/>
                        <a:t>GitHub Copilot, IntelliCode</a:t>
                      </a:r>
                    </a:p>
                  </a:txBody>
                  <a:tcPr/>
                </a:tc>
                <a:tc>
                  <a:txBody>
                    <a:bodyPr/>
                    <a:lstStyle/>
                    <a:p>
                      <a:pPr algn="l">
                        <a:defRPr sz="1100"/>
                      </a:pPr>
                      <a:r>
                        <a:rPr sz="800"/>
                        <a:t>Strong enterprise + .NET support; excellent refactoring and debugging</a:t>
                      </a:r>
                    </a:p>
                  </a:txBody>
                  <a:tcPr/>
                </a:tc>
                <a:tc>
                  <a:txBody>
                    <a:bodyPr/>
                    <a:lstStyle/>
                    <a:p>
                      <a:pPr algn="l">
                        <a:defRPr sz="1100"/>
                      </a:pPr>
                      <a:r>
                        <a:rPr sz="800"/>
                        <a:t>Less flexible than VS Code for non-Microsoft stacks</a:t>
                      </a:r>
                    </a:p>
                  </a:txBody>
                  <a:tcPr/>
                </a:tc>
                <a:extLst>
                  <a:ext uri="{0D108BD9-81ED-4DB2-BD59-A6C34878D82A}">
                    <a16:rowId xmlns:a16="http://schemas.microsoft.com/office/drawing/2014/main" val="10002"/>
                  </a:ext>
                </a:extLst>
              </a:tr>
              <a:tr h="402386">
                <a:tc>
                  <a:txBody>
                    <a:bodyPr/>
                    <a:lstStyle/>
                    <a:p>
                      <a:pPr algn="l">
                        <a:defRPr sz="1100"/>
                      </a:pPr>
                      <a:r>
                        <a:rPr sz="800"/>
                        <a:t>JetBrains IDEs</a:t>
                      </a:r>
                    </a:p>
                  </a:txBody>
                  <a:tcPr/>
                </a:tc>
                <a:tc>
                  <a:txBody>
                    <a:bodyPr/>
                    <a:lstStyle/>
                    <a:p>
                      <a:pPr algn="l">
                        <a:defRPr sz="1100"/>
                      </a:pPr>
                      <a:r>
                        <a:rPr sz="800"/>
                        <a:t>JetBrains AI Assistant; code completion, refactoring, doc generation</a:t>
                      </a:r>
                    </a:p>
                  </a:txBody>
                  <a:tcPr/>
                </a:tc>
                <a:tc>
                  <a:txBody>
                    <a:bodyPr/>
                    <a:lstStyle/>
                    <a:p>
                      <a:pPr algn="l">
                        <a:defRPr sz="1100"/>
                      </a:pPr>
                      <a:r>
                        <a:rPr sz="800"/>
                        <a:t>JetBrains AI Assistant, GitHub Copilot</a:t>
                      </a:r>
                    </a:p>
                  </a:txBody>
                  <a:tcPr/>
                </a:tc>
                <a:tc>
                  <a:txBody>
                    <a:bodyPr/>
                    <a:lstStyle/>
                    <a:p>
                      <a:pPr algn="l">
                        <a:defRPr sz="1100"/>
                      </a:pPr>
                      <a:r>
                        <a:rPr sz="800"/>
                        <a:t>Deep static analysis + AI; strong multi-language support</a:t>
                      </a:r>
                    </a:p>
                  </a:txBody>
                  <a:tcPr/>
                </a:tc>
                <a:tc>
                  <a:txBody>
                    <a:bodyPr/>
                    <a:lstStyle/>
                    <a:p>
                      <a:pPr algn="l">
                        <a:defRPr sz="1100"/>
                      </a:pPr>
                      <a:r>
                        <a:rPr sz="800"/>
                        <a:t>JetBrains AI Assistant is subscription-based; Copilot integration not as seamless</a:t>
                      </a:r>
                    </a:p>
                  </a:txBody>
                  <a:tcPr/>
                </a:tc>
                <a:extLst>
                  <a:ext uri="{0D108BD9-81ED-4DB2-BD59-A6C34878D82A}">
                    <a16:rowId xmlns:a16="http://schemas.microsoft.com/office/drawing/2014/main" val="10003"/>
                  </a:ext>
                </a:extLst>
              </a:tr>
              <a:tr h="402386">
                <a:tc>
                  <a:txBody>
                    <a:bodyPr/>
                    <a:lstStyle/>
                    <a:p>
                      <a:pPr algn="l">
                        <a:defRPr sz="1100"/>
                      </a:pPr>
                      <a:r>
                        <a:rPr sz="800"/>
                        <a:t>Cursor IDE</a:t>
                      </a:r>
                    </a:p>
                  </a:txBody>
                  <a:tcPr/>
                </a:tc>
                <a:tc>
                  <a:txBody>
                    <a:bodyPr/>
                    <a:lstStyle/>
                    <a:p>
                      <a:pPr algn="l">
                        <a:defRPr sz="1100"/>
                      </a:pPr>
                      <a:r>
                        <a:rPr sz="800"/>
                        <a:t>AI-first editor; conversational coding; multi-file reasoning</a:t>
                      </a:r>
                    </a:p>
                  </a:txBody>
                  <a:tcPr/>
                </a:tc>
                <a:tc>
                  <a:txBody>
                    <a:bodyPr/>
                    <a:lstStyle/>
                    <a:p>
                      <a:pPr algn="l">
                        <a:defRPr sz="1100"/>
                      </a:pPr>
                      <a:r>
                        <a:rPr sz="800"/>
                        <a:t>Built-in AI models (GPT-based, Claude-based), Copilot alternatives</a:t>
                      </a:r>
                    </a:p>
                  </a:txBody>
                  <a:tcPr/>
                </a:tc>
                <a:tc>
                  <a:txBody>
                    <a:bodyPr/>
                    <a:lstStyle/>
                    <a:p>
                      <a:pPr algn="l">
                        <a:defRPr sz="1100"/>
                      </a:pPr>
                      <a:r>
                        <a:rPr sz="800"/>
                        <a:t>Designed for AI pair-programming; strong repo-wide reasoning</a:t>
                      </a:r>
                    </a:p>
                  </a:txBody>
                  <a:tcPr/>
                </a:tc>
                <a:tc>
                  <a:txBody>
                    <a:bodyPr/>
                    <a:lstStyle/>
                    <a:p>
                      <a:pPr algn="l">
                        <a:defRPr sz="1100"/>
                      </a:pPr>
                      <a:r>
                        <a:rPr sz="800"/>
                        <a:t>Not a traditional IDE; still maturing for large enterprise workflows</a:t>
                      </a:r>
                    </a:p>
                  </a:txBody>
                  <a:tcPr/>
                </a:tc>
                <a:extLst>
                  <a:ext uri="{0D108BD9-81ED-4DB2-BD59-A6C34878D82A}">
                    <a16:rowId xmlns:a16="http://schemas.microsoft.com/office/drawing/2014/main" val="10004"/>
                  </a:ext>
                </a:extLst>
              </a:tr>
              <a:tr h="515879">
                <a:tc>
                  <a:txBody>
                    <a:bodyPr/>
                    <a:lstStyle/>
                    <a:p>
                      <a:pPr algn="l">
                        <a:defRPr sz="1100"/>
                      </a:pPr>
                      <a:r>
                        <a:rPr sz="800"/>
                        <a:t>Replit</a:t>
                      </a:r>
                    </a:p>
                  </a:txBody>
                  <a:tcPr/>
                </a:tc>
                <a:tc>
                  <a:txBody>
                    <a:bodyPr/>
                    <a:lstStyle/>
                    <a:p>
                      <a:pPr algn="l">
                        <a:defRPr sz="1100"/>
                      </a:pPr>
                      <a:r>
                        <a:rPr sz="800"/>
                        <a:t>AI-powered Ghostwriter for code generation, debugging, and explanations</a:t>
                      </a:r>
                    </a:p>
                  </a:txBody>
                  <a:tcPr/>
                </a:tc>
                <a:tc>
                  <a:txBody>
                    <a:bodyPr/>
                    <a:lstStyle/>
                    <a:p>
                      <a:pPr algn="l">
                        <a:defRPr sz="1100"/>
                      </a:pPr>
                      <a:r>
                        <a:rPr sz="800"/>
                        <a:t>Ghostwriter</a:t>
                      </a:r>
                    </a:p>
                  </a:txBody>
                  <a:tcPr/>
                </a:tc>
                <a:tc>
                  <a:txBody>
                    <a:bodyPr/>
                    <a:lstStyle/>
                    <a:p>
                      <a:pPr algn="l">
                        <a:defRPr sz="1100"/>
                      </a:pPr>
                      <a:r>
                        <a:rPr sz="800"/>
                        <a:t>Great for beginners and rapid prototyping; browser-based</a:t>
                      </a:r>
                    </a:p>
                  </a:txBody>
                  <a:tcPr/>
                </a:tc>
                <a:tc>
                  <a:txBody>
                    <a:bodyPr/>
                    <a:lstStyle/>
                    <a:p>
                      <a:pPr algn="l">
                        <a:defRPr sz="1100"/>
                      </a:pPr>
                      <a:r>
                        <a:rPr sz="800"/>
                        <a:t>Less powerful for large, multi-module projects</a:t>
                      </a:r>
                    </a:p>
                  </a:txBody>
                  <a:tcPr/>
                </a:tc>
                <a:extLst>
                  <a:ext uri="{0D108BD9-81ED-4DB2-BD59-A6C34878D82A}">
                    <a16:rowId xmlns:a16="http://schemas.microsoft.com/office/drawing/2014/main" val="10005"/>
                  </a:ext>
                </a:extLst>
              </a:tr>
              <a:tr h="402386">
                <a:tc>
                  <a:txBody>
                    <a:bodyPr/>
                    <a:lstStyle/>
                    <a:p>
                      <a:pPr algn="l">
                        <a:defRPr sz="1100"/>
                      </a:pPr>
                      <a:r>
                        <a:rPr sz="800"/>
                        <a:t>Builder.io / Builder Code Editor</a:t>
                      </a:r>
                    </a:p>
                  </a:txBody>
                  <a:tcPr/>
                </a:tc>
                <a:tc>
                  <a:txBody>
                    <a:bodyPr/>
                    <a:lstStyle/>
                    <a:p>
                      <a:pPr algn="l">
                        <a:defRPr sz="1100"/>
                      </a:pPr>
                      <a:r>
                        <a:rPr sz="800"/>
                        <a:t>AI-enhanced coding environment with integrated assistants</a:t>
                      </a:r>
                    </a:p>
                  </a:txBody>
                  <a:tcPr/>
                </a:tc>
                <a:tc>
                  <a:txBody>
                    <a:bodyPr/>
                    <a:lstStyle/>
                    <a:p>
                      <a:pPr algn="l">
                        <a:defRPr sz="1100"/>
                      </a:pPr>
                      <a:r>
                        <a:rPr sz="800"/>
                        <a:t>Multiple AI integrations depending on setup</a:t>
                      </a:r>
                    </a:p>
                  </a:txBody>
                  <a:tcPr/>
                </a:tc>
                <a:tc>
                  <a:txBody>
                    <a:bodyPr/>
                    <a:lstStyle/>
                    <a:p>
                      <a:pPr algn="l">
                        <a:defRPr sz="1100"/>
                      </a:pPr>
                      <a:r>
                        <a:rPr sz="800"/>
                        <a:t>Strong web-dev focus; modern AI-native UX</a:t>
                      </a:r>
                    </a:p>
                  </a:txBody>
                  <a:tcPr/>
                </a:tc>
                <a:tc>
                  <a:txBody>
                    <a:bodyPr/>
                    <a:lstStyle/>
                    <a:p>
                      <a:pPr algn="l">
                        <a:defRPr sz="1100"/>
                      </a:pPr>
                      <a:r>
                        <a:rPr sz="800"/>
                        <a:t>Not a general-purpose IDE</a:t>
                      </a:r>
                    </a:p>
                  </a:txBody>
                  <a:tcPr/>
                </a:tc>
                <a:extLst>
                  <a:ext uri="{0D108BD9-81ED-4DB2-BD59-A6C34878D82A}">
                    <a16:rowId xmlns:a16="http://schemas.microsoft.com/office/drawing/2014/main" val="10006"/>
                  </a:ext>
                </a:extLst>
              </a:tr>
              <a:tr h="402386">
                <a:tc>
                  <a:txBody>
                    <a:bodyPr/>
                    <a:lstStyle/>
                    <a:p>
                      <a:pPr algn="l">
                        <a:defRPr sz="1100"/>
                      </a:pPr>
                      <a:r>
                        <a:rPr sz="800"/>
                        <a:t>Code-B Editors</a:t>
                      </a:r>
                    </a:p>
                  </a:txBody>
                  <a:tcPr/>
                </a:tc>
                <a:tc>
                  <a:txBody>
                    <a:bodyPr/>
                    <a:lstStyle/>
                    <a:p>
                      <a:pPr algn="l">
                        <a:defRPr sz="1100"/>
                      </a:pPr>
                      <a:r>
                        <a:rPr sz="800"/>
                        <a:t>Predictive code generation, debugging, and review</a:t>
                      </a:r>
                    </a:p>
                  </a:txBody>
                  <a:tcPr/>
                </a:tc>
                <a:tc>
                  <a:txBody>
                    <a:bodyPr/>
                    <a:lstStyle/>
                    <a:p>
                      <a:pPr algn="l">
                        <a:defRPr sz="1100"/>
                      </a:pPr>
                      <a:r>
                        <a:rPr sz="800"/>
                        <a:t>Multiple AI models depending on configuration</a:t>
                      </a:r>
                    </a:p>
                  </a:txBody>
                  <a:tcPr/>
                </a:tc>
                <a:tc>
                  <a:txBody>
                    <a:bodyPr/>
                    <a:lstStyle/>
                    <a:p>
                      <a:pPr algn="l">
                        <a:defRPr sz="1100"/>
                      </a:pPr>
                      <a:r>
                        <a:rPr sz="800"/>
                        <a:t>Strong AI-centric workflows; optimized for speed</a:t>
                      </a:r>
                    </a:p>
                  </a:txBody>
                  <a:tcPr/>
                </a:tc>
                <a:tc>
                  <a:txBody>
                    <a:bodyPr/>
                    <a:lstStyle/>
                    <a:p>
                      <a:pPr algn="l">
                        <a:defRPr sz="1100"/>
                      </a:pPr>
                      <a:r>
                        <a:rPr sz="800"/>
                        <a:t>Less mainstream; smaller ecosystem</a:t>
                      </a:r>
                    </a:p>
                  </a:txBody>
                  <a:tcPr/>
                </a:tc>
                <a:extLst>
                  <a:ext uri="{0D108BD9-81ED-4DB2-BD59-A6C34878D82A}">
                    <a16:rowId xmlns:a16="http://schemas.microsoft.com/office/drawing/2014/main" val="10007"/>
                  </a:ext>
                </a:extLst>
              </a:tr>
              <a:tr h="515879">
                <a:tc>
                  <a:txBody>
                    <a:bodyPr/>
                    <a:lstStyle/>
                    <a:p>
                      <a:pPr algn="l">
                        <a:defRPr sz="1100"/>
                      </a:pPr>
                      <a:r>
                        <a:rPr sz="800"/>
                        <a:t>Claude Code</a:t>
                      </a:r>
                    </a:p>
                  </a:txBody>
                  <a:tcPr/>
                </a:tc>
                <a:tc>
                  <a:txBody>
                    <a:bodyPr/>
                    <a:lstStyle/>
                    <a:p>
                      <a:pPr algn="l">
                        <a:defRPr sz="1100"/>
                      </a:pPr>
                      <a:r>
                        <a:rPr sz="800"/>
                        <a:t>Terminal-first AI coding assistant; autonomous repo-wide reasoning</a:t>
                      </a:r>
                    </a:p>
                  </a:txBody>
                  <a:tcPr/>
                </a:tc>
                <a:tc>
                  <a:txBody>
                    <a:bodyPr/>
                    <a:lstStyle/>
                    <a:p>
                      <a:pPr algn="l">
                        <a:defRPr sz="1100"/>
                      </a:pPr>
                      <a:r>
                        <a:rPr lang="en-US" sz="800" dirty="0"/>
                        <a:t>Latest models from Anthropic and other via configuration</a:t>
                      </a:r>
                      <a:endParaRPr sz="800" dirty="0"/>
                    </a:p>
                  </a:txBody>
                  <a:tcPr/>
                </a:tc>
                <a:tc>
                  <a:txBody>
                    <a:bodyPr/>
                    <a:lstStyle/>
                    <a:p>
                      <a:pPr algn="l">
                        <a:defRPr sz="1100"/>
                      </a:pPr>
                      <a:r>
                        <a:rPr sz="800"/>
                        <a:t>Exceptional multi-file context handling; ideal for agentic workflows and automated patching</a:t>
                      </a:r>
                    </a:p>
                  </a:txBody>
                  <a:tcPr/>
                </a:tc>
                <a:tc>
                  <a:txBody>
                    <a:bodyPr/>
                    <a:lstStyle/>
                    <a:p>
                      <a:pPr algn="l">
                        <a:defRPr sz="1100"/>
                      </a:pPr>
                      <a:r>
                        <a:rPr sz="800" dirty="0"/>
                        <a:t>Not a GUI IDE; best suited for terminal-centric development and large codebases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5972032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1FED-FBD6-9D58-3432-8F270C76B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99E66-64C0-1D7E-727E-70F8C450A67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2B055A-A347-3024-B611-2F344E460F62}"/>
              </a:ext>
            </a:extLst>
          </p:cNvPr>
          <p:cNvGraphicFramePr>
            <a:graphicFrameLocks noGrp="1"/>
          </p:cNvGraphicFramePr>
          <p:nvPr>
            <p:ph idx="1"/>
            <p:extLst>
              <p:ext uri="{D42A27DB-BD31-4B8C-83A1-F6EECF244321}">
                <p14:modId xmlns:p14="http://schemas.microsoft.com/office/powerpoint/2010/main" val="2241339008"/>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789203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solidFill>
                  <a:schemeClr val="tx1"/>
                </a:solidFill>
                <a:latin typeface="+mn-lt"/>
              </a:rPr>
              <a:t>📘 </a:t>
            </a:r>
            <a:r>
              <a:rPr b="1" dirty="0">
                <a:latin typeface="+mn-lt"/>
              </a:rPr>
              <a:t>Mob.sh: Install, Configure, and Use</a:t>
            </a:r>
          </a:p>
        </p:txBody>
      </p:sp>
      <p:sp>
        <p:nvSpPr>
          <p:cNvPr id="3" name="Content Placeholder 2"/>
          <p:cNvSpPr>
            <a:spLocks noGrp="1"/>
          </p:cNvSpPr>
          <p:nvPr>
            <p:ph idx="1"/>
          </p:nvPr>
        </p:nvSpPr>
        <p:spPr/>
        <p:txBody>
          <a:bodyPr>
            <a:normAutofit lnSpcReduction="10000"/>
          </a:bodyPr>
          <a:lstStyle/>
          <a:p>
            <a:pPr marL="0" lvl="0" indent="0">
              <a:buNone/>
            </a:pPr>
            <a:r>
              <a:rPr i="1" dirty="0">
                <a:latin typeface="+mn-lt"/>
              </a:rPr>
              <a:t>A practical </a:t>
            </a:r>
            <a:r>
              <a:rPr lang="en-US" i="1" dirty="0">
                <a:latin typeface="+mn-lt"/>
              </a:rPr>
              <a:t>guide </a:t>
            </a:r>
            <a:r>
              <a:rPr i="1" dirty="0">
                <a:latin typeface="+mn-lt"/>
              </a:rPr>
              <a:t>for teams adopting mob programming</a:t>
            </a:r>
            <a:endParaRPr lang="en-US" i="1" dirty="0">
              <a:latin typeface="+mn-lt"/>
            </a:endParaRPr>
          </a:p>
          <a:p>
            <a:pPr marL="0" lvl="0" indent="0">
              <a:buNone/>
            </a:pPr>
            <a:endParaRPr lang="en-US" i="1" dirty="0">
              <a:latin typeface="+mn-lt"/>
            </a:endParaRPr>
          </a:p>
          <a:p>
            <a:pPr marL="0" lvl="0" indent="0">
              <a:buNone/>
            </a:pPr>
            <a:r>
              <a:rPr lang="en-US" dirty="0">
                <a:latin typeface="+mn-lt"/>
              </a:rPr>
              <a:t>Why mob programming</a:t>
            </a:r>
          </a:p>
          <a:p>
            <a:pPr lvl="1"/>
            <a:r>
              <a:rPr lang="en-US" dirty="0">
                <a:latin typeface="+mn-lt"/>
              </a:rPr>
              <a:t>AI Code generation is non-deterministic</a:t>
            </a:r>
          </a:p>
          <a:p>
            <a:pPr lvl="2"/>
            <a:r>
              <a:rPr lang="en-US" dirty="0">
                <a:latin typeface="+mn-lt"/>
              </a:rPr>
              <a:t>A man with one watch always knows the time. A man with two is never sure.</a:t>
            </a:r>
          </a:p>
          <a:p>
            <a:pPr lvl="1"/>
            <a:r>
              <a:rPr lang="en-US" dirty="0">
                <a:latin typeface="+mn-lt"/>
              </a:rPr>
              <a:t>It’s a useful technique if you haven’t tried it</a:t>
            </a:r>
          </a:p>
          <a:p>
            <a:pPr lvl="1"/>
            <a:r>
              <a:rPr lang="en-US" dirty="0">
                <a:latin typeface="+mn-lt"/>
              </a:rPr>
              <a:t>Instead working alone, let’s work together</a:t>
            </a:r>
          </a:p>
          <a:p>
            <a:r>
              <a:rPr lang="en-US" dirty="0">
                <a:latin typeface="+mn-lt"/>
              </a:rPr>
              <a:t>Mobbing started with one computer shared by the team</a:t>
            </a:r>
          </a:p>
          <a:p>
            <a:r>
              <a:rPr lang="en-US" dirty="0">
                <a:latin typeface="+mn-lt"/>
              </a:rPr>
              <a:t>Remote mobbing the team shares a WIP branch</a:t>
            </a:r>
          </a:p>
        </p:txBody>
      </p:sp>
    </p:spTree>
    <p:extLst>
      <p:ext uri="{BB962C8B-B14F-4D97-AF65-F5344CB8AC3E}">
        <p14:creationId xmlns:p14="http://schemas.microsoft.com/office/powerpoint/2010/main" val="428476337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DA5F-6E21-F6D0-D897-6EE0DD31E8D4}"/>
              </a:ext>
            </a:extLst>
          </p:cNvPr>
          <p:cNvSpPr>
            <a:spLocks noGrp="1"/>
          </p:cNvSpPr>
          <p:nvPr>
            <p:ph type="title"/>
          </p:nvPr>
        </p:nvSpPr>
        <p:spPr/>
        <p:txBody>
          <a:bodyPr>
            <a:normAutofit fontScale="90000"/>
          </a:bodyPr>
          <a:lstStyle/>
          <a:p>
            <a:pPr lvl="0"/>
            <a:r>
              <a:rPr lang="en-US" dirty="0">
                <a:latin typeface="+mn-lt"/>
              </a:rPr>
              <a:t>What mob.sh Solves</a:t>
            </a:r>
          </a:p>
        </p:txBody>
      </p:sp>
      <p:sp>
        <p:nvSpPr>
          <p:cNvPr id="3" name="Content Placeholder 2">
            <a:extLst>
              <a:ext uri="{FF2B5EF4-FFF2-40B4-BE49-F238E27FC236}">
                <a16:creationId xmlns:a16="http://schemas.microsoft.com/office/drawing/2014/main" id="{F3B6580E-ADAA-044E-A208-11EC24A75ACF}"/>
              </a:ext>
            </a:extLst>
          </p:cNvPr>
          <p:cNvSpPr>
            <a:spLocks noGrp="1"/>
          </p:cNvSpPr>
          <p:nvPr>
            <p:ph idx="1"/>
          </p:nvPr>
        </p:nvSpPr>
        <p:spPr/>
        <p:txBody>
          <a:bodyPr>
            <a:normAutofit/>
          </a:bodyPr>
          <a:lstStyle/>
          <a:p>
            <a:pPr lvl="0"/>
            <a:r>
              <a:rPr lang="en-US" dirty="0">
                <a:latin typeface="+mn-lt"/>
              </a:rPr>
              <a:t>Smooth handoffs during mob/pair rotations</a:t>
            </a:r>
          </a:p>
          <a:p>
            <a:pPr lvl="0"/>
            <a:r>
              <a:rPr lang="en-US" dirty="0">
                <a:latin typeface="+mn-lt"/>
              </a:rPr>
              <a:t>Automatic WIP branches</a:t>
            </a:r>
          </a:p>
          <a:p>
            <a:pPr lvl="0"/>
            <a:r>
              <a:rPr lang="en-US" dirty="0">
                <a:latin typeface="+mn-lt"/>
              </a:rPr>
              <a:t>Zero‑conf timers</a:t>
            </a:r>
          </a:p>
          <a:p>
            <a:pPr lvl="0"/>
            <a:r>
              <a:rPr lang="en-US" dirty="0">
                <a:latin typeface="+mn-lt"/>
              </a:rPr>
              <a:t>Clean commits and merges</a:t>
            </a:r>
          </a:p>
          <a:p>
            <a:pPr lvl="0"/>
            <a:r>
              <a:rPr lang="en-US" dirty="0">
                <a:latin typeface="+mn-lt"/>
              </a:rPr>
              <a:t>Works with any Git provider (GitHub, GitLab, Bitbucket)</a:t>
            </a:r>
            <a:br>
              <a:rPr lang="en-US" dirty="0">
                <a:latin typeface="+mn-lt"/>
              </a:rPr>
            </a:br>
            <a:endParaRPr lang="en-US" dirty="0">
              <a:latin typeface="+mn-lt"/>
            </a:endParaRPr>
          </a:p>
        </p:txBody>
      </p:sp>
    </p:spTree>
    <p:extLst>
      <p:ext uri="{BB962C8B-B14F-4D97-AF65-F5344CB8AC3E}">
        <p14:creationId xmlns:p14="http://schemas.microsoft.com/office/powerpoint/2010/main" val="154515806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DE10-9D20-2480-C058-87127E4F348F}"/>
              </a:ext>
            </a:extLst>
          </p:cNvPr>
          <p:cNvSpPr>
            <a:spLocks noGrp="1"/>
          </p:cNvSpPr>
          <p:nvPr>
            <p:ph type="title"/>
          </p:nvPr>
        </p:nvSpPr>
        <p:spPr/>
        <p:txBody>
          <a:bodyPr>
            <a:normAutofit fontScale="90000"/>
          </a:bodyPr>
          <a:lstStyle/>
          <a:p>
            <a:r>
              <a:rPr lang="en-US" dirty="0">
                <a:latin typeface="+mn-lt"/>
              </a:rPr>
              <a:t>Installing mob.sh</a:t>
            </a:r>
            <a:br>
              <a:rPr lang="en-US" dirty="0">
                <a:solidFill>
                  <a:schemeClr val="tx1"/>
                </a:solidFill>
                <a:latin typeface="+mn-lt"/>
              </a:rPr>
            </a:br>
            <a:endParaRPr lang="en-US" dirty="0">
              <a:solidFill>
                <a:schemeClr val="tx1"/>
              </a:solidFill>
              <a:latin typeface="+mn-lt"/>
            </a:endParaRPr>
          </a:p>
        </p:txBody>
      </p:sp>
      <p:sp>
        <p:nvSpPr>
          <p:cNvPr id="3" name="Content Placeholder 2">
            <a:extLst>
              <a:ext uri="{FF2B5EF4-FFF2-40B4-BE49-F238E27FC236}">
                <a16:creationId xmlns:a16="http://schemas.microsoft.com/office/drawing/2014/main" id="{6092AE29-F9AF-6BF7-2A72-8E4AD0BC6B1F}"/>
              </a:ext>
            </a:extLst>
          </p:cNvPr>
          <p:cNvSpPr>
            <a:spLocks noGrp="1"/>
          </p:cNvSpPr>
          <p:nvPr>
            <p:ph idx="1"/>
          </p:nvPr>
        </p:nvSpPr>
        <p:spPr/>
        <p:txBody>
          <a:bodyPr numCol="2">
            <a:normAutofit fontScale="85000" lnSpcReduction="20000"/>
          </a:bodyPr>
          <a:lstStyle/>
          <a:p>
            <a:pPr indent="0">
              <a:buNone/>
            </a:pPr>
            <a:r>
              <a:rPr lang="en-US" dirty="0">
                <a:latin typeface="+mn-lt"/>
              </a:rPr>
              <a:t>Requirements</a:t>
            </a:r>
          </a:p>
          <a:p>
            <a:pPr marL="685800"/>
            <a:r>
              <a:rPr lang="en-US" dirty="0">
                <a:latin typeface="+mn-lt"/>
              </a:rPr>
              <a:t>Git installed</a:t>
            </a:r>
          </a:p>
          <a:p>
            <a:pPr marL="685800"/>
            <a:r>
              <a:rPr lang="en-US" dirty="0">
                <a:latin typeface="+mn-lt"/>
              </a:rPr>
              <a:t>macOS, Linux, or WSL</a:t>
            </a:r>
          </a:p>
          <a:p>
            <a:pPr marL="685800"/>
            <a:r>
              <a:rPr lang="en-US" dirty="0">
                <a:latin typeface="+mn-lt"/>
              </a:rPr>
              <a:t>Optional: Homebrew</a:t>
            </a:r>
            <a:br>
              <a:rPr lang="en-US" dirty="0">
                <a:latin typeface="+mn-lt"/>
              </a:rPr>
            </a:br>
            <a:endParaRPr lang="en-US" dirty="0">
              <a:latin typeface="+mn-lt"/>
            </a:endParaRPr>
          </a:p>
          <a:p>
            <a:pPr marL="685800"/>
            <a:endParaRPr lang="en-US" dirty="0">
              <a:latin typeface="+mn-lt"/>
            </a:endParaRPr>
          </a:p>
          <a:p>
            <a:pPr indent="0">
              <a:buNone/>
            </a:pPr>
            <a:r>
              <a:rPr lang="en-US" dirty="0">
                <a:latin typeface="+mn-lt"/>
              </a:rPr>
              <a:t>Install Options</a:t>
            </a:r>
          </a:p>
          <a:p>
            <a:pPr marL="685800"/>
            <a:r>
              <a:rPr lang="en-US" dirty="0">
                <a:latin typeface="+mn-lt"/>
              </a:rPr>
              <a:t>Homebrew (recommended)</a:t>
            </a:r>
            <a:br>
              <a:rPr lang="en-US" dirty="0">
                <a:latin typeface="+mn-lt"/>
              </a:rPr>
            </a:br>
            <a:br>
              <a:rPr lang="en-US" dirty="0">
                <a:latin typeface="+mn-lt"/>
              </a:rPr>
            </a:br>
            <a:r>
              <a:rPr lang="en-US" dirty="0">
                <a:latin typeface="Consolas" panose="020B0609020204030204" pitchFamily="49" charset="0"/>
              </a:rPr>
              <a:t>brew install mob</a:t>
            </a:r>
            <a:br>
              <a:rPr lang="en-US" dirty="0">
                <a:latin typeface="+mn-lt"/>
              </a:rPr>
            </a:br>
            <a:endParaRPr lang="en-US" dirty="0">
              <a:latin typeface="+mn-lt"/>
            </a:endParaRPr>
          </a:p>
          <a:p>
            <a:pPr marL="685800"/>
            <a:r>
              <a:rPr lang="en-US" dirty="0">
                <a:latin typeface="+mn-lt"/>
              </a:rPr>
              <a:t>Curl installer</a:t>
            </a:r>
          </a:p>
          <a:p>
            <a:pPr lvl="0" indent="0">
              <a:buNone/>
            </a:pPr>
            <a:br>
              <a:rPr lang="en-US" dirty="0">
                <a:latin typeface="+mn-lt"/>
              </a:rPr>
            </a:br>
            <a:r>
              <a:rPr lang="en-US" dirty="0">
                <a:latin typeface="+mn-lt"/>
              </a:rPr>
              <a:t>	</a:t>
            </a:r>
            <a:r>
              <a:rPr lang="en-US" dirty="0">
                <a:latin typeface="Consolas" panose="020B0609020204030204" pitchFamily="49" charset="0"/>
              </a:rPr>
              <a:t>curl -</a:t>
            </a:r>
            <a:r>
              <a:rPr lang="en-US" dirty="0" err="1">
                <a:latin typeface="Consolas" panose="020B0609020204030204" pitchFamily="49" charset="0"/>
              </a:rPr>
              <a:t>sL</a:t>
            </a:r>
            <a:r>
              <a:rPr lang="en-US" dirty="0">
                <a:latin typeface="Consolas" panose="020B0609020204030204" pitchFamily="49" charset="0"/>
              </a:rPr>
              <a:t> https://install.mob.sh | </a:t>
            </a:r>
            <a:r>
              <a:rPr lang="en-US" dirty="0" err="1">
                <a:latin typeface="Consolas" panose="020B0609020204030204" pitchFamily="49" charset="0"/>
              </a:rPr>
              <a:t>sh</a:t>
            </a:r>
            <a:endParaRPr lang="en-US" dirty="0">
              <a:latin typeface="Consolas" panose="020B0609020204030204" pitchFamily="49" charset="0"/>
            </a:endParaRPr>
          </a:p>
          <a:p>
            <a:pPr lvl="0" indent="0">
              <a:buNone/>
            </a:pPr>
            <a:endParaRPr lang="en-US" dirty="0">
              <a:latin typeface="+mn-lt"/>
            </a:endParaRPr>
          </a:p>
          <a:p>
            <a:pPr marL="685800"/>
            <a:r>
              <a:rPr lang="en-US" dirty="0">
                <a:latin typeface="+mn-lt"/>
              </a:rPr>
              <a:t>Manual</a:t>
            </a:r>
          </a:p>
          <a:p>
            <a:pPr lvl="2"/>
            <a:r>
              <a:rPr lang="en-US" dirty="0">
                <a:latin typeface="+mn-lt"/>
              </a:rPr>
              <a:t>Download from </a:t>
            </a:r>
            <a:r>
              <a:rPr lang="en-US" dirty="0">
                <a:latin typeface="+mn-lt"/>
                <a:hlinkClick r:id="rId2">
                  <a:extLst>
                    <a:ext uri="{A12FA001-AC4F-418D-AE19-62706E023703}">
                      <ahyp:hlinkClr xmlns:ahyp="http://schemas.microsoft.com/office/drawing/2018/hyperlinkcolor" val="tx"/>
                    </a:ext>
                  </a:extLst>
                </a:hlinkClick>
              </a:rPr>
              <a:t>https://mob.sh</a:t>
            </a:r>
          </a:p>
          <a:p>
            <a:pPr lvl="2"/>
            <a:r>
              <a:rPr lang="en-US" dirty="0">
                <a:latin typeface="+mn-lt"/>
              </a:rPr>
              <a:t>Add to PATH</a:t>
            </a:r>
          </a:p>
          <a:p>
            <a:pPr lvl="2"/>
            <a:r>
              <a:rPr lang="en-US" dirty="0">
                <a:latin typeface="+mn-lt"/>
              </a:rPr>
              <a:t>Verify with:</a:t>
            </a:r>
          </a:p>
          <a:p>
            <a:pPr lvl="0" indent="0">
              <a:buNone/>
            </a:pPr>
            <a:br>
              <a:rPr lang="en-US" dirty="0">
                <a:latin typeface="+mn-lt"/>
              </a:rPr>
            </a:br>
            <a:r>
              <a:rPr lang="en-US" dirty="0">
                <a:latin typeface="+mn-lt"/>
              </a:rPr>
              <a:t>	</a:t>
            </a:r>
            <a:r>
              <a:rPr lang="en-US" dirty="0">
                <a:latin typeface="Consolas" panose="020B0609020204030204" pitchFamily="49" charset="0"/>
              </a:rPr>
              <a:t>mob version</a:t>
            </a:r>
          </a:p>
        </p:txBody>
      </p:sp>
      <p:sp>
        <p:nvSpPr>
          <p:cNvPr id="5" name="TextBox 4">
            <a:extLst>
              <a:ext uri="{FF2B5EF4-FFF2-40B4-BE49-F238E27FC236}">
                <a16:creationId xmlns:a16="http://schemas.microsoft.com/office/drawing/2014/main" id="{417CD57F-AD5C-F12E-DAF1-A2414A06EE39}"/>
              </a:ext>
            </a:extLst>
          </p:cNvPr>
          <p:cNvSpPr txBox="1"/>
          <p:nvPr/>
        </p:nvSpPr>
        <p:spPr>
          <a:xfrm>
            <a:off x="822959" y="4544282"/>
            <a:ext cx="6782463" cy="369332"/>
          </a:xfrm>
          <a:prstGeom prst="rect">
            <a:avLst/>
          </a:prstGeom>
          <a:noFill/>
        </p:spPr>
        <p:txBody>
          <a:bodyPr wrap="square">
            <a:spAutoFit/>
          </a:bodyPr>
          <a:lstStyle/>
          <a:p>
            <a:r>
              <a:rPr lang="en-US" dirty="0">
                <a:solidFill>
                  <a:schemeClr val="bg1"/>
                </a:solidFill>
              </a:rPr>
              <a:t>https://www.codemag.com/Blog/AI/AIASD-install-guide</a:t>
            </a:r>
          </a:p>
        </p:txBody>
      </p:sp>
    </p:spTree>
    <p:extLst>
      <p:ext uri="{BB962C8B-B14F-4D97-AF65-F5344CB8AC3E}">
        <p14:creationId xmlns:p14="http://schemas.microsoft.com/office/powerpoint/2010/main" val="282882324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AB5E-AC6F-65CD-B8A9-5B6FF481F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4E8E4-082E-FDB9-A939-F851A32A8AB0}"/>
              </a:ext>
            </a:extLst>
          </p:cNvPr>
          <p:cNvSpPr>
            <a:spLocks noGrp="1"/>
          </p:cNvSpPr>
          <p:nvPr>
            <p:ph type="title"/>
          </p:nvPr>
        </p:nvSpPr>
        <p:spPr/>
        <p:txBody>
          <a:bodyPr>
            <a:normAutofit/>
          </a:bodyPr>
          <a:lstStyle/>
          <a:p>
            <a:r>
              <a:rPr lang="en-US" sz="2000" dirty="0"/>
              <a:t>Lab: Cloning the Course Repository</a:t>
            </a:r>
          </a:p>
        </p:txBody>
      </p:sp>
      <p:sp>
        <p:nvSpPr>
          <p:cNvPr id="3" name="Content Placeholder 2">
            <a:extLst>
              <a:ext uri="{FF2B5EF4-FFF2-40B4-BE49-F238E27FC236}">
                <a16:creationId xmlns:a16="http://schemas.microsoft.com/office/drawing/2014/main" id="{8C71D47C-8D97-6E73-4723-1CFF562D56A7}"/>
              </a:ext>
            </a:extLst>
          </p:cNvPr>
          <p:cNvSpPr>
            <a:spLocks noGrp="1"/>
          </p:cNvSpPr>
          <p:nvPr>
            <p:ph idx="1"/>
          </p:nvPr>
        </p:nvSpPr>
        <p:spPr/>
        <p:txBody>
          <a:bodyPr numCol="2">
            <a:normAutofit lnSpcReduction="10000"/>
          </a:bodyPr>
          <a:lstStyle/>
          <a:p>
            <a:pPr marL="0" indent="0">
              <a:buNone/>
            </a:pPr>
            <a:r>
              <a:rPr lang="en-US" b="1" dirty="0"/>
              <a:t>Duration: </a:t>
            </a:r>
            <a:r>
              <a:rPr lang="en-US" dirty="0"/>
              <a:t>10 minutes</a:t>
            </a:r>
          </a:p>
          <a:p>
            <a:pPr marL="0" indent="0">
              <a:buNone/>
            </a:pPr>
            <a:r>
              <a:rPr lang="en-US" b="1" dirty="0"/>
              <a:t>Prerequisites:</a:t>
            </a:r>
            <a:r>
              <a:rPr lang="en-US" dirty="0"/>
              <a:t> Git, GitHub account</a:t>
            </a:r>
            <a:br>
              <a:rPr lang="en-US" dirty="0"/>
            </a:br>
            <a:endParaRPr lang="en-US" dirty="0"/>
          </a:p>
          <a:p>
            <a:pPr marL="0" indent="0">
              <a:buNone/>
            </a:pPr>
            <a:r>
              <a:rPr lang="en-US" b="1" dirty="0"/>
              <a:t>Objectives</a:t>
            </a:r>
            <a:endParaRPr lang="en-US" dirty="0"/>
          </a:p>
          <a:p>
            <a:r>
              <a:rPr lang="en-US" dirty="0"/>
              <a:t>Fork and clone the class repositories</a:t>
            </a:r>
            <a:br>
              <a:rPr lang="en-US" dirty="0"/>
            </a:br>
            <a:endParaRPr lang="en-US" dirty="0"/>
          </a:p>
          <a:p>
            <a:pPr marL="0" indent="0">
              <a:buNone/>
            </a:pPr>
            <a:r>
              <a:rPr lang="en-US" b="1" dirty="0"/>
              <a:t>Activities</a:t>
            </a:r>
            <a:endParaRPr lang="en-US" dirty="0"/>
          </a:p>
          <a:p>
            <a:pPr marL="457200" indent="-457200">
              <a:buAutoNum type="arabicPeriod"/>
            </a:pPr>
            <a:r>
              <a:rPr lang="en-US" sz="2000" dirty="0"/>
              <a:t>Clone the  AIASD-20260209 repository</a:t>
            </a:r>
          </a:p>
          <a:p>
            <a:pPr marL="457200" indent="-457200">
              <a:buAutoNum type="arabicPeriod"/>
            </a:pPr>
            <a:r>
              <a:rPr lang="en-US" sz="2000" dirty="0"/>
              <a:t>Switch to the fundamentals branch</a:t>
            </a:r>
          </a:p>
          <a:p>
            <a:endParaRPr lang="en-US" dirty="0"/>
          </a:p>
          <a:p>
            <a:pPr marL="0" indent="0">
              <a:buNone/>
            </a:pPr>
            <a:r>
              <a:rPr lang="en-US" b="1" dirty="0"/>
              <a:t>Success Criteria</a:t>
            </a:r>
            <a:endParaRPr lang="en-US" dirty="0"/>
          </a:p>
          <a:p>
            <a:r>
              <a:rPr lang="en-US" dirty="0"/>
              <a:t>Cloned repository exists locally</a:t>
            </a:r>
          </a:p>
        </p:txBody>
      </p:sp>
    </p:spTree>
    <p:extLst>
      <p:ext uri="{BB962C8B-B14F-4D97-AF65-F5344CB8AC3E}">
        <p14:creationId xmlns:p14="http://schemas.microsoft.com/office/powerpoint/2010/main" val="263538937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First‑Time Configuration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Set your preferred editor</a:t>
            </a:r>
          </a:p>
          <a:p>
            <a:pPr lvl="0" indent="0">
              <a:buNone/>
            </a:pPr>
            <a:r>
              <a:rPr dirty="0">
                <a:latin typeface="Consolas" panose="020B0609020204030204" pitchFamily="49" charset="0"/>
              </a:rPr>
              <a:t>mob config editor "code"</a:t>
            </a:r>
          </a:p>
          <a:p>
            <a:pPr marL="0" lvl="0" indent="0">
              <a:spcBef>
                <a:spcPts val="3000"/>
              </a:spcBef>
              <a:buNone/>
            </a:pPr>
            <a:r>
              <a:rPr b="1" dirty="0">
                <a:latin typeface="+mn-lt"/>
              </a:rPr>
              <a:t>Set your default WIP branch name</a:t>
            </a:r>
          </a:p>
          <a:p>
            <a:pPr lvl="0" indent="0">
              <a:buNone/>
            </a:pPr>
            <a:r>
              <a:rPr dirty="0">
                <a:latin typeface="Consolas" panose="020B0609020204030204" pitchFamily="49" charset="0"/>
              </a:rPr>
              <a:t>mob config </a:t>
            </a:r>
            <a:r>
              <a:rPr dirty="0" err="1">
                <a:latin typeface="Consolas" panose="020B0609020204030204" pitchFamily="49" charset="0"/>
              </a:rPr>
              <a:t>wip</a:t>
            </a:r>
            <a:r>
              <a:rPr dirty="0">
                <a:latin typeface="Consolas" panose="020B0609020204030204" pitchFamily="49" charset="0"/>
              </a:rPr>
              <a:t>-branch "mob-session"</a:t>
            </a:r>
          </a:p>
          <a:p>
            <a:pPr marL="0" lvl="0" indent="0">
              <a:spcBef>
                <a:spcPts val="3000"/>
              </a:spcBef>
              <a:buNone/>
            </a:pPr>
            <a:r>
              <a:rPr b="1" dirty="0">
                <a:latin typeface="+mn-lt"/>
              </a:rPr>
              <a:t>Optional: Set timer duration</a:t>
            </a:r>
          </a:p>
          <a:p>
            <a:pPr lvl="0" indent="0">
              <a:buNone/>
            </a:pPr>
            <a:r>
              <a:rPr dirty="0">
                <a:latin typeface="Consolas" panose="020B0609020204030204" pitchFamily="49" charset="0"/>
              </a:rPr>
              <a:t>mob config timer 5</a:t>
            </a:r>
          </a:p>
        </p:txBody>
      </p:sp>
    </p:spTree>
    <p:extLst>
      <p:ext uri="{BB962C8B-B14F-4D97-AF65-F5344CB8AC3E}">
        <p14:creationId xmlns:p14="http://schemas.microsoft.com/office/powerpoint/2010/main" val="13077175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Starting a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Begin a session</a:t>
            </a:r>
          </a:p>
          <a:p>
            <a:pPr lvl="0" indent="0">
              <a:buNone/>
            </a:pPr>
            <a:r>
              <a:rPr dirty="0">
                <a:latin typeface="Consolas" panose="020B0609020204030204" pitchFamily="49" charset="0"/>
              </a:rPr>
              <a:t>mob start</a:t>
            </a:r>
          </a:p>
          <a:p>
            <a:pPr marL="0" lvl="0" indent="0">
              <a:buNone/>
            </a:pPr>
            <a:br>
              <a:rPr lang="en-US" dirty="0">
                <a:latin typeface="+mn-lt"/>
              </a:rPr>
            </a:br>
            <a:r>
              <a:rPr dirty="0">
                <a:latin typeface="+mn-lt"/>
              </a:rPr>
              <a:t>What happens: </a:t>
            </a:r>
            <a:endParaRPr lang="en-US" dirty="0">
              <a:latin typeface="+mn-lt"/>
            </a:endParaRPr>
          </a:p>
          <a:p>
            <a:pPr lvl="1"/>
            <a:r>
              <a:rPr dirty="0">
                <a:latin typeface="+mn-lt"/>
              </a:rPr>
              <a:t>Creates/updates a WIP branch - Stashes local changes </a:t>
            </a:r>
            <a:endParaRPr lang="en-US" dirty="0">
              <a:latin typeface="+mn-lt"/>
            </a:endParaRPr>
          </a:p>
          <a:p>
            <a:pPr lvl="1"/>
            <a:r>
              <a:rPr dirty="0">
                <a:latin typeface="+mn-lt"/>
              </a:rPr>
              <a:t>Opens your editor - Starts optional timer</a:t>
            </a:r>
          </a:p>
        </p:txBody>
      </p:sp>
    </p:spTree>
    <p:extLst>
      <p:ext uri="{BB962C8B-B14F-4D97-AF65-F5344CB8AC3E}">
        <p14:creationId xmlns:p14="http://schemas.microsoft.com/office/powerpoint/2010/main" val="56292284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Handoff to the Next Driver</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your rotation ends</a:t>
            </a:r>
          </a:p>
          <a:p>
            <a:pPr lvl="0" indent="0">
              <a:buNone/>
            </a:pPr>
            <a:r>
              <a:rPr dirty="0">
                <a:latin typeface="Consolas" panose="020B0609020204030204" pitchFamily="49" charset="0"/>
              </a:rPr>
              <a:t>mob next</a:t>
            </a:r>
          </a:p>
          <a:p>
            <a:pPr marL="0" lvl="0" indent="0">
              <a:buNone/>
            </a:pPr>
            <a:br>
              <a:rPr lang="en-US" dirty="0">
                <a:latin typeface="+mn-lt"/>
              </a:rPr>
            </a:br>
            <a:r>
              <a:rPr dirty="0">
                <a:latin typeface="+mn-lt"/>
              </a:rPr>
              <a:t>This: </a:t>
            </a:r>
            <a:endParaRPr lang="en-US" dirty="0">
              <a:latin typeface="+mn-lt"/>
            </a:endParaRPr>
          </a:p>
          <a:p>
            <a:pPr lvl="1"/>
            <a:r>
              <a:rPr dirty="0">
                <a:latin typeface="+mn-lt"/>
              </a:rPr>
              <a:t>Commits WIP </a:t>
            </a:r>
            <a:endParaRPr lang="en-US" dirty="0">
              <a:latin typeface="+mn-lt"/>
            </a:endParaRPr>
          </a:p>
          <a:p>
            <a:pPr lvl="1"/>
            <a:r>
              <a:rPr dirty="0">
                <a:latin typeface="+mn-lt"/>
              </a:rPr>
              <a:t>Pushes to remote</a:t>
            </a:r>
            <a:endParaRPr lang="en-US" dirty="0">
              <a:latin typeface="+mn-lt"/>
            </a:endParaRPr>
          </a:p>
          <a:p>
            <a:pPr lvl="1"/>
            <a:r>
              <a:rPr dirty="0">
                <a:latin typeface="+mn-lt"/>
              </a:rPr>
              <a:t>Prepares the next driver’s environment</a:t>
            </a:r>
          </a:p>
        </p:txBody>
      </p:sp>
    </p:spTree>
    <p:extLst>
      <p:ext uri="{BB962C8B-B14F-4D97-AF65-F5344CB8AC3E}">
        <p14:creationId xmlns:p14="http://schemas.microsoft.com/office/powerpoint/2010/main" val="2433761511"/>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Running Tests During the Mob</a:t>
            </a:r>
          </a:p>
        </p:txBody>
      </p:sp>
      <p:sp>
        <p:nvSpPr>
          <p:cNvPr id="3" name="Content Placeholder 2"/>
          <p:cNvSpPr>
            <a:spLocks noGrp="1"/>
          </p:cNvSpPr>
          <p:nvPr>
            <p:ph idx="1"/>
          </p:nvPr>
        </p:nvSpPr>
        <p:spPr/>
        <p:txBody>
          <a:bodyPr/>
          <a:lstStyle/>
          <a:p>
            <a:pPr lvl="0"/>
            <a:r>
              <a:rPr dirty="0">
                <a:latin typeface="+mn-lt"/>
              </a:rPr>
              <a:t>Use watch mode (Jest, </a:t>
            </a:r>
            <a:r>
              <a:rPr dirty="0" err="1">
                <a:latin typeface="+mn-lt"/>
              </a:rPr>
              <a:t>Vitest</a:t>
            </a:r>
            <a:r>
              <a:rPr dirty="0">
                <a:latin typeface="+mn-lt"/>
              </a:rPr>
              <a:t>, </a:t>
            </a:r>
            <a:r>
              <a:rPr dirty="0" err="1">
                <a:latin typeface="+mn-lt"/>
              </a:rPr>
              <a:t>pytest</a:t>
            </a:r>
            <a:r>
              <a:rPr dirty="0">
                <a:latin typeface="+mn-lt"/>
              </a:rPr>
              <a:t>‑watch)</a:t>
            </a:r>
          </a:p>
          <a:p>
            <a:pPr lvl="0"/>
            <a:r>
              <a:rPr dirty="0">
                <a:latin typeface="+mn-lt"/>
              </a:rPr>
              <a:t>Keep terminal visible to the whole mob</a:t>
            </a:r>
          </a:p>
          <a:p>
            <a:pPr lvl="0"/>
            <a:r>
              <a:rPr dirty="0">
                <a:latin typeface="+mn-lt"/>
              </a:rPr>
              <a:t>Encourage “test first” flow during rotations</a:t>
            </a:r>
          </a:p>
        </p:txBody>
      </p:sp>
    </p:spTree>
    <p:extLst>
      <p:ext uri="{BB962C8B-B14F-4D97-AF65-F5344CB8AC3E}">
        <p14:creationId xmlns:p14="http://schemas.microsoft.com/office/powerpoint/2010/main" val="242985597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Finishing the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the feature is ready</a:t>
            </a:r>
          </a:p>
          <a:p>
            <a:pPr lvl="0" indent="0">
              <a:buNone/>
            </a:pPr>
            <a:r>
              <a:rPr dirty="0">
                <a:latin typeface="Consolas" panose="020B0609020204030204" pitchFamily="49" charset="0"/>
              </a:rPr>
              <a:t>mob done</a:t>
            </a:r>
          </a:p>
          <a:p>
            <a:pPr marL="0" lvl="0" indent="0">
              <a:buNone/>
            </a:pPr>
            <a:endParaRPr lang="en-US" dirty="0">
              <a:latin typeface="+mn-lt"/>
            </a:endParaRPr>
          </a:p>
          <a:p>
            <a:pPr marL="0" lvl="0" indent="0">
              <a:buNone/>
            </a:pPr>
            <a:r>
              <a:rPr dirty="0">
                <a:latin typeface="+mn-lt"/>
              </a:rPr>
              <a:t>This: </a:t>
            </a:r>
            <a:endParaRPr lang="en-US" dirty="0">
              <a:latin typeface="+mn-lt"/>
            </a:endParaRPr>
          </a:p>
          <a:p>
            <a:pPr lvl="1"/>
            <a:r>
              <a:rPr dirty="0">
                <a:latin typeface="+mn-lt"/>
              </a:rPr>
              <a:t>Squashes WIP commits</a:t>
            </a:r>
            <a:endParaRPr lang="en-US" dirty="0">
              <a:latin typeface="+mn-lt"/>
            </a:endParaRPr>
          </a:p>
          <a:p>
            <a:pPr lvl="1"/>
            <a:r>
              <a:rPr dirty="0">
                <a:latin typeface="+mn-lt"/>
              </a:rPr>
              <a:t>Merges into your main branch</a:t>
            </a:r>
            <a:endParaRPr lang="en-US" dirty="0">
              <a:latin typeface="+mn-lt"/>
            </a:endParaRPr>
          </a:p>
          <a:p>
            <a:pPr lvl="1"/>
            <a:r>
              <a:rPr dirty="0">
                <a:latin typeface="+mn-lt"/>
              </a:rPr>
              <a:t>Cleans up the WIP branch</a:t>
            </a:r>
          </a:p>
        </p:txBody>
      </p:sp>
    </p:spTree>
    <p:extLst>
      <p:ext uri="{BB962C8B-B14F-4D97-AF65-F5344CB8AC3E}">
        <p14:creationId xmlns:p14="http://schemas.microsoft.com/office/powerpoint/2010/main" val="2009994743"/>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Branching Model Best Practices</a:t>
            </a:r>
          </a:p>
        </p:txBody>
      </p:sp>
      <p:sp>
        <p:nvSpPr>
          <p:cNvPr id="3" name="Content Placeholder 2"/>
          <p:cNvSpPr>
            <a:spLocks noGrp="1"/>
          </p:cNvSpPr>
          <p:nvPr>
            <p:ph idx="1"/>
          </p:nvPr>
        </p:nvSpPr>
        <p:spPr/>
        <p:txBody>
          <a:bodyPr>
            <a:normAutofit/>
          </a:bodyPr>
          <a:lstStyle/>
          <a:p>
            <a:pPr marL="0" lvl="0" indent="0">
              <a:spcBef>
                <a:spcPts val="3000"/>
              </a:spcBef>
              <a:buNone/>
            </a:pPr>
            <a:r>
              <a:rPr b="1" dirty="0">
                <a:latin typeface="+mn-lt"/>
              </a:rPr>
              <a:t>Recommended</a:t>
            </a:r>
          </a:p>
          <a:p>
            <a:pPr lvl="0"/>
            <a:r>
              <a:rPr dirty="0">
                <a:latin typeface="+mn-lt"/>
              </a:rPr>
              <a:t>Feature branch per story</a:t>
            </a:r>
          </a:p>
          <a:p>
            <a:pPr lvl="0"/>
            <a:r>
              <a:rPr dirty="0">
                <a:latin typeface="+mn-lt"/>
              </a:rPr>
              <a:t>mob.sh manages the WIP branch</a:t>
            </a:r>
          </a:p>
          <a:p>
            <a:pPr lvl="0"/>
            <a:r>
              <a:rPr dirty="0">
                <a:latin typeface="+mn-lt"/>
              </a:rPr>
              <a:t>PR created after mob done</a:t>
            </a:r>
          </a:p>
          <a:p>
            <a:pPr marL="0" lvl="0" indent="0">
              <a:spcBef>
                <a:spcPts val="3000"/>
              </a:spcBef>
              <a:buNone/>
            </a:pPr>
            <a:r>
              <a:rPr b="1" dirty="0">
                <a:latin typeface="+mn-lt"/>
              </a:rPr>
              <a:t>Avoid</a:t>
            </a:r>
          </a:p>
          <a:p>
            <a:pPr lvl="0"/>
            <a:r>
              <a:rPr dirty="0">
                <a:latin typeface="+mn-lt"/>
              </a:rPr>
              <a:t>Multiple mobs on the same feature branch</a:t>
            </a:r>
          </a:p>
          <a:p>
            <a:pPr lvl="0"/>
            <a:r>
              <a:rPr dirty="0">
                <a:latin typeface="+mn-lt"/>
              </a:rPr>
              <a:t>Manual commits on the WIP branch</a:t>
            </a:r>
          </a:p>
        </p:txBody>
      </p:sp>
    </p:spTree>
    <p:extLst>
      <p:ext uri="{BB962C8B-B14F-4D97-AF65-F5344CB8AC3E}">
        <p14:creationId xmlns:p14="http://schemas.microsoft.com/office/powerpoint/2010/main" val="40244732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Role Rotation Tips</a:t>
            </a:r>
          </a:p>
        </p:txBody>
      </p:sp>
      <p:sp>
        <p:nvSpPr>
          <p:cNvPr id="3" name="Content Placeholder 2"/>
          <p:cNvSpPr>
            <a:spLocks noGrp="1"/>
          </p:cNvSpPr>
          <p:nvPr>
            <p:ph idx="1"/>
          </p:nvPr>
        </p:nvSpPr>
        <p:spPr/>
        <p:txBody>
          <a:bodyPr/>
          <a:lstStyle/>
          <a:p>
            <a:pPr lvl="0"/>
            <a:r>
              <a:rPr dirty="0">
                <a:latin typeface="+mn-lt"/>
              </a:rPr>
              <a:t>Driver rotates every 5–7 minutes</a:t>
            </a:r>
          </a:p>
          <a:p>
            <a:pPr lvl="0"/>
            <a:r>
              <a:rPr dirty="0">
                <a:latin typeface="+mn-lt"/>
              </a:rPr>
              <a:t>Navigator(s) guide the next steps</a:t>
            </a:r>
          </a:p>
          <a:p>
            <a:pPr lvl="0"/>
            <a:r>
              <a:rPr dirty="0">
                <a:latin typeface="+mn-lt"/>
              </a:rPr>
              <a:t>Researchers support without interrupting flow</a:t>
            </a:r>
          </a:p>
          <a:p>
            <a:pPr lvl="0"/>
            <a:r>
              <a:rPr dirty="0">
                <a:latin typeface="+mn-lt"/>
              </a:rPr>
              <a:t>Use a shared timer (mob.sh or external)</a:t>
            </a:r>
          </a:p>
        </p:txBody>
      </p:sp>
    </p:spTree>
    <p:extLst>
      <p:ext uri="{BB962C8B-B14F-4D97-AF65-F5344CB8AC3E}">
        <p14:creationId xmlns:p14="http://schemas.microsoft.com/office/powerpoint/2010/main" val="2533214804"/>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Advanced Features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mob start –include-uncommitted</a:t>
            </a:r>
          </a:p>
          <a:p>
            <a:pPr marL="0" lvl="0" indent="0">
              <a:buNone/>
            </a:pPr>
            <a:r>
              <a:rPr dirty="0">
                <a:latin typeface="+mn-lt"/>
              </a:rPr>
              <a:t>Keep local changes when starting a session.</a:t>
            </a:r>
          </a:p>
          <a:p>
            <a:pPr marL="0" lvl="0" indent="0">
              <a:spcBef>
                <a:spcPts val="3000"/>
              </a:spcBef>
              <a:buNone/>
            </a:pPr>
            <a:r>
              <a:rPr b="1" dirty="0">
                <a:latin typeface="+mn-lt"/>
              </a:rPr>
              <a:t>mob start –branch </a:t>
            </a:r>
          </a:p>
          <a:p>
            <a:pPr marL="0" lvl="0" indent="0">
              <a:buNone/>
            </a:pPr>
            <a:r>
              <a:rPr dirty="0">
                <a:latin typeface="+mn-lt"/>
              </a:rPr>
              <a:t>Use a custom WIP branch.</a:t>
            </a:r>
          </a:p>
          <a:p>
            <a:pPr marL="0" lvl="0" indent="0">
              <a:spcBef>
                <a:spcPts val="3000"/>
              </a:spcBef>
              <a:buNone/>
            </a:pPr>
            <a:r>
              <a:rPr b="1" dirty="0">
                <a:latin typeface="+mn-lt"/>
              </a:rPr>
              <a:t>mob timer</a:t>
            </a:r>
          </a:p>
          <a:p>
            <a:pPr marL="0" lvl="0" indent="0">
              <a:buNone/>
            </a:pPr>
            <a:r>
              <a:rPr dirty="0">
                <a:latin typeface="+mn-lt"/>
              </a:rPr>
              <a:t>Start a standalone rotation timer.</a:t>
            </a:r>
          </a:p>
          <a:p>
            <a:pPr marL="0" lvl="0" indent="0">
              <a:spcBef>
                <a:spcPts val="3000"/>
              </a:spcBef>
              <a:buNone/>
            </a:pPr>
            <a:r>
              <a:rPr b="1" dirty="0">
                <a:latin typeface="+mn-lt"/>
              </a:rPr>
              <a:t>mob status</a:t>
            </a:r>
          </a:p>
          <a:p>
            <a:pPr marL="0" lvl="0" indent="0">
              <a:buNone/>
            </a:pPr>
            <a:r>
              <a:rPr dirty="0">
                <a:latin typeface="+mn-lt"/>
              </a:rPr>
              <a:t>Check current mob state.</a:t>
            </a:r>
          </a:p>
        </p:txBody>
      </p:sp>
    </p:spTree>
    <p:extLst>
      <p:ext uri="{BB962C8B-B14F-4D97-AF65-F5344CB8AC3E}">
        <p14:creationId xmlns:p14="http://schemas.microsoft.com/office/powerpoint/2010/main" val="301411890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Troubleshooting</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“Uncommitted changes” error</a:t>
            </a:r>
          </a:p>
          <a:p>
            <a:pPr marL="0" lvl="0" indent="0">
              <a:buNone/>
            </a:pPr>
            <a:r>
              <a:rPr dirty="0">
                <a:latin typeface="+mn-lt"/>
              </a:rPr>
              <a:t>→ Run:</a:t>
            </a:r>
          </a:p>
          <a:p>
            <a:pPr lvl="0" indent="0">
              <a:buNone/>
            </a:pPr>
            <a:r>
              <a:rPr dirty="0">
                <a:latin typeface="Consolas" panose="020B0609020204030204" pitchFamily="49" charset="0"/>
              </a:rPr>
              <a:t>git stash</a:t>
            </a:r>
          </a:p>
          <a:p>
            <a:pPr marL="0" lvl="0" indent="0">
              <a:spcBef>
                <a:spcPts val="3000"/>
              </a:spcBef>
              <a:buNone/>
            </a:pPr>
            <a:r>
              <a:rPr b="1" dirty="0">
                <a:latin typeface="+mn-lt"/>
              </a:rPr>
              <a:t>Conflicts on mob done</a:t>
            </a:r>
          </a:p>
          <a:p>
            <a:pPr marL="0" lvl="0" indent="0">
              <a:buNone/>
            </a:pPr>
            <a:r>
              <a:rPr dirty="0">
                <a:latin typeface="+mn-lt"/>
              </a:rPr>
              <a:t>→ Resolve locally, then:</a:t>
            </a:r>
          </a:p>
          <a:p>
            <a:pPr lvl="0" indent="0">
              <a:buNone/>
            </a:pPr>
            <a:r>
              <a:rPr dirty="0">
                <a:latin typeface="Consolas" panose="020B0609020204030204" pitchFamily="49" charset="0"/>
              </a:rPr>
              <a:t>mob done --continue</a:t>
            </a:r>
          </a:p>
          <a:p>
            <a:pPr marL="0" lvl="0" indent="0">
              <a:spcBef>
                <a:spcPts val="3000"/>
              </a:spcBef>
              <a:buNone/>
            </a:pPr>
            <a:r>
              <a:rPr b="1" dirty="0">
                <a:latin typeface="+mn-lt"/>
              </a:rPr>
              <a:t>Someone forgot mob next</a:t>
            </a:r>
          </a:p>
          <a:p>
            <a:pPr marL="0" lvl="0" indent="0">
              <a:buNone/>
            </a:pPr>
            <a:r>
              <a:rPr dirty="0">
                <a:latin typeface="+mn-lt"/>
              </a:rPr>
              <a:t>→ Use:</a:t>
            </a:r>
          </a:p>
          <a:p>
            <a:pPr lvl="0" indent="0">
              <a:buNone/>
            </a:pPr>
            <a:r>
              <a:rPr dirty="0">
                <a:latin typeface="Consolas" panose="020B0609020204030204" pitchFamily="49" charset="0"/>
              </a:rPr>
              <a:t>mob start --continue</a:t>
            </a:r>
          </a:p>
        </p:txBody>
      </p:sp>
    </p:spTree>
    <p:extLst>
      <p:ext uri="{BB962C8B-B14F-4D97-AF65-F5344CB8AC3E}">
        <p14:creationId xmlns:p14="http://schemas.microsoft.com/office/powerpoint/2010/main" val="3840604165"/>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Resources</a:t>
            </a:r>
          </a:p>
        </p:txBody>
      </p:sp>
      <p:sp>
        <p:nvSpPr>
          <p:cNvPr id="3" name="Content Placeholder 2"/>
          <p:cNvSpPr>
            <a:spLocks noGrp="1"/>
          </p:cNvSpPr>
          <p:nvPr>
            <p:ph idx="1"/>
          </p:nvPr>
        </p:nvSpPr>
        <p:spPr/>
        <p:txBody>
          <a:bodyPr/>
          <a:lstStyle/>
          <a:p>
            <a:pPr lvl="0"/>
            <a:r>
              <a:rPr dirty="0">
                <a:latin typeface="+mn-lt"/>
              </a:rPr>
              <a:t>Official site:</a:t>
            </a:r>
            <a:r>
              <a:rPr lang="en-US" dirty="0">
                <a:latin typeface="+mn-lt"/>
              </a:rPr>
              <a:t> https://mob.sh </a:t>
            </a:r>
            <a:endParaRPr dirty="0">
              <a:latin typeface="+mn-lt"/>
              <a:hlinkClick r:id="rId2">
                <a:extLst>
                  <a:ext uri="{A12FA001-AC4F-418D-AE19-62706E023703}">
                    <ahyp:hlinkClr xmlns:ahyp="http://schemas.microsoft.com/office/drawing/2018/hyperlinkcolor" val="tx"/>
                  </a:ext>
                </a:extLst>
              </a:hlinkClick>
            </a:endParaRPr>
          </a:p>
          <a:p>
            <a:pPr lvl="0"/>
            <a:r>
              <a:rPr dirty="0" err="1">
                <a:latin typeface="+mn-lt"/>
              </a:rPr>
              <a:t>ThoughtWorks</a:t>
            </a:r>
            <a:r>
              <a:rPr dirty="0">
                <a:latin typeface="+mn-lt"/>
              </a:rPr>
              <a:t> Tech Radar (Technique): Mob Programming</a:t>
            </a:r>
          </a:p>
          <a:p>
            <a:pPr lvl="0"/>
            <a:r>
              <a:rPr dirty="0">
                <a:latin typeface="+mn-lt"/>
              </a:rPr>
              <a:t>GitHub repo:</a:t>
            </a:r>
            <a:r>
              <a:rPr lang="en-US" dirty="0">
                <a:latin typeface="+mn-lt"/>
              </a:rPr>
              <a:t> https://github.com/remotemobprogramming/mob </a:t>
            </a:r>
            <a:endParaRPr dirty="0">
              <a:latin typeface="+mn-lt"/>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19643910"/>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53838-56DA-5AD1-44D0-65C93ED236E2}"/>
              </a:ext>
            </a:extLst>
          </p:cNvPr>
          <p:cNvSpPr>
            <a:spLocks noGrp="1"/>
          </p:cNvSpPr>
          <p:nvPr>
            <p:ph type="title"/>
          </p:nvPr>
        </p:nvSpPr>
        <p:spPr/>
        <p:txBody>
          <a:bodyPr>
            <a:noAutofit/>
          </a:bodyPr>
          <a:lstStyle/>
          <a:p>
            <a:r>
              <a:rPr lang="en-US" sz="2800" dirty="0"/>
              <a:t>Lab: Mob Programming Setup</a:t>
            </a:r>
          </a:p>
        </p:txBody>
      </p:sp>
      <p:sp>
        <p:nvSpPr>
          <p:cNvPr id="3" name="Content Placeholder 2">
            <a:extLst>
              <a:ext uri="{FF2B5EF4-FFF2-40B4-BE49-F238E27FC236}">
                <a16:creationId xmlns:a16="http://schemas.microsoft.com/office/drawing/2014/main" id="{0C05B120-646A-ABDB-D7DE-003C3E3913A8}"/>
              </a:ext>
            </a:extLst>
          </p:cNvPr>
          <p:cNvSpPr>
            <a:spLocks noGrp="1"/>
          </p:cNvSpPr>
          <p:nvPr>
            <p:ph idx="1"/>
          </p:nvPr>
        </p:nvSpPr>
        <p:spPr/>
        <p:txBody>
          <a:bodyPr numCol="2">
            <a:normAutofit lnSpcReduction="10000"/>
          </a:bodyPr>
          <a:lstStyle/>
          <a:p>
            <a:pPr marL="0" indent="0">
              <a:buNone/>
            </a:pPr>
            <a:r>
              <a:rPr lang="en-US" b="1" dirty="0"/>
              <a:t>Duration:</a:t>
            </a:r>
            <a:r>
              <a:rPr lang="en-US" dirty="0"/>
              <a:t> 15-20 minutes</a:t>
            </a:r>
            <a:br>
              <a:rPr lang="en-US" dirty="0"/>
            </a:br>
            <a:endParaRPr lang="en-US" dirty="0"/>
          </a:p>
          <a:p>
            <a:pPr marL="0" indent="0">
              <a:buNone/>
            </a:pPr>
            <a:r>
              <a:rPr lang="en-US" b="1" dirty="0"/>
              <a:t>Objectives</a:t>
            </a:r>
            <a:br>
              <a:rPr lang="en-US" dirty="0"/>
            </a:br>
            <a:endParaRPr lang="en-US" dirty="0"/>
          </a:p>
          <a:p>
            <a:pPr lvl="1"/>
            <a:r>
              <a:rPr lang="en-US" dirty="0"/>
              <a:t>Explore collaborative coding with Copilot</a:t>
            </a:r>
          </a:p>
          <a:p>
            <a:pPr lvl="1"/>
            <a:r>
              <a:rPr lang="en-US" dirty="0"/>
              <a:t>Set up for team development</a:t>
            </a:r>
            <a:br>
              <a:rPr lang="en-US" dirty="0"/>
            </a:br>
            <a:endParaRPr lang="en-US" dirty="0"/>
          </a:p>
          <a:p>
            <a:pPr marL="0" indent="0">
              <a:buNone/>
            </a:pPr>
            <a:r>
              <a:rPr lang="en-US" b="1" dirty="0"/>
              <a:t>Activities</a:t>
            </a:r>
            <a:br>
              <a:rPr lang="en-US" dirty="0"/>
            </a:br>
            <a:endParaRPr lang="en-US" dirty="0"/>
          </a:p>
          <a:p>
            <a:pPr marL="0" indent="0">
              <a:buNone/>
            </a:pPr>
            <a:r>
              <a:rPr lang="en-US" dirty="0"/>
              <a:t>1. Configure for your environment</a:t>
            </a:r>
          </a:p>
          <a:p>
            <a:pPr marL="0" indent="0">
              <a:buNone/>
            </a:pPr>
            <a:r>
              <a:rPr lang="en-US" dirty="0"/>
              <a:t>2. Practice driver/navigator roles with Copilot as assistant</a:t>
            </a:r>
          </a:p>
          <a:p>
            <a:pPr marL="0" indent="0">
              <a:buNone/>
            </a:pPr>
            <a:endParaRPr lang="en-US" dirty="0"/>
          </a:p>
          <a:p>
            <a:pPr marL="0" indent="0">
              <a:buNone/>
            </a:pPr>
            <a:r>
              <a:rPr lang="en-US" dirty="0"/>
              <a:t>Success Criteria</a:t>
            </a:r>
          </a:p>
          <a:p>
            <a:r>
              <a:rPr lang="en-US" dirty="0"/>
              <a:t>Successfully participate in a mob session</a:t>
            </a:r>
          </a:p>
        </p:txBody>
      </p:sp>
    </p:spTree>
    <p:extLst>
      <p:ext uri="{BB962C8B-B14F-4D97-AF65-F5344CB8AC3E}">
        <p14:creationId xmlns:p14="http://schemas.microsoft.com/office/powerpoint/2010/main" val="1321232318"/>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87A9-7EEF-FB3F-FB86-59AF55BFA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3AC4B-E2D5-9454-E05D-40E8F723558F}"/>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7575EEF-AB1A-569A-898A-38711EAD086C}"/>
              </a:ext>
            </a:extLst>
          </p:cNvPr>
          <p:cNvGraphicFramePr>
            <a:graphicFrameLocks noGrp="1"/>
          </p:cNvGraphicFramePr>
          <p:nvPr>
            <p:ph idx="1"/>
            <p:extLst>
              <p:ext uri="{D42A27DB-BD31-4B8C-83A1-F6EECF244321}">
                <p14:modId xmlns:p14="http://schemas.microsoft.com/office/powerpoint/2010/main" val="91917140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246521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Software Engineering vs “Vibe Coding”</a:t>
            </a:r>
          </a:p>
        </p:txBody>
      </p:sp>
      <p:sp>
        <p:nvSpPr>
          <p:cNvPr id="3" name="Content Placeholder 2"/>
          <p:cNvSpPr>
            <a:spLocks noGrp="1"/>
          </p:cNvSpPr>
          <p:nvPr>
            <p:ph idx="1"/>
          </p:nvPr>
        </p:nvSpPr>
        <p:spPr/>
        <p:txBody>
          <a:bodyPr/>
          <a:lstStyle/>
          <a:p>
            <a:pPr lvl="0"/>
            <a:r>
              <a:rPr dirty="0"/>
              <a:t>Engineering approach: systematic, tested, documented, maintainable</a:t>
            </a:r>
          </a:p>
          <a:p>
            <a:pPr lvl="0"/>
            <a:r>
              <a:rPr dirty="0"/>
              <a:t>Vibe coding: “it works” mentality, technical debt accumulation</a:t>
            </a:r>
          </a:p>
          <a:p>
            <a:pPr lvl="0"/>
            <a:r>
              <a:rPr dirty="0"/>
              <a:t>AI should enhance engineering practices, not replace them</a:t>
            </a:r>
          </a:p>
          <a:p>
            <a:pPr lvl="0"/>
            <a:r>
              <a:rPr dirty="0"/>
              <a:t>Proper testing, code review, and architecture still essential</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4AFB-EE22-469C-B2B2-1C5C251E4112}"/>
              </a:ext>
            </a:extLst>
          </p:cNvPr>
          <p:cNvSpPr>
            <a:spLocks noGrp="1"/>
          </p:cNvSpPr>
          <p:nvPr>
            <p:ph type="title"/>
          </p:nvPr>
        </p:nvSpPr>
        <p:spPr/>
        <p:txBody>
          <a:bodyPr>
            <a:noAutofit/>
          </a:bodyPr>
          <a:lstStyle/>
          <a:p>
            <a:r>
              <a:rPr lang="en-US" sz="2800" dirty="0"/>
              <a:t>Collaborating on a Solution</a:t>
            </a:r>
          </a:p>
        </p:txBody>
      </p:sp>
      <p:sp>
        <p:nvSpPr>
          <p:cNvPr id="3" name="Content Placeholder 2">
            <a:extLst>
              <a:ext uri="{FF2B5EF4-FFF2-40B4-BE49-F238E27FC236}">
                <a16:creationId xmlns:a16="http://schemas.microsoft.com/office/drawing/2014/main" id="{6DD19230-356B-0C2C-250A-E56F7FE853A2}"/>
              </a:ext>
            </a:extLst>
          </p:cNvPr>
          <p:cNvSpPr>
            <a:spLocks noGrp="1"/>
          </p:cNvSpPr>
          <p:nvPr>
            <p:ph idx="1"/>
          </p:nvPr>
        </p:nvSpPr>
        <p:spPr/>
        <p:txBody>
          <a:bodyPr>
            <a:normAutofit fontScale="47500" lnSpcReduction="20000"/>
          </a:bodyPr>
          <a:lstStyle/>
          <a:p>
            <a:r>
              <a:rPr lang="en-US" dirty="0"/>
              <a:t>Project Setup</a:t>
            </a:r>
          </a:p>
          <a:p>
            <a:r>
              <a:rPr lang="en-US" dirty="0"/>
              <a:t>Adding Features</a:t>
            </a:r>
          </a:p>
          <a:p>
            <a:pPr lvl="1"/>
            <a:r>
              <a:rPr lang="en-US" dirty="0"/>
              <a:t>Basic Arithmetic - Addition, subtraction, multiplication, division</a:t>
            </a:r>
          </a:p>
          <a:p>
            <a:pPr lvl="1"/>
            <a:r>
              <a:rPr lang="en-US" dirty="0"/>
              <a:t>Clear / Reset Function - Quickly resets the current input or entire calculation</a:t>
            </a:r>
          </a:p>
          <a:p>
            <a:pPr lvl="1"/>
            <a:r>
              <a:rPr lang="en-US" dirty="0"/>
              <a:t>Decimal Support - Allows entry and computation with decimal numbers</a:t>
            </a:r>
          </a:p>
          <a:p>
            <a:pPr lvl="1"/>
            <a:r>
              <a:rPr lang="en-US" dirty="0"/>
              <a:t>Sign Toggle (+/–) - Switches values between positive and negative</a:t>
            </a:r>
          </a:p>
          <a:p>
            <a:pPr lvl="1"/>
            <a:r>
              <a:rPr lang="en-US" dirty="0"/>
              <a:t>Percentage Function - Converts values to percentages for quick calculations</a:t>
            </a:r>
          </a:p>
          <a:p>
            <a:pPr lvl="1"/>
            <a:r>
              <a:rPr lang="en-US" dirty="0"/>
              <a:t>Memory Functions (M+, M–, MR, MC) - Store, recall, add to, or clear memory values</a:t>
            </a:r>
          </a:p>
          <a:p>
            <a:pPr lvl="1"/>
            <a:r>
              <a:rPr lang="en-US" dirty="0"/>
              <a:t>Error Handling - Displays errors such as division by zero</a:t>
            </a:r>
          </a:p>
          <a:p>
            <a:pPr lvl="1"/>
            <a:r>
              <a:rPr lang="en-US" dirty="0"/>
              <a:t>Simple, Intuitive Interface - Numeric keypad, operation buttons, and display screen</a:t>
            </a:r>
          </a:p>
          <a:p>
            <a:r>
              <a:rPr lang="en-US" dirty="0"/>
              <a:t>Test Automation</a:t>
            </a:r>
          </a:p>
          <a:p>
            <a:pPr lvl="1"/>
            <a:r>
              <a:rPr lang="en-US" dirty="0"/>
              <a:t>Code Coverage</a:t>
            </a:r>
          </a:p>
          <a:p>
            <a:r>
              <a:rPr lang="en-US" dirty="0"/>
              <a:t>Dependency Management</a:t>
            </a:r>
          </a:p>
          <a:p>
            <a:r>
              <a:rPr lang="en-US" dirty="0"/>
              <a:t>Comparing Implementations</a:t>
            </a:r>
          </a:p>
          <a:p>
            <a:r>
              <a:rPr lang="en-US" dirty="0"/>
              <a:t>Chat Management</a:t>
            </a:r>
          </a:p>
          <a:p>
            <a:r>
              <a:rPr lang="en-US" dirty="0"/>
              <a:t>Intro to Evergreen Software Development</a:t>
            </a:r>
          </a:p>
          <a:p>
            <a:pPr lvl="1"/>
            <a:endParaRPr lang="en-US" dirty="0"/>
          </a:p>
        </p:txBody>
      </p:sp>
    </p:spTree>
    <p:extLst>
      <p:ext uri="{BB962C8B-B14F-4D97-AF65-F5344CB8AC3E}">
        <p14:creationId xmlns:p14="http://schemas.microsoft.com/office/powerpoint/2010/main" val="2680930324"/>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3C4-72B9-220F-0517-8BA1C47EB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E2AFC-5932-926B-7559-C8EC43B1A818}"/>
              </a:ext>
            </a:extLst>
          </p:cNvPr>
          <p:cNvSpPr>
            <a:spLocks noGrp="1"/>
          </p:cNvSpPr>
          <p:nvPr>
            <p:ph type="title"/>
          </p:nvPr>
        </p:nvSpPr>
        <p:spPr/>
        <p:txBody>
          <a:bodyPr>
            <a:noAutofit/>
          </a:bodyPr>
          <a:lstStyle/>
          <a:p>
            <a:r>
              <a:rPr lang="en-US" sz="1800" dirty="0"/>
              <a:t>Lab: Calculator Project – Basic Arithmetic</a:t>
            </a:r>
          </a:p>
        </p:txBody>
      </p:sp>
      <p:sp>
        <p:nvSpPr>
          <p:cNvPr id="3" name="Content Placeholder 2">
            <a:extLst>
              <a:ext uri="{FF2B5EF4-FFF2-40B4-BE49-F238E27FC236}">
                <a16:creationId xmlns:a16="http://schemas.microsoft.com/office/drawing/2014/main" id="{88E86E3E-E069-0555-C998-046EFF5BB070}"/>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45-60 minutes</a:t>
            </a:r>
          </a:p>
          <a:p>
            <a:pPr marL="0" indent="0">
              <a:buNone/>
            </a:pPr>
            <a:br>
              <a:rPr lang="en-US" b="1" dirty="0"/>
            </a:br>
            <a:r>
              <a:rPr lang="en-US" b="1" dirty="0"/>
              <a:t>Objectives</a:t>
            </a:r>
            <a:br>
              <a:rPr lang="en-US" dirty="0"/>
            </a:br>
            <a:endParaRPr lang="en-US" dirty="0"/>
          </a:p>
          <a:p>
            <a:pPr lvl="1"/>
            <a:r>
              <a:rPr lang="en-US" dirty="0"/>
              <a:t>Use AI to generate starter code for arithmetic operations</a:t>
            </a:r>
          </a:p>
          <a:p>
            <a:pPr lvl="1"/>
            <a:r>
              <a:rPr lang="en-US" dirty="0"/>
              <a:t>Understand how to validate AI‑generated logic</a:t>
            </a:r>
          </a:p>
          <a:p>
            <a:pPr lvl="1"/>
            <a:r>
              <a:rPr lang="en-US" dirty="0"/>
              <a:t>Integrate addition, subtraction, multiplication, and division functions</a:t>
            </a:r>
          </a:p>
          <a:p>
            <a:pPr marL="0" indent="0">
              <a:buNone/>
            </a:pPr>
            <a:br>
              <a:rPr lang="en-US" dirty="0"/>
            </a:br>
            <a:r>
              <a:rPr lang="en-US" b="1" dirty="0"/>
              <a:t>Activities</a:t>
            </a:r>
            <a:br>
              <a:rPr lang="en-US" dirty="0"/>
            </a:br>
            <a:endParaRPr lang="en-US" dirty="0"/>
          </a:p>
          <a:p>
            <a:pPr marL="0" indent="0">
              <a:buNone/>
            </a:pPr>
            <a:r>
              <a:rPr lang="en-US" dirty="0"/>
              <a:t>1. </a:t>
            </a:r>
            <a:r>
              <a:rPr lang="en-US" b="1" dirty="0"/>
              <a:t>Project Initialization</a:t>
            </a:r>
            <a:r>
              <a:rPr lang="en-US" dirty="0"/>
              <a:t>:</a:t>
            </a:r>
            <a:br>
              <a:rPr lang="en-US" dirty="0"/>
            </a:br>
            <a:endParaRPr lang="en-US" dirty="0"/>
          </a:p>
          <a:p>
            <a:pPr lvl="1"/>
            <a:r>
              <a:rPr lang="en-US" dirty="0"/>
              <a:t>Prompt AI to create a new project</a:t>
            </a:r>
          </a:p>
          <a:p>
            <a:pPr lvl="1"/>
            <a:r>
              <a:rPr lang="en-US" dirty="0"/>
              <a:t>Review generated project structure</a:t>
            </a:r>
          </a:p>
          <a:p>
            <a:pPr lvl="1"/>
            <a:r>
              <a:rPr lang="en-US" dirty="0"/>
              <a:t>Verify build configuration</a:t>
            </a:r>
            <a:br>
              <a:rPr lang="en-US" dirty="0"/>
            </a:br>
            <a:endParaRPr lang="en-US" dirty="0"/>
          </a:p>
          <a:p>
            <a:pPr marL="0" indent="0">
              <a:buNone/>
            </a:pPr>
            <a:r>
              <a:rPr lang="en-US" dirty="0"/>
              <a:t>2. </a:t>
            </a:r>
            <a:r>
              <a:rPr lang="en-US" b="1" dirty="0"/>
              <a:t>Implement Basic Operations</a:t>
            </a:r>
            <a:r>
              <a:rPr lang="en-US" dirty="0"/>
              <a:t>:</a:t>
            </a:r>
          </a:p>
          <a:p>
            <a:pPr lvl="1"/>
            <a:r>
              <a:rPr lang="en-US" dirty="0"/>
              <a:t>Prompt AI to add methods for addition, subtraction, multiplication, and division</a:t>
            </a:r>
          </a:p>
          <a:p>
            <a:pPr marL="0" indent="0">
              <a:buNone/>
            </a:pPr>
            <a:r>
              <a:rPr lang="en-US" dirty="0"/>
              <a:t>3. </a:t>
            </a:r>
            <a:r>
              <a:rPr lang="en-US" b="1" dirty="0"/>
              <a:t>Review the Code:</a:t>
            </a:r>
          </a:p>
          <a:p>
            <a:pPr lvl="1"/>
            <a:r>
              <a:rPr lang="en-US" dirty="0"/>
              <a:t>For correctness and edge cases</a:t>
            </a:r>
          </a:p>
          <a:p>
            <a:pPr marL="0" indent="0">
              <a:buNone/>
            </a:pPr>
            <a:r>
              <a:rPr lang="en-US" dirty="0"/>
              <a:t>4. </a:t>
            </a:r>
            <a:r>
              <a:rPr lang="en-US" b="1" dirty="0"/>
              <a:t>Build and Run</a:t>
            </a:r>
            <a:r>
              <a:rPr lang="en-US" dirty="0"/>
              <a:t>:</a:t>
            </a:r>
          </a:p>
          <a:p>
            <a:pPr lvl="1"/>
            <a:r>
              <a:rPr lang="en-US" dirty="0"/>
              <a:t>Use Copilot to help with build commands</a:t>
            </a:r>
          </a:p>
          <a:p>
            <a:pPr lvl="1"/>
            <a:r>
              <a:rPr lang="en-US" dirty="0"/>
              <a:t>Troubleshoot any compilation errors with Copilot's help</a:t>
            </a:r>
          </a:p>
          <a:p>
            <a:pPr lvl="1"/>
            <a:r>
              <a:rPr lang="en-US" dirty="0"/>
              <a:t>Run the application</a:t>
            </a:r>
          </a:p>
          <a:p>
            <a:pPr marL="342900" lvl="1" indent="0">
              <a:buNone/>
            </a:pPr>
            <a:endParaRPr lang="en-US" dirty="0"/>
          </a:p>
          <a:p>
            <a:r>
              <a:rPr lang="en-US" b="1" dirty="0"/>
              <a:t>Success Criteria</a:t>
            </a:r>
            <a:endParaRPr lang="en-US" dirty="0"/>
          </a:p>
          <a:p>
            <a:pPr lvl="1"/>
            <a:r>
              <a:rPr lang="en-US" dirty="0"/>
              <a:t>Working calculator with 4 basic operations</a:t>
            </a:r>
          </a:p>
          <a:p>
            <a:pPr lvl="1"/>
            <a:r>
              <a:rPr lang="en-US" dirty="0"/>
              <a:t>Application compiles and runs successfully</a:t>
            </a:r>
          </a:p>
          <a:p>
            <a:pPr lvl="1"/>
            <a:r>
              <a:rPr lang="en-US" dirty="0"/>
              <a:t>You've critically reviewed all generated code</a:t>
            </a:r>
          </a:p>
          <a:p>
            <a:pPr marL="0" indent="0">
              <a:buNone/>
            </a:pPr>
            <a:endParaRPr lang="en-US" dirty="0"/>
          </a:p>
        </p:txBody>
      </p:sp>
    </p:spTree>
    <p:extLst>
      <p:ext uri="{BB962C8B-B14F-4D97-AF65-F5344CB8AC3E}">
        <p14:creationId xmlns:p14="http://schemas.microsoft.com/office/powerpoint/2010/main" val="4014121708"/>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7B7F-7AF7-5A7E-4BCD-291BF6D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CE5F-3E80-C5C0-FD15-1C6683C47AA3}"/>
              </a:ext>
            </a:extLst>
          </p:cNvPr>
          <p:cNvSpPr>
            <a:spLocks noGrp="1"/>
          </p:cNvSpPr>
          <p:nvPr>
            <p:ph type="title"/>
          </p:nvPr>
        </p:nvSpPr>
        <p:spPr/>
        <p:txBody>
          <a:bodyPr>
            <a:noAutofit/>
          </a:bodyPr>
          <a:lstStyle/>
          <a:p>
            <a:r>
              <a:rPr lang="en-US" sz="1800" dirty="0"/>
              <a:t>Lab: Calculator Project – Clear / Reset </a:t>
            </a:r>
          </a:p>
        </p:txBody>
      </p:sp>
      <p:sp>
        <p:nvSpPr>
          <p:cNvPr id="3" name="Content Placeholder 2">
            <a:extLst>
              <a:ext uri="{FF2B5EF4-FFF2-40B4-BE49-F238E27FC236}">
                <a16:creationId xmlns:a16="http://schemas.microsoft.com/office/drawing/2014/main" id="{48109E4E-5E81-42BB-CF7C-D073CC35305A}"/>
              </a:ext>
            </a:extLst>
          </p:cNvPr>
          <p:cNvSpPr>
            <a:spLocks noGrp="1"/>
          </p:cNvSpPr>
          <p:nvPr>
            <p:ph idx="1"/>
          </p:nvPr>
        </p:nvSpPr>
        <p:spPr/>
        <p:txBody>
          <a:bodyPr numCol="2">
            <a:normAutofit fontScale="70000" lnSpcReduction="20000"/>
          </a:bodyPr>
          <a:lstStyle/>
          <a:p>
            <a:pPr marL="0" indent="0">
              <a:buNone/>
            </a:pPr>
            <a:r>
              <a:rPr lang="en-US" b="1" dirty="0"/>
              <a:t>Duration: </a:t>
            </a:r>
            <a:r>
              <a:rPr lang="en-US" dirty="0"/>
              <a:t>15 minutes</a:t>
            </a:r>
          </a:p>
          <a:p>
            <a:pPr marL="0" indent="0">
              <a:buNone/>
            </a:pPr>
            <a:br>
              <a:rPr lang="en-US" b="1" dirty="0"/>
            </a:br>
            <a:r>
              <a:rPr lang="en-US" b="1" dirty="0"/>
              <a:t>Objectives</a:t>
            </a:r>
            <a:br>
              <a:rPr lang="en-US" dirty="0"/>
            </a:br>
            <a:endParaRPr lang="en-US" dirty="0"/>
          </a:p>
          <a:p>
            <a:pPr lvl="1"/>
            <a:r>
              <a:rPr lang="en-US" dirty="0"/>
              <a:t>Use AI to scaffold state‑management logic</a:t>
            </a:r>
          </a:p>
          <a:p>
            <a:pPr lvl="1"/>
            <a:r>
              <a:rPr lang="en-US" dirty="0"/>
              <a:t>Implement CE (clear entry) and C (clear all) behaviors</a:t>
            </a:r>
          </a:p>
          <a:p>
            <a:pPr lvl="1"/>
            <a:r>
              <a:rPr lang="en-US" dirty="0"/>
              <a:t>Understand how AI can help reason about UI state transitions</a:t>
            </a:r>
          </a:p>
          <a:p>
            <a:pPr lvl="1"/>
            <a:endParaRPr lang="en-US" dirty="0"/>
          </a:p>
          <a:p>
            <a:pPr marL="0" indent="0">
              <a:buNone/>
            </a:pPr>
            <a:br>
              <a:rPr lang="en-US" dirty="0"/>
            </a:br>
            <a:r>
              <a:rPr lang="en-US" b="1" dirty="0"/>
              <a:t>Activities</a:t>
            </a:r>
            <a:br>
              <a:rPr lang="en-US" dirty="0"/>
            </a:br>
            <a:endParaRPr lang="en-US" dirty="0"/>
          </a:p>
          <a:p>
            <a:pPr marL="457200" indent="-457200">
              <a:buAutoNum type="arabicPeriod"/>
            </a:pPr>
            <a:r>
              <a:rPr lang="en-US" dirty="0"/>
              <a:t>Prompt AI to outline the difference between CE and C</a:t>
            </a:r>
          </a:p>
          <a:p>
            <a:pPr marL="457200" indent="-457200">
              <a:buAutoNum type="arabicPeriod"/>
            </a:pPr>
            <a:r>
              <a:rPr lang="en-US" dirty="0"/>
              <a:t>Generate code for clearing the current input vs. full state</a:t>
            </a:r>
          </a:p>
          <a:p>
            <a:pPr marL="457200" indent="-457200">
              <a:buAutoNum type="arabicPeriod"/>
            </a:pPr>
            <a:r>
              <a:rPr lang="en-US" dirty="0"/>
              <a:t>Integrate the logic into your calculator’s state object</a:t>
            </a:r>
          </a:p>
          <a:p>
            <a:pPr marL="457200" indent="-457200">
              <a:buAutoNum type="arabicPeriod"/>
            </a:pPr>
            <a:r>
              <a:rPr lang="en-US" dirty="0"/>
              <a:t>Test transitions by simulating user input sequences</a:t>
            </a:r>
          </a:p>
          <a:p>
            <a:pPr marL="342900" lvl="1" indent="0">
              <a:buNone/>
            </a:pPr>
            <a:endParaRPr lang="en-US" dirty="0"/>
          </a:p>
          <a:p>
            <a:r>
              <a:rPr lang="en-US" b="1" dirty="0"/>
              <a:t>Success Criteria</a:t>
            </a:r>
            <a:endParaRPr lang="en-US" dirty="0"/>
          </a:p>
          <a:p>
            <a:pPr lvl="1"/>
            <a:r>
              <a:rPr lang="en-US" dirty="0"/>
              <a:t>- CE clears only the active entry</a:t>
            </a:r>
          </a:p>
          <a:p>
            <a:pPr lvl="1"/>
            <a:r>
              <a:rPr lang="en-US" dirty="0"/>
              <a:t>- C resets the entire calculator state</a:t>
            </a:r>
          </a:p>
          <a:p>
            <a:pPr lvl="1"/>
            <a:endParaRPr lang="en-US" dirty="0"/>
          </a:p>
          <a:p>
            <a:pPr marL="0" indent="0">
              <a:buNone/>
            </a:pPr>
            <a:endParaRPr lang="en-US" dirty="0"/>
          </a:p>
        </p:txBody>
      </p:sp>
    </p:spTree>
    <p:extLst>
      <p:ext uri="{BB962C8B-B14F-4D97-AF65-F5344CB8AC3E}">
        <p14:creationId xmlns:p14="http://schemas.microsoft.com/office/powerpoint/2010/main" val="532563562"/>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A8BD-3DE5-AD8D-9F74-92D471884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41D9-DDE4-EB35-BDC1-328BF3A60598}"/>
              </a:ext>
            </a:extLst>
          </p:cNvPr>
          <p:cNvSpPr>
            <a:spLocks noGrp="1"/>
          </p:cNvSpPr>
          <p:nvPr>
            <p:ph type="title"/>
          </p:nvPr>
        </p:nvSpPr>
        <p:spPr/>
        <p:txBody>
          <a:bodyPr>
            <a:noAutofit/>
          </a:bodyPr>
          <a:lstStyle/>
          <a:p>
            <a:r>
              <a:rPr lang="en-US" sz="1800" dirty="0"/>
              <a:t>Lab: Calculator Project – Decimal Input</a:t>
            </a:r>
          </a:p>
        </p:txBody>
      </p:sp>
      <p:sp>
        <p:nvSpPr>
          <p:cNvPr id="3" name="Content Placeholder 2">
            <a:extLst>
              <a:ext uri="{FF2B5EF4-FFF2-40B4-BE49-F238E27FC236}">
                <a16:creationId xmlns:a16="http://schemas.microsoft.com/office/drawing/2014/main" id="{DF01D80A-9518-180D-6821-1BA66D9AE9CD}"/>
              </a:ext>
            </a:extLst>
          </p:cNvPr>
          <p:cNvSpPr>
            <a:spLocks noGrp="1"/>
          </p:cNvSpPr>
          <p:nvPr>
            <p:ph idx="1"/>
          </p:nvPr>
        </p:nvSpPr>
        <p:spPr/>
        <p:txBody>
          <a:bodyPr numCol="2">
            <a:noAutofit/>
          </a:bodyPr>
          <a:lstStyle/>
          <a:p>
            <a:pPr marL="0" indent="0">
              <a:buNone/>
            </a:pPr>
            <a:r>
              <a:rPr lang="en-US" sz="1200" b="1" dirty="0"/>
              <a:t>Duration: 12 minutes</a:t>
            </a:r>
            <a:endParaRPr lang="en-US" sz="1200" dirty="0"/>
          </a:p>
          <a:p>
            <a:pPr marL="0" indent="0">
              <a:buNone/>
            </a:pPr>
            <a:br>
              <a:rPr lang="en-US" sz="1200" b="1" dirty="0"/>
            </a:br>
            <a:r>
              <a:rPr lang="en-US" sz="1200" b="1" dirty="0"/>
              <a:t>Objectives</a:t>
            </a:r>
            <a:br>
              <a:rPr lang="en-US" sz="1200" dirty="0"/>
            </a:br>
            <a:endParaRPr lang="en-US" sz="1200" dirty="0"/>
          </a:p>
          <a:p>
            <a:r>
              <a:rPr lang="en-US" sz="1500" dirty="0"/>
              <a:t>Use AI to generate input‑validation logic</a:t>
            </a:r>
          </a:p>
          <a:p>
            <a:r>
              <a:rPr lang="en-US" sz="1500" dirty="0"/>
              <a:t>Prevent multiple decimal points</a:t>
            </a:r>
          </a:p>
          <a:p>
            <a:r>
              <a:rPr lang="en-US" sz="1500" dirty="0"/>
              <a:t>Ensure decimals flow correctly through arithmetic operation</a:t>
            </a:r>
          </a:p>
          <a:p>
            <a:pPr lvl="1"/>
            <a:endParaRPr lang="en-US" sz="1200" dirty="0"/>
          </a:p>
          <a:p>
            <a:pPr marL="0" indent="0">
              <a:buNone/>
            </a:pPr>
            <a:br>
              <a:rPr lang="en-US" sz="1200" dirty="0"/>
            </a:br>
            <a:r>
              <a:rPr lang="en-US" sz="1200" b="1" dirty="0"/>
              <a:t>Activities</a:t>
            </a:r>
            <a:br>
              <a:rPr lang="en-US" sz="1200" dirty="0"/>
            </a:br>
            <a:endParaRPr lang="en-US" sz="1200" dirty="0"/>
          </a:p>
          <a:p>
            <a:pPr marL="457200" indent="-457200">
              <a:buAutoNum type="arabicPeriod"/>
            </a:pPr>
            <a:r>
              <a:rPr lang="en-US" sz="1200" dirty="0"/>
              <a:t>Ask AI to propose a strategy for handling decimal input</a:t>
            </a:r>
          </a:p>
          <a:p>
            <a:pPr marL="457200" indent="-457200">
              <a:buAutoNum type="arabicPeriod"/>
            </a:pPr>
            <a:r>
              <a:rPr lang="en-US" sz="1200" dirty="0"/>
              <a:t>Generate code to block multiple decimals in a single number</a:t>
            </a:r>
          </a:p>
          <a:p>
            <a:pPr marL="457200" indent="-457200">
              <a:buAutoNum type="arabicPeriod"/>
            </a:pPr>
            <a:r>
              <a:rPr lang="en-US" sz="1200" dirty="0"/>
              <a:t>Integrate decimal support into the existing input parser</a:t>
            </a:r>
          </a:p>
          <a:p>
            <a:pPr marL="457200" indent="-457200">
              <a:buAutoNum type="arabicPeriod"/>
            </a:pPr>
            <a:r>
              <a:rPr lang="en-US" sz="1200" dirty="0"/>
              <a:t>Test decimal operations using AI‑generated test cases</a:t>
            </a:r>
          </a:p>
          <a:p>
            <a:pPr marL="342900" lvl="1" indent="0">
              <a:buNone/>
            </a:pPr>
            <a:endParaRPr lang="en-US" sz="1200" dirty="0"/>
          </a:p>
          <a:p>
            <a:pPr marL="0" indent="0">
              <a:buNone/>
            </a:pPr>
            <a:r>
              <a:rPr lang="en-US" sz="1200" b="1" dirty="0"/>
              <a:t>Success Criteria</a:t>
            </a:r>
            <a:endParaRPr lang="en-US" sz="1200" dirty="0"/>
          </a:p>
          <a:p>
            <a:r>
              <a:rPr lang="en-US" sz="1500" dirty="0"/>
              <a:t>Decimal input works without duplication errors</a:t>
            </a:r>
          </a:p>
          <a:p>
            <a:r>
              <a:rPr lang="en-US" sz="1500" dirty="0"/>
              <a:t>Arithmetic with decimals produces correct results</a:t>
            </a:r>
          </a:p>
          <a:p>
            <a:r>
              <a:rPr lang="en-US" sz="1500" dirty="0"/>
              <a:t>Learner can explain the validation logic</a:t>
            </a:r>
          </a:p>
          <a:p>
            <a:pPr lvl="1"/>
            <a:endParaRPr lang="en-US" sz="1200" dirty="0"/>
          </a:p>
          <a:p>
            <a:pPr marL="0" indent="0">
              <a:buNone/>
            </a:pPr>
            <a:endParaRPr lang="en-US" sz="1200" dirty="0"/>
          </a:p>
        </p:txBody>
      </p:sp>
    </p:spTree>
    <p:extLst>
      <p:ext uri="{BB962C8B-B14F-4D97-AF65-F5344CB8AC3E}">
        <p14:creationId xmlns:p14="http://schemas.microsoft.com/office/powerpoint/2010/main" val="3338248478"/>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3F4-1F45-DC75-BA72-20E4EF9B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DD462-F65B-C265-9881-27546BD36E2B}"/>
              </a:ext>
            </a:extLst>
          </p:cNvPr>
          <p:cNvSpPr>
            <a:spLocks noGrp="1"/>
          </p:cNvSpPr>
          <p:nvPr>
            <p:ph type="title"/>
          </p:nvPr>
        </p:nvSpPr>
        <p:spPr/>
        <p:txBody>
          <a:bodyPr>
            <a:noAutofit/>
          </a:bodyPr>
          <a:lstStyle/>
          <a:p>
            <a:r>
              <a:rPr lang="en-US" sz="1800" dirty="0"/>
              <a:t>Lab: Calculator Project – Sign Toggle (+/–) </a:t>
            </a:r>
          </a:p>
        </p:txBody>
      </p:sp>
      <p:sp>
        <p:nvSpPr>
          <p:cNvPr id="3" name="Content Placeholder 2">
            <a:extLst>
              <a:ext uri="{FF2B5EF4-FFF2-40B4-BE49-F238E27FC236}">
                <a16:creationId xmlns:a16="http://schemas.microsoft.com/office/drawing/2014/main" id="{9012AC57-C0E1-B494-54F3-9D557C819736}"/>
              </a:ext>
            </a:extLst>
          </p:cNvPr>
          <p:cNvSpPr>
            <a:spLocks noGrp="1"/>
          </p:cNvSpPr>
          <p:nvPr>
            <p:ph idx="1"/>
          </p:nvPr>
        </p:nvSpPr>
        <p:spPr/>
        <p:txBody>
          <a:bodyPr numCol="2">
            <a:normAutofit/>
          </a:bodyPr>
          <a:lstStyle/>
          <a:p>
            <a:pPr marL="0" indent="0">
              <a:buNone/>
            </a:pPr>
            <a:r>
              <a:rPr lang="en-US" sz="1400" b="1" dirty="0"/>
              <a:t>Duration: 8 minutes</a:t>
            </a:r>
            <a:endParaRPr lang="en-US" sz="1400" dirty="0"/>
          </a:p>
          <a:p>
            <a:pPr marL="0" indent="0">
              <a:buNone/>
            </a:pPr>
            <a:br>
              <a:rPr lang="en-US" sz="1400" b="1" dirty="0"/>
            </a:br>
            <a:r>
              <a:rPr lang="en-US" sz="1400" b="1" dirty="0"/>
              <a:t>Objectives</a:t>
            </a:r>
            <a:br>
              <a:rPr lang="en-US" sz="1400" dirty="0"/>
            </a:br>
            <a:endParaRPr lang="en-US" sz="1400" dirty="0"/>
          </a:p>
          <a:p>
            <a:pPr lvl="1"/>
            <a:r>
              <a:rPr lang="en-US" sz="1200" dirty="0"/>
              <a:t>Use AI to generate logic for toggling numeric sign</a:t>
            </a:r>
          </a:p>
          <a:p>
            <a:pPr lvl="1"/>
            <a:r>
              <a:rPr lang="en-US" sz="1200" dirty="0"/>
              <a:t>Understand how sign toggling interacts with current input and stored values</a:t>
            </a:r>
          </a:p>
          <a:p>
            <a:pPr marL="0" indent="0">
              <a:buNone/>
            </a:pPr>
            <a:br>
              <a:rPr lang="en-US" sz="1400" dirty="0"/>
            </a:br>
            <a:r>
              <a:rPr lang="en-US" sz="1400" b="1" dirty="0"/>
              <a:t>Activities</a:t>
            </a:r>
            <a:br>
              <a:rPr lang="en-US" sz="1400" dirty="0"/>
            </a:br>
            <a:endParaRPr lang="en-US" sz="1400" dirty="0"/>
          </a:p>
          <a:p>
            <a:pPr marL="457200" indent="-457200">
              <a:buAutoNum type="arabicPeriod"/>
            </a:pPr>
            <a:r>
              <a:rPr lang="en-US" sz="1400" dirty="0"/>
              <a:t>Ask AI to generate a function that toggles sign on the active value</a:t>
            </a:r>
          </a:p>
          <a:p>
            <a:pPr marL="457200" indent="-457200">
              <a:buAutoNum type="arabicPeriod"/>
            </a:pPr>
            <a:r>
              <a:rPr lang="en-US" sz="1400" dirty="0"/>
              <a:t>Integrate the function into the input workflow</a:t>
            </a:r>
          </a:p>
          <a:p>
            <a:pPr marL="457200" indent="-457200">
              <a:buAutoNum type="arabicPeriod"/>
            </a:pPr>
            <a:r>
              <a:rPr lang="en-US" sz="1400" dirty="0"/>
              <a:t>Test sign toggling before and after entering digits</a:t>
            </a:r>
          </a:p>
          <a:p>
            <a:pPr lvl="1"/>
            <a:endParaRPr lang="en-US" sz="1200" dirty="0"/>
          </a:p>
          <a:p>
            <a:pPr marL="342900" lvl="1" indent="0">
              <a:buNone/>
            </a:pPr>
            <a:endParaRPr lang="en-US" sz="1200" dirty="0"/>
          </a:p>
          <a:p>
            <a:pPr marL="0" indent="0">
              <a:buNone/>
            </a:pPr>
            <a:r>
              <a:rPr lang="en-US" sz="1400" b="1" dirty="0"/>
              <a:t>Success Criteria</a:t>
            </a:r>
            <a:endParaRPr lang="en-US" sz="1400" dirty="0"/>
          </a:p>
          <a:p>
            <a:pPr lvl="1"/>
            <a:r>
              <a:rPr lang="en-US" sz="1200" dirty="0"/>
              <a:t>Sign toggle works consistently for integers and decimals</a:t>
            </a:r>
          </a:p>
          <a:p>
            <a:pPr lvl="1"/>
            <a:r>
              <a:rPr lang="en-US" sz="1200" dirty="0"/>
              <a:t>Learner can explain how the toggle affects stored vs. active value</a:t>
            </a:r>
          </a:p>
          <a:p>
            <a:pPr lvl="1"/>
            <a:endParaRPr lang="en-US" sz="1200" dirty="0"/>
          </a:p>
          <a:p>
            <a:pPr marL="0" indent="0">
              <a:buNone/>
            </a:pPr>
            <a:endParaRPr lang="en-US" sz="1400" dirty="0"/>
          </a:p>
        </p:txBody>
      </p:sp>
    </p:spTree>
    <p:extLst>
      <p:ext uri="{BB962C8B-B14F-4D97-AF65-F5344CB8AC3E}">
        <p14:creationId xmlns:p14="http://schemas.microsoft.com/office/powerpoint/2010/main" val="3217743249"/>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157E-F4E3-68C7-58C2-AE4A76B37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BD39-37A3-B75C-A5E9-7B06379F8234}"/>
              </a:ext>
            </a:extLst>
          </p:cNvPr>
          <p:cNvSpPr>
            <a:spLocks noGrp="1"/>
          </p:cNvSpPr>
          <p:nvPr>
            <p:ph type="title"/>
          </p:nvPr>
        </p:nvSpPr>
        <p:spPr/>
        <p:txBody>
          <a:bodyPr>
            <a:noAutofit/>
          </a:bodyPr>
          <a:lstStyle/>
          <a:p>
            <a:r>
              <a:rPr lang="en-US" sz="1800" dirty="0"/>
              <a:t>Lab: Calculator Project – Percentage </a:t>
            </a:r>
          </a:p>
        </p:txBody>
      </p:sp>
      <p:sp>
        <p:nvSpPr>
          <p:cNvPr id="3" name="Content Placeholder 2">
            <a:extLst>
              <a:ext uri="{FF2B5EF4-FFF2-40B4-BE49-F238E27FC236}">
                <a16:creationId xmlns:a16="http://schemas.microsoft.com/office/drawing/2014/main" id="{B1711D04-1023-99F2-A50F-D814C5BDE525}"/>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clarify how calculators interpret %</a:t>
            </a:r>
          </a:p>
          <a:p>
            <a:pPr lvl="1"/>
            <a:r>
              <a:rPr lang="en-US" dirty="0"/>
              <a:t>Implement percentage logic for common patterns</a:t>
            </a:r>
          </a:p>
          <a:p>
            <a:pPr lvl="1"/>
            <a:r>
              <a:rPr lang="en-US" dirty="0"/>
              <a:t>Validate behavior with AI‑generated examples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explain how % should behave in a standard calculator</a:t>
            </a:r>
          </a:p>
          <a:p>
            <a:pPr marL="457200" indent="-457200">
              <a:buAutoNum type="arabicPeriod"/>
            </a:pPr>
            <a:r>
              <a:rPr lang="en-US" dirty="0"/>
              <a:t>Generate code for:</a:t>
            </a:r>
          </a:p>
          <a:p>
            <a:r>
              <a:rPr lang="en-US" dirty="0"/>
              <a:t>X × Y%</a:t>
            </a:r>
          </a:p>
          <a:p>
            <a:r>
              <a:rPr lang="en-US" dirty="0"/>
              <a:t>Y + X%</a:t>
            </a:r>
          </a:p>
          <a:p>
            <a:r>
              <a:rPr lang="en-US" dirty="0"/>
              <a:t>Y – X%</a:t>
            </a:r>
          </a:p>
          <a:p>
            <a:pPr marL="0" indent="0">
              <a:buNone/>
            </a:pPr>
            <a:r>
              <a:rPr lang="en-US" dirty="0"/>
              <a:t>3. Test each pattern with AI‑generated sample values</a:t>
            </a:r>
          </a:p>
          <a:p>
            <a:pPr marL="342900" lvl="1" indent="0">
              <a:buNone/>
            </a:pPr>
            <a:endParaRPr lang="en-US" dirty="0"/>
          </a:p>
          <a:p>
            <a:pPr marL="0" indent="0">
              <a:buNone/>
            </a:pPr>
            <a:r>
              <a:rPr lang="en-US" b="1" dirty="0"/>
              <a:t>Success Criteria</a:t>
            </a:r>
            <a:endParaRPr lang="en-US" dirty="0"/>
          </a:p>
          <a:p>
            <a:r>
              <a:rPr lang="en-US" dirty="0"/>
              <a:t>Percentage operations match standard calculator behavior</a:t>
            </a:r>
          </a:p>
          <a:p>
            <a:r>
              <a:rPr lang="en-US" dirty="0"/>
              <a:t>Learner can articulate the interpretation rules for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88789610"/>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826-0DCA-B7B4-B285-BCFBD50B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3ADB7-3907-C6B6-40C0-E3BDE2F434BB}"/>
              </a:ext>
            </a:extLst>
          </p:cNvPr>
          <p:cNvSpPr>
            <a:spLocks noGrp="1"/>
          </p:cNvSpPr>
          <p:nvPr>
            <p:ph type="title"/>
          </p:nvPr>
        </p:nvSpPr>
        <p:spPr/>
        <p:txBody>
          <a:bodyPr>
            <a:noAutofit/>
          </a:bodyPr>
          <a:lstStyle/>
          <a:p>
            <a:r>
              <a:rPr lang="en-US" sz="1600" dirty="0"/>
              <a:t>Lab: Calculator Project – Memory Functions (M+, M–, MR, MC) </a:t>
            </a:r>
          </a:p>
        </p:txBody>
      </p:sp>
      <p:sp>
        <p:nvSpPr>
          <p:cNvPr id="3" name="Content Placeholder 2">
            <a:extLst>
              <a:ext uri="{FF2B5EF4-FFF2-40B4-BE49-F238E27FC236}">
                <a16:creationId xmlns:a16="http://schemas.microsoft.com/office/drawing/2014/main" id="{328719DD-18A4-E8C5-2A3C-1B2A9E06ABAA}"/>
              </a:ext>
            </a:extLst>
          </p:cNvPr>
          <p:cNvSpPr>
            <a:spLocks noGrp="1"/>
          </p:cNvSpPr>
          <p:nvPr>
            <p:ph idx="1"/>
          </p:nvPr>
        </p:nvSpPr>
        <p:spPr/>
        <p:txBody>
          <a:bodyPr numCol="2">
            <a:normAutofit fontScale="77500" lnSpcReduction="20000"/>
          </a:bodyPr>
          <a:lstStyle/>
          <a:p>
            <a:pPr marL="0" indent="0">
              <a:buNone/>
            </a:pPr>
            <a:r>
              <a:rPr lang="en-US" b="1" dirty="0"/>
              <a:t>Duration: 18 minutes</a:t>
            </a:r>
            <a:endParaRPr lang="en-US" dirty="0"/>
          </a:p>
          <a:p>
            <a:pPr marL="0" indent="0">
              <a:buNone/>
            </a:pPr>
            <a:br>
              <a:rPr lang="en-US" b="1" dirty="0"/>
            </a:br>
            <a:r>
              <a:rPr lang="en-US" b="1" dirty="0"/>
              <a:t>Objectives</a:t>
            </a:r>
            <a:br>
              <a:rPr lang="en-US" dirty="0"/>
            </a:br>
            <a:endParaRPr lang="en-US" dirty="0"/>
          </a:p>
          <a:p>
            <a:pPr lvl="1"/>
            <a:r>
              <a:rPr lang="en-US" dirty="0"/>
              <a:t>Use AI to design a memory subsystem</a:t>
            </a:r>
          </a:p>
          <a:p>
            <a:pPr lvl="1"/>
            <a:r>
              <a:rPr lang="en-US" dirty="0"/>
              <a:t>Implement memory add, subtract, recall, and clear</a:t>
            </a:r>
          </a:p>
          <a:p>
            <a:pPr lvl="1"/>
            <a:r>
              <a:rPr lang="en-US" dirty="0"/>
              <a:t>Validate memory behavior across multiple operations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propose a memory‑state structure</a:t>
            </a:r>
          </a:p>
          <a:p>
            <a:pPr marL="457200" indent="-457200">
              <a:buAutoNum type="arabicPeriod"/>
            </a:pPr>
            <a:r>
              <a:rPr lang="en-US" dirty="0"/>
              <a:t>Generate functions for M+, M–, MR, MC</a:t>
            </a:r>
          </a:p>
          <a:p>
            <a:pPr marL="457200" indent="-457200">
              <a:buAutoNum type="arabicPeriod"/>
            </a:pPr>
            <a:r>
              <a:rPr lang="en-US" dirty="0"/>
              <a:t>Integrate memory operations into the calculator workflow</a:t>
            </a:r>
          </a:p>
          <a:p>
            <a:pPr marL="457200" indent="-457200">
              <a:buAutoNum type="arabicPeriod"/>
            </a:pPr>
            <a:r>
              <a:rPr lang="en-US" dirty="0"/>
              <a:t>Test memory persistence across multiple calculations</a:t>
            </a:r>
          </a:p>
          <a:p>
            <a:pPr marL="342900" lvl="1" indent="0">
              <a:buNone/>
            </a:pPr>
            <a:endParaRPr lang="en-US" dirty="0"/>
          </a:p>
          <a:p>
            <a:pPr marL="0" indent="0">
              <a:buNone/>
            </a:pPr>
            <a:r>
              <a:rPr lang="en-US" b="1" dirty="0"/>
              <a:t>Success Criteria</a:t>
            </a:r>
            <a:endParaRPr lang="en-US" dirty="0"/>
          </a:p>
          <a:p>
            <a:pPr lvl="1"/>
            <a:r>
              <a:rPr lang="en-US" dirty="0"/>
              <a:t>Memory functions behave as expected</a:t>
            </a:r>
          </a:p>
          <a:p>
            <a:pPr lvl="1"/>
            <a:r>
              <a:rPr lang="en-US" dirty="0"/>
              <a:t>Learner can explain how memory state is stored and updated</a:t>
            </a:r>
          </a:p>
          <a:p>
            <a:pPr marL="0" indent="0">
              <a:buNone/>
            </a:pPr>
            <a:endParaRPr lang="en-US" dirty="0"/>
          </a:p>
        </p:txBody>
      </p:sp>
    </p:spTree>
    <p:extLst>
      <p:ext uri="{BB962C8B-B14F-4D97-AF65-F5344CB8AC3E}">
        <p14:creationId xmlns:p14="http://schemas.microsoft.com/office/powerpoint/2010/main" val="1558373822"/>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430C-DF52-AD69-9203-044E2B64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C8F1A-8157-5790-E29E-F4E45CCAD653}"/>
              </a:ext>
            </a:extLst>
          </p:cNvPr>
          <p:cNvSpPr>
            <a:spLocks noGrp="1"/>
          </p:cNvSpPr>
          <p:nvPr>
            <p:ph type="title"/>
          </p:nvPr>
        </p:nvSpPr>
        <p:spPr/>
        <p:txBody>
          <a:bodyPr>
            <a:noAutofit/>
          </a:bodyPr>
          <a:lstStyle/>
          <a:p>
            <a:r>
              <a:rPr lang="en-US" sz="1800" dirty="0"/>
              <a:t>Lab: Calculator Project – Error Handling</a:t>
            </a:r>
          </a:p>
        </p:txBody>
      </p:sp>
      <p:sp>
        <p:nvSpPr>
          <p:cNvPr id="3" name="Content Placeholder 2">
            <a:extLst>
              <a:ext uri="{FF2B5EF4-FFF2-40B4-BE49-F238E27FC236}">
                <a16:creationId xmlns:a16="http://schemas.microsoft.com/office/drawing/2014/main" id="{B67152FB-8C14-8EBD-E8E4-553CFC362784}"/>
              </a:ext>
            </a:extLst>
          </p:cNvPr>
          <p:cNvSpPr>
            <a:spLocks noGrp="1"/>
          </p:cNvSpPr>
          <p:nvPr>
            <p:ph idx="1"/>
          </p:nvPr>
        </p:nvSpPr>
        <p:spPr/>
        <p:txBody>
          <a:bodyPr numCol="2">
            <a:normAutofit fontScale="70000" lnSpcReduction="20000"/>
          </a:bodyPr>
          <a:lstStyle/>
          <a:p>
            <a:pPr marL="0" indent="0">
              <a:buNone/>
            </a:pPr>
            <a:r>
              <a:rPr lang="en-US" b="1" dirty="0"/>
              <a:t>Duration: 10 minutes</a:t>
            </a:r>
            <a:endParaRPr lang="en-US" dirty="0"/>
          </a:p>
          <a:p>
            <a:pPr marL="0" indent="0">
              <a:buNone/>
            </a:pPr>
            <a:br>
              <a:rPr lang="en-US" b="1" dirty="0"/>
            </a:br>
            <a:r>
              <a:rPr lang="en-US" b="1" dirty="0"/>
              <a:t>Objectives</a:t>
            </a:r>
            <a:br>
              <a:rPr lang="en-US" dirty="0"/>
            </a:br>
            <a:endParaRPr lang="en-US" dirty="0"/>
          </a:p>
          <a:p>
            <a:pPr lvl="1"/>
            <a:r>
              <a:rPr lang="en-US" dirty="0"/>
              <a:t>Use AI to identify common error conditions</a:t>
            </a:r>
          </a:p>
          <a:p>
            <a:pPr lvl="1"/>
            <a:r>
              <a:rPr lang="en-US" dirty="0"/>
              <a:t>Implement error messages and recovery logic</a:t>
            </a:r>
          </a:p>
          <a:p>
            <a:pPr lvl="1"/>
            <a:r>
              <a:rPr lang="en-US" dirty="0"/>
              <a:t>Ensure the calculator resets gracefully after errors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list typical calculator errors (e.g., divide by zero)</a:t>
            </a:r>
          </a:p>
          <a:p>
            <a:pPr marL="457200" indent="-457200">
              <a:buAutoNum type="arabicPeriod"/>
            </a:pPr>
            <a:r>
              <a:rPr lang="en-US" dirty="0"/>
              <a:t>Generate code for error detection and display</a:t>
            </a:r>
          </a:p>
          <a:p>
            <a:pPr marL="457200" indent="-457200">
              <a:buAutoNum type="arabicPeriod"/>
            </a:pPr>
            <a:r>
              <a:rPr lang="en-US" dirty="0"/>
              <a:t>Implement a reset path after an error</a:t>
            </a:r>
          </a:p>
          <a:p>
            <a:pPr marL="457200" indent="-457200">
              <a:buAutoNum type="arabicPeriod"/>
            </a:pPr>
            <a:r>
              <a:rPr lang="en-US" dirty="0"/>
              <a:t>Test error scenarios using AI‑generated test cases</a:t>
            </a:r>
          </a:p>
          <a:p>
            <a:pPr marL="342900" lvl="1" indent="0">
              <a:buNone/>
            </a:pPr>
            <a:endParaRPr lang="en-US" dirty="0"/>
          </a:p>
          <a:p>
            <a:r>
              <a:rPr lang="en-US" b="1" dirty="0"/>
              <a:t>Success Criteria</a:t>
            </a:r>
            <a:endParaRPr lang="en-US" dirty="0"/>
          </a:p>
          <a:p>
            <a:pPr lvl="1"/>
            <a:r>
              <a:rPr lang="en-US" dirty="0"/>
              <a:t>Errors are detected and displayed correctly</a:t>
            </a:r>
          </a:p>
          <a:p>
            <a:pPr lvl="1"/>
            <a:r>
              <a:rPr lang="en-US" dirty="0"/>
              <a:t>Calculator recovers cleanly after reset</a:t>
            </a:r>
          </a:p>
          <a:p>
            <a:pPr lvl="1"/>
            <a:r>
              <a:rPr lang="en-US" dirty="0"/>
              <a:t>Learner can describe the error‑handling flow</a:t>
            </a:r>
          </a:p>
          <a:p>
            <a:pPr lvl="1"/>
            <a:endParaRPr lang="en-US" dirty="0"/>
          </a:p>
          <a:p>
            <a:pPr marL="0" indent="0">
              <a:buNone/>
            </a:pPr>
            <a:endParaRPr lang="en-US" dirty="0"/>
          </a:p>
        </p:txBody>
      </p:sp>
    </p:spTree>
    <p:extLst>
      <p:ext uri="{BB962C8B-B14F-4D97-AF65-F5344CB8AC3E}">
        <p14:creationId xmlns:p14="http://schemas.microsoft.com/office/powerpoint/2010/main" val="195717076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94C3-5522-167B-1824-6B752E641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45ABD-9F11-7EE1-B9D7-9F50030AFE16}"/>
              </a:ext>
            </a:extLst>
          </p:cNvPr>
          <p:cNvSpPr>
            <a:spLocks noGrp="1"/>
          </p:cNvSpPr>
          <p:nvPr>
            <p:ph type="title"/>
          </p:nvPr>
        </p:nvSpPr>
        <p:spPr/>
        <p:txBody>
          <a:bodyPr>
            <a:noAutofit/>
          </a:bodyPr>
          <a:lstStyle/>
          <a:p>
            <a:r>
              <a:rPr lang="en-US" sz="1800" dirty="0"/>
              <a:t>Lab: Calculator Project – UI </a:t>
            </a:r>
          </a:p>
        </p:txBody>
      </p:sp>
      <p:sp>
        <p:nvSpPr>
          <p:cNvPr id="3" name="Content Placeholder 2">
            <a:extLst>
              <a:ext uri="{FF2B5EF4-FFF2-40B4-BE49-F238E27FC236}">
                <a16:creationId xmlns:a16="http://schemas.microsoft.com/office/drawing/2014/main" id="{C25F63E1-4A8C-9B09-D04E-04B7EADD6182}"/>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scaffold UI event handlers</a:t>
            </a:r>
          </a:p>
          <a:p>
            <a:pPr lvl="1"/>
            <a:r>
              <a:rPr lang="en-US" dirty="0"/>
              <a:t>Connect buttons to logic functions</a:t>
            </a:r>
          </a:p>
          <a:p>
            <a:pPr lvl="1"/>
            <a:r>
              <a:rPr lang="en-US" dirty="0"/>
              <a:t>Validate end‑to‑end user workflow</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event‑binding code for numeric and operator buttons</a:t>
            </a:r>
          </a:p>
          <a:p>
            <a:pPr marL="457200" indent="-457200">
              <a:buAutoNum type="arabicPeriod"/>
            </a:pPr>
            <a:r>
              <a:rPr lang="en-US" dirty="0"/>
              <a:t>Integrate logic functions from previous labs</a:t>
            </a:r>
          </a:p>
          <a:p>
            <a:pPr marL="457200" indent="-457200">
              <a:buAutoNum type="arabicPeriod"/>
            </a:pPr>
            <a:r>
              <a:rPr lang="en-US" dirty="0"/>
              <a:t>Test a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pPr marL="342900" lvl="1" indent="0">
              <a:buNone/>
            </a:pPr>
            <a:endParaRPr lang="en-US" dirty="0"/>
          </a:p>
          <a:p>
            <a:pPr marL="0" indent="0">
              <a:buNone/>
            </a:pPr>
            <a:r>
              <a:rPr lang="en-US" b="1" dirty="0"/>
              <a:t>Success Criteria</a:t>
            </a:r>
            <a:endParaRPr lang="en-US" dirty="0"/>
          </a:p>
          <a:p>
            <a:pPr lvl="1"/>
            <a:r>
              <a:rPr lang="en-US" dirty="0"/>
              <a:t>UI correctly triggers all calculator functions</a:t>
            </a:r>
          </a:p>
          <a:p>
            <a:pPr lvl="1"/>
            <a:r>
              <a:rPr lang="en-US" dirty="0"/>
              <a:t>Full workflow completes without errors</a:t>
            </a:r>
          </a:p>
          <a:p>
            <a:pPr lvl="1"/>
            <a:r>
              <a:rPr lang="en-US" dirty="0"/>
              <a:t>Learner can explain how UI events map to logic functions</a:t>
            </a:r>
          </a:p>
          <a:p>
            <a:pPr marL="0" indent="0">
              <a:buNone/>
            </a:pPr>
            <a:endParaRPr lang="en-US" dirty="0"/>
          </a:p>
        </p:txBody>
      </p:sp>
    </p:spTree>
    <p:extLst>
      <p:ext uri="{BB962C8B-B14F-4D97-AF65-F5344CB8AC3E}">
        <p14:creationId xmlns:p14="http://schemas.microsoft.com/office/powerpoint/2010/main" val="3474357282"/>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07D7-96D7-6DFB-9862-570F8D7D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FBCD-8460-327A-453B-23ED964EE34F}"/>
              </a:ext>
            </a:extLst>
          </p:cNvPr>
          <p:cNvSpPr>
            <a:spLocks noGrp="1"/>
          </p:cNvSpPr>
          <p:nvPr>
            <p:ph type="title"/>
          </p:nvPr>
        </p:nvSpPr>
        <p:spPr/>
        <p:txBody>
          <a:bodyPr>
            <a:noAutofit/>
          </a:bodyPr>
          <a:lstStyle/>
          <a:p>
            <a:r>
              <a:rPr lang="en-US" sz="1800" dirty="0"/>
              <a:t>Lab: Calculator Project – Add Trigonometric Functions </a:t>
            </a:r>
          </a:p>
        </p:txBody>
      </p:sp>
      <p:sp>
        <p:nvSpPr>
          <p:cNvPr id="3" name="Content Placeholder 2">
            <a:extLst>
              <a:ext uri="{FF2B5EF4-FFF2-40B4-BE49-F238E27FC236}">
                <a16:creationId xmlns:a16="http://schemas.microsoft.com/office/drawing/2014/main" id="{27F32117-34FF-0A09-5AA2-44249A520062}"/>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Integrate trigonometric functions into the calculator’s operation set</a:t>
            </a:r>
          </a:p>
          <a:p>
            <a:pPr lvl="1"/>
            <a:r>
              <a:rPr lang="en-US" dirty="0"/>
              <a:t>Use AI to generate math‑library wrappers and input‑parsing logic</a:t>
            </a:r>
          </a:p>
          <a:p>
            <a:pPr lvl="1"/>
            <a:r>
              <a:rPr lang="en-US" dirty="0"/>
              <a:t>Ensure correct handling of degrees vs. radians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functions for sin, cos, and tan using your language’s math library</a:t>
            </a:r>
          </a:p>
          <a:p>
            <a:pPr marL="457200" indent="-457200">
              <a:buAutoNum type="arabicPeriod"/>
            </a:pPr>
            <a:r>
              <a:rPr lang="en-US" dirty="0"/>
              <a:t>Prompt AI to propose a strategy for handling degree/radian mode</a:t>
            </a:r>
          </a:p>
          <a:p>
            <a:pPr marL="457200" indent="-457200">
              <a:buAutoNum type="arabicPeriod"/>
            </a:pPr>
            <a:r>
              <a:rPr lang="en-US" dirty="0"/>
              <a:t>Implement UI bindings or command triggers for each trig function</a:t>
            </a:r>
          </a:p>
          <a:p>
            <a:pPr marL="457200" indent="-457200">
              <a:buAutoNum type="arabicPeriod"/>
            </a:pPr>
            <a:r>
              <a:rPr lang="en-US" dirty="0"/>
              <a:t>Use AI to generate a table of sample inputs and expected outputs</a:t>
            </a:r>
          </a:p>
          <a:p>
            <a:pPr marL="342900" lvl="1" indent="0">
              <a:buNone/>
            </a:pPr>
            <a:endParaRPr lang="en-US" dirty="0"/>
          </a:p>
          <a:p>
            <a:pPr marL="0" indent="0">
              <a:buNone/>
            </a:pPr>
            <a:r>
              <a:rPr lang="en-US" b="1" dirty="0"/>
              <a:t>Success Criteria</a:t>
            </a:r>
            <a:endParaRPr lang="en-US" dirty="0"/>
          </a:p>
          <a:p>
            <a:pPr lvl="1"/>
            <a:r>
              <a:rPr lang="en-US" dirty="0"/>
              <a:t>Trig functions compute correct values in the selected angle mode</a:t>
            </a:r>
          </a:p>
          <a:p>
            <a:pPr lvl="1"/>
            <a:r>
              <a:rPr lang="en-US" dirty="0"/>
              <a:t>Degree/radian mode switching works consistently</a:t>
            </a:r>
          </a:p>
          <a:p>
            <a:pPr lvl="1"/>
            <a:r>
              <a:rPr lang="en-US" dirty="0"/>
              <a:t>UI or command triggers correctly call the trig functions</a:t>
            </a:r>
          </a:p>
          <a:p>
            <a:pPr lvl="1"/>
            <a:r>
              <a:rPr lang="en-US" dirty="0"/>
              <a:t>Learner can explain how AI‑generated code was validated and refine</a:t>
            </a:r>
          </a:p>
          <a:p>
            <a:pPr marL="0" indent="0">
              <a:buNone/>
            </a:pPr>
            <a:endParaRPr lang="en-US" dirty="0"/>
          </a:p>
        </p:txBody>
      </p:sp>
    </p:spTree>
    <p:extLst>
      <p:ext uri="{BB962C8B-B14F-4D97-AF65-F5344CB8AC3E}">
        <p14:creationId xmlns:p14="http://schemas.microsoft.com/office/powerpoint/2010/main" val="1917939042"/>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45DD-10DF-79A3-5833-E34B6161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872C-A8B4-2F9C-AF68-DAA69F36786B}"/>
              </a:ext>
            </a:extLst>
          </p:cNvPr>
          <p:cNvSpPr>
            <a:spLocks noGrp="1"/>
          </p:cNvSpPr>
          <p:nvPr>
            <p:ph type="title"/>
          </p:nvPr>
        </p:nvSpPr>
        <p:spPr/>
        <p:txBody>
          <a:bodyPr>
            <a:noAutofit/>
          </a:bodyPr>
          <a:lstStyle/>
          <a:p>
            <a:r>
              <a:rPr lang="en-US" sz="1800" dirty="0"/>
              <a:t>Lab: Calculator Project – Encapsulate Core Logic</a:t>
            </a:r>
          </a:p>
        </p:txBody>
      </p:sp>
      <p:sp>
        <p:nvSpPr>
          <p:cNvPr id="3" name="Content Placeholder 2">
            <a:extLst>
              <a:ext uri="{FF2B5EF4-FFF2-40B4-BE49-F238E27FC236}">
                <a16:creationId xmlns:a16="http://schemas.microsoft.com/office/drawing/2014/main" id="{6BBCAF68-9ACA-D6B2-0E27-ED293713CA13}"/>
              </a:ext>
            </a:extLst>
          </p:cNvPr>
          <p:cNvSpPr>
            <a:spLocks noGrp="1"/>
          </p:cNvSpPr>
          <p:nvPr>
            <p:ph idx="1"/>
          </p:nvPr>
        </p:nvSpPr>
        <p:spPr/>
        <p:txBody>
          <a:bodyPr numCol="2">
            <a:normAutofit fontScale="55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r>
              <a:rPr lang="en-US" dirty="0"/>
              <a:t>Separate UI concerns from computational logic</a:t>
            </a:r>
          </a:p>
          <a:p>
            <a:r>
              <a:rPr lang="en-US" dirty="0"/>
              <a:t>Use AI to scaffold a standalone “core logic” module/class</a:t>
            </a:r>
          </a:p>
          <a:p>
            <a:r>
              <a:rPr lang="en-US" dirty="0"/>
              <a:t>Ensure the UI communicates with the logic layer through a clean, well‑defined API</a:t>
            </a:r>
          </a:p>
          <a:p>
            <a:r>
              <a:rPr lang="en-US" dirty="0"/>
              <a:t>Validate that encapsulation improves testability and maintainability</a:t>
            </a:r>
          </a:p>
          <a:p>
            <a:pPr marL="0" indent="0">
              <a:buNone/>
            </a:pPr>
            <a:br>
              <a:rPr lang="en-US" dirty="0"/>
            </a:br>
            <a:r>
              <a:rPr lang="en-US" b="1" dirty="0"/>
              <a:t>Activities</a:t>
            </a:r>
            <a:br>
              <a:rPr lang="en-US" dirty="0"/>
            </a:br>
            <a:endParaRPr lang="en-US" dirty="0"/>
          </a:p>
          <a:p>
            <a:pPr marL="0" indent="0">
              <a:buNone/>
            </a:pPr>
            <a:r>
              <a:rPr lang="en-US" dirty="0"/>
              <a:t>1. - Ask AI to generate a dedicated component (e.g., </a:t>
            </a:r>
            <a:r>
              <a:rPr lang="en-US" dirty="0" err="1"/>
              <a:t>CalculatorEngine</a:t>
            </a:r>
            <a:r>
              <a:rPr lang="en-US" dirty="0"/>
              <a:t>, </a:t>
            </a:r>
            <a:r>
              <a:rPr lang="en-US" dirty="0" err="1"/>
              <a:t>CalculatorCore</a:t>
            </a:r>
            <a:r>
              <a:rPr lang="en-US" dirty="0"/>
              <a:t>) containing:</a:t>
            </a:r>
          </a:p>
          <a:p>
            <a:pPr lvl="1"/>
            <a:r>
              <a:rPr lang="en-US" dirty="0"/>
              <a:t>Arithmetic operations</a:t>
            </a:r>
          </a:p>
          <a:p>
            <a:pPr lvl="1"/>
            <a:r>
              <a:rPr lang="en-US" dirty="0"/>
              <a:t>State management</a:t>
            </a:r>
          </a:p>
          <a:p>
            <a:pPr lvl="1"/>
            <a:r>
              <a:rPr lang="en-US" dirty="0"/>
              <a:t>Trig/percentage/memory logic (if implemented)</a:t>
            </a:r>
          </a:p>
          <a:p>
            <a:pPr marL="0" indent="0">
              <a:buNone/>
            </a:pPr>
            <a:r>
              <a:rPr lang="en-US" dirty="0"/>
              <a:t>2. Review the AI‑generated API surface and refine naming, inputs, and return types</a:t>
            </a:r>
          </a:p>
          <a:p>
            <a:pPr marL="0" indent="0">
              <a:buNone/>
            </a:pPr>
            <a:r>
              <a:rPr lang="en-US" dirty="0"/>
              <a:t>3. Replace UI‑embedded logic with calls into the new component</a:t>
            </a:r>
          </a:p>
          <a:p>
            <a:pPr marL="342900" lvl="1" indent="0">
              <a:buNone/>
            </a:pPr>
            <a:endParaRPr lang="en-US" dirty="0"/>
          </a:p>
          <a:p>
            <a:pPr marL="0" indent="0">
              <a:buNone/>
            </a:pPr>
            <a:r>
              <a:rPr lang="en-US" b="1" dirty="0"/>
              <a:t>Success Criteria</a:t>
            </a:r>
            <a:endParaRPr lang="en-US" dirty="0"/>
          </a:p>
          <a:p>
            <a:pPr lvl="1"/>
            <a:r>
              <a:rPr lang="en-US" dirty="0"/>
              <a:t>All calculator features run through the external logic component</a:t>
            </a:r>
          </a:p>
          <a:p>
            <a:pPr lvl="1"/>
            <a:r>
              <a:rPr lang="en-US" dirty="0"/>
              <a:t>UI contains no computational logic — only event handling and display updates</a:t>
            </a:r>
          </a:p>
          <a:p>
            <a:pPr lvl="1"/>
            <a:r>
              <a:rPr lang="en-US" dirty="0"/>
              <a:t>Learner can explain how encapsulation improves modularity, reuse, and AI‑assisted development workflow</a:t>
            </a:r>
          </a:p>
          <a:p>
            <a:pPr marL="0" indent="0">
              <a:buNone/>
            </a:pPr>
            <a:endParaRPr lang="en-US" dirty="0"/>
          </a:p>
        </p:txBody>
      </p:sp>
    </p:spTree>
    <p:extLst>
      <p:ext uri="{BB962C8B-B14F-4D97-AF65-F5344CB8AC3E}">
        <p14:creationId xmlns:p14="http://schemas.microsoft.com/office/powerpoint/2010/main" val="1093865744"/>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F4DA-D2F8-4B60-9DE3-301DB8D6794A}"/>
              </a:ext>
            </a:extLst>
          </p:cNvPr>
          <p:cNvSpPr>
            <a:spLocks noGrp="1"/>
          </p:cNvSpPr>
          <p:nvPr>
            <p:ph type="title"/>
          </p:nvPr>
        </p:nvSpPr>
        <p:spPr/>
        <p:txBody>
          <a:bodyPr>
            <a:noAutofit/>
          </a:bodyPr>
          <a:lstStyle/>
          <a:p>
            <a:r>
              <a:rPr lang="en-US" sz="2800" dirty="0"/>
              <a:t>Lab: Calculator Project - Testing</a:t>
            </a:r>
          </a:p>
        </p:txBody>
      </p:sp>
      <p:sp>
        <p:nvSpPr>
          <p:cNvPr id="3" name="Content Placeholder 2">
            <a:extLst>
              <a:ext uri="{FF2B5EF4-FFF2-40B4-BE49-F238E27FC236}">
                <a16:creationId xmlns:a16="http://schemas.microsoft.com/office/drawing/2014/main" id="{7B7DCA1F-EBDC-7D8A-2582-15B2BE8B5E58}"/>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45-60 minutes</a:t>
            </a:r>
            <a:br>
              <a:rPr lang="en-US" dirty="0"/>
            </a:br>
            <a:endParaRPr lang="en-US" dirty="0"/>
          </a:p>
          <a:p>
            <a:pPr marL="0" indent="0">
              <a:buNone/>
            </a:pPr>
            <a:r>
              <a:rPr lang="en-US" b="1" dirty="0"/>
              <a:t>Objectives</a:t>
            </a:r>
            <a:br>
              <a:rPr lang="en-US" dirty="0"/>
            </a:br>
            <a:endParaRPr lang="en-US" dirty="0"/>
          </a:p>
          <a:p>
            <a:pPr lvl="1"/>
            <a:r>
              <a:rPr lang="en-US" dirty="0"/>
              <a:t>Generate unit tests with AI assistance</a:t>
            </a:r>
          </a:p>
          <a:p>
            <a:pPr lvl="1"/>
            <a:r>
              <a:rPr lang="en-US" dirty="0"/>
              <a:t>Identify quality issues in generated tests</a:t>
            </a:r>
          </a:p>
          <a:p>
            <a:pPr lvl="1"/>
            <a:r>
              <a:rPr lang="en-US" dirty="0"/>
              <a:t>Understand the importance of reviewing AI-generated tests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Generate Initial Tests:</a:t>
            </a:r>
            <a:br>
              <a:rPr lang="en-US" dirty="0"/>
            </a:br>
            <a:endParaRPr lang="en-US" dirty="0"/>
          </a:p>
          <a:p>
            <a:pPr lvl="1"/>
            <a:r>
              <a:rPr lang="en-US" dirty="0"/>
              <a:t>Prompt: "Create unit tests for the calculator operations"</a:t>
            </a:r>
          </a:p>
          <a:p>
            <a:pPr lvl="1"/>
            <a:r>
              <a:rPr lang="en-US" dirty="0"/>
              <a:t>Review generated test structure</a:t>
            </a:r>
          </a:p>
          <a:p>
            <a:pPr lvl="1"/>
            <a:r>
              <a:rPr lang="en-US" b="1" dirty="0"/>
              <a:t>Critical Review:</a:t>
            </a:r>
            <a:r>
              <a:rPr lang="en-US" dirty="0"/>
              <a:t> Are tests calling your calculator code?</a:t>
            </a:r>
            <a:br>
              <a:rPr lang="en-US" dirty="0"/>
            </a:br>
            <a:endParaRPr lang="en-US" dirty="0"/>
          </a:p>
          <a:p>
            <a:pPr marL="0" indent="0">
              <a:buNone/>
            </a:pPr>
            <a:r>
              <a:rPr lang="en-US" dirty="0"/>
              <a:t>2. </a:t>
            </a:r>
            <a:r>
              <a:rPr lang="en-US" b="1" dirty="0"/>
              <a:t>Fix Test Issues (Replicating Session Demo):</a:t>
            </a:r>
            <a:br>
              <a:rPr lang="en-US" dirty="0"/>
            </a:br>
            <a:endParaRPr lang="en-US" dirty="0"/>
          </a:p>
          <a:p>
            <a:pPr lvl="1"/>
            <a:r>
              <a:rPr lang="en-US" dirty="0"/>
              <a:t>If tests are too simple (like `1 + 1 = 2` without calling calculator):</a:t>
            </a:r>
          </a:p>
          <a:p>
            <a:pPr lvl="1"/>
            <a:r>
              <a:rPr lang="en-US" dirty="0"/>
              <a:t>Identify the problem</a:t>
            </a:r>
          </a:p>
          <a:p>
            <a:pPr lvl="1"/>
            <a:r>
              <a:rPr lang="en-US" dirty="0"/>
              <a:t>Ask Copilot to fix it: "Update tests to call Calculator class methods"</a:t>
            </a:r>
          </a:p>
          <a:p>
            <a:pPr lvl="1"/>
            <a:r>
              <a:rPr lang="en-US" dirty="0"/>
              <a:t>Verify tests now test actual implementation</a:t>
            </a:r>
            <a:br>
              <a:rPr lang="en-US" dirty="0"/>
            </a:br>
            <a:endParaRPr lang="en-US" dirty="0"/>
          </a:p>
          <a:p>
            <a:pPr marL="0" indent="0">
              <a:buNone/>
            </a:pPr>
            <a:r>
              <a:rPr lang="en-US" dirty="0"/>
              <a:t>3. </a:t>
            </a:r>
            <a:r>
              <a:rPr lang="en-US" b="1" dirty="0"/>
              <a:t>Run Tests:</a:t>
            </a:r>
            <a:br>
              <a:rPr lang="en-US" dirty="0"/>
            </a:br>
            <a:endParaRPr lang="en-US" dirty="0"/>
          </a:p>
          <a:p>
            <a:pPr lvl="1"/>
            <a:r>
              <a:rPr lang="en-US" dirty="0"/>
              <a:t>Execute test suite</a:t>
            </a:r>
          </a:p>
          <a:p>
            <a:pPr lvl="1"/>
            <a:r>
              <a:rPr lang="en-US" dirty="0"/>
              <a:t>Review test output</a:t>
            </a:r>
          </a:p>
          <a:p>
            <a:pPr lvl="1"/>
            <a:r>
              <a:rPr lang="en-US" dirty="0"/>
              <a:t>Debug any failing tests with Copilot's help</a:t>
            </a:r>
          </a:p>
          <a:p>
            <a:pPr marL="0" indent="0">
              <a:buNone/>
            </a:pPr>
            <a:r>
              <a:rPr lang="en-US" dirty="0"/>
              <a:t>4. </a:t>
            </a:r>
            <a:r>
              <a:rPr lang="en-US" b="1" dirty="0"/>
              <a:t>Add Edge Cases:</a:t>
            </a:r>
            <a:endParaRPr lang="en-US" dirty="0"/>
          </a:p>
          <a:p>
            <a:pPr lvl="1"/>
            <a:r>
              <a:rPr lang="en-US" dirty="0"/>
              <a:t>Prompt: "Add tests for edge cases like division by zero"</a:t>
            </a:r>
          </a:p>
          <a:p>
            <a:pPr lvl="1"/>
            <a:r>
              <a:rPr lang="en-US" dirty="0"/>
              <a:t>Verify exception handling tests are correct</a:t>
            </a:r>
            <a:br>
              <a:rPr lang="en-US" dirty="0"/>
            </a:br>
            <a:endParaRPr lang="en-US" dirty="0"/>
          </a:p>
          <a:p>
            <a:pPr marL="0" indent="0">
              <a:buNone/>
            </a:pPr>
            <a:r>
              <a:rPr lang="en-US" b="1" dirty="0"/>
              <a:t>Success Criteria</a:t>
            </a:r>
            <a:br>
              <a:rPr lang="en-US" dirty="0"/>
            </a:br>
            <a:endParaRPr lang="en-US" dirty="0"/>
          </a:p>
          <a:p>
            <a:pPr lvl="1"/>
            <a:r>
              <a:rPr lang="en-US" dirty="0"/>
              <a:t>Test suite with minimum 8 test cases</a:t>
            </a:r>
          </a:p>
          <a:p>
            <a:pPr lvl="1"/>
            <a:r>
              <a:rPr lang="en-US" dirty="0"/>
              <a:t>All tests call actual calculator methods (not just language arithmetic)</a:t>
            </a:r>
          </a:p>
          <a:p>
            <a:pPr lvl="1"/>
            <a:r>
              <a:rPr lang="en-US" dirty="0"/>
              <a:t>Tests include edge cases and error conditions</a:t>
            </a:r>
          </a:p>
          <a:p>
            <a:pPr lvl="1"/>
            <a:r>
              <a:rPr lang="en-US" dirty="0"/>
              <a:t>All tests pass</a:t>
            </a:r>
            <a:br>
              <a:rPr lang="en-US" dirty="0"/>
            </a:br>
            <a:endParaRPr lang="en-US" dirty="0"/>
          </a:p>
        </p:txBody>
      </p:sp>
    </p:spTree>
    <p:extLst>
      <p:ext uri="{BB962C8B-B14F-4D97-AF65-F5344CB8AC3E}">
        <p14:creationId xmlns:p14="http://schemas.microsoft.com/office/powerpoint/2010/main" val="352081084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DD32-5416-0192-2BE8-652D8E449EAB}"/>
              </a:ext>
            </a:extLst>
          </p:cNvPr>
          <p:cNvSpPr>
            <a:spLocks noGrp="1"/>
          </p:cNvSpPr>
          <p:nvPr>
            <p:ph type="title"/>
          </p:nvPr>
        </p:nvSpPr>
        <p:spPr/>
        <p:txBody>
          <a:bodyPr>
            <a:normAutofit fontScale="90000"/>
          </a:bodyPr>
          <a:lstStyle/>
          <a:p>
            <a:r>
              <a:rPr lang="en-US" dirty="0"/>
              <a:t>Lab: Code Coverage</a:t>
            </a:r>
          </a:p>
        </p:txBody>
      </p:sp>
      <p:sp>
        <p:nvSpPr>
          <p:cNvPr id="3" name="Content Placeholder 2">
            <a:extLst>
              <a:ext uri="{FF2B5EF4-FFF2-40B4-BE49-F238E27FC236}">
                <a16:creationId xmlns:a16="http://schemas.microsoft.com/office/drawing/2014/main" id="{13D595A6-0F81-9AB3-F4B8-F6F0EDD923EF}"/>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30-40 minutes</a:t>
            </a:r>
          </a:p>
          <a:p>
            <a:pPr marL="0" indent="0">
              <a:buNone/>
            </a:pPr>
            <a:r>
              <a:rPr lang="en-US" b="1" dirty="0"/>
              <a:t>Objectives</a:t>
            </a:r>
            <a:br>
              <a:rPr lang="en-US" dirty="0"/>
            </a:br>
            <a:endParaRPr lang="en-US" dirty="0"/>
          </a:p>
          <a:p>
            <a:pPr lvl="1"/>
            <a:r>
              <a:rPr lang="en-US" dirty="0"/>
              <a:t>Set up code coverage reporting</a:t>
            </a:r>
          </a:p>
          <a:p>
            <a:pPr lvl="1"/>
            <a:r>
              <a:rPr lang="en-US" dirty="0"/>
              <a:t>Interpret coverage results</a:t>
            </a:r>
          </a:p>
          <a:p>
            <a:pPr lvl="1"/>
            <a:r>
              <a:rPr lang="en-US" dirty="0"/>
              <a:t>Improve test coverage based on gaps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Enable Coverage Collection:</a:t>
            </a:r>
            <a:br>
              <a:rPr lang="en-US" dirty="0"/>
            </a:br>
            <a:endParaRPr lang="en-US" dirty="0"/>
          </a:p>
          <a:p>
            <a:pPr lvl="1"/>
            <a:r>
              <a:rPr lang="en-US" dirty="0"/>
              <a:t>Prompt: "Add code coverage reporting to my test project"</a:t>
            </a:r>
          </a:p>
          <a:p>
            <a:pPr lvl="1"/>
            <a:r>
              <a:rPr lang="en-US" dirty="0"/>
              <a:t>Review package dependencies added</a:t>
            </a:r>
          </a:p>
          <a:p>
            <a:pPr lvl="1"/>
            <a:r>
              <a:rPr lang="en-US" dirty="0"/>
              <a:t>Handle any NuGet/dependency issues with Copilot's help</a:t>
            </a:r>
            <a:br>
              <a:rPr lang="en-US" dirty="0"/>
            </a:br>
            <a:endParaRPr lang="en-US" dirty="0"/>
          </a:p>
          <a:p>
            <a:pPr marL="0" indent="0">
              <a:buNone/>
            </a:pPr>
            <a:r>
              <a:rPr lang="en-US" dirty="0"/>
              <a:t>2. </a:t>
            </a:r>
            <a:r>
              <a:rPr lang="en-US" b="1" dirty="0"/>
              <a:t>Generate Coverage Report:</a:t>
            </a:r>
            <a:br>
              <a:rPr lang="en-US" dirty="0"/>
            </a:br>
            <a:endParaRPr lang="en-US" dirty="0"/>
          </a:p>
          <a:p>
            <a:pPr lvl="1"/>
            <a:r>
              <a:rPr lang="en-US" dirty="0"/>
              <a:t>Run tests with coverage enabled</a:t>
            </a:r>
          </a:p>
          <a:p>
            <a:pPr lvl="1"/>
            <a:r>
              <a:rPr lang="en-US" dirty="0"/>
              <a:t>Review coverage percentage</a:t>
            </a:r>
          </a:p>
          <a:p>
            <a:pPr lvl="1"/>
            <a:r>
              <a:rPr lang="en-US" dirty="0"/>
              <a:t>Identify uncovered code paths</a:t>
            </a:r>
            <a:br>
              <a:rPr lang="en-US" dirty="0"/>
            </a:br>
            <a:endParaRPr lang="en-US" dirty="0"/>
          </a:p>
          <a:p>
            <a:pPr marL="0" indent="0">
              <a:buNone/>
            </a:pPr>
            <a:r>
              <a:rPr lang="en-US" dirty="0"/>
              <a:t>3. </a:t>
            </a:r>
            <a:r>
              <a:rPr lang="en-US" b="1" dirty="0"/>
              <a:t>Improve Coverage:</a:t>
            </a:r>
            <a:br>
              <a:rPr lang="en-US" b="1" dirty="0"/>
            </a:br>
            <a:endParaRPr lang="en-US" dirty="0"/>
          </a:p>
          <a:p>
            <a:pPr lvl="1"/>
            <a:r>
              <a:rPr lang="en-US" dirty="0"/>
              <a:t>Add tests for uncovered methods</a:t>
            </a:r>
          </a:p>
          <a:p>
            <a:pPr lvl="1"/>
            <a:r>
              <a:rPr lang="en-US" dirty="0"/>
              <a:t>Re-run coverage to verify improvement</a:t>
            </a:r>
          </a:p>
          <a:p>
            <a:pPr lvl="1"/>
            <a:r>
              <a:rPr lang="en-US" dirty="0"/>
              <a:t>Discuss: Is 100% coverage always necessary?</a:t>
            </a:r>
            <a:br>
              <a:rPr lang="en-US" dirty="0"/>
            </a:br>
            <a:endParaRPr lang="en-US" dirty="0"/>
          </a:p>
          <a:p>
            <a:pPr marL="0" indent="0">
              <a:buNone/>
            </a:pPr>
            <a:r>
              <a:rPr lang="en-US" b="1" dirty="0"/>
              <a:t>Success Criteria</a:t>
            </a:r>
            <a:br>
              <a:rPr lang="en-US" dirty="0"/>
            </a:br>
            <a:endParaRPr lang="en-US" dirty="0"/>
          </a:p>
          <a:p>
            <a:pPr lvl="1"/>
            <a:r>
              <a:rPr lang="en-US" dirty="0"/>
              <a:t>Code coverage reporting successfully configured</a:t>
            </a:r>
          </a:p>
          <a:p>
            <a:pPr lvl="1"/>
            <a:r>
              <a:rPr lang="en-US" dirty="0"/>
              <a:t>Can generate and read coverage reports</a:t>
            </a:r>
          </a:p>
          <a:p>
            <a:pPr lvl="1"/>
            <a:r>
              <a:rPr lang="en-US" dirty="0"/>
              <a:t>Achieved reasonable coverage (&gt;80% line coverage)</a:t>
            </a:r>
          </a:p>
          <a:p>
            <a:pPr lvl="1"/>
            <a:r>
              <a:rPr lang="en-US" dirty="0"/>
              <a:t>Understand what coverage metrics mean</a:t>
            </a:r>
            <a:br>
              <a:rPr lang="en-US" dirty="0"/>
            </a:br>
            <a:endParaRPr lang="en-US" dirty="0"/>
          </a:p>
          <a:p>
            <a:pPr marL="0" indent="0">
              <a:buNone/>
            </a:pPr>
            <a:r>
              <a:rPr lang="en-US" b="1" dirty="0"/>
              <a:t>Discussion Points</a:t>
            </a:r>
            <a:br>
              <a:rPr lang="en-US" dirty="0"/>
            </a:br>
            <a:endParaRPr lang="en-US" dirty="0"/>
          </a:p>
          <a:p>
            <a:pPr lvl="1"/>
            <a:r>
              <a:rPr lang="en-US" dirty="0"/>
              <a:t>Feature coverage vs. code coverage (as raised by Tom in the session)</a:t>
            </a:r>
          </a:p>
          <a:p>
            <a:pPr lvl="1"/>
            <a:r>
              <a:rPr lang="en-US" dirty="0"/>
              <a:t>When is test coverage sufficient?</a:t>
            </a:r>
          </a:p>
          <a:p>
            <a:pPr lvl="1"/>
            <a:r>
              <a:rPr lang="en-US" dirty="0"/>
              <a:t>Quality of tests vs. quantity</a:t>
            </a:r>
          </a:p>
        </p:txBody>
      </p:sp>
    </p:spTree>
    <p:extLst>
      <p:ext uri="{BB962C8B-B14F-4D97-AF65-F5344CB8AC3E}">
        <p14:creationId xmlns:p14="http://schemas.microsoft.com/office/powerpoint/2010/main" val="3773342207"/>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C8B-D3E3-71D7-A402-CA01FF5C0C63}"/>
              </a:ext>
            </a:extLst>
          </p:cNvPr>
          <p:cNvSpPr>
            <a:spLocks noGrp="1"/>
          </p:cNvSpPr>
          <p:nvPr>
            <p:ph type="title"/>
          </p:nvPr>
        </p:nvSpPr>
        <p:spPr/>
        <p:txBody>
          <a:bodyPr>
            <a:noAutofit/>
          </a:bodyPr>
          <a:lstStyle/>
          <a:p>
            <a:r>
              <a:rPr lang="en-US" sz="1800" dirty="0"/>
              <a:t>Lab: Dependency Management &amp; Troubleshooting</a:t>
            </a:r>
          </a:p>
        </p:txBody>
      </p:sp>
      <p:sp>
        <p:nvSpPr>
          <p:cNvPr id="3" name="Content Placeholder 2">
            <a:extLst>
              <a:ext uri="{FF2B5EF4-FFF2-40B4-BE49-F238E27FC236}">
                <a16:creationId xmlns:a16="http://schemas.microsoft.com/office/drawing/2014/main" id="{5AB9ABBA-D52B-ABC8-3782-CACA185F2E8C}"/>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Use Copilot to resolve dependency issues</a:t>
            </a:r>
          </a:p>
          <a:p>
            <a:pPr lvl="1"/>
            <a:r>
              <a:rPr lang="en-US" dirty="0"/>
              <a:t>Handle package restoration problems</a:t>
            </a:r>
          </a:p>
          <a:p>
            <a:pPr lvl="1"/>
            <a:r>
              <a:rPr lang="en-US" dirty="0"/>
              <a:t>Practice iterative problem-solving with AI</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Simulate or Identify a Dependency Issue:</a:t>
            </a:r>
            <a:br>
              <a:rPr lang="en-US" dirty="0"/>
            </a:br>
            <a:endParaRPr lang="en-US" dirty="0"/>
          </a:p>
          <a:p>
            <a:pPr lvl="1"/>
            <a:r>
              <a:rPr lang="en-US" dirty="0"/>
              <a:t>Introduce a version conflict (or use existing issue)</a:t>
            </a:r>
          </a:p>
          <a:p>
            <a:pPr lvl="1"/>
            <a:r>
              <a:rPr lang="en-US" dirty="0"/>
              <a:t>Prompt: "I'm getting [specific error]. How do I fix it?"</a:t>
            </a:r>
            <a:br>
              <a:rPr lang="en-US" dirty="0"/>
            </a:br>
            <a:endParaRPr lang="en-US" dirty="0"/>
          </a:p>
          <a:p>
            <a:pPr marL="0" indent="0">
              <a:buNone/>
            </a:pPr>
            <a:r>
              <a:rPr lang="en-US" dirty="0"/>
              <a:t>2. </a:t>
            </a:r>
            <a:r>
              <a:rPr lang="en-US" b="1" dirty="0"/>
              <a:t>Follow Copilot's Guidance:</a:t>
            </a:r>
            <a:br>
              <a:rPr lang="en-US" dirty="0"/>
            </a:br>
            <a:endParaRPr lang="en-US" dirty="0"/>
          </a:p>
          <a:p>
            <a:pPr lvl="1"/>
            <a:r>
              <a:rPr lang="en-US" dirty="0"/>
              <a:t>Review suggested solutions</a:t>
            </a:r>
          </a:p>
          <a:p>
            <a:pPr lvl="1"/>
            <a:r>
              <a:rPr lang="en-US" dirty="0"/>
              <a:t>Evaluate multiple approaches if offered</a:t>
            </a:r>
          </a:p>
          <a:p>
            <a:pPr lvl="1"/>
            <a:r>
              <a:rPr lang="en-US" dirty="0"/>
              <a:t>Choose best solution collaboratively</a:t>
            </a:r>
            <a:br>
              <a:rPr lang="en-US" dirty="0"/>
            </a:br>
            <a:endParaRPr lang="en-US" dirty="0"/>
          </a:p>
          <a:p>
            <a:pPr marL="0" indent="0">
              <a:buNone/>
            </a:pPr>
            <a:r>
              <a:rPr lang="en-US" dirty="0"/>
              <a:t>3. </a:t>
            </a:r>
            <a:r>
              <a:rPr lang="en-US" b="1" dirty="0"/>
              <a:t>Iterative Resolution:</a:t>
            </a:r>
            <a:br>
              <a:rPr lang="en-US" dirty="0"/>
            </a:br>
            <a:endParaRPr lang="en-US" dirty="0"/>
          </a:p>
          <a:p>
            <a:pPr lvl="1"/>
            <a:r>
              <a:rPr lang="en-US" dirty="0"/>
              <a:t>If first solution doesn't work, provide error details</a:t>
            </a:r>
          </a:p>
          <a:p>
            <a:pPr lvl="1"/>
            <a:r>
              <a:rPr lang="en-US" dirty="0"/>
              <a:t>Continue conversation until resolved</a:t>
            </a:r>
            <a:br>
              <a:rPr lang="en-US" dirty="0"/>
            </a:br>
            <a:endParaRPr lang="en-US" dirty="0"/>
          </a:p>
          <a:p>
            <a:pPr marL="0" indent="0">
              <a:buNone/>
            </a:pPr>
            <a:r>
              <a:rPr lang="en-US" dirty="0"/>
              <a:t>4. </a:t>
            </a:r>
            <a:r>
              <a:rPr lang="en-US" b="1" dirty="0"/>
              <a:t>Common Issues to Practice:</a:t>
            </a:r>
            <a:br>
              <a:rPr lang="en-US" b="1" dirty="0"/>
            </a:br>
            <a:endParaRPr lang="en-US" dirty="0"/>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br>
              <a:rPr lang="en-US" dirty="0"/>
            </a:br>
            <a:endParaRPr lang="en-US" dirty="0"/>
          </a:p>
          <a:p>
            <a:pPr marL="0" indent="0">
              <a:buNone/>
            </a:pPr>
            <a:r>
              <a:rPr lang="en-US" b="1" dirty="0"/>
              <a:t>Success Criteria</a:t>
            </a:r>
            <a:br>
              <a:rPr lang="en-US" dirty="0"/>
            </a:br>
            <a:endParaRPr lang="en-US" dirty="0"/>
          </a:p>
          <a:p>
            <a:pPr lvl="1"/>
            <a:r>
              <a:rPr lang="en-US" dirty="0"/>
              <a:t>Successfully resolved at least one dependency issue</a:t>
            </a:r>
          </a:p>
          <a:p>
            <a:pPr lvl="1"/>
            <a:r>
              <a:rPr lang="en-US" dirty="0"/>
              <a:t>Understand how to provide error context to Copilot</a:t>
            </a:r>
          </a:p>
          <a:p>
            <a:pPr lvl="1"/>
            <a:r>
              <a:rPr lang="en-US" dirty="0"/>
              <a:t>Practiced iterative problem-solving approach</a:t>
            </a:r>
            <a:br>
              <a:rPr lang="en-US" dirty="0"/>
            </a:br>
            <a:endParaRPr lang="en-US" dirty="0"/>
          </a:p>
          <a:p>
            <a:pPr marL="0" indent="0">
              <a:buNone/>
            </a:pPr>
            <a:r>
              <a:rPr lang="en-US" b="1" dirty="0"/>
              <a:t>Real-World Scenario</a:t>
            </a:r>
            <a:br>
              <a:rPr lang="en-US" dirty="0"/>
            </a:br>
            <a:endParaRPr lang="en-US" dirty="0"/>
          </a:p>
          <a:p>
            <a:pPr lvl="1"/>
            <a:r>
              <a:rPr lang="en-US" dirty="0"/>
              <a:t>This lab replicates the exact dependency challenges encountered in the training session:</a:t>
            </a:r>
          </a:p>
          <a:p>
            <a:r>
              <a:rPr lang="en-US" dirty="0"/>
              <a:t>- Updating test project to target .NET 8</a:t>
            </a:r>
          </a:p>
          <a:p>
            <a:r>
              <a:rPr lang="en-US" dirty="0"/>
              <a:t>- Resolving NuGet.org package source mapping</a:t>
            </a:r>
          </a:p>
          <a:p>
            <a:r>
              <a:rPr lang="en-US" dirty="0"/>
              <a:t>- </a:t>
            </a:r>
            <a:r>
              <a:rPr lang="en-US" dirty="0" err="1"/>
              <a:t>MSTest</a:t>
            </a:r>
            <a:r>
              <a:rPr lang="en-US" dirty="0"/>
              <a:t> adapter compatibility issues</a:t>
            </a:r>
          </a:p>
          <a:p>
            <a:endParaRPr lang="en-US" dirty="0"/>
          </a:p>
        </p:txBody>
      </p:sp>
    </p:spTree>
    <p:extLst>
      <p:ext uri="{BB962C8B-B14F-4D97-AF65-F5344CB8AC3E}">
        <p14:creationId xmlns:p14="http://schemas.microsoft.com/office/powerpoint/2010/main" val="2430478124"/>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CBA-11EE-C725-BBC3-C970DCAF0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E4869-93F4-2A2D-EC8C-393536C00AC3}"/>
              </a:ext>
            </a:extLst>
          </p:cNvPr>
          <p:cNvSpPr>
            <a:spLocks noGrp="1"/>
          </p:cNvSpPr>
          <p:nvPr>
            <p:ph type="title"/>
          </p:nvPr>
        </p:nvSpPr>
        <p:spPr/>
        <p:txBody>
          <a:bodyPr>
            <a:noAutofit/>
          </a:bodyPr>
          <a:lstStyle/>
          <a:p>
            <a:r>
              <a:rPr lang="en-US" sz="2000" dirty="0"/>
              <a:t>Lab: Security Review</a:t>
            </a:r>
          </a:p>
        </p:txBody>
      </p:sp>
      <p:sp>
        <p:nvSpPr>
          <p:cNvPr id="3" name="Content Placeholder 2">
            <a:extLst>
              <a:ext uri="{FF2B5EF4-FFF2-40B4-BE49-F238E27FC236}">
                <a16:creationId xmlns:a16="http://schemas.microsoft.com/office/drawing/2014/main" id="{29D8D22B-0901-C5F2-0D5C-4639C7475C66}"/>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Security Review:</a:t>
            </a:r>
            <a:br>
              <a:rPr lang="en-US" dirty="0"/>
            </a:br>
            <a:endParaRPr lang="en-US" dirty="0"/>
          </a:p>
          <a:p>
            <a:pPr lvl="1"/>
            <a:r>
              <a:rPr lang="en-US" dirty="0"/>
              <a:t>Prompt: "Review this code for security vulnerabilities"</a:t>
            </a:r>
          </a:p>
          <a:p>
            <a:pPr lvl="1"/>
            <a:r>
              <a:rPr lang="en-US" dirty="0"/>
              <a:t>Address any identified issues</a:t>
            </a:r>
          </a:p>
          <a:p>
            <a:pPr lvl="1"/>
            <a:r>
              <a:rPr lang="en-US" dirty="0"/>
              <a:t>Add input validation where missing</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70067203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A241-5288-5B68-7313-C1234975E270}"/>
              </a:ext>
            </a:extLst>
          </p:cNvPr>
          <p:cNvSpPr>
            <a:spLocks noGrp="1"/>
          </p:cNvSpPr>
          <p:nvPr>
            <p:ph type="title"/>
          </p:nvPr>
        </p:nvSpPr>
        <p:spPr/>
        <p:txBody>
          <a:bodyPr>
            <a:noAutofit/>
          </a:bodyPr>
          <a:lstStyle/>
          <a:p>
            <a:r>
              <a:rPr lang="en-US" sz="2000" dirty="0"/>
              <a:t>Lab: Code Quality Review</a:t>
            </a:r>
          </a:p>
        </p:txBody>
      </p:sp>
      <p:sp>
        <p:nvSpPr>
          <p:cNvPr id="3" name="Content Placeholder 2">
            <a:extLst>
              <a:ext uri="{FF2B5EF4-FFF2-40B4-BE49-F238E27FC236}">
                <a16:creationId xmlns:a16="http://schemas.microsoft.com/office/drawing/2014/main" id="{8A9E1914-63E1-C502-BC85-BE8A86D0F6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Code Quality Check:</a:t>
            </a:r>
            <a:br>
              <a:rPr lang="en-US" dirty="0"/>
            </a:br>
            <a:endParaRPr lang="en-US" dirty="0"/>
          </a:p>
          <a:p>
            <a:pPr lvl="1"/>
            <a:r>
              <a:rPr lang="en-US" dirty="0"/>
              <a:t>Prompt: "Suggest improvements for code quality and maintainability"</a:t>
            </a:r>
          </a:p>
          <a:p>
            <a:pPr lvl="1"/>
            <a:r>
              <a:rPr lang="en-US" dirty="0"/>
              <a:t>Evaluate suggestions critically</a:t>
            </a:r>
          </a:p>
          <a:p>
            <a:pPr lvl="1"/>
            <a:r>
              <a:rPr lang="en-US" dirty="0"/>
              <a:t>Implement valuable improvements</a:t>
            </a:r>
            <a:br>
              <a:rPr lang="en-US" dirty="0"/>
            </a:br>
            <a:endParaRPr lang="en-US" dirty="0"/>
          </a:p>
          <a:p>
            <a:pPr marL="0" indent="0">
              <a:buNone/>
            </a:pP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69862650"/>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799D-3CF4-C6DF-B4E2-5D3CFD5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C7433-521A-CF3D-7147-964A8DF9CE8D}"/>
              </a:ext>
            </a:extLst>
          </p:cNvPr>
          <p:cNvSpPr>
            <a:spLocks noGrp="1"/>
          </p:cNvSpPr>
          <p:nvPr>
            <p:ph type="title"/>
          </p:nvPr>
        </p:nvSpPr>
        <p:spPr/>
        <p:txBody>
          <a:bodyPr>
            <a:noAutofit/>
          </a:bodyPr>
          <a:lstStyle/>
          <a:p>
            <a:r>
              <a:rPr lang="en-US" sz="2000" dirty="0"/>
              <a:t>Lab: Documentation</a:t>
            </a:r>
          </a:p>
        </p:txBody>
      </p:sp>
      <p:sp>
        <p:nvSpPr>
          <p:cNvPr id="3" name="Content Placeholder 2">
            <a:extLst>
              <a:ext uri="{FF2B5EF4-FFF2-40B4-BE49-F238E27FC236}">
                <a16:creationId xmlns:a16="http://schemas.microsoft.com/office/drawing/2014/main" id="{02CA00A4-5CFB-8DD1-7A12-A53FCC257E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Add documentation to a project</a:t>
            </a:r>
          </a:p>
          <a:p>
            <a:pPr lvl="1"/>
            <a:r>
              <a:rPr lang="en-US" dirty="0"/>
              <a:t>Update existing documentation</a:t>
            </a:r>
            <a:br>
              <a:rPr lang="en-US" dirty="0"/>
            </a:br>
            <a:endParaRPr lang="en-US" b="1" dirty="0"/>
          </a:p>
          <a:p>
            <a:pPr marL="0" indent="0">
              <a:buNone/>
            </a:pPr>
            <a:r>
              <a:rPr lang="en-US" b="1" dirty="0"/>
              <a:t>Activities</a:t>
            </a:r>
            <a:br>
              <a:rPr lang="en-US" dirty="0"/>
            </a:br>
            <a:endParaRPr lang="en-US" dirty="0"/>
          </a:p>
          <a:p>
            <a:pPr marL="0" indent="0">
              <a:buNone/>
            </a:pPr>
            <a:r>
              <a:rPr lang="en-US" dirty="0"/>
              <a:t>1. </a:t>
            </a:r>
            <a:r>
              <a:rPr lang="en-US" b="1" dirty="0"/>
              <a:t>Documentation:</a:t>
            </a:r>
            <a:br>
              <a:rPr lang="en-US" dirty="0"/>
            </a:br>
            <a:endParaRPr lang="en-US" dirty="0"/>
          </a:p>
          <a:p>
            <a:pPr lvl="1"/>
            <a:r>
              <a:rPr lang="en-US" dirty="0"/>
              <a:t>Ask Copilot to generate XML/doc comments</a:t>
            </a:r>
          </a:p>
          <a:p>
            <a:pPr lvl="1"/>
            <a:r>
              <a:rPr lang="en-US" dirty="0"/>
              <a:t>Review for accuracy and completeness</a:t>
            </a:r>
          </a:p>
          <a:p>
            <a:pPr lvl="1"/>
            <a:r>
              <a:rPr lang="en-US" dirty="0"/>
              <a:t>Add README with usage instruction</a:t>
            </a:r>
          </a:p>
          <a:p>
            <a:pPr lvl="1"/>
            <a:r>
              <a:rPr lang="en-US" dirty="0"/>
              <a:t>Ask AI to update existing documentation</a:t>
            </a: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140045480"/>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1A18-3B58-E0A3-DF73-2751E4EF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8E203-04DE-BB8E-42B2-DF48D0FD9A86}"/>
              </a:ext>
            </a:extLst>
          </p:cNvPr>
          <p:cNvSpPr>
            <a:spLocks noGrp="1"/>
          </p:cNvSpPr>
          <p:nvPr>
            <p:ph type="title"/>
          </p:nvPr>
        </p:nvSpPr>
        <p:spPr/>
        <p:txBody>
          <a:bodyPr>
            <a:noAutofit/>
          </a:bodyPr>
          <a:lstStyle/>
          <a:p>
            <a:r>
              <a:rPr lang="en-US" sz="2000" dirty="0"/>
              <a:t>Lab: Refactoring</a:t>
            </a:r>
          </a:p>
        </p:txBody>
      </p:sp>
      <p:sp>
        <p:nvSpPr>
          <p:cNvPr id="3" name="Content Placeholder 2">
            <a:extLst>
              <a:ext uri="{FF2B5EF4-FFF2-40B4-BE49-F238E27FC236}">
                <a16:creationId xmlns:a16="http://schemas.microsoft.com/office/drawing/2014/main" id="{819C4D3F-0057-761C-E6C7-270AFD9749C3}"/>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Refactoring Exercise:</a:t>
            </a:r>
            <a:endParaRPr lang="en-US" dirty="0"/>
          </a:p>
          <a:p>
            <a:pPr lvl="1"/>
            <a:r>
              <a:rPr lang="en-US" dirty="0"/>
              <a:t>Ask Copilot for alternative implementation approaches</a:t>
            </a:r>
          </a:p>
          <a:p>
            <a:pPr lvl="1"/>
            <a:r>
              <a:rPr lang="en-US" dirty="0"/>
              <a:t>Compare different solutions</a:t>
            </a:r>
          </a:p>
          <a:p>
            <a:pPr lvl="1"/>
            <a:r>
              <a:rPr lang="en-US" dirty="0"/>
              <a:t>Discuss trade-offs (as mentioned in session)</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Comprehensive documentation added</a:t>
            </a:r>
          </a:p>
          <a:p>
            <a:pPr lvl="1"/>
            <a:r>
              <a:rPr lang="en-US" dirty="0"/>
              <a:t>At least one refactoring improvement implemented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251852801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8685-4A25-C580-568F-0B63C5D5901F}"/>
              </a:ext>
            </a:extLst>
          </p:cNvPr>
          <p:cNvSpPr>
            <a:spLocks noGrp="1"/>
          </p:cNvSpPr>
          <p:nvPr>
            <p:ph type="title"/>
          </p:nvPr>
        </p:nvSpPr>
        <p:spPr/>
        <p:txBody>
          <a:bodyPr>
            <a:normAutofit fontScale="90000"/>
          </a:bodyPr>
          <a:lstStyle/>
          <a:p>
            <a:r>
              <a:rPr lang="en-US" dirty="0"/>
              <a:t>Lab: Model Comparison Exercise</a:t>
            </a:r>
          </a:p>
        </p:txBody>
      </p:sp>
      <p:sp>
        <p:nvSpPr>
          <p:cNvPr id="3" name="Content Placeholder 2">
            <a:extLst>
              <a:ext uri="{FF2B5EF4-FFF2-40B4-BE49-F238E27FC236}">
                <a16:creationId xmlns:a16="http://schemas.microsoft.com/office/drawing/2014/main" id="{93958479-B067-F342-5A04-053B2822DE4E}"/>
              </a:ext>
            </a:extLst>
          </p:cNvPr>
          <p:cNvSpPr>
            <a:spLocks noGrp="1"/>
          </p:cNvSpPr>
          <p:nvPr>
            <p:ph idx="1"/>
          </p:nvPr>
        </p:nvSpPr>
        <p:spPr/>
        <p:txBody>
          <a:bodyPr numCol="2">
            <a:normAutofit fontScale="325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Compare outputs from different AI models</a:t>
            </a:r>
          </a:p>
          <a:p>
            <a:pPr lvl="1"/>
            <a:r>
              <a:rPr lang="en-US" dirty="0"/>
              <a:t>Understand when to use premium vs standard models</a:t>
            </a:r>
          </a:p>
          <a:p>
            <a:pPr lvl="1"/>
            <a:r>
              <a:rPr lang="en-US" dirty="0"/>
              <a:t>Monitor token usage</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Same Prompt, Different Models:</a:t>
            </a:r>
            <a:br>
              <a:rPr lang="en-US" dirty="0"/>
            </a:br>
            <a:endParaRPr lang="en-US" dirty="0"/>
          </a:p>
          <a:p>
            <a:pPr lvl="1"/>
            <a:r>
              <a:rPr lang="en-US" dirty="0"/>
              <a:t>Choose a coding task (e.g., "implement bubble sort")</a:t>
            </a:r>
          </a:p>
          <a:p>
            <a:pPr lvl="1"/>
            <a:r>
              <a:rPr lang="en-US" dirty="0"/>
              <a:t>Try with GPT-4 (standard - unlimited)</a:t>
            </a:r>
          </a:p>
          <a:p>
            <a:pPr lvl="1"/>
            <a:r>
              <a:rPr lang="en-US" dirty="0"/>
              <a:t>Try with Claude Sonnet (premium - 1x token)</a:t>
            </a:r>
          </a:p>
          <a:p>
            <a:pPr lvl="1"/>
            <a:r>
              <a:rPr lang="en-US" dirty="0"/>
              <a:t>Compare results for quality, style, completeness</a:t>
            </a:r>
            <a:br>
              <a:rPr lang="en-US" dirty="0"/>
            </a:br>
            <a:endParaRPr lang="en-US" dirty="0"/>
          </a:p>
          <a:p>
            <a:pPr marL="0" indent="0">
              <a:buNone/>
            </a:pPr>
            <a:r>
              <a:rPr lang="en-US" dirty="0"/>
              <a:t>2. </a:t>
            </a:r>
            <a:r>
              <a:rPr lang="en-US" b="1" dirty="0"/>
              <a:t>Token Usage Analysis:</a:t>
            </a:r>
            <a:br>
              <a:rPr lang="en-US" dirty="0"/>
            </a:br>
            <a:endParaRPr lang="en-US" dirty="0"/>
          </a:p>
          <a:p>
            <a:pPr lvl="1"/>
            <a:r>
              <a:rPr lang="en-US" dirty="0"/>
              <a:t>Check premium token bar before and after</a:t>
            </a:r>
          </a:p>
          <a:p>
            <a:pPr lvl="1"/>
            <a:r>
              <a:rPr lang="en-US" dirty="0"/>
              <a:t>Calculate tokens consumed</a:t>
            </a:r>
          </a:p>
          <a:p>
            <a:pPr lvl="1"/>
            <a:r>
              <a:rPr lang="en-US" dirty="0"/>
              <a:t>Discuss: Was premium model worth the cost?</a:t>
            </a:r>
            <a:br>
              <a:rPr lang="en-US" dirty="0"/>
            </a:br>
            <a:endParaRPr lang="en-US" dirty="0"/>
          </a:p>
          <a:p>
            <a:pPr marL="0" indent="0">
              <a:buNone/>
            </a:pPr>
            <a:r>
              <a:rPr lang="en-US" dirty="0"/>
              <a:t>3. </a:t>
            </a:r>
            <a:r>
              <a:rPr lang="en-US" b="1" dirty="0"/>
              <a:t>Best Use Cases:</a:t>
            </a:r>
            <a:br>
              <a:rPr lang="en-US" dirty="0"/>
            </a:br>
            <a:endParaRPr lang="en-US" dirty="0"/>
          </a:p>
          <a:p>
            <a:pPr lvl="1"/>
            <a:r>
              <a:rPr lang="en-US" dirty="0"/>
              <a:t>Identify tasks where standard models suffice</a:t>
            </a:r>
          </a:p>
          <a:p>
            <a:pPr lvl="1"/>
            <a:r>
              <a:rPr lang="en-US" dirty="0"/>
              <a:t>Identify tasks requiring premium models</a:t>
            </a:r>
          </a:p>
          <a:p>
            <a:pPr lvl="1"/>
            <a:r>
              <a:rPr lang="en-US" dirty="0"/>
              <a:t>Create personal guidelines for model selection</a:t>
            </a:r>
            <a:br>
              <a:rPr lang="en-US" dirty="0"/>
            </a:br>
            <a:endParaRPr lang="en-US" dirty="0"/>
          </a:p>
          <a:p>
            <a:pPr marL="0" indent="0">
              <a:buNone/>
            </a:pPr>
            <a:r>
              <a:rPr lang="en-US" dirty="0"/>
              <a:t>4. </a:t>
            </a:r>
            <a:r>
              <a:rPr lang="en-US" b="1" dirty="0"/>
              <a:t>Ask Mode Advantage:</a:t>
            </a:r>
            <a:endParaRPr lang="en-US" dirty="0"/>
          </a:p>
          <a:p>
            <a:pPr lvl="1"/>
            <a:r>
              <a:rPr lang="en-US" dirty="0"/>
              <a:t>Use Ask mode with premium models (no token cost)</a:t>
            </a:r>
          </a:p>
          <a:p>
            <a:pPr lvl="1"/>
            <a:r>
              <a:rPr lang="en-US" dirty="0"/>
              <a:t>Compare to Agent mode token consumption</a:t>
            </a:r>
            <a:br>
              <a:rPr lang="en-US" dirty="0"/>
            </a:br>
            <a:endParaRPr lang="en-US" dirty="0"/>
          </a:p>
          <a:p>
            <a:pPr marL="0" indent="0">
              <a:buNone/>
            </a:pPr>
            <a:r>
              <a:rPr lang="en-US" b="1" dirty="0"/>
              <a:t>Success Criteria</a:t>
            </a:r>
            <a:br>
              <a:rPr lang="en-US" dirty="0"/>
            </a:br>
            <a:endParaRPr lang="en-US" dirty="0"/>
          </a:p>
          <a:p>
            <a:pPr lvl="1"/>
            <a:r>
              <a:rPr lang="en-US" dirty="0"/>
              <a:t>Compared at least 2 different models</a:t>
            </a:r>
          </a:p>
          <a:p>
            <a:pPr lvl="1"/>
            <a:r>
              <a:rPr lang="en-US" dirty="0"/>
              <a:t>Understand token consumption impact</a:t>
            </a:r>
          </a:p>
          <a:p>
            <a:pPr lvl="1"/>
            <a:r>
              <a:rPr lang="en-US" dirty="0"/>
              <a:t>Can make informed model selection decisions</a:t>
            </a:r>
            <a:br>
              <a:rPr lang="en-US" dirty="0"/>
            </a:br>
            <a:endParaRPr lang="en-US" dirty="0"/>
          </a:p>
          <a:p>
            <a:pPr marL="0" indent="0">
              <a:buNone/>
            </a:pPr>
            <a:r>
              <a:rPr lang="en-US" b="1" dirty="0"/>
              <a:t>Token Economics</a:t>
            </a:r>
            <a:br>
              <a:rPr lang="en-US" dirty="0"/>
            </a:br>
            <a:endParaRPr lang="en-US" dirty="0"/>
          </a:p>
          <a:p>
            <a:pPr lvl="1"/>
            <a:r>
              <a:rPr lang="en-US" b="1" dirty="0"/>
              <a:t>Standard models (unlimited):</a:t>
            </a:r>
            <a:r>
              <a:rPr lang="en-US" dirty="0"/>
              <a:t> ChatGPT-4</a:t>
            </a:r>
          </a:p>
          <a:p>
            <a:pPr lvl="1"/>
            <a:r>
              <a:rPr lang="en-US" b="1" dirty="0"/>
              <a:t>Premium tokens (counted):</a:t>
            </a:r>
            <a:endParaRPr lang="en-US" dirty="0"/>
          </a:p>
          <a:p>
            <a:pPr lvl="1"/>
            <a:r>
              <a:rPr lang="en-US" dirty="0"/>
              <a:t>Claude Haiku 4.5: 1/3 token per request</a:t>
            </a:r>
          </a:p>
          <a:p>
            <a:pPr lvl="1"/>
            <a:r>
              <a:rPr lang="en-US" dirty="0"/>
              <a:t>Claude Sonnet: 1x token per request</a:t>
            </a:r>
          </a:p>
          <a:p>
            <a:pPr lvl="1"/>
            <a:r>
              <a:rPr lang="en-US" dirty="0"/>
              <a:t>O2 mini: 1/3 token per request</a:t>
            </a:r>
          </a:p>
          <a:p>
            <a:pPr lvl="1"/>
            <a:r>
              <a:rPr lang="en-US" dirty="0"/>
              <a:t>New models: May be 10x when first released</a:t>
            </a:r>
          </a:p>
          <a:p>
            <a:endParaRPr lang="en-US" dirty="0"/>
          </a:p>
        </p:txBody>
      </p:sp>
    </p:spTree>
    <p:extLst>
      <p:ext uri="{BB962C8B-B14F-4D97-AF65-F5344CB8AC3E}">
        <p14:creationId xmlns:p14="http://schemas.microsoft.com/office/powerpoint/2010/main" val="939982034"/>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89E8-366B-DE4A-3987-2B1ABE59AB86}"/>
              </a:ext>
            </a:extLst>
          </p:cNvPr>
          <p:cNvSpPr>
            <a:spLocks noGrp="1"/>
          </p:cNvSpPr>
          <p:nvPr>
            <p:ph type="title"/>
          </p:nvPr>
        </p:nvSpPr>
        <p:spPr/>
        <p:txBody>
          <a:bodyPr>
            <a:normAutofit fontScale="90000"/>
          </a:bodyPr>
          <a:lstStyle/>
          <a:p>
            <a:r>
              <a:rPr lang="en-US" sz="2200" dirty="0"/>
              <a:t>Evergreen Software Development - Core Principles</a:t>
            </a:r>
            <a:br>
              <a:rPr lang="en-US" dirty="0"/>
            </a:br>
            <a:endParaRPr lang="en-US" dirty="0"/>
          </a:p>
        </p:txBody>
      </p:sp>
      <p:sp>
        <p:nvSpPr>
          <p:cNvPr id="3" name="Content Placeholder 2">
            <a:extLst>
              <a:ext uri="{FF2B5EF4-FFF2-40B4-BE49-F238E27FC236}">
                <a16:creationId xmlns:a16="http://schemas.microsoft.com/office/drawing/2014/main" id="{837EB2FB-58EC-B015-73A1-71A8AF4AAF5D}"/>
              </a:ext>
            </a:extLst>
          </p:cNvPr>
          <p:cNvSpPr>
            <a:spLocks noGrp="1"/>
          </p:cNvSpPr>
          <p:nvPr>
            <p:ph idx="1"/>
          </p:nvPr>
        </p:nvSpPr>
        <p:spPr/>
        <p:txBody>
          <a:bodyPr>
            <a:normAutofit fontScale="77500" lnSpcReduction="20000"/>
          </a:bodyPr>
          <a:lstStyle/>
          <a:p>
            <a:r>
              <a:rPr lang="en-US" b="1" dirty="0"/>
              <a:t>Intent‑First Design</a:t>
            </a:r>
          </a:p>
          <a:p>
            <a:pPr lvl="1"/>
            <a:r>
              <a:rPr lang="en-US" dirty="0"/>
              <a:t>Define the system’s purpose, invariants, and boundaries before writing code to ensure long‑term clarity.</a:t>
            </a:r>
          </a:p>
          <a:p>
            <a:r>
              <a:rPr lang="en-US" b="1" dirty="0"/>
              <a:t>Stable Interfaces, Evolving Internals</a:t>
            </a:r>
          </a:p>
          <a:p>
            <a:pPr lvl="1"/>
            <a:r>
              <a:rPr lang="en-US" dirty="0"/>
              <a:t>Keep contracts predictable while allowing implementations to improve continuously.</a:t>
            </a:r>
          </a:p>
          <a:p>
            <a:r>
              <a:rPr lang="en-US" b="1" dirty="0"/>
              <a:t>Continuous Regeneration with Guardrails</a:t>
            </a:r>
          </a:p>
          <a:p>
            <a:pPr lvl="1"/>
            <a:r>
              <a:rPr lang="en-US" dirty="0"/>
              <a:t>Use AI to rewrite or extend components safely, backed by tests, specs, and architectural constraints.</a:t>
            </a:r>
          </a:p>
          <a:p>
            <a:r>
              <a:rPr lang="en-US" b="1" dirty="0"/>
              <a:t>Modular, Replaceable Components</a:t>
            </a:r>
          </a:p>
          <a:p>
            <a:pPr lvl="1"/>
            <a:r>
              <a:rPr lang="en-US" dirty="0"/>
              <a:t>Structure the system so any part can be regenerated, swapped, or upgraded without cascading breakage.</a:t>
            </a:r>
          </a:p>
          <a:p>
            <a:r>
              <a:rPr lang="en-US" b="1" dirty="0"/>
              <a:t>Lifecycle Governance</a:t>
            </a:r>
          </a:p>
          <a:p>
            <a:pPr lvl="1"/>
            <a:r>
              <a:rPr lang="en-US" dirty="0"/>
              <a:t>Maintain quality through automated tests, versioning discipline, and human‑in‑the‑loop validation.</a:t>
            </a:r>
          </a:p>
          <a:p>
            <a:endParaRPr lang="en-US" dirty="0"/>
          </a:p>
        </p:txBody>
      </p:sp>
    </p:spTree>
    <p:extLst>
      <p:ext uri="{BB962C8B-B14F-4D97-AF65-F5344CB8AC3E}">
        <p14:creationId xmlns:p14="http://schemas.microsoft.com/office/powerpoint/2010/main" val="3859943806"/>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52D-1CB5-EA4A-363F-6C6F7BFCF89E}"/>
              </a:ext>
            </a:extLst>
          </p:cNvPr>
          <p:cNvSpPr>
            <a:spLocks noGrp="1"/>
          </p:cNvSpPr>
          <p:nvPr>
            <p:ph type="title"/>
          </p:nvPr>
        </p:nvSpPr>
        <p:spPr/>
        <p:txBody>
          <a:bodyPr>
            <a:noAutofit/>
          </a:bodyPr>
          <a:lstStyle/>
          <a:p>
            <a:r>
              <a:rPr lang="en-US" sz="2800" dirty="0"/>
              <a:t>Why Software Fails to Be Evergreen</a:t>
            </a:r>
          </a:p>
        </p:txBody>
      </p:sp>
      <p:sp>
        <p:nvSpPr>
          <p:cNvPr id="3" name="Content Placeholder 2">
            <a:extLst>
              <a:ext uri="{FF2B5EF4-FFF2-40B4-BE49-F238E27FC236}">
                <a16:creationId xmlns:a16="http://schemas.microsoft.com/office/drawing/2014/main" id="{37E908B3-2D49-4D0A-4B73-17410FD8D84B}"/>
              </a:ext>
            </a:extLst>
          </p:cNvPr>
          <p:cNvSpPr>
            <a:spLocks noGrp="1"/>
          </p:cNvSpPr>
          <p:nvPr>
            <p:ph idx="1"/>
          </p:nvPr>
        </p:nvSpPr>
        <p:spPr/>
        <p:txBody>
          <a:bodyPr>
            <a:normAutofit fontScale="70000" lnSpcReduction="20000"/>
          </a:bodyPr>
          <a:lstStyle/>
          <a:p>
            <a:r>
              <a:rPr lang="en-US" b="1" dirty="0"/>
              <a:t>Intent Rot</a:t>
            </a:r>
          </a:p>
          <a:p>
            <a:pPr lvl="1"/>
            <a:r>
              <a:rPr lang="en-US" dirty="0"/>
              <a:t>The original purpose, constraints, and invariants are undocumented or lost, making safe regeneration impossible.</a:t>
            </a:r>
          </a:p>
          <a:p>
            <a:r>
              <a:rPr lang="en-US" b="1" dirty="0"/>
              <a:t>Unstable or Leaky Interfaces</a:t>
            </a:r>
          </a:p>
          <a:p>
            <a:pPr lvl="1"/>
            <a:r>
              <a:rPr lang="en-US" dirty="0"/>
              <a:t>APIs, data contracts, and boundaries change unpredictably, causing cascading breakage when internals evolve.</a:t>
            </a:r>
          </a:p>
          <a:p>
            <a:r>
              <a:rPr lang="en-US" b="1" dirty="0"/>
              <a:t>Tightly Coupled Architecture</a:t>
            </a:r>
          </a:p>
          <a:p>
            <a:pPr lvl="1"/>
            <a:r>
              <a:rPr lang="en-US" dirty="0"/>
              <a:t>Components depend on each other’s internal details, preventing isolated regeneration or replacement.</a:t>
            </a:r>
          </a:p>
          <a:p>
            <a:r>
              <a:rPr lang="en-US" b="1" dirty="0"/>
              <a:t>Insufficient Guardrails</a:t>
            </a:r>
          </a:p>
          <a:p>
            <a:pPr lvl="1"/>
            <a:r>
              <a:rPr lang="en-US" dirty="0"/>
              <a:t>Missing tests, specs, or validation layers mean AI‑assisted regeneration can’t be trusted to preserve behavior.</a:t>
            </a:r>
          </a:p>
          <a:p>
            <a:r>
              <a:rPr lang="en-US" b="1" dirty="0"/>
              <a:t>One‑Off Patches and Drift</a:t>
            </a:r>
          </a:p>
          <a:p>
            <a:pPr lvl="1"/>
            <a:r>
              <a:rPr lang="en-US" dirty="0"/>
              <a:t>Ad‑hoc fixes accumulate, diverging the system from its intended design and making regeneration unsafe.</a:t>
            </a:r>
          </a:p>
        </p:txBody>
      </p:sp>
    </p:spTree>
    <p:extLst>
      <p:ext uri="{BB962C8B-B14F-4D97-AF65-F5344CB8AC3E}">
        <p14:creationId xmlns:p14="http://schemas.microsoft.com/office/powerpoint/2010/main" val="4274026177"/>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AFF2-31ED-5828-3D4F-C7FF5D881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60879-322A-4CAF-26E4-1B3C2B1549A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a:t>Agenda</a:t>
            </a:r>
          </a:p>
        </p:txBody>
      </p:sp>
      <p:graphicFrame>
        <p:nvGraphicFramePr>
          <p:cNvPr id="9" name="Content Placeholder 2">
            <a:extLst>
              <a:ext uri="{FF2B5EF4-FFF2-40B4-BE49-F238E27FC236}">
                <a16:creationId xmlns:a16="http://schemas.microsoft.com/office/drawing/2014/main" id="{FAA0ED98-C3DC-9558-B9A1-CF7B85646058}"/>
              </a:ext>
            </a:extLst>
          </p:cNvPr>
          <p:cNvGraphicFramePr>
            <a:graphicFrameLocks noGrp="1"/>
          </p:cNvGraphicFramePr>
          <p:nvPr>
            <p:ph idx="1"/>
            <p:extLst>
              <p:ext uri="{D42A27DB-BD31-4B8C-83A1-F6EECF244321}">
                <p14:modId xmlns:p14="http://schemas.microsoft.com/office/powerpoint/2010/main" val="174609360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4088341"/>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DFE3-679F-292A-47A9-1292CD727119}"/>
              </a:ext>
            </a:extLst>
          </p:cNvPr>
          <p:cNvSpPr>
            <a:spLocks noGrp="1"/>
          </p:cNvSpPr>
          <p:nvPr>
            <p:ph type="title"/>
          </p:nvPr>
        </p:nvSpPr>
        <p:spPr/>
        <p:txBody>
          <a:bodyPr>
            <a:normAutofit fontScale="90000"/>
          </a:bodyPr>
          <a:lstStyle/>
          <a:p>
            <a:r>
              <a:rPr lang="en-US" dirty="0"/>
              <a:t>Wrap-up</a:t>
            </a:r>
          </a:p>
        </p:txBody>
      </p:sp>
      <p:sp>
        <p:nvSpPr>
          <p:cNvPr id="3" name="Content Placeholder 2">
            <a:extLst>
              <a:ext uri="{FF2B5EF4-FFF2-40B4-BE49-F238E27FC236}">
                <a16:creationId xmlns:a16="http://schemas.microsoft.com/office/drawing/2014/main" id="{44289BE3-3702-6DAB-7588-6C60FD084994}"/>
              </a:ext>
            </a:extLst>
          </p:cNvPr>
          <p:cNvSpPr>
            <a:spLocks noGrp="1"/>
          </p:cNvSpPr>
          <p:nvPr>
            <p:ph idx="1"/>
          </p:nvPr>
        </p:nvSpPr>
        <p:spPr/>
        <p:txBody>
          <a:bodyPr/>
          <a:lstStyle/>
          <a:p>
            <a:r>
              <a:rPr lang="en-US" dirty="0"/>
              <a:t>Final Q&amp;A</a:t>
            </a:r>
          </a:p>
          <a:p>
            <a:r>
              <a:rPr lang="en-US" dirty="0"/>
              <a:t>Follow-up</a:t>
            </a:r>
          </a:p>
          <a:p>
            <a:r>
              <a:rPr lang="en-US" dirty="0"/>
              <a:t>Support Files</a:t>
            </a:r>
          </a:p>
          <a:p>
            <a:r>
              <a:rPr lang="en-US" dirty="0"/>
              <a:t>Thanks!</a:t>
            </a:r>
          </a:p>
        </p:txBody>
      </p:sp>
    </p:spTree>
    <p:extLst>
      <p:ext uri="{BB962C8B-B14F-4D97-AF65-F5344CB8AC3E}">
        <p14:creationId xmlns:p14="http://schemas.microsoft.com/office/powerpoint/2010/main" val="2857721155"/>
      </p:ext>
    </p:extLst>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9495</TotalTime>
  <Words>9051</Words>
  <Application>Microsoft Office PowerPoint</Application>
  <PresentationFormat>On-screen Show (16:9)</PresentationFormat>
  <Paragraphs>1419</Paragraphs>
  <Slides>92</Slides>
  <Notes>45</Notes>
  <HiddenSlides>14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92</vt:i4>
      </vt:variant>
    </vt:vector>
  </HeadingPairs>
  <TitlesOfParts>
    <vt:vector size="99" baseType="lpstr">
      <vt:lpstr>Aptos Narrow</vt:lpstr>
      <vt:lpstr>Arial</vt:lpstr>
      <vt:lpstr>Calibri</vt:lpstr>
      <vt:lpstr>Consolas</vt:lpstr>
      <vt:lpstr>Noto Sans</vt:lpstr>
      <vt:lpstr>Victor Mono</vt:lpstr>
      <vt:lpstr>CODE Training</vt:lpstr>
      <vt:lpstr>AI Assisted Software Development</vt:lpstr>
      <vt:lpstr>John Michael Miller</vt:lpstr>
      <vt:lpstr>PowerPoint Presentation</vt:lpstr>
      <vt:lpstr>AI Assisted Software Development</vt:lpstr>
      <vt:lpstr>Agenda</vt:lpstr>
      <vt:lpstr>Overview</vt:lpstr>
      <vt:lpstr>Agenda</vt:lpstr>
      <vt:lpstr>The AI Revolution?</vt:lpstr>
      <vt:lpstr>Why AI Assisted Software Development</vt:lpstr>
      <vt:lpstr>AI‑First &amp; Prompt‑First</vt:lpstr>
      <vt:lpstr>What Each Optimizes For</vt:lpstr>
      <vt:lpstr>How They Treat Artifacts</vt:lpstr>
      <vt:lpstr>Relationship Between the Two</vt:lpstr>
      <vt:lpstr>AI First Software Development</vt:lpstr>
      <vt:lpstr>Prompt‑First Software Development</vt:lpstr>
      <vt:lpstr>Agenda</vt:lpstr>
      <vt:lpstr>General Introduction to LLMs</vt:lpstr>
      <vt:lpstr>Conceptual Overview of LLMs</vt:lpstr>
      <vt:lpstr>Capabilities</vt:lpstr>
      <vt:lpstr>Limitations*</vt:lpstr>
      <vt:lpstr>Do’s</vt:lpstr>
      <vt:lpstr>Don’ts</vt:lpstr>
      <vt:lpstr>Agenda</vt:lpstr>
      <vt:lpstr>LLM Architecture for Code Generation</vt:lpstr>
      <vt:lpstr>Model Selection &amp; Comparison</vt:lpstr>
      <vt:lpstr>Comparing LLMs for Code Generation </vt:lpstr>
      <vt:lpstr>Public Leaderboards  </vt:lpstr>
      <vt:lpstr>Core Benchmarks</vt:lpstr>
      <vt:lpstr>Surveys &amp; Deep‑Dive Research  </vt:lpstr>
      <vt:lpstr>Evaluation Frameworks  </vt:lpstr>
      <vt:lpstr>Selecting Models</vt:lpstr>
      <vt:lpstr>Agenda</vt:lpstr>
      <vt:lpstr>GitHub Copilot for Teams Key Considerations for Adoption</vt:lpstr>
      <vt:lpstr>What Prompted This Deck?</vt:lpstr>
      <vt:lpstr>Benefits for Organizations</vt:lpstr>
      <vt:lpstr>Risks to Consider</vt:lpstr>
      <vt:lpstr>Governance and Compliance Risks</vt:lpstr>
      <vt:lpstr>IP and Data Protection</vt:lpstr>
      <vt:lpstr>Licensing and Legal Considerations</vt:lpstr>
      <vt:lpstr>Deployment Options</vt:lpstr>
      <vt:lpstr>Best Practices for Safe Use</vt:lpstr>
      <vt:lpstr>Resources</vt:lpstr>
      <vt:lpstr>Agenda</vt:lpstr>
      <vt:lpstr>Hands-On with GitHub Copilot</vt:lpstr>
      <vt:lpstr>Lab: Getting Started with GitHub Copilot</vt:lpstr>
      <vt:lpstr>Prompt Specificity</vt:lpstr>
      <vt:lpstr>Lab: Understanding Context Management</vt:lpstr>
      <vt:lpstr>Lab: Chat Management &amp; Workflow</vt:lpstr>
      <vt:lpstr>Using Copilot in different modes</vt:lpstr>
      <vt:lpstr>Lab: Exploring Copilot Modes</vt:lpstr>
      <vt:lpstr>IDE Support for AI Assistance</vt:lpstr>
      <vt:lpstr>Agenda</vt:lpstr>
      <vt:lpstr>📘 Mob.sh: Install, Configure, and Use</vt:lpstr>
      <vt:lpstr>What mob.sh Solves</vt:lpstr>
      <vt:lpstr>Installing mob.sh </vt:lpstr>
      <vt:lpstr>Lab: Cloning the Course Repository</vt:lpstr>
      <vt:lpstr>First‑Time Configuration</vt:lpstr>
      <vt:lpstr>Starting a Mob Session</vt:lpstr>
      <vt:lpstr>🔄 Handoff to the Next Driver</vt:lpstr>
      <vt:lpstr>🧪 Running Tests During the Mob</vt:lpstr>
      <vt:lpstr>Finishing the Mob Session</vt:lpstr>
      <vt:lpstr>Branching Model Best Practices</vt:lpstr>
      <vt:lpstr>🧭 Role Rotation Tips</vt:lpstr>
      <vt:lpstr>🛠️ Advanced Features</vt:lpstr>
      <vt:lpstr>🧹 Troubleshooting</vt:lpstr>
      <vt:lpstr>📚 Resources</vt:lpstr>
      <vt:lpstr>Lab: Mob Programming Setup</vt:lpstr>
      <vt:lpstr>Agenda</vt:lpstr>
      <vt:lpstr>Software Engineering vs “Vibe Coding”</vt:lpstr>
      <vt:lpstr>Collaborating on a Solution</vt:lpstr>
      <vt:lpstr>Lab: Calculator Project – Basic Arithmetic</vt:lpstr>
      <vt:lpstr>Lab: Calculator Project – Clear / Reset </vt:lpstr>
      <vt:lpstr>Lab: Calculator Project – Decimal Input</vt:lpstr>
      <vt:lpstr>Lab: Calculator Project – Sign Toggle (+/–) </vt:lpstr>
      <vt:lpstr>Lab: Calculator Project – Percentage </vt:lpstr>
      <vt:lpstr>Lab: Calculator Project – Memory Functions (M+, M–, MR, MC) </vt:lpstr>
      <vt:lpstr>Lab: Calculator Project – Error Handling</vt:lpstr>
      <vt:lpstr>Lab: Calculator Project – UI </vt:lpstr>
      <vt:lpstr>Lab: Calculator Project – Add Trigonometric Functions </vt:lpstr>
      <vt:lpstr>Lab: Calculator Project – Encapsulate Core Logic</vt:lpstr>
      <vt:lpstr>Lab: Calculator Project - Testing</vt:lpstr>
      <vt:lpstr>Lab: Code Coverage</vt:lpstr>
      <vt:lpstr>Lab: Dependency Management &amp; Troubleshooting</vt:lpstr>
      <vt:lpstr>Lab: Security Review</vt:lpstr>
      <vt:lpstr>Lab: Code Quality Review</vt:lpstr>
      <vt:lpstr>Lab: Documentation</vt:lpstr>
      <vt:lpstr>Lab: Refactoring</vt:lpstr>
      <vt:lpstr>Lab: Model Comparison Exercise</vt:lpstr>
      <vt:lpstr>Evergreen Software Development - Core Principles </vt:lpstr>
      <vt:lpstr>Why Software Fails to Be Evergreen</vt:lpstr>
      <vt:lpstr>Agenda</vt:lpstr>
      <vt:lpstr>Wrap-up</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10</cp:revision>
  <dcterms:created xsi:type="dcterms:W3CDTF">2025-10-20T13:07:02Z</dcterms:created>
  <dcterms:modified xsi:type="dcterms:W3CDTF">2026-02-19T04:07:02Z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