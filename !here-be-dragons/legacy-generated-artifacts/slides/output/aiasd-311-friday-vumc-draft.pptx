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3" r:id="rId1"/>
  </p:sldMasterIdLst>
  <p:notesMasterIdLst>
    <p:notesMasterId r:id="rId9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8B12"/>
    <a:srgbClr val="8E1416"/>
    <a:srgbClr val="922123"/>
    <a:srgbClr val="AA8200"/>
    <a:srgbClr val="DEAA00"/>
    <a:srgbClr val="007FB1"/>
    <a:srgbClr val="38955A"/>
    <a:srgbClr val="920000"/>
    <a:srgbClr val="212121"/>
    <a:srgbClr val="2C4D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7" autoAdjust="0"/>
    <p:restoredTop sz="63597" autoAdjust="0"/>
  </p:normalViewPr>
  <p:slideViewPr>
    <p:cSldViewPr snapToGrid="0" showGuides="1">
      <p:cViewPr varScale="1">
        <p:scale>
          <a:sx n="70" d="100"/>
          <a:sy n="70" d="100"/>
        </p:scale>
        <p:origin x="33" y="630"/>
      </p:cViewPr>
      <p:guideLst/>
    </p:cSldViewPr>
  </p:slideViewPr>
  <p:outlineViewPr>
    <p:cViewPr>
      <p:scale>
        <a:sx n="33" d="100"/>
        <a:sy n="33" d="100"/>
      </p:scale>
      <p:origin x="0" y="-1615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87355B-E5B2-6E48-8859-C40F7DC7FE0C}" type="datetimeFigureOut">
              <a:rPr lang="en-US" smtClean="0"/>
              <a:t>4/9/2026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31DA66-BB00-F84C-BB6F-3E6E140CFF70}" type="slidenum">
              <a:rPr lang="en-US" smtClean="0"/>
              <a:t>‹#›</a:t>
            </a:fld>
            <a:endParaRPr lang="en-US"/>
          </a:p>
        </p:txBody>
      </p:sp>
    </p:spTree>
    <p:extLst>
      <p:ext uri="{BB962C8B-B14F-4D97-AF65-F5344CB8AC3E}">
        <p14:creationId xmlns:p14="http://schemas.microsoft.com/office/powerpoint/2010/main" val="622745019"/>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Welcome everyone back to the session. Take a moment to let people settle in before diving into content. Acknowledge that it's great to see everyone back and express enthusiasm for the session ahead.</a:t>
            </a:r>
          </a:p>
          <a:p>
            <a:endParaRPr/>
          </a:p>
          <a:p>
            <a:r>
              <a:t>Key talking points:</a:t>
            </a:r>
          </a:p>
          <a:p>
            <a:endParaRPr/>
          </a:p>
          <a:p>
            <a:r>
              <a:t>- Remind attendees of the previous session's topics briefly</a:t>
            </a:r>
          </a:p>
          <a:p>
            <a:r>
              <a:t>- Emphasize that questions are encouraged at any point — not just at the end</a:t>
            </a:r>
          </a:p>
          <a:p>
            <a:r>
              <a:t>- Set a positive, inclusive tone for the session</a:t>
            </a:r>
          </a:p>
          <a:p>
            <a:r>
              <a:t>- If this is after a break, give people 30 seconds to get re-focused</a:t>
            </a:r>
          </a:p>
          <a:p>
            <a:endParaRPr/>
          </a:p>
          <a:p>
            <a:r>
              <a:t>Transition: "Let's pick up right where we left off..."</a:t>
            </a:r>
          </a:p>
          <a:p>
            <a:endParaRPr/>
          </a:p>
          <a:p>
            <a:r>
              <a:t>---</a:t>
            </a:r>
          </a:p>
          <a:p>
            <a:endParaRPr/>
          </a:p>
          <a:p>
            <a:r>
              <a:t>Source: slides\marp\welcome-back.deck.md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slides\marp\getting-started-checklist.deck.md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audience through the lifecycle from left to right and keep the focus on the review gates between each AI-generated artifact. Stress that requirements are not handed directly to code generation; instead, they are refined into instruction files and then into implementation prompts, with stakeholder approval at each stage. Use the diagram to reinforce that this is a controlled pipeline where AI accelerates each step but humans still own correctness, safety, and acceptance. End by linking this workflow back to the checklist on the previous slides: foundation, automation, specialization, and integration all support this end-to-end model.</a:t>
            </a:r>
          </a:p>
          <a:p>
            <a:endParaRPr/>
          </a:p>
          <a:p>
            <a:r>
              <a:t>---</a:t>
            </a:r>
          </a:p>
          <a:p>
            <a:endParaRPr/>
          </a:p>
          <a:p>
            <a:r>
              <a:t>Source: slides\marp\getting-started-checklist.deck.md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Shift to greenfield best practices: requirements, prompts, and verification workflows.</a:t>
            </a:r>
          </a:p>
          <a:p>
            <a:endParaRPr/>
          </a:p>
          <a:p>
            <a:r>
              <a:t>---</a:t>
            </a:r>
          </a:p>
          <a:p>
            <a:endParaRPr/>
          </a:p>
          <a:p>
            <a:r>
              <a:t>Source: slides\marp\starting-with-requirements.deck.md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slides\marp\starting-with-requirements.deck.md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slides\marp\starting-with-requirements.deck.md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slides\marp\starting-with-requirements.deck.md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slides\marp\starting-with-requirements.deck.md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slides\marp\starting-with-requirements.deck.md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~00:20</a:t>
            </a:r>
          </a:p>
          <a:p>
            <a:endParaRPr/>
          </a:p>
          <a:p>
            <a:r>
              <a:t>Author requirement docs, then use Copilot to generate scaffolding and validate alignment.</a:t>
            </a:r>
          </a:p>
          <a:p>
            <a:endParaRPr/>
          </a:p>
          <a:p>
            <a:r>
              <a:t>Prompt: create a requirements document for a simple calculator application</a:t>
            </a:r>
          </a:p>
          <a:p>
            <a:endParaRPr/>
          </a:p>
          <a:p>
            <a:r>
              <a:t>---</a:t>
            </a:r>
          </a:p>
          <a:p>
            <a:endParaRPr/>
          </a:p>
          <a:p>
            <a:r>
              <a:t>Source: slides\marp\exercise\exercise-generate-business-requirements.deck.md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~00:20</a:t>
            </a:r>
          </a:p>
          <a:p>
            <a:endParaRPr/>
          </a:p>
          <a:p>
            <a:r>
              <a:t>Prompts:</a:t>
            </a:r>
          </a:p>
          <a:p>
            <a:endParaRPr/>
          </a:p>
          <a:p>
            <a:r>
              <a:t>using #file:business-rules-to-slices.instructions.md update the #file:calculator-app-requirements.md implementation plan to implement using vertical slices</a:t>
            </a:r>
          </a:p>
          <a:p>
            <a:endParaRPr/>
          </a:p>
          <a:p>
            <a:r>
              <a:t>what is the difference between the phases and vertical slices?</a:t>
            </a:r>
          </a:p>
          <a:p>
            <a:endParaRPr/>
          </a:p>
          <a:p>
            <a:r>
              <a:t>update the plan to make this distinction clear</a:t>
            </a:r>
          </a:p>
          <a:p>
            <a:endParaRPr/>
          </a:p>
          <a:p>
            <a:r>
              <a:t>add a diagram that shows the phases -&gt; slices -&gt; use cases</a:t>
            </a:r>
          </a:p>
          <a:p>
            <a:endParaRPr/>
          </a:p>
          <a:p>
            <a:r>
              <a:t>which of the slices can be implemented in parallel and which have a dependancy on another slice</a:t>
            </a:r>
          </a:p>
          <a:p>
            <a:endParaRPr/>
          </a:p>
          <a:p>
            <a:r>
              <a:t>---</a:t>
            </a:r>
          </a:p>
          <a:p>
            <a:endParaRPr/>
          </a:p>
          <a:p>
            <a:r>
              <a:t>Source: slides\marp\exercise\exercise-generate-business-requirements-2.deck.md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slides\marp\exercise\exercise-business-requirements-generation.deck.md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~00:17</a:t>
            </a:r>
          </a:p>
          <a:p>
            <a:endParaRPr/>
          </a:p>
          <a:p>
            <a:endParaRPr/>
          </a:p>
          <a:p>
            <a:r>
              <a:t>**Prerequisites:** Access to the Greenfield branch, ability to create a personal branch, and access to the Product Manager agent plus the repository instruction files</a:t>
            </a:r>
          </a:p>
          <a:p>
            <a:endParaRPr/>
          </a:p>
          <a:p>
            <a:r>
              <a:t>Use this exercise to establish the Greenfield workflow discipline early. Start by making participants branch from Greenfield before they do any prompting so the requirements artifact has a clean ownership path and can be reviewed independently later. In the first few minutes, emphasize that the goal is not to produce a perfect PRD in one pass, but to create a usable calculator requirements document using the Product Manager agent together with repository guidance. During the clarification window, call out the common confusion points explicitly: correct repository, personal branch strategy, what to do with any existing PRD material, and that tooling differences between Visual Studio and VS Code are secondary to getting the requirements quality right. For the working block, let students operate independently, but use periodic check-ins to see whether instruction files improved the output and whether anyone is stuck on scope, branching, or prompt quality. Transition from this exercise by connecting the completed requirements document to the next Greenfield planning steps, especially technology instructions, slice planning, and implementation prompts.</a:t>
            </a:r>
          </a:p>
          <a:p>
            <a:endParaRPr/>
          </a:p>
          <a:p>
            <a:r>
              <a:t>---</a:t>
            </a:r>
          </a:p>
          <a:p>
            <a:endParaRPr/>
          </a:p>
          <a:p>
            <a:r>
              <a:t>Source: slides\marp\exercise\exercise-business-requirements-generation.deck.md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slides\marp\cqrs-architecture.deck.md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Welcome to the CQRS Architecture module. This session covers Command Query Responsibility Segregation — a pattern that separates read and write operations into distinct models to improve scalability and maintainability.</a:t>
            </a:r>
          </a:p>
          <a:p>
            <a:endParaRPr/>
          </a:p>
          <a:p>
            <a:r>
              <a:t>**Key Points**:</a:t>
            </a:r>
          </a:p>
          <a:p>
            <a:endParaRPr/>
          </a:p>
          <a:p>
            <a:r>
              <a:t>- CQRS separates write (command) operations from read (query) operations</a:t>
            </a:r>
          </a:p>
          <a:p>
            <a:r>
              <a:t>- Enables independent scaling and optimization of each model</a:t>
            </a:r>
          </a:p>
          <a:p>
            <a:r>
              <a:t>- Useful when read and write workloads have very different characteristics</a:t>
            </a:r>
          </a:p>
          <a:p>
            <a:endParaRPr/>
          </a:p>
          <a:p>
            <a:r>
              <a:t>**Delivery**: Begin by asking the audience about pain points with traditional CRUD APIs — high query complexity, slow writes due to query-optimized schemas, or contention between reads and writes.</a:t>
            </a:r>
          </a:p>
          <a:p>
            <a:endParaRPr/>
          </a:p>
          <a:p>
            <a:r>
              <a:t>**Transition**: "Let's start with when CQRS makes sense — and when it doesn't."</a:t>
            </a:r>
          </a:p>
          <a:p>
            <a:endParaRPr/>
          </a:p>
          <a:p>
            <a:r>
              <a:t>---</a:t>
            </a:r>
          </a:p>
          <a:p>
            <a:endParaRPr/>
          </a:p>
          <a:p>
            <a:r>
              <a:t>Source: slides\marp\cqrs-architecture.deck.md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CQRS is a powerful pattern but it adds operational complexity. Use it only when the benefits outweigh the costs.</a:t>
            </a:r>
          </a:p>
          <a:p>
            <a:endParaRPr/>
          </a:p>
          <a:p>
            <a:r>
              <a:t>**Key Points**:</a:t>
            </a:r>
          </a:p>
          <a:p>
            <a:r>
              <a:t>- The classic CRUD pattern couples reads and writes to the same model — fine for simple domains</a:t>
            </a:r>
          </a:p>
          <a:p>
            <a:r>
              <a:t>- CQRS shines when the query model needs to be radically different from the write model</a:t>
            </a:r>
          </a:p>
          <a:p>
            <a:r>
              <a:t>- Event sourcing almost always pairs with CQRS</a:t>
            </a:r>
          </a:p>
          <a:p>
            <a:r>
              <a:t>- Small teams or simple domains should avoid CQRS due to added complexity</a:t>
            </a:r>
          </a:p>
          <a:p>
            <a:endParaRPr/>
          </a:p>
          <a:p>
            <a:r>
              <a:t>**Real-World Example**: An e-commerce order system where writes go through strict business validation but reads need highly denormalized views for catalog search, order history dashboards, and analytics.</a:t>
            </a:r>
          </a:p>
          <a:p>
            <a:endParaRPr/>
          </a:p>
          <a:p>
            <a:r>
              <a:t>**Audience Question**: "Has anyone implemented something like CQRS without knowing it had a name?"</a:t>
            </a:r>
          </a:p>
          <a:p>
            <a:endParaRPr/>
          </a:p>
          <a:p>
            <a:r>
              <a:t>**Transition**: "Let's look at the core principles that underpin CQRS."</a:t>
            </a:r>
          </a:p>
          <a:p>
            <a:endParaRPr/>
          </a:p>
          <a:p>
            <a:r>
              <a:t>---</a:t>
            </a:r>
          </a:p>
          <a:p>
            <a:endParaRPr/>
          </a:p>
          <a:p>
            <a:r>
              <a:t>Source: slides\marp\cqrs-architecture.deck.md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These five principles guide every CQRS implementation decision.</a:t>
            </a:r>
          </a:p>
          <a:p>
            <a:endParaRPr/>
          </a:p>
          <a:p>
            <a:r>
              <a:t>**Key Points**:</a:t>
            </a:r>
          </a:p>
          <a:p>
            <a:endParaRPr/>
          </a:p>
          <a:p>
            <a:r>
              <a:t>- The read/write separation is absolute — queries must be side-effect free</a:t>
            </a:r>
          </a:p>
          <a:p>
            <a:r>
              <a:t>- Write model is where business logic lives — all invariants enforced here</a:t>
            </a:r>
          </a:p>
          <a:p>
            <a:r>
              <a:t>- Read models are projections built from the write model's events</a:t>
            </a:r>
          </a:p>
          <a:p>
            <a:r>
              <a:t>- Independence is key — you can evolve the read schema without touching write logic</a:t>
            </a:r>
          </a:p>
          <a:p>
            <a:r>
              <a:t>- Eventual consistency is usually acceptable; design for it intentionally</a:t>
            </a:r>
          </a:p>
          <a:p>
            <a:endParaRPr/>
          </a:p>
          <a:p>
            <a:r>
              <a:t>**Common Misconception**: CQRS does not require separate databases. You can start with a single database and separate logical models before introducing physical separation.</a:t>
            </a:r>
          </a:p>
          <a:p>
            <a:endParaRPr/>
          </a:p>
          <a:p>
            <a:r>
              <a:t>**Transition**: "What are the actual architectural components we need to build?"</a:t>
            </a:r>
          </a:p>
          <a:p>
            <a:endParaRPr/>
          </a:p>
          <a:p>
            <a:r>
              <a:t>---</a:t>
            </a:r>
          </a:p>
          <a:p>
            <a:endParaRPr/>
          </a:p>
          <a:p>
            <a:r>
              <a:t>Source: slides\marp\cqrs-architecture.deck.md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This diagram shows the minimum components for a CQRS implementation.</a:t>
            </a:r>
          </a:p>
          <a:p>
            <a:endParaRPr/>
          </a:p>
          <a:p>
            <a:r>
              <a:t>**Walk Through the Diagram**:</a:t>
            </a:r>
          </a:p>
          <a:p>
            <a:endParaRPr/>
          </a:p>
          <a:p>
            <a:r>
              <a:t>1. Command API receives write requests and routes to handlers</a:t>
            </a:r>
          </a:p>
          <a:p>
            <a:r>
              <a:t>2. Command Handler orchestrates domain logic and writes to the Write Store</a:t>
            </a:r>
          </a:p>
          <a:p>
            <a:r>
              <a:t>3. Events are published after successful writes</a:t>
            </a:r>
          </a:p>
          <a:p>
            <a:r>
              <a:t>4. Projection Updater subscribes to events and updates the Read Store</a:t>
            </a:r>
          </a:p>
          <a:p>
            <a:r>
              <a:t>5. Query API serves the Read Store with fast, optimized queries</a:t>
            </a:r>
          </a:p>
          <a:p>
            <a:endParaRPr/>
          </a:p>
          <a:p>
            <a:r>
              <a:t>**Key Components**:</a:t>
            </a:r>
          </a:p>
          <a:p>
            <a:endParaRPr/>
          </a:p>
          <a:p>
            <a:r>
              <a:t>- **Command API**: Validates input, routes to appropriate handler</a:t>
            </a:r>
          </a:p>
          <a:p>
            <a:r>
              <a:t>- **Command Handler**: Enforces invariants, orchestrates domain operations</a:t>
            </a:r>
          </a:p>
          <a:p>
            <a:r>
              <a:t>- **Write Store**: OLTP database for aggregates and consistency</a:t>
            </a:r>
          </a:p>
          <a:p>
            <a:r>
              <a:t>- **Event Publisher**: Reliable event emission (use outbox pattern)</a:t>
            </a:r>
          </a:p>
          <a:p>
            <a:r>
              <a:t>- **Projection Updater**: Maintains read models from events</a:t>
            </a:r>
          </a:p>
          <a:p>
            <a:r>
              <a:t>- **Query API**: Serves denormalized, query-optimized data</a:t>
            </a:r>
          </a:p>
          <a:p>
            <a:r>
              <a:t>- **Read Store**: OLAP or document store optimized for reads</a:t>
            </a:r>
          </a:p>
          <a:p>
            <a:endParaRPr/>
          </a:p>
          <a:p>
            <a:r>
              <a:t>**Transition**: "Let's look at command model design in more detail."</a:t>
            </a:r>
          </a:p>
          <a:p>
            <a:endParaRPr/>
          </a:p>
          <a:p>
            <a:r>
              <a:t>---</a:t>
            </a:r>
          </a:p>
          <a:p>
            <a:endParaRPr/>
          </a:p>
          <a:p>
            <a:r>
              <a:t>Source: slides\marp\cqrs-architecture.deck.md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Consistency is often the most debated aspect of CQRS implementations.</a:t>
            </a:r>
          </a:p>
          <a:p>
            <a:endParaRPr/>
          </a:p>
          <a:p>
            <a:r>
              <a:t>**Key Points**:</a:t>
            </a:r>
          </a:p>
          <a:p>
            <a:endParaRPr/>
          </a:p>
          <a:p>
            <a:r>
              <a:t>- Not all data requires strong consistency — choosing the right model reduces complexity</a:t>
            </a:r>
          </a:p>
          <a:p>
            <a:r>
              <a:t>- The Outbox Pattern is the industry standard for reliable event publishing</a:t>
            </a:r>
          </a:p>
          <a:p>
            <a:r>
              <a:t>- "Dual writes" (write to DB and publish in the same transaction) are dangerous — use the outbox</a:t>
            </a:r>
          </a:p>
          <a:p>
            <a:r>
              <a:t>- Idempotent consumers handle duplicate event delivery gracefully</a:t>
            </a:r>
          </a:p>
          <a:p>
            <a:endParaRPr/>
          </a:p>
          <a:p>
            <a:r>
              <a:t>**The Outbox Pattern**:</a:t>
            </a:r>
          </a:p>
          <a:p>
            <a:endParaRPr/>
          </a:p>
          <a:p>
            <a:r>
              <a:t>1. Within the same database transaction: write the domain change AND an outbox event record</a:t>
            </a:r>
          </a:p>
          <a:p>
            <a:r>
              <a:t>2. A background process reads unprocessed outbox events and publishes them to the message broker</a:t>
            </a:r>
          </a:p>
          <a:p>
            <a:r>
              <a:t>3. Mark events as processed after successful publication</a:t>
            </a:r>
          </a:p>
          <a:p>
            <a:r>
              <a:t>4. Consumers handle duplicates idempotently</a:t>
            </a:r>
          </a:p>
          <a:p>
            <a:endParaRPr/>
          </a:p>
          <a:p>
            <a:r>
              <a:t>**Transition**: "What common mistakes should we avoid?"</a:t>
            </a:r>
          </a:p>
          <a:p>
            <a:endParaRPr/>
          </a:p>
          <a:p>
            <a:r>
              <a:t>---</a:t>
            </a:r>
          </a:p>
          <a:p>
            <a:endParaRPr/>
          </a:p>
          <a:p>
            <a:r>
              <a:t>Source: slides\marp\cqrs-architecture.deck.md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Tying the concepts together with a concrete example makes the pattern tangible.</a:t>
            </a:r>
          </a:p>
          <a:p>
            <a:endParaRPr/>
          </a:p>
          <a:p>
            <a:r>
              <a:t>**Key Points**:</a:t>
            </a:r>
          </a:p>
          <a:p>
            <a:endParaRPr/>
          </a:p>
          <a:p>
            <a:r>
              <a:t>- The command and query flows are completely independent paths</a:t>
            </a:r>
          </a:p>
          <a:p>
            <a:r>
              <a:t>- The event bridges the write and read sides asynchronously</a:t>
            </a:r>
          </a:p>
          <a:p>
            <a:r>
              <a:t>- `lastUpdatedUtc` in the query response lets the UI show freshness information</a:t>
            </a:r>
          </a:p>
          <a:p>
            <a:r>
              <a:t>- The UI can display a "processing" indicator while the projection catches up after a command</a:t>
            </a:r>
          </a:p>
          <a:p>
            <a:endParaRPr/>
          </a:p>
          <a:p>
            <a:r>
              <a:t>**Discussion Question**: "What are the tradeoffs of showing the read model data vs. the command result directly after an approval?"</a:t>
            </a:r>
          </a:p>
          <a:p>
            <a:endParaRPr/>
          </a:p>
          <a:p>
            <a:r>
              <a:t>**Key Takeaway**: CQRS is not magic — it's a deliberate architectural choice that pays off when reads and writes truly have different requirements.</a:t>
            </a:r>
          </a:p>
          <a:p>
            <a:endParaRPr/>
          </a:p>
          <a:p>
            <a:r>
              <a:t>---</a:t>
            </a:r>
          </a:p>
          <a:p>
            <a:endParaRPr/>
          </a:p>
          <a:p>
            <a:r>
              <a:t>Source: slides\marp\cqrs-architecture.deck.md</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Summarize the key points and provide resources for deeper learning.</a:t>
            </a:r>
          </a:p>
          <a:p>
            <a:endParaRPr/>
          </a:p>
          <a:p>
            <a:r>
              <a:t>**Summary**:</a:t>
            </a:r>
          </a:p>
          <a:p>
            <a:endParaRPr/>
          </a:p>
          <a:p>
            <a:r>
              <a:t>- CQRS separates write models (commands) from read models (queries)</a:t>
            </a:r>
          </a:p>
          <a:p>
            <a:r>
              <a:t>- Use it when the complexity pays off — don't over-apply</a:t>
            </a:r>
          </a:p>
          <a:p>
            <a:r>
              <a:t>- Reliable event publication requires the outbox pattern</a:t>
            </a:r>
          </a:p>
          <a:p>
            <a:r>
              <a:t>- Eventual consistency is the norm — manage client expectations</a:t>
            </a:r>
          </a:p>
          <a:p>
            <a:r>
              <a:t>- Incremental migration is the safe approach</a:t>
            </a:r>
          </a:p>
          <a:p>
            <a:endParaRPr/>
          </a:p>
          <a:p>
            <a:r>
              <a:t>**Call to Action**: Review the `cqrs-architecture.instructions.md` file in the repository for implementation checklists and code examples.</a:t>
            </a:r>
          </a:p>
          <a:p>
            <a:endParaRPr/>
          </a:p>
          <a:p>
            <a:r>
              <a:t>**Q&amp;A**: Open the floor for architecture questions and real-world implementation challenges.</a:t>
            </a:r>
          </a:p>
          <a:p>
            <a:endParaRPr/>
          </a:p>
          <a:p>
            <a:r>
              <a:t>---</a:t>
            </a:r>
          </a:p>
          <a:p>
            <a:endParaRPr/>
          </a:p>
          <a:p>
            <a:r>
              <a:t>Source: slides\marp\cqrs-architecture.deck.md</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slides\marp\technology-stack-instruction-files.deck.md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~00:17</a:t>
            </a:r>
          </a:p>
          <a:p>
            <a:endParaRPr/>
          </a:p>
          <a:p>
            <a:r>
              <a:t>Frame this section as part of the greenfield foundation work rather than a documentation side quest. Explain that instruction files help the AI and the team align on standards before implementation begins, which reduces drift and rework later. Transition by asking what should exist before anyone prompts for technology-specific instructions.</a:t>
            </a:r>
          </a:p>
          <a:p>
            <a:endParaRPr/>
          </a:p>
          <a:p>
            <a:r>
              <a:t>---</a:t>
            </a:r>
          </a:p>
          <a:p>
            <a:endParaRPr/>
          </a:p>
          <a:p>
            <a:r>
              <a:t>Source: slides\marp\technology-stack-instruction-files.deck.md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Explain that instruction files are most valuable when they reflect the actual technology choices and constraints of the project. If the requirements are vague, the generated guidance will also be vague, so the stack definition has to come first. Transition by showing the simple prompting pattern used to produce the first draft.</a:t>
            </a:r>
          </a:p>
          <a:p>
            <a:endParaRPr/>
          </a:p>
          <a:p>
            <a:r>
              <a:t>---</a:t>
            </a:r>
          </a:p>
          <a:p>
            <a:endParaRPr/>
          </a:p>
          <a:p>
            <a:r>
              <a:t>Source: slides\marp\technology-stack-instruction-files.deck.md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Make the point that the initial prompt does not need to be elaborate to be useful. What matters is that it clearly names the technologies and asks for standards that map to real development concerns like semantics, accessibility, and runtime performance. Transition by moving from prompt generation to what a good instruction file should contain.</a:t>
            </a:r>
          </a:p>
          <a:p>
            <a:endParaRPr/>
          </a:p>
          <a:p>
            <a:r>
              <a:t>---</a:t>
            </a:r>
          </a:p>
          <a:p>
            <a:endParaRPr/>
          </a:p>
          <a:p>
            <a:r>
              <a:t>Source: slides\marp\technology-stack-instruction-files.deck.md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Explain that review is what turns an acceptable draft into a dependable working standard. Teams should inspect whether the file is actionable for the AI, readable for humans, and explicit enough to guide consistent output across sessions. Transition by introducing the role of multiple models in improving quality.</a:t>
            </a:r>
          </a:p>
          <a:p>
            <a:endParaRPr/>
          </a:p>
          <a:p>
            <a:r>
              <a:t>---</a:t>
            </a:r>
          </a:p>
          <a:p>
            <a:endParaRPr/>
          </a:p>
          <a:p>
            <a:r>
              <a:t>Source: slides\marp\technology-stack-instruction-files.deck.md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Position multi-model review as a quality-control tactic rather than a competition. Different models expose different blind spots, so having one model critique another often surfaces missing examples, incomplete checklists, or weakly stated rules. Transition by tying this evaluation loop back to the broader foundation phase of a new project.</a:t>
            </a:r>
          </a:p>
          <a:p>
            <a:endParaRPr/>
          </a:p>
          <a:p>
            <a:r>
              <a:t>---</a:t>
            </a:r>
          </a:p>
          <a:p>
            <a:endParaRPr/>
          </a:p>
          <a:p>
            <a:r>
              <a:t>Source: slides\marp\technology-stack-instruction-files.deck.md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Close by connecting technology instruction files to the larger greenfield workflow. These files are foundational because they shape the quality of later prompts, implementation plans, and generated code, especially when multiple people and multiple models are involved. End by suggesting that every new stack choice should trigger the question, what instruction file do we need before we start building?</a:t>
            </a:r>
          </a:p>
          <a:p>
            <a:endParaRPr/>
          </a:p>
          <a:p>
            <a:r>
              <a:t>---</a:t>
            </a:r>
          </a:p>
          <a:p>
            <a:endParaRPr/>
          </a:p>
          <a:p>
            <a:r>
              <a:t>Source: slides\marp\technology-stack-instruction-files.deck.md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Welcome to the vertical slicing architecture introduction. This section explains why organizing code by feature can make complex systems easier to understand, extend, and maintain.</a:t>
            </a:r>
          </a:p>
          <a:p>
            <a:endParaRPr/>
          </a:p>
          <a:p>
            <a:r>
              <a:t>Open by asking how many people have had to change a feature by touching controllers, services, repositories, and models in four different folders.</a:t>
            </a:r>
          </a:p>
          <a:p>
            <a:endParaRPr/>
          </a:p>
          <a:p>
            <a:r>
              <a:t>Emphasize that vertical slicing is not just a folder rename. It changes how teams think about boundaries, ownership, and end-to-end feature delivery.</a:t>
            </a:r>
          </a:p>
          <a:p>
            <a:endParaRPr/>
          </a:p>
          <a:p>
            <a:r>
              <a:t>Transition with: "Let's define the pattern first, then compare it to the layered structure most teams already know."</a:t>
            </a:r>
          </a:p>
          <a:p>
            <a:endParaRPr/>
          </a:p>
          <a:p>
            <a:r>
              <a:t>---</a:t>
            </a:r>
          </a:p>
          <a:p>
            <a:endParaRPr/>
          </a:p>
          <a:p>
            <a:r>
              <a:t>Source: slides\marp\vertical-slicing-architecture-introduction.deck.md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core idea for the section, so spend roughly three minutes here. Explain that a slice is a full path through the system for one business capability, such as user registration or order checkout.</a:t>
            </a:r>
          </a:p>
          <a:p>
            <a:endParaRPr/>
          </a:p>
          <a:p>
            <a:r>
              <a:t>Point out that the goal is strong feature boundaries. A developer should be able to open one folder and understand most of what matters for that feature without navigating the whole solution.</a:t>
            </a:r>
          </a:p>
          <a:p>
            <a:endParaRPr/>
          </a:p>
          <a:p>
            <a:r>
              <a:t>Call out the independence rule explicitly: features should not directly reference each other. Shared abstractions can exist, but the feature itself should remain loosely coupled.</a:t>
            </a:r>
          </a:p>
          <a:p>
            <a:endParaRPr/>
          </a:p>
          <a:p>
            <a:r>
              <a:t>Transition with: "That definition becomes clearer when we compare the file structure side by side."</a:t>
            </a:r>
          </a:p>
          <a:p>
            <a:endParaRPr/>
          </a:p>
          <a:p>
            <a:r>
              <a:t>---</a:t>
            </a:r>
          </a:p>
          <a:p>
            <a:endParaRPr/>
          </a:p>
          <a:p>
            <a:r>
              <a:t>Source: slides\marp\vertical-slicing-architecture-introduction.deck.md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Use about three minutes here and walk the audience through the diagram from left to right. In the layered view, explain that user registration logic is split across multiple folders, which creates navigation overhead and makes changes feel scattered.</a:t>
            </a:r>
          </a:p>
          <a:p>
            <a:endParaRPr/>
          </a:p>
          <a:p>
            <a:r>
              <a:t>Then move to the vertical slice view and show how each feature becomes a mini-application. The `Features/UserRegistration` folder contains the command, handler, validator, and any related response or data access pieces in one place.</a:t>
            </a:r>
          </a:p>
          <a:p>
            <a:endParaRPr/>
          </a:p>
          <a:p>
            <a:r>
              <a:t>This is a good moment to mention that enhancing one feature becomes easier because the impact area is much more visible. The file structure starts reflecting business capabilities instead of technical plumbing.</a:t>
            </a:r>
          </a:p>
          <a:p>
            <a:endParaRPr/>
          </a:p>
          <a:p>
            <a:r>
              <a:t>Transition with: "Once the structure changes, the day-to-day developer experience changes too."</a:t>
            </a:r>
          </a:p>
          <a:p>
            <a:endParaRPr/>
          </a:p>
          <a:p>
            <a:r>
              <a:t>---</a:t>
            </a:r>
          </a:p>
          <a:p>
            <a:endParaRPr/>
          </a:p>
          <a:p>
            <a:r>
              <a:t>Source: slides\marp\vertical-slicing-architecture-introduction.deck.md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 Describe the common experience of implementing a new feature in a layered system, where developers bounce between folders just to follow one request from start to finish.</a:t>
            </a:r>
          </a:p>
          <a:p>
            <a:endParaRPr/>
          </a:p>
          <a:p>
            <a:r>
              <a:t>Contrast that with a vertical slice where the work stays mostly inside one feature folder. That reduces cognitive load and makes it easier for a developer to reason about the full behavior before they edit anything.</a:t>
            </a:r>
          </a:p>
          <a:p>
            <a:endParaRPr/>
          </a:p>
          <a:p>
            <a:r>
              <a:t>For maintainability, stress that the architecture makes the blast radius of a change smaller. When the boundary is clear, debugging and refactoring become safer and faster.</a:t>
            </a:r>
          </a:p>
          <a:p>
            <a:endParaRPr/>
          </a:p>
          <a:p>
            <a:r>
              <a:t>Transition with: "Those same boundaries also help teams collaborate and test more effectively."</a:t>
            </a:r>
          </a:p>
          <a:p>
            <a:endParaRPr/>
          </a:p>
          <a:p>
            <a:r>
              <a:t>---</a:t>
            </a:r>
          </a:p>
          <a:p>
            <a:endParaRPr/>
          </a:p>
          <a:p>
            <a:r>
              <a:t>Source: slides\marp\vertical-slicing-architecture-introduction.deck.md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about two to three minutes on this slide. Explain that feature folders create natural seams for parallel work, so two developers can often build different slices without changing the same files.</a:t>
            </a:r>
          </a:p>
          <a:p>
            <a:endParaRPr/>
          </a:p>
          <a:p>
            <a:r>
              <a:t>In testing, highlight that the unit of reasoning becomes the feature, not a service class in isolation. That leads to tests that better reflect user behavior and system outcomes.</a:t>
            </a:r>
          </a:p>
          <a:p>
            <a:endParaRPr/>
          </a:p>
          <a:p>
            <a:r>
              <a:t>You can also mention that mocking is still useful, but it tends to happen at boundaries instead of inside every technical layer. That usually produces simpler tests with clearer intent.</a:t>
            </a:r>
          </a:p>
          <a:p>
            <a:endParaRPr/>
          </a:p>
          <a:p>
            <a:r>
              <a:t>Transition with: "Vertical slices also pair naturally with another pattern many teams use: CQRS."</a:t>
            </a:r>
          </a:p>
          <a:p>
            <a:endParaRPr/>
          </a:p>
          <a:p>
            <a:r>
              <a:t>---</a:t>
            </a:r>
          </a:p>
          <a:p>
            <a:endParaRPr/>
          </a:p>
          <a:p>
            <a:r>
              <a:t>Source: slides\marp\vertical-slicing-architecture-introduction.deck.md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 Explain that Command Query Responsibility Segregation separates the write path from the read path because those two concerns often want different models and optimizations.</a:t>
            </a:r>
          </a:p>
          <a:p>
            <a:endParaRPr/>
          </a:p>
          <a:p>
            <a:r>
              <a:t>On the read side, teams may denormalize data, cache aggressively, or build projections for fast display. On the write side, the focus is enforcing rules, validating intent, and updating authoritative data correctly.</a:t>
            </a:r>
          </a:p>
          <a:p>
            <a:endParaRPr/>
          </a:p>
          <a:p>
            <a:r>
              <a:t>Now connect it back to vertical slices: each feature can own both its command side and its query side. That makes CQRS feel less abstract because the pattern is implemented within a feature boundary rather than as a separate architectural island.</a:t>
            </a:r>
          </a:p>
          <a:p>
            <a:endParaRPr/>
          </a:p>
          <a:p>
            <a:r>
              <a:t>Transition with: "Let's close with the main ideas you want people to remember after this section."</a:t>
            </a:r>
          </a:p>
          <a:p>
            <a:endParaRPr/>
          </a:p>
          <a:p>
            <a:r>
              <a:t>---</a:t>
            </a:r>
          </a:p>
          <a:p>
            <a:endParaRPr/>
          </a:p>
          <a:p>
            <a:r>
              <a:t>Source: slides\marp\vertical-slicing-architecture-introduction.deck.md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Use about one minute to close. Recap that vertical slicing is primarily about improving feature ownership and reducing the cost of change.</a:t>
            </a:r>
          </a:p>
          <a:p>
            <a:endParaRPr/>
          </a:p>
          <a:p>
            <a:r>
              <a:t>Reinforce that the architecture helps both individuals and teams: developers move faster, changes are easier to contain, and the codebase better reflects how the business thinks about work.</a:t>
            </a:r>
          </a:p>
          <a:p>
            <a:endParaRPr/>
          </a:p>
          <a:p>
            <a:r>
              <a:t>If you want an audience prompt, ask which current feature in their codebase would be easiest to convert into a first slice. That question helps bridge the presentation into practical adoption.</a:t>
            </a:r>
          </a:p>
          <a:p>
            <a:endParaRPr/>
          </a:p>
          <a:p>
            <a:r>
              <a:t>End by signaling that the next step is usually implementation guidance, where teams define commands, handlers, validators, and feature-level tests.</a:t>
            </a:r>
          </a:p>
          <a:p>
            <a:endParaRPr/>
          </a:p>
          <a:p>
            <a:r>
              <a:t>---</a:t>
            </a:r>
          </a:p>
          <a:p>
            <a:endParaRPr/>
          </a:p>
          <a:p>
            <a:r>
              <a:t>Source: slides\marp\vertical-slicing-architecture-introduction.deck.md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by framing this section as the bridge between architecture guidance and actual delivery planning.</a:t>
            </a:r>
          </a:p>
          <a:p>
            <a:endParaRPr/>
          </a:p>
          <a:p>
            <a:r>
              <a:t>Explain that vertical slices are not just a coding pattern; they are also a planning tool. The point of the section is to help the audience see how to move from requirements to a buildable roadmap.</a:t>
            </a:r>
          </a:p>
          <a:p>
            <a:endParaRPr/>
          </a:p>
          <a:p>
            <a:r>
              <a:t>Spend a few seconds previewing the three parts of the talk: reviewing the planning instruction file, generating implementation plans with AI, and improving those plans through multi-model evaluation.</a:t>
            </a:r>
          </a:p>
          <a:p>
            <a:endParaRPr/>
          </a:p>
          <a:p>
            <a:r>
              <a:t>---</a:t>
            </a:r>
          </a:p>
          <a:p>
            <a:endParaRPr/>
          </a:p>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as a table of contents for the section. Keep the pace brisk and make it clear that each bullet corresponds to a practical planning step teams can repeat.</a:t>
            </a:r>
          </a:p>
          <a:p>
            <a:endParaRPr/>
          </a:p>
          <a:p>
            <a:r>
              <a:t>Emphasize that the section is intentionally operational. It is about making slices small enough to implement, complete enough to deliver value, and structured enough that AI can help generate plans instead of vague suggestions.</a:t>
            </a:r>
          </a:p>
          <a:p>
            <a:endParaRPr/>
          </a:p>
          <a:p>
            <a:r>
              <a:t>Transition by saying the first step is understanding the instruction file that defines the planning rules.</a:t>
            </a:r>
          </a:p>
          <a:p>
            <a:endParaRPr/>
          </a:p>
          <a:p>
            <a:r>
              <a:t>---</a:t>
            </a:r>
          </a:p>
          <a:p>
            <a:endParaRPr/>
          </a:p>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instruction file as the planning playbook. It tells both humans and AI how to reason about a feature before code is written.</a:t>
            </a:r>
          </a:p>
          <a:p>
            <a:endParaRPr/>
          </a:p>
          <a:p>
            <a:r>
              <a:t>Call out that a strong instruction file improves consistency. Instead of every plan starting from scratch, the team gets a repeatable way to identify slices, document dependencies, and define an implementation sequence.</a:t>
            </a:r>
          </a:p>
          <a:p>
            <a:endParaRPr/>
          </a:p>
          <a:p>
            <a:r>
              <a:t>Mention that the file is valuable even when AI is not involved because it clarifies how the team wants work decomposed.</a:t>
            </a:r>
          </a:p>
          <a:p>
            <a:endParaRPr/>
          </a:p>
          <a:p>
            <a:r>
              <a:t>---</a:t>
            </a:r>
          </a:p>
          <a:p>
            <a:endParaRPr/>
          </a:p>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audience through the five strategies and explain that no single strategy is always correct. The right one depends on the kind of behavior being modeled.</a:t>
            </a:r>
          </a:p>
          <a:p>
            <a:endParaRPr/>
          </a:p>
          <a:p>
            <a:r>
              <a:t>For user action decomposition, use an example like "submit order" or "reset password." For CRUD, use admin maintenance screens. For workflow stages, mention onboarding or approvals. For business events, use order placed or payment failed. For CQRS, explain separating queries from commands when reads and writes differ significantly.</a:t>
            </a:r>
          </a:p>
          <a:p>
            <a:endParaRPr/>
          </a:p>
          <a:p>
            <a:r>
              <a:t>Stress that the planning file helps choose a strategy rather than forcing one pattern onto every feature.</a:t>
            </a:r>
          </a:p>
          <a:p>
            <a:endParaRPr/>
          </a:p>
          <a:p>
            <a:r>
              <a:t>---</a:t>
            </a:r>
          </a:p>
          <a:p>
            <a:endParaRPr/>
          </a:p>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defines the quality bar for a slice. Explain that a slice should deliver one meaningful capability and contain everything needed to implement that capability end to end.</a:t>
            </a:r>
          </a:p>
          <a:p>
            <a:endParaRPr/>
          </a:p>
          <a:p>
            <a:r>
              <a:t>Clarify "no horizontal sharing" by contrasting a real slice with a layer-based task such as "build all repositories first." Horizontal work may still exist, but it should not become the primary planning unit.</a:t>
            </a:r>
          </a:p>
          <a:p>
            <a:endParaRPr/>
          </a:p>
          <a:p>
            <a:r>
              <a:t>Use the phrase "valuable and manageable" more than once. That is the balance teams often miss when they either create giant epics or tiny technical chores that produce no user value.</a:t>
            </a:r>
          </a:p>
          <a:p>
            <a:endParaRPr/>
          </a:p>
          <a:p>
            <a:r>
              <a:t>---</a:t>
            </a:r>
          </a:p>
          <a:p>
            <a:endParaRPr/>
          </a:p>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slicing is not just naming features. It requires examining data dependencies and service dependencies before locking in the plan.</a:t>
            </a:r>
          </a:p>
          <a:p>
            <a:endParaRPr/>
          </a:p>
          <a:p>
            <a:r>
              <a:t>Walk through the decision aid from left to right. Start with the flow, then look at dependency boundaries, then check whether the proposed slice is too large or too fragmented, and finally place it into an execution sequence.</a:t>
            </a:r>
          </a:p>
          <a:p>
            <a:endParaRPr/>
          </a:p>
          <a:p>
            <a:r>
              <a:t>This is a good moment to remind the audience that planning errors often come from ignoring dependencies until implementation begins.</a:t>
            </a:r>
          </a:p>
          <a:p>
            <a:endParaRPr/>
          </a:p>
          <a:p>
            <a:r>
              <a:t>---</a:t>
            </a:r>
          </a:p>
          <a:p>
            <a:endParaRPr/>
          </a:p>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the prompt works because it combines two inputs: the planning instructions and the actual feature requirements. Without both, the output is usually too generic.</a:t>
            </a:r>
          </a:p>
          <a:p>
            <a:endParaRPr/>
          </a:p>
          <a:p>
            <a:r>
              <a:t>Point out that this is where AI becomes a planning accelerator. Instead of starting from a blank page, the team gets a draft plan containing slices, dependencies, sequencing, and potential sprint structure.</a:t>
            </a:r>
          </a:p>
          <a:p>
            <a:endParaRPr/>
          </a:p>
          <a:p>
            <a:r>
              <a:t>Also note that the prompt is intentionally simple. The quality comes from the instruction file and source requirements, not from a complicated prompt.</a:t>
            </a:r>
          </a:p>
          <a:p>
            <a:endParaRPr/>
          </a:p>
          <a:p>
            <a:r>
              <a:t>---</a:t>
            </a:r>
          </a:p>
          <a:p>
            <a:endParaRPr/>
          </a:p>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to define evaluation criteria for AI-generated plans. The audience should leave knowing what "good" looks like, not just that AI can produce something.</a:t>
            </a:r>
          </a:p>
          <a:p>
            <a:endParaRPr/>
          </a:p>
          <a:p>
            <a:r>
              <a:t>Explain that different models may emphasize different aspects. One might provide stronger rationale, another might produce cleaner sequencing, and another might be better at summarizing requirements.</a:t>
            </a:r>
          </a:p>
          <a:p>
            <a:endParaRPr/>
          </a:p>
          <a:p>
            <a:r>
              <a:t>Encourage the audience to compare outputs rather than assuming the first plan is correct. This leads naturally into the multi-model review exercise.</a:t>
            </a:r>
          </a:p>
          <a:p>
            <a:endParaRPr/>
          </a:p>
          <a:p>
            <a:r>
              <a:t>---</a:t>
            </a:r>
          </a:p>
          <a:p>
            <a:endParaRPr/>
          </a:p>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Translate the abstract process into a concrete example. Use the calculator scenario because it is simple enough to understand quickly while still showing real decomposition choices.</a:t>
            </a:r>
          </a:p>
          <a:p>
            <a:endParaRPr/>
          </a:p>
          <a:p>
            <a:r>
              <a:t>Mention that one model may group input and validation together, while another may separate them. One may treat history as a later slice because it depends on completed calculations. These are exactly the kinds of planning differences worth discussing.</a:t>
            </a:r>
          </a:p>
          <a:p>
            <a:endParaRPr/>
          </a:p>
          <a:p>
            <a:r>
              <a:t>Reinforce that the output is not just a list of tasks. It is a roadmap with ordering logic.</a:t>
            </a:r>
          </a:p>
          <a:p>
            <a:endParaRPr/>
          </a:p>
          <a:p>
            <a:r>
              <a:t>---</a:t>
            </a:r>
          </a:p>
          <a:p>
            <a:endParaRPr/>
          </a:p>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 this as a quality-improvement exercise, not a competition between models. The value comes from using one model to review the blind spots of another.</a:t>
            </a:r>
          </a:p>
          <a:p>
            <a:endParaRPr/>
          </a:p>
          <a:p>
            <a:r>
              <a:t>Walk through the six findings quickly and frame them as practical improvements. These are not cosmetic issues; they affect whether teams can actually use the planning artifact consistently.</a:t>
            </a:r>
          </a:p>
          <a:p>
            <a:endParaRPr/>
          </a:p>
          <a:p>
            <a:r>
              <a:t>Highlight that evaluation uncovered missing completeness in examples and templates, which matters because templates are what guide future AI generations.</a:t>
            </a:r>
          </a:p>
          <a:p>
            <a:endParaRPr/>
          </a:p>
          <a:p>
            <a:r>
              <a:t>---</a:t>
            </a:r>
          </a:p>
          <a:p>
            <a:endParaRPr/>
          </a:p>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with the repeatable workflow. This gives the audience a practical method they can adopt immediately.</a:t>
            </a:r>
          </a:p>
          <a:p>
            <a:endParaRPr/>
          </a:p>
          <a:p>
            <a:r>
              <a:t>Emphasize that the instruction file is the stable asset, AI provides the first draft, and multi-model review improves quality. Over time, the planning assets themselves get better, which improves every future plan.</a:t>
            </a:r>
          </a:p>
          <a:p>
            <a:endParaRPr/>
          </a:p>
          <a:p>
            <a:r>
              <a:t>End by connecting this section to execution: once the slices and roadmap are solid, implementation becomes faster, safer, and easier to parallelize.</a:t>
            </a:r>
          </a:p>
          <a:p>
            <a:endParaRPr/>
          </a:p>
          <a:p>
            <a:r>
              <a:t>---</a:t>
            </a:r>
          </a:p>
          <a:p>
            <a:endParaRPr/>
          </a:p>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Introduce this section as the point where planning becomes executable rather than aspirational. Explain that dependency analysis helps the team decide what must be built first, what can safely wait, and what can happen in parallel without creating blockers.  Transition by showing a simple dependency graph and explaining how to read it.</a:t>
            </a:r>
          </a:p>
          <a:p>
            <a:endParaRPr/>
          </a:p>
          <a:p>
            <a:r>
              <a:t>---</a:t>
            </a:r>
          </a:p>
          <a:p>
            <a:endParaRPr/>
          </a:p>
          <a:p>
            <a:r>
              <a:t>Source: slides\marp\dependency-analysis-planning.deck.md</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Explain that a dependency graph is a visual map of implementation order, not just a picture of the system. Root nodes such as foundation setup are important because they unlock other work, while downstream nodes cannot start safely until their prerequisites exist.  Transition by asking which path through the graph will determine overall progress.</a:t>
            </a:r>
          </a:p>
          <a:p>
            <a:endParaRPr/>
          </a:p>
          <a:p>
            <a:r>
              <a:t>---</a:t>
            </a:r>
          </a:p>
          <a:p>
            <a:endParaRPr/>
          </a:p>
          <a:p>
            <a:r>
              <a:t>Source: slides\marp\dependency-analysis-planning.deck.md</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Make the point that not every task has the same scheduling weight. The chain from foundation through Slice 1 and Slice 2 to release readiness is the critical path because a delay anywhere in that line affects the final delivery date.  Transition by showing that some branches can still be parallelized once the right prerequisites are in place.</a:t>
            </a:r>
          </a:p>
          <a:p>
            <a:endParaRPr/>
          </a:p>
          <a:p>
            <a:r>
              <a:t>---</a:t>
            </a:r>
          </a:p>
          <a:p>
            <a:endParaRPr/>
          </a:p>
          <a:p>
            <a:r>
              <a:t>Source: slides\marp\dependency-analysis-planning.deck.md</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Explain that parallelization is useful, but only after the common enabling work is complete. In this example, Slice 1 and Slice 2 can move at the same time, yet the integration slice must wait until both are finished, so sequencing still matters.  Transition by separating foundational work from dependent features so the audience can see how to prioritize the backlog.</a:t>
            </a:r>
          </a:p>
          <a:p>
            <a:endParaRPr/>
          </a:p>
          <a:p>
            <a:r>
              <a:t>---</a:t>
            </a:r>
          </a:p>
          <a:p>
            <a:endParaRPr/>
          </a:p>
          <a:p>
            <a:r>
              <a:t>Source: slides\marp\dependency-analysis-planning.deck.md</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Clarify that foundational work is valuable because it unlocks many downstream slices, not because it is glamorous. Dependent features usually deliver visible business value, but they become risky or inefficient if the core infrastructure they need is missing or unstable.  Transition by summarizing a lightweight planning process the team can repeat for every implementation plan.</a:t>
            </a:r>
          </a:p>
          <a:p>
            <a:endParaRPr/>
          </a:p>
          <a:p>
            <a:r>
              <a:t>---</a:t>
            </a:r>
          </a:p>
          <a:p>
            <a:endParaRPr/>
          </a:p>
          <a:p>
            <a:r>
              <a:t>Source: slides\marp\dependency-analysis-planning.deck.md</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Close by turning the concept into a repeatable planning workflow. The audience should leave with the idea that dependency analysis is a small upfront investment that prevents scheduling confusion, blocked development, and unrealistic sequencing later.  End by connecting this back to vertical slices, where smart sequencing makes incremental delivery much easier.</a:t>
            </a:r>
          </a:p>
          <a:p>
            <a:endParaRPr/>
          </a:p>
          <a:p>
            <a:r>
              <a:t>---</a:t>
            </a:r>
          </a:p>
          <a:p>
            <a:endParaRPr/>
          </a:p>
          <a:p>
            <a:r>
              <a:t>Source: slides\marp\dependency-analysis-planning.deck.md</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~00:22</a:t>
            </a:r>
          </a:p>
          <a:p>
            <a:endParaRPr/>
          </a:p>
          <a:p>
            <a:r>
              <a:t>Introduce this section as the bridge between planning and actual implementation. The audience should understand that a slice plan becomes much more useful when it is converted into a precise prompt that tells the AI what to build, how to verify it, and how to demonstrate it.  Transition by asking what information a good implementation prompt must capture before any code is generated.</a:t>
            </a:r>
          </a:p>
          <a:p>
            <a:endParaRPr/>
          </a:p>
          <a:p>
            <a:r>
              <a:t>---</a:t>
            </a:r>
          </a:p>
          <a:p>
            <a:endParaRPr/>
          </a:p>
          <a:p>
            <a:r>
              <a:t>Source: slides\marp\implementation-prompts-verification.deck.md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Explain that the best implementation prompts are intentionally narrow. Rather than asking for an entire application, the team picks one slice from the plan and turns that into a focused request that can be reviewed and tested independently.  Transition by showing what the actual prompt needs to contain once the slice is chosen.</a:t>
            </a:r>
          </a:p>
          <a:p>
            <a:endParaRPr/>
          </a:p>
          <a:p>
            <a:r>
              <a:t>---</a:t>
            </a:r>
          </a:p>
          <a:p>
            <a:endParaRPr/>
          </a:p>
          <a:p>
            <a:r>
              <a:t>Source: slides\marp\implementation-prompts-verification.deck.md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Frame this slide around prompt construction, not just prompt wording. The important move is that the request names the slice, points to the governing instructions, and asks for more than code generation by explicitly requiring verification and demonstration guidance.  Transition by breaking down the expected deliverables inside the generated prompt file.</a:t>
            </a:r>
          </a:p>
          <a:p>
            <a:endParaRPr/>
          </a:p>
          <a:p>
            <a:r>
              <a:t>---</a:t>
            </a:r>
          </a:p>
          <a:p>
            <a:endParaRPr/>
          </a:p>
          <a:p>
            <a:r>
              <a:t>Source: slides\marp\implementation-prompts-verification.deck.md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Walk through the prompt output as if you are reviewing a generated file with the class. The goal is not merely to list filenames, but to show that the prompt should describe what each file is responsible for and how the pieces fit together.  Transition by moving from implementation detail to the checks that prove the slice actually works.</a:t>
            </a:r>
          </a:p>
          <a:p>
            <a:endParaRPr/>
          </a:p>
          <a:p>
            <a:r>
              <a:t>---</a:t>
            </a:r>
          </a:p>
          <a:p>
            <a:endParaRPr/>
          </a:p>
          <a:p>
            <a:r>
              <a:t>Source: slides\marp\implementation-prompts-verification.deck.md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Explain that verification should be authored before or alongside implementation, not after the fact. The checks on this slide are strong examples because they cover default state, observable behavior, and accessibility requirements in a way that reviewers and demonstrators can both understand.  Transition by showing how showcase instructions differ from verification even though the two are related.</a:t>
            </a:r>
          </a:p>
          <a:p>
            <a:endParaRPr/>
          </a:p>
          <a:p>
            <a:r>
              <a:t>---</a:t>
            </a:r>
          </a:p>
          <a:p>
            <a:endParaRPr/>
          </a:p>
          <a:p>
            <a:r>
              <a:t>Source: slides\marp\implementation-prompts-verification.deck.md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Make the distinction between proving correctness and presenting value. Verification asks whether the slice works; showcase guidance tells a human demonstrator how to walk stakeholders through what appears on screen, what changes, and why they should care.  Transition by expanding from one slice to the broader roadmap of multiple prompts.</a:t>
            </a:r>
          </a:p>
          <a:p>
            <a:endParaRPr/>
          </a:p>
          <a:p>
            <a:r>
              <a:t>---</a:t>
            </a:r>
          </a:p>
          <a:p>
            <a:endParaRPr/>
          </a:p>
          <a:p>
            <a:r>
              <a:t>Source: slides\marp\implementation-prompts-verification.deck.md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Close by connecting the single-slice example to the full delivery workflow. Each prompt becomes a reusable unit of work that can be re-run, refined, and audited over time, which is especially useful when implementation spans multiple sessions or contributors.  End by encouraging the audience to treat prompt files as versioned implementation assets, not disposable chat text.</a:t>
            </a:r>
          </a:p>
          <a:p>
            <a:endParaRPr/>
          </a:p>
          <a:p>
            <a:r>
              <a:t>---</a:t>
            </a:r>
          </a:p>
          <a:p>
            <a:endParaRPr/>
          </a:p>
          <a:p>
            <a:r>
              <a:t>Source: slides\marp\implementation-prompts-verification.deck.md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deck as a practical delivery workflow, not just an architecture concept. Emphasize that each vertical slice includes API, domain logic, persistence, and tests. Mention that parallel work is possible only after dependency analysis confirms slice independence.</a:t>
            </a:r>
          </a:p>
          <a:p>
            <a:endParaRPr/>
          </a:p>
          <a:p>
            <a:r>
              <a:t>---</a:t>
            </a:r>
          </a:p>
          <a:p>
            <a:endParaRPr/>
          </a:p>
          <a:p>
            <a:r>
              <a:t>Source: slides\marp\basic-vertical-slice-workflow.deck.md</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teams should avoid horizontal tasks like build all repositories first. Reinforce that each slice should produce demonstrable value. Recommend a short template for each slice so implementation and review stay consistent.</a:t>
            </a:r>
          </a:p>
          <a:p>
            <a:endParaRPr/>
          </a:p>
          <a:p>
            <a:r>
              <a:t>---</a:t>
            </a:r>
          </a:p>
          <a:p>
            <a:endParaRPr/>
          </a:p>
          <a:p>
            <a:r>
              <a:t>Source: slides\marp\basic-vertical-slice-workflow.deck.md</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left to right. Call out that Foundation might include authentication baseline, shared contracts, and CI setup. Then point to slices A, B, and C as intentionally parallel lanes. Close by explaining that integration hardening is a separate explicit phase.</a:t>
            </a:r>
          </a:p>
          <a:p>
            <a:endParaRPr/>
          </a:p>
          <a:p>
            <a:r>
              <a:t>---</a:t>
            </a:r>
          </a:p>
          <a:p>
            <a:endParaRPr/>
          </a:p>
          <a:p>
            <a:r>
              <a:t>Source: slides\marp\basic-vertical-slice-workflow.deck.md</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Emphasize team coordination practices. Explain that parallel work fails when contracts are ambiguous. Recommend daily integration checks and a lightweight dependency board to catch collisions early.</a:t>
            </a:r>
          </a:p>
          <a:p>
            <a:endParaRPr/>
          </a:p>
          <a:p>
            <a:r>
              <a:t>---</a:t>
            </a:r>
          </a:p>
          <a:p>
            <a:endParaRPr/>
          </a:p>
          <a:p>
            <a:r>
              <a:t>Source: slides\marp\basic-vertical-slice-workflow.deck.md</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Describe this as controlled convergence, not a big bang merge. Point out that each slice already passed its own checks, so this phase focuses on system behavior and production readiness. Encourage using release checklists to avoid late surprises.</a:t>
            </a:r>
          </a:p>
          <a:p>
            <a:endParaRPr/>
          </a:p>
          <a:p>
            <a:r>
              <a:t>---</a:t>
            </a:r>
          </a:p>
          <a:p>
            <a:endParaRPr/>
          </a:p>
          <a:p>
            <a:r>
              <a:t>Source: slides\marp\basic-vertical-slice-workflow.deck.md</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final slide as a reusable planning pattern. Mention that exact durations vary, but the structure remains stable: foundation, parallel execution, then hardening. Invite participants to adapt this pattern to their own project backlog.</a:t>
            </a:r>
          </a:p>
          <a:p>
            <a:endParaRPr/>
          </a:p>
          <a:p>
            <a:r>
              <a:t>---</a:t>
            </a:r>
          </a:p>
          <a:p>
            <a:endParaRPr/>
          </a:p>
          <a:p>
            <a:r>
              <a:t>Source: slides\marp\basic-vertical-slice-workflow.deck.md</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~00:12</a:t>
            </a:r>
          </a:p>
          <a:p>
            <a:endParaRPr/>
          </a:p>
          <a:p>
            <a:r>
              <a:t>Introduce this section as the quality gate that turns implementation work into team-reviewed delivery. Explain that the goal is not only to open a pull request, but to create a workflow where human reviewers and AI reviewers can both contribute useful feedback before the slice is merged.  Transition by starting with the mechanics of creating the pull request itself.</a:t>
            </a:r>
          </a:p>
          <a:p>
            <a:endParaRPr/>
          </a:p>
          <a:p>
            <a:r>
              <a:t>---</a:t>
            </a:r>
          </a:p>
          <a:p>
            <a:endParaRPr/>
          </a:p>
          <a:p>
            <a:r>
              <a:t>Source: slides\marp\pull-request-code-review.deck.md</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Explain that a clean review starts with a clean pull request. Branch naming, a narrow slice-focused scope, and issue linkage all make it easier for both humans and AI to understand what the change is supposed to accomplish and what context it belongs to.  Transition by showing what happens once the PR is open and reviewers are assigned.</a:t>
            </a:r>
          </a:p>
          <a:p>
            <a:endParaRPr/>
          </a:p>
          <a:p>
            <a:r>
              <a:t>---</a:t>
            </a:r>
          </a:p>
          <a:p>
            <a:endParaRPr/>
          </a:p>
          <a:p>
            <a:r>
              <a:t>Source: slides\marp\pull-request-code-review.deck.md</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Make the point that human review and AI review are complementary rather than competitive. The human reviewer brings context, intent, and domain judgment, while Copilot can scan for policy violations, code smells, and other issues that might be easy to miss in a first pass.  Transition by looking at the kinds of issues the AI reviewer surfaced.</a:t>
            </a:r>
          </a:p>
          <a:p>
            <a:endParaRPr/>
          </a:p>
          <a:p>
            <a:r>
              <a:t>---</a:t>
            </a:r>
          </a:p>
          <a:p>
            <a:endParaRPr/>
          </a:p>
          <a:p>
            <a:r>
              <a:t>Source: slides\marp\pull-request-code-review.deck.md</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Use this slide to summarize the review findings before going into comment-handling mechanics. The key takeaway is that the AI review did not focus on one narrow category of defects; it found documentation compliance issues, implementation-pattern concerns, and general quality problems in the same run.  Transition by focusing on how the team should interpret and respond to the comments.</a:t>
            </a:r>
          </a:p>
          <a:p>
            <a:endParaRPr/>
          </a:p>
          <a:p>
            <a:r>
              <a:t>---</a:t>
            </a:r>
          </a:p>
          <a:p>
            <a:endParaRPr/>
          </a:p>
          <a:p>
            <a:r>
              <a:t>Source: slides\marp\pull-request-code-review.deck.md</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Stress that AI review produces input, not orders. Review comments can be helpful, but the team still has to evaluate whether a suggestion is accurate, relevant to the slice, and worth making before merge, especially when recommendations touch patterns or style rather than outright defects.  Transition by showing practical ways to handle comments once the team decides to act.</a:t>
            </a:r>
          </a:p>
          <a:p>
            <a:endParaRPr/>
          </a:p>
          <a:p>
            <a:r>
              <a:t>---</a:t>
            </a:r>
          </a:p>
          <a:p>
            <a:endParaRPr/>
          </a:p>
          <a:p>
            <a:r>
              <a:t>Source: slides\marp\pull-request-code-review.deck.md</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Explain that comment resolution is partly a coordination problem. If comments are unrelated, it is safer to handle them one at a time so the reasoning stays clear, but if several comments all stem from the same root cause, batching them can reduce churn and speed up the next review pass.  Transition by ending with the broader workflow lessons the team should keep using.</a:t>
            </a:r>
          </a:p>
          <a:p>
            <a:endParaRPr/>
          </a:p>
          <a:p>
            <a:r>
              <a:t>---</a:t>
            </a:r>
          </a:p>
          <a:p>
            <a:endParaRPr/>
          </a:p>
          <a:p>
            <a:r>
              <a:t>Source: slides\marp\pull-request-code-review.deck.md</a:t>
            </a:r>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Close by tying the mechanics back to team process. The audience should leave with the idea that a pull request is a collaborative checkpoint where both human judgment and AI-assisted review improve quality, and where recurring feedback should eventually drive updates to instructions, prompts, and testing standards.  End by suggesting that every repeated review comment is a candidate for strengthening the guidance upstream.</a:t>
            </a:r>
          </a:p>
          <a:p>
            <a:endParaRPr/>
          </a:p>
          <a:p>
            <a:r>
              <a:t>---</a:t>
            </a:r>
          </a:p>
          <a:p>
            <a:endParaRPr/>
          </a:p>
          <a:p>
            <a:r>
              <a:t>Source: slides\marp\pull-request-code-review.deck.md</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~00:18</a:t>
            </a:r>
          </a:p>
          <a:p>
            <a:endParaRPr/>
          </a:p>
          <a:p>
            <a:r>
              <a:t>Introduce this section as a practical demonstration of Copilot acting as a review assistant rather than a code generator. Explain that the value is not just in the comments themselves, but in how the review surfaces patterns such as correctness issues, compliance gaps, and recurring quality risks.  Transition by showing the review workflow from pull request to human action.</a:t>
            </a:r>
          </a:p>
          <a:p>
            <a:endParaRPr/>
          </a:p>
          <a:p>
            <a:r>
              <a:t>---</a:t>
            </a:r>
          </a:p>
          <a:p>
            <a:endParaRPr/>
          </a:p>
          <a:p>
            <a:r>
              <a:t>Source: slides\marp\github-code-review-with-copilot.deck.md</a:t>
            </a: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Walk through the process as a collaboration loop rather than an automated approval gate. Copilot can inspect the diff quickly and highlight issues, but the team still has to evaluate the feedback, decide which comments are valid, and implement the actual fixes.  Transition by summarizing the kinds of issues the review identified.</a:t>
            </a:r>
          </a:p>
          <a:p>
            <a:endParaRPr/>
          </a:p>
          <a:p>
            <a:r>
              <a:t>---</a:t>
            </a:r>
          </a:p>
          <a:p>
            <a:endParaRPr/>
          </a:p>
          <a:p>
            <a:r>
              <a:t>Source: slides\marp\github-code-review-with-copilot.deck.md</a:t>
            </a:r>
          </a:p>
        </p:txBody>
      </p:sp>
      <p:sp>
        <p:nvSpPr>
          <p:cNvPr id="4" name="Slide Number Placeholder 3"/>
          <p:cNvSpPr>
            <a:spLocks noGrp="1"/>
          </p:cNvSpPr>
          <p:nvPr>
            <p:ph type="sldNum" sz="quarter" idx="5"/>
          </p:nvPr>
        </p:nvSpPr>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Use this slide to give the audience a fast inventory of the feedback categories before you zoom in on individual examples. The important takeaway is that one review surfaced both code-level problems and process-level issues, which shows why review is valuable even when the code appears to work.  Transition by taking the two most concrete implementation findings first.</a:t>
            </a:r>
          </a:p>
          <a:p>
            <a:endParaRPr/>
          </a:p>
          <a:p>
            <a:r>
              <a:t>---</a:t>
            </a:r>
          </a:p>
          <a:p>
            <a:endParaRPr/>
          </a:p>
          <a:p>
            <a:r>
              <a:t>Source: slides\marp\github-code-review-with-copilot.deck.md</a:t>
            </a:r>
          </a:p>
        </p:txBody>
      </p:sp>
      <p:sp>
        <p:nvSpPr>
          <p:cNvPr id="4" name="Slide Number Placeholder 3"/>
          <p:cNvSpPr>
            <a:spLocks noGrp="1"/>
          </p:cNvSpPr>
          <p:nvPr>
            <p:ph type="sldNum" sz="quarter" idx="5"/>
          </p:nvPr>
        </p:nvSpPr>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Explain that these two findings are especially useful because they highlight different kinds of correctness risk. The Unicode issue is small but important because unusual characters can be hard to spot and may behave differently across tools, while the state-reset issue is a deeper logic problem because the UI looks reset even when internal state is not.  Transition by moving from correctness to the policy and cleanup findings.</a:t>
            </a:r>
          </a:p>
          <a:p>
            <a:endParaRPr/>
          </a:p>
          <a:p>
            <a:r>
              <a:t>---</a:t>
            </a:r>
          </a:p>
          <a:p>
            <a:endParaRPr/>
          </a:p>
          <a:p>
            <a:r>
              <a:t>Source: slides\marp\github-code-review-with-copilot.deck.md</a:t>
            </a:r>
          </a:p>
        </p:txBody>
      </p:sp>
      <p:sp>
        <p:nvSpPr>
          <p:cNvPr id="4" name="Slide Number Placeholder 3"/>
          <p:cNvSpPr>
            <a:spLocks noGrp="1"/>
          </p:cNvSpPr>
          <p:nvPr>
            <p:ph type="sldNum" sz="quarter" idx="5"/>
          </p:nvPr>
        </p:nvSpPr>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Frame this slide as the broader quality story behind the pull request. Missing provenance metadata is not just a formatting issue in this repository, because it breaks traceability requirements, while dead code and testing gaps both increase the chance of future confusion or regressions.  Transition by describing what the review experience looked like for the humans involved.</a:t>
            </a:r>
          </a:p>
          <a:p>
            <a:endParaRPr/>
          </a:p>
          <a:p>
            <a:r>
              <a:t>---</a:t>
            </a:r>
          </a:p>
          <a:p>
            <a:endParaRPr/>
          </a:p>
          <a:p>
            <a:r>
              <a:t>Source: slides\marp\github-code-review-with-copilot.deck.md</a:t>
            </a:r>
          </a:p>
        </p:txBody>
      </p:sp>
      <p:sp>
        <p:nvSpPr>
          <p:cNvPr id="4" name="Slide Number Placeholder 3"/>
          <p:cNvSpPr>
            <a:spLocks noGrp="1"/>
          </p:cNvSpPr>
          <p:nvPr>
            <p:ph type="sldNum" sz="quarter" idx="5"/>
          </p:nvPr>
        </p:nvSpPr>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Explain that part of the educational value came from seeing how the review reasoned about the diff. Even when the comments were useful, someone still had to verify the issue, choose the right fix, and decide whether the underlying instructions or prompts should change to prevent the same mistake next time.  Transition by showing how the team can use those findings to strengthen the instruction layer.</a:t>
            </a:r>
          </a:p>
          <a:p>
            <a:endParaRPr/>
          </a:p>
          <a:p>
            <a:r>
              <a:t>---</a:t>
            </a:r>
          </a:p>
          <a:p>
            <a:endParaRPr/>
          </a:p>
          <a:p>
            <a:r>
              <a:t>Source: slides\marp\github-code-review-with-copilot.deck.md</a:t>
            </a:r>
          </a:p>
        </p:txBody>
      </p:sp>
      <p:sp>
        <p:nvSpPr>
          <p:cNvPr id="4" name="Slide Number Placeholder 3"/>
          <p:cNvSpPr>
            <a:spLocks noGrp="1"/>
          </p:cNvSpPr>
          <p:nvPr>
            <p:ph type="sldNum" sz="quarter" idx="5"/>
          </p:nvPr>
        </p:nvSpPr>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Close by connecting review feedback to process improvement instead of treating comments as isolated repairs. If the same issues can recur, the right move is to update the instruction files, prompt guidance, or test expectations so future generated code starts from a stronger baseline.  End by summarizing that Copilot review is most valuable when it improves both the current change and the next one.</a:t>
            </a:r>
          </a:p>
          <a:p>
            <a:endParaRPr/>
          </a:p>
          <a:p>
            <a:r>
              <a:t>---</a:t>
            </a:r>
          </a:p>
          <a:p>
            <a:endParaRPr/>
          </a:p>
          <a:p>
            <a:r>
              <a:t>Source: slides\marp\github-code-review-with-copilot.deck.md</a:t>
            </a:r>
          </a:p>
        </p:txBody>
      </p:sp>
      <p:sp>
        <p:nvSpPr>
          <p:cNvPr id="4" name="Slide Number Placeholder 3"/>
          <p:cNvSpPr>
            <a:spLocks noGrp="1"/>
          </p:cNvSpPr>
          <p:nvPr>
            <p:ph type="sldNum" sz="quarter" idx="5"/>
          </p:nvPr>
        </p:nvSpPr>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~00:11</a:t>
            </a:r>
          </a:p>
          <a:p>
            <a:endParaRPr/>
          </a:p>
          <a:p>
            <a:r>
              <a:t>Introduce this section as the operational layer around pull requests rather than a pure coding topic. Explain that teams need to understand not only how to create and review PRs, but also how repository settings, IDE integrations, and CLI permissions determine what they can do efficiently.  Transition by starting with the merge strategy decision that affects every PR.</a:t>
            </a:r>
          </a:p>
          <a:p>
            <a:endParaRPr/>
          </a:p>
          <a:p>
            <a:r>
              <a:t>---</a:t>
            </a:r>
          </a:p>
          <a:p>
            <a:endParaRPr/>
          </a:p>
          <a:p>
            <a:r>
              <a:t>Source: slides\marp\github-cli-pr-management.deck.md</a:t>
            </a:r>
          </a:p>
        </p:txBody>
      </p:sp>
      <p:sp>
        <p:nvSpPr>
          <p:cNvPr id="4" name="Slide Number Placeholder 3"/>
          <p:cNvSpPr>
            <a:spLocks noGrp="1"/>
          </p:cNvSpPr>
          <p:nvPr>
            <p:ph type="sldNum" sz="quarter" idx="5"/>
          </p:nvPr>
        </p:nvSpPr>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Explain that merge strategy is a governance decision, not just a button choice at the end of a pull request. Squash merges can make the main branch easier to read, while merge commits retain more detail about how work evolved, so teams should choose based on their review and history preferences.  Transition by moving from repository settings into the tools people use to work with PRs day to day.</a:t>
            </a:r>
          </a:p>
          <a:p>
            <a:endParaRPr/>
          </a:p>
          <a:p>
            <a:r>
              <a:t>---</a:t>
            </a:r>
          </a:p>
          <a:p>
            <a:endParaRPr/>
          </a:p>
          <a:p>
            <a:r>
              <a:t>Source: slides\marp\github-cli-pr-management.deck.md</a:t>
            </a:r>
          </a:p>
        </p:txBody>
      </p:sp>
      <p:sp>
        <p:nvSpPr>
          <p:cNvPr id="4" name="Slide Number Placeholder 3"/>
          <p:cNvSpPr>
            <a:spLocks noGrp="1"/>
          </p:cNvSpPr>
          <p:nvPr>
            <p:ph type="sldNum" sz="quarter" idx="5"/>
          </p:nvPr>
        </p:nvSpPr>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Make the point that tooling choice affects reviewer efficiency. When developers can see the PR, the code, and their local workspace in one environment, they spend less time reconstructing context and more time evaluating the actual change.  Transition by showing how the CLI fits into that same workflow.</a:t>
            </a:r>
          </a:p>
          <a:p>
            <a:endParaRPr/>
          </a:p>
          <a:p>
            <a:r>
              <a:t>---</a:t>
            </a:r>
          </a:p>
          <a:p>
            <a:endParaRPr/>
          </a:p>
          <a:p>
            <a:r>
              <a:t>Source: slides\marp\github-cli-pr-management.deck.md</a:t>
            </a:r>
          </a:p>
        </p:txBody>
      </p:sp>
      <p:sp>
        <p:nvSpPr>
          <p:cNvPr id="4" name="Slide Number Placeholder 3"/>
          <p:cNvSpPr>
            <a:spLocks noGrp="1"/>
          </p:cNvSpPr>
          <p:nvPr>
            <p:ph type="sldNum" sz="quarter" idx="5"/>
          </p:nvPr>
        </p:nvSpPr>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Frame this slide around exploration and experimentation rather than a promise that every review action is frictionless. The CLI is powerful because it lets developers stay in terminal-first workflows and script repeated actions, but there are still limits depending on permissions, command support, and token setup.  Transition by showing that Copilot review itself still often starts in the GitHub web interface.</a:t>
            </a:r>
          </a:p>
          <a:p>
            <a:endParaRPr/>
          </a:p>
          <a:p>
            <a:r>
              <a:t>---</a:t>
            </a:r>
          </a:p>
          <a:p>
            <a:endParaRPr/>
          </a:p>
          <a:p>
            <a:r>
              <a:t>Source: slides\marp\github-cli-pr-management.deck.md</a:t>
            </a:r>
          </a:p>
        </p:txBody>
      </p:sp>
      <p:sp>
        <p:nvSpPr>
          <p:cNvPr id="4" name="Slide Number Placeholder 3"/>
          <p:cNvSpPr>
            <a:spLocks noGrp="1"/>
          </p:cNvSpPr>
          <p:nvPr>
            <p:ph type="sldNum" sz="quarter" idx="5"/>
          </p:nvPr>
        </p:nvSpPr>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Explain that PR management is often multi-surface by nature. A team may request the Copilot review in the web UI, inspect the comments in the IDE for better context, and then use the CLI for quick status checks or scripted follow-up actions, so the workflow is hybrid rather than exclusive.  Transition by focusing on why permissions often become the limiting factor.</a:t>
            </a:r>
          </a:p>
          <a:p>
            <a:endParaRPr/>
          </a:p>
          <a:p>
            <a:r>
              <a:t>---</a:t>
            </a:r>
          </a:p>
          <a:p>
            <a:endParaRPr/>
          </a:p>
          <a:p>
            <a:r>
              <a:t>Source: slides\marp\github-cli-pr-management.deck.md</a:t>
            </a:r>
          </a:p>
        </p:txBody>
      </p:sp>
      <p:sp>
        <p:nvSpPr>
          <p:cNvPr id="4" name="Slide Number Placeholder 3"/>
          <p:cNvSpPr>
            <a:spLocks noGrp="1"/>
          </p:cNvSpPr>
          <p:nvPr>
            <p:ph type="sldNum" sz="quarter" idx="5"/>
          </p:nvPr>
        </p:nvSpPr>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Stress that many workflow frustrations are really authentication problems in disguise. Developers may assume a CLI command is broken when the actual issue is that the token does not have permission to read, comment on, or manage the review workflow the way they expect.  Transition by ending with the operational lessons teams should carry forward.</a:t>
            </a:r>
          </a:p>
          <a:p>
            <a:endParaRPr/>
          </a:p>
          <a:p>
            <a:r>
              <a:t>---</a:t>
            </a:r>
          </a:p>
          <a:p>
            <a:endParaRPr/>
          </a:p>
          <a:p>
            <a:r>
              <a:t>Source: slides\marp\github-cli-pr-management.deck.md</a:t>
            </a:r>
          </a:p>
        </p:txBody>
      </p:sp>
      <p:sp>
        <p:nvSpPr>
          <p:cNvPr id="4" name="Slide Number Placeholder 3"/>
          <p:cNvSpPr>
            <a:spLocks noGrp="1"/>
          </p:cNvSpPr>
          <p:nvPr>
            <p:ph type="sldNum" sz="quarter" idx="5"/>
          </p:nvPr>
        </p:nvSpPr>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Close by summarizing that effective PR management is never just about knowing commands. Teams need a clear merge policy, the right interface for the task at hand, and authentication that supports the workflow they want to use, or else the process becomes slower and more confusing than it needs to be.  End by encouraging the audience to audit both their tools and their permissions before they need them under pressure.</a:t>
            </a:r>
          </a:p>
          <a:p>
            <a:endParaRPr/>
          </a:p>
          <a:p>
            <a:r>
              <a:t>---</a:t>
            </a:r>
          </a:p>
          <a:p>
            <a:endParaRPr/>
          </a:p>
          <a:p>
            <a:r>
              <a:t>Source: slides\marp\github-cli-pr-management.deck.md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7FB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5D4979-0E48-181C-5438-B441393DCAC1}"/>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524000" y="2759384"/>
            <a:ext cx="9144000" cy="1891556"/>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524000" y="4952326"/>
            <a:ext cx="9144000" cy="132507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5" name="Picture 4">
            <a:extLst>
              <a:ext uri="{FF2B5EF4-FFF2-40B4-BE49-F238E27FC236}">
                <a16:creationId xmlns:a16="http://schemas.microsoft.com/office/drawing/2014/main" id="{A09F10DC-7230-4581-E771-A51DC87C601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294437" y="1238105"/>
            <a:ext cx="3578217" cy="1288157"/>
          </a:xfrm>
          <a:prstGeom prst="rect">
            <a:avLst/>
          </a:prstGeom>
          <a:ln>
            <a:noFill/>
          </a:ln>
          <a:effectLst/>
        </p:spPr>
      </p:pic>
    </p:spTree>
    <p:extLst>
      <p:ext uri="{BB962C8B-B14F-4D97-AF65-F5344CB8AC3E}">
        <p14:creationId xmlns:p14="http://schemas.microsoft.com/office/powerpoint/2010/main" val="374273472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0587407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2282959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318506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2"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9783303"/>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644564"/>
            <a:ext cx="8928887" cy="1568871"/>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52021016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545636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
        <p:nvSpPr>
          <p:cNvPr id="3" name="Picture Placeholder 3">
            <a:extLst>
              <a:ext uri="{FF2B5EF4-FFF2-40B4-BE49-F238E27FC236}">
                <a16:creationId xmlns:a16="http://schemas.microsoft.com/office/drawing/2014/main" id="{F1C99E23-E5F1-1D9C-BF82-D83E6E9F1346}"/>
              </a:ext>
            </a:extLst>
          </p:cNvPr>
          <p:cNvSpPr>
            <a:spLocks noGrp="1"/>
          </p:cNvSpPr>
          <p:nvPr>
            <p:ph type="pic" sz="quarter" idx="10"/>
          </p:nvPr>
        </p:nvSpPr>
        <p:spPr>
          <a:xfrm>
            <a:off x="900113" y="2433638"/>
            <a:ext cx="10391774" cy="3790950"/>
          </a:xfrm>
        </p:spPr>
        <p:txBody>
          <a:bodyPr/>
          <a:lstStyle/>
          <a:p>
            <a:endParaRPr lang="en-US"/>
          </a:p>
        </p:txBody>
      </p:sp>
      <p:sp>
        <p:nvSpPr>
          <p:cNvPr id="4" name="Text Placeholder 5">
            <a:extLst>
              <a:ext uri="{FF2B5EF4-FFF2-40B4-BE49-F238E27FC236}">
                <a16:creationId xmlns:a16="http://schemas.microsoft.com/office/drawing/2014/main" id="{63708861-970C-B5DB-BF46-526E75A04C16}"/>
              </a:ext>
            </a:extLst>
          </p:cNvPr>
          <p:cNvSpPr>
            <a:spLocks noGrp="1"/>
          </p:cNvSpPr>
          <p:nvPr>
            <p:ph type="body" sz="quarter" idx="11" hasCustomPrompt="1"/>
          </p:nvPr>
        </p:nvSpPr>
        <p:spPr>
          <a:xfrm>
            <a:off x="900113" y="1444625"/>
            <a:ext cx="10391774" cy="649288"/>
          </a:xfrm>
        </p:spPr>
        <p:txBody>
          <a:bodyPr/>
          <a:lstStyle>
            <a:lvl1pPr marL="0" indent="0">
              <a:buNone/>
              <a:defRPr/>
            </a:lvl1pPr>
          </a:lstStyle>
          <a:p>
            <a:pPr lvl="0"/>
            <a:r>
              <a:rPr lang="en-US" dirty="0"/>
              <a:t>Image Caption</a:t>
            </a:r>
          </a:p>
        </p:txBody>
      </p:sp>
    </p:spTree>
    <p:extLst>
      <p:ext uri="{BB962C8B-B14F-4D97-AF65-F5344CB8AC3E}">
        <p14:creationId xmlns:p14="http://schemas.microsoft.com/office/powerpoint/2010/main" val="182745761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7113423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AB04E-CD14-3B5B-FB56-FF0AC2426BBE}"/>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Tree>
    <p:extLst>
      <p:ext uri="{BB962C8B-B14F-4D97-AF65-F5344CB8AC3E}">
        <p14:creationId xmlns:p14="http://schemas.microsoft.com/office/powerpoint/2010/main" val="43538736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833480" y="1051965"/>
            <a:ext cx="9831823" cy="313932"/>
          </a:xfrm>
        </p:spPr>
        <p:txBody>
          <a:bodyPr>
            <a:spAutoFit/>
          </a:bodyPr>
          <a:lstStyle>
            <a:lvl1pPr marL="0" indent="0">
              <a:buFontTx/>
              <a:buNone/>
              <a:defRPr sz="1600">
                <a:latin typeface="Victor Mono" pitchFamily="49" charset="0"/>
              </a:defRPr>
            </a:lvl1pPr>
            <a:lvl2pPr marL="457200" indent="0">
              <a:buFontTx/>
              <a:buNone/>
              <a:defRPr>
                <a:latin typeface="Victor Mono" pitchFamily="49" charset="0"/>
              </a:defRPr>
            </a:lvl2pPr>
            <a:lvl3pPr marL="914400" indent="0">
              <a:buFontTx/>
              <a:buNone/>
              <a:defRPr>
                <a:latin typeface="Victor Mono" pitchFamily="49" charset="0"/>
              </a:defRPr>
            </a:lvl3pPr>
            <a:lvl4pPr marL="1371600" indent="0">
              <a:buFontTx/>
              <a:buNone/>
              <a:defRPr>
                <a:latin typeface="Victor Mono" pitchFamily="49" charset="0"/>
              </a:defRPr>
            </a:lvl4pPr>
            <a:lvl5pPr marL="18288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87609124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entered Two Tit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429000"/>
            <a:ext cx="8928887" cy="1200000"/>
          </a:xfrm>
        </p:spPr>
        <p:txBody>
          <a:bodyPr/>
          <a:lstStyle>
            <a:lvl1pPr algn="ctr">
              <a:defRPr/>
            </a:lvl1pPr>
          </a:lstStyle>
          <a:p>
            <a:r>
              <a:rPr lang="en-US"/>
              <a:t>Click to edit Master title style</a:t>
            </a:r>
            <a:endParaRPr lang="en-US" dirty="0"/>
          </a:p>
        </p:txBody>
      </p:sp>
      <p:sp>
        <p:nvSpPr>
          <p:cNvPr id="3" name="Subtitle 2"/>
          <p:cNvSpPr>
            <a:spLocks noGrp="1"/>
          </p:cNvSpPr>
          <p:nvPr>
            <p:ph type="subTitle" idx="1"/>
          </p:nvPr>
        </p:nvSpPr>
        <p:spPr>
          <a:xfrm>
            <a:off x="1631556" y="3829000"/>
            <a:ext cx="8928887" cy="600000"/>
          </a:xfrm>
        </p:spPr>
        <p:txBody>
          <a:bodyPr/>
          <a:lstStyle>
            <a:lvl1pPr algn="ctr">
              <a:defRPr/>
            </a:lvl1pPr>
          </a:lstStyle>
          <a:p>
            <a:r>
              <a:rPr lang="en-US"/>
              <a:t>Click to edit Master subtitle style</a:t>
            </a:r>
          </a:p>
        </p:txBody>
      </p:sp>
    </p:spTree>
    <p:extLst>
      <p:ext uri="{BB962C8B-B14F-4D97-AF65-F5344CB8AC3E}">
        <p14:creationId xmlns:p14="http://schemas.microsoft.com/office/powerpoint/2010/main" val="52021016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7FB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C53BF9-6377-93D8-5BD7-30937619B4E2}"/>
              </a:ext>
            </a:extLst>
          </p:cNvPr>
          <p:cNvPicPr>
            <a:picLocks noChangeAspect="1"/>
          </p:cNvPicPr>
          <p:nvPr userDrawn="1"/>
        </p:nvPicPr>
        <p:blipFill>
          <a:blip r:embed="rId14">
            <a:alphaModFix amt="20000"/>
          </a:blip>
          <a:srcRect l="301" t="5222" r="713" b="10945"/>
          <a:stretch/>
        </p:blipFill>
        <p:spPr>
          <a:xfrm>
            <a:off x="0" y="-1"/>
            <a:ext cx="12192000" cy="68580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838200" y="365126"/>
            <a:ext cx="8928887" cy="703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838200" y="1461483"/>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CD6163BC-C951-C17F-421A-4AD743EDDB29}"/>
              </a:ext>
            </a:extLst>
          </p:cNvPr>
          <p:cNvPicPr>
            <a:picLocks noChangeAspect="1"/>
          </p:cNvPicPr>
          <p:nvPr userDrawn="1"/>
        </p:nvPicPr>
        <p:blipFill>
          <a:blip r:embed="rId15"/>
          <a:srcRect/>
          <a:stretch/>
        </p:blipFill>
        <p:spPr>
          <a:xfrm>
            <a:off x="10016117" y="424540"/>
            <a:ext cx="1783676" cy="643610"/>
          </a:xfrm>
          <a:prstGeom prst="rect">
            <a:avLst/>
          </a:prstGeom>
          <a:ln>
            <a:noFill/>
          </a:ln>
          <a:effectLst/>
        </p:spPr>
      </p:pic>
    </p:spTree>
    <p:extLst>
      <p:ext uri="{BB962C8B-B14F-4D97-AF65-F5344CB8AC3E}">
        <p14:creationId xmlns:p14="http://schemas.microsoft.com/office/powerpoint/2010/main" val="2005844286"/>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97" r:id="rId3"/>
    <p:sldLayoutId id="2147483746" r:id="rId4"/>
    <p:sldLayoutId id="2147483784" r:id="rId5"/>
    <p:sldLayoutId id="2147483747" r:id="rId6"/>
    <p:sldLayoutId id="2147483748" r:id="rId7"/>
    <p:sldLayoutId id="2147483792" r:id="rId8"/>
    <p:sldLayoutId id="2147483749" r:id="rId9"/>
    <p:sldLayoutId id="2147483750" r:id="rId10"/>
    <p:sldLayoutId id="2147483751" r:id="rId11"/>
    <p:sldLayoutId id="2147483798" r:id="rId12"/>
  </p:sldLayoutIdLst>
  <p:transition>
    <p:fade/>
  </p:transition>
  <p:txStyles>
    <p:titleStyle>
      <a:lvl1pPr algn="l" defTabSz="914400" rtl="0" eaLnBrk="1" latinLnBrk="0" hangingPunct="1">
        <a:lnSpc>
          <a:spcPct val="90000"/>
        </a:lnSpc>
        <a:spcBef>
          <a:spcPct val="0"/>
        </a:spcBef>
        <a:buNone/>
        <a:defRPr sz="44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The Return of the Prompter</a:t>
            </a:r>
          </a:p>
        </p:txBody>
      </p:sp>
      <p:sp>
        <p:nvSpPr>
          <p:cNvPr id="3" name="Content Placeholder 2"/>
          <p:cNvSpPr>
            <a:spLocks noGrp="1"/>
          </p:cNvSpPr>
          <p:nvPr>
            <p:ph idx="1"/>
          </p:nvPr>
        </p:nvSpPr>
        <p:spPr/>
        <p:txBody>
          <a:bodyPr wrap="square">
            <a:normAutofit/>
          </a:bodyPr>
          <a:lstStyle/>
          <a:p>
            <a:r>
              <a:rPr sz="2800" b="0" i="0" u="none"/>
              <a:t>Ready to continue where we left off</a:t>
            </a:r>
            <a:endParaRPr sz="2800" b="0" i="0">
              <a:latin typeface="Arial"/>
            </a:endParaRPr>
          </a:p>
          <a:p>
            <a:r>
              <a:rPr sz="2800" b="0" i="0" u="none"/>
              <a:t>Today's session builds on what we've covered</a:t>
            </a:r>
            <a:endParaRPr sz="2800" b="0" i="0">
              <a:latin typeface="Arial"/>
            </a:endParaRPr>
          </a:p>
          <a:p>
            <a:r>
              <a:rPr sz="2800" b="0" i="0" u="none"/>
              <a:t>We're all in this together — participation welcome</a:t>
            </a:r>
            <a:endParaRPr sz="2800" b="0" i="0">
              <a:latin typeface="Arial"/>
            </a:endParaRPr>
          </a:p>
          <a:p>
            <a:r>
              <a:rPr sz="2800" b="1" i="0" u="none"/>
              <a:t>Questions are always welcome — ask anytime!</a:t>
            </a:r>
            <a:endParaRPr sz="2800" b="0" i="0">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Autofit/>
          </a:bodyPr>
          <a:lstStyle/>
          <a:p>
            <a:r>
              <a:rPr sz="2350" b="0" i="0" u="none"/>
              <a:t>Intro</a:t>
            </a:r>
          </a:p>
          <a:p>
            <a:r>
              <a:rPr sz="2350" b="1" i="0" u="none"/>
              <a:t>▶ Specification Driven Software Development</a:t>
            </a:r>
          </a:p>
          <a:p>
            <a:r>
              <a:rPr sz="2350" b="0" i="0" u="none"/>
              <a:t>Architecture Specification</a:t>
            </a:r>
          </a:p>
          <a:p>
            <a:r>
              <a:rPr sz="2350" b="0" i="0" u="none"/>
              <a:t>Technology Specification</a:t>
            </a:r>
          </a:p>
          <a:p>
            <a:r>
              <a:rPr sz="2350" b="0" i="0" u="none"/>
              <a:t>Implementation Specification</a:t>
            </a:r>
          </a:p>
          <a:p>
            <a:r>
              <a:rPr sz="2350" b="0" i="0" u="none"/>
              <a:t>Implementation Planning</a:t>
            </a:r>
          </a:p>
          <a:p>
            <a:r>
              <a:rPr sz="2350" b="0" i="0" u="none"/>
              <a:t>Implementation Prompts</a:t>
            </a:r>
          </a:p>
          <a:p>
            <a:r>
              <a:rPr sz="2350" b="0" i="0" u="none"/>
              <a:t>Vertical Slice Implementation</a:t>
            </a:r>
          </a:p>
          <a:p>
            <a:r>
              <a:rPr sz="2350" b="0" i="0" u="none"/>
              <a:t>Code Review with GitHub Copilot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Getting Started Checklist</a:t>
            </a:r>
          </a:p>
        </p:txBody>
      </p:sp>
      <p:sp>
        <p:nvSpPr>
          <p:cNvPr id="3" name="Subtitle 2"/>
          <p:cNvSpPr>
            <a:spLocks noGrp="1"/>
          </p:cNvSpPr>
          <p:nvPr>
            <p:ph type="subTitle" idx="1"/>
          </p:nvPr>
        </p:nvSpPr>
        <p:spPr/>
        <p:txBody>
          <a:bodyPr wrap="square">
            <a:normAutofit/>
          </a:bodyPr>
          <a:lstStyle/>
          <a:p>
            <a:pPr>
              <a:buNone/>
            </a:pPr>
            <a:r>
              <a:rPr b="0" i="0" u="none"/>
              <a:t>The Recipe Before the Meal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High Level AI Assisted Workflow</a:t>
            </a:r>
          </a:p>
        </p:txBody>
      </p:sp>
      <p:sp>
        <p:nvSpPr>
          <p:cNvPr id="3" name="Content Placeholder 2"/>
          <p:cNvSpPr>
            <a:spLocks noGrp="1"/>
          </p:cNvSpPr>
          <p:nvPr>
            <p:ph idx="1"/>
          </p:nvPr>
        </p:nvSpPr>
        <p:spPr/>
        <p:txBody>
          <a:bodyPr wrap="square">
            <a:noAutofit/>
          </a:bodyPr>
          <a:lstStyle/>
          <a:p>
            <a:pPr>
              <a:buNone/>
            </a:pPr>
            <a:r>
              <a:rPr sz="1700" b="1" i="0" u="none"/>
              <a:t>From Requirements to a Solution</a:t>
            </a:r>
            <a:endParaRPr sz="1700" b="0" i="0">
              <a:latin typeface="Arial"/>
            </a:endParaRPr>
          </a:p>
          <a:p>
            <a:pPr>
              <a:buNone/>
            </a:pPr>
            <a:endParaRPr sz="1700" b="0" i="0">
              <a:latin typeface="Arial"/>
            </a:endParaRPr>
          </a:p>
          <a:p>
            <a:r>
              <a:rPr sz="1700" b="0" i="0" u="none"/>
              <a:t>Stakeholders such as SMEs, architects, SREs, and DBAs define the requirements with AI assistance.</a:t>
            </a:r>
            <a:endParaRPr sz="1700" b="0" i="0">
              <a:latin typeface="Arial"/>
            </a:endParaRPr>
          </a:p>
          <a:p>
            <a:pPr lvl="1"/>
            <a:r>
              <a:rPr sz="1700" b="0" i="0" u="none"/>
              <a:t>AI transforms the requirements into implementation instruction files that guide the work.</a:t>
            </a:r>
            <a:endParaRPr sz="1700" b="0" i="0">
              <a:latin typeface="Arial"/>
            </a:endParaRPr>
          </a:p>
          <a:p>
            <a:r>
              <a:rPr sz="1700" b="0" i="0" u="none"/>
              <a:t>Stakeholders review, improve, and approve the instruction files.</a:t>
            </a:r>
            <a:endParaRPr sz="1700" b="0" i="0">
              <a:latin typeface="Arial"/>
            </a:endParaRPr>
          </a:p>
          <a:p>
            <a:pPr lvl="1"/>
            <a:r>
              <a:rPr sz="1700" b="0" i="0" u="none"/>
              <a:t>AI uses those instruction files to create prompts that implement the business requirements.</a:t>
            </a:r>
            <a:endParaRPr sz="1700" b="0" i="0">
              <a:latin typeface="Arial"/>
            </a:endParaRPr>
          </a:p>
          <a:p>
            <a:pPr lvl="1"/>
            <a:r>
              <a:rPr sz="1700" b="0" i="0" u="none"/>
              <a:t>Implementation prompts explain how the feature should be built and how acceptance criteria should be verified.</a:t>
            </a:r>
            <a:endParaRPr sz="1700" b="0" i="0">
              <a:latin typeface="Arial"/>
            </a:endParaRPr>
          </a:p>
          <a:p>
            <a:r>
              <a:rPr sz="1700" b="0" i="0" u="none"/>
              <a:t>Stakeholders review, improve, and approve the implementation prompts.</a:t>
            </a:r>
            <a:endParaRPr sz="1700" b="0" i="0">
              <a:latin typeface="Arial"/>
            </a:endParaRPr>
          </a:p>
          <a:p>
            <a:pPr lvl="1"/>
            <a:r>
              <a:rPr sz="1700" b="0" i="0" u="none"/>
              <a:t>Submitting the implementation prompts produces an implementation that conforms to the instruction files and meets the acceptance criteria.</a:t>
            </a:r>
            <a:endParaRPr sz="1700" b="0" i="0">
              <a:latin typeface="Arial"/>
            </a:endParaRPr>
          </a:p>
          <a:p>
            <a:r>
              <a:rPr sz="1700" b="0" i="0" u="none"/>
              <a:t>Stakeholders review and approve the resulting implementation.</a:t>
            </a:r>
            <a:endParaRPr sz="1700" b="0" i="0">
              <a:latin typeface="Arial"/>
            </a:endParaRPr>
          </a:p>
        </p:txBody>
      </p:sp>
      <p:pic>
        <p:nvPicPr>
          <p:cNvPr id="4" name="Picture 3" descr="_Getting_Started_Checklist_slide03_5.png"/>
          <p:cNvPicPr>
            <a:picLocks noChangeAspect="1"/>
          </p:cNvPicPr>
          <p:nvPr/>
        </p:nvPicPr>
        <p:blipFill>
          <a:blip r:embed="rId3"/>
          <a:stretch>
            <a:fillRect/>
          </a:stretch>
        </p:blipFill>
        <p:spPr>
          <a:xfrm>
            <a:off x="5852160" y="3291840"/>
            <a:ext cx="2926080" cy="643499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Starting with Requirements</a:t>
            </a:r>
          </a:p>
        </p:txBody>
      </p:sp>
      <p:sp>
        <p:nvSpPr>
          <p:cNvPr id="3" name="Subtitle 2"/>
          <p:cNvSpPr>
            <a:spLocks noGrp="1"/>
          </p:cNvSpPr>
          <p:nvPr>
            <p:ph type="subTitle" idx="1"/>
          </p:nvPr>
        </p:nvSpPr>
        <p:spPr/>
        <p:txBody>
          <a:bodyPr wrap="square">
            <a:noAutofit/>
          </a:bodyPr>
          <a:lstStyle/>
          <a:p>
            <a:pPr>
              <a:buNone/>
            </a:pPr>
            <a:r>
              <a:rPr sz="2750" b="0" i="0" u="none"/>
              <a:t>Build the Right Thing Before Building the Thing Right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Business Rules as Requirements</a:t>
            </a:r>
          </a:p>
        </p:txBody>
      </p:sp>
      <p:pic>
        <p:nvPicPr>
          <p:cNvPr id="3" name="Picture 2" descr="_Starting_with_Project_Requirements_slide02_4.png"/>
          <p:cNvPicPr>
            <a:picLocks noChangeAspect="1"/>
          </p:cNvPicPr>
          <p:nvPr/>
        </p:nvPicPr>
        <p:blipFill>
          <a:blip r:embed="rId3"/>
          <a:stretch>
            <a:fillRect/>
          </a:stretch>
        </p:blipFill>
        <p:spPr>
          <a:xfrm>
            <a:off x="5852160" y="3291840"/>
            <a:ext cx="2926080" cy="28921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Conceptual Models</a:t>
            </a:r>
          </a:p>
        </p:txBody>
      </p:sp>
      <p:sp>
        <p:nvSpPr>
          <p:cNvPr id="3" name="Content Placeholder 2"/>
          <p:cNvSpPr>
            <a:spLocks noGrp="1"/>
          </p:cNvSpPr>
          <p:nvPr>
            <p:ph idx="1"/>
          </p:nvPr>
        </p:nvSpPr>
        <p:spPr/>
        <p:txBody>
          <a:bodyPr wrap="square">
            <a:normAutofit/>
          </a:bodyPr>
          <a:lstStyle/>
          <a:p>
            <a:r>
              <a:rPr sz="2800" b="0" i="0" u="none"/>
              <a:t>Technology Agnostic</a:t>
            </a:r>
            <a:endParaRPr sz="2800" b="0" i="0">
              <a:latin typeface="Arial"/>
            </a:endParaRPr>
          </a:p>
          <a:p>
            <a:pPr lvl="1"/>
            <a:r>
              <a:rPr sz="2800" b="0" i="0" u="none"/>
              <a:t>Transformable into Logical Models</a:t>
            </a:r>
            <a:endParaRPr sz="2800" b="0" i="0">
              <a:latin typeface="Arial"/>
            </a:endParaRPr>
          </a:p>
          <a:p>
            <a:r>
              <a:rPr sz="2800" b="0" i="0" u="none"/>
              <a:t>Clarity</a:t>
            </a:r>
            <a:endParaRPr sz="2800" b="0" i="0">
              <a:latin typeface="Arial"/>
            </a:endParaRPr>
          </a:p>
          <a:p>
            <a:pPr lvl="1"/>
            <a:r>
              <a:rPr sz="2800" b="0" i="0" u="none"/>
              <a:t>Expressive</a:t>
            </a:r>
            <a:endParaRPr sz="2800" b="0" i="0">
              <a:latin typeface="Arial"/>
            </a:endParaRPr>
          </a:p>
          <a:p>
            <a:pPr lvl="1"/>
            <a:r>
              <a:rPr sz="2800" b="0" i="0" u="none"/>
              <a:t>Formal</a:t>
            </a:r>
            <a:endParaRPr sz="2800" b="0" i="0">
              <a:latin typeface="Arial"/>
            </a:endParaRPr>
          </a:p>
          <a:p>
            <a:r>
              <a:rPr sz="2800" b="0" i="0" u="none"/>
              <a:t>Conceptual Models are not a requirement</a:t>
            </a:r>
            <a:endParaRPr sz="2800" b="0" i="0">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Object Role Models</a:t>
            </a:r>
          </a:p>
        </p:txBody>
      </p:sp>
      <p:sp>
        <p:nvSpPr>
          <p:cNvPr id="3" name="Content Placeholder 2"/>
          <p:cNvSpPr>
            <a:spLocks noGrp="1"/>
          </p:cNvSpPr>
          <p:nvPr>
            <p:ph idx="1"/>
          </p:nvPr>
        </p:nvSpPr>
        <p:spPr/>
        <p:txBody>
          <a:bodyPr wrap="square">
            <a:normAutofit/>
          </a:bodyPr>
          <a:lstStyle/>
          <a:p>
            <a:r>
              <a:rPr sz="2800" b="0" i="0" u="none"/>
              <a:t>A type of conceptual model</a:t>
            </a:r>
            <a:endParaRPr sz="2800" b="0" i="0">
              <a:latin typeface="Arial"/>
            </a:endParaRPr>
          </a:p>
          <a:p>
            <a:r>
              <a:rPr sz="2800" b="0" i="0" u="none"/>
              <a:t>Supported by a Visual Studio Extension (NORMA)</a:t>
            </a:r>
            <a:endParaRPr sz="2800" b="0" i="0">
              <a:latin typeface="Arial"/>
            </a:endParaRPr>
          </a:p>
          <a:p>
            <a:r>
              <a:rPr sz="2800" b="0" i="0" u="none"/>
              <a:t>Object Role Models are textual and visual</a:t>
            </a:r>
            <a:endParaRPr sz="2800" b="0" i="0">
              <a:latin typeface="Arial"/>
            </a:endParaRPr>
          </a:p>
          <a:p>
            <a:pPr lvl="1"/>
            <a:r>
              <a:rPr sz="2800" b="0" i="0" u="none"/>
              <a:t>Text can be visualized</a:t>
            </a:r>
            <a:endParaRPr sz="2800" b="0" i="0">
              <a:latin typeface="Arial"/>
            </a:endParaRPr>
          </a:p>
          <a:p>
            <a:pPr lvl="1"/>
            <a:r>
              <a:rPr sz="2800" b="0" i="0" u="none"/>
              <a:t>Diagrams can be verbalized</a:t>
            </a:r>
            <a:endParaRPr sz="2800" b="0" i="0">
              <a:latin typeface="Arial"/>
            </a:endParaRPr>
          </a:p>
          <a:p>
            <a:r>
              <a:rPr sz="2800" b="0" i="0" u="none"/>
              <a:t>Textual representation is in a formal natural language that can be validated by subject matter experts</a:t>
            </a:r>
            <a:endParaRPr sz="2800" b="0" i="0">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Zeus.Academia.3b</a:t>
            </a:r>
          </a:p>
        </p:txBody>
      </p:sp>
      <p:sp>
        <p:nvSpPr>
          <p:cNvPr id="3" name="Content Placeholder 2"/>
          <p:cNvSpPr>
            <a:spLocks noGrp="1"/>
          </p:cNvSpPr>
          <p:nvPr>
            <p:ph idx="1"/>
          </p:nvPr>
        </p:nvSpPr>
        <p:spPr/>
        <p:txBody>
          <a:bodyPr wrap="square">
            <a:normAutofit/>
          </a:bodyPr>
          <a:lstStyle/>
          <a:p>
            <a:r>
              <a:rPr sz="1800" b="0" i="0" u="none"/>
              <a:t>Based on a publicly available model of a commonly understood domain</a:t>
            </a:r>
            <a:endParaRPr sz="1800" b="0" i="0">
              <a:latin typeface="Consolas"/>
            </a:endParaRPr>
          </a:p>
          <a:p>
            <a:pPr>
              <a:buNone/>
            </a:pPr>
            <a:r>
              <a:rPr sz="1800" b="0" i="0" u="none"/>
              <a:t>  </a:t>
            </a:r>
            <a:r>
              <a:rPr sz="1800" b="0" i="0" u="none">
                <a:latin typeface="Consolas"/>
              </a:rPr>
              <a:t>https://orm.net/pdf/ORMwhitePaper.pdf</a:t>
            </a:r>
            <a:endParaRPr sz="1800" b="0" i="0">
              <a:latin typeface="Consolas"/>
            </a:endParaRPr>
          </a:p>
          <a:p>
            <a:r>
              <a:rPr sz="1800" b="0" i="0" u="none"/>
              <a:t>Allows us to quickly move from requirements to implementation</a:t>
            </a:r>
            <a:endParaRPr sz="1800" b="0" i="0">
              <a:latin typeface="Consolas"/>
            </a:endParaRPr>
          </a:p>
          <a:p>
            <a:pPr lvl="1"/>
            <a:r>
              <a:rPr sz="1800" b="0" i="0" u="none">
                <a:latin typeface="Consolas"/>
              </a:rPr>
              <a:t>https://github.com/johnmillerATcodemag-com/zeus.academia.3b</a:t>
            </a:r>
            <a:endParaRPr sz="1800" b="0" i="0">
              <a:latin typeface="Consolas"/>
            </a:endParaRPr>
          </a:p>
          <a:p>
            <a:r>
              <a:rPr sz="1800" b="0" i="0" u="none"/>
              <a:t>Why 3b?</a:t>
            </a:r>
            <a:endParaRPr sz="1800" b="0" i="0">
              <a:latin typeface="Consolas"/>
            </a:endParaRPr>
          </a:p>
          <a:p>
            <a:pPr lvl="1"/>
            <a:r>
              <a:rPr sz="1800" b="0" i="0" u="none"/>
              <a:t>Third Iteration in progress</a:t>
            </a:r>
            <a:endParaRPr sz="1800" b="0" i="0">
              <a:latin typeface="Consolas"/>
            </a:endParaRPr>
          </a:p>
          <a:p>
            <a:pPr lvl="1"/>
            <a:r>
              <a:rPr sz="1800" b="0" i="0" u="none"/>
              <a:t>If something is hard, do it often</a:t>
            </a:r>
            <a:endParaRPr sz="1800" b="0" i="0">
              <a:latin typeface="Consola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Use Cases</a:t>
            </a:r>
          </a:p>
        </p:txBody>
      </p:sp>
      <p:sp>
        <p:nvSpPr>
          <p:cNvPr id="3" name="Content Placeholder 2"/>
          <p:cNvSpPr>
            <a:spLocks noGrp="1"/>
          </p:cNvSpPr>
          <p:nvPr>
            <p:ph idx="1"/>
          </p:nvPr>
        </p:nvSpPr>
        <p:spPr/>
        <p:txBody>
          <a:bodyPr wrap="square">
            <a:normAutofit/>
          </a:bodyPr>
          <a:lstStyle/>
          <a:p>
            <a:pPr>
              <a:buNone/>
            </a:pPr>
            <a:r>
              <a:rPr sz="2800" b="0" i="0" u="none"/>
              <a:t>Use cases are specific scenarios that guide data capture and processing in the application</a:t>
            </a:r>
            <a:endParaRPr sz="2800" b="0" i="0">
              <a:latin typeface="Arial"/>
            </a:endParaRPr>
          </a:p>
          <a:p>
            <a:pPr lvl="1"/>
            <a:r>
              <a:rPr sz="2800" b="0" i="0" u="none"/>
              <a:t>Promote a Lecturer to Senior Lecturer</a:t>
            </a:r>
            <a:endParaRPr sz="2800" b="0" i="0">
              <a:latin typeface="Arial"/>
            </a:endParaRPr>
          </a:p>
          <a:p>
            <a:pPr lvl="1"/>
            <a:r>
              <a:rPr sz="2800" b="0" i="0" u="none"/>
              <a:t>Promote a Senior Lecturer to Associate Professor</a:t>
            </a:r>
            <a:endParaRPr sz="2800" b="0" i="0">
              <a:latin typeface="Arial"/>
            </a:endParaRPr>
          </a:p>
          <a:p>
            <a:pPr lvl="1"/>
            <a:r>
              <a:rPr sz="2800" b="0" i="0" u="none"/>
              <a:t>Promote an Associate Professor to Professor</a:t>
            </a:r>
            <a:endParaRPr sz="2800" b="0" i="0">
              <a:latin typeface="Arial"/>
            </a:endParaRPr>
          </a:p>
          <a:p>
            <a:pPr lvl="1"/>
            <a:r>
              <a:rPr sz="2800" b="0" i="0" u="none"/>
              <a:t>Assign a Class to an Academic</a:t>
            </a:r>
            <a:endParaRPr sz="2800" b="0" i="0">
              <a:latin typeface="Arial"/>
            </a:endParaRPr>
          </a:p>
          <a:p>
            <a:pPr lvl="1"/>
            <a:r>
              <a:rPr sz="2800" b="0" i="0" u="none"/>
              <a:t>Add a new Academic to the faculty capturing all required information and allowing the capture of optional information</a:t>
            </a:r>
            <a:endParaRPr sz="2800" b="0" i="0">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400" b="0" i="0" u="none"/>
              <a:t>Exercise: Generate Business Requirements</a:t>
            </a:r>
          </a:p>
        </p:txBody>
      </p:sp>
      <p:sp>
        <p:nvSpPr>
          <p:cNvPr id="3" name="Content Placeholder 2"/>
          <p:cNvSpPr>
            <a:spLocks noGrp="1"/>
          </p:cNvSpPr>
          <p:nvPr>
            <p:ph sz="half" idx="1"/>
          </p:nvPr>
        </p:nvSpPr>
        <p:spPr/>
        <p:txBody>
          <a:bodyPr wrap="square">
            <a:noAutofit/>
          </a:bodyPr>
          <a:lstStyle/>
          <a:p>
            <a:pPr>
              <a:buNone/>
            </a:pPr>
            <a:r>
              <a:rPr sz="1850" b="0" i="0" u="none"/>
              <a:t>Objectives:</a:t>
            </a:r>
            <a:endParaRPr sz="1850" b="0" i="0">
              <a:latin typeface="Arial"/>
            </a:endParaRPr>
          </a:p>
          <a:p>
            <a:pPr lvl="1"/>
            <a:r>
              <a:rPr sz="1850" b="0" i="0" u="none"/>
              <a:t>Use the Product Manager chat mode to create a requirements document for a calculator</a:t>
            </a:r>
            <a:endParaRPr sz="1850" b="0" i="0">
              <a:latin typeface="Arial"/>
            </a:endParaRPr>
          </a:p>
          <a:p>
            <a:pPr>
              <a:buNone/>
            </a:pPr>
            <a:endParaRPr sz="1850" b="0" i="0">
              <a:latin typeface="Arial"/>
            </a:endParaRPr>
          </a:p>
          <a:p>
            <a:pPr>
              <a:buNone/>
            </a:pPr>
            <a:r>
              <a:rPr sz="1850" b="0" i="0" u="none"/>
              <a:t>Activities:</a:t>
            </a:r>
            <a:endParaRPr sz="1850" b="0" i="0">
              <a:latin typeface="Arial"/>
            </a:endParaRPr>
          </a:p>
          <a:p>
            <a:pPr lvl="1">
              <a:buNone/>
            </a:pPr>
            <a:r>
              <a:rPr sz="1850" b="0" i="0" u="none"/>
              <a:t>  1. Activate the Product Manager chat mode</a:t>
            </a:r>
            <a:endParaRPr sz="1850" b="0" i="0">
              <a:latin typeface="Arial"/>
            </a:endParaRPr>
          </a:p>
          <a:p>
            <a:pPr lvl="1">
              <a:buNone/>
            </a:pPr>
            <a:r>
              <a:rPr sz="1850" b="0" i="0" u="none"/>
              <a:t>  2. Prompt the AI to create a requirements document</a:t>
            </a:r>
            <a:endParaRPr sz="1850" b="0" i="0">
              <a:latin typeface="Arial"/>
            </a:endParaRPr>
          </a:p>
          <a:p>
            <a:pPr lvl="1">
              <a:buNone/>
            </a:pPr>
            <a:r>
              <a:rPr sz="1850" b="0" i="0" u="none"/>
              <a:t>  3. Review the requirements</a:t>
            </a:r>
            <a:endParaRPr sz="1850" b="0" i="0">
              <a:latin typeface="Arial"/>
            </a:endParaRPr>
          </a:p>
          <a:p>
            <a:pPr lvl="1">
              <a:buNone/>
            </a:pPr>
            <a:r>
              <a:rPr sz="1850" b="0" i="0" u="none"/>
              <a:t>  4. Add an implementation plan using vertical slices</a:t>
            </a:r>
            <a:endParaRPr sz="1850" b="0" i="0">
              <a:latin typeface="Arial"/>
            </a:endParaRPr>
          </a:p>
        </p:txBody>
      </p:sp>
      <p:sp>
        <p:nvSpPr>
          <p:cNvPr id="4" name="Content Placeholder 3"/>
          <p:cNvSpPr>
            <a:spLocks noGrp="1"/>
          </p:cNvSpPr>
          <p:nvPr>
            <p:ph sz="half" idx="2"/>
          </p:nvPr>
        </p:nvSpPr>
        <p:spPr/>
        <p:txBody>
          <a:bodyPr wrap="square">
            <a:noAutofit/>
          </a:bodyPr>
          <a:lstStyle/>
          <a:p>
            <a:pPr>
              <a:buNone/>
            </a:pPr>
            <a:r>
              <a:rPr sz="2500" b="0" i="0" u="none"/>
              <a:t>5. Review the changes</a:t>
            </a:r>
            <a:endParaRPr sz="2500" b="0" i="0">
              <a:latin typeface="Arial"/>
            </a:endParaRPr>
          </a:p>
          <a:p>
            <a:pPr lvl="1">
              <a:buNone/>
            </a:pPr>
            <a:r>
              <a:rPr sz="2500" b="0" i="0" u="none"/>
              <a:t>  6. Add a diagram showing the relationship between Phases, Slices, and User Stories</a:t>
            </a:r>
            <a:endParaRPr sz="2500" b="0" i="0">
              <a:latin typeface="Arial"/>
            </a:endParaRPr>
          </a:p>
          <a:p>
            <a:pPr>
              <a:buNone/>
            </a:pPr>
            <a:endParaRPr sz="2500" b="0" i="0">
              <a:latin typeface="Arial"/>
            </a:endParaRPr>
          </a:p>
          <a:p>
            <a:pPr>
              <a:buNone/>
            </a:pPr>
            <a:r>
              <a:rPr sz="2500" b="0" i="0" u="none"/>
              <a:t>Success Criteria</a:t>
            </a:r>
            <a:endParaRPr sz="2500" b="0" i="0">
              <a:latin typeface="Arial"/>
            </a:endParaRPr>
          </a:p>
          <a:p>
            <a:pPr lvl="1"/>
            <a:r>
              <a:rPr sz="2500" b="0" i="0" u="none"/>
              <a:t>The requirements document exists and passes review</a:t>
            </a:r>
            <a:endParaRPr sz="2500" b="0" i="0">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400" b="0" i="0" u="none"/>
              <a:t>Exercise: Generate Business Requirements</a:t>
            </a:r>
          </a:p>
        </p:txBody>
      </p:sp>
      <p:sp>
        <p:nvSpPr>
          <p:cNvPr id="3" name="Content Placeholder 2"/>
          <p:cNvSpPr>
            <a:spLocks noGrp="1"/>
          </p:cNvSpPr>
          <p:nvPr>
            <p:ph sz="half" idx="1"/>
          </p:nvPr>
        </p:nvSpPr>
        <p:spPr/>
        <p:txBody>
          <a:bodyPr wrap="square">
            <a:normAutofit/>
          </a:bodyPr>
          <a:lstStyle/>
          <a:p>
            <a:pPr>
              <a:buNone/>
            </a:pPr>
            <a:r>
              <a:rPr sz="2800" b="0" i="0" u="none"/>
              <a:t>Objectives:</a:t>
            </a:r>
            <a:endParaRPr sz="2800" b="0" i="0">
              <a:latin typeface="Arial"/>
            </a:endParaRPr>
          </a:p>
          <a:p>
            <a:pPr lvl="1"/>
            <a:r>
              <a:rPr sz="2800" b="0" i="0" u="none"/>
              <a:t>Use the Product Manager chat mode to update the requirements document to implement using vertical slices</a:t>
            </a:r>
            <a:endParaRPr sz="2800" b="0" i="0">
              <a:latin typeface="Arial"/>
            </a:endParaRPr>
          </a:p>
        </p:txBody>
      </p:sp>
      <p:sp>
        <p:nvSpPr>
          <p:cNvPr id="4" name="Content Placeholder 3"/>
          <p:cNvSpPr>
            <a:spLocks noGrp="1"/>
          </p:cNvSpPr>
          <p:nvPr>
            <p:ph sz="half" idx="2"/>
          </p:nvPr>
        </p:nvSpPr>
        <p:spPr/>
        <p:txBody>
          <a:bodyPr wrap="square">
            <a:noAutofit/>
          </a:bodyPr>
          <a:lstStyle/>
          <a:p>
            <a:pPr>
              <a:buNone/>
            </a:pPr>
            <a:r>
              <a:rPr sz="1850" b="0" i="0" u="none"/>
              <a:t>Activities:</a:t>
            </a:r>
            <a:endParaRPr sz="1850" b="0" i="0">
              <a:latin typeface="Arial"/>
            </a:endParaRPr>
          </a:p>
          <a:p>
            <a:pPr lvl="1">
              <a:buNone/>
            </a:pPr>
            <a:r>
              <a:rPr sz="1850" b="0" i="0" u="none"/>
              <a:t>  1. Activate the Product Manager chat mode</a:t>
            </a:r>
            <a:endParaRPr sz="1850" b="0" i="0">
              <a:latin typeface="Arial"/>
            </a:endParaRPr>
          </a:p>
          <a:p>
            <a:pPr lvl="1">
              <a:buNone/>
            </a:pPr>
            <a:r>
              <a:rPr sz="1850" b="0" i="0" u="none"/>
              <a:t>  2. Prompt the AI to add a vertical slices implementation plan</a:t>
            </a:r>
            <a:endParaRPr sz="1850" b="0" i="0">
              <a:latin typeface="Arial"/>
            </a:endParaRPr>
          </a:p>
          <a:p>
            <a:pPr lvl="1">
              <a:buNone/>
            </a:pPr>
            <a:r>
              <a:rPr sz="1850" b="0" i="0" u="none"/>
              <a:t>  3. Review the changes</a:t>
            </a:r>
            <a:endParaRPr sz="1850" b="0" i="0">
              <a:latin typeface="Arial"/>
            </a:endParaRPr>
          </a:p>
          <a:p>
            <a:pPr lvl="1">
              <a:buNone/>
            </a:pPr>
            <a:r>
              <a:rPr sz="1850" b="0" i="0" u="none"/>
              <a:t>  4. Add a diagram showing the relationship between Phases, Slices, and User Stories</a:t>
            </a:r>
            <a:endParaRPr sz="1850" b="0" i="0">
              <a:latin typeface="Arial"/>
            </a:endParaRPr>
          </a:p>
          <a:p>
            <a:pPr>
              <a:buNone/>
            </a:pPr>
            <a:endParaRPr sz="1850" b="0" i="0">
              <a:latin typeface="Arial"/>
            </a:endParaRPr>
          </a:p>
          <a:p>
            <a:pPr>
              <a:buNone/>
            </a:pPr>
            <a:r>
              <a:rPr sz="1850" b="0" i="0" u="none"/>
              <a:t>Success Criteria</a:t>
            </a:r>
            <a:endParaRPr sz="1850" b="0" i="0">
              <a:latin typeface="Arial"/>
            </a:endParaRPr>
          </a:p>
          <a:p>
            <a:pPr lvl="1"/>
            <a:r>
              <a:rPr sz="1850" b="0" i="0" u="none"/>
              <a:t>The implementation plan passes review</a:t>
            </a:r>
            <a:endParaRPr sz="1850" b="0" i="0">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4000" b="0" i="0" u="none"/>
              <a:t>Exercise: Business Requirements Generation</a:t>
            </a:r>
          </a:p>
        </p:txBody>
      </p:sp>
      <p:sp>
        <p:nvSpPr>
          <p:cNvPr id="3" name="Subtitle 2"/>
          <p:cNvSpPr>
            <a:spLocks noGrp="1"/>
          </p:cNvSpPr>
          <p:nvPr>
            <p:ph type="subTitle" idx="1"/>
          </p:nvPr>
        </p:nvSpPr>
        <p:spPr/>
        <p:txBody>
          <a:bodyPr wrap="square">
            <a:normAutofit/>
          </a:bodyPr>
          <a:lstStyle/>
          <a:p>
            <a:pPr>
              <a:buNone/>
            </a:pPr>
            <a:r>
              <a:rPr b="0" i="0" u="none"/>
              <a:t>Let the AI Write the Requirements for Once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250" b="0" i="0" u="none"/>
              <a:t>Exercise: Business Requirements Generation</a:t>
            </a:r>
          </a:p>
        </p:txBody>
      </p:sp>
      <p:sp>
        <p:nvSpPr>
          <p:cNvPr id="3" name="Content Placeholder 2"/>
          <p:cNvSpPr>
            <a:spLocks noGrp="1"/>
          </p:cNvSpPr>
          <p:nvPr>
            <p:ph sz="half" idx="1"/>
          </p:nvPr>
        </p:nvSpPr>
        <p:spPr/>
        <p:txBody>
          <a:bodyPr wrap="square">
            <a:noAutofit/>
          </a:bodyPr>
          <a:lstStyle/>
          <a:p>
            <a:pPr>
              <a:buNone/>
            </a:pPr>
            <a:r>
              <a:rPr sz="1400" b="0" i="0" u="none"/>
              <a:t>Objectives</a:t>
            </a:r>
            <a:endParaRPr sz="1400" b="0" i="0">
              <a:latin typeface="Arial"/>
            </a:endParaRPr>
          </a:p>
          <a:p>
            <a:pPr lvl="1"/>
            <a:r>
              <a:rPr sz="1400" b="0" i="0" u="none"/>
              <a:t>Create a business requirements document for the calculator project</a:t>
            </a:r>
            <a:endParaRPr sz="1400" b="0" i="0">
              <a:latin typeface="Arial"/>
            </a:endParaRPr>
          </a:p>
          <a:p>
            <a:pPr lvl="1"/>
            <a:r>
              <a:rPr sz="1400" b="0" i="0" u="none"/>
              <a:t>Use the Product Manager agent with existing instruction files</a:t>
            </a:r>
            <a:endParaRPr sz="1400" b="0" i="0">
              <a:latin typeface="Arial"/>
            </a:endParaRPr>
          </a:p>
          <a:p>
            <a:pPr lvl="1"/>
            <a:r>
              <a:rPr sz="1400" b="0" i="0" u="none"/>
              <a:t>Apply the expected branch and repository workflow for Greenfield work</a:t>
            </a:r>
            <a:endParaRPr sz="1400" b="0" i="0">
              <a:latin typeface="Arial"/>
            </a:endParaRPr>
          </a:p>
          <a:p>
            <a:pPr lvl="1"/>
            <a:r>
              <a:rPr sz="1400" b="0" i="0" u="none"/>
              <a:t>Validate the requirements draft through review, clarification, and independent iteration</a:t>
            </a:r>
            <a:endParaRPr sz="1400" b="0" i="0">
              <a:latin typeface="Arial"/>
            </a:endParaRPr>
          </a:p>
          <a:p>
            <a:pPr>
              <a:buNone/>
            </a:pPr>
            <a:endParaRPr sz="1400" b="0" i="0">
              <a:latin typeface="Arial"/>
            </a:endParaRPr>
          </a:p>
          <a:p>
            <a:pPr>
              <a:buNone/>
            </a:pPr>
            <a:r>
              <a:rPr sz="1400" b="0" i="0" u="none"/>
              <a:t>Activities</a:t>
            </a:r>
            <a:endParaRPr sz="1400" b="0" i="0">
              <a:latin typeface="Arial"/>
            </a:endParaRPr>
          </a:p>
          <a:p>
            <a:pPr lvl="1">
              <a:buNone/>
            </a:pPr>
            <a:r>
              <a:rPr sz="1400" b="0" i="0" u="none"/>
              <a:t>  1. Create a personal branch from the Greenfield branch in the class repository.</a:t>
            </a:r>
            <a:endParaRPr sz="1400" b="0" i="0">
              <a:latin typeface="Arial"/>
            </a:endParaRPr>
          </a:p>
          <a:p>
            <a:pPr lvl="1">
              <a:buNone/>
            </a:pPr>
            <a:r>
              <a:rPr sz="1400" b="0" i="0" u="none"/>
              <a:t>  2. Use the Product Manager agent to generate a calculator requirements document.</a:t>
            </a:r>
            <a:endParaRPr sz="1400" b="0" i="0">
              <a:latin typeface="Arial"/>
            </a:endParaRPr>
          </a:p>
          <a:p>
            <a:pPr lvl="1">
              <a:buNone/>
            </a:pPr>
            <a:r>
              <a:rPr sz="1400" b="0" i="0" u="none"/>
              <a:t>  3. Apply the existing instruction files to improve scope, structure, and consistency.</a:t>
            </a:r>
            <a:endParaRPr sz="1400" b="0" i="0">
              <a:latin typeface="Arial"/>
            </a:endParaRPr>
          </a:p>
        </p:txBody>
      </p:sp>
      <p:sp>
        <p:nvSpPr>
          <p:cNvPr id="4" name="Content Placeholder 3"/>
          <p:cNvSpPr>
            <a:spLocks noGrp="1"/>
          </p:cNvSpPr>
          <p:nvPr>
            <p:ph sz="half" idx="2"/>
          </p:nvPr>
        </p:nvSpPr>
        <p:spPr/>
        <p:txBody>
          <a:bodyPr wrap="square">
            <a:noAutofit/>
          </a:bodyPr>
          <a:lstStyle/>
          <a:p>
            <a:pPr>
              <a:buNone/>
            </a:pPr>
            <a:r>
              <a:rPr sz="1500" b="0" i="0" u="none"/>
              <a:t>4. Confirm repository choice, branching strategy, and how to handle any existing PRD content before continuing.</a:t>
            </a:r>
            <a:endParaRPr sz="1500" b="0" i="0">
              <a:latin typeface="Arial"/>
            </a:endParaRPr>
          </a:p>
          <a:p>
            <a:pPr lvl="1">
              <a:buNone/>
            </a:pPr>
            <a:r>
              <a:rPr sz="1500" b="0" i="0" u="none"/>
              <a:t>  5. Work independently on the requirements document while the instructor provides check-ins and support.</a:t>
            </a:r>
            <a:endParaRPr sz="1500" b="0" i="0">
              <a:latin typeface="Arial"/>
            </a:endParaRPr>
          </a:p>
          <a:p>
            <a:pPr>
              <a:buNone/>
            </a:pPr>
            <a:endParaRPr sz="1500" b="0" i="0">
              <a:latin typeface="Arial"/>
            </a:endParaRPr>
          </a:p>
          <a:p>
            <a:pPr>
              <a:buNone/>
            </a:pPr>
            <a:r>
              <a:rPr sz="1500" b="0" i="0" u="none"/>
              <a:t>Success Criteria</a:t>
            </a:r>
            <a:endParaRPr sz="1500" b="0" i="0">
              <a:latin typeface="Arial"/>
            </a:endParaRPr>
          </a:p>
          <a:p>
            <a:pPr lvl="1"/>
            <a:r>
              <a:rPr sz="1500" b="0" i="0" u="none"/>
              <a:t>A calculator business requirements document exists on the correct personal branch</a:t>
            </a:r>
            <a:endParaRPr sz="1500" b="0" i="0">
              <a:latin typeface="Arial"/>
            </a:endParaRPr>
          </a:p>
          <a:p>
            <a:pPr lvl="1"/>
            <a:r>
              <a:rPr sz="1500" b="0" i="0" u="none"/>
              <a:t>The Product Manager agent and instruction files are both used effectively</a:t>
            </a:r>
            <a:endParaRPr sz="1500" b="0" i="0">
              <a:latin typeface="Arial"/>
            </a:endParaRPr>
          </a:p>
          <a:p>
            <a:pPr lvl="1"/>
            <a:r>
              <a:rPr sz="1500" b="0" i="0" u="none"/>
              <a:t>Repository and branching decisions are applied correctly and consistently</a:t>
            </a:r>
            <a:endParaRPr sz="1500" b="0" i="0">
              <a:latin typeface="Arial"/>
            </a:endParaRPr>
          </a:p>
          <a:p>
            <a:pPr lvl="1"/>
            <a:r>
              <a:rPr sz="1500" b="0" i="0" u="none"/>
              <a:t>Participants can explain what changed after clarifications and independent refinement</a:t>
            </a:r>
            <a:endParaRPr sz="1500" b="0" i="0">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Autofit/>
          </a:bodyPr>
          <a:lstStyle/>
          <a:p>
            <a:r>
              <a:rPr sz="2350" b="0" i="0" u="none"/>
              <a:t>Intro</a:t>
            </a:r>
          </a:p>
          <a:p>
            <a:r>
              <a:rPr sz="2350" b="0" i="0" u="none"/>
              <a:t>Specification Driven Software Development</a:t>
            </a:r>
          </a:p>
          <a:p>
            <a:r>
              <a:rPr sz="2350" b="1" i="0" u="none"/>
              <a:t>▶ Architecture Specification</a:t>
            </a:r>
          </a:p>
          <a:p>
            <a:r>
              <a:rPr sz="2350" b="0" i="0" u="none"/>
              <a:t>Technology Specification</a:t>
            </a:r>
          </a:p>
          <a:p>
            <a:r>
              <a:rPr sz="2350" b="0" i="0" u="none"/>
              <a:t>Implementation Specification</a:t>
            </a:r>
          </a:p>
          <a:p>
            <a:r>
              <a:rPr sz="2350" b="0" i="0" u="none"/>
              <a:t>Implementation Planning</a:t>
            </a:r>
          </a:p>
          <a:p>
            <a:r>
              <a:rPr sz="2350" b="0" i="0" u="none"/>
              <a:t>Implementation Prompts</a:t>
            </a:r>
          </a:p>
          <a:p>
            <a:r>
              <a:rPr sz="2350" b="0" i="0" u="none"/>
              <a:t>Vertical Slice Implementation</a:t>
            </a:r>
          </a:p>
          <a:p>
            <a:r>
              <a:rPr sz="2350" b="0" i="0" u="none"/>
              <a:t>Code Review with GitHub Copilot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CQRS Architecture</a:t>
            </a:r>
          </a:p>
        </p:txBody>
      </p:sp>
      <p:sp>
        <p:nvSpPr>
          <p:cNvPr id="3" name="Subtitle 2"/>
          <p:cNvSpPr>
            <a:spLocks noGrp="1"/>
          </p:cNvSpPr>
          <p:nvPr>
            <p:ph type="subTitle" idx="1"/>
          </p:nvPr>
        </p:nvSpPr>
        <p:spPr/>
        <p:txBody>
          <a:bodyPr wrap="square">
            <a:normAutofit/>
          </a:bodyPr>
          <a:lstStyle/>
          <a:p>
            <a:pPr>
              <a:buNone/>
            </a:pPr>
            <a:r>
              <a:rPr b="0" i="0" u="none"/>
              <a:t>Reads and Writes: Better Apart, Like Most Couples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4000" b="0" i="0" u="none"/>
              <a:t>Command Query Responsibility Segregation Architecture</a:t>
            </a:r>
          </a:p>
        </p:txBody>
      </p:sp>
      <p:sp>
        <p:nvSpPr>
          <p:cNvPr id="3" name="Subtitle 2"/>
          <p:cNvSpPr>
            <a:spLocks noGrp="1"/>
          </p:cNvSpPr>
          <p:nvPr>
            <p:ph type="subTitle" idx="1"/>
          </p:nvPr>
        </p:nvSpPr>
        <p:spPr/>
        <p:txBody>
          <a:bodyPr wrap="square">
            <a:normAutofit/>
          </a:bodyPr>
          <a:lstStyle/>
          <a:p>
            <a:pPr>
              <a:buNone/>
            </a:pPr>
            <a:r>
              <a:rPr sz="2800" b="0" i="1" u="none"/>
              <a:t>AI-Assisted Software Development</a:t>
            </a:r>
            <a:endParaRPr sz="2800" b="0" i="0">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When to Use CQRS</a:t>
            </a:r>
          </a:p>
        </p:txBody>
      </p:sp>
      <p:sp>
        <p:nvSpPr>
          <p:cNvPr id="3" name="Content Placeholder 2"/>
          <p:cNvSpPr>
            <a:spLocks noGrp="1"/>
          </p:cNvSpPr>
          <p:nvPr>
            <p:ph sz="half" idx="1"/>
          </p:nvPr>
        </p:nvSpPr>
        <p:spPr/>
        <p:txBody>
          <a:bodyPr wrap="square">
            <a:noAutofit/>
          </a:bodyPr>
          <a:lstStyle/>
          <a:p>
            <a:pPr>
              <a:buNone/>
            </a:pPr>
            <a:r>
              <a:rPr sz="2000" b="1" i="0" u="none"/>
              <a:t>✅ Use CQRS when:</a:t>
            </a:r>
            <a:endParaRPr sz="2000" b="0" i="0">
              <a:latin typeface="Arial"/>
            </a:endParaRPr>
          </a:p>
          <a:p>
            <a:pPr lvl="1"/>
            <a:r>
              <a:rPr sz="2000" b="0" i="0" u="none"/>
              <a:t>Read and write workloads scale differently</a:t>
            </a:r>
            <a:endParaRPr sz="2000" b="0" i="0">
              <a:latin typeface="Arial"/>
            </a:endParaRPr>
          </a:p>
          <a:p>
            <a:pPr lvl="1"/>
            <a:r>
              <a:rPr sz="2000" b="0" i="0" u="none"/>
              <a:t>Read models need denormalization, caching, or projections</a:t>
            </a:r>
            <a:endParaRPr sz="2000" b="0" i="0">
              <a:latin typeface="Arial"/>
            </a:endParaRPr>
          </a:p>
          <a:p>
            <a:pPr lvl="1"/>
            <a:r>
              <a:rPr sz="2000" b="0" i="0" u="none"/>
              <a:t>Write model needs strong invariants and task-focused workflows</a:t>
            </a:r>
            <a:endParaRPr sz="2000" b="0" i="0">
              <a:latin typeface="Arial"/>
            </a:endParaRPr>
          </a:p>
          <a:p>
            <a:pPr lvl="1"/>
            <a:r>
              <a:rPr sz="2000" b="0" i="0" u="none"/>
              <a:t>Auditing or event sourcing is required</a:t>
            </a:r>
            <a:endParaRPr sz="2000" b="0" i="0">
              <a:latin typeface="Arial"/>
            </a:endParaRPr>
          </a:p>
          <a:p>
            <a:pPr lvl="1"/>
            <a:r>
              <a:rPr sz="2000" b="0" i="0" u="none"/>
              <a:t>Query complexity slows transactional throughput</a:t>
            </a:r>
            <a:endParaRPr sz="2000" b="0" i="0">
              <a:latin typeface="Arial"/>
            </a:endParaRPr>
          </a:p>
        </p:txBody>
      </p:sp>
      <p:sp>
        <p:nvSpPr>
          <p:cNvPr id="4" name="Content Placeholder 3"/>
          <p:cNvSpPr>
            <a:spLocks noGrp="1"/>
          </p:cNvSpPr>
          <p:nvPr>
            <p:ph sz="half" idx="2"/>
          </p:nvPr>
        </p:nvSpPr>
        <p:spPr/>
        <p:txBody>
          <a:bodyPr wrap="square">
            <a:normAutofit/>
          </a:bodyPr>
          <a:lstStyle/>
          <a:p>
            <a:pPr>
              <a:buNone/>
            </a:pPr>
            <a:r>
              <a:rPr sz="2800" b="1" i="0" u="none"/>
              <a:t>❌ Avoid CQRS when:</a:t>
            </a:r>
            <a:endParaRPr sz="2800" b="0" i="0">
              <a:latin typeface="Arial"/>
            </a:endParaRPr>
          </a:p>
          <a:p>
            <a:pPr lvl="1"/>
            <a:r>
              <a:rPr sz="2800" b="0" i="0" u="none"/>
              <a:t>Domain is small and reads/writes are balanced</a:t>
            </a:r>
            <a:endParaRPr sz="2800" b="0" i="0">
              <a:latin typeface="Arial"/>
            </a:endParaRPr>
          </a:p>
          <a:p>
            <a:pPr lvl="1"/>
            <a:r>
              <a:rPr sz="2800" b="0" i="0" u="none"/>
              <a:t>No clear boundary between commands and queries</a:t>
            </a:r>
            <a:endParaRPr sz="2800" b="0" i="0">
              <a:latin typeface="Arial"/>
            </a:endParaRPr>
          </a:p>
          <a:p>
            <a:pPr lvl="1"/>
            <a:r>
              <a:rPr sz="2800" b="0" i="0" u="none"/>
              <a:t>Operational overhead is not justified</a:t>
            </a:r>
            <a:endParaRPr sz="2800" b="0" i="0">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Core Principles</a:t>
            </a:r>
          </a:p>
        </p:txBody>
      </p:sp>
      <p:graphicFrame>
        <p:nvGraphicFramePr>
          <p:cNvPr id="3" name="Table 2"/>
          <p:cNvGraphicFramePr>
            <a:graphicFrameLocks noGrp="1"/>
          </p:cNvGraphicFramePr>
          <p:nvPr/>
        </p:nvGraphicFramePr>
        <p:xfrm>
          <a:off x="1219200" y="1828800"/>
          <a:ext cx="9753600" cy="2743200"/>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457200">
                <a:tc>
                  <a:txBody>
                    <a:bodyPr/>
                    <a:lstStyle/>
                    <a:p>
                      <a:pPr>
                        <a:buNone/>
                        <a:defRPr sz="1600" b="1">
                          <a:solidFill>
                            <a:schemeClr val="bg1"/>
                          </a:solidFill>
                        </a:defRPr>
                      </a:pPr>
                      <a:r>
                        <a:rPr sz="1600" b="0" i="0" u="none"/>
                        <a:t>Principle</a:t>
                      </a:r>
                    </a:p>
                  </a:txBody>
                  <a:tcPr>
                    <a:solidFill>
                      <a:schemeClr val="accent4"/>
                    </a:solidFill>
                  </a:tcPr>
                </a:tc>
                <a:tc>
                  <a:txBody>
                    <a:bodyPr/>
                    <a:lstStyle/>
                    <a:p>
                      <a:pPr>
                        <a:buNone/>
                        <a:defRPr sz="1600" b="1">
                          <a:solidFill>
                            <a:schemeClr val="bg1"/>
                          </a:solidFill>
                        </a:defRPr>
                      </a:pPr>
                      <a:r>
                        <a:rPr sz="1600" b="0" i="0" u="none"/>
                        <a:t>Detail</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1" i="0" u="none"/>
                        <a:t>Separation</a:t>
                      </a:r>
                    </a:p>
                  </a:txBody>
                  <a:tcPr>
                    <a:solidFill>
                      <a:schemeClr val="accent4">
                        <a:lumMod val="20000"/>
                        <a:lumOff val="80000"/>
                      </a:schemeClr>
                    </a:solidFill>
                  </a:tcPr>
                </a:tc>
                <a:tc>
                  <a:txBody>
                    <a:bodyPr/>
                    <a:lstStyle/>
                    <a:p>
                      <a:pPr>
                        <a:buNone/>
                        <a:defRPr sz="1600" b="0">
                          <a:solidFill>
                            <a:schemeClr val="tx1"/>
                          </a:solidFill>
                        </a:defRPr>
                      </a:pPr>
                      <a:r>
                        <a:rPr sz="1600" b="0" i="0" u="none"/>
                        <a:t>Commands change state; queries never change state</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1" i="0" u="none"/>
                        <a:t>Invariants</a:t>
                      </a:r>
                    </a:p>
                  </a:txBody>
                  <a:tcPr>
                    <a:solidFill>
                      <a:schemeClr val="accent4">
                        <a:lumMod val="8000"/>
                        <a:lumOff val="92000"/>
                      </a:schemeClr>
                    </a:solidFill>
                  </a:tcPr>
                </a:tc>
                <a:tc>
                  <a:txBody>
                    <a:bodyPr/>
                    <a:lstStyle/>
                    <a:p>
                      <a:pPr>
                        <a:buNone/>
                        <a:defRPr sz="1600" b="0">
                          <a:solidFill>
                            <a:schemeClr val="tx1"/>
                          </a:solidFill>
                        </a:defRPr>
                      </a:pPr>
                      <a:r>
                        <a:rPr sz="1600" b="0" i="0" u="none"/>
                        <a:t>Write model enforces all business rules</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1" i="0" u="none"/>
                        <a:t>Optimization</a:t>
                      </a:r>
                    </a:p>
                  </a:txBody>
                  <a:tcPr>
                    <a:solidFill>
                      <a:schemeClr val="accent4">
                        <a:lumMod val="20000"/>
                        <a:lumOff val="80000"/>
                      </a:schemeClr>
                    </a:solidFill>
                  </a:tcPr>
                </a:tc>
                <a:tc>
                  <a:txBody>
                    <a:bodyPr/>
                    <a:lstStyle/>
                    <a:p>
                      <a:pPr>
                        <a:buNone/>
                        <a:defRPr sz="1600" b="0">
                          <a:solidFill>
                            <a:schemeClr val="tx1"/>
                          </a:solidFill>
                        </a:defRPr>
                      </a:pPr>
                      <a:r>
                        <a:rPr sz="1600" b="0" i="0" u="none"/>
                        <a:t>Read model is shaped for query use cases</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1" i="0" u="none"/>
                        <a:t>Independence</a:t>
                      </a:r>
                    </a:p>
                  </a:txBody>
                  <a:tcPr>
                    <a:solidFill>
                      <a:schemeClr val="accent4">
                        <a:lumMod val="8000"/>
                        <a:lumOff val="92000"/>
                      </a:schemeClr>
                    </a:solidFill>
                  </a:tcPr>
                </a:tc>
                <a:tc>
                  <a:txBody>
                    <a:bodyPr/>
                    <a:lstStyle/>
                    <a:p>
                      <a:pPr>
                        <a:buNone/>
                        <a:defRPr sz="1600" b="0">
                          <a:solidFill>
                            <a:schemeClr val="tx1"/>
                          </a:solidFill>
                        </a:defRPr>
                      </a:pPr>
                      <a:r>
                        <a:rPr sz="1600" b="0" i="0" u="none"/>
                        <a:t>Models can evolve separately</a:t>
                      </a:r>
                    </a:p>
                  </a:txBody>
                  <a:tcPr>
                    <a:solidFill>
                      <a:schemeClr val="accent4">
                        <a:lumMod val="8000"/>
                        <a:lumOff val="92000"/>
                      </a:schemeClr>
                    </a:solidFill>
                  </a:tcPr>
                </a:tc>
                <a:extLst>
                  <a:ext uri="{0D108BD9-81ED-4DB2-BD59-A6C34878D82A}">
                    <a16:rowId xmlns:a16="http://schemas.microsoft.com/office/drawing/2014/main" val="10004"/>
                  </a:ext>
                </a:extLst>
              </a:tr>
              <a:tr h="457200">
                <a:tc>
                  <a:txBody>
                    <a:bodyPr/>
                    <a:lstStyle/>
                    <a:p>
                      <a:pPr>
                        <a:buNone/>
                        <a:defRPr sz="1600" b="0">
                          <a:solidFill>
                            <a:schemeClr val="tx1"/>
                          </a:solidFill>
                        </a:defRPr>
                      </a:pPr>
                      <a:r>
                        <a:rPr sz="1600" b="1" i="0" u="none"/>
                        <a:t>Consistency</a:t>
                      </a:r>
                    </a:p>
                  </a:txBody>
                  <a:tcPr>
                    <a:solidFill>
                      <a:schemeClr val="accent4">
                        <a:lumMod val="20000"/>
                        <a:lumOff val="80000"/>
                      </a:schemeClr>
                    </a:solidFill>
                  </a:tcPr>
                </a:tc>
                <a:tc>
                  <a:txBody>
                    <a:bodyPr/>
                    <a:lstStyle/>
                    <a:p>
                      <a:pPr>
                        <a:buNone/>
                        <a:defRPr sz="1600" b="0">
                          <a:solidFill>
                            <a:schemeClr val="tx1"/>
                          </a:solidFill>
                        </a:defRPr>
                      </a:pPr>
                      <a:r>
                        <a:rPr sz="1600" b="0" i="0" u="none"/>
                        <a:t>Eventual consistency between write and read</a:t>
                      </a:r>
                    </a:p>
                  </a:txBody>
                  <a:tcPr>
                    <a:solidFill>
                      <a:schemeClr val="accent4">
                        <a:lumMod val="20000"/>
                        <a:lumOff val="80000"/>
                      </a:schemeClr>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CQRS Architecture Components</a:t>
            </a:r>
          </a:p>
        </p:txBody>
      </p:sp>
      <p:sp>
        <p:nvSpPr>
          <p:cNvPr id="3" name="Content Placeholder 2"/>
          <p:cNvSpPr>
            <a:spLocks noGrp="1"/>
          </p:cNvSpPr>
          <p:nvPr>
            <p:ph sz="half" idx="1"/>
          </p:nvPr>
        </p:nvSpPr>
        <p:spPr/>
        <p:txBody>
          <a:bodyPr wrap="square">
            <a:normAutofit/>
          </a:bodyPr>
          <a:lstStyle/>
          <a:p>
            <a:endParaRPr/>
          </a:p>
        </p:txBody>
      </p:sp>
      <p:sp>
        <p:nvSpPr>
          <p:cNvPr id="4" name="Content Placeholder 3"/>
          <p:cNvSpPr>
            <a:spLocks noGrp="1"/>
          </p:cNvSpPr>
          <p:nvPr>
            <p:ph sz="half" idx="2"/>
          </p:nvPr>
        </p:nvSpPr>
        <p:spPr/>
        <p:txBody>
          <a:bodyPr wrap="square">
            <a:noAutofit/>
          </a:bodyPr>
          <a:lstStyle/>
          <a:p>
            <a:pPr>
              <a:buNone/>
            </a:pPr>
            <a:r>
              <a:rPr sz="1900" b="1" i="0" u="none"/>
              <a:t>Minimum components</a:t>
            </a:r>
            <a:endParaRPr sz="1900" b="0" i="0">
              <a:latin typeface="Arial"/>
            </a:endParaRPr>
          </a:p>
          <a:p>
            <a:pPr>
              <a:buNone/>
            </a:pPr>
            <a:endParaRPr sz="1900" b="0" i="0">
              <a:latin typeface="Arial"/>
            </a:endParaRPr>
          </a:p>
          <a:p>
            <a:r>
              <a:rPr sz="1900" b="1" i="0" u="none"/>
              <a:t>Command API</a:t>
            </a:r>
            <a:r>
              <a:rPr sz="1900" b="0" i="0" u="none"/>
              <a:t> — receives write requests</a:t>
            </a:r>
            <a:endParaRPr sz="1900" b="0" i="0">
              <a:latin typeface="Arial"/>
            </a:endParaRPr>
          </a:p>
          <a:p>
            <a:r>
              <a:rPr sz="1900" b="1" i="0" u="none"/>
              <a:t>Command Handler</a:t>
            </a:r>
            <a:r>
              <a:rPr sz="1900" b="0" i="0" u="none"/>
              <a:t> — enforces domain rules</a:t>
            </a:r>
            <a:endParaRPr sz="1900" b="0" i="0">
              <a:latin typeface="Arial"/>
            </a:endParaRPr>
          </a:p>
          <a:p>
            <a:r>
              <a:rPr sz="1900" b="1" i="0" u="none"/>
              <a:t>Write Store</a:t>
            </a:r>
            <a:r>
              <a:rPr sz="1900" b="0" i="0" u="none"/>
              <a:t> — authoritative OLTP system</a:t>
            </a:r>
            <a:endParaRPr sz="1900" b="0" i="0">
              <a:latin typeface="Arial"/>
            </a:endParaRPr>
          </a:p>
          <a:p>
            <a:r>
              <a:rPr sz="1900" b="1" i="0" u="none"/>
              <a:t>Publisher</a:t>
            </a:r>
            <a:r>
              <a:rPr sz="1900" b="0" i="0" u="none"/>
              <a:t> — emits events reliably</a:t>
            </a:r>
            <a:endParaRPr sz="1900" b="0" i="0">
              <a:latin typeface="Arial"/>
            </a:endParaRPr>
          </a:p>
          <a:p>
            <a:r>
              <a:rPr sz="1900" b="1" i="0" u="none"/>
              <a:t>Projection Updater</a:t>
            </a:r>
            <a:r>
              <a:rPr sz="1900" b="0" i="0" u="none"/>
              <a:t> — rebuilds read models</a:t>
            </a:r>
            <a:endParaRPr sz="1900" b="0" i="0">
              <a:latin typeface="Arial"/>
            </a:endParaRPr>
          </a:p>
          <a:p>
            <a:r>
              <a:rPr sz="1900" b="1" i="0" u="none"/>
              <a:t>Query API</a:t>
            </a:r>
            <a:r>
              <a:rPr sz="1900" b="0" i="0" u="none"/>
              <a:t> — serves optimized reads</a:t>
            </a:r>
            <a:endParaRPr sz="1900" b="0" i="0">
              <a:latin typeface="Arial"/>
            </a:endParaRPr>
          </a:p>
          <a:p>
            <a:r>
              <a:rPr sz="1900" b="1" i="0" u="none"/>
              <a:t>Read Store</a:t>
            </a:r>
            <a:r>
              <a:rPr sz="1900" b="0" i="0" u="none"/>
              <a:t> — denormalized query model</a:t>
            </a:r>
            <a:endParaRPr sz="1900" b="0" i="0">
              <a:latin typeface="Arial"/>
            </a:endParaRPr>
          </a:p>
        </p:txBody>
      </p:sp>
      <p:pic>
        <p:nvPicPr>
          <p:cNvPr id="5" name="Picture 4" descr="4a2852d4d21f792f7a6b28036dc3ccf83df8be51.png"/>
          <p:cNvPicPr>
            <a:picLocks noChangeAspect="1"/>
          </p:cNvPicPr>
          <p:nvPr/>
        </p:nvPicPr>
        <p:blipFill>
          <a:blip r:embed="rId3"/>
          <a:stretch>
            <a:fillRect/>
          </a:stretch>
        </p:blipFill>
        <p:spPr>
          <a:xfrm>
            <a:off x="5852160" y="3291840"/>
            <a:ext cx="2926080" cy="502899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Consistency Strategy</a:t>
            </a:r>
          </a:p>
        </p:txBody>
      </p:sp>
      <p:sp>
        <p:nvSpPr>
          <p:cNvPr id="3" name="Content Placeholder 2"/>
          <p:cNvSpPr>
            <a:spLocks noGrp="1"/>
          </p:cNvSpPr>
          <p:nvPr>
            <p:ph idx="1"/>
          </p:nvPr>
        </p:nvSpPr>
        <p:spPr/>
        <p:txBody>
          <a:bodyPr wrap="square">
            <a:noAutofit/>
          </a:bodyPr>
          <a:lstStyle/>
          <a:p>
            <a:pPr>
              <a:buNone/>
            </a:pPr>
            <a:r>
              <a:rPr sz="1400" b="1" i="0" u="none"/>
              <a:t>Strong Consistency</a:t>
            </a:r>
            <a:r>
              <a:rPr sz="1400" b="0" i="0" u="none"/>
              <a:t> — needed for:</a:t>
            </a:r>
            <a:endParaRPr sz="1400" b="0" i="0">
              <a:latin typeface="Arial"/>
            </a:endParaRPr>
          </a:p>
          <a:p>
            <a:pPr>
              <a:buNone/>
            </a:pPr>
            <a:endParaRPr sz="1400" b="0" i="0">
              <a:latin typeface="Arial"/>
            </a:endParaRPr>
          </a:p>
          <a:p>
            <a:r>
              <a:rPr sz="1400" b="0" i="0" u="none"/>
              <a:t>Payments and financial transactions</a:t>
            </a:r>
            <a:endParaRPr sz="1400" b="0" i="0">
              <a:latin typeface="Arial"/>
            </a:endParaRPr>
          </a:p>
          <a:p>
            <a:r>
              <a:rPr sz="1400" b="0" i="0" u="none"/>
              <a:t>Inventory management</a:t>
            </a:r>
            <a:endParaRPr sz="1400" b="0" i="0">
              <a:latin typeface="Arial"/>
            </a:endParaRPr>
          </a:p>
          <a:p>
            <a:r>
              <a:rPr sz="1400" b="0" i="0" u="none"/>
              <a:t>Security and access control</a:t>
            </a:r>
            <a:endParaRPr sz="1400" b="0" i="0">
              <a:latin typeface="Arial"/>
            </a:endParaRPr>
          </a:p>
          <a:p>
            <a:pPr>
              <a:buNone/>
            </a:pPr>
            <a:endParaRPr sz="1400" b="0" i="0">
              <a:latin typeface="Arial"/>
            </a:endParaRPr>
          </a:p>
          <a:p>
            <a:pPr>
              <a:buNone/>
            </a:pPr>
            <a:r>
              <a:rPr sz="1400" b="1" i="0" u="none"/>
              <a:t>Eventual Consistency</a:t>
            </a:r>
            <a:r>
              <a:rPr sz="1400" b="0" i="0" u="none"/>
              <a:t> — acceptable for:</a:t>
            </a:r>
            <a:endParaRPr sz="1400" b="0" i="0">
              <a:latin typeface="Arial"/>
            </a:endParaRPr>
          </a:p>
          <a:p>
            <a:pPr>
              <a:buNone/>
            </a:pPr>
            <a:endParaRPr sz="1400" b="0" i="0">
              <a:latin typeface="Arial"/>
            </a:endParaRPr>
          </a:p>
          <a:p>
            <a:r>
              <a:rPr sz="1400" b="0" i="0" u="none"/>
              <a:t>Activity feeds and notifications</a:t>
            </a:r>
            <a:endParaRPr sz="1400" b="0" i="0">
              <a:latin typeface="Arial"/>
            </a:endParaRPr>
          </a:p>
          <a:p>
            <a:r>
              <a:rPr sz="1400" b="0" i="0" u="none"/>
              <a:t>Analytics dashboards</a:t>
            </a:r>
            <a:endParaRPr sz="1400" b="0" i="0">
              <a:latin typeface="Arial"/>
            </a:endParaRPr>
          </a:p>
          <a:p>
            <a:r>
              <a:rPr sz="1400" b="0" i="0" u="none"/>
              <a:t>Search indexes and recommendations</a:t>
            </a:r>
            <a:endParaRPr sz="1400" b="0" i="0">
              <a:latin typeface="Arial"/>
            </a:endParaRPr>
          </a:p>
          <a:p>
            <a:pPr>
              <a:buNone/>
            </a:pPr>
            <a:endParaRPr sz="1400" b="0" i="0">
              <a:latin typeface="Arial"/>
            </a:endParaRPr>
          </a:p>
          <a:p>
            <a:pPr>
              <a:buNone/>
            </a:pPr>
            <a:r>
              <a:rPr sz="1400" b="1" i="0" u="none"/>
              <a:t>Reliable Event Publication</a:t>
            </a:r>
            <a:r>
              <a:rPr sz="1400" b="0" i="0" u="none"/>
              <a:t> — use the Outbox Pattern:</a:t>
            </a:r>
            <a:endParaRPr sz="1400" b="0" i="0">
              <a:latin typeface="Arial"/>
            </a:endParaRPr>
          </a:p>
          <a:p>
            <a:pPr>
              <a:buNone/>
            </a:pPr>
            <a:endParaRPr sz="1400" b="0" i="0">
              <a:latin typeface="Arial"/>
            </a:endParaRPr>
          </a:p>
          <a:p>
            <a:pPr>
              <a:buNone/>
            </a:pPr>
            <a:r>
              <a:rPr sz="1400" b="0" i="1" u="none"/>
              <a:t>Write event to database table atomically with domain change → background process publishes → idempotent consumers</a:t>
            </a:r>
            <a:endParaRPr sz="1400" b="0" i="0">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Example: Order Approval Flow</a:t>
            </a:r>
          </a:p>
        </p:txBody>
      </p:sp>
      <p:sp>
        <p:nvSpPr>
          <p:cNvPr id="3" name="Content Placeholder 2"/>
          <p:cNvSpPr>
            <a:spLocks noGrp="1"/>
          </p:cNvSpPr>
          <p:nvPr>
            <p:ph idx="1"/>
          </p:nvPr>
        </p:nvSpPr>
        <p:spPr/>
        <p:txBody>
          <a:bodyPr wrap="square">
            <a:noAutofit/>
          </a:bodyPr>
          <a:lstStyle/>
          <a:p>
            <a:pPr>
              <a:buNone/>
            </a:pPr>
            <a:r>
              <a:rPr sz="1400" b="1" i="0" u="none"/>
              <a:t>Command flow (write)</a:t>
            </a:r>
            <a:r>
              <a:rPr sz="1400" b="0" i="0" u="none"/>
              <a:t>:</a:t>
            </a:r>
            <a:endParaRPr sz="1400" b="0" i="0">
              <a:latin typeface="Consolas"/>
            </a:endParaRPr>
          </a:p>
          <a:p>
            <a:pPr>
              <a:buNone/>
            </a:pPr>
            <a:endParaRPr sz="1400" b="0" i="0">
              <a:latin typeface="Consolas"/>
            </a:endParaRPr>
          </a:p>
          <a:p>
            <a:pPr>
              <a:buNone/>
            </a:pPr>
            <a:r>
              <a:rPr sz="1400" b="0" i="0" u="none"/>
              <a:t>1. API receives </a:t>
            </a:r>
            <a:r>
              <a:rPr sz="1400" b="0" i="0" u="none">
                <a:latin typeface="Consolas"/>
              </a:rPr>
              <a:t>ApproveOrder</a:t>
            </a:r>
            <a:r>
              <a:rPr sz="1400" b="0" i="0" u="none"/>
              <a:t> command</a:t>
            </a:r>
            <a:endParaRPr sz="1400" b="0" i="0">
              <a:latin typeface="Consolas"/>
            </a:endParaRPr>
          </a:p>
          <a:p>
            <a:pPr>
              <a:buNone/>
            </a:pPr>
            <a:r>
              <a:rPr sz="1400" b="0" i="0" u="none"/>
              <a:t>2. Command handler loads </a:t>
            </a:r>
            <a:r>
              <a:rPr sz="1400" b="0" i="0" u="none">
                <a:latin typeface="Consolas"/>
              </a:rPr>
              <a:t>Order</a:t>
            </a:r>
            <a:r>
              <a:rPr sz="1400" b="0" i="0" u="none"/>
              <a:t> aggregate</a:t>
            </a:r>
            <a:endParaRPr sz="1400" b="0" i="0">
              <a:latin typeface="Consolas"/>
            </a:endParaRPr>
          </a:p>
          <a:p>
            <a:pPr>
              <a:buNone/>
            </a:pPr>
            <a:r>
              <a:rPr sz="1400" b="0" i="0" u="none"/>
              <a:t>3. Aggregate validates approval rules</a:t>
            </a:r>
            <a:endParaRPr sz="1400" b="0" i="0">
              <a:latin typeface="Consolas"/>
            </a:endParaRPr>
          </a:p>
          <a:p>
            <a:pPr>
              <a:buNone/>
            </a:pPr>
            <a:r>
              <a:rPr sz="1400" b="0" i="0" u="none"/>
              <a:t>4. Transaction commits to write store</a:t>
            </a:r>
            <a:endParaRPr sz="1400" b="0" i="0">
              <a:latin typeface="Consolas"/>
            </a:endParaRPr>
          </a:p>
          <a:p>
            <a:pPr>
              <a:buNone/>
            </a:pPr>
            <a:r>
              <a:rPr sz="1400" b="0" i="0" u="none"/>
              <a:t>5. </a:t>
            </a:r>
            <a:r>
              <a:rPr sz="1400" b="0" i="0" u="none">
                <a:latin typeface="Consolas"/>
              </a:rPr>
              <a:t>OrderApproved</a:t>
            </a:r>
            <a:r>
              <a:rPr sz="1400" b="0" i="0" u="none"/>
              <a:t> event published via outbox</a:t>
            </a:r>
            <a:endParaRPr sz="1400" b="0" i="0">
              <a:latin typeface="Consolas"/>
            </a:endParaRPr>
          </a:p>
          <a:p>
            <a:pPr>
              <a:buNone/>
            </a:pPr>
            <a:endParaRPr sz="1400" b="0" i="0">
              <a:latin typeface="Consolas"/>
            </a:endParaRPr>
          </a:p>
          <a:p>
            <a:pPr>
              <a:buNone/>
            </a:pPr>
            <a:r>
              <a:rPr sz="1400" b="1" i="0" u="none"/>
              <a:t>Query flow (read)</a:t>
            </a:r>
            <a:r>
              <a:rPr sz="1400" b="0" i="0" u="none"/>
              <a:t>:</a:t>
            </a:r>
            <a:endParaRPr sz="1400" b="0" i="0">
              <a:latin typeface="Consolas"/>
            </a:endParaRPr>
          </a:p>
          <a:p>
            <a:pPr>
              <a:buNone/>
            </a:pPr>
            <a:endParaRPr sz="1400" b="0" i="0">
              <a:latin typeface="Consolas"/>
            </a:endParaRPr>
          </a:p>
          <a:p>
            <a:pPr>
              <a:buNone/>
            </a:pPr>
            <a:r>
              <a:rPr sz="1400" b="0" i="0" u="none"/>
              <a:t>1. UI requests order summary dashboard</a:t>
            </a:r>
            <a:endParaRPr sz="1400" b="0" i="0">
              <a:latin typeface="Consolas"/>
            </a:endParaRPr>
          </a:p>
          <a:p>
            <a:pPr>
              <a:buNone/>
            </a:pPr>
            <a:r>
              <a:rPr sz="1400" b="0" i="0" u="none"/>
              <a:t>2. Query API reads </a:t>
            </a:r>
            <a:r>
              <a:rPr sz="1400" b="0" i="0" u="none">
                <a:latin typeface="Consolas"/>
              </a:rPr>
              <a:t>OrderSummary</a:t>
            </a:r>
            <a:r>
              <a:rPr sz="1400" b="0" i="0" u="none"/>
              <a:t> projection</a:t>
            </a:r>
            <a:endParaRPr sz="1400" b="0" i="0">
              <a:latin typeface="Consolas"/>
            </a:endParaRPr>
          </a:p>
          <a:p>
            <a:pPr>
              <a:buNone/>
            </a:pPr>
            <a:r>
              <a:rPr sz="1400" b="0" i="0" u="none"/>
              <a:t>3. Read store returns denormalized view</a:t>
            </a:r>
            <a:endParaRPr sz="1400" b="0" i="0">
              <a:latin typeface="Consolas"/>
            </a:endParaRPr>
          </a:p>
          <a:p>
            <a:pPr>
              <a:buNone/>
            </a:pPr>
            <a:r>
              <a:rPr sz="1400" b="0" i="0" u="none"/>
              <a:t>4. Response includes </a:t>
            </a:r>
            <a:r>
              <a:rPr sz="1400" b="0" i="0" u="none">
                <a:latin typeface="Consolas"/>
              </a:rPr>
              <a:t>lastUpdatedUtc</a:t>
            </a:r>
            <a:r>
              <a:rPr sz="1400" b="0" i="0" u="none"/>
              <a:t> for freshness indicator</a:t>
            </a:r>
            <a:endParaRPr sz="1400" b="0" i="0">
              <a:latin typeface="Consola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Key Takeaways</a:t>
            </a:r>
          </a:p>
        </p:txBody>
      </p:sp>
      <p:sp>
        <p:nvSpPr>
          <p:cNvPr id="3" name="Content Placeholder 2"/>
          <p:cNvSpPr>
            <a:spLocks noGrp="1"/>
          </p:cNvSpPr>
          <p:nvPr>
            <p:ph sz="half" idx="1"/>
          </p:nvPr>
        </p:nvSpPr>
        <p:spPr/>
        <p:txBody>
          <a:bodyPr wrap="square">
            <a:noAutofit/>
          </a:bodyPr>
          <a:lstStyle/>
          <a:p>
            <a:pPr>
              <a:buNone/>
            </a:pPr>
            <a:r>
              <a:rPr sz="1900" b="1" i="0" u="none"/>
              <a:t>Core reminders</a:t>
            </a:r>
            <a:endParaRPr sz="1900" b="0" i="0">
              <a:latin typeface="Arial"/>
            </a:endParaRPr>
          </a:p>
          <a:p>
            <a:pPr>
              <a:buNone/>
            </a:pPr>
            <a:endParaRPr sz="1900" b="0" i="0">
              <a:latin typeface="Arial"/>
            </a:endParaRPr>
          </a:p>
          <a:p>
            <a:r>
              <a:rPr sz="1900" b="0" i="0" u="none"/>
              <a:t>Separate commands from queries at the architectural level</a:t>
            </a:r>
            <a:endParaRPr sz="1900" b="0" i="0">
              <a:latin typeface="Arial"/>
            </a:endParaRPr>
          </a:p>
          <a:p>
            <a:r>
              <a:rPr sz="1900" b="0" i="0" u="none"/>
              <a:t>Use CQRS when read and write workloads differ materially</a:t>
            </a:r>
            <a:endParaRPr sz="1900" b="0" i="0">
              <a:latin typeface="Arial"/>
            </a:endParaRPr>
          </a:p>
          <a:p>
            <a:r>
              <a:rPr sz="1900" b="0" i="0" u="none"/>
              <a:t>Use the outbox pattern for reliable event publication</a:t>
            </a:r>
            <a:endParaRPr sz="1900" b="0" i="0">
              <a:latin typeface="Arial"/>
            </a:endParaRPr>
          </a:p>
          <a:p>
            <a:r>
              <a:rPr sz="1900" b="0" i="0" u="none"/>
              <a:t>Design for eventual consistency intentionally</a:t>
            </a:r>
            <a:endParaRPr sz="1900" b="0" i="0">
              <a:latin typeface="Arial"/>
            </a:endParaRPr>
          </a:p>
          <a:p>
            <a:r>
              <a:rPr sz="1900" b="0" i="0" u="none"/>
              <a:t>Start small and migrate one context at a time</a:t>
            </a:r>
            <a:endParaRPr sz="1900" b="0" i="0">
              <a:latin typeface="Arial"/>
            </a:endParaRPr>
          </a:p>
        </p:txBody>
      </p:sp>
      <p:sp>
        <p:nvSpPr>
          <p:cNvPr id="4" name="Content Placeholder 3"/>
          <p:cNvSpPr>
            <a:spLocks noGrp="1"/>
          </p:cNvSpPr>
          <p:nvPr>
            <p:ph sz="half" idx="2"/>
          </p:nvPr>
        </p:nvSpPr>
        <p:spPr/>
        <p:txBody>
          <a:bodyPr wrap="square">
            <a:noAutofit/>
          </a:bodyPr>
          <a:lstStyle/>
          <a:p>
            <a:pPr>
              <a:buNone/>
            </a:pPr>
            <a:r>
              <a:rPr sz="2450" b="1" i="0" u="none"/>
              <a:t>Further reading</a:t>
            </a:r>
          </a:p>
          <a:p>
            <a:pPr>
              <a:buNone/>
            </a:pPr>
            <a:endParaRPr sz="2450" b="1" i="0" u="none"/>
          </a:p>
          <a:p>
            <a:r>
              <a:rPr sz="2450" b="0" i="0" u="none"/>
              <a:t>Martin Fowler: </a:t>
            </a:r>
            <a:r>
              <a:rPr sz="2450" b="0" i="0" u="none">
                <a:latin typeface="Consolas"/>
              </a:rPr>
              <a:t>martinfowler.com/bliki/CQRS.html</a:t>
            </a:r>
          </a:p>
          <a:p>
            <a:r>
              <a:rPr sz="2450" b="0" i="0" u="none"/>
              <a:t>Transactional outbox: </a:t>
            </a:r>
            <a:r>
              <a:rPr sz="2450" b="0" i="0" u="none">
                <a:latin typeface="Consolas"/>
              </a:rPr>
              <a:t>microservices.io/patterns/data/transactional-outbox.html</a:t>
            </a:r>
          </a:p>
          <a:p>
            <a:r>
              <a:rPr sz="2450" b="0" i="0" u="none"/>
              <a:t>Greg Young's CQRS documents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Autofit/>
          </a:bodyPr>
          <a:lstStyle/>
          <a:p>
            <a:r>
              <a:rPr sz="2350" b="0" i="0" u="none"/>
              <a:t>Intro</a:t>
            </a:r>
          </a:p>
          <a:p>
            <a:r>
              <a:rPr sz="2350" b="0" i="0" u="none"/>
              <a:t>Specification Driven Software Development</a:t>
            </a:r>
          </a:p>
          <a:p>
            <a:r>
              <a:rPr sz="2350" b="0" i="0" u="none"/>
              <a:t>Architecture Specification</a:t>
            </a:r>
          </a:p>
          <a:p>
            <a:r>
              <a:rPr sz="2350" b="1" i="0" u="none"/>
              <a:t>▶ Technology Specification</a:t>
            </a:r>
          </a:p>
          <a:p>
            <a:r>
              <a:rPr sz="2350" b="0" i="0" u="none"/>
              <a:t>Implementation Specification</a:t>
            </a:r>
          </a:p>
          <a:p>
            <a:r>
              <a:rPr sz="2350" b="0" i="0" u="none"/>
              <a:t>Implementation Planning</a:t>
            </a:r>
          </a:p>
          <a:p>
            <a:r>
              <a:rPr sz="2350" b="0" i="0" u="none"/>
              <a:t>Implementation Prompts</a:t>
            </a:r>
          </a:p>
          <a:p>
            <a:r>
              <a:rPr sz="2350" b="0" i="0" u="none"/>
              <a:t>Vertical Slice Implementation</a:t>
            </a:r>
          </a:p>
          <a:p>
            <a:r>
              <a:rPr sz="2350" b="0" i="0" u="none"/>
              <a:t>Code Review with GitHub Copilot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4300" b="0" i="0" u="none"/>
              <a:t>Technology Stack Instruction Files</a:t>
            </a:r>
          </a:p>
        </p:txBody>
      </p:sp>
      <p:sp>
        <p:nvSpPr>
          <p:cNvPr id="3" name="Subtitle 2"/>
          <p:cNvSpPr>
            <a:spLocks noGrp="1"/>
          </p:cNvSpPr>
          <p:nvPr>
            <p:ph type="subTitle" idx="1"/>
          </p:nvPr>
        </p:nvSpPr>
        <p:spPr/>
        <p:txBody>
          <a:bodyPr wrap="square">
            <a:normAutofit/>
          </a:bodyPr>
          <a:lstStyle/>
          <a:p>
            <a:pPr>
              <a:buNone/>
            </a:pPr>
            <a:r>
              <a:rPr b="0" i="0" u="none"/>
              <a:t>Teaching Your AI the House Rules for Every Room</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4300" b="0" i="0" u="none"/>
              <a:t>Technology Stack Instruction Files</a:t>
            </a:r>
          </a:p>
        </p:txBody>
      </p:sp>
      <p:sp>
        <p:nvSpPr>
          <p:cNvPr id="3" name="Content Placeholder 2"/>
          <p:cNvSpPr>
            <a:spLocks noGrp="1"/>
          </p:cNvSpPr>
          <p:nvPr>
            <p:ph idx="1"/>
          </p:nvPr>
        </p:nvSpPr>
        <p:spPr/>
        <p:txBody>
          <a:bodyPr wrap="square">
            <a:normAutofit/>
          </a:bodyPr>
          <a:lstStyle/>
          <a:p>
            <a:r>
              <a:rPr sz="2800" b="0" i="0" u="none"/>
              <a:t>Turning requirements into tech-specific guidance</a:t>
            </a:r>
            <a:endParaRPr sz="2800" b="0" i="0">
              <a:latin typeface="Arial"/>
            </a:endParaRPr>
          </a:p>
          <a:p>
            <a:r>
              <a:rPr sz="2800" b="0" i="0" u="none"/>
              <a:t>Show how teams generate, review, and improve instruction files</a:t>
            </a:r>
            <a:endParaRPr sz="2800" b="0" i="0">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Start with the Requirements</a:t>
            </a:r>
          </a:p>
        </p:txBody>
      </p:sp>
      <p:sp>
        <p:nvSpPr>
          <p:cNvPr id="3" name="Content Placeholder 2"/>
          <p:cNvSpPr>
            <a:spLocks noGrp="1"/>
          </p:cNvSpPr>
          <p:nvPr>
            <p:ph idx="1"/>
          </p:nvPr>
        </p:nvSpPr>
        <p:spPr/>
        <p:txBody>
          <a:bodyPr wrap="square">
            <a:normAutofit/>
          </a:bodyPr>
          <a:lstStyle/>
          <a:p>
            <a:r>
              <a:rPr sz="2800" b="0" i="0" u="none"/>
              <a:t>Review the requirements document before generating any instruction file</a:t>
            </a:r>
            <a:endParaRPr sz="2800" b="0" i="0">
              <a:latin typeface="Arial"/>
            </a:endParaRPr>
          </a:p>
          <a:p>
            <a:r>
              <a:rPr sz="2800" b="0" i="0" u="none"/>
              <a:t>Identify the front-end and implementation technologies explicitly in scope</a:t>
            </a:r>
            <a:endParaRPr sz="2800" b="0" i="0">
              <a:latin typeface="Arial"/>
            </a:endParaRPr>
          </a:p>
          <a:p>
            <a:r>
              <a:rPr sz="2800" b="0" i="0" u="none"/>
              <a:t>Decide on the tech stack</a:t>
            </a:r>
            <a:endParaRPr sz="2800" b="0" i="0">
              <a:latin typeface="Arial"/>
            </a:endParaRPr>
          </a:p>
          <a:p>
            <a:r>
              <a:rPr sz="2800" b="0" i="0" u="none"/>
              <a:t>Use the requirements to anchor standards, constraints, accessibility, and security expectations</a:t>
            </a:r>
            <a:endParaRPr sz="2800" b="0" i="0">
              <a:latin typeface="Arial"/>
            </a:endParaRPr>
          </a:p>
        </p:txBody>
      </p:sp>
      <p:pic>
        <p:nvPicPr>
          <p:cNvPr id="4" name="Picture 3" descr="f18b6ca36c1577de1ed613e0cd6469782137c03d.png"/>
          <p:cNvPicPr>
            <a:picLocks noChangeAspect="1"/>
          </p:cNvPicPr>
          <p:nvPr/>
        </p:nvPicPr>
        <p:blipFill>
          <a:blip r:embed="rId3"/>
          <a:stretch>
            <a:fillRect/>
          </a:stretch>
        </p:blipFill>
        <p:spPr>
          <a:xfrm>
            <a:off x="5852160" y="3291840"/>
            <a:ext cx="2926080" cy="19035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Generate the First Draft Quickly</a:t>
            </a:r>
          </a:p>
        </p:txBody>
      </p:sp>
      <p:sp>
        <p:nvSpPr>
          <p:cNvPr id="3" name="Content Placeholder 2"/>
          <p:cNvSpPr>
            <a:spLocks noGrp="1"/>
          </p:cNvSpPr>
          <p:nvPr>
            <p:ph idx="1"/>
          </p:nvPr>
        </p:nvSpPr>
        <p:spPr/>
        <p:txBody>
          <a:bodyPr wrap="square">
            <a:noAutofit/>
          </a:bodyPr>
          <a:lstStyle/>
          <a:p>
            <a:r>
              <a:rPr sz="2300" b="0" i="0" u="none"/>
              <a:t>Use a direct prompt such as: </a:t>
            </a:r>
            <a:r>
              <a:rPr sz="2300" b="1" i="0" u="none"/>
              <a:t>Create instruction files for the following technologies</a:t>
            </a:r>
            <a:endParaRPr sz="2300" b="0" i="0">
              <a:latin typeface="Arial"/>
            </a:endParaRPr>
          </a:p>
          <a:p>
            <a:r>
              <a:rPr sz="2300" b="0" i="0" u="none"/>
              <a:t>Name the stack clearly</a:t>
            </a:r>
            <a:endParaRPr sz="2300" b="0" i="0">
              <a:latin typeface="Arial"/>
            </a:endParaRPr>
          </a:p>
          <a:p>
            <a:r>
              <a:rPr sz="2300" b="0" i="0" u="none"/>
              <a:t>Ask for guidance on:</a:t>
            </a:r>
            <a:endParaRPr sz="2300" b="0" i="0">
              <a:latin typeface="Arial"/>
            </a:endParaRPr>
          </a:p>
          <a:p>
            <a:pPr lvl="1"/>
            <a:r>
              <a:rPr sz="2300" b="0" i="0" u="none"/>
              <a:t>semantic markup</a:t>
            </a:r>
            <a:endParaRPr sz="2300" b="0" i="0">
              <a:latin typeface="Arial"/>
            </a:endParaRPr>
          </a:p>
          <a:p>
            <a:pPr lvl="1"/>
            <a:r>
              <a:rPr sz="2300" b="0" i="0" u="none"/>
              <a:t>accessibility</a:t>
            </a:r>
            <a:endParaRPr sz="2300" b="0" i="0">
              <a:latin typeface="Arial"/>
            </a:endParaRPr>
          </a:p>
          <a:p>
            <a:pPr lvl="1"/>
            <a:r>
              <a:rPr sz="2300" b="0" i="0" u="none"/>
              <a:t>modern CSS practices</a:t>
            </a:r>
            <a:endParaRPr sz="2300" b="0" i="0">
              <a:latin typeface="Arial"/>
            </a:endParaRPr>
          </a:p>
          <a:p>
            <a:pPr lvl="1"/>
            <a:r>
              <a:rPr sz="2300" b="0" i="0" u="none"/>
              <a:t>security</a:t>
            </a:r>
            <a:endParaRPr sz="2300" b="0" i="0">
              <a:latin typeface="Arial"/>
            </a:endParaRPr>
          </a:p>
          <a:p>
            <a:pPr lvl="1"/>
            <a:r>
              <a:rPr sz="2300" b="0" i="0" u="none"/>
              <a:t>performance</a:t>
            </a:r>
            <a:endParaRPr sz="2300" b="0" i="0">
              <a:latin typeface="Arial"/>
            </a:endParaRPr>
          </a:p>
          <a:p>
            <a:r>
              <a:rPr sz="2300" b="0" i="0" u="none"/>
              <a:t>Treat the first output as a draft, not as final policy</a:t>
            </a:r>
            <a:endParaRPr sz="2300" b="0" i="0">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4150" b="0" i="0" u="none"/>
              <a:t>Review the Generated File Critically</a:t>
            </a:r>
          </a:p>
        </p:txBody>
      </p:sp>
      <p:sp>
        <p:nvSpPr>
          <p:cNvPr id="3" name="Content Placeholder 2"/>
          <p:cNvSpPr>
            <a:spLocks noGrp="1"/>
          </p:cNvSpPr>
          <p:nvPr>
            <p:ph idx="1"/>
          </p:nvPr>
        </p:nvSpPr>
        <p:spPr/>
        <p:txBody>
          <a:bodyPr wrap="square">
            <a:normAutofit/>
          </a:bodyPr>
          <a:lstStyle/>
          <a:p>
            <a:r>
              <a:rPr sz="2800" b="0" i="0" u="none"/>
              <a:t>Check the file structure, scope, and clarity</a:t>
            </a:r>
            <a:endParaRPr sz="2800" b="0" i="0">
              <a:latin typeface="Arial"/>
            </a:endParaRPr>
          </a:p>
          <a:p>
            <a:r>
              <a:rPr sz="2800" b="0" i="0" u="none"/>
              <a:t>Ensure a validation checklist is included</a:t>
            </a:r>
            <a:endParaRPr sz="2800" b="0" i="0">
              <a:latin typeface="Arial"/>
            </a:endParaRPr>
          </a:p>
          <a:p>
            <a:r>
              <a:rPr sz="2800" b="0" i="0" u="none"/>
              <a:t>Confirm the primary audience is </a:t>
            </a:r>
            <a:r>
              <a:rPr sz="2800" b="1" i="0" u="none"/>
              <a:t>AI assistants</a:t>
            </a:r>
            <a:r>
              <a:rPr sz="2800" b="0" i="0" u="none"/>
              <a:t> and the secondary audience is </a:t>
            </a:r>
            <a:r>
              <a:rPr sz="2800" b="1" i="0" u="none"/>
              <a:t>developers</a:t>
            </a:r>
            <a:endParaRPr sz="2800" b="0" i="0">
              <a:latin typeface="Arial"/>
            </a:endParaRPr>
          </a:p>
          <a:p>
            <a:r>
              <a:rPr sz="2800" b="0" i="0" u="none"/>
              <a:t>Verify security and performance guidance is concrete</a:t>
            </a:r>
            <a:endParaRPr sz="2800" b="0" i="0">
              <a:latin typeface="Arial"/>
            </a:endParaRPr>
          </a:p>
          <a:p>
            <a:r>
              <a:rPr sz="2800" b="0" i="0" u="none"/>
              <a:t>Confirm related documentation references are present and accurate</a:t>
            </a:r>
            <a:endParaRPr sz="2800" b="0" i="0">
              <a:latin typeface="Arial"/>
            </a:endParaRPr>
          </a:p>
        </p:txBody>
      </p:sp>
      <p:pic>
        <p:nvPicPr>
          <p:cNvPr id="4" name="Picture 3" descr="2cdfba148f0d928b1eb6daef1523c58fcb03eaa1.png"/>
          <p:cNvPicPr>
            <a:picLocks noChangeAspect="1"/>
          </p:cNvPicPr>
          <p:nvPr/>
        </p:nvPicPr>
        <p:blipFill>
          <a:blip r:embed="rId3"/>
          <a:stretch>
            <a:fillRect/>
          </a:stretch>
        </p:blipFill>
        <p:spPr>
          <a:xfrm>
            <a:off x="5852160" y="3291840"/>
            <a:ext cx="2926080" cy="584036"/>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650" b="0" i="0" u="none"/>
              <a:t>Use Multiple Models to Improve Quality</a:t>
            </a:r>
          </a:p>
        </p:txBody>
      </p:sp>
      <p:graphicFrame>
        <p:nvGraphicFramePr>
          <p:cNvPr id="3" name="Table 2"/>
          <p:cNvGraphicFramePr>
            <a:graphicFrameLocks noGrp="1"/>
          </p:cNvGraphicFramePr>
          <p:nvPr/>
        </p:nvGraphicFramePr>
        <p:xfrm>
          <a:off x="1219200" y="1828800"/>
          <a:ext cx="9753600" cy="1371600"/>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457200">
                <a:tc>
                  <a:txBody>
                    <a:bodyPr/>
                    <a:lstStyle/>
                    <a:p>
                      <a:pPr>
                        <a:buNone/>
                        <a:defRPr sz="1600" b="1">
                          <a:solidFill>
                            <a:schemeClr val="bg1"/>
                          </a:solidFill>
                        </a:defRPr>
                      </a:pPr>
                      <a:r>
                        <a:rPr sz="1600" b="0" i="0" u="none"/>
                        <a:t>Model tendency</a:t>
                      </a:r>
                    </a:p>
                  </a:txBody>
                  <a:tcPr>
                    <a:solidFill>
                      <a:schemeClr val="accent4"/>
                    </a:solidFill>
                  </a:tcPr>
                </a:tc>
                <a:tc>
                  <a:txBody>
                    <a:bodyPr/>
                    <a:lstStyle/>
                    <a:p>
                      <a:pPr>
                        <a:buNone/>
                        <a:defRPr sz="1600" b="1">
                          <a:solidFill>
                            <a:schemeClr val="bg1"/>
                          </a:solidFill>
                        </a:defRPr>
                      </a:pPr>
                      <a:r>
                        <a:rPr sz="1600" b="0" i="0" u="none"/>
                        <a:t>Practical takeaway</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Claude Sonnet: more comprehensive</a:t>
                      </a:r>
                    </a:p>
                  </a:txBody>
                  <a:tcPr>
                    <a:solidFill>
                      <a:schemeClr val="accent4">
                        <a:lumMod val="20000"/>
                        <a:lumOff val="80000"/>
                      </a:schemeClr>
                    </a:solidFill>
                  </a:tcPr>
                </a:tc>
                <a:tc>
                  <a:txBody>
                    <a:bodyPr/>
                    <a:lstStyle/>
                    <a:p>
                      <a:pPr>
                        <a:buNone/>
                        <a:defRPr sz="1600" b="0">
                          <a:solidFill>
                            <a:schemeClr val="tx1"/>
                          </a:solidFill>
                        </a:defRPr>
                      </a:pPr>
                      <a:r>
                        <a:rPr sz="1600" b="0" i="0" u="none"/>
                        <a:t>Good for broad first drafts</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GPT-4: more variable</a:t>
                      </a:r>
                    </a:p>
                  </a:txBody>
                  <a:tcPr>
                    <a:solidFill>
                      <a:schemeClr val="accent4">
                        <a:lumMod val="8000"/>
                        <a:lumOff val="92000"/>
                      </a:schemeClr>
                    </a:solidFill>
                  </a:tcPr>
                </a:tc>
                <a:tc>
                  <a:txBody>
                    <a:bodyPr/>
                    <a:lstStyle/>
                    <a:p>
                      <a:pPr>
                        <a:buNone/>
                        <a:defRPr sz="1600" b="0">
                          <a:solidFill>
                            <a:schemeClr val="tx1"/>
                          </a:solidFill>
                        </a:defRPr>
                      </a:pPr>
                      <a:r>
                        <a:rPr sz="1600" b="0" i="0" u="none"/>
                        <a:t>Good candidate for challenge and comparison</a:t>
                      </a:r>
                    </a:p>
                  </a:txBody>
                  <a:tcPr>
                    <a:solidFill>
                      <a:schemeClr val="accent4">
                        <a:lumMod val="8000"/>
                        <a:lumOff val="92000"/>
                      </a:schemeClr>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450" b="0" i="0" u="none"/>
              <a:t>Why This Matters in the Foundation Phase</a:t>
            </a:r>
          </a:p>
        </p:txBody>
      </p:sp>
      <p:sp>
        <p:nvSpPr>
          <p:cNvPr id="3" name="Content Placeholder 2"/>
          <p:cNvSpPr>
            <a:spLocks noGrp="1"/>
          </p:cNvSpPr>
          <p:nvPr>
            <p:ph idx="1"/>
          </p:nvPr>
        </p:nvSpPr>
        <p:spPr/>
        <p:txBody>
          <a:bodyPr wrap="square">
            <a:noAutofit/>
          </a:bodyPr>
          <a:lstStyle/>
          <a:p>
            <a:pPr>
              <a:buNone/>
            </a:pPr>
            <a:r>
              <a:rPr sz="2550" b="0" i="0" u="none"/>
              <a:t>1. Establish technology standards early</a:t>
            </a:r>
            <a:endParaRPr sz="2550" b="0" i="0">
              <a:latin typeface="Arial"/>
            </a:endParaRPr>
          </a:p>
          <a:p>
            <a:pPr>
              <a:buNone/>
            </a:pPr>
            <a:r>
              <a:rPr sz="2550" b="0" i="0" u="none"/>
              <a:t>2. Reduce inconsistency before implementation begins</a:t>
            </a:r>
            <a:endParaRPr sz="2550" b="0" i="0">
              <a:latin typeface="Arial"/>
            </a:endParaRPr>
          </a:p>
          <a:p>
            <a:pPr>
              <a:buNone/>
            </a:pPr>
            <a:r>
              <a:rPr sz="2550" b="0" i="0" u="none"/>
              <a:t>3. Give AI assistants reusable, repo-specific guidance</a:t>
            </a:r>
            <a:endParaRPr sz="2550" b="0" i="0">
              <a:latin typeface="Arial"/>
            </a:endParaRPr>
          </a:p>
          <a:p>
            <a:pPr>
              <a:buNone/>
            </a:pPr>
            <a:r>
              <a:rPr sz="2550" b="0" i="0" u="none"/>
              <a:t>4. Create artifacts the team can iterate on and version-control</a:t>
            </a:r>
            <a:endParaRPr sz="2550" b="0" i="0">
              <a:latin typeface="Arial"/>
            </a:endParaRPr>
          </a:p>
          <a:p>
            <a:pPr>
              <a:buNone/>
            </a:pPr>
            <a:r>
              <a:rPr sz="2550" b="0" i="0" u="none"/>
              <a:t>5. Build a stronger base for later slice planning and implementation prompts</a:t>
            </a:r>
            <a:endParaRPr sz="2550" b="0" i="0">
              <a:latin typeface="Arial"/>
            </a:endParaRPr>
          </a:p>
          <a:p>
            <a:pPr>
              <a:buNone/>
            </a:pPr>
            <a:endParaRPr sz="2550" b="0" i="0">
              <a:latin typeface="Arial"/>
            </a:endParaRPr>
          </a:p>
          <a:p>
            <a:pPr>
              <a:buNone/>
            </a:pPr>
            <a:r>
              <a:rPr sz="2550" b="1" i="0" u="none"/>
              <a:t>Bottom line</a:t>
            </a:r>
            <a:r>
              <a:rPr sz="2550" b="0" i="0" u="none"/>
              <a:t>: better instruction files lead to more reliable implementation output.</a:t>
            </a:r>
            <a:endParaRPr sz="2550" b="0" i="0">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Autofit/>
          </a:bodyPr>
          <a:lstStyle/>
          <a:p>
            <a:r>
              <a:rPr sz="2350" b="0" i="0" u="none"/>
              <a:t>Intro</a:t>
            </a:r>
          </a:p>
          <a:p>
            <a:r>
              <a:rPr sz="2350" b="0" i="0" u="none"/>
              <a:t>Specification Driven Software Development</a:t>
            </a:r>
          </a:p>
          <a:p>
            <a:r>
              <a:rPr sz="2350" b="0" i="0" u="none"/>
              <a:t>Architecture Specification</a:t>
            </a:r>
          </a:p>
          <a:p>
            <a:r>
              <a:rPr sz="2350" b="0" i="0" u="none"/>
              <a:t>Technology Specification</a:t>
            </a:r>
          </a:p>
          <a:p>
            <a:r>
              <a:rPr sz="2350" b="1" i="0" u="none"/>
              <a:t>▶ Implementation Specification</a:t>
            </a:r>
          </a:p>
          <a:p>
            <a:r>
              <a:rPr sz="2350" b="0" i="0" u="none"/>
              <a:t>Implementation Planning</a:t>
            </a:r>
          </a:p>
          <a:p>
            <a:r>
              <a:rPr sz="2350" b="0" i="0" u="none"/>
              <a:t>Implementation Prompts</a:t>
            </a:r>
          </a:p>
          <a:p>
            <a:r>
              <a:rPr sz="2350" b="0" i="0" u="none"/>
              <a:t>Vertical Slice Implementation</a:t>
            </a:r>
          </a:p>
          <a:p>
            <a:r>
              <a:rPr sz="2350" b="0" i="0" u="none"/>
              <a:t>Code Review with GitHub Copilot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800" b="0" i="0" u="none"/>
              <a:t>Features Go Vertical. Layers Go Home.</a:t>
            </a:r>
          </a:p>
        </p:txBody>
      </p:sp>
      <p:sp>
        <p:nvSpPr>
          <p:cNvPr id="3" name="Content Placeholder 2"/>
          <p:cNvSpPr>
            <a:spLocks noGrp="1"/>
          </p:cNvSpPr>
          <p:nvPr>
            <p:ph idx="1"/>
          </p:nvPr>
        </p:nvSpPr>
        <p:spPr/>
        <p:txBody>
          <a:bodyPr wrap="square">
            <a:normAutofit/>
          </a:bodyPr>
          <a:lstStyle/>
          <a:p>
            <a:pPr>
              <a:buNone/>
            </a:pPr>
            <a:r>
              <a:rPr sz="2800" b="1" i="0" u="none"/>
              <a:t>Organizing software around features instead of layers</a:t>
            </a:r>
            <a:endParaRPr sz="2800" b="0" i="0">
              <a:latin typeface="Arial"/>
            </a:endParaRPr>
          </a:p>
          <a:p>
            <a:pPr>
              <a:buNone/>
            </a:pPr>
            <a:endParaRPr sz="2800" b="0" i="0">
              <a:latin typeface="Arial"/>
            </a:endParaRPr>
          </a:p>
          <a:p>
            <a:pPr>
              <a:buNone/>
            </a:pPr>
            <a:r>
              <a:rPr sz="2800" b="0" i="1" u="none"/>
              <a:t>AI-Assisted Software Development</a:t>
            </a:r>
            <a:endParaRPr sz="2800" b="0" i="0">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is a vertical slice?</a:t>
            </a:r>
          </a:p>
        </p:txBody>
      </p:sp>
      <p:sp>
        <p:nvSpPr>
          <p:cNvPr id="3" name="Content Placeholder 2"/>
          <p:cNvSpPr>
            <a:spLocks noGrp="1"/>
          </p:cNvSpPr>
          <p:nvPr>
            <p:ph idx="1"/>
          </p:nvPr>
        </p:nvSpPr>
        <p:spPr/>
        <p:txBody>
          <a:bodyPr wrap="square">
            <a:noAutofit/>
          </a:bodyPr>
          <a:lstStyle/>
          <a:p>
            <a:pPr>
              <a:buNone/>
            </a:pPr>
            <a:r>
              <a:rPr sz="2200" b="1" i="0" u="none"/>
              <a:t>A vertical slice organizes code by business feature, not by technical layer.</a:t>
            </a:r>
            <a:endParaRPr sz="2200" b="0" i="0">
              <a:latin typeface="Arial"/>
            </a:endParaRPr>
          </a:p>
          <a:p>
            <a:pPr>
              <a:buNone/>
            </a:pPr>
            <a:endParaRPr sz="2200" b="0" i="0">
              <a:latin typeface="Arial"/>
            </a:endParaRPr>
          </a:p>
          <a:p>
            <a:r>
              <a:rPr sz="2200" b="0" i="0" u="none"/>
              <a:t>Each feature spans UI, validation, logic, and data access</a:t>
            </a:r>
            <a:endParaRPr sz="2200" b="0" i="0">
              <a:latin typeface="Arial"/>
            </a:endParaRPr>
          </a:p>
          <a:p>
            <a:r>
              <a:rPr sz="2200" b="0" i="0" u="none"/>
              <a:t>Everything needed for the feature lives together</a:t>
            </a:r>
            <a:endParaRPr sz="2200" b="0" i="0">
              <a:latin typeface="Arial"/>
            </a:endParaRPr>
          </a:p>
          <a:p>
            <a:r>
              <a:rPr sz="2200" b="0" i="0" u="none"/>
              <a:t>Slices are self-contained and intentionally independent</a:t>
            </a:r>
            <a:endParaRPr sz="2200" b="0" i="0">
              <a:latin typeface="Arial"/>
            </a:endParaRPr>
          </a:p>
          <a:p>
            <a:r>
              <a:rPr sz="2200" b="0" i="0" u="none"/>
              <a:t>Features avoid direct references to other features</a:t>
            </a:r>
            <a:endParaRPr sz="2200" b="0" i="0">
              <a:latin typeface="Arial"/>
            </a:endParaRPr>
          </a:p>
          <a:p>
            <a:r>
              <a:rPr sz="2200" b="0" i="0" u="none"/>
              <a:t>Changes stay localized, which improves maintainability</a:t>
            </a:r>
            <a:endParaRPr sz="2200" b="0" i="0">
              <a:latin typeface="Arial"/>
            </a:endParaRPr>
          </a:p>
          <a:p>
            <a:pPr>
              <a:buNone/>
            </a:pPr>
            <a:endParaRPr sz="2200" b="0" i="0">
              <a:latin typeface="Arial"/>
            </a:endParaRPr>
          </a:p>
          <a:p>
            <a:pPr>
              <a:buNone/>
            </a:pPr>
            <a:r>
              <a:rPr sz="2200" b="0" i="1" u="none"/>
              <a:t>Think in complete user capabilities, not shared technical buckets.</a:t>
            </a:r>
            <a:endParaRPr sz="2200" b="0" i="0">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4250" b="0" i="0" u="none"/>
              <a:t>Layered folders vs. feature folders</a:t>
            </a:r>
          </a:p>
        </p:txBody>
      </p:sp>
      <p:sp>
        <p:nvSpPr>
          <p:cNvPr id="3" name="Content Placeholder 2"/>
          <p:cNvSpPr>
            <a:spLocks noGrp="1"/>
          </p:cNvSpPr>
          <p:nvPr>
            <p:ph idx="1"/>
          </p:nvPr>
        </p:nvSpPr>
        <p:spPr/>
        <p:txBody>
          <a:bodyPr wrap="square">
            <a:normAutofit/>
          </a:bodyPr>
          <a:lstStyle/>
          <a:p>
            <a:pPr>
              <a:buNone/>
            </a:pPr>
            <a:r>
              <a:rPr sz="2800" b="1" i="0" u="none"/>
              <a:t>Layered:</a:t>
            </a:r>
            <a:r>
              <a:rPr sz="2800" b="0" i="0" u="none"/>
              <a:t> related code is separated by technical type.</a:t>
            </a:r>
            <a:endParaRPr sz="2800" b="0" i="0">
              <a:latin typeface="Arial"/>
            </a:endParaRPr>
          </a:p>
          <a:p>
            <a:pPr>
              <a:buNone/>
            </a:pPr>
            <a:endParaRPr sz="2800" b="0" i="0">
              <a:latin typeface="Arial"/>
            </a:endParaRPr>
          </a:p>
          <a:p>
            <a:pPr>
              <a:buNone/>
            </a:pPr>
            <a:r>
              <a:rPr sz="2800" b="1" i="0" u="none"/>
              <a:t>Vertical slices:</a:t>
            </a:r>
            <a:r>
              <a:rPr sz="2800" b="0" i="0" u="none"/>
              <a:t> all code for a feature is kept in one place.</a:t>
            </a:r>
            <a:endParaRPr sz="2800" b="0" i="0">
              <a:latin typeface="Arial"/>
            </a:endParaRPr>
          </a:p>
        </p:txBody>
      </p:sp>
      <p:pic>
        <p:nvPicPr>
          <p:cNvPr id="4" name="Picture 3" descr="561abd507ce3d347fb9ee474029941865e204bcf.png"/>
          <p:cNvPicPr>
            <a:picLocks noChangeAspect="1"/>
          </p:cNvPicPr>
          <p:nvPr/>
        </p:nvPicPr>
        <p:blipFill>
          <a:blip r:embed="rId3"/>
          <a:stretch>
            <a:fillRect/>
          </a:stretch>
        </p:blipFill>
        <p:spPr>
          <a:xfrm>
            <a:off x="5852160" y="3291840"/>
            <a:ext cx="2926080" cy="1640793"/>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4250" b="0" i="0" u="none"/>
              <a:t>Why developers like this approach</a:t>
            </a:r>
          </a:p>
        </p:txBody>
      </p:sp>
      <p:sp>
        <p:nvSpPr>
          <p:cNvPr id="3" name="Content Placeholder 2"/>
          <p:cNvSpPr>
            <a:spLocks noGrp="1"/>
          </p:cNvSpPr>
          <p:nvPr>
            <p:ph idx="1"/>
          </p:nvPr>
        </p:nvSpPr>
        <p:spPr/>
        <p:txBody>
          <a:bodyPr wrap="square">
            <a:noAutofit/>
          </a:bodyPr>
          <a:lstStyle/>
          <a:p>
            <a:pPr>
              <a:buNone/>
            </a:pPr>
            <a:r>
              <a:rPr sz="1550" b="1" i="0" u="none"/>
              <a:t>Developer experience</a:t>
            </a:r>
            <a:endParaRPr sz="1550" b="0" i="0">
              <a:latin typeface="Arial"/>
            </a:endParaRPr>
          </a:p>
          <a:p>
            <a:pPr>
              <a:buNone/>
            </a:pPr>
            <a:endParaRPr sz="1550" b="0" i="0">
              <a:latin typeface="Arial"/>
            </a:endParaRPr>
          </a:p>
          <a:p>
            <a:r>
              <a:rPr sz="1550" b="0" i="0" u="none"/>
              <a:t>Faster feature development</a:t>
            </a:r>
            <a:endParaRPr sz="1550" b="0" i="0">
              <a:latin typeface="Arial"/>
            </a:endParaRPr>
          </a:p>
          <a:p>
            <a:r>
              <a:rPr sz="1550" b="0" i="0" u="none"/>
              <a:t>All related code in one location</a:t>
            </a:r>
            <a:endParaRPr sz="1550" b="0" i="0">
              <a:latin typeface="Arial"/>
            </a:endParaRPr>
          </a:p>
          <a:p>
            <a:r>
              <a:rPr sz="1550" b="0" i="0" u="none"/>
              <a:t>Less folder jumping during implementation</a:t>
            </a:r>
            <a:endParaRPr sz="1550" b="0" i="0">
              <a:latin typeface="Arial"/>
            </a:endParaRPr>
          </a:p>
          <a:p>
            <a:r>
              <a:rPr sz="1550" b="0" i="0" u="none"/>
              <a:t>New features are less likely to disturb existing ones</a:t>
            </a:r>
            <a:endParaRPr sz="1550" b="0" i="0">
              <a:latin typeface="Arial"/>
            </a:endParaRPr>
          </a:p>
          <a:p>
            <a:pPr>
              <a:buNone/>
            </a:pPr>
            <a:endParaRPr sz="1550" b="0" i="0">
              <a:latin typeface="Arial"/>
            </a:endParaRPr>
          </a:p>
          <a:p>
            <a:pPr>
              <a:buNone/>
            </a:pPr>
            <a:r>
              <a:rPr sz="1550" b="1" i="0" u="none"/>
              <a:t>Maintainability</a:t>
            </a:r>
            <a:endParaRPr sz="1550" b="0" i="0">
              <a:latin typeface="Arial"/>
            </a:endParaRPr>
          </a:p>
          <a:p>
            <a:pPr>
              <a:buNone/>
            </a:pPr>
            <a:endParaRPr sz="1550" b="0" i="0">
              <a:latin typeface="Arial"/>
            </a:endParaRPr>
          </a:p>
          <a:p>
            <a:r>
              <a:rPr sz="1550" b="0" i="0" u="none"/>
              <a:t>Localized changes</a:t>
            </a:r>
            <a:endParaRPr sz="1550" b="0" i="0">
              <a:latin typeface="Arial"/>
            </a:endParaRPr>
          </a:p>
          <a:p>
            <a:r>
              <a:rPr sz="1550" b="0" i="0" u="none"/>
              <a:t>Clear boundaries reduce accidental bugs</a:t>
            </a:r>
            <a:endParaRPr sz="1550" b="0" i="0">
              <a:latin typeface="Arial"/>
            </a:endParaRPr>
          </a:p>
          <a:p>
            <a:r>
              <a:rPr sz="1550" b="0" i="0" u="none"/>
              <a:t>Refactoring happens inside the feature more often than across the whole app</a:t>
            </a:r>
            <a:endParaRPr sz="1550" b="0" i="0">
              <a:latin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4300" b="0" i="0" u="none"/>
              <a:t>Collaboration and testing benefits</a:t>
            </a:r>
          </a:p>
        </p:txBody>
      </p:sp>
      <p:sp>
        <p:nvSpPr>
          <p:cNvPr id="3" name="Content Placeholder 2"/>
          <p:cNvSpPr>
            <a:spLocks noGrp="1"/>
          </p:cNvSpPr>
          <p:nvPr>
            <p:ph idx="1"/>
          </p:nvPr>
        </p:nvSpPr>
        <p:spPr/>
        <p:txBody>
          <a:bodyPr wrap="square">
            <a:noAutofit/>
          </a:bodyPr>
          <a:lstStyle/>
          <a:p>
            <a:pPr>
              <a:buNone/>
            </a:pPr>
            <a:r>
              <a:rPr sz="1550" b="1" i="0" u="none"/>
              <a:t>Team collaboration</a:t>
            </a:r>
            <a:endParaRPr sz="1550" b="0" i="0">
              <a:latin typeface="Arial"/>
            </a:endParaRPr>
          </a:p>
          <a:p>
            <a:pPr>
              <a:buNone/>
            </a:pPr>
            <a:endParaRPr sz="1550" b="0" i="0">
              <a:latin typeface="Arial"/>
            </a:endParaRPr>
          </a:p>
          <a:p>
            <a:r>
              <a:rPr sz="1550" b="0" i="0" u="none"/>
              <a:t>Teams can build features in parallel</a:t>
            </a:r>
            <a:endParaRPr sz="1550" b="0" i="0">
              <a:latin typeface="Arial"/>
            </a:endParaRPr>
          </a:p>
          <a:p>
            <a:r>
              <a:rPr sz="1550" b="0" i="0" u="none"/>
              <a:t>Clear boundaries mean fewer merge conflicts</a:t>
            </a:r>
            <a:endParaRPr sz="1550" b="0" i="0">
              <a:latin typeface="Arial"/>
            </a:endParaRPr>
          </a:p>
          <a:p>
            <a:r>
              <a:rPr sz="1550" b="0" i="0" u="none"/>
              <a:t>Ownership and responsibility are easier to assign</a:t>
            </a:r>
            <a:endParaRPr sz="1550" b="0" i="0">
              <a:latin typeface="Arial"/>
            </a:endParaRPr>
          </a:p>
          <a:p>
            <a:pPr>
              <a:buNone/>
            </a:pPr>
            <a:endParaRPr sz="1550" b="0" i="0">
              <a:latin typeface="Arial"/>
            </a:endParaRPr>
          </a:p>
          <a:p>
            <a:pPr>
              <a:buNone/>
            </a:pPr>
            <a:r>
              <a:rPr sz="1550" b="1" i="0" u="none"/>
              <a:t>Testing approach</a:t>
            </a:r>
            <a:endParaRPr sz="1550" b="0" i="0">
              <a:latin typeface="Arial"/>
            </a:endParaRPr>
          </a:p>
          <a:p>
            <a:pPr>
              <a:buNone/>
            </a:pPr>
            <a:endParaRPr sz="1550" b="0" i="0">
              <a:latin typeface="Arial"/>
            </a:endParaRPr>
          </a:p>
          <a:p>
            <a:r>
              <a:rPr sz="1550" b="0" i="0" u="none"/>
              <a:t>Test complete features, not isolated layers</a:t>
            </a:r>
            <a:endParaRPr sz="1550" b="0" i="0">
              <a:latin typeface="Arial"/>
            </a:endParaRPr>
          </a:p>
          <a:p>
            <a:r>
              <a:rPr sz="1550" b="0" i="0" u="none"/>
              <a:t>Mock at feature boundaries</a:t>
            </a:r>
            <a:endParaRPr sz="1550" b="0" i="0">
              <a:latin typeface="Arial"/>
            </a:endParaRPr>
          </a:p>
          <a:p>
            <a:r>
              <a:rPr sz="1550" b="0" i="0" u="none"/>
              <a:t>Integration becomes more straightforward</a:t>
            </a:r>
            <a:endParaRPr sz="1550" b="0" i="0">
              <a:latin typeface="Arial"/>
            </a:endParaRPr>
          </a:p>
          <a:p>
            <a:r>
              <a:rPr sz="1550" b="0" i="0" u="none"/>
              <a:t>Independent development is easier with mocked dependencies</a:t>
            </a:r>
            <a:endParaRPr sz="1550" b="0" i="0">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950" b="0" i="0" u="none"/>
              <a:t>Why CQRS fits well with vertical slices</a:t>
            </a:r>
          </a:p>
        </p:txBody>
      </p:sp>
      <p:sp>
        <p:nvSpPr>
          <p:cNvPr id="3" name="Content Placeholder 2"/>
          <p:cNvSpPr>
            <a:spLocks noGrp="1"/>
          </p:cNvSpPr>
          <p:nvPr>
            <p:ph idx="1"/>
          </p:nvPr>
        </p:nvSpPr>
        <p:spPr/>
        <p:txBody>
          <a:bodyPr wrap="square">
            <a:normAutofit/>
          </a:bodyPr>
          <a:lstStyle/>
          <a:p>
            <a:r>
              <a:rPr sz="2800" b="0" i="0" u="none"/>
              <a:t>CQRS separates reads from writes</a:t>
            </a:r>
            <a:endParaRPr sz="2800" b="0" i="0">
              <a:latin typeface="Arial"/>
            </a:endParaRPr>
          </a:p>
          <a:p>
            <a:r>
              <a:rPr sz="2800" b="0" i="0" u="none"/>
              <a:t>Read side can be optimized for display and performance</a:t>
            </a:r>
            <a:endParaRPr sz="2800" b="0" i="0">
              <a:latin typeface="Arial"/>
            </a:endParaRPr>
          </a:p>
          <a:p>
            <a:r>
              <a:rPr sz="2800" b="0" i="0" u="none"/>
              <a:t>Write side can be optimized for business rules and updates</a:t>
            </a:r>
            <a:endParaRPr sz="2800" b="0" i="0">
              <a:latin typeface="Arial"/>
            </a:endParaRPr>
          </a:p>
          <a:p>
            <a:r>
              <a:rPr sz="2800" b="0" i="0" u="none"/>
              <a:t>Messaging keeps the two stacks coordinated</a:t>
            </a:r>
            <a:endParaRPr sz="2800" b="0" i="0">
              <a:latin typeface="Arial"/>
            </a:endParaRPr>
          </a:p>
          <a:p>
            <a:r>
              <a:rPr sz="2800" b="0" i="0" u="none"/>
              <a:t>A feature slice can implement both read and write concerns together</a:t>
            </a:r>
            <a:endParaRPr sz="2800" b="0" i="0">
              <a:latin typeface="Arial"/>
            </a:endParaRPr>
          </a:p>
        </p:txBody>
      </p:sp>
      <p:pic>
        <p:nvPicPr>
          <p:cNvPr id="4" name="Picture 3" descr="936a3883cd7dfa461651ac5660984e26a6758c13.png"/>
          <p:cNvPicPr>
            <a:picLocks noChangeAspect="1"/>
          </p:cNvPicPr>
          <p:nvPr/>
        </p:nvPicPr>
        <p:blipFill>
          <a:blip r:embed="rId3"/>
          <a:stretch>
            <a:fillRect/>
          </a:stretch>
        </p:blipFill>
        <p:spPr>
          <a:xfrm>
            <a:off x="5852160" y="3291840"/>
            <a:ext cx="2926080" cy="438912"/>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Key takeaways</a:t>
            </a:r>
          </a:p>
        </p:txBody>
      </p:sp>
      <p:sp>
        <p:nvSpPr>
          <p:cNvPr id="3" name="Content Placeholder 2"/>
          <p:cNvSpPr>
            <a:spLocks noGrp="1"/>
          </p:cNvSpPr>
          <p:nvPr>
            <p:ph idx="1"/>
          </p:nvPr>
        </p:nvSpPr>
        <p:spPr/>
        <p:txBody>
          <a:bodyPr wrap="square">
            <a:noAutofit/>
          </a:bodyPr>
          <a:lstStyle/>
          <a:p>
            <a:r>
              <a:rPr sz="2550" b="0" i="0" u="none"/>
              <a:t>Organize by feature when you want stronger business boundaries</a:t>
            </a:r>
            <a:endParaRPr sz="2550" b="0" i="0">
              <a:latin typeface="Arial"/>
            </a:endParaRPr>
          </a:p>
          <a:p>
            <a:r>
              <a:rPr sz="2550" b="0" i="0" u="none"/>
              <a:t>Keep everything needed for a feature in one place</a:t>
            </a:r>
            <a:endParaRPr sz="2550" b="0" i="0">
              <a:latin typeface="Arial"/>
            </a:endParaRPr>
          </a:p>
          <a:p>
            <a:r>
              <a:rPr sz="2550" b="0" i="0" u="none"/>
              <a:t>Prefer independent slices over tightly coupled features</a:t>
            </a:r>
            <a:endParaRPr sz="2550" b="0" i="0">
              <a:latin typeface="Arial"/>
            </a:endParaRPr>
          </a:p>
          <a:p>
            <a:r>
              <a:rPr sz="2550" b="0" i="0" u="none"/>
              <a:t>Use localized changes to improve maintainability</a:t>
            </a:r>
            <a:endParaRPr sz="2550" b="0" i="0">
              <a:latin typeface="Arial"/>
            </a:endParaRPr>
          </a:p>
          <a:p>
            <a:r>
              <a:rPr sz="2550" b="0" i="0" u="none"/>
              <a:t>Consider CQRS when read and write paths have different needs</a:t>
            </a:r>
            <a:endParaRPr sz="2550" b="0" i="0">
              <a:latin typeface="Arial"/>
            </a:endParaRPr>
          </a:p>
          <a:p>
            <a:pPr>
              <a:buNone/>
            </a:pPr>
            <a:endParaRPr sz="2550" b="0" i="0">
              <a:latin typeface="Arial"/>
            </a:endParaRPr>
          </a:p>
          <a:p>
            <a:pPr>
              <a:buNone/>
            </a:pPr>
            <a:r>
              <a:rPr sz="2550" b="1" i="0" u="none"/>
              <a:t>Bottom line:</a:t>
            </a:r>
            <a:r>
              <a:rPr sz="2550" b="0" i="0" u="none"/>
              <a:t> vertical slicing improves focus, flow, and long-term maintainability.</a:t>
            </a:r>
            <a:endParaRPr sz="2550" b="0" i="0">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Autofit/>
          </a:bodyPr>
          <a:lstStyle/>
          <a:p>
            <a:r>
              <a:rPr sz="2350" b="0" i="0" u="none"/>
              <a:t>Intro</a:t>
            </a:r>
          </a:p>
          <a:p>
            <a:r>
              <a:rPr sz="2350" b="0" i="0" u="none"/>
              <a:t>Specification Driven Software Development</a:t>
            </a:r>
          </a:p>
          <a:p>
            <a:r>
              <a:rPr sz="2350" b="0" i="0" u="none"/>
              <a:t>Architecture Specification</a:t>
            </a:r>
          </a:p>
          <a:p>
            <a:r>
              <a:rPr sz="2350" b="0" i="0" u="none"/>
              <a:t>Technology Specification</a:t>
            </a:r>
          </a:p>
          <a:p>
            <a:r>
              <a:rPr sz="2350" b="0" i="0" u="none"/>
              <a:t>Implementation Specification</a:t>
            </a:r>
          </a:p>
          <a:p>
            <a:r>
              <a:rPr sz="2350" b="1" i="0" u="none"/>
              <a:t>▶ Implementation Planning</a:t>
            </a:r>
          </a:p>
          <a:p>
            <a:r>
              <a:rPr sz="2350" b="0" i="0" u="none"/>
              <a:t>Implementation Prompts</a:t>
            </a:r>
          </a:p>
          <a:p>
            <a:r>
              <a:rPr sz="2350" b="0" i="0" u="none"/>
              <a:t>Vertical Slice Implementation</a:t>
            </a:r>
          </a:p>
          <a:p>
            <a:r>
              <a:rPr sz="2350" b="0" i="0" u="none"/>
              <a:t>Code Review with GitHub Copilot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4250" b="0" i="0" u="none"/>
              <a:t>The Blueprint Before the Blueprint</a:t>
            </a:r>
          </a:p>
        </p:txBody>
      </p:sp>
      <p:sp>
        <p:nvSpPr>
          <p:cNvPr id="3" name="Content Placeholder 2"/>
          <p:cNvSpPr>
            <a:spLocks noGrp="1"/>
          </p:cNvSpPr>
          <p:nvPr>
            <p:ph idx="1"/>
          </p:nvPr>
        </p:nvSpPr>
        <p:spPr/>
        <p:txBody>
          <a:bodyPr wrap="square">
            <a:normAutofit/>
          </a:bodyPr>
          <a:lstStyle/>
          <a:p>
            <a:r>
              <a:rPr sz="2800" b="0" i="0" u="none"/>
              <a:t>16-minute teaching segment</a:t>
            </a:r>
            <a:endParaRPr sz="2800" b="0" i="0">
              <a:latin typeface="Arial"/>
            </a:endParaRPr>
          </a:p>
          <a:p>
            <a:r>
              <a:rPr sz="2800" b="0" i="0" u="none"/>
              <a:t>Focus: how to plan before implementation</a:t>
            </a:r>
            <a:endParaRPr sz="2800" b="0" i="0">
              <a:latin typeface="Arial"/>
            </a:endParaRPr>
          </a:p>
          <a:p>
            <a:r>
              <a:rPr sz="2800" b="0" i="0" u="none"/>
              <a:t>Goal: turn requirements into executable slices</a:t>
            </a:r>
            <a:endParaRPr sz="2800" b="0" i="0">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this section covers</a:t>
            </a:r>
          </a:p>
        </p:txBody>
      </p:sp>
      <p:sp>
        <p:nvSpPr>
          <p:cNvPr id="3" name="Content Placeholder 2"/>
          <p:cNvSpPr>
            <a:spLocks noGrp="1"/>
          </p:cNvSpPr>
          <p:nvPr>
            <p:ph idx="1"/>
          </p:nvPr>
        </p:nvSpPr>
        <p:spPr/>
        <p:txBody>
          <a:bodyPr wrap="square">
            <a:normAutofit/>
          </a:bodyPr>
          <a:lstStyle/>
          <a:p>
            <a:r>
              <a:rPr sz="2800" b="0" i="0" u="none"/>
              <a:t>Vertical slice planning instruction file</a:t>
            </a:r>
            <a:endParaRPr sz="2800" b="0" i="0">
              <a:latin typeface="Arial"/>
            </a:endParaRPr>
          </a:p>
          <a:p>
            <a:r>
              <a:rPr sz="2800" b="0" i="0" u="none"/>
              <a:t>Slice identification strategies</a:t>
            </a:r>
            <a:endParaRPr sz="2800" b="0" i="0">
              <a:latin typeface="Arial"/>
            </a:endParaRPr>
          </a:p>
          <a:p>
            <a:r>
              <a:rPr sz="2800" b="0" i="0" u="none"/>
              <a:t>Decomposition principles</a:t>
            </a:r>
            <a:endParaRPr sz="2800" b="0" i="0">
              <a:latin typeface="Arial"/>
            </a:endParaRPr>
          </a:p>
          <a:p>
            <a:r>
              <a:rPr sz="2800" b="0" i="0" u="none"/>
              <a:t>AI-assisted implementation planning</a:t>
            </a:r>
            <a:endParaRPr sz="2800" b="0" i="0">
              <a:latin typeface="Arial"/>
            </a:endParaRPr>
          </a:p>
          <a:p>
            <a:r>
              <a:rPr sz="2800" b="0" i="0" u="none"/>
              <a:t>Slice specifications and roadmaps</a:t>
            </a:r>
            <a:endParaRPr sz="2800" b="0" i="0">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4050" b="0" i="0" u="none"/>
              <a:t>7.1 Review the planning instructions</a:t>
            </a:r>
          </a:p>
        </p:txBody>
      </p:sp>
      <p:sp>
        <p:nvSpPr>
          <p:cNvPr id="3" name="Content Placeholder 2"/>
          <p:cNvSpPr>
            <a:spLocks noGrp="1"/>
          </p:cNvSpPr>
          <p:nvPr>
            <p:ph idx="1"/>
          </p:nvPr>
        </p:nvSpPr>
        <p:spPr/>
        <p:txBody>
          <a:bodyPr wrap="square">
            <a:normAutofit/>
          </a:bodyPr>
          <a:lstStyle/>
          <a:p>
            <a:pPr>
              <a:buNone/>
            </a:pPr>
            <a:r>
              <a:rPr sz="1800" b="0" i="0" u="none"/>
              <a:t>Reference point:</a:t>
            </a:r>
            <a:endParaRPr sz="1800" b="0" i="0">
              <a:latin typeface="Consolas"/>
            </a:endParaRPr>
          </a:p>
          <a:p>
            <a:pPr>
              <a:buNone/>
            </a:pPr>
            <a:endParaRPr sz="1800" b="0" i="0">
              <a:latin typeface="Consolas"/>
            </a:endParaRPr>
          </a:p>
          <a:p>
            <a:pPr>
              <a:buNone/>
            </a:pPr>
            <a:r>
              <a:rPr sz="1800" b="0" i="0" u="none">
                <a:latin typeface="Consolas"/>
              </a:rPr>
              <a:t>.github/instructions/vertical-slice-planning.instructions.md</a:t>
            </a:r>
            <a:endParaRPr sz="1800" b="0" i="0">
              <a:latin typeface="Consolas"/>
            </a:endParaRPr>
          </a:p>
          <a:p>
            <a:pPr>
              <a:buNone/>
            </a:pPr>
            <a:endParaRPr sz="1800" b="0" i="0">
              <a:latin typeface="Consolas"/>
            </a:endParaRPr>
          </a:p>
          <a:p>
            <a:pPr>
              <a:buNone/>
            </a:pPr>
            <a:r>
              <a:rPr sz="1800" b="0" i="0" u="none"/>
              <a:t>What it provides:</a:t>
            </a:r>
            <a:endParaRPr sz="1800" b="0" i="0">
              <a:latin typeface="Consolas"/>
            </a:endParaRPr>
          </a:p>
          <a:p>
            <a:pPr>
              <a:buNone/>
            </a:pPr>
            <a:endParaRPr sz="1800" b="0" i="0">
              <a:latin typeface="Consolas"/>
            </a:endParaRPr>
          </a:p>
          <a:p>
            <a:r>
              <a:rPr sz="1800" b="0" i="0" u="none"/>
              <a:t>Strategy selection guidance</a:t>
            </a:r>
            <a:endParaRPr sz="1800" b="0" i="0">
              <a:latin typeface="Consolas"/>
            </a:endParaRPr>
          </a:p>
          <a:p>
            <a:r>
              <a:rPr sz="1800" b="0" i="0" u="none"/>
              <a:t>Decomposition rules</a:t>
            </a:r>
            <a:endParaRPr sz="1800" b="0" i="0">
              <a:latin typeface="Consolas"/>
            </a:endParaRPr>
          </a:p>
          <a:p>
            <a:r>
              <a:rPr sz="1800" b="0" i="0" u="none"/>
              <a:t>Dependency analysis prompts</a:t>
            </a:r>
            <a:endParaRPr sz="1800" b="0" i="0">
              <a:latin typeface="Consolas"/>
            </a:endParaRPr>
          </a:p>
          <a:p>
            <a:r>
              <a:rPr sz="1800" b="0" i="0" u="none"/>
              <a:t>Slice definition templates</a:t>
            </a:r>
            <a:endParaRPr sz="1800" b="0" i="0">
              <a:latin typeface="Consola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Slice identification strategies</a:t>
            </a:r>
          </a:p>
        </p:txBody>
      </p:sp>
      <p:graphicFrame>
        <p:nvGraphicFramePr>
          <p:cNvPr id="3" name="Table 2"/>
          <p:cNvGraphicFramePr>
            <a:graphicFrameLocks noGrp="1"/>
          </p:cNvGraphicFramePr>
          <p:nvPr/>
        </p:nvGraphicFramePr>
        <p:xfrm>
          <a:off x="1219200" y="1828800"/>
          <a:ext cx="9753600" cy="2743200"/>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457200">
                <a:tc>
                  <a:txBody>
                    <a:bodyPr/>
                    <a:lstStyle/>
                    <a:p>
                      <a:pPr>
                        <a:buNone/>
                        <a:defRPr sz="1600" b="1">
                          <a:solidFill>
                            <a:schemeClr val="bg1"/>
                          </a:solidFill>
                        </a:defRPr>
                      </a:pPr>
                      <a:r>
                        <a:rPr sz="1600" b="0" i="0" u="none"/>
                        <a:t>Strategy</a:t>
                      </a:r>
                    </a:p>
                  </a:txBody>
                  <a:tcPr>
                    <a:solidFill>
                      <a:schemeClr val="accent4"/>
                    </a:solidFill>
                  </a:tcPr>
                </a:tc>
                <a:tc>
                  <a:txBody>
                    <a:bodyPr/>
                    <a:lstStyle/>
                    <a:p>
                      <a:pPr>
                        <a:buNone/>
                        <a:defRPr sz="1600" b="1">
                          <a:solidFill>
                            <a:schemeClr val="bg1"/>
                          </a:solidFill>
                        </a:defRPr>
                      </a:pPr>
                      <a:r>
                        <a:rPr sz="1600" b="0" i="0" u="none"/>
                        <a:t>Best fit</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User action decomposition</a:t>
                      </a:r>
                    </a:p>
                  </a:txBody>
                  <a:tcPr>
                    <a:solidFill>
                      <a:schemeClr val="accent4">
                        <a:lumMod val="20000"/>
                        <a:lumOff val="80000"/>
                      </a:schemeClr>
                    </a:solidFill>
                  </a:tcPr>
                </a:tc>
                <a:tc>
                  <a:txBody>
                    <a:bodyPr/>
                    <a:lstStyle/>
                    <a:p>
                      <a:pPr>
                        <a:buNone/>
                        <a:defRPr sz="1600" b="0">
                          <a:solidFill>
                            <a:schemeClr val="tx1"/>
                          </a:solidFill>
                        </a:defRPr>
                      </a:pPr>
                      <a:r>
                        <a:rPr sz="1600" b="0" i="0" u="none"/>
                        <a:t>End-to-end user flows</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Entity CRUD operations</a:t>
                      </a:r>
                    </a:p>
                  </a:txBody>
                  <a:tcPr>
                    <a:solidFill>
                      <a:schemeClr val="accent4">
                        <a:lumMod val="8000"/>
                        <a:lumOff val="92000"/>
                      </a:schemeClr>
                    </a:solidFill>
                  </a:tcPr>
                </a:tc>
                <a:tc>
                  <a:txBody>
                    <a:bodyPr/>
                    <a:lstStyle/>
                    <a:p>
                      <a:pPr>
                        <a:buNone/>
                        <a:defRPr sz="1600" b="0">
                          <a:solidFill>
                            <a:schemeClr val="tx1"/>
                          </a:solidFill>
                        </a:defRPr>
                      </a:pPr>
                      <a:r>
                        <a:rPr sz="1600" b="0" i="0" u="none"/>
                        <a:t>Simple data management</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Workflow stage decomposition</a:t>
                      </a:r>
                    </a:p>
                  </a:txBody>
                  <a:tcPr>
                    <a:solidFill>
                      <a:schemeClr val="accent4">
                        <a:lumMod val="20000"/>
                        <a:lumOff val="80000"/>
                      </a:schemeClr>
                    </a:solidFill>
                  </a:tcPr>
                </a:tc>
                <a:tc>
                  <a:txBody>
                    <a:bodyPr/>
                    <a:lstStyle/>
                    <a:p>
                      <a:pPr>
                        <a:buNone/>
                        <a:defRPr sz="1600" b="0">
                          <a:solidFill>
                            <a:schemeClr val="tx1"/>
                          </a:solidFill>
                        </a:defRPr>
                      </a:pPr>
                      <a:r>
                        <a:rPr sz="1600" b="0" i="0" u="none"/>
                        <a:t>Multi-step processes</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0" i="0" u="none"/>
                        <a:t>Business event decomposition</a:t>
                      </a:r>
                    </a:p>
                  </a:txBody>
                  <a:tcPr>
                    <a:solidFill>
                      <a:schemeClr val="accent4">
                        <a:lumMod val="8000"/>
                        <a:lumOff val="92000"/>
                      </a:schemeClr>
                    </a:solidFill>
                  </a:tcPr>
                </a:tc>
                <a:tc>
                  <a:txBody>
                    <a:bodyPr/>
                    <a:lstStyle/>
                    <a:p>
                      <a:pPr>
                        <a:buNone/>
                        <a:defRPr sz="1600" b="0">
                          <a:solidFill>
                            <a:schemeClr val="tx1"/>
                          </a:solidFill>
                        </a:defRPr>
                      </a:pPr>
                      <a:r>
                        <a:rPr sz="1600" b="0" i="0" u="none"/>
                        <a:t>Event-driven behavior</a:t>
                      </a:r>
                    </a:p>
                  </a:txBody>
                  <a:tcPr>
                    <a:solidFill>
                      <a:schemeClr val="accent4">
                        <a:lumMod val="8000"/>
                        <a:lumOff val="92000"/>
                      </a:schemeClr>
                    </a:solidFill>
                  </a:tcPr>
                </a:tc>
                <a:extLst>
                  <a:ext uri="{0D108BD9-81ED-4DB2-BD59-A6C34878D82A}">
                    <a16:rowId xmlns:a16="http://schemas.microsoft.com/office/drawing/2014/main" val="10004"/>
                  </a:ext>
                </a:extLst>
              </a:tr>
              <a:tr h="457200">
                <a:tc>
                  <a:txBody>
                    <a:bodyPr/>
                    <a:lstStyle/>
                    <a:p>
                      <a:pPr>
                        <a:buNone/>
                        <a:defRPr sz="1600" b="0">
                          <a:solidFill>
                            <a:schemeClr val="tx1"/>
                          </a:solidFill>
                        </a:defRPr>
                      </a:pPr>
                      <a:r>
                        <a:rPr sz="1600" b="0" i="0" u="none"/>
                        <a:t>CQRS-optimized slicing</a:t>
                      </a:r>
                    </a:p>
                  </a:txBody>
                  <a:tcPr>
                    <a:solidFill>
                      <a:schemeClr val="accent4">
                        <a:lumMod val="20000"/>
                        <a:lumOff val="80000"/>
                      </a:schemeClr>
                    </a:solidFill>
                  </a:tcPr>
                </a:tc>
                <a:tc>
                  <a:txBody>
                    <a:bodyPr/>
                    <a:lstStyle/>
                    <a:p>
                      <a:pPr>
                        <a:buNone/>
                        <a:defRPr sz="1600" b="0">
                          <a:solidFill>
                            <a:schemeClr val="tx1"/>
                          </a:solidFill>
                        </a:defRPr>
                      </a:pPr>
                      <a:r>
                        <a:rPr sz="1600" b="0" i="0" u="none"/>
                        <a:t>Distinct read/write paths</a:t>
                      </a:r>
                    </a:p>
                  </a:txBody>
                  <a:tcPr>
                    <a:solidFill>
                      <a:schemeClr val="accent4">
                        <a:lumMod val="20000"/>
                        <a:lumOff val="80000"/>
                      </a:schemeClr>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Decomposition principles</a:t>
            </a:r>
          </a:p>
        </p:txBody>
      </p:sp>
      <p:sp>
        <p:nvSpPr>
          <p:cNvPr id="3" name="Content Placeholder 2"/>
          <p:cNvSpPr>
            <a:spLocks noGrp="1"/>
          </p:cNvSpPr>
          <p:nvPr>
            <p:ph idx="1"/>
          </p:nvPr>
        </p:nvSpPr>
        <p:spPr/>
        <p:txBody>
          <a:bodyPr wrap="square">
            <a:noAutofit/>
          </a:bodyPr>
          <a:lstStyle/>
          <a:p>
            <a:r>
              <a:rPr sz="2350" b="1" i="0" u="none"/>
              <a:t>Single responsibility</a:t>
            </a:r>
            <a:r>
              <a:rPr sz="2350" b="0" i="0" u="none"/>
              <a:t> per slice</a:t>
            </a:r>
            <a:endParaRPr sz="2350" b="0" i="0">
              <a:latin typeface="Arial"/>
            </a:endParaRPr>
          </a:p>
          <a:p>
            <a:r>
              <a:rPr sz="2350" b="1" i="0" u="none"/>
              <a:t>Complete vertical stack</a:t>
            </a:r>
            <a:r>
              <a:rPr sz="2350" b="0" i="0" u="none"/>
              <a:t> from UI/API to data</a:t>
            </a:r>
            <a:endParaRPr sz="2350" b="0" i="0">
              <a:latin typeface="Arial"/>
            </a:endParaRPr>
          </a:p>
          <a:p>
            <a:r>
              <a:rPr sz="2350" b="1" i="0" u="none"/>
              <a:t>No horizontal sharing</a:t>
            </a:r>
            <a:r>
              <a:rPr sz="2350" b="0" i="0" u="none"/>
              <a:t> as the unit of delivery</a:t>
            </a:r>
            <a:endParaRPr sz="2350" b="0" i="0">
              <a:latin typeface="Arial"/>
            </a:endParaRPr>
          </a:p>
          <a:p>
            <a:r>
              <a:rPr sz="2350" b="1" i="0" u="none"/>
              <a:t>Minimize external dependencies</a:t>
            </a:r>
            <a:endParaRPr sz="2350" b="0" i="0">
              <a:latin typeface="Arial"/>
            </a:endParaRPr>
          </a:p>
          <a:p>
            <a:r>
              <a:rPr sz="2350" b="0" i="0" u="none"/>
              <a:t>Size slices to be </a:t>
            </a:r>
            <a:r>
              <a:rPr sz="2350" b="1" i="0" u="none"/>
              <a:t>valuable and manageable</a:t>
            </a:r>
            <a:endParaRPr sz="2350" b="0" i="0">
              <a:latin typeface="Arial"/>
            </a:endParaRPr>
          </a:p>
          <a:p>
            <a:pPr>
              <a:buNone/>
            </a:pPr>
            <a:endParaRPr sz="2350" b="0" i="0">
              <a:latin typeface="Arial"/>
            </a:endParaRPr>
          </a:p>
          <a:p>
            <a:pPr>
              <a:buNone/>
            </a:pPr>
            <a:r>
              <a:rPr sz="2350" b="1" i="0" u="none"/>
              <a:t>Rule of thumb</a:t>
            </a:r>
            <a:endParaRPr sz="2350" b="0" i="0">
              <a:latin typeface="Arial"/>
            </a:endParaRPr>
          </a:p>
          <a:p>
            <a:pPr>
              <a:buNone/>
            </a:pPr>
            <a:endParaRPr sz="2350" b="0" i="0">
              <a:latin typeface="Arial"/>
            </a:endParaRPr>
          </a:p>
          <a:p>
            <a:pPr>
              <a:buNone/>
            </a:pPr>
            <a:r>
              <a:rPr sz="2350" b="0" i="0" u="none"/>
              <a:t>Avoid slices that are too big to finish or too small to matter.</a:t>
            </a:r>
            <a:endParaRPr sz="2350" b="0" i="0">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Analyze before you slice</a:t>
            </a:r>
          </a:p>
        </p:txBody>
      </p:sp>
      <p:sp>
        <p:nvSpPr>
          <p:cNvPr id="3" name="Content Placeholder 2"/>
          <p:cNvSpPr>
            <a:spLocks noGrp="1"/>
          </p:cNvSpPr>
          <p:nvPr>
            <p:ph idx="1"/>
          </p:nvPr>
        </p:nvSpPr>
        <p:spPr/>
        <p:txBody>
          <a:bodyPr wrap="square">
            <a:normAutofit/>
          </a:bodyPr>
          <a:lstStyle/>
          <a:p>
            <a:pPr>
              <a:buNone/>
            </a:pPr>
            <a:r>
              <a:rPr sz="1800" b="0" i="0" u="none"/>
              <a:t>Ask these questions first:</a:t>
            </a:r>
            <a:endParaRPr sz="1800" b="0" i="0">
              <a:latin typeface="Consolas"/>
            </a:endParaRPr>
          </a:p>
          <a:p>
            <a:pPr>
              <a:buNone/>
            </a:pPr>
            <a:endParaRPr sz="1800" b="0" i="0">
              <a:latin typeface="Consolas"/>
            </a:endParaRPr>
          </a:p>
          <a:p>
            <a:r>
              <a:rPr sz="1800" b="0" i="0" u="none"/>
              <a:t>What data does this slice read or change?</a:t>
            </a:r>
            <a:endParaRPr sz="1800" b="0" i="0">
              <a:latin typeface="Consolas"/>
            </a:endParaRPr>
          </a:p>
          <a:p>
            <a:r>
              <a:rPr sz="1800" b="0" i="0" u="none"/>
              <a:t>What services or APIs does it depend on?</a:t>
            </a:r>
            <a:endParaRPr sz="1800" b="0" i="0">
              <a:latin typeface="Consolas"/>
            </a:endParaRPr>
          </a:p>
          <a:p>
            <a:r>
              <a:rPr sz="1800" b="0" i="0" u="none"/>
              <a:t>Can it be deployed independently?</a:t>
            </a:r>
            <a:endParaRPr sz="1800" b="0" i="0">
              <a:latin typeface="Consolas"/>
            </a:endParaRPr>
          </a:p>
          <a:p>
            <a:r>
              <a:rPr sz="1800" b="0" i="0" u="none"/>
              <a:t>Does a different strategy fit better?</a:t>
            </a:r>
            <a:endParaRPr sz="1800" b="0" i="0">
              <a:latin typeface="Consolas"/>
            </a:endParaRPr>
          </a:p>
          <a:p>
            <a:pPr>
              <a:buNone/>
            </a:pPr>
            <a:endParaRPr sz="1800" b="0" i="0">
              <a:latin typeface="Consolas"/>
            </a:endParaRPr>
          </a:p>
          <a:p>
            <a:pPr>
              <a:buNone/>
            </a:pPr>
            <a:r>
              <a:rPr sz="1800" b="0" i="0" u="none"/>
              <a:t>Decision aid:</a:t>
            </a:r>
            <a:endParaRPr sz="1800" b="0" i="0">
              <a:latin typeface="Consolas"/>
            </a:endParaRPr>
          </a:p>
          <a:p>
            <a:pPr>
              <a:buNone/>
            </a:pPr>
            <a:endParaRPr sz="1800" b="0" i="0">
              <a:latin typeface="Consolas"/>
            </a:endParaRPr>
          </a:p>
          <a:p>
            <a:pPr>
              <a:buNone/>
            </a:pPr>
            <a:r>
              <a:rPr sz="1800" b="0" i="0" u="none">
                <a:latin typeface="Consolas"/>
              </a:rPr>
              <a:t>flow -&gt; dependencies -&gt; size check -&gt; sequence</a:t>
            </a:r>
            <a:endParaRPr sz="1800" b="0" i="0">
              <a:latin typeface="Consola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7.2 Generate plans with AI</a:t>
            </a:r>
          </a:p>
        </p:txBody>
      </p:sp>
      <p:sp>
        <p:nvSpPr>
          <p:cNvPr id="3" name="Content Placeholder 2"/>
          <p:cNvSpPr>
            <a:spLocks noGrp="1"/>
          </p:cNvSpPr>
          <p:nvPr>
            <p:ph idx="1"/>
          </p:nvPr>
        </p:nvSpPr>
        <p:spPr/>
        <p:txBody>
          <a:bodyPr wrap="square">
            <a:noAutofit/>
          </a:bodyPr>
          <a:lstStyle/>
          <a:p>
            <a:pPr>
              <a:buNone/>
            </a:pPr>
            <a:r>
              <a:rPr sz="1600" b="0" i="0" u="none"/>
              <a:t>Example prompt:</a:t>
            </a:r>
            <a:endParaRPr sz="1600" b="0" i="0">
              <a:latin typeface="Arial"/>
            </a:endParaRPr>
          </a:p>
          <a:p>
            <a:pPr>
              <a:buNone/>
            </a:pPr>
            <a:endParaRPr sz="1600" b="0" i="0">
              <a:latin typeface="Arial"/>
            </a:endParaRPr>
          </a:p>
          <a:p>
            <a:pPr>
              <a:buNone/>
            </a:pPr>
            <a:r>
              <a:rPr sz="1600" b="0" i="1" u="none"/>
              <a:t>Using vertical slice planning instructions and web calculator requirements, create implementation plan using vertical slices.</a:t>
            </a:r>
            <a:endParaRPr sz="1600" b="0" i="0">
              <a:latin typeface="Arial"/>
            </a:endParaRPr>
          </a:p>
          <a:p>
            <a:pPr>
              <a:buNone/>
            </a:pPr>
            <a:endParaRPr sz="1600" b="0" i="0">
              <a:latin typeface="Arial"/>
            </a:endParaRPr>
          </a:p>
          <a:p>
            <a:pPr>
              <a:buNone/>
            </a:pPr>
            <a:r>
              <a:rPr sz="1600" b="0" i="0" u="none"/>
              <a:t>AI can generate:</a:t>
            </a:r>
            <a:endParaRPr sz="1600" b="0" i="0">
              <a:latin typeface="Arial"/>
            </a:endParaRPr>
          </a:p>
          <a:p>
            <a:pPr>
              <a:buNone/>
            </a:pPr>
            <a:endParaRPr sz="1600" b="0" i="0">
              <a:latin typeface="Arial"/>
            </a:endParaRPr>
          </a:p>
          <a:p>
            <a:r>
              <a:rPr sz="1600" b="0" i="0" u="none"/>
              <a:t>Requirements summary</a:t>
            </a:r>
            <a:endParaRPr sz="1600" b="0" i="0">
              <a:latin typeface="Arial"/>
            </a:endParaRPr>
          </a:p>
          <a:p>
            <a:r>
              <a:rPr sz="1600" b="0" i="0" u="none"/>
              <a:t>Slice decomposition</a:t>
            </a:r>
            <a:endParaRPr sz="1600" b="0" i="0">
              <a:latin typeface="Arial"/>
            </a:endParaRPr>
          </a:p>
          <a:p>
            <a:r>
              <a:rPr sz="1600" b="0" i="0" u="none"/>
              <a:t>Dependency diagram</a:t>
            </a:r>
            <a:endParaRPr sz="1600" b="0" i="0">
              <a:latin typeface="Arial"/>
            </a:endParaRPr>
          </a:p>
          <a:p>
            <a:r>
              <a:rPr sz="1600" b="0" i="0" u="none"/>
              <a:t>Implementation order</a:t>
            </a:r>
            <a:endParaRPr sz="1600" b="0" i="0">
              <a:latin typeface="Arial"/>
            </a:endParaRPr>
          </a:p>
          <a:p>
            <a:r>
              <a:rPr sz="1600" b="0" i="0" u="none"/>
              <a:t>Sprint organization</a:t>
            </a:r>
            <a:endParaRPr sz="1600" b="0" i="0">
              <a:latin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4100" b="0" i="0" u="none"/>
              <a:t>What a good AI plan should include</a:t>
            </a:r>
          </a:p>
        </p:txBody>
      </p:sp>
      <p:sp>
        <p:nvSpPr>
          <p:cNvPr id="3" name="Content Placeholder 2"/>
          <p:cNvSpPr>
            <a:spLocks noGrp="1"/>
          </p:cNvSpPr>
          <p:nvPr>
            <p:ph idx="1"/>
          </p:nvPr>
        </p:nvSpPr>
        <p:spPr/>
        <p:txBody>
          <a:bodyPr wrap="square">
            <a:noAutofit/>
          </a:bodyPr>
          <a:lstStyle/>
          <a:p>
            <a:pPr>
              <a:buNone/>
            </a:pPr>
            <a:r>
              <a:rPr sz="1750" b="0" i="0" u="none"/>
              <a:t>1. Clear summary of requirements</a:t>
            </a:r>
            <a:endParaRPr sz="1750" b="0" i="0">
              <a:latin typeface="Arial"/>
            </a:endParaRPr>
          </a:p>
          <a:p>
            <a:pPr>
              <a:buNone/>
            </a:pPr>
            <a:r>
              <a:rPr sz="1750" b="0" i="0" u="none"/>
              <a:t>2. Identified slices with rationale</a:t>
            </a:r>
            <a:endParaRPr sz="1750" b="0" i="0">
              <a:latin typeface="Arial"/>
            </a:endParaRPr>
          </a:p>
          <a:p>
            <a:pPr>
              <a:buNone/>
            </a:pPr>
            <a:r>
              <a:rPr sz="1750" b="0" i="0" u="none"/>
              <a:t>3. Dependency relationships</a:t>
            </a:r>
            <a:endParaRPr sz="1750" b="0" i="0">
              <a:latin typeface="Arial"/>
            </a:endParaRPr>
          </a:p>
          <a:p>
            <a:pPr>
              <a:buNone/>
            </a:pPr>
            <a:r>
              <a:rPr sz="1750" b="0" i="0" u="none"/>
              <a:t>4. Proposed implementation sequence</a:t>
            </a:r>
            <a:endParaRPr sz="1750" b="0" i="0">
              <a:latin typeface="Arial"/>
            </a:endParaRPr>
          </a:p>
          <a:p>
            <a:pPr>
              <a:buNone/>
            </a:pPr>
            <a:r>
              <a:rPr sz="1750" b="0" i="0" u="none"/>
              <a:t>5. Sprint or milestone grouping</a:t>
            </a:r>
            <a:endParaRPr sz="1750" b="0" i="0">
              <a:latin typeface="Arial"/>
            </a:endParaRPr>
          </a:p>
          <a:p>
            <a:pPr>
              <a:buNone/>
            </a:pPr>
            <a:endParaRPr sz="1750" b="0" i="0">
              <a:latin typeface="Arial"/>
            </a:endParaRPr>
          </a:p>
          <a:p>
            <a:pPr>
              <a:buNone/>
            </a:pPr>
            <a:r>
              <a:rPr sz="1750" b="1" i="0" u="none"/>
              <a:t>Watch for model differences</a:t>
            </a:r>
            <a:endParaRPr sz="1750" b="0" i="0">
              <a:latin typeface="Arial"/>
            </a:endParaRPr>
          </a:p>
          <a:p>
            <a:pPr>
              <a:buNone/>
            </a:pPr>
            <a:endParaRPr sz="1750" b="0" i="0">
              <a:latin typeface="Arial"/>
            </a:endParaRPr>
          </a:p>
          <a:p>
            <a:r>
              <a:rPr sz="1750" b="0" i="0" u="none"/>
              <a:t>More detail vs. more concise output</a:t>
            </a:r>
            <a:endParaRPr sz="1750" b="0" i="0">
              <a:latin typeface="Arial"/>
            </a:endParaRPr>
          </a:p>
          <a:p>
            <a:r>
              <a:rPr sz="1750" b="0" i="0" u="none"/>
              <a:t>Different naming and grouping choices</a:t>
            </a:r>
            <a:endParaRPr sz="1750" b="0" i="0">
              <a:latin typeface="Arial"/>
            </a:endParaRPr>
          </a:p>
          <a:p>
            <a:r>
              <a:rPr sz="1750" b="0" i="0" u="none"/>
              <a:t>Different sequencing assumptions</a:t>
            </a:r>
            <a:endParaRPr sz="1750" b="0" i="0">
              <a:latin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Example planning flow</a:t>
            </a:r>
          </a:p>
        </p:txBody>
      </p:sp>
      <p:sp>
        <p:nvSpPr>
          <p:cNvPr id="3" name="Content Placeholder 2"/>
          <p:cNvSpPr>
            <a:spLocks noGrp="1"/>
          </p:cNvSpPr>
          <p:nvPr>
            <p:ph idx="1"/>
          </p:nvPr>
        </p:nvSpPr>
        <p:spPr/>
        <p:txBody>
          <a:bodyPr wrap="square">
            <a:normAutofit/>
          </a:bodyPr>
          <a:lstStyle/>
          <a:p>
            <a:pPr>
              <a:buNone/>
            </a:pPr>
            <a:r>
              <a:rPr sz="2800" b="1" i="0" u="none"/>
              <a:t>Web calculator example</a:t>
            </a:r>
            <a:endParaRPr sz="2800" b="0" i="0">
              <a:latin typeface="Arial"/>
            </a:endParaRPr>
          </a:p>
          <a:p>
            <a:pPr>
              <a:buNone/>
            </a:pPr>
            <a:endParaRPr sz="2800" b="0" i="0">
              <a:latin typeface="Arial"/>
            </a:endParaRPr>
          </a:p>
          <a:p>
            <a:pPr>
              <a:buNone/>
            </a:pPr>
            <a:r>
              <a:rPr sz="2800" b="0" i="0" u="none"/>
              <a:t>1. Summarize calculator requirements</a:t>
            </a:r>
            <a:endParaRPr sz="2800" b="0" i="0">
              <a:latin typeface="Arial"/>
            </a:endParaRPr>
          </a:p>
          <a:p>
            <a:pPr>
              <a:buNone/>
            </a:pPr>
            <a:r>
              <a:rPr sz="2800" b="0" i="0" u="none"/>
              <a:t>2. Identify slices such as input, operations, history, validation</a:t>
            </a:r>
            <a:endParaRPr sz="2800" b="0" i="0">
              <a:latin typeface="Arial"/>
            </a:endParaRPr>
          </a:p>
          <a:p>
            <a:pPr>
              <a:buNone/>
            </a:pPr>
            <a:r>
              <a:rPr sz="2800" b="0" i="0" u="none"/>
              <a:t>3. Map data and service dependencies</a:t>
            </a:r>
            <a:endParaRPr sz="2800" b="0" i="0">
              <a:latin typeface="Arial"/>
            </a:endParaRPr>
          </a:p>
          <a:p>
            <a:pPr>
              <a:buNone/>
            </a:pPr>
            <a:r>
              <a:rPr sz="2800" b="0" i="0" u="none"/>
              <a:t>4. Sequence foundational slices before enhancements</a:t>
            </a:r>
            <a:endParaRPr sz="2800" b="0" i="0">
              <a:latin typeface="Arial"/>
            </a:endParaRPr>
          </a:p>
          <a:p>
            <a:pPr>
              <a:buNone/>
            </a:pPr>
            <a:r>
              <a:rPr sz="2800" b="0" i="0" u="none"/>
              <a:t>5. Group slices into sprints</a:t>
            </a:r>
            <a:endParaRPr sz="2800" b="0" i="0">
              <a:latin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7.3 Multi-model evaluation</a:t>
            </a:r>
          </a:p>
        </p:txBody>
      </p:sp>
      <p:sp>
        <p:nvSpPr>
          <p:cNvPr id="3" name="Content Placeholder 2"/>
          <p:cNvSpPr>
            <a:spLocks noGrp="1"/>
          </p:cNvSpPr>
          <p:nvPr>
            <p:ph idx="1"/>
          </p:nvPr>
        </p:nvSpPr>
        <p:spPr/>
        <p:txBody>
          <a:bodyPr wrap="square">
            <a:noAutofit/>
          </a:bodyPr>
          <a:lstStyle/>
          <a:p>
            <a:pPr>
              <a:buNone/>
            </a:pPr>
            <a:r>
              <a:rPr sz="2450" b="0" i="0" u="none"/>
              <a:t>Gemini 2.5 Pro reviewed Claude Sonnet's planning file and found six gaps:</a:t>
            </a:r>
            <a:endParaRPr sz="2450" b="0" i="0">
              <a:latin typeface="Arial"/>
            </a:endParaRPr>
          </a:p>
          <a:p>
            <a:pPr>
              <a:buNone/>
            </a:pPr>
            <a:endParaRPr sz="2450" b="0" i="0">
              <a:latin typeface="Arial"/>
            </a:endParaRPr>
          </a:p>
          <a:p>
            <a:pPr>
              <a:buNone/>
            </a:pPr>
            <a:r>
              <a:rPr sz="2450" b="0" i="0" u="none"/>
              <a:t>1. Missing task duration metadata</a:t>
            </a:r>
            <a:endParaRPr sz="2450" b="0" i="0">
              <a:latin typeface="Arial"/>
            </a:endParaRPr>
          </a:p>
          <a:p>
            <a:pPr>
              <a:buNone/>
            </a:pPr>
            <a:r>
              <a:rPr sz="2450" b="0" i="0" u="none"/>
              <a:t>2. Incomplete decomposition examples</a:t>
            </a:r>
            <a:endParaRPr sz="2450" b="0" i="0">
              <a:latin typeface="Arial"/>
            </a:endParaRPr>
          </a:p>
          <a:p>
            <a:pPr>
              <a:buNone/>
            </a:pPr>
            <a:r>
              <a:rPr sz="2450" b="0" i="0" u="none"/>
              <a:t>3. Incomplete dependency strategy examples</a:t>
            </a:r>
            <a:endParaRPr sz="2450" b="0" i="0">
              <a:latin typeface="Arial"/>
            </a:endParaRPr>
          </a:p>
          <a:p>
            <a:pPr>
              <a:buNone/>
            </a:pPr>
            <a:r>
              <a:rPr sz="2450" b="0" i="0" u="none"/>
              <a:t>4. Unfinished implementation sequencing examples</a:t>
            </a:r>
            <a:endParaRPr sz="2450" b="0" i="0">
              <a:latin typeface="Arial"/>
            </a:endParaRPr>
          </a:p>
          <a:p>
            <a:pPr>
              <a:buNone/>
            </a:pPr>
            <a:r>
              <a:rPr sz="2450" b="0" i="0" u="none"/>
              <a:t>5. Incomplete roadmap template</a:t>
            </a:r>
            <a:endParaRPr sz="2450" b="0" i="0">
              <a:latin typeface="Arial"/>
            </a:endParaRPr>
          </a:p>
          <a:p>
            <a:pPr>
              <a:buNone/>
            </a:pPr>
            <a:r>
              <a:rPr sz="2450" b="0" i="0" u="none"/>
              <a:t>6. Incomplete slice specification template</a:t>
            </a:r>
            <a:endParaRPr sz="2450" b="0" i="0">
              <a:latin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Key takeaway</a:t>
            </a:r>
          </a:p>
        </p:txBody>
      </p:sp>
      <p:sp>
        <p:nvSpPr>
          <p:cNvPr id="3" name="Content Placeholder 2"/>
          <p:cNvSpPr>
            <a:spLocks noGrp="1"/>
          </p:cNvSpPr>
          <p:nvPr>
            <p:ph idx="1"/>
          </p:nvPr>
        </p:nvSpPr>
        <p:spPr/>
        <p:txBody>
          <a:bodyPr wrap="square">
            <a:normAutofit/>
          </a:bodyPr>
          <a:lstStyle/>
          <a:p>
            <a:pPr>
              <a:buNone/>
            </a:pPr>
            <a:r>
              <a:rPr sz="1800" b="1" i="0" u="none"/>
              <a:t>Recommended workflow</a:t>
            </a:r>
            <a:endParaRPr sz="1800" b="0" i="0">
              <a:latin typeface="Consolas"/>
            </a:endParaRPr>
          </a:p>
          <a:p>
            <a:pPr>
              <a:buNone/>
            </a:pPr>
            <a:endParaRPr sz="1800" b="0" i="0">
              <a:latin typeface="Consolas"/>
            </a:endParaRPr>
          </a:p>
          <a:p>
            <a:pPr>
              <a:buNone/>
            </a:pPr>
            <a:r>
              <a:rPr sz="1800" b="0" i="0" u="none">
                <a:latin typeface="Consolas"/>
              </a:rPr>
              <a:t>instructions -&gt; AI draft -&gt; review -&gt; refine -&gt; implement</a:t>
            </a:r>
            <a:endParaRPr sz="1800" b="0" i="0">
              <a:latin typeface="Consolas"/>
            </a:endParaRPr>
          </a:p>
          <a:p>
            <a:pPr>
              <a:buNone/>
            </a:pPr>
            <a:endParaRPr sz="1800" b="0" i="0">
              <a:latin typeface="Consolas"/>
            </a:endParaRPr>
          </a:p>
          <a:p>
            <a:r>
              <a:rPr sz="1800" b="0" i="0" u="none"/>
              <a:t>Start with a strong planning instruction file</a:t>
            </a:r>
            <a:endParaRPr sz="1800" b="0" i="0">
              <a:latin typeface="Consolas"/>
            </a:endParaRPr>
          </a:p>
          <a:p>
            <a:r>
              <a:rPr sz="1800" b="0" i="0" u="none"/>
              <a:t>Generate an initial vertical slice plan</a:t>
            </a:r>
            <a:endParaRPr sz="1800" b="0" i="0">
              <a:latin typeface="Consolas"/>
            </a:endParaRPr>
          </a:p>
          <a:p>
            <a:r>
              <a:rPr sz="1800" b="0" i="0" u="none"/>
              <a:t>Compare outputs across models when useful</a:t>
            </a:r>
            <a:endParaRPr sz="1800" b="0" i="0">
              <a:latin typeface="Consolas"/>
            </a:endParaRPr>
          </a:p>
          <a:p>
            <a:r>
              <a:rPr sz="1800" b="0" i="0" u="none"/>
              <a:t>Improve templates and examples over time</a:t>
            </a:r>
            <a:endParaRPr sz="1800" b="0" i="0">
              <a:latin typeface="Consola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350" b="0" i="0" u="none"/>
              <a:t>Everything Depends on This Slide (Literally)</a:t>
            </a:r>
          </a:p>
        </p:txBody>
      </p:sp>
      <p:sp>
        <p:nvSpPr>
          <p:cNvPr id="3" name="Content Placeholder 2"/>
          <p:cNvSpPr>
            <a:spLocks noGrp="1"/>
          </p:cNvSpPr>
          <p:nvPr>
            <p:ph idx="1"/>
          </p:nvPr>
        </p:nvSpPr>
        <p:spPr/>
        <p:txBody>
          <a:bodyPr wrap="square">
            <a:normAutofit/>
          </a:bodyPr>
          <a:lstStyle/>
          <a:p>
            <a:r>
              <a:rPr sz="2800" b="0" i="0" u="none"/>
              <a:t>Section focus: using dependency graphs to sequence vertical slice implementation</a:t>
            </a:r>
            <a:endParaRPr sz="2800" b="0" i="0">
              <a:latin typeface="Arial"/>
            </a:endParaRPr>
          </a:p>
          <a:p>
            <a:r>
              <a:rPr sz="2800" b="0" i="0" u="none"/>
              <a:t>Outcome: show how teams identify prerequisites, parallel work, and the critical path</a:t>
            </a:r>
            <a:endParaRPr sz="2800" b="0" i="0">
              <a:latin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Read the Dependency Diagram</a:t>
            </a:r>
          </a:p>
        </p:txBody>
      </p:sp>
      <p:sp>
        <p:nvSpPr>
          <p:cNvPr id="3" name="Content Placeholder 2"/>
          <p:cNvSpPr>
            <a:spLocks noGrp="1"/>
          </p:cNvSpPr>
          <p:nvPr>
            <p:ph idx="1"/>
          </p:nvPr>
        </p:nvSpPr>
        <p:spPr/>
        <p:txBody>
          <a:bodyPr wrap="square">
            <a:normAutofit/>
          </a:bodyPr>
          <a:lstStyle/>
          <a:p>
            <a:r>
              <a:rPr sz="2800" b="0" i="0" u="none"/>
              <a:t>Nodes represent slices, features, or enabling work</a:t>
            </a:r>
            <a:endParaRPr sz="2800" b="0" i="0">
              <a:latin typeface="Arial"/>
            </a:endParaRPr>
          </a:p>
          <a:p>
            <a:r>
              <a:rPr sz="2800" b="0" i="0" u="none"/>
              <a:t>Arrows show that one item depends on another being complete first</a:t>
            </a:r>
            <a:endParaRPr sz="2800" b="0" i="0">
              <a:latin typeface="Arial"/>
            </a:endParaRPr>
          </a:p>
          <a:p>
            <a:r>
              <a:rPr sz="2800" b="0" i="0" u="none"/>
              <a:t>Read from left to right or top to bottom to understand sequencing</a:t>
            </a:r>
            <a:endParaRPr sz="2800" b="0" i="0">
              <a:latin typeface="Arial"/>
            </a:endParaRPr>
          </a:p>
          <a:p>
            <a:r>
              <a:rPr sz="2800" b="0" i="0" u="none"/>
              <a:t>Look for root nodes with no prerequisites</a:t>
            </a:r>
            <a:endParaRPr sz="2800" b="0" i="0">
              <a:latin typeface="Arial"/>
            </a:endParaRPr>
          </a:p>
        </p:txBody>
      </p:sp>
      <p:pic>
        <p:nvPicPr>
          <p:cNvPr id="4" name="Picture 3" descr="82b42cedbe4bd99a7a25d777407a664361b67127.png"/>
          <p:cNvPicPr>
            <a:picLocks noChangeAspect="1"/>
          </p:cNvPicPr>
          <p:nvPr/>
        </p:nvPicPr>
        <p:blipFill>
          <a:blip r:embed="rId3"/>
          <a:stretch>
            <a:fillRect/>
          </a:stretch>
        </p:blipFill>
        <p:spPr>
          <a:xfrm>
            <a:off x="5852160" y="3291840"/>
            <a:ext cx="2926080" cy="694595"/>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Find the Critical Path</a:t>
            </a:r>
          </a:p>
        </p:txBody>
      </p:sp>
      <p:sp>
        <p:nvSpPr>
          <p:cNvPr id="3" name="Content Placeholder 2"/>
          <p:cNvSpPr>
            <a:spLocks noGrp="1"/>
          </p:cNvSpPr>
          <p:nvPr>
            <p:ph idx="1"/>
          </p:nvPr>
        </p:nvSpPr>
        <p:spPr/>
        <p:txBody>
          <a:bodyPr wrap="square">
            <a:normAutofit/>
          </a:bodyPr>
          <a:lstStyle/>
          <a:p>
            <a:r>
              <a:rPr sz="2800" b="0" i="0" u="none"/>
              <a:t>The </a:t>
            </a:r>
            <a:r>
              <a:rPr sz="2800" b="1" i="0" u="none"/>
              <a:t>critical path</a:t>
            </a:r>
            <a:r>
              <a:rPr sz="2800" b="0" i="0" u="none"/>
              <a:t> is the longest chain of dependent work</a:t>
            </a:r>
            <a:endParaRPr sz="2800" b="0" i="0">
              <a:latin typeface="Arial"/>
            </a:endParaRPr>
          </a:p>
          <a:p>
            <a:r>
              <a:rPr sz="2800" b="0" i="0" u="none"/>
              <a:t>Delays on that path delay the overall implementation plan</a:t>
            </a:r>
            <a:endParaRPr sz="2800" b="0" i="0">
              <a:latin typeface="Arial"/>
            </a:endParaRPr>
          </a:p>
          <a:p>
            <a:r>
              <a:rPr sz="2800" b="0" i="0" u="none"/>
              <a:t>Independent branches matter, but they do not all block delivery equally</a:t>
            </a:r>
            <a:endParaRPr sz="2800" b="0" i="0">
              <a:latin typeface="Arial"/>
            </a:endParaRPr>
          </a:p>
          <a:p>
            <a:r>
              <a:rPr sz="2800" b="0" i="0" u="none"/>
              <a:t>Focus coordination and risk management on the path that controls completion</a:t>
            </a:r>
            <a:endParaRPr sz="2800" b="0" i="0">
              <a:latin typeface="Arial"/>
            </a:endParaRPr>
          </a:p>
        </p:txBody>
      </p:sp>
      <p:pic>
        <p:nvPicPr>
          <p:cNvPr id="4" name="Picture 3" descr="c654404491e7d18214290def7b4b64c44bdcec91.png"/>
          <p:cNvPicPr>
            <a:picLocks noChangeAspect="1"/>
          </p:cNvPicPr>
          <p:nvPr/>
        </p:nvPicPr>
        <p:blipFill>
          <a:blip r:embed="rId3"/>
          <a:stretch>
            <a:fillRect/>
          </a:stretch>
        </p:blipFill>
        <p:spPr>
          <a:xfrm>
            <a:off x="5852160" y="3291840"/>
            <a:ext cx="2926080" cy="240379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4300" b="0" i="0" u="none"/>
              <a:t>Sequence First, Parallelize Second</a:t>
            </a:r>
          </a:p>
        </p:txBody>
      </p:sp>
      <p:sp>
        <p:nvSpPr>
          <p:cNvPr id="3" name="Content Placeholder 2"/>
          <p:cNvSpPr>
            <a:spLocks noGrp="1"/>
          </p:cNvSpPr>
          <p:nvPr>
            <p:ph idx="1"/>
          </p:nvPr>
        </p:nvSpPr>
        <p:spPr/>
        <p:txBody>
          <a:bodyPr wrap="square">
            <a:normAutofit/>
          </a:bodyPr>
          <a:lstStyle/>
          <a:p>
            <a:r>
              <a:rPr sz="2800" b="0" i="0" u="none"/>
              <a:t>Some slices are strictly sequential because they share prerequisites</a:t>
            </a:r>
            <a:endParaRPr sz="2800" b="0" i="0">
              <a:latin typeface="Arial"/>
            </a:endParaRPr>
          </a:p>
          <a:p>
            <a:r>
              <a:rPr sz="2800" b="0" i="0" u="none"/>
              <a:t>Other slices can run in parallel after the same foundation is done</a:t>
            </a:r>
            <a:endParaRPr sz="2800" b="0" i="0">
              <a:latin typeface="Arial"/>
            </a:endParaRPr>
          </a:p>
          <a:p>
            <a:r>
              <a:rPr sz="2800" b="0" i="0" u="none"/>
              <a:t>Parallel work increases speed only when dependencies are already satisfied</a:t>
            </a:r>
            <a:endParaRPr sz="2800" b="0" i="0">
              <a:latin typeface="Arial"/>
            </a:endParaRPr>
          </a:p>
          <a:p>
            <a:r>
              <a:rPr sz="2800" b="0" i="0" u="none"/>
              <a:t>Planning should prevent teams from starting blocked work too early</a:t>
            </a:r>
            <a:endParaRPr sz="2800" b="0" i="0">
              <a:latin typeface="Arial"/>
            </a:endParaRPr>
          </a:p>
        </p:txBody>
      </p:sp>
      <p:pic>
        <p:nvPicPr>
          <p:cNvPr id="4" name="Picture 3" descr="74ffa58220e5299f380d734a2ce9956b00d60ed6.png"/>
          <p:cNvPicPr>
            <a:picLocks noChangeAspect="1"/>
          </p:cNvPicPr>
          <p:nvPr/>
        </p:nvPicPr>
        <p:blipFill>
          <a:blip r:embed="rId3"/>
          <a:stretch>
            <a:fillRect/>
          </a:stretch>
        </p:blipFill>
        <p:spPr>
          <a:xfrm>
            <a:off x="5852160" y="3291840"/>
            <a:ext cx="2926080" cy="3155986"/>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2900" b="0" i="0" u="none"/>
              <a:t>Distinguish Foundational and Dependent Features</a:t>
            </a:r>
          </a:p>
        </p:txBody>
      </p:sp>
      <p:sp>
        <p:nvSpPr>
          <p:cNvPr id="3" name="Content Placeholder 2"/>
          <p:cNvSpPr>
            <a:spLocks noGrp="1"/>
          </p:cNvSpPr>
          <p:nvPr>
            <p:ph idx="1"/>
          </p:nvPr>
        </p:nvSpPr>
        <p:spPr/>
        <p:txBody>
          <a:bodyPr wrap="square">
            <a:noAutofit/>
          </a:bodyPr>
          <a:lstStyle/>
          <a:p>
            <a:pPr>
              <a:buNone/>
            </a:pPr>
            <a:r>
              <a:rPr sz="1750" b="1" i="0" u="none"/>
              <a:t>Foundational work</a:t>
            </a:r>
            <a:endParaRPr sz="1750" b="0" i="0">
              <a:latin typeface="Arial"/>
            </a:endParaRPr>
          </a:p>
          <a:p>
            <a:pPr>
              <a:buNone/>
            </a:pPr>
            <a:endParaRPr sz="1750" b="0" i="0">
              <a:latin typeface="Arial"/>
            </a:endParaRPr>
          </a:p>
          <a:p>
            <a:r>
              <a:rPr sz="1750" b="0" i="0" u="none"/>
              <a:t>environments, shared components, core models, base services</a:t>
            </a:r>
            <a:endParaRPr sz="1750" b="0" i="0">
              <a:latin typeface="Arial"/>
            </a:endParaRPr>
          </a:p>
          <a:p>
            <a:pPr>
              <a:buNone/>
            </a:pPr>
            <a:endParaRPr sz="1750" b="0" i="0">
              <a:latin typeface="Arial"/>
            </a:endParaRPr>
          </a:p>
          <a:p>
            <a:pPr>
              <a:buNone/>
            </a:pPr>
            <a:r>
              <a:rPr sz="1750" b="1" i="0" u="none"/>
              <a:t>Dependent features</a:t>
            </a:r>
            <a:endParaRPr sz="1750" b="0" i="0">
              <a:latin typeface="Arial"/>
            </a:endParaRPr>
          </a:p>
          <a:p>
            <a:pPr>
              <a:buNone/>
            </a:pPr>
            <a:endParaRPr sz="1750" b="0" i="0">
              <a:latin typeface="Arial"/>
            </a:endParaRPr>
          </a:p>
          <a:p>
            <a:r>
              <a:rPr sz="1750" b="0" i="0" u="none"/>
              <a:t>user-facing slices that rely on those shared capabilities</a:t>
            </a:r>
            <a:endParaRPr sz="1750" b="0" i="0">
              <a:latin typeface="Arial"/>
            </a:endParaRPr>
          </a:p>
          <a:p>
            <a:pPr>
              <a:buNone/>
            </a:pPr>
            <a:endParaRPr sz="1750" b="0" i="0">
              <a:latin typeface="Arial"/>
            </a:endParaRPr>
          </a:p>
          <a:p>
            <a:pPr>
              <a:buNone/>
            </a:pPr>
            <a:r>
              <a:rPr sz="1750" b="1" i="0" u="none"/>
              <a:t>Planning rule</a:t>
            </a:r>
            <a:endParaRPr sz="1750" b="0" i="0">
              <a:latin typeface="Arial"/>
            </a:endParaRPr>
          </a:p>
          <a:p>
            <a:pPr>
              <a:buNone/>
            </a:pPr>
            <a:endParaRPr sz="1750" b="0" i="0">
              <a:latin typeface="Arial"/>
            </a:endParaRPr>
          </a:p>
          <a:p>
            <a:r>
              <a:rPr sz="1750" b="0" i="0" u="none"/>
              <a:t>finish enabling work first when many later slices depend on it</a:t>
            </a:r>
            <a:endParaRPr sz="1750" b="0" i="0">
              <a:latin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100" b="0" i="0" u="none"/>
              <a:t>Use Dependency Analysis to Plan the Roadmap</a:t>
            </a:r>
          </a:p>
        </p:txBody>
      </p:sp>
      <p:sp>
        <p:nvSpPr>
          <p:cNvPr id="3" name="Content Placeholder 2"/>
          <p:cNvSpPr>
            <a:spLocks noGrp="1"/>
          </p:cNvSpPr>
          <p:nvPr>
            <p:ph idx="1"/>
          </p:nvPr>
        </p:nvSpPr>
        <p:spPr/>
        <p:txBody>
          <a:bodyPr wrap="square">
            <a:normAutofit/>
          </a:bodyPr>
          <a:lstStyle/>
          <a:p>
            <a:pPr>
              <a:buNone/>
            </a:pPr>
            <a:r>
              <a:rPr sz="2800" b="0" i="0" u="none"/>
              <a:t>1. List slices and enabling work</a:t>
            </a:r>
            <a:endParaRPr sz="2800" b="0" i="0">
              <a:latin typeface="Arial"/>
            </a:endParaRPr>
          </a:p>
          <a:p>
            <a:pPr>
              <a:buNone/>
            </a:pPr>
            <a:r>
              <a:rPr sz="2800" b="0" i="0" u="none"/>
              <a:t>2. Draw the dependency relationships</a:t>
            </a:r>
            <a:endParaRPr sz="2800" b="0" i="0">
              <a:latin typeface="Arial"/>
            </a:endParaRPr>
          </a:p>
          <a:p>
            <a:pPr>
              <a:buNone/>
            </a:pPr>
            <a:r>
              <a:rPr sz="2800" b="0" i="0" u="none"/>
              <a:t>3. Identify the critical path</a:t>
            </a:r>
            <a:endParaRPr sz="2800" b="0" i="0">
              <a:latin typeface="Arial"/>
            </a:endParaRPr>
          </a:p>
          <a:p>
            <a:pPr>
              <a:buNone/>
            </a:pPr>
            <a:r>
              <a:rPr sz="2800" b="0" i="0" u="none"/>
              <a:t>4. Mark which branches can run in parallel</a:t>
            </a:r>
            <a:endParaRPr sz="2800" b="0" i="0">
              <a:latin typeface="Arial"/>
            </a:endParaRPr>
          </a:p>
          <a:p>
            <a:pPr>
              <a:buNone/>
            </a:pPr>
            <a:r>
              <a:rPr sz="2800" b="0" i="0" u="none"/>
              <a:t>5. Schedule foundational work before dependent features</a:t>
            </a:r>
            <a:endParaRPr sz="2800" b="0" i="0">
              <a:latin typeface="Arial"/>
            </a:endParaRPr>
          </a:p>
          <a:p>
            <a:pPr>
              <a:buNone/>
            </a:pPr>
            <a:endParaRPr sz="2800" b="0" i="0">
              <a:latin typeface="Arial"/>
            </a:endParaRPr>
          </a:p>
          <a:p>
            <a:pPr>
              <a:buNone/>
            </a:pPr>
            <a:r>
              <a:rPr sz="2800" b="1" i="0" u="none"/>
              <a:t>Bottom line</a:t>
            </a:r>
            <a:r>
              <a:rPr sz="2800" b="0" i="0" u="none"/>
              <a:t>: dependency graphs turn a feature list into a realistic implementation sequence.</a:t>
            </a:r>
            <a:endParaRPr sz="2800" b="0" i="0">
              <a:latin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Autofit/>
          </a:bodyPr>
          <a:lstStyle/>
          <a:p>
            <a:r>
              <a:rPr sz="2350" b="0" i="0" u="none"/>
              <a:t>Intro</a:t>
            </a:r>
          </a:p>
          <a:p>
            <a:r>
              <a:rPr sz="2350" b="0" i="0" u="none"/>
              <a:t>Specification Driven Software Development</a:t>
            </a:r>
          </a:p>
          <a:p>
            <a:r>
              <a:rPr sz="2350" b="0" i="0" u="none"/>
              <a:t>Architecture Specification</a:t>
            </a:r>
          </a:p>
          <a:p>
            <a:r>
              <a:rPr sz="2350" b="0" i="0" u="none"/>
              <a:t>Technology Specification</a:t>
            </a:r>
          </a:p>
          <a:p>
            <a:r>
              <a:rPr sz="2350" b="0" i="0" u="none"/>
              <a:t>Implementation Specification</a:t>
            </a:r>
          </a:p>
          <a:p>
            <a:r>
              <a:rPr sz="2350" b="0" i="0" u="none"/>
              <a:t>Implementation Planning</a:t>
            </a:r>
          </a:p>
          <a:p>
            <a:r>
              <a:rPr sz="2350" b="1" i="0" u="none"/>
              <a:t>▶ Implementation Prompts</a:t>
            </a:r>
          </a:p>
          <a:p>
            <a:r>
              <a:rPr sz="2350" b="0" i="0" u="none"/>
              <a:t>Vertical Slice Implementation</a:t>
            </a:r>
          </a:p>
          <a:p>
            <a:r>
              <a:rPr sz="2350" b="0" i="0" u="none"/>
              <a:t>Code Review with GitHub Copilot</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2400" b="0" i="0" u="none"/>
              <a:t>The Prompt That Does the Implementation (With a Checklist)</a:t>
            </a:r>
          </a:p>
        </p:txBody>
      </p:sp>
      <p:sp>
        <p:nvSpPr>
          <p:cNvPr id="3" name="Content Placeholder 2"/>
          <p:cNvSpPr>
            <a:spLocks noGrp="1"/>
          </p:cNvSpPr>
          <p:nvPr>
            <p:ph idx="1"/>
          </p:nvPr>
        </p:nvSpPr>
        <p:spPr/>
        <p:txBody>
          <a:bodyPr wrap="square">
            <a:normAutofit/>
          </a:bodyPr>
          <a:lstStyle/>
          <a:p>
            <a:r>
              <a:rPr sz="2800" b="0" i="0" u="none"/>
              <a:t>Section focus: turning slice plans into actionable build prompts</a:t>
            </a:r>
            <a:endParaRPr sz="2800" b="0" i="0">
              <a:latin typeface="Arial"/>
            </a:endParaRPr>
          </a:p>
          <a:p>
            <a:r>
              <a:rPr sz="2800" b="0" i="0" u="none"/>
              <a:t>Outcome: show how to generate slice-specific prompts, verify behavior, and prepare stakeholder demos</a:t>
            </a:r>
            <a:endParaRPr sz="2800" b="0" i="0">
              <a:latin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Start from a Single Slice</a:t>
            </a:r>
          </a:p>
        </p:txBody>
      </p:sp>
      <p:sp>
        <p:nvSpPr>
          <p:cNvPr id="3" name="Content Placeholder 2"/>
          <p:cNvSpPr>
            <a:spLocks noGrp="1"/>
          </p:cNvSpPr>
          <p:nvPr>
            <p:ph idx="1"/>
          </p:nvPr>
        </p:nvSpPr>
        <p:spPr/>
        <p:txBody>
          <a:bodyPr wrap="square">
            <a:normAutofit/>
          </a:bodyPr>
          <a:lstStyle/>
          <a:p>
            <a:r>
              <a:rPr sz="2800" b="0" i="0" u="none"/>
              <a:t>Choose one slice from the implementation plan</a:t>
            </a:r>
            <a:endParaRPr sz="2800" b="0" i="0">
              <a:latin typeface="Arial"/>
            </a:endParaRPr>
          </a:p>
          <a:p>
            <a:r>
              <a:rPr sz="2800" b="0" i="0" u="none"/>
              <a:t>Example: </a:t>
            </a:r>
            <a:r>
              <a:rPr sz="2800" b="1" i="0" u="none"/>
              <a:t>Slice 1 - Display Current Value</a:t>
            </a:r>
            <a:endParaRPr sz="2800" b="0" i="0">
              <a:latin typeface="Arial"/>
            </a:endParaRPr>
          </a:p>
          <a:p>
            <a:r>
              <a:rPr sz="2800" b="0" i="0" u="none"/>
              <a:t>Use the slice instructions plus the implementation plan as source context</a:t>
            </a:r>
            <a:endParaRPr sz="2800" b="0" i="0">
              <a:latin typeface="Arial"/>
            </a:endParaRPr>
          </a:p>
          <a:p>
            <a:r>
              <a:rPr sz="2800" b="0" i="0" u="none"/>
              <a:t>Write one prompt file per slice so scope stays narrow and testable</a:t>
            </a:r>
            <a:endParaRPr sz="2800" b="0" i="0">
              <a:latin typeface="Arial"/>
            </a:endParaRPr>
          </a:p>
        </p:txBody>
      </p:sp>
      <p:pic>
        <p:nvPicPr>
          <p:cNvPr id="4" name="Picture 3" descr="ee96ea18e759478f6083a511aa29058e2bca4750.png"/>
          <p:cNvPicPr>
            <a:picLocks noChangeAspect="1"/>
          </p:cNvPicPr>
          <p:nvPr/>
        </p:nvPicPr>
        <p:blipFill>
          <a:blip r:embed="rId3"/>
          <a:stretch>
            <a:fillRect/>
          </a:stretch>
        </p:blipFill>
        <p:spPr>
          <a:xfrm>
            <a:off x="5852160" y="3291840"/>
            <a:ext cx="2926080" cy="21116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200" b="0" i="0" u="none"/>
              <a:t>What the Implementation Prompt Should Say</a:t>
            </a:r>
          </a:p>
        </p:txBody>
      </p:sp>
      <p:sp>
        <p:nvSpPr>
          <p:cNvPr id="3" name="Content Placeholder 2"/>
          <p:cNvSpPr>
            <a:spLocks noGrp="1"/>
          </p:cNvSpPr>
          <p:nvPr>
            <p:ph idx="1"/>
          </p:nvPr>
        </p:nvSpPr>
        <p:spPr/>
        <p:txBody>
          <a:bodyPr wrap="square">
            <a:noAutofit/>
          </a:bodyPr>
          <a:lstStyle/>
          <a:p>
            <a:r>
              <a:rPr sz="2200" b="0" i="0" u="none"/>
              <a:t>Reference the slice instructions and the implementation plan directly</a:t>
            </a:r>
            <a:endParaRPr sz="2200" b="0" i="0">
              <a:latin typeface="Arial"/>
            </a:endParaRPr>
          </a:p>
          <a:p>
            <a:r>
              <a:rPr sz="2200" b="0" i="0" u="none"/>
              <a:t>Ask the model to implement the selected slice</a:t>
            </a:r>
            <a:endParaRPr sz="2200" b="0" i="0">
              <a:latin typeface="Arial"/>
            </a:endParaRPr>
          </a:p>
          <a:p>
            <a:r>
              <a:rPr sz="2200" b="0" i="0" u="none"/>
              <a:t>Require </a:t>
            </a:r>
            <a:r>
              <a:rPr sz="2200" b="1" i="0" u="none"/>
              <a:t>verification steps</a:t>
            </a:r>
            <a:r>
              <a:rPr sz="2200" b="0" i="0" u="none"/>
              <a:t> in the output</a:t>
            </a:r>
            <a:endParaRPr sz="2200" b="0" i="0">
              <a:latin typeface="Arial"/>
            </a:endParaRPr>
          </a:p>
          <a:p>
            <a:r>
              <a:rPr sz="2200" b="0" i="0" u="none"/>
              <a:t>Require </a:t>
            </a:r>
            <a:r>
              <a:rPr sz="2200" b="1" i="0" u="none"/>
              <a:t>showcase instructions</a:t>
            </a:r>
            <a:r>
              <a:rPr sz="2200" b="0" i="0" u="none"/>
              <a:t> for stakeholder demonstration</a:t>
            </a:r>
            <a:endParaRPr sz="2200" b="0" i="0">
              <a:latin typeface="Arial"/>
            </a:endParaRPr>
          </a:p>
          <a:p>
            <a:pPr>
              <a:buNone/>
            </a:pPr>
            <a:endParaRPr sz="2200" b="0" i="0">
              <a:latin typeface="Arial"/>
            </a:endParaRPr>
          </a:p>
          <a:p>
            <a:pPr>
              <a:buNone/>
            </a:pPr>
            <a:r>
              <a:rPr sz="2200" b="1" i="0" u="none"/>
              <a:t>Prompt pattern</a:t>
            </a:r>
            <a:endParaRPr sz="2200" b="0" i="0">
              <a:latin typeface="Arial"/>
            </a:endParaRPr>
          </a:p>
          <a:p>
            <a:pPr>
              <a:buNone/>
            </a:pPr>
            <a:endParaRPr sz="2200" b="0" i="0">
              <a:latin typeface="Arial"/>
            </a:endParaRPr>
          </a:p>
          <a:p>
            <a:pPr>
              <a:buNone/>
            </a:pPr>
            <a:r>
              <a:rPr sz="2200" b="0" i="1" u="none"/>
              <a:t>Using slice X instructions and implementation plan, create a prompt file that implements slice 1. Include verification steps and showcase instructions that demonstrate the functionality to stakeholders.</a:t>
            </a:r>
            <a:endParaRPr sz="2200" b="0" i="0">
              <a:latin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250" b="0" i="0" u="none"/>
              <a:t>Expected Deliverables Inside the Prompt File</a:t>
            </a:r>
          </a:p>
        </p:txBody>
      </p:sp>
      <p:sp>
        <p:nvSpPr>
          <p:cNvPr id="3" name="Content Placeholder 2"/>
          <p:cNvSpPr>
            <a:spLocks noGrp="1"/>
          </p:cNvSpPr>
          <p:nvPr>
            <p:ph idx="1"/>
          </p:nvPr>
        </p:nvSpPr>
        <p:spPr/>
        <p:txBody>
          <a:bodyPr wrap="square">
            <a:noAutofit/>
          </a:bodyPr>
          <a:lstStyle/>
          <a:p>
            <a:pPr>
              <a:buNone/>
            </a:pPr>
            <a:r>
              <a:rPr sz="1550" b="1" i="0" u="none"/>
              <a:t>Files to create</a:t>
            </a:r>
            <a:endParaRPr sz="1550" b="0" i="0">
              <a:latin typeface="Consolas"/>
            </a:endParaRPr>
          </a:p>
          <a:p>
            <a:pPr>
              <a:buNone/>
            </a:pPr>
            <a:endParaRPr sz="1550" b="0" i="0">
              <a:latin typeface="Consolas"/>
            </a:endParaRPr>
          </a:p>
          <a:p>
            <a:r>
              <a:rPr sz="1550" b="0" i="0" u="none">
                <a:latin typeface="Consolas"/>
              </a:rPr>
              <a:t>index.html</a:t>
            </a:r>
            <a:endParaRPr sz="1550" b="0" i="0">
              <a:latin typeface="Consolas"/>
            </a:endParaRPr>
          </a:p>
          <a:p>
            <a:r>
              <a:rPr sz="1550" b="0" i="0" u="none">
                <a:latin typeface="Consolas"/>
              </a:rPr>
              <a:t>styles.css</a:t>
            </a:r>
            <a:endParaRPr sz="1550" b="0" i="0">
              <a:latin typeface="Consolas"/>
            </a:endParaRPr>
          </a:p>
          <a:p>
            <a:r>
              <a:rPr sz="1550" b="0" i="0" u="none">
                <a:latin typeface="Consolas"/>
              </a:rPr>
              <a:t>main.js</a:t>
            </a:r>
            <a:endParaRPr sz="1550" b="0" i="0">
              <a:latin typeface="Consolas"/>
            </a:endParaRPr>
          </a:p>
          <a:p>
            <a:pPr>
              <a:buNone/>
            </a:pPr>
            <a:endParaRPr sz="1550" b="0" i="0">
              <a:latin typeface="Consolas"/>
            </a:endParaRPr>
          </a:p>
          <a:p>
            <a:pPr>
              <a:buNone/>
            </a:pPr>
            <a:r>
              <a:rPr sz="1550" b="1" i="0" u="none"/>
              <a:t>Specifications to include</a:t>
            </a:r>
            <a:endParaRPr sz="1550" b="0" i="0">
              <a:latin typeface="Consolas"/>
            </a:endParaRPr>
          </a:p>
          <a:p>
            <a:pPr>
              <a:buNone/>
            </a:pPr>
            <a:endParaRPr sz="1550" b="0" i="0">
              <a:latin typeface="Consolas"/>
            </a:endParaRPr>
          </a:p>
          <a:p>
            <a:r>
              <a:rPr sz="1550" b="0" i="0" u="none"/>
              <a:t>HTML structure requirements</a:t>
            </a:r>
            <a:endParaRPr sz="1550" b="0" i="0">
              <a:latin typeface="Consolas"/>
            </a:endParaRPr>
          </a:p>
          <a:p>
            <a:r>
              <a:rPr sz="1550" b="0" i="0" u="none"/>
              <a:t>CSS colors, fonts, spacing, and layout</a:t>
            </a:r>
            <a:endParaRPr sz="1550" b="0" i="0">
              <a:latin typeface="Consolas"/>
            </a:endParaRPr>
          </a:p>
          <a:p>
            <a:r>
              <a:rPr sz="1550" b="0" i="0" u="none"/>
              <a:t>JavaScript behavior for current value, display object, and update function</a:t>
            </a:r>
            <a:endParaRPr sz="1550" b="0" i="0">
              <a:latin typeface="Consolas"/>
            </a:endParaRPr>
          </a:p>
          <a:p>
            <a:r>
              <a:rPr sz="1550" b="0" i="0" u="none"/>
              <a:t>File structure and component organization</a:t>
            </a:r>
            <a:endParaRPr sz="1550" b="0" i="0">
              <a:latin typeface="Consolas"/>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4350" b="0" i="0" u="none"/>
              <a:t>Build Verification into the Prompt</a:t>
            </a:r>
          </a:p>
        </p:txBody>
      </p:sp>
      <p:sp>
        <p:nvSpPr>
          <p:cNvPr id="3" name="Content Placeholder 2"/>
          <p:cNvSpPr>
            <a:spLocks noGrp="1"/>
          </p:cNvSpPr>
          <p:nvPr>
            <p:ph idx="1"/>
          </p:nvPr>
        </p:nvSpPr>
        <p:spPr/>
        <p:txBody>
          <a:bodyPr wrap="square">
            <a:normAutofit/>
          </a:bodyPr>
          <a:lstStyle/>
          <a:p>
            <a:r>
              <a:rPr sz="1800" b="1" i="0" u="none"/>
              <a:t>Initial state</a:t>
            </a:r>
            <a:r>
              <a:rPr sz="1800" b="0" i="0" u="none"/>
              <a:t>: calculator displays </a:t>
            </a:r>
            <a:r>
              <a:rPr sz="1800" b="0" i="0" u="none">
                <a:latin typeface="Consolas"/>
              </a:rPr>
              <a:t>0</a:t>
            </a:r>
            <a:r>
              <a:rPr sz="1800" b="0" i="0" u="none"/>
              <a:t> on page load</a:t>
            </a:r>
            <a:endParaRPr sz="1800" b="0" i="0">
              <a:latin typeface="Consolas"/>
            </a:endParaRPr>
          </a:p>
          <a:p>
            <a:r>
              <a:rPr sz="1800" b="1" i="0" u="none"/>
              <a:t>State update</a:t>
            </a:r>
            <a:r>
              <a:rPr sz="1800" b="0" i="0" u="none"/>
              <a:t>: changing the value in the console updates the display</a:t>
            </a:r>
            <a:endParaRPr sz="1800" b="0" i="0">
              <a:latin typeface="Consolas"/>
            </a:endParaRPr>
          </a:p>
          <a:p>
            <a:r>
              <a:rPr sz="1800" b="1" i="0" u="none"/>
              <a:t>Accessibility</a:t>
            </a:r>
            <a:r>
              <a:rPr sz="1800" b="0" i="0" u="none"/>
              <a:t>: contrast ratio &gt;= 4.5:1 and font size &gt;= </a:t>
            </a:r>
            <a:r>
              <a:rPr sz="1800" b="0" i="0" u="none">
                <a:latin typeface="Consolas"/>
              </a:rPr>
              <a:t>2rem</a:t>
            </a:r>
            <a:endParaRPr sz="1800" b="0" i="0">
              <a:latin typeface="Consolas"/>
            </a:endParaRPr>
          </a:p>
          <a:p>
            <a:r>
              <a:rPr sz="1800" b="0" i="0" u="none"/>
              <a:t>Include both automated testing guidance and manual verification steps</a:t>
            </a:r>
            <a:endParaRPr sz="1800" b="0" i="0">
              <a:latin typeface="Consolas"/>
            </a:endParaRPr>
          </a:p>
        </p:txBody>
      </p:sp>
      <p:pic>
        <p:nvPicPr>
          <p:cNvPr id="4" name="Picture 3" descr="70e2c7938aba606ee17c9cf58f12193420bc62a7.png"/>
          <p:cNvPicPr>
            <a:picLocks noChangeAspect="1"/>
          </p:cNvPicPr>
          <p:nvPr/>
        </p:nvPicPr>
        <p:blipFill>
          <a:blip r:embed="rId3"/>
          <a:stretch>
            <a:fillRect/>
          </a:stretch>
        </p:blipFill>
        <p:spPr>
          <a:xfrm>
            <a:off x="5852160" y="3291840"/>
            <a:ext cx="2926080" cy="112355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150" b="0" i="0" u="none"/>
              <a:t>Showcase Instructions Should Target Humans</a:t>
            </a:r>
          </a:p>
        </p:txBody>
      </p:sp>
      <p:sp>
        <p:nvSpPr>
          <p:cNvPr id="3" name="Content Placeholder 2"/>
          <p:cNvSpPr>
            <a:spLocks noGrp="1"/>
          </p:cNvSpPr>
          <p:nvPr>
            <p:ph idx="1"/>
          </p:nvPr>
        </p:nvSpPr>
        <p:spPr/>
        <p:txBody>
          <a:bodyPr wrap="square">
            <a:noAutofit/>
          </a:bodyPr>
          <a:lstStyle/>
          <a:p>
            <a:r>
              <a:rPr sz="1750" b="0" i="0" u="none"/>
              <a:t>Do more than paste a code snippet</a:t>
            </a:r>
            <a:endParaRPr sz="1750" b="0" i="0">
              <a:latin typeface="Arial"/>
            </a:endParaRPr>
          </a:p>
          <a:p>
            <a:r>
              <a:rPr sz="1750" b="0" i="0" u="none"/>
              <a:t>Describe what users </a:t>
            </a:r>
            <a:r>
              <a:rPr sz="1750" b="1" i="0" u="none"/>
              <a:t>see</a:t>
            </a:r>
            <a:r>
              <a:rPr sz="1750" b="0" i="0" u="none"/>
              <a:t> and what they can </a:t>
            </a:r>
            <a:r>
              <a:rPr sz="1750" b="1" i="0" u="none"/>
              <a:t>do</a:t>
            </a:r>
            <a:endParaRPr sz="1750" b="0" i="0">
              <a:latin typeface="Arial"/>
            </a:endParaRPr>
          </a:p>
          <a:p>
            <a:r>
              <a:rPr sz="1750" b="0" i="0" u="none"/>
              <a:t>Call out the behavior the demonstrator should point to</a:t>
            </a:r>
            <a:endParaRPr sz="1750" b="0" i="0">
              <a:latin typeface="Arial"/>
            </a:endParaRPr>
          </a:p>
          <a:p>
            <a:r>
              <a:rPr sz="1750" b="0" i="0" u="none"/>
              <a:t>Provide an interactive demo path for stakeholders</a:t>
            </a:r>
            <a:endParaRPr sz="1750" b="0" i="0">
              <a:latin typeface="Arial"/>
            </a:endParaRPr>
          </a:p>
          <a:p>
            <a:pPr>
              <a:buNone/>
            </a:pPr>
            <a:endParaRPr sz="1750" b="0" i="0">
              <a:latin typeface="Arial"/>
            </a:endParaRPr>
          </a:p>
          <a:p>
            <a:pPr>
              <a:buNone/>
            </a:pPr>
            <a:r>
              <a:rPr sz="1750" b="1" i="0" u="none"/>
              <a:t>Good showcase guidance includes</a:t>
            </a:r>
            <a:endParaRPr sz="1750" b="0" i="0">
              <a:latin typeface="Arial"/>
            </a:endParaRPr>
          </a:p>
          <a:p>
            <a:pPr>
              <a:buNone/>
            </a:pPr>
            <a:endParaRPr sz="1750" b="0" i="0">
              <a:latin typeface="Arial"/>
            </a:endParaRPr>
          </a:p>
          <a:p>
            <a:pPr>
              <a:buNone/>
            </a:pPr>
            <a:r>
              <a:rPr sz="1750" b="0" i="0" u="none"/>
              <a:t>1. starting state on screen</a:t>
            </a:r>
            <a:endParaRPr sz="1750" b="0" i="0">
              <a:latin typeface="Arial"/>
            </a:endParaRPr>
          </a:p>
          <a:p>
            <a:pPr>
              <a:buNone/>
            </a:pPr>
            <a:r>
              <a:rPr sz="1750" b="0" i="0" u="none"/>
              <a:t>2. action to take</a:t>
            </a:r>
            <a:endParaRPr sz="1750" b="0" i="0">
              <a:latin typeface="Arial"/>
            </a:endParaRPr>
          </a:p>
          <a:p>
            <a:pPr>
              <a:buNone/>
            </a:pPr>
            <a:r>
              <a:rPr sz="1750" b="0" i="0" u="none"/>
              <a:t>3. visible result</a:t>
            </a:r>
            <a:endParaRPr sz="1750" b="0" i="0">
              <a:latin typeface="Arial"/>
            </a:endParaRPr>
          </a:p>
          <a:p>
            <a:pPr>
              <a:buNone/>
            </a:pPr>
            <a:r>
              <a:rPr sz="1750" b="0" i="0" u="none"/>
              <a:t>4. why it matters to the audience</a:t>
            </a:r>
            <a:endParaRPr sz="1750" b="0" i="0">
              <a:latin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4150" b="0" i="0" u="none"/>
              <a:t>Repeat the Pattern Across All Slices</a:t>
            </a:r>
          </a:p>
        </p:txBody>
      </p:sp>
      <p:sp>
        <p:nvSpPr>
          <p:cNvPr id="3" name="Content Placeholder 2"/>
          <p:cNvSpPr>
            <a:spLocks noGrp="1"/>
          </p:cNvSpPr>
          <p:nvPr>
            <p:ph idx="1"/>
          </p:nvPr>
        </p:nvSpPr>
        <p:spPr/>
        <p:txBody>
          <a:bodyPr wrap="square">
            <a:noAutofit/>
          </a:bodyPr>
          <a:lstStyle/>
          <a:p>
            <a:r>
              <a:rPr sz="2450" b="0" i="0" u="none"/>
              <a:t>Create additional prompt files for Slice 2, Slice 3, and so on</a:t>
            </a:r>
            <a:endParaRPr sz="2450" b="0" i="0">
              <a:latin typeface="Arial"/>
            </a:endParaRPr>
          </a:p>
          <a:p>
            <a:r>
              <a:rPr sz="2450" b="0" i="0" u="none"/>
              <a:t>Version-control each prompt so changes stay traceable</a:t>
            </a:r>
            <a:endParaRPr sz="2450" b="0" i="0">
              <a:latin typeface="Arial"/>
            </a:endParaRPr>
          </a:p>
          <a:p>
            <a:r>
              <a:rPr sz="2450" b="0" i="0" u="none"/>
              <a:t>Reuse prompts later for revisions or follow-on work</a:t>
            </a:r>
            <a:endParaRPr sz="2450" b="0" i="0">
              <a:latin typeface="Arial"/>
            </a:endParaRPr>
          </a:p>
          <a:p>
            <a:r>
              <a:rPr sz="2450" b="0" i="0" u="none"/>
              <a:t>Execute slices sequentially and review each result before moving on</a:t>
            </a:r>
            <a:endParaRPr sz="2450" b="0" i="0">
              <a:latin typeface="Arial"/>
            </a:endParaRPr>
          </a:p>
          <a:p>
            <a:r>
              <a:rPr sz="2450" b="0" i="0" u="none"/>
              <a:t>Build a complete implementation roadmap with systematic verification</a:t>
            </a:r>
            <a:endParaRPr sz="2450" b="0" i="0">
              <a:latin typeface="Arial"/>
            </a:endParaRPr>
          </a:p>
          <a:p>
            <a:pPr>
              <a:buNone/>
            </a:pPr>
            <a:endParaRPr sz="2450" b="0" i="0">
              <a:latin typeface="Arial"/>
            </a:endParaRPr>
          </a:p>
          <a:p>
            <a:pPr>
              <a:buNone/>
            </a:pPr>
            <a:r>
              <a:rPr sz="2450" b="1" i="0" u="none"/>
              <a:t>Bottom line</a:t>
            </a:r>
            <a:r>
              <a:rPr sz="2450" b="0" i="0" u="none"/>
              <a:t>: slice-specific prompts create a repeatable path from plan to implementation to review.</a:t>
            </a:r>
            <a:endParaRPr sz="2450" b="0" i="0">
              <a:latin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Autofit/>
          </a:bodyPr>
          <a:lstStyle/>
          <a:p>
            <a:r>
              <a:rPr sz="2350" b="0" i="0" u="none"/>
              <a:t>Intro</a:t>
            </a:r>
          </a:p>
          <a:p>
            <a:r>
              <a:rPr sz="2350" b="0" i="0" u="none"/>
              <a:t>Specification Driven Software Development</a:t>
            </a:r>
          </a:p>
          <a:p>
            <a:r>
              <a:rPr sz="2350" b="0" i="0" u="none"/>
              <a:t>Architecture Specification</a:t>
            </a:r>
          </a:p>
          <a:p>
            <a:r>
              <a:rPr sz="2350" b="0" i="0" u="none"/>
              <a:t>Technology Specification</a:t>
            </a:r>
          </a:p>
          <a:p>
            <a:r>
              <a:rPr sz="2350" b="0" i="0" u="none"/>
              <a:t>Implementation Specification</a:t>
            </a:r>
          </a:p>
          <a:p>
            <a:r>
              <a:rPr sz="2350" b="0" i="0" u="none"/>
              <a:t>Implementation Planning</a:t>
            </a:r>
          </a:p>
          <a:p>
            <a:r>
              <a:rPr sz="2350" b="0" i="0" u="none"/>
              <a:t>Implementation Prompts</a:t>
            </a:r>
          </a:p>
          <a:p>
            <a:r>
              <a:rPr sz="2350" b="1" i="0" u="none"/>
              <a:t>▶ Vertical Slice Implementation</a:t>
            </a:r>
          </a:p>
          <a:p>
            <a:r>
              <a:rPr sz="2350" b="0" i="0" u="none"/>
              <a:t>Code Review with GitHub Copilot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Thin Slices, Big Results</a:t>
            </a:r>
          </a:p>
        </p:txBody>
      </p:sp>
      <p:sp>
        <p:nvSpPr>
          <p:cNvPr id="3" name="Content Placeholder 2"/>
          <p:cNvSpPr>
            <a:spLocks noGrp="1"/>
          </p:cNvSpPr>
          <p:nvPr>
            <p:ph idx="1"/>
          </p:nvPr>
        </p:nvSpPr>
        <p:spPr/>
        <p:txBody>
          <a:bodyPr wrap="square">
            <a:normAutofit/>
          </a:bodyPr>
          <a:lstStyle/>
          <a:p>
            <a:r>
              <a:rPr sz="2800" b="0" i="0" u="none"/>
              <a:t>Goal: deliver working software in thin, end-to-end slices</a:t>
            </a:r>
            <a:endParaRPr sz="2800" b="0" i="0">
              <a:latin typeface="Arial"/>
            </a:endParaRPr>
          </a:p>
          <a:p>
            <a:r>
              <a:rPr sz="2800" b="0" i="0" u="none"/>
              <a:t>Pattern: plan dependencies first, then parallelize safe slices</a:t>
            </a:r>
            <a:endParaRPr sz="2800" b="0" i="0">
              <a:latin typeface="Arial"/>
            </a:endParaRPr>
          </a:p>
          <a:p>
            <a:r>
              <a:rPr sz="2800" b="0" i="0" u="none"/>
              <a:t>Outcome: faster feedback and lower integration risk</a:t>
            </a:r>
            <a:endParaRPr sz="2800" b="0" i="0">
              <a:latin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Step 1: Define Slice Boundaries</a:t>
            </a:r>
          </a:p>
        </p:txBody>
      </p:sp>
      <p:sp>
        <p:nvSpPr>
          <p:cNvPr id="3" name="Content Placeholder 2"/>
          <p:cNvSpPr>
            <a:spLocks noGrp="1"/>
          </p:cNvSpPr>
          <p:nvPr>
            <p:ph idx="1"/>
          </p:nvPr>
        </p:nvSpPr>
        <p:spPr/>
        <p:txBody>
          <a:bodyPr wrap="square">
            <a:normAutofit/>
          </a:bodyPr>
          <a:lstStyle/>
          <a:p>
            <a:r>
              <a:rPr sz="2800" b="0" i="0" u="none"/>
              <a:t>Start from user-visible use cases</a:t>
            </a:r>
            <a:endParaRPr sz="2800" b="0" i="0">
              <a:latin typeface="Arial"/>
            </a:endParaRPr>
          </a:p>
          <a:p>
            <a:r>
              <a:rPr sz="2800" b="0" i="0" u="none"/>
              <a:t>Split by business capability, not technical layer</a:t>
            </a:r>
            <a:endParaRPr sz="2800" b="0" i="0">
              <a:latin typeface="Arial"/>
            </a:endParaRPr>
          </a:p>
          <a:p>
            <a:r>
              <a:rPr sz="2800" b="0" i="0" u="none"/>
              <a:t>Keep each slice independently testable</a:t>
            </a:r>
            <a:endParaRPr sz="2800" b="0" i="0">
              <a:latin typeface="Arial"/>
            </a:endParaRPr>
          </a:p>
          <a:p>
            <a:r>
              <a:rPr sz="2800" b="0" i="0" u="none"/>
              <a:t>Write a short definition for every slice:</a:t>
            </a:r>
            <a:endParaRPr sz="2800" b="0" i="0">
              <a:latin typeface="Arial"/>
            </a:endParaRPr>
          </a:p>
          <a:p>
            <a:pPr lvl="1"/>
            <a:r>
              <a:rPr sz="2800" b="0" i="0" u="none"/>
              <a:t>Scope</a:t>
            </a:r>
            <a:endParaRPr sz="2800" b="0" i="0">
              <a:latin typeface="Arial"/>
            </a:endParaRPr>
          </a:p>
          <a:p>
            <a:pPr lvl="1"/>
            <a:r>
              <a:rPr sz="2800" b="0" i="0" u="none"/>
              <a:t>Inputs/outputs</a:t>
            </a:r>
            <a:endParaRPr sz="2800" b="0" i="0">
              <a:latin typeface="Arial"/>
            </a:endParaRPr>
          </a:p>
          <a:p>
            <a:pPr lvl="1"/>
            <a:r>
              <a:rPr sz="2800" b="0" i="0" u="none"/>
              <a:t>Done criteria</a:t>
            </a:r>
            <a:endParaRPr sz="2800" b="0" i="0">
              <a:latin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850" b="0" i="0" u="none"/>
              <a:t>Step 2: Build the Implementation Plan</a:t>
            </a:r>
          </a:p>
        </p:txBody>
      </p:sp>
      <p:sp>
        <p:nvSpPr>
          <p:cNvPr id="3" name="Content Placeholder 2"/>
          <p:cNvSpPr>
            <a:spLocks noGrp="1"/>
          </p:cNvSpPr>
          <p:nvPr>
            <p:ph idx="1"/>
          </p:nvPr>
        </p:nvSpPr>
        <p:spPr/>
        <p:txBody>
          <a:bodyPr wrap="square">
            <a:normAutofit/>
          </a:bodyPr>
          <a:lstStyle/>
          <a:p>
            <a:r>
              <a:rPr sz="2800" b="0" i="0" u="none"/>
              <a:t>Identify dependency chain first</a:t>
            </a:r>
            <a:endParaRPr sz="2800" b="0" i="0">
              <a:latin typeface="Arial"/>
            </a:endParaRPr>
          </a:p>
          <a:p>
            <a:r>
              <a:rPr sz="2800" b="0" i="0" u="none"/>
              <a:t>Mark slices as:</a:t>
            </a:r>
            <a:endParaRPr sz="2800" b="0" i="0">
              <a:latin typeface="Arial"/>
            </a:endParaRPr>
          </a:p>
          <a:p>
            <a:pPr lvl="1"/>
            <a:r>
              <a:rPr sz="2800" b="0" i="0" u="none"/>
              <a:t>Foundation (must go first)</a:t>
            </a:r>
            <a:endParaRPr sz="2800" b="0" i="0">
              <a:latin typeface="Arial"/>
            </a:endParaRPr>
          </a:p>
          <a:p>
            <a:pPr lvl="1"/>
            <a:r>
              <a:rPr sz="2800" b="0" i="0" u="none"/>
              <a:t>Parallel-ready (can run together)</a:t>
            </a:r>
            <a:endParaRPr sz="2800" b="0" i="0">
              <a:latin typeface="Arial"/>
            </a:endParaRPr>
          </a:p>
          <a:p>
            <a:pPr lvl="1"/>
            <a:r>
              <a:rPr sz="2800" b="0" i="0" u="none"/>
              <a:t>Integration/cleanup (must go last)</a:t>
            </a:r>
            <a:endParaRPr sz="2800" b="0" i="0">
              <a:latin typeface="Arial"/>
            </a:endParaRPr>
          </a:p>
          <a:p>
            <a:r>
              <a:rPr sz="2800" b="0" i="0" u="none"/>
              <a:t>Sequence by risk and coupling</a:t>
            </a:r>
            <a:endParaRPr sz="2800" b="0" i="0">
              <a:latin typeface="Arial"/>
            </a:endParaRPr>
          </a:p>
        </p:txBody>
      </p:sp>
      <p:pic>
        <p:nvPicPr>
          <p:cNvPr id="4" name="Picture 3" descr="35e4444ede21a7b17bd6ce1b9c4cf20965cddfb6.png"/>
          <p:cNvPicPr>
            <a:picLocks noChangeAspect="1"/>
          </p:cNvPicPr>
          <p:nvPr/>
        </p:nvPicPr>
        <p:blipFill>
          <a:blip r:embed="rId3"/>
          <a:stretch>
            <a:fillRect/>
          </a:stretch>
        </p:blipFill>
        <p:spPr>
          <a:xfrm>
            <a:off x="5852160" y="3291840"/>
            <a:ext cx="2926080" cy="605246"/>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Step 3: Execute Slices in Parallel</a:t>
            </a:r>
          </a:p>
        </p:txBody>
      </p:sp>
      <p:sp>
        <p:nvSpPr>
          <p:cNvPr id="3" name="Content Placeholder 2"/>
          <p:cNvSpPr>
            <a:spLocks noGrp="1"/>
          </p:cNvSpPr>
          <p:nvPr>
            <p:ph idx="1"/>
          </p:nvPr>
        </p:nvSpPr>
        <p:spPr/>
        <p:txBody>
          <a:bodyPr wrap="square">
            <a:noAutofit/>
          </a:bodyPr>
          <a:lstStyle/>
          <a:p>
            <a:r>
              <a:rPr sz="2000" b="0" i="0" u="none"/>
              <a:t>Assign owners per slice lane</a:t>
            </a:r>
            <a:endParaRPr sz="2000" b="0" i="0">
              <a:latin typeface="Arial"/>
            </a:endParaRPr>
          </a:p>
          <a:p>
            <a:r>
              <a:rPr sz="2000" b="0" i="0" u="none"/>
              <a:t>Use trunk-based integration with short-lived branches</a:t>
            </a:r>
            <a:endParaRPr sz="2000" b="0" i="0">
              <a:latin typeface="Arial"/>
            </a:endParaRPr>
          </a:p>
          <a:p>
            <a:r>
              <a:rPr sz="2000" b="0" i="0" u="none"/>
              <a:t>Keep contracts stable and versioned</a:t>
            </a:r>
            <a:endParaRPr sz="2000" b="0" i="0">
              <a:latin typeface="Arial"/>
            </a:endParaRPr>
          </a:p>
          <a:p>
            <a:r>
              <a:rPr sz="2000" b="0" i="0" u="none"/>
              <a:t>Demo each slice as soon as done</a:t>
            </a:r>
            <a:endParaRPr sz="2000" b="0" i="0">
              <a:latin typeface="Arial"/>
            </a:endParaRPr>
          </a:p>
          <a:p>
            <a:pPr>
              <a:buNone/>
            </a:pPr>
            <a:endParaRPr sz="2000" b="0" i="0">
              <a:latin typeface="Arial"/>
            </a:endParaRPr>
          </a:p>
          <a:p>
            <a:pPr>
              <a:buNone/>
            </a:pPr>
            <a:r>
              <a:rPr sz="2000" b="0" i="0" u="none"/>
              <a:t>Parallel execution guardrails:</a:t>
            </a:r>
            <a:endParaRPr sz="2000" b="0" i="0">
              <a:latin typeface="Arial"/>
            </a:endParaRPr>
          </a:p>
          <a:p>
            <a:pPr>
              <a:buNone/>
            </a:pPr>
            <a:endParaRPr sz="2000" b="0" i="0">
              <a:latin typeface="Arial"/>
            </a:endParaRPr>
          </a:p>
          <a:p>
            <a:r>
              <a:rPr sz="2000" b="0" i="0" u="none"/>
              <a:t>No hidden cross-slice dependencies</a:t>
            </a:r>
            <a:endParaRPr sz="2000" b="0" i="0">
              <a:latin typeface="Arial"/>
            </a:endParaRPr>
          </a:p>
          <a:p>
            <a:r>
              <a:rPr sz="2000" b="0" i="0" u="none"/>
              <a:t>Shared schema changes reviewed early</a:t>
            </a:r>
            <a:endParaRPr sz="2000" b="0" i="0">
              <a:latin typeface="Arial"/>
            </a:endParaRPr>
          </a:p>
          <a:p>
            <a:r>
              <a:rPr sz="2000" b="0" i="0" u="none"/>
              <a:t>Contract tests required before merge</a:t>
            </a:r>
            <a:endParaRPr sz="2000" b="0" i="0">
              <a:latin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700" b="0" i="0" u="none"/>
              <a:t>Step 4: Integrate, Validate, and Stabilize</a:t>
            </a:r>
          </a:p>
        </p:txBody>
      </p:sp>
      <p:sp>
        <p:nvSpPr>
          <p:cNvPr id="3" name="Content Placeholder 2"/>
          <p:cNvSpPr>
            <a:spLocks noGrp="1"/>
          </p:cNvSpPr>
          <p:nvPr>
            <p:ph idx="1"/>
          </p:nvPr>
        </p:nvSpPr>
        <p:spPr/>
        <p:txBody>
          <a:bodyPr wrap="square">
            <a:normAutofit/>
          </a:bodyPr>
          <a:lstStyle/>
          <a:p>
            <a:r>
              <a:rPr sz="2800" b="0" i="0" u="none"/>
              <a:t>Run full end-to-end and regression tests</a:t>
            </a:r>
            <a:endParaRPr sz="2800" b="0" i="0">
              <a:latin typeface="Arial"/>
            </a:endParaRPr>
          </a:p>
          <a:p>
            <a:r>
              <a:rPr sz="2800" b="0" i="0" u="none"/>
              <a:t>Validate non-functional requirements:</a:t>
            </a:r>
            <a:endParaRPr sz="2800" b="0" i="0">
              <a:latin typeface="Arial"/>
            </a:endParaRPr>
          </a:p>
          <a:p>
            <a:pPr lvl="1"/>
            <a:r>
              <a:rPr sz="2800" b="0" i="0" u="none"/>
              <a:t>Performance</a:t>
            </a:r>
            <a:endParaRPr sz="2800" b="0" i="0">
              <a:latin typeface="Arial"/>
            </a:endParaRPr>
          </a:p>
          <a:p>
            <a:pPr lvl="1"/>
            <a:r>
              <a:rPr sz="2800" b="0" i="0" u="none"/>
              <a:t>Security</a:t>
            </a:r>
            <a:endParaRPr sz="2800" b="0" i="0">
              <a:latin typeface="Arial"/>
            </a:endParaRPr>
          </a:p>
          <a:p>
            <a:pPr lvl="1"/>
            <a:r>
              <a:rPr sz="2800" b="0" i="0" u="none"/>
              <a:t>Observability</a:t>
            </a:r>
            <a:endParaRPr sz="2800" b="0" i="0">
              <a:latin typeface="Arial"/>
            </a:endParaRPr>
          </a:p>
          <a:p>
            <a:r>
              <a:rPr sz="2800" b="0" i="0" u="none"/>
              <a:t>Close documentation and operational runbooks</a:t>
            </a:r>
            <a:endParaRPr sz="2800" b="0" i="0">
              <a:latin typeface="Arial"/>
            </a:endParaRPr>
          </a:p>
          <a:p>
            <a:r>
              <a:rPr sz="2800" b="0" i="0" u="none"/>
              <a:t>Freeze only when release criteria are met</a:t>
            </a:r>
            <a:endParaRPr sz="2800" b="0" i="0">
              <a:latin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Practical Starter Plan (Example)</a:t>
            </a:r>
          </a:p>
        </p:txBody>
      </p:sp>
      <p:sp>
        <p:nvSpPr>
          <p:cNvPr id="3" name="Content Placeholder 2"/>
          <p:cNvSpPr>
            <a:spLocks noGrp="1"/>
          </p:cNvSpPr>
          <p:nvPr>
            <p:ph idx="1"/>
          </p:nvPr>
        </p:nvSpPr>
        <p:spPr/>
        <p:txBody>
          <a:bodyPr wrap="square">
            <a:noAutofit/>
          </a:bodyPr>
          <a:lstStyle/>
          <a:p>
            <a:pPr>
              <a:buNone/>
            </a:pPr>
            <a:r>
              <a:rPr sz="1400" b="0" i="0" u="none"/>
              <a:t>Week 1</a:t>
            </a:r>
            <a:endParaRPr sz="1400" b="0" i="0">
              <a:latin typeface="Arial"/>
            </a:endParaRPr>
          </a:p>
          <a:p>
            <a:pPr>
              <a:buNone/>
            </a:pPr>
            <a:endParaRPr sz="1400" b="0" i="0">
              <a:latin typeface="Arial"/>
            </a:endParaRPr>
          </a:p>
          <a:p>
            <a:r>
              <a:rPr sz="1400" b="0" i="0" u="none"/>
              <a:t>Foundation slice</a:t>
            </a:r>
            <a:endParaRPr sz="1400" b="0" i="0">
              <a:latin typeface="Arial"/>
            </a:endParaRPr>
          </a:p>
          <a:p>
            <a:r>
              <a:rPr sz="1400" b="0" i="0" u="none"/>
              <a:t>Finalize contracts</a:t>
            </a:r>
            <a:endParaRPr sz="1400" b="0" i="0">
              <a:latin typeface="Arial"/>
            </a:endParaRPr>
          </a:p>
          <a:p>
            <a:pPr>
              <a:buNone/>
            </a:pPr>
            <a:endParaRPr sz="1400" b="0" i="0">
              <a:latin typeface="Arial"/>
            </a:endParaRPr>
          </a:p>
          <a:p>
            <a:pPr>
              <a:buNone/>
            </a:pPr>
            <a:r>
              <a:rPr sz="1400" b="0" i="0" u="none"/>
              <a:t>Week 2</a:t>
            </a:r>
            <a:endParaRPr sz="1400" b="0" i="0">
              <a:latin typeface="Arial"/>
            </a:endParaRPr>
          </a:p>
          <a:p>
            <a:pPr>
              <a:buNone/>
            </a:pPr>
            <a:endParaRPr sz="1400" b="0" i="0">
              <a:latin typeface="Arial"/>
            </a:endParaRPr>
          </a:p>
          <a:p>
            <a:r>
              <a:rPr sz="1400" b="0" i="0" u="none"/>
              <a:t>Slice A and Slice B in parallel</a:t>
            </a:r>
            <a:endParaRPr sz="1400" b="0" i="0">
              <a:latin typeface="Arial"/>
            </a:endParaRPr>
          </a:p>
          <a:p>
            <a:r>
              <a:rPr sz="1400" b="0" i="0" u="none"/>
              <a:t>Slice C starts mid-week after shared dependency lands</a:t>
            </a:r>
            <a:endParaRPr sz="1400" b="0" i="0">
              <a:latin typeface="Arial"/>
            </a:endParaRPr>
          </a:p>
          <a:p>
            <a:pPr>
              <a:buNone/>
            </a:pPr>
            <a:endParaRPr sz="1400" b="0" i="0">
              <a:latin typeface="Arial"/>
            </a:endParaRPr>
          </a:p>
          <a:p>
            <a:pPr>
              <a:buNone/>
            </a:pPr>
            <a:r>
              <a:rPr sz="1400" b="0" i="0" u="none"/>
              <a:t>Week 3</a:t>
            </a:r>
            <a:endParaRPr sz="1400" b="0" i="0">
              <a:latin typeface="Arial"/>
            </a:endParaRPr>
          </a:p>
          <a:p>
            <a:pPr>
              <a:buNone/>
            </a:pPr>
            <a:endParaRPr sz="1400" b="0" i="0">
              <a:latin typeface="Arial"/>
            </a:endParaRPr>
          </a:p>
          <a:p>
            <a:r>
              <a:rPr sz="1400" b="0" i="0" u="none"/>
              <a:t>Integration hardening</a:t>
            </a:r>
            <a:endParaRPr sz="1400" b="0" i="0">
              <a:latin typeface="Arial"/>
            </a:endParaRPr>
          </a:p>
          <a:p>
            <a:r>
              <a:rPr sz="1400" b="0" i="0" u="none"/>
              <a:t>UAT and release prep</a:t>
            </a:r>
            <a:endParaRPr sz="1400" b="0" i="0">
              <a:latin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Autofit/>
          </a:bodyPr>
          <a:lstStyle/>
          <a:p>
            <a:r>
              <a:rPr sz="2350" b="0" i="0" u="none"/>
              <a:t>Intro</a:t>
            </a:r>
          </a:p>
          <a:p>
            <a:r>
              <a:rPr sz="2350" b="0" i="0" u="none"/>
              <a:t>Specification Driven Software Development</a:t>
            </a:r>
          </a:p>
          <a:p>
            <a:r>
              <a:rPr sz="2350" b="0" i="0" u="none"/>
              <a:t>Architecture Specification</a:t>
            </a:r>
          </a:p>
          <a:p>
            <a:r>
              <a:rPr sz="2350" b="0" i="0" u="none"/>
              <a:t>Technology Specification</a:t>
            </a:r>
          </a:p>
          <a:p>
            <a:r>
              <a:rPr sz="2350" b="0" i="0" u="none"/>
              <a:t>Implementation Specification</a:t>
            </a:r>
          </a:p>
          <a:p>
            <a:r>
              <a:rPr sz="2350" b="0" i="0" u="none"/>
              <a:t>Implementation Planning</a:t>
            </a:r>
          </a:p>
          <a:p>
            <a:r>
              <a:rPr sz="2350" b="0" i="0" u="none"/>
              <a:t>Implementation Prompts</a:t>
            </a:r>
          </a:p>
          <a:p>
            <a:r>
              <a:rPr sz="2350" b="0" i="0" u="none"/>
              <a:t>Vertical Slice Implementation</a:t>
            </a:r>
          </a:p>
          <a:p>
            <a:r>
              <a:rPr sz="2350" b="1" i="0" u="none"/>
              <a:t>▶ Code Review with GitHub Copilot</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550" b="0" i="0" u="none"/>
              <a:t>The Code Review That Doesn't Ghost You</a:t>
            </a:r>
          </a:p>
        </p:txBody>
      </p:sp>
      <p:sp>
        <p:nvSpPr>
          <p:cNvPr id="3" name="Content Placeholder 2"/>
          <p:cNvSpPr>
            <a:spLocks noGrp="1"/>
          </p:cNvSpPr>
          <p:nvPr>
            <p:ph idx="1"/>
          </p:nvPr>
        </p:nvSpPr>
        <p:spPr/>
        <p:txBody>
          <a:bodyPr wrap="square">
            <a:normAutofit/>
          </a:bodyPr>
          <a:lstStyle/>
          <a:p>
            <a:r>
              <a:rPr sz="2800" b="0" i="0" u="none"/>
              <a:t>Section focus: moving from implementation into PR creation, review, and comment resolution</a:t>
            </a:r>
            <a:endParaRPr sz="2800" b="0" i="0">
              <a:latin typeface="Arial"/>
            </a:endParaRPr>
          </a:p>
          <a:p>
            <a:r>
              <a:rPr sz="2800" b="0" i="0" u="none"/>
              <a:t>Outcome: show how teams combine human and AI review to improve a slice before merge</a:t>
            </a:r>
            <a:endParaRPr sz="2800" b="0" i="0">
              <a:latin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Create the Pull Request Cleanly</a:t>
            </a:r>
          </a:p>
        </p:txBody>
      </p:sp>
      <p:sp>
        <p:nvSpPr>
          <p:cNvPr id="3" name="Content Placeholder 2"/>
          <p:cNvSpPr>
            <a:spLocks noGrp="1"/>
          </p:cNvSpPr>
          <p:nvPr>
            <p:ph idx="1"/>
          </p:nvPr>
        </p:nvSpPr>
        <p:spPr/>
        <p:txBody>
          <a:bodyPr wrap="square">
            <a:normAutofit/>
          </a:bodyPr>
          <a:lstStyle/>
          <a:p>
            <a:r>
              <a:rPr sz="1800" b="0" i="0" u="none"/>
              <a:t>Use a focused branch name such as </a:t>
            </a:r>
            <a:r>
              <a:rPr sz="1800" b="0" i="0" u="none">
                <a:latin typeface="Consolas"/>
              </a:rPr>
              <a:t>slice-1</a:t>
            </a:r>
            <a:endParaRPr sz="1800" b="0" i="0">
              <a:latin typeface="Consolas"/>
            </a:endParaRPr>
          </a:p>
          <a:p>
            <a:r>
              <a:rPr sz="1800" b="0" i="0" u="none"/>
              <a:t>Follow the normal Git flow: commit, push, and create the PR</a:t>
            </a:r>
            <a:endParaRPr sz="1800" b="0" i="0">
              <a:latin typeface="Consolas"/>
            </a:endParaRPr>
          </a:p>
          <a:p>
            <a:r>
              <a:rPr sz="1800" b="0" i="0" u="none"/>
              <a:t>Link the pull request to its issue in the development section</a:t>
            </a:r>
            <a:endParaRPr sz="1800" b="0" i="0">
              <a:latin typeface="Consolas"/>
            </a:endParaRPr>
          </a:p>
          <a:p>
            <a:r>
              <a:rPr sz="1800" b="0" i="0" u="none"/>
              <a:t>Keep the PR scoped to one slice so review stays clear and actionable</a:t>
            </a:r>
            <a:endParaRPr sz="1800" b="0" i="0">
              <a:latin typeface="Consolas"/>
            </a:endParaRPr>
          </a:p>
        </p:txBody>
      </p:sp>
      <p:pic>
        <p:nvPicPr>
          <p:cNvPr id="4" name="Picture 3" descr="ca5013003d5aa858d6e6b9fdc43fca91c4e11c6a.png"/>
          <p:cNvPicPr>
            <a:picLocks noChangeAspect="1"/>
          </p:cNvPicPr>
          <p:nvPr/>
        </p:nvPicPr>
        <p:blipFill>
          <a:blip r:embed="rId3"/>
          <a:stretch>
            <a:fillRect/>
          </a:stretch>
        </p:blipFill>
        <p:spPr>
          <a:xfrm>
            <a:off x="5852160" y="3291840"/>
            <a:ext cx="2926080" cy="188606"/>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950" b="0" i="0" u="none"/>
              <a:t>Run Human and AI Review in Parallel</a:t>
            </a:r>
          </a:p>
        </p:txBody>
      </p:sp>
      <p:sp>
        <p:nvSpPr>
          <p:cNvPr id="3" name="Content Placeholder 2"/>
          <p:cNvSpPr>
            <a:spLocks noGrp="1"/>
          </p:cNvSpPr>
          <p:nvPr>
            <p:ph idx="1"/>
          </p:nvPr>
        </p:nvSpPr>
        <p:spPr/>
        <p:txBody>
          <a:bodyPr wrap="square">
            <a:normAutofit/>
          </a:bodyPr>
          <a:lstStyle/>
          <a:p>
            <a:r>
              <a:rPr sz="2800" b="0" i="0" u="none"/>
              <a:t>Assign a human reviewer such as Christopher</a:t>
            </a:r>
            <a:endParaRPr sz="2800" b="0" i="0">
              <a:latin typeface="Arial"/>
            </a:endParaRPr>
          </a:p>
          <a:p>
            <a:r>
              <a:rPr sz="2800" b="0" i="0" u="none"/>
              <a:t>Initiate GitHub Copilot code review on the pull request</a:t>
            </a:r>
            <a:endParaRPr sz="2800" b="0" i="0">
              <a:latin typeface="Arial"/>
            </a:endParaRPr>
          </a:p>
          <a:p>
            <a:r>
              <a:rPr sz="2800" b="0" i="0" u="none"/>
              <a:t>Wait a few minutes for AI-generated comments to arrive</a:t>
            </a:r>
            <a:endParaRPr sz="2800" b="0" i="0">
              <a:latin typeface="Arial"/>
            </a:endParaRPr>
          </a:p>
          <a:p>
            <a:r>
              <a:rPr sz="2800" b="0" i="0" u="none"/>
              <a:t>Route implementation work clearly by assigning the issue to the implementer</a:t>
            </a:r>
            <a:endParaRPr sz="2800" b="0" i="0">
              <a:latin typeface="Arial"/>
            </a:endParaRPr>
          </a:p>
          <a:p>
            <a:r>
              <a:rPr sz="2800" b="0" i="0" u="none"/>
              <a:t>Use parallel review to shorten feedback time without sacrificing judgment</a:t>
            </a:r>
            <a:endParaRPr sz="2800" b="0" i="0">
              <a:latin typeface="Arial"/>
            </a:endParaRPr>
          </a:p>
        </p:txBody>
      </p:sp>
      <p:pic>
        <p:nvPicPr>
          <p:cNvPr id="4" name="Picture 3" descr="78c4ed033dcda00b8bb81ad6199814f048847001.png"/>
          <p:cNvPicPr>
            <a:picLocks noChangeAspect="1"/>
          </p:cNvPicPr>
          <p:nvPr/>
        </p:nvPicPr>
        <p:blipFill>
          <a:blip r:embed="rId3"/>
          <a:stretch>
            <a:fillRect/>
          </a:stretch>
        </p:blipFill>
        <p:spPr>
          <a:xfrm>
            <a:off x="5852160" y="3291840"/>
            <a:ext cx="2926080" cy="2032296"/>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the AI Review Flagged</a:t>
            </a:r>
          </a:p>
        </p:txBody>
      </p:sp>
      <p:sp>
        <p:nvSpPr>
          <p:cNvPr id="3" name="Content Placeholder 2"/>
          <p:cNvSpPr>
            <a:spLocks noGrp="1"/>
          </p:cNvSpPr>
          <p:nvPr>
            <p:ph idx="1"/>
          </p:nvPr>
        </p:nvSpPr>
        <p:spPr/>
        <p:txBody>
          <a:bodyPr wrap="square">
            <a:noAutofit/>
          </a:bodyPr>
          <a:lstStyle/>
          <a:p>
            <a:r>
              <a:rPr sz="2350" b="0" i="0" u="none"/>
              <a:t>Missing AI provenance metadata in Markdown files</a:t>
            </a:r>
            <a:endParaRPr sz="2350" b="0" i="0">
              <a:latin typeface="Arial"/>
            </a:endParaRPr>
          </a:p>
          <a:p>
            <a:r>
              <a:rPr sz="2350" b="0" i="0" u="none"/>
              <a:t>DOM element access patterns that could be improved</a:t>
            </a:r>
            <a:endParaRPr sz="2350" b="0" i="0">
              <a:latin typeface="Arial"/>
            </a:endParaRPr>
          </a:p>
          <a:p>
            <a:r>
              <a:rPr sz="2350" b="0" i="0" u="none"/>
              <a:t>Multiple additional code quality concerns across the change set</a:t>
            </a:r>
            <a:endParaRPr sz="2350" b="0" i="0">
              <a:latin typeface="Arial"/>
            </a:endParaRPr>
          </a:p>
          <a:p>
            <a:pPr>
              <a:buNone/>
            </a:pPr>
            <a:endParaRPr sz="2350" b="0" i="0">
              <a:latin typeface="Arial"/>
            </a:endParaRPr>
          </a:p>
          <a:p>
            <a:pPr>
              <a:buNone/>
            </a:pPr>
            <a:r>
              <a:rPr sz="2350" b="1" i="0" u="none"/>
              <a:t>Why this matters</a:t>
            </a:r>
            <a:endParaRPr sz="2350" b="0" i="0">
              <a:latin typeface="Arial"/>
            </a:endParaRPr>
          </a:p>
          <a:p>
            <a:pPr>
              <a:buNone/>
            </a:pPr>
            <a:endParaRPr sz="2350" b="0" i="0">
              <a:latin typeface="Arial"/>
            </a:endParaRPr>
          </a:p>
          <a:p>
            <a:pPr>
              <a:buNone/>
            </a:pPr>
            <a:r>
              <a:rPr sz="2350" b="0" i="0" u="none"/>
              <a:t>1. metadata gaps break traceability requirements</a:t>
            </a:r>
            <a:endParaRPr sz="2350" b="0" i="0">
              <a:latin typeface="Arial"/>
            </a:endParaRPr>
          </a:p>
          <a:p>
            <a:pPr>
              <a:buNone/>
            </a:pPr>
            <a:r>
              <a:rPr sz="2350" b="0" i="0" u="none"/>
              <a:t>2. DOM patterns affect maintainability and clarity</a:t>
            </a:r>
            <a:endParaRPr sz="2350" b="0" i="0">
              <a:latin typeface="Arial"/>
            </a:endParaRPr>
          </a:p>
          <a:p>
            <a:pPr>
              <a:buNone/>
            </a:pPr>
            <a:r>
              <a:rPr sz="2350" b="0" i="0" u="none"/>
              <a:t>3. mixed quality issues show the value of automated review breadth</a:t>
            </a:r>
            <a:endParaRPr sz="2350" b="0" i="0">
              <a:latin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500" b="0" i="0" u="none"/>
              <a:t>Review Comments Still Require Judgment</a:t>
            </a:r>
          </a:p>
        </p:txBody>
      </p:sp>
      <p:sp>
        <p:nvSpPr>
          <p:cNvPr id="3" name="Content Placeholder 2"/>
          <p:cNvSpPr>
            <a:spLocks noGrp="1"/>
          </p:cNvSpPr>
          <p:nvPr>
            <p:ph idx="1"/>
          </p:nvPr>
        </p:nvSpPr>
        <p:spPr/>
        <p:txBody>
          <a:bodyPr wrap="square">
            <a:noAutofit/>
          </a:bodyPr>
          <a:lstStyle/>
          <a:p>
            <a:r>
              <a:rPr sz="2000" b="0" i="0" u="none"/>
              <a:t>Some comments should be fixed immediately</a:t>
            </a:r>
            <a:endParaRPr sz="2000" b="0" i="0">
              <a:latin typeface="Arial"/>
            </a:endParaRPr>
          </a:p>
          <a:p>
            <a:r>
              <a:rPr sz="2000" b="0" i="0" u="none"/>
              <a:t>Some suggestions may depend on project context</a:t>
            </a:r>
            <a:endParaRPr sz="2000" b="0" i="0">
              <a:latin typeface="Arial"/>
            </a:endParaRPr>
          </a:p>
          <a:p>
            <a:r>
              <a:rPr sz="2000" b="0" i="0" u="none"/>
              <a:t>Not every AI recommendation is automatically correct or worth implementing</a:t>
            </a:r>
            <a:endParaRPr sz="2000" b="0" i="0">
              <a:latin typeface="Arial"/>
            </a:endParaRPr>
          </a:p>
          <a:p>
            <a:r>
              <a:rPr sz="2000" b="0" i="0" u="none"/>
              <a:t>Teams need to decide whether to implement, defer, or ignore each point</a:t>
            </a:r>
            <a:endParaRPr sz="2000" b="0" i="0">
              <a:latin typeface="Arial"/>
            </a:endParaRPr>
          </a:p>
          <a:p>
            <a:pPr>
              <a:buNone/>
            </a:pPr>
            <a:endParaRPr sz="2000" b="0" i="0">
              <a:latin typeface="Arial"/>
            </a:endParaRPr>
          </a:p>
          <a:p>
            <a:pPr>
              <a:buNone/>
            </a:pPr>
            <a:r>
              <a:rPr sz="2000" b="1" i="0" u="none"/>
              <a:t>Good reviewer questions</a:t>
            </a:r>
            <a:endParaRPr sz="2000" b="0" i="0">
              <a:latin typeface="Arial"/>
            </a:endParaRPr>
          </a:p>
          <a:p>
            <a:pPr>
              <a:buNone/>
            </a:pPr>
            <a:endParaRPr sz="2000" b="0" i="0">
              <a:latin typeface="Arial"/>
            </a:endParaRPr>
          </a:p>
          <a:p>
            <a:r>
              <a:rPr sz="2000" b="0" i="0" u="none"/>
              <a:t>Does this comment identify a real defect?</a:t>
            </a:r>
            <a:endParaRPr sz="2000" b="0" i="0">
              <a:latin typeface="Arial"/>
            </a:endParaRPr>
          </a:p>
          <a:p>
            <a:r>
              <a:rPr sz="2000" b="0" i="0" u="none"/>
              <a:t>Does the suggestion fit repository conventions?</a:t>
            </a:r>
            <a:endParaRPr sz="2000" b="0" i="0">
              <a:latin typeface="Arial"/>
            </a:endParaRPr>
          </a:p>
          <a:p>
            <a:r>
              <a:rPr sz="2000" b="0" i="0" u="none"/>
              <a:t>Is the proposed fix worth the churn right now?</a:t>
            </a:r>
            <a:endParaRPr sz="2000" b="0" i="0">
              <a:latin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200" b="0" i="0" u="none"/>
              <a:t>Address Comments One by One or in Batches</a:t>
            </a:r>
          </a:p>
        </p:txBody>
      </p:sp>
      <p:sp>
        <p:nvSpPr>
          <p:cNvPr id="3" name="Content Placeholder 2"/>
          <p:cNvSpPr>
            <a:spLocks noGrp="1"/>
          </p:cNvSpPr>
          <p:nvPr>
            <p:ph idx="1"/>
          </p:nvPr>
        </p:nvSpPr>
        <p:spPr/>
        <p:txBody>
          <a:bodyPr wrap="square">
            <a:noAutofit/>
          </a:bodyPr>
          <a:lstStyle/>
          <a:p>
            <a:r>
              <a:rPr sz="2700" b="0" i="0" u="none"/>
              <a:t>Reference specific review comments when preparing fixes</a:t>
            </a:r>
            <a:endParaRPr sz="2700" b="0" i="0">
              <a:latin typeface="Arial"/>
            </a:endParaRPr>
          </a:p>
          <a:p>
            <a:r>
              <a:rPr sz="2700" b="0" i="0" u="none"/>
              <a:t>Handle comments individually when the issues are distinct or risky</a:t>
            </a:r>
            <a:endParaRPr sz="2700" b="0" i="0">
              <a:latin typeface="Arial"/>
            </a:endParaRPr>
          </a:p>
          <a:p>
            <a:r>
              <a:rPr sz="2700" b="0" i="0" u="none"/>
              <a:t>Batch fixes when several comments point to the same underlying problem</a:t>
            </a:r>
            <a:endParaRPr sz="2700" b="0" i="0">
              <a:latin typeface="Arial"/>
            </a:endParaRPr>
          </a:p>
          <a:p>
            <a:r>
              <a:rPr sz="2700" b="0" i="0" u="none"/>
              <a:t>Use copy-paste or direct AI interaction with comments depending on the workflow</a:t>
            </a:r>
            <a:endParaRPr sz="2700" b="0" i="0">
              <a:latin typeface="Arial"/>
            </a:endParaRPr>
          </a:p>
          <a:p>
            <a:r>
              <a:rPr sz="2700" b="0" i="0" u="none"/>
              <a:t>Typical fixes here included metadata updates and code-pattern adjustments</a:t>
            </a:r>
            <a:endParaRPr sz="2700" b="0" i="0">
              <a:latin typeface="Arial"/>
            </a:endParaRPr>
          </a:p>
        </p:txBody>
      </p:sp>
      <p:pic>
        <p:nvPicPr>
          <p:cNvPr id="4" name="Picture 3" descr="d8c9cf9e5cf5789c682d0c6a65c67681c560cb52.png"/>
          <p:cNvPicPr>
            <a:picLocks noChangeAspect="1"/>
          </p:cNvPicPr>
          <p:nvPr/>
        </p:nvPicPr>
        <p:blipFill>
          <a:blip r:embed="rId3"/>
          <a:stretch>
            <a:fillRect/>
          </a:stretch>
        </p:blipFill>
        <p:spPr>
          <a:xfrm>
            <a:off x="5852160" y="3291840"/>
            <a:ext cx="2926080" cy="728446"/>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4300" b="0" i="0" u="none"/>
              <a:t>Process Takeaways for Future PRs</a:t>
            </a:r>
          </a:p>
        </p:txBody>
      </p:sp>
      <p:sp>
        <p:nvSpPr>
          <p:cNvPr id="3" name="Content Placeholder 2"/>
          <p:cNvSpPr>
            <a:spLocks noGrp="1"/>
          </p:cNvSpPr>
          <p:nvPr>
            <p:ph idx="1"/>
          </p:nvPr>
        </p:nvSpPr>
        <p:spPr/>
        <p:txBody>
          <a:bodyPr wrap="square">
            <a:noAutofit/>
          </a:bodyPr>
          <a:lstStyle/>
          <a:p>
            <a:r>
              <a:rPr sz="2400" b="0" i="0" u="none"/>
              <a:t>GitHub Copilot can participate as a code reviewer alongside humans</a:t>
            </a:r>
            <a:endParaRPr sz="2400" b="0" i="0">
              <a:latin typeface="Arial"/>
            </a:endParaRPr>
          </a:p>
          <a:p>
            <a:r>
              <a:rPr sz="2400" b="0" i="0" u="none"/>
              <a:t>AI review usually takes a few minutes, so plan for that latency</a:t>
            </a:r>
            <a:endParaRPr sz="2400" b="0" i="0">
              <a:latin typeface="Arial"/>
            </a:endParaRPr>
          </a:p>
          <a:p>
            <a:r>
              <a:rPr sz="2400" b="0" i="0" u="none"/>
              <a:t>Review comments can be handled individually or in grouped passes</a:t>
            </a:r>
            <a:endParaRPr sz="2400" b="0" i="0">
              <a:latin typeface="Arial"/>
            </a:endParaRPr>
          </a:p>
          <a:p>
            <a:r>
              <a:rPr sz="2400" b="0" i="0" u="none"/>
              <a:t>Manual reviewers and AI reviewers are strongest when used together</a:t>
            </a:r>
            <a:endParaRPr sz="2400" b="0" i="0">
              <a:latin typeface="Arial"/>
            </a:endParaRPr>
          </a:p>
          <a:p>
            <a:r>
              <a:rPr sz="2400" b="0" i="0" u="none"/>
              <a:t>Better prompts and instructions can reduce recurring review findings</a:t>
            </a:r>
            <a:endParaRPr sz="2400" b="0" i="0">
              <a:latin typeface="Arial"/>
            </a:endParaRPr>
          </a:p>
          <a:p>
            <a:pPr>
              <a:buNone/>
            </a:pPr>
            <a:endParaRPr sz="2400" b="0" i="0">
              <a:latin typeface="Arial"/>
            </a:endParaRPr>
          </a:p>
          <a:p>
            <a:pPr>
              <a:buNone/>
            </a:pPr>
            <a:r>
              <a:rPr sz="2400" b="1" i="0" u="none"/>
              <a:t>Bottom line</a:t>
            </a:r>
            <a:r>
              <a:rPr sz="2400" b="0" i="0" u="none"/>
              <a:t>: strong PR workflow is not just about opening the review, but about turning feedback into better code and better guidance.</a:t>
            </a:r>
            <a:endParaRPr sz="2400" b="0" i="0">
              <a:latin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2700" b="0" i="0" u="none"/>
              <a:t>The AI Reviewer Who Never Says "Looks Good to Me"</a:t>
            </a:r>
          </a:p>
        </p:txBody>
      </p:sp>
      <p:sp>
        <p:nvSpPr>
          <p:cNvPr id="3" name="Content Placeholder 2"/>
          <p:cNvSpPr>
            <a:spLocks noGrp="1"/>
          </p:cNvSpPr>
          <p:nvPr>
            <p:ph idx="1"/>
          </p:nvPr>
        </p:nvSpPr>
        <p:spPr/>
        <p:txBody>
          <a:bodyPr wrap="square">
            <a:normAutofit/>
          </a:bodyPr>
          <a:lstStyle/>
          <a:p>
            <a:r>
              <a:rPr sz="1800" b="0" i="0" u="none"/>
              <a:t>Section focus: using Copilot review feedback to improve code, tests, and instructions</a:t>
            </a:r>
            <a:endParaRPr sz="1800" b="0" i="0">
              <a:latin typeface="Consolas"/>
            </a:endParaRPr>
          </a:p>
          <a:p>
            <a:r>
              <a:rPr sz="1800" b="0" i="0" u="none"/>
              <a:t>Outcome: show what Copilot found in PR </a:t>
            </a:r>
            <a:r>
              <a:rPr sz="1800" b="0" i="0" u="none">
                <a:latin typeface="Consolas"/>
              </a:rPr>
              <a:t>#4</a:t>
            </a:r>
            <a:r>
              <a:rPr sz="1800" b="0" i="0" u="none"/>
              <a:t>, how humans resolved it, and how review findings feed better standards</a:t>
            </a:r>
            <a:endParaRPr sz="1800" b="0" i="0">
              <a:latin typeface="Consolas"/>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How the Review Flow Worked</a:t>
            </a:r>
          </a:p>
        </p:txBody>
      </p:sp>
      <p:sp>
        <p:nvSpPr>
          <p:cNvPr id="3" name="Content Placeholder 2"/>
          <p:cNvSpPr>
            <a:spLocks noGrp="1"/>
          </p:cNvSpPr>
          <p:nvPr>
            <p:ph idx="1"/>
          </p:nvPr>
        </p:nvSpPr>
        <p:spPr/>
        <p:txBody>
          <a:bodyPr wrap="square">
            <a:normAutofit/>
          </a:bodyPr>
          <a:lstStyle/>
          <a:p>
            <a:r>
              <a:rPr sz="2800" b="0" i="0" u="none"/>
              <a:t>Open the pull request and request Copilot review</a:t>
            </a:r>
            <a:endParaRPr sz="2800" b="0" i="0">
              <a:latin typeface="Arial"/>
            </a:endParaRPr>
          </a:p>
          <a:p>
            <a:r>
              <a:rPr sz="2800" b="0" i="0" u="none"/>
              <a:t>Copilot analyzes changed files and leaves review comments</a:t>
            </a:r>
            <a:endParaRPr sz="2800" b="0" i="0">
              <a:latin typeface="Arial"/>
            </a:endParaRPr>
          </a:p>
          <a:p>
            <a:r>
              <a:rPr sz="2800" b="0" i="0" u="none"/>
              <a:t>Review findings are grouped around correctness, maintainability, and compliance</a:t>
            </a:r>
            <a:endParaRPr sz="2800" b="0" i="0">
              <a:latin typeface="Arial"/>
            </a:endParaRPr>
          </a:p>
          <a:p>
            <a:r>
              <a:rPr sz="2800" b="0" i="0" u="none"/>
              <a:t>Humans still decide what to fix, how to fix it, and when to close comments</a:t>
            </a:r>
            <a:endParaRPr sz="2800" b="0" i="0">
              <a:latin typeface="Arial"/>
            </a:endParaRPr>
          </a:p>
          <a:p>
            <a:r>
              <a:rPr sz="2800" b="0" i="0" u="none"/>
              <a:t>Commit suggestions can accelerate straightforward cleanups</a:t>
            </a:r>
            <a:endParaRPr sz="2800" b="0" i="0">
              <a:latin typeface="Arial"/>
            </a:endParaRPr>
          </a:p>
        </p:txBody>
      </p:sp>
      <p:pic>
        <p:nvPicPr>
          <p:cNvPr id="4" name="Picture 3" descr="52a282e7a0ab9a1c907a6d53b78210127749186b.png"/>
          <p:cNvPicPr>
            <a:picLocks noChangeAspect="1"/>
          </p:cNvPicPr>
          <p:nvPr/>
        </p:nvPicPr>
        <p:blipFill>
          <a:blip r:embed="rId3"/>
          <a:stretch>
            <a:fillRect/>
          </a:stretch>
        </p:blipFill>
        <p:spPr>
          <a:xfrm>
            <a:off x="5852160" y="3291840"/>
            <a:ext cx="2926080" cy="186983"/>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Copilot Found in PR #4</a:t>
            </a:r>
          </a:p>
        </p:txBody>
      </p:sp>
      <p:graphicFrame>
        <p:nvGraphicFramePr>
          <p:cNvPr id="3" name="Table 2"/>
          <p:cNvGraphicFramePr>
            <a:graphicFrameLocks noGrp="1"/>
          </p:cNvGraphicFramePr>
          <p:nvPr/>
        </p:nvGraphicFramePr>
        <p:xfrm>
          <a:off x="1219200" y="1828800"/>
          <a:ext cx="9753600" cy="2743200"/>
        </p:xfrm>
        <a:graphic>
          <a:graphicData uri="http://schemas.openxmlformats.org/drawingml/2006/table">
            <a:tbl>
              <a:tblPr firstRow="1" bandRow="1">
                <a:tableStyleId>{5C22544A-7EE6-4342-B048-85BDC9FD1C3A}</a:tableStyleId>
              </a:tblPr>
              <a:tblGrid>
                <a:gridCol w="3251200">
                  <a:extLst>
                    <a:ext uri="{9D8B030D-6E8A-4147-A177-3AD203B41FA5}">
                      <a16:colId xmlns:a16="http://schemas.microsoft.com/office/drawing/2014/main" val="20000"/>
                    </a:ext>
                  </a:extLst>
                </a:gridCol>
                <a:gridCol w="3251200">
                  <a:extLst>
                    <a:ext uri="{9D8B030D-6E8A-4147-A177-3AD203B41FA5}">
                      <a16:colId xmlns:a16="http://schemas.microsoft.com/office/drawing/2014/main" val="20001"/>
                    </a:ext>
                  </a:extLst>
                </a:gridCol>
                <a:gridCol w="3251200">
                  <a:extLst>
                    <a:ext uri="{9D8B030D-6E8A-4147-A177-3AD203B41FA5}">
                      <a16:colId xmlns:a16="http://schemas.microsoft.com/office/drawing/2014/main" val="20002"/>
                    </a:ext>
                  </a:extLst>
                </a:gridCol>
              </a:tblGrid>
              <a:tr h="457200">
                <a:tc>
                  <a:txBody>
                    <a:bodyPr/>
                    <a:lstStyle/>
                    <a:p>
                      <a:pPr>
                        <a:buNone/>
                        <a:defRPr sz="1600" b="1">
                          <a:solidFill>
                            <a:schemeClr val="bg1"/>
                          </a:solidFill>
                        </a:defRPr>
                      </a:pPr>
                      <a:r>
                        <a:rPr sz="1600" b="0" i="0" u="none"/>
                        <a:t>Finding area</a:t>
                      </a:r>
                    </a:p>
                  </a:txBody>
                  <a:tcPr>
                    <a:solidFill>
                      <a:schemeClr val="accent4"/>
                    </a:solidFill>
                  </a:tcPr>
                </a:tc>
                <a:tc>
                  <a:txBody>
                    <a:bodyPr/>
                    <a:lstStyle/>
                    <a:p>
                      <a:pPr>
                        <a:buNone/>
                        <a:defRPr sz="1600" b="1">
                          <a:solidFill>
                            <a:schemeClr val="bg1"/>
                          </a:solidFill>
                        </a:defRPr>
                      </a:pPr>
                      <a:r>
                        <a:rPr sz="1600" b="0" i="0" u="none"/>
                        <a:t>Example issue</a:t>
                      </a:r>
                    </a:p>
                  </a:txBody>
                  <a:tcPr>
                    <a:solidFill>
                      <a:schemeClr val="accent4"/>
                    </a:solidFill>
                  </a:tcPr>
                </a:tc>
                <a:tc>
                  <a:txBody>
                    <a:bodyPr/>
                    <a:lstStyle/>
                    <a:p>
                      <a:pPr>
                        <a:buNone/>
                        <a:defRPr sz="1600" b="1">
                          <a:solidFill>
                            <a:schemeClr val="bg1"/>
                          </a:solidFill>
                        </a:defRPr>
                      </a:pPr>
                      <a:r>
                        <a:rPr sz="1600" b="0" i="0" u="none"/>
                        <a:t>Why it matters</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Unicode usage</a:t>
                      </a:r>
                    </a:p>
                  </a:txBody>
                  <a:tcPr>
                    <a:solidFill>
                      <a:schemeClr val="accent4">
                        <a:lumMod val="20000"/>
                        <a:lumOff val="80000"/>
                      </a:schemeClr>
                    </a:solidFill>
                  </a:tcPr>
                </a:tc>
                <a:tc>
                  <a:txBody>
                    <a:bodyPr/>
                    <a:lstStyle/>
                    <a:p>
                      <a:pPr>
                        <a:buNone/>
                        <a:defRPr sz="1600" b="0">
                          <a:solidFill>
                            <a:schemeClr val="tx1"/>
                          </a:solidFill>
                        </a:defRPr>
                      </a:pPr>
                      <a:r>
                        <a:rPr sz="1600" b="0" i="0" u="none"/>
                        <a:t>non-standard minus sign in comparisons</a:t>
                      </a:r>
                    </a:p>
                  </a:txBody>
                  <a:tcPr>
                    <a:solidFill>
                      <a:schemeClr val="accent4">
                        <a:lumMod val="20000"/>
                        <a:lumOff val="80000"/>
                      </a:schemeClr>
                    </a:solidFill>
                  </a:tcPr>
                </a:tc>
                <a:tc>
                  <a:txBody>
                    <a:bodyPr/>
                    <a:lstStyle/>
                    <a:p>
                      <a:pPr>
                        <a:buNone/>
                        <a:defRPr sz="1600" b="0">
                          <a:solidFill>
                            <a:schemeClr val="tx1"/>
                          </a:solidFill>
                        </a:defRPr>
                      </a:pPr>
                      <a:r>
                        <a:rPr sz="1600" b="0" i="0" u="none"/>
                        <a:t>can cause subtle behavior or readability issues</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State management</a:t>
                      </a:r>
                    </a:p>
                  </a:txBody>
                  <a:tcPr>
                    <a:solidFill>
                      <a:schemeClr val="accent4">
                        <a:lumMod val="8000"/>
                        <a:lumOff val="92000"/>
                      </a:schemeClr>
                    </a:solidFill>
                  </a:tcPr>
                </a:tc>
                <a:tc>
                  <a:txBody>
                    <a:bodyPr/>
                    <a:lstStyle/>
                    <a:p>
                      <a:pPr>
                        <a:buNone/>
                        <a:defRPr sz="1600" b="0">
                          <a:solidFill>
                            <a:schemeClr val="tx1"/>
                          </a:solidFill>
                        </a:defRPr>
                      </a:pPr>
                      <a:r>
                        <a:rPr sz="1600" b="0" i="0" u="none"/>
                        <a:t>clearing errors leaves expression tokens behind</a:t>
                      </a:r>
                    </a:p>
                  </a:txBody>
                  <a:tcPr>
                    <a:solidFill>
                      <a:schemeClr val="accent4">
                        <a:lumMod val="8000"/>
                        <a:lumOff val="92000"/>
                      </a:schemeClr>
                    </a:solidFill>
                  </a:tcPr>
                </a:tc>
                <a:tc>
                  <a:txBody>
                    <a:bodyPr/>
                    <a:lstStyle/>
                    <a:p>
                      <a:pPr>
                        <a:buNone/>
                        <a:defRPr sz="1600" b="0">
                          <a:solidFill>
                            <a:schemeClr val="tx1"/>
                          </a:solidFill>
                        </a:defRPr>
                      </a:pPr>
                      <a:r>
                        <a:rPr sz="1600" b="0" i="0" u="none"/>
                        <a:t>UI state becomes inconsistent</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Compliance</a:t>
                      </a:r>
                    </a:p>
                  </a:txBody>
                  <a:tcPr>
                    <a:solidFill>
                      <a:schemeClr val="accent4">
                        <a:lumMod val="20000"/>
                        <a:lumOff val="80000"/>
                      </a:schemeClr>
                    </a:solidFill>
                  </a:tcPr>
                </a:tc>
                <a:tc>
                  <a:txBody>
                    <a:bodyPr/>
                    <a:lstStyle/>
                    <a:p>
                      <a:pPr>
                        <a:buNone/>
                        <a:defRPr sz="1600" b="0">
                          <a:solidFill>
                            <a:schemeClr val="tx1"/>
                          </a:solidFill>
                        </a:defRPr>
                      </a:pPr>
                      <a:r>
                        <a:rPr sz="1600" b="0" i="0" u="none"/>
                        <a:t>AI provenance header missing</a:t>
                      </a:r>
                    </a:p>
                  </a:txBody>
                  <a:tcPr>
                    <a:solidFill>
                      <a:schemeClr val="accent4">
                        <a:lumMod val="20000"/>
                        <a:lumOff val="80000"/>
                      </a:schemeClr>
                    </a:solidFill>
                  </a:tcPr>
                </a:tc>
                <a:tc>
                  <a:txBody>
                    <a:bodyPr/>
                    <a:lstStyle/>
                    <a:p>
                      <a:pPr>
                        <a:buNone/>
                        <a:defRPr sz="1600" b="0">
                          <a:solidFill>
                            <a:schemeClr val="tx1"/>
                          </a:solidFill>
                        </a:defRPr>
                      </a:pPr>
                      <a:r>
                        <a:rPr sz="1600" b="0" i="0" u="none"/>
                        <a:t>repository policy violation</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0" i="0" u="none"/>
                        <a:t>Dead code</a:t>
                      </a:r>
                    </a:p>
                  </a:txBody>
                  <a:tcPr>
                    <a:solidFill>
                      <a:schemeClr val="accent4">
                        <a:lumMod val="8000"/>
                        <a:lumOff val="92000"/>
                      </a:schemeClr>
                    </a:solidFill>
                  </a:tcPr>
                </a:tc>
                <a:tc>
                  <a:txBody>
                    <a:bodyPr/>
                    <a:lstStyle/>
                    <a:p>
                      <a:pPr>
                        <a:buNone/>
                        <a:defRPr sz="1600" b="0">
                          <a:solidFill>
                            <a:schemeClr val="tx1"/>
                          </a:solidFill>
                        </a:defRPr>
                      </a:pPr>
                      <a:r>
                        <a:rPr sz="1600" b="0" i="0" u="none"/>
                        <a:t>unused constants and functions</a:t>
                      </a:r>
                    </a:p>
                  </a:txBody>
                  <a:tcPr>
                    <a:solidFill>
                      <a:schemeClr val="accent4">
                        <a:lumMod val="8000"/>
                        <a:lumOff val="92000"/>
                      </a:schemeClr>
                    </a:solidFill>
                  </a:tcPr>
                </a:tc>
                <a:tc>
                  <a:txBody>
                    <a:bodyPr/>
                    <a:lstStyle/>
                    <a:p>
                      <a:pPr>
                        <a:buNone/>
                        <a:defRPr sz="1600" b="0">
                          <a:solidFill>
                            <a:schemeClr val="tx1"/>
                          </a:solidFill>
                        </a:defRPr>
                      </a:pPr>
                      <a:r>
                        <a:rPr sz="1600" b="0" i="0" u="none"/>
                        <a:t>noise, confusion, and maintenance cost</a:t>
                      </a:r>
                    </a:p>
                  </a:txBody>
                  <a:tcPr>
                    <a:solidFill>
                      <a:schemeClr val="accent4">
                        <a:lumMod val="8000"/>
                        <a:lumOff val="92000"/>
                      </a:schemeClr>
                    </a:solidFill>
                  </a:tcPr>
                </a:tc>
                <a:extLst>
                  <a:ext uri="{0D108BD9-81ED-4DB2-BD59-A6C34878D82A}">
                    <a16:rowId xmlns:a16="http://schemas.microsoft.com/office/drawing/2014/main" val="10004"/>
                  </a:ext>
                </a:extLst>
              </a:tr>
              <a:tr h="457200">
                <a:tc>
                  <a:txBody>
                    <a:bodyPr/>
                    <a:lstStyle/>
                    <a:p>
                      <a:pPr>
                        <a:buNone/>
                        <a:defRPr sz="1600" b="0">
                          <a:solidFill>
                            <a:schemeClr val="tx1"/>
                          </a:solidFill>
                        </a:defRPr>
                      </a:pPr>
                      <a:r>
                        <a:rPr sz="1600" b="0" i="0" u="none"/>
                        <a:t>Testing gaps</a:t>
                      </a:r>
                    </a:p>
                  </a:txBody>
                  <a:tcPr>
                    <a:solidFill>
                      <a:schemeClr val="accent4">
                        <a:lumMod val="20000"/>
                        <a:lumOff val="80000"/>
                      </a:schemeClr>
                    </a:solidFill>
                  </a:tcPr>
                </a:tc>
                <a:tc>
                  <a:txBody>
                    <a:bodyPr/>
                    <a:lstStyle/>
                    <a:p>
                      <a:pPr>
                        <a:buNone/>
                        <a:defRPr sz="1600" b="0">
                          <a:solidFill>
                            <a:schemeClr val="tx1"/>
                          </a:solidFill>
                        </a:defRPr>
                      </a:pPr>
                      <a:r>
                        <a:rPr sz="1600" b="0" i="0" u="none"/>
                        <a:t>subtraction coverage called out</a:t>
                      </a:r>
                    </a:p>
                  </a:txBody>
                  <a:tcPr>
                    <a:solidFill>
                      <a:schemeClr val="accent4">
                        <a:lumMod val="20000"/>
                        <a:lumOff val="80000"/>
                      </a:schemeClr>
                    </a:solidFill>
                  </a:tcPr>
                </a:tc>
                <a:tc>
                  <a:txBody>
                    <a:bodyPr/>
                    <a:lstStyle/>
                    <a:p>
                      <a:pPr>
                        <a:buNone/>
                        <a:defRPr sz="1600" b="0">
                          <a:solidFill>
                            <a:schemeClr val="tx1"/>
                          </a:solidFill>
                        </a:defRPr>
                      </a:pPr>
                      <a:r>
                        <a:rPr sz="1600" b="0" i="0" u="none"/>
                        <a:t>bugs can slip through</a:t>
                      </a:r>
                    </a:p>
                  </a:txBody>
                  <a:tcPr>
                    <a:solidFill>
                      <a:schemeClr val="accent4">
                        <a:lumMod val="20000"/>
                        <a:lumOff val="80000"/>
                      </a:schemeClr>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250" b="0" i="0" u="none"/>
              <a:t>Code Review Findings: Correctness Problems</a:t>
            </a:r>
          </a:p>
        </p:txBody>
      </p:sp>
      <p:sp>
        <p:nvSpPr>
          <p:cNvPr id="3" name="Content Placeholder 2"/>
          <p:cNvSpPr>
            <a:spLocks noGrp="1"/>
          </p:cNvSpPr>
          <p:nvPr>
            <p:ph idx="1"/>
          </p:nvPr>
        </p:nvSpPr>
        <p:spPr/>
        <p:txBody>
          <a:bodyPr wrap="square">
            <a:normAutofit/>
          </a:bodyPr>
          <a:lstStyle/>
          <a:p>
            <a:pPr>
              <a:buNone/>
            </a:pPr>
            <a:r>
              <a:rPr sz="1800" b="1" i="0" u="none"/>
              <a:t>Unicode comparison issue</a:t>
            </a:r>
            <a:endParaRPr sz="1800" b="0" i="0">
              <a:latin typeface="Consolas"/>
            </a:endParaRPr>
          </a:p>
          <a:p>
            <a:pPr>
              <a:buNone/>
            </a:pPr>
            <a:endParaRPr sz="1800" b="0" i="0">
              <a:latin typeface="Consolas"/>
            </a:endParaRPr>
          </a:p>
          <a:p>
            <a:r>
              <a:rPr sz="1800" b="0" i="0" u="none"/>
              <a:t>review recommended replacing a Unicode minus character with the standard ASCII </a:t>
            </a:r>
            <a:r>
              <a:rPr sz="1800" b="0" i="0" u="none">
                <a:latin typeface="Consolas"/>
              </a:rPr>
              <a:t>-</a:t>
            </a:r>
            <a:endParaRPr sz="1800" b="0" i="0">
              <a:latin typeface="Consolas"/>
            </a:endParaRPr>
          </a:p>
          <a:p>
            <a:r>
              <a:rPr sz="1800" b="0" i="0" u="none"/>
              <a:t>consistent character usage improves safety and maintainability</a:t>
            </a:r>
            <a:endParaRPr sz="1800" b="0" i="0">
              <a:latin typeface="Consolas"/>
            </a:endParaRPr>
          </a:p>
          <a:p>
            <a:pPr>
              <a:buNone/>
            </a:pPr>
            <a:endParaRPr sz="1800" b="0" i="0">
              <a:latin typeface="Consolas"/>
            </a:endParaRPr>
          </a:p>
          <a:p>
            <a:pPr>
              <a:buNone/>
            </a:pPr>
            <a:r>
              <a:rPr sz="1800" b="1" i="0" u="none"/>
              <a:t>State management issue</a:t>
            </a:r>
            <a:endParaRPr sz="1800" b="0" i="0">
              <a:latin typeface="Consolas"/>
            </a:endParaRPr>
          </a:p>
          <a:p>
            <a:pPr>
              <a:buNone/>
            </a:pPr>
            <a:endParaRPr sz="1800" b="0" i="0">
              <a:latin typeface="Consolas"/>
            </a:endParaRPr>
          </a:p>
          <a:p>
            <a:r>
              <a:rPr sz="1800" b="0" i="0" u="none"/>
              <a:t>clearing the error state did not fully reset expression tokens</a:t>
            </a:r>
            <a:endParaRPr sz="1800" b="0" i="0">
              <a:latin typeface="Consolas"/>
            </a:endParaRPr>
          </a:p>
          <a:p>
            <a:r>
              <a:rPr sz="1800" b="0" i="0" u="none"/>
              <a:t>partial reset behavior can leave stale calculation state behind</a:t>
            </a:r>
            <a:endParaRPr sz="1800" b="0" i="0">
              <a:latin typeface="Consolas"/>
            </a:endParaRPr>
          </a:p>
        </p:txBody>
      </p:sp>
      <p:pic>
        <p:nvPicPr>
          <p:cNvPr id="4" name="Picture 3" descr="f1363758e22f6e9290401f88e0371603d50b8e33.png"/>
          <p:cNvPicPr>
            <a:picLocks noChangeAspect="1"/>
          </p:cNvPicPr>
          <p:nvPr/>
        </p:nvPicPr>
        <p:blipFill>
          <a:blip r:embed="rId3"/>
          <a:stretch>
            <a:fillRect/>
          </a:stretch>
        </p:blipFill>
        <p:spPr>
          <a:xfrm>
            <a:off x="5852160" y="3291840"/>
            <a:ext cx="2926080" cy="3371959"/>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050" b="0" i="0" u="none"/>
              <a:t>Code Review Findings: Compliance and Cleanup</a:t>
            </a:r>
          </a:p>
        </p:txBody>
      </p:sp>
      <p:sp>
        <p:nvSpPr>
          <p:cNvPr id="3" name="Content Placeholder 2"/>
          <p:cNvSpPr>
            <a:spLocks noGrp="1"/>
          </p:cNvSpPr>
          <p:nvPr>
            <p:ph idx="1"/>
          </p:nvPr>
        </p:nvSpPr>
        <p:spPr/>
        <p:txBody>
          <a:bodyPr wrap="square">
            <a:noAutofit/>
          </a:bodyPr>
          <a:lstStyle/>
          <a:p>
            <a:r>
              <a:rPr sz="1600" b="0" i="0" u="none"/>
              <a:t>Previously compliant files were missing required AI provenance headers</a:t>
            </a:r>
            <a:endParaRPr sz="1600" b="0" i="0">
              <a:latin typeface="Arial"/>
            </a:endParaRPr>
          </a:p>
          <a:p>
            <a:r>
              <a:rPr sz="1600" b="0" i="0" u="none"/>
              <a:t>Unused constants and helper functions were identified as dead code</a:t>
            </a:r>
            <a:endParaRPr sz="1600" b="0" i="0">
              <a:latin typeface="Arial"/>
            </a:endParaRPr>
          </a:p>
          <a:p>
            <a:r>
              <a:rPr sz="1600" b="0" i="0" u="none"/>
              <a:t>Review also noted subtraction test coverage gaps</a:t>
            </a:r>
            <a:endParaRPr sz="1600" b="0" i="0">
              <a:latin typeface="Arial"/>
            </a:endParaRPr>
          </a:p>
          <a:p>
            <a:r>
              <a:rPr sz="1600" b="0" i="0" u="none"/>
              <a:t>Together, these findings show that review should check policy, clarity, and verification, not just functionality</a:t>
            </a:r>
            <a:endParaRPr sz="1600" b="0" i="0">
              <a:latin typeface="Arial"/>
            </a:endParaRPr>
          </a:p>
          <a:p>
            <a:pPr>
              <a:buNone/>
            </a:pPr>
            <a:endParaRPr sz="1600" b="0" i="0">
              <a:latin typeface="Arial"/>
            </a:endParaRPr>
          </a:p>
          <a:p>
            <a:pPr>
              <a:buNone/>
            </a:pPr>
            <a:r>
              <a:rPr sz="1600" b="1" i="0" u="none"/>
              <a:t>Review lens</a:t>
            </a:r>
            <a:endParaRPr sz="1600" b="0" i="0">
              <a:latin typeface="Arial"/>
            </a:endParaRPr>
          </a:p>
          <a:p>
            <a:pPr>
              <a:buNone/>
            </a:pPr>
            <a:endParaRPr sz="1600" b="0" i="0">
              <a:latin typeface="Arial"/>
            </a:endParaRPr>
          </a:p>
          <a:p>
            <a:pPr>
              <a:buNone/>
            </a:pPr>
            <a:r>
              <a:rPr sz="1600" b="0" i="0" u="none"/>
              <a:t>1. Does the code work?</a:t>
            </a:r>
            <a:endParaRPr sz="1600" b="0" i="0">
              <a:latin typeface="Arial"/>
            </a:endParaRPr>
          </a:p>
          <a:p>
            <a:pPr>
              <a:buNone/>
            </a:pPr>
            <a:r>
              <a:rPr sz="1600" b="0" i="0" u="none"/>
              <a:t>2. Does it follow repository rules?</a:t>
            </a:r>
            <a:endParaRPr sz="1600" b="0" i="0">
              <a:latin typeface="Arial"/>
            </a:endParaRPr>
          </a:p>
          <a:p>
            <a:pPr>
              <a:buNone/>
            </a:pPr>
            <a:r>
              <a:rPr sz="1600" b="0" i="0" u="none"/>
              <a:t>3. Is there unnecessary code left behind?</a:t>
            </a:r>
            <a:endParaRPr sz="1600" b="0" i="0">
              <a:latin typeface="Arial"/>
            </a:endParaRPr>
          </a:p>
          <a:p>
            <a:pPr>
              <a:buNone/>
            </a:pPr>
            <a:r>
              <a:rPr sz="1600" b="0" i="0" u="none"/>
              <a:t>4. Do tests prove the risky behavior?</a:t>
            </a:r>
            <a:endParaRPr sz="1600" b="0" i="0">
              <a:latin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200" b="0" i="0" u="none"/>
              <a:t>What We Observed About the Review Process</a:t>
            </a:r>
          </a:p>
        </p:txBody>
      </p:sp>
      <p:sp>
        <p:nvSpPr>
          <p:cNvPr id="3" name="Content Placeholder 2"/>
          <p:cNvSpPr>
            <a:spLocks noGrp="1"/>
          </p:cNvSpPr>
          <p:nvPr>
            <p:ph idx="1"/>
          </p:nvPr>
        </p:nvSpPr>
        <p:spPr/>
        <p:txBody>
          <a:bodyPr wrap="square">
            <a:noAutofit/>
          </a:bodyPr>
          <a:lstStyle/>
          <a:p>
            <a:r>
              <a:rPr sz="2350" b="0" i="0" u="none"/>
              <a:t>Copilot's visible "thinking process" helped explain why comments were being made</a:t>
            </a:r>
            <a:endParaRPr sz="2350" b="0" i="0">
              <a:latin typeface="Arial"/>
            </a:endParaRPr>
          </a:p>
          <a:p>
            <a:r>
              <a:rPr sz="2350" b="0" i="0" u="none"/>
              <a:t>Review output still required manual interpretation and manual resolution</a:t>
            </a:r>
            <a:endParaRPr sz="2350" b="0" i="0">
              <a:latin typeface="Arial"/>
            </a:endParaRPr>
          </a:p>
          <a:p>
            <a:r>
              <a:rPr sz="2350" b="0" i="0" u="none"/>
              <a:t>The review became a teaching tool, not just a defect list</a:t>
            </a:r>
            <a:endParaRPr sz="2350" b="0" i="0">
              <a:latin typeface="Arial"/>
            </a:endParaRPr>
          </a:p>
          <a:p>
            <a:r>
              <a:rPr sz="2350" b="0" i="0" u="none"/>
              <a:t>Some feedback suggested improvements to instruction files, not only to source files</a:t>
            </a:r>
            <a:endParaRPr sz="2350" b="0" i="0">
              <a:latin typeface="Arial"/>
            </a:endParaRPr>
          </a:p>
          <a:p>
            <a:pPr>
              <a:buNone/>
            </a:pPr>
            <a:endParaRPr sz="2350" b="0" i="0">
              <a:latin typeface="Arial"/>
            </a:endParaRPr>
          </a:p>
          <a:p>
            <a:pPr>
              <a:buNone/>
            </a:pPr>
            <a:r>
              <a:rPr sz="2350" b="1" i="0" u="none"/>
              <a:t>Important point</a:t>
            </a:r>
            <a:r>
              <a:rPr sz="2350" b="0" i="0" u="none"/>
              <a:t>: AI review assists judgment, but it does not replace reviewer accountability.</a:t>
            </a:r>
            <a:endParaRPr sz="2350" b="0" i="0">
              <a:latin typeface="Aria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100" b="0" i="0" u="none"/>
              <a:t>Use Review Output to Improve the Instructions</a:t>
            </a:r>
          </a:p>
        </p:txBody>
      </p:sp>
      <p:sp>
        <p:nvSpPr>
          <p:cNvPr id="3" name="Content Placeholder 2"/>
          <p:cNvSpPr>
            <a:spLocks noGrp="1"/>
          </p:cNvSpPr>
          <p:nvPr>
            <p:ph idx="1"/>
          </p:nvPr>
        </p:nvSpPr>
        <p:spPr/>
        <p:txBody>
          <a:bodyPr wrap="square">
            <a:noAutofit/>
          </a:bodyPr>
          <a:lstStyle/>
          <a:p>
            <a:r>
              <a:rPr sz="2350" b="0" i="0" u="none"/>
              <a:t>Tighten instruction files so recurring issues are prevented earlier</a:t>
            </a:r>
            <a:endParaRPr sz="2350" b="0" i="0">
              <a:latin typeface="Arial"/>
            </a:endParaRPr>
          </a:p>
          <a:p>
            <a:r>
              <a:rPr sz="2350" b="0" i="0" u="none"/>
              <a:t>Add explicit rules for ASCII-safe operators and character usage</a:t>
            </a:r>
            <a:endParaRPr sz="2350" b="0" i="0">
              <a:latin typeface="Arial"/>
            </a:endParaRPr>
          </a:p>
          <a:p>
            <a:r>
              <a:rPr sz="2350" b="0" i="0" u="none"/>
              <a:t>Clarify state reset expectations for error handling and token cleanup</a:t>
            </a:r>
            <a:endParaRPr sz="2350" b="0" i="0">
              <a:latin typeface="Arial"/>
            </a:endParaRPr>
          </a:p>
          <a:p>
            <a:r>
              <a:rPr sz="2350" b="0" i="0" u="none"/>
              <a:t>Reinforce provenance requirements where generated files are expected</a:t>
            </a:r>
            <a:endParaRPr sz="2350" b="0" i="0">
              <a:latin typeface="Arial"/>
            </a:endParaRPr>
          </a:p>
          <a:p>
            <a:r>
              <a:rPr sz="2350" b="0" i="0" u="none"/>
              <a:t>Expand tests around risky operations such as subtraction and clear-state behavior</a:t>
            </a:r>
            <a:endParaRPr sz="2350" b="0" i="0">
              <a:latin typeface="Arial"/>
            </a:endParaRPr>
          </a:p>
          <a:p>
            <a:pPr>
              <a:buNone/>
            </a:pPr>
            <a:endParaRPr sz="2350" b="0" i="0">
              <a:latin typeface="Arial"/>
            </a:endParaRPr>
          </a:p>
          <a:p>
            <a:pPr>
              <a:buNone/>
            </a:pPr>
            <a:r>
              <a:rPr sz="2350" b="1" i="0" u="none"/>
              <a:t>Bottom line</a:t>
            </a:r>
            <a:r>
              <a:rPr sz="2350" b="0" i="0" u="none"/>
              <a:t>: the best outcome is not only fixing the PR, but improving the prompts and instructions that shape future PRs.</a:t>
            </a:r>
            <a:endParaRPr sz="2350" b="0" i="0">
              <a:latin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4050" b="0" i="0" u="none"/>
              <a:t>gh pr merge --squash (and Mean It)</a:t>
            </a:r>
          </a:p>
        </p:txBody>
      </p:sp>
      <p:sp>
        <p:nvSpPr>
          <p:cNvPr id="3" name="Content Placeholder 2"/>
          <p:cNvSpPr>
            <a:spLocks noGrp="1"/>
          </p:cNvSpPr>
          <p:nvPr>
            <p:ph idx="1"/>
          </p:nvPr>
        </p:nvSpPr>
        <p:spPr/>
        <p:txBody>
          <a:bodyPr wrap="square">
            <a:normAutofit/>
          </a:bodyPr>
          <a:lstStyle/>
          <a:p>
            <a:r>
              <a:rPr sz="1800" b="0" i="0" u="none"/>
              <a:t>Section focus: managing pull requests with GitHub settings, IDE tooling, and the </a:t>
            </a:r>
            <a:r>
              <a:rPr sz="1800" b="0" i="0" u="none">
                <a:latin typeface="Consolas"/>
              </a:rPr>
              <a:t>gh</a:t>
            </a:r>
            <a:r>
              <a:rPr sz="1800" b="0" i="0" u="none"/>
              <a:t> CLI</a:t>
            </a:r>
            <a:endParaRPr sz="1800" b="0" i="0">
              <a:latin typeface="Consolas"/>
            </a:endParaRPr>
          </a:p>
          <a:p>
            <a:r>
              <a:rPr sz="1800" b="0" i="0" u="none"/>
              <a:t>Outcome: show how merge policy, review tools, and token permissions shape the day-to-day PR workflow</a:t>
            </a:r>
            <a:endParaRPr sz="1800" b="0" i="0">
              <a:latin typeface="Consolas"/>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Start with the Merge Strategy</a:t>
            </a:r>
          </a:p>
        </p:txBody>
      </p:sp>
      <p:sp>
        <p:nvSpPr>
          <p:cNvPr id="3" name="Content Placeholder 2"/>
          <p:cNvSpPr>
            <a:spLocks noGrp="1"/>
          </p:cNvSpPr>
          <p:nvPr>
            <p:ph idx="1"/>
          </p:nvPr>
        </p:nvSpPr>
        <p:spPr/>
        <p:txBody>
          <a:bodyPr wrap="square">
            <a:normAutofit/>
          </a:bodyPr>
          <a:lstStyle/>
          <a:p>
            <a:r>
              <a:rPr sz="2800" b="0" i="0" u="none"/>
              <a:t>Decide whether the repository defaults to </a:t>
            </a:r>
            <a:r>
              <a:rPr sz="2800" b="1" i="0" u="none"/>
              <a:t>squash merge</a:t>
            </a:r>
            <a:r>
              <a:rPr sz="2800" b="0" i="0" u="none"/>
              <a:t> or </a:t>
            </a:r>
            <a:r>
              <a:rPr sz="2800" b="1" i="0" u="none"/>
              <a:t>merge commit</a:t>
            </a:r>
            <a:endParaRPr sz="2800" b="0" i="0">
              <a:latin typeface="Arial"/>
            </a:endParaRPr>
          </a:p>
          <a:p>
            <a:r>
              <a:rPr sz="2800" b="0" i="0" u="none"/>
              <a:t>Squash merge keeps history compact and easier to scan</a:t>
            </a:r>
            <a:endParaRPr sz="2800" b="0" i="0">
              <a:latin typeface="Arial"/>
            </a:endParaRPr>
          </a:p>
          <a:p>
            <a:r>
              <a:rPr sz="2800" b="0" i="0" u="none"/>
              <a:t>Merge commits preserve the exact branch history and commit grouping</a:t>
            </a:r>
            <a:endParaRPr sz="2800" b="0" i="0">
              <a:latin typeface="Arial"/>
            </a:endParaRPr>
          </a:p>
          <a:p>
            <a:r>
              <a:rPr sz="2800" b="0" i="0" u="none"/>
              <a:t>This choice lives in GitHub repository pull request settings</a:t>
            </a:r>
            <a:endParaRPr sz="2800" b="0" i="0">
              <a:latin typeface="Arial"/>
            </a:endParaRPr>
          </a:p>
        </p:txBody>
      </p:sp>
      <p:pic>
        <p:nvPicPr>
          <p:cNvPr id="4" name="Picture 3" descr="51e191e73f7a80f04421fd4618fa0d1135f757f9.png"/>
          <p:cNvPicPr>
            <a:picLocks noChangeAspect="1"/>
          </p:cNvPicPr>
          <p:nvPr/>
        </p:nvPicPr>
        <p:blipFill>
          <a:blip r:embed="rId3"/>
          <a:stretch>
            <a:fillRect/>
          </a:stretch>
        </p:blipFill>
        <p:spPr>
          <a:xfrm>
            <a:off x="5852160" y="3291840"/>
            <a:ext cx="2926080" cy="598056"/>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4250" b="0" i="0" u="none"/>
              <a:t>Use the Right PR Tools for Context</a:t>
            </a:r>
          </a:p>
        </p:txBody>
      </p:sp>
      <p:sp>
        <p:nvSpPr>
          <p:cNvPr id="3" name="Content Placeholder 2"/>
          <p:cNvSpPr>
            <a:spLocks noGrp="1"/>
          </p:cNvSpPr>
          <p:nvPr>
            <p:ph idx="1"/>
          </p:nvPr>
        </p:nvSpPr>
        <p:spPr/>
        <p:txBody>
          <a:bodyPr wrap="square">
            <a:normAutofit/>
          </a:bodyPr>
          <a:lstStyle/>
          <a:p>
            <a:r>
              <a:rPr sz="2800" b="0" i="0" u="none"/>
              <a:t>The </a:t>
            </a:r>
            <a:r>
              <a:rPr sz="2800" b="1" i="0" u="none"/>
              <a:t>GitHub Pull Requests</a:t>
            </a:r>
            <a:r>
              <a:rPr sz="2800" b="0" i="0" u="none"/>
              <a:t> extension for VS Code keeps PR context inside the IDE</a:t>
            </a:r>
            <a:endParaRPr sz="2800" b="0" i="0">
              <a:latin typeface="Arial"/>
            </a:endParaRPr>
          </a:p>
          <a:p>
            <a:r>
              <a:rPr sz="2800" b="0" i="0" u="none"/>
              <a:t>Viewing PRs in the editor reduces browser switching</a:t>
            </a:r>
            <a:endParaRPr sz="2800" b="0" i="0">
              <a:latin typeface="Arial"/>
            </a:endParaRPr>
          </a:p>
          <a:p>
            <a:r>
              <a:rPr sz="2800" b="0" i="0" u="none"/>
              <a:t>Local code, review comments, and changed files are easier to compare side by side</a:t>
            </a:r>
            <a:endParaRPr sz="2800" b="0" i="0">
              <a:latin typeface="Arial"/>
            </a:endParaRPr>
          </a:p>
          <a:p>
            <a:r>
              <a:rPr sz="2800" b="0" i="0" u="none"/>
              <a:t>IDE-based review is especially helpful when debugging comment context</a:t>
            </a:r>
            <a:endParaRPr sz="2800" b="0" i="0">
              <a:latin typeface="Arial"/>
            </a:endParaRPr>
          </a:p>
        </p:txBody>
      </p:sp>
      <p:pic>
        <p:nvPicPr>
          <p:cNvPr id="4" name="Picture 3" descr="5a892add1d2f2c8346c30d21ac26d07720ca28a4.png"/>
          <p:cNvPicPr>
            <a:picLocks noChangeAspect="1"/>
          </p:cNvPicPr>
          <p:nvPr/>
        </p:nvPicPr>
        <p:blipFill>
          <a:blip r:embed="rId3"/>
          <a:stretch>
            <a:fillRect/>
          </a:stretch>
        </p:blipFill>
        <p:spPr>
          <a:xfrm>
            <a:off x="5852160" y="3291840"/>
            <a:ext cx="2926080" cy="1374071"/>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4250" b="0" i="0" u="none"/>
              <a:t>Use the CLI for PR Comment Work</a:t>
            </a:r>
          </a:p>
        </p:txBody>
      </p:sp>
      <p:sp>
        <p:nvSpPr>
          <p:cNvPr id="3" name="Content Placeholder 2"/>
          <p:cNvSpPr>
            <a:spLocks noGrp="1"/>
          </p:cNvSpPr>
          <p:nvPr>
            <p:ph idx="1"/>
          </p:nvPr>
        </p:nvSpPr>
        <p:spPr/>
        <p:txBody>
          <a:bodyPr wrap="square">
            <a:normAutofit/>
          </a:bodyPr>
          <a:lstStyle/>
          <a:p>
            <a:r>
              <a:rPr sz="1800" b="0" i="0" u="none"/>
              <a:t>The </a:t>
            </a:r>
            <a:r>
              <a:rPr sz="1800" b="0" i="0" u="none">
                <a:latin typeface="Consolas"/>
              </a:rPr>
              <a:t>gh</a:t>
            </a:r>
            <a:r>
              <a:rPr sz="1800" b="0" i="0" u="none"/>
              <a:t> CLI can support PR comment and review workflows from the terminal</a:t>
            </a:r>
            <a:endParaRPr sz="1800" b="0" i="0">
              <a:latin typeface="Consolas"/>
            </a:endParaRPr>
          </a:p>
          <a:p>
            <a:r>
              <a:rPr sz="1800" b="0" i="0" u="none"/>
              <a:t>Team members explored </a:t>
            </a:r>
            <a:r>
              <a:rPr sz="1800" b="0" i="0" u="none">
                <a:latin typeface="Consolas"/>
              </a:rPr>
              <a:t>gh pr comment</a:t>
            </a:r>
            <a:r>
              <a:rPr sz="1800" b="0" i="0" u="none"/>
              <a:t> commands for practical resolution workflows</a:t>
            </a:r>
            <a:endParaRPr sz="1800" b="0" i="0">
              <a:latin typeface="Consolas"/>
            </a:endParaRPr>
          </a:p>
          <a:p>
            <a:r>
              <a:rPr sz="1800" b="0" i="0" u="none"/>
              <a:t>CLI-based actions are useful when scripting or avoiding extra UI navigation</a:t>
            </a:r>
            <a:endParaRPr sz="1800" b="0" i="0">
              <a:latin typeface="Consolas"/>
            </a:endParaRPr>
          </a:p>
          <a:p>
            <a:r>
              <a:rPr sz="1800" b="0" i="0" u="none"/>
              <a:t>Not every review action is equally convenient or permitted through the CLI</a:t>
            </a:r>
            <a:endParaRPr sz="1800" b="0" i="0">
              <a:latin typeface="Consolas"/>
            </a:endParaRPr>
          </a:p>
          <a:p>
            <a:pPr>
              <a:buNone/>
            </a:pPr>
            <a:endParaRPr sz="1800" b="0" i="0">
              <a:latin typeface="Consolas"/>
            </a:endParaRPr>
          </a:p>
          <a:p>
            <a:pPr>
              <a:buNone/>
            </a:pPr>
            <a:r>
              <a:rPr sz="1800" b="1" i="0" u="none"/>
              <a:t>Typical CLI goal</a:t>
            </a:r>
            <a:endParaRPr sz="1800" b="0" i="0">
              <a:latin typeface="Consolas"/>
            </a:endParaRPr>
          </a:p>
          <a:p>
            <a:pPr>
              <a:buNone/>
            </a:pPr>
            <a:endParaRPr sz="1800" b="0" i="0">
              <a:latin typeface="Consolas"/>
            </a:endParaRPr>
          </a:p>
          <a:p>
            <a:r>
              <a:rPr sz="1800" b="0" i="0" u="none"/>
              <a:t>inspect PR status</a:t>
            </a:r>
            <a:endParaRPr sz="1800" b="0" i="0">
              <a:latin typeface="Consolas"/>
            </a:endParaRPr>
          </a:p>
          <a:p>
            <a:r>
              <a:rPr sz="1800" b="0" i="0" u="none"/>
              <a:t>add comments</a:t>
            </a:r>
            <a:endParaRPr sz="1800" b="0" i="0">
              <a:latin typeface="Consolas"/>
            </a:endParaRPr>
          </a:p>
          <a:p>
            <a:r>
              <a:rPr sz="1800" b="0" i="0" u="none"/>
              <a:t>help coordinate comment resolution</a:t>
            </a:r>
            <a:endParaRPr sz="1800" b="0" i="0">
              <a:latin typeface="Consolas"/>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2800" b="0" i="0" u="none"/>
              <a:t>Request Copilot Review and Then Triage the Output</a:t>
            </a:r>
          </a:p>
        </p:txBody>
      </p:sp>
      <p:sp>
        <p:nvSpPr>
          <p:cNvPr id="3" name="Content Placeholder 2"/>
          <p:cNvSpPr>
            <a:spLocks noGrp="1"/>
          </p:cNvSpPr>
          <p:nvPr>
            <p:ph idx="1"/>
          </p:nvPr>
        </p:nvSpPr>
        <p:spPr/>
        <p:txBody>
          <a:bodyPr wrap="square">
            <a:normAutofit/>
          </a:bodyPr>
          <a:lstStyle/>
          <a:p>
            <a:r>
              <a:rPr sz="2800" b="0" i="0" u="none"/>
              <a:t>Copilot code review can be requested from the GitHub web interface</a:t>
            </a:r>
            <a:endParaRPr sz="2800" b="0" i="0">
              <a:latin typeface="Arial"/>
            </a:endParaRPr>
          </a:p>
          <a:p>
            <a:r>
              <a:rPr sz="2800" b="0" i="0" u="none"/>
              <a:t>After review arrives, teams can use browser, IDE, or CLI tools to manage follow-up work</a:t>
            </a:r>
            <a:endParaRPr sz="2800" b="0" i="0">
              <a:latin typeface="Arial"/>
            </a:endParaRPr>
          </a:p>
          <a:p>
            <a:r>
              <a:rPr sz="2800" b="0" i="0" u="none"/>
              <a:t>Good workflow means choosing the best tool for each step, not forcing one interface for everything</a:t>
            </a:r>
            <a:endParaRPr sz="2800" b="0" i="0">
              <a:latin typeface="Arial"/>
            </a:endParaRPr>
          </a:p>
          <a:p>
            <a:r>
              <a:rPr sz="2800" b="0" i="0" u="none"/>
              <a:t>Review handling still depends on repository settings and auth permissions</a:t>
            </a:r>
            <a:endParaRPr sz="2800" b="0" i="0">
              <a:latin typeface="Arial"/>
            </a:endParaRPr>
          </a:p>
        </p:txBody>
      </p:sp>
      <p:pic>
        <p:nvPicPr>
          <p:cNvPr id="4" name="Picture 3" descr="db274344fcb5b369f3f1ec561663d8b8e83b6a35.png"/>
          <p:cNvPicPr>
            <a:picLocks noChangeAspect="1"/>
          </p:cNvPicPr>
          <p:nvPr/>
        </p:nvPicPr>
        <p:blipFill>
          <a:blip r:embed="rId3"/>
          <a:stretch>
            <a:fillRect/>
          </a:stretch>
        </p:blipFill>
        <p:spPr>
          <a:xfrm>
            <a:off x="5852160" y="3291840"/>
            <a:ext cx="2926080" cy="844704"/>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500" b="0" i="0" u="none"/>
              <a:t>Permissions Can Block the Best Workflow</a:t>
            </a:r>
          </a:p>
        </p:txBody>
      </p:sp>
      <p:sp>
        <p:nvSpPr>
          <p:cNvPr id="3" name="Content Placeholder 2"/>
          <p:cNvSpPr>
            <a:spLocks noGrp="1"/>
          </p:cNvSpPr>
          <p:nvPr>
            <p:ph idx="1"/>
          </p:nvPr>
        </p:nvSpPr>
        <p:spPr/>
        <p:txBody>
          <a:bodyPr wrap="square">
            <a:noAutofit/>
          </a:bodyPr>
          <a:lstStyle/>
          <a:p>
            <a:r>
              <a:rPr sz="2000" b="0" i="0" u="none"/>
              <a:t>Personal access token scopes determine what CLI operations are allowed</a:t>
            </a:r>
            <a:endParaRPr sz="2000" b="0" i="0">
              <a:latin typeface="Arial"/>
            </a:endParaRPr>
          </a:p>
          <a:p>
            <a:r>
              <a:rPr sz="2000" b="0" i="0" u="none"/>
              <a:t>Insufficient permissions can prevent review-related commands from working</a:t>
            </a:r>
            <a:endParaRPr sz="2000" b="0" i="0">
              <a:latin typeface="Arial"/>
            </a:endParaRPr>
          </a:p>
          <a:p>
            <a:r>
              <a:rPr sz="2000" b="0" i="0" u="none"/>
              <a:t>Teams discussed </a:t>
            </a:r>
            <a:r>
              <a:rPr sz="2000" b="1" i="0" u="none"/>
              <a:t>classic tokens</a:t>
            </a:r>
            <a:r>
              <a:rPr sz="2000" b="0" i="0" u="none"/>
              <a:t> versus </a:t>
            </a:r>
            <a:r>
              <a:rPr sz="2000" b="1" i="0" u="none"/>
              <a:t>fine-grained tokens</a:t>
            </a:r>
            <a:endParaRPr sz="2000" b="0" i="0">
              <a:latin typeface="Arial"/>
            </a:endParaRPr>
          </a:p>
          <a:p>
            <a:r>
              <a:rPr sz="2000" b="0" i="0" u="none"/>
              <a:t>Proper permissions are required before CLI review features become reliable</a:t>
            </a:r>
            <a:endParaRPr sz="2000" b="0" i="0">
              <a:latin typeface="Arial"/>
            </a:endParaRPr>
          </a:p>
          <a:p>
            <a:pPr>
              <a:buNone/>
            </a:pPr>
            <a:endParaRPr sz="2000" b="0" i="0">
              <a:latin typeface="Arial"/>
            </a:endParaRPr>
          </a:p>
          <a:p>
            <a:pPr>
              <a:buNone/>
            </a:pPr>
            <a:r>
              <a:rPr sz="2000" b="1" i="0" u="none"/>
              <a:t>Common friction points</a:t>
            </a:r>
            <a:endParaRPr sz="2000" b="0" i="0">
              <a:latin typeface="Arial"/>
            </a:endParaRPr>
          </a:p>
          <a:p>
            <a:pPr>
              <a:buNone/>
            </a:pPr>
            <a:endParaRPr sz="2000" b="0" i="0">
              <a:latin typeface="Arial"/>
            </a:endParaRPr>
          </a:p>
          <a:p>
            <a:pPr>
              <a:buNone/>
            </a:pPr>
            <a:r>
              <a:rPr sz="2000" b="0" i="0" u="none"/>
              <a:t>1. token lacks needed repo or review scope</a:t>
            </a:r>
            <a:endParaRPr sz="2000" b="0" i="0">
              <a:latin typeface="Arial"/>
            </a:endParaRPr>
          </a:p>
          <a:p>
            <a:pPr>
              <a:buNone/>
            </a:pPr>
            <a:r>
              <a:rPr sz="2000" b="0" i="0" u="none"/>
              <a:t>2. command works in theory but fails in practice</a:t>
            </a:r>
            <a:endParaRPr sz="2000" b="0" i="0">
              <a:latin typeface="Arial"/>
            </a:endParaRPr>
          </a:p>
          <a:p>
            <a:pPr>
              <a:buNone/>
            </a:pPr>
            <a:r>
              <a:rPr sz="2000" b="0" i="0" u="none"/>
              <a:t>3. workflow changes depending on auth model</a:t>
            </a:r>
            <a:endParaRPr sz="2000" b="0" i="0">
              <a:latin typeface="Aria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600" b="0" i="0" u="none"/>
              <a:t>Practical Takeaways for PR Management</a:t>
            </a:r>
          </a:p>
        </p:txBody>
      </p:sp>
      <p:sp>
        <p:nvSpPr>
          <p:cNvPr id="3" name="Content Placeholder 2"/>
          <p:cNvSpPr>
            <a:spLocks noGrp="1"/>
          </p:cNvSpPr>
          <p:nvPr>
            <p:ph idx="1"/>
          </p:nvPr>
        </p:nvSpPr>
        <p:spPr/>
        <p:txBody>
          <a:bodyPr wrap="square">
            <a:normAutofit/>
          </a:bodyPr>
          <a:lstStyle/>
          <a:p>
            <a:r>
              <a:rPr sz="1800" b="0" i="0" u="none"/>
              <a:t>Choose a merge strategy intentionally and document it</a:t>
            </a:r>
            <a:endParaRPr sz="1800" b="0" i="0">
              <a:latin typeface="Consolas"/>
            </a:endParaRPr>
          </a:p>
          <a:p>
            <a:r>
              <a:rPr sz="1800" b="0" i="0" u="none"/>
              <a:t>Use the VS Code PR extension when local code context matters</a:t>
            </a:r>
            <a:endParaRPr sz="1800" b="0" i="0">
              <a:latin typeface="Consolas"/>
            </a:endParaRPr>
          </a:p>
          <a:p>
            <a:r>
              <a:rPr sz="1800" b="0" i="0" u="none"/>
              <a:t>Use </a:t>
            </a:r>
            <a:r>
              <a:rPr sz="1800" b="0" i="0" u="none">
                <a:latin typeface="Consolas"/>
              </a:rPr>
              <a:t>gh</a:t>
            </a:r>
            <a:r>
              <a:rPr sz="1800" b="0" i="0" u="none"/>
              <a:t> where it reduces repetitive PR management work</a:t>
            </a:r>
            <a:endParaRPr sz="1800" b="0" i="0">
              <a:latin typeface="Consolas"/>
            </a:endParaRPr>
          </a:p>
          <a:p>
            <a:r>
              <a:rPr sz="1800" b="0" i="0" u="none"/>
              <a:t>Expect some Copilot review steps to begin in the web interface</a:t>
            </a:r>
            <a:endParaRPr sz="1800" b="0" i="0">
              <a:latin typeface="Consolas"/>
            </a:endParaRPr>
          </a:p>
          <a:p>
            <a:r>
              <a:rPr sz="1800" b="0" i="0" u="none"/>
              <a:t>Verify token permissions early when CLI features do not behave as expected</a:t>
            </a:r>
            <a:endParaRPr sz="1800" b="0" i="0">
              <a:latin typeface="Consolas"/>
            </a:endParaRPr>
          </a:p>
          <a:p>
            <a:pPr>
              <a:buNone/>
            </a:pPr>
            <a:endParaRPr sz="1800" b="0" i="0">
              <a:latin typeface="Consolas"/>
            </a:endParaRPr>
          </a:p>
          <a:p>
            <a:pPr>
              <a:buNone/>
            </a:pPr>
            <a:r>
              <a:rPr sz="1800" b="1" i="0" u="none"/>
              <a:t>Bottom line</a:t>
            </a:r>
            <a:r>
              <a:rPr sz="1800" b="0" i="0" u="none"/>
              <a:t>: strong PR management is a combination of repository settings, tool selection, and the right access model.</a:t>
            </a:r>
            <a:endParaRPr sz="1800" b="0" i="0">
              <a:latin typeface="Consolas"/>
            </a:endParaRPr>
          </a:p>
        </p:txBody>
      </p:sp>
    </p:spTree>
  </p:cSld>
  <p:clrMapOvr>
    <a:masterClrMapping/>
  </p:clrMapOvr>
</p:sld>
</file>

<file path=ppt/theme/theme1.xml><?xml version="1.0" encoding="utf-8"?>
<a:theme xmlns:a="http://schemas.openxmlformats.org/drawingml/2006/main" name="CODE Traini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MM CODE Training Slide Template.potx" id="{C235AF94-6470-4DC8-ADA1-D5CA24C263BE}" vid="{E23727E8-263B-4C98-B166-009CDF69EE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TotalTime>
  <Words>11848</Words>
  <Application>Microsoft Office PowerPoint</Application>
  <PresentationFormat>Widescreen</PresentationFormat>
  <Paragraphs>1487</Paragraphs>
  <Slides>94</Slides>
  <Notes>94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94</vt:i4>
      </vt:variant>
    </vt:vector>
  </HeadingPairs>
  <TitlesOfParts>
    <vt:vector size="100" baseType="lpstr">
      <vt:lpstr>Arial</vt:lpstr>
      <vt:lpstr>Calibri</vt:lpstr>
      <vt:lpstr>Consolas</vt:lpstr>
      <vt:lpstr>Noto Sans</vt:lpstr>
      <vt:lpstr>Victor Mono</vt:lpstr>
      <vt:lpstr>CODE Training</vt:lpstr>
      <vt:lpstr>The Return of the Prompter</vt:lpstr>
      <vt:lpstr>Course Modules</vt:lpstr>
      <vt:lpstr>Getting Started Checklist</vt:lpstr>
      <vt:lpstr>High Level AI Assisted Workflow</vt:lpstr>
      <vt:lpstr>Starting with Requirements</vt:lpstr>
      <vt:lpstr>Business Rules as Requirements</vt:lpstr>
      <vt:lpstr>Conceptual Models</vt:lpstr>
      <vt:lpstr>Object Role Models</vt:lpstr>
      <vt:lpstr>Zeus.Academia.3b</vt:lpstr>
      <vt:lpstr>Use Cases</vt:lpstr>
      <vt:lpstr>Exercise: Generate Business Requirements</vt:lpstr>
      <vt:lpstr>Exercise: Generate Business Requirements</vt:lpstr>
      <vt:lpstr>Exercise: Business Requirements Generation</vt:lpstr>
      <vt:lpstr>Exercise: Business Requirements Generation</vt:lpstr>
      <vt:lpstr>Course Modules</vt:lpstr>
      <vt:lpstr>CQRS Architecture</vt:lpstr>
      <vt:lpstr>Command Query Responsibility Segregation Architecture</vt:lpstr>
      <vt:lpstr>When to Use CQRS</vt:lpstr>
      <vt:lpstr>Core Principles</vt:lpstr>
      <vt:lpstr>CQRS Architecture Components</vt:lpstr>
      <vt:lpstr>Consistency Strategy</vt:lpstr>
      <vt:lpstr>Example: Order Approval Flow</vt:lpstr>
      <vt:lpstr>Key Takeaways</vt:lpstr>
      <vt:lpstr>Course Modules</vt:lpstr>
      <vt:lpstr>Technology Stack Instruction Files</vt:lpstr>
      <vt:lpstr>Technology Stack Instruction Files</vt:lpstr>
      <vt:lpstr>Start with the Requirements</vt:lpstr>
      <vt:lpstr>Generate the First Draft Quickly</vt:lpstr>
      <vt:lpstr>Review the Generated File Critically</vt:lpstr>
      <vt:lpstr>Use Multiple Models to Improve Quality</vt:lpstr>
      <vt:lpstr>Why This Matters in the Foundation Phase</vt:lpstr>
      <vt:lpstr>Course Modules</vt:lpstr>
      <vt:lpstr>Features Go Vertical. Layers Go Home.</vt:lpstr>
      <vt:lpstr>What is a vertical slice?</vt:lpstr>
      <vt:lpstr>Layered folders vs. feature folders</vt:lpstr>
      <vt:lpstr>Why developers like this approach</vt:lpstr>
      <vt:lpstr>Collaboration and testing benefits</vt:lpstr>
      <vt:lpstr>Why CQRS fits well with vertical slices</vt:lpstr>
      <vt:lpstr>Key takeaways</vt:lpstr>
      <vt:lpstr>Course Modules</vt:lpstr>
      <vt:lpstr>The Blueprint Before the Blueprint</vt:lpstr>
      <vt:lpstr>What this section covers</vt:lpstr>
      <vt:lpstr>7.1 Review the planning instructions</vt:lpstr>
      <vt:lpstr>Slice identification strategies</vt:lpstr>
      <vt:lpstr>Decomposition principles</vt:lpstr>
      <vt:lpstr>Analyze before you slice</vt:lpstr>
      <vt:lpstr>7.2 Generate plans with AI</vt:lpstr>
      <vt:lpstr>What a good AI plan should include</vt:lpstr>
      <vt:lpstr>Example planning flow</vt:lpstr>
      <vt:lpstr>7.3 Multi-model evaluation</vt:lpstr>
      <vt:lpstr>Key takeaway</vt:lpstr>
      <vt:lpstr>Everything Depends on This Slide (Literally)</vt:lpstr>
      <vt:lpstr>Read the Dependency Diagram</vt:lpstr>
      <vt:lpstr>Find the Critical Path</vt:lpstr>
      <vt:lpstr>Sequence First, Parallelize Second</vt:lpstr>
      <vt:lpstr>Distinguish Foundational and Dependent Features</vt:lpstr>
      <vt:lpstr>Use Dependency Analysis to Plan the Roadmap</vt:lpstr>
      <vt:lpstr>Course Modules</vt:lpstr>
      <vt:lpstr>The Prompt That Does the Implementation (With a Checklist)</vt:lpstr>
      <vt:lpstr>Start from a Single Slice</vt:lpstr>
      <vt:lpstr>What the Implementation Prompt Should Say</vt:lpstr>
      <vt:lpstr>Expected Deliverables Inside the Prompt File</vt:lpstr>
      <vt:lpstr>Build Verification into the Prompt</vt:lpstr>
      <vt:lpstr>Showcase Instructions Should Target Humans</vt:lpstr>
      <vt:lpstr>Repeat the Pattern Across All Slices</vt:lpstr>
      <vt:lpstr>Course Modules</vt:lpstr>
      <vt:lpstr>Thin Slices, Big Results</vt:lpstr>
      <vt:lpstr>Step 1: Define Slice Boundaries</vt:lpstr>
      <vt:lpstr>Step 2: Build the Implementation Plan</vt:lpstr>
      <vt:lpstr>Step 3: Execute Slices in Parallel</vt:lpstr>
      <vt:lpstr>Step 4: Integrate, Validate, and Stabilize</vt:lpstr>
      <vt:lpstr>Practical Starter Plan (Example)</vt:lpstr>
      <vt:lpstr>Course Modules</vt:lpstr>
      <vt:lpstr>The Code Review That Doesn't Ghost You</vt:lpstr>
      <vt:lpstr>Create the Pull Request Cleanly</vt:lpstr>
      <vt:lpstr>Run Human and AI Review in Parallel</vt:lpstr>
      <vt:lpstr>What the AI Review Flagged</vt:lpstr>
      <vt:lpstr>Review Comments Still Require Judgment</vt:lpstr>
      <vt:lpstr>Address Comments One by One or in Batches</vt:lpstr>
      <vt:lpstr>Process Takeaways for Future PRs</vt:lpstr>
      <vt:lpstr>The AI Reviewer Who Never Says "Looks Good to Me"</vt:lpstr>
      <vt:lpstr>How the Review Flow Worked</vt:lpstr>
      <vt:lpstr>What Copilot Found in PR #4</vt:lpstr>
      <vt:lpstr>Code Review Findings: Correctness Problems</vt:lpstr>
      <vt:lpstr>Code Review Findings: Compliance and Cleanup</vt:lpstr>
      <vt:lpstr>What We Observed About the Review Process</vt:lpstr>
      <vt:lpstr>Use Review Output to Improve the Instructions</vt:lpstr>
      <vt:lpstr>gh pr merge --squash (and Mean It)</vt:lpstr>
      <vt:lpstr>Start with the Merge Strategy</vt:lpstr>
      <vt:lpstr>Use the Right PR Tools for Context</vt:lpstr>
      <vt:lpstr>Use the CLI for PR Comment Work</vt:lpstr>
      <vt:lpstr>Request Copilot Review and Then Triage the Output</vt:lpstr>
      <vt:lpstr>Permissions Can Block the Best Workflow</vt:lpstr>
      <vt:lpstr>Practical Takeaways for PR Management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lastModifiedBy>John Miller</cp:lastModifiedBy>
  <cp:revision>6</cp:revision>
  <dcterms:created xsi:type="dcterms:W3CDTF">2025-10-19T18:09:53Z</dcterms:created>
  <dcterms:modified xsi:type="dcterms:W3CDTF">2026-04-10T03:59:16Z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0x010100587004330F6D8B418A43481AAFC77453</vt:lpwstr>
  </property>
</Properties>
</file>