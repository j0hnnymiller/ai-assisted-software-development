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70" r:id="rId2"/>
    <p:sldId id="271" r:id="rId3"/>
    <p:sldId id="272" r:id="rId4"/>
    <p:sldId id="273" r:id="rId5"/>
    <p:sldId id="274" r:id="rId6"/>
    <p:sldId id="275" r:id="rId7"/>
    <p:sldId id="276" r:id="rId8"/>
    <p:sldId id="277" r:id="rId9"/>
    <p:sldId id="278" r:id="rId10"/>
    <p:sldId id="27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E204D60-B717-4C9A-B50F-617A895C5CD4}">
          <p14:sldIdLst/>
        </p14:section>
        <p14:section name="Copilot for Teams" id="{FC62E2E6-5107-4567-B1C7-704861E93A69}">
          <p14:sldIdLst>
            <p14:sldId id="270"/>
            <p14:sldId id="271"/>
            <p14:sldId id="272"/>
            <p14:sldId id="273"/>
            <p14:sldId id="274"/>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7" autoAdjust="0"/>
    <p:restoredTop sz="94660"/>
  </p:normalViewPr>
  <p:slideViewPr>
    <p:cSldViewPr snapToGrid="0">
      <p:cViewPr varScale="1">
        <p:scale>
          <a:sx n="160" d="100"/>
          <a:sy n="160" d="100"/>
        </p:scale>
        <p:origin x="10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CB12C1-8C3E-484F-87CE-E9A30205A3B7}"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F0C836-5734-4DA0-82DA-045775D14C7B}" type="slidenum">
              <a:rPr lang="en-US" smtClean="0"/>
              <a:t>‹#›</a:t>
            </a:fld>
            <a:endParaRPr lang="en-US"/>
          </a:p>
        </p:txBody>
      </p:sp>
    </p:spTree>
    <p:extLst>
      <p:ext uri="{BB962C8B-B14F-4D97-AF65-F5344CB8AC3E}">
        <p14:creationId xmlns:p14="http://schemas.microsoft.com/office/powerpoint/2010/main" val="1269249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Outline governance, admin controls, and adoption factors (training, policy, developer onboarding).</a:t>
            </a:r>
          </a:p>
        </p:txBody>
      </p:sp>
      <p:sp>
        <p:nvSpPr>
          <p:cNvPr id="4" name="Slide Number Placeholder 3"/>
          <p:cNvSpPr>
            <a:spLocks noGrp="1"/>
          </p:cNvSpPr>
          <p:nvPr>
            <p:ph type="sldNum" sz="quarter" idx="10"/>
          </p:nvPr>
        </p:nvSpPr>
        <p:spPr/>
        <p:txBody>
          <a:bodyPr/>
          <a:lstStyle/>
          <a:p>
            <a:fld id="{18BDFEC3-8487-43E8-A154-7C12CBC1FFF2}"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the motivating questions about IP, privacy, and safe use that led to this presentation.</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Highlight productivity, documentation, test generation, and onboarding benefits with brief examples.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Cover IP leakage, code quality risks, and developer overreliance; suggest mitigations for each.</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Discuss regulatory impacts, auditability, and how to enforce coding policies with automated checks.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Clarify data flows, model retraining policy for enterprise plans, and recommended org controls to protect IP.</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risks of suggested code resembling public repos and recommend legal review and filter settings.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Summarize plan differences and pick considerations (control, audit, scale) for each offering.</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Practical checklist: avoid secrets in prompts, enable public-code filters, and establish review processes.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Point attendees to official docs and FAQs; recommend follow-up reading links on the slide.</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7CAC5-772B-1B10-06B9-CC1979E510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4CABB87-20E9-DC82-62DC-3A878363F4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5C01160-2D7B-A514-C2C2-C7452516D9A0}"/>
              </a:ext>
            </a:extLst>
          </p:cNvPr>
          <p:cNvSpPr>
            <a:spLocks noGrp="1"/>
          </p:cNvSpPr>
          <p:nvPr>
            <p:ph type="dt" sz="half" idx="10"/>
          </p:nvPr>
        </p:nvSpPr>
        <p:spPr/>
        <p:txBody>
          <a:bodyPr/>
          <a:lstStyle/>
          <a:p>
            <a:fld id="{E15E49C7-3CEF-4093-9E10-361D7A8EF965}" type="datetimeFigureOut">
              <a:rPr lang="en-US" smtClean="0"/>
              <a:t>3/4/2026</a:t>
            </a:fld>
            <a:endParaRPr lang="en-US"/>
          </a:p>
        </p:txBody>
      </p:sp>
      <p:sp>
        <p:nvSpPr>
          <p:cNvPr id="5" name="Footer Placeholder 4">
            <a:extLst>
              <a:ext uri="{FF2B5EF4-FFF2-40B4-BE49-F238E27FC236}">
                <a16:creationId xmlns:a16="http://schemas.microsoft.com/office/drawing/2014/main" id="{FE6E4B43-6A62-69D3-D960-8851B9A92F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924F50-6691-8918-988F-AF687F7FD1EE}"/>
              </a:ext>
            </a:extLst>
          </p:cNvPr>
          <p:cNvSpPr>
            <a:spLocks noGrp="1"/>
          </p:cNvSpPr>
          <p:nvPr>
            <p:ph type="sldNum" sz="quarter" idx="12"/>
          </p:nvPr>
        </p:nvSpPr>
        <p:spPr/>
        <p:txBody>
          <a:bodyPr/>
          <a:lstStyle/>
          <a:p>
            <a:fld id="{72FE2715-5827-4923-B368-3F52D0629223}" type="slidenum">
              <a:rPr lang="en-US" smtClean="0"/>
              <a:t>‹#›</a:t>
            </a:fld>
            <a:endParaRPr lang="en-US"/>
          </a:p>
        </p:txBody>
      </p:sp>
    </p:spTree>
    <p:extLst>
      <p:ext uri="{BB962C8B-B14F-4D97-AF65-F5344CB8AC3E}">
        <p14:creationId xmlns:p14="http://schemas.microsoft.com/office/powerpoint/2010/main" val="4220973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22633-FA61-89E3-27C6-0A7D876E28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E34B9F-A942-3B6C-D4B8-333E1BE1D2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A03D19-7503-430B-A893-7D19AD3657CA}"/>
              </a:ext>
            </a:extLst>
          </p:cNvPr>
          <p:cNvSpPr>
            <a:spLocks noGrp="1"/>
          </p:cNvSpPr>
          <p:nvPr>
            <p:ph type="dt" sz="half" idx="10"/>
          </p:nvPr>
        </p:nvSpPr>
        <p:spPr/>
        <p:txBody>
          <a:bodyPr/>
          <a:lstStyle/>
          <a:p>
            <a:fld id="{E15E49C7-3CEF-4093-9E10-361D7A8EF965}" type="datetimeFigureOut">
              <a:rPr lang="en-US" smtClean="0"/>
              <a:t>3/4/2026</a:t>
            </a:fld>
            <a:endParaRPr lang="en-US"/>
          </a:p>
        </p:txBody>
      </p:sp>
      <p:sp>
        <p:nvSpPr>
          <p:cNvPr id="5" name="Footer Placeholder 4">
            <a:extLst>
              <a:ext uri="{FF2B5EF4-FFF2-40B4-BE49-F238E27FC236}">
                <a16:creationId xmlns:a16="http://schemas.microsoft.com/office/drawing/2014/main" id="{A1B8AB63-4921-8F93-4BDD-26F32A6553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DABDEE-860C-0B3A-A233-0D1034017917}"/>
              </a:ext>
            </a:extLst>
          </p:cNvPr>
          <p:cNvSpPr>
            <a:spLocks noGrp="1"/>
          </p:cNvSpPr>
          <p:nvPr>
            <p:ph type="sldNum" sz="quarter" idx="12"/>
          </p:nvPr>
        </p:nvSpPr>
        <p:spPr/>
        <p:txBody>
          <a:bodyPr/>
          <a:lstStyle/>
          <a:p>
            <a:fld id="{72FE2715-5827-4923-B368-3F52D0629223}" type="slidenum">
              <a:rPr lang="en-US" smtClean="0"/>
              <a:t>‹#›</a:t>
            </a:fld>
            <a:endParaRPr lang="en-US"/>
          </a:p>
        </p:txBody>
      </p:sp>
    </p:spTree>
    <p:extLst>
      <p:ext uri="{BB962C8B-B14F-4D97-AF65-F5344CB8AC3E}">
        <p14:creationId xmlns:p14="http://schemas.microsoft.com/office/powerpoint/2010/main" val="855961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0A612-E415-C4C7-3845-05CADAB1B8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38602D6-B6E6-0C30-423D-B63AD4E84CF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0E219F-F335-8F94-125E-30FF479EFDC6}"/>
              </a:ext>
            </a:extLst>
          </p:cNvPr>
          <p:cNvSpPr>
            <a:spLocks noGrp="1"/>
          </p:cNvSpPr>
          <p:nvPr>
            <p:ph type="dt" sz="half" idx="10"/>
          </p:nvPr>
        </p:nvSpPr>
        <p:spPr/>
        <p:txBody>
          <a:bodyPr/>
          <a:lstStyle/>
          <a:p>
            <a:fld id="{E15E49C7-3CEF-4093-9E10-361D7A8EF965}" type="datetimeFigureOut">
              <a:rPr lang="en-US" smtClean="0"/>
              <a:t>3/4/2026</a:t>
            </a:fld>
            <a:endParaRPr lang="en-US"/>
          </a:p>
        </p:txBody>
      </p:sp>
      <p:sp>
        <p:nvSpPr>
          <p:cNvPr id="5" name="Footer Placeholder 4">
            <a:extLst>
              <a:ext uri="{FF2B5EF4-FFF2-40B4-BE49-F238E27FC236}">
                <a16:creationId xmlns:a16="http://schemas.microsoft.com/office/drawing/2014/main" id="{0E064E49-25D2-FB15-53CA-0D2E7A8EAC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58F98E-D018-367B-D0DD-8BD98E86459F}"/>
              </a:ext>
            </a:extLst>
          </p:cNvPr>
          <p:cNvSpPr>
            <a:spLocks noGrp="1"/>
          </p:cNvSpPr>
          <p:nvPr>
            <p:ph type="sldNum" sz="quarter" idx="12"/>
          </p:nvPr>
        </p:nvSpPr>
        <p:spPr/>
        <p:txBody>
          <a:bodyPr/>
          <a:lstStyle/>
          <a:p>
            <a:fld id="{72FE2715-5827-4923-B368-3F52D0629223}" type="slidenum">
              <a:rPr lang="en-US" smtClean="0"/>
              <a:t>‹#›</a:t>
            </a:fld>
            <a:endParaRPr lang="en-US"/>
          </a:p>
        </p:txBody>
      </p:sp>
    </p:spTree>
    <p:extLst>
      <p:ext uri="{BB962C8B-B14F-4D97-AF65-F5344CB8AC3E}">
        <p14:creationId xmlns:p14="http://schemas.microsoft.com/office/powerpoint/2010/main" val="38579210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3A475-6C64-CF56-1AFD-EFAA5FBC80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84B4F9-A8EB-CFB3-7089-526355A384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8493AD-DFF2-2794-59A4-0F7678A10F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619447A-C957-BC6D-0732-4900759D2B1A}"/>
              </a:ext>
            </a:extLst>
          </p:cNvPr>
          <p:cNvSpPr>
            <a:spLocks noGrp="1"/>
          </p:cNvSpPr>
          <p:nvPr>
            <p:ph type="dt" sz="half" idx="10"/>
          </p:nvPr>
        </p:nvSpPr>
        <p:spPr/>
        <p:txBody>
          <a:bodyPr/>
          <a:lstStyle/>
          <a:p>
            <a:fld id="{E15E49C7-3CEF-4093-9E10-361D7A8EF965}" type="datetimeFigureOut">
              <a:rPr lang="en-US" smtClean="0"/>
              <a:t>3/4/2026</a:t>
            </a:fld>
            <a:endParaRPr lang="en-US"/>
          </a:p>
        </p:txBody>
      </p:sp>
      <p:sp>
        <p:nvSpPr>
          <p:cNvPr id="6" name="Footer Placeholder 5">
            <a:extLst>
              <a:ext uri="{FF2B5EF4-FFF2-40B4-BE49-F238E27FC236}">
                <a16:creationId xmlns:a16="http://schemas.microsoft.com/office/drawing/2014/main" id="{33B26F52-3C74-B706-4A62-8875965204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CC8348-0440-C8B9-DEA0-CC83593E6410}"/>
              </a:ext>
            </a:extLst>
          </p:cNvPr>
          <p:cNvSpPr>
            <a:spLocks noGrp="1"/>
          </p:cNvSpPr>
          <p:nvPr>
            <p:ph type="sldNum" sz="quarter" idx="12"/>
          </p:nvPr>
        </p:nvSpPr>
        <p:spPr/>
        <p:txBody>
          <a:bodyPr/>
          <a:lstStyle/>
          <a:p>
            <a:fld id="{72FE2715-5827-4923-B368-3F52D0629223}" type="slidenum">
              <a:rPr lang="en-US" smtClean="0"/>
              <a:t>‹#›</a:t>
            </a:fld>
            <a:endParaRPr lang="en-US"/>
          </a:p>
        </p:txBody>
      </p:sp>
    </p:spTree>
    <p:extLst>
      <p:ext uri="{BB962C8B-B14F-4D97-AF65-F5344CB8AC3E}">
        <p14:creationId xmlns:p14="http://schemas.microsoft.com/office/powerpoint/2010/main" val="164685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E263-2E01-88D7-E71B-62F2404A7A3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C9F2313-3007-ACDF-C366-8515C37B21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D352B1-93A6-CE77-46B1-74BF3BF281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79738D-D272-7BE5-E05D-B3239A20E6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EA2C13-B0B5-0753-36A0-173C6888E72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6E55510-BA81-8E91-DADE-BC2DE5B356A6}"/>
              </a:ext>
            </a:extLst>
          </p:cNvPr>
          <p:cNvSpPr>
            <a:spLocks noGrp="1"/>
          </p:cNvSpPr>
          <p:nvPr>
            <p:ph type="dt" sz="half" idx="10"/>
          </p:nvPr>
        </p:nvSpPr>
        <p:spPr/>
        <p:txBody>
          <a:bodyPr/>
          <a:lstStyle/>
          <a:p>
            <a:fld id="{E15E49C7-3CEF-4093-9E10-361D7A8EF965}" type="datetimeFigureOut">
              <a:rPr lang="en-US" smtClean="0"/>
              <a:t>3/4/2026</a:t>
            </a:fld>
            <a:endParaRPr lang="en-US"/>
          </a:p>
        </p:txBody>
      </p:sp>
      <p:sp>
        <p:nvSpPr>
          <p:cNvPr id="8" name="Footer Placeholder 7">
            <a:extLst>
              <a:ext uri="{FF2B5EF4-FFF2-40B4-BE49-F238E27FC236}">
                <a16:creationId xmlns:a16="http://schemas.microsoft.com/office/drawing/2014/main" id="{5BB2D100-C657-3293-DCEB-4299771316E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1CE2C5D-0A46-CBE5-0879-A913CDB2418D}"/>
              </a:ext>
            </a:extLst>
          </p:cNvPr>
          <p:cNvSpPr>
            <a:spLocks noGrp="1"/>
          </p:cNvSpPr>
          <p:nvPr>
            <p:ph type="sldNum" sz="quarter" idx="12"/>
          </p:nvPr>
        </p:nvSpPr>
        <p:spPr/>
        <p:txBody>
          <a:bodyPr/>
          <a:lstStyle/>
          <a:p>
            <a:fld id="{72FE2715-5827-4923-B368-3F52D0629223}" type="slidenum">
              <a:rPr lang="en-US" smtClean="0"/>
              <a:t>‹#›</a:t>
            </a:fld>
            <a:endParaRPr lang="en-US"/>
          </a:p>
        </p:txBody>
      </p:sp>
    </p:spTree>
    <p:extLst>
      <p:ext uri="{BB962C8B-B14F-4D97-AF65-F5344CB8AC3E}">
        <p14:creationId xmlns:p14="http://schemas.microsoft.com/office/powerpoint/2010/main" val="1410481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2EB5-32FA-2D2D-06A6-0DFAC71CB77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9A9B4F5-D7D4-ABF0-A9C0-BBF5FAB39B8D}"/>
              </a:ext>
            </a:extLst>
          </p:cNvPr>
          <p:cNvSpPr>
            <a:spLocks noGrp="1"/>
          </p:cNvSpPr>
          <p:nvPr>
            <p:ph type="dt" sz="half" idx="10"/>
          </p:nvPr>
        </p:nvSpPr>
        <p:spPr/>
        <p:txBody>
          <a:bodyPr/>
          <a:lstStyle/>
          <a:p>
            <a:fld id="{E15E49C7-3CEF-4093-9E10-361D7A8EF965}" type="datetimeFigureOut">
              <a:rPr lang="en-US" smtClean="0"/>
              <a:t>3/4/2026</a:t>
            </a:fld>
            <a:endParaRPr lang="en-US"/>
          </a:p>
        </p:txBody>
      </p:sp>
      <p:sp>
        <p:nvSpPr>
          <p:cNvPr id="4" name="Footer Placeholder 3">
            <a:extLst>
              <a:ext uri="{FF2B5EF4-FFF2-40B4-BE49-F238E27FC236}">
                <a16:creationId xmlns:a16="http://schemas.microsoft.com/office/drawing/2014/main" id="{36A568A8-CF44-D9A6-0B48-0446331085C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7C96471-568E-AEF9-5774-1332779D488A}"/>
              </a:ext>
            </a:extLst>
          </p:cNvPr>
          <p:cNvSpPr>
            <a:spLocks noGrp="1"/>
          </p:cNvSpPr>
          <p:nvPr>
            <p:ph type="sldNum" sz="quarter" idx="12"/>
          </p:nvPr>
        </p:nvSpPr>
        <p:spPr/>
        <p:txBody>
          <a:bodyPr/>
          <a:lstStyle/>
          <a:p>
            <a:fld id="{72FE2715-5827-4923-B368-3F52D0629223}" type="slidenum">
              <a:rPr lang="en-US" smtClean="0"/>
              <a:t>‹#›</a:t>
            </a:fld>
            <a:endParaRPr lang="en-US"/>
          </a:p>
        </p:txBody>
      </p:sp>
    </p:spTree>
    <p:extLst>
      <p:ext uri="{BB962C8B-B14F-4D97-AF65-F5344CB8AC3E}">
        <p14:creationId xmlns:p14="http://schemas.microsoft.com/office/powerpoint/2010/main" val="64857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546681-2969-2304-9728-D6AA64C95C31}"/>
              </a:ext>
            </a:extLst>
          </p:cNvPr>
          <p:cNvSpPr>
            <a:spLocks noGrp="1"/>
          </p:cNvSpPr>
          <p:nvPr>
            <p:ph type="dt" sz="half" idx="10"/>
          </p:nvPr>
        </p:nvSpPr>
        <p:spPr/>
        <p:txBody>
          <a:bodyPr/>
          <a:lstStyle/>
          <a:p>
            <a:fld id="{E15E49C7-3CEF-4093-9E10-361D7A8EF965}" type="datetimeFigureOut">
              <a:rPr lang="en-US" smtClean="0"/>
              <a:t>3/4/2026</a:t>
            </a:fld>
            <a:endParaRPr lang="en-US"/>
          </a:p>
        </p:txBody>
      </p:sp>
      <p:sp>
        <p:nvSpPr>
          <p:cNvPr id="3" name="Footer Placeholder 2">
            <a:extLst>
              <a:ext uri="{FF2B5EF4-FFF2-40B4-BE49-F238E27FC236}">
                <a16:creationId xmlns:a16="http://schemas.microsoft.com/office/drawing/2014/main" id="{C7978C8D-7196-3F41-B8FC-1BB5AF05EF3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A64251E-2072-678F-4FD3-3940292DAB84}"/>
              </a:ext>
            </a:extLst>
          </p:cNvPr>
          <p:cNvSpPr>
            <a:spLocks noGrp="1"/>
          </p:cNvSpPr>
          <p:nvPr>
            <p:ph type="sldNum" sz="quarter" idx="12"/>
          </p:nvPr>
        </p:nvSpPr>
        <p:spPr/>
        <p:txBody>
          <a:bodyPr/>
          <a:lstStyle/>
          <a:p>
            <a:fld id="{72FE2715-5827-4923-B368-3F52D0629223}" type="slidenum">
              <a:rPr lang="en-US" smtClean="0"/>
              <a:t>‹#›</a:t>
            </a:fld>
            <a:endParaRPr lang="en-US"/>
          </a:p>
        </p:txBody>
      </p:sp>
    </p:spTree>
    <p:extLst>
      <p:ext uri="{BB962C8B-B14F-4D97-AF65-F5344CB8AC3E}">
        <p14:creationId xmlns:p14="http://schemas.microsoft.com/office/powerpoint/2010/main" val="1926358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248CF-4E46-F76B-6D71-FDCDCAB263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032E6BF-8026-0E79-F774-156C9ACE65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939269B-30BB-B749-84AA-F17A8B99B2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B17A87-433C-B1B7-2319-56B9887D235D}"/>
              </a:ext>
            </a:extLst>
          </p:cNvPr>
          <p:cNvSpPr>
            <a:spLocks noGrp="1"/>
          </p:cNvSpPr>
          <p:nvPr>
            <p:ph type="dt" sz="half" idx="10"/>
          </p:nvPr>
        </p:nvSpPr>
        <p:spPr/>
        <p:txBody>
          <a:bodyPr/>
          <a:lstStyle/>
          <a:p>
            <a:fld id="{E15E49C7-3CEF-4093-9E10-361D7A8EF965}" type="datetimeFigureOut">
              <a:rPr lang="en-US" smtClean="0"/>
              <a:t>3/4/2026</a:t>
            </a:fld>
            <a:endParaRPr lang="en-US"/>
          </a:p>
        </p:txBody>
      </p:sp>
      <p:sp>
        <p:nvSpPr>
          <p:cNvPr id="6" name="Footer Placeholder 5">
            <a:extLst>
              <a:ext uri="{FF2B5EF4-FFF2-40B4-BE49-F238E27FC236}">
                <a16:creationId xmlns:a16="http://schemas.microsoft.com/office/drawing/2014/main" id="{CE94070F-C719-455D-84BE-B8AFBCFBBF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D8505E-6218-9625-4E2C-DE4BC53824C5}"/>
              </a:ext>
            </a:extLst>
          </p:cNvPr>
          <p:cNvSpPr>
            <a:spLocks noGrp="1"/>
          </p:cNvSpPr>
          <p:nvPr>
            <p:ph type="sldNum" sz="quarter" idx="12"/>
          </p:nvPr>
        </p:nvSpPr>
        <p:spPr/>
        <p:txBody>
          <a:bodyPr/>
          <a:lstStyle/>
          <a:p>
            <a:fld id="{72FE2715-5827-4923-B368-3F52D0629223}" type="slidenum">
              <a:rPr lang="en-US" smtClean="0"/>
              <a:t>‹#›</a:t>
            </a:fld>
            <a:endParaRPr lang="en-US"/>
          </a:p>
        </p:txBody>
      </p:sp>
    </p:spTree>
    <p:extLst>
      <p:ext uri="{BB962C8B-B14F-4D97-AF65-F5344CB8AC3E}">
        <p14:creationId xmlns:p14="http://schemas.microsoft.com/office/powerpoint/2010/main" val="2686333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4F2D0-5185-B243-2FC1-21AEC5E99D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71BC26-F7B3-51CD-83B0-F371A87735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364CD44-42AB-5212-F362-C636BE400B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285496-2BBB-CE5D-5378-7AA796A02E6F}"/>
              </a:ext>
            </a:extLst>
          </p:cNvPr>
          <p:cNvSpPr>
            <a:spLocks noGrp="1"/>
          </p:cNvSpPr>
          <p:nvPr>
            <p:ph type="dt" sz="half" idx="10"/>
          </p:nvPr>
        </p:nvSpPr>
        <p:spPr/>
        <p:txBody>
          <a:bodyPr/>
          <a:lstStyle/>
          <a:p>
            <a:fld id="{E15E49C7-3CEF-4093-9E10-361D7A8EF965}" type="datetimeFigureOut">
              <a:rPr lang="en-US" smtClean="0"/>
              <a:t>3/4/2026</a:t>
            </a:fld>
            <a:endParaRPr lang="en-US"/>
          </a:p>
        </p:txBody>
      </p:sp>
      <p:sp>
        <p:nvSpPr>
          <p:cNvPr id="6" name="Footer Placeholder 5">
            <a:extLst>
              <a:ext uri="{FF2B5EF4-FFF2-40B4-BE49-F238E27FC236}">
                <a16:creationId xmlns:a16="http://schemas.microsoft.com/office/drawing/2014/main" id="{F6895106-22C1-DFD4-9DED-442AF996A0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F48103-0C05-3DFC-590C-C846292E7140}"/>
              </a:ext>
            </a:extLst>
          </p:cNvPr>
          <p:cNvSpPr>
            <a:spLocks noGrp="1"/>
          </p:cNvSpPr>
          <p:nvPr>
            <p:ph type="sldNum" sz="quarter" idx="12"/>
          </p:nvPr>
        </p:nvSpPr>
        <p:spPr/>
        <p:txBody>
          <a:bodyPr/>
          <a:lstStyle/>
          <a:p>
            <a:fld id="{72FE2715-5827-4923-B368-3F52D0629223}" type="slidenum">
              <a:rPr lang="en-US" smtClean="0"/>
              <a:t>‹#›</a:t>
            </a:fld>
            <a:endParaRPr lang="en-US"/>
          </a:p>
        </p:txBody>
      </p:sp>
    </p:spTree>
    <p:extLst>
      <p:ext uri="{BB962C8B-B14F-4D97-AF65-F5344CB8AC3E}">
        <p14:creationId xmlns:p14="http://schemas.microsoft.com/office/powerpoint/2010/main" val="3879794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C13C0-236A-891C-0B67-AB7956052D3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12DFD9-25AA-8B05-5D0B-D3CAAA751E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D2BB9A-EB2F-12D4-F21F-4C953BA4FBD5}"/>
              </a:ext>
            </a:extLst>
          </p:cNvPr>
          <p:cNvSpPr>
            <a:spLocks noGrp="1"/>
          </p:cNvSpPr>
          <p:nvPr>
            <p:ph type="dt" sz="half" idx="10"/>
          </p:nvPr>
        </p:nvSpPr>
        <p:spPr/>
        <p:txBody>
          <a:bodyPr/>
          <a:lstStyle/>
          <a:p>
            <a:fld id="{E15E49C7-3CEF-4093-9E10-361D7A8EF965}" type="datetimeFigureOut">
              <a:rPr lang="en-US" smtClean="0"/>
              <a:t>3/4/2026</a:t>
            </a:fld>
            <a:endParaRPr lang="en-US"/>
          </a:p>
        </p:txBody>
      </p:sp>
      <p:sp>
        <p:nvSpPr>
          <p:cNvPr id="5" name="Footer Placeholder 4">
            <a:extLst>
              <a:ext uri="{FF2B5EF4-FFF2-40B4-BE49-F238E27FC236}">
                <a16:creationId xmlns:a16="http://schemas.microsoft.com/office/drawing/2014/main" id="{07062628-A51E-02A9-4AD4-5B824288AC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0472FF-9A06-2B21-A97F-882089B0F851}"/>
              </a:ext>
            </a:extLst>
          </p:cNvPr>
          <p:cNvSpPr>
            <a:spLocks noGrp="1"/>
          </p:cNvSpPr>
          <p:nvPr>
            <p:ph type="sldNum" sz="quarter" idx="12"/>
          </p:nvPr>
        </p:nvSpPr>
        <p:spPr/>
        <p:txBody>
          <a:bodyPr/>
          <a:lstStyle/>
          <a:p>
            <a:fld id="{72FE2715-5827-4923-B368-3F52D0629223}" type="slidenum">
              <a:rPr lang="en-US" smtClean="0"/>
              <a:t>‹#›</a:t>
            </a:fld>
            <a:endParaRPr lang="en-US"/>
          </a:p>
        </p:txBody>
      </p:sp>
    </p:spTree>
    <p:extLst>
      <p:ext uri="{BB962C8B-B14F-4D97-AF65-F5344CB8AC3E}">
        <p14:creationId xmlns:p14="http://schemas.microsoft.com/office/powerpoint/2010/main" val="2462397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A67A12-153C-E50D-A903-0B6D5128465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A2ACA0-2DAF-9B27-A741-E159AA655A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D53B2D-C41E-556A-2F83-60BB1D2687C7}"/>
              </a:ext>
            </a:extLst>
          </p:cNvPr>
          <p:cNvSpPr>
            <a:spLocks noGrp="1"/>
          </p:cNvSpPr>
          <p:nvPr>
            <p:ph type="dt" sz="half" idx="10"/>
          </p:nvPr>
        </p:nvSpPr>
        <p:spPr/>
        <p:txBody>
          <a:bodyPr/>
          <a:lstStyle/>
          <a:p>
            <a:fld id="{E15E49C7-3CEF-4093-9E10-361D7A8EF965}" type="datetimeFigureOut">
              <a:rPr lang="en-US" smtClean="0"/>
              <a:t>3/4/2026</a:t>
            </a:fld>
            <a:endParaRPr lang="en-US"/>
          </a:p>
        </p:txBody>
      </p:sp>
      <p:sp>
        <p:nvSpPr>
          <p:cNvPr id="5" name="Footer Placeholder 4">
            <a:extLst>
              <a:ext uri="{FF2B5EF4-FFF2-40B4-BE49-F238E27FC236}">
                <a16:creationId xmlns:a16="http://schemas.microsoft.com/office/drawing/2014/main" id="{D7B6EF37-7113-3E46-1FFF-E5937721DB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8FDA19-C487-2EB8-DD86-912DD710E812}"/>
              </a:ext>
            </a:extLst>
          </p:cNvPr>
          <p:cNvSpPr>
            <a:spLocks noGrp="1"/>
          </p:cNvSpPr>
          <p:nvPr>
            <p:ph type="sldNum" sz="quarter" idx="12"/>
          </p:nvPr>
        </p:nvSpPr>
        <p:spPr/>
        <p:txBody>
          <a:bodyPr/>
          <a:lstStyle/>
          <a:p>
            <a:fld id="{72FE2715-5827-4923-B368-3F52D0629223}" type="slidenum">
              <a:rPr lang="en-US" smtClean="0"/>
              <a:t>‹#›</a:t>
            </a:fld>
            <a:endParaRPr lang="en-US"/>
          </a:p>
        </p:txBody>
      </p:sp>
    </p:spTree>
    <p:extLst>
      <p:ext uri="{BB962C8B-B14F-4D97-AF65-F5344CB8AC3E}">
        <p14:creationId xmlns:p14="http://schemas.microsoft.com/office/powerpoint/2010/main" val="323601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388B54-4A46-25C6-7D09-FEA702C8CA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D45460C-DB93-BF1A-EBB8-396204DA1E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2CF0D1-853B-665A-6A92-A2DED3878D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5E49C7-3CEF-4093-9E10-361D7A8EF965}" type="datetimeFigureOut">
              <a:rPr lang="en-US" smtClean="0"/>
              <a:t>3/4/2026</a:t>
            </a:fld>
            <a:endParaRPr lang="en-US"/>
          </a:p>
        </p:txBody>
      </p:sp>
      <p:sp>
        <p:nvSpPr>
          <p:cNvPr id="5" name="Footer Placeholder 4">
            <a:extLst>
              <a:ext uri="{FF2B5EF4-FFF2-40B4-BE49-F238E27FC236}">
                <a16:creationId xmlns:a16="http://schemas.microsoft.com/office/drawing/2014/main" id="{8D781F00-5606-8EA5-D01D-255A630BD1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2D8AED4-4D9A-066A-2C62-C0A5049214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FE2715-5827-4923-B368-3F52D0629223}" type="slidenum">
              <a:rPr lang="en-US" smtClean="0"/>
              <a:t>‹#›</a:t>
            </a:fld>
            <a:endParaRPr lang="en-US"/>
          </a:p>
        </p:txBody>
      </p:sp>
    </p:spTree>
    <p:extLst>
      <p:ext uri="{BB962C8B-B14F-4D97-AF65-F5344CB8AC3E}">
        <p14:creationId xmlns:p14="http://schemas.microsoft.com/office/powerpoint/2010/main" val="1427146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privacy.microsoft.com/en-us/privacystatement"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ocs.github.com/en/copilot"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hyperlink" Target="https://docs.github.com/en/copilot/security" TargetMode="External"/><Relationship Id="rId4" Type="http://schemas.openxmlformats.org/officeDocument/2006/relationships/hyperlink" Target="https://github.com/features/copilot-for-busines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GitHub Copilot for Teams</a:t>
            </a:r>
            <a:br>
              <a:rPr lang="en-US" dirty="0"/>
            </a:br>
            <a:r>
              <a:rPr sz="3600" dirty="0"/>
              <a:t>Key Considerations for Adoption</a:t>
            </a:r>
          </a:p>
        </p:txBody>
      </p:sp>
      <p:sp>
        <p:nvSpPr>
          <p:cNvPr id="3" name="Content Placeholder 2"/>
          <p:cNvSpPr>
            <a:spLocks noGrp="1"/>
          </p:cNvSpPr>
          <p:nvPr>
            <p:ph idx="1"/>
          </p:nvPr>
        </p:nvSpPr>
        <p:spPr>
          <a:xfrm>
            <a:off x="838200" y="2821577"/>
            <a:ext cx="10515600" cy="703024"/>
          </a:xfrm>
        </p:spPr>
        <p:txBody>
          <a:bodyPr/>
          <a:lstStyle/>
          <a:p>
            <a:pPr marL="0" indent="0">
              <a:buNone/>
            </a:pPr>
            <a:r>
              <a:rPr i="1" dirty="0"/>
              <a:t>Empowering developers with AI while protecting your codebase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What Prompted This Deck?</a:t>
            </a:r>
          </a:p>
        </p:txBody>
      </p:sp>
      <p:sp>
        <p:nvSpPr>
          <p:cNvPr id="3" name="Content Placeholder 2"/>
          <p:cNvSpPr>
            <a:spLocks noGrp="1"/>
          </p:cNvSpPr>
          <p:nvPr>
            <p:ph idx="1"/>
          </p:nvPr>
        </p:nvSpPr>
        <p:spPr/>
        <p:txBody>
          <a:bodyPr/>
          <a:lstStyle/>
          <a:p>
            <a:pPr marL="1693291" indent="0">
              <a:buNone/>
            </a:pPr>
            <a:r>
              <a:rPr sz="2667" dirty="0"/>
              <a:t>I want to know how GitHub </a:t>
            </a:r>
            <a:r>
              <a:rPr lang="en-US" sz="2667" dirty="0"/>
              <a:t>C</a:t>
            </a:r>
            <a:r>
              <a:rPr sz="2667" dirty="0"/>
              <a:t>opilot protects the intellectual property in the code and documentation submitted to the model. Is this information isolated from other users? Is it incorporated into the model and leaked to other users? How can I protect my IP while using GitHub Copilot?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Benefits for Organizations</a:t>
            </a:r>
          </a:p>
        </p:txBody>
      </p:sp>
      <p:sp>
        <p:nvSpPr>
          <p:cNvPr id="3" name="Content Placeholder 2"/>
          <p:cNvSpPr>
            <a:spLocks noGrp="1"/>
          </p:cNvSpPr>
          <p:nvPr>
            <p:ph idx="1"/>
          </p:nvPr>
        </p:nvSpPr>
        <p:spPr/>
        <p:txBody>
          <a:bodyPr/>
          <a:lstStyle/>
          <a:p>
            <a:pPr lvl="0"/>
            <a:r>
              <a:rPr dirty="0"/>
              <a:t>Accelerated Development</a:t>
            </a:r>
            <a:endParaRPr lang="en-US" dirty="0"/>
          </a:p>
          <a:p>
            <a:pPr lvl="1"/>
            <a:r>
              <a:rPr dirty="0"/>
              <a:t>Faster prototyping, fewer boilerplate tasks</a:t>
            </a:r>
          </a:p>
          <a:p>
            <a:pPr lvl="0"/>
            <a:r>
              <a:rPr dirty="0"/>
              <a:t>Improved Documentation</a:t>
            </a:r>
            <a:endParaRPr lang="en-US" dirty="0"/>
          </a:p>
          <a:p>
            <a:pPr lvl="1"/>
            <a:r>
              <a:rPr dirty="0"/>
              <a:t>Auto-generates comments and README content</a:t>
            </a:r>
          </a:p>
          <a:p>
            <a:pPr lvl="0"/>
            <a:r>
              <a:rPr dirty="0"/>
              <a:t>Enhanced Testing</a:t>
            </a:r>
            <a:endParaRPr lang="en-US" dirty="0"/>
          </a:p>
          <a:p>
            <a:pPr lvl="1"/>
            <a:r>
              <a:rPr dirty="0"/>
              <a:t>Suggests unit tests and edge cases</a:t>
            </a:r>
          </a:p>
          <a:p>
            <a:pPr lvl="0"/>
            <a:r>
              <a:rPr dirty="0"/>
              <a:t>Team Productivity</a:t>
            </a:r>
            <a:endParaRPr lang="en-US" dirty="0"/>
          </a:p>
          <a:p>
            <a:pPr lvl="1"/>
            <a:r>
              <a:rPr dirty="0"/>
              <a:t>Reduces cognitive load, supports onboarding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Risks to Consider</a:t>
            </a:r>
          </a:p>
        </p:txBody>
      </p:sp>
      <p:sp>
        <p:nvSpPr>
          <p:cNvPr id="3" name="Content Placeholder 2"/>
          <p:cNvSpPr>
            <a:spLocks noGrp="1"/>
          </p:cNvSpPr>
          <p:nvPr>
            <p:ph idx="1"/>
          </p:nvPr>
        </p:nvSpPr>
        <p:spPr/>
        <p:txBody>
          <a:bodyPr>
            <a:normAutofit lnSpcReduction="10000"/>
          </a:bodyPr>
          <a:lstStyle/>
          <a:p>
            <a:pPr lvl="0"/>
            <a:r>
              <a:rPr dirty="0"/>
              <a:t>IP Leakage Concerns</a:t>
            </a:r>
          </a:p>
          <a:p>
            <a:pPr lvl="1"/>
            <a:r>
              <a:rPr dirty="0"/>
              <a:t>Copilot may suggest code similar to public repositories</a:t>
            </a:r>
          </a:p>
          <a:p>
            <a:pPr lvl="1"/>
            <a:r>
              <a:rPr dirty="0"/>
              <a:t>Risk of inadvertently using copyrighted or licensed code</a:t>
            </a:r>
          </a:p>
          <a:p>
            <a:pPr lvl="1"/>
            <a:r>
              <a:rPr dirty="0"/>
              <a:t>Mitigation: Enable public code filters and review suggestions carefully</a:t>
            </a:r>
          </a:p>
          <a:p>
            <a:pPr lvl="0"/>
            <a:r>
              <a:rPr dirty="0"/>
              <a:t>Code Quality and Accuracy</a:t>
            </a:r>
          </a:p>
          <a:p>
            <a:pPr lvl="1"/>
            <a:r>
              <a:rPr dirty="0"/>
              <a:t>AI-generated code may contain bugs, inefficiencies, or security flaws</a:t>
            </a:r>
          </a:p>
          <a:p>
            <a:pPr lvl="1"/>
            <a:r>
              <a:rPr dirty="0"/>
              <a:t>Always validate and test before deployment</a:t>
            </a:r>
          </a:p>
          <a:p>
            <a:pPr lvl="1"/>
            <a:r>
              <a:rPr dirty="0"/>
              <a:t>Treat Copilot as a drafting tool, not a source of truth</a:t>
            </a:r>
          </a:p>
          <a:p>
            <a:pPr lvl="0"/>
            <a:r>
              <a:rPr dirty="0"/>
              <a:t>Developer Overreliance</a:t>
            </a:r>
          </a:p>
          <a:p>
            <a:pPr lvl="1"/>
            <a:r>
              <a:rPr dirty="0"/>
              <a:t>Risk of reduced understanding or critical thinking</a:t>
            </a:r>
          </a:p>
          <a:p>
            <a:pPr lvl="1"/>
            <a:r>
              <a:rPr dirty="0"/>
              <a:t>Encourage code reviews and pair programming to maintain rigor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Governance and Compliance Risks</a:t>
            </a:r>
          </a:p>
        </p:txBody>
      </p:sp>
      <p:sp>
        <p:nvSpPr>
          <p:cNvPr id="3" name="Content Placeholder 2"/>
          <p:cNvSpPr>
            <a:spLocks noGrp="1"/>
          </p:cNvSpPr>
          <p:nvPr>
            <p:ph idx="1"/>
          </p:nvPr>
        </p:nvSpPr>
        <p:spPr/>
        <p:txBody>
          <a:bodyPr>
            <a:normAutofit lnSpcReduction="10000"/>
          </a:bodyPr>
          <a:lstStyle/>
          <a:p>
            <a:pPr lvl="0"/>
            <a:r>
              <a:rPr dirty="0"/>
              <a:t>Regulatory Compliance</a:t>
            </a:r>
          </a:p>
          <a:p>
            <a:pPr lvl="1"/>
            <a:r>
              <a:rPr dirty="0"/>
              <a:t>Generated code may not meet industry-specific standards (e.g., HIPAA, PCI-DSS)</a:t>
            </a:r>
          </a:p>
          <a:p>
            <a:pPr lvl="1"/>
            <a:r>
              <a:rPr dirty="0"/>
              <a:t>Organizations must enforce coding policies and audits</a:t>
            </a:r>
          </a:p>
          <a:p>
            <a:pPr lvl="0"/>
            <a:r>
              <a:rPr dirty="0"/>
              <a:t>Data Privacy and Security</a:t>
            </a:r>
          </a:p>
          <a:p>
            <a:pPr lvl="1"/>
            <a:r>
              <a:rPr dirty="0"/>
              <a:t>Sensitive data should never be typed into prompts</a:t>
            </a:r>
          </a:p>
          <a:p>
            <a:pPr lvl="1"/>
            <a:r>
              <a:rPr dirty="0"/>
              <a:t>Use Copilot in secure environments with clear usage guidelines</a:t>
            </a:r>
          </a:p>
          <a:p>
            <a:pPr lvl="0"/>
            <a:r>
              <a:rPr dirty="0"/>
              <a:t>Licensing Ambiguity</a:t>
            </a:r>
          </a:p>
          <a:p>
            <a:pPr lvl="1"/>
            <a:r>
              <a:rPr dirty="0"/>
              <a:t>Copilot suggestions may resemble code under restrictive licenses</a:t>
            </a:r>
          </a:p>
          <a:p>
            <a:pPr lvl="1"/>
            <a:r>
              <a:rPr dirty="0"/>
              <a:t>Legal teams should define acceptable use policies and monitor compliance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IP and Data Protection</a:t>
            </a:r>
          </a:p>
        </p:txBody>
      </p:sp>
      <p:sp>
        <p:nvSpPr>
          <p:cNvPr id="3" name="Content Placeholder 2"/>
          <p:cNvSpPr>
            <a:spLocks noGrp="1"/>
          </p:cNvSpPr>
          <p:nvPr>
            <p:ph idx="1"/>
          </p:nvPr>
        </p:nvSpPr>
        <p:spPr/>
        <p:txBody>
          <a:bodyPr/>
          <a:lstStyle/>
          <a:p>
            <a:pPr lvl="0"/>
            <a:r>
              <a:t>Your code is </a:t>
            </a:r>
            <a:r>
              <a:rPr b="1"/>
              <a:t>not used to retrain the model</a:t>
            </a:r>
            <a:r>
              <a:t> (with Copilot for Business/Enterprise)</a:t>
            </a:r>
          </a:p>
          <a:p>
            <a:pPr lvl="0"/>
            <a:r>
              <a:t>Suggestions are generated locally — no code is shared unless feedback is submitted</a:t>
            </a:r>
          </a:p>
          <a:p>
            <a:pPr lvl="0"/>
            <a:r>
              <a:t>No leakage between users: your private code is </a:t>
            </a:r>
            <a:r>
              <a:rPr b="1"/>
              <a:t>not exposed to others</a:t>
            </a:r>
          </a:p>
          <a:p>
            <a:pPr lvl="0"/>
            <a:r>
              <a:t>Admins can </a:t>
            </a:r>
            <a:r>
              <a:rPr b="1"/>
              <a:t>disable suggestions matching public code</a:t>
            </a:r>
            <a:r>
              <a:t> for added safety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Licensing and Legal Considerations</a:t>
            </a:r>
          </a:p>
        </p:txBody>
      </p:sp>
      <p:sp>
        <p:nvSpPr>
          <p:cNvPr id="3" name="Content Placeholder 2"/>
          <p:cNvSpPr>
            <a:spLocks noGrp="1"/>
          </p:cNvSpPr>
          <p:nvPr>
            <p:ph idx="1"/>
          </p:nvPr>
        </p:nvSpPr>
        <p:spPr/>
        <p:txBody>
          <a:bodyPr/>
          <a:lstStyle/>
          <a:p>
            <a:pPr lvl="0"/>
            <a:r>
              <a:rPr dirty="0"/>
              <a:t>Copilot may suggest code similar to public repositories</a:t>
            </a:r>
          </a:p>
          <a:p>
            <a:pPr lvl="0"/>
            <a:r>
              <a:rPr dirty="0"/>
              <a:t>GitHub provides a </a:t>
            </a:r>
            <a:r>
              <a:rPr b="1" dirty="0"/>
              <a:t>filter to block matching public code</a:t>
            </a:r>
          </a:p>
          <a:p>
            <a:pPr lvl="0"/>
            <a:r>
              <a:rPr dirty="0"/>
              <a:t>Organizations should review Copilot’s Terms of Service and Privacy Statement</a:t>
            </a:r>
            <a:endParaRPr dirty="0">
              <a:hlinkClick r:id="rId3"/>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Deployment Options</a:t>
            </a:r>
          </a:p>
        </p:txBody>
      </p:sp>
      <p:graphicFrame>
        <p:nvGraphicFramePr>
          <p:cNvPr id="6" name="Content Placeholder 5"/>
          <p:cNvGraphicFramePr>
            <a:graphicFrameLocks noGrp="1"/>
          </p:cNvGraphicFramePr>
          <p:nvPr>
            <p:ph idx="1"/>
          </p:nvPr>
        </p:nvGraphicFramePr>
        <p:xfrm>
          <a:off x="609600" y="1591733"/>
          <a:ext cx="10972800" cy="1584960"/>
        </p:xfrm>
        <a:graphic>
          <a:graphicData uri="http://schemas.openxmlformats.org/drawingml/2006/table">
            <a:tbl>
              <a:tblPr firstRow="1">
                <a:tableStyleId>{FABFCF23-3B69-468F-B69F-88F6DE6A72F2}</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487680">
                <a:tc>
                  <a:txBody>
                    <a:bodyPr/>
                    <a:lstStyle/>
                    <a:p>
                      <a:pPr marL="0" lvl="0" indent="0">
                        <a:buNone/>
                      </a:pPr>
                      <a:r>
                        <a:rPr sz="2400" dirty="0"/>
                        <a:t>Plan</a:t>
                      </a:r>
                    </a:p>
                  </a:txBody>
                  <a:tcPr marL="121920" marR="121920" marT="60960" marB="60960"/>
                </a:tc>
                <a:tc>
                  <a:txBody>
                    <a:bodyPr/>
                    <a:lstStyle/>
                    <a:p>
                      <a:pPr marL="0" lvl="0" indent="0">
                        <a:buNone/>
                      </a:pPr>
                      <a:r>
                        <a:rPr sz="2400"/>
                        <a:t>Key Features</a:t>
                      </a:r>
                    </a:p>
                  </a:txBody>
                  <a:tcPr marL="121920" marR="121920" marT="60960" marB="60960"/>
                </a:tc>
                <a:tc>
                  <a:txBody>
                    <a:bodyPr/>
                    <a:lstStyle/>
                    <a:p>
                      <a:pPr marL="0" lvl="0" indent="0">
                        <a:buNone/>
                      </a:pPr>
                      <a:r>
                        <a:rPr sz="2400"/>
                        <a:t>IP Protection</a:t>
                      </a:r>
                    </a:p>
                  </a:txBody>
                  <a:tcPr marL="121920" marR="121920" marT="60960" marB="60960"/>
                </a:tc>
                <a:extLst>
                  <a:ext uri="{0D108BD9-81ED-4DB2-BD59-A6C34878D82A}">
                    <a16:rowId xmlns:a16="http://schemas.microsoft.com/office/drawing/2014/main" val="10000"/>
                  </a:ext>
                </a:extLst>
              </a:tr>
              <a:tr h="853440">
                <a:tc>
                  <a:txBody>
                    <a:bodyPr/>
                    <a:lstStyle/>
                    <a:p>
                      <a:pPr marL="0" lvl="0" indent="0">
                        <a:buNone/>
                      </a:pPr>
                      <a:r>
                        <a:rPr sz="2400" dirty="0"/>
                        <a:t>Copilot Individual</a:t>
                      </a:r>
                      <a:r>
                        <a:rPr lang="en-US" sz="2400" dirty="0"/>
                        <a:t> (Pro, Pro+)</a:t>
                      </a:r>
                      <a:endParaRPr sz="2400" dirty="0"/>
                    </a:p>
                  </a:txBody>
                  <a:tcPr marL="121920" marR="121920" marT="60960" marB="60960"/>
                </a:tc>
                <a:tc>
                  <a:txBody>
                    <a:bodyPr/>
                    <a:lstStyle/>
                    <a:p>
                      <a:pPr marL="0" lvl="0" indent="0">
                        <a:buNone/>
                      </a:pPr>
                      <a:r>
                        <a:rPr sz="2400"/>
                        <a:t>Personal use, no admin controls</a:t>
                      </a:r>
                    </a:p>
                  </a:txBody>
                  <a:tcPr marL="121920" marR="121920" marT="60960" marB="60960"/>
                </a:tc>
                <a:tc>
                  <a:txBody>
                    <a:bodyPr/>
                    <a:lstStyle/>
                    <a:p>
                      <a:pPr marL="0" lvl="0" indent="0">
                        <a:buNone/>
                      </a:pPr>
                      <a:r>
                        <a:rPr sz="2400"/>
                        <a:t>Limited</a:t>
                      </a:r>
                    </a:p>
                  </a:txBody>
                  <a:tcPr marL="121920" marR="121920" marT="60960" marB="60960"/>
                </a:tc>
                <a:extLst>
                  <a:ext uri="{0D108BD9-81ED-4DB2-BD59-A6C34878D82A}">
                    <a16:rowId xmlns:a16="http://schemas.microsoft.com/office/drawing/2014/main" val="10001"/>
                  </a:ext>
                </a:extLst>
              </a:tr>
              <a:tr h="853440">
                <a:tc>
                  <a:txBody>
                    <a:bodyPr/>
                    <a:lstStyle/>
                    <a:p>
                      <a:pPr marL="0" lvl="0" indent="0">
                        <a:buNone/>
                      </a:pPr>
                      <a:r>
                        <a:rPr sz="2400"/>
                        <a:t>Copilot for Business</a:t>
                      </a:r>
                    </a:p>
                  </a:txBody>
                  <a:tcPr marL="121920" marR="121920" marT="60960" marB="60960"/>
                </a:tc>
                <a:tc>
                  <a:txBody>
                    <a:bodyPr/>
                    <a:lstStyle/>
                    <a:p>
                      <a:pPr marL="0" lvl="0" indent="0">
                        <a:buNone/>
                      </a:pPr>
                      <a:r>
                        <a:rPr sz="2400"/>
                        <a:t>Admin controls, policy enforcement</a:t>
                      </a:r>
                    </a:p>
                  </a:txBody>
                  <a:tcPr marL="121920" marR="121920" marT="60960" marB="60960"/>
                </a:tc>
                <a:tc>
                  <a:txBody>
                    <a:bodyPr/>
                    <a:lstStyle/>
                    <a:p>
                      <a:pPr marL="0" lvl="0" indent="0">
                        <a:buNone/>
                      </a:pPr>
                      <a:r>
                        <a:rPr sz="2400"/>
                        <a:t>Strong</a:t>
                      </a:r>
                    </a:p>
                  </a:txBody>
                  <a:tcPr marL="121920" marR="121920" marT="60960" marB="60960"/>
                </a:tc>
                <a:extLst>
                  <a:ext uri="{0D108BD9-81ED-4DB2-BD59-A6C34878D82A}">
                    <a16:rowId xmlns:a16="http://schemas.microsoft.com/office/drawing/2014/main" val="10002"/>
                  </a:ext>
                </a:extLst>
              </a:tr>
              <a:tr h="853440">
                <a:tc>
                  <a:txBody>
                    <a:bodyPr/>
                    <a:lstStyle/>
                    <a:p>
                      <a:pPr marL="0" lvl="0" indent="0">
                        <a:buNone/>
                      </a:pPr>
                      <a:r>
                        <a:rPr sz="2400"/>
                        <a:t>Copilot for Enterprise</a:t>
                      </a:r>
                    </a:p>
                  </a:txBody>
                  <a:tcPr marL="121920" marR="121920" marT="60960" marB="60960"/>
                </a:tc>
                <a:tc>
                  <a:txBody>
                    <a:bodyPr/>
                    <a:lstStyle/>
                    <a:p>
                      <a:pPr marL="0" lvl="0" indent="0">
                        <a:buNone/>
                      </a:pPr>
                      <a:r>
                        <a:rPr sz="2400"/>
                        <a:t>Org-wide policy, audit tools</a:t>
                      </a:r>
                    </a:p>
                  </a:txBody>
                  <a:tcPr marL="121920" marR="121920" marT="60960" marB="60960"/>
                </a:tc>
                <a:tc>
                  <a:txBody>
                    <a:bodyPr/>
                    <a:lstStyle/>
                    <a:p>
                      <a:pPr marL="0" lvl="0" indent="0">
                        <a:buNone/>
                      </a:pPr>
                      <a:r>
                        <a:rPr sz="2400" dirty="0"/>
                        <a:t>Strongest</a:t>
                      </a:r>
                    </a:p>
                  </a:txBody>
                  <a:tcPr marL="121920" marR="121920" marT="60960" marB="60960"/>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Best Practices for Safe Use</a:t>
            </a:r>
          </a:p>
        </p:txBody>
      </p:sp>
      <p:sp>
        <p:nvSpPr>
          <p:cNvPr id="3" name="Content Placeholder 2"/>
          <p:cNvSpPr>
            <a:spLocks noGrp="1"/>
          </p:cNvSpPr>
          <p:nvPr>
            <p:ph idx="1"/>
          </p:nvPr>
        </p:nvSpPr>
        <p:spPr/>
        <p:txBody>
          <a:bodyPr/>
          <a:lstStyle/>
          <a:p>
            <a:pPr lvl="0"/>
            <a:r>
              <a:rPr dirty="0"/>
              <a:t>Enable public code filters</a:t>
            </a:r>
          </a:p>
          <a:p>
            <a:pPr lvl="0"/>
            <a:r>
              <a:rPr lang="en-US" dirty="0"/>
              <a:t>Establish a r</a:t>
            </a:r>
            <a:r>
              <a:rPr dirty="0"/>
              <a:t>eview </a:t>
            </a:r>
            <a:r>
              <a:rPr lang="en-US" dirty="0"/>
              <a:t>process</a:t>
            </a:r>
            <a:endParaRPr dirty="0"/>
          </a:p>
          <a:p>
            <a:pPr lvl="0"/>
            <a:r>
              <a:rPr dirty="0"/>
              <a:t>Educate teams on responsible use and licensing awareness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Resources</a:t>
            </a:r>
          </a:p>
        </p:txBody>
      </p:sp>
      <p:sp>
        <p:nvSpPr>
          <p:cNvPr id="3" name="Content Placeholder 2"/>
          <p:cNvSpPr>
            <a:spLocks noGrp="1"/>
          </p:cNvSpPr>
          <p:nvPr>
            <p:ph idx="1"/>
          </p:nvPr>
        </p:nvSpPr>
        <p:spPr/>
        <p:txBody>
          <a:bodyPr/>
          <a:lstStyle/>
          <a:p>
            <a:pPr lvl="0"/>
            <a:r>
              <a:rPr dirty="0"/>
              <a:t>Copilot Documentation</a:t>
            </a:r>
            <a:r>
              <a:rPr lang="en-US" dirty="0"/>
              <a:t>: </a:t>
            </a:r>
          </a:p>
          <a:p>
            <a:pPr lvl="1"/>
            <a:r>
              <a:rPr lang="en-US" dirty="0"/>
              <a:t>https://docs.github.com/en/copilot</a:t>
            </a:r>
            <a:endParaRPr dirty="0">
              <a:hlinkClick r:id="rId3"/>
            </a:endParaRPr>
          </a:p>
          <a:p>
            <a:pPr lvl="0"/>
            <a:r>
              <a:rPr dirty="0"/>
              <a:t>Copilot for Business Overview</a:t>
            </a:r>
            <a:endParaRPr lang="en-US" dirty="0"/>
          </a:p>
          <a:p>
            <a:pPr lvl="1"/>
            <a:r>
              <a:rPr lang="en-US" dirty="0"/>
              <a:t>https://github.com/features/copilot-for-business</a:t>
            </a:r>
            <a:endParaRPr dirty="0">
              <a:hlinkClick r:id="rId4"/>
            </a:endParaRPr>
          </a:p>
          <a:p>
            <a:pPr lvl="0"/>
            <a:r>
              <a:rPr dirty="0"/>
              <a:t>Security and Privacy FAQ</a:t>
            </a:r>
            <a:endParaRPr lang="en-US" dirty="0"/>
          </a:p>
          <a:p>
            <a:pPr lvl="1"/>
            <a:r>
              <a:rPr lang="en-US" dirty="0"/>
              <a:t>https://docs.github.com/en/copilot/security</a:t>
            </a:r>
            <a:endParaRPr dirty="0">
              <a:hlinkClick r:id="rId5"/>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634</Words>
  <Application>Microsoft Office PowerPoint</Application>
  <PresentationFormat>Widescreen</PresentationFormat>
  <Paragraphs>88</Paragraphs>
  <Slides>10</Slides>
  <Notes>10</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GitHub Copilot for Teams Key Considerations for Adoption</vt:lpstr>
      <vt:lpstr>What Prompted This Deck?</vt:lpstr>
      <vt:lpstr>Benefits for Organizations</vt:lpstr>
      <vt:lpstr>Risks to Consider</vt:lpstr>
      <vt:lpstr>Governance and Compliance Risks</vt:lpstr>
      <vt:lpstr>IP and Data Protection</vt:lpstr>
      <vt:lpstr>Licensing and Legal Considerations</vt:lpstr>
      <vt:lpstr>Deployment Options</vt:lpstr>
      <vt:lpstr>Best Practices for Safe Use</vt:lpstr>
      <vt:lpstr>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2</cp:revision>
  <dcterms:created xsi:type="dcterms:W3CDTF">2026-03-05T03:09:56Z</dcterms:created>
  <dcterms:modified xsi:type="dcterms:W3CDTF">2026-03-05T03:11:15Z</dcterms:modified>
</cp:coreProperties>
</file>