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60" r:id="rId2"/>
    <p:sldId id="261" r:id="rId3"/>
    <p:sldId id="363" r:id="rId4"/>
    <p:sldId id="259" r:id="rId5"/>
    <p:sldId id="364" r:id="rId6"/>
    <p:sldId id="365" r:id="rId7"/>
    <p:sldId id="326" r:id="rId8"/>
    <p:sldId id="32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B70E23B-8B2A-4C34-A3FF-7288AF864EC6}">
          <p14:sldIdLst/>
        </p14:section>
        <p14:section name="AIASD" id="{636DB56D-D14A-48BB-8A62-F5942C00C650}">
          <p14:sldIdLst>
            <p14:sldId id="360"/>
            <p14:sldId id="261"/>
            <p14:sldId id="363"/>
            <p14:sldId id="259"/>
            <p14:sldId id="364"/>
            <p14:sldId id="365"/>
            <p14:sldId id="326"/>
            <p14:sldId id="32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7C0B6-B324-471C-B29F-F29827ADB495}"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44036C-EC7E-4128-AE02-C655282F7B72}" type="slidenum">
              <a:rPr lang="en-US" smtClean="0"/>
              <a:t>‹#›</a:t>
            </a:fld>
            <a:endParaRPr lang="en-US"/>
          </a:p>
        </p:txBody>
      </p:sp>
    </p:spTree>
    <p:extLst>
      <p:ext uri="{BB962C8B-B14F-4D97-AF65-F5344CB8AC3E}">
        <p14:creationId xmlns:p14="http://schemas.microsoft.com/office/powerpoint/2010/main" val="1977718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significant</a:t>
            </a:r>
          </a:p>
          <a:p>
            <a:endParaRPr lang="en-US" dirty="0"/>
          </a:p>
          <a:p>
            <a:r>
              <a:rPr lang="en-US" dirty="0"/>
              <a:t>Natural Language</a:t>
            </a:r>
          </a:p>
          <a:p>
            <a:r>
              <a:rPr lang="en-US" dirty="0"/>
              <a:t>Vast amount of knowledge available</a:t>
            </a:r>
          </a:p>
        </p:txBody>
      </p:sp>
      <p:sp>
        <p:nvSpPr>
          <p:cNvPr id="4" name="Slide Number Placeholder 3"/>
          <p:cNvSpPr>
            <a:spLocks noGrp="1"/>
          </p:cNvSpPr>
          <p:nvPr>
            <p:ph type="sldNum" sz="quarter" idx="5"/>
          </p:nvPr>
        </p:nvSpPr>
        <p:spPr/>
        <p:txBody>
          <a:bodyPr/>
          <a:lstStyle/>
          <a:p>
            <a:fld id="{18BDFEC3-8487-43E8-A154-7C12CBC1FFF2}" type="slidenum">
              <a:rPr lang="en-US" smtClean="0"/>
              <a:t>1</a:t>
            </a:fld>
            <a:endParaRPr lang="en-US"/>
          </a:p>
        </p:txBody>
      </p:sp>
    </p:spTree>
    <p:extLst>
      <p:ext uri="{BB962C8B-B14F-4D97-AF65-F5344CB8AC3E}">
        <p14:creationId xmlns:p14="http://schemas.microsoft.com/office/powerpoint/2010/main" val="717065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dirty="0"/>
              <a:t>Career Transformation:</a:t>
            </a:r>
            <a:r>
              <a:rPr dirty="0"/>
              <a:t> - Those who adapt: become 10x more productive, tackle bigger challenges, expand skill sets - Those who resist: may find themselves struggling with modern development expectations - New roles emerging: AI prompt engineers, AI code reviewers, AI-assisted architects</a:t>
            </a:r>
          </a:p>
          <a:p>
            <a:pPr marL="0" lvl="0" indent="0">
              <a:buNone/>
            </a:pPr>
            <a:endParaRPr dirty="0"/>
          </a:p>
          <a:p>
            <a:pPr marL="0" lvl="0" indent="0">
              <a:buNone/>
            </a:pPr>
            <a:r>
              <a:rPr b="1" dirty="0"/>
              <a:t>Superpowers Explained:</a:t>
            </a:r>
            <a:r>
              <a:rPr dirty="0"/>
              <a:t> - </a:t>
            </a:r>
            <a:r>
              <a:rPr b="1" dirty="0"/>
              <a:t>Legacy codebases</a:t>
            </a:r>
            <a:r>
              <a:rPr dirty="0"/>
              <a:t>: AI can quickly understand and explain complex, undocumented systems - </a:t>
            </a:r>
            <a:r>
              <a:rPr b="1" dirty="0"/>
              <a:t>New technologies</a:t>
            </a:r>
            <a:r>
              <a:rPr dirty="0"/>
              <a:t>: Learn frameworks/languages faster with AI as a coding partner - </a:t>
            </a:r>
            <a:r>
              <a:rPr b="1" dirty="0"/>
              <a:t>Code quality</a:t>
            </a:r>
            <a:r>
              <a:rPr dirty="0"/>
              <a:t>: AI suggests improvements, catches bugs, generates comprehensive tests - </a:t>
            </a:r>
            <a:r>
              <a:rPr b="1" dirty="0"/>
              <a:t>Nice to haves</a:t>
            </a:r>
            <a:r>
              <a:rPr dirty="0"/>
              <a:t>: Features that were “too time-consuming” become feasible</a:t>
            </a:r>
          </a:p>
          <a:p>
            <a:pPr marL="0" lvl="0" indent="0">
              <a:buNone/>
            </a:pPr>
            <a:endParaRPr dirty="0"/>
          </a:p>
          <a:p>
            <a:pPr marL="0" lvl="0" indent="0">
              <a:buNone/>
            </a:pPr>
            <a:r>
              <a:rPr b="1" dirty="0"/>
              <a:t>Examples to share:</a:t>
            </a:r>
            <a:r>
              <a:rPr dirty="0"/>
              <a:t> - Developer who used AI to modernize a 15-year-old PHP codebase in weeks instead of months - Team that adopted a new framework (React to Vue) with AI assistance in days - 80% reduction in boilerplate code writing time - Comprehensive test suites generated automatically</a:t>
            </a:r>
          </a:p>
          <a:p>
            <a:pPr marL="0" lvl="0" indent="0">
              <a:buNone/>
            </a:pPr>
            <a:endParaRPr dirty="0"/>
          </a:p>
          <a:p>
            <a:pPr marL="0" lvl="0" indent="0">
              <a:buNone/>
            </a:pPr>
            <a:r>
              <a:rPr b="1" dirty="0"/>
              <a:t>Key message</a:t>
            </a:r>
            <a:r>
              <a:rPr dirty="0"/>
              <a:t>: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AI‑First is the broad philosophy. Prompt‑First is the tactical layer that enables predictable AI behavior. You can do Prompt‑First without being AI‑First, but not the reverse.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table is the heart of the comparison. AI‑First is about organizational and architectural change. Prompt‑First is about artifact discipline and predictable outputs.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AI‑First changes </a:t>
            </a:r>
            <a:r>
              <a:rPr i="1"/>
              <a:t>what</a:t>
            </a:r>
            <a:r>
              <a:t> you build and </a:t>
            </a:r>
            <a:r>
              <a:rPr i="1"/>
              <a:t>how</a:t>
            </a:r>
            <a:r>
              <a:t> you build it. Prompt‑First changes </a:t>
            </a:r>
            <a:r>
              <a:rPr i="1"/>
              <a:t>how you communicate intent</a:t>
            </a:r>
            <a:r>
              <a:t> to the AI.</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conceptual hierarchy. Prompt‑First is necessary but not sufficient for AI‑First maturity.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what we mean by </a:t>
            </a:r>
            <a:r>
              <a:rPr lang="en-US" i="1" dirty="0"/>
              <a:t>AI‑First</a:t>
            </a:r>
            <a:r>
              <a:rPr lang="en-US" dirty="0"/>
              <a:t> development. The key idea is that AI isn’t an add‑on or a productivity booster—it becomes a core capability of the software lifecycle. When we design systems today, we assume AI will participate in requirements, architecture, coding, testing, and documentation.</a:t>
            </a:r>
          </a:p>
          <a:p>
            <a:endParaRPr lang="en-US" b="1" dirty="0"/>
          </a:p>
          <a:p>
            <a:r>
              <a:rPr lang="en-US" b="1" dirty="0"/>
              <a:t>Why AI‑First</a:t>
            </a:r>
            <a:endParaRPr lang="en-US" dirty="0"/>
          </a:p>
          <a:p>
            <a:r>
              <a:rPr lang="en-US" dirty="0"/>
              <a:t>“Teams increasingly express requirements in natural language. AI can interpret those requirements and generate scaffolding, code, tests, and documentation.”</a:t>
            </a:r>
          </a:p>
          <a:p>
            <a:r>
              <a:rPr lang="en-US" dirty="0"/>
              <a:t>“This shifts the developer’s role from writing every line of code to defining intent, constraints, and quality expectations.”</a:t>
            </a:r>
          </a:p>
          <a:p>
            <a:r>
              <a:rPr lang="en-US" dirty="0"/>
              <a:t>“The goal isn’t to replace engineering judgment—it’s to amplify it.”</a:t>
            </a:r>
          </a:p>
          <a:p>
            <a:endParaRPr lang="en-US" b="1" dirty="0"/>
          </a:p>
          <a:p>
            <a:r>
              <a:rPr lang="en-US" b="1" dirty="0"/>
              <a:t>Core Principles</a:t>
            </a:r>
            <a:endParaRPr lang="en-US" dirty="0"/>
          </a:p>
          <a:p>
            <a:endParaRPr lang="en-US" b="1" dirty="0"/>
          </a:p>
          <a:p>
            <a:r>
              <a:rPr lang="en-US" b="1" dirty="0"/>
              <a:t>Prompt‑First Design</a:t>
            </a:r>
            <a:br>
              <a:rPr lang="en-US" dirty="0"/>
            </a:br>
            <a:r>
              <a:rPr lang="en-US" dirty="0"/>
              <a:t>“We start with structured prompts that capture behaviors, invariants, and interfaces. These become durable artifacts, just like design docs.”</a:t>
            </a:r>
          </a:p>
          <a:p>
            <a:endParaRPr lang="en-US" b="1" dirty="0"/>
          </a:p>
          <a:p>
            <a:r>
              <a:rPr lang="en-US" b="1" dirty="0"/>
              <a:t>AI‑Native Architecture</a:t>
            </a:r>
            <a:br>
              <a:rPr lang="en-US" dirty="0"/>
            </a:br>
            <a:r>
              <a:rPr lang="en-US" dirty="0"/>
              <a:t>“We design modules with clear boundaries so AI‑generated components remain predictable and testable. Deterministic interfaces are essential.”</a:t>
            </a:r>
          </a:p>
          <a:p>
            <a:endParaRPr lang="en-US" b="1" dirty="0"/>
          </a:p>
          <a:p>
            <a:r>
              <a:rPr lang="en-US" b="1" dirty="0"/>
              <a:t>Human‑in‑the‑Loop</a:t>
            </a:r>
            <a:br>
              <a:rPr lang="en-US" dirty="0"/>
            </a:br>
            <a:r>
              <a:rPr lang="en-US" dirty="0"/>
              <a:t>“AI accelerates creation, but humans validate correctness, safety, and alignment with business intent. Review is built into the workflow.”</a:t>
            </a:r>
          </a:p>
          <a:p>
            <a:endParaRPr lang="en-US" b="1" dirty="0"/>
          </a:p>
          <a:p>
            <a:r>
              <a:rPr lang="en-US" b="1" dirty="0"/>
              <a:t>Continuous Verification</a:t>
            </a:r>
            <a:br>
              <a:rPr lang="en-US" dirty="0"/>
            </a:br>
            <a:r>
              <a:rPr lang="en-US" dirty="0"/>
              <a:t>“Every AI‑generated artifact—code, tests, docs—runs through automated checks. Static analysis, unit tests, and guardrails catch drift early.”</a:t>
            </a:r>
          </a:p>
          <a:p>
            <a:endParaRPr lang="en-US" b="1" dirty="0"/>
          </a:p>
          <a:p>
            <a:r>
              <a:rPr lang="en-US" b="1" dirty="0"/>
              <a:t>Lifecycle Governance</a:t>
            </a:r>
            <a:br>
              <a:rPr lang="en-US" dirty="0"/>
            </a:br>
            <a:r>
              <a:rPr lang="en-US" dirty="0"/>
              <a:t>“We treat prompts, outputs, and revisions as versioned assets. Provenance and traceability matter for compliance, debugging, and long‑term maintainability.”</a:t>
            </a:r>
          </a:p>
          <a:p>
            <a:endParaRPr lang="en-US" b="1" dirty="0"/>
          </a:p>
          <a:p>
            <a:r>
              <a:rPr lang="en-US" b="1" dirty="0"/>
              <a:t>Outcomes</a:t>
            </a:r>
            <a:endParaRPr lang="en-US" dirty="0"/>
          </a:p>
          <a:p>
            <a:r>
              <a:rPr lang="en-US" dirty="0"/>
              <a:t>“Teams iterate faster because intent moves directly into working prototypes.”</a:t>
            </a:r>
          </a:p>
          <a:p>
            <a:r>
              <a:rPr lang="en-US" dirty="0"/>
              <a:t>“Documentation and test coverage improve because AI can generate them continuously.”</a:t>
            </a:r>
          </a:p>
          <a:p>
            <a:r>
              <a:rPr lang="en-US" dirty="0"/>
              <a:t>“Developers spend more time on architecture and correctness, less on boilerplate.”</a:t>
            </a:r>
          </a:p>
          <a:p>
            <a:r>
              <a:rPr lang="en-US" dirty="0"/>
              <a:t>“The result is software that’s more adaptable and resilient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7</a:t>
            </a:fld>
            <a:endParaRPr lang="en-US"/>
          </a:p>
        </p:txBody>
      </p:sp>
    </p:spTree>
    <p:extLst>
      <p:ext uri="{BB962C8B-B14F-4D97-AF65-F5344CB8AC3E}">
        <p14:creationId xmlns:p14="http://schemas.microsoft.com/office/powerpoint/2010/main" val="1309165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core idea behind Prompt‑First development. Instead of starting with code, we start with intent. Prompts become the primary design artifact, and AI becomes the mechanism that turns intent into implementation.”</a:t>
            </a:r>
          </a:p>
          <a:p>
            <a:endParaRPr lang="en-US" b="1" dirty="0"/>
          </a:p>
          <a:p>
            <a:r>
              <a:rPr lang="en-US" b="1" dirty="0"/>
              <a:t>Why Prompt‑First</a:t>
            </a:r>
            <a:endParaRPr lang="en-US" dirty="0"/>
          </a:p>
          <a:p>
            <a:r>
              <a:rPr lang="en-US" dirty="0"/>
              <a:t>“Modern development increasingly begins with natural‑language descriptions of behavior. Prompt‑First formalizes that by treating prompts as first‑class inputs to the software lifecycle.”</a:t>
            </a:r>
          </a:p>
          <a:p>
            <a:r>
              <a:rPr lang="en-US" dirty="0"/>
              <a:t>“The developer’s role shifts from writing code line‑by‑line to defining outcomes, constraints, invariants, and interfaces.”</a:t>
            </a:r>
          </a:p>
          <a:p>
            <a:r>
              <a:rPr lang="en-US" dirty="0"/>
              <a:t>“This creates a tighter alignment between business intent and the resulting system.”</a:t>
            </a:r>
          </a:p>
          <a:p>
            <a:endParaRPr lang="en-US" b="1" dirty="0"/>
          </a:p>
          <a:p>
            <a:r>
              <a:rPr lang="en-US" b="1" dirty="0"/>
              <a:t>Core Practices</a:t>
            </a:r>
            <a:endParaRPr lang="en-US" dirty="0"/>
          </a:p>
          <a:p>
            <a:endParaRPr lang="en-US" b="1" dirty="0"/>
          </a:p>
          <a:p>
            <a:r>
              <a:rPr lang="en-US" b="1" dirty="0"/>
              <a:t>Structured Prompts</a:t>
            </a:r>
            <a:br>
              <a:rPr lang="en-US" dirty="0"/>
            </a:br>
            <a:r>
              <a:rPr lang="en-US" dirty="0"/>
              <a:t>“We don’t rely on ad‑hoc prompting. We use templates for features, APIs, data models, tests, and refactors. This creates consistency and reduces ambiguity.”</a:t>
            </a:r>
          </a:p>
          <a:p>
            <a:endParaRPr lang="en-US" b="1" dirty="0"/>
          </a:p>
          <a:p>
            <a:r>
              <a:rPr lang="en-US" b="1" dirty="0"/>
              <a:t>Instruction Files</a:t>
            </a:r>
            <a:br>
              <a:rPr lang="en-US" dirty="0"/>
            </a:br>
            <a:r>
              <a:rPr lang="en-US" dirty="0"/>
              <a:t>“These are durable, versioned prompt artifacts that guide AI generation. They act like living design documents that the AI reads every time it produces code.”</a:t>
            </a:r>
          </a:p>
          <a:p>
            <a:endParaRPr lang="en-US" b="1" dirty="0"/>
          </a:p>
          <a:p>
            <a:r>
              <a:rPr lang="en-US" b="1" dirty="0"/>
              <a:t>Deterministic Boundaries</a:t>
            </a:r>
            <a:br>
              <a:rPr lang="en-US" dirty="0"/>
            </a:br>
            <a:r>
              <a:rPr lang="en-US" dirty="0"/>
              <a:t>“We design modules with clear contracts so AI‑generated code stays predictable. The AI can generate the internals, but the interfaces remain stable and human‑controlled.”</a:t>
            </a:r>
          </a:p>
          <a:p>
            <a:endParaRPr lang="en-US" b="1" dirty="0"/>
          </a:p>
          <a:p>
            <a:r>
              <a:rPr lang="en-US" b="1" dirty="0"/>
              <a:t>Validation Loops</a:t>
            </a:r>
            <a:br>
              <a:rPr lang="en-US" dirty="0"/>
            </a:br>
            <a:r>
              <a:rPr lang="en-US" dirty="0"/>
              <a:t>“Every AI‑generated artifact goes through automated tests and human review. The goal is to catch drift early and ensure correctness.”</a:t>
            </a:r>
          </a:p>
          <a:p>
            <a:endParaRPr lang="en-US" b="1" dirty="0"/>
          </a:p>
          <a:p>
            <a:r>
              <a:rPr lang="en-US" b="1" dirty="0"/>
              <a:t>Prompt Versioning</a:t>
            </a:r>
            <a:br>
              <a:rPr lang="en-US" dirty="0"/>
            </a:br>
            <a:r>
              <a:rPr lang="en-US" dirty="0"/>
              <a:t>“Prompts evolve just like code. Tracking changes helps with debugging, reproducibility, and compliance.”</a:t>
            </a:r>
          </a:p>
          <a:p>
            <a:endParaRPr lang="en-US" b="1" dirty="0"/>
          </a:p>
          <a:p>
            <a:r>
              <a:rPr lang="en-US" b="1" dirty="0"/>
              <a:t>Benefits</a:t>
            </a:r>
            <a:endParaRPr lang="en-US" dirty="0"/>
          </a:p>
          <a:p>
            <a:r>
              <a:rPr lang="en-US" dirty="0"/>
              <a:t>“Teams move from idea to working software much faster because intent flows directly into generation.”</a:t>
            </a:r>
          </a:p>
          <a:p>
            <a:r>
              <a:rPr lang="en-US" dirty="0"/>
              <a:t>“Generated components become more consistent because they’re driven by structured prompts, not one‑off instructions.”</a:t>
            </a:r>
          </a:p>
          <a:p>
            <a:r>
              <a:rPr lang="en-US" dirty="0"/>
              <a:t>“Developers spend more time on architecture and correctness, less on boilerplate.”</a:t>
            </a:r>
          </a:p>
          <a:p>
            <a:r>
              <a:rPr lang="en-US" dirty="0"/>
              <a:t>“The end result is a system that’s easier to maintain and adapt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4086250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0A78-B21D-1E06-0755-F450AB9EE1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2C20DE-422F-A63B-C766-05DB98D114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E88ED6-DBBB-925D-DB80-D9A222FED964}"/>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5" name="Footer Placeholder 4">
            <a:extLst>
              <a:ext uri="{FF2B5EF4-FFF2-40B4-BE49-F238E27FC236}">
                <a16:creationId xmlns:a16="http://schemas.microsoft.com/office/drawing/2014/main" id="{D4C73597-E3BA-7A52-0813-401AC49F3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773D1-17A3-2AA4-D885-153EE4FF28D7}"/>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2105182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98C4-D839-90B6-2F37-413013B971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0942F7-BCF3-EA5E-F375-CADEE279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4BB5A1-8996-2BCC-575F-255AD93E5CA0}"/>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5" name="Footer Placeholder 4">
            <a:extLst>
              <a:ext uri="{FF2B5EF4-FFF2-40B4-BE49-F238E27FC236}">
                <a16:creationId xmlns:a16="http://schemas.microsoft.com/office/drawing/2014/main" id="{58326C05-58E6-A0B5-D1E5-51A9B3B83F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96CAD-C58E-01CA-B6FA-730AAD8EBAB4}"/>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2174399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E00E4-EA9C-8680-50DB-F3FC38E5B5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4E2E69-AC0B-EE26-AE9E-341106095D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0B2173-E3C6-5A8A-00DD-32A64E3FF64D}"/>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5" name="Footer Placeholder 4">
            <a:extLst>
              <a:ext uri="{FF2B5EF4-FFF2-40B4-BE49-F238E27FC236}">
                <a16:creationId xmlns:a16="http://schemas.microsoft.com/office/drawing/2014/main" id="{F802155F-11FA-DF61-F186-07711D46EB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10B36-5B41-76EC-C736-2FD4759C53E5}"/>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3700670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ECCF4-3A13-8DFC-515C-B4996B96FC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E7BD11-D3ED-B965-B4FE-AD2F14333C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68BCE-F549-3809-2F0D-E97A265A5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9B5C58-F474-2B18-A055-57C1AF6AE908}"/>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6" name="Footer Placeholder 5">
            <a:extLst>
              <a:ext uri="{FF2B5EF4-FFF2-40B4-BE49-F238E27FC236}">
                <a16:creationId xmlns:a16="http://schemas.microsoft.com/office/drawing/2014/main" id="{26EF4246-4E56-8E12-8A83-0F45CC4687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0A5082-8256-2C5F-5A84-D8B78047E9DE}"/>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246020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618EF-1971-79A5-F384-B2F0BB2C7E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621B0D-300B-5184-FD21-030155F5E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9DFB8D-9153-A877-C182-DA04B2D408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60DDC0-962E-6488-2C7B-A46DEC3F10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540D02-663B-2DC9-B515-47A16D7FCA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CD095C-8C6F-EBAA-F816-EB64B03EFD04}"/>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8" name="Footer Placeholder 7">
            <a:extLst>
              <a:ext uri="{FF2B5EF4-FFF2-40B4-BE49-F238E27FC236}">
                <a16:creationId xmlns:a16="http://schemas.microsoft.com/office/drawing/2014/main" id="{08767441-71A7-5454-F449-DA33BF7654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C915B4-640F-F5DE-6688-5CAC5EEC7769}"/>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2143379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15A1-F3D2-1A90-7788-6A94452A29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6ECAEF-947B-0874-EAA7-EE5078C38C11}"/>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4" name="Footer Placeholder 3">
            <a:extLst>
              <a:ext uri="{FF2B5EF4-FFF2-40B4-BE49-F238E27FC236}">
                <a16:creationId xmlns:a16="http://schemas.microsoft.com/office/drawing/2014/main" id="{5DA72803-0385-56E0-A561-D975F63FFD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8F706E-1917-83EB-CBE7-99EC3279EE63}"/>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4286477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1654A-3303-7135-BB69-9D159461D5AD}"/>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3" name="Footer Placeholder 2">
            <a:extLst>
              <a:ext uri="{FF2B5EF4-FFF2-40B4-BE49-F238E27FC236}">
                <a16:creationId xmlns:a16="http://schemas.microsoft.com/office/drawing/2014/main" id="{715D5F2C-120A-AE51-BDF1-8D4CC15252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769561-3EB2-5D79-CFFA-D210236DDC6F}"/>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3560263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ED54-B8FF-E761-0CEC-5405CC867F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E0E7A1-60A4-AC70-F3DF-DA6D16A026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24B9B1-28CB-BE7A-250E-95B50BEA80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395B23-9084-CD53-3AF6-7678F1DFFE30}"/>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6" name="Footer Placeholder 5">
            <a:extLst>
              <a:ext uri="{FF2B5EF4-FFF2-40B4-BE49-F238E27FC236}">
                <a16:creationId xmlns:a16="http://schemas.microsoft.com/office/drawing/2014/main" id="{0E533696-E263-B298-A265-47E3531DEC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1032E2-9C13-A89D-630D-715471B8194E}"/>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141942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E233-39C5-3022-8218-238E05A6A4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89A226-9E1C-7694-BEDD-B612CBF1F5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3892E0-6104-B346-7D13-258C1EC864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74F4D-1888-5924-89EF-4CF4A8ACB768}"/>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6" name="Footer Placeholder 5">
            <a:extLst>
              <a:ext uri="{FF2B5EF4-FFF2-40B4-BE49-F238E27FC236}">
                <a16:creationId xmlns:a16="http://schemas.microsoft.com/office/drawing/2014/main" id="{57D66D79-87D5-33A3-0C4A-B26871E1B5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C565DF-9EF3-5E41-EEB2-4D92C6341BDC}"/>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635504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F6B10-0D09-BE3B-3C4A-5490BD0F15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926A13-431F-87C4-CA24-D457968A2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7B0D74-DEB9-D13F-27DF-E9F362CFB3FA}"/>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5" name="Footer Placeholder 4">
            <a:extLst>
              <a:ext uri="{FF2B5EF4-FFF2-40B4-BE49-F238E27FC236}">
                <a16:creationId xmlns:a16="http://schemas.microsoft.com/office/drawing/2014/main" id="{D5E84FF0-058F-7716-281E-A2A7E0052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E01B94-370B-038A-1C66-2D75623C4E7C}"/>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3437853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E30A28-530A-D4FE-9F16-B52D3BC76F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A5A5B9-983E-ABAC-A7A3-2620FCD0D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C2E47-974C-3DF3-E3C3-31049648D762}"/>
              </a:ext>
            </a:extLst>
          </p:cNvPr>
          <p:cNvSpPr>
            <a:spLocks noGrp="1"/>
          </p:cNvSpPr>
          <p:nvPr>
            <p:ph type="dt" sz="half" idx="10"/>
          </p:nvPr>
        </p:nvSpPr>
        <p:spPr/>
        <p:txBody>
          <a:bodyPr/>
          <a:lstStyle/>
          <a:p>
            <a:fld id="{BBCE83BA-D87E-432E-929A-C77C5ECC0A7D}" type="datetimeFigureOut">
              <a:rPr lang="en-US" smtClean="0"/>
              <a:t>3/5/2026</a:t>
            </a:fld>
            <a:endParaRPr lang="en-US"/>
          </a:p>
        </p:txBody>
      </p:sp>
      <p:sp>
        <p:nvSpPr>
          <p:cNvPr id="5" name="Footer Placeholder 4">
            <a:extLst>
              <a:ext uri="{FF2B5EF4-FFF2-40B4-BE49-F238E27FC236}">
                <a16:creationId xmlns:a16="http://schemas.microsoft.com/office/drawing/2014/main" id="{BE9D5494-0025-9015-EE24-42E76B0A8E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7F16B-96BB-8E54-A487-9284F2B29AE5}"/>
              </a:ext>
            </a:extLst>
          </p:cNvPr>
          <p:cNvSpPr>
            <a:spLocks noGrp="1"/>
          </p:cNvSpPr>
          <p:nvPr>
            <p:ph type="sldNum" sz="quarter" idx="12"/>
          </p:nvPr>
        </p:nvSpPr>
        <p:spPr/>
        <p:txBody>
          <a:bodyPr/>
          <a:lstStyle/>
          <a:p>
            <a:fld id="{3C2EDFDF-9EBA-4B32-9420-0F8A6EBA6F9D}" type="slidenum">
              <a:rPr lang="en-US" smtClean="0"/>
              <a:t>‹#›</a:t>
            </a:fld>
            <a:endParaRPr lang="en-US"/>
          </a:p>
        </p:txBody>
      </p:sp>
    </p:spTree>
    <p:extLst>
      <p:ext uri="{BB962C8B-B14F-4D97-AF65-F5344CB8AC3E}">
        <p14:creationId xmlns:p14="http://schemas.microsoft.com/office/powerpoint/2010/main" val="3798807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1E75DB-034C-F6C8-CB88-8393D1DFB0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9D2AB4-FEBF-F21A-4913-E6859253C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F588D-F7E3-F128-A693-C7A6DEA53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CE83BA-D87E-432E-929A-C77C5ECC0A7D}" type="datetimeFigureOut">
              <a:rPr lang="en-US" smtClean="0"/>
              <a:t>3/5/2026</a:t>
            </a:fld>
            <a:endParaRPr lang="en-US"/>
          </a:p>
        </p:txBody>
      </p:sp>
      <p:sp>
        <p:nvSpPr>
          <p:cNvPr id="5" name="Footer Placeholder 4">
            <a:extLst>
              <a:ext uri="{FF2B5EF4-FFF2-40B4-BE49-F238E27FC236}">
                <a16:creationId xmlns:a16="http://schemas.microsoft.com/office/drawing/2014/main" id="{28556510-545F-3FA4-6F1A-158C59A41E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435541-9B2F-C64B-4E8B-9CB1D8E2B3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2EDFDF-9EBA-4B32-9420-0F8A6EBA6F9D}" type="slidenum">
              <a:rPr lang="en-US" smtClean="0"/>
              <a:t>‹#›</a:t>
            </a:fld>
            <a:endParaRPr lang="en-US"/>
          </a:p>
        </p:txBody>
      </p:sp>
    </p:spTree>
    <p:extLst>
      <p:ext uri="{BB962C8B-B14F-4D97-AF65-F5344CB8AC3E}">
        <p14:creationId xmlns:p14="http://schemas.microsoft.com/office/powerpoint/2010/main" val="3594928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AI Revolution?</a:t>
            </a:r>
            <a:endParaRPr dirty="0"/>
          </a:p>
        </p:txBody>
      </p:sp>
      <p:sp>
        <p:nvSpPr>
          <p:cNvPr id="3" name="Content Placeholder 2"/>
          <p:cNvSpPr>
            <a:spLocks noGrp="1"/>
          </p:cNvSpPr>
          <p:nvPr>
            <p:ph idx="1"/>
          </p:nvPr>
        </p:nvSpPr>
        <p:spPr/>
        <p:txBody>
          <a:bodyPr>
            <a:normAutofit lnSpcReduction="10000"/>
          </a:bodyPr>
          <a:lstStyle/>
          <a:p>
            <a:pPr marL="1693291" indent="0">
              <a:buNone/>
            </a:pPr>
            <a:r>
              <a:rPr sz="2667" dirty="0"/>
              <a:t>“Programming hasn’t changed, but how we go about it has changed, again.”</a:t>
            </a:r>
            <a:endParaRPr lang="en-US" sz="2667" dirty="0"/>
          </a:p>
          <a:p>
            <a:pPr marL="1693291" indent="0">
              <a:buNone/>
            </a:pPr>
            <a:endParaRPr sz="2667" dirty="0"/>
          </a:p>
          <a:p>
            <a:pPr lvl="0"/>
            <a:r>
              <a:rPr dirty="0"/>
              <a:t>AI-assisted development is </a:t>
            </a:r>
            <a:r>
              <a:rPr b="1" dirty="0"/>
              <a:t>evolutionary</a:t>
            </a:r>
            <a:r>
              <a:rPr dirty="0"/>
              <a:t>, not revolutionary</a:t>
            </a:r>
          </a:p>
          <a:p>
            <a:pPr lvl="0"/>
            <a:r>
              <a:rPr dirty="0"/>
              <a:t>Programming has always been about </a:t>
            </a:r>
            <a:r>
              <a:rPr b="1" dirty="0"/>
              <a:t>expressing human intent</a:t>
            </a:r>
            <a:r>
              <a:rPr dirty="0"/>
              <a:t> to machines</a:t>
            </a:r>
          </a:p>
          <a:p>
            <a:pPr lvl="0"/>
            <a:r>
              <a:rPr dirty="0"/>
              <a:t>What changes is the </a:t>
            </a:r>
            <a:r>
              <a:rPr b="1" dirty="0"/>
              <a:t>sophistication of our tools</a:t>
            </a:r>
            <a:r>
              <a:rPr dirty="0"/>
              <a:t> for expressing intent</a:t>
            </a:r>
          </a:p>
          <a:p>
            <a:pPr lvl="0"/>
            <a:r>
              <a:rPr dirty="0"/>
              <a:t>The essence remains: bridging the gap between what we want and what machines can 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AI Assisted Software Development</a:t>
            </a:r>
          </a:p>
        </p:txBody>
      </p:sp>
      <p:sp>
        <p:nvSpPr>
          <p:cNvPr id="3" name="Content Placeholder 2"/>
          <p:cNvSpPr>
            <a:spLocks noGrp="1"/>
          </p:cNvSpPr>
          <p:nvPr>
            <p:ph idx="1"/>
          </p:nvPr>
        </p:nvSpPr>
        <p:spPr/>
        <p:txBody>
          <a:bodyPr/>
          <a:lstStyle/>
          <a:p>
            <a:pPr lvl="0"/>
            <a:r>
              <a:rPr dirty="0"/>
              <a:t>If used effectively, it will give you superpowers</a:t>
            </a:r>
          </a:p>
          <a:p>
            <a:pPr lvl="1"/>
            <a:r>
              <a:rPr dirty="0"/>
              <a:t>The courage to</a:t>
            </a:r>
          </a:p>
          <a:p>
            <a:pPr lvl="2"/>
            <a:r>
              <a:rPr dirty="0"/>
              <a:t>Take on codebases that few would touch</a:t>
            </a:r>
          </a:p>
          <a:p>
            <a:pPr lvl="2"/>
            <a:r>
              <a:rPr dirty="0"/>
              <a:t>Use technologies you should know but don’t</a:t>
            </a:r>
          </a:p>
          <a:p>
            <a:pPr lvl="2"/>
            <a:r>
              <a:rPr dirty="0"/>
              <a:t>Write more high-quality code than you have ever written before</a:t>
            </a:r>
          </a:p>
          <a:p>
            <a:pPr lvl="2"/>
            <a:r>
              <a:rPr dirty="0"/>
              <a:t>Take on the nice to haves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AI‑First &amp; Prompt‑First</a:t>
            </a:r>
            <a:endParaRPr b="1" dirty="0"/>
          </a:p>
        </p:txBody>
      </p:sp>
      <p:sp>
        <p:nvSpPr>
          <p:cNvPr id="3" name="Content Placeholder 2"/>
          <p:cNvSpPr>
            <a:spLocks noGrp="1"/>
          </p:cNvSpPr>
          <p:nvPr>
            <p:ph idx="1"/>
          </p:nvPr>
        </p:nvSpPr>
        <p:spPr/>
        <p:txBody>
          <a:bodyPr/>
          <a:lstStyle/>
          <a:p>
            <a:pPr marL="0" indent="0">
              <a:spcBef>
                <a:spcPts val="4000"/>
              </a:spcBef>
              <a:buNone/>
            </a:pPr>
            <a:r>
              <a:rPr b="1" dirty="0"/>
              <a:t>AI‑First Development</a:t>
            </a:r>
          </a:p>
          <a:p>
            <a:pPr marL="0" indent="0">
              <a:buNone/>
            </a:pPr>
            <a:r>
              <a:rPr dirty="0"/>
              <a:t>A software engineering philosophy where AI is embedded across the entire SDLC</a:t>
            </a:r>
            <a:r>
              <a:rPr lang="en-US" dirty="0"/>
              <a:t>–</a:t>
            </a:r>
            <a:r>
              <a:rPr dirty="0"/>
              <a:t>requirements, design, implementation, testing, documentation, compliance, and maintenance.</a:t>
            </a:r>
          </a:p>
          <a:p>
            <a:pPr marL="0" indent="0">
              <a:spcBef>
                <a:spcPts val="4000"/>
              </a:spcBef>
              <a:buNone/>
            </a:pPr>
            <a:r>
              <a:rPr b="1" dirty="0"/>
              <a:t>Prompt‑First Development</a:t>
            </a:r>
          </a:p>
          <a:p>
            <a:pPr marL="0" indent="0">
              <a:buNone/>
            </a:pPr>
            <a:r>
              <a:rPr dirty="0"/>
              <a:t>A workflow pattern where prompts, instruction files, and chat modes are treated as first‑class, version‑controlled artifacts.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What Each Optimizes For</a:t>
            </a:r>
          </a:p>
        </p:txBody>
      </p:sp>
      <p:graphicFrame>
        <p:nvGraphicFramePr>
          <p:cNvPr id="6" name="Content Placeholder 5"/>
          <p:cNvGraphicFramePr>
            <a:graphicFrameLocks noGrp="1"/>
          </p:cNvGraphicFramePr>
          <p:nvPr>
            <p:ph idx="1"/>
          </p:nvPr>
        </p:nvGraphicFramePr>
        <p:xfrm>
          <a:off x="609600" y="1591733"/>
          <a:ext cx="10972800" cy="1981200"/>
        </p:xfrm>
        <a:graphic>
          <a:graphicData uri="http://schemas.openxmlformats.org/drawingml/2006/table">
            <a:tbl>
              <a:tblPr firstRow="1" bandRow="1">
                <a:tableStyleId>{FABFCF23-3B69-468F-B69F-88F6DE6A72F2}</a:tableStyleId>
              </a:tblPr>
              <a:tblGrid>
                <a:gridCol w="36576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487680">
                <a:tc>
                  <a:txBody>
                    <a:bodyPr/>
                    <a:lstStyle/>
                    <a:p>
                      <a:pPr marL="0" lvl="0" indent="0">
                        <a:buNone/>
                      </a:pPr>
                      <a:r>
                        <a:rPr sz="2400"/>
                        <a:t>Focus Area</a:t>
                      </a:r>
                    </a:p>
                  </a:txBody>
                  <a:tcPr marL="121920" marR="121920" marT="60960" marB="60960"/>
                </a:tc>
                <a:tc>
                  <a:txBody>
                    <a:bodyPr/>
                    <a:lstStyle/>
                    <a:p>
                      <a:pPr marL="0" lvl="0" indent="0">
                        <a:buNone/>
                      </a:pPr>
                      <a:r>
                        <a:rPr sz="2400"/>
                        <a:t>AI‑First</a:t>
                      </a:r>
                    </a:p>
                  </a:txBody>
                  <a:tcPr marL="121920" marR="121920" marT="60960" marB="60960"/>
                </a:tc>
                <a:tc>
                  <a:txBody>
                    <a:bodyPr/>
                    <a:lstStyle/>
                    <a:p>
                      <a:pPr marL="0" lvl="0" indent="0">
                        <a:buNone/>
                      </a:pPr>
                      <a:r>
                        <a:rPr sz="2400"/>
                        <a:t>Prompt‑First</a:t>
                      </a:r>
                    </a:p>
                  </a:txBody>
                  <a:tcPr marL="121920" marR="121920" marT="60960" marB="60960"/>
                </a:tc>
                <a:extLst>
                  <a:ext uri="{0D108BD9-81ED-4DB2-BD59-A6C34878D82A}">
                    <a16:rowId xmlns:a16="http://schemas.microsoft.com/office/drawing/2014/main" val="10000"/>
                  </a:ext>
                </a:extLst>
              </a:tr>
              <a:tr h="487680">
                <a:tc>
                  <a:txBody>
                    <a:bodyPr/>
                    <a:lstStyle/>
                    <a:p>
                      <a:pPr marL="0" lvl="0" indent="0">
                        <a:buNone/>
                      </a:pPr>
                      <a:r>
                        <a:rPr sz="2400"/>
                        <a:t>Scope</a:t>
                      </a:r>
                    </a:p>
                  </a:txBody>
                  <a:tcPr marL="121920" marR="121920" marT="60960" marB="60960"/>
                </a:tc>
                <a:tc>
                  <a:txBody>
                    <a:bodyPr/>
                    <a:lstStyle/>
                    <a:p>
                      <a:pPr marL="0" lvl="0" indent="0">
                        <a:buNone/>
                      </a:pPr>
                      <a:r>
                        <a:rPr sz="2400"/>
                        <a:t>Entire SDLC</a:t>
                      </a:r>
                    </a:p>
                  </a:txBody>
                  <a:tcPr marL="121920" marR="121920" marT="60960" marB="60960"/>
                </a:tc>
                <a:tc>
                  <a:txBody>
                    <a:bodyPr/>
                    <a:lstStyle/>
                    <a:p>
                      <a:pPr marL="0" lvl="0" indent="0">
                        <a:buNone/>
                      </a:pPr>
                      <a:r>
                        <a:rPr sz="2400"/>
                        <a:t>Interaction layer</a:t>
                      </a:r>
                    </a:p>
                  </a:txBody>
                  <a:tcPr marL="121920" marR="121920" marT="60960" marB="60960"/>
                </a:tc>
                <a:extLst>
                  <a:ext uri="{0D108BD9-81ED-4DB2-BD59-A6C34878D82A}">
                    <a16:rowId xmlns:a16="http://schemas.microsoft.com/office/drawing/2014/main" val="10001"/>
                  </a:ext>
                </a:extLst>
              </a:tr>
              <a:tr h="487680">
                <a:tc>
                  <a:txBody>
                    <a:bodyPr/>
                    <a:lstStyle/>
                    <a:p>
                      <a:pPr marL="0" lvl="0" indent="0">
                        <a:buNone/>
                      </a:pPr>
                      <a:r>
                        <a:rPr sz="2400"/>
                        <a:t>Goal</a:t>
                      </a:r>
                    </a:p>
                  </a:txBody>
                  <a:tcPr marL="121920" marR="121920" marT="60960" marB="60960"/>
                </a:tc>
                <a:tc>
                  <a:txBody>
                    <a:bodyPr/>
                    <a:lstStyle/>
                    <a:p>
                      <a:pPr marL="0" lvl="0" indent="0">
                        <a:buNone/>
                      </a:pPr>
                      <a:r>
                        <a:rPr sz="2400"/>
                        <a:t>Lifecycle integration</a:t>
                      </a:r>
                    </a:p>
                  </a:txBody>
                  <a:tcPr marL="121920" marR="121920" marT="60960" marB="60960"/>
                </a:tc>
                <a:tc>
                  <a:txBody>
                    <a:bodyPr/>
                    <a:lstStyle/>
                    <a:p>
                      <a:pPr marL="0" lvl="0" indent="0">
                        <a:buNone/>
                      </a:pPr>
                      <a:r>
                        <a:rPr sz="2400"/>
                        <a:t>Deterministic AI behavior</a:t>
                      </a:r>
                    </a:p>
                  </a:txBody>
                  <a:tcPr marL="121920" marR="121920" marT="60960" marB="60960"/>
                </a:tc>
                <a:extLst>
                  <a:ext uri="{0D108BD9-81ED-4DB2-BD59-A6C34878D82A}">
                    <a16:rowId xmlns:a16="http://schemas.microsoft.com/office/drawing/2014/main" val="10002"/>
                  </a:ext>
                </a:extLst>
              </a:tr>
              <a:tr h="487680">
                <a:tc>
                  <a:txBody>
                    <a:bodyPr/>
                    <a:lstStyle/>
                    <a:p>
                      <a:pPr marL="0" lvl="0" indent="0">
                        <a:buNone/>
                      </a:pPr>
                      <a:r>
                        <a:rPr sz="2400"/>
                        <a:t>Optimization</a:t>
                      </a:r>
                    </a:p>
                  </a:txBody>
                  <a:tcPr marL="121920" marR="121920" marT="60960" marB="60960"/>
                </a:tc>
                <a:tc>
                  <a:txBody>
                    <a:bodyPr/>
                    <a:lstStyle/>
                    <a:p>
                      <a:pPr marL="0" lvl="0" indent="0">
                        <a:buNone/>
                      </a:pPr>
                      <a:r>
                        <a:rPr sz="2400"/>
                        <a:t>Velocity, governance</a:t>
                      </a:r>
                    </a:p>
                  </a:txBody>
                  <a:tcPr marL="121920" marR="121920" marT="60960" marB="60960"/>
                </a:tc>
                <a:tc>
                  <a:txBody>
                    <a:bodyPr/>
                    <a:lstStyle/>
                    <a:p>
                      <a:pPr marL="0" lvl="0" indent="0">
                        <a:buNone/>
                      </a:pPr>
                      <a:r>
                        <a:rPr sz="2400"/>
                        <a:t>Prompt quality, reproducibility</a:t>
                      </a:r>
                    </a:p>
                  </a:txBody>
                  <a:tcPr marL="121920" marR="121920" marT="60960" marB="60960"/>
                </a:tc>
                <a:extLst>
                  <a:ext uri="{0D108BD9-81ED-4DB2-BD59-A6C34878D82A}">
                    <a16:rowId xmlns:a16="http://schemas.microsoft.com/office/drawing/2014/main" val="10003"/>
                  </a:ext>
                </a:extLst>
              </a:tr>
              <a:tr h="853440">
                <a:tc>
                  <a:txBody>
                    <a:bodyPr/>
                    <a:lstStyle/>
                    <a:p>
                      <a:pPr marL="0" lvl="0" indent="0">
                        <a:buNone/>
                      </a:pPr>
                      <a:r>
                        <a:rPr sz="2400"/>
                        <a:t>Risk Controls</a:t>
                      </a:r>
                    </a:p>
                  </a:txBody>
                  <a:tcPr marL="121920" marR="121920" marT="60960" marB="60960"/>
                </a:tc>
                <a:tc>
                  <a:txBody>
                    <a:bodyPr/>
                    <a:lstStyle/>
                    <a:p>
                      <a:pPr marL="0" lvl="0" indent="0">
                        <a:buNone/>
                      </a:pPr>
                      <a:r>
                        <a:rPr sz="2400" dirty="0"/>
                        <a:t>Human‑in‑loop, provenance</a:t>
                      </a:r>
                    </a:p>
                  </a:txBody>
                  <a:tcPr marL="121920" marR="121920" marT="60960" marB="60960"/>
                </a:tc>
                <a:tc>
                  <a:txBody>
                    <a:bodyPr/>
                    <a:lstStyle/>
                    <a:p>
                      <a:pPr marL="0" lvl="0" indent="0">
                        <a:buNone/>
                      </a:pPr>
                      <a:r>
                        <a:rPr sz="2400" dirty="0"/>
                        <a:t>Versioned prompts, context control</a:t>
                      </a:r>
                    </a:p>
                  </a:txBody>
                  <a:tcPr marL="121920" marR="121920" marT="60960" marB="60960"/>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How They Treat Artifacts</a:t>
            </a:r>
          </a:p>
        </p:txBody>
      </p:sp>
      <p:sp>
        <p:nvSpPr>
          <p:cNvPr id="3" name="Content Placeholder 2"/>
          <p:cNvSpPr>
            <a:spLocks noGrp="1"/>
          </p:cNvSpPr>
          <p:nvPr>
            <p:ph idx="1"/>
          </p:nvPr>
        </p:nvSpPr>
        <p:spPr/>
        <p:txBody>
          <a:bodyPr>
            <a:normAutofit fontScale="85000" lnSpcReduction="20000"/>
          </a:bodyPr>
          <a:lstStyle/>
          <a:p>
            <a:pPr marL="0" indent="0">
              <a:spcBef>
                <a:spcPts val="4000"/>
              </a:spcBef>
              <a:buNone/>
            </a:pPr>
            <a:r>
              <a:rPr b="1" dirty="0"/>
              <a:t>AI‑First</a:t>
            </a:r>
          </a:p>
          <a:p>
            <a:pPr lvl="0"/>
            <a:r>
              <a:rPr dirty="0"/>
              <a:t>Requirements written with AI collaboration in mind</a:t>
            </a:r>
          </a:p>
          <a:p>
            <a:pPr lvl="0"/>
            <a:r>
              <a:rPr dirty="0"/>
              <a:t>AI‑generated scaffolds, tests, docs</a:t>
            </a:r>
          </a:p>
          <a:p>
            <a:pPr lvl="0"/>
            <a:r>
              <a:rPr dirty="0"/>
              <a:t>Provenance enforced across all AI outputs</a:t>
            </a:r>
          </a:p>
          <a:p>
            <a:pPr lvl="0"/>
            <a:r>
              <a:rPr dirty="0"/>
              <a:t>Architecture assumes AI participation</a:t>
            </a:r>
          </a:p>
          <a:p>
            <a:pPr marL="0" indent="0">
              <a:spcBef>
                <a:spcPts val="4000"/>
              </a:spcBef>
              <a:buNone/>
            </a:pPr>
            <a:r>
              <a:rPr b="1" dirty="0"/>
              <a:t>Prompt‑First</a:t>
            </a:r>
          </a:p>
          <a:p>
            <a:pPr lvl="0"/>
            <a:r>
              <a:rPr dirty="0"/>
              <a:t>Prompts and instruction files are version‑controlled</a:t>
            </a:r>
          </a:p>
          <a:p>
            <a:pPr lvl="0"/>
            <a:r>
              <a:rPr dirty="0"/>
              <a:t>Prompts define behavioral contracts</a:t>
            </a:r>
          </a:p>
          <a:p>
            <a:pPr lvl="0"/>
            <a:r>
              <a:rPr dirty="0"/>
              <a:t>Reusable prompt modules</a:t>
            </a:r>
          </a:p>
          <a:p>
            <a:pPr lvl="0"/>
            <a:r>
              <a:rPr dirty="0"/>
              <a:t>Chat modes define safe, predictable interactions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Relationship Between the Two</a:t>
            </a:r>
          </a:p>
        </p:txBody>
      </p:sp>
      <p:sp>
        <p:nvSpPr>
          <p:cNvPr id="3" name="Content Placeholder 2"/>
          <p:cNvSpPr>
            <a:spLocks noGrp="1"/>
          </p:cNvSpPr>
          <p:nvPr>
            <p:ph idx="1"/>
          </p:nvPr>
        </p:nvSpPr>
        <p:spPr/>
        <p:txBody>
          <a:bodyPr/>
          <a:lstStyle/>
          <a:p>
            <a:pPr marL="0" indent="0">
              <a:buNone/>
            </a:pPr>
            <a:r>
              <a:rPr b="1"/>
              <a:t>Prompt‑First is a subset of AI‑First.</a:t>
            </a:r>
          </a:p>
          <a:p>
            <a:pPr lvl="0"/>
            <a:r>
              <a:t>Prompt‑First = mechanics</a:t>
            </a:r>
          </a:p>
          <a:p>
            <a:pPr lvl="0"/>
            <a:r>
              <a:t>AI‑First = philosophy + architecture + lifecycle integration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5BC-7B40-2F68-9C8D-21CAE7E58CAE}"/>
              </a:ext>
            </a:extLst>
          </p:cNvPr>
          <p:cNvSpPr>
            <a:spLocks noGrp="1"/>
          </p:cNvSpPr>
          <p:nvPr>
            <p:ph type="title"/>
          </p:nvPr>
        </p:nvSpPr>
        <p:spPr/>
        <p:txBody>
          <a:bodyPr>
            <a:normAutofit/>
          </a:bodyPr>
          <a:lstStyle/>
          <a:p>
            <a:r>
              <a:rPr lang="en-US" dirty="0"/>
              <a:t>AI First </a:t>
            </a:r>
            <a:r>
              <a:rPr lang="en-US" sz="4800" dirty="0"/>
              <a:t>Software Development</a:t>
            </a:r>
            <a:endParaRPr lang="en-US" dirty="0"/>
          </a:p>
        </p:txBody>
      </p:sp>
      <p:sp>
        <p:nvSpPr>
          <p:cNvPr id="3" name="Content Placeholder 2">
            <a:extLst>
              <a:ext uri="{FF2B5EF4-FFF2-40B4-BE49-F238E27FC236}">
                <a16:creationId xmlns:a16="http://schemas.microsoft.com/office/drawing/2014/main" id="{762E5A45-BD24-E24D-31FB-D68C26F1AC5E}"/>
              </a:ext>
            </a:extLst>
          </p:cNvPr>
          <p:cNvSpPr>
            <a:spLocks noGrp="1"/>
          </p:cNvSpPr>
          <p:nvPr>
            <p:ph idx="1"/>
          </p:nvPr>
        </p:nvSpPr>
        <p:spPr/>
        <p:txBody>
          <a:bodyPr>
            <a:normAutofit fontScale="62500" lnSpcReduction="20000"/>
          </a:bodyPr>
          <a:lstStyle/>
          <a:p>
            <a:pPr marL="0" indent="0">
              <a:buNone/>
            </a:pPr>
            <a:r>
              <a:rPr lang="en-US" i="1" dirty="0"/>
              <a:t>Building software where AI is a core capability, not an add‑on</a:t>
            </a:r>
          </a:p>
          <a:p>
            <a:endParaRPr lang="en-US" b="1" i="1" dirty="0"/>
          </a:p>
          <a:p>
            <a:r>
              <a:rPr lang="en-US" b="1" dirty="0"/>
              <a:t>Why AI‑First</a:t>
            </a:r>
            <a:endParaRPr lang="en-US" dirty="0"/>
          </a:p>
          <a:p>
            <a:pPr lvl="1"/>
            <a:r>
              <a:rPr lang="en-US" dirty="0"/>
              <a:t>Software requirements increasingly expressed in natural language</a:t>
            </a:r>
          </a:p>
          <a:p>
            <a:pPr lvl="1"/>
            <a:r>
              <a:rPr lang="en-US" dirty="0"/>
              <a:t>AI copilots accelerate architecture, coding, testing, and documentation</a:t>
            </a:r>
          </a:p>
          <a:p>
            <a:pPr lvl="1"/>
            <a:r>
              <a:rPr lang="en-US" dirty="0"/>
              <a:t>Teams shift from “writing code” to “designing intent + validating outputs”</a:t>
            </a:r>
          </a:p>
          <a:p>
            <a:r>
              <a:rPr lang="en-US" b="1" dirty="0"/>
              <a:t>Core Principles</a:t>
            </a:r>
            <a:endParaRPr lang="en-US" dirty="0"/>
          </a:p>
          <a:p>
            <a:pPr lvl="1"/>
            <a:r>
              <a:rPr lang="en-US" b="1" dirty="0"/>
              <a:t>Prompt‑First Design:</a:t>
            </a:r>
            <a:r>
              <a:rPr lang="en-US" dirty="0"/>
              <a:t> Requirements, architecture, and workflows expressed as structured prompts</a:t>
            </a:r>
          </a:p>
          <a:p>
            <a:pPr lvl="1"/>
            <a:r>
              <a:rPr lang="en-US" b="1" dirty="0"/>
              <a:t>AI‑Native Architecture:</a:t>
            </a:r>
            <a:r>
              <a:rPr lang="en-US" dirty="0"/>
              <a:t> Modular services, clear boundaries, deterministic interfaces for AI‑generated components</a:t>
            </a:r>
          </a:p>
          <a:p>
            <a:pPr lvl="1"/>
            <a:r>
              <a:rPr lang="en-US" b="1" dirty="0"/>
              <a:t>Human‑in‑the‑Loop:</a:t>
            </a:r>
            <a:r>
              <a:rPr lang="en-US" dirty="0"/>
              <a:t> Review, validation, and traceability baked into every stage</a:t>
            </a:r>
          </a:p>
          <a:p>
            <a:pPr lvl="1"/>
            <a:r>
              <a:rPr lang="en-US" b="1" dirty="0"/>
              <a:t>Continuous Verification:</a:t>
            </a:r>
            <a:r>
              <a:rPr lang="en-US" dirty="0"/>
              <a:t> Automated tests, static analysis, and guardrails to ensure safe outputs</a:t>
            </a:r>
          </a:p>
          <a:p>
            <a:pPr lvl="1"/>
            <a:r>
              <a:rPr lang="en-US" b="1" dirty="0"/>
              <a:t>Lifecycle Governance:</a:t>
            </a:r>
            <a:r>
              <a:rPr lang="en-US" dirty="0"/>
              <a:t> Versioning, provenance, and risk‑based controls for AI‑generated artifacts</a:t>
            </a:r>
          </a:p>
          <a:p>
            <a:r>
              <a:rPr lang="en-US" b="1" dirty="0"/>
              <a:t>Outcomes</a:t>
            </a:r>
            <a:endParaRPr lang="en-US" dirty="0"/>
          </a:p>
          <a:p>
            <a:pPr lvl="1"/>
            <a:r>
              <a:rPr lang="en-US" dirty="0"/>
              <a:t>Faster iteration cycles</a:t>
            </a:r>
          </a:p>
          <a:p>
            <a:pPr lvl="1"/>
            <a:r>
              <a:rPr lang="en-US" dirty="0"/>
              <a:t>Higher coverage of documentation and tests</a:t>
            </a:r>
          </a:p>
          <a:p>
            <a:pPr lvl="1"/>
            <a:r>
              <a:rPr lang="en-US" dirty="0"/>
              <a:t>Reduced cognitive load on developers</a:t>
            </a:r>
          </a:p>
          <a:p>
            <a:pPr lvl="1"/>
            <a:r>
              <a:rPr lang="en-US" dirty="0"/>
              <a:t>More resilient, adaptable systems</a:t>
            </a:r>
          </a:p>
        </p:txBody>
      </p:sp>
    </p:spTree>
    <p:extLst>
      <p:ext uri="{BB962C8B-B14F-4D97-AF65-F5344CB8AC3E}">
        <p14:creationId xmlns:p14="http://schemas.microsoft.com/office/powerpoint/2010/main" val="4144982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4E18-4497-4039-1BF6-C51FCE79393A}"/>
              </a:ext>
            </a:extLst>
          </p:cNvPr>
          <p:cNvSpPr>
            <a:spLocks noGrp="1"/>
          </p:cNvSpPr>
          <p:nvPr>
            <p:ph type="title"/>
          </p:nvPr>
        </p:nvSpPr>
        <p:spPr/>
        <p:txBody>
          <a:bodyPr>
            <a:noAutofit/>
          </a:bodyPr>
          <a:lstStyle/>
          <a:p>
            <a:r>
              <a:rPr lang="en-US" sz="3733" dirty="0"/>
              <a:t>Prompt‑First Software Development</a:t>
            </a:r>
          </a:p>
        </p:txBody>
      </p:sp>
      <p:sp>
        <p:nvSpPr>
          <p:cNvPr id="3" name="Content Placeholder 2">
            <a:extLst>
              <a:ext uri="{FF2B5EF4-FFF2-40B4-BE49-F238E27FC236}">
                <a16:creationId xmlns:a16="http://schemas.microsoft.com/office/drawing/2014/main" id="{5EAA5206-8908-DB9E-DE43-3276CBF64FCC}"/>
              </a:ext>
            </a:extLst>
          </p:cNvPr>
          <p:cNvSpPr>
            <a:spLocks noGrp="1"/>
          </p:cNvSpPr>
          <p:nvPr>
            <p:ph idx="1"/>
          </p:nvPr>
        </p:nvSpPr>
        <p:spPr/>
        <p:txBody>
          <a:bodyPr>
            <a:normAutofit fontScale="62500" lnSpcReduction="20000"/>
          </a:bodyPr>
          <a:lstStyle/>
          <a:p>
            <a:pPr marL="0" indent="0">
              <a:buNone/>
            </a:pPr>
            <a:r>
              <a:rPr lang="en-US" b="1" i="1" dirty="0"/>
              <a:t>Design the intent first — let AI generate the implementation</a:t>
            </a:r>
          </a:p>
          <a:p>
            <a:pPr marL="0" indent="0">
              <a:buNone/>
            </a:pPr>
            <a:endParaRPr lang="en-US" b="1" dirty="0"/>
          </a:p>
          <a:p>
            <a:r>
              <a:rPr lang="en-US" b="1" dirty="0"/>
              <a:t>Why Prompt‑First</a:t>
            </a:r>
          </a:p>
          <a:p>
            <a:pPr lvl="1"/>
            <a:r>
              <a:rPr lang="en-US" dirty="0"/>
              <a:t>Behaviors, and constraints expressed in structured natural language</a:t>
            </a:r>
          </a:p>
          <a:p>
            <a:pPr lvl="1"/>
            <a:r>
              <a:rPr lang="en-US" dirty="0"/>
              <a:t>Prompts become the new “source of truth” artifacts</a:t>
            </a:r>
          </a:p>
          <a:p>
            <a:pPr lvl="1"/>
            <a:r>
              <a:rPr lang="en-US" dirty="0"/>
              <a:t>Teams shift from writing functions to defining outcomes, invariants, and interfaces</a:t>
            </a:r>
          </a:p>
          <a:p>
            <a:r>
              <a:rPr lang="en-US" b="1" dirty="0"/>
              <a:t>Core Practices</a:t>
            </a:r>
          </a:p>
          <a:p>
            <a:pPr lvl="1"/>
            <a:r>
              <a:rPr lang="en-US" dirty="0"/>
              <a:t>Structured Prompts: Use templates for features, APIs, data models, tests, and refactors</a:t>
            </a:r>
          </a:p>
          <a:p>
            <a:pPr lvl="1"/>
            <a:r>
              <a:rPr lang="en-US" dirty="0"/>
              <a:t>Instruction Files: Persistent, versioned artifacts guiding AI code generation</a:t>
            </a:r>
          </a:p>
          <a:p>
            <a:pPr lvl="1"/>
            <a:r>
              <a:rPr lang="en-US" dirty="0"/>
              <a:t>Deterministic Boundaries: Clear module contracts so AI‑generated code stays predictable</a:t>
            </a:r>
          </a:p>
          <a:p>
            <a:pPr lvl="1"/>
            <a:r>
              <a:rPr lang="en-US" dirty="0"/>
              <a:t>Validation Loops: Automated tests + human review ensure correctness and safety</a:t>
            </a:r>
          </a:p>
          <a:p>
            <a:pPr lvl="1"/>
            <a:r>
              <a:rPr lang="en-US" dirty="0"/>
              <a:t>Prompt Versioning: Track evolution of intent just like code changes</a:t>
            </a:r>
          </a:p>
          <a:p>
            <a:r>
              <a:rPr lang="en-US" b="1" dirty="0"/>
              <a:t>Benefits</a:t>
            </a:r>
          </a:p>
          <a:p>
            <a:pPr lvl="1"/>
            <a:r>
              <a:rPr lang="en-US" dirty="0"/>
              <a:t>Faster iteration from idea → working software</a:t>
            </a:r>
          </a:p>
          <a:p>
            <a:pPr lvl="1"/>
            <a:r>
              <a:rPr lang="en-US" dirty="0"/>
              <a:t>Higher consistency across generated components</a:t>
            </a:r>
          </a:p>
          <a:p>
            <a:pPr lvl="1"/>
            <a:r>
              <a:rPr lang="en-US" dirty="0"/>
              <a:t>Reduced cognitive load on developers</a:t>
            </a:r>
          </a:p>
          <a:p>
            <a:pPr lvl="1"/>
            <a:r>
              <a:rPr lang="en-US" dirty="0"/>
              <a:t>Better alignment between business intent and implementation</a:t>
            </a:r>
          </a:p>
        </p:txBody>
      </p:sp>
    </p:spTree>
    <p:extLst>
      <p:ext uri="{BB962C8B-B14F-4D97-AF65-F5344CB8AC3E}">
        <p14:creationId xmlns:p14="http://schemas.microsoft.com/office/powerpoint/2010/main" val="2043089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1586</Words>
  <Application>Microsoft Office PowerPoint</Application>
  <PresentationFormat>Widescreen</PresentationFormat>
  <Paragraphs>157</Paragraphs>
  <Slides>8</Slides>
  <Notes>8</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The AI Revolution?</vt:lpstr>
      <vt:lpstr>Why AI Assisted Software Development</vt:lpstr>
      <vt:lpstr>AI‑First &amp; Prompt‑First</vt:lpstr>
      <vt:lpstr>What Each Optimizes For</vt:lpstr>
      <vt:lpstr>How They Treat Artifacts</vt:lpstr>
      <vt:lpstr>Relationship Between the Two</vt:lpstr>
      <vt:lpstr>AI First Software Development</vt:lpstr>
      <vt:lpstr>Prompt‑First Software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2026-03-05T23:12:16Z</dcterms:created>
  <dcterms:modified xsi:type="dcterms:W3CDTF">2026-03-05T23:13:18Z</dcterms:modified>
</cp:coreProperties>
</file>