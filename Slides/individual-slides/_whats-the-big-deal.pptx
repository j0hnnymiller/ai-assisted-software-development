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What’s the Big Deal?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AI-Assisted Software Development: Evolution, Not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By John Miller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“Programming hasn’t changed, but how we go about it has changed, again.”</a:t>
            </a:r>
          </a:p>
          <a:p>
            <a:pPr lvl="0"/>
            <a:r>
              <a:rPr/>
              <a:t>AI-assisted development is </a:t>
            </a:r>
            <a:r>
              <a:rPr b="1"/>
              <a:t>evolutionary</a:t>
            </a:r>
            <a:r>
              <a:rPr/>
              <a:t>, not revolutionary</a:t>
            </a:r>
          </a:p>
          <a:p>
            <a:pPr lvl="0"/>
            <a:r>
              <a:rPr/>
              <a:t>Programming has always been about </a:t>
            </a:r>
            <a:r>
              <a:rPr b="1"/>
              <a:t>expressing human intent</a:t>
            </a:r>
            <a:r>
              <a:rPr/>
              <a:t> to machines</a:t>
            </a:r>
          </a:p>
          <a:p>
            <a:pPr lvl="0"/>
            <a:r>
              <a:rPr/>
              <a:t>What changes is the </a:t>
            </a:r>
            <a:r>
              <a:rPr b="1"/>
              <a:t>sophistication of our tools</a:t>
            </a:r>
            <a:r>
              <a:rPr/>
              <a:t> for expressing intent</a:t>
            </a:r>
          </a:p>
          <a:p>
            <a:pPr lvl="0"/>
            <a:r>
              <a:rPr/>
              <a:t>The essence remains: bridging the gap between what we want and what machines can do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Brief History: Machine Code &amp; Assembly (1940s)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Machine Code</a:t>
            </a:r>
            <a:r>
              <a:rPr/>
              <a:t>: Raw binary language executed directly by hardware</a:t>
            </a:r>
          </a:p>
          <a:p>
            <a:pPr lvl="0"/>
            <a:r>
              <a:rPr b="1"/>
              <a:t>Physical Programming</a:t>
            </a:r>
            <a:r>
              <a:rPr/>
              <a:t>:</a:t>
            </a:r>
          </a:p>
          <a:p>
            <a:pPr lvl="1"/>
            <a:r>
              <a:rPr/>
              <a:t>Flipping panel switches</a:t>
            </a:r>
          </a:p>
          <a:p>
            <a:pPr lvl="1"/>
            <a:r>
              <a:rPr/>
              <a:t>Plugging cables</a:t>
            </a:r>
          </a:p>
          <a:p>
            <a:pPr lvl="1"/>
            <a:r>
              <a:rPr/>
              <a:t>Feeding punched cards into IBM readers</a:t>
            </a:r>
          </a:p>
          <a:p>
            <a:pPr lvl="1"/>
            <a:r>
              <a:rPr/>
              <a:t>Threading perforated paper tape</a:t>
            </a:r>
          </a:p>
          <a:p>
            <a:pPr lvl="0" indent="0" marL="0">
              <a:buNone/>
            </a:pPr>
            <a:r>
              <a:rPr b="1"/>
              <a:t>Assembly Language</a:t>
            </a:r>
            <a:r>
              <a:rPr/>
              <a:t>: Introduced symbolic mnemonics (MOV, ADD, JMP)</a:t>
            </a:r>
          </a:p>
          <a:p>
            <a:pPr lvl="0"/>
            <a:r>
              <a:rPr b="1"/>
              <a:t>Enabling Technology</a:t>
            </a:r>
            <a:r>
              <a:rPr/>
              <a:t>: Assemblers that translated mnemonics into machine code</a:t>
            </a:r>
          </a:p>
          <a:p>
            <a:pPr lvl="0"/>
            <a:r>
              <a:rPr/>
              <a:t>Still mainstream today in embedded systems and OS kernels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High-Level Languages (1950s-1970s)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Abstraction Revolution</a:t>
            </a:r>
            <a:r>
              <a:rPr/>
              <a:t>:</a:t>
            </a:r>
          </a:p>
          <a:p>
            <a:pPr lvl="0"/>
            <a:r>
              <a:rPr/>
              <a:t>Math-like and business-oriented syntax</a:t>
            </a:r>
          </a:p>
          <a:p>
            <a:pPr lvl="0"/>
            <a:r>
              <a:rPr b="1"/>
              <a:t>Enabling Technologies</a:t>
            </a:r>
            <a:r>
              <a:rPr/>
              <a:t>: Compilers and interpreters</a:t>
            </a:r>
          </a:p>
          <a:p>
            <a:pPr lvl="0" indent="0" marL="0">
              <a:buNone/>
            </a:pPr>
            <a:r>
              <a:rPr b="1"/>
              <a:t>Key Languages</a:t>
            </a:r>
            <a:r>
              <a:rPr/>
              <a:t>:</a:t>
            </a:r>
          </a:p>
          <a:p>
            <a:pPr lvl="0"/>
            <a:r>
              <a:rPr b="1"/>
              <a:t>FORTRAN (1957)</a:t>
            </a:r>
            <a:r>
              <a:rPr/>
              <a:t>: Pioneered scientific programming</a:t>
            </a:r>
          </a:p>
          <a:p>
            <a:pPr lvl="0"/>
            <a:r>
              <a:rPr b="1"/>
              <a:t>COBOL (1959)</a:t>
            </a:r>
            <a:r>
              <a:rPr/>
              <a:t>: Mainstream in business and government</a:t>
            </a:r>
          </a:p>
          <a:p>
            <a:pPr lvl="0"/>
            <a:r>
              <a:rPr b="1"/>
              <a:t>C (1972)</a:t>
            </a:r>
            <a:r>
              <a:rPr/>
              <a:t>: Spread with UNIX thanks to portable compilers</a:t>
            </a:r>
          </a:p>
          <a:p>
            <a:pPr lvl="0" indent="0" marL="0">
              <a:buNone/>
            </a:pPr>
            <a:r>
              <a:rPr b="1"/>
              <a:t>Sensory Shift</a:t>
            </a:r>
            <a:r>
              <a:rPr/>
              <a:t>: From mechanical card punches to typewriter-style terminals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Structured &amp; Object-Oriented Programming (1970s-1980s)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Focus</a:t>
            </a:r>
            <a:r>
              <a:rPr/>
              <a:t>: Modularity, reuse, and abstraction</a:t>
            </a:r>
          </a:p>
          <a:p>
            <a:pPr lvl="0" indent="0" marL="0">
              <a:buNone/>
            </a:pPr>
            <a:r>
              <a:rPr b="1"/>
              <a:t>Key Developments</a:t>
            </a:r>
            <a:r>
              <a:rPr/>
              <a:t>:</a:t>
            </a:r>
          </a:p>
          <a:p>
            <a:pPr lvl="0"/>
            <a:r>
              <a:rPr b="1"/>
              <a:t>Pascal (1970)</a:t>
            </a:r>
            <a:r>
              <a:rPr/>
              <a:t>: Structured paradigms with compiler innovations</a:t>
            </a:r>
          </a:p>
          <a:p>
            <a:pPr lvl="0"/>
            <a:r>
              <a:rPr b="1"/>
              <a:t>C++ (1985)</a:t>
            </a:r>
            <a:r>
              <a:rPr/>
              <a:t>: Object-oriented compilers supporting inheritance and polymorphism</a:t>
            </a:r>
          </a:p>
          <a:p>
            <a:pPr lvl="0" indent="0" marL="0">
              <a:buNone/>
            </a:pPr>
            <a:r>
              <a:rPr b="1"/>
              <a:t>Enabling Technologies</a:t>
            </a:r>
            <a:r>
              <a:rPr/>
              <a:t>:</a:t>
            </a:r>
          </a:p>
          <a:p>
            <a:pPr lvl="0"/>
            <a:r>
              <a:rPr/>
              <a:t>Advanced compiler innovations</a:t>
            </a:r>
          </a:p>
          <a:p>
            <a:pPr lvl="0"/>
            <a:r>
              <a:rPr/>
              <a:t>Support for inheritance and polymorphism</a:t>
            </a:r>
          </a:p>
          <a:p>
            <a:pPr lvl="0" indent="0" marL="0">
              <a:buNone/>
            </a:pPr>
            <a:r>
              <a:rPr b="1"/>
              <a:t>Era Experience</a:t>
            </a:r>
            <a:r>
              <a:rPr/>
              <a:t>: CRT monitors with green text, floppy disks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IDEs &amp; Libraries (1990s)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Integration Era</a:t>
            </a:r>
            <a:r>
              <a:rPr/>
              <a:t>:</a:t>
            </a:r>
          </a:p>
          <a:p>
            <a:pPr lvl="0"/>
            <a:r>
              <a:rPr b="1"/>
              <a:t>IDEs</a:t>
            </a:r>
            <a:r>
              <a:rPr/>
              <a:t>: Combined compilers, debuggers, and editors in graphical interfaces</a:t>
            </a:r>
          </a:p>
          <a:p>
            <a:pPr lvl="0"/>
            <a:r>
              <a:rPr b="1"/>
              <a:t>Visual Studio</a:t>
            </a:r>
            <a:r>
              <a:rPr/>
              <a:t>: Enabled by faster processors and GUI toolkits</a:t>
            </a:r>
          </a:p>
          <a:p>
            <a:pPr lvl="0"/>
            <a:r>
              <a:rPr b="1"/>
              <a:t>Java &amp; JVM (1995)</a:t>
            </a:r>
            <a:r>
              <a:rPr/>
              <a:t>: “Write once, run anywhere”</a:t>
            </a:r>
          </a:p>
          <a:p>
            <a:pPr lvl="0"/>
            <a:r>
              <a:rPr b="1"/>
              <a:t>Reusable Libraries</a:t>
            </a:r>
            <a:r>
              <a:rPr/>
              <a:t>: Abstracted common functionality</a:t>
            </a:r>
          </a:p>
          <a:p>
            <a:pPr lvl="0" indent="0" marL="0">
              <a:buNone/>
            </a:pPr>
            <a:r>
              <a:rPr b="1"/>
              <a:t>Enabling Technologies</a:t>
            </a:r>
            <a:r>
              <a:rPr/>
              <a:t>:</a:t>
            </a:r>
          </a:p>
          <a:p>
            <a:pPr lvl="0"/>
            <a:r>
              <a:rPr/>
              <a:t>Faster processors, GUI toolkits, extensible plug-in architectures</a:t>
            </a:r>
          </a:p>
          <a:p>
            <a:pPr lvl="0"/>
            <a:r>
              <a:rPr/>
              <a:t>Virtual machines</a:t>
            </a:r>
          </a:p>
          <a:p>
            <a:pPr lvl="0" indent="0" marL="0">
              <a:buNone/>
            </a:pPr>
            <a:r>
              <a:rPr b="1"/>
              <a:t>Experience</a:t>
            </a:r>
            <a:r>
              <a:rPr/>
              <a:t>: Mouse clicks, drag-and-drop, desktop computing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 &amp; Scripting Languages (Late 1990s-2000s)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Dynamic Web Era</a:t>
            </a:r>
            <a:r>
              <a:rPr/>
              <a:t>:</a:t>
            </a:r>
          </a:p>
          <a:p>
            <a:pPr lvl="0"/>
            <a:r>
              <a:rPr b="1"/>
              <a:t>JavaScript (1995)</a:t>
            </a:r>
            <a:r>
              <a:rPr/>
              <a:t>: Powered by Netscape, later V8 engine (2008)</a:t>
            </a:r>
          </a:p>
          <a:p>
            <a:pPr lvl="0"/>
            <a:r>
              <a:rPr b="1"/>
              <a:t>Python</a:t>
            </a:r>
            <a:r>
              <a:rPr/>
              <a:t>: Web development in 2000s, data science dominance</a:t>
            </a:r>
          </a:p>
          <a:p>
            <a:pPr lvl="0"/>
            <a:r>
              <a:rPr b="1"/>
              <a:t>Ruby on Rails (2004)</a:t>
            </a:r>
            <a:r>
              <a:rPr/>
              <a:t>: Abstracted web complexity</a:t>
            </a:r>
          </a:p>
          <a:p>
            <a:pPr lvl="0" indent="0" marL="0">
              <a:buNone/>
            </a:pPr>
            <a:r>
              <a:rPr b="1"/>
              <a:t>Enabling Technologies</a:t>
            </a:r>
            <a:r>
              <a:rPr/>
              <a:t>:</a:t>
            </a:r>
          </a:p>
          <a:p>
            <a:pPr lvl="0"/>
            <a:r>
              <a:rPr/>
              <a:t>Browser engines, dynamic interpreters, frameworks</a:t>
            </a:r>
          </a:p>
          <a:p>
            <a:pPr lvl="0"/>
            <a:r>
              <a:rPr/>
              <a:t>Eclipse IDE (2001)</a:t>
            </a:r>
          </a:p>
          <a:p>
            <a:pPr lvl="0" indent="0" marL="0">
              <a:buNone/>
            </a:pPr>
            <a:r>
              <a:rPr b="1"/>
              <a:t>Experience</a:t>
            </a:r>
            <a:r>
              <a:rPr/>
              <a:t>: Portable coding on laptops, coffee shop programming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Cloud, APIs &amp; Low-Code Platforms (2010s)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Orchestration Era</a:t>
            </a:r>
            <a:r>
              <a:rPr/>
              <a:t>:</a:t>
            </a:r>
          </a:p>
          <a:p>
            <a:pPr lvl="0"/>
            <a:r>
              <a:rPr b="1"/>
              <a:t>Cloud Computing</a:t>
            </a:r>
            <a:r>
              <a:rPr/>
              <a:t>: Virtualization and containerization (Docker, Kubernetes)</a:t>
            </a:r>
          </a:p>
          <a:p>
            <a:pPr lvl="0"/>
            <a:r>
              <a:rPr b="1"/>
              <a:t>APIs</a:t>
            </a:r>
            <a:r>
              <a:rPr/>
              <a:t>: REST and GraphQL enabled modular integration</a:t>
            </a:r>
          </a:p>
          <a:p>
            <a:pPr lvl="0"/>
            <a:r>
              <a:rPr b="1"/>
              <a:t>Low-Code Platforms</a:t>
            </a:r>
            <a:r>
              <a:rPr/>
              <a:t>: Mendix, OutSystems, PowerApps with visual compilers</a:t>
            </a:r>
          </a:p>
          <a:p>
            <a:pPr lvl="0" indent="0" marL="0">
              <a:buNone/>
            </a:pPr>
            <a:r>
              <a:rPr b="1"/>
              <a:t>Transformation</a:t>
            </a:r>
            <a:r>
              <a:rPr/>
              <a:t>: Programming shifted from hardware-bound tasks to orchestration</a:t>
            </a:r>
          </a:p>
          <a:p>
            <a:pPr lvl="0" indent="0" marL="0">
              <a:buNone/>
            </a:pPr>
            <a:r>
              <a:rPr b="1"/>
              <a:t>Experience</a:t>
            </a:r>
            <a:r>
              <a:rPr/>
              <a:t>: Browser dashboards, swiping, clicking, dragging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Modern Mainstream Coding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Intent Interpretation</a:t>
            </a:r>
            <a:r>
              <a:rPr/>
              <a:t>:</a:t>
            </a:r>
          </a:p>
          <a:p>
            <a:pPr lvl="0"/>
            <a:r>
              <a:rPr/>
              <a:t>Developers express intent in higher-level languages, frameworks, and APIs</a:t>
            </a:r>
          </a:p>
          <a:p>
            <a:pPr lvl="0"/>
            <a:r>
              <a:rPr/>
              <a:t>Compilers, interpreters, and VMs translate intent into executable code</a:t>
            </a:r>
          </a:p>
          <a:p>
            <a:pPr lvl="0"/>
            <a:r>
              <a:rPr/>
              <a:t>Libraries and cloud services provide ready-made building blocks</a:t>
            </a:r>
          </a:p>
          <a:p>
            <a:pPr lvl="0"/>
            <a:r>
              <a:rPr/>
              <a:t>Less about micromanaging hardware, more about shaping logic and workflows</a:t>
            </a:r>
          </a:p>
          <a:p>
            <a:pPr lvl="0" indent="0" marL="0">
              <a:buNone/>
            </a:pPr>
            <a:r>
              <a:rPr b="1"/>
              <a:t>The Core</a:t>
            </a:r>
            <a:r>
              <a:rPr/>
              <a:t>: Bridging human goals with machine execution through layers of abstraction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AI-Assisted Coding (Present/Future)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Natural Language Era</a:t>
            </a:r>
            <a:r>
              <a:rPr/>
              <a:t>:</a:t>
            </a:r>
          </a:p>
          <a:p>
            <a:pPr lvl="0" indent="0" marL="0">
              <a:buNone/>
            </a:pPr>
            <a:r>
              <a:rPr b="1"/>
              <a:t>Enabling Technologies</a:t>
            </a:r>
            <a:r>
              <a:rPr/>
              <a:t>:</a:t>
            </a:r>
          </a:p>
          <a:p>
            <a:pPr lvl="0"/>
            <a:r>
              <a:rPr/>
              <a:t>Large language models trained on vast code repositories</a:t>
            </a:r>
          </a:p>
          <a:p>
            <a:pPr lvl="0"/>
            <a:r>
              <a:rPr/>
              <a:t>Contextual intent recognition</a:t>
            </a:r>
          </a:p>
          <a:p>
            <a:pPr lvl="0"/>
            <a:r>
              <a:rPr/>
              <a:t>IDE integration</a:t>
            </a:r>
          </a:p>
          <a:p>
            <a:pPr lvl="0" indent="0" marL="0">
              <a:buNone/>
            </a:pPr>
            <a:r>
              <a:rPr b="1"/>
              <a:t>The Paradigm Shift</a:t>
            </a:r>
            <a:r>
              <a:rPr/>
              <a:t>: Programming becomes </a:t>
            </a:r>
            <a:r>
              <a:rPr b="1"/>
              <a:t>dialogue</a:t>
            </a:r>
          </a:p>
          <a:p>
            <a:pPr lvl="0"/>
            <a:r>
              <a:rPr/>
              <a:t>Express goals in plain language</a:t>
            </a:r>
          </a:p>
          <a:p>
            <a:pPr lvl="0"/>
            <a:r>
              <a:rPr/>
              <a:t>AI generates code, tests, and documentation</a:t>
            </a:r>
          </a:p>
          <a:p>
            <a:pPr lvl="0"/>
            <a:r>
              <a:rPr/>
              <a:t>Example: “Create a function that validates email addresses” → Complete implementation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Natural Language Coding: The Game Changer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Responsibility Shift</a:t>
            </a:r>
            <a:r>
              <a:rPr/>
              <a:t>:</a:t>
            </a:r>
          </a:p>
          <a:p>
            <a:pPr lvl="0"/>
            <a:r>
              <a:rPr/>
              <a:t>Previously: Coder translates intent into executable code</a:t>
            </a:r>
          </a:p>
          <a:p>
            <a:pPr lvl="0"/>
            <a:r>
              <a:rPr/>
              <a:t>Now: Intent expressed in natural language, AI interprets and generates</a:t>
            </a:r>
          </a:p>
          <a:p>
            <a:pPr lvl="0" indent="0" marL="0">
              <a:buNone/>
            </a:pPr>
            <a:r>
              <a:rPr b="1"/>
              <a:t>New Role of Programmer</a:t>
            </a:r>
            <a:r>
              <a:rPr/>
              <a:t>:</a:t>
            </a:r>
          </a:p>
          <a:p>
            <a:pPr lvl="0"/>
            <a:r>
              <a:rPr b="1"/>
              <a:t>Curator of context</a:t>
            </a:r>
          </a:p>
          <a:p>
            <a:pPr lvl="0"/>
            <a:r>
              <a:rPr b="1"/>
              <a:t>Validator of output</a:t>
            </a:r>
          </a:p>
          <a:p>
            <a:pPr lvl="0"/>
            <a:r>
              <a:rPr b="1"/>
              <a:t>Steward of alignment</a:t>
            </a:r>
            <a:r>
              <a:rPr/>
              <a:t> between human goals and machine behavior</a:t>
            </a:r>
          </a:p>
          <a:p>
            <a:pPr lvl="0" indent="0" marL="0">
              <a:buNone/>
            </a:pPr>
            <a:r>
              <a:rPr b="1"/>
              <a:t>Boundary Movement</a:t>
            </a:r>
            <a:r>
              <a:rPr/>
              <a:t>: Between domain expertise and implementation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Understands Intent—Not Just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Beyond Parsing</a:t>
            </a:r>
            <a:r>
              <a:rPr/>
              <a:t>: AI understands what you mean</a:t>
            </a:r>
          </a:p>
          <a:p>
            <a:pPr lvl="0"/>
            <a:r>
              <a:rPr/>
              <a:t>“Make this faster” → Performance optimizations</a:t>
            </a:r>
          </a:p>
          <a:p>
            <a:pPr lvl="0"/>
            <a:r>
              <a:rPr/>
              <a:t>“Add error handling” → Proper exception management</a:t>
            </a:r>
          </a:p>
          <a:p>
            <a:pPr lvl="0"/>
            <a:r>
              <a:rPr/>
              <a:t>“Log the output” → Appropriate logging implementation</a:t>
            </a:r>
          </a:p>
          <a:p>
            <a:pPr lvl="0" indent="0" marL="0">
              <a:buNone/>
            </a:pPr>
            <a:r>
              <a:rPr b="1"/>
              <a:t>New Interaction Modes</a:t>
            </a:r>
            <a:r>
              <a:rPr/>
              <a:t>:</a:t>
            </a:r>
          </a:p>
          <a:p>
            <a:pPr lvl="0"/>
            <a:r>
              <a:rPr/>
              <a:t>Sketches and examples as expressions of intent</a:t>
            </a:r>
          </a:p>
          <a:p>
            <a:pPr lvl="0"/>
            <a:r>
              <a:rPr/>
              <a:t>Test cases and bug reports → Code generation</a:t>
            </a:r>
          </a:p>
          <a:p>
            <a:pPr lvl="0"/>
            <a:r>
              <a:rPr/>
              <a:t>Conversational iteration like human collaboration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Just Another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Historical Perspective</a:t>
            </a:r>
            <a:r>
              <a:rPr/>
              <a:t>:</a:t>
            </a:r>
          </a:p>
          <a:p>
            <a:pPr lvl="0"/>
            <a:r>
              <a:rPr b="1"/>
              <a:t>IDEs</a:t>
            </a:r>
            <a:r>
              <a:rPr/>
              <a:t>: Auto-complete and debugging</a:t>
            </a:r>
          </a:p>
          <a:p>
            <a:pPr lvl="0"/>
            <a:r>
              <a:rPr b="1"/>
              <a:t>Libraries</a:t>
            </a:r>
            <a:r>
              <a:rPr/>
              <a:t>: Reusable components</a:t>
            </a:r>
          </a:p>
          <a:p>
            <a:pPr lvl="0"/>
            <a:r>
              <a:rPr b="1"/>
              <a:t>AI</a:t>
            </a:r>
            <a:r>
              <a:rPr/>
              <a:t>: Intelligent scaffolding, pattern recognition, code generation</a:t>
            </a:r>
          </a:p>
          <a:p>
            <a:pPr lvl="0" indent="0" marL="0">
              <a:buNone/>
            </a:pPr>
            <a:r>
              <a:rPr b="1"/>
              <a:t>Reality Check</a:t>
            </a:r>
            <a:r>
              <a:rPr/>
              <a:t>:</a:t>
            </a:r>
          </a:p>
          <a:p>
            <a:pPr lvl="0"/>
            <a:r>
              <a:rPr/>
              <a:t>AI is not replacing developers</a:t>
            </a:r>
          </a:p>
          <a:p>
            <a:pPr lvl="0"/>
            <a:r>
              <a:rPr/>
              <a:t>It’s helping them move faster and think bigger</a:t>
            </a:r>
          </a:p>
          <a:p>
            <a:pPr lvl="0"/>
            <a:r>
              <a:rPr/>
              <a:t>Following the same pattern as previous innovations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Verification Still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Unchanged Responsibilities</a:t>
            </a:r>
            <a:r>
              <a:rPr/>
              <a:t>:</a:t>
            </a:r>
          </a:p>
          <a:p>
            <a:pPr lvl="0"/>
            <a:r>
              <a:rPr b="1"/>
              <a:t>Testing, review, and validation</a:t>
            </a:r>
            <a:r>
              <a:rPr/>
              <a:t> still required</a:t>
            </a:r>
          </a:p>
          <a:p>
            <a:pPr lvl="0"/>
            <a:r>
              <a:rPr b="1"/>
              <a:t>Architecture, correctness, security, ethics</a:t>
            </a:r>
            <a:r>
              <a:rPr/>
              <a:t> remain developer duties</a:t>
            </a:r>
          </a:p>
          <a:p>
            <a:pPr lvl="0"/>
            <a:r>
              <a:rPr/>
              <a:t>Critical thinking is still essential</a:t>
            </a:r>
          </a:p>
          <a:p>
            <a:pPr lvl="0" indent="0" marL="0">
              <a:buNone/>
            </a:pPr>
            <a:r>
              <a:rPr b="1"/>
              <a:t>What Changed</a:t>
            </a:r>
            <a:r>
              <a:rPr/>
              <a:t>: How we express our goals </a:t>
            </a:r>
            <a:r>
              <a:rPr b="1"/>
              <a:t>What Didn’t Change</a:t>
            </a:r>
            <a:r>
              <a:rPr/>
              <a:t>: Whether we need to think critically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Future Is Still Intent-Driven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Continuity</a:t>
            </a:r>
            <a:r>
              <a:rPr/>
              <a:t>:</a:t>
            </a:r>
          </a:p>
          <a:p>
            <a:pPr lvl="0"/>
            <a:r>
              <a:rPr/>
              <a:t>Core goal remains: getting computers to do what we need</a:t>
            </a:r>
          </a:p>
          <a:p>
            <a:pPr lvl="0"/>
            <a:r>
              <a:rPr/>
              <a:t>Instead of writing/debugging code → creating prompts and refining context</a:t>
            </a:r>
          </a:p>
          <a:p>
            <a:pPr lvl="0"/>
            <a:r>
              <a:rPr/>
              <a:t>Same learning curve pattern as all previous improvements</a:t>
            </a:r>
          </a:p>
          <a:p>
            <a:pPr lvl="0" indent="0" marL="0">
              <a:buNone/>
            </a:pPr>
            <a:r>
              <a:rPr b="1"/>
              <a:t>Essential Truth</a:t>
            </a:r>
            <a:r>
              <a:rPr/>
              <a:t>: AI assistance is just another improvement in the long line of programming evolution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Fundamental Truth</a:t>
            </a:r>
            <a:r>
              <a:rPr/>
              <a:t>:</a:t>
            </a:r>
          </a:p>
          <a:p>
            <a:pPr lvl="0"/>
            <a:r>
              <a:rPr/>
              <a:t>Programming has </a:t>
            </a:r>
            <a:r>
              <a:rPr b="1"/>
              <a:t>always</a:t>
            </a:r>
            <a:r>
              <a:rPr/>
              <a:t> been about translating human intent into machine action</a:t>
            </a:r>
          </a:p>
          <a:p>
            <a:pPr lvl="0"/>
            <a:r>
              <a:rPr/>
              <a:t>From punch cards to Python to AI prompts—the core challenge remains unchanged</a:t>
            </a:r>
          </a:p>
          <a:p>
            <a:pPr lvl="0"/>
            <a:r>
              <a:rPr/>
              <a:t>What evolves is not the essence of programming, but the sophistication of our tools</a:t>
            </a:r>
          </a:p>
          <a:p>
            <a:pPr lvl="0" indent="0" marL="0">
              <a:buNone/>
            </a:pPr>
            <a:r>
              <a:rPr b="1"/>
              <a:t>AI’s Role</a:t>
            </a:r>
            <a:r>
              <a:rPr/>
              <a:t>:</a:t>
            </a:r>
          </a:p>
          <a:p>
            <a:pPr lvl="0"/>
            <a:r>
              <a:rPr/>
              <a:t>Latest chapter in the ongoing story</a:t>
            </a:r>
          </a:p>
          <a:p>
            <a:pPr lvl="0"/>
            <a:r>
              <a:rPr/>
              <a:t>More intuitive ways to communicate with computers</a:t>
            </a:r>
          </a:p>
          <a:p>
            <a:pPr lvl="0"/>
            <a:r>
              <a:rPr/>
              <a:t>Preserves essential human responsibilities: design, validation, ethical oversight</a:t>
            </a:r>
          </a:p>
          <a:p>
            <a:pPr lvl="0" indent="0" marL="0">
              <a:buNone/>
            </a:pPr>
            <a:r>
              <a:rPr b="1"/>
              <a:t>The Future</a:t>
            </a:r>
            <a:r>
              <a:rPr/>
              <a:t>: Not abandoning programming, but refining it—making it more accessible and efficient while keeping human creativity and judgment at the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2026-02-08T04:56:53Z</dcterms:created>
  <dcterms:modified xsi:type="dcterms:W3CDTF">2026-02-08T04:56:53Z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ai-logs/2026/02/07/marp-deck-wtbd-2026-02-07/conversation.md</vt:lpwstr>
  </property>
  <property fmtid="{D5CDD505-2E9C-101B-9397-08002B2CF9AE}" pid="4" name="chat_id">
    <vt:lpwstr>marp-deck-wtbd-2026-02-07</vt:lpwstr>
  </property>
  <property fmtid="{D5CDD505-2E9C-101B-9397-08002B2CF9AE}" pid="5" name="ended">
    <vt:lpwstr>2026-02-07T16:45:00Z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a marp slide deck from the main points in this blog post: https://www.codemag.com/blog/AIPractitioner/WTBD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2026-02-07T16:30:00Z</vt:lpwstr>
  </property>
  <property fmtid="{D5CDD505-2E9C-101B-9397-08002B2CF9AE}" pid="11" name="task_durations">
    <vt:lpwstr/>
  </property>
  <property fmtid="{D5CDD505-2E9C-101B-9397-08002B2CF9AE}" pid="12" name="total_duration">
    <vt:lpwstr>00:15:00</vt:lpwstr>
  </property>
</Properties>
</file>