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7" Type="http://schemas.openxmlformats.org/officeDocument/2006/relationships/viewProps" Target="viewProps.xml" /><Relationship Id="rId96" Type="http://schemas.openxmlformats.org/officeDocument/2006/relationships/presProps" Target="presProps.xml" /><Relationship Id="rId1" Type="http://schemas.openxmlformats.org/officeDocument/2006/relationships/slideMaster" Target="slideMasters/slideMaster1.xml" /><Relationship Id="rId99" Type="http://schemas.openxmlformats.org/officeDocument/2006/relationships/tableStyles" Target="tableStyles.xml" /><Relationship Id="rId9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image" Target="../media/image2.png"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AIASD Fundementals slides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Assisted Software Development</a:t>
            </a:r>
          </a:p>
        </p:txBody>
      </p:sp>
      <p:sp>
        <p:nvSpPr>
          <p:cNvPr id="3" name="Content Placeholder 2"/>
          <p:cNvSpPr>
            <a:spLocks noGrp="1"/>
          </p:cNvSpPr>
          <p:nvPr>
            <p:ph idx="1"/>
          </p:nvPr>
        </p:nvSpPr>
        <p:spPr/>
        <p:txBody>
          <a:bodyPr/>
          <a:lstStyle/>
          <a:p>
            <a:pPr lvl="0" indent="0" marL="0">
              <a:buNone/>
            </a:pPr>
            <a:r>
              <a:rPr/>
              <a:t>From Code to Copilot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Michael Miller</a:t>
            </a:r>
          </a:p>
        </p:txBody>
      </p:sp>
      <p:sp>
        <p:nvSpPr>
          <p:cNvPr id="3" name="Content Placeholder 2"/>
          <p:cNvSpPr>
            <a:spLocks noGrp="1"/>
          </p:cNvSpPr>
          <p:nvPr>
            <p:ph idx="1"/>
          </p:nvPr>
        </p:nvSpPr>
        <p:spPr/>
        <p:txBody>
          <a:bodyPr/>
          <a:lstStyle/>
          <a:p>
            <a:pPr lvl="0"/>
            <a:r>
              <a:rPr/>
              <a:t>Principal Software Engineer at CODE</a:t>
            </a:r>
          </a:p>
          <a:p>
            <a:pPr lvl="0"/>
            <a:r>
              <a:rPr/>
              <a:t>Played roles of developer, architect, devops engineer, platform engineer, test architect, release manager</a:t>
            </a:r>
          </a:p>
          <a:p>
            <a:pPr lvl="0"/>
            <a:r>
              <a:rPr/>
              <a:t>AI/ML enthusiast and advocate for effectively using AI to write code</a:t>
            </a:r>
          </a:p>
          <a:p>
            <a:pPr lvl="0" indent="0" marL="0">
              <a:buNone/>
            </a:pPr>
            <a:r>
              <a:rPr/>
              <a:t>LinkedIn: www.linkedin.com/in/johnmichaelmiller Email: john.miller@codemag.com Blog: https://codemag.com/blog/AIPractitioner AI Practitioner Resources: https://codemag.com/blog/AIPractitioner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30.png" id="0" name="Picture 1"/>
          <p:cNvPicPr>
            <a:picLocks noGrp="1" noChangeAspect="1"/>
          </p:cNvPicPr>
          <p:nvPr/>
        </p:nvPicPr>
        <p:blipFill>
          <a:blip r:embed="rId2"/>
          <a:stretch>
            <a:fillRect/>
          </a:stretch>
        </p:blipFill>
        <p:spPr bwMode="auto">
          <a:xfrm>
            <a:off x="457200" y="1320800"/>
            <a:ext cx="8229600" cy="26416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CODE 30 Years</a:t>
            </a:r>
          </a:p>
        </p:txBody>
      </p:sp>
      <p:pic>
        <p:nvPicPr>
          <p:cNvPr descr="images/CODE-Group.png" id="0" name="Picture 1"/>
          <p:cNvPicPr>
            <a:picLocks noGrp="1" noChangeAspect="1"/>
          </p:cNvPicPr>
          <p:nvPr/>
        </p:nvPicPr>
        <p:blipFill>
          <a:blip r:embed="rId3"/>
          <a:stretch>
            <a:fillRect/>
          </a:stretch>
        </p:blipFill>
        <p:spPr bwMode="auto">
          <a:xfrm>
            <a:off x="457200" y="1803400"/>
            <a:ext cx="8229600" cy="16510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CODE Group - Consulting, Staffing, Magazine, Training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30 years of “Helping People Build Better Software”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Assisted Software Development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AI Revolution?</a:t>
            </a:r>
          </a:p>
        </p:txBody>
      </p:sp>
      <p:sp>
        <p:nvSpPr>
          <p:cNvPr id="3" name="Content Placeholder 2"/>
          <p:cNvSpPr>
            <a:spLocks noGrp="1"/>
          </p:cNvSpPr>
          <p:nvPr>
            <p:ph idx="1"/>
          </p:nvPr>
        </p:nvSpPr>
        <p:spPr/>
        <p:txBody>
          <a:bodyPr/>
          <a:lstStyle/>
          <a:p>
            <a:pPr lvl="0" indent="0" marL="0">
              <a:buNone/>
            </a:pPr>
            <a:r>
              <a:rPr/>
              <a:t>“Programming hasn’t changed, but how we go about it has changed, again.” AI-assisted development is evolutionary, not revolutionary Programming has always been about expressing human intent to machines What changes is the sophistication of our tools for expressing intent The essence remains: bridging the gap between what we want and what machines can do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AI Assisted Software Development</a:t>
            </a:r>
          </a:p>
        </p:txBody>
      </p:sp>
      <p:sp>
        <p:nvSpPr>
          <p:cNvPr id="3" name="Content Placeholder 2"/>
          <p:cNvSpPr>
            <a:spLocks noGrp="1"/>
          </p:cNvSpPr>
          <p:nvPr>
            <p:ph idx="1"/>
          </p:nvPr>
        </p:nvSpPr>
        <p:spPr/>
        <p:txBody>
          <a:bodyPr/>
          <a:lstStyle/>
          <a:p>
            <a:pPr lvl="0" indent="0" marL="0">
              <a:buNone/>
            </a:pPr>
            <a:r>
              <a:rPr/>
              <a:t>If used effectively, it will give you superpowers</a:t>
            </a:r>
          </a:p>
          <a:p>
            <a:pPr lvl="0"/>
            <a:r>
              <a:rPr/>
              <a:t>The courage to</a:t>
            </a:r>
          </a:p>
          <a:p>
            <a:pPr lvl="1"/>
            <a:r>
              <a:rPr/>
              <a:t>Take on codebases that few would touch</a:t>
            </a:r>
          </a:p>
          <a:p>
            <a:pPr lvl="1"/>
            <a:r>
              <a:rPr/>
              <a:t>Use technologies you should know but don’t</a:t>
            </a:r>
          </a:p>
          <a:p>
            <a:pPr lvl="1"/>
            <a:r>
              <a:rPr/>
              <a:t>Write more high-quality code than you have ever written before</a:t>
            </a:r>
          </a:p>
          <a:p>
            <a:pPr lvl="1"/>
            <a:r>
              <a:rPr/>
              <a:t>Take on the nice to haves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AI‑First &amp; Prompt‑First</a:t>
            </a:r>
          </a:p>
        </p:txBody>
      </p:sp>
      <p:sp>
        <p:nvSpPr>
          <p:cNvPr id="3" name="Content Placeholder 2"/>
          <p:cNvSpPr>
            <a:spLocks noGrp="1"/>
          </p:cNvSpPr>
          <p:nvPr>
            <p:ph idx="1"/>
          </p:nvPr>
        </p:nvSpPr>
        <p:spPr/>
        <p:txBody>
          <a:bodyPr/>
          <a:lstStyle/>
          <a:p>
            <a:pPr lvl="0" indent="0" marL="0">
              <a:buNone/>
            </a:pPr>
            <a:r>
              <a:rPr/>
              <a:t>AI‑First Development A software engineering philosophy where AI is embedded across the entire SDLC–requirements, design, implementation, testing, documentation, compliance, and maintenance. Prompt‑First Development A workflow pattern where prompts, instruction files, and chat modes are treated as first‑class, version‑controlled artifacts.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Each Optimizes For</a:t>
            </a:r>
          </a:p>
        </p:txBody>
      </p:sp>
      <p:sp>
        <p:nvSpPr>
          <p:cNvPr id="3" name="Content Placeholder 2"/>
          <p:cNvSpPr>
            <a:spLocks noGrp="1"/>
          </p:cNvSpPr>
          <p:nvPr>
            <p:ph idx="1"/>
          </p:nvPr>
        </p:nvSpPr>
        <p:spPr/>
        <p:txBody>
          <a:bodyPr/>
          <a:lstStyle/>
          <a:p>
            <a:pPr lvl="0" indent="0" marL="0">
              <a:buNone/>
            </a:pPr>
            <a:r>
              <a:rPr/>
              <a:t>Focus Area | AI‑First | Prompt‑First Scope | Entire SDLC | Interaction layer Goal | Lifecycle integration | Deterministic AI behavior Optimization | Velocity, governance | Prompt quality, reproducibility Risk Controls | Human‑in‑loop, provenance | Versioned prompts, context control</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They Treat Artifacts</a:t>
            </a:r>
          </a:p>
        </p:txBody>
      </p:sp>
      <p:sp>
        <p:nvSpPr>
          <p:cNvPr id="3" name="Content Placeholder 2"/>
          <p:cNvSpPr>
            <a:spLocks noGrp="1"/>
          </p:cNvSpPr>
          <p:nvPr>
            <p:ph idx="1"/>
          </p:nvPr>
        </p:nvSpPr>
        <p:spPr/>
        <p:txBody>
          <a:bodyPr/>
          <a:lstStyle/>
          <a:p>
            <a:pPr lvl="0" indent="0" marL="0">
              <a:buNone/>
            </a:pPr>
            <a:r>
              <a:rPr/>
              <a:t>AI‑First Requirements written with AI collaboration in mind AI‑generated scaffolds, tests, docs Provenance enforced across all AI outputs Architecture assumes AI participation Prompt‑First Prompts and instruction files are version‑controlled Prompts define behavioral contracts Reusable prompt modules Chat modes define safe, predictable interactions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Relationship Between the Two</a:t>
            </a:r>
          </a:p>
        </p:txBody>
      </p:sp>
      <p:sp>
        <p:nvSpPr>
          <p:cNvPr id="3" name="Content Placeholder 2"/>
          <p:cNvSpPr>
            <a:spLocks noGrp="1"/>
          </p:cNvSpPr>
          <p:nvPr>
            <p:ph idx="1"/>
          </p:nvPr>
        </p:nvSpPr>
        <p:spPr/>
        <p:txBody>
          <a:bodyPr/>
          <a:lstStyle/>
          <a:p>
            <a:pPr lvl="0" indent="0" marL="0">
              <a:buNone/>
            </a:pPr>
            <a:r>
              <a:rPr/>
              <a:t>Prompt‑First is a subset of AI‑First. Prompt‑First = mechanics AI‑First = philosophy + architecture + lifecycle integration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First Software Development</a:t>
            </a:r>
          </a:p>
        </p:txBody>
      </p:sp>
      <p:sp>
        <p:nvSpPr>
          <p:cNvPr id="3" name="Content Placeholder 2"/>
          <p:cNvSpPr>
            <a:spLocks noGrp="1"/>
          </p:cNvSpPr>
          <p:nvPr>
            <p:ph idx="1"/>
          </p:nvPr>
        </p:nvSpPr>
        <p:spPr/>
        <p:txBody>
          <a:bodyPr/>
          <a:lstStyle/>
          <a:p>
            <a:pPr lvl="0" indent="0" marL="0">
              <a:buNone/>
            </a:pPr>
            <a:r>
              <a:rPr/>
              <a:t>Building software where AI is a core capability, not an add‑on Why AI‑First</a:t>
            </a:r>
          </a:p>
          <a:p>
            <a:pPr lvl="0"/>
            <a:r>
              <a:rPr/>
              <a:t>Software requirements increasingly expressed in natural language</a:t>
            </a:r>
          </a:p>
          <a:p>
            <a:pPr lvl="0"/>
            <a:r>
              <a:rPr/>
              <a:t>AI copilots accelerate architecture, coding, testing, and documentation</a:t>
            </a:r>
          </a:p>
          <a:p>
            <a:pPr lvl="0"/>
            <a:r>
              <a:rPr/>
              <a:t>Teams shift from “writing code” to “designing intent + validating outputs” Core Principles</a:t>
            </a:r>
          </a:p>
          <a:p>
            <a:pPr lvl="0"/>
            <a:r>
              <a:rPr/>
              <a:t>Prompt‑First Design: Requirements, architecture, and workflows expressed as structured prompts</a:t>
            </a:r>
          </a:p>
          <a:p>
            <a:pPr lvl="0"/>
            <a:r>
              <a:rPr/>
              <a:t>AI‑Native Architecture: Modular services, clear boundaries, deterministic interfaces for AI‑generated components</a:t>
            </a:r>
          </a:p>
          <a:p>
            <a:pPr lvl="0"/>
            <a:r>
              <a:rPr/>
              <a:t>Human‑in‑the‑Loop: Review, validation, and traceability baked into every stage</a:t>
            </a:r>
          </a:p>
          <a:p>
            <a:pPr lvl="0"/>
            <a:r>
              <a:rPr/>
              <a:t>Continuous Verification: Automated tests, static analysis, and guardrails to ensure safe outputs</a:t>
            </a:r>
          </a:p>
          <a:p>
            <a:pPr lvl="0"/>
            <a:r>
              <a:rPr/>
              <a:t>Lifecycle Governance: Versioning, provenance, and risk‑based controls for AI‑generated artifacts Outcomes</a:t>
            </a:r>
          </a:p>
          <a:p>
            <a:pPr lvl="0"/>
            <a:r>
              <a:rPr/>
              <a:t>Faster iteration cycles</a:t>
            </a:r>
          </a:p>
          <a:p>
            <a:pPr lvl="0"/>
            <a:r>
              <a:rPr/>
              <a:t>Higher coverage of documentation and tests</a:t>
            </a:r>
          </a:p>
          <a:p>
            <a:pPr lvl="0"/>
            <a:r>
              <a:rPr/>
              <a:t>Reduced cognitive load on developers</a:t>
            </a:r>
          </a:p>
          <a:p>
            <a:pPr lvl="0"/>
            <a:r>
              <a:rPr/>
              <a:t>More resilient, adaptable systems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Prompt‑First Software Development</a:t>
            </a:r>
          </a:p>
        </p:txBody>
      </p:sp>
      <p:sp>
        <p:nvSpPr>
          <p:cNvPr id="3" name="Content Placeholder 2"/>
          <p:cNvSpPr>
            <a:spLocks noGrp="1"/>
          </p:cNvSpPr>
          <p:nvPr>
            <p:ph idx="1"/>
          </p:nvPr>
        </p:nvSpPr>
        <p:spPr/>
        <p:txBody>
          <a:bodyPr/>
          <a:lstStyle/>
          <a:p>
            <a:pPr lvl="0" indent="0" marL="0">
              <a:buNone/>
            </a:pPr>
            <a:r>
              <a:rPr/>
              <a:t>Design the intent first — let AI generate the implementation Why Prompt‑First</a:t>
            </a:r>
          </a:p>
          <a:p>
            <a:pPr lvl="0"/>
            <a:r>
              <a:rPr/>
              <a:t>Behaviors, and constraints expressed in structured natural language</a:t>
            </a:r>
          </a:p>
          <a:p>
            <a:pPr lvl="0"/>
            <a:r>
              <a:rPr/>
              <a:t>Prompts become the new “source of truth” artifacts</a:t>
            </a:r>
          </a:p>
          <a:p>
            <a:pPr lvl="0"/>
            <a:r>
              <a:rPr/>
              <a:t>Teams shift from writing functions to defining outcomes, invariants, and interfaces Core Practices</a:t>
            </a:r>
          </a:p>
          <a:p>
            <a:pPr lvl="0"/>
            <a:r>
              <a:rPr/>
              <a:t>Structured Prompts: Use templates for features, APIs, data models, tests, and refactors</a:t>
            </a:r>
          </a:p>
          <a:p>
            <a:pPr lvl="0"/>
            <a:r>
              <a:rPr/>
              <a:t>Instruction Files: Persistent, versioned artifacts guiding AI code generation</a:t>
            </a:r>
          </a:p>
          <a:p>
            <a:pPr lvl="0"/>
            <a:r>
              <a:rPr/>
              <a:t>Deterministic Boundaries: Clear module contracts so AI‑generated code stays predictable</a:t>
            </a:r>
          </a:p>
          <a:p>
            <a:pPr lvl="0"/>
            <a:r>
              <a:rPr/>
              <a:t>Validation Loops: Automated tests + human review ensure correctness and safety</a:t>
            </a:r>
          </a:p>
          <a:p>
            <a:pPr lvl="0"/>
            <a:r>
              <a:rPr/>
              <a:t>Prompt Versioning: Track evolution of intent just like code changes Benefits</a:t>
            </a:r>
          </a:p>
          <a:p>
            <a:pPr lvl="0"/>
            <a:r>
              <a:rPr/>
              <a:t>Faster iteration from idea → working software</a:t>
            </a:r>
          </a:p>
          <a:p>
            <a:pPr lvl="0"/>
            <a:r>
              <a:rPr/>
              <a:t>Higher consistency across generated components</a:t>
            </a:r>
          </a:p>
          <a:p>
            <a:pPr lvl="0"/>
            <a:r>
              <a:rPr/>
              <a:t>Reduced cognitive load on developers</a:t>
            </a:r>
          </a:p>
          <a:p>
            <a:pPr lvl="0"/>
            <a:r>
              <a:rPr/>
              <a:t>Better alignment between business intent and implementation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General Introduction to LLMs</a:t>
            </a:r>
          </a:p>
        </p:txBody>
      </p:sp>
      <p:sp>
        <p:nvSpPr>
          <p:cNvPr id="3" name="Content Placeholder 2"/>
          <p:cNvSpPr>
            <a:spLocks noGrp="1"/>
          </p:cNvSpPr>
          <p:nvPr>
            <p:ph idx="1"/>
          </p:nvPr>
        </p:nvSpPr>
        <p:spPr/>
        <p:txBody>
          <a:bodyPr/>
          <a:lstStyle/>
          <a:p>
            <a:pPr lvl="0" indent="0" marL="0">
              <a:buNone/>
            </a:pPr>
            <a:r>
              <a:rPr/>
              <a:t>Large Language Models Conceptual overview of how LLMs work Capabilities and limitations of LLMs in coding Software engineering with AI as a tool vs. “Vibe Coding”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Conceptual Overview of LLMs</a:t>
            </a:r>
          </a:p>
        </p:txBody>
      </p:sp>
      <p:sp>
        <p:nvSpPr>
          <p:cNvPr id="3" name="Content Placeholder 2"/>
          <p:cNvSpPr>
            <a:spLocks noGrp="1"/>
          </p:cNvSpPr>
          <p:nvPr>
            <p:ph idx="1"/>
          </p:nvPr>
        </p:nvSpPr>
        <p:spPr/>
        <p:txBody>
          <a:bodyPr/>
          <a:lstStyle/>
          <a:p>
            <a:pPr lvl="0" indent="0" marL="0">
              <a:buNone/>
            </a:pPr>
            <a:r>
              <a:rPr/>
              <a:t>LLMs are trained on massive datasets of code and natural language They use transformer architecture to understand patterns Token-based processing: code is broken into tokens Attention mechanisms help models focus on relevant parts of context Generate probabilistic next-token predictions based on training patterns No true “understanding” - pattern matching at massive scale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Capabilities</a:t>
            </a:r>
          </a:p>
        </p:txBody>
      </p:sp>
      <p:sp>
        <p:nvSpPr>
          <p:cNvPr id="3" name="Content Placeholder 2"/>
          <p:cNvSpPr>
            <a:spLocks noGrp="1"/>
          </p:cNvSpPr>
          <p:nvPr>
            <p:ph idx="1"/>
          </p:nvPr>
        </p:nvSpPr>
        <p:spPr/>
        <p:txBody>
          <a:bodyPr/>
          <a:lstStyle/>
          <a:p>
            <a:pPr lvl="0" indent="0" marL="0">
              <a:buNone/>
            </a:pPr>
            <a:r>
              <a:rPr/>
              <a:t>Code completion and generation from natural language Refactoring and code optimization suggestions Bug detection and fixing recommendations Documentation generation Test case creation Code explanation and commenting Multi-language support and translation between languages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a:t>
            </a:r>
          </a:p>
        </p:txBody>
      </p:sp>
      <p:sp>
        <p:nvSpPr>
          <p:cNvPr id="3" name="Content Placeholder 2"/>
          <p:cNvSpPr>
            <a:spLocks noGrp="1"/>
          </p:cNvSpPr>
          <p:nvPr>
            <p:ph idx="1"/>
          </p:nvPr>
        </p:nvSpPr>
        <p:spPr/>
        <p:txBody>
          <a:bodyPr/>
          <a:lstStyle/>
          <a:p>
            <a:pPr lvl="0" indent="0" marL="0">
              <a:buNone/>
            </a:pPr>
            <a:r>
              <a:rPr/>
              <a:t>No real-time knowledge updates (training cutoff dates) Can generate syntactically correct but logically flawed code Hallucination: confident-sounding but incorrect suggestions Context window limitations (finite memory) Does not “understand” business logic or domain-specific requirements Security vulnerabilities if not carefully reviewed Bias from training data *Subject to change without notice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Do’s</a:t>
            </a:r>
          </a:p>
        </p:txBody>
      </p:sp>
      <p:sp>
        <p:nvSpPr>
          <p:cNvPr id="3" name="Content Placeholder 2"/>
          <p:cNvSpPr>
            <a:spLocks noGrp="1"/>
          </p:cNvSpPr>
          <p:nvPr>
            <p:ph idx="1"/>
          </p:nvPr>
        </p:nvSpPr>
        <p:spPr/>
        <p:txBody>
          <a:bodyPr/>
          <a:lstStyle/>
          <a:p>
            <a:pPr lvl="0" indent="0" marL="0">
              <a:buNone/>
            </a:pPr>
            <a:r>
              <a:rPr/>
              <a:t>Always review and test AI-generated code Provide clear, specific prompts with context Use AI to explore different implementation approaches Leverage AI for documentation and test generation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Don’ts</a:t>
            </a:r>
          </a:p>
        </p:txBody>
      </p:sp>
      <p:sp>
        <p:nvSpPr>
          <p:cNvPr id="3" name="Content Placeholder 2"/>
          <p:cNvSpPr>
            <a:spLocks noGrp="1"/>
          </p:cNvSpPr>
          <p:nvPr>
            <p:ph idx="1"/>
          </p:nvPr>
        </p:nvSpPr>
        <p:spPr/>
        <p:txBody>
          <a:bodyPr/>
          <a:lstStyle/>
          <a:p>
            <a:pPr lvl="0" indent="0" marL="0">
              <a:buNone/>
            </a:pPr>
            <a:r>
              <a:rPr/>
              <a:t>Blindly accept AI suggestions without review Skip testing because “AI wrote it” Use AI for critical security or safety-critical code without extensive validation Rely on AI for architectural decisions without human oversight Generate code without understanding the underlying logic</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LLM Architecture for Code Generation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Selection &amp; Comparison</a:t>
            </a:r>
          </a:p>
        </p:txBody>
      </p:sp>
      <p:sp>
        <p:nvSpPr>
          <p:cNvPr id="3" name="Content Placeholder 2"/>
          <p:cNvSpPr>
            <a:spLocks noGrp="1"/>
          </p:cNvSpPr>
          <p:nvPr>
            <p:ph idx="1"/>
          </p:nvPr>
        </p:nvSpPr>
        <p:spPr/>
        <p:txBody>
          <a:bodyPr/>
          <a:lstStyle/>
          <a:p>
            <a:pPr lvl="0" indent="0" marL="0">
              <a:buNone/>
            </a:pPr>
            <a:r>
              <a:rPr/>
              <a:t>Available models vary over time (Jan 18, 2026) Multipliers vary with Copilot Subscription level Name | Input Context Size | Output Context Size | Capabilities | Multiplier Claude Haiku 4.5 | 128K | 16K | Tools, Vision | 0.33x Claude Opus 4.1 | 68K | 16K | Vision | 10x Claude Opus 4.5 | 128K | 16K | Tools, Vision | 3x Claude Sonnet 4 | 128K | 16K | Tools, Vision | 1x Claude Sonnet 4.5 | 128K | 16K | Tools, Vision | 1x Gemini 2.5 P Gemini 3 Flash (Preview) | 109K | 64K | Tools, Vision | 1x Gemini 3 Flash (Preview) | 109K | 64K | Tools, Vision | 0.33x Gemini 3 Pro (Preview) | 109K | 64K | Tools, Vision | 1x GPT-4.1 | 111K | 16K | Tools, Vision | 0x GPT-4o | 64K | 4K | Tools, Vision | 0x GPT-5 | 128K | 128K | Tools, Vision | 1x GPT-5 mini | 128K | 64K | Tools, Vision | 0x GPT-5-Codex (Preview) | 128K | 128K | Tools, Vision | 1x GPT-5.1 | 128K | 64K | Tools, Vision | 1x GPT-5.1-Codex | 128K | 128K | Tools, Vision | 1x GPT-5.1-Codex-Max | 128K | 128K | Tools, Vision | 1x GPT-5.1-Codex-Mini (Preview) | 128K | 128K | Tools, Vision | 0.33x GPT-5.2 | 128K | 64K | Tools, Vision | 1x GPT-5.2-Codex | 272K | 128K | Tools, Vision | 1x Grok Code Fast 1 | 109K | 64K | Tools | 0x Raptor mini (Preview) | 200K | 64K | Tools, Vision | 0x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Comparing LLMs for Code Generation</a:t>
            </a:r>
          </a:p>
        </p:txBody>
      </p:sp>
      <p:sp>
        <p:nvSpPr>
          <p:cNvPr id="3" name="Content Placeholder 2"/>
          <p:cNvSpPr>
            <a:spLocks noGrp="1"/>
          </p:cNvSpPr>
          <p:nvPr>
            <p:ph idx="1"/>
          </p:nvPr>
        </p:nvSpPr>
        <p:spPr/>
        <p:txBody>
          <a:bodyPr/>
          <a:lstStyle/>
          <a:p>
            <a:pPr lvl="0" indent="0" marL="0">
              <a:buNone/>
            </a:pPr>
            <a:r>
              <a:rPr/>
              <a:t>Public Leaderboards Core Benchmarks Surveys &amp; Deep‑Dive Research Evaluation Frameworks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Public Leaderboards</a:t>
            </a:r>
          </a:p>
        </p:txBody>
      </p:sp>
      <p:sp>
        <p:nvSpPr>
          <p:cNvPr id="3" name="Content Placeholder 2"/>
          <p:cNvSpPr>
            <a:spLocks noGrp="1"/>
          </p:cNvSpPr>
          <p:nvPr>
            <p:ph idx="1"/>
          </p:nvPr>
        </p:nvSpPr>
        <p:spPr/>
        <p:txBody>
          <a:bodyPr/>
          <a:lstStyle/>
          <a:p>
            <a:pPr lvl="0"/>
            <a:r>
              <a:rPr/>
              <a:t>Where to See Model‑to‑Model Comparisons</a:t>
            </a:r>
          </a:p>
          <a:p>
            <a:pPr lvl="0"/>
            <a:r>
              <a:rPr/>
              <a:t>LLM‑Stats Coding Leaderboard</a:t>
            </a:r>
          </a:p>
          <a:p>
            <a:pPr lvl="1"/>
            <a:r>
              <a:rPr/>
              <a:t>Aggregates 20+ coding benchmarks</a:t>
            </a:r>
          </a:p>
          <a:p>
            <a:pPr lvl="1"/>
            <a:r>
              <a:rPr/>
              <a:t>Shows top performers across HumanEval, LiveCodeBench, etc.</a:t>
            </a:r>
          </a:p>
          <a:p>
            <a:pPr lvl="0"/>
            <a:r>
              <a:rPr/>
              <a:t>TechRadar’s Coding LLM Guide</a:t>
            </a:r>
          </a:p>
          <a:p>
            <a:pPr lvl="1"/>
            <a:r>
              <a:rPr/>
              <a:t>Editorial comparison of strengths (debugging, test generation, etc.)</a:t>
            </a:r>
          </a:p>
          <a:p>
            <a:pPr lvl="0"/>
            <a:r>
              <a:rPr/>
              <a:t>Zencoder’s 2026 Model Comparison</a:t>
            </a:r>
          </a:p>
          <a:p>
            <a:pPr lvl="1"/>
            <a:r>
              <a:rPr/>
              <a:t>Breaks down accuracy, reasoning, and context window-</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Benchmarks</a:t>
            </a:r>
          </a:p>
        </p:txBody>
      </p:sp>
      <p:sp>
        <p:nvSpPr>
          <p:cNvPr id="3" name="Content Placeholder 2"/>
          <p:cNvSpPr>
            <a:spLocks noGrp="1"/>
          </p:cNvSpPr>
          <p:nvPr>
            <p:ph idx="1"/>
          </p:nvPr>
        </p:nvSpPr>
        <p:spPr/>
        <p:txBody>
          <a:bodyPr/>
          <a:lstStyle/>
          <a:p>
            <a:pPr lvl="0"/>
            <a:r>
              <a:rPr/>
              <a:t>What Models Are Actually Tested On</a:t>
            </a:r>
          </a:p>
          <a:p>
            <a:pPr lvl="0"/>
            <a:r>
              <a:rPr/>
              <a:t>HumanEval</a:t>
            </a:r>
          </a:p>
          <a:p>
            <a:pPr lvl="1"/>
            <a:r>
              <a:rPr/>
              <a:t>Classic functional‑correctness benchmark for Python</a:t>
            </a:r>
          </a:p>
          <a:p>
            <a:pPr lvl="0"/>
            <a:r>
              <a:rPr/>
              <a:t>LiveCodeBench</a:t>
            </a:r>
          </a:p>
          <a:p>
            <a:pPr lvl="1"/>
            <a:r>
              <a:rPr/>
              <a:t>Contamination‑free, holistic benchmark for modern LLMs</a:t>
            </a:r>
          </a:p>
          <a:p>
            <a:pPr lvl="0"/>
            <a:r>
              <a:rPr/>
              <a:t>MBPP (Mostly Basic Programming Problems)</a:t>
            </a:r>
          </a:p>
          <a:p>
            <a:pPr lvl="1"/>
            <a:r>
              <a:rPr/>
              <a:t>Simple algorithmic tasks across languages</a:t>
            </a:r>
          </a:p>
          <a:p>
            <a:pPr lvl="0"/>
            <a:r>
              <a:rPr/>
              <a:t>SWE‑Bench</a:t>
            </a:r>
          </a:p>
          <a:p>
            <a:pPr lvl="1"/>
            <a:r>
              <a:rPr/>
              <a:t>Real‑world GitHub issue resolution</a:t>
            </a:r>
          </a:p>
          <a:p>
            <a:pPr lvl="0"/>
            <a:r>
              <a:rPr/>
              <a:t>DevQualityEval</a:t>
            </a:r>
          </a:p>
          <a:p>
            <a:pPr lvl="1"/>
            <a:r>
              <a:rPr/>
              <a:t>Evaluates test generation for Java and Go</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Surveys &amp; Deep‑Dive Research</a:t>
            </a:r>
          </a:p>
        </p:txBody>
      </p:sp>
      <p:sp>
        <p:nvSpPr>
          <p:cNvPr id="3" name="Content Placeholder 2"/>
          <p:cNvSpPr>
            <a:spLocks noGrp="1"/>
          </p:cNvSpPr>
          <p:nvPr>
            <p:ph idx="1"/>
          </p:nvPr>
        </p:nvSpPr>
        <p:spPr/>
        <p:txBody>
          <a:bodyPr/>
          <a:lstStyle/>
          <a:p>
            <a:pPr lvl="0" indent="0" marL="0">
              <a:buNone/>
            </a:pPr>
            <a:r>
              <a:rPr/>
              <a:t>Understanding the Landscape Academic Surveys (arXiv)</a:t>
            </a:r>
          </a:p>
          <a:p>
            <a:pPr lvl="0"/>
            <a:r>
              <a:rPr/>
              <a:t>Comprehensive overviews of techniques, benchmarks, and model families Benchmark Explainers (Vellum, Analytics Vidhya)</a:t>
            </a:r>
          </a:p>
          <a:p>
            <a:pPr lvl="0"/>
            <a:r>
              <a:rPr/>
              <a:t>Strengths and weaknesses of each benchmark</a:t>
            </a:r>
          </a:p>
          <a:p>
            <a:pPr lvl="0"/>
            <a:r>
              <a:rPr/>
              <a:t>How to interpret results Specialized Benchmarks</a:t>
            </a:r>
          </a:p>
          <a:p>
            <a:pPr lvl="0"/>
            <a:r>
              <a:rPr/>
              <a:t>SwiftEval, domain‑specific coding evaluations, etc</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Evaluation Frameworks</a:t>
            </a:r>
          </a:p>
        </p:txBody>
      </p:sp>
      <p:sp>
        <p:nvSpPr>
          <p:cNvPr id="3" name="Content Placeholder 2"/>
          <p:cNvSpPr>
            <a:spLocks noGrp="1"/>
          </p:cNvSpPr>
          <p:nvPr>
            <p:ph idx="1"/>
          </p:nvPr>
        </p:nvSpPr>
        <p:spPr/>
        <p:txBody>
          <a:bodyPr/>
          <a:lstStyle/>
          <a:p>
            <a:pPr lvl="0"/>
            <a:r>
              <a:rPr/>
              <a:t>Tools for Running Your Own Tests</a:t>
            </a:r>
          </a:p>
          <a:p>
            <a:pPr lvl="1"/>
            <a:r>
              <a:rPr/>
              <a:t>Symflower DevQualityEval</a:t>
            </a:r>
          </a:p>
          <a:p>
            <a:pPr lvl="2"/>
            <a:r>
              <a:rPr/>
              <a:t>Open‑source framework for code and test generation evaluation</a:t>
            </a:r>
          </a:p>
          <a:p>
            <a:pPr lvl="1"/>
            <a:r>
              <a:rPr/>
              <a:t>CodeArena (HuggingFace)</a:t>
            </a:r>
          </a:p>
          <a:p>
            <a:pPr lvl="2"/>
            <a:r>
              <a:rPr/>
              <a:t>Collective evaluation platform for coding tasks</a:t>
            </a:r>
          </a:p>
          <a:p>
            <a:pPr lvl="1"/>
            <a:r>
              <a:rPr/>
              <a:t>Automatic Benchmark Generation Tools</a:t>
            </a:r>
          </a:p>
          <a:p>
            <a:pPr lvl="2"/>
            <a:r>
              <a:rPr/>
              <a:t>Research into LLM‑generated benchmarks and judge reliability</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Selecting Models</a:t>
            </a:r>
          </a:p>
        </p:txBody>
      </p:sp>
      <p:sp>
        <p:nvSpPr>
          <p:cNvPr id="3" name="Content Placeholder 2"/>
          <p:cNvSpPr>
            <a:spLocks noGrp="1"/>
          </p:cNvSpPr>
          <p:nvPr>
            <p:ph idx="1"/>
          </p:nvPr>
        </p:nvSpPr>
        <p:spPr/>
        <p:txBody>
          <a:bodyPr/>
          <a:lstStyle/>
          <a:p>
            <a:pPr lvl="0" indent="0" marL="0">
              <a:buNone/>
            </a:pPr>
            <a:r>
              <a:rPr/>
              <a:t>Select benchmarks aligned with your workflow Combine leaderboards + hands‑on evaluation Build a repeatable internal benchmark suite Track contamination‑free benchmarks for reliability</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35.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GitHub Copilot for TeamsKey Considerations for Adoption</a:t></a:r></a:p></p:txBody></p:sp><p:sp><p:nvSpPr><p:cNvPr id="3" name="Content Placeholder 2" /><p:cNvSpPr><a:spLocks noGrp="1" /></p:cNvSpPr><p:nvPr><p:ph idx="1" /></p:nvPr></p:nvSpPr><p:spPr /><p:txBody><a:bodyPr /><a:lstStyle /><a:p><a:pPr lvl="0" indent="0" marL="0"><a:buNone /></a:pPr><a:r><a:rPr /><a:t>Empowering developers with AI while protecting your codebase</a:t></a:r></a:p></p:txBody></p:sp></p:spTree></p:cSld></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Prompted This Deck?</a:t>
            </a:r>
          </a:p>
        </p:txBody>
      </p:sp>
      <p:sp>
        <p:nvSpPr>
          <p:cNvPr id="3" name="Content Placeholder 2"/>
          <p:cNvSpPr>
            <a:spLocks noGrp="1"/>
          </p:cNvSpPr>
          <p:nvPr>
            <p:ph idx="1"/>
          </p:nvPr>
        </p:nvSpPr>
        <p:spPr/>
        <p:txBody>
          <a:bodyPr/>
          <a:lstStyle/>
          <a:p>
            <a:pPr lvl="0" indent="0" marL="0">
              <a:buNone/>
            </a:pPr>
            <a:r>
              <a:rPr/>
              <a:t>I want to know how GitHub Copilot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for Organizations</a:t>
            </a:r>
          </a:p>
        </p:txBody>
      </p:sp>
      <p:sp>
        <p:nvSpPr>
          <p:cNvPr id="3" name="Content Placeholder 2"/>
          <p:cNvSpPr>
            <a:spLocks noGrp="1"/>
          </p:cNvSpPr>
          <p:nvPr>
            <p:ph idx="1"/>
          </p:nvPr>
        </p:nvSpPr>
        <p:spPr/>
        <p:txBody>
          <a:bodyPr/>
          <a:lstStyle/>
          <a:p>
            <a:pPr lvl="0" indent="0" marL="0">
              <a:buNone/>
            </a:pPr>
            <a:r>
              <a:rPr/>
              <a:t>Accelerated Development</a:t>
            </a:r>
          </a:p>
          <a:p>
            <a:pPr lvl="0"/>
            <a:r>
              <a:rPr/>
              <a:t>Faster prototyping, fewer boilerplate tasks Improved Documentation</a:t>
            </a:r>
          </a:p>
          <a:p>
            <a:pPr lvl="0"/>
            <a:r>
              <a:rPr/>
              <a:t>Auto-generates comments and README content Enhanced Testing</a:t>
            </a:r>
          </a:p>
          <a:p>
            <a:pPr lvl="0"/>
            <a:r>
              <a:rPr/>
              <a:t>Suggests unit tests and edge cases Team Productivity</a:t>
            </a:r>
          </a:p>
          <a:p>
            <a:pPr lvl="0"/>
            <a:r>
              <a:rPr/>
              <a:t>Reduces cognitive load, supports onboarding</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to Consider</a:t>
            </a:r>
          </a:p>
        </p:txBody>
      </p:sp>
      <p:sp>
        <p:nvSpPr>
          <p:cNvPr id="3" name="Content Placeholder 2"/>
          <p:cNvSpPr>
            <a:spLocks noGrp="1"/>
          </p:cNvSpPr>
          <p:nvPr>
            <p:ph idx="1"/>
          </p:nvPr>
        </p:nvSpPr>
        <p:spPr/>
        <p:txBody>
          <a:bodyPr/>
          <a:lstStyle/>
          <a:p>
            <a:pPr lvl="0" indent="0" marL="0">
              <a:buNone/>
            </a:pPr>
            <a:r>
              <a:rPr/>
              <a:t>IP Leakage Concerns</a:t>
            </a:r>
          </a:p>
          <a:p>
            <a:pPr lvl="0"/>
            <a:r>
              <a:rPr/>
              <a:t>Copilot may suggest code similar to public repositories</a:t>
            </a:r>
          </a:p>
          <a:p>
            <a:pPr lvl="0"/>
            <a:r>
              <a:rPr/>
              <a:t>Risk of inadvertently using copyrighted or licensed code</a:t>
            </a:r>
          </a:p>
          <a:p>
            <a:pPr lvl="0"/>
            <a:r>
              <a:rPr/>
              <a:t>Mitigation: Enable public code filters and review suggestions carefully Code Quality and Accuracy</a:t>
            </a:r>
          </a:p>
          <a:p>
            <a:pPr lvl="0"/>
            <a:r>
              <a:rPr/>
              <a:t>AI-generated code may contain bugs, inefficiencies, or security flaws</a:t>
            </a:r>
          </a:p>
          <a:p>
            <a:pPr lvl="0"/>
            <a:r>
              <a:rPr/>
              <a:t>Always validate and test before deployment</a:t>
            </a:r>
          </a:p>
          <a:p>
            <a:pPr lvl="0"/>
            <a:r>
              <a:rPr/>
              <a:t>Treat Copilot as a drafting tool, not a source of truth Developer Overreliance</a:t>
            </a:r>
          </a:p>
          <a:p>
            <a:pPr lvl="0"/>
            <a:r>
              <a:rPr/>
              <a:t>Risk of reduced understanding or critical thinking</a:t>
            </a:r>
          </a:p>
          <a:p>
            <a:pPr lvl="0"/>
            <a:r>
              <a:rPr/>
              <a:t>Encourage code reviews and pair programming to maintain rigor</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and Compliance Risks</a:t>
            </a:r>
          </a:p>
        </p:txBody>
      </p:sp>
      <p:sp>
        <p:nvSpPr>
          <p:cNvPr id="3" name="Content Placeholder 2"/>
          <p:cNvSpPr>
            <a:spLocks noGrp="1"/>
          </p:cNvSpPr>
          <p:nvPr>
            <p:ph idx="1"/>
          </p:nvPr>
        </p:nvSpPr>
        <p:spPr/>
        <p:txBody>
          <a:bodyPr/>
          <a:lstStyle/>
          <a:p>
            <a:pPr lvl="0" indent="0" marL="0">
              <a:buNone/>
            </a:pPr>
            <a:r>
              <a:rPr/>
              <a:t>Regulatory Compliance</a:t>
            </a:r>
          </a:p>
          <a:p>
            <a:pPr lvl="0"/>
            <a:r>
              <a:rPr/>
              <a:t>Generated code may not meet industry-specific standards (e.g., HIPAA, PCI-DSS)</a:t>
            </a:r>
          </a:p>
          <a:p>
            <a:pPr lvl="0"/>
            <a:r>
              <a:rPr/>
              <a:t>Organizations must enforce coding policies and audits Data Privacy and Security</a:t>
            </a:r>
          </a:p>
          <a:p>
            <a:pPr lvl="0"/>
            <a:r>
              <a:rPr/>
              <a:t>Sensitive data should never be typed into prompts</a:t>
            </a:r>
          </a:p>
          <a:p>
            <a:pPr lvl="0"/>
            <a:r>
              <a:rPr/>
              <a:t>Use Copilot in secure environments with clear usage guidelines Licensing Ambiguity</a:t>
            </a:r>
          </a:p>
          <a:p>
            <a:pPr lvl="0"/>
            <a:r>
              <a:rPr/>
              <a:t>Copilot suggestions may resemble code under restrictive licenses</a:t>
            </a:r>
          </a:p>
          <a:p>
            <a:pPr lvl="0"/>
            <a:r>
              <a:rPr/>
              <a:t>Legal teams should define acceptable use policies and monitor compliance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IP and Data Protection</a:t>
            </a:r>
          </a:p>
        </p:txBody>
      </p:sp>
      <p:sp>
        <p:nvSpPr>
          <p:cNvPr id="3" name="Content Placeholder 2"/>
          <p:cNvSpPr>
            <a:spLocks noGrp="1"/>
          </p:cNvSpPr>
          <p:nvPr>
            <p:ph idx="1"/>
          </p:nvPr>
        </p:nvSpPr>
        <p:spPr/>
        <p:txBody>
          <a:bodyPr/>
          <a:lstStyle/>
          <a:p>
            <a:pPr lvl="0" indent="0" marL="0">
              <a:buNone/>
            </a:pPr>
            <a:r>
              <a:rPr/>
              <a:t>Your code is not used to retrain the model (with Copilot for Business/Enterprise) Suggestions are generated locally — no code is shared unless feedback is submitted No leakage between users: your private code is not exposed to others Admins can disable suggestions matching public code for added safety</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Licensing and Legal Considerations</a:t>
            </a:r>
          </a:p>
        </p:txBody>
      </p:sp>
      <p:sp>
        <p:nvSpPr>
          <p:cNvPr id="3" name="Content Placeholder 2"/>
          <p:cNvSpPr>
            <a:spLocks noGrp="1"/>
          </p:cNvSpPr>
          <p:nvPr>
            <p:ph idx="1"/>
          </p:nvPr>
        </p:nvSpPr>
        <p:spPr/>
        <p:txBody>
          <a:bodyPr/>
          <a:lstStyle/>
          <a:p>
            <a:pPr lvl="0" indent="0" marL="0">
              <a:buNone/>
            </a:pPr>
            <a:r>
              <a:rPr/>
              <a:t>Copilot may suggest code similar to public repositories GitHub provides a filter to block matching public code Organizations should review Copilot’s Terms of Service and Privacy Statement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Deployment Options</a:t>
            </a:r>
          </a:p>
        </p:txBody>
      </p:sp>
      <p:sp>
        <p:nvSpPr>
          <p:cNvPr id="3" name="Content Placeholder 2"/>
          <p:cNvSpPr>
            <a:spLocks noGrp="1"/>
          </p:cNvSpPr>
          <p:nvPr>
            <p:ph idx="1"/>
          </p:nvPr>
        </p:nvSpPr>
        <p:spPr/>
        <p:txBody>
          <a:bodyPr/>
          <a:lstStyle/>
          <a:p>
            <a:pPr lvl="0" indent="0" marL="0">
              <a:buNone/>
            </a:pPr>
            <a:r>
              <a:rPr/>
              <a:t>Plan | Key Features | IP Protection Copilot Individual (Pro, Pro+) | Personal use, no admin controls | Limited Copilot for Business | Admin controls, policy enforcement | Strong Copilot for Enterprise | Org-wide policy, audit tools | Strongest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for Safe Use</a:t>
            </a:r>
          </a:p>
        </p:txBody>
      </p:sp>
      <p:sp>
        <p:nvSpPr>
          <p:cNvPr id="3" name="Content Placeholder 2"/>
          <p:cNvSpPr>
            <a:spLocks noGrp="1"/>
          </p:cNvSpPr>
          <p:nvPr>
            <p:ph idx="1"/>
          </p:nvPr>
        </p:nvSpPr>
        <p:spPr/>
        <p:txBody>
          <a:bodyPr/>
          <a:lstStyle/>
          <a:p>
            <a:pPr lvl="0" indent="0" marL="0">
              <a:buNone/>
            </a:pPr>
            <a:r>
              <a:rPr/>
              <a:t>Enable public code filters Establish a review process Educate teams on responsible use and licensing awareness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Resources</a:t>
            </a:r>
          </a:p>
        </p:txBody>
      </p:sp>
      <p:sp>
        <p:nvSpPr>
          <p:cNvPr id="3" name="Content Placeholder 2"/>
          <p:cNvSpPr>
            <a:spLocks noGrp="1"/>
          </p:cNvSpPr>
          <p:nvPr>
            <p:ph idx="1"/>
          </p:nvPr>
        </p:nvSpPr>
        <p:spPr/>
        <p:txBody>
          <a:bodyPr/>
          <a:lstStyle/>
          <a:p>
            <a:pPr lvl="0" indent="0" marL="0">
              <a:buNone/>
            </a:pPr>
            <a:r>
              <a:rPr/>
              <a:t>Copilot Documentation:</a:t>
            </a:r>
          </a:p>
          <a:p>
            <a:pPr lvl="0"/>
            <a:r>
              <a:rPr/>
              <a:t>https://docs.github.com/en/copilot Copilot for Business Overview</a:t>
            </a:r>
          </a:p>
          <a:p>
            <a:pPr lvl="0"/>
            <a:r>
              <a:rPr/>
              <a:t>https://github.com/features/copilot-for-business Security and Privacy FAQ</a:t>
            </a:r>
          </a:p>
          <a:p>
            <a:pPr lvl="0"/>
            <a:r>
              <a:rPr/>
              <a:t>https://docs.github.com/en/copilot/security</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Hands-On with GitHub Copilot</a:t>
            </a:r>
          </a:p>
        </p:txBody>
      </p:sp>
      <p:sp>
        <p:nvSpPr>
          <p:cNvPr id="3" name="Content Placeholder 2"/>
          <p:cNvSpPr>
            <a:spLocks noGrp="1"/>
          </p:cNvSpPr>
          <p:nvPr>
            <p:ph idx="1"/>
          </p:nvPr>
        </p:nvSpPr>
        <p:spPr/>
        <p:txBody>
          <a:bodyPr/>
          <a:lstStyle/>
          <a:p>
            <a:pPr lvl="0" indent="0" marL="0">
              <a:buNone/>
            </a:pPr>
            <a:r>
              <a:rPr/>
              <a:t>Installation and configuration</a:t>
            </a:r>
          </a:p>
          <a:p>
            <a:pPr lvl="0"/>
            <a:r>
              <a:rPr/>
              <a:t>Installing the extension</a:t>
            </a:r>
          </a:p>
          <a:p>
            <a:pPr lvl="0"/>
            <a:r>
              <a:rPr/>
              <a:t>Setting up authentication</a:t>
            </a:r>
          </a:p>
          <a:p>
            <a:pPr lvl="0"/>
            <a:r>
              <a:rPr/>
              <a:t>Configuring settings Sharing configuration across an organization</a:t>
            </a:r>
          </a:p>
          <a:p>
            <a:pPr lvl="0"/>
            <a:r>
              <a:rPr/>
              <a:t>Shared configuration templates (e.g., .copilot/settings.json) can be distributed across projects to standardize behavior. https://www.codemag.com/Blog/AI/AIASD-install-guide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Getting Started with GitHub Copilot</a:t>
            </a:r>
          </a:p>
        </p:txBody>
      </p:sp>
      <p:sp>
        <p:nvSpPr>
          <p:cNvPr id="3" name="Content Placeholder 2"/>
          <p:cNvSpPr>
            <a:spLocks noGrp="1"/>
          </p:cNvSpPr>
          <p:nvPr>
            <p:ph idx="1"/>
          </p:nvPr>
        </p:nvSpPr>
        <p:spPr/>
        <p:txBody>
          <a:bodyPr/>
          <a:lstStyle/>
          <a:p>
            <a:pPr lvl="0" indent="0" marL="0">
              <a:buNone/>
            </a:pPr>
            <a:r>
              <a:rPr/>
              <a:t>Duration: Follow along Objectives Install and configure GitHub Copilot Verify authentication with GitHub account Explore the Copilot UI components Activities Install GitHub Copilot extension from VS Code marketplace Sign in with your GitHub account (verify Copilot subscription) Locate and explore:</a:t>
            </a:r>
          </a:p>
          <a:p>
            <a:pPr lvl="0"/>
            <a:r>
              <a:rPr/>
              <a:t>Chat window and chat history</a:t>
            </a:r>
          </a:p>
          <a:p>
            <a:pPr lvl="0"/>
            <a:r>
              <a:rPr/>
              <a:t>New chat button</a:t>
            </a:r>
          </a:p>
          <a:p>
            <a:pPr lvl="0"/>
            <a:r>
              <a:rPr/>
              <a:t>Quick chat feature (keyboard shortcut)</a:t>
            </a:r>
          </a:p>
          <a:p>
            <a:pPr lvl="0"/>
            <a:r>
              <a:rPr/>
              <a:t>Settings menu</a:t>
            </a:r>
          </a:p>
          <a:p>
            <a:pPr lvl="0"/>
            <a:r>
              <a:rPr/>
              <a:t>Model selection dropdown Check your premium token usage bar Create a new chat and experiment with the interface Success Criteria</a:t>
            </a:r>
          </a:p>
          <a:p>
            <a:pPr lvl="0"/>
            <a:r>
              <a:rPr/>
              <a:t>Copilot extension installed and authenticated</a:t>
            </a:r>
          </a:p>
          <a:p>
            <a:pPr lvl="0"/>
            <a:r>
              <a:rPr/>
              <a:t>Can open/close chat windows</a:t>
            </a:r>
          </a:p>
          <a:p>
            <a:pPr lvl="0"/>
            <a:r>
              <a:rPr/>
              <a:t>Understand difference between main chat and quick chat</a:t>
            </a:r>
          </a:p>
          <a:p>
            <a:pPr lvl="0"/>
            <a:r>
              <a:rPr/>
              <a:t>Know where to find chat history</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Specificity</a:t>
            </a:r>
          </a:p>
        </p:txBody>
      </p:sp>
      <p:sp>
        <p:nvSpPr>
          <p:cNvPr id="3" name="Content Placeholder 2"/>
          <p:cNvSpPr>
            <a:spLocks noGrp="1"/>
          </p:cNvSpPr>
          <p:nvPr>
            <p:ph idx="1"/>
          </p:nvPr>
        </p:nvSpPr>
        <p:spPr/>
        <p:txBody>
          <a:bodyPr/>
          <a:lstStyle/>
          <a:p>
            <a:pPr lvl="0" indent="0" marL="0">
              <a:buNone/>
            </a:pPr>
            <a:r>
              <a:rPr/>
              <a:t>Add error handling to my code</a:t>
            </a:r>
          </a:p>
          <a:p>
            <a:pPr lvl="0"/>
            <a:r>
              <a:rPr/>
              <a:t>Result: Generic response asking what type of errors, what language, what code? Add error handling to my JavaScript function that calls an external API. I want to handle network timeouts, 404 errors, and JSON parsing failures. Return user-friendly error messages.</a:t>
            </a:r>
          </a:p>
          <a:p>
            <a:pPr lvl="0"/>
            <a:r>
              <a:rPr/>
              <a:t>Result: Better, but still generic without seeing actual code structure @file:api-client.js Add comprehensive error handling to the fetchUserData function. Handle network timeouts (&gt;5s), HTTP errors (404, 500, etc.), and JSON parsing failures.   Return user-friendly error messages that match our existing error format in @file:error-types.js</a:t>
            </a:r>
          </a:p>
          <a:p>
            <a:pPr lvl="0"/>
            <a:r>
              <a:rPr/>
              <a:t>Result: Specific implementation that matches existing code patterns*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Understanding Context Management</a:t>
            </a:r>
          </a:p>
        </p:txBody>
      </p:sp>
      <p:sp>
        <p:nvSpPr>
          <p:cNvPr id="3" name="Content Placeholder 2"/>
          <p:cNvSpPr>
            <a:spLocks noGrp="1"/>
          </p:cNvSpPr>
          <p:nvPr>
            <p:ph idx="1"/>
          </p:nvPr>
        </p:nvSpPr>
        <p:spPr/>
        <p:txBody>
          <a:bodyPr/>
          <a:lstStyle/>
          <a:p>
            <a:pPr lvl="0" indent="0" marL="0">
              <a:buNone/>
            </a:pPr>
            <a:r>
              <a:rPr/>
              <a:t>Duration: Follow along Objectives Learn to add context using @ symbols Understand context window limitations Practice writing effective prompts Activities</a:t>
            </a:r>
          </a:p>
          <a:p>
            <a:pPr lvl="0" indent="-342900" marL="342900">
              <a:buAutoNum type="arabicPeriod"/>
            </a:pPr>
            <a:r>
              <a:rPr/>
              <a:t>Basic Context Addition: Use </a:t>
            </a:r>
            <a:r>
              <a:rPr>
                <a:latin typeface="Courier"/>
              </a:rPr>
              <a:t>@workspace</a:t>
            </a:r>
            <a:r>
              <a:rPr/>
              <a:t> to search across your codebase Use </a:t>
            </a:r>
            <a:r>
              <a:rPr>
                <a:latin typeface="Courier"/>
              </a:rPr>
              <a:t>@file</a:t>
            </a:r>
            <a:r>
              <a:rPr/>
              <a:t> to reference specific files Use </a:t>
            </a:r>
            <a:r>
              <a:rPr>
                <a:latin typeface="Courier"/>
              </a:rPr>
              <a:t>@terminal</a:t>
            </a:r>
            <a:r>
              <a:rPr/>
              <a:t> to include terminal output in chat Use </a:t>
            </a:r>
            <a:r>
              <a:rPr>
                <a:latin typeface="Courier"/>
              </a:rPr>
              <a:t>@vscode</a:t>
            </a:r>
            <a:r>
              <a:rPr/>
              <a:t> to ask VS Code-specific questions</a:t>
            </a:r>
          </a:p>
          <a:p>
            <a:pPr lvl="0" indent="-342900" marL="342900">
              <a:buAutoNum type="arabicPeriod"/>
            </a:pPr>
            <a:r>
              <a:rPr/>
              <a:t>Prompt Practice: Write a vague prompt, observe results Rewrite with specific context, compare results Add file references to improve accuracy</a:t>
            </a:r>
          </a:p>
          <a:p>
            <a:pPr lvl="0" indent="-342900" marL="342900">
              <a:buAutoNum type="arabicPeriod"/>
            </a:pPr>
            <a:r>
              <a:rPr/>
              <a:t>Context Window Experiment: Start a long conversation in one chat Notice when Copilot starts “forgetting” earlier context Practice starting new chats for new topics Success Criteria Can use all @ context types Understand when to start fresh chat sessions Notice quality difference between vague and specific prompts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Chat Management &amp; Workflow</a:t>
            </a:r>
          </a:p>
        </p:txBody>
      </p:sp>
      <p:sp>
        <p:nvSpPr>
          <p:cNvPr id="3" name="Content Placeholder 2"/>
          <p:cNvSpPr>
            <a:spLocks noGrp="1"/>
          </p:cNvSpPr>
          <p:nvPr>
            <p:ph idx="1"/>
          </p:nvPr>
        </p:nvSpPr>
        <p:spPr/>
        <p:txBody>
          <a:bodyPr/>
          <a:lstStyle/>
          <a:p>
            <a:pPr lvl="0" indent="0" marL="0">
              <a:buNone/>
            </a:pPr>
            <a:r>
              <a:rPr/>
              <a:t>Duration: Follow along Objectives</a:t>
            </a:r>
          </a:p>
          <a:p>
            <a:pPr lvl="0"/>
            <a:r>
              <a:rPr/>
              <a:t>Organize chat sessions effectively</a:t>
            </a:r>
          </a:p>
          <a:p>
            <a:pPr lvl="0"/>
            <a:r>
              <a:rPr/>
              <a:t>Use chat history for reference</a:t>
            </a:r>
          </a:p>
          <a:p>
            <a:pPr lvl="0"/>
            <a:r>
              <a:rPr/>
              <a:t>Develop efficient workflow patterns Activities</a:t>
            </a:r>
          </a:p>
          <a:p>
            <a:pPr lvl="0" indent="-342900" marL="342900">
              <a:buAutoNum type="arabicPeriod"/>
            </a:pPr>
            <a:r>
              <a:rPr/>
              <a:t>Chat Organization:</a:t>
            </a:r>
          </a:p>
          <a:p>
            <a:pPr lvl="0"/>
            <a:r>
              <a:rPr/>
              <a:t>Review your chat history</a:t>
            </a:r>
          </a:p>
          <a:p>
            <a:pPr lvl="0"/>
            <a:r>
              <a:rPr/>
              <a:t>Identify chats that should have been separate sessions</a:t>
            </a:r>
          </a:p>
          <a:p>
            <a:pPr lvl="0"/>
            <a:r>
              <a:rPr/>
              <a:t>Practice starting new chats at appropriate times</a:t>
            </a:r>
          </a:p>
          <a:p>
            <a:pPr lvl="0" indent="-342900" marL="342900">
              <a:buAutoNum startAt="2" type="arabicPeriod"/>
            </a:pPr>
            <a:r>
              <a:rPr/>
              <a:t>Context Preservation:</a:t>
            </a:r>
          </a:p>
          <a:p>
            <a:pPr lvl="0"/>
            <a:r>
              <a:rPr/>
              <a:t>Start a focused chat for one feature</a:t>
            </a:r>
          </a:p>
          <a:p>
            <a:pPr lvl="0"/>
            <a:r>
              <a:rPr/>
              <a:t>Add relevant context systematically</a:t>
            </a:r>
          </a:p>
          <a:p>
            <a:pPr lvl="0"/>
            <a:r>
              <a:rPr/>
              <a:t>Complete task without context overflow</a:t>
            </a:r>
          </a:p>
          <a:p>
            <a:pPr lvl="0" indent="-342900" marL="342900">
              <a:buAutoNum startAt="3" type="arabicPeriod"/>
            </a:pPr>
            <a:r>
              <a:rPr/>
              <a:t>Quick Chat Practice:</a:t>
            </a:r>
          </a:p>
          <a:p>
            <a:pPr lvl="0"/>
            <a:r>
              <a:rPr/>
              <a:t>Use main chat for primary task</a:t>
            </a:r>
          </a:p>
          <a:p>
            <a:pPr lvl="0"/>
            <a:r>
              <a:rPr/>
              <a:t>Use quick chat for side questions</a:t>
            </a:r>
          </a:p>
          <a:p>
            <a:pPr lvl="0"/>
            <a:r>
              <a:rPr/>
              <a:t>Return to main chat without losing context</a:t>
            </a:r>
          </a:p>
          <a:p>
            <a:pPr lvl="0" indent="-342900" marL="342900">
              <a:buAutoNum startAt="4" type="arabicPeriod"/>
            </a:pPr>
            <a:r>
              <a:rPr/>
              <a:t>Chat History Review:</a:t>
            </a:r>
          </a:p>
          <a:p>
            <a:pPr lvl="0"/>
            <a:r>
              <a:rPr/>
              <a:t>Find and reference previous solutions</a:t>
            </a:r>
          </a:p>
          <a:p>
            <a:pPr lvl="0"/>
            <a:r>
              <a:rPr/>
              <a:t>Learn from past prompts that worked well</a:t>
            </a:r>
          </a:p>
          <a:p>
            <a:pPr lvl="0"/>
            <a:r>
              <a:rPr/>
              <a:t>Identify patterns in effective conversations Success Criteria</a:t>
            </a:r>
          </a:p>
          <a:p>
            <a:pPr lvl="0"/>
            <a:r>
              <a:rPr/>
              <a:t>Chat history is organized and meaningful</a:t>
            </a:r>
          </a:p>
          <a:p>
            <a:pPr lvl="0"/>
            <a:r>
              <a:rPr/>
              <a:t>Can find and reference previous solutions</a:t>
            </a:r>
          </a:p>
          <a:p>
            <a:pPr lvl="0"/>
            <a:r>
              <a:rPr/>
              <a:t>Efficient workflow developed for using multiple chat windows Context Window Management</a:t>
            </a:r>
          </a:p>
          <a:p>
            <a:pPr lvl="0"/>
            <a:r>
              <a:rPr/>
              <a:t>Remember from the session:</a:t>
            </a:r>
          </a:p>
          <a:p>
            <a:pPr lvl="1"/>
            <a:r>
              <a:rPr/>
              <a:t>Context is a </a:t>
            </a:r>
            <a:r>
              <a:rPr b="1"/>
              <a:t>limited resource</a:t>
            </a:r>
          </a:p>
          <a:p>
            <a:pPr lvl="1"/>
            <a:r>
              <a:rPr/>
              <a:t>Start new chat when changing focus areas</a:t>
            </a:r>
          </a:p>
          <a:p>
            <a:pPr lvl="1"/>
            <a:r>
              <a:rPr/>
              <a:t>Keep conversations targeted and specific</a:t>
            </a:r>
          </a:p>
          <a:p>
            <a:pPr lvl="1"/>
            <a:r>
              <a:rPr/>
              <a:t>When Copilot “forgets” earlier context, it’s time for a new session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Copilot in different modes</a:t>
            </a:r>
          </a:p>
        </p:txBody>
      </p:sp>
      <p:sp>
        <p:nvSpPr>
          <p:cNvPr id="3" name="Content Placeholder 2"/>
          <p:cNvSpPr>
            <a:spLocks noGrp="1"/>
          </p:cNvSpPr>
          <p:nvPr>
            <p:ph idx="1"/>
          </p:nvPr>
        </p:nvSpPr>
        <p:spPr/>
        <p:txBody>
          <a:bodyPr/>
          <a:lstStyle/>
          <a:p>
            <a:pPr lvl="0" indent="0" marL="0">
              <a:buNone/>
            </a:pPr>
            <a:r>
              <a:rPr/>
              <a:t>Ask Mode</a:t>
            </a:r>
          </a:p>
          <a:p>
            <a:pPr lvl="0"/>
            <a:r>
              <a:rPr/>
              <a:t>Simple prompt completion and inline suggestions Edit Mode</a:t>
            </a:r>
          </a:p>
          <a:p>
            <a:pPr lvl="0"/>
            <a:r>
              <a:rPr/>
              <a:t>Automatic file edits Agent Mode</a:t>
            </a:r>
          </a:p>
          <a:p>
            <a:pPr lvl="0"/>
            <a:r>
              <a:rPr/>
              <a:t>Perform actions on your behalf Custom Modes</a:t>
            </a:r>
          </a:p>
          <a:p>
            <a:pPr lvl="0"/>
            <a:r>
              <a:rPr/>
              <a:t>Execute specific workflows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Exploring Copilot Modes</a:t>
            </a:r>
          </a:p>
        </p:txBody>
      </p:sp>
      <p:sp>
        <p:nvSpPr>
          <p:cNvPr id="3" name="Content Placeholder 2"/>
          <p:cNvSpPr>
            <a:spLocks noGrp="1"/>
          </p:cNvSpPr>
          <p:nvPr>
            <p:ph idx="1"/>
          </p:nvPr>
        </p:nvSpPr>
        <p:spPr/>
        <p:txBody>
          <a:bodyPr/>
          <a:lstStyle/>
          <a:p>
            <a:pPr lvl="0" indent="0" marL="0">
              <a:buNone/>
            </a:pPr>
            <a:r>
              <a:rPr/>
              <a:t>Duration: Follow along Objectives Understand differences between Ask, Edit, and Agent modes Know when to use each mode Understand premium token implications Activities</a:t>
            </a:r>
          </a:p>
          <a:p>
            <a:pPr lvl="0" indent="-342900" marL="342900">
              <a:buAutoNum type="arabicPeriod"/>
            </a:pPr>
            <a:r>
              <a:rPr/>
              <a:t>Ask Mode: Ask Copilot to explain a code snippet (no changes made) Request multiple implementation approaches Try different models and observe response quality Note: This doesn’t consume premium tokens for advanced models</a:t>
            </a:r>
          </a:p>
          <a:p>
            <a:pPr lvl="0" indent="-342900" marL="342900">
              <a:buAutoNum type="arabicPeriod"/>
            </a:pPr>
            <a:r>
              <a:rPr/>
              <a:t>Edit Mode: Select code in a file Ask Copilot to refactor it Observe inline suggestions and changes Accept or reject proposed changes</a:t>
            </a:r>
          </a:p>
          <a:p>
            <a:pPr lvl="0" indent="-342900" marL="342900">
              <a:buAutoNum type="arabicPeriod"/>
            </a:pPr>
            <a:r>
              <a:rPr/>
              <a:t>Agent Mode: Ask Copilot to create a new file and add content Request changes across multiple files Have Copilot run terminal commands Check premium token usage after agent actions Success Criteria Can distinguish when to use each mode Understand token consumption differences Successfully use agent mode for multi-file operations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 Support for AI Assistance</a:t>
            </a:r>
          </a:p>
        </p:txBody>
      </p:sp>
      <p:sp>
        <p:nvSpPr>
          <p:cNvPr id="3" name="Content Placeholder 2"/>
          <p:cNvSpPr>
            <a:spLocks noGrp="1"/>
          </p:cNvSpPr>
          <p:nvPr>
            <p:ph idx="1"/>
          </p:nvPr>
        </p:nvSpPr>
        <p:spPr/>
        <p:txBody>
          <a:bodyPr/>
          <a:lstStyle/>
          <a:p>
            <a:pPr lvl="0" indent="0" marL="0">
              <a:buNone/>
            </a:pPr>
            <a:r>
              <a:rPr/>
              <a:t>IDE / Editor | Built-In AI Features | Supported AI Assistants | Strengths | Limitations VS Code | Deep AI integration through extensions; increasingly AI-first workflows | GitHub Copilot, Cline, ChatGPT-based extensions, Gemini integrations | Extremely flexible; huge ecosystem; top-tier AI support; widely adopted | Requires extension management; quality varies by plugin Visual Studio (Windows) | Native GitHub Copilot integration; AI-powered IntelliCode | GitHub Copilot, IntelliCode | Strong enterprise + .NET support; excellent refactoring and debugging | Less flexible than VS Code for non-Microsoft stacks JetBrains IDEs | JetBrains AI Assistant; code completion, refactoring, doc generation | JetBrains AI Assistant, GitHub Copilot | Deep static analysis + AI; strong multi-language support | JetBrains AI Assistant is subscription-based; Copilot integration not as seamless Cursor IDE | AI-first editor; conversational coding; multi-file reasoning | Built-in AI models (GPT-based, Claude-based), Copilot alternatives | Designed for AI pair-programming; strong repo-wide reasoning | Not a traditional IDE; still maturing for large enterprise workflows Replit | AI-powered Ghostwriter for code generation, debugging, and explanations | Ghostwriter | Great for beginners and rapid prototyping; browser-based | Less powerful for large, multi-module projects Builder.io / Builder Code Editor | AI-enhanced coding environment with integrated assistants | Multiple AI integrations depending on setup | Strong web-dev focus; modern AI-native UX | Not a general-purpose IDE Code-B Editors | Predictive code generation, debugging, and review | Multiple AI models depending on configuration | Strong AI-centric workflows; optimized for speed | Less mainstream; smaller ecosystem Claude Code | Terminal-first AI coding assistant; autonomous repo-wide reasoning | Latest models from Anthropic and other via configuration | Exceptional multi-file context handling; ideal for agentic workflows and automated patching | Not a GUI IDE; best suited for terminal-centric development and large codebases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Mob.sh: Install, Configure, and Use</a:t>
            </a:r>
          </a:p>
        </p:txBody>
      </p:sp>
      <p:sp>
        <p:nvSpPr>
          <p:cNvPr id="3" name="Content Placeholder 2"/>
          <p:cNvSpPr>
            <a:spLocks noGrp="1"/>
          </p:cNvSpPr>
          <p:nvPr>
            <p:ph idx="1"/>
          </p:nvPr>
        </p:nvSpPr>
        <p:spPr/>
        <p:txBody>
          <a:bodyPr/>
          <a:lstStyle/>
          <a:p>
            <a:pPr lvl="0" indent="0" marL="0">
              <a:buNone/>
            </a:pPr>
            <a:r>
              <a:rPr/>
              <a:t>A practical guide for teams adopting mob programming Why mob programming</a:t>
            </a:r>
          </a:p>
          <a:p>
            <a:pPr lvl="0"/>
            <a:r>
              <a:rPr/>
              <a:t>AI Code generation is non-deterministic</a:t>
            </a:r>
          </a:p>
          <a:p>
            <a:pPr lvl="1"/>
            <a:r>
              <a:rPr/>
              <a:t>A man with one watch always knows the time. A man with two is never sure.</a:t>
            </a:r>
          </a:p>
          <a:p>
            <a:pPr lvl="0"/>
            <a:r>
              <a:rPr/>
              <a:t>It’s a useful technique if you haven’t tried it</a:t>
            </a:r>
          </a:p>
          <a:p>
            <a:pPr lvl="0"/>
            <a:r>
              <a:rPr/>
              <a:t>Instead working alone, let’s work together Mobbing started with one computer shared by the team Remote mobbing the team shares a WIP branch</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mob.sh Solves</a:t>
            </a:r>
          </a:p>
        </p:txBody>
      </p:sp>
      <p:sp>
        <p:nvSpPr>
          <p:cNvPr id="3" name="Content Placeholder 2"/>
          <p:cNvSpPr>
            <a:spLocks noGrp="1"/>
          </p:cNvSpPr>
          <p:nvPr>
            <p:ph idx="1"/>
          </p:nvPr>
        </p:nvSpPr>
        <p:spPr/>
        <p:txBody>
          <a:bodyPr/>
          <a:lstStyle/>
          <a:p>
            <a:pPr lvl="0" indent="0" marL="0">
              <a:buNone/>
            </a:pPr>
            <a:r>
              <a:rPr/>
              <a:t>Smooth handoffs during mob/pair rotations Automatic WIP branches Zero‑conf timers Clean commits and merges Works with any Git provider (GitHub, GitLab, Bitbucket)</a:t>
            </a:r>
          </a:p>
        </p:txBody>
      </p:sp>
    </p:spTree>
  </p:cSld>
</p:sld>
</file>

<file path=ppt/slides/slide57.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Installing mob.sh</a:t></a:r></a:p></p:txBody></p:sp><p:sp><p:nvSpPr><p:cNvPr id="3" name="Content Placeholder 2" /><p:cNvSpPr><a:spLocks noGrp="1" /></p:cNvSpPr><p:nvPr><p:ph idx="1" /></p:nvPr></p:nvSpPr><p:spPr /><p:txBody><a:bodyPr /><a:lstStyle /><a:p><a:pPr lvl="0" indent="0" marL="0"><a:buNone /></a:pPr><a:r><a:rPr /><a:t>Requirements Git installed macOS, Linux, or WSL Optional: Homebrew Install Options Homebrew (recommended)brew install mob Curl installer curl -sL https://install.mob.sh | sh Manual</a:t></a:r></a:p><a:p><a:pPr lvl="0" /><a:r><a:rPr /><a:t>Download from https://mob.sh</a:t></a:r></a:p><a:p><a:pPr lvl="0" /><a:r><a:rPr /><a:t>Add to PATH</a:t></a:r></a:p><a:p><a:pPr lvl="0" /><a:r><a:rPr /><a:t>Verify with: mob version https://www.codemag.com/Blog/AI/AIASD-install-guide</a:t></a:r></a:p></p:txBody></p:sp></p:spTree></p:cSld></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Cloning the Course Repository</a:t>
            </a:r>
          </a:p>
        </p:txBody>
      </p:sp>
      <p:sp>
        <p:nvSpPr>
          <p:cNvPr id="3" name="Content Placeholder 2"/>
          <p:cNvSpPr>
            <a:spLocks noGrp="1"/>
          </p:cNvSpPr>
          <p:nvPr>
            <p:ph idx="1"/>
          </p:nvPr>
        </p:nvSpPr>
        <p:spPr/>
        <p:txBody>
          <a:bodyPr/>
          <a:lstStyle/>
          <a:p>
            <a:pPr lvl="0" indent="0" marL="0">
              <a:buNone/>
            </a:pPr>
            <a:r>
              <a:rPr/>
              <a:t>Duration: 10 minutes Prerequisites: Git, GitHub account Objectives Fork and clone the class repositories Activities Clone the AIASD-20260209 repository Switch to the fundamentals branch Success Criteria Cloned repository exists locally</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First‑Time Configuration</a:t>
            </a:r>
          </a:p>
        </p:txBody>
      </p:sp>
      <p:sp>
        <p:nvSpPr>
          <p:cNvPr id="3" name="Content Placeholder 2"/>
          <p:cNvSpPr>
            <a:spLocks noGrp="1"/>
          </p:cNvSpPr>
          <p:nvPr>
            <p:ph idx="1"/>
          </p:nvPr>
        </p:nvSpPr>
        <p:spPr/>
        <p:txBody>
          <a:bodyPr/>
          <a:lstStyle/>
          <a:p>
            <a:pPr lvl="0" indent="0" marL="0">
              <a:buNone/>
            </a:pPr>
            <a:r>
              <a:rPr/>
              <a:t>Set your preferred editor mob config editor “code” Set your default WIP branch name mob config wip-branch “mob-session” Optional: Set timer duration mob config timer 5</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Starting a Mob Session</a:t>
            </a:r>
          </a:p>
        </p:txBody>
      </p:sp>
      <p:sp>
        <p:nvSpPr>
          <p:cNvPr id="3" name="Content Placeholder 2"/>
          <p:cNvSpPr>
            <a:spLocks noGrp="1"/>
          </p:cNvSpPr>
          <p:nvPr>
            <p:ph idx="1"/>
          </p:nvPr>
        </p:nvSpPr>
        <p:spPr/>
        <p:txBody>
          <a:bodyPr/>
          <a:lstStyle/>
          <a:p>
            <a:pPr lvl="0" indent="0" marL="0">
              <a:buNone/>
            </a:pPr>
            <a:r>
              <a:rPr/>
              <a:t>Begin a session mob start What happens:</a:t>
            </a:r>
          </a:p>
          <a:p>
            <a:pPr lvl="0"/>
            <a:r>
              <a:rPr/>
              <a:t>Creates/updates a WIP branch - Stashes local changes</a:t>
            </a:r>
          </a:p>
          <a:p>
            <a:pPr lvl="0"/>
            <a:r>
              <a:rPr/>
              <a:t>Opens your editor - Starts optional timer</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Handoff to the Next Driver</a:t>
            </a:r>
          </a:p>
        </p:txBody>
      </p:sp>
      <p:sp>
        <p:nvSpPr>
          <p:cNvPr id="3" name="Content Placeholder 2"/>
          <p:cNvSpPr>
            <a:spLocks noGrp="1"/>
          </p:cNvSpPr>
          <p:nvPr>
            <p:ph idx="1"/>
          </p:nvPr>
        </p:nvSpPr>
        <p:spPr/>
        <p:txBody>
          <a:bodyPr/>
          <a:lstStyle/>
          <a:p>
            <a:pPr lvl="0" indent="0" marL="0">
              <a:buNone/>
            </a:pPr>
            <a:r>
              <a:rPr/>
              <a:t>When your rotation ends mob next This:</a:t>
            </a:r>
          </a:p>
          <a:p>
            <a:pPr lvl="0"/>
            <a:r>
              <a:rPr/>
              <a:t>Commits WIP</a:t>
            </a:r>
          </a:p>
          <a:p>
            <a:pPr lvl="0"/>
            <a:r>
              <a:rPr/>
              <a:t>Pushes to remote</a:t>
            </a:r>
          </a:p>
          <a:p>
            <a:pPr lvl="0"/>
            <a:r>
              <a:rPr/>
              <a:t>Prepares the next driver’s environment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Running Tests During the Mob</a:t>
            </a:r>
          </a:p>
        </p:txBody>
      </p:sp>
      <p:sp>
        <p:nvSpPr>
          <p:cNvPr id="3" name="Content Placeholder 2"/>
          <p:cNvSpPr>
            <a:spLocks noGrp="1"/>
          </p:cNvSpPr>
          <p:nvPr>
            <p:ph idx="1"/>
          </p:nvPr>
        </p:nvSpPr>
        <p:spPr/>
        <p:txBody>
          <a:bodyPr/>
          <a:lstStyle/>
          <a:p>
            <a:pPr lvl="0" indent="0" marL="0">
              <a:buNone/>
            </a:pPr>
            <a:r>
              <a:rPr/>
              <a:t>Use watch mode (Jest, Vitest, pytest‑watch) Keep terminal visible to the whole mob Encourage “test first” flow during rotations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Finishing the Mob Session</a:t>
            </a:r>
          </a:p>
        </p:txBody>
      </p:sp>
      <p:sp>
        <p:nvSpPr>
          <p:cNvPr id="3" name="Content Placeholder 2"/>
          <p:cNvSpPr>
            <a:spLocks noGrp="1"/>
          </p:cNvSpPr>
          <p:nvPr>
            <p:ph idx="1"/>
          </p:nvPr>
        </p:nvSpPr>
        <p:spPr/>
        <p:txBody>
          <a:bodyPr/>
          <a:lstStyle/>
          <a:p>
            <a:pPr lvl="0" indent="0" marL="0">
              <a:buNone/>
            </a:pPr>
            <a:r>
              <a:rPr/>
              <a:t>When the feature is ready mob done This:</a:t>
            </a:r>
          </a:p>
          <a:p>
            <a:pPr lvl="0"/>
            <a:r>
              <a:rPr/>
              <a:t>Squashes WIP commits</a:t>
            </a:r>
          </a:p>
          <a:p>
            <a:pPr lvl="0"/>
            <a:r>
              <a:rPr/>
              <a:t>Merges into your main branch</a:t>
            </a:r>
          </a:p>
          <a:p>
            <a:pPr lvl="0"/>
            <a:r>
              <a:rPr/>
              <a:t>Cleans up the WIP branch</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Branching Model Best Practices</a:t>
            </a:r>
          </a:p>
        </p:txBody>
      </p:sp>
      <p:sp>
        <p:nvSpPr>
          <p:cNvPr id="3" name="Content Placeholder 2"/>
          <p:cNvSpPr>
            <a:spLocks noGrp="1"/>
          </p:cNvSpPr>
          <p:nvPr>
            <p:ph idx="1"/>
          </p:nvPr>
        </p:nvSpPr>
        <p:spPr/>
        <p:txBody>
          <a:bodyPr/>
          <a:lstStyle/>
          <a:p>
            <a:pPr lvl="0" indent="0" marL="0">
              <a:buNone/>
            </a:pPr>
            <a:r>
              <a:rPr/>
              <a:t>Recommended Feature branch per story mob.sh manages the WIP branch PR created after mob done Avoid Multiple mobs on the same feature branch Manual commits on the WIP branch</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Role Rotation Tips</a:t>
            </a:r>
          </a:p>
        </p:txBody>
      </p:sp>
      <p:sp>
        <p:nvSpPr>
          <p:cNvPr id="3" name="Content Placeholder 2"/>
          <p:cNvSpPr>
            <a:spLocks noGrp="1"/>
          </p:cNvSpPr>
          <p:nvPr>
            <p:ph idx="1"/>
          </p:nvPr>
        </p:nvSpPr>
        <p:spPr/>
        <p:txBody>
          <a:bodyPr/>
          <a:lstStyle/>
          <a:p>
            <a:pPr lvl="0" indent="0" marL="0">
              <a:buNone/>
            </a:pPr>
            <a:r>
              <a:rPr/>
              <a:t>Driver rotates every 5–7 minutes Navigator(s) guide the next steps Researchers support without interrupting flow Use a shared timer (mob.sh or external)</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Advanced Features</a:t>
            </a:r>
          </a:p>
        </p:txBody>
      </p:sp>
      <p:sp>
        <p:nvSpPr>
          <p:cNvPr id="3" name="Content Placeholder 2"/>
          <p:cNvSpPr>
            <a:spLocks noGrp="1"/>
          </p:cNvSpPr>
          <p:nvPr>
            <p:ph idx="1"/>
          </p:nvPr>
        </p:nvSpPr>
        <p:spPr/>
        <p:txBody>
          <a:bodyPr/>
          <a:lstStyle/>
          <a:p>
            <a:pPr lvl="0" indent="0" marL="0">
              <a:buNone/>
            </a:pPr>
            <a:r>
              <a:rPr/>
              <a:t>mob start –include-uncommitted Keep local changes when starting a session. mob start –branch Use a custom WIP branch. mob timer Start a standalone rotation timer. mob status Check current mob state.</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Troubleshooting</a:t>
            </a:r>
          </a:p>
        </p:txBody>
      </p:sp>
      <p:sp>
        <p:nvSpPr>
          <p:cNvPr id="3" name="Content Placeholder 2"/>
          <p:cNvSpPr>
            <a:spLocks noGrp="1"/>
          </p:cNvSpPr>
          <p:nvPr>
            <p:ph idx="1"/>
          </p:nvPr>
        </p:nvSpPr>
        <p:spPr/>
        <p:txBody>
          <a:bodyPr/>
          <a:lstStyle/>
          <a:p>
            <a:pPr lvl="0" indent="0" marL="0">
              <a:buNone/>
            </a:pPr>
            <a:r>
              <a:rPr/>
              <a:t>“Uncommitted changes” error → Run: git stash Conflicts on mob done → Resolve locally, then: mob done –continue Someone forgot mob next → Use: mob start –continue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Resources</a:t>
            </a:r>
          </a:p>
        </p:txBody>
      </p:sp>
      <p:sp>
        <p:nvSpPr>
          <p:cNvPr id="3" name="Content Placeholder 2"/>
          <p:cNvSpPr>
            <a:spLocks noGrp="1"/>
          </p:cNvSpPr>
          <p:nvPr>
            <p:ph idx="1"/>
          </p:nvPr>
        </p:nvSpPr>
        <p:spPr/>
        <p:txBody>
          <a:bodyPr/>
          <a:lstStyle/>
          <a:p>
            <a:pPr lvl="0" indent="0" marL="0">
              <a:buNone/>
            </a:pPr>
            <a:r>
              <a:rPr/>
              <a:t>Official site: https://mob.sh ThoughtWorks Tech Radar (Technique): Mob Programming GitHub repo: https://github.com/remotemobprogramming/mob</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Mob Programming Setup</a:t>
            </a:r>
          </a:p>
        </p:txBody>
      </p:sp>
      <p:sp>
        <p:nvSpPr>
          <p:cNvPr id="3" name="Content Placeholder 2"/>
          <p:cNvSpPr>
            <a:spLocks noGrp="1"/>
          </p:cNvSpPr>
          <p:nvPr>
            <p:ph idx="1"/>
          </p:nvPr>
        </p:nvSpPr>
        <p:spPr/>
        <p:txBody>
          <a:bodyPr/>
          <a:lstStyle/>
          <a:p>
            <a:pPr lvl="0" indent="0" marL="0">
              <a:buNone/>
            </a:pPr>
            <a:r>
              <a:rPr/>
              <a:t>Duration: 15-20 minutes Objectives</a:t>
            </a:r>
          </a:p>
          <a:p>
            <a:pPr lvl="0"/>
            <a:r>
              <a:rPr/>
              <a:t>Explore collaborative coding with Copilot</a:t>
            </a:r>
          </a:p>
          <a:p>
            <a:pPr lvl="0"/>
            <a:r>
              <a:rPr/>
              <a:t>Set up for team development Activities</a:t>
            </a:r>
          </a:p>
          <a:p>
            <a:pPr lvl="0" indent="-342900" marL="342900">
              <a:buAutoNum type="arabicPeriod"/>
            </a:pPr>
            <a:r>
              <a:rPr/>
              <a:t>Configure for your environment</a:t>
            </a:r>
          </a:p>
          <a:p>
            <a:pPr lvl="0" indent="-342900" marL="342900">
              <a:buAutoNum type="arabicPeriod"/>
            </a:pPr>
            <a:r>
              <a:rPr/>
              <a:t>Practice driver/navigator roles with Copilot as assistant Success Criteria Successfully participate in a mob session</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vs “Vibe Coding”</a:t>
            </a:r>
          </a:p>
        </p:txBody>
      </p:sp>
      <p:sp>
        <p:nvSpPr>
          <p:cNvPr id="3" name="Content Placeholder 2"/>
          <p:cNvSpPr>
            <a:spLocks noGrp="1"/>
          </p:cNvSpPr>
          <p:nvPr>
            <p:ph idx="1"/>
          </p:nvPr>
        </p:nvSpPr>
        <p:spPr/>
        <p:txBody>
          <a:bodyPr/>
          <a:lstStyle/>
          <a:p>
            <a:pPr lvl="0" indent="0" marL="0">
              <a:buNone/>
            </a:pPr>
            <a:r>
              <a:rPr/>
              <a:t>Engineering approach: systematic, tested, documented, maintainable Vibe coding: “it works” mentality, technical debt accumulation AI should enhance engineering practices, not replace them Proper testing, code review, and architecture still essential</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Collaborating on a Solution</a:t>
            </a:r>
          </a:p>
        </p:txBody>
      </p:sp>
      <p:sp>
        <p:nvSpPr>
          <p:cNvPr id="3" name="Content Placeholder 2"/>
          <p:cNvSpPr>
            <a:spLocks noGrp="1"/>
          </p:cNvSpPr>
          <p:nvPr>
            <p:ph idx="1"/>
          </p:nvPr>
        </p:nvSpPr>
        <p:spPr/>
        <p:txBody>
          <a:bodyPr/>
          <a:lstStyle/>
          <a:p>
            <a:pPr lvl="0" indent="0" marL="0">
              <a:buNone/>
            </a:pPr>
            <a:r>
              <a:rPr/>
              <a:t>Project Setup Adding Features</a:t>
            </a:r>
          </a:p>
          <a:p>
            <a:pPr lvl="0"/>
            <a:r>
              <a:rPr/>
              <a:t>Basic Arithmetic - Addition, subtraction, multiplication, division</a:t>
            </a:r>
          </a:p>
          <a:p>
            <a:pPr lvl="0"/>
            <a:r>
              <a:rPr/>
              <a:t>Clear / Reset Function - Quickly resets the current input or entire calculation</a:t>
            </a:r>
          </a:p>
          <a:p>
            <a:pPr lvl="0"/>
            <a:r>
              <a:rPr/>
              <a:t>Decimal Support - Allows entry and computation with decimal numbers</a:t>
            </a:r>
          </a:p>
          <a:p>
            <a:pPr lvl="0"/>
            <a:r>
              <a:rPr/>
              <a:t>Sign Toggle (+/–) - Switches values between positive and negative</a:t>
            </a:r>
          </a:p>
          <a:p>
            <a:pPr lvl="0"/>
            <a:r>
              <a:rPr/>
              <a:t>Percentage Function - Converts values to percentages for quick calculations</a:t>
            </a:r>
          </a:p>
          <a:p>
            <a:pPr lvl="0"/>
            <a:r>
              <a:rPr/>
              <a:t>Memory Functions (M+, M–, MR, MC) - Store, recall, add to, or clear memory values</a:t>
            </a:r>
          </a:p>
          <a:p>
            <a:pPr lvl="0"/>
            <a:r>
              <a:rPr/>
              <a:t>Error Handling - Displays errors such as division by zero</a:t>
            </a:r>
          </a:p>
          <a:p>
            <a:pPr lvl="0"/>
            <a:r>
              <a:rPr/>
              <a:t>Simple, Intuitive Interface - Numeric keypad, operation buttons, and display screen Test Automation</a:t>
            </a:r>
          </a:p>
          <a:p>
            <a:pPr lvl="0"/>
            <a:r>
              <a:rPr/>
              <a:t>Code Coverage Dependency Management Comparing Implementations Chat Management Intro to Evergreen Software Development</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Basic Arithmetic</a:t>
            </a:r>
          </a:p>
        </p:txBody>
      </p:sp>
      <p:sp>
        <p:nvSpPr>
          <p:cNvPr id="3" name="Content Placeholder 2"/>
          <p:cNvSpPr>
            <a:spLocks noGrp="1"/>
          </p:cNvSpPr>
          <p:nvPr>
            <p:ph idx="1"/>
          </p:nvPr>
        </p:nvSpPr>
        <p:spPr/>
        <p:txBody>
          <a:bodyPr/>
          <a:lstStyle/>
          <a:p>
            <a:pPr lvl="0" indent="0" marL="0">
              <a:buNone/>
            </a:pPr>
            <a:r>
              <a:rPr/>
              <a:t>Duration: 45-60 minutes Objectives</a:t>
            </a:r>
          </a:p>
          <a:p>
            <a:pPr lvl="0"/>
            <a:r>
              <a:rPr/>
              <a:t>Use AI to generate starter code for arithmetic operations</a:t>
            </a:r>
          </a:p>
          <a:p>
            <a:pPr lvl="0"/>
            <a:r>
              <a:rPr/>
              <a:t>Understand how to validate AI‑generated logic</a:t>
            </a:r>
          </a:p>
          <a:p>
            <a:pPr lvl="0"/>
            <a:r>
              <a:rPr/>
              <a:t>Integrate addition, subtraction, multiplication, and division functions Activities</a:t>
            </a:r>
          </a:p>
          <a:p>
            <a:pPr lvl="0" indent="-342900" marL="342900">
              <a:buAutoNum type="arabicPeriod"/>
            </a:pPr>
            <a:r>
              <a:rPr/>
              <a:t>Project Initialization:</a:t>
            </a:r>
          </a:p>
          <a:p>
            <a:pPr lvl="0"/>
            <a:r>
              <a:rPr/>
              <a:t>Prompt AI to create a new project</a:t>
            </a:r>
          </a:p>
          <a:p>
            <a:pPr lvl="0"/>
            <a:r>
              <a:rPr/>
              <a:t>Review generated project structure</a:t>
            </a:r>
          </a:p>
          <a:p>
            <a:pPr lvl="0"/>
            <a:r>
              <a:rPr/>
              <a:t>Verify build configuration</a:t>
            </a:r>
          </a:p>
          <a:p>
            <a:pPr lvl="0" indent="-342900" marL="342900">
              <a:buAutoNum startAt="2" type="arabicPeriod"/>
            </a:pPr>
            <a:r>
              <a:rPr/>
              <a:t>Implement Basic Operations:</a:t>
            </a:r>
          </a:p>
          <a:p>
            <a:pPr lvl="0"/>
            <a:r>
              <a:rPr/>
              <a:t>Prompt AI to add methods for addition, subtraction, multiplication, and division</a:t>
            </a:r>
          </a:p>
          <a:p>
            <a:pPr lvl="0" indent="-342900" marL="342900">
              <a:buAutoNum startAt="3" type="arabicPeriod"/>
            </a:pPr>
            <a:r>
              <a:rPr/>
              <a:t>Review the Code:</a:t>
            </a:r>
          </a:p>
          <a:p>
            <a:pPr lvl="0"/>
            <a:r>
              <a:rPr/>
              <a:t>For correctness and edge cases</a:t>
            </a:r>
          </a:p>
          <a:p>
            <a:pPr lvl="0" indent="-342900" marL="342900">
              <a:buAutoNum startAt="4" type="arabicPeriod"/>
            </a:pPr>
            <a:r>
              <a:rPr/>
              <a:t>Build and Run:</a:t>
            </a:r>
          </a:p>
          <a:p>
            <a:pPr lvl="0"/>
            <a:r>
              <a:rPr/>
              <a:t>Use Copilot to help with build commands</a:t>
            </a:r>
          </a:p>
          <a:p>
            <a:pPr lvl="0"/>
            <a:r>
              <a:rPr/>
              <a:t>Troubleshoot any compilation errors with Copilot’s help</a:t>
            </a:r>
          </a:p>
          <a:p>
            <a:pPr lvl="0"/>
            <a:r>
              <a:rPr/>
              <a:t>Run the application Success Criteria</a:t>
            </a:r>
          </a:p>
          <a:p>
            <a:pPr lvl="0"/>
            <a:r>
              <a:rPr/>
              <a:t>Working calculator with 4 basic operations</a:t>
            </a:r>
          </a:p>
          <a:p>
            <a:pPr lvl="0"/>
            <a:r>
              <a:rPr/>
              <a:t>Application compiles and runs successfully</a:t>
            </a:r>
          </a:p>
          <a:p>
            <a:pPr lvl="0"/>
            <a:r>
              <a:rPr/>
              <a:t>You’ve critically reviewed all generated code</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Clear / Reset</a:t>
            </a:r>
          </a:p>
        </p:txBody>
      </p:sp>
      <p:sp>
        <p:nvSpPr>
          <p:cNvPr id="3" name="Content Placeholder 2"/>
          <p:cNvSpPr>
            <a:spLocks noGrp="1"/>
          </p:cNvSpPr>
          <p:nvPr>
            <p:ph idx="1"/>
          </p:nvPr>
        </p:nvSpPr>
        <p:spPr/>
        <p:txBody>
          <a:bodyPr/>
          <a:lstStyle/>
          <a:p>
            <a:pPr lvl="0" indent="0" marL="0">
              <a:buNone/>
            </a:pPr>
            <a:r>
              <a:rPr/>
              <a:t>Duration: 15 minutes Objectives</a:t>
            </a:r>
          </a:p>
          <a:p>
            <a:pPr lvl="0"/>
            <a:r>
              <a:rPr/>
              <a:t>Use AI to scaffold state‑management logic</a:t>
            </a:r>
          </a:p>
          <a:p>
            <a:pPr lvl="0"/>
            <a:r>
              <a:rPr/>
              <a:t>Implement CE (clear entry) and C (clear all) behaviors</a:t>
            </a:r>
          </a:p>
          <a:p>
            <a:pPr lvl="0"/>
            <a:r>
              <a:rPr/>
              <a:t>Understand how AI can help reason about UI state transitions Activities Prompt AI to outline the difference between CE and C Generate code for clearing the current input vs. full state Integrate the logic into your calculator’s state object Test transitions by simulating user input sequences Success Criteria</a:t>
            </a:r>
          </a:p>
          <a:p>
            <a:pPr lvl="0"/>
            <a:r>
              <a:rPr/>
              <a:t>CE clears only the active entry</a:t>
            </a:r>
          </a:p>
          <a:p>
            <a:pPr lvl="0"/>
            <a:r>
              <a:rPr/>
              <a:t>C resets the entire calculator state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Decimal Input</a:t>
            </a:r>
          </a:p>
        </p:txBody>
      </p:sp>
      <p:sp>
        <p:nvSpPr>
          <p:cNvPr id="3" name="Content Placeholder 2"/>
          <p:cNvSpPr>
            <a:spLocks noGrp="1"/>
          </p:cNvSpPr>
          <p:nvPr>
            <p:ph idx="1"/>
          </p:nvPr>
        </p:nvSpPr>
        <p:spPr/>
        <p:txBody>
          <a:bodyPr/>
          <a:lstStyle/>
          <a:p>
            <a:pPr lvl="0" indent="0" marL="0">
              <a:buNone/>
            </a:pPr>
            <a:r>
              <a:rPr/>
              <a:t>Duration: 12 minutes Objectives Use AI to generate input‑validation logic Prevent multiple decimal points Ensure decimals flow correctly through arithmetic operation Activities Ask AI to propose a strategy for handling decimal input Generate code to block multiple decimals in a single number Integrate decimal support into the existing input parser Test decimal operations using AI‑generated test cases Success Criteria Decimal input works without duplication errors Arithmetic with decimals produces correct results Learner can explain the validation logic</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Sign Toggle (+/–)</a:t>
            </a:r>
          </a:p>
        </p:txBody>
      </p:sp>
      <p:sp>
        <p:nvSpPr>
          <p:cNvPr id="3" name="Content Placeholder 2"/>
          <p:cNvSpPr>
            <a:spLocks noGrp="1"/>
          </p:cNvSpPr>
          <p:nvPr>
            <p:ph idx="1"/>
          </p:nvPr>
        </p:nvSpPr>
        <p:spPr/>
        <p:txBody>
          <a:bodyPr/>
          <a:lstStyle/>
          <a:p>
            <a:pPr lvl="0" indent="0" marL="0">
              <a:buNone/>
            </a:pPr>
            <a:r>
              <a:rPr/>
              <a:t>Duration: 8 minutes Objectives</a:t>
            </a:r>
          </a:p>
          <a:p>
            <a:pPr lvl="0"/>
            <a:r>
              <a:rPr/>
              <a:t>Use AI to generate logic for toggling numeric sign</a:t>
            </a:r>
          </a:p>
          <a:p>
            <a:pPr lvl="0"/>
            <a:r>
              <a:rPr/>
              <a:t>Understand how sign toggling interacts with current input and stored values Activities Ask AI to generate a function that toggles sign on the active value Integrate the function into the input workflow Test sign toggling before and after entering digits Success Criteria</a:t>
            </a:r>
          </a:p>
          <a:p>
            <a:pPr lvl="0"/>
            <a:r>
              <a:rPr/>
              <a:t>Sign toggle works consistently for integers and decimals</a:t>
            </a:r>
          </a:p>
          <a:p>
            <a:pPr lvl="0"/>
            <a:r>
              <a:rPr/>
              <a:t>Learner can explain how the toggle affects stored vs. active value</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Percentage</a:t>
            </a:r>
          </a:p>
        </p:txBody>
      </p:sp>
      <p:sp>
        <p:nvSpPr>
          <p:cNvPr id="3" name="Content Placeholder 2"/>
          <p:cNvSpPr>
            <a:spLocks noGrp="1"/>
          </p:cNvSpPr>
          <p:nvPr>
            <p:ph idx="1"/>
          </p:nvPr>
        </p:nvSpPr>
        <p:spPr/>
        <p:txBody>
          <a:bodyPr/>
          <a:lstStyle/>
          <a:p>
            <a:pPr lvl="0" indent="0" marL="0">
              <a:buNone/>
            </a:pPr>
            <a:r>
              <a:rPr/>
              <a:t>Duration: 15 minutes Objectives</a:t>
            </a:r>
          </a:p>
          <a:p>
            <a:pPr lvl="0"/>
            <a:r>
              <a:rPr/>
              <a:t>Use AI to clarify how calculators interpret %</a:t>
            </a:r>
          </a:p>
          <a:p>
            <a:pPr lvl="0"/>
            <a:r>
              <a:rPr/>
              <a:t>Implement percentage logic for common patterns</a:t>
            </a:r>
          </a:p>
          <a:p>
            <a:pPr lvl="0"/>
            <a:r>
              <a:rPr/>
              <a:t>Validate behavior with AI‑generated examples Activities Ask AI to explain how % should behave in a standard calculator Generate code for: X × Y% Y + X% Y – X%</a:t>
            </a:r>
          </a:p>
          <a:p>
            <a:pPr lvl="0" indent="-342900" marL="342900">
              <a:buAutoNum startAt="3" type="arabicPeriod"/>
            </a:pPr>
            <a:r>
              <a:rPr/>
              <a:t>Test each pattern with AI‑generated sample values Success Criteria Percentage operations match standard calculator behavior Learner can articulate the interpretation rules for %</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Memory Functions (M+, M–, MR, MC)</a:t>
            </a:r>
          </a:p>
        </p:txBody>
      </p:sp>
      <p:sp>
        <p:nvSpPr>
          <p:cNvPr id="3" name="Content Placeholder 2"/>
          <p:cNvSpPr>
            <a:spLocks noGrp="1"/>
          </p:cNvSpPr>
          <p:nvPr>
            <p:ph idx="1"/>
          </p:nvPr>
        </p:nvSpPr>
        <p:spPr/>
        <p:txBody>
          <a:bodyPr/>
          <a:lstStyle/>
          <a:p>
            <a:pPr lvl="0" indent="0" marL="0">
              <a:buNone/>
            </a:pPr>
            <a:r>
              <a:rPr/>
              <a:t>Duration: 18 minutes Objectives</a:t>
            </a:r>
          </a:p>
          <a:p>
            <a:pPr lvl="0"/>
            <a:r>
              <a:rPr/>
              <a:t>Use AI to design a memory subsystem</a:t>
            </a:r>
          </a:p>
          <a:p>
            <a:pPr lvl="0"/>
            <a:r>
              <a:rPr/>
              <a:t>Implement memory add, subtract, recall, and clear</a:t>
            </a:r>
          </a:p>
          <a:p>
            <a:pPr lvl="0"/>
            <a:r>
              <a:rPr/>
              <a:t>Validate memory behavior across multiple operations Activities Ask AI to propose a memory‑state structure Generate functions for M+, M–, MR, MC Integrate memory operations into the calculator workflow Test memory persistence across multiple calculations Success Criteria</a:t>
            </a:r>
          </a:p>
          <a:p>
            <a:pPr lvl="0"/>
            <a:r>
              <a:rPr/>
              <a:t>Memory functions behave as expected</a:t>
            </a:r>
          </a:p>
          <a:p>
            <a:pPr lvl="0"/>
            <a:r>
              <a:rPr/>
              <a:t>Learner can explain how memory state is stored and updated</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Error Handling</a:t>
            </a:r>
          </a:p>
        </p:txBody>
      </p:sp>
      <p:sp>
        <p:nvSpPr>
          <p:cNvPr id="3" name="Content Placeholder 2"/>
          <p:cNvSpPr>
            <a:spLocks noGrp="1"/>
          </p:cNvSpPr>
          <p:nvPr>
            <p:ph idx="1"/>
          </p:nvPr>
        </p:nvSpPr>
        <p:spPr/>
        <p:txBody>
          <a:bodyPr/>
          <a:lstStyle/>
          <a:p>
            <a:pPr lvl="0" indent="0" marL="0">
              <a:buNone/>
            </a:pPr>
            <a:r>
              <a:rPr/>
              <a:t>Duration: 10 minutes Objectives</a:t>
            </a:r>
          </a:p>
          <a:p>
            <a:pPr lvl="0"/>
            <a:r>
              <a:rPr/>
              <a:t>Use AI to identify common error conditions</a:t>
            </a:r>
          </a:p>
          <a:p>
            <a:pPr lvl="0"/>
            <a:r>
              <a:rPr/>
              <a:t>Implement error messages and recovery logic</a:t>
            </a:r>
          </a:p>
          <a:p>
            <a:pPr lvl="0"/>
            <a:r>
              <a:rPr/>
              <a:t>Ensure the calculator resets gracefully after errors Activities Ask AI to list typical calculator errors (e.g., divide by zero) Generate code for error detection and display Implement a reset path after an error Test error scenarios using AI‑generated test cases Success Criteria</a:t>
            </a:r>
          </a:p>
          <a:p>
            <a:pPr lvl="0"/>
            <a:r>
              <a:rPr/>
              <a:t>Errors are detected and displayed correctly</a:t>
            </a:r>
          </a:p>
          <a:p>
            <a:pPr lvl="0"/>
            <a:r>
              <a:rPr/>
              <a:t>Calculator recovers cleanly after reset</a:t>
            </a:r>
          </a:p>
          <a:p>
            <a:pPr lvl="0"/>
            <a:r>
              <a:rPr/>
              <a:t>Learner can describe the error‑handling flow</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UI</a:t>
            </a:r>
          </a:p>
        </p:txBody>
      </p:sp>
      <p:sp>
        <p:nvSpPr>
          <p:cNvPr id="3" name="Content Placeholder 2"/>
          <p:cNvSpPr>
            <a:spLocks noGrp="1"/>
          </p:cNvSpPr>
          <p:nvPr>
            <p:ph idx="1"/>
          </p:nvPr>
        </p:nvSpPr>
        <p:spPr/>
        <p:txBody>
          <a:bodyPr/>
          <a:lstStyle/>
          <a:p>
            <a:pPr lvl="0" indent="0" marL="0">
              <a:buNone/>
            </a:pPr>
            <a:r>
              <a:rPr/>
              <a:t>Duration: 15 minutes Objectives</a:t>
            </a:r>
          </a:p>
          <a:p>
            <a:pPr lvl="0"/>
            <a:r>
              <a:rPr/>
              <a:t>Use AI to scaffold UI event handlers</a:t>
            </a:r>
          </a:p>
          <a:p>
            <a:pPr lvl="0"/>
            <a:r>
              <a:rPr/>
              <a:t>Connect buttons to logic functions</a:t>
            </a:r>
          </a:p>
          <a:p>
            <a:pPr lvl="0"/>
            <a:r>
              <a:rPr/>
              <a:t>Validate end‑to‑end user workflow Activities Ask AI to generate event‑binding code for numeric and operator buttons Integrate logic functions from previous labs Test a full workflow:</a:t>
            </a:r>
          </a:p>
          <a:p>
            <a:pPr lvl="0"/>
            <a:r>
              <a:rPr/>
              <a:t>Enter decimal</a:t>
            </a:r>
          </a:p>
          <a:p>
            <a:pPr lvl="0"/>
            <a:r>
              <a:rPr/>
              <a:t>Toggle sign</a:t>
            </a:r>
          </a:p>
          <a:p>
            <a:pPr lvl="0"/>
            <a:r>
              <a:rPr/>
              <a:t>Apply percentage</a:t>
            </a:r>
          </a:p>
          <a:p>
            <a:pPr lvl="0"/>
            <a:r>
              <a:rPr/>
              <a:t>Store result in memory Success Criteria</a:t>
            </a:r>
          </a:p>
          <a:p>
            <a:pPr lvl="0"/>
            <a:r>
              <a:rPr/>
              <a:t>UI correctly triggers all calculator functions</a:t>
            </a:r>
          </a:p>
          <a:p>
            <a:pPr lvl="0"/>
            <a:r>
              <a:rPr/>
              <a:t>Full workflow completes without errors</a:t>
            </a:r>
          </a:p>
          <a:p>
            <a:pPr lvl="0"/>
            <a:r>
              <a:rPr/>
              <a:t>Learner can explain how UI events map to logic functions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Add Trigonometric Functions</a:t>
            </a:r>
          </a:p>
        </p:txBody>
      </p:sp>
      <p:sp>
        <p:nvSpPr>
          <p:cNvPr id="3" name="Content Placeholder 2"/>
          <p:cNvSpPr>
            <a:spLocks noGrp="1"/>
          </p:cNvSpPr>
          <p:nvPr>
            <p:ph idx="1"/>
          </p:nvPr>
        </p:nvSpPr>
        <p:spPr/>
        <p:txBody>
          <a:bodyPr/>
          <a:lstStyle/>
          <a:p>
            <a:pPr lvl="0" indent="0" marL="0">
              <a:buNone/>
            </a:pPr>
            <a:r>
              <a:rPr/>
              <a:t>Duration: 15 minutes Objectives</a:t>
            </a:r>
          </a:p>
          <a:p>
            <a:pPr lvl="0"/>
            <a:r>
              <a:rPr/>
              <a:t>Integrate trigonometric functions into the calculator’s operation set</a:t>
            </a:r>
          </a:p>
          <a:p>
            <a:pPr lvl="0"/>
            <a:r>
              <a:rPr/>
              <a:t>Use AI to generate math‑library wrappers and input‑parsing logic</a:t>
            </a:r>
          </a:p>
          <a:p>
            <a:pPr lvl="0"/>
            <a:r>
              <a:rPr/>
              <a:t>Ensure correct handling of degrees vs. radians Activities Ask AI to generate functions for sin, cos, and tan using your language’s math library Prompt AI to propose a strategy for handling degree/radian mode Implement UI bindings or command triggers for each trig function Use AI to generate a table of sample inputs and expected outputs Success Criteria</a:t>
            </a:r>
          </a:p>
          <a:p>
            <a:pPr lvl="0"/>
            <a:r>
              <a:rPr/>
              <a:t>Trig functions compute correct values in the selected angle mode</a:t>
            </a:r>
          </a:p>
          <a:p>
            <a:pPr lvl="0"/>
            <a:r>
              <a:rPr/>
              <a:t>Degree/radian mode switching works consistently</a:t>
            </a:r>
          </a:p>
          <a:p>
            <a:pPr lvl="0"/>
            <a:r>
              <a:rPr/>
              <a:t>UI or command triggers correctly call the trig functions</a:t>
            </a:r>
          </a:p>
          <a:p>
            <a:pPr lvl="0"/>
            <a:r>
              <a:rPr/>
              <a:t>Learner can explain how AI‑generated code was validated and refine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Encapsulate Core Logic</a:t>
            </a:r>
          </a:p>
        </p:txBody>
      </p:sp>
      <p:sp>
        <p:nvSpPr>
          <p:cNvPr id="3" name="Content Placeholder 2"/>
          <p:cNvSpPr>
            <a:spLocks noGrp="1"/>
          </p:cNvSpPr>
          <p:nvPr>
            <p:ph idx="1"/>
          </p:nvPr>
        </p:nvSpPr>
        <p:spPr/>
        <p:txBody>
          <a:bodyPr/>
          <a:lstStyle/>
          <a:p>
            <a:pPr lvl="0" indent="0" marL="0">
              <a:buNone/>
            </a:pPr>
            <a:r>
              <a:rPr/>
              <a:t>Duration: 15 minutes Objectives Separate UI concerns from computational logic Use AI to scaffold a standalone “core logic” module/class Ensure the UI communicates with the logic layer through a clean, well‑defined API Validate that encapsulation improves testability and maintainability Activities</a:t>
            </a:r>
          </a:p>
          <a:p>
            <a:pPr lvl="0"/>
            <a:r>
              <a:rPr/>
              <a:t>Ask AI to generate a dedicated component (e.g., CalculatorEngine, CalculatorCore) containing:</a:t>
            </a:r>
          </a:p>
          <a:p>
            <a:pPr lvl="0"/>
            <a:r>
              <a:rPr/>
              <a:t>Arithmetic operations</a:t>
            </a:r>
          </a:p>
          <a:p>
            <a:pPr lvl="0"/>
            <a:r>
              <a:rPr/>
              <a:t>State management</a:t>
            </a:r>
          </a:p>
          <a:p>
            <a:pPr lvl="0"/>
            <a:r>
              <a:rPr/>
              <a:t>Trig/percentage/memory logic (if implemented)</a:t>
            </a:r>
          </a:p>
          <a:p>
            <a:pPr lvl="0" indent="-342900" marL="342900">
              <a:buAutoNum startAt="2" type="arabicPeriod"/>
            </a:pPr>
            <a:r>
              <a:rPr/>
              <a:t>Review the AI‑generated API surface and refine naming, inputs, and return types</a:t>
            </a:r>
          </a:p>
          <a:p>
            <a:pPr lvl="0" indent="-342900" marL="342900">
              <a:buAutoNum startAt="2" type="arabicPeriod"/>
            </a:pPr>
            <a:r>
              <a:rPr/>
              <a:t>Replace UI‑embedded logic with calls into the new component Success Criteria</a:t>
            </a:r>
          </a:p>
          <a:p>
            <a:pPr lvl="0"/>
            <a:r>
              <a:rPr/>
              <a:t>All calculator features run through the external logic component</a:t>
            </a:r>
          </a:p>
          <a:p>
            <a:pPr lvl="0"/>
            <a:r>
              <a:rPr/>
              <a:t>UI contains no computational logic — only event handling and display updates</a:t>
            </a:r>
          </a:p>
          <a:p>
            <a:pPr lvl="0"/>
            <a:r>
              <a:rPr/>
              <a:t>Learner can explain how encapsulation improves modularity, reuse, and AI‑assisted development workflow</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Calculator Project - Testing</a:t>
            </a:r>
          </a:p>
        </p:txBody>
      </p:sp>
      <p:sp>
        <p:nvSpPr>
          <p:cNvPr id="3" name="Content Placeholder 2"/>
          <p:cNvSpPr>
            <a:spLocks noGrp="1"/>
          </p:cNvSpPr>
          <p:nvPr>
            <p:ph idx="1"/>
          </p:nvPr>
        </p:nvSpPr>
        <p:spPr/>
        <p:txBody>
          <a:bodyPr/>
          <a:lstStyle/>
          <a:p>
            <a:pPr lvl="0" indent="0" marL="0">
              <a:buNone/>
            </a:pPr>
            <a:r>
              <a:rPr/>
              <a:t>Duration: 45-60 minutes Objectives</a:t>
            </a:r>
          </a:p>
          <a:p>
            <a:pPr lvl="0"/>
            <a:r>
              <a:rPr/>
              <a:t>Generate unit tests with AI assistance</a:t>
            </a:r>
          </a:p>
          <a:p>
            <a:pPr lvl="0"/>
            <a:r>
              <a:rPr/>
              <a:t>Identify quality issues in generated tests</a:t>
            </a:r>
          </a:p>
          <a:p>
            <a:pPr lvl="0"/>
            <a:r>
              <a:rPr/>
              <a:t>Understand the importance of reviewing AI-generated tests Activities</a:t>
            </a:r>
          </a:p>
          <a:p>
            <a:pPr lvl="0" indent="-342900" marL="342900">
              <a:buAutoNum type="arabicPeriod"/>
            </a:pPr>
            <a:r>
              <a:rPr/>
              <a:t>Generate Initial Tests:</a:t>
            </a:r>
          </a:p>
          <a:p>
            <a:pPr lvl="0"/>
            <a:r>
              <a:rPr/>
              <a:t>Prompt: “Create unit tests for the calculator operations”</a:t>
            </a:r>
          </a:p>
          <a:p>
            <a:pPr lvl="0"/>
            <a:r>
              <a:rPr/>
              <a:t>Review generated test structure</a:t>
            </a:r>
          </a:p>
          <a:p>
            <a:pPr lvl="0"/>
            <a:r>
              <a:rPr/>
              <a:t>Critical Review: Are tests calling your calculator code?</a:t>
            </a:r>
          </a:p>
          <a:p>
            <a:pPr lvl="0" indent="-342900" marL="342900">
              <a:buAutoNum startAt="2" type="arabicPeriod"/>
            </a:pPr>
            <a:r>
              <a:rPr/>
              <a:t>Fix Test Issues (Replicating Session Demo):</a:t>
            </a:r>
          </a:p>
          <a:p>
            <a:pPr lvl="0"/>
            <a:r>
              <a:rPr/>
              <a:t>If tests are too simple (like </a:t>
            </a:r>
            <a:r>
              <a:rPr>
                <a:latin typeface="Courier"/>
              </a:rPr>
              <a:t>1 + 1 = 2</a:t>
            </a:r>
            <a:r>
              <a:rPr/>
              <a:t> without calling calculator):</a:t>
            </a:r>
          </a:p>
          <a:p>
            <a:pPr lvl="0"/>
            <a:r>
              <a:rPr/>
              <a:t>Identify the problem</a:t>
            </a:r>
          </a:p>
          <a:p>
            <a:pPr lvl="0"/>
            <a:r>
              <a:rPr/>
              <a:t>Ask Copilot to fix it: “Update tests to call Calculator class methods”</a:t>
            </a:r>
          </a:p>
          <a:p>
            <a:pPr lvl="0"/>
            <a:r>
              <a:rPr/>
              <a:t>Verify tests now test actual implementation</a:t>
            </a:r>
          </a:p>
          <a:p>
            <a:pPr lvl="0" indent="-342900" marL="342900">
              <a:buAutoNum startAt="3" type="arabicPeriod"/>
            </a:pPr>
            <a:r>
              <a:rPr/>
              <a:t>Run Tests:</a:t>
            </a:r>
          </a:p>
          <a:p>
            <a:pPr lvl="0"/>
            <a:r>
              <a:rPr/>
              <a:t>Execute test suite</a:t>
            </a:r>
          </a:p>
          <a:p>
            <a:pPr lvl="0"/>
            <a:r>
              <a:rPr/>
              <a:t>Review test output</a:t>
            </a:r>
          </a:p>
          <a:p>
            <a:pPr lvl="0"/>
            <a:r>
              <a:rPr/>
              <a:t>Debug any failing tests with Copilot’s help</a:t>
            </a:r>
          </a:p>
          <a:p>
            <a:pPr lvl="0" indent="-342900" marL="342900">
              <a:buAutoNum startAt="4" type="arabicPeriod"/>
            </a:pPr>
            <a:r>
              <a:rPr/>
              <a:t>Add Edge Cases:</a:t>
            </a:r>
          </a:p>
          <a:p>
            <a:pPr lvl="0"/>
            <a:r>
              <a:rPr/>
              <a:t>Prompt: “Add tests for edge cases like division by zero”</a:t>
            </a:r>
          </a:p>
          <a:p>
            <a:pPr lvl="0"/>
            <a:r>
              <a:rPr/>
              <a:t>Verify exception handling tests are correct Success Criteria</a:t>
            </a:r>
          </a:p>
          <a:p>
            <a:pPr lvl="0"/>
            <a:r>
              <a:rPr/>
              <a:t>Test suite with minimum 8 test cases</a:t>
            </a:r>
          </a:p>
          <a:p>
            <a:pPr lvl="0"/>
            <a:r>
              <a:rPr/>
              <a:t>All tests call actual calculator methods (not just language arithmetic)</a:t>
            </a:r>
          </a:p>
          <a:p>
            <a:pPr lvl="0"/>
            <a:r>
              <a:rPr/>
              <a:t>Tests include edge cases and error conditions</a:t>
            </a:r>
          </a:p>
          <a:p>
            <a:pPr lvl="0"/>
            <a:r>
              <a:rPr/>
              <a:t>All tests pass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Code Coverage</a:t>
            </a:r>
          </a:p>
        </p:txBody>
      </p:sp>
      <p:sp>
        <p:nvSpPr>
          <p:cNvPr id="3" name="Content Placeholder 2"/>
          <p:cNvSpPr>
            <a:spLocks noGrp="1"/>
          </p:cNvSpPr>
          <p:nvPr>
            <p:ph idx="1"/>
          </p:nvPr>
        </p:nvSpPr>
        <p:spPr/>
        <p:txBody>
          <a:bodyPr/>
          <a:lstStyle/>
          <a:p>
            <a:pPr lvl="0" indent="0" marL="0">
              <a:buNone/>
            </a:pPr>
            <a:r>
              <a:rPr/>
              <a:t>Duration: 30-40 minutes Objectives</a:t>
            </a:r>
          </a:p>
          <a:p>
            <a:pPr lvl="0"/>
            <a:r>
              <a:rPr/>
              <a:t>Set up code coverage reporting</a:t>
            </a:r>
          </a:p>
          <a:p>
            <a:pPr lvl="0"/>
            <a:r>
              <a:rPr/>
              <a:t>Interpret coverage results</a:t>
            </a:r>
          </a:p>
          <a:p>
            <a:pPr lvl="0"/>
            <a:r>
              <a:rPr/>
              <a:t>Improve test coverage based on gaps Activities</a:t>
            </a:r>
          </a:p>
          <a:p>
            <a:pPr lvl="0" indent="-342900" marL="342900">
              <a:buAutoNum type="arabicPeriod"/>
            </a:pPr>
            <a:r>
              <a:rPr/>
              <a:t>Enable Coverage Collection:</a:t>
            </a:r>
          </a:p>
          <a:p>
            <a:pPr lvl="0"/>
            <a:r>
              <a:rPr/>
              <a:t>Prompt: “Add code coverage reporting to my test project”</a:t>
            </a:r>
          </a:p>
          <a:p>
            <a:pPr lvl="0"/>
            <a:r>
              <a:rPr/>
              <a:t>Review package dependencies added</a:t>
            </a:r>
          </a:p>
          <a:p>
            <a:pPr lvl="0"/>
            <a:r>
              <a:rPr/>
              <a:t>Handle any NuGet/dependency issues with Copilot’s help</a:t>
            </a:r>
          </a:p>
          <a:p>
            <a:pPr lvl="0" indent="-342900" marL="342900">
              <a:buAutoNum startAt="2" type="arabicPeriod"/>
            </a:pPr>
            <a:r>
              <a:rPr/>
              <a:t>Generate Coverage Report:</a:t>
            </a:r>
          </a:p>
          <a:p>
            <a:pPr lvl="0"/>
            <a:r>
              <a:rPr/>
              <a:t>Run tests with coverage enabled</a:t>
            </a:r>
          </a:p>
          <a:p>
            <a:pPr lvl="0"/>
            <a:r>
              <a:rPr/>
              <a:t>Review coverage percentage</a:t>
            </a:r>
          </a:p>
          <a:p>
            <a:pPr lvl="0"/>
            <a:r>
              <a:rPr/>
              <a:t>Identify uncovered code paths</a:t>
            </a:r>
          </a:p>
          <a:p>
            <a:pPr lvl="0" indent="-342900" marL="342900">
              <a:buAutoNum startAt="3" type="arabicPeriod"/>
            </a:pPr>
            <a:r>
              <a:rPr/>
              <a:t>Improve Coverage:</a:t>
            </a:r>
          </a:p>
          <a:p>
            <a:pPr lvl="0"/>
            <a:r>
              <a:rPr/>
              <a:t>Add tests for uncovered methods</a:t>
            </a:r>
          </a:p>
          <a:p>
            <a:pPr lvl="0"/>
            <a:r>
              <a:rPr/>
              <a:t>Re-run coverage to verify improvement</a:t>
            </a:r>
          </a:p>
          <a:p>
            <a:pPr lvl="0"/>
            <a:r>
              <a:rPr/>
              <a:t>Discuss: Is 100% coverage always necessary? Success Criteria</a:t>
            </a:r>
          </a:p>
          <a:p>
            <a:pPr lvl="0"/>
            <a:r>
              <a:rPr/>
              <a:t>Code coverage reporting successfully configured</a:t>
            </a:r>
          </a:p>
          <a:p>
            <a:pPr lvl="0"/>
            <a:r>
              <a:rPr/>
              <a:t>Can generate and read coverage reports</a:t>
            </a:r>
          </a:p>
          <a:p>
            <a:pPr lvl="0"/>
            <a:r>
              <a:rPr/>
              <a:t>Achieved reasonable coverage (&gt;80% line coverage)</a:t>
            </a:r>
          </a:p>
          <a:p>
            <a:pPr lvl="0"/>
            <a:r>
              <a:rPr/>
              <a:t>Understand what coverage metrics mean Discussion Points</a:t>
            </a:r>
          </a:p>
          <a:p>
            <a:pPr lvl="0"/>
            <a:r>
              <a:rPr/>
              <a:t>Feature coverage vs. code coverage (as raised by Tom in the session)</a:t>
            </a:r>
          </a:p>
          <a:p>
            <a:pPr lvl="0"/>
            <a:r>
              <a:rPr/>
              <a:t>When is test coverage sufficient?</a:t>
            </a:r>
          </a:p>
          <a:p>
            <a:pPr lvl="0"/>
            <a:r>
              <a:rPr/>
              <a:t>Quality of tests vs. quantity</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Dependency Management &amp; Troubleshooting</a:t>
            </a:r>
          </a:p>
        </p:txBody>
      </p:sp>
      <p:sp>
        <p:nvSpPr>
          <p:cNvPr id="3" name="Content Placeholder 2"/>
          <p:cNvSpPr>
            <a:spLocks noGrp="1"/>
          </p:cNvSpPr>
          <p:nvPr>
            <p:ph idx="1"/>
          </p:nvPr>
        </p:nvSpPr>
        <p:spPr/>
        <p:txBody>
          <a:bodyPr/>
          <a:lstStyle/>
          <a:p>
            <a:pPr lvl="0" indent="0" marL="0">
              <a:buNone/>
            </a:pPr>
            <a:r>
              <a:rPr/>
              <a:t>Duration: 30-40 minutes Objectives</a:t>
            </a:r>
          </a:p>
          <a:p>
            <a:pPr lvl="0"/>
            <a:r>
              <a:rPr/>
              <a:t>Use Copilot to resolve dependency issues</a:t>
            </a:r>
          </a:p>
          <a:p>
            <a:pPr lvl="0"/>
            <a:r>
              <a:rPr/>
              <a:t>Handle package restoration problems</a:t>
            </a:r>
          </a:p>
          <a:p>
            <a:pPr lvl="0"/>
            <a:r>
              <a:rPr/>
              <a:t>Practice iterative problem-solving with AI Activities</a:t>
            </a:r>
          </a:p>
          <a:p>
            <a:pPr lvl="0" indent="-342900" marL="342900">
              <a:buAutoNum type="arabicPeriod"/>
            </a:pPr>
            <a:r>
              <a:rPr/>
              <a:t>Simulate or Identify a Dependency Issue:</a:t>
            </a:r>
          </a:p>
          <a:p>
            <a:pPr lvl="0"/>
            <a:r>
              <a:rPr/>
              <a:t>Introduce a version conflict (or use existing issue)</a:t>
            </a:r>
          </a:p>
          <a:p>
            <a:pPr lvl="0"/>
            <a:r>
              <a:rPr/>
              <a:t>Prompt: “I’m getting [specific error]. How do I fix it?”</a:t>
            </a:r>
          </a:p>
          <a:p>
            <a:pPr lvl="0" indent="-342900" marL="342900">
              <a:buAutoNum startAt="2" type="arabicPeriod"/>
            </a:pPr>
            <a:r>
              <a:rPr/>
              <a:t>Follow Copilot’s Guidance:</a:t>
            </a:r>
          </a:p>
          <a:p>
            <a:pPr lvl="0"/>
            <a:r>
              <a:rPr/>
              <a:t>Review suggested solutions</a:t>
            </a:r>
          </a:p>
          <a:p>
            <a:pPr lvl="0"/>
            <a:r>
              <a:rPr/>
              <a:t>Evaluate multiple approaches if offered</a:t>
            </a:r>
          </a:p>
          <a:p>
            <a:pPr lvl="0"/>
            <a:r>
              <a:rPr/>
              <a:t>Choose best solution collaboratively</a:t>
            </a:r>
          </a:p>
          <a:p>
            <a:pPr lvl="0" indent="-342900" marL="342900">
              <a:buAutoNum startAt="3" type="arabicPeriod"/>
            </a:pPr>
            <a:r>
              <a:rPr/>
              <a:t>Iterative Resolution:</a:t>
            </a:r>
          </a:p>
          <a:p>
            <a:pPr lvl="0"/>
            <a:r>
              <a:rPr/>
              <a:t>If first solution doesn’t work, provide error details</a:t>
            </a:r>
          </a:p>
          <a:p>
            <a:pPr lvl="0"/>
            <a:r>
              <a:rPr/>
              <a:t>Continue conversation until resolved</a:t>
            </a:r>
          </a:p>
          <a:p>
            <a:pPr lvl="0" indent="-342900" marL="342900">
              <a:buAutoNum startAt="4" type="arabicPeriod"/>
            </a:pPr>
            <a:r>
              <a:rPr/>
              <a:t>Common Issues to Practice:</a:t>
            </a:r>
          </a:p>
          <a:p>
            <a:pPr lvl="0"/>
            <a:r>
              <a:rPr/>
              <a:t>NuGet package source configuration</a:t>
            </a:r>
          </a:p>
          <a:p>
            <a:pPr lvl="0"/>
            <a:r>
              <a:rPr/>
              <a:t>MSTest adapter version conflicts</a:t>
            </a:r>
          </a:p>
          <a:p>
            <a:pPr lvl="0"/>
            <a:r>
              <a:rPr/>
              <a:t>.NET SDK targeting issues</a:t>
            </a:r>
          </a:p>
          <a:p>
            <a:pPr lvl="0"/>
            <a:r>
              <a:rPr/>
              <a:t>Package restoration failures Success Criteria</a:t>
            </a:r>
          </a:p>
          <a:p>
            <a:pPr lvl="0"/>
            <a:r>
              <a:rPr/>
              <a:t>Successfully resolved at least one dependency issue</a:t>
            </a:r>
          </a:p>
          <a:p>
            <a:pPr lvl="0"/>
            <a:r>
              <a:rPr/>
              <a:t>Understand how to provide error context to Copilot</a:t>
            </a:r>
          </a:p>
          <a:p>
            <a:pPr lvl="0"/>
            <a:r>
              <a:rPr/>
              <a:t>Practiced iterative problem-solving approach Real-World Scenario</a:t>
            </a:r>
          </a:p>
          <a:p>
            <a:pPr lvl="0"/>
            <a:r>
              <a:rPr/>
              <a:t>This lab replicates the exact dependency challenges encountered in the training session:</a:t>
            </a:r>
          </a:p>
          <a:p>
            <a:pPr lvl="0"/>
            <a:r>
              <a:rPr/>
              <a:t>Updating test project to target .NET 8</a:t>
            </a:r>
          </a:p>
          <a:p>
            <a:pPr lvl="0"/>
            <a:r>
              <a:rPr/>
              <a:t>Resolving NuGet.org package source mapping</a:t>
            </a:r>
          </a:p>
          <a:p>
            <a:pPr lvl="0"/>
            <a:r>
              <a:rPr/>
              <a:t>MSTest adapter compatibility issues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Security Review</a:t>
            </a:r>
          </a:p>
        </p:txBody>
      </p:sp>
      <p:sp>
        <p:nvSpPr>
          <p:cNvPr id="3" name="Content Placeholder 2"/>
          <p:cNvSpPr>
            <a:spLocks noGrp="1"/>
          </p:cNvSpPr>
          <p:nvPr>
            <p:ph idx="1"/>
          </p:nvPr>
        </p:nvSpPr>
        <p:spPr/>
        <p:txBody>
          <a:bodyPr/>
          <a:lstStyle/>
          <a:p>
            <a:pPr lvl="0" indent="0" marL="0">
              <a:buNone/>
            </a:pPr>
            <a:r>
              <a:rPr/>
              <a:t>Duration: 30-40 minutes Objectives</a:t>
            </a:r>
          </a:p>
          <a:p>
            <a:pPr lvl="0"/>
            <a:r>
              <a:rPr/>
              <a:t>Apply best practices learned in session</a:t>
            </a:r>
          </a:p>
          <a:p>
            <a:pPr lvl="0"/>
            <a:r>
              <a:rPr/>
              <a:t>Review code quality systematically</a:t>
            </a:r>
          </a:p>
          <a:p>
            <a:pPr lvl="0"/>
            <a:r>
              <a:rPr/>
              <a:t>Identify and fix issues Activities</a:t>
            </a:r>
          </a:p>
          <a:p>
            <a:pPr lvl="0" indent="-342900" marL="342900">
              <a:buAutoNum type="arabicPeriod"/>
            </a:pPr>
            <a:r>
              <a:rPr/>
              <a:t>Security Review:</a:t>
            </a:r>
          </a:p>
          <a:p>
            <a:pPr lvl="0"/>
            <a:r>
              <a:rPr/>
              <a:t>Prompt: “Review this code for security vulnerabilities”</a:t>
            </a:r>
          </a:p>
          <a:p>
            <a:pPr lvl="0"/>
            <a:r>
              <a:rPr/>
              <a:t>Address any identified issues</a:t>
            </a:r>
          </a:p>
          <a:p>
            <a:pPr lvl="0"/>
            <a:r>
              <a:rPr/>
              <a:t>Add input validation where missing Success Criteria</a:t>
            </a:r>
          </a:p>
          <a:p>
            <a:pPr lvl="0"/>
            <a:r>
              <a:rPr/>
              <a:t>Code has no obvious security issues</a:t>
            </a:r>
          </a:p>
          <a:p>
            <a:pPr lvl="0"/>
            <a:r>
              <a:rPr/>
              <a:t>Critically evaluated all AI suggestions</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Code Quality Review</a:t>
            </a:r>
          </a:p>
        </p:txBody>
      </p:sp>
      <p:sp>
        <p:nvSpPr>
          <p:cNvPr id="3" name="Content Placeholder 2"/>
          <p:cNvSpPr>
            <a:spLocks noGrp="1"/>
          </p:cNvSpPr>
          <p:nvPr>
            <p:ph idx="1"/>
          </p:nvPr>
        </p:nvSpPr>
        <p:spPr/>
        <p:txBody>
          <a:bodyPr/>
          <a:lstStyle/>
          <a:p>
            <a:pPr lvl="0" indent="0" marL="0">
              <a:buNone/>
            </a:pPr>
            <a:r>
              <a:rPr/>
              <a:t>Duration: 30-40 minutes Objectives</a:t>
            </a:r>
          </a:p>
          <a:p>
            <a:pPr lvl="0"/>
            <a:r>
              <a:rPr/>
              <a:t>Apply best practices learned in session</a:t>
            </a:r>
          </a:p>
          <a:p>
            <a:pPr lvl="0"/>
            <a:r>
              <a:rPr/>
              <a:t>Review code quality systematically</a:t>
            </a:r>
          </a:p>
          <a:p>
            <a:pPr lvl="0"/>
            <a:r>
              <a:rPr/>
              <a:t>Identify and fix issues Activities</a:t>
            </a:r>
          </a:p>
          <a:p>
            <a:pPr lvl="0" indent="-342900" marL="342900">
              <a:buAutoNum type="arabicPeriod"/>
            </a:pPr>
            <a:r>
              <a:rPr/>
              <a:t>Code Quality Check:</a:t>
            </a:r>
          </a:p>
          <a:p>
            <a:pPr lvl="0"/>
            <a:r>
              <a:rPr/>
              <a:t>Prompt: “Suggest improvements for code quality and maintainability”</a:t>
            </a:r>
          </a:p>
          <a:p>
            <a:pPr lvl="0"/>
            <a:r>
              <a:rPr/>
              <a:t>Evaluate suggestions critically</a:t>
            </a:r>
          </a:p>
          <a:p>
            <a:pPr lvl="0"/>
            <a:r>
              <a:rPr/>
              <a:t>Implement valuable improvements Success Criteria</a:t>
            </a:r>
          </a:p>
          <a:p>
            <a:pPr lvl="0"/>
            <a:r>
              <a:rPr/>
              <a:t>Comprehensive documentation added</a:t>
            </a:r>
          </a:p>
          <a:p>
            <a:pPr lvl="0"/>
            <a:r>
              <a:rPr/>
              <a:t>Critically evaluated all AI suggestions</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Documentation</a:t>
            </a:r>
          </a:p>
        </p:txBody>
      </p:sp>
      <p:sp>
        <p:nvSpPr>
          <p:cNvPr id="3" name="Content Placeholder 2"/>
          <p:cNvSpPr>
            <a:spLocks noGrp="1"/>
          </p:cNvSpPr>
          <p:nvPr>
            <p:ph idx="1"/>
          </p:nvPr>
        </p:nvSpPr>
        <p:spPr/>
        <p:txBody>
          <a:bodyPr/>
          <a:lstStyle/>
          <a:p>
            <a:pPr lvl="0" indent="0" marL="0">
              <a:buNone/>
            </a:pPr>
            <a:r>
              <a:rPr/>
              <a:t>Duration: 30-40 minutes Objectives</a:t>
            </a:r>
          </a:p>
          <a:p>
            <a:pPr lvl="0"/>
            <a:r>
              <a:rPr/>
              <a:t>Add documentation to a project</a:t>
            </a:r>
          </a:p>
          <a:p>
            <a:pPr lvl="0"/>
            <a:r>
              <a:rPr/>
              <a:t>Update existing documentation Activities</a:t>
            </a:r>
          </a:p>
          <a:p>
            <a:pPr lvl="0" indent="-342900" marL="342900">
              <a:buAutoNum type="arabicPeriod"/>
            </a:pPr>
            <a:r>
              <a:rPr/>
              <a:t>Documentation:</a:t>
            </a:r>
          </a:p>
          <a:p>
            <a:pPr lvl="0"/>
            <a:r>
              <a:rPr/>
              <a:t>Ask Copilot to generate XML/doc comments</a:t>
            </a:r>
          </a:p>
          <a:p>
            <a:pPr lvl="0"/>
            <a:r>
              <a:rPr/>
              <a:t>Review for accuracy and completeness</a:t>
            </a:r>
          </a:p>
          <a:p>
            <a:pPr lvl="0"/>
            <a:r>
              <a:rPr/>
              <a:t>Add README with usage instruction</a:t>
            </a:r>
          </a:p>
          <a:p>
            <a:pPr lvl="0"/>
            <a:r>
              <a:rPr/>
              <a:t>Ask AI to update existing documentation Success Criteria</a:t>
            </a:r>
          </a:p>
          <a:p>
            <a:pPr lvl="0"/>
            <a:r>
              <a:rPr/>
              <a:t>Comprehensive documentation added</a:t>
            </a:r>
          </a:p>
          <a:p>
            <a:pPr lvl="0"/>
            <a:r>
              <a:rPr/>
              <a:t>Critically evaluated all AI suggestions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Refactoring</a:t>
            </a:r>
          </a:p>
        </p:txBody>
      </p:sp>
      <p:sp>
        <p:nvSpPr>
          <p:cNvPr id="3" name="Content Placeholder 2"/>
          <p:cNvSpPr>
            <a:spLocks noGrp="1"/>
          </p:cNvSpPr>
          <p:nvPr>
            <p:ph idx="1"/>
          </p:nvPr>
        </p:nvSpPr>
        <p:spPr/>
        <p:txBody>
          <a:bodyPr/>
          <a:lstStyle/>
          <a:p>
            <a:pPr lvl="0" indent="0" marL="0">
              <a:buNone/>
            </a:pPr>
            <a:r>
              <a:rPr/>
              <a:t>Duration: 30-40 minutes Objectives</a:t>
            </a:r>
          </a:p>
          <a:p>
            <a:pPr lvl="0"/>
            <a:r>
              <a:rPr/>
              <a:t>Apply best practices learned in session</a:t>
            </a:r>
          </a:p>
          <a:p>
            <a:pPr lvl="0"/>
            <a:r>
              <a:rPr/>
              <a:t>Review code quality systematically</a:t>
            </a:r>
          </a:p>
          <a:p>
            <a:pPr lvl="0"/>
            <a:r>
              <a:rPr/>
              <a:t>Identify and fix issues Activities</a:t>
            </a:r>
          </a:p>
          <a:p>
            <a:pPr lvl="0" indent="-342900" marL="342900">
              <a:buAutoNum type="arabicPeriod"/>
            </a:pPr>
            <a:r>
              <a:rPr/>
              <a:t>Refactoring Exercise:</a:t>
            </a:r>
          </a:p>
          <a:p>
            <a:pPr lvl="0"/>
            <a:r>
              <a:rPr/>
              <a:t>Ask Copilot for alternative implementation approaches</a:t>
            </a:r>
          </a:p>
          <a:p>
            <a:pPr lvl="0"/>
            <a:r>
              <a:rPr/>
              <a:t>Compare different solutions</a:t>
            </a:r>
          </a:p>
          <a:p>
            <a:pPr lvl="0"/>
            <a:r>
              <a:rPr/>
              <a:t>Discuss trade-offs (as mentioned in session) Success Criteria</a:t>
            </a:r>
          </a:p>
          <a:p>
            <a:pPr lvl="0"/>
            <a:r>
              <a:rPr/>
              <a:t>Code has no obvious security issues</a:t>
            </a:r>
          </a:p>
          <a:p>
            <a:pPr lvl="0"/>
            <a:r>
              <a:rPr/>
              <a:t>Comprehensive documentation added</a:t>
            </a:r>
          </a:p>
          <a:p>
            <a:pPr lvl="0"/>
            <a:r>
              <a:rPr/>
              <a:t>At least one refactoring improvement implemented</a:t>
            </a:r>
          </a:p>
          <a:p>
            <a:pPr lvl="0"/>
            <a:r>
              <a:rPr/>
              <a:t>Critically evaluated all AI suggestions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Model Comparison Exercise</a:t>
            </a:r>
          </a:p>
        </p:txBody>
      </p:sp>
      <p:sp>
        <p:nvSpPr>
          <p:cNvPr id="3" name="Content Placeholder 2"/>
          <p:cNvSpPr>
            <a:spLocks noGrp="1"/>
          </p:cNvSpPr>
          <p:nvPr>
            <p:ph idx="1"/>
          </p:nvPr>
        </p:nvSpPr>
        <p:spPr/>
        <p:txBody>
          <a:bodyPr/>
          <a:lstStyle/>
          <a:p>
            <a:pPr lvl="0" indent="0" marL="0">
              <a:buNone/>
            </a:pPr>
            <a:r>
              <a:rPr/>
              <a:t>Duration: 20-30 minutes Objectives</a:t>
            </a:r>
          </a:p>
          <a:p>
            <a:pPr lvl="0"/>
            <a:r>
              <a:rPr/>
              <a:t>Compare outputs from different AI models</a:t>
            </a:r>
          </a:p>
          <a:p>
            <a:pPr lvl="0"/>
            <a:r>
              <a:rPr/>
              <a:t>Understand when to use premium vs standard models</a:t>
            </a:r>
          </a:p>
          <a:p>
            <a:pPr lvl="0"/>
            <a:r>
              <a:rPr/>
              <a:t>Monitor token usage Activities</a:t>
            </a:r>
          </a:p>
          <a:p>
            <a:pPr lvl="0" indent="-342900" marL="342900">
              <a:buAutoNum type="arabicPeriod"/>
            </a:pPr>
            <a:r>
              <a:rPr/>
              <a:t>Same Prompt, Different Models:</a:t>
            </a:r>
          </a:p>
          <a:p>
            <a:pPr lvl="0"/>
            <a:r>
              <a:rPr/>
              <a:t>Choose a coding task (e.g., “implement bubble sort”)</a:t>
            </a:r>
          </a:p>
          <a:p>
            <a:pPr lvl="0"/>
            <a:r>
              <a:rPr/>
              <a:t>Try with GPT-4 (standard - unlimited)</a:t>
            </a:r>
          </a:p>
          <a:p>
            <a:pPr lvl="0"/>
            <a:r>
              <a:rPr/>
              <a:t>Try with Claude Sonnet (premium - 1x token)</a:t>
            </a:r>
          </a:p>
          <a:p>
            <a:pPr lvl="0"/>
            <a:r>
              <a:rPr/>
              <a:t>Compare results for quality, style, completeness</a:t>
            </a:r>
          </a:p>
          <a:p>
            <a:pPr lvl="0" indent="-342900" marL="342900">
              <a:buAutoNum startAt="2" type="arabicPeriod"/>
            </a:pPr>
            <a:r>
              <a:rPr/>
              <a:t>Token Usage Analysis:</a:t>
            </a:r>
          </a:p>
          <a:p>
            <a:pPr lvl="0"/>
            <a:r>
              <a:rPr/>
              <a:t>Check premium token bar before and after</a:t>
            </a:r>
          </a:p>
          <a:p>
            <a:pPr lvl="0"/>
            <a:r>
              <a:rPr/>
              <a:t>Calculate tokens consumed</a:t>
            </a:r>
          </a:p>
          <a:p>
            <a:pPr lvl="0"/>
            <a:r>
              <a:rPr/>
              <a:t>Discuss: Was premium model worth the cost?</a:t>
            </a:r>
          </a:p>
          <a:p>
            <a:pPr lvl="0" indent="-342900" marL="342900">
              <a:buAutoNum startAt="3" type="arabicPeriod"/>
            </a:pPr>
            <a:r>
              <a:rPr/>
              <a:t>Best Use Cases:</a:t>
            </a:r>
          </a:p>
          <a:p>
            <a:pPr lvl="0"/>
            <a:r>
              <a:rPr/>
              <a:t>Identify tasks where standard models suffice</a:t>
            </a:r>
          </a:p>
          <a:p>
            <a:pPr lvl="0"/>
            <a:r>
              <a:rPr/>
              <a:t>Identify tasks requiring premium models</a:t>
            </a:r>
          </a:p>
          <a:p>
            <a:pPr lvl="0"/>
            <a:r>
              <a:rPr/>
              <a:t>Create personal guidelines for model selection</a:t>
            </a:r>
          </a:p>
          <a:p>
            <a:pPr lvl="0" indent="-342900" marL="342900">
              <a:buAutoNum startAt="4" type="arabicPeriod"/>
            </a:pPr>
            <a:r>
              <a:rPr/>
              <a:t>Ask Mode Advantage:</a:t>
            </a:r>
          </a:p>
          <a:p>
            <a:pPr lvl="0"/>
            <a:r>
              <a:rPr/>
              <a:t>Use Ask mode with premium models (no token cost)</a:t>
            </a:r>
          </a:p>
          <a:p>
            <a:pPr lvl="0"/>
            <a:r>
              <a:rPr/>
              <a:t>Compare to Agent mode token consumption Success Criteria</a:t>
            </a:r>
          </a:p>
          <a:p>
            <a:pPr lvl="0"/>
            <a:r>
              <a:rPr/>
              <a:t>Compared at least 2 different models</a:t>
            </a:r>
          </a:p>
          <a:p>
            <a:pPr lvl="0"/>
            <a:r>
              <a:rPr/>
              <a:t>Understand token consumption impact</a:t>
            </a:r>
          </a:p>
          <a:p>
            <a:pPr lvl="0"/>
            <a:r>
              <a:rPr/>
              <a:t>Can make informed model selection decisions Token Economics</a:t>
            </a:r>
          </a:p>
          <a:p>
            <a:pPr lvl="0"/>
            <a:r>
              <a:rPr/>
              <a:t>Standard models (unlimited): ChatGPT-4</a:t>
            </a:r>
          </a:p>
          <a:p>
            <a:pPr lvl="0"/>
            <a:r>
              <a:rPr/>
              <a:t>Premium tokens (counted):</a:t>
            </a:r>
          </a:p>
          <a:p>
            <a:pPr lvl="0"/>
            <a:r>
              <a:rPr/>
              <a:t>Claude Haiku 4.5: 1/3 token per request</a:t>
            </a:r>
          </a:p>
          <a:p>
            <a:pPr lvl="0"/>
            <a:r>
              <a:rPr/>
              <a:t>Claude Sonnet: 1x token per request</a:t>
            </a:r>
          </a:p>
          <a:p>
            <a:pPr lvl="0"/>
            <a:r>
              <a:rPr/>
              <a:t>O2 mini: 1/3 token per request</a:t>
            </a:r>
          </a:p>
          <a:p>
            <a:pPr lvl="0"/>
            <a:r>
              <a:rPr/>
              <a:t>New models: May be 10x when first released</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Evergreen Software Development - Core Principles</a:t>
            </a:r>
          </a:p>
        </p:txBody>
      </p:sp>
      <p:sp>
        <p:nvSpPr>
          <p:cNvPr id="3" name="Content Placeholder 2"/>
          <p:cNvSpPr>
            <a:spLocks noGrp="1"/>
          </p:cNvSpPr>
          <p:nvPr>
            <p:ph idx="1"/>
          </p:nvPr>
        </p:nvSpPr>
        <p:spPr/>
        <p:txBody>
          <a:bodyPr/>
          <a:lstStyle/>
          <a:p>
            <a:pPr lvl="0" indent="0" marL="0">
              <a:buNone/>
            </a:pPr>
            <a:r>
              <a:rPr/>
              <a:t>Intent‑First Design</a:t>
            </a:r>
          </a:p>
          <a:p>
            <a:pPr lvl="0"/>
            <a:r>
              <a:rPr/>
              <a:t>Define the system’s purpose, invariants, and boundaries before writing code to ensure long‑term clarity. Stable Interfaces, Evolving Internals</a:t>
            </a:r>
          </a:p>
          <a:p>
            <a:pPr lvl="0"/>
            <a:r>
              <a:rPr/>
              <a:t>Keep contracts predictable while allowing implementations to improve continuously. Continuous Regeneration with Guardrails</a:t>
            </a:r>
          </a:p>
          <a:p>
            <a:pPr lvl="0"/>
            <a:r>
              <a:rPr/>
              <a:t>Use AI to rewrite or extend components safely, backed by tests, specs, and architectural constraints. Modular, Replaceable Components</a:t>
            </a:r>
          </a:p>
          <a:p>
            <a:pPr lvl="0"/>
            <a:r>
              <a:rPr/>
              <a:t>Structure the system so any part can be regenerated, swapped, or upgraded without cascading breakage. Lifecycle Governance</a:t>
            </a:r>
          </a:p>
          <a:p>
            <a:pPr lvl="0"/>
            <a:r>
              <a:rPr/>
              <a:t>Maintain quality through automated tests, versioning discipline, and human‑in‑the‑loop validation.</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Software Fails to Be Evergreen</a:t>
            </a:r>
          </a:p>
        </p:txBody>
      </p:sp>
      <p:sp>
        <p:nvSpPr>
          <p:cNvPr id="3" name="Content Placeholder 2"/>
          <p:cNvSpPr>
            <a:spLocks noGrp="1"/>
          </p:cNvSpPr>
          <p:nvPr>
            <p:ph idx="1"/>
          </p:nvPr>
        </p:nvSpPr>
        <p:spPr/>
        <p:txBody>
          <a:bodyPr/>
          <a:lstStyle/>
          <a:p>
            <a:pPr lvl="0" indent="0" marL="0">
              <a:buNone/>
            </a:pPr>
            <a:r>
              <a:rPr/>
              <a:t>Intent Rot</a:t>
            </a:r>
          </a:p>
          <a:p>
            <a:pPr lvl="0"/>
            <a:r>
              <a:rPr/>
              <a:t>The original purpose, constraints, and invariants are undocumented or lost, making safe regeneration impossible. Unstable or Leaky Interfaces</a:t>
            </a:r>
          </a:p>
          <a:p>
            <a:pPr lvl="0"/>
            <a:r>
              <a:rPr/>
              <a:t>APIs, data contracts, and boundaries change unpredictably, causing cascading breakage when internals evolve. Tightly Coupled Architecture</a:t>
            </a:r>
          </a:p>
          <a:p>
            <a:pPr lvl="0"/>
            <a:r>
              <a:rPr/>
              <a:t>Components depend on each other’s internal details, preventing isolated regeneration or replacement. Insufficient Guardrails</a:t>
            </a:r>
          </a:p>
          <a:p>
            <a:pPr lvl="0"/>
            <a:r>
              <a:rPr/>
              <a:t>Missing tests, specs, or validation layers mean AI‑assisted regeneration can’t be trusted to preserve behavior. One‑Off Patches and Drift</a:t>
            </a:r>
          </a:p>
          <a:p>
            <a:pPr lvl="0"/>
            <a:r>
              <a:rPr/>
              <a:t>Ad‑hoc fixes accumulate, diverging the system from its intended design and making regeneration unsafe.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Wrap-up</a:t>
            </a:r>
          </a:p>
        </p:txBody>
      </p:sp>
      <p:sp>
        <p:nvSpPr>
          <p:cNvPr id="3" name="Content Placeholder 2"/>
          <p:cNvSpPr>
            <a:spLocks noGrp="1"/>
          </p:cNvSpPr>
          <p:nvPr>
            <p:ph idx="1"/>
          </p:nvPr>
        </p:nvSpPr>
        <p:spPr/>
        <p:txBody>
          <a:bodyPr/>
          <a:lstStyle/>
          <a:p>
            <a:pPr lvl="0" indent="0" marL="0">
              <a:buNone/>
            </a:pPr>
            <a:r>
              <a:rPr/>
              <a:t>Final Q&amp;A Follow-up Support Files Thanks!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2026-02-19T04:05:25Z</dcterms:created>
  <dcterms:modified xsi:type="dcterms:W3CDTF">2026-02-19T04:05:25Z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ackgroundColor">
    <vt:lpwstr/>
  </property>
  <property fmtid="{D5CDD505-2E9C-101B-9397-08002B2CF9AE}" pid="3" name="backgroundImage">
    <vt:lpwstr>url(‘images/CODE-training-background.png’)</vt:lpwstr>
  </property>
  <property fmtid="{D5CDD505-2E9C-101B-9397-08002B2CF9AE}" pid="4" name="footer">
    <vt:lpwstr/>
  </property>
  <property fmtid="{D5CDD505-2E9C-101B-9397-08002B2CF9AE}" pid="5" name="header">
    <vt:lpwstr/>
  </property>
  <property fmtid="{D5CDD505-2E9C-101B-9397-08002B2CF9AE}" pid="6" name="marp">
    <vt:lpwstr>True</vt:lpwstr>
  </property>
  <property fmtid="{D5CDD505-2E9C-101B-9397-08002B2CF9AE}" pid="7" name="paginate">
    <vt:lpwstr>True</vt:lpwstr>
  </property>
  <property fmtid="{D5CDD505-2E9C-101B-9397-08002B2CF9AE}" pid="8" name="theme">
    <vt:lpwstr>default</vt:lpwstr>
  </property>
</Properties>
</file>