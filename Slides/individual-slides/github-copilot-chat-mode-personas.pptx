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notesMaster" Target="notesMasters/notesMaster1.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comprehensive guide on GitHub Copilot Chat Mode. Today we’ll explore how different roles can maximize AI assistance. Focus is on practical skills and clear responsibilities. Each persona has unique needs and challenges with AI tools. Goal is actionable guidance for immediate implementation. This presentation bridges the gap between AI capabilities and role-specific needs.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presentation covers 8 critical roles in modern software development. Each persona has unique needs when working with GitHub Copilot Chat. We’ll explore both the skills needed and responsibilities required. Focus on practical, actionable guidance for each role. Tables format allows easy comparison between skills and responsibilities.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Product Managers are the bridge between business and technical teams. Their success with AI depends on clear requirement translation. Key challenge: ensuring AI outputs align with business objectives. Focus on iterative refinement - rarely get perfect results on first try. Context management is crucial for complex feature discussions. Always validate AI-generated requirements against business goals.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Solution Architects work at the highest technical abstraction level. Pattern recognition is critical - AI often suggests common patterns. Must validate AI architectural decisions against enterprise standards. Integration planning is complex - AI can help model system interactions. Risk mitigation is a key responsibility - evaluate long-term implications. Knowledge sharing ensures AI insights benefit the broader organization.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Senior Developers are power users of AI coding assistance. Code generation prompting requires precise, specific requests. Debug assistance can dramatically speed troubleshooting. Code review with AI combines human insight with AI analysis. Security review is critical - AI may suggest vulnerable patterns. Mentorship integration helps junior developers use AI effectively. Performance optimization requires evaluating AI suggestions carefully.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Technical Writers can leverage AI for content creation and organization. Content structuring helps AI create logical, well-organized documentation. Audience adaptation is key - same content needs different presentations. Style consistency maintains organizational voice across AI-generated content. Technical verification ensures accuracy - AI can hallucinate technical details. Multi-format publishing expands content reach and usability. Editorial standards maintain quality and consistency.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Security Reviewers must validate all AI security recommendations. Threat modeling with AI can identify vulnerabilities humans might miss. Compliance analysis leverages AI’s knowledge of regulatory requirements. Risk assessment requires balancing AI suggestions with security expertise. Security testing scenarios can be comprehensive with AI assistance. Policy enforcement ensures AI recommendations align with org standards. Audit trail maintenance is critical for security accountability.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DevOps Engineers can accelerate infrastructure automation with AI. Infrastructure as Code generation can speed deployment and configuration. CI/CD pipeline design benefits from AI optimization suggestions. Monitoring and alerting strategies become more comprehensive with AI. Automation scripting reduces manual operational overhead. Pipeline reliability must be validated - AI-generated configs need testing. Cost management is crucial - review AI suggestions for optimization opportunities.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DevTest Engineers can dramatically improve test coverage with AI. Test case generation creates comprehensive scenarios across functional areas. Test data management becomes easier with AI-generated realistic datasets. Automation framework development accelerates with AI assistance. Performance testing strategies benefit from AI-designed load scenarios. Test coverage validation ensures AI-generated tests are comprehensive. Quality metrics tracking provides insights into AI-assisted testing effectiveness.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SREs can leverage AI for faster incident response and resolution. Incident response benefits from AI’s rapid analysis and diagnosis capabilities. SLA/SLO monitoring becomes more comprehensive with AI-generated metrics. Capacity planning leverages AI for accurate resource forecasting. Post-mortem analysis creates thorough incident reviews with AI assistance. System reliability requires validating AI-driven monitoring recommendations. Performance optimization is continuous with AI insights into system behavior.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patterns apply universally across all roles and personas. Context awareness is foundational - garbage in, garbage out. Iterative refinement acknowledges that first AI responses rarely perfect. Validation responsibility emphasizes human oversight and judgment. Knowledge integration combines AI capabilities with human expertise. Continuous learning recognizes the rapid evolution of AI capabilities. Success requires both technical skills and process discipline.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audience to share specific examples from their experience. Ask for concrete challenges they’ve encountered with AI assistance. Discuss which personas and skills most closely match their current roles. Explore how AI capabilities might change these responsibilities over time. Consider emerging roles and evolving skill requirements. Gather feedback on what additional guidance would be helpful.</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Thank the audience for their attention and participation. Encourage them to explore the provided resources for deeper learning. GitHub Copilot Documentation provides official guidance and updates. AI-Assisted Development Best Practices cover broader implementation strategies. Role-specific guides offer detailed guidance for each persona covered today. Suggest they start with their own persona and gradually explore others. Remind them that AI assistance is a skill that improves with practice.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p>
          <a:p>
            <a:pPr lvl="0" indent="0" marL="0">
              <a:buNone/>
            </a:pPr>
            <a:r>
              <a:rPr/>
              <a:t>marp: true theme: default class: lead paginate: true backgroundColor: #ffffff</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GitHub Copilot Chat Mode</a:t>
            </a:r>
          </a:p>
        </p:txBody>
      </p:sp>
      <p:sp>
        <p:nvSpPr>
          <p:cNvPr id="3" name="Content Placeholder 2"/>
          <p:cNvSpPr>
            <a:spLocks noGrp="1"/>
          </p:cNvSpPr>
          <p:nvPr>
            <p:ph idx="1"/>
          </p:nvPr>
        </p:nvSpPr>
        <p:spPr/>
        <p:txBody>
          <a:bodyPr/>
          <a:lstStyle/>
          <a:p>
            <a:pPr lvl="0" indent="0" marL="0">
              <a:spcBef>
                <a:spcPts val="3000"/>
              </a:spcBef>
              <a:buNone/>
            </a:pPr>
            <a:r>
              <a:rPr b="1"/>
              <a:t>Skills &amp; Responsibilities by Persona</a:t>
            </a:r>
          </a:p>
          <a:p>
            <a:pPr lvl="0" indent="0" marL="0">
              <a:buNone/>
            </a:pPr>
            <a:r>
              <a:rPr i="1"/>
              <a:t>Optimizing AI-assisted workflows for different roles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Agenda</a:t>
            </a:r>
          </a:p>
          <a:p>
            <a:pPr lvl="0" indent="0" marL="0">
              <a:buNone/>
            </a:pPr>
            <a:r>
              <a:rPr b="1"/>
              <a:t>8 Key Personas Covered:</a:t>
            </a:r>
          </a:p>
          <a:p>
            <a:pPr lvl="0"/>
            <a:r>
              <a:rPr/>
              <a:t>Product Manager</a:t>
            </a:r>
          </a:p>
          <a:p>
            <a:pPr lvl="0"/>
            <a:r>
              <a:rPr/>
              <a:t>Solution Architect</a:t>
            </a:r>
          </a:p>
          <a:p>
            <a:pPr lvl="0"/>
            <a:r>
              <a:rPr/>
              <a:t>Senior Developer</a:t>
            </a:r>
          </a:p>
          <a:p>
            <a:pPr lvl="0"/>
            <a:r>
              <a:rPr/>
              <a:t>Technical Writer</a:t>
            </a:r>
          </a:p>
          <a:p>
            <a:pPr lvl="0"/>
            <a:r>
              <a:rPr/>
              <a:t>Security Reviewer</a:t>
            </a:r>
          </a:p>
          <a:p>
            <a:pPr lvl="0"/>
            <a:r>
              <a:rPr/>
              <a:t>DevOps Engineer</a:t>
            </a:r>
          </a:p>
          <a:p>
            <a:pPr lvl="0"/>
            <a:r>
              <a:rPr/>
              <a:t>DevTest Engineer</a:t>
            </a:r>
          </a:p>
          <a:p>
            <a:pPr lvl="0"/>
            <a:r>
              <a:rPr/>
              <a:t>SRE (Site Reliability Engineer)</a:t>
            </a:r>
          </a:p>
          <a:p>
            <a:pPr lvl="0" indent="0" marL="0">
              <a:buNone/>
            </a:pPr>
            <a:r>
              <a:rPr i="1"/>
              <a:t>Each persona: Skills + Responsibilities (side-by-side)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 Manager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Requirements Translation</a:t>
                      </a:r>
                      <a:r>
                        <a:rPr/>
                        <a:t> - Convert business needs into precise technical prompts</a:t>
                      </a:r>
                    </a:p>
                  </a:txBody>
                </a:tc>
                <a:tc>
                  <a:txBody>
                    <a:bodyPr/>
                    <a:lstStyle/>
                    <a:p>
                      <a:pPr lvl="0" indent="0" marL="0">
                        <a:buNone/>
                      </a:pPr>
                      <a:r>
                        <a:rPr b="1"/>
                        <a:t>Requirement Validation</a:t>
                      </a:r>
                      <a:r>
                        <a:rPr/>
                        <a:t> - Ensure AI-generated requirements align with business objectives</a:t>
                      </a:r>
                    </a:p>
                  </a:txBody>
                </a:tc>
              </a:tr>
              <a:tr h="0">
                <a:tc>
                  <a:txBody>
                    <a:bodyPr/>
                    <a:lstStyle/>
                    <a:p>
                      <a:pPr lvl="0" indent="0" marL="0">
                        <a:buNone/>
                      </a:pPr>
                      <a:r>
                        <a:rPr b="1"/>
                        <a:t>Context Management</a:t>
                      </a:r>
                      <a:r>
                        <a:rPr/>
                        <a:t> - Maintain conversation threads for complex feature discussions</a:t>
                      </a:r>
                    </a:p>
                  </a:txBody>
                </a:tc>
                <a:tc>
                  <a:txBody>
                    <a:bodyPr/>
                    <a:lstStyle/>
                    <a:p>
                      <a:pPr lvl="0" indent="0" marL="0">
                        <a:buNone/>
                      </a:pPr>
                      <a:r>
                        <a:rPr b="1"/>
                        <a:t>Quality Assurance</a:t>
                      </a:r>
                      <a:r>
                        <a:rPr/>
                        <a:t> - Review AI outputs for accuracy, completeness, and feasibility</a:t>
                      </a:r>
                    </a:p>
                  </a:txBody>
                </a:tc>
              </a:tr>
              <a:tr h="0">
                <a:tc>
                  <a:txBody>
                    <a:bodyPr/>
                    <a:lstStyle/>
                    <a:p>
                      <a:pPr lvl="0" indent="0" marL="0">
                        <a:buNone/>
                      </a:pPr>
                      <a:r>
                        <a:rPr b="1"/>
                        <a:t>Documentation Review</a:t>
                      </a:r>
                      <a:r>
                        <a:rPr/>
                        <a:t> - Evaluate AI-generated specs, user stories, and technical docs</a:t>
                      </a:r>
                    </a:p>
                  </a:txBody>
                </a:tc>
                <a:tc>
                  <a:txBody>
                    <a:bodyPr/>
                    <a:lstStyle/>
                    <a:p>
                      <a:pPr lvl="0" indent="0" marL="0">
                        <a:buNone/>
                      </a:pPr>
                      <a:r>
                        <a:rPr b="1"/>
                        <a:t>Cross-functional Alignment</a:t>
                      </a:r>
                      <a:r>
                        <a:rPr/>
                        <a:t> - Coordinate AI-assisted planning across development teams</a:t>
                      </a:r>
                    </a:p>
                  </a:txBody>
                </a:tc>
              </a:tr>
              <a:tr h="0">
                <a:tc>
                  <a:txBody>
                    <a:bodyPr/>
                    <a:lstStyle/>
                    <a:p>
                      <a:pPr lvl="0" indent="0" marL="0">
                        <a:buNone/>
                      </a:pPr>
                      <a:r>
                        <a:rPr b="1"/>
                        <a:t>Stakeholder Communication</a:t>
                      </a:r>
                      <a:r>
                        <a:rPr/>
                        <a:t> - Present AI-assisted analysis to technical and business teams</a:t>
                      </a:r>
                    </a:p>
                  </a:txBody>
                </a:tc>
                <a:tc>
                  <a:txBody>
                    <a:bodyPr/>
                    <a:lstStyle/>
                    <a:p>
                      <a:pPr lvl="0" indent="0" marL="0">
                        <a:buNone/>
                      </a:pPr>
                      <a:r>
                        <a:rPr b="1"/>
                        <a:t>Risk Assessment</a:t>
                      </a:r>
                      <a:r>
                        <a:rPr/>
                        <a:t> - Identify potential issues in AI-suggested technical approaches</a:t>
                      </a:r>
                    </a:p>
                  </a:txBody>
                </a:tc>
              </a:tr>
              <a:tr h="0">
                <a:tc>
                  <a:txBody>
                    <a:bodyPr/>
                    <a:lstStyle/>
                    <a:p>
                      <a:pPr lvl="0" indent="0" marL="0">
                        <a:buNone/>
                      </a:pPr>
                      <a:r>
                        <a:rPr b="1"/>
                        <a:t>Iterative Refinement</a:t>
                      </a:r>
                      <a:r>
                        <a:rPr/>
                        <a:t> - Guide AI through multiple rounds of requirement clarification</a:t>
                      </a:r>
                    </a:p>
                  </a:txBody>
                </a:tc>
                <a:tc>
                  <a:txBody>
                    <a:bodyPr/>
                    <a:lstStyle/>
                    <a:p>
                      <a:pPr lvl="0" indent="0" marL="0">
                        <a:buNone/>
                      </a:pPr>
                      <a:r>
                        <a:rPr b="1"/>
                        <a:t>Delivery Tracking</a:t>
                      </a:r>
                      <a:r>
                        <a:rPr/>
                        <a:t> - Use AI insights to monitor progress and adjust roadmaps accordingly</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Solution Architect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78300"/>
                <a:gridCol w="40513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Architecture Prompting</a:t>
                      </a:r>
                      <a:r>
                        <a:rPr/>
                        <a:t> - Frame complex system design questions for optimal AI responses</a:t>
                      </a:r>
                    </a:p>
                  </a:txBody>
                </a:tc>
                <a:tc>
                  <a:txBody>
                    <a:bodyPr/>
                    <a:lstStyle/>
                    <a:p>
                      <a:pPr lvl="0" indent="0" marL="0">
                        <a:buNone/>
                      </a:pPr>
                      <a:r>
                        <a:rPr b="1"/>
                        <a:t>Design Validation</a:t>
                      </a:r>
                      <a:r>
                        <a:rPr/>
                        <a:t> - Verify AI-generated architectural decisions against enterprise standards</a:t>
                      </a:r>
                    </a:p>
                  </a:txBody>
                </a:tc>
              </a:tr>
              <a:tr h="0">
                <a:tc>
                  <a:txBody>
                    <a:bodyPr/>
                    <a:lstStyle/>
                    <a:p>
                      <a:pPr lvl="0" indent="0" marL="0">
                        <a:buNone/>
                      </a:pPr>
                      <a:r>
                        <a:rPr b="1"/>
                        <a:t>Pattern Recognition</a:t>
                      </a:r>
                      <a:r>
                        <a:rPr/>
                        <a:t> - Identify and validate AI-suggested architectural patterns and anti-patterns</a:t>
                      </a:r>
                    </a:p>
                  </a:txBody>
                </a:tc>
                <a:tc>
                  <a:txBody>
                    <a:bodyPr/>
                    <a:lstStyle/>
                    <a:p>
                      <a:pPr lvl="0" indent="0" marL="0">
                        <a:buNone/>
                      </a:pPr>
                      <a:r>
                        <a:rPr b="1"/>
                        <a:t>Technical Governance</a:t>
                      </a:r>
                      <a:r>
                        <a:rPr/>
                        <a:t> - Ensure AI-assisted designs follow organizational guidelines</a:t>
                      </a:r>
                    </a:p>
                  </a:txBody>
                </a:tc>
              </a:tr>
              <a:tr h="0">
                <a:tc>
                  <a:txBody>
                    <a:bodyPr/>
                    <a:lstStyle/>
                    <a:p>
                      <a:pPr lvl="0" indent="0" marL="0">
                        <a:buNone/>
                      </a:pPr>
                      <a:r>
                        <a:rPr b="1"/>
                        <a:t>Technology Evaluation</a:t>
                      </a:r>
                      <a:r>
                        <a:rPr/>
                        <a:t> - Assess AI recommendations for technology stack decisions</a:t>
                      </a:r>
                    </a:p>
                  </a:txBody>
                </a:tc>
                <a:tc>
                  <a:txBody>
                    <a:bodyPr/>
                    <a:lstStyle/>
                    <a:p>
                      <a:pPr lvl="0" indent="0" marL="0">
                        <a:buNone/>
                      </a:pPr>
                      <a:r>
                        <a:rPr b="1"/>
                        <a:t>Risk Mitigation</a:t>
                      </a:r>
                      <a:r>
                        <a:rPr/>
                        <a:t> - Evaluate AI suggestions for security, performance, and maintainability risks</a:t>
                      </a:r>
                    </a:p>
                  </a:txBody>
                </a:tc>
              </a:tr>
              <a:tr h="0">
                <a:tc>
                  <a:txBody>
                    <a:bodyPr/>
                    <a:lstStyle/>
                    <a:p>
                      <a:pPr lvl="0" indent="0" marL="0">
                        <a:buNone/>
                      </a:pPr>
                      <a:r>
                        <a:rPr b="1"/>
                        <a:t>Scalability Analysis</a:t>
                      </a:r>
                      <a:r>
                        <a:rPr/>
                        <a:t> - Guide AI through performance and scalability considerations</a:t>
                      </a:r>
                    </a:p>
                  </a:txBody>
                </a:tc>
                <a:tc>
                  <a:txBody>
                    <a:bodyPr/>
                    <a:lstStyle/>
                    <a:p>
                      <a:pPr lvl="0" indent="0" marL="0">
                        <a:buNone/>
                      </a:pPr>
                      <a:r>
                        <a:rPr b="1"/>
                        <a:t>Knowledge Sharing</a:t>
                      </a:r>
                      <a:r>
                        <a:rPr/>
                        <a:t> - Document and communicate AI-derived architectural insights</a:t>
                      </a:r>
                    </a:p>
                  </a:txBody>
                </a:tc>
              </a:tr>
              <a:tr h="0">
                <a:tc>
                  <a:txBody>
                    <a:bodyPr/>
                    <a:lstStyle/>
                    <a:p>
                      <a:pPr lvl="0" indent="0" marL="0">
                        <a:buNone/>
                      </a:pPr>
                      <a:r>
                        <a:rPr b="1"/>
                        <a:t>Integration Planning</a:t>
                      </a:r>
                      <a:r>
                        <a:rPr/>
                        <a:t> - Use AI to model system interactions and API designs</a:t>
                      </a:r>
                    </a:p>
                  </a:txBody>
                </a:tc>
                <a:tc>
                  <a:txBody>
                    <a:bodyPr/>
                    <a:lstStyle/>
                    <a:p>
                      <a:pPr lvl="0" indent="0" marL="0">
                        <a:buNone/>
                      </a:pPr>
                      <a:r>
                        <a:rPr b="1"/>
                        <a:t>Standards Compliance</a:t>
                      </a:r>
                      <a:r>
                        <a:rPr/>
                        <a:t> - Maintain adherence to coding standards and architectural principles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Senior Developer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771900"/>
                <a:gridCol w="44577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Code Generation Prompting</a:t>
                      </a:r>
                      <a:r>
                        <a:rPr/>
                        <a:t> - Craft precise requests for complex code implementations</a:t>
                      </a:r>
                    </a:p>
                  </a:txBody>
                </a:tc>
                <a:tc>
                  <a:txBody>
                    <a:bodyPr/>
                    <a:lstStyle/>
                    <a:p>
                      <a:pPr lvl="0" indent="0" marL="0">
                        <a:buNone/>
                      </a:pPr>
                      <a:r>
                        <a:rPr b="1"/>
                        <a:t>Code Quality Assurance</a:t>
                      </a:r>
                      <a:r>
                        <a:rPr/>
                        <a:t> - Validate AI-generated code for correctness, efficiency, and maintainability</a:t>
                      </a:r>
                    </a:p>
                  </a:txBody>
                </a:tc>
              </a:tr>
              <a:tr h="0">
                <a:tc>
                  <a:txBody>
                    <a:bodyPr/>
                    <a:lstStyle/>
                    <a:p>
                      <a:pPr lvl="0" indent="0" marL="0">
                        <a:buNone/>
                      </a:pPr>
                      <a:r>
                        <a:rPr b="1"/>
                        <a:t>Debug Assistance</a:t>
                      </a:r>
                      <a:r>
                        <a:rPr/>
                        <a:t> - Effectively use AI for troubleshooting and error resolution</a:t>
                      </a:r>
                    </a:p>
                  </a:txBody>
                </a:tc>
                <a:tc>
                  <a:txBody>
                    <a:bodyPr/>
                    <a:lstStyle/>
                    <a:p>
                      <a:pPr lvl="0" indent="0" marL="0">
                        <a:buNone/>
                      </a:pPr>
                      <a:r>
                        <a:rPr b="1"/>
                        <a:t>Security Review</a:t>
                      </a:r>
                      <a:r>
                        <a:rPr/>
                        <a:t> - Ensure AI-suggested code follows security best practices</a:t>
                      </a:r>
                    </a:p>
                  </a:txBody>
                </a:tc>
              </a:tr>
              <a:tr h="0">
                <a:tc>
                  <a:txBody>
                    <a:bodyPr/>
                    <a:lstStyle/>
                    <a:p>
                      <a:pPr lvl="0" indent="0" marL="0">
                        <a:buNone/>
                      </a:pPr>
                      <a:r>
                        <a:rPr b="1"/>
                        <a:t>Code Review with AI</a:t>
                      </a:r>
                      <a:r>
                        <a:rPr/>
                        <a:t> - Combine human experience with AI analysis for thorough reviews</a:t>
                      </a:r>
                    </a:p>
                  </a:txBody>
                </a:tc>
                <a:tc>
                  <a:txBody>
                    <a:bodyPr/>
                    <a:lstStyle/>
                    <a:p>
                      <a:pPr lvl="0" indent="0" marL="0">
                        <a:buNone/>
                      </a:pPr>
                      <a:r>
                        <a:rPr b="1"/>
                        <a:t>Performance Optimization</a:t>
                      </a:r>
                      <a:r>
                        <a:rPr/>
                        <a:t> - Analyze AI recommendations for potential performance impacts</a:t>
                      </a:r>
                    </a:p>
                  </a:txBody>
                </a:tc>
              </a:tr>
              <a:tr h="0">
                <a:tc>
                  <a:txBody>
                    <a:bodyPr/>
                    <a:lstStyle/>
                    <a:p>
                      <a:pPr lvl="0" indent="0" marL="0">
                        <a:buNone/>
                      </a:pPr>
                      <a:r>
                        <a:rPr b="1"/>
                        <a:t>Refactoring Guidance</a:t>
                      </a:r>
                      <a:r>
                        <a:rPr/>
                        <a:t> - Leverage AI for code improvement and optimization suggestions</a:t>
                      </a:r>
                    </a:p>
                  </a:txBody>
                </a:tc>
                <a:tc>
                  <a:txBody>
                    <a:bodyPr/>
                    <a:lstStyle/>
                    <a:p>
                      <a:pPr lvl="0" indent="0" marL="0">
                        <a:buNone/>
                      </a:pPr>
                      <a:r>
                        <a:rPr b="1"/>
                        <a:t>Mentorship Integration</a:t>
                      </a:r>
                      <a:r>
                        <a:rPr/>
                        <a:t> - Guide junior developers in effective AI-assisted development</a:t>
                      </a:r>
                    </a:p>
                  </a:txBody>
                </a:tc>
              </a:tr>
              <a:tr h="0">
                <a:tc>
                  <a:txBody>
                    <a:bodyPr/>
                    <a:lstStyle/>
                    <a:p>
                      <a:pPr lvl="0" indent="0" marL="0">
                        <a:buNone/>
                      </a:pPr>
                      <a:r>
                        <a:rPr b="1"/>
                        <a:t>Testing Strategy</a:t>
                      </a:r>
                      <a:r>
                        <a:rPr/>
                        <a:t> - Use AI to generate comprehensive test cases and scenarios</a:t>
                      </a:r>
                    </a:p>
                  </a:txBody>
                </a:tc>
                <a:tc>
                  <a:txBody>
                    <a:bodyPr/>
                    <a:lstStyle/>
                    <a:p>
                      <a:pPr lvl="0" indent="0" marL="0">
                        <a:buNone/>
                      </a:pPr>
                      <a:r>
                        <a:rPr b="1"/>
                        <a:t>Technical Debt Management</a:t>
                      </a:r>
                      <a:r>
                        <a:rPr/>
                        <a:t> - Use AI insights to identify and prioritize technical debt reduction</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Technical Writer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025900"/>
                <a:gridCol w="42037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Content Structuring</a:t>
                      </a:r>
                      <a:r>
                        <a:rPr/>
                        <a:t> - Guide AI to create well-organized, logical documentation flow</a:t>
                      </a:r>
                    </a:p>
                  </a:txBody>
                </a:tc>
                <a:tc>
                  <a:txBody>
                    <a:bodyPr/>
                    <a:lstStyle/>
                    <a:p>
                      <a:pPr lvl="0" indent="0" marL="0">
                        <a:buNone/>
                      </a:pPr>
                      <a:r>
                        <a:rPr b="1"/>
                        <a:t>Content Accuracy</a:t>
                      </a:r>
                      <a:r>
                        <a:rPr/>
                        <a:t> - Ensure all AI-generated documentation is technically correct and current</a:t>
                      </a:r>
                    </a:p>
                  </a:txBody>
                </a:tc>
              </a:tr>
              <a:tr h="0">
                <a:tc>
                  <a:txBody>
                    <a:bodyPr/>
                    <a:lstStyle/>
                    <a:p>
                      <a:pPr lvl="0" indent="0" marL="0">
                        <a:buNone/>
                      </a:pPr>
                      <a:r>
                        <a:rPr b="1"/>
                        <a:t>Audience Adaptation</a:t>
                      </a:r>
                      <a:r>
                        <a:rPr/>
                        <a:t> - Adjust AI outputs for different technical skill levels and roles</a:t>
                      </a:r>
                    </a:p>
                  </a:txBody>
                </a:tc>
                <a:tc>
                  <a:txBody>
                    <a:bodyPr/>
                    <a:lstStyle/>
                    <a:p>
                      <a:pPr lvl="0" indent="0" marL="0">
                        <a:buNone/>
                      </a:pPr>
                      <a:r>
                        <a:rPr b="1"/>
                        <a:t>Editorial Standards</a:t>
                      </a:r>
                      <a:r>
                        <a:rPr/>
                        <a:t> - Maintain quality, clarity, and consistency in AI-assisted content</a:t>
                      </a:r>
                    </a:p>
                  </a:txBody>
                </a:tc>
              </a:tr>
              <a:tr h="0">
                <a:tc>
                  <a:txBody>
                    <a:bodyPr/>
                    <a:lstStyle/>
                    <a:p>
                      <a:pPr lvl="0" indent="0" marL="0">
                        <a:buNone/>
                      </a:pPr>
                      <a:r>
                        <a:rPr b="1"/>
                        <a:t>Style Consistency</a:t>
                      </a:r>
                      <a:r>
                        <a:rPr/>
                        <a:t> - Maintain organizational voice and formatting standards in AI content</a:t>
                      </a:r>
                    </a:p>
                  </a:txBody>
                </a:tc>
                <a:tc>
                  <a:txBody>
                    <a:bodyPr/>
                    <a:lstStyle/>
                    <a:p>
                      <a:pPr lvl="0" indent="0" marL="0">
                        <a:buNone/>
                      </a:pPr>
                      <a:r>
                        <a:rPr b="1"/>
                        <a:t>User Experience</a:t>
                      </a:r>
                      <a:r>
                        <a:rPr/>
                        <a:t> - Optimize AI-generated docs for end-user comprehension and usability</a:t>
                      </a:r>
                    </a:p>
                  </a:txBody>
                </a:tc>
              </a:tr>
              <a:tr h="0">
                <a:tc>
                  <a:txBody>
                    <a:bodyPr/>
                    <a:lstStyle/>
                    <a:p>
                      <a:pPr lvl="0" indent="0" marL="0">
                        <a:buNone/>
                      </a:pPr>
                      <a:r>
                        <a:rPr b="1"/>
                        <a:t>Technical Verification</a:t>
                      </a:r>
                      <a:r>
                        <a:rPr/>
                        <a:t> - Validate AI-generated technical content for accuracy</a:t>
                      </a:r>
                    </a:p>
                  </a:txBody>
                </a:tc>
                <a:tc>
                  <a:txBody>
                    <a:bodyPr/>
                    <a:lstStyle/>
                    <a:p>
                      <a:pPr lvl="0" indent="0" marL="0">
                        <a:buNone/>
                      </a:pPr>
                      <a:r>
                        <a:rPr b="1"/>
                        <a:t>Version Control</a:t>
                      </a:r>
                      <a:r>
                        <a:rPr/>
                        <a:t> - Manage documentation updates and revisions with AI assistance</a:t>
                      </a:r>
                    </a:p>
                  </a:txBody>
                </a:tc>
              </a:tr>
              <a:tr h="0">
                <a:tc>
                  <a:txBody>
                    <a:bodyPr/>
                    <a:lstStyle/>
                    <a:p>
                      <a:pPr lvl="0" indent="0" marL="0">
                        <a:buNone/>
                      </a:pPr>
                      <a:r>
                        <a:rPr b="1"/>
                        <a:t>Multi-format Publishing</a:t>
                      </a:r>
                      <a:r>
                        <a:rPr/>
                        <a:t> - Convert AI outputs across various documentation formats</a:t>
                      </a:r>
                    </a:p>
                  </a:txBody>
                </a:tc>
                <a:tc>
                  <a:txBody>
                    <a:bodyPr/>
                    <a:lstStyle/>
                    <a:p>
                      <a:pPr lvl="0" indent="0" marL="0">
                        <a:buNone/>
                      </a:pPr>
                      <a:r>
                        <a:rPr b="1"/>
                        <a:t>Cross-team Collaboration</a:t>
                      </a:r>
                      <a:r>
                        <a:rPr/>
                        <a:t> - Coordinate with SMEs to validate and enhance AI-generated content</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Security Reviewer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013200"/>
                <a:gridCol w="42164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Threat Modeling</a:t>
                      </a:r>
                      <a:r>
                        <a:rPr/>
                        <a:t> - Use AI to identify potential security vulnerabilities and attack vectors</a:t>
                      </a:r>
                    </a:p>
                  </a:txBody>
                </a:tc>
                <a:tc>
                  <a:txBody>
                    <a:bodyPr/>
                    <a:lstStyle/>
                    <a:p>
                      <a:pPr lvl="0" indent="0" marL="0">
                        <a:buNone/>
                      </a:pPr>
                      <a:r>
                        <a:rPr b="1"/>
                        <a:t>Vulnerability Assessment</a:t>
                      </a:r>
                      <a:r>
                        <a:rPr/>
                        <a:t> - Validate AI-identified security issues and remediation strategies</a:t>
                      </a:r>
                    </a:p>
                  </a:txBody>
                </a:tc>
              </a:tr>
              <a:tr h="0">
                <a:tc>
                  <a:txBody>
                    <a:bodyPr/>
                    <a:lstStyle/>
                    <a:p>
                      <a:pPr lvl="0" indent="0" marL="0">
                        <a:buNone/>
                      </a:pPr>
                      <a:r>
                        <a:rPr b="1"/>
                        <a:t>Compliance Analysis</a:t>
                      </a:r>
                      <a:r>
                        <a:rPr/>
                        <a:t> - Leverage AI for regulatory and standards compliance checking</a:t>
                      </a:r>
                    </a:p>
                  </a:txBody>
                </a:tc>
                <a:tc>
                  <a:txBody>
                    <a:bodyPr/>
                    <a:lstStyle/>
                    <a:p>
                      <a:pPr lvl="0" indent="0" marL="0">
                        <a:buNone/>
                      </a:pPr>
                      <a:r>
                        <a:rPr b="1"/>
                        <a:t>Code Security Review</a:t>
                      </a:r>
                      <a:r>
                        <a:rPr/>
                        <a:t> - Ensure AI-suggested code changes don’t introduce security risks</a:t>
                      </a:r>
                    </a:p>
                  </a:txBody>
                </a:tc>
              </a:tr>
              <a:tr h="0">
                <a:tc>
                  <a:txBody>
                    <a:bodyPr/>
                    <a:lstStyle/>
                    <a:p>
                      <a:pPr lvl="0" indent="0" marL="0">
                        <a:buNone/>
                      </a:pPr>
                      <a:r>
                        <a:rPr b="1"/>
                        <a:t>Risk Assessment</a:t>
                      </a:r>
                      <a:r>
                        <a:rPr/>
                        <a:t> - Guide AI through security impact analysis and risk prioritization</a:t>
                      </a:r>
                    </a:p>
                  </a:txBody>
                </a:tc>
                <a:tc>
                  <a:txBody>
                    <a:bodyPr/>
                    <a:lstStyle/>
                    <a:p>
                      <a:pPr lvl="0" indent="0" marL="0">
                        <a:buNone/>
                      </a:pPr>
                      <a:r>
                        <a:rPr b="1"/>
                        <a:t>Policy Enforcement</a:t>
                      </a:r>
                      <a:r>
                        <a:rPr/>
                        <a:t> - Verify AI recommendations align with organizational security policies</a:t>
                      </a:r>
                    </a:p>
                  </a:txBody>
                </a:tc>
              </a:tr>
              <a:tr h="0">
                <a:tc>
                  <a:txBody>
                    <a:bodyPr/>
                    <a:lstStyle/>
                    <a:p>
                      <a:pPr lvl="0" indent="0" marL="0">
                        <a:buNone/>
                      </a:pPr>
                      <a:r>
                        <a:rPr b="1"/>
                        <a:t>Security Testing</a:t>
                      </a:r>
                      <a:r>
                        <a:rPr/>
                        <a:t> - Generate security test cases and penetration testing scenarios</a:t>
                      </a:r>
                    </a:p>
                  </a:txBody>
                </a:tc>
                <a:tc>
                  <a:txBody>
                    <a:bodyPr/>
                    <a:lstStyle/>
                    <a:p>
                      <a:pPr lvl="0" indent="0" marL="0">
                        <a:buNone/>
                      </a:pPr>
                      <a:r>
                        <a:rPr b="1"/>
                        <a:t>Audit Trail Maintenance</a:t>
                      </a:r>
                      <a:r>
                        <a:rPr/>
                        <a:t> - Document security decisions and rationale for AI-assisted reviews</a:t>
                      </a:r>
                    </a:p>
                  </a:txBody>
                </a:tc>
              </a:tr>
              <a:tr h="0">
                <a:tc>
                  <a:txBody>
                    <a:bodyPr/>
                    <a:lstStyle/>
                    <a:p>
                      <a:pPr lvl="0" indent="0" marL="0">
                        <a:buNone/>
                      </a:pPr>
                      <a:r>
                        <a:rPr b="1"/>
                        <a:t>Incident Response</a:t>
                      </a:r>
                      <a:r>
                        <a:rPr/>
                        <a:t> - Use AI for security event analysis and response planning</a:t>
                      </a:r>
                    </a:p>
                  </a:txBody>
                </a:tc>
                <a:tc>
                  <a:txBody>
                    <a:bodyPr/>
                    <a:lstStyle/>
                    <a:p>
                      <a:pPr lvl="0" indent="0" marL="0">
                        <a:buNone/>
                      </a:pPr>
                      <a:r>
                        <a:rPr b="1"/>
                        <a:t>Threat Intelligence</a:t>
                      </a:r>
                      <a:r>
                        <a:rPr/>
                        <a:t> - Stay current on security trends that may affect AI recommendation quality</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DevOps Engineer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40200"/>
                <a:gridCol w="40894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Infrastructure as Code</a:t>
                      </a:r>
                      <a:r>
                        <a:rPr/>
                        <a:t> - Generate and optimize IaC templates, scripts, and configurations</a:t>
                      </a:r>
                    </a:p>
                  </a:txBody>
                </a:tc>
                <a:tc>
                  <a:txBody>
                    <a:bodyPr/>
                    <a:lstStyle/>
                    <a:p>
                      <a:pPr lvl="0" indent="0" marL="0">
                        <a:buNone/>
                      </a:pPr>
                      <a:r>
                        <a:rPr b="1"/>
                        <a:t>Pipeline Reliability</a:t>
                      </a:r>
                      <a:r>
                        <a:rPr/>
                        <a:t> - Ensure AI-generated CI/CD configurations are stable and efficient</a:t>
                      </a:r>
                    </a:p>
                  </a:txBody>
                </a:tc>
              </a:tr>
              <a:tr h="0">
                <a:tc>
                  <a:txBody>
                    <a:bodyPr/>
                    <a:lstStyle/>
                    <a:p>
                      <a:pPr lvl="0" indent="0" marL="0">
                        <a:buNone/>
                      </a:pPr>
                      <a:r>
                        <a:rPr b="1"/>
                        <a:t>CI/CD Pipeline Design</a:t>
                      </a:r>
                      <a:r>
                        <a:rPr/>
                        <a:t> - Use AI for build, test, and deployment pipeline optimization</a:t>
                      </a:r>
                    </a:p>
                  </a:txBody>
                </a:tc>
                <a:tc>
                  <a:txBody>
                    <a:bodyPr/>
                    <a:lstStyle/>
                    <a:p>
                      <a:pPr lvl="0" indent="0" marL="0">
                        <a:buNone/>
                      </a:pPr>
                      <a:r>
                        <a:rPr b="1"/>
                        <a:t>Security Integration</a:t>
                      </a:r>
                      <a:r>
                        <a:rPr/>
                        <a:t> - Validate AI-suggested DevSecOps practices and security controls</a:t>
                      </a:r>
                    </a:p>
                  </a:txBody>
                </a:tc>
              </a:tr>
              <a:tr h="0">
                <a:tc>
                  <a:txBody>
                    <a:bodyPr/>
                    <a:lstStyle/>
                    <a:p>
                      <a:pPr lvl="0" indent="0" marL="0">
                        <a:buNone/>
                      </a:pPr>
                      <a:r>
                        <a:rPr b="1"/>
                        <a:t>Monitoring &amp; Alerting</a:t>
                      </a:r>
                      <a:r>
                        <a:rPr/>
                        <a:t> - Create comprehensive observability strategies with AI assistance</a:t>
                      </a:r>
                    </a:p>
                  </a:txBody>
                </a:tc>
                <a:tc>
                  <a:txBody>
                    <a:bodyPr/>
                    <a:lstStyle/>
                    <a:p>
                      <a:pPr lvl="0" indent="0" marL="0">
                        <a:buNone/>
                      </a:pPr>
                      <a:r>
                        <a:rPr b="1"/>
                        <a:t>Performance Monitoring</a:t>
                      </a:r>
                      <a:r>
                        <a:rPr/>
                        <a:t> - Implement AI-recommended monitoring and alerting strategies</a:t>
                      </a:r>
                    </a:p>
                  </a:txBody>
                </a:tc>
              </a:tr>
              <a:tr h="0">
                <a:tc>
                  <a:txBody>
                    <a:bodyPr/>
                    <a:lstStyle/>
                    <a:p>
                      <a:pPr lvl="0" indent="0" marL="0">
                        <a:buNone/>
                      </a:pPr>
                      <a:r>
                        <a:rPr b="1"/>
                        <a:t>Automation Scripting</a:t>
                      </a:r>
                      <a:r>
                        <a:rPr/>
                        <a:t> - Generate operational scripts and automation workflows</a:t>
                      </a:r>
                    </a:p>
                  </a:txBody>
                </a:tc>
                <a:tc>
                  <a:txBody>
                    <a:bodyPr/>
                    <a:lstStyle/>
                    <a:p>
                      <a:pPr lvl="0" indent="0" marL="0">
                        <a:buNone/>
                      </a:pPr>
                      <a:r>
                        <a:rPr b="1"/>
                        <a:t>Cost Management</a:t>
                      </a:r>
                      <a:r>
                        <a:rPr/>
                        <a:t> - Review AI suggestions for infrastructure cost optimization</a:t>
                      </a:r>
                    </a:p>
                  </a:txBody>
                </a:tc>
              </a:tr>
              <a:tr h="0">
                <a:tc>
                  <a:txBody>
                    <a:bodyPr/>
                    <a:lstStyle/>
                    <a:p>
                      <a:pPr lvl="0" indent="0" marL="0">
                        <a:buNone/>
                      </a:pPr>
                      <a:r>
                        <a:rPr b="1"/>
                        <a:t>Cloud Resource Optimization</a:t>
                      </a:r>
                      <a:r>
                        <a:rPr/>
                        <a:t> - Leverage AI for cost optimization and resource management</a:t>
                      </a:r>
                    </a:p>
                  </a:txBody>
                </a:tc>
                <a:tc>
                  <a:txBody>
                    <a:bodyPr/>
                    <a:lstStyle/>
                    <a:p>
                      <a:pPr lvl="0" indent="0" marL="0">
                        <a:buNone/>
                      </a:pPr>
                      <a:r>
                        <a:rPr b="1"/>
                        <a:t>Disaster Recovery</a:t>
                      </a:r>
                      <a:r>
                        <a:rPr/>
                        <a:t> - Develop and test AI-assisted backup and recovery procedures</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DevTest Engineer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432300"/>
                <a:gridCol w="37973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Test Case Generation</a:t>
                      </a:r>
                      <a:r>
                        <a:rPr/>
                        <a:t> - Create comprehensive test scenarios across functional and non-functional areas</a:t>
                      </a:r>
                    </a:p>
                  </a:txBody>
                </a:tc>
                <a:tc>
                  <a:txBody>
                    <a:bodyPr/>
                    <a:lstStyle/>
                    <a:p>
                      <a:pPr lvl="0" indent="0" marL="0">
                        <a:buNone/>
                      </a:pPr>
                      <a:r>
                        <a:rPr b="1"/>
                        <a:t>Test Coverage Validation</a:t>
                      </a:r>
                      <a:r>
                        <a:rPr/>
                        <a:t> - Ensure AI-generated tests provide adequate coverage</a:t>
                      </a:r>
                    </a:p>
                  </a:txBody>
                </a:tc>
              </a:tr>
              <a:tr h="0">
                <a:tc>
                  <a:txBody>
                    <a:bodyPr/>
                    <a:lstStyle/>
                    <a:p>
                      <a:pPr lvl="0" indent="0" marL="0">
                        <a:buNone/>
                      </a:pPr>
                      <a:r>
                        <a:rPr b="1"/>
                        <a:t>Test Data Management</a:t>
                      </a:r>
                      <a:r>
                        <a:rPr/>
                        <a:t> - Generate realistic test data sets and scenarios</a:t>
                      </a:r>
                    </a:p>
                  </a:txBody>
                </a:tc>
                <a:tc>
                  <a:txBody>
                    <a:bodyPr/>
                    <a:lstStyle/>
                    <a:p>
                      <a:pPr lvl="0" indent="0" marL="0">
                        <a:buNone/>
                      </a:pPr>
                      <a:r>
                        <a:rPr b="1"/>
                        <a:t>Test Environment Management</a:t>
                      </a:r>
                      <a:r>
                        <a:rPr/>
                        <a:t> - Maintain consistent, reliable test environments</a:t>
                      </a:r>
                    </a:p>
                  </a:txBody>
                </a:tc>
              </a:tr>
              <a:tr h="0">
                <a:tc>
                  <a:txBody>
                    <a:bodyPr/>
                    <a:lstStyle/>
                    <a:p>
                      <a:pPr lvl="0" indent="0" marL="0">
                        <a:buNone/>
                      </a:pPr>
                      <a:r>
                        <a:rPr b="1"/>
                        <a:t>Automation Framework</a:t>
                      </a:r>
                      <a:r>
                        <a:rPr/>
                        <a:t> - Build robust test automation with AI assistance</a:t>
                      </a:r>
                    </a:p>
                  </a:txBody>
                </a:tc>
                <a:tc>
                  <a:txBody>
                    <a:bodyPr/>
                    <a:lstStyle/>
                    <a:p>
                      <a:pPr lvl="0" indent="0" marL="0">
                        <a:buNone/>
                      </a:pPr>
                      <a:r>
                        <a:rPr b="1"/>
                        <a:t>Quality Metrics</a:t>
                      </a:r>
                      <a:r>
                        <a:rPr/>
                        <a:t> - Track and report on quality metrics derived from AI-assisted testing</a:t>
                      </a:r>
                    </a:p>
                  </a:txBody>
                </a:tc>
              </a:tr>
              <a:tr h="0">
                <a:tc>
                  <a:txBody>
                    <a:bodyPr/>
                    <a:lstStyle/>
                    <a:p>
                      <a:pPr lvl="0" indent="0" marL="0">
                        <a:buNone/>
                      </a:pPr>
                      <a:r>
                        <a:rPr b="1"/>
                        <a:t>Performance Testing</a:t>
                      </a:r>
                      <a:r>
                        <a:rPr/>
                        <a:t> - Design load, stress, and performance test strategies</a:t>
                      </a:r>
                    </a:p>
                  </a:txBody>
                </a:tc>
                <a:tc>
                  <a:txBody>
                    <a:bodyPr/>
                    <a:lstStyle/>
                    <a:p>
                      <a:pPr lvl="0" indent="0" marL="0">
                        <a:buNone/>
                      </a:pPr>
                      <a:r>
                        <a:rPr b="1"/>
                        <a:t>Test Maintenance</a:t>
                      </a:r>
                      <a:r>
                        <a:rPr/>
                        <a:t> - Keep AI-generated test suites current with application changes</a:t>
                      </a:r>
                    </a:p>
                  </a:txBody>
                </a:tc>
              </a:tr>
              <a:tr h="0">
                <a:tc>
                  <a:txBody>
                    <a:bodyPr/>
                    <a:lstStyle/>
                    <a:p>
                      <a:pPr lvl="0" indent="0" marL="0">
                        <a:buNone/>
                      </a:pPr>
                      <a:r>
                        <a:rPr b="1"/>
                        <a:t>Defect Analysis</a:t>
                      </a:r>
                      <a:r>
                        <a:rPr/>
                        <a:t> - Use AI for root cause analysis and bug reproduction</a:t>
                      </a:r>
                    </a:p>
                  </a:txBody>
                </a:tc>
                <a:tc>
                  <a:txBody>
                    <a:bodyPr/>
                    <a:lstStyle/>
                    <a:p>
                      <a:pPr lvl="0" indent="0" marL="0">
                        <a:buNone/>
                      </a:pPr>
                      <a:r>
                        <a:rPr b="1"/>
                        <a:t>Bug Triage</a:t>
                      </a:r>
                      <a:r>
                        <a:rPr/>
                        <a:t> - Prioritize and categorize defects with AI analysis support</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SRE (Site Reliability Engineer)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911600"/>
                <a:gridCol w="4318000"/>
              </a:tblGrid>
              <a:tr h="0">
                <a:tc>
                  <a:txBody>
                    <a:bodyPr/>
                    <a:lstStyle/>
                    <a:p>
                      <a:pPr lvl="0" indent="0" marL="0">
                        <a:buNone/>
                      </a:pPr>
                      <a:r>
                        <a:rPr b="1"/>
                        <a:t>Skills</a:t>
                      </a:r>
                    </a:p>
                  </a:txBody>
                  <a:tcPr/>
                </a:tc>
                <a:tc>
                  <a:txBody>
                    <a:bodyPr/>
                    <a:lstStyle/>
                    <a:p>
                      <a:pPr lvl="0" indent="0" marL="0">
                        <a:buNone/>
                      </a:pPr>
                      <a:r>
                        <a:rPr b="1"/>
                        <a:t>Responsibilities</a:t>
                      </a:r>
                    </a:p>
                  </a:txBody>
                  <a:tcPr/>
                </a:tc>
              </a:tr>
              <a:tr h="0">
                <a:tc>
                  <a:txBody>
                    <a:bodyPr/>
                    <a:lstStyle/>
                    <a:p>
                      <a:pPr lvl="0" indent="0" marL="0">
                        <a:buNone/>
                      </a:pPr>
                      <a:r>
                        <a:rPr b="1"/>
                        <a:t>Incident Response</a:t>
                      </a:r>
                      <a:r>
                        <a:rPr/>
                        <a:t> - Use AI for rapid incident analysis, diagnosis, and resolution</a:t>
                      </a:r>
                    </a:p>
                  </a:txBody>
                </a:tc>
                <a:tc>
                  <a:txBody>
                    <a:bodyPr/>
                    <a:lstStyle/>
                    <a:p>
                      <a:pPr lvl="0" indent="0" marL="0">
                        <a:buNone/>
                      </a:pPr>
                      <a:r>
                        <a:rPr b="1"/>
                        <a:t>System Reliability</a:t>
                      </a:r>
                      <a:r>
                        <a:rPr/>
                        <a:t> - Maintain service availability using AI-driven monitoring and response</a:t>
                      </a:r>
                    </a:p>
                  </a:txBody>
                </a:tc>
              </a:tr>
              <a:tr h="0">
                <a:tc>
                  <a:txBody>
                    <a:bodyPr/>
                    <a:lstStyle/>
                    <a:p>
                      <a:pPr lvl="0" indent="0" marL="0">
                        <a:buNone/>
                      </a:pPr>
                      <a:r>
                        <a:rPr b="1"/>
                        <a:t>SLA/SLO Monitoring</a:t>
                      </a:r>
                      <a:r>
                        <a:rPr/>
                        <a:t> - Generate comprehensive reliability metrics and alerting</a:t>
                      </a:r>
                    </a:p>
                  </a:txBody>
                </a:tc>
                <a:tc>
                  <a:txBody>
                    <a:bodyPr/>
                    <a:lstStyle/>
                    <a:p>
                      <a:pPr lvl="0" indent="0" marL="0">
                        <a:buNone/>
                      </a:pPr>
                      <a:r>
                        <a:rPr b="1"/>
                        <a:t>Performance Optimization</a:t>
                      </a:r>
                      <a:r>
                        <a:rPr/>
                        <a:t> - Continuously improve system performance with AI insights</a:t>
                      </a:r>
                    </a:p>
                  </a:txBody>
                </a:tc>
              </a:tr>
              <a:tr h="0">
                <a:tc>
                  <a:txBody>
                    <a:bodyPr/>
                    <a:lstStyle/>
                    <a:p>
                      <a:pPr lvl="0" indent="0" marL="0">
                        <a:buNone/>
                      </a:pPr>
                      <a:r>
                        <a:rPr b="1"/>
                        <a:t>Capacity Planning</a:t>
                      </a:r>
                      <a:r>
                        <a:rPr/>
                        <a:t> - Leverage AI for resource forecasting and scaling decisions</a:t>
                      </a:r>
                    </a:p>
                  </a:txBody>
                </a:tc>
                <a:tc>
                  <a:txBody>
                    <a:bodyPr/>
                    <a:lstStyle/>
                    <a:p>
                      <a:pPr lvl="0" indent="0" marL="0">
                        <a:buNone/>
                      </a:pPr>
                      <a:r>
                        <a:rPr b="1"/>
                        <a:t>Incident Documentation</a:t>
                      </a:r>
                      <a:r>
                        <a:rPr/>
                        <a:t> - Create detailed incident reports and prevention strategies</a:t>
                      </a:r>
                    </a:p>
                  </a:txBody>
                </a:tc>
              </a:tr>
              <a:tr h="0">
                <a:tc>
                  <a:txBody>
                    <a:bodyPr/>
                    <a:lstStyle/>
                    <a:p>
                      <a:pPr lvl="0" indent="0" marL="0">
                        <a:buNone/>
                      </a:pPr>
                      <a:r>
                        <a:rPr b="1"/>
                        <a:t>Post-mortem Analysis</a:t>
                      </a:r>
                      <a:r>
                        <a:rPr/>
                        <a:t> - Create thorough incident reviews with AI assistance</a:t>
                      </a:r>
                    </a:p>
                  </a:txBody>
                </a:tc>
                <a:tc>
                  <a:txBody>
                    <a:bodyPr/>
                    <a:lstStyle/>
                    <a:p>
                      <a:pPr lvl="0" indent="0" marL="0">
                        <a:buNone/>
                      </a:pPr>
                      <a:r>
                        <a:rPr b="1"/>
                        <a:t>Change Management</a:t>
                      </a:r>
                      <a:r>
                        <a:rPr/>
                        <a:t> - Assess deployment risks using AI-powered analysis</a:t>
                      </a:r>
                    </a:p>
                  </a:txBody>
                </a:tc>
              </a:tr>
              <a:tr h="0">
                <a:tc>
                  <a:txBody>
                    <a:bodyPr/>
                    <a:lstStyle/>
                    <a:p>
                      <a:pPr lvl="0" indent="0" marL="0">
                        <a:buNone/>
                      </a:pPr>
                      <a:r>
                        <a:rPr b="1"/>
                        <a:t>Reliability Engineering</a:t>
                      </a:r>
                      <a:r>
                        <a:rPr/>
                        <a:t> - Design fault-tolerant systems with AI recommendations</a:t>
                      </a:r>
                    </a:p>
                  </a:txBody>
                </a:tc>
                <a:tc>
                  <a:txBody>
                    <a:bodyPr/>
                    <a:lstStyle/>
                    <a:p>
                      <a:pPr lvl="0" indent="0" marL="0">
                        <a:buNone/>
                      </a:pPr>
                      <a:r>
                        <a:rPr b="1"/>
                        <a:t>On-call Excellence</a:t>
                      </a:r>
                      <a:r>
                        <a:rPr/>
                        <a:t> - Optimize on-call procedures and reduce MTTR with AI support</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Success Patterns</a:t>
            </a:r>
          </a:p>
        </p:txBody>
      </p:sp>
      <p:sp>
        <p:nvSpPr>
          <p:cNvPr id="3" name="Content Placeholder 2"/>
          <p:cNvSpPr>
            <a:spLocks noGrp="1"/>
          </p:cNvSpPr>
          <p:nvPr>
            <p:ph idx="1"/>
          </p:nvPr>
        </p:nvSpPr>
        <p:spPr/>
        <p:txBody>
          <a:bodyPr/>
          <a:lstStyle/>
          <a:p>
            <a:pPr lvl="0" indent="0" marL="0">
              <a:buNone/>
            </a:pPr>
            <a:r>
              <a:rPr b="1"/>
              <a:t>Across All Personas:</a:t>
            </a:r>
          </a:p>
          <a:p>
            <a:pPr lvl="0" indent="0" marL="0">
              <a:buNone/>
            </a:pPr>
            <a:r>
              <a:rPr/>
              <a:t>✅ </a:t>
            </a:r>
            <a:r>
              <a:rPr b="1"/>
              <a:t>Context Awareness</a:t>
            </a:r>
            <a:r>
              <a:rPr/>
              <a:t> - Provide sufficient background for accurate AI responses ✅ </a:t>
            </a:r>
            <a:r>
              <a:rPr b="1"/>
              <a:t>Iterative Refinement</a:t>
            </a:r>
            <a:r>
              <a:rPr/>
              <a:t> - Use follow-up questions to improve AI output quality ✅ </a:t>
            </a:r>
            <a:r>
              <a:rPr b="1"/>
              <a:t>Validation Responsibility</a:t>
            </a:r>
            <a:r>
              <a:rPr/>
              <a:t> - Always verify AI suggestions against professional standards ✅ </a:t>
            </a:r>
            <a:r>
              <a:rPr b="1"/>
              <a:t>Knowledge Integration</a:t>
            </a:r>
            <a:r>
              <a:rPr/>
              <a:t> - Combine AI insights with domain expertise ✅ </a:t>
            </a:r>
            <a:r>
              <a:rPr b="1"/>
              <a:t>Continuous Learning</a:t>
            </a:r>
            <a:r>
              <a:rPr/>
              <a:t> - Stay updated on AI capabilities and limitations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&amp; Discussion</a:t>
            </a:r>
          </a:p>
        </p:txBody>
      </p:sp>
      <p:sp>
        <p:nvSpPr>
          <p:cNvPr id="3" name="Content Placeholder 2"/>
          <p:cNvSpPr>
            <a:spLocks noGrp="1"/>
          </p:cNvSpPr>
          <p:nvPr>
            <p:ph idx="1"/>
          </p:nvPr>
        </p:nvSpPr>
        <p:spPr/>
        <p:txBody>
          <a:bodyPr/>
          <a:lstStyle/>
          <a:p>
            <a:pPr lvl="0" indent="0" marL="0">
              <a:buNone/>
            </a:pPr>
            <a:r>
              <a:rPr b="1"/>
              <a:t>What challenges have you faced in your role when using AI chat assistance?</a:t>
            </a:r>
          </a:p>
          <a:p>
            <a:pPr lvl="0" indent="0" marL="0">
              <a:buNone/>
            </a:pPr>
            <a:r>
              <a:rPr b="1"/>
              <a:t>Which skills resonate most with your current experience?</a:t>
            </a:r>
          </a:p>
          <a:p>
            <a:pPr lvl="0" indent="0" marL="0">
              <a:buNone/>
            </a:pPr>
            <a:r>
              <a:rPr b="1"/>
              <a:t>How might these responsibilities evolve as AI capabilities advance?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Thank you!</a:t>
            </a:r>
          </a:p>
          <a:p>
            <a:pPr lvl="0" indent="0" marL="0">
              <a:buNone/>
            </a:pPr>
            <a:r>
              <a:rPr b="1"/>
              <a:t>Resources:</a:t>
            </a:r>
          </a:p>
          <a:p>
            <a:pPr lvl="0"/>
            <a:r>
              <a:rPr/>
              <a:t>GitHub Copilot Documentation</a:t>
            </a:r>
          </a:p>
          <a:p>
            <a:pPr lvl="0"/>
            <a:r>
              <a:rPr/>
              <a:t>AI-Assisted Development Best Practices</a:t>
            </a:r>
          </a:p>
          <a:p>
            <a:pPr lvl="0"/>
            <a:r>
              <a:rPr/>
              <a:t>Role-specific AI Integration Guides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2026-02-07T23:22:59Z</dcterms:created>
  <dcterms:modified xsi:type="dcterms:W3CDTF">2026-02-07T23:22:59Z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ai-logs/2026/02/07/copilot-personas-skills-responsibilities-2026-02-07/conversation.md</vt:lpwstr>
  </property>
  <property fmtid="{D5CDD505-2E9C-101B-9397-08002B2CF9AE}" pid="4" name="chat_id">
    <vt:lpwstr>copilot-personas-skills-responsibilities-2026-02-07</vt:lpwstr>
  </property>
  <property fmtid="{D5CDD505-2E9C-101B-9397-08002B2CF9AE}" pid="5" name="ended">
    <vt:lpwstr>2026-02-07T16:15:00Z</vt:lpwstr>
  </property>
  <property fmtid="{D5CDD505-2E9C-101B-9397-08002B2CF9AE}" pid="6" name="model">
    <vt:lpwstr>anthropic/claude-3.5-sonnet@2024-10-22</vt:lpwstr>
  </property>
  <property fmtid="{D5CDD505-2E9C-101B-9397-08002B2CF9AE}" pid="7" name="operator">
    <vt:lpwstr>johnmillerATcodemag-com</vt:lpwstr>
  </property>
  <property fmtid="{D5CDD505-2E9C-101B-9397-08002B2CF9AE}" pid="8" name="prompt">
    <vt:lpwstr>help me create a marp slide deck with the top five skills and top five responsibilities needed by a github copilot chat mode for the following personas: Product Manager, Solution Architect, Senior Developer, Technical Writer, Security Reviewer, DevOps Engineer, DevTest Engineer, SRE</vt:lpwstr>
  </property>
  <property fmtid="{D5CDD505-2E9C-101B-9397-08002B2CF9AE}" pid="9" name="source">
    <vt:lpwstr>johnmillerATcodemag-com</vt:lpwstr>
  </property>
  <property fmtid="{D5CDD505-2E9C-101B-9397-08002B2CF9AE}" pid="10" name="started">
    <vt:lpwstr>2026-02-07T16:00:00Z</vt:lpwstr>
  </property>
  <property fmtid="{D5CDD505-2E9C-101B-9397-08002B2CF9AE}" pid="11" name="task_durations">
    <vt:lpwstr/>
  </property>
  <property fmtid="{D5CDD505-2E9C-101B-9397-08002B2CF9AE}" pid="12" name="total_duration">
    <vt:lpwstr>00:15:00</vt:lpwstr>
  </property>
</Properties>
</file>