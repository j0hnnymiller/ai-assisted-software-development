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84" r:id="rId2"/>
    <p:sldId id="385" r:id="rId3"/>
    <p:sldId id="386" r:id="rId4"/>
    <p:sldId id="387" r:id="rId5"/>
    <p:sldId id="388" r:id="rId6"/>
    <p:sldId id="389" r:id="rId7"/>
    <p:sldId id="478" r:id="rId8"/>
    <p:sldId id="477" r:id="rId9"/>
    <p:sldId id="479" r:id="rId10"/>
    <p:sldId id="480" r:id="rId11"/>
    <p:sldId id="481" r:id="rId12"/>
    <p:sldId id="482" r:id="rId13"/>
    <p:sldId id="483" r:id="rId14"/>
    <p:sldId id="484" r:id="rId15"/>
    <p:sldId id="485" r:id="rId16"/>
    <p:sldId id="486" r:id="rId17"/>
    <p:sldId id="505" r:id="rId18"/>
    <p:sldId id="504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F0AC3A-659B-4DA2-B894-71138257CCBD}">
          <p14:sldIdLst/>
        </p14:section>
        <p14:section name="AI Guardrails" id="{DB256427-38C6-437E-B7EB-E93C0818A139}">
          <p14:sldIdLst>
            <p14:sldId id="384"/>
            <p14:sldId id="385"/>
            <p14:sldId id="386"/>
            <p14:sldId id="387"/>
            <p14:sldId id="388"/>
            <p14:sldId id="389"/>
            <p14:sldId id="478"/>
            <p14:sldId id="477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505"/>
            <p14:sldId id="504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2A3D0-47F2-40B2-AD2D-E2E0EC88E68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9E326-67F8-4673-A1C5-02DBDC5A8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7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Introduce this module as the foundation for safe, predictable AI‑assisted development.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Guardrails ensure that AI output is intentional, reviewable, and aligned with architectural and organizational standards.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These practices turn AI from a novelty into a disciplined engineering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Clarify the distinctions: instructions are stable, prompts are ephemeral, and </a:t>
            </a:r>
            <a:r>
              <a:rPr lang="en-US" dirty="0"/>
              <a:t>Agents</a:t>
            </a:r>
            <a:r>
              <a:rPr dirty="0"/>
              <a:t> define how the model behaves in a particular role.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Together, they form a layered control system that shapes AI behavior and reduces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Explain that storing these artifacts as files allows teams to version them, review them, and reuse them.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is essential for brownfield modernization, where consistency and traceability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Meta prompts are prompts about prompts.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They let the AI generate structured artifacts on demand.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reduces manual effort and ensures that all artifacts follow a consistent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When asking AI to generate an artifact, be explicit about structure and constraints.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prevents drift and ensures the output is usable without heavy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Provenance is essential for</a:t>
            </a:r>
            <a:r>
              <a:rPr lang="en-US" dirty="0"/>
              <a:t> conformance</a:t>
            </a:r>
            <a:r>
              <a:rPr dirty="0"/>
              <a:t>, auditability, and long‑term maintainability.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It ensures teams know which artifacts were AI‑generated, which were human‑generated, and which were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exercise reinforces the importance of maintaining consistent AI-assisted output policies across repositories. By copying the instructions file, participants learn to manage compliance and provenance requirements for AI-generated artifacts. Ensure the copied file is identical and properly placed to support future AI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F4C1A-8BAA-069C-8639-DE256413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E934C-F353-0BF2-3E42-5A56F01D7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A3973-77D1-5B11-91EC-85C003CE9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Provenance is essential for</a:t>
            </a:r>
            <a:r>
              <a:rPr lang="en-US" dirty="0"/>
              <a:t> conformance</a:t>
            </a:r>
            <a:r>
              <a:rPr dirty="0"/>
              <a:t>, auditability, and long‑term maintainability.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It ensures teams know which artifacts were AI‑generated, which were human‑generated, and which were hybrid.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FFA8B-F860-5B03-0F7B-DB5A9E111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93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introduces the purpose of the AI-Assisted Output Instructions file: to enforce traceability, quality, and compliance for all AI-generated artifacts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lists the mandatory metadata fields that must be embedded in every AI-generated file.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These fields ensure each artifact can be traced back to its origin, model, and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explains where and how to place provenance metadata.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Markdown files must use embedded YAML front matter; only non-embeddable formats use sidecar files.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Note: Instructions files have limited support for metadata and must use sidecar files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describes the logging structure for AI chats.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Each session gets its own folder, transcript, and summary, ensuring clear separation and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summarizes the quality gates and PR requirements.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Artifacts must be fully documented, logs must exist, and sensitive data must be avoided.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highlights the requirements for GitHub Copilot integration.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Copilot should automate chat management, metadata injection, and enforce compliance before generating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explains enforcement: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PRs are blocked if requirements are not met.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Any missing provenance must be remediated before merging.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</a:t>
            </a:r>
            <a:r>
              <a:rPr lang="en-US" dirty="0"/>
              <a:t>is</a:t>
            </a:r>
            <a:r>
              <a:rPr dirty="0"/>
              <a:t> slide reinforces the value of these instructions: they ensure every AI-assisted artifact is trustworthy, auditable, and compliant with team and industry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A62BB-A3F8-A932-7E8B-7A0920C7A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059BC-0991-25B4-4BFB-A07A963C5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62B94-A339-39C4-5F01-6F0F66B29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exercise builds foundational prompt‑writing skills. Encourage participants to choose a real task to make the exercise concrete.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Prompt: Create a prompt file that creates an instruction file for evergreen software development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82234-D77D-86EE-9E74-A3F05A212E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10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reinforces the evergreen mindset and produces a reusable artifact for future AI‑assisted work.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Prompt: Submit the prompt #file:create-evergreen-software-instructions.prompt.md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helps participants shape AI behavior to match brownfield realities.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Participants experience the leverage of meta prompts and see how AI can accelerate documentation.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Prompts: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Create instruction files for the backend technologies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Create instruction files for the front-end technologies</a:t>
            </a:r>
          </a:p>
          <a:p>
            <a:pPr marL="0" lvl="0" indent="0"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Create instruction files for the front-end technologies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exercise builds intuition for context management—one of the most important AI‑era engineering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C355-72C9-E7C6-2606-1F31422ED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71A51-0277-41D3-0EC4-718F3B6DC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551F8-F016-2263-C4F6-558FEE57F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D3A6D-B95F-1BE7-E144-0F91D9FC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C0E3F-0B08-31DD-D1A6-EEE30ADE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1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739BF-8F0B-946D-DE6B-A5F1B8C8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2644-1D2F-FEBB-1EBB-2AB4A550F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D12A5-99A4-8EB0-9340-44F96775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D563E-A137-854E-71D8-1891BC5A7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2F6C1-BFE5-D802-6CA5-17BEBA40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8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11B44-F2B6-E8C3-E1A6-8C36E3BF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6BCE5-C874-EF6A-82D1-D5447D3B7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5D90F-23A2-CA9F-D81E-EE6501581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DFEF2-8547-B844-A557-25BBFF98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20449-9E6F-7CFA-DC15-F79018AB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8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51AB-A1BC-4A09-7652-11F17C9D4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E47A-FBD9-8F9E-60D4-FB950454E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A6C6C-CB2A-AE2F-01D8-F315A1B3E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8EAE0-1663-A5FE-B7CF-1985E0AE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3ECEC-AA5C-92CC-82D4-C927FB858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344DA-5893-6C44-2BD0-57BA5864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8584-6763-573E-F6B8-B989CA0E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FC3E6-4F4D-6819-F1D6-6614684A4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A6B8C-AC66-9D4E-3CD5-983467930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F2E22F-2DF7-5357-D005-AFB944785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EC644-E42E-34CC-2DBF-F481C2411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3FEE52-87CE-9D95-8E42-C6A03FFA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98BDE-EC69-D3ED-A002-8D0AE80F6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8E4722-B09C-28D1-CBCD-EDD1BDB67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5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379D-4364-674F-6A53-91DFE12E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F0FAA9-1FC6-2E5A-4C85-8F8934ED4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FBFDF-DA5D-0F7E-1AA9-FF28F174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BEA9E-CCCE-56E5-1842-31BCFC01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59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8F7DF-C2A0-DE31-9EAD-FDDCF17A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B7143-7C58-5A3F-DCB0-7166867A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AF602-4369-899C-CA2B-FCCC38EA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6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2037-B6BB-7DAC-2F85-90888A11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A0E55-1AF5-FF8C-6BBC-A5255544C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99C3B-6861-8EB7-BD30-AC3AE0E6B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3D21E-52B8-D9CC-EB6A-810CB5049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9277D-DE24-82E9-92DF-27AD2E40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732BC-27FB-43BC-BD24-3E9E32EB6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88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4263-1529-01E2-22EA-268C08A8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8A93A-3830-AE8B-2891-5A6CBEF3B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1D077-DF03-67CB-230E-28CF98E47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C8B17-69CE-2D8C-1D7C-86BD8F72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BA4C8-BC74-6079-7EB8-45D6B285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B042B-FEF4-3EB5-9FC9-8F9F601C5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7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A23B-07CD-5272-86CE-A460A8CC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C52EA-6A01-69BA-44D5-14F2B0BA9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F943A-759A-D5E4-812F-6D93C3E7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23C66-EDF8-1102-D606-F3B3C1AE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05D98-CC41-9A8C-9FD8-67A22444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5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4272E2-E64D-216F-F448-D6606FA01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0369B-6589-70B0-8257-B7F0862AA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751CD-0355-1C17-EFCC-3D9F71236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B2DB-DA87-F40C-1F3D-A3B986EB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0D0D9-1E64-5129-49CF-829DF273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C0610-2BDA-D858-1EE2-16AE24BC0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A3877-7905-67BC-E86F-36CCED45C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1AFF9-42F0-6553-9952-150344BCF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8B094-26DC-41A8-A025-7A3031559A0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BB2C-2D58-F8D8-494A-19CBBA080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B0CCF-6487-DAA7-F53B-06D98CB53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71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Adding 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What are instructions, prompts, and </a:t>
            </a:r>
            <a:r>
              <a:rPr lang="en-US" dirty="0"/>
              <a:t>Agents</a:t>
            </a:r>
            <a:endParaRPr dirty="0"/>
          </a:p>
          <a:p>
            <a:pPr lvl="0"/>
            <a:r>
              <a:rPr dirty="0"/>
              <a:t>Creating instruction, prompt, and </a:t>
            </a:r>
            <a:r>
              <a:rPr lang="en-US" dirty="0"/>
              <a:t>Agent</a:t>
            </a:r>
            <a:r>
              <a:rPr dirty="0"/>
              <a:t> files</a:t>
            </a:r>
          </a:p>
          <a:p>
            <a:pPr lvl="0"/>
            <a:r>
              <a:rPr dirty="0"/>
              <a:t>Meta prompts that generate these files</a:t>
            </a:r>
          </a:p>
          <a:p>
            <a:pPr lvl="0"/>
            <a:r>
              <a:rPr dirty="0"/>
              <a:t>Instructions for generating artifacts</a:t>
            </a:r>
          </a:p>
          <a:p>
            <a:pPr lvl="0"/>
            <a:r>
              <a:rPr dirty="0"/>
              <a:t>Enforcing provenance for AI‑assisted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733" b="1" dirty="0"/>
              <a:t>Instructions, Prompts &amp; </a:t>
            </a:r>
            <a:r>
              <a:rPr lang="en-US" sz="3733" b="1" dirty="0"/>
              <a:t>Agents</a:t>
            </a:r>
            <a:endParaRPr sz="3733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Definitions</a:t>
            </a:r>
          </a:p>
          <a:p>
            <a:pPr lvl="0"/>
            <a:r>
              <a:rPr b="1" dirty="0"/>
              <a:t>Instructions</a:t>
            </a:r>
            <a:r>
              <a:rPr dirty="0"/>
              <a:t> </a:t>
            </a:r>
            <a:r>
              <a:rPr lang="en-US" dirty="0"/>
              <a:t>–</a:t>
            </a:r>
            <a:r>
              <a:rPr dirty="0"/>
              <a:t> Persistent rules that guide the model’s behavior</a:t>
            </a:r>
          </a:p>
          <a:p>
            <a:pPr lvl="0"/>
            <a:r>
              <a:rPr b="1" dirty="0"/>
              <a:t>Prompts</a:t>
            </a:r>
            <a:r>
              <a:rPr dirty="0"/>
              <a:t> </a:t>
            </a:r>
            <a:r>
              <a:rPr lang="en-US" dirty="0"/>
              <a:t>–</a:t>
            </a:r>
            <a:r>
              <a:rPr dirty="0"/>
              <a:t> Task‑specific requests defining intent and constraints</a:t>
            </a:r>
          </a:p>
          <a:p>
            <a:pPr lvl="0"/>
            <a:r>
              <a:rPr lang="en-US" b="1" dirty="0"/>
              <a:t>Agents</a:t>
            </a:r>
            <a:r>
              <a:rPr dirty="0"/>
              <a:t> </a:t>
            </a:r>
            <a:r>
              <a:rPr lang="en-US" dirty="0"/>
              <a:t>–</a:t>
            </a:r>
            <a:r>
              <a:rPr dirty="0"/>
              <a:t> Pre‑configured personas optimized for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Creating Instruction, Prompt &amp; </a:t>
            </a:r>
            <a:r>
              <a:rPr lang="en-US" b="1" dirty="0"/>
              <a:t>Agent</a:t>
            </a:r>
            <a:r>
              <a:rPr b="1" dirty="0"/>
              <a:t>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Why create files?</a:t>
            </a:r>
          </a:p>
          <a:p>
            <a:pPr lvl="0"/>
            <a:r>
              <a:rPr dirty="0"/>
              <a:t>Ensures repeatability</a:t>
            </a:r>
          </a:p>
          <a:p>
            <a:pPr lvl="0"/>
            <a:r>
              <a:rPr dirty="0"/>
              <a:t>Reduces token usage</a:t>
            </a:r>
          </a:p>
          <a:p>
            <a:pPr lvl="0"/>
            <a:r>
              <a:rPr dirty="0"/>
              <a:t>Provides version‑controlled guardrails</a:t>
            </a:r>
          </a:p>
          <a:p>
            <a:pPr lvl="0"/>
            <a:r>
              <a:rPr dirty="0"/>
              <a:t>Enables team‑wide consistency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File types</a:t>
            </a:r>
          </a:p>
          <a:p>
            <a:pPr lvl="0"/>
            <a:r>
              <a:rPr lang="en-US" dirty="0">
                <a:latin typeface="Courier"/>
              </a:rPr>
              <a:t>.</a:t>
            </a:r>
            <a:r>
              <a:rPr lang="en-US" dirty="0" err="1">
                <a:latin typeface="Courier"/>
              </a:rPr>
              <a:t>github</a:t>
            </a:r>
            <a:r>
              <a:rPr lang="en-US" dirty="0">
                <a:latin typeface="Courier"/>
              </a:rPr>
              <a:t>/instructions/myinstructions.</a:t>
            </a:r>
            <a:r>
              <a:rPr dirty="0">
                <a:latin typeface="Courier"/>
              </a:rPr>
              <a:t>instructions.md</a:t>
            </a:r>
          </a:p>
          <a:p>
            <a:pPr lvl="0"/>
            <a:r>
              <a:rPr lang="en-US" dirty="0">
                <a:latin typeface="Courier"/>
              </a:rPr>
              <a:t>.</a:t>
            </a:r>
            <a:r>
              <a:rPr lang="en-US" dirty="0" err="1">
                <a:latin typeface="Courier"/>
              </a:rPr>
              <a:t>github</a:t>
            </a:r>
            <a:r>
              <a:rPr lang="en-US" dirty="0">
                <a:latin typeface="Courier"/>
              </a:rPr>
              <a:t>/prompts/myprompt.</a:t>
            </a:r>
            <a:r>
              <a:rPr dirty="0">
                <a:latin typeface="Courier"/>
              </a:rPr>
              <a:t>prompt.md</a:t>
            </a:r>
          </a:p>
          <a:p>
            <a:pPr lvl="0"/>
            <a:r>
              <a:rPr lang="en-US" dirty="0">
                <a:latin typeface="Courier"/>
              </a:rPr>
              <a:t>.</a:t>
            </a:r>
            <a:r>
              <a:rPr lang="en-US" dirty="0" err="1">
                <a:latin typeface="Courier"/>
              </a:rPr>
              <a:t>github</a:t>
            </a:r>
            <a:r>
              <a:rPr lang="en-US" dirty="0">
                <a:latin typeface="Courier"/>
              </a:rPr>
              <a:t>/chatmodes/mychatmode.</a:t>
            </a:r>
            <a:r>
              <a:rPr dirty="0">
                <a:latin typeface="Courier"/>
              </a:rPr>
              <a:t>chatmode.md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Meta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Meta prompts </a:t>
            </a:r>
            <a:r>
              <a:rPr lang="en-US" b="1" dirty="0"/>
              <a:t>guide</a:t>
            </a:r>
            <a:r>
              <a:rPr b="1" dirty="0"/>
              <a:t>:</a:t>
            </a:r>
          </a:p>
          <a:p>
            <a:pPr lvl="0"/>
            <a:r>
              <a:rPr lang="en-US" dirty="0"/>
              <a:t>C</a:t>
            </a:r>
            <a:r>
              <a:rPr dirty="0"/>
              <a:t>reation of instruction files</a:t>
            </a:r>
          </a:p>
          <a:p>
            <a:pPr lvl="0"/>
            <a:r>
              <a:rPr lang="en-US" dirty="0"/>
              <a:t>G</a:t>
            </a:r>
            <a:r>
              <a:rPr dirty="0"/>
              <a:t>eneration of reusable prompts</a:t>
            </a:r>
          </a:p>
          <a:p>
            <a:pPr lvl="0"/>
            <a:r>
              <a:rPr lang="en-US" dirty="0"/>
              <a:t>C</a:t>
            </a:r>
            <a:r>
              <a:rPr dirty="0"/>
              <a:t>onstruction of </a:t>
            </a:r>
            <a:r>
              <a:rPr lang="en-US" dirty="0"/>
              <a:t>Agents</a:t>
            </a:r>
            <a:endParaRPr dirty="0"/>
          </a:p>
          <a:p>
            <a:pPr lvl="0"/>
            <a:r>
              <a:rPr lang="en-US" dirty="0"/>
              <a:t>Provide c</a:t>
            </a:r>
            <a:r>
              <a:rPr dirty="0"/>
              <a:t>onsistent formatting</a:t>
            </a:r>
            <a:r>
              <a:rPr lang="en-US" dirty="0"/>
              <a:t>,</a:t>
            </a:r>
            <a:r>
              <a:rPr dirty="0"/>
              <a:t> structure</a:t>
            </a:r>
            <a:r>
              <a:rPr lang="en-US" dirty="0"/>
              <a:t>, content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733" b="1" dirty="0"/>
              <a:t>Instructions for Generating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Best practices</a:t>
            </a:r>
          </a:p>
          <a:p>
            <a:pPr lvl="0"/>
            <a:r>
              <a:rPr dirty="0"/>
              <a:t>Define the artifact type</a:t>
            </a:r>
          </a:p>
          <a:p>
            <a:pPr lvl="0"/>
            <a:r>
              <a:rPr dirty="0"/>
              <a:t>Specify required sections</a:t>
            </a:r>
          </a:p>
          <a:p>
            <a:pPr lvl="0"/>
            <a:r>
              <a:rPr dirty="0"/>
              <a:t>Provide examples or templates</a:t>
            </a:r>
          </a:p>
          <a:p>
            <a:pPr lvl="0"/>
            <a:r>
              <a:rPr dirty="0"/>
              <a:t>Include acceptance criteria</a:t>
            </a:r>
          </a:p>
          <a:p>
            <a:pPr lvl="0"/>
            <a:r>
              <a:rPr dirty="0"/>
              <a:t>Require the model to restate constraints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b="1" dirty="0"/>
              <a:t>Enforcing Provenance for AI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Provenance requirements</a:t>
            </a:r>
          </a:p>
          <a:p>
            <a:pPr lvl="0"/>
            <a:r>
              <a:rPr dirty="0"/>
              <a:t>Declare:</a:t>
            </a:r>
          </a:p>
          <a:p>
            <a:pPr lvl="1"/>
            <a:r>
              <a:rPr dirty="0"/>
              <a:t>AI involvement</a:t>
            </a:r>
          </a:p>
          <a:p>
            <a:pPr lvl="1"/>
            <a:r>
              <a:rPr dirty="0"/>
              <a:t>Model used</a:t>
            </a:r>
          </a:p>
          <a:p>
            <a:pPr lvl="1"/>
            <a:r>
              <a:rPr dirty="0"/>
              <a:t>Date generated</a:t>
            </a:r>
          </a:p>
          <a:p>
            <a:pPr lvl="1"/>
            <a:r>
              <a:rPr dirty="0"/>
              <a:t>Human reviewer</a:t>
            </a:r>
          </a:p>
          <a:p>
            <a:pPr lvl="0"/>
            <a:r>
              <a:rPr dirty="0"/>
              <a:t>Store provenance in headers</a:t>
            </a:r>
            <a:r>
              <a:rPr lang="en-US" dirty="0"/>
              <a:t>,</a:t>
            </a:r>
            <a:r>
              <a:rPr dirty="0"/>
              <a:t> footers</a:t>
            </a:r>
            <a:r>
              <a:rPr lang="en-US" dirty="0"/>
              <a:t>, or side cars</a:t>
            </a:r>
            <a:endParaRPr dirty="0"/>
          </a:p>
          <a:p>
            <a:pPr lvl="0"/>
            <a:r>
              <a:rPr dirty="0"/>
              <a:t>Track revisions in version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667" b="1" dirty="0"/>
              <a:t>Exercise: Copy </a:t>
            </a:r>
            <a:r>
              <a:rPr lang="en-US" sz="2667" b="1" dirty="0"/>
              <a:t>the Core </a:t>
            </a:r>
            <a:r>
              <a:rPr sz="2667" b="1" dirty="0"/>
              <a:t>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Duration:</a:t>
            </a:r>
            <a:r>
              <a:rPr dirty="0"/>
              <a:t> 10 minutes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Objectives:</a:t>
            </a:r>
            <a:endParaRPr lang="en-US" b="1" dirty="0"/>
          </a:p>
          <a:p>
            <a:r>
              <a:rPr dirty="0"/>
              <a:t> Understand file organization for AI-assisted output policies</a:t>
            </a:r>
            <a:endParaRPr lang="en-US" dirty="0"/>
          </a:p>
          <a:p>
            <a:r>
              <a:rPr dirty="0"/>
              <a:t>Practice copying files between repositories</a:t>
            </a:r>
            <a:endParaRPr lang="en-US" dirty="0"/>
          </a:p>
          <a:p>
            <a:r>
              <a:rPr dirty="0"/>
              <a:t>Ensure compliance with output metadata requirements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b="1" dirty="0"/>
              <a:t>Activities:</a:t>
            </a: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dirty="0"/>
              <a:t>1. Locate </a:t>
            </a:r>
            <a:r>
              <a:rPr dirty="0">
                <a:latin typeface="Courier"/>
              </a:rPr>
              <a:t>.</a:t>
            </a:r>
            <a:r>
              <a:rPr dirty="0" err="1">
                <a:latin typeface="Courier"/>
              </a:rPr>
              <a:t>github</a:t>
            </a:r>
            <a:r>
              <a:rPr dirty="0">
                <a:latin typeface="Courier"/>
              </a:rPr>
              <a:t>/instructions/ai-assisted-output.instructions.md</a:t>
            </a:r>
            <a:r>
              <a:rPr dirty="0"/>
              <a:t> in the AI-Assisted-Software-Development repository </a:t>
            </a:r>
            <a:endParaRPr lang="en-US" dirty="0"/>
          </a:p>
          <a:p>
            <a:pPr marL="0" indent="0">
              <a:buNone/>
            </a:pPr>
            <a:r>
              <a:rPr dirty="0"/>
              <a:t>2. Copy the file into the </a:t>
            </a:r>
            <a:r>
              <a:rPr dirty="0">
                <a:latin typeface="Courier"/>
              </a:rPr>
              <a:t>.</a:t>
            </a:r>
            <a:r>
              <a:rPr dirty="0" err="1">
                <a:latin typeface="Courier"/>
              </a:rPr>
              <a:t>github</a:t>
            </a:r>
            <a:r>
              <a:rPr dirty="0">
                <a:latin typeface="Courier"/>
              </a:rPr>
              <a:t>/instructions</a:t>
            </a:r>
            <a:r>
              <a:rPr dirty="0"/>
              <a:t> folder of the current repository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Copy these files as well: </a:t>
            </a:r>
          </a:p>
          <a:p>
            <a:r>
              <a:rPr lang="en-US" dirty="0"/>
              <a:t>chatmode-file.instructions.md</a:t>
            </a:r>
          </a:p>
          <a:p>
            <a:r>
              <a:rPr lang="en-US" dirty="0"/>
              <a:t>instruction-files.instructions.md</a:t>
            </a:r>
          </a:p>
          <a:p>
            <a:r>
              <a:rPr lang="en-US" dirty="0"/>
              <a:t>instruction-prompt-files.instructions.md</a:t>
            </a:r>
          </a:p>
          <a:p>
            <a:r>
              <a:rPr lang="en-US" dirty="0"/>
              <a:t>prompt-file.instructions.md</a:t>
            </a:r>
          </a:p>
          <a:p>
            <a:pPr marL="0" indent="0">
              <a:buNone/>
            </a:pPr>
            <a:r>
              <a:rPr lang="en-US" dirty="0"/>
              <a:t>4</a:t>
            </a:r>
            <a:r>
              <a:rPr dirty="0"/>
              <a:t>. Verify the copied file</a:t>
            </a:r>
            <a:r>
              <a:rPr lang="en-US" dirty="0"/>
              <a:t>s</a:t>
            </a:r>
            <a:r>
              <a:rPr dirty="0"/>
              <a:t> matches the original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5. Review the instructions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Success Criteria:</a:t>
            </a:r>
            <a:r>
              <a:rPr dirty="0"/>
              <a:t> </a:t>
            </a:r>
            <a:endParaRPr lang="en-US" dirty="0"/>
          </a:p>
          <a:p>
            <a:r>
              <a:rPr dirty="0"/>
              <a:t>The file</a:t>
            </a:r>
            <a:r>
              <a:rPr lang="en-US" dirty="0"/>
              <a:t>s</a:t>
            </a:r>
            <a:r>
              <a:rPr dirty="0"/>
              <a:t> </a:t>
            </a:r>
            <a:r>
              <a:rPr lang="en-US" dirty="0"/>
              <a:t>are</a:t>
            </a:r>
            <a:r>
              <a:rPr dirty="0"/>
              <a:t> present in the current repo</a:t>
            </a:r>
            <a:endParaRPr lang="en-US" dirty="0"/>
          </a:p>
          <a:p>
            <a:r>
              <a:rPr dirty="0"/>
              <a:t>The content matches the source file </a:t>
            </a:r>
            <a:endParaRPr lang="en-US" dirty="0"/>
          </a:p>
          <a:p>
            <a:r>
              <a:rPr dirty="0"/>
              <a:t>No metadata or formatting is lost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D94C3-2834-D821-36B9-71C5CF06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06F1-2223-644B-3548-5A59DF5B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Instructions </a:t>
            </a:r>
            <a:r>
              <a:rPr sz="3200" b="1" dirty="0"/>
              <a:t>for AI </a:t>
            </a:r>
            <a:r>
              <a:rPr lang="en-US" sz="3200" b="1" dirty="0"/>
              <a:t>Generated </a:t>
            </a:r>
            <a:r>
              <a:rPr sz="3200" b="1" dirty="0"/>
              <a:t>Artifacts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3B935-A7F8-4097-EB25-B18EA1FCB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lang="en-US" dirty="0"/>
              <a:t>The one instruction file that rules them all</a:t>
            </a:r>
          </a:p>
          <a:p>
            <a:pPr marL="0" indent="0">
              <a:spcBef>
                <a:spcPts val="40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918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AI-Assisted Output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Ensures provenance and logging for all AI-assisted outputs</a:t>
            </a:r>
          </a:p>
          <a:p>
            <a:pPr lvl="0"/>
            <a:r>
              <a:t>Defines required metadata, logging workflow, and quality gates</a:t>
            </a:r>
          </a:p>
          <a:p>
            <a:pPr lvl="0"/>
            <a:r>
              <a:t>Protects code quality and enables audits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Required Provenance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t>Every AI-assisted artifact must include:</a:t>
            </a:r>
          </a:p>
          <a:p>
            <a:pPr lvl="1"/>
            <a:r>
              <a:t>ai_generated: true</a:t>
            </a:r>
          </a:p>
          <a:p>
            <a:pPr lvl="1"/>
            <a:r>
              <a:t>model: provider/model@version</a:t>
            </a:r>
          </a:p>
          <a:p>
            <a:pPr lvl="1"/>
            <a:r>
              <a:t>operator: username</a:t>
            </a:r>
          </a:p>
          <a:p>
            <a:pPr lvl="1"/>
            <a:r>
              <a:t>chat_id: unique chat identifier</a:t>
            </a:r>
          </a:p>
          <a:p>
            <a:pPr lvl="1"/>
            <a:r>
              <a:t>prompt: exact prompt text</a:t>
            </a:r>
          </a:p>
          <a:p>
            <a:pPr lvl="1"/>
            <a:r>
              <a:t>started/ended: timestamps</a:t>
            </a:r>
          </a:p>
          <a:p>
            <a:pPr lvl="1"/>
            <a:r>
              <a:t>task_durations &amp; total_duration</a:t>
            </a:r>
          </a:p>
          <a:p>
            <a:pPr lvl="1"/>
            <a:r>
              <a:t>ai_log: path to conversation log</a:t>
            </a:r>
          </a:p>
          <a:p>
            <a:pPr lvl="1"/>
            <a:r>
              <a:t>source: who/what created the 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Metadata Placement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Use YAML front matter for Markdown and similar formats</a:t>
            </a:r>
          </a:p>
          <a:p>
            <a:pPr lvl="0"/>
            <a:r>
              <a:t>For binaries/images, use a sidecar </a:t>
            </a:r>
            <a:r>
              <a:rPr>
                <a:latin typeface="Courier"/>
              </a:rPr>
              <a:t>&lt;artifact&gt;.meta.md</a:t>
            </a:r>
          </a:p>
          <a:p>
            <a:pPr lvl="0"/>
            <a:r>
              <a:t>Never use sidecars for Markdown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AI Chat Logging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Each chat creates a unique log folder: </a:t>
            </a:r>
            <a:r>
              <a:rPr>
                <a:latin typeface="Courier"/>
              </a:rPr>
              <a:t>ai-logs/yyyy/mm/dd/&lt;chat-id&gt;/</a:t>
            </a:r>
          </a:p>
          <a:p>
            <a:pPr lvl="0"/>
            <a:r>
              <a:t>Required files:</a:t>
            </a:r>
          </a:p>
          <a:p>
            <a:pPr lvl="1"/>
            <a:r>
              <a:t>conversation.md (full transcript)</a:t>
            </a:r>
          </a:p>
          <a:p>
            <a:pPr lvl="1"/>
            <a:r>
              <a:t>summary.md (objectives, decisions, outcomes)</a:t>
            </a:r>
          </a:p>
          <a:p>
            <a:pPr lvl="1"/>
            <a:r>
              <a:t>artifacts/ (optional)</a:t>
            </a:r>
          </a:p>
          <a:p>
            <a:pPr lvl="0"/>
            <a:r>
              <a:t>Never reuse chat logs between sessions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Quality &amp; PR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Metadata complete and correct</a:t>
            </a:r>
          </a:p>
          <a:p>
            <a:pPr lvl="0"/>
            <a:r>
              <a:t>Conversation and summary logs exist</a:t>
            </a:r>
          </a:p>
          <a:p>
            <a:pPr lvl="0"/>
            <a:r>
              <a:t>README.md updated for notable artifacts</a:t>
            </a:r>
          </a:p>
          <a:p>
            <a:pPr lvl="0"/>
            <a:r>
              <a:t>No sensitive data in outputs</a:t>
            </a:r>
          </a:p>
          <a:p>
            <a:pPr lvl="0"/>
            <a:r>
              <a:t>All AI-generated content traces to a chat log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Copilot Integration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Copilot must auto-manage chat IDs and logs</a:t>
            </a:r>
          </a:p>
          <a:p>
            <a:pPr lvl="0"/>
            <a:r>
              <a:t>Metadata injected automatically</a:t>
            </a:r>
          </a:p>
          <a:p>
            <a:pPr lvl="0"/>
            <a:r>
              <a:t>Block artifact creation if chat context is missing</a:t>
            </a:r>
          </a:p>
          <a:p>
            <a:pPr lvl="0"/>
            <a:r>
              <a:t>Enforce provenance before file creation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Enforcement &amp;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PRs blocked if provenance is incomplete</a:t>
            </a:r>
          </a:p>
          <a:p>
            <a:pPr lvl="0"/>
            <a:r>
              <a:t>Missing logs or metadata must be added before merge</a:t>
            </a:r>
          </a:p>
          <a:p>
            <a:pPr lvl="0"/>
            <a:r>
              <a:t>Orphaned artifacts require reconstruction of logs and metadata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Summary: 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Enables auditability and trust in AI outputs</a:t>
            </a:r>
          </a:p>
          <a:p>
            <a:pPr lvl="0"/>
            <a:r>
              <a:t>Protects against orphaned or unverifiable artifacts</a:t>
            </a:r>
          </a:p>
          <a:p>
            <a:pPr lvl="0"/>
            <a:r>
              <a:t>Supports team collaboration and compliance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5099-8E19-C516-5F96-8DEC8968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Core Instruction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7274C-FAEB-396B-89F0-D602B204C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chatmode-file.instructions.md</a:t>
            </a:r>
          </a:p>
          <a:p>
            <a:pPr lvl="1"/>
            <a:r>
              <a:rPr lang="en-US" dirty="0"/>
              <a:t>Defines the structure and contents of agents</a:t>
            </a:r>
          </a:p>
          <a:p>
            <a:r>
              <a:rPr lang="en-US" dirty="0"/>
              <a:t>instruction-files.instructions.md</a:t>
            </a:r>
          </a:p>
          <a:p>
            <a:pPr lvl="1"/>
            <a:r>
              <a:rPr lang="en-US" dirty="0"/>
              <a:t>Defines the structure and contents of instruction files</a:t>
            </a:r>
          </a:p>
          <a:p>
            <a:r>
              <a:rPr lang="en-US" dirty="0"/>
              <a:t>prompt-file.instructions.md</a:t>
            </a:r>
          </a:p>
          <a:p>
            <a:pPr lvl="1"/>
            <a:r>
              <a:rPr lang="en-US" dirty="0"/>
              <a:t>Defines the structure and contents of prompts</a:t>
            </a:r>
          </a:p>
          <a:p>
            <a:r>
              <a:rPr lang="en-US" dirty="0"/>
              <a:t>instruction-prompt-files.instructions.md</a:t>
            </a:r>
          </a:p>
          <a:p>
            <a:pPr lvl="1"/>
            <a:r>
              <a:rPr lang="en-US" dirty="0"/>
              <a:t>Defines the structure and contents of prompts the create instruction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09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4082-6A83-C8AD-5727-5CAFFC49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4A08D-69F7-4E7B-4D09-683A84C0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Create a Prompt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2728D-7ED4-FB17-A51C-36BAF827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Understand prompt structure</a:t>
            </a:r>
          </a:p>
          <a:p>
            <a:pPr lvl="0"/>
            <a:r>
              <a:rPr dirty="0"/>
              <a:t>Practice defining task intent</a:t>
            </a:r>
          </a:p>
          <a:p>
            <a:pPr lvl="0"/>
            <a:r>
              <a:rPr dirty="0"/>
              <a:t>Apply constraints and success criteria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lang="en-US" dirty="0"/>
              <a:t>Prompt Copilot to create a prompt file that creates an instruction file for evergreen software development</a:t>
            </a:r>
            <a:endParaRPr dirty="0"/>
          </a:p>
          <a:p>
            <a:pPr marL="457189" indent="-457189">
              <a:buAutoNum type="arabicPeriod"/>
            </a:pPr>
            <a:r>
              <a:rPr dirty="0"/>
              <a:t>Review</a:t>
            </a:r>
            <a:r>
              <a:rPr lang="en-US" dirty="0"/>
              <a:t> the prompt</a:t>
            </a:r>
          </a:p>
          <a:p>
            <a:pPr marL="0" indent="0">
              <a:spcBef>
                <a:spcPts val="4000"/>
              </a:spcBef>
              <a:buNone/>
            </a:pPr>
            <a:r>
              <a:rPr lang="en-US" b="1" dirty="0"/>
              <a:t>Success Criteria</a:t>
            </a:r>
          </a:p>
          <a:p>
            <a:pPr lvl="0"/>
            <a:r>
              <a:rPr dirty="0"/>
              <a:t>Prompt is clear, scoped, and reusable</a:t>
            </a:r>
          </a:p>
          <a:p>
            <a:pPr lvl="0"/>
            <a:r>
              <a:rPr dirty="0"/>
              <a:t>Includes constraints and success criteria</a:t>
            </a:r>
          </a:p>
          <a:p>
            <a:pPr lvl="0"/>
            <a:r>
              <a:rPr dirty="0"/>
              <a:t>Avoids unnecessary context</a:t>
            </a:r>
          </a:p>
        </p:txBody>
      </p:sp>
    </p:spTree>
    <p:extLst>
      <p:ext uri="{BB962C8B-B14F-4D97-AF65-F5344CB8AC3E}">
        <p14:creationId xmlns:p14="http://schemas.microsoft.com/office/powerpoint/2010/main" val="1697612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Create an Instruction File for Evergreen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15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Capture evergreen principles</a:t>
            </a:r>
          </a:p>
          <a:p>
            <a:pPr lvl="0"/>
            <a:r>
              <a:rPr dirty="0"/>
              <a:t>Define architectural boundaries</a:t>
            </a:r>
          </a:p>
          <a:p>
            <a:pPr lvl="0"/>
            <a:r>
              <a:rPr dirty="0"/>
              <a:t>Specify modernization rules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lang="en-US" dirty="0"/>
              <a:t>Submit the Evergreen Instructions prompt</a:t>
            </a:r>
            <a:endParaRPr dirty="0"/>
          </a:p>
          <a:p>
            <a:pPr marL="457189" indent="-457189">
              <a:buAutoNum type="arabicPeriod"/>
            </a:pPr>
            <a:r>
              <a:rPr lang="en-US" dirty="0"/>
              <a:t>Review the instructions</a:t>
            </a:r>
            <a:endParaRPr dirty="0"/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Instruction file is stable and reusable</a:t>
            </a:r>
          </a:p>
          <a:p>
            <a:pPr lvl="0"/>
            <a:r>
              <a:rPr dirty="0"/>
              <a:t>Reflects evergreen development values</a:t>
            </a:r>
          </a:p>
          <a:p>
            <a:pPr lvl="0"/>
            <a:r>
              <a:rPr dirty="0"/>
              <a:t>Provides clear guardrails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Exercise: Create a</a:t>
            </a:r>
            <a:r>
              <a:rPr lang="en-US" b="1" dirty="0"/>
              <a:t>n</a:t>
            </a:r>
            <a:r>
              <a:rPr b="1" dirty="0"/>
              <a:t> </a:t>
            </a:r>
            <a:r>
              <a:rPr lang="en-US" b="1" dirty="0"/>
              <a:t>Agent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Define a persona optimized for brownfield work</a:t>
            </a:r>
          </a:p>
          <a:p>
            <a:pPr lvl="0"/>
            <a:r>
              <a:rPr dirty="0"/>
              <a:t>Emphasize safety and incrementalism</a:t>
            </a:r>
          </a:p>
          <a:p>
            <a:pPr lvl="0"/>
            <a:r>
              <a:rPr dirty="0"/>
              <a:t>Encode risk‑aware behaviors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Draft a </a:t>
            </a:r>
            <a:r>
              <a:rPr lang="en-US" dirty="0"/>
              <a:t>Agent</a:t>
            </a:r>
            <a:r>
              <a:rPr dirty="0"/>
              <a:t> that:</a:t>
            </a:r>
          </a:p>
          <a:p>
            <a:pPr lvl="1"/>
            <a:r>
              <a:rPr dirty="0"/>
              <a:t>Respects working systems</a:t>
            </a:r>
          </a:p>
          <a:p>
            <a:pPr lvl="1"/>
            <a:r>
              <a:rPr dirty="0"/>
              <a:t>Avoids risky rewrites</a:t>
            </a:r>
          </a:p>
          <a:p>
            <a:pPr lvl="1"/>
            <a:r>
              <a:rPr dirty="0"/>
              <a:t>Surfaces context gaps</a:t>
            </a:r>
          </a:p>
          <a:p>
            <a:pPr lvl="1"/>
            <a:r>
              <a:rPr dirty="0"/>
              <a:t>Encourages incremental changes</a:t>
            </a:r>
          </a:p>
          <a:p>
            <a:pPr marL="457189" indent="-457189">
              <a:buAutoNum type="arabicPeriod"/>
            </a:pPr>
            <a:r>
              <a:rPr dirty="0"/>
              <a:t>Add tone and behavioral guidelines</a:t>
            </a:r>
          </a:p>
          <a:p>
            <a:pPr marL="457189" indent="-457189">
              <a:buAutoNum type="arabicPeriod"/>
            </a:pPr>
            <a:r>
              <a:rPr dirty="0"/>
              <a:t>Add provenance metadata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lang="en-US" dirty="0"/>
              <a:t>Agent</a:t>
            </a:r>
            <a:r>
              <a:rPr dirty="0"/>
              <a:t> behaves like a cautious senior engineer</a:t>
            </a:r>
          </a:p>
          <a:p>
            <a:pPr lvl="0"/>
            <a:r>
              <a:rPr dirty="0"/>
              <a:t>Encourages safe modernization</a:t>
            </a:r>
          </a:p>
          <a:p>
            <a:pPr lvl="0"/>
            <a:r>
              <a:rPr dirty="0"/>
              <a:t>Includes clear behavioral rules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733" b="1" dirty="0"/>
              <a:t>Exercise: Generate Instruction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20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Use meta prompts to scale instruction‑file creation</a:t>
            </a:r>
          </a:p>
          <a:p>
            <a:pPr lvl="0"/>
            <a:r>
              <a:rPr dirty="0"/>
              <a:t>Capture module‑specific rules</a:t>
            </a:r>
          </a:p>
          <a:p>
            <a:pPr lvl="0"/>
            <a:r>
              <a:rPr dirty="0"/>
              <a:t>Encode domain and architectural constraints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lang="en-US" dirty="0"/>
              <a:t>Prompt Copilot to create instruction files for the standards and conventions of the tech stack</a:t>
            </a:r>
            <a:endParaRPr dirty="0"/>
          </a:p>
          <a:p>
            <a:pPr marL="457189" indent="-457189">
              <a:buAutoNum type="arabicPeriod"/>
            </a:pPr>
            <a:r>
              <a:rPr lang="en-US" dirty="0"/>
              <a:t>Review instructions</a:t>
            </a:r>
            <a:endParaRPr dirty="0"/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Instruction files reflect real system constraints</a:t>
            </a:r>
          </a:p>
          <a:p>
            <a:pPr lvl="0"/>
            <a:r>
              <a:rPr dirty="0"/>
              <a:t>Meta prompts produce consistent structure</a:t>
            </a:r>
          </a:p>
          <a:p>
            <a:pPr lvl="0"/>
            <a:r>
              <a:rPr dirty="0"/>
              <a:t>Files are ready for team use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Exercise: Context‑Related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Identify missing context</a:t>
            </a:r>
          </a:p>
          <a:p>
            <a:pPr lvl="0"/>
            <a:r>
              <a:rPr dirty="0"/>
              <a:t>Detect token overflow risks</a:t>
            </a:r>
          </a:p>
          <a:p>
            <a:pPr lvl="0"/>
            <a:r>
              <a:rPr dirty="0"/>
              <a:t>Improve prompt scoping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endParaRPr lang="en-US" dirty="0"/>
          </a:p>
          <a:p>
            <a:pPr marL="457189" indent="-457189">
              <a:buAutoNum type="arabicPeriod"/>
            </a:pPr>
            <a:r>
              <a:rPr lang="en-US" dirty="0"/>
              <a:t>Copy the check-context.prompt.md file from the AIASD repository</a:t>
            </a:r>
          </a:p>
          <a:p>
            <a:pPr marL="457189" indent="-457189">
              <a:buAutoNum type="arabicPeriod"/>
            </a:pPr>
            <a:r>
              <a:rPr dirty="0"/>
              <a:t>Review </a:t>
            </a:r>
            <a:r>
              <a:rPr lang="en-US" dirty="0"/>
              <a:t>the </a:t>
            </a:r>
            <a:r>
              <a:rPr dirty="0"/>
              <a:t>prompt</a:t>
            </a:r>
          </a:p>
          <a:p>
            <a:pPr marL="457189" indent="-457189">
              <a:buAutoNum type="arabicPeriod"/>
            </a:pPr>
            <a:r>
              <a:rPr lang="en-US" dirty="0"/>
              <a:t>Submit the prompt</a:t>
            </a:r>
            <a:endParaRPr dirty="0"/>
          </a:p>
          <a:p>
            <a:pPr marL="457189" indent="-457189">
              <a:buAutoNum type="arabicPeriod"/>
            </a:pPr>
            <a:r>
              <a:rPr lang="en-US" dirty="0"/>
              <a:t>Review the output</a:t>
            </a:r>
            <a:endParaRPr dirty="0"/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lang="en-US" dirty="0"/>
              <a:t>C</a:t>
            </a:r>
            <a:r>
              <a:rPr dirty="0"/>
              <a:t>orrectly identif</a:t>
            </a:r>
            <a:r>
              <a:rPr lang="en-US" dirty="0"/>
              <a:t>ied</a:t>
            </a:r>
            <a:r>
              <a:rPr dirty="0"/>
              <a:t> context gaps</a:t>
            </a:r>
          </a:p>
          <a:p>
            <a:pPr lvl="0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1678</Words>
  <Application>Microsoft Office PowerPoint</Application>
  <PresentationFormat>Widescreen</PresentationFormat>
  <Paragraphs>286</Paragraphs>
  <Slides>22</Slides>
  <Notes>21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Courier</vt:lpstr>
      <vt:lpstr>Office Theme</vt:lpstr>
      <vt:lpstr>Adding AI Guardrails</vt:lpstr>
      <vt:lpstr>Instructions, Prompts &amp; Agents</vt:lpstr>
      <vt:lpstr>Creating Instruction, Prompt &amp; Agent Files</vt:lpstr>
      <vt:lpstr>Meta Prompts</vt:lpstr>
      <vt:lpstr>Instructions for Generating Artifacts</vt:lpstr>
      <vt:lpstr>Enforcing Provenance for AI Artifacts</vt:lpstr>
      <vt:lpstr>Exercise: Copy the Core Instructions</vt:lpstr>
      <vt:lpstr>Instructions for AI Generated Artifacts</vt:lpstr>
      <vt:lpstr>AI-Assisted Output Instructions</vt:lpstr>
      <vt:lpstr>Required Provenance Metadata</vt:lpstr>
      <vt:lpstr>Metadata Placement Policy</vt:lpstr>
      <vt:lpstr>AI Chat Logging Workflow</vt:lpstr>
      <vt:lpstr>Quality &amp; PR Checklist</vt:lpstr>
      <vt:lpstr>Copilot Integration Requirements</vt:lpstr>
      <vt:lpstr>Enforcement &amp; Remediation</vt:lpstr>
      <vt:lpstr>Summary: Why This Matters</vt:lpstr>
      <vt:lpstr>Core Instruction files</vt:lpstr>
      <vt:lpstr>Exercise: Create a Prompt File</vt:lpstr>
      <vt:lpstr>Exercise: Create an Instruction File for Evergreen Development</vt:lpstr>
      <vt:lpstr>Exercise: Create an Agent</vt:lpstr>
      <vt:lpstr>Exercise: Generate Instruction Files</vt:lpstr>
      <vt:lpstr>Exercise: Context‑Related Issues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2026-03-05T20:52:43Z</dcterms:created>
  <dcterms:modified xsi:type="dcterms:W3CDTF">2026-03-05T20:54:02Z</dcterms:modified>
</cp:coreProperties>
</file>