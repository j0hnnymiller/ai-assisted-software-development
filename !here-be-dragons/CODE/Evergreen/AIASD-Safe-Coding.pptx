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notesMaster" Target="notesMasters/notesMaster1.xml" /><Relationship Id="rId11" Type="http://schemas.openxmlformats.org/officeDocument/2006/relationships/viewProps" Target="viewProps.xml" /><Relationship Id="rId10" Type="http://schemas.openxmlformats.org/officeDocument/2006/relationships/presProps" Target="presProps.xml" /><Relationship Id="rId1" Type="http://schemas.openxmlformats.org/officeDocument/2006/relationships/slideMaster" Target="slideMasters/slideMaster1.xml" /><Relationship Id="rId13" Type="http://schemas.openxmlformats.org/officeDocument/2006/relationships/tableStyles" Target="tableStyles.xml" /><Relationship Id="rId12"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Introduce this module as a practical guide to modifying brownfield systems safely. Emphasize that the goal is not speed — it’s controlled, observable, reversible change. Feature flags, test suites, and production‑safe practices form the backbone of safe modernization.</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Feature flags are one of the most powerful tools for brownfield modernization. They allow teams to introduce changes gradually, observe behavior, and roll back instantly if needed. Stress that flags must be managed intentionally to avoid long‑term complexity.</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Explain that As‑Is tests freeze the current system’s behavior, while To‑Be tests define the target state. This dual‑suite approach allows teams to modernize safely without losing critical legacy behavior.</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Testing in production is not reckless when done correctly. With feature flags, observability, and controlled exposure, teams can validate changes under real conditions while minimizing risk.</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Feature flags are temporary scaffolding. If not retired, they become technical debt. Encourage teams to treat flag retirement as a first‑class engineering task.</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Encourage participants to choose a real module from their brownfield system. The goal is to practice safe, reversible change — not to implement a large feature. Reinforce that feature flags are scaffolding, not permanent architecture.</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Safe Brownfield Code Modification</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Safe Brownfield Code Modification</a:t>
            </a:r>
          </a:p>
        </p:txBody>
      </p:sp>
      <p:sp>
        <p:nvSpPr>
          <p:cNvPr id="3" name="Content Placeholder 2"/>
          <p:cNvSpPr>
            <a:spLocks noGrp="1"/>
          </p:cNvSpPr>
          <p:nvPr>
            <p:ph idx="1"/>
          </p:nvPr>
        </p:nvSpPr>
        <p:spPr/>
        <p:txBody>
          <a:bodyPr/>
          <a:lstStyle/>
          <a:p>
            <a:pPr lvl="0"/>
            <a:r>
              <a:rPr/>
              <a:t>Using feature flags to minimize risk</a:t>
            </a:r>
          </a:p>
          <a:p>
            <a:pPr lvl="0"/>
            <a:r>
              <a:rPr/>
              <a:t>As‑Is and To‑Be test suites</a:t>
            </a:r>
          </a:p>
          <a:p>
            <a:pPr lvl="0"/>
            <a:r>
              <a:rPr/>
              <a:t>Testing in production</a:t>
            </a:r>
          </a:p>
          <a:p>
            <a:pPr lvl="0"/>
            <a:r>
              <a:rPr/>
              <a:t>Retiring feature flags</a:t>
            </a:r>
          </a:p>
          <a:p>
            <a:pPr lvl="0"/>
            <a:r>
              <a:rPr/>
              <a:t>Exercise: Implementing a feature flag</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Using Feature Flags to Minimize Risk</a:t>
            </a:r>
          </a:p>
        </p:txBody>
      </p:sp>
      <p:sp>
        <p:nvSpPr>
          <p:cNvPr id="3" name="Content Placeholder 2"/>
          <p:cNvSpPr>
            <a:spLocks noGrp="1"/>
          </p:cNvSpPr>
          <p:nvPr>
            <p:ph idx="1"/>
          </p:nvPr>
        </p:nvSpPr>
        <p:spPr/>
        <p:txBody>
          <a:bodyPr/>
          <a:lstStyle/>
          <a:p>
            <a:pPr lvl="0" indent="0" marL="0">
              <a:spcBef>
                <a:spcPts val="3000"/>
              </a:spcBef>
              <a:buNone/>
            </a:pPr>
            <a:r>
              <a:rPr b="1"/>
              <a:t>Why feature flags matter</a:t>
            </a:r>
          </a:p>
          <a:p>
            <a:pPr lvl="0"/>
            <a:r>
              <a:rPr/>
              <a:t>Enable incremental rollout</a:t>
            </a:r>
          </a:p>
          <a:p>
            <a:pPr lvl="0"/>
            <a:r>
              <a:rPr/>
              <a:t>Allow instant rollback</a:t>
            </a:r>
          </a:p>
          <a:p>
            <a:pPr lvl="0"/>
            <a:r>
              <a:rPr/>
              <a:t>Reduce blast radius</a:t>
            </a:r>
          </a:p>
          <a:p>
            <a:pPr lvl="0"/>
            <a:r>
              <a:rPr/>
              <a:t>Support A/B testing and shadow traffic</a:t>
            </a:r>
          </a:p>
          <a:p>
            <a:pPr lvl="0"/>
            <a:r>
              <a:rPr/>
              <a:t>Decouple deployment from release</a:t>
            </a:r>
          </a:p>
          <a:p>
            <a:pPr lvl="0" indent="0" marL="0">
              <a:spcBef>
                <a:spcPts val="3000"/>
              </a:spcBef>
              <a:buNone/>
            </a:pPr>
            <a:r>
              <a:rPr b="1"/>
              <a:t>Best practices</a:t>
            </a:r>
          </a:p>
          <a:p>
            <a:pPr lvl="0"/>
            <a:r>
              <a:rPr/>
              <a:t>Keep flags short‑lived</a:t>
            </a:r>
          </a:p>
          <a:p>
            <a:pPr lvl="0"/>
            <a:r>
              <a:rPr/>
              <a:t>Name flags clearly</a:t>
            </a:r>
          </a:p>
          <a:p>
            <a:pPr lvl="0"/>
            <a:r>
              <a:rPr/>
              <a:t>Document intent and retirement criteria</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As‑Is and To‑Be Test Suites</a:t>
            </a:r>
          </a:p>
        </p:txBody>
      </p:sp>
      <p:sp>
        <p:nvSpPr>
          <p:cNvPr id="3" name="Content Placeholder 2"/>
          <p:cNvSpPr>
            <a:spLocks noGrp="1"/>
          </p:cNvSpPr>
          <p:nvPr>
            <p:ph idx="1"/>
          </p:nvPr>
        </p:nvSpPr>
        <p:spPr/>
        <p:txBody>
          <a:bodyPr/>
          <a:lstStyle/>
          <a:p>
            <a:pPr lvl="0" indent="0" marL="0">
              <a:spcBef>
                <a:spcPts val="3000"/>
              </a:spcBef>
              <a:buNone/>
            </a:pPr>
            <a:r>
              <a:rPr b="1"/>
              <a:t>As‑Is tests</a:t>
            </a:r>
          </a:p>
          <a:p>
            <a:pPr lvl="0"/>
            <a:r>
              <a:rPr/>
              <a:t>Capture current behavior</a:t>
            </a:r>
          </a:p>
          <a:p>
            <a:pPr lvl="0"/>
            <a:r>
              <a:rPr/>
              <a:t>Protect against regressions</a:t>
            </a:r>
          </a:p>
          <a:p>
            <a:pPr lvl="0"/>
            <a:r>
              <a:rPr/>
              <a:t>Document legacy expectations</a:t>
            </a:r>
          </a:p>
          <a:p>
            <a:pPr lvl="0" indent="0" marL="0">
              <a:spcBef>
                <a:spcPts val="3000"/>
              </a:spcBef>
              <a:buNone/>
            </a:pPr>
            <a:r>
              <a:rPr b="1"/>
              <a:t>To‑Be tests</a:t>
            </a:r>
          </a:p>
          <a:p>
            <a:pPr lvl="0"/>
            <a:r>
              <a:rPr/>
              <a:t>Define desired future behavior</a:t>
            </a:r>
          </a:p>
          <a:p>
            <a:pPr lvl="0"/>
            <a:r>
              <a:rPr/>
              <a:t>Guide modernization</a:t>
            </a:r>
          </a:p>
          <a:p>
            <a:pPr lvl="0"/>
            <a:r>
              <a:rPr/>
              <a:t>Validate new patterns and architecture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Testing in Production</a:t>
            </a:r>
          </a:p>
        </p:txBody>
      </p:sp>
      <p:sp>
        <p:nvSpPr>
          <p:cNvPr id="3" name="Content Placeholder 2"/>
          <p:cNvSpPr>
            <a:spLocks noGrp="1"/>
          </p:cNvSpPr>
          <p:nvPr>
            <p:ph idx="1"/>
          </p:nvPr>
        </p:nvSpPr>
        <p:spPr/>
        <p:txBody>
          <a:bodyPr/>
          <a:lstStyle/>
          <a:p>
            <a:pPr lvl="0" indent="0" marL="0">
              <a:spcBef>
                <a:spcPts val="3000"/>
              </a:spcBef>
              <a:buNone/>
            </a:pPr>
            <a:r>
              <a:rPr b="1"/>
              <a:t>Safe production testing techniques</a:t>
            </a:r>
          </a:p>
          <a:p>
            <a:pPr lvl="0"/>
            <a:r>
              <a:rPr/>
              <a:t>Feature‑flag‑controlled exposure</a:t>
            </a:r>
          </a:p>
          <a:p>
            <a:pPr lvl="0"/>
            <a:r>
              <a:rPr/>
              <a:t>Shadow traffic</a:t>
            </a:r>
          </a:p>
          <a:p>
            <a:pPr lvl="0"/>
            <a:r>
              <a:rPr/>
              <a:t>Canary releases</a:t>
            </a:r>
          </a:p>
          <a:p>
            <a:pPr lvl="0"/>
            <a:r>
              <a:rPr/>
              <a:t>Observability dashboards</a:t>
            </a:r>
          </a:p>
          <a:p>
            <a:pPr lvl="0"/>
            <a:r>
              <a:rPr/>
              <a:t>Error‑budget‑based rollout</a:t>
            </a:r>
          </a:p>
          <a:p>
            <a:pPr lvl="0" indent="0" marL="0">
              <a:spcBef>
                <a:spcPts val="3000"/>
              </a:spcBef>
              <a:buNone/>
            </a:pPr>
            <a:r>
              <a:rPr b="1"/>
              <a:t>Benefits</a:t>
            </a:r>
          </a:p>
          <a:p>
            <a:pPr lvl="0"/>
            <a:r>
              <a:rPr/>
              <a:t>Real‑world validation</a:t>
            </a:r>
          </a:p>
          <a:p>
            <a:pPr lvl="0"/>
            <a:r>
              <a:rPr/>
              <a:t>Early detection of edge cases</a:t>
            </a:r>
          </a:p>
          <a:p>
            <a:pPr lvl="0"/>
            <a:r>
              <a:rPr/>
              <a:t>Reduced risk of full‑scale failures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Retiring Feature Flags</a:t>
            </a:r>
          </a:p>
        </p:txBody>
      </p:sp>
      <p:sp>
        <p:nvSpPr>
          <p:cNvPr id="3" name="Content Placeholder 2"/>
          <p:cNvSpPr>
            <a:spLocks noGrp="1"/>
          </p:cNvSpPr>
          <p:nvPr>
            <p:ph idx="1"/>
          </p:nvPr>
        </p:nvSpPr>
        <p:spPr/>
        <p:txBody>
          <a:bodyPr/>
          <a:lstStyle/>
          <a:p>
            <a:pPr lvl="0" indent="0" marL="0">
              <a:spcBef>
                <a:spcPts val="3000"/>
              </a:spcBef>
              <a:buNone/>
            </a:pPr>
            <a:r>
              <a:rPr b="1"/>
              <a:t>Why retirement matters</a:t>
            </a:r>
          </a:p>
          <a:p>
            <a:pPr lvl="0"/>
            <a:r>
              <a:rPr/>
              <a:t>Prevents flag bloat</a:t>
            </a:r>
          </a:p>
          <a:p>
            <a:pPr lvl="0"/>
            <a:r>
              <a:rPr/>
              <a:t>Reduces cognitive load</a:t>
            </a:r>
          </a:p>
          <a:p>
            <a:pPr lvl="0"/>
            <a:r>
              <a:rPr/>
              <a:t>Simplifies code paths</a:t>
            </a:r>
          </a:p>
          <a:p>
            <a:pPr lvl="0"/>
            <a:r>
              <a:rPr/>
              <a:t>Ensures long‑term maintainability</a:t>
            </a:r>
          </a:p>
          <a:p>
            <a:pPr lvl="0" indent="0" marL="0">
              <a:spcBef>
                <a:spcPts val="3000"/>
              </a:spcBef>
              <a:buNone/>
            </a:pPr>
            <a:r>
              <a:rPr b="1"/>
              <a:t>Retirement workflow</a:t>
            </a:r>
          </a:p>
          <a:p>
            <a:pPr lvl="0"/>
            <a:r>
              <a:rPr/>
              <a:t>Validate stability</a:t>
            </a:r>
          </a:p>
          <a:p>
            <a:pPr lvl="0"/>
            <a:r>
              <a:rPr/>
              <a:t>Remove old code paths</a:t>
            </a:r>
          </a:p>
          <a:p>
            <a:pPr lvl="0"/>
            <a:r>
              <a:rPr/>
              <a:t>Update documentation</a:t>
            </a:r>
          </a:p>
          <a:p>
            <a:pPr lvl="0"/>
            <a:r>
              <a:rPr/>
              <a:t>Add provenance to the change</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Exercise: Implementing a Feature Flag</a:t>
            </a:r>
          </a:p>
        </p:txBody>
      </p:sp>
      <p:sp>
        <p:nvSpPr>
          <p:cNvPr id="3" name="Content Placeholder 2"/>
          <p:cNvSpPr>
            <a:spLocks noGrp="1"/>
          </p:cNvSpPr>
          <p:nvPr>
            <p:ph idx="1"/>
          </p:nvPr>
        </p:nvSpPr>
        <p:spPr/>
        <p:txBody>
          <a:bodyPr/>
          <a:lstStyle/>
          <a:p>
            <a:pPr lvl="0" indent="0" marL="0">
              <a:spcBef>
                <a:spcPts val="3000"/>
              </a:spcBef>
              <a:buNone/>
            </a:pPr>
            <a:r>
              <a:rPr b="1"/>
              <a:t>Duration</a:t>
            </a:r>
          </a:p>
          <a:p>
            <a:pPr lvl="0" indent="0" marL="0">
              <a:buNone/>
            </a:pPr>
            <a:r>
              <a:rPr/>
              <a:t>20 minutes</a:t>
            </a:r>
          </a:p>
          <a:p>
            <a:pPr lvl="0" indent="0" marL="0">
              <a:spcBef>
                <a:spcPts val="3000"/>
              </a:spcBef>
              <a:buNone/>
            </a:pPr>
            <a:r>
              <a:rPr b="1"/>
              <a:t>Objectives</a:t>
            </a:r>
          </a:p>
          <a:p>
            <a:pPr lvl="0"/>
            <a:r>
              <a:rPr/>
              <a:t>Learn how to introduce a safe, reversible change</a:t>
            </a:r>
          </a:p>
          <a:p>
            <a:pPr lvl="0"/>
            <a:r>
              <a:rPr/>
              <a:t>Practice designing a feature flag workflow</a:t>
            </a:r>
          </a:p>
          <a:p>
            <a:pPr lvl="0"/>
            <a:r>
              <a:rPr/>
              <a:t>Understand As‑Is and To‑Be test implications</a:t>
            </a:r>
          </a:p>
          <a:p>
            <a:pPr lvl="0"/>
            <a:r>
              <a:rPr/>
              <a:t>Document rollout and retirement criteria</a:t>
            </a:r>
          </a:p>
          <a:p>
            <a:pPr lvl="0" indent="0" marL="0">
              <a:spcBef>
                <a:spcPts val="3000"/>
              </a:spcBef>
              <a:buNone/>
            </a:pPr>
            <a:r>
              <a:rPr b="1"/>
              <a:t>Activities</a:t>
            </a:r>
          </a:p>
          <a:p>
            <a:pPr lvl="0" indent="-342900" marL="342900">
              <a:buAutoNum type="arabicPeriod"/>
            </a:pPr>
            <a:r>
              <a:rPr/>
              <a:t>Select a small brownfield function or module.</a:t>
            </a:r>
          </a:p>
          <a:p>
            <a:pPr lvl="0" indent="-342900" marL="342900">
              <a:buAutoNum type="arabicPeriod"/>
            </a:pPr>
            <a:r>
              <a:rPr/>
              <a:t>Identify a safe, incremental change to introduce.</a:t>
            </a:r>
          </a:p>
          <a:p>
            <a:pPr lvl="0" indent="-342900" marL="342900">
              <a:buAutoNum type="arabicPeriod"/>
            </a:pPr>
            <a:r>
              <a:rPr/>
              <a:t>Design a feature flag with:</a:t>
            </a:r>
          </a:p>
          <a:p>
            <a:pPr lvl="1"/>
            <a:r>
              <a:rPr/>
              <a:t>Name</a:t>
            </a:r>
          </a:p>
          <a:p>
            <a:pPr lvl="1"/>
            <a:r>
              <a:rPr/>
              <a:t>Description</a:t>
            </a:r>
          </a:p>
          <a:p>
            <a:pPr lvl="1"/>
            <a:r>
              <a:rPr/>
              <a:t>Rollout plan</a:t>
            </a:r>
          </a:p>
          <a:p>
            <a:pPr lvl="1"/>
            <a:r>
              <a:rPr/>
              <a:t>Rollback plan</a:t>
            </a:r>
          </a:p>
          <a:p>
            <a:pPr lvl="1"/>
            <a:r>
              <a:rPr/>
              <a:t>Retirement criteria</a:t>
            </a:r>
          </a:p>
          <a:p>
            <a:pPr lvl="0" indent="-342900" marL="342900">
              <a:buAutoNum type="arabicPeriod"/>
            </a:pPr>
            <a:r>
              <a:rPr/>
              <a:t>Write As‑Is and To‑Be test cases.</a:t>
            </a:r>
          </a:p>
          <a:p>
            <a:pPr lvl="0" indent="-342900" marL="342900">
              <a:buAutoNum type="arabicPeriod"/>
            </a:pPr>
            <a:r>
              <a:rPr/>
              <a:t>Document the change with provenance metadata.</a:t>
            </a:r>
          </a:p>
          <a:p>
            <a:pPr lvl="0" indent="0" marL="0">
              <a:spcBef>
                <a:spcPts val="3000"/>
              </a:spcBef>
              <a:buNone/>
            </a:pPr>
            <a:r>
              <a:rPr b="1"/>
              <a:t>Success Criteria</a:t>
            </a:r>
          </a:p>
          <a:p>
            <a:pPr lvl="0"/>
            <a:r>
              <a:rPr/>
              <a:t>Feature flag is clearly defined and scoped</a:t>
            </a:r>
          </a:p>
          <a:p>
            <a:pPr lvl="0"/>
            <a:r>
              <a:rPr/>
              <a:t>Rollout and rollback plans are explicit</a:t>
            </a:r>
          </a:p>
          <a:p>
            <a:pPr lvl="0"/>
            <a:r>
              <a:rPr/>
              <a:t>As‑Is and To‑Be tests are correct and meaningful</a:t>
            </a:r>
          </a:p>
          <a:p>
            <a:pPr lvl="0"/>
            <a:r>
              <a:rPr/>
              <a:t>Retirement criteria are documented</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Safe Brownfield Code Modification</dc:title>
  <dc:creator/>
  <cp:keywords/>
  <dcterms:created xsi:type="dcterms:W3CDTF">2026-02-04T20:59:45Z</dcterms:created>
  <dcterms:modified xsi:type="dcterms:W3CDTF">2026-02-04T20:59:45Z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arp">
    <vt:lpwstr>True</vt:lpwstr>
  </property>
  <property fmtid="{D5CDD505-2E9C-101B-9397-08002B2CF9AE}" pid="3" name="paginate">
    <vt:lpwstr>True</vt:lpwstr>
  </property>
  <property fmtid="{D5CDD505-2E9C-101B-9397-08002B2CF9AE}" pid="4" name="theme">
    <vt:lpwstr>default</vt:lpwstr>
  </property>
</Properties>
</file>