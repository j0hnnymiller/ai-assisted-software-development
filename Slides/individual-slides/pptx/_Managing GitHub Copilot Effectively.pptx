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73" r:id="rId2"/>
    <p:sldId id="374" r:id="rId3"/>
    <p:sldId id="375" r:id="rId4"/>
    <p:sldId id="376" r:id="rId5"/>
    <p:sldId id="3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E833F5-AFA3-4624-A8D1-ADC1767C47C3}">
          <p14:sldIdLst/>
        </p14:section>
        <p14:section name="Managing Copilot Effectively" id="{7635A9DB-2DBF-4AF5-AE24-1438E13FE543}">
          <p14:sldIdLst>
            <p14:sldId id="373"/>
            <p14:sldId id="374"/>
            <p14:sldId id="375"/>
            <p14:sldId id="376"/>
            <p14:sldId id="3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293D9-2696-4942-A523-000AAB10C0C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AC742-A27D-42E6-999C-EE673B389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70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frames Copilot as a tool that amplifies engineering discipline rather than replacing it. </a:t>
            </a:r>
          </a:p>
          <a:p>
            <a:endParaRPr lang="en-US" dirty="0"/>
          </a:p>
          <a:p>
            <a:r>
              <a:rPr lang="en-US" dirty="0"/>
              <a:t>The message is: Copilot is not magic. </a:t>
            </a:r>
          </a:p>
          <a:p>
            <a:endParaRPr lang="en-US" dirty="0"/>
          </a:p>
          <a:p>
            <a:r>
              <a:rPr lang="en-US" dirty="0"/>
              <a:t>It’s a reasoning engine that responds to structure, clarity, and context. </a:t>
            </a:r>
          </a:p>
          <a:p>
            <a:endParaRPr lang="en-US" dirty="0"/>
          </a:p>
          <a:p>
            <a:r>
              <a:rPr lang="en-US" dirty="0"/>
              <a:t>When managed well, it becomes a force multiplier. </a:t>
            </a:r>
          </a:p>
          <a:p>
            <a:endParaRPr lang="en-US" dirty="0"/>
          </a:p>
          <a:p>
            <a:r>
              <a:rPr lang="en-US" dirty="0"/>
              <a:t>When unmanaged, it becomes unpredictable.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6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analogy resonates with engineering teams. </a:t>
            </a:r>
          </a:p>
          <a:p>
            <a:endParaRPr lang="en-US" dirty="0"/>
          </a:p>
          <a:p>
            <a:r>
              <a:rPr lang="en-US" dirty="0"/>
              <a:t>Copilot behaves like a junior developer: capable, but lacking context and judgment. </a:t>
            </a:r>
          </a:p>
          <a:p>
            <a:endParaRPr lang="en-US" dirty="0"/>
          </a:p>
          <a:p>
            <a:r>
              <a:rPr lang="en-US" dirty="0"/>
              <a:t>It thrives when you give it structure and feedback. </a:t>
            </a:r>
          </a:p>
          <a:p>
            <a:endParaRPr lang="en-US" dirty="0"/>
          </a:p>
          <a:p>
            <a:r>
              <a:rPr lang="en-US" dirty="0"/>
              <a:t>It struggles when you ask it to “just figure it out.” </a:t>
            </a:r>
          </a:p>
          <a:p>
            <a:endParaRPr lang="en-US" dirty="0"/>
          </a:p>
          <a:p>
            <a:r>
              <a:rPr lang="en-US" dirty="0"/>
              <a:t>The more intentional your guidance, the more reliable its output becomes.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16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windows are invisible but critical. </a:t>
            </a:r>
          </a:p>
          <a:p>
            <a:endParaRPr lang="en-US" dirty="0"/>
          </a:p>
          <a:p>
            <a:r>
              <a:rPr lang="en-US" dirty="0"/>
              <a:t>When Copilot misses requirements or contradicts earlier decisions, it’s often because the relevant information fell outside its context window. </a:t>
            </a:r>
          </a:p>
          <a:p>
            <a:endParaRPr lang="en-US" dirty="0"/>
          </a:p>
          <a:p>
            <a:r>
              <a:rPr lang="en-US" dirty="0"/>
              <a:t>The solution is not to “prompt harder” – it’s to structure the environment so the model always has the right information in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86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Prompting is not about clever phrasing – it’s about clarity. </a:t>
            </a:r>
          </a:p>
          <a:p>
            <a:endParaRPr lang="en-US" dirty="0"/>
          </a:p>
          <a:p>
            <a:r>
              <a:rPr lang="en-US" dirty="0"/>
              <a:t>Copilot performs best when you define intent, boundaries, and examples. </a:t>
            </a:r>
          </a:p>
          <a:p>
            <a:endParaRPr lang="en-US" dirty="0"/>
          </a:p>
          <a:p>
            <a:r>
              <a:rPr lang="en-US" dirty="0"/>
              <a:t>Instruction files are especially powerful because they give Copilot a persistent “north star” for your codebase. </a:t>
            </a:r>
          </a:p>
          <a:p>
            <a:endParaRPr lang="en-US" dirty="0"/>
          </a:p>
          <a:p>
            <a:r>
              <a:rPr lang="en-US" dirty="0"/>
              <a:t>Think of prompts as design briefs, not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74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selection is a strategic decision. </a:t>
            </a:r>
          </a:p>
          <a:p>
            <a:endParaRPr lang="en-US" dirty="0"/>
          </a:p>
          <a:p>
            <a:r>
              <a:rPr lang="en-US" dirty="0"/>
              <a:t>High‑end models are great for deep reasoning but can be slower or more expensive. </a:t>
            </a:r>
          </a:p>
          <a:p>
            <a:endParaRPr lang="en-US" dirty="0"/>
          </a:p>
          <a:p>
            <a:r>
              <a:rPr lang="en-US" dirty="0"/>
              <a:t>Smaller models are fast and efficient but less capable. </a:t>
            </a:r>
          </a:p>
          <a:p>
            <a:endParaRPr lang="en-US" dirty="0"/>
          </a:p>
          <a:p>
            <a:r>
              <a:rPr lang="en-US" dirty="0"/>
              <a:t>The key is to choose based on task complexity. </a:t>
            </a:r>
          </a:p>
          <a:p>
            <a:endParaRPr lang="en-US" dirty="0"/>
          </a:p>
          <a:p>
            <a:r>
              <a:rPr lang="en-US" dirty="0"/>
              <a:t>For example: use a reasoning‑heavy model for designing a module, then switch to a lighter model for generating tests or scaffolding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01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C53C9-CA30-3B2B-0E99-4CF7D50CF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EB07E-ED47-061A-5A3E-A05067084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46B51-5DC5-B55B-080B-07631B95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0974-BDB1-E7E0-7098-2D504056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5E132-4B6C-66C1-280F-49E122A9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0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DCACC-9A9E-BEDC-FCEC-03845F42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7D209-36DB-3221-2552-3EF6C2F8E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8666A-DF60-4403-AD91-855CF9A4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EAB1A-DBE9-3FB4-863F-6B5B2FFE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D7F60-8A5B-2416-29F1-A729A209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23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79AC-B337-0BC3-703D-DE27DD45C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ECB55-00A1-175E-A708-C1B47AAF9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7585-7DEA-EE64-B2A1-C0D96DBB9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D224A-C77E-9888-3F14-02D8D131D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FB044-6A8F-7B82-80F4-2A953F45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83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0F8D-F4F4-B083-902C-2F027DF0F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CBA99-07CC-551F-4958-4918A3AAB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8E79C-FF42-777E-DD79-4D1AFD506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BC111-83BE-35AE-2AB1-E7B50FEF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95891-C749-D15F-0049-9943E2EC3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ADB6B-54C3-C413-DC33-7ACE4AC3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99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ACAA-9E6A-5407-BF56-1D52CCE2A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60C8F-4F7C-2AF2-F430-0925F0949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9194D-2700-76E0-CE3F-9CF1CDE39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C6438-A1E7-026A-B813-50555CFC9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D55FC-8755-BC1F-9EEA-7C1B183AE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05F34-43AE-A193-1537-078F50B03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F3E814-5E22-5BE7-E498-FC3BD4EF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2B4680-8F94-E6A8-F310-DEA5A4C0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69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C392-6D85-C066-4F2C-31AD4F05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11DD4-824C-84D7-B1EC-B56629BF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FE811-75D9-5704-0E45-51B12695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75D09-4101-B70C-89F1-D0CF7C81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1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C636E-654E-C67C-E323-D5089942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4C0BD4-2380-F97A-DBB0-C69DD8B7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A9428-0CBF-76B8-1C88-CA85D04D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73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B819-DE61-6530-0B92-DA5C5E3A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EEA35-BBE2-522C-439F-412336020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A74F5-FF86-2242-AA3B-D71D808A1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96117-9784-7FC5-DE4C-6128C5F2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6A340-7B9C-F3F7-2E28-2DB132E6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E5B9A-B82D-10B4-1BCA-7D7516D29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9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579A-D7F0-CBD0-FE35-9A84D6BD3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CBF0E-A47F-D96C-CB79-EBC0B1C3C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A96DB-CB48-5B34-0CA2-44D327810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B1EB4-2D59-B8C3-3F1A-E4534052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CFE4A-064B-87E4-AFB9-20141C0AF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CA01D-02A0-7EAF-4FE0-CDC4BF10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9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74D0-EDE2-EA92-165F-F2700E5B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F76A6-8988-AFEB-1005-690DEE936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60194-B8C2-1F2E-7C71-5C24523F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7C314-46B9-1845-62A5-A3E03C3D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27526-80C3-596F-9188-074FEEFA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0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B7606-5829-7E81-3365-E6D019C28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56498-3481-B6F6-398B-F4C878F37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7FFB4-E4F0-C803-CFFC-F3D769BD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1AC85-1145-9582-480F-141B9210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9F9BE-97D0-1501-F8C2-3662FDF8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2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8C50F-6E38-322A-6EE6-C5457969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78747-2431-BFB9-2FCC-B226D58C7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863B-68F1-CC90-BA9C-E04DCE2E9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76B57-E50F-4F2B-84D7-35607025F24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F8F83-1EA5-029C-771B-FC8C2F130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C7E16-6768-9A5E-651B-9B1492215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8B1AA-4105-40B2-AE0B-C9F9370E8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0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9F95-C252-99E3-7D24-BD6A6FA3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733" dirty="0"/>
              <a:t>Managing GitHub Copilot Effectively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3B977-EE84-D998-3FA6-53690156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Copilot is powerful, but not entirely autonomous</a:t>
            </a:r>
          </a:p>
          <a:p>
            <a:r>
              <a:rPr lang="en-US" dirty="0"/>
              <a:t>Effective use requires structure, guardrails, and clear intent</a:t>
            </a:r>
          </a:p>
          <a:p>
            <a:r>
              <a:rPr lang="en-US" dirty="0"/>
              <a:t>Treat Copilot as a developer whose output improves with guidance</a:t>
            </a:r>
          </a:p>
          <a:p>
            <a:r>
              <a:rPr lang="en-US" dirty="0"/>
              <a:t>Your process determines the quality of its contributions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02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D2D0-7495-DB79-4AB4-38807E04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Managed Junior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B330C-7F3B-02D0-B3E4-C8E695D20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Copilot is fast, eager, and sometimes confidently wrong</a:t>
            </a:r>
          </a:p>
          <a:p>
            <a:r>
              <a:rPr lang="en-US" dirty="0"/>
              <a:t>Provide clear instructions, constraints, and examples</a:t>
            </a:r>
          </a:p>
          <a:p>
            <a:r>
              <a:rPr lang="en-US" dirty="0"/>
              <a:t>Review everything – trust its speed, not its judgment</a:t>
            </a:r>
          </a:p>
          <a:p>
            <a:r>
              <a:rPr lang="en-US" dirty="0"/>
              <a:t>Use iterative loops: instruct → generate → review → refine</a:t>
            </a:r>
          </a:p>
          <a:p>
            <a:r>
              <a:rPr lang="en-US" dirty="0"/>
              <a:t>Give Copilot ownership of tasks, not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1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D763-C0F5-E4C1-8683-7E5EEC69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Context &amp;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00227-B53E-48DF-C39C-B324E3495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Copilot can only “see” a limited amount of text at once</a:t>
            </a:r>
          </a:p>
          <a:p>
            <a:r>
              <a:rPr lang="en-US" dirty="0"/>
              <a:t>Large files, long conversations, or complex repos can exceed context</a:t>
            </a:r>
          </a:p>
          <a:p>
            <a:r>
              <a:rPr lang="en-US" dirty="0"/>
              <a:t>Important details may fall out of the window without you realizing</a:t>
            </a:r>
          </a:p>
          <a:p>
            <a:r>
              <a:rPr lang="en-US" dirty="0"/>
              <a:t>Use these techniques to keep context focused:</a:t>
            </a:r>
          </a:p>
          <a:p>
            <a:pPr lvl="1"/>
            <a:r>
              <a:rPr lang="en-US" dirty="0"/>
              <a:t>Summaries</a:t>
            </a:r>
          </a:p>
          <a:p>
            <a:pPr lvl="1"/>
            <a:r>
              <a:rPr lang="en-US" dirty="0"/>
              <a:t>Instruction files</a:t>
            </a:r>
          </a:p>
          <a:p>
            <a:pPr lvl="1"/>
            <a:r>
              <a:rPr lang="en-US" dirty="0"/>
              <a:t>Modular prompts</a:t>
            </a:r>
          </a:p>
          <a:p>
            <a:pPr lvl="1"/>
            <a:r>
              <a:rPr lang="en-US" dirty="0"/>
              <a:t>Smaller working 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9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6F91-1C01-2377-14DD-FF7DF9A44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733" dirty="0"/>
              <a:t>Prompt Engineering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5D6A4-70C4-D550-5AFB-6FB4F9109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Be explicit about goals, constraints, and success criteria</a:t>
            </a:r>
          </a:p>
          <a:p>
            <a:r>
              <a:rPr lang="en-US" dirty="0"/>
              <a:t>Provide examples of the desired pattern or style</a:t>
            </a:r>
          </a:p>
          <a:p>
            <a:r>
              <a:rPr lang="en-US" dirty="0"/>
              <a:t>Break large tasks into smaller, testable steps</a:t>
            </a:r>
          </a:p>
          <a:p>
            <a:r>
              <a:rPr lang="en-US" dirty="0"/>
              <a:t>Use instruction files for stable rules and architectural boundaries</a:t>
            </a:r>
          </a:p>
          <a:p>
            <a:r>
              <a:rPr lang="en-US" dirty="0"/>
              <a:t>Ask Copilot to explain its reasoning when correctness matters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53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4096-2A97-941F-E45C-666C132D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Selection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36928-B8A1-0B7B-A278-7A9C114D9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Different models excel at different tasks</a:t>
            </a:r>
          </a:p>
          <a:p>
            <a:r>
              <a:rPr lang="en-US" dirty="0"/>
              <a:t>High‑end models (e.g., GPT‑4o, Claude Sonnet) are best for:</a:t>
            </a:r>
          </a:p>
          <a:p>
            <a:pPr lvl="1"/>
            <a:r>
              <a:rPr lang="en-US" dirty="0"/>
              <a:t>Architecture</a:t>
            </a:r>
          </a:p>
          <a:p>
            <a:pPr lvl="1"/>
            <a:r>
              <a:rPr lang="en-US" dirty="0"/>
              <a:t>Refactoring</a:t>
            </a:r>
          </a:p>
          <a:p>
            <a:pPr lvl="1"/>
            <a:r>
              <a:rPr lang="en-US" dirty="0"/>
              <a:t>Complex reasoning</a:t>
            </a:r>
          </a:p>
          <a:p>
            <a:pPr lvl="1"/>
            <a:r>
              <a:rPr lang="en-US" dirty="0"/>
              <a:t>Multi‑file changes</a:t>
            </a:r>
          </a:p>
          <a:p>
            <a:r>
              <a:rPr lang="en-US" dirty="0"/>
              <a:t>Lightweight models are ideal for:</a:t>
            </a:r>
          </a:p>
          <a:p>
            <a:pPr lvl="1"/>
            <a:r>
              <a:rPr lang="en-US" dirty="0"/>
              <a:t>Boilerplate</a:t>
            </a:r>
          </a:p>
          <a:p>
            <a:pPr lvl="1"/>
            <a:r>
              <a:rPr lang="en-US" dirty="0"/>
              <a:t>Repetitive tasks</a:t>
            </a:r>
          </a:p>
          <a:p>
            <a:pPr lvl="1"/>
            <a:r>
              <a:rPr lang="en-US" dirty="0"/>
              <a:t>Quick iterations</a:t>
            </a:r>
          </a:p>
          <a:p>
            <a:r>
              <a:rPr lang="en-US" dirty="0"/>
              <a:t>Match the model to the task, not the other way around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26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Widescreen</PresentationFormat>
  <Paragraphs>82</Paragraphs>
  <Slides>5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Managing GitHub Copilot Effectively</vt:lpstr>
      <vt:lpstr>A Managed Junior Developer</vt:lpstr>
      <vt:lpstr>Understanding Context &amp; Tokens</vt:lpstr>
      <vt:lpstr>Prompt Engineering Best Practices</vt:lpstr>
      <vt:lpstr>Model Selection Strategies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2026-03-05T20:35:27Z</dcterms:created>
  <dcterms:modified xsi:type="dcterms:W3CDTF">2026-03-05T20:36:12Z</dcterms:modified>
</cp:coreProperties>
</file>