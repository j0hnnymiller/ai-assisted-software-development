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autoAdjust="0"/>
    <p:restoredTop sz="94694" autoAdjust="0"/>
  </p:normalViewPr>
  <p:slideViewPr>
    <p:cSldViewPr snapToGrid="0" snapToObjects="1">
      <p:cViewPr varScale="1">
        <p:scale>
          <a:sx n="219" d="100"/>
          <a:sy n="219" d="100"/>
        </p:scale>
        <p:origin x="116" y="11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3/3/2026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Welcome to this presentation on instruction file applyTo patterns. This is a critical concept for managing GitHub Copilot’s behavior across your codebase. By the end of this session, you’ll understand how to precisely control which files your instruction files apply to using glob patterns.</a:t>
            </a:r>
          </a:p>
          <a:p>
            <a:pPr marL="0" lvl="0" indent="0">
              <a:buNone/>
            </a:pPr>
            <a:endParaRPr/>
          </a:p>
          <a:p>
            <a:pPr marL="0" lvl="0" indent="0">
              <a:buNone/>
            </a:pPr>
            <a:r>
              <a:rPr b="1"/>
              <a:t>Timing</a:t>
            </a:r>
            <a:r>
              <a:t>: 30 seconds for title slide </a:t>
            </a:r>
            <a:r>
              <a:rPr b="1"/>
              <a:t>Key Point</a:t>
            </a:r>
            <a:r>
              <a:t>: This is about precision - getting Copilot to apply the right rules to the right files </a:t>
            </a:r>
            <a:r>
              <a:rPr b="1"/>
              <a:t>Transition</a:t>
            </a:r>
            <a:r>
              <a:t>: “Let’s start by understanding what the applyTo field actually does”</a:t>
            </a:r>
          </a:p>
        </p:txBody>
      </p:sp>
      <p:sp>
        <p:nvSpPr>
          <p:cNvPr id="4" name="Slide Number Placeholder 3"/>
          <p:cNvSpPr>
            <a:spLocks noGrp="1"/>
          </p:cNvSpPr>
          <p:nvPr>
            <p:ph type="sldNum" sz="quarter" idx="10"/>
          </p:nvPr>
        </p:nvSpPr>
        <p:spPr/>
        <p:txBody>
          <a:bodyPr/>
          <a:lstStyle/>
          <a:p>
            <a:fld id="{18BDFEC3-8487-43E8-A154-7C12CBC1FFF2}"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applyTo field is part of the YAML front matter in instruction files. It uses glob patterns to match file paths. When you open a file in VS Code, Copilot checks all instruction files and loads only those whose applyTo pattern matches the current file.</a:t>
            </a:r>
          </a:p>
          <a:p>
            <a:pPr marL="0" lvl="0" indent="0">
              <a:buNone/>
            </a:pPr>
            <a:endParaRPr/>
          </a:p>
          <a:p>
            <a:pPr marL="0" lvl="0" indent="0">
              <a:buNone/>
            </a:pPr>
            <a:r>
              <a:rPr b="1"/>
              <a:t>Why this matters</a:t>
            </a:r>
            <a:r>
              <a:t>: Without proper applyTo patterns, you might have documentation standards trying to apply to code files, or architecture patterns trying to apply to configuration files. This creates confusion and can lead to poor AI suggestions.</a:t>
            </a:r>
          </a:p>
          <a:p>
            <a:pPr marL="0" lvl="0" indent="0">
              <a:buNone/>
            </a:pPr>
            <a:endParaRPr/>
          </a:p>
          <a:p>
            <a:pPr marL="0" lvl="0" indent="0">
              <a:buNone/>
            </a:pPr>
            <a:r>
              <a:rPr b="1"/>
              <a:t>Example to share</a:t>
            </a:r>
            <a:r>
              <a:t>: “Imagine having CQRS architecture instructions applying to your README files - that would be nonsensical. The applyTo field prevents this.”</a:t>
            </a:r>
          </a:p>
          <a:p>
            <a:pPr marL="0" lvl="0" indent="0">
              <a:buNone/>
            </a:pPr>
            <a:endParaRPr/>
          </a:p>
          <a:p>
            <a:pPr marL="0" lvl="0" indent="0">
              <a:buNone/>
            </a:pPr>
            <a:r>
              <a:rPr b="1"/>
              <a:t>Timing</a:t>
            </a:r>
            <a:r>
              <a:t>: 1-1.5 minutes </a:t>
            </a:r>
            <a:r>
              <a:rPr b="1"/>
              <a:t>Transition</a:t>
            </a:r>
            <a:r>
              <a:t>: “Now let’s look at the most common pattern types you’ll use”</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double asterisk wildcard is the universal matcher. Use this for repository-wide policies that should apply everywhere - things like your AI-assisted output instructions, general quality standards, or compliance requirements.</a:t>
            </a:r>
          </a:p>
          <a:p>
            <a:pPr marL="0" lvl="0" indent="0">
              <a:buNone/>
            </a:pPr>
            <a:endParaRPr/>
          </a:p>
          <a:p>
            <a:pPr marL="0" lvl="0" indent="0">
              <a:buNone/>
            </a:pPr>
            <a:r>
              <a:rPr b="1"/>
              <a:t>Important warning</a:t>
            </a:r>
            <a:r>
              <a:t>: Overusing universal patterns is a common mistake. Every universal instruction adds to the context Copilot needs to process for every file. If you have 10 instruction files all using “**”, Copilot has to load all 10 for every single file you open.</a:t>
            </a:r>
          </a:p>
          <a:p>
            <a:pPr marL="0" lvl="0" indent="0">
              <a:buNone/>
            </a:pPr>
            <a:endParaRPr/>
          </a:p>
          <a:p>
            <a:pPr marL="0" lvl="0" indent="0">
              <a:buNone/>
            </a:pPr>
            <a:r>
              <a:rPr b="1"/>
              <a:t>Best practice</a:t>
            </a:r>
            <a:r>
              <a:t>: Reserve universal patterns for truly universal policies. Most instructions should be more specific.</a:t>
            </a:r>
          </a:p>
          <a:p>
            <a:pPr marL="0" lvl="0" indent="0">
              <a:buNone/>
            </a:pPr>
            <a:endParaRPr/>
          </a:p>
          <a:p>
            <a:pPr marL="0" lvl="0" indent="0">
              <a:buNone/>
            </a:pPr>
            <a:r>
              <a:rPr b="1"/>
              <a:t>Real example from the repo</a:t>
            </a:r>
            <a:r>
              <a:t>: The ai-assisted-output.instructions.md uses “*</a:t>
            </a:r>
            <a:r>
              <a:rPr i="1"/>
              <a:t>/</a:t>
            </a:r>
            <a:r>
              <a:t>” because AI provenance metadata requirements apply to all AI-generated content regardless of file type.</a:t>
            </a:r>
          </a:p>
          <a:p>
            <a:pPr marL="0" lvl="0" indent="0">
              <a:buNone/>
            </a:pPr>
            <a:endParaRPr/>
          </a:p>
          <a:p>
            <a:pPr marL="0" lvl="0" indent="0">
              <a:buNone/>
            </a:pPr>
            <a:r>
              <a:rPr b="1"/>
              <a:t>Timing</a:t>
            </a:r>
            <a:r>
              <a:t>: 1.5 minutes </a:t>
            </a:r>
            <a:r>
              <a:rPr b="1"/>
              <a:t>Ask audience</a:t>
            </a:r>
            <a:r>
              <a:t>: “How many instruction files do you think should realistically use universal patterns? Usually no more than 2-3.”</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File extension matching is probably the most common pattern you’ll use. The key syntax here is the brace expansion - that’s the curly braces with comma-separated extensions.</a:t>
            </a:r>
          </a:p>
          <a:p>
            <a:pPr marL="0" lvl="0" indent="0">
              <a:buNone/>
            </a:pPr>
            <a:endParaRPr/>
          </a:p>
          <a:p>
            <a:pPr marL="0" lvl="0" indent="0">
              <a:buNone/>
            </a:pPr>
            <a:r>
              <a:rPr b="1"/>
              <a:t>Walking through the examples</a:t>
            </a:r>
            <a:r>
              <a:t>:</a:t>
            </a:r>
          </a:p>
          <a:p>
            <a:pPr marL="0" lvl="0" indent="0">
              <a:buNone/>
            </a:pPr>
            <a:endParaRPr/>
          </a:p>
          <a:p>
            <a:pPr marL="342900" lvl="0" indent="-342900">
              <a:buAutoNum type="arabicPeriod"/>
            </a:pPr>
            <a:r>
              <a:t>“*</a:t>
            </a:r>
            <a:r>
              <a:rPr i="1"/>
              <a:t>/</a:t>
            </a:r>
            <a:r>
              <a:t>.md” - Double star means any directory depth, forward slash, star means any filename, dot md means must end with .md</a:t>
            </a:r>
          </a:p>
          <a:p>
            <a:pPr marL="0" lvl="0" indent="0">
              <a:buNone/>
            </a:pPr>
            <a:endParaRPr/>
          </a:p>
          <a:p>
            <a:pPr marL="342900" lvl="0" indent="-342900">
              <a:buAutoNum type="arabicPeriod"/>
            </a:pPr>
            <a:r>
              <a:t>The brace expansion lets you list multiple extensions without repeating the pattern</a:t>
            </a:r>
          </a:p>
          <a:p>
            <a:pPr marL="0" lvl="0" indent="0">
              <a:buNone/>
            </a:pPr>
            <a:endParaRPr/>
          </a:p>
          <a:p>
            <a:pPr marL="342900" lvl="0" indent="-342900">
              <a:buAutoNum type="arabicPeriod"/>
            </a:pPr>
            <a:r>
              <a:t>You can be even more specific with compound extensions like .instructions.md</a:t>
            </a:r>
          </a:p>
          <a:p>
            <a:pPr marL="0" lvl="0" indent="0">
              <a:buNone/>
            </a:pPr>
            <a:endParaRPr/>
          </a:p>
          <a:p>
            <a:pPr marL="0" lvl="0" indent="0">
              <a:buNone/>
            </a:pPr>
            <a:r>
              <a:rPr b="1"/>
              <a:t>Pro tip</a:t>
            </a:r>
            <a:r>
              <a:t>: When you need to apply instructions to code files across multiple languages, use the brace expansion. In this repo, vertical slice architecture instructions use “*</a:t>
            </a:r>
            <a:r>
              <a:rPr i="1"/>
              <a:t>/</a:t>
            </a:r>
            <a:r>
              <a:t>.{cs,ts,js,py,java,go,rb}” to cover all supported languages.</a:t>
            </a:r>
          </a:p>
          <a:p>
            <a:pPr marL="0" lvl="0" indent="0">
              <a:buNone/>
            </a:pPr>
            <a:endParaRPr/>
          </a:p>
          <a:p>
            <a:pPr marL="0" lvl="0" indent="0">
              <a:buNone/>
            </a:pPr>
            <a:r>
              <a:rPr b="1"/>
              <a:t>Common mistake</a:t>
            </a:r>
            <a:r>
              <a:t>: Forgetting the </a:t>
            </a:r>
            <a:r>
              <a:rPr b="1"/>
              <a:t>/ at the start means only files in the root directory match </a:t>
            </a:r>
            <a:r>
              <a:t>Correct</a:t>
            </a:r>
            <a:r>
              <a:rPr b="1"/>
              <a:t>: “</a:t>
            </a:r>
            <a:r>
              <a:t>/</a:t>
            </a:r>
            <a:r>
              <a:rPr i="1"/>
              <a:t>.md” matches all markdown files recursively </a:t>
            </a:r>
            <a:r>
              <a:rPr b="1" i="1"/>
              <a:t>Incorrect</a:t>
            </a:r>
            <a:r>
              <a:rPr i="1"/>
              <a:t>: “</a:t>
            </a:r>
            <a:r>
              <a:t>.md” only matches markdown files in root directory</a:t>
            </a:r>
          </a:p>
          <a:p>
            <a:pPr marL="0" lvl="0" indent="0">
              <a:buNone/>
            </a:pPr>
            <a:endParaRPr/>
          </a:p>
          <a:p>
            <a:pPr marL="0" lvl="0" indent="0">
              <a:buNone/>
            </a:pPr>
            <a:r>
              <a:rPr b="1"/>
              <a:t>Timing</a:t>
            </a:r>
            <a:r>
              <a:t>: 2 minutes </a:t>
            </a:r>
            <a:r>
              <a:rPr b="1"/>
              <a:t>Demonstrate</a:t>
            </a:r>
            <a:r>
              <a:t>: Show how the pattern breaks down visually</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Directory-specific patterns are crucial for organizing large codebases. They let you say “these architecture rules only apply to source code” or “these formatting rules only apply to slides.”</a:t>
            </a:r>
          </a:p>
          <a:p>
            <a:pPr marL="0" lvl="0" indent="0">
              <a:buNone/>
            </a:pPr>
            <a:endParaRPr/>
          </a:p>
          <a:p>
            <a:pPr marL="0" lvl="0" indent="0">
              <a:buNone/>
            </a:pPr>
            <a:r>
              <a:rPr b="1"/>
              <a:t>Breaking down the syntax</a:t>
            </a:r>
            <a:r>
              <a:t>:</a:t>
            </a:r>
          </a:p>
          <a:p>
            <a:pPr marL="0" lvl="0" indent="0">
              <a:buNone/>
            </a:pPr>
            <a:endParaRPr/>
          </a:p>
          <a:p>
            <a:pPr lvl="0"/>
            <a:r>
              <a:t>“Slides/individual-slides/</a:t>
            </a:r>
            <a:r>
              <a:rPr b="1"/>
              <a:t>” - Note there’s no leading slash or asterisks. This matches the specific directory path, then /</a:t>
            </a:r>
            <a:r>
              <a:t> means everything underneath it</a:t>
            </a:r>
          </a:p>
          <a:p>
            <a:pPr marL="0" lvl="0" indent="0">
              <a:buNone/>
            </a:pPr>
            <a:endParaRPr/>
          </a:p>
          <a:p>
            <a:pPr lvl="0"/>
            <a:r>
              <a:t>“src/Features/*</a:t>
            </a:r>
            <a:r>
              <a:rPr i="1"/>
              <a:t>/</a:t>
            </a:r>
            <a:r>
              <a:t>.cs” - Combines directory path with file extension filter</a:t>
            </a:r>
          </a:p>
          <a:p>
            <a:pPr marL="0" lvl="0" indent="0">
              <a:buNone/>
            </a:pPr>
            <a:endParaRPr/>
          </a:p>
          <a:p>
            <a:pPr lvl="0"/>
            <a:r>
              <a:t>The pattern is always relative to the repository root</a:t>
            </a:r>
          </a:p>
          <a:p>
            <a:pPr marL="0" lvl="0" indent="0">
              <a:buNone/>
            </a:pPr>
            <a:endParaRPr/>
          </a:p>
          <a:p>
            <a:pPr marL="0" lvl="0" indent="0">
              <a:buNone/>
            </a:pPr>
            <a:r>
              <a:rPr b="1"/>
              <a:t>Real-world example from this repo</a:t>
            </a:r>
            <a:r>
              <a:t>: The marp-slides.instructions.md uses “Slides/individual-slides/**” because those formatting rules should only apply to presentation slides, not to other markdown files like README.md or documentation.</a:t>
            </a:r>
          </a:p>
          <a:p>
            <a:pPr marL="0" lvl="0" indent="0">
              <a:buNone/>
            </a:pPr>
            <a:endParaRPr/>
          </a:p>
          <a:p>
            <a:pPr marL="0" lvl="0" indent="0">
              <a:buNone/>
            </a:pPr>
            <a:r>
              <a:rPr b="1"/>
              <a:t>Another example</a:t>
            </a:r>
            <a:r>
              <a:t>: You might have vertical-slice.instructions.md with “src/Features/*</a:t>
            </a:r>
            <a:r>
              <a:rPr i="1"/>
              <a:t>/</a:t>
            </a:r>
            <a:r>
              <a:t>.cs” so those architectural patterns only apply to feature code, not to infrastructure or configuration code.</a:t>
            </a:r>
          </a:p>
          <a:p>
            <a:pPr marL="0" lvl="0" indent="0">
              <a:buNone/>
            </a:pPr>
            <a:endParaRPr/>
          </a:p>
          <a:p>
            <a:pPr marL="0" lvl="0" indent="0">
              <a:buNone/>
            </a:pPr>
            <a:r>
              <a:rPr b="1"/>
              <a:t>Timing</a:t>
            </a:r>
            <a:r>
              <a:t>: 2 minutes </a:t>
            </a:r>
            <a:r>
              <a:rPr b="1"/>
              <a:t>Visual aid</a:t>
            </a:r>
            <a:r>
              <a:t>: If possible, show the repository structure and how the pattern matches </a:t>
            </a:r>
            <a:r>
              <a:rPr b="1"/>
              <a:t>Transition</a:t>
            </a:r>
            <a:r>
              <a:t>: “Let’s dive deeper into the glob syntax itself”</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slide is your reference guide for glob pattern syntax. Let’s walk through each one with careful attention to the distinctions:</a:t>
            </a:r>
          </a:p>
          <a:p>
            <a:pPr marL="0" lvl="0" indent="0">
              <a:buNone/>
            </a:pPr>
            <a:endParaRPr/>
          </a:p>
          <a:p>
            <a:pPr marL="0" lvl="0" indent="0">
              <a:buNone/>
            </a:pPr>
            <a:r>
              <a:rPr b="1"/>
              <a:t>Single asterisk (*)</a:t>
            </a:r>
            <a:r>
              <a:t>:</a:t>
            </a:r>
          </a:p>
          <a:p>
            <a:pPr marL="0" lvl="0" indent="0">
              <a:buNone/>
            </a:pPr>
            <a:endParaRPr/>
          </a:p>
          <a:p>
            <a:pPr lvl="0"/>
            <a:r>
              <a:t>Matches any characters EXCEPT forward slash</a:t>
            </a:r>
          </a:p>
          <a:p>
            <a:pPr marL="0" lvl="0" indent="0">
              <a:buNone/>
            </a:pPr>
            <a:endParaRPr/>
          </a:p>
          <a:p>
            <a:pPr lvl="0"/>
            <a:r>
              <a:t>“*.md” matches “README.md” in the current directory</a:t>
            </a:r>
          </a:p>
          <a:p>
            <a:pPr marL="0" lvl="0" indent="0">
              <a:buNone/>
            </a:pPr>
            <a:endParaRPr/>
          </a:p>
          <a:p>
            <a:pPr lvl="0"/>
            <a:r>
              <a:t>Does NOT match “docs/README.md” - the slash breaks the match</a:t>
            </a:r>
          </a:p>
          <a:p>
            <a:pPr marL="0" lvl="0" indent="0">
              <a:buNone/>
            </a:pPr>
            <a:endParaRPr/>
          </a:p>
          <a:p>
            <a:pPr lvl="0"/>
            <a:r>
              <a:t>Think of it as “wildcard within one directory level”</a:t>
            </a:r>
          </a:p>
          <a:p>
            <a:pPr marL="0" lvl="0" indent="0">
              <a:buNone/>
            </a:pPr>
            <a:endParaRPr/>
          </a:p>
          <a:p>
            <a:pPr marL="0" lvl="0" indent="0">
              <a:buNone/>
            </a:pPr>
            <a:r>
              <a:rPr b="1"/>
              <a:t>Double asterisk (</a:t>
            </a:r>
            <a:r>
              <a:t>)**:</a:t>
            </a:r>
          </a:p>
          <a:p>
            <a:pPr marL="0" lvl="0" indent="0">
              <a:buNone/>
            </a:pPr>
            <a:endParaRPr/>
          </a:p>
          <a:p>
            <a:pPr lvl="0"/>
            <a:r>
              <a:t>This is the recursive directory matcher</a:t>
            </a:r>
          </a:p>
          <a:p>
            <a:pPr marL="0" lvl="0" indent="0">
              <a:buNone/>
            </a:pPr>
            <a:endParaRPr/>
          </a:p>
          <a:p>
            <a:pPr lvl="0"/>
            <a:r>
              <a:t>Can match zero or more directory levels</a:t>
            </a:r>
          </a:p>
          <a:p>
            <a:pPr marL="0" lvl="0" indent="0">
              <a:buNone/>
            </a:pPr>
            <a:endParaRPr/>
          </a:p>
          <a:p>
            <a:pPr lvl="0"/>
            <a:r>
              <a:t>“*</a:t>
            </a:r>
            <a:r>
              <a:rPr i="1"/>
              <a:t>/</a:t>
            </a:r>
            <a:r>
              <a:t>.md” matches files at any depth</a:t>
            </a:r>
          </a:p>
          <a:p>
            <a:pPr marL="0" lvl="0" indent="0">
              <a:buNone/>
            </a:pPr>
            <a:endParaRPr/>
          </a:p>
          <a:p>
            <a:pPr lvl="0"/>
            <a:r>
              <a:t>Critical: It must be its own path segment - “</a:t>
            </a:r>
            <a:r>
              <a:rPr b="1"/>
              <a:t>/” not ”</a:t>
            </a:r>
            <a:r>
              <a:t>/file.md”</a:t>
            </a:r>
          </a:p>
          <a:p>
            <a:pPr marL="0" lvl="0" indent="0">
              <a:buNone/>
            </a:pPr>
            <a:endParaRPr/>
          </a:p>
          <a:p>
            <a:pPr marL="0" lvl="0" indent="0">
              <a:buNone/>
            </a:pPr>
            <a:r>
              <a:rPr b="1"/>
              <a:t>Question mark (?)</a:t>
            </a:r>
            <a:r>
              <a:t>:</a:t>
            </a:r>
          </a:p>
          <a:p>
            <a:pPr marL="0" lvl="0" indent="0">
              <a:buNone/>
            </a:pPr>
            <a:endParaRPr/>
          </a:p>
          <a:p>
            <a:pPr lvl="0"/>
            <a:r>
              <a:t>Exactly one character (useful for versioned files)</a:t>
            </a:r>
          </a:p>
          <a:p>
            <a:pPr marL="0" lvl="0" indent="0">
              <a:buNone/>
            </a:pPr>
            <a:endParaRPr/>
          </a:p>
          <a:p>
            <a:pPr lvl="0"/>
            <a:r>
              <a:t>“config?.json” matches “config1.json” and “configA.json”</a:t>
            </a:r>
          </a:p>
          <a:p>
            <a:pPr marL="0" lvl="0" indent="0">
              <a:buNone/>
            </a:pPr>
            <a:endParaRPr/>
          </a:p>
          <a:p>
            <a:pPr lvl="0"/>
            <a:r>
              <a:t>Does NOT match “config10.json” (that’s two characters)</a:t>
            </a:r>
          </a:p>
          <a:p>
            <a:pPr marL="0" lvl="0" indent="0">
              <a:buNone/>
            </a:pPr>
            <a:endParaRPr/>
          </a:p>
          <a:p>
            <a:pPr marL="0" lvl="0" indent="0">
              <a:buNone/>
            </a:pPr>
            <a:r>
              <a:rPr b="1"/>
              <a:t>Brackets [abc] and [a-z]</a:t>
            </a:r>
            <a:r>
              <a:t>:</a:t>
            </a:r>
          </a:p>
          <a:p>
            <a:pPr marL="0" lvl="0" indent="0">
              <a:buNone/>
            </a:pPr>
            <a:endParaRPr/>
          </a:p>
          <a:p>
            <a:pPr lvl="0"/>
            <a:r>
              <a:t>Character classes - match one character from the set</a:t>
            </a:r>
          </a:p>
          <a:p>
            <a:pPr marL="0" lvl="0" indent="0">
              <a:buNone/>
            </a:pPr>
            <a:endParaRPr/>
          </a:p>
          <a:p>
            <a:pPr lvl="0"/>
            <a:r>
              <a:t>Useful for version numbers or variant files</a:t>
            </a:r>
          </a:p>
          <a:p>
            <a:pPr marL="0" lvl="0" indent="0">
              <a:buNone/>
            </a:pPr>
            <a:endParaRPr/>
          </a:p>
          <a:p>
            <a:pPr lvl="0"/>
            <a:r>
              <a:t>“file[123].md” matches file1.md, file2.md, file3.md</a:t>
            </a:r>
          </a:p>
          <a:p>
            <a:pPr marL="0" lvl="0" indent="0">
              <a:buNone/>
            </a:pPr>
            <a:endParaRPr/>
          </a:p>
          <a:p>
            <a:pPr marL="0" lvl="0" indent="0">
              <a:buNone/>
            </a:pPr>
            <a:r>
              <a:rPr b="1"/>
              <a:t>Braces {a,b}</a:t>
            </a:r>
            <a:r>
              <a:t>:</a:t>
            </a:r>
          </a:p>
          <a:p>
            <a:pPr marL="0" lvl="0" indent="0">
              <a:buNone/>
            </a:pPr>
            <a:endParaRPr/>
          </a:p>
          <a:p>
            <a:pPr lvl="0"/>
            <a:r>
              <a:t>This is alternation - match any of the alternatives</a:t>
            </a:r>
          </a:p>
          <a:p>
            <a:pPr marL="0" lvl="0" indent="0">
              <a:buNone/>
            </a:pPr>
            <a:endParaRPr/>
          </a:p>
          <a:p>
            <a:pPr lvl="0"/>
            <a:r>
              <a:t>Most commonly used for file extensions</a:t>
            </a:r>
          </a:p>
          <a:p>
            <a:pPr marL="0" lvl="0" indent="0">
              <a:buNone/>
            </a:pPr>
            <a:endParaRPr/>
          </a:p>
          <a:p>
            <a:pPr lvl="0"/>
            <a:r>
              <a:t>“*.{js,ts,jsx,tsx}” matches all JavaScript/TypeScript files</a:t>
            </a:r>
          </a:p>
          <a:p>
            <a:pPr marL="0" lvl="0" indent="0">
              <a:buNone/>
            </a:pPr>
            <a:endParaRPr/>
          </a:p>
          <a:p>
            <a:pPr lvl="0"/>
            <a:r>
              <a:t>Each alternative can itself be a pattern</a:t>
            </a:r>
          </a:p>
          <a:p>
            <a:pPr marL="0" lvl="0" indent="0">
              <a:buNone/>
            </a:pPr>
            <a:endParaRPr/>
          </a:p>
          <a:p>
            <a:pPr marL="0" lvl="0" indent="0">
              <a:buNone/>
            </a:pPr>
            <a:r>
              <a:rPr b="1"/>
              <a:t>Timing</a:t>
            </a:r>
            <a:r>
              <a:t>: 3 minutes - this is detailed, go slow </a:t>
            </a:r>
            <a:r>
              <a:rPr b="1"/>
              <a:t>Demonstrate</a:t>
            </a:r>
            <a:r>
              <a:t>: Show 2-3 concrete examples with actual files </a:t>
            </a:r>
            <a:r>
              <a:rPr b="1"/>
              <a:t>Transition</a:t>
            </a:r>
            <a:r>
              <a:t>: “Now let’s see these patterns in action with real examples from this repository”</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These are actual examples from the AI-Assisted-Software-Development-Course repository. Let’s analyze why each pattern was chosen:</a:t>
            </a:r>
          </a:p>
          <a:p>
            <a:pPr marL="0" lvl="0" indent="0">
              <a:buNone/>
            </a:pPr>
            <a:endParaRPr/>
          </a:p>
          <a:p>
            <a:pPr marL="0" lvl="0" indent="0">
              <a:buNone/>
            </a:pPr>
            <a:r>
              <a:rPr b="1"/>
              <a:t>Example 1 - AI Output Standards</a:t>
            </a:r>
            <a:r>
              <a:t>:</a:t>
            </a:r>
          </a:p>
          <a:p>
            <a:pPr marL="0" lvl="0" indent="0">
              <a:buNone/>
            </a:pPr>
            <a:endParaRPr/>
          </a:p>
          <a:p>
            <a:pPr lvl="0"/>
            <a:r>
              <a:t>Uses “*</a:t>
            </a:r>
            <a:r>
              <a:rPr i="1"/>
              <a:t>/</a:t>
            </a:r>
            <a:r>
              <a:t>” because AI provenance requirements apply to ALL artifacts</a:t>
            </a:r>
          </a:p>
          <a:p>
            <a:pPr marL="0" lvl="0" indent="0">
              <a:buNone/>
            </a:pPr>
            <a:endParaRPr/>
          </a:p>
          <a:p>
            <a:pPr lvl="0"/>
            <a:r>
              <a:t>This includes code, docs, config files, images (via sidecar metadata)</a:t>
            </a:r>
          </a:p>
          <a:p>
            <a:pPr marL="0" lvl="0" indent="0">
              <a:buNone/>
            </a:pPr>
            <a:endParaRPr/>
          </a:p>
          <a:p>
            <a:pPr lvl="0"/>
            <a:r>
              <a:t>Appropriate use of universal pattern because it’s a universal policy</a:t>
            </a:r>
          </a:p>
          <a:p>
            <a:pPr marL="0" lvl="0" indent="0">
              <a:buNone/>
            </a:pPr>
            <a:endParaRPr/>
          </a:p>
          <a:p>
            <a:pPr marL="0" lvl="0" indent="0">
              <a:buNone/>
            </a:pPr>
            <a:r>
              <a:rPr b="1"/>
              <a:t>Example 2 - Vertical Slice Architecture</a:t>
            </a:r>
            <a:r>
              <a:t>:</a:t>
            </a:r>
          </a:p>
          <a:p>
            <a:pPr marL="0" lvl="0" indent="0">
              <a:buNone/>
            </a:pPr>
            <a:endParaRPr/>
          </a:p>
          <a:p>
            <a:pPr lvl="0"/>
            <a:r>
              <a:t>Targets only programming language source files</a:t>
            </a:r>
          </a:p>
          <a:p>
            <a:pPr marL="0" lvl="0" indent="0">
              <a:buNone/>
            </a:pPr>
            <a:endParaRPr/>
          </a:p>
          <a:p>
            <a:pPr lvl="0"/>
            <a:r>
              <a:t>Notice it includes 7 different languages</a:t>
            </a:r>
          </a:p>
          <a:p>
            <a:pPr marL="0" lvl="0" indent="0">
              <a:buNone/>
            </a:pPr>
            <a:endParaRPr/>
          </a:p>
          <a:p>
            <a:pPr lvl="0"/>
            <a:r>
              <a:t>Does NOT apply to config files (JSON, YAML) or documentation</a:t>
            </a:r>
          </a:p>
          <a:p>
            <a:pPr marL="0" lvl="0" indent="0">
              <a:buNone/>
            </a:pPr>
            <a:endParaRPr/>
          </a:p>
          <a:p>
            <a:pPr lvl="0"/>
            <a:r>
              <a:t>This prevents architecture patterns from being suggested in README files</a:t>
            </a:r>
          </a:p>
          <a:p>
            <a:pPr marL="0" lvl="0" indent="0">
              <a:buNone/>
            </a:pPr>
            <a:endParaRPr/>
          </a:p>
          <a:p>
            <a:pPr marL="0" lvl="0" indent="0">
              <a:buNone/>
            </a:pPr>
            <a:r>
              <a:rPr b="1"/>
              <a:t>Example 3 - Business Rules Documentation</a:t>
            </a:r>
            <a:r>
              <a:t>:</a:t>
            </a:r>
          </a:p>
          <a:p>
            <a:pPr marL="0" lvl="0" indent="0">
              <a:buNone/>
            </a:pPr>
            <a:endParaRPr/>
          </a:p>
          <a:p>
            <a:pPr lvl="0"/>
            <a:r>
              <a:t>Only Markdown and text files</a:t>
            </a:r>
          </a:p>
          <a:p>
            <a:pPr marL="0" lvl="0" indent="0">
              <a:buNone/>
            </a:pPr>
            <a:endParaRPr/>
          </a:p>
          <a:p>
            <a:pPr lvl="0"/>
            <a:r>
              <a:t>Instructions about translating business rules to documentation</a:t>
            </a:r>
          </a:p>
          <a:p>
            <a:pPr marL="0" lvl="0" indent="0">
              <a:buNone/>
            </a:pPr>
            <a:endParaRPr/>
          </a:p>
          <a:p>
            <a:pPr lvl="0"/>
            <a:r>
              <a:t>Deliberately excludes code files</a:t>
            </a:r>
          </a:p>
          <a:p>
            <a:pPr marL="0" lvl="0" indent="0">
              <a:buNone/>
            </a:pPr>
            <a:endParaRPr/>
          </a:p>
          <a:p>
            <a:pPr marL="0" lvl="0" indent="0">
              <a:buNone/>
            </a:pPr>
            <a:r>
              <a:rPr b="1"/>
              <a:t>Example 4 - Marp Slide Formatting</a:t>
            </a:r>
            <a:r>
              <a:t>:</a:t>
            </a:r>
          </a:p>
          <a:p>
            <a:pPr marL="0" lvl="0" indent="0">
              <a:buNone/>
            </a:pPr>
            <a:endParaRPr/>
          </a:p>
          <a:p>
            <a:pPr lvl="0"/>
            <a:r>
              <a:t>Highly specific - only the slides directory</a:t>
            </a:r>
          </a:p>
          <a:p>
            <a:pPr marL="0" lvl="0" indent="0">
              <a:buNone/>
            </a:pPr>
            <a:endParaRPr/>
          </a:p>
          <a:p>
            <a:pPr lvl="0"/>
            <a:r>
              <a:t>Even though slides are .md files, they have different formatting rules than regular docs</a:t>
            </a:r>
          </a:p>
          <a:p>
            <a:pPr marL="0" lvl="0" indent="0">
              <a:buNone/>
            </a:pPr>
            <a:endParaRPr/>
          </a:p>
          <a:p>
            <a:pPr lvl="0"/>
            <a:r>
              <a:t>This specificity prevents slide formatting rules from applying to README.md</a:t>
            </a:r>
          </a:p>
          <a:p>
            <a:pPr marL="0" lvl="0" indent="0">
              <a:buNone/>
            </a:pPr>
            <a:endParaRPr/>
          </a:p>
          <a:p>
            <a:pPr marL="0" lvl="0" indent="0">
              <a:buNone/>
            </a:pPr>
            <a:r>
              <a:rPr b="1"/>
              <a:t>Example 5 - Prompt File Authoring</a:t>
            </a:r>
            <a:r>
              <a:t>:</a:t>
            </a:r>
          </a:p>
          <a:p>
            <a:pPr marL="0" lvl="0" indent="0">
              <a:buNone/>
            </a:pPr>
            <a:endParaRPr/>
          </a:p>
          <a:p>
            <a:pPr lvl="0"/>
            <a:r>
              <a:t>Targets the specialized .prompt.md file extension</a:t>
            </a:r>
          </a:p>
          <a:p>
            <a:pPr marL="0" lvl="0" indent="0">
              <a:buNone/>
            </a:pPr>
            <a:endParaRPr/>
          </a:p>
          <a:p>
            <a:pPr lvl="0"/>
            <a:r>
              <a:t>These files have specific structure requirements</a:t>
            </a:r>
          </a:p>
          <a:p>
            <a:pPr marL="0" lvl="0" indent="0">
              <a:buNone/>
            </a:pPr>
            <a:endParaRPr/>
          </a:p>
          <a:p>
            <a:pPr lvl="0"/>
            <a:r>
              <a:t>Using the exact extension prevents these rules from applying to regular markdown</a:t>
            </a:r>
          </a:p>
          <a:p>
            <a:pPr marL="0" lvl="0" indent="0">
              <a:buNone/>
            </a:pPr>
            <a:endParaRPr/>
          </a:p>
          <a:p>
            <a:pPr marL="0" lvl="0" indent="0">
              <a:buNone/>
            </a:pPr>
            <a:r>
              <a:rPr b="1"/>
              <a:t>Key lesson</a:t>
            </a:r>
            <a:r>
              <a:t>: Notice how each pattern precisely targets its intended scope. There’s no overlap or ambiguity.</a:t>
            </a:r>
          </a:p>
          <a:p>
            <a:pPr marL="0" lvl="0" indent="0">
              <a:buNone/>
            </a:pPr>
            <a:endParaRPr/>
          </a:p>
          <a:p>
            <a:pPr marL="0" lvl="0" indent="0">
              <a:buNone/>
            </a:pPr>
            <a:r>
              <a:rPr b="1"/>
              <a:t>Timing</a:t>
            </a:r>
            <a:r>
              <a:t>: 2-3 minutes </a:t>
            </a:r>
            <a:r>
              <a:rPr b="1"/>
              <a:t>Ask</a:t>
            </a:r>
            <a:r>
              <a:t>: “Can anyone think of what would happen if example 4 used ‘*</a:t>
            </a:r>
            <a:r>
              <a:rPr i="1"/>
              <a:t>/</a:t>
            </a:r>
            <a:r>
              <a:t>.md’ instead? Right - slide formatting rules would apply to all markdown, including README files, causing conflicts.”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Let’s establish three core best practices that will guide your applyTo pattern decisions:</a:t>
            </a:r>
          </a:p>
          <a:p>
            <a:pPr marL="0" lvl="0" indent="0">
              <a:buNone/>
            </a:pPr>
            <a:endParaRPr/>
          </a:p>
          <a:p>
            <a:pPr marL="0" lvl="0" indent="0">
              <a:buNone/>
            </a:pPr>
            <a:r>
              <a:rPr b="1"/>
              <a:t>Best Practice 1: Be Specific When Possible</a:t>
            </a:r>
          </a:p>
          <a:p>
            <a:pPr marL="0" lvl="0" indent="0">
              <a:buNone/>
            </a:pPr>
            <a:endParaRPr b="1"/>
          </a:p>
          <a:p>
            <a:pPr marL="0" lvl="0" indent="0">
              <a:buNone/>
            </a:pPr>
            <a:r>
              <a:t>The more specific your pattern, the better. Why?</a:t>
            </a:r>
          </a:p>
          <a:p>
            <a:pPr marL="0" lvl="0" indent="0">
              <a:buNone/>
            </a:pPr>
            <a:endParaRPr/>
          </a:p>
          <a:p>
            <a:pPr lvl="0"/>
            <a:r>
              <a:t>Reduces Copilot context size (faster responses)</a:t>
            </a:r>
          </a:p>
          <a:p>
            <a:pPr marL="0" lvl="0" indent="0">
              <a:buNone/>
            </a:pPr>
            <a:endParaRPr/>
          </a:p>
          <a:p>
            <a:pPr lvl="0"/>
            <a:r>
              <a:t>Prevents instruction conflicts</a:t>
            </a:r>
          </a:p>
          <a:p>
            <a:pPr marL="0" lvl="0" indent="0">
              <a:buNone/>
            </a:pPr>
            <a:endParaRPr/>
          </a:p>
          <a:p>
            <a:pPr lvl="0"/>
            <a:r>
              <a:t>Makes intent clear to other developers</a:t>
            </a:r>
          </a:p>
          <a:p>
            <a:pPr marL="0" lvl="0" indent="0">
              <a:buNone/>
            </a:pPr>
            <a:endParaRPr/>
          </a:p>
          <a:p>
            <a:pPr lvl="0"/>
            <a:r>
              <a:t>Easier to debug when instructions aren’t applying as expected</a:t>
            </a:r>
          </a:p>
          <a:p>
            <a:pPr marL="0" lvl="0" indent="0">
              <a:buNone/>
            </a:pPr>
            <a:endParaRPr/>
          </a:p>
          <a:p>
            <a:pPr marL="0" lvl="0" indent="0">
              <a:buNone/>
            </a:pPr>
            <a:r>
              <a:t>Counter-example: If you use “**” for styling instructions that really only apply to frontend components, Copilot will load those instructions even when editing backend API code or database migrations. That’s wasteful and confusing.</a:t>
            </a:r>
          </a:p>
          <a:p>
            <a:pPr marL="0" lvl="0" indent="0">
              <a:buNone/>
            </a:pPr>
            <a:endParaRPr/>
          </a:p>
          <a:p>
            <a:pPr marL="0" lvl="0" indent="0">
              <a:buNone/>
            </a:pPr>
            <a:r>
              <a:rPr b="1"/>
              <a:t>Best Practice 2: Use Brace Expansion</a:t>
            </a:r>
          </a:p>
          <a:p>
            <a:pPr marL="0" lvl="0" indent="0">
              <a:buNone/>
            </a:pPr>
            <a:endParaRPr b="1"/>
          </a:p>
          <a:p>
            <a:pPr marL="0" lvl="0" indent="0">
              <a:buNone/>
            </a:pPr>
            <a:r>
              <a:t>When instructions apply to multiple file types, use brace expansion rather than creating multiple instruction files:</a:t>
            </a:r>
          </a:p>
          <a:p>
            <a:pPr marL="0" lvl="0" indent="0">
              <a:buNone/>
            </a:pPr>
            <a:endParaRPr/>
          </a:p>
          <a:p>
            <a:pPr lvl="0"/>
            <a:r>
              <a:t>Maintains single source of truth</a:t>
            </a:r>
          </a:p>
          <a:p>
            <a:pPr marL="0" lvl="0" indent="0">
              <a:buNone/>
            </a:pPr>
            <a:endParaRPr/>
          </a:p>
          <a:p>
            <a:pPr lvl="0"/>
            <a:r>
              <a:t>Easier to update (one file instead of many)</a:t>
            </a:r>
          </a:p>
          <a:p>
            <a:pPr marL="0" lvl="0" indent="0">
              <a:buNone/>
            </a:pPr>
            <a:endParaRPr/>
          </a:p>
          <a:p>
            <a:pPr lvl="0"/>
            <a:r>
              <a:t>Consistent rules across languages</a:t>
            </a:r>
          </a:p>
          <a:p>
            <a:pPr marL="0" lvl="0" indent="0">
              <a:buNone/>
            </a:pPr>
            <a:endParaRPr/>
          </a:p>
          <a:p>
            <a:pPr marL="0" lvl="0" indent="0">
              <a:buNone/>
            </a:pPr>
            <a:r>
              <a:t>But be careful: Only group file types that truly need the same instructions. Don’t group Python and JavaScript just because they’re both “code” if the instructions differ.</a:t>
            </a:r>
          </a:p>
          <a:p>
            <a:pPr marL="0" lvl="0" indent="0">
              <a:buNone/>
            </a:pPr>
            <a:endParaRPr/>
          </a:p>
          <a:p>
            <a:pPr marL="0" lvl="0" indent="0">
              <a:buNone/>
            </a:pPr>
            <a:r>
              <a:rPr b="1"/>
              <a:t>Best Practice 3: Match Scope to Purpose</a:t>
            </a:r>
          </a:p>
          <a:p>
            <a:pPr marL="0" lvl="0" indent="0">
              <a:buNone/>
            </a:pPr>
            <a:endParaRPr b="1"/>
          </a:p>
          <a:p>
            <a:pPr marL="0" lvl="0" indent="0">
              <a:buNone/>
            </a:pPr>
            <a:r>
              <a:t>This is about semantic clarity:</a:t>
            </a:r>
          </a:p>
          <a:p>
            <a:pPr marL="0" lvl="0" indent="0">
              <a:buNone/>
            </a:pPr>
            <a:endParaRPr/>
          </a:p>
          <a:p>
            <a:pPr lvl="0"/>
            <a:r>
              <a:t>Architecture patterns → Source code directories</a:t>
            </a:r>
          </a:p>
          <a:p>
            <a:pPr marL="0" lvl="0" indent="0">
              <a:buNone/>
            </a:pPr>
            <a:endParaRPr/>
          </a:p>
          <a:p>
            <a:pPr lvl="0"/>
            <a:r>
              <a:t>Documentation standards → Docs directories</a:t>
            </a:r>
          </a:p>
          <a:p>
            <a:pPr marL="0" lvl="0" indent="0">
              <a:buNone/>
            </a:pPr>
            <a:endParaRPr/>
          </a:p>
          <a:p>
            <a:pPr lvl="0"/>
            <a:r>
              <a:t>Testing guidelines → Test directories</a:t>
            </a:r>
          </a:p>
          <a:p>
            <a:pPr marL="0" lvl="0" indent="0">
              <a:buNone/>
            </a:pPr>
            <a:endParaRPr/>
          </a:p>
          <a:p>
            <a:pPr lvl="0"/>
            <a:r>
              <a:t>Deployment instructions → CI/CD configs</a:t>
            </a:r>
          </a:p>
          <a:p>
            <a:pPr marL="0" lvl="0" indent="0">
              <a:buNone/>
            </a:pPr>
            <a:endParaRPr/>
          </a:p>
          <a:p>
            <a:pPr marL="0" lvl="0" indent="0">
              <a:buNone/>
            </a:pPr>
            <a:r>
              <a:t>The pattern should make the instruction’s purpose obvious at a glance.</a:t>
            </a:r>
          </a:p>
          <a:p>
            <a:pPr marL="0" lvl="0" indent="0">
              <a:buNone/>
            </a:pPr>
            <a:endParaRPr/>
          </a:p>
          <a:p>
            <a:pPr marL="0" lvl="0" indent="0">
              <a:buNone/>
            </a:pPr>
            <a:r>
              <a:rPr b="1"/>
              <a:t>Example of bad scope</a:t>
            </a:r>
            <a:r>
              <a:t>: Having security scanning instructions with “*</a:t>
            </a:r>
            <a:r>
              <a:rPr i="1"/>
              <a:t>/</a:t>
            </a:r>
            <a:r>
              <a:t>.md” - security scans don’t apply to markdown files.</a:t>
            </a:r>
          </a:p>
          <a:p>
            <a:pPr marL="0" lvl="0" indent="0">
              <a:buNone/>
            </a:pPr>
            <a:endParaRPr/>
          </a:p>
          <a:p>
            <a:pPr marL="0" lvl="0" indent="0">
              <a:buNone/>
            </a:pPr>
            <a:r>
              <a:rPr b="1"/>
              <a:t>Example of good scope</a:t>
            </a:r>
            <a:r>
              <a:t>: Having security scanning with “src/*</a:t>
            </a:r>
            <a:r>
              <a:rPr i="1"/>
              <a:t>/</a:t>
            </a:r>
            <a:r>
              <a:t>.{cs,js,py}” - clearly applies to source code only.</a:t>
            </a:r>
          </a:p>
          <a:p>
            <a:pPr marL="0" lvl="0" indent="0">
              <a:buNone/>
            </a:pPr>
            <a:endParaRPr/>
          </a:p>
          <a:p>
            <a:pPr marL="0" lvl="0" indent="0">
              <a:buNone/>
            </a:pPr>
            <a:r>
              <a:rPr b="1"/>
              <a:t>Timing</a:t>
            </a:r>
            <a:r>
              <a:t>: 2.5 minutes </a:t>
            </a:r>
            <a:r>
              <a:rPr b="1"/>
              <a:t>Emphasize</a:t>
            </a:r>
            <a:r>
              <a:t>: “Specificity is not just a performance optimization - it’s about clarity and maintainability”</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Let’s look at three common mistakes and how to avoid them:</a:t>
            </a:r>
          </a:p>
          <a:p>
            <a:pPr marL="0" lvl="0" indent="0">
              <a:buNone/>
            </a:pPr>
            <a:endParaRPr/>
          </a:p>
          <a:p>
            <a:pPr marL="0" lvl="0" indent="0">
              <a:buNone/>
            </a:pPr>
            <a:r>
              <a:rPr b="1"/>
              <a:t>Pitfall 1: Too Broad</a:t>
            </a:r>
          </a:p>
          <a:p>
            <a:pPr marL="0" lvl="0" indent="0">
              <a:buNone/>
            </a:pPr>
            <a:endParaRPr b="1"/>
          </a:p>
          <a:p>
            <a:pPr marL="0" lvl="0" indent="0">
              <a:buNone/>
            </a:pPr>
            <a:r>
              <a:t>This happens when you use a universal pattern for something specific. The example shows slide formatting instructions using “**” - this would apply formatting rules designed for Marp presentations to every file in your repository, including C# code, JSON configs, and shell scripts. That’s confusing for both developers and Copilot.</a:t>
            </a:r>
          </a:p>
          <a:p>
            <a:pPr marL="0" lvl="0" indent="0">
              <a:buNone/>
            </a:pPr>
            <a:endParaRPr/>
          </a:p>
          <a:p>
            <a:pPr marL="0" lvl="0" indent="0">
              <a:buNone/>
            </a:pPr>
            <a:r>
              <a:rPr b="1"/>
              <a:t>How to identify</a:t>
            </a:r>
            <a:r>
              <a:t>: If your instruction file has a specific purpose that doesn’t apply to ALL files, don’t use “**”</a:t>
            </a:r>
          </a:p>
          <a:p>
            <a:pPr marL="0" lvl="0" indent="0">
              <a:buNone/>
            </a:pPr>
            <a:endParaRPr/>
          </a:p>
          <a:p>
            <a:pPr marL="0" lvl="0" indent="0">
              <a:buNone/>
            </a:pPr>
            <a:r>
              <a:rPr b="1"/>
              <a:t>Fix</a:t>
            </a:r>
            <a:r>
              <a:t>: Narrow to the specific directory or file types</a:t>
            </a:r>
          </a:p>
          <a:p>
            <a:pPr marL="0" lvl="0" indent="0">
              <a:buNone/>
            </a:pPr>
            <a:endParaRPr/>
          </a:p>
          <a:p>
            <a:pPr marL="0" lvl="0" indent="0">
              <a:buNone/>
            </a:pPr>
            <a:r>
              <a:rPr b="1"/>
              <a:t>Pitfall 2: Too Narrow</a:t>
            </a:r>
          </a:p>
          <a:p>
            <a:pPr marL="0" lvl="0" indent="0">
              <a:buNone/>
            </a:pPr>
            <a:endParaRPr b="1"/>
          </a:p>
          <a:p>
            <a:pPr marL="0" lvl="0" indent="0">
              <a:buNone/>
            </a:pPr>
            <a:r>
              <a:t>This is the opposite problem - being so specific that the instructions become brittle and hard to maintain. In the example, targeting only the UserManagement feature means:</a:t>
            </a:r>
          </a:p>
          <a:p>
            <a:pPr marL="0" lvl="0" indent="0">
              <a:buNone/>
            </a:pPr>
            <a:endParaRPr/>
          </a:p>
          <a:p>
            <a:pPr lvl="0"/>
            <a:r>
              <a:t>You need separate instruction files for each feature</a:t>
            </a:r>
          </a:p>
          <a:p>
            <a:pPr marL="0" lvl="0" indent="0">
              <a:buNone/>
            </a:pPr>
            <a:endParaRPr/>
          </a:p>
          <a:p>
            <a:pPr lvl="0"/>
            <a:r>
              <a:t>Adding a new feature requires a new instruction file</a:t>
            </a:r>
          </a:p>
          <a:p>
            <a:pPr marL="0" lvl="0" indent="0">
              <a:buNone/>
            </a:pPr>
            <a:endParaRPr/>
          </a:p>
          <a:p>
            <a:pPr lvl="0"/>
            <a:r>
              <a:t>The same architectural patterns can’t be shared across features</a:t>
            </a:r>
          </a:p>
          <a:p>
            <a:pPr marL="0" lvl="0" indent="0">
              <a:buNone/>
            </a:pPr>
            <a:endParaRPr/>
          </a:p>
          <a:p>
            <a:pPr marL="0" lvl="0" indent="0">
              <a:buNone/>
            </a:pPr>
            <a:r>
              <a:rPr b="1"/>
              <a:t>How to identify</a:t>
            </a:r>
            <a:r>
              <a:t>: If you find yourself creating many nearly-identical instruction files, your patterns are too narrow</a:t>
            </a:r>
          </a:p>
          <a:p>
            <a:pPr marL="0" lvl="0" indent="0">
              <a:buNone/>
            </a:pPr>
            <a:endParaRPr/>
          </a:p>
          <a:p>
            <a:pPr marL="0" lvl="0" indent="0">
              <a:buNone/>
            </a:pPr>
            <a:r>
              <a:rPr b="1"/>
              <a:t>Fix</a:t>
            </a:r>
            <a:r>
              <a:t>: Identify the common scope (like “src/Features/**”) and use that</a:t>
            </a:r>
          </a:p>
          <a:p>
            <a:pPr marL="0" lvl="0" indent="0">
              <a:buNone/>
            </a:pPr>
            <a:endParaRPr/>
          </a:p>
          <a:p>
            <a:pPr marL="0" lvl="0" indent="0">
              <a:buNone/>
            </a:pPr>
            <a:r>
              <a:rPr b="1"/>
              <a:t>Pitfall 3: Overlapping Instructions</a:t>
            </a:r>
          </a:p>
          <a:p>
            <a:pPr marL="0" lvl="0" indent="0">
              <a:buNone/>
            </a:pPr>
            <a:endParaRPr b="1"/>
          </a:p>
          <a:p>
            <a:pPr marL="0" lvl="0" indent="0">
              <a:buNone/>
            </a:pPr>
            <a:r>
              <a:t>This is the trickiest pitfall. When multiple instruction files match the same file path, Copilot loads all of them. Sometimes that’s intentional (general coding standards + language-specific patterns), but often it’s accidental and creates conflicts.</a:t>
            </a:r>
          </a:p>
          <a:p>
            <a:pPr marL="0" lvl="0" indent="0">
              <a:buNone/>
            </a:pPr>
            <a:endParaRPr/>
          </a:p>
          <a:p>
            <a:pPr marL="0" lvl="0" indent="0">
              <a:buNone/>
            </a:pPr>
            <a:r>
              <a:rPr b="1"/>
              <a:t>Concrete example</a:t>
            </a:r>
            <a:r>
              <a:t>:</a:t>
            </a:r>
          </a:p>
          <a:p>
            <a:pPr marL="0" lvl="0" indent="0">
              <a:buNone/>
            </a:pPr>
            <a:endParaRPr/>
          </a:p>
          <a:p>
            <a:pPr lvl="0"/>
            <a:r>
              <a:t>vertical-slice.instructions.md has “*</a:t>
            </a:r>
            <a:r>
              <a:rPr i="1"/>
              <a:t>/</a:t>
            </a:r>
            <a:r>
              <a:t>.cs”</a:t>
            </a:r>
          </a:p>
          <a:p>
            <a:pPr marL="0" lvl="0" indent="0">
              <a:buNone/>
            </a:pPr>
            <a:endParaRPr/>
          </a:p>
          <a:p>
            <a:pPr lvl="0"/>
            <a:r>
              <a:t>cqrs-architecture.instructions.md also has “*</a:t>
            </a:r>
            <a:r>
              <a:rPr i="1"/>
              <a:t>/</a:t>
            </a:r>
            <a:r>
              <a:t>.cs”</a:t>
            </a:r>
          </a:p>
          <a:p>
            <a:pPr marL="0" lvl="0" indent="0">
              <a:buNone/>
            </a:pPr>
            <a:endParaRPr/>
          </a:p>
          <a:p>
            <a:pPr lvl="0"/>
            <a:r>
              <a:t>Both get loaded for every C# file</a:t>
            </a:r>
          </a:p>
          <a:p>
            <a:pPr marL="0" lvl="0" indent="0">
              <a:buNone/>
            </a:pPr>
            <a:endParaRPr/>
          </a:p>
          <a:p>
            <a:pPr lvl="0"/>
            <a:r>
              <a:t>If they have conflicting guidance (which architectural style to use), Copilot gets confused</a:t>
            </a:r>
          </a:p>
          <a:p>
            <a:pPr marL="0" lvl="0" indent="0">
              <a:buNone/>
            </a:pPr>
            <a:endParaRPr/>
          </a:p>
          <a:p>
            <a:pPr marL="0" lvl="0" indent="0">
              <a:buNone/>
            </a:pPr>
            <a:r>
              <a:rPr b="1"/>
              <a:t>How to identify</a:t>
            </a:r>
            <a:r>
              <a:t>: List all your instruction files and their patterns side-by-side. Look for overlaps.</a:t>
            </a:r>
          </a:p>
          <a:p>
            <a:pPr marL="0" lvl="0" indent="0">
              <a:buNone/>
            </a:pPr>
            <a:endParaRPr/>
          </a:p>
          <a:p>
            <a:pPr marL="0" lvl="0" indent="0">
              <a:buNone/>
            </a:pPr>
            <a:r>
              <a:rPr b="1"/>
              <a:t>Fix strategies</a:t>
            </a:r>
            <a:r>
              <a:t>:</a:t>
            </a:r>
          </a:p>
          <a:p>
            <a:pPr marL="0" lvl="0" indent="0">
              <a:buNone/>
            </a:pPr>
            <a:endParaRPr/>
          </a:p>
          <a:p>
            <a:pPr marL="342900" lvl="0" indent="-342900">
              <a:buAutoNum type="arabicPeriod"/>
            </a:pPr>
            <a:r>
              <a:t>Make patterns mutually exclusive (one uses “src/Domain/</a:t>
            </a:r>
            <a:r>
              <a:rPr b="1"/>
              <a:t>”, the other uses ”src/Infrastructure/</a:t>
            </a:r>
            <a:r>
              <a:t>”)</a:t>
            </a:r>
          </a:p>
          <a:p>
            <a:pPr marL="0" lvl="0" indent="0">
              <a:buNone/>
            </a:pPr>
            <a:endParaRPr/>
          </a:p>
          <a:p>
            <a:pPr marL="342900" lvl="0" indent="-342900">
              <a:buAutoNum type="arabicPeriod"/>
            </a:pPr>
            <a:r>
              <a:t>Use more specific file naming patterns (one targets “</a:t>
            </a:r>
            <a:r>
              <a:rPr i="1"/>
              <a:t>.Commands.cs”, the other ”</a:t>
            </a:r>
            <a:r>
              <a:t>.Queries.cs”)</a:t>
            </a:r>
          </a:p>
          <a:p>
            <a:pPr marL="0" lvl="0" indent="0">
              <a:buNone/>
            </a:pPr>
            <a:endParaRPr/>
          </a:p>
          <a:p>
            <a:pPr marL="342900" lvl="0" indent="-342900">
              <a:buAutoNum type="arabicPeriod"/>
            </a:pPr>
            <a:r>
              <a:t>If overlap is intentional, ensure instructions are complementary, not contradictory</a:t>
            </a:r>
          </a:p>
          <a:p>
            <a:pPr marL="0" lvl="0" indent="0">
              <a:buNone/>
            </a:pPr>
            <a:endParaRPr/>
          </a:p>
          <a:p>
            <a:pPr marL="0" lvl="0" indent="0">
              <a:buNone/>
            </a:pPr>
            <a:r>
              <a:rPr b="1"/>
              <a:t>Timing</a:t>
            </a:r>
            <a:r>
              <a:t>: 3 minutes - this is important, take time for questions </a:t>
            </a:r>
            <a:r>
              <a:rPr b="1"/>
              <a:t>Interactive element</a:t>
            </a:r>
            <a:r>
              <a:t>: “Has anyone experienced unexpected Copilot behavior? It might be due to overlapping instructions.”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Testing your applyTo patterns before committing is crucial. Here are three methods, in order of sophistication:</a:t>
            </a:r>
          </a:p>
          <a:p>
            <a:pPr marL="0" lvl="0" indent="0">
              <a:buNone/>
            </a:pPr>
            <a:endParaRPr/>
          </a:p>
          <a:p>
            <a:pPr marL="0" lvl="0" indent="0">
              <a:buNone/>
            </a:pPr>
            <a:r>
              <a:rPr b="1"/>
              <a:t>Method 1: File System Commands</a:t>
            </a:r>
          </a:p>
          <a:p>
            <a:pPr marL="0" lvl="0" indent="0">
              <a:buNone/>
            </a:pPr>
            <a:endParaRPr b="1"/>
          </a:p>
          <a:p>
            <a:pPr marL="0" lvl="0" indent="0">
              <a:buNone/>
            </a:pPr>
            <a:r>
              <a:t>Use your shell’s file finding capabilities to preview what matches:</a:t>
            </a:r>
          </a:p>
          <a:p>
            <a:pPr marL="0" lvl="0" indent="0">
              <a:buNone/>
            </a:pPr>
            <a:endParaRPr/>
          </a:p>
          <a:p>
            <a:pPr marL="0" lvl="0" indent="0">
              <a:buNone/>
            </a:pPr>
            <a:r>
              <a:t>PowerShell (Windows):</a:t>
            </a:r>
          </a:p>
          <a:p>
            <a:pPr marL="0" lvl="0" indent="0">
              <a:buNone/>
            </a:pPr>
            <a:endParaRPr/>
          </a:p>
          <a:p>
            <a:pPr lvl="0"/>
            <a:r>
              <a:t>Get-ChildItem with -Filter and -Recurse shows what files match</a:t>
            </a:r>
          </a:p>
          <a:p>
            <a:pPr marL="0" lvl="0" indent="0">
              <a:buNone/>
            </a:pPr>
            <a:endParaRPr/>
          </a:p>
          <a:p>
            <a:pPr lvl="0"/>
            <a:r>
              <a:t>Can pipe to Where-Object for complex filtering</a:t>
            </a:r>
          </a:p>
          <a:p>
            <a:pPr marL="0" lvl="0" indent="0">
              <a:buNone/>
            </a:pPr>
            <a:endParaRPr/>
          </a:p>
          <a:p>
            <a:pPr lvl="0"/>
            <a:r>
              <a:t>Example: Get-ChildItem -Path “.” -Filter “*.cs” -Recurse | Select-Object FullName</a:t>
            </a:r>
          </a:p>
          <a:p>
            <a:pPr marL="0" lvl="0" indent="0">
              <a:buNone/>
            </a:pPr>
            <a:endParaRPr/>
          </a:p>
          <a:p>
            <a:pPr marL="0" lvl="0" indent="0">
              <a:buNone/>
            </a:pPr>
            <a:r>
              <a:t>Bash/Zsh (Linux/Mac):</a:t>
            </a:r>
          </a:p>
          <a:p>
            <a:pPr marL="0" lvl="0" indent="0">
              <a:buNone/>
            </a:pPr>
            <a:endParaRPr/>
          </a:p>
          <a:p>
            <a:pPr lvl="0"/>
            <a:r>
              <a:t>find command with -name flag</a:t>
            </a:r>
          </a:p>
          <a:p>
            <a:pPr marL="0" lvl="0" indent="0">
              <a:buNone/>
            </a:pPr>
            <a:endParaRPr/>
          </a:p>
          <a:p>
            <a:pPr lvl="0"/>
            <a:r>
              <a:t>Can combine with grep for more complex patterns</a:t>
            </a:r>
          </a:p>
          <a:p>
            <a:pPr marL="0" lvl="0" indent="0">
              <a:buNone/>
            </a:pPr>
            <a:endParaRPr/>
          </a:p>
          <a:p>
            <a:pPr lvl="0"/>
            <a:r>
              <a:t>Example: find ./src -name “*.cs” -type f</a:t>
            </a:r>
          </a:p>
          <a:p>
            <a:pPr marL="0" lvl="0" indent="0">
              <a:buNone/>
            </a:pPr>
            <a:endParaRPr/>
          </a:p>
          <a:p>
            <a:pPr marL="0" lvl="0" indent="0">
              <a:buNone/>
            </a:pPr>
            <a:r>
              <a:rPr b="1"/>
              <a:t>Why this matters</a:t>
            </a:r>
            <a:r>
              <a:t>: If your pattern matches more or fewer files than expected, you’ll catch it before Copilot does.</a:t>
            </a:r>
          </a:p>
          <a:p>
            <a:pPr marL="0" lvl="0" indent="0">
              <a:buNone/>
            </a:pPr>
            <a:endParaRPr/>
          </a:p>
          <a:p>
            <a:pPr marL="0" lvl="0" indent="0">
              <a:buNone/>
            </a:pPr>
            <a:r>
              <a:rPr b="1"/>
              <a:t>Method 2: Online Glob Testers</a:t>
            </a:r>
          </a:p>
          <a:p>
            <a:pPr marL="0" lvl="0" indent="0">
              <a:buNone/>
            </a:pPr>
            <a:endParaRPr b="1"/>
          </a:p>
          <a:p>
            <a:pPr marL="0" lvl="0" indent="0">
              <a:buNone/>
            </a:pPr>
            <a:r>
              <a:t>Tools like globster.xyz let you:</a:t>
            </a:r>
          </a:p>
          <a:p>
            <a:pPr marL="0" lvl="0" indent="0">
              <a:buNone/>
            </a:pPr>
            <a:endParaRPr/>
          </a:p>
          <a:p>
            <a:pPr lvl="0"/>
            <a:r>
              <a:t>Enter a glob pattern</a:t>
            </a:r>
          </a:p>
          <a:p>
            <a:pPr marL="0" lvl="0" indent="0">
              <a:buNone/>
            </a:pPr>
            <a:endParaRPr/>
          </a:p>
          <a:p>
            <a:pPr lvl="0"/>
            <a:r>
              <a:t>Paste a list of file paths</a:t>
            </a:r>
          </a:p>
          <a:p>
            <a:pPr marL="0" lvl="0" indent="0">
              <a:buNone/>
            </a:pPr>
            <a:endParaRPr/>
          </a:p>
          <a:p>
            <a:pPr lvl="0"/>
            <a:r>
              <a:t>See visually which paths match</a:t>
            </a:r>
          </a:p>
          <a:p>
            <a:pPr marL="0" lvl="0" indent="0">
              <a:buNone/>
            </a:pPr>
            <a:endParaRPr/>
          </a:p>
          <a:p>
            <a:pPr marL="0" lvl="0" indent="0">
              <a:buNone/>
            </a:pPr>
            <a:r>
              <a:t>This is especially useful for complex patterns with brace expansion or character classes. You can experiment with patterns and see results immediately without touching your repository.</a:t>
            </a:r>
          </a:p>
          <a:p>
            <a:pPr marL="0" lvl="0" indent="0">
              <a:buNone/>
            </a:pPr>
            <a:endParaRPr/>
          </a:p>
          <a:p>
            <a:pPr marL="0" lvl="0" indent="0">
              <a:buNone/>
            </a:pPr>
            <a:r>
              <a:rPr b="1"/>
              <a:t>Pro tip</a:t>
            </a:r>
            <a:r>
              <a:t>: Keep a browser tab with globster open when writing complex patterns</a:t>
            </a:r>
          </a:p>
          <a:p>
            <a:pPr marL="0" lvl="0" indent="0">
              <a:buNone/>
            </a:pPr>
            <a:endParaRPr/>
          </a:p>
          <a:p>
            <a:pPr marL="0" lvl="0" indent="0">
              <a:buNone/>
            </a:pPr>
            <a:r>
              <a:rPr b="1"/>
              <a:t>Method 3: Behavioral Testing</a:t>
            </a:r>
          </a:p>
          <a:p>
            <a:pPr marL="0" lvl="0" indent="0">
              <a:buNone/>
            </a:pPr>
            <a:endParaRPr b="1"/>
          </a:p>
          <a:p>
            <a:pPr marL="0" lvl="0" indent="0">
              <a:buNone/>
            </a:pPr>
            <a:r>
              <a:t>The ultimate test - does Copilot actually behave as expected?</a:t>
            </a:r>
          </a:p>
          <a:p>
            <a:pPr marL="0" lvl="0" indent="0">
              <a:buNone/>
            </a:pPr>
            <a:endParaRPr/>
          </a:p>
          <a:p>
            <a:pPr marL="0" lvl="0" indent="0">
              <a:buNone/>
            </a:pPr>
            <a:r>
              <a:t>Steps:</a:t>
            </a:r>
          </a:p>
          <a:p>
            <a:pPr marL="0" lvl="0" indent="0">
              <a:buNone/>
            </a:pPr>
            <a:endParaRPr/>
          </a:p>
          <a:p>
            <a:pPr marL="342900" lvl="0" indent="-342900">
              <a:buAutoNum type="arabicPeriod"/>
            </a:pPr>
            <a:r>
              <a:t>Add your instruction file with applyTo pattern</a:t>
            </a:r>
          </a:p>
          <a:p>
            <a:pPr marL="0" lvl="0" indent="0">
              <a:buNone/>
            </a:pPr>
            <a:endParaRPr/>
          </a:p>
          <a:p>
            <a:pPr marL="342900" lvl="0" indent="-342900">
              <a:buAutoNum type="arabicPeriod"/>
            </a:pPr>
            <a:r>
              <a:t>Open a file that SHOULD match</a:t>
            </a:r>
          </a:p>
          <a:p>
            <a:pPr marL="0" lvl="0" indent="0">
              <a:buNone/>
            </a:pPr>
            <a:endParaRPr/>
          </a:p>
          <a:p>
            <a:pPr marL="342900" lvl="0" indent="-342900">
              <a:buAutoNum type="arabicPeriod"/>
            </a:pPr>
            <a:r>
              <a:t>Ask Copilot to do something covered by the instruction</a:t>
            </a:r>
          </a:p>
          <a:p>
            <a:pPr marL="0" lvl="0" indent="0">
              <a:buNone/>
            </a:pPr>
            <a:endParaRPr/>
          </a:p>
          <a:p>
            <a:pPr marL="342900" lvl="0" indent="-342900">
              <a:buAutoNum type="arabicPeriod"/>
            </a:pPr>
            <a:r>
              <a:t>Verify it follows the rules</a:t>
            </a:r>
          </a:p>
          <a:p>
            <a:pPr marL="0" lvl="0" indent="0">
              <a:buNone/>
            </a:pPr>
            <a:endParaRPr/>
          </a:p>
          <a:p>
            <a:pPr marL="342900" lvl="0" indent="-342900">
              <a:buAutoNum type="arabicPeriod"/>
            </a:pPr>
            <a:r>
              <a:t>Open a file that SHOULD NOT match</a:t>
            </a:r>
          </a:p>
          <a:p>
            <a:pPr marL="0" lvl="0" indent="0">
              <a:buNone/>
            </a:pPr>
            <a:endParaRPr/>
          </a:p>
          <a:p>
            <a:pPr marL="342900" lvl="0" indent="-342900">
              <a:buAutoNum type="arabicPeriod"/>
            </a:pPr>
            <a:r>
              <a:t>Verify Copilot doesn’t apply those rules</a:t>
            </a:r>
          </a:p>
          <a:p>
            <a:pPr marL="0" lvl="0" indent="0">
              <a:buNone/>
            </a:pPr>
            <a:endParaRPr/>
          </a:p>
          <a:p>
            <a:pPr marL="0" lvl="0" indent="0">
              <a:buNone/>
            </a:pPr>
            <a:r>
              <a:rPr b="1"/>
              <a:t>Example</a:t>
            </a:r>
            <a:r>
              <a:t>: After adding a vertical-slice.instructions.md with “src/*</a:t>
            </a:r>
            <a:r>
              <a:rPr i="1"/>
              <a:t>/</a:t>
            </a:r>
            <a:r>
              <a:t>.cs”, open a C# file in src/ and ask Copilot to create a new feature. It should use vertical slice architecture. Then open a C# file in tests/ and verify it doesn’t try to apply feature architecture to test code.</a:t>
            </a:r>
          </a:p>
          <a:p>
            <a:pPr marL="0" lvl="0" indent="0">
              <a:buNone/>
            </a:pPr>
            <a:endParaRPr/>
          </a:p>
          <a:p>
            <a:pPr marL="0" lvl="0" indent="0">
              <a:buNone/>
            </a:pPr>
            <a:r>
              <a:rPr b="1"/>
              <a:t>Timing</a:t>
            </a:r>
            <a:r>
              <a:t>: 2 minutes </a:t>
            </a:r>
            <a:r>
              <a:rPr b="1"/>
              <a:t>Practical tip</a:t>
            </a:r>
            <a:r>
              <a:t>: “I recommend testing every new instruction file pattern with method 1 or 2 before pushing to your team” </a:t>
            </a:r>
            <a:r>
              <a:rPr b="1"/>
              <a:t>Transition</a:t>
            </a:r>
            <a:r>
              <a:t>: “Let’s wrap up with key takeaways”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Let’s consolidate the technical details about how pattern matching actually works in practice:</a:t>
            </a:r>
          </a:p>
          <a:p>
            <a:pPr marL="0" lvl="0" indent="0">
              <a:buNone/>
            </a:pPr>
            <a:endParaRPr/>
          </a:p>
          <a:p>
            <a:pPr marL="0" lvl="0" indent="0">
              <a:buNone/>
            </a:pPr>
            <a:r>
              <a:rPr b="1"/>
              <a:t>Evaluation Timing</a:t>
            </a:r>
            <a:r>
              <a:t>: Pattern matching happens dynamically. When you open a file, VS Code/Copilot:</a:t>
            </a:r>
          </a:p>
          <a:p>
            <a:pPr marL="0" lvl="0" indent="0">
              <a:buNone/>
            </a:pPr>
            <a:endParaRPr/>
          </a:p>
          <a:p>
            <a:pPr marL="342900" lvl="0" indent="-342900">
              <a:buAutoNum type="arabicPeriod"/>
            </a:pPr>
            <a:r>
              <a:t>Scans all instruction files in the workspace</a:t>
            </a:r>
          </a:p>
          <a:p>
            <a:pPr marL="0" lvl="0" indent="0">
              <a:buNone/>
            </a:pPr>
            <a:endParaRPr/>
          </a:p>
          <a:p>
            <a:pPr marL="342900" lvl="0" indent="-342900">
              <a:buAutoNum type="arabicPeriod"/>
            </a:pPr>
            <a:r>
              <a:t>Evaluates each applyTo pattern against the current file path</a:t>
            </a:r>
          </a:p>
          <a:p>
            <a:pPr marL="0" lvl="0" indent="0">
              <a:buNone/>
            </a:pPr>
            <a:endParaRPr/>
          </a:p>
          <a:p>
            <a:pPr marL="342900" lvl="0" indent="-342900">
              <a:buAutoNum type="arabicPeriod"/>
            </a:pPr>
            <a:r>
              <a:t>Loads matching instructions into Copilot’s context window</a:t>
            </a:r>
          </a:p>
          <a:p>
            <a:pPr marL="0" lvl="0" indent="0">
              <a:buNone/>
            </a:pPr>
            <a:endParaRPr/>
          </a:p>
          <a:p>
            <a:pPr marL="342900" lvl="0" indent="-342900">
              <a:buAutoNum type="arabicPeriod"/>
            </a:pPr>
            <a:r>
              <a:t>This context is then used for all Copilot operations in that file</a:t>
            </a:r>
          </a:p>
          <a:p>
            <a:pPr marL="0" lvl="0" indent="0">
              <a:buNone/>
            </a:pPr>
            <a:endParaRPr/>
          </a:p>
          <a:p>
            <a:pPr marL="0" lvl="0" indent="0">
              <a:buNone/>
            </a:pPr>
            <a:r>
              <a:t>This is important because it means pattern matching is NOT a one-time operation at startup - it happens constantly as you switch between files.</a:t>
            </a:r>
          </a:p>
          <a:p>
            <a:pPr marL="0" lvl="0" indent="0">
              <a:buNone/>
            </a:pPr>
            <a:endParaRPr/>
          </a:p>
          <a:p>
            <a:pPr marL="0" lvl="0" indent="0">
              <a:buNone/>
            </a:pPr>
            <a:r>
              <a:rPr b="1"/>
              <a:t>Multiple Matches</a:t>
            </a:r>
            <a:r>
              <a:t>: It’s perfectly valid for multiple instruction files to match the same file. Copilot will try to follow all applicable instructions. This is why avoiding conflicts is so important - if two instructions contradict each other, Copilot will struggle.</a:t>
            </a:r>
          </a:p>
          <a:p>
            <a:pPr marL="0" lvl="0" indent="0">
              <a:buNone/>
            </a:pPr>
            <a:endParaRPr/>
          </a:p>
          <a:p>
            <a:pPr marL="0" lvl="0" indent="0">
              <a:buNone/>
            </a:pPr>
            <a:r>
              <a:rPr b="1"/>
              <a:t>Example of intentional multiple matches</a:t>
            </a:r>
            <a:r>
              <a:t>:</a:t>
            </a:r>
          </a:p>
          <a:p>
            <a:pPr marL="0" lvl="0" indent="0">
              <a:buNone/>
            </a:pPr>
            <a:endParaRPr/>
          </a:p>
          <a:p>
            <a:pPr lvl="0"/>
            <a:r>
              <a:t>general-coding-standards.instructions.md with “*</a:t>
            </a:r>
            <a:r>
              <a:rPr i="1"/>
              <a:t>/</a:t>
            </a:r>
            <a:r>
              <a:t>.cs”</a:t>
            </a:r>
          </a:p>
          <a:p>
            <a:pPr marL="0" lvl="0" indent="0">
              <a:buNone/>
            </a:pPr>
            <a:endParaRPr/>
          </a:p>
          <a:p>
            <a:pPr lvl="0"/>
            <a:r>
              <a:t>vertical-slice-architecture.instructions.md with “src/Features/*</a:t>
            </a:r>
            <a:r>
              <a:rPr i="1"/>
              <a:t>/</a:t>
            </a:r>
            <a:r>
              <a:t>.cs”</a:t>
            </a:r>
          </a:p>
          <a:p>
            <a:pPr marL="0" lvl="0" indent="0">
              <a:buNone/>
            </a:pPr>
            <a:endParaRPr/>
          </a:p>
          <a:p>
            <a:pPr lvl="0"/>
            <a:r>
              <a:t>A file at “src/Features/Users/CreateUser.cs” matches both</a:t>
            </a:r>
          </a:p>
          <a:p>
            <a:pPr marL="0" lvl="0" indent="0">
              <a:buNone/>
            </a:pPr>
            <a:endParaRPr/>
          </a:p>
          <a:p>
            <a:pPr lvl="0"/>
            <a:r>
              <a:t>Both instruction sets apply (general standards + architecture patterns)</a:t>
            </a:r>
          </a:p>
          <a:p>
            <a:pPr marL="0" lvl="0" indent="0">
              <a:buNone/>
            </a:pPr>
            <a:endParaRPr/>
          </a:p>
          <a:p>
            <a:pPr lvl="0"/>
            <a:r>
              <a:t>This works if the instructions are complementary</a:t>
            </a:r>
          </a:p>
          <a:p>
            <a:pPr marL="0" lvl="0" indent="0">
              <a:buNone/>
            </a:pPr>
            <a:endParaRPr/>
          </a:p>
          <a:p>
            <a:pPr marL="0" lvl="0" indent="0">
              <a:buNone/>
            </a:pPr>
            <a:r>
              <a:rPr b="1"/>
              <a:t>Specificity and Precedence</a:t>
            </a:r>
            <a:r>
              <a:t>: Unlike CSS, there’s no formal “specificity” calculation where more specific patterns override less specific ones. Instead, ALL matching instructions are loaded. The idea of “precedence” is more about human clarity - more specific patterns make intent clearer, but don’t technically override anything.</a:t>
            </a:r>
          </a:p>
          <a:p>
            <a:pPr marL="0" lvl="0" indent="0">
              <a:buNone/>
            </a:pPr>
            <a:endParaRPr/>
          </a:p>
          <a:p>
            <a:pPr marL="0" lvl="0" indent="0">
              <a:buNone/>
            </a:pPr>
            <a:r>
              <a:rPr b="1"/>
              <a:t>Repository Root</a:t>
            </a:r>
            <a:r>
              <a:t>: All patterns are relative to the workspace root (where .git directory is located). There’s no way to use absolute paths, which is good for portability.</a:t>
            </a:r>
          </a:p>
          <a:p>
            <a:pPr marL="0" lvl="0" indent="0">
              <a:buNone/>
            </a:pPr>
            <a:endParaRPr/>
          </a:p>
          <a:p>
            <a:pPr marL="0" lvl="0" indent="0">
              <a:buNone/>
            </a:pPr>
            <a:r>
              <a:rPr b="1"/>
              <a:t>Case Sensitivity</a:t>
            </a:r>
            <a:r>
              <a:t>: Critical detail - this depends on the underlying file system:</a:t>
            </a:r>
          </a:p>
          <a:p>
            <a:pPr marL="0" lvl="0" indent="0">
              <a:buNone/>
            </a:pPr>
            <a:endParaRPr/>
          </a:p>
          <a:p>
            <a:pPr lvl="0"/>
            <a:r>
              <a:t>Windows: case-insensitive (“*.MD” matches “file.md”)</a:t>
            </a:r>
          </a:p>
          <a:p>
            <a:pPr marL="0" lvl="0" indent="0">
              <a:buNone/>
            </a:pPr>
            <a:endParaRPr/>
          </a:p>
          <a:p>
            <a:pPr lvl="0"/>
            <a:r>
              <a:t>Linux: case-sensitive (“*.MD” matches “file.MD” but not “file.md”)</a:t>
            </a:r>
          </a:p>
          <a:p>
            <a:pPr marL="0" lvl="0" indent="0">
              <a:buNone/>
            </a:pPr>
            <a:endParaRPr/>
          </a:p>
          <a:p>
            <a:pPr lvl="0"/>
            <a:r>
              <a:t>macOS: depends on file system format (usually case-insensitive)</a:t>
            </a:r>
          </a:p>
          <a:p>
            <a:pPr marL="0" lvl="0" indent="0">
              <a:buNone/>
            </a:pPr>
            <a:endParaRPr/>
          </a:p>
          <a:p>
            <a:pPr marL="0" lvl="0" indent="0">
              <a:buNone/>
            </a:pPr>
            <a:r>
              <a:t>Best practice: Always use lowercase in patterns and standardize file naming to lowercase to avoid cross-platform issues.</a:t>
            </a:r>
          </a:p>
          <a:p>
            <a:pPr marL="0" lvl="0" indent="0">
              <a:buNone/>
            </a:pPr>
            <a:endParaRPr/>
          </a:p>
          <a:p>
            <a:pPr marL="0" lvl="0" indent="0">
              <a:buNone/>
            </a:pPr>
            <a:r>
              <a:rPr b="1"/>
              <a:t>Timing</a:t>
            </a:r>
            <a:r>
              <a:t>: 2-3 minutes </a:t>
            </a:r>
            <a:r>
              <a:rPr b="1"/>
              <a:t>Important</a:t>
            </a:r>
            <a:r>
              <a:t>: “The dynamic evaluation means you can test instruction changes immediately - just close and reopen a file”</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Let’s wrap up with a practical decision-making framework:</a:t>
            </a:r>
          </a:p>
          <a:p>
            <a:pPr marL="0" lvl="0" indent="0">
              <a:buNone/>
            </a:pPr>
            <a:endParaRPr/>
          </a:p>
          <a:p>
            <a:pPr marL="0" lvl="0" indent="0">
              <a:buNone/>
            </a:pPr>
            <a:r>
              <a:rPr b="1"/>
              <a:t>The Four Essential Pattern Categories</a:t>
            </a:r>
            <a:r>
              <a:t>:</a:t>
            </a:r>
          </a:p>
          <a:p>
            <a:pPr marL="0" lvl="0" indent="0">
              <a:buNone/>
            </a:pPr>
            <a:endParaRPr/>
          </a:p>
          <a:p>
            <a:pPr marL="0" lvl="0" indent="0">
              <a:buNone/>
            </a:pPr>
            <a:r>
              <a:t>These four patterns cover 95% of real-world use cases. Let me give you concrete examples of when to use each:</a:t>
            </a:r>
          </a:p>
          <a:p>
            <a:pPr marL="0" lvl="0" indent="0">
              <a:buNone/>
            </a:pPr>
            <a:endParaRPr/>
          </a:p>
          <a:p>
            <a:pPr marL="342900" lvl="0" indent="-342900">
              <a:buAutoNum type="arabicPeriod"/>
            </a:pPr>
            <a:r>
              <a:t>**Universal </a:t>
            </a:r>
            <a:r>
              <a:rPr>
                <a:latin typeface="Courier"/>
              </a:rPr>
              <a:t>**/\*</a:t>
            </a:r>
            <a:r>
              <a:t>**:</a:t>
            </a:r>
          </a:p>
          <a:p>
            <a:pPr marL="0" lvl="0" indent="0">
              <a:buNone/>
            </a:pPr>
            <a:endParaRPr/>
          </a:p>
          <a:p>
            <a:pPr lvl="1"/>
            <a:r>
              <a:t>AI provenance policies</a:t>
            </a:r>
          </a:p>
          <a:p>
            <a:pPr marL="0" lvl="0" indent="0">
              <a:buNone/>
            </a:pPr>
            <a:endParaRPr/>
          </a:p>
          <a:p>
            <a:pPr lvl="1"/>
            <a:r>
              <a:t>Security compliance requirements</a:t>
            </a:r>
          </a:p>
          <a:p>
            <a:pPr marL="0" lvl="0" indent="0">
              <a:buNone/>
            </a:pPr>
            <a:endParaRPr/>
          </a:p>
          <a:p>
            <a:pPr lvl="1"/>
            <a:r>
              <a:t>Legal/licensing standards</a:t>
            </a:r>
          </a:p>
          <a:p>
            <a:pPr marL="0" lvl="0" indent="0">
              <a:buNone/>
            </a:pPr>
            <a:endParaRPr/>
          </a:p>
          <a:p>
            <a:pPr lvl="1"/>
            <a:r>
              <a:t>Organization-wide conventions</a:t>
            </a:r>
          </a:p>
          <a:p>
            <a:pPr marL="0" lvl="0" indent="0">
              <a:buNone/>
            </a:pPr>
            <a:endParaRPr/>
          </a:p>
          <a:p>
            <a:pPr lvl="1"/>
            <a:r>
              <a:t>Should be max 2-3 instruction files in your entire repo</a:t>
            </a:r>
          </a:p>
          <a:p>
            <a:pPr marL="0" lvl="0" indent="0">
              <a:buNone/>
            </a:pPr>
            <a:endParaRPr/>
          </a:p>
          <a:p>
            <a:pPr marL="342900" lvl="0" indent="-342900">
              <a:buAutoNum type="arabicPeriod"/>
            </a:pPr>
            <a:r>
              <a:t>**Multi-extension </a:t>
            </a:r>
            <a:r>
              <a:rPr>
                <a:latin typeface="Courier"/>
              </a:rPr>
              <a:t>**/\*.{ext1,ext2}</a:t>
            </a:r>
            <a:r>
              <a:t>**:</a:t>
            </a:r>
          </a:p>
          <a:p>
            <a:pPr marL="0" lvl="0" indent="0">
              <a:buNone/>
            </a:pPr>
            <a:endParaRPr/>
          </a:p>
          <a:p>
            <a:pPr lvl="1"/>
            <a:r>
              <a:t>Language-agnostic code quality patterns</a:t>
            </a:r>
          </a:p>
          <a:p>
            <a:pPr marL="0" lvl="0" indent="0">
              <a:buNone/>
            </a:pPr>
            <a:endParaRPr/>
          </a:p>
          <a:p>
            <a:pPr lvl="1"/>
            <a:r>
              <a:t>Cross-language architecture styles</a:t>
            </a:r>
          </a:p>
          <a:p>
            <a:pPr marL="0" lvl="0" indent="0">
              <a:buNone/>
            </a:pPr>
            <a:endParaRPr/>
          </a:p>
          <a:p>
            <a:pPr lvl="1"/>
            <a:r>
              <a:t>Multi-language testing strategies</a:t>
            </a:r>
          </a:p>
          <a:p>
            <a:pPr marL="0" lvl="0" indent="0">
              <a:buNone/>
            </a:pPr>
            <a:endParaRPr/>
          </a:p>
          <a:p>
            <a:pPr lvl="1"/>
            <a:r>
              <a:t>Example: Vertical slice could apply to C#, TypeScript, Python features</a:t>
            </a:r>
          </a:p>
          <a:p>
            <a:pPr marL="0" lvl="0" indent="0">
              <a:buNone/>
            </a:pPr>
            <a:endParaRPr/>
          </a:p>
          <a:p>
            <a:pPr marL="342900" lvl="0" indent="-342900">
              <a:buAutoNum type="arabicPeriod"/>
            </a:pPr>
            <a:r>
              <a:t>**Directory scope </a:t>
            </a:r>
            <a:r>
              <a:rPr>
                <a:latin typeface="Courier"/>
              </a:rPr>
              <a:t>directory/**</a:t>
            </a:r>
            <a:r>
              <a:t>**:</a:t>
            </a:r>
          </a:p>
          <a:p>
            <a:pPr marL="0" lvl="0" indent="0">
              <a:buNone/>
            </a:pPr>
            <a:endParaRPr/>
          </a:p>
          <a:p>
            <a:pPr lvl="1"/>
            <a:r>
              <a:t>Slide formatting (Slides/*)</a:t>
            </a:r>
          </a:p>
          <a:p>
            <a:pPr marL="0" lvl="0" indent="0">
              <a:buNone/>
            </a:pPr>
            <a:endParaRPr/>
          </a:p>
          <a:p>
            <a:pPr lvl="1"/>
            <a:r>
              <a:t>API documentation (docs/api/**)</a:t>
            </a:r>
          </a:p>
          <a:p>
            <a:pPr marL="0" lvl="0" indent="0">
              <a:buNone/>
            </a:pPr>
            <a:endParaRPr/>
          </a:p>
          <a:p>
            <a:pPr lvl="1"/>
            <a:r>
              <a:t>Feature isolation (src/Features/**)</a:t>
            </a:r>
          </a:p>
          <a:p>
            <a:pPr marL="0" lvl="0" indent="0">
              <a:buNone/>
            </a:pPr>
            <a:endParaRPr/>
          </a:p>
          <a:p>
            <a:pPr lvl="1"/>
            <a:r>
              <a:t>Test organization (tests/**)</a:t>
            </a:r>
          </a:p>
          <a:p>
            <a:pPr marL="0" lvl="0" indent="0">
              <a:buNone/>
            </a:pPr>
            <a:endParaRPr/>
          </a:p>
          <a:p>
            <a:pPr marL="342900" lvl="0" indent="-342900">
              <a:buAutoNum type="arabicPeriod"/>
            </a:pPr>
            <a:r>
              <a:t>**Specialized naming </a:t>
            </a:r>
            <a:r>
              <a:rPr>
                <a:latin typeface="Courier"/>
              </a:rPr>
              <a:t>**/\*.pattern.ext</a:t>
            </a:r>
            <a:r>
              <a:t>**:</a:t>
            </a:r>
          </a:p>
          <a:p>
            <a:pPr marL="0" lvl="0" indent="0">
              <a:buNone/>
            </a:pPr>
            <a:endParaRPr/>
          </a:p>
          <a:p>
            <a:pPr lvl="1"/>
            <a:r>
              <a:t>Instruction files themselves (*.instructions.md)</a:t>
            </a:r>
          </a:p>
          <a:p>
            <a:pPr marL="0" lvl="0" indent="0">
              <a:buNone/>
            </a:pPr>
            <a:endParaRPr/>
          </a:p>
          <a:p>
            <a:pPr lvl="1"/>
            <a:r>
              <a:t>Prompt files (*.prompt.md)</a:t>
            </a:r>
          </a:p>
          <a:p>
            <a:pPr marL="0" lvl="0" indent="0">
              <a:buNone/>
            </a:pPr>
            <a:endParaRPr/>
          </a:p>
          <a:p>
            <a:pPr lvl="1"/>
            <a:r>
              <a:t>Test files (</a:t>
            </a:r>
            <a:r>
              <a:rPr i="1"/>
              <a:t>.test.js, </a:t>
            </a:r>
            <a:r>
              <a:t>.spec.ts)</a:t>
            </a:r>
          </a:p>
          <a:p>
            <a:pPr marL="0" lvl="0" indent="0">
              <a:buNone/>
            </a:pPr>
            <a:endParaRPr/>
          </a:p>
          <a:p>
            <a:pPr lvl="1"/>
            <a:r>
              <a:t>Generated files (*.generated.cs)</a:t>
            </a:r>
          </a:p>
          <a:p>
            <a:pPr marL="0" lvl="0" indent="0">
              <a:buNone/>
            </a:pPr>
            <a:endParaRPr/>
          </a:p>
          <a:p>
            <a:pPr marL="0" lvl="0" indent="0">
              <a:buNone/>
            </a:pPr>
            <a:r>
              <a:rPr b="1"/>
              <a:t>Using the Decision Tree</a:t>
            </a:r>
            <a:r>
              <a:t>:</a:t>
            </a:r>
          </a:p>
          <a:p>
            <a:pPr marL="0" lvl="0" indent="0">
              <a:buNone/>
            </a:pPr>
            <a:endParaRPr/>
          </a:p>
          <a:p>
            <a:pPr marL="0" lvl="0" indent="0">
              <a:buNone/>
            </a:pPr>
            <a:r>
              <a:t>Work through the questions in order. The first “yes” answer tells you which pattern category to use. Then refine within that category.</a:t>
            </a:r>
          </a:p>
          <a:p>
            <a:pPr marL="0" lvl="0" indent="0">
              <a:buNone/>
            </a:pPr>
            <a:endParaRPr/>
          </a:p>
          <a:p>
            <a:pPr marL="0" lvl="0" indent="0">
              <a:buNone/>
            </a:pPr>
            <a:r>
              <a:t>Example walkthrough:</a:t>
            </a:r>
          </a:p>
          <a:p>
            <a:pPr marL="0" lvl="0" indent="0">
              <a:buNone/>
            </a:pPr>
            <a:endParaRPr/>
          </a:p>
          <a:p>
            <a:pPr lvl="0"/>
            <a:r>
              <a:t>“I’m creating architecture guidelines for CQRS”</a:t>
            </a:r>
          </a:p>
          <a:p>
            <a:pPr marL="0" lvl="0" indent="0">
              <a:buNone/>
            </a:pPr>
            <a:endParaRPr/>
          </a:p>
          <a:p>
            <a:pPr lvl="0"/>
            <a:r>
              <a:t>Q1: All files? No (config files don’t need CQRS patterns)</a:t>
            </a:r>
          </a:p>
          <a:p>
            <a:pPr marL="0" lvl="0" indent="0">
              <a:buNone/>
            </a:pPr>
            <a:endParaRPr/>
          </a:p>
          <a:p>
            <a:pPr lvl="0"/>
            <a:r>
              <a:t>Q2: Specific file types? Yes - code files</a:t>
            </a:r>
          </a:p>
          <a:p>
            <a:pPr marL="0" lvl="0" indent="0">
              <a:buNone/>
            </a:pPr>
            <a:endParaRPr/>
          </a:p>
          <a:p>
            <a:pPr lvl="0"/>
            <a:r>
              <a:t>→ Use </a:t>
            </a:r>
            <a:r>
              <a:rPr>
                <a:latin typeface="Courier"/>
              </a:rPr>
              <a:t>**/*.{cs,ts,js,py}</a:t>
            </a:r>
          </a:p>
          <a:p>
            <a:pPr marL="0" lvl="0" indent="0">
              <a:buNone/>
            </a:pPr>
            <a:endParaRPr>
              <a:latin typeface="Courier"/>
            </a:endParaRPr>
          </a:p>
          <a:p>
            <a:pPr lvl="0"/>
            <a:r>
              <a:t>Refinement: Maybe only src directory: </a:t>
            </a:r>
            <a:r>
              <a:rPr>
                <a:latin typeface="Courier"/>
              </a:rPr>
              <a:t>src/**/*.{cs,ts,js,py}</a:t>
            </a:r>
          </a:p>
          <a:p>
            <a:pPr marL="0" lvl="0" indent="0">
              <a:buNone/>
            </a:pPr>
            <a:endParaRPr>
              <a:latin typeface="Courier"/>
            </a:endParaRPr>
          </a:p>
          <a:p>
            <a:pPr marL="0" lvl="0" indent="0">
              <a:buNone/>
            </a:pPr>
            <a:r>
              <a:rPr b="1"/>
              <a:t>Documentation is Critical</a:t>
            </a:r>
            <a:r>
              <a:t>:</a:t>
            </a:r>
          </a:p>
          <a:p>
            <a:pPr marL="0" lvl="0" indent="0">
              <a:buNone/>
            </a:pPr>
            <a:endParaRPr/>
          </a:p>
          <a:p>
            <a:pPr marL="0" lvl="0" indent="0">
              <a:buNone/>
            </a:pPr>
            <a:r>
              <a:t>In your instruction file, add a comment in the front matter explaining the pattern choice:</a:t>
            </a:r>
          </a:p>
          <a:p>
            <a:pPr marL="0" lvl="0" indent="0">
              <a:buNone/>
            </a:pPr>
            <a:endParaRPr/>
          </a:p>
          <a:p>
            <a:pPr lvl="0" indent="0">
              <a:buNone/>
            </a:pP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"src/Features/**/*.cs"</a:t>
            </a:r>
            <a:br/>
            <a:r>
              <a:rPr i="1">
                <a:solidFill>
                  <a:srgbClr val="60A0B0"/>
                </a:solidFill>
                <a:latin typeface="Courier"/>
              </a:rPr>
              <a:t># Rationale: Apply vertical slice architecture to feature code only,</a:t>
            </a:r>
            <a:br/>
            <a:r>
              <a:rPr i="1">
                <a:solidFill>
                  <a:srgbClr val="60A0B0"/>
                </a:solidFill>
                <a:latin typeface="Courier"/>
              </a:rPr>
              <a:t># excluding infrastructure, shared utilities, and tests</a:t>
            </a:r>
          </a:p>
          <a:p>
            <a:pPr marL="0" lvl="0" indent="0">
              <a:buNone/>
            </a:pPr>
            <a:endParaRPr i="1">
              <a:solidFill>
                <a:srgbClr val="60A0B0"/>
              </a:solidFill>
              <a:latin typeface="Courier"/>
            </a:endParaRPr>
          </a:p>
          <a:p>
            <a:pPr marL="0" lvl="0" indent="0">
              <a:buNone/>
            </a:pPr>
            <a:r>
              <a:t>This helps future developers (including yourself) understand the reasoning.</a:t>
            </a:r>
          </a:p>
          <a:p>
            <a:pPr marL="0" lvl="0" indent="0">
              <a:buNone/>
            </a:pPr>
            <a:endParaRPr/>
          </a:p>
          <a:p>
            <a:pPr marL="0" lvl="0" indent="0">
              <a:buNone/>
            </a:pPr>
            <a:r>
              <a:rPr b="1"/>
              <a:t>Review and Iterate</a:t>
            </a:r>
            <a:r>
              <a:t>:</a:t>
            </a:r>
          </a:p>
          <a:p>
            <a:pPr marL="0" lvl="0" indent="0">
              <a:buNone/>
            </a:pPr>
            <a:endParaRPr/>
          </a:p>
          <a:p>
            <a:pPr marL="0" lvl="0" indent="0">
              <a:buNone/>
            </a:pPr>
            <a:r>
              <a:t>Patterns aren’t set in stone. If you notice:</a:t>
            </a:r>
          </a:p>
          <a:p>
            <a:pPr marL="0" lvl="0" indent="0">
              <a:buNone/>
            </a:pPr>
            <a:endParaRPr/>
          </a:p>
          <a:p>
            <a:pPr lvl="0"/>
            <a:r>
              <a:t>Instructions not being applied when expected</a:t>
            </a:r>
          </a:p>
          <a:p>
            <a:pPr marL="0" lvl="0" indent="0">
              <a:buNone/>
            </a:pPr>
            <a:endParaRPr/>
          </a:p>
          <a:p>
            <a:pPr lvl="0"/>
            <a:r>
              <a:t>Instructions being applied to wrong files</a:t>
            </a:r>
          </a:p>
          <a:p>
            <a:pPr marL="0" lvl="0" indent="0">
              <a:buNone/>
            </a:pPr>
            <a:endParaRPr/>
          </a:p>
          <a:p>
            <a:pPr lvl="0"/>
            <a:r>
              <a:t>Need to refactor directory structure</a:t>
            </a:r>
          </a:p>
          <a:p>
            <a:pPr marL="0" lvl="0" indent="0">
              <a:buNone/>
            </a:pPr>
            <a:endParaRPr/>
          </a:p>
          <a:p>
            <a:pPr marL="0" lvl="0" indent="0">
              <a:buNone/>
            </a:pPr>
            <a:r>
              <a:t>Then review and update your patterns. This is normal maintenance.</a:t>
            </a:r>
          </a:p>
          <a:p>
            <a:pPr marL="0" lvl="0" indent="0">
              <a:buNone/>
            </a:pPr>
            <a:endParaRPr/>
          </a:p>
          <a:p>
            <a:pPr marL="0" lvl="0" indent="0">
              <a:buNone/>
            </a:pPr>
            <a:r>
              <a:rPr b="1"/>
              <a:t>Final thought</a:t>
            </a:r>
            <a:r>
              <a:t>: “Good applyTo patterns make Copilot predictable and reliable. Take the time to get them right.”</a:t>
            </a:r>
          </a:p>
          <a:p>
            <a:pPr marL="0" lvl="0" indent="0">
              <a:buNone/>
            </a:pPr>
            <a:endParaRPr/>
          </a:p>
          <a:p>
            <a:pPr marL="0" lvl="0" indent="0">
              <a:buNone/>
            </a:pPr>
            <a:r>
              <a:rPr b="1"/>
              <a:t>Timing</a:t>
            </a:r>
            <a:r>
              <a:t>: 3 minutes for comprehensive wrap-up </a:t>
            </a:r>
            <a:r>
              <a:rPr b="1"/>
              <a:t>End with</a:t>
            </a:r>
            <a:r>
              <a:t>: “Questions about applyTo patterns or glob syntax?”</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the closing slide - keep it brief and actionable.</a:t>
            </a:r>
          </a:p>
          <a:p>
            <a:pPr marL="0" lvl="0" indent="0">
              <a:buNone/>
            </a:pPr>
            <a:endParaRPr/>
          </a:p>
          <a:p>
            <a:pPr marL="0" lvl="0" indent="0">
              <a:buNone/>
            </a:pPr>
            <a:r>
              <a:rPr b="1"/>
              <a:t>Resources to Share</a:t>
            </a:r>
            <a:r>
              <a:t>:</a:t>
            </a:r>
          </a:p>
          <a:p>
            <a:pPr marL="0" lvl="0" indent="0">
              <a:buNone/>
            </a:pPr>
            <a:endParaRPr/>
          </a:p>
          <a:p>
            <a:pPr marL="0" lvl="0" indent="0">
              <a:buNone/>
            </a:pPr>
            <a:r>
              <a:t>Point attendees to:</a:t>
            </a:r>
          </a:p>
          <a:p>
            <a:pPr marL="0" lvl="0" indent="0">
              <a:buNone/>
            </a:pPr>
            <a:endParaRPr/>
          </a:p>
          <a:p>
            <a:pPr marL="342900" lvl="0" indent="-342900">
              <a:buAutoNum type="arabicPeriod"/>
            </a:pPr>
            <a:r>
              <a:t>The globster.xyz website - they should bookmark this</a:t>
            </a:r>
          </a:p>
          <a:p>
            <a:pPr marL="0" lvl="0" indent="0">
              <a:buNone/>
            </a:pPr>
            <a:endParaRPr/>
          </a:p>
          <a:p>
            <a:pPr marL="342900" lvl="0" indent="-342900">
              <a:buAutoNum type="arabicPeriod"/>
            </a:pPr>
            <a:r>
              <a:t>Official GitHub documentation on instruction files (if available)</a:t>
            </a:r>
          </a:p>
          <a:p>
            <a:pPr marL="0" lvl="0" indent="0">
              <a:buNone/>
            </a:pPr>
            <a:endParaRPr/>
          </a:p>
          <a:p>
            <a:pPr marL="342900" lvl="0" indent="-342900">
              <a:buAutoNum type="arabicPeriod"/>
            </a:pPr>
            <a:r>
              <a:t>This repository’s .github/instructions/ directory as examples</a:t>
            </a:r>
          </a:p>
          <a:p>
            <a:pPr marL="0" lvl="0" indent="0">
              <a:buNone/>
            </a:pPr>
            <a:endParaRPr/>
          </a:p>
          <a:p>
            <a:pPr marL="0" lvl="0" indent="0">
              <a:buNone/>
            </a:pPr>
            <a:r>
              <a:rPr b="1"/>
              <a:t>Practice Exercise</a:t>
            </a:r>
            <a:r>
              <a:t>:</a:t>
            </a:r>
          </a:p>
          <a:p>
            <a:pPr marL="0" lvl="0" indent="0">
              <a:buNone/>
            </a:pPr>
            <a:endParaRPr/>
          </a:p>
          <a:p>
            <a:pPr marL="0" lvl="0" indent="0">
              <a:buNone/>
            </a:pPr>
            <a:r>
              <a:t>These three exercises cover the main pattern categories:</a:t>
            </a:r>
          </a:p>
          <a:p>
            <a:pPr marL="0" lvl="0" indent="0">
              <a:buNone/>
            </a:pPr>
            <a:endParaRPr/>
          </a:p>
          <a:p>
            <a:pPr marL="0" lvl="0" indent="0">
              <a:buNone/>
            </a:pPr>
            <a:r>
              <a:t>Exercise 1 - CQRS Architecture:</a:t>
            </a:r>
          </a:p>
          <a:p>
            <a:pPr marL="0" lvl="0" indent="0">
              <a:buNone/>
            </a:pPr>
            <a:endParaRPr/>
          </a:p>
          <a:p>
            <a:pPr lvl="0"/>
            <a:r>
              <a:t>Should apply to: C#, TypeScript, Python code files</a:t>
            </a:r>
          </a:p>
          <a:p>
            <a:pPr marL="0" lvl="0" indent="0">
              <a:buNone/>
            </a:pPr>
            <a:endParaRPr/>
          </a:p>
          <a:p>
            <a:pPr lvl="0"/>
            <a:r>
              <a:t>Suggested pattern: </a:t>
            </a:r>
            <a:r>
              <a:rPr>
                <a:latin typeface="Courier"/>
              </a:rPr>
              <a:t>src/**/*.{cs,ts,py}</a:t>
            </a:r>
          </a:p>
          <a:p>
            <a:pPr marL="0" lvl="0" indent="0">
              <a:buNone/>
            </a:pPr>
            <a:endParaRPr>
              <a:latin typeface="Courier"/>
            </a:endParaRPr>
          </a:p>
          <a:p>
            <a:pPr lvl="0"/>
            <a:r>
              <a:t>Excludes: tests, config files, documentation</a:t>
            </a:r>
          </a:p>
          <a:p>
            <a:pPr marL="0" lvl="0" indent="0">
              <a:buNone/>
            </a:pPr>
            <a:endParaRPr/>
          </a:p>
          <a:p>
            <a:pPr lvl="0"/>
            <a:r>
              <a:t>Learning goal: Multi-extension file type targeting</a:t>
            </a:r>
          </a:p>
          <a:p>
            <a:pPr marL="0" lvl="0" indent="0">
              <a:buNone/>
            </a:pPr>
            <a:endParaRPr/>
          </a:p>
          <a:p>
            <a:pPr marL="0" lvl="0" indent="0">
              <a:buNone/>
            </a:pPr>
            <a:r>
              <a:t>Exercise 2 - Mermaid Diagram Standards:</a:t>
            </a:r>
          </a:p>
          <a:p>
            <a:pPr marL="0" lvl="0" indent="0">
              <a:buNone/>
            </a:pPr>
            <a:endParaRPr/>
          </a:p>
          <a:p>
            <a:pPr lvl="0"/>
            <a:r>
              <a:t>Should apply to: All markdown files with diagrams</a:t>
            </a:r>
          </a:p>
          <a:p>
            <a:pPr marL="0" lvl="0" indent="0">
              <a:buNone/>
            </a:pPr>
            <a:endParaRPr/>
          </a:p>
          <a:p>
            <a:pPr lvl="0"/>
            <a:r>
              <a:t>Suggested pattern: </a:t>
            </a:r>
            <a:r>
              <a:rPr>
                <a:latin typeface="Courier"/>
              </a:rPr>
              <a:t>**/*.md</a:t>
            </a:r>
            <a:r>
              <a:t> or </a:t>
            </a:r>
            <a:r>
              <a:rPr>
                <a:latin typeface="Courier"/>
              </a:rPr>
              <a:t>docs/**/*.md</a:t>
            </a:r>
            <a:r>
              <a:t> if narrower</a:t>
            </a:r>
          </a:p>
          <a:p>
            <a:pPr marL="0" lvl="0" indent="0">
              <a:buNone/>
            </a:pPr>
            <a:endParaRPr/>
          </a:p>
          <a:p>
            <a:pPr lvl="0"/>
            <a:r>
              <a:t>Excludes: Non-markdown files</a:t>
            </a:r>
          </a:p>
          <a:p>
            <a:pPr marL="0" lvl="0" indent="0">
              <a:buNone/>
            </a:pPr>
            <a:endParaRPr/>
          </a:p>
          <a:p>
            <a:pPr lvl="0"/>
            <a:r>
              <a:t>Learning goal: Extension-based filtering</a:t>
            </a:r>
          </a:p>
          <a:p>
            <a:pPr marL="0" lvl="0" indent="0">
              <a:buNone/>
            </a:pPr>
            <a:endParaRPr/>
          </a:p>
          <a:p>
            <a:pPr marL="0" lvl="0" indent="0">
              <a:buNone/>
            </a:pPr>
            <a:r>
              <a:t>Exercise 3 - Test Naming Conventions:</a:t>
            </a:r>
          </a:p>
          <a:p>
            <a:pPr marL="0" lvl="0" indent="0">
              <a:buNone/>
            </a:pPr>
            <a:endParaRPr/>
          </a:p>
          <a:p>
            <a:pPr lvl="0"/>
            <a:r>
              <a:t>Should apply to: Test files only</a:t>
            </a:r>
          </a:p>
          <a:p>
            <a:pPr marL="0" lvl="0" indent="0">
              <a:buNone/>
            </a:pPr>
            <a:endParaRPr/>
          </a:p>
          <a:p>
            <a:pPr lvl="0"/>
            <a:r>
              <a:t>Suggested pattern: </a:t>
            </a:r>
            <a:r>
              <a:rPr>
                <a:latin typeface="Courier"/>
              </a:rPr>
              <a:t>**/*.{test,spec}.{js,ts}</a:t>
            </a:r>
            <a:r>
              <a:t> or </a:t>
            </a:r>
            <a:r>
              <a:rPr>
                <a:latin typeface="Courier"/>
              </a:rPr>
              <a:t>tests/**/*</a:t>
            </a:r>
          </a:p>
          <a:p>
            <a:pPr marL="0" lvl="0" indent="0">
              <a:buNone/>
            </a:pPr>
            <a:endParaRPr>
              <a:latin typeface="Courier"/>
            </a:endParaRPr>
          </a:p>
          <a:p>
            <a:pPr lvl="0"/>
            <a:r>
              <a:t>Excludes: Source code</a:t>
            </a:r>
          </a:p>
          <a:p>
            <a:pPr marL="0" lvl="0" indent="0">
              <a:buNone/>
            </a:pPr>
            <a:endParaRPr/>
          </a:p>
          <a:p>
            <a:pPr lvl="0"/>
            <a:r>
              <a:t>Learning goal: Specialized naming patterns or directory scoping</a:t>
            </a:r>
          </a:p>
          <a:p>
            <a:pPr marL="0" lvl="0" indent="0">
              <a:buNone/>
            </a:pPr>
            <a:endParaRPr/>
          </a:p>
          <a:p>
            <a:pPr marL="0" lvl="0" indent="0">
              <a:buNone/>
            </a:pPr>
            <a:r>
              <a:t>Have them create these instruction files with proper applyTo patterns and test whether they match the expected files using the methods from slide 9.</a:t>
            </a:r>
          </a:p>
          <a:p>
            <a:pPr marL="0" lvl="0" indent="0">
              <a:buNone/>
            </a:pPr>
            <a:endParaRPr/>
          </a:p>
          <a:p>
            <a:pPr marL="0" lvl="0" indent="0">
              <a:buNone/>
            </a:pPr>
            <a:r>
              <a:rPr b="1"/>
              <a:t>Timing for Q&amp;A</a:t>
            </a:r>
            <a:r>
              <a:t>: Budget at least 5 minutes </a:t>
            </a:r>
            <a:r>
              <a:rPr b="1"/>
              <a:t>Common questions to expect</a:t>
            </a:r>
            <a:r>
              <a:t>:</a:t>
            </a:r>
          </a:p>
          <a:p>
            <a:pPr marL="0" lvl="0" indent="0">
              <a:buNone/>
            </a:pPr>
            <a:endParaRPr/>
          </a:p>
          <a:p>
            <a:pPr lvl="0"/>
            <a:r>
              <a:t>“Can I use regex in applyTo?” (No, only glob patterns)</a:t>
            </a:r>
          </a:p>
          <a:p>
            <a:pPr marL="0" lvl="0" indent="0">
              <a:buNone/>
            </a:pPr>
            <a:endParaRPr/>
          </a:p>
          <a:p>
            <a:pPr lvl="0"/>
            <a:r>
              <a:t>“What if I need NOT patterns?” (Use specific inclusion instead)</a:t>
            </a:r>
          </a:p>
          <a:p>
            <a:pPr marL="0" lvl="0" indent="0">
              <a:buNone/>
            </a:pPr>
            <a:endParaRPr/>
          </a:p>
          <a:p>
            <a:pPr lvl="0"/>
            <a:r>
              <a:t>“Can patterns match directories themselves?” (Patterns match files, but </a:t>
            </a:r>
            <a:r>
              <a:rPr>
                <a:latin typeface="Courier"/>
              </a:rPr>
              <a:t>dir/**</a:t>
            </a:r>
            <a:r>
              <a:t> matches all files in dir)</a:t>
            </a:r>
          </a:p>
          <a:p>
            <a:pPr marL="0" lvl="0" indent="0">
              <a:buNone/>
            </a:pPr>
            <a:endParaRPr/>
          </a:p>
          <a:p>
            <a:pPr lvl="0"/>
            <a:r>
              <a:t>“How do I debug when patterns don’t work?” (Use the testing methods from slide 9)</a:t>
            </a:r>
          </a:p>
          <a:p>
            <a:pPr marL="0" lvl="0" indent="0">
              <a:buNone/>
            </a:pPr>
            <a:endParaRPr/>
          </a:p>
          <a:p>
            <a:pPr marL="0" lvl="0" indent="0">
              <a:buNone/>
            </a:pPr>
            <a:r>
              <a:rPr b="1"/>
              <a:t>Closing statement</a:t>
            </a:r>
            <a:r>
              <a:t>: “Remember, good applyTo patterns are the key to making Copilot instruction files reliable and maintainable. Start with these patterns, test them thoroughly, and iterate based on real-world usage.”</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Closing Remarks</a:t>
            </a:r>
            <a:r>
              <a:t>:</a:t>
            </a:r>
          </a:p>
          <a:p>
            <a:pPr marL="0" lvl="0" indent="0">
              <a:buNone/>
            </a:pPr>
            <a:endParaRPr/>
          </a:p>
          <a:p>
            <a:pPr marL="0" lvl="0" indent="0">
              <a:buNone/>
            </a:pPr>
            <a:r>
              <a:t>Thank you all for your attention. The applyTo pattern system might seem simple on the surface, but as we’ve seen, there’s real depth to using it effectively.</a:t>
            </a:r>
          </a:p>
          <a:p>
            <a:pPr marL="0" lvl="0" indent="0">
              <a:buNone/>
            </a:pPr>
            <a:endParaRPr/>
          </a:p>
          <a:p>
            <a:pPr marL="0" lvl="0" indent="0">
              <a:buNone/>
            </a:pPr>
            <a:r>
              <a:rPr b="1"/>
              <a:t>Key messages to leave with</a:t>
            </a:r>
            <a:r>
              <a:t>:</a:t>
            </a:r>
          </a:p>
          <a:p>
            <a:pPr marL="0" lvl="0" indent="0">
              <a:buNone/>
            </a:pPr>
            <a:endParaRPr/>
          </a:p>
          <a:p>
            <a:pPr marL="342900" lvl="0" indent="-342900">
              <a:buAutoNum type="arabicPeriod"/>
            </a:pPr>
            <a:r>
              <a:t>Specificity prevents conflicts</a:t>
            </a:r>
          </a:p>
          <a:p>
            <a:pPr marL="0" lvl="0" indent="0">
              <a:buNone/>
            </a:pPr>
            <a:endParaRPr/>
          </a:p>
          <a:p>
            <a:pPr marL="342900" lvl="0" indent="-342900">
              <a:buAutoNum type="arabicPeriod"/>
            </a:pPr>
            <a:r>
              <a:t>Test your patterns before committing</a:t>
            </a:r>
          </a:p>
          <a:p>
            <a:pPr marL="0" lvl="0" indent="0">
              <a:buNone/>
            </a:pPr>
            <a:endParaRPr/>
          </a:p>
          <a:p>
            <a:pPr marL="342900" lvl="0" indent="-342900">
              <a:buAutoNum type="arabicPeriod"/>
            </a:pPr>
            <a:r>
              <a:t>Document your pattern choices</a:t>
            </a:r>
          </a:p>
          <a:p>
            <a:pPr marL="0" lvl="0" indent="0">
              <a:buNone/>
            </a:pPr>
            <a:endParaRPr/>
          </a:p>
          <a:p>
            <a:pPr marL="342900" lvl="0" indent="-342900">
              <a:buAutoNum type="arabicPeriod"/>
            </a:pPr>
            <a:r>
              <a:t>Review and refine based on real usage</a:t>
            </a:r>
          </a:p>
          <a:p>
            <a:pPr marL="0" lvl="0" indent="0">
              <a:buNone/>
            </a:pPr>
            <a:endParaRPr/>
          </a:p>
          <a:p>
            <a:pPr marL="0" lvl="0" indent="0">
              <a:buNone/>
            </a:pPr>
            <a:r>
              <a:rPr b="1"/>
              <a:t>Engagement</a:t>
            </a:r>
            <a:r>
              <a:t>:</a:t>
            </a:r>
          </a:p>
          <a:p>
            <a:pPr marL="0" lvl="0" indent="0">
              <a:buNone/>
            </a:pPr>
            <a:endParaRPr/>
          </a:p>
          <a:p>
            <a:pPr lvl="0"/>
            <a:r>
              <a:t>“Please reach out with questions as you implement these patterns in your projects”</a:t>
            </a:r>
          </a:p>
          <a:p>
            <a:pPr marL="0" lvl="0" indent="0">
              <a:buNone/>
            </a:pPr>
            <a:endParaRPr/>
          </a:p>
          <a:p>
            <a:pPr lvl="0"/>
            <a:r>
              <a:t>“Share your experiences - both successes and challenges - with the team”</a:t>
            </a:r>
          </a:p>
          <a:p>
            <a:pPr marL="0" lvl="0" indent="0">
              <a:buNone/>
            </a:pPr>
            <a:endParaRPr/>
          </a:p>
          <a:p>
            <a:pPr lvl="0"/>
            <a:r>
              <a:t>“The GitHub repository has many examples in the .github/instructions/ directory”</a:t>
            </a:r>
          </a:p>
          <a:p>
            <a:pPr marL="0" lvl="0" indent="0">
              <a:buNone/>
            </a:pPr>
            <a:endParaRPr/>
          </a:p>
          <a:p>
            <a:pPr marL="0" lvl="0" indent="0">
              <a:buNone/>
            </a:pPr>
            <a:r>
              <a:rPr b="1"/>
              <a:t>Next Steps</a:t>
            </a:r>
            <a:r>
              <a:t>:</a:t>
            </a:r>
          </a:p>
          <a:p>
            <a:pPr marL="0" lvl="0" indent="0">
              <a:buNone/>
            </a:pPr>
            <a:endParaRPr/>
          </a:p>
          <a:p>
            <a:pPr lvl="0"/>
            <a:r>
              <a:t>Review the instruction files in this repository</a:t>
            </a:r>
          </a:p>
          <a:p>
            <a:pPr marL="0" lvl="0" indent="0">
              <a:buNone/>
            </a:pPr>
            <a:endParaRPr/>
          </a:p>
          <a:p>
            <a:pPr lvl="0"/>
            <a:r>
              <a:t>Try the practice exercises</a:t>
            </a:r>
          </a:p>
          <a:p>
            <a:pPr marL="0" lvl="0" indent="0">
              <a:buNone/>
            </a:pPr>
            <a:endParaRPr/>
          </a:p>
          <a:p>
            <a:pPr lvl="0"/>
            <a:r>
              <a:t>Start applying these patterns to your own projects</a:t>
            </a:r>
          </a:p>
          <a:p>
            <a:pPr marL="0" lvl="0" indent="0">
              <a:buNone/>
            </a:pPr>
            <a:endParaRPr/>
          </a:p>
          <a:p>
            <a:pPr lvl="0"/>
            <a:r>
              <a:t>Share learnings with your team</a:t>
            </a:r>
          </a:p>
          <a:p>
            <a:pPr marL="0" lvl="0" indent="0">
              <a:buNone/>
            </a:pPr>
            <a:endParaRPr/>
          </a:p>
          <a:p>
            <a:pPr marL="0" lvl="0" indent="0">
              <a:buNone/>
            </a:pPr>
            <a:r>
              <a:rPr b="1"/>
              <a:t>Call to Action</a:t>
            </a:r>
            <a:r>
              <a:t>: “I’d encourage everyone to audit one of your existing projects this week - look at your instruction files and their applyTo patterns. Are they as specific as they could be? Are there conflicts? Use the testing methods we discussed to verify them.”</a:t>
            </a:r>
          </a:p>
          <a:p>
            <a:pPr marL="0" lvl="0" indent="0">
              <a:buNone/>
            </a:pPr>
            <a:endParaRPr/>
          </a:p>
          <a:p>
            <a:pPr marL="0" lvl="0" indent="0">
              <a:buNone/>
            </a:pPr>
            <a:r>
              <a:rPr b="1"/>
              <a:t>Timing</a:t>
            </a:r>
            <a:r>
              <a:t>: 1 minute </a:t>
            </a:r>
            <a:r>
              <a:rPr b="1"/>
              <a:t>Tone</a:t>
            </a:r>
            <a:r>
              <a:t>: Encouraging and supportive - this is about continuous improvement</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3/3/2026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lobster.xyz/"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globster.xyz/"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johnmillerATcodemag-com/AI-Assisted-Software-Development-Course"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 Instruction File </a:t>
            </a:r>
            <a:r>
              <a:rPr>
                <a:latin typeface="Courier"/>
              </a:rPr>
              <a:t>applyTo</a:t>
            </a:r>
            <a:r>
              <a:t> Patterns</a:t>
            </a:r>
          </a:p>
        </p:txBody>
      </p:sp>
      <p:sp>
        <p:nvSpPr>
          <p:cNvPr id="3" name="Content Placeholder 2"/>
          <p:cNvSpPr>
            <a:spLocks noGrp="1"/>
          </p:cNvSpPr>
          <p:nvPr>
            <p:ph idx="1"/>
          </p:nvPr>
        </p:nvSpPr>
        <p:spPr/>
        <p:txBody>
          <a:bodyPr/>
          <a:lstStyle/>
          <a:p>
            <a:pPr marL="0" lvl="0" indent="0">
              <a:buNone/>
            </a:pPr>
            <a:r>
              <a:rPr b="1"/>
              <a:t>Understanding Glob Pattern Matching</a:t>
            </a:r>
          </a:p>
          <a:p>
            <a:pPr marL="0" lvl="0" indent="0">
              <a:buNone/>
            </a:pPr>
            <a:r>
              <a:t>Controlling When Instructions Apply to Your Code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CD6D2-1655-4D54-35CD-E730B6AC914F}"/>
              </a:ext>
            </a:extLst>
          </p:cNvPr>
          <p:cNvSpPr>
            <a:spLocks noGrp="1"/>
          </p:cNvSpPr>
          <p:nvPr>
            <p:ph type="title"/>
          </p:nvPr>
        </p:nvSpPr>
        <p:spPr/>
        <p:txBody>
          <a:bodyPr>
            <a:normAutofit/>
          </a:bodyPr>
          <a:lstStyle/>
          <a:p>
            <a:pPr algn="l"/>
            <a:r>
              <a:rPr lang="en-US" b="1" dirty="0"/>
              <a:t>What is </a:t>
            </a:r>
            <a:r>
              <a:rPr lang="en-US" b="1" dirty="0" err="1">
                <a:latin typeface="Courier"/>
              </a:rPr>
              <a:t>applyTo</a:t>
            </a:r>
            <a:r>
              <a:rPr lang="en-US" b="1" dirty="0"/>
              <a:t>?</a:t>
            </a:r>
            <a:endParaRPr lang="en-US" dirty="0"/>
          </a:p>
        </p:txBody>
      </p:sp>
      <p:sp>
        <p:nvSpPr>
          <p:cNvPr id="3" name="Content Placeholder 2"/>
          <p:cNvSpPr>
            <a:spLocks noGrp="1"/>
          </p:cNvSpPr>
          <p:nvPr>
            <p:ph idx="1"/>
          </p:nvPr>
        </p:nvSpPr>
        <p:spPr/>
        <p:txBody>
          <a:bodyPr>
            <a:normAutofit fontScale="85000" lnSpcReduction="10000"/>
          </a:bodyPr>
          <a:lstStyle/>
          <a:p>
            <a:pPr marL="0" lvl="0" indent="0">
              <a:buNone/>
            </a:pPr>
            <a:r>
              <a:rPr dirty="0"/>
              <a:t>The </a:t>
            </a:r>
            <a:r>
              <a:rPr dirty="0" err="1">
                <a:latin typeface="Courier"/>
              </a:rPr>
              <a:t>applyTo</a:t>
            </a:r>
            <a:r>
              <a:rPr dirty="0"/>
              <a:t> field in instruction file front matter controls </a:t>
            </a:r>
            <a:r>
              <a:rPr b="1" dirty="0"/>
              <a:t>which files</a:t>
            </a:r>
            <a:r>
              <a:rPr dirty="0"/>
              <a:t> the instructions apply to.</a:t>
            </a:r>
            <a:endParaRPr lang="en-US" dirty="0"/>
          </a:p>
          <a:p>
            <a:pPr lvl="0" indent="0">
              <a:buNone/>
            </a:pPr>
            <a:br>
              <a:rPr dirty="0"/>
            </a:b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rgbClr val="4070A0"/>
                </a:solidFill>
                <a:latin typeface="Courier"/>
              </a:rPr>
              <a:t>"**/*.md"</a:t>
            </a:r>
            <a:r>
              <a:rPr i="1" dirty="0">
                <a:solidFill>
                  <a:srgbClr val="60A0B0"/>
                </a:solidFill>
                <a:latin typeface="Courier"/>
              </a:rPr>
              <a:t> # Applies to all Markdown files</a:t>
            </a:r>
            <a:br>
              <a:rPr dirty="0"/>
            </a:br>
            <a:endParaRPr dirty="0">
              <a:solidFill>
                <a:srgbClr val="BC7A00"/>
              </a:solidFill>
              <a:latin typeface="Courier"/>
            </a:endParaRPr>
          </a:p>
          <a:p>
            <a:pPr marL="0" lvl="0" indent="0">
              <a:buNone/>
            </a:pPr>
            <a:r>
              <a:rPr b="1" dirty="0"/>
              <a:t>Why It Matters:</a:t>
            </a:r>
          </a:p>
          <a:p>
            <a:pPr lvl="0"/>
            <a:r>
              <a:rPr dirty="0"/>
              <a:t>✅ Apply architecture patterns only to code files</a:t>
            </a:r>
          </a:p>
          <a:p>
            <a:pPr lvl="0"/>
            <a:r>
              <a:rPr dirty="0"/>
              <a:t>✅ Apply documentation standards only to docs</a:t>
            </a:r>
          </a:p>
          <a:p>
            <a:pPr lvl="0"/>
            <a:r>
              <a:rPr dirty="0"/>
              <a:t>✅ Avoid conflicting instructions</a:t>
            </a:r>
          </a:p>
          <a:p>
            <a:pPr lvl="0"/>
            <a:r>
              <a:rPr dirty="0"/>
              <a:t>✅ Improve Copilot performance by reducing context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04F97-F618-46ED-6A41-B057640FC9EC}"/>
              </a:ext>
            </a:extLst>
          </p:cNvPr>
          <p:cNvSpPr>
            <a:spLocks noGrp="1"/>
          </p:cNvSpPr>
          <p:nvPr>
            <p:ph type="title"/>
          </p:nvPr>
        </p:nvSpPr>
        <p:spPr/>
        <p:txBody>
          <a:bodyPr>
            <a:normAutofit/>
          </a:bodyPr>
          <a:lstStyle/>
          <a:p>
            <a:pPr algn="l"/>
            <a:r>
              <a:rPr lang="en-US" b="1" dirty="0"/>
              <a:t>Universal Application</a:t>
            </a:r>
            <a:endParaRPr lang="en-US" dirty="0"/>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dirty="0"/>
              <a:t>Apply instructions to </a:t>
            </a:r>
            <a:r>
              <a:rPr b="1" dirty="0"/>
              <a:t>all files</a:t>
            </a:r>
            <a:r>
              <a:rPr dirty="0"/>
              <a:t> in the repository:</a:t>
            </a:r>
            <a:br>
              <a:rPr lang="en-US" dirty="0"/>
            </a:br>
            <a:endParaRPr dirty="0"/>
          </a:p>
          <a:p>
            <a:pPr lvl="0" indent="0">
              <a:buNone/>
            </a:pP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rgbClr val="4070A0"/>
                </a:solidFill>
                <a:latin typeface="Courier"/>
              </a:rPr>
              <a:t>"**"</a:t>
            </a:r>
            <a:r>
              <a:rPr i="1" dirty="0">
                <a:solidFill>
                  <a:srgbClr val="60A0B0"/>
                </a:solidFill>
                <a:latin typeface="Courier"/>
              </a:rPr>
              <a:t>        # All files</a:t>
            </a:r>
            <a:br>
              <a:rPr dirty="0"/>
            </a:b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rgbClr val="4070A0"/>
                </a:solidFill>
                <a:latin typeface="Courier"/>
              </a:rPr>
              <a:t>"**/*"</a:t>
            </a:r>
            <a:r>
              <a:rPr i="1" dirty="0">
                <a:solidFill>
                  <a:srgbClr val="60A0B0"/>
                </a:solidFill>
                <a:latin typeface="Courier"/>
              </a:rPr>
              <a:t>      # All files (explicit)</a:t>
            </a:r>
            <a:br>
              <a:rPr lang="en-US" i="1" dirty="0">
                <a:solidFill>
                  <a:srgbClr val="60A0B0"/>
                </a:solidFill>
                <a:latin typeface="Courier"/>
              </a:rPr>
            </a:br>
            <a:endParaRPr i="1" dirty="0">
              <a:solidFill>
                <a:srgbClr val="60A0B0"/>
              </a:solidFill>
              <a:latin typeface="Courier"/>
            </a:endParaRPr>
          </a:p>
          <a:p>
            <a:pPr marL="0" lvl="0" indent="0">
              <a:buNone/>
            </a:pPr>
            <a:r>
              <a:rPr b="1" dirty="0"/>
              <a:t>Use Cases:</a:t>
            </a:r>
          </a:p>
          <a:p>
            <a:pPr lvl="0"/>
            <a:r>
              <a:rPr dirty="0"/>
              <a:t>AI-assisted output policies</a:t>
            </a:r>
          </a:p>
          <a:p>
            <a:pPr lvl="0"/>
            <a:r>
              <a:rPr dirty="0"/>
              <a:t>General code quality standards</a:t>
            </a:r>
          </a:p>
          <a:p>
            <a:pPr lvl="0"/>
            <a:r>
              <a:rPr dirty="0"/>
              <a:t>Repository-wide conventions</a:t>
            </a:r>
          </a:p>
          <a:p>
            <a:pPr lvl="0"/>
            <a:r>
              <a:rPr dirty="0"/>
              <a:t>Copilot behavior guidelines</a:t>
            </a:r>
            <a:br>
              <a:rPr lang="en-US" dirty="0"/>
            </a:br>
            <a:endParaRPr dirty="0"/>
          </a:p>
          <a:p>
            <a:pPr marL="0" lvl="0" indent="0">
              <a:buNone/>
            </a:pPr>
            <a:r>
              <a:rPr b="1" dirty="0"/>
              <a:t>⚠️ Caution:</a:t>
            </a:r>
            <a:r>
              <a:rPr dirty="0"/>
              <a:t> Use sparingly - can create conflicts with more specific instructions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325A0-53C1-A406-7107-3ABE6253214C}"/>
              </a:ext>
            </a:extLst>
          </p:cNvPr>
          <p:cNvSpPr>
            <a:spLocks noGrp="1"/>
          </p:cNvSpPr>
          <p:nvPr>
            <p:ph type="title"/>
          </p:nvPr>
        </p:nvSpPr>
        <p:spPr/>
        <p:txBody>
          <a:bodyPr/>
          <a:lstStyle/>
          <a:p>
            <a:pPr algn="l"/>
            <a:r>
              <a:rPr lang="en-US" b="1" dirty="0"/>
              <a:t>File Extension Matching</a:t>
            </a:r>
            <a:endParaRPr lang="en-US" dirty="0"/>
          </a:p>
        </p:txBody>
      </p:sp>
      <p:sp>
        <p:nvSpPr>
          <p:cNvPr id="3" name="Content Placeholder 2"/>
          <p:cNvSpPr>
            <a:spLocks noGrp="1"/>
          </p:cNvSpPr>
          <p:nvPr>
            <p:ph idx="1"/>
          </p:nvPr>
        </p:nvSpPr>
        <p:spPr/>
        <p:txBody>
          <a:bodyPr>
            <a:normAutofit fontScale="62500" lnSpcReduction="20000"/>
          </a:bodyPr>
          <a:lstStyle/>
          <a:p>
            <a:pPr marL="0" lvl="0" indent="0">
              <a:buNone/>
            </a:pPr>
            <a:r>
              <a:rPr dirty="0"/>
              <a:t>Target specific file types using extension patterns:</a:t>
            </a:r>
            <a:br>
              <a:rPr lang="en-US" dirty="0"/>
            </a:br>
            <a:endParaRPr dirty="0"/>
          </a:p>
          <a:p>
            <a:pPr lvl="0" indent="0">
              <a:buNone/>
            </a:pPr>
            <a:r>
              <a:rPr i="1" dirty="0">
                <a:solidFill>
                  <a:srgbClr val="60A0B0"/>
                </a:solidFill>
                <a:latin typeface="Courier"/>
              </a:rPr>
              <a:t># Single extension</a:t>
            </a:r>
            <a:br>
              <a:rPr dirty="0"/>
            </a:b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rgbClr val="4070A0"/>
                </a:solidFill>
                <a:latin typeface="Courier"/>
              </a:rPr>
              <a:t>"**/*.md"</a:t>
            </a:r>
            <a:br>
              <a:rPr dirty="0"/>
            </a:br>
            <a:br>
              <a:rPr dirty="0"/>
            </a:br>
            <a:r>
              <a:rPr i="1" dirty="0">
                <a:solidFill>
                  <a:srgbClr val="60A0B0"/>
                </a:solidFill>
                <a:latin typeface="Courier"/>
              </a:rPr>
              <a:t># Multiple extensions (brace expansion)</a:t>
            </a:r>
            <a:br>
              <a:rPr dirty="0"/>
            </a:b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rgbClr val="4070A0"/>
                </a:solidFill>
                <a:latin typeface="Courier"/>
              </a:rPr>
              <a:t>"**/*.{</a:t>
            </a:r>
            <a:r>
              <a:rPr dirty="0" err="1">
                <a:solidFill>
                  <a:srgbClr val="4070A0"/>
                </a:solidFill>
                <a:latin typeface="Courier"/>
              </a:rPr>
              <a:t>cs,ts,js</a:t>
            </a:r>
            <a:r>
              <a:rPr dirty="0">
                <a:solidFill>
                  <a:srgbClr val="4070A0"/>
                </a:solidFill>
                <a:latin typeface="Courier"/>
              </a:rPr>
              <a:t>}"</a:t>
            </a:r>
            <a:br>
              <a:rPr dirty="0"/>
            </a:br>
            <a:br>
              <a:rPr dirty="0"/>
            </a:br>
            <a:r>
              <a:rPr i="1" dirty="0">
                <a:solidFill>
                  <a:srgbClr val="60A0B0"/>
                </a:solidFill>
                <a:latin typeface="Courier"/>
              </a:rPr>
              <a:t># Specific file naming pattern</a:t>
            </a:r>
            <a:br>
              <a:rPr dirty="0"/>
            </a:b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rgbClr val="4070A0"/>
                </a:solidFill>
                <a:latin typeface="Courier"/>
              </a:rPr>
              <a:t>"**/*.instructions.md"</a:t>
            </a:r>
            <a:br>
              <a:rPr lang="en-US" dirty="0">
                <a:solidFill>
                  <a:srgbClr val="4070A0"/>
                </a:solidFill>
                <a:latin typeface="Courier"/>
              </a:rPr>
            </a:br>
            <a:endParaRPr dirty="0">
              <a:solidFill>
                <a:srgbClr val="4070A0"/>
              </a:solidFill>
              <a:latin typeface="Courier"/>
            </a:endParaRPr>
          </a:p>
          <a:p>
            <a:pPr marL="0" lvl="0" indent="0">
              <a:buNone/>
            </a:pPr>
            <a:r>
              <a:rPr b="1" dirty="0"/>
              <a:t>Most Common:</a:t>
            </a:r>
          </a:p>
          <a:p>
            <a:pPr lvl="0"/>
            <a:r>
              <a:rPr dirty="0">
                <a:latin typeface="Courier"/>
              </a:rPr>
              <a:t>**/*.md</a:t>
            </a:r>
            <a:r>
              <a:rPr dirty="0"/>
              <a:t> - All Markdown files</a:t>
            </a:r>
          </a:p>
          <a:p>
            <a:pPr lvl="0"/>
            <a:r>
              <a:rPr dirty="0">
                <a:latin typeface="Courier"/>
              </a:rPr>
              <a:t>**/*.{</a:t>
            </a:r>
            <a:r>
              <a:rPr dirty="0" err="1">
                <a:latin typeface="Courier"/>
              </a:rPr>
              <a:t>cs,ts,js,py</a:t>
            </a:r>
            <a:r>
              <a:rPr dirty="0">
                <a:latin typeface="Courier"/>
              </a:rPr>
              <a:t>}</a:t>
            </a:r>
            <a:r>
              <a:rPr dirty="0"/>
              <a:t> - Multiple programming languages</a:t>
            </a:r>
          </a:p>
          <a:p>
            <a:pPr lvl="0"/>
            <a:r>
              <a:rPr dirty="0">
                <a:latin typeface="Courier"/>
              </a:rPr>
              <a:t>**/*.test.js</a:t>
            </a:r>
            <a:r>
              <a:rPr dirty="0"/>
              <a:t> - Test files</a:t>
            </a:r>
          </a:p>
          <a:p>
            <a:pPr lvl="0"/>
            <a:r>
              <a:rPr dirty="0">
                <a:latin typeface="Courier"/>
              </a:rPr>
              <a:t>**/*.instructions.md</a:t>
            </a:r>
            <a:r>
              <a:rPr dirty="0"/>
              <a:t> - Instruction files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326D2-C824-5A3E-A7F5-1C9DC54965BB}"/>
              </a:ext>
            </a:extLst>
          </p:cNvPr>
          <p:cNvSpPr>
            <a:spLocks noGrp="1"/>
          </p:cNvSpPr>
          <p:nvPr>
            <p:ph type="title"/>
          </p:nvPr>
        </p:nvSpPr>
        <p:spPr/>
        <p:txBody>
          <a:bodyPr>
            <a:normAutofit/>
          </a:bodyPr>
          <a:lstStyle/>
          <a:p>
            <a:pPr algn="l"/>
            <a:r>
              <a:rPr lang="en-US" dirty="0"/>
              <a:t>Directory-Specific Patterns</a:t>
            </a:r>
          </a:p>
        </p:txBody>
      </p:sp>
      <p:sp>
        <p:nvSpPr>
          <p:cNvPr id="3" name="Content Placeholder 2"/>
          <p:cNvSpPr>
            <a:spLocks noGrp="1"/>
          </p:cNvSpPr>
          <p:nvPr>
            <p:ph idx="1"/>
          </p:nvPr>
        </p:nvSpPr>
        <p:spPr/>
        <p:txBody>
          <a:bodyPr>
            <a:normAutofit fontScale="62500" lnSpcReduction="20000"/>
          </a:bodyPr>
          <a:lstStyle/>
          <a:p>
            <a:pPr marL="0" lvl="0" indent="0">
              <a:spcBef>
                <a:spcPts val="3000"/>
              </a:spcBef>
              <a:buNone/>
            </a:pPr>
            <a:r>
              <a:rPr dirty="0"/>
              <a:t>Limit instructions to specific directories:</a:t>
            </a:r>
          </a:p>
          <a:p>
            <a:pPr lvl="0" indent="0">
              <a:buNone/>
            </a:pPr>
            <a:endParaRPr lang="en-US" i="1" dirty="0">
              <a:solidFill>
                <a:srgbClr val="60A0B0"/>
              </a:solidFill>
              <a:latin typeface="Courier"/>
            </a:endParaRPr>
          </a:p>
          <a:p>
            <a:pPr lvl="0" indent="0">
              <a:buNone/>
            </a:pPr>
            <a:r>
              <a:rPr i="1" dirty="0">
                <a:solidFill>
                  <a:srgbClr val="60A0B0"/>
                </a:solidFill>
                <a:latin typeface="Courier"/>
              </a:rPr>
              <a:t># All files in a directory</a:t>
            </a:r>
            <a:br>
              <a:rPr dirty="0"/>
            </a:b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rgbClr val="4070A0"/>
                </a:solidFill>
                <a:latin typeface="Courier"/>
              </a:rPr>
              <a:t>"Slides/individual-slides/**"</a:t>
            </a:r>
            <a:br>
              <a:rPr dirty="0"/>
            </a:br>
            <a:br>
              <a:rPr dirty="0"/>
            </a:br>
            <a:r>
              <a:rPr i="1" dirty="0">
                <a:solidFill>
                  <a:srgbClr val="60A0B0"/>
                </a:solidFill>
                <a:latin typeface="Courier"/>
              </a:rPr>
              <a:t># Specific file type in directory</a:t>
            </a:r>
            <a:br>
              <a:rPr dirty="0"/>
            </a:b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rgbClr val="4070A0"/>
                </a:solidFill>
                <a:latin typeface="Courier"/>
              </a:rPr>
              <a:t>"</a:t>
            </a:r>
            <a:r>
              <a:rPr dirty="0" err="1">
                <a:solidFill>
                  <a:srgbClr val="4070A0"/>
                </a:solidFill>
                <a:latin typeface="Courier"/>
              </a:rPr>
              <a:t>src</a:t>
            </a:r>
            <a:r>
              <a:rPr dirty="0">
                <a:solidFill>
                  <a:srgbClr val="4070A0"/>
                </a:solidFill>
                <a:latin typeface="Courier"/>
              </a:rPr>
              <a:t>/Features/**/*.cs"</a:t>
            </a:r>
            <a:br>
              <a:rPr dirty="0"/>
            </a:br>
            <a:br>
              <a:rPr dirty="0"/>
            </a:br>
            <a:r>
              <a:rPr i="1" dirty="0">
                <a:solidFill>
                  <a:srgbClr val="60A0B0"/>
                </a:solidFill>
                <a:latin typeface="Courier"/>
              </a:rPr>
              <a:t># Multiple directory levels</a:t>
            </a:r>
            <a:br>
              <a:rPr dirty="0"/>
            </a:b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rgbClr val="4070A0"/>
                </a:solidFill>
                <a:latin typeface="Courier"/>
              </a:rPr>
              <a:t>".</a:t>
            </a:r>
            <a:r>
              <a:rPr dirty="0" err="1">
                <a:solidFill>
                  <a:srgbClr val="4070A0"/>
                </a:solidFill>
                <a:latin typeface="Courier"/>
              </a:rPr>
              <a:t>github</a:t>
            </a:r>
            <a:r>
              <a:rPr dirty="0">
                <a:solidFill>
                  <a:srgbClr val="4070A0"/>
                </a:solidFill>
                <a:latin typeface="Courier"/>
              </a:rPr>
              <a:t>/instructions/**/*.md"</a:t>
            </a:r>
            <a:endParaRPr lang="en-US" dirty="0">
              <a:solidFill>
                <a:srgbClr val="4070A0"/>
              </a:solidFill>
              <a:latin typeface="Courier"/>
            </a:endParaRPr>
          </a:p>
          <a:p>
            <a:pPr lvl="0" indent="0">
              <a:buNone/>
            </a:pPr>
            <a:endParaRPr dirty="0">
              <a:solidFill>
                <a:srgbClr val="4070A0"/>
              </a:solidFill>
              <a:latin typeface="Courier"/>
            </a:endParaRPr>
          </a:p>
          <a:p>
            <a:pPr marL="0" lvl="0" indent="0">
              <a:buNone/>
            </a:pPr>
            <a:r>
              <a:rPr b="1" dirty="0"/>
              <a:t>Benefits:</a:t>
            </a:r>
          </a:p>
          <a:p>
            <a:pPr lvl="0"/>
            <a:r>
              <a:rPr dirty="0"/>
              <a:t>Isolate concerns (slides vs code vs docs)</a:t>
            </a:r>
          </a:p>
          <a:p>
            <a:pPr lvl="0"/>
            <a:r>
              <a:rPr dirty="0"/>
              <a:t>Different rules for different project areas</a:t>
            </a:r>
          </a:p>
          <a:p>
            <a:pPr lvl="0"/>
            <a:r>
              <a:rPr dirty="0"/>
              <a:t>Clearer instruction purpose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588D1-6CFE-F683-E25B-732FC2F911B6}"/>
              </a:ext>
            </a:extLst>
          </p:cNvPr>
          <p:cNvSpPr>
            <a:spLocks noGrp="1"/>
          </p:cNvSpPr>
          <p:nvPr>
            <p:ph type="title"/>
          </p:nvPr>
        </p:nvSpPr>
        <p:spPr/>
        <p:txBody>
          <a:bodyPr>
            <a:normAutofit/>
          </a:bodyPr>
          <a:lstStyle/>
          <a:p>
            <a:pPr algn="l"/>
            <a:r>
              <a:rPr lang="en-US" dirty="0"/>
              <a:t>Glob Pattern Syntax</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723551861"/>
              </p:ext>
            </p:extLst>
          </p:nvPr>
        </p:nvGraphicFramePr>
        <p:xfrm>
          <a:off x="410307" y="1980396"/>
          <a:ext cx="8229600" cy="20802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0">
                <a:tc>
                  <a:txBody>
                    <a:bodyPr/>
                    <a:lstStyle/>
                    <a:p>
                      <a:pPr marL="0" lvl="0" indent="0">
                        <a:buNone/>
                      </a:pPr>
                      <a:r>
                        <a:t>Pattern</a:t>
                      </a:r>
                    </a:p>
                  </a:txBody>
                  <a:tcPr/>
                </a:tc>
                <a:tc>
                  <a:txBody>
                    <a:bodyPr/>
                    <a:lstStyle/>
                    <a:p>
                      <a:pPr marL="0" lvl="0" indent="0">
                        <a:buNone/>
                      </a:pPr>
                      <a:r>
                        <a:rPr dirty="0"/>
                        <a:t>Meaning</a:t>
                      </a:r>
                    </a:p>
                  </a:txBody>
                  <a:tcPr/>
                </a:tc>
                <a:tc>
                  <a:txBody>
                    <a:bodyPr/>
                    <a:lstStyle/>
                    <a:p>
                      <a:pPr marL="0" lvl="0" indent="0">
                        <a:buNone/>
                      </a:pPr>
                      <a:r>
                        <a:t>Example</a:t>
                      </a:r>
                    </a:p>
                  </a:txBody>
                  <a:tcPr/>
                </a:tc>
                <a:extLst>
                  <a:ext uri="{0D108BD9-81ED-4DB2-BD59-A6C34878D82A}">
                    <a16:rowId xmlns:a16="http://schemas.microsoft.com/office/drawing/2014/main" val="10000"/>
                  </a:ext>
                </a:extLst>
              </a:tr>
              <a:tr h="0">
                <a:tc>
                  <a:txBody>
                    <a:bodyPr/>
                    <a:lstStyle/>
                    <a:p>
                      <a:pPr marL="0" lvl="0" indent="0">
                        <a:buNone/>
                      </a:pPr>
                      <a:r>
                        <a:rPr>
                          <a:latin typeface="Courier"/>
                        </a:rPr>
                        <a:t>*</a:t>
                      </a:r>
                    </a:p>
                  </a:txBody>
                  <a:tcPr/>
                </a:tc>
                <a:tc>
                  <a:txBody>
                    <a:bodyPr/>
                    <a:lstStyle/>
                    <a:p>
                      <a:pPr marL="0" lvl="0" indent="0">
                        <a:buNone/>
                      </a:pPr>
                      <a:r>
                        <a:t>Any characters (not </a:t>
                      </a:r>
                      <a:r>
                        <a:rPr>
                          <a:latin typeface="Courier"/>
                        </a:rPr>
                        <a:t>/</a:t>
                      </a:r>
                      <a:r>
                        <a:t>)</a:t>
                      </a:r>
                    </a:p>
                  </a:txBody>
                  <a:tcPr/>
                </a:tc>
                <a:tc>
                  <a:txBody>
                    <a:bodyPr/>
                    <a:lstStyle/>
                    <a:p>
                      <a:pPr marL="0" lvl="0" indent="0">
                        <a:buNone/>
                      </a:pPr>
                      <a:r>
                        <a:rPr>
                          <a:latin typeface="Courier"/>
                        </a:rPr>
                        <a:t>*.md</a:t>
                      </a:r>
                      <a:r>
                        <a:t> → </a:t>
                      </a:r>
                      <a:r>
                        <a:rPr>
                          <a:latin typeface="Courier"/>
                        </a:rPr>
                        <a:t>README.md</a:t>
                      </a:r>
                    </a:p>
                  </a:txBody>
                  <a:tcPr/>
                </a:tc>
                <a:extLst>
                  <a:ext uri="{0D108BD9-81ED-4DB2-BD59-A6C34878D82A}">
                    <a16:rowId xmlns:a16="http://schemas.microsoft.com/office/drawing/2014/main" val="10001"/>
                  </a:ext>
                </a:extLst>
              </a:tr>
              <a:tr h="0">
                <a:tc>
                  <a:txBody>
                    <a:bodyPr/>
                    <a:lstStyle/>
                    <a:p>
                      <a:pPr marL="0" lvl="0" indent="0">
                        <a:buNone/>
                      </a:pPr>
                      <a:r>
                        <a:rPr>
                          <a:latin typeface="Courier"/>
                        </a:rPr>
                        <a:t>**</a:t>
                      </a:r>
                    </a:p>
                  </a:txBody>
                  <a:tcPr/>
                </a:tc>
                <a:tc>
                  <a:txBody>
                    <a:bodyPr/>
                    <a:lstStyle/>
                    <a:p>
                      <a:pPr marL="0" lvl="0" indent="0">
                        <a:buNone/>
                      </a:pPr>
                      <a:r>
                        <a:t>Zero or more directories</a:t>
                      </a:r>
                    </a:p>
                  </a:txBody>
                  <a:tcPr/>
                </a:tc>
                <a:tc>
                  <a:txBody>
                    <a:bodyPr/>
                    <a:lstStyle/>
                    <a:p>
                      <a:pPr marL="0" lvl="0" indent="0">
                        <a:buNone/>
                      </a:pPr>
                      <a:r>
                        <a:rPr>
                          <a:latin typeface="Courier"/>
                        </a:rPr>
                        <a:t>**/*.md</a:t>
                      </a:r>
                      <a:r>
                        <a:t> → </a:t>
                      </a:r>
                      <a:r>
                        <a:rPr>
                          <a:latin typeface="Courier"/>
                        </a:rPr>
                        <a:t>docs/guide.md</a:t>
                      </a:r>
                    </a:p>
                  </a:txBody>
                  <a:tcPr/>
                </a:tc>
                <a:extLst>
                  <a:ext uri="{0D108BD9-81ED-4DB2-BD59-A6C34878D82A}">
                    <a16:rowId xmlns:a16="http://schemas.microsoft.com/office/drawing/2014/main" val="10002"/>
                  </a:ext>
                </a:extLst>
              </a:tr>
              <a:tr h="0">
                <a:tc>
                  <a:txBody>
                    <a:bodyPr/>
                    <a:lstStyle/>
                    <a:p>
                      <a:pPr marL="0" lvl="0" indent="0">
                        <a:buNone/>
                      </a:pPr>
                      <a:r>
                        <a:rPr>
                          <a:latin typeface="Courier"/>
                        </a:rPr>
                        <a:t>?</a:t>
                      </a:r>
                    </a:p>
                  </a:txBody>
                  <a:tcPr/>
                </a:tc>
                <a:tc>
                  <a:txBody>
                    <a:bodyPr/>
                    <a:lstStyle/>
                    <a:p>
                      <a:pPr marL="0" lvl="0" indent="0">
                        <a:buNone/>
                      </a:pPr>
                      <a:r>
                        <a:t>Single character</a:t>
                      </a:r>
                    </a:p>
                  </a:txBody>
                  <a:tcPr/>
                </a:tc>
                <a:tc>
                  <a:txBody>
                    <a:bodyPr/>
                    <a:lstStyle/>
                    <a:p>
                      <a:pPr marL="0" lvl="0" indent="0">
                        <a:buNone/>
                      </a:pPr>
                      <a:r>
                        <a:rPr>
                          <a:latin typeface="Courier"/>
                        </a:rPr>
                        <a:t>file?.md</a:t>
                      </a:r>
                      <a:r>
                        <a:t> → </a:t>
                      </a:r>
                      <a:r>
                        <a:rPr>
                          <a:latin typeface="Courier"/>
                        </a:rPr>
                        <a:t>file1.md</a:t>
                      </a:r>
                    </a:p>
                  </a:txBody>
                  <a:tcPr/>
                </a:tc>
                <a:extLst>
                  <a:ext uri="{0D108BD9-81ED-4DB2-BD59-A6C34878D82A}">
                    <a16:rowId xmlns:a16="http://schemas.microsoft.com/office/drawing/2014/main" val="10003"/>
                  </a:ext>
                </a:extLst>
              </a:tr>
              <a:tr h="0">
                <a:tc>
                  <a:txBody>
                    <a:bodyPr/>
                    <a:lstStyle/>
                    <a:p>
                      <a:pPr marL="0" lvl="0" indent="0">
                        <a:buNone/>
                      </a:pPr>
                      <a:r>
                        <a:rPr>
                          <a:latin typeface="Courier"/>
                        </a:rPr>
                        <a:t>[abc]</a:t>
                      </a:r>
                    </a:p>
                  </a:txBody>
                  <a:tcPr/>
                </a:tc>
                <a:tc>
                  <a:txBody>
                    <a:bodyPr/>
                    <a:lstStyle/>
                    <a:p>
                      <a:pPr marL="0" lvl="0" indent="0">
                        <a:buNone/>
                      </a:pPr>
                      <a:r>
                        <a:t>Character set</a:t>
                      </a:r>
                    </a:p>
                  </a:txBody>
                  <a:tcPr/>
                </a:tc>
                <a:tc>
                  <a:txBody>
                    <a:bodyPr/>
                    <a:lstStyle/>
                    <a:p>
                      <a:pPr marL="0" lvl="0" indent="0">
                        <a:buNone/>
                      </a:pPr>
                      <a:r>
                        <a:rPr>
                          <a:latin typeface="Courier"/>
                        </a:rPr>
                        <a:t>[abc].md</a:t>
                      </a:r>
                      <a:r>
                        <a:t> → </a:t>
                      </a:r>
                      <a:r>
                        <a:rPr>
                          <a:latin typeface="Courier"/>
                        </a:rPr>
                        <a:t>a.md</a:t>
                      </a:r>
                    </a:p>
                  </a:txBody>
                  <a:tcPr/>
                </a:tc>
                <a:extLst>
                  <a:ext uri="{0D108BD9-81ED-4DB2-BD59-A6C34878D82A}">
                    <a16:rowId xmlns:a16="http://schemas.microsoft.com/office/drawing/2014/main" val="10004"/>
                  </a:ext>
                </a:extLst>
              </a:tr>
              <a:tr h="0">
                <a:tc>
                  <a:txBody>
                    <a:bodyPr/>
                    <a:lstStyle/>
                    <a:p>
                      <a:pPr marL="0" lvl="0" indent="0">
                        <a:buNone/>
                      </a:pPr>
                      <a:r>
                        <a:rPr>
                          <a:latin typeface="Courier"/>
                        </a:rPr>
                        <a:t>[a-z]</a:t>
                      </a:r>
                    </a:p>
                  </a:txBody>
                  <a:tcPr/>
                </a:tc>
                <a:tc>
                  <a:txBody>
                    <a:bodyPr/>
                    <a:lstStyle/>
                    <a:p>
                      <a:pPr marL="0" lvl="0" indent="0">
                        <a:buNone/>
                      </a:pPr>
                      <a:r>
                        <a:t>Character range</a:t>
                      </a:r>
                    </a:p>
                  </a:txBody>
                  <a:tcPr/>
                </a:tc>
                <a:tc>
                  <a:txBody>
                    <a:bodyPr/>
                    <a:lstStyle/>
                    <a:p>
                      <a:pPr marL="0" lvl="0" indent="0">
                        <a:buNone/>
                      </a:pPr>
                      <a:r>
                        <a:rPr>
                          <a:latin typeface="Courier"/>
                        </a:rPr>
                        <a:t>[a-z].md</a:t>
                      </a:r>
                      <a:r>
                        <a:t> → </a:t>
                      </a:r>
                      <a:r>
                        <a:rPr>
                          <a:latin typeface="Courier"/>
                        </a:rPr>
                        <a:t>x.md</a:t>
                      </a:r>
                    </a:p>
                  </a:txBody>
                  <a:tcPr/>
                </a:tc>
                <a:extLst>
                  <a:ext uri="{0D108BD9-81ED-4DB2-BD59-A6C34878D82A}">
                    <a16:rowId xmlns:a16="http://schemas.microsoft.com/office/drawing/2014/main" val="10005"/>
                  </a:ext>
                </a:extLst>
              </a:tr>
              <a:tr h="0">
                <a:tc>
                  <a:txBody>
                    <a:bodyPr/>
                    <a:lstStyle/>
                    <a:p>
                      <a:pPr marL="0" lvl="0" indent="0">
                        <a:buNone/>
                      </a:pPr>
                      <a:r>
                        <a:rPr>
                          <a:latin typeface="Courier"/>
                        </a:rPr>
                        <a:t>{a,b}</a:t>
                      </a:r>
                    </a:p>
                  </a:txBody>
                  <a:tcPr/>
                </a:tc>
                <a:tc>
                  <a:txBody>
                    <a:bodyPr/>
                    <a:lstStyle/>
                    <a:p>
                      <a:pPr marL="0" lvl="0" indent="0">
                        <a:buNone/>
                      </a:pPr>
                      <a:r>
                        <a:t>Alternatives</a:t>
                      </a:r>
                    </a:p>
                  </a:txBody>
                  <a:tcPr/>
                </a:tc>
                <a:tc>
                  <a:txBody>
                    <a:bodyPr/>
                    <a:lstStyle/>
                    <a:p>
                      <a:pPr marL="0" lvl="0" indent="0">
                        <a:buNone/>
                      </a:pPr>
                      <a:r>
                        <a:rPr dirty="0">
                          <a:latin typeface="Courier"/>
                        </a:rPr>
                        <a:t>*.{</a:t>
                      </a:r>
                      <a:r>
                        <a:rPr dirty="0" err="1">
                          <a:latin typeface="Courier"/>
                        </a:rPr>
                        <a:t>js,ts</a:t>
                      </a:r>
                      <a:r>
                        <a:rPr dirty="0">
                          <a:latin typeface="Courier"/>
                        </a:rPr>
                        <a:t>}</a:t>
                      </a:r>
                      <a:r>
                        <a:rPr dirty="0"/>
                        <a:t> → </a:t>
                      </a:r>
                      <a:r>
                        <a:rPr dirty="0" err="1">
                          <a:latin typeface="Courier"/>
                        </a:rPr>
                        <a:t>app.ts</a:t>
                      </a:r>
                      <a:endParaRPr dirty="0">
                        <a:latin typeface="Courier"/>
                      </a:endParaRPr>
                    </a:p>
                  </a:txBody>
                  <a:tcPr/>
                </a:tc>
                <a:extLst>
                  <a:ext uri="{0D108BD9-81ED-4DB2-BD59-A6C34878D82A}">
                    <a16:rowId xmlns:a16="http://schemas.microsoft.com/office/drawing/2014/main" val="10006"/>
                  </a:ext>
                </a:extLst>
              </a:tr>
            </a:tbl>
          </a:graphicData>
        </a:graphic>
      </p:graphicFrame>
      <p:sp>
        <p:nvSpPr>
          <p:cNvPr id="4" name="Text Placeholder 3"/>
          <p:cNvSpPr>
            <a:spLocks noGrp="1"/>
          </p:cNvSpPr>
          <p:nvPr>
            <p:ph type="body" sz="half" idx="4294967295"/>
          </p:nvPr>
        </p:nvSpPr>
        <p:spPr>
          <a:xfrm>
            <a:off x="457200" y="1425208"/>
            <a:ext cx="8135815" cy="697767"/>
          </a:xfrm>
        </p:spPr>
        <p:txBody>
          <a:bodyPr/>
          <a:lstStyle/>
          <a:p>
            <a:pPr marL="0" lvl="0" indent="0">
              <a:spcBef>
                <a:spcPts val="3000"/>
              </a:spcBef>
              <a:buNone/>
            </a:pPr>
            <a:r>
              <a:rPr dirty="0"/>
              <a:t>Understanding the building blocks: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EE952-3C8F-E7F2-56F6-BACB6AD99947}"/>
              </a:ext>
            </a:extLst>
          </p:cNvPr>
          <p:cNvSpPr>
            <a:spLocks noGrp="1"/>
          </p:cNvSpPr>
          <p:nvPr>
            <p:ph type="title"/>
          </p:nvPr>
        </p:nvSpPr>
        <p:spPr/>
        <p:txBody>
          <a:bodyPr>
            <a:normAutofit/>
          </a:bodyPr>
          <a:lstStyle/>
          <a:p>
            <a:pPr algn="l"/>
            <a:r>
              <a:rPr lang="en-US" dirty="0"/>
              <a:t>Real-World Examples</a:t>
            </a:r>
          </a:p>
        </p:txBody>
      </p:sp>
      <p:sp>
        <p:nvSpPr>
          <p:cNvPr id="3" name="Content Placeholder 2"/>
          <p:cNvSpPr>
            <a:spLocks noGrp="1"/>
          </p:cNvSpPr>
          <p:nvPr>
            <p:ph idx="1"/>
          </p:nvPr>
        </p:nvSpPr>
        <p:spPr/>
        <p:txBody>
          <a:bodyPr>
            <a:normAutofit fontScale="62500" lnSpcReduction="20000"/>
          </a:bodyPr>
          <a:lstStyle/>
          <a:p>
            <a:pPr marL="0" lvl="0" indent="0">
              <a:spcBef>
                <a:spcPts val="3000"/>
              </a:spcBef>
              <a:buNone/>
            </a:pPr>
            <a:r>
              <a:rPr dirty="0"/>
              <a:t>From this repository’s instruction files:</a:t>
            </a:r>
            <a:br>
              <a:rPr lang="en-US" dirty="0"/>
            </a:br>
            <a:endParaRPr dirty="0"/>
          </a:p>
          <a:p>
            <a:pPr lvl="0" indent="0">
              <a:buNone/>
            </a:pPr>
            <a:r>
              <a:rPr i="1" dirty="0">
                <a:solidFill>
                  <a:srgbClr val="60A0B0"/>
                </a:solidFill>
                <a:latin typeface="Courier"/>
              </a:rPr>
              <a:t># 1. AI Output Standards (Universal)</a:t>
            </a:r>
            <a:br>
              <a:rPr dirty="0"/>
            </a:b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rgbClr val="4070A0"/>
                </a:solidFill>
                <a:latin typeface="Courier"/>
              </a:rPr>
              <a:t>"**/*"</a:t>
            </a:r>
            <a:br>
              <a:rPr dirty="0"/>
            </a:br>
            <a:br>
              <a:rPr dirty="0"/>
            </a:br>
            <a:r>
              <a:rPr i="1" dirty="0">
                <a:solidFill>
                  <a:srgbClr val="60A0B0"/>
                </a:solidFill>
                <a:latin typeface="Courier"/>
              </a:rPr>
              <a:t># 2. Vertical Slice Architecture (Code)</a:t>
            </a:r>
            <a:br>
              <a:rPr dirty="0"/>
            </a:b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rgbClr val="4070A0"/>
                </a:solidFill>
                <a:latin typeface="Courier"/>
              </a:rPr>
              <a:t>"**/*.{</a:t>
            </a:r>
            <a:r>
              <a:rPr dirty="0" err="1">
                <a:solidFill>
                  <a:srgbClr val="4070A0"/>
                </a:solidFill>
                <a:latin typeface="Courier"/>
              </a:rPr>
              <a:t>cs,ts,js,py,java,go,rb</a:t>
            </a:r>
            <a:r>
              <a:rPr dirty="0">
                <a:solidFill>
                  <a:srgbClr val="4070A0"/>
                </a:solidFill>
                <a:latin typeface="Courier"/>
              </a:rPr>
              <a:t>}"</a:t>
            </a:r>
            <a:br>
              <a:rPr dirty="0"/>
            </a:br>
            <a:br>
              <a:rPr dirty="0"/>
            </a:br>
            <a:r>
              <a:rPr i="1" dirty="0">
                <a:solidFill>
                  <a:srgbClr val="60A0B0"/>
                </a:solidFill>
                <a:latin typeface="Courier"/>
              </a:rPr>
              <a:t># 3. Business Rules Documentation</a:t>
            </a:r>
            <a:br>
              <a:rPr dirty="0"/>
            </a:b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rgbClr val="4070A0"/>
                </a:solidFill>
                <a:latin typeface="Courier"/>
              </a:rPr>
              <a:t>"**/*.{</a:t>
            </a:r>
            <a:r>
              <a:rPr dirty="0" err="1">
                <a:solidFill>
                  <a:srgbClr val="4070A0"/>
                </a:solidFill>
                <a:latin typeface="Courier"/>
              </a:rPr>
              <a:t>md,txt</a:t>
            </a:r>
            <a:r>
              <a:rPr dirty="0">
                <a:solidFill>
                  <a:srgbClr val="4070A0"/>
                </a:solidFill>
                <a:latin typeface="Courier"/>
              </a:rPr>
              <a:t>}"</a:t>
            </a:r>
            <a:br>
              <a:rPr dirty="0"/>
            </a:br>
            <a:br>
              <a:rPr dirty="0"/>
            </a:br>
            <a:r>
              <a:rPr i="1" dirty="0">
                <a:solidFill>
                  <a:srgbClr val="60A0B0"/>
                </a:solidFill>
                <a:latin typeface="Courier"/>
              </a:rPr>
              <a:t># 4. Marp Slide Formatting</a:t>
            </a:r>
            <a:br>
              <a:rPr dirty="0"/>
            </a:b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rgbClr val="4070A0"/>
                </a:solidFill>
                <a:latin typeface="Courier"/>
              </a:rPr>
              <a:t>"Slides/individual-slides/**"</a:t>
            </a:r>
            <a:br>
              <a:rPr dirty="0"/>
            </a:br>
            <a:br>
              <a:rPr dirty="0"/>
            </a:br>
            <a:r>
              <a:rPr i="1" dirty="0">
                <a:solidFill>
                  <a:srgbClr val="60A0B0"/>
                </a:solidFill>
                <a:latin typeface="Courier"/>
              </a:rPr>
              <a:t># 5. Prompt File Authoring</a:t>
            </a:r>
            <a:br>
              <a:rPr dirty="0"/>
            </a:b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rgbClr val="4070A0"/>
                </a:solidFill>
                <a:latin typeface="Courier"/>
              </a:rPr>
              <a:t>"**/*.prompt.md"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474BE-A337-2E14-3BD4-3ABEDB99F020}"/>
              </a:ext>
            </a:extLst>
          </p:cNvPr>
          <p:cNvSpPr>
            <a:spLocks noGrp="1"/>
          </p:cNvSpPr>
          <p:nvPr>
            <p:ph type="title"/>
          </p:nvPr>
        </p:nvSpPr>
        <p:spPr/>
        <p:txBody>
          <a:bodyPr>
            <a:normAutofit/>
          </a:bodyPr>
          <a:lstStyle/>
          <a:p>
            <a:pPr algn="l"/>
            <a:r>
              <a:rPr lang="en-US" dirty="0"/>
              <a:t>Best Practices</a:t>
            </a:r>
          </a:p>
        </p:txBody>
      </p:sp>
      <p:sp>
        <p:nvSpPr>
          <p:cNvPr id="3" name="Content Placeholder 2"/>
          <p:cNvSpPr>
            <a:spLocks noGrp="1"/>
          </p:cNvSpPr>
          <p:nvPr>
            <p:ph idx="1"/>
          </p:nvPr>
        </p:nvSpPr>
        <p:spPr/>
        <p:txBody>
          <a:bodyPr>
            <a:normAutofit fontScale="85000" lnSpcReduction="20000"/>
          </a:bodyPr>
          <a:lstStyle/>
          <a:p>
            <a:pPr marL="0" lvl="0" indent="0">
              <a:spcBef>
                <a:spcPts val="3000"/>
              </a:spcBef>
              <a:buNone/>
            </a:pPr>
            <a:r>
              <a:rPr b="1" dirty="0"/>
              <a:t>1. Be Specific When Possible</a:t>
            </a:r>
          </a:p>
          <a:p>
            <a:pPr lvl="0" indent="0">
              <a:buNone/>
            </a:pPr>
            <a:r>
              <a:rPr dirty="0">
                <a:solidFill>
                  <a:srgbClr val="06287E"/>
                </a:solidFill>
                <a:latin typeface="Courier"/>
              </a:rPr>
              <a:t>✅ </a:t>
            </a: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rgbClr val="4070A0"/>
                </a:solidFill>
                <a:latin typeface="Courier"/>
              </a:rPr>
              <a:t>"**/*.instructions.md"</a:t>
            </a:r>
            <a:br>
              <a:rPr dirty="0"/>
            </a:br>
            <a:r>
              <a:rPr dirty="0">
                <a:solidFill>
                  <a:srgbClr val="06287E"/>
                </a:solidFill>
                <a:latin typeface="Courier"/>
              </a:rPr>
              <a:t>❌ </a:t>
            </a: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rgbClr val="4070A0"/>
                </a:solidFill>
                <a:latin typeface="Courier"/>
              </a:rPr>
              <a:t>"**"</a:t>
            </a:r>
          </a:p>
          <a:p>
            <a:pPr marL="0" lvl="0" indent="0">
              <a:buNone/>
            </a:pPr>
            <a:r>
              <a:rPr b="1" dirty="0"/>
              <a:t>2. Use Brace Expansion for Multiple Extensions</a:t>
            </a:r>
          </a:p>
          <a:p>
            <a:pPr lvl="0" indent="0">
              <a:buNone/>
            </a:pPr>
            <a:r>
              <a:rPr dirty="0">
                <a:solidFill>
                  <a:srgbClr val="06287E"/>
                </a:solidFill>
                <a:latin typeface="Courier"/>
              </a:rPr>
              <a:t>✅ </a:t>
            </a: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rgbClr val="4070A0"/>
                </a:solidFill>
                <a:latin typeface="Courier"/>
              </a:rPr>
              <a:t>"**/*.{</a:t>
            </a:r>
            <a:r>
              <a:rPr dirty="0" err="1">
                <a:solidFill>
                  <a:srgbClr val="4070A0"/>
                </a:solidFill>
                <a:latin typeface="Courier"/>
              </a:rPr>
              <a:t>cs,ts,js</a:t>
            </a:r>
            <a:r>
              <a:rPr dirty="0">
                <a:solidFill>
                  <a:srgbClr val="4070A0"/>
                </a:solidFill>
                <a:latin typeface="Courier"/>
              </a:rPr>
              <a:t>}"</a:t>
            </a:r>
            <a:br>
              <a:rPr dirty="0"/>
            </a:br>
            <a:r>
              <a:rPr dirty="0">
                <a:solidFill>
                  <a:srgbClr val="7D9029"/>
                </a:solidFill>
                <a:latin typeface="Courier"/>
              </a:rPr>
              <a:t>❌ Three separate instruction files</a:t>
            </a:r>
          </a:p>
          <a:p>
            <a:pPr marL="0" lvl="0" indent="0">
              <a:buNone/>
            </a:pPr>
            <a:r>
              <a:rPr b="1" dirty="0"/>
              <a:t>3. Match Scope to Purpose</a:t>
            </a:r>
          </a:p>
          <a:p>
            <a:pPr lvl="0" indent="0">
              <a:buNone/>
            </a:pPr>
            <a:r>
              <a:rPr i="1" dirty="0">
                <a:solidFill>
                  <a:srgbClr val="60A0B0"/>
                </a:solidFill>
                <a:latin typeface="Courier"/>
              </a:rPr>
              <a:t># Architecture → Code files</a:t>
            </a:r>
            <a:br>
              <a:rPr dirty="0"/>
            </a:b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rgbClr val="4070A0"/>
                </a:solidFill>
                <a:latin typeface="Courier"/>
              </a:rPr>
              <a:t>"</a:t>
            </a:r>
            <a:r>
              <a:rPr dirty="0" err="1">
                <a:solidFill>
                  <a:srgbClr val="4070A0"/>
                </a:solidFill>
                <a:latin typeface="Courier"/>
              </a:rPr>
              <a:t>src</a:t>
            </a:r>
            <a:r>
              <a:rPr dirty="0">
                <a:solidFill>
                  <a:srgbClr val="4070A0"/>
                </a:solidFill>
                <a:latin typeface="Courier"/>
              </a:rPr>
              <a:t>/**/*.{</a:t>
            </a:r>
            <a:r>
              <a:rPr dirty="0" err="1">
                <a:solidFill>
                  <a:srgbClr val="4070A0"/>
                </a:solidFill>
                <a:latin typeface="Courier"/>
              </a:rPr>
              <a:t>cs,ts,js</a:t>
            </a:r>
            <a:r>
              <a:rPr dirty="0">
                <a:solidFill>
                  <a:srgbClr val="4070A0"/>
                </a:solidFill>
                <a:latin typeface="Courier"/>
              </a:rPr>
              <a:t>}"</a:t>
            </a:r>
            <a:br>
              <a:rPr dirty="0"/>
            </a:br>
            <a:br>
              <a:rPr dirty="0"/>
            </a:br>
            <a:r>
              <a:rPr i="1" dirty="0">
                <a:solidFill>
                  <a:srgbClr val="60A0B0"/>
                </a:solidFill>
                <a:latin typeface="Courier"/>
              </a:rPr>
              <a:t># Formatting → Specific directory</a:t>
            </a:r>
            <a:br>
              <a:rPr dirty="0"/>
            </a:b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rgbClr val="4070A0"/>
                </a:solidFill>
                <a:latin typeface="Courier"/>
              </a:rPr>
              <a:t>"Slides/individual-slides/**"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C3368-11A7-61DD-74AF-3560E7D4EA3D}"/>
              </a:ext>
            </a:extLst>
          </p:cNvPr>
          <p:cNvSpPr>
            <a:spLocks noGrp="1"/>
          </p:cNvSpPr>
          <p:nvPr>
            <p:ph type="title"/>
          </p:nvPr>
        </p:nvSpPr>
        <p:spPr/>
        <p:txBody>
          <a:bodyPr/>
          <a:lstStyle/>
          <a:p>
            <a:pPr algn="l"/>
            <a:r>
              <a:rPr lang="en-US" dirty="0"/>
              <a:t>Common Pitfalls</a:t>
            </a:r>
          </a:p>
        </p:txBody>
      </p:sp>
      <p:sp>
        <p:nvSpPr>
          <p:cNvPr id="3" name="Content Placeholder 2"/>
          <p:cNvSpPr>
            <a:spLocks noGrp="1"/>
          </p:cNvSpPr>
          <p:nvPr>
            <p:ph idx="1"/>
          </p:nvPr>
        </p:nvSpPr>
        <p:spPr/>
        <p:txBody>
          <a:bodyPr>
            <a:normAutofit fontScale="70000" lnSpcReduction="20000"/>
          </a:bodyPr>
          <a:lstStyle/>
          <a:p>
            <a:pPr marL="0" lvl="0" indent="0">
              <a:buNone/>
            </a:pPr>
            <a:r>
              <a:rPr b="1" dirty="0"/>
              <a:t>Pitfall 1: Too Broad</a:t>
            </a:r>
          </a:p>
          <a:p>
            <a:pPr lvl="0" indent="0">
              <a:buNone/>
            </a:pPr>
            <a:r>
              <a:rPr dirty="0">
                <a:solidFill>
                  <a:srgbClr val="06287E"/>
                </a:solidFill>
                <a:latin typeface="Courier"/>
              </a:rPr>
              <a:t>❌ </a:t>
            </a: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rgbClr val="4070A0"/>
                </a:solidFill>
                <a:latin typeface="Courier"/>
              </a:rPr>
              <a:t>"**"</a:t>
            </a:r>
            <a:r>
              <a:rPr i="1" dirty="0">
                <a:solidFill>
                  <a:srgbClr val="60A0B0"/>
                </a:solidFill>
                <a:latin typeface="Courier"/>
              </a:rPr>
              <a:t> # For slide formatting</a:t>
            </a:r>
            <a:br>
              <a:rPr dirty="0"/>
            </a:br>
            <a:r>
              <a:rPr dirty="0">
                <a:solidFill>
                  <a:srgbClr val="06287E"/>
                </a:solidFill>
                <a:latin typeface="Courier"/>
              </a:rPr>
              <a:t>✅ </a:t>
            </a: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rgbClr val="4070A0"/>
                </a:solidFill>
                <a:latin typeface="Courier"/>
              </a:rPr>
              <a:t>"Slides/**"</a:t>
            </a:r>
          </a:p>
          <a:p>
            <a:pPr marL="0" lvl="0" indent="0">
              <a:buNone/>
            </a:pPr>
            <a:r>
              <a:rPr b="1" dirty="0"/>
              <a:t>Pitfall 2: Too Narrow</a:t>
            </a:r>
          </a:p>
          <a:p>
            <a:pPr lvl="0" indent="0">
              <a:buNone/>
            </a:pPr>
            <a:r>
              <a:rPr dirty="0">
                <a:solidFill>
                  <a:srgbClr val="06287E"/>
                </a:solidFill>
                <a:latin typeface="Courier"/>
              </a:rPr>
              <a:t>❌ </a:t>
            </a: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rgbClr val="4070A0"/>
                </a:solidFill>
                <a:latin typeface="Courier"/>
              </a:rPr>
              <a:t>"</a:t>
            </a:r>
            <a:r>
              <a:rPr dirty="0" err="1">
                <a:solidFill>
                  <a:srgbClr val="4070A0"/>
                </a:solidFill>
                <a:latin typeface="Courier"/>
              </a:rPr>
              <a:t>src</a:t>
            </a:r>
            <a:r>
              <a:rPr dirty="0">
                <a:solidFill>
                  <a:srgbClr val="4070A0"/>
                </a:solidFill>
                <a:latin typeface="Courier"/>
              </a:rPr>
              <a:t>/Features/</a:t>
            </a:r>
            <a:r>
              <a:rPr dirty="0" err="1">
                <a:solidFill>
                  <a:srgbClr val="4070A0"/>
                </a:solidFill>
                <a:latin typeface="Courier"/>
              </a:rPr>
              <a:t>UserManagement</a:t>
            </a:r>
            <a:r>
              <a:rPr dirty="0">
                <a:solidFill>
                  <a:srgbClr val="4070A0"/>
                </a:solidFill>
                <a:latin typeface="Courier"/>
              </a:rPr>
              <a:t>/**/*.cs"</a:t>
            </a:r>
            <a:br>
              <a:rPr dirty="0"/>
            </a:br>
            <a:r>
              <a:rPr dirty="0">
                <a:solidFill>
                  <a:srgbClr val="06287E"/>
                </a:solidFill>
                <a:latin typeface="Courier"/>
              </a:rPr>
              <a:t>✅ </a:t>
            </a: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rgbClr val="4070A0"/>
                </a:solidFill>
                <a:latin typeface="Courier"/>
              </a:rPr>
              <a:t>"</a:t>
            </a:r>
            <a:r>
              <a:rPr dirty="0" err="1">
                <a:solidFill>
                  <a:srgbClr val="4070A0"/>
                </a:solidFill>
                <a:latin typeface="Courier"/>
              </a:rPr>
              <a:t>src</a:t>
            </a:r>
            <a:r>
              <a:rPr dirty="0">
                <a:solidFill>
                  <a:srgbClr val="4070A0"/>
                </a:solidFill>
                <a:latin typeface="Courier"/>
              </a:rPr>
              <a:t>/Features/**/*.cs"</a:t>
            </a:r>
          </a:p>
          <a:p>
            <a:pPr marL="0" lvl="0" indent="0">
              <a:buNone/>
            </a:pPr>
            <a:r>
              <a:rPr b="1" dirty="0"/>
              <a:t>Pitfall 3: Overlapping Instructions</a:t>
            </a:r>
          </a:p>
          <a:p>
            <a:pPr lvl="0" indent="0">
              <a:buNone/>
            </a:pPr>
            <a:r>
              <a:rPr i="1" dirty="0">
                <a:solidFill>
                  <a:srgbClr val="60A0B0"/>
                </a:solidFill>
                <a:latin typeface="Courier"/>
              </a:rPr>
              <a:t># File 1</a:t>
            </a:r>
            <a:br>
              <a:rPr dirty="0"/>
            </a:b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rgbClr val="4070A0"/>
                </a:solidFill>
                <a:latin typeface="Courier"/>
              </a:rPr>
              <a:t>"**/*.cs"</a:t>
            </a:r>
            <a:r>
              <a:rPr i="1" dirty="0">
                <a:solidFill>
                  <a:srgbClr val="60A0B0"/>
                </a:solidFill>
                <a:latin typeface="Courier"/>
              </a:rPr>
              <a:t>  # All C# files</a:t>
            </a:r>
            <a:br>
              <a:rPr dirty="0"/>
            </a:br>
            <a:br>
              <a:rPr dirty="0"/>
            </a:br>
            <a:r>
              <a:rPr i="1" dirty="0">
                <a:solidFill>
                  <a:srgbClr val="60A0B0"/>
                </a:solidFill>
                <a:latin typeface="Courier"/>
              </a:rPr>
              <a:t># File 2</a:t>
            </a:r>
            <a:br>
              <a:rPr dirty="0"/>
            </a:b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rgbClr val="4070A0"/>
                </a:solidFill>
                <a:latin typeface="Courier"/>
              </a:rPr>
              <a:t>"</a:t>
            </a:r>
            <a:r>
              <a:rPr dirty="0" err="1">
                <a:solidFill>
                  <a:srgbClr val="4070A0"/>
                </a:solidFill>
                <a:latin typeface="Courier"/>
              </a:rPr>
              <a:t>src</a:t>
            </a:r>
            <a:r>
              <a:rPr dirty="0">
                <a:solidFill>
                  <a:srgbClr val="4070A0"/>
                </a:solidFill>
                <a:latin typeface="Courier"/>
              </a:rPr>
              <a:t>/**/*.cs"</a:t>
            </a:r>
            <a:r>
              <a:rPr i="1" dirty="0">
                <a:solidFill>
                  <a:srgbClr val="60A0B0"/>
                </a:solidFill>
                <a:latin typeface="Courier"/>
              </a:rPr>
              <a:t>  # C# files in </a:t>
            </a:r>
            <a:r>
              <a:rPr i="1" dirty="0" err="1">
                <a:solidFill>
                  <a:srgbClr val="60A0B0"/>
                </a:solidFill>
                <a:latin typeface="Courier"/>
              </a:rPr>
              <a:t>src</a:t>
            </a:r>
            <a:br>
              <a:rPr dirty="0"/>
            </a:br>
            <a:br>
              <a:rPr dirty="0"/>
            </a:br>
            <a:r>
              <a:rPr i="1" dirty="0">
                <a:solidFill>
                  <a:srgbClr val="60A0B0"/>
                </a:solidFill>
                <a:latin typeface="Courier"/>
              </a:rPr>
              <a:t># Result: Both apply to </a:t>
            </a:r>
            <a:r>
              <a:rPr i="1" dirty="0" err="1">
                <a:solidFill>
                  <a:srgbClr val="60A0B0"/>
                </a:solidFill>
                <a:latin typeface="Courier"/>
              </a:rPr>
              <a:t>src</a:t>
            </a:r>
            <a:r>
              <a:rPr i="1" dirty="0">
                <a:solidFill>
                  <a:srgbClr val="60A0B0"/>
                </a:solidFill>
                <a:latin typeface="Courier"/>
              </a:rPr>
              <a:t>/**/*.cs → potential conflicts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FF697-DB41-36F3-8359-111091891994}"/>
              </a:ext>
            </a:extLst>
          </p:cNvPr>
          <p:cNvSpPr>
            <a:spLocks noGrp="1"/>
          </p:cNvSpPr>
          <p:nvPr>
            <p:ph type="title"/>
          </p:nvPr>
        </p:nvSpPr>
        <p:spPr/>
        <p:txBody>
          <a:bodyPr>
            <a:normAutofit/>
          </a:bodyPr>
          <a:lstStyle/>
          <a:p>
            <a:pPr algn="l"/>
            <a:r>
              <a:rPr lang="en-US" dirty="0"/>
              <a:t>Testing Your Patterns</a:t>
            </a:r>
          </a:p>
        </p:txBody>
      </p:sp>
      <p:sp>
        <p:nvSpPr>
          <p:cNvPr id="3" name="Content Placeholder 2"/>
          <p:cNvSpPr>
            <a:spLocks noGrp="1"/>
          </p:cNvSpPr>
          <p:nvPr>
            <p:ph idx="1"/>
          </p:nvPr>
        </p:nvSpPr>
        <p:spPr/>
        <p:txBody>
          <a:bodyPr>
            <a:normAutofit fontScale="62500" lnSpcReduction="20000"/>
          </a:bodyPr>
          <a:lstStyle/>
          <a:p>
            <a:pPr marL="0" lvl="0" indent="0">
              <a:spcBef>
                <a:spcPts val="3000"/>
              </a:spcBef>
              <a:buNone/>
            </a:pPr>
            <a:r>
              <a:rPr b="1" dirty="0"/>
              <a:t>How to verify patterns work correctly:</a:t>
            </a:r>
          </a:p>
          <a:p>
            <a:pPr marL="342900" lvl="0" indent="-342900">
              <a:buAutoNum type="arabicPeriod"/>
            </a:pPr>
            <a:r>
              <a:rPr b="1" dirty="0"/>
              <a:t>Use file search to preview matches:</a:t>
            </a:r>
          </a:p>
          <a:p>
            <a:pPr lvl="0" indent="0">
              <a:buNone/>
            </a:pPr>
            <a:r>
              <a:rPr i="1" dirty="0">
                <a:solidFill>
                  <a:srgbClr val="60A0B0"/>
                </a:solidFill>
                <a:latin typeface="Courier"/>
              </a:rPr>
              <a:t># PowerShell</a:t>
            </a:r>
            <a:br>
              <a:rPr dirty="0"/>
            </a:br>
            <a:r>
              <a:rPr dirty="0">
                <a:solidFill>
                  <a:srgbClr val="06287E"/>
                </a:solidFill>
                <a:latin typeface="Courier"/>
              </a:rPr>
              <a:t>Get-</a:t>
            </a:r>
            <a:r>
              <a:rPr dirty="0" err="1">
                <a:solidFill>
                  <a:srgbClr val="06287E"/>
                </a:solidFill>
                <a:latin typeface="Courier"/>
              </a:rPr>
              <a:t>ChildItem</a:t>
            </a:r>
            <a:r>
              <a:rPr dirty="0">
                <a:latin typeface="Courier"/>
              </a:rPr>
              <a:t> </a:t>
            </a:r>
            <a:r>
              <a:rPr dirty="0">
                <a:solidFill>
                  <a:srgbClr val="666666"/>
                </a:solidFill>
                <a:latin typeface="Courier"/>
              </a:rPr>
              <a:t>-</a:t>
            </a:r>
            <a:r>
              <a:rPr dirty="0">
                <a:latin typeface="Courier"/>
              </a:rPr>
              <a:t>Path </a:t>
            </a:r>
            <a:r>
              <a:rPr dirty="0">
                <a:solidFill>
                  <a:srgbClr val="666666"/>
                </a:solidFill>
                <a:latin typeface="Courier"/>
              </a:rPr>
              <a:t>.</a:t>
            </a:r>
            <a:r>
              <a:rPr dirty="0">
                <a:latin typeface="Courier"/>
              </a:rPr>
              <a:t> </a:t>
            </a:r>
            <a:r>
              <a:rPr dirty="0">
                <a:solidFill>
                  <a:srgbClr val="666666"/>
                </a:solidFill>
                <a:latin typeface="Courier"/>
              </a:rPr>
              <a:t>-</a:t>
            </a:r>
            <a:r>
              <a:rPr dirty="0">
                <a:latin typeface="Courier"/>
              </a:rPr>
              <a:t>Filter </a:t>
            </a:r>
            <a:r>
              <a:rPr dirty="0">
                <a:solidFill>
                  <a:srgbClr val="4070A0"/>
                </a:solidFill>
                <a:latin typeface="Courier"/>
              </a:rPr>
              <a:t>"*.md"</a:t>
            </a:r>
            <a:r>
              <a:rPr dirty="0">
                <a:latin typeface="Courier"/>
              </a:rPr>
              <a:t> </a:t>
            </a:r>
            <a:r>
              <a:rPr dirty="0">
                <a:solidFill>
                  <a:srgbClr val="666666"/>
                </a:solidFill>
                <a:latin typeface="Courier"/>
              </a:rPr>
              <a:t>-</a:t>
            </a:r>
            <a:r>
              <a:rPr dirty="0">
                <a:latin typeface="Courier"/>
              </a:rPr>
              <a:t>Recurse</a:t>
            </a:r>
            <a:br>
              <a:rPr dirty="0"/>
            </a:br>
            <a:br>
              <a:rPr dirty="0"/>
            </a:br>
            <a:r>
              <a:rPr i="1" dirty="0">
                <a:solidFill>
                  <a:srgbClr val="60A0B0"/>
                </a:solidFill>
                <a:latin typeface="Courier"/>
              </a:rPr>
              <a:t># Bash/</a:t>
            </a:r>
            <a:r>
              <a:rPr i="1" dirty="0" err="1">
                <a:solidFill>
                  <a:srgbClr val="60A0B0"/>
                </a:solidFill>
                <a:latin typeface="Courier"/>
              </a:rPr>
              <a:t>Zsh</a:t>
            </a:r>
            <a:br>
              <a:rPr dirty="0"/>
            </a:br>
            <a:r>
              <a:rPr dirty="0">
                <a:latin typeface="Courier"/>
              </a:rPr>
              <a:t>find </a:t>
            </a:r>
            <a:r>
              <a:rPr dirty="0">
                <a:solidFill>
                  <a:srgbClr val="666666"/>
                </a:solidFill>
                <a:latin typeface="Courier"/>
              </a:rPr>
              <a:t>.</a:t>
            </a:r>
            <a:r>
              <a:rPr dirty="0">
                <a:latin typeface="Courier"/>
              </a:rPr>
              <a:t> </a:t>
            </a:r>
            <a:r>
              <a:rPr dirty="0">
                <a:solidFill>
                  <a:srgbClr val="666666"/>
                </a:solidFill>
                <a:latin typeface="Courier"/>
              </a:rPr>
              <a:t>-</a:t>
            </a:r>
            <a:r>
              <a:rPr dirty="0">
                <a:latin typeface="Courier"/>
              </a:rPr>
              <a:t>name </a:t>
            </a:r>
            <a:r>
              <a:rPr dirty="0">
                <a:solidFill>
                  <a:srgbClr val="4070A0"/>
                </a:solidFill>
                <a:latin typeface="Courier"/>
              </a:rPr>
              <a:t>"*.md"</a:t>
            </a:r>
          </a:p>
          <a:p>
            <a:pPr marL="342900" lvl="0" indent="-342900">
              <a:buAutoNum type="arabicPeriod" startAt="2"/>
            </a:pPr>
            <a:r>
              <a:rPr b="1" dirty="0"/>
              <a:t>Online glob testers:</a:t>
            </a:r>
          </a:p>
          <a:p>
            <a:pPr lvl="0"/>
            <a:r>
              <a:rPr dirty="0" err="1">
                <a:hlinkClick r:id="rId3"/>
              </a:rPr>
              <a:t>globster.xyz</a:t>
            </a:r>
            <a:endParaRPr dirty="0">
              <a:hlinkClick r:id="rId3"/>
            </a:endParaRPr>
          </a:p>
          <a:p>
            <a:pPr lvl="0"/>
            <a:r>
              <a:rPr dirty="0"/>
              <a:t>Test patterns before committing</a:t>
            </a:r>
          </a:p>
          <a:p>
            <a:pPr marL="342900" lvl="0" indent="-342900">
              <a:buAutoNum type="arabicPeriod" startAt="3"/>
            </a:pPr>
            <a:r>
              <a:rPr b="1" dirty="0"/>
              <a:t>Check Copilot behavior:</a:t>
            </a:r>
          </a:p>
          <a:p>
            <a:pPr lvl="0"/>
            <a:r>
              <a:rPr dirty="0"/>
              <a:t>Open a file that should match</a:t>
            </a:r>
          </a:p>
          <a:p>
            <a:pPr lvl="0"/>
            <a:r>
              <a:rPr dirty="0"/>
              <a:t>Verify instructions are being followed</a:t>
            </a:r>
          </a:p>
          <a:p>
            <a:pPr lvl="0"/>
            <a:r>
              <a:rPr dirty="0"/>
              <a:t>Check for unexpected behavior (might indicate wrong pattern)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E7A6B-3BC9-EC01-F949-5DE39CDE0ACF}"/>
              </a:ext>
            </a:extLst>
          </p:cNvPr>
          <p:cNvSpPr>
            <a:spLocks noGrp="1"/>
          </p:cNvSpPr>
          <p:nvPr>
            <p:ph type="title"/>
          </p:nvPr>
        </p:nvSpPr>
        <p:spPr/>
        <p:txBody>
          <a:bodyPr>
            <a:normAutofit/>
          </a:bodyPr>
          <a:lstStyle/>
          <a:p>
            <a:pPr algn="l"/>
            <a:r>
              <a:rPr lang="en-US" dirty="0"/>
              <a:t>Pattern Matching Rules</a:t>
            </a:r>
          </a:p>
        </p:txBody>
      </p:sp>
      <p:sp>
        <p:nvSpPr>
          <p:cNvPr id="3" name="Content Placeholder 2"/>
          <p:cNvSpPr>
            <a:spLocks noGrp="1"/>
          </p:cNvSpPr>
          <p:nvPr>
            <p:ph idx="1"/>
          </p:nvPr>
        </p:nvSpPr>
        <p:spPr/>
        <p:txBody>
          <a:bodyPr>
            <a:normAutofit fontScale="85000" lnSpcReduction="10000"/>
          </a:bodyPr>
          <a:lstStyle/>
          <a:p>
            <a:pPr marL="0" lvl="0" indent="0">
              <a:spcBef>
                <a:spcPts val="3000"/>
              </a:spcBef>
              <a:buNone/>
            </a:pPr>
            <a:r>
              <a:rPr b="1" dirty="0"/>
              <a:t>Key Points to Remember:</a:t>
            </a:r>
          </a:p>
          <a:p>
            <a:pPr lvl="0"/>
            <a:r>
              <a:rPr dirty="0"/>
              <a:t>Patterns are evaluated when files are opened</a:t>
            </a:r>
          </a:p>
          <a:p>
            <a:pPr lvl="0"/>
            <a:r>
              <a:rPr dirty="0"/>
              <a:t>Multiple instruction files can match the same file</a:t>
            </a:r>
          </a:p>
          <a:p>
            <a:pPr lvl="0"/>
            <a:r>
              <a:rPr dirty="0"/>
              <a:t>More specific patterns take precedence (in terms of clarity, not override)</a:t>
            </a:r>
          </a:p>
          <a:p>
            <a:pPr lvl="0"/>
            <a:r>
              <a:rPr dirty="0"/>
              <a:t>Patterns are relative to repository root</a:t>
            </a:r>
          </a:p>
          <a:p>
            <a:pPr lvl="0"/>
            <a:r>
              <a:rPr dirty="0"/>
              <a:t>Case sensitivity depends on file system (Windows: no, Linux: yes)</a:t>
            </a:r>
          </a:p>
          <a:p>
            <a:pPr marL="0" lvl="0" indent="0">
              <a:buNone/>
            </a:pPr>
            <a:r>
              <a:rPr b="1" dirty="0"/>
              <a:t>When Copilot Evaluates Patterns:</a:t>
            </a:r>
          </a:p>
          <a:p>
            <a:pPr marL="342900" lvl="0" indent="-342900">
              <a:buAutoNum type="arabicPeriod"/>
            </a:pPr>
            <a:r>
              <a:rPr dirty="0"/>
              <a:t>File opened in editor → Check all instruction files</a:t>
            </a:r>
          </a:p>
          <a:p>
            <a:pPr marL="342900" lvl="0" indent="-342900">
              <a:buAutoNum type="arabicPeriod"/>
            </a:pPr>
            <a:r>
              <a:rPr dirty="0"/>
              <a:t>Load matching instructions into context</a:t>
            </a:r>
          </a:p>
          <a:p>
            <a:pPr marL="342900" lvl="0" indent="-342900">
              <a:buAutoNum type="arabicPeriod"/>
            </a:pPr>
            <a:r>
              <a:rPr dirty="0"/>
              <a:t>Apply rules during code generation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7F836-F126-2801-B312-F9A673DD33B2}"/>
              </a:ext>
            </a:extLst>
          </p:cNvPr>
          <p:cNvSpPr>
            <a:spLocks noGrp="1"/>
          </p:cNvSpPr>
          <p:nvPr>
            <p:ph type="title"/>
          </p:nvPr>
        </p:nvSpPr>
        <p:spPr/>
        <p:txBody>
          <a:bodyPr>
            <a:normAutofit/>
          </a:bodyPr>
          <a:lstStyle/>
          <a:p>
            <a:pPr algn="l"/>
            <a:r>
              <a:rPr lang="en-US" dirty="0"/>
              <a:t>Summary &amp; Best Practices</a:t>
            </a:r>
          </a:p>
        </p:txBody>
      </p:sp>
      <p:sp>
        <p:nvSpPr>
          <p:cNvPr id="3" name="Content Placeholder 2"/>
          <p:cNvSpPr>
            <a:spLocks noGrp="1"/>
          </p:cNvSpPr>
          <p:nvPr>
            <p:ph idx="1"/>
          </p:nvPr>
        </p:nvSpPr>
        <p:spPr/>
        <p:txBody>
          <a:bodyPr>
            <a:normAutofit fontScale="55000" lnSpcReduction="20000"/>
          </a:bodyPr>
          <a:lstStyle/>
          <a:p>
            <a:pPr marL="0" lvl="0" indent="0">
              <a:spcBef>
                <a:spcPts val="3000"/>
              </a:spcBef>
              <a:buNone/>
            </a:pPr>
            <a:r>
              <a:rPr b="1" dirty="0"/>
              <a:t>🎓 Essential Patterns:</a:t>
            </a:r>
          </a:p>
          <a:p>
            <a:pPr lvl="0"/>
            <a:r>
              <a:rPr dirty="0">
                <a:latin typeface="Courier"/>
              </a:rPr>
              <a:t>**/*</a:t>
            </a:r>
            <a:r>
              <a:rPr dirty="0"/>
              <a:t> or </a:t>
            </a:r>
            <a:r>
              <a:rPr dirty="0">
                <a:latin typeface="Courier"/>
              </a:rPr>
              <a:t>**</a:t>
            </a:r>
            <a:r>
              <a:rPr dirty="0"/>
              <a:t> - Universal (use sparingly)</a:t>
            </a:r>
          </a:p>
          <a:p>
            <a:pPr lvl="0"/>
            <a:r>
              <a:rPr dirty="0">
                <a:latin typeface="Courier"/>
              </a:rPr>
              <a:t>**/*.{ext1,ext2}</a:t>
            </a:r>
            <a:r>
              <a:rPr dirty="0"/>
              <a:t> - Multiple file types</a:t>
            </a:r>
          </a:p>
          <a:p>
            <a:pPr lvl="0"/>
            <a:r>
              <a:rPr dirty="0">
                <a:latin typeface="Courier"/>
              </a:rPr>
              <a:t>directory/**</a:t>
            </a:r>
            <a:r>
              <a:rPr dirty="0"/>
              <a:t> - Specific directory scope</a:t>
            </a:r>
          </a:p>
          <a:p>
            <a:pPr lvl="0"/>
            <a:r>
              <a:rPr dirty="0">
                <a:latin typeface="Courier"/>
              </a:rPr>
              <a:t>**/*.specific.extension.md</a:t>
            </a:r>
            <a:r>
              <a:rPr dirty="0"/>
              <a:t> - Specialized files</a:t>
            </a:r>
          </a:p>
          <a:p>
            <a:pPr marL="0" lvl="0" indent="0">
              <a:buNone/>
            </a:pPr>
            <a:r>
              <a:rPr b="1" dirty="0"/>
              <a:t>Decision Tree:</a:t>
            </a:r>
          </a:p>
          <a:p>
            <a:pPr marL="342900" lvl="0" indent="-342900">
              <a:buAutoNum type="arabicPeriod"/>
            </a:pPr>
            <a:r>
              <a:rPr dirty="0"/>
              <a:t>Does this apply to ALL files? → Use </a:t>
            </a:r>
            <a:r>
              <a:rPr dirty="0">
                <a:latin typeface="Courier"/>
              </a:rPr>
              <a:t>**/*</a:t>
            </a:r>
          </a:p>
          <a:p>
            <a:pPr marL="342900" lvl="0" indent="-342900">
              <a:buAutoNum type="arabicPeriod"/>
            </a:pPr>
            <a:r>
              <a:rPr dirty="0"/>
              <a:t>Does this apply to specific file types? → Use </a:t>
            </a:r>
            <a:r>
              <a:rPr dirty="0">
                <a:latin typeface="Courier"/>
              </a:rPr>
              <a:t>**/*.{extensions}</a:t>
            </a:r>
          </a:p>
          <a:p>
            <a:pPr marL="342900" lvl="0" indent="-342900">
              <a:buAutoNum type="arabicPeriod"/>
            </a:pPr>
            <a:r>
              <a:rPr dirty="0"/>
              <a:t>Does this apply to a specific directory? → Use </a:t>
            </a:r>
            <a:r>
              <a:rPr dirty="0">
                <a:latin typeface="Courier"/>
              </a:rPr>
              <a:t>directory/**</a:t>
            </a:r>
          </a:p>
          <a:p>
            <a:pPr marL="342900" lvl="0" indent="-342900">
              <a:buAutoNum type="arabicPeriod"/>
            </a:pPr>
            <a:r>
              <a:rPr dirty="0"/>
              <a:t>Does this apply to specific naming pattern? → Use </a:t>
            </a:r>
            <a:r>
              <a:rPr dirty="0">
                <a:latin typeface="Courier"/>
              </a:rPr>
              <a:t>**/*.</a:t>
            </a:r>
            <a:r>
              <a:rPr dirty="0" err="1">
                <a:latin typeface="Courier"/>
              </a:rPr>
              <a:t>pattern.ext</a:t>
            </a:r>
            <a:endParaRPr dirty="0">
              <a:latin typeface="Courier"/>
            </a:endParaRPr>
          </a:p>
          <a:p>
            <a:pPr marL="0" lvl="0" indent="0">
              <a:buNone/>
            </a:pPr>
            <a:r>
              <a:rPr b="1" dirty="0"/>
              <a:t>Remember:</a:t>
            </a:r>
          </a:p>
          <a:p>
            <a:pPr lvl="0"/>
            <a:r>
              <a:rPr dirty="0"/>
              <a:t>✅ Be as specific as necessary, no more, no less</a:t>
            </a:r>
          </a:p>
          <a:p>
            <a:pPr lvl="0"/>
            <a:r>
              <a:rPr dirty="0"/>
              <a:t>✅ Test patterns before committing</a:t>
            </a:r>
          </a:p>
          <a:p>
            <a:pPr lvl="0"/>
            <a:r>
              <a:rPr dirty="0"/>
              <a:t>✅ Document why each pattern was chosen</a:t>
            </a:r>
          </a:p>
          <a:p>
            <a:pPr lvl="0"/>
            <a:r>
              <a:rPr dirty="0"/>
              <a:t>✅ Review patterns when instructions aren’t working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9FEF5-3C7C-B670-C3F6-BC66E2BE94C0}"/>
              </a:ext>
            </a:extLst>
          </p:cNvPr>
          <p:cNvSpPr>
            <a:spLocks noGrp="1"/>
          </p:cNvSpPr>
          <p:nvPr>
            <p:ph type="title"/>
          </p:nvPr>
        </p:nvSpPr>
        <p:spPr/>
        <p:txBody>
          <a:bodyPr>
            <a:normAutofit/>
          </a:bodyPr>
          <a:lstStyle/>
          <a:p>
            <a:pPr algn="l"/>
            <a:r>
              <a:rPr lang="en-US" dirty="0"/>
              <a:t>Resources &amp; Next Steps</a:t>
            </a:r>
          </a:p>
        </p:txBody>
      </p:sp>
      <p:sp>
        <p:nvSpPr>
          <p:cNvPr id="3" name="Content Placeholder 2"/>
          <p:cNvSpPr>
            <a:spLocks noGrp="1"/>
          </p:cNvSpPr>
          <p:nvPr>
            <p:ph idx="1"/>
          </p:nvPr>
        </p:nvSpPr>
        <p:spPr/>
        <p:txBody>
          <a:bodyPr>
            <a:normAutofit fontScale="92500" lnSpcReduction="10000"/>
          </a:bodyPr>
          <a:lstStyle/>
          <a:p>
            <a:pPr marL="0" lvl="0" indent="0">
              <a:spcBef>
                <a:spcPts val="3000"/>
              </a:spcBef>
              <a:buNone/>
            </a:pPr>
            <a:r>
              <a:rPr b="1" dirty="0"/>
              <a:t>Documentation:</a:t>
            </a:r>
          </a:p>
          <a:p>
            <a:pPr lvl="0"/>
            <a:r>
              <a:rPr dirty="0">
                <a:hlinkClick r:id="rId3"/>
              </a:rPr>
              <a:t>Glob Pattern Syntax Reference</a:t>
            </a:r>
          </a:p>
          <a:p>
            <a:pPr lvl="0"/>
            <a:r>
              <a:rPr dirty="0"/>
              <a:t>GitHub Copilot Instruction Files Documentation</a:t>
            </a:r>
          </a:p>
          <a:p>
            <a:pPr lvl="0"/>
            <a:r>
              <a:rPr dirty="0"/>
              <a:t>AI-Assisted Output Instructions</a:t>
            </a:r>
          </a:p>
          <a:p>
            <a:pPr marL="0" lvl="0" indent="0">
              <a:buNone/>
            </a:pPr>
            <a:r>
              <a:rPr b="1" dirty="0"/>
              <a:t>Practice Exercise:</a:t>
            </a:r>
            <a:r>
              <a:rPr dirty="0"/>
              <a:t> Create instruction files for:</a:t>
            </a:r>
          </a:p>
          <a:p>
            <a:pPr marL="342900" lvl="0" indent="-342900">
              <a:buAutoNum type="arabicPeriod"/>
            </a:pPr>
            <a:r>
              <a:rPr dirty="0"/>
              <a:t>CQRS architecture patterns (code only)</a:t>
            </a:r>
          </a:p>
          <a:p>
            <a:pPr marL="342900" lvl="0" indent="-342900">
              <a:buAutoNum type="arabicPeriod"/>
            </a:pPr>
            <a:r>
              <a:rPr dirty="0"/>
              <a:t>Mermaid diagram standards (markdown only)</a:t>
            </a:r>
          </a:p>
          <a:p>
            <a:pPr marL="342900" lvl="0" indent="-342900">
              <a:buAutoNum type="arabicPeriod"/>
            </a:pPr>
            <a:r>
              <a:rPr dirty="0"/>
              <a:t>Test naming conventions (test files only)</a:t>
            </a:r>
          </a:p>
          <a:p>
            <a:pPr marL="0" lvl="0" indent="0">
              <a:buNone/>
            </a:pPr>
            <a:r>
              <a:rPr b="1" dirty="0"/>
              <a:t>Questions?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lvl="0" indent="0">
              <a:spcBef>
                <a:spcPts val="3000"/>
              </a:spcBef>
              <a:buNone/>
            </a:pPr>
            <a:r>
              <a:rPr b="1"/>
              <a:t>📧 Thank You!</a:t>
            </a:r>
          </a:p>
          <a:p>
            <a:pPr marL="0" lvl="0" indent="0">
              <a:buNone/>
            </a:pPr>
            <a:r>
              <a:rPr b="1"/>
              <a:t>Questions? Feedback?</a:t>
            </a:r>
          </a:p>
          <a:p>
            <a:pPr marL="0" lvl="0" indent="0">
              <a:buNone/>
            </a:pPr>
            <a:r>
              <a:t>Connect with the AI-Assisted Software Development team</a:t>
            </a:r>
          </a:p>
          <a:p>
            <a:pPr marL="0" lvl="0" indent="0">
              <a:buNone/>
            </a:pPr>
            <a:r>
              <a:t>GitHub: </a:t>
            </a:r>
            <a:r>
              <a:rPr>
                <a:hlinkClick r:id="rId3"/>
              </a:rPr>
              <a:t>johnmillerATcodemag-com/AI-Assisted-Software-Development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4728</Words>
  <Application>Microsoft Office PowerPoint</Application>
  <PresentationFormat>On-screen Show (16:9)</PresentationFormat>
  <Paragraphs>667</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Courier</vt:lpstr>
      <vt:lpstr>Office Theme</vt:lpstr>
      <vt:lpstr>🎯 Instruction File applyTo Patterns</vt:lpstr>
      <vt:lpstr>What is applyTo?</vt:lpstr>
      <vt:lpstr>Universal Application</vt:lpstr>
      <vt:lpstr>File Extension Matching</vt:lpstr>
      <vt:lpstr>Directory-Specific Patterns</vt:lpstr>
      <vt:lpstr>Glob Pattern Syntax</vt:lpstr>
      <vt:lpstr>Real-World Examples</vt:lpstr>
      <vt:lpstr>Best Practices</vt:lpstr>
      <vt:lpstr>Common Pitfalls</vt:lpstr>
      <vt:lpstr>Testing Your Patterns</vt:lpstr>
      <vt:lpstr>Pattern Matching Rules</vt:lpstr>
      <vt:lpstr>Summary &amp; Best Practices</vt:lpstr>
      <vt:lpstr>Resources &amp; Next Steps</vt:lpstr>
      <vt:lpstr>PowerPoint Presentation</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John Miller</cp:lastModifiedBy>
  <cp:revision>1</cp:revision>
  <dcterms:created xsi:type="dcterms:W3CDTF">2026-03-03T23:40:07Z</dcterms:created>
  <dcterms:modified xsi:type="dcterms:W3CDTF">2026-03-06T02:47:31Z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_generated">
    <vt:lpwstr>True</vt:lpwstr>
  </property>
  <property fmtid="{D5CDD505-2E9C-101B-9397-08002B2CF9AE}" pid="3" name="ai_log">
    <vt:lpwstr>ai-logs/2026/03/03/applyto-patterns-marp-deck-20260303/conversation.md</vt:lpwstr>
  </property>
  <property fmtid="{D5CDD505-2E9C-101B-9397-08002B2CF9AE}" pid="4" name="chat_id">
    <vt:lpwstr>applyto-patterns-marp-deck-20260303</vt:lpwstr>
  </property>
  <property fmtid="{D5CDD505-2E9C-101B-9397-08002B2CF9AE}" pid="5" name="ended">
    <vt:lpwstr>2026-03-03T00:15:00Z</vt:lpwstr>
  </property>
  <property fmtid="{D5CDD505-2E9C-101B-9397-08002B2CF9AE}" pid="6" name="marp">
    <vt:lpwstr>True</vt:lpwstr>
  </property>
  <property fmtid="{D5CDD505-2E9C-101B-9397-08002B2CF9AE}" pid="7" name="model">
    <vt:lpwstr>anthropic/claude-3.5-sonnet@2024-10-22</vt:lpwstr>
  </property>
  <property fmtid="{D5CDD505-2E9C-101B-9397-08002B2CF9AE}" pid="8" name="operator">
    <vt:lpwstr>johnmillerATcodemag-com</vt:lpwstr>
  </property>
  <property fmtid="{D5CDD505-2E9C-101B-9397-08002B2CF9AE}" pid="9" name="paginate">
    <vt:lpwstr>True</vt:lpwstr>
  </property>
  <property fmtid="{D5CDD505-2E9C-101B-9397-08002B2CF9AE}" pid="10" name="prompt">
    <vt:lpwstr>create a marp deck that explains the applyTo options. include speaker notes in the pandoc format</vt:lpwstr>
  </property>
  <property fmtid="{D5CDD505-2E9C-101B-9397-08002B2CF9AE}" pid="11" name="source">
    <vt:lpwstr>johnmillerATcodemag-com</vt:lpwstr>
  </property>
  <property fmtid="{D5CDD505-2E9C-101B-9397-08002B2CF9AE}" pid="12" name="started">
    <vt:lpwstr>2026-03-03T00:00:00Z</vt:lpwstr>
  </property>
  <property fmtid="{D5CDD505-2E9C-101B-9397-08002B2CF9AE}" pid="13" name="task_durations">
    <vt:lpwstr/>
  </property>
  <property fmtid="{D5CDD505-2E9C-101B-9397-08002B2CF9AE}" pid="14" name="theme">
    <vt:lpwstr>default</vt:lpwstr>
  </property>
  <property fmtid="{D5CDD505-2E9C-101B-9397-08002B2CF9AE}" pid="15" name="total_duration">
    <vt:lpwstr>00:15:00</vt:lpwstr>
  </property>
</Properties>
</file>