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3" r:id="rId4"/>
  </p:sldMasterIdLst>
  <p:notesMasterIdLst>
    <p:notesMasterId r:id="rId9"/>
  </p:notesMasterIdLst>
  <p:sldIdLst>
    <p:sldId id="2141411853" r:id="rId5"/>
    <p:sldId id="2141411854" r:id="rId6"/>
    <p:sldId id="2141411852" r:id="rId7"/>
    <p:sldId id="2141411855" r:id="rId8"/>
    <p:sldId id="2141411856" r:id="rId3"/>
    <p:sldId id="2141411857" r:id="rId2"/>
    <p:sldId id="2141411858" r:id="rId1"/>
    <p:sldId id="2141411859" r:id="rId14"/>
    <p:sldId id="2141411860" r:id="rId15"/>
    <p:sldId id="2141411861" r:id="rId16"/>
    <p:sldId id="2141411862" r:id="rId17"/>
    <p:sldId id="2141411863" r:id="rId18"/>
    <p:sldId id="2141411864" r:id="rId19"/>
    <p:sldId id="2141411865" r:id="rId20"/>
    <p:sldId id="2141411866" r:id="rId21"/>
    <p:sldId id="2141411867" r:id="rId22"/>
    <p:sldId id="2141411868" r:id="rId23"/>
    <p:sldId id="2141411869" r:id="rId24"/>
    <p:sldId id="2141411870" r:id="rId25"/>
    <p:sldId id="2141411871" r:id="rId26"/>
    <p:sldId id="2141411872" r:id="rId27"/>
    <p:sldId id="2141411873" r:id="rId28"/>
    <p:sldId id="2141411874" r:id="rId29"/>
    <p:sldId id="2141411875" r:id="rId30"/>
    <p:sldId id="2141411876" r:id="rId31"/>
    <p:sldId id="2141411877" r:id="rId32"/>
    <p:sldId id="2141411878" r:id="rId33"/>
    <p:sldId id="2141411879" r:id="rId34"/>
    <p:sldId id="2141411880" r:id="rId35"/>
    <p:sldId id="2141411881" r:id="rId36"/>
    <p:sldId id="2141411882" r:id="rId37"/>
    <p:sldId id="2141411883" r:id="rId38"/>
    <p:sldId id="2141411884" r:id="rId39"/>
    <p:sldId id="2141411885" r:id="rId40"/>
    <p:sldId id="2141411886" r:id="rId41"/>
    <p:sldId id="2141411887" r:id="rId42"/>
    <p:sldId id="2141411888" r:id="rId43"/>
    <p:sldId id="2141411889" r:id="rId44"/>
    <p:sldId id="2141411890" r:id="rId45"/>
    <p:sldId id="2141411891" r:id="rId46"/>
    <p:sldId id="2141411892" r:id="rId47"/>
    <p:sldId id="2141411893" r:id="rId48"/>
    <p:sldId id="2141411894" r:id="rId49"/>
    <p:sldId id="2141411895" r:id="rId50"/>
    <p:sldId id="2141411896" r:id="rId51"/>
    <p:sldId id="2141411897" r:id="rId52"/>
    <p:sldId id="2141411898" r:id="rId53"/>
    <p:sldId id="2141411899" r:id="rId54"/>
    <p:sldId id="2141411900" r:id="rId55"/>
    <p:sldId id="2141411901" r:id="rId56"/>
    <p:sldId id="2141411902" r:id="rId57"/>
    <p:sldId id="2141411903" r:id="rId58"/>
    <p:sldId id="2141411904" r:id="rId59"/>
    <p:sldId id="2141411905" r:id="rId60"/>
    <p:sldId id="2141411906" r:id="rId61"/>
    <p:sldId id="2141411907" r:id="rId62"/>
    <p:sldId id="2141411908" r:id="rId63"/>
    <p:sldId id="2141411909" r:id="rId64"/>
    <p:sldId id="2141411910" r:id="rId65"/>
    <p:sldId id="2141411911" r:id="rId66"/>
    <p:sldId id="2141411912" r:id="rId67"/>
    <p:sldId id="2141411913" r:id="rId68"/>
    <p:sldId id="2141411914" r:id="rId69"/>
    <p:sldId id="2141411915" r:id="rId70"/>
    <p:sldId id="2141411916" r:id="rId71"/>
    <p:sldId id="2141411917" r:id="rId72"/>
    <p:sldId id="2141411918" r:id="rId73"/>
    <p:sldId id="2141411919" r:id="rId74"/>
    <p:sldId id="2141411920" r:id="rId75"/>
    <p:sldId id="2141411921" r:id="rId76"/>
    <p:sldId id="2141411922" r:id="rId77"/>
    <p:sldId id="2141411923" r:id="rId78"/>
    <p:sldId id="2141411924" r:id="rId79"/>
    <p:sldId id="2141411925" r:id="rId80"/>
    <p:sldId id="2141411926" r:id="rId81"/>
    <p:sldId id="2141411927" r:id="rId82"/>
    <p:sldId id="2141411928" r:id="rId83"/>
    <p:sldId id="2141411929" r:id="rId84"/>
    <p:sldId id="2141411930" r:id="rId85"/>
    <p:sldId id="2141411931" r:id="rId86"/>
    <p:sldId id="2141411932" r:id="rId87"/>
    <p:sldId id="2141411933" r:id="rId88"/>
    <p:sldId id="2141411934" r:id="rId89"/>
    <p:sldId id="2141411935" r:id="rId90"/>
    <p:sldId id="2141411936" r:id="rId91"/>
    <p:sldId id="2141411937" r:id="rId92"/>
    <p:sldId id="2141411938" r:id="rId93"/>
    <p:sldId id="2141411939" r:id="rId94"/>
    <p:sldId id="2141411940" r:id="rId95"/>
    <p:sldId id="2141411941" r:id="rId96"/>
    <p:sldId id="2141411942" r:id="rId97"/>
    <p:sldId id="2141411943" r:id="rId98"/>
    <p:sldId id="2141411944" r:id="rId99"/>
    <p:sldId id="2141411945" r:id="rId100"/>
    <p:sldId id="2141411946" r:id="rId101"/>
    <p:sldId id="2141411947" r:id="rId102"/>
    <p:sldId id="2141411948" r:id="rId103"/>
    <p:sldId id="2141411949" r:id="rId104"/>
    <p:sldId id="2141411950" r:id="rId105"/>
    <p:sldId id="2141411951" r:id="rId106"/>
    <p:sldId id="2141411952" r:id="rId107"/>
    <p:sldId id="2141411953" r:id="rId108"/>
    <p:sldId id="2141411954" r:id="rId109"/>
    <p:sldId id="2141411955" r:id="rId110"/>
    <p:sldId id="2141411956" r:id="rId111"/>
    <p:sldId id="2141411957" r:id="rId112"/>
    <p:sldId id="2141411958" r:id="rId113"/>
    <p:sldId id="2141411959" r:id="rId114"/>
    <p:sldId id="2141411960" r:id="rId115"/>
    <p:sldId id="2141411961" r:id="rId116"/>
    <p:sldId id="2141411962" r:id="rId117"/>
    <p:sldId id="2141411963" r:id="rId118"/>
    <p:sldId id="2141411964" r:id="rId119"/>
    <p:sldId id="2141411965" r:id="rId120"/>
    <p:sldId id="2141411966" r:id="rId121"/>
    <p:sldId id="2141411967" r:id="rId122"/>
    <p:sldId id="2141411968" r:id="rId123"/>
    <p:sldId id="2141411969" r:id="rId124"/>
    <p:sldId id="2141411970" r:id="rId125"/>
    <p:sldId id="2141411971" r:id="rId126"/>
    <p:sldId id="2141411972" r:id="rId127"/>
    <p:sldId id="2141411973" r:id="rId128"/>
    <p:sldId id="2141411974" r:id="rId129"/>
    <p:sldId id="2141411975" r:id="rId130"/>
    <p:sldId id="2141411976" r:id="rId131"/>
    <p:sldId id="2141411977" r:id="rId132"/>
    <p:sldId id="2141411978" r:id="rId133"/>
    <p:sldId id="2141411979" r:id="rId134"/>
    <p:sldId id="2141411980" r:id="rId135"/>
    <p:sldId id="2141411981" r:id="rId136"/>
    <p:sldId id="2141411982" r:id="rId137"/>
    <p:sldId id="2141411983" r:id="rId138"/>
    <p:sldId id="2141411984" r:id="rId139"/>
    <p:sldId id="2141411985" r:id="rId140"/>
    <p:sldId id="2141411986" r:id="rId141"/>
    <p:sldId id="2141411987" r:id="rId142"/>
    <p:sldId id="2141411988" r:id="rId143"/>
    <p:sldId id="2141411989" r:id="rId144"/>
    <p:sldId id="2141411990" r:id="rId145"/>
    <p:sldId id="2141411991" r:id="rId146"/>
    <p:sldId id="2141411992" r:id="rId147"/>
    <p:sldId id="2141411993" r:id="rId148"/>
    <p:sldId id="2141411994" r:id="rId149"/>
    <p:sldId id="2141411995" r:id="rId150"/>
    <p:sldId id="2141411996" r:id="rId151"/>
    <p:sldId id="2141411997" r:id="rId152"/>
    <p:sldId id="2141411998" r:id="rId153"/>
    <p:sldId id="2141411999" r:id="rId154"/>
    <p:sldId id="2141412000" r:id="rId155"/>
    <p:sldId id="2141412001" r:id="rId156"/>
    <p:sldId id="2141412002" r:id="rId157"/>
    <p:sldId id="2141412003" r:id="rId158"/>
    <p:sldId id="2141412004" r:id="rId159"/>
    <p:sldId id="2141412005" r:id="rId160"/>
    <p:sldId id="2141412006" r:id="rId161"/>
    <p:sldId id="2141412007" r:id="rId162"/>
    <p:sldId id="2141412008" r:id="rId163"/>
    <p:sldId id="2141412009" r:id="rId164"/>
    <p:sldId id="2141412010" r:id="rId165"/>
    <p:sldId id="2141412011" r:id="rId166"/>
    <p:sldId id="2141412012" r:id="rId167"/>
    <p:sldId id="2141412013" r:id="rId168"/>
    <p:sldId id="2141412014" r:id="rId169"/>
    <p:sldId id="2141412015" r:id="rId170"/>
    <p:sldId id="2141412016" r:id="rId171"/>
    <p:sldId id="2141412017" r:id="rId172"/>
    <p:sldId id="2141412018" r:id="rId173"/>
    <p:sldId id="2141412019" r:id="rId174"/>
    <p:sldId id="2141412020" r:id="rId175"/>
    <p:sldId id="2141412021" r:id="rId176"/>
    <p:sldId id="2141412022" r:id="rId177"/>
    <p:sldId id="2141412023" r:id="rId178"/>
    <p:sldId id="2141412024" r:id="rId179"/>
    <p:sldId id="2141412025" r:id="rId180"/>
    <p:sldId id="2141412026" r:id="rId181"/>
    <p:sldId id="2141412027" r:id="rId182"/>
    <p:sldId id="2141412028" r:id="rId183"/>
    <p:sldId id="2141412029" r:id="rId184"/>
    <p:sldId id="2141412030" r:id="rId185"/>
    <p:sldId id="2141412031" r:id="rId186"/>
    <p:sldId id="2141412032" r:id="rId187"/>
    <p:sldId id="2141412033" r:id="rId188"/>
    <p:sldId id="2141412034" r:id="rId18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14:sectionLst xmlns:p14="http://schemas.microsoft.com/office/powerpoint/2010/main">
    <p14:section name="Intro" id="472214656">
      <p14:sldIdLst>
        <p14:sldId id="2141411856"/>
        <p14:sldId id="2141411857"/>
        <p14:sldId id="2141411858"/>
        <p14:sldId id="2141411859"/>
        <p14:sldId id="2141411860"/>
        <p14:sldId id="2141411861"/>
        <p14:sldId id="2141411862"/>
      </p14:sldIdLst>
    </p14:section>
    <p14:section name="Module 1 - AIASD" id="3621744706">
      <p14:sldIdLst>
        <p14:sldId id="2141411863"/>
        <p14:sldId id="2141411864"/>
        <p14:sldId id="2141411865"/>
        <p14:sldId id="2141411866"/>
        <p14:sldId id="2141411867"/>
        <p14:sldId id="2141411868"/>
        <p14:sldId id="2141411869"/>
        <p14:sldId id="2141411870"/>
        <p14:sldId id="2141411871"/>
        <p14:sldId id="2141411872"/>
        <p14:sldId id="2141411873"/>
        <p14:sldId id="2141411874"/>
        <p14:sldId id="2141411875"/>
        <p14:sldId id="2141411876"/>
        <p14:sldId id="2141411877"/>
        <p14:sldId id="2141411878"/>
        <p14:sldId id="2141411879"/>
        <p14:sldId id="2141411880"/>
        <p14:sldId id="2141411881"/>
        <p14:sldId id="2141411882"/>
        <p14:sldId id="2141411883"/>
        <p14:sldId id="2141411884"/>
        <p14:sldId id="2141411885"/>
        <p14:sldId id="2141411886"/>
        <p14:sldId id="2141411887"/>
        <p14:sldId id="2141411888"/>
        <p14:sldId id="2141411889"/>
        <p14:sldId id="2141411890"/>
        <p14:sldId id="2141411891"/>
      </p14:sldIdLst>
    </p14:section>
    <p14:section name="Module 2 - Intro to Copilot" id="3678196915">
      <p14:sldIdLst>
        <p14:sldId id="2141411892"/>
        <p14:sldId id="2141411893"/>
        <p14:sldId id="2141411894"/>
        <p14:sldId id="2141411895"/>
        <p14:sldId id="2141411896"/>
        <p14:sldId id="2141411897"/>
        <p14:sldId id="2141411898"/>
        <p14:sldId id="2141411899"/>
        <p14:sldId id="2141411900"/>
        <p14:sldId id="2141411901"/>
        <p14:sldId id="2141411902"/>
        <p14:sldId id="2141411903"/>
        <p14:sldId id="2141411904"/>
        <p14:sldId id="2141411905"/>
        <p14:sldId id="2141411906"/>
      </p14:sldIdLst>
    </p14:section>
    <p14:section name="Module 3 - Vibbing" id="129525123">
      <p14:sldIdLst>
        <p14:sldId id="2141411907"/>
        <p14:sldId id="2141411908"/>
        <p14:sldId id="2141411909"/>
        <p14:sldId id="2141411910"/>
        <p14:sldId id="2141411911"/>
        <p14:sldId id="2141411912"/>
        <p14:sldId id="2141411913"/>
        <p14:sldId id="2141411914"/>
        <p14:sldId id="2141411915"/>
        <p14:sldId id="2141411916"/>
        <p14:sldId id="2141411917"/>
        <p14:sldId id="2141411918"/>
        <p14:sldId id="2141411919"/>
        <p14:sldId id="2141411920"/>
        <p14:sldId id="2141411921"/>
        <p14:sldId id="2141411922"/>
        <p14:sldId id="2141411923"/>
        <p14:sldId id="2141411924"/>
        <p14:sldId id="2141411925"/>
        <p14:sldId id="2141411926"/>
        <p14:sldId id="2141411927"/>
        <p14:sldId id="2141411928"/>
        <p14:sldId id="2141411929"/>
        <p14:sldId id="2141411930"/>
        <p14:sldId id="2141411931"/>
        <p14:sldId id="2141411932"/>
        <p14:sldId id="2141411933"/>
        <p14:sldId id="2141411934"/>
        <p14:sldId id="2141411935"/>
        <p14:sldId id="2141411936"/>
        <p14:sldId id="2141411937"/>
        <p14:sldId id="2141411938"/>
        <p14:sldId id="2141411939"/>
        <p14:sldId id="2141411940"/>
        <p14:sldId id="2141411941"/>
        <p14:sldId id="2141411942"/>
        <p14:sldId id="2141411943"/>
        <p14:sldId id="2141411944"/>
        <p14:sldId id="2141411945"/>
        <p14:sldId id="2141411946"/>
        <p14:sldId id="2141411947"/>
        <p14:sldId id="2141411948"/>
        <p14:sldId id="2141411949"/>
        <p14:sldId id="2141411950"/>
        <p14:sldId id="2141411951"/>
        <p14:sldId id="2141411952"/>
        <p14:sldId id="2141411953"/>
        <p14:sldId id="2141411954"/>
        <p14:sldId id="2141411955"/>
        <p14:sldId id="2141411956"/>
        <p14:sldId id="2141411957"/>
        <p14:sldId id="2141411958"/>
        <p14:sldId id="2141411959"/>
        <p14:sldId id="2141411960"/>
        <p14:sldId id="2141411961"/>
        <p14:sldId id="2141411962"/>
        <p14:sldId id="2141411963"/>
        <p14:sldId id="2141411964"/>
      </p14:sldIdLst>
    </p14:section>
    <p14:section name="Module 4 - Adding AI Guardrails" id="2577102047">
      <p14:sldIdLst>
        <p14:sldId id="2141411965"/>
        <p14:sldId id="2141411966"/>
        <p14:sldId id="2141411967"/>
        <p14:sldId id="2141411968"/>
        <p14:sldId id="2141411969"/>
        <p14:sldId id="2141411970"/>
        <p14:sldId id="2141411971"/>
        <p14:sldId id="2141411972"/>
        <p14:sldId id="2141411973"/>
        <p14:sldId id="2141411974"/>
        <p14:sldId id="2141411975"/>
        <p14:sldId id="2141411976"/>
        <p14:sldId id="2141411977"/>
        <p14:sldId id="2141411978"/>
        <p14:sldId id="2141411979"/>
        <p14:sldId id="2141411980"/>
        <p14:sldId id="2141411981"/>
        <p14:sldId id="2141411982"/>
        <p14:sldId id="2141411983"/>
        <p14:sldId id="2141411984"/>
        <p14:sldId id="2141411985"/>
        <p14:sldId id="2141411986"/>
        <p14:sldId id="2141411987"/>
        <p14:sldId id="2141411988"/>
        <p14:sldId id="2141411989"/>
        <p14:sldId id="2141411990"/>
        <p14:sldId id="2141411991"/>
        <p14:sldId id="2141411992"/>
        <p14:sldId id="2141411993"/>
        <p14:sldId id="2141411994"/>
        <p14:sldId id="2141411995"/>
        <p14:sldId id="2141411996"/>
        <p14:sldId id="2141411997"/>
        <p14:sldId id="2141411998"/>
        <p14:sldId id="2141411999"/>
        <p14:sldId id="2141412000"/>
        <p14:sldId id="2141412001"/>
        <p14:sldId id="2141412002"/>
        <p14:sldId id="2141412003"/>
        <p14:sldId id="2141412004"/>
        <p14:sldId id="2141412005"/>
        <p14:sldId id="2141412006"/>
        <p14:sldId id="2141412007"/>
        <p14:sldId id="2141412008"/>
        <p14:sldId id="2141412009"/>
        <p14:sldId id="2141412010"/>
        <p14:sldId id="2141412011"/>
        <p14:sldId id="2141412012"/>
      </p14:sldIdLst>
    </p14:section>
    <p14:section name="Module 5 - Managing Context" id="1538939885">
      <p14:sldIdLst>
        <p14:sldId id="2141412013"/>
        <p14:sldId id="2141412014"/>
        <p14:sldId id="2141412015"/>
        <p14:sldId id="2141412016"/>
        <p14:sldId id="2141412017"/>
        <p14:sldId id="2141412018"/>
        <p14:sldId id="2141412019"/>
        <p14:sldId id="2141412020"/>
      </p14:sldIdLst>
    </p14:section>
    <p14:section name="Module 6 - Copilot for Teams" id="736062773">
      <p14:sldIdLst>
        <p14:sldId id="2141412021"/>
        <p14:sldId id="2141412022"/>
        <p14:sldId id="2141412023"/>
        <p14:sldId id="2141412024"/>
        <p14:sldId id="2141412025"/>
        <p14:sldId id="2141412026"/>
        <p14:sldId id="2141412027"/>
        <p14:sldId id="2141412028"/>
        <p14:sldId id="2141412029"/>
        <p14:sldId id="2141412030"/>
        <p14:sldId id="2141412031"/>
        <p14:sldId id="2141412032"/>
        <p14:sldId id="2141412033"/>
        <p14:sldId id="2141412034"/>
      </p14:sldIdLst>
    </p14:section>
  </p14:section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08B12"/>
    <a:srgbClr val="8E1416"/>
    <a:srgbClr val="922123"/>
    <a:srgbClr val="AA8200"/>
    <a:srgbClr val="DEAA00"/>
    <a:srgbClr val="007FB1"/>
    <a:srgbClr val="38955A"/>
    <a:srgbClr val="920000"/>
    <a:srgbClr val="212121"/>
    <a:srgbClr val="2C4D7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007" autoAdjust="0"/>
    <p:restoredTop sz="63597" autoAdjust="0"/>
  </p:normalViewPr>
  <p:slideViewPr>
    <p:cSldViewPr snapToGrid="0" showGuides="1">
      <p:cViewPr varScale="1">
        <p:scale>
          <a:sx n="47" d="100"/>
          <a:sy n="47" d="100"/>
        </p:scale>
        <p:origin x="444" y="24"/>
      </p:cViewPr>
      <p:guideLst/>
    </p:cSldViewPr>
  </p:slideViewPr>
  <p:outlineViewPr>
    <p:cViewPr>
      <p:scale>
        <a:sx n="33" d="100"/>
        <a:sy n="33" d="100"/>
      </p:scale>
      <p:origin x="0" y="-16152"/>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 Target="slides/slide7.xml"/><Relationship Id="rId2" Type="http://schemas.openxmlformats.org/officeDocument/2006/relationships/slide" Target="slides/slide6.xml"/><Relationship Id="rId3" Type="http://schemas.openxmlformats.org/officeDocument/2006/relationships/slide" Target="slides/slide5.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E87355B-E5B2-6E48-8859-C40F7DC7FE0C}" type="datetimeFigureOut">
              <a:rPr lang="en-US" smtClean="0"/>
              <a:t>3/12/2026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D31DA66-BB00-F84C-BB6F-3E6E140CFF70}" type="slidenum">
              <a:rPr lang="en-US" smtClean="0"/>
              <a:t>‹#›</a:t>
            </a:fld>
            <a:endParaRPr lang="en-US"/>
          </a:p>
        </p:txBody>
      </p:sp>
    </p:spTree>
    <p:extLst>
      <p:ext uri="{BB962C8B-B14F-4D97-AF65-F5344CB8AC3E}">
        <p14:creationId xmlns:p14="http://schemas.microsoft.com/office/powerpoint/2010/main" val="622745019"/>
      </p:ext>
    </p:extLst>
  </p:cSld>
  <p:clrMap bg1="lt1" tx1="dk1" bg2="lt2" tx2="dk2" accent1="accent1" accent2="accent2" accent3="accent3" accent4="accent4" accent5="accent5" accent6="accent6" hlink="hlink" folHlink="folHlink"/>
  <p:notesStyle>
    <a:lvl1pPr marL="0" algn="l" defTabSz="1219170" rtl="0" eaLnBrk="1" latinLnBrk="0" hangingPunct="1">
      <a:defRPr sz="1600" kern="1200">
        <a:solidFill>
          <a:schemeClr val="tx1"/>
        </a:solidFill>
        <a:latin typeface="+mn-lt"/>
        <a:ea typeface="+mn-ea"/>
        <a:cs typeface="+mn-cs"/>
      </a:defRPr>
    </a:lvl1pPr>
    <a:lvl2pPr marL="609585" algn="l" defTabSz="1219170" rtl="0" eaLnBrk="1" latinLnBrk="0" hangingPunct="1">
      <a:defRPr sz="1600" kern="1200">
        <a:solidFill>
          <a:schemeClr val="tx1"/>
        </a:solidFill>
        <a:latin typeface="+mn-lt"/>
        <a:ea typeface="+mn-ea"/>
        <a:cs typeface="+mn-cs"/>
      </a:defRPr>
    </a:lvl2pPr>
    <a:lvl3pPr marL="1219170" algn="l" defTabSz="1219170" rtl="0" eaLnBrk="1" latinLnBrk="0" hangingPunct="1">
      <a:defRPr sz="1600" kern="1200">
        <a:solidFill>
          <a:schemeClr val="tx1"/>
        </a:solidFill>
        <a:latin typeface="+mn-lt"/>
        <a:ea typeface="+mn-ea"/>
        <a:cs typeface="+mn-cs"/>
      </a:defRPr>
    </a:lvl3pPr>
    <a:lvl4pPr marL="1828754" algn="l" defTabSz="1219170" rtl="0" eaLnBrk="1" latinLnBrk="0" hangingPunct="1">
      <a:defRPr sz="1600" kern="1200">
        <a:solidFill>
          <a:schemeClr val="tx1"/>
        </a:solidFill>
        <a:latin typeface="+mn-lt"/>
        <a:ea typeface="+mn-ea"/>
        <a:cs typeface="+mn-cs"/>
      </a:defRPr>
    </a:lvl4pPr>
    <a:lvl5pPr marL="2438339" algn="l" defTabSz="1219170" rtl="0" eaLnBrk="1" latinLnBrk="0" hangingPunct="1">
      <a:defRPr sz="1600" kern="1200">
        <a:solidFill>
          <a:schemeClr val="tx1"/>
        </a:solidFill>
        <a:latin typeface="+mn-lt"/>
        <a:ea typeface="+mn-ea"/>
        <a:cs typeface="+mn-cs"/>
      </a:defRPr>
    </a:lvl5pPr>
    <a:lvl6pPr marL="3047924" algn="l" defTabSz="1219170" rtl="0" eaLnBrk="1" latinLnBrk="0" hangingPunct="1">
      <a:defRPr sz="1600" kern="1200">
        <a:solidFill>
          <a:schemeClr val="tx1"/>
        </a:solidFill>
        <a:latin typeface="+mn-lt"/>
        <a:ea typeface="+mn-ea"/>
        <a:cs typeface="+mn-cs"/>
      </a:defRPr>
    </a:lvl6pPr>
    <a:lvl7pPr marL="3657509" algn="l" defTabSz="1219170" rtl="0" eaLnBrk="1" latinLnBrk="0" hangingPunct="1">
      <a:defRPr sz="1600" kern="1200">
        <a:solidFill>
          <a:schemeClr val="tx1"/>
        </a:solidFill>
        <a:latin typeface="+mn-lt"/>
        <a:ea typeface="+mn-ea"/>
        <a:cs typeface="+mn-cs"/>
      </a:defRPr>
    </a:lvl7pPr>
    <a:lvl8pPr marL="4267093" algn="l" defTabSz="1219170" rtl="0" eaLnBrk="1" latinLnBrk="0" hangingPunct="1">
      <a:defRPr sz="1600" kern="1200">
        <a:solidFill>
          <a:schemeClr val="tx1"/>
        </a:solidFill>
        <a:latin typeface="+mn-lt"/>
        <a:ea typeface="+mn-ea"/>
        <a:cs typeface="+mn-cs"/>
      </a:defRPr>
    </a:lvl8pPr>
    <a:lvl9pPr marL="4876678" algn="l" defTabSz="1219170" rtl="0" eaLnBrk="1" latinLnBrk="0" hangingPunct="1">
      <a:defRPr sz="1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Slides\individual-slides\welcome-to-aiasd.md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Slides\individual-slides\john-michael-miller-intro.md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Slides\individual-slides\introductions.md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Slides\individual-slides\about-code.md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Slides\individual-slides\whats-the-big-deal.md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Slides\individual-slides\whats-the-big-deal.md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Slides\individual-slides\whats-the-big-deal.md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Slides\individual-slides\whats-the-big-deal.md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Slides\individual-slides\whats-the-big-deal.md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Slides\individual-slides\whats-the-big-deal.md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Slides\individual-slides\whats-the-big-deal.md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Slides\individual-slides\whats-the-big-deal.md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Slides\individual-slides\whats-the-big-deal.md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Slides\individual-slides\whats-the-big-deal.md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Slides\individual-slides\whats-the-big-deal.md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Slides\individual-slides\whats-the-big-deal.md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Slides\individual-slides\whats-the-big-deal.md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Slides\individual-slides\whats-the-big-deal.md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Slides\individual-slides\whats-the-big-deal.md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Slides\individual-slides\the-ai-revolution.md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Slides\individual-slides\the-ai-revolution.md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Slides\individual-slides\the-ai-revolution.md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Slides\individual-slides\the-ai-revolution.md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Slides\individual-slides\the-ai-revolution.md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Slides\individual-slides\the-ai-revolution.md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Slides\individual-slides\the-ai-revolution.md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Slides\individual-slides\the-ai-revolution.md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Slides\individual-slides\the-ai-revolution.md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Slides\individual-slides\the-ai-revolution.md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Slides\individual-slides\the-ai-revolution.md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Slides\individual-slides\repository-and-tool-setup.md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Slides\individual-slides\repository-and-tool-setup.md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Slides\individual-slides\repository-and-tool-setup.md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Slides\individual-slides\repository-and-tool-setup.md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Slides\individual-slides\hands-on-with-github-copilot-vs-code.md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Slides\individual-slides\hands-on-with-github-copilot-vs-code.md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Slides\individual-slides\hands-on-with-github-copilot-vs-code.md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Slides\individual-slides\hands-on-with-github-copilot-vs-code.md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Slides\individual-slides\hands-on-with-github-copilot-vs-code.md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Slides\individual-slides\hands-on-with-github-copilot-vs-code.md</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Slides\individual-slides\hands-on-with-github-copilot-vs-code.md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Slides\individual-slides\hands-on-with-github-copilot-vs-code.md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Slides\individual-slides\vibe-coding.md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Slides\individual-slides\vibe-coding.md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Slides\individual-slides\vibe-coding.md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Slides\individual-slides\vibe-coding.md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Slides\individual-slides\vibe-coding.md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Slides\individual-slides\vibe-coding.md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Slides\individual-slides\vibe-coding.md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Slides\individual-slides\vibe-coding.md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Slides\individual-slides\vibe-coding.md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Slides\individual-slides\vibe-coding.md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Slides\individual-slides\vibe-coding.md</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Slides\individual-slides\vibe-coding.md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Slides\individual-slides\vibe-coding.md</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Slides\individual-slides\vibe-coding.md</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Slides\individual-slides\vibe-coding.md</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Slides\individual-slides\vibe-coding.md</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Slides\individual-slides\vibe-coding.md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Slides\individual-slides\vibe-coding.md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Slides\individual-slides\vibe-coding.md</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Slides\individual-slides\vibe-coding.md</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Slides\individual-slides\vibe-coding.md</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Slides\individual-slides\vibe-coding.md</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Slides\individual-slides\multi‑model-implementation-comparison.md</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Slides\individual-slides\multi‑model-implementation-comparison.md</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Slides\individual-slides\multi‑model-implementation-comparison.md</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Slides\individual-slides\multi‑model-implementation-comparison.md</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Slides\individual-slides\multi‑model-implementation-comparison.md</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Slides\individual-slides\multi‑model-implementation-comparison.md</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Slides\individual-slides\multi‑model-implementation-comparison.md</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Slides\individual-slides\multi‑model-implementation-comparison.md</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Slides\individual-slides\ai-assisted-cicd-pipelines.md</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Slides\individual-slides\ai-assisted-cicd-pipelines.md</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Slides\individual-slides\ai-assisted-cicd-pipelines.md</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Slides\individual-slides\ai-assisted-cicd-pipelines.md</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Slides\individual-slides\ai-assisted-cicd-pipelines.md</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Slides\individual-slides\ai-assisted-cicd-pipelines.md</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Slides\individual-slides\ai-assisted-cicd-pipelines.md</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Slides\individual-slides\ai-assisted-cicd-pipelines.md</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Slides\individual-slides\ai-assisted-cicd-pipelines.md</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Slides\individual-slides\ai-assisted-cicd-pipelines.md</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Slides\individual-slides\ai-assisted-cicd-pipelines.md</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Slides\individual-slides\ai-assisted-cicd-pipelines.md</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Slides\individual-slides\ai-assisted-cicd-pipelines.md</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Slides\individual-slides\ai-assisted-github-pull-requests.md</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Slides\individual-slides\ai-assisted-github-pull-requests.md</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Slides\individual-slides\ai-assisted-github-pull-requests.md</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Slides\individual-slides\ai-assisted-github-pull-requests.md</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Slides\individual-slides\ai-assisted-github-pull-requests.md</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Slides\individual-slides\ai-assisted-github-pull-requests.md</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Slides\individual-slides\ai-assisted-github-pull-requests.md</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Slides\individual-slides\ai-assisted-github-pull-requests.md</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Slides\individual-slides\ai-assisted-github-pull-requests.md</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Slides\individual-slides\ai-assisted-github-pull-requests.md</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Slides\individual-slides\ai-assisted-github-pull-requests.md</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Slides\individual-slides\ai-assisted-github-pull-requests.md</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Slides\individual-slides\instruction-files.md</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Slides\individual-slides\instruction-files.md</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Slides\individual-slides\instruction-files.md</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Slides\individual-slides\instruction-files.md</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Slides\individual-slides\instruction-files.md</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Slides\individual-slides\instruction-files.md</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Slides\individual-slides\instruction-file-applyto-patterns.md</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Slides\individual-slides\instruction-file-applyto-patterns.md</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Slides\individual-slides\instruction-file-applyto-patterns.md</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Slides\individual-slides\instruction-file-applyto-patterns.md</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Slides\individual-slides\instruction-file-applyto-patterns.md</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Slides\individual-slides\instruction-file-applyto-patterns.md</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Slides\individual-slides\instruction-file-applyto-patterns.md</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Slides\individual-slides\instruction-file-applyto-patterns.md</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Slides\individual-slides\instruction-file-applyto-patterns.md</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Slides\individual-slides\instruction-file-applyto-patterns.md</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Slides\individual-slides\instruction-file-applyto-patterns.md</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Slides\individual-slides\instruction-file-applyto-patterns.md</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Slides\individual-slides\instruction-file-applyto-patterns.md</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Slides\individual-slides\instruction-file-applyto-patterns.md</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Slides\individual-slides\instruction-file-applyto-patterns.md</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Slides\individual-slides\instruction-file-applyto-patterns.md</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Slides\individual-slides\core-instruction-files.md</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Slides\individual-slides\managing-github-copilot-effectively.md</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Slides\individual-slides\managing-github-copilot-effectively.md</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Slides\individual-slides\managing-github-copilot-effectively.md</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Slides\individual-slides\managing-github-copilot-effectively.md</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Slides\individual-slides\managing-github-copilot-effectively.md</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Slides\individual-slides\github-copilot-for-teams.md</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Slides\individual-slides\github-copilot-for-teams.md</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Slides\individual-slides\github-copilot-for-teams.md</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Slides\individual-slides\github-copilot-for-teams.md</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Slides\individual-slides\github-copilot-for-teams.md</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Slides\individual-slides\github-copilot-for-teams.md</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Slides\individual-slides\github-copilot-for-teams.md</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Slides\individual-slides\github-copilot-for-teams.md</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Slides\individual-slides\github-copilot-for-teams.md</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Slides\individual-slides\github-copilot-for-teams.md</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Slides\individual-slides\github-copilot-for-teams.md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rgbClr val="007FB1"/>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4E5D4979-0E48-181C-5438-B441393DCAC1}"/>
              </a:ext>
            </a:extLst>
          </p:cNvPr>
          <p:cNvPicPr>
            <a:picLocks noChangeAspect="1"/>
          </p:cNvPicPr>
          <p:nvPr userDrawn="1"/>
        </p:nvPicPr>
        <p:blipFill>
          <a:blip r:embed="rId2">
            <a:alphaModFix amt="20000"/>
          </a:blip>
          <a:srcRect l="301" t="5222" r="713" b="10945"/>
          <a:stretch/>
        </p:blipFill>
        <p:spPr>
          <a:xfrm>
            <a:off x="0" y="-1"/>
            <a:ext cx="12192000" cy="6858001"/>
          </a:xfrm>
          <a:prstGeom prst="rect">
            <a:avLst/>
          </a:prstGeom>
        </p:spPr>
      </p:pic>
      <p:sp>
        <p:nvSpPr>
          <p:cNvPr id="2" name="Title 1">
            <a:extLst>
              <a:ext uri="{FF2B5EF4-FFF2-40B4-BE49-F238E27FC236}">
                <a16:creationId xmlns:a16="http://schemas.microsoft.com/office/drawing/2014/main" id="{38BA191F-D9FD-C2EB-983F-9B42F26EB6F6}"/>
              </a:ext>
            </a:extLst>
          </p:cNvPr>
          <p:cNvSpPr>
            <a:spLocks noGrp="1"/>
          </p:cNvSpPr>
          <p:nvPr>
            <p:ph type="ctrTitle"/>
          </p:nvPr>
        </p:nvSpPr>
        <p:spPr>
          <a:xfrm>
            <a:off x="1524000" y="2759384"/>
            <a:ext cx="9144000" cy="1891556"/>
          </a:xfrm>
        </p:spPr>
        <p:txBody>
          <a:bodyPr anchor="b"/>
          <a:lstStyle>
            <a:lvl1pPr algn="ctr">
              <a:defRPr sz="60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C2FDDE32-D155-6EE2-5EAC-C0A0C4B0AB69}"/>
              </a:ext>
            </a:extLst>
          </p:cNvPr>
          <p:cNvSpPr>
            <a:spLocks noGrp="1"/>
          </p:cNvSpPr>
          <p:nvPr>
            <p:ph type="subTitle" idx="1"/>
          </p:nvPr>
        </p:nvSpPr>
        <p:spPr>
          <a:xfrm>
            <a:off x="1524000" y="4952326"/>
            <a:ext cx="9144000" cy="1325070"/>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Picture 4">
            <a:extLst>
              <a:ext uri="{FF2B5EF4-FFF2-40B4-BE49-F238E27FC236}">
                <a16:creationId xmlns:a16="http://schemas.microsoft.com/office/drawing/2014/main" id="{A09F10DC-7230-4581-E771-A51DC87C601D}"/>
              </a:ext>
            </a:extLst>
          </p:cNvPr>
          <p:cNvPicPr>
            <a:picLocks noChangeAspect="1"/>
          </p:cNvPicPr>
          <p:nvPr userDrawn="1"/>
        </p:nvPicPr>
        <p:blipFill>
          <a:blip r:embed="rId3" cstate="print">
            <a:extLst>
              <a:ext uri="{28A0092B-C50C-407E-A947-70E740481C1C}">
                <a14:useLocalDpi xmlns:a14="http://schemas.microsoft.com/office/drawing/2010/main" val="0"/>
              </a:ext>
            </a:extLst>
          </a:blip>
          <a:srcRect/>
          <a:stretch/>
        </p:blipFill>
        <p:spPr>
          <a:xfrm>
            <a:off x="4294437" y="1238105"/>
            <a:ext cx="3578217" cy="1288157"/>
          </a:xfrm>
          <a:prstGeom prst="rect">
            <a:avLst/>
          </a:prstGeom>
          <a:ln>
            <a:noFill/>
          </a:ln>
          <a:effectLst/>
        </p:spPr>
      </p:pic>
    </p:spTree>
    <p:extLst>
      <p:ext uri="{BB962C8B-B14F-4D97-AF65-F5344CB8AC3E}">
        <p14:creationId xmlns:p14="http://schemas.microsoft.com/office/powerpoint/2010/main" val="3742734728"/>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25008E-5CA0-DF16-8859-F3F3B6B4ECB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1D7D27F-181A-B717-23A8-6AE0FE66C8FD}"/>
              </a:ext>
            </a:extLst>
          </p:cNvPr>
          <p:cNvSpPr>
            <a:spLocks noGrp="1"/>
          </p:cNvSpPr>
          <p:nvPr>
            <p:ph idx="1"/>
          </p:nvPr>
        </p:nvSpPr>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205874076"/>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25008E-5CA0-DF16-8859-F3F3B6B4ECB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1D7D27F-181A-B717-23A8-6AE0FE66C8FD}"/>
              </a:ext>
            </a:extLst>
          </p:cNvPr>
          <p:cNvSpPr>
            <a:spLocks noGrp="1"/>
          </p:cNvSpPr>
          <p:nvPr>
            <p:ph idx="1"/>
          </p:nvPr>
        </p:nvSpPr>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722829596"/>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3930F6-D2DF-F6C7-EE28-1317F8B2A17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97C4C2C-73A8-3DEC-B6FB-43F2345FC94D}"/>
              </a:ext>
            </a:extLst>
          </p:cNvPr>
          <p:cNvSpPr>
            <a:spLocks noGrp="1"/>
          </p:cNvSpPr>
          <p:nvPr>
            <p:ph sz="half" idx="1"/>
          </p:nvPr>
        </p:nvSpPr>
        <p:spPr>
          <a:xfrm>
            <a:off x="838200" y="1463752"/>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1FE4B54-0793-1D98-555E-E9470FF34B9A}"/>
              </a:ext>
            </a:extLst>
          </p:cNvPr>
          <p:cNvSpPr>
            <a:spLocks noGrp="1"/>
          </p:cNvSpPr>
          <p:nvPr>
            <p:ph sz="half" idx="2"/>
          </p:nvPr>
        </p:nvSpPr>
        <p:spPr>
          <a:xfrm>
            <a:off x="6172200" y="1463752"/>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83185060"/>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3930F6-D2DF-F6C7-EE28-1317F8B2A17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97C4C2C-73A8-3DEC-B6FB-43F2345FC94D}"/>
              </a:ext>
            </a:extLst>
          </p:cNvPr>
          <p:cNvSpPr>
            <a:spLocks noGrp="1"/>
          </p:cNvSpPr>
          <p:nvPr>
            <p:ph sz="half" idx="1"/>
          </p:nvPr>
        </p:nvSpPr>
        <p:spPr>
          <a:xfrm>
            <a:off x="838200" y="1463752"/>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1FE4B54-0793-1D98-555E-E9470FF34B9A}"/>
              </a:ext>
            </a:extLst>
          </p:cNvPr>
          <p:cNvSpPr>
            <a:spLocks noGrp="1"/>
          </p:cNvSpPr>
          <p:nvPr>
            <p:ph sz="half" idx="2"/>
          </p:nvPr>
        </p:nvSpPr>
        <p:spPr>
          <a:xfrm>
            <a:off x="6172200" y="1463752"/>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849783303"/>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Centere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9B468B-A6F2-4747-0841-93AC035CBDBA}"/>
              </a:ext>
            </a:extLst>
          </p:cNvPr>
          <p:cNvSpPr>
            <a:spLocks noGrp="1"/>
          </p:cNvSpPr>
          <p:nvPr>
            <p:ph type="title"/>
          </p:nvPr>
        </p:nvSpPr>
        <p:spPr>
          <a:xfrm>
            <a:off x="1631556" y="2630894"/>
            <a:ext cx="8928887" cy="1568871"/>
          </a:xfrm>
        </p:spPr>
        <p:txBody>
          <a:bodyPr/>
          <a:lstStyle>
            <a:lvl1pPr algn="ctr">
              <a:defRPr/>
            </a:lvl1pPr>
          </a:lstStyle>
          <a:p>
            <a:r>
              <a:rPr lang="en-US"/>
              <a:t>Click to edit Master title style</a:t>
            </a:r>
            <a:endParaRPr lang="en-US" dirty="0"/>
          </a:p>
        </p:txBody>
      </p:sp>
    </p:spTree>
    <p:extLst>
      <p:ext uri="{BB962C8B-B14F-4D97-AF65-F5344CB8AC3E}">
        <p14:creationId xmlns:p14="http://schemas.microsoft.com/office/powerpoint/2010/main" val="520210162"/>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9B468B-A6F2-4747-0841-93AC035CBDBA}"/>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595456361"/>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9B468B-A6F2-4747-0841-93AC035CBDBA}"/>
              </a:ext>
            </a:extLst>
          </p:cNvPr>
          <p:cNvSpPr>
            <a:spLocks noGrp="1"/>
          </p:cNvSpPr>
          <p:nvPr>
            <p:ph type="title"/>
          </p:nvPr>
        </p:nvSpPr>
        <p:spPr/>
        <p:txBody>
          <a:bodyPr/>
          <a:lstStyle/>
          <a:p>
            <a:r>
              <a:rPr lang="en-US"/>
              <a:t>Click to edit Master title style</a:t>
            </a:r>
          </a:p>
        </p:txBody>
      </p:sp>
      <p:sp>
        <p:nvSpPr>
          <p:cNvPr id="3" name="Picture Placeholder 3">
            <a:extLst>
              <a:ext uri="{FF2B5EF4-FFF2-40B4-BE49-F238E27FC236}">
                <a16:creationId xmlns:a16="http://schemas.microsoft.com/office/drawing/2014/main" id="{F1C99E23-E5F1-1D9C-BF82-D83E6E9F1346}"/>
              </a:ext>
            </a:extLst>
          </p:cNvPr>
          <p:cNvSpPr>
            <a:spLocks noGrp="1"/>
          </p:cNvSpPr>
          <p:nvPr>
            <p:ph type="pic" sz="quarter" idx="10"/>
          </p:nvPr>
        </p:nvSpPr>
        <p:spPr>
          <a:xfrm>
            <a:off x="900113" y="2433638"/>
            <a:ext cx="10391774" cy="3790950"/>
          </a:xfrm>
        </p:spPr>
        <p:txBody>
          <a:bodyPr/>
          <a:lstStyle/>
          <a:p>
            <a:endParaRPr lang="en-US"/>
          </a:p>
        </p:txBody>
      </p:sp>
      <p:sp>
        <p:nvSpPr>
          <p:cNvPr id="4" name="Text Placeholder 5">
            <a:extLst>
              <a:ext uri="{FF2B5EF4-FFF2-40B4-BE49-F238E27FC236}">
                <a16:creationId xmlns:a16="http://schemas.microsoft.com/office/drawing/2014/main" id="{63708861-970C-B5DB-BF46-526E75A04C16}"/>
              </a:ext>
            </a:extLst>
          </p:cNvPr>
          <p:cNvSpPr>
            <a:spLocks noGrp="1"/>
          </p:cNvSpPr>
          <p:nvPr>
            <p:ph type="body" sz="quarter" idx="11" hasCustomPrompt="1"/>
          </p:nvPr>
        </p:nvSpPr>
        <p:spPr>
          <a:xfrm>
            <a:off x="900113" y="1444625"/>
            <a:ext cx="10391774" cy="649288"/>
          </a:xfrm>
        </p:spPr>
        <p:txBody>
          <a:bodyPr/>
          <a:lstStyle>
            <a:lvl1pPr marL="0" indent="0">
              <a:buNone/>
              <a:defRPr/>
            </a:lvl1pPr>
          </a:lstStyle>
          <a:p>
            <a:pPr lvl="0"/>
            <a:r>
              <a:rPr lang="en-US" dirty="0"/>
              <a:t>Image Caption</a:t>
            </a:r>
          </a:p>
        </p:txBody>
      </p:sp>
    </p:spTree>
    <p:extLst>
      <p:ext uri="{BB962C8B-B14F-4D97-AF65-F5344CB8AC3E}">
        <p14:creationId xmlns:p14="http://schemas.microsoft.com/office/powerpoint/2010/main" val="1827457619"/>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671134239"/>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blank" preserve="1">
  <p:cSld name="1_Blank">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F7AB04E-CD14-3B5B-FB56-FF0AC2426BBE}"/>
              </a:ext>
            </a:extLst>
          </p:cNvPr>
          <p:cNvPicPr>
            <a:picLocks noChangeAspect="1"/>
          </p:cNvPicPr>
          <p:nvPr userDrawn="1"/>
        </p:nvPicPr>
        <p:blipFill>
          <a:blip r:embed="rId2">
            <a:alphaModFix amt="20000"/>
          </a:blip>
          <a:srcRect l="301" t="5222" r="713" b="10945"/>
          <a:stretch/>
        </p:blipFill>
        <p:spPr>
          <a:xfrm>
            <a:off x="0" y="-1"/>
            <a:ext cx="12192000" cy="6858001"/>
          </a:xfrm>
          <a:prstGeom prst="rect">
            <a:avLst/>
          </a:prstGeom>
        </p:spPr>
      </p:pic>
    </p:spTree>
    <p:extLst>
      <p:ext uri="{BB962C8B-B14F-4D97-AF65-F5344CB8AC3E}">
        <p14:creationId xmlns:p14="http://schemas.microsoft.com/office/powerpoint/2010/main" val="435387362"/>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de">
    <p:bg>
      <p:bgPr>
        <a:solidFill>
          <a:srgbClr val="21212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DF442E2-8683-D251-03C0-5FDD0CBEBC4F}"/>
              </a:ext>
            </a:extLst>
          </p:cNvPr>
          <p:cNvSpPr>
            <a:spLocks noGrp="1"/>
          </p:cNvSpPr>
          <p:nvPr>
            <p:ph type="body" sz="quarter" idx="10" hasCustomPrompt="1"/>
          </p:nvPr>
        </p:nvSpPr>
        <p:spPr>
          <a:xfrm>
            <a:off x="833480" y="1051965"/>
            <a:ext cx="9831823" cy="313932"/>
          </a:xfrm>
        </p:spPr>
        <p:txBody>
          <a:bodyPr>
            <a:spAutoFit/>
          </a:bodyPr>
          <a:lstStyle>
            <a:lvl1pPr marL="0" indent="0">
              <a:buFontTx/>
              <a:buNone/>
              <a:defRPr sz="1600">
                <a:latin typeface="Victor Mono" pitchFamily="49" charset="0"/>
              </a:defRPr>
            </a:lvl1pPr>
            <a:lvl2pPr marL="457200" indent="0">
              <a:buFontTx/>
              <a:buNone/>
              <a:defRPr>
                <a:latin typeface="Victor Mono" pitchFamily="49" charset="0"/>
              </a:defRPr>
            </a:lvl2pPr>
            <a:lvl3pPr marL="914400" indent="0">
              <a:buFontTx/>
              <a:buNone/>
              <a:defRPr>
                <a:latin typeface="Victor Mono" pitchFamily="49" charset="0"/>
              </a:defRPr>
            </a:lvl3pPr>
            <a:lvl4pPr marL="1371600" indent="0">
              <a:buFontTx/>
              <a:buNone/>
              <a:defRPr>
                <a:latin typeface="Victor Mono" pitchFamily="49" charset="0"/>
              </a:defRPr>
            </a:lvl4pPr>
            <a:lvl5pPr marL="1828800" indent="0">
              <a:buFontTx/>
              <a:buNone/>
              <a:defRPr>
                <a:latin typeface="Victor Mono" pitchFamily="49" charset="0"/>
              </a:defRPr>
            </a:lvl5pPr>
          </a:lstStyle>
          <a:p>
            <a:pPr lvl="0"/>
            <a:r>
              <a:rPr lang="en-US" dirty="0"/>
              <a:t>Click to edit Code text</a:t>
            </a:r>
          </a:p>
        </p:txBody>
      </p:sp>
    </p:spTree>
    <p:extLst>
      <p:ext uri="{BB962C8B-B14F-4D97-AF65-F5344CB8AC3E}">
        <p14:creationId xmlns:p14="http://schemas.microsoft.com/office/powerpoint/2010/main" val="87609124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007FB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83C53BF9-6377-93D8-5BD7-30937619B4E2}"/>
              </a:ext>
            </a:extLst>
          </p:cNvPr>
          <p:cNvPicPr>
            <a:picLocks noChangeAspect="1"/>
          </p:cNvPicPr>
          <p:nvPr userDrawn="1"/>
        </p:nvPicPr>
        <p:blipFill>
          <a:blip r:embed="rId13">
            <a:alphaModFix amt="20000"/>
          </a:blip>
          <a:srcRect l="301" t="5222" r="713" b="10945"/>
          <a:stretch/>
        </p:blipFill>
        <p:spPr>
          <a:xfrm>
            <a:off x="0" y="-1"/>
            <a:ext cx="12192000" cy="6858001"/>
          </a:xfrm>
          <a:prstGeom prst="rect">
            <a:avLst/>
          </a:prstGeom>
        </p:spPr>
      </p:pic>
      <p:sp>
        <p:nvSpPr>
          <p:cNvPr id="2" name="Title Placeholder 1">
            <a:extLst>
              <a:ext uri="{FF2B5EF4-FFF2-40B4-BE49-F238E27FC236}">
                <a16:creationId xmlns:a16="http://schemas.microsoft.com/office/drawing/2014/main" id="{3A4163A3-B061-0949-1965-0375841BDB05}"/>
              </a:ext>
            </a:extLst>
          </p:cNvPr>
          <p:cNvSpPr>
            <a:spLocks noGrp="1"/>
          </p:cNvSpPr>
          <p:nvPr>
            <p:ph type="title"/>
          </p:nvPr>
        </p:nvSpPr>
        <p:spPr>
          <a:xfrm>
            <a:off x="838200" y="365126"/>
            <a:ext cx="8928887" cy="70302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D4E76094-9BD4-ED01-3BE5-5F760EE32E2A}"/>
              </a:ext>
            </a:extLst>
          </p:cNvPr>
          <p:cNvSpPr>
            <a:spLocks noGrp="1"/>
          </p:cNvSpPr>
          <p:nvPr>
            <p:ph type="body" idx="1"/>
          </p:nvPr>
        </p:nvSpPr>
        <p:spPr>
          <a:xfrm>
            <a:off x="838200" y="1461483"/>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4" name="Picture 3">
            <a:extLst>
              <a:ext uri="{FF2B5EF4-FFF2-40B4-BE49-F238E27FC236}">
                <a16:creationId xmlns:a16="http://schemas.microsoft.com/office/drawing/2014/main" id="{CD6163BC-C951-C17F-421A-4AD743EDDB29}"/>
              </a:ext>
            </a:extLst>
          </p:cNvPr>
          <p:cNvPicPr>
            <a:picLocks noChangeAspect="1"/>
          </p:cNvPicPr>
          <p:nvPr userDrawn="1"/>
        </p:nvPicPr>
        <p:blipFill>
          <a:blip r:embed="rId14"/>
          <a:srcRect/>
          <a:stretch/>
        </p:blipFill>
        <p:spPr>
          <a:xfrm>
            <a:off x="10016117" y="424540"/>
            <a:ext cx="1783676" cy="643610"/>
          </a:xfrm>
          <a:prstGeom prst="rect">
            <a:avLst/>
          </a:prstGeom>
          <a:ln>
            <a:noFill/>
          </a:ln>
          <a:effectLst/>
        </p:spPr>
      </p:pic>
    </p:spTree>
    <p:extLst>
      <p:ext uri="{BB962C8B-B14F-4D97-AF65-F5344CB8AC3E}">
        <p14:creationId xmlns:p14="http://schemas.microsoft.com/office/powerpoint/2010/main" val="2005844286"/>
      </p:ext>
    </p:extLst>
  </p:cSld>
  <p:clrMap bg1="lt1" tx1="dk1" bg2="lt2" tx2="dk2" accent1="accent1" accent2="accent2" accent3="accent3" accent4="accent4" accent5="accent5" accent6="accent6" hlink="hlink" folHlink="folHlink"/>
  <p:sldLayoutIdLst>
    <p:sldLayoutId id="2147483744" r:id="rId1"/>
    <p:sldLayoutId id="2147483745" r:id="rId2"/>
    <p:sldLayoutId id="2147483797" r:id="rId3"/>
    <p:sldLayoutId id="2147483746" r:id="rId4"/>
    <p:sldLayoutId id="2147483784" r:id="rId5"/>
    <p:sldLayoutId id="2147483747" r:id="rId6"/>
    <p:sldLayoutId id="2147483748" r:id="rId7"/>
    <p:sldLayoutId id="2147483792" r:id="rId8"/>
    <p:sldLayoutId id="2147483749" r:id="rId9"/>
    <p:sldLayoutId id="2147483750" r:id="rId10"/>
    <p:sldLayoutId id="2147483751" r:id="rId11"/>
  </p:sldLayoutIdLst>
  <p:transition>
    <p:fade/>
  </p:transition>
  <p:txStyles>
    <p:titleStyle>
      <a:lvl1pPr algn="l" defTabSz="914400" rtl="0" eaLnBrk="1" latinLnBrk="0" hangingPunct="1">
        <a:lnSpc>
          <a:spcPct val="90000"/>
        </a:lnSpc>
        <a:spcBef>
          <a:spcPct val="0"/>
        </a:spcBef>
        <a:buNone/>
        <a:defRPr sz="4400" b="1"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mailto:info@codemag.com" TargetMode="External"/><Relationship Id="rId3" Type="http://schemas.openxmlformats.org/officeDocument/2006/relationships/hyperlink" Target="facebook.com/codemag" TargetMode="External"/><Relationship Id="rId4" Type="http://schemas.openxmlformats.org/officeDocument/2006/relationships/hyperlink" Target="twitter.com/codemagazine"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6.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1.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3.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8.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9.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0.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3.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4.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5.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6.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8.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9.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1.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3.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4.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5.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6.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8.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9.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0.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1.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3.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4.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5.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6.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8.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9.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0.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1.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2.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3.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4.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5.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6.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8.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9.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0.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1.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2.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3.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4.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5.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6.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8.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9.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0.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1.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3.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4.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5.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6.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81109E-277E-1A49-C046-65ED9CD1A9B0}"/>
              </a:ext>
            </a:extLst>
          </p:cNvPr>
          <p:cNvSpPr>
            <a:spLocks noGrp="1"/>
          </p:cNvSpPr>
          <p:nvPr>
            <p:ph type="ctrTitle"/>
          </p:nvPr>
        </p:nvSpPr>
        <p:spPr/>
        <p:txBody>
          <a:bodyPr/>
          <a:lstStyle/>
          <a:p>
            <a:r>
              <a:t>AI-Assisted Software Development</a:t>
            </a:r>
          </a:p>
        </p:txBody>
      </p:sp>
      <p:sp>
        <p:nvSpPr>
          <p:cNvPr id="3" name="Subtitle 2">
            <a:extLst>
              <a:ext uri="{FF2B5EF4-FFF2-40B4-BE49-F238E27FC236}">
                <a16:creationId xmlns:a16="http://schemas.microsoft.com/office/drawing/2014/main" id="{24C65BA7-4882-C19A-7D89-1C49BD7C094D}"/>
              </a:ext>
            </a:extLst>
          </p:cNvPr>
          <p:cNvSpPr>
            <a:spLocks noGrp="1"/>
          </p:cNvSpPr>
          <p:nvPr>
            <p:ph type="subTitle" idx="1"/>
          </p:nvPr>
        </p:nvSpPr>
        <p:spPr/>
        <p:txBody>
          <a:bodyPr/>
          <a:lstStyle/>
          <a:p>
            <a:r>
              <a:t>From Code to Copilot</a:t>
            </a:r>
          </a:p>
        </p:txBody>
      </p:sp>
    </p:spTree>
    <p:extLst>
      <p:ext uri="{BB962C8B-B14F-4D97-AF65-F5344CB8AC3E}">
        <p14:creationId xmlns:p14="http://schemas.microsoft.com/office/powerpoint/2010/main" val="974481442"/>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509398-638C-4D4E-B7BE-A130635C03F0}"/>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6E8DF4BA-F1E6-299E-6452-8C569AF251AC}"/>
              </a:ext>
            </a:extLst>
          </p:cNvPr>
          <p:cNvSpPr>
            <a:spLocks noGrp="1"/>
          </p:cNvSpPr>
          <p:nvPr>
            <p:ph idx="1"/>
          </p:nvPr>
        </p:nvSpPr>
        <p:spPr/>
        <p:txBody>
          <a:bodyPr>
            <a:normAutofit/>
          </a:bodyPr>
          <a:lstStyle/>
          <a:p>
            <a:endParaRPr lang="en-US" dirty="0"/>
          </a:p>
          <a:p>
            <a:r>
              <a:t>Intro</a:t>
            </a:r>
          </a:p>
          <a:p>
            <a:r>
              <a:t>Module 1 - AIASD</a:t>
            </a:r>
          </a:p>
          <a:p>
            <a:r>
              <a:t>Module 2 - Intro to Copilot</a:t>
            </a:r>
          </a:p>
          <a:p>
            <a:r>
              <a:t>Module 3 - Vibbing</a:t>
            </a:r>
          </a:p>
          <a:p>
            <a:r>
              <a:t>Module 4 - Adding AI Guardrails</a:t>
            </a:r>
          </a:p>
          <a:p>
            <a:r>
              <a:t>Module 5 - Managing Context</a:t>
            </a:r>
          </a:p>
          <a:p>
            <a:r>
              <a:t>Module 6 - Copilot for Teams</a:t>
            </a:r>
          </a:p>
        </p:txBody>
      </p:sp>
    </p:spTree>
    <p:extLst>
      <p:ext uri="{BB962C8B-B14F-4D97-AF65-F5344CB8AC3E}">
        <p14:creationId xmlns:p14="http://schemas.microsoft.com/office/powerpoint/2010/main" val="2765236729"/>
      </p:ext>
    </p:extLst>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21B6B861-B80F-C477-CF48-A326D6C71CC8}"/>
              </a:ext>
            </a:extLst>
          </p:cNvPr>
          <p:cNvGrpSpPr/>
          <p:nvPr/>
        </p:nvGrpSpPr>
        <p:grpSpPr>
          <a:xfrm>
            <a:off x="1859228" y="2539586"/>
            <a:ext cx="8473541" cy="1702628"/>
            <a:chOff x="1754518" y="2775029"/>
            <a:chExt cx="8473541" cy="1702628"/>
          </a:xfrm>
        </p:grpSpPr>
        <p:pic>
          <p:nvPicPr>
            <p:cNvPr id="8" name="Picture 7">
              <a:extLst>
                <a:ext uri="{FF2B5EF4-FFF2-40B4-BE49-F238E27FC236}">
                  <a16:creationId xmlns:a16="http://schemas.microsoft.com/office/drawing/2014/main" id="{01B0AE49-D889-DA43-76EC-052FA8D3C8A9}"/>
                </a:ext>
              </a:extLst>
            </p:cNvPr>
            <p:cNvPicPr>
              <a:picLocks noChangeAspect="1"/>
            </p:cNvPicPr>
            <p:nvPr/>
          </p:nvPicPr>
          <p:blipFill>
            <a:blip r:embed="rId2"/>
            <a:srcRect/>
            <a:stretch/>
          </p:blipFill>
          <p:spPr>
            <a:xfrm>
              <a:off x="1754518" y="2775029"/>
              <a:ext cx="1702628" cy="1702628"/>
            </a:xfrm>
            <a:prstGeom prst="rect">
              <a:avLst/>
            </a:prstGeom>
          </p:spPr>
        </p:pic>
        <p:pic>
          <p:nvPicPr>
            <p:cNvPr id="9" name="Picture 8">
              <a:extLst>
                <a:ext uri="{FF2B5EF4-FFF2-40B4-BE49-F238E27FC236}">
                  <a16:creationId xmlns:a16="http://schemas.microsoft.com/office/drawing/2014/main" id="{3C5B3F80-9858-338B-857D-9BCC67BD1329}"/>
                </a:ext>
              </a:extLst>
            </p:cNvPr>
            <p:cNvPicPr>
              <a:picLocks noChangeAspect="1"/>
            </p:cNvPicPr>
            <p:nvPr/>
          </p:nvPicPr>
          <p:blipFill>
            <a:blip r:embed="rId3"/>
            <a:srcRect/>
            <a:stretch/>
          </p:blipFill>
          <p:spPr>
            <a:xfrm>
              <a:off x="4011489" y="2775029"/>
              <a:ext cx="1702628" cy="1702628"/>
            </a:xfrm>
            <a:prstGeom prst="rect">
              <a:avLst/>
            </a:prstGeom>
          </p:spPr>
        </p:pic>
        <p:pic>
          <p:nvPicPr>
            <p:cNvPr id="6" name="Picture 5">
              <a:extLst>
                <a:ext uri="{FF2B5EF4-FFF2-40B4-BE49-F238E27FC236}">
                  <a16:creationId xmlns:a16="http://schemas.microsoft.com/office/drawing/2014/main" id="{C2950F5A-0F27-D695-C877-3746FF6463C4}"/>
                </a:ext>
              </a:extLst>
            </p:cNvPr>
            <p:cNvPicPr>
              <a:picLocks noChangeAspect="1"/>
            </p:cNvPicPr>
            <p:nvPr/>
          </p:nvPicPr>
          <p:blipFill>
            <a:blip r:embed="rId4"/>
            <a:srcRect/>
            <a:stretch/>
          </p:blipFill>
          <p:spPr>
            <a:xfrm>
              <a:off x="6268460" y="2775029"/>
              <a:ext cx="1702628" cy="1702628"/>
            </a:xfrm>
            <a:prstGeom prst="rect">
              <a:avLst/>
            </a:prstGeom>
          </p:spPr>
        </p:pic>
        <p:pic>
          <p:nvPicPr>
            <p:cNvPr id="7" name="Picture 6">
              <a:extLst>
                <a:ext uri="{FF2B5EF4-FFF2-40B4-BE49-F238E27FC236}">
                  <a16:creationId xmlns:a16="http://schemas.microsoft.com/office/drawing/2014/main" id="{8A9C37BE-12E3-7FD3-C1C2-B43C773EB0C1}"/>
                </a:ext>
              </a:extLst>
            </p:cNvPr>
            <p:cNvPicPr>
              <a:picLocks noChangeAspect="1"/>
            </p:cNvPicPr>
            <p:nvPr/>
          </p:nvPicPr>
          <p:blipFill>
            <a:blip r:embed="rId5"/>
            <a:srcRect/>
            <a:stretch/>
          </p:blipFill>
          <p:spPr>
            <a:xfrm>
              <a:off x="8525431" y="2775029"/>
              <a:ext cx="1702628" cy="1702628"/>
            </a:xfrm>
            <a:prstGeom prst="rect">
              <a:avLst/>
            </a:prstGeom>
          </p:spPr>
        </p:pic>
      </p:grpSp>
      <p:pic>
        <p:nvPicPr>
          <p:cNvPr id="3" name="Picture 2">
            <a:extLst>
              <a:ext uri="{FF2B5EF4-FFF2-40B4-BE49-F238E27FC236}">
                <a16:creationId xmlns:a16="http://schemas.microsoft.com/office/drawing/2014/main" id="{BC9242A6-5FE7-F8DF-D678-174A54FC556B}"/>
              </a:ext>
            </a:extLst>
          </p:cNvPr>
          <p:cNvPicPr>
            <a:picLocks noChangeAspect="1"/>
          </p:cNvPicPr>
          <p:nvPr/>
        </p:nvPicPr>
        <p:blipFill>
          <a:blip r:embed="rId6"/>
          <a:srcRect/>
          <a:stretch/>
        </p:blipFill>
        <p:spPr>
          <a:xfrm>
            <a:off x="3081593" y="365801"/>
            <a:ext cx="6028812" cy="2008058"/>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914607603"/>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8584E9-2E00-14E1-1A29-58C399E608EC}"/>
              </a:ext>
            </a:extLst>
          </p:cNvPr>
          <p:cNvSpPr txBox="1">
            <a:spLocks/>
          </p:cNvSpPr>
          <p:nvPr/>
        </p:nvSpPr>
        <p:spPr>
          <a:xfrm>
            <a:off x="838200" y="1663700"/>
            <a:ext cx="10515600" cy="2084822"/>
          </a:xfrm>
          <a:prstGeom prst="rect">
            <a:avLst/>
          </a:prstGeom>
        </p:spPr>
        <p:txBody>
          <a:bodyPr vert="horz" lIns="91440" tIns="45720" rIns="91440" bIns="45720" rtlCol="0" anchor="t">
            <a:normAutofit fontScale="92500" lnSpcReduction="10000"/>
          </a:bodyPr>
          <a:lstStyle>
            <a:lvl1pPr algn="l" defTabSz="914377"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8000" b="1" dirty="0">
                <a:solidFill>
                  <a:schemeClr val="bg1"/>
                </a:solidFill>
                <a:latin typeface="Noto Sans" panose="020B0502040504020204" pitchFamily="34" charset="0"/>
                <a:ea typeface="Noto Sans" panose="020B0502040504020204" pitchFamily="34" charset="0"/>
                <a:cs typeface="Noto Sans" panose="020B0502040504020204" pitchFamily="34" charset="0"/>
              </a:rPr>
              <a:t>Q&amp;A</a:t>
            </a:r>
          </a:p>
          <a:p>
            <a:pPr algn="ctr"/>
            <a:endParaRPr lang="en-US" sz="4300" b="1" dirty="0">
              <a:solidFill>
                <a:schemeClr val="bg1"/>
              </a:solidFill>
              <a:latin typeface="Noto Sans" panose="020B0502040504020204" pitchFamily="34" charset="0"/>
              <a:ea typeface="Noto Sans" panose="020B0502040504020204" pitchFamily="34" charset="0"/>
              <a:cs typeface="Noto Sans" panose="020B0502040504020204" pitchFamily="34" charset="0"/>
            </a:endParaRPr>
          </a:p>
          <a:p>
            <a:pPr algn="ctr"/>
            <a:r>
              <a:rPr lang="en-US" sz="4300" b="1" dirty="0">
                <a:solidFill>
                  <a:schemeClr val="bg1"/>
                </a:solidFill>
                <a:latin typeface="Noto Sans" panose="020B0502040504020204" pitchFamily="34" charset="0"/>
                <a:ea typeface="Noto Sans" panose="020B0502040504020204" pitchFamily="34" charset="0"/>
                <a:cs typeface="Noto Sans" panose="020B0502040504020204" pitchFamily="34" charset="0"/>
              </a:rPr>
              <a:t>Contact us with questions!</a:t>
            </a:r>
          </a:p>
        </p:txBody>
      </p:sp>
      <p:sp>
        <p:nvSpPr>
          <p:cNvPr id="3" name="Subtitle 2">
            <a:extLst>
              <a:ext uri="{FF2B5EF4-FFF2-40B4-BE49-F238E27FC236}">
                <a16:creationId xmlns:a16="http://schemas.microsoft.com/office/drawing/2014/main" id="{CB1020B1-5E48-DEB2-3BA8-F3C0F48DB8EA}"/>
              </a:ext>
            </a:extLst>
          </p:cNvPr>
          <p:cNvSpPr txBox="1">
            <a:spLocks/>
          </p:cNvSpPr>
          <p:nvPr/>
        </p:nvSpPr>
        <p:spPr>
          <a:xfrm>
            <a:off x="1013952" y="4344072"/>
            <a:ext cx="4472447" cy="1864097"/>
          </a:xfrm>
          <a:prstGeom prst="rect">
            <a:avLst/>
          </a:prstGeom>
        </p:spPr>
        <p:txBody>
          <a:bodyPr vert="horz" lIns="91440" tIns="45720" rIns="91440" bIns="45720" rtlCol="0">
            <a:noAutofit/>
          </a:bodyPr>
          <a:lstStyle>
            <a:lvl1pPr marL="228594" indent="-228594" algn="l" defTabSz="914377"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160"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Aft>
                <a:spcPts val="800"/>
              </a:spcAft>
              <a:buNone/>
            </a:pPr>
            <a:r>
              <a:rPr lang="en-US" sz="1800" b="1" dirty="0">
                <a:solidFill>
                  <a:schemeClr val="bg1"/>
                </a:solidFill>
                <a:latin typeface="Noto Sans" panose="020B0502040504020204" pitchFamily="34" charset="0"/>
                <a:ea typeface="Noto Sans" panose="020B0502040504020204" pitchFamily="34" charset="0"/>
                <a:cs typeface="Noto Sans" panose="020B0502040504020204" pitchFamily="34" charset="0"/>
              </a:rPr>
              <a:t>CODE Contact</a:t>
            </a:r>
          </a:p>
          <a:p>
            <a:pPr marL="0" indent="0">
              <a:lnSpc>
                <a:spcPct val="100000"/>
              </a:lnSpc>
              <a:spcAft>
                <a:spcPts val="800"/>
              </a:spcAft>
              <a:buNone/>
            </a:pPr>
            <a:r>
              <a:rPr lang="en-US" sz="1800" dirty="0">
                <a:solidFill>
                  <a:schemeClr val="bg1"/>
                </a:solidFill>
                <a:latin typeface="Noto Sans" panose="020B0502040504020204" pitchFamily="34" charset="0"/>
                <a:ea typeface="Noto Sans" panose="020B0502040504020204" pitchFamily="34" charset="0"/>
                <a:cs typeface="Noto Sans" panose="020B0502040504020204" pitchFamily="34" charset="0"/>
                <a:hlinkClick r:id="" action="ppaction://noaction">
                  <a:extLst>
                    <a:ext uri="{A12FA001-AC4F-418D-AE19-62706E023703}">
                      <ahyp:hlinkClr xmlns:ahyp="http://schemas.microsoft.com/office/drawing/2018/hyperlinkcolor" val="tx"/>
                    </a:ext>
                  </a:extLst>
                </a:hlinkClick>
              </a:rPr>
              <a:t>codemag.com</a:t>
            </a:r>
            <a:br>
              <a:rPr lang="en-US" sz="1800" dirty="0">
                <a:solidFill>
                  <a:schemeClr val="bg1"/>
                </a:solidFill>
                <a:latin typeface="Noto Sans" panose="020B0502040504020204" pitchFamily="34" charset="0"/>
                <a:ea typeface="Noto Sans" panose="020B0502040504020204" pitchFamily="34" charset="0"/>
                <a:cs typeface="Noto Sans" panose="020B0502040504020204" pitchFamily="34" charset="0"/>
                <a:hlinkClick r:id="" action="ppaction://noaction">
                  <a:extLst>
                    <a:ext uri="{A12FA001-AC4F-418D-AE19-62706E023703}">
                      <ahyp:hlinkClr xmlns:ahyp="http://schemas.microsoft.com/office/drawing/2018/hyperlinkcolor" val="tx"/>
                    </a:ext>
                  </a:extLst>
                </a:hlinkClick>
              </a:rPr>
            </a:br>
            <a:r>
              <a:rPr lang="en-US" sz="1800" dirty="0">
                <a:solidFill>
                  <a:schemeClr val="bg1"/>
                </a:solidFill>
                <a:latin typeface="Noto Sans" panose="020B0502040504020204" pitchFamily="34" charset="0"/>
                <a:ea typeface="Noto Sans" panose="020B0502040504020204" pitchFamily="34" charset="0"/>
                <a:cs typeface="Noto Sans" panose="020B0502040504020204" pitchFamily="34" charset="0"/>
                <a:hlinkClick r:id="rId2">
                  <a:extLst>
                    <a:ext uri="{A12FA001-AC4F-418D-AE19-62706E023703}">
                      <ahyp:hlinkClr xmlns:ahyp="http://schemas.microsoft.com/office/drawing/2018/hyperlinkcolor" val="tx"/>
                    </a:ext>
                  </a:extLst>
                </a:hlinkClick>
              </a:rPr>
              <a:t>info@codemag.com</a:t>
            </a:r>
            <a:br>
              <a:rPr lang="en-US" sz="1800" dirty="0">
                <a:solidFill>
                  <a:schemeClr val="bg1"/>
                </a:solidFill>
                <a:latin typeface="Noto Sans" panose="020B0502040504020204" pitchFamily="34" charset="0"/>
                <a:ea typeface="Noto Sans" panose="020B0502040504020204" pitchFamily="34" charset="0"/>
                <a:cs typeface="Noto Sans" panose="020B0502040504020204" pitchFamily="34" charset="0"/>
              </a:rPr>
            </a:br>
            <a:r>
              <a:rPr lang="en-US" sz="1800" dirty="0">
                <a:solidFill>
                  <a:schemeClr val="bg1"/>
                </a:solidFill>
                <a:latin typeface="Noto Sans" panose="020B0502040504020204" pitchFamily="34" charset="0"/>
                <a:ea typeface="Noto Sans" panose="020B0502040504020204" pitchFamily="34" charset="0"/>
                <a:cs typeface="Noto Sans" panose="020B0502040504020204" pitchFamily="34" charset="0"/>
                <a:hlinkClick r:id="rId3" action="ppaction://hlinkfile">
                  <a:extLst>
                    <a:ext uri="{A12FA001-AC4F-418D-AE19-62706E023703}">
                      <ahyp:hlinkClr xmlns:ahyp="http://schemas.microsoft.com/office/drawing/2018/hyperlinkcolor" val="tx"/>
                    </a:ext>
                  </a:extLst>
                </a:hlinkClick>
              </a:rPr>
              <a:t>facebook.com/codemag</a:t>
            </a:r>
            <a:br>
              <a:rPr lang="en-US" sz="1800" dirty="0">
                <a:solidFill>
                  <a:schemeClr val="bg1"/>
                </a:solidFill>
                <a:latin typeface="Noto Sans" panose="020B0502040504020204" pitchFamily="34" charset="0"/>
                <a:ea typeface="Noto Sans" panose="020B0502040504020204" pitchFamily="34" charset="0"/>
                <a:cs typeface="Noto Sans" panose="020B0502040504020204" pitchFamily="34" charset="0"/>
              </a:rPr>
            </a:br>
            <a:r>
              <a:rPr lang="en-US" sz="1800" dirty="0">
                <a:solidFill>
                  <a:schemeClr val="bg1"/>
                </a:solidFill>
                <a:latin typeface="Noto Sans" panose="020B0502040504020204" pitchFamily="34" charset="0"/>
                <a:ea typeface="Noto Sans" panose="020B0502040504020204" pitchFamily="34" charset="0"/>
                <a:cs typeface="Noto Sans" panose="020B0502040504020204" pitchFamily="34" charset="0"/>
                <a:hlinkClick r:id="rId4" action="ppaction://hlinkfile">
                  <a:extLst>
                    <a:ext uri="{A12FA001-AC4F-418D-AE19-62706E023703}">
                      <ahyp:hlinkClr xmlns:ahyp="http://schemas.microsoft.com/office/drawing/2018/hyperlinkcolor" val="tx"/>
                    </a:ext>
                  </a:extLst>
                </a:hlinkClick>
              </a:rPr>
              <a:t>twitter.com/codemagazine</a:t>
            </a:r>
            <a:endParaRPr lang="en-US" sz="1800" dirty="0">
              <a:solidFill>
                <a:schemeClr val="bg1"/>
              </a:solidFill>
              <a:latin typeface="Noto Sans" panose="020B0502040504020204" pitchFamily="34" charset="0"/>
              <a:ea typeface="Noto Sans" panose="020B0502040504020204" pitchFamily="34" charset="0"/>
              <a:cs typeface="Noto Sans" panose="020B0502040504020204" pitchFamily="34" charset="0"/>
            </a:endParaRPr>
          </a:p>
        </p:txBody>
      </p:sp>
      <p:sp>
        <p:nvSpPr>
          <p:cNvPr id="6" name="Subtitle 2">
            <a:extLst>
              <a:ext uri="{FF2B5EF4-FFF2-40B4-BE49-F238E27FC236}">
                <a16:creationId xmlns:a16="http://schemas.microsoft.com/office/drawing/2014/main" id="{11CE1901-0EE7-2B78-EEE2-58FE6EE08975}"/>
              </a:ext>
            </a:extLst>
          </p:cNvPr>
          <p:cNvSpPr txBox="1">
            <a:spLocks/>
          </p:cNvSpPr>
          <p:nvPr/>
        </p:nvSpPr>
        <p:spPr>
          <a:xfrm>
            <a:off x="6705603" y="4344072"/>
            <a:ext cx="4472447" cy="1864097"/>
          </a:xfrm>
          <a:prstGeom prst="rect">
            <a:avLst/>
          </a:prstGeom>
        </p:spPr>
        <p:txBody>
          <a:bodyPr vert="horz" lIns="91440" tIns="45720" rIns="91440" bIns="45720" rtlCol="0">
            <a:noAutofit/>
          </a:bodyPr>
          <a:lstStyle>
            <a:lvl1pPr marL="228594" indent="-228594" algn="l" defTabSz="914377"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160"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r">
              <a:lnSpc>
                <a:spcPct val="100000"/>
              </a:lnSpc>
              <a:spcAft>
                <a:spcPts val="800"/>
              </a:spcAft>
              <a:buNone/>
            </a:pPr>
            <a:r>
              <a:rPr lang="en-US" sz="1800" b="1" dirty="0">
                <a:solidFill>
                  <a:schemeClr val="bg1"/>
                </a:solidFill>
                <a:latin typeface="Noto Sans" panose="020B0502040504020204" pitchFamily="34" charset="0"/>
                <a:ea typeface="Noto Sans" panose="020B0502040504020204" pitchFamily="34" charset="0"/>
                <a:cs typeface="Noto Sans" panose="020B0502040504020204" pitchFamily="34" charset="0"/>
              </a:rPr>
              <a:t>Presenter Contact</a:t>
            </a:r>
          </a:p>
          <a:p>
            <a:pPr marL="0" indent="0" algn="r">
              <a:lnSpc>
                <a:spcPct val="100000"/>
              </a:lnSpc>
              <a:spcAft>
                <a:spcPts val="800"/>
              </a:spcAft>
              <a:buNone/>
            </a:pPr>
            <a:r>
              <a:rPr lang="en-US" sz="1800" u="sng" dirty="0">
                <a:solidFill>
                  <a:schemeClr val="bg1"/>
                </a:solidFill>
                <a:latin typeface="Noto Sans" panose="020B0502040504020204" pitchFamily="34" charset="0"/>
                <a:ea typeface="Noto Sans" panose="020B0502040504020204" pitchFamily="34" charset="0"/>
                <a:cs typeface="Noto Sans" panose="020B0502040504020204" pitchFamily="34" charset="0"/>
                <a:hlinkClick r:id="rId2">
                  <a:extLst>
                    <a:ext uri="{A12FA001-AC4F-418D-AE19-62706E023703}">
                      <ahyp:hlinkClr xmlns:ahyp="http://schemas.microsoft.com/office/drawing/2018/hyperlinkcolor" val="tx"/>
                    </a:ext>
                  </a:extLst>
                </a:hlinkClick>
              </a:rPr>
              <a:t>markus@codemag.com</a:t>
            </a:r>
            <a:endParaRPr lang="en-US" sz="1800" u="sng" dirty="0">
              <a:solidFill>
                <a:schemeClr val="bg1"/>
              </a:solidFill>
              <a:latin typeface="Noto Sans" panose="020B0502040504020204" pitchFamily="34" charset="0"/>
              <a:ea typeface="Noto Sans" panose="020B0502040504020204" pitchFamily="34" charset="0"/>
              <a:cs typeface="Noto Sans" panose="020B0502040504020204" pitchFamily="34" charset="0"/>
            </a:endParaRPr>
          </a:p>
        </p:txBody>
      </p:sp>
    </p:spTree>
    <p:extLst>
      <p:ext uri="{BB962C8B-B14F-4D97-AF65-F5344CB8AC3E}">
        <p14:creationId xmlns:p14="http://schemas.microsoft.com/office/powerpoint/2010/main" val="799621773"/>
      </p:ext>
    </p:extLst>
  </p:cSld>
  <p:clrMapOvr>
    <a:masterClrMapping/>
  </p:clrMapOvr>
  <p:transition>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Course Modules</a:t>
            </a:r>
          </a:p>
        </p:txBody>
      </p:sp>
      <p:sp>
        <p:nvSpPr>
          <p:cNvPr id="3" name="Content Placeholder 2"/>
          <p:cNvSpPr>
            <a:spLocks noGrp="1"/>
          </p:cNvSpPr>
          <p:nvPr>
            <p:ph idx="1"/>
          </p:nvPr>
        </p:nvSpPr>
        <p:spPr/>
        <p:txBody>
          <a:bodyPr/>
          <a:lstStyle/>
          <a:p/>
          <a:p>
            <a:pPr/>
            <a:r>
              <a:rPr b="1"/>
              <a:t>▶ Intro</a:t>
            </a:r>
          </a:p>
          <a:p>
            <a:pPr/>
            <a:r>
              <a:t>Module 1 - AIASD</a:t>
            </a:r>
          </a:p>
          <a:p>
            <a:pPr/>
            <a:r>
              <a:t>Module 2 - Intro to Copilot</a:t>
            </a:r>
          </a:p>
          <a:p>
            <a:pPr/>
            <a:r>
              <a:t>Module 3 - Vibbing</a:t>
            </a:r>
          </a:p>
          <a:p>
            <a:pPr/>
            <a:r>
              <a:t>Module 4 - Adding AI Guardrails</a:t>
            </a:r>
          </a:p>
          <a:p>
            <a:pPr/>
            <a:r>
              <a:t>Module 5 - Managing Context</a:t>
            </a:r>
          </a:p>
          <a:p>
            <a:pPr/>
            <a:r>
              <a:t>Module 6 - Copilot for Teams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Intro</a:t>
            </a:r>
          </a:p>
        </p:txBody>
      </p:sp>
      <p:sp>
        <p:nvSpPr>
          <p:cNvPr id="3" name="Content Placeholder 2"/>
          <p:cNvSpPr>
            <a:spLocks noGrp="1"/>
          </p:cNvSpPr>
          <p:nvPr>
            <p:ph idx="1"/>
          </p:nvPr>
        </p:nvSpPr>
        <p:spPr/>
        <p:txBody>
          <a:bodyPr/>
          <a:lstStyle/>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Intro</a:t>
            </a:r>
          </a:p>
        </p:txBody>
      </p:sp>
      <p:sp>
        <p:nvSpPr>
          <p:cNvPr id="3" name="Content Placeholder 2"/>
          <p:cNvSpPr>
            <a:spLocks noGrp="1"/>
          </p:cNvSpPr>
          <p:nvPr>
            <p:ph idx="1"/>
          </p:nvPr>
        </p:nvSpPr>
        <p:spPr/>
        <p:txBody>
          <a:bodyPr/>
          <a:lstStyle/>
          <a:p/>
          <a:p>
            <a:pPr/>
            <a:r>
              <a:t>Welcome to AI Assisted Software Development</a:t>
            </a:r>
          </a:p>
          <a:p>
            <a:pPr/>
            <a:r>
              <a:t>John Michael Miller</a:t>
            </a:r>
          </a:p>
          <a:p>
            <a:pPr/>
            <a:r>
              <a:t>Introductions</a:t>
            </a:r>
          </a:p>
          <a:p>
            <a:pPr/>
            <a:r>
              <a:t>About CODE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Welcome to AI Assisted Software Development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John Michael Miller</a:t>
            </a:r>
          </a:p>
        </p:txBody>
      </p:sp>
      <p:sp>
        <p:nvSpPr>
          <p:cNvPr id="3" name="Content Placeholder 2"/>
          <p:cNvSpPr>
            <a:spLocks noGrp="1"/>
          </p:cNvSpPr>
          <p:nvPr>
            <p:ph idx="1"/>
          </p:nvPr>
        </p:nvSpPr>
        <p:spPr/>
        <p:txBody>
          <a:bodyPr/>
          <a:lstStyle/>
          <a:p/>
          <a:p>
            <a:r>
              <a:t>👤 **Principal Software Engineer at CODE**</a:t>
            </a:r>
          </a:p>
          <a:p/>
          <a:p>
            <a:r>
              <a:t>🏢 Played roles of developer, architect, devops engineer, platform engineer, test architect, release manager</a:t>
            </a:r>
          </a:p>
          <a:p/>
          <a:p>
            <a:r>
              <a:t>🤖 AI/ML Enthusiast and advocate for effectively using AI to write code</a:t>
            </a:r>
          </a:p>
          <a:p/>
          <a:p>
            <a:pPr/>
            <a:r>
              <a:t>LinkedIn: [www.linkedin.com/in/johnmichaelmiller](https://www.linkedin.com/in/johnmichaelmiller)</a:t>
            </a:r>
          </a:p>
          <a:p>
            <a:pPr/>
            <a:r>
              <a:t>Email: [john.miller@codemag.com](mailto:john.miller@codemag.com)</a:t>
            </a:r>
          </a:p>
          <a:p>
            <a:pPr/>
            <a:r>
              <a:t>Blog: [codemag.com/blog/AIPractitioner](https://codemag.com/blog/AIPractitioner)</a:t>
            </a:r>
          </a:p>
          <a:p>
            <a:pPr/>
            <a:r>
              <a:t>[AI Practitioner Resources](https://codemag.com/aipractitioner)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Introductions</a:t>
            </a:r>
          </a:p>
        </p:txBody>
      </p:sp>
      <p:sp>
        <p:nvSpPr>
          <p:cNvPr id="3" name="Content Placeholder 2"/>
          <p:cNvSpPr>
            <a:spLocks noGrp="1"/>
          </p:cNvSpPr>
          <p:nvPr>
            <p:ph idx="1"/>
          </p:nvPr>
        </p:nvSpPr>
        <p:spPr/>
        <p:txBody>
          <a:bodyPr/>
          <a:lstStyle/>
          <a:p/>
          <a:p>
            <a:pPr/>
            <a:r>
              <a:t>Who you are</a:t>
            </a:r>
          </a:p>
          <a:p>
            <a:pPr/>
            <a:r>
              <a:t>Who do you work for</a:t>
            </a:r>
          </a:p>
          <a:p>
            <a:pPr/>
            <a:r>
              <a:t>What you do</a:t>
            </a:r>
          </a:p>
          <a:p>
            <a:pPr/>
            <a:r>
              <a:t>What you’ve done with AI tools</a:t>
            </a:r>
          </a:p>
          <a:p>
            <a:pPr/>
            <a:r>
              <a:t>What you want to learn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About CODE</a:t>
            </a:r>
          </a:p>
        </p:txBody>
      </p:sp>
      <p:sp>
        <p:nvSpPr>
          <p:cNvPr id="3" name="Content Placeholder 2"/>
          <p:cNvSpPr>
            <a:spLocks noGrp="1"/>
          </p:cNvSpPr>
          <p:nvPr>
            <p:ph idx="1"/>
          </p:nvPr>
        </p:nvSpPr>
        <p:spPr/>
        <p:txBody>
          <a:bodyPr/>
          <a:lstStyle/>
          <a:p/>
          <a:p>
            <a:r>
              <a:t>![bg contain](images/CODE-Group.png)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Course Modules</a:t>
            </a:r>
          </a:p>
        </p:txBody>
      </p:sp>
      <p:sp>
        <p:nvSpPr>
          <p:cNvPr id="3" name="Content Placeholder 2"/>
          <p:cNvSpPr>
            <a:spLocks noGrp="1"/>
          </p:cNvSpPr>
          <p:nvPr>
            <p:ph idx="1"/>
          </p:nvPr>
        </p:nvSpPr>
        <p:spPr/>
        <p:txBody>
          <a:bodyPr/>
          <a:lstStyle/>
          <a:p/>
          <a:p>
            <a:pPr/>
            <a:r>
              <a:t>Intro</a:t>
            </a:r>
          </a:p>
          <a:p>
            <a:pPr/>
            <a:r>
              <a:rPr b="1"/>
              <a:t>▶ Module 1 - AIASD</a:t>
            </a:r>
          </a:p>
          <a:p>
            <a:pPr/>
            <a:r>
              <a:t>Module 2 - Intro to Copilot</a:t>
            </a:r>
          </a:p>
          <a:p>
            <a:pPr/>
            <a:r>
              <a:t>Module 3 - Vibbing</a:t>
            </a:r>
          </a:p>
          <a:p>
            <a:pPr/>
            <a:r>
              <a:t>Module 4 - Adding AI Guardrails</a:t>
            </a:r>
          </a:p>
          <a:p>
            <a:pPr/>
            <a:r>
              <a:t>Module 5 - Managing Context</a:t>
            </a:r>
          </a:p>
          <a:p>
            <a:pPr/>
            <a:r>
              <a:t>Module 6 - Copilot for Teams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Module 1 - AIASD</a:t>
            </a:r>
          </a:p>
        </p:txBody>
      </p:sp>
      <p:sp>
        <p:nvSpPr>
          <p:cNvPr id="3" name="Content Placeholder 2"/>
          <p:cNvSpPr>
            <a:spLocks noGrp="1"/>
          </p:cNvSpPr>
          <p:nvPr>
            <p:ph idx="1"/>
          </p:nvPr>
        </p:nvSpPr>
        <p:spPr/>
        <p:txBody>
          <a:bodyPr/>
          <a:lstStyle/>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Module 1 - AIASD</a:t>
            </a:r>
          </a:p>
        </p:txBody>
      </p:sp>
      <p:sp>
        <p:nvSpPr>
          <p:cNvPr id="3" name="Content Placeholder 2"/>
          <p:cNvSpPr>
            <a:spLocks noGrp="1"/>
          </p:cNvSpPr>
          <p:nvPr>
            <p:ph idx="1"/>
          </p:nvPr>
        </p:nvSpPr>
        <p:spPr/>
        <p:txBody>
          <a:bodyPr/>
          <a:lstStyle/>
          <a:p/>
          <a:p>
            <a:pPr/>
            <a:r>
              <a:t>WTBD - The Core Thesis</a:t>
            </a:r>
          </a:p>
          <a:p>
            <a:pPr/>
            <a:r>
              <a:t>The AI Revolution?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WTBD - The Core Thesis</a:t>
            </a:r>
          </a:p>
        </p:txBody>
      </p:sp>
      <p:sp>
        <p:nvSpPr>
          <p:cNvPr id="3" name="Content Placeholder 2"/>
          <p:cNvSpPr>
            <a:spLocks noGrp="1"/>
          </p:cNvSpPr>
          <p:nvPr>
            <p:ph idx="1"/>
          </p:nvPr>
        </p:nvSpPr>
        <p:spPr/>
        <p:txBody>
          <a:bodyPr/>
          <a:lstStyle/>
          <a:p/>
          <a:p>
            <a:r>
              <a:t>&lt;!-- _class: lead --&gt;</a:t>
            </a:r>
          </a:p>
          <a:p/>
          <a:p/>
          <a:p>
            <a:r>
              <a:t>&gt; "Programming hasn't changed, but how we go about it has changed, again."</a:t>
            </a:r>
          </a:p>
          <a:p/>
          <a:p>
            <a:pPr/>
            <a:r>
              <a:t>AI-assisted development is **evolutionary**, not revolutionary</a:t>
            </a:r>
          </a:p>
          <a:p>
            <a:pPr/>
            <a:r>
              <a:t>Programming has always been about **expressing human intent** to machines</a:t>
            </a:r>
          </a:p>
          <a:p>
            <a:pPr/>
            <a:r>
              <a:t>What changes is the **sophistication of our tools** for expressing intent</a:t>
            </a:r>
          </a:p>
          <a:p>
            <a:pPr/>
            <a:r>
              <a:t>The essence remains: bridging the gap between what we want and what machines can do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 Brief History: Machine Code &amp; Assembly (1940s)</a:t>
            </a:r>
          </a:p>
        </p:txBody>
      </p:sp>
      <p:sp>
        <p:nvSpPr>
          <p:cNvPr id="3" name="Content Placeholder 2"/>
          <p:cNvSpPr>
            <a:spLocks noGrp="1"/>
          </p:cNvSpPr>
          <p:nvPr>
            <p:ph idx="1"/>
          </p:nvPr>
        </p:nvSpPr>
        <p:spPr/>
        <p:txBody>
          <a:bodyPr/>
          <a:lstStyle/>
          <a:p/>
          <a:p>
            <a:pPr/>
            <a:r>
              <a:t>**Machine Code**: Raw binary language executed directly by hardware</a:t>
            </a:r>
          </a:p>
          <a:p>
            <a:pPr/>
            <a:r>
              <a:t>**Physical Programming**:</a:t>
            </a:r>
          </a:p>
          <a:p>
            <a:r>
              <a:t>  - Flipping panel switches</a:t>
            </a:r>
          </a:p>
          <a:p>
            <a:r>
              <a:t>  - Plugging cables</a:t>
            </a:r>
          </a:p>
          <a:p>
            <a:r>
              <a:t>  - Feeding punched cards into IBM readers</a:t>
            </a:r>
          </a:p>
          <a:p>
            <a:r>
              <a:t>  - Threading perforated paper tape</a:t>
            </a:r>
          </a:p>
          <a:p/>
          <a:p>
            <a:r>
              <a:t>**Assembly Language**: Introduced symbolic mnemonics (MOV, ADD, JMP)</a:t>
            </a:r>
          </a:p>
          <a:p/>
          <a:p>
            <a:pPr/>
            <a:r>
              <a:t>**Enabling Technology**: Assemblers that translated mnemonics into machine code</a:t>
            </a:r>
          </a:p>
          <a:p>
            <a:pPr/>
            <a:r>
              <a:t>Still mainstream today in embedded systems and OS kernels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High-Level Languages (1950s-1970s)</a:t>
            </a:r>
          </a:p>
        </p:txBody>
      </p:sp>
      <p:sp>
        <p:nvSpPr>
          <p:cNvPr id="3" name="Content Placeholder 2"/>
          <p:cNvSpPr>
            <a:spLocks noGrp="1"/>
          </p:cNvSpPr>
          <p:nvPr>
            <p:ph idx="1"/>
          </p:nvPr>
        </p:nvSpPr>
        <p:spPr/>
        <p:txBody>
          <a:bodyPr/>
          <a:lstStyle/>
          <a:p/>
          <a:p>
            <a:r>
              <a:t>**The Abstraction Revolution**:</a:t>
            </a:r>
          </a:p>
          <a:p/>
          <a:p>
            <a:pPr/>
            <a:r>
              <a:t>Math-like and business-oriented syntax</a:t>
            </a:r>
          </a:p>
          <a:p>
            <a:pPr/>
            <a:r>
              <a:t>**Enabling Technologies**: Compilers and interpreters</a:t>
            </a:r>
          </a:p>
          <a:p/>
          <a:p>
            <a:r>
              <a:t>**Key Languages**:</a:t>
            </a:r>
          </a:p>
          <a:p/>
          <a:p>
            <a:pPr/>
            <a:r>
              <a:t>**FORTRAN (1957)**: Pioneered scientific programming</a:t>
            </a:r>
          </a:p>
          <a:p>
            <a:pPr/>
            <a:r>
              <a:t>**COBOL (1959)**: Mainstream in business and government</a:t>
            </a:r>
          </a:p>
          <a:p>
            <a:pPr/>
            <a:r>
              <a:t>**C (1972)**: Spread with UNIX thanks to portable compilers</a:t>
            </a:r>
          </a:p>
          <a:p/>
          <a:p>
            <a:r>
              <a:t>**Sensory Shift**: From mechanical card punches to typewriter-style terminals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Structured &amp; Object-Oriented Programming (1970s-1980s)</a:t>
            </a:r>
          </a:p>
        </p:txBody>
      </p:sp>
      <p:sp>
        <p:nvSpPr>
          <p:cNvPr id="3" name="Content Placeholder 2"/>
          <p:cNvSpPr>
            <a:spLocks noGrp="1"/>
          </p:cNvSpPr>
          <p:nvPr>
            <p:ph idx="1"/>
          </p:nvPr>
        </p:nvSpPr>
        <p:spPr/>
        <p:txBody>
          <a:bodyPr/>
          <a:lstStyle/>
          <a:p/>
          <a:p>
            <a:r>
              <a:t>**Focus**: Modularity, reuse, and abstraction</a:t>
            </a:r>
          </a:p>
          <a:p/>
          <a:p>
            <a:r>
              <a:t>**Key Developments**:</a:t>
            </a:r>
          </a:p>
          <a:p/>
          <a:p>
            <a:pPr/>
            <a:r>
              <a:t>**Pascal (1970)**: Structured paradigms with compiler innovations</a:t>
            </a:r>
          </a:p>
          <a:p>
            <a:pPr/>
            <a:r>
              <a:t>**C++ (1985)**: Object-oriented compilers supporting inheritance and polymorphism</a:t>
            </a:r>
          </a:p>
          <a:p/>
          <a:p>
            <a:r>
              <a:t>**Enabling Technologies**:</a:t>
            </a:r>
          </a:p>
          <a:p/>
          <a:p>
            <a:pPr/>
            <a:r>
              <a:t>Advanced compiler innovations</a:t>
            </a:r>
          </a:p>
          <a:p>
            <a:pPr/>
            <a:r>
              <a:t>Support for inheritance and polymorphism</a:t>
            </a:r>
          </a:p>
          <a:p/>
          <a:p>
            <a:r>
              <a:t>**Era Experience**: CRT monitors with green text, floppy disks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IDEs &amp; Libraries (1990s)</a:t>
            </a:r>
          </a:p>
        </p:txBody>
      </p:sp>
      <p:sp>
        <p:nvSpPr>
          <p:cNvPr id="3" name="Content Placeholder 2"/>
          <p:cNvSpPr>
            <a:spLocks noGrp="1"/>
          </p:cNvSpPr>
          <p:nvPr>
            <p:ph idx="1"/>
          </p:nvPr>
        </p:nvSpPr>
        <p:spPr/>
        <p:txBody>
          <a:bodyPr/>
          <a:lstStyle/>
          <a:p/>
          <a:p>
            <a:r>
              <a:t>**The Integration Era**:</a:t>
            </a:r>
          </a:p>
          <a:p/>
          <a:p>
            <a:pPr/>
            <a:r>
              <a:t>**IDEs**: Combined compilers, debuggers, and editors in graphical interfaces</a:t>
            </a:r>
          </a:p>
          <a:p>
            <a:pPr/>
            <a:r>
              <a:t>**Visual Studio**: Enabled by faster processors and GUI toolkits</a:t>
            </a:r>
          </a:p>
          <a:p>
            <a:pPr/>
            <a:r>
              <a:t>**Java &amp; JVM (1995)**: "Write once, run anywhere"</a:t>
            </a:r>
          </a:p>
          <a:p>
            <a:pPr/>
            <a:r>
              <a:t>**Reusable Libraries**: Abstracted common functionality</a:t>
            </a:r>
          </a:p>
          <a:p/>
          <a:p>
            <a:r>
              <a:t>**Enabling Technologies**:</a:t>
            </a:r>
          </a:p>
          <a:p/>
          <a:p>
            <a:pPr/>
            <a:r>
              <a:t>Faster processors, GUI toolkits, extensible plug-in architectures</a:t>
            </a:r>
          </a:p>
          <a:p>
            <a:pPr/>
            <a:r>
              <a:t>Virtual machines</a:t>
            </a:r>
          </a:p>
          <a:p/>
          <a:p>
            <a:r>
              <a:t>**Experience**: Mouse clicks, drag-and-drop, desktop computing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Web &amp; Scripting Languages (Late 1990s-2000s)</a:t>
            </a:r>
          </a:p>
        </p:txBody>
      </p:sp>
      <p:sp>
        <p:nvSpPr>
          <p:cNvPr id="3" name="Content Placeholder 2"/>
          <p:cNvSpPr>
            <a:spLocks noGrp="1"/>
          </p:cNvSpPr>
          <p:nvPr>
            <p:ph idx="1"/>
          </p:nvPr>
        </p:nvSpPr>
        <p:spPr/>
        <p:txBody>
          <a:bodyPr/>
          <a:lstStyle/>
          <a:p/>
          <a:p>
            <a:r>
              <a:t>**The Dynamic Web Era**:</a:t>
            </a:r>
          </a:p>
          <a:p/>
          <a:p>
            <a:pPr/>
            <a:r>
              <a:t>**JavaScript (1995)**: Powered by Netscape, later V8 engine (2008)</a:t>
            </a:r>
          </a:p>
          <a:p>
            <a:pPr/>
            <a:r>
              <a:t>**Python**: Web development in 2000s, data science dominance</a:t>
            </a:r>
          </a:p>
          <a:p>
            <a:pPr/>
            <a:r>
              <a:t>**Ruby on Rails (2004)**: Abstracted web complexity</a:t>
            </a:r>
          </a:p>
          <a:p/>
          <a:p>
            <a:r>
              <a:t>**Enabling Technologies**:</a:t>
            </a:r>
          </a:p>
          <a:p/>
          <a:p>
            <a:pPr/>
            <a:r>
              <a:t>Browser engines, dynamic interpreters, frameworks</a:t>
            </a:r>
          </a:p>
          <a:p>
            <a:pPr/>
            <a:r>
              <a:t>Eclipse IDE (2001)</a:t>
            </a:r>
          </a:p>
          <a:p/>
          <a:p>
            <a:r>
              <a:t>**Experience**: Portable coding on laptops, coffee shop programming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Cloud, APIs &amp; Low-Code Platforms (2010s)</a:t>
            </a:r>
          </a:p>
        </p:txBody>
      </p:sp>
      <p:sp>
        <p:nvSpPr>
          <p:cNvPr id="3" name="Content Placeholder 2"/>
          <p:cNvSpPr>
            <a:spLocks noGrp="1"/>
          </p:cNvSpPr>
          <p:nvPr>
            <p:ph idx="1"/>
          </p:nvPr>
        </p:nvSpPr>
        <p:spPr/>
        <p:txBody>
          <a:bodyPr/>
          <a:lstStyle/>
          <a:p/>
          <a:p>
            <a:r>
              <a:t>**The Orchestration Era**:</a:t>
            </a:r>
          </a:p>
          <a:p/>
          <a:p>
            <a:pPr/>
            <a:r>
              <a:t>**Cloud Computing**: Virtualization and containerization (Docker, Kubernetes)</a:t>
            </a:r>
          </a:p>
          <a:p>
            <a:pPr/>
            <a:r>
              <a:t>**APIs**: REST and GraphQL enabled modular integration</a:t>
            </a:r>
          </a:p>
          <a:p>
            <a:pPr/>
            <a:r>
              <a:t>**Low-Code Platforms**: Mendix, OutSystems, PowerApps with visual compilers</a:t>
            </a:r>
          </a:p>
          <a:p/>
          <a:p>
            <a:r>
              <a:t>**Transformation**: Programming shifted from hardware-bound tasks to orchestration</a:t>
            </a:r>
          </a:p>
          <a:p/>
          <a:p>
            <a:r>
              <a:t>**Experience**: Browser dashboards, swiping, clicking, dragging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Modern Mainstream Coding Experience</a:t>
            </a:r>
          </a:p>
        </p:txBody>
      </p:sp>
      <p:sp>
        <p:nvSpPr>
          <p:cNvPr id="3" name="Content Placeholder 2"/>
          <p:cNvSpPr>
            <a:spLocks noGrp="1"/>
          </p:cNvSpPr>
          <p:nvPr>
            <p:ph idx="1"/>
          </p:nvPr>
        </p:nvSpPr>
        <p:spPr/>
        <p:txBody>
          <a:bodyPr/>
          <a:lstStyle/>
          <a:p/>
          <a:p>
            <a:r>
              <a:t>**Intent Interpretation**:</a:t>
            </a:r>
          </a:p>
          <a:p/>
          <a:p>
            <a:pPr/>
            <a:r>
              <a:t>Developers express intent in higher-level languages, frameworks, and APIs</a:t>
            </a:r>
          </a:p>
          <a:p>
            <a:pPr/>
            <a:r>
              <a:t>Compilers, interpreters, and VMs translate intent into executable code</a:t>
            </a:r>
          </a:p>
          <a:p>
            <a:pPr/>
            <a:r>
              <a:t>Libraries and cloud services provide ready-made building blocks</a:t>
            </a:r>
          </a:p>
          <a:p>
            <a:pPr/>
            <a:r>
              <a:t>Less about micromanaging hardware, more about shaping logic and workflows</a:t>
            </a:r>
          </a:p>
          <a:p/>
          <a:p>
            <a:r>
              <a:t>**The Core**: Bridging human goals with machine execution through layers of abstraction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AI-Assisted Coding (Present/Future)</a:t>
            </a:r>
          </a:p>
        </p:txBody>
      </p:sp>
      <p:sp>
        <p:nvSpPr>
          <p:cNvPr id="3" name="Content Placeholder 2"/>
          <p:cNvSpPr>
            <a:spLocks noGrp="1"/>
          </p:cNvSpPr>
          <p:nvPr>
            <p:ph idx="1"/>
          </p:nvPr>
        </p:nvSpPr>
        <p:spPr/>
        <p:txBody>
          <a:bodyPr/>
          <a:lstStyle/>
          <a:p/>
          <a:p>
            <a:r>
              <a:t>**The Natural Language Era**:</a:t>
            </a:r>
          </a:p>
          <a:p/>
          <a:p>
            <a:r>
              <a:t>**Enabling Technologies**:</a:t>
            </a:r>
          </a:p>
          <a:p/>
          <a:p>
            <a:pPr/>
            <a:r>
              <a:t>Large language models trained on vast code repositories</a:t>
            </a:r>
          </a:p>
          <a:p>
            <a:pPr/>
            <a:r>
              <a:t>Contextual intent recognition</a:t>
            </a:r>
          </a:p>
          <a:p>
            <a:pPr/>
            <a:r>
              <a:t>IDE integration</a:t>
            </a:r>
          </a:p>
          <a:p/>
          <a:p>
            <a:r>
              <a:t>**The Paradigm Shift**: Programming becomes **dialogue**</a:t>
            </a:r>
          </a:p>
          <a:p/>
          <a:p>
            <a:pPr/>
            <a:r>
              <a:t>Express goals in plain language</a:t>
            </a:r>
          </a:p>
          <a:p>
            <a:pPr/>
            <a:r>
              <a:t>AI generates code, tests, and documentation</a:t>
            </a:r>
          </a:p>
          <a:p>
            <a:pPr/>
            <a:r>
              <a:t>Example: "Create a function that validates email addresses" → Complete implementation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Natural Language Coding: The Game Changer</a:t>
            </a:r>
          </a:p>
        </p:txBody>
      </p:sp>
      <p:sp>
        <p:nvSpPr>
          <p:cNvPr id="3" name="Content Placeholder 2"/>
          <p:cNvSpPr>
            <a:spLocks noGrp="1"/>
          </p:cNvSpPr>
          <p:nvPr>
            <p:ph idx="1"/>
          </p:nvPr>
        </p:nvSpPr>
        <p:spPr/>
        <p:txBody>
          <a:bodyPr/>
          <a:lstStyle/>
          <a:p/>
          <a:p>
            <a:r>
              <a:t>**Responsibility Shift**:</a:t>
            </a:r>
          </a:p>
          <a:p/>
          <a:p>
            <a:pPr/>
            <a:r>
              <a:t>Previously: Coder translates intent into executable code</a:t>
            </a:r>
          </a:p>
          <a:p>
            <a:pPr/>
            <a:r>
              <a:t>Now: Intent expressed in natural language, AI interprets and generates</a:t>
            </a:r>
          </a:p>
          <a:p/>
          <a:p>
            <a:r>
              <a:t>**New Role of Programmer**:</a:t>
            </a:r>
          </a:p>
          <a:p/>
          <a:p>
            <a:pPr/>
            <a:r>
              <a:t>**Curator of context**</a:t>
            </a:r>
          </a:p>
          <a:p>
            <a:pPr/>
            <a:r>
              <a:t>**Validator of output**</a:t>
            </a:r>
          </a:p>
          <a:p>
            <a:pPr/>
            <a:r>
              <a:t>**Steward of alignment** between human goals and machine behavior</a:t>
            </a:r>
          </a:p>
          <a:p/>
          <a:p>
            <a:r>
              <a:t>**Boundary Movement**: Between domain expertise and implementation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 Understands Intent—Not Just Commands</a:t>
            </a:r>
          </a:p>
        </p:txBody>
      </p:sp>
      <p:sp>
        <p:nvSpPr>
          <p:cNvPr id="3" name="Content Placeholder 2"/>
          <p:cNvSpPr>
            <a:spLocks noGrp="1"/>
          </p:cNvSpPr>
          <p:nvPr>
            <p:ph idx="1"/>
          </p:nvPr>
        </p:nvSpPr>
        <p:spPr/>
        <p:txBody>
          <a:bodyPr/>
          <a:lstStyle/>
          <a:p/>
          <a:p>
            <a:r>
              <a:t>**Beyond Parsing**: AI understands what you mean</a:t>
            </a:r>
          </a:p>
          <a:p/>
          <a:p>
            <a:pPr/>
            <a:r>
              <a:t>"Make this faster" → Performance optimizations</a:t>
            </a:r>
          </a:p>
          <a:p>
            <a:pPr/>
            <a:r>
              <a:t>"Add error handling" → Proper exception management</a:t>
            </a:r>
          </a:p>
          <a:p>
            <a:pPr/>
            <a:r>
              <a:t>"Log the output" → Appropriate logging implementation</a:t>
            </a:r>
          </a:p>
          <a:p/>
          <a:p>
            <a:r>
              <a:t>**New Interaction Modes**:</a:t>
            </a:r>
          </a:p>
          <a:p/>
          <a:p>
            <a:pPr/>
            <a:r>
              <a:t>Sketches and examples as expressions of intent</a:t>
            </a:r>
          </a:p>
          <a:p>
            <a:pPr/>
            <a:r>
              <a:t>Test cases and bug reports → Code generation</a:t>
            </a:r>
          </a:p>
          <a:p>
            <a:pPr/>
            <a:r>
              <a:t>Conversational iteration like human collaboration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It's Just Another Tool</a:t>
            </a:r>
          </a:p>
        </p:txBody>
      </p:sp>
      <p:sp>
        <p:nvSpPr>
          <p:cNvPr id="3" name="Content Placeholder 2"/>
          <p:cNvSpPr>
            <a:spLocks noGrp="1"/>
          </p:cNvSpPr>
          <p:nvPr>
            <p:ph idx="1"/>
          </p:nvPr>
        </p:nvSpPr>
        <p:spPr/>
        <p:txBody>
          <a:bodyPr/>
          <a:lstStyle/>
          <a:p/>
          <a:p>
            <a:r>
              <a:t>**Historical Perspective**:</a:t>
            </a:r>
          </a:p>
          <a:p/>
          <a:p>
            <a:pPr/>
            <a:r>
              <a:t>**IDEs**: Auto-complete and debugging</a:t>
            </a:r>
          </a:p>
          <a:p>
            <a:pPr/>
            <a:r>
              <a:t>**Libraries**: Reusable components</a:t>
            </a:r>
          </a:p>
          <a:p>
            <a:pPr/>
            <a:r>
              <a:t>**AI**: Intelligent scaffolding, pattern recognition, code generation</a:t>
            </a:r>
          </a:p>
          <a:p/>
          <a:p>
            <a:r>
              <a:t>**Reality Check**:</a:t>
            </a:r>
          </a:p>
          <a:p/>
          <a:p>
            <a:pPr/>
            <a:r>
              <a:t>AI is not replacing developers</a:t>
            </a:r>
          </a:p>
          <a:p>
            <a:pPr/>
            <a:r>
              <a:t>It's helping them move faster and think bigger</a:t>
            </a:r>
          </a:p>
          <a:p>
            <a:pPr/>
            <a:r>
              <a:t>Following the same pattern as previous innovations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Verification Still Matters</a:t>
            </a:r>
          </a:p>
        </p:txBody>
      </p:sp>
      <p:sp>
        <p:nvSpPr>
          <p:cNvPr id="3" name="Content Placeholder 2"/>
          <p:cNvSpPr>
            <a:spLocks noGrp="1"/>
          </p:cNvSpPr>
          <p:nvPr>
            <p:ph idx="1"/>
          </p:nvPr>
        </p:nvSpPr>
        <p:spPr/>
        <p:txBody>
          <a:bodyPr/>
          <a:lstStyle/>
          <a:p/>
          <a:p>
            <a:r>
              <a:t>**Unchanged Responsibilities**:</a:t>
            </a:r>
          </a:p>
          <a:p/>
          <a:p>
            <a:pPr/>
            <a:r>
              <a:t>**Testing, review, and validation** still required</a:t>
            </a:r>
          </a:p>
          <a:p>
            <a:pPr/>
            <a:r>
              <a:t>**Architecture, correctness, security, ethics** remain developer duties</a:t>
            </a:r>
          </a:p>
          <a:p>
            <a:pPr/>
            <a:r>
              <a:t>Critical thinking is still essential</a:t>
            </a:r>
          </a:p>
          <a:p/>
          <a:p>
            <a:r>
              <a:t>**What Changed**: How we express our goals</a:t>
            </a:r>
          </a:p>
          <a:p>
            <a:r>
              <a:t>**What Didn't Change**: Whether we need to think critically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Future Is Still Intent-Driven Development</a:t>
            </a:r>
          </a:p>
        </p:txBody>
      </p:sp>
      <p:sp>
        <p:nvSpPr>
          <p:cNvPr id="3" name="Content Placeholder 2"/>
          <p:cNvSpPr>
            <a:spLocks noGrp="1"/>
          </p:cNvSpPr>
          <p:nvPr>
            <p:ph idx="1"/>
          </p:nvPr>
        </p:nvSpPr>
        <p:spPr/>
        <p:txBody>
          <a:bodyPr/>
          <a:lstStyle/>
          <a:p/>
          <a:p>
            <a:r>
              <a:t>**Continuity**:</a:t>
            </a:r>
          </a:p>
          <a:p/>
          <a:p>
            <a:pPr/>
            <a:r>
              <a:t>Core goal remains: getting computers to do what we need</a:t>
            </a:r>
          </a:p>
          <a:p>
            <a:pPr/>
            <a:r>
              <a:t>Instead of writing/debugging code → creating prompts and refining context</a:t>
            </a:r>
          </a:p>
          <a:p>
            <a:pPr/>
            <a:r>
              <a:t>Same learning curve pattern as all previous improvements</a:t>
            </a:r>
          </a:p>
          <a:p/>
          <a:p>
            <a:r>
              <a:t>**Essential Truth**: AI assistance is just another improvement in the long line of programming evolution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Conclusion</a:t>
            </a:r>
          </a:p>
        </p:txBody>
      </p:sp>
      <p:sp>
        <p:nvSpPr>
          <p:cNvPr id="3" name="Content Placeholder 2"/>
          <p:cNvSpPr>
            <a:spLocks noGrp="1"/>
          </p:cNvSpPr>
          <p:nvPr>
            <p:ph idx="1"/>
          </p:nvPr>
        </p:nvSpPr>
        <p:spPr/>
        <p:txBody>
          <a:bodyPr/>
          <a:lstStyle/>
          <a:p/>
          <a:p>
            <a:r>
              <a:t>**The Fundamental Truth**:</a:t>
            </a:r>
          </a:p>
          <a:p/>
          <a:p>
            <a:pPr/>
            <a:r>
              <a:t>Programming has **always** been about translating human intent into machine action</a:t>
            </a:r>
          </a:p>
          <a:p>
            <a:pPr/>
            <a:r>
              <a:t>From punch cards to Python to AI prompts—the core challenge remains unchanged</a:t>
            </a:r>
          </a:p>
          <a:p>
            <a:pPr/>
            <a:r>
              <a:t>What evolves is not the essence of programming, but the sophistication of our tools</a:t>
            </a:r>
          </a:p>
          <a:p/>
          <a:p>
            <a:r>
              <a:t>**AI's Role**:</a:t>
            </a:r>
          </a:p>
          <a:p/>
          <a:p>
            <a:pPr/>
            <a:r>
              <a:t>Latest chapter in the ongoing story</a:t>
            </a:r>
          </a:p>
          <a:p>
            <a:pPr/>
            <a:r>
              <a:t>More intuitive ways to communicate with computers</a:t>
            </a:r>
          </a:p>
          <a:p>
            <a:pPr/>
            <a:r>
              <a:t>Preserves essential human responsibilities: design, validation, ethical oversight</a:t>
            </a:r>
          </a:p>
          <a:p/>
          <a:p>
            <a:r>
              <a:t>**The Future**: Not abandoning programming, but refining it—making it more accessible and efficient while keeping human creativity and judgment at the center.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AI Revolution?</a:t>
            </a:r>
          </a:p>
        </p:txBody>
      </p:sp>
      <p:sp>
        <p:nvSpPr>
          <p:cNvPr id="3" name="Content Placeholder 2"/>
          <p:cNvSpPr>
            <a:spLocks noGrp="1"/>
          </p:cNvSpPr>
          <p:nvPr>
            <p:ph idx="1"/>
          </p:nvPr>
        </p:nvSpPr>
        <p:spPr/>
        <p:txBody>
          <a:bodyPr/>
          <a:lstStyle/>
          <a:p/>
          <a:p>
            <a:r>
              <a:t>What hasn't changed and what has.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AI Revolution</a:t>
            </a:r>
          </a:p>
        </p:txBody>
      </p:sp>
      <p:sp>
        <p:nvSpPr>
          <p:cNvPr id="3" name="Content Placeholder 2"/>
          <p:cNvSpPr>
            <a:spLocks noGrp="1"/>
          </p:cNvSpPr>
          <p:nvPr>
            <p:ph idx="1"/>
          </p:nvPr>
        </p:nvSpPr>
        <p:spPr/>
        <p:txBody>
          <a:bodyPr/>
          <a:lstStyle/>
          <a:p/>
          <a:p>
            <a:r>
              <a:t>“Programming hasn’t changed, but how we go about it has changed, again.”</a:t>
            </a:r>
          </a:p>
          <a:p>
            <a:r>
              <a:t>AI-assisted development is evolutionary, not revolutionary</a:t>
            </a:r>
          </a:p>
          <a:p>
            <a:r>
              <a:t>Programming has always been about expressing human intent to machines</a:t>
            </a:r>
          </a:p>
          <a:p>
            <a:r>
              <a:t>What changes is the sophistication of our tools for expressing intent</a:t>
            </a:r>
          </a:p>
          <a:p>
            <a:r>
              <a:t>The essence remains: bridging the gap between what we want and what machines can do</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AI Assisted Software Development</a:t>
            </a:r>
          </a:p>
        </p:txBody>
      </p:sp>
      <p:sp>
        <p:nvSpPr>
          <p:cNvPr id="3" name="Content Placeholder 2"/>
          <p:cNvSpPr>
            <a:spLocks noGrp="1"/>
          </p:cNvSpPr>
          <p:nvPr>
            <p:ph idx="1"/>
          </p:nvPr>
        </p:nvSpPr>
        <p:spPr/>
        <p:txBody>
          <a:bodyPr/>
          <a:lstStyle/>
          <a:p/>
          <a:p>
            <a:r>
              <a:t>If used effectively, it will give you superpowers</a:t>
            </a:r>
          </a:p>
          <a:p/>
          <a:p>
            <a:pPr/>
            <a:r>
              <a:t>The courage to</a:t>
            </a:r>
          </a:p>
          <a:p>
            <a:r>
              <a:t>  - Take on codebases that few would touch</a:t>
            </a:r>
          </a:p>
          <a:p>
            <a:r>
              <a:t>  - Use technologies you should know but don’t</a:t>
            </a:r>
          </a:p>
          <a:p>
            <a:r>
              <a:t>  - Write more high-quality code than you have ever written before</a:t>
            </a:r>
          </a:p>
          <a:p>
            <a:r>
              <a:t>  - Take on the nice to haves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AI‑First &amp; Prompt‑First</a:t>
            </a:r>
          </a:p>
        </p:txBody>
      </p:sp>
      <p:sp>
        <p:nvSpPr>
          <p:cNvPr id="3" name="Content Placeholder 2"/>
          <p:cNvSpPr>
            <a:spLocks noGrp="1"/>
          </p:cNvSpPr>
          <p:nvPr>
            <p:ph idx="1"/>
          </p:nvPr>
        </p:nvSpPr>
        <p:spPr/>
        <p:txBody>
          <a:bodyPr/>
          <a:lstStyle/>
          <a:p/>
          <a:p>
            <a:r>
              <a:t>AI‑First Development</a:t>
            </a:r>
          </a:p>
          <a:p>
            <a:r>
              <a:t>A software engineering philosophy where AI is embedded across the entire SDLC–requirements, design, implementation, testing, documentation, compliance, and maintenance.</a:t>
            </a:r>
          </a:p>
          <a:p>
            <a:r>
              <a:t>Prompt‑First Development</a:t>
            </a:r>
          </a:p>
          <a:p>
            <a:r>
              <a:t>A workflow pattern where prompts, instruction files, and chat modes are treated as first‑class, version‑controlled artifacts.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Each Optimizes For</a:t>
            </a:r>
          </a:p>
        </p:txBody>
      </p:sp>
      <p:sp>
        <p:nvSpPr>
          <p:cNvPr id="3" name="Content Placeholder 2"/>
          <p:cNvSpPr>
            <a:spLocks noGrp="1"/>
          </p:cNvSpPr>
          <p:nvPr>
            <p:ph idx="1"/>
          </p:nvPr>
        </p:nvSpPr>
        <p:spPr/>
        <p:txBody>
          <a:bodyPr/>
          <a:lstStyle/>
          <a:p/>
          <a:p>
            <a:r>
              <a:t>| Focus Area    | AI‑First                  | Prompt‑First                       |</a:t>
            </a:r>
          </a:p>
          <a:p>
            <a:r>
              <a:t>| ------------- | ------------------------- | ---------------------------------- |</a:t>
            </a:r>
          </a:p>
          <a:p>
            <a:r>
              <a:t>| Scope         | Entire SDLC               | Interaction layer                  |</a:t>
            </a:r>
          </a:p>
          <a:p>
            <a:r>
              <a:t>| Goal          | Lifecycle integration     | Deterministic AI behavior          |</a:t>
            </a:r>
          </a:p>
          <a:p>
            <a:r>
              <a:t>| Optimization  | Velocity, governance      | Prompt quality, reproducibility    |</a:t>
            </a:r>
          </a:p>
          <a:p>
            <a:r>
              <a:t>| Risk Controls | Human‑in‑loop, provenance | Versioned prompts, context control |</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They Treat Artifacts</a:t>
            </a:r>
          </a:p>
        </p:txBody>
      </p:sp>
      <p:sp>
        <p:nvSpPr>
          <p:cNvPr id="3" name="Content Placeholder 2"/>
          <p:cNvSpPr>
            <a:spLocks noGrp="1"/>
          </p:cNvSpPr>
          <p:nvPr>
            <p:ph idx="1"/>
          </p:nvPr>
        </p:nvSpPr>
        <p:spPr/>
        <p:txBody>
          <a:bodyPr/>
          <a:lstStyle/>
          <a:p/>
          <a:p>
            <a:r>
              <a:t>AI‑First</a:t>
            </a:r>
          </a:p>
          <a:p>
            <a:r>
              <a:t>Requirements written with AI collaboration in mind</a:t>
            </a:r>
          </a:p>
          <a:p>
            <a:r>
              <a:t>AI‑generated scaffolds, tests, docs</a:t>
            </a:r>
          </a:p>
          <a:p>
            <a:r>
              <a:t>Provenance enforced across all AI outputs</a:t>
            </a:r>
          </a:p>
          <a:p>
            <a:r>
              <a:t>Architecture assumes AI participation</a:t>
            </a:r>
          </a:p>
          <a:p>
            <a:r>
              <a:t>Prompt‑First</a:t>
            </a:r>
          </a:p>
          <a:p>
            <a:r>
              <a:t>Prompts and instruction files are version‑controlled</a:t>
            </a:r>
          </a:p>
          <a:p>
            <a:r>
              <a:t>Prompts define behavioral contracts</a:t>
            </a:r>
          </a:p>
          <a:p>
            <a:r>
              <a:t>Reusable prompt modules</a:t>
            </a:r>
          </a:p>
          <a:p>
            <a:r>
              <a:t>Chat modes define safe, predictable interactions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Relationship Between the Two</a:t>
            </a:r>
          </a:p>
        </p:txBody>
      </p:sp>
      <p:sp>
        <p:nvSpPr>
          <p:cNvPr id="3" name="Content Placeholder 2"/>
          <p:cNvSpPr>
            <a:spLocks noGrp="1"/>
          </p:cNvSpPr>
          <p:nvPr>
            <p:ph idx="1"/>
          </p:nvPr>
        </p:nvSpPr>
        <p:spPr/>
        <p:txBody>
          <a:bodyPr/>
          <a:lstStyle/>
          <a:p/>
          <a:p>
            <a:r>
              <a:t>Prompt‑First is a subset of AI‑First.</a:t>
            </a:r>
          </a:p>
          <a:p>
            <a:r>
              <a:t>Prompt‑First = mechanics</a:t>
            </a:r>
          </a:p>
          <a:p>
            <a:r>
              <a:t>AI‑First = philosophy + architecture + lifecycle integration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 First Software Development</a:t>
            </a:r>
          </a:p>
        </p:txBody>
      </p:sp>
      <p:sp>
        <p:nvSpPr>
          <p:cNvPr id="3" name="Content Placeholder 2"/>
          <p:cNvSpPr>
            <a:spLocks noGrp="1"/>
          </p:cNvSpPr>
          <p:nvPr>
            <p:ph idx="1"/>
          </p:nvPr>
        </p:nvSpPr>
        <p:spPr/>
        <p:txBody>
          <a:bodyPr/>
          <a:lstStyle/>
          <a:p/>
          <a:p>
            <a:r>
              <a:t>Building software where AI is a core capability, not an add‑on</a:t>
            </a:r>
          </a:p>
          <a:p>
            <a:r>
              <a:t>Why AI‑First</a:t>
            </a:r>
          </a:p>
          <a:p/>
          <a:p>
            <a:pPr/>
            <a:r>
              <a:t>Software requirements increasingly expressed in natural language</a:t>
            </a:r>
          </a:p>
          <a:p>
            <a:pPr/>
            <a:r>
              <a:t>AI copilots accelerate architecture, coding, testing, and documentation</a:t>
            </a:r>
          </a:p>
          <a:p>
            <a:pPr/>
            <a:r>
              <a:t>Teams shift from “writing code” to “designing intent + validating outputs”</a:t>
            </a:r>
          </a:p>
          <a:p>
            <a:r>
              <a:t>  Core Principles</a:t>
            </a:r>
          </a:p>
          <a:p>
            <a:pPr/>
            <a:r>
              <a:t>Prompt‑First Design: Requirements, architecture, and workflows expressed as structured prompts</a:t>
            </a:r>
          </a:p>
          <a:p>
            <a:pPr/>
            <a:r>
              <a:t>AI‑Native Architecture: Modular services, clear boundaries, deterministic interfaces for AI‑generated components</a:t>
            </a:r>
          </a:p>
          <a:p>
            <a:pPr/>
            <a:r>
              <a:t>Human‑in‑the‑Loop: Review, validation, and traceability baked into every stage</a:t>
            </a:r>
          </a:p>
          <a:p>
            <a:pPr/>
            <a:r>
              <a:t>Continuous Verification: Automated tests, static analysis, and guardrails to ensure safe outputs</a:t>
            </a:r>
          </a:p>
          <a:p>
            <a:pPr/>
            <a:r>
              <a:t>Lifecycle Governance: Versioning, provenance, and risk‑based controls for AI‑generated artifacts</a:t>
            </a:r>
          </a:p>
          <a:p>
            <a:r>
              <a:t>  Outcomes</a:t>
            </a:r>
          </a:p>
          <a:p>
            <a:pPr/>
            <a:r>
              <a:t>Faster iteration cycles</a:t>
            </a:r>
          </a:p>
          <a:p>
            <a:pPr/>
            <a:r>
              <a:t>Higher coverage of documentation and tests</a:t>
            </a:r>
          </a:p>
          <a:p>
            <a:pPr/>
            <a:r>
              <a:t>Reduced cognitive load on developers</a:t>
            </a:r>
          </a:p>
          <a:p>
            <a:pPr/>
            <a:r>
              <a:t>More resilient, adaptable systems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Prompt‑First Software Development</a:t>
            </a:r>
          </a:p>
        </p:txBody>
      </p:sp>
      <p:sp>
        <p:nvSpPr>
          <p:cNvPr id="3" name="Content Placeholder 2"/>
          <p:cNvSpPr>
            <a:spLocks noGrp="1"/>
          </p:cNvSpPr>
          <p:nvPr>
            <p:ph idx="1"/>
          </p:nvPr>
        </p:nvSpPr>
        <p:spPr/>
        <p:txBody>
          <a:bodyPr/>
          <a:lstStyle/>
          <a:p/>
          <a:p>
            <a:r>
              <a:t>Design the intent first — let AI generate the implementation</a:t>
            </a:r>
          </a:p>
          <a:p>
            <a:r>
              <a:t>Why Prompt‑First</a:t>
            </a:r>
          </a:p>
          <a:p/>
          <a:p>
            <a:pPr/>
            <a:r>
              <a:t>Behaviors, and constraints expressed in structured natural language</a:t>
            </a:r>
          </a:p>
          <a:p>
            <a:pPr/>
            <a:r>
              <a:t>Prompts become the new “source of truth” artifacts</a:t>
            </a:r>
          </a:p>
          <a:p>
            <a:pPr/>
            <a:r>
              <a:t>Teams shift from writing functions to defining outcomes, invariants, and interfaces</a:t>
            </a:r>
          </a:p>
          <a:p>
            <a:r>
              <a:t>  Core Practices</a:t>
            </a:r>
          </a:p>
          <a:p>
            <a:pPr/>
            <a:r>
              <a:t>Structured Prompts: Use templates for features, APIs, data models, tests, and refactors</a:t>
            </a:r>
          </a:p>
          <a:p>
            <a:pPr/>
            <a:r>
              <a:t>Instruction Files: Persistent, versioned artifacts guiding AI code generation</a:t>
            </a:r>
          </a:p>
          <a:p>
            <a:pPr/>
            <a:r>
              <a:t>Deterministic Boundaries: Clear module contracts so AI‑generated code stays predictable</a:t>
            </a:r>
          </a:p>
          <a:p>
            <a:pPr/>
            <a:r>
              <a:t>Validation Loops: Automated tests + human review ensure correctness and safety</a:t>
            </a:r>
          </a:p>
          <a:p>
            <a:pPr/>
            <a:r>
              <a:t>Prompt Versioning: Track evolution of intent just like code changes</a:t>
            </a:r>
          </a:p>
          <a:p>
            <a:r>
              <a:t>  Benefits</a:t>
            </a:r>
          </a:p>
          <a:p>
            <a:pPr/>
            <a:r>
              <a:t>Faster iteration from idea → working software</a:t>
            </a:r>
          </a:p>
          <a:p>
            <a:pPr/>
            <a:r>
              <a:t>Higher consistency across generated components</a:t>
            </a:r>
          </a:p>
          <a:p>
            <a:pPr/>
            <a:r>
              <a:t>Reduced cognitive load on developers</a:t>
            </a:r>
          </a:p>
          <a:p>
            <a:pPr/>
            <a:r>
              <a:t>Better alignment between business intent and implementation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**Concrete Examples**</a:t>
            </a:r>
          </a:p>
        </p:txBody>
      </p:sp>
      <p:sp>
        <p:nvSpPr>
          <p:cNvPr id="3" name="Content Placeholder 2"/>
          <p:cNvSpPr>
            <a:spLocks noGrp="1"/>
          </p:cNvSpPr>
          <p:nvPr>
            <p:ph idx="1"/>
          </p:nvPr>
        </p:nvSpPr>
        <p:spPr/>
        <p:txBody>
          <a:bodyPr/>
          <a:lstStyle/>
          <a:p/>
          <a:p>
            <a:r>
              <a:t>**Prompt‑First Example**</a:t>
            </a:r>
          </a:p>
          <a:p/>
          <a:p>
            <a:pPr/>
            <a:r>
              <a:t>Promptfile for generating unit tests</a:t>
            </a:r>
          </a:p>
          <a:p>
            <a:pPr/>
            <a:r>
              <a:t>Instruction file for documentation</a:t>
            </a:r>
          </a:p>
          <a:p>
            <a:pPr/>
            <a:r>
              <a:t>Chat mode for brownfield developers</a:t>
            </a:r>
          </a:p>
          <a:p/>
          <a:p>
            <a:r>
              <a:t>**AI‑First Example**</a:t>
            </a:r>
          </a:p>
          <a:p/>
          <a:p>
            <a:pPr/>
            <a:r>
              <a:t>Requirements → AI‑generated scaffolds</a:t>
            </a:r>
          </a:p>
          <a:p>
            <a:pPr/>
            <a:r>
              <a:t>Code changes → AI‑assisted reviews</a:t>
            </a:r>
          </a:p>
          <a:p>
            <a:pPr/>
            <a:r>
              <a:t>Docs → continuously AI‑generated</a:t>
            </a:r>
          </a:p>
          <a:p>
            <a:pPr/>
            <a:r>
              <a:t>Modernization → AI‑guided refactoring plans</a:t>
            </a:r>
          </a:p>
          <a:p>
            <a:pPr/>
            <a:r>
              <a:t>Provenance → enforced everywhere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**Shortest Summary**</a:t>
            </a:r>
          </a:p>
        </p:txBody>
      </p:sp>
      <p:sp>
        <p:nvSpPr>
          <p:cNvPr id="3" name="Content Placeholder 2"/>
          <p:cNvSpPr>
            <a:spLocks noGrp="1"/>
          </p:cNvSpPr>
          <p:nvPr>
            <p:ph idx="1"/>
          </p:nvPr>
        </p:nvSpPr>
        <p:spPr/>
        <p:txBody>
          <a:bodyPr/>
          <a:lstStyle/>
          <a:p/>
          <a:p>
            <a:pPr/>
            <a:r>
              <a:t>**AI‑First = philosophy + architecture + lifecycle integration**</a:t>
            </a:r>
          </a:p>
          <a:p>
            <a:pPr/>
            <a:r>
              <a:t>**Prompt‑First = structured, version‑controlled interfaces for interacting with AI**</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Course Modules</a:t>
            </a:r>
          </a:p>
        </p:txBody>
      </p:sp>
      <p:sp>
        <p:nvSpPr>
          <p:cNvPr id="3" name="Content Placeholder 2"/>
          <p:cNvSpPr>
            <a:spLocks noGrp="1"/>
          </p:cNvSpPr>
          <p:nvPr>
            <p:ph idx="1"/>
          </p:nvPr>
        </p:nvSpPr>
        <p:spPr/>
        <p:txBody>
          <a:bodyPr/>
          <a:lstStyle/>
          <a:p/>
          <a:p>
            <a:pPr/>
            <a:r>
              <a:t>Intro</a:t>
            </a:r>
          </a:p>
          <a:p>
            <a:pPr/>
            <a:r>
              <a:t>Module 1 - AIASD</a:t>
            </a:r>
          </a:p>
          <a:p>
            <a:pPr/>
            <a:r>
              <a:rPr b="1"/>
              <a:t>▶ Module 2 - Intro to Copilot</a:t>
            </a:r>
          </a:p>
          <a:p>
            <a:pPr/>
            <a:r>
              <a:t>Module 3 - Vibbing</a:t>
            </a:r>
          </a:p>
          <a:p>
            <a:pPr/>
            <a:r>
              <a:t>Module 4 - Adding AI Guardrails</a:t>
            </a:r>
          </a:p>
          <a:p>
            <a:pPr/>
            <a:r>
              <a:t>Module 5 - Managing Context</a:t>
            </a:r>
          </a:p>
          <a:p>
            <a:pPr/>
            <a:r>
              <a:t>Module 6 - Copilot for Teams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Module 2 - Intro to Copilot</a:t>
            </a:r>
          </a:p>
        </p:txBody>
      </p:sp>
      <p:sp>
        <p:nvSpPr>
          <p:cNvPr id="3" name="Content Placeholder 2"/>
          <p:cNvSpPr>
            <a:spLocks noGrp="1"/>
          </p:cNvSpPr>
          <p:nvPr>
            <p:ph idx="1"/>
          </p:nvPr>
        </p:nvSpPr>
        <p:spPr/>
        <p:txBody>
          <a:bodyPr/>
          <a:lstStyle/>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Module 2 - Intro to Copilot</a:t>
            </a:r>
          </a:p>
        </p:txBody>
      </p:sp>
      <p:sp>
        <p:nvSpPr>
          <p:cNvPr id="3" name="Content Placeholder 2"/>
          <p:cNvSpPr>
            <a:spLocks noGrp="1"/>
          </p:cNvSpPr>
          <p:nvPr>
            <p:ph idx="1"/>
          </p:nvPr>
        </p:nvSpPr>
        <p:spPr/>
        <p:txBody>
          <a:bodyPr/>
          <a:lstStyle/>
          <a:p/>
          <a:p>
            <a:pPr/>
            <a:r>
              <a:t>Repository and Tool Setup</a:t>
            </a:r>
          </a:p>
          <a:p>
            <a:pPr/>
            <a:r>
              <a:t>Hands-On with GitHub Copilot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Repository and Tool Setup</a:t>
            </a:r>
          </a:p>
        </p:txBody>
      </p:sp>
      <p:sp>
        <p:nvSpPr>
          <p:cNvPr id="3" name="Content Placeholder 2"/>
          <p:cNvSpPr>
            <a:spLocks noGrp="1"/>
          </p:cNvSpPr>
          <p:nvPr>
            <p:ph idx="1"/>
          </p:nvPr>
        </p:nvSpPr>
        <p:spPr/>
        <p:txBody>
          <a:bodyPr/>
          <a:lstStyle/>
          <a:p/>
          <a:p>
            <a:r>
              <a:t>Cloning course repository</a:t>
            </a:r>
          </a:p>
          <a:p>
            <a:r>
              <a:t>GitHub authentication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 Clone the AI-Assisted-Software-Development Repository</a:t>
            </a:r>
          </a:p>
        </p:txBody>
      </p:sp>
      <p:sp>
        <p:nvSpPr>
          <p:cNvPr id="3" name="Content Placeholder 2"/>
          <p:cNvSpPr>
            <a:spLocks noGrp="1"/>
          </p:cNvSpPr>
          <p:nvPr>
            <p:ph idx="1"/>
          </p:nvPr>
        </p:nvSpPr>
        <p:spPr/>
        <p:txBody>
          <a:bodyPr/>
          <a:lstStyle/>
          <a:p/>
          <a:p>
            <a:r>
              <a:t>Duration: 10 minutes</a:t>
            </a:r>
          </a:p>
          <a:p>
            <a:r>
              <a:t>Prerequisites: Git, GitHub account</a:t>
            </a:r>
          </a:p>
          <a:p>
            <a:r>
              <a:t>Objectives</a:t>
            </a:r>
          </a:p>
          <a:p>
            <a:r>
              <a:t>Fork the AI-Assisted-Software-Development repo</a:t>
            </a:r>
          </a:p>
          <a:p>
            <a:r>
              <a:t>Activities</a:t>
            </a:r>
          </a:p>
          <a:p>
            <a:r>
              <a:t>Clone the git@github.com:johnmillerATcodemag-com/AI-Assisted-Software-Development.gitrepository</a:t>
            </a:r>
          </a:p>
          <a:p>
            <a:r>
              <a:t>Switch to the brownfield branch</a:t>
            </a:r>
          </a:p>
          <a:p>
            <a:r>
              <a:t>Success Criteria</a:t>
            </a:r>
          </a:p>
          <a:p>
            <a:r>
              <a:t>Cloned repository exists locally</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Fork the AIASD-20260209-BF Repo</a:t>
            </a:r>
          </a:p>
        </p:txBody>
      </p:sp>
      <p:sp>
        <p:nvSpPr>
          <p:cNvPr id="3" name="Content Placeholder 2"/>
          <p:cNvSpPr>
            <a:spLocks noGrp="1"/>
          </p:cNvSpPr>
          <p:nvPr>
            <p:ph idx="1"/>
          </p:nvPr>
        </p:nvSpPr>
        <p:spPr/>
        <p:txBody>
          <a:bodyPr/>
          <a:lstStyle/>
          <a:p/>
          <a:p>
            <a:r>
              <a:t>Duration: 20 minutes</a:t>
            </a:r>
          </a:p>
          <a:p>
            <a:r>
              <a:t>Objectives: Explore an unfamiliar codebase</a:t>
            </a:r>
          </a:p>
          <a:p>
            <a:r>
              <a:t>Activities</a:t>
            </a:r>
          </a:p>
          <a:p>
            <a:r>
              <a:t>Fork this repo https://github.com/j0hnnymiller/AIASD-20260209-BF.git</a:t>
            </a:r>
          </a:p>
          <a:p>
            <a:r>
              <a:t>Clone the forked repo</a:t>
            </a:r>
          </a:p>
          <a:p>
            <a:r>
              <a:t>Create a GitHub PAT https://github.com/settings/tokens</a:t>
            </a:r>
          </a:p>
          <a:p>
            <a:r>
              <a:t>Store the PAT in the GITHUB_TOKEN environment variable</a:t>
            </a:r>
          </a:p>
          <a:p>
            <a:r>
              <a:t>Success Criteria</a:t>
            </a:r>
          </a:p>
          <a:p>
            <a:r>
              <a:t>Repo is available locally</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Fork the repos</a:t>
            </a:r>
          </a:p>
        </p:txBody>
      </p:sp>
      <p:sp>
        <p:nvSpPr>
          <p:cNvPr id="3" name="Content Placeholder 2"/>
          <p:cNvSpPr>
            <a:spLocks noGrp="1"/>
          </p:cNvSpPr>
          <p:nvPr>
            <p:ph idx="1"/>
          </p:nvPr>
        </p:nvSpPr>
        <p:spPr/>
        <p:txBody>
          <a:bodyPr/>
          <a:lstStyle/>
          <a:p/>
          <a:p>
            <a:r>
              <a:t>Objective: Fork the course repos</a:t>
            </a:r>
          </a:p>
          <a:p>
            <a:r>
              <a:t>Search GitHub for</a:t>
            </a:r>
          </a:p>
          <a:p>
            <a:pPr/>
            <a:r>
              <a:t>AI-Assisted-Software-Development</a:t>
            </a:r>
          </a:p>
          <a:p>
            <a:pPr/>
            <a:r>
              <a:t>zeus.academia.3b</a:t>
            </a:r>
          </a:p>
          <a:p>
            <a:r>
              <a:t>Fork the repos</a:t>
            </a:r>
          </a:p>
          <a:p>
            <a:pPr/>
            <a:r>
              <a:t>This will create a personal copy under your GitHub account</a:t>
            </a:r>
          </a:p>
          <a:p>
            <a:pPr/>
            <a:r>
              <a:t>You can make changes without affecting the original repo</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Hands-On with GitHub Copilot</a:t>
            </a:r>
          </a:p>
        </p:txBody>
      </p:sp>
      <p:sp>
        <p:nvSpPr>
          <p:cNvPr id="3" name="Content Placeholder 2"/>
          <p:cNvSpPr>
            <a:spLocks noGrp="1"/>
          </p:cNvSpPr>
          <p:nvPr>
            <p:ph idx="1"/>
          </p:nvPr>
        </p:nvSpPr>
        <p:spPr/>
        <p:txBody>
          <a:bodyPr/>
          <a:lstStyle/>
          <a:p/>
          <a:p>
            <a:r>
              <a:t>Installation and configuration</a:t>
            </a:r>
          </a:p>
          <a:p>
            <a:pPr/>
            <a:r>
              <a:t>Installing the extension</a:t>
            </a:r>
          </a:p>
          <a:p>
            <a:pPr/>
            <a:r>
              <a:t>Setting up authentication</a:t>
            </a:r>
          </a:p>
          <a:p>
            <a:pPr/>
            <a:r>
              <a:t>Configuring settings</a:t>
            </a:r>
          </a:p>
          <a:p>
            <a:r>
              <a:t>Sharing configuration across an organization</a:t>
            </a:r>
          </a:p>
          <a:p>
            <a:pPr/>
            <a:r>
              <a:t>Shared configuration templates (e.g., .copilot/settings.json) can be distributed across projects to standardize behavior.</a:t>
            </a:r>
          </a:p>
          <a:p>
            <a:r>
              <a:t>https://www.codemag.com/Blog/AI/AIASD-install-guide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 Getting Started with GitHub Copilot</a:t>
            </a:r>
          </a:p>
        </p:txBody>
      </p:sp>
      <p:sp>
        <p:nvSpPr>
          <p:cNvPr id="3" name="Content Placeholder 2"/>
          <p:cNvSpPr>
            <a:spLocks noGrp="1"/>
          </p:cNvSpPr>
          <p:nvPr>
            <p:ph idx="1"/>
          </p:nvPr>
        </p:nvSpPr>
        <p:spPr/>
        <p:txBody>
          <a:bodyPr/>
          <a:lstStyle/>
          <a:p/>
          <a:p>
            <a:r>
              <a:t>Duration: Follow along</a:t>
            </a:r>
          </a:p>
          <a:p>
            <a:r>
              <a:t>Objectives</a:t>
            </a:r>
          </a:p>
          <a:p>
            <a:r>
              <a:t>Install and configure GitHub Copilot</a:t>
            </a:r>
          </a:p>
          <a:p>
            <a:r>
              <a:t>Verify authentication with GitHub account</a:t>
            </a:r>
          </a:p>
          <a:p>
            <a:r>
              <a:t>Explore the Copilot UI components</a:t>
            </a:r>
          </a:p>
          <a:p>
            <a:r>
              <a:t>Activities</a:t>
            </a:r>
          </a:p>
          <a:p>
            <a:r>
              <a:t>Install GitHub Copilot extension from VS Code marketplace</a:t>
            </a:r>
          </a:p>
          <a:p>
            <a:r>
              <a:t>Sign in with your GitHub account (verify Copilot subscription)</a:t>
            </a:r>
          </a:p>
          <a:p>
            <a:r>
              <a:t>Locate and explore:</a:t>
            </a:r>
          </a:p>
          <a:p>
            <a:pPr/>
            <a:r>
              <a:t>Chat window and chat history</a:t>
            </a:r>
          </a:p>
          <a:p>
            <a:pPr/>
            <a:r>
              <a:t>New chat button</a:t>
            </a:r>
          </a:p>
          <a:p>
            <a:pPr/>
            <a:r>
              <a:t>Quick chat feature (keyboard shortcut)</a:t>
            </a:r>
          </a:p>
          <a:p>
            <a:pPr/>
            <a:r>
              <a:t>Settings menu</a:t>
            </a:r>
          </a:p>
          <a:p>
            <a:pPr/>
            <a:r>
              <a:t>Model selection dropdown</a:t>
            </a:r>
          </a:p>
          <a:p>
            <a:r>
              <a:t>Check your premium token usage bar</a:t>
            </a:r>
          </a:p>
          <a:p>
            <a:r>
              <a:t>Create a new chat and experiment with the interface</a:t>
            </a:r>
          </a:p>
          <a:p>
            <a:r>
              <a:t>Success Criteria</a:t>
            </a:r>
          </a:p>
          <a:p>
            <a:pPr/>
            <a:r>
              <a:t>Copilot extension installed and authenticated</a:t>
            </a:r>
          </a:p>
          <a:p>
            <a:pPr/>
            <a:r>
              <a:t>Can open/close chat windows</a:t>
            </a:r>
          </a:p>
          <a:p>
            <a:pPr/>
            <a:r>
              <a:t>Understand difference between main chat and quick chat</a:t>
            </a:r>
          </a:p>
          <a:p>
            <a:pPr/>
            <a:r>
              <a:t>Know where to find chat history</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Prompt Specificity</a:t>
            </a:r>
          </a:p>
        </p:txBody>
      </p:sp>
      <p:sp>
        <p:nvSpPr>
          <p:cNvPr id="3" name="Content Placeholder 2"/>
          <p:cNvSpPr>
            <a:spLocks noGrp="1"/>
          </p:cNvSpPr>
          <p:nvPr>
            <p:ph idx="1"/>
          </p:nvPr>
        </p:nvSpPr>
        <p:spPr/>
        <p:txBody>
          <a:bodyPr/>
          <a:lstStyle/>
          <a:p/>
          <a:p>
            <a:r>
              <a:t>Add error handling to my code</a:t>
            </a:r>
          </a:p>
          <a:p>
            <a:pPr/>
            <a:r>
              <a:t>Result: Generic response asking what type of errors, what language, what code?</a:t>
            </a:r>
          </a:p>
          <a:p>
            <a:r>
              <a:t>Add error handling to my JavaScript function that calls an external API. I want to handle network timeouts, 404 errors, and JSON parsing failures. Return user-friendly error messages.</a:t>
            </a:r>
          </a:p>
          <a:p>
            <a:pPr/>
            <a:r>
              <a:t>Result: Better, but still generic without seeing actual code structure</a:t>
            </a:r>
          </a:p>
          <a:p>
            <a:r>
              <a:t>@file:api-client.js Add comprehensive error handling to the fetchUserData function. Handle network timeouts (&gt;5s), HTTP errors (404, 500, etc.), and JSON parsing failures.   Return user-friendly error messages that match our existing error format in @file:error-types.js</a:t>
            </a:r>
          </a:p>
          <a:p>
            <a:pPr/>
            <a:r>
              <a:t>Result: Specific implementation that matches existing code patterns*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 Understanding Context Management</a:t>
            </a:r>
          </a:p>
        </p:txBody>
      </p:sp>
      <p:sp>
        <p:nvSpPr>
          <p:cNvPr id="3" name="Content Placeholder 2"/>
          <p:cNvSpPr>
            <a:spLocks noGrp="1"/>
          </p:cNvSpPr>
          <p:nvPr>
            <p:ph idx="1"/>
          </p:nvPr>
        </p:nvSpPr>
        <p:spPr/>
        <p:txBody>
          <a:bodyPr/>
          <a:lstStyle/>
          <a:p/>
          <a:p>
            <a:r>
              <a:t>Duration: Follow along</a:t>
            </a:r>
          </a:p>
          <a:p>
            <a:r>
              <a:t>Objectives</a:t>
            </a:r>
          </a:p>
          <a:p>
            <a:r>
              <a:t>Learn to add context using @ symbols</a:t>
            </a:r>
          </a:p>
          <a:p>
            <a:r>
              <a:t>Understand context window limitations</a:t>
            </a:r>
          </a:p>
          <a:p>
            <a:r>
              <a:t>Practice writing effective prompts</a:t>
            </a:r>
          </a:p>
          <a:p>
            <a:r>
              <a:t>Activities</a:t>
            </a:r>
          </a:p>
          <a:p>
            <a:r>
              <a:t>1. Basic Context Addition:</a:t>
            </a:r>
          </a:p>
          <a:p>
            <a:r>
              <a:t>Use `@workspace` to search across your codebase</a:t>
            </a:r>
          </a:p>
          <a:p>
            <a:r>
              <a:t>Use `@file` to reference specific files</a:t>
            </a:r>
          </a:p>
          <a:p>
            <a:r>
              <a:t>Use `@terminal` to include terminal output in chat</a:t>
            </a:r>
          </a:p>
          <a:p>
            <a:r>
              <a:t>Use `@vscode` to ask VS Code-specific questions</a:t>
            </a:r>
          </a:p>
          <a:p>
            <a:r>
              <a:t>2. Prompt Practice:</a:t>
            </a:r>
          </a:p>
          <a:p>
            <a:r>
              <a:t>Write a vague prompt, observe results</a:t>
            </a:r>
          </a:p>
          <a:p>
            <a:r>
              <a:t>Rewrite with specific context, compare results</a:t>
            </a:r>
          </a:p>
          <a:p>
            <a:r>
              <a:t>Add file references to improve accuracy</a:t>
            </a:r>
          </a:p>
          <a:p>
            <a:r>
              <a:t>3. Context Window Experiment:</a:t>
            </a:r>
          </a:p>
          <a:p>
            <a:r>
              <a:t>Start a long conversation in one chat</a:t>
            </a:r>
          </a:p>
          <a:p>
            <a:r>
              <a:t>Notice when Copilot starts "forgetting" earlier context</a:t>
            </a:r>
          </a:p>
          <a:p>
            <a:r>
              <a:t>Practice starting new chats for new topics</a:t>
            </a:r>
          </a:p>
          <a:p>
            <a:r>
              <a:t>Success Criteria</a:t>
            </a:r>
          </a:p>
          <a:p>
            <a:r>
              <a:t>Can use all @ context types</a:t>
            </a:r>
          </a:p>
          <a:p>
            <a:r>
              <a:t>Understand when to start fresh chat sessions</a:t>
            </a:r>
          </a:p>
          <a:p>
            <a:r>
              <a:t>Notice quality difference between vague and specific prompts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 Chat Management &amp; Workflow</a:t>
            </a:r>
          </a:p>
        </p:txBody>
      </p:sp>
      <p:sp>
        <p:nvSpPr>
          <p:cNvPr id="3" name="Content Placeholder 2"/>
          <p:cNvSpPr>
            <a:spLocks noGrp="1"/>
          </p:cNvSpPr>
          <p:nvPr>
            <p:ph idx="1"/>
          </p:nvPr>
        </p:nvSpPr>
        <p:spPr/>
        <p:txBody>
          <a:bodyPr/>
          <a:lstStyle/>
          <a:p/>
          <a:p>
            <a:r>
              <a:t>Duration: Follow along</a:t>
            </a:r>
          </a:p>
          <a:p>
            <a:r>
              <a:t>Objectives</a:t>
            </a:r>
          </a:p>
          <a:p>
            <a:pPr/>
            <a:r>
              <a:t>Organize chat sessions effectively</a:t>
            </a:r>
          </a:p>
          <a:p>
            <a:pPr/>
            <a:r>
              <a:t>Use chat history for reference</a:t>
            </a:r>
          </a:p>
          <a:p>
            <a:pPr/>
            <a:r>
              <a:t>Develop efficient workflow patterns</a:t>
            </a:r>
          </a:p>
          <a:p>
            <a:r>
              <a:t>Activities</a:t>
            </a:r>
          </a:p>
          <a:p>
            <a:r>
              <a:t>1. Chat Organization:</a:t>
            </a:r>
          </a:p>
          <a:p>
            <a:pPr/>
            <a:r>
              <a:t>Review your chat history</a:t>
            </a:r>
          </a:p>
          <a:p>
            <a:pPr/>
            <a:r>
              <a:t>Identify chats that should have been separate sessions</a:t>
            </a:r>
          </a:p>
          <a:p>
            <a:pPr/>
            <a:r>
              <a:t>Practice starting new chats at appropriate times</a:t>
            </a:r>
          </a:p>
          <a:p>
            <a:r>
              <a:t>2. Context Preservation:</a:t>
            </a:r>
          </a:p>
          <a:p>
            <a:pPr/>
            <a:r>
              <a:t>Start a focused chat for one feature</a:t>
            </a:r>
          </a:p>
          <a:p>
            <a:pPr/>
            <a:r>
              <a:t>Add relevant context systematically</a:t>
            </a:r>
          </a:p>
          <a:p>
            <a:pPr/>
            <a:r>
              <a:t>Complete task without context overflow</a:t>
            </a:r>
          </a:p>
          <a:p>
            <a:r>
              <a:t>3. Quick Chat Practice:</a:t>
            </a:r>
          </a:p>
          <a:p>
            <a:pPr/>
            <a:r>
              <a:t>Use main chat for primary task</a:t>
            </a:r>
          </a:p>
          <a:p>
            <a:pPr/>
            <a:r>
              <a:t>Use quick chat for side questions</a:t>
            </a:r>
          </a:p>
          <a:p>
            <a:pPr/>
            <a:r>
              <a:t>Return to main chat without losing context</a:t>
            </a:r>
          </a:p>
          <a:p>
            <a:r>
              <a:t>4. Chat History Review:</a:t>
            </a:r>
          </a:p>
          <a:p>
            <a:pPr/>
            <a:r>
              <a:t>Find and reference previous solutions</a:t>
            </a:r>
          </a:p>
          <a:p>
            <a:pPr/>
            <a:r>
              <a:t>Learn from past prompts that worked well</a:t>
            </a:r>
          </a:p>
          <a:p>
            <a:pPr/>
            <a:r>
              <a:t>Identify patterns in effective conversations</a:t>
            </a:r>
          </a:p>
          <a:p>
            <a:r>
              <a:t>Success Criteria</a:t>
            </a:r>
          </a:p>
          <a:p>
            <a:pPr/>
            <a:r>
              <a:t>Chat history is organized and meaningful</a:t>
            </a:r>
          </a:p>
          <a:p>
            <a:pPr/>
            <a:r>
              <a:t>Can find and reference previous solutions</a:t>
            </a:r>
          </a:p>
          <a:p>
            <a:pPr/>
            <a:r>
              <a:t>Efficient workflow developed for using multiple chat windows</a:t>
            </a:r>
          </a:p>
          <a:p>
            <a:r>
              <a:t>Context Window Management</a:t>
            </a:r>
          </a:p>
          <a:p>
            <a:pPr/>
            <a:r>
              <a:t>Remember from the session:</a:t>
            </a:r>
          </a:p>
          <a:p>
            <a:r>
              <a:t>  - Context is a **limited resource**</a:t>
            </a:r>
          </a:p>
          <a:p>
            <a:r>
              <a:t>  - Start new chat when changing focus areas</a:t>
            </a:r>
          </a:p>
          <a:p>
            <a:r>
              <a:t>  - Keep conversations targeted and specific</a:t>
            </a:r>
          </a:p>
          <a:p>
            <a:r>
              <a:t>  - When Copilot "forgets" earlier context, it's time for a new session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Using Copilot in different modes</a:t>
            </a:r>
          </a:p>
        </p:txBody>
      </p:sp>
      <p:sp>
        <p:nvSpPr>
          <p:cNvPr id="3" name="Content Placeholder 2"/>
          <p:cNvSpPr>
            <a:spLocks noGrp="1"/>
          </p:cNvSpPr>
          <p:nvPr>
            <p:ph idx="1"/>
          </p:nvPr>
        </p:nvSpPr>
        <p:spPr/>
        <p:txBody>
          <a:bodyPr/>
          <a:lstStyle/>
          <a:p/>
          <a:p>
            <a:r>
              <a:t>Ask Mode</a:t>
            </a:r>
          </a:p>
          <a:p>
            <a:pPr/>
            <a:r>
              <a:t>Simple prompt completion and inline suggestions</a:t>
            </a:r>
          </a:p>
          <a:p>
            <a:r>
              <a:t>Edit Mode</a:t>
            </a:r>
          </a:p>
          <a:p>
            <a:pPr/>
            <a:r>
              <a:t>Automatic file edits</a:t>
            </a:r>
          </a:p>
          <a:p>
            <a:r>
              <a:t>Agent Mode</a:t>
            </a:r>
          </a:p>
          <a:p>
            <a:pPr/>
            <a:r>
              <a:t>Perform actions on your behalf</a:t>
            </a:r>
          </a:p>
          <a:p>
            <a:r>
              <a:t>Custom Modes</a:t>
            </a:r>
          </a:p>
          <a:p>
            <a:pPr/>
            <a:r>
              <a:t>Execute specific workflows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 Exploring Copilot Modes</a:t>
            </a:r>
          </a:p>
        </p:txBody>
      </p:sp>
      <p:sp>
        <p:nvSpPr>
          <p:cNvPr id="3" name="Content Placeholder 2"/>
          <p:cNvSpPr>
            <a:spLocks noGrp="1"/>
          </p:cNvSpPr>
          <p:nvPr>
            <p:ph idx="1"/>
          </p:nvPr>
        </p:nvSpPr>
        <p:spPr/>
        <p:txBody>
          <a:bodyPr/>
          <a:lstStyle/>
          <a:p/>
          <a:p>
            <a:r>
              <a:t>Duration: Follow along</a:t>
            </a:r>
          </a:p>
          <a:p>
            <a:r>
              <a:t>Objectives</a:t>
            </a:r>
          </a:p>
          <a:p>
            <a:r>
              <a:t>Understand differences between Ask, Edit, and Agent modes</a:t>
            </a:r>
          </a:p>
          <a:p>
            <a:r>
              <a:t>Know when to use each mode</a:t>
            </a:r>
          </a:p>
          <a:p>
            <a:r>
              <a:t>Understand premium token implications</a:t>
            </a:r>
          </a:p>
          <a:p>
            <a:r>
              <a:t>Activities</a:t>
            </a:r>
          </a:p>
          <a:p>
            <a:r>
              <a:t>1. Ask Mode:</a:t>
            </a:r>
          </a:p>
          <a:p>
            <a:r>
              <a:t>Ask Copilot to explain a code snippet (no changes made)</a:t>
            </a:r>
          </a:p>
          <a:p>
            <a:r>
              <a:t>Request multiple implementation approaches</a:t>
            </a:r>
          </a:p>
          <a:p>
            <a:r>
              <a:t>Try different models and observe response quality</a:t>
            </a:r>
          </a:p>
          <a:p>
            <a:r>
              <a:t>Note: This doesn't consume premium tokens for advanced models</a:t>
            </a:r>
          </a:p>
          <a:p>
            <a:r>
              <a:t>2. Edit Mode:</a:t>
            </a:r>
          </a:p>
          <a:p>
            <a:r>
              <a:t>Select code in a file</a:t>
            </a:r>
          </a:p>
          <a:p>
            <a:r>
              <a:t>Ask Copilot to refactor it</a:t>
            </a:r>
          </a:p>
          <a:p>
            <a:r>
              <a:t>Observe inline suggestions and changes</a:t>
            </a:r>
          </a:p>
          <a:p>
            <a:r>
              <a:t>Accept or reject proposed changes</a:t>
            </a:r>
          </a:p>
          <a:p>
            <a:r>
              <a:t>3. Agent Mode:</a:t>
            </a:r>
          </a:p>
          <a:p>
            <a:r>
              <a:t>Ask Copilot to create a new file and add content</a:t>
            </a:r>
          </a:p>
          <a:p>
            <a:r>
              <a:t>Request changes across multiple files</a:t>
            </a:r>
          </a:p>
          <a:p>
            <a:r>
              <a:t>Have Copilot run terminal commands</a:t>
            </a:r>
          </a:p>
          <a:p>
            <a:r>
              <a:t>Check premium token usage after agent actions</a:t>
            </a:r>
          </a:p>
          <a:p>
            <a:r>
              <a:t>Success Criteria</a:t>
            </a:r>
          </a:p>
          <a:p>
            <a:r>
              <a:t>Can distinguish when to use each mode</a:t>
            </a:r>
          </a:p>
          <a:p>
            <a:r>
              <a:t>Understand token consumption differences</a:t>
            </a:r>
          </a:p>
          <a:p>
            <a:r>
              <a:t>Successfully use agent mode for multi-file operations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IDE Support for AI Assistance</a:t>
            </a:r>
          </a:p>
        </p:txBody>
      </p:sp>
      <p:sp>
        <p:nvSpPr>
          <p:cNvPr id="3" name="Content Placeholder 2"/>
          <p:cNvSpPr>
            <a:spLocks noGrp="1"/>
          </p:cNvSpPr>
          <p:nvPr>
            <p:ph idx="1"/>
          </p:nvPr>
        </p:nvSpPr>
        <p:spPr/>
        <p:txBody>
          <a:bodyPr/>
          <a:lstStyle/>
          <a:p/>
          <a:p>
            <a:r>
              <a:t>IDE / Editor | Built-In AI Features | Supported AI Assistants | Strengths | Limitations</a:t>
            </a:r>
          </a:p>
          <a:p>
            <a:r>
              <a:t>--- | --- | --- | --- | ---</a:t>
            </a:r>
          </a:p>
          <a:p>
            <a:r>
              <a:t>VS Code | Deep AI integration through extensions; increasingly AI-first workflows | GitHub Copilot, Cline, ChatGPT-based extensions, Gemini integrations | Extremely flexible; huge ecosystem; top-tier AI support; widely adopted | Requires extension management; quality varies by plugin</a:t>
            </a:r>
          </a:p>
          <a:p>
            <a:r>
              <a:t>Visual Studio (Windows) | Native GitHub Copilot integration; AI-powered IntelliCode | GitHub Copilot, IntelliCode | Strong enterprise + .NET support; excellent refactoring and debugging | Less flexible than VS Code for non-Microsoft stacks</a:t>
            </a:r>
          </a:p>
          <a:p>
            <a:r>
              <a:t>JetBrains IDEs | JetBrains AI Assistant; code completion, refactoring, doc generation | JetBrains AI Assistant, GitHub Copilot | Deep static analysis + AI; strong multi-language support | JetBrains AI Assistant is subscription-based; Copilot integration not as seamless</a:t>
            </a:r>
          </a:p>
          <a:p>
            <a:r>
              <a:t>Cursor IDE | AI-first editor; conversational coding; multi-file reasoning | Built-in AI models (GPT-based, Claude-based), Copilot alternatives | Designed for AI pair-programming; strong repo-wide reasoning | Not a traditional IDE; still maturing for large enterprise workflows</a:t>
            </a:r>
          </a:p>
          <a:p>
            <a:r>
              <a:t>Replit | AI-powered Ghostwriter for code generation, debugging, and explanations | Ghostwriter | Great for beginners and rapid prototyping; browser-based | Less powerful for large, multi-module projects</a:t>
            </a:r>
          </a:p>
          <a:p>
            <a:r>
              <a:t>Builder.io / Builder Code Editor | AI-enhanced coding environment with integrated assistants | Multiple AI integrations depending on setup | Strong web-dev focus; modern AI-native UX | Not a general-purpose IDE</a:t>
            </a:r>
          </a:p>
          <a:p>
            <a:r>
              <a:t>Code-B Editors | Predictive code generation, debugging, and review | Multiple AI models depending on configuration | Strong AI-centric workflows; optimized for speed | Less mainstream; smaller ecosystem</a:t>
            </a:r>
          </a:p>
          <a:p>
            <a:r>
              <a:t>Claude Code | Terminal-first AI coding assistant; autonomous repo-wide reasoning | Latest models from Anthropic and other via configuration | Exceptional multi-file context handling; ideal for agentic workflows and automated patching | Not a GUI IDE; best suited for terminal-centric development and large codebases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Course Modules</a:t>
            </a:r>
          </a:p>
        </p:txBody>
      </p:sp>
      <p:sp>
        <p:nvSpPr>
          <p:cNvPr id="3" name="Content Placeholder 2"/>
          <p:cNvSpPr>
            <a:spLocks noGrp="1"/>
          </p:cNvSpPr>
          <p:nvPr>
            <p:ph idx="1"/>
          </p:nvPr>
        </p:nvSpPr>
        <p:spPr/>
        <p:txBody>
          <a:bodyPr/>
          <a:lstStyle/>
          <a:p/>
          <a:p>
            <a:pPr/>
            <a:r>
              <a:t>Intro</a:t>
            </a:r>
          </a:p>
          <a:p>
            <a:pPr/>
            <a:r>
              <a:t>Module 1 - AIASD</a:t>
            </a:r>
          </a:p>
          <a:p>
            <a:pPr/>
            <a:r>
              <a:t>Module 2 - Intro to Copilot</a:t>
            </a:r>
          </a:p>
          <a:p>
            <a:pPr/>
            <a:r>
              <a:rPr b="1"/>
              <a:t>▶ Module 3 - Vibbing</a:t>
            </a:r>
          </a:p>
          <a:p>
            <a:pPr/>
            <a:r>
              <a:t>Module 4 - Adding AI Guardrails</a:t>
            </a:r>
          </a:p>
          <a:p>
            <a:pPr/>
            <a:r>
              <a:t>Module 5 - Managing Context</a:t>
            </a:r>
          </a:p>
          <a:p>
            <a:pPr/>
            <a:r>
              <a:t>Module 6 - Copilot for Teams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Module 3 - Vibbing</a:t>
            </a:r>
          </a:p>
        </p:txBody>
      </p:sp>
      <p:sp>
        <p:nvSpPr>
          <p:cNvPr id="3" name="Content Placeholder 2"/>
          <p:cNvSpPr>
            <a:spLocks noGrp="1"/>
          </p:cNvSpPr>
          <p:nvPr>
            <p:ph idx="1"/>
          </p:nvPr>
        </p:nvSpPr>
        <p:spPr/>
        <p:txBody>
          <a:bodyPr/>
          <a:lstStyle/>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Module 3 - Vibbing</a:t>
            </a:r>
          </a:p>
        </p:txBody>
      </p:sp>
      <p:sp>
        <p:nvSpPr>
          <p:cNvPr id="3" name="Content Placeholder 2"/>
          <p:cNvSpPr>
            <a:spLocks noGrp="1"/>
          </p:cNvSpPr>
          <p:nvPr>
            <p:ph idx="1"/>
          </p:nvPr>
        </p:nvSpPr>
        <p:spPr/>
        <p:txBody>
          <a:bodyPr/>
          <a:lstStyle/>
          <a:p/>
          <a:p>
            <a:pPr/>
            <a:r>
              <a:t>Collaborating on a Solution</a:t>
            </a:r>
          </a:p>
          <a:p>
            <a:pPr/>
            <a:r>
              <a:t>Multi‑Model Implementation Comparison</a:t>
            </a:r>
          </a:p>
          <a:p>
            <a:pPr/>
            <a:r>
              <a:t>AI-Assisted CI/CD Pipelines</a:t>
            </a:r>
          </a:p>
          <a:p>
            <a:pPr/>
            <a:r>
              <a:t>AI-Assisted GitHub Pull Requests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Collaborating on a Solution</a:t>
            </a:r>
          </a:p>
        </p:txBody>
      </p:sp>
      <p:sp>
        <p:nvSpPr>
          <p:cNvPr id="3" name="Content Placeholder 2"/>
          <p:cNvSpPr>
            <a:spLocks noGrp="1"/>
          </p:cNvSpPr>
          <p:nvPr>
            <p:ph idx="1"/>
          </p:nvPr>
        </p:nvSpPr>
        <p:spPr/>
        <p:txBody>
          <a:bodyPr/>
          <a:lstStyle/>
          <a:p/>
          <a:p>
            <a:r>
              <a:t>Project Setup</a:t>
            </a:r>
          </a:p>
          <a:p>
            <a:r>
              <a:t>Adding Features</a:t>
            </a:r>
          </a:p>
          <a:p>
            <a:pPr/>
            <a:r>
              <a:t>Basic Arithmetic - Addition, subtraction, multiplication, division</a:t>
            </a:r>
          </a:p>
          <a:p>
            <a:pPr/>
            <a:r>
              <a:t>Clear / Reset Function - Quickly resets the current input or entire calculation</a:t>
            </a:r>
          </a:p>
          <a:p>
            <a:pPr/>
            <a:r>
              <a:t>Decimal Support - Allows entry and computation with decimal numbers</a:t>
            </a:r>
          </a:p>
          <a:p>
            <a:pPr/>
            <a:r>
              <a:t>Sign Toggle (+/–) - Switches values between positive and negative</a:t>
            </a:r>
          </a:p>
          <a:p>
            <a:pPr/>
            <a:r>
              <a:t>Percentage Function - Converts values to percentages for quick calculations</a:t>
            </a:r>
          </a:p>
          <a:p>
            <a:pPr/>
            <a:r>
              <a:t>Memory Functions (M+, M–, MR, MC) - Store, recall, add to, or clear memory values</a:t>
            </a:r>
          </a:p>
          <a:p>
            <a:pPr/>
            <a:r>
              <a:t>Error Handling - Displays errors such as division by zero</a:t>
            </a:r>
          </a:p>
          <a:p>
            <a:pPr/>
            <a:r>
              <a:t>Simple, Intuitive Interface - Numeric keypad, operation buttons, and display screen</a:t>
            </a:r>
          </a:p>
          <a:p>
            <a:r>
              <a:t>Test Automation</a:t>
            </a:r>
          </a:p>
          <a:p>
            <a:pPr/>
            <a:r>
              <a:t>Code Coverage</a:t>
            </a:r>
          </a:p>
          <a:p>
            <a:r>
              <a:t>Dependency Management</a:t>
            </a:r>
          </a:p>
          <a:p>
            <a:r>
              <a:t>Comparing Implementations</a:t>
            </a:r>
          </a:p>
          <a:p>
            <a:r>
              <a:t>Chat Management</a:t>
            </a:r>
          </a:p>
          <a:p>
            <a:r>
              <a:t>Intro to Evergreen Software Development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Calculator Project - Setup &amp; Basic Implementation</a:t>
            </a:r>
          </a:p>
        </p:txBody>
      </p:sp>
      <p:sp>
        <p:nvSpPr>
          <p:cNvPr id="3" name="Content Placeholder 2"/>
          <p:cNvSpPr>
            <a:spLocks noGrp="1"/>
          </p:cNvSpPr>
          <p:nvPr>
            <p:ph idx="1"/>
          </p:nvPr>
        </p:nvSpPr>
        <p:spPr/>
        <p:txBody>
          <a:bodyPr/>
          <a:lstStyle/>
          <a:p/>
          <a:p>
            <a:r>
              <a:t>Duration: 45-60 minutes</a:t>
            </a:r>
          </a:p>
          <a:p>
            <a:r>
              <a:t>Objectives</a:t>
            </a:r>
          </a:p>
          <a:p>
            <a:pPr/>
            <a:r>
              <a:t>Use AI to generate starter code for arithmetic operations</a:t>
            </a:r>
          </a:p>
          <a:p>
            <a:pPr/>
            <a:r>
              <a:t>Understand how to validate AI‑generated logic</a:t>
            </a:r>
          </a:p>
          <a:p>
            <a:pPr/>
            <a:r>
              <a:t>Integrate addition, subtraction, multiplication, and division functions</a:t>
            </a:r>
          </a:p>
          <a:p>
            <a:r>
              <a:t>Activities</a:t>
            </a:r>
          </a:p>
          <a:p>
            <a:r>
              <a:t>1. Project Initialization:</a:t>
            </a:r>
          </a:p>
          <a:p>
            <a:pPr/>
            <a:r>
              <a:t>Prompt AI to create a new project</a:t>
            </a:r>
          </a:p>
          <a:p>
            <a:pPr/>
            <a:r>
              <a:t>Review generated project structure</a:t>
            </a:r>
          </a:p>
          <a:p>
            <a:pPr/>
            <a:r>
              <a:t>Verify build configuration</a:t>
            </a:r>
          </a:p>
          <a:p>
            <a:r>
              <a:t>2. Implement Basic Operations:</a:t>
            </a:r>
          </a:p>
          <a:p>
            <a:pPr/>
            <a:r>
              <a:t>Prompt AI to add methods for addition, subtraction, multiplication, and division</a:t>
            </a:r>
          </a:p>
          <a:p>
            <a:r>
              <a:t>3. Review the Code:</a:t>
            </a:r>
          </a:p>
          <a:p>
            <a:pPr/>
            <a:r>
              <a:t>For correctness and edge cases</a:t>
            </a:r>
          </a:p>
          <a:p>
            <a:r>
              <a:t>4. Build and Run:</a:t>
            </a:r>
          </a:p>
          <a:p>
            <a:pPr/>
            <a:r>
              <a:t>Use Copilot to help with build commands</a:t>
            </a:r>
          </a:p>
          <a:p>
            <a:pPr/>
            <a:r>
              <a:t>Troubleshoot any compilation errors with Copilot's help</a:t>
            </a:r>
          </a:p>
          <a:p>
            <a:pPr/>
            <a:r>
              <a:t>Run the application</a:t>
            </a:r>
          </a:p>
          <a:p>
            <a:r>
              <a:t>Success Criteria</a:t>
            </a:r>
          </a:p>
          <a:p>
            <a:pPr/>
            <a:r>
              <a:t>Working calculator with 4 basic operations</a:t>
            </a:r>
          </a:p>
          <a:p>
            <a:pPr/>
            <a:r>
              <a:t>Application compiles and runs successfully</a:t>
            </a:r>
          </a:p>
          <a:p>
            <a:pPr/>
            <a:r>
              <a:t>You've critically reviewed all generated code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Calculator Project – Clear / Reset</a:t>
            </a:r>
          </a:p>
        </p:txBody>
      </p:sp>
      <p:sp>
        <p:nvSpPr>
          <p:cNvPr id="3" name="Content Placeholder 2"/>
          <p:cNvSpPr>
            <a:spLocks noGrp="1"/>
          </p:cNvSpPr>
          <p:nvPr>
            <p:ph idx="1"/>
          </p:nvPr>
        </p:nvSpPr>
        <p:spPr/>
        <p:txBody>
          <a:bodyPr/>
          <a:lstStyle/>
          <a:p/>
          <a:p>
            <a:r>
              <a:t>Duration: 15 minutes</a:t>
            </a:r>
          </a:p>
          <a:p>
            <a:r>
              <a:t>Objectives</a:t>
            </a:r>
          </a:p>
          <a:p>
            <a:pPr/>
            <a:r>
              <a:t>Use AI to scaffold state‑management logic</a:t>
            </a:r>
          </a:p>
          <a:p>
            <a:pPr/>
            <a:r>
              <a:t>Implement CE (clear entry) and C (clear all) behaviors</a:t>
            </a:r>
          </a:p>
          <a:p>
            <a:pPr/>
            <a:r>
              <a:t>Understand how AI can help reason about UI state transitions</a:t>
            </a:r>
          </a:p>
          <a:p>
            <a:r>
              <a:t>Activities</a:t>
            </a:r>
          </a:p>
          <a:p>
            <a:r>
              <a:t>Prompt AI to outline the difference between CE and C</a:t>
            </a:r>
          </a:p>
          <a:p>
            <a:r>
              <a:t>Generate code for clearing the current input vs. full state</a:t>
            </a:r>
          </a:p>
          <a:p>
            <a:r>
              <a:t>Integrate the logic into your calculator’s state object</a:t>
            </a:r>
          </a:p>
          <a:p>
            <a:r>
              <a:t>Test transitions by simulating user input sequences</a:t>
            </a:r>
          </a:p>
          <a:p>
            <a:r>
              <a:t>Success Criteria</a:t>
            </a:r>
          </a:p>
          <a:p>
            <a:pPr/>
            <a:r>
              <a:t>- CE clears only the active entry</a:t>
            </a:r>
          </a:p>
          <a:p>
            <a:pPr/>
            <a:r>
              <a:t>- C resets the entire calculator state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Calculator Project – Decimal Input</a:t>
            </a:r>
          </a:p>
        </p:txBody>
      </p:sp>
      <p:sp>
        <p:nvSpPr>
          <p:cNvPr id="3" name="Content Placeholder 2"/>
          <p:cNvSpPr>
            <a:spLocks noGrp="1"/>
          </p:cNvSpPr>
          <p:nvPr>
            <p:ph idx="1"/>
          </p:nvPr>
        </p:nvSpPr>
        <p:spPr/>
        <p:txBody>
          <a:bodyPr/>
          <a:lstStyle/>
          <a:p/>
          <a:p>
            <a:r>
              <a:t>Duration: 12 minutes</a:t>
            </a:r>
          </a:p>
          <a:p>
            <a:r>
              <a:t>Objectives</a:t>
            </a:r>
          </a:p>
          <a:p>
            <a:r>
              <a:t>Use AI to generate input‑validation logic</a:t>
            </a:r>
          </a:p>
          <a:p>
            <a:r>
              <a:t>Prevent multiple decimal points</a:t>
            </a:r>
          </a:p>
          <a:p>
            <a:r>
              <a:t>Ensure decimals flow correctly through arithmetic operation</a:t>
            </a:r>
          </a:p>
          <a:p>
            <a:r>
              <a:t>Activities</a:t>
            </a:r>
          </a:p>
          <a:p>
            <a:r>
              <a:t>Ask AI to propose a strategy for handling decimal input</a:t>
            </a:r>
          </a:p>
          <a:p>
            <a:r>
              <a:t>Generate code to block multiple decimals in a single number</a:t>
            </a:r>
          </a:p>
          <a:p>
            <a:r>
              <a:t>Integrate decimal support into the existing input parser</a:t>
            </a:r>
          </a:p>
          <a:p>
            <a:r>
              <a:t>Test decimal operations using AI‑generated test cases</a:t>
            </a:r>
          </a:p>
          <a:p>
            <a:r>
              <a:t>Success Criteria</a:t>
            </a:r>
          </a:p>
          <a:p>
            <a:r>
              <a:t>Decimal input works without duplication errors</a:t>
            </a:r>
          </a:p>
          <a:p>
            <a:r>
              <a:t>Arithmetic with decimals produces correct results</a:t>
            </a:r>
          </a:p>
          <a:p>
            <a:r>
              <a:t>Learner can explain the validation logic</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Calculator Project – Sign Toggle (+/–)</a:t>
            </a:r>
          </a:p>
        </p:txBody>
      </p:sp>
      <p:sp>
        <p:nvSpPr>
          <p:cNvPr id="3" name="Content Placeholder 2"/>
          <p:cNvSpPr>
            <a:spLocks noGrp="1"/>
          </p:cNvSpPr>
          <p:nvPr>
            <p:ph idx="1"/>
          </p:nvPr>
        </p:nvSpPr>
        <p:spPr/>
        <p:txBody>
          <a:bodyPr/>
          <a:lstStyle/>
          <a:p/>
          <a:p>
            <a:r>
              <a:t>Duration: 8 minutes</a:t>
            </a:r>
          </a:p>
          <a:p>
            <a:r>
              <a:t>Objectives</a:t>
            </a:r>
          </a:p>
          <a:p>
            <a:pPr/>
            <a:r>
              <a:t>Use AI to generate logic for toggling numeric sign</a:t>
            </a:r>
          </a:p>
          <a:p>
            <a:pPr/>
            <a:r>
              <a:t>Understand how sign toggling interacts with current input and stored values</a:t>
            </a:r>
          </a:p>
          <a:p>
            <a:r>
              <a:t>Activities</a:t>
            </a:r>
          </a:p>
          <a:p>
            <a:r>
              <a:t>Ask AI to generate a function that toggles sign on the active value</a:t>
            </a:r>
          </a:p>
          <a:p>
            <a:r>
              <a:t>Integrate the function into the input workflow</a:t>
            </a:r>
          </a:p>
          <a:p>
            <a:r>
              <a:t>Test sign toggling before and after entering digits</a:t>
            </a:r>
          </a:p>
          <a:p>
            <a:r>
              <a:t>Success Criteria</a:t>
            </a:r>
          </a:p>
          <a:p>
            <a:pPr/>
            <a:r>
              <a:t>Sign toggle works consistently for integers and decimals</a:t>
            </a:r>
          </a:p>
          <a:p>
            <a:pPr/>
            <a:r>
              <a:t>Learner can explain how the toggle affects stored vs. active value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Calculator Project – Percentage</a:t>
            </a:r>
          </a:p>
        </p:txBody>
      </p:sp>
      <p:sp>
        <p:nvSpPr>
          <p:cNvPr id="3" name="Content Placeholder 2"/>
          <p:cNvSpPr>
            <a:spLocks noGrp="1"/>
          </p:cNvSpPr>
          <p:nvPr>
            <p:ph idx="1"/>
          </p:nvPr>
        </p:nvSpPr>
        <p:spPr/>
        <p:txBody>
          <a:bodyPr/>
          <a:lstStyle/>
          <a:p/>
          <a:p>
            <a:r>
              <a:t>Duration: 15 minutes</a:t>
            </a:r>
          </a:p>
          <a:p>
            <a:r>
              <a:t>Objectives</a:t>
            </a:r>
          </a:p>
          <a:p>
            <a:pPr/>
            <a:r>
              <a:t>Use AI to clarify how calculators interpret %</a:t>
            </a:r>
          </a:p>
          <a:p>
            <a:pPr/>
            <a:r>
              <a:t>Implement percentage logic for common patterns</a:t>
            </a:r>
          </a:p>
          <a:p>
            <a:pPr/>
            <a:r>
              <a:t>Validate behavior with AI‑generated examples</a:t>
            </a:r>
          </a:p>
          <a:p>
            <a:r>
              <a:t>Activities</a:t>
            </a:r>
          </a:p>
          <a:p>
            <a:r>
              <a:t>Ask AI to explain how % should behave in a standard calculator</a:t>
            </a:r>
          </a:p>
          <a:p>
            <a:r>
              <a:t>Generate code for:</a:t>
            </a:r>
          </a:p>
          <a:p>
            <a:r>
              <a:t>X × Y%</a:t>
            </a:r>
          </a:p>
          <a:p>
            <a:r>
              <a:t>Y + X%</a:t>
            </a:r>
          </a:p>
          <a:p>
            <a:r>
              <a:t>Y – X%</a:t>
            </a:r>
          </a:p>
          <a:p>
            <a:r>
              <a:t>3. Test each pattern with AI‑generated sample values</a:t>
            </a:r>
          </a:p>
          <a:p>
            <a:r>
              <a:t>Success Criteria</a:t>
            </a:r>
          </a:p>
          <a:p>
            <a:r>
              <a:t>Percentage operations match standard calculator behavior</a:t>
            </a:r>
          </a:p>
          <a:p>
            <a:r>
              <a:t>Learner can articulate the interpretation rules for %</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Calculator Project – Memory Functions (M+, M–, MR, MC)</a:t>
            </a:r>
          </a:p>
        </p:txBody>
      </p:sp>
      <p:sp>
        <p:nvSpPr>
          <p:cNvPr id="3" name="Content Placeholder 2"/>
          <p:cNvSpPr>
            <a:spLocks noGrp="1"/>
          </p:cNvSpPr>
          <p:nvPr>
            <p:ph idx="1"/>
          </p:nvPr>
        </p:nvSpPr>
        <p:spPr/>
        <p:txBody>
          <a:bodyPr/>
          <a:lstStyle/>
          <a:p/>
          <a:p>
            <a:r>
              <a:t>Duration: 18 minutes</a:t>
            </a:r>
          </a:p>
          <a:p>
            <a:r>
              <a:t>Objectives</a:t>
            </a:r>
          </a:p>
          <a:p>
            <a:pPr/>
            <a:r>
              <a:t>Use AI to design a memory subsystem</a:t>
            </a:r>
          </a:p>
          <a:p>
            <a:pPr/>
            <a:r>
              <a:t>Implement memory add, subtract, recall, and clear</a:t>
            </a:r>
          </a:p>
          <a:p>
            <a:pPr/>
            <a:r>
              <a:t>Validate memory behavior across multiple operations</a:t>
            </a:r>
          </a:p>
          <a:p>
            <a:r>
              <a:t>Activities</a:t>
            </a:r>
          </a:p>
          <a:p>
            <a:r>
              <a:t>Ask AI to propose a memory‑state structure</a:t>
            </a:r>
          </a:p>
          <a:p>
            <a:r>
              <a:t>Generate functions for M+, M–, MR, MC</a:t>
            </a:r>
          </a:p>
          <a:p>
            <a:r>
              <a:t>Integrate memory operations into the calculator workflow</a:t>
            </a:r>
          </a:p>
          <a:p>
            <a:r>
              <a:t>Test memory persistence across multiple calculations</a:t>
            </a:r>
          </a:p>
          <a:p>
            <a:r>
              <a:t>Success Criteria</a:t>
            </a:r>
          </a:p>
          <a:p>
            <a:pPr/>
            <a:r>
              <a:t>Memory functions behave as expected</a:t>
            </a:r>
          </a:p>
          <a:p>
            <a:pPr/>
            <a:r>
              <a:t>Learner can explain how memory state is stored and updated</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Calculator Project – Error Handling</a:t>
            </a:r>
          </a:p>
        </p:txBody>
      </p:sp>
      <p:sp>
        <p:nvSpPr>
          <p:cNvPr id="3" name="Content Placeholder 2"/>
          <p:cNvSpPr>
            <a:spLocks noGrp="1"/>
          </p:cNvSpPr>
          <p:nvPr>
            <p:ph idx="1"/>
          </p:nvPr>
        </p:nvSpPr>
        <p:spPr/>
        <p:txBody>
          <a:bodyPr/>
          <a:lstStyle/>
          <a:p/>
          <a:p>
            <a:r>
              <a:t>Duration: 10 minutes</a:t>
            </a:r>
          </a:p>
          <a:p>
            <a:r>
              <a:t>Objectives</a:t>
            </a:r>
          </a:p>
          <a:p>
            <a:pPr/>
            <a:r>
              <a:t>Use AI to identify common error conditions</a:t>
            </a:r>
          </a:p>
          <a:p>
            <a:pPr/>
            <a:r>
              <a:t>Implement error messages and recovery logic</a:t>
            </a:r>
          </a:p>
          <a:p>
            <a:pPr/>
            <a:r>
              <a:t>Ensure the calculator resets gracefully after errors</a:t>
            </a:r>
          </a:p>
          <a:p>
            <a:r>
              <a:t>Activities</a:t>
            </a:r>
          </a:p>
          <a:p>
            <a:r>
              <a:t>Ask AI to list typical calculator errors (e.g., divide by zero)</a:t>
            </a:r>
          </a:p>
          <a:p>
            <a:r>
              <a:t>Generate code for error detection and display</a:t>
            </a:r>
          </a:p>
          <a:p>
            <a:r>
              <a:t>Implement a reset path after an error</a:t>
            </a:r>
          </a:p>
          <a:p>
            <a:r>
              <a:t>Test error scenarios using AI‑generated test cases</a:t>
            </a:r>
          </a:p>
          <a:p>
            <a:r>
              <a:t>Success Criteria</a:t>
            </a:r>
          </a:p>
          <a:p>
            <a:pPr/>
            <a:r>
              <a:t>Errors are detected and displayed correctly</a:t>
            </a:r>
          </a:p>
          <a:p>
            <a:pPr/>
            <a:r>
              <a:t>Calculator recovers cleanly after reset</a:t>
            </a:r>
          </a:p>
          <a:p>
            <a:pPr/>
            <a:r>
              <a:t>Learner can describe the error‑handling flow</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Calculator Project – Add Trigonometric Functions</a:t>
            </a:r>
          </a:p>
        </p:txBody>
      </p:sp>
      <p:sp>
        <p:nvSpPr>
          <p:cNvPr id="3" name="Content Placeholder 2"/>
          <p:cNvSpPr>
            <a:spLocks noGrp="1"/>
          </p:cNvSpPr>
          <p:nvPr>
            <p:ph idx="1"/>
          </p:nvPr>
        </p:nvSpPr>
        <p:spPr/>
        <p:txBody>
          <a:bodyPr/>
          <a:lstStyle/>
          <a:p/>
          <a:p>
            <a:r>
              <a:t>Duration: 15 minutes</a:t>
            </a:r>
          </a:p>
          <a:p>
            <a:r>
              <a:t>Objectives</a:t>
            </a:r>
          </a:p>
          <a:p>
            <a:pPr/>
            <a:r>
              <a:t>Integrate trigonometric functions into the calculator’s operation set</a:t>
            </a:r>
          </a:p>
          <a:p>
            <a:pPr/>
            <a:r>
              <a:t>Use AI to generate math‑library wrappers and input‑parsing logic</a:t>
            </a:r>
          </a:p>
          <a:p>
            <a:pPr/>
            <a:r>
              <a:t>Ensure correct handling of degrees vs. radians</a:t>
            </a:r>
          </a:p>
          <a:p>
            <a:r>
              <a:t>Activities</a:t>
            </a:r>
          </a:p>
          <a:p>
            <a:r>
              <a:t>Ask AI to generate functions for sin, cos, and tan using your language’s math library</a:t>
            </a:r>
          </a:p>
          <a:p>
            <a:r>
              <a:t>Prompt AI to propose a strategy for handling degree/radian mode</a:t>
            </a:r>
          </a:p>
          <a:p>
            <a:r>
              <a:t>Implement UI bindings or command triggers for each trig function</a:t>
            </a:r>
          </a:p>
          <a:p>
            <a:r>
              <a:t>Use AI to generate a table of sample inputs and expected outputs</a:t>
            </a:r>
          </a:p>
          <a:p>
            <a:r>
              <a:t>Success Criteria</a:t>
            </a:r>
          </a:p>
          <a:p>
            <a:pPr/>
            <a:r>
              <a:t>Trig functions compute correct values in the selected angle mode</a:t>
            </a:r>
          </a:p>
          <a:p>
            <a:pPr/>
            <a:r>
              <a:t>Degree/radian mode switching works consistently</a:t>
            </a:r>
          </a:p>
          <a:p>
            <a:pPr/>
            <a:r>
              <a:t>UI or command triggers correctly call the trig functions</a:t>
            </a:r>
          </a:p>
          <a:p>
            <a:pPr/>
            <a:r>
              <a:t>Learner can explain how AI‑generated code was validated and refine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Calculator Project – UI</a:t>
            </a:r>
          </a:p>
        </p:txBody>
      </p:sp>
      <p:sp>
        <p:nvSpPr>
          <p:cNvPr id="3" name="Content Placeholder 2"/>
          <p:cNvSpPr>
            <a:spLocks noGrp="1"/>
          </p:cNvSpPr>
          <p:nvPr>
            <p:ph idx="1"/>
          </p:nvPr>
        </p:nvSpPr>
        <p:spPr/>
        <p:txBody>
          <a:bodyPr/>
          <a:lstStyle/>
          <a:p/>
          <a:p>
            <a:r>
              <a:t>Duration: 15 minutes</a:t>
            </a:r>
          </a:p>
          <a:p>
            <a:r>
              <a:t>Objectives</a:t>
            </a:r>
          </a:p>
          <a:p>
            <a:pPr/>
            <a:r>
              <a:t>Use AI to scaffold UI event handlers</a:t>
            </a:r>
          </a:p>
          <a:p>
            <a:pPr/>
            <a:r>
              <a:t>Connect buttons to logic functions</a:t>
            </a:r>
          </a:p>
          <a:p>
            <a:pPr/>
            <a:r>
              <a:t>Validate end‑to‑end user workflow</a:t>
            </a:r>
          </a:p>
          <a:p>
            <a:r>
              <a:t>Activities</a:t>
            </a:r>
          </a:p>
          <a:p>
            <a:r>
              <a:t>Ask AI to generate event‑binding code for numeric and operator buttons</a:t>
            </a:r>
          </a:p>
          <a:p>
            <a:r>
              <a:t>Integrate logic functions from previous labs</a:t>
            </a:r>
          </a:p>
          <a:p>
            <a:r>
              <a:t>Test a full workflow:</a:t>
            </a:r>
          </a:p>
          <a:p>
            <a:pPr/>
            <a:r>
              <a:t>Enter decimal</a:t>
            </a:r>
          </a:p>
          <a:p>
            <a:pPr/>
            <a:r>
              <a:t>Toggle sign</a:t>
            </a:r>
          </a:p>
          <a:p>
            <a:pPr/>
            <a:r>
              <a:t>Apply percentage</a:t>
            </a:r>
          </a:p>
          <a:p>
            <a:pPr/>
            <a:r>
              <a:t>Store result in memory</a:t>
            </a:r>
          </a:p>
          <a:p>
            <a:r>
              <a:t>Success Criteria</a:t>
            </a:r>
          </a:p>
          <a:p>
            <a:pPr/>
            <a:r>
              <a:t>UI correctly triggers all calculator functions</a:t>
            </a:r>
          </a:p>
          <a:p>
            <a:pPr/>
            <a:r>
              <a:t>Full workflow completes without errors</a:t>
            </a:r>
          </a:p>
          <a:p>
            <a:pPr/>
            <a:r>
              <a:t>Learner can explain how UI events map to logic functions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Calculator Project - Testing</a:t>
            </a:r>
          </a:p>
        </p:txBody>
      </p:sp>
      <p:sp>
        <p:nvSpPr>
          <p:cNvPr id="3" name="Content Placeholder 2"/>
          <p:cNvSpPr>
            <a:spLocks noGrp="1"/>
          </p:cNvSpPr>
          <p:nvPr>
            <p:ph idx="1"/>
          </p:nvPr>
        </p:nvSpPr>
        <p:spPr/>
        <p:txBody>
          <a:bodyPr/>
          <a:lstStyle/>
          <a:p/>
          <a:p>
            <a:r>
              <a:t>Duration: 45-60 minutes</a:t>
            </a:r>
          </a:p>
          <a:p>
            <a:r>
              <a:t>Objectives</a:t>
            </a:r>
          </a:p>
          <a:p>
            <a:pPr/>
            <a:r>
              <a:t>Generate unit tests with AI assistance</a:t>
            </a:r>
          </a:p>
          <a:p>
            <a:pPr/>
            <a:r>
              <a:t>Identify quality issues in generated tests</a:t>
            </a:r>
          </a:p>
          <a:p>
            <a:pPr/>
            <a:r>
              <a:t>Understand the importance of reviewing AI-generated tests</a:t>
            </a:r>
          </a:p>
          <a:p>
            <a:r>
              <a:t>Activities</a:t>
            </a:r>
          </a:p>
          <a:p>
            <a:r>
              <a:t>1. Generate Initial Tests:</a:t>
            </a:r>
          </a:p>
          <a:p>
            <a:pPr/>
            <a:r>
              <a:t>Prompt: "Create unit tests for the calculator operations"</a:t>
            </a:r>
          </a:p>
          <a:p>
            <a:pPr/>
            <a:r>
              <a:t>Review generated test structure</a:t>
            </a:r>
          </a:p>
          <a:p>
            <a:pPr/>
            <a:r>
              <a:t>Critical Review: Are tests calling your calculator code?</a:t>
            </a:r>
          </a:p>
          <a:p>
            <a:r>
              <a:t>2. Fix Test Issues (Replicating Session Demo):</a:t>
            </a:r>
          </a:p>
          <a:p>
            <a:pPr/>
            <a:r>
              <a:t>If tests are too simple (like `1 + 1 = 2` without calling calculator):</a:t>
            </a:r>
          </a:p>
          <a:p>
            <a:pPr/>
            <a:r>
              <a:t>Identify the problem</a:t>
            </a:r>
          </a:p>
          <a:p>
            <a:pPr/>
            <a:r>
              <a:t>Ask Copilot to fix it: "Update tests to call Calculator class methods"</a:t>
            </a:r>
          </a:p>
          <a:p>
            <a:pPr/>
            <a:r>
              <a:t>Verify tests now test actual implementation</a:t>
            </a:r>
          </a:p>
          <a:p>
            <a:r>
              <a:t>3. Run Tests:</a:t>
            </a:r>
          </a:p>
          <a:p>
            <a:pPr/>
            <a:r>
              <a:t>Execute test suite</a:t>
            </a:r>
          </a:p>
          <a:p>
            <a:pPr/>
            <a:r>
              <a:t>Review test output</a:t>
            </a:r>
          </a:p>
          <a:p>
            <a:pPr/>
            <a:r>
              <a:t>Debug any failing tests with Copilot's help</a:t>
            </a:r>
          </a:p>
          <a:p>
            <a:r>
              <a:t>4. Add Edge Cases:</a:t>
            </a:r>
          </a:p>
          <a:p>
            <a:pPr/>
            <a:r>
              <a:t>Prompt: "Add tests for edge cases like division by zero"</a:t>
            </a:r>
          </a:p>
          <a:p>
            <a:pPr/>
            <a:r>
              <a:t>Verify exception handling tests are correct</a:t>
            </a:r>
          </a:p>
          <a:p>
            <a:r>
              <a:t>Success Criteria</a:t>
            </a:r>
          </a:p>
          <a:p>
            <a:pPr/>
            <a:r>
              <a:t>Test suite with minimum 8 test cases</a:t>
            </a:r>
          </a:p>
          <a:p>
            <a:pPr/>
            <a:r>
              <a:t>All tests call actual calculator methods (not just language arithmetic)</a:t>
            </a:r>
          </a:p>
          <a:p>
            <a:pPr/>
            <a:r>
              <a:t>Tests include edge cases and error conditions</a:t>
            </a:r>
          </a:p>
          <a:p>
            <a:pPr/>
            <a:r>
              <a:t>All tests pass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Code Coverage</a:t>
            </a:r>
          </a:p>
        </p:txBody>
      </p:sp>
      <p:sp>
        <p:nvSpPr>
          <p:cNvPr id="3" name="Content Placeholder 2"/>
          <p:cNvSpPr>
            <a:spLocks noGrp="1"/>
          </p:cNvSpPr>
          <p:nvPr>
            <p:ph idx="1"/>
          </p:nvPr>
        </p:nvSpPr>
        <p:spPr/>
        <p:txBody>
          <a:bodyPr/>
          <a:lstStyle/>
          <a:p/>
          <a:p>
            <a:r>
              <a:t>Duration: 30-40 minutes</a:t>
            </a:r>
          </a:p>
          <a:p>
            <a:r>
              <a:t>Objectives</a:t>
            </a:r>
          </a:p>
          <a:p>
            <a:pPr/>
            <a:r>
              <a:t>Set up code coverage reporting</a:t>
            </a:r>
          </a:p>
          <a:p>
            <a:pPr/>
            <a:r>
              <a:t>Interpret coverage results</a:t>
            </a:r>
          </a:p>
          <a:p>
            <a:pPr/>
            <a:r>
              <a:t>Improve test coverage based on gaps</a:t>
            </a:r>
          </a:p>
          <a:p>
            <a:r>
              <a:t>Activities</a:t>
            </a:r>
          </a:p>
          <a:p>
            <a:r>
              <a:t>1. Enable Coverage Collection:</a:t>
            </a:r>
          </a:p>
          <a:p>
            <a:pPr/>
            <a:r>
              <a:t>Prompt: "Add code coverage reporting to my test project"</a:t>
            </a:r>
          </a:p>
          <a:p>
            <a:pPr/>
            <a:r>
              <a:t>Review package dependencies added</a:t>
            </a:r>
          </a:p>
          <a:p>
            <a:pPr/>
            <a:r>
              <a:t>Handle any NuGet/dependency issues with Copilot's help</a:t>
            </a:r>
          </a:p>
          <a:p>
            <a:r>
              <a:t>2. Generate Coverage Report:</a:t>
            </a:r>
          </a:p>
          <a:p>
            <a:pPr/>
            <a:r>
              <a:t>Run tests with coverage enabled</a:t>
            </a:r>
          </a:p>
          <a:p>
            <a:pPr/>
            <a:r>
              <a:t>Review coverage percentage</a:t>
            </a:r>
          </a:p>
          <a:p>
            <a:pPr/>
            <a:r>
              <a:t>Identify uncovered code paths</a:t>
            </a:r>
          </a:p>
          <a:p>
            <a:r>
              <a:t>3. Improve Coverage:</a:t>
            </a:r>
          </a:p>
          <a:p>
            <a:pPr/>
            <a:r>
              <a:t>Add tests for uncovered methods</a:t>
            </a:r>
          </a:p>
          <a:p>
            <a:pPr/>
            <a:r>
              <a:t>Re-run coverage to verify improvement</a:t>
            </a:r>
          </a:p>
          <a:p>
            <a:pPr/>
            <a:r>
              <a:t>Discuss: Is 100% coverage always necessary?</a:t>
            </a:r>
          </a:p>
          <a:p>
            <a:r>
              <a:t>Success Criteria</a:t>
            </a:r>
          </a:p>
          <a:p>
            <a:pPr/>
            <a:r>
              <a:t>Code coverage reporting successfully configured</a:t>
            </a:r>
          </a:p>
          <a:p>
            <a:pPr/>
            <a:r>
              <a:t>Can generate and read coverage reports</a:t>
            </a:r>
          </a:p>
          <a:p>
            <a:pPr/>
            <a:r>
              <a:t>Achieved reasonable coverage (&gt;80% line coverage)</a:t>
            </a:r>
          </a:p>
          <a:p>
            <a:pPr/>
            <a:r>
              <a:t>Understand what coverage metrics mean</a:t>
            </a:r>
          </a:p>
          <a:p>
            <a:r>
              <a:t>Discussion Points</a:t>
            </a:r>
          </a:p>
          <a:p>
            <a:pPr/>
            <a:r>
              <a:t>Feature coverage vs. code coverage (as raised by Tom in the session)</a:t>
            </a:r>
          </a:p>
          <a:p>
            <a:pPr/>
            <a:r>
              <a:t>When is test coverage sufficient?</a:t>
            </a:r>
          </a:p>
          <a:p>
            <a:pPr/>
            <a:r>
              <a:t>Quality of tests vs. quantity</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Dependency Management &amp; Troubleshooting</a:t>
            </a:r>
          </a:p>
        </p:txBody>
      </p:sp>
      <p:sp>
        <p:nvSpPr>
          <p:cNvPr id="3" name="Content Placeholder 2"/>
          <p:cNvSpPr>
            <a:spLocks noGrp="1"/>
          </p:cNvSpPr>
          <p:nvPr>
            <p:ph idx="1"/>
          </p:nvPr>
        </p:nvSpPr>
        <p:spPr/>
        <p:txBody>
          <a:bodyPr/>
          <a:lstStyle/>
          <a:p/>
          <a:p>
            <a:r>
              <a:t>Duration: 30-40 minutes</a:t>
            </a:r>
          </a:p>
          <a:p>
            <a:r>
              <a:t>Objectives</a:t>
            </a:r>
          </a:p>
          <a:p>
            <a:pPr/>
            <a:r>
              <a:t>Use Copilot to resolve dependency issues</a:t>
            </a:r>
          </a:p>
          <a:p>
            <a:pPr/>
            <a:r>
              <a:t>Handle package restoration problems</a:t>
            </a:r>
          </a:p>
          <a:p>
            <a:pPr/>
            <a:r>
              <a:t>Practice iterative problem-solving with AI</a:t>
            </a:r>
          </a:p>
          <a:p>
            <a:r>
              <a:t>Activities</a:t>
            </a:r>
          </a:p>
          <a:p>
            <a:r>
              <a:t>1. Simulate or Identify a Dependency Issue:</a:t>
            </a:r>
          </a:p>
          <a:p>
            <a:pPr/>
            <a:r>
              <a:t>Introduce a version conflict (or use existing issue)</a:t>
            </a:r>
          </a:p>
          <a:p>
            <a:pPr/>
            <a:r>
              <a:t>Prompt: "I'm getting [specific error]. How do I fix it?"</a:t>
            </a:r>
          </a:p>
          <a:p>
            <a:r>
              <a:t>2. Follow Copilot's Guidance:</a:t>
            </a:r>
          </a:p>
          <a:p>
            <a:pPr/>
            <a:r>
              <a:t>Review suggested solutions</a:t>
            </a:r>
          </a:p>
          <a:p>
            <a:pPr/>
            <a:r>
              <a:t>Evaluate multiple approaches if offered</a:t>
            </a:r>
          </a:p>
          <a:p>
            <a:pPr/>
            <a:r>
              <a:t>Choose best solution collaboratively</a:t>
            </a:r>
          </a:p>
          <a:p>
            <a:r>
              <a:t>3. Iterative Resolution:</a:t>
            </a:r>
          </a:p>
          <a:p>
            <a:pPr/>
            <a:r>
              <a:t>If first solution doesn't work, provide error details</a:t>
            </a:r>
          </a:p>
          <a:p>
            <a:pPr/>
            <a:r>
              <a:t>Continue conversation until resolved</a:t>
            </a:r>
          </a:p>
          <a:p>
            <a:r>
              <a:t>4. Common Issues to Practice:</a:t>
            </a:r>
          </a:p>
          <a:p>
            <a:pPr/>
            <a:r>
              <a:t>NuGet package source configuration</a:t>
            </a:r>
          </a:p>
          <a:p>
            <a:pPr/>
            <a:r>
              <a:t>MSTest adapter version conflicts</a:t>
            </a:r>
          </a:p>
          <a:p>
            <a:pPr/>
            <a:r>
              <a:t>.NET SDK targeting issues</a:t>
            </a:r>
          </a:p>
          <a:p>
            <a:pPr/>
            <a:r>
              <a:t>Package restoration failures</a:t>
            </a:r>
          </a:p>
          <a:p>
            <a:r>
              <a:t>Success Criteria</a:t>
            </a:r>
          </a:p>
          <a:p>
            <a:pPr/>
            <a:r>
              <a:t>Successfully resolved at least one dependency issue</a:t>
            </a:r>
          </a:p>
          <a:p>
            <a:pPr/>
            <a:r>
              <a:t>Understand how to provide error context to Copilot</a:t>
            </a:r>
          </a:p>
          <a:p>
            <a:pPr/>
            <a:r>
              <a:t>Practiced iterative problem-solving approach</a:t>
            </a:r>
          </a:p>
          <a:p>
            <a:r>
              <a:t>Real-World Scenario</a:t>
            </a:r>
          </a:p>
          <a:p>
            <a:pPr/>
            <a:r>
              <a:t>This lab replicates the exact dependency challenges encountered in the training session:</a:t>
            </a:r>
          </a:p>
          <a:p>
            <a:pPr/>
            <a:r>
              <a:t>Updating test project to target .NET 8</a:t>
            </a:r>
          </a:p>
          <a:p>
            <a:pPr/>
            <a:r>
              <a:t>Resolving NuGet.org package source mapping</a:t>
            </a:r>
          </a:p>
          <a:p>
            <a:pPr/>
            <a:r>
              <a:t>MSTest adapter compatibility issues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Best Practices Review &amp; Code Quality</a:t>
            </a:r>
          </a:p>
        </p:txBody>
      </p:sp>
      <p:sp>
        <p:nvSpPr>
          <p:cNvPr id="3" name="Content Placeholder 2"/>
          <p:cNvSpPr>
            <a:spLocks noGrp="1"/>
          </p:cNvSpPr>
          <p:nvPr>
            <p:ph idx="1"/>
          </p:nvPr>
        </p:nvSpPr>
        <p:spPr/>
        <p:txBody>
          <a:bodyPr/>
          <a:lstStyle/>
          <a:p/>
          <a:p>
            <a:r>
              <a:t>Duration: 30-40 minutes</a:t>
            </a:r>
          </a:p>
          <a:p>
            <a:r>
              <a:t>Objectives</a:t>
            </a:r>
          </a:p>
          <a:p>
            <a:pPr/>
            <a:r>
              <a:t>Apply best practices learned in session</a:t>
            </a:r>
          </a:p>
          <a:p>
            <a:pPr/>
            <a:r>
              <a:t>Review code quality systematically</a:t>
            </a:r>
          </a:p>
          <a:p>
            <a:pPr/>
            <a:r>
              <a:t>Identify and fix issues</a:t>
            </a:r>
          </a:p>
          <a:p>
            <a:r>
              <a:t>Activities</a:t>
            </a:r>
          </a:p>
          <a:p>
            <a:r>
              <a:t>1. Code Quality Check:</a:t>
            </a:r>
          </a:p>
          <a:p>
            <a:pPr/>
            <a:r>
              <a:t>Prompt: "Suggest improvements for code quality and maintainability"</a:t>
            </a:r>
          </a:p>
          <a:p>
            <a:pPr/>
            <a:r>
              <a:t>Evaluate suggestions critically</a:t>
            </a:r>
          </a:p>
          <a:p>
            <a:pPr/>
            <a:r>
              <a:t>Implement valuable improvements</a:t>
            </a:r>
          </a:p>
          <a:p>
            <a:r>
              <a:t>Success Criteria</a:t>
            </a:r>
          </a:p>
          <a:p>
            <a:pPr/>
            <a:r>
              <a:t>Comprehensive documentation added</a:t>
            </a:r>
          </a:p>
          <a:p>
            <a:pPr/>
            <a:r>
              <a:t>Critically evaluated all AI suggestions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Model Comparisons</a:t>
            </a:r>
          </a:p>
        </p:txBody>
      </p:sp>
      <p:sp>
        <p:nvSpPr>
          <p:cNvPr id="3" name="Content Placeholder 2"/>
          <p:cNvSpPr>
            <a:spLocks noGrp="1"/>
          </p:cNvSpPr>
          <p:nvPr>
            <p:ph idx="1"/>
          </p:nvPr>
        </p:nvSpPr>
        <p:spPr/>
        <p:txBody>
          <a:bodyPr/>
          <a:lstStyle/>
          <a:p/>
          <a:p>
            <a:r>
              <a:t>Duration: 20-30 minutes</a:t>
            </a:r>
          </a:p>
          <a:p>
            <a:r>
              <a:t>Objectives</a:t>
            </a:r>
          </a:p>
          <a:p>
            <a:pPr/>
            <a:r>
              <a:t>Compare outputs from different AI models</a:t>
            </a:r>
          </a:p>
          <a:p>
            <a:pPr/>
            <a:r>
              <a:t>Understand when to use premium vs standard models</a:t>
            </a:r>
          </a:p>
          <a:p>
            <a:pPr/>
            <a:r>
              <a:t>Monitor token usage</a:t>
            </a:r>
          </a:p>
          <a:p>
            <a:r>
              <a:t>Activities</a:t>
            </a:r>
          </a:p>
          <a:p>
            <a:r>
              <a:t>1. Same Prompt, Different Models:</a:t>
            </a:r>
          </a:p>
          <a:p>
            <a:pPr/>
            <a:r>
              <a:t>Choose a coding task (e.g., "implement bubble sort")</a:t>
            </a:r>
          </a:p>
          <a:p>
            <a:pPr/>
            <a:r>
              <a:t>Try with GPT-4 (standard - unlimited)</a:t>
            </a:r>
          </a:p>
          <a:p>
            <a:pPr/>
            <a:r>
              <a:t>Try with Claude Sonnet (premium - 1x token)</a:t>
            </a:r>
          </a:p>
          <a:p>
            <a:pPr/>
            <a:r>
              <a:t>Compare results for quality, style, completeness</a:t>
            </a:r>
          </a:p>
          <a:p>
            <a:r>
              <a:t>2. Token Usage Analysis:</a:t>
            </a:r>
          </a:p>
          <a:p>
            <a:pPr/>
            <a:r>
              <a:t>Check premium token bar before and after</a:t>
            </a:r>
          </a:p>
          <a:p>
            <a:pPr/>
            <a:r>
              <a:t>Calculate tokens consumed</a:t>
            </a:r>
          </a:p>
          <a:p>
            <a:pPr/>
            <a:r>
              <a:t>Discuss: Was premium model worth the cost?</a:t>
            </a:r>
          </a:p>
          <a:p>
            <a:r>
              <a:t>3. Best Use Cases:</a:t>
            </a:r>
          </a:p>
          <a:p>
            <a:pPr/>
            <a:r>
              <a:t>Identify tasks where standard models suffice</a:t>
            </a:r>
          </a:p>
          <a:p>
            <a:pPr/>
            <a:r>
              <a:t>Identify tasks requiring premium models</a:t>
            </a:r>
          </a:p>
          <a:p>
            <a:pPr/>
            <a:r>
              <a:t>Create personal guidelines for model selection</a:t>
            </a:r>
          </a:p>
          <a:p>
            <a:r>
              <a:t>4. Ask Mode Advantage:</a:t>
            </a:r>
          </a:p>
          <a:p>
            <a:pPr/>
            <a:r>
              <a:t>Use Ask mode with premium models (no token cost)</a:t>
            </a:r>
          </a:p>
          <a:p>
            <a:pPr/>
            <a:r>
              <a:t>Compare to Agent mode token consumption</a:t>
            </a:r>
          </a:p>
          <a:p>
            <a:r>
              <a:t>Success Criteria</a:t>
            </a:r>
          </a:p>
          <a:p>
            <a:pPr/>
            <a:r>
              <a:t>Compared at least 2 different models</a:t>
            </a:r>
          </a:p>
          <a:p>
            <a:pPr/>
            <a:r>
              <a:t>Understand token consumption impact</a:t>
            </a:r>
          </a:p>
          <a:p>
            <a:pPr/>
            <a:r>
              <a:t>Can make informed model selection decisions</a:t>
            </a:r>
          </a:p>
          <a:p>
            <a:r>
              <a:t>Token Economics</a:t>
            </a:r>
          </a:p>
          <a:p>
            <a:pPr/>
            <a:r>
              <a:t>Standard models (unlimited): ChatGPT-4</a:t>
            </a:r>
          </a:p>
          <a:p>
            <a:pPr/>
            <a:r>
              <a:t>Premium tokens (counted):</a:t>
            </a:r>
          </a:p>
          <a:p>
            <a:pPr/>
            <a:r>
              <a:t>Claude Haiku 4.5: 1/3 token per request</a:t>
            </a:r>
          </a:p>
          <a:p>
            <a:pPr/>
            <a:r>
              <a:t>Claude Sonnet: 1x token per request</a:t>
            </a:r>
          </a:p>
          <a:p>
            <a:pPr/>
            <a:r>
              <a:t>O2 mini: 1/3 token per request</a:t>
            </a:r>
          </a:p>
          <a:p>
            <a:pPr/>
            <a:r>
              <a:t>New models: May be 10x when first released</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Calculator Project – Encapsulate Core Logic</a:t>
            </a:r>
          </a:p>
        </p:txBody>
      </p:sp>
      <p:sp>
        <p:nvSpPr>
          <p:cNvPr id="3" name="Content Placeholder 2"/>
          <p:cNvSpPr>
            <a:spLocks noGrp="1"/>
          </p:cNvSpPr>
          <p:nvPr>
            <p:ph idx="1"/>
          </p:nvPr>
        </p:nvSpPr>
        <p:spPr/>
        <p:txBody>
          <a:bodyPr/>
          <a:lstStyle/>
          <a:p/>
          <a:p>
            <a:r>
              <a:t>Duration: 15 minutes</a:t>
            </a:r>
          </a:p>
          <a:p>
            <a:r>
              <a:t>Objectives</a:t>
            </a:r>
          </a:p>
          <a:p>
            <a:r>
              <a:t>Separate UI concerns from computational logic</a:t>
            </a:r>
          </a:p>
          <a:p>
            <a:r>
              <a:t>Use AI to scaffold a standalone “core logic” module/class</a:t>
            </a:r>
          </a:p>
          <a:p>
            <a:r>
              <a:t>Ensure the UI communicates with the logic layer through a clean, well‑defined API</a:t>
            </a:r>
          </a:p>
          <a:p>
            <a:r>
              <a:t>Validate that encapsulation improves testability and maintainability</a:t>
            </a:r>
          </a:p>
          <a:p>
            <a:r>
              <a:t>Activities</a:t>
            </a:r>
          </a:p>
          <a:p>
            <a:r>
              <a:t>1. - Ask AI to generate a dedicated component (e.g., CalculatorEngine, CalculatorCore) containing:</a:t>
            </a:r>
          </a:p>
          <a:p>
            <a:pPr/>
            <a:r>
              <a:t>Arithmetic operations</a:t>
            </a:r>
          </a:p>
          <a:p>
            <a:pPr/>
            <a:r>
              <a:t>State management</a:t>
            </a:r>
          </a:p>
          <a:p>
            <a:pPr/>
            <a:r>
              <a:t>Trig/percentage/memory logic (if implemented)</a:t>
            </a:r>
          </a:p>
          <a:p>
            <a:r>
              <a:t>2. Review the AI‑generated API surface and refine naming, inputs, and return types</a:t>
            </a:r>
          </a:p>
          <a:p>
            <a:r>
              <a:t>3. Replace UI‑embedded logic with calls into the new component</a:t>
            </a:r>
          </a:p>
          <a:p>
            <a:r>
              <a:t>Success Criteria</a:t>
            </a:r>
          </a:p>
          <a:p>
            <a:pPr/>
            <a:r>
              <a:t>All calculator features run through the external logic component</a:t>
            </a:r>
          </a:p>
          <a:p>
            <a:pPr/>
            <a:r>
              <a:t>UI contains no computational logic — only event handling and display updates</a:t>
            </a:r>
          </a:p>
          <a:p>
            <a:pPr/>
            <a:r>
              <a:t>Learner can explain how encapsulation improves modularity, reuse, and AI‑assisted development workflow</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Security Review</a:t>
            </a:r>
          </a:p>
        </p:txBody>
      </p:sp>
      <p:sp>
        <p:nvSpPr>
          <p:cNvPr id="3" name="Content Placeholder 2"/>
          <p:cNvSpPr>
            <a:spLocks noGrp="1"/>
          </p:cNvSpPr>
          <p:nvPr>
            <p:ph idx="1"/>
          </p:nvPr>
        </p:nvSpPr>
        <p:spPr/>
        <p:txBody>
          <a:bodyPr/>
          <a:lstStyle/>
          <a:p/>
          <a:p>
            <a:r>
              <a:t>Duration: 30-40 minutes</a:t>
            </a:r>
          </a:p>
          <a:p>
            <a:r>
              <a:t>Objectives</a:t>
            </a:r>
          </a:p>
          <a:p>
            <a:pPr/>
            <a:r>
              <a:t>Apply best practices learned in session</a:t>
            </a:r>
          </a:p>
          <a:p>
            <a:pPr/>
            <a:r>
              <a:t>Review code quality systematically</a:t>
            </a:r>
          </a:p>
          <a:p>
            <a:pPr/>
            <a:r>
              <a:t>Identify and fix issues</a:t>
            </a:r>
          </a:p>
          <a:p>
            <a:r>
              <a:t>Activities</a:t>
            </a:r>
          </a:p>
          <a:p>
            <a:r>
              <a:t>1. Security Review:</a:t>
            </a:r>
          </a:p>
          <a:p>
            <a:pPr/>
            <a:r>
              <a:t>Prompt: "Review this code for security vulnerabilities"</a:t>
            </a:r>
          </a:p>
          <a:p>
            <a:pPr/>
            <a:r>
              <a:t>Address any identified issues</a:t>
            </a:r>
          </a:p>
          <a:p>
            <a:pPr/>
            <a:r>
              <a:t>Add input validation where missing</a:t>
            </a:r>
          </a:p>
          <a:p>
            <a:r>
              <a:t>Success Criteria</a:t>
            </a:r>
          </a:p>
          <a:p>
            <a:pPr/>
            <a:r>
              <a:t>Code has no obvious security issues</a:t>
            </a:r>
          </a:p>
          <a:p>
            <a:pPr/>
            <a:r>
              <a:t>Critically evaluated all AI suggestions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Documentation</a:t>
            </a:r>
          </a:p>
        </p:txBody>
      </p:sp>
      <p:sp>
        <p:nvSpPr>
          <p:cNvPr id="3" name="Content Placeholder 2"/>
          <p:cNvSpPr>
            <a:spLocks noGrp="1"/>
          </p:cNvSpPr>
          <p:nvPr>
            <p:ph idx="1"/>
          </p:nvPr>
        </p:nvSpPr>
        <p:spPr/>
        <p:txBody>
          <a:bodyPr/>
          <a:lstStyle/>
          <a:p/>
          <a:p>
            <a:r>
              <a:t>Duration: 30-40 minutes</a:t>
            </a:r>
          </a:p>
          <a:p>
            <a:r>
              <a:t>Objectives</a:t>
            </a:r>
          </a:p>
          <a:p>
            <a:pPr/>
            <a:r>
              <a:t>Add documentation to a project</a:t>
            </a:r>
          </a:p>
          <a:p>
            <a:pPr/>
            <a:r>
              <a:t>Update existing documentation</a:t>
            </a:r>
          </a:p>
          <a:p>
            <a:r>
              <a:t>Activities</a:t>
            </a:r>
          </a:p>
          <a:p>
            <a:r>
              <a:t>1. Documentation:</a:t>
            </a:r>
          </a:p>
          <a:p>
            <a:pPr/>
            <a:r>
              <a:t>Ask Copilot to generate XML/doc comments</a:t>
            </a:r>
          </a:p>
          <a:p>
            <a:pPr/>
            <a:r>
              <a:t>Review for accuracy and completeness</a:t>
            </a:r>
          </a:p>
          <a:p>
            <a:pPr/>
            <a:r>
              <a:t>Add README with usage instruction</a:t>
            </a:r>
          </a:p>
          <a:p>
            <a:pPr/>
            <a:r>
              <a:t>Ask AI to update existing documentation</a:t>
            </a:r>
          </a:p>
          <a:p>
            <a:r>
              <a:t>Success Criteria</a:t>
            </a:r>
          </a:p>
          <a:p>
            <a:pPr/>
            <a:r>
              <a:t>Comprehensive documentation added</a:t>
            </a:r>
          </a:p>
          <a:p>
            <a:pPr/>
            <a:r>
              <a:t>Critically evaluated all AI suggestions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Refactoring</a:t>
            </a:r>
          </a:p>
        </p:txBody>
      </p:sp>
      <p:sp>
        <p:nvSpPr>
          <p:cNvPr id="3" name="Content Placeholder 2"/>
          <p:cNvSpPr>
            <a:spLocks noGrp="1"/>
          </p:cNvSpPr>
          <p:nvPr>
            <p:ph idx="1"/>
          </p:nvPr>
        </p:nvSpPr>
        <p:spPr/>
        <p:txBody>
          <a:bodyPr/>
          <a:lstStyle/>
          <a:p/>
          <a:p>
            <a:r>
              <a:t>Duration: 30-40 minutes</a:t>
            </a:r>
          </a:p>
          <a:p>
            <a:r>
              <a:t>Objectives</a:t>
            </a:r>
          </a:p>
          <a:p>
            <a:pPr/>
            <a:r>
              <a:t>Apply best practices learned in session</a:t>
            </a:r>
          </a:p>
          <a:p>
            <a:pPr/>
            <a:r>
              <a:t>Review code quality systematically</a:t>
            </a:r>
          </a:p>
          <a:p>
            <a:pPr/>
            <a:r>
              <a:t>Identify and fix issues</a:t>
            </a:r>
          </a:p>
          <a:p>
            <a:r>
              <a:t>Activities</a:t>
            </a:r>
          </a:p>
          <a:p>
            <a:r>
              <a:t>1. Refactoring Exercise:</a:t>
            </a:r>
          </a:p>
          <a:p>
            <a:pPr/>
            <a:r>
              <a:t>Ask Copilot for alternative implementation approaches</a:t>
            </a:r>
          </a:p>
          <a:p>
            <a:pPr/>
            <a:r>
              <a:t>Compare different solutions</a:t>
            </a:r>
          </a:p>
          <a:p>
            <a:pPr/>
            <a:r>
              <a:t>Discuss trade-offs (as mentioned in session)</a:t>
            </a:r>
          </a:p>
          <a:p>
            <a:r>
              <a:t>Success Criteria</a:t>
            </a:r>
          </a:p>
          <a:p>
            <a:pPr/>
            <a:r>
              <a:t>Code has no obvious security issues</a:t>
            </a:r>
          </a:p>
          <a:p>
            <a:pPr/>
            <a:r>
              <a:t>Comprehensive documentation added</a:t>
            </a:r>
          </a:p>
          <a:p>
            <a:pPr/>
            <a:r>
              <a:t>At least one refactoring improvement implemented</a:t>
            </a:r>
          </a:p>
          <a:p>
            <a:pPr/>
            <a:r>
              <a:t>Critically evaluated all AI suggestions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Evergreen Software Development - Core Principles</a:t>
            </a:r>
          </a:p>
        </p:txBody>
      </p:sp>
      <p:sp>
        <p:nvSpPr>
          <p:cNvPr id="3" name="Content Placeholder 2"/>
          <p:cNvSpPr>
            <a:spLocks noGrp="1"/>
          </p:cNvSpPr>
          <p:nvPr>
            <p:ph idx="1"/>
          </p:nvPr>
        </p:nvSpPr>
        <p:spPr/>
        <p:txBody>
          <a:bodyPr/>
          <a:lstStyle/>
          <a:p/>
          <a:p>
            <a:r>
              <a:t>Intent‑First Design</a:t>
            </a:r>
          </a:p>
          <a:p>
            <a:pPr/>
            <a:r>
              <a:t>Define the system’s purpose, invariants, and boundaries before writing code to ensure long‑term clarity.</a:t>
            </a:r>
          </a:p>
          <a:p>
            <a:r>
              <a:t>Stable Interfaces, Evolving Internals</a:t>
            </a:r>
          </a:p>
          <a:p>
            <a:pPr/>
            <a:r>
              <a:t>Keep contracts predictable while allowing implementations to improve continuously.</a:t>
            </a:r>
          </a:p>
          <a:p>
            <a:r>
              <a:t>Continuous Regeneration with Guardrails</a:t>
            </a:r>
          </a:p>
          <a:p>
            <a:pPr/>
            <a:r>
              <a:t>Use AI to rewrite or extend components safely, backed by tests, specs, and architectural constraints.</a:t>
            </a:r>
          </a:p>
          <a:p>
            <a:r>
              <a:t>Modular, Replaceable Components</a:t>
            </a:r>
          </a:p>
          <a:p>
            <a:pPr/>
            <a:r>
              <a:t>Structure the system so any part can be regenerated, swapped, or upgraded without cascading breakage.</a:t>
            </a:r>
          </a:p>
          <a:p>
            <a:r>
              <a:t>Lifecycle Governance</a:t>
            </a:r>
          </a:p>
          <a:p>
            <a:pPr/>
            <a:r>
              <a:t>Maintain quality through automated tests, versioning discipline, and human‑in‑the‑loop validation.</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Software Engineering vs “Vibe Coding”</a:t>
            </a:r>
          </a:p>
        </p:txBody>
      </p:sp>
      <p:sp>
        <p:nvSpPr>
          <p:cNvPr id="3" name="Content Placeholder 2"/>
          <p:cNvSpPr>
            <a:spLocks noGrp="1"/>
          </p:cNvSpPr>
          <p:nvPr>
            <p:ph idx="1"/>
          </p:nvPr>
        </p:nvSpPr>
        <p:spPr/>
        <p:txBody>
          <a:bodyPr/>
          <a:lstStyle/>
          <a:p/>
          <a:p>
            <a:r>
              <a:t>Engineering approach: systematic, tested, documented, maintainable</a:t>
            </a:r>
          </a:p>
          <a:p>
            <a:r>
              <a:t>Vibe coding: “it works” mentality, technical debt accumulation</a:t>
            </a:r>
          </a:p>
          <a:p>
            <a:r>
              <a:t>AI should enhance engineering practices, not replace them</a:t>
            </a:r>
          </a:p>
          <a:p>
            <a:r>
              <a:t>Proper testing, code review, and architecture still essential</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Software Fails to Be Evergreen</a:t>
            </a:r>
          </a:p>
        </p:txBody>
      </p:sp>
      <p:sp>
        <p:nvSpPr>
          <p:cNvPr id="3" name="Content Placeholder 2"/>
          <p:cNvSpPr>
            <a:spLocks noGrp="1"/>
          </p:cNvSpPr>
          <p:nvPr>
            <p:ph idx="1"/>
          </p:nvPr>
        </p:nvSpPr>
        <p:spPr/>
        <p:txBody>
          <a:bodyPr/>
          <a:lstStyle/>
          <a:p/>
          <a:p>
            <a:r>
              <a:t>Intent Rot</a:t>
            </a:r>
          </a:p>
          <a:p>
            <a:pPr/>
            <a:r>
              <a:t>The original purpose, constraints, and invariants are undocumented or lost, making safe regeneration impossible.</a:t>
            </a:r>
          </a:p>
          <a:p>
            <a:r>
              <a:t>Unstable or Leaky Interfaces</a:t>
            </a:r>
          </a:p>
          <a:p>
            <a:pPr/>
            <a:r>
              <a:t>APIs, data contracts, and boundaries change unpredictably, causing cascading breakage when internals evolve.</a:t>
            </a:r>
          </a:p>
          <a:p>
            <a:r>
              <a:t>Tightly Coupled Architecture</a:t>
            </a:r>
          </a:p>
          <a:p>
            <a:pPr/>
            <a:r>
              <a:t>Components depend on each other’s internal details, preventing isolated regeneration or replacement.</a:t>
            </a:r>
          </a:p>
          <a:p>
            <a:r>
              <a:t>Insufficient Guardrails</a:t>
            </a:r>
          </a:p>
          <a:p>
            <a:pPr/>
            <a:r>
              <a:t>Missing tests, specs, or validation layers mean AI‑assisted regeneration can’t be trusted to preserve behavior.</a:t>
            </a:r>
          </a:p>
          <a:p>
            <a:r>
              <a:t>One‑Off Patches and Drift</a:t>
            </a:r>
          </a:p>
          <a:p>
            <a:pPr/>
            <a:r>
              <a:t>Ad‑hoc fixes accumulate, diverging the system from its intended design and making regeneration unsafe.</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Multi‑Model Implementation Comparison</a:t>
            </a:r>
          </a:p>
        </p:txBody>
      </p:sp>
      <p:sp>
        <p:nvSpPr>
          <p:cNvPr id="3" name="Content Placeholder 2"/>
          <p:cNvSpPr>
            <a:spLocks noGrp="1"/>
          </p:cNvSpPr>
          <p:nvPr>
            <p:ph idx="1"/>
          </p:nvPr>
        </p:nvSpPr>
        <p:spPr/>
        <p:txBody>
          <a:bodyPr/>
          <a:lstStyle/>
          <a:p/>
          <a:p>
            <a:r>
              <a:t>Implementing changes with different AI models</a:t>
            </a:r>
          </a:p>
          <a:p>
            <a:r>
              <a:t>Comparing approaches and outcomes</a:t>
            </a:r>
          </a:p>
          <a:p>
            <a:r>
              <a:t>Risk assessment and quality evaluation</a:t>
            </a:r>
          </a:p>
          <a:p>
            <a:r>
              <a:t>Best practice synthesis</a:t>
            </a:r>
          </a:p>
          <a:p>
            <a:r>
              <a:t>Exercises for hands‑on practice</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Implementing Changes With Different AI Models</a:t>
            </a:r>
          </a:p>
        </p:txBody>
      </p:sp>
      <p:sp>
        <p:nvSpPr>
          <p:cNvPr id="3" name="Content Placeholder 2"/>
          <p:cNvSpPr>
            <a:spLocks noGrp="1"/>
          </p:cNvSpPr>
          <p:nvPr>
            <p:ph idx="1"/>
          </p:nvPr>
        </p:nvSpPr>
        <p:spPr/>
        <p:txBody>
          <a:bodyPr/>
          <a:lstStyle/>
          <a:p/>
          <a:p>
            <a:r>
              <a:t>Why use multiple models?</a:t>
            </a:r>
          </a:p>
          <a:p>
            <a:r>
              <a:t>Different reasoning styles</a:t>
            </a:r>
          </a:p>
          <a:p>
            <a:r>
              <a:t>Different strengths (refactoring, documentation, architecture)</a:t>
            </a:r>
          </a:p>
          <a:p>
            <a:r>
              <a:t>Cross‑validation reduces risk</a:t>
            </a:r>
          </a:p>
          <a:p>
            <a:r>
              <a:t>Helps detect missing context or contradictions</a:t>
            </a:r>
          </a:p>
          <a:p>
            <a:r>
              <a:t>Typical use cases</a:t>
            </a:r>
          </a:p>
          <a:p>
            <a:r>
              <a:t>Refactoring comparisons</a:t>
            </a:r>
          </a:p>
          <a:p>
            <a:r>
              <a:t>Documentation consistency checks</a:t>
            </a:r>
          </a:p>
          <a:p>
            <a:r>
              <a:t>Architecture proposal validation</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Comparing Approaches &amp; Outcomes</a:t>
            </a:r>
          </a:p>
        </p:txBody>
      </p:sp>
      <p:sp>
        <p:nvSpPr>
          <p:cNvPr id="3" name="Content Placeholder 2"/>
          <p:cNvSpPr>
            <a:spLocks noGrp="1"/>
          </p:cNvSpPr>
          <p:nvPr>
            <p:ph idx="1"/>
          </p:nvPr>
        </p:nvSpPr>
        <p:spPr/>
        <p:txBody>
          <a:bodyPr/>
          <a:lstStyle/>
          <a:p/>
          <a:p>
            <a:r>
              <a:t>What to compare</a:t>
            </a:r>
          </a:p>
          <a:p>
            <a:r>
              <a:t>Code structure and clarity</a:t>
            </a:r>
          </a:p>
          <a:p>
            <a:r>
              <a:t>Architectural alignment</a:t>
            </a:r>
          </a:p>
          <a:p>
            <a:r>
              <a:t>Test quality</a:t>
            </a:r>
          </a:p>
          <a:p>
            <a:r>
              <a:t>Documentation completeness</a:t>
            </a:r>
          </a:p>
          <a:p>
            <a:r>
              <a:t>Risk level of proposed changes</a:t>
            </a:r>
          </a:p>
          <a:p>
            <a:r>
              <a:t>Benefits</a:t>
            </a:r>
          </a:p>
          <a:p>
            <a:r>
              <a:t>Identifies the safest implementation</a:t>
            </a:r>
          </a:p>
          <a:p>
            <a:r>
              <a:t>Surfaces hidden assumptions</a:t>
            </a:r>
          </a:p>
          <a:p>
            <a:r>
              <a:t>Highlights model‑specific biases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Risk Assessment &amp; Quality Evaluation</a:t>
            </a:r>
          </a:p>
        </p:txBody>
      </p:sp>
      <p:sp>
        <p:nvSpPr>
          <p:cNvPr id="3" name="Content Placeholder 2"/>
          <p:cNvSpPr>
            <a:spLocks noGrp="1"/>
          </p:cNvSpPr>
          <p:nvPr>
            <p:ph idx="1"/>
          </p:nvPr>
        </p:nvSpPr>
        <p:spPr/>
        <p:txBody>
          <a:bodyPr/>
          <a:lstStyle/>
          <a:p/>
          <a:p>
            <a:r>
              <a:t>Risk indicators</a:t>
            </a:r>
          </a:p>
          <a:p>
            <a:r>
              <a:t>Missing tests</a:t>
            </a:r>
          </a:p>
          <a:p>
            <a:r>
              <a:t>Large or unnecessary refactors</a:t>
            </a:r>
          </a:p>
          <a:p>
            <a:r>
              <a:t>Violations of instruction files</a:t>
            </a:r>
          </a:p>
          <a:p>
            <a:r>
              <a:t>Unclear or undocumented behavior</a:t>
            </a:r>
          </a:p>
          <a:p>
            <a:r>
              <a:t>Quality indicators</a:t>
            </a:r>
          </a:p>
          <a:p>
            <a:r>
              <a:t>Small, incremental changes</a:t>
            </a:r>
          </a:p>
          <a:p>
            <a:r>
              <a:t>Clear reasoning</a:t>
            </a:r>
          </a:p>
          <a:p>
            <a:r>
              <a:t>Strong test coverage</a:t>
            </a:r>
          </a:p>
          <a:p>
            <a:r>
              <a:t>Alignment with evergreen principles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Best Practice Synthesis</a:t>
            </a:r>
          </a:p>
        </p:txBody>
      </p:sp>
      <p:sp>
        <p:nvSpPr>
          <p:cNvPr id="3" name="Content Placeholder 2"/>
          <p:cNvSpPr>
            <a:spLocks noGrp="1"/>
          </p:cNvSpPr>
          <p:nvPr>
            <p:ph idx="1"/>
          </p:nvPr>
        </p:nvSpPr>
        <p:spPr/>
        <p:txBody>
          <a:bodyPr/>
          <a:lstStyle/>
          <a:p/>
          <a:p>
            <a:r>
              <a:t>Combine the strengths of each model</a:t>
            </a:r>
          </a:p>
          <a:p>
            <a:r>
              <a:t>Use one model for architecture</a:t>
            </a:r>
          </a:p>
          <a:p>
            <a:r>
              <a:t>Another for implementation</a:t>
            </a:r>
          </a:p>
          <a:p>
            <a:r>
              <a:t>Another for documentation</a:t>
            </a:r>
          </a:p>
          <a:p>
            <a:r>
              <a:t>Cross‑validate tests and reasoning</a:t>
            </a:r>
          </a:p>
          <a:p>
            <a:r>
              <a:t>Outcome</a:t>
            </a:r>
          </a:p>
          <a:p>
            <a:r>
              <a:t>Higher quality</a:t>
            </a:r>
          </a:p>
          <a:p>
            <a:r>
              <a:t>Lower risk</a:t>
            </a:r>
          </a:p>
          <a:p>
            <a:r>
              <a:t>More predictable modernization</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Prompt Multiple Models to Address Technical Debt</a:t>
            </a:r>
          </a:p>
        </p:txBody>
      </p:sp>
      <p:sp>
        <p:nvSpPr>
          <p:cNvPr id="3" name="Content Placeholder 2"/>
          <p:cNvSpPr>
            <a:spLocks noGrp="1"/>
          </p:cNvSpPr>
          <p:nvPr>
            <p:ph idx="1"/>
          </p:nvPr>
        </p:nvSpPr>
        <p:spPr/>
        <p:txBody>
          <a:bodyPr/>
          <a:lstStyle/>
          <a:p/>
          <a:p>
            <a:r>
              <a:t>Duration</a:t>
            </a:r>
          </a:p>
          <a:p>
            <a:r>
              <a:t>15 minutes</a:t>
            </a:r>
          </a:p>
          <a:p>
            <a:r>
              <a:t>Objectives</a:t>
            </a:r>
          </a:p>
          <a:p>
            <a:r>
              <a:t>Compare outputs from different models</a:t>
            </a:r>
          </a:p>
          <a:p>
            <a:r>
              <a:t>Identify strengths and weaknesses</a:t>
            </a:r>
          </a:p>
          <a:p>
            <a:r>
              <a:t>Evaluate risk and quality</a:t>
            </a:r>
          </a:p>
          <a:p>
            <a:r>
              <a:t>Activities</a:t>
            </a:r>
          </a:p>
          <a:p>
            <a:r>
              <a:t>Select a small technical debt item.</a:t>
            </a:r>
          </a:p>
          <a:p>
            <a:r>
              <a:t>Prompt two or more models to propose a fix.</a:t>
            </a:r>
          </a:p>
          <a:p>
            <a:r>
              <a:t>Compare outputs for:</a:t>
            </a:r>
          </a:p>
          <a:p>
            <a:pPr/>
            <a:r>
              <a:t>Safety</a:t>
            </a:r>
          </a:p>
          <a:p>
            <a:pPr/>
            <a:r>
              <a:t>Clarity</a:t>
            </a:r>
          </a:p>
          <a:p>
            <a:pPr/>
            <a:r>
              <a:t>Test coverage</a:t>
            </a:r>
          </a:p>
          <a:p>
            <a:pPr/>
            <a:r>
              <a:t>Architectural alignment</a:t>
            </a:r>
          </a:p>
          <a:p>
            <a:r>
              <a:t>Synthesize the best elements into a final solution.</a:t>
            </a:r>
          </a:p>
          <a:p>
            <a:r>
              <a:t>Success Criteria</a:t>
            </a:r>
          </a:p>
          <a:p>
            <a:r>
              <a:t>Differences between models are clearly identified</a:t>
            </a:r>
          </a:p>
          <a:p>
            <a:r>
              <a:t>Risks and strengths are evaluated</a:t>
            </a:r>
          </a:p>
          <a:p>
            <a:r>
              <a:t>Final synthesized solution is safe and incremental</a:t>
            </a:r>
          </a:p>
          <a:p>
            <a:r>
              <a:t>Provenance metadata is included</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Assigning an Issue to Multiple Models</a:t>
            </a:r>
          </a:p>
        </p:txBody>
      </p:sp>
      <p:sp>
        <p:nvSpPr>
          <p:cNvPr id="3" name="Content Placeholder 2"/>
          <p:cNvSpPr>
            <a:spLocks noGrp="1"/>
          </p:cNvSpPr>
          <p:nvPr>
            <p:ph idx="1"/>
          </p:nvPr>
        </p:nvSpPr>
        <p:spPr/>
        <p:txBody>
          <a:bodyPr/>
          <a:lstStyle/>
          <a:p/>
          <a:p>
            <a:r>
              <a:t>Duration</a:t>
            </a:r>
          </a:p>
          <a:p>
            <a:r>
              <a:t>10 minutes</a:t>
            </a:r>
          </a:p>
          <a:p>
            <a:r>
              <a:t>Objectives</a:t>
            </a:r>
          </a:p>
          <a:p>
            <a:r>
              <a:t>Practice delegating the same issue to different models</a:t>
            </a:r>
          </a:p>
          <a:p>
            <a:r>
              <a:t>Evaluate how each model interprets constraints</a:t>
            </a:r>
          </a:p>
          <a:p>
            <a:r>
              <a:t>Identify missing context</a:t>
            </a:r>
          </a:p>
          <a:p>
            <a:r>
              <a:t>Activities</a:t>
            </a:r>
          </a:p>
          <a:p>
            <a:r>
              <a:t>Create a GitHub‑style issue describing a technical debt item.</a:t>
            </a:r>
          </a:p>
          <a:p>
            <a:r>
              <a:t>Assign the issue to two different models.</a:t>
            </a:r>
          </a:p>
          <a:p>
            <a:r>
              <a:t>Compare their proposed remediation plans.</a:t>
            </a:r>
          </a:p>
          <a:p>
            <a:r>
              <a:t>Identify missing context or contradictions.</a:t>
            </a:r>
          </a:p>
          <a:p>
            <a:r>
              <a:t>Success Criteria</a:t>
            </a:r>
          </a:p>
          <a:p>
            <a:r>
              <a:t>Issue is clear and well‑structured</a:t>
            </a:r>
          </a:p>
          <a:p>
            <a:r>
              <a:t>Each model produces a distinct approach</a:t>
            </a:r>
          </a:p>
          <a:p>
            <a:r>
              <a:t>Missing context is identified and documented</a:t>
            </a:r>
          </a:p>
          <a:p>
            <a:r>
              <a:t>A preferred plan is selected based on safety and clarity</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Delegating Work to Multiple Models</a:t>
            </a:r>
          </a:p>
        </p:txBody>
      </p:sp>
      <p:sp>
        <p:nvSpPr>
          <p:cNvPr id="3" name="Content Placeholder 2"/>
          <p:cNvSpPr>
            <a:spLocks noGrp="1"/>
          </p:cNvSpPr>
          <p:nvPr>
            <p:ph idx="1"/>
          </p:nvPr>
        </p:nvSpPr>
        <p:spPr/>
        <p:txBody>
          <a:bodyPr/>
          <a:lstStyle/>
          <a:p/>
          <a:p>
            <a:r>
              <a:t>Duration</a:t>
            </a:r>
          </a:p>
          <a:p>
            <a:r>
              <a:t>20 minutes</a:t>
            </a:r>
          </a:p>
          <a:p>
            <a:r>
              <a:t>Objectives</a:t>
            </a:r>
          </a:p>
          <a:p>
            <a:r>
              <a:t>Practice multi‑model delegation</a:t>
            </a:r>
          </a:p>
          <a:p>
            <a:r>
              <a:t>Evaluate multi‑step reasoning</a:t>
            </a:r>
          </a:p>
          <a:p>
            <a:r>
              <a:t>Synthesize best practices into a unified plan</a:t>
            </a:r>
          </a:p>
          <a:p>
            <a:r>
              <a:t>Activities</a:t>
            </a:r>
          </a:p>
          <a:p>
            <a:r>
              <a:t>Select a multi‑step modernization task.</a:t>
            </a:r>
          </a:p>
          <a:p>
            <a:r>
              <a:t>Ask multiple models to:</a:t>
            </a:r>
          </a:p>
          <a:p>
            <a:pPr/>
            <a:r>
              <a:t>Analyze the problem</a:t>
            </a:r>
          </a:p>
          <a:p>
            <a:pPr/>
            <a:r>
              <a:t>Propose a remediation plan</a:t>
            </a:r>
          </a:p>
          <a:p>
            <a:pPr/>
            <a:r>
              <a:t>Suggest tests</a:t>
            </a:r>
          </a:p>
          <a:p>
            <a:pPr/>
            <a:r>
              <a:t>Suggest documentation updates</a:t>
            </a:r>
          </a:p>
          <a:p>
            <a:r>
              <a:t>Compare the outputs.</a:t>
            </a:r>
          </a:p>
          <a:p>
            <a:r>
              <a:t>Synthesize a final, safe, incremental plan.</a:t>
            </a:r>
          </a:p>
          <a:p>
            <a:r>
              <a:t>Success Criteria</a:t>
            </a:r>
          </a:p>
          <a:p>
            <a:r>
              <a:t>Multi‑model differences are clearly understood</a:t>
            </a:r>
          </a:p>
          <a:p>
            <a:r>
              <a:t>Final plan is incremental, reversible, and well‑tested</a:t>
            </a:r>
          </a:p>
          <a:p>
            <a:r>
              <a:t>Documentation and provenance are included</a:t>
            </a:r>
          </a:p>
          <a:p>
            <a:r>
              <a:t>Risks are identified and mitigated</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AI-Assisted CI/CD Pipelines</a:t>
            </a:r>
          </a:p>
        </p:txBody>
      </p:sp>
      <p:sp>
        <p:nvSpPr>
          <p:cNvPr id="3" name="Content Placeholder 2"/>
          <p:cNvSpPr>
            <a:spLocks noGrp="1"/>
          </p:cNvSpPr>
          <p:nvPr>
            <p:ph idx="1"/>
          </p:nvPr>
        </p:nvSpPr>
        <p:spPr/>
        <p:txBody>
          <a:bodyPr/>
          <a:lstStyle/>
          <a:p/>
          <a:p>
            <a:r>
              <a:t>GitHub Actions YAML generation</a:t>
            </a:r>
          </a:p>
          <a:p>
            <a:r>
              <a:t>Build automation with AI</a:t>
            </a:r>
          </a:p>
          <a:p>
            <a:r>
              <a:t>Coverage thresholds</a:t>
            </a:r>
          </a:p>
          <a:p>
            <a:r>
              <a:t>Pipeline maintenance and evolution</a:t>
            </a:r>
          </a:p>
          <a:p>
            <a:r>
              <a:t>Exercise: Generate a pipeline from scratch</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Pipelines Are Hard</a:t>
            </a:r>
          </a:p>
        </p:txBody>
      </p:sp>
      <p:sp>
        <p:nvSpPr>
          <p:cNvPr id="3" name="Content Placeholder 2"/>
          <p:cNvSpPr>
            <a:spLocks noGrp="1"/>
          </p:cNvSpPr>
          <p:nvPr>
            <p:ph idx="1"/>
          </p:nvPr>
        </p:nvSpPr>
        <p:spPr/>
        <p:txBody>
          <a:bodyPr/>
          <a:lstStyle/>
          <a:p/>
          <a:p>
            <a:r>
              <a:t>YAML syntax is unforgiving</a:t>
            </a:r>
          </a:p>
          <a:p>
            <a:r>
              <a:t>Action versions change constantly</a:t>
            </a:r>
          </a:p>
          <a:p>
            <a:r>
              <a:t>Environment variables, secrets, and caching rules interact unexpectedly</a:t>
            </a:r>
          </a:p>
          <a:p>
            <a:r>
              <a:t>Coverage gates, linting, and deployment steps differ per project</a:t>
            </a:r>
          </a:p>
          <a:p>
            <a:r>
              <a:t>Copy-paste drift between projects accumulates silently</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AI Brings to CI/CD</a:t>
            </a:r>
          </a:p>
        </p:txBody>
      </p:sp>
      <p:sp>
        <p:nvSpPr>
          <p:cNvPr id="3" name="Content Placeholder 2"/>
          <p:cNvSpPr>
            <a:spLocks noGrp="1"/>
          </p:cNvSpPr>
          <p:nvPr>
            <p:ph idx="1"/>
          </p:nvPr>
        </p:nvSpPr>
        <p:spPr/>
        <p:txBody>
          <a:bodyPr/>
          <a:lstStyle/>
          <a:p/>
          <a:p>
            <a:r>
              <a:t>```text</a:t>
            </a:r>
          </a:p>
          <a:p>
            <a:r>
              <a:t>You → intent           AI → working YAML</a:t>
            </a:r>
          </a:p>
          <a:p>
            <a:r>
              <a:t>   "run tests on PR"        on: [pull_request]</a:t>
            </a:r>
          </a:p>
          <a:p>
            <a:r>
              <a:t>                            jobs: test: ...</a:t>
            </a:r>
          </a:p>
          <a:p>
            <a:r>
              <a:t>```</a:t>
            </a:r>
          </a:p>
          <a:p/>
          <a:p>
            <a:r>
              <a:t>Generate pipelines from plain English</a:t>
            </a:r>
          </a:p>
          <a:p>
            <a:r>
              <a:t>Explain unfamiliar pipeline syntax</a:t>
            </a:r>
          </a:p>
          <a:p>
            <a:r>
              <a:t>Diagnose failing workflow runs from logs</a:t>
            </a:r>
          </a:p>
          <a:p>
            <a:r>
              <a:t>Suggest caching, matrix, and concurrency improvements</a:t>
            </a:r>
          </a:p>
          <a:p>
            <a:r>
              <a:t>Keep actions pinned and up to date</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GitHub Actions YAML Generation</a:t>
            </a:r>
          </a:p>
        </p:txBody>
      </p:sp>
      <p:sp>
        <p:nvSpPr>
          <p:cNvPr id="3" name="Content Placeholder 2"/>
          <p:cNvSpPr>
            <a:spLocks noGrp="1"/>
          </p:cNvSpPr>
          <p:nvPr>
            <p:ph idx="1"/>
          </p:nvPr>
        </p:nvSpPr>
        <p:spPr/>
        <p:txBody>
          <a:bodyPr/>
          <a:lstStyle/>
          <a:p/>
          <a:p>
            <a:r>
              <a:t>Ask Copilot in chat or inline:</a:t>
            </a:r>
          </a:p>
          <a:p/>
          <a:p>
            <a:r>
              <a:t>```text</a:t>
            </a:r>
          </a:p>
          <a:p>
            <a:r>
              <a:t>Prompt: "Create a GitHub Actions workflow that runs</a:t>
            </a:r>
          </a:p>
          <a:p>
            <a:r>
              <a:t>dotnet test on every pull request targeting main,</a:t>
            </a:r>
          </a:p>
          <a:p>
            <a:r>
              <a:t>uploads a code coverage report, and fails if</a:t>
            </a:r>
          </a:p>
          <a:p>
            <a:r>
              <a:t>coverage drops below 80%."</a:t>
            </a:r>
          </a:p>
          <a:p>
            <a:r>
              <a:t>```</a:t>
            </a:r>
          </a:p>
          <a:p/>
          <a:p>
            <a:r>
              <a:t>Copilot generates:</a:t>
            </a:r>
          </a:p>
          <a:p/>
          <a:p>
            <a:pPr/>
            <a:r>
              <a:t>Trigger block (`on:`)</a:t>
            </a:r>
          </a:p>
          <a:p>
            <a:pPr/>
            <a:r>
              <a:t>Job matrix</a:t>
            </a:r>
          </a:p>
          <a:p>
            <a:pPr/>
            <a:r>
              <a:t>Step sequence</a:t>
            </a:r>
          </a:p>
          <a:p>
            <a:pPr/>
            <a:r>
              <a:t>Coverage upload + threshold enforcement</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Anatomy of an AI-Generated Workflow</a:t>
            </a:r>
          </a:p>
        </p:txBody>
      </p:sp>
      <p:sp>
        <p:nvSpPr>
          <p:cNvPr id="3" name="Content Placeholder 2"/>
          <p:cNvSpPr>
            <a:spLocks noGrp="1"/>
          </p:cNvSpPr>
          <p:nvPr>
            <p:ph idx="1"/>
          </p:nvPr>
        </p:nvSpPr>
        <p:spPr/>
        <p:txBody>
          <a:bodyPr/>
          <a:lstStyle/>
          <a:p/>
          <a:p>
            <a:r>
              <a:t>```yaml</a:t>
            </a:r>
          </a:p>
          <a:p>
            <a:r>
              <a:t>name: CI</a:t>
            </a:r>
          </a:p>
          <a:p/>
          <a:p>
            <a:r>
              <a:t>on:</a:t>
            </a:r>
          </a:p>
          <a:p>
            <a:r>
              <a:t>  pull_request:</a:t>
            </a:r>
          </a:p>
          <a:p>
            <a:r>
              <a:t>    branches: [main]</a:t>
            </a:r>
          </a:p>
          <a:p/>
          <a:p>
            <a:r>
              <a:t>jobs:</a:t>
            </a:r>
          </a:p>
          <a:p>
            <a:r>
              <a:t>  build-and-test:</a:t>
            </a:r>
          </a:p>
          <a:p>
            <a:r>
              <a:t>    runs-on: ubuntu-latest</a:t>
            </a:r>
          </a:p>
          <a:p>
            <a:r>
              <a:t>    steps:</a:t>
            </a:r>
          </a:p>
          <a:p>
            <a:r>
              <a:t>      - uses: actions/checkout@v4</a:t>
            </a:r>
          </a:p>
          <a:p>
            <a:r>
              <a:t>      - uses: actions/setup-dotnet@v4</a:t>
            </a:r>
          </a:p>
          <a:p>
            <a:r>
              <a:t>        with:</a:t>
            </a:r>
          </a:p>
          <a:p>
            <a:r>
              <a:t>          dotnet-version: "8.x"</a:t>
            </a:r>
          </a:p>
          <a:p>
            <a:r>
              <a:t>      - run: dotnet restore</a:t>
            </a:r>
          </a:p>
          <a:p>
            <a:r>
              <a:t>      - run: dotnet build --no-restore</a:t>
            </a:r>
          </a:p>
          <a:p>
            <a:r>
              <a:t>      - run: dotnet test --no-build</a:t>
            </a:r>
          </a:p>
          <a:p>
            <a:r>
              <a:t>          --collect:"XPlat Code Coverage"</a:t>
            </a:r>
          </a:p>
          <a:p>
            <a:r>
              <a:t>```</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Coverage Thresholds</a:t>
            </a:r>
          </a:p>
        </p:txBody>
      </p:sp>
      <p:sp>
        <p:nvSpPr>
          <p:cNvPr id="3" name="Content Placeholder 2"/>
          <p:cNvSpPr>
            <a:spLocks noGrp="1"/>
          </p:cNvSpPr>
          <p:nvPr>
            <p:ph idx="1"/>
          </p:nvPr>
        </p:nvSpPr>
        <p:spPr/>
        <p:txBody>
          <a:bodyPr/>
          <a:lstStyle/>
          <a:p/>
          <a:p>
            <a:r>
              <a:t>Coverage gates enforce quality — AI helps configure them correctly</a:t>
            </a:r>
          </a:p>
          <a:p/>
          <a:p>
            <a:r>
              <a:t>```yaml</a:t>
            </a:r>
          </a:p>
          <a:p>
            <a:pPr/>
            <a:r>
              <a:t>name: Test with coverage</a:t>
            </a:r>
          </a:p>
          <a:p>
            <a:r>
              <a:t>  run: |</a:t>
            </a:r>
          </a:p>
          <a:p>
            <a:r>
              <a:t>    dotnet test --collect:"XPlat Code Coverage" \</a:t>
            </a:r>
          </a:p>
          <a:p>
            <a:r>
              <a:t>      -- DataCollectionRunSettings.DataCollectors \</a:t>
            </a:r>
          </a:p>
          <a:p>
            <a:r>
              <a:t>         .DataCollector.Configuration.Threshold=80</a:t>
            </a:r>
          </a:p>
          <a:p/>
          <a:p>
            <a:pPr/>
            <a:r>
              <a:t>name: Upload coverage</a:t>
            </a:r>
          </a:p>
          <a:p>
            <a:r>
              <a:t>  uses: codecov/codecov-action@v4</a:t>
            </a:r>
          </a:p>
          <a:p>
            <a:r>
              <a:t>  with:</a:t>
            </a:r>
          </a:p>
          <a:p>
            <a:r>
              <a:t>    fail_ci_if_error: true</a:t>
            </a:r>
          </a:p>
          <a:p>
            <a:r>
              <a:t>    threshold: 80</a:t>
            </a:r>
          </a:p>
          <a:p>
            <a:r>
              <a:t>```</a:t>
            </a:r>
          </a:p>
          <a:p/>
          <a:p>
            <a:r>
              <a:t>Ask Copilot: _"How do I fail the build if branch coverage drops below 80%?"_</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Build Automation Patterns</a:t>
            </a:r>
          </a:p>
        </p:txBody>
      </p:sp>
      <p:sp>
        <p:nvSpPr>
          <p:cNvPr id="3" name="Content Placeholder 2"/>
          <p:cNvSpPr>
            <a:spLocks noGrp="1"/>
          </p:cNvSpPr>
          <p:nvPr>
            <p:ph idx="1"/>
          </p:nvPr>
        </p:nvSpPr>
        <p:spPr/>
        <p:txBody>
          <a:bodyPr/>
          <a:lstStyle/>
          <a:p/>
          <a:p>
            <a:r>
              <a:t>AI can generate: matrix builds, dependency caching, artifact upload</a:t>
            </a:r>
          </a:p>
          <a:p/>
          <a:p>
            <a:r>
              <a:t>```yaml</a:t>
            </a:r>
          </a:p>
          <a:p>
            <a:r>
              <a:t>strategy:</a:t>
            </a:r>
          </a:p>
          <a:p>
            <a:r>
              <a:t>  matrix:</a:t>
            </a:r>
          </a:p>
          <a:p>
            <a:r>
              <a:t>    os: [ubuntu-latest, windows-latest]</a:t>
            </a:r>
          </a:p>
          <a:p>
            <a:r>
              <a:t>    dotnet: ["7.x", "8.x"]</a:t>
            </a:r>
          </a:p>
          <a:p/>
          <a:p>
            <a:r>
              <a:t>steps:</a:t>
            </a:r>
          </a:p>
          <a:p>
            <a:r>
              <a:t>  - uses: actions/cache@v4</a:t>
            </a:r>
          </a:p>
          <a:p>
            <a:r>
              <a:t>    with:</a:t>
            </a:r>
          </a:p>
          <a:p>
            <a:r>
              <a:t>      path: ~/.nuget/packages</a:t>
            </a:r>
          </a:p>
          <a:p>
            <a:r>
              <a:t>      key: ${{ runner.os }}-nuget-</a:t>
            </a:r>
          </a:p>
          <a:p>
            <a:r>
              <a:t>        ${{ hashFiles('**/*.csproj') }}</a:t>
            </a:r>
          </a:p>
          <a:p/>
          <a:p>
            <a:r>
              <a:t>  - uses: actions/upload-artifact@v4</a:t>
            </a:r>
          </a:p>
          <a:p>
            <a:r>
              <a:t>    with:</a:t>
            </a:r>
          </a:p>
          <a:p>
            <a:r>
              <a:t>      name: test-results</a:t>
            </a:r>
          </a:p>
          <a:p>
            <a:r>
              <a:t>      path: TestResults/</a:t>
            </a:r>
          </a:p>
          <a:p>
            <a:r>
              <a:t>```</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Maintaining Pipelines with AI</a:t>
            </a:r>
          </a:p>
        </p:txBody>
      </p:sp>
      <p:sp>
        <p:nvSpPr>
          <p:cNvPr id="3" name="Content Placeholder 2"/>
          <p:cNvSpPr>
            <a:spLocks noGrp="1"/>
          </p:cNvSpPr>
          <p:nvPr>
            <p:ph idx="1"/>
          </p:nvPr>
        </p:nvSpPr>
        <p:spPr/>
        <p:txBody>
          <a:bodyPr/>
          <a:lstStyle/>
          <a:p/>
          <a:p>
            <a:r>
              <a:t>Pipelines rot — actions deprecate, runners change, dependencies drift</a:t>
            </a:r>
          </a:p>
          <a:p/>
          <a:p>
            <a:r>
              <a:t>Ask Copilot to:</a:t>
            </a:r>
          </a:p>
          <a:p/>
          <a:p>
            <a:pPr/>
            <a:r>
              <a:t>Explain a failing run from pasted log output</a:t>
            </a:r>
          </a:p>
          <a:p>
            <a:pPr/>
            <a:r>
              <a:t>Upgrade pinned action versions safely</a:t>
            </a:r>
          </a:p>
          <a:p>
            <a:pPr/>
            <a:r>
              <a:t>Refactor a 300-line workflow into reusable workflows</a:t>
            </a:r>
          </a:p>
          <a:p>
            <a:pPr/>
            <a:r>
              <a:t>Add a deployment stage to an existing CI workflow</a:t>
            </a:r>
          </a:p>
          <a:p/>
          <a:p>
            <a:r>
              <a:t>_"This workflow is failing with exit code 128 — here is the log. What is wrong?"_</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Reusable Workflows</a:t>
            </a:r>
          </a:p>
        </p:txBody>
      </p:sp>
      <p:sp>
        <p:nvSpPr>
          <p:cNvPr id="3" name="Content Placeholder 2"/>
          <p:cNvSpPr>
            <a:spLocks noGrp="1"/>
          </p:cNvSpPr>
          <p:nvPr>
            <p:ph idx="1"/>
          </p:nvPr>
        </p:nvSpPr>
        <p:spPr/>
        <p:txBody>
          <a:bodyPr/>
          <a:lstStyle/>
          <a:p/>
          <a:p>
            <a:r>
              <a:t>AI generates caller and callee in one prompt</a:t>
            </a:r>
          </a:p>
          <a:p/>
          <a:p>
            <a:r>
              <a:t>```yaml</a:t>
            </a:r>
          </a:p>
          <a:p>
            <a:r>
              <a:t># .github/workflows/reusable-test.yml</a:t>
            </a:r>
          </a:p>
          <a:p>
            <a:r>
              <a:t>on:</a:t>
            </a:r>
          </a:p>
          <a:p>
            <a:r>
              <a:t>  workflow_call:</a:t>
            </a:r>
          </a:p>
          <a:p>
            <a:r>
              <a:t>    inputs:</a:t>
            </a:r>
          </a:p>
          <a:p>
            <a:r>
              <a:t>      dotnet-version:</a:t>
            </a:r>
          </a:p>
          <a:p>
            <a:r>
              <a:t>        required: true</a:t>
            </a:r>
          </a:p>
          <a:p>
            <a:r>
              <a:t>        type: string</a:t>
            </a:r>
          </a:p>
          <a:p/>
          <a:p>
            <a:r>
              <a:t>jobs:</a:t>
            </a:r>
          </a:p>
          <a:p>
            <a:r>
              <a:t>  test:</a:t>
            </a:r>
          </a:p>
          <a:p>
            <a:r>
              <a:t>    runs-on: ubuntu-latest</a:t>
            </a:r>
          </a:p>
          <a:p>
            <a:r>
              <a:t>    steps:</a:t>
            </a:r>
          </a:p>
          <a:p>
            <a:r>
              <a:t>      - uses: actions/checkout@v4</a:t>
            </a:r>
          </a:p>
          <a:p>
            <a:r>
              <a:t>      - uses: actions/setup-dotnet@v4</a:t>
            </a:r>
          </a:p>
          <a:p>
            <a:r>
              <a:t>        with:</a:t>
            </a:r>
          </a:p>
          <a:p>
            <a:r>
              <a:t>          dotnet-version: ${{ inputs.dotnet-version }}</a:t>
            </a:r>
          </a:p>
          <a:p>
            <a:r>
              <a:t>      - run: dotnet test</a:t>
            </a:r>
          </a:p>
          <a:p>
            <a:r>
              <a:t>```</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Secrets, Permissions, and Security</a:t>
            </a:r>
          </a:p>
        </p:txBody>
      </p:sp>
      <p:sp>
        <p:nvSpPr>
          <p:cNvPr id="3" name="Content Placeholder 2"/>
          <p:cNvSpPr>
            <a:spLocks noGrp="1"/>
          </p:cNvSpPr>
          <p:nvPr>
            <p:ph idx="1"/>
          </p:nvPr>
        </p:nvSpPr>
        <p:spPr/>
        <p:txBody>
          <a:bodyPr/>
          <a:lstStyle/>
          <a:p/>
          <a:p>
            <a:r>
              <a:t>AI assists but YOU own security decisions</a:t>
            </a:r>
          </a:p>
          <a:p/>
          <a:p>
            <a:r>
              <a:t>```yaml</a:t>
            </a:r>
          </a:p>
          <a:p>
            <a:r>
              <a:t>permissions:</a:t>
            </a:r>
          </a:p>
          <a:p>
            <a:r>
              <a:t>  contents: read</a:t>
            </a:r>
          </a:p>
          <a:p>
            <a:r>
              <a:t>  checks: write # required for test reporters</a:t>
            </a:r>
          </a:p>
          <a:p>
            <a:r>
              <a:t>  pull-requests: write # required for PR comments</a:t>
            </a:r>
          </a:p>
          <a:p/>
          <a:p>
            <a:r>
              <a:t>env:</a:t>
            </a:r>
          </a:p>
          <a:p>
            <a:r>
              <a:t>  SONAR_TOKEN: ${{ secrets.SONAR_TOKEN }}</a:t>
            </a:r>
          </a:p>
          <a:p>
            <a:r>
              <a:t>```</a:t>
            </a:r>
          </a:p>
          <a:p/>
          <a:p>
            <a:r>
              <a:t>Ask AI: _"What is the minimum permissions block for uploading coverage?"_</a:t>
            </a:r>
          </a:p>
          <a:p>
            <a:r>
              <a:t>Review AI output — it cannot know your org's secret names</a:t>
            </a:r>
          </a:p>
          <a:p>
            <a:r>
              <a:t>Never commit secrets; use `${{ secrets.NAME }}`</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From Zero to Pipeline: Live Workflow</a:t>
            </a:r>
          </a:p>
        </p:txBody>
      </p:sp>
      <p:sp>
        <p:nvSpPr>
          <p:cNvPr id="3" name="Content Placeholder 2"/>
          <p:cNvSpPr>
            <a:spLocks noGrp="1"/>
          </p:cNvSpPr>
          <p:nvPr>
            <p:ph idx="1"/>
          </p:nvPr>
        </p:nvSpPr>
        <p:spPr/>
        <p:txBody>
          <a:bodyPr/>
          <a:lstStyle/>
          <a:p/>
          <a:p>
            <a:r>
              <a:t>```text</a:t>
            </a:r>
          </a:p>
          <a:p>
            <a:r>
              <a:t>1. Describe your stack to Copilot</a:t>
            </a:r>
          </a:p>
          <a:p>
            <a:r>
              <a:t>   "Node 20, Vitest, Playwright e2e, deploys to Azure"</a:t>
            </a:r>
          </a:p>
          <a:p/>
          <a:p>
            <a:r>
              <a:t>2. Ask for a complete CI workflow</a:t>
            </a:r>
          </a:p>
          <a:p>
            <a:r>
              <a:t>   → Copilot generates trigger, jobs, steps</a:t>
            </a:r>
          </a:p>
          <a:p/>
          <a:p>
            <a:r>
              <a:t>3. Ask for coverage enforcement</a:t>
            </a:r>
          </a:p>
          <a:p>
            <a:r>
              <a:t>   → Copilot adds threshold + upload steps</a:t>
            </a:r>
          </a:p>
          <a:p/>
          <a:p>
            <a:r>
              <a:t>4. Ask "what caching should I add?"</a:t>
            </a:r>
          </a:p>
          <a:p>
            <a:r>
              <a:t>   → Copilot adds node_modules cache with correct key</a:t>
            </a:r>
          </a:p>
          <a:p/>
          <a:p>
            <a:r>
              <a:t>5. Paste a failure log and ask "why?"</a:t>
            </a:r>
          </a:p>
          <a:p>
            <a:r>
              <a:t>   → Copilot diagnoses in seconds</a:t>
            </a:r>
          </a:p>
          <a:p>
            <a:r>
              <a:t>```</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Hands-On Exercise</a:t>
            </a:r>
          </a:p>
        </p:txBody>
      </p:sp>
      <p:sp>
        <p:nvSpPr>
          <p:cNvPr id="3" name="Content Placeholder 2"/>
          <p:cNvSpPr>
            <a:spLocks noGrp="1"/>
          </p:cNvSpPr>
          <p:nvPr>
            <p:ph idx="1"/>
          </p:nvPr>
        </p:nvSpPr>
        <p:spPr/>
        <p:txBody>
          <a:bodyPr/>
          <a:lstStyle/>
          <a:p/>
          <a:p>
            <a:r>
              <a:t>**Goal**: Generate a complete CI pipeline for a provided sample repo</a:t>
            </a:r>
          </a:p>
          <a:p/>
          <a:p>
            <a:r>
              <a:t>1. Open GitHub Copilot Chat in VS Code</a:t>
            </a:r>
          </a:p>
          <a:p>
            <a:r>
              <a:t>2. Ask: _"Create a GitHub Actions CI workflow for this project"_</a:t>
            </a:r>
          </a:p>
          <a:p>
            <a:r>
              <a:t>3. Review and commit the generated YAML</a:t>
            </a:r>
          </a:p>
          <a:p>
            <a:r>
              <a:t>4. Add a coverage threshold at 70%</a:t>
            </a:r>
          </a:p>
          <a:p>
            <a:r>
              <a:t>5. Ask Copilot to explain one step you do not understand</a:t>
            </a:r>
          </a:p>
          <a:p>
            <a:r>
              <a:t>6. **Bonus**: Add a matrix build for two Node versions</a:t>
            </a:r>
          </a:p>
          <a:p/>
          <a:p>
            <a:r>
              <a:t>_Sample repo link provided by instructor_</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Takeaways</a:t>
            </a:r>
          </a:p>
        </p:txBody>
      </p:sp>
      <p:sp>
        <p:nvSpPr>
          <p:cNvPr id="3" name="Content Placeholder 2"/>
          <p:cNvSpPr>
            <a:spLocks noGrp="1"/>
          </p:cNvSpPr>
          <p:nvPr>
            <p:ph idx="1"/>
          </p:nvPr>
        </p:nvSpPr>
        <p:spPr/>
        <p:txBody>
          <a:bodyPr/>
          <a:lstStyle/>
          <a:p/>
          <a:p>
            <a:r>
              <a:t>AI dramatically shortens the pipeline feedback loop</a:t>
            </a:r>
          </a:p>
          <a:p>
            <a:r>
              <a:t>Generated YAML is a starting point — review every line</a:t>
            </a:r>
          </a:p>
          <a:p>
            <a:r>
              <a:t>Coverage thresholds belong in both the test runner _and_ the upload action</a:t>
            </a:r>
          </a:p>
          <a:p>
            <a:r>
              <a:t>Reusable workflows reduce drift across repositories</a:t>
            </a:r>
          </a:p>
          <a:p>
            <a:r>
              <a:t>Maintenance conversations are as valuable as generation</a:t>
            </a:r>
          </a:p>
          <a:p>
            <a:r>
              <a:t>You own the pipeline; AI is your co-pilot</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AI-Assisted GitHub Pull Requests</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Pull Request Lifecycle</a:t>
            </a:r>
          </a:p>
        </p:txBody>
      </p:sp>
      <p:sp>
        <p:nvSpPr>
          <p:cNvPr id="3" name="Content Placeholder 2"/>
          <p:cNvSpPr>
            <a:spLocks noGrp="1"/>
          </p:cNvSpPr>
          <p:nvPr>
            <p:ph idx="1"/>
          </p:nvPr>
        </p:nvSpPr>
        <p:spPr/>
        <p:txBody>
          <a:bodyPr/>
          <a:lstStyle/>
          <a:p/>
          <a:p>
            <a:r>
              <a:t>```</a:t>
            </a:r>
          </a:p>
          <a:p>
            <a:r>
              <a:t>Code Changes → PR Creation → Review → Merge</a:t>
            </a:r>
          </a:p>
          <a:p>
            <a:r>
              <a:t>```</a:t>
            </a:r>
          </a:p>
          <a:p/>
          <a:p>
            <a:r>
              <a:t>AI can assist at **every stage**:</a:t>
            </a:r>
          </a:p>
          <a:p/>
          <a:p>
            <a:r>
              <a:t>| Stage               | AI Assistance                  |</a:t>
            </a:r>
          </a:p>
          <a:p>
            <a:r>
              <a:t>| ------------------- | ------------------------------ |</a:t>
            </a:r>
          </a:p>
          <a:p>
            <a:r>
              <a:t>| Writing code        | Copilot completions            |</a:t>
            </a:r>
          </a:p>
          <a:p>
            <a:r>
              <a:t>| Drafting the PR     | Generated description          |</a:t>
            </a:r>
          </a:p>
          <a:p>
            <a:r>
              <a:t>| Code review         | Inline suggestions &amp; summaries |</a:t>
            </a:r>
          </a:p>
          <a:p>
            <a:r>
              <a:t>| Addressing feedback | Guided fixes                   |</a:t>
            </a:r>
          </a:p>
          <a:p>
            <a:r>
              <a:t>| Final merge         | Automated checks               |</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AI-Generated PR Descriptions</a:t>
            </a:r>
          </a:p>
        </p:txBody>
      </p:sp>
      <p:sp>
        <p:nvSpPr>
          <p:cNvPr id="3" name="Content Placeholder 2"/>
          <p:cNvSpPr>
            <a:spLocks noGrp="1"/>
          </p:cNvSpPr>
          <p:nvPr>
            <p:ph idx="1"/>
          </p:nvPr>
        </p:nvSpPr>
        <p:spPr/>
        <p:txBody>
          <a:bodyPr/>
          <a:lstStyle/>
          <a:p/>
          <a:p>
            <a:r>
              <a:t>GitHub Copilot can **draft your PR description** based on your diff:</a:t>
            </a:r>
          </a:p>
          <a:p/>
          <a:p>
            <a:pPr/>
            <a:r>
              <a:t>Summarizes **what changed** and **why**</a:t>
            </a:r>
          </a:p>
          <a:p>
            <a:pPr/>
            <a:r>
              <a:t>Suggests **testing instructions**</a:t>
            </a:r>
          </a:p>
          <a:p>
            <a:pPr/>
            <a:r>
              <a:t>Highlights **breaking changes**</a:t>
            </a:r>
          </a:p>
          <a:p>
            <a:pPr/>
            <a:r>
              <a:t>Links related **issues and tickets**</a:t>
            </a:r>
          </a:p>
          <a:p/>
          <a:p>
            <a:r>
              <a:t>&gt; 💡 Use `gh pr create` with Copilot in the CLI, or the **GitHub web editor** with AI suggestions</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Writing Effective PR Prompts</a:t>
            </a:r>
          </a:p>
        </p:txBody>
      </p:sp>
      <p:sp>
        <p:nvSpPr>
          <p:cNvPr id="3" name="Content Placeholder 2"/>
          <p:cNvSpPr>
            <a:spLocks noGrp="1"/>
          </p:cNvSpPr>
          <p:nvPr>
            <p:ph idx="1"/>
          </p:nvPr>
        </p:nvSpPr>
        <p:spPr/>
        <p:txBody>
          <a:bodyPr/>
          <a:lstStyle/>
          <a:p/>
          <a:p>
            <a:r>
              <a:t>Getting great AI output starts with **good context**:</a:t>
            </a:r>
          </a:p>
          <a:p/>
          <a:p>
            <a:r>
              <a:t>```markdown</a:t>
            </a:r>
          </a:p>
          <a:p>
            <a:r>
              <a:t># Good PR Description Prompt Pattern</a:t>
            </a:r>
          </a:p>
          <a:p/>
          <a:p/>
          <a:p>
            <a:pPr/>
            <a:r>
              <a:t>Brief bullet list of changes</a:t>
            </a:r>
          </a:p>
          <a:p/>
          <a:p/>
          <a:p>
            <a:pPr/>
            <a:r>
              <a:t>Business context or issue reference</a:t>
            </a:r>
          </a:p>
          <a:p/>
          <a:p/>
          <a:p>
            <a:pPr/>
            <a:r>
              <a:t>Step-by-step verification</a:t>
            </a:r>
          </a:p>
          <a:p>
            <a:r>
              <a:t>```</a:t>
            </a:r>
          </a:p>
          <a:p/>
          <a:p>
            <a:r>
              <a:t>Ask Copilot: _"Generate a PR description for these changes that explains the business impact"_</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AI-Powered Code Review</a:t>
            </a:r>
          </a:p>
        </p:txBody>
      </p:sp>
      <p:sp>
        <p:nvSpPr>
          <p:cNvPr id="3" name="Content Placeholder 2"/>
          <p:cNvSpPr>
            <a:spLocks noGrp="1"/>
          </p:cNvSpPr>
          <p:nvPr>
            <p:ph idx="1"/>
          </p:nvPr>
        </p:nvSpPr>
        <p:spPr/>
        <p:txBody>
          <a:bodyPr/>
          <a:lstStyle/>
          <a:p/>
          <a:p>
            <a:r>
              <a:t>GitHub Copilot assists reviewers with:</a:t>
            </a:r>
          </a:p>
          <a:p/>
          <a:p>
            <a:pPr/>
            <a:r>
              <a:t>**Inline explanations** of complex code</a:t>
            </a:r>
          </a:p>
          <a:p>
            <a:pPr/>
            <a:r>
              <a:t>**Suggested improvements** with rationale</a:t>
            </a:r>
          </a:p>
          <a:p>
            <a:pPr/>
            <a:r>
              <a:t>**Security vulnerability** detection</a:t>
            </a:r>
          </a:p>
          <a:p>
            <a:pPr/>
            <a:r>
              <a:t>**Test coverage** gap identification</a:t>
            </a:r>
          </a:p>
          <a:p>
            <a:pPr/>
            <a:r>
              <a:t>**Style and convention** enforcement</a:t>
            </a:r>
          </a:p>
          <a:p/>
          <a:p>
            <a:r>
              <a:t>&gt; Use `@workspace` in Copilot Chat to ask questions across the entire PR diff</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Copilot PR Summaries</a:t>
            </a:r>
          </a:p>
        </p:txBody>
      </p:sp>
      <p:sp>
        <p:nvSpPr>
          <p:cNvPr id="3" name="Content Placeholder 2"/>
          <p:cNvSpPr>
            <a:spLocks noGrp="1"/>
          </p:cNvSpPr>
          <p:nvPr>
            <p:ph idx="1"/>
          </p:nvPr>
        </p:nvSpPr>
        <p:spPr/>
        <p:txBody>
          <a:bodyPr/>
          <a:lstStyle/>
          <a:p/>
          <a:p>
            <a:r>
              <a:t>GitHub Copilot can **summarize large PRs** automatically:</a:t>
            </a:r>
          </a:p>
          <a:p/>
          <a:p>
            <a:pPr/>
            <a:r>
              <a:t>Condenses hundreds of lines of diff into a **paragraph**</a:t>
            </a:r>
          </a:p>
          <a:p>
            <a:pPr/>
            <a:r>
              <a:t>Categorizes changes: _features, fixes, refactors_</a:t>
            </a:r>
          </a:p>
          <a:p>
            <a:pPr/>
            <a:r>
              <a:t>Flags **high-risk areas** that need closer review</a:t>
            </a:r>
          </a:p>
          <a:p>
            <a:pPr/>
            <a:r>
              <a:t>Generates a **changelog entry** from the summary</a:t>
            </a:r>
          </a:p>
          <a:p/>
          <a:p>
            <a:r>
              <a:t>```</a:t>
            </a:r>
          </a:p>
          <a:p>
            <a:r>
              <a:t>GitHub.com → Pull Request → Copilot Summary button</a:t>
            </a:r>
          </a:p>
          <a:p>
            <a:r>
              <a:t>```</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Responding to Review Feedback</a:t>
            </a:r>
          </a:p>
        </p:txBody>
      </p:sp>
      <p:sp>
        <p:nvSpPr>
          <p:cNvPr id="3" name="Content Placeholder 2"/>
          <p:cNvSpPr>
            <a:spLocks noGrp="1"/>
          </p:cNvSpPr>
          <p:nvPr>
            <p:ph idx="1"/>
          </p:nvPr>
        </p:nvSpPr>
        <p:spPr/>
        <p:txBody>
          <a:bodyPr/>
          <a:lstStyle/>
          <a:p/>
          <a:p>
            <a:r>
              <a:t>AI accelerates **addressing reviewer comments**:</a:t>
            </a:r>
          </a:p>
          <a:p/>
          <a:p>
            <a:r>
              <a:t>1. Copilot suggests **code fixes** inline from review comments</a:t>
            </a:r>
          </a:p>
          <a:p>
            <a:r>
              <a:t>2. Ask Copilot Chat: _"How do I fix this review comment?"_</a:t>
            </a:r>
          </a:p>
          <a:p>
            <a:r>
              <a:t>3. Copilot **Autofix** resolves flagged security issues</a:t>
            </a:r>
          </a:p>
          <a:p>
            <a:r>
              <a:t>4. Batch-address similar comments across files</a:t>
            </a:r>
          </a:p>
          <a:p/>
          <a:p>
            <a:r>
              <a:t>&gt; 🔁 The feedback loop closes faster when AI drafts the fix and the human approves it</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Automated PR Checks with AI</a:t>
            </a:r>
          </a:p>
        </p:txBody>
      </p:sp>
      <p:sp>
        <p:nvSpPr>
          <p:cNvPr id="3" name="Content Placeholder 2"/>
          <p:cNvSpPr>
            <a:spLocks noGrp="1"/>
          </p:cNvSpPr>
          <p:nvPr>
            <p:ph idx="1"/>
          </p:nvPr>
        </p:nvSpPr>
        <p:spPr/>
        <p:txBody>
          <a:bodyPr/>
          <a:lstStyle/>
          <a:p/>
          <a:p>
            <a:r>
              <a:t>Integrate AI into your **CI/CD pipeline**:</a:t>
            </a:r>
          </a:p>
          <a:p/>
          <a:p>
            <a:r>
              <a:t>```yaml</a:t>
            </a:r>
          </a:p>
          <a:p>
            <a:r>
              <a:t># .github/workflows/pr-review.yml</a:t>
            </a:r>
          </a:p>
          <a:p>
            <a:pPr/>
            <a:r>
              <a:t>name: Copilot Code Review</a:t>
            </a:r>
          </a:p>
          <a:p>
            <a:r>
              <a:t>  uses: github/copilot-code-review@v1</a:t>
            </a:r>
          </a:p>
          <a:p/>
          <a:p>
            <a:pPr/>
            <a:r>
              <a:t>name: AI Security Scan</a:t>
            </a:r>
          </a:p>
          <a:p>
            <a:r>
              <a:t>  uses: github/advanced-security-action@v2</a:t>
            </a:r>
          </a:p>
          <a:p>
            <a:r>
              <a:t>```</a:t>
            </a:r>
          </a:p>
          <a:p/>
          <a:p>
            <a:pPr/>
            <a:r>
              <a:t>Run AI review on **every PR automatically**</a:t>
            </a:r>
          </a:p>
          <a:p>
            <a:pPr/>
            <a:r>
              <a:t>Block merges on **critical AI-flagged issues**</a:t>
            </a:r>
          </a:p>
          <a:p>
            <a:pPr/>
            <a:r>
              <a:t>Post AI summary as a **PR comment**</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Real-World Patterns</a:t>
            </a:r>
          </a:p>
        </p:txBody>
      </p:sp>
      <p:sp>
        <p:nvSpPr>
          <p:cNvPr id="3" name="Content Placeholder 2"/>
          <p:cNvSpPr>
            <a:spLocks noGrp="1"/>
          </p:cNvSpPr>
          <p:nvPr>
            <p:ph idx="1"/>
          </p:nvPr>
        </p:nvSpPr>
        <p:spPr/>
        <p:txBody>
          <a:bodyPr/>
          <a:lstStyle/>
          <a:p/>
          <a:p>
            <a:r>
              <a:t>### Teams using AI for PRs report:</a:t>
            </a:r>
          </a:p>
          <a:p/>
          <a:p>
            <a:pPr/>
            <a:r>
              <a:t>**40-60% reduction** in time-to-first-review</a:t>
            </a:r>
          </a:p>
          <a:p>
            <a:pPr/>
            <a:r>
              <a:t>**Clearer PR descriptions** leading to fewer questions</a:t>
            </a:r>
          </a:p>
          <a:p>
            <a:pPr/>
            <a:r>
              <a:t>**Faster onboarding** — new devs produce PR-ready code sooner</a:t>
            </a:r>
          </a:p>
          <a:p>
            <a:pPr/>
            <a:r>
              <a:t>**Higher review quality** — reviewers catch logic issues, not style issues</a:t>
            </a:r>
          </a:p>
          <a:p/>
          <a:p>
            <a:r>
              <a:t>&gt; Source: GitHub internal data, 2024–2025 Copilot usage studies</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Best Practices</a:t>
            </a:r>
          </a:p>
        </p:txBody>
      </p:sp>
      <p:sp>
        <p:nvSpPr>
          <p:cNvPr id="3" name="Content Placeholder 2"/>
          <p:cNvSpPr>
            <a:spLocks noGrp="1"/>
          </p:cNvSpPr>
          <p:nvPr>
            <p:ph idx="1"/>
          </p:nvPr>
        </p:nvSpPr>
        <p:spPr/>
        <p:txBody>
          <a:bodyPr/>
          <a:lstStyle/>
          <a:p/>
          <a:p>
            <a:r>
              <a:t>✅ **Do**</a:t>
            </a:r>
          </a:p>
          <a:p/>
          <a:p>
            <a:pPr/>
            <a:r>
              <a:t>Review and personalize AI-generated descriptions</a:t>
            </a:r>
          </a:p>
          <a:p>
            <a:pPr/>
            <a:r>
              <a:t>Use Copilot Chat to ask questions during review</a:t>
            </a:r>
          </a:p>
          <a:p>
            <a:pPr/>
            <a:r>
              <a:t>Enable Copilot Autofix for security alerts</a:t>
            </a:r>
          </a:p>
          <a:p>
            <a:pPr/>
            <a:r>
              <a:t>Add a PR template to guide AI output</a:t>
            </a:r>
          </a:p>
          <a:p/>
          <a:p>
            <a:r>
              <a:t>❌ **Avoid**</a:t>
            </a:r>
          </a:p>
          <a:p/>
          <a:p>
            <a:pPr/>
            <a:r>
              <a:t>Merging AI-generated descriptions without reading them</a:t>
            </a:r>
          </a:p>
          <a:p>
            <a:pPr/>
            <a:r>
              <a:t>Treating AI review as a substitute for human judgment</a:t>
            </a:r>
          </a:p>
          <a:p>
            <a:pPr/>
            <a:r>
              <a:t>Over-automating to the point of alert fatigue</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Getting Started</a:t>
            </a:r>
          </a:p>
        </p:txBody>
      </p:sp>
      <p:sp>
        <p:nvSpPr>
          <p:cNvPr id="3" name="Content Placeholder 2"/>
          <p:cNvSpPr>
            <a:spLocks noGrp="1"/>
          </p:cNvSpPr>
          <p:nvPr>
            <p:ph idx="1"/>
          </p:nvPr>
        </p:nvSpPr>
        <p:spPr/>
        <p:txBody>
          <a:bodyPr/>
          <a:lstStyle/>
          <a:p/>
          <a:p>
            <a:r>
              <a:t>### Start small, build habits:</a:t>
            </a:r>
          </a:p>
          <a:p/>
          <a:p>
            <a:r>
              <a:t>1. **Today**: Use Copilot to draft your next PR description</a:t>
            </a:r>
          </a:p>
          <a:p>
            <a:r>
              <a:t>2. **This week**: Try Copilot Chat during your next code review</a:t>
            </a:r>
          </a:p>
          <a:p>
            <a:r>
              <a:t>3. **This sprint**: Add a PR template to guide AI descriptions</a:t>
            </a:r>
          </a:p>
          <a:p>
            <a:r>
              <a:t>4. **This quarter**: Automate AI checks in your CI pipeline</a:t>
            </a:r>
          </a:p>
          <a:p/>
          <a:p>
            <a:r>
              <a:t>&gt; 📖 Resources:</a:t>
            </a:r>
          </a:p>
          <a:p>
            <a:r>
              <a:t>&gt;</a:t>
            </a:r>
          </a:p>
          <a:p>
            <a:r>
              <a:t>&gt; - [GitHub Copilot for PRs](https://docs.github.com/copilot)</a:t>
            </a:r>
          </a:p>
          <a:p>
            <a:r>
              <a:t>&gt; - [GitHub Advanced Security](https://docs.github.com/en/code-security)</a:t>
            </a:r>
          </a:p>
          <a:p>
            <a:r>
              <a:t>&gt; - [gh CLI](https://cli.github.com)</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Summary</a:t>
            </a:r>
          </a:p>
        </p:txBody>
      </p:sp>
      <p:sp>
        <p:nvSpPr>
          <p:cNvPr id="3" name="Content Placeholder 2"/>
          <p:cNvSpPr>
            <a:spLocks noGrp="1"/>
          </p:cNvSpPr>
          <p:nvPr>
            <p:ph idx="1"/>
          </p:nvPr>
        </p:nvSpPr>
        <p:spPr/>
        <p:txBody>
          <a:bodyPr/>
          <a:lstStyle/>
          <a:p/>
          <a:p>
            <a:r>
              <a:t>### AI transforms the PR workflow:</a:t>
            </a:r>
          </a:p>
          <a:p/>
          <a:p>
            <a:r>
              <a:t>| Without AI             | With AI                                       |</a:t>
            </a:r>
          </a:p>
          <a:p>
            <a:r>
              <a:t>| ---------------------- | --------------------------------------------- |</a:t>
            </a:r>
          </a:p>
          <a:p>
            <a:r>
              <a:t>| Manual PR descriptions | Auto-generated, structured descriptions       |</a:t>
            </a:r>
          </a:p>
          <a:p>
            <a:r>
              <a:t>| Line-by-line review    | AI-summarized highlights + human logic review |</a:t>
            </a:r>
          </a:p>
          <a:p>
            <a:r>
              <a:t>| Slow feedback loops    | Inline fix suggestions from review comments   |</a:t>
            </a:r>
          </a:p>
          <a:p>
            <a:r>
              <a:t>| Inconsistent standards | Automated checks on every PR                  |</a:t>
            </a:r>
          </a:p>
          <a:p>
            <a:r>
              <a:t>| Slow onboarding        | New devs match team standards faster          |</a:t>
            </a:r>
          </a:p>
          <a:p/>
          <a:p>
            <a:r>
              <a:t>**Pull requests become a collaboration between humans and AI**</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Course Modules</a:t>
            </a:r>
          </a:p>
        </p:txBody>
      </p:sp>
      <p:sp>
        <p:nvSpPr>
          <p:cNvPr id="3" name="Content Placeholder 2"/>
          <p:cNvSpPr>
            <a:spLocks noGrp="1"/>
          </p:cNvSpPr>
          <p:nvPr>
            <p:ph idx="1"/>
          </p:nvPr>
        </p:nvSpPr>
        <p:spPr/>
        <p:txBody>
          <a:bodyPr/>
          <a:lstStyle/>
          <a:p/>
          <a:p>
            <a:pPr/>
            <a:r>
              <a:t>Intro</a:t>
            </a:r>
          </a:p>
          <a:p>
            <a:pPr/>
            <a:r>
              <a:t>Module 1 - AIASD</a:t>
            </a:r>
          </a:p>
          <a:p>
            <a:pPr/>
            <a:r>
              <a:t>Module 2 - Intro to Copilot</a:t>
            </a:r>
          </a:p>
          <a:p>
            <a:pPr/>
            <a:r>
              <a:t>Module 3 - Vibbing</a:t>
            </a:r>
          </a:p>
          <a:p>
            <a:pPr/>
            <a:r>
              <a:rPr b="1"/>
              <a:t>▶ Module 4 - Adding AI Guardrails</a:t>
            </a:r>
          </a:p>
          <a:p>
            <a:pPr/>
            <a:r>
              <a:t>Module 5 - Managing Context</a:t>
            </a:r>
          </a:p>
          <a:p>
            <a:pPr/>
            <a:r>
              <a:t>Module 6 - Copilot for Teams</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Module 4 - Adding AI Guardrails</a:t>
            </a:r>
          </a:p>
        </p:txBody>
      </p:sp>
      <p:sp>
        <p:nvSpPr>
          <p:cNvPr id="3" name="Content Placeholder 2"/>
          <p:cNvSpPr>
            <a:spLocks noGrp="1"/>
          </p:cNvSpPr>
          <p:nvPr>
            <p:ph idx="1"/>
          </p:nvPr>
        </p:nvSpPr>
        <p:spPr/>
        <p:txBody>
          <a:bodyPr/>
          <a:lstStyle/>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Module 4 - Adding AI Guardrails</a:t>
            </a:r>
          </a:p>
        </p:txBody>
      </p:sp>
      <p:sp>
        <p:nvSpPr>
          <p:cNvPr id="3" name="Content Placeholder 2"/>
          <p:cNvSpPr>
            <a:spLocks noGrp="1"/>
          </p:cNvSpPr>
          <p:nvPr>
            <p:ph idx="1"/>
          </p:nvPr>
        </p:nvSpPr>
        <p:spPr/>
        <p:txBody>
          <a:bodyPr/>
          <a:lstStyle/>
          <a:p/>
          <a:p>
            <a:pPr/>
            <a:r>
              <a:t>Adding AI Guardrails</a:t>
            </a:r>
          </a:p>
          <a:p>
            <a:pPr/>
            <a:r>
              <a:t>Instruction Files</a:t>
            </a:r>
          </a:p>
          <a:p>
            <a:pPr/>
            <a:r>
              <a:t>🎯 Instruction File `applyTo` Patterns</a:t>
            </a:r>
          </a:p>
          <a:p>
            <a:pPr/>
            <a:r>
              <a:t>Core Instructions</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Adding AI Guardrails</a:t>
            </a:r>
          </a:p>
        </p:txBody>
      </p:sp>
      <p:sp>
        <p:nvSpPr>
          <p:cNvPr id="3" name="Content Placeholder 2"/>
          <p:cNvSpPr>
            <a:spLocks noGrp="1"/>
          </p:cNvSpPr>
          <p:nvPr>
            <p:ph idx="1"/>
          </p:nvPr>
        </p:nvSpPr>
        <p:spPr/>
        <p:txBody>
          <a:bodyPr/>
          <a:lstStyle/>
          <a:p/>
          <a:p>
            <a:r>
              <a:t>What are instructions, prompts, and Agents</a:t>
            </a:r>
          </a:p>
          <a:p>
            <a:r>
              <a:t>Creating instruction, prompt, and Agent files</a:t>
            </a:r>
          </a:p>
          <a:p>
            <a:r>
              <a:t>Meta prompts that generate these files</a:t>
            </a:r>
          </a:p>
          <a:p>
            <a:r>
              <a:t>Instructions for generating artifacts</a:t>
            </a:r>
          </a:p>
          <a:p>
            <a:r>
              <a:t>Enforcing provenance for AI‑assisted artifacts</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Instructions, Prompts &amp; Agents</a:t>
            </a:r>
          </a:p>
        </p:txBody>
      </p:sp>
      <p:sp>
        <p:nvSpPr>
          <p:cNvPr id="3" name="Content Placeholder 2"/>
          <p:cNvSpPr>
            <a:spLocks noGrp="1"/>
          </p:cNvSpPr>
          <p:nvPr>
            <p:ph idx="1"/>
          </p:nvPr>
        </p:nvSpPr>
        <p:spPr/>
        <p:txBody>
          <a:bodyPr/>
          <a:lstStyle/>
          <a:p/>
          <a:p>
            <a:r>
              <a:t>Definitions</a:t>
            </a:r>
          </a:p>
          <a:p>
            <a:r>
              <a:t>Instructions – Persistent rules that guide the model’s behavior</a:t>
            </a:r>
          </a:p>
          <a:p>
            <a:r>
              <a:t>Prompts – Task‑specific requests defining intent and constraints</a:t>
            </a:r>
          </a:p>
          <a:p>
            <a:r>
              <a:t>Agents – Pre‑configured personas optimized for workflows</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Creating Instruction, Prompt &amp; Agent Files</a:t>
            </a:r>
          </a:p>
        </p:txBody>
      </p:sp>
      <p:sp>
        <p:nvSpPr>
          <p:cNvPr id="3" name="Content Placeholder 2"/>
          <p:cNvSpPr>
            <a:spLocks noGrp="1"/>
          </p:cNvSpPr>
          <p:nvPr>
            <p:ph idx="1"/>
          </p:nvPr>
        </p:nvSpPr>
        <p:spPr/>
        <p:txBody>
          <a:bodyPr/>
          <a:lstStyle/>
          <a:p/>
          <a:p>
            <a:r>
              <a:t>Why create files?</a:t>
            </a:r>
          </a:p>
          <a:p>
            <a:r>
              <a:t>Ensures repeatability</a:t>
            </a:r>
          </a:p>
          <a:p>
            <a:r>
              <a:t>Reduces token usage</a:t>
            </a:r>
          </a:p>
          <a:p>
            <a:r>
              <a:t>Provides version‑controlled guardrails</a:t>
            </a:r>
          </a:p>
          <a:p>
            <a:r>
              <a:t>Enables team‑wide consistency</a:t>
            </a:r>
          </a:p>
          <a:p>
            <a:r>
              <a:t>File types</a:t>
            </a:r>
          </a:p>
          <a:p>
            <a:r>
              <a:t>.github/instructions/myinstructions.instructions.md</a:t>
            </a:r>
          </a:p>
          <a:p>
            <a:r>
              <a:t>.github/prompts/myprompt.prompt.md</a:t>
            </a:r>
          </a:p>
          <a:p>
            <a:r>
              <a:t>.github/chatmodes/mychatmode.chatmode.md</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Meta Prompts</a:t>
            </a:r>
          </a:p>
        </p:txBody>
      </p:sp>
      <p:sp>
        <p:nvSpPr>
          <p:cNvPr id="3" name="Content Placeholder 2"/>
          <p:cNvSpPr>
            <a:spLocks noGrp="1"/>
          </p:cNvSpPr>
          <p:nvPr>
            <p:ph idx="1"/>
          </p:nvPr>
        </p:nvSpPr>
        <p:spPr/>
        <p:txBody>
          <a:bodyPr/>
          <a:lstStyle/>
          <a:p/>
          <a:p>
            <a:r>
              <a:t>Meta prompts guide:</a:t>
            </a:r>
          </a:p>
          <a:p>
            <a:r>
              <a:t>Creation of instruction files</a:t>
            </a:r>
          </a:p>
          <a:p>
            <a:r>
              <a:t>Generation of reusable prompts</a:t>
            </a:r>
          </a:p>
          <a:p>
            <a:r>
              <a:t>Construction of Agents</a:t>
            </a:r>
          </a:p>
          <a:p>
            <a:r>
              <a:t>Provide consistent formatting, structure, content</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Instructions for Generating Artifacts</a:t>
            </a:r>
          </a:p>
        </p:txBody>
      </p:sp>
      <p:sp>
        <p:nvSpPr>
          <p:cNvPr id="3" name="Content Placeholder 2"/>
          <p:cNvSpPr>
            <a:spLocks noGrp="1"/>
          </p:cNvSpPr>
          <p:nvPr>
            <p:ph idx="1"/>
          </p:nvPr>
        </p:nvSpPr>
        <p:spPr/>
        <p:txBody>
          <a:bodyPr/>
          <a:lstStyle/>
          <a:p/>
          <a:p>
            <a:r>
              <a:t>Best practices</a:t>
            </a:r>
          </a:p>
          <a:p>
            <a:r>
              <a:t>Define the artifact type</a:t>
            </a:r>
          </a:p>
          <a:p>
            <a:r>
              <a:t>Specify required sections</a:t>
            </a:r>
          </a:p>
          <a:p>
            <a:r>
              <a:t>Provide examples or templates</a:t>
            </a:r>
          </a:p>
          <a:p>
            <a:r>
              <a:t>Include acceptance criteria</a:t>
            </a:r>
          </a:p>
          <a:p>
            <a:r>
              <a:t>Require the model to restate constraints</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Enforcing Provenance for AI Artifacts</a:t>
            </a:r>
          </a:p>
        </p:txBody>
      </p:sp>
      <p:sp>
        <p:nvSpPr>
          <p:cNvPr id="3" name="Content Placeholder 2"/>
          <p:cNvSpPr>
            <a:spLocks noGrp="1"/>
          </p:cNvSpPr>
          <p:nvPr>
            <p:ph idx="1"/>
          </p:nvPr>
        </p:nvSpPr>
        <p:spPr/>
        <p:txBody>
          <a:bodyPr/>
          <a:lstStyle/>
          <a:p/>
          <a:p>
            <a:r>
              <a:t>Provenance requirements</a:t>
            </a:r>
          </a:p>
          <a:p>
            <a:r>
              <a:t>Declare:</a:t>
            </a:r>
          </a:p>
          <a:p>
            <a:pPr/>
            <a:r>
              <a:t>AI involvement</a:t>
            </a:r>
          </a:p>
          <a:p>
            <a:pPr/>
            <a:r>
              <a:t>Model used</a:t>
            </a:r>
          </a:p>
          <a:p>
            <a:pPr/>
            <a:r>
              <a:t>Date generated</a:t>
            </a:r>
          </a:p>
          <a:p>
            <a:pPr/>
            <a:r>
              <a:t>Human reviewer</a:t>
            </a:r>
          </a:p>
          <a:p>
            <a:r>
              <a:t>Store provenance in headers, footers, or side cars</a:t>
            </a:r>
          </a:p>
          <a:p>
            <a:r>
              <a:t>Track revisions in version control</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Copy the Core Instructions</a:t>
            </a:r>
          </a:p>
        </p:txBody>
      </p:sp>
      <p:sp>
        <p:nvSpPr>
          <p:cNvPr id="3" name="Content Placeholder 2"/>
          <p:cNvSpPr>
            <a:spLocks noGrp="1"/>
          </p:cNvSpPr>
          <p:nvPr>
            <p:ph idx="1"/>
          </p:nvPr>
        </p:nvSpPr>
        <p:spPr/>
        <p:txBody>
          <a:bodyPr/>
          <a:lstStyle/>
          <a:p/>
          <a:p>
            <a:r>
              <a:t>Duration: 10 minutes</a:t>
            </a:r>
          </a:p>
          <a:p>
            <a:r>
              <a:t>Objectives:</a:t>
            </a:r>
          </a:p>
          <a:p>
            <a:r>
              <a:t>Understand file organization for AI-assisted output policies</a:t>
            </a:r>
          </a:p>
          <a:p>
            <a:r>
              <a:t>Practice copying files between repositories</a:t>
            </a:r>
          </a:p>
          <a:p>
            <a:r>
              <a:t>Ensure compliance with output metadata requirements</a:t>
            </a:r>
          </a:p>
          <a:p>
            <a:r>
              <a:t>Activities:</a:t>
            </a:r>
          </a:p>
          <a:p>
            <a:r>
              <a:t>1. Locate .github/instructions/ai-assisted-output.instructions.md in the AI-Assisted-Software-Development repository</a:t>
            </a:r>
          </a:p>
          <a:p>
            <a:r>
              <a:t>2. Copy the file into the .github/instructions folder of the current repository</a:t>
            </a:r>
          </a:p>
          <a:p>
            <a:r>
              <a:t>3. Copy these files as well:</a:t>
            </a:r>
          </a:p>
          <a:p>
            <a:r>
              <a:t>chatmode-file.instructions.md</a:t>
            </a:r>
          </a:p>
          <a:p>
            <a:r>
              <a:t>instruction-files.instructions.md</a:t>
            </a:r>
          </a:p>
          <a:p>
            <a:r>
              <a:t>instruction-prompt-files.instructions.md</a:t>
            </a:r>
          </a:p>
          <a:p>
            <a:r>
              <a:t>prompt-file.instructions.md</a:t>
            </a:r>
          </a:p>
          <a:p>
            <a:r>
              <a:t>4. Verify the copied files matches the original</a:t>
            </a:r>
          </a:p>
          <a:p>
            <a:r>
              <a:t>5. Review the instructions</a:t>
            </a:r>
          </a:p>
          <a:p>
            <a:r>
              <a:t>Success Criteria:</a:t>
            </a:r>
          </a:p>
          <a:p>
            <a:r>
              <a:t>The files are present in the current repo</a:t>
            </a:r>
          </a:p>
          <a:p>
            <a:r>
              <a:t>The content matches the source file</a:t>
            </a:r>
          </a:p>
          <a:p>
            <a:r>
              <a:t>No metadata or formatting is lost</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Instructions for AI Generated Artifacts</a:t>
            </a:r>
          </a:p>
        </p:txBody>
      </p:sp>
      <p:sp>
        <p:nvSpPr>
          <p:cNvPr id="3" name="Content Placeholder 2"/>
          <p:cNvSpPr>
            <a:spLocks noGrp="1"/>
          </p:cNvSpPr>
          <p:nvPr>
            <p:ph idx="1"/>
          </p:nvPr>
        </p:nvSpPr>
        <p:spPr/>
        <p:txBody>
          <a:bodyPr/>
          <a:lstStyle/>
          <a:p/>
          <a:p>
            <a:r>
              <a:t>The one instruction file that rules them all</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AI-Assisted Output Instructions</a:t>
            </a:r>
          </a:p>
        </p:txBody>
      </p:sp>
      <p:sp>
        <p:nvSpPr>
          <p:cNvPr id="3" name="Content Placeholder 2"/>
          <p:cNvSpPr>
            <a:spLocks noGrp="1"/>
          </p:cNvSpPr>
          <p:nvPr>
            <p:ph idx="1"/>
          </p:nvPr>
        </p:nvSpPr>
        <p:spPr/>
        <p:txBody>
          <a:bodyPr/>
          <a:lstStyle/>
          <a:p/>
          <a:p>
            <a:r>
              <a:t>Ensures provenance and logging for all AI-assisted outputs</a:t>
            </a:r>
          </a:p>
          <a:p>
            <a:r>
              <a:t>Defines required metadata, logging workflow, and quality gates</a:t>
            </a:r>
          </a:p>
          <a:p>
            <a:r>
              <a:t>Protects code quality and enables audits</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Required Provenance Metadata</a:t>
            </a:r>
          </a:p>
        </p:txBody>
      </p:sp>
      <p:sp>
        <p:nvSpPr>
          <p:cNvPr id="3" name="Content Placeholder 2"/>
          <p:cNvSpPr>
            <a:spLocks noGrp="1"/>
          </p:cNvSpPr>
          <p:nvPr>
            <p:ph idx="1"/>
          </p:nvPr>
        </p:nvSpPr>
        <p:spPr/>
        <p:txBody>
          <a:bodyPr/>
          <a:lstStyle/>
          <a:p/>
          <a:p>
            <a:r>
              <a:t>Every AI-assisted artifact must include:</a:t>
            </a:r>
          </a:p>
          <a:p>
            <a:pPr/>
            <a:r>
              <a:t>ai_generated: true</a:t>
            </a:r>
          </a:p>
          <a:p>
            <a:pPr/>
            <a:r>
              <a:t>model: provider/model@version</a:t>
            </a:r>
          </a:p>
          <a:p>
            <a:pPr/>
            <a:r>
              <a:t>operator: username</a:t>
            </a:r>
          </a:p>
          <a:p>
            <a:pPr/>
            <a:r>
              <a:t>chat_id: unique chat identifier</a:t>
            </a:r>
          </a:p>
          <a:p>
            <a:pPr/>
            <a:r>
              <a:t>prompt: exact prompt text</a:t>
            </a:r>
          </a:p>
          <a:p>
            <a:pPr/>
            <a:r>
              <a:t>started/ended: timestamps</a:t>
            </a:r>
          </a:p>
          <a:p>
            <a:pPr/>
            <a:r>
              <a:t>task_durations &amp; total_duration</a:t>
            </a:r>
          </a:p>
          <a:p>
            <a:pPr/>
            <a:r>
              <a:t>ai_log: path to conversation log</a:t>
            </a:r>
          </a:p>
          <a:p>
            <a:pPr/>
            <a:r>
              <a:t>source: who/what created the file</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Metadata Placement Policy</a:t>
            </a:r>
          </a:p>
        </p:txBody>
      </p:sp>
      <p:sp>
        <p:nvSpPr>
          <p:cNvPr id="3" name="Content Placeholder 2"/>
          <p:cNvSpPr>
            <a:spLocks noGrp="1"/>
          </p:cNvSpPr>
          <p:nvPr>
            <p:ph idx="1"/>
          </p:nvPr>
        </p:nvSpPr>
        <p:spPr/>
        <p:txBody>
          <a:bodyPr/>
          <a:lstStyle/>
          <a:p/>
          <a:p>
            <a:r>
              <a:t>Use YAML front matter for Markdown and similar formats</a:t>
            </a:r>
          </a:p>
          <a:p>
            <a:r>
              <a:t>For binaries/images, use a sidecar &lt;artifact&gt;.meta.md</a:t>
            </a:r>
          </a:p>
          <a:p>
            <a:r>
              <a:t>Never use sidecars for Markdown</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 Chat Logging Workflow</a:t>
            </a:r>
          </a:p>
        </p:txBody>
      </p:sp>
      <p:sp>
        <p:nvSpPr>
          <p:cNvPr id="3" name="Content Placeholder 2"/>
          <p:cNvSpPr>
            <a:spLocks noGrp="1"/>
          </p:cNvSpPr>
          <p:nvPr>
            <p:ph idx="1"/>
          </p:nvPr>
        </p:nvSpPr>
        <p:spPr/>
        <p:txBody>
          <a:bodyPr/>
          <a:lstStyle/>
          <a:p/>
          <a:p>
            <a:r>
              <a:t>Each chat creates a unique log folder: ai-logs/yyyy/mm/dd/&lt;chat-id&gt;/</a:t>
            </a:r>
          </a:p>
          <a:p>
            <a:r>
              <a:t>Required files:</a:t>
            </a:r>
          </a:p>
          <a:p>
            <a:pPr/>
            <a:r>
              <a:t>conversation.md (full transcript)</a:t>
            </a:r>
          </a:p>
          <a:p>
            <a:pPr/>
            <a:r>
              <a:t>summary.md (objectives, decisions, outcomes)</a:t>
            </a:r>
          </a:p>
          <a:p>
            <a:pPr/>
            <a:r>
              <a:t>artifacts/ (optional)</a:t>
            </a:r>
          </a:p>
          <a:p>
            <a:r>
              <a:t>Never reuse chat logs between sessions</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Quality &amp; PR Checklist</a:t>
            </a:r>
          </a:p>
        </p:txBody>
      </p:sp>
      <p:sp>
        <p:nvSpPr>
          <p:cNvPr id="3" name="Content Placeholder 2"/>
          <p:cNvSpPr>
            <a:spLocks noGrp="1"/>
          </p:cNvSpPr>
          <p:nvPr>
            <p:ph idx="1"/>
          </p:nvPr>
        </p:nvSpPr>
        <p:spPr/>
        <p:txBody>
          <a:bodyPr/>
          <a:lstStyle/>
          <a:p/>
          <a:p>
            <a:r>
              <a:t>Metadata complete and correct</a:t>
            </a:r>
          </a:p>
          <a:p>
            <a:r>
              <a:t>Conversation and summary logs exist</a:t>
            </a:r>
          </a:p>
          <a:p>
            <a:r>
              <a:t>README.md updated for notable artifacts</a:t>
            </a:r>
          </a:p>
          <a:p>
            <a:r>
              <a:t>No sensitive data in outputs</a:t>
            </a:r>
          </a:p>
          <a:p>
            <a:r>
              <a:t>All AI-generated content traces to a chat log</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Copilot Integration Requirements</a:t>
            </a:r>
          </a:p>
        </p:txBody>
      </p:sp>
      <p:sp>
        <p:nvSpPr>
          <p:cNvPr id="3" name="Content Placeholder 2"/>
          <p:cNvSpPr>
            <a:spLocks noGrp="1"/>
          </p:cNvSpPr>
          <p:nvPr>
            <p:ph idx="1"/>
          </p:nvPr>
        </p:nvSpPr>
        <p:spPr/>
        <p:txBody>
          <a:bodyPr/>
          <a:lstStyle/>
          <a:p/>
          <a:p>
            <a:r>
              <a:t>Copilot must auto-manage chat IDs and logs</a:t>
            </a:r>
          </a:p>
          <a:p>
            <a:r>
              <a:t>Metadata injected automatically</a:t>
            </a:r>
          </a:p>
          <a:p>
            <a:r>
              <a:t>Block artifact creation if chat context is missing</a:t>
            </a:r>
          </a:p>
          <a:p>
            <a:r>
              <a:t>Enforce provenance before file creation</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Enforcement &amp; Remediation</a:t>
            </a:r>
          </a:p>
        </p:txBody>
      </p:sp>
      <p:sp>
        <p:nvSpPr>
          <p:cNvPr id="3" name="Content Placeholder 2"/>
          <p:cNvSpPr>
            <a:spLocks noGrp="1"/>
          </p:cNvSpPr>
          <p:nvPr>
            <p:ph idx="1"/>
          </p:nvPr>
        </p:nvSpPr>
        <p:spPr/>
        <p:txBody>
          <a:bodyPr/>
          <a:lstStyle/>
          <a:p/>
          <a:p>
            <a:r>
              <a:t>PRs blocked if provenance is incomplete</a:t>
            </a:r>
          </a:p>
          <a:p>
            <a:r>
              <a:t>Missing logs or metadata must be added before merge</a:t>
            </a:r>
          </a:p>
          <a:p>
            <a:r>
              <a:t>Orphaned artifacts require reconstruction of logs and metadata</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Summary: Why This Matters</a:t>
            </a:r>
          </a:p>
        </p:txBody>
      </p:sp>
      <p:sp>
        <p:nvSpPr>
          <p:cNvPr id="3" name="Content Placeholder 2"/>
          <p:cNvSpPr>
            <a:spLocks noGrp="1"/>
          </p:cNvSpPr>
          <p:nvPr>
            <p:ph idx="1"/>
          </p:nvPr>
        </p:nvSpPr>
        <p:spPr/>
        <p:txBody>
          <a:bodyPr/>
          <a:lstStyle/>
          <a:p/>
          <a:p>
            <a:r>
              <a:t>Enables auditability and trust in AI outputs</a:t>
            </a:r>
          </a:p>
          <a:p>
            <a:r>
              <a:t>Protects against orphaned or unverifiable artifacts</a:t>
            </a:r>
          </a:p>
          <a:p>
            <a:r>
              <a:t>Supports team collaboration and compliance</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Core Instruction files</a:t>
            </a:r>
          </a:p>
        </p:txBody>
      </p:sp>
      <p:sp>
        <p:nvSpPr>
          <p:cNvPr id="3" name="Content Placeholder 2"/>
          <p:cNvSpPr>
            <a:spLocks noGrp="1"/>
          </p:cNvSpPr>
          <p:nvPr>
            <p:ph idx="1"/>
          </p:nvPr>
        </p:nvSpPr>
        <p:spPr/>
        <p:txBody>
          <a:bodyPr/>
          <a:lstStyle/>
          <a:p/>
          <a:p>
            <a:r>
              <a:t>chatmode-file.instructions.md</a:t>
            </a:r>
          </a:p>
          <a:p>
            <a:pPr/>
            <a:r>
              <a:t>Defines the structure and contents of agents</a:t>
            </a:r>
          </a:p>
          <a:p>
            <a:r>
              <a:t>instruction-files.instructions.md</a:t>
            </a:r>
          </a:p>
          <a:p>
            <a:pPr/>
            <a:r>
              <a:t>Defines the structure and contents of instruction files</a:t>
            </a:r>
          </a:p>
          <a:p>
            <a:r>
              <a:t>prompt-file.instructions.md</a:t>
            </a:r>
          </a:p>
          <a:p>
            <a:pPr/>
            <a:r>
              <a:t>Defines the structure and contents of prompts</a:t>
            </a:r>
          </a:p>
          <a:p>
            <a:r>
              <a:t>instruction-prompt-files.instructions.md</a:t>
            </a:r>
          </a:p>
          <a:p>
            <a:pPr/>
            <a:r>
              <a:t>Defines the structure and contents of prompts the create instruction files</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Create a Prompt File</a:t>
            </a:r>
          </a:p>
        </p:txBody>
      </p:sp>
      <p:sp>
        <p:nvSpPr>
          <p:cNvPr id="3" name="Content Placeholder 2"/>
          <p:cNvSpPr>
            <a:spLocks noGrp="1"/>
          </p:cNvSpPr>
          <p:nvPr>
            <p:ph idx="1"/>
          </p:nvPr>
        </p:nvSpPr>
        <p:spPr/>
        <p:txBody>
          <a:bodyPr/>
          <a:lstStyle/>
          <a:p/>
          <a:p>
            <a:r>
              <a:t>Duration</a:t>
            </a:r>
          </a:p>
          <a:p>
            <a:r>
              <a:t>10 minutes</a:t>
            </a:r>
          </a:p>
          <a:p>
            <a:r>
              <a:t>Objectives</a:t>
            </a:r>
          </a:p>
          <a:p>
            <a:r>
              <a:t>Understand prompt structure</a:t>
            </a:r>
          </a:p>
          <a:p>
            <a:r>
              <a:t>Practice defining task intent</a:t>
            </a:r>
          </a:p>
          <a:p>
            <a:r>
              <a:t>Apply constraints and success criteria</a:t>
            </a:r>
          </a:p>
          <a:p>
            <a:r>
              <a:t>Activities</a:t>
            </a:r>
          </a:p>
          <a:p>
            <a:r>
              <a:t>Prompt Copilot to create a prompt file that creates an instruction file for evergreen software development</a:t>
            </a:r>
          </a:p>
          <a:p>
            <a:r>
              <a:t>Review the prompt</a:t>
            </a:r>
          </a:p>
          <a:p>
            <a:r>
              <a:t>Success Criteria</a:t>
            </a:r>
          </a:p>
          <a:p>
            <a:r>
              <a:t>Prompt is clear, scoped, and reusable</a:t>
            </a:r>
          </a:p>
          <a:p>
            <a:r>
              <a:t>Includes constraints and success criteria</a:t>
            </a:r>
          </a:p>
          <a:p>
            <a:r>
              <a:t>Avoids unnecessary context</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Create an Instruction File for Evergreen Development</a:t>
            </a:r>
          </a:p>
        </p:txBody>
      </p:sp>
      <p:sp>
        <p:nvSpPr>
          <p:cNvPr id="3" name="Content Placeholder 2"/>
          <p:cNvSpPr>
            <a:spLocks noGrp="1"/>
          </p:cNvSpPr>
          <p:nvPr>
            <p:ph idx="1"/>
          </p:nvPr>
        </p:nvSpPr>
        <p:spPr/>
        <p:txBody>
          <a:bodyPr/>
          <a:lstStyle/>
          <a:p/>
          <a:p>
            <a:r>
              <a:t>Duration</a:t>
            </a:r>
          </a:p>
          <a:p>
            <a:r>
              <a:t>15 minutes</a:t>
            </a:r>
          </a:p>
          <a:p>
            <a:r>
              <a:t>Objectives</a:t>
            </a:r>
          </a:p>
          <a:p>
            <a:r>
              <a:t>Capture evergreen principles</a:t>
            </a:r>
          </a:p>
          <a:p>
            <a:r>
              <a:t>Define architectural boundaries</a:t>
            </a:r>
          </a:p>
          <a:p>
            <a:r>
              <a:t>Specify modernization rules</a:t>
            </a:r>
          </a:p>
          <a:p>
            <a:r>
              <a:t>Activities</a:t>
            </a:r>
          </a:p>
          <a:p>
            <a:r>
              <a:t>Submit the Evergreen Instructions prompt</a:t>
            </a:r>
          </a:p>
          <a:p>
            <a:r>
              <a:t>Review the instructions</a:t>
            </a:r>
          </a:p>
          <a:p>
            <a:r>
              <a:t>Success Criteria</a:t>
            </a:r>
          </a:p>
          <a:p>
            <a:r>
              <a:t>Instruction file is stable and reusable</a:t>
            </a:r>
          </a:p>
          <a:p>
            <a:r>
              <a:t>Reflects evergreen development values</a:t>
            </a:r>
          </a:p>
          <a:p>
            <a:r>
              <a:t>Provides clear guardrails</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Create an Agent</a:t>
            </a:r>
          </a:p>
        </p:txBody>
      </p:sp>
      <p:sp>
        <p:nvSpPr>
          <p:cNvPr id="3" name="Content Placeholder 2"/>
          <p:cNvSpPr>
            <a:spLocks noGrp="1"/>
          </p:cNvSpPr>
          <p:nvPr>
            <p:ph idx="1"/>
          </p:nvPr>
        </p:nvSpPr>
        <p:spPr/>
        <p:txBody>
          <a:bodyPr/>
          <a:lstStyle/>
          <a:p/>
          <a:p>
            <a:r>
              <a:t>Duration</a:t>
            </a:r>
          </a:p>
          <a:p>
            <a:r>
              <a:t>10 minutes</a:t>
            </a:r>
          </a:p>
          <a:p>
            <a:r>
              <a:t>Objectives</a:t>
            </a:r>
          </a:p>
          <a:p>
            <a:r>
              <a:t>Define a persona optimized for brownfield work</a:t>
            </a:r>
          </a:p>
          <a:p>
            <a:r>
              <a:t>Emphasize safety and incrementalism</a:t>
            </a:r>
          </a:p>
          <a:p>
            <a:r>
              <a:t>Encode risk‑aware behaviors</a:t>
            </a:r>
          </a:p>
          <a:p>
            <a:r>
              <a:t>Activities</a:t>
            </a:r>
          </a:p>
          <a:p>
            <a:r>
              <a:t>Draft a Agent that:</a:t>
            </a:r>
          </a:p>
          <a:p>
            <a:pPr/>
            <a:r>
              <a:t>Respects working systems</a:t>
            </a:r>
          </a:p>
          <a:p>
            <a:pPr/>
            <a:r>
              <a:t>Avoids risky rewrites</a:t>
            </a:r>
          </a:p>
          <a:p>
            <a:pPr/>
            <a:r>
              <a:t>Surfaces context gaps</a:t>
            </a:r>
          </a:p>
          <a:p>
            <a:pPr/>
            <a:r>
              <a:t>Encourages incremental changes</a:t>
            </a:r>
          </a:p>
          <a:p>
            <a:r>
              <a:t>Add tone and behavioral guidelines</a:t>
            </a:r>
          </a:p>
          <a:p>
            <a:r>
              <a:t>Add provenance metadata</a:t>
            </a:r>
          </a:p>
          <a:p>
            <a:r>
              <a:t>Success Criteria</a:t>
            </a:r>
          </a:p>
          <a:p>
            <a:r>
              <a:t>Agent behaves like a cautious senior engineer</a:t>
            </a:r>
          </a:p>
          <a:p>
            <a:r>
              <a:t>Encourages safe modernization</a:t>
            </a:r>
          </a:p>
          <a:p>
            <a:r>
              <a:t>Includes clear behavioral rules</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Generate Instruction Files</a:t>
            </a:r>
          </a:p>
        </p:txBody>
      </p:sp>
      <p:sp>
        <p:nvSpPr>
          <p:cNvPr id="3" name="Content Placeholder 2"/>
          <p:cNvSpPr>
            <a:spLocks noGrp="1"/>
          </p:cNvSpPr>
          <p:nvPr>
            <p:ph idx="1"/>
          </p:nvPr>
        </p:nvSpPr>
        <p:spPr/>
        <p:txBody>
          <a:bodyPr/>
          <a:lstStyle/>
          <a:p/>
          <a:p>
            <a:r>
              <a:t>Duration</a:t>
            </a:r>
          </a:p>
          <a:p>
            <a:r>
              <a:t>20 minutes</a:t>
            </a:r>
          </a:p>
          <a:p>
            <a:r>
              <a:t>Objectives</a:t>
            </a:r>
          </a:p>
          <a:p>
            <a:r>
              <a:t>Use meta prompts to scale instruction‑file creation</a:t>
            </a:r>
          </a:p>
          <a:p>
            <a:r>
              <a:t>Capture module‑specific rules</a:t>
            </a:r>
          </a:p>
          <a:p>
            <a:r>
              <a:t>Encode domain and architectural constraints</a:t>
            </a:r>
          </a:p>
          <a:p>
            <a:r>
              <a:t>Activities</a:t>
            </a:r>
          </a:p>
          <a:p>
            <a:r>
              <a:t>Prompt Copilot to create instruction files for the standards and conventions of the tech stack</a:t>
            </a:r>
          </a:p>
          <a:p>
            <a:r>
              <a:t>Review instructions</a:t>
            </a:r>
          </a:p>
          <a:p>
            <a:r>
              <a:t>Success Criteria</a:t>
            </a:r>
          </a:p>
          <a:p>
            <a:r>
              <a:t>Instruction files reflect real system constraints</a:t>
            </a:r>
          </a:p>
          <a:p>
            <a:r>
              <a:t>Meta prompts produce consistent structure</a:t>
            </a:r>
          </a:p>
          <a:p>
            <a:r>
              <a:t>Files are ready for team use</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Context‑Related Issues</a:t>
            </a:r>
          </a:p>
        </p:txBody>
      </p:sp>
      <p:sp>
        <p:nvSpPr>
          <p:cNvPr id="3" name="Content Placeholder 2"/>
          <p:cNvSpPr>
            <a:spLocks noGrp="1"/>
          </p:cNvSpPr>
          <p:nvPr>
            <p:ph idx="1"/>
          </p:nvPr>
        </p:nvSpPr>
        <p:spPr/>
        <p:txBody>
          <a:bodyPr/>
          <a:lstStyle/>
          <a:p/>
          <a:p>
            <a:r>
              <a:t>Duration</a:t>
            </a:r>
          </a:p>
          <a:p>
            <a:r>
              <a:t>10 minutes</a:t>
            </a:r>
          </a:p>
          <a:p>
            <a:r>
              <a:t>Objectives</a:t>
            </a:r>
          </a:p>
          <a:p>
            <a:r>
              <a:t>Identify missing context</a:t>
            </a:r>
          </a:p>
          <a:p>
            <a:r>
              <a:t>Detect token overflow risks</a:t>
            </a:r>
          </a:p>
          <a:p>
            <a:r>
              <a:t>Improve prompt scoping</a:t>
            </a:r>
          </a:p>
          <a:p>
            <a:r>
              <a:t>Activities</a:t>
            </a:r>
          </a:p>
          <a:p>
            <a:r>
              <a:t>Copy the check-context.prompt.md file from the AIASD repository</a:t>
            </a:r>
          </a:p>
          <a:p>
            <a:r>
              <a:t>Review the prompt</a:t>
            </a:r>
          </a:p>
          <a:p>
            <a:r>
              <a:t>Submit the prompt</a:t>
            </a:r>
          </a:p>
          <a:p>
            <a:r>
              <a:t>Review the output</a:t>
            </a:r>
          </a:p>
          <a:p>
            <a:r>
              <a:t>Success Criteria</a:t>
            </a:r>
          </a:p>
          <a:p>
            <a:r>
              <a:t>Correctly identified context gaps</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Instruction Files</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Persistent AI Behavioral Guidelines</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Are Instruction Files?</a:t>
            </a:r>
          </a:p>
        </p:txBody>
      </p:sp>
      <p:sp>
        <p:nvSpPr>
          <p:cNvPr id="3" name="Content Placeholder 2"/>
          <p:cNvSpPr>
            <a:spLocks noGrp="1"/>
          </p:cNvSpPr>
          <p:nvPr>
            <p:ph idx="1"/>
          </p:nvPr>
        </p:nvSpPr>
        <p:spPr/>
        <p:txBody>
          <a:bodyPr/>
          <a:lstStyle/>
          <a:p/>
          <a:p>
            <a:r>
              <a:t>Definition</a:t>
            </a:r>
          </a:p>
          <a:p>
            <a:r>
              <a:t>Persistent configuration files that define AI behavior patterns</a:t>
            </a:r>
          </a:p>
          <a:p>
            <a:r>
              <a:t>Applied automatically across multiple interactions</a:t>
            </a:r>
          </a:p>
          <a:p>
            <a:r>
              <a:t>Establish consistent working standards and constraints</a:t>
            </a:r>
          </a:p>
          <a:p>
            <a:r>
              <a:t>Key Characteristics</a:t>
            </a:r>
          </a:p>
          <a:p>
            <a:r>
              <a:t>Scope: Repository-wide or context-specific</a:t>
            </a:r>
          </a:p>
          <a:p>
            <a:r>
              <a:t>Persistence: Active across all relevant AI interactions</a:t>
            </a:r>
          </a:p>
          <a:p>
            <a:r>
              <a:t>Purpose: Define “how” AI should work, not “what” to do</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Instruction File Structure</a:t>
            </a:r>
          </a:p>
        </p:txBody>
      </p:sp>
      <p:sp>
        <p:nvSpPr>
          <p:cNvPr id="3" name="Content Placeholder 2"/>
          <p:cNvSpPr>
            <a:spLocks noGrp="1"/>
          </p:cNvSpPr>
          <p:nvPr>
            <p:ph idx="1"/>
          </p:nvPr>
        </p:nvSpPr>
        <p:spPr/>
        <p:txBody>
          <a:bodyPr/>
          <a:lstStyle/>
          <a:p/>
          <a:p>
            <a:r>
              <a:t>```markdown</a:t>
            </a:r>
          </a:p>
          <a:p>
            <a:r>
              <a:t>---</a:t>
            </a:r>
          </a:p>
          <a:p>
            <a:r>
              <a:t>description: Azure best practices for AI development</a:t>
            </a:r>
          </a:p>
          <a:p>
            <a:r>
              <a:t>applyTo: "**" # File pattern scope</a:t>
            </a:r>
          </a:p>
          <a:p>
            <a:r>
              <a:t>---</a:t>
            </a:r>
          </a:p>
          <a:p/>
          <a:p/>
          <a:p>
            <a:pPr/>
            <a:r>
              <a:t>Use Azure Tools when handling Azure requests</a:t>
            </a:r>
          </a:p>
          <a:p>
            <a:pPr/>
            <a:r>
              <a:t>Follow security best practices</a:t>
            </a:r>
          </a:p>
          <a:p>
            <a:pPr/>
            <a:r>
              <a:t>Implement proper error handling</a:t>
            </a:r>
          </a:p>
          <a:p>
            <a:pPr/>
            <a:r>
              <a:t>Generate comprehensive documentation</a:t>
            </a:r>
          </a:p>
          <a:p/>
          <a:p/>
          <a:p>
            <a:pPr/>
            <a:r>
              <a:t>Write tests before implementation</a:t>
            </a:r>
          </a:p>
          <a:p>
            <a:pPr/>
            <a:r>
              <a:t>Use dependency injection patterns</a:t>
            </a:r>
          </a:p>
          <a:p>
            <a:pPr/>
            <a:r>
              <a:t>Follow naming conventions</a:t>
            </a:r>
          </a:p>
          <a:p>
            <a:pPr/>
            <a:r>
              <a:t>Include proper logging</a:t>
            </a:r>
          </a:p>
          <a:p>
            <a:r>
              <a:t>```</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Instruction Files: Use Cases</a:t>
            </a:r>
          </a:p>
        </p:txBody>
      </p:sp>
      <p:sp>
        <p:nvSpPr>
          <p:cNvPr id="3" name="Content Placeholder 2"/>
          <p:cNvSpPr>
            <a:spLocks noGrp="1"/>
          </p:cNvSpPr>
          <p:nvPr>
            <p:ph idx="1"/>
          </p:nvPr>
        </p:nvSpPr>
        <p:spPr/>
        <p:txBody>
          <a:bodyPr/>
          <a:lstStyle/>
          <a:p/>
          <a:p>
            <a:r>
              <a:t>Perfect For:</a:t>
            </a:r>
          </a:p>
          <a:p>
            <a:r>
              <a:t>Coding Standards → Consistent style across projects</a:t>
            </a:r>
          </a:p>
          <a:p>
            <a:r>
              <a:t>Security Policies → Enforce security practices</a:t>
            </a:r>
          </a:p>
          <a:p>
            <a:r>
              <a:t>Quality Gates → Define testing and review requirements</a:t>
            </a:r>
          </a:p>
          <a:p>
            <a:r>
              <a:t>Technology Constraints → Specify approved frameworks/tools</a:t>
            </a:r>
          </a:p>
          <a:p>
            <a:r>
              <a:t>Examples:</a:t>
            </a:r>
          </a:p>
          <a:p>
            <a:r>
              <a:t>azure-development.instructions.md</a:t>
            </a:r>
          </a:p>
          <a:p>
            <a:r>
              <a:t>testing-standards.instructions.md</a:t>
            </a:r>
          </a:p>
          <a:p>
            <a:r>
              <a:t>security-requirements.instructions.md</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Instruction Files Best Practices</a:t>
            </a:r>
          </a:p>
        </p:txBody>
      </p:sp>
      <p:sp>
        <p:nvSpPr>
          <p:cNvPr id="3" name="Content Placeholder 2"/>
          <p:cNvSpPr>
            <a:spLocks noGrp="1"/>
          </p:cNvSpPr>
          <p:nvPr>
            <p:ph idx="1"/>
          </p:nvPr>
        </p:nvSpPr>
        <p:spPr/>
        <p:txBody>
          <a:bodyPr/>
          <a:lstStyle/>
          <a:p/>
          <a:p>
            <a:r>
              <a:t>✅ Do This:</a:t>
            </a:r>
          </a:p>
          <a:p>
            <a:r>
              <a:t>Keep instructions clear and actionable</a:t>
            </a:r>
          </a:p>
          <a:p>
            <a:r>
              <a:t>Use file patterns (applyTo: '\*\*') for broad scope</a:t>
            </a:r>
          </a:p>
          <a:p>
            <a:r>
              <a:t>Version control and document changes</a:t>
            </a:r>
          </a:p>
          <a:p>
            <a:r>
              <a:t>Test instruction effectiveness regularly</a:t>
            </a:r>
          </a:p>
          <a:p>
            <a:r>
              <a:t>❌ Avoid This:</a:t>
            </a:r>
          </a:p>
          <a:p>
            <a:r>
              <a:t>Overly complex or contradictory rules</a:t>
            </a:r>
          </a:p>
          <a:p>
            <a:r>
              <a:t>Too many instructions (cognitive overload)</a:t>
            </a:r>
          </a:p>
          <a:p>
            <a:r>
              <a:t>Instructions that conflict with prompt files</a:t>
            </a:r>
          </a:p>
          <a:p>
            <a:r>
              <a:t>Hardcoded values instead of parameters</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 Instruction File `applyTo` Patterns</a:t>
            </a:r>
          </a:p>
        </p:txBody>
      </p:sp>
      <p:sp>
        <p:nvSpPr>
          <p:cNvPr id="3" name="Content Placeholder 2"/>
          <p:cNvSpPr>
            <a:spLocks noGrp="1"/>
          </p:cNvSpPr>
          <p:nvPr>
            <p:ph idx="1"/>
          </p:nvPr>
        </p:nvSpPr>
        <p:spPr/>
        <p:txBody>
          <a:bodyPr/>
          <a:lstStyle/>
          <a:p/>
          <a:p>
            <a:r>
              <a:t>**Understanding Glob Pattern Matching**</a:t>
            </a:r>
          </a:p>
          <a:p/>
          <a:p>
            <a:r>
              <a:t>Controlling When Instructions Apply to Your Code</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Where `appliesTo` Fits</a:t>
            </a:r>
          </a:p>
        </p:txBody>
      </p:sp>
      <p:sp>
        <p:nvSpPr>
          <p:cNvPr id="3" name="Content Placeholder 2"/>
          <p:cNvSpPr>
            <a:spLocks noGrp="1"/>
          </p:cNvSpPr>
          <p:nvPr>
            <p:ph idx="1"/>
          </p:nvPr>
        </p:nvSpPr>
        <p:spPr/>
        <p:txBody>
          <a:bodyPr/>
          <a:lstStyle/>
          <a:p/>
          <a:p>
            <a:r>
              <a:t>The filtering mechanism for instruction files</a:t>
            </a:r>
          </a:p>
          <a:p/>
          <a:p>
            <a:r>
              <a:t>`appliesTo` is a **selector** that determines _when_ an instruction file</a:t>
            </a:r>
          </a:p>
          <a:p>
            <a:r>
              <a:t>is included in the stack.</a:t>
            </a:r>
          </a:p>
          <a:p/>
          <a:p>
            <a:r>
              <a:t>Common selectors include:</a:t>
            </a:r>
          </a:p>
          <a:p/>
          <a:p>
            <a:pPr/>
            <a:r>
              <a:t>**repositories** -- include only for specific repos</a:t>
            </a:r>
          </a:p>
          <a:p>
            <a:pPr/>
            <a:r>
              <a:t>**languages** -- include only for certain languages</a:t>
            </a:r>
          </a:p>
          <a:p>
            <a:pPr/>
            <a:r>
              <a:t>**filePatterns** -- include only when editing certain files</a:t>
            </a:r>
          </a:p>
          <a:p>
            <a:pPr/>
            <a:r>
              <a:t>**tools** -- include only when using specific Copilot features</a:t>
            </a:r>
          </a:p>
          <a:p>
            <a:pPr/>
            <a:r>
              <a:t>**scopes** -- include only in chat, only in editor, etc.</a:t>
            </a:r>
          </a:p>
          <a:p/>
          <a:p>
            <a:r>
              <a:t>**Speaker Notes:** `appliesTo` is not a guardrail itself. It's a routing</a:t>
            </a:r>
          </a:p>
          <a:p>
            <a:r>
              <a:t>rule. It prevents irrelevant instructions from polluting the stack and</a:t>
            </a:r>
          </a:p>
          <a:p>
            <a:r>
              <a:t>keeps the assistant focused.</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`appliesTo` Interacts with the Stack</a:t>
            </a:r>
          </a:p>
        </p:txBody>
      </p:sp>
      <p:sp>
        <p:nvSpPr>
          <p:cNvPr id="3" name="Content Placeholder 2"/>
          <p:cNvSpPr>
            <a:spLocks noGrp="1"/>
          </p:cNvSpPr>
          <p:nvPr>
            <p:ph idx="1"/>
          </p:nvPr>
        </p:nvSpPr>
        <p:spPr/>
        <p:txBody>
          <a:bodyPr/>
          <a:lstStyle/>
          <a:p/>
          <a:p>
            <a:r>
              <a:t>Filtering happens _before_ merging</a:t>
            </a:r>
          </a:p>
          <a:p/>
          <a:p>
            <a:r>
              <a:t>1.  Copilot discovers all instruction files in scope</a:t>
            </a:r>
          </a:p>
          <a:p>
            <a:r>
              <a:t>2.  Copilot filters them using `appliesTo`</a:t>
            </a:r>
          </a:p>
          <a:p>
            <a:r>
              <a:t>3.  Copilot merges the remaining files into the stack</a:t>
            </a:r>
          </a:p>
          <a:p/>
          <a:p>
            <a:r>
              <a:t>**Speaker Notes:** This means you can have many instruction files in</a:t>
            </a:r>
          </a:p>
          <a:p>
            <a:r>
              <a:t>`.github/instructions/`, but only the ones whose `appliesTo` match the</a:t>
            </a:r>
          </a:p>
          <a:p>
            <a:r>
              <a:t>current context will be included.</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 What is `applyTo`?</a:t>
            </a:r>
          </a:p>
        </p:txBody>
      </p:sp>
      <p:sp>
        <p:nvSpPr>
          <p:cNvPr id="3" name="Content Placeholder 2"/>
          <p:cNvSpPr>
            <a:spLocks noGrp="1"/>
          </p:cNvSpPr>
          <p:nvPr>
            <p:ph idx="1"/>
          </p:nvPr>
        </p:nvSpPr>
        <p:spPr/>
        <p:txBody>
          <a:bodyPr/>
          <a:lstStyle/>
          <a:p/>
          <a:p>
            <a:r>
              <a:t>The `applyTo` field in instruction file front matter controls **which files** the instructions apply to.</a:t>
            </a:r>
          </a:p>
          <a:p/>
          <a:p>
            <a:r>
              <a:t>```yaml</a:t>
            </a:r>
          </a:p>
          <a:p>
            <a:r>
              <a:t>---</a:t>
            </a:r>
          </a:p>
          <a:p>
            <a:r>
              <a:t>applyTo: "**/*.md" # Applies to all Markdown files</a:t>
            </a:r>
          </a:p>
          <a:p>
            <a:r>
              <a:t>---</a:t>
            </a:r>
          </a:p>
          <a:p>
            <a:r>
              <a:t>```</a:t>
            </a:r>
          </a:p>
          <a:p/>
          <a:p>
            <a:r>
              <a:t>**Why It Matters:**</a:t>
            </a:r>
          </a:p>
          <a:p/>
          <a:p>
            <a:pPr/>
            <a:r>
              <a:t>✅ Apply architecture patterns only to code files</a:t>
            </a:r>
          </a:p>
          <a:p>
            <a:pPr/>
            <a:r>
              <a:t>✅ Apply documentation standards only to docs</a:t>
            </a:r>
          </a:p>
          <a:p>
            <a:pPr/>
            <a:r>
              <a:t>✅ Avoid conflicting instructions</a:t>
            </a:r>
          </a:p>
          <a:p>
            <a:pPr/>
            <a:r>
              <a:t>✅ Improve Copilot performance by reducing context</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 Universal Application</a:t>
            </a:r>
          </a:p>
        </p:txBody>
      </p:sp>
      <p:sp>
        <p:nvSpPr>
          <p:cNvPr id="3" name="Content Placeholder 2"/>
          <p:cNvSpPr>
            <a:spLocks noGrp="1"/>
          </p:cNvSpPr>
          <p:nvPr>
            <p:ph idx="1"/>
          </p:nvPr>
        </p:nvSpPr>
        <p:spPr/>
        <p:txBody>
          <a:bodyPr/>
          <a:lstStyle/>
          <a:p/>
          <a:p>
            <a:r>
              <a:t>Apply instructions to **all files** in the repository:</a:t>
            </a:r>
          </a:p>
          <a:p/>
          <a:p>
            <a:r>
              <a:t>```yaml</a:t>
            </a:r>
          </a:p>
          <a:p>
            <a:r>
              <a:t>applyTo: "**"        # All files</a:t>
            </a:r>
          </a:p>
          <a:p>
            <a:r>
              <a:t>applyTo: "**/*"      # All files (explicit)</a:t>
            </a:r>
          </a:p>
          <a:p>
            <a:r>
              <a:t>```</a:t>
            </a:r>
          </a:p>
          <a:p/>
          <a:p>
            <a:r>
              <a:t>**Use Cases:**</a:t>
            </a:r>
          </a:p>
          <a:p/>
          <a:p>
            <a:pPr/>
            <a:r>
              <a:t>AI-assisted output policies</a:t>
            </a:r>
          </a:p>
          <a:p>
            <a:pPr/>
            <a:r>
              <a:t>General code quality standards</a:t>
            </a:r>
          </a:p>
          <a:p>
            <a:pPr/>
            <a:r>
              <a:t>Repository-wide conventions</a:t>
            </a:r>
          </a:p>
          <a:p>
            <a:pPr/>
            <a:r>
              <a:t>Copilot behavior guidelines</a:t>
            </a:r>
          </a:p>
          <a:p/>
          <a:p>
            <a:r>
              <a:t>**⚠️ Caution:** Use sparingly - can create conflicts with more specific instructions</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 File Extension Matching</a:t>
            </a:r>
          </a:p>
        </p:txBody>
      </p:sp>
      <p:sp>
        <p:nvSpPr>
          <p:cNvPr id="3" name="Content Placeholder 2"/>
          <p:cNvSpPr>
            <a:spLocks noGrp="1"/>
          </p:cNvSpPr>
          <p:nvPr>
            <p:ph idx="1"/>
          </p:nvPr>
        </p:nvSpPr>
        <p:spPr/>
        <p:txBody>
          <a:bodyPr/>
          <a:lstStyle/>
          <a:p/>
          <a:p>
            <a:r>
              <a:t>Target specific file types using extension patterns:</a:t>
            </a:r>
          </a:p>
          <a:p/>
          <a:p>
            <a:r>
              <a:t>```yaml</a:t>
            </a:r>
          </a:p>
          <a:p>
            <a:r>
              <a:t>applyTo: "**/*.md"</a:t>
            </a:r>
          </a:p>
          <a:p/>
          <a:p>
            <a:r>
              <a:t>applyTo: "**/*.{cs,ts,js}"</a:t>
            </a:r>
          </a:p>
          <a:p/>
          <a:p>
            <a:r>
              <a:t>applyTo: "**/*.instructions.md"</a:t>
            </a:r>
          </a:p>
          <a:p>
            <a:r>
              <a:t>```</a:t>
            </a:r>
          </a:p>
          <a:p/>
          <a:p>
            <a:r>
              <a:t>**Most Common:**</a:t>
            </a:r>
          </a:p>
          <a:p/>
          <a:p>
            <a:pPr/>
            <a:r>
              <a:t>`**/*.md` - All Markdown files</a:t>
            </a:r>
          </a:p>
          <a:p>
            <a:pPr/>
            <a:r>
              <a:t>`**/*.{cs,ts,js,py}` - Multiple programming languages</a:t>
            </a:r>
          </a:p>
          <a:p>
            <a:pPr/>
            <a:r>
              <a:t>`**/*.test.js` - Test files</a:t>
            </a:r>
          </a:p>
          <a:p>
            <a:pPr/>
            <a:r>
              <a:t>`**/*.instructions.md` - Instruction files</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 Directory-Specific Patterns</a:t>
            </a:r>
          </a:p>
        </p:txBody>
      </p:sp>
      <p:sp>
        <p:nvSpPr>
          <p:cNvPr id="3" name="Content Placeholder 2"/>
          <p:cNvSpPr>
            <a:spLocks noGrp="1"/>
          </p:cNvSpPr>
          <p:nvPr>
            <p:ph idx="1"/>
          </p:nvPr>
        </p:nvSpPr>
        <p:spPr/>
        <p:txBody>
          <a:bodyPr/>
          <a:lstStyle/>
          <a:p/>
          <a:p>
            <a:r>
              <a:t>Limit instructions to specific directories:</a:t>
            </a:r>
          </a:p>
          <a:p/>
          <a:p>
            <a:r>
              <a:t>```yaml</a:t>
            </a:r>
          </a:p>
          <a:p>
            <a:r>
              <a:t>applyTo: "Slides/individual-slides/**"</a:t>
            </a:r>
          </a:p>
          <a:p/>
          <a:p>
            <a:r>
              <a:t>applyTo: "src/Features/**/*.cs"</a:t>
            </a:r>
          </a:p>
          <a:p/>
          <a:p>
            <a:r>
              <a:t>applyTo: ".github/instructions/**/*.md"</a:t>
            </a:r>
          </a:p>
          <a:p>
            <a:r>
              <a:t>```</a:t>
            </a:r>
          </a:p>
          <a:p/>
          <a:p>
            <a:r>
              <a:t>**Benefits:**</a:t>
            </a:r>
          </a:p>
          <a:p/>
          <a:p>
            <a:pPr/>
            <a:r>
              <a:t>Isolate concerns (slides vs code vs docs)</a:t>
            </a:r>
          </a:p>
          <a:p>
            <a:pPr/>
            <a:r>
              <a:t>Different rules for different project areas</a:t>
            </a:r>
          </a:p>
          <a:p>
            <a:pPr/>
            <a:r>
              <a:t>Clearer instruction purpose</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 Glob Pattern Syntax</a:t>
            </a:r>
          </a:p>
        </p:txBody>
      </p:sp>
      <p:sp>
        <p:nvSpPr>
          <p:cNvPr id="3" name="Content Placeholder 2"/>
          <p:cNvSpPr>
            <a:spLocks noGrp="1"/>
          </p:cNvSpPr>
          <p:nvPr>
            <p:ph idx="1"/>
          </p:nvPr>
        </p:nvSpPr>
        <p:spPr/>
        <p:txBody>
          <a:bodyPr/>
          <a:lstStyle/>
          <a:p/>
          <a:p>
            <a:r>
              <a:t>Understanding the building blocks:</a:t>
            </a:r>
          </a:p>
          <a:p/>
          <a:p>
            <a:r>
              <a:t>| Pattern | Meaning                  | Example                     |</a:t>
            </a:r>
          </a:p>
          <a:p>
            <a:r>
              <a:t>| ------- | ------------------------ | --------------------------- |</a:t>
            </a:r>
          </a:p>
          <a:p>
            <a:r>
              <a:t>| `*`     | Any characters (not `/`) | `*.md` → `README.md`        |</a:t>
            </a:r>
          </a:p>
          <a:p>
            <a:r>
              <a:t>| `**`    | Zero or more directories | `**/*.md` → `docs/guide.md` |</a:t>
            </a:r>
          </a:p>
          <a:p>
            <a:r>
              <a:t>| `?`     | Single character         | `file?.md` → `file1.md`     |</a:t>
            </a:r>
          </a:p>
          <a:p>
            <a:r>
              <a:t>| `[abc]` | Character set            | `[abc].md` → `a.md`         |</a:t>
            </a:r>
          </a:p>
          <a:p>
            <a:r>
              <a:t>| `[a-z]` | Character range          | `[a-z].md` → `x.md`         |</a:t>
            </a:r>
          </a:p>
          <a:p>
            <a:r>
              <a:t>| `{a,b}` | Alternatives             | `*.{js,ts}` → `app.ts`      |</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 Real-World Examples</a:t>
            </a:r>
          </a:p>
        </p:txBody>
      </p:sp>
      <p:sp>
        <p:nvSpPr>
          <p:cNvPr id="3" name="Content Placeholder 2"/>
          <p:cNvSpPr>
            <a:spLocks noGrp="1"/>
          </p:cNvSpPr>
          <p:nvPr>
            <p:ph idx="1"/>
          </p:nvPr>
        </p:nvSpPr>
        <p:spPr/>
        <p:txBody>
          <a:bodyPr/>
          <a:lstStyle/>
          <a:p/>
          <a:p>
            <a:r>
              <a:t>From this repository's instruction files:</a:t>
            </a:r>
          </a:p>
          <a:p/>
          <a:p>
            <a:r>
              <a:t>```yaml</a:t>
            </a:r>
          </a:p>
          <a:p>
            <a:r>
              <a:t>applyTo: "**/*"</a:t>
            </a:r>
          </a:p>
          <a:p/>
          <a:p>
            <a:r>
              <a:t>applyTo: "**/*.{cs,ts,js,py,java,go,rb}"</a:t>
            </a:r>
          </a:p>
          <a:p/>
          <a:p>
            <a:r>
              <a:t>applyTo: "**/*.{md,txt}"</a:t>
            </a:r>
          </a:p>
          <a:p/>
          <a:p>
            <a:r>
              <a:t>applyTo: "Slides/individual-slides/**"</a:t>
            </a:r>
          </a:p>
          <a:p/>
          <a:p>
            <a:r>
              <a:t>applyTo: "**/*.prompt.md"</a:t>
            </a:r>
          </a:p>
          <a:p>
            <a:r>
              <a:t>```</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 Best Practices</a:t>
            </a:r>
          </a:p>
        </p:txBody>
      </p:sp>
      <p:sp>
        <p:nvSpPr>
          <p:cNvPr id="3" name="Content Placeholder 2"/>
          <p:cNvSpPr>
            <a:spLocks noGrp="1"/>
          </p:cNvSpPr>
          <p:nvPr>
            <p:ph idx="1"/>
          </p:nvPr>
        </p:nvSpPr>
        <p:spPr/>
        <p:txBody>
          <a:bodyPr/>
          <a:lstStyle/>
          <a:p/>
          <a:p>
            <a:r>
              <a:t>**1. Be Specific When Possible**</a:t>
            </a:r>
          </a:p>
          <a:p/>
          <a:p>
            <a:r>
              <a:t>```yaml</a:t>
            </a:r>
          </a:p>
          <a:p>
            <a:r>
              <a:t>✅ applyTo: "**/*.instructions.md"</a:t>
            </a:r>
          </a:p>
          <a:p>
            <a:r>
              <a:t>❌ applyTo: "**"</a:t>
            </a:r>
          </a:p>
          <a:p>
            <a:r>
              <a:t>```</a:t>
            </a:r>
          </a:p>
          <a:p/>
          <a:p>
            <a:r>
              <a:t>**2. Use Brace Expansion for Multiple Extensions**</a:t>
            </a:r>
          </a:p>
          <a:p/>
          <a:p>
            <a:r>
              <a:t>```yaml</a:t>
            </a:r>
          </a:p>
          <a:p>
            <a:r>
              <a:t>✅ applyTo: "**/*.{cs,ts,js}"</a:t>
            </a:r>
          </a:p>
          <a:p>
            <a:r>
              <a:t>❌ Three separate instruction files</a:t>
            </a:r>
          </a:p>
          <a:p>
            <a:r>
              <a:t>```</a:t>
            </a:r>
          </a:p>
          <a:p/>
          <a:p>
            <a:r>
              <a:t>**3. Match Scope to Purpose**</a:t>
            </a:r>
          </a:p>
          <a:p/>
          <a:p>
            <a:r>
              <a:t>```yaml</a:t>
            </a:r>
          </a:p>
          <a:p>
            <a:r>
              <a:t>applyTo: "src/**/*.{cs,ts,js}"</a:t>
            </a:r>
          </a:p>
          <a:p/>
          <a:p>
            <a:r>
              <a:t>applyTo: "Slides/individual-slides/**"</a:t>
            </a:r>
          </a:p>
          <a:p>
            <a:r>
              <a:t>```</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 Common Pitfalls</a:t>
            </a:r>
          </a:p>
        </p:txBody>
      </p:sp>
      <p:sp>
        <p:nvSpPr>
          <p:cNvPr id="3" name="Content Placeholder 2"/>
          <p:cNvSpPr>
            <a:spLocks noGrp="1"/>
          </p:cNvSpPr>
          <p:nvPr>
            <p:ph idx="1"/>
          </p:nvPr>
        </p:nvSpPr>
        <p:spPr/>
        <p:txBody>
          <a:bodyPr/>
          <a:lstStyle/>
          <a:p/>
          <a:p>
            <a:r>
              <a:t>**Pitfall 1: Too Broad**</a:t>
            </a:r>
          </a:p>
          <a:p/>
          <a:p>
            <a:r>
              <a:t>```yaml</a:t>
            </a:r>
          </a:p>
          <a:p>
            <a:r>
              <a:t>❌ applyTo: "**" # For slide formatting</a:t>
            </a:r>
          </a:p>
          <a:p>
            <a:r>
              <a:t>✅ applyTo: "Slides/**"</a:t>
            </a:r>
          </a:p>
          <a:p>
            <a:r>
              <a:t>```</a:t>
            </a:r>
          </a:p>
          <a:p/>
          <a:p>
            <a:r>
              <a:t>**Pitfall 2: Too Narrow**</a:t>
            </a:r>
          </a:p>
          <a:p/>
          <a:p>
            <a:r>
              <a:t>```yaml</a:t>
            </a:r>
          </a:p>
          <a:p>
            <a:r>
              <a:t>❌ applyTo: "src/Features/UserManagement/**/*.cs"</a:t>
            </a:r>
          </a:p>
          <a:p>
            <a:r>
              <a:t>✅ applyTo: "src/Features/**/*.cs"</a:t>
            </a:r>
          </a:p>
          <a:p>
            <a:r>
              <a:t>```</a:t>
            </a:r>
          </a:p>
          <a:p/>
          <a:p>
            <a:r>
              <a:t>**Pitfall 3: Overlapping Instructions**</a:t>
            </a:r>
          </a:p>
          <a:p/>
          <a:p>
            <a:r>
              <a:t>```yaml</a:t>
            </a:r>
          </a:p>
          <a:p>
            <a:r>
              <a:t>applyTo: "**/*.cs"  # All C# files</a:t>
            </a:r>
          </a:p>
          <a:p/>
          <a:p>
            <a:r>
              <a:t>applyTo: "src/**/*.cs"  # C# files in src</a:t>
            </a:r>
          </a:p>
          <a:p/>
          <a:p>
            <a:r>
              <a:t>```</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 Testing Your Patterns</a:t>
            </a:r>
          </a:p>
        </p:txBody>
      </p:sp>
      <p:sp>
        <p:nvSpPr>
          <p:cNvPr id="3" name="Content Placeholder 2"/>
          <p:cNvSpPr>
            <a:spLocks noGrp="1"/>
          </p:cNvSpPr>
          <p:nvPr>
            <p:ph idx="1"/>
          </p:nvPr>
        </p:nvSpPr>
        <p:spPr/>
        <p:txBody>
          <a:bodyPr/>
          <a:lstStyle/>
          <a:p/>
          <a:p>
            <a:r>
              <a:t>**How to verify patterns work correctly:**</a:t>
            </a:r>
          </a:p>
          <a:p/>
          <a:p>
            <a:r>
              <a:t>1. **Use file search to preview matches:**</a:t>
            </a:r>
          </a:p>
          <a:p/>
          <a:p>
            <a:r>
              <a:t>```powershell</a:t>
            </a:r>
          </a:p>
          <a:p>
            <a:r>
              <a:t>Get-ChildItem -Path . -Filter "*.md" -Recurse</a:t>
            </a:r>
          </a:p>
          <a:p/>
          <a:p>
            <a:r>
              <a:t>find . -name "*.md"</a:t>
            </a:r>
          </a:p>
          <a:p>
            <a:r>
              <a:t>```</a:t>
            </a:r>
          </a:p>
          <a:p/>
          <a:p>
            <a:r>
              <a:t>2. **Online glob testers:**</a:t>
            </a:r>
          </a:p>
          <a:p/>
          <a:p>
            <a:pPr/>
            <a:r>
              <a:t>[globster.xyz](https://globster.xyz/)</a:t>
            </a:r>
          </a:p>
          <a:p>
            <a:pPr/>
            <a:r>
              <a:t>Test patterns before committing</a:t>
            </a:r>
          </a:p>
          <a:p/>
          <a:p>
            <a:r>
              <a:t>3. **Check Copilot behavior:**</a:t>
            </a:r>
          </a:p>
          <a:p/>
          <a:p>
            <a:pPr/>
            <a:r>
              <a:t>Open a file that should match</a:t>
            </a:r>
          </a:p>
          <a:p>
            <a:pPr/>
            <a:r>
              <a:t>Verify instructions are being followed</a:t>
            </a:r>
          </a:p>
          <a:p>
            <a:pPr/>
            <a:r>
              <a:t>Check for unexpected behavior (might indicate wrong pattern)</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 Pattern Matching Rules</a:t>
            </a:r>
          </a:p>
        </p:txBody>
      </p:sp>
      <p:sp>
        <p:nvSpPr>
          <p:cNvPr id="3" name="Content Placeholder 2"/>
          <p:cNvSpPr>
            <a:spLocks noGrp="1"/>
          </p:cNvSpPr>
          <p:nvPr>
            <p:ph idx="1"/>
          </p:nvPr>
        </p:nvSpPr>
        <p:spPr/>
        <p:txBody>
          <a:bodyPr/>
          <a:lstStyle/>
          <a:p/>
          <a:p>
            <a:r>
              <a:t>**Key Points to Remember:**</a:t>
            </a:r>
          </a:p>
          <a:p/>
          <a:p>
            <a:pPr/>
            <a:r>
              <a:t>Patterns are evaluated when files are opened</a:t>
            </a:r>
          </a:p>
          <a:p>
            <a:pPr/>
            <a:r>
              <a:t>Multiple instruction files can match the same file</a:t>
            </a:r>
          </a:p>
          <a:p>
            <a:pPr/>
            <a:r>
              <a:t>More specific patterns take precedence (in terms of clarity, not override)</a:t>
            </a:r>
          </a:p>
          <a:p>
            <a:pPr/>
            <a:r>
              <a:t>Patterns are relative to repository root</a:t>
            </a:r>
          </a:p>
          <a:p>
            <a:pPr/>
            <a:r>
              <a:t>Case sensitivity depends on file system (Windows: no, Linux: yes)</a:t>
            </a:r>
          </a:p>
          <a:p/>
          <a:p>
            <a:r>
              <a:t>**When Copilot Evaluates Patterns:**</a:t>
            </a:r>
          </a:p>
          <a:p/>
          <a:p>
            <a:r>
              <a:t>1. File opened in editor → Check all instruction files</a:t>
            </a:r>
          </a:p>
          <a:p>
            <a:r>
              <a:t>2. Load matching instructions into context</a:t>
            </a:r>
          </a:p>
          <a:p>
            <a:r>
              <a:t>3. Apply rules during code generation</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 Summary &amp; Best Practices</a:t>
            </a:r>
          </a:p>
        </p:txBody>
      </p:sp>
      <p:sp>
        <p:nvSpPr>
          <p:cNvPr id="3" name="Content Placeholder 2"/>
          <p:cNvSpPr>
            <a:spLocks noGrp="1"/>
          </p:cNvSpPr>
          <p:nvPr>
            <p:ph idx="1"/>
          </p:nvPr>
        </p:nvSpPr>
        <p:spPr/>
        <p:txBody>
          <a:bodyPr/>
          <a:lstStyle/>
          <a:p/>
          <a:p>
            <a:r>
              <a:t>**Essential Patterns:**</a:t>
            </a:r>
          </a:p>
          <a:p/>
          <a:p>
            <a:pPr/>
            <a:r>
              <a:t>`**/*` or `**` - Universal (use sparingly)</a:t>
            </a:r>
          </a:p>
          <a:p>
            <a:pPr/>
            <a:r>
              <a:t>`**/*.{ext1,ext2}` - Multiple file types</a:t>
            </a:r>
          </a:p>
          <a:p>
            <a:pPr/>
            <a:r>
              <a:t>`directory/**` - Specific directory scope</a:t>
            </a:r>
          </a:p>
          <a:p>
            <a:pPr/>
            <a:r>
              <a:t>`**/*.specific.extension.md` - Specialized files</a:t>
            </a:r>
          </a:p>
          <a:p/>
          <a:p>
            <a:r>
              <a:t>**Decision Tree:**</a:t>
            </a:r>
          </a:p>
          <a:p/>
          <a:p>
            <a:r>
              <a:t>1. Does this apply to ALL files? → Use `**/*`</a:t>
            </a:r>
          </a:p>
          <a:p>
            <a:r>
              <a:t>2. Does this apply to specific file types? → Use `**/*.{extensions}`</a:t>
            </a:r>
          </a:p>
          <a:p>
            <a:r>
              <a:t>3. Does this apply to a specific directory? → Use `directory/**`</a:t>
            </a:r>
          </a:p>
          <a:p>
            <a:r>
              <a:t>4. Does this apply to specific naming pattern? → Use `**/*.pattern.ext`</a:t>
            </a:r>
          </a:p>
          <a:p/>
          <a:p>
            <a:r>
              <a:t>**Remember:**</a:t>
            </a:r>
          </a:p>
          <a:p/>
          <a:p>
            <a:pPr/>
            <a:r>
              <a:t>✅ Be as specific as necessary, no more, no less</a:t>
            </a:r>
          </a:p>
          <a:p>
            <a:pPr/>
            <a:r>
              <a:t>✅ Test patterns before committing</a:t>
            </a:r>
          </a:p>
          <a:p>
            <a:pPr/>
            <a:r>
              <a:t>✅ Document why each pattern was chosen</a:t>
            </a:r>
          </a:p>
          <a:p>
            <a:pPr/>
            <a:r>
              <a:t>✅ Review patterns when instructions aren't working</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 Resources &amp; Next Steps</a:t>
            </a:r>
          </a:p>
        </p:txBody>
      </p:sp>
      <p:sp>
        <p:nvSpPr>
          <p:cNvPr id="3" name="Content Placeholder 2"/>
          <p:cNvSpPr>
            <a:spLocks noGrp="1"/>
          </p:cNvSpPr>
          <p:nvPr>
            <p:ph idx="1"/>
          </p:nvPr>
        </p:nvSpPr>
        <p:spPr/>
        <p:txBody>
          <a:bodyPr/>
          <a:lstStyle/>
          <a:p/>
          <a:p>
            <a:r>
              <a:t>**Documentation:**</a:t>
            </a:r>
          </a:p>
          <a:p/>
          <a:p>
            <a:pPr/>
            <a:r>
              <a:t>[Glob Pattern Syntax Reference](https://globster.xyz/)</a:t>
            </a:r>
          </a:p>
          <a:p>
            <a:pPr/>
            <a:r>
              <a:t>GitHub Copilot Instruction Files Documentation</a:t>
            </a:r>
          </a:p>
          <a:p>
            <a:pPr/>
            <a:r>
              <a:t>AI-Assisted Output Instructions</a:t>
            </a:r>
          </a:p>
          <a:p/>
          <a:p>
            <a:r>
              <a:t>**Practice Exercise:**</a:t>
            </a:r>
          </a:p>
          <a:p>
            <a:r>
              <a:t>Create instruction files for:</a:t>
            </a:r>
          </a:p>
          <a:p/>
          <a:p>
            <a:r>
              <a:t>1. CQRS architecture patterns (code only)</a:t>
            </a:r>
          </a:p>
          <a:p>
            <a:r>
              <a:t>2. Mermaid diagram standards (markdown only)</a:t>
            </a:r>
          </a:p>
          <a:p>
            <a:r>
              <a:t>3. Test naming conventions (test files only)</a:t>
            </a:r>
          </a:p>
          <a:p/>
          <a:p>
            <a:r>
              <a:t>**Questions?**</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 Thank You!</a:t>
            </a:r>
          </a:p>
        </p:txBody>
      </p:sp>
      <p:sp>
        <p:nvSpPr>
          <p:cNvPr id="3" name="Content Placeholder 2"/>
          <p:cNvSpPr>
            <a:spLocks noGrp="1"/>
          </p:cNvSpPr>
          <p:nvPr>
            <p:ph idx="1"/>
          </p:nvPr>
        </p:nvSpPr>
        <p:spPr/>
        <p:txBody>
          <a:bodyPr/>
          <a:lstStyle/>
          <a:p/>
          <a:p>
            <a:r>
              <a:t>**Questions? Feedback?**</a:t>
            </a:r>
          </a:p>
          <a:p/>
          <a:p>
            <a:r>
              <a:t>Connect with the AI-Assisted Software Development team</a:t>
            </a:r>
          </a:p>
          <a:p/>
          <a:p>
            <a:r>
              <a:t>GitHub: [johnmillerATcodemag-com/AI-Assisted-Software-Development](https://github.com/johnmillerATcodemag-com/AI-Assisted-Software-Development-Course)</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Core Instructions</a:t>
            </a:r>
          </a:p>
        </p:txBody>
      </p:sp>
      <p:sp>
        <p:nvSpPr>
          <p:cNvPr id="3" name="Content Placeholder 2"/>
          <p:cNvSpPr>
            <a:spLocks noGrp="1"/>
          </p:cNvSpPr>
          <p:nvPr>
            <p:ph idx="1"/>
          </p:nvPr>
        </p:nvSpPr>
        <p:spPr/>
        <p:txBody>
          <a:bodyPr/>
          <a:lstStyle/>
          <a:p/>
          <a:p>
            <a:r>
              <a:t>Instruction File | Purpose</a:t>
            </a:r>
          </a:p>
          <a:p>
            <a:r>
              <a:t>--- | ---</a:t>
            </a:r>
          </a:p>
          <a:p>
            <a:r>
              <a:t>ai-assisted-output.instructions.md | Guidance for AI generated artifacts</a:t>
            </a:r>
          </a:p>
          <a:p>
            <a:r>
              <a:t>chatmode-file.instructions.md | Guidance for generating chat modes</a:t>
            </a:r>
          </a:p>
          <a:p>
            <a:r>
              <a:t>instruction-files.instructions.md | Guidance for generating instruction files</a:t>
            </a:r>
          </a:p>
          <a:p>
            <a:r>
              <a:t>prompt-file.instructions.md | Guidance for generating prompt files</a:t>
            </a:r>
          </a:p>
          <a:p>
            <a:r>
              <a:t>instruction-prompt-files.instructions.md | Guidance for generating prompts that generate instruction files</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Course Modules</a:t>
            </a:r>
          </a:p>
        </p:txBody>
      </p:sp>
      <p:sp>
        <p:nvSpPr>
          <p:cNvPr id="3" name="Content Placeholder 2"/>
          <p:cNvSpPr>
            <a:spLocks noGrp="1"/>
          </p:cNvSpPr>
          <p:nvPr>
            <p:ph idx="1"/>
          </p:nvPr>
        </p:nvSpPr>
        <p:spPr/>
        <p:txBody>
          <a:bodyPr/>
          <a:lstStyle/>
          <a:p/>
          <a:p>
            <a:pPr/>
            <a:r>
              <a:t>Intro</a:t>
            </a:r>
          </a:p>
          <a:p>
            <a:pPr/>
            <a:r>
              <a:t>Module 1 - AIASD</a:t>
            </a:r>
          </a:p>
          <a:p>
            <a:pPr/>
            <a:r>
              <a:t>Module 2 - Intro to Copilot</a:t>
            </a:r>
          </a:p>
          <a:p>
            <a:pPr/>
            <a:r>
              <a:t>Module 3 - Vibbing</a:t>
            </a:r>
          </a:p>
          <a:p>
            <a:pPr/>
            <a:r>
              <a:t>Module 4 - Adding AI Guardrails</a:t>
            </a:r>
          </a:p>
          <a:p>
            <a:pPr/>
            <a:r>
              <a:rPr b="1"/>
              <a:t>▶ Module 5 - Managing Context</a:t>
            </a:r>
          </a:p>
          <a:p>
            <a:pPr/>
            <a:r>
              <a:t>Module 6 - Copilot for Teams</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Module 5 - Managing Context</a:t>
            </a:r>
          </a:p>
        </p:txBody>
      </p:sp>
      <p:sp>
        <p:nvSpPr>
          <p:cNvPr id="3" name="Content Placeholder 2"/>
          <p:cNvSpPr>
            <a:spLocks noGrp="1"/>
          </p:cNvSpPr>
          <p:nvPr>
            <p:ph idx="1"/>
          </p:nvPr>
        </p:nvSpPr>
        <p:spPr/>
        <p:txBody>
          <a:bodyPr/>
          <a:lstStyle/>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Module 5 - Managing Context</a:t>
            </a:r>
          </a:p>
        </p:txBody>
      </p:sp>
      <p:sp>
        <p:nvSpPr>
          <p:cNvPr id="3" name="Content Placeholder 2"/>
          <p:cNvSpPr>
            <a:spLocks noGrp="1"/>
          </p:cNvSpPr>
          <p:nvPr>
            <p:ph idx="1"/>
          </p:nvPr>
        </p:nvSpPr>
        <p:spPr/>
        <p:txBody>
          <a:bodyPr/>
          <a:lstStyle/>
          <a:p/>
          <a:p>
            <a:pPr/>
            <a:r>
              <a:t>Managing GitHub Copilot Effectively</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Managing GitHub Copilot Effectively</a:t>
            </a:r>
          </a:p>
        </p:txBody>
      </p:sp>
      <p:sp>
        <p:nvSpPr>
          <p:cNvPr id="3" name="Content Placeholder 2"/>
          <p:cNvSpPr>
            <a:spLocks noGrp="1"/>
          </p:cNvSpPr>
          <p:nvPr>
            <p:ph idx="1"/>
          </p:nvPr>
        </p:nvSpPr>
        <p:spPr/>
        <p:txBody>
          <a:bodyPr/>
          <a:lstStyle/>
          <a:p/>
          <a:p>
            <a:r>
              <a:t>Copilot is powerful, but not entirely autonomous</a:t>
            </a:r>
          </a:p>
          <a:p>
            <a:r>
              <a:t>Effective use requires structure, guardrails, and clear intent</a:t>
            </a:r>
          </a:p>
          <a:p>
            <a:r>
              <a:t>Treat Copilot as a developer whose output improves with guidance</a:t>
            </a:r>
          </a:p>
          <a:p>
            <a:r>
              <a:t>Your process determines the quality of its contributions</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 Managed Junior Developer</a:t>
            </a:r>
          </a:p>
        </p:txBody>
      </p:sp>
      <p:sp>
        <p:nvSpPr>
          <p:cNvPr id="3" name="Content Placeholder 2"/>
          <p:cNvSpPr>
            <a:spLocks noGrp="1"/>
          </p:cNvSpPr>
          <p:nvPr>
            <p:ph idx="1"/>
          </p:nvPr>
        </p:nvSpPr>
        <p:spPr/>
        <p:txBody>
          <a:bodyPr/>
          <a:lstStyle/>
          <a:p/>
          <a:p>
            <a:r>
              <a:t>Copilot is fast, eager, and sometimes confidently wrong</a:t>
            </a:r>
          </a:p>
          <a:p>
            <a:r>
              <a:t>Provide clear instructions, constraints, and examples</a:t>
            </a:r>
          </a:p>
          <a:p>
            <a:r>
              <a:t>Review everything – trust its speed, not its judgment</a:t>
            </a:r>
          </a:p>
          <a:p>
            <a:r>
              <a:t>Use iterative loops: instruct → generate → review → refine</a:t>
            </a:r>
          </a:p>
          <a:p>
            <a:r>
              <a:t>Give Copilot ownership of tasks, not architecture</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Understanding Context &amp; Tokens</a:t>
            </a:r>
          </a:p>
        </p:txBody>
      </p:sp>
      <p:sp>
        <p:nvSpPr>
          <p:cNvPr id="3" name="Content Placeholder 2"/>
          <p:cNvSpPr>
            <a:spLocks noGrp="1"/>
          </p:cNvSpPr>
          <p:nvPr>
            <p:ph idx="1"/>
          </p:nvPr>
        </p:nvSpPr>
        <p:spPr/>
        <p:txBody>
          <a:bodyPr/>
          <a:lstStyle/>
          <a:p/>
          <a:p>
            <a:r>
              <a:t>Copilot can only “see” a limited amount of text at once</a:t>
            </a:r>
          </a:p>
          <a:p>
            <a:r>
              <a:t>Large files, long conversations, or complex repos can exceed context</a:t>
            </a:r>
          </a:p>
          <a:p>
            <a:r>
              <a:t>Important details may fall out of the window without you realizing</a:t>
            </a:r>
          </a:p>
          <a:p>
            <a:r>
              <a:t>Use these techniques to keep context focused:</a:t>
            </a:r>
          </a:p>
          <a:p>
            <a:pPr/>
            <a:r>
              <a:t>Summaries</a:t>
            </a:r>
          </a:p>
          <a:p>
            <a:pPr/>
            <a:r>
              <a:t>Instruction files</a:t>
            </a:r>
          </a:p>
          <a:p>
            <a:pPr/>
            <a:r>
              <a:t>Modular prompts</a:t>
            </a:r>
          </a:p>
          <a:p>
            <a:pPr/>
            <a:r>
              <a:t>Smaller working sets</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Prompt Engineering Best Practices</a:t>
            </a:r>
          </a:p>
        </p:txBody>
      </p:sp>
      <p:sp>
        <p:nvSpPr>
          <p:cNvPr id="3" name="Content Placeholder 2"/>
          <p:cNvSpPr>
            <a:spLocks noGrp="1"/>
          </p:cNvSpPr>
          <p:nvPr>
            <p:ph idx="1"/>
          </p:nvPr>
        </p:nvSpPr>
        <p:spPr/>
        <p:txBody>
          <a:bodyPr/>
          <a:lstStyle/>
          <a:p/>
          <a:p>
            <a:r>
              <a:t>Be explicit about goals, constraints, and success criteria</a:t>
            </a:r>
          </a:p>
          <a:p>
            <a:r>
              <a:t>Provide examples of the desired pattern or style</a:t>
            </a:r>
          </a:p>
          <a:p>
            <a:r>
              <a:t>Break large tasks into smaller, testable steps</a:t>
            </a:r>
          </a:p>
          <a:p>
            <a:r>
              <a:t>Use instruction files for stable rules and architectural boundaries</a:t>
            </a:r>
          </a:p>
          <a:p>
            <a:r>
              <a:t>Ask Copilot to explain its reasoning when correctness matters</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 Selection Strategies</a:t>
            </a:r>
          </a:p>
        </p:txBody>
      </p:sp>
      <p:sp>
        <p:nvSpPr>
          <p:cNvPr id="3" name="Content Placeholder 2"/>
          <p:cNvSpPr>
            <a:spLocks noGrp="1"/>
          </p:cNvSpPr>
          <p:nvPr>
            <p:ph idx="1"/>
          </p:nvPr>
        </p:nvSpPr>
        <p:spPr/>
        <p:txBody>
          <a:bodyPr/>
          <a:lstStyle/>
          <a:p/>
          <a:p>
            <a:r>
              <a:t>Different models excel at different tasks</a:t>
            </a:r>
          </a:p>
          <a:p>
            <a:r>
              <a:t>High‑end models (e.g., GPT‑4o, Claude Sonnet) are best for:</a:t>
            </a:r>
          </a:p>
          <a:p>
            <a:pPr/>
            <a:r>
              <a:t>Architecture</a:t>
            </a:r>
          </a:p>
          <a:p>
            <a:pPr/>
            <a:r>
              <a:t>Refactoring</a:t>
            </a:r>
          </a:p>
          <a:p>
            <a:pPr/>
            <a:r>
              <a:t>Complex reasoning</a:t>
            </a:r>
          </a:p>
          <a:p>
            <a:pPr/>
            <a:r>
              <a:t>Multi‑file changes</a:t>
            </a:r>
          </a:p>
          <a:p>
            <a:r>
              <a:t>Lightweight models are ideal for:</a:t>
            </a:r>
          </a:p>
          <a:p>
            <a:pPr/>
            <a:r>
              <a:t>Boilerplate</a:t>
            </a:r>
          </a:p>
          <a:p>
            <a:pPr/>
            <a:r>
              <a:t>Repetitive tasks</a:t>
            </a:r>
          </a:p>
          <a:p>
            <a:pPr/>
            <a:r>
              <a:t>Quick iterations</a:t>
            </a:r>
          </a:p>
          <a:p>
            <a:r>
              <a:t>Match the model to the task, not the other way around</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Course Modules</a:t>
            </a:r>
          </a:p>
        </p:txBody>
      </p:sp>
      <p:sp>
        <p:nvSpPr>
          <p:cNvPr id="3" name="Content Placeholder 2"/>
          <p:cNvSpPr>
            <a:spLocks noGrp="1"/>
          </p:cNvSpPr>
          <p:nvPr>
            <p:ph idx="1"/>
          </p:nvPr>
        </p:nvSpPr>
        <p:spPr/>
        <p:txBody>
          <a:bodyPr/>
          <a:lstStyle/>
          <a:p/>
          <a:p>
            <a:pPr/>
            <a:r>
              <a:t>Intro</a:t>
            </a:r>
          </a:p>
          <a:p>
            <a:pPr/>
            <a:r>
              <a:t>Module 1 - AIASD</a:t>
            </a:r>
          </a:p>
          <a:p>
            <a:pPr/>
            <a:r>
              <a:t>Module 2 - Intro to Copilot</a:t>
            </a:r>
          </a:p>
          <a:p>
            <a:pPr/>
            <a:r>
              <a:t>Module 3 - Vibbing</a:t>
            </a:r>
          </a:p>
          <a:p>
            <a:pPr/>
            <a:r>
              <a:t>Module 4 - Adding AI Guardrails</a:t>
            </a:r>
          </a:p>
          <a:p>
            <a:pPr/>
            <a:r>
              <a:t>Module 5 - Managing Context</a:t>
            </a:r>
          </a:p>
          <a:p>
            <a:pPr/>
            <a:r>
              <a:rPr b="1"/>
              <a:t>▶ Module 6 - Copilot for Teams</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Module 6 - Copilot for Teams</a:t>
            </a:r>
          </a:p>
        </p:txBody>
      </p:sp>
      <p:sp>
        <p:nvSpPr>
          <p:cNvPr id="3" name="Content Placeholder 2"/>
          <p:cNvSpPr>
            <a:spLocks noGrp="1"/>
          </p:cNvSpPr>
          <p:nvPr>
            <p:ph idx="1"/>
          </p:nvPr>
        </p:nvSpPr>
        <p:spPr/>
        <p:txBody>
          <a:bodyPr/>
          <a:lstStyle/>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Module 6 - Copilot for Teams</a:t>
            </a:r>
          </a:p>
        </p:txBody>
      </p:sp>
      <p:sp>
        <p:nvSpPr>
          <p:cNvPr id="3" name="Content Placeholder 2"/>
          <p:cNvSpPr>
            <a:spLocks noGrp="1"/>
          </p:cNvSpPr>
          <p:nvPr>
            <p:ph idx="1"/>
          </p:nvPr>
        </p:nvSpPr>
        <p:spPr/>
        <p:txBody>
          <a:bodyPr/>
          <a:lstStyle/>
          <a:p/>
          <a:p>
            <a:pPr/>
            <a:r>
              <a:t>GitHub Copilot for Teams</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github-copilot-for-teams</a:t>
            </a:r>
          </a:p>
        </p:txBody>
      </p:sp>
      <p:sp>
        <p:nvSpPr>
          <p:cNvPr id="3" name="Content Placeholder 2"/>
          <p:cNvSpPr>
            <a:spLocks noGrp="1"/>
          </p:cNvSpPr>
          <p:nvPr>
            <p:ph idx="1"/>
          </p:nvPr>
        </p:nvSpPr>
        <p:spPr/>
        <p:txBody>
          <a:bodyPr/>
          <a:lstStyle/>
          <a:p/>
          <a:p>
            <a:r>
              <a:t>﻿---</a:t>
            </a:r>
          </a:p>
          <a:p>
            <a:r>
              <a:t>marp: true</a:t>
            </a:r>
          </a:p>
          <a:p>
            <a:r>
              <a:t>theme: default</a:t>
            </a:r>
          </a:p>
          <a:p>
            <a:r>
              <a:t>paginate: true</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GitHub Copilot for Teams</a:t>
            </a:r>
          </a:p>
        </p:txBody>
      </p:sp>
      <p:sp>
        <p:nvSpPr>
          <p:cNvPr id="3" name="Content Placeholder 2"/>
          <p:cNvSpPr>
            <a:spLocks noGrp="1"/>
          </p:cNvSpPr>
          <p:nvPr>
            <p:ph idx="1"/>
          </p:nvPr>
        </p:nvSpPr>
        <p:spPr/>
        <p:txBody>
          <a:bodyPr/>
          <a:lstStyle/>
          <a:p/>
          <a:p>
            <a:r>
              <a:t>Key Considerations for Adoption</a:t>
            </a:r>
          </a:p>
          <a:p/>
          <a:p>
            <a:r>
              <a:t>Empowering developers with AI while protecting your codebase</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Prompted This Deck?</a:t>
            </a:r>
          </a:p>
        </p:txBody>
      </p:sp>
      <p:sp>
        <p:nvSpPr>
          <p:cNvPr id="3" name="Content Placeholder 2"/>
          <p:cNvSpPr>
            <a:spLocks noGrp="1"/>
          </p:cNvSpPr>
          <p:nvPr>
            <p:ph idx="1"/>
          </p:nvPr>
        </p:nvSpPr>
        <p:spPr/>
        <p:txBody>
          <a:bodyPr/>
          <a:lstStyle/>
          <a:p/>
          <a:p>
            <a:r>
              <a:t>I want to know how GitHub Copilot protects the intellectual property in the code and documentation submitted to the model. Is this information isolated from other users? Is it incorporated into the model and leaked to other users? How can I protect my IP while using GitHub Copilot?</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Benefits for Organizations</a:t>
            </a:r>
          </a:p>
        </p:txBody>
      </p:sp>
      <p:sp>
        <p:nvSpPr>
          <p:cNvPr id="3" name="Content Placeholder 2"/>
          <p:cNvSpPr>
            <a:spLocks noGrp="1"/>
          </p:cNvSpPr>
          <p:nvPr>
            <p:ph idx="1"/>
          </p:nvPr>
        </p:nvSpPr>
        <p:spPr/>
        <p:txBody>
          <a:bodyPr/>
          <a:lstStyle/>
          <a:p/>
          <a:p>
            <a:r>
              <a:t>Accelerated Development</a:t>
            </a:r>
          </a:p>
          <a:p>
            <a:r>
              <a:t>  - Faster prototyping, fewer boilerplate tasks</a:t>
            </a:r>
          </a:p>
          <a:p>
            <a:r>
              <a:t>Improved Documentation</a:t>
            </a:r>
          </a:p>
          <a:p>
            <a:r>
              <a:t>  - Auto-generates comments and README content</a:t>
            </a:r>
          </a:p>
          <a:p>
            <a:r>
              <a:t>Enhanced Testing</a:t>
            </a:r>
          </a:p>
          <a:p>
            <a:r>
              <a:t>  - Suggests unit tests and edge cases</a:t>
            </a:r>
          </a:p>
          <a:p>
            <a:r>
              <a:t>Team Productivity</a:t>
            </a:r>
          </a:p>
          <a:p>
            <a:r>
              <a:t>  - Reduces cognitive load, supports onboarding</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Risks to Consider</a:t>
            </a:r>
          </a:p>
        </p:txBody>
      </p:sp>
      <p:sp>
        <p:nvSpPr>
          <p:cNvPr id="3" name="Content Placeholder 2"/>
          <p:cNvSpPr>
            <a:spLocks noGrp="1"/>
          </p:cNvSpPr>
          <p:nvPr>
            <p:ph idx="1"/>
          </p:nvPr>
        </p:nvSpPr>
        <p:spPr/>
        <p:txBody>
          <a:bodyPr/>
          <a:lstStyle/>
          <a:p/>
          <a:p>
            <a:r>
              <a:t>IP Leakage Concerns</a:t>
            </a:r>
          </a:p>
          <a:p>
            <a:r>
              <a:t>  - Copilot may suggest code similar to public repositories</a:t>
            </a:r>
          </a:p>
          <a:p>
            <a:r>
              <a:t>  - Risk of inadvertently using copyrighted or licensed code</a:t>
            </a:r>
          </a:p>
          <a:p>
            <a:r>
              <a:t>  - Mitigation: Enable public code filters and review suggestions carefully</a:t>
            </a:r>
          </a:p>
          <a:p>
            <a:r>
              <a:t>Code Quality and Accuracy</a:t>
            </a:r>
          </a:p>
          <a:p>
            <a:r>
              <a:t>  - AI-generated code may contain bugs, inefficiencies, or security flaws</a:t>
            </a:r>
          </a:p>
          <a:p>
            <a:r>
              <a:t>  - Always validate and test before deployment</a:t>
            </a:r>
          </a:p>
          <a:p>
            <a:r>
              <a:t>  - Treat Copilot as a drafting tool, not a source of truth</a:t>
            </a:r>
          </a:p>
          <a:p>
            <a:r>
              <a:t>Developer Overreliance</a:t>
            </a:r>
          </a:p>
          <a:p>
            <a:r>
              <a:t>  - Risk of reduced understanding or critical thinking</a:t>
            </a:r>
          </a:p>
          <a:p>
            <a:r>
              <a:t>  - Encourage code reviews and pair programming to maintain rigor</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and Compliance Risks</a:t>
            </a:r>
          </a:p>
        </p:txBody>
      </p:sp>
      <p:sp>
        <p:nvSpPr>
          <p:cNvPr id="3" name="Content Placeholder 2"/>
          <p:cNvSpPr>
            <a:spLocks noGrp="1"/>
          </p:cNvSpPr>
          <p:nvPr>
            <p:ph idx="1"/>
          </p:nvPr>
        </p:nvSpPr>
        <p:spPr/>
        <p:txBody>
          <a:bodyPr/>
          <a:lstStyle/>
          <a:p/>
          <a:p>
            <a:r>
              <a:t>Regulatory Compliance</a:t>
            </a:r>
          </a:p>
          <a:p>
            <a:r>
              <a:t>  - Generated code may not meet industry-specific standards (e.g., HIPAA, PCI-DSS)</a:t>
            </a:r>
          </a:p>
          <a:p>
            <a:r>
              <a:t>  - Organizations must enforce coding policies and audits</a:t>
            </a:r>
          </a:p>
          <a:p>
            <a:r>
              <a:t>Data Privacy and Security</a:t>
            </a:r>
          </a:p>
          <a:p>
            <a:r>
              <a:t>  - Sensitive data should never be typed into prompts</a:t>
            </a:r>
          </a:p>
          <a:p>
            <a:r>
              <a:t>  - Use Copilot in secure environments with clear usage guidelines</a:t>
            </a:r>
          </a:p>
          <a:p>
            <a:r>
              <a:t>Licensing Ambiguity</a:t>
            </a:r>
          </a:p>
          <a:p>
            <a:r>
              <a:t>  - Copilot suggestions may resemble code under restrictive licenses</a:t>
            </a:r>
          </a:p>
          <a:p>
            <a:r>
              <a:t>  - Legal teams should define acceptable use policies and monitor compliance</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IP and Data Protection</a:t>
            </a:r>
          </a:p>
        </p:txBody>
      </p:sp>
      <p:sp>
        <p:nvSpPr>
          <p:cNvPr id="3" name="Content Placeholder 2"/>
          <p:cNvSpPr>
            <a:spLocks noGrp="1"/>
          </p:cNvSpPr>
          <p:nvPr>
            <p:ph idx="1"/>
          </p:nvPr>
        </p:nvSpPr>
        <p:spPr/>
        <p:txBody>
          <a:bodyPr/>
          <a:lstStyle/>
          <a:p/>
          <a:p>
            <a:r>
              <a:t>Your code is not used to retrain the model (with Copilot for Business/Enterprise)</a:t>
            </a:r>
          </a:p>
          <a:p>
            <a:r>
              <a:t>Suggestions are generated locally — no code is shared unless feedback is submitted</a:t>
            </a:r>
          </a:p>
          <a:p>
            <a:r>
              <a:t>No leakage between users: your private code is not exposed to others</a:t>
            </a:r>
          </a:p>
          <a:p>
            <a:r>
              <a:t>Admins can disable suggestions matching public code for added safety</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Licensing and Legal Considerations</a:t>
            </a:r>
          </a:p>
        </p:txBody>
      </p:sp>
      <p:sp>
        <p:nvSpPr>
          <p:cNvPr id="3" name="Content Placeholder 2"/>
          <p:cNvSpPr>
            <a:spLocks noGrp="1"/>
          </p:cNvSpPr>
          <p:nvPr>
            <p:ph idx="1"/>
          </p:nvPr>
        </p:nvSpPr>
        <p:spPr/>
        <p:txBody>
          <a:bodyPr/>
          <a:lstStyle/>
          <a:p/>
          <a:p>
            <a:r>
              <a:t>Copilot may suggest code similar to public repositories</a:t>
            </a:r>
          </a:p>
          <a:p>
            <a:r>
              <a:t>GitHub provides a filter to block matching public code</a:t>
            </a:r>
          </a:p>
          <a:p>
            <a:r>
              <a:t>Organizations should review Copilot’s Terms of Service and Privacy Statement</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Deployment Options</a:t>
            </a:r>
          </a:p>
        </p:txBody>
      </p:sp>
      <p:sp>
        <p:nvSpPr>
          <p:cNvPr id="3" name="Content Placeholder 2"/>
          <p:cNvSpPr>
            <a:spLocks noGrp="1"/>
          </p:cNvSpPr>
          <p:nvPr>
            <p:ph idx="1"/>
          </p:nvPr>
        </p:nvSpPr>
        <p:spPr/>
        <p:txBody>
          <a:bodyPr/>
          <a:lstStyle/>
          <a:p/>
          <a:p>
            <a:r>
              <a:t>Plan | Key Features | IP Protection</a:t>
            </a:r>
          </a:p>
          <a:p>
            <a:r>
              <a:t>--- | --- | ---</a:t>
            </a:r>
          </a:p>
          <a:p>
            <a:r>
              <a:t>Copilot Individual (Pro, Pro+) | Personal use, no admin controls | Limited</a:t>
            </a:r>
          </a:p>
          <a:p>
            <a:r>
              <a:t>Copilot for Business | Admin controls, policy enforcement | Strong</a:t>
            </a:r>
          </a:p>
          <a:p>
            <a:r>
              <a:t>Copilot for Enterprise | Org-wide policy, audit tools | Strongest</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Best Practices for Safe Use</a:t>
            </a:r>
          </a:p>
        </p:txBody>
      </p:sp>
      <p:sp>
        <p:nvSpPr>
          <p:cNvPr id="3" name="Content Placeholder 2"/>
          <p:cNvSpPr>
            <a:spLocks noGrp="1"/>
          </p:cNvSpPr>
          <p:nvPr>
            <p:ph idx="1"/>
          </p:nvPr>
        </p:nvSpPr>
        <p:spPr/>
        <p:txBody>
          <a:bodyPr/>
          <a:lstStyle/>
          <a:p/>
          <a:p>
            <a:r>
              <a:t>Enable public code filters</a:t>
            </a:r>
          </a:p>
          <a:p>
            <a:r>
              <a:t>Establish a review process</a:t>
            </a:r>
          </a:p>
          <a:p>
            <a:r>
              <a:t>Educate teams on responsible use and licensing awareness</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Resources</a:t>
            </a:r>
          </a:p>
        </p:txBody>
      </p:sp>
      <p:sp>
        <p:nvSpPr>
          <p:cNvPr id="3" name="Content Placeholder 2"/>
          <p:cNvSpPr>
            <a:spLocks noGrp="1"/>
          </p:cNvSpPr>
          <p:nvPr>
            <p:ph idx="1"/>
          </p:nvPr>
        </p:nvSpPr>
        <p:spPr/>
        <p:txBody>
          <a:bodyPr/>
          <a:lstStyle/>
          <a:p/>
          <a:p>
            <a:r>
              <a:t>Copilot Documentation:</a:t>
            </a:r>
          </a:p>
          <a:p>
            <a:r>
              <a:t>  - https://docs.github.com/en/copilot</a:t>
            </a:r>
          </a:p>
          <a:p>
            <a:r>
              <a:t>Copilot for Business Overview</a:t>
            </a:r>
          </a:p>
          <a:p>
            <a:r>
              <a:t>  - https://github.com/features/copilot-for-business</a:t>
            </a:r>
          </a:p>
          <a:p>
            <a:r>
              <a:t>Security and Privacy FAQ</a:t>
            </a:r>
          </a:p>
          <a:p>
            <a:r>
              <a:t>  - https://docs.github.com/en/copilot/security</a:t>
            </a:r>
          </a:p>
        </p:txBody>
      </p:sp>
    </p:spTree>
  </p:cSld>
  <p:clrMapOvr>
    <a:masterClrMapping/>
  </p:clrMapOvr>
</p:sld>
</file>

<file path=ppt/theme/theme1.xml><?xml version="1.0" encoding="utf-8"?>
<a:theme xmlns:a="http://schemas.openxmlformats.org/drawingml/2006/main" name="CODE Training">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jMM CODE Training Slide Template.potx" id="{C235AF94-6470-4DC8-ADA1-D5CA24C263BE}" vid="{E23727E8-263B-4C98-B166-009CDF69EE3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10</TotalTime>
  <Words>39</Words>
  <Application>Microsoft Office PowerPoint</Application>
  <PresentationFormat>Widescreen</PresentationFormat>
  <Paragraphs>8</Paragraphs>
  <Slides>4</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Noto Sans</vt:lpstr>
      <vt:lpstr>Victor Mono</vt:lpstr>
      <vt:lpstr>CODE Training</vt:lpstr>
      <vt:lpstr>PowerPoint Presentation</vt:lpstr>
      <vt:lpstr>Agenda</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John Miller</dc:creator>
  <cp:lastModifiedBy>John Miller</cp:lastModifiedBy>
  <cp:revision>3</cp:revision>
  <dcterms:created xsi:type="dcterms:W3CDTF">2025-10-19T18:09:53Z</dcterms:created>
  <dcterms:modified xsi:type="dcterms:W3CDTF">2026-03-12T15:10:45Z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0x010100587004330F6D8B418A43481AAFC77453</vt:lpwstr>
  </property>
</Properties>
</file>