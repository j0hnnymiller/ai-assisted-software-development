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Copilot Instruction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</a:t>
            </a:r>
            <a:r>
              <a:rPr b="1">
                <a:latin typeface="Courier"/>
              </a:rPr>
              <a:t>appliesTo</a:t>
            </a:r>
            <a:r>
              <a:rPr b="1"/>
              <a:t>, chat modes, and promptfiles shape the final instructions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this deck covers</a:t>
            </a:r>
          </a:p>
          <a:p>
            <a:pPr lvl="0"/>
            <a:r>
              <a:rPr/>
              <a:t>How Copilot assembles the instruction stack</a:t>
            </a:r>
          </a:p>
          <a:p>
            <a:pPr lvl="0"/>
            <a:r>
              <a:rPr/>
              <a:t>How </a:t>
            </a:r>
            <a:r>
              <a:rPr>
                <a:latin typeface="Courier"/>
              </a:rPr>
              <a:t>appliesTo</a:t>
            </a:r>
            <a:r>
              <a:rPr/>
              <a:t> filters instruction files</a:t>
            </a:r>
          </a:p>
          <a:p>
            <a:pPr lvl="0"/>
            <a:r>
              <a:rPr/>
              <a:t>Where instruction files should live</a:t>
            </a:r>
          </a:p>
          <a:p>
            <a:pPr lvl="0"/>
            <a:r>
              <a:rPr/>
              <a:t>How chat modes and promptfiles influence the stack</a:t>
            </a:r>
          </a:p>
          <a:p>
            <a:pPr lvl="0"/>
            <a:r>
              <a:rPr/>
              <a:t>A diagram of the full hierarchy</a:t>
            </a:r>
          </a:p>
          <a:p>
            <a:pPr lvl="0"/>
            <a:r>
              <a:rPr/>
              <a:t>Guidance for designing maintainable guardrails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Instruction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layers Copilot merges for every prompt</a:t>
            </a:r>
          </a:p>
          <a:p>
            <a:pPr lvl="0" indent="-342900" marL="342900">
              <a:buAutoNum type="arabicPeriod"/>
            </a:pPr>
            <a:r>
              <a:rPr b="1"/>
              <a:t>Organization-level instruction files</a:t>
            </a:r>
          </a:p>
          <a:p>
            <a:pPr lvl="0" indent="-342900" marL="342900">
              <a:buAutoNum type="arabicPeriod"/>
            </a:pPr>
            <a:r>
              <a:rPr b="1"/>
              <a:t>Repository-level instruction files</a:t>
            </a:r>
          </a:p>
          <a:p>
            <a:pPr lvl="0" indent="-342900" marL="342900">
              <a:buAutoNum type="arabicPeriod"/>
            </a:pPr>
            <a:r>
              <a:rPr b="1"/>
              <a:t>Chat mode instructions</a:t>
            </a:r>
          </a:p>
          <a:p>
            <a:pPr lvl="0" indent="-342900" marL="342900">
              <a:buAutoNum type="arabicPeriod"/>
            </a:pPr>
            <a:r>
              <a:rPr b="1"/>
              <a:t>Promptfile instructions</a:t>
            </a:r>
          </a:p>
          <a:p>
            <a:pPr lvl="0" indent="-342900" marL="342900">
              <a:buAutoNum type="arabicPeriod"/>
            </a:pPr>
            <a:r>
              <a:rPr b="1"/>
              <a:t>User message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Copilot merges these layers deterministically. Higher layers constrain or override lower ones. Promptfiles never override guardrails—they only add task-specific instructions.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</a:t>
            </a:r>
            <a:r>
              <a:rPr>
                <a:latin typeface="Courier"/>
              </a:rPr>
              <a:t>appliesTo</a:t>
            </a:r>
            <a:r>
              <a:rPr/>
              <a:t>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filtering mechanism for instruction files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appliesTo</a:t>
            </a:r>
            <a:r>
              <a:rPr/>
              <a:t> is a </a:t>
            </a:r>
            <a:r>
              <a:rPr b="1"/>
              <a:t>selector</a:t>
            </a:r>
            <a:r>
              <a:rPr/>
              <a:t> that determines </a:t>
            </a:r>
            <a:r>
              <a:rPr i="1"/>
              <a:t>when</a:t>
            </a:r>
            <a:r>
              <a:rPr/>
              <a:t> an instruction file is included in the stack.</a:t>
            </a:r>
          </a:p>
          <a:p>
            <a:pPr lvl="0" indent="0" marL="0">
              <a:buNone/>
            </a:pPr>
            <a:r>
              <a:rPr/>
              <a:t>Common selectors include:</a:t>
            </a:r>
          </a:p>
          <a:p>
            <a:pPr lvl="0"/>
            <a:r>
              <a:rPr b="1"/>
              <a:t>repositories</a:t>
            </a:r>
            <a:r>
              <a:rPr/>
              <a:t> – include only for specific repos</a:t>
            </a:r>
          </a:p>
          <a:p>
            <a:pPr lvl="0"/>
            <a:r>
              <a:rPr b="1"/>
              <a:t>languages</a:t>
            </a:r>
            <a:r>
              <a:rPr/>
              <a:t> – include only for certain languages</a:t>
            </a:r>
          </a:p>
          <a:p>
            <a:pPr lvl="0"/>
            <a:r>
              <a:rPr b="1"/>
              <a:t>filePatterns</a:t>
            </a:r>
            <a:r>
              <a:rPr/>
              <a:t> – include only when editing certain files</a:t>
            </a:r>
          </a:p>
          <a:p>
            <a:pPr lvl="0"/>
            <a:r>
              <a:rPr b="1"/>
              <a:t>tools</a:t>
            </a:r>
            <a:r>
              <a:rPr/>
              <a:t> – include only when using specific Copilot features</a:t>
            </a:r>
          </a:p>
          <a:p>
            <a:pPr lvl="0"/>
            <a:r>
              <a:rPr b="1"/>
              <a:t>scopes</a:t>
            </a:r>
            <a:r>
              <a:rPr/>
              <a:t> – include only in chat, only in editor, etc.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</a:t>
            </a:r>
            <a:r>
              <a:rPr>
                <a:latin typeface="Courier"/>
              </a:rPr>
              <a:t>appliesTo</a:t>
            </a:r>
            <a:r>
              <a:rPr/>
              <a:t> is not a guardrail itself. It’s a routing rule. It prevents irrelevant instructions from polluting the stack and keeps the assistant focused.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</a:t>
            </a:r>
            <a:r>
              <a:rPr>
                <a:latin typeface="Courier"/>
              </a:rPr>
              <a:t>appliesTo</a:t>
            </a:r>
            <a:r>
              <a:rPr/>
              <a:t> Interacts with the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Filtering happens </a:t>
            </a:r>
            <a:r>
              <a:rPr b="1" i="1"/>
              <a:t>before</a:t>
            </a:r>
            <a:r>
              <a:rPr b="1"/>
              <a:t> merging</a:t>
            </a:r>
          </a:p>
          <a:p>
            <a:pPr lvl="0" indent="-342900" marL="342900">
              <a:buAutoNum type="arabicPeriod"/>
            </a:pPr>
            <a:r>
              <a:rPr/>
              <a:t>Copilot discovers all instruction files in scope</a:t>
            </a:r>
          </a:p>
          <a:p>
            <a:pPr lvl="0" indent="-342900" marL="342900">
              <a:buAutoNum type="arabicPeriod"/>
            </a:pPr>
            <a:r>
              <a:rPr/>
              <a:t>Copilot filters them using </a:t>
            </a:r>
            <a:r>
              <a:rPr>
                <a:latin typeface="Courier"/>
              </a:rPr>
              <a:t>appliesTo</a:t>
            </a:r>
          </a:p>
          <a:p>
            <a:pPr lvl="0" indent="-342900" marL="342900">
              <a:buAutoNum type="arabicPeriod"/>
            </a:pPr>
            <a:r>
              <a:rPr/>
              <a:t>Copilot merges the remaining files into the stack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This means you can have many instruction files in </a:t>
            </a:r>
            <a:r>
              <a:rPr>
                <a:latin typeface="Courier"/>
              </a:rPr>
              <a:t>.github/instructions/</a:t>
            </a:r>
            <a:r>
              <a:rPr/>
              <a:t>, but only the ones whose </a:t>
            </a:r>
            <a:r>
              <a:rPr>
                <a:latin typeface="Courier"/>
              </a:rPr>
              <a:t>appliesTo</a:t>
            </a:r>
            <a:r>
              <a:rPr/>
              <a:t> match the current context will be included.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appliesTo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```yaml appliesTo: languages: [“python”] scopes: [“editor”]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2026-02-12T05:52:25Z</dcterms:created>
  <dcterms:modified xsi:type="dcterms:W3CDTF">2026-02-12T05:52:25Z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