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presentation on creating custom agents for GitHub Copilot. This session will teach you how to create specialized AI assistants tailored to specific development tasks and workflows.</a:t>
            </a:r>
          </a:p>
          <a:p>
            <a:pPr lvl="0" indent="0" marL="0">
              <a:buNone/>
            </a:pPr>
          </a:p>
          <a:p>
            <a:pPr lvl="0" indent="0" marL="0">
              <a:buNone/>
            </a:pPr>
            <a:r>
              <a:rPr b="1"/>
              <a:t>Timing</a:t>
            </a:r>
            <a:r>
              <a:rPr/>
              <a:t>: 1 minute for title slide</a:t>
            </a:r>
          </a:p>
          <a:p>
            <a:pPr lvl="0" indent="0" marL="0">
              <a:buNone/>
            </a:pPr>
          </a:p>
          <a:p>
            <a:pPr lvl="0" indent="0" marL="0">
              <a:buNone/>
            </a:pPr>
            <a:r>
              <a:rPr b="1"/>
              <a:t>Key Points</a:t>
            </a:r>
            <a:r>
              <a:rPr/>
              <a:t>:</a:t>
            </a:r>
          </a:p>
          <a:p>
            <a:pPr lvl="0" indent="0" marL="0">
              <a:buNone/>
            </a:pPr>
          </a:p>
          <a:p>
            <a:pPr lvl="0"/>
            <a:r>
              <a:rPr/>
              <a:t>Custom agents extend GitHub Copilot’s capabilities</a:t>
            </a:r>
          </a:p>
          <a:p>
            <a:pPr lvl="0" indent="0" marL="0">
              <a:buNone/>
            </a:pPr>
          </a:p>
          <a:p>
            <a:pPr lvl="0"/>
            <a:r>
              <a:rPr/>
              <a:t>Allow specialization for specific tasks and domains</a:t>
            </a:r>
          </a:p>
          <a:p>
            <a:pPr lvl="0" indent="0" marL="0">
              <a:buNone/>
            </a:pPr>
          </a:p>
          <a:p>
            <a:pPr lvl="0"/>
            <a:r>
              <a:rPr/>
              <a:t>Available across multiple development environments</a:t>
            </a:r>
          </a:p>
          <a:p>
            <a:pPr lvl="0" indent="0" marL="0">
              <a:buNone/>
            </a:pPr>
          </a:p>
          <a:p>
            <a:pPr lvl="0" indent="0" marL="0">
              <a:buNone/>
            </a:pPr>
            <a:r>
              <a:rPr b="1"/>
              <a:t>Delivery</a:t>
            </a:r>
            <a:r>
              <a:rPr/>
              <a:t>: Start with a brief overview of what custom agents are and why they’re valuable. Gauge audience familiarity with GitHub Copilot before diving into details.</a:t>
            </a:r>
          </a:p>
          <a:p>
            <a:pPr lvl="0" indent="0" marL="0">
              <a:buNone/>
            </a:pPr>
          </a:p>
          <a:p>
            <a:pPr lvl="0" indent="0" marL="0">
              <a:buNone/>
            </a:pPr>
            <a:r>
              <a:rPr b="1"/>
              <a:t>Transition</a:t>
            </a:r>
            <a:r>
              <a:rPr/>
              <a:t>: “Let’s start by understanding what custom agents are and how they can enhance your development workflow.”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2-3 minutes</a:t>
            </a:r>
          </a:p>
          <a:p>
            <a:pPr lvl="0" indent="0" marL="0">
              <a:buNone/>
            </a:pPr>
          </a:p>
          <a:p>
            <a:pPr lvl="0" indent="0" marL="0">
              <a:buNone/>
            </a:pPr>
            <a:r>
              <a:rPr b="1"/>
              <a:t>Key Points to Emphasize</a:t>
            </a:r>
            <a:r>
              <a:rPr/>
              <a:t>:</a:t>
            </a:r>
          </a:p>
          <a:p>
            <a:pPr lvl="0" indent="0" marL="0">
              <a:buNone/>
            </a:pPr>
          </a:p>
          <a:p>
            <a:pPr lvl="0" indent="-342900" marL="342900">
              <a:buAutoNum type="arabicPeriod"/>
            </a:pPr>
            <a:r>
              <a:rPr/>
              <a:t>Custom agents are NOT separate AI models - they’re specialized configurations of GitHub Copilot</a:t>
            </a:r>
          </a:p>
          <a:p>
            <a:pPr lvl="0" indent="0" marL="0">
              <a:buNone/>
            </a:pPr>
          </a:p>
          <a:p>
            <a:pPr lvl="0" indent="-342900" marL="342900">
              <a:buAutoNum type="arabicPeriod"/>
            </a:pPr>
            <a:r>
              <a:rPr/>
              <a:t>Think of them as “personas” or “roles” for your AI assistant</a:t>
            </a:r>
          </a:p>
          <a:p>
            <a:pPr lvl="0" indent="0" marL="0">
              <a:buNone/>
            </a:pPr>
          </a:p>
          <a:p>
            <a:pPr lvl="0" indent="-342900" marL="342900">
              <a:buAutoNum type="arabicPeriod"/>
            </a:pPr>
            <a:r>
              <a:rPr/>
              <a:t>They’re defined in simple markdown files with YAML frontmatter</a:t>
            </a:r>
          </a:p>
          <a:p>
            <a:pPr lvl="0" indent="0" marL="0">
              <a:buNone/>
            </a:pPr>
          </a:p>
          <a:p>
            <a:pPr lvl="0" indent="0" marL="0">
              <a:buNone/>
            </a:pPr>
            <a:r>
              <a:rPr b="1"/>
              <a:t>Examples to Share</a:t>
            </a:r>
            <a:r>
              <a:rPr/>
              <a:t>:</a:t>
            </a:r>
          </a:p>
          <a:p>
            <a:pPr lvl="0" indent="0" marL="0">
              <a:buNone/>
            </a:pPr>
          </a:p>
          <a:p>
            <a:pPr lvl="0"/>
            <a:r>
              <a:rPr/>
              <a:t>Testing specialist that focuses only on test code</a:t>
            </a:r>
          </a:p>
          <a:p>
            <a:pPr lvl="0" indent="0" marL="0">
              <a:buNone/>
            </a:pPr>
          </a:p>
          <a:p>
            <a:pPr lvl="0"/>
            <a:r>
              <a:rPr/>
              <a:t>Documentation writer that creates comprehensive docs</a:t>
            </a:r>
          </a:p>
          <a:p>
            <a:pPr lvl="0" indent="0" marL="0">
              <a:buNone/>
            </a:pPr>
          </a:p>
          <a:p>
            <a:pPr lvl="0"/>
            <a:r>
              <a:rPr/>
              <a:t>Implementation planner that designs before coding</a:t>
            </a:r>
          </a:p>
          <a:p>
            <a:pPr lvl="0" indent="0" marL="0">
              <a:buNone/>
            </a:pPr>
          </a:p>
          <a:p>
            <a:pPr lvl="0"/>
            <a:r>
              <a:rPr/>
              <a:t>Security reviewer that checks for vulnerabilities</a:t>
            </a:r>
          </a:p>
          <a:p>
            <a:pPr lvl="0" indent="0" marL="0">
              <a:buNone/>
            </a:pPr>
          </a:p>
          <a:p>
            <a:pPr lvl="0" indent="0" marL="0">
              <a:buNone/>
            </a:pPr>
            <a:r>
              <a:rPr b="1"/>
              <a:t>Audience Interaction</a:t>
            </a:r>
            <a:r>
              <a:rPr/>
              <a:t>: “Has anyone worked with AI assistants that seemed too generic or gave responses outside their intended scope? Custom agents solve this problem.”</a:t>
            </a:r>
          </a:p>
          <a:p>
            <a:pPr lvl="0" indent="0" marL="0">
              <a:buNone/>
            </a:pPr>
          </a:p>
          <a:p>
            <a:pPr lvl="0" indent="0" marL="0">
              <a:buNone/>
            </a:pPr>
            <a:r>
              <a:rPr b="1"/>
              <a:t>Transition</a:t>
            </a:r>
            <a:r>
              <a:rPr/>
              <a:t>: “Now let’s see where and how you can create these custom agents.”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 minutes</a:t>
            </a:r>
          </a:p>
          <a:p>
            <a:pPr lvl="0" indent="0" marL="0">
              <a:buNone/>
            </a:pPr>
          </a:p>
          <a:p>
            <a:pPr lvl="0" indent="0" marL="0">
              <a:buNone/>
            </a:pPr>
            <a:r>
              <a:rPr b="1"/>
              <a:t>Delivery Instructions</a:t>
            </a:r>
            <a:r>
              <a:rPr/>
              <a:t>:</a:t>
            </a:r>
          </a:p>
          <a:p>
            <a:pPr lvl="0" indent="0" marL="0">
              <a:buNone/>
            </a:pPr>
          </a:p>
          <a:p>
            <a:pPr lvl="0"/>
            <a:r>
              <a:rPr/>
              <a:t>Show the GitHub.com interface if doing a live demo</a:t>
            </a:r>
          </a:p>
          <a:p>
            <a:pPr lvl="0" indent="0" marL="0">
              <a:buNone/>
            </a:pPr>
          </a:p>
          <a:p>
            <a:pPr lvl="0"/>
            <a:r>
              <a:rPr/>
              <a:t>Emphasize that agents created on GitHub can be used across all environments</a:t>
            </a:r>
          </a:p>
          <a:p>
            <a:pPr lvl="0" indent="0" marL="0">
              <a:buNone/>
            </a:pPr>
          </a:p>
          <a:p>
            <a:pPr lvl="0"/>
            <a:r>
              <a:rPr/>
              <a:t>IDE-based agents are more convenient for quick personal use</a:t>
            </a:r>
          </a:p>
          <a:p>
            <a:pPr lvl="0" indent="0" marL="0">
              <a:buNone/>
            </a:pPr>
          </a:p>
          <a:p>
            <a:pPr lvl="0" indent="0" marL="0">
              <a:buNone/>
            </a:pPr>
            <a:r>
              <a:rPr b="1"/>
              <a:t>Key Decision Point</a:t>
            </a:r>
            <a:r>
              <a:rPr/>
              <a:t>: Help audience understand when to use each approach:</a:t>
            </a:r>
          </a:p>
          <a:p>
            <a:pPr lvl="0" indent="0" marL="0">
              <a:buNone/>
            </a:pPr>
          </a:p>
          <a:p>
            <a:pPr lvl="0"/>
            <a:r>
              <a:rPr b="1"/>
              <a:t>GitHub</a:t>
            </a:r>
            <a:r>
              <a:rPr/>
              <a:t>: For team-wide or shared agents</a:t>
            </a:r>
          </a:p>
          <a:p>
            <a:pPr lvl="0" indent="0" marL="0">
              <a:buNone/>
            </a:pPr>
          </a:p>
          <a:p>
            <a:pPr lvl="0"/>
            <a:r>
              <a:rPr b="1"/>
              <a:t>Organization/Enterprise</a:t>
            </a:r>
            <a:r>
              <a:rPr/>
              <a:t>: For standardized agents across multiple repos</a:t>
            </a:r>
          </a:p>
          <a:p>
            <a:pPr lvl="0" indent="0" marL="0">
              <a:buNone/>
            </a:pPr>
          </a:p>
          <a:p>
            <a:pPr lvl="0"/>
            <a:r>
              <a:rPr b="1"/>
              <a:t>IDE</a:t>
            </a:r>
            <a:r>
              <a:rPr/>
              <a:t>: For personal experimentation and workspace-specific agents</a:t>
            </a:r>
          </a:p>
          <a:p>
            <a:pPr lvl="0" indent="0" marL="0">
              <a:buNone/>
            </a:pPr>
          </a:p>
          <a:p>
            <a:pPr lvl="0" indent="0" marL="0">
              <a:buNone/>
            </a:pPr>
            <a:r>
              <a:rPr b="1"/>
              <a:t>Technical Detail</a:t>
            </a:r>
            <a:r>
              <a:rPr/>
              <a:t>:</a:t>
            </a:r>
          </a:p>
          <a:p>
            <a:pPr lvl="0" indent="0" marL="0">
              <a:buNone/>
            </a:pPr>
          </a:p>
          <a:p>
            <a:pPr lvl="0"/>
            <a:r>
              <a:rPr/>
              <a:t>GitHub agents go in </a:t>
            </a:r>
            <a:r>
              <a:rPr>
                <a:latin typeface="Courier"/>
              </a:rPr>
              <a:t>.github/agents/</a:t>
            </a:r>
            <a:r>
              <a:rPr/>
              <a:t> directory</a:t>
            </a:r>
          </a:p>
          <a:p>
            <a:pPr lvl="0" indent="0" marL="0">
              <a:buNone/>
            </a:pPr>
          </a:p>
          <a:p>
            <a:pPr lvl="0"/>
            <a:r>
              <a:rPr/>
              <a:t>Organization/enterprise agents go in root </a:t>
            </a:r>
            <a:r>
              <a:rPr>
                <a:latin typeface="Courier"/>
              </a:rPr>
              <a:t>agents/</a:t>
            </a:r>
            <a:r>
              <a:rPr/>
              <a:t> directory of </a:t>
            </a:r>
            <a:r>
              <a:rPr>
                <a:latin typeface="Courier"/>
              </a:rPr>
              <a:t>.github-private</a:t>
            </a:r>
            <a:r>
              <a:rPr/>
              <a:t> repo</a:t>
            </a:r>
          </a:p>
          <a:p>
            <a:pPr lvl="0" indent="0" marL="0">
              <a:buNone/>
            </a:pPr>
          </a:p>
          <a:p>
            <a:pPr lvl="0"/>
            <a:r>
              <a:rPr/>
              <a:t>IDE user profile agents are local to that machine</a:t>
            </a:r>
          </a:p>
          <a:p>
            <a:pPr lvl="0" indent="0" marL="0">
              <a:buNone/>
            </a:pPr>
          </a:p>
          <a:p>
            <a:pPr lvl="0" indent="0" marL="0">
              <a:buNone/>
            </a:pPr>
            <a:r>
              <a:rPr b="1"/>
              <a:t>Common Question</a:t>
            </a:r>
            <a:r>
              <a:rPr/>
              <a:t>: “Can I use the same agent in both GitHub and my IDE?” </a:t>
            </a:r>
            <a:r>
              <a:rPr b="1"/>
              <a:t>Answer</a:t>
            </a:r>
            <a:r>
              <a:rPr/>
              <a:t>: Yes! Agents created on GitHub are automatically available in supported IDEs.</a:t>
            </a:r>
          </a:p>
          <a:p>
            <a:pPr lvl="0" indent="0" marL="0">
              <a:buNone/>
            </a:pPr>
          </a:p>
          <a:p>
            <a:pPr lvl="0" indent="0" marL="0">
              <a:buNone/>
            </a:pPr>
            <a:r>
              <a:rPr b="1"/>
              <a:t>Transition</a:t>
            </a:r>
            <a:r>
              <a:rPr/>
              <a:t>: “Let’s walk through creating an agent on GitHub, which is the most common workflow.”</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 (include live demo if possible)</a:t>
            </a:r>
          </a:p>
          <a:p>
            <a:pPr lvl="0" indent="0" marL="0">
              <a:buNone/>
            </a:pPr>
          </a:p>
          <a:p>
            <a:pPr lvl="0" indent="0" marL="0">
              <a:buNone/>
            </a:pPr>
            <a:r>
              <a:rPr b="1"/>
              <a:t>Step-by-Step Walkthrough</a:t>
            </a:r>
            <a:r>
              <a:rPr/>
              <a:t>:</a:t>
            </a:r>
          </a:p>
          <a:p>
            <a:pPr lvl="0" indent="0" marL="0">
              <a:buNone/>
            </a:pPr>
          </a:p>
          <a:p>
            <a:pPr lvl="0" indent="0" marL="0">
              <a:buNone/>
            </a:pPr>
            <a:r>
              <a:rPr b="1"/>
              <a:t>Step 1-2</a:t>
            </a:r>
            <a:r>
              <a:rPr/>
              <a:t>: Emphasize the importance of selecting the right repository</a:t>
            </a:r>
          </a:p>
          <a:p>
            <a:pPr lvl="0" indent="0" marL="0">
              <a:buNone/>
            </a:pPr>
          </a:p>
          <a:p>
            <a:pPr lvl="0"/>
            <a:r>
              <a:rPr/>
              <a:t>Personal repo = just for you</a:t>
            </a:r>
          </a:p>
          <a:p>
            <a:pPr lvl="0" indent="0" marL="0">
              <a:buNone/>
            </a:pPr>
          </a:p>
          <a:p>
            <a:pPr lvl="0"/>
            <a:r>
              <a:rPr/>
              <a:t>Organization repo = for entire org</a:t>
            </a:r>
          </a:p>
          <a:p>
            <a:pPr lvl="0" indent="0" marL="0">
              <a:buNone/>
            </a:pPr>
          </a:p>
          <a:p>
            <a:pPr lvl="0"/>
            <a:r>
              <a:rPr>
                <a:latin typeface="Courier"/>
              </a:rPr>
              <a:t>.github-private</a:t>
            </a:r>
            <a:r>
              <a:rPr/>
              <a:t> = special repository for org/enterprise-wide agents</a:t>
            </a:r>
          </a:p>
          <a:p>
            <a:pPr lvl="0" indent="0" marL="0">
              <a:buNone/>
            </a:pPr>
          </a:p>
          <a:p>
            <a:pPr lvl="0" indent="0" marL="0">
              <a:buNone/>
            </a:pPr>
            <a:r>
              <a:rPr b="1"/>
              <a:t>Step 3-4</a:t>
            </a:r>
            <a:r>
              <a:rPr/>
              <a:t>: The template is your starting point</a:t>
            </a:r>
          </a:p>
          <a:p>
            <a:pPr lvl="0" indent="0" marL="0">
              <a:buNone/>
            </a:pPr>
          </a:p>
          <a:p>
            <a:pPr lvl="0"/>
            <a:r>
              <a:rPr/>
              <a:t>Don’t skip past it - it contains all required sections</a:t>
            </a:r>
          </a:p>
          <a:p>
            <a:pPr lvl="0" indent="0" marL="0">
              <a:buNone/>
            </a:pPr>
          </a:p>
          <a:p>
            <a:pPr lvl="0"/>
            <a:r>
              <a:rPr/>
              <a:t>Template includes helpful comments</a:t>
            </a:r>
          </a:p>
          <a:p>
            <a:pPr lvl="0" indent="0" marL="0">
              <a:buNone/>
            </a:pPr>
          </a:p>
          <a:p>
            <a:pPr lvl="0" indent="0" marL="0">
              <a:buNone/>
            </a:pPr>
            <a:r>
              <a:rPr b="1"/>
              <a:t>Step 5</a:t>
            </a:r>
            <a:r>
              <a:rPr/>
              <a:t>: Filename guidelines (critical!)</a:t>
            </a:r>
          </a:p>
          <a:p>
            <a:pPr lvl="0" indent="0" marL="0">
              <a:buNone/>
            </a:pPr>
          </a:p>
          <a:p>
            <a:pPr lvl="0"/>
            <a:r>
              <a:rPr/>
              <a:t>Use lowercase letters, numbers, dots, dashes, underscores only</a:t>
            </a:r>
          </a:p>
          <a:p>
            <a:pPr lvl="0" indent="0" marL="0">
              <a:buNone/>
            </a:pPr>
          </a:p>
          <a:p>
            <a:pPr lvl="0"/>
            <a:r>
              <a:rPr/>
              <a:t>Must end with </a:t>
            </a:r>
            <a:r>
              <a:rPr>
                <a:latin typeface="Courier"/>
              </a:rPr>
              <a:t>.agent.md</a:t>
            </a:r>
          </a:p>
          <a:p>
            <a:pPr lvl="0" indent="0" marL="0">
              <a:buNone/>
            </a:pPr>
          </a:p>
          <a:p>
            <a:pPr lvl="0"/>
            <a:r>
              <a:rPr/>
              <a:t>Filename becomes the default agent name</a:t>
            </a:r>
          </a:p>
          <a:p>
            <a:pPr lvl="0" indent="0" marL="0">
              <a:buNone/>
            </a:pPr>
          </a:p>
          <a:p>
            <a:pPr lvl="0"/>
            <a:r>
              <a:rPr/>
              <a:t>Examples: </a:t>
            </a:r>
            <a:r>
              <a:rPr>
                <a:latin typeface="Courier"/>
              </a:rPr>
              <a:t>test-specialist.agent.md</a:t>
            </a:r>
            <a:r>
              <a:rPr/>
              <a:t>, </a:t>
            </a:r>
            <a:r>
              <a:rPr>
                <a:latin typeface="Courier"/>
              </a:rPr>
              <a:t>security-reviewer.agent.md</a:t>
            </a:r>
            <a:r>
              <a:rPr/>
              <a:t>, </a:t>
            </a:r>
            <a:r>
              <a:rPr>
                <a:latin typeface="Courier"/>
              </a:rPr>
              <a:t>doc-writer.agent.md</a:t>
            </a:r>
          </a:p>
          <a:p>
            <a:pPr lvl="0" indent="0" marL="0">
              <a:buNone/>
            </a:pPr>
          </a:p>
          <a:p>
            <a:pPr lvl="0" indent="0" marL="0">
              <a:buNone/>
            </a:pPr>
            <a:r>
              <a:rPr b="1"/>
              <a:t>Step 6</a:t>
            </a:r>
            <a:r>
              <a:rPr/>
              <a:t>: We’ll cover configuration in detail on next slides</a:t>
            </a:r>
          </a:p>
          <a:p>
            <a:pPr lvl="0" indent="0" marL="0">
              <a:buNone/>
            </a:pPr>
          </a:p>
          <a:p>
            <a:pPr lvl="0" indent="0" marL="0">
              <a:buNone/>
            </a:pPr>
            <a:r>
              <a:rPr b="1"/>
              <a:t>Step 7-8</a:t>
            </a:r>
            <a:r>
              <a:rPr/>
              <a:t>: No build process or waiting</a:t>
            </a:r>
          </a:p>
          <a:p>
            <a:pPr lvl="0" indent="0" marL="0">
              <a:buNone/>
            </a:pPr>
          </a:p>
          <a:p>
            <a:pPr lvl="0"/>
            <a:r>
              <a:rPr/>
              <a:t>Immediate availability after merge</a:t>
            </a:r>
          </a:p>
          <a:p>
            <a:pPr lvl="0" indent="0" marL="0">
              <a:buNone/>
            </a:pPr>
          </a:p>
          <a:p>
            <a:pPr lvl="0"/>
            <a:r>
              <a:rPr/>
              <a:t>Refresh the page if you don’t see it</a:t>
            </a:r>
          </a:p>
          <a:p>
            <a:pPr lvl="0" indent="0" marL="0">
              <a:buNone/>
            </a:pPr>
          </a:p>
          <a:p>
            <a:pPr lvl="0" indent="0" marL="0">
              <a:buNone/>
            </a:pPr>
            <a:r>
              <a:rPr b="1"/>
              <a:t>Common Pitfalls</a:t>
            </a:r>
            <a:r>
              <a:rPr/>
              <a:t>:</a:t>
            </a:r>
          </a:p>
          <a:p>
            <a:pPr lvl="0" indent="0" marL="0">
              <a:buNone/>
            </a:pPr>
          </a:p>
          <a:p>
            <a:pPr lvl="0"/>
            <a:r>
              <a:rPr/>
              <a:t>Forgetting to merge to default branch (agent won’t appear)</a:t>
            </a:r>
          </a:p>
          <a:p>
            <a:pPr lvl="0" indent="0" marL="0">
              <a:buNone/>
            </a:pPr>
          </a:p>
          <a:p>
            <a:pPr lvl="0"/>
            <a:r>
              <a:rPr/>
              <a:t>Using spaces or special characters in filename</a:t>
            </a:r>
          </a:p>
          <a:p>
            <a:pPr lvl="0" indent="0" marL="0">
              <a:buNone/>
            </a:pPr>
          </a:p>
          <a:p>
            <a:pPr lvl="0"/>
            <a:r>
              <a:rPr/>
              <a:t>Not providing a description in the YAML</a:t>
            </a:r>
          </a:p>
          <a:p>
            <a:pPr lvl="0" indent="0" marL="0">
              <a:buNone/>
            </a:pPr>
          </a:p>
          <a:p>
            <a:pPr lvl="0" indent="0" marL="0">
              <a:buNone/>
            </a:pPr>
            <a:r>
              <a:rPr b="1"/>
              <a:t>Demo Tip</a:t>
            </a:r>
            <a:r>
              <a:rPr/>
              <a:t>: If showing live, create a simple agent like “hello-world.agent.md” to demonstrate the process.</a:t>
            </a:r>
          </a:p>
          <a:p>
            <a:pPr lvl="0" indent="0" marL="0">
              <a:buNone/>
            </a:pPr>
          </a:p>
          <a:p>
            <a:pPr lvl="0" indent="0" marL="0">
              <a:buNone/>
            </a:pPr>
            <a:r>
              <a:rPr b="1"/>
              <a:t>Transition</a:t>
            </a:r>
            <a:r>
              <a:rPr/>
              <a:t>: “Now that we know how to create the file, let’s understand what goes inside it.”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VS Code Advantages</a:t>
            </a:r>
            <a:r>
              <a:rPr/>
              <a:t>:</a:t>
            </a:r>
          </a:p>
          <a:p>
            <a:pPr lvl="0" indent="0" marL="0">
              <a:buNone/>
            </a:pPr>
          </a:p>
          <a:p>
            <a:pPr lvl="0"/>
            <a:r>
              <a:rPr/>
              <a:t>Integrated tool configuration UI</a:t>
            </a:r>
          </a:p>
          <a:p>
            <a:pPr lvl="0" indent="0" marL="0">
              <a:buNone/>
            </a:pPr>
          </a:p>
          <a:p>
            <a:pPr lvl="0"/>
            <a:r>
              <a:rPr/>
              <a:t>Immediate testing in the same environment</a:t>
            </a:r>
          </a:p>
          <a:p>
            <a:pPr lvl="0" indent="0" marL="0">
              <a:buNone/>
            </a:pPr>
          </a:p>
          <a:p>
            <a:pPr lvl="0"/>
            <a:r>
              <a:rPr/>
              <a:t>Better for rapid iteration and experimentation</a:t>
            </a:r>
          </a:p>
          <a:p>
            <a:pPr lvl="0" indent="0" marL="0">
              <a:buNone/>
            </a:pPr>
          </a:p>
          <a:p>
            <a:pPr lvl="0"/>
            <a:r>
              <a:rPr/>
              <a:t>User profile agents for personal productivity</a:t>
            </a:r>
          </a:p>
          <a:p>
            <a:pPr lvl="0" indent="0" marL="0">
              <a:buNone/>
            </a:pPr>
          </a:p>
          <a:p>
            <a:pPr lvl="0" indent="0" marL="0">
              <a:buNone/>
            </a:pPr>
            <a:r>
              <a:rPr b="1"/>
              <a:t>Workspace vs User Profile Decision</a:t>
            </a:r>
            <a:r>
              <a:rPr/>
              <a:t>:</a:t>
            </a:r>
          </a:p>
          <a:p>
            <a:pPr lvl="0" indent="0" marL="0">
              <a:buNone/>
            </a:pPr>
          </a:p>
          <a:p>
            <a:pPr lvl="0" indent="0" marL="0">
              <a:buNone/>
            </a:pPr>
            <a:r>
              <a:rPr b="1"/>
              <a:t>Workspace</a:t>
            </a:r>
            <a:r>
              <a:rPr/>
              <a:t> (</a:t>
            </a:r>
            <a:r>
              <a:rPr>
                <a:latin typeface="Courier"/>
              </a:rPr>
              <a:t>.github/agents/</a:t>
            </a:r>
            <a:r>
              <a:rPr/>
              <a:t>):</a:t>
            </a:r>
          </a:p>
          <a:p>
            <a:pPr lvl="0" indent="0" marL="0">
              <a:buNone/>
            </a:pPr>
          </a:p>
          <a:p>
            <a:pPr lvl="0"/>
            <a:r>
              <a:rPr/>
              <a:t>Shared with team when committed</a:t>
            </a:r>
          </a:p>
          <a:p>
            <a:pPr lvl="0" indent="0" marL="0">
              <a:buNone/>
            </a:pPr>
          </a:p>
          <a:p>
            <a:pPr lvl="0"/>
            <a:r>
              <a:rPr/>
              <a:t>Project-specific context</a:t>
            </a:r>
          </a:p>
          <a:p>
            <a:pPr lvl="0" indent="0" marL="0">
              <a:buNone/>
            </a:pPr>
          </a:p>
          <a:p>
            <a:pPr lvl="0"/>
            <a:r>
              <a:rPr/>
              <a:t>Version controlled</a:t>
            </a:r>
          </a:p>
          <a:p>
            <a:pPr lvl="0" indent="0" marL="0">
              <a:buNone/>
            </a:pPr>
          </a:p>
          <a:p>
            <a:pPr lvl="0"/>
            <a:r>
              <a:rPr/>
              <a:t>Recommended for team agents</a:t>
            </a:r>
          </a:p>
          <a:p>
            <a:pPr lvl="0" indent="0" marL="0">
              <a:buNone/>
            </a:pPr>
          </a:p>
          <a:p>
            <a:pPr lvl="0" indent="0" marL="0">
              <a:buNone/>
            </a:pPr>
            <a:r>
              <a:rPr b="1"/>
              <a:t>User Profile</a:t>
            </a:r>
            <a:r>
              <a:rPr/>
              <a:t>:</a:t>
            </a:r>
          </a:p>
          <a:p>
            <a:pPr lvl="0" indent="0" marL="0">
              <a:buNone/>
            </a:pPr>
          </a:p>
          <a:p>
            <a:pPr lvl="0"/>
            <a:r>
              <a:rPr/>
              <a:t>Available across all your projects</a:t>
            </a:r>
          </a:p>
          <a:p>
            <a:pPr lvl="0" indent="0" marL="0">
              <a:buNone/>
            </a:pPr>
          </a:p>
          <a:p>
            <a:pPr lvl="0"/>
            <a:r>
              <a:rPr/>
              <a:t>Not version controlled</a:t>
            </a:r>
          </a:p>
          <a:p>
            <a:pPr lvl="0" indent="0" marL="0">
              <a:buNone/>
            </a:pPr>
          </a:p>
          <a:p>
            <a:pPr lvl="0"/>
            <a:r>
              <a:rPr/>
              <a:t>Personal productivity tools</a:t>
            </a:r>
          </a:p>
          <a:p>
            <a:pPr lvl="0" indent="0" marL="0">
              <a:buNone/>
            </a:pPr>
          </a:p>
          <a:p>
            <a:pPr lvl="0"/>
            <a:r>
              <a:rPr/>
              <a:t>Examples: personal note-taking agent, time tracker</a:t>
            </a:r>
          </a:p>
          <a:p>
            <a:pPr lvl="0" indent="0" marL="0">
              <a:buNone/>
            </a:pPr>
          </a:p>
          <a:p>
            <a:pPr lvl="0" indent="0" marL="0">
              <a:buNone/>
            </a:pPr>
            <a:r>
              <a:rPr b="1"/>
              <a:t>Configure Tools Button</a:t>
            </a:r>
            <a:r>
              <a:rPr/>
              <a:t>:</a:t>
            </a:r>
          </a:p>
          <a:p>
            <a:pPr lvl="0" indent="0" marL="0">
              <a:buNone/>
            </a:pPr>
          </a:p>
          <a:p>
            <a:pPr lvl="0"/>
            <a:r>
              <a:rPr/>
              <a:t>Opens visual dialog showing all available tools</a:t>
            </a:r>
          </a:p>
          <a:p>
            <a:pPr lvl="0" indent="0" marL="0">
              <a:buNone/>
            </a:pPr>
          </a:p>
          <a:p>
            <a:pPr lvl="0"/>
            <a:r>
              <a:rPr/>
              <a:t>Includes built-in tools (read, edit, search, etc.)</a:t>
            </a:r>
          </a:p>
          <a:p>
            <a:pPr lvl="0" indent="0" marL="0">
              <a:buNone/>
            </a:pPr>
          </a:p>
          <a:p>
            <a:pPr lvl="0"/>
            <a:r>
              <a:rPr/>
              <a:t>Shows MCP server tools if configured</a:t>
            </a:r>
          </a:p>
          <a:p>
            <a:pPr lvl="0" indent="0" marL="0">
              <a:buNone/>
            </a:pPr>
          </a:p>
          <a:p>
            <a:pPr lvl="0"/>
            <a:r>
              <a:rPr/>
              <a:t>Click OK to add selected tools to YAML</a:t>
            </a:r>
          </a:p>
          <a:p>
            <a:pPr lvl="0" indent="0" marL="0">
              <a:buNone/>
            </a:pPr>
          </a:p>
          <a:p>
            <a:pPr lvl="0" indent="0" marL="0">
              <a:buNone/>
            </a:pPr>
            <a:r>
              <a:rPr b="1"/>
              <a:t>Model Property</a:t>
            </a:r>
            <a:r>
              <a:rPr/>
              <a:t>:</a:t>
            </a:r>
          </a:p>
          <a:p>
            <a:pPr lvl="0" indent="0" marL="0">
              <a:buNone/>
            </a:pPr>
          </a:p>
          <a:p>
            <a:pPr lvl="0"/>
            <a:r>
              <a:rPr/>
              <a:t>Override default model per agent</a:t>
            </a:r>
          </a:p>
          <a:p>
            <a:pPr lvl="0" indent="0" marL="0">
              <a:buNone/>
            </a:pPr>
          </a:p>
          <a:p>
            <a:pPr lvl="0"/>
            <a:r>
              <a:rPr/>
              <a:t>Useful for cost/performance tradeoffs</a:t>
            </a:r>
          </a:p>
          <a:p>
            <a:pPr lvl="0" indent="0" marL="0">
              <a:buNone/>
            </a:pPr>
          </a:p>
          <a:p>
            <a:pPr lvl="0"/>
            <a:r>
              <a:rPr/>
              <a:t>Example: Use faster model for simple tasks, advanced model for complex reasoning</a:t>
            </a:r>
          </a:p>
          <a:p>
            <a:pPr lvl="0" indent="0" marL="0">
              <a:buNone/>
            </a:pPr>
          </a:p>
          <a:p>
            <a:pPr lvl="0" indent="0" marL="0">
              <a:buNone/>
            </a:pPr>
            <a:r>
              <a:rPr b="1"/>
              <a:t>Live Demo Suggestion</a:t>
            </a:r>
            <a:r>
              <a:rPr/>
              <a:t>: Show the Configure Tools dialog and model dropdown</a:t>
            </a:r>
          </a:p>
          <a:p>
            <a:pPr lvl="0" indent="0" marL="0">
              <a:buNone/>
            </a:pPr>
          </a:p>
          <a:p>
            <a:pPr lvl="0" indent="0" marL="0">
              <a:buNone/>
            </a:pPr>
            <a:r>
              <a:rPr b="1"/>
              <a:t>Common Questions</a:t>
            </a:r>
            <a:r>
              <a:rPr/>
              <a:t>:</a:t>
            </a:r>
          </a:p>
          <a:p>
            <a:pPr lvl="0" indent="0" marL="0">
              <a:buNone/>
            </a:pPr>
          </a:p>
          <a:p>
            <a:pPr lvl="0"/>
            <a:r>
              <a:rPr/>
              <a:t>“Do I need to restart VS Code?” - No, agents are detected automatically</a:t>
            </a:r>
          </a:p>
          <a:p>
            <a:pPr lvl="0" indent="0" marL="0">
              <a:buNone/>
            </a:pPr>
          </a:p>
          <a:p>
            <a:pPr lvl="0"/>
            <a:r>
              <a:rPr/>
              <a:t>“Can I edit the YAML directly?” - Yes, the UI is just a helper</a:t>
            </a:r>
          </a:p>
          <a:p>
            <a:pPr lvl="0" indent="0" marL="0">
              <a:buNone/>
            </a:pPr>
          </a:p>
          <a:p>
            <a:pPr lvl="0" indent="0" marL="0">
              <a:buNone/>
            </a:pPr>
            <a:r>
              <a:rPr b="1"/>
              <a:t>Transition</a:t>
            </a:r>
            <a:r>
              <a:rPr/>
              <a:t>: “The process is similar in JetBrains, Eclipse, and Xcode with slight UI variations. Now let’s focus on what matters most: the agent configuration itself.”</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a:t>
            </a:r>
          </a:p>
          <a:p>
            <a:pPr lvl="0" indent="0" marL="0">
              <a:buNone/>
            </a:pPr>
          </a:p>
          <a:p>
            <a:pPr lvl="0" indent="0" marL="0">
              <a:buNone/>
            </a:pPr>
            <a:r>
              <a:rPr b="1"/>
              <a:t>Anatomy of an Agent Profile</a:t>
            </a:r>
            <a:r>
              <a:rPr/>
              <a:t>:</a:t>
            </a:r>
          </a:p>
          <a:p>
            <a:pPr lvl="0" indent="0" marL="0">
              <a:buNone/>
            </a:pPr>
          </a:p>
          <a:p>
            <a:pPr lvl="0" indent="0" marL="0">
              <a:buNone/>
            </a:pPr>
            <a:r>
              <a:rPr b="1"/>
              <a:t>YAML Frontmatter</a:t>
            </a:r>
            <a:r>
              <a:rPr/>
              <a:t> (Required):</a:t>
            </a:r>
          </a:p>
          <a:p>
            <a:pPr lvl="0" indent="0" marL="0">
              <a:buNone/>
            </a:pPr>
          </a:p>
          <a:p>
            <a:pPr lvl="0" indent="-342900" marL="342900">
              <a:buAutoNum type="arabicPeriod"/>
            </a:pPr>
            <a:r>
              <a:rPr b="1"/>
              <a:t>name</a:t>
            </a:r>
            <a:r>
              <a:rPr/>
              <a:t> (optional): Display name in dropdown</a:t>
            </a:r>
          </a:p>
          <a:p>
            <a:pPr lvl="0" indent="0" marL="0">
              <a:buNone/>
            </a:pPr>
          </a:p>
          <a:p>
            <a:pPr lvl="1"/>
            <a:r>
              <a:rPr/>
              <a:t>Defaults to filename without extension</a:t>
            </a:r>
          </a:p>
          <a:p>
            <a:pPr lvl="0" indent="0" marL="0">
              <a:buNone/>
            </a:pPr>
          </a:p>
          <a:p>
            <a:pPr lvl="1"/>
            <a:r>
              <a:rPr/>
              <a:t>Keep concise (2-4 words)</a:t>
            </a:r>
          </a:p>
          <a:p>
            <a:pPr lvl="0" indent="0" marL="0">
              <a:buNone/>
            </a:pPr>
          </a:p>
          <a:p>
            <a:pPr lvl="1"/>
            <a:r>
              <a:rPr/>
              <a:t>Examples: “Test Specialist”, “Security Reviewer”</a:t>
            </a:r>
          </a:p>
          <a:p>
            <a:pPr lvl="0" indent="0" marL="0">
              <a:buNone/>
            </a:pPr>
          </a:p>
          <a:p>
            <a:pPr lvl="0" indent="-342900" marL="342900">
              <a:buAutoNum type="arabicPeriod"/>
            </a:pPr>
            <a:r>
              <a:rPr b="1"/>
              <a:t>description</a:t>
            </a:r>
            <a:r>
              <a:rPr/>
              <a:t> (REQUIRED): What the agent does</a:t>
            </a:r>
          </a:p>
          <a:p>
            <a:pPr lvl="0" indent="0" marL="0">
              <a:buNone/>
            </a:pPr>
          </a:p>
          <a:p>
            <a:pPr lvl="1"/>
            <a:r>
              <a:rPr/>
              <a:t>Must be clear and specific</a:t>
            </a:r>
          </a:p>
          <a:p>
            <a:pPr lvl="0" indent="0" marL="0">
              <a:buNone/>
            </a:pPr>
          </a:p>
          <a:p>
            <a:pPr lvl="1"/>
            <a:r>
              <a:rPr/>
              <a:t>Explains capabilities and domain</a:t>
            </a:r>
          </a:p>
          <a:p>
            <a:pPr lvl="0" indent="0" marL="0">
              <a:buNone/>
            </a:pPr>
          </a:p>
          <a:p>
            <a:pPr lvl="1"/>
            <a:r>
              <a:rPr/>
              <a:t>Appears in agent selection UI</a:t>
            </a:r>
          </a:p>
          <a:p>
            <a:pPr lvl="0" indent="0" marL="0">
              <a:buNone/>
            </a:pPr>
          </a:p>
          <a:p>
            <a:pPr lvl="1"/>
            <a:r>
              <a:rPr/>
              <a:t>1-2 sentence summary</a:t>
            </a:r>
          </a:p>
          <a:p>
            <a:pPr lvl="0" indent="0" marL="0">
              <a:buNone/>
            </a:pPr>
          </a:p>
          <a:p>
            <a:pPr lvl="0" indent="-342900" marL="342900">
              <a:buAutoNum type="arabicPeriod"/>
            </a:pPr>
            <a:r>
              <a:rPr b="1"/>
              <a:t>tools</a:t>
            </a:r>
            <a:r>
              <a:rPr/>
              <a:t> (optional): Which tools agent can use</a:t>
            </a:r>
          </a:p>
          <a:p>
            <a:pPr lvl="0" indent="0" marL="0">
              <a:buNone/>
            </a:pPr>
          </a:p>
          <a:p>
            <a:pPr lvl="1"/>
            <a:r>
              <a:rPr/>
              <a:t>Omit to enable ALL tools</a:t>
            </a:r>
          </a:p>
          <a:p>
            <a:pPr lvl="0" indent="0" marL="0">
              <a:buNone/>
            </a:pPr>
          </a:p>
          <a:p>
            <a:pPr lvl="1"/>
            <a:r>
              <a:rPr/>
              <a:t>List specific tools to restrict access</a:t>
            </a:r>
          </a:p>
          <a:p>
            <a:pPr lvl="0" indent="0" marL="0">
              <a:buNone/>
            </a:pPr>
          </a:p>
          <a:p>
            <a:pPr lvl="1"/>
            <a:r>
              <a:rPr/>
              <a:t>Format: </a:t>
            </a:r>
            <a:r>
              <a:rPr>
                <a:latin typeface="Courier"/>
              </a:rPr>
              <a:t>["tool1", "tool2", "mcp-server/tool3"]</a:t>
            </a:r>
          </a:p>
          <a:p>
            <a:pPr lvl="0" indent="0" marL="0">
              <a:buNone/>
            </a:pPr>
          </a:p>
          <a:p>
            <a:pPr lvl="1"/>
            <a:r>
              <a:rPr/>
              <a:t>Common tools: read, edit, search, run, debug</a:t>
            </a:r>
          </a:p>
          <a:p>
            <a:pPr lvl="0" indent="0" marL="0">
              <a:buNone/>
            </a:pPr>
          </a:p>
          <a:p>
            <a:pPr lvl="0" indent="-342900" marL="342900">
              <a:buAutoNum type="arabicPeriod"/>
            </a:pPr>
            <a:r>
              <a:rPr b="1"/>
              <a:t>model</a:t>
            </a:r>
            <a:r>
              <a:rPr/>
              <a:t> (IDE only): Which AI model to use</a:t>
            </a:r>
          </a:p>
          <a:p>
            <a:pPr lvl="0" indent="0" marL="0">
              <a:buNone/>
            </a:pPr>
          </a:p>
          <a:p>
            <a:pPr lvl="1"/>
            <a:r>
              <a:rPr/>
              <a:t>Only works in VS Code, JetBrains, Eclipse, Xcode</a:t>
            </a:r>
          </a:p>
          <a:p>
            <a:pPr lvl="0" indent="0" marL="0">
              <a:buNone/>
            </a:pPr>
          </a:p>
          <a:p>
            <a:pPr lvl="1"/>
            <a:r>
              <a:rPr/>
              <a:t>Examples: “gpt-4”, “gpt-3.5-turbo”, “claude-3-opus”</a:t>
            </a:r>
          </a:p>
          <a:p>
            <a:pPr lvl="0" indent="0" marL="0">
              <a:buNone/>
            </a:pPr>
          </a:p>
          <a:p>
            <a:pPr lvl="1"/>
            <a:r>
              <a:rPr/>
              <a:t>Ignored on GitHub.com</a:t>
            </a:r>
          </a:p>
          <a:p>
            <a:pPr lvl="0" indent="0" marL="0">
              <a:buNone/>
            </a:pPr>
          </a:p>
          <a:p>
            <a:pPr lvl="0" indent="-342900" marL="342900">
              <a:buAutoNum type="arabicPeriod"/>
            </a:pPr>
            <a:r>
              <a:rPr b="1"/>
              <a:t>target</a:t>
            </a:r>
            <a:r>
              <a:rPr/>
              <a:t> (optional): Environment restriction</a:t>
            </a:r>
          </a:p>
          <a:p>
            <a:pPr lvl="0" indent="0" marL="0">
              <a:buNone/>
            </a:pPr>
          </a:p>
          <a:p>
            <a:pPr lvl="1"/>
            <a:r>
              <a:rPr/>
              <a:t>“vscode” = only in IDEs</a:t>
            </a:r>
          </a:p>
          <a:p>
            <a:pPr lvl="0" indent="0" marL="0">
              <a:buNone/>
            </a:pPr>
          </a:p>
          <a:p>
            <a:pPr lvl="1"/>
            <a:r>
              <a:rPr/>
              <a:t>“github-copilot” = only on GitHub.com</a:t>
            </a:r>
          </a:p>
          <a:p>
            <a:pPr lvl="0" indent="0" marL="0">
              <a:buNone/>
            </a:pPr>
          </a:p>
          <a:p>
            <a:pPr lvl="1"/>
            <a:r>
              <a:rPr/>
              <a:t>Omit = works everywhere</a:t>
            </a:r>
          </a:p>
          <a:p>
            <a:pPr lvl="0" indent="0" marL="0">
              <a:buNone/>
            </a:pPr>
          </a:p>
          <a:p>
            <a:pPr lvl="0" indent="-342900" marL="342900">
              <a:buAutoNum type="arabicPeriod"/>
            </a:pPr>
            <a:r>
              <a:rPr b="1"/>
              <a:t>mcp-servers</a:t>
            </a:r>
            <a:r>
              <a:rPr/>
              <a:t> (org/enterprise only): Configure MCP servers for this agent</a:t>
            </a:r>
          </a:p>
          <a:p>
            <a:pPr lvl="0" indent="0" marL="0">
              <a:buNone/>
            </a:pPr>
          </a:p>
          <a:p>
            <a:pPr lvl="0" indent="0" marL="0">
              <a:buNone/>
            </a:pPr>
            <a:r>
              <a:rPr b="1"/>
              <a:t>Markdown Content</a:t>
            </a:r>
            <a:r>
              <a:rPr/>
              <a:t> (The Agent’s “Brain”):</a:t>
            </a:r>
          </a:p>
          <a:p>
            <a:pPr lvl="0" indent="0" marL="0">
              <a:buNone/>
            </a:pPr>
          </a:p>
          <a:p>
            <a:pPr lvl="0"/>
            <a:r>
              <a:rPr/>
              <a:t>Define personality and expertise</a:t>
            </a:r>
          </a:p>
          <a:p>
            <a:pPr lvl="0" indent="0" marL="0">
              <a:buNone/>
            </a:pPr>
          </a:p>
          <a:p>
            <a:pPr lvl="0"/>
            <a:r>
              <a:rPr/>
              <a:t>Set boundaries and constraints</a:t>
            </a:r>
          </a:p>
          <a:p>
            <a:pPr lvl="0" indent="0" marL="0">
              <a:buNone/>
            </a:pPr>
          </a:p>
          <a:p>
            <a:pPr lvl="0"/>
            <a:r>
              <a:rPr/>
              <a:t>Provide examples of good behavior</a:t>
            </a:r>
          </a:p>
          <a:p>
            <a:pPr lvl="0" indent="0" marL="0">
              <a:buNone/>
            </a:pPr>
          </a:p>
          <a:p>
            <a:pPr lvl="0"/>
            <a:r>
              <a:rPr/>
              <a:t>Specify output formats</a:t>
            </a:r>
          </a:p>
          <a:p>
            <a:pPr lvl="0" indent="0" marL="0">
              <a:buNone/>
            </a:pPr>
          </a:p>
          <a:p>
            <a:pPr lvl="0"/>
            <a:r>
              <a:rPr/>
              <a:t>Maximum 30,000 characters (plenty of space!)</a:t>
            </a:r>
          </a:p>
          <a:p>
            <a:pPr lvl="0" indent="0" marL="0">
              <a:buNone/>
            </a:pPr>
          </a:p>
          <a:p>
            <a:pPr lvl="0" indent="0" marL="0">
              <a:buNone/>
            </a:pPr>
            <a:r>
              <a:rPr b="1"/>
              <a:t>Best Practices</a:t>
            </a:r>
            <a:r>
              <a:rPr/>
              <a:t>:</a:t>
            </a:r>
          </a:p>
          <a:p>
            <a:pPr lvl="0" indent="0" marL="0">
              <a:buNone/>
            </a:pPr>
          </a:p>
          <a:p>
            <a:pPr lvl="0"/>
            <a:r>
              <a:rPr/>
              <a:t>Be specific about what the agent should AND shouldn’t do</a:t>
            </a:r>
          </a:p>
          <a:p>
            <a:pPr lvl="0" indent="0" marL="0">
              <a:buNone/>
            </a:pPr>
          </a:p>
          <a:p>
            <a:pPr lvl="0"/>
            <a:r>
              <a:rPr/>
              <a:t>Include examples of desired behavior</a:t>
            </a:r>
          </a:p>
          <a:p>
            <a:pPr lvl="0" indent="0" marL="0">
              <a:buNone/>
            </a:pPr>
          </a:p>
          <a:p>
            <a:pPr lvl="0"/>
            <a:r>
              <a:rPr/>
              <a:t>Mention file patterns or naming conventions</a:t>
            </a:r>
          </a:p>
          <a:p>
            <a:pPr lvl="0" indent="0" marL="0">
              <a:buNone/>
            </a:pPr>
          </a:p>
          <a:p>
            <a:pPr lvl="0"/>
            <a:r>
              <a:rPr/>
              <a:t>Specify testing/validation requirements</a:t>
            </a:r>
          </a:p>
          <a:p>
            <a:pPr lvl="0" indent="0" marL="0">
              <a:buNone/>
            </a:pPr>
          </a:p>
          <a:p>
            <a:pPr lvl="0" indent="0" marL="0">
              <a:buNone/>
            </a:pPr>
            <a:r>
              <a:rPr b="1"/>
              <a:t>Transition</a:t>
            </a:r>
            <a:r>
              <a:rPr/>
              <a:t>: “Let’s see what these instructions look like in real agent examples.”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Why This Example Works</a:t>
            </a:r>
            <a:r>
              <a:rPr/>
              <a:t>:</a:t>
            </a:r>
          </a:p>
          <a:p>
            <a:pPr lvl="0" indent="0" marL="0">
              <a:buNone/>
            </a:pPr>
          </a:p>
          <a:p>
            <a:pPr lvl="0" indent="0" marL="0">
              <a:buNone/>
            </a:pPr>
            <a:r>
              <a:rPr b="1"/>
              <a:t>Clear Scope Definition</a:t>
            </a:r>
            <a:r>
              <a:rPr/>
              <a:t>:</a:t>
            </a:r>
          </a:p>
          <a:p>
            <a:pPr lvl="0" indent="0" marL="0">
              <a:buNone/>
            </a:pPr>
          </a:p>
          <a:p>
            <a:pPr lvl="0"/>
            <a:r>
              <a:rPr/>
              <a:t>“Focuses on test coverage” - tells user what it does</a:t>
            </a:r>
          </a:p>
          <a:p>
            <a:pPr lvl="0" indent="0" marL="0">
              <a:buNone/>
            </a:pPr>
          </a:p>
          <a:p>
            <a:pPr lvl="0"/>
            <a:r>
              <a:rPr/>
              <a:t>“Without modifying production code” - tells user what it WON’T do</a:t>
            </a:r>
          </a:p>
          <a:p>
            <a:pPr lvl="0" indent="0" marL="0">
              <a:buNone/>
            </a:pPr>
          </a:p>
          <a:p>
            <a:pPr lvl="0"/>
            <a:r>
              <a:rPr/>
              <a:t>Sets clear boundaries to prevent scope creep</a:t>
            </a:r>
          </a:p>
          <a:p>
            <a:pPr lvl="0" indent="0" marL="0">
              <a:buNone/>
            </a:pPr>
          </a:p>
          <a:p>
            <a:pPr lvl="0" indent="0" marL="0">
              <a:buNone/>
            </a:pPr>
            <a:r>
              <a:rPr b="1"/>
              <a:t>Specific Responsibilities</a:t>
            </a:r>
            <a:r>
              <a:rPr/>
              <a:t>:</a:t>
            </a:r>
          </a:p>
          <a:p>
            <a:pPr lvl="0" indent="0" marL="0">
              <a:buNone/>
            </a:pPr>
          </a:p>
          <a:p>
            <a:pPr lvl="0" indent="-342900" marL="342900">
              <a:buAutoNum type="arabicPeriod"/>
            </a:pPr>
            <a:r>
              <a:rPr/>
              <a:t>“Analyze existing tests” - audit capability</a:t>
            </a:r>
          </a:p>
          <a:p>
            <a:pPr lvl="0" indent="0" marL="0">
              <a:buNone/>
            </a:pPr>
          </a:p>
          <a:p>
            <a:pPr lvl="0" indent="-342900" marL="342900">
              <a:buAutoNum type="arabicPeriod"/>
            </a:pPr>
            <a:r>
              <a:rPr/>
              <a:t>“Write unit/integration/e2e tests” - creation capability</a:t>
            </a:r>
          </a:p>
          <a:p>
            <a:pPr lvl="0" indent="0" marL="0">
              <a:buNone/>
            </a:pPr>
          </a:p>
          <a:p>
            <a:pPr lvl="0" indent="-342900" marL="342900">
              <a:buAutoNum type="arabicPeriod"/>
            </a:pPr>
            <a:r>
              <a:rPr/>
              <a:t>“Review test quality” - critique capability</a:t>
            </a:r>
          </a:p>
          <a:p>
            <a:pPr lvl="0" indent="0" marL="0">
              <a:buNone/>
            </a:pPr>
          </a:p>
          <a:p>
            <a:pPr lvl="0" indent="-342900" marL="342900">
              <a:buAutoNum type="arabicPeriod"/>
            </a:pPr>
            <a:r>
              <a:rPr/>
              <a:t>“Ensure tests are isolated” - quality standards</a:t>
            </a:r>
          </a:p>
          <a:p>
            <a:pPr lvl="0" indent="0" marL="0">
              <a:buNone/>
            </a:pPr>
          </a:p>
          <a:p>
            <a:pPr lvl="0" indent="-342900" marL="342900">
              <a:buAutoNum type="arabicPeriod"/>
            </a:pPr>
            <a:r>
              <a:rPr/>
              <a:t>“Focus only on test files” - reinforces boundary</a:t>
            </a:r>
          </a:p>
          <a:p>
            <a:pPr lvl="0" indent="0" marL="0">
              <a:buNone/>
            </a:pPr>
          </a:p>
          <a:p>
            <a:pPr lvl="0" indent="0" marL="0">
              <a:buNone/>
            </a:pPr>
            <a:r>
              <a:rPr b="1"/>
              <a:t>Behavioral Constraints</a:t>
            </a:r>
            <a:r>
              <a:rPr/>
              <a:t>:</a:t>
            </a:r>
          </a:p>
          <a:p>
            <a:pPr lvl="0" indent="0" marL="0">
              <a:buNone/>
            </a:pPr>
          </a:p>
          <a:p>
            <a:pPr lvl="0"/>
            <a:r>
              <a:rPr/>
              <a:t>“Focus only on test files” - prevents the agent from refactoring production code</a:t>
            </a:r>
          </a:p>
          <a:p>
            <a:pPr lvl="0" indent="0" marL="0">
              <a:buNone/>
            </a:pPr>
          </a:p>
          <a:p>
            <a:pPr lvl="0"/>
            <a:r>
              <a:rPr/>
              <a:t>“Avoid modifying production code unless specifically requested” - allows override when needed</a:t>
            </a:r>
          </a:p>
          <a:p>
            <a:pPr lvl="0" indent="0" marL="0">
              <a:buNone/>
            </a:pPr>
          </a:p>
          <a:p>
            <a:pPr lvl="0" indent="0" marL="0">
              <a:buNone/>
            </a:pPr>
            <a:r>
              <a:rPr b="1"/>
              <a:t>Quality Standards</a:t>
            </a:r>
            <a:r>
              <a:rPr/>
              <a:t>:</a:t>
            </a:r>
          </a:p>
          <a:p>
            <a:pPr lvl="0" indent="0" marL="0">
              <a:buNone/>
            </a:pPr>
          </a:p>
          <a:p>
            <a:pPr lvl="0"/>
            <a:r>
              <a:rPr/>
              <a:t>“Isolated” - no shared state between tests</a:t>
            </a:r>
          </a:p>
          <a:p>
            <a:pPr lvl="0" indent="0" marL="0">
              <a:buNone/>
            </a:pPr>
          </a:p>
          <a:p>
            <a:pPr lvl="0"/>
            <a:r>
              <a:rPr/>
              <a:t>“Deterministic” - same input = same output</a:t>
            </a:r>
          </a:p>
          <a:p>
            <a:pPr lvl="0" indent="0" marL="0">
              <a:buNone/>
            </a:pPr>
          </a:p>
          <a:p>
            <a:pPr lvl="0"/>
            <a:r>
              <a:rPr/>
              <a:t>“Well-documented” - clear descriptions and comments</a:t>
            </a:r>
          </a:p>
          <a:p>
            <a:pPr lvl="0" indent="0" marL="0">
              <a:buNone/>
            </a:pPr>
          </a:p>
          <a:p>
            <a:pPr lvl="0" indent="0" marL="0">
              <a:buNone/>
            </a:pPr>
            <a:r>
              <a:rPr b="1"/>
              <a:t>Pattern Recognition</a:t>
            </a:r>
            <a:r>
              <a:rPr/>
              <a:t>:</a:t>
            </a:r>
          </a:p>
          <a:p>
            <a:pPr lvl="0" indent="0" marL="0">
              <a:buNone/>
            </a:pPr>
          </a:p>
          <a:p>
            <a:pPr lvl="0"/>
            <a:r>
              <a:rPr/>
              <a:t>“Use appropriate testing patterns for the language and framework”</a:t>
            </a:r>
          </a:p>
          <a:p>
            <a:pPr lvl="0" indent="0" marL="0">
              <a:buNone/>
            </a:pPr>
          </a:p>
          <a:p>
            <a:pPr lvl="0"/>
            <a:r>
              <a:rPr/>
              <a:t>Agent will adapt to Jest, pytest, JUnit, etc.</a:t>
            </a:r>
          </a:p>
          <a:p>
            <a:pPr lvl="0" indent="0" marL="0">
              <a:buNone/>
            </a:pPr>
          </a:p>
          <a:p>
            <a:pPr lvl="0" indent="0" marL="0">
              <a:buNone/>
            </a:pPr>
            <a:r>
              <a:rPr b="1"/>
              <a:t>Usage Scenarios</a:t>
            </a:r>
            <a:r>
              <a:rPr/>
              <a:t>:</a:t>
            </a:r>
          </a:p>
          <a:p>
            <a:pPr lvl="0" indent="0" marL="0">
              <a:buNone/>
            </a:pPr>
          </a:p>
          <a:p>
            <a:pPr lvl="0"/>
            <a:r>
              <a:rPr/>
              <a:t>Adding tests to legacy code</a:t>
            </a:r>
          </a:p>
          <a:p>
            <a:pPr lvl="0" indent="0" marL="0">
              <a:buNone/>
            </a:pPr>
          </a:p>
          <a:p>
            <a:pPr lvl="0"/>
            <a:r>
              <a:rPr/>
              <a:t>Improving test coverage metrics</a:t>
            </a:r>
          </a:p>
          <a:p>
            <a:pPr lvl="0" indent="0" marL="0">
              <a:buNone/>
            </a:pPr>
          </a:p>
          <a:p>
            <a:pPr lvl="0"/>
            <a:r>
              <a:rPr/>
              <a:t>Reviewing PR test quality</a:t>
            </a:r>
          </a:p>
          <a:p>
            <a:pPr lvl="0" indent="0" marL="0">
              <a:buNone/>
            </a:pPr>
          </a:p>
          <a:p>
            <a:pPr lvl="0"/>
            <a:r>
              <a:rPr/>
              <a:t>Learning testing best practices</a:t>
            </a:r>
          </a:p>
          <a:p>
            <a:pPr lvl="0" indent="0" marL="0">
              <a:buNone/>
            </a:pPr>
          </a:p>
          <a:p>
            <a:pPr lvl="0" indent="0" marL="0">
              <a:buNone/>
            </a:pPr>
            <a:r>
              <a:rPr b="1"/>
              <a:t>Customization Ideas</a:t>
            </a:r>
            <a:r>
              <a:rPr/>
              <a:t>:</a:t>
            </a:r>
          </a:p>
          <a:p>
            <a:pPr lvl="0" indent="0" marL="0">
              <a:buNone/>
            </a:pPr>
          </a:p>
          <a:p>
            <a:pPr lvl="0"/>
            <a:r>
              <a:rPr/>
              <a:t>Add specific test frameworks to use</a:t>
            </a:r>
          </a:p>
          <a:p>
            <a:pPr lvl="0" indent="0" marL="0">
              <a:buNone/>
            </a:pPr>
          </a:p>
          <a:p>
            <a:pPr lvl="0"/>
            <a:r>
              <a:rPr/>
              <a:t>Include code coverage thresholds</a:t>
            </a:r>
          </a:p>
          <a:p>
            <a:pPr lvl="0" indent="0" marL="0">
              <a:buNone/>
            </a:pPr>
          </a:p>
          <a:p>
            <a:pPr lvl="0"/>
            <a:r>
              <a:rPr/>
              <a:t>Specify test naming conventions</a:t>
            </a:r>
          </a:p>
          <a:p>
            <a:pPr lvl="0" indent="0" marL="0">
              <a:buNone/>
            </a:pPr>
          </a:p>
          <a:p>
            <a:pPr lvl="0"/>
            <a:r>
              <a:rPr/>
              <a:t>Add mutation testing requirements</a:t>
            </a:r>
          </a:p>
          <a:p>
            <a:pPr lvl="0" indent="0" marL="0">
              <a:buNone/>
            </a:pPr>
          </a:p>
          <a:p>
            <a:pPr lvl="0" indent="0" marL="0">
              <a:buNone/>
            </a:pPr>
            <a:r>
              <a:rPr b="1"/>
              <a:t>Common Question</a:t>
            </a:r>
            <a:r>
              <a:rPr/>
              <a:t>: “Why not enable all tools?” </a:t>
            </a:r>
            <a:r>
              <a:rPr b="1"/>
              <a:t>Answer</a:t>
            </a:r>
            <a:r>
              <a:rPr/>
              <a:t>: Not specified here, so all tools are available. But you might restrict to [“read”, “edit”] to prevent running or deploying.</a:t>
            </a:r>
          </a:p>
          <a:p>
            <a:pPr lvl="0" indent="0" marL="0">
              <a:buNone/>
            </a:pPr>
          </a:p>
          <a:p>
            <a:pPr lvl="0" indent="0" marL="0">
              <a:buNone/>
            </a:pPr>
            <a:r>
              <a:rPr b="1"/>
              <a:t>Transition</a:t>
            </a:r>
            <a:r>
              <a:rPr/>
              <a:t>: “Here’s another example that shows a different use case - planning instead of coding.”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Strategic Difference from Test Specialist</a:t>
            </a:r>
            <a:r>
              <a:rPr/>
              <a:t>:</a:t>
            </a:r>
          </a:p>
          <a:p>
            <a:pPr lvl="0" indent="0" marL="0">
              <a:buNone/>
            </a:pPr>
          </a:p>
          <a:p>
            <a:pPr lvl="0" indent="0" marL="0">
              <a:buNone/>
            </a:pPr>
            <a:r>
              <a:rPr b="1"/>
              <a:t>Tools Restriction</a:t>
            </a:r>
            <a:r>
              <a:rPr/>
              <a:t>:</a:t>
            </a:r>
          </a:p>
          <a:p>
            <a:pPr lvl="0" indent="0" marL="0">
              <a:buNone/>
            </a:pPr>
          </a:p>
          <a:p>
            <a:pPr lvl="0"/>
            <a:r>
              <a:rPr/>
              <a:t>Only </a:t>
            </a:r>
            <a:r>
              <a:rPr>
                <a:latin typeface="Courier"/>
              </a:rPr>
              <a:t>["read", "search", "edit"]</a:t>
            </a:r>
            <a:r>
              <a:rPr/>
              <a:t> enabled</a:t>
            </a:r>
          </a:p>
          <a:p>
            <a:pPr lvl="0" indent="0" marL="0">
              <a:buNone/>
            </a:pPr>
          </a:p>
          <a:p>
            <a:pPr lvl="0"/>
            <a:r>
              <a:rPr/>
              <a:t>NOT “run” or “debug” - this agent doesn’t execute code</a:t>
            </a:r>
          </a:p>
          <a:p>
            <a:pPr lvl="0" indent="0" marL="0">
              <a:buNone/>
            </a:pPr>
          </a:p>
          <a:p>
            <a:pPr lvl="0"/>
            <a:r>
              <a:rPr/>
              <a:t>NOT “shell” - doesn’t deploy or build</a:t>
            </a:r>
          </a:p>
          <a:p>
            <a:pPr lvl="0" indent="0" marL="0">
              <a:buNone/>
            </a:pPr>
          </a:p>
          <a:p>
            <a:pPr lvl="0"/>
            <a:r>
              <a:rPr/>
              <a:t>Enforces its role as a planner, not implementer</a:t>
            </a:r>
          </a:p>
          <a:p>
            <a:pPr lvl="0" indent="0" marL="0">
              <a:buNone/>
            </a:pPr>
          </a:p>
          <a:p>
            <a:pPr lvl="0" indent="0" marL="0">
              <a:buNone/>
            </a:pPr>
            <a:r>
              <a:rPr b="1"/>
              <a:t>Planning-Specific Responsibilities</a:t>
            </a:r>
            <a:r>
              <a:rPr/>
              <a:t>:</a:t>
            </a:r>
          </a:p>
          <a:p>
            <a:pPr lvl="0" indent="0" marL="0">
              <a:buNone/>
            </a:pPr>
          </a:p>
          <a:p>
            <a:pPr lvl="0" indent="-342900" marL="342900">
              <a:buAutoNum type="arabicPeriod"/>
            </a:pPr>
            <a:r>
              <a:rPr/>
              <a:t>“Analyze requirements” - requirements engineering</a:t>
            </a:r>
          </a:p>
          <a:p>
            <a:pPr lvl="0" indent="0" marL="0">
              <a:buNone/>
            </a:pPr>
          </a:p>
          <a:p>
            <a:pPr lvl="0" indent="-342900" marL="342900">
              <a:buAutoNum type="arabicPeriod"/>
            </a:pPr>
            <a:r>
              <a:rPr/>
              <a:t>“Break them into actionable tasks” - work breakdown</a:t>
            </a:r>
          </a:p>
          <a:p>
            <a:pPr lvl="0" indent="0" marL="0">
              <a:buNone/>
            </a:pPr>
          </a:p>
          <a:p>
            <a:pPr lvl="0" indent="-342900" marL="342900">
              <a:buAutoNum type="arabicPeriod"/>
            </a:pPr>
            <a:r>
              <a:rPr/>
              <a:t>“Technical specs and architecture docs” - documentation focus</a:t>
            </a:r>
          </a:p>
          <a:p>
            <a:pPr lvl="0" indent="0" marL="0">
              <a:buNone/>
            </a:pPr>
          </a:p>
          <a:p>
            <a:pPr lvl="0" indent="-342900" marL="342900">
              <a:buAutoNum type="arabicPeriod"/>
            </a:pPr>
            <a:r>
              <a:rPr/>
              <a:t>“Implementation plans with dependencies” - sequencing and scheduling</a:t>
            </a:r>
          </a:p>
          <a:p>
            <a:pPr lvl="0" indent="0" marL="0">
              <a:buNone/>
            </a:pPr>
          </a:p>
          <a:p>
            <a:pPr lvl="0" indent="-342900" marL="342900">
              <a:buAutoNum type="arabicPeriod"/>
            </a:pPr>
            <a:r>
              <a:rPr/>
              <a:t>“API designs, data models” - interface definition</a:t>
            </a:r>
          </a:p>
          <a:p>
            <a:pPr lvl="0" indent="0" marL="0">
              <a:buNone/>
            </a:pPr>
          </a:p>
          <a:p>
            <a:pPr lvl="0" indent="0" marL="0">
              <a:buNone/>
            </a:pPr>
            <a:r>
              <a:rPr b="1"/>
              <a:t>Output Format</a:t>
            </a:r>
            <a:r>
              <a:rPr/>
              <a:t>:</a:t>
            </a:r>
          </a:p>
          <a:p>
            <a:pPr lvl="0" indent="0" marL="0">
              <a:buNone/>
            </a:pPr>
          </a:p>
          <a:p>
            <a:pPr lvl="0"/>
            <a:r>
              <a:rPr/>
              <a:t>“Markdown format” - specified in description</a:t>
            </a:r>
          </a:p>
          <a:p>
            <a:pPr lvl="0" indent="0" marL="0">
              <a:buNone/>
            </a:pPr>
          </a:p>
          <a:p>
            <a:pPr lvl="0"/>
            <a:r>
              <a:rPr/>
              <a:t>“Markdown files that development teams can follow” - artifact focus</a:t>
            </a:r>
          </a:p>
          <a:p>
            <a:pPr lvl="0" indent="0" marL="0">
              <a:buNone/>
            </a:pPr>
          </a:p>
          <a:p>
            <a:pPr lvl="0"/>
            <a:r>
              <a:rPr/>
              <a:t>“Clear headings, task breakdowns” - structure requirements</a:t>
            </a:r>
          </a:p>
          <a:p>
            <a:pPr lvl="0" indent="0" marL="0">
              <a:buNone/>
            </a:pPr>
          </a:p>
          <a:p>
            <a:pPr lvl="0" indent="0" marL="0">
              <a:buNone/>
            </a:pPr>
            <a:r>
              <a:rPr b="1"/>
              <a:t>Non-Code Focus</a:t>
            </a:r>
            <a:r>
              <a:rPr/>
              <a:t>:</a:t>
            </a:r>
          </a:p>
          <a:p>
            <a:pPr lvl="0" indent="0" marL="0">
              <a:buNone/>
            </a:pPr>
          </a:p>
          <a:p>
            <a:pPr lvl="0"/>
            <a:r>
              <a:rPr/>
              <a:t>“Focus on thorough documentation rather than implementing code”</a:t>
            </a:r>
          </a:p>
          <a:p>
            <a:pPr lvl="0" indent="0" marL="0">
              <a:buNone/>
            </a:pPr>
          </a:p>
          <a:p>
            <a:pPr lvl="0"/>
            <a:r>
              <a:rPr/>
              <a:t>Critical boundary: this agent designs but doesn’t build</a:t>
            </a:r>
          </a:p>
          <a:p>
            <a:pPr lvl="0" indent="0" marL="0">
              <a:buNone/>
            </a:pPr>
          </a:p>
          <a:p>
            <a:pPr lvl="0"/>
            <a:r>
              <a:rPr/>
              <a:t>Prevents mixing planning and implementation concerns</a:t>
            </a:r>
          </a:p>
          <a:p>
            <a:pPr lvl="0" indent="0" marL="0">
              <a:buNone/>
            </a:pPr>
          </a:p>
          <a:p>
            <a:pPr lvl="0" indent="0" marL="0">
              <a:buNone/>
            </a:pPr>
            <a:r>
              <a:rPr b="1"/>
              <a:t>When to Use This Agent</a:t>
            </a:r>
            <a:r>
              <a:rPr/>
              <a:t>:</a:t>
            </a:r>
          </a:p>
          <a:p>
            <a:pPr lvl="0" indent="0" marL="0">
              <a:buNone/>
            </a:pPr>
          </a:p>
          <a:p>
            <a:pPr lvl="0"/>
            <a:r>
              <a:rPr/>
              <a:t>Starting new features or projects</a:t>
            </a:r>
          </a:p>
          <a:p>
            <a:pPr lvl="0" indent="0" marL="0">
              <a:buNone/>
            </a:pPr>
          </a:p>
          <a:p>
            <a:pPr lvl="0"/>
            <a:r>
              <a:rPr/>
              <a:t>Architectural decision records (ADRs)</a:t>
            </a:r>
          </a:p>
          <a:p>
            <a:pPr lvl="0" indent="0" marL="0">
              <a:buNone/>
            </a:pPr>
          </a:p>
          <a:p>
            <a:pPr lvl="0"/>
            <a:r>
              <a:rPr/>
              <a:t>Epic and story breakdown</a:t>
            </a:r>
          </a:p>
          <a:p>
            <a:pPr lvl="0" indent="0" marL="0">
              <a:buNone/>
            </a:pPr>
          </a:p>
          <a:p>
            <a:pPr lvl="0"/>
            <a:r>
              <a:rPr/>
              <a:t>Technical RFCs</a:t>
            </a:r>
          </a:p>
          <a:p>
            <a:pPr lvl="0" indent="0" marL="0">
              <a:buNone/>
            </a:pPr>
          </a:p>
          <a:p>
            <a:pPr lvl="0"/>
            <a:r>
              <a:rPr/>
              <a:t>Onboarding documentation</a:t>
            </a:r>
          </a:p>
          <a:p>
            <a:pPr lvl="0" indent="0" marL="0">
              <a:buNone/>
            </a:pPr>
          </a:p>
          <a:p>
            <a:pPr lvl="0"/>
            <a:r>
              <a:rPr/>
              <a:t>Migration plans</a:t>
            </a:r>
          </a:p>
          <a:p>
            <a:pPr lvl="0" indent="0" marL="0">
              <a:buNone/>
            </a:pPr>
          </a:p>
          <a:p>
            <a:pPr lvl="0" indent="0" marL="0">
              <a:buNone/>
            </a:pPr>
            <a:r>
              <a:rPr b="1"/>
              <a:t>Output Examples</a:t>
            </a:r>
            <a:r>
              <a:rPr/>
              <a:t>:</a:t>
            </a:r>
          </a:p>
          <a:p>
            <a:pPr lvl="0" indent="0" marL="0">
              <a:buNone/>
            </a:pPr>
          </a:p>
          <a:p>
            <a:pPr lvl="0"/>
            <a:r>
              <a:rPr>
                <a:latin typeface="Courier"/>
              </a:rPr>
              <a:t>IMPLEMENTATION_PLAN.md</a:t>
            </a:r>
            <a:r>
              <a:rPr/>
              <a:t> with tasks and timeline</a:t>
            </a:r>
          </a:p>
          <a:p>
            <a:pPr lvl="0" indent="0" marL="0">
              <a:buNone/>
            </a:pPr>
          </a:p>
          <a:p>
            <a:pPr lvl="0"/>
            <a:r>
              <a:rPr>
                <a:latin typeface="Courier"/>
              </a:rPr>
              <a:t>ARCHITECTURE.md</a:t>
            </a:r>
            <a:r>
              <a:rPr/>
              <a:t> with system design</a:t>
            </a:r>
          </a:p>
          <a:p>
            <a:pPr lvl="0" indent="0" marL="0">
              <a:buNone/>
            </a:pPr>
          </a:p>
          <a:p>
            <a:pPr lvl="0"/>
            <a:r>
              <a:rPr>
                <a:latin typeface="Courier"/>
              </a:rPr>
              <a:t>API_SPEC.md</a:t>
            </a:r>
            <a:r>
              <a:rPr/>
              <a:t> with endpoint definitions</a:t>
            </a:r>
          </a:p>
          <a:p>
            <a:pPr lvl="0" indent="0" marL="0">
              <a:buNone/>
            </a:pPr>
          </a:p>
          <a:p>
            <a:pPr lvl="0"/>
            <a:r>
              <a:rPr>
                <a:latin typeface="Courier"/>
              </a:rPr>
              <a:t>DATA_MODEL.md</a:t>
            </a:r>
            <a:r>
              <a:rPr/>
              <a:t> with schema definitions</a:t>
            </a:r>
          </a:p>
          <a:p>
            <a:pPr lvl="0" indent="0" marL="0">
              <a:buNone/>
            </a:pPr>
          </a:p>
          <a:p>
            <a:pPr lvl="0" indent="0" marL="0">
              <a:buNone/>
            </a:pPr>
            <a:r>
              <a:rPr b="1"/>
              <a:t>Team Benefits</a:t>
            </a:r>
            <a:r>
              <a:rPr/>
              <a:t>:</a:t>
            </a:r>
          </a:p>
          <a:p>
            <a:pPr lvl="0" indent="0" marL="0">
              <a:buNone/>
            </a:pPr>
          </a:p>
          <a:p>
            <a:pPr lvl="0"/>
            <a:r>
              <a:rPr/>
              <a:t>Consistent planning documentation format</a:t>
            </a:r>
          </a:p>
          <a:p>
            <a:pPr lvl="0" indent="0" marL="0">
              <a:buNone/>
            </a:pPr>
          </a:p>
          <a:p>
            <a:pPr lvl="0"/>
            <a:r>
              <a:rPr/>
              <a:t>Separation of planning from coding</a:t>
            </a:r>
          </a:p>
          <a:p>
            <a:pPr lvl="0" indent="0" marL="0">
              <a:buNone/>
            </a:pPr>
          </a:p>
          <a:p>
            <a:pPr lvl="0"/>
            <a:r>
              <a:rPr/>
              <a:t>Better task estimation</a:t>
            </a:r>
          </a:p>
          <a:p>
            <a:pPr lvl="0" indent="0" marL="0">
              <a:buNone/>
            </a:pPr>
          </a:p>
          <a:p>
            <a:pPr lvl="0"/>
            <a:r>
              <a:rPr/>
              <a:t>Clear acceptance criteria</a:t>
            </a:r>
          </a:p>
          <a:p>
            <a:pPr lvl="0" indent="0" marL="0">
              <a:buNone/>
            </a:pPr>
          </a:p>
          <a:p>
            <a:pPr lvl="0"/>
            <a:r>
              <a:rPr/>
              <a:t>Risk identification upfront</a:t>
            </a:r>
          </a:p>
          <a:p>
            <a:pPr lvl="0" indent="0" marL="0">
              <a:buNone/>
            </a:pPr>
          </a:p>
          <a:p>
            <a:pPr lvl="0" indent="0" marL="0">
              <a:buNone/>
            </a:pPr>
            <a:r>
              <a:rPr b="1"/>
              <a:t>Customization Ideas</a:t>
            </a:r>
            <a:r>
              <a:rPr/>
              <a:t>:</a:t>
            </a:r>
          </a:p>
          <a:p>
            <a:pPr lvl="0" indent="0" marL="0">
              <a:buNone/>
            </a:pPr>
          </a:p>
          <a:p>
            <a:pPr lvl="0"/>
            <a:r>
              <a:rPr/>
              <a:t>Add specific template sections</a:t>
            </a:r>
          </a:p>
          <a:p>
            <a:pPr lvl="0" indent="0" marL="0">
              <a:buNone/>
            </a:pPr>
          </a:p>
          <a:p>
            <a:pPr lvl="0"/>
            <a:r>
              <a:rPr/>
              <a:t>Include estimation guidance</a:t>
            </a:r>
          </a:p>
          <a:p>
            <a:pPr lvl="0" indent="0" marL="0">
              <a:buNone/>
            </a:pPr>
          </a:p>
          <a:p>
            <a:pPr lvl="0"/>
            <a:r>
              <a:rPr/>
              <a:t>Specify diagram types (C4, sequence, etc.)</a:t>
            </a:r>
          </a:p>
          <a:p>
            <a:pPr lvl="0" indent="0" marL="0">
              <a:buNone/>
            </a:pPr>
          </a:p>
          <a:p>
            <a:pPr lvl="0"/>
            <a:r>
              <a:rPr/>
              <a:t>Add stakeholder communication sections</a:t>
            </a:r>
          </a:p>
          <a:p>
            <a:pPr lvl="0" indent="0" marL="0">
              <a:buNone/>
            </a:pPr>
          </a:p>
          <a:p>
            <a:pPr lvl="0" indent="0" marL="0">
              <a:buNone/>
            </a:pPr>
            <a:r>
              <a:rPr b="1"/>
              <a:t>Comparison to Test Specialist</a:t>
            </a:r>
            <a:r>
              <a:rPr/>
              <a:t>:</a:t>
            </a:r>
          </a:p>
          <a:p>
            <a:pPr lvl="0" indent="0" marL="0">
              <a:buNone/>
            </a:pPr>
          </a:p>
          <a:p>
            <a:pPr lvl="0"/>
            <a:r>
              <a:rPr/>
              <a:t>Test Specialist: All tools, focused on test files</a:t>
            </a:r>
          </a:p>
          <a:p>
            <a:pPr lvl="0" indent="0" marL="0">
              <a:buNone/>
            </a:pPr>
          </a:p>
          <a:p>
            <a:pPr lvl="0"/>
            <a:r>
              <a:rPr/>
              <a:t>Implementation Planner: Limited tools, focused on documentation</a:t>
            </a:r>
          </a:p>
          <a:p>
            <a:pPr lvl="0" indent="0" marL="0">
              <a:buNone/>
            </a:pPr>
          </a:p>
          <a:p>
            <a:pPr lvl="0" indent="0" marL="0">
              <a:buNone/>
            </a:pPr>
            <a:r>
              <a:rPr b="1"/>
              <a:t>Transition</a:t>
            </a:r>
            <a:r>
              <a:rPr/>
              <a:t>: “These examples show two very different agent types. Now let’s learn how to actually use custom agents once they’re created.”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a:t>
            </a:r>
          </a:p>
          <a:p>
            <a:pPr lvl="0" indent="0" marL="0">
              <a:buNone/>
            </a:pPr>
          </a:p>
          <a:p>
            <a:pPr lvl="0" indent="0" marL="0">
              <a:buNone/>
            </a:pPr>
            <a:r>
              <a:rPr b="1"/>
              <a:t>GitHub.com Usage</a:t>
            </a:r>
            <a:r>
              <a:rPr/>
              <a:t>:</a:t>
            </a:r>
          </a:p>
          <a:p>
            <a:pPr lvl="0" indent="0" marL="0">
              <a:buNone/>
            </a:pPr>
          </a:p>
          <a:p>
            <a:pPr lvl="0" indent="0" marL="0">
              <a:buNone/>
            </a:pPr>
            <a:r>
              <a:rPr b="1"/>
              <a:t>Agents Panel Workflow</a:t>
            </a:r>
            <a:r>
              <a:rPr/>
              <a:t>:</a:t>
            </a:r>
          </a:p>
          <a:p>
            <a:pPr lvl="0" indent="0" marL="0">
              <a:buNone/>
            </a:pPr>
          </a:p>
          <a:p>
            <a:pPr lvl="0" indent="-342900" marL="342900">
              <a:buAutoNum type="arabicPeriod"/>
            </a:pPr>
            <a:r>
              <a:rPr/>
              <a:t>Open Copilot agents panel or tab</a:t>
            </a:r>
          </a:p>
          <a:p>
            <a:pPr lvl="0" indent="0" marL="0">
              <a:buNone/>
            </a:pPr>
          </a:p>
          <a:p>
            <a:pPr lvl="0" indent="-342900" marL="342900">
              <a:buAutoNum type="arabicPeriod"/>
            </a:pPr>
            <a:r>
              <a:rPr/>
              <a:t>Click dropdown (currently shows “Coding Agent”)</a:t>
            </a:r>
          </a:p>
          <a:p>
            <a:pPr lvl="0" indent="0" marL="0">
              <a:buNone/>
            </a:pPr>
          </a:p>
          <a:p>
            <a:pPr lvl="0" indent="-342900" marL="342900">
              <a:buAutoNum type="arabicPeriod"/>
            </a:pPr>
            <a:r>
              <a:rPr/>
              <a:t>Select your custom agent from list</a:t>
            </a:r>
          </a:p>
          <a:p>
            <a:pPr lvl="0" indent="0" marL="0">
              <a:buNone/>
            </a:pPr>
          </a:p>
          <a:p>
            <a:pPr lvl="0" indent="-342900" marL="342900">
              <a:buAutoNum type="arabicPeriod"/>
            </a:pPr>
            <a:r>
              <a:rPr/>
              <a:t>Enter your prompt or task</a:t>
            </a:r>
          </a:p>
          <a:p>
            <a:pPr lvl="0" indent="0" marL="0">
              <a:buNone/>
            </a:pPr>
          </a:p>
          <a:p>
            <a:pPr lvl="0" indent="-342900" marL="342900">
              <a:buAutoNum type="arabicPeriod"/>
            </a:pPr>
            <a:r>
              <a:rPr/>
              <a:t>Agent works within its configured scope</a:t>
            </a:r>
          </a:p>
          <a:p>
            <a:pPr lvl="0" indent="0" marL="0">
              <a:buNone/>
            </a:pPr>
          </a:p>
          <a:p>
            <a:pPr lvl="0" indent="0" marL="0">
              <a:buNone/>
            </a:pPr>
            <a:r>
              <a:rPr b="1"/>
              <a:t>Issue Assignment</a:t>
            </a:r>
            <a:r>
              <a:rPr/>
              <a:t>:</a:t>
            </a:r>
          </a:p>
          <a:p>
            <a:pPr lvl="0" indent="0" marL="0">
              <a:buNone/>
            </a:pPr>
          </a:p>
          <a:p>
            <a:pPr lvl="0"/>
            <a:r>
              <a:rPr/>
              <a:t>Assign Copilot to an issue</a:t>
            </a:r>
          </a:p>
          <a:p>
            <a:pPr lvl="0" indent="0" marL="0">
              <a:buNone/>
            </a:pPr>
          </a:p>
          <a:p>
            <a:pPr lvl="0"/>
            <a:r>
              <a:rPr/>
              <a:t>Choose custom agent from dropdown</a:t>
            </a:r>
          </a:p>
          <a:p>
            <a:pPr lvl="0" indent="0" marL="0">
              <a:buNone/>
            </a:pPr>
          </a:p>
          <a:p>
            <a:pPr lvl="0"/>
            <a:r>
              <a:rPr/>
              <a:t>Agent follows its specialized instructions</a:t>
            </a:r>
          </a:p>
          <a:p>
            <a:pPr lvl="0" indent="0" marL="0">
              <a:buNone/>
            </a:pPr>
          </a:p>
          <a:p>
            <a:pPr lvl="0"/>
            <a:r>
              <a:rPr/>
              <a:t>Great for repetitive tasks (bug triage, documentation updates)</a:t>
            </a:r>
          </a:p>
          <a:p>
            <a:pPr lvl="0" indent="0" marL="0">
              <a:buNone/>
            </a:pPr>
          </a:p>
          <a:p>
            <a:pPr lvl="0" indent="0" marL="0">
              <a:buNone/>
            </a:pPr>
            <a:r>
              <a:rPr b="1"/>
              <a:t>PR Tracking</a:t>
            </a:r>
            <a:r>
              <a:rPr/>
              <a:t>:</a:t>
            </a:r>
          </a:p>
          <a:p>
            <a:pPr lvl="0" indent="0" marL="0">
              <a:buNone/>
            </a:pPr>
          </a:p>
          <a:p>
            <a:pPr lvl="0"/>
            <a:r>
              <a:rPr/>
              <a:t>When Copilot creates a PR, it notes which agent was used</a:t>
            </a:r>
          </a:p>
          <a:p>
            <a:pPr lvl="0" indent="0" marL="0">
              <a:buNone/>
            </a:pPr>
          </a:p>
          <a:p>
            <a:pPr lvl="0"/>
            <a:r>
              <a:rPr/>
              <a:t>Helps with attribution and understanding the approach</a:t>
            </a:r>
          </a:p>
          <a:p>
            <a:pPr lvl="0" indent="0" marL="0">
              <a:buNone/>
            </a:pPr>
          </a:p>
          <a:p>
            <a:pPr lvl="0"/>
            <a:r>
              <a:rPr/>
              <a:t>Example: “This PR was created by @copilot using the test-specialist agent”</a:t>
            </a:r>
          </a:p>
          <a:p>
            <a:pPr lvl="0" indent="0" marL="0">
              <a:buNone/>
            </a:pPr>
          </a:p>
          <a:p>
            <a:pPr lvl="0" indent="0" marL="0">
              <a:buNone/>
            </a:pPr>
            <a:r>
              <a:rPr b="1"/>
              <a:t>IDE Usage Benefits</a:t>
            </a:r>
            <a:r>
              <a:rPr/>
              <a:t>:</a:t>
            </a:r>
          </a:p>
          <a:p>
            <a:pPr lvl="0" indent="0" marL="0">
              <a:buNone/>
            </a:pPr>
          </a:p>
          <a:p>
            <a:pPr lvl="0" indent="0" marL="0">
              <a:buNone/>
            </a:pPr>
            <a:r>
              <a:rPr b="1"/>
              <a:t>Mid-Conversation Switching</a:t>
            </a:r>
            <a:r>
              <a:rPr/>
              <a:t>:</a:t>
            </a:r>
          </a:p>
          <a:p>
            <a:pPr lvl="0" indent="0" marL="0">
              <a:buNone/>
            </a:pPr>
          </a:p>
          <a:p>
            <a:pPr lvl="0"/>
            <a:r>
              <a:rPr/>
              <a:t>Start with planning agent</a:t>
            </a:r>
          </a:p>
          <a:p>
            <a:pPr lvl="0" indent="0" marL="0">
              <a:buNone/>
            </a:pPr>
          </a:p>
          <a:p>
            <a:pPr lvl="0"/>
            <a:r>
              <a:rPr/>
              <a:t>Switch to implementation agent</a:t>
            </a:r>
          </a:p>
          <a:p>
            <a:pPr lvl="0" indent="0" marL="0">
              <a:buNone/>
            </a:pPr>
          </a:p>
          <a:p>
            <a:pPr lvl="0"/>
            <a:r>
              <a:rPr/>
              <a:t>Switch to review agent</a:t>
            </a:r>
          </a:p>
          <a:p>
            <a:pPr lvl="0" indent="0" marL="0">
              <a:buNone/>
            </a:pPr>
          </a:p>
          <a:p>
            <a:pPr lvl="0"/>
            <a:r>
              <a:rPr/>
              <a:t>Maintain conversation context</a:t>
            </a:r>
          </a:p>
          <a:p>
            <a:pPr lvl="0" indent="0" marL="0">
              <a:buNone/>
            </a:pPr>
          </a:p>
          <a:p>
            <a:pPr lvl="0" indent="0" marL="0">
              <a:buNone/>
            </a:pPr>
            <a:r>
              <a:rPr b="1"/>
              <a:t>Task-Specific Workflows</a:t>
            </a:r>
            <a:r>
              <a:rPr/>
              <a:t>:</a:t>
            </a:r>
          </a:p>
          <a:p>
            <a:pPr lvl="0" indent="0" marL="0">
              <a:buNone/>
            </a:pPr>
          </a:p>
          <a:p>
            <a:pPr lvl="0" indent="-342900" marL="342900">
              <a:buAutoNum type="arabicPeriod"/>
            </a:pPr>
            <a:r>
              <a:rPr/>
              <a:t>Use planning agent for architecture decisions</a:t>
            </a:r>
          </a:p>
          <a:p>
            <a:pPr lvl="0" indent="0" marL="0">
              <a:buNone/>
            </a:pPr>
          </a:p>
          <a:p>
            <a:pPr lvl="0" indent="-342900" marL="342900">
              <a:buAutoNum type="arabicPeriod"/>
            </a:pPr>
            <a:r>
              <a:rPr/>
              <a:t>Use coding agent for implementation</a:t>
            </a:r>
          </a:p>
          <a:p>
            <a:pPr lvl="0" indent="0" marL="0">
              <a:buNone/>
            </a:pPr>
          </a:p>
          <a:p>
            <a:pPr lvl="0" indent="-342900" marL="342900">
              <a:buAutoNum type="arabicPeriod"/>
            </a:pPr>
            <a:r>
              <a:rPr/>
              <a:t>Use test agent for test coverage</a:t>
            </a:r>
          </a:p>
          <a:p>
            <a:pPr lvl="0" indent="0" marL="0">
              <a:buNone/>
            </a:pPr>
          </a:p>
          <a:p>
            <a:pPr lvl="0" indent="-342900" marL="342900">
              <a:buAutoNum type="arabicPeriod"/>
            </a:pPr>
            <a:r>
              <a:rPr/>
              <a:t>Use security agent for vulnerability review</a:t>
            </a:r>
          </a:p>
          <a:p>
            <a:pPr lvl="0" indent="0" marL="0">
              <a:buNone/>
            </a:pPr>
          </a:p>
          <a:p>
            <a:pPr lvl="0" indent="-342900" marL="342900">
              <a:buAutoNum type="arabicPeriod"/>
            </a:pPr>
            <a:r>
              <a:rPr/>
              <a:t>Use doc agent for documentation</a:t>
            </a:r>
          </a:p>
          <a:p>
            <a:pPr lvl="0" indent="0" marL="0">
              <a:buNone/>
            </a:pPr>
          </a:p>
          <a:p>
            <a:pPr lvl="0" indent="0" marL="0">
              <a:buNone/>
            </a:pPr>
            <a:r>
              <a:rPr b="1"/>
              <a:t>Example IDE Workflow</a:t>
            </a:r>
            <a:r>
              <a:rPr/>
              <a:t>:</a:t>
            </a:r>
          </a:p>
          <a:p>
            <a:pPr lvl="0" indent="0" marL="0">
              <a:buNone/>
            </a:pPr>
          </a:p>
          <a:p>
            <a:pPr lvl="0" indent="0">
              <a:buNone/>
            </a:pPr>
            <a:r>
              <a:rPr>
                <a:latin typeface="Courier"/>
              </a:rPr>
              <a:t>User: "I need to add user authentication"
[Select implementation-planner agent]
Agent: Creates detailed plan with tasks
User: "Now implement the first task"
[Switch to coding agent]
Agent: Implements based on plan
User: "Add tests for this"
[Switch to test-specialist agent]
Agent: Creates comprehensive test suite</a:t>
            </a:r>
          </a:p>
          <a:p>
            <a:pPr lvl="0" indent="0" marL="0">
              <a:buNone/>
            </a:pPr>
          </a:p>
          <a:p>
            <a:pPr lvl="0" indent="0" marL="0">
              <a:buNone/>
            </a:pPr>
            <a:r>
              <a:rPr b="1"/>
              <a:t>CLI Usage</a:t>
            </a:r>
            <a:r>
              <a:rPr/>
              <a:t> (Advanced):</a:t>
            </a:r>
          </a:p>
          <a:p>
            <a:pPr lvl="0" indent="0" marL="0">
              <a:buNone/>
            </a:pPr>
          </a:p>
          <a:p>
            <a:pPr lvl="0" indent="0" marL="0">
              <a:buNone/>
            </a:pPr>
            <a:r>
              <a:rPr b="1"/>
              <a:t>Basic Agent Selection</a:t>
            </a:r>
            <a:r>
              <a:rPr/>
              <a:t>:</a:t>
            </a:r>
          </a:p>
          <a:p>
            <a:pPr lvl="0" indent="0" marL="0">
              <a:buNone/>
            </a:pPr>
          </a:p>
          <a:p>
            <a:pPr lvl="0" indent="0">
              <a:buNone/>
            </a:pPr>
            <a:r>
              <a:rPr>
                <a:latin typeface="Courier"/>
              </a:rPr>
              <a:t>gh copilot /agent test-specialist </a:t>
            </a:r>
            <a:r>
              <a:rPr>
                <a:solidFill>
                  <a:srgbClr val="4070A0"/>
                </a:solidFill>
                <a:latin typeface="Courier"/>
              </a:rPr>
              <a:t>"add tests for authentication"</a:t>
            </a:r>
          </a:p>
          <a:p>
            <a:pPr lvl="0" indent="0" marL="0">
              <a:buNone/>
            </a:pPr>
          </a:p>
          <a:p>
            <a:pPr lvl="0" indent="0" marL="0">
              <a:buNone/>
            </a:pPr>
            <a:r>
              <a:rPr b="1"/>
              <a:t>In Prompts</a:t>
            </a:r>
            <a:r>
              <a:rPr/>
              <a:t>:</a:t>
            </a:r>
          </a:p>
          <a:p>
            <a:pPr lvl="0" indent="0" marL="0">
              <a:buNone/>
            </a:pPr>
          </a:p>
          <a:p>
            <a:pPr lvl="0" indent="0">
              <a:buNone/>
            </a:pPr>
            <a:r>
              <a:rPr>
                <a:latin typeface="Courier"/>
              </a:rPr>
              <a:t>gh copilot </a:t>
            </a:r>
            <a:r>
              <a:rPr>
                <a:solidFill>
                  <a:srgbClr val="4070A0"/>
                </a:solidFill>
                <a:latin typeface="Courier"/>
              </a:rPr>
              <a:t>"using security-reviewer, check this PR for vulnerabilities"</a:t>
            </a:r>
          </a:p>
          <a:p>
            <a:pPr lvl="0" indent="0" marL="0">
              <a:buNone/>
            </a:pPr>
          </a:p>
          <a:p>
            <a:pPr lvl="0" indent="0" marL="0">
              <a:buNone/>
            </a:pPr>
            <a:r>
              <a:rPr b="1"/>
              <a:t>Via Arguments</a:t>
            </a:r>
            <a:r>
              <a:rPr/>
              <a:t>:</a:t>
            </a:r>
          </a:p>
          <a:p>
            <a:pPr lvl="0" indent="0" marL="0">
              <a:buNone/>
            </a:pPr>
          </a:p>
          <a:p>
            <a:pPr lvl="0" indent="0">
              <a:buNone/>
            </a:pPr>
            <a:r>
              <a:rPr>
                <a:latin typeface="Courier"/>
              </a:rPr>
              <a:t>gh copilot </a:t>
            </a:r>
            <a:r>
              <a:rPr>
                <a:solidFill>
                  <a:srgbClr val="7D9029"/>
                </a:solidFill>
                <a:latin typeface="Courier"/>
              </a:rPr>
              <a:t>--agent</a:t>
            </a:r>
            <a:r>
              <a:rPr>
                <a:solidFill>
                  <a:srgbClr val="666666"/>
                </a:solidFill>
                <a:latin typeface="Courier"/>
              </a:rPr>
              <a:t>=</a:t>
            </a:r>
            <a:r>
              <a:rPr>
                <a:latin typeface="Courier"/>
              </a:rPr>
              <a:t>doc-writer </a:t>
            </a:r>
            <a:r>
              <a:rPr>
                <a:solidFill>
                  <a:srgbClr val="4070A0"/>
                </a:solidFill>
                <a:latin typeface="Courier"/>
              </a:rPr>
              <a:t>"document the API endpoints"</a:t>
            </a:r>
          </a:p>
          <a:p>
            <a:pPr lvl="0" indent="0" marL="0">
              <a:buNone/>
            </a:pPr>
          </a:p>
          <a:p>
            <a:pPr lvl="0" indent="0" marL="0">
              <a:buNone/>
            </a:pPr>
            <a:r>
              <a:rPr b="1"/>
              <a:t>Best Practices</a:t>
            </a:r>
            <a:r>
              <a:rPr/>
              <a:t>:</a:t>
            </a:r>
          </a:p>
          <a:p>
            <a:pPr lvl="0" indent="0" marL="0">
              <a:buNone/>
            </a:pPr>
          </a:p>
          <a:p>
            <a:pPr lvl="0" indent="-342900" marL="342900">
              <a:buAutoNum type="arabicPeriod"/>
            </a:pPr>
            <a:r>
              <a:rPr b="1"/>
              <a:t>Choose the Right Agent</a:t>
            </a:r>
            <a:r>
              <a:rPr/>
              <a:t>:</a:t>
            </a:r>
          </a:p>
          <a:p>
            <a:pPr lvl="0" indent="0" marL="0">
              <a:buNone/>
            </a:pPr>
          </a:p>
          <a:p>
            <a:pPr lvl="1"/>
            <a:r>
              <a:rPr/>
              <a:t>Match agent expertise to task</a:t>
            </a:r>
          </a:p>
          <a:p>
            <a:pPr lvl="0" indent="0" marL="0">
              <a:buNone/>
            </a:pPr>
          </a:p>
          <a:p>
            <a:pPr lvl="1"/>
            <a:r>
              <a:rPr/>
              <a:t>Don’t use generic agent when specialized one exists</a:t>
            </a:r>
          </a:p>
          <a:p>
            <a:pPr lvl="0" indent="0" marL="0">
              <a:buNone/>
            </a:pPr>
          </a:p>
          <a:p>
            <a:pPr lvl="0" indent="-342900" marL="342900">
              <a:buAutoNum type="arabicPeriod"/>
            </a:pPr>
            <a:r>
              <a:rPr b="1"/>
              <a:t>Provide Context</a:t>
            </a:r>
            <a:r>
              <a:rPr/>
              <a:t>:</a:t>
            </a:r>
          </a:p>
          <a:p>
            <a:pPr lvl="0" indent="0" marL="0">
              <a:buNone/>
            </a:pPr>
          </a:p>
          <a:p>
            <a:pPr lvl="1"/>
            <a:r>
              <a:rPr/>
              <a:t>Custom agents still need context</a:t>
            </a:r>
          </a:p>
          <a:p>
            <a:pPr lvl="0" indent="0" marL="0">
              <a:buNone/>
            </a:pPr>
          </a:p>
          <a:p>
            <a:pPr lvl="1"/>
            <a:r>
              <a:rPr/>
              <a:t>Reference files, requirements, constraints</a:t>
            </a:r>
          </a:p>
          <a:p>
            <a:pPr lvl="0" indent="0" marL="0">
              <a:buNone/>
            </a:pPr>
          </a:p>
          <a:p>
            <a:pPr lvl="0" indent="-342900" marL="342900">
              <a:buAutoNum type="arabicPeriod"/>
            </a:pPr>
            <a:r>
              <a:rPr b="1"/>
              <a:t>Iterate</a:t>
            </a:r>
            <a:r>
              <a:rPr/>
              <a:t>:</a:t>
            </a:r>
          </a:p>
          <a:p>
            <a:pPr lvl="0" indent="0" marL="0">
              <a:buNone/>
            </a:pPr>
          </a:p>
          <a:p>
            <a:pPr lvl="1"/>
            <a:r>
              <a:rPr/>
              <a:t>Refine agent instructions based on results</a:t>
            </a:r>
          </a:p>
          <a:p>
            <a:pPr lvl="0" indent="0" marL="0">
              <a:buNone/>
            </a:pPr>
          </a:p>
          <a:p>
            <a:pPr lvl="1"/>
            <a:r>
              <a:rPr/>
              <a:t>Agents improve as you tune them</a:t>
            </a:r>
          </a:p>
          <a:p>
            <a:pPr lvl="0" indent="0" marL="0">
              <a:buNone/>
            </a:pPr>
          </a:p>
          <a:p>
            <a:pPr lvl="0" indent="-342900" marL="342900">
              <a:buAutoNum type="arabicPeriod"/>
            </a:pPr>
            <a:r>
              <a:rPr b="1"/>
              <a:t>Document Usage</a:t>
            </a:r>
            <a:r>
              <a:rPr/>
              <a:t>:</a:t>
            </a:r>
          </a:p>
          <a:p>
            <a:pPr lvl="0" indent="0" marL="0">
              <a:buNone/>
            </a:pPr>
          </a:p>
          <a:p>
            <a:pPr lvl="1"/>
            <a:r>
              <a:rPr/>
              <a:t>Tell team which agents to use for which tasks</a:t>
            </a:r>
          </a:p>
          <a:p>
            <a:pPr lvl="0" indent="0" marL="0">
              <a:buNone/>
            </a:pPr>
          </a:p>
          <a:p>
            <a:pPr lvl="1"/>
            <a:r>
              <a:rPr/>
              <a:t>Include in CONTRIBUTING.md or team wiki</a:t>
            </a:r>
          </a:p>
          <a:p>
            <a:pPr lvl="0" indent="0" marL="0">
              <a:buNone/>
            </a:pPr>
          </a:p>
          <a:p>
            <a:pPr lvl="0" indent="0" marL="0">
              <a:buNone/>
            </a:pPr>
            <a:r>
              <a:rPr b="1"/>
              <a:t>Common Scenarios</a:t>
            </a:r>
            <a:r>
              <a:rPr/>
              <a:t>:</a:t>
            </a:r>
          </a:p>
          <a:p>
            <a:pPr lvl="0" indent="0" marL="0">
              <a:buNone/>
            </a:pPr>
          </a:p>
          <a:p>
            <a:pPr lvl="0"/>
            <a:r>
              <a:rPr b="1"/>
              <a:t>Code Review</a:t>
            </a:r>
            <a:r>
              <a:rPr/>
              <a:t>: Use review agent on PRs</a:t>
            </a:r>
          </a:p>
          <a:p>
            <a:pPr lvl="0" indent="0" marL="0">
              <a:buNone/>
            </a:pPr>
          </a:p>
          <a:p>
            <a:pPr lvl="0"/>
            <a:r>
              <a:rPr b="1"/>
              <a:t>Legacy Refactoring</a:t>
            </a:r>
            <a:r>
              <a:rPr/>
              <a:t>: Use planning agent first, then coding agent</a:t>
            </a:r>
          </a:p>
          <a:p>
            <a:pPr lvl="0" indent="0" marL="0">
              <a:buNone/>
            </a:pPr>
          </a:p>
          <a:p>
            <a:pPr lvl="0"/>
            <a:r>
              <a:rPr b="1"/>
              <a:t>Documentation Sprint</a:t>
            </a:r>
            <a:r>
              <a:rPr/>
              <a:t>: Use doc agent across multiple files</a:t>
            </a:r>
          </a:p>
          <a:p>
            <a:pPr lvl="0" indent="0" marL="0">
              <a:buNone/>
            </a:pPr>
          </a:p>
          <a:p>
            <a:pPr lvl="0"/>
            <a:r>
              <a:rPr b="1"/>
              <a:t>Security Audit</a:t>
            </a:r>
            <a:r>
              <a:rPr/>
              <a:t>: Use security agent on entire codebase</a:t>
            </a:r>
          </a:p>
          <a:p>
            <a:pPr lvl="0" indent="0" marL="0">
              <a:buNone/>
            </a:pPr>
          </a:p>
          <a:p>
            <a:pPr lvl="0"/>
            <a:r>
              <a:rPr b="1"/>
              <a:t>Test Coverage Drive</a:t>
            </a:r>
            <a:r>
              <a:rPr/>
              <a:t>: Use test agent to fill coverage gaps</a:t>
            </a:r>
          </a:p>
          <a:p>
            <a:pPr lvl="0" indent="0" marL="0">
              <a:buNone/>
            </a:pPr>
          </a:p>
          <a:p>
            <a:pPr lvl="0" indent="0" marL="0">
              <a:buNone/>
            </a:pPr>
            <a:r>
              <a:rPr b="1"/>
              <a:t>Transition</a:t>
            </a:r>
            <a:r>
              <a:rPr/>
              <a:t>: “Let’s wrap up with some best practices and resources to help you get started.”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 minutes</a:t>
            </a:r>
          </a:p>
          <a:p>
            <a:pPr lvl="0" indent="0" marL="0">
              <a:buNone/>
            </a:pPr>
          </a:p>
          <a:p>
            <a:pPr lvl="0" indent="0" marL="0">
              <a:buNone/>
            </a:pPr>
            <a:r>
              <a:rPr b="1"/>
              <a:t>Detailed Best Practices</a:t>
            </a:r>
            <a:r>
              <a:rPr/>
              <a:t>:</a:t>
            </a:r>
          </a:p>
          <a:p>
            <a:pPr lvl="0" indent="0" marL="0">
              <a:buNone/>
            </a:pPr>
          </a:p>
          <a:p>
            <a:pPr lvl="0" indent="0" marL="0">
              <a:buNone/>
            </a:pPr>
            <a:r>
              <a:rPr b="1"/>
              <a:t>1. Start Simple</a:t>
            </a:r>
            <a:r>
              <a:rPr/>
              <a:t>:</a:t>
            </a:r>
          </a:p>
          <a:p>
            <a:pPr lvl="0" indent="0" marL="0">
              <a:buNone/>
            </a:pPr>
          </a:p>
          <a:p>
            <a:pPr lvl="0"/>
            <a:r>
              <a:rPr/>
              <a:t>Don’t try to create every agent at once</a:t>
            </a:r>
          </a:p>
          <a:p>
            <a:pPr lvl="0" indent="0" marL="0">
              <a:buNone/>
            </a:pPr>
          </a:p>
          <a:p>
            <a:pPr lvl="0"/>
            <a:r>
              <a:rPr/>
              <a:t>Identify ONE repetitive task that’s painful</a:t>
            </a:r>
          </a:p>
          <a:p>
            <a:pPr lvl="0" indent="0" marL="0">
              <a:buNone/>
            </a:pPr>
          </a:p>
          <a:p>
            <a:pPr lvl="0"/>
            <a:r>
              <a:rPr/>
              <a:t>Create an agent for that specific task</a:t>
            </a:r>
          </a:p>
          <a:p>
            <a:pPr lvl="0" indent="0" marL="0">
              <a:buNone/>
            </a:pPr>
          </a:p>
          <a:p>
            <a:pPr lvl="0"/>
            <a:r>
              <a:rPr/>
              <a:t>Validate it works before creating more</a:t>
            </a:r>
          </a:p>
          <a:p>
            <a:pPr lvl="0" indent="0" marL="0">
              <a:buNone/>
            </a:pPr>
          </a:p>
          <a:p>
            <a:pPr lvl="0"/>
            <a:r>
              <a:rPr/>
              <a:t>Example: If code reviews always miss test coverage, start with test-specialist</a:t>
            </a:r>
          </a:p>
          <a:p>
            <a:pPr lvl="0" indent="0" marL="0">
              <a:buNone/>
            </a:pPr>
          </a:p>
          <a:p>
            <a:pPr lvl="0" indent="0" marL="0">
              <a:buNone/>
            </a:pPr>
            <a:r>
              <a:rPr b="1"/>
              <a:t>2. Be Specific</a:t>
            </a:r>
            <a:r>
              <a:rPr/>
              <a:t>:</a:t>
            </a:r>
          </a:p>
          <a:p>
            <a:pPr lvl="0" indent="0" marL="0">
              <a:buNone/>
            </a:pPr>
          </a:p>
          <a:p>
            <a:pPr lvl="0"/>
            <a:r>
              <a:rPr/>
              <a:t>Vague: “Help with coding”</a:t>
            </a:r>
          </a:p>
          <a:p>
            <a:pPr lvl="0" indent="0" marL="0">
              <a:buNone/>
            </a:pPr>
          </a:p>
          <a:p>
            <a:pPr lvl="0"/>
            <a:r>
              <a:rPr/>
              <a:t>Specific: “Write unit tests following Jest conventions for React components”</a:t>
            </a:r>
          </a:p>
          <a:p>
            <a:pPr lvl="0" indent="0" marL="0">
              <a:buNone/>
            </a:pPr>
          </a:p>
          <a:p>
            <a:pPr lvl="0"/>
            <a:r>
              <a:rPr/>
              <a:t>Include examples of good behavior</a:t>
            </a:r>
          </a:p>
          <a:p>
            <a:pPr lvl="0" indent="0" marL="0">
              <a:buNone/>
            </a:pPr>
          </a:p>
          <a:p>
            <a:pPr lvl="0"/>
            <a:r>
              <a:rPr/>
              <a:t>Specify what NOT to do</a:t>
            </a:r>
          </a:p>
          <a:p>
            <a:pPr lvl="0" indent="0" marL="0">
              <a:buNone/>
            </a:pPr>
          </a:p>
          <a:p>
            <a:pPr lvl="0"/>
            <a:r>
              <a:rPr/>
              <a:t>Bad example: “Be helpful”</a:t>
            </a:r>
          </a:p>
          <a:p>
            <a:pPr lvl="0" indent="0" marL="0">
              <a:buNone/>
            </a:pPr>
          </a:p>
          <a:p>
            <a:pPr lvl="0"/>
            <a:r>
              <a:rPr/>
              <a:t>Good example: “Focus only on test files in </a:t>
            </a:r>
            <a:r>
              <a:rPr b="1"/>
              <a:t>tests</a:t>
            </a:r>
            <a:r>
              <a:rPr/>
              <a:t> directories. Never modify source files in src/ directory.”</a:t>
            </a:r>
          </a:p>
          <a:p>
            <a:pPr lvl="0" indent="0" marL="0">
              <a:buNone/>
            </a:pPr>
          </a:p>
          <a:p>
            <a:pPr lvl="0" indent="0" marL="0">
              <a:buNone/>
            </a:pPr>
            <a:r>
              <a:rPr b="1"/>
              <a:t>3. Restrict Tools</a:t>
            </a:r>
            <a:r>
              <a:rPr/>
              <a:t>:</a:t>
            </a:r>
          </a:p>
          <a:p>
            <a:pPr lvl="0" indent="0" marL="0">
              <a:buNone/>
            </a:pPr>
          </a:p>
          <a:p>
            <a:pPr lvl="0"/>
            <a:r>
              <a:rPr/>
              <a:t>More tools ≠ better agent</a:t>
            </a:r>
          </a:p>
          <a:p>
            <a:pPr lvl="0" indent="0" marL="0">
              <a:buNone/>
            </a:pPr>
          </a:p>
          <a:p>
            <a:pPr lvl="0"/>
            <a:r>
              <a:rPr/>
              <a:t>Restrict to enforce boundaries</a:t>
            </a:r>
          </a:p>
          <a:p>
            <a:pPr lvl="0" indent="0" marL="0">
              <a:buNone/>
            </a:pPr>
          </a:p>
          <a:p>
            <a:pPr lvl="0"/>
            <a:r>
              <a:rPr/>
              <a:t>Planning agent doesn’t need “run” tool</a:t>
            </a:r>
          </a:p>
          <a:p>
            <a:pPr lvl="0" indent="0" marL="0">
              <a:buNone/>
            </a:pPr>
          </a:p>
          <a:p>
            <a:pPr lvl="0"/>
            <a:r>
              <a:rPr/>
              <a:t>Doc agent doesn’t need “debug” tool</a:t>
            </a:r>
          </a:p>
          <a:p>
            <a:pPr lvl="0" indent="0" marL="0">
              <a:buNone/>
            </a:pPr>
          </a:p>
          <a:p>
            <a:pPr lvl="0"/>
            <a:r>
              <a:rPr/>
              <a:t>Security agent might only need “read” and “search”</a:t>
            </a:r>
          </a:p>
          <a:p>
            <a:pPr lvl="0" indent="0" marL="0">
              <a:buNone/>
            </a:pPr>
          </a:p>
          <a:p>
            <a:pPr lvl="0"/>
            <a:r>
              <a:rPr/>
              <a:t>Benefits:</a:t>
            </a:r>
          </a:p>
          <a:p>
            <a:pPr lvl="0" indent="0" marL="0">
              <a:buNone/>
            </a:pPr>
          </a:p>
          <a:p>
            <a:pPr lvl="1"/>
            <a:r>
              <a:rPr/>
              <a:t>Faster execution (fewer options to consider)</a:t>
            </a:r>
          </a:p>
          <a:p>
            <a:pPr lvl="0" indent="0" marL="0">
              <a:buNone/>
            </a:pPr>
          </a:p>
          <a:p>
            <a:pPr lvl="1"/>
            <a:r>
              <a:rPr/>
              <a:t>Clear scope (can’t do things outside role)</a:t>
            </a:r>
          </a:p>
          <a:p>
            <a:pPr lvl="0" indent="0" marL="0">
              <a:buNone/>
            </a:pPr>
          </a:p>
          <a:p>
            <a:pPr lvl="1"/>
            <a:r>
              <a:rPr/>
              <a:t>Safer (can’t accidentally deploy or delete)</a:t>
            </a:r>
          </a:p>
          <a:p>
            <a:pPr lvl="0" indent="0" marL="0">
              <a:buNone/>
            </a:pPr>
          </a:p>
          <a:p>
            <a:pPr lvl="0" indent="0" marL="0">
              <a:buNone/>
            </a:pPr>
            <a:r>
              <a:rPr b="1"/>
              <a:t>4. Iterate</a:t>
            </a:r>
            <a:r>
              <a:rPr/>
              <a:t>:</a:t>
            </a:r>
          </a:p>
          <a:p>
            <a:pPr lvl="0" indent="0" marL="0">
              <a:buNone/>
            </a:pPr>
          </a:p>
          <a:p>
            <a:pPr lvl="0"/>
            <a:r>
              <a:rPr/>
              <a:t>Agents aren’t “write once and forget”</a:t>
            </a:r>
          </a:p>
          <a:p>
            <a:pPr lvl="0" indent="0" marL="0">
              <a:buNone/>
            </a:pPr>
          </a:p>
          <a:p>
            <a:pPr lvl="0"/>
            <a:r>
              <a:rPr/>
              <a:t>Monitor what they produce</a:t>
            </a:r>
          </a:p>
          <a:p>
            <a:pPr lvl="0" indent="0" marL="0">
              <a:buNone/>
            </a:pPr>
          </a:p>
          <a:p>
            <a:pPr lvl="0"/>
            <a:r>
              <a:rPr/>
              <a:t>Collect feedback from team</a:t>
            </a:r>
          </a:p>
          <a:p>
            <a:pPr lvl="0" indent="0" marL="0">
              <a:buNone/>
            </a:pPr>
          </a:p>
          <a:p>
            <a:pPr lvl="0"/>
            <a:r>
              <a:rPr/>
              <a:t>Refine instructions based on real usage</a:t>
            </a:r>
          </a:p>
          <a:p>
            <a:pPr lvl="0" indent="0" marL="0">
              <a:buNone/>
            </a:pPr>
          </a:p>
          <a:p>
            <a:pPr lvl="0"/>
            <a:r>
              <a:rPr/>
              <a:t>Example iteration:</a:t>
            </a:r>
          </a:p>
          <a:p>
            <a:pPr lvl="0" indent="0" marL="0">
              <a:buNone/>
            </a:pPr>
          </a:p>
          <a:p>
            <a:pPr lvl="1"/>
            <a:r>
              <a:rPr/>
              <a:t>V1: “Write tests”</a:t>
            </a:r>
          </a:p>
          <a:p>
            <a:pPr lvl="0" indent="0" marL="0">
              <a:buNone/>
            </a:pPr>
          </a:p>
          <a:p>
            <a:pPr lvl="1"/>
            <a:r>
              <a:rPr/>
              <a:t>V2: “Write tests with descriptive names”</a:t>
            </a:r>
          </a:p>
          <a:p>
            <a:pPr lvl="0" indent="0" marL="0">
              <a:buNone/>
            </a:pPr>
          </a:p>
          <a:p>
            <a:pPr lvl="1"/>
            <a:r>
              <a:rPr/>
              <a:t>V3: “Write tests with descriptive names following pattern: describe-context-behavior”</a:t>
            </a:r>
          </a:p>
          <a:p>
            <a:pPr lvl="0" indent="0" marL="0">
              <a:buNone/>
            </a:pPr>
          </a:p>
          <a:p>
            <a:pPr lvl="1"/>
            <a:r>
              <a:rPr/>
              <a:t>V4: Add specific Jest matchers to prefer</a:t>
            </a:r>
          </a:p>
          <a:p>
            <a:pPr lvl="0" indent="0" marL="0">
              <a:buNone/>
            </a:pPr>
          </a:p>
          <a:p>
            <a:pPr lvl="0" indent="0" marL="0">
              <a:buNone/>
            </a:pPr>
            <a:r>
              <a:rPr b="1"/>
              <a:t>5. Share</a:t>
            </a:r>
            <a:r>
              <a:rPr/>
              <a:t>:</a:t>
            </a:r>
          </a:p>
          <a:p>
            <a:pPr lvl="0" indent="0" marL="0">
              <a:buNone/>
            </a:pPr>
          </a:p>
          <a:p>
            <a:pPr lvl="0"/>
            <a:r>
              <a:rPr/>
              <a:t>Don’t create duplicate agents across repos</a:t>
            </a:r>
          </a:p>
          <a:p>
            <a:pPr lvl="0" indent="0" marL="0">
              <a:buNone/>
            </a:pPr>
          </a:p>
          <a:p>
            <a:pPr lvl="0"/>
            <a:r>
              <a:rPr/>
              <a:t>Use organization-level agents for standards</a:t>
            </a:r>
          </a:p>
          <a:p>
            <a:pPr lvl="0" indent="0" marL="0">
              <a:buNone/>
            </a:pPr>
          </a:p>
          <a:p>
            <a:pPr lvl="0"/>
            <a:r>
              <a:rPr/>
              <a:t>Examples:</a:t>
            </a:r>
          </a:p>
          <a:p>
            <a:pPr lvl="0" indent="0" marL="0">
              <a:buNone/>
            </a:pPr>
          </a:p>
          <a:p>
            <a:pPr lvl="1"/>
            <a:r>
              <a:rPr/>
              <a:t>Code style checker (enforces org conventions)</a:t>
            </a:r>
          </a:p>
          <a:p>
            <a:pPr lvl="0" indent="0" marL="0">
              <a:buNone/>
            </a:pPr>
          </a:p>
          <a:p>
            <a:pPr lvl="1"/>
            <a:r>
              <a:rPr/>
              <a:t>Security reviewer (org security policies)</a:t>
            </a:r>
          </a:p>
          <a:p>
            <a:pPr lvl="0" indent="0" marL="0">
              <a:buNone/>
            </a:pPr>
          </a:p>
          <a:p>
            <a:pPr lvl="1"/>
            <a:r>
              <a:rPr/>
              <a:t>Doc generator (org documentation standards)</a:t>
            </a:r>
          </a:p>
          <a:p>
            <a:pPr lvl="0" indent="0" marL="0">
              <a:buNone/>
            </a:pPr>
          </a:p>
          <a:p>
            <a:pPr lvl="0"/>
            <a:r>
              <a:rPr/>
              <a:t>Benefits:</a:t>
            </a:r>
          </a:p>
          <a:p>
            <a:pPr lvl="0" indent="0" marL="0">
              <a:buNone/>
            </a:pPr>
          </a:p>
          <a:p>
            <a:pPr lvl="1"/>
            <a:r>
              <a:rPr/>
              <a:t>Consistency across projects</a:t>
            </a:r>
          </a:p>
          <a:p>
            <a:pPr lvl="0" indent="0" marL="0">
              <a:buNone/>
            </a:pPr>
          </a:p>
          <a:p>
            <a:pPr lvl="1"/>
            <a:r>
              <a:rPr/>
              <a:t>Single place to maintain</a:t>
            </a:r>
          </a:p>
          <a:p>
            <a:pPr lvl="0" indent="0" marL="0">
              <a:buNone/>
            </a:pPr>
          </a:p>
          <a:p>
            <a:pPr lvl="1"/>
            <a:r>
              <a:rPr/>
              <a:t>Easier onboarding</a:t>
            </a:r>
          </a:p>
          <a:p>
            <a:pPr lvl="0" indent="0" marL="0">
              <a:buNone/>
            </a:pPr>
          </a:p>
          <a:p>
            <a:pPr lvl="0" indent="0" marL="0">
              <a:buNone/>
            </a:pPr>
            <a:r>
              <a:rPr b="1"/>
              <a:t>6. Document</a:t>
            </a:r>
            <a:r>
              <a:rPr/>
              <a:t>:</a:t>
            </a:r>
          </a:p>
          <a:p>
            <a:pPr lvl="0" indent="0" marL="0">
              <a:buNone/>
            </a:pPr>
          </a:p>
          <a:p>
            <a:pPr lvl="0"/>
            <a:r>
              <a:rPr/>
              <a:t>Good description is crucial</a:t>
            </a:r>
          </a:p>
          <a:p>
            <a:pPr lvl="0" indent="0" marL="0">
              <a:buNone/>
            </a:pPr>
          </a:p>
          <a:p>
            <a:pPr lvl="0"/>
            <a:r>
              <a:rPr/>
              <a:t>Include examples in the agent markdown</a:t>
            </a:r>
          </a:p>
          <a:p>
            <a:pPr lvl="0" indent="0" marL="0">
              <a:buNone/>
            </a:pPr>
          </a:p>
          <a:p>
            <a:pPr lvl="0"/>
            <a:r>
              <a:rPr/>
              <a:t>Add usage instructions</a:t>
            </a:r>
          </a:p>
          <a:p>
            <a:pPr lvl="0" indent="0" marL="0">
              <a:buNone/>
            </a:pPr>
          </a:p>
          <a:p>
            <a:pPr lvl="0"/>
            <a:r>
              <a:rPr/>
              <a:t>Example:</a:t>
            </a:r>
          </a:p>
          <a:p>
            <a:pPr lvl="0" indent="0" marL="0">
              <a:buNone/>
            </a:pPr>
          </a:p>
          <a:p>
            <a:pPr lvl="1" indent="0">
              <a:buNone/>
            </a:pPr>
            <a:r>
              <a:rPr>
                <a:solidFill>
                  <a:srgbClr val="06287E"/>
                </a:solidFill>
                <a:latin typeface="Courier"/>
              </a:rPr>
              <a:t>## Usage Examples</a:t>
            </a:r>
            <a:br/>
            <a:br/>
            <a:r>
              <a:rPr>
                <a:latin typeface="Courier"/>
              </a:rPr>
              <a:t>❌ Bad: "Fix the tests"</a:t>
            </a:r>
            <a:br/>
            <a:r>
              <a:rPr>
                <a:latin typeface="Courier"/>
              </a:rPr>
              <a:t>✅ Good: "Add unit tests for the UserService class covering success and error cases"</a:t>
            </a:r>
            <a:br/>
            <a:br/>
            <a:r>
              <a:rPr>
                <a:latin typeface="Courier"/>
              </a:rPr>
              <a:t>❌ Bad: "Make it better"</a:t>
            </a:r>
            <a:br/>
            <a:r>
              <a:rPr>
                <a:latin typeface="Courier"/>
              </a:rPr>
              <a:t>✅ Good: "Increase test coverage for auth module to 80%"</a:t>
            </a:r>
          </a:p>
          <a:p>
            <a:pPr lvl="0" indent="0" marL="0">
              <a:buNone/>
            </a:pPr>
          </a:p>
          <a:p>
            <a:pPr lvl="0" indent="0" marL="0">
              <a:buNone/>
            </a:pPr>
            <a:r>
              <a:rPr b="1"/>
              <a:t>7. Test</a:t>
            </a:r>
            <a:r>
              <a:rPr/>
              <a:t>:</a:t>
            </a:r>
          </a:p>
          <a:p>
            <a:pPr lvl="0" indent="0" marL="0">
              <a:buNone/>
            </a:pPr>
          </a:p>
          <a:p>
            <a:pPr lvl="0"/>
            <a:r>
              <a:rPr/>
              <a:t>Try agent on sample tasks before team rollout</a:t>
            </a:r>
          </a:p>
          <a:p>
            <a:pPr lvl="0" indent="0" marL="0">
              <a:buNone/>
            </a:pPr>
          </a:p>
          <a:p>
            <a:pPr lvl="0"/>
            <a:r>
              <a:rPr/>
              <a:t>Test edge cases</a:t>
            </a:r>
          </a:p>
          <a:p>
            <a:pPr lvl="0" indent="0" marL="0">
              <a:buNone/>
            </a:pPr>
          </a:p>
          <a:p>
            <a:pPr lvl="0"/>
            <a:r>
              <a:rPr/>
              <a:t>Verify it respects boundaries</a:t>
            </a:r>
          </a:p>
          <a:p>
            <a:pPr lvl="0" indent="0" marL="0">
              <a:buNone/>
            </a:pPr>
          </a:p>
          <a:p>
            <a:pPr lvl="0"/>
            <a:r>
              <a:rPr/>
              <a:t>Check tool usage is appropriate</a:t>
            </a:r>
          </a:p>
          <a:p>
            <a:pPr lvl="0" indent="0" marL="0">
              <a:buNone/>
            </a:pPr>
          </a:p>
          <a:p>
            <a:pPr lvl="0"/>
            <a:r>
              <a:rPr/>
              <a:t>Get feedback from 2-3 team members first</a:t>
            </a:r>
          </a:p>
          <a:p>
            <a:pPr lvl="0" indent="0" marL="0">
              <a:buNone/>
            </a:pPr>
          </a:p>
          <a:p>
            <a:pPr lvl="0"/>
            <a:r>
              <a:rPr/>
              <a:t>Make it easy to rollback (version control!)</a:t>
            </a:r>
          </a:p>
          <a:p>
            <a:pPr lvl="0" indent="0" marL="0">
              <a:buNone/>
            </a:pPr>
          </a:p>
          <a:p>
            <a:pPr lvl="0" indent="0" marL="0">
              <a:buNone/>
            </a:pPr>
            <a:r>
              <a:rPr b="1"/>
              <a:t>Anti-Patterns to Avoid</a:t>
            </a:r>
            <a:r>
              <a:rPr/>
              <a:t>:</a:t>
            </a:r>
          </a:p>
          <a:p>
            <a:pPr lvl="0" indent="0" marL="0">
              <a:buNone/>
            </a:pPr>
          </a:p>
          <a:p>
            <a:pPr lvl="0"/>
            <a:r>
              <a:rPr b="1"/>
              <a:t>Too Generic</a:t>
            </a:r>
            <a:r>
              <a:rPr/>
              <a:t>: “Help with everything” - defeats the purpose</a:t>
            </a:r>
          </a:p>
          <a:p>
            <a:pPr lvl="0" indent="0" marL="0">
              <a:buNone/>
            </a:pPr>
          </a:p>
          <a:p>
            <a:pPr lvl="0"/>
            <a:r>
              <a:rPr b="1"/>
              <a:t>Too Narrow</a:t>
            </a:r>
            <a:r>
              <a:rPr/>
              <a:t>: “Only fix typos in README” - waste of an agent</a:t>
            </a:r>
          </a:p>
          <a:p>
            <a:pPr lvl="0" indent="0" marL="0">
              <a:buNone/>
            </a:pPr>
          </a:p>
          <a:p>
            <a:pPr lvl="0"/>
            <a:r>
              <a:rPr b="1"/>
              <a:t>No Constraints</a:t>
            </a:r>
            <a:r>
              <a:rPr/>
              <a:t>: All tools enabled, no guidelines - unpredictable</a:t>
            </a:r>
          </a:p>
          <a:p>
            <a:pPr lvl="0" indent="0" marL="0">
              <a:buNone/>
            </a:pPr>
          </a:p>
          <a:p>
            <a:pPr lvl="0"/>
            <a:r>
              <a:rPr b="1"/>
              <a:t>Copy-Paste</a:t>
            </a:r>
            <a:r>
              <a:rPr/>
              <a:t>: Duplicating built-in agents - adds confusion</a:t>
            </a:r>
          </a:p>
          <a:p>
            <a:pPr lvl="0" indent="0" marL="0">
              <a:buNone/>
            </a:pPr>
          </a:p>
          <a:p>
            <a:pPr lvl="0"/>
            <a:r>
              <a:rPr b="1"/>
              <a:t>Set and Forget</a:t>
            </a:r>
            <a:r>
              <a:rPr/>
              <a:t>: Never updating based on experience</a:t>
            </a:r>
          </a:p>
          <a:p>
            <a:pPr lvl="0" indent="0" marL="0">
              <a:buNone/>
            </a:pPr>
          </a:p>
          <a:p>
            <a:pPr lvl="0"/>
            <a:r>
              <a:rPr b="1"/>
              <a:t>No Testing</a:t>
            </a:r>
            <a:r>
              <a:rPr/>
              <a:t>: Rolling out to team without validation</a:t>
            </a:r>
          </a:p>
          <a:p>
            <a:pPr lvl="0" indent="0" marL="0">
              <a:buNone/>
            </a:pPr>
          </a:p>
          <a:p>
            <a:pPr lvl="0" indent="0" marL="0">
              <a:buNone/>
            </a:pPr>
            <a:r>
              <a:rPr b="1"/>
              <a:t>Success Metrics</a:t>
            </a:r>
            <a:r>
              <a:rPr/>
              <a:t>:</a:t>
            </a:r>
          </a:p>
          <a:p>
            <a:pPr lvl="0" indent="0" marL="0">
              <a:buNone/>
            </a:pPr>
          </a:p>
          <a:p>
            <a:pPr lvl="0"/>
            <a:r>
              <a:rPr/>
              <a:t>Time saved on repetitive tasks</a:t>
            </a:r>
          </a:p>
          <a:p>
            <a:pPr lvl="0" indent="0" marL="0">
              <a:buNone/>
            </a:pPr>
          </a:p>
          <a:p>
            <a:pPr lvl="0"/>
            <a:r>
              <a:rPr/>
              <a:t>Consistency in output quality</a:t>
            </a:r>
          </a:p>
          <a:p>
            <a:pPr lvl="0" indent="0" marL="0">
              <a:buNone/>
            </a:pPr>
          </a:p>
          <a:p>
            <a:pPr lvl="0"/>
            <a:r>
              <a:rPr/>
              <a:t>Reduction in review comments for that area</a:t>
            </a:r>
          </a:p>
          <a:p>
            <a:pPr lvl="0" indent="0" marL="0">
              <a:buNone/>
            </a:pPr>
          </a:p>
          <a:p>
            <a:pPr lvl="0"/>
            <a:r>
              <a:rPr/>
              <a:t>Team adoption rate</a:t>
            </a:r>
          </a:p>
          <a:p>
            <a:pPr lvl="0" indent="0" marL="0">
              <a:buNone/>
            </a:pPr>
          </a:p>
          <a:p>
            <a:pPr lvl="0"/>
            <a:r>
              <a:rPr/>
              <a:t>Positive feedback from users</a:t>
            </a:r>
          </a:p>
          <a:p>
            <a:pPr lvl="0" indent="0" marL="0">
              <a:buNone/>
            </a:pPr>
          </a:p>
          <a:p>
            <a:pPr lvl="0" indent="0" marL="0">
              <a:buNone/>
            </a:pPr>
            <a:r>
              <a:rPr b="1"/>
              <a:t>Transition</a:t>
            </a:r>
            <a:r>
              <a:rPr/>
              <a:t>: “You now have everything you need to create your first custom agent. Here are resources to dive deeper.”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Final Slide Notes</a:t>
            </a:r>
            <a:r>
              <a:rPr/>
              <a:t>:</a:t>
            </a:r>
          </a:p>
          <a:p>
            <a:pPr lvl="0" indent="0" marL="0">
              <a:buNone/>
            </a:pPr>
          </a:p>
          <a:p>
            <a:pPr lvl="0" indent="0" marL="0">
              <a:buNone/>
            </a:pPr>
            <a:r>
              <a:rPr b="1"/>
              <a:t>Timing</a:t>
            </a:r>
            <a:r>
              <a:rPr/>
              <a:t>: 5-10 minutes for Q&amp;A</a:t>
            </a:r>
          </a:p>
          <a:p>
            <a:pPr lvl="0" indent="0" marL="0">
              <a:buNone/>
            </a:pPr>
          </a:p>
          <a:p>
            <a:pPr lvl="0" indent="0" marL="0">
              <a:buNone/>
            </a:pPr>
            <a:r>
              <a:rPr b="1"/>
              <a:t>Q&amp;A Facilitation Tips</a:t>
            </a:r>
            <a:r>
              <a:rPr/>
              <a:t>:</a:t>
            </a:r>
          </a:p>
          <a:p>
            <a:pPr lvl="0" indent="0" marL="0">
              <a:buNone/>
            </a:pPr>
          </a:p>
          <a:p>
            <a:pPr lvl="0" indent="-342900" marL="342900">
              <a:buAutoNum type="arabicPeriod"/>
            </a:pPr>
            <a:r>
              <a:rPr b="1"/>
              <a:t>Repeat Questions</a:t>
            </a:r>
            <a:r>
              <a:rPr/>
              <a:t>: Ensure entire audience hears</a:t>
            </a:r>
          </a:p>
          <a:p>
            <a:pPr lvl="0" indent="0" marL="0">
              <a:buNone/>
            </a:pPr>
          </a:p>
          <a:p>
            <a:pPr lvl="0" indent="-342900" marL="342900">
              <a:buAutoNum type="arabicPeriod"/>
            </a:pPr>
            <a:r>
              <a:rPr b="1"/>
              <a:t>Validate</a:t>
            </a:r>
            <a:r>
              <a:rPr/>
              <a:t>: “That’s a great question…”</a:t>
            </a:r>
          </a:p>
          <a:p>
            <a:pPr lvl="0" indent="0" marL="0">
              <a:buNone/>
            </a:pPr>
          </a:p>
          <a:p>
            <a:pPr lvl="0" indent="-342900" marL="342900">
              <a:buAutoNum type="arabicPeriod"/>
            </a:pPr>
            <a:r>
              <a:rPr b="1"/>
              <a:t>Bridge</a:t>
            </a:r>
            <a:r>
              <a:rPr/>
              <a:t>: Connect to content covered</a:t>
            </a:r>
          </a:p>
          <a:p>
            <a:pPr lvl="0" indent="0" marL="0">
              <a:buNone/>
            </a:pPr>
          </a:p>
          <a:p>
            <a:pPr lvl="0" indent="-342900" marL="342900">
              <a:buAutoNum type="arabicPeriod"/>
            </a:pPr>
            <a:r>
              <a:rPr b="1"/>
              <a:t>Offer Follow-Up</a:t>
            </a:r>
            <a:r>
              <a:rPr/>
              <a:t>: “Let’s discuss after session”</a:t>
            </a:r>
          </a:p>
          <a:p>
            <a:pPr lvl="0" indent="0" marL="0">
              <a:buNone/>
            </a:pPr>
          </a:p>
          <a:p>
            <a:pPr lvl="0" indent="0" marL="0">
              <a:buNone/>
            </a:pPr>
            <a:r>
              <a:rPr b="1"/>
              <a:t>Likely Questions &amp; Answers</a:t>
            </a:r>
            <a:r>
              <a:rPr/>
              <a:t>:</a:t>
            </a:r>
          </a:p>
          <a:p>
            <a:pPr lvl="0" indent="0" marL="0">
              <a:buNone/>
            </a:pPr>
          </a:p>
          <a:p>
            <a:pPr lvl="0" indent="0" marL="0">
              <a:buNone/>
            </a:pPr>
            <a:r>
              <a:rPr b="1"/>
              <a:t>Q: Can I version control my agents?</a:t>
            </a:r>
            <a:r>
              <a:rPr/>
              <a:t> A: Yes! They’re just markdown files in your repo. Use git branches, tags, etc.</a:t>
            </a:r>
          </a:p>
          <a:p>
            <a:pPr lvl="0" indent="0" marL="0">
              <a:buNone/>
            </a:pPr>
          </a:p>
          <a:p>
            <a:pPr lvl="0" indent="0" marL="0">
              <a:buNone/>
            </a:pPr>
            <a:r>
              <a:rPr b="1"/>
              <a:t>Q: How do I test changes before rolling out to team?</a:t>
            </a:r>
            <a:r>
              <a:rPr/>
              <a:t> A: Create in a feature branch, test locally in your IDE, then merge when ready.</a:t>
            </a:r>
          </a:p>
          <a:p>
            <a:pPr lvl="0" indent="0" marL="0">
              <a:buNone/>
            </a:pPr>
          </a:p>
          <a:p>
            <a:pPr lvl="0" indent="0" marL="0">
              <a:buNone/>
            </a:pPr>
            <a:r>
              <a:rPr b="1"/>
              <a:t>Q: Can I use secrets/API keys in agents?</a:t>
            </a:r>
            <a:r>
              <a:rPr/>
              <a:t> A: No, never hardcode secrets. Reference environment variables or use GitHub secrets.</a:t>
            </a:r>
          </a:p>
          <a:p>
            <a:pPr lvl="0" indent="0" marL="0">
              <a:buNone/>
            </a:pPr>
          </a:p>
          <a:p>
            <a:pPr lvl="0" indent="0" marL="0">
              <a:buNone/>
            </a:pPr>
            <a:r>
              <a:rPr b="1"/>
              <a:t>Q: What’s the difference between custom agents and agents?</a:t>
            </a:r>
            <a:r>
              <a:rPr/>
              <a:t> A: Agents are the general feature. “Custom agents” are user- or org-defined. “Built-in agents” like coding agent are from GitHub.</a:t>
            </a:r>
          </a:p>
          <a:p>
            <a:pPr lvl="0" indent="0" marL="0">
              <a:buNone/>
            </a:pPr>
          </a:p>
          <a:p>
            <a:pPr lvl="0" indent="0" marL="0">
              <a:buNone/>
            </a:pPr>
            <a:r>
              <a:rPr b="1"/>
              <a:t>Q: Do agents work offline?</a:t>
            </a:r>
            <a:r>
              <a:rPr/>
              <a:t> A: No, they require GitHub Copilot API access.</a:t>
            </a:r>
          </a:p>
          <a:p>
            <a:pPr lvl="0" indent="0" marL="0">
              <a:buNone/>
            </a:pPr>
          </a:p>
          <a:p>
            <a:pPr lvl="0" indent="0" marL="0">
              <a:buNone/>
            </a:pPr>
            <a:r>
              <a:rPr b="1"/>
              <a:t>Q: Can I charge for my agents?</a:t>
            </a:r>
            <a:r>
              <a:rPr/>
              <a:t> A: Agents themselves are free. You could offer consulting/implementation services.</a:t>
            </a:r>
          </a:p>
          <a:p>
            <a:pPr lvl="0" indent="0" marL="0">
              <a:buNone/>
            </a:pPr>
          </a:p>
          <a:p>
            <a:pPr lvl="0" indent="0" marL="0">
              <a:buNone/>
            </a:pPr>
            <a:r>
              <a:rPr b="1"/>
              <a:t>Q: How do I debug agent behavior?</a:t>
            </a:r>
            <a:r>
              <a:rPr/>
              <a:t> A: Check the instructions, verify tools list, test with specific prompts, iterate.</a:t>
            </a:r>
          </a:p>
          <a:p>
            <a:pPr lvl="0" indent="0" marL="0">
              <a:buNone/>
            </a:pPr>
          </a:p>
          <a:p>
            <a:pPr lvl="0" indent="0" marL="0">
              <a:buNone/>
            </a:pPr>
            <a:r>
              <a:rPr b="1"/>
              <a:t>Q: Can agents access my entire codebase?</a:t>
            </a:r>
            <a:r>
              <a:rPr/>
              <a:t> A: They use the tools you enable. “read” tool allows reading files. Restriction through tool selection.</a:t>
            </a:r>
          </a:p>
          <a:p>
            <a:pPr lvl="0" indent="0" marL="0">
              <a:buNone/>
            </a:pPr>
          </a:p>
          <a:p>
            <a:pPr lvl="0" indent="0" marL="0">
              <a:buNone/>
            </a:pPr>
            <a:r>
              <a:rPr b="1"/>
              <a:t>Follow-Up Actions</a:t>
            </a:r>
            <a:r>
              <a:rPr/>
              <a:t>:</a:t>
            </a:r>
          </a:p>
          <a:p>
            <a:pPr lvl="0" indent="0" marL="0">
              <a:buNone/>
            </a:pPr>
          </a:p>
          <a:p>
            <a:pPr lvl="0"/>
            <a:r>
              <a:rPr/>
              <a:t>Collect email addresses for resource sharing</a:t>
            </a:r>
          </a:p>
          <a:p>
            <a:pPr lvl="0" indent="0" marL="0">
              <a:buNone/>
            </a:pPr>
          </a:p>
          <a:p>
            <a:pPr lvl="0"/>
            <a:r>
              <a:rPr/>
              <a:t>Schedule office hours for hands-on help</a:t>
            </a:r>
          </a:p>
          <a:p>
            <a:pPr lvl="0" indent="0" marL="0">
              <a:buNone/>
            </a:pPr>
          </a:p>
          <a:p>
            <a:pPr lvl="0"/>
            <a:r>
              <a:rPr/>
              <a:t>Create Slack/Teams channel for ongoing discussion</a:t>
            </a:r>
          </a:p>
          <a:p>
            <a:pPr lvl="0" indent="0" marL="0">
              <a:buNone/>
            </a:pPr>
          </a:p>
          <a:p>
            <a:pPr lvl="0"/>
            <a:r>
              <a:rPr/>
              <a:t>Plan follow-up session for advanced topics</a:t>
            </a:r>
          </a:p>
          <a:p>
            <a:pPr lvl="0" indent="0" marL="0">
              <a:buNone/>
            </a:pPr>
          </a:p>
          <a:p>
            <a:pPr lvl="0" indent="0" marL="0">
              <a:buNone/>
            </a:pPr>
            <a:r>
              <a:rPr b="1"/>
              <a:t>Advanced Topics for Future Sessions</a:t>
            </a:r>
            <a:r>
              <a:rPr/>
              <a:t>:</a:t>
            </a:r>
          </a:p>
          <a:p>
            <a:pPr lvl="0" indent="0" marL="0">
              <a:buNone/>
            </a:pPr>
          </a:p>
          <a:p>
            <a:pPr lvl="0"/>
            <a:r>
              <a:rPr/>
              <a:t>MCP server integration</a:t>
            </a:r>
          </a:p>
          <a:p>
            <a:pPr lvl="0" indent="0" marL="0">
              <a:buNone/>
            </a:pPr>
          </a:p>
          <a:p>
            <a:pPr lvl="0"/>
            <a:r>
              <a:rPr/>
              <a:t>Multi-agent workflows</a:t>
            </a:r>
          </a:p>
          <a:p>
            <a:pPr lvl="0" indent="0" marL="0">
              <a:buNone/>
            </a:pPr>
          </a:p>
          <a:p>
            <a:pPr lvl="0"/>
            <a:r>
              <a:rPr/>
              <a:t>Organization governance</a:t>
            </a:r>
          </a:p>
          <a:p>
            <a:pPr lvl="0" indent="0" marL="0">
              <a:buNone/>
            </a:pPr>
          </a:p>
          <a:p>
            <a:pPr lvl="0"/>
            <a:r>
              <a:rPr/>
              <a:t>Metrics and monitoring</a:t>
            </a:r>
          </a:p>
          <a:p>
            <a:pPr lvl="0" indent="0" marL="0">
              <a:buNone/>
            </a:pPr>
          </a:p>
          <a:p>
            <a:pPr lvl="0"/>
            <a:r>
              <a:rPr/>
              <a:t>Agent templates and standards</a:t>
            </a:r>
          </a:p>
          <a:p>
            <a:pPr lvl="0" indent="0" marL="0">
              <a:buNone/>
            </a:pPr>
          </a:p>
          <a:p>
            <a:pPr lvl="0" indent="0" marL="0">
              <a:buNone/>
            </a:pPr>
            <a:r>
              <a:rPr b="1"/>
              <a:t>Closing</a:t>
            </a:r>
            <a:r>
              <a:rPr/>
              <a:t>: “Thank you all for attending! Remember: the best way to learn is by doing. Create your first agent this week, and don’t hesitate to reach out if you hit any blockers. Happy coding!”</a:t>
            </a:r>
          </a:p>
          <a:p>
            <a:pPr lvl="0" indent="0" marL="0">
              <a:buNone/>
            </a:pPr>
          </a:p>
          <a:p>
            <a:pPr lvl="0" indent="0" marL="0">
              <a:buNone/>
            </a:pPr>
            <a:r>
              <a:rPr b="1"/>
              <a:t>Timing</a:t>
            </a:r>
            <a:r>
              <a:rPr/>
              <a:t>: 2-3 minutes for closing</a:t>
            </a:r>
          </a:p>
          <a:p>
            <a:pPr lvl="0" indent="0" marL="0">
              <a:buNone/>
            </a:pPr>
          </a:p>
          <a:p>
            <a:pPr lvl="0" indent="0" marL="0">
              <a:buNone/>
            </a:pPr>
            <a:r>
              <a:rPr b="1"/>
              <a:t>Resource Walkthrough</a:t>
            </a:r>
            <a:r>
              <a:rPr/>
              <a:t>:</a:t>
            </a:r>
          </a:p>
          <a:p>
            <a:pPr lvl="0" indent="0" marL="0">
              <a:buNone/>
            </a:pPr>
          </a:p>
          <a:p>
            <a:pPr lvl="0" indent="0" marL="0">
              <a:buNone/>
            </a:pPr>
            <a:r>
              <a:rPr b="1"/>
              <a:t>Your First Custom Agent Tutorial</a:t>
            </a:r>
            <a:r>
              <a:rPr/>
              <a:t>:</a:t>
            </a:r>
          </a:p>
          <a:p>
            <a:pPr lvl="0" indent="0" marL="0">
              <a:buNone/>
            </a:pPr>
          </a:p>
          <a:p>
            <a:pPr lvl="0"/>
            <a:r>
              <a:rPr/>
              <a:t>Step-by-step hands-on guide</a:t>
            </a:r>
          </a:p>
          <a:p>
            <a:pPr lvl="0" indent="0" marL="0">
              <a:buNone/>
            </a:pPr>
          </a:p>
          <a:p>
            <a:pPr lvl="0"/>
            <a:r>
              <a:rPr/>
              <a:t>Creates a working agent from scratch</a:t>
            </a:r>
          </a:p>
          <a:p>
            <a:pPr lvl="0" indent="0" marL="0">
              <a:buNone/>
            </a:pPr>
          </a:p>
          <a:p>
            <a:pPr lvl="0"/>
            <a:r>
              <a:rPr/>
              <a:t>Best starting point for beginners</a:t>
            </a:r>
          </a:p>
          <a:p>
            <a:pPr lvl="0" indent="0" marL="0">
              <a:buNone/>
            </a:pPr>
          </a:p>
          <a:p>
            <a:pPr lvl="0"/>
            <a:r>
              <a:rPr/>
              <a:t>Estimated time: 15-30 minutes</a:t>
            </a:r>
          </a:p>
          <a:p>
            <a:pPr lvl="0" indent="0" marL="0">
              <a:buNone/>
            </a:pPr>
          </a:p>
          <a:p>
            <a:pPr lvl="0" indent="0" marL="0">
              <a:buNone/>
            </a:pPr>
            <a:r>
              <a:rPr b="1"/>
              <a:t>Custom Agents Configuration Reference</a:t>
            </a:r>
            <a:r>
              <a:rPr/>
              <a:t>:</a:t>
            </a:r>
          </a:p>
          <a:p>
            <a:pPr lvl="0" indent="0" marL="0">
              <a:buNone/>
            </a:pPr>
          </a:p>
          <a:p>
            <a:pPr lvl="0"/>
            <a:r>
              <a:rPr/>
              <a:t>Complete YAML property documentation</a:t>
            </a:r>
          </a:p>
          <a:p>
            <a:pPr lvl="0" indent="0" marL="0">
              <a:buNone/>
            </a:pPr>
          </a:p>
          <a:p>
            <a:pPr lvl="0"/>
            <a:r>
              <a:rPr/>
              <a:t>All available tool names</a:t>
            </a:r>
          </a:p>
          <a:p>
            <a:pPr lvl="0" indent="0" marL="0">
              <a:buNone/>
            </a:pPr>
          </a:p>
          <a:p>
            <a:pPr lvl="0"/>
            <a:r>
              <a:rPr/>
              <a:t>MCP server configuration</a:t>
            </a:r>
          </a:p>
          <a:p>
            <a:pPr lvl="0" indent="0" marL="0">
              <a:buNone/>
            </a:pPr>
          </a:p>
          <a:p>
            <a:pPr lvl="0"/>
            <a:r>
              <a:rPr/>
              <a:t>Target environment specifics</a:t>
            </a:r>
          </a:p>
          <a:p>
            <a:pPr lvl="0" indent="0" marL="0">
              <a:buNone/>
            </a:pPr>
          </a:p>
          <a:p>
            <a:pPr lvl="0"/>
            <a:r>
              <a:rPr/>
              <a:t>Use this when fine-tuning existing agents</a:t>
            </a:r>
          </a:p>
          <a:p>
            <a:pPr lvl="0" indent="0" marL="0">
              <a:buNone/>
            </a:pPr>
          </a:p>
          <a:p>
            <a:pPr lvl="0" indent="0" marL="0">
              <a:buNone/>
            </a:pPr>
            <a:r>
              <a:rPr b="1"/>
              <a:t>Customization Library</a:t>
            </a:r>
            <a:r>
              <a:rPr/>
              <a:t>:</a:t>
            </a:r>
          </a:p>
          <a:p>
            <a:pPr lvl="0" indent="0" marL="0">
              <a:buNone/>
            </a:pPr>
          </a:p>
          <a:p>
            <a:pPr lvl="0"/>
            <a:r>
              <a:rPr/>
              <a:t>Curated examples from GitHub</a:t>
            </a:r>
          </a:p>
          <a:p>
            <a:pPr lvl="0" indent="0" marL="0">
              <a:buNone/>
            </a:pPr>
          </a:p>
          <a:p>
            <a:pPr lvl="0"/>
            <a:r>
              <a:rPr/>
              <a:t>Covers common scenarios:</a:t>
            </a:r>
          </a:p>
          <a:p>
            <a:pPr lvl="0" indent="0" marL="0">
              <a:buNone/>
            </a:pPr>
          </a:p>
          <a:p>
            <a:pPr lvl="1"/>
            <a:r>
              <a:rPr/>
              <a:t>Code review specialists</a:t>
            </a:r>
          </a:p>
          <a:p>
            <a:pPr lvl="0" indent="0" marL="0">
              <a:buNone/>
            </a:pPr>
          </a:p>
          <a:p>
            <a:pPr lvl="1"/>
            <a:r>
              <a:rPr/>
              <a:t>Documentation generators</a:t>
            </a:r>
          </a:p>
          <a:p>
            <a:pPr lvl="0" indent="0" marL="0">
              <a:buNone/>
            </a:pPr>
          </a:p>
          <a:p>
            <a:pPr lvl="1"/>
            <a:r>
              <a:rPr/>
              <a:t>Test coverage improvers</a:t>
            </a:r>
          </a:p>
          <a:p>
            <a:pPr lvl="0" indent="0" marL="0">
              <a:buNone/>
            </a:pPr>
          </a:p>
          <a:p>
            <a:pPr lvl="1"/>
            <a:r>
              <a:rPr/>
              <a:t>Security analyzers</a:t>
            </a:r>
          </a:p>
          <a:p>
            <a:pPr lvl="0" indent="0" marL="0">
              <a:buNone/>
            </a:pPr>
          </a:p>
          <a:p>
            <a:pPr lvl="0"/>
            <a:r>
              <a:rPr/>
              <a:t>Copy, customize, deploy</a:t>
            </a:r>
          </a:p>
          <a:p>
            <a:pPr lvl="0" indent="0" marL="0">
              <a:buNone/>
            </a:pPr>
          </a:p>
          <a:p>
            <a:pPr lvl="0" indent="0" marL="0">
              <a:buNone/>
            </a:pPr>
            <a:r>
              <a:rPr b="1"/>
              <a:t>Awesome Copilot Collection</a:t>
            </a:r>
            <a:r>
              <a:rPr/>
              <a:t>:</a:t>
            </a:r>
          </a:p>
          <a:p>
            <a:pPr lvl="0" indent="0" marL="0">
              <a:buNone/>
            </a:pPr>
          </a:p>
          <a:p>
            <a:pPr lvl="0"/>
            <a:r>
              <a:rPr/>
              <a:t>Community-contributed agents</a:t>
            </a:r>
          </a:p>
          <a:p>
            <a:pPr lvl="0" indent="0" marL="0">
              <a:buNone/>
            </a:pPr>
          </a:p>
          <a:p>
            <a:pPr lvl="0"/>
            <a:r>
              <a:rPr/>
              <a:t>Wide variety of use cases</a:t>
            </a:r>
          </a:p>
          <a:p>
            <a:pPr lvl="0" indent="0" marL="0">
              <a:buNone/>
            </a:pPr>
          </a:p>
          <a:p>
            <a:pPr lvl="0"/>
            <a:r>
              <a:rPr/>
              <a:t>Not officially supported but often high quality</a:t>
            </a:r>
          </a:p>
          <a:p>
            <a:pPr lvl="0" indent="0" marL="0">
              <a:buNone/>
            </a:pPr>
          </a:p>
          <a:p>
            <a:pPr lvl="0"/>
            <a:r>
              <a:rPr/>
              <a:t>Great for inspiration</a:t>
            </a:r>
          </a:p>
          <a:p>
            <a:pPr lvl="0" indent="0" marL="0">
              <a:buNone/>
            </a:pPr>
          </a:p>
          <a:p>
            <a:pPr lvl="0"/>
            <a:r>
              <a:rPr/>
              <a:t>Can find niche/specialized agents</a:t>
            </a:r>
          </a:p>
          <a:p>
            <a:pPr lvl="0" indent="0" marL="0">
              <a:buNone/>
            </a:pPr>
          </a:p>
          <a:p>
            <a:pPr lvl="0" indent="0" marL="0">
              <a:buNone/>
            </a:pPr>
            <a:r>
              <a:rPr b="1"/>
              <a:t>Actionable First Steps</a:t>
            </a:r>
            <a:r>
              <a:rPr/>
              <a:t>:</a:t>
            </a:r>
          </a:p>
          <a:p>
            <a:pPr lvl="0" indent="0" marL="0">
              <a:buNone/>
            </a:pPr>
          </a:p>
          <a:p>
            <a:pPr lvl="0" indent="0" marL="0">
              <a:buNone/>
            </a:pPr>
            <a:r>
              <a:rPr b="1"/>
              <a:t>Immediate (Next 30 Minutes)</a:t>
            </a:r>
            <a:r>
              <a:rPr/>
              <a:t>:</a:t>
            </a:r>
          </a:p>
          <a:p>
            <a:pPr lvl="0" indent="0" marL="0">
              <a:buNone/>
            </a:pPr>
          </a:p>
          <a:p>
            <a:pPr lvl="0" indent="-342900" marL="342900">
              <a:buAutoNum type="arabicPeriod"/>
            </a:pPr>
            <a:r>
              <a:rPr/>
              <a:t>Go to github.com/copilot/agents</a:t>
            </a:r>
          </a:p>
          <a:p>
            <a:pPr lvl="0" indent="0" marL="0">
              <a:buNone/>
            </a:pPr>
          </a:p>
          <a:p>
            <a:pPr lvl="0" indent="-342900" marL="342900">
              <a:buAutoNum type="arabicPeriod"/>
            </a:pPr>
            <a:r>
              <a:rPr/>
              <a:t>Create a simple “hello world” agent</a:t>
            </a:r>
          </a:p>
          <a:p>
            <a:pPr lvl="0" indent="0" marL="0">
              <a:buNone/>
            </a:pPr>
          </a:p>
          <a:p>
            <a:pPr lvl="0" indent="-342900" marL="342900">
              <a:buAutoNum type="arabicPeriod"/>
            </a:pPr>
            <a:r>
              <a:rPr/>
              <a:t>Test it with a basic task</a:t>
            </a:r>
          </a:p>
          <a:p>
            <a:pPr lvl="0" indent="0" marL="0">
              <a:buNone/>
            </a:pPr>
          </a:p>
          <a:p>
            <a:pPr lvl="0" indent="-342900" marL="342900">
              <a:buAutoNum type="arabicPeriod"/>
            </a:pPr>
            <a:r>
              <a:rPr/>
              <a:t>Verify it appears in dropdown</a:t>
            </a:r>
          </a:p>
          <a:p>
            <a:pPr lvl="0" indent="0" marL="0">
              <a:buNone/>
            </a:pPr>
          </a:p>
          <a:p>
            <a:pPr lvl="0" indent="0" marL="0">
              <a:buNone/>
            </a:pPr>
            <a:r>
              <a:rPr b="1"/>
              <a:t>Short Term (This Week)</a:t>
            </a:r>
            <a:r>
              <a:rPr/>
              <a:t>:</a:t>
            </a:r>
          </a:p>
          <a:p>
            <a:pPr lvl="0" indent="0" marL="0">
              <a:buNone/>
            </a:pPr>
          </a:p>
          <a:p>
            <a:pPr lvl="0" indent="-342900" marL="342900">
              <a:buAutoNum type="arabicPeriod"/>
            </a:pPr>
            <a:r>
              <a:rPr/>
              <a:t>Identify one repetitive task in your workflow</a:t>
            </a:r>
          </a:p>
          <a:p>
            <a:pPr lvl="0" indent="0" marL="0">
              <a:buNone/>
            </a:pPr>
          </a:p>
          <a:p>
            <a:pPr lvl="0" indent="-342900" marL="342900">
              <a:buAutoNum type="arabicPeriod"/>
            </a:pPr>
            <a:r>
              <a:rPr/>
              <a:t>Create a specialized agent for it</a:t>
            </a:r>
          </a:p>
          <a:p>
            <a:pPr lvl="0" indent="0" marL="0">
              <a:buNone/>
            </a:pPr>
          </a:p>
          <a:p>
            <a:pPr lvl="0" indent="-342900" marL="342900">
              <a:buAutoNum type="arabicPeriod"/>
            </a:pPr>
            <a:r>
              <a:rPr/>
              <a:t>Use it for 5-10 real tasks</a:t>
            </a:r>
          </a:p>
          <a:p>
            <a:pPr lvl="0" indent="0" marL="0">
              <a:buNone/>
            </a:pPr>
          </a:p>
          <a:p>
            <a:pPr lvl="0" indent="-342900" marL="342900">
              <a:buAutoNum type="arabicPeriod"/>
            </a:pPr>
            <a:r>
              <a:rPr/>
              <a:t>Note what works and what doesn’t</a:t>
            </a:r>
          </a:p>
          <a:p>
            <a:pPr lvl="0" indent="0" marL="0">
              <a:buNone/>
            </a:pPr>
          </a:p>
          <a:p>
            <a:pPr lvl="0" indent="0" marL="0">
              <a:buNone/>
            </a:pPr>
            <a:r>
              <a:rPr b="1"/>
              <a:t>Medium Term (This Month)</a:t>
            </a:r>
            <a:r>
              <a:rPr/>
              <a:t>:</a:t>
            </a:r>
          </a:p>
          <a:p>
            <a:pPr lvl="0" indent="0" marL="0">
              <a:buNone/>
            </a:pPr>
          </a:p>
          <a:p>
            <a:pPr lvl="0" indent="-342900" marL="342900">
              <a:buAutoNum type="arabicPeriod"/>
            </a:pPr>
            <a:r>
              <a:rPr/>
              <a:t>Refine your agent based on usage</a:t>
            </a:r>
          </a:p>
          <a:p>
            <a:pPr lvl="0" indent="0" marL="0">
              <a:buNone/>
            </a:pPr>
          </a:p>
          <a:p>
            <a:pPr lvl="0" indent="-342900" marL="342900">
              <a:buAutoNum type="arabicPeriod"/>
            </a:pPr>
            <a:r>
              <a:rPr/>
              <a:t>Share with team for feedback</a:t>
            </a:r>
          </a:p>
          <a:p>
            <a:pPr lvl="0" indent="0" marL="0">
              <a:buNone/>
            </a:pPr>
          </a:p>
          <a:p>
            <a:pPr lvl="0" indent="-342900" marL="342900">
              <a:buAutoNum type="arabicPeriod"/>
            </a:pPr>
            <a:r>
              <a:rPr/>
              <a:t>Create 2-3 more agents for other tasks</a:t>
            </a:r>
          </a:p>
          <a:p>
            <a:pPr lvl="0" indent="0" marL="0">
              <a:buNone/>
            </a:pPr>
          </a:p>
          <a:p>
            <a:pPr lvl="0" indent="-342900" marL="342900">
              <a:buAutoNum type="arabicPeriod"/>
            </a:pPr>
            <a:r>
              <a:rPr/>
              <a:t>Document usage patterns</a:t>
            </a:r>
          </a:p>
          <a:p>
            <a:pPr lvl="0" indent="0" marL="0">
              <a:buNone/>
            </a:pPr>
          </a:p>
          <a:p>
            <a:pPr lvl="0" indent="0" marL="0">
              <a:buNone/>
            </a:pPr>
            <a:r>
              <a:rPr b="1"/>
              <a:t>Long Term (This Quarter)</a:t>
            </a:r>
            <a:r>
              <a:rPr/>
              <a:t>:</a:t>
            </a:r>
          </a:p>
          <a:p>
            <a:pPr lvl="0" indent="0" marL="0">
              <a:buNone/>
            </a:pPr>
          </a:p>
          <a:p>
            <a:pPr lvl="0" indent="-342900" marL="342900">
              <a:buAutoNum type="arabicPeriod"/>
            </a:pPr>
            <a:r>
              <a:rPr/>
              <a:t>Build agent library for common team tasks</a:t>
            </a:r>
          </a:p>
          <a:p>
            <a:pPr lvl="0" indent="0" marL="0">
              <a:buNone/>
            </a:pPr>
          </a:p>
          <a:p>
            <a:pPr lvl="0" indent="-342900" marL="342900">
              <a:buAutoNum type="arabicPeriod"/>
            </a:pPr>
            <a:r>
              <a:rPr/>
              <a:t>Create organization-level agents for standards</a:t>
            </a:r>
          </a:p>
          <a:p>
            <a:pPr lvl="0" indent="0" marL="0">
              <a:buNone/>
            </a:pPr>
          </a:p>
          <a:p>
            <a:pPr lvl="0" indent="-342900" marL="342900">
              <a:buAutoNum type="arabicPeriod"/>
            </a:pPr>
            <a:r>
              <a:rPr/>
              <a:t>Train team on agent selection and usage</a:t>
            </a:r>
          </a:p>
          <a:p>
            <a:pPr lvl="0" indent="0" marL="0">
              <a:buNone/>
            </a:pPr>
          </a:p>
          <a:p>
            <a:pPr lvl="0" indent="-342900" marL="342900">
              <a:buAutoNum type="arabicPeriod"/>
            </a:pPr>
            <a:r>
              <a:rPr/>
              <a:t>Measure impact on productivity</a:t>
            </a:r>
          </a:p>
          <a:p>
            <a:pPr lvl="0" indent="0" marL="0">
              <a:buNone/>
            </a:pPr>
          </a:p>
          <a:p>
            <a:pPr lvl="0" indent="0" marL="0">
              <a:buNone/>
            </a:pPr>
            <a:r>
              <a:rPr b="1"/>
              <a:t>Quick Win Ideas</a:t>
            </a:r>
            <a:r>
              <a:rPr/>
              <a:t>:</a:t>
            </a:r>
          </a:p>
          <a:p>
            <a:pPr lvl="0" indent="0" marL="0">
              <a:buNone/>
            </a:pPr>
          </a:p>
          <a:p>
            <a:pPr lvl="0" indent="0" marL="0">
              <a:buNone/>
            </a:pPr>
            <a:r>
              <a:rPr/>
              <a:t>For Individual Developers:</a:t>
            </a:r>
          </a:p>
          <a:p>
            <a:pPr lvl="0" indent="0" marL="0">
              <a:buNone/>
            </a:pPr>
          </a:p>
          <a:p>
            <a:pPr lvl="0"/>
            <a:r>
              <a:rPr/>
              <a:t>Personal productivity agent (time tracking, TODO management)</a:t>
            </a:r>
          </a:p>
          <a:p>
            <a:pPr lvl="0" indent="0" marL="0">
              <a:buNone/>
            </a:pPr>
          </a:p>
          <a:p>
            <a:pPr lvl="0"/>
            <a:r>
              <a:rPr/>
              <a:t>Learning agent (explains unfamiliar code patterns)</a:t>
            </a:r>
          </a:p>
          <a:p>
            <a:pPr lvl="0" indent="0" marL="0">
              <a:buNone/>
            </a:pPr>
          </a:p>
          <a:p>
            <a:pPr lvl="0"/>
            <a:r>
              <a:rPr/>
              <a:t>Code quality agent (checks style before commit)</a:t>
            </a:r>
          </a:p>
          <a:p>
            <a:pPr lvl="0" indent="0" marL="0">
              <a:buNone/>
            </a:pPr>
          </a:p>
          <a:p>
            <a:pPr lvl="0" indent="0" marL="0">
              <a:buNone/>
            </a:pPr>
            <a:r>
              <a:rPr/>
              <a:t>For Teams:</a:t>
            </a:r>
          </a:p>
          <a:p>
            <a:pPr lvl="0" indent="0" marL="0">
              <a:buNone/>
            </a:pPr>
          </a:p>
          <a:p>
            <a:pPr lvl="0"/>
            <a:r>
              <a:rPr/>
              <a:t>PR description generator (consistent format)</a:t>
            </a:r>
          </a:p>
          <a:p>
            <a:pPr lvl="0" indent="0" marL="0">
              <a:buNone/>
            </a:pPr>
          </a:p>
          <a:p>
            <a:pPr lvl="0"/>
            <a:r>
              <a:rPr/>
              <a:t>Test coverage enforcer (blocks PRs without tests)</a:t>
            </a:r>
          </a:p>
          <a:p>
            <a:pPr lvl="0" indent="0" marL="0">
              <a:buNone/>
            </a:pPr>
          </a:p>
          <a:p>
            <a:pPr lvl="0"/>
            <a:r>
              <a:rPr/>
              <a:t>Documentation updater (keeps docs in sync)</a:t>
            </a:r>
          </a:p>
          <a:p>
            <a:pPr lvl="0" indent="0" marL="0">
              <a:buNone/>
            </a:pPr>
          </a:p>
          <a:p>
            <a:pPr lvl="0"/>
            <a:r>
              <a:rPr/>
              <a:t>Security baseline checker (org security policies)</a:t>
            </a:r>
          </a:p>
          <a:p>
            <a:pPr lvl="0" indent="0" marL="0">
              <a:buNone/>
            </a:pPr>
          </a:p>
          <a:p>
            <a:pPr lvl="0" indent="0" marL="0">
              <a:buNone/>
            </a:pPr>
            <a:r>
              <a:rPr b="1"/>
              <a:t>Call to Action</a:t>
            </a:r>
            <a:r>
              <a:rPr/>
              <a:t>:</a:t>
            </a:r>
          </a:p>
          <a:p>
            <a:pPr lvl="0" indent="0" marL="0">
              <a:buNone/>
            </a:pPr>
          </a:p>
          <a:p>
            <a:pPr lvl="0" indent="0" marL="0">
              <a:buNone/>
            </a:pPr>
            <a:r>
              <a:rPr/>
              <a:t>“Your homework: Before the end of this week, create one custom agent for a task you do repeatedly. It can be as simple as ‘always write doc comments’ or as complex as ‘generate API documentation from OpenAPI specs’. Start small, iterate, and share your results!”</a:t>
            </a:r>
          </a:p>
          <a:p>
            <a:pPr lvl="0" indent="0" marL="0">
              <a:buNone/>
            </a:pPr>
          </a:p>
          <a:p>
            <a:pPr lvl="0" indent="0" marL="0">
              <a:buNone/>
            </a:pPr>
            <a:r>
              <a:rPr b="1"/>
              <a:t>Q&amp;A Preparation</a:t>
            </a:r>
            <a:r>
              <a:rPr/>
              <a:t>:</a:t>
            </a:r>
          </a:p>
          <a:p>
            <a:pPr lvl="0" indent="0" marL="0">
              <a:buNone/>
            </a:pPr>
          </a:p>
          <a:p>
            <a:pPr lvl="0" indent="0" marL="0">
              <a:buNone/>
            </a:pPr>
            <a:r>
              <a:rPr/>
              <a:t>Common Questions to Expect:</a:t>
            </a:r>
          </a:p>
          <a:p>
            <a:pPr lvl="0" indent="0" marL="0">
              <a:buNone/>
            </a:pPr>
          </a:p>
          <a:p>
            <a:pPr lvl="0" indent="-342900" marL="342900">
              <a:buAutoNum type="arabicPeriod"/>
            </a:pPr>
            <a:r>
              <a:rPr/>
              <a:t>“Can agents call other agents?” - Not yet, but on roadmap</a:t>
            </a:r>
          </a:p>
          <a:p>
            <a:pPr lvl="0" indent="0" marL="0">
              <a:buNone/>
            </a:pPr>
          </a:p>
          <a:p>
            <a:pPr lvl="0" indent="-342900" marL="342900">
              <a:buAutoNum type="arabicPeriod"/>
            </a:pPr>
            <a:r>
              <a:rPr/>
              <a:t>“How many agents can I create?” - No documented limit</a:t>
            </a:r>
          </a:p>
          <a:p>
            <a:pPr lvl="0" indent="0" marL="0">
              <a:buNone/>
            </a:pPr>
          </a:p>
          <a:p>
            <a:pPr lvl="0" indent="-342900" marL="342900">
              <a:buAutoNum type="arabicPeriod"/>
            </a:pPr>
            <a:r>
              <a:rPr/>
              <a:t>“Do agents cost extra?” - No, included in Copilot license</a:t>
            </a:r>
          </a:p>
          <a:p>
            <a:pPr lvl="0" indent="0" marL="0">
              <a:buNone/>
            </a:pPr>
          </a:p>
          <a:p>
            <a:pPr lvl="0" indent="-342900" marL="342900">
              <a:buAutoNum type="arabicPeriod"/>
            </a:pPr>
            <a:r>
              <a:rPr/>
              <a:t>“Can I sell/distribute my agents?” - Yes, they’re just markdown files</a:t>
            </a:r>
          </a:p>
          <a:p>
            <a:pPr lvl="0" indent="0" marL="0">
              <a:buNone/>
            </a:pPr>
          </a:p>
          <a:p>
            <a:pPr lvl="0" indent="-342900" marL="342900">
              <a:buAutoNum type="arabicPeriod"/>
            </a:pPr>
            <a:r>
              <a:rPr/>
              <a:t>“What if my agent breaks?” - Just edit the file, changes are immediate</a:t>
            </a:r>
          </a:p>
          <a:p>
            <a:pPr lvl="0" indent="0" marL="0">
              <a:buNone/>
            </a:pPr>
          </a:p>
          <a:p>
            <a:pPr lvl="0" indent="0" marL="0">
              <a:buNone/>
            </a:pPr>
            <a:r>
              <a:rPr b="1"/>
              <a:t>Thank You Slide Options</a:t>
            </a:r>
            <a:r>
              <a:rPr/>
              <a:t>:</a:t>
            </a:r>
          </a:p>
          <a:p>
            <a:pPr lvl="0" indent="0" marL="0">
              <a:buNone/>
            </a:pPr>
          </a:p>
          <a:p>
            <a:pPr lvl="0"/>
            <a:r>
              <a:rPr/>
              <a:t>Show your GitHub handle for questions</a:t>
            </a:r>
          </a:p>
          <a:p>
            <a:pPr lvl="0" indent="0" marL="0">
              <a:buNone/>
            </a:pPr>
          </a:p>
          <a:p>
            <a:pPr lvl="0"/>
            <a:r>
              <a:rPr/>
              <a:t>Link to your custom agents repo</a:t>
            </a:r>
          </a:p>
          <a:p>
            <a:pPr lvl="0" indent="0" marL="0">
              <a:buNone/>
            </a:pPr>
          </a:p>
          <a:p>
            <a:pPr lvl="0"/>
            <a:r>
              <a:rPr/>
              <a:t>Office hours or follow-up session details</a:t>
            </a:r>
          </a:p>
          <a:p>
            <a:pPr lvl="0" indent="0" marL="0">
              <a:buNone/>
            </a:pPr>
          </a:p>
          <a:p>
            <a:pPr lvl="0"/>
            <a:r>
              <a:rPr/>
              <a:t>Feedback form or survey</a:t>
            </a:r>
          </a:p>
          <a:p>
            <a:pPr lvl="0" indent="0" marL="0">
              <a:buNone/>
            </a:pPr>
          </a:p>
          <a:p>
            <a:pPr lvl="1" indent="0" marL="342900">
              <a:buNone/>
            </a:pPr>
            <a:r>
              <a:rPr/>
              <a:t>:::</a:t>
            </a:r>
          </a:p>
          <a:p>
            <a:pPr lvl="0" indent="0" marL="0">
              <a:buNone/>
            </a:pPr>
          </a:p>
          <a:p>
            <a:pPr lvl="0" indent="0" marL="0">
              <a:spcBef>
                <a:spcPts val="3000"/>
              </a:spcBef>
              <a:buNone/>
            </a:pPr>
            <a:r>
              <a:rPr b="1"/>
              <a:t>Thank You</a:t>
            </a:r>
          </a:p>
          <a:p>
            <a:pPr lvl="0" indent="0" marL="0">
              <a:buNone/>
            </a:pPr>
          </a:p>
          <a:p>
            <a:pPr lvl="0" indent="0" marL="0">
              <a:spcBef>
                <a:spcPts val="3000"/>
              </a:spcBef>
              <a:buNone/>
            </a:pPr>
            <a:r>
              <a:rPr b="1"/>
              <a:t>Questions?</a:t>
            </a:r>
          </a:p>
          <a:p>
            <a:pPr lvl="0" indent="0" marL="0">
              <a:buNone/>
            </a:pPr>
          </a:p>
          <a:p>
            <a:pPr lvl="0" indent="0" marL="0">
              <a:buNone/>
            </a:pPr>
            <a:r>
              <a:rPr b="1"/>
              <a:t>GitHub</a:t>
            </a:r>
            <a:r>
              <a:rPr/>
              <a:t>: @johnmillerATcodemag-com </a:t>
            </a:r>
            <a:r>
              <a:rPr b="1"/>
              <a:t>Repository</a:t>
            </a:r>
            <a:r>
              <a:rPr/>
              <a:t>: AI-Assisted-Software-Development</a:t>
            </a:r>
          </a:p>
          <a:p>
            <a:pPr lvl="0" indent="0" marL="0">
              <a:buNone/>
            </a:pPr>
          </a:p>
          <a:p>
            <a:pPr lvl="0" indent="0" marL="0">
              <a:buNone/>
            </a:pPr>
            <a:r>
              <a:rPr b="1"/>
              <a:t>Start creating your custom agents today!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hyperlink" Target="https://github.com/copilot/agents"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docs.github.com/en/copilot/tutorials/customization-library/custom-agents/your-first-custom-agent" TargetMode="External" /><Relationship Id="rId4" Type="http://schemas.openxmlformats.org/officeDocument/2006/relationships/hyperlink" Target="https://docs.github.com/en/copilot/reference/custom-agents-configuration" TargetMode="External" /><Relationship Id="rId5" Type="http://schemas.openxmlformats.org/officeDocument/2006/relationships/hyperlink" Target="https://docs.github.com/en/copilot/tutorials/customization-library/custom-agents" TargetMode="External" /><Relationship Id="rId6" Type="http://schemas.openxmlformats.org/officeDocument/2006/relationships/hyperlink" Target="https://github.com/github/awesome-copilot/tree/main/agent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Creating Custom Agents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Specialized AI Assistants for Your Workflow</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Creating Custom Agents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AI Assistants for Your Workflow</a:t>
            </a:r>
          </a:p>
        </p:txBody>
      </p:sp>
      <p:sp>
        <p:nvSpPr>
          <p:cNvPr id="3" name="Content Placeholder 2"/>
          <p:cNvSpPr>
            <a:spLocks noGrp="1"/>
          </p:cNvSpPr>
          <p:nvPr>
            <p:ph idx="1"/>
          </p:nvPr>
        </p:nvSpPr>
        <p:spPr/>
        <p:txBody>
          <a:bodyPr/>
          <a:lstStyle/>
          <a:p>
            <a:pPr lvl="0" indent="0" marL="0">
              <a:buNone/>
            </a:pPr>
            <a:r>
              <a:rPr/>
              <a:t>GitHub Copilot Custom Agents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Custom Agents?</a:t>
            </a:r>
          </a:p>
        </p:txBody>
      </p:sp>
      <p:sp>
        <p:nvSpPr>
          <p:cNvPr id="3" name="Content Placeholder 2"/>
          <p:cNvSpPr>
            <a:spLocks noGrp="1"/>
          </p:cNvSpPr>
          <p:nvPr>
            <p:ph idx="1"/>
          </p:nvPr>
        </p:nvSpPr>
        <p:spPr/>
        <p:txBody>
          <a:bodyPr/>
          <a:lstStyle/>
          <a:p>
            <a:pPr lvl="0" indent="0" marL="0">
              <a:buNone/>
            </a:pPr>
            <a:r>
              <a:rPr/>
              <a:t>Custom agents are specialized AI assistants with:</a:t>
            </a:r>
          </a:p>
          <a:p>
            <a:pPr lvl="0"/>
            <a:r>
              <a:rPr b="1"/>
              <a:t>Tailored expertise</a:t>
            </a:r>
            <a:r>
              <a:rPr/>
              <a:t> for specific development tasks</a:t>
            </a:r>
          </a:p>
          <a:p>
            <a:pPr lvl="0"/>
            <a:r>
              <a:rPr b="1"/>
              <a:t>Configurable tools</a:t>
            </a:r>
            <a:r>
              <a:rPr/>
              <a:t> and capabilities</a:t>
            </a:r>
          </a:p>
          <a:p>
            <a:pPr lvl="0"/>
            <a:r>
              <a:rPr b="1"/>
              <a:t>Custom instructions</a:t>
            </a:r>
            <a:r>
              <a:rPr/>
              <a:t> defining behavior</a:t>
            </a:r>
          </a:p>
          <a:p>
            <a:pPr lvl="0"/>
            <a:r>
              <a:rPr b="1"/>
              <a:t>Reusable profiles</a:t>
            </a:r>
            <a:r>
              <a:rPr/>
              <a:t> across projects</a:t>
            </a:r>
          </a:p>
          <a:p>
            <a:pPr lvl="0"/>
            <a:r>
              <a:rPr b="1"/>
              <a:t>Available in multiple environments</a:t>
            </a:r>
            <a:r>
              <a:rPr/>
              <a:t> (GitHub.com, VS Code, JetBrains, Eclipse, Xcode)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to Create Custom Agents</a:t>
            </a:r>
          </a:p>
        </p:txBody>
      </p:sp>
      <p:sp>
        <p:nvSpPr>
          <p:cNvPr id="3" name="Content Placeholder 2"/>
          <p:cNvSpPr>
            <a:spLocks noGrp="1"/>
          </p:cNvSpPr>
          <p:nvPr>
            <p:ph idx="1"/>
          </p:nvPr>
        </p:nvSpPr>
        <p:spPr/>
        <p:txBody>
          <a:bodyPr/>
          <a:lstStyle/>
          <a:p>
            <a:pPr lvl="0" indent="0" marL="0">
              <a:spcBef>
                <a:spcPts val="3000"/>
              </a:spcBef>
              <a:buNone/>
            </a:pPr>
            <a:r>
              <a:rPr b="1"/>
              <a:t>GitHub.com</a:t>
            </a:r>
          </a:p>
          <a:p>
            <a:pPr lvl="0"/>
            <a:r>
              <a:rPr/>
              <a:t>Navigate to </a:t>
            </a:r>
            <a:r>
              <a:rPr>
                <a:hlinkClick r:id="rId3"/>
              </a:rPr>
              <a:t>github.com/copilot/agents</a:t>
            </a:r>
          </a:p>
          <a:p>
            <a:pPr lvl="0"/>
            <a:r>
              <a:rPr/>
              <a:t>Available at repository, organization, or enterprise level</a:t>
            </a:r>
          </a:p>
          <a:p>
            <a:pPr lvl="0"/>
            <a:r>
              <a:rPr/>
              <a:t>Template-based creation process</a:t>
            </a:r>
          </a:p>
          <a:p>
            <a:pPr lvl="0" indent="0" marL="0">
              <a:spcBef>
                <a:spcPts val="3000"/>
              </a:spcBef>
              <a:buNone/>
            </a:pPr>
            <a:r>
              <a:rPr b="1"/>
              <a:t>IDEs</a:t>
            </a:r>
          </a:p>
          <a:p>
            <a:pPr lvl="0"/>
            <a:r>
              <a:rPr b="1"/>
              <a:t>VS Code</a:t>
            </a:r>
            <a:r>
              <a:rPr/>
              <a:t>: Configure Custom Agents menu</a:t>
            </a:r>
          </a:p>
          <a:p>
            <a:pPr lvl="0"/>
            <a:r>
              <a:rPr b="1"/>
              <a:t>JetBrains</a:t>
            </a:r>
            <a:r>
              <a:rPr/>
              <a:t>: Configure Agents settings</a:t>
            </a:r>
          </a:p>
          <a:p>
            <a:pPr lvl="0"/>
            <a:r>
              <a:rPr b="1"/>
              <a:t>Eclipse</a:t>
            </a:r>
            <a:r>
              <a:rPr/>
              <a:t>: Add custom agents dialog</a:t>
            </a:r>
          </a:p>
          <a:p>
            <a:pPr lvl="0"/>
            <a:r>
              <a:rPr b="1"/>
              <a:t>Xcode</a:t>
            </a:r>
            <a:r>
              <a:rPr/>
              <a:t>: Create agent from dropdown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on GitHub: Step-by-Step</a:t>
            </a:r>
          </a:p>
        </p:txBody>
      </p:sp>
      <p:sp>
        <p:nvSpPr>
          <p:cNvPr id="3" name="Content Placeholder 2"/>
          <p:cNvSpPr>
            <a:spLocks noGrp="1"/>
          </p:cNvSpPr>
          <p:nvPr>
            <p:ph idx="1"/>
          </p:nvPr>
        </p:nvSpPr>
        <p:spPr/>
        <p:txBody>
          <a:bodyPr/>
          <a:lstStyle/>
          <a:p>
            <a:pPr lvl="0" indent="-342900" marL="342900">
              <a:buAutoNum type="arabicPeriod"/>
            </a:pPr>
            <a:r>
              <a:rPr/>
              <a:t>Go to </a:t>
            </a:r>
            <a:r>
              <a:rPr>
                <a:latin typeface="Courier"/>
              </a:rPr>
              <a:t>github.com/copilot/agents</a:t>
            </a:r>
          </a:p>
          <a:p>
            <a:pPr lvl="0" indent="-342900" marL="342900">
              <a:buAutoNum type="arabicPeriod"/>
            </a:pPr>
            <a:r>
              <a:rPr/>
              <a:t>Select repository (or </a:t>
            </a:r>
            <a:r>
              <a:rPr>
                <a:latin typeface="Courier"/>
              </a:rPr>
              <a:t>.github-private</a:t>
            </a:r>
            <a:r>
              <a:rPr/>
              <a:t> for org/enterprise)</a:t>
            </a:r>
          </a:p>
          <a:p>
            <a:pPr lvl="0" indent="-342900" marL="342900">
              <a:buAutoNum type="arabicPeriod"/>
            </a:pPr>
            <a:r>
              <a:rPr/>
              <a:t>Click Copilot icon → </a:t>
            </a:r>
            <a:r>
              <a:rPr b="1"/>
              <a:t>Create an agent</a:t>
            </a:r>
          </a:p>
          <a:p>
            <a:pPr lvl="0" indent="-342900" marL="342900">
              <a:buAutoNum type="arabicPeriod"/>
            </a:pPr>
            <a:r>
              <a:rPr/>
              <a:t>Creates template: </a:t>
            </a:r>
            <a:r>
              <a:rPr>
                <a:latin typeface="Courier"/>
              </a:rPr>
              <a:t>my-agent.agent.md</a:t>
            </a:r>
            <a:r>
              <a:rPr/>
              <a:t> in </a:t>
            </a:r>
            <a:r>
              <a:rPr>
                <a:latin typeface="Courier"/>
              </a:rPr>
              <a:t>.github/agents/</a:t>
            </a:r>
          </a:p>
          <a:p>
            <a:pPr lvl="0" indent="-342900" marL="342900">
              <a:buAutoNum type="arabicPeriod"/>
            </a:pPr>
            <a:r>
              <a:rPr/>
              <a:t>Rename file with descriptive name (e.g., </a:t>
            </a:r>
            <a:r>
              <a:rPr>
                <a:latin typeface="Courier"/>
              </a:rPr>
              <a:t>test-specialist.agent.md</a:t>
            </a:r>
            <a:r>
              <a:rPr/>
              <a:t>)</a:t>
            </a:r>
          </a:p>
          <a:p>
            <a:pPr lvl="0" indent="-342900" marL="342900">
              <a:buAutoNum type="arabicPeriod"/>
            </a:pPr>
            <a:r>
              <a:rPr/>
              <a:t>Configure agent profile (next slide)</a:t>
            </a:r>
          </a:p>
          <a:p>
            <a:pPr lvl="0" indent="-342900" marL="342900">
              <a:buAutoNum type="arabicPeriod"/>
            </a:pPr>
            <a:r>
              <a:rPr/>
              <a:t>Commit to default branch</a:t>
            </a:r>
          </a:p>
          <a:p>
            <a:pPr lvl="0" indent="-342900" marL="342900">
              <a:buAutoNum type="arabicPeriod"/>
            </a:pPr>
            <a:r>
              <a:rPr/>
              <a:t>Agent appears in dropdown immediately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in VS Code</a:t>
            </a:r>
          </a:p>
        </p:txBody>
      </p:sp>
      <p:sp>
        <p:nvSpPr>
          <p:cNvPr id="3" name="Content Placeholder 2"/>
          <p:cNvSpPr>
            <a:spLocks noGrp="1"/>
          </p:cNvSpPr>
          <p:nvPr>
            <p:ph idx="1"/>
          </p:nvPr>
        </p:nvSpPr>
        <p:spPr/>
        <p:txBody>
          <a:bodyPr/>
          <a:lstStyle/>
          <a:p>
            <a:pPr lvl="0" indent="-342900" marL="342900">
              <a:buAutoNum type="arabicPeriod"/>
            </a:pPr>
            <a:r>
              <a:rPr/>
              <a:t>Open GitHub Copilot Chat</a:t>
            </a:r>
          </a:p>
          <a:p>
            <a:pPr lvl="0" indent="-342900" marL="342900">
              <a:buAutoNum type="arabicPeriod"/>
            </a:pPr>
            <a:r>
              <a:rPr/>
              <a:t>Agents dropdown → </a:t>
            </a:r>
            <a:r>
              <a:rPr b="1"/>
              <a:t>Configure Custom Agents…</a:t>
            </a:r>
          </a:p>
          <a:p>
            <a:pPr lvl="0" indent="-342900" marL="342900">
              <a:buAutoNum type="arabicPeriod"/>
            </a:pPr>
            <a:r>
              <a:rPr/>
              <a:t>Click </a:t>
            </a:r>
            <a:r>
              <a:rPr b="1"/>
              <a:t>Create new custom agent</a:t>
            </a:r>
          </a:p>
          <a:p>
            <a:pPr lvl="0" indent="-342900" marL="342900">
              <a:buAutoNum type="arabicPeriod"/>
            </a:pPr>
            <a:r>
              <a:rPr/>
              <a:t>Choose location:</a:t>
            </a:r>
          </a:p>
          <a:p>
            <a:pPr lvl="1"/>
            <a:r>
              <a:rPr b="1"/>
              <a:t>Workspace</a:t>
            </a:r>
            <a:r>
              <a:rPr/>
              <a:t>: </a:t>
            </a:r>
            <a:r>
              <a:rPr>
                <a:latin typeface="Courier"/>
              </a:rPr>
              <a:t>.github/agents/</a:t>
            </a:r>
            <a:r>
              <a:rPr/>
              <a:t> (project-specific)</a:t>
            </a:r>
          </a:p>
          <a:p>
            <a:pPr lvl="1"/>
            <a:r>
              <a:rPr b="1"/>
              <a:t>User profile</a:t>
            </a:r>
            <a:r>
              <a:rPr/>
              <a:t>: Personal agents (all workspaces)</a:t>
            </a:r>
          </a:p>
          <a:p>
            <a:pPr lvl="0" indent="-342900" marL="342900">
              <a:buAutoNum type="arabicPeriod"/>
            </a:pPr>
            <a:r>
              <a:rPr/>
              <a:t>Enter filename</a:t>
            </a:r>
          </a:p>
          <a:p>
            <a:pPr lvl="0" indent="-342900" marL="342900">
              <a:buAutoNum type="arabicPeriod"/>
            </a:pPr>
            <a:r>
              <a:rPr/>
              <a:t>Configure in </a:t>
            </a:r>
            <a:r>
              <a:rPr>
                <a:latin typeface="Courier"/>
              </a:rPr>
              <a:t>.agent.md</a:t>
            </a:r>
            <a:r>
              <a:rPr/>
              <a:t> file</a:t>
            </a:r>
          </a:p>
          <a:p>
            <a:pPr lvl="0" indent="-342900" marL="342900">
              <a:buAutoNum type="arabicPeriod"/>
            </a:pPr>
            <a:r>
              <a:rPr/>
              <a:t>Use </a:t>
            </a:r>
            <a:r>
              <a:rPr b="1"/>
              <a:t>Configure Tools…</a:t>
            </a:r>
            <a:r>
              <a:rPr/>
              <a:t> button for tool selection</a:t>
            </a:r>
          </a:p>
          <a:p>
            <a:pPr lvl="0" indent="-342900" marL="342900">
              <a:buAutoNum type="arabicPeriod"/>
            </a:pPr>
            <a:r>
              <a:rPr/>
              <a:t>Set </a:t>
            </a:r>
            <a:r>
              <a:rPr>
                <a:latin typeface="Courier"/>
              </a:rPr>
              <a:t>model:</a:t>
            </a:r>
            <a:r>
              <a:rPr/>
              <a:t> property for AI model preference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Agent Profile Structure</a:t>
            </a:r>
          </a:p>
        </p:txBody>
      </p:sp>
      <p:sp>
        <p:nvSpPr>
          <p:cNvPr id="3" name="Content Placeholder 2"/>
          <p:cNvSpPr>
            <a:spLocks noGrp="1"/>
          </p:cNvSpPr>
          <p:nvPr>
            <p:ph idx="1"/>
          </p:nvPr>
        </p:nvSpPr>
        <p:spPr/>
        <p:txBody>
          <a:bodyPr/>
          <a:lstStyle/>
          <a:p>
            <a:pPr lvl="0" indent="0">
              <a:buNone/>
            </a:pPr>
            <a:r>
              <a:rPr>
                <a:solidFill>
                  <a:srgbClr val="BC7A00"/>
                </a:solidFill>
                <a:latin typeface="Courier"/>
              </a:rPr>
              <a:t>---</a:t>
            </a:r>
            <a:br/>
            <a:r>
              <a:rPr>
                <a:solidFill>
                  <a:srgbClr val="06287E"/>
                </a:solidFill>
                <a:latin typeface="Courier"/>
              </a:rPr>
              <a:t>name</a:t>
            </a:r>
            <a:r>
              <a:rPr b="1">
                <a:solidFill>
                  <a:srgbClr val="007020"/>
                </a:solidFill>
                <a:latin typeface="Courier"/>
              </a:rPr>
              <a:t>:</a:t>
            </a:r>
            <a:r>
              <a:rPr>
                <a:solidFill>
                  <a:srgbClr val="7D9029"/>
                </a:solidFill>
                <a:latin typeface="Courier"/>
              </a:rPr>
              <a:t> test-specialist</a:t>
            </a:r>
            <a:br/>
            <a:r>
              <a:rPr>
                <a:solidFill>
                  <a:srgbClr val="06287E"/>
                </a:solidFill>
                <a:latin typeface="Courier"/>
              </a:rPr>
              <a:t>description</a:t>
            </a:r>
            <a:r>
              <a:rPr b="1">
                <a:solidFill>
                  <a:srgbClr val="007020"/>
                </a:solidFill>
                <a:latin typeface="Courier"/>
              </a:rPr>
              <a:t>:</a:t>
            </a:r>
            <a:r>
              <a:rPr>
                <a:solidFill>
                  <a:srgbClr val="7D9029"/>
                </a:solidFill>
                <a:latin typeface="Courier"/>
              </a:rPr>
              <a:t> Focuses on test coverage and quality</a:t>
            </a:r>
            <a:br/>
            <a:r>
              <a:rPr>
                <a:solidFill>
                  <a:srgbClr val="06287E"/>
                </a:solidFill>
                <a:latin typeface="Courier"/>
              </a:rPr>
              <a:t>tools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4070A0"/>
                </a:solidFill>
                <a:latin typeface="Courier"/>
              </a:rPr>
              <a:t>"read"</a:t>
            </a:r>
            <a:r>
              <a:rPr b="1">
                <a:solidFill>
                  <a:srgbClr val="007020"/>
                </a:solidFill>
                <a:latin typeface="Courier"/>
              </a:rPr>
              <a:t>,</a:t>
            </a:r>
            <a:r>
              <a:rPr>
                <a:solidFill>
                  <a:srgbClr val="7D9029"/>
                </a:solidFill>
                <a:latin typeface="Courier"/>
              </a:rPr>
              <a:t> </a:t>
            </a:r>
            <a:r>
              <a:rPr>
                <a:solidFill>
                  <a:srgbClr val="4070A0"/>
                </a:solidFill>
                <a:latin typeface="Courier"/>
              </a:rPr>
              <a:t>"edit"</a:t>
            </a:r>
            <a:r>
              <a:rPr b="1">
                <a:solidFill>
                  <a:srgbClr val="007020"/>
                </a:solidFill>
                <a:latin typeface="Courier"/>
              </a:rPr>
              <a:t>,</a:t>
            </a:r>
            <a:r>
              <a:rPr>
                <a:solidFill>
                  <a:srgbClr val="7D9029"/>
                </a:solidFill>
                <a:latin typeface="Courier"/>
              </a:rPr>
              <a:t> </a:t>
            </a:r>
            <a:r>
              <a:rPr>
                <a:solidFill>
                  <a:srgbClr val="4070A0"/>
                </a:solidFill>
                <a:latin typeface="Courier"/>
              </a:rPr>
              <a:t>"search"</a:t>
            </a:r>
            <a:r>
              <a:rPr b="1">
                <a:solidFill>
                  <a:srgbClr val="007020"/>
                </a:solidFill>
                <a:latin typeface="Courier"/>
              </a:rPr>
              <a:t>]</a:t>
            </a:r>
            <a:br/>
            <a:r>
              <a:rPr>
                <a:solidFill>
                  <a:srgbClr val="06287E"/>
                </a:solidFill>
                <a:latin typeface="Courier"/>
              </a:rPr>
              <a:t>model</a:t>
            </a:r>
            <a:r>
              <a:rPr b="1">
                <a:solidFill>
                  <a:srgbClr val="007020"/>
                </a:solidFill>
                <a:latin typeface="Courier"/>
              </a:rPr>
              <a:t>:</a:t>
            </a:r>
            <a:r>
              <a:rPr>
                <a:solidFill>
                  <a:srgbClr val="7D9029"/>
                </a:solidFill>
                <a:latin typeface="Courier"/>
              </a:rPr>
              <a:t> gpt-4</a:t>
            </a:r>
            <a:br/>
            <a:r>
              <a:rPr>
                <a:solidFill>
                  <a:srgbClr val="06287E"/>
                </a:solidFill>
                <a:latin typeface="Courier"/>
              </a:rPr>
              <a:t>target</a:t>
            </a:r>
            <a:r>
              <a:rPr b="1">
                <a:solidFill>
                  <a:srgbClr val="007020"/>
                </a:solidFill>
                <a:latin typeface="Courier"/>
              </a:rPr>
              <a:t>:</a:t>
            </a:r>
            <a:r>
              <a:rPr>
                <a:solidFill>
                  <a:srgbClr val="7D9029"/>
                </a:solidFill>
                <a:latin typeface="Courier"/>
              </a:rPr>
              <a:t> vscode</a:t>
            </a:r>
            <a:r>
              <a:rPr i="1">
                <a:solidFill>
                  <a:srgbClr val="60A0B0"/>
                </a:solidFill>
                <a:latin typeface="Courier"/>
              </a:rPr>
              <a:t> # optional: vscode or github-copilot</a:t>
            </a:r>
            <a:br/>
            <a:r>
              <a:rPr>
                <a:solidFill>
                  <a:srgbClr val="BC7A00"/>
                </a:solidFill>
                <a:latin typeface="Courier"/>
              </a:rPr>
              <a:t>---</a:t>
            </a:r>
            <a:br/>
            <a:r>
              <a:rPr>
                <a:solidFill>
                  <a:srgbClr val="7D9029"/>
                </a:solidFill>
                <a:latin typeface="Courier"/>
              </a:rPr>
              <a:t>You are a testing specialist...</a:t>
            </a:r>
            <a:br/>
            <a:br/>
            <a:r>
              <a:rPr b="1">
                <a:solidFill>
                  <a:srgbClr val="007020"/>
                </a:solidFill>
                <a:latin typeface="Courier"/>
              </a:rPr>
              <a:t>[</a:t>
            </a:r>
            <a:r>
              <a:rPr>
                <a:solidFill>
                  <a:srgbClr val="7D9029"/>
                </a:solidFill>
                <a:latin typeface="Courier"/>
              </a:rPr>
              <a:t>Detailed instructions and behavior</a:t>
            </a:r>
            <a:r>
              <a:rPr b="1">
                <a:solidFill>
                  <a:srgbClr val="007020"/>
                </a:solidFill>
                <a:latin typeface="Courier"/>
              </a:rPr>
              <a:t>]</a:t>
            </a:r>
          </a:p>
          <a:p>
            <a:pPr lvl="0" indent="0" marL="0">
              <a:buNone/>
            </a:pPr>
            <a:r>
              <a:rPr b="1"/>
              <a:t>Key Components</a:t>
            </a:r>
            <a:r>
              <a:rPr/>
              <a:t>:</a:t>
            </a:r>
          </a:p>
          <a:p>
            <a:pPr lvl="0"/>
            <a:r>
              <a:rPr b="1"/>
              <a:t>YAML frontmatter</a:t>
            </a:r>
            <a:r>
              <a:rPr/>
              <a:t>: Metadata and configuration</a:t>
            </a:r>
          </a:p>
          <a:p>
            <a:pPr lvl="0"/>
            <a:r>
              <a:rPr b="1"/>
              <a:t>Markdown content</a:t>
            </a:r>
            <a:r>
              <a:rPr/>
              <a:t>: Instructions and behavior (max 30,000 chars)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 Testing Specialist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test-specialist</a:t>
            </a:r>
            <a:br/>
            <a:r>
              <a:rPr b="1" i="1">
                <a:solidFill>
                  <a:srgbClr val="60A0B0"/>
                </a:solidFill>
                <a:latin typeface="Courier"/>
              </a:rPr>
              <a:t>description:</a:t>
            </a:r>
            <a:r>
              <a:rPr i="1">
                <a:solidFill>
                  <a:srgbClr val="60A0B0"/>
                </a:solidFill>
                <a:latin typeface="Courier"/>
              </a:rPr>
              <a:t> Focuses on test coverage, quality, and testing</a:t>
            </a:r>
            <a:br/>
            <a:r>
              <a:rPr i="1">
                <a:solidFill>
                  <a:srgbClr val="60A0B0"/>
                </a:solidFill>
                <a:latin typeface="Courier"/>
              </a:rPr>
              <a:t>  best practices without modifying production code</a:t>
            </a:r>
            <a:br/>
            <a:r>
              <a:rPr i="1">
                <a:solidFill>
                  <a:srgbClr val="60A0B0"/>
                </a:solidFill>
                <a:latin typeface="Courier"/>
              </a:rPr>
              <a:t>---</a:t>
            </a:r>
            <a:br/>
            <a:br/>
            <a:r>
              <a:rPr>
                <a:latin typeface="Courier"/>
              </a:rPr>
              <a:t>You are a testing specialist focused on improving code</a:t>
            </a:r>
            <a:br/>
            <a:r>
              <a:rPr>
                <a:latin typeface="Courier"/>
              </a:rPr>
              <a:t>quality through comprehensive testing. Your responsibilities:</a:t>
            </a:r>
            <a:br/>
            <a:br/>
            <a:r>
              <a:rPr>
                <a:solidFill>
                  <a:srgbClr val="BB6688"/>
                </a:solidFill>
                <a:latin typeface="Courier"/>
              </a:rPr>
              <a:t>- </a:t>
            </a:r>
            <a:r>
              <a:rPr>
                <a:latin typeface="Courier"/>
              </a:rPr>
              <a:t>Analyze existing tests and identify coverage gaps</a:t>
            </a:r>
            <a:br/>
            <a:r>
              <a:rPr>
                <a:solidFill>
                  <a:srgbClr val="BB6688"/>
                </a:solidFill>
                <a:latin typeface="Courier"/>
              </a:rPr>
              <a:t>- </a:t>
            </a:r>
            <a:r>
              <a:rPr>
                <a:latin typeface="Courier"/>
              </a:rPr>
              <a:t>Write unit tests, integration tests, and end-to-end tests</a:t>
            </a:r>
            <a:br/>
            <a:r>
              <a:rPr>
                <a:solidFill>
                  <a:srgbClr val="BB6688"/>
                </a:solidFill>
                <a:latin typeface="Courier"/>
              </a:rPr>
              <a:t>- </a:t>
            </a:r>
            <a:r>
              <a:rPr>
                <a:latin typeface="Courier"/>
              </a:rPr>
              <a:t>Review test quality and suggest improvements</a:t>
            </a:r>
            <a:br/>
            <a:r>
              <a:rPr>
                <a:solidFill>
                  <a:srgbClr val="BB6688"/>
                </a:solidFill>
                <a:latin typeface="Courier"/>
              </a:rPr>
              <a:t>- </a:t>
            </a:r>
            <a:r>
              <a:rPr>
                <a:latin typeface="Courier"/>
              </a:rPr>
              <a:t>Ensure tests are isolated, deterministic, and documented</a:t>
            </a:r>
            <a:br/>
            <a:r>
              <a:rPr>
                <a:solidFill>
                  <a:srgbClr val="BB6688"/>
                </a:solidFill>
                <a:latin typeface="Courier"/>
              </a:rPr>
              <a:t>- </a:t>
            </a:r>
            <a:r>
              <a:rPr>
                <a:latin typeface="Courier"/>
              </a:rPr>
              <a:t>Focus only on test files - avoid modifying production code</a:t>
            </a:r>
            <a:br/>
            <a:br/>
            <a:r>
              <a:rPr>
                <a:latin typeface="Courier"/>
              </a:rPr>
              <a:t>Always include clear test descriptions and use appropriate</a:t>
            </a:r>
            <a:br/>
            <a:r>
              <a:rPr>
                <a:latin typeface="Courier"/>
              </a:rPr>
              <a:t>testing patterns for the language and framework.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2: Implementation Planner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implementation-planner</a:t>
            </a:r>
            <a:br/>
            <a:r>
              <a:rPr b="1" i="1">
                <a:solidFill>
                  <a:srgbClr val="60A0B0"/>
                </a:solidFill>
                <a:latin typeface="Courier"/>
              </a:rPr>
              <a:t>description:</a:t>
            </a:r>
            <a:r>
              <a:rPr i="1">
                <a:solidFill>
                  <a:srgbClr val="60A0B0"/>
                </a:solidFill>
                <a:latin typeface="Courier"/>
              </a:rPr>
              <a:t> Creates detailed implementation plans and</a:t>
            </a:r>
            <a:br/>
            <a:r>
              <a:rPr i="1">
                <a:solidFill>
                  <a:srgbClr val="60A0B0"/>
                </a:solidFill>
                <a:latin typeface="Courier"/>
              </a:rPr>
              <a:t>  technical specifications in markdown format</a:t>
            </a:r>
            <a:br/>
            <a:r>
              <a:rPr b="1" i="1">
                <a:solidFill>
                  <a:srgbClr val="60A0B0"/>
                </a:solidFill>
                <a:latin typeface="Courier"/>
              </a:rPr>
              <a:t>tools:</a:t>
            </a:r>
            <a:r>
              <a:rPr i="1">
                <a:solidFill>
                  <a:srgbClr val="60A0B0"/>
                </a:solidFill>
                <a:latin typeface="Courier"/>
              </a:rPr>
              <a:t> ["read", "search", "edit"]</a:t>
            </a:r>
            <a:br/>
            <a:r>
              <a:rPr i="1">
                <a:solidFill>
                  <a:srgbClr val="60A0B0"/>
                </a:solidFill>
                <a:latin typeface="Courier"/>
              </a:rPr>
              <a:t>---</a:t>
            </a:r>
            <a:br/>
            <a:br/>
            <a:r>
              <a:rPr>
                <a:latin typeface="Courier"/>
              </a:rPr>
              <a:t>You are a technical planning specialist. Your responsibilities:</a:t>
            </a:r>
            <a:br/>
            <a:br/>
            <a:r>
              <a:rPr>
                <a:solidFill>
                  <a:srgbClr val="BB6688"/>
                </a:solidFill>
                <a:latin typeface="Courier"/>
              </a:rPr>
              <a:t>- </a:t>
            </a:r>
            <a:r>
              <a:rPr>
                <a:latin typeface="Courier"/>
              </a:rPr>
              <a:t>Analyze requirements and break them into actionable tasks</a:t>
            </a:r>
            <a:br/>
            <a:r>
              <a:rPr>
                <a:solidFill>
                  <a:srgbClr val="BB6688"/>
                </a:solidFill>
                <a:latin typeface="Courier"/>
              </a:rPr>
              <a:t>- </a:t>
            </a:r>
            <a:r>
              <a:rPr>
                <a:latin typeface="Courier"/>
              </a:rPr>
              <a:t>Create detailed technical specs and architecture docs</a:t>
            </a:r>
            <a:br/>
            <a:r>
              <a:rPr>
                <a:solidFill>
                  <a:srgbClr val="BB6688"/>
                </a:solidFill>
                <a:latin typeface="Courier"/>
              </a:rPr>
              <a:t>- </a:t>
            </a:r>
            <a:r>
              <a:rPr>
                <a:latin typeface="Courier"/>
              </a:rPr>
              <a:t>Generate implementation plans with steps and dependencies</a:t>
            </a:r>
            <a:br/>
            <a:r>
              <a:rPr>
                <a:solidFill>
                  <a:srgbClr val="BB6688"/>
                </a:solidFill>
                <a:latin typeface="Courier"/>
              </a:rPr>
              <a:t>- </a:t>
            </a:r>
            <a:r>
              <a:rPr>
                <a:latin typeface="Courier"/>
              </a:rPr>
              <a:t>Document API designs, data models, and system interactions</a:t>
            </a:r>
            <a:br/>
            <a:r>
              <a:rPr>
                <a:solidFill>
                  <a:srgbClr val="BB6688"/>
                </a:solidFill>
                <a:latin typeface="Courier"/>
              </a:rPr>
              <a:t>- </a:t>
            </a:r>
            <a:r>
              <a:rPr>
                <a:latin typeface="Courier"/>
              </a:rPr>
              <a:t>Create markdown files that development teams can follow</a:t>
            </a:r>
            <a:br/>
            <a:br/>
            <a:r>
              <a:rPr>
                <a:latin typeface="Courier"/>
              </a:rPr>
              <a:t>Always structure plans with clear headings, task breakdowns,</a:t>
            </a:r>
            <a:br/>
            <a:r>
              <a:rPr>
                <a:latin typeface="Courier"/>
              </a:rPr>
              <a:t>and acceptance criteria. Include considerations for testing,</a:t>
            </a:r>
            <a:br/>
            <a:r>
              <a:rPr>
                <a:latin typeface="Courier"/>
              </a:rPr>
              <a:t>deployment, and risks. Focus on thorough documentation</a:t>
            </a:r>
            <a:br/>
            <a:r>
              <a:rPr>
                <a:latin typeface="Courier"/>
              </a:rPr>
              <a:t>rather than implementing code.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Custom Agents</a:t>
            </a:r>
          </a:p>
        </p:txBody>
      </p:sp>
      <p:sp>
        <p:nvSpPr>
          <p:cNvPr id="3" name="Content Placeholder 2"/>
          <p:cNvSpPr>
            <a:spLocks noGrp="1"/>
          </p:cNvSpPr>
          <p:nvPr>
            <p:ph idx="1"/>
          </p:nvPr>
        </p:nvSpPr>
        <p:spPr/>
        <p:txBody>
          <a:bodyPr/>
          <a:lstStyle/>
          <a:p>
            <a:pPr lvl="0" indent="0" marL="0">
              <a:spcBef>
                <a:spcPts val="3000"/>
              </a:spcBef>
              <a:buNone/>
            </a:pPr>
            <a:r>
              <a:rPr b="1"/>
              <a:t>On GitHub.com</a:t>
            </a:r>
          </a:p>
          <a:p>
            <a:pPr lvl="0"/>
            <a:r>
              <a:rPr/>
              <a:t>Agents panel/tab dropdown → Select your custom agent</a:t>
            </a:r>
          </a:p>
          <a:p>
            <a:pPr lvl="0"/>
            <a:r>
              <a:rPr/>
              <a:t>Assign custom agent to issues</a:t>
            </a:r>
          </a:p>
          <a:p>
            <a:pPr lvl="0"/>
            <a:r>
              <a:rPr/>
              <a:t>Noted in PR descriptions when used</a:t>
            </a:r>
          </a:p>
          <a:p>
            <a:pPr lvl="0" indent="0" marL="0">
              <a:spcBef>
                <a:spcPts val="3000"/>
              </a:spcBef>
              <a:buNone/>
            </a:pPr>
            <a:r>
              <a:rPr b="1"/>
              <a:t>In IDEs</a:t>
            </a:r>
          </a:p>
          <a:p>
            <a:pPr lvl="0"/>
            <a:r>
              <a:rPr/>
              <a:t>Chat window dropdown → Select agent</a:t>
            </a:r>
          </a:p>
          <a:p>
            <a:pPr lvl="0"/>
            <a:r>
              <a:rPr/>
              <a:t>Switch agents mid-conversation</a:t>
            </a:r>
          </a:p>
          <a:p>
            <a:pPr lvl="0"/>
            <a:r>
              <a:rPr/>
              <a:t>Access specialized configurations per task</a:t>
            </a:r>
          </a:p>
          <a:p>
            <a:pPr lvl="0" indent="0" marL="0">
              <a:spcBef>
                <a:spcPts val="3000"/>
              </a:spcBef>
              <a:buNone/>
            </a:pPr>
            <a:r>
              <a:rPr b="1"/>
              <a:t>GitHub Copilot CLI</a:t>
            </a:r>
          </a:p>
          <a:p>
            <a:pPr lvl="0"/>
            <a:r>
              <a:rPr>
                <a:latin typeface="Courier"/>
              </a:rPr>
              <a:t>/agent</a:t>
            </a:r>
            <a:r>
              <a:rPr/>
              <a:t> command to select agent</a:t>
            </a:r>
          </a:p>
          <a:p>
            <a:pPr lvl="0"/>
            <a:r>
              <a:rPr/>
              <a:t>Reference agent in prompts</a:t>
            </a:r>
          </a:p>
          <a:p>
            <a:pPr lvl="0"/>
            <a:r>
              <a:rPr/>
              <a:t>Command-line argument support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indent="-342900" marL="342900">
              <a:buAutoNum type="arabicPeriod"/>
            </a:pPr>
            <a:r>
              <a:rPr b="1"/>
              <a:t>Start Simple</a:t>
            </a:r>
            <a:r>
              <a:rPr/>
              <a:t>: Create one agent for a specific pain point</a:t>
            </a:r>
          </a:p>
          <a:p>
            <a:pPr lvl="0" indent="-342900" marL="342900">
              <a:buAutoNum type="arabicPeriod"/>
            </a:pPr>
            <a:r>
              <a:rPr b="1"/>
              <a:t>Be Specific</a:t>
            </a:r>
            <a:r>
              <a:rPr/>
              <a:t>: Define clear boundaries and responsibilities</a:t>
            </a:r>
          </a:p>
          <a:p>
            <a:pPr lvl="0" indent="-342900" marL="342900">
              <a:buAutoNum type="arabicPeriod"/>
            </a:pPr>
            <a:r>
              <a:rPr b="1"/>
              <a:t>Restrict Tools</a:t>
            </a:r>
            <a:r>
              <a:rPr/>
              <a:t>: Only enable tools the agent needs</a:t>
            </a:r>
          </a:p>
          <a:p>
            <a:pPr lvl="0" indent="-342900" marL="342900">
              <a:buAutoNum type="arabicPeriod"/>
            </a:pPr>
            <a:r>
              <a:rPr b="1"/>
              <a:t>Iterate</a:t>
            </a:r>
            <a:r>
              <a:rPr/>
              <a:t>: Refine instructions based on real usage</a:t>
            </a:r>
          </a:p>
          <a:p>
            <a:pPr lvl="0" indent="-342900" marL="342900">
              <a:buAutoNum type="arabicPeriod"/>
            </a:pPr>
            <a:r>
              <a:rPr b="1"/>
              <a:t>Share</a:t>
            </a:r>
            <a:r>
              <a:rPr/>
              <a:t>: Create org/enterprise agents for common tasks</a:t>
            </a:r>
          </a:p>
          <a:p>
            <a:pPr lvl="0" indent="-342900" marL="342900">
              <a:buAutoNum type="arabicPeriod"/>
            </a:pPr>
            <a:r>
              <a:rPr b="1"/>
              <a:t>Document</a:t>
            </a:r>
            <a:r>
              <a:rPr/>
              <a:t>: Include usage examples in agent description</a:t>
            </a:r>
          </a:p>
          <a:p>
            <a:pPr lvl="0" indent="-342900" marL="342900">
              <a:buAutoNum type="arabicPeriod"/>
            </a:pPr>
            <a:r>
              <a:rPr b="1"/>
              <a:t>Test</a:t>
            </a:r>
            <a:r>
              <a:rPr/>
              <a:t>: Validate agent behavior before team rollout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Steps</a:t>
            </a:r>
          </a:p>
        </p:txBody>
      </p:sp>
      <p:sp>
        <p:nvSpPr>
          <p:cNvPr id="3" name="Content Placeholder 2"/>
          <p:cNvSpPr>
            <a:spLocks noGrp="1"/>
          </p:cNvSpPr>
          <p:nvPr>
            <p:ph idx="1"/>
          </p:nvPr>
        </p:nvSpPr>
        <p:spPr/>
        <p:txBody>
          <a:bodyPr/>
          <a:lstStyle/>
          <a:p>
            <a:pPr lvl="0" indent="0" marL="0">
              <a:spcBef>
                <a:spcPts val="3000"/>
              </a:spcBef>
              <a:buNone/>
            </a:pPr>
            <a:r>
              <a:rPr b="1"/>
              <a:t>Resources</a:t>
            </a:r>
          </a:p>
          <a:p>
            <a:pPr lvl="0"/>
            <a:r>
              <a:rPr/>
              <a:t>📚 </a:t>
            </a:r>
            <a:r>
              <a:rPr>
                <a:hlinkClick r:id="rId3"/>
              </a:rPr>
              <a:t>Your First Custom Agent Tutorial</a:t>
            </a:r>
          </a:p>
          <a:p>
            <a:pPr lvl="0"/>
            <a:r>
              <a:rPr/>
              <a:t>📖 </a:t>
            </a:r>
            <a:r>
              <a:rPr>
                <a:hlinkClick r:id="rId4"/>
              </a:rPr>
              <a:t>Custom Agents Configuration Reference</a:t>
            </a:r>
          </a:p>
          <a:p>
            <a:pPr lvl="0"/>
            <a:r>
              <a:rPr/>
              <a:t>🎯 </a:t>
            </a:r>
            <a:r>
              <a:rPr>
                <a:hlinkClick r:id="rId5"/>
              </a:rPr>
              <a:t>Customization Library Examples</a:t>
            </a:r>
          </a:p>
          <a:p>
            <a:pPr lvl="0"/>
            <a:r>
              <a:rPr/>
              <a:t>💡 </a:t>
            </a:r>
            <a:r>
              <a:rPr>
                <a:hlinkClick r:id="rId6"/>
              </a:rPr>
              <a:t>Awesome Copilot Community Collection</a:t>
            </a:r>
          </a:p>
          <a:p>
            <a:pPr lvl="0" indent="0" marL="0">
              <a:spcBef>
                <a:spcPts val="3000"/>
              </a:spcBef>
              <a:buNone/>
            </a:pPr>
            <a:r>
              <a:rPr b="1"/>
              <a:t>Try It Now</a:t>
            </a:r>
          </a:p>
          <a:p>
            <a:pPr lvl="0" indent="-342900" marL="342900">
              <a:buAutoNum type="arabicPeriod"/>
            </a:pPr>
            <a:r>
              <a:rPr/>
              <a:t>Create your first agent for a specific task</a:t>
            </a:r>
          </a:p>
          <a:p>
            <a:pPr lvl="0" indent="-342900" marL="342900">
              <a:buAutoNum type="arabicPeriod"/>
            </a:pPr>
            <a:r>
              <a:rPr/>
              <a:t>Test with real scenarios</a:t>
            </a:r>
          </a:p>
          <a:p>
            <a:pPr lvl="0" indent="-342900" marL="342900">
              <a:buAutoNum type="arabicPeriod"/>
            </a:pPr>
            <a:r>
              <a:rPr/>
              <a:t>Share with your team</a:t>
            </a:r>
          </a:p>
          <a:p>
            <a:pPr lvl="0" indent="-342900" marL="342900">
              <a:buAutoNum type="arabicPeriod"/>
            </a:pPr>
            <a:r>
              <a:rPr/>
              <a:t>Iterate based on feedback</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Custom Agents</dc:title>
  <dc:creator/>
  <cp:keywords/>
  <dcterms:created xsi:type="dcterms:W3CDTF">2026-03-15T19:37:18Z</dcterms:created>
  <dcterms:modified xsi:type="dcterms:W3CDTF">2026-03-15T19:37:18Z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ai-logs/2026/02/12/create-custom-agents-marp-20260212/conversation.md</vt:lpwstr>
  </property>
  <property fmtid="{D5CDD505-2E9C-101B-9397-08002B2CF9AE}" pid="4" name="chat_id">
    <vt:lpwstr>create-custom-agents-marp-20260212</vt:lpwstr>
  </property>
  <property fmtid="{D5CDD505-2E9C-101B-9397-08002B2CF9AE}" pid="5" name="ended">
    <vt:lpwstr>2026-02-12T00:15:00Z</vt:lpwstr>
  </property>
  <property fmtid="{D5CDD505-2E9C-101B-9397-08002B2CF9AE}" pid="6" name="marp">
    <vt:lpwstr>True</vt:lpwstr>
  </property>
  <property fmtid="{D5CDD505-2E9C-101B-9397-08002B2CF9AE}" pid="7" name="model">
    <vt:lpwstr>anthropic/claude-3.5-sonnet@2024-10-22</vt:lpwstr>
  </property>
  <property fmtid="{D5CDD505-2E9C-101B-9397-08002B2CF9AE}" pid="8" name="operator">
    <vt:lpwstr>johnmillerATcodemag-com</vt:lpwstr>
  </property>
  <property fmtid="{D5CDD505-2E9C-101B-9397-08002B2CF9AE}" pid="9" name="paginate">
    <vt:lpwstr>True</vt:lpwstr>
  </property>
  <property fmtid="{D5CDD505-2E9C-101B-9397-08002B2CF9AE}" pid="10" name="prompt">
    <vt:lpwstr>#file:create-custom-agents create a marp deck from this info in this file</vt:lpwstr>
  </property>
  <property fmtid="{D5CDD505-2E9C-101B-9397-08002B2CF9AE}" pid="11" name="source">
    <vt:lpwstr>johnmillerATcodemag-com</vt:lpwstr>
  </property>
  <property fmtid="{D5CDD505-2E9C-101B-9397-08002B2CF9AE}" pid="12" name="started">
    <vt:lpwstr>2026-02-12T00:00:00Z</vt:lpwstr>
  </property>
  <property fmtid="{D5CDD505-2E9C-101B-9397-08002B2CF9AE}" pid="13" name="subtitle">
    <vt:lpwstr>Specialized AI Assistants for Your Workflow</vt:lpwstr>
  </property>
  <property fmtid="{D5CDD505-2E9C-101B-9397-08002B2CF9AE}" pid="14" name="task_durations">
    <vt:lpwstr/>
  </property>
  <property fmtid="{D5CDD505-2E9C-101B-9397-08002B2CF9AE}" pid="15" name="theme">
    <vt:lpwstr>default</vt:lpwstr>
  </property>
  <property fmtid="{D5CDD505-2E9C-101B-9397-08002B2CF9AE}" pid="16" name="total_duration">
    <vt:lpwstr>00:15:00</vt:lpwstr>
  </property>
</Properties>
</file>