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notesMaster" Target="notesMasters/notesMaster1.xml" /><Relationship Id="rId132" Type="http://schemas.openxmlformats.org/officeDocument/2006/relationships/viewProps" Target="viewProps.xml" /><Relationship Id="rId131" Type="http://schemas.openxmlformats.org/officeDocument/2006/relationships/presProps" Target="presProps.xml" /><Relationship Id="rId1" Type="http://schemas.openxmlformats.org/officeDocument/2006/relationships/slideMaster" Target="slideMasters/slideMaster1.xml" /><Relationship Id="rId134" Type="http://schemas.openxmlformats.org/officeDocument/2006/relationships/tableStyles" Target="tableStyles.xml" /><Relationship Id="rId13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109.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113.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114.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115.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116.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117.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118.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119.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120.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123.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124.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125.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126.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1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significant</a:t>
            </a:r>
          </a:p>
          <a:p>
            <a:pPr lvl="0" indent="0" marL="0">
              <a:buNone/>
            </a:pPr>
          </a:p>
          <a:p>
            <a:pPr lvl="0" indent="0" marL="0">
              <a:buNone/>
            </a:pPr>
            <a:r>
              <a:rPr/>
              <a:t>Natural Language Vast amount of knowledge available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pPr lvl="0" indent="0" marL="0">
              <a:buNone/>
            </a:pPr>
          </a:p>
          <a:p>
            <a:pPr lvl="0" indent="0" marL="0">
              <a:buNone/>
            </a:pPr>
            <a:r>
              <a:rP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pPr lvl="0" indent="0" marL="0">
              <a:buNone/>
            </a:pPr>
          </a:p>
          <a:p>
            <a:pPr lvl="0" indent="0" marL="0">
              <a:buNone/>
            </a:pPr>
            <a:r>
              <a:rP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pPr lvl="0" indent="0" marL="0">
              <a:buNone/>
            </a:pPr>
          </a:p>
          <a:p>
            <a:pPr lvl="0" indent="0" marL="0">
              <a:buNone/>
            </a:pPr>
            <a:r>
              <a:rPr/>
              <a:t>Key message: AI doesn’t replace developers—it amplifies their capabilities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AI‑First is the broad philosophy. Prompt‑First is the tactical layer that enables predictable AI behavior. You can do Prompt‑First without being AI‑First, but not the reverse.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table is the heart of the comparison. AI‑First is about organizational and architectural change. Prompt‑First is about artifact discipline and predictable outputs.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AI‑First changes what you build and how you build it. Prompt‑First changes how you communicate intent to the AI.</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conceptual hierarchy. Prompt‑First is necessary but not sufficient for AI‑First maturity.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pPr lvl="0" indent="0" marL="0">
              <a:buNone/>
            </a:pPr>
          </a:p>
          <a:p>
            <a:pPr lvl="0" indent="0" marL="0">
              <a:buNone/>
            </a:pPr>
            <a:r>
              <a:rPr/>
              <a:t>Why AI‑First “Teams increasingly express requirements in natural language. AI can interpret those requirements and generate scaffolding, code, tests, and documentation.” “This shifts the developer’s role from writing every line of code to defining intent, constraints, and quality expectations.” “The goal isn’t to replace engineering judgment—it’s to amplify it.”</a:t>
            </a:r>
          </a:p>
          <a:p>
            <a:pPr lvl="0" indent="0" marL="0">
              <a:buNone/>
            </a:pPr>
          </a:p>
          <a:p>
            <a:pPr lvl="0" indent="0" marL="0">
              <a:buNone/>
            </a:pPr>
            <a:r>
              <a:rPr/>
              <a:t>Core Principles</a:t>
            </a:r>
          </a:p>
          <a:p>
            <a:pPr lvl="0" indent="0" marL="0">
              <a:buNone/>
            </a:pPr>
          </a:p>
          <a:p>
            <a:pPr lvl="0" indent="0" marL="0">
              <a:buNone/>
            </a:pPr>
            <a:r>
              <a:rPr/>
              <a:t>Prompt‑First Design “We start with structured prompts that capture behaviors, invariants, and interfaces. These become durable artifacts, just like design docs.”</a:t>
            </a:r>
          </a:p>
          <a:p>
            <a:pPr lvl="0" indent="0" marL="0">
              <a:buNone/>
            </a:pPr>
          </a:p>
          <a:p>
            <a:pPr lvl="0" indent="0" marL="0">
              <a:buNone/>
            </a:pPr>
            <a:r>
              <a:rPr/>
              <a:t>AI‑Native Architecture “We design modules with clear boundaries so AI‑generated components remain predictable and testable. Deterministic interfaces are essential.”</a:t>
            </a:r>
          </a:p>
          <a:p>
            <a:pPr lvl="0" indent="0" marL="0">
              <a:buNone/>
            </a:pPr>
          </a:p>
          <a:p>
            <a:pPr lvl="0" indent="0" marL="0">
              <a:buNone/>
            </a:pPr>
            <a:r>
              <a:rPr/>
              <a:t>Human‑in‑the‑Loop “AI accelerates creation, but humans validate correctness, safety, and alignment with business intent. Review is built into the workflow.”</a:t>
            </a:r>
          </a:p>
          <a:p>
            <a:pPr lvl="0" indent="0" marL="0">
              <a:buNone/>
            </a:pPr>
          </a:p>
          <a:p>
            <a:pPr lvl="0" indent="0" marL="0">
              <a:buNone/>
            </a:pPr>
            <a:r>
              <a:rPr/>
              <a:t>Continuous Verification “Every AI‑generated artifact—code, tests, docs—runs through automated checks. Static analysis, unit tests, and guardrails catch drift early.”</a:t>
            </a:r>
          </a:p>
          <a:p>
            <a:pPr lvl="0" indent="0" marL="0">
              <a:buNone/>
            </a:pPr>
          </a:p>
          <a:p>
            <a:pPr lvl="0" indent="0" marL="0">
              <a:buNone/>
            </a:pPr>
            <a:r>
              <a:rPr/>
              <a:t>Lifecycle Governance “We treat prompts, outputs, and revisions as versioned assets. Provenance and traceability matter for compliance, debugging, and long‑term maintainability.”</a:t>
            </a:r>
          </a:p>
          <a:p>
            <a:pPr lvl="0" indent="0" marL="0">
              <a:buNone/>
            </a:pPr>
          </a:p>
          <a:p>
            <a:pPr lvl="0" indent="0" marL="0">
              <a:buNone/>
            </a:pPr>
            <a:r>
              <a:rPr/>
              <a:t>Outcomes “Teams iterate faster because intent moves directly into working prototypes.” “Documentation and test coverage improve because AI can generate them continuously.” “Developers spend more time on architecture and correctness, less on boilerplate.” “The result is software that’s more adaptable and resilient over time.”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introduces the core idea behind Prompt‑First development. Instead of starting with code, we start with intent. Prompts become the primary design artifact, and AI becomes the mechanism that turns intent into implementation.”</a:t>
            </a:r>
          </a:p>
          <a:p>
            <a:pPr lvl="0" indent="0" marL="0">
              <a:buNone/>
            </a:pPr>
          </a:p>
          <a:p>
            <a:pPr lvl="0" indent="0" marL="0">
              <a:buNone/>
            </a:pPr>
            <a:r>
              <a:rPr/>
              <a:t>Why Prompt‑First “Modern development increasingly begins with natural‑language descriptions of behavior. Prompt‑First formalizes that by treating prompts as first‑class inputs to the software lifecycle.” “The developer’s role shifts from writing code line‑by‑line to defining outcomes, constraints, invariants, and interfaces.” “This creates a tighter alignment between business intent and the resulting system.”</a:t>
            </a:r>
          </a:p>
          <a:p>
            <a:pPr lvl="0" indent="0" marL="0">
              <a:buNone/>
            </a:pPr>
          </a:p>
          <a:p>
            <a:pPr lvl="0" indent="0" marL="0">
              <a:buNone/>
            </a:pPr>
            <a:r>
              <a:rPr/>
              <a:t>Core Practices</a:t>
            </a:r>
          </a:p>
          <a:p>
            <a:pPr lvl="0" indent="0" marL="0">
              <a:buNone/>
            </a:pPr>
          </a:p>
          <a:p>
            <a:pPr lvl="0" indent="0" marL="0">
              <a:buNone/>
            </a:pPr>
            <a:r>
              <a:rPr/>
              <a:t>Structured Prompts “We don’t rely on ad‑hoc prompting. We use templates for features, APIs, data models, tests, and refactors. This creates consistency and reduces ambiguity.”</a:t>
            </a:r>
          </a:p>
          <a:p>
            <a:pPr lvl="0" indent="0" marL="0">
              <a:buNone/>
            </a:pPr>
          </a:p>
          <a:p>
            <a:pPr lvl="0" indent="0" marL="0">
              <a:buNone/>
            </a:pPr>
            <a:r>
              <a:rPr/>
              <a:t>Instruction Files “These are durable, versioned prompt artifacts that guide AI generation. They act like living design documents that the AI reads every time it produces code.”</a:t>
            </a:r>
          </a:p>
          <a:p>
            <a:pPr lvl="0" indent="0" marL="0">
              <a:buNone/>
            </a:pPr>
          </a:p>
          <a:p>
            <a:pPr lvl="0" indent="0" marL="0">
              <a:buNone/>
            </a:pPr>
            <a:r>
              <a:rPr/>
              <a:t>Deterministic Boundaries “We design modules with clear contracts so AI‑generated code stays predictable. The AI can generate the internals, but the interfaces remain stable and human‑controlled.”</a:t>
            </a:r>
          </a:p>
          <a:p>
            <a:pPr lvl="0" indent="0" marL="0">
              <a:buNone/>
            </a:pPr>
          </a:p>
          <a:p>
            <a:pPr lvl="0" indent="0" marL="0">
              <a:buNone/>
            </a:pPr>
            <a:r>
              <a:rPr/>
              <a:t>Validation Loops “Every AI‑generated artifact goes through automated tests and human review. The goal is to catch drift early and ensure correctness.”</a:t>
            </a:r>
          </a:p>
          <a:p>
            <a:pPr lvl="0" indent="0" marL="0">
              <a:buNone/>
            </a:pPr>
          </a:p>
          <a:p>
            <a:pPr lvl="0" indent="0" marL="0">
              <a:buNone/>
            </a:pPr>
            <a:r>
              <a:rPr/>
              <a:t>Prompt Versioning “Prompts evolve just like code. Tracking changes helps with debugging, reproducibility, and compliance.”</a:t>
            </a:r>
          </a:p>
          <a:p>
            <a:pPr lvl="0" indent="0" marL="0">
              <a:buNone/>
            </a:pPr>
          </a:p>
          <a:p>
            <a:pPr lvl="0" indent="0" marL="0">
              <a:buNone/>
            </a:pPr>
            <a:r>
              <a:rPr/>
              <a:t>Benefits “Teams move from idea to working software much faster because intent flows directly into generation.” “Generated components become more consistent because they’re driven by structured prompts, not one‑off instructions.” “Developers spend more time on architecture and correctness, less on boilerplate.” “The end result is a system that’s easier to maintain and adapt over time.”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these examples to help teams visualize the difference. Prompt‑First is about interfaces; AI‑First is about the entire workflow.</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with this summary to reinforce the distinction. It’s the cleanest way to remember the relationship.</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Objective: Fork the course repos Tasks Search GitHub for AI-Assisted-Software-Development Fork this repo This will create a personal copy under your GitHub account You can make changes without affecting the original repo</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installation, auth, and a quick coding session; encourage participants to follow along.</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Lab 1: Getting Started with GitHub Copilot</a:t>
            </a:r>
          </a:p>
          <a:p>
            <a:pPr lvl="0" indent="0" marL="0">
              <a:buNone/>
            </a:pPr>
          </a:p>
          <a:p>
            <a:pPr lvl="0" indent="0" marL="0">
              <a:buNone/>
            </a:pPr>
            <a:r>
              <a:rPr b="1"/>
              <a:t>Duration:</a:t>
            </a:r>
            <a:r>
              <a:rPr/>
              <a:t> 20-30 minutes </a:t>
            </a:r>
            <a:r>
              <a:rPr b="1"/>
              <a:t>Prerequisites:</a:t>
            </a:r>
            <a:r>
              <a:rPr/>
              <a:t> VS Code installed</a:t>
            </a:r>
          </a:p>
          <a:p>
            <a:pPr lvl="0" indent="0" marL="0">
              <a:buNone/>
            </a:pPr>
          </a:p>
          <a:p>
            <a:pPr lvl="0" indent="0" marL="0">
              <a:spcBef>
                <a:spcPts val="3000"/>
              </a:spcBef>
              <a:buNone/>
            </a:pPr>
            <a:r>
              <a:rPr b="1"/>
              <a:t>Objectives</a:t>
            </a:r>
          </a:p>
          <a:p>
            <a:pPr lvl="0" indent="0" marL="0">
              <a:buNone/>
            </a:pPr>
          </a:p>
          <a:p>
            <a:pPr lvl="0"/>
            <a:r>
              <a:rPr/>
              <a:t>Install and configure GitHub Copilot</a:t>
            </a:r>
          </a:p>
          <a:p>
            <a:pPr lvl="0" indent="0" marL="0">
              <a:buNone/>
            </a:pPr>
          </a:p>
          <a:p>
            <a:pPr lvl="0"/>
            <a:r>
              <a:rPr/>
              <a:t>Verify authentication with GitHub account</a:t>
            </a:r>
          </a:p>
          <a:p>
            <a:pPr lvl="0" indent="0" marL="0">
              <a:buNone/>
            </a:pPr>
          </a:p>
          <a:p>
            <a:pPr lvl="0"/>
            <a:r>
              <a:rPr/>
              <a:t>Explore the Copilot UI components</a:t>
            </a:r>
          </a:p>
          <a:p>
            <a:pPr lvl="0" indent="0" marL="0">
              <a:buNone/>
            </a:pPr>
          </a:p>
          <a:p>
            <a:pPr lvl="0" indent="0" marL="0">
              <a:spcBef>
                <a:spcPts val="3000"/>
              </a:spcBef>
              <a:buNone/>
            </a:pPr>
            <a:r>
              <a:rPr b="1"/>
              <a:t>Activities</a:t>
            </a:r>
          </a:p>
          <a:p>
            <a:pPr lvl="0" indent="0" marL="0">
              <a:buNone/>
            </a:pPr>
          </a:p>
          <a:p>
            <a:pPr lvl="0" indent="-342900" marL="342900">
              <a:buAutoNum type="arabicPeriod"/>
            </a:pPr>
            <a:r>
              <a:rPr/>
              <a:t>Install GitHub Copilot extension from VS Code marketplace</a:t>
            </a:r>
          </a:p>
          <a:p>
            <a:pPr lvl="0" indent="0" marL="0">
              <a:buNone/>
            </a:pPr>
          </a:p>
          <a:p>
            <a:pPr lvl="0" indent="-342900" marL="342900">
              <a:buAutoNum type="arabicPeriod"/>
            </a:pPr>
            <a:r>
              <a:rPr/>
              <a:t>Sign in with your GitHub account (verify Copilot subscription)</a:t>
            </a:r>
          </a:p>
          <a:p>
            <a:pPr lvl="0" indent="0" marL="0">
              <a:buNone/>
            </a:pPr>
          </a:p>
          <a:p>
            <a:pPr lvl="0" indent="-342900" marL="342900">
              <a:buAutoNum type="arabicPeriod"/>
            </a:pPr>
            <a:r>
              <a:rPr/>
              <a:t>Locate and explore:</a:t>
            </a:r>
          </a:p>
          <a:p>
            <a:pPr lvl="0" indent="0" marL="0">
              <a:buNone/>
            </a:pPr>
          </a:p>
          <a:p>
            <a:pPr lvl="0"/>
            <a:r>
              <a:rPr/>
              <a:t>Chat window and chat history</a:t>
            </a:r>
          </a:p>
          <a:p>
            <a:pPr lvl="0" indent="0" marL="0">
              <a:buNone/>
            </a:pPr>
          </a:p>
          <a:p>
            <a:pPr lvl="0"/>
            <a:r>
              <a:rPr/>
              <a:t>New chat button</a:t>
            </a:r>
          </a:p>
          <a:p>
            <a:pPr lvl="0" indent="0" marL="0">
              <a:buNone/>
            </a:pPr>
          </a:p>
          <a:p>
            <a:pPr lvl="0"/>
            <a:r>
              <a:rPr/>
              <a:t>Quick chat feature (keyboard shortcut)</a:t>
            </a:r>
          </a:p>
          <a:p>
            <a:pPr lvl="0" indent="0" marL="0">
              <a:buNone/>
            </a:pPr>
          </a:p>
          <a:p>
            <a:pPr lvl="0"/>
            <a:r>
              <a:rPr/>
              <a:t>Settings menu</a:t>
            </a:r>
          </a:p>
          <a:p>
            <a:pPr lvl="0" indent="0" marL="0">
              <a:buNone/>
            </a:pPr>
          </a:p>
          <a:p>
            <a:pPr lvl="0"/>
            <a:r>
              <a:rPr/>
              <a:t>Model selection dropdown</a:t>
            </a:r>
          </a:p>
          <a:p>
            <a:pPr lvl="0" indent="0" marL="0">
              <a:buNone/>
            </a:pPr>
          </a:p>
          <a:p>
            <a:pPr lvl="0" indent="-342900" marL="342900">
              <a:buAutoNum startAt="4" type="arabicPeriod"/>
            </a:pPr>
            <a:r>
              <a:rPr/>
              <a:t>Check your premium token usage bar</a:t>
            </a:r>
          </a:p>
          <a:p>
            <a:pPr lvl="0" indent="0" marL="0">
              <a:buNone/>
            </a:pPr>
          </a:p>
          <a:p>
            <a:pPr lvl="0" indent="-342900" marL="342900">
              <a:buAutoNum startAt="4" type="arabicPeriod"/>
            </a:pPr>
            <a:r>
              <a:rPr/>
              <a:t>Create a new chat and experiment with the interface</a:t>
            </a:r>
          </a:p>
          <a:p>
            <a:pPr lvl="0" indent="0" marL="0">
              <a:buNone/>
            </a:pPr>
          </a:p>
          <a:p>
            <a:pPr lvl="0" indent="0" marL="0">
              <a:spcBef>
                <a:spcPts val="3000"/>
              </a:spcBef>
              <a:buNone/>
            </a:pPr>
            <a:r>
              <a:rPr b="1"/>
              <a:t>Success Criteria</a:t>
            </a:r>
          </a:p>
          <a:p>
            <a:pPr lvl="0" indent="0" marL="0">
              <a:buNone/>
            </a:pPr>
          </a:p>
          <a:p>
            <a:pPr lvl="0"/>
            <a:r>
              <a:rPr/>
              <a:t>Copilot extension installed and authenticated</a:t>
            </a:r>
          </a:p>
          <a:p>
            <a:pPr lvl="0" indent="0" marL="0">
              <a:buNone/>
            </a:pPr>
          </a:p>
          <a:p>
            <a:pPr lvl="0"/>
            <a:r>
              <a:rPr/>
              <a:t>Can open/close chat windows</a:t>
            </a:r>
          </a:p>
          <a:p>
            <a:pPr lvl="0" indent="0" marL="0">
              <a:buNone/>
            </a:pPr>
          </a:p>
          <a:p>
            <a:pPr lvl="0"/>
            <a:r>
              <a:rPr/>
              <a:t>Understand difference between main chat and quick chat</a:t>
            </a:r>
          </a:p>
          <a:p>
            <a:pPr lvl="0" indent="0" marL="0">
              <a:buNone/>
            </a:pPr>
          </a:p>
          <a:p>
            <a:pPr lvl="0"/>
            <a:r>
              <a:rPr/>
              <a:t>Know where to find chat history</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Ask vs Edit modes and when each is most useful. Speak to Agent Mode and Custom Chat Modes briefly. We’ll work with those later.</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outlines the collaborative development process we’ll follow for building our calculator application — and mob programming will be central to how we work together.</a:t>
            </a:r>
          </a:p>
          <a:p>
            <a:pPr lvl="0" indent="0" marL="0">
              <a:buNone/>
            </a:pPr>
          </a:p>
          <a:p>
            <a:pPr lvl="0" indent="0" marL="0">
              <a:buNone/>
            </a:pPr>
            <a:r>
              <a:rPr/>
              <a:t>Except for Project Setup and Basic Arithmetic functions, the mob controls the direction of the implementation. The other labs are optional and can be used when the mob directs the development of that feature or as suggestions should the mob struggle for direction.</a:t>
            </a:r>
          </a:p>
          <a:p>
            <a:pPr lvl="0" indent="0" marL="0">
              <a:buNone/>
            </a:pPr>
          </a:p>
          <a:p>
            <a:pPr lvl="0" indent="0" marL="0">
              <a:buNone/>
            </a:pPr>
            <a:r>
              <a:rPr/>
              <a:t>We begin with Project Setup, where the team configures the environment, aligns on goals, and prepares the repo. This is done as a mob — one keyboard, one screen, and everyone contributing ideas in real time. It ensures shared understanding from the start.</a:t>
            </a:r>
          </a:p>
          <a:p>
            <a:pPr lvl="0" indent="0" marL="0">
              <a:buNone/>
            </a:pPr>
          </a:p>
          <a:p>
            <a:pPr lvl="0" indent="0" marL="0">
              <a:buNone/>
            </a:pPr>
            <a:r>
              <a:rPr/>
              <a:t>At the end of the day, we introduce Evergreen Software Development — a mindset of continuous improvement.</a:t>
            </a:r>
          </a:p>
          <a:p>
            <a:pPr lvl="0" indent="0" marL="0">
              <a:buNone/>
            </a:pPr>
          </a:p>
          <a:p>
            <a:pPr lvl="0" indent="0" marL="0">
              <a:buNone/>
            </a:pPr>
            <a:r>
              <a:rPr/>
              <a:t>Random ideas: Implementing Observability</a:t>
            </a:r>
          </a:p>
          <a:p>
            <a:pPr lvl="0" indent="0" marL="0">
              <a:buNone/>
            </a:pPr>
          </a:p>
          <a:p>
            <a:pPr lvl="0" indent="0" marL="0">
              <a:buNone/>
            </a:pPr>
            <a:r>
              <a:rPr/>
              <a:t>Scaffold a new C# command line project using .NET. The project should include: A Program.cs file with a simple “Hello, World!” example. A .csproj file configured for a console application. A README.md with build and run instructions. The project should be ready to build and run from the command line.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no single model is perfect. Using multiple models gives teams a broader perspective and helps catch errors or blind spots that one model alone might miss.</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treat model outputs like multiple drafts from different engineers. The goal is not to pick a winner — it’s to synthesize the best ideas.</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that risk assessment is essential in brownfield systems. Even if a model produces elegant code, it may be too risky without proper guardrails.</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synthesis is the real power of multi‑model workflows. Teams can build a composite solution that is better than any single model’s output.</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think like reviewers comparing multiple PRs. The goal is to understand model behavior, not to pick a favorite.</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helps participants see how different models interpret the same instructions — a key skill for multi‑model workflows.</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builds confidence in orchestrating multiple models as collaborators. The goal is synthesis, not competition.</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the foundation for safe, predictable AI‑assisted development.</a:t>
            </a:r>
          </a:p>
          <a:p>
            <a:pPr lvl="0" indent="0" marL="0">
              <a:buNone/>
            </a:pPr>
          </a:p>
          <a:p>
            <a:pPr lvl="0" indent="0" marL="0">
              <a:buNone/>
            </a:pPr>
            <a:r>
              <a:rPr/>
              <a:t>Guardrails ensure that AI output is intentional, reviewable, and aligned with architectural and organizational standards.</a:t>
            </a:r>
          </a:p>
          <a:p>
            <a:pPr lvl="0" indent="0" marL="0">
              <a:buNone/>
            </a:pPr>
          </a:p>
          <a:p>
            <a:pPr lvl="0" indent="0" marL="0">
              <a:buNone/>
            </a:pPr>
            <a:r>
              <a:rPr/>
              <a:t>These practices turn AI from a novelty into a disciplined engineering tool.</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Clarify the distinctions: instructions are stable, prompts are ephemeral, and Agents define how the model behaves in a particular role.</a:t>
            </a:r>
          </a:p>
          <a:p>
            <a:pPr lvl="0" indent="0" marL="0">
              <a:buNone/>
            </a:pPr>
          </a:p>
          <a:p>
            <a:pPr lvl="0" indent="0" marL="0">
              <a:buNone/>
            </a:pPr>
            <a:r>
              <a:rPr/>
              <a:t>Together, they form a layered control system that shapes AI behavior and reduces drift.</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storing these artifacts as files allows teams to version them, review them, and reuse them.</a:t>
            </a:r>
          </a:p>
          <a:p>
            <a:pPr lvl="0" indent="0" marL="0">
              <a:buNone/>
            </a:pPr>
          </a:p>
          <a:p>
            <a:pPr lvl="0" indent="0" marL="0">
              <a:buNone/>
            </a:pPr>
            <a:r>
              <a:rPr/>
              <a:t>This is essential for brownfield modernization, where consistency and traceability matter.</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Meta prompts are prompts about prompts.</a:t>
            </a:r>
          </a:p>
          <a:p>
            <a:pPr lvl="0" indent="0" marL="0">
              <a:buNone/>
            </a:pPr>
          </a:p>
          <a:p>
            <a:pPr lvl="0" indent="0" marL="0">
              <a:buNone/>
            </a:pPr>
            <a:r>
              <a:rPr/>
              <a:t>They let the AI generate structured artifacts on demand.</a:t>
            </a:r>
          </a:p>
          <a:p>
            <a:pPr lvl="0" indent="0" marL="0">
              <a:buNone/>
            </a:pPr>
          </a:p>
          <a:p>
            <a:pPr lvl="0" indent="0" marL="0">
              <a:buNone/>
            </a:pPr>
            <a:r>
              <a:rPr/>
              <a:t>This reduces manual effort and ensures that all artifacts follow a consistent pattern.</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When asking AI to generate an artifact, be explicit about structure and constraints.</a:t>
            </a:r>
          </a:p>
          <a:p>
            <a:pPr lvl="0" indent="0" marL="0">
              <a:buNone/>
            </a:pPr>
          </a:p>
          <a:p>
            <a:pPr lvl="0" indent="0" marL="0">
              <a:buNone/>
            </a:pPr>
            <a:r>
              <a:rPr/>
              <a:t>This prevents drift and ensures the output is usable without heavy editing.</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is essential for conformance, auditability, and long‑term maintainability.</a:t>
            </a:r>
          </a:p>
          <a:p>
            <a:pPr lvl="0" indent="0" marL="0">
              <a:buNone/>
            </a:pPr>
          </a:p>
          <a:p>
            <a:pPr lvl="0" indent="0" marL="0">
              <a:buNone/>
            </a:pPr>
            <a:r>
              <a:rPr/>
              <a:t>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is essential for conformance, auditability, and long‑term maintainability.</a:t>
            </a:r>
          </a:p>
          <a:p>
            <a:pPr lvl="0" indent="0" marL="0">
              <a:buNone/>
            </a:pPr>
          </a:p>
          <a:p>
            <a:pPr lvl="0" indent="0" marL="0">
              <a:buNone/>
            </a:pPr>
            <a:r>
              <a:rPr/>
              <a:t>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introduces the purpose of the AI-Assisted Output Instructions file: to enforce traceability, quality, and compliance for all AI-generated artifacts in the repository.</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lists the mandatory metadata fields that must be embedded in every AI-generated file.</a:t>
            </a:r>
          </a:p>
          <a:p>
            <a:pPr lvl="0" indent="0" marL="0">
              <a:buNone/>
            </a:pPr>
          </a:p>
          <a:p>
            <a:pPr lvl="0" indent="0" marL="0">
              <a:buNone/>
            </a:pPr>
            <a:r>
              <a:rPr/>
              <a:t>These fields ensure each artifact can be traced back to its origin, model, and operator.</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explains where and how to place provenance metadata.</a:t>
            </a:r>
          </a:p>
          <a:p>
            <a:pPr lvl="0" indent="0" marL="0">
              <a:buNone/>
            </a:pPr>
          </a:p>
          <a:p>
            <a:pPr lvl="0" indent="0" marL="0">
              <a:buNone/>
            </a:pPr>
            <a:r>
              <a:rPr/>
              <a:t>Markdown files must use embedded YAML front matter; only non-embeddable formats use sidecar files.</a:t>
            </a:r>
          </a:p>
          <a:p>
            <a:pPr lvl="0" indent="0" marL="0">
              <a:buNone/>
            </a:pPr>
          </a:p>
          <a:p>
            <a:pPr lvl="0" indent="0" marL="0">
              <a:buNone/>
            </a:pPr>
            <a:r>
              <a:rPr/>
              <a:t>Note: Instructions files have limited support for metadata and must use sidecar files</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describes the logging structure for AI chats.</a:t>
            </a:r>
          </a:p>
          <a:p>
            <a:pPr lvl="0" indent="0" marL="0">
              <a:buNone/>
            </a:pPr>
          </a:p>
          <a:p>
            <a:pPr lvl="0" indent="0" marL="0">
              <a:buNone/>
            </a:pPr>
            <a:r>
              <a:rPr/>
              <a:t>Each session gets its own folder, transcript, and summary, ensuring clear separation and traceability.</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summarizes the quality gates and PR requirements.</a:t>
            </a:r>
          </a:p>
          <a:p>
            <a:pPr lvl="0" indent="0" marL="0">
              <a:buNone/>
            </a:pPr>
          </a:p>
          <a:p>
            <a:pPr lvl="0" indent="0" marL="0">
              <a:buNone/>
            </a:pPr>
            <a:r>
              <a:rPr/>
              <a:t>Artifacts must be fully documented, logs must exist, and sensitive data must be avoided.</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highlights the requirements for GitHub Copilot integration.</a:t>
            </a:r>
          </a:p>
          <a:p>
            <a:pPr lvl="0" indent="0" marL="0">
              <a:buNone/>
            </a:pPr>
          </a:p>
          <a:p>
            <a:pPr lvl="0" indent="0" marL="0">
              <a:buNone/>
            </a:pPr>
            <a:r>
              <a:rPr/>
              <a:t>Copilot should automate chat management, metadata injection, and enforce compliance before generating files.</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explains enforcement:</a:t>
            </a:r>
          </a:p>
          <a:p>
            <a:pPr lvl="0" indent="0" marL="0">
              <a:buNone/>
            </a:pPr>
          </a:p>
          <a:p>
            <a:pPr lvl="0" indent="0" marL="0">
              <a:buNone/>
            </a:pPr>
            <a:r>
              <a:rPr/>
              <a:t>PRs are blocked if requirements are not met.</a:t>
            </a:r>
          </a:p>
          <a:p>
            <a:pPr lvl="0" indent="0" marL="0">
              <a:buNone/>
            </a:pPr>
          </a:p>
          <a:p>
            <a:pPr lvl="0" indent="0" marL="0">
              <a:buNone/>
            </a:pPr>
            <a:r>
              <a:rPr/>
              <a:t>Any missing provenance must be remediated before merging.</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reinforces the value of these instructions: they ensure every AI-assisted artifact is trustworthy, auditable, and compliant with team and industry standards.</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builds foundational prompt‑writing skills. Encourage participants to choose a real task to make the exercise concrete.</a:t>
            </a:r>
          </a:p>
          <a:p>
            <a:pPr lvl="0" indent="0" marL="0">
              <a:buNone/>
            </a:pPr>
          </a:p>
          <a:p>
            <a:pPr lvl="0" indent="0" marL="0">
              <a:buNone/>
            </a:pPr>
            <a:r>
              <a:rPr/>
              <a:t>Prompt: Create a prompt file that creates an instruction file for evergreen software development</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reinforces the evergreen mindset and produces a reusable artifact for future AI‑assisted work.</a:t>
            </a:r>
          </a:p>
          <a:p>
            <a:pPr lvl="0" indent="0" marL="0">
              <a:buNone/>
            </a:pPr>
          </a:p>
          <a:p>
            <a:pPr lvl="0" indent="0" marL="0">
              <a:buNone/>
            </a:pPr>
            <a:r>
              <a:rPr/>
              <a:t>Prompt: Submit the prompt #file:create-evergreen-software-instructions.prompt.md</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helps participants shape AI behavior to match brownfield realities.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Participants experience the leverage of meta prompts and see how AI can accelerate documentation.</a:t>
            </a:r>
          </a:p>
          <a:p>
            <a:pPr lvl="0" indent="0" marL="0">
              <a:buNone/>
            </a:pPr>
          </a:p>
          <a:p>
            <a:pPr lvl="0" indent="0" marL="0">
              <a:buNone/>
            </a:pPr>
            <a:r>
              <a:rPr/>
              <a:t>Prompts:</a:t>
            </a:r>
          </a:p>
          <a:p>
            <a:pPr lvl="0" indent="0" marL="0">
              <a:buNone/>
            </a:pPr>
          </a:p>
          <a:p>
            <a:pPr lvl="0" indent="0" marL="0">
              <a:buNone/>
            </a:pPr>
            <a:r>
              <a:rPr/>
              <a:t>Create instruction files for the backend technologies</a:t>
            </a:r>
          </a:p>
          <a:p>
            <a:pPr lvl="0" indent="0" marL="0">
              <a:buNone/>
            </a:pPr>
          </a:p>
          <a:p>
            <a:pPr lvl="0" indent="0" marL="0">
              <a:buNone/>
            </a:pPr>
            <a:r>
              <a:rPr/>
              <a:t>Create instruction files for the front-end technologies</a:t>
            </a:r>
          </a:p>
          <a:p>
            <a:pPr lvl="0" indent="0" marL="0">
              <a:buNone/>
            </a:pPr>
          </a:p>
          <a:p>
            <a:pPr lvl="0" indent="0" marL="0">
              <a:buNone/>
            </a:pPr>
            <a:r>
              <a:rPr/>
              <a:t>Create instruction files for the front-end technologies</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builds intuition for context management—one of the most important AI‑era engineering skills.</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this presentation on instruction file applyTo patterns. This is a critical concept for managing GitHub Copilot’s behavior across your codebase. By the end of this session, you’ll understand how to precisely control which files your instruction files apply to using glob patterns.</a:t>
            </a:r>
          </a:p>
          <a:p>
            <a:pPr lvl="0" indent="0" marL="0">
              <a:buNone/>
            </a:pPr>
          </a:p>
          <a:p>
            <a:pPr lvl="0" indent="0" marL="0">
              <a:buNone/>
            </a:pPr>
            <a:r>
              <a:rPr b="1"/>
              <a:t>Timing</a:t>
            </a:r>
            <a:r>
              <a:rPr/>
              <a:t>: 30 seconds for title slide </a:t>
            </a:r>
            <a:r>
              <a:rPr b="1"/>
              <a:t>Key Point</a:t>
            </a:r>
            <a:r>
              <a:rPr/>
              <a:t>: This is about precision - getting Copilot to apply the right rules to the right files </a:t>
            </a:r>
            <a:r>
              <a:rPr b="1"/>
              <a:t>Transition</a:t>
            </a:r>
            <a:r>
              <a:rPr/>
              <a:t>: “Let’s start by understanding what the applyTo field actually does”</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applyTo field is part of the YAML front matter in instruction files. It uses glob patterns to match file paths. When you open a file in VS Code, Copilot checks all instruction files and loads only those whose applyTo pattern matches the current file.</a:t>
            </a:r>
          </a:p>
          <a:p>
            <a:pPr lvl="0" indent="0" marL="0">
              <a:buNone/>
            </a:pPr>
          </a:p>
          <a:p>
            <a:pPr lvl="0" indent="0" marL="0">
              <a:buNone/>
            </a:pPr>
            <a:r>
              <a:rPr b="1"/>
              <a:t>Why this matters</a:t>
            </a:r>
            <a:r>
              <a:rPr/>
              <a:t>: Without proper applyTo patterns, you might have documentation standards trying to apply to code files, or architecture patterns trying to apply to configuration files. This creates confusion and can lead to poor AI suggestions.</a:t>
            </a:r>
          </a:p>
          <a:p>
            <a:pPr lvl="0" indent="0" marL="0">
              <a:buNone/>
            </a:pPr>
          </a:p>
          <a:p>
            <a:pPr lvl="0" indent="0" marL="0">
              <a:buNone/>
            </a:pPr>
            <a:r>
              <a:rPr b="1"/>
              <a:t>Example to share</a:t>
            </a:r>
            <a:r>
              <a:rPr/>
              <a:t>: “Imagine having CQRS architecture instructions applying to your README files - that would be nonsensical. The applyTo field prevents this.”</a:t>
            </a:r>
          </a:p>
          <a:p>
            <a:pPr lvl="0" indent="0" marL="0">
              <a:buNone/>
            </a:pPr>
          </a:p>
          <a:p>
            <a:pPr lvl="0" indent="0" marL="0">
              <a:buNone/>
            </a:pPr>
            <a:r>
              <a:rPr b="1"/>
              <a:t>Timing</a:t>
            </a:r>
            <a:r>
              <a:rPr/>
              <a:t>: 1-1.5 minutes </a:t>
            </a:r>
            <a:r>
              <a:rPr b="1"/>
              <a:t>Transition</a:t>
            </a:r>
            <a:r>
              <a:rPr/>
              <a:t>: “Now let’s look at the most common pattern types you’ll use”</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double asterisk wildcard is the universal matcher. Use this for repository-wide policies that should apply everywhere - things like your AI-assisted output instructions, general quality standards, or compliance requirements.</a:t>
            </a:r>
          </a:p>
          <a:p>
            <a:pPr lvl="0" indent="0" marL="0">
              <a:buNone/>
            </a:pPr>
          </a:p>
          <a:p>
            <a:pPr lvl="0" indent="0" marL="0">
              <a:buNone/>
            </a:pPr>
            <a:r>
              <a:rPr b="1"/>
              <a:t>Important warning</a:t>
            </a:r>
            <a:r>
              <a:rPr/>
              <a:t>: Overusing universal patterns is a common mistake. Every universal instruction adds to the context Copilot needs to process for every file. If you have 10 instruction files all using “**”, Copilot has to load all 10 for every single file you open.</a:t>
            </a:r>
          </a:p>
          <a:p>
            <a:pPr lvl="0" indent="0" marL="0">
              <a:buNone/>
            </a:pPr>
          </a:p>
          <a:p>
            <a:pPr lvl="0" indent="0" marL="0">
              <a:buNone/>
            </a:pPr>
            <a:r>
              <a:rPr b="1"/>
              <a:t>Best practice</a:t>
            </a:r>
            <a:r>
              <a:rPr/>
              <a:t>: Reserve universal patterns for truly universal policies. Most instructions should be more specific.</a:t>
            </a:r>
          </a:p>
          <a:p>
            <a:pPr lvl="0" indent="0" marL="0">
              <a:buNone/>
            </a:pPr>
          </a:p>
          <a:p>
            <a:pPr lvl="0" indent="0" marL="0">
              <a:buNone/>
            </a:pPr>
            <a:r>
              <a:rPr b="1"/>
              <a:t>Real example from the repo</a:t>
            </a:r>
            <a:r>
              <a:rPr/>
              <a:t>: The ai-assisted-output.instructions.md uses “*</a:t>
            </a:r>
            <a:r>
              <a:rPr i="1"/>
              <a:t>/</a:t>
            </a:r>
            <a:r>
              <a:rPr/>
              <a:t>” because AI provenance metadata requirements apply to all AI-generated content regardless of file type.</a:t>
            </a:r>
          </a:p>
          <a:p>
            <a:pPr lvl="0" indent="0" marL="0">
              <a:buNone/>
            </a:pPr>
          </a:p>
          <a:p>
            <a:pPr lvl="0" indent="0" marL="0">
              <a:buNone/>
            </a:pPr>
            <a:r>
              <a:rPr b="1"/>
              <a:t>Timing</a:t>
            </a:r>
            <a:r>
              <a:rPr/>
              <a:t>: 1.5 minutes </a:t>
            </a:r>
            <a:r>
              <a:rPr b="1"/>
              <a:t>Ask audience</a:t>
            </a:r>
            <a:r>
              <a:rPr/>
              <a:t>: “How many instruction files do you think should realistically use universal patterns? Usually no more than 2-3.”</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File extension matching is probably the most common pattern you’ll use. The key syntax here is the brace expansion - that’s the curly braces with comma-separated extensions.</a:t>
            </a:r>
          </a:p>
          <a:p>
            <a:pPr lvl="0" indent="0" marL="0">
              <a:buNone/>
            </a:pPr>
          </a:p>
          <a:p>
            <a:pPr lvl="0" indent="0" marL="0">
              <a:buNone/>
            </a:pPr>
            <a:r>
              <a:rPr b="1"/>
              <a:t>Walking through the examples</a:t>
            </a:r>
            <a:r>
              <a:rPr/>
              <a:t>:</a:t>
            </a:r>
          </a:p>
          <a:p>
            <a:pPr lvl="0" indent="0" marL="0">
              <a:buNone/>
            </a:pPr>
          </a:p>
          <a:p>
            <a:pPr lvl="0" indent="-342900" marL="342900">
              <a:buAutoNum type="arabicPeriod"/>
            </a:pPr>
            <a:r>
              <a:rPr/>
              <a:t>“*</a:t>
            </a:r>
            <a:r>
              <a:rPr i="1"/>
              <a:t>/</a:t>
            </a:r>
            <a:r>
              <a:rPr/>
              <a:t>.md” - Double star means any directory depth, forward slash, star means any filename, dot md means must end with .md</a:t>
            </a:r>
          </a:p>
          <a:p>
            <a:pPr lvl="0" indent="0" marL="0">
              <a:buNone/>
            </a:pPr>
          </a:p>
          <a:p>
            <a:pPr lvl="0" indent="-342900" marL="342900">
              <a:buAutoNum type="arabicPeriod"/>
            </a:pPr>
            <a:r>
              <a:rPr/>
              <a:t>The brace expansion lets you list multiple extensions without repeating the pattern</a:t>
            </a:r>
          </a:p>
          <a:p>
            <a:pPr lvl="0" indent="0" marL="0">
              <a:buNone/>
            </a:pPr>
          </a:p>
          <a:p>
            <a:pPr lvl="0" indent="-342900" marL="342900">
              <a:buAutoNum type="arabicPeriod"/>
            </a:pPr>
            <a:r>
              <a:rPr/>
              <a:t>You can be even more specific with compound extensions like .instructions.md</a:t>
            </a:r>
          </a:p>
          <a:p>
            <a:pPr lvl="0" indent="0" marL="0">
              <a:buNone/>
            </a:pPr>
          </a:p>
          <a:p>
            <a:pPr lvl="0" indent="0" marL="0">
              <a:buNone/>
            </a:pPr>
            <a:r>
              <a:rPr b="1"/>
              <a:t>Pro tip</a:t>
            </a:r>
            <a:r>
              <a:rPr/>
              <a:t>: When you need to apply instructions to code files across multiple languages, use the brace expansion. In this repo, vertical slice architecture instructions use “*</a:t>
            </a:r>
            <a:r>
              <a:rPr i="1"/>
              <a:t>/</a:t>
            </a:r>
            <a:r>
              <a:rPr/>
              <a:t>.{cs,ts,js,py,java,go,rb}” to cover all supported languages.</a:t>
            </a:r>
          </a:p>
          <a:p>
            <a:pPr lvl="0" indent="0" marL="0">
              <a:buNone/>
            </a:pPr>
          </a:p>
          <a:p>
            <a:pPr lvl="0" indent="0" marL="0">
              <a:buNone/>
            </a:pPr>
            <a:r>
              <a:rPr b="1"/>
              <a:t>Common mistake</a:t>
            </a:r>
            <a:r>
              <a:rPr/>
              <a:t>: Forgetting the </a:t>
            </a:r>
            <a:r>
              <a:rPr b="1"/>
              <a:t>/ at the start means only files in the root directory match </a:t>
            </a:r>
            <a:r>
              <a:rPr/>
              <a:t>Correct</a:t>
            </a:r>
            <a:r>
              <a:rPr b="1"/>
              <a:t>: “</a:t>
            </a:r>
            <a:r>
              <a:rPr/>
              <a:t>/</a:t>
            </a:r>
            <a:r>
              <a:rPr i="1"/>
              <a:t>.md” matches all markdown files recursively </a:t>
            </a:r>
            <a:r>
              <a:rPr b="1" i="1"/>
              <a:t>Incorrect</a:t>
            </a:r>
            <a:r>
              <a:rPr i="1"/>
              <a:t>: “</a:t>
            </a:r>
            <a:r>
              <a:rPr/>
              <a:t>.md” only matches markdown files in root directory</a:t>
            </a:r>
          </a:p>
          <a:p>
            <a:pPr lvl="0" indent="0" marL="0">
              <a:buNone/>
            </a:pPr>
          </a:p>
          <a:p>
            <a:pPr lvl="0" indent="0" marL="0">
              <a:buNone/>
            </a:pPr>
            <a:r>
              <a:rPr b="1"/>
              <a:t>Timing</a:t>
            </a:r>
            <a:r>
              <a:rPr/>
              <a:t>: 2 minutes </a:t>
            </a:r>
            <a:r>
              <a:rPr b="1"/>
              <a:t>Demonstrate</a:t>
            </a:r>
            <a:r>
              <a:rPr/>
              <a:t>: Show how the pattern breaks down visually</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Directory-specific patterns are crucial for organizing large codebases. They let you say “these architecture rules only apply to source code” or “these formatting rules only apply to slides.”</a:t>
            </a:r>
          </a:p>
          <a:p>
            <a:pPr lvl="0" indent="0" marL="0">
              <a:buNone/>
            </a:pPr>
          </a:p>
          <a:p>
            <a:pPr lvl="0" indent="0" marL="0">
              <a:buNone/>
            </a:pPr>
            <a:r>
              <a:rPr b="1"/>
              <a:t>Breaking down the syntax</a:t>
            </a:r>
            <a:r>
              <a:rPr/>
              <a:t>:</a:t>
            </a:r>
          </a:p>
          <a:p>
            <a:pPr lvl="0" indent="0" marL="0">
              <a:buNone/>
            </a:pPr>
          </a:p>
          <a:p>
            <a:pPr lvl="0"/>
            <a:r>
              <a:rPr/>
              <a:t>“Slides/individual-slides/</a:t>
            </a:r>
            <a:r>
              <a:rPr b="1"/>
              <a:t>” - Note there’s no leading slash or asterisks. This matches the specific directory path, then /</a:t>
            </a:r>
            <a:r>
              <a:rPr/>
              <a:t> means everything underneath it</a:t>
            </a:r>
          </a:p>
          <a:p>
            <a:pPr lvl="0" indent="0" marL="0">
              <a:buNone/>
            </a:pPr>
          </a:p>
          <a:p>
            <a:pPr lvl="0"/>
            <a:r>
              <a:rPr/>
              <a:t>“src/Features/*</a:t>
            </a:r>
            <a:r>
              <a:rPr i="1"/>
              <a:t>/</a:t>
            </a:r>
            <a:r>
              <a:rPr/>
              <a:t>.cs” - Combines directory path with file extension filter</a:t>
            </a:r>
          </a:p>
          <a:p>
            <a:pPr lvl="0" indent="0" marL="0">
              <a:buNone/>
            </a:pPr>
          </a:p>
          <a:p>
            <a:pPr lvl="0"/>
            <a:r>
              <a:rPr/>
              <a:t>The pattern is always relative to the repository root</a:t>
            </a:r>
          </a:p>
          <a:p>
            <a:pPr lvl="0" indent="0" marL="0">
              <a:buNone/>
            </a:pPr>
          </a:p>
          <a:p>
            <a:pPr lvl="0" indent="0" marL="0">
              <a:buNone/>
            </a:pPr>
            <a:r>
              <a:rPr b="1"/>
              <a:t>Real-world example from this repo</a:t>
            </a:r>
            <a:r>
              <a:rPr/>
              <a:t>: The marp-slides.instructions.md uses “Slides/individual-slides/**” because those formatting rules should only apply to presentation slides, not to other markdown files like README.md or documentation.</a:t>
            </a:r>
          </a:p>
          <a:p>
            <a:pPr lvl="0" indent="0" marL="0">
              <a:buNone/>
            </a:pPr>
          </a:p>
          <a:p>
            <a:pPr lvl="0" indent="0" marL="0">
              <a:buNone/>
            </a:pPr>
            <a:r>
              <a:rPr b="1"/>
              <a:t>Another example</a:t>
            </a:r>
            <a:r>
              <a:rPr/>
              <a:t>: You might have vertical-slice.instructions.md with “src/Features/*</a:t>
            </a:r>
            <a:r>
              <a:rPr i="1"/>
              <a:t>/</a:t>
            </a:r>
            <a:r>
              <a:rPr/>
              <a:t>.cs” so those architectural patterns only apply to feature code, not to infrastructure or configuration code.</a:t>
            </a:r>
          </a:p>
          <a:p>
            <a:pPr lvl="0" indent="0" marL="0">
              <a:buNone/>
            </a:pPr>
          </a:p>
          <a:p>
            <a:pPr lvl="0" indent="0" marL="0">
              <a:buNone/>
            </a:pPr>
            <a:r>
              <a:rPr b="1"/>
              <a:t>Timing</a:t>
            </a:r>
            <a:r>
              <a:rPr/>
              <a:t>: 2 minutes </a:t>
            </a:r>
            <a:r>
              <a:rPr b="1"/>
              <a:t>Visual aid</a:t>
            </a:r>
            <a:r>
              <a:rPr/>
              <a:t>: If possible, show the repository structure and how the pattern matches </a:t>
            </a:r>
            <a:r>
              <a:rPr b="1"/>
              <a:t>Transition</a:t>
            </a:r>
            <a:r>
              <a:rPr/>
              <a:t>: “Let’s dive deeper into the glob syntax itself”</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your reference guide for glob pattern syntax. Let’s walk through each one with careful attention to the distinctions:</a:t>
            </a:r>
          </a:p>
          <a:p>
            <a:pPr lvl="0" indent="0" marL="0">
              <a:buNone/>
            </a:pPr>
          </a:p>
          <a:p>
            <a:pPr lvl="0" indent="0" marL="0">
              <a:buNone/>
            </a:pPr>
            <a:r>
              <a:rPr b="1"/>
              <a:t>Single asterisk (*)</a:t>
            </a:r>
            <a:r>
              <a:rPr/>
              <a:t>:</a:t>
            </a:r>
          </a:p>
          <a:p>
            <a:pPr lvl="0" indent="0" marL="0">
              <a:buNone/>
            </a:pPr>
          </a:p>
          <a:p>
            <a:pPr lvl="0"/>
            <a:r>
              <a:rPr/>
              <a:t>Matches any characters EXCEPT forward slash</a:t>
            </a:r>
          </a:p>
          <a:p>
            <a:pPr lvl="0" indent="0" marL="0">
              <a:buNone/>
            </a:pPr>
          </a:p>
          <a:p>
            <a:pPr lvl="0"/>
            <a:r>
              <a:rPr/>
              <a:t>“*.md” matches “README.md” in the current directory</a:t>
            </a:r>
          </a:p>
          <a:p>
            <a:pPr lvl="0" indent="0" marL="0">
              <a:buNone/>
            </a:pPr>
          </a:p>
          <a:p>
            <a:pPr lvl="0"/>
            <a:r>
              <a:rPr/>
              <a:t>Does NOT match “docs/README.md” - the slash breaks the match</a:t>
            </a:r>
          </a:p>
          <a:p>
            <a:pPr lvl="0" indent="0" marL="0">
              <a:buNone/>
            </a:pPr>
          </a:p>
          <a:p>
            <a:pPr lvl="0"/>
            <a:r>
              <a:rPr/>
              <a:t>Think of it as “wildcard within one directory level”</a:t>
            </a:r>
          </a:p>
          <a:p>
            <a:pPr lvl="0" indent="0" marL="0">
              <a:buNone/>
            </a:pPr>
          </a:p>
          <a:p>
            <a:pPr lvl="0" indent="0" marL="0">
              <a:buNone/>
            </a:pPr>
            <a:r>
              <a:rPr b="1"/>
              <a:t>Double asterisk (</a:t>
            </a:r>
            <a:r>
              <a:rPr/>
              <a:t>)**:</a:t>
            </a:r>
          </a:p>
          <a:p>
            <a:pPr lvl="0" indent="0" marL="0">
              <a:buNone/>
            </a:pPr>
          </a:p>
          <a:p>
            <a:pPr lvl="0"/>
            <a:r>
              <a:rPr/>
              <a:t>This is the recursive directory matcher</a:t>
            </a:r>
          </a:p>
          <a:p>
            <a:pPr lvl="0" indent="0" marL="0">
              <a:buNone/>
            </a:pPr>
          </a:p>
          <a:p>
            <a:pPr lvl="0"/>
            <a:r>
              <a:rPr/>
              <a:t>Can match zero or more directory levels</a:t>
            </a:r>
          </a:p>
          <a:p>
            <a:pPr lvl="0" indent="0" marL="0">
              <a:buNone/>
            </a:pPr>
          </a:p>
          <a:p>
            <a:pPr lvl="0"/>
            <a:r>
              <a:rPr/>
              <a:t>“*</a:t>
            </a:r>
            <a:r>
              <a:rPr i="1"/>
              <a:t>/</a:t>
            </a:r>
            <a:r>
              <a:rPr/>
              <a:t>.md” matches files at any depth</a:t>
            </a:r>
          </a:p>
          <a:p>
            <a:pPr lvl="0" indent="0" marL="0">
              <a:buNone/>
            </a:pPr>
          </a:p>
          <a:p>
            <a:pPr lvl="0"/>
            <a:r>
              <a:rPr/>
              <a:t>Critical: It must be its own path segment - “</a:t>
            </a:r>
            <a:r>
              <a:rPr b="1"/>
              <a:t>/” not ”</a:t>
            </a:r>
            <a:r>
              <a:rPr/>
              <a:t>/file.md”</a:t>
            </a:r>
          </a:p>
          <a:p>
            <a:pPr lvl="0" indent="0" marL="0">
              <a:buNone/>
            </a:pPr>
          </a:p>
          <a:p>
            <a:pPr lvl="0" indent="0" marL="0">
              <a:buNone/>
            </a:pPr>
            <a:r>
              <a:rPr b="1"/>
              <a:t>Question mark (?)</a:t>
            </a:r>
            <a:r>
              <a:rPr/>
              <a:t>:</a:t>
            </a:r>
          </a:p>
          <a:p>
            <a:pPr lvl="0" indent="0" marL="0">
              <a:buNone/>
            </a:pPr>
          </a:p>
          <a:p>
            <a:pPr lvl="0"/>
            <a:r>
              <a:rPr/>
              <a:t>Exactly one character (useful for versioned files)</a:t>
            </a:r>
          </a:p>
          <a:p>
            <a:pPr lvl="0" indent="0" marL="0">
              <a:buNone/>
            </a:pPr>
          </a:p>
          <a:p>
            <a:pPr lvl="0"/>
            <a:r>
              <a:rPr/>
              <a:t>“config?.json” matches “config1.json” and “configA.json”</a:t>
            </a:r>
          </a:p>
          <a:p>
            <a:pPr lvl="0" indent="0" marL="0">
              <a:buNone/>
            </a:pPr>
          </a:p>
          <a:p>
            <a:pPr lvl="0"/>
            <a:r>
              <a:rPr/>
              <a:t>Does NOT match “config10.json” (that’s two characters)</a:t>
            </a:r>
          </a:p>
          <a:p>
            <a:pPr lvl="0" indent="0" marL="0">
              <a:buNone/>
            </a:pPr>
          </a:p>
          <a:p>
            <a:pPr lvl="0" indent="0" marL="0">
              <a:buNone/>
            </a:pPr>
            <a:r>
              <a:rPr b="1"/>
              <a:t>Brackets [abc] and [a-z]</a:t>
            </a:r>
            <a:r>
              <a:rPr/>
              <a:t>:</a:t>
            </a:r>
          </a:p>
          <a:p>
            <a:pPr lvl="0" indent="0" marL="0">
              <a:buNone/>
            </a:pPr>
          </a:p>
          <a:p>
            <a:pPr lvl="0"/>
            <a:r>
              <a:rPr/>
              <a:t>Character classes - match one character from the set</a:t>
            </a:r>
          </a:p>
          <a:p>
            <a:pPr lvl="0" indent="0" marL="0">
              <a:buNone/>
            </a:pPr>
          </a:p>
          <a:p>
            <a:pPr lvl="0"/>
            <a:r>
              <a:rPr/>
              <a:t>Useful for version numbers or variant files</a:t>
            </a:r>
          </a:p>
          <a:p>
            <a:pPr lvl="0" indent="0" marL="0">
              <a:buNone/>
            </a:pPr>
          </a:p>
          <a:p>
            <a:pPr lvl="0"/>
            <a:r>
              <a:rPr/>
              <a:t>“file[123].md” matches file1.md, file2.md, file3.md</a:t>
            </a:r>
          </a:p>
          <a:p>
            <a:pPr lvl="0" indent="0" marL="0">
              <a:buNone/>
            </a:pPr>
          </a:p>
          <a:p>
            <a:pPr lvl="0" indent="0" marL="0">
              <a:buNone/>
            </a:pPr>
            <a:r>
              <a:rPr b="1"/>
              <a:t>Braces {a,b}</a:t>
            </a:r>
            <a:r>
              <a:rPr/>
              <a:t>:</a:t>
            </a:r>
          </a:p>
          <a:p>
            <a:pPr lvl="0" indent="0" marL="0">
              <a:buNone/>
            </a:pPr>
          </a:p>
          <a:p>
            <a:pPr lvl="0"/>
            <a:r>
              <a:rPr/>
              <a:t>This is alternation - match any of the alternatives</a:t>
            </a:r>
          </a:p>
          <a:p>
            <a:pPr lvl="0" indent="0" marL="0">
              <a:buNone/>
            </a:pPr>
          </a:p>
          <a:p>
            <a:pPr lvl="0"/>
            <a:r>
              <a:rPr/>
              <a:t>Most commonly used for file extensions</a:t>
            </a:r>
          </a:p>
          <a:p>
            <a:pPr lvl="0" indent="0" marL="0">
              <a:buNone/>
            </a:pPr>
          </a:p>
          <a:p>
            <a:pPr lvl="0"/>
            <a:r>
              <a:rPr/>
              <a:t>“*.{js,ts,jsx,tsx}” matches all JavaScript/TypeScript files</a:t>
            </a:r>
          </a:p>
          <a:p>
            <a:pPr lvl="0" indent="0" marL="0">
              <a:buNone/>
            </a:pPr>
          </a:p>
          <a:p>
            <a:pPr lvl="0"/>
            <a:r>
              <a:rPr/>
              <a:t>Each alternative can itself be a pattern</a:t>
            </a:r>
          </a:p>
          <a:p>
            <a:pPr lvl="0" indent="0" marL="0">
              <a:buNone/>
            </a:pPr>
          </a:p>
          <a:p>
            <a:pPr lvl="0" indent="0" marL="0">
              <a:buNone/>
            </a:pPr>
            <a:r>
              <a:rPr b="1"/>
              <a:t>Timing</a:t>
            </a:r>
            <a:r>
              <a:rPr/>
              <a:t>: 3 minutes - this is detailed, go slow </a:t>
            </a:r>
            <a:r>
              <a:rPr b="1"/>
              <a:t>Demonstrate</a:t>
            </a:r>
            <a:r>
              <a:rPr/>
              <a:t>: Show 2-3 concrete examples with actual files </a:t>
            </a:r>
            <a:r>
              <a:rPr b="1"/>
              <a:t>Transition</a:t>
            </a:r>
            <a:r>
              <a:rPr/>
              <a:t>: “Now let’s see these patterns in action with real examples from this repository”</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actual examples from the AI-Assisted-Software-Development-Course repository. Let’s analyze why each pattern was chosen:</a:t>
            </a:r>
          </a:p>
          <a:p>
            <a:pPr lvl="0" indent="0" marL="0">
              <a:buNone/>
            </a:pPr>
          </a:p>
          <a:p>
            <a:pPr lvl="0" indent="0" marL="0">
              <a:buNone/>
            </a:pPr>
            <a:r>
              <a:rPr b="1"/>
              <a:t>Example 1 - AI Output Standards</a:t>
            </a:r>
            <a:r>
              <a:rPr/>
              <a:t>:</a:t>
            </a:r>
          </a:p>
          <a:p>
            <a:pPr lvl="0" indent="0" marL="0">
              <a:buNone/>
            </a:pPr>
          </a:p>
          <a:p>
            <a:pPr lvl="0"/>
            <a:r>
              <a:rPr/>
              <a:t>Uses “*</a:t>
            </a:r>
            <a:r>
              <a:rPr i="1"/>
              <a:t>/</a:t>
            </a:r>
            <a:r>
              <a:rPr/>
              <a:t>” because AI provenance requirements apply to ALL artifacts</a:t>
            </a:r>
          </a:p>
          <a:p>
            <a:pPr lvl="0" indent="0" marL="0">
              <a:buNone/>
            </a:pPr>
          </a:p>
          <a:p>
            <a:pPr lvl="0"/>
            <a:r>
              <a:rPr/>
              <a:t>This includes code, docs, config files, images (via sidecar metadata)</a:t>
            </a:r>
          </a:p>
          <a:p>
            <a:pPr lvl="0" indent="0" marL="0">
              <a:buNone/>
            </a:pPr>
          </a:p>
          <a:p>
            <a:pPr lvl="0"/>
            <a:r>
              <a:rPr/>
              <a:t>Appropriate use of universal pattern because it’s a universal policy</a:t>
            </a:r>
          </a:p>
          <a:p>
            <a:pPr lvl="0" indent="0" marL="0">
              <a:buNone/>
            </a:pPr>
          </a:p>
          <a:p>
            <a:pPr lvl="0" indent="0" marL="0">
              <a:buNone/>
            </a:pPr>
            <a:r>
              <a:rPr b="1"/>
              <a:t>Example 2 - Vertical Slice Architecture</a:t>
            </a:r>
            <a:r>
              <a:rPr/>
              <a:t>:</a:t>
            </a:r>
          </a:p>
          <a:p>
            <a:pPr lvl="0" indent="0" marL="0">
              <a:buNone/>
            </a:pPr>
          </a:p>
          <a:p>
            <a:pPr lvl="0"/>
            <a:r>
              <a:rPr/>
              <a:t>Targets only programming language source files</a:t>
            </a:r>
          </a:p>
          <a:p>
            <a:pPr lvl="0" indent="0" marL="0">
              <a:buNone/>
            </a:pPr>
          </a:p>
          <a:p>
            <a:pPr lvl="0"/>
            <a:r>
              <a:rPr/>
              <a:t>Notice it includes 7 different languages</a:t>
            </a:r>
          </a:p>
          <a:p>
            <a:pPr lvl="0" indent="0" marL="0">
              <a:buNone/>
            </a:pPr>
          </a:p>
          <a:p>
            <a:pPr lvl="0"/>
            <a:r>
              <a:rPr/>
              <a:t>Does NOT apply to config files (JSON, YAML) or documentation</a:t>
            </a:r>
          </a:p>
          <a:p>
            <a:pPr lvl="0" indent="0" marL="0">
              <a:buNone/>
            </a:pPr>
          </a:p>
          <a:p>
            <a:pPr lvl="0"/>
            <a:r>
              <a:rPr/>
              <a:t>This prevents architecture patterns from being suggested in README files</a:t>
            </a:r>
          </a:p>
          <a:p>
            <a:pPr lvl="0" indent="0" marL="0">
              <a:buNone/>
            </a:pPr>
          </a:p>
          <a:p>
            <a:pPr lvl="0" indent="0" marL="0">
              <a:buNone/>
            </a:pPr>
            <a:r>
              <a:rPr b="1"/>
              <a:t>Example 3 - Business Rules Documentation</a:t>
            </a:r>
            <a:r>
              <a:rPr/>
              <a:t>:</a:t>
            </a:r>
          </a:p>
          <a:p>
            <a:pPr lvl="0" indent="0" marL="0">
              <a:buNone/>
            </a:pPr>
          </a:p>
          <a:p>
            <a:pPr lvl="0"/>
            <a:r>
              <a:rPr/>
              <a:t>Only Markdown and text files</a:t>
            </a:r>
          </a:p>
          <a:p>
            <a:pPr lvl="0" indent="0" marL="0">
              <a:buNone/>
            </a:pPr>
          </a:p>
          <a:p>
            <a:pPr lvl="0"/>
            <a:r>
              <a:rPr/>
              <a:t>Instructions about translating business rules to documentation</a:t>
            </a:r>
          </a:p>
          <a:p>
            <a:pPr lvl="0" indent="0" marL="0">
              <a:buNone/>
            </a:pPr>
          </a:p>
          <a:p>
            <a:pPr lvl="0"/>
            <a:r>
              <a:rPr/>
              <a:t>Deliberately excludes code files</a:t>
            </a:r>
          </a:p>
          <a:p>
            <a:pPr lvl="0" indent="0" marL="0">
              <a:buNone/>
            </a:pPr>
          </a:p>
          <a:p>
            <a:pPr lvl="0" indent="0" marL="0">
              <a:buNone/>
            </a:pPr>
            <a:r>
              <a:rPr b="1"/>
              <a:t>Example 4 - Marp Slide Formatting</a:t>
            </a:r>
            <a:r>
              <a:rPr/>
              <a:t>:</a:t>
            </a:r>
          </a:p>
          <a:p>
            <a:pPr lvl="0" indent="0" marL="0">
              <a:buNone/>
            </a:pPr>
          </a:p>
          <a:p>
            <a:pPr lvl="0"/>
            <a:r>
              <a:rPr/>
              <a:t>Highly specific - only the slides directory</a:t>
            </a:r>
          </a:p>
          <a:p>
            <a:pPr lvl="0" indent="0" marL="0">
              <a:buNone/>
            </a:pPr>
          </a:p>
          <a:p>
            <a:pPr lvl="0"/>
            <a:r>
              <a:rPr/>
              <a:t>Even though slides are .md files, they have different formatting rules than regular docs</a:t>
            </a:r>
          </a:p>
          <a:p>
            <a:pPr lvl="0" indent="0" marL="0">
              <a:buNone/>
            </a:pPr>
          </a:p>
          <a:p>
            <a:pPr lvl="0"/>
            <a:r>
              <a:rPr/>
              <a:t>This specificity prevents slide formatting rules from applying to README.md</a:t>
            </a:r>
          </a:p>
          <a:p>
            <a:pPr lvl="0" indent="0" marL="0">
              <a:buNone/>
            </a:pPr>
          </a:p>
          <a:p>
            <a:pPr lvl="0" indent="0" marL="0">
              <a:buNone/>
            </a:pPr>
            <a:r>
              <a:rPr b="1"/>
              <a:t>Example 5 - Prompt File Authoring</a:t>
            </a:r>
            <a:r>
              <a:rPr/>
              <a:t>:</a:t>
            </a:r>
          </a:p>
          <a:p>
            <a:pPr lvl="0" indent="0" marL="0">
              <a:buNone/>
            </a:pPr>
          </a:p>
          <a:p>
            <a:pPr lvl="0"/>
            <a:r>
              <a:rPr/>
              <a:t>Targets the specialized .prompt.md file extension</a:t>
            </a:r>
          </a:p>
          <a:p>
            <a:pPr lvl="0" indent="0" marL="0">
              <a:buNone/>
            </a:pPr>
          </a:p>
          <a:p>
            <a:pPr lvl="0"/>
            <a:r>
              <a:rPr/>
              <a:t>These files have specific structure requirements</a:t>
            </a:r>
          </a:p>
          <a:p>
            <a:pPr lvl="0" indent="0" marL="0">
              <a:buNone/>
            </a:pPr>
          </a:p>
          <a:p>
            <a:pPr lvl="0"/>
            <a:r>
              <a:rPr/>
              <a:t>Using the exact extension prevents these rules from applying to regular markdown</a:t>
            </a:r>
          </a:p>
          <a:p>
            <a:pPr lvl="0" indent="0" marL="0">
              <a:buNone/>
            </a:pPr>
          </a:p>
          <a:p>
            <a:pPr lvl="0" indent="0" marL="0">
              <a:buNone/>
            </a:pPr>
            <a:r>
              <a:rPr b="1"/>
              <a:t>Key lesson</a:t>
            </a:r>
            <a:r>
              <a:rPr/>
              <a:t>: Notice how each pattern precisely targets its intended scope. There’s no overlap or ambiguity.</a:t>
            </a:r>
          </a:p>
          <a:p>
            <a:pPr lvl="0" indent="0" marL="0">
              <a:buNone/>
            </a:pPr>
          </a:p>
          <a:p>
            <a:pPr lvl="0" indent="0" marL="0">
              <a:buNone/>
            </a:pPr>
            <a:r>
              <a:rPr b="1"/>
              <a:t>Timing</a:t>
            </a:r>
            <a:r>
              <a:rPr/>
              <a:t>: 2-3 minutes </a:t>
            </a:r>
            <a:r>
              <a:rPr b="1"/>
              <a:t>Ask</a:t>
            </a:r>
            <a:r>
              <a:rPr/>
              <a:t>: “Can anyone think of what would happen if example 4 used ‘*</a:t>
            </a:r>
            <a:r>
              <a:rPr i="1"/>
              <a:t>/</a:t>
            </a:r>
            <a:r>
              <a:rPr/>
              <a:t>.md’ instead? Right - slide formatting rules would apply to all markdown, including README files, causing conflicts.”</a:t>
            </a:r>
          </a:p>
        </p:txBody>
      </p:sp>
      <p:sp>
        <p:nvSpPr>
          <p:cNvPr id="4" name="Slide Number Placeholder 3"/>
          <p:cNvSpPr>
            <a:spLocks noGrp="1"/>
          </p:cNvSpPr>
          <p:nvPr>
            <p:ph type="sldNum" sz="quarter" idx="10"/>
          </p:nvPr>
        </p:nvSpPr>
        <p:spPr/>
        <p:txBody>
          <a:bodyPr/>
          <a:lstStyle/>
          <a:p>
            <a:fld id="{18BDFEC3-8487-43E8-A154-7C12CBC1FFF2}" type="slidenum">
              <a:rPr lang="en-US"/>
              <a:t>113</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establish three core best practices that will guide your applyTo pattern decisions:</a:t>
            </a:r>
          </a:p>
          <a:p>
            <a:pPr lvl="0" indent="0" marL="0">
              <a:buNone/>
            </a:pPr>
          </a:p>
          <a:p>
            <a:pPr lvl="0" indent="0" marL="0">
              <a:buNone/>
            </a:pPr>
            <a:r>
              <a:rPr b="1"/>
              <a:t>Best Practice 1: Be Specific When Possible</a:t>
            </a:r>
          </a:p>
          <a:p>
            <a:pPr lvl="0" indent="0" marL="0">
              <a:buNone/>
            </a:pPr>
          </a:p>
          <a:p>
            <a:pPr lvl="0" indent="0" marL="0">
              <a:buNone/>
            </a:pPr>
            <a:r>
              <a:rPr/>
              <a:t>The more specific your pattern, the better. Why?</a:t>
            </a:r>
          </a:p>
          <a:p>
            <a:pPr lvl="0" indent="0" marL="0">
              <a:buNone/>
            </a:pPr>
          </a:p>
          <a:p>
            <a:pPr lvl="0"/>
            <a:r>
              <a:rPr/>
              <a:t>Reduces Copilot context size (faster responses)</a:t>
            </a:r>
          </a:p>
          <a:p>
            <a:pPr lvl="0" indent="0" marL="0">
              <a:buNone/>
            </a:pPr>
          </a:p>
          <a:p>
            <a:pPr lvl="0"/>
            <a:r>
              <a:rPr/>
              <a:t>Prevents instruction conflicts</a:t>
            </a:r>
          </a:p>
          <a:p>
            <a:pPr lvl="0" indent="0" marL="0">
              <a:buNone/>
            </a:pPr>
          </a:p>
          <a:p>
            <a:pPr lvl="0"/>
            <a:r>
              <a:rPr/>
              <a:t>Makes intent clear to other developers</a:t>
            </a:r>
          </a:p>
          <a:p>
            <a:pPr lvl="0" indent="0" marL="0">
              <a:buNone/>
            </a:pPr>
          </a:p>
          <a:p>
            <a:pPr lvl="0"/>
            <a:r>
              <a:rPr/>
              <a:t>Easier to debug when instructions aren’t applying as expected</a:t>
            </a:r>
          </a:p>
          <a:p>
            <a:pPr lvl="0" indent="0" marL="0">
              <a:buNone/>
            </a:pPr>
          </a:p>
          <a:p>
            <a:pPr lvl="0" indent="0" marL="0">
              <a:buNone/>
            </a:pPr>
            <a:r>
              <a:rPr/>
              <a:t>Counter-example: If you use “**” for styling instructions that really only apply to frontend components, Copilot will load those instructions even when editing backend API code or database migrations. That’s wasteful and confusing.</a:t>
            </a:r>
          </a:p>
          <a:p>
            <a:pPr lvl="0" indent="0" marL="0">
              <a:buNone/>
            </a:pPr>
          </a:p>
          <a:p>
            <a:pPr lvl="0" indent="0" marL="0">
              <a:buNone/>
            </a:pPr>
            <a:r>
              <a:rPr b="1"/>
              <a:t>Best Practice 2: Use Brace Expansion</a:t>
            </a:r>
          </a:p>
          <a:p>
            <a:pPr lvl="0" indent="0" marL="0">
              <a:buNone/>
            </a:pPr>
          </a:p>
          <a:p>
            <a:pPr lvl="0" indent="0" marL="0">
              <a:buNone/>
            </a:pPr>
            <a:r>
              <a:rPr/>
              <a:t>When instructions apply to multiple file types, use brace expansion rather than creating multiple instruction files:</a:t>
            </a:r>
          </a:p>
          <a:p>
            <a:pPr lvl="0" indent="0" marL="0">
              <a:buNone/>
            </a:pPr>
          </a:p>
          <a:p>
            <a:pPr lvl="0"/>
            <a:r>
              <a:rPr/>
              <a:t>Maintains single source of truth</a:t>
            </a:r>
          </a:p>
          <a:p>
            <a:pPr lvl="0" indent="0" marL="0">
              <a:buNone/>
            </a:pPr>
          </a:p>
          <a:p>
            <a:pPr lvl="0"/>
            <a:r>
              <a:rPr/>
              <a:t>Easier to update (one file instead of many)</a:t>
            </a:r>
          </a:p>
          <a:p>
            <a:pPr lvl="0" indent="0" marL="0">
              <a:buNone/>
            </a:pPr>
          </a:p>
          <a:p>
            <a:pPr lvl="0"/>
            <a:r>
              <a:rPr/>
              <a:t>Consistent rules across languages</a:t>
            </a:r>
          </a:p>
          <a:p>
            <a:pPr lvl="0" indent="0" marL="0">
              <a:buNone/>
            </a:pPr>
          </a:p>
          <a:p>
            <a:pPr lvl="0" indent="0" marL="0">
              <a:buNone/>
            </a:pPr>
            <a:r>
              <a:rPr/>
              <a:t>But be careful: Only group file types that truly need the same instructions. Don’t group Python and JavaScript just because they’re both “code” if the instructions differ.</a:t>
            </a:r>
          </a:p>
          <a:p>
            <a:pPr lvl="0" indent="0" marL="0">
              <a:buNone/>
            </a:pPr>
          </a:p>
          <a:p>
            <a:pPr lvl="0" indent="0" marL="0">
              <a:buNone/>
            </a:pPr>
            <a:r>
              <a:rPr b="1"/>
              <a:t>Best Practice 3: Match Scope to Purpose</a:t>
            </a:r>
          </a:p>
          <a:p>
            <a:pPr lvl="0" indent="0" marL="0">
              <a:buNone/>
            </a:pPr>
          </a:p>
          <a:p>
            <a:pPr lvl="0" indent="0" marL="0">
              <a:buNone/>
            </a:pPr>
            <a:r>
              <a:rPr/>
              <a:t>This is about semantic clarity:</a:t>
            </a:r>
          </a:p>
          <a:p>
            <a:pPr lvl="0" indent="0" marL="0">
              <a:buNone/>
            </a:pPr>
          </a:p>
          <a:p>
            <a:pPr lvl="0"/>
            <a:r>
              <a:rPr/>
              <a:t>Architecture patterns → Source code directories</a:t>
            </a:r>
          </a:p>
          <a:p>
            <a:pPr lvl="0" indent="0" marL="0">
              <a:buNone/>
            </a:pPr>
          </a:p>
          <a:p>
            <a:pPr lvl="0"/>
            <a:r>
              <a:rPr/>
              <a:t>Documentation standards → Docs directories</a:t>
            </a:r>
          </a:p>
          <a:p>
            <a:pPr lvl="0" indent="0" marL="0">
              <a:buNone/>
            </a:pPr>
          </a:p>
          <a:p>
            <a:pPr lvl="0"/>
            <a:r>
              <a:rPr/>
              <a:t>Testing guidelines → Test directories</a:t>
            </a:r>
          </a:p>
          <a:p>
            <a:pPr lvl="0" indent="0" marL="0">
              <a:buNone/>
            </a:pPr>
          </a:p>
          <a:p>
            <a:pPr lvl="0"/>
            <a:r>
              <a:rPr/>
              <a:t>Deployment instructions → CI/CD configs</a:t>
            </a:r>
          </a:p>
          <a:p>
            <a:pPr lvl="0" indent="0" marL="0">
              <a:buNone/>
            </a:pPr>
          </a:p>
          <a:p>
            <a:pPr lvl="0" indent="0" marL="0">
              <a:buNone/>
            </a:pPr>
            <a:r>
              <a:rPr/>
              <a:t>The pattern should make the instruction’s purpose obvious at a glance.</a:t>
            </a:r>
          </a:p>
          <a:p>
            <a:pPr lvl="0" indent="0" marL="0">
              <a:buNone/>
            </a:pPr>
          </a:p>
          <a:p>
            <a:pPr lvl="0" indent="0" marL="0">
              <a:buNone/>
            </a:pPr>
            <a:r>
              <a:rPr b="1"/>
              <a:t>Example of bad scope</a:t>
            </a:r>
            <a:r>
              <a:rPr/>
              <a:t>: Having security scanning instructions with “*</a:t>
            </a:r>
            <a:r>
              <a:rPr i="1"/>
              <a:t>/</a:t>
            </a:r>
            <a:r>
              <a:rPr/>
              <a:t>.md” - security scans don’t apply to markdown files.</a:t>
            </a:r>
          </a:p>
          <a:p>
            <a:pPr lvl="0" indent="0" marL="0">
              <a:buNone/>
            </a:pPr>
          </a:p>
          <a:p>
            <a:pPr lvl="0" indent="0" marL="0">
              <a:buNone/>
            </a:pPr>
            <a:r>
              <a:rPr b="1"/>
              <a:t>Example of good scope</a:t>
            </a:r>
            <a:r>
              <a:rPr/>
              <a:t>: Having security scanning with “src/*</a:t>
            </a:r>
            <a:r>
              <a:rPr i="1"/>
              <a:t>/</a:t>
            </a:r>
            <a:r>
              <a:rPr/>
              <a:t>.{cs,js,py}” - clearly applies to source code only.</a:t>
            </a:r>
          </a:p>
          <a:p>
            <a:pPr lvl="0" indent="0" marL="0">
              <a:buNone/>
            </a:pPr>
          </a:p>
          <a:p>
            <a:pPr lvl="0" indent="0" marL="0">
              <a:buNone/>
            </a:pPr>
            <a:r>
              <a:rPr b="1"/>
              <a:t>Timing</a:t>
            </a:r>
            <a:r>
              <a:rPr/>
              <a:t>: 2.5 minutes </a:t>
            </a:r>
            <a:r>
              <a:rPr b="1"/>
              <a:t>Emphasize</a:t>
            </a:r>
            <a:r>
              <a:rPr/>
              <a:t>: “Specificity is not just a performance optimization - it’s about clarity and maintainability”</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look at three common mistakes and how to avoid them:</a:t>
            </a:r>
          </a:p>
          <a:p>
            <a:pPr lvl="0" indent="0" marL="0">
              <a:buNone/>
            </a:pPr>
          </a:p>
          <a:p>
            <a:pPr lvl="0" indent="0" marL="0">
              <a:buNone/>
            </a:pPr>
            <a:r>
              <a:rPr b="1"/>
              <a:t>Pitfall 1: Too Broad</a:t>
            </a:r>
          </a:p>
          <a:p>
            <a:pPr lvl="0" indent="0" marL="0">
              <a:buNone/>
            </a:pPr>
          </a:p>
          <a:p>
            <a:pPr lvl="0" indent="0" marL="0">
              <a:buNone/>
            </a:pPr>
            <a:r>
              <a:rPr/>
              <a:t>This happens when you use a universal pattern for something specific. The example shows slide formatting instructions using “**” - this would apply formatting rules designed for Marp presentations to every file in your repository, including C# code, JSON configs, and shell scripts. That’s confusing for both developers and Copilot.</a:t>
            </a:r>
          </a:p>
          <a:p>
            <a:pPr lvl="0" indent="0" marL="0">
              <a:buNone/>
            </a:pPr>
          </a:p>
          <a:p>
            <a:pPr lvl="0" indent="0" marL="0">
              <a:buNone/>
            </a:pPr>
            <a:r>
              <a:rPr b="1"/>
              <a:t>How to identify</a:t>
            </a:r>
            <a:r>
              <a:rPr/>
              <a:t>: If your instruction file has a specific purpose that doesn’t apply to ALL files, don’t use “**”</a:t>
            </a:r>
          </a:p>
          <a:p>
            <a:pPr lvl="0" indent="0" marL="0">
              <a:buNone/>
            </a:pPr>
          </a:p>
          <a:p>
            <a:pPr lvl="0" indent="0" marL="0">
              <a:buNone/>
            </a:pPr>
            <a:r>
              <a:rPr b="1"/>
              <a:t>Fix</a:t>
            </a:r>
            <a:r>
              <a:rPr/>
              <a:t>: Narrow to the specific directory or file types</a:t>
            </a:r>
          </a:p>
          <a:p>
            <a:pPr lvl="0" indent="0" marL="0">
              <a:buNone/>
            </a:pPr>
          </a:p>
          <a:p>
            <a:pPr lvl="0" indent="0" marL="0">
              <a:buNone/>
            </a:pPr>
            <a:r>
              <a:rPr b="1"/>
              <a:t>Pitfall 2: Too Narrow</a:t>
            </a:r>
          </a:p>
          <a:p>
            <a:pPr lvl="0" indent="0" marL="0">
              <a:buNone/>
            </a:pPr>
          </a:p>
          <a:p>
            <a:pPr lvl="0" indent="0" marL="0">
              <a:buNone/>
            </a:pPr>
            <a:r>
              <a:rPr/>
              <a:t>This is the opposite problem - being so specific that the instructions become brittle and hard to maintain. In the example, targeting only the UserManagement feature means:</a:t>
            </a:r>
          </a:p>
          <a:p>
            <a:pPr lvl="0" indent="0" marL="0">
              <a:buNone/>
            </a:pPr>
          </a:p>
          <a:p>
            <a:pPr lvl="0"/>
            <a:r>
              <a:rPr/>
              <a:t>You need separate instruction files for each feature</a:t>
            </a:r>
          </a:p>
          <a:p>
            <a:pPr lvl="0" indent="0" marL="0">
              <a:buNone/>
            </a:pPr>
          </a:p>
          <a:p>
            <a:pPr lvl="0"/>
            <a:r>
              <a:rPr/>
              <a:t>Adding a new feature requires a new instruction file</a:t>
            </a:r>
          </a:p>
          <a:p>
            <a:pPr lvl="0" indent="0" marL="0">
              <a:buNone/>
            </a:pPr>
          </a:p>
          <a:p>
            <a:pPr lvl="0"/>
            <a:r>
              <a:rPr/>
              <a:t>The same architectural patterns can’t be shared across features</a:t>
            </a:r>
          </a:p>
          <a:p>
            <a:pPr lvl="0" indent="0" marL="0">
              <a:buNone/>
            </a:pPr>
          </a:p>
          <a:p>
            <a:pPr lvl="0" indent="0" marL="0">
              <a:buNone/>
            </a:pPr>
            <a:r>
              <a:rPr b="1"/>
              <a:t>How to identify</a:t>
            </a:r>
            <a:r>
              <a:rPr/>
              <a:t>: If you find yourself creating many nearly-identical instruction files, your patterns are too narrow</a:t>
            </a:r>
          </a:p>
          <a:p>
            <a:pPr lvl="0" indent="0" marL="0">
              <a:buNone/>
            </a:pPr>
          </a:p>
          <a:p>
            <a:pPr lvl="0" indent="0" marL="0">
              <a:buNone/>
            </a:pPr>
            <a:r>
              <a:rPr b="1"/>
              <a:t>Fix</a:t>
            </a:r>
            <a:r>
              <a:rPr/>
              <a:t>: Identify the common scope (like “src/Features/**”) and use that</a:t>
            </a:r>
          </a:p>
          <a:p>
            <a:pPr lvl="0" indent="0" marL="0">
              <a:buNone/>
            </a:pPr>
          </a:p>
          <a:p>
            <a:pPr lvl="0" indent="0" marL="0">
              <a:buNone/>
            </a:pPr>
            <a:r>
              <a:rPr b="1"/>
              <a:t>Pitfall 3: Overlapping Instructions</a:t>
            </a:r>
          </a:p>
          <a:p>
            <a:pPr lvl="0" indent="0" marL="0">
              <a:buNone/>
            </a:pPr>
          </a:p>
          <a:p>
            <a:pPr lvl="0" indent="0" marL="0">
              <a:buNone/>
            </a:pPr>
            <a:r>
              <a:rPr/>
              <a:t>This is the trickiest pitfall. When multiple instruction files match the same file path, Copilot loads all of them. Sometimes that’s intentional (general coding standards + language-specific patterns), but often it’s accidental and creates conflicts.</a:t>
            </a:r>
          </a:p>
          <a:p>
            <a:pPr lvl="0" indent="0" marL="0">
              <a:buNone/>
            </a:pPr>
          </a:p>
          <a:p>
            <a:pPr lvl="0" indent="0" marL="0">
              <a:buNone/>
            </a:pPr>
            <a:r>
              <a:rPr b="1"/>
              <a:t>Concrete example</a:t>
            </a:r>
            <a:r>
              <a:rPr/>
              <a:t>:</a:t>
            </a:r>
          </a:p>
          <a:p>
            <a:pPr lvl="0" indent="0" marL="0">
              <a:buNone/>
            </a:pPr>
          </a:p>
          <a:p>
            <a:pPr lvl="0"/>
            <a:r>
              <a:rPr/>
              <a:t>vertical-slice.instructions.md has “*</a:t>
            </a:r>
            <a:r>
              <a:rPr i="1"/>
              <a:t>/</a:t>
            </a:r>
            <a:r>
              <a:rPr/>
              <a:t>.cs”</a:t>
            </a:r>
          </a:p>
          <a:p>
            <a:pPr lvl="0" indent="0" marL="0">
              <a:buNone/>
            </a:pPr>
          </a:p>
          <a:p>
            <a:pPr lvl="0"/>
            <a:r>
              <a:rPr/>
              <a:t>cqrs-architecture.instructions.md also has “*</a:t>
            </a:r>
            <a:r>
              <a:rPr i="1"/>
              <a:t>/</a:t>
            </a:r>
            <a:r>
              <a:rPr/>
              <a:t>.cs”</a:t>
            </a:r>
          </a:p>
          <a:p>
            <a:pPr lvl="0" indent="0" marL="0">
              <a:buNone/>
            </a:pPr>
          </a:p>
          <a:p>
            <a:pPr lvl="0"/>
            <a:r>
              <a:rPr/>
              <a:t>Both get loaded for every C# file</a:t>
            </a:r>
          </a:p>
          <a:p>
            <a:pPr lvl="0" indent="0" marL="0">
              <a:buNone/>
            </a:pPr>
          </a:p>
          <a:p>
            <a:pPr lvl="0"/>
            <a:r>
              <a:rPr/>
              <a:t>If they have conflicting guidance (which architectural style to use), Copilot gets confused</a:t>
            </a:r>
          </a:p>
          <a:p>
            <a:pPr lvl="0" indent="0" marL="0">
              <a:buNone/>
            </a:pPr>
          </a:p>
          <a:p>
            <a:pPr lvl="0" indent="0" marL="0">
              <a:buNone/>
            </a:pPr>
            <a:r>
              <a:rPr b="1"/>
              <a:t>How to identify</a:t>
            </a:r>
            <a:r>
              <a:rPr/>
              <a:t>: List all your instruction files and their patterns side-by-side. Look for overlaps.</a:t>
            </a:r>
          </a:p>
          <a:p>
            <a:pPr lvl="0" indent="0" marL="0">
              <a:buNone/>
            </a:pPr>
          </a:p>
          <a:p>
            <a:pPr lvl="0" indent="0" marL="0">
              <a:buNone/>
            </a:pPr>
            <a:r>
              <a:rPr b="1"/>
              <a:t>Fix strategies</a:t>
            </a:r>
            <a:r>
              <a:rPr/>
              <a:t>:</a:t>
            </a:r>
          </a:p>
          <a:p>
            <a:pPr lvl="0" indent="0" marL="0">
              <a:buNone/>
            </a:pPr>
          </a:p>
          <a:p>
            <a:pPr lvl="0" indent="-342900" marL="342900">
              <a:buAutoNum type="arabicPeriod"/>
            </a:pPr>
            <a:r>
              <a:rPr/>
              <a:t>Make patterns mutually exclusive (one uses “src/Domain/</a:t>
            </a:r>
            <a:r>
              <a:rPr b="1"/>
              <a:t>”, the other uses ”src/Infrastructure/</a:t>
            </a:r>
            <a:r>
              <a:rPr/>
              <a:t>”)</a:t>
            </a:r>
          </a:p>
          <a:p>
            <a:pPr lvl="0" indent="0" marL="0">
              <a:buNone/>
            </a:pPr>
          </a:p>
          <a:p>
            <a:pPr lvl="0" indent="-342900" marL="342900">
              <a:buAutoNum type="arabicPeriod"/>
            </a:pPr>
            <a:r>
              <a:rPr/>
              <a:t>Use more specific file naming patterns (one targets “</a:t>
            </a:r>
            <a:r>
              <a:rPr i="1"/>
              <a:t>.Commands.cs”, the other ”</a:t>
            </a:r>
            <a:r>
              <a:rPr/>
              <a:t>.Queries.cs”)</a:t>
            </a:r>
          </a:p>
          <a:p>
            <a:pPr lvl="0" indent="0" marL="0">
              <a:buNone/>
            </a:pPr>
          </a:p>
          <a:p>
            <a:pPr lvl="0" indent="-342900" marL="342900">
              <a:buAutoNum type="arabicPeriod"/>
            </a:pPr>
            <a:r>
              <a:rPr/>
              <a:t>If overlap is intentional, ensure instructions are complementary, not contradictory</a:t>
            </a:r>
          </a:p>
          <a:p>
            <a:pPr lvl="0" indent="0" marL="0">
              <a:buNone/>
            </a:pPr>
          </a:p>
          <a:p>
            <a:pPr lvl="0" indent="0" marL="0">
              <a:buNone/>
            </a:pPr>
            <a:r>
              <a:rPr b="1"/>
              <a:t>Timing</a:t>
            </a:r>
            <a:r>
              <a:rPr/>
              <a:t>: 3 minutes - this is important, take time for questions </a:t>
            </a:r>
            <a:r>
              <a:rPr b="1"/>
              <a:t>Interactive element</a:t>
            </a:r>
            <a:r>
              <a:rPr/>
              <a:t>: “Has anyone experienced unexpected Copilot behavior? It might be due to overlapping instructions.”</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Testing your applyTo patterns before committing is crucial. Here are three methods, in order of sophistication:</a:t>
            </a:r>
          </a:p>
          <a:p>
            <a:pPr lvl="0" indent="0" marL="0">
              <a:buNone/>
            </a:pPr>
          </a:p>
          <a:p>
            <a:pPr lvl="0" indent="0" marL="0">
              <a:buNone/>
            </a:pPr>
            <a:r>
              <a:rPr b="1"/>
              <a:t>Method 1: File System Commands</a:t>
            </a:r>
          </a:p>
          <a:p>
            <a:pPr lvl="0" indent="0" marL="0">
              <a:buNone/>
            </a:pPr>
          </a:p>
          <a:p>
            <a:pPr lvl="0" indent="0" marL="0">
              <a:buNone/>
            </a:pPr>
            <a:r>
              <a:rPr/>
              <a:t>Use your shell’s file finding capabilities to preview what matches:</a:t>
            </a:r>
          </a:p>
          <a:p>
            <a:pPr lvl="0" indent="0" marL="0">
              <a:buNone/>
            </a:pPr>
          </a:p>
          <a:p>
            <a:pPr lvl="0" indent="0" marL="0">
              <a:buNone/>
            </a:pPr>
            <a:r>
              <a:rPr/>
              <a:t>PowerShell (Windows):</a:t>
            </a:r>
          </a:p>
          <a:p>
            <a:pPr lvl="0" indent="0" marL="0">
              <a:buNone/>
            </a:pPr>
          </a:p>
          <a:p>
            <a:pPr lvl="0"/>
            <a:r>
              <a:rPr/>
              <a:t>Get-ChildItem with -Filter and -Recurse shows what files match</a:t>
            </a:r>
          </a:p>
          <a:p>
            <a:pPr lvl="0" indent="0" marL="0">
              <a:buNone/>
            </a:pPr>
          </a:p>
          <a:p>
            <a:pPr lvl="0"/>
            <a:r>
              <a:rPr/>
              <a:t>Can pipe to Where-Object for complex filtering</a:t>
            </a:r>
          </a:p>
          <a:p>
            <a:pPr lvl="0" indent="0" marL="0">
              <a:buNone/>
            </a:pPr>
          </a:p>
          <a:p>
            <a:pPr lvl="0"/>
            <a:r>
              <a:rPr/>
              <a:t>Example: Get-ChildItem -Path “.” -Filter “*.cs” -Recurse | Select-Object FullName</a:t>
            </a:r>
          </a:p>
          <a:p>
            <a:pPr lvl="0" indent="0" marL="0">
              <a:buNone/>
            </a:pPr>
          </a:p>
          <a:p>
            <a:pPr lvl="0" indent="0" marL="0">
              <a:buNone/>
            </a:pPr>
            <a:r>
              <a:rPr/>
              <a:t>Bash/Zsh (Linux/Mac):</a:t>
            </a:r>
          </a:p>
          <a:p>
            <a:pPr lvl="0" indent="0" marL="0">
              <a:buNone/>
            </a:pPr>
          </a:p>
          <a:p>
            <a:pPr lvl="0"/>
            <a:r>
              <a:rPr/>
              <a:t>find command with -name flag</a:t>
            </a:r>
          </a:p>
          <a:p>
            <a:pPr lvl="0" indent="0" marL="0">
              <a:buNone/>
            </a:pPr>
          </a:p>
          <a:p>
            <a:pPr lvl="0"/>
            <a:r>
              <a:rPr/>
              <a:t>Can combine with grep for more complex patterns</a:t>
            </a:r>
          </a:p>
          <a:p>
            <a:pPr lvl="0" indent="0" marL="0">
              <a:buNone/>
            </a:pPr>
          </a:p>
          <a:p>
            <a:pPr lvl="0"/>
            <a:r>
              <a:rPr/>
              <a:t>Example: find ./src -name “*.cs” -type f</a:t>
            </a:r>
          </a:p>
          <a:p>
            <a:pPr lvl="0" indent="0" marL="0">
              <a:buNone/>
            </a:pPr>
          </a:p>
          <a:p>
            <a:pPr lvl="0" indent="0" marL="0">
              <a:buNone/>
            </a:pPr>
            <a:r>
              <a:rPr b="1"/>
              <a:t>Why this matters</a:t>
            </a:r>
            <a:r>
              <a:rPr/>
              <a:t>: If your pattern matches more or fewer files than expected, you’ll catch it before Copilot does.</a:t>
            </a:r>
          </a:p>
          <a:p>
            <a:pPr lvl="0" indent="0" marL="0">
              <a:buNone/>
            </a:pPr>
          </a:p>
          <a:p>
            <a:pPr lvl="0" indent="0" marL="0">
              <a:buNone/>
            </a:pPr>
            <a:r>
              <a:rPr b="1"/>
              <a:t>Method 2: Online Glob Testers</a:t>
            </a:r>
          </a:p>
          <a:p>
            <a:pPr lvl="0" indent="0" marL="0">
              <a:buNone/>
            </a:pPr>
          </a:p>
          <a:p>
            <a:pPr lvl="0" indent="0" marL="0">
              <a:buNone/>
            </a:pPr>
            <a:r>
              <a:rPr/>
              <a:t>Tools like globster.xyz let you:</a:t>
            </a:r>
          </a:p>
          <a:p>
            <a:pPr lvl="0" indent="0" marL="0">
              <a:buNone/>
            </a:pPr>
          </a:p>
          <a:p>
            <a:pPr lvl="0"/>
            <a:r>
              <a:rPr/>
              <a:t>Enter a glob pattern</a:t>
            </a:r>
          </a:p>
          <a:p>
            <a:pPr lvl="0" indent="0" marL="0">
              <a:buNone/>
            </a:pPr>
          </a:p>
          <a:p>
            <a:pPr lvl="0"/>
            <a:r>
              <a:rPr/>
              <a:t>Paste a list of file paths</a:t>
            </a:r>
          </a:p>
          <a:p>
            <a:pPr lvl="0" indent="0" marL="0">
              <a:buNone/>
            </a:pPr>
          </a:p>
          <a:p>
            <a:pPr lvl="0"/>
            <a:r>
              <a:rPr/>
              <a:t>See visually which paths match</a:t>
            </a:r>
          </a:p>
          <a:p>
            <a:pPr lvl="0" indent="0" marL="0">
              <a:buNone/>
            </a:pPr>
          </a:p>
          <a:p>
            <a:pPr lvl="0" indent="0" marL="0">
              <a:buNone/>
            </a:pPr>
            <a:r>
              <a:rPr/>
              <a:t>This is especially useful for complex patterns with brace expansion or character classes. You can experiment with patterns and see results immediately without touching your repository.</a:t>
            </a:r>
          </a:p>
          <a:p>
            <a:pPr lvl="0" indent="0" marL="0">
              <a:buNone/>
            </a:pPr>
          </a:p>
          <a:p>
            <a:pPr lvl="0" indent="0" marL="0">
              <a:buNone/>
            </a:pPr>
            <a:r>
              <a:rPr b="1"/>
              <a:t>Pro tip</a:t>
            </a:r>
            <a:r>
              <a:rPr/>
              <a:t>: Keep a browser tab with globster open when writing complex patterns</a:t>
            </a:r>
          </a:p>
          <a:p>
            <a:pPr lvl="0" indent="0" marL="0">
              <a:buNone/>
            </a:pPr>
          </a:p>
          <a:p>
            <a:pPr lvl="0" indent="0" marL="0">
              <a:buNone/>
            </a:pPr>
            <a:r>
              <a:rPr b="1"/>
              <a:t>Method 3: Behavioral Testing</a:t>
            </a:r>
          </a:p>
          <a:p>
            <a:pPr lvl="0" indent="0" marL="0">
              <a:buNone/>
            </a:pPr>
          </a:p>
          <a:p>
            <a:pPr lvl="0" indent="0" marL="0">
              <a:buNone/>
            </a:pPr>
            <a:r>
              <a:rPr/>
              <a:t>The ultimate test - does Copilot actually behave as expected?</a:t>
            </a:r>
          </a:p>
          <a:p>
            <a:pPr lvl="0" indent="0" marL="0">
              <a:buNone/>
            </a:pPr>
          </a:p>
          <a:p>
            <a:pPr lvl="0" indent="0" marL="0">
              <a:buNone/>
            </a:pPr>
            <a:r>
              <a:rPr/>
              <a:t>Steps:</a:t>
            </a:r>
          </a:p>
          <a:p>
            <a:pPr lvl="0" indent="0" marL="0">
              <a:buNone/>
            </a:pPr>
          </a:p>
          <a:p>
            <a:pPr lvl="0" indent="-342900" marL="342900">
              <a:buAutoNum type="arabicPeriod"/>
            </a:pPr>
            <a:r>
              <a:rPr/>
              <a:t>Add your instruction file with applyTo pattern</a:t>
            </a:r>
          </a:p>
          <a:p>
            <a:pPr lvl="0" indent="0" marL="0">
              <a:buNone/>
            </a:pPr>
          </a:p>
          <a:p>
            <a:pPr lvl="0" indent="-342900" marL="342900">
              <a:buAutoNum type="arabicPeriod"/>
            </a:pPr>
            <a:r>
              <a:rPr/>
              <a:t>Open a file that SHOULD match</a:t>
            </a:r>
          </a:p>
          <a:p>
            <a:pPr lvl="0" indent="0" marL="0">
              <a:buNone/>
            </a:pPr>
          </a:p>
          <a:p>
            <a:pPr lvl="0" indent="-342900" marL="342900">
              <a:buAutoNum type="arabicPeriod"/>
            </a:pPr>
            <a:r>
              <a:rPr/>
              <a:t>Ask Copilot to do something covered by the instruction</a:t>
            </a:r>
          </a:p>
          <a:p>
            <a:pPr lvl="0" indent="0" marL="0">
              <a:buNone/>
            </a:pPr>
          </a:p>
          <a:p>
            <a:pPr lvl="0" indent="-342900" marL="342900">
              <a:buAutoNum type="arabicPeriod"/>
            </a:pPr>
            <a:r>
              <a:rPr/>
              <a:t>Verify it follows the rules</a:t>
            </a:r>
          </a:p>
          <a:p>
            <a:pPr lvl="0" indent="0" marL="0">
              <a:buNone/>
            </a:pPr>
          </a:p>
          <a:p>
            <a:pPr lvl="0" indent="-342900" marL="342900">
              <a:buAutoNum type="arabicPeriod"/>
            </a:pPr>
            <a:r>
              <a:rPr/>
              <a:t>Open a file that SHOULD NOT match</a:t>
            </a:r>
          </a:p>
          <a:p>
            <a:pPr lvl="0" indent="0" marL="0">
              <a:buNone/>
            </a:pPr>
          </a:p>
          <a:p>
            <a:pPr lvl="0" indent="-342900" marL="342900">
              <a:buAutoNum type="arabicPeriod"/>
            </a:pPr>
            <a:r>
              <a:rPr/>
              <a:t>Verify Copilot doesn’t apply those rules</a:t>
            </a:r>
          </a:p>
          <a:p>
            <a:pPr lvl="0" indent="0" marL="0">
              <a:buNone/>
            </a:pPr>
          </a:p>
          <a:p>
            <a:pPr lvl="0" indent="0" marL="0">
              <a:buNone/>
            </a:pPr>
            <a:r>
              <a:rPr b="1"/>
              <a:t>Example</a:t>
            </a:r>
            <a:r>
              <a:rPr/>
              <a:t>: After adding a vertical-slice.instructions.md with “src/*</a:t>
            </a:r>
            <a:r>
              <a:rPr i="1"/>
              <a:t>/</a:t>
            </a:r>
            <a:r>
              <a:rPr/>
              <a:t>.cs”, open a C# file in src/ and ask Copilot to create a new feature. It should use vertical slice architecture. Then open a C# file in tests/ and verify it doesn’t try to apply feature architecture to test code.</a:t>
            </a:r>
          </a:p>
          <a:p>
            <a:pPr lvl="0" indent="0" marL="0">
              <a:buNone/>
            </a:pPr>
          </a:p>
          <a:p>
            <a:pPr lvl="0" indent="0" marL="0">
              <a:buNone/>
            </a:pPr>
            <a:r>
              <a:rPr b="1"/>
              <a:t>Timing</a:t>
            </a:r>
            <a:r>
              <a:rPr/>
              <a:t>: 2 minutes </a:t>
            </a:r>
            <a:r>
              <a:rPr b="1"/>
              <a:t>Practical tip</a:t>
            </a:r>
            <a:r>
              <a:rPr/>
              <a:t>: “I recommend testing every new instruction file pattern with method 1 or 2 before pushing to your team” </a:t>
            </a:r>
            <a:r>
              <a:rPr b="1"/>
              <a:t>Transition</a:t>
            </a:r>
            <a:r>
              <a:rPr/>
              <a:t>: “Let’s wrap up with key takeaways”</a:t>
            </a:r>
          </a:p>
        </p:txBody>
      </p:sp>
      <p:sp>
        <p:nvSpPr>
          <p:cNvPr id="4" name="Slide Number Placeholder 3"/>
          <p:cNvSpPr>
            <a:spLocks noGrp="1"/>
          </p:cNvSpPr>
          <p:nvPr>
            <p:ph type="sldNum" sz="quarter" idx="10"/>
          </p:nvPr>
        </p:nvSpPr>
        <p:spPr/>
        <p:txBody>
          <a:bodyPr/>
          <a:lstStyle/>
          <a:p>
            <a:fld id="{18BDFEC3-8487-43E8-A154-7C12CBC1FFF2}" type="slidenum">
              <a:rPr lang="en-US"/>
              <a:t>116</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consolidate the technical details about how pattern matching actually works in practice:</a:t>
            </a:r>
          </a:p>
          <a:p>
            <a:pPr lvl="0" indent="0" marL="0">
              <a:buNone/>
            </a:pPr>
          </a:p>
          <a:p>
            <a:pPr lvl="0" indent="0" marL="0">
              <a:buNone/>
            </a:pPr>
            <a:r>
              <a:rPr b="1"/>
              <a:t>Evaluation Timing</a:t>
            </a:r>
            <a:r>
              <a:rPr/>
              <a:t>: Pattern matching happens dynamically. When you open a file, VS Code/Copilot:</a:t>
            </a:r>
          </a:p>
          <a:p>
            <a:pPr lvl="0" indent="0" marL="0">
              <a:buNone/>
            </a:pPr>
          </a:p>
          <a:p>
            <a:pPr lvl="0" indent="-342900" marL="342900">
              <a:buAutoNum type="arabicPeriod"/>
            </a:pPr>
            <a:r>
              <a:rPr/>
              <a:t>Scans all instruction files in the workspace</a:t>
            </a:r>
          </a:p>
          <a:p>
            <a:pPr lvl="0" indent="0" marL="0">
              <a:buNone/>
            </a:pPr>
          </a:p>
          <a:p>
            <a:pPr lvl="0" indent="-342900" marL="342900">
              <a:buAutoNum type="arabicPeriod"/>
            </a:pPr>
            <a:r>
              <a:rPr/>
              <a:t>Evaluates each applyTo pattern against the current file path</a:t>
            </a:r>
          </a:p>
          <a:p>
            <a:pPr lvl="0" indent="0" marL="0">
              <a:buNone/>
            </a:pPr>
          </a:p>
          <a:p>
            <a:pPr lvl="0" indent="-342900" marL="342900">
              <a:buAutoNum type="arabicPeriod"/>
            </a:pPr>
            <a:r>
              <a:rPr/>
              <a:t>Loads matching instructions into Copilot’s context window</a:t>
            </a:r>
          </a:p>
          <a:p>
            <a:pPr lvl="0" indent="0" marL="0">
              <a:buNone/>
            </a:pPr>
          </a:p>
          <a:p>
            <a:pPr lvl="0" indent="-342900" marL="342900">
              <a:buAutoNum type="arabicPeriod"/>
            </a:pPr>
            <a:r>
              <a:rPr/>
              <a:t>This context is then used for all Copilot operations in that file</a:t>
            </a:r>
          </a:p>
          <a:p>
            <a:pPr lvl="0" indent="0" marL="0">
              <a:buNone/>
            </a:pPr>
          </a:p>
          <a:p>
            <a:pPr lvl="0" indent="0" marL="0">
              <a:buNone/>
            </a:pPr>
            <a:r>
              <a:rPr/>
              <a:t>This is important because it means pattern matching is NOT a one-time operation at startup - it happens constantly as you switch between files.</a:t>
            </a:r>
          </a:p>
          <a:p>
            <a:pPr lvl="0" indent="0" marL="0">
              <a:buNone/>
            </a:pPr>
          </a:p>
          <a:p>
            <a:pPr lvl="0" indent="0" marL="0">
              <a:buNone/>
            </a:pPr>
            <a:r>
              <a:rPr b="1"/>
              <a:t>Multiple Matches</a:t>
            </a:r>
            <a:r>
              <a:rPr/>
              <a:t>: It’s perfectly valid for multiple instruction files to match the same file. Copilot will try to follow all applicable instructions. This is why avoiding conflicts is so important - if two instructions contradict each other, Copilot will struggle.</a:t>
            </a:r>
          </a:p>
          <a:p>
            <a:pPr lvl="0" indent="0" marL="0">
              <a:buNone/>
            </a:pPr>
          </a:p>
          <a:p>
            <a:pPr lvl="0" indent="0" marL="0">
              <a:buNone/>
            </a:pPr>
            <a:r>
              <a:rPr b="1"/>
              <a:t>Example of intentional multiple matches</a:t>
            </a:r>
            <a:r>
              <a:rPr/>
              <a:t>:</a:t>
            </a:r>
          </a:p>
          <a:p>
            <a:pPr lvl="0" indent="0" marL="0">
              <a:buNone/>
            </a:pPr>
          </a:p>
          <a:p>
            <a:pPr lvl="0"/>
            <a:r>
              <a:rPr/>
              <a:t>general-coding-standards.instructions.md with “*</a:t>
            </a:r>
            <a:r>
              <a:rPr i="1"/>
              <a:t>/</a:t>
            </a:r>
            <a:r>
              <a:rPr/>
              <a:t>.cs”</a:t>
            </a:r>
          </a:p>
          <a:p>
            <a:pPr lvl="0" indent="0" marL="0">
              <a:buNone/>
            </a:pPr>
          </a:p>
          <a:p>
            <a:pPr lvl="0"/>
            <a:r>
              <a:rPr/>
              <a:t>vertical-slice-architecture.instructions.md with “src/Features/*</a:t>
            </a:r>
            <a:r>
              <a:rPr i="1"/>
              <a:t>/</a:t>
            </a:r>
            <a:r>
              <a:rPr/>
              <a:t>.cs”</a:t>
            </a:r>
          </a:p>
          <a:p>
            <a:pPr lvl="0" indent="0" marL="0">
              <a:buNone/>
            </a:pPr>
          </a:p>
          <a:p>
            <a:pPr lvl="0"/>
            <a:r>
              <a:rPr/>
              <a:t>A file at “src/Features/Users/CreateUser.cs” matches both</a:t>
            </a:r>
          </a:p>
          <a:p>
            <a:pPr lvl="0" indent="0" marL="0">
              <a:buNone/>
            </a:pPr>
          </a:p>
          <a:p>
            <a:pPr lvl="0"/>
            <a:r>
              <a:rPr/>
              <a:t>Both instruction sets apply (general standards + architecture patterns)</a:t>
            </a:r>
          </a:p>
          <a:p>
            <a:pPr lvl="0" indent="0" marL="0">
              <a:buNone/>
            </a:pPr>
          </a:p>
          <a:p>
            <a:pPr lvl="0"/>
            <a:r>
              <a:rPr/>
              <a:t>This works if the instructions are complementary</a:t>
            </a:r>
          </a:p>
          <a:p>
            <a:pPr lvl="0" indent="0" marL="0">
              <a:buNone/>
            </a:pPr>
          </a:p>
          <a:p>
            <a:pPr lvl="0" indent="0" marL="0">
              <a:buNone/>
            </a:pPr>
            <a:r>
              <a:rPr b="1"/>
              <a:t>Specificity and Precedence</a:t>
            </a:r>
            <a:r>
              <a:rPr/>
              <a:t>: 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pPr lvl="0" indent="0" marL="0">
              <a:buNone/>
            </a:pPr>
          </a:p>
          <a:p>
            <a:pPr lvl="0" indent="0" marL="0">
              <a:buNone/>
            </a:pPr>
            <a:r>
              <a:rPr b="1"/>
              <a:t>Repository Root</a:t>
            </a:r>
            <a:r>
              <a:rPr/>
              <a:t>: All patterns are relative to the workspace root (where .git directory is located). There’s no way to use absolute paths, which is good for portability.</a:t>
            </a:r>
          </a:p>
          <a:p>
            <a:pPr lvl="0" indent="0" marL="0">
              <a:buNone/>
            </a:pPr>
          </a:p>
          <a:p>
            <a:pPr lvl="0" indent="0" marL="0">
              <a:buNone/>
            </a:pPr>
            <a:r>
              <a:rPr b="1"/>
              <a:t>Case Sensitivity</a:t>
            </a:r>
            <a:r>
              <a:rPr/>
              <a:t>: Critical detail - this depends on the underlying file system:</a:t>
            </a:r>
          </a:p>
          <a:p>
            <a:pPr lvl="0" indent="0" marL="0">
              <a:buNone/>
            </a:pPr>
          </a:p>
          <a:p>
            <a:pPr lvl="0"/>
            <a:r>
              <a:rPr/>
              <a:t>Windows: case-insensitive (“*.MD” matches “file.md”)</a:t>
            </a:r>
          </a:p>
          <a:p>
            <a:pPr lvl="0" indent="0" marL="0">
              <a:buNone/>
            </a:pPr>
          </a:p>
          <a:p>
            <a:pPr lvl="0"/>
            <a:r>
              <a:rPr/>
              <a:t>Linux: case-sensitive (“*.MD” matches “file.MD” but not “file.md”)</a:t>
            </a:r>
          </a:p>
          <a:p>
            <a:pPr lvl="0" indent="0" marL="0">
              <a:buNone/>
            </a:pPr>
          </a:p>
          <a:p>
            <a:pPr lvl="0"/>
            <a:r>
              <a:rPr/>
              <a:t>macOS: depends on file system format (usually case-insensitive)</a:t>
            </a:r>
          </a:p>
          <a:p>
            <a:pPr lvl="0" indent="0" marL="0">
              <a:buNone/>
            </a:pPr>
          </a:p>
          <a:p>
            <a:pPr lvl="0" indent="0" marL="0">
              <a:buNone/>
            </a:pPr>
            <a:r>
              <a:rPr/>
              <a:t>Best practice: Always use lowercase in patterns and standardize file naming to lowercase to avoid cross-platform issues.</a:t>
            </a:r>
          </a:p>
          <a:p>
            <a:pPr lvl="0" indent="0" marL="0">
              <a:buNone/>
            </a:pPr>
          </a:p>
          <a:p>
            <a:pPr lvl="0" indent="0" marL="0">
              <a:buNone/>
            </a:pPr>
            <a:r>
              <a:rPr b="1"/>
              <a:t>Timing</a:t>
            </a:r>
            <a:r>
              <a:rPr/>
              <a:t>: 2-3 minutes </a:t>
            </a:r>
            <a:r>
              <a:rPr b="1"/>
              <a:t>Important</a:t>
            </a:r>
            <a:r>
              <a:rPr/>
              <a:t>: “The dynamic evaluation means you can test instruction changes immediately - just close and reopen a file”</a:t>
            </a:r>
          </a:p>
        </p:txBody>
      </p:sp>
      <p:sp>
        <p:nvSpPr>
          <p:cNvPr id="4" name="Slide Number Placeholder 3"/>
          <p:cNvSpPr>
            <a:spLocks noGrp="1"/>
          </p:cNvSpPr>
          <p:nvPr>
            <p:ph type="sldNum" sz="quarter" idx="10"/>
          </p:nvPr>
        </p:nvSpPr>
        <p:spPr/>
        <p:txBody>
          <a:bodyPr/>
          <a:lstStyle/>
          <a:p>
            <a:fld id="{18BDFEC3-8487-43E8-A154-7C12CBC1FFF2}" type="slidenum">
              <a:rPr lang="en-US"/>
              <a:t>117</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wrap up with a practical decision-making framework:</a:t>
            </a:r>
          </a:p>
          <a:p>
            <a:pPr lvl="0" indent="0" marL="0">
              <a:buNone/>
            </a:pPr>
          </a:p>
          <a:p>
            <a:pPr lvl="0" indent="0" marL="0">
              <a:buNone/>
            </a:pPr>
            <a:r>
              <a:rPr b="1"/>
              <a:t>The Four Essential Pattern Categories</a:t>
            </a:r>
            <a:r>
              <a:rPr/>
              <a:t>:</a:t>
            </a:r>
          </a:p>
          <a:p>
            <a:pPr lvl="0" indent="0" marL="0">
              <a:buNone/>
            </a:pPr>
          </a:p>
          <a:p>
            <a:pPr lvl="0" indent="0" marL="0">
              <a:buNone/>
            </a:pPr>
            <a:r>
              <a:rPr/>
              <a:t>These four patterns cover 95% of real-world use cases. Let me give you concrete examples of when to use each:</a:t>
            </a:r>
          </a:p>
          <a:p>
            <a:pPr lvl="0" indent="0" marL="0">
              <a:buNone/>
            </a:pPr>
          </a:p>
          <a:p>
            <a:pPr lvl="0" indent="-342900" marL="342900">
              <a:buAutoNum type="arabicPeriod"/>
            </a:pPr>
            <a:r>
              <a:rPr/>
              <a:t>**Universal </a:t>
            </a:r>
            <a:r>
              <a:rPr>
                <a:latin typeface="Courier"/>
              </a:rPr>
              <a:t>**/\*</a:t>
            </a:r>
            <a:r>
              <a:rPr/>
              <a:t>**:</a:t>
            </a:r>
          </a:p>
          <a:p>
            <a:pPr lvl="0" indent="0" marL="0">
              <a:buNone/>
            </a:pPr>
          </a:p>
          <a:p>
            <a:pPr lvl="1"/>
            <a:r>
              <a:rPr/>
              <a:t>AI provenance policies</a:t>
            </a:r>
          </a:p>
          <a:p>
            <a:pPr lvl="0" indent="0" marL="0">
              <a:buNone/>
            </a:pPr>
          </a:p>
          <a:p>
            <a:pPr lvl="1"/>
            <a:r>
              <a:rPr/>
              <a:t>Security compliance requirements</a:t>
            </a:r>
          </a:p>
          <a:p>
            <a:pPr lvl="0" indent="0" marL="0">
              <a:buNone/>
            </a:pPr>
          </a:p>
          <a:p>
            <a:pPr lvl="1"/>
            <a:r>
              <a:rPr/>
              <a:t>Legal/licensing standards</a:t>
            </a:r>
          </a:p>
          <a:p>
            <a:pPr lvl="0" indent="0" marL="0">
              <a:buNone/>
            </a:pPr>
          </a:p>
          <a:p>
            <a:pPr lvl="1"/>
            <a:r>
              <a:rPr/>
              <a:t>Organization-wide conventions</a:t>
            </a:r>
          </a:p>
          <a:p>
            <a:pPr lvl="0" indent="0" marL="0">
              <a:buNone/>
            </a:pPr>
          </a:p>
          <a:p>
            <a:pPr lvl="1"/>
            <a:r>
              <a:rPr/>
              <a:t>Should be max 2-3 instruction files in your entire repo</a:t>
            </a:r>
          </a:p>
          <a:p>
            <a:pPr lvl="0" indent="0" marL="0">
              <a:buNone/>
            </a:pPr>
          </a:p>
          <a:p>
            <a:pPr lvl="0" indent="-342900" marL="342900">
              <a:buAutoNum type="arabicPeriod"/>
            </a:pPr>
            <a:r>
              <a:rPr/>
              <a:t>**Multi-extension </a:t>
            </a:r>
            <a:r>
              <a:rPr>
                <a:latin typeface="Courier"/>
              </a:rPr>
              <a:t>**/\*.{ext1,ext2}</a:t>
            </a:r>
            <a:r>
              <a:rPr/>
              <a:t>**:</a:t>
            </a:r>
          </a:p>
          <a:p>
            <a:pPr lvl="0" indent="0" marL="0">
              <a:buNone/>
            </a:pPr>
          </a:p>
          <a:p>
            <a:pPr lvl="1"/>
            <a:r>
              <a:rPr/>
              <a:t>Language-agnostic code quality patterns</a:t>
            </a:r>
          </a:p>
          <a:p>
            <a:pPr lvl="0" indent="0" marL="0">
              <a:buNone/>
            </a:pPr>
          </a:p>
          <a:p>
            <a:pPr lvl="1"/>
            <a:r>
              <a:rPr/>
              <a:t>Cross-language architecture styles</a:t>
            </a:r>
          </a:p>
          <a:p>
            <a:pPr lvl="0" indent="0" marL="0">
              <a:buNone/>
            </a:pPr>
          </a:p>
          <a:p>
            <a:pPr lvl="1"/>
            <a:r>
              <a:rPr/>
              <a:t>Multi-language testing strategies</a:t>
            </a:r>
          </a:p>
          <a:p>
            <a:pPr lvl="0" indent="0" marL="0">
              <a:buNone/>
            </a:pPr>
          </a:p>
          <a:p>
            <a:pPr lvl="1"/>
            <a:r>
              <a:rPr/>
              <a:t>Example: Vertical slice could apply to C#, TypeScript, Python features</a:t>
            </a:r>
          </a:p>
          <a:p>
            <a:pPr lvl="0" indent="0" marL="0">
              <a:buNone/>
            </a:pPr>
          </a:p>
          <a:p>
            <a:pPr lvl="0" indent="-342900" marL="342900">
              <a:buAutoNum type="arabicPeriod"/>
            </a:pPr>
            <a:r>
              <a:rPr/>
              <a:t>**Directory scope </a:t>
            </a:r>
            <a:r>
              <a:rPr>
                <a:latin typeface="Courier"/>
              </a:rPr>
              <a:t>directory/**</a:t>
            </a:r>
            <a:r>
              <a:rPr/>
              <a:t>**:</a:t>
            </a:r>
          </a:p>
          <a:p>
            <a:pPr lvl="0" indent="0" marL="0">
              <a:buNone/>
            </a:pPr>
          </a:p>
          <a:p>
            <a:pPr lvl="1"/>
            <a:r>
              <a:rPr/>
              <a:t>Slide formatting (Slides/*)</a:t>
            </a:r>
          </a:p>
          <a:p>
            <a:pPr lvl="0" indent="0" marL="0">
              <a:buNone/>
            </a:pPr>
          </a:p>
          <a:p>
            <a:pPr lvl="1"/>
            <a:r>
              <a:rPr/>
              <a:t>API documentation (docs/api/**)</a:t>
            </a:r>
          </a:p>
          <a:p>
            <a:pPr lvl="0" indent="0" marL="0">
              <a:buNone/>
            </a:pPr>
          </a:p>
          <a:p>
            <a:pPr lvl="1"/>
            <a:r>
              <a:rPr/>
              <a:t>Feature isolation (src/Features/**)</a:t>
            </a:r>
          </a:p>
          <a:p>
            <a:pPr lvl="0" indent="0" marL="0">
              <a:buNone/>
            </a:pPr>
          </a:p>
          <a:p>
            <a:pPr lvl="1"/>
            <a:r>
              <a:rPr/>
              <a:t>Test organization (tests/**)</a:t>
            </a:r>
          </a:p>
          <a:p>
            <a:pPr lvl="0" indent="0" marL="0">
              <a:buNone/>
            </a:pPr>
          </a:p>
          <a:p>
            <a:pPr lvl="0" indent="-342900" marL="342900">
              <a:buAutoNum type="arabicPeriod"/>
            </a:pPr>
            <a:r>
              <a:rPr/>
              <a:t>**Specialized naming </a:t>
            </a:r>
            <a:r>
              <a:rPr>
                <a:latin typeface="Courier"/>
              </a:rPr>
              <a:t>**/\*.pattern.ext</a:t>
            </a:r>
            <a:r>
              <a:rPr/>
              <a:t>**:</a:t>
            </a:r>
          </a:p>
          <a:p>
            <a:pPr lvl="0" indent="0" marL="0">
              <a:buNone/>
            </a:pPr>
          </a:p>
          <a:p>
            <a:pPr lvl="1"/>
            <a:r>
              <a:rPr/>
              <a:t>Instruction files themselves (*.instructions.md)</a:t>
            </a:r>
          </a:p>
          <a:p>
            <a:pPr lvl="0" indent="0" marL="0">
              <a:buNone/>
            </a:pPr>
          </a:p>
          <a:p>
            <a:pPr lvl="1"/>
            <a:r>
              <a:rPr/>
              <a:t>Prompt files (*.prompt.md)</a:t>
            </a:r>
          </a:p>
          <a:p>
            <a:pPr lvl="0" indent="0" marL="0">
              <a:buNone/>
            </a:pPr>
          </a:p>
          <a:p>
            <a:pPr lvl="1"/>
            <a:r>
              <a:rPr/>
              <a:t>Test files (</a:t>
            </a:r>
            <a:r>
              <a:rPr i="1"/>
              <a:t>.test.js, </a:t>
            </a:r>
            <a:r>
              <a:rPr/>
              <a:t>.spec.ts)</a:t>
            </a:r>
          </a:p>
          <a:p>
            <a:pPr lvl="0" indent="0" marL="0">
              <a:buNone/>
            </a:pPr>
          </a:p>
          <a:p>
            <a:pPr lvl="1"/>
            <a:r>
              <a:rPr/>
              <a:t>Generated files (*.generated.cs)</a:t>
            </a:r>
          </a:p>
          <a:p>
            <a:pPr lvl="0" indent="0" marL="0">
              <a:buNone/>
            </a:pPr>
          </a:p>
          <a:p>
            <a:pPr lvl="0" indent="0" marL="0">
              <a:buNone/>
            </a:pPr>
            <a:r>
              <a:rPr b="1"/>
              <a:t>Using the Decision Tree</a:t>
            </a:r>
            <a:r>
              <a:rPr/>
              <a:t>:</a:t>
            </a:r>
          </a:p>
          <a:p>
            <a:pPr lvl="0" indent="0" marL="0">
              <a:buNone/>
            </a:pPr>
          </a:p>
          <a:p>
            <a:pPr lvl="0" indent="0" marL="0">
              <a:buNone/>
            </a:pPr>
            <a:r>
              <a:rPr/>
              <a:t>Work through the questions in order. The first “yes” answer tells you which pattern category to use. Then refine within that category.</a:t>
            </a:r>
          </a:p>
          <a:p>
            <a:pPr lvl="0" indent="0" marL="0">
              <a:buNone/>
            </a:pPr>
          </a:p>
          <a:p>
            <a:pPr lvl="0" indent="0" marL="0">
              <a:buNone/>
            </a:pPr>
            <a:r>
              <a:rPr/>
              <a:t>Example walkthrough:</a:t>
            </a:r>
          </a:p>
          <a:p>
            <a:pPr lvl="0" indent="0" marL="0">
              <a:buNone/>
            </a:pPr>
          </a:p>
          <a:p>
            <a:pPr lvl="0"/>
            <a:r>
              <a:rPr/>
              <a:t>“I’m creating architecture guidelines for CQRS”</a:t>
            </a:r>
          </a:p>
          <a:p>
            <a:pPr lvl="0" indent="0" marL="0">
              <a:buNone/>
            </a:pPr>
          </a:p>
          <a:p>
            <a:pPr lvl="0"/>
            <a:r>
              <a:rPr/>
              <a:t>Q1: All files? No (config files don’t need CQRS patterns)</a:t>
            </a:r>
          </a:p>
          <a:p>
            <a:pPr lvl="0" indent="0" marL="0">
              <a:buNone/>
            </a:pPr>
          </a:p>
          <a:p>
            <a:pPr lvl="0"/>
            <a:r>
              <a:rPr/>
              <a:t>Q2: Specific file types? Yes - code files</a:t>
            </a:r>
          </a:p>
          <a:p>
            <a:pPr lvl="0" indent="0" marL="0">
              <a:buNone/>
            </a:pPr>
          </a:p>
          <a:p>
            <a:pPr lvl="0"/>
            <a:r>
              <a:rPr/>
              <a:t>→ Use </a:t>
            </a:r>
            <a:r>
              <a:rPr>
                <a:latin typeface="Courier"/>
              </a:rPr>
              <a:t>**/*.{cs,ts,js,py}</a:t>
            </a:r>
          </a:p>
          <a:p>
            <a:pPr lvl="0" indent="0" marL="0">
              <a:buNone/>
            </a:pPr>
          </a:p>
          <a:p>
            <a:pPr lvl="0"/>
            <a:r>
              <a:rPr/>
              <a:t>Refinement: Maybe only src directory: </a:t>
            </a:r>
            <a:r>
              <a:rPr>
                <a:latin typeface="Courier"/>
              </a:rPr>
              <a:t>src/**/*.{cs,ts,js,py}</a:t>
            </a:r>
          </a:p>
          <a:p>
            <a:pPr lvl="0" indent="0" marL="0">
              <a:buNone/>
            </a:pPr>
          </a:p>
          <a:p>
            <a:pPr lvl="0" indent="0" marL="0">
              <a:buNone/>
            </a:pPr>
            <a:r>
              <a:rPr b="1"/>
              <a:t>Documentation is Critical</a:t>
            </a:r>
            <a:r>
              <a:rPr/>
              <a:t>:</a:t>
            </a:r>
          </a:p>
          <a:p>
            <a:pPr lvl="0" indent="0" marL="0">
              <a:buNone/>
            </a:pPr>
          </a:p>
          <a:p>
            <a:pPr lvl="0" indent="0" marL="0">
              <a:buNone/>
            </a:pPr>
            <a:r>
              <a:rPr/>
              <a:t>In your instruction file, add a comment in the front matter explaining the pattern choice:</a:t>
            </a:r>
          </a:p>
          <a:p>
            <a:pPr lvl="0" indent="0" marL="0">
              <a:buNone/>
            </a:pP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"src/Features/**/*.cs"</a:t>
            </a:r>
          </a:p>
          <a:p>
            <a:pPr lvl="0" indent="0" marL="0">
              <a:buNone/>
            </a:pPr>
          </a:p>
          <a:p>
            <a:pPr lvl="0" indent="0" marL="0">
              <a:buNone/>
            </a:pPr>
            <a:r>
              <a:rPr/>
              <a:t>This helps future developers (including yourself) understand the reasoning.</a:t>
            </a:r>
          </a:p>
          <a:p>
            <a:pPr lvl="0" indent="0" marL="0">
              <a:buNone/>
            </a:pPr>
          </a:p>
          <a:p>
            <a:pPr lvl="0" indent="0" marL="0">
              <a:buNone/>
            </a:pPr>
            <a:r>
              <a:rPr b="1"/>
              <a:t>Review and Iterate</a:t>
            </a:r>
            <a:r>
              <a:rPr/>
              <a:t>:</a:t>
            </a:r>
          </a:p>
          <a:p>
            <a:pPr lvl="0" indent="0" marL="0">
              <a:buNone/>
            </a:pPr>
          </a:p>
          <a:p>
            <a:pPr lvl="0" indent="0" marL="0">
              <a:buNone/>
            </a:pPr>
            <a:r>
              <a:rPr/>
              <a:t>Patterns aren’t set in stone. If you notice:</a:t>
            </a:r>
          </a:p>
          <a:p>
            <a:pPr lvl="0" indent="0" marL="0">
              <a:buNone/>
            </a:pPr>
          </a:p>
          <a:p>
            <a:pPr lvl="0"/>
            <a:r>
              <a:rPr/>
              <a:t>Instructions not being applied when expected</a:t>
            </a:r>
          </a:p>
          <a:p>
            <a:pPr lvl="0" indent="0" marL="0">
              <a:buNone/>
            </a:pPr>
          </a:p>
          <a:p>
            <a:pPr lvl="0"/>
            <a:r>
              <a:rPr/>
              <a:t>Instructions being applied to wrong files</a:t>
            </a:r>
          </a:p>
          <a:p>
            <a:pPr lvl="0" indent="0" marL="0">
              <a:buNone/>
            </a:pPr>
          </a:p>
          <a:p>
            <a:pPr lvl="0"/>
            <a:r>
              <a:rPr/>
              <a:t>Need to refactor directory structure</a:t>
            </a:r>
          </a:p>
          <a:p>
            <a:pPr lvl="0" indent="0" marL="0">
              <a:buNone/>
            </a:pPr>
          </a:p>
          <a:p>
            <a:pPr lvl="0" indent="0" marL="0">
              <a:buNone/>
            </a:pPr>
            <a:r>
              <a:rPr/>
              <a:t>Then review and update your patterns. This is normal maintenance.</a:t>
            </a:r>
          </a:p>
          <a:p>
            <a:pPr lvl="0" indent="0" marL="0">
              <a:buNone/>
            </a:pPr>
          </a:p>
          <a:p>
            <a:pPr lvl="0" indent="0" marL="0">
              <a:buNone/>
            </a:pPr>
            <a:r>
              <a:rPr b="1"/>
              <a:t>Final thought</a:t>
            </a:r>
            <a:r>
              <a:rPr/>
              <a:t>: “Good applyTo patterns make Copilot predictable and reliable. Take the time to get them right.”</a:t>
            </a:r>
          </a:p>
          <a:p>
            <a:pPr lvl="0" indent="0" marL="0">
              <a:buNone/>
            </a:pPr>
          </a:p>
          <a:p>
            <a:pPr lvl="0" indent="0" marL="0">
              <a:buNone/>
            </a:pPr>
            <a:r>
              <a:rPr b="1"/>
              <a:t>Timing</a:t>
            </a:r>
            <a:r>
              <a:rPr/>
              <a:t>: 3 minutes for comprehensive wrap-up </a:t>
            </a:r>
            <a:r>
              <a:rPr b="1"/>
              <a:t>End with</a:t>
            </a:r>
            <a:r>
              <a:rPr/>
              <a:t>: “Questions about applyTo patterns or glob syntax?”</a:t>
            </a:r>
          </a:p>
        </p:txBody>
      </p:sp>
      <p:sp>
        <p:nvSpPr>
          <p:cNvPr id="4" name="Slide Number Placeholder 3"/>
          <p:cNvSpPr>
            <a:spLocks noGrp="1"/>
          </p:cNvSpPr>
          <p:nvPr>
            <p:ph type="sldNum" sz="quarter" idx="10"/>
          </p:nvPr>
        </p:nvSpPr>
        <p:spPr/>
        <p:txBody>
          <a:bodyPr/>
          <a:lstStyle/>
          <a:p>
            <a:fld id="{18BDFEC3-8487-43E8-A154-7C12CBC1FFF2}" type="slidenum">
              <a:rPr lang="en-US"/>
              <a:t>118</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closing slide - keep it brief and actionable.</a:t>
            </a:r>
          </a:p>
          <a:p>
            <a:pPr lvl="0" indent="0" marL="0">
              <a:buNone/>
            </a:pPr>
          </a:p>
          <a:p>
            <a:pPr lvl="0" indent="0" marL="0">
              <a:buNone/>
            </a:pPr>
            <a:r>
              <a:rPr b="1"/>
              <a:t>Resources to Share</a:t>
            </a:r>
            <a:r>
              <a:rPr/>
              <a:t>:</a:t>
            </a:r>
          </a:p>
          <a:p>
            <a:pPr lvl="0" indent="0" marL="0">
              <a:buNone/>
            </a:pPr>
          </a:p>
          <a:p>
            <a:pPr lvl="0" indent="0" marL="0">
              <a:buNone/>
            </a:pPr>
            <a:r>
              <a:rPr/>
              <a:t>Point attendees to:</a:t>
            </a:r>
          </a:p>
          <a:p>
            <a:pPr lvl="0" indent="0" marL="0">
              <a:buNone/>
            </a:pPr>
          </a:p>
          <a:p>
            <a:pPr lvl="0" indent="-342900" marL="342900">
              <a:buAutoNum type="arabicPeriod"/>
            </a:pPr>
            <a:r>
              <a:rPr/>
              <a:t>The globster.xyz website - they should bookmark this</a:t>
            </a:r>
          </a:p>
          <a:p>
            <a:pPr lvl="0" indent="0" marL="0">
              <a:buNone/>
            </a:pPr>
          </a:p>
          <a:p>
            <a:pPr lvl="0" indent="-342900" marL="342900">
              <a:buAutoNum type="arabicPeriod"/>
            </a:pPr>
            <a:r>
              <a:rPr/>
              <a:t>Official GitHub documentation on instruction files (if available)</a:t>
            </a:r>
          </a:p>
          <a:p>
            <a:pPr lvl="0" indent="0" marL="0">
              <a:buNone/>
            </a:pPr>
          </a:p>
          <a:p>
            <a:pPr lvl="0" indent="-342900" marL="342900">
              <a:buAutoNum type="arabicPeriod"/>
            </a:pPr>
            <a:r>
              <a:rPr/>
              <a:t>This repository’s .github/instructions/ directory as examples</a:t>
            </a:r>
          </a:p>
          <a:p>
            <a:pPr lvl="0" indent="0" marL="0">
              <a:buNone/>
            </a:pPr>
          </a:p>
          <a:p>
            <a:pPr lvl="0" indent="0" marL="0">
              <a:buNone/>
            </a:pPr>
            <a:r>
              <a:rPr b="1"/>
              <a:t>Practice Exercise</a:t>
            </a:r>
            <a:r>
              <a:rPr/>
              <a:t>:</a:t>
            </a:r>
          </a:p>
          <a:p>
            <a:pPr lvl="0" indent="0" marL="0">
              <a:buNone/>
            </a:pPr>
          </a:p>
          <a:p>
            <a:pPr lvl="0" indent="0" marL="0">
              <a:buNone/>
            </a:pPr>
            <a:r>
              <a:rPr/>
              <a:t>These three exercises cover the main pattern categories:</a:t>
            </a:r>
          </a:p>
          <a:p>
            <a:pPr lvl="0" indent="0" marL="0">
              <a:buNone/>
            </a:pPr>
          </a:p>
          <a:p>
            <a:pPr lvl="0" indent="0" marL="0">
              <a:buNone/>
            </a:pPr>
            <a:r>
              <a:rPr/>
              <a:t>Exercise 1 - CQRS Architecture:</a:t>
            </a:r>
          </a:p>
          <a:p>
            <a:pPr lvl="0" indent="0" marL="0">
              <a:buNone/>
            </a:pPr>
          </a:p>
          <a:p>
            <a:pPr lvl="0"/>
            <a:r>
              <a:rPr/>
              <a:t>Should apply to: C#, TypeScript, Python code files</a:t>
            </a:r>
          </a:p>
          <a:p>
            <a:pPr lvl="0" indent="0" marL="0">
              <a:buNone/>
            </a:pPr>
          </a:p>
          <a:p>
            <a:pPr lvl="0"/>
            <a:r>
              <a:rPr/>
              <a:t>Suggested pattern: </a:t>
            </a:r>
            <a:r>
              <a:rPr>
                <a:latin typeface="Courier"/>
              </a:rPr>
              <a:t>src/**/*.{cs,ts,py}</a:t>
            </a:r>
          </a:p>
          <a:p>
            <a:pPr lvl="0" indent="0" marL="0">
              <a:buNone/>
            </a:pPr>
          </a:p>
          <a:p>
            <a:pPr lvl="0"/>
            <a:r>
              <a:rPr/>
              <a:t>Excludes: tests, config files, documentation</a:t>
            </a:r>
          </a:p>
          <a:p>
            <a:pPr lvl="0" indent="0" marL="0">
              <a:buNone/>
            </a:pPr>
          </a:p>
          <a:p>
            <a:pPr lvl="0"/>
            <a:r>
              <a:rPr/>
              <a:t>Learning goal: Multi-extension file type targeting</a:t>
            </a:r>
          </a:p>
          <a:p>
            <a:pPr lvl="0" indent="0" marL="0">
              <a:buNone/>
            </a:pPr>
          </a:p>
          <a:p>
            <a:pPr lvl="0" indent="0" marL="0">
              <a:buNone/>
            </a:pPr>
            <a:r>
              <a:rPr/>
              <a:t>Exercise 2 - Mermaid Diagram Standards:</a:t>
            </a:r>
          </a:p>
          <a:p>
            <a:pPr lvl="0" indent="0" marL="0">
              <a:buNone/>
            </a:pPr>
          </a:p>
          <a:p>
            <a:pPr lvl="0"/>
            <a:r>
              <a:rPr/>
              <a:t>Should apply to: All markdown files with diagrams</a:t>
            </a:r>
          </a:p>
          <a:p>
            <a:pPr lvl="0" indent="0" marL="0">
              <a:buNone/>
            </a:pPr>
          </a:p>
          <a:p>
            <a:pPr lvl="0"/>
            <a:r>
              <a:rPr/>
              <a:t>Suggested pattern: </a:t>
            </a:r>
            <a:r>
              <a:rPr>
                <a:latin typeface="Courier"/>
              </a:rPr>
              <a:t>**/*.md</a:t>
            </a:r>
            <a:r>
              <a:rPr/>
              <a:t> or </a:t>
            </a:r>
            <a:r>
              <a:rPr>
                <a:latin typeface="Courier"/>
              </a:rPr>
              <a:t>docs/**/*.md</a:t>
            </a:r>
            <a:r>
              <a:rPr/>
              <a:t> if narrower</a:t>
            </a:r>
          </a:p>
          <a:p>
            <a:pPr lvl="0" indent="0" marL="0">
              <a:buNone/>
            </a:pPr>
          </a:p>
          <a:p>
            <a:pPr lvl="0"/>
            <a:r>
              <a:rPr/>
              <a:t>Excludes: Non-markdown files</a:t>
            </a:r>
          </a:p>
          <a:p>
            <a:pPr lvl="0" indent="0" marL="0">
              <a:buNone/>
            </a:pPr>
          </a:p>
          <a:p>
            <a:pPr lvl="0"/>
            <a:r>
              <a:rPr/>
              <a:t>Learning goal: Extension-based filtering</a:t>
            </a:r>
          </a:p>
          <a:p>
            <a:pPr lvl="0" indent="0" marL="0">
              <a:buNone/>
            </a:pPr>
          </a:p>
          <a:p>
            <a:pPr lvl="0" indent="0" marL="0">
              <a:buNone/>
            </a:pPr>
            <a:r>
              <a:rPr/>
              <a:t>Exercise 3 - Test Naming Conventions:</a:t>
            </a:r>
          </a:p>
          <a:p>
            <a:pPr lvl="0" indent="0" marL="0">
              <a:buNone/>
            </a:pPr>
          </a:p>
          <a:p>
            <a:pPr lvl="0"/>
            <a:r>
              <a:rPr/>
              <a:t>Should apply to: Test files only</a:t>
            </a:r>
          </a:p>
          <a:p>
            <a:pPr lvl="0" indent="0" marL="0">
              <a:buNone/>
            </a:pPr>
          </a:p>
          <a:p>
            <a:pPr lvl="0"/>
            <a:r>
              <a:rPr/>
              <a:t>Suggested pattern: </a:t>
            </a:r>
            <a:r>
              <a:rPr>
                <a:latin typeface="Courier"/>
              </a:rPr>
              <a:t>**/*.{test,spec}.{js,ts}</a:t>
            </a:r>
            <a:r>
              <a:rPr/>
              <a:t> or </a:t>
            </a:r>
            <a:r>
              <a:rPr>
                <a:latin typeface="Courier"/>
              </a:rPr>
              <a:t>tests/**/*</a:t>
            </a:r>
          </a:p>
          <a:p>
            <a:pPr lvl="0" indent="0" marL="0">
              <a:buNone/>
            </a:pPr>
          </a:p>
          <a:p>
            <a:pPr lvl="0"/>
            <a:r>
              <a:rPr/>
              <a:t>Excludes: Source code</a:t>
            </a:r>
          </a:p>
          <a:p>
            <a:pPr lvl="0" indent="0" marL="0">
              <a:buNone/>
            </a:pPr>
          </a:p>
          <a:p>
            <a:pPr lvl="0"/>
            <a:r>
              <a:rPr/>
              <a:t>Learning goal: Specialized naming patterns or directory scoping</a:t>
            </a:r>
          </a:p>
          <a:p>
            <a:pPr lvl="0" indent="0" marL="0">
              <a:buNone/>
            </a:pPr>
          </a:p>
          <a:p>
            <a:pPr lvl="0" indent="0" marL="0">
              <a:buNone/>
            </a:pPr>
            <a:r>
              <a:rPr/>
              <a:t>Have them create these instruction files with proper applyTo patterns and test whether they match the expected files using the methods from slide 9.</a:t>
            </a:r>
          </a:p>
          <a:p>
            <a:pPr lvl="0" indent="0" marL="0">
              <a:buNone/>
            </a:pPr>
          </a:p>
          <a:p>
            <a:pPr lvl="0" indent="0" marL="0">
              <a:buNone/>
            </a:pPr>
            <a:r>
              <a:rPr b="1"/>
              <a:t>Timing for Q&amp;A</a:t>
            </a:r>
            <a:r>
              <a:rPr/>
              <a:t>: Budget at least 5 minutes </a:t>
            </a:r>
            <a:r>
              <a:rPr b="1"/>
              <a:t>Common questions to expect</a:t>
            </a:r>
            <a:r>
              <a:rPr/>
              <a:t>:</a:t>
            </a:r>
          </a:p>
          <a:p>
            <a:pPr lvl="0" indent="0" marL="0">
              <a:buNone/>
            </a:pPr>
          </a:p>
          <a:p>
            <a:pPr lvl="0"/>
            <a:r>
              <a:rPr/>
              <a:t>“Can I use regex in applyTo?” (No, only glob patterns)</a:t>
            </a:r>
          </a:p>
          <a:p>
            <a:pPr lvl="0" indent="0" marL="0">
              <a:buNone/>
            </a:pPr>
          </a:p>
          <a:p>
            <a:pPr lvl="0"/>
            <a:r>
              <a:rPr/>
              <a:t>“What if I need NOT patterns?” (Use specific inclusion instead)</a:t>
            </a:r>
          </a:p>
          <a:p>
            <a:pPr lvl="0" indent="0" marL="0">
              <a:buNone/>
            </a:pPr>
          </a:p>
          <a:p>
            <a:pPr lvl="0"/>
            <a:r>
              <a:rPr/>
              <a:t>“Can patterns match directories themselves?” (Patterns match files, but </a:t>
            </a:r>
            <a:r>
              <a:rPr>
                <a:latin typeface="Courier"/>
              </a:rPr>
              <a:t>dir/**</a:t>
            </a:r>
            <a:r>
              <a:rPr/>
              <a:t> matches all files in dir)</a:t>
            </a:r>
          </a:p>
          <a:p>
            <a:pPr lvl="0" indent="0" marL="0">
              <a:buNone/>
            </a:pPr>
          </a:p>
          <a:p>
            <a:pPr lvl="0"/>
            <a:r>
              <a:rPr/>
              <a:t>“How do I debug when patterns don’t work?” (Use the testing methods from slide 9)</a:t>
            </a:r>
          </a:p>
          <a:p>
            <a:pPr lvl="0" indent="0" marL="0">
              <a:buNone/>
            </a:pPr>
          </a:p>
          <a:p>
            <a:pPr lvl="0" indent="0" marL="0">
              <a:buNone/>
            </a:pPr>
            <a:r>
              <a:rPr b="1"/>
              <a:t>Closing statement</a:t>
            </a:r>
            <a:r>
              <a:rPr/>
              <a:t>: “Remember, good applyTo patterns are the key to making Copilot instruction files reliable and maintainable. Start with these patterns, test them thoroughly, and iterate based on real-world usage.”</a:t>
            </a:r>
          </a:p>
        </p:txBody>
      </p:sp>
      <p:sp>
        <p:nvSpPr>
          <p:cNvPr id="4" name="Slide Number Placeholder 3"/>
          <p:cNvSpPr>
            <a:spLocks noGrp="1"/>
          </p:cNvSpPr>
          <p:nvPr>
            <p:ph type="sldNum" sz="quarter" idx="10"/>
          </p:nvPr>
        </p:nvSpPr>
        <p:spPr/>
        <p:txBody>
          <a:bodyPr/>
          <a:lstStyle/>
          <a:p>
            <a:fld id="{18BDFEC3-8487-43E8-A154-7C12CBC1FFF2}" type="slidenum">
              <a:rPr lang="en-US"/>
              <a:t>119</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Closing Remarks</a:t>
            </a:r>
            <a:r>
              <a:rPr/>
              <a:t>:</a:t>
            </a:r>
          </a:p>
          <a:p>
            <a:pPr lvl="0" indent="0" marL="0">
              <a:buNone/>
            </a:pPr>
          </a:p>
          <a:p>
            <a:pPr lvl="0" indent="0" marL="0">
              <a:buNone/>
            </a:pPr>
            <a:r>
              <a:rPr/>
              <a:t>Thank you all for your attention. The applyTo pattern system might seem simple on the surface, but as we’ve seen, there’s real depth to using it effectively.</a:t>
            </a:r>
          </a:p>
          <a:p>
            <a:pPr lvl="0" indent="0" marL="0">
              <a:buNone/>
            </a:pPr>
          </a:p>
          <a:p>
            <a:pPr lvl="0" indent="0" marL="0">
              <a:buNone/>
            </a:pPr>
            <a:r>
              <a:rPr b="1"/>
              <a:t>Key messages to leave with</a:t>
            </a:r>
            <a:r>
              <a:rPr/>
              <a:t>:</a:t>
            </a:r>
          </a:p>
          <a:p>
            <a:pPr lvl="0" indent="0" marL="0">
              <a:buNone/>
            </a:pPr>
          </a:p>
          <a:p>
            <a:pPr lvl="0" indent="-342900" marL="342900">
              <a:buAutoNum type="arabicPeriod"/>
            </a:pPr>
            <a:r>
              <a:rPr/>
              <a:t>Specificity prevents conflicts</a:t>
            </a:r>
          </a:p>
          <a:p>
            <a:pPr lvl="0" indent="0" marL="0">
              <a:buNone/>
            </a:pPr>
          </a:p>
          <a:p>
            <a:pPr lvl="0" indent="-342900" marL="342900">
              <a:buAutoNum type="arabicPeriod"/>
            </a:pPr>
            <a:r>
              <a:rPr/>
              <a:t>Test your patterns before committing</a:t>
            </a:r>
          </a:p>
          <a:p>
            <a:pPr lvl="0" indent="0" marL="0">
              <a:buNone/>
            </a:pPr>
          </a:p>
          <a:p>
            <a:pPr lvl="0" indent="-342900" marL="342900">
              <a:buAutoNum type="arabicPeriod"/>
            </a:pPr>
            <a:r>
              <a:rPr/>
              <a:t>Document your pattern choices</a:t>
            </a:r>
          </a:p>
          <a:p>
            <a:pPr lvl="0" indent="0" marL="0">
              <a:buNone/>
            </a:pPr>
          </a:p>
          <a:p>
            <a:pPr lvl="0" indent="-342900" marL="342900">
              <a:buAutoNum type="arabicPeriod"/>
            </a:pPr>
            <a:r>
              <a:rPr/>
              <a:t>Review and refine based on real usage</a:t>
            </a:r>
          </a:p>
          <a:p>
            <a:pPr lvl="0" indent="0" marL="0">
              <a:buNone/>
            </a:pPr>
          </a:p>
          <a:p>
            <a:pPr lvl="0" indent="0" marL="0">
              <a:buNone/>
            </a:pPr>
            <a:r>
              <a:rPr b="1"/>
              <a:t>Engagement</a:t>
            </a:r>
            <a:r>
              <a:rPr/>
              <a:t>:</a:t>
            </a:r>
          </a:p>
          <a:p>
            <a:pPr lvl="0" indent="0" marL="0">
              <a:buNone/>
            </a:pPr>
          </a:p>
          <a:p>
            <a:pPr lvl="0"/>
            <a:r>
              <a:rPr/>
              <a:t>“Please reach out with questions as you implement these patterns in your projects”</a:t>
            </a:r>
          </a:p>
          <a:p>
            <a:pPr lvl="0" indent="0" marL="0">
              <a:buNone/>
            </a:pPr>
          </a:p>
          <a:p>
            <a:pPr lvl="0"/>
            <a:r>
              <a:rPr/>
              <a:t>“Share your experiences - both successes and challenges - with the team”</a:t>
            </a:r>
          </a:p>
          <a:p>
            <a:pPr lvl="0" indent="0" marL="0">
              <a:buNone/>
            </a:pPr>
          </a:p>
          <a:p>
            <a:pPr lvl="0"/>
            <a:r>
              <a:rPr/>
              <a:t>“The GitHub repository has many examples in the .github/instructions/ directory”</a:t>
            </a:r>
          </a:p>
          <a:p>
            <a:pPr lvl="0" indent="0" marL="0">
              <a:buNone/>
            </a:pPr>
          </a:p>
          <a:p>
            <a:pPr lvl="0" indent="0" marL="0">
              <a:buNone/>
            </a:pPr>
            <a:r>
              <a:rPr b="1"/>
              <a:t>Next Steps</a:t>
            </a:r>
            <a:r>
              <a:rPr/>
              <a:t>:</a:t>
            </a:r>
          </a:p>
          <a:p>
            <a:pPr lvl="0" indent="0" marL="0">
              <a:buNone/>
            </a:pPr>
          </a:p>
          <a:p>
            <a:pPr lvl="0"/>
            <a:r>
              <a:rPr/>
              <a:t>Review the instruction files in this repository</a:t>
            </a:r>
          </a:p>
          <a:p>
            <a:pPr lvl="0" indent="0" marL="0">
              <a:buNone/>
            </a:pPr>
          </a:p>
          <a:p>
            <a:pPr lvl="0"/>
            <a:r>
              <a:rPr/>
              <a:t>Try the practice exercises</a:t>
            </a:r>
          </a:p>
          <a:p>
            <a:pPr lvl="0" indent="0" marL="0">
              <a:buNone/>
            </a:pPr>
          </a:p>
          <a:p>
            <a:pPr lvl="0"/>
            <a:r>
              <a:rPr/>
              <a:t>Start applying these patterns to your own projects</a:t>
            </a:r>
          </a:p>
          <a:p>
            <a:pPr lvl="0" indent="0" marL="0">
              <a:buNone/>
            </a:pPr>
          </a:p>
          <a:p>
            <a:pPr lvl="0"/>
            <a:r>
              <a:rPr/>
              <a:t>Share learnings with your team</a:t>
            </a:r>
          </a:p>
          <a:p>
            <a:pPr lvl="0" indent="0" marL="0">
              <a:buNone/>
            </a:pPr>
          </a:p>
          <a:p>
            <a:pPr lvl="0" indent="0" marL="0">
              <a:buNone/>
            </a:pPr>
            <a:r>
              <a:rPr b="1"/>
              <a:t>Call to Action</a:t>
            </a:r>
            <a:r>
              <a:rPr/>
              <a:t>: “I’d encourage everyone to audit one of your existing projects this week - look at your instruction files and their applyTo patterns. Are they as specific as they could be? Are there conflicts? Use the testing methods we discussed to verify them.”</a:t>
            </a:r>
          </a:p>
          <a:p>
            <a:pPr lvl="0" indent="0" marL="0">
              <a:buNone/>
            </a:pPr>
          </a:p>
          <a:p>
            <a:pPr lvl="0" indent="0" marL="0">
              <a:buNone/>
            </a:pPr>
            <a:r>
              <a:rPr b="1"/>
              <a:t>Timing</a:t>
            </a:r>
            <a:r>
              <a:rPr/>
              <a:t>: 1 minute </a:t>
            </a:r>
            <a:r>
              <a:rPr b="1"/>
              <a:t>Tone</a:t>
            </a:r>
            <a:r>
              <a:rPr/>
              <a:t>: Encouraging and supportive - this is about continuous improvement</a:t>
            </a:r>
          </a:p>
        </p:txBody>
      </p:sp>
      <p:sp>
        <p:nvSpPr>
          <p:cNvPr id="4" name="Slide Number Placeholder 3"/>
          <p:cNvSpPr>
            <a:spLocks noGrp="1"/>
          </p:cNvSpPr>
          <p:nvPr>
            <p:ph type="sldNum" sz="quarter" idx="10"/>
          </p:nvPr>
        </p:nvSpPr>
        <p:spPr/>
        <p:txBody>
          <a:bodyPr/>
          <a:lstStyle/>
          <a:p>
            <a:fld id="{18BDFEC3-8487-43E8-A154-7C12CBC1FFF2}" type="slidenum">
              <a:rPr lang="en-US"/>
              <a:t>120</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frames Copilot as a tool that amplifies engineering discipline rather than replacing it.</a:t>
            </a:r>
          </a:p>
          <a:p>
            <a:pPr lvl="0" indent="0" marL="0">
              <a:buNone/>
            </a:pPr>
          </a:p>
          <a:p>
            <a:pPr lvl="0" indent="0" marL="0">
              <a:buNone/>
            </a:pPr>
            <a:r>
              <a:rPr/>
              <a:t>The message is: Copilot is not magic.</a:t>
            </a:r>
          </a:p>
          <a:p>
            <a:pPr lvl="0" indent="0" marL="0">
              <a:buNone/>
            </a:pPr>
          </a:p>
          <a:p>
            <a:pPr lvl="0" indent="0" marL="0">
              <a:buNone/>
            </a:pPr>
            <a:r>
              <a:rPr/>
              <a:t>It’s a reasoning engine that responds to structure, clarity, and context.</a:t>
            </a:r>
          </a:p>
          <a:p>
            <a:pPr lvl="0" indent="0" marL="0">
              <a:buNone/>
            </a:pPr>
          </a:p>
          <a:p>
            <a:pPr lvl="0" indent="0" marL="0">
              <a:buNone/>
            </a:pPr>
            <a:r>
              <a:rPr/>
              <a:t>When managed well, it becomes a force multiplier.</a:t>
            </a:r>
          </a:p>
          <a:p>
            <a:pPr lvl="0" indent="0" marL="0">
              <a:buNone/>
            </a:pPr>
          </a:p>
          <a:p>
            <a:pPr lvl="0" indent="0" marL="0">
              <a:buNone/>
            </a:pPr>
            <a:r>
              <a:rPr/>
              <a:t>When unmanaged, it becomes unpredictable.</a:t>
            </a:r>
          </a:p>
        </p:txBody>
      </p:sp>
      <p:sp>
        <p:nvSpPr>
          <p:cNvPr id="4" name="Slide Number Placeholder 3"/>
          <p:cNvSpPr>
            <a:spLocks noGrp="1"/>
          </p:cNvSpPr>
          <p:nvPr>
            <p:ph type="sldNum" sz="quarter" idx="10"/>
          </p:nvPr>
        </p:nvSpPr>
        <p:spPr/>
        <p:txBody>
          <a:bodyPr/>
          <a:lstStyle/>
          <a:p>
            <a:fld id="{18BDFEC3-8487-43E8-A154-7C12CBC1FFF2}" type="slidenum">
              <a:rPr lang="en-US"/>
              <a:t>123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analogy resonates with engineering teams.</a:t>
            </a:r>
          </a:p>
          <a:p>
            <a:pPr lvl="0" indent="0" marL="0">
              <a:buNone/>
            </a:pPr>
          </a:p>
          <a:p>
            <a:pPr lvl="0" indent="0" marL="0">
              <a:buNone/>
            </a:pPr>
            <a:r>
              <a:rPr/>
              <a:t>Copilot behaves like a junior developer: capable, but lacking context and judgment.</a:t>
            </a:r>
          </a:p>
          <a:p>
            <a:pPr lvl="0" indent="0" marL="0">
              <a:buNone/>
            </a:pPr>
          </a:p>
          <a:p>
            <a:pPr lvl="0" indent="0" marL="0">
              <a:buNone/>
            </a:pPr>
            <a:r>
              <a:rPr/>
              <a:t>It thrives when you give it structure and feedback.</a:t>
            </a:r>
          </a:p>
          <a:p>
            <a:pPr lvl="0" indent="0" marL="0">
              <a:buNone/>
            </a:pPr>
          </a:p>
          <a:p>
            <a:pPr lvl="0" indent="0" marL="0">
              <a:buNone/>
            </a:pPr>
            <a:r>
              <a:rPr/>
              <a:t>It struggles when you ask it to “just figure it out.”</a:t>
            </a:r>
          </a:p>
          <a:p>
            <a:pPr lvl="0" indent="0" marL="0">
              <a:buNone/>
            </a:pPr>
          </a:p>
          <a:p>
            <a:pPr lvl="0" indent="0" marL="0">
              <a:buNone/>
            </a:pPr>
            <a:r>
              <a:rPr/>
              <a:t>The more intentional your guidance, the more reliable its output becomes.</a:t>
            </a:r>
          </a:p>
        </p:txBody>
      </p:sp>
      <p:sp>
        <p:nvSpPr>
          <p:cNvPr id="4" name="Slide Number Placeholder 3"/>
          <p:cNvSpPr>
            <a:spLocks noGrp="1"/>
          </p:cNvSpPr>
          <p:nvPr>
            <p:ph type="sldNum" sz="quarter" idx="10"/>
          </p:nvPr>
        </p:nvSpPr>
        <p:spPr/>
        <p:txBody>
          <a:bodyPr/>
          <a:lstStyle/>
          <a:p>
            <a:fld id="{18BDFEC3-8487-43E8-A154-7C12CBC1FFF2}" type="slidenum">
              <a:rPr lang="en-US"/>
              <a:t>124</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Context windows are invisible but critical.</a:t>
            </a:r>
          </a:p>
          <a:p>
            <a:pPr lvl="0" indent="0" marL="0">
              <a:buNone/>
            </a:pPr>
          </a:p>
          <a:p>
            <a:pPr lvl="0" indent="0" marL="0">
              <a:buNone/>
            </a:pPr>
            <a:r>
              <a:rPr/>
              <a:t>When Copilot misses requirements or contradicts earlier decisions, it’s often because the relevant information fell outside its context window.</a:t>
            </a:r>
          </a:p>
          <a:p>
            <a:pPr lvl="0" indent="0" marL="0">
              <a:buNone/>
            </a:pPr>
          </a:p>
          <a:p>
            <a:pPr lvl="0" indent="0" marL="0">
              <a:buNone/>
            </a:pPr>
            <a:r>
              <a:rPr/>
              <a:t>The solution is not to “prompt harder” – it’s to structure the environment so the model always has the right information in view.</a:t>
            </a:r>
          </a:p>
        </p:txBody>
      </p:sp>
      <p:sp>
        <p:nvSpPr>
          <p:cNvPr id="4" name="Slide Number Placeholder 3"/>
          <p:cNvSpPr>
            <a:spLocks noGrp="1"/>
          </p:cNvSpPr>
          <p:nvPr>
            <p:ph type="sldNum" sz="quarter" idx="10"/>
          </p:nvPr>
        </p:nvSpPr>
        <p:spPr/>
        <p:txBody>
          <a:bodyPr/>
          <a:lstStyle/>
          <a:p>
            <a:fld id="{18BDFEC3-8487-43E8-A154-7C12CBC1FFF2}" type="slidenum">
              <a:rPr lang="en-US"/>
              <a:t>125</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Prompting is not about clever phrasing – it’s about clarity.</a:t>
            </a:r>
          </a:p>
          <a:p>
            <a:pPr lvl="0" indent="0" marL="0">
              <a:buNone/>
            </a:pPr>
          </a:p>
          <a:p>
            <a:pPr lvl="0" indent="0" marL="0">
              <a:buNone/>
            </a:pPr>
            <a:r>
              <a:rPr/>
              <a:t>Copilot performs best when you define intent, boundaries, and examples.</a:t>
            </a:r>
          </a:p>
          <a:p>
            <a:pPr lvl="0" indent="0" marL="0">
              <a:buNone/>
            </a:pPr>
          </a:p>
          <a:p>
            <a:pPr lvl="0" indent="0" marL="0">
              <a:buNone/>
            </a:pPr>
            <a:r>
              <a:rPr/>
              <a:t>Instruction files are especially powerful because they give Copilot a persistent “north star” for your codebase.</a:t>
            </a:r>
          </a:p>
          <a:p>
            <a:pPr lvl="0" indent="0" marL="0">
              <a:buNone/>
            </a:pPr>
          </a:p>
          <a:p>
            <a:pPr lvl="0" indent="0" marL="0">
              <a:buNone/>
            </a:pPr>
            <a:r>
              <a:rPr/>
              <a:t>Think of prompts as design briefs, not commands.</a:t>
            </a:r>
          </a:p>
        </p:txBody>
      </p:sp>
      <p:sp>
        <p:nvSpPr>
          <p:cNvPr id="4" name="Slide Number Placeholder 3"/>
          <p:cNvSpPr>
            <a:spLocks noGrp="1"/>
          </p:cNvSpPr>
          <p:nvPr>
            <p:ph type="sldNum" sz="quarter" idx="10"/>
          </p:nvPr>
        </p:nvSpPr>
        <p:spPr/>
        <p:txBody>
          <a:bodyPr/>
          <a:lstStyle/>
          <a:p>
            <a:fld id="{18BDFEC3-8487-43E8-A154-7C12CBC1FFF2}" type="slidenum">
              <a:rPr lang="en-US"/>
              <a:t>126</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Model selection is a strategic decision.</a:t>
            </a:r>
          </a:p>
          <a:p>
            <a:pPr lvl="0" indent="0" marL="0">
              <a:buNone/>
            </a:pPr>
          </a:p>
          <a:p>
            <a:pPr lvl="0" indent="0" marL="0">
              <a:buNone/>
            </a:pPr>
            <a:r>
              <a:rPr/>
              <a:t>High‑end models are great for deep reasoning but can be slower or more expensive.</a:t>
            </a:r>
          </a:p>
          <a:p>
            <a:pPr lvl="0" indent="0" marL="0">
              <a:buNone/>
            </a:pPr>
          </a:p>
          <a:p>
            <a:pPr lvl="0" indent="0" marL="0">
              <a:buNone/>
            </a:pPr>
            <a:r>
              <a:rPr/>
              <a:t>Smaller models are fast and efficient but less capable.</a:t>
            </a:r>
          </a:p>
          <a:p>
            <a:pPr lvl="0" indent="0" marL="0">
              <a:buNone/>
            </a:pPr>
          </a:p>
          <a:p>
            <a:pPr lvl="0" indent="0" marL="0">
              <a:buNone/>
            </a:pPr>
            <a:r>
              <a:rPr/>
              <a:t>The key is to choose based on task complexity.</a:t>
            </a:r>
          </a:p>
          <a:p>
            <a:pPr lvl="0" indent="0" marL="0">
              <a:buNone/>
            </a:pPr>
          </a:p>
          <a:p>
            <a:pPr lvl="0" indent="0" marL="0">
              <a:buNone/>
            </a:pPr>
            <a:r>
              <a:rPr/>
              <a:t>For example: use a reasoning‑heavy model for designing a module, then switch to a lighter model for generating tests or scaffolding</a:t>
            </a:r>
          </a:p>
        </p:txBody>
      </p:sp>
      <p:sp>
        <p:nvSpPr>
          <p:cNvPr id="4" name="Slide Number Placeholder 3"/>
          <p:cNvSpPr>
            <a:spLocks noGrp="1"/>
          </p:cNvSpPr>
          <p:nvPr>
            <p:ph type="sldNum" sz="quarter" idx="10"/>
          </p:nvPr>
        </p:nvSpPr>
        <p:spPr/>
        <p:txBody>
          <a:bodyPr/>
          <a:lstStyle/>
          <a:p>
            <a:fld id="{18BDFEC3-8487-43E8-A154-7C12CBC1FFF2}" type="slidenum">
              <a:rPr lang="en-US"/>
              <a:t>127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linkedin.com/in/johnmichaelmiller" TargetMode="External" /><Relationship Id="rId3" Type="http://schemas.openxmlformats.org/officeDocument/2006/relationships/hyperlink" Target="mailto:john.miller@codemag.com" TargetMode="External" /><Relationship Id="rId4" Type="http://schemas.openxmlformats.org/officeDocument/2006/relationships/hyperlink" Target="https://codemag.com/blog/AIPractitioner" TargetMode="External" /><Relationship Id="rId5" Type="http://schemas.openxmlformats.org/officeDocument/2006/relationships/hyperlink" Target="https://codemag.com/aipractitioner"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3.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rId3" Type="http://schemas.openxmlformats.org/officeDocument/2006/relationships/hyperlink" Target="https://globster.xyz/" TargetMode="Externa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 Id="rId3" Type="http://schemas.openxmlformats.org/officeDocument/2006/relationships/hyperlink" Target="https://globster.xyz/" TargetMode="Externa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 Id="rId3" Type="http://schemas.openxmlformats.org/officeDocument/2006/relationships/hyperlink" Target="https://github.com/johnmillerATcodemag-com/AI-Assisted-Software-Development-Course" TargetMode="Externa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John Michael Miller</a:t>
            </a:r>
          </a:p>
        </p:txBody>
      </p:sp>
      <p:sp>
        <p:nvSpPr>
          <p:cNvPr id="3" name="Content Placeholder 2"/>
          <p:cNvSpPr>
            <a:spLocks noGrp="1"/>
          </p:cNvSpPr>
          <p:nvPr>
            <p:ph idx="1"/>
          </p:nvPr>
        </p:nvSpPr>
        <p:spPr/>
        <p:txBody>
          <a:bodyPr/>
          <a:lstStyle/>
          <a:p>
            <a:pPr lvl="0" indent="0" marL="0">
              <a:buNone/>
            </a:pPr>
            <a:r>
              <a:rPr/>
              <a:t>👤 </a:t>
            </a:r>
            <a:r>
              <a:rPr b="1"/>
              <a:t>Principal Software Engineer at CODE</a:t>
            </a:r>
          </a:p>
          <a:p>
            <a:pPr lvl="0" indent="0" marL="0">
              <a:buNone/>
            </a:pPr>
            <a:r>
              <a:rPr/>
              <a:t>🏢 Played roles of developer, architect, devops engineer, platform engineer, test architect, release manager</a:t>
            </a:r>
          </a:p>
          <a:p>
            <a:pPr lvl="0" indent="0" marL="0">
              <a:buNone/>
            </a:pPr>
            <a:r>
              <a:rPr/>
              <a:t>🤖 AI/ML Enthusiast and advocate for effectively using AI to write code</a:t>
            </a:r>
          </a:p>
          <a:p>
            <a:pPr lvl="0"/>
            <a:r>
              <a:rPr/>
              <a:t>LinkedIn: </a:t>
            </a:r>
            <a:r>
              <a:rPr>
                <a:hlinkClick r:id="rId2"/>
              </a:rPr>
              <a:t>www.linkedin.com/in/johnmichaelmiller</a:t>
            </a:r>
          </a:p>
          <a:p>
            <a:pPr lvl="0"/>
            <a:r>
              <a:rPr/>
              <a:t>Email: </a:t>
            </a:r>
            <a:r>
              <a:rPr>
                <a:hlinkClick r:id="rId3"/>
              </a:rPr>
              <a:t>john.miller@codemag.com</a:t>
            </a:r>
          </a:p>
          <a:p>
            <a:pPr lvl="0"/>
            <a:r>
              <a:rPr/>
              <a:t>Blog: </a:t>
            </a:r>
            <a:r>
              <a:rPr>
                <a:hlinkClick r:id="rId4"/>
              </a:rPr>
              <a:t>codemag.com/blog/AIPractitioner</a:t>
            </a:r>
          </a:p>
          <a:p>
            <a:pPr lvl="0"/>
            <a:r>
              <a:rPr>
                <a:hlinkClick r:id="rId5"/>
              </a:rPr>
              <a:t>AI Practitioner Resources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Introductions</a:t>
            </a:r>
          </a:p>
        </p:txBody>
      </p:sp>
      <p:sp>
        <p:nvSpPr>
          <p:cNvPr id="3" name="Content Placeholder 2"/>
          <p:cNvSpPr>
            <a:spLocks noGrp="1"/>
          </p:cNvSpPr>
          <p:nvPr>
            <p:ph idx="1"/>
          </p:nvPr>
        </p:nvSpPr>
        <p:spPr/>
        <p:txBody>
          <a:bodyPr/>
          <a:lstStyle/>
          <a:p>
            <a:pPr lvl="0"/>
            <a:r>
              <a:rPr/>
              <a:t>Who you are</a:t>
            </a:r>
          </a:p>
          <a:p>
            <a:pPr lvl="0"/>
            <a:r>
              <a:rPr/>
              <a:t>Who do you work for</a:t>
            </a:r>
          </a:p>
          <a:p>
            <a:pPr lvl="0"/>
            <a:r>
              <a:rPr/>
              <a:t>What you do</a:t>
            </a:r>
          </a:p>
          <a:p>
            <a:pPr lvl="0"/>
            <a:r>
              <a:rPr/>
              <a:t>What you’ve done with AI tools</a:t>
            </a:r>
          </a:p>
          <a:p>
            <a:pPr lvl="0"/>
            <a:r>
              <a:rPr/>
              <a:t>What you want to learn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About CODE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1 - AIASD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WTBD - The Core Thesis</a:t>
            </a:r>
          </a:p>
        </p:txBody>
      </p:sp>
      <p:sp>
        <p:nvSpPr>
          <p:cNvPr id="3" name="Content Placeholder 2"/>
          <p:cNvSpPr>
            <a:spLocks noGrp="1"/>
          </p:cNvSpPr>
          <p:nvPr>
            <p:ph idx="1"/>
          </p:nvPr>
        </p:nvSpPr>
        <p:spPr/>
        <p:txBody>
          <a:bodyPr/>
          <a:lstStyle/>
          <a:p>
            <a:pPr lvl="0" indent="0" marL="1270000">
              <a:buNone/>
            </a:pPr>
            <a:r>
              <a:rPr sz="2000"/>
              <a:t>“Programming hasn’t changed, but how we go about it has changed, again.”</a:t>
            </a:r>
          </a:p>
          <a:p>
            <a:pPr lvl="0"/>
            <a:r>
              <a:rPr/>
              <a:t>AI-assisted development is </a:t>
            </a:r>
            <a:r>
              <a:rPr b="1"/>
              <a:t>evolutionary</a:t>
            </a:r>
            <a:r>
              <a:rPr/>
              <a:t>, not revolutionary</a:t>
            </a:r>
          </a:p>
          <a:p>
            <a:pPr lvl="0"/>
            <a:r>
              <a:rPr/>
              <a:t>Programming has always been about </a:t>
            </a:r>
            <a:r>
              <a:rPr b="1"/>
              <a:t>expressing human intent</a:t>
            </a:r>
            <a:r>
              <a:rPr/>
              <a:t> to machines</a:t>
            </a:r>
          </a:p>
          <a:p>
            <a:pPr lvl="0"/>
            <a:r>
              <a:rPr/>
              <a:t>What changes is the </a:t>
            </a:r>
            <a:r>
              <a:rPr b="1"/>
              <a:t>sophistication of our tools</a:t>
            </a:r>
            <a:r>
              <a:rPr/>
              <a:t> for expressing intent</a:t>
            </a:r>
          </a:p>
          <a:p>
            <a:pPr lvl="0"/>
            <a:r>
              <a:rPr/>
              <a:t>The essence remains: bridging the gap between what we want and what machines can do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Brief History: Machine Code &amp; Assembly (1940s)</a:t>
            </a:r>
          </a:p>
        </p:txBody>
      </p:sp>
      <p:sp>
        <p:nvSpPr>
          <p:cNvPr id="3" name="Content Placeholder 2"/>
          <p:cNvSpPr>
            <a:spLocks noGrp="1"/>
          </p:cNvSpPr>
          <p:nvPr>
            <p:ph idx="1"/>
          </p:nvPr>
        </p:nvSpPr>
        <p:spPr/>
        <p:txBody>
          <a:bodyPr/>
          <a:lstStyle/>
          <a:p>
            <a:pPr lvl="0"/>
            <a:r>
              <a:rPr b="1"/>
              <a:t>Machine Code</a:t>
            </a:r>
            <a:r>
              <a:rPr/>
              <a:t>: Raw binary language executed directly by hardware</a:t>
            </a:r>
          </a:p>
          <a:p>
            <a:pPr lvl="0"/>
            <a:r>
              <a:rPr b="1"/>
              <a:t>Physical Programming</a:t>
            </a:r>
            <a:r>
              <a:rPr/>
              <a:t>:</a:t>
            </a:r>
          </a:p>
          <a:p>
            <a:pPr lvl="1"/>
            <a:r>
              <a:rPr/>
              <a:t>Flipping panel switches</a:t>
            </a:r>
          </a:p>
          <a:p>
            <a:pPr lvl="1"/>
            <a:r>
              <a:rPr/>
              <a:t>Plugging cables</a:t>
            </a:r>
          </a:p>
          <a:p>
            <a:pPr lvl="1"/>
            <a:r>
              <a:rPr/>
              <a:t>Feeding punched cards into IBM readers</a:t>
            </a:r>
          </a:p>
          <a:p>
            <a:pPr lvl="1"/>
            <a:r>
              <a:rPr/>
              <a:t>Threading perforated paper tape</a:t>
            </a:r>
          </a:p>
          <a:p>
            <a:pPr lvl="0" indent="0" marL="0">
              <a:buNone/>
            </a:pPr>
            <a:r>
              <a:rPr b="1"/>
              <a:t>Assembly Language</a:t>
            </a:r>
            <a:r>
              <a:rPr/>
              <a:t>: Introduced symbolic mnemonics (MOV, ADD, JMP)</a:t>
            </a:r>
          </a:p>
          <a:p>
            <a:pPr lvl="0"/>
            <a:r>
              <a:rPr b="1"/>
              <a:t>Enabling Technology</a:t>
            </a:r>
            <a:r>
              <a:rPr/>
              <a:t>: Assemblers that translated mnemonics into machine code</a:t>
            </a:r>
          </a:p>
          <a:p>
            <a:pPr lvl="0"/>
            <a:r>
              <a:rPr/>
              <a:t>Still mainstream today in embedded systems and OS kernels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High-Level Languages (1950s-1970s)</a:t>
            </a:r>
          </a:p>
        </p:txBody>
      </p:sp>
      <p:sp>
        <p:nvSpPr>
          <p:cNvPr id="3" name="Content Placeholder 2"/>
          <p:cNvSpPr>
            <a:spLocks noGrp="1"/>
          </p:cNvSpPr>
          <p:nvPr>
            <p:ph idx="1"/>
          </p:nvPr>
        </p:nvSpPr>
        <p:spPr/>
        <p:txBody>
          <a:bodyPr/>
          <a:lstStyle/>
          <a:p>
            <a:pPr lvl="0" indent="0" marL="0">
              <a:buNone/>
            </a:pPr>
            <a:r>
              <a:rPr b="1"/>
              <a:t>The Abstraction Revolution</a:t>
            </a:r>
            <a:r>
              <a:rPr/>
              <a:t>:</a:t>
            </a:r>
          </a:p>
          <a:p>
            <a:pPr lvl="0"/>
            <a:r>
              <a:rPr/>
              <a:t>Math-like and business-oriented syntax</a:t>
            </a:r>
          </a:p>
          <a:p>
            <a:pPr lvl="0"/>
            <a:r>
              <a:rPr b="1"/>
              <a:t>Enabling Technologies</a:t>
            </a:r>
            <a:r>
              <a:rPr/>
              <a:t>: Compilers and interpreters</a:t>
            </a:r>
          </a:p>
          <a:p>
            <a:pPr lvl="0" indent="0" marL="0">
              <a:buNone/>
            </a:pPr>
            <a:r>
              <a:rPr b="1"/>
              <a:t>Key Languages</a:t>
            </a:r>
            <a:r>
              <a:rPr/>
              <a:t>:</a:t>
            </a:r>
          </a:p>
          <a:p>
            <a:pPr lvl="0"/>
            <a:r>
              <a:rPr b="1"/>
              <a:t>FORTRAN (1957)</a:t>
            </a:r>
            <a:r>
              <a:rPr/>
              <a:t>: Pioneered scientific programming</a:t>
            </a:r>
          </a:p>
          <a:p>
            <a:pPr lvl="0"/>
            <a:r>
              <a:rPr b="1"/>
              <a:t>COBOL (1959)</a:t>
            </a:r>
            <a:r>
              <a:rPr/>
              <a:t>: Mainstream in business and government</a:t>
            </a:r>
          </a:p>
          <a:p>
            <a:pPr lvl="0"/>
            <a:r>
              <a:rPr b="1"/>
              <a:t>C (1972)</a:t>
            </a:r>
            <a:r>
              <a:rPr/>
              <a:t>: Spread with UNIX thanks to portable compilers</a:t>
            </a:r>
          </a:p>
          <a:p>
            <a:pPr lvl="0" indent="0" marL="0">
              <a:buNone/>
            </a:pPr>
            <a:r>
              <a:rPr b="1"/>
              <a:t>Sensory Shift</a:t>
            </a:r>
            <a:r>
              <a:rPr/>
              <a:t>: From mechanical card punches to typewriter-style terminals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Structured &amp; Object-Oriented Programming (1970s-1980s)</a:t>
            </a:r>
          </a:p>
        </p:txBody>
      </p:sp>
      <p:sp>
        <p:nvSpPr>
          <p:cNvPr id="3" name="Content Placeholder 2"/>
          <p:cNvSpPr>
            <a:spLocks noGrp="1"/>
          </p:cNvSpPr>
          <p:nvPr>
            <p:ph idx="1"/>
          </p:nvPr>
        </p:nvSpPr>
        <p:spPr/>
        <p:txBody>
          <a:bodyPr/>
          <a:lstStyle/>
          <a:p>
            <a:pPr lvl="0" indent="0" marL="0">
              <a:buNone/>
            </a:pPr>
            <a:r>
              <a:rPr b="1"/>
              <a:t>Focus</a:t>
            </a:r>
            <a:r>
              <a:rPr/>
              <a:t>: Modularity, reuse, and abstraction</a:t>
            </a:r>
          </a:p>
          <a:p>
            <a:pPr lvl="0" indent="0" marL="0">
              <a:buNone/>
            </a:pPr>
            <a:r>
              <a:rPr b="1"/>
              <a:t>Key Developments</a:t>
            </a:r>
            <a:r>
              <a:rPr/>
              <a:t>:</a:t>
            </a:r>
          </a:p>
          <a:p>
            <a:pPr lvl="0"/>
            <a:r>
              <a:rPr b="1"/>
              <a:t>Pascal (1970)</a:t>
            </a:r>
            <a:r>
              <a:rPr/>
              <a:t>: Structured paradigms with compiler innovations</a:t>
            </a:r>
          </a:p>
          <a:p>
            <a:pPr lvl="0"/>
            <a:r>
              <a:rPr b="1"/>
              <a:t>C++ (1985)</a:t>
            </a:r>
            <a:r>
              <a:rPr/>
              <a:t>: Object-oriented compilers supporting inheritance and polymorphism</a:t>
            </a:r>
          </a:p>
          <a:p>
            <a:pPr lvl="0" indent="0" marL="0">
              <a:buNone/>
            </a:pPr>
            <a:r>
              <a:rPr b="1"/>
              <a:t>Enabling Technologies</a:t>
            </a:r>
            <a:r>
              <a:rPr/>
              <a:t>:</a:t>
            </a:r>
          </a:p>
          <a:p>
            <a:pPr lvl="0"/>
            <a:r>
              <a:rPr/>
              <a:t>Advanced compiler innovations</a:t>
            </a:r>
          </a:p>
          <a:p>
            <a:pPr lvl="0"/>
            <a:r>
              <a:rPr/>
              <a:t>Support for inheritance and polymorphism</a:t>
            </a:r>
          </a:p>
          <a:p>
            <a:pPr lvl="0" indent="0" marL="0">
              <a:buNone/>
            </a:pPr>
            <a:r>
              <a:rPr b="1"/>
              <a:t>Era Experience</a:t>
            </a:r>
            <a:r>
              <a:rPr/>
              <a:t>: CRT monitors with green text, floppy disks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IDEs &amp; Libraries (1990s)</a:t>
            </a:r>
          </a:p>
        </p:txBody>
      </p:sp>
      <p:sp>
        <p:nvSpPr>
          <p:cNvPr id="3" name="Content Placeholder 2"/>
          <p:cNvSpPr>
            <a:spLocks noGrp="1"/>
          </p:cNvSpPr>
          <p:nvPr>
            <p:ph idx="1"/>
          </p:nvPr>
        </p:nvSpPr>
        <p:spPr/>
        <p:txBody>
          <a:bodyPr/>
          <a:lstStyle/>
          <a:p>
            <a:pPr lvl="0" indent="0" marL="0">
              <a:buNone/>
            </a:pPr>
            <a:r>
              <a:rPr b="1"/>
              <a:t>The Integration Era</a:t>
            </a:r>
            <a:r>
              <a:rPr/>
              <a:t>:</a:t>
            </a:r>
          </a:p>
          <a:p>
            <a:pPr lvl="0"/>
            <a:r>
              <a:rPr b="1"/>
              <a:t>IDEs</a:t>
            </a:r>
            <a:r>
              <a:rPr/>
              <a:t>: Combined compilers, debuggers, and editors in graphical interfaces</a:t>
            </a:r>
          </a:p>
          <a:p>
            <a:pPr lvl="0"/>
            <a:r>
              <a:rPr b="1"/>
              <a:t>Visual Studio</a:t>
            </a:r>
            <a:r>
              <a:rPr/>
              <a:t>: Enabled by faster processors and GUI toolkits</a:t>
            </a:r>
          </a:p>
          <a:p>
            <a:pPr lvl="0"/>
            <a:r>
              <a:rPr b="1"/>
              <a:t>Java &amp; JVM (1995)</a:t>
            </a:r>
            <a:r>
              <a:rPr/>
              <a:t>: “Write once, run anywhere”</a:t>
            </a:r>
          </a:p>
          <a:p>
            <a:pPr lvl="0"/>
            <a:r>
              <a:rPr b="1"/>
              <a:t>Reusable Libraries</a:t>
            </a:r>
            <a:r>
              <a:rPr/>
              <a:t>: Abstracted common functionality</a:t>
            </a:r>
          </a:p>
          <a:p>
            <a:pPr lvl="0" indent="0" marL="0">
              <a:buNone/>
            </a:pPr>
            <a:r>
              <a:rPr b="1"/>
              <a:t>Enabling Technologies</a:t>
            </a:r>
            <a:r>
              <a:rPr/>
              <a:t>:</a:t>
            </a:r>
          </a:p>
          <a:p>
            <a:pPr lvl="0"/>
            <a:r>
              <a:rPr/>
              <a:t>Faster processors, GUI toolkits, extensible plug-in architectures</a:t>
            </a:r>
          </a:p>
          <a:p>
            <a:pPr lvl="0"/>
            <a:r>
              <a:rPr/>
              <a:t>Virtual machines</a:t>
            </a:r>
          </a:p>
          <a:p>
            <a:pPr lvl="0" indent="0" marL="0">
              <a:buNone/>
            </a:pPr>
            <a:r>
              <a:rPr b="1"/>
              <a:t>Experience</a:t>
            </a:r>
            <a:r>
              <a:rPr/>
              <a:t>: Mouse clicks, drag-and-drop, desktop computing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Web &amp; Scripting Languages (Late 1990s-2000s)</a:t>
            </a:r>
          </a:p>
        </p:txBody>
      </p:sp>
      <p:sp>
        <p:nvSpPr>
          <p:cNvPr id="3" name="Content Placeholder 2"/>
          <p:cNvSpPr>
            <a:spLocks noGrp="1"/>
          </p:cNvSpPr>
          <p:nvPr>
            <p:ph idx="1"/>
          </p:nvPr>
        </p:nvSpPr>
        <p:spPr/>
        <p:txBody>
          <a:bodyPr/>
          <a:lstStyle/>
          <a:p>
            <a:pPr lvl="0" indent="0" marL="0">
              <a:buNone/>
            </a:pPr>
            <a:r>
              <a:rPr b="1"/>
              <a:t>The Dynamic Web Era</a:t>
            </a:r>
            <a:r>
              <a:rPr/>
              <a:t>:</a:t>
            </a:r>
          </a:p>
          <a:p>
            <a:pPr lvl="0"/>
            <a:r>
              <a:rPr b="1"/>
              <a:t>JavaScript (1995)</a:t>
            </a:r>
            <a:r>
              <a:rPr/>
              <a:t>: Powered by Netscape, later V8 engine (2008)</a:t>
            </a:r>
          </a:p>
          <a:p>
            <a:pPr lvl="0"/>
            <a:r>
              <a:rPr b="1"/>
              <a:t>Python</a:t>
            </a:r>
            <a:r>
              <a:rPr/>
              <a:t>: Web development in 2000s, data science dominance</a:t>
            </a:r>
          </a:p>
          <a:p>
            <a:pPr lvl="0"/>
            <a:r>
              <a:rPr b="1"/>
              <a:t>Ruby on Rails (2004)</a:t>
            </a:r>
            <a:r>
              <a:rPr/>
              <a:t>: Abstracted web complexity</a:t>
            </a:r>
          </a:p>
          <a:p>
            <a:pPr lvl="0" indent="0" marL="0">
              <a:buNone/>
            </a:pPr>
            <a:r>
              <a:rPr b="1"/>
              <a:t>Enabling Technologies</a:t>
            </a:r>
            <a:r>
              <a:rPr/>
              <a:t>:</a:t>
            </a:r>
          </a:p>
          <a:p>
            <a:pPr lvl="0"/>
            <a:r>
              <a:rPr/>
              <a:t>Browser engines, dynamic interpreters, frameworks</a:t>
            </a:r>
          </a:p>
          <a:p>
            <a:pPr lvl="0"/>
            <a:r>
              <a:rPr/>
              <a:t>Eclipse IDE (2001)</a:t>
            </a:r>
          </a:p>
          <a:p>
            <a:pPr lvl="0" indent="0" marL="0">
              <a:buNone/>
            </a:pPr>
            <a:r>
              <a:rPr b="1"/>
              <a:t>Experience</a:t>
            </a:r>
            <a:r>
              <a:rPr/>
              <a:t>: Portable coding on laptops, coffee shop programming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 APIs &amp; Low-Code Platforms (2010s)</a:t>
            </a:r>
          </a:p>
        </p:txBody>
      </p:sp>
      <p:sp>
        <p:nvSpPr>
          <p:cNvPr id="3" name="Content Placeholder 2"/>
          <p:cNvSpPr>
            <a:spLocks noGrp="1"/>
          </p:cNvSpPr>
          <p:nvPr>
            <p:ph idx="1"/>
          </p:nvPr>
        </p:nvSpPr>
        <p:spPr/>
        <p:txBody>
          <a:bodyPr/>
          <a:lstStyle/>
          <a:p>
            <a:pPr lvl="0" indent="0" marL="0">
              <a:buNone/>
            </a:pPr>
            <a:r>
              <a:rPr b="1"/>
              <a:t>The Orchestration Era</a:t>
            </a:r>
            <a:r>
              <a:rPr/>
              <a:t>:</a:t>
            </a:r>
          </a:p>
          <a:p>
            <a:pPr lvl="0"/>
            <a:r>
              <a:rPr b="1"/>
              <a:t>Cloud Computing</a:t>
            </a:r>
            <a:r>
              <a:rPr/>
              <a:t>: Virtualization and containerization (Docker, Kubernetes)</a:t>
            </a:r>
          </a:p>
          <a:p>
            <a:pPr lvl="0"/>
            <a:r>
              <a:rPr b="1"/>
              <a:t>APIs</a:t>
            </a:r>
            <a:r>
              <a:rPr/>
              <a:t>: REST and GraphQL enabled modular integration</a:t>
            </a:r>
          </a:p>
          <a:p>
            <a:pPr lvl="0"/>
            <a:r>
              <a:rPr b="1"/>
              <a:t>Low-Code Platforms</a:t>
            </a:r>
            <a:r>
              <a:rPr/>
              <a:t>: Mendix, OutSystems, PowerApps with visual compilers</a:t>
            </a:r>
          </a:p>
          <a:p>
            <a:pPr lvl="0" indent="0" marL="0">
              <a:buNone/>
            </a:pPr>
            <a:r>
              <a:rPr b="1"/>
              <a:t>Transformation</a:t>
            </a:r>
            <a:r>
              <a:rPr/>
              <a:t>: Programming shifted from hardware-bound tasks to orchestration</a:t>
            </a:r>
          </a:p>
          <a:p>
            <a:pPr lvl="0" indent="0" marL="0">
              <a:buNone/>
            </a:pPr>
            <a:r>
              <a:rPr b="1"/>
              <a:t>Experience</a:t>
            </a:r>
            <a:r>
              <a:rPr/>
              <a:t>: Browser dashboards, swiping, clicking, dragging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Modern Mainstream Coding Experience</a:t>
            </a:r>
          </a:p>
        </p:txBody>
      </p:sp>
      <p:sp>
        <p:nvSpPr>
          <p:cNvPr id="3" name="Content Placeholder 2"/>
          <p:cNvSpPr>
            <a:spLocks noGrp="1"/>
          </p:cNvSpPr>
          <p:nvPr>
            <p:ph idx="1"/>
          </p:nvPr>
        </p:nvSpPr>
        <p:spPr/>
        <p:txBody>
          <a:bodyPr/>
          <a:lstStyle/>
          <a:p>
            <a:pPr lvl="0" indent="0" marL="0">
              <a:buNone/>
            </a:pPr>
            <a:r>
              <a:rPr b="1"/>
              <a:t>Intent Interpretation</a:t>
            </a:r>
            <a:r>
              <a:rPr/>
              <a:t>:</a:t>
            </a:r>
          </a:p>
          <a:p>
            <a:pPr lvl="0"/>
            <a:r>
              <a:rPr/>
              <a:t>Developers express intent in higher-level languages, frameworks, and APIs</a:t>
            </a:r>
          </a:p>
          <a:p>
            <a:pPr lvl="0"/>
            <a:r>
              <a:rPr/>
              <a:t>Compilers, interpreters, and VMs translate intent into executable code</a:t>
            </a:r>
          </a:p>
          <a:p>
            <a:pPr lvl="0"/>
            <a:r>
              <a:rPr/>
              <a:t>Libraries and cloud services provide ready-made building blocks</a:t>
            </a:r>
          </a:p>
          <a:p>
            <a:pPr lvl="0"/>
            <a:r>
              <a:rPr/>
              <a:t>Less about micromanaging hardware, more about shaping logic and workflows</a:t>
            </a:r>
          </a:p>
          <a:p>
            <a:pPr lvl="0" indent="0" marL="0">
              <a:buNone/>
            </a:pPr>
            <a:r>
              <a:rPr b="1"/>
              <a:t>The Core</a:t>
            </a:r>
            <a:r>
              <a:rPr/>
              <a:t>: Bridging human goals with machine execution through layers of abstraction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AI-Assisted Coding (Present/Future)</a:t>
            </a:r>
          </a:p>
        </p:txBody>
      </p:sp>
      <p:sp>
        <p:nvSpPr>
          <p:cNvPr id="3" name="Content Placeholder 2"/>
          <p:cNvSpPr>
            <a:spLocks noGrp="1"/>
          </p:cNvSpPr>
          <p:nvPr>
            <p:ph idx="1"/>
          </p:nvPr>
        </p:nvSpPr>
        <p:spPr/>
        <p:txBody>
          <a:bodyPr/>
          <a:lstStyle/>
          <a:p>
            <a:pPr lvl="0" indent="0" marL="0">
              <a:buNone/>
            </a:pPr>
            <a:r>
              <a:rPr b="1"/>
              <a:t>The Natural Language Era</a:t>
            </a:r>
            <a:r>
              <a:rPr/>
              <a:t>:</a:t>
            </a:r>
          </a:p>
          <a:p>
            <a:pPr lvl="0" indent="0" marL="0">
              <a:buNone/>
            </a:pPr>
            <a:r>
              <a:rPr b="1"/>
              <a:t>Enabling Technologies</a:t>
            </a:r>
            <a:r>
              <a:rPr/>
              <a:t>:</a:t>
            </a:r>
          </a:p>
          <a:p>
            <a:pPr lvl="0"/>
            <a:r>
              <a:rPr/>
              <a:t>Large language models trained on vast code repositories</a:t>
            </a:r>
          </a:p>
          <a:p>
            <a:pPr lvl="0"/>
            <a:r>
              <a:rPr/>
              <a:t>Contextual intent recognition</a:t>
            </a:r>
          </a:p>
          <a:p>
            <a:pPr lvl="0"/>
            <a:r>
              <a:rPr/>
              <a:t>IDE integration</a:t>
            </a:r>
          </a:p>
          <a:p>
            <a:pPr lvl="0" indent="0" marL="0">
              <a:buNone/>
            </a:pPr>
            <a:r>
              <a:rPr b="1"/>
              <a:t>The Paradigm Shift</a:t>
            </a:r>
            <a:r>
              <a:rPr/>
              <a:t>: Programming becomes </a:t>
            </a:r>
            <a:r>
              <a:rPr b="1"/>
              <a:t>dialogue</a:t>
            </a:r>
          </a:p>
          <a:p>
            <a:pPr lvl="0"/>
            <a:r>
              <a:rPr/>
              <a:t>Express goals in plain language</a:t>
            </a:r>
          </a:p>
          <a:p>
            <a:pPr lvl="0"/>
            <a:r>
              <a:rPr/>
              <a:t>AI generates code, tests, and documentation</a:t>
            </a:r>
          </a:p>
          <a:p>
            <a:pPr lvl="0"/>
            <a:r>
              <a:rPr/>
              <a:t>Example: “Create a function that validates email addresses” → Complete implementation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Natural Language Coding: The Game Changer</a:t>
            </a:r>
          </a:p>
        </p:txBody>
      </p:sp>
      <p:sp>
        <p:nvSpPr>
          <p:cNvPr id="3" name="Content Placeholder 2"/>
          <p:cNvSpPr>
            <a:spLocks noGrp="1"/>
          </p:cNvSpPr>
          <p:nvPr>
            <p:ph idx="1"/>
          </p:nvPr>
        </p:nvSpPr>
        <p:spPr/>
        <p:txBody>
          <a:bodyPr/>
          <a:lstStyle/>
          <a:p>
            <a:pPr lvl="0" indent="0" marL="0">
              <a:buNone/>
            </a:pPr>
            <a:r>
              <a:rPr b="1"/>
              <a:t>Responsibility Shift</a:t>
            </a:r>
            <a:r>
              <a:rPr/>
              <a:t>:</a:t>
            </a:r>
          </a:p>
          <a:p>
            <a:pPr lvl="0"/>
            <a:r>
              <a:rPr/>
              <a:t>Previously: Coder translates intent into executable code</a:t>
            </a:r>
          </a:p>
          <a:p>
            <a:pPr lvl="0"/>
            <a:r>
              <a:rPr/>
              <a:t>Now: Intent expressed in natural language, AI interprets and generates</a:t>
            </a:r>
          </a:p>
          <a:p>
            <a:pPr lvl="0" indent="0" marL="0">
              <a:buNone/>
            </a:pPr>
            <a:r>
              <a:rPr b="1"/>
              <a:t>New Role of Programmer</a:t>
            </a:r>
            <a:r>
              <a:rPr/>
              <a:t>:</a:t>
            </a:r>
          </a:p>
          <a:p>
            <a:pPr lvl="0"/>
            <a:r>
              <a:rPr b="1"/>
              <a:t>Curator of context</a:t>
            </a:r>
          </a:p>
          <a:p>
            <a:pPr lvl="0"/>
            <a:r>
              <a:rPr b="1"/>
              <a:t>Validator of output</a:t>
            </a:r>
          </a:p>
          <a:p>
            <a:pPr lvl="0"/>
            <a:r>
              <a:rPr b="1"/>
              <a:t>Steward of alignment</a:t>
            </a:r>
            <a:r>
              <a:rPr/>
              <a:t> between human goals and machine behavior</a:t>
            </a:r>
          </a:p>
          <a:p>
            <a:pPr lvl="0" indent="0" marL="0">
              <a:buNone/>
            </a:pPr>
            <a:r>
              <a:rPr b="1"/>
              <a:t>Boundary Movement</a:t>
            </a:r>
            <a:r>
              <a:rPr/>
              <a:t>: Between domain expertise and implementation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Understands Intent—Not Just Commands</a:t>
            </a:r>
          </a:p>
        </p:txBody>
      </p:sp>
      <p:sp>
        <p:nvSpPr>
          <p:cNvPr id="3" name="Content Placeholder 2"/>
          <p:cNvSpPr>
            <a:spLocks noGrp="1"/>
          </p:cNvSpPr>
          <p:nvPr>
            <p:ph idx="1"/>
          </p:nvPr>
        </p:nvSpPr>
        <p:spPr/>
        <p:txBody>
          <a:bodyPr/>
          <a:lstStyle/>
          <a:p>
            <a:pPr lvl="0" indent="0" marL="0">
              <a:buNone/>
            </a:pPr>
            <a:r>
              <a:rPr b="1"/>
              <a:t>Beyond Parsing</a:t>
            </a:r>
            <a:r>
              <a:rPr/>
              <a:t>: AI understands what you mean</a:t>
            </a:r>
          </a:p>
          <a:p>
            <a:pPr lvl="0"/>
            <a:r>
              <a:rPr/>
              <a:t>“Make this faster” → Performance optimizations</a:t>
            </a:r>
          </a:p>
          <a:p>
            <a:pPr lvl="0"/>
            <a:r>
              <a:rPr/>
              <a:t>“Add error handling” → Proper exception management</a:t>
            </a:r>
          </a:p>
          <a:p>
            <a:pPr lvl="0"/>
            <a:r>
              <a:rPr/>
              <a:t>“Log the output” → Appropriate logging implementation</a:t>
            </a:r>
          </a:p>
          <a:p>
            <a:pPr lvl="0" indent="0" marL="0">
              <a:buNone/>
            </a:pPr>
            <a:r>
              <a:rPr b="1"/>
              <a:t>New Interaction Modes</a:t>
            </a:r>
            <a:r>
              <a:rPr/>
              <a:t>:</a:t>
            </a:r>
          </a:p>
          <a:p>
            <a:pPr lvl="0"/>
            <a:r>
              <a:rPr/>
              <a:t>Sketches and examples as expressions of intent</a:t>
            </a:r>
          </a:p>
          <a:p>
            <a:pPr lvl="0"/>
            <a:r>
              <a:rPr/>
              <a:t>Test cases and bug reports → Code generation</a:t>
            </a:r>
          </a:p>
          <a:p>
            <a:pPr lvl="0"/>
            <a:r>
              <a:rPr/>
              <a:t>Conversational iteration like human collaboration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It’s Just Another Tool</a:t>
            </a:r>
          </a:p>
        </p:txBody>
      </p:sp>
      <p:sp>
        <p:nvSpPr>
          <p:cNvPr id="3" name="Content Placeholder 2"/>
          <p:cNvSpPr>
            <a:spLocks noGrp="1"/>
          </p:cNvSpPr>
          <p:nvPr>
            <p:ph idx="1"/>
          </p:nvPr>
        </p:nvSpPr>
        <p:spPr/>
        <p:txBody>
          <a:bodyPr/>
          <a:lstStyle/>
          <a:p>
            <a:pPr lvl="0" indent="0" marL="0">
              <a:buNone/>
            </a:pPr>
            <a:r>
              <a:rPr b="1"/>
              <a:t>Historical Perspective</a:t>
            </a:r>
            <a:r>
              <a:rPr/>
              <a:t>:</a:t>
            </a:r>
          </a:p>
          <a:p>
            <a:pPr lvl="0"/>
            <a:r>
              <a:rPr b="1"/>
              <a:t>IDEs</a:t>
            </a:r>
            <a:r>
              <a:rPr/>
              <a:t>: Auto-complete and debugging</a:t>
            </a:r>
          </a:p>
          <a:p>
            <a:pPr lvl="0"/>
            <a:r>
              <a:rPr b="1"/>
              <a:t>Libraries</a:t>
            </a:r>
            <a:r>
              <a:rPr/>
              <a:t>: Reusable components</a:t>
            </a:r>
          </a:p>
          <a:p>
            <a:pPr lvl="0"/>
            <a:r>
              <a:rPr b="1"/>
              <a:t>AI</a:t>
            </a:r>
            <a:r>
              <a:rPr/>
              <a:t>: Intelligent scaffolding, pattern recognition, code generation</a:t>
            </a:r>
          </a:p>
          <a:p>
            <a:pPr lvl="0" indent="0" marL="0">
              <a:buNone/>
            </a:pPr>
            <a:r>
              <a:rPr b="1"/>
              <a:t>Reality Check</a:t>
            </a:r>
            <a:r>
              <a:rPr/>
              <a:t>:</a:t>
            </a:r>
          </a:p>
          <a:p>
            <a:pPr lvl="0"/>
            <a:r>
              <a:rPr/>
              <a:t>AI is not replacing developers</a:t>
            </a:r>
          </a:p>
          <a:p>
            <a:pPr lvl="0"/>
            <a:r>
              <a:rPr/>
              <a:t>It’s helping them move faster and think bigger</a:t>
            </a:r>
          </a:p>
          <a:p>
            <a:pPr lvl="0"/>
            <a:r>
              <a:rPr/>
              <a:t>Following the same pattern as previous innovations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Verification Still Matters</a:t>
            </a:r>
          </a:p>
        </p:txBody>
      </p:sp>
      <p:sp>
        <p:nvSpPr>
          <p:cNvPr id="3" name="Content Placeholder 2"/>
          <p:cNvSpPr>
            <a:spLocks noGrp="1"/>
          </p:cNvSpPr>
          <p:nvPr>
            <p:ph idx="1"/>
          </p:nvPr>
        </p:nvSpPr>
        <p:spPr/>
        <p:txBody>
          <a:bodyPr/>
          <a:lstStyle/>
          <a:p>
            <a:pPr lvl="0" indent="0" marL="0">
              <a:buNone/>
            </a:pPr>
            <a:r>
              <a:rPr b="1"/>
              <a:t>Unchanged Responsibilities</a:t>
            </a:r>
            <a:r>
              <a:rPr/>
              <a:t>:</a:t>
            </a:r>
          </a:p>
          <a:p>
            <a:pPr lvl="0"/>
            <a:r>
              <a:rPr b="1"/>
              <a:t>Testing, review, and validation</a:t>
            </a:r>
            <a:r>
              <a:rPr/>
              <a:t> still required</a:t>
            </a:r>
          </a:p>
          <a:p>
            <a:pPr lvl="0"/>
            <a:r>
              <a:rPr b="1"/>
              <a:t>Architecture, correctness, security, ethics</a:t>
            </a:r>
            <a:r>
              <a:rPr/>
              <a:t> remain developer duties</a:t>
            </a:r>
          </a:p>
          <a:p>
            <a:pPr lvl="0"/>
            <a:r>
              <a:rPr/>
              <a:t>Critical thinking is still essential</a:t>
            </a:r>
          </a:p>
          <a:p>
            <a:pPr lvl="0" indent="0" marL="0">
              <a:buNone/>
            </a:pPr>
            <a:r>
              <a:rPr b="1"/>
              <a:t>What Changed</a:t>
            </a:r>
            <a:r>
              <a:rPr/>
              <a:t>: How we express our goals </a:t>
            </a:r>
            <a:r>
              <a:rPr b="1"/>
              <a:t>What Didn’t Change</a:t>
            </a:r>
            <a:r>
              <a:rPr/>
              <a:t>: Whether we need to think critically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Future Is Still Intent-Driven Development</a:t>
            </a:r>
          </a:p>
        </p:txBody>
      </p:sp>
      <p:sp>
        <p:nvSpPr>
          <p:cNvPr id="3" name="Content Placeholder 2"/>
          <p:cNvSpPr>
            <a:spLocks noGrp="1"/>
          </p:cNvSpPr>
          <p:nvPr>
            <p:ph idx="1"/>
          </p:nvPr>
        </p:nvSpPr>
        <p:spPr/>
        <p:txBody>
          <a:bodyPr/>
          <a:lstStyle/>
          <a:p>
            <a:pPr lvl="0" indent="0" marL="0">
              <a:buNone/>
            </a:pPr>
            <a:r>
              <a:rPr b="1"/>
              <a:t>Continuity</a:t>
            </a:r>
            <a:r>
              <a:rPr/>
              <a:t>:</a:t>
            </a:r>
          </a:p>
          <a:p>
            <a:pPr lvl="0"/>
            <a:r>
              <a:rPr/>
              <a:t>Core goal remains: getting computers to do what we need</a:t>
            </a:r>
          </a:p>
          <a:p>
            <a:pPr lvl="0"/>
            <a:r>
              <a:rPr/>
              <a:t>Instead of writing/debugging code → creating prompts and refining context</a:t>
            </a:r>
          </a:p>
          <a:p>
            <a:pPr lvl="0"/>
            <a:r>
              <a:rPr/>
              <a:t>Same learning curve pattern as all previous improvements</a:t>
            </a:r>
          </a:p>
          <a:p>
            <a:pPr lvl="0" indent="0" marL="0">
              <a:buNone/>
            </a:pPr>
            <a:r>
              <a:rPr b="1"/>
              <a:t>Essential Truth</a:t>
            </a:r>
            <a:r>
              <a:rPr/>
              <a:t>: AI assistance is just another improvement in the long line of programming evolution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a:t>
            </a:r>
          </a:p>
        </p:txBody>
      </p:sp>
      <p:sp>
        <p:nvSpPr>
          <p:cNvPr id="3" name="Content Placeholder 2"/>
          <p:cNvSpPr>
            <a:spLocks noGrp="1"/>
          </p:cNvSpPr>
          <p:nvPr>
            <p:ph idx="1"/>
          </p:nvPr>
        </p:nvSpPr>
        <p:spPr/>
        <p:txBody>
          <a:bodyPr/>
          <a:lstStyle/>
          <a:p>
            <a:pPr lvl="0" indent="0" marL="0">
              <a:buNone/>
            </a:pPr>
            <a:r>
              <a:rPr b="1"/>
              <a:t>The Fundamental Truth</a:t>
            </a:r>
            <a:r>
              <a:rPr/>
              <a:t>:</a:t>
            </a:r>
          </a:p>
          <a:p>
            <a:pPr lvl="0"/>
            <a:r>
              <a:rPr/>
              <a:t>Programming has </a:t>
            </a:r>
            <a:r>
              <a:rPr b="1"/>
              <a:t>always</a:t>
            </a:r>
            <a:r>
              <a:rPr/>
              <a:t> been about translating human intent into machine action</a:t>
            </a:r>
          </a:p>
          <a:p>
            <a:pPr lvl="0"/>
            <a:r>
              <a:rPr/>
              <a:t>From punch cards to Python to AI prompts—the core challenge remains unchanged</a:t>
            </a:r>
          </a:p>
          <a:p>
            <a:pPr lvl="0"/>
            <a:r>
              <a:rPr/>
              <a:t>What evolves is not the essence of programming, but the sophistication of our tools</a:t>
            </a:r>
          </a:p>
          <a:p>
            <a:pPr lvl="0" indent="0" marL="0">
              <a:buNone/>
            </a:pPr>
            <a:r>
              <a:rPr b="1"/>
              <a:t>AI’s Role</a:t>
            </a:r>
            <a:r>
              <a:rPr/>
              <a:t>:</a:t>
            </a:r>
          </a:p>
          <a:p>
            <a:pPr lvl="0"/>
            <a:r>
              <a:rPr/>
              <a:t>Latest chapter in the ongoing story</a:t>
            </a:r>
          </a:p>
          <a:p>
            <a:pPr lvl="0"/>
            <a:r>
              <a:rPr/>
              <a:t>More intuitive ways to communicate with computers</a:t>
            </a:r>
          </a:p>
          <a:p>
            <a:pPr lvl="0"/>
            <a:r>
              <a:rPr/>
              <a:t>Preserves essential human responsibilities: design, validation, ethical oversight</a:t>
            </a:r>
          </a:p>
          <a:p>
            <a:pPr lvl="0" indent="0" marL="0">
              <a:buNone/>
            </a:pPr>
            <a:r>
              <a:rPr b="1"/>
              <a:t>The Future</a:t>
            </a:r>
            <a:r>
              <a:rPr/>
              <a:t>: Not abandoning programming, but refining it—making it more accessible and efficient while keeping human creativity and judgment at the center.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AI Revolution?</a:t>
            </a:r>
          </a:p>
        </p:txBody>
      </p:sp>
      <p:sp>
        <p:nvSpPr>
          <p:cNvPr id="3" name="Content Placeholder 2"/>
          <p:cNvSpPr>
            <a:spLocks noGrp="1"/>
          </p:cNvSpPr>
          <p:nvPr>
            <p:ph idx="1"/>
          </p:nvPr>
        </p:nvSpPr>
        <p:spPr/>
        <p:txBody>
          <a:bodyPr/>
          <a:lstStyle/>
          <a:p>
            <a:pPr lvl="0" indent="0" marL="0">
              <a:buNone/>
            </a:pPr>
            <a:r>
              <a:rPr/>
              <a:t>What hasn’t changed and what has.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AI Revolution</a:t>
            </a:r>
          </a:p>
        </p:txBody>
      </p:sp>
      <p:sp>
        <p:nvSpPr>
          <p:cNvPr id="3" name="Content Placeholder 2"/>
          <p:cNvSpPr>
            <a:spLocks noGrp="1"/>
          </p:cNvSpPr>
          <p:nvPr>
            <p:ph idx="1"/>
          </p:nvPr>
        </p:nvSpPr>
        <p:spPr/>
        <p:txBody>
          <a:bodyPr/>
          <a:lstStyle/>
          <a:p>
            <a:pPr lvl="0" indent="0" marL="0">
              <a:buNone/>
            </a:pPr>
            <a:r>
              <a:rPr/>
              <a:t>“Programming hasn’t changed, but how we go about it has changed, again.” AI-assisted development is evolutionary, not revolutionary Programming has always been about expressing human intent to machines What changes is the sophistication of our tools for expressing intent The essence remains: bridging the gap between what we want and what machines can do</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AI Assisted Software Development</a:t>
            </a:r>
          </a:p>
        </p:txBody>
      </p:sp>
      <p:sp>
        <p:nvSpPr>
          <p:cNvPr id="3" name="Content Placeholder 2"/>
          <p:cNvSpPr>
            <a:spLocks noGrp="1"/>
          </p:cNvSpPr>
          <p:nvPr>
            <p:ph idx="1"/>
          </p:nvPr>
        </p:nvSpPr>
        <p:spPr/>
        <p:txBody>
          <a:bodyPr/>
          <a:lstStyle/>
          <a:p>
            <a:pPr lvl="0" indent="0" marL="0">
              <a:buNone/>
            </a:pPr>
            <a:r>
              <a:rPr/>
              <a:t>If used effectively, it will give you superpowers - The courage to - Take on codebases that few would touch - Use technologies you should know but don’t - Write more high-quality code than you have ever written before - Take on the nice to haves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AI‑First &amp; Prompt‑First</a:t>
            </a:r>
          </a:p>
        </p:txBody>
      </p:sp>
      <p:sp>
        <p:nvSpPr>
          <p:cNvPr id="3" name="Content Placeholder 2"/>
          <p:cNvSpPr>
            <a:spLocks noGrp="1"/>
          </p:cNvSpPr>
          <p:nvPr>
            <p:ph idx="1"/>
          </p:nvPr>
        </p:nvSpPr>
        <p:spPr/>
        <p:txBody>
          <a:bodyPr/>
          <a:lstStyle/>
          <a:p>
            <a:pPr lvl="0" indent="0" marL="0">
              <a:buNone/>
            </a:pPr>
            <a:r>
              <a:rPr/>
              <a:t>AI‑First Development A software engineering philosophy where AI is embedded across the entire SDLC–requirements, design, implementation, testing, documentation, compliance, and maintenance. Prompt‑First Development A workflow pattern where prompts, instruction files, and chat modes are treated as first‑class, version‑controlled artifacts.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Each Optimizes For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Focus Area</a:t>
                      </a:r>
                    </a:p>
                  </a:txBody>
                  <a:tcPr/>
                </a:tc>
                <a:tc>
                  <a:txBody>
                    <a:bodyPr/>
                    <a:lstStyle/>
                    <a:p>
                      <a:pPr lvl="0" indent="0" marL="0">
                        <a:buNone/>
                      </a:pPr>
                      <a:r>
                        <a:rPr/>
                        <a:t>AI‑First</a:t>
                      </a:r>
                    </a:p>
                  </a:txBody>
                  <a:tcPr/>
                </a:tc>
                <a:tc>
                  <a:txBody>
                    <a:bodyPr/>
                    <a:lstStyle/>
                    <a:p>
                      <a:pPr lvl="0" indent="0" marL="0">
                        <a:buNone/>
                      </a:pPr>
                      <a:r>
                        <a:rPr/>
                        <a:t>Prompt‑First</a:t>
                      </a:r>
                    </a:p>
                  </a:txBody>
                  <a:tcPr/>
                </a:tc>
              </a:tr>
              <a:tr h="0">
                <a:tc>
                  <a:txBody>
                    <a:bodyPr/>
                    <a:lstStyle/>
                    <a:p>
                      <a:pPr lvl="0" indent="0" marL="0">
                        <a:buNone/>
                      </a:pPr>
                      <a:r>
                        <a:rPr/>
                        <a:t>Scope</a:t>
                      </a:r>
                    </a:p>
                  </a:txBody>
                </a:tc>
                <a:tc>
                  <a:txBody>
                    <a:bodyPr/>
                    <a:lstStyle/>
                    <a:p>
                      <a:pPr lvl="0" indent="0" marL="0">
                        <a:buNone/>
                      </a:pPr>
                      <a:r>
                        <a:rPr/>
                        <a:t>Entire SDLC</a:t>
                      </a:r>
                    </a:p>
                  </a:txBody>
                </a:tc>
                <a:tc>
                  <a:txBody>
                    <a:bodyPr/>
                    <a:lstStyle/>
                    <a:p>
                      <a:pPr lvl="0" indent="0" marL="0">
                        <a:buNone/>
                      </a:pPr>
                      <a:r>
                        <a:rPr/>
                        <a:t>Interaction layer</a:t>
                      </a:r>
                    </a:p>
                  </a:txBody>
                </a:tc>
              </a:tr>
              <a:tr h="0">
                <a:tc>
                  <a:txBody>
                    <a:bodyPr/>
                    <a:lstStyle/>
                    <a:p>
                      <a:pPr lvl="0" indent="0" marL="0">
                        <a:buNone/>
                      </a:pPr>
                      <a:r>
                        <a:rPr/>
                        <a:t>Goal</a:t>
                      </a:r>
                    </a:p>
                  </a:txBody>
                </a:tc>
                <a:tc>
                  <a:txBody>
                    <a:bodyPr/>
                    <a:lstStyle/>
                    <a:p>
                      <a:pPr lvl="0" indent="0" marL="0">
                        <a:buNone/>
                      </a:pPr>
                      <a:r>
                        <a:rPr/>
                        <a:t>Lifecycle integration</a:t>
                      </a:r>
                    </a:p>
                  </a:txBody>
                </a:tc>
                <a:tc>
                  <a:txBody>
                    <a:bodyPr/>
                    <a:lstStyle/>
                    <a:p>
                      <a:pPr lvl="0" indent="0" marL="0">
                        <a:buNone/>
                      </a:pPr>
                      <a:r>
                        <a:rPr/>
                        <a:t>Deterministic AI behavior</a:t>
                      </a:r>
                    </a:p>
                  </a:txBody>
                </a:tc>
              </a:tr>
              <a:tr h="0">
                <a:tc>
                  <a:txBody>
                    <a:bodyPr/>
                    <a:lstStyle/>
                    <a:p>
                      <a:pPr lvl="0" indent="0" marL="0">
                        <a:buNone/>
                      </a:pPr>
                      <a:r>
                        <a:rPr/>
                        <a:t>Optimization</a:t>
                      </a:r>
                    </a:p>
                  </a:txBody>
                </a:tc>
                <a:tc>
                  <a:txBody>
                    <a:bodyPr/>
                    <a:lstStyle/>
                    <a:p>
                      <a:pPr lvl="0" indent="0" marL="0">
                        <a:buNone/>
                      </a:pPr>
                      <a:r>
                        <a:rPr/>
                        <a:t>Velocity, governance</a:t>
                      </a:r>
                    </a:p>
                  </a:txBody>
                </a:tc>
                <a:tc>
                  <a:txBody>
                    <a:bodyPr/>
                    <a:lstStyle/>
                    <a:p>
                      <a:pPr lvl="0" indent="0" marL="0">
                        <a:buNone/>
                      </a:pPr>
                      <a:r>
                        <a:rPr/>
                        <a:t>Prompt quality, reproducibility</a:t>
                      </a:r>
                    </a:p>
                  </a:txBody>
                </a:tc>
              </a:tr>
              <a:tr h="0">
                <a:tc>
                  <a:txBody>
                    <a:bodyPr/>
                    <a:lstStyle/>
                    <a:p>
                      <a:pPr lvl="0" indent="0" marL="0">
                        <a:buNone/>
                      </a:pPr>
                      <a:r>
                        <a:rPr/>
                        <a:t>Risk Controls</a:t>
                      </a:r>
                    </a:p>
                  </a:txBody>
                </a:tc>
                <a:tc>
                  <a:txBody>
                    <a:bodyPr/>
                    <a:lstStyle/>
                    <a:p>
                      <a:pPr lvl="0" indent="0" marL="0">
                        <a:buNone/>
                      </a:pPr>
                      <a:r>
                        <a:rPr/>
                        <a:t>Human‑in‑loop, provenance</a:t>
                      </a:r>
                    </a:p>
                  </a:txBody>
                </a:tc>
                <a:tc>
                  <a:txBody>
                    <a:bodyPr/>
                    <a:lstStyle/>
                    <a:p>
                      <a:pPr lvl="0" indent="0" marL="0">
                        <a:buNone/>
                      </a:pPr>
                      <a:r>
                        <a:rPr/>
                        <a:t>Versioned prompts, context control</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They Treat Artifacts</a:t>
            </a:r>
          </a:p>
        </p:txBody>
      </p:sp>
      <p:sp>
        <p:nvSpPr>
          <p:cNvPr id="3" name="Content Placeholder 2"/>
          <p:cNvSpPr>
            <a:spLocks noGrp="1"/>
          </p:cNvSpPr>
          <p:nvPr>
            <p:ph idx="1"/>
          </p:nvPr>
        </p:nvSpPr>
        <p:spPr/>
        <p:txBody>
          <a:bodyPr/>
          <a:lstStyle/>
          <a:p>
            <a:pPr lvl="0" indent="0" marL="0">
              <a:buNone/>
            </a:pPr>
            <a:r>
              <a:rPr/>
              <a:t>AI‑First Requirements written with AI collaboration in mind AI‑generated scaffolds, tests, docs Provenance enforced across all AI outputs Architecture assumes AI participation Prompt‑First Prompts and instruction files are version‑controlled Prompts define behavioral contracts Reusable prompt modules Chat modes define safe, predictable interactions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Relationship Between the Two</a:t>
            </a:r>
          </a:p>
        </p:txBody>
      </p:sp>
      <p:sp>
        <p:nvSpPr>
          <p:cNvPr id="3" name="Content Placeholder 2"/>
          <p:cNvSpPr>
            <a:spLocks noGrp="1"/>
          </p:cNvSpPr>
          <p:nvPr>
            <p:ph idx="1"/>
          </p:nvPr>
        </p:nvSpPr>
        <p:spPr/>
        <p:txBody>
          <a:bodyPr/>
          <a:lstStyle/>
          <a:p>
            <a:pPr lvl="0" indent="0" marL="0">
              <a:buNone/>
            </a:pPr>
            <a:r>
              <a:rPr/>
              <a:t>Prompt‑First is a subset of AI‑First. Prompt‑First = mechanics AI‑First = philosophy + architecture + lifecycle integration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First Software Development</a:t>
            </a:r>
          </a:p>
        </p:txBody>
      </p:sp>
      <p:sp>
        <p:nvSpPr>
          <p:cNvPr id="3" name="Content Placeholder 2"/>
          <p:cNvSpPr>
            <a:spLocks noGrp="1"/>
          </p:cNvSpPr>
          <p:nvPr>
            <p:ph idx="1"/>
          </p:nvPr>
        </p:nvSpPr>
        <p:spPr/>
        <p:txBody>
          <a:bodyPr/>
          <a:lstStyle/>
          <a:p>
            <a:pPr lvl="0" indent="0" marL="0">
              <a:buNone/>
            </a:pPr>
            <a:r>
              <a:rPr/>
              <a:t>Building software where AI is a core capability, not an add‑on Why AI‑First - Software requirements increasingly expressed in natural language - AI copilots accelerate architecture, coding, testing, and documentation - Teams shift from “writing code” to “designing intent + validating outputs” Core Principles - Prompt‑First Design: Requirements, architecture, and workflows expressed as structured prompts - AI‑Native Architecture: Modular services, clear boundaries, deterministic interfaces for AI‑generated components - Human‑in‑the‑Loop: Review, validation, and traceability baked into every stage - Continuous Verification: Automated tests, static analysis, and guardrails to ensure safe outputs - Lifecycle Governance: Versioning, provenance, and risk‑based controls for AI‑generated artifacts Outcomes - Faster iteration cycles - Higher coverage of documentation and tests - Reduced cognitive load on developers - More resilient, adaptable systems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Prompt‑First Software Development</a:t>
            </a:r>
          </a:p>
        </p:txBody>
      </p:sp>
      <p:sp>
        <p:nvSpPr>
          <p:cNvPr id="3" name="Content Placeholder 2"/>
          <p:cNvSpPr>
            <a:spLocks noGrp="1"/>
          </p:cNvSpPr>
          <p:nvPr>
            <p:ph idx="1"/>
          </p:nvPr>
        </p:nvSpPr>
        <p:spPr/>
        <p:txBody>
          <a:bodyPr/>
          <a:lstStyle/>
          <a:p>
            <a:pPr lvl="0" indent="0" marL="0">
              <a:buNone/>
            </a:pPr>
            <a:r>
              <a:rPr/>
              <a:t>Design the intent first — let AI generate the implementation Why Prompt‑First - Behaviors, and constraints expressed in structured natural language - Prompts become the new “source of truth” artifacts - Teams shift from writing functions to defining outcomes, invariants, and interfaces Core Practices - Structured Prompts: Use templates for features, APIs, data models, tests, and refactors - Instruction Files: Persistent, versioned artifacts guiding AI code generation - Deterministic Boundaries: Clear module contracts so AI‑generated code stays predictable - Validation Loops: Automated tests + human review ensure correctness and safety - Prompt Versioning: Track evolution of intent just like code changes Benefits - Faster iteration from idea → working software - Higher consistency across generated components - Reduced cognitive load on developers - Better alignment between business intent and implementation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Concrete Examples</a:t>
            </a:r>
          </a:p>
        </p:txBody>
      </p:sp>
      <p:sp>
        <p:nvSpPr>
          <p:cNvPr id="3" name="Content Placeholder 2"/>
          <p:cNvSpPr>
            <a:spLocks noGrp="1"/>
          </p:cNvSpPr>
          <p:nvPr>
            <p:ph idx="1"/>
          </p:nvPr>
        </p:nvSpPr>
        <p:spPr/>
        <p:txBody>
          <a:bodyPr/>
          <a:lstStyle/>
          <a:p>
            <a:pPr lvl="0" indent="0" marL="0">
              <a:buNone/>
            </a:pPr>
            <a:r>
              <a:rPr b="1"/>
              <a:t>Prompt‑First Example</a:t>
            </a:r>
            <a:r>
              <a:rPr/>
              <a:t> - Promptfile for generating unit tests - Instruction file for documentation - Chat mode for brownfield developers</a:t>
            </a:r>
          </a:p>
          <a:p>
            <a:pPr lvl="0" indent="0" marL="0">
              <a:buNone/>
            </a:pPr>
            <a:r>
              <a:rPr b="1"/>
              <a:t>AI‑First Example</a:t>
            </a:r>
            <a:r>
              <a:rPr/>
              <a:t> - Requirements → AI‑generated scaffolds - Code changes → AI‑assisted reviews - Docs → continuously AI‑generated - Modernization → AI‑guided refactoring plans - Provenance → enforced everywhere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Shortest Summary</a:t>
            </a:r>
          </a:p>
        </p:txBody>
      </p:sp>
      <p:sp>
        <p:nvSpPr>
          <p:cNvPr id="3" name="Content Placeholder 2"/>
          <p:cNvSpPr>
            <a:spLocks noGrp="1"/>
          </p:cNvSpPr>
          <p:nvPr>
            <p:ph idx="1"/>
          </p:nvPr>
        </p:nvSpPr>
        <p:spPr/>
        <p:txBody>
          <a:bodyPr/>
          <a:lstStyle/>
          <a:p>
            <a:pPr lvl="0"/>
            <a:r>
              <a:rPr b="1"/>
              <a:t>AI‑First = philosophy + architecture + lifecycle integration</a:t>
            </a:r>
          </a:p>
          <a:p>
            <a:pPr lvl="0"/>
            <a:r>
              <a:rPr b="1"/>
              <a:t>Prompt‑First = structured, version‑controlled interfaces for interacting with AI</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2 - Intro to Copilot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Repository and Tool Setup</a:t>
            </a:r>
          </a:p>
        </p:txBody>
      </p:sp>
      <p:sp>
        <p:nvSpPr>
          <p:cNvPr id="3" name="Content Placeholder 2"/>
          <p:cNvSpPr>
            <a:spLocks noGrp="1"/>
          </p:cNvSpPr>
          <p:nvPr>
            <p:ph idx="1"/>
          </p:nvPr>
        </p:nvSpPr>
        <p:spPr/>
        <p:txBody>
          <a:bodyPr/>
          <a:lstStyle/>
          <a:p>
            <a:pPr lvl="0" indent="0" marL="0">
              <a:buNone/>
            </a:pPr>
            <a:r>
              <a:rPr/>
              <a:t>Cloning course repository GitHub authentication</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Clone the AI-Assisted-Software-Development Repository</a:t>
            </a:r>
          </a:p>
        </p:txBody>
      </p:sp>
      <p:sp>
        <p:nvSpPr>
          <p:cNvPr id="3" name="Content Placeholder 2"/>
          <p:cNvSpPr>
            <a:spLocks noGrp="1"/>
          </p:cNvSpPr>
          <p:nvPr>
            <p:ph idx="1"/>
          </p:nvPr>
        </p:nvSpPr>
        <p:spPr/>
        <p:txBody>
          <a:bodyPr/>
          <a:lstStyle/>
          <a:p>
            <a:pPr lvl="0" indent="0" marL="0">
              <a:buNone/>
            </a:pPr>
            <a:r>
              <a:rPr/>
              <a:t>Duration: 10 minutes Prerequisites: Git, GitHub account Objectives Fork the AI-Assisted-Software-Development repo Activities Clone the git@github.com:johnmillerATcodemag-com/AI-Assisted-Software-Development.gitrepository Switch to the brownfield branch Success Criteria Cloned repository exists locally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Fork the AIASD-20260209-BF Repo</a:t>
            </a:r>
          </a:p>
        </p:txBody>
      </p:sp>
      <p:sp>
        <p:nvSpPr>
          <p:cNvPr id="3" name="Content Placeholder 2"/>
          <p:cNvSpPr>
            <a:spLocks noGrp="1"/>
          </p:cNvSpPr>
          <p:nvPr>
            <p:ph idx="1"/>
          </p:nvPr>
        </p:nvSpPr>
        <p:spPr/>
        <p:txBody>
          <a:bodyPr/>
          <a:lstStyle/>
          <a:p>
            <a:pPr lvl="0" indent="0" marL="0">
              <a:buNone/>
            </a:pPr>
            <a:r>
              <a:rPr/>
              <a:t>Duration: 20 minutes Objectives: Explore an unfamiliar codebase Activities Fork this repo https://github.com/j0hnnymiller/AIASD-20260209-BF.git Clone the forked repo Create a GitHub PAT https://github.com/settings/tokens Store the PAT in the GITHUB_TOKEN environment variable Success Criteria Repo is available locally</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Fork the repos</a:t>
            </a:r>
          </a:p>
        </p:txBody>
      </p:sp>
      <p:sp>
        <p:nvSpPr>
          <p:cNvPr id="3" name="Content Placeholder 2"/>
          <p:cNvSpPr>
            <a:spLocks noGrp="1"/>
          </p:cNvSpPr>
          <p:nvPr>
            <p:ph idx="1"/>
          </p:nvPr>
        </p:nvSpPr>
        <p:spPr/>
        <p:txBody>
          <a:bodyPr/>
          <a:lstStyle/>
          <a:p>
            <a:pPr lvl="0" indent="0" marL="0">
              <a:buNone/>
            </a:pPr>
            <a:r>
              <a:rPr/>
              <a:t>Objective: Fork the course repos Search GitHub for - AI-Assisted-Software-Development - zeus.academia.3b Fork the repos - This will create a personal copy under your GitHub account - You can make changes without affecting the original repo</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Hands-On with GitHub Copilot</a:t>
            </a:r>
          </a:p>
        </p:txBody>
      </p:sp>
      <p:sp>
        <p:nvSpPr>
          <p:cNvPr id="3" name="Content Placeholder 2"/>
          <p:cNvSpPr>
            <a:spLocks noGrp="1"/>
          </p:cNvSpPr>
          <p:nvPr>
            <p:ph idx="1"/>
          </p:nvPr>
        </p:nvSpPr>
        <p:spPr/>
        <p:txBody>
          <a:bodyPr/>
          <a:lstStyle/>
          <a:p>
            <a:pPr lvl="0" indent="0" marL="0">
              <a:buNone/>
            </a:pPr>
            <a:r>
              <a:rPr/>
              <a:t>Installation and configuration - Installing the extension - Setting up authentication - Configuring settings Sharing configuration across an organization - Shared configuration templates (e.g., .copilot/settings.json) can be distributed across projects to standardize behavior. https://www.codemag.com/Blog/AI/AIASD-install-guide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Getting Started with GitHub Copilot</a:t>
            </a:r>
          </a:p>
        </p:txBody>
      </p:sp>
      <p:sp>
        <p:nvSpPr>
          <p:cNvPr id="3" name="Content Placeholder 2"/>
          <p:cNvSpPr>
            <a:spLocks noGrp="1"/>
          </p:cNvSpPr>
          <p:nvPr>
            <p:ph idx="1"/>
          </p:nvPr>
        </p:nvSpPr>
        <p:spPr/>
        <p:txBody>
          <a:bodyPr/>
          <a:lstStyle/>
          <a:p>
            <a:pPr lvl="0" indent="0" marL="0">
              <a:buNone/>
            </a:pPr>
            <a:r>
              <a:rPr/>
              <a:t>Duration: Follow along Objectives Install and configure GitHub Copilot Verify authentication with GitHub account Explore the Copilot UI components Activities Install GitHub Copilot extension from VS Code marketplace Sign in with your GitHub account (verify Copilot subscription) Locate and explore: - Chat window and chat history - New chat button - Quick chat feature (keyboard shortcut) - Settings menu - Model selection dropdown Check your premium token usage bar Create a new chat and experiment with the interface Success Criteria - Copilot extension installed and authenticated - Can open/close chat windows - Understand difference between main chat and quick chat - Know where to find chat history</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Specificity</a:t>
            </a:r>
          </a:p>
        </p:txBody>
      </p:sp>
      <p:sp>
        <p:nvSpPr>
          <p:cNvPr id="3" name="Content Placeholder 2"/>
          <p:cNvSpPr>
            <a:spLocks noGrp="1"/>
          </p:cNvSpPr>
          <p:nvPr>
            <p:ph idx="1"/>
          </p:nvPr>
        </p:nvSpPr>
        <p:spPr/>
        <p:txBody>
          <a:bodyPr/>
          <a:lstStyle/>
          <a:p>
            <a:pPr lvl="0" indent="0" marL="0">
              <a:buNone/>
            </a:pPr>
            <a:r>
              <a:rPr/>
              <a:t>Add error handling to my code - Result: Generic response asking what type of errors, what language, what code? Add error handling to my JavaScript function that calls an external API. I want to handle network timeouts, 404 errors, and JSON parsing failures. Return user-friendly error messages. - Result: Better, but still generic without seeing actual code structure @file:api-client.js Add comprehensive error handling to the fetchUserData function. Handle network timeouts (&gt;5s), HTTP errors (404, 500, etc.), and JSON parsing failures.   Return user-friendly error messages that match our existing error format in @file:error-types.js - Result: Specific implementation that matches existing code patterns*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Understanding Context Management</a:t>
            </a:r>
          </a:p>
        </p:txBody>
      </p:sp>
      <p:sp>
        <p:nvSpPr>
          <p:cNvPr id="3" name="Content Placeholder 2"/>
          <p:cNvSpPr>
            <a:spLocks noGrp="1"/>
          </p:cNvSpPr>
          <p:nvPr>
            <p:ph idx="1"/>
          </p:nvPr>
        </p:nvSpPr>
        <p:spPr/>
        <p:txBody>
          <a:bodyPr/>
          <a:lstStyle/>
          <a:p>
            <a:pPr lvl="0" indent="0" marL="0">
              <a:buNone/>
            </a:pPr>
            <a:r>
              <a:rPr/>
              <a:t>Duration: Follow along Objectives Learn to add context using @ symbols Understand context window limitations Practice writing effective prompts Activities 1. Basic Context Addition: Use </a:t>
            </a:r>
            <a:r>
              <a:rPr>
                <a:latin typeface="Courier"/>
              </a:rPr>
              <a:t>@workspace</a:t>
            </a:r>
            <a:r>
              <a:rPr/>
              <a:t> to search across your codebase Use </a:t>
            </a:r>
            <a:r>
              <a:rPr>
                <a:latin typeface="Courier"/>
              </a:rPr>
              <a:t>@file</a:t>
            </a:r>
            <a:r>
              <a:rPr/>
              <a:t> to reference specific files Use </a:t>
            </a:r>
            <a:r>
              <a:rPr>
                <a:latin typeface="Courier"/>
              </a:rPr>
              <a:t>@terminal</a:t>
            </a:r>
            <a:r>
              <a:rPr/>
              <a:t> to include terminal output in chat Use </a:t>
            </a:r>
            <a:r>
              <a:rPr>
                <a:latin typeface="Courier"/>
              </a:rPr>
              <a:t>@vscode</a:t>
            </a:r>
            <a:r>
              <a:rPr/>
              <a:t> to ask VS Code-specific questions 2. Prompt Practice: Write a vague prompt, observe results Rewrite with specific context, compare results Add file references to improve accuracy 3. Context Window Experiment: Start a long conversation in one chat Notice when Copilot starts “forgetting” earlier context Practice starting new chats for new topics Success Criteria Can use all @ context types Understand when to start fresh chat sessions Notice quality difference between vague and specific prompts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Chat Management &amp; Workflow</a:t>
            </a:r>
          </a:p>
        </p:txBody>
      </p:sp>
      <p:sp>
        <p:nvSpPr>
          <p:cNvPr id="3" name="Content Placeholder 2"/>
          <p:cNvSpPr>
            <a:spLocks noGrp="1"/>
          </p:cNvSpPr>
          <p:nvPr>
            <p:ph idx="1"/>
          </p:nvPr>
        </p:nvSpPr>
        <p:spPr/>
        <p:txBody>
          <a:bodyPr/>
          <a:lstStyle/>
          <a:p>
            <a:pPr lvl="0" indent="0" marL="0">
              <a:buNone/>
            </a:pPr>
            <a:r>
              <a:rPr/>
              <a:t>Duration: Follow along Objectives - Organize chat sessions effectively - Use chat history for reference - Develop efficient workflow patterns Activities 1. Chat Organization: - Review your chat history - Identify chats that should have been separate sessions - Practice starting new chats at appropriate times 2. Context Preservation: - Start a focused chat for one feature - Add relevant context systematically - Complete task without context overflow 3. Quick Chat Practice: - Use main chat for primary task - Use quick chat for side questions - Return to main chat without losing context 4. Chat History Review: - Find and reference previous solutions - Learn from past prompts that worked well - Identify patterns in effective conversations Success Criteria - Chat history is organized and meaningful - Can find and reference previous solutions - Efficient workflow developed for using multiple chat windows Context Window Management - Remember from the session: - Context is a </a:t>
            </a:r>
            <a:r>
              <a:rPr b="1"/>
              <a:t>limited resource</a:t>
            </a:r>
            <a:r>
              <a:rPr/>
              <a:t> - Start new chat when changing focus areas - Keep conversations targeted and specific - When Copilot “forgets” earlier context, it’s time for a new session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Copilot in different modes</a:t>
            </a:r>
          </a:p>
        </p:txBody>
      </p:sp>
      <p:sp>
        <p:nvSpPr>
          <p:cNvPr id="3" name="Content Placeholder 2"/>
          <p:cNvSpPr>
            <a:spLocks noGrp="1"/>
          </p:cNvSpPr>
          <p:nvPr>
            <p:ph idx="1"/>
          </p:nvPr>
        </p:nvSpPr>
        <p:spPr/>
        <p:txBody>
          <a:bodyPr/>
          <a:lstStyle/>
          <a:p>
            <a:pPr lvl="0" indent="0" marL="0">
              <a:buNone/>
            </a:pPr>
            <a:r>
              <a:rPr/>
              <a:t>Ask Mode - Simple prompt completion and inline suggestions Edit Mode - Automatic file edits Agent Mode - Perform actions on your behalf Custom Modes - Execute specific workflows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Lab: Exploring Copilot Modes</a:t>
            </a:r>
          </a:p>
        </p:txBody>
      </p:sp>
      <p:sp>
        <p:nvSpPr>
          <p:cNvPr id="3" name="Content Placeholder 2"/>
          <p:cNvSpPr>
            <a:spLocks noGrp="1"/>
          </p:cNvSpPr>
          <p:nvPr>
            <p:ph idx="1"/>
          </p:nvPr>
        </p:nvSpPr>
        <p:spPr/>
        <p:txBody>
          <a:bodyPr/>
          <a:lstStyle/>
          <a:p>
            <a:pPr lvl="0" indent="0" marL="0">
              <a:buNone/>
            </a:pPr>
            <a:r>
              <a:rPr/>
              <a:t>Duration: Follow along Objectives Understand differences between Ask, Edit, and Agent modes Know when to use each mode Understand premium token implications Activities 1. Ask Mode: Ask Copilot to explain a code snippet (no changes made) Request multiple implementation approaches Try different models and observe response quality Note: This doesn’t consume premium tokens for advanced models 2. Edit Mode: Select code in a file Ask Copilot to refactor it Observe inline suggestions and changes Accept or reject proposed changes 3. Agent Mode: Ask Copilot to create a new file and add content Request changes across multiple files Have Copilot run terminal commands Check premium token usage after agent actions Success Criteria Can distinguish when to use each mode Understand token consumption differences Successfully use agent mode for multi-file operations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 Support for AI Assistance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51000"/>
                <a:gridCol w="1651000"/>
                <a:gridCol w="1651000"/>
                <a:gridCol w="1651000"/>
                <a:gridCol w="1651000"/>
              </a:tblGrid>
              <a:tr h="0">
                <a:tc>
                  <a:txBody>
                    <a:bodyPr/>
                    <a:lstStyle/>
                    <a:p>
                      <a:pPr lvl="0" indent="0" marL="0">
                        <a:buNone/>
                      </a:pPr>
                      <a:r>
                        <a:rPr/>
                        <a:t>IDE / Editor</a:t>
                      </a:r>
                    </a:p>
                  </a:txBody>
                  <a:tcPr/>
                </a:tc>
                <a:tc>
                  <a:txBody>
                    <a:bodyPr/>
                    <a:lstStyle/>
                    <a:p>
                      <a:pPr lvl="0" indent="0" marL="0">
                        <a:buNone/>
                      </a:pPr>
                      <a:r>
                        <a:rPr/>
                        <a:t>Built-In AI Features</a:t>
                      </a:r>
                    </a:p>
                  </a:txBody>
                  <a:tcPr/>
                </a:tc>
                <a:tc>
                  <a:txBody>
                    <a:bodyPr/>
                    <a:lstStyle/>
                    <a:p>
                      <a:pPr lvl="0" indent="0" marL="0">
                        <a:buNone/>
                      </a:pPr>
                      <a:r>
                        <a:rPr/>
                        <a:t>Supported AI Assistants</a:t>
                      </a:r>
                    </a:p>
                  </a:txBody>
                  <a:tcPr/>
                </a:tc>
                <a:tc>
                  <a:txBody>
                    <a:bodyPr/>
                    <a:lstStyle/>
                    <a:p>
                      <a:pPr lvl="0" indent="0" marL="0">
                        <a:buNone/>
                      </a:pPr>
                      <a:r>
                        <a:rPr/>
                        <a:t>Strengths</a:t>
                      </a:r>
                    </a:p>
                  </a:txBody>
                  <a:tcPr/>
                </a:tc>
                <a:tc>
                  <a:txBody>
                    <a:bodyPr/>
                    <a:lstStyle/>
                    <a:p>
                      <a:pPr lvl="0" indent="0" marL="0">
                        <a:buNone/>
                      </a:pPr>
                      <a:r>
                        <a:rPr/>
                        <a:t>Limitations</a:t>
                      </a:r>
                    </a:p>
                  </a:txBody>
                  <a:tcPr/>
                </a:tc>
              </a:tr>
              <a:tr h="0">
                <a:tc>
                  <a:txBody>
                    <a:bodyPr/>
                    <a:lstStyle/>
                    <a:p>
                      <a:pPr lvl="0" indent="0" marL="0">
                        <a:buNone/>
                      </a:pPr>
                      <a:r>
                        <a:rPr/>
                        <a:t>VS Code</a:t>
                      </a:r>
                    </a:p>
                  </a:txBody>
                </a:tc>
                <a:tc>
                  <a:txBody>
                    <a:bodyPr/>
                    <a:lstStyle/>
                    <a:p>
                      <a:pPr lvl="0" indent="0" marL="0">
                        <a:buNone/>
                      </a:pPr>
                      <a:r>
                        <a:rPr/>
                        <a:t>Deep AI integration through extensions; increasingly AI-first workflows</a:t>
                      </a:r>
                    </a:p>
                  </a:txBody>
                </a:tc>
                <a:tc>
                  <a:txBody>
                    <a:bodyPr/>
                    <a:lstStyle/>
                    <a:p>
                      <a:pPr lvl="0" indent="0" marL="0">
                        <a:buNone/>
                      </a:pPr>
                      <a:r>
                        <a:rPr/>
                        <a:t>GitHub Copilot, Cline, ChatGPT-based extensions, Gemini integrations</a:t>
                      </a:r>
                    </a:p>
                  </a:txBody>
                </a:tc>
                <a:tc>
                  <a:txBody>
                    <a:bodyPr/>
                    <a:lstStyle/>
                    <a:p>
                      <a:pPr lvl="0" indent="0" marL="0">
                        <a:buNone/>
                      </a:pPr>
                      <a:r>
                        <a:rPr/>
                        <a:t>Extremely flexible; huge ecosystem; top-tier AI support; widely adopted</a:t>
                      </a:r>
                    </a:p>
                  </a:txBody>
                </a:tc>
                <a:tc>
                  <a:txBody>
                    <a:bodyPr/>
                    <a:lstStyle/>
                    <a:p>
                      <a:pPr lvl="0" indent="0" marL="0">
                        <a:buNone/>
                      </a:pPr>
                      <a:r>
                        <a:rPr/>
                        <a:t>Requires extension management; quality varies by plugin</a:t>
                      </a:r>
                    </a:p>
                  </a:txBody>
                </a:tc>
              </a:tr>
              <a:tr h="0">
                <a:tc>
                  <a:txBody>
                    <a:bodyPr/>
                    <a:lstStyle/>
                    <a:p>
                      <a:pPr lvl="0" indent="0" marL="0">
                        <a:buNone/>
                      </a:pPr>
                      <a:r>
                        <a:rPr/>
                        <a:t>Visual Studio (Windows)</a:t>
                      </a:r>
                    </a:p>
                  </a:txBody>
                </a:tc>
                <a:tc>
                  <a:txBody>
                    <a:bodyPr/>
                    <a:lstStyle/>
                    <a:p>
                      <a:pPr lvl="0" indent="0" marL="0">
                        <a:buNone/>
                      </a:pPr>
                      <a:r>
                        <a:rPr/>
                        <a:t>Native GitHub Copilot integration; AI-powered IntelliCode</a:t>
                      </a:r>
                    </a:p>
                  </a:txBody>
                </a:tc>
                <a:tc>
                  <a:txBody>
                    <a:bodyPr/>
                    <a:lstStyle/>
                    <a:p>
                      <a:pPr lvl="0" indent="0" marL="0">
                        <a:buNone/>
                      </a:pPr>
                      <a:r>
                        <a:rPr/>
                        <a:t>GitHub Copilot, IntelliCode</a:t>
                      </a:r>
                    </a:p>
                  </a:txBody>
                </a:tc>
                <a:tc>
                  <a:txBody>
                    <a:bodyPr/>
                    <a:lstStyle/>
                    <a:p>
                      <a:pPr lvl="0" indent="0" marL="0">
                        <a:buNone/>
                      </a:pPr>
                      <a:r>
                        <a:rPr/>
                        <a:t>Strong enterprise + .NET support; excellent refactoring and debugging</a:t>
                      </a:r>
                    </a:p>
                  </a:txBody>
                </a:tc>
                <a:tc>
                  <a:txBody>
                    <a:bodyPr/>
                    <a:lstStyle/>
                    <a:p>
                      <a:pPr lvl="0" indent="0" marL="0">
                        <a:buNone/>
                      </a:pPr>
                      <a:r>
                        <a:rPr/>
                        <a:t>Less flexible than VS Code for non-Microsoft stacks</a:t>
                      </a:r>
                    </a:p>
                  </a:txBody>
                </a:tc>
              </a:tr>
              <a:tr h="0">
                <a:tc>
                  <a:txBody>
                    <a:bodyPr/>
                    <a:lstStyle/>
                    <a:p>
                      <a:pPr lvl="0" indent="0" marL="0">
                        <a:buNone/>
                      </a:pPr>
                      <a:r>
                        <a:rPr/>
                        <a:t>JetBrains IDEs</a:t>
                      </a:r>
                    </a:p>
                  </a:txBody>
                </a:tc>
                <a:tc>
                  <a:txBody>
                    <a:bodyPr/>
                    <a:lstStyle/>
                    <a:p>
                      <a:pPr lvl="0" indent="0" marL="0">
                        <a:buNone/>
                      </a:pPr>
                      <a:r>
                        <a:rPr/>
                        <a:t>JetBrains AI Assistant; code completion, refactoring, doc generation</a:t>
                      </a:r>
                    </a:p>
                  </a:txBody>
                </a:tc>
                <a:tc>
                  <a:txBody>
                    <a:bodyPr/>
                    <a:lstStyle/>
                    <a:p>
                      <a:pPr lvl="0" indent="0" marL="0">
                        <a:buNone/>
                      </a:pPr>
                      <a:r>
                        <a:rPr/>
                        <a:t>JetBrains AI Assistant, GitHub Copilot</a:t>
                      </a:r>
                    </a:p>
                  </a:txBody>
                </a:tc>
                <a:tc>
                  <a:txBody>
                    <a:bodyPr/>
                    <a:lstStyle/>
                    <a:p>
                      <a:pPr lvl="0" indent="0" marL="0">
                        <a:buNone/>
                      </a:pPr>
                      <a:r>
                        <a:rPr/>
                        <a:t>Deep static analysis + AI; strong multi-language support</a:t>
                      </a:r>
                    </a:p>
                  </a:txBody>
                </a:tc>
                <a:tc>
                  <a:txBody>
                    <a:bodyPr/>
                    <a:lstStyle/>
                    <a:p>
                      <a:pPr lvl="0" indent="0" marL="0">
                        <a:buNone/>
                      </a:pPr>
                      <a:r>
                        <a:rPr/>
                        <a:t>JetBrains AI Assistant is subscription-based; Copilot integration not as seamless</a:t>
                      </a:r>
                    </a:p>
                  </a:txBody>
                </a:tc>
              </a:tr>
              <a:tr h="0">
                <a:tc>
                  <a:txBody>
                    <a:bodyPr/>
                    <a:lstStyle/>
                    <a:p>
                      <a:pPr lvl="0" indent="0" marL="0">
                        <a:buNone/>
                      </a:pPr>
                      <a:r>
                        <a:rPr/>
                        <a:t>Cursor IDE</a:t>
                      </a:r>
                    </a:p>
                  </a:txBody>
                </a:tc>
                <a:tc>
                  <a:txBody>
                    <a:bodyPr/>
                    <a:lstStyle/>
                    <a:p>
                      <a:pPr lvl="0" indent="0" marL="0">
                        <a:buNone/>
                      </a:pPr>
                      <a:r>
                        <a:rPr/>
                        <a:t>AI-first editor; conversational coding; multi-file reasoning</a:t>
                      </a:r>
                    </a:p>
                  </a:txBody>
                </a:tc>
                <a:tc>
                  <a:txBody>
                    <a:bodyPr/>
                    <a:lstStyle/>
                    <a:p>
                      <a:pPr lvl="0" indent="0" marL="0">
                        <a:buNone/>
                      </a:pPr>
                      <a:r>
                        <a:rPr/>
                        <a:t>Built-in AI models (GPT-based, Claude-based), Copilot alternatives</a:t>
                      </a:r>
                    </a:p>
                  </a:txBody>
                </a:tc>
                <a:tc>
                  <a:txBody>
                    <a:bodyPr/>
                    <a:lstStyle/>
                    <a:p>
                      <a:pPr lvl="0" indent="0" marL="0">
                        <a:buNone/>
                      </a:pPr>
                      <a:r>
                        <a:rPr/>
                        <a:t>Designed for AI pair-programming; strong repo-wide reasoning</a:t>
                      </a:r>
                    </a:p>
                  </a:txBody>
                </a:tc>
                <a:tc>
                  <a:txBody>
                    <a:bodyPr/>
                    <a:lstStyle/>
                    <a:p>
                      <a:pPr lvl="0" indent="0" marL="0">
                        <a:buNone/>
                      </a:pPr>
                      <a:r>
                        <a:rPr/>
                        <a:t>Not a traditional IDE; still maturing for large enterprise workflows</a:t>
                      </a:r>
                    </a:p>
                  </a:txBody>
                </a:tc>
              </a:tr>
              <a:tr h="0">
                <a:tc>
                  <a:txBody>
                    <a:bodyPr/>
                    <a:lstStyle/>
                    <a:p>
                      <a:pPr lvl="0" indent="0" marL="0">
                        <a:buNone/>
                      </a:pPr>
                      <a:r>
                        <a:rPr/>
                        <a:t>Replit</a:t>
                      </a:r>
                    </a:p>
                  </a:txBody>
                </a:tc>
                <a:tc>
                  <a:txBody>
                    <a:bodyPr/>
                    <a:lstStyle/>
                    <a:p>
                      <a:pPr lvl="0" indent="0" marL="0">
                        <a:buNone/>
                      </a:pPr>
                      <a:r>
                        <a:rPr/>
                        <a:t>AI-powered Ghostwriter for code generation, debugging, and explanations</a:t>
                      </a:r>
                    </a:p>
                  </a:txBody>
                </a:tc>
                <a:tc>
                  <a:txBody>
                    <a:bodyPr/>
                    <a:lstStyle/>
                    <a:p>
                      <a:pPr lvl="0" indent="0" marL="0">
                        <a:buNone/>
                      </a:pPr>
                      <a:r>
                        <a:rPr/>
                        <a:t>Ghostwriter</a:t>
                      </a:r>
                    </a:p>
                  </a:txBody>
                </a:tc>
                <a:tc>
                  <a:txBody>
                    <a:bodyPr/>
                    <a:lstStyle/>
                    <a:p>
                      <a:pPr lvl="0" indent="0" marL="0">
                        <a:buNone/>
                      </a:pPr>
                      <a:r>
                        <a:rPr/>
                        <a:t>Great for beginners and rapid prototyping; browser-based</a:t>
                      </a:r>
                    </a:p>
                  </a:txBody>
                </a:tc>
                <a:tc>
                  <a:txBody>
                    <a:bodyPr/>
                    <a:lstStyle/>
                    <a:p>
                      <a:pPr lvl="0" indent="0" marL="0">
                        <a:buNone/>
                      </a:pPr>
                      <a:r>
                        <a:rPr/>
                        <a:t>Less powerful for large, multi-module projects</a:t>
                      </a:r>
                    </a:p>
                  </a:txBody>
                </a:tc>
              </a:tr>
              <a:tr h="0">
                <a:tc>
                  <a:txBody>
                    <a:bodyPr/>
                    <a:lstStyle/>
                    <a:p>
                      <a:pPr lvl="0" indent="0" marL="0">
                        <a:buNone/>
                      </a:pPr>
                      <a:r>
                        <a:rPr/>
                        <a:t>Builder.io / Builder Code Editor</a:t>
                      </a:r>
                    </a:p>
                  </a:txBody>
                </a:tc>
                <a:tc>
                  <a:txBody>
                    <a:bodyPr/>
                    <a:lstStyle/>
                    <a:p>
                      <a:pPr lvl="0" indent="0" marL="0">
                        <a:buNone/>
                      </a:pPr>
                      <a:r>
                        <a:rPr/>
                        <a:t>AI-enhanced coding environment with integrated assistants</a:t>
                      </a:r>
                    </a:p>
                  </a:txBody>
                </a:tc>
                <a:tc>
                  <a:txBody>
                    <a:bodyPr/>
                    <a:lstStyle/>
                    <a:p>
                      <a:pPr lvl="0" indent="0" marL="0">
                        <a:buNone/>
                      </a:pPr>
                      <a:r>
                        <a:rPr/>
                        <a:t>Multiple AI integrations depending on setup</a:t>
                      </a:r>
                    </a:p>
                  </a:txBody>
                </a:tc>
                <a:tc>
                  <a:txBody>
                    <a:bodyPr/>
                    <a:lstStyle/>
                    <a:p>
                      <a:pPr lvl="0" indent="0" marL="0">
                        <a:buNone/>
                      </a:pPr>
                      <a:r>
                        <a:rPr/>
                        <a:t>Strong web-dev focus; modern AI-native UX</a:t>
                      </a:r>
                    </a:p>
                  </a:txBody>
                </a:tc>
                <a:tc>
                  <a:txBody>
                    <a:bodyPr/>
                    <a:lstStyle/>
                    <a:p>
                      <a:pPr lvl="0" indent="0" marL="0">
                        <a:buNone/>
                      </a:pPr>
                      <a:r>
                        <a:rPr/>
                        <a:t>Not a general-purpose IDE</a:t>
                      </a:r>
                    </a:p>
                  </a:txBody>
                </a:tc>
              </a:tr>
              <a:tr h="0">
                <a:tc>
                  <a:txBody>
                    <a:bodyPr/>
                    <a:lstStyle/>
                    <a:p>
                      <a:pPr lvl="0" indent="0" marL="0">
                        <a:buNone/>
                      </a:pPr>
                      <a:r>
                        <a:rPr/>
                        <a:t>Code-B Editors</a:t>
                      </a:r>
                    </a:p>
                  </a:txBody>
                </a:tc>
                <a:tc>
                  <a:txBody>
                    <a:bodyPr/>
                    <a:lstStyle/>
                    <a:p>
                      <a:pPr lvl="0" indent="0" marL="0">
                        <a:buNone/>
                      </a:pPr>
                      <a:r>
                        <a:rPr/>
                        <a:t>Predictive code generation, debugging, and review</a:t>
                      </a:r>
                    </a:p>
                  </a:txBody>
                </a:tc>
                <a:tc>
                  <a:txBody>
                    <a:bodyPr/>
                    <a:lstStyle/>
                    <a:p>
                      <a:pPr lvl="0" indent="0" marL="0">
                        <a:buNone/>
                      </a:pPr>
                      <a:r>
                        <a:rPr/>
                        <a:t>Multiple AI models depending on configuration</a:t>
                      </a:r>
                    </a:p>
                  </a:txBody>
                </a:tc>
                <a:tc>
                  <a:txBody>
                    <a:bodyPr/>
                    <a:lstStyle/>
                    <a:p>
                      <a:pPr lvl="0" indent="0" marL="0">
                        <a:buNone/>
                      </a:pPr>
                      <a:r>
                        <a:rPr/>
                        <a:t>Strong AI-centric workflows; optimized for speed</a:t>
                      </a:r>
                    </a:p>
                  </a:txBody>
                </a:tc>
                <a:tc>
                  <a:txBody>
                    <a:bodyPr/>
                    <a:lstStyle/>
                    <a:p>
                      <a:pPr lvl="0" indent="0" marL="0">
                        <a:buNone/>
                      </a:pPr>
                      <a:r>
                        <a:rPr/>
                        <a:t>Less mainstream; smaller ecosystem</a:t>
                      </a:r>
                    </a:p>
                  </a:txBody>
                </a:tc>
              </a:tr>
              <a:tr h="0">
                <a:tc>
                  <a:txBody>
                    <a:bodyPr/>
                    <a:lstStyle/>
                    <a:p>
                      <a:pPr lvl="0" indent="0" marL="0">
                        <a:buNone/>
                      </a:pPr>
                      <a:r>
                        <a:rPr/>
                        <a:t>Claude Code</a:t>
                      </a:r>
                    </a:p>
                  </a:txBody>
                </a:tc>
                <a:tc>
                  <a:txBody>
                    <a:bodyPr/>
                    <a:lstStyle/>
                    <a:p>
                      <a:pPr lvl="0" indent="0" marL="0">
                        <a:buNone/>
                      </a:pPr>
                      <a:r>
                        <a:rPr/>
                        <a:t>Terminal-first AI coding assistant; autonomous repo-wide reasoning</a:t>
                      </a:r>
                    </a:p>
                  </a:txBody>
                </a:tc>
                <a:tc>
                  <a:txBody>
                    <a:bodyPr/>
                    <a:lstStyle/>
                    <a:p>
                      <a:pPr lvl="0" indent="0" marL="0">
                        <a:buNone/>
                      </a:pPr>
                      <a:r>
                        <a:rPr/>
                        <a:t>Latest models from Anthropic and other via configuration</a:t>
                      </a:r>
                    </a:p>
                  </a:txBody>
                </a:tc>
                <a:tc>
                  <a:txBody>
                    <a:bodyPr/>
                    <a:lstStyle/>
                    <a:p>
                      <a:pPr lvl="0" indent="0" marL="0">
                        <a:buNone/>
                      </a:pPr>
                      <a:r>
                        <a:rPr/>
                        <a:t>Exceptional multi-file context handling; ideal for agentic workflows and automated patching</a:t>
                      </a:r>
                    </a:p>
                  </a:txBody>
                </a:tc>
                <a:tc>
                  <a:txBody>
                    <a:bodyPr/>
                    <a:lstStyle/>
                    <a:p>
                      <a:pPr lvl="0" indent="0" marL="0">
                        <a:buNone/>
                      </a:pPr>
                      <a:r>
                        <a:rPr/>
                        <a:t>Not a GUI IDE; best suited for terminal-centric development and large codebases</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3 - Vibbing</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Collaborating on a Solution</a:t>
            </a:r>
          </a:p>
        </p:txBody>
      </p:sp>
      <p:sp>
        <p:nvSpPr>
          <p:cNvPr id="3" name="Content Placeholder 2"/>
          <p:cNvSpPr>
            <a:spLocks noGrp="1"/>
          </p:cNvSpPr>
          <p:nvPr>
            <p:ph idx="1"/>
          </p:nvPr>
        </p:nvSpPr>
        <p:spPr/>
        <p:txBody>
          <a:bodyPr/>
          <a:lstStyle/>
          <a:p>
            <a:pPr lvl="0" indent="0" marL="0">
              <a:buNone/>
            </a:pPr>
            <a:r>
              <a:rPr/>
              <a:t>Project Setup Adding Features - Basic Arithmetic - Addition, subtraction, multiplication, division - Clear / Reset Function - Quickly resets the current input or entire calculation - Decimal Support - Allows entry and computation with decimal numbers - Sign Toggle (+/–) - Switches values between positive and negative - Percentage Function - Converts values to percentages for quick calculations - Memory Functions (M+, M–, MR, MC) - Store, recall, add to, or clear memory values - Error Handling - Displays errors such as division by zero - Simple, Intuitive Interface - Numeric keypad, operation buttons, and display screen Test Automation - Code Coverage Dependency Management Comparing Implementations Chat Management Intro to Evergreen Software Development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Setup &amp; Basic Implementation</a:t>
            </a:r>
          </a:p>
        </p:txBody>
      </p:sp>
      <p:sp>
        <p:nvSpPr>
          <p:cNvPr id="3" name="Content Placeholder 2"/>
          <p:cNvSpPr>
            <a:spLocks noGrp="1"/>
          </p:cNvSpPr>
          <p:nvPr>
            <p:ph idx="1"/>
          </p:nvPr>
        </p:nvSpPr>
        <p:spPr/>
        <p:txBody>
          <a:bodyPr/>
          <a:lstStyle/>
          <a:p>
            <a:pPr lvl="0" indent="0" marL="0">
              <a:buNone/>
            </a:pPr>
            <a:r>
              <a:rPr/>
              <a:t>Duration: 45-60 minutes Objectives - Use AI to generate starter code for arithmetic operations - Understand how to validate AI‑generated logic - Integrate addition, subtraction, multiplication, and division functions Activities 1. Project Initialization: - Prompt AI to create a new project - Review generated project structure - Verify build configuration 2. Implement Basic Operations: - Prompt AI to add methods for addition, subtraction, multiplication, and division 3. Review the Code: - For correctness and edge cases 4. Build and Run: - Use Copilot to help with build commands - Troubleshoot any compilation errors with Copilot’s help - Run the application Success Criteria - Working calculator with 4 basic operations - Application compiles and runs successfully - You’ve critically reviewed all generated code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Clear / Reset</a:t>
            </a:r>
          </a:p>
        </p:txBody>
      </p:sp>
      <p:sp>
        <p:nvSpPr>
          <p:cNvPr id="3" name="Content Placeholder 2"/>
          <p:cNvSpPr>
            <a:spLocks noGrp="1"/>
          </p:cNvSpPr>
          <p:nvPr>
            <p:ph idx="1"/>
          </p:nvPr>
        </p:nvSpPr>
        <p:spPr/>
        <p:txBody>
          <a:bodyPr/>
          <a:lstStyle/>
          <a:p>
            <a:pPr lvl="0" indent="0" marL="0">
              <a:buNone/>
            </a:pPr>
            <a:r>
              <a:rPr/>
              <a:t>Duration: 15 minutes Objectives - Use AI to scaffold state‑management logic - Implement CE (clear entry) and C (clear all) behaviors - Understand how AI can help reason about UI state transitions Activities Prompt AI to outline the difference between CE and C Generate code for clearing the current input vs. full state Integrate the logic into your calculator’s state object Test transitions by simulating user input sequences Success Criteria - - CE clears only the active entry - - C resets the entire calculator state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Decimal Input</a:t>
            </a:r>
          </a:p>
        </p:txBody>
      </p:sp>
      <p:sp>
        <p:nvSpPr>
          <p:cNvPr id="3" name="Content Placeholder 2"/>
          <p:cNvSpPr>
            <a:spLocks noGrp="1"/>
          </p:cNvSpPr>
          <p:nvPr>
            <p:ph idx="1"/>
          </p:nvPr>
        </p:nvSpPr>
        <p:spPr/>
        <p:txBody>
          <a:bodyPr/>
          <a:lstStyle/>
          <a:p>
            <a:pPr lvl="0" indent="0" marL="0">
              <a:buNone/>
            </a:pPr>
            <a:r>
              <a:rPr/>
              <a:t>Duration: 12 minutes Objectives Use AI to generate input‑validation logic Prevent multiple decimal points Ensure decimals flow correctly through arithmetic operation Activities Ask AI to propose a strategy for handling decimal input Generate code to block multiple decimals in a single number Integrate decimal support into the existing input parser Test decimal operations using AI‑generated test cases Success Criteria Decimal input works without duplication errors Arithmetic with decimals produces correct results Learner can explain the validation logic</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Sign Toggle (+/–)</a:t>
            </a:r>
          </a:p>
        </p:txBody>
      </p:sp>
      <p:sp>
        <p:nvSpPr>
          <p:cNvPr id="3" name="Content Placeholder 2"/>
          <p:cNvSpPr>
            <a:spLocks noGrp="1"/>
          </p:cNvSpPr>
          <p:nvPr>
            <p:ph idx="1"/>
          </p:nvPr>
        </p:nvSpPr>
        <p:spPr/>
        <p:txBody>
          <a:bodyPr/>
          <a:lstStyle/>
          <a:p>
            <a:pPr lvl="0" indent="0" marL="0">
              <a:buNone/>
            </a:pPr>
            <a:r>
              <a:rPr/>
              <a:t>Duration: 8 minutes Objectives - Use AI to generate logic for toggling numeric sign - Understand how sign toggling interacts with current input and stored values Activities Ask AI to generate a function that toggles sign on the active value Integrate the function into the input workflow Test sign toggling before and after entering digits Success Criteria - Sign toggle works consistently for integers and decimals - Learner can explain how the toggle affects stored vs. active value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Percentage</a:t>
            </a:r>
          </a:p>
        </p:txBody>
      </p:sp>
      <p:sp>
        <p:nvSpPr>
          <p:cNvPr id="3" name="Content Placeholder 2"/>
          <p:cNvSpPr>
            <a:spLocks noGrp="1"/>
          </p:cNvSpPr>
          <p:nvPr>
            <p:ph idx="1"/>
          </p:nvPr>
        </p:nvSpPr>
        <p:spPr/>
        <p:txBody>
          <a:bodyPr/>
          <a:lstStyle/>
          <a:p>
            <a:pPr lvl="0" indent="0" marL="0">
              <a:buNone/>
            </a:pPr>
            <a:r>
              <a:rPr/>
              <a:t>Duration: 15 minutes Objectives - Use AI to clarify how calculators interpret % - Implement percentage logic for common patterns - Validate behavior with AI‑generated examples Activities Ask AI to explain how % should behave in a standard calculator Generate code for: X × Y% Y + X% Y – X% 3. Test each pattern with AI‑generated sample values Success Criteria Percentage operations match standard calculator behavior Learner can articulate the interpretation rules for %</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Memory Functions (M+, M–, MR, MC)</a:t>
            </a:r>
          </a:p>
        </p:txBody>
      </p:sp>
      <p:sp>
        <p:nvSpPr>
          <p:cNvPr id="3" name="Content Placeholder 2"/>
          <p:cNvSpPr>
            <a:spLocks noGrp="1"/>
          </p:cNvSpPr>
          <p:nvPr>
            <p:ph idx="1"/>
          </p:nvPr>
        </p:nvSpPr>
        <p:spPr/>
        <p:txBody>
          <a:bodyPr/>
          <a:lstStyle/>
          <a:p>
            <a:pPr lvl="0" indent="0" marL="0">
              <a:buNone/>
            </a:pPr>
            <a:r>
              <a:rPr/>
              <a:t>Duration: 18 minutes Objectives - Use AI to design a memory subsystem - Implement memory add, subtract, recall, and clear - Validate memory behavior across multiple operations Activities Ask AI to propose a memory‑state structure Generate functions for M+, M–, MR, MC Integrate memory operations into the calculator workflow Test memory persistence across multiple calculations Success Criteria - Memory functions behave as expected - Learner can explain how memory state is stored and updated</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Error Handling</a:t>
            </a:r>
          </a:p>
        </p:txBody>
      </p:sp>
      <p:sp>
        <p:nvSpPr>
          <p:cNvPr id="3" name="Content Placeholder 2"/>
          <p:cNvSpPr>
            <a:spLocks noGrp="1"/>
          </p:cNvSpPr>
          <p:nvPr>
            <p:ph idx="1"/>
          </p:nvPr>
        </p:nvSpPr>
        <p:spPr/>
        <p:txBody>
          <a:bodyPr/>
          <a:lstStyle/>
          <a:p>
            <a:pPr lvl="0" indent="0" marL="0">
              <a:buNone/>
            </a:pPr>
            <a:r>
              <a:rPr/>
              <a:t>Duration: 10 minutes Objectives - Use AI to identify common error conditions - Implement error messages and recovery logic - Ensure the calculator resets gracefully after errors Activities Ask AI to list typical calculator errors (e.g., divide by zero) Generate code for error detection and display Implement a reset path after an error Test error scenarios using AI‑generated test cases Success Criteria - Errors are detected and displayed correctly - Calculator recovers cleanly after reset - Learner can describe the error‑handling flow</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Add Trigonometric Functions</a:t>
            </a:r>
          </a:p>
        </p:txBody>
      </p:sp>
      <p:sp>
        <p:nvSpPr>
          <p:cNvPr id="3" name="Content Placeholder 2"/>
          <p:cNvSpPr>
            <a:spLocks noGrp="1"/>
          </p:cNvSpPr>
          <p:nvPr>
            <p:ph idx="1"/>
          </p:nvPr>
        </p:nvSpPr>
        <p:spPr/>
        <p:txBody>
          <a:bodyPr/>
          <a:lstStyle/>
          <a:p>
            <a:pPr lvl="0" indent="0" marL="0">
              <a:buNone/>
            </a:pPr>
            <a:r>
              <a:rPr/>
              <a:t>Duration: 15 minutes Objectives - Integrate trigonometric functions into the calculator’s operation set - Use AI to generate math‑library wrappers and input‑parsing logic - Ensure correct handling of degrees vs. radians Activities Ask AI to generate functions for sin, cos, and tan using your language’s math library Prompt AI to propose a strategy for handling degree/radian mode Implement UI bindings or command triggers for each trig function Use AI to generate a table of sample inputs and expected outputs Success Criteria - Trig functions compute correct values in the selected angle mode - Degree/radian mode switching works consistently - UI or command triggers correctly call the trig functions - Learner can explain how AI‑generated code was validated and refine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UI</a:t>
            </a:r>
          </a:p>
        </p:txBody>
      </p:sp>
      <p:sp>
        <p:nvSpPr>
          <p:cNvPr id="3" name="Content Placeholder 2"/>
          <p:cNvSpPr>
            <a:spLocks noGrp="1"/>
          </p:cNvSpPr>
          <p:nvPr>
            <p:ph idx="1"/>
          </p:nvPr>
        </p:nvSpPr>
        <p:spPr/>
        <p:txBody>
          <a:bodyPr/>
          <a:lstStyle/>
          <a:p>
            <a:pPr lvl="0" indent="0" marL="0">
              <a:buNone/>
            </a:pPr>
            <a:r>
              <a:rPr/>
              <a:t>Duration: 15 minutes Objectives - Use AI to scaffold UI event handlers - Connect buttons to logic functions - Validate end‑to‑end user workflow Activities Ask AI to generate event‑binding code for numeric and operator buttons Integrate logic functions from previous labs Test a full workflow: - Enter decimal - Toggle sign - Apply percentage - Store result in memory Success Criteria - UI correctly triggers all calculator functions - Full workflow completes without errors - Learner can explain how UI events map to logic functions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Testing</a:t>
            </a:r>
          </a:p>
        </p:txBody>
      </p:sp>
      <p:sp>
        <p:nvSpPr>
          <p:cNvPr id="3" name="Content Placeholder 2"/>
          <p:cNvSpPr>
            <a:spLocks noGrp="1"/>
          </p:cNvSpPr>
          <p:nvPr>
            <p:ph idx="1"/>
          </p:nvPr>
        </p:nvSpPr>
        <p:spPr/>
        <p:txBody>
          <a:bodyPr/>
          <a:lstStyle/>
          <a:p>
            <a:pPr lvl="0" indent="0" marL="0">
              <a:buNone/>
            </a:pPr>
            <a:r>
              <a:rPr/>
              <a:t>Duration: 45-60 minutes Objectives - Generate unit tests with AI assistance - Identify quality issues in generated tests - Understand the importance of reviewing AI-generated tests Activities 1. Generate Initial Tests: - Prompt: “Create unit tests for the calculator operations” - Review generated test structure - Critical Review: Are tests calling your calculator code? 2. Fix Test Issues (Replicating Session Demo): - If tests are too simple (like </a:t>
            </a:r>
            <a:r>
              <a:rPr>
                <a:latin typeface="Courier"/>
              </a:rPr>
              <a:t>1 + 1 = 2</a:t>
            </a:r>
            <a:r>
              <a:rPr/>
              <a:t> without calling calculator): - Identify the problem - Ask Copilot to fix it: “Update tests to call Calculator class methods” - Verify tests now test actual implementation 3. Run Tests: - Execute test suite - Review test output - Debug any failing tests with Copilot’s help 4. Add Edge Cases: - Prompt: “Add tests for edge cases like division by zero” - Verify exception handling tests are correct Success Criteria - Test suite with minimum 8 test cases - All tests call actual calculator methods (not just language arithmetic) - Tests include edge cases and error conditions - All tests pass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Code Coverage</a:t>
            </a:r>
          </a:p>
        </p:txBody>
      </p:sp>
      <p:sp>
        <p:nvSpPr>
          <p:cNvPr id="3" name="Content Placeholder 2"/>
          <p:cNvSpPr>
            <a:spLocks noGrp="1"/>
          </p:cNvSpPr>
          <p:nvPr>
            <p:ph idx="1"/>
          </p:nvPr>
        </p:nvSpPr>
        <p:spPr/>
        <p:txBody>
          <a:bodyPr/>
          <a:lstStyle/>
          <a:p>
            <a:pPr lvl="0" indent="0" marL="0">
              <a:buNone/>
            </a:pPr>
            <a:r>
              <a:rPr/>
              <a:t>Duration: 30-40 minutes Objectives - Set up code coverage reporting - Interpret coverage results - Improve test coverage based on gaps Activities 1. Enable Coverage Collection: - Prompt: “Add code coverage reporting to my test project” - Review package dependencies added - Handle any NuGet/dependency issues with Copilot’s help 2. Generate Coverage Report: - Run tests with coverage enabled - Review coverage percentage - Identify uncovered code paths 3. Improve Coverage: - Add tests for uncovered methods - Re-run coverage to verify improvement - Discuss: Is 100% coverage always necessary? Success Criteria - Code coverage reporting successfully configured - Can generate and read coverage reports - Achieved reasonable coverage (&gt;80% line coverage) - Understand what coverage metrics mean Discussion Points - Feature coverage vs. code coverage (as raised by Tom in the session) - When is test coverage sufficient? - Quality of tests vs. quantity</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Dependency Management &amp; Troubleshooting</a:t>
            </a:r>
          </a:p>
        </p:txBody>
      </p:sp>
      <p:sp>
        <p:nvSpPr>
          <p:cNvPr id="3" name="Content Placeholder 2"/>
          <p:cNvSpPr>
            <a:spLocks noGrp="1"/>
          </p:cNvSpPr>
          <p:nvPr>
            <p:ph idx="1"/>
          </p:nvPr>
        </p:nvSpPr>
        <p:spPr/>
        <p:txBody>
          <a:bodyPr/>
          <a:lstStyle/>
          <a:p>
            <a:pPr lvl="0" indent="0" marL="0">
              <a:buNone/>
            </a:pPr>
            <a:r>
              <a:rPr/>
              <a:t>Duration: 30-40 minutes Objectives - Use Copilot to resolve dependency issues - Handle package restoration problems - Practice iterative problem-solving with AI Activities 1. Simulate or Identify a Dependency Issue: - Introduce a version conflict (or use existing issue) - Prompt: “I’m getting [specific error]. How do I fix it?” 2. Follow Copilot’s Guidance: - Review suggested solutions - Evaluate multiple approaches if offered - Choose best solution collaboratively 3. Iterative Resolution: - If first solution doesn’t work, provide error details - Continue conversation until resolved 4. Common Issues to Practice: - NuGet package source configuration - MSTest adapter version conflicts - .NET SDK targeting issues - Package restoration failures Success Criteria - Successfully resolved at least one dependency issue - Understand how to provide error context to Copilot - Practiced iterative problem-solving approach Real-World Scenario - This lab replicates the exact dependency challenges encountered in the training session: - Updating test project to target .NET 8 - Resolving NuGet.org package source mapping - MSTest adapter compatibility issues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Best Practices Review &amp; Code Quality</a:t>
            </a:r>
          </a:p>
        </p:txBody>
      </p:sp>
      <p:sp>
        <p:nvSpPr>
          <p:cNvPr id="3" name="Content Placeholder 2"/>
          <p:cNvSpPr>
            <a:spLocks noGrp="1"/>
          </p:cNvSpPr>
          <p:nvPr>
            <p:ph idx="1"/>
          </p:nvPr>
        </p:nvSpPr>
        <p:spPr/>
        <p:txBody>
          <a:bodyPr/>
          <a:lstStyle/>
          <a:p>
            <a:pPr lvl="0" indent="0" marL="0">
              <a:buNone/>
            </a:pPr>
            <a:r>
              <a:rPr/>
              <a:t>Duration: 30-40 minutes Objectives - Apply best practices learned in session - Review code quality systematically - Identify and fix issues Activities 1. Code Quality Check: - Prompt: “Suggest improvements for code quality and maintainability” - Evaluate suggestions critically - Implement valuable improvements Success Criteria - Comprehensive documentation added - Critically evaluated all AI suggestions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Model Comparisons</a:t>
            </a:r>
          </a:p>
        </p:txBody>
      </p:sp>
      <p:sp>
        <p:nvSpPr>
          <p:cNvPr id="3" name="Content Placeholder 2"/>
          <p:cNvSpPr>
            <a:spLocks noGrp="1"/>
          </p:cNvSpPr>
          <p:nvPr>
            <p:ph idx="1"/>
          </p:nvPr>
        </p:nvSpPr>
        <p:spPr/>
        <p:txBody>
          <a:bodyPr/>
          <a:lstStyle/>
          <a:p>
            <a:pPr lvl="0" indent="0" marL="0">
              <a:buNone/>
            </a:pPr>
            <a:r>
              <a:rPr/>
              <a:t>Duration: 20-30 minutes Objectives - Compare outputs from different AI models - Understand when to use premium vs standard models - Monitor token usage Activities 1. Same Prompt, Different Models: - Choose a coding task (e.g., “implement bubble sort”) - Try with GPT-4 (standard - unlimited) - Try with Claude Sonnet (premium - 1x token) - Compare results for quality, style, completeness 2. Token Usage Analysis: - Check premium token bar before and after - Calculate tokens consumed - Discuss: Was premium model worth the cost? 3. Best Use Cases: - Identify tasks where standard models suffice - Identify tasks requiring premium models - Create personal guidelines for model selection 4. Ask Mode Advantage: - Use Ask mode with premium models (no token cost) - Compare to Agent mode token consumption Success Criteria - Compared at least 2 different models - Understand token consumption impact - Can make informed model selection decisions Token Economics - Standard models (unlimited): ChatGPT-4 - Premium tokens (counted): - Claude Haiku 4.5: 1/3 token per request - Claude Sonnet: 1x token per request - O2 mini: 1/3 token per request - New models: May be 10x when first released</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Calculator Project – Encapsulate Core Logic</a:t>
            </a:r>
          </a:p>
        </p:txBody>
      </p:sp>
      <p:sp>
        <p:nvSpPr>
          <p:cNvPr id="3" name="Content Placeholder 2"/>
          <p:cNvSpPr>
            <a:spLocks noGrp="1"/>
          </p:cNvSpPr>
          <p:nvPr>
            <p:ph idx="1"/>
          </p:nvPr>
        </p:nvSpPr>
        <p:spPr/>
        <p:txBody>
          <a:bodyPr/>
          <a:lstStyle/>
          <a:p>
            <a:pPr lvl="0" indent="0" marL="0">
              <a:buNone/>
            </a:pPr>
            <a:r>
              <a:rPr/>
              <a:t>Duration: 15 minutes Objectives Separate UI concerns from computational logic Use AI to scaffold a standalone “core logic” module/class Ensure the UI communicates with the logic layer through a clean, well‑defined API Validate that encapsulation improves testability and maintainability Activities 1. - Ask AI to generate a dedicated component (e.g., CalculatorEngine, CalculatorCore) containing: - Arithmetic operations - State management - Trig/percentage/memory logic (if implemented) 2. Review the AI‑generated API surface and refine naming, inputs, and return types 3. Replace UI‑embedded logic with calls into the new component Success Criteria - All calculator features run through the external logic component - UI contains no computational logic — only event handling and display updates - Learner can explain how encapsulation improves modularity, reuse, and AI‑assisted development workflow</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Security Review</a:t>
            </a:r>
          </a:p>
        </p:txBody>
      </p:sp>
      <p:sp>
        <p:nvSpPr>
          <p:cNvPr id="3" name="Content Placeholder 2"/>
          <p:cNvSpPr>
            <a:spLocks noGrp="1"/>
          </p:cNvSpPr>
          <p:nvPr>
            <p:ph idx="1"/>
          </p:nvPr>
        </p:nvSpPr>
        <p:spPr/>
        <p:txBody>
          <a:bodyPr/>
          <a:lstStyle/>
          <a:p>
            <a:pPr lvl="0" indent="0" marL="0">
              <a:buNone/>
            </a:pPr>
            <a:r>
              <a:rPr/>
              <a:t>Duration: 30-40 minutes Objectives - Apply best practices learned in session - Review code quality systematically - Identify and fix issues Activities 1. Security Review: - Prompt: “Review this code for security vulnerabilities” - Address any identified issues - Add input validation where missing Success Criteria - Code has no obvious security issues - Critically evaluated all AI suggestions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Documentation</a:t>
            </a:r>
          </a:p>
        </p:txBody>
      </p:sp>
      <p:sp>
        <p:nvSpPr>
          <p:cNvPr id="3" name="Content Placeholder 2"/>
          <p:cNvSpPr>
            <a:spLocks noGrp="1"/>
          </p:cNvSpPr>
          <p:nvPr>
            <p:ph idx="1"/>
          </p:nvPr>
        </p:nvSpPr>
        <p:spPr/>
        <p:txBody>
          <a:bodyPr/>
          <a:lstStyle/>
          <a:p>
            <a:pPr lvl="0" indent="0" marL="0">
              <a:buNone/>
            </a:pPr>
            <a:r>
              <a:rPr/>
              <a:t>Duration: 30-40 minutes Objectives - Add documentation to a project - Update existing documentation Activities 1. Documentation: - Ask Copilot to generate XML/doc comments - Review for accuracy and completeness - Add README with usage instruction - Ask AI to update existing documentation Success Criteria - Comprehensive documentation added - Critically evaluated all AI suggestions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Refactoring</a:t>
            </a:r>
          </a:p>
        </p:txBody>
      </p:sp>
      <p:sp>
        <p:nvSpPr>
          <p:cNvPr id="3" name="Content Placeholder 2"/>
          <p:cNvSpPr>
            <a:spLocks noGrp="1"/>
          </p:cNvSpPr>
          <p:nvPr>
            <p:ph idx="1"/>
          </p:nvPr>
        </p:nvSpPr>
        <p:spPr/>
        <p:txBody>
          <a:bodyPr/>
          <a:lstStyle/>
          <a:p>
            <a:pPr lvl="0" indent="0" marL="0">
              <a:buNone/>
            </a:pPr>
            <a:r>
              <a:rPr/>
              <a:t>Duration: 30-40 minutes Objectives - Apply best practices learned in session - Review code quality systematically - Identify and fix issues Activities 1. Refactoring Exercise: - Ask Copilot for alternative implementation approaches - Compare different solutions - Discuss trade-offs (as mentioned in session) Success Criteria - Code has no obvious security issues - Comprehensive documentation added - At least one refactoring improvement implemented - Critically evaluated all AI suggestions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Evergreen Software Development - Core Principles</a:t>
            </a:r>
          </a:p>
        </p:txBody>
      </p:sp>
      <p:sp>
        <p:nvSpPr>
          <p:cNvPr id="3" name="Content Placeholder 2"/>
          <p:cNvSpPr>
            <a:spLocks noGrp="1"/>
          </p:cNvSpPr>
          <p:nvPr>
            <p:ph idx="1"/>
          </p:nvPr>
        </p:nvSpPr>
        <p:spPr/>
        <p:txBody>
          <a:bodyPr/>
          <a:lstStyle/>
          <a:p>
            <a:pPr lvl="0" indent="0" marL="0">
              <a:buNone/>
            </a:pPr>
            <a:r>
              <a:rPr/>
              <a:t>Intent‑First Design - Define the system’s purpose, invariants, and boundaries before writing code to ensure long‑term clarity. Stable Interfaces, Evolving Internals - Keep contracts predictable while allowing implementations to improve continuously. Continuous Regeneration with Guardrails - Use AI to rewrite or extend components safely, backed by tests, specs, and architectural constraints. Modular, Replaceable Components - Structure the system so any part can be regenerated, swapped, or upgraded without cascading breakage. Lifecycle Governance - Maintain quality through automated tests, versioning discipline, and human‑in‑the‑loop validation.</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vs “Vibe Coding”</a:t>
            </a:r>
          </a:p>
        </p:txBody>
      </p:sp>
      <p:sp>
        <p:nvSpPr>
          <p:cNvPr id="3" name="Content Placeholder 2"/>
          <p:cNvSpPr>
            <a:spLocks noGrp="1"/>
          </p:cNvSpPr>
          <p:nvPr>
            <p:ph idx="1"/>
          </p:nvPr>
        </p:nvSpPr>
        <p:spPr/>
        <p:txBody>
          <a:bodyPr/>
          <a:lstStyle/>
          <a:p>
            <a:pPr lvl="0" indent="0" marL="0">
              <a:buNone/>
            </a:pPr>
            <a:r>
              <a:rPr/>
              <a:t>Engineering approach: systematic, tested, documented, maintainable Vibe coding: “it works” mentality, technical debt accumulation AI should enhance engineering practices, not replace them Proper testing, code review, and architecture still essential</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Software Fails to Be Evergreen</a:t>
            </a:r>
          </a:p>
        </p:txBody>
      </p:sp>
      <p:sp>
        <p:nvSpPr>
          <p:cNvPr id="3" name="Content Placeholder 2"/>
          <p:cNvSpPr>
            <a:spLocks noGrp="1"/>
          </p:cNvSpPr>
          <p:nvPr>
            <p:ph idx="1"/>
          </p:nvPr>
        </p:nvSpPr>
        <p:spPr/>
        <p:txBody>
          <a:bodyPr/>
          <a:lstStyle/>
          <a:p>
            <a:pPr lvl="0" indent="0" marL="0">
              <a:buNone/>
            </a:pPr>
            <a:r>
              <a:rPr/>
              <a:t>Intent Rot - The original purpose, constraints, and invariants are undocumented or lost, making safe regeneration impossible. Unstable or Leaky Interfaces - APIs, data contracts, and boundaries change unpredictably, causing cascading breakage when internals evolve. Tightly Coupled Architecture - Components depend on each other’s internal details, preventing isolated regeneration or replacement. Insufficient Guardrails - Missing tests, specs, or validation layers mean AI‑assisted regeneration can’t be trusted to preserve behavior. One‑Off Patches and Drift - Ad‑hoc fixes accumulate, diverging the system from its intended design and making regeneration unsafe.</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Multi‑Model Implementation Comparison</a:t>
            </a:r>
          </a:p>
        </p:txBody>
      </p:sp>
      <p:sp>
        <p:nvSpPr>
          <p:cNvPr id="3" name="Content Placeholder 2"/>
          <p:cNvSpPr>
            <a:spLocks noGrp="1"/>
          </p:cNvSpPr>
          <p:nvPr>
            <p:ph idx="1"/>
          </p:nvPr>
        </p:nvSpPr>
        <p:spPr/>
        <p:txBody>
          <a:bodyPr/>
          <a:lstStyle/>
          <a:p>
            <a:pPr lvl="0" indent="0" marL="0">
              <a:buNone/>
            </a:pPr>
            <a:r>
              <a:rPr/>
              <a:t>Implementing changes with different AI models Comparing approaches and outcomes Risk assessment and quality evaluation Best practice synthesis Exercises for hands‑on practice</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Changes With Different AI Models</a:t>
            </a:r>
          </a:p>
        </p:txBody>
      </p:sp>
      <p:sp>
        <p:nvSpPr>
          <p:cNvPr id="3" name="Content Placeholder 2"/>
          <p:cNvSpPr>
            <a:spLocks noGrp="1"/>
          </p:cNvSpPr>
          <p:nvPr>
            <p:ph idx="1"/>
          </p:nvPr>
        </p:nvSpPr>
        <p:spPr/>
        <p:txBody>
          <a:bodyPr/>
          <a:lstStyle/>
          <a:p>
            <a:pPr lvl="0" indent="0" marL="0">
              <a:buNone/>
            </a:pPr>
            <a:r>
              <a:rPr/>
              <a:t>Why use multiple models? Different reasoning styles Different strengths (refactoring, documentation, architecture) Cross‑validation reduces risk Helps detect missing context or contradictions Typical use cases Refactoring comparisons Documentation consistency checks Architecture proposal validation</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Comparing Approaches &amp; Outcomes</a:t>
            </a:r>
          </a:p>
        </p:txBody>
      </p:sp>
      <p:sp>
        <p:nvSpPr>
          <p:cNvPr id="3" name="Content Placeholder 2"/>
          <p:cNvSpPr>
            <a:spLocks noGrp="1"/>
          </p:cNvSpPr>
          <p:nvPr>
            <p:ph idx="1"/>
          </p:nvPr>
        </p:nvSpPr>
        <p:spPr/>
        <p:txBody>
          <a:bodyPr/>
          <a:lstStyle/>
          <a:p>
            <a:pPr lvl="0" indent="0" marL="0">
              <a:buNone/>
            </a:pPr>
            <a:r>
              <a:rPr/>
              <a:t>What to compare Code structure and clarity Architectural alignment Test quality Documentation completeness Risk level of proposed changes Benefits Identifies the safest implementation Surfaces hidden assumptions Highlights model‑specific biases</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 Assessment &amp; Quality Evaluation</a:t>
            </a:r>
          </a:p>
        </p:txBody>
      </p:sp>
      <p:sp>
        <p:nvSpPr>
          <p:cNvPr id="3" name="Content Placeholder 2"/>
          <p:cNvSpPr>
            <a:spLocks noGrp="1"/>
          </p:cNvSpPr>
          <p:nvPr>
            <p:ph idx="1"/>
          </p:nvPr>
        </p:nvSpPr>
        <p:spPr/>
        <p:txBody>
          <a:bodyPr/>
          <a:lstStyle/>
          <a:p>
            <a:pPr lvl="0" indent="0" marL="0">
              <a:buNone/>
            </a:pPr>
            <a:r>
              <a:rPr/>
              <a:t>Risk indicators Missing tests Large or unnecessary refactors Violations of instruction files Unclear or undocumented behavior Quality indicators Small, incremental changes Clear reasoning Strong test coverage Alignment with evergreen principles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 Synthesis</a:t>
            </a:r>
          </a:p>
        </p:txBody>
      </p:sp>
      <p:sp>
        <p:nvSpPr>
          <p:cNvPr id="3" name="Content Placeholder 2"/>
          <p:cNvSpPr>
            <a:spLocks noGrp="1"/>
          </p:cNvSpPr>
          <p:nvPr>
            <p:ph idx="1"/>
          </p:nvPr>
        </p:nvSpPr>
        <p:spPr/>
        <p:txBody>
          <a:bodyPr/>
          <a:lstStyle/>
          <a:p>
            <a:pPr lvl="0" indent="0" marL="0">
              <a:buNone/>
            </a:pPr>
            <a:r>
              <a:rPr/>
              <a:t>Combine the strengths of each model Use one model for architecture Another for implementation Another for documentation Cross‑validate tests and reasoning Outcome Higher quality Lower risk More predictable modernization</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Prompt Multiple Models to Address Technical Debt</a:t>
            </a:r>
          </a:p>
        </p:txBody>
      </p:sp>
      <p:sp>
        <p:nvSpPr>
          <p:cNvPr id="3" name="Content Placeholder 2"/>
          <p:cNvSpPr>
            <a:spLocks noGrp="1"/>
          </p:cNvSpPr>
          <p:nvPr>
            <p:ph idx="1"/>
          </p:nvPr>
        </p:nvSpPr>
        <p:spPr/>
        <p:txBody>
          <a:bodyPr/>
          <a:lstStyle/>
          <a:p>
            <a:pPr lvl="0" indent="0" marL="0">
              <a:buNone/>
            </a:pPr>
            <a:r>
              <a:rPr/>
              <a:t>Duration 15 minutes Objectives Compare outputs from different models Identify strengths and weaknesses Evaluate risk and quality Activities Select a small technical debt item. Prompt two or more models to propose a fix. Compare outputs for: - Safety - Clarity - Test coverage - Architectural alignment Synthesize the best elements into a final solution. Success Criteria Differences between models are clearly identified Risks and strengths are evaluated Final synthesized solution is safe and incremental Provenance metadata is included</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Assigning an Issue to Multiple Models</a:t>
            </a:r>
          </a:p>
        </p:txBody>
      </p:sp>
      <p:sp>
        <p:nvSpPr>
          <p:cNvPr id="3" name="Content Placeholder 2"/>
          <p:cNvSpPr>
            <a:spLocks noGrp="1"/>
          </p:cNvSpPr>
          <p:nvPr>
            <p:ph idx="1"/>
          </p:nvPr>
        </p:nvSpPr>
        <p:spPr/>
        <p:txBody>
          <a:bodyPr/>
          <a:lstStyle/>
          <a:p>
            <a:pPr lvl="0" indent="0" marL="0">
              <a:buNone/>
            </a:pPr>
            <a:r>
              <a:rPr/>
              <a:t>Duration 10 minutes Objectives Practice delegating the same issue to different models Evaluate how each model interprets constraints Identify missing context Activities Create a GitHub‑style issue describing a technical debt item. Assign the issue to two different models. Compare their proposed remediation plans. Identify missing context or contradictions. Success Criteria Issue is clear and well‑structured Each model produces a distinct approach Missing context is identified and documented A preferred plan is selected based on safety and clarity</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Delegating Work to Multiple Models</a:t>
            </a:r>
          </a:p>
        </p:txBody>
      </p:sp>
      <p:sp>
        <p:nvSpPr>
          <p:cNvPr id="3" name="Content Placeholder 2"/>
          <p:cNvSpPr>
            <a:spLocks noGrp="1"/>
          </p:cNvSpPr>
          <p:nvPr>
            <p:ph idx="1"/>
          </p:nvPr>
        </p:nvSpPr>
        <p:spPr/>
        <p:txBody>
          <a:bodyPr/>
          <a:lstStyle/>
          <a:p>
            <a:pPr lvl="0" indent="0" marL="0">
              <a:buNone/>
            </a:pPr>
            <a:r>
              <a:rPr/>
              <a:t>Duration 20 minutes Objectives Practice multi‑model delegation Evaluate multi‑step reasoning Synthesize best practices into a unified plan Activities Select a multi‑step modernization task. Ask multiple models to: - Analyze the problem - Propose a remediation plan - Suggest tests - Suggest documentation updates Compare the outputs. Synthesize a final, safe, incremental plan. Success Criteria Multi‑model differences are clearly understood Final plan is incremental, reversible, and well‑tested Documentation and provenance are included Risks are identified and mitigated</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4 - Adding AI Guardrails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Adding AI Guardrails</a:t>
            </a:r>
          </a:p>
        </p:txBody>
      </p:sp>
      <p:sp>
        <p:nvSpPr>
          <p:cNvPr id="3" name="Content Placeholder 2"/>
          <p:cNvSpPr>
            <a:spLocks noGrp="1"/>
          </p:cNvSpPr>
          <p:nvPr>
            <p:ph idx="1"/>
          </p:nvPr>
        </p:nvSpPr>
        <p:spPr/>
        <p:txBody>
          <a:bodyPr/>
          <a:lstStyle/>
          <a:p>
            <a:pPr lvl="0" indent="0" marL="0">
              <a:buNone/>
            </a:pPr>
            <a:r>
              <a:rPr/>
              <a:t>What are instructions, prompts, and Agents Creating instruction, prompt, and Agent files Meta prompts that generate these files Instructions for generating artifacts Enforcing provenance for AI‑assisted artifacts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Instructions, Prompts &amp; Agents</a:t>
            </a:r>
          </a:p>
        </p:txBody>
      </p:sp>
      <p:sp>
        <p:nvSpPr>
          <p:cNvPr id="3" name="Content Placeholder 2"/>
          <p:cNvSpPr>
            <a:spLocks noGrp="1"/>
          </p:cNvSpPr>
          <p:nvPr>
            <p:ph idx="1"/>
          </p:nvPr>
        </p:nvSpPr>
        <p:spPr/>
        <p:txBody>
          <a:bodyPr/>
          <a:lstStyle/>
          <a:p>
            <a:pPr lvl="0" indent="0" marL="0">
              <a:buNone/>
            </a:pPr>
            <a:r>
              <a:rPr/>
              <a:t>Definitions Instructions – Persistent rules that guide the model’s behavior Prompts – Task‑specific requests defining intent and constraints Agents – Pre‑configured personas optimized for workflows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Instruction, Prompt &amp; Agent Files</a:t>
            </a:r>
          </a:p>
        </p:txBody>
      </p:sp>
      <p:sp>
        <p:nvSpPr>
          <p:cNvPr id="3" name="Content Placeholder 2"/>
          <p:cNvSpPr>
            <a:spLocks noGrp="1"/>
          </p:cNvSpPr>
          <p:nvPr>
            <p:ph idx="1"/>
          </p:nvPr>
        </p:nvSpPr>
        <p:spPr/>
        <p:txBody>
          <a:bodyPr/>
          <a:lstStyle/>
          <a:p>
            <a:pPr lvl="0" indent="0" marL="0">
              <a:buNone/>
            </a:pPr>
            <a:r>
              <a:rPr/>
              <a:t>Why create files? Ensures repeatability Reduces token usage Provides version‑controlled guardrails Enables team‑wide consistency File types .github/instructions/myinstructions.instructions.md .github/prompts/myprompt.prompt.md .github/chatmodes/mychatmode.chatmode.md</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Meta Prompts</a:t>
            </a:r>
          </a:p>
        </p:txBody>
      </p:sp>
      <p:sp>
        <p:nvSpPr>
          <p:cNvPr id="3" name="Content Placeholder 2"/>
          <p:cNvSpPr>
            <a:spLocks noGrp="1"/>
          </p:cNvSpPr>
          <p:nvPr>
            <p:ph idx="1"/>
          </p:nvPr>
        </p:nvSpPr>
        <p:spPr/>
        <p:txBody>
          <a:bodyPr/>
          <a:lstStyle/>
          <a:p>
            <a:pPr lvl="0" indent="0" marL="0">
              <a:buNone/>
            </a:pPr>
            <a:r>
              <a:rPr/>
              <a:t>Meta prompts guide: Creation of instruction files Generation of reusable prompts Construction of Agents Provide consistent formatting, structure, content</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Instructions for Generating Artifacts</a:t>
            </a:r>
          </a:p>
        </p:txBody>
      </p:sp>
      <p:sp>
        <p:nvSpPr>
          <p:cNvPr id="3" name="Content Placeholder 2"/>
          <p:cNvSpPr>
            <a:spLocks noGrp="1"/>
          </p:cNvSpPr>
          <p:nvPr>
            <p:ph idx="1"/>
          </p:nvPr>
        </p:nvSpPr>
        <p:spPr/>
        <p:txBody>
          <a:bodyPr/>
          <a:lstStyle/>
          <a:p>
            <a:pPr lvl="0" indent="0" marL="0">
              <a:buNone/>
            </a:pPr>
            <a:r>
              <a:rPr/>
              <a:t>Best practices Define the artifact type Specify required sections Provide examples or templates Include acceptance criteria Require the model to restate constraints</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Enforcing Provenance for AI Artifacts</a:t>
            </a:r>
          </a:p>
        </p:txBody>
      </p:sp>
      <p:sp>
        <p:nvSpPr>
          <p:cNvPr id="3" name="Content Placeholder 2"/>
          <p:cNvSpPr>
            <a:spLocks noGrp="1"/>
          </p:cNvSpPr>
          <p:nvPr>
            <p:ph idx="1"/>
          </p:nvPr>
        </p:nvSpPr>
        <p:spPr/>
        <p:txBody>
          <a:bodyPr/>
          <a:lstStyle/>
          <a:p>
            <a:pPr lvl="0" indent="0" marL="0">
              <a:buNone/>
            </a:pPr>
            <a:r>
              <a:rPr/>
              <a:t>Provenance requirements Declare: - AI involvement - Model used - Date generated - Human reviewer Store provenance in headers, footers, or side cars Track revisions in version control</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Copy the Core Instructions</a:t>
            </a:r>
          </a:p>
        </p:txBody>
      </p:sp>
      <p:sp>
        <p:nvSpPr>
          <p:cNvPr id="3" name="Content Placeholder 2"/>
          <p:cNvSpPr>
            <a:spLocks noGrp="1"/>
          </p:cNvSpPr>
          <p:nvPr>
            <p:ph idx="1"/>
          </p:nvPr>
        </p:nvSpPr>
        <p:spPr/>
        <p:txBody>
          <a:bodyPr/>
          <a:lstStyle/>
          <a:p>
            <a:pPr lvl="0" indent="0" marL="0">
              <a:buNone/>
            </a:pPr>
            <a:r>
              <a:rPr/>
              <a:t>Duration: 10 minutes Objectives: Understand file organization for AI-assisted output policies Practice copying files between repositories Ensure compliance with output metadata requirements Activities: 1. Locate .github/instructions/ai-assisted-output.instructions.md in the AI-Assisted-Software-Development repository 2. Copy the file into the .github/instructions folder of the current repository 3. Copy these files as well: chatmode-file.instructions.md instruction-files.instructions.md instruction-prompt-files.instructions.md prompt-file.instructions.md 4. Verify the copied files matches the original 5. Review the instructions Success Criteria: The files are present in the current repo The content matches the source file No metadata or formatting is lost</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Instructions for AI Generated Artifacts</a:t>
            </a:r>
          </a:p>
        </p:txBody>
      </p:sp>
      <p:sp>
        <p:nvSpPr>
          <p:cNvPr id="3" name="Content Placeholder 2"/>
          <p:cNvSpPr>
            <a:spLocks noGrp="1"/>
          </p:cNvSpPr>
          <p:nvPr>
            <p:ph idx="1"/>
          </p:nvPr>
        </p:nvSpPr>
        <p:spPr/>
        <p:txBody>
          <a:bodyPr/>
          <a:lstStyle/>
          <a:p>
            <a:pPr lvl="0" indent="0" marL="0">
              <a:buNone/>
            </a:pPr>
            <a:r>
              <a:rPr/>
              <a:t>The one instruction file that rules them all</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AI-Assisted Output Instructions</a:t>
            </a:r>
          </a:p>
        </p:txBody>
      </p:sp>
      <p:sp>
        <p:nvSpPr>
          <p:cNvPr id="3" name="Content Placeholder 2"/>
          <p:cNvSpPr>
            <a:spLocks noGrp="1"/>
          </p:cNvSpPr>
          <p:nvPr>
            <p:ph idx="1"/>
          </p:nvPr>
        </p:nvSpPr>
        <p:spPr/>
        <p:txBody>
          <a:bodyPr/>
          <a:lstStyle/>
          <a:p>
            <a:pPr lvl="0" indent="0" marL="0">
              <a:buNone/>
            </a:pPr>
            <a:r>
              <a:rPr/>
              <a:t>Ensures provenance and logging for all AI-assisted outputs Defines required metadata, logging workflow, and quality gates Protects code quality and enables audits</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Required Provenance Metadata</a:t>
            </a:r>
          </a:p>
        </p:txBody>
      </p:sp>
      <p:sp>
        <p:nvSpPr>
          <p:cNvPr id="3" name="Content Placeholder 2"/>
          <p:cNvSpPr>
            <a:spLocks noGrp="1"/>
          </p:cNvSpPr>
          <p:nvPr>
            <p:ph idx="1"/>
          </p:nvPr>
        </p:nvSpPr>
        <p:spPr/>
        <p:txBody>
          <a:bodyPr/>
          <a:lstStyle/>
          <a:p>
            <a:pPr lvl="0" indent="0" marL="0">
              <a:buNone/>
            </a:pPr>
            <a:r>
              <a:rPr/>
              <a:t>Every AI-assisted artifact must include: - ai_generated: true - model: provider/model@version - operator: username - chat_id: unique chat identifier - prompt: exact prompt text - started/ended: timestamps - task_durations &amp; total_duration - ai_log: path to conversation log - source: who/what created the file</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Metadata Placement Policy</a:t>
            </a:r>
          </a:p>
        </p:txBody>
      </p:sp>
      <p:sp>
        <p:nvSpPr>
          <p:cNvPr id="3" name="Content Placeholder 2"/>
          <p:cNvSpPr>
            <a:spLocks noGrp="1"/>
          </p:cNvSpPr>
          <p:nvPr>
            <p:ph idx="1"/>
          </p:nvPr>
        </p:nvSpPr>
        <p:spPr/>
        <p:txBody>
          <a:bodyPr/>
          <a:lstStyle/>
          <a:p>
            <a:pPr lvl="0" indent="0" marL="0">
              <a:buNone/>
            </a:pPr>
            <a:r>
              <a:rPr/>
              <a:t>Use YAML front matter for Markdown and similar formats For binaries/images, use a sidecar .meta.md Never use sidecars for Markdown</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Chat Logging Workflow</a:t>
            </a:r>
          </a:p>
        </p:txBody>
      </p:sp>
      <p:sp>
        <p:nvSpPr>
          <p:cNvPr id="3" name="Content Placeholder 2"/>
          <p:cNvSpPr>
            <a:spLocks noGrp="1"/>
          </p:cNvSpPr>
          <p:nvPr>
            <p:ph idx="1"/>
          </p:nvPr>
        </p:nvSpPr>
        <p:spPr/>
        <p:txBody>
          <a:bodyPr/>
          <a:lstStyle/>
          <a:p>
            <a:pPr lvl="0" indent="0" marL="0">
              <a:buNone/>
            </a:pPr>
            <a:r>
              <a:rPr/>
              <a:t>Each chat creates a unique log folder: ai-logs/yyyy/mm/dd// Required files: - conversation.md (full transcript) - summary.md (objectives, decisions, outcomes) - artifacts/ (optional) Never reuse chat logs between sessions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Quality &amp; PR Checklist</a:t>
            </a:r>
          </a:p>
        </p:txBody>
      </p:sp>
      <p:sp>
        <p:nvSpPr>
          <p:cNvPr id="3" name="Content Placeholder 2"/>
          <p:cNvSpPr>
            <a:spLocks noGrp="1"/>
          </p:cNvSpPr>
          <p:nvPr>
            <p:ph idx="1"/>
          </p:nvPr>
        </p:nvSpPr>
        <p:spPr/>
        <p:txBody>
          <a:bodyPr/>
          <a:lstStyle/>
          <a:p>
            <a:pPr lvl="0" indent="0" marL="0">
              <a:buNone/>
            </a:pPr>
            <a:r>
              <a:rPr/>
              <a:t>Metadata complete and correct Conversation and summary logs exist README.md updated for notable artifacts No sensitive data in outputs All AI-generated content traces to a chat log</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Copilot Integration Requirements</a:t>
            </a:r>
          </a:p>
        </p:txBody>
      </p:sp>
      <p:sp>
        <p:nvSpPr>
          <p:cNvPr id="3" name="Content Placeholder 2"/>
          <p:cNvSpPr>
            <a:spLocks noGrp="1"/>
          </p:cNvSpPr>
          <p:nvPr>
            <p:ph idx="1"/>
          </p:nvPr>
        </p:nvSpPr>
        <p:spPr/>
        <p:txBody>
          <a:bodyPr/>
          <a:lstStyle/>
          <a:p>
            <a:pPr lvl="0" indent="0" marL="0">
              <a:buNone/>
            </a:pPr>
            <a:r>
              <a:rPr/>
              <a:t>Copilot must auto-manage chat IDs and logs Metadata injected automatically Block artifact creation if chat context is missing Enforce provenance before file creation</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Enforcement &amp; Remediation</a:t>
            </a:r>
          </a:p>
        </p:txBody>
      </p:sp>
      <p:sp>
        <p:nvSpPr>
          <p:cNvPr id="3" name="Content Placeholder 2"/>
          <p:cNvSpPr>
            <a:spLocks noGrp="1"/>
          </p:cNvSpPr>
          <p:nvPr>
            <p:ph idx="1"/>
          </p:nvPr>
        </p:nvSpPr>
        <p:spPr/>
        <p:txBody>
          <a:bodyPr/>
          <a:lstStyle/>
          <a:p>
            <a:pPr lvl="0" indent="0" marL="0">
              <a:buNone/>
            </a:pPr>
            <a:r>
              <a:rPr/>
              <a:t>PRs blocked if provenance is incomplete Missing logs or metadata must be added before merge Orphaned artifacts require reconstruction of logs and metadata</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Why This Matters</a:t>
            </a:r>
          </a:p>
        </p:txBody>
      </p:sp>
      <p:sp>
        <p:nvSpPr>
          <p:cNvPr id="3" name="Content Placeholder 2"/>
          <p:cNvSpPr>
            <a:spLocks noGrp="1"/>
          </p:cNvSpPr>
          <p:nvPr>
            <p:ph idx="1"/>
          </p:nvPr>
        </p:nvSpPr>
        <p:spPr/>
        <p:txBody>
          <a:bodyPr/>
          <a:lstStyle/>
          <a:p>
            <a:pPr lvl="0" indent="0" marL="0">
              <a:buNone/>
            </a:pPr>
            <a:r>
              <a:rPr/>
              <a:t>Enables auditability and trust in AI outputs Protects against orphaned or unverifiable artifacts Supports team collaboration and compliance</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Core Instruction files</a:t>
            </a:r>
          </a:p>
        </p:txBody>
      </p:sp>
      <p:sp>
        <p:nvSpPr>
          <p:cNvPr id="3" name="Content Placeholder 2"/>
          <p:cNvSpPr>
            <a:spLocks noGrp="1"/>
          </p:cNvSpPr>
          <p:nvPr>
            <p:ph idx="1"/>
          </p:nvPr>
        </p:nvSpPr>
        <p:spPr/>
        <p:txBody>
          <a:bodyPr/>
          <a:lstStyle/>
          <a:p>
            <a:pPr lvl="0" indent="0" marL="0">
              <a:buNone/>
            </a:pPr>
            <a:r>
              <a:rPr/>
              <a:t>chatmode-file.instructions.md - Defines the structure and contents of agents instruction-files.instructions.md - Defines the structure and contents of instruction files prompt-file.instructions.md - Defines the structure and contents of prompts instruction-prompt-files.instructions.md - Defines the structure and contents of prompts the create instruction files</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Create a Prompt File</a:t>
            </a:r>
          </a:p>
        </p:txBody>
      </p:sp>
      <p:sp>
        <p:nvSpPr>
          <p:cNvPr id="3" name="Content Placeholder 2"/>
          <p:cNvSpPr>
            <a:spLocks noGrp="1"/>
          </p:cNvSpPr>
          <p:nvPr>
            <p:ph idx="1"/>
          </p:nvPr>
        </p:nvSpPr>
        <p:spPr/>
        <p:txBody>
          <a:bodyPr/>
          <a:lstStyle/>
          <a:p>
            <a:pPr lvl="0" indent="0" marL="0">
              <a:buNone/>
            </a:pPr>
            <a:r>
              <a:rPr/>
              <a:t>Duration 10 minutes Objectives Understand prompt structure Practice defining task intent Apply constraints and success criteria Activities Prompt Copilot to create a prompt file that creates an instruction file for evergreen software development Review the prompt Success Criteria Prompt is clear, scoped, and reusable Includes constraints and success criteria Avoids unnecessary context</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Create an Instruction File for Evergreen Development</a:t>
            </a:r>
          </a:p>
        </p:txBody>
      </p:sp>
      <p:sp>
        <p:nvSpPr>
          <p:cNvPr id="3" name="Content Placeholder 2"/>
          <p:cNvSpPr>
            <a:spLocks noGrp="1"/>
          </p:cNvSpPr>
          <p:nvPr>
            <p:ph idx="1"/>
          </p:nvPr>
        </p:nvSpPr>
        <p:spPr/>
        <p:txBody>
          <a:bodyPr/>
          <a:lstStyle/>
          <a:p>
            <a:pPr lvl="0" indent="0" marL="0">
              <a:buNone/>
            </a:pPr>
            <a:r>
              <a:rPr/>
              <a:t>Duration 15 minutes Objectives Capture evergreen principles Define architectural boundaries Specify modernization rules Activities Submit the Evergreen Instructions prompt Review the instructions Success Criteria Instruction file is stable and reusable Reflects evergreen development values Provides clear guardrails</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Create an Agent</a:t>
            </a:r>
          </a:p>
        </p:txBody>
      </p:sp>
      <p:sp>
        <p:nvSpPr>
          <p:cNvPr id="3" name="Content Placeholder 2"/>
          <p:cNvSpPr>
            <a:spLocks noGrp="1"/>
          </p:cNvSpPr>
          <p:nvPr>
            <p:ph idx="1"/>
          </p:nvPr>
        </p:nvSpPr>
        <p:spPr/>
        <p:txBody>
          <a:bodyPr/>
          <a:lstStyle/>
          <a:p>
            <a:pPr lvl="0" indent="0" marL="0">
              <a:buNone/>
            </a:pPr>
            <a:r>
              <a:rPr/>
              <a:t>Duration 10 minutes Objectives Define a persona optimized for brownfield work Emphasize safety and incrementalism Encode risk‑aware behaviors Activities Draft a Agent that: - Respects working systems - Avoids risky rewrites - Surfaces context gaps - Encourages incremental changes Add tone and behavioral guidelines Add provenance metadata Success Criteria Agent behaves like a cautious senior engineer Encourages safe modernization Includes clear behavioral rules</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Generate Instruction Files</a:t>
            </a:r>
          </a:p>
        </p:txBody>
      </p:sp>
      <p:sp>
        <p:nvSpPr>
          <p:cNvPr id="3" name="Content Placeholder 2"/>
          <p:cNvSpPr>
            <a:spLocks noGrp="1"/>
          </p:cNvSpPr>
          <p:nvPr>
            <p:ph idx="1"/>
          </p:nvPr>
        </p:nvSpPr>
        <p:spPr/>
        <p:txBody>
          <a:bodyPr/>
          <a:lstStyle/>
          <a:p>
            <a:pPr lvl="0" indent="0" marL="0">
              <a:buNone/>
            </a:pPr>
            <a:r>
              <a:rPr/>
              <a:t>Duration 20 minutes Objectives Use meta prompts to scale instruction‑file creation Capture module‑specific rules Encode domain and architectural constraints Activities Prompt Copilot to create instruction files for the standards and conventions of the tech stack Review instructions Success Criteria Instruction files reflect real system constraints Meta prompts produce consistent structure Files are ready for team use</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Context‑Related Issues</a:t>
            </a:r>
          </a:p>
        </p:txBody>
      </p:sp>
      <p:sp>
        <p:nvSpPr>
          <p:cNvPr id="3" name="Content Placeholder 2"/>
          <p:cNvSpPr>
            <a:spLocks noGrp="1"/>
          </p:cNvSpPr>
          <p:nvPr>
            <p:ph idx="1"/>
          </p:nvPr>
        </p:nvSpPr>
        <p:spPr/>
        <p:txBody>
          <a:bodyPr/>
          <a:lstStyle/>
          <a:p>
            <a:pPr lvl="0" indent="0" marL="0">
              <a:buNone/>
            </a:pPr>
            <a:r>
              <a:rPr/>
              <a:t>Duration 10 minutes Objectives Identify missing context Detect token overflow risks Improve prompt scoping Activities Copy the check-context.prompt.md file from the AIASD repository Review the prompt Submit the prompt Review the output Success Criteria Correctly identified context gaps</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 Files</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Persistent AI Behavioral Guidelines</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Instruction Files?</a:t>
            </a:r>
          </a:p>
        </p:txBody>
      </p:sp>
      <p:sp>
        <p:nvSpPr>
          <p:cNvPr id="3" name="Content Placeholder 2"/>
          <p:cNvSpPr>
            <a:spLocks noGrp="1"/>
          </p:cNvSpPr>
          <p:nvPr>
            <p:ph idx="1"/>
          </p:nvPr>
        </p:nvSpPr>
        <p:spPr/>
        <p:txBody>
          <a:bodyPr/>
          <a:lstStyle/>
          <a:p>
            <a:pPr lvl="0" indent="0" marL="0">
              <a:buNone/>
            </a:pPr>
            <a:r>
              <a:rPr/>
              <a:t>Definition Persistent configuration files that define AI behavior patterns Applied automatically across multiple interactions Establish consistent working standards and constraints Key Characteristics Scope: Repository-wide or context-specific Persistence: Active across all relevant AI interactions Purpose: Define “how” AI should work, not “what” to do</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 File Structure</a:t>
            </a:r>
          </a:p>
        </p:txBody>
      </p:sp>
      <p:sp>
        <p:nvSpPr>
          <p:cNvPr id="3" name="Content Placeholder 2"/>
          <p:cNvSpPr>
            <a:spLocks noGrp="1"/>
          </p:cNvSpPr>
          <p:nvPr>
            <p:ph idx="1"/>
          </p:nvPr>
        </p:nvSpPr>
        <p:spPr/>
        <p:txBody>
          <a:bodyPr/>
          <a:lstStyle/>
          <a:p>
            <a:pPr lvl="0" indent="0">
              <a:buNone/>
            </a:pPr>
            <a:br/>
            <a:r>
              <a:rPr>
                <a:latin typeface="Courier"/>
              </a:rPr>
              <a:t>description: Azure best practices for AI development</a:t>
            </a:r>
            <a:br/>
            <a:r>
              <a:rPr>
                <a:latin typeface="Courier"/>
              </a:rPr>
              <a:t>applyTo: "**" # File pattern scope</a:t>
            </a:r>
            <a:br/>
            <a:br/>
            <a:r>
              <a:rPr>
                <a:solidFill>
                  <a:srgbClr val="BB6688"/>
                </a:solidFill>
                <a:latin typeface="Courier"/>
              </a:rPr>
              <a:t>- </a:t>
            </a:r>
            <a:r>
              <a:rPr>
                <a:latin typeface="Courier"/>
              </a:rPr>
              <a:t>Use Azure Tools when handling Azure requests</a:t>
            </a:r>
            <a:br/>
            <a:r>
              <a:rPr>
                <a:solidFill>
                  <a:srgbClr val="BB6688"/>
                </a:solidFill>
                <a:latin typeface="Courier"/>
              </a:rPr>
              <a:t>- </a:t>
            </a:r>
            <a:r>
              <a:rPr>
                <a:latin typeface="Courier"/>
              </a:rPr>
              <a:t>Follow security best practices</a:t>
            </a:r>
            <a:br/>
            <a:r>
              <a:rPr>
                <a:solidFill>
                  <a:srgbClr val="BB6688"/>
                </a:solidFill>
                <a:latin typeface="Courier"/>
              </a:rPr>
              <a:t>- </a:t>
            </a:r>
            <a:r>
              <a:rPr>
                <a:latin typeface="Courier"/>
              </a:rPr>
              <a:t>Implement proper error handling</a:t>
            </a:r>
            <a:br/>
            <a:r>
              <a:rPr>
                <a:solidFill>
                  <a:srgbClr val="BB6688"/>
                </a:solidFill>
                <a:latin typeface="Courier"/>
              </a:rPr>
              <a:t>- </a:t>
            </a:r>
            <a:r>
              <a:rPr>
                <a:latin typeface="Courier"/>
              </a:rPr>
              <a:t>Generate comprehensive documentation</a:t>
            </a:r>
            <a:br/>
            <a:br/>
            <a:r>
              <a:rPr>
                <a:solidFill>
                  <a:srgbClr val="BB6688"/>
                </a:solidFill>
                <a:latin typeface="Courier"/>
              </a:rPr>
              <a:t>- </a:t>
            </a:r>
            <a:r>
              <a:rPr>
                <a:latin typeface="Courier"/>
              </a:rPr>
              <a:t>Write tests before implementation</a:t>
            </a:r>
            <a:br/>
            <a:r>
              <a:rPr>
                <a:solidFill>
                  <a:srgbClr val="BB6688"/>
                </a:solidFill>
                <a:latin typeface="Courier"/>
              </a:rPr>
              <a:t>- </a:t>
            </a:r>
            <a:r>
              <a:rPr>
                <a:latin typeface="Courier"/>
              </a:rPr>
              <a:t>Use dependency injection patterns</a:t>
            </a:r>
            <a:br/>
            <a:r>
              <a:rPr>
                <a:solidFill>
                  <a:srgbClr val="BB6688"/>
                </a:solidFill>
                <a:latin typeface="Courier"/>
              </a:rPr>
              <a:t>- </a:t>
            </a:r>
            <a:r>
              <a:rPr>
                <a:latin typeface="Courier"/>
              </a:rPr>
              <a:t>Follow naming conventions</a:t>
            </a:r>
            <a:br/>
            <a:r>
              <a:rPr>
                <a:solidFill>
                  <a:srgbClr val="BB6688"/>
                </a:solidFill>
                <a:latin typeface="Courier"/>
              </a:rPr>
              <a:t>- </a:t>
            </a:r>
            <a:r>
              <a:rPr>
                <a:latin typeface="Courier"/>
              </a:rPr>
              <a:t>Include proper logging</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 Files: Use Cases</a:t>
            </a:r>
          </a:p>
        </p:txBody>
      </p:sp>
      <p:sp>
        <p:nvSpPr>
          <p:cNvPr id="3" name="Content Placeholder 2"/>
          <p:cNvSpPr>
            <a:spLocks noGrp="1"/>
          </p:cNvSpPr>
          <p:nvPr>
            <p:ph idx="1"/>
          </p:nvPr>
        </p:nvSpPr>
        <p:spPr/>
        <p:txBody>
          <a:bodyPr/>
          <a:lstStyle/>
          <a:p>
            <a:pPr lvl="0" indent="0" marL="0">
              <a:buNone/>
            </a:pPr>
            <a:r>
              <a:rPr/>
              <a:t>Perfect For: Coding Standards → Consistent style across projects Security Policies → Enforce security practices Quality Gates → Define testing and review requirements Technology Constraints → Specify approved frameworks/tools Examples: azure-development.instructions.md testing-standards.instructions.md security-requirements.instructions.md</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 Files Best Practices</a:t>
            </a:r>
          </a:p>
        </p:txBody>
      </p:sp>
      <p:sp>
        <p:nvSpPr>
          <p:cNvPr id="3" name="Content Placeholder 2"/>
          <p:cNvSpPr>
            <a:spLocks noGrp="1"/>
          </p:cNvSpPr>
          <p:nvPr>
            <p:ph idx="1"/>
          </p:nvPr>
        </p:nvSpPr>
        <p:spPr/>
        <p:txBody>
          <a:bodyPr/>
          <a:lstStyle/>
          <a:p>
            <a:pPr lvl="0" indent="0" marL="0">
              <a:buNone/>
            </a:pPr>
            <a:r>
              <a:rPr/>
              <a:t>✅ Do This: Keep instructions clear and actionable Use file patterns (applyTo: ’**’) for broad scope Version control and document changes Test instruction effectiveness regularly ❌ Avoid This: Overly complex or contradictory rules Too many instructions (cognitive overload) Instructions that conflict with prompt files Hardcoded values instead of parameters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Instruction File </a:t>
            </a:r>
            <a:r>
              <a:rPr>
                <a:latin typeface="Courier"/>
              </a:rPr>
              <a:t>applyTo</a:t>
            </a:r>
            <a:r>
              <a:rPr/>
              <a:t> Patterns</a:t>
            </a:r>
          </a:p>
        </p:txBody>
      </p:sp>
      <p:sp>
        <p:nvSpPr>
          <p:cNvPr id="3" name="Content Placeholder 2"/>
          <p:cNvSpPr>
            <a:spLocks noGrp="1"/>
          </p:cNvSpPr>
          <p:nvPr>
            <p:ph idx="1"/>
          </p:nvPr>
        </p:nvSpPr>
        <p:spPr/>
        <p:txBody>
          <a:bodyPr/>
          <a:lstStyle/>
          <a:p>
            <a:pPr lvl="0" indent="0" marL="0">
              <a:buNone/>
            </a:pPr>
            <a:r>
              <a:rPr b="1"/>
              <a:t>Understanding Glob Pattern Matching</a:t>
            </a:r>
          </a:p>
          <a:p>
            <a:pPr lvl="0" indent="0" marL="0">
              <a:buNone/>
            </a:pPr>
            <a:r>
              <a:rPr/>
              <a:t>Controlling When Instructions Apply to Your Code</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t>
            </a:r>
            <a:r>
              <a:rPr>
                <a:latin typeface="Courier"/>
              </a:rPr>
              <a:t>appliesTo</a:t>
            </a:r>
            <a:r>
              <a:rPr/>
              <a:t> Fits</a:t>
            </a:r>
          </a:p>
        </p:txBody>
      </p:sp>
      <p:sp>
        <p:nvSpPr>
          <p:cNvPr id="3" name="Content Placeholder 2"/>
          <p:cNvSpPr>
            <a:spLocks noGrp="1"/>
          </p:cNvSpPr>
          <p:nvPr>
            <p:ph idx="1"/>
          </p:nvPr>
        </p:nvSpPr>
        <p:spPr/>
        <p:txBody>
          <a:bodyPr/>
          <a:lstStyle/>
          <a:p>
            <a:pPr lvl="0" indent="0" marL="0">
              <a:buNone/>
            </a:pPr>
            <a:r>
              <a:rPr/>
              <a:t>The filtering mechanism for instruction files</a:t>
            </a:r>
          </a:p>
          <a:p>
            <a:pPr lvl="0" indent="0" marL="0">
              <a:buNone/>
            </a:pPr>
            <a:r>
              <a:rPr>
                <a:latin typeface="Courier"/>
              </a:rPr>
              <a:t>appliesTo</a:t>
            </a:r>
            <a:r>
              <a:rPr/>
              <a:t> is a </a:t>
            </a:r>
            <a:r>
              <a:rPr b="1"/>
              <a:t>selector</a:t>
            </a:r>
            <a:r>
              <a:rPr/>
              <a:t> that determines </a:t>
            </a:r>
            <a:r>
              <a:rPr i="1"/>
              <a:t>when</a:t>
            </a:r>
            <a:r>
              <a:rPr/>
              <a:t> an instruction file is included in the stack.</a:t>
            </a:r>
          </a:p>
          <a:p>
            <a:pPr lvl="0" indent="0" marL="0">
              <a:buNone/>
            </a:pPr>
            <a:r>
              <a:rPr/>
              <a:t>Common selectors include:</a:t>
            </a:r>
          </a:p>
          <a:p>
            <a:pPr lvl="0"/>
            <a:r>
              <a:rPr b="1"/>
              <a:t>repositories</a:t>
            </a:r>
            <a:r>
              <a:rPr/>
              <a:t> – include only for specific repos</a:t>
            </a:r>
          </a:p>
          <a:p>
            <a:pPr lvl="0"/>
            <a:r>
              <a:rPr b="1"/>
              <a:t>languages</a:t>
            </a:r>
            <a:r>
              <a:rPr/>
              <a:t> – include only for certain languages</a:t>
            </a:r>
          </a:p>
          <a:p>
            <a:pPr lvl="0"/>
            <a:r>
              <a:rPr b="1"/>
              <a:t>filePatterns</a:t>
            </a:r>
            <a:r>
              <a:rPr/>
              <a:t> – include only when editing certain files</a:t>
            </a:r>
          </a:p>
          <a:p>
            <a:pPr lvl="0"/>
            <a:r>
              <a:rPr b="1"/>
              <a:t>tools</a:t>
            </a:r>
            <a:r>
              <a:rPr/>
              <a:t> – include only when using specific Copilot features</a:t>
            </a:r>
          </a:p>
          <a:p>
            <a:pPr lvl="0"/>
            <a:r>
              <a:rPr b="1"/>
              <a:t>scopes</a:t>
            </a:r>
            <a:r>
              <a:rPr/>
              <a:t> – include only in chat, only in editor, etc.</a:t>
            </a:r>
          </a:p>
          <a:p>
            <a:pPr lvl="0" indent="0" marL="0">
              <a:buNone/>
            </a:pPr>
            <a:r>
              <a:rPr b="1"/>
              <a:t>Speaker Notes:</a:t>
            </a:r>
            <a:r>
              <a:rPr/>
              <a:t> </a:t>
            </a:r>
            <a:r>
              <a:rPr>
                <a:latin typeface="Courier"/>
              </a:rPr>
              <a:t>appliesTo</a:t>
            </a:r>
            <a:r>
              <a:rPr/>
              <a:t> is not a guardrail itself. It’s a routing rule. It prevents irrelevant instructions from polluting the stack and keeps the assistant focused.</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a:t>
            </a:r>
            <a:r>
              <a:rPr>
                <a:latin typeface="Courier"/>
              </a:rPr>
              <a:t>appliesTo</a:t>
            </a:r>
            <a:r>
              <a:rPr/>
              <a:t> Interacts with the Stack</a:t>
            </a:r>
          </a:p>
        </p:txBody>
      </p:sp>
      <p:sp>
        <p:nvSpPr>
          <p:cNvPr id="3" name="Content Placeholder 2"/>
          <p:cNvSpPr>
            <a:spLocks noGrp="1"/>
          </p:cNvSpPr>
          <p:nvPr>
            <p:ph idx="1"/>
          </p:nvPr>
        </p:nvSpPr>
        <p:spPr/>
        <p:txBody>
          <a:bodyPr/>
          <a:lstStyle/>
          <a:p>
            <a:pPr lvl="0" indent="0" marL="0">
              <a:buNone/>
            </a:pPr>
            <a:r>
              <a:rPr/>
              <a:t>Filtering happens </a:t>
            </a:r>
            <a:r>
              <a:rPr i="1"/>
              <a:t>before</a:t>
            </a:r>
            <a:r>
              <a:rPr/>
              <a:t> merging</a:t>
            </a:r>
          </a:p>
          <a:p>
            <a:pPr lvl="0" indent="-342900" marL="342900">
              <a:buAutoNum type="arabicPeriod"/>
            </a:pPr>
            <a:r>
              <a:rPr/>
              <a:t>Copilot discovers all instruction files in scope</a:t>
            </a:r>
          </a:p>
          <a:p>
            <a:pPr lvl="0" indent="-342900" marL="342900">
              <a:buAutoNum type="arabicPeriod"/>
            </a:pPr>
            <a:r>
              <a:rPr/>
              <a:t>Copilot filters them using </a:t>
            </a:r>
            <a:r>
              <a:rPr>
                <a:latin typeface="Courier"/>
              </a:rPr>
              <a:t>appliesTo</a:t>
            </a:r>
          </a:p>
          <a:p>
            <a:pPr lvl="0" indent="-342900" marL="342900">
              <a:buAutoNum type="arabicPeriod"/>
            </a:pPr>
            <a:r>
              <a:rPr/>
              <a:t>Copilot merges the remaining files into the stack</a:t>
            </a:r>
          </a:p>
          <a:p>
            <a:pPr lvl="0" indent="0" marL="0">
              <a:buNone/>
            </a:pPr>
            <a:r>
              <a:rPr b="1"/>
              <a:t>Speaker Notes:</a:t>
            </a:r>
            <a:r>
              <a:rPr/>
              <a:t> This means you can have many instruction files in </a:t>
            </a:r>
            <a:r>
              <a:rPr>
                <a:latin typeface="Courier"/>
              </a:rPr>
              <a:t>.github/instructions/</a:t>
            </a:r>
            <a:r>
              <a:rPr/>
              <a:t>, but only the ones whose </a:t>
            </a:r>
            <a:r>
              <a:rPr>
                <a:latin typeface="Courier"/>
              </a:rPr>
              <a:t>appliesTo</a:t>
            </a:r>
            <a:r>
              <a:rPr/>
              <a:t> match the current context will be included.</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is </a:t>
            </a:r>
            <a:r>
              <a:rPr>
                <a:latin typeface="Courier"/>
              </a:rPr>
              <a:t>applyTo</a:t>
            </a:r>
            <a:r>
              <a:rPr/>
              <a:t>?</a:t>
            </a:r>
          </a:p>
        </p:txBody>
      </p:sp>
      <p:sp>
        <p:nvSpPr>
          <p:cNvPr id="3" name="Content Placeholder 2"/>
          <p:cNvSpPr>
            <a:spLocks noGrp="1"/>
          </p:cNvSpPr>
          <p:nvPr>
            <p:ph idx="1"/>
          </p:nvPr>
        </p:nvSpPr>
        <p:spPr/>
        <p:txBody>
          <a:bodyPr/>
          <a:lstStyle/>
          <a:p>
            <a:pPr lvl="0" indent="0" marL="0">
              <a:buNone/>
            </a:pPr>
            <a:r>
              <a:rPr/>
              <a:t>The </a:t>
            </a:r>
            <a:r>
              <a:rPr>
                <a:latin typeface="Courier"/>
              </a:rPr>
              <a:t>applyTo</a:t>
            </a:r>
            <a:r>
              <a:rPr/>
              <a:t> field in instruction file front matter controls </a:t>
            </a:r>
            <a:r>
              <a:rPr b="1"/>
              <a:t>which files</a:t>
            </a:r>
            <a:r>
              <a:rPr/>
              <a:t> the instructions apply to.</a:t>
            </a:r>
          </a:p>
          <a:p>
            <a:pPr lvl="0" indent="0">
              <a:buNone/>
            </a:pP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"**/*.md"</a:t>
            </a:r>
            <a:r>
              <a:rPr i="1">
                <a:solidFill>
                  <a:srgbClr val="60A0B0"/>
                </a:solidFill>
                <a:latin typeface="Courier"/>
              </a:rPr>
              <a:t> # Applies to all Markdown files</a:t>
            </a:r>
          </a:p>
          <a:p>
            <a:pPr lvl="0" indent="0" marL="0">
              <a:buNone/>
            </a:pPr>
            <a:r>
              <a:rPr b="1"/>
              <a:t>Why It Matters:</a:t>
            </a:r>
          </a:p>
          <a:p>
            <a:pPr lvl="0"/>
            <a:r>
              <a:rPr/>
              <a:t>✅ Apply architecture patterns only to code files</a:t>
            </a:r>
          </a:p>
          <a:p>
            <a:pPr lvl="0"/>
            <a:r>
              <a:rPr/>
              <a:t>✅ Apply documentation standards only to docs</a:t>
            </a:r>
          </a:p>
          <a:p>
            <a:pPr lvl="0"/>
            <a:r>
              <a:rPr/>
              <a:t>✅ Avoid conflicting instructions</a:t>
            </a:r>
          </a:p>
          <a:p>
            <a:pPr lvl="0"/>
            <a:r>
              <a:rPr/>
              <a:t>✅ Improve Copilot performance by reducing context</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Universal Application</a:t>
            </a:r>
          </a:p>
        </p:txBody>
      </p:sp>
      <p:sp>
        <p:nvSpPr>
          <p:cNvPr id="3" name="Content Placeholder 2"/>
          <p:cNvSpPr>
            <a:spLocks noGrp="1"/>
          </p:cNvSpPr>
          <p:nvPr>
            <p:ph idx="1"/>
          </p:nvPr>
        </p:nvSpPr>
        <p:spPr/>
        <p:txBody>
          <a:bodyPr/>
          <a:lstStyle/>
          <a:p>
            <a:pPr lvl="0" indent="0" marL="0">
              <a:buNone/>
            </a:pPr>
            <a:r>
              <a:rPr/>
              <a:t>Apply instructions to </a:t>
            </a:r>
            <a:r>
              <a:rPr b="1"/>
              <a:t>all files</a:t>
            </a:r>
            <a:r>
              <a:rPr/>
              <a:t> in the repository:</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r>
              <a:rPr i="1">
                <a:solidFill>
                  <a:srgbClr val="60A0B0"/>
                </a:solidFill>
                <a:latin typeface="Courier"/>
              </a:rPr>
              <a:t>        # All files</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r>
              <a:rPr i="1">
                <a:solidFill>
                  <a:srgbClr val="60A0B0"/>
                </a:solidFill>
                <a:latin typeface="Courier"/>
              </a:rPr>
              <a:t>      # All files (explicit)</a:t>
            </a:r>
          </a:p>
          <a:p>
            <a:pPr lvl="0" indent="0" marL="0">
              <a:buNone/>
            </a:pPr>
            <a:r>
              <a:rPr b="1"/>
              <a:t>Use Cases:</a:t>
            </a:r>
          </a:p>
          <a:p>
            <a:pPr lvl="0"/>
            <a:r>
              <a:rPr/>
              <a:t>AI-assisted output policies</a:t>
            </a:r>
          </a:p>
          <a:p>
            <a:pPr lvl="0"/>
            <a:r>
              <a:rPr/>
              <a:t>General code quality standards</a:t>
            </a:r>
          </a:p>
          <a:p>
            <a:pPr lvl="0"/>
            <a:r>
              <a:rPr/>
              <a:t>Repository-wide conventions</a:t>
            </a:r>
          </a:p>
          <a:p>
            <a:pPr lvl="0"/>
            <a:r>
              <a:rPr/>
              <a:t>Copilot behavior guidelines</a:t>
            </a:r>
          </a:p>
          <a:p>
            <a:pPr lvl="0" indent="0" marL="0">
              <a:buNone/>
            </a:pPr>
            <a:r>
              <a:rPr b="1"/>
              <a:t>⚠️ Caution:</a:t>
            </a:r>
            <a:r>
              <a:rPr/>
              <a:t> Use sparingly - can create conflicts with more specific instructions</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File Extension Matching</a:t>
            </a:r>
          </a:p>
        </p:txBody>
      </p:sp>
      <p:sp>
        <p:nvSpPr>
          <p:cNvPr id="3" name="Content Placeholder 2"/>
          <p:cNvSpPr>
            <a:spLocks noGrp="1"/>
          </p:cNvSpPr>
          <p:nvPr>
            <p:ph idx="1"/>
          </p:nvPr>
        </p:nvSpPr>
        <p:spPr/>
        <p:txBody>
          <a:bodyPr/>
          <a:lstStyle/>
          <a:p>
            <a:pPr lvl="0" indent="0" marL="0">
              <a:buNone/>
            </a:pPr>
            <a:r>
              <a:rPr/>
              <a:t>Target specific file types using extension patterns: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"**/*.md"</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"**/*.{cs,ts,js}"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"**/*.instructions.md"</a:t>
            </a:r>
          </a:p>
          <a:p>
            <a:pPr lvl="0" indent="0" marL="0">
              <a:buNone/>
            </a:pPr>
            <a:r>
              <a:rPr b="1"/>
              <a:t>Most Common:</a:t>
            </a:r>
          </a:p>
          <a:p>
            <a:pPr lvl="0"/>
            <a:r>
              <a:rPr>
                <a:latin typeface="Courier"/>
              </a:rPr>
              <a:t>**/*.md</a:t>
            </a:r>
            <a:r>
              <a:rPr/>
              <a:t> - All Markdown files</a:t>
            </a:r>
          </a:p>
          <a:p>
            <a:pPr lvl="0"/>
            <a:r>
              <a:rPr>
                <a:latin typeface="Courier"/>
              </a:rPr>
              <a:t>**/*.{cs,ts,js,py}</a:t>
            </a:r>
            <a:r>
              <a:rPr/>
              <a:t> - Multiple programming languages</a:t>
            </a:r>
          </a:p>
          <a:p>
            <a:pPr lvl="0"/>
            <a:r>
              <a:rPr>
                <a:latin typeface="Courier"/>
              </a:rPr>
              <a:t>**/*.test.js</a:t>
            </a:r>
            <a:r>
              <a:rPr/>
              <a:t> - Test files</a:t>
            </a:r>
          </a:p>
          <a:p>
            <a:pPr lvl="0"/>
            <a:r>
              <a:rPr>
                <a:latin typeface="Courier"/>
              </a:rPr>
              <a:t>**/*.instructions.md</a:t>
            </a:r>
            <a:r>
              <a:rPr/>
              <a:t> - Instruction files</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Directory-Specific Patterns</a:t>
            </a:r>
          </a:p>
        </p:txBody>
      </p:sp>
      <p:sp>
        <p:nvSpPr>
          <p:cNvPr id="3" name="Content Placeholder 2"/>
          <p:cNvSpPr>
            <a:spLocks noGrp="1"/>
          </p:cNvSpPr>
          <p:nvPr>
            <p:ph idx="1"/>
          </p:nvPr>
        </p:nvSpPr>
        <p:spPr/>
        <p:txBody>
          <a:bodyPr/>
          <a:lstStyle/>
          <a:p>
            <a:pPr lvl="0" indent="0" marL="0">
              <a:buNone/>
            </a:pPr>
            <a:r>
              <a:rPr/>
              <a:t>Limit instructions to specific directories: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"src/Features/**/*.cs"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".github/instructions/**/*.md"</a:t>
            </a:r>
          </a:p>
          <a:p>
            <a:pPr lvl="0" indent="0" marL="0">
              <a:buNone/>
            </a:pPr>
            <a:r>
              <a:rPr b="1"/>
              <a:t>Benefits:</a:t>
            </a:r>
          </a:p>
          <a:p>
            <a:pPr lvl="0"/>
            <a:r>
              <a:rPr/>
              <a:t>Isolate concerns (slides vs code vs docs)</a:t>
            </a:r>
          </a:p>
          <a:p>
            <a:pPr lvl="0"/>
            <a:r>
              <a:rPr/>
              <a:t>Different rules for different project areas</a:t>
            </a:r>
          </a:p>
          <a:p>
            <a:pPr lvl="0"/>
            <a:r>
              <a:rPr/>
              <a:t>Clearer instruction purpose</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 Glob Pattern Syntax</a:t>
            </a:r>
          </a:p>
        </p:txBody>
      </p:sp>
      <p:sp>
        <p:nvSpPr>
          <p:cNvPr id="4" name="Text Placeholder 3"/>
          <p:cNvSpPr>
            <a:spLocks noGrp="1"/>
          </p:cNvSpPr>
          <p:nvPr>
            <p:ph idx="2" sz="half" type="body"/>
          </p:nvPr>
        </p:nvSpPr>
        <p:spPr/>
        <p:txBody>
          <a:bodyPr/>
          <a:lstStyle/>
          <a:p>
            <a:pPr lvl="0" indent="0" marL="0">
              <a:buNone/>
            </a:pPr>
            <a:r>
              <a:rPr/>
              <a:t>Understanding the building blocks: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Pattern</a:t>
                      </a:r>
                    </a:p>
                  </a:txBody>
                  <a:tcPr/>
                </a:tc>
                <a:tc>
                  <a:txBody>
                    <a:bodyPr/>
                    <a:lstStyle/>
                    <a:p>
                      <a:pPr lvl="0" indent="0" marL="0">
                        <a:buNone/>
                      </a:pPr>
                      <a:r>
                        <a:rPr/>
                        <a:t>Meaning</a:t>
                      </a:r>
                    </a:p>
                  </a:txBody>
                  <a:tcPr/>
                </a:tc>
                <a:tc>
                  <a:txBody>
                    <a:bodyPr/>
                    <a:lstStyle/>
                    <a:p>
                      <a:pPr lvl="0" indent="0" marL="0">
                        <a:buNone/>
                      </a:pPr>
                      <a:r>
                        <a:rPr/>
                        <a:t>Example</a:t>
                      </a:r>
                    </a:p>
                  </a:txBody>
                  <a:tcPr/>
                </a:tc>
              </a:tr>
              <a:tr h="0">
                <a:tc>
                  <a:txBody>
                    <a:bodyPr/>
                    <a:lstStyle/>
                    <a:p>
                      <a:pPr lvl="0" indent="0" marL="0">
                        <a:buNone/>
                      </a:pPr>
                      <a:r>
                        <a:rPr>
                          <a:latin typeface="Courier"/>
                        </a:rPr>
                        <a:t>*</a:t>
                      </a:r>
                    </a:p>
                  </a:txBody>
                </a:tc>
                <a:tc>
                  <a:txBody>
                    <a:bodyPr/>
                    <a:lstStyle/>
                    <a:p>
                      <a:pPr lvl="0" indent="0" marL="0">
                        <a:buNone/>
                      </a:pPr>
                      <a:r>
                        <a:rPr/>
                        <a:t>Any characters (not </a:t>
                      </a:r>
                      <a:r>
                        <a:rPr>
                          <a:latin typeface="Courier"/>
                        </a:rPr>
                        <a:t>/</a:t>
                      </a:r>
                      <a:r>
                        <a:rPr/>
                        <a:t>)</a:t>
                      </a:r>
                    </a:p>
                  </a:txBody>
                </a:tc>
                <a:tc>
                  <a:txBody>
                    <a:bodyPr/>
                    <a:lstStyle/>
                    <a:p>
                      <a:pPr lvl="0" indent="0" marL="0">
                        <a:buNone/>
                      </a:pPr>
                      <a:r>
                        <a:rPr>
                          <a:latin typeface="Courier"/>
                        </a:rPr>
                        <a:t>*.md</a:t>
                      </a:r>
                      <a:r>
                        <a:rPr/>
                        <a:t> → </a:t>
                      </a:r>
                      <a:r>
                        <a:rPr>
                          <a:latin typeface="Courier"/>
                        </a:rPr>
                        <a:t>README.md</a:t>
                      </a:r>
                    </a:p>
                  </a:txBody>
                </a:tc>
              </a:tr>
              <a:tr h="0">
                <a:tc>
                  <a:txBody>
                    <a:bodyPr/>
                    <a:lstStyle/>
                    <a:p>
                      <a:pPr lvl="0" indent="0" marL="0">
                        <a:buNone/>
                      </a:pPr>
                      <a:r>
                        <a:rPr>
                          <a:latin typeface="Courier"/>
                        </a:rPr>
                        <a:t>**</a:t>
                      </a:r>
                    </a:p>
                  </a:txBody>
                </a:tc>
                <a:tc>
                  <a:txBody>
                    <a:bodyPr/>
                    <a:lstStyle/>
                    <a:p>
                      <a:pPr lvl="0" indent="0" marL="0">
                        <a:buNone/>
                      </a:pPr>
                      <a:r>
                        <a:rPr/>
                        <a:t>Zero or more directories</a:t>
                      </a:r>
                    </a:p>
                  </a:txBody>
                </a:tc>
                <a:tc>
                  <a:txBody>
                    <a:bodyPr/>
                    <a:lstStyle/>
                    <a:p>
                      <a:pPr lvl="0" indent="0" marL="0">
                        <a:buNone/>
                      </a:pPr>
                      <a:r>
                        <a:rPr>
                          <a:latin typeface="Courier"/>
                        </a:rPr>
                        <a:t>**/*.md</a:t>
                      </a:r>
                      <a:r>
                        <a:rPr/>
                        <a:t> → </a:t>
                      </a:r>
                      <a:r>
                        <a:rPr>
                          <a:latin typeface="Courier"/>
                        </a:rPr>
                        <a:t>docs/guide.md</a:t>
                      </a:r>
                    </a:p>
                  </a:txBody>
                </a:tc>
              </a:tr>
              <a:tr h="0">
                <a:tc>
                  <a:txBody>
                    <a:bodyPr/>
                    <a:lstStyle/>
                    <a:p>
                      <a:pPr lvl="0" indent="0" marL="0">
                        <a:buNone/>
                      </a:pPr>
                      <a:r>
                        <a:rPr>
                          <a:latin typeface="Courier"/>
                        </a:rPr>
                        <a:t>?</a:t>
                      </a:r>
                    </a:p>
                  </a:txBody>
                </a:tc>
                <a:tc>
                  <a:txBody>
                    <a:bodyPr/>
                    <a:lstStyle/>
                    <a:p>
                      <a:pPr lvl="0" indent="0" marL="0">
                        <a:buNone/>
                      </a:pPr>
                      <a:r>
                        <a:rPr/>
                        <a:t>Single character</a:t>
                      </a:r>
                    </a:p>
                  </a:txBody>
                </a:tc>
                <a:tc>
                  <a:txBody>
                    <a:bodyPr/>
                    <a:lstStyle/>
                    <a:p>
                      <a:pPr lvl="0" indent="0" marL="0">
                        <a:buNone/>
                      </a:pPr>
                      <a:r>
                        <a:rPr>
                          <a:latin typeface="Courier"/>
                        </a:rPr>
                        <a:t>file?.md</a:t>
                      </a:r>
                      <a:r>
                        <a:rPr/>
                        <a:t> → </a:t>
                      </a:r>
                      <a:r>
                        <a:rPr>
                          <a:latin typeface="Courier"/>
                        </a:rPr>
                        <a:t>file1.md</a:t>
                      </a:r>
                    </a:p>
                  </a:txBody>
                </a:tc>
              </a:tr>
              <a:tr h="0">
                <a:tc>
                  <a:txBody>
                    <a:bodyPr/>
                    <a:lstStyle/>
                    <a:p>
                      <a:pPr lvl="0" indent="0" marL="0">
                        <a:buNone/>
                      </a:pPr>
                      <a:r>
                        <a:rPr>
                          <a:latin typeface="Courier"/>
                        </a:rPr>
                        <a:t>[abc]</a:t>
                      </a:r>
                    </a:p>
                  </a:txBody>
                </a:tc>
                <a:tc>
                  <a:txBody>
                    <a:bodyPr/>
                    <a:lstStyle/>
                    <a:p>
                      <a:pPr lvl="0" indent="0" marL="0">
                        <a:buNone/>
                      </a:pPr>
                      <a:r>
                        <a:rPr/>
                        <a:t>Character set</a:t>
                      </a:r>
                    </a:p>
                  </a:txBody>
                </a:tc>
                <a:tc>
                  <a:txBody>
                    <a:bodyPr/>
                    <a:lstStyle/>
                    <a:p>
                      <a:pPr lvl="0" indent="0" marL="0">
                        <a:buNone/>
                      </a:pPr>
                      <a:r>
                        <a:rPr>
                          <a:latin typeface="Courier"/>
                        </a:rPr>
                        <a:t>[abc].md</a:t>
                      </a:r>
                      <a:r>
                        <a:rPr/>
                        <a:t> → </a:t>
                      </a:r>
                      <a:r>
                        <a:rPr>
                          <a:latin typeface="Courier"/>
                        </a:rPr>
                        <a:t>a.md</a:t>
                      </a:r>
                    </a:p>
                  </a:txBody>
                </a:tc>
              </a:tr>
              <a:tr h="0">
                <a:tc>
                  <a:txBody>
                    <a:bodyPr/>
                    <a:lstStyle/>
                    <a:p>
                      <a:pPr lvl="0" indent="0" marL="0">
                        <a:buNone/>
                      </a:pPr>
                      <a:r>
                        <a:rPr>
                          <a:latin typeface="Courier"/>
                        </a:rPr>
                        <a:t>[a-z]</a:t>
                      </a:r>
                    </a:p>
                  </a:txBody>
                </a:tc>
                <a:tc>
                  <a:txBody>
                    <a:bodyPr/>
                    <a:lstStyle/>
                    <a:p>
                      <a:pPr lvl="0" indent="0" marL="0">
                        <a:buNone/>
                      </a:pPr>
                      <a:r>
                        <a:rPr/>
                        <a:t>Character range</a:t>
                      </a:r>
                    </a:p>
                  </a:txBody>
                </a:tc>
                <a:tc>
                  <a:txBody>
                    <a:bodyPr/>
                    <a:lstStyle/>
                    <a:p>
                      <a:pPr lvl="0" indent="0" marL="0">
                        <a:buNone/>
                      </a:pPr>
                      <a:r>
                        <a:rPr>
                          <a:latin typeface="Courier"/>
                        </a:rPr>
                        <a:t>[a-z].md</a:t>
                      </a:r>
                      <a:r>
                        <a:rPr/>
                        <a:t> → </a:t>
                      </a:r>
                      <a:r>
                        <a:rPr>
                          <a:latin typeface="Courier"/>
                        </a:rPr>
                        <a:t>x.md</a:t>
                      </a:r>
                    </a:p>
                  </a:txBody>
                </a:tc>
              </a:tr>
              <a:tr h="0">
                <a:tc>
                  <a:txBody>
                    <a:bodyPr/>
                    <a:lstStyle/>
                    <a:p>
                      <a:pPr lvl="0" indent="0" marL="0">
                        <a:buNone/>
                      </a:pPr>
                      <a:r>
                        <a:rPr>
                          <a:latin typeface="Courier"/>
                        </a:rPr>
                        <a:t>{a,b}</a:t>
                      </a:r>
                    </a:p>
                  </a:txBody>
                </a:tc>
                <a:tc>
                  <a:txBody>
                    <a:bodyPr/>
                    <a:lstStyle/>
                    <a:p>
                      <a:pPr lvl="0" indent="0" marL="0">
                        <a:buNone/>
                      </a:pPr>
                      <a:r>
                        <a:rPr/>
                        <a:t>Alternatives</a:t>
                      </a:r>
                    </a:p>
                  </a:txBody>
                </a:tc>
                <a:tc>
                  <a:txBody>
                    <a:bodyPr/>
                    <a:lstStyle/>
                    <a:p>
                      <a:pPr lvl="0" indent="0" marL="0">
                        <a:buNone/>
                      </a:pPr>
                      <a:r>
                        <a:rPr>
                          <a:latin typeface="Courier"/>
                        </a:rPr>
                        <a:t>*.{js,ts}</a:t>
                      </a:r>
                      <a:r>
                        <a:rPr/>
                        <a:t> → </a:t>
                      </a:r>
                      <a:r>
                        <a:rPr>
                          <a:latin typeface="Courier"/>
                        </a:rPr>
                        <a:t>app.ts</a:t>
                      </a:r>
                    </a:p>
                  </a:txBody>
                </a:tc>
              </a:tr>
            </a:tbl>
          </a:graphicData>
        </a:graphic>
      </p:graphicFrame>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Real-World Examples</a:t>
            </a:r>
          </a:p>
        </p:txBody>
      </p:sp>
      <p:sp>
        <p:nvSpPr>
          <p:cNvPr id="3" name="Content Placeholder 2"/>
          <p:cNvSpPr>
            <a:spLocks noGrp="1"/>
          </p:cNvSpPr>
          <p:nvPr>
            <p:ph idx="1"/>
          </p:nvPr>
        </p:nvSpPr>
        <p:spPr/>
        <p:txBody>
          <a:bodyPr/>
          <a:lstStyle/>
          <a:p>
            <a:pPr lvl="0" indent="0" marL="0">
              <a:buNone/>
            </a:pPr>
            <a:r>
              <a:rPr/>
              <a:t>From this repository’s instruction files: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"**/*.{cs,ts,js,py,java,go,rb}"</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"**/*.{md,txt}"</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"**/*.prompt.md"</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Best Practices</a:t>
            </a:r>
          </a:p>
        </p:txBody>
      </p:sp>
      <p:sp>
        <p:nvSpPr>
          <p:cNvPr id="3" name="Content Placeholder 2"/>
          <p:cNvSpPr>
            <a:spLocks noGrp="1"/>
          </p:cNvSpPr>
          <p:nvPr>
            <p:ph idx="1"/>
          </p:nvPr>
        </p:nvSpPr>
        <p:spPr/>
        <p:txBody>
          <a:bodyPr/>
          <a:lstStyle/>
          <a:p>
            <a:pPr lvl="0" indent="0" marL="0">
              <a:buNone/>
            </a:pPr>
            <a:r>
              <a:rPr b="1"/>
              <a:t>1. Be Specific When Possible</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"**/*.instructions.md"</a:t>
            </a:r>
            <a:b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a:t>
            </a:r>
          </a:p>
          <a:p>
            <a:pPr lvl="0" indent="0" marL="0">
              <a:buNone/>
            </a:pPr>
            <a:r>
              <a:rPr b="1"/>
              <a:t>2. Use Brace Expansion for Multiple Extensions</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"**/*.{cs,ts,js}"</a:t>
            </a:r>
            <a:br/>
            <a:r>
              <a:rPr>
                <a:solidFill>
                  <a:srgbClr val="7D9029"/>
                </a:solidFill>
                <a:latin typeface="Courier"/>
              </a:rPr>
              <a:t>❌ Three separate instruction files</a:t>
            </a:r>
          </a:p>
          <a:p>
            <a:pPr lvl="0" indent="0" marL="0">
              <a:buNone/>
            </a:pPr>
            <a:r>
              <a:rPr b="1"/>
              <a:t>3. Match Scope to Purpose</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"src/**/*.{cs,ts,js}"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Common Pitfalls</a:t>
            </a:r>
          </a:p>
        </p:txBody>
      </p:sp>
      <p:sp>
        <p:nvSpPr>
          <p:cNvPr id="3" name="Content Placeholder 2"/>
          <p:cNvSpPr>
            <a:spLocks noGrp="1"/>
          </p:cNvSpPr>
          <p:nvPr>
            <p:ph idx="1"/>
          </p:nvPr>
        </p:nvSpPr>
        <p:spPr/>
        <p:txBody>
          <a:bodyPr/>
          <a:lstStyle/>
          <a:p>
            <a:pPr lvl="0" indent="0" marL="0">
              <a:buNone/>
            </a:pPr>
            <a:r>
              <a:rPr b="1"/>
              <a:t>Pitfall 1: Too Broad</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a:t>
            </a:r>
            <a:r>
              <a:rPr i="1">
                <a:solidFill>
                  <a:srgbClr val="60A0B0"/>
                </a:solidFill>
                <a:latin typeface="Courier"/>
              </a:rPr>
              <a:t> # For slide formatting</a:t>
            </a:r>
            <a:b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"Slides/**"</a:t>
            </a:r>
          </a:p>
          <a:p>
            <a:pPr lvl="0" indent="0" marL="0">
              <a:buNone/>
            </a:pPr>
            <a:r>
              <a:rPr b="1"/>
              <a:t>Pitfall 2: Too Narrow</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"src/Features/UserManagement/**/*.cs"</a:t>
            </a:r>
            <a:b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"src/Features/**/*.cs"</a:t>
            </a:r>
          </a:p>
          <a:p>
            <a:pPr lvl="0" indent="0" marL="0">
              <a:buNone/>
            </a:pPr>
            <a:r>
              <a:rPr b="1"/>
              <a:t>Pitfall 3: Overlapping Instructions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a:t>
            </a:r>
            <a:r>
              <a:rPr i="1">
                <a:solidFill>
                  <a:srgbClr val="60A0B0"/>
                </a:solidFill>
                <a:latin typeface="Courier"/>
              </a:rPr>
              <a:t>  # All C# files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"src/**/*.cs"</a:t>
            </a:r>
            <a:r>
              <a:rPr i="1">
                <a:solidFill>
                  <a:srgbClr val="60A0B0"/>
                </a:solidFill>
                <a:latin typeface="Courier"/>
              </a:rPr>
              <a:t>  # C# files in src</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Testing Your Patterns</a:t>
            </a:r>
          </a:p>
        </p:txBody>
      </p:sp>
      <p:sp>
        <p:nvSpPr>
          <p:cNvPr id="3" name="Content Placeholder 2"/>
          <p:cNvSpPr>
            <a:spLocks noGrp="1"/>
          </p:cNvSpPr>
          <p:nvPr>
            <p:ph idx="1"/>
          </p:nvPr>
        </p:nvSpPr>
        <p:spPr/>
        <p:txBody>
          <a:bodyPr/>
          <a:lstStyle/>
          <a:p>
            <a:pPr lvl="0" indent="0" marL="0">
              <a:buNone/>
            </a:pPr>
            <a:r>
              <a:rPr b="1"/>
              <a:t>How to verify patterns work correctly:</a:t>
            </a:r>
          </a:p>
          <a:p>
            <a:pPr lvl="0" indent="-342900" marL="342900">
              <a:buAutoNum type="arabicPeriod"/>
            </a:pPr>
            <a:r>
              <a:rPr b="1"/>
              <a:t>Use file search to preview matches:</a:t>
            </a:r>
          </a:p>
          <a:p>
            <a:pPr lvl="0" indent="0">
              <a:buNone/>
            </a:pPr>
            <a:r>
              <a:rPr>
                <a:solidFill>
                  <a:srgbClr val="06287E"/>
                </a:solidFill>
                <a:latin typeface="Courier"/>
              </a:rPr>
              <a:t>Get-ChildItem</a:t>
            </a:r>
            <a:r>
              <a:rPr>
                <a:latin typeface="Courier"/>
              </a:rPr>
              <a:t> </a:t>
            </a:r>
            <a:r>
              <a:rPr>
                <a:solidFill>
                  <a:srgbClr val="666666"/>
                </a:solidFill>
                <a:latin typeface="Courier"/>
              </a:rPr>
              <a:t>-</a:t>
            </a:r>
            <a:r>
              <a:rPr>
                <a:latin typeface="Courier"/>
              </a:rPr>
              <a:t>Path </a:t>
            </a:r>
            <a:r>
              <a:rPr>
                <a:solidFill>
                  <a:srgbClr val="666666"/>
                </a:solidFill>
                <a:latin typeface="Courier"/>
              </a:rPr>
              <a:t>.</a:t>
            </a:r>
            <a:r>
              <a:rPr>
                <a:latin typeface="Courier"/>
              </a:rPr>
              <a:t> </a:t>
            </a:r>
            <a:r>
              <a:rPr>
                <a:solidFill>
                  <a:srgbClr val="666666"/>
                </a:solidFill>
                <a:latin typeface="Courier"/>
              </a:rPr>
              <a:t>-</a:t>
            </a:r>
            <a:r>
              <a:rPr>
                <a:latin typeface="Courier"/>
              </a:rPr>
              <a:t>Filter </a:t>
            </a:r>
            <a:r>
              <a:rPr>
                <a:solidFill>
                  <a:srgbClr val="4070A0"/>
                </a:solidFill>
                <a:latin typeface="Courier"/>
              </a:rPr>
              <a:t>"*.md"</a:t>
            </a:r>
            <a:r>
              <a:rPr>
                <a:latin typeface="Courier"/>
              </a:rPr>
              <a:t> </a:t>
            </a:r>
            <a:r>
              <a:rPr>
                <a:solidFill>
                  <a:srgbClr val="666666"/>
                </a:solidFill>
                <a:latin typeface="Courier"/>
              </a:rPr>
              <a:t>-</a:t>
            </a:r>
            <a:r>
              <a:rPr>
                <a:latin typeface="Courier"/>
              </a:rPr>
              <a:t>Recurse</a:t>
            </a:r>
            <a:br/>
            <a:br/>
            <a:r>
              <a:rPr>
                <a:latin typeface="Courier"/>
              </a:rPr>
              <a:t>find </a:t>
            </a:r>
            <a:r>
              <a:rPr>
                <a:solidFill>
                  <a:srgbClr val="666666"/>
                </a:solidFill>
                <a:latin typeface="Courier"/>
              </a:rPr>
              <a:t>.</a:t>
            </a:r>
            <a:r>
              <a:rPr>
                <a:latin typeface="Courier"/>
              </a:rPr>
              <a:t> </a:t>
            </a:r>
            <a:r>
              <a:rPr>
                <a:solidFill>
                  <a:srgbClr val="666666"/>
                </a:solidFill>
                <a:latin typeface="Courier"/>
              </a:rPr>
              <a:t>-</a:t>
            </a:r>
            <a:r>
              <a:rPr>
                <a:latin typeface="Courier"/>
              </a:rPr>
              <a:t>name </a:t>
            </a:r>
            <a:r>
              <a:rPr>
                <a:solidFill>
                  <a:srgbClr val="4070A0"/>
                </a:solidFill>
                <a:latin typeface="Courier"/>
              </a:rPr>
              <a:t>"*.md"</a:t>
            </a:r>
          </a:p>
          <a:p>
            <a:pPr lvl="0" indent="-342900" marL="342900">
              <a:buAutoNum startAt="2" type="arabicPeriod"/>
            </a:pPr>
            <a:r>
              <a:rPr b="1"/>
              <a:t>Online glob testers:</a:t>
            </a:r>
          </a:p>
          <a:p>
            <a:pPr lvl="0"/>
            <a:r>
              <a:rPr>
                <a:hlinkClick r:id="rId3"/>
              </a:rPr>
              <a:t>globster.xyz</a:t>
            </a:r>
          </a:p>
          <a:p>
            <a:pPr lvl="0"/>
            <a:r>
              <a:rPr/>
              <a:t>Test patterns before committing</a:t>
            </a:r>
          </a:p>
          <a:p>
            <a:pPr lvl="0" indent="-342900" marL="342900">
              <a:buAutoNum startAt="3" type="arabicPeriod"/>
            </a:pPr>
            <a:r>
              <a:rPr b="1"/>
              <a:t>Check Copilot behavior:</a:t>
            </a:r>
          </a:p>
          <a:p>
            <a:pPr lvl="0"/>
            <a:r>
              <a:rPr/>
              <a:t>Open a file that should match</a:t>
            </a:r>
          </a:p>
          <a:p>
            <a:pPr lvl="0"/>
            <a:r>
              <a:rPr/>
              <a:t>Verify instructions are being followed</a:t>
            </a:r>
          </a:p>
          <a:p>
            <a:pPr lvl="0"/>
            <a:r>
              <a:rPr/>
              <a:t>Check for unexpected behavior (might indicate wrong pattern)</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Pattern Matching Rules</a:t>
            </a:r>
          </a:p>
        </p:txBody>
      </p:sp>
      <p:sp>
        <p:nvSpPr>
          <p:cNvPr id="3" name="Content Placeholder 2"/>
          <p:cNvSpPr>
            <a:spLocks noGrp="1"/>
          </p:cNvSpPr>
          <p:nvPr>
            <p:ph idx="1"/>
          </p:nvPr>
        </p:nvSpPr>
        <p:spPr/>
        <p:txBody>
          <a:bodyPr/>
          <a:lstStyle/>
          <a:p>
            <a:pPr lvl="0" indent="0" marL="0">
              <a:buNone/>
            </a:pPr>
            <a:r>
              <a:rPr b="1"/>
              <a:t>Key Points to Remember:</a:t>
            </a:r>
          </a:p>
          <a:p>
            <a:pPr lvl="0"/>
            <a:r>
              <a:rPr/>
              <a:t>Patterns are evaluated when files are opened</a:t>
            </a:r>
          </a:p>
          <a:p>
            <a:pPr lvl="0"/>
            <a:r>
              <a:rPr/>
              <a:t>Multiple instruction files can match the same file</a:t>
            </a:r>
          </a:p>
          <a:p>
            <a:pPr lvl="0"/>
            <a:r>
              <a:rPr/>
              <a:t>More specific patterns take precedence (in terms of clarity, not override)</a:t>
            </a:r>
          </a:p>
          <a:p>
            <a:pPr lvl="0"/>
            <a:r>
              <a:rPr/>
              <a:t>Patterns are relative to repository root</a:t>
            </a:r>
          </a:p>
          <a:p>
            <a:pPr lvl="0"/>
            <a:r>
              <a:rPr/>
              <a:t>Case sensitivity depends on file system (Windows: no, Linux: yes)</a:t>
            </a:r>
          </a:p>
          <a:p>
            <a:pPr lvl="0" indent="0" marL="0">
              <a:buNone/>
            </a:pPr>
            <a:r>
              <a:rPr b="1"/>
              <a:t>When Copilot Evaluates Patterns:</a:t>
            </a:r>
          </a:p>
          <a:p>
            <a:pPr lvl="0" indent="-342900" marL="342900">
              <a:buAutoNum type="arabicPeriod"/>
            </a:pPr>
            <a:r>
              <a:rPr/>
              <a:t>File opened in editor → Check all instruction files</a:t>
            </a:r>
          </a:p>
          <a:p>
            <a:pPr lvl="0" indent="-342900" marL="342900">
              <a:buAutoNum type="arabicPeriod"/>
            </a:pPr>
            <a:r>
              <a:rPr/>
              <a:t>Load matching instructions into context</a:t>
            </a:r>
          </a:p>
          <a:p>
            <a:pPr lvl="0" indent="-342900" marL="342900">
              <a:buAutoNum type="arabicPeriod"/>
            </a:pPr>
            <a:r>
              <a:rPr/>
              <a:t>Apply rules during code generation</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Summary &amp; Best Practices</a:t>
            </a:r>
          </a:p>
        </p:txBody>
      </p:sp>
      <p:sp>
        <p:nvSpPr>
          <p:cNvPr id="3" name="Content Placeholder 2"/>
          <p:cNvSpPr>
            <a:spLocks noGrp="1"/>
          </p:cNvSpPr>
          <p:nvPr>
            <p:ph idx="1"/>
          </p:nvPr>
        </p:nvSpPr>
        <p:spPr/>
        <p:txBody>
          <a:bodyPr/>
          <a:lstStyle/>
          <a:p>
            <a:pPr lvl="0" indent="0" marL="0">
              <a:buNone/>
            </a:pPr>
            <a:r>
              <a:rPr b="1"/>
              <a:t>Essential Patterns:</a:t>
            </a:r>
          </a:p>
          <a:p>
            <a:pPr lvl="0"/>
            <a:r>
              <a:rPr>
                <a:latin typeface="Courier"/>
              </a:rPr>
              <a:t>**/*</a:t>
            </a:r>
            <a:r>
              <a:rPr/>
              <a:t> or </a:t>
            </a:r>
            <a:r>
              <a:rPr>
                <a:latin typeface="Courier"/>
              </a:rPr>
              <a:t>**</a:t>
            </a:r>
            <a:r>
              <a:rPr/>
              <a:t> - Universal (use sparingly)</a:t>
            </a:r>
          </a:p>
          <a:p>
            <a:pPr lvl="0"/>
            <a:r>
              <a:rPr>
                <a:latin typeface="Courier"/>
              </a:rPr>
              <a:t>**/*.{ext1,ext2}</a:t>
            </a:r>
            <a:r>
              <a:rPr/>
              <a:t> - Multiple file types</a:t>
            </a:r>
          </a:p>
          <a:p>
            <a:pPr lvl="0"/>
            <a:r>
              <a:rPr>
                <a:latin typeface="Courier"/>
              </a:rPr>
              <a:t>directory/**</a:t>
            </a:r>
            <a:r>
              <a:rPr/>
              <a:t> - Specific directory scope</a:t>
            </a:r>
          </a:p>
          <a:p>
            <a:pPr lvl="0"/>
            <a:r>
              <a:rPr>
                <a:latin typeface="Courier"/>
              </a:rPr>
              <a:t>**/*.specific.extension.md</a:t>
            </a:r>
            <a:r>
              <a:rPr/>
              <a:t> - Specialized files</a:t>
            </a:r>
          </a:p>
          <a:p>
            <a:pPr lvl="0" indent="0" marL="0">
              <a:buNone/>
            </a:pPr>
            <a:r>
              <a:rPr b="1"/>
              <a:t>Decision Tree:</a:t>
            </a:r>
          </a:p>
          <a:p>
            <a:pPr lvl="0" indent="-342900" marL="342900">
              <a:buAutoNum type="arabicPeriod"/>
            </a:pPr>
            <a:r>
              <a:rPr/>
              <a:t>Does this apply to ALL files? → Use </a:t>
            </a:r>
            <a:r>
              <a:rPr>
                <a:latin typeface="Courier"/>
              </a:rPr>
              <a:t>**/*</a:t>
            </a:r>
          </a:p>
          <a:p>
            <a:pPr lvl="0" indent="-342900" marL="342900">
              <a:buAutoNum type="arabicPeriod"/>
            </a:pPr>
            <a:r>
              <a:rPr/>
              <a:t>Does this apply to specific file types? → Use </a:t>
            </a:r>
            <a:r>
              <a:rPr>
                <a:latin typeface="Courier"/>
              </a:rPr>
              <a:t>**/*.{extensions}</a:t>
            </a:r>
          </a:p>
          <a:p>
            <a:pPr lvl="0" indent="-342900" marL="342900">
              <a:buAutoNum type="arabicPeriod"/>
            </a:pPr>
            <a:r>
              <a:rPr/>
              <a:t>Does this apply to a specific directory? → Use </a:t>
            </a:r>
            <a:r>
              <a:rPr>
                <a:latin typeface="Courier"/>
              </a:rPr>
              <a:t>directory/**</a:t>
            </a:r>
          </a:p>
          <a:p>
            <a:pPr lvl="0" indent="-342900" marL="342900">
              <a:buAutoNum type="arabicPeriod"/>
            </a:pPr>
            <a:r>
              <a:rPr/>
              <a:t>Does this apply to specific naming pattern? → Use </a:t>
            </a:r>
            <a:r>
              <a:rPr>
                <a:latin typeface="Courier"/>
              </a:rPr>
              <a:t>**/*.pattern.ext</a:t>
            </a:r>
          </a:p>
          <a:p>
            <a:pPr lvl="0" indent="0" marL="0">
              <a:buNone/>
            </a:pPr>
            <a:r>
              <a:rPr b="1"/>
              <a:t>Remember:</a:t>
            </a:r>
          </a:p>
          <a:p>
            <a:pPr lvl="0"/>
            <a:r>
              <a:rPr/>
              <a:t>✅ Be as specific as necessary, no more, no less</a:t>
            </a:r>
          </a:p>
          <a:p>
            <a:pPr lvl="0"/>
            <a:r>
              <a:rPr/>
              <a:t>✅ Test patterns before committing</a:t>
            </a:r>
          </a:p>
          <a:p>
            <a:pPr lvl="0"/>
            <a:r>
              <a:rPr/>
              <a:t>✅ Document why each pattern was chosen</a:t>
            </a:r>
          </a:p>
          <a:p>
            <a:pPr lvl="0"/>
            <a:r>
              <a:rPr/>
              <a:t>✅ Review patterns when instructions aren’t working</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Resources &amp; Next Steps</a:t>
            </a:r>
          </a:p>
        </p:txBody>
      </p:sp>
      <p:sp>
        <p:nvSpPr>
          <p:cNvPr id="3" name="Content Placeholder 2"/>
          <p:cNvSpPr>
            <a:spLocks noGrp="1"/>
          </p:cNvSpPr>
          <p:nvPr>
            <p:ph idx="1"/>
          </p:nvPr>
        </p:nvSpPr>
        <p:spPr/>
        <p:txBody>
          <a:bodyPr/>
          <a:lstStyle/>
          <a:p>
            <a:pPr lvl="0" indent="0" marL="0">
              <a:buNone/>
            </a:pPr>
            <a:r>
              <a:rPr b="1"/>
              <a:t>Documentation:</a:t>
            </a:r>
          </a:p>
          <a:p>
            <a:pPr lvl="0"/>
            <a:r>
              <a:rPr>
                <a:hlinkClick r:id="rId3"/>
              </a:rPr>
              <a:t>Glob Pattern Syntax Reference</a:t>
            </a:r>
          </a:p>
          <a:p>
            <a:pPr lvl="0"/>
            <a:r>
              <a:rPr/>
              <a:t>GitHub Copilot Instruction Files Documentation</a:t>
            </a:r>
          </a:p>
          <a:p>
            <a:pPr lvl="0"/>
            <a:r>
              <a:rPr/>
              <a:t>AI-Assisted Output Instructions</a:t>
            </a:r>
          </a:p>
          <a:p>
            <a:pPr lvl="0" indent="0" marL="0">
              <a:buNone/>
            </a:pPr>
            <a:r>
              <a:rPr b="1"/>
              <a:t>Practice Exercise:</a:t>
            </a:r>
            <a:r>
              <a:rPr/>
              <a:t> Create instruction files for:</a:t>
            </a:r>
          </a:p>
          <a:p>
            <a:pPr lvl="0" indent="-342900" marL="342900">
              <a:buAutoNum type="arabicPeriod"/>
            </a:pPr>
            <a:r>
              <a:rPr/>
              <a:t>CQRS architecture patterns (code only)</a:t>
            </a:r>
          </a:p>
          <a:p>
            <a:pPr lvl="0" indent="-342900" marL="342900">
              <a:buAutoNum type="arabicPeriod"/>
            </a:pPr>
            <a:r>
              <a:rPr/>
              <a:t>Mermaid diagram standards (markdown only)</a:t>
            </a:r>
          </a:p>
          <a:p>
            <a:pPr lvl="0" indent="-342900" marL="342900">
              <a:buAutoNum type="arabicPeriod"/>
            </a:pPr>
            <a:r>
              <a:rPr/>
              <a:t>Test naming conventions (test files only)</a:t>
            </a:r>
          </a:p>
          <a:p>
            <a:pPr lvl="0" indent="0" marL="0">
              <a:buNone/>
            </a:pPr>
            <a:r>
              <a:rPr b="1"/>
              <a:t>Questions?</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Thank You!</a:t>
            </a:r>
          </a:p>
        </p:txBody>
      </p:sp>
      <p:sp>
        <p:nvSpPr>
          <p:cNvPr id="3" name="Content Placeholder 2"/>
          <p:cNvSpPr>
            <a:spLocks noGrp="1"/>
          </p:cNvSpPr>
          <p:nvPr>
            <p:ph idx="1"/>
          </p:nvPr>
        </p:nvSpPr>
        <p:spPr/>
        <p:txBody>
          <a:bodyPr/>
          <a:lstStyle/>
          <a:p>
            <a:pPr lvl="0" indent="0" marL="0">
              <a:buNone/>
            </a:pPr>
            <a:r>
              <a:rPr b="1"/>
              <a:t>Questions? Feedback?</a:t>
            </a:r>
          </a:p>
          <a:p>
            <a:pPr lvl="0" indent="0" marL="0">
              <a:buNone/>
            </a:pPr>
            <a:r>
              <a:rPr/>
              <a:t>Connect with the AI-Assisted Software Development team</a:t>
            </a:r>
          </a:p>
          <a:p>
            <a:pPr lvl="0" indent="0" marL="0">
              <a:buNone/>
            </a:pPr>
            <a:r>
              <a:rPr/>
              <a:t>GitHub: </a:t>
            </a:r>
            <a:r>
              <a:rPr>
                <a:hlinkClick r:id="rId3"/>
              </a:rPr>
              <a:t>johnmillerATcodemag-com/AI-Assisted-Software-Development</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Core Instructions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Instruction File</a:t>
                      </a:r>
                    </a:p>
                  </a:txBody>
                  <a:tcPr/>
                </a:tc>
                <a:tc>
                  <a:txBody>
                    <a:bodyPr/>
                    <a:lstStyle/>
                    <a:p>
                      <a:pPr lvl="0" indent="0" marL="0">
                        <a:buNone/>
                      </a:pPr>
                      <a:r>
                        <a:rPr/>
                        <a:t>Purpose</a:t>
                      </a:r>
                    </a:p>
                  </a:txBody>
                  <a:tcPr/>
                </a:tc>
              </a:tr>
              <a:tr h="0">
                <a:tc>
                  <a:txBody>
                    <a:bodyPr/>
                    <a:lstStyle/>
                    <a:p>
                      <a:pPr lvl="0" indent="0" marL="0">
                        <a:buNone/>
                      </a:pPr>
                      <a:r>
                        <a:rPr/>
                        <a:t>ai-assisted-output.instructions.md</a:t>
                      </a:r>
                    </a:p>
                  </a:txBody>
                </a:tc>
                <a:tc>
                  <a:txBody>
                    <a:bodyPr/>
                    <a:lstStyle/>
                    <a:p>
                      <a:pPr lvl="0" indent="0" marL="0">
                        <a:buNone/>
                      </a:pPr>
                      <a:r>
                        <a:rPr/>
                        <a:t>Guidance for AI generated artifacts</a:t>
                      </a:r>
                    </a:p>
                  </a:txBody>
                </a:tc>
              </a:tr>
              <a:tr h="0">
                <a:tc>
                  <a:txBody>
                    <a:bodyPr/>
                    <a:lstStyle/>
                    <a:p>
                      <a:pPr lvl="0" indent="0" marL="0">
                        <a:buNone/>
                      </a:pPr>
                      <a:r>
                        <a:rPr/>
                        <a:t>chatmode-file.instructions.md</a:t>
                      </a:r>
                    </a:p>
                  </a:txBody>
                </a:tc>
                <a:tc>
                  <a:txBody>
                    <a:bodyPr/>
                    <a:lstStyle/>
                    <a:p>
                      <a:pPr lvl="0" indent="0" marL="0">
                        <a:buNone/>
                      </a:pPr>
                      <a:r>
                        <a:rPr/>
                        <a:t>Guidance for generating chat modes</a:t>
                      </a:r>
                    </a:p>
                  </a:txBody>
                </a:tc>
              </a:tr>
              <a:tr h="0">
                <a:tc>
                  <a:txBody>
                    <a:bodyPr/>
                    <a:lstStyle/>
                    <a:p>
                      <a:pPr lvl="0" indent="0" marL="0">
                        <a:buNone/>
                      </a:pPr>
                      <a:r>
                        <a:rPr/>
                        <a:t>instruction-files.instructions.md</a:t>
                      </a:r>
                    </a:p>
                  </a:txBody>
                </a:tc>
                <a:tc>
                  <a:txBody>
                    <a:bodyPr/>
                    <a:lstStyle/>
                    <a:p>
                      <a:pPr lvl="0" indent="0" marL="0">
                        <a:buNone/>
                      </a:pPr>
                      <a:r>
                        <a:rPr/>
                        <a:t>Guidance for generating instruction files</a:t>
                      </a:r>
                    </a:p>
                  </a:txBody>
                </a:tc>
              </a:tr>
              <a:tr h="0">
                <a:tc>
                  <a:txBody>
                    <a:bodyPr/>
                    <a:lstStyle/>
                    <a:p>
                      <a:pPr lvl="0" indent="0" marL="0">
                        <a:buNone/>
                      </a:pPr>
                      <a:r>
                        <a:rPr/>
                        <a:t>prompt-file.instructions.md</a:t>
                      </a:r>
                    </a:p>
                  </a:txBody>
                </a:tc>
                <a:tc>
                  <a:txBody>
                    <a:bodyPr/>
                    <a:lstStyle/>
                    <a:p>
                      <a:pPr lvl="0" indent="0" marL="0">
                        <a:buNone/>
                      </a:pPr>
                      <a:r>
                        <a:rPr/>
                        <a:t>Guidance for generating prompt files</a:t>
                      </a:r>
                    </a:p>
                  </a:txBody>
                </a:tc>
              </a:tr>
              <a:tr h="0">
                <a:tc>
                  <a:txBody>
                    <a:bodyPr/>
                    <a:lstStyle/>
                    <a:p>
                      <a:pPr lvl="0" indent="0" marL="0">
                        <a:buNone/>
                      </a:pPr>
                      <a:r>
                        <a:rPr/>
                        <a:t>instruction-prompt-files.instructions.md</a:t>
                      </a:r>
                    </a:p>
                  </a:txBody>
                </a:tc>
                <a:tc>
                  <a:txBody>
                    <a:bodyPr/>
                    <a:lstStyle/>
                    <a:p>
                      <a:pPr lvl="0" indent="0" marL="0">
                        <a:buNone/>
                      </a:pPr>
                      <a:r>
                        <a:rPr/>
                        <a:t>Guidance for generating prompts that generate instruction files</a:t>
                      </a:r>
                    </a:p>
                  </a:txBody>
                </a:tc>
              </a:tr>
            </a:tbl>
          </a:graphicData>
        </a:graphic>
      </p:graphicFrame>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5 - Managing Context</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Managing GitHub Copilot Effectively</a:t>
            </a:r>
          </a:p>
        </p:txBody>
      </p:sp>
      <p:sp>
        <p:nvSpPr>
          <p:cNvPr id="3" name="Content Placeholder 2"/>
          <p:cNvSpPr>
            <a:spLocks noGrp="1"/>
          </p:cNvSpPr>
          <p:nvPr>
            <p:ph idx="1"/>
          </p:nvPr>
        </p:nvSpPr>
        <p:spPr/>
        <p:txBody>
          <a:bodyPr/>
          <a:lstStyle/>
          <a:p>
            <a:pPr lvl="0" indent="0" marL="0">
              <a:buNone/>
            </a:pPr>
            <a:r>
              <a:rPr/>
              <a:t>Copilot is powerful, but not entirely autonomous Effective use requires structure, guardrails, and clear intent Treat Copilot as a developer whose output improves with guidance Your process determines the quality of its contributions</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Managed Junior Developer</a:t>
            </a:r>
          </a:p>
        </p:txBody>
      </p:sp>
      <p:sp>
        <p:nvSpPr>
          <p:cNvPr id="3" name="Content Placeholder 2"/>
          <p:cNvSpPr>
            <a:spLocks noGrp="1"/>
          </p:cNvSpPr>
          <p:nvPr>
            <p:ph idx="1"/>
          </p:nvPr>
        </p:nvSpPr>
        <p:spPr/>
        <p:txBody>
          <a:bodyPr/>
          <a:lstStyle/>
          <a:p>
            <a:pPr lvl="0" indent="0" marL="0">
              <a:buNone/>
            </a:pPr>
            <a:r>
              <a:rPr/>
              <a:t>Copilot is fast, eager, and sometimes confidently wrong Provide clear instructions, constraints, and examples Review everything – trust its speed, not its judgment Use iterative loops: instruct → generate → review → refine Give Copilot ownership of tasks, not architecture</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Understanding Context &amp; Tokens</a:t>
            </a:r>
          </a:p>
        </p:txBody>
      </p:sp>
      <p:sp>
        <p:nvSpPr>
          <p:cNvPr id="3" name="Content Placeholder 2"/>
          <p:cNvSpPr>
            <a:spLocks noGrp="1"/>
          </p:cNvSpPr>
          <p:nvPr>
            <p:ph idx="1"/>
          </p:nvPr>
        </p:nvSpPr>
        <p:spPr/>
        <p:txBody>
          <a:bodyPr/>
          <a:lstStyle/>
          <a:p>
            <a:pPr lvl="0" indent="0" marL="0">
              <a:buNone/>
            </a:pPr>
            <a:r>
              <a:rPr/>
              <a:t>Copilot can only “see” a limited amount of text at once Large files, long conversations, or complex repos can exceed context Important details may fall out of the window without you realizing Use these techniques to keep context focused: - Summaries - Instruction files - Modular prompts - Smaller working sets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Engineering Best Practices</a:t>
            </a:r>
          </a:p>
        </p:txBody>
      </p:sp>
      <p:sp>
        <p:nvSpPr>
          <p:cNvPr id="3" name="Content Placeholder 2"/>
          <p:cNvSpPr>
            <a:spLocks noGrp="1"/>
          </p:cNvSpPr>
          <p:nvPr>
            <p:ph idx="1"/>
          </p:nvPr>
        </p:nvSpPr>
        <p:spPr/>
        <p:txBody>
          <a:bodyPr/>
          <a:lstStyle/>
          <a:p>
            <a:pPr lvl="0" indent="0" marL="0">
              <a:buNone/>
            </a:pPr>
            <a:r>
              <a:rPr/>
              <a:t>Be explicit about goals, constraints, and success criteria Provide examples of the desired pattern or style Break large tasks into smaller, testable steps Use instruction files for stable rules and architectural boundaries Ask Copilot to explain its reasoning when correctness matters</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Selection Strategies</a:t>
            </a:r>
          </a:p>
        </p:txBody>
      </p:sp>
      <p:sp>
        <p:nvSpPr>
          <p:cNvPr id="3" name="Content Placeholder 2"/>
          <p:cNvSpPr>
            <a:spLocks noGrp="1"/>
          </p:cNvSpPr>
          <p:nvPr>
            <p:ph idx="1"/>
          </p:nvPr>
        </p:nvSpPr>
        <p:spPr/>
        <p:txBody>
          <a:bodyPr/>
          <a:lstStyle/>
          <a:p>
            <a:pPr lvl="0" indent="0" marL="0">
              <a:buNone/>
            </a:pPr>
            <a:r>
              <a:rPr/>
              <a:t>Different models excel at different tasks High‑end models (e.g., GPT‑4o, Claude Sonnet) are best for: - Architecture - Refactoring - Complex reasoning - Multi‑file changes Lightweight models are ideal for: - Boilerplate - Repetitive tasks - Quick iterations Match the model to the task, not the other way around</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6 - Copilot for Teams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2026-03-13T21:24:09Z</dcterms:created>
  <dcterms:modified xsi:type="dcterms:W3CDTF">2026-03-13T21:24:09Z</dcterms:modified>
</cp:coreProperties>
</file>

<file path=docProps/custom.xml><?xml version="1.0" encoding="utf-8"?>
<Properties xmlns="http://schemas.openxmlformats.org/officeDocument/2006/custom-properties" xmlns:vt="http://schemas.openxmlformats.org/officeDocument/2006/docPropsVTypes"/>
</file>