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notesMaster" Target="notesMasters/notesMaster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focuses on custom chat modes, comparison with instruction and prompt files, and practical integration for AI-assisted development. Exercises include chat mode creation and integration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Key points: Instruction files = persistent behavioral guidelines; Prompt files = executable task templates; Custom chat modes = specialized conversational context.</a:t>
            </a:r>
          </a:p>
          <a:p>
            <a:pPr lvl="0" indent="0" marL="0">
              <a:buNone/>
            </a:pPr>
          </a:p>
          <a:p>
            <a:pPr lvl="0"/>
            <a:r>
              <a:rPr/>
              <a:t>Discussed when to use each, how to combine them, and how to focus AI expertise.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Instruction files establish consistent working standards and constraints.</a:t>
            </a:r>
          </a:p>
          <a:p>
            <a:pPr lvl="0" indent="0" marL="0">
              <a:buNone/>
            </a:pPr>
          </a:p>
          <a:p>
            <a:pPr lvl="0"/>
            <a:r>
              <a:rPr/>
              <a:t>File patterns can be used to scope instructions.</a:t>
            </a:r>
          </a:p>
          <a:p>
            <a:pPr lvl="0" indent="0" marL="0">
              <a:buNone/>
            </a:pPr>
          </a:p>
          <a:p>
            <a:pPr lvl="0"/>
            <a:r>
              <a:rPr/>
              <a:t>Version control and regular testing are recommended.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Prompt files are single-focus, run on demand, and standardize complex workflows.</a:t>
            </a:r>
          </a:p>
          <a:p>
            <a:pPr lvl="0" indent="0" marL="0">
              <a:buNone/>
            </a:pPr>
          </a:p>
          <a:p>
            <a:pPr lvl="0"/>
            <a:r>
              <a:rPr/>
              <a:t>Examples: implement authentication, generate test suites, create deployment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Custom chat modes constrain AI to a specific set of skills or expertise.</a:t>
            </a:r>
          </a:p>
          <a:p>
            <a:pPr lvl="0" indent="0" marL="0">
              <a:buNone/>
            </a:pPr>
          </a:p>
          <a:p>
            <a:pPr lvl="0"/>
            <a:r>
              <a:rPr/>
              <a:t>Can be created by users to focus on particular problems or roles.</a:t>
            </a:r>
          </a:p>
          <a:p>
            <a:pPr lvl="0" indent="0" marL="0">
              <a:buNone/>
            </a:pPr>
          </a:p>
          <a:p>
            <a:pPr lvl="0"/>
            <a:r>
              <a:rPr/>
              <a:t>Not third-party models, but configurations of existing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Decision framework: Use instruction files for consistency, prompt files for structured tasks, chat modes for domain expertise.</a:t>
            </a:r>
          </a:p>
          <a:p>
            <a:pPr lvl="0" indent="0" marL="0">
              <a:buNone/>
            </a:pPr>
          </a:p>
          <a:p>
            <a:pPr lvl="0"/>
            <a:r>
              <a:rPr/>
              <a:t>Can be layered for comprehensive workflows.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/>
              <a:t>Example shows how all three approaches combine for robust, AI-assisted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Prompt: Create a custom chat mode for a specific domain or role with defined expertise and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Prompt: Analyze the integration of instruction files, prompt files, and custom chat modes in an AI-assisted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Encourage participants to share experiences, ask questions, and discuss how they will apply these concepts in their own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GitHub Copilot Training Day 5 Morning Session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Session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Overview of instruction files, prompt files, and custom chat modes</a:t>
            </a:r>
          </a:p>
          <a:p>
            <a:pPr lvl="0"/>
            <a:r>
              <a:rPr/>
              <a:t>Comparison of their purposes, scope, and use cases</a:t>
            </a:r>
          </a:p>
          <a:p>
            <a:pPr lvl="0"/>
            <a:r>
              <a:rPr/>
              <a:t>Decision framework for choosing between them</a:t>
            </a:r>
          </a:p>
          <a:p>
            <a:pPr lvl="0"/>
            <a:r>
              <a:rPr/>
              <a:t>Real-world integration examples</a:t>
            </a:r>
          </a:p>
          <a:p>
            <a:pPr lvl="0"/>
            <a:r>
              <a:rPr/>
              <a:t>Q&amp;A on chat mode expertise and implementation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Instruction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Define persistent AI behavior and standards</a:t>
            </a:r>
          </a:p>
          <a:p>
            <a:pPr lvl="0"/>
            <a:r>
              <a:rPr/>
              <a:t>Applied repository-wide or to specific contexts</a:t>
            </a:r>
          </a:p>
          <a:p>
            <a:pPr lvl="0"/>
            <a:r>
              <a:rPr/>
              <a:t>Used for coding standards, security policies, quality gates</a:t>
            </a:r>
          </a:p>
          <a:p>
            <a:pPr lvl="0"/>
            <a:r>
              <a:rPr/>
              <a:t>Not task-specific, but set the rules for all AI interactions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Prompt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Structured templates for repeatable, specific tasks</a:t>
            </a:r>
          </a:p>
          <a:p>
            <a:pPr lvl="0"/>
            <a:r>
              <a:rPr/>
              <a:t>Contain detailed instructions for objectives</a:t>
            </a:r>
          </a:p>
          <a:p>
            <a:pPr lvl="0"/>
            <a:r>
              <a:rPr/>
              <a:t>Run on demand for code generation, documentation, reviews, audits</a:t>
            </a:r>
          </a:p>
          <a:p>
            <a:pPr lvl="0"/>
            <a:r>
              <a:rPr/>
              <a:t>High reusability for task templates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Custom Chat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Pre-configured AI personas for specific domains or roles</a:t>
            </a:r>
          </a:p>
          <a:p>
            <a:pPr lvl="0"/>
            <a:r>
              <a:rPr/>
              <a:t>Provide contextual expertise and focused knowledge</a:t>
            </a:r>
          </a:p>
          <a:p>
            <a:pPr lvl="0"/>
            <a:r>
              <a:rPr/>
              <a:t>Used for domain expertise, role planning, educational conversations</a:t>
            </a:r>
          </a:p>
          <a:p>
            <a:pPr lvl="0"/>
            <a:r>
              <a:rPr/>
              <a:t>Medium reusability, rich contextual knowledge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Comparison Matrix &amp; Decision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Instruction files: persistent, repo-wide, simple rules</a:t>
            </a:r>
          </a:p>
          <a:p>
            <a:pPr lvl="0"/>
            <a:r>
              <a:rPr/>
              <a:t>Prompt files: task-specific, on-demand, detailed procedures</a:t>
            </a:r>
          </a:p>
          <a:p>
            <a:pPr lvl="0"/>
            <a:r>
              <a:rPr/>
              <a:t>Custom chat modes: session-based, role/domain-specific, rich context</a:t>
            </a:r>
          </a:p>
          <a:p>
            <a:pPr lvl="0"/>
            <a:r>
              <a:rPr/>
              <a:t>Use instruction files for standards, prompt files for repeatable tasks, chat modes for specialized expertise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Integration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Implementing user authentication:</a:t>
            </a:r>
          </a:p>
          <a:p>
            <a:pPr lvl="1"/>
            <a:r>
              <a:rPr/>
              <a:t>Instruction files: coding/testing/documentation standards</a:t>
            </a:r>
          </a:p>
          <a:p>
            <a:pPr lvl="1"/>
            <a:r>
              <a:rPr/>
              <a:t>Prompt file: step-by-step OAuth2 implementation</a:t>
            </a:r>
          </a:p>
          <a:p>
            <a:pPr lvl="1"/>
            <a:r>
              <a:rPr/>
              <a:t>Custom chat mode: security architect expertise</a:t>
            </a:r>
          </a:p>
          <a:p>
            <a:pPr lvl="0"/>
            <a:r>
              <a:rPr/>
              <a:t>Result: Specialized expert using standardized processes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Exercise: Create a Custom Chat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Duration:</a:t>
            </a:r>
            <a:r>
              <a:rPr/>
              <a:t> 20 minutes</a:t>
            </a:r>
          </a:p>
          <a:p>
            <a:pPr lvl="0" indent="0" marL="0">
              <a:buNone/>
            </a:pPr>
            <a:r>
              <a:rPr b="1"/>
              <a:t>Objectives:</a:t>
            </a:r>
          </a:p>
          <a:p>
            <a:pPr lvl="0"/>
            <a:r>
              <a:rPr/>
              <a:t>Design a custom chat mode for a specific domain or role</a:t>
            </a:r>
          </a:p>
          <a:p>
            <a:pPr lvl="0"/>
            <a:r>
              <a:rPr/>
              <a:t>Define the expertise and constraints for the persona</a:t>
            </a:r>
          </a:p>
          <a:p>
            <a:pPr lvl="0"/>
            <a:r>
              <a:rPr/>
              <a:t>Document the configuration and intended use</a:t>
            </a:r>
          </a:p>
          <a:p>
            <a:pPr lvl="0" indent="0" marL="0">
              <a:buNone/>
            </a:pPr>
            <a:r>
              <a:rPr b="1"/>
              <a:t>Activities:</a:t>
            </a:r>
          </a:p>
          <a:p>
            <a:pPr lvl="0" indent="-342900" marL="342900">
              <a:buAutoNum type="arabicPeriod"/>
            </a:pPr>
            <a:r>
              <a:rPr/>
              <a:t>Choose a domain or role (e.g., security architect, UX designer)</a:t>
            </a:r>
          </a:p>
          <a:p>
            <a:pPr lvl="0" indent="-342900" marL="342900">
              <a:buAutoNum type="arabicPeriod"/>
            </a:pPr>
            <a:r>
              <a:rPr/>
              <a:t>Specify the knowledge and constraints for the chat mode</a:t>
            </a:r>
          </a:p>
          <a:p>
            <a:pPr lvl="0" indent="-342900" marL="342900">
              <a:buAutoNum type="arabicPeriod"/>
            </a:pPr>
            <a:r>
              <a:rPr/>
              <a:t>Write a configuration or description for the chat mode</a:t>
            </a:r>
          </a:p>
          <a:p>
            <a:pPr lvl="0" indent="0" marL="0">
              <a:buNone/>
            </a:pPr>
            <a:r>
              <a:rPr b="1"/>
              <a:t>Success Criteria:</a:t>
            </a:r>
          </a:p>
          <a:p>
            <a:pPr lvl="0"/>
            <a:r>
              <a:rPr/>
              <a:t>Clear persona definition and expertise</a:t>
            </a:r>
          </a:p>
          <a:p>
            <a:pPr lvl="0"/>
            <a:r>
              <a:rPr/>
              <a:t>Documented configuration and use case</a:t>
            </a:r>
          </a:p>
          <a:p>
            <a:pPr lvl="0"/>
            <a:r>
              <a:rPr/>
              <a:t>Ready to use in an AI-assisted workflow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Exercise: Integration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Duration:</a:t>
            </a:r>
            <a:r>
              <a:rPr/>
              <a:t> 15 minutes</a:t>
            </a:r>
          </a:p>
          <a:p>
            <a:pPr lvl="0" indent="0" marL="0">
              <a:buNone/>
            </a:pPr>
            <a:r>
              <a:rPr b="1"/>
              <a:t>Objectives:</a:t>
            </a:r>
          </a:p>
          <a:p>
            <a:pPr lvl="0"/>
            <a:r>
              <a:rPr/>
              <a:t>Analyze how instruction files, prompt files, and chat modes interact</a:t>
            </a:r>
          </a:p>
          <a:p>
            <a:pPr lvl="0"/>
            <a:r>
              <a:rPr/>
              <a:t>Identify benefits and challenges of integration</a:t>
            </a:r>
          </a:p>
          <a:p>
            <a:pPr lvl="0"/>
            <a:r>
              <a:rPr/>
              <a:t>Propose improvements for workflow</a:t>
            </a:r>
          </a:p>
          <a:p>
            <a:pPr lvl="0" indent="0" marL="0">
              <a:buNone/>
            </a:pPr>
            <a:r>
              <a:rPr b="1"/>
              <a:t>Activities:</a:t>
            </a:r>
          </a:p>
          <a:p>
            <a:pPr lvl="0" indent="-342900" marL="342900">
              <a:buAutoNum type="arabicPeriod"/>
            </a:pPr>
            <a:r>
              <a:rPr/>
              <a:t>Review a sample project using all three approaches</a:t>
            </a:r>
          </a:p>
          <a:p>
            <a:pPr lvl="0" indent="-342900" marL="342900">
              <a:buAutoNum type="arabicPeriod"/>
            </a:pPr>
            <a:r>
              <a:rPr/>
              <a:t>Map out the flow and interactions</a:t>
            </a:r>
          </a:p>
          <a:p>
            <a:pPr lvl="0" indent="-342900" marL="342900">
              <a:buAutoNum type="arabicPeriod"/>
            </a:pPr>
            <a:r>
              <a:rPr/>
              <a:t>Suggest optimizations or clarifications</a:t>
            </a:r>
          </a:p>
          <a:p>
            <a:pPr lvl="0" indent="0" marL="0">
              <a:buNone/>
            </a:pPr>
            <a:r>
              <a:rPr b="1"/>
              <a:t>Success Criteria:</a:t>
            </a:r>
          </a:p>
          <a:p>
            <a:pPr lvl="0"/>
            <a:r>
              <a:rPr/>
              <a:t>Clear analysis of integration points</a:t>
            </a:r>
          </a:p>
          <a:p>
            <a:pPr lvl="0"/>
            <a:r>
              <a:rPr/>
              <a:t>Identified benefits and challenges</a:t>
            </a:r>
          </a:p>
          <a:p>
            <a:pPr lvl="0"/>
            <a:r>
              <a:rPr/>
              <a:t>Actionable suggestions for improvement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 and 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Open discussion on chat mode expertise</a:t>
            </a:r>
          </a:p>
          <a:p>
            <a:pPr lvl="0"/>
            <a:r>
              <a:rPr/>
              <a:t>Questions about implementation and best practices</a:t>
            </a:r>
          </a:p>
          <a:p>
            <a:pPr lvl="0"/>
            <a:r>
              <a:rPr/>
              <a:t>Course wrap-up and next steps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2026-02-05T19:08:18Z</dcterms:created>
  <dcterms:modified xsi:type="dcterms:W3CDTF">2026-02-05T19:08:18Z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