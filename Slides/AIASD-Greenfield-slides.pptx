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9"/>
  </p:notesMasterIdLst>
  <p:sldIdLst>
    <p:sldId id="256" r:id="rId2"/>
    <p:sldId id="257" r:id="rId3"/>
    <p:sldId id="260" r:id="rId4"/>
    <p:sldId id="261" r:id="rId5"/>
    <p:sldId id="271" r:id="rId6"/>
    <p:sldId id="321" r:id="rId7"/>
    <p:sldId id="273" r:id="rId8"/>
    <p:sldId id="274" r:id="rId9"/>
    <p:sldId id="275" r:id="rId10"/>
    <p:sldId id="262" r:id="rId11"/>
    <p:sldId id="265" r:id="rId12"/>
    <p:sldId id="266" r:id="rId13"/>
    <p:sldId id="267" r:id="rId14"/>
    <p:sldId id="268" r:id="rId15"/>
    <p:sldId id="269" r:id="rId16"/>
    <p:sldId id="270" r:id="rId17"/>
    <p:sldId id="320" r:id="rId18"/>
    <p:sldId id="319" r:id="rId19"/>
    <p:sldId id="318" r:id="rId20"/>
    <p:sldId id="312" r:id="rId21"/>
    <p:sldId id="313" r:id="rId22"/>
    <p:sldId id="279" r:id="rId23"/>
    <p:sldId id="276" r:id="rId24"/>
    <p:sldId id="277" r:id="rId25"/>
    <p:sldId id="278" r:id="rId26"/>
    <p:sldId id="302" r:id="rId27"/>
    <p:sldId id="303" r:id="rId28"/>
    <p:sldId id="305" r:id="rId29"/>
    <p:sldId id="306" r:id="rId30"/>
    <p:sldId id="308" r:id="rId31"/>
    <p:sldId id="309" r:id="rId32"/>
    <p:sldId id="310" r:id="rId33"/>
    <p:sldId id="314" r:id="rId34"/>
    <p:sldId id="315" r:id="rId35"/>
    <p:sldId id="316" r:id="rId36"/>
    <p:sldId id="317" r:id="rId37"/>
    <p:sldId id="272" r:id="rId3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A452CD8-C589-41EA-A40E-FAEE8007EAF1}">
          <p14:sldIdLst>
            <p14:sldId id="256"/>
            <p14:sldId id="257"/>
            <p14:sldId id="260"/>
            <p14:sldId id="261"/>
          </p14:sldIdLst>
        </p14:section>
        <p14:section name="Prep" id="{1E53FE23-1DED-4377-B212-2151D62CDEAC}">
          <p14:sldIdLst>
            <p14:sldId id="271"/>
            <p14:sldId id="321"/>
            <p14:sldId id="273"/>
            <p14:sldId id="274"/>
            <p14:sldId id="275"/>
          </p14:sldIdLst>
        </p14:section>
        <p14:section name="Requirements" id="{89BE5F03-6197-4245-83F9-03C9281CFB9D}">
          <p14:sldIdLst>
            <p14:sldId id="262"/>
            <p14:sldId id="265"/>
            <p14:sldId id="266"/>
            <p14:sldId id="267"/>
            <p14:sldId id="268"/>
            <p14:sldId id="269"/>
            <p14:sldId id="270"/>
            <p14:sldId id="320"/>
            <p14:sldId id="319"/>
            <p14:sldId id="318"/>
          </p14:sldIdLst>
        </p14:section>
        <p14:section name="Planning" id="{AB2A052B-29BF-4DFF-B5A8-F0EF7ED6E78D}">
          <p14:sldIdLst>
            <p14:sldId id="312"/>
            <p14:sldId id="313"/>
            <p14:sldId id="279"/>
          </p14:sldIdLst>
        </p14:section>
        <p14:section name="Intruction Prompts" id="{34D0664A-C2AE-4FF1-A91F-1D51C3F8EF48}">
          <p14:sldIdLst/>
        </p14:section>
        <p14:section name="Implementation Prompts" id="{B646777F-9DCE-4849-96D0-0EB34096FA54}">
          <p14:sldIdLst>
            <p14:sldId id="276"/>
          </p14:sldIdLst>
        </p14:section>
        <p14:section name="Implementation" id="{0AB4BB57-1B0C-4FD0-AB41-9167B8641526}">
          <p14:sldIdLst>
            <p14:sldId id="277"/>
          </p14:sldIdLst>
        </p14:section>
        <p14:section name="Conclusion" id="{88AE7165-2595-46F7-9D48-AB868C65F527}">
          <p14:sldIdLst>
            <p14:sldId id="278"/>
          </p14:sldIdLst>
        </p14:section>
        <p14:section name="Archive" id="{775D2C25-879D-4400-AE15-4D6CB802EAF0}">
          <p14:sldIdLst>
            <p14:sldId id="302"/>
            <p14:sldId id="303"/>
            <p14:sldId id="305"/>
            <p14:sldId id="306"/>
            <p14:sldId id="308"/>
            <p14:sldId id="309"/>
            <p14:sldId id="310"/>
            <p14:sldId id="314"/>
            <p14:sldId id="315"/>
            <p14:sldId id="316"/>
            <p14:sldId id="317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219" d="100"/>
          <a:sy n="219" d="100"/>
        </p:scale>
        <p:origin x="116" y="11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0362AA-CFA7-4186-9A4F-0CD2C5781A05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DFE04F2-C17A-42B4-BF3D-650381D65E68}">
      <dgm:prSet/>
      <dgm:spPr/>
      <dgm:t>
        <a:bodyPr/>
        <a:lstStyle/>
        <a:p>
          <a:pPr>
            <a:defRPr cap="all"/>
          </a:pPr>
          <a:r>
            <a:rPr lang="en-US"/>
            <a:t>Business rules</a:t>
          </a:r>
        </a:p>
      </dgm:t>
    </dgm:pt>
    <dgm:pt modelId="{4F751CFE-C861-4354-BA64-A742AB2D5291}" type="parTrans" cxnId="{4C53150A-0402-4A96-B712-D7B405984BDF}">
      <dgm:prSet/>
      <dgm:spPr/>
      <dgm:t>
        <a:bodyPr/>
        <a:lstStyle/>
        <a:p>
          <a:endParaRPr lang="en-US"/>
        </a:p>
      </dgm:t>
    </dgm:pt>
    <dgm:pt modelId="{3C6E9780-49A8-4ABF-94D8-67846F0AFA82}" type="sibTrans" cxnId="{4C53150A-0402-4A96-B712-D7B405984BDF}">
      <dgm:prSet/>
      <dgm:spPr/>
      <dgm:t>
        <a:bodyPr/>
        <a:lstStyle/>
        <a:p>
          <a:endParaRPr lang="en-US"/>
        </a:p>
      </dgm:t>
    </dgm:pt>
    <dgm:pt modelId="{A97BF373-6481-4DB2-B92A-52613CFB88EE}">
      <dgm:prSet/>
      <dgm:spPr/>
      <dgm:t>
        <a:bodyPr/>
        <a:lstStyle/>
        <a:p>
          <a:pPr>
            <a:defRPr cap="all"/>
          </a:pPr>
          <a:r>
            <a:rPr lang="en-US"/>
            <a:t>Workflows</a:t>
          </a:r>
        </a:p>
      </dgm:t>
    </dgm:pt>
    <dgm:pt modelId="{E9B53A6D-0DCE-4768-A6F6-B09F87456473}" type="parTrans" cxnId="{0DE53BBA-041C-4252-BCC0-168ABE28CE0B}">
      <dgm:prSet/>
      <dgm:spPr/>
      <dgm:t>
        <a:bodyPr/>
        <a:lstStyle/>
        <a:p>
          <a:endParaRPr lang="en-US"/>
        </a:p>
      </dgm:t>
    </dgm:pt>
    <dgm:pt modelId="{563FB25C-6502-4C56-9C7B-C6ACAD2DF57B}" type="sibTrans" cxnId="{0DE53BBA-041C-4252-BCC0-168ABE28CE0B}">
      <dgm:prSet/>
      <dgm:spPr/>
      <dgm:t>
        <a:bodyPr/>
        <a:lstStyle/>
        <a:p>
          <a:endParaRPr lang="en-US"/>
        </a:p>
      </dgm:t>
    </dgm:pt>
    <dgm:pt modelId="{BA497A9C-3708-4F2A-A8AF-F01D97784B2A}">
      <dgm:prSet/>
      <dgm:spPr/>
      <dgm:t>
        <a:bodyPr/>
        <a:lstStyle/>
        <a:p>
          <a:pPr>
            <a:defRPr cap="all"/>
          </a:pPr>
          <a:r>
            <a:rPr lang="en-US"/>
            <a:t>Tech stack</a:t>
          </a:r>
        </a:p>
      </dgm:t>
    </dgm:pt>
    <dgm:pt modelId="{43486A9B-431E-4C88-B82A-38B14D73C5D1}" type="parTrans" cxnId="{2EE0817C-67A0-478C-89A5-E7BB837A7BBC}">
      <dgm:prSet/>
      <dgm:spPr/>
      <dgm:t>
        <a:bodyPr/>
        <a:lstStyle/>
        <a:p>
          <a:endParaRPr lang="en-US"/>
        </a:p>
      </dgm:t>
    </dgm:pt>
    <dgm:pt modelId="{A4CCA0C5-0E40-4B00-A400-DD52B3DF7175}" type="sibTrans" cxnId="{2EE0817C-67A0-478C-89A5-E7BB837A7BBC}">
      <dgm:prSet/>
      <dgm:spPr/>
      <dgm:t>
        <a:bodyPr/>
        <a:lstStyle/>
        <a:p>
          <a:endParaRPr lang="en-US"/>
        </a:p>
      </dgm:t>
    </dgm:pt>
    <dgm:pt modelId="{C525FC69-D396-4EE7-BC31-9E2D01B1FAD0}">
      <dgm:prSet/>
      <dgm:spPr/>
      <dgm:t>
        <a:bodyPr/>
        <a:lstStyle/>
        <a:p>
          <a:pPr>
            <a:defRPr cap="all"/>
          </a:pPr>
          <a:r>
            <a:rPr lang="en-US"/>
            <a:t>Architecture</a:t>
          </a:r>
        </a:p>
      </dgm:t>
    </dgm:pt>
    <dgm:pt modelId="{31020E5F-8E7F-4B20-B074-3C59E7D97022}" type="parTrans" cxnId="{CFE851A4-4DE4-4EAA-ACE0-F849E501A028}">
      <dgm:prSet/>
      <dgm:spPr/>
      <dgm:t>
        <a:bodyPr/>
        <a:lstStyle/>
        <a:p>
          <a:endParaRPr lang="en-US"/>
        </a:p>
      </dgm:t>
    </dgm:pt>
    <dgm:pt modelId="{6CD7BE4E-C00C-4533-B247-E2A1B6E310E9}" type="sibTrans" cxnId="{CFE851A4-4DE4-4EAA-ACE0-F849E501A028}">
      <dgm:prSet/>
      <dgm:spPr/>
      <dgm:t>
        <a:bodyPr/>
        <a:lstStyle/>
        <a:p>
          <a:endParaRPr lang="en-US"/>
        </a:p>
      </dgm:t>
    </dgm:pt>
    <dgm:pt modelId="{BAB64876-436D-4396-AF89-9B27B2162A1E}" type="pres">
      <dgm:prSet presAssocID="{380362AA-CFA7-4186-9A4F-0CD2C5781A05}" presName="root" presStyleCnt="0">
        <dgm:presLayoutVars>
          <dgm:dir/>
          <dgm:resizeHandles val="exact"/>
        </dgm:presLayoutVars>
      </dgm:prSet>
      <dgm:spPr/>
    </dgm:pt>
    <dgm:pt modelId="{A0725C8A-DE4A-459A-932C-8A109844E47B}" type="pres">
      <dgm:prSet presAssocID="{CDFE04F2-C17A-42B4-BF3D-650381D65E68}" presName="compNode" presStyleCnt="0"/>
      <dgm:spPr/>
    </dgm:pt>
    <dgm:pt modelId="{061E6BC1-2272-4EAE-A900-EA40B9FB49E0}" type="pres">
      <dgm:prSet presAssocID="{CDFE04F2-C17A-42B4-BF3D-650381D65E68}" presName="iconBgRect" presStyleLbl="bgShp" presStyleIdx="0" presStyleCnt="4"/>
      <dgm:spPr/>
    </dgm:pt>
    <dgm:pt modelId="{3AA8AD76-CA92-45B3-81B9-8F109EE00ACC}" type="pres">
      <dgm:prSet presAssocID="{CDFE04F2-C17A-42B4-BF3D-650381D65E6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F6271CEF-2BB8-4E6B-8D2C-EB33B980B9CF}" type="pres">
      <dgm:prSet presAssocID="{CDFE04F2-C17A-42B4-BF3D-650381D65E68}" presName="spaceRect" presStyleCnt="0"/>
      <dgm:spPr/>
    </dgm:pt>
    <dgm:pt modelId="{CD4C2A3D-BCE8-43E0-936E-99290149579D}" type="pres">
      <dgm:prSet presAssocID="{CDFE04F2-C17A-42B4-BF3D-650381D65E68}" presName="textRect" presStyleLbl="revTx" presStyleIdx="0" presStyleCnt="4">
        <dgm:presLayoutVars>
          <dgm:chMax val="1"/>
          <dgm:chPref val="1"/>
        </dgm:presLayoutVars>
      </dgm:prSet>
      <dgm:spPr/>
    </dgm:pt>
    <dgm:pt modelId="{6FEB45C6-D07D-4BE5-9216-D7C7FC065FBC}" type="pres">
      <dgm:prSet presAssocID="{3C6E9780-49A8-4ABF-94D8-67846F0AFA82}" presName="sibTrans" presStyleCnt="0"/>
      <dgm:spPr/>
    </dgm:pt>
    <dgm:pt modelId="{784FD126-90FA-4AE2-988F-E0B4FE103542}" type="pres">
      <dgm:prSet presAssocID="{A97BF373-6481-4DB2-B92A-52613CFB88EE}" presName="compNode" presStyleCnt="0"/>
      <dgm:spPr/>
    </dgm:pt>
    <dgm:pt modelId="{3EE710BF-CC67-4416-AD16-5A4D27FD12B3}" type="pres">
      <dgm:prSet presAssocID="{A97BF373-6481-4DB2-B92A-52613CFB88EE}" presName="iconBgRect" presStyleLbl="bgShp" presStyleIdx="1" presStyleCnt="4"/>
      <dgm:spPr/>
    </dgm:pt>
    <dgm:pt modelId="{251F1EFE-2A6E-486A-9BB2-68EF27EC7BD8}" type="pres">
      <dgm:prSet presAssocID="{A97BF373-6481-4DB2-B92A-52613CFB88E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5E58E26-FBF9-4DAC-905D-955E5BC41C5C}" type="pres">
      <dgm:prSet presAssocID="{A97BF373-6481-4DB2-B92A-52613CFB88EE}" presName="spaceRect" presStyleCnt="0"/>
      <dgm:spPr/>
    </dgm:pt>
    <dgm:pt modelId="{375293F4-0CD5-45E6-AF10-1A11F04A47A0}" type="pres">
      <dgm:prSet presAssocID="{A97BF373-6481-4DB2-B92A-52613CFB88EE}" presName="textRect" presStyleLbl="revTx" presStyleIdx="1" presStyleCnt="4">
        <dgm:presLayoutVars>
          <dgm:chMax val="1"/>
          <dgm:chPref val="1"/>
        </dgm:presLayoutVars>
      </dgm:prSet>
      <dgm:spPr/>
    </dgm:pt>
    <dgm:pt modelId="{A94416DA-B6DA-4F09-A3AA-0A8C6889B4BD}" type="pres">
      <dgm:prSet presAssocID="{563FB25C-6502-4C56-9C7B-C6ACAD2DF57B}" presName="sibTrans" presStyleCnt="0"/>
      <dgm:spPr/>
    </dgm:pt>
    <dgm:pt modelId="{6756C7A9-5AC1-4A03-A9DB-4F6E01B82FBC}" type="pres">
      <dgm:prSet presAssocID="{BA497A9C-3708-4F2A-A8AF-F01D97784B2A}" presName="compNode" presStyleCnt="0"/>
      <dgm:spPr/>
    </dgm:pt>
    <dgm:pt modelId="{E4D0C971-3F1D-4F7F-AB15-11485DF395F5}" type="pres">
      <dgm:prSet presAssocID="{BA497A9C-3708-4F2A-A8AF-F01D97784B2A}" presName="iconBgRect" presStyleLbl="bgShp" presStyleIdx="2" presStyleCnt="4"/>
      <dgm:spPr/>
    </dgm:pt>
    <dgm:pt modelId="{E628593C-DCB4-477F-849E-DFF69A149C19}" type="pres">
      <dgm:prSet presAssocID="{BA497A9C-3708-4F2A-A8AF-F01D97784B2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4236339-67E2-400D-87BC-20A352803702}" type="pres">
      <dgm:prSet presAssocID="{BA497A9C-3708-4F2A-A8AF-F01D97784B2A}" presName="spaceRect" presStyleCnt="0"/>
      <dgm:spPr/>
    </dgm:pt>
    <dgm:pt modelId="{1C4A96BC-9451-4393-949A-BD2835A2D326}" type="pres">
      <dgm:prSet presAssocID="{BA497A9C-3708-4F2A-A8AF-F01D97784B2A}" presName="textRect" presStyleLbl="revTx" presStyleIdx="2" presStyleCnt="4">
        <dgm:presLayoutVars>
          <dgm:chMax val="1"/>
          <dgm:chPref val="1"/>
        </dgm:presLayoutVars>
      </dgm:prSet>
      <dgm:spPr/>
    </dgm:pt>
    <dgm:pt modelId="{8DE4A139-A523-4D50-8492-89E47E3B2A0F}" type="pres">
      <dgm:prSet presAssocID="{A4CCA0C5-0E40-4B00-A400-DD52B3DF7175}" presName="sibTrans" presStyleCnt="0"/>
      <dgm:spPr/>
    </dgm:pt>
    <dgm:pt modelId="{EE7AB31D-EE92-46F7-A6C7-08532D0666CD}" type="pres">
      <dgm:prSet presAssocID="{C525FC69-D396-4EE7-BC31-9E2D01B1FAD0}" presName="compNode" presStyleCnt="0"/>
      <dgm:spPr/>
    </dgm:pt>
    <dgm:pt modelId="{E60CAC09-0DC2-4CF2-9913-5C08B309E9E0}" type="pres">
      <dgm:prSet presAssocID="{C525FC69-D396-4EE7-BC31-9E2D01B1FAD0}" presName="iconBgRect" presStyleLbl="bgShp" presStyleIdx="3" presStyleCnt="4"/>
      <dgm:spPr/>
    </dgm:pt>
    <dgm:pt modelId="{B5B3BDAF-ABD3-42C9-BB67-17C4DAC38627}" type="pres">
      <dgm:prSet presAssocID="{C525FC69-D396-4EE7-BC31-9E2D01B1FAD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00EBB419-984A-4EA8-B9C1-B2F37ECF3FE0}" type="pres">
      <dgm:prSet presAssocID="{C525FC69-D396-4EE7-BC31-9E2D01B1FAD0}" presName="spaceRect" presStyleCnt="0"/>
      <dgm:spPr/>
    </dgm:pt>
    <dgm:pt modelId="{A00AAAE9-7EAC-4D2C-97DC-449D37B75628}" type="pres">
      <dgm:prSet presAssocID="{C525FC69-D396-4EE7-BC31-9E2D01B1FAD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C53150A-0402-4A96-B712-D7B405984BDF}" srcId="{380362AA-CFA7-4186-9A4F-0CD2C5781A05}" destId="{CDFE04F2-C17A-42B4-BF3D-650381D65E68}" srcOrd="0" destOrd="0" parTransId="{4F751CFE-C861-4354-BA64-A742AB2D5291}" sibTransId="{3C6E9780-49A8-4ABF-94D8-67846F0AFA82}"/>
    <dgm:cxn modelId="{96A02B40-FBDD-46EA-8345-9CCD745C2E34}" type="presOf" srcId="{A97BF373-6481-4DB2-B92A-52613CFB88EE}" destId="{375293F4-0CD5-45E6-AF10-1A11F04A47A0}" srcOrd="0" destOrd="0" presId="urn:microsoft.com/office/officeart/2018/5/layout/IconCircleLabelList"/>
    <dgm:cxn modelId="{2EE0817C-67A0-478C-89A5-E7BB837A7BBC}" srcId="{380362AA-CFA7-4186-9A4F-0CD2C5781A05}" destId="{BA497A9C-3708-4F2A-A8AF-F01D97784B2A}" srcOrd="2" destOrd="0" parTransId="{43486A9B-431E-4C88-B82A-38B14D73C5D1}" sibTransId="{A4CCA0C5-0E40-4B00-A400-DD52B3DF7175}"/>
    <dgm:cxn modelId="{CFE851A4-4DE4-4EAA-ACE0-F849E501A028}" srcId="{380362AA-CFA7-4186-9A4F-0CD2C5781A05}" destId="{C525FC69-D396-4EE7-BC31-9E2D01B1FAD0}" srcOrd="3" destOrd="0" parTransId="{31020E5F-8E7F-4B20-B074-3C59E7D97022}" sibTransId="{6CD7BE4E-C00C-4533-B247-E2A1B6E310E9}"/>
    <dgm:cxn modelId="{0DE53BBA-041C-4252-BCC0-168ABE28CE0B}" srcId="{380362AA-CFA7-4186-9A4F-0CD2C5781A05}" destId="{A97BF373-6481-4DB2-B92A-52613CFB88EE}" srcOrd="1" destOrd="0" parTransId="{E9B53A6D-0DCE-4768-A6F6-B09F87456473}" sibTransId="{563FB25C-6502-4C56-9C7B-C6ACAD2DF57B}"/>
    <dgm:cxn modelId="{8665BFBE-F745-4481-9E42-6FFADC43B24B}" type="presOf" srcId="{CDFE04F2-C17A-42B4-BF3D-650381D65E68}" destId="{CD4C2A3D-BCE8-43E0-936E-99290149579D}" srcOrd="0" destOrd="0" presId="urn:microsoft.com/office/officeart/2018/5/layout/IconCircleLabelList"/>
    <dgm:cxn modelId="{355FA2D5-8101-41E9-A42B-B704B9787B2D}" type="presOf" srcId="{380362AA-CFA7-4186-9A4F-0CD2C5781A05}" destId="{BAB64876-436D-4396-AF89-9B27B2162A1E}" srcOrd="0" destOrd="0" presId="urn:microsoft.com/office/officeart/2018/5/layout/IconCircleLabelList"/>
    <dgm:cxn modelId="{A9A965DD-F324-4881-ACE6-9AE9D0D5732D}" type="presOf" srcId="{BA497A9C-3708-4F2A-A8AF-F01D97784B2A}" destId="{1C4A96BC-9451-4393-949A-BD2835A2D326}" srcOrd="0" destOrd="0" presId="urn:microsoft.com/office/officeart/2018/5/layout/IconCircleLabelList"/>
    <dgm:cxn modelId="{43097FFF-3D54-4849-A31B-187CF65ECA2F}" type="presOf" srcId="{C525FC69-D396-4EE7-BC31-9E2D01B1FAD0}" destId="{A00AAAE9-7EAC-4D2C-97DC-449D37B75628}" srcOrd="0" destOrd="0" presId="urn:microsoft.com/office/officeart/2018/5/layout/IconCircleLabelList"/>
    <dgm:cxn modelId="{D8A21499-96EA-4452-AD45-CAF002F7798D}" type="presParOf" srcId="{BAB64876-436D-4396-AF89-9B27B2162A1E}" destId="{A0725C8A-DE4A-459A-932C-8A109844E47B}" srcOrd="0" destOrd="0" presId="urn:microsoft.com/office/officeart/2018/5/layout/IconCircleLabelList"/>
    <dgm:cxn modelId="{FF2091B0-A6BC-4463-9E7E-26C24F9A159E}" type="presParOf" srcId="{A0725C8A-DE4A-459A-932C-8A109844E47B}" destId="{061E6BC1-2272-4EAE-A900-EA40B9FB49E0}" srcOrd="0" destOrd="0" presId="urn:microsoft.com/office/officeart/2018/5/layout/IconCircleLabelList"/>
    <dgm:cxn modelId="{2F6B11CF-A881-4385-9B69-B4C175EC75E2}" type="presParOf" srcId="{A0725C8A-DE4A-459A-932C-8A109844E47B}" destId="{3AA8AD76-CA92-45B3-81B9-8F109EE00ACC}" srcOrd="1" destOrd="0" presId="urn:microsoft.com/office/officeart/2018/5/layout/IconCircleLabelList"/>
    <dgm:cxn modelId="{F2D2C459-CDAC-4B2C-BCC4-4F117E76D87C}" type="presParOf" srcId="{A0725C8A-DE4A-459A-932C-8A109844E47B}" destId="{F6271CEF-2BB8-4E6B-8D2C-EB33B980B9CF}" srcOrd="2" destOrd="0" presId="urn:microsoft.com/office/officeart/2018/5/layout/IconCircleLabelList"/>
    <dgm:cxn modelId="{E3EBC539-B27D-4A32-971C-9884D18887FD}" type="presParOf" srcId="{A0725C8A-DE4A-459A-932C-8A109844E47B}" destId="{CD4C2A3D-BCE8-43E0-936E-99290149579D}" srcOrd="3" destOrd="0" presId="urn:microsoft.com/office/officeart/2018/5/layout/IconCircleLabelList"/>
    <dgm:cxn modelId="{F48226DD-DCCE-4AB1-A57F-D599AAEC8CFF}" type="presParOf" srcId="{BAB64876-436D-4396-AF89-9B27B2162A1E}" destId="{6FEB45C6-D07D-4BE5-9216-D7C7FC065FBC}" srcOrd="1" destOrd="0" presId="urn:microsoft.com/office/officeart/2018/5/layout/IconCircleLabelList"/>
    <dgm:cxn modelId="{4053C7FB-80E7-44A4-ABAA-A73D48AFA57A}" type="presParOf" srcId="{BAB64876-436D-4396-AF89-9B27B2162A1E}" destId="{784FD126-90FA-4AE2-988F-E0B4FE103542}" srcOrd="2" destOrd="0" presId="urn:microsoft.com/office/officeart/2018/5/layout/IconCircleLabelList"/>
    <dgm:cxn modelId="{FB2F5E84-508E-4294-B713-F14F147F2A03}" type="presParOf" srcId="{784FD126-90FA-4AE2-988F-E0B4FE103542}" destId="{3EE710BF-CC67-4416-AD16-5A4D27FD12B3}" srcOrd="0" destOrd="0" presId="urn:microsoft.com/office/officeart/2018/5/layout/IconCircleLabelList"/>
    <dgm:cxn modelId="{AC50950A-7249-4E89-99B4-FA761D1CBC83}" type="presParOf" srcId="{784FD126-90FA-4AE2-988F-E0B4FE103542}" destId="{251F1EFE-2A6E-486A-9BB2-68EF27EC7BD8}" srcOrd="1" destOrd="0" presId="urn:microsoft.com/office/officeart/2018/5/layout/IconCircleLabelList"/>
    <dgm:cxn modelId="{73A3C45F-079C-405D-993A-C8720CDECB5E}" type="presParOf" srcId="{784FD126-90FA-4AE2-988F-E0B4FE103542}" destId="{75E58E26-FBF9-4DAC-905D-955E5BC41C5C}" srcOrd="2" destOrd="0" presId="urn:microsoft.com/office/officeart/2018/5/layout/IconCircleLabelList"/>
    <dgm:cxn modelId="{2A4B818A-F537-440E-8143-177BE68DC48B}" type="presParOf" srcId="{784FD126-90FA-4AE2-988F-E0B4FE103542}" destId="{375293F4-0CD5-45E6-AF10-1A11F04A47A0}" srcOrd="3" destOrd="0" presId="urn:microsoft.com/office/officeart/2018/5/layout/IconCircleLabelList"/>
    <dgm:cxn modelId="{BD3D4A1D-7BDC-4AF8-88C2-6B6BB19A7A82}" type="presParOf" srcId="{BAB64876-436D-4396-AF89-9B27B2162A1E}" destId="{A94416DA-B6DA-4F09-A3AA-0A8C6889B4BD}" srcOrd="3" destOrd="0" presId="urn:microsoft.com/office/officeart/2018/5/layout/IconCircleLabelList"/>
    <dgm:cxn modelId="{D0631E89-623F-416C-BBA2-42145D63709A}" type="presParOf" srcId="{BAB64876-436D-4396-AF89-9B27B2162A1E}" destId="{6756C7A9-5AC1-4A03-A9DB-4F6E01B82FBC}" srcOrd="4" destOrd="0" presId="urn:microsoft.com/office/officeart/2018/5/layout/IconCircleLabelList"/>
    <dgm:cxn modelId="{87CF1826-6317-47F7-AF27-15DEB6DCCC9B}" type="presParOf" srcId="{6756C7A9-5AC1-4A03-A9DB-4F6E01B82FBC}" destId="{E4D0C971-3F1D-4F7F-AB15-11485DF395F5}" srcOrd="0" destOrd="0" presId="urn:microsoft.com/office/officeart/2018/5/layout/IconCircleLabelList"/>
    <dgm:cxn modelId="{4DE02EAD-F571-472D-9F68-29DF6CA197CD}" type="presParOf" srcId="{6756C7A9-5AC1-4A03-A9DB-4F6E01B82FBC}" destId="{E628593C-DCB4-477F-849E-DFF69A149C19}" srcOrd="1" destOrd="0" presId="urn:microsoft.com/office/officeart/2018/5/layout/IconCircleLabelList"/>
    <dgm:cxn modelId="{06D10BEB-002C-47C9-BB5F-59B2EC7912C6}" type="presParOf" srcId="{6756C7A9-5AC1-4A03-A9DB-4F6E01B82FBC}" destId="{B4236339-67E2-400D-87BC-20A352803702}" srcOrd="2" destOrd="0" presId="urn:microsoft.com/office/officeart/2018/5/layout/IconCircleLabelList"/>
    <dgm:cxn modelId="{BF8BC9C8-F3AC-45BE-8C3F-47D3284BE3AF}" type="presParOf" srcId="{6756C7A9-5AC1-4A03-A9DB-4F6E01B82FBC}" destId="{1C4A96BC-9451-4393-949A-BD2835A2D326}" srcOrd="3" destOrd="0" presId="urn:microsoft.com/office/officeart/2018/5/layout/IconCircleLabelList"/>
    <dgm:cxn modelId="{80BD89E4-3A57-4112-8D3A-7F522F63E45F}" type="presParOf" srcId="{BAB64876-436D-4396-AF89-9B27B2162A1E}" destId="{8DE4A139-A523-4D50-8492-89E47E3B2A0F}" srcOrd="5" destOrd="0" presId="urn:microsoft.com/office/officeart/2018/5/layout/IconCircleLabelList"/>
    <dgm:cxn modelId="{50421AAF-BAF7-4C76-B4DE-C0C57F77ABDC}" type="presParOf" srcId="{BAB64876-436D-4396-AF89-9B27B2162A1E}" destId="{EE7AB31D-EE92-46F7-A6C7-08532D0666CD}" srcOrd="6" destOrd="0" presId="urn:microsoft.com/office/officeart/2018/5/layout/IconCircleLabelList"/>
    <dgm:cxn modelId="{58A2C88D-1234-4997-87C7-727C9E76EBE3}" type="presParOf" srcId="{EE7AB31D-EE92-46F7-A6C7-08532D0666CD}" destId="{E60CAC09-0DC2-4CF2-9913-5C08B309E9E0}" srcOrd="0" destOrd="0" presId="urn:microsoft.com/office/officeart/2018/5/layout/IconCircleLabelList"/>
    <dgm:cxn modelId="{7124DB24-84BD-4A73-BE4D-793EF502D3D9}" type="presParOf" srcId="{EE7AB31D-EE92-46F7-A6C7-08532D0666CD}" destId="{B5B3BDAF-ABD3-42C9-BB67-17C4DAC38627}" srcOrd="1" destOrd="0" presId="urn:microsoft.com/office/officeart/2018/5/layout/IconCircleLabelList"/>
    <dgm:cxn modelId="{1A4F49DF-AB41-4B06-A284-27B995E80824}" type="presParOf" srcId="{EE7AB31D-EE92-46F7-A6C7-08532D0666CD}" destId="{00EBB419-984A-4EA8-B9C1-B2F37ECF3FE0}" srcOrd="2" destOrd="0" presId="urn:microsoft.com/office/officeart/2018/5/layout/IconCircleLabelList"/>
    <dgm:cxn modelId="{2A481108-8668-4752-AA33-93CF1C76BD72}" type="presParOf" srcId="{EE7AB31D-EE92-46F7-A6C7-08532D0666CD}" destId="{A00AAAE9-7EAC-4D2C-97DC-449D37B7562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1E6BC1-2272-4EAE-A900-EA40B9FB49E0}">
      <dsp:nvSpPr>
        <dsp:cNvPr id="0" name=""/>
        <dsp:cNvSpPr/>
      </dsp:nvSpPr>
      <dsp:spPr>
        <a:xfrm>
          <a:off x="341781" y="586556"/>
          <a:ext cx="1062615" cy="106261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A8AD76-CA92-45B3-81B9-8F109EE00ACC}">
      <dsp:nvSpPr>
        <dsp:cNvPr id="0" name=""/>
        <dsp:cNvSpPr/>
      </dsp:nvSpPr>
      <dsp:spPr>
        <a:xfrm>
          <a:off x="568240" y="813015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4C2A3D-BCE8-43E0-936E-99290149579D}">
      <dsp:nvSpPr>
        <dsp:cNvPr id="0" name=""/>
        <dsp:cNvSpPr/>
      </dsp:nvSpPr>
      <dsp:spPr>
        <a:xfrm>
          <a:off x="2092" y="1980150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Business rules</a:t>
          </a:r>
        </a:p>
      </dsp:txBody>
      <dsp:txXfrm>
        <a:off x="2092" y="1980150"/>
        <a:ext cx="1741992" cy="696796"/>
      </dsp:txXfrm>
    </dsp:sp>
    <dsp:sp modelId="{3EE710BF-CC67-4416-AD16-5A4D27FD12B3}">
      <dsp:nvSpPr>
        <dsp:cNvPr id="0" name=""/>
        <dsp:cNvSpPr/>
      </dsp:nvSpPr>
      <dsp:spPr>
        <a:xfrm>
          <a:off x="2388621" y="586556"/>
          <a:ext cx="1062615" cy="106261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1F1EFE-2A6E-486A-9BB2-68EF27EC7BD8}">
      <dsp:nvSpPr>
        <dsp:cNvPr id="0" name=""/>
        <dsp:cNvSpPr/>
      </dsp:nvSpPr>
      <dsp:spPr>
        <a:xfrm>
          <a:off x="2615080" y="813015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5293F4-0CD5-45E6-AF10-1A11F04A47A0}">
      <dsp:nvSpPr>
        <dsp:cNvPr id="0" name=""/>
        <dsp:cNvSpPr/>
      </dsp:nvSpPr>
      <dsp:spPr>
        <a:xfrm>
          <a:off x="2048933" y="1980150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Workflows</a:t>
          </a:r>
        </a:p>
      </dsp:txBody>
      <dsp:txXfrm>
        <a:off x="2048933" y="1980150"/>
        <a:ext cx="1741992" cy="696796"/>
      </dsp:txXfrm>
    </dsp:sp>
    <dsp:sp modelId="{E4D0C971-3F1D-4F7F-AB15-11485DF395F5}">
      <dsp:nvSpPr>
        <dsp:cNvPr id="0" name=""/>
        <dsp:cNvSpPr/>
      </dsp:nvSpPr>
      <dsp:spPr>
        <a:xfrm>
          <a:off x="4435462" y="586556"/>
          <a:ext cx="1062615" cy="106261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28593C-DCB4-477F-849E-DFF69A149C19}">
      <dsp:nvSpPr>
        <dsp:cNvPr id="0" name=""/>
        <dsp:cNvSpPr/>
      </dsp:nvSpPr>
      <dsp:spPr>
        <a:xfrm>
          <a:off x="4661921" y="813015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4A96BC-9451-4393-949A-BD2835A2D326}">
      <dsp:nvSpPr>
        <dsp:cNvPr id="0" name=""/>
        <dsp:cNvSpPr/>
      </dsp:nvSpPr>
      <dsp:spPr>
        <a:xfrm>
          <a:off x="4095774" y="1980150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Tech stack</a:t>
          </a:r>
        </a:p>
      </dsp:txBody>
      <dsp:txXfrm>
        <a:off x="4095774" y="1980150"/>
        <a:ext cx="1741992" cy="696796"/>
      </dsp:txXfrm>
    </dsp:sp>
    <dsp:sp modelId="{E60CAC09-0DC2-4CF2-9913-5C08B309E9E0}">
      <dsp:nvSpPr>
        <dsp:cNvPr id="0" name=""/>
        <dsp:cNvSpPr/>
      </dsp:nvSpPr>
      <dsp:spPr>
        <a:xfrm>
          <a:off x="6482303" y="586556"/>
          <a:ext cx="1062615" cy="106261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B3BDAF-ABD3-42C9-BB67-17C4DAC38627}">
      <dsp:nvSpPr>
        <dsp:cNvPr id="0" name=""/>
        <dsp:cNvSpPr/>
      </dsp:nvSpPr>
      <dsp:spPr>
        <a:xfrm>
          <a:off x="6708762" y="813015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0AAAE9-7EAC-4D2C-97DC-449D37B75628}">
      <dsp:nvSpPr>
        <dsp:cNvPr id="0" name=""/>
        <dsp:cNvSpPr/>
      </dsp:nvSpPr>
      <dsp:spPr>
        <a:xfrm>
          <a:off x="6142615" y="1980150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Architecture</a:t>
          </a:r>
        </a:p>
      </dsp:txBody>
      <dsp:txXfrm>
        <a:off x="6142615" y="1980150"/>
        <a:ext cx="1741992" cy="696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Generate both project-specific and generic instructions; review and iterate.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Discuss persona design, safe command lists, and agent.json structure for safe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Practical steps: define personas, implement agent.json, and test allowed actions in a sandbox.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Shift to greenfield best practices: requirements, prompts, and verification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Author requirement docs, then use Copilot to generate scaffolding and validate alignment.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8099E-678E-0355-0915-C534BFC53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054CEB-43B6-7592-105A-529F2FC3F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1C4B69-E912-2051-1A1F-5BBB3C82B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Author requirement docs, then use Copilot to generate scaffolding and validate alignment.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DE002-7C4C-4551-65D8-7E4ACFD98E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404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7B9EB-5AB9-BE88-7B8B-41A57E8B9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1B712-B007-0558-C970-105DA3A5CB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D2D6E-4A0B-E357-02DC-EF7EA0522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Author requirement docs, then use Copilot to generate scaffolding and validate alignment.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B0AF7-2AB3-0768-B825-46277EC11A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5275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C27E4-8B22-9DFA-3EE7-E8B996D69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B89BA0-B868-710D-0848-551141B369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BC8061-6C81-38DE-6C1A-C7C6924F6F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Author requirement docs, then use Copilot to generate scaffolding and validate alignment.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6AFEA-BBFD-78A2-A630-763C9A33DB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6764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Teach how to craft reproducible prompts and verification checks to validate generated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Execute prompts in custom modes, verify outputs, and refine prompts based on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Summarize key takeaways, next steps, and open the floor for questions and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Final day: custom chat modes, verification prompts, and wrap-up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007F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5D4979-0E48-181C-5438-B441393DCA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A191F-D9FD-C2EB-983F-9B42F26EB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069538"/>
            <a:ext cx="6858000" cy="1418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DE32-D155-6EE2-5EAC-C0A0C4B0A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714244"/>
            <a:ext cx="6858000" cy="99380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F10DC-7230-4581-E771-A51DC87C60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0828" y="928579"/>
            <a:ext cx="2683663" cy="966118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9682343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1303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831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097814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097814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5498384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097814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097814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7887106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668" y="1973171"/>
            <a:ext cx="6696665" cy="117665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989373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914445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F1C99E23-E5F1-1D9C-BF82-D83E6E9F13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5085" y="1825228"/>
            <a:ext cx="7793831" cy="284321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3708861-970C-B5DB-BF46-526E75A04C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5085" y="1083469"/>
            <a:ext cx="7793831" cy="48696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Image Caption</a:t>
            </a:r>
          </a:p>
        </p:txBody>
      </p:sp>
    </p:spTree>
    <p:extLst>
      <p:ext uri="{BB962C8B-B14F-4D97-AF65-F5344CB8AC3E}">
        <p14:creationId xmlns:p14="http://schemas.microsoft.com/office/powerpoint/2010/main" val="40678282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71032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7AB04E-CD14-3B5B-FB56-FF0AC2426BB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6604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42E2-8683-D251-03C0-5FDD0CBEBC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111" y="788974"/>
            <a:ext cx="7373867" cy="276999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200">
                <a:latin typeface="Victor Mono" pitchFamily="49" charset="0"/>
              </a:defRPr>
            </a:lvl1pPr>
            <a:lvl2pPr marL="342900" indent="0">
              <a:buFontTx/>
              <a:buNone/>
              <a:defRPr>
                <a:latin typeface="Victor Mono" pitchFamily="49" charset="0"/>
              </a:defRPr>
            </a:lvl2pPr>
            <a:lvl3pPr marL="685800" indent="0">
              <a:buFontTx/>
              <a:buNone/>
              <a:defRPr>
                <a:latin typeface="Victor Mono" pitchFamily="49" charset="0"/>
              </a:defRPr>
            </a:lvl3pPr>
            <a:lvl4pPr marL="1028700" indent="0">
              <a:buFontTx/>
              <a:buNone/>
              <a:defRPr>
                <a:latin typeface="Victor Mono" pitchFamily="49" charset="0"/>
              </a:defRPr>
            </a:lvl4pPr>
            <a:lvl5pPr marL="1371600" indent="0">
              <a:buFontTx/>
              <a:buNone/>
              <a:defRPr>
                <a:latin typeface="Victor Mono" pitchFamily="49" charset="0"/>
              </a:defRPr>
            </a:lvl5pPr>
          </a:lstStyle>
          <a:p>
            <a:pPr lvl="0"/>
            <a:r>
              <a:rPr lang="en-US" dirty="0"/>
              <a:t>Click to edit Code text</a:t>
            </a:r>
          </a:p>
        </p:txBody>
      </p:sp>
    </p:spTree>
    <p:extLst>
      <p:ext uri="{BB962C8B-B14F-4D97-AF65-F5344CB8AC3E}">
        <p14:creationId xmlns:p14="http://schemas.microsoft.com/office/powerpoint/2010/main" val="3614929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7F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C53BF9-6377-93D8-5BD7-30937619B4E2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20000"/>
          </a:blip>
          <a:srcRect l="301" t="5222" r="713" b="10945"/>
          <a:stretch/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163A3-B061-0949-1965-0375841B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273845"/>
            <a:ext cx="6696665" cy="5272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6094-9BD4-ED01-3BE5-5F760EE3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096112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6163BC-C951-C17F-421A-4AD743EDDB29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512088" y="318405"/>
            <a:ext cx="1337757" cy="482708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244766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ohnmillerATcodemag-com/zeus.academia.2" TargetMode="External"/><Relationship Id="rId2" Type="http://schemas.openxmlformats.org/officeDocument/2006/relationships/hyperlink" Target="https://orm.net/pdf/ORMwhitePaper.pdf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t>AI Assisted Software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3D4F2C-1BCD-B092-91D0-8743835957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Requirements </a:t>
            </a:r>
            <a:r>
              <a:rPr lang="en-US" dirty="0">
                <a:sym typeface="Wingdings" panose="05000000000000000000" pitchFamily="2" charset="2"/>
              </a:rPr>
              <a:t> Code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John Michael Miller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Senior Software Engineer at Code Staffing</a:t>
            </a:r>
          </a:p>
          <a:p>
            <a:pPr marL="0" lvl="0" indent="0">
              <a:buNone/>
            </a:pPr>
            <a:r>
              <a:t>Played roles of developer, architect, devops engineer, platform engineer, test architect, release manager</a:t>
            </a:r>
          </a:p>
          <a:p>
            <a:pPr marL="0" lvl="0" indent="0">
              <a:buNone/>
            </a:pPr>
            <a:r>
              <a:t>AI/ML Enthusiast and advocate for Effectively using AI to write code</a:t>
            </a:r>
          </a:p>
          <a:p>
            <a:pPr lvl="0"/>
            <a:r>
              <a:t>LinkedIn: </a:t>
            </a:r>
            <a:r>
              <a:rPr>
                <a:latin typeface="Courier"/>
              </a:rPr>
              <a:t>www.linkedin.com/in/johnmichaelmiller</a:t>
            </a:r>
          </a:p>
          <a:p>
            <a:pPr lvl="0"/>
            <a:r>
              <a:t>Email: </a:t>
            </a:r>
            <a:r>
              <a:rPr>
                <a:latin typeface="Courier"/>
              </a:rPr>
              <a:t>john.miller@codestaffing.com</a:t>
            </a:r>
          </a:p>
          <a:p>
            <a:pPr lvl="0"/>
            <a:r>
              <a:t>Blog: </a:t>
            </a:r>
            <a:r>
              <a:rPr>
                <a:latin typeface="Courier"/>
              </a:rPr>
              <a:t>https://codemag.com/blog/AIPractitioner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en-US" dirty="0"/>
              <a:t>Agenda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dirty="0"/>
              <a:t>AI Assisted Workflow</a:t>
            </a:r>
          </a:p>
          <a:p>
            <a:pPr lvl="0"/>
            <a:r>
              <a:rPr dirty="0"/>
              <a:t>Project Requirements</a:t>
            </a:r>
          </a:p>
          <a:p>
            <a:pPr lvl="1"/>
            <a:r>
              <a:rPr dirty="0"/>
              <a:t>What requirements?</a:t>
            </a:r>
          </a:p>
          <a:p>
            <a:pPr lvl="1"/>
            <a:r>
              <a:rPr dirty="0"/>
              <a:t>Conceptual Models</a:t>
            </a:r>
          </a:p>
          <a:p>
            <a:pPr lvl="1"/>
            <a:r>
              <a:rPr dirty="0"/>
              <a:t>Workflows</a:t>
            </a:r>
            <a:endParaRPr lang="en-US" dirty="0"/>
          </a:p>
          <a:p>
            <a:r>
              <a:rPr lang="en-US" dirty="0"/>
              <a:t>Project Instructions</a:t>
            </a:r>
            <a:endParaRPr dirty="0"/>
          </a:p>
          <a:p>
            <a:pPr lvl="0"/>
            <a:r>
              <a:rPr dirty="0"/>
              <a:t>Implementation Prompts</a:t>
            </a:r>
          </a:p>
          <a:p>
            <a:pPr lvl="1"/>
            <a:r>
              <a:rPr dirty="0"/>
              <a:t>Implementation Verification</a:t>
            </a:r>
          </a:p>
          <a:p>
            <a:pPr lvl="1"/>
            <a:r>
              <a:rPr dirty="0"/>
              <a:t>Executing Implementation Prompts</a:t>
            </a:r>
          </a:p>
          <a:p>
            <a:pPr lvl="0"/>
            <a:r>
              <a:rPr dirty="0"/>
              <a:t>Lessons Learned</a:t>
            </a:r>
          </a:p>
          <a:p>
            <a:pPr lvl="0"/>
            <a:r>
              <a:rPr dirty="0"/>
              <a:t>Iteration 3</a:t>
            </a:r>
          </a:p>
          <a:p>
            <a:pPr lvl="0"/>
            <a:r>
              <a:rPr dirty="0"/>
              <a:t>Tips and Tricks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Exercise</a:t>
            </a:r>
            <a:r>
              <a:rPr lang="en-US" dirty="0"/>
              <a:t>:</a:t>
            </a:r>
            <a:r>
              <a:rPr dirty="0"/>
              <a:t> Fork the repos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Objective</a:t>
            </a:r>
            <a:r>
              <a:rPr dirty="0"/>
              <a:t>: Fork the course repos</a:t>
            </a:r>
          </a:p>
          <a:p>
            <a:pPr lvl="0"/>
            <a:r>
              <a:rPr dirty="0"/>
              <a:t>Search GitHub for</a:t>
            </a:r>
          </a:p>
          <a:p>
            <a:pPr lvl="1"/>
            <a:r>
              <a:rPr dirty="0"/>
              <a:t>AI-Assisted-Software-Development</a:t>
            </a:r>
          </a:p>
          <a:p>
            <a:pPr lvl="1"/>
            <a:r>
              <a:rPr dirty="0"/>
              <a:t>zeus.academia.3</a:t>
            </a:r>
            <a:r>
              <a:rPr lang="en-US" dirty="0"/>
              <a:t>b</a:t>
            </a:r>
            <a:endParaRPr dirty="0"/>
          </a:p>
          <a:p>
            <a:pPr lvl="0"/>
            <a:r>
              <a:rPr dirty="0"/>
              <a:t>Fork the repos</a:t>
            </a:r>
          </a:p>
          <a:p>
            <a:pPr lvl="1"/>
            <a:r>
              <a:rPr dirty="0"/>
              <a:t>This will create a personal copy under your GitHub account</a:t>
            </a:r>
          </a:p>
          <a:p>
            <a:pPr lvl="1"/>
            <a:r>
              <a:rPr dirty="0"/>
              <a:t>You can make changes without affecting the original repo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New Development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553694-1259-3468-CDD7-FDEEAA1452D9}"/>
              </a:ext>
            </a:extLst>
          </p:cNvPr>
          <p:cNvSpPr txBox="1"/>
          <p:nvPr/>
        </p:nvSpPr>
        <p:spPr>
          <a:xfrm>
            <a:off x="628651" y="1340338"/>
            <a:ext cx="7940918" cy="1267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Creating Custom Chat Modes for Greenfield development</a:t>
            </a:r>
          </a:p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Generating Implementation Prompts &amp; Verification</a:t>
            </a:r>
          </a:p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Wrap-Up and Open Q&amp;A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C3D39-87B6-78F0-E620-5C31692A1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39DF6-CB8B-AF12-3863-9D53D1474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en-US" dirty="0"/>
              <a:t>Greenfield Chat Modes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36CAD6-C0D3-FFA2-322E-109B0798CA7F}"/>
              </a:ext>
            </a:extLst>
          </p:cNvPr>
          <p:cNvSpPr txBox="1"/>
          <p:nvPr/>
        </p:nvSpPr>
        <p:spPr>
          <a:xfrm>
            <a:off x="628651" y="1340338"/>
            <a:ext cx="7940918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Business Analyst </a:t>
            </a:r>
          </a:p>
          <a:p>
            <a:pPr marL="628650" lvl="1" indent="-171450" defTabSz="685800">
              <a:spcBef>
                <a:spcPts val="750"/>
              </a:spcBef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solidFill>
                  <a:prstClr val="whit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enerate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and </a:t>
            </a: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review requirements</a:t>
            </a:r>
          </a:p>
          <a:p>
            <a:pPr marL="628650" lvl="1" indent="-171450" defTabSz="685800">
              <a:spcBef>
                <a:spcPts val="750"/>
              </a:spcBef>
              <a:buFont typeface="Arial" panose="020B0604020202020204" pitchFamily="34" charset="0"/>
              <a:buChar char="•"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628650" lvl="1" indent="-171450" defTabSz="685800">
              <a:spcBef>
                <a:spcPts val="750"/>
              </a:spcBef>
              <a:buFont typeface="Arial" panose="020B0604020202020204" pitchFamily="34" charset="0"/>
              <a:buChar char="•"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09393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Exercise</a:t>
            </a:r>
            <a:r>
              <a:rPr lang="en-US" dirty="0"/>
              <a:t>:</a:t>
            </a:r>
            <a:r>
              <a:rPr dirty="0"/>
              <a:t> Generate Instruction</a:t>
            </a:r>
            <a:r>
              <a:rPr lang="en-US" dirty="0"/>
              <a:t> F</a:t>
            </a:r>
            <a:r>
              <a:rPr dirty="0"/>
              <a:t>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b="1"/>
              <a:t>Objective</a:t>
            </a:r>
            <a:r>
              <a:t>: Create instruction files, some project-specific, some generic, using both manual and Copilot-assisted methods.</a:t>
            </a:r>
          </a:p>
          <a:p>
            <a:pPr lvl="0"/>
            <a:r>
              <a:t>Manually create a copilot-instructions.md file and add:</a:t>
            </a:r>
          </a:p>
          <a:p>
            <a:pPr lvl="1"/>
            <a:r>
              <a:t>Business rules</a:t>
            </a:r>
          </a:p>
          <a:p>
            <a:pPr lvl="1"/>
            <a:r>
              <a:t>Workflows</a:t>
            </a:r>
          </a:p>
          <a:p>
            <a:pPr lvl="1"/>
            <a:r>
              <a:t>Purpose</a:t>
            </a:r>
          </a:p>
          <a:p>
            <a:pPr lvl="1"/>
            <a:r>
              <a:t>Tech stack</a:t>
            </a:r>
          </a:p>
          <a:p>
            <a:pPr lvl="1"/>
            <a:r>
              <a:t>Architecture</a:t>
            </a:r>
          </a:p>
          <a:p>
            <a:pPr lvl="0"/>
            <a:r>
              <a:t>Use Copilot to generate instruction files using the copilot-instructions.md and the codebase for context.</a:t>
            </a:r>
          </a:p>
          <a:p>
            <a:pPr marL="0" lvl="0" indent="0">
              <a:buNone/>
            </a:pPr>
            <a:r>
              <a:rPr b="1"/>
              <a:t>Bonus</a:t>
            </a:r>
            <a:r>
              <a:t>:</a:t>
            </a:r>
          </a:p>
          <a:p>
            <a:pPr lvl="0"/>
            <a:r>
              <a:t>Review instruction files for errors and omissions.</a:t>
            </a:r>
          </a:p>
          <a:p>
            <a:pPr lvl="0"/>
            <a:r>
              <a:t>Ask Copilot to suggest changes based on evolving tech and practices.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Creating Custom Chat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Personas</a:t>
            </a:r>
          </a:p>
          <a:p>
            <a:pPr lvl="0"/>
            <a:r>
              <a:t>Workflows</a:t>
            </a:r>
          </a:p>
          <a:p>
            <a:pPr lvl="0"/>
            <a:r>
              <a:t>Examples</a:t>
            </a:r>
          </a:p>
          <a:p>
            <a:pPr lvl="0"/>
            <a:r>
              <a:t>Agents</a:t>
            </a:r>
          </a:p>
          <a:p>
            <a:pPr lvl="0"/>
            <a:r>
              <a:t>Allowing agents to take autonomous action</a:t>
            </a:r>
          </a:p>
          <a:p>
            <a:pPr lvl="0"/>
            <a:r>
              <a:t>agent.json</a:t>
            </a:r>
          </a:p>
          <a:p>
            <a:pPr lvl="1"/>
            <a:r>
              <a:t>Safe commands</a:t>
            </a:r>
          </a:p>
          <a:p>
            <a:pPr lvl="1"/>
            <a:r>
              <a:t>Unsafe commands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Exercise</a:t>
            </a:r>
            <a:r>
              <a:rPr lang="en-US" dirty="0"/>
              <a:t>:</a:t>
            </a:r>
            <a:r>
              <a:rPr dirty="0"/>
              <a:t> Creating Custom Chat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Objective</a:t>
            </a:r>
            <a:r>
              <a:t>: Create custom chat modes for the project.</a:t>
            </a:r>
          </a:p>
          <a:p>
            <a:pPr lvl="0"/>
            <a:r>
              <a:t>Define personas and workflows for each chat mode.</a:t>
            </a:r>
          </a:p>
          <a:p>
            <a:pPr lvl="0"/>
            <a:r>
              <a:t>Implement chat modes using Copilot assistance.</a:t>
            </a:r>
          </a:p>
          <a:p>
            <a:pPr lvl="0"/>
            <a:r>
              <a:t>Create an agent.json file with safe commands.</a:t>
            </a:r>
          </a:p>
          <a:p>
            <a:pPr lvl="0"/>
            <a:r>
              <a:t>Test the agent’s ability to execute safe commands.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1" y="273845"/>
            <a:ext cx="6696665" cy="527268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2800"/>
              <a:t>Starting with Project Requirements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C96B23-C707-0543-5C91-4E0C85B340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7353756"/>
              </p:ext>
            </p:extLst>
          </p:nvPr>
        </p:nvGraphicFramePr>
        <p:xfrm>
          <a:off x="628650" y="1096112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1768974" y="2339073"/>
            <a:ext cx="4786313" cy="527268"/>
          </a:xfrm>
        </p:spPr>
        <p:txBody>
          <a:bodyPr anchor="ctr">
            <a:noAutofit/>
          </a:bodyPr>
          <a:lstStyle/>
          <a:p>
            <a:pPr marL="0" lvl="0" indent="0">
              <a:buNone/>
            </a:pPr>
            <a:r>
              <a:rPr lang="en-US" sz="2000" dirty="0"/>
              <a:t>Business Rules as Requirements</a:t>
            </a:r>
          </a:p>
        </p:txBody>
      </p:sp>
      <p:pic>
        <p:nvPicPr>
          <p:cNvPr id="4" name="Picture 3" descr="A diagram of a computer program">
            <a:extLst>
              <a:ext uri="{FF2B5EF4-FFF2-40B4-BE49-F238E27FC236}">
                <a16:creationId xmlns:a16="http://schemas.microsoft.com/office/drawing/2014/main" id="{70D26D8A-8732-4CF8-585E-F0A48D3A0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225" y="129563"/>
            <a:ext cx="4862332" cy="4801553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Conceptual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Technology Agnostic</a:t>
            </a:r>
          </a:p>
          <a:p>
            <a:pPr lvl="1"/>
            <a:r>
              <a:t>Transformable into Logical Models</a:t>
            </a:r>
          </a:p>
          <a:p>
            <a:pPr lvl="0"/>
            <a:r>
              <a:t>Clarity</a:t>
            </a:r>
          </a:p>
          <a:p>
            <a:pPr lvl="0"/>
            <a:r>
              <a:t>Expressive</a:t>
            </a:r>
          </a:p>
          <a:p>
            <a:pPr lvl="0"/>
            <a:r>
              <a:t>Formal</a:t>
            </a:r>
          </a:p>
          <a:p>
            <a:pPr lvl="0"/>
            <a:r>
              <a:t>Conceptual Models are not a requirement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Object Role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 type of conceptual model</a:t>
            </a:r>
          </a:p>
          <a:p>
            <a:pPr lvl="0"/>
            <a:r>
              <a:t>Supported by a Visual Studio Extension (NORMA)</a:t>
            </a:r>
          </a:p>
          <a:p>
            <a:pPr lvl="0"/>
            <a:r>
              <a:t>Object Role Models are textual and visual</a:t>
            </a:r>
          </a:p>
          <a:p>
            <a:pPr lvl="1"/>
            <a:r>
              <a:t>Text can be visualized</a:t>
            </a:r>
          </a:p>
          <a:p>
            <a:pPr lvl="1"/>
            <a:r>
              <a:t>Diagrams can be verbalized</a:t>
            </a:r>
          </a:p>
          <a:p>
            <a:pPr lvl="0"/>
            <a:r>
              <a:t>Textual representation is in a formal natural language that can be validated by subject matter experts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Zeus.Academia.</a:t>
            </a:r>
            <a:r>
              <a:rPr lang="en-US" dirty="0"/>
              <a:t>3b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dirty="0"/>
              <a:t>Based on a publicly available model of a commonly understood domain</a:t>
            </a:r>
          </a:p>
          <a:p>
            <a:pPr lvl="1"/>
            <a:r>
              <a:rPr dirty="0"/>
              <a:t>https://orm.net/pdf/ORMwhitePaper.pdf</a:t>
            </a:r>
            <a:endParaRPr dirty="0">
              <a:hlinkClick r:id="rId2"/>
            </a:endParaRPr>
          </a:p>
          <a:p>
            <a:pPr lvl="0"/>
            <a:r>
              <a:rPr dirty="0"/>
              <a:t>Allows us to quickly move from requirements to implementation</a:t>
            </a:r>
          </a:p>
          <a:p>
            <a:pPr lvl="1"/>
            <a:r>
              <a:rPr dirty="0"/>
              <a:t>https://github.com/johnmillerATcodemag-com/zeus.academia.</a:t>
            </a:r>
            <a:r>
              <a:rPr lang="en-US" dirty="0"/>
              <a:t>3b</a:t>
            </a:r>
            <a:endParaRPr dirty="0">
              <a:hlinkClick r:id="rId3"/>
            </a:endParaRPr>
          </a:p>
          <a:p>
            <a:pPr lvl="0"/>
            <a:r>
              <a:rPr dirty="0"/>
              <a:t>Why </a:t>
            </a:r>
            <a:r>
              <a:rPr lang="en-US" dirty="0"/>
              <a:t>3b</a:t>
            </a:r>
            <a:r>
              <a:rPr dirty="0"/>
              <a:t>?</a:t>
            </a:r>
          </a:p>
          <a:p>
            <a:pPr lvl="1"/>
            <a:r>
              <a:rPr lang="en-US" dirty="0"/>
              <a:t>Third</a:t>
            </a:r>
            <a:r>
              <a:rPr dirty="0"/>
              <a:t> Iteration</a:t>
            </a:r>
            <a:r>
              <a:rPr lang="en-US" dirty="0"/>
              <a:t> in progress</a:t>
            </a:r>
            <a:endParaRPr dirty="0"/>
          </a:p>
          <a:p>
            <a:pPr lvl="1"/>
            <a:r>
              <a:rPr dirty="0"/>
              <a:t>If something is hard, do it often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Use</a:t>
            </a:r>
            <a:r>
              <a:rPr lang="en-US" dirty="0"/>
              <a:t> Cases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Use cases are specific scenarios that guide data capture and processing in the application</a:t>
            </a:r>
          </a:p>
          <a:p>
            <a:pPr lvl="1"/>
            <a:r>
              <a:rPr dirty="0"/>
              <a:t>Promote a Lecturer to Senior Lecturer</a:t>
            </a:r>
          </a:p>
          <a:p>
            <a:pPr lvl="1"/>
            <a:r>
              <a:rPr dirty="0"/>
              <a:t>Promote a Senior Lecturer to Associate Professor</a:t>
            </a:r>
          </a:p>
          <a:p>
            <a:pPr lvl="1"/>
            <a:r>
              <a:rPr dirty="0"/>
              <a:t>Promote an Associate Professor to Professor</a:t>
            </a:r>
          </a:p>
          <a:p>
            <a:pPr lvl="1"/>
            <a:r>
              <a:rPr dirty="0"/>
              <a:t>Assign a Class to an Academic</a:t>
            </a:r>
          </a:p>
          <a:p>
            <a:pPr lvl="1"/>
            <a:r>
              <a:rPr dirty="0"/>
              <a:t>Add a new Academic to the faculty capturing all required information and allowing the capture of optional information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sz="2000" dirty="0"/>
              <a:t>Exercise</a:t>
            </a:r>
            <a:r>
              <a:rPr lang="en-US" sz="2000" dirty="0"/>
              <a:t>:</a:t>
            </a:r>
            <a:r>
              <a:rPr sz="2000" dirty="0"/>
              <a:t> Create </a:t>
            </a:r>
            <a:r>
              <a:rPr lang="en-US" sz="2000" dirty="0"/>
              <a:t>Business Analyst Chat Mode</a:t>
            </a:r>
            <a:endParaRPr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lang="en-US" b="1" dirty="0"/>
              <a:t>Duration</a:t>
            </a:r>
            <a:r>
              <a:rPr lang="en-US" dirty="0"/>
              <a:t>: 20 minutes</a:t>
            </a:r>
          </a:p>
          <a:p>
            <a:pPr marL="0" lvl="0" indent="0">
              <a:buNone/>
            </a:pPr>
            <a:r>
              <a:rPr lang="en-US" b="1" dirty="0"/>
              <a:t> </a:t>
            </a:r>
            <a:br>
              <a:rPr lang="en-US" b="1" dirty="0"/>
            </a:br>
            <a:r>
              <a:rPr b="1" dirty="0"/>
              <a:t>Objective</a:t>
            </a:r>
            <a:r>
              <a:rPr lang="en-US" b="1" dirty="0"/>
              <a:t>s</a:t>
            </a:r>
            <a:r>
              <a:rPr dirty="0"/>
              <a:t>: </a:t>
            </a:r>
            <a:endParaRPr lang="en-US" dirty="0"/>
          </a:p>
          <a:p>
            <a:r>
              <a:rPr dirty="0"/>
              <a:t>Create</a:t>
            </a:r>
            <a:r>
              <a:rPr lang="en-US" dirty="0"/>
              <a:t> a chat mode with the expertise need to define business requirements</a:t>
            </a:r>
          </a:p>
          <a:p>
            <a:pPr lvl="0"/>
            <a:endParaRPr lang="en-US" dirty="0"/>
          </a:p>
          <a:p>
            <a:pPr marL="0" lvl="0" indent="0">
              <a:buNone/>
            </a:pPr>
            <a:r>
              <a:rPr lang="en-US" b="1" dirty="0"/>
              <a:t>Activities</a:t>
            </a:r>
            <a:r>
              <a:rPr lang="en-US" dirty="0"/>
              <a:t>: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Prompt AI to create a chat mode with the expertise to effectively write a business requirements document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Review and approve the chat mode</a:t>
            </a:r>
            <a:endParaRPr lang="en-US" b="1" dirty="0"/>
          </a:p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Success Criteria</a:t>
            </a:r>
          </a:p>
          <a:p>
            <a:pPr lvl="0"/>
            <a:r>
              <a:rPr lang="en-US" dirty="0"/>
              <a:t>The new chat mode appears in the Copilot Chat Agent dropdown</a:t>
            </a:r>
            <a:endParaRPr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FABEA-2245-4410-8399-0F8B8A63F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AF888-13EE-AA63-1ED1-C3FD177C7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sz="2000" dirty="0"/>
              <a:t>Exercise</a:t>
            </a:r>
            <a:r>
              <a:rPr lang="en-US" sz="2000" dirty="0"/>
              <a:t>:</a:t>
            </a:r>
            <a:r>
              <a:rPr sz="2000" dirty="0"/>
              <a:t> Create </a:t>
            </a:r>
            <a:r>
              <a:rPr lang="en-US" sz="2000" dirty="0"/>
              <a:t>Business Analyst Chat Mode</a:t>
            </a:r>
            <a:endParaRPr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C35E0-43D7-F2A0-E4E6-FEF7F16CF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lang="en-US" b="1" dirty="0"/>
              <a:t>Duration</a:t>
            </a:r>
            <a:r>
              <a:rPr lang="en-US" dirty="0"/>
              <a:t>: 20 minutes</a:t>
            </a:r>
          </a:p>
          <a:p>
            <a:pPr marL="0" lvl="0" indent="0">
              <a:buNone/>
            </a:pPr>
            <a:r>
              <a:rPr lang="en-US" b="1" dirty="0"/>
              <a:t> </a:t>
            </a:r>
            <a:br>
              <a:rPr lang="en-US" b="1" dirty="0"/>
            </a:br>
            <a:r>
              <a:rPr b="1" dirty="0"/>
              <a:t>Objective</a:t>
            </a:r>
            <a:r>
              <a:rPr lang="en-US" b="1" dirty="0"/>
              <a:t>s</a:t>
            </a:r>
            <a:r>
              <a:rPr dirty="0"/>
              <a:t>: </a:t>
            </a:r>
            <a:endParaRPr lang="en-US" dirty="0"/>
          </a:p>
          <a:p>
            <a:r>
              <a:rPr dirty="0"/>
              <a:t>Create</a:t>
            </a:r>
            <a:r>
              <a:rPr lang="en-US" dirty="0"/>
              <a:t> a chat mode with the expertise need to define business requirements</a:t>
            </a:r>
          </a:p>
          <a:p>
            <a:pPr lvl="0"/>
            <a:endParaRPr lang="en-US" dirty="0"/>
          </a:p>
          <a:p>
            <a:pPr marL="0" lvl="0" indent="0">
              <a:buNone/>
            </a:pPr>
            <a:r>
              <a:rPr lang="en-US" b="1" dirty="0"/>
              <a:t>Activities</a:t>
            </a:r>
            <a:r>
              <a:rPr lang="en-US" dirty="0"/>
              <a:t>: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Prompt AI to create a chat mode with the expertise to effectively write a business requirements document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Review and approve the chat mode</a:t>
            </a:r>
            <a:endParaRPr lang="en-US" b="1" dirty="0"/>
          </a:p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Success Criteria</a:t>
            </a:r>
          </a:p>
          <a:p>
            <a:pPr lvl="0"/>
            <a:r>
              <a:rPr lang="en-US" dirty="0"/>
              <a:t>The new chat mode appears in the Copilot Chat Agent dropdown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17248040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22686-6902-6B44-B73B-5EAB74063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B2983-AF22-C9D6-A732-E37C7475F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sz="2000" dirty="0"/>
              <a:t>Exercise</a:t>
            </a:r>
            <a:r>
              <a:rPr lang="en-US" sz="2000" dirty="0"/>
              <a:t>:</a:t>
            </a:r>
            <a:r>
              <a:rPr sz="2000" dirty="0"/>
              <a:t> </a:t>
            </a:r>
            <a:r>
              <a:rPr lang="en-US" sz="2000" dirty="0"/>
              <a:t>Generate Business Requirements</a:t>
            </a:r>
            <a:endParaRPr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63219-5146-453F-6E3A-0F4694A0A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lang="en-US" b="1" dirty="0"/>
              <a:t>Duration</a:t>
            </a:r>
            <a:r>
              <a:rPr lang="en-US" dirty="0"/>
              <a:t>: 20 minutes</a:t>
            </a:r>
          </a:p>
          <a:p>
            <a:pPr marL="0" lvl="0" indent="0">
              <a:buNone/>
            </a:pPr>
            <a:r>
              <a:rPr lang="en-US" b="1" dirty="0"/>
              <a:t> </a:t>
            </a:r>
            <a:br>
              <a:rPr lang="en-US" b="1" dirty="0"/>
            </a:br>
            <a:r>
              <a:rPr b="1" dirty="0"/>
              <a:t>Objective</a:t>
            </a:r>
            <a:r>
              <a:rPr lang="en-US" b="1" dirty="0"/>
              <a:t>s</a:t>
            </a:r>
            <a:r>
              <a:rPr dirty="0"/>
              <a:t>: </a:t>
            </a:r>
            <a:endParaRPr lang="en-US" dirty="0"/>
          </a:p>
          <a:p>
            <a:r>
              <a:rPr dirty="0"/>
              <a:t>Create</a:t>
            </a:r>
            <a:r>
              <a:rPr lang="en-US" dirty="0"/>
              <a:t> a chat mode with the expertise need to define business requirements</a:t>
            </a:r>
          </a:p>
          <a:p>
            <a:pPr lvl="0"/>
            <a:endParaRPr lang="en-US" dirty="0"/>
          </a:p>
          <a:p>
            <a:pPr marL="0" lvl="0" indent="0">
              <a:buNone/>
            </a:pPr>
            <a:r>
              <a:rPr lang="en-US" b="1" dirty="0"/>
              <a:t>Activities</a:t>
            </a:r>
            <a:r>
              <a:rPr lang="en-US" dirty="0"/>
              <a:t>: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Prompt AI to create a chat mode with the expertise to effectively write a business requirements document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Review and approve the chat mode</a:t>
            </a:r>
            <a:endParaRPr lang="en-US" b="1" dirty="0"/>
          </a:p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Success Criteria</a:t>
            </a:r>
          </a:p>
          <a:p>
            <a:pPr lvl="0"/>
            <a:r>
              <a:rPr lang="en-US" dirty="0"/>
              <a:t>The new chat mode appears in the Copilot Chat Agent dropdown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3475576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EC064-1B2B-6AE4-5112-6EAB5298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6591A-BAA1-6DF9-EC39-523935C53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Exercise</a:t>
            </a:r>
            <a:r>
              <a:rPr lang="en-US" dirty="0"/>
              <a:t>:</a:t>
            </a:r>
            <a:r>
              <a:rPr dirty="0"/>
              <a:t> Create Project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119EE-82F6-E1AD-B59A-E16B53674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b="1" dirty="0"/>
              <a:t>Objective</a:t>
            </a:r>
            <a:r>
              <a:rPr dirty="0"/>
              <a:t>: Create project requirement instructions, some project-specific, some generic, using both manual and Copilot-assisted methods.</a:t>
            </a:r>
          </a:p>
          <a:p>
            <a:pPr lvl="0"/>
            <a:r>
              <a:rPr dirty="0"/>
              <a:t>Manually create a </a:t>
            </a:r>
            <a:r>
              <a:rPr lang="en-US" dirty="0"/>
              <a:t>business requirements</a:t>
            </a:r>
            <a:r>
              <a:rPr dirty="0"/>
              <a:t>.md file and add:</a:t>
            </a:r>
          </a:p>
          <a:p>
            <a:pPr lvl="1"/>
            <a:r>
              <a:rPr dirty="0"/>
              <a:t>Business rules</a:t>
            </a:r>
          </a:p>
          <a:p>
            <a:pPr lvl="1"/>
            <a:r>
              <a:rPr dirty="0"/>
              <a:t>Workflows</a:t>
            </a:r>
          </a:p>
          <a:p>
            <a:pPr lvl="1"/>
            <a:r>
              <a:rPr dirty="0"/>
              <a:t>Purpose</a:t>
            </a:r>
          </a:p>
          <a:p>
            <a:pPr lvl="1"/>
            <a:r>
              <a:rPr dirty="0"/>
              <a:t>Tech stack</a:t>
            </a:r>
          </a:p>
          <a:p>
            <a:pPr lvl="1"/>
            <a:r>
              <a:rPr dirty="0"/>
              <a:t>Architecture</a:t>
            </a:r>
          </a:p>
          <a:p>
            <a:pPr lvl="0"/>
            <a:r>
              <a:rPr dirty="0"/>
              <a:t>Use Copilot to generate instruction files using the copilot-instructions.md and the codebase for context.</a:t>
            </a:r>
          </a:p>
          <a:p>
            <a:pPr marL="0" lvl="0" indent="0">
              <a:buNone/>
            </a:pPr>
            <a:r>
              <a:rPr b="1" dirty="0"/>
              <a:t>Bonus</a:t>
            </a:r>
            <a:r>
              <a:rPr dirty="0"/>
              <a:t>:</a:t>
            </a:r>
          </a:p>
          <a:p>
            <a:pPr lvl="0"/>
            <a:r>
              <a:rPr dirty="0"/>
              <a:t>Review instruction files for errors and omissions.</a:t>
            </a:r>
          </a:p>
          <a:p>
            <a:pPr lvl="0"/>
            <a:r>
              <a:rPr dirty="0"/>
              <a:t>Ask Copilot to suggest changes based on evolving tech and practices.</a:t>
            </a:r>
          </a:p>
        </p:txBody>
      </p:sp>
    </p:spTree>
    <p:extLst>
      <p:ext uri="{BB962C8B-B14F-4D97-AF65-F5344CB8AC3E}">
        <p14:creationId xmlns:p14="http://schemas.microsoft.com/office/powerpoint/2010/main" val="1113893641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Getting Started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Phase 1: Foundation</a:t>
            </a:r>
          </a:p>
          <a:p>
            <a:pPr lvl="0"/>
            <a:r>
              <a:rPr dirty="0"/>
              <a:t>☐ Create core instruction files for your tech stack</a:t>
            </a:r>
          </a:p>
          <a:p>
            <a:pPr lvl="0"/>
            <a:r>
              <a:rPr dirty="0"/>
              <a:t>☐ Establish coding standards and quality gates</a:t>
            </a:r>
          </a:p>
          <a:p>
            <a:pPr lvl="0"/>
            <a:r>
              <a:rPr dirty="0"/>
              <a:t>☐ Define security and compliance requirements</a:t>
            </a:r>
          </a:p>
          <a:p>
            <a:pPr lvl="0"/>
            <a:r>
              <a:rPr dirty="0"/>
              <a:t>☐ Test instruction file effectiveness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Phase 2: Automation</a:t>
            </a:r>
          </a:p>
          <a:p>
            <a:pPr lvl="0"/>
            <a:r>
              <a:rPr dirty="0"/>
              <a:t>☐ Identify repeatable development tasks</a:t>
            </a:r>
          </a:p>
          <a:p>
            <a:pPr lvl="0"/>
            <a:r>
              <a:rPr dirty="0"/>
              <a:t>☐ Create prompt files for common workflows</a:t>
            </a:r>
          </a:p>
          <a:p>
            <a:pPr lvl="0"/>
            <a:r>
              <a:rPr dirty="0"/>
              <a:t>☐ Build task-specific execution templates</a:t>
            </a:r>
          </a:p>
          <a:p>
            <a:pPr lvl="0"/>
            <a:r>
              <a:rPr dirty="0"/>
              <a:t>☐ Validate prompt file outputs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Getting Started Checklist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Phase 3: Specialization</a:t>
            </a:r>
            <a:endParaRPr lang="en-US" b="1" dirty="0"/>
          </a:p>
          <a:p>
            <a:pPr lvl="0"/>
            <a:r>
              <a:rPr lang="en-US" dirty="0"/>
              <a:t>☐ Identify domain expertise needs</a:t>
            </a:r>
          </a:p>
          <a:p>
            <a:pPr lvl="0"/>
            <a:r>
              <a:rPr dirty="0"/>
              <a:t>☐ Create custom chat modes for key roles</a:t>
            </a:r>
          </a:p>
          <a:p>
            <a:pPr lvl="0"/>
            <a:r>
              <a:rPr dirty="0"/>
              <a:t>☐ Test conversational effectiveness</a:t>
            </a:r>
          </a:p>
          <a:p>
            <a:pPr lvl="0"/>
            <a:r>
              <a:rPr dirty="0"/>
              <a:t>☐ Document mode usage guidelines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Phase 4: Integration</a:t>
            </a:r>
          </a:p>
          <a:p>
            <a:pPr lvl="0"/>
            <a:r>
              <a:rPr dirty="0"/>
              <a:t>☐ Combine approaches for complex workflows</a:t>
            </a:r>
          </a:p>
          <a:p>
            <a:pPr lvl="0"/>
            <a:r>
              <a:rPr dirty="0"/>
              <a:t>☐ Establish team usage standards</a:t>
            </a:r>
          </a:p>
          <a:p>
            <a:pPr lvl="0"/>
            <a:r>
              <a:rPr dirty="0"/>
              <a:t>☐ Create training materials</a:t>
            </a:r>
          </a:p>
          <a:p>
            <a:pPr lvl="0"/>
            <a:r>
              <a:rPr dirty="0"/>
              <a:t>☐ Monitor and iterate on effectiveness</a:t>
            </a: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89B33-1331-7E92-0B1F-A0F52432F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F416A-BECD-4814-1E6A-AF0984C1B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273845"/>
            <a:ext cx="6696665" cy="527268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3100"/>
              <a:t>High Level AI Assisted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226ED-A4F8-1346-FDAC-A42A988593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097814"/>
            <a:ext cx="3886200" cy="3263504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200" dirty="0"/>
              <a:t>From Requirements to a Solution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Stakeholders (SMEs, Architects, SREs, DBAs, etc.) define the requirements with AI assistance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AI transforms the requirements into implementation instructions files that guide the implementation</a:t>
            </a:r>
          </a:p>
          <a:p>
            <a:pPr lvl="1">
              <a:lnSpc>
                <a:spcPct val="90000"/>
              </a:lnSpc>
            </a:pPr>
            <a:r>
              <a:rPr lang="en-US" sz="900" dirty="0"/>
              <a:t>Stakeholders review, improve, and approve the instruction files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AI uses instruction files to create prompts to implement the business requirements</a:t>
            </a:r>
          </a:p>
          <a:p>
            <a:pPr lvl="1">
              <a:lnSpc>
                <a:spcPct val="90000"/>
              </a:lnSpc>
            </a:pPr>
            <a:r>
              <a:rPr lang="en-US" sz="900" dirty="0"/>
              <a:t>Implementation prompts tell AI how to implement a feature and how to verify that the feature meets the acceptance criteria</a:t>
            </a:r>
          </a:p>
          <a:p>
            <a:pPr lvl="1">
              <a:lnSpc>
                <a:spcPct val="90000"/>
              </a:lnSpc>
            </a:pPr>
            <a:r>
              <a:rPr lang="en-US" sz="900" dirty="0"/>
              <a:t>Stakeholders review, improve, and approve the implementation prompts</a:t>
            </a:r>
          </a:p>
          <a:p>
            <a:pPr>
              <a:lnSpc>
                <a:spcPct val="90000"/>
              </a:lnSpc>
            </a:pPr>
            <a:r>
              <a:rPr lang="en-US" sz="1200" dirty="0"/>
              <a:t>Submitting the implementation prompts </a:t>
            </a:r>
          </a:p>
          <a:p>
            <a:pPr lvl="1">
              <a:lnSpc>
                <a:spcPct val="90000"/>
              </a:lnSpc>
            </a:pPr>
            <a:r>
              <a:rPr lang="en-US" sz="900" dirty="0"/>
              <a:t>Generates an implementation that conforms to the implementation instructions and meets the acceptance criteria</a:t>
            </a:r>
          </a:p>
          <a:p>
            <a:pPr lvl="1">
              <a:lnSpc>
                <a:spcPct val="90000"/>
              </a:lnSpc>
            </a:pPr>
            <a:r>
              <a:rPr lang="en-US" sz="900" dirty="0"/>
              <a:t>Stakeholders review and approve implementation</a:t>
            </a:r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74BAB682-42D9-328E-E1D0-B8D32BFB2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803" y="1097814"/>
            <a:ext cx="1484894" cy="326350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48560259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Generating Implementation Prompts &amp;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Implementation prompts</a:t>
            </a:r>
          </a:p>
          <a:p>
            <a:pPr lvl="0"/>
            <a:r>
              <a:t>Implementation verification</a:t>
            </a: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Exercise #12 – Executing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Objective</a:t>
            </a:r>
            <a:r>
              <a:t>: Execute implementation prompts using custom chat modes.</a:t>
            </a:r>
          </a:p>
          <a:p>
            <a:pPr lvl="0"/>
            <a:r>
              <a:t>Review the implementation prompts created earlier.</a:t>
            </a:r>
          </a:p>
          <a:p>
            <a:pPr lvl="0"/>
            <a:r>
              <a:t>Use prompts to guide agent actions.</a:t>
            </a:r>
          </a:p>
          <a:p>
            <a:pPr lvl="0"/>
            <a:r>
              <a:t>Test agent responses to prompts.</a:t>
            </a:r>
          </a:p>
          <a:p>
            <a:pPr lvl="0"/>
            <a:r>
              <a:t>Verify implementation passes verification checks.</a:t>
            </a: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Wrap-Up and Open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Review the day’s learning outcomes.</a:t>
            </a:r>
          </a:p>
          <a:p>
            <a:pPr lvl="0"/>
            <a:r>
              <a:t>Address questions or concerns.</a:t>
            </a:r>
          </a:p>
          <a:p>
            <a:pPr lvl="0"/>
            <a:r>
              <a:t>Discuss next steps and future learning opportunities.</a:t>
            </a: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Decision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Use Instruction Files When:</a:t>
            </a:r>
          </a:p>
          <a:p>
            <a:pPr lvl="0"/>
            <a:r>
              <a:t>✅ Need consistent behavior across all AI interactions</a:t>
            </a:r>
          </a:p>
          <a:p>
            <a:pPr lvl="0"/>
            <a:r>
              <a:t>✅ Enforcing organizational standards/policies</a:t>
            </a:r>
          </a:p>
          <a:p>
            <a:pPr lvl="0"/>
            <a:r>
              <a:t>✅ Setting up coding conventions and quality gates</a:t>
            </a:r>
          </a:p>
          <a:p>
            <a:pPr lvl="0"/>
            <a:r>
              <a:t>✅ Defining security or compliance requirements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Use Prompt Files When:</a:t>
            </a:r>
          </a:p>
          <a:p>
            <a:pPr lvl="0"/>
            <a:r>
              <a:t>✅ Have repeatable, structured tasks</a:t>
            </a:r>
          </a:p>
          <a:p>
            <a:pPr lvl="0"/>
            <a:r>
              <a:t>✅ Need detailed step-by-step execution</a:t>
            </a:r>
          </a:p>
          <a:p>
            <a:pPr lvl="0"/>
            <a:r>
              <a:t>✅ Want to standardize complex workflows</a:t>
            </a:r>
          </a:p>
          <a:p>
            <a:pPr lvl="0"/>
            <a:r>
              <a:t>✅ Building reusable automation templates</a:t>
            </a: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Decision Framework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Use Custom Chat Modes When:</a:t>
            </a:r>
          </a:p>
          <a:p>
            <a:pPr lvl="0"/>
            <a:r>
              <a:t>✅ Need specialized domain expertise</a:t>
            </a:r>
          </a:p>
          <a:p>
            <a:pPr lvl="0"/>
            <a:r>
              <a:t>✅ Want AI to act as specific professional role</a:t>
            </a:r>
          </a:p>
          <a:p>
            <a:pPr lvl="0"/>
            <a:r>
              <a:t>✅ Exploring problems from different perspectives</a:t>
            </a:r>
          </a:p>
          <a:p>
            <a:pPr lvl="0"/>
            <a:r>
              <a:t>✅ Learning or getting advice in specific areas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Combine Approaches When:</a:t>
            </a:r>
          </a:p>
          <a:p>
            <a:pPr lvl="0"/>
            <a:r>
              <a:t>✅ Building comprehensive AI-assisted workflows</a:t>
            </a:r>
          </a:p>
          <a:p>
            <a:pPr lvl="0"/>
            <a:r>
              <a:t>✅ Need both consistency AND specialization</a:t>
            </a:r>
          </a:p>
          <a:p>
            <a:pPr lvl="0"/>
            <a:r>
              <a:t>✅ Managing complex, multi-phase projects</a:t>
            </a: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Layered Integration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┌─────────────────────────────────────┐
│     Custom Chat Mode               │  ← Conversational Context
│  (Security Architect Persona)      │
├─────────────────────────────────────┤
│     Prompt Files                   │  ← Task Execution
│  (Security Audit Template)         │
├─────────────────────────────────────┤
│     Instruction Files              │  ← Base Behavior
│  (Security Standards, Coding Rules) │
└─────────────────────────────────────┘</a:t>
            </a:r>
          </a:p>
          <a:p>
            <a:pPr marL="0" lvl="0" indent="0">
              <a:buNone/>
            </a:pPr>
            <a:r>
              <a:rPr b="1"/>
              <a:t>Result</a:t>
            </a:r>
            <a:r>
              <a:t>: Specialized security expert using standardized processes with consistent quality standards</a:t>
            </a: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Real-World Integration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Scenario: Implementing User Authentication</a:t>
            </a:r>
          </a:p>
          <a:p>
            <a:pPr marL="342900" lvl="0" indent="-342900">
              <a:buAutoNum type="arabicPeriod"/>
            </a:pPr>
            <a:r>
              <a:rPr b="1"/>
              <a:t>Instruction Files</a:t>
            </a:r>
            <a:r>
              <a:t> provide:</a:t>
            </a:r>
          </a:p>
          <a:p>
            <a:pPr lvl="1"/>
            <a:r>
              <a:t>Security coding standards</a:t>
            </a:r>
          </a:p>
          <a:p>
            <a:pPr lvl="1"/>
            <a:r>
              <a:t>Testing requirements</a:t>
            </a:r>
          </a:p>
          <a:p>
            <a:pPr lvl="1"/>
            <a:r>
              <a:t>Documentation standards</a:t>
            </a:r>
          </a:p>
          <a:p>
            <a:pPr marL="342900" lvl="0" indent="-342900">
              <a:buAutoNum type="arabicPeriod"/>
            </a:pPr>
            <a:r>
              <a:rPr b="1"/>
              <a:t>Prompt File</a:t>
            </a:r>
            <a:r>
              <a:t> executes:</a:t>
            </a:r>
          </a:p>
          <a:p>
            <a:pPr lvl="1"/>
            <a:r>
              <a:t>“Implement OAuth2 Authentication System”</a:t>
            </a:r>
          </a:p>
          <a:p>
            <a:pPr lvl="1"/>
            <a:r>
              <a:t>Step-by-step implementation guide</a:t>
            </a:r>
          </a:p>
          <a:p>
            <a:pPr marL="342900" lvl="0" indent="-342900">
              <a:buAutoNum type="arabicPeriod"/>
            </a:pPr>
            <a:r>
              <a:rPr b="1"/>
              <a:t>Custom Chat Mode</a:t>
            </a:r>
            <a:r>
              <a:t> offers:</a:t>
            </a:r>
          </a:p>
          <a:p>
            <a:pPr lvl="1"/>
            <a:r>
              <a:t>Security Architect expertise</a:t>
            </a:r>
          </a:p>
          <a:p>
            <a:pPr lvl="1"/>
            <a:r>
              <a:t>Best practice recommendations</a:t>
            </a:r>
          </a:p>
          <a:p>
            <a:pPr lvl="1"/>
            <a:r>
              <a:t>Threat modeling insights</a:t>
            </a: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Instruction Files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✅ Do This:</a:t>
            </a:r>
          </a:p>
          <a:p>
            <a:pPr lvl="0"/>
            <a:r>
              <a:t>Keep instructions clear and actionable</a:t>
            </a:r>
          </a:p>
          <a:p>
            <a:pPr lvl="0"/>
            <a:r>
              <a:t>Use file patterns (</a:t>
            </a:r>
            <a:r>
              <a:rPr>
                <a:latin typeface="Courier"/>
              </a:rPr>
              <a:t>applyTo: '**'</a:t>
            </a:r>
            <a:r>
              <a:t>) for broad scope</a:t>
            </a:r>
          </a:p>
          <a:p>
            <a:pPr lvl="0"/>
            <a:r>
              <a:t>Version control and document changes</a:t>
            </a:r>
          </a:p>
          <a:p>
            <a:pPr lvl="0"/>
            <a:r>
              <a:t>Test instruction effectiveness regularly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❌ Avoid This:</a:t>
            </a:r>
          </a:p>
          <a:p>
            <a:pPr lvl="0"/>
            <a:r>
              <a:t>Overly complex or contradictory rules</a:t>
            </a:r>
          </a:p>
          <a:p>
            <a:pPr lvl="0"/>
            <a:r>
              <a:t>Too many instructions (cognitive overload)</a:t>
            </a:r>
          </a:p>
          <a:p>
            <a:pPr lvl="0"/>
            <a:r>
              <a:t>Instructions that conflict with prompt files</a:t>
            </a:r>
          </a:p>
          <a:p>
            <a:pPr lvl="0"/>
            <a:r>
              <a:t>Hardcoded values instead of parameters</a:t>
            </a: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Prompt Files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✅ Do This:</a:t>
            </a:r>
          </a:p>
          <a:p>
            <a:pPr lvl="0"/>
            <a:r>
              <a:t>Include comprehensive metadata</a:t>
            </a:r>
          </a:p>
          <a:p>
            <a:pPr lvl="0"/>
            <a:r>
              <a:t>Provide clear context and requirements</a:t>
            </a:r>
          </a:p>
          <a:p>
            <a:pPr lvl="0"/>
            <a:r>
              <a:t>Specify expected deliverables</a:t>
            </a:r>
          </a:p>
          <a:p>
            <a:pPr lvl="0"/>
            <a:r>
              <a:t>Include verification steps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❌ Avoid This:</a:t>
            </a:r>
          </a:p>
          <a:p>
            <a:pPr lvl="0"/>
            <a:r>
              <a:t>Vague or ambiguous instructions</a:t>
            </a:r>
          </a:p>
          <a:p>
            <a:pPr lvl="0"/>
            <a:r>
              <a:t>Missing prerequisite information</a:t>
            </a:r>
          </a:p>
          <a:p>
            <a:pPr lvl="0"/>
            <a:r>
              <a:t>No success criteria defined</a:t>
            </a:r>
          </a:p>
          <a:p>
            <a:pPr lvl="0"/>
            <a:r>
              <a:t>Overly complex single prompts (break them down)</a:t>
            </a: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Custom Chat Modes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✅ Do This:</a:t>
            </a:r>
          </a:p>
          <a:p>
            <a:pPr lvl="0"/>
            <a:r>
              <a:t>Define clear expertise boundaries</a:t>
            </a:r>
          </a:p>
          <a:p>
            <a:pPr lvl="0"/>
            <a:r>
              <a:t>Provide rich contextual background</a:t>
            </a:r>
          </a:p>
          <a:p>
            <a:pPr lvl="0"/>
            <a:r>
              <a:t>Establish consistent personality/voice</a:t>
            </a:r>
          </a:p>
          <a:p>
            <a:pPr lvl="0"/>
            <a:r>
              <a:t>Include relevant constraints and preferences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❌ Avoid This:</a:t>
            </a:r>
          </a:p>
          <a:p>
            <a:pPr lvl="0"/>
            <a:r>
              <a:t>Conflicting expertise claims</a:t>
            </a:r>
          </a:p>
          <a:p>
            <a:pPr lvl="0"/>
            <a:r>
              <a:t>Too broad or unfocused roles</a:t>
            </a:r>
          </a:p>
          <a:p>
            <a:pPr lvl="0"/>
            <a:r>
              <a:t>Personality that conflicts with task needs</a:t>
            </a:r>
          </a:p>
          <a:p>
            <a:pPr lvl="0"/>
            <a:r>
              <a:t>Missing essential domain knowledge</a:t>
            </a: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Key Takeaways</a:t>
            </a: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Summary: Three Complementary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🏗️ Instruction Files</a:t>
            </a:r>
          </a:p>
          <a:p>
            <a:pPr marL="0" lvl="0" indent="0">
              <a:buNone/>
            </a:pPr>
            <a:r>
              <a:t>Foundation layer that ensures </a:t>
            </a:r>
            <a:r>
              <a:rPr b="1"/>
              <a:t>consistent, quality AI behavior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⚡ Prompt Files</a:t>
            </a:r>
          </a:p>
          <a:p>
            <a:pPr marL="0" lvl="0" indent="0">
              <a:buNone/>
            </a:pPr>
            <a:r>
              <a:t>Execution layer that provides </a:t>
            </a:r>
            <a:r>
              <a:rPr b="1"/>
              <a:t>repeatable, structured task automation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🎯 Custom Chat Modes</a:t>
            </a:r>
          </a:p>
          <a:p>
            <a:pPr marL="0" lvl="0" indent="0">
              <a:buNone/>
            </a:pPr>
            <a:r>
              <a:t>Expertise layer that delivers </a:t>
            </a:r>
            <a:r>
              <a:rPr b="1"/>
              <a:t>specialized knowledge and perspectives</a:t>
            </a: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The Integration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When Used Together:</a:t>
            </a:r>
          </a:p>
          <a:p>
            <a:pPr lvl="0"/>
            <a:r>
              <a:rPr b="1"/>
              <a:t>Higher Quality</a:t>
            </a:r>
            <a:r>
              <a:t>: Consistent standards + structured execution + expert knowledge</a:t>
            </a:r>
          </a:p>
          <a:p>
            <a:pPr lvl="0"/>
            <a:r>
              <a:rPr b="1"/>
              <a:t>Greater Efficiency</a:t>
            </a:r>
            <a:r>
              <a:t>: Automated workflows with specialized guidance</a:t>
            </a:r>
          </a:p>
          <a:p>
            <a:pPr lvl="0"/>
            <a:r>
              <a:rPr b="1"/>
              <a:t>Better Outcomes</a:t>
            </a:r>
            <a:r>
              <a:t>: Comprehensive approach covers all development aspects</a:t>
            </a:r>
          </a:p>
          <a:p>
            <a:pPr lvl="0"/>
            <a:r>
              <a:rPr b="1"/>
              <a:t>Reduced Risk</a:t>
            </a:r>
            <a:r>
              <a:t>: Multiple layers of validation and expertise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Result: AI becomes a true development partner, not just a code generator</a:t>
            </a: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Resources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Implementation Templates:</a:t>
            </a:r>
          </a:p>
          <a:p>
            <a:pPr lvl="0"/>
            <a:r>
              <a:rPr b="1"/>
              <a:t>Instruction Files</a:t>
            </a:r>
            <a:r>
              <a:t>: </a:t>
            </a:r>
            <a:r>
              <a:rPr>
                <a:latin typeface="Courier"/>
              </a:rPr>
              <a:t>.github/instructions/*.instructions.md</a:t>
            </a:r>
          </a:p>
          <a:p>
            <a:pPr lvl="0"/>
            <a:r>
              <a:rPr b="1"/>
              <a:t>Prompt Files</a:t>
            </a:r>
            <a:r>
              <a:t>: </a:t>
            </a:r>
            <a:r>
              <a:rPr>
                <a:latin typeface="Courier"/>
              </a:rPr>
              <a:t>.github/prompts/*.prompt.md</a:t>
            </a:r>
          </a:p>
          <a:p>
            <a:pPr lvl="0"/>
            <a:r>
              <a:rPr b="1"/>
              <a:t>Chat Mode Configs</a:t>
            </a:r>
            <a:r>
              <a:t>: Custom mode documentation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Documentation:</a:t>
            </a:r>
          </a:p>
          <a:p>
            <a:pPr lvl="0"/>
            <a:r>
              <a:t>AI-Assisted Output Instructions</a:t>
            </a:r>
          </a:p>
          <a:p>
            <a:pPr lvl="0"/>
            <a:r>
              <a:t>Copilot Integration Guidelines</a:t>
            </a:r>
          </a:p>
          <a:p>
            <a:pPr lvl="0"/>
            <a:r>
              <a:t>Best Practices Repository</a:t>
            </a:r>
          </a:p>
          <a:p>
            <a:pPr marL="0" lvl="0" indent="0">
              <a:buNone/>
            </a:pPr>
            <a:r>
              <a:rPr b="1"/>
              <a:t>Contact</a:t>
            </a:r>
            <a:r>
              <a:t>: john.miller@codestaffing.com</a:t>
            </a: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Creating Custom Chat Modes</a:t>
            </a:r>
          </a:p>
          <a:p>
            <a:pPr lvl="0"/>
            <a:r>
              <a:rPr dirty="0"/>
              <a:t>Generating Implementation Prompts &amp; Verification</a:t>
            </a:r>
          </a:p>
          <a:p>
            <a:pPr lvl="0"/>
            <a:r>
              <a:rPr dirty="0"/>
              <a:t>Exercises</a:t>
            </a:r>
          </a:p>
          <a:p>
            <a:pPr lvl="0"/>
            <a:r>
              <a:rPr dirty="0"/>
              <a:t>Wrap-Up and Open Q&amp;A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ODE Trainin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DEA5D72-37B1-4E22-BDC4-A589D83B7646}" vid="{DD254BF8-1D5F-4196-AA68-4DB20BF61A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jMM CODE Training Slide Template-Plato-SP9</Template>
  <TotalTime>671</TotalTime>
  <Words>1875</Words>
  <Application>Microsoft Office PowerPoint</Application>
  <PresentationFormat>On-screen Show (16:9)</PresentationFormat>
  <Paragraphs>311</Paragraphs>
  <Slides>37</Slides>
  <Notes>12</Notes>
  <HiddenSlides>14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Calibri</vt:lpstr>
      <vt:lpstr>Courier</vt:lpstr>
      <vt:lpstr>Noto Sans</vt:lpstr>
      <vt:lpstr>Victor Mono</vt:lpstr>
      <vt:lpstr>Wingdings</vt:lpstr>
      <vt:lpstr>CODE Training</vt:lpstr>
      <vt:lpstr>AI Assisted Software Development</vt:lpstr>
      <vt:lpstr>John Michael Miller</vt:lpstr>
      <vt:lpstr>Agenda</vt:lpstr>
      <vt:lpstr>Exercise: Fork the repos</vt:lpstr>
      <vt:lpstr>New Development</vt:lpstr>
      <vt:lpstr>Greenfield Chat Modes</vt:lpstr>
      <vt:lpstr>Exercise: Generate Instruction Files</vt:lpstr>
      <vt:lpstr>Creating Custom Chat Modes</vt:lpstr>
      <vt:lpstr>Exercise: Creating Custom Chat Modes</vt:lpstr>
      <vt:lpstr>Starting with Project Requirements</vt:lpstr>
      <vt:lpstr>Business Rules as Requirements</vt:lpstr>
      <vt:lpstr>Conceptual Models</vt:lpstr>
      <vt:lpstr>Object Role Models</vt:lpstr>
      <vt:lpstr>Zeus.Academia.3b</vt:lpstr>
      <vt:lpstr>Use Cases</vt:lpstr>
      <vt:lpstr>Exercise: Create Business Analyst Chat Mode</vt:lpstr>
      <vt:lpstr>Exercise: Create Business Analyst Chat Mode</vt:lpstr>
      <vt:lpstr>Exercise: Generate Business Requirements</vt:lpstr>
      <vt:lpstr>Exercise: Create Project Requirement</vt:lpstr>
      <vt:lpstr>Getting Started Checklist</vt:lpstr>
      <vt:lpstr>Getting Started Checklist (Continued)</vt:lpstr>
      <vt:lpstr>High Level AI Assisted Workflow</vt:lpstr>
      <vt:lpstr>Generating Implementation Prompts &amp; Verification</vt:lpstr>
      <vt:lpstr>Exercise #12 – Executing Prompts</vt:lpstr>
      <vt:lpstr>Wrap-Up and Open Q&amp;A</vt:lpstr>
      <vt:lpstr>Decision Framework</vt:lpstr>
      <vt:lpstr>Decision Framework (Continued)</vt:lpstr>
      <vt:lpstr>Layered Integration Approach</vt:lpstr>
      <vt:lpstr>Real-World Integration Example</vt:lpstr>
      <vt:lpstr>Instruction Files Best Practices</vt:lpstr>
      <vt:lpstr>Prompt Files Best Practices</vt:lpstr>
      <vt:lpstr>Custom Chat Modes Best Practices</vt:lpstr>
      <vt:lpstr>Key Takeaways</vt:lpstr>
      <vt:lpstr>Summary: Three Complementary Approaches</vt:lpstr>
      <vt:lpstr>The Integration Advantage</vt:lpstr>
      <vt:lpstr>Resources &amp;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John Miller</cp:lastModifiedBy>
  <cp:revision>4</cp:revision>
  <dcterms:created xsi:type="dcterms:W3CDTF">2025-10-23T13:42:31Z</dcterms:created>
  <dcterms:modified xsi:type="dcterms:W3CDTF">2026-02-07T20:06:41Z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class">
    <vt:lpwstr>lead</vt:lpwstr>
  </property>
  <property fmtid="{D5CDD505-2E9C-101B-9397-08002B2CF9AE}" pid="3" name="backgroundColor">
    <vt:lpwstr>#fff</vt:lpwstr>
  </property>
  <property fmtid="{D5CDD505-2E9C-101B-9397-08002B2CF9AE}" pid="4" name="marp">
    <vt:lpwstr>True</vt:lpwstr>
  </property>
  <property fmtid="{D5CDD505-2E9C-101B-9397-08002B2CF9AE}" pid="5" name="paginate">
    <vt:lpwstr>True</vt:lpwstr>
  </property>
</Properties>
</file>