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2" r:id="rId2"/>
    <p:sldId id="289" r:id="rId3"/>
    <p:sldId id="361" r:id="rId4"/>
    <p:sldId id="290" r:id="rId5"/>
    <p:sldId id="324" r:id="rId6"/>
    <p:sldId id="284" r:id="rId7"/>
    <p:sldId id="291" r:id="rId8"/>
    <p:sldId id="34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BF9C4F-C3D0-44F0-9CB9-D873741378CD}">
          <p14:sldIdLst/>
        </p14:section>
        <p14:section name="Hands-On with GitHub Copilot (VS Code)" id="{2BE448DD-BB7B-44F6-8B4B-71930822B6EE}">
          <p14:sldIdLst>
            <p14:sldId id="282"/>
            <p14:sldId id="289"/>
            <p14:sldId id="361"/>
            <p14:sldId id="290"/>
            <p14:sldId id="324"/>
            <p14:sldId id="284"/>
            <p14:sldId id="291"/>
            <p14:sldId id="34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1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A123F-BD46-40AA-ADF1-44A439459326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42679-2A8D-435B-8734-22D0330F3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8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Walk through installation, auth, and a quick coding session; encourage participants to follow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 **Lab 1: Getting Started with GitHub Copilot**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**Duration:**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20-30 minutes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**Prerequisites:**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Code installed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Objectives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Install and configure GitHub Copilot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Verify authentication with GitHub account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Explore the Copilot UI components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Activities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Install GitHub Copilot extension from VS Code marketplace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Sign in with your GitHub account (verify Copilot subscription)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Locate and explore: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Chat window and chat history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New chat button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Quick chat feature (keyboard shortcut)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Settings menu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- Model selection dropdown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Check your premium token usage bar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Create a new chat and experiment with the interface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Success Criteria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Copilot extension installed and authenticated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Can open/close chat windows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Understand difference between main chat and quick chat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Know where to find chat history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956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Explain Ask vs Edit modes and when each is most useful. Speak to Agent Mode and Custom Chat Modes briefly. We’ll work with those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78189-9107-7C6B-0D0C-6BE9ACE08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90C3B-EBCA-F6EE-97AC-E78C0791D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FEA7E-C05C-47D7-8C9D-09C7E8A4C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7B362-24B8-B2A8-3CBF-3E4D158AB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5EA83-E709-9C48-32DC-BAAD40EBF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07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5B5B-6322-9D97-9234-7D4501778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2C9E5-981D-DFFF-BAFE-BB0168C77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23E55-E7D5-4833-02E5-2FEC3EDF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AC1394-3FF9-5849-3D3E-A5822D1A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EC820-6A8A-ED9C-9DEA-098DAA37C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921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FC34-475F-B832-6536-9B0F85C46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4013C-A304-3797-D3F2-9AC7C1D8C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410ED-F344-B890-1025-5142CC121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78D66-B0FC-78E5-CA3D-FF48B1ED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C3722A-6047-8A0E-F6EE-68977E4FE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81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B6AC6-FD97-6087-9D35-50F4CC0CA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7FC3C-B1D4-5B33-E2FC-CBA12DCF6D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182A4B-3F5F-AFD0-1721-FC5361611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426143-4A41-6241-9A76-298CECF64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6BB48B-28A2-889B-7791-FD1CB098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EFAB2-780C-F408-2423-05086991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940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D1FB7-194C-C02E-3896-9A1DE0DD3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8E0B-83CD-3CFA-5DC5-0F56FE7B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24DC1-99CE-84EC-4CA2-DC9E10E00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9D223-4712-4134-9AD4-D59C867BF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2FB735-F4AB-8614-6DB2-FB496F23B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1C8AD2-9DA2-7470-C63E-9D8512208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DB8E57-76C7-C820-E5D6-C6814A1B9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0934BB-E1F1-7C4E-4C14-FDB656107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82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876B-B820-F4AB-DF54-8C52EA76C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9FE857-7596-4BC4-E836-0FE725EE3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5C0B5F-3E0E-D837-6E88-F2DA29625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C5E9FB-20CF-D300-93C2-30790CB89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845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1E624E-3348-C2D1-FA8D-3F220E44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7D47D1-3DE8-78C6-9AE6-EC38B1AC0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1B5A95-8608-DB0E-C0CB-3B24BE46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6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9279F-7766-4662-DBF6-9206953A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3F089-B6A1-73C8-7C3A-C19C673DC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31941D-70EA-D76B-3400-0560AB551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380CA9-DE93-EDFE-6C77-B831DAA4A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F79A3-1C67-940E-5174-0CA8113A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CB5C6-D499-B8EE-F2B5-E297E45C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54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39A03-76C6-28F3-7119-45B269E1E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F5EC3B-0E94-1531-67B0-43E32118E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2EECE-0DDC-D9C5-64BE-F4DAADB197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83DAF-2838-9BC2-4601-114FE484E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311D9-016E-2032-9F36-7C6EB4361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79D97-D12F-F417-DB95-1068C96D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994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185EA-D5DD-E9BE-AFDA-939657424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9D6B6-E967-FE3B-5126-FDBBD236A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9FA4E-0A9F-0751-898D-DB00E3986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7AF59-A2D9-A009-A675-F0DBB5048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549F4-0EDF-6920-32B7-18187A148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60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B22D5E-31C0-35C0-48B1-E6179C1684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392E0-7C18-4E91-B112-A774FA74C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B2A52-B154-4183-3EB3-F3330E44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03819-8BFB-E115-7D3D-BCAB48780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73445-7403-F3C1-C23B-3BE2859D6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04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42E037-7CFD-1ACE-0D43-CFEE4F2FC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4BADC-1D02-3E92-6828-B36A13126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55593-F574-914B-5027-460BB462A4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E2567-7EFA-4B1C-827E-862FAEE97EDC}" type="datetimeFigureOut">
              <a:rPr lang="en-US" smtClean="0"/>
              <a:t>3/4/2026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34156-721D-74AC-829B-30A5C61BB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A15F7-389B-18A1-B9D4-C05FE6431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AFCE23-4CD0-4174-9442-982EA7C934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29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Hands-On with GitHub Copilot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Installation and configuration</a:t>
            </a:r>
          </a:p>
          <a:p>
            <a:pPr lvl="1"/>
            <a:r>
              <a:rPr dirty="0"/>
              <a:t>Installing the extension</a:t>
            </a:r>
          </a:p>
          <a:p>
            <a:pPr lvl="1"/>
            <a:r>
              <a:rPr dirty="0"/>
              <a:t>Setting up authentication</a:t>
            </a:r>
          </a:p>
          <a:p>
            <a:pPr lvl="1"/>
            <a:r>
              <a:rPr dirty="0"/>
              <a:t>Configuring settings</a:t>
            </a:r>
          </a:p>
          <a:p>
            <a:pPr lvl="0"/>
            <a:r>
              <a:rPr dirty="0"/>
              <a:t>Sharing configuration across an organization</a:t>
            </a:r>
          </a:p>
          <a:p>
            <a:pPr lvl="1"/>
            <a:r>
              <a:rPr dirty="0"/>
              <a:t>Shared configuration templates (e.g., .copilot/</a:t>
            </a:r>
            <a:r>
              <a:rPr dirty="0" err="1"/>
              <a:t>settings.json</a:t>
            </a:r>
            <a:r>
              <a:rPr dirty="0"/>
              <a:t>) can be distributed across projects to standardize behavior.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95768C-7C52-086D-0AE6-5BC7596CB55B}"/>
              </a:ext>
            </a:extLst>
          </p:cNvPr>
          <p:cNvSpPr txBox="1"/>
          <p:nvPr/>
        </p:nvSpPr>
        <p:spPr>
          <a:xfrm>
            <a:off x="1097279" y="6059043"/>
            <a:ext cx="90432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https://www.codemag.com/Blog/AI/AIASD-install-guide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3240-B859-31D6-6B9C-0848F31FE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67" dirty="0"/>
              <a:t>Lab: Getting Started with GitHub Copilot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7E06A-A98C-5A6F-2203-AD384D1D1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Duration:</a:t>
            </a:r>
            <a:r>
              <a:rPr lang="en-US" dirty="0"/>
              <a:t> Follow along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Objectives</a:t>
            </a:r>
          </a:p>
          <a:p>
            <a:r>
              <a:rPr lang="en-US" dirty="0"/>
              <a:t>Install and configure GitHub Copilot</a:t>
            </a:r>
          </a:p>
          <a:p>
            <a:r>
              <a:rPr lang="en-US" dirty="0"/>
              <a:t>Verify authentication with GitHub account</a:t>
            </a:r>
          </a:p>
          <a:p>
            <a:r>
              <a:rPr lang="en-US" dirty="0"/>
              <a:t>Explore the Copilot UI components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Activities</a:t>
            </a:r>
            <a:endParaRPr lang="en-US" dirty="0"/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Install GitHub Copilot extension from VS Code marketplace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Sign in with your GitHub account (verify Copilot subscription)</a:t>
            </a:r>
          </a:p>
          <a:p>
            <a:pPr marL="609585" indent="-609585">
              <a:buFont typeface="+mj-lt"/>
              <a:buAutoNum type="arabicPeriod"/>
            </a:pPr>
            <a:r>
              <a:rPr lang="en-US" dirty="0"/>
              <a:t>Locate and explore:</a:t>
            </a:r>
          </a:p>
          <a:p>
            <a:pPr lvl="1"/>
            <a:r>
              <a:rPr lang="en-US" dirty="0"/>
              <a:t>Chat window and chat history</a:t>
            </a:r>
          </a:p>
          <a:p>
            <a:pPr lvl="1"/>
            <a:r>
              <a:rPr lang="en-US" dirty="0"/>
              <a:t>New chat button</a:t>
            </a:r>
          </a:p>
          <a:p>
            <a:pPr lvl="1"/>
            <a:r>
              <a:rPr lang="en-US" dirty="0"/>
              <a:t>Quick chat feature (keyboard shortcut)</a:t>
            </a:r>
          </a:p>
          <a:p>
            <a:pPr lvl="1"/>
            <a:r>
              <a:rPr lang="en-US" dirty="0"/>
              <a:t>Settings menu</a:t>
            </a:r>
          </a:p>
          <a:p>
            <a:pPr lvl="1"/>
            <a:r>
              <a:rPr lang="en-US" dirty="0"/>
              <a:t>Model selection dropdown</a:t>
            </a:r>
          </a:p>
          <a:p>
            <a:pPr marL="457189" indent="-457189">
              <a:buFont typeface="+mj-lt"/>
              <a:buAutoNum type="arabicPeriod"/>
            </a:pPr>
            <a:r>
              <a:rPr lang="en-US" dirty="0"/>
              <a:t>Check your premium token usage bar</a:t>
            </a:r>
          </a:p>
          <a:p>
            <a:pPr marL="457189" indent="-457189">
              <a:buFont typeface="+mj-lt"/>
              <a:buAutoNum type="arabicPeriod"/>
            </a:pPr>
            <a:r>
              <a:rPr lang="en-US" dirty="0"/>
              <a:t>Create a new chat and experiment with the interface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Success Criteria</a:t>
            </a:r>
          </a:p>
          <a:p>
            <a:pPr lvl="1"/>
            <a:r>
              <a:rPr lang="en-US" dirty="0"/>
              <a:t>Copilot extension installed and authenticated</a:t>
            </a:r>
          </a:p>
          <a:p>
            <a:pPr lvl="1"/>
            <a:r>
              <a:rPr lang="en-US" dirty="0"/>
              <a:t>Can open/close chat windows</a:t>
            </a:r>
          </a:p>
          <a:p>
            <a:pPr lvl="1"/>
            <a:r>
              <a:rPr lang="en-US" dirty="0"/>
              <a:t>Understand difference between main chat and quick chat</a:t>
            </a:r>
          </a:p>
          <a:p>
            <a:pPr lvl="1"/>
            <a:r>
              <a:rPr lang="en-US" dirty="0"/>
              <a:t>Know where to find chat history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193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CED87-EAED-C218-A4D1-174FDEB7C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Prompt Specificity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86B25-78A9-F3C1-C478-5BC6B0627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sz="2133" dirty="0"/>
              <a:t>Add error handling to my code</a:t>
            </a:r>
          </a:p>
          <a:p>
            <a:pPr lvl="1"/>
            <a:r>
              <a:rPr lang="en-US" sz="1867" i="1" dirty="0"/>
              <a:t>Result: Generic response asking what type of errors, what language, what code?</a:t>
            </a:r>
            <a:br>
              <a:rPr lang="en-US" sz="1867" dirty="0"/>
            </a:br>
            <a:endParaRPr lang="en-US" sz="1867" dirty="0"/>
          </a:p>
          <a:p>
            <a:r>
              <a:rPr lang="en-US" sz="2133" dirty="0"/>
              <a:t>Add error handling to my JavaScript function that calls an external API. I want to handle network timeouts, 404 errors, and JSON parsing failures. Return user-friendly error messages.</a:t>
            </a:r>
          </a:p>
          <a:p>
            <a:pPr lvl="1"/>
            <a:r>
              <a:rPr lang="en-US" sz="1867" i="1" dirty="0"/>
              <a:t>Result: Better, but still generic without seeing actual code structure</a:t>
            </a:r>
            <a:endParaRPr lang="en-US" sz="1867" dirty="0"/>
          </a:p>
          <a:p>
            <a:endParaRPr lang="en-US" sz="2133" dirty="0"/>
          </a:p>
          <a:p>
            <a:r>
              <a:rPr lang="en-US" sz="2133" dirty="0"/>
              <a:t>@file:api-client.js Add comprehensive error handling to the </a:t>
            </a:r>
            <a:r>
              <a:rPr lang="en-US" sz="2133" dirty="0" err="1"/>
              <a:t>fetchUserData</a:t>
            </a:r>
            <a:r>
              <a:rPr lang="en-US" sz="2133" dirty="0"/>
              <a:t> function. Handle network timeouts (&gt;5s), HTTP errors (404, 500, etc.), and JSON parsing failures.   Return user-friendly error messages that match our existing error format in @file:error-types.js</a:t>
            </a:r>
          </a:p>
          <a:p>
            <a:pPr lvl="1"/>
            <a:r>
              <a:rPr lang="en-US" sz="1867" i="1" dirty="0"/>
              <a:t>Result: Specific implementation that matches existing code patterns*</a:t>
            </a:r>
            <a:endParaRPr lang="en-US" sz="1867" dirty="0"/>
          </a:p>
          <a:p>
            <a:br>
              <a:rPr lang="en-US" sz="2133" dirty="0"/>
            </a:br>
            <a:endParaRPr lang="en-US" sz="2133" dirty="0"/>
          </a:p>
          <a:p>
            <a:endParaRPr lang="en-US" sz="2133" dirty="0"/>
          </a:p>
        </p:txBody>
      </p:sp>
    </p:spTree>
    <p:extLst>
      <p:ext uri="{BB962C8B-B14F-4D97-AF65-F5344CB8AC3E}">
        <p14:creationId xmlns:p14="http://schemas.microsoft.com/office/powerpoint/2010/main" val="214587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B1476-D9E5-ECB4-62C7-95118416E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667" dirty="0"/>
              <a:t>Lab: Understanding Context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FA5E8-1BBD-A630-956D-BBF09A9A2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Duration:</a:t>
            </a:r>
            <a:r>
              <a:rPr lang="en-US" dirty="0"/>
              <a:t> Follow along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Objectives</a:t>
            </a:r>
            <a:endParaRPr lang="en-US" dirty="0"/>
          </a:p>
          <a:p>
            <a:r>
              <a:rPr lang="en-US" dirty="0"/>
              <a:t>Learn to add context using @ symbols</a:t>
            </a:r>
          </a:p>
          <a:p>
            <a:r>
              <a:rPr lang="en-US" dirty="0"/>
              <a:t>Understand context window limitations</a:t>
            </a:r>
          </a:p>
          <a:p>
            <a:r>
              <a:rPr lang="en-US" dirty="0"/>
              <a:t>Practice writing effective prompts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Activities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1. Basic Context Addition:</a:t>
            </a:r>
            <a:endParaRPr lang="en-US" dirty="0"/>
          </a:p>
          <a:p>
            <a:r>
              <a:rPr lang="en-US" dirty="0"/>
              <a:t>Use `@workspace` to search across your codebase</a:t>
            </a:r>
          </a:p>
          <a:p>
            <a:r>
              <a:rPr lang="en-US" dirty="0"/>
              <a:t>Use `@file` to reference specific files</a:t>
            </a:r>
          </a:p>
          <a:p>
            <a:r>
              <a:rPr lang="en-US" dirty="0"/>
              <a:t> Use `@terminal` to include terminal output in chat</a:t>
            </a:r>
          </a:p>
          <a:p>
            <a:r>
              <a:rPr lang="en-US" dirty="0"/>
              <a:t>Use `@</a:t>
            </a:r>
            <a:r>
              <a:rPr lang="en-US" dirty="0" err="1"/>
              <a:t>vscode</a:t>
            </a:r>
            <a:r>
              <a:rPr lang="en-US" dirty="0"/>
              <a:t>` to ask VS Code-specific questions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2. Prompt Practice:</a:t>
            </a:r>
            <a:endParaRPr lang="en-US" dirty="0"/>
          </a:p>
          <a:p>
            <a:r>
              <a:rPr lang="en-US" dirty="0"/>
              <a:t>Write a vague prompt, observe results</a:t>
            </a:r>
          </a:p>
          <a:p>
            <a:r>
              <a:rPr lang="en-US" dirty="0"/>
              <a:t> Rewrite with specific context, compare results</a:t>
            </a:r>
          </a:p>
          <a:p>
            <a:r>
              <a:rPr lang="en-US" dirty="0"/>
              <a:t>Add file references to improve accuracy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3. Context Window Experiment:</a:t>
            </a:r>
            <a:endParaRPr lang="en-US" dirty="0"/>
          </a:p>
          <a:p>
            <a:r>
              <a:rPr lang="en-US" strike="sngStrike" dirty="0"/>
              <a:t>Start a long conversation in one chat</a:t>
            </a:r>
          </a:p>
          <a:p>
            <a:r>
              <a:rPr lang="en-US" strike="sngStrike" dirty="0"/>
              <a:t>Notice when Copilot starts "forgetting" earlier context</a:t>
            </a:r>
          </a:p>
          <a:p>
            <a:r>
              <a:rPr lang="en-US" dirty="0"/>
              <a:t>Practice starting new chats for new topics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Success Criteria</a:t>
            </a:r>
            <a:endParaRPr lang="en-US" dirty="0"/>
          </a:p>
          <a:p>
            <a:r>
              <a:rPr lang="en-US" dirty="0"/>
              <a:t>Can use all @ context types</a:t>
            </a:r>
          </a:p>
          <a:p>
            <a:r>
              <a:rPr lang="en-US" dirty="0"/>
              <a:t>Understand when to start fresh chat sessions</a:t>
            </a:r>
          </a:p>
          <a:p>
            <a:r>
              <a:rPr lang="en-US" dirty="0"/>
              <a:t>Notice quality difference between vague and specific prompts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275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EF343-193F-08DB-457F-30FFFCC07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Lab: Chat Management &amp;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F62B3-DBAB-B622-DDAD-1B2955AF0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Duration:</a:t>
            </a:r>
            <a:r>
              <a:rPr lang="en-US" dirty="0"/>
              <a:t> Follow along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Objectives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Organize chat sessions effectively</a:t>
            </a:r>
          </a:p>
          <a:p>
            <a:pPr lvl="1"/>
            <a:r>
              <a:rPr lang="en-US" dirty="0"/>
              <a:t>Use chat history for reference</a:t>
            </a:r>
          </a:p>
          <a:p>
            <a:pPr lvl="1"/>
            <a:r>
              <a:rPr lang="en-US" dirty="0"/>
              <a:t>Develop efficient workflow patterns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Activities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Chat Organization: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Review your chat history</a:t>
            </a:r>
          </a:p>
          <a:p>
            <a:pPr lvl="1"/>
            <a:r>
              <a:rPr lang="en-US" dirty="0"/>
              <a:t>Identify chats that should have been separate sessions</a:t>
            </a:r>
          </a:p>
          <a:p>
            <a:pPr lvl="1"/>
            <a:r>
              <a:rPr lang="en-US" dirty="0"/>
              <a:t>Practice starting new chats at appropriate times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Context Preservation: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Start a focused chat for one feature</a:t>
            </a:r>
          </a:p>
          <a:p>
            <a:pPr lvl="1"/>
            <a:r>
              <a:rPr lang="en-US" dirty="0"/>
              <a:t>Add relevant context systematically</a:t>
            </a:r>
          </a:p>
          <a:p>
            <a:pPr lvl="1"/>
            <a:r>
              <a:rPr lang="en-US" dirty="0"/>
              <a:t>Complete task without context overflow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Quick Chat Practice: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Use main chat for primary task</a:t>
            </a:r>
          </a:p>
          <a:p>
            <a:pPr lvl="1"/>
            <a:r>
              <a:rPr lang="en-US" dirty="0"/>
              <a:t>Use quick chat for side questions</a:t>
            </a:r>
          </a:p>
          <a:p>
            <a:pPr lvl="1"/>
            <a:r>
              <a:rPr lang="en-US" dirty="0"/>
              <a:t>Return to main chat without losing context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4. </a:t>
            </a:r>
            <a:r>
              <a:rPr lang="en-US" b="1" dirty="0"/>
              <a:t>Chat History Review:</a:t>
            </a:r>
            <a:endParaRPr lang="en-US" dirty="0"/>
          </a:p>
          <a:p>
            <a:pPr lvl="1"/>
            <a:r>
              <a:rPr lang="en-US" dirty="0"/>
              <a:t>Find and reference previous solutions</a:t>
            </a:r>
          </a:p>
          <a:p>
            <a:pPr lvl="1"/>
            <a:r>
              <a:rPr lang="en-US" dirty="0"/>
              <a:t>Learn from past prompts that worked well</a:t>
            </a:r>
          </a:p>
          <a:p>
            <a:pPr lvl="1"/>
            <a:r>
              <a:rPr lang="en-US" dirty="0"/>
              <a:t>Identify patterns in effective conversations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Success Criteria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Chat history is organized and meaningful</a:t>
            </a:r>
          </a:p>
          <a:p>
            <a:pPr lvl="1"/>
            <a:r>
              <a:rPr lang="en-US" dirty="0"/>
              <a:t>Can find and reference previous solutions</a:t>
            </a:r>
          </a:p>
          <a:p>
            <a:pPr lvl="1"/>
            <a:r>
              <a:rPr lang="en-US" dirty="0"/>
              <a:t>Efficient workflow developed for using multiple chat windows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Context Window Management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Remember from the session:</a:t>
            </a:r>
            <a:br>
              <a:rPr lang="en-US" dirty="0"/>
            </a:br>
            <a:endParaRPr lang="en-US" dirty="0"/>
          </a:p>
          <a:p>
            <a:pPr lvl="2"/>
            <a:r>
              <a:rPr lang="en-US" dirty="0"/>
              <a:t>Context is a </a:t>
            </a:r>
            <a:r>
              <a:rPr lang="en-US" b="1" dirty="0"/>
              <a:t>**limited resource**</a:t>
            </a:r>
            <a:endParaRPr lang="en-US" dirty="0"/>
          </a:p>
          <a:p>
            <a:pPr lvl="2"/>
            <a:r>
              <a:rPr lang="en-US" dirty="0"/>
              <a:t>Start new chat when changing focus areas</a:t>
            </a:r>
          </a:p>
          <a:p>
            <a:pPr lvl="2"/>
            <a:r>
              <a:rPr lang="en-US" dirty="0"/>
              <a:t>Keep conversations targeted and specific</a:t>
            </a:r>
          </a:p>
          <a:p>
            <a:pPr lvl="2"/>
            <a:r>
              <a:rPr lang="en-US" dirty="0"/>
              <a:t>When Copilot "forgets" earlier context, it's time for a new session</a:t>
            </a:r>
          </a:p>
        </p:txBody>
      </p:sp>
    </p:spTree>
    <p:extLst>
      <p:ext uri="{BB962C8B-B14F-4D97-AF65-F5344CB8AC3E}">
        <p14:creationId xmlns:p14="http://schemas.microsoft.com/office/powerpoint/2010/main" val="1780068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Using Copilot in different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Ask Mode</a:t>
            </a:r>
          </a:p>
          <a:p>
            <a:pPr lvl="1"/>
            <a:r>
              <a:rPr lang="en-US" dirty="0"/>
              <a:t>Simple prompt completion and inline suggestions </a:t>
            </a:r>
          </a:p>
          <a:p>
            <a:pPr lvl="0"/>
            <a:r>
              <a:rPr dirty="0"/>
              <a:t>Edit Mode</a:t>
            </a:r>
            <a:endParaRPr lang="en-US" dirty="0"/>
          </a:p>
          <a:p>
            <a:pPr lvl="1"/>
            <a:r>
              <a:rPr lang="en-US" dirty="0"/>
              <a:t>Automatic file edits</a:t>
            </a:r>
          </a:p>
          <a:p>
            <a:r>
              <a:rPr lang="en-US" dirty="0"/>
              <a:t>Agent Mode</a:t>
            </a:r>
          </a:p>
          <a:p>
            <a:pPr lvl="1"/>
            <a:r>
              <a:rPr lang="en-US" dirty="0"/>
              <a:t>Perform actions on your behalf</a:t>
            </a:r>
          </a:p>
          <a:p>
            <a:r>
              <a:rPr lang="en-US" dirty="0"/>
              <a:t>Custom Modes</a:t>
            </a:r>
          </a:p>
          <a:p>
            <a:pPr lvl="1"/>
            <a:r>
              <a:rPr lang="en-US" dirty="0"/>
              <a:t>Execute specific workflows</a:t>
            </a:r>
          </a:p>
          <a:p>
            <a:pPr lvl="1"/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EAA42-C06B-CB63-0798-9082797F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667" dirty="0"/>
              <a:t>Lab: Exploring Copilot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F867C-A24D-C665-CB10-3F9E9E377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Duration: Follow along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Objectives</a:t>
            </a:r>
            <a:endParaRPr lang="en-US" dirty="0"/>
          </a:p>
          <a:p>
            <a:r>
              <a:rPr lang="en-US" dirty="0"/>
              <a:t>Understand differences between Ask, Edit, and Agent modes</a:t>
            </a:r>
          </a:p>
          <a:p>
            <a:r>
              <a:rPr lang="en-US" dirty="0"/>
              <a:t>Know when to use each mode</a:t>
            </a:r>
          </a:p>
          <a:p>
            <a:r>
              <a:rPr lang="en-US" dirty="0"/>
              <a:t>Understand premium token implications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Activities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1. </a:t>
            </a:r>
            <a:r>
              <a:rPr lang="en-US" b="1" dirty="0"/>
              <a:t>Ask Mode:</a:t>
            </a:r>
            <a:endParaRPr lang="en-US" dirty="0"/>
          </a:p>
          <a:p>
            <a:r>
              <a:rPr lang="en-US" dirty="0"/>
              <a:t>Ask Copilot to explain a code snippet (no changes made)</a:t>
            </a:r>
          </a:p>
          <a:p>
            <a:r>
              <a:rPr lang="en-US" dirty="0"/>
              <a:t>Request multiple implementation approaches</a:t>
            </a:r>
          </a:p>
          <a:p>
            <a:r>
              <a:rPr lang="en-US" dirty="0"/>
              <a:t>Try different models and observe response quality</a:t>
            </a:r>
          </a:p>
          <a:p>
            <a:r>
              <a:rPr lang="en-US" b="1" dirty="0"/>
              <a:t>Note: </a:t>
            </a:r>
            <a:r>
              <a:rPr lang="en-US" dirty="0"/>
              <a:t>This doesn't consume premium tokens for advanced models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dirty="0"/>
              <a:t>Edit Mode:</a:t>
            </a:r>
            <a:endParaRPr lang="en-US" dirty="0"/>
          </a:p>
          <a:p>
            <a:r>
              <a:rPr lang="en-US" dirty="0"/>
              <a:t>Select code in a file</a:t>
            </a:r>
          </a:p>
          <a:p>
            <a:r>
              <a:rPr lang="en-US" dirty="0"/>
              <a:t>Ask Copilot to refactor it</a:t>
            </a:r>
          </a:p>
          <a:p>
            <a:r>
              <a:rPr lang="en-US" dirty="0"/>
              <a:t>Observe inline suggestions and changes</a:t>
            </a:r>
          </a:p>
          <a:p>
            <a:r>
              <a:rPr lang="en-US" dirty="0"/>
              <a:t>Accept or reject proposed changes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Agent Mode:</a:t>
            </a:r>
            <a:endParaRPr lang="en-US" dirty="0"/>
          </a:p>
          <a:p>
            <a:r>
              <a:rPr lang="en-US" dirty="0"/>
              <a:t>Ask Copilot to create a new file and add content</a:t>
            </a:r>
          </a:p>
          <a:p>
            <a:r>
              <a:rPr lang="en-US" dirty="0"/>
              <a:t>Request changes across multiple files</a:t>
            </a:r>
          </a:p>
          <a:p>
            <a:r>
              <a:rPr lang="en-US" dirty="0"/>
              <a:t>Have Copilot run terminal commands</a:t>
            </a:r>
          </a:p>
          <a:p>
            <a:r>
              <a:rPr lang="en-US" dirty="0"/>
              <a:t>Check premium token usage after agent actions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/>
              <a:t>Success Criteria</a:t>
            </a:r>
            <a:endParaRPr lang="en-US" dirty="0"/>
          </a:p>
          <a:p>
            <a:r>
              <a:rPr lang="en-US" dirty="0"/>
              <a:t>Can distinguish when to use each mode</a:t>
            </a:r>
          </a:p>
          <a:p>
            <a:r>
              <a:rPr lang="en-US" dirty="0"/>
              <a:t>Understand token consumption differences</a:t>
            </a:r>
          </a:p>
          <a:p>
            <a:r>
              <a:rPr lang="en-US" dirty="0"/>
              <a:t>Successfully use agent mode for multi-file operations</a:t>
            </a:r>
          </a:p>
        </p:txBody>
      </p:sp>
    </p:spTree>
    <p:extLst>
      <p:ext uri="{BB962C8B-B14F-4D97-AF65-F5344CB8AC3E}">
        <p14:creationId xmlns:p14="http://schemas.microsoft.com/office/powerpoint/2010/main" val="1697616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B1037-E3C9-620E-E508-CDA7B23E7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 Support for AI Assistance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28250-A147-2BF6-46BB-FF145AF0B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C7C87D1-6E27-71CC-6A0A-39B8AAC0CFED}"/>
              </a:ext>
            </a:extLst>
          </p:cNvPr>
          <p:cNvGraphicFramePr>
            <a:graphicFrameLocks noGrp="1"/>
          </p:cNvGraphicFramePr>
          <p:nvPr/>
        </p:nvGraphicFramePr>
        <p:xfrm>
          <a:off x="535389" y="1285384"/>
          <a:ext cx="10898585" cy="5124737"/>
        </p:xfrm>
        <a:graphic>
          <a:graphicData uri="http://schemas.openxmlformats.org/drawingml/2006/table">
            <a:tbl>
              <a:tblPr firstRow="1">
                <a:tableStyleId>{FABFCF23-3B69-468F-B69F-88F6DE6A72F2}</a:tableStyleId>
              </a:tblPr>
              <a:tblGrid>
                <a:gridCol w="1587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7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7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278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278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5563"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rPr sz="1200"/>
                        <a:t>IDE / Editor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rPr sz="1200"/>
                        <a:t>Built-In AI Features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rPr sz="1200" dirty="0"/>
                        <a:t>Supported AI Assistants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rPr sz="1200"/>
                        <a:t>Strengths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200" b="1"/>
                      </a:pPr>
                      <a:r>
                        <a:rPr sz="1200" dirty="0"/>
                        <a:t>Limitations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83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VS Code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Deep AI integration through extensions; increasingly AI-first workflows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 dirty="0"/>
                        <a:t>GitHub Copilot, Cline, ChatGPT-based extensions, Gemini integrations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Extremely flexible; huge ecosystem; top-tier AI support; widely adopted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Requires extension management; quality varies by plugin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6515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Visual Studio (Windows)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Native GitHub Copilot integration; AI-powered IntelliCode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GitHub Copilot, IntelliCode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Strong enterprise + .NET support; excellent refactoring and debugging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Less flexible than VS Code for non-Microsoft stacks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JetBrains IDEs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JetBrains AI Assistant; code completion, refactoring, doc generation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JetBrains AI Assistant, GitHub Copilot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Deep static analysis + AI; strong multi-language support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JetBrains AI Assistant is subscription-based; Copilot integration not as seamless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Cursor IDE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AI-first editor; conversational coding; multi-file reasoning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Built-in AI models (GPT-based, Claude-based), Copilot alternatives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Designed for AI pair-programming; strong repo-wide reasoning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Not a traditional IDE; still maturing for large enterprise workflows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783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Replit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AI-powered Ghostwriter for code generation, debugging, and explanations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Ghostwriter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Great for beginners and rapid prototyping; browser-based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Less powerful for large, multi-module projects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6515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Builder.io / Builder Code Editor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AI-enhanced coding environment with integrated assistants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Multiple AI integrations depending on setup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Strong web-dev focus; modern AI-native UX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Not a general-purpose IDE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6515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Code-B Editors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Predictive code generation, debugging, and review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Multiple AI models depending on configuration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Strong AI-centric workflows; optimized for speed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Less mainstream; smaller ecosystem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87839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Claude Code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Terminal-first AI coding assistant; autonomous repo-wide reasoning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lang="en-US" sz="1100" dirty="0"/>
                        <a:t>Latest models from Anthropic and other via configuration</a:t>
                      </a:r>
                      <a:endParaRPr sz="11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/>
                        <a:t>Exceptional multi-file context handling; ideal for agentic workflows and automated patching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rPr sz="1100" dirty="0"/>
                        <a:t>Not a GUI IDE; best suited for terminal-centric development and large codebases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9720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1335</Words>
  <Application>Microsoft Office PowerPoint</Application>
  <PresentationFormat>Widescreen</PresentationFormat>
  <Paragraphs>220</Paragraphs>
  <Slides>8</Slides>
  <Notes>3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Hands-On with GitHub Copilot</vt:lpstr>
      <vt:lpstr>Lab: Getting Started with GitHub Copilot</vt:lpstr>
      <vt:lpstr>Prompt Specificity</vt:lpstr>
      <vt:lpstr>Lab: Understanding Context Management</vt:lpstr>
      <vt:lpstr>Lab: Chat Management &amp; Workflow</vt:lpstr>
      <vt:lpstr>Using Copilot in different modes</vt:lpstr>
      <vt:lpstr>Lab: Exploring Copilot Modes</vt:lpstr>
      <vt:lpstr>IDE Support for AI Assistance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Miller</dc:creator>
  <cp:lastModifiedBy>John Miller</cp:lastModifiedBy>
  <cp:revision>1</cp:revision>
  <dcterms:created xsi:type="dcterms:W3CDTF">2026-03-05T03:14:48Z</dcterms:created>
  <dcterms:modified xsi:type="dcterms:W3CDTF">2026-03-05T03:15:48Z</dcterms:modified>
</cp:coreProperties>
</file>