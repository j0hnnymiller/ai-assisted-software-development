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447" r:id="rId2"/>
    <p:sldId id="448" r:id="rId3"/>
    <p:sldId id="449" r:id="rId4"/>
    <p:sldId id="450" r:id="rId5"/>
    <p:sldId id="451" r:id="rId6"/>
    <p:sldId id="452" r:id="rId7"/>
    <p:sldId id="45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E32DAF4-A89D-4A5F-A54B-AE6175DDCAAF}">
          <p14:sldIdLst/>
        </p14:section>
        <p14:section name="Addressing Technical Debt" id="{15028777-C2FC-4A70-A694-8B7BC883010E}">
          <p14:sldIdLst>
            <p14:sldId id="447"/>
            <p14:sldId id="448"/>
            <p14:sldId id="449"/>
            <p14:sldId id="450"/>
            <p14:sldId id="451"/>
            <p14:sldId id="452"/>
            <p14:sldId id="45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8C2DAF-196E-4D9D-A6DC-B2FC74E9217E}"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4BFCEE-9676-4B80-A3DD-553D14D3906F}" type="slidenum">
              <a:rPr lang="en-US" smtClean="0"/>
              <a:t>‹#›</a:t>
            </a:fld>
            <a:endParaRPr lang="en-US"/>
          </a:p>
        </p:txBody>
      </p:sp>
    </p:spTree>
    <p:extLst>
      <p:ext uri="{BB962C8B-B14F-4D97-AF65-F5344CB8AC3E}">
        <p14:creationId xmlns:p14="http://schemas.microsoft.com/office/powerpoint/2010/main" val="3639029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moment where AI becomes an active contributor to modernization. Technical debt is inevitable in brownfield systems, but AI can help teams address it safely, incrementally, and with strong guardrails.</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Copilot responds best to structured, high‑signal prompts. The more explicit the constraints, the safer and more predictable the remediation.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Assigning issues to Copilot formalizes the workflow. It treats Copilot like a junior developer who receives tasks, produces drafts, and awaits review.</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dirty="0"/>
              <a:t>::: notes**Overview**  When you assign an issue to GitHub Copilot on GitHub.com, Copilot behaves like a managed junior developer. It doesn’t magically “solve” the issue — it follows a structured workflow grounded in the issue description and repository context.**Reads the Issue and Context**  Copilot parses the issue body, labels, linked discussions, and any referenced files. The quality and specificity of the issue strongly influence the quality of the output.**Generates a Work Plan**  Copilot drafts an implementation plan. This may include steps, architectural notes, or a breakdown of required changes. It uses repository code, patterns, and conventions to stay consistent.**Creates or Updates Pull Requests**  Copilot opens a PR with proposed changes. These changes often include code, tests, and documentation updates. It may also update an existing PR if the issue is already in progress.**Responds to Feedback**  When maintainers leave comments, Copilot can revise the PR. It treats comments as instructions, similar to how a junior developer would respond to review notes.**Maintains Traceability**  Copilot links the PR back to the issue, references commits properly, and ensures the work is tracked through GitHub’s normal workflow. This supports auditability and provenance — something you and I both care about deeply.**Key Takeaway**  Copilot doesn’t replace engineering judgment. It accelerates the mechanical parts of implementation while relying on humans for direction, review, and acceptance.:::</a:t>
            </a:r>
            <a:endParaRPr dirty="0"/>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choose a real example from their brownfield system. The goal is clarity and safety, not complexity.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exercise reinforces the workflow of treating Copilot as a junior developer who receives tasks and produces drafts.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exercise builds confidence in delegating larger tasks while maintaining safety and architectural alignment. Emphasize that humans remain the final reviewers.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98003-5256-2E2C-5CDC-C82C8BCDE2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CFBB9A-8E17-D94C-D826-90713E8643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A88A8C-2788-595C-BFF9-A610CC8DD268}"/>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5" name="Footer Placeholder 4">
            <a:extLst>
              <a:ext uri="{FF2B5EF4-FFF2-40B4-BE49-F238E27FC236}">
                <a16:creationId xmlns:a16="http://schemas.microsoft.com/office/drawing/2014/main" id="{9A3C29DD-2C02-864C-58B1-58F7EC2525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8960A2-3101-FB67-1FE3-20BFBAE15C84}"/>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4088440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D3A97-5318-72D1-2608-7A287D92F8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2466D5-C306-71FE-C7DC-21F43D1A93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82B974-BEEB-757C-4E3F-C1B7DD31AE17}"/>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5" name="Footer Placeholder 4">
            <a:extLst>
              <a:ext uri="{FF2B5EF4-FFF2-40B4-BE49-F238E27FC236}">
                <a16:creationId xmlns:a16="http://schemas.microsoft.com/office/drawing/2014/main" id="{A263D7AF-9E7C-650F-B687-255407788F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206836-DAF2-3AA4-609E-783A2C01B5EC}"/>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423647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6E1EB-72F0-5A10-1584-1D8DF9FA42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33FEE3-275A-AC74-A24D-4AE8357FBA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9A663E-9E9F-3F22-2B85-AC3040760732}"/>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5" name="Footer Placeholder 4">
            <a:extLst>
              <a:ext uri="{FF2B5EF4-FFF2-40B4-BE49-F238E27FC236}">
                <a16:creationId xmlns:a16="http://schemas.microsoft.com/office/drawing/2014/main" id="{C3DD1087-D6E8-18EE-20F9-5C755BDC61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5B6792-9B16-AC96-982C-EB0437EE1355}"/>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1829757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86D0-7BA5-91E7-DF81-D999CECE00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BFA2C6-077B-172E-F43B-14DDF3A04F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091BDD-489A-B4C4-462C-B7065FC76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9406B9-4033-EC17-6710-A31EDF25001A}"/>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6" name="Footer Placeholder 5">
            <a:extLst>
              <a:ext uri="{FF2B5EF4-FFF2-40B4-BE49-F238E27FC236}">
                <a16:creationId xmlns:a16="http://schemas.microsoft.com/office/drawing/2014/main" id="{CC6D2C8A-344A-60B9-7FD8-804DEE946C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FC9E2F-7870-0AA8-F518-BB7E69E8D6AA}"/>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209824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F4E89-9A62-8EAC-471D-7C77A11D6F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D71E42-3B5D-7750-2374-FB686BD2E5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AF69EB-526D-0F2F-3B60-F0AFAF2B64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F8997A-6312-F102-4EB5-B07425041C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D778DC-C88A-F41A-7545-B0F20545B4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62F0EB-3D55-F061-7FB6-EC369511D7E8}"/>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8" name="Footer Placeholder 7">
            <a:extLst>
              <a:ext uri="{FF2B5EF4-FFF2-40B4-BE49-F238E27FC236}">
                <a16:creationId xmlns:a16="http://schemas.microsoft.com/office/drawing/2014/main" id="{3D3B0DC4-186E-E21B-66C5-594465CBEE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C62B26-2ECB-143A-AF73-A1B59F5B4CEE}"/>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1108484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2502A-EE0B-353B-3340-A330F1090C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C41B0F-F7B2-543D-3D78-8F46663BC229}"/>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4" name="Footer Placeholder 3">
            <a:extLst>
              <a:ext uri="{FF2B5EF4-FFF2-40B4-BE49-F238E27FC236}">
                <a16:creationId xmlns:a16="http://schemas.microsoft.com/office/drawing/2014/main" id="{017C4F08-F993-1B93-6FA9-DF53BB3E40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90CFAA-943F-E497-945E-FB3F6FD40C22}"/>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3925196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AD7C7B-10CD-C803-63B7-4B7B221725AB}"/>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3" name="Footer Placeholder 2">
            <a:extLst>
              <a:ext uri="{FF2B5EF4-FFF2-40B4-BE49-F238E27FC236}">
                <a16:creationId xmlns:a16="http://schemas.microsoft.com/office/drawing/2014/main" id="{F9D05648-B476-9E28-A95E-544FB68061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0D917E-B15A-CD5D-3198-89591A0F91F9}"/>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1164456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46076-3758-4011-37C4-6A6F1D1BE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AC06A7-477A-C574-7D53-136312CC83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A17927-D54E-A3B7-7C49-C9C3958F3B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B7B335-F3B9-A58A-FC52-3C37ABB8A3B1}"/>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6" name="Footer Placeholder 5">
            <a:extLst>
              <a:ext uri="{FF2B5EF4-FFF2-40B4-BE49-F238E27FC236}">
                <a16:creationId xmlns:a16="http://schemas.microsoft.com/office/drawing/2014/main" id="{BBE1916D-606D-B5F2-398F-6C1F9C9F58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A3E36D-8555-3E5B-4C5B-867A30C65842}"/>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4021744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5A0DB-A3D7-C52F-6810-F24C4CF967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023BEE-41E0-350E-A5BC-5F87F2CC76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19E78E-BF25-64BF-88B8-DB18C35CF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F173CE-1AF6-CB39-9FE9-E2F524F5DB06}"/>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6" name="Footer Placeholder 5">
            <a:extLst>
              <a:ext uri="{FF2B5EF4-FFF2-40B4-BE49-F238E27FC236}">
                <a16:creationId xmlns:a16="http://schemas.microsoft.com/office/drawing/2014/main" id="{8BF7001C-C433-2004-7685-E18637AD1F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CCBD21-C170-BD4C-8733-B378F211C4DD}"/>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3949911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4E7DD-AA57-C945-D43F-14672AE6F1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5E25B8-4B2A-C415-301C-0E64EEBEFC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580984-B827-6729-1BD2-5ADE7F727E94}"/>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5" name="Footer Placeholder 4">
            <a:extLst>
              <a:ext uri="{FF2B5EF4-FFF2-40B4-BE49-F238E27FC236}">
                <a16:creationId xmlns:a16="http://schemas.microsoft.com/office/drawing/2014/main" id="{69C78623-D215-AF4D-0EFD-5A6CB8CB7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32F799-84A5-8118-910F-E57B2F795D5F}"/>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54690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5C3B24-FE83-BE16-B814-B52143F63C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ECDA39-7AE6-67E0-8E0A-A7A69B1A71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F576ED-ACB5-0CE9-19C8-4C6ECFDADB33}"/>
              </a:ext>
            </a:extLst>
          </p:cNvPr>
          <p:cNvSpPr>
            <a:spLocks noGrp="1"/>
          </p:cNvSpPr>
          <p:nvPr>
            <p:ph type="dt" sz="half" idx="10"/>
          </p:nvPr>
        </p:nvSpPr>
        <p:spPr/>
        <p:txBody>
          <a:bodyPr/>
          <a:lstStyle/>
          <a:p>
            <a:fld id="{F923C9AC-C4CC-4FE2-9A3B-DB19901BEE4C}" type="datetimeFigureOut">
              <a:rPr lang="en-US" smtClean="0"/>
              <a:t>3/5/2026</a:t>
            </a:fld>
            <a:endParaRPr lang="en-US"/>
          </a:p>
        </p:txBody>
      </p:sp>
      <p:sp>
        <p:nvSpPr>
          <p:cNvPr id="5" name="Footer Placeholder 4">
            <a:extLst>
              <a:ext uri="{FF2B5EF4-FFF2-40B4-BE49-F238E27FC236}">
                <a16:creationId xmlns:a16="http://schemas.microsoft.com/office/drawing/2014/main" id="{0ED094D2-331B-8EB0-1405-4107814BC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1C11EC-DD61-E7F3-E657-E1524E2F1EA0}"/>
              </a:ext>
            </a:extLst>
          </p:cNvPr>
          <p:cNvSpPr>
            <a:spLocks noGrp="1"/>
          </p:cNvSpPr>
          <p:nvPr>
            <p:ph type="sldNum" sz="quarter" idx="12"/>
          </p:nvPr>
        </p:nvSpPr>
        <p:spPr/>
        <p:txBody>
          <a:bodyPr/>
          <a:lstStyle/>
          <a:p>
            <a:fld id="{4EC31EAD-4F45-448D-BB1E-B65DF4C9C3F6}" type="slidenum">
              <a:rPr lang="en-US" smtClean="0"/>
              <a:t>‹#›</a:t>
            </a:fld>
            <a:endParaRPr lang="en-US"/>
          </a:p>
        </p:txBody>
      </p:sp>
    </p:spTree>
    <p:extLst>
      <p:ext uri="{BB962C8B-B14F-4D97-AF65-F5344CB8AC3E}">
        <p14:creationId xmlns:p14="http://schemas.microsoft.com/office/powerpoint/2010/main" val="2123373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03EBA8-352E-4848-F0D9-C9DF486D9F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187145-868B-974B-E6D4-59CC264B31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53EBCC-8531-E354-26CA-EC535F45F8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23C9AC-C4CC-4FE2-9A3B-DB19901BEE4C}" type="datetimeFigureOut">
              <a:rPr lang="en-US" smtClean="0"/>
              <a:t>3/5/2026</a:t>
            </a:fld>
            <a:endParaRPr lang="en-US"/>
          </a:p>
        </p:txBody>
      </p:sp>
      <p:sp>
        <p:nvSpPr>
          <p:cNvPr id="5" name="Footer Placeholder 4">
            <a:extLst>
              <a:ext uri="{FF2B5EF4-FFF2-40B4-BE49-F238E27FC236}">
                <a16:creationId xmlns:a16="http://schemas.microsoft.com/office/drawing/2014/main" id="{A6519469-FD9A-18D9-974A-FCFFDB3EBC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FF2F07-4BEF-1903-C215-05CCABE396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C31EAD-4F45-448D-BB1E-B65DF4C9C3F6}" type="slidenum">
              <a:rPr lang="en-US" smtClean="0"/>
              <a:t>‹#›</a:t>
            </a:fld>
            <a:endParaRPr lang="en-US"/>
          </a:p>
        </p:txBody>
      </p:sp>
    </p:spTree>
    <p:extLst>
      <p:ext uri="{BB962C8B-B14F-4D97-AF65-F5344CB8AC3E}">
        <p14:creationId xmlns:p14="http://schemas.microsoft.com/office/powerpoint/2010/main" val="35993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t>Addressing Technical Debt</a:t>
            </a:r>
          </a:p>
        </p:txBody>
      </p:sp>
      <p:sp>
        <p:nvSpPr>
          <p:cNvPr id="3" name="Content Placeholder 2"/>
          <p:cNvSpPr>
            <a:spLocks noGrp="1"/>
          </p:cNvSpPr>
          <p:nvPr>
            <p:ph idx="1"/>
          </p:nvPr>
        </p:nvSpPr>
        <p:spPr/>
        <p:txBody>
          <a:bodyPr/>
          <a:lstStyle/>
          <a:p>
            <a:pPr lvl="0"/>
            <a:r>
              <a:t>Prompting Copilot to address debt</a:t>
            </a:r>
          </a:p>
          <a:p>
            <a:pPr lvl="0"/>
            <a:r>
              <a:t>Assigning issues to Copilot</a:t>
            </a:r>
          </a:p>
          <a:p>
            <a:pPr lvl="0"/>
            <a:r>
              <a:t>What Copilot does with assigned issues</a:t>
            </a:r>
          </a:p>
          <a:p>
            <a:pPr lvl="0"/>
            <a:r>
              <a:t>Exercises for hands‑on practice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Prompting Copilot to Address Technical Debt</a:t>
            </a:r>
          </a:p>
        </p:txBody>
      </p:sp>
      <p:sp>
        <p:nvSpPr>
          <p:cNvPr id="3" name="Content Placeholder 2"/>
          <p:cNvSpPr>
            <a:spLocks noGrp="1"/>
          </p:cNvSpPr>
          <p:nvPr>
            <p:ph idx="1"/>
          </p:nvPr>
        </p:nvSpPr>
        <p:spPr/>
        <p:txBody>
          <a:bodyPr>
            <a:normAutofit fontScale="85000" lnSpcReduction="20000"/>
          </a:bodyPr>
          <a:lstStyle/>
          <a:p>
            <a:pPr marL="0" indent="0">
              <a:spcBef>
                <a:spcPts val="4000"/>
              </a:spcBef>
              <a:buNone/>
            </a:pPr>
            <a:r>
              <a:rPr b="1"/>
              <a:t>Effective prompts include:</a:t>
            </a:r>
          </a:p>
          <a:p>
            <a:pPr lvl="0"/>
            <a:r>
              <a:t>Clear description of the debt</a:t>
            </a:r>
          </a:p>
          <a:p>
            <a:pPr lvl="0"/>
            <a:r>
              <a:t>Constraints and architectural rules</a:t>
            </a:r>
          </a:p>
          <a:p>
            <a:pPr lvl="0"/>
            <a:r>
              <a:t>Expected outcomes</a:t>
            </a:r>
          </a:p>
          <a:p>
            <a:pPr lvl="0"/>
            <a:r>
              <a:t>Required tests and documentation updates</a:t>
            </a:r>
          </a:p>
          <a:p>
            <a:pPr lvl="0"/>
            <a:r>
              <a:t>Provenance requirements</a:t>
            </a:r>
          </a:p>
          <a:p>
            <a:pPr marL="0" indent="0">
              <a:spcBef>
                <a:spcPts val="4000"/>
              </a:spcBef>
              <a:buNone/>
            </a:pPr>
            <a:r>
              <a:rPr b="1"/>
              <a:t>Benefits</a:t>
            </a:r>
          </a:p>
          <a:p>
            <a:pPr lvl="0"/>
            <a:r>
              <a:t>Faster remediation</a:t>
            </a:r>
          </a:p>
          <a:p>
            <a:pPr lvl="0"/>
            <a:r>
              <a:t>Consistent application of patterns</a:t>
            </a:r>
          </a:p>
          <a:p>
            <a:pPr lvl="0"/>
            <a:r>
              <a:t>Reduced manual effort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Assigning Issues to Copilot</a:t>
            </a:r>
          </a:p>
        </p:txBody>
      </p:sp>
      <p:sp>
        <p:nvSpPr>
          <p:cNvPr id="3" name="Content Placeholder 2"/>
          <p:cNvSpPr>
            <a:spLocks noGrp="1"/>
          </p:cNvSpPr>
          <p:nvPr>
            <p:ph idx="1"/>
          </p:nvPr>
        </p:nvSpPr>
        <p:spPr/>
        <p:txBody>
          <a:bodyPr>
            <a:normAutofit fontScale="92500" lnSpcReduction="20000"/>
          </a:bodyPr>
          <a:lstStyle/>
          <a:p>
            <a:pPr marL="0" indent="0">
              <a:spcBef>
                <a:spcPts val="4000"/>
              </a:spcBef>
              <a:buNone/>
            </a:pPr>
            <a:r>
              <a:rPr b="1"/>
              <a:t>How assignment works</a:t>
            </a:r>
          </a:p>
          <a:p>
            <a:pPr lvl="0"/>
            <a:r>
              <a:t>Convert technical debt into GitHub issues</a:t>
            </a:r>
          </a:p>
          <a:p>
            <a:pPr lvl="0"/>
            <a:r>
              <a:t>Provide context, constraints, and acceptance criteria</a:t>
            </a:r>
          </a:p>
          <a:p>
            <a:pPr lvl="0"/>
            <a:r>
              <a:t>Use Copilot to draft remediation steps</a:t>
            </a:r>
          </a:p>
          <a:p>
            <a:pPr lvl="0"/>
            <a:r>
              <a:t>Let Copilot propose code changes in PRs</a:t>
            </a:r>
          </a:p>
          <a:p>
            <a:pPr marL="0" indent="0">
              <a:spcBef>
                <a:spcPts val="4000"/>
              </a:spcBef>
              <a:buNone/>
            </a:pPr>
            <a:r>
              <a:rPr b="1"/>
              <a:t>Why assign issues?</a:t>
            </a:r>
          </a:p>
          <a:p>
            <a:pPr lvl="0"/>
            <a:r>
              <a:t>Creates a repeatable workflow</a:t>
            </a:r>
          </a:p>
          <a:p>
            <a:pPr lvl="0"/>
            <a:r>
              <a:t>Keeps humans in the reviewer role</a:t>
            </a:r>
          </a:p>
          <a:p>
            <a:pPr lvl="0"/>
            <a:r>
              <a:t>Ensures traceability and provenance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What Copilot Does With Assigned Issues</a:t>
            </a:r>
          </a:p>
        </p:txBody>
      </p:sp>
      <p:sp>
        <p:nvSpPr>
          <p:cNvPr id="3" name="Content Placeholder 2"/>
          <p:cNvSpPr>
            <a:spLocks noGrp="1"/>
          </p:cNvSpPr>
          <p:nvPr>
            <p:ph idx="1"/>
          </p:nvPr>
        </p:nvSpPr>
        <p:spPr/>
        <p:txBody>
          <a:bodyPr numCol="2">
            <a:normAutofit/>
          </a:bodyPr>
          <a:lstStyle/>
          <a:p>
            <a:pPr>
              <a:spcBef>
                <a:spcPts val="4000"/>
              </a:spcBef>
            </a:pPr>
            <a:r>
              <a:rPr lang="en-US" dirty="0"/>
              <a:t>Copilot reads the issue description and linked context </a:t>
            </a:r>
          </a:p>
          <a:p>
            <a:pPr>
              <a:spcBef>
                <a:spcPts val="4000"/>
              </a:spcBef>
            </a:pPr>
            <a:r>
              <a:rPr lang="en-US" dirty="0"/>
              <a:t>Generates a proposed plan or implementation approach  </a:t>
            </a:r>
          </a:p>
          <a:p>
            <a:pPr>
              <a:spcBef>
                <a:spcPts val="4000"/>
              </a:spcBef>
            </a:pPr>
            <a:r>
              <a:rPr lang="en-US" dirty="0"/>
              <a:t>Creates or updates pull requests with code changes</a:t>
            </a:r>
          </a:p>
          <a:p>
            <a:pPr>
              <a:spcBef>
                <a:spcPts val="4000"/>
              </a:spcBef>
            </a:pPr>
            <a:r>
              <a:rPr lang="en-US" dirty="0"/>
              <a:t>Adds explanations, tests, and documentation as needed</a:t>
            </a:r>
          </a:p>
          <a:p>
            <a:pPr>
              <a:spcBef>
                <a:spcPts val="4000"/>
              </a:spcBef>
            </a:pPr>
            <a:r>
              <a:rPr lang="en-US" dirty="0"/>
              <a:t>Iterates based on review comments  </a:t>
            </a:r>
          </a:p>
          <a:p>
            <a:pPr>
              <a:spcBef>
                <a:spcPts val="4000"/>
              </a:spcBef>
            </a:pPr>
            <a:r>
              <a:rPr lang="en-US" dirty="0"/>
              <a:t>Maintains traceability between issue → PR → commits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Exercise: Prompt Copilot to Address Technical Debt</a:t>
            </a:r>
          </a:p>
        </p:txBody>
      </p:sp>
      <p:sp>
        <p:nvSpPr>
          <p:cNvPr id="3" name="Content Placeholder 2"/>
          <p:cNvSpPr>
            <a:spLocks noGrp="1"/>
          </p:cNvSpPr>
          <p:nvPr>
            <p:ph idx="1"/>
          </p:nvPr>
        </p:nvSpPr>
        <p:spPr/>
        <p:txBody>
          <a:bodyPr numCol="2">
            <a:normAutofit fontScale="77500" lnSpcReduction="20000"/>
          </a:bodyPr>
          <a:lstStyle/>
          <a:p>
            <a:pPr marL="0" indent="0">
              <a:spcBef>
                <a:spcPts val="4000"/>
              </a:spcBef>
              <a:buNone/>
            </a:pPr>
            <a:r>
              <a:rPr b="1" dirty="0"/>
              <a:t>Duration</a:t>
            </a:r>
          </a:p>
          <a:p>
            <a:pPr marL="0" indent="0">
              <a:buNone/>
            </a:pPr>
            <a:r>
              <a:rPr dirty="0"/>
              <a:t>10 minutes</a:t>
            </a:r>
          </a:p>
          <a:p>
            <a:pPr marL="0" indent="0">
              <a:spcBef>
                <a:spcPts val="4000"/>
              </a:spcBef>
              <a:buNone/>
            </a:pPr>
            <a:r>
              <a:rPr b="1" dirty="0"/>
              <a:t>Objectives</a:t>
            </a:r>
          </a:p>
          <a:p>
            <a:pPr lvl="0"/>
            <a:r>
              <a:rPr dirty="0"/>
              <a:t>Practice writing high‑signal prompts</a:t>
            </a:r>
          </a:p>
          <a:p>
            <a:pPr lvl="0"/>
            <a:r>
              <a:rPr dirty="0"/>
              <a:t>Apply architectural constraints</a:t>
            </a:r>
          </a:p>
          <a:p>
            <a:pPr lvl="0"/>
            <a:r>
              <a:rPr dirty="0"/>
              <a:t>Produce safe, incremental remediation requests</a:t>
            </a:r>
          </a:p>
          <a:p>
            <a:pPr marL="0" indent="0">
              <a:spcBef>
                <a:spcPts val="4000"/>
              </a:spcBef>
              <a:buNone/>
            </a:pPr>
            <a:r>
              <a:rPr b="1" dirty="0"/>
              <a:t>Activities</a:t>
            </a:r>
          </a:p>
          <a:p>
            <a:pPr marL="457189" indent="-457189">
              <a:buAutoNum type="arabicPeriod"/>
            </a:pPr>
            <a:r>
              <a:rPr dirty="0"/>
              <a:t>Select a small piece of technical debt.</a:t>
            </a:r>
          </a:p>
          <a:p>
            <a:pPr marL="457189" indent="-457189">
              <a:buAutoNum type="arabicPeriod"/>
            </a:pPr>
            <a:r>
              <a:rPr dirty="0"/>
              <a:t>Write a prompt that includes:</a:t>
            </a:r>
          </a:p>
          <a:p>
            <a:pPr lvl="1"/>
            <a:r>
              <a:rPr dirty="0"/>
              <a:t>Description of the debt</a:t>
            </a:r>
          </a:p>
          <a:p>
            <a:pPr lvl="1"/>
            <a:r>
              <a:rPr dirty="0"/>
              <a:t>Constraints and rules</a:t>
            </a:r>
          </a:p>
          <a:p>
            <a:pPr lvl="1"/>
            <a:r>
              <a:rPr dirty="0"/>
              <a:t>Expected behavior</a:t>
            </a:r>
          </a:p>
          <a:p>
            <a:pPr lvl="1"/>
            <a:r>
              <a:rPr dirty="0"/>
              <a:t>Required tests and documentation</a:t>
            </a:r>
          </a:p>
          <a:p>
            <a:pPr marL="457189" indent="-457189">
              <a:buAutoNum type="arabicPeriod"/>
            </a:pPr>
            <a:r>
              <a:rPr dirty="0"/>
              <a:t>Ask Copilot to propose a remediation.</a:t>
            </a:r>
          </a:p>
          <a:p>
            <a:pPr marL="457189" indent="-457189">
              <a:buAutoNum type="arabicPeriod"/>
            </a:pPr>
            <a:r>
              <a:rPr dirty="0"/>
              <a:t>Review the output for correctness.</a:t>
            </a:r>
          </a:p>
          <a:p>
            <a:pPr marL="0" indent="0">
              <a:spcBef>
                <a:spcPts val="4000"/>
              </a:spcBef>
              <a:buNone/>
            </a:pPr>
            <a:r>
              <a:rPr b="1" dirty="0"/>
              <a:t>Success Criteria</a:t>
            </a:r>
          </a:p>
          <a:p>
            <a:pPr lvl="0"/>
            <a:r>
              <a:rPr dirty="0"/>
              <a:t>Prompt is clear, scoped, and actionable</a:t>
            </a:r>
          </a:p>
          <a:p>
            <a:pPr lvl="0"/>
            <a:r>
              <a:rPr dirty="0"/>
              <a:t>Copilot produces a safe, incremental change</a:t>
            </a:r>
          </a:p>
          <a:p>
            <a:pPr lvl="0"/>
            <a:r>
              <a:rPr dirty="0"/>
              <a:t>Output aligns with architectural rules</a:t>
            </a:r>
          </a:p>
          <a:p>
            <a:pPr lvl="0"/>
            <a:r>
              <a:rPr dirty="0"/>
              <a:t>Provenance metadata is included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Exercise: Assigning an Issue to Copilot</a:t>
            </a:r>
          </a:p>
        </p:txBody>
      </p:sp>
      <p:sp>
        <p:nvSpPr>
          <p:cNvPr id="3" name="Content Placeholder 2"/>
          <p:cNvSpPr>
            <a:spLocks noGrp="1"/>
          </p:cNvSpPr>
          <p:nvPr>
            <p:ph idx="1"/>
          </p:nvPr>
        </p:nvSpPr>
        <p:spPr/>
        <p:txBody>
          <a:bodyPr numCol="2">
            <a:normAutofit fontScale="70000" lnSpcReduction="20000"/>
          </a:bodyPr>
          <a:lstStyle/>
          <a:p>
            <a:pPr marL="0" indent="0">
              <a:spcBef>
                <a:spcPts val="4000"/>
              </a:spcBef>
              <a:buNone/>
            </a:pPr>
            <a:r>
              <a:rPr b="1" dirty="0"/>
              <a:t>Duration</a:t>
            </a:r>
          </a:p>
          <a:p>
            <a:pPr marL="0" indent="0">
              <a:buNone/>
            </a:pPr>
            <a:r>
              <a:rPr dirty="0"/>
              <a:t>10 minutes</a:t>
            </a:r>
          </a:p>
          <a:p>
            <a:pPr marL="0" indent="0">
              <a:spcBef>
                <a:spcPts val="4000"/>
              </a:spcBef>
              <a:buNone/>
            </a:pPr>
            <a:r>
              <a:rPr b="1" dirty="0"/>
              <a:t>Objectives</a:t>
            </a:r>
          </a:p>
          <a:p>
            <a:pPr lvl="0"/>
            <a:r>
              <a:rPr dirty="0"/>
              <a:t>Convert technical debt into a structured issue</a:t>
            </a:r>
          </a:p>
          <a:p>
            <a:pPr lvl="0"/>
            <a:r>
              <a:rPr dirty="0"/>
              <a:t>Provide Copilot with actionable context</a:t>
            </a:r>
          </a:p>
          <a:p>
            <a:pPr lvl="0"/>
            <a:r>
              <a:rPr dirty="0"/>
              <a:t>Practice writing acceptance criteria</a:t>
            </a:r>
          </a:p>
          <a:p>
            <a:pPr marL="0" indent="0">
              <a:spcBef>
                <a:spcPts val="4000"/>
              </a:spcBef>
              <a:buNone/>
            </a:pPr>
            <a:r>
              <a:rPr b="1" dirty="0"/>
              <a:t>Activities</a:t>
            </a:r>
          </a:p>
          <a:p>
            <a:pPr marL="457189" indent="-457189">
              <a:buAutoNum type="arabicPeriod"/>
            </a:pPr>
            <a:r>
              <a:rPr dirty="0"/>
              <a:t>Select a technical debt item.</a:t>
            </a:r>
          </a:p>
          <a:p>
            <a:pPr marL="457189" indent="-457189">
              <a:buAutoNum type="arabicPeriod"/>
            </a:pPr>
            <a:r>
              <a:rPr dirty="0"/>
              <a:t>Create a GitHub‑style issue with:</a:t>
            </a:r>
          </a:p>
          <a:p>
            <a:pPr lvl="1"/>
            <a:r>
              <a:rPr dirty="0"/>
              <a:t>Title</a:t>
            </a:r>
          </a:p>
          <a:p>
            <a:pPr lvl="1"/>
            <a:r>
              <a:rPr dirty="0"/>
              <a:t>Description</a:t>
            </a:r>
          </a:p>
          <a:p>
            <a:pPr lvl="1"/>
            <a:r>
              <a:rPr dirty="0"/>
              <a:t>Impact and risk</a:t>
            </a:r>
          </a:p>
          <a:p>
            <a:pPr lvl="1"/>
            <a:r>
              <a:rPr dirty="0"/>
              <a:t>Acceptance criteria</a:t>
            </a:r>
          </a:p>
          <a:p>
            <a:pPr lvl="1"/>
            <a:r>
              <a:rPr dirty="0"/>
              <a:t>Provenance metadata</a:t>
            </a:r>
          </a:p>
          <a:p>
            <a:pPr marL="457189" indent="-457189">
              <a:buAutoNum type="arabicPeriod"/>
            </a:pPr>
            <a:r>
              <a:rPr dirty="0"/>
              <a:t>Assign the issue to Copilot.</a:t>
            </a:r>
          </a:p>
          <a:p>
            <a:pPr marL="457189" indent="-457189">
              <a:buAutoNum type="arabicPeriod"/>
            </a:pPr>
            <a:r>
              <a:rPr dirty="0"/>
              <a:t>Review Copilot’s proposed remediation.</a:t>
            </a:r>
          </a:p>
          <a:p>
            <a:pPr marL="0" indent="0">
              <a:spcBef>
                <a:spcPts val="4000"/>
              </a:spcBef>
              <a:buNone/>
            </a:pPr>
            <a:r>
              <a:rPr b="1" dirty="0"/>
              <a:t>Success Criteria</a:t>
            </a:r>
          </a:p>
          <a:p>
            <a:pPr lvl="0"/>
            <a:r>
              <a:rPr dirty="0"/>
              <a:t>Issue is clear and well‑structured</a:t>
            </a:r>
          </a:p>
          <a:p>
            <a:pPr lvl="0"/>
            <a:r>
              <a:rPr dirty="0"/>
              <a:t>Acceptance criteria are testable</a:t>
            </a:r>
          </a:p>
          <a:p>
            <a:pPr lvl="0"/>
            <a:r>
              <a:rPr dirty="0"/>
              <a:t>Copilot produces a relevant draft</a:t>
            </a:r>
          </a:p>
          <a:p>
            <a:pPr lvl="0"/>
            <a:r>
              <a:rPr dirty="0"/>
              <a:t>Provenance metadata is present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Exercise: Delegating Work to Copilot</a:t>
            </a:r>
          </a:p>
        </p:txBody>
      </p:sp>
      <p:sp>
        <p:nvSpPr>
          <p:cNvPr id="3" name="Content Placeholder 2"/>
          <p:cNvSpPr>
            <a:spLocks noGrp="1"/>
          </p:cNvSpPr>
          <p:nvPr>
            <p:ph idx="1"/>
          </p:nvPr>
        </p:nvSpPr>
        <p:spPr/>
        <p:txBody>
          <a:bodyPr numCol="2">
            <a:normAutofit fontScale="70000" lnSpcReduction="20000"/>
          </a:bodyPr>
          <a:lstStyle/>
          <a:p>
            <a:pPr marL="0" indent="0">
              <a:spcBef>
                <a:spcPts val="4000"/>
              </a:spcBef>
              <a:buNone/>
            </a:pPr>
            <a:r>
              <a:rPr b="1" dirty="0"/>
              <a:t>Duration</a:t>
            </a:r>
          </a:p>
          <a:p>
            <a:pPr marL="0" indent="0">
              <a:buNone/>
            </a:pPr>
            <a:r>
              <a:rPr dirty="0"/>
              <a:t>15 minutes</a:t>
            </a:r>
          </a:p>
          <a:p>
            <a:pPr marL="0" indent="0">
              <a:spcBef>
                <a:spcPts val="4000"/>
              </a:spcBef>
              <a:buNone/>
            </a:pPr>
            <a:r>
              <a:rPr b="1" dirty="0"/>
              <a:t>Objectives</a:t>
            </a:r>
          </a:p>
          <a:p>
            <a:pPr lvl="0"/>
            <a:r>
              <a:rPr dirty="0"/>
              <a:t>Practice delegating multi‑step tasks</a:t>
            </a:r>
          </a:p>
          <a:p>
            <a:pPr lvl="0"/>
            <a:r>
              <a:rPr dirty="0"/>
              <a:t>Ensure Copilot follows architectural rules</a:t>
            </a:r>
          </a:p>
          <a:p>
            <a:pPr lvl="0"/>
            <a:r>
              <a:rPr dirty="0"/>
              <a:t>Validate AI‑generated remediation plans</a:t>
            </a:r>
          </a:p>
          <a:p>
            <a:pPr marL="0" indent="0">
              <a:spcBef>
                <a:spcPts val="4000"/>
              </a:spcBef>
              <a:buNone/>
            </a:pPr>
            <a:r>
              <a:rPr b="1" dirty="0"/>
              <a:t>Activities</a:t>
            </a:r>
          </a:p>
          <a:p>
            <a:pPr marL="457189" indent="-457189">
              <a:buAutoNum type="arabicPeriod"/>
            </a:pPr>
            <a:r>
              <a:rPr dirty="0"/>
              <a:t>Select a multi‑step technical debt item.</a:t>
            </a:r>
          </a:p>
          <a:p>
            <a:pPr marL="457189" indent="-457189">
              <a:buAutoNum type="arabicPeriod"/>
            </a:pPr>
            <a:r>
              <a:rPr dirty="0"/>
              <a:t>Ask Copilot to:</a:t>
            </a:r>
          </a:p>
          <a:p>
            <a:pPr lvl="1"/>
            <a:r>
              <a:rPr dirty="0"/>
              <a:t>Analyze the problem</a:t>
            </a:r>
          </a:p>
          <a:p>
            <a:pPr lvl="1"/>
            <a:r>
              <a:rPr dirty="0"/>
              <a:t>Propose a remediation plan</a:t>
            </a:r>
          </a:p>
          <a:p>
            <a:pPr lvl="1"/>
            <a:r>
              <a:rPr dirty="0"/>
              <a:t>Generate code changes</a:t>
            </a:r>
          </a:p>
          <a:p>
            <a:pPr lvl="1"/>
            <a:r>
              <a:rPr dirty="0"/>
              <a:t>Update tests</a:t>
            </a:r>
          </a:p>
          <a:p>
            <a:pPr lvl="1"/>
            <a:r>
              <a:rPr dirty="0"/>
              <a:t>Update documentation</a:t>
            </a:r>
          </a:p>
          <a:p>
            <a:pPr marL="457189" indent="-457189">
              <a:buAutoNum type="arabicPeriod"/>
            </a:pPr>
            <a:r>
              <a:rPr dirty="0"/>
              <a:t>Review Copilot’s output.</a:t>
            </a:r>
          </a:p>
          <a:p>
            <a:pPr marL="457189" indent="-457189">
              <a:buAutoNum type="arabicPeriod"/>
            </a:pPr>
            <a:r>
              <a:rPr dirty="0"/>
              <a:t>Identify missing context or risks.</a:t>
            </a:r>
          </a:p>
          <a:p>
            <a:pPr marL="0" indent="0">
              <a:spcBef>
                <a:spcPts val="4000"/>
              </a:spcBef>
              <a:buNone/>
            </a:pPr>
            <a:r>
              <a:rPr b="1" dirty="0"/>
              <a:t>Success Criteria</a:t>
            </a:r>
          </a:p>
          <a:p>
            <a:pPr lvl="0"/>
            <a:r>
              <a:rPr dirty="0"/>
              <a:t>Delegation prompt is complete and structured</a:t>
            </a:r>
          </a:p>
          <a:p>
            <a:pPr lvl="0"/>
            <a:r>
              <a:rPr dirty="0"/>
              <a:t>Copilot produces a multi‑step plan</a:t>
            </a:r>
          </a:p>
          <a:p>
            <a:pPr lvl="0"/>
            <a:r>
              <a:rPr dirty="0"/>
              <a:t>Output is safe, incremental, and reversible</a:t>
            </a:r>
          </a:p>
          <a:p>
            <a:pPr lvl="0"/>
            <a:r>
              <a:rPr dirty="0"/>
              <a:t>Human review identifies any gaps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868</Words>
  <Application>Microsoft Office PowerPoint</Application>
  <PresentationFormat>Widescreen</PresentationFormat>
  <Paragraphs>112</Paragraphs>
  <Slides>7</Slides>
  <Notes>7</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Addressing Technical Debt</vt:lpstr>
      <vt:lpstr>Prompting Copilot to Address Technical Debt</vt:lpstr>
      <vt:lpstr>Assigning Issues to Copilot</vt:lpstr>
      <vt:lpstr>What Copilot Does With Assigned Issues</vt:lpstr>
      <vt:lpstr>Exercise: Prompt Copilot to Address Technical Debt</vt:lpstr>
      <vt:lpstr>Exercise: Assigning an Issue to Copilot</vt:lpstr>
      <vt:lpstr>Exercise: Delegating Work to Copilot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cp:revision>
  <dcterms:created xsi:type="dcterms:W3CDTF">2026-03-05T21:03:57Z</dcterms:created>
  <dcterms:modified xsi:type="dcterms:W3CDTF">2026-03-05T21:04:26Z</dcterms:modified>
</cp:coreProperties>
</file>