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403" r:id="rId2"/>
    <p:sldId id="404" r:id="rId3"/>
    <p:sldId id="405" r:id="rId4"/>
    <p:sldId id="40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083A479-A30D-404A-ACEB-F3BE913AEAA4}">
          <p14:sldIdLst/>
        </p14:section>
        <p14:section name="Building a Backlog" id="{5E2DE540-5057-43B0-B87D-9B826E902ABF}">
          <p14:sldIdLst>
            <p14:sldId id="403"/>
            <p14:sldId id="404"/>
            <p14:sldId id="405"/>
            <p14:sldId id="40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60"/>
  </p:normalViewPr>
  <p:slideViewPr>
    <p:cSldViewPr snapToGrid="0">
      <p:cViewPr varScale="1">
        <p:scale>
          <a:sx n="160" d="100"/>
          <a:sy n="160" d="100"/>
        </p:scale>
        <p:origin x="1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256F28-3B72-43B8-B8FA-CDBE3624CA90}"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36102E-2040-4E35-A1D2-8048C7B286B5}" type="slidenum">
              <a:rPr lang="en-US" smtClean="0"/>
              <a:t>‹#›</a:t>
            </a:fld>
            <a:endParaRPr lang="en-US"/>
          </a:p>
        </p:txBody>
      </p:sp>
    </p:spTree>
    <p:extLst>
      <p:ext uri="{BB962C8B-B14F-4D97-AF65-F5344CB8AC3E}">
        <p14:creationId xmlns:p14="http://schemas.microsoft.com/office/powerpoint/2010/main" val="1371181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this module as the bridge between analysis and action. Once AI identifies risks, gaps, and modernization opportunities, teams need a structured backlog to manage the work. Emphasize that backlog creation is not just administrative — it is a core governance mechanism for safe AI-assisted modernization.</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that AI excels at scanning large brownfield systems and surfacing hotspots. This reduces the manual effort required to understand legacy code and helps teams focus on the highest‑impact areas first.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Highlight that automation doesn’t replace human judgment — it accelerates it. Humans still validate, refine, and prioritize issues, but AI handles the heavy lifting of drafting them.</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Encourage participants to treat this as a real backlog‑building session. The goal is not volume — it’s clarity and actionability. Reinforce that a well‑structured backlog is the foundation for safe, incremental modernization.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38813-EC6E-91DF-29DE-74B1E31D9C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154500-ABAA-A2E9-0A80-85EDBC9749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BD2DA1-A553-041C-8B74-35C4F8DB14F5}"/>
              </a:ext>
            </a:extLst>
          </p:cNvPr>
          <p:cNvSpPr>
            <a:spLocks noGrp="1"/>
          </p:cNvSpPr>
          <p:nvPr>
            <p:ph type="dt" sz="half" idx="10"/>
          </p:nvPr>
        </p:nvSpPr>
        <p:spPr/>
        <p:txBody>
          <a:bodyPr/>
          <a:lstStyle/>
          <a:p>
            <a:fld id="{5B4623D5-D6AE-4825-A23D-A7EA2187095B}" type="datetimeFigureOut">
              <a:rPr lang="en-US" smtClean="0"/>
              <a:t>3/5/2026</a:t>
            </a:fld>
            <a:endParaRPr lang="en-US"/>
          </a:p>
        </p:txBody>
      </p:sp>
      <p:sp>
        <p:nvSpPr>
          <p:cNvPr id="5" name="Footer Placeholder 4">
            <a:extLst>
              <a:ext uri="{FF2B5EF4-FFF2-40B4-BE49-F238E27FC236}">
                <a16:creationId xmlns:a16="http://schemas.microsoft.com/office/drawing/2014/main" id="{B71F3227-9105-F192-A00C-655A48A9B3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1C5D79-98CB-7660-A95B-945993CC8CE3}"/>
              </a:ext>
            </a:extLst>
          </p:cNvPr>
          <p:cNvSpPr>
            <a:spLocks noGrp="1"/>
          </p:cNvSpPr>
          <p:nvPr>
            <p:ph type="sldNum" sz="quarter" idx="12"/>
          </p:nvPr>
        </p:nvSpPr>
        <p:spPr/>
        <p:txBody>
          <a:bodyPr/>
          <a:lstStyle/>
          <a:p>
            <a:fld id="{19C84014-9350-4DF6-81F4-E6642B083A37}" type="slidenum">
              <a:rPr lang="en-US" smtClean="0"/>
              <a:t>‹#›</a:t>
            </a:fld>
            <a:endParaRPr lang="en-US"/>
          </a:p>
        </p:txBody>
      </p:sp>
    </p:spTree>
    <p:extLst>
      <p:ext uri="{BB962C8B-B14F-4D97-AF65-F5344CB8AC3E}">
        <p14:creationId xmlns:p14="http://schemas.microsoft.com/office/powerpoint/2010/main" val="869218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3EEFF-2E8A-9278-81D1-933A944B75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AD4A64-8313-18A0-BC5F-278DB3C4F5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BEAF10-F87A-915E-1E23-9C6F9584E7AD}"/>
              </a:ext>
            </a:extLst>
          </p:cNvPr>
          <p:cNvSpPr>
            <a:spLocks noGrp="1"/>
          </p:cNvSpPr>
          <p:nvPr>
            <p:ph type="dt" sz="half" idx="10"/>
          </p:nvPr>
        </p:nvSpPr>
        <p:spPr/>
        <p:txBody>
          <a:bodyPr/>
          <a:lstStyle/>
          <a:p>
            <a:fld id="{5B4623D5-D6AE-4825-A23D-A7EA2187095B}" type="datetimeFigureOut">
              <a:rPr lang="en-US" smtClean="0"/>
              <a:t>3/5/2026</a:t>
            </a:fld>
            <a:endParaRPr lang="en-US"/>
          </a:p>
        </p:txBody>
      </p:sp>
      <p:sp>
        <p:nvSpPr>
          <p:cNvPr id="5" name="Footer Placeholder 4">
            <a:extLst>
              <a:ext uri="{FF2B5EF4-FFF2-40B4-BE49-F238E27FC236}">
                <a16:creationId xmlns:a16="http://schemas.microsoft.com/office/drawing/2014/main" id="{4DE9399C-CF89-4FE2-F617-F3E91A302D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50945-80DA-7135-AA4F-80A7DBD47602}"/>
              </a:ext>
            </a:extLst>
          </p:cNvPr>
          <p:cNvSpPr>
            <a:spLocks noGrp="1"/>
          </p:cNvSpPr>
          <p:nvPr>
            <p:ph type="sldNum" sz="quarter" idx="12"/>
          </p:nvPr>
        </p:nvSpPr>
        <p:spPr/>
        <p:txBody>
          <a:bodyPr/>
          <a:lstStyle/>
          <a:p>
            <a:fld id="{19C84014-9350-4DF6-81F4-E6642B083A37}" type="slidenum">
              <a:rPr lang="en-US" smtClean="0"/>
              <a:t>‹#›</a:t>
            </a:fld>
            <a:endParaRPr lang="en-US"/>
          </a:p>
        </p:txBody>
      </p:sp>
    </p:spTree>
    <p:extLst>
      <p:ext uri="{BB962C8B-B14F-4D97-AF65-F5344CB8AC3E}">
        <p14:creationId xmlns:p14="http://schemas.microsoft.com/office/powerpoint/2010/main" val="2169926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00F72-149A-1A1F-4313-1CAE08E124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965798-D95D-EC3C-6A0A-D6023F4184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92CD6F-A7C4-B2DC-A3DE-B9AEFDA0ECEA}"/>
              </a:ext>
            </a:extLst>
          </p:cNvPr>
          <p:cNvSpPr>
            <a:spLocks noGrp="1"/>
          </p:cNvSpPr>
          <p:nvPr>
            <p:ph type="dt" sz="half" idx="10"/>
          </p:nvPr>
        </p:nvSpPr>
        <p:spPr/>
        <p:txBody>
          <a:bodyPr/>
          <a:lstStyle/>
          <a:p>
            <a:fld id="{5B4623D5-D6AE-4825-A23D-A7EA2187095B}" type="datetimeFigureOut">
              <a:rPr lang="en-US" smtClean="0"/>
              <a:t>3/5/2026</a:t>
            </a:fld>
            <a:endParaRPr lang="en-US"/>
          </a:p>
        </p:txBody>
      </p:sp>
      <p:sp>
        <p:nvSpPr>
          <p:cNvPr id="5" name="Footer Placeholder 4">
            <a:extLst>
              <a:ext uri="{FF2B5EF4-FFF2-40B4-BE49-F238E27FC236}">
                <a16:creationId xmlns:a16="http://schemas.microsoft.com/office/drawing/2014/main" id="{841F47E2-C740-FD4B-46EC-585C9FF405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4A4C38-4DC9-C741-9FCB-F23AAD08E40A}"/>
              </a:ext>
            </a:extLst>
          </p:cNvPr>
          <p:cNvSpPr>
            <a:spLocks noGrp="1"/>
          </p:cNvSpPr>
          <p:nvPr>
            <p:ph type="sldNum" sz="quarter" idx="12"/>
          </p:nvPr>
        </p:nvSpPr>
        <p:spPr/>
        <p:txBody>
          <a:bodyPr/>
          <a:lstStyle/>
          <a:p>
            <a:fld id="{19C84014-9350-4DF6-81F4-E6642B083A37}" type="slidenum">
              <a:rPr lang="en-US" smtClean="0"/>
              <a:t>‹#›</a:t>
            </a:fld>
            <a:endParaRPr lang="en-US"/>
          </a:p>
        </p:txBody>
      </p:sp>
    </p:spTree>
    <p:extLst>
      <p:ext uri="{BB962C8B-B14F-4D97-AF65-F5344CB8AC3E}">
        <p14:creationId xmlns:p14="http://schemas.microsoft.com/office/powerpoint/2010/main" val="849957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48250-0D72-DDAA-776A-9B999B28EB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23F87B-A6A2-0DDC-4F9B-BCEF58E8F5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58525F-3231-6C08-08BC-C339C3A6BF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AE8BCC-8366-5FEA-DABE-1E9E11F84CEC}"/>
              </a:ext>
            </a:extLst>
          </p:cNvPr>
          <p:cNvSpPr>
            <a:spLocks noGrp="1"/>
          </p:cNvSpPr>
          <p:nvPr>
            <p:ph type="dt" sz="half" idx="10"/>
          </p:nvPr>
        </p:nvSpPr>
        <p:spPr/>
        <p:txBody>
          <a:bodyPr/>
          <a:lstStyle/>
          <a:p>
            <a:fld id="{5B4623D5-D6AE-4825-A23D-A7EA2187095B}" type="datetimeFigureOut">
              <a:rPr lang="en-US" smtClean="0"/>
              <a:t>3/5/2026</a:t>
            </a:fld>
            <a:endParaRPr lang="en-US"/>
          </a:p>
        </p:txBody>
      </p:sp>
      <p:sp>
        <p:nvSpPr>
          <p:cNvPr id="6" name="Footer Placeholder 5">
            <a:extLst>
              <a:ext uri="{FF2B5EF4-FFF2-40B4-BE49-F238E27FC236}">
                <a16:creationId xmlns:a16="http://schemas.microsoft.com/office/drawing/2014/main" id="{3AF9E70B-1278-9A26-07D2-0F830790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5EC490-EE93-C01A-D73C-3E5D1274ED3D}"/>
              </a:ext>
            </a:extLst>
          </p:cNvPr>
          <p:cNvSpPr>
            <a:spLocks noGrp="1"/>
          </p:cNvSpPr>
          <p:nvPr>
            <p:ph type="sldNum" sz="quarter" idx="12"/>
          </p:nvPr>
        </p:nvSpPr>
        <p:spPr/>
        <p:txBody>
          <a:bodyPr/>
          <a:lstStyle/>
          <a:p>
            <a:fld id="{19C84014-9350-4DF6-81F4-E6642B083A37}" type="slidenum">
              <a:rPr lang="en-US" smtClean="0"/>
              <a:t>‹#›</a:t>
            </a:fld>
            <a:endParaRPr lang="en-US"/>
          </a:p>
        </p:txBody>
      </p:sp>
    </p:spTree>
    <p:extLst>
      <p:ext uri="{BB962C8B-B14F-4D97-AF65-F5344CB8AC3E}">
        <p14:creationId xmlns:p14="http://schemas.microsoft.com/office/powerpoint/2010/main" val="1217981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A82DB-B6E2-3192-FF37-BDE1BF580F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7E76CD-4928-50CD-3821-BBE39F6F20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60A15A-19B0-5002-DF64-52B4D2B11B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4A7D0B-8C28-1333-9E73-AAD1ECD47A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2EC38E-4845-87F2-E826-FE137690B1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4BDFBB-1DEF-97C4-94B8-6046490732BF}"/>
              </a:ext>
            </a:extLst>
          </p:cNvPr>
          <p:cNvSpPr>
            <a:spLocks noGrp="1"/>
          </p:cNvSpPr>
          <p:nvPr>
            <p:ph type="dt" sz="half" idx="10"/>
          </p:nvPr>
        </p:nvSpPr>
        <p:spPr/>
        <p:txBody>
          <a:bodyPr/>
          <a:lstStyle/>
          <a:p>
            <a:fld id="{5B4623D5-D6AE-4825-A23D-A7EA2187095B}" type="datetimeFigureOut">
              <a:rPr lang="en-US" smtClean="0"/>
              <a:t>3/5/2026</a:t>
            </a:fld>
            <a:endParaRPr lang="en-US"/>
          </a:p>
        </p:txBody>
      </p:sp>
      <p:sp>
        <p:nvSpPr>
          <p:cNvPr id="8" name="Footer Placeholder 7">
            <a:extLst>
              <a:ext uri="{FF2B5EF4-FFF2-40B4-BE49-F238E27FC236}">
                <a16:creationId xmlns:a16="http://schemas.microsoft.com/office/drawing/2014/main" id="{3177E36F-50DF-8C94-FB52-088880EEE1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0F958F-B8B4-91F3-A1B2-9D4C15ADB280}"/>
              </a:ext>
            </a:extLst>
          </p:cNvPr>
          <p:cNvSpPr>
            <a:spLocks noGrp="1"/>
          </p:cNvSpPr>
          <p:nvPr>
            <p:ph type="sldNum" sz="quarter" idx="12"/>
          </p:nvPr>
        </p:nvSpPr>
        <p:spPr/>
        <p:txBody>
          <a:bodyPr/>
          <a:lstStyle/>
          <a:p>
            <a:fld id="{19C84014-9350-4DF6-81F4-E6642B083A37}" type="slidenum">
              <a:rPr lang="en-US" smtClean="0"/>
              <a:t>‹#›</a:t>
            </a:fld>
            <a:endParaRPr lang="en-US"/>
          </a:p>
        </p:txBody>
      </p:sp>
    </p:spTree>
    <p:extLst>
      <p:ext uri="{BB962C8B-B14F-4D97-AF65-F5344CB8AC3E}">
        <p14:creationId xmlns:p14="http://schemas.microsoft.com/office/powerpoint/2010/main" val="868671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F34C3-A582-8B9B-BBAE-56003B08C7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3BFBDD-130C-A479-4632-B0AF24CAACF0}"/>
              </a:ext>
            </a:extLst>
          </p:cNvPr>
          <p:cNvSpPr>
            <a:spLocks noGrp="1"/>
          </p:cNvSpPr>
          <p:nvPr>
            <p:ph type="dt" sz="half" idx="10"/>
          </p:nvPr>
        </p:nvSpPr>
        <p:spPr/>
        <p:txBody>
          <a:bodyPr/>
          <a:lstStyle/>
          <a:p>
            <a:fld id="{5B4623D5-D6AE-4825-A23D-A7EA2187095B}" type="datetimeFigureOut">
              <a:rPr lang="en-US" smtClean="0"/>
              <a:t>3/5/2026</a:t>
            </a:fld>
            <a:endParaRPr lang="en-US"/>
          </a:p>
        </p:txBody>
      </p:sp>
      <p:sp>
        <p:nvSpPr>
          <p:cNvPr id="4" name="Footer Placeholder 3">
            <a:extLst>
              <a:ext uri="{FF2B5EF4-FFF2-40B4-BE49-F238E27FC236}">
                <a16:creationId xmlns:a16="http://schemas.microsoft.com/office/drawing/2014/main" id="{C0900208-94A4-B919-AF75-20919DF670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7E17E8-5596-4645-DF53-64BBD23B8A5C}"/>
              </a:ext>
            </a:extLst>
          </p:cNvPr>
          <p:cNvSpPr>
            <a:spLocks noGrp="1"/>
          </p:cNvSpPr>
          <p:nvPr>
            <p:ph type="sldNum" sz="quarter" idx="12"/>
          </p:nvPr>
        </p:nvSpPr>
        <p:spPr/>
        <p:txBody>
          <a:bodyPr/>
          <a:lstStyle/>
          <a:p>
            <a:fld id="{19C84014-9350-4DF6-81F4-E6642B083A37}" type="slidenum">
              <a:rPr lang="en-US" smtClean="0"/>
              <a:t>‹#›</a:t>
            </a:fld>
            <a:endParaRPr lang="en-US"/>
          </a:p>
        </p:txBody>
      </p:sp>
    </p:spTree>
    <p:extLst>
      <p:ext uri="{BB962C8B-B14F-4D97-AF65-F5344CB8AC3E}">
        <p14:creationId xmlns:p14="http://schemas.microsoft.com/office/powerpoint/2010/main" val="1700344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8A504E-2121-7175-ED85-5B4EBD6188D9}"/>
              </a:ext>
            </a:extLst>
          </p:cNvPr>
          <p:cNvSpPr>
            <a:spLocks noGrp="1"/>
          </p:cNvSpPr>
          <p:nvPr>
            <p:ph type="dt" sz="half" idx="10"/>
          </p:nvPr>
        </p:nvSpPr>
        <p:spPr/>
        <p:txBody>
          <a:bodyPr/>
          <a:lstStyle/>
          <a:p>
            <a:fld id="{5B4623D5-D6AE-4825-A23D-A7EA2187095B}" type="datetimeFigureOut">
              <a:rPr lang="en-US" smtClean="0"/>
              <a:t>3/5/2026</a:t>
            </a:fld>
            <a:endParaRPr lang="en-US"/>
          </a:p>
        </p:txBody>
      </p:sp>
      <p:sp>
        <p:nvSpPr>
          <p:cNvPr id="3" name="Footer Placeholder 2">
            <a:extLst>
              <a:ext uri="{FF2B5EF4-FFF2-40B4-BE49-F238E27FC236}">
                <a16:creationId xmlns:a16="http://schemas.microsoft.com/office/drawing/2014/main" id="{984318AA-2F06-2CE3-6F42-01BFFDBEC7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3E443F-015C-CD4E-832C-FE2D019D71E9}"/>
              </a:ext>
            </a:extLst>
          </p:cNvPr>
          <p:cNvSpPr>
            <a:spLocks noGrp="1"/>
          </p:cNvSpPr>
          <p:nvPr>
            <p:ph type="sldNum" sz="quarter" idx="12"/>
          </p:nvPr>
        </p:nvSpPr>
        <p:spPr/>
        <p:txBody>
          <a:bodyPr/>
          <a:lstStyle/>
          <a:p>
            <a:fld id="{19C84014-9350-4DF6-81F4-E6642B083A37}" type="slidenum">
              <a:rPr lang="en-US" smtClean="0"/>
              <a:t>‹#›</a:t>
            </a:fld>
            <a:endParaRPr lang="en-US"/>
          </a:p>
        </p:txBody>
      </p:sp>
    </p:spTree>
    <p:extLst>
      <p:ext uri="{BB962C8B-B14F-4D97-AF65-F5344CB8AC3E}">
        <p14:creationId xmlns:p14="http://schemas.microsoft.com/office/powerpoint/2010/main" val="912218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E7F1B-13BE-FA47-5B29-D6DC324A2C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C3F8CAB-FC7A-B64D-0041-B7DBC73ECF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E155F3-BEEB-084C-519C-25FA7E805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26BB26-289B-4A6B-34CB-0BE97288CB2B}"/>
              </a:ext>
            </a:extLst>
          </p:cNvPr>
          <p:cNvSpPr>
            <a:spLocks noGrp="1"/>
          </p:cNvSpPr>
          <p:nvPr>
            <p:ph type="dt" sz="half" idx="10"/>
          </p:nvPr>
        </p:nvSpPr>
        <p:spPr/>
        <p:txBody>
          <a:bodyPr/>
          <a:lstStyle/>
          <a:p>
            <a:fld id="{5B4623D5-D6AE-4825-A23D-A7EA2187095B}" type="datetimeFigureOut">
              <a:rPr lang="en-US" smtClean="0"/>
              <a:t>3/5/2026</a:t>
            </a:fld>
            <a:endParaRPr lang="en-US"/>
          </a:p>
        </p:txBody>
      </p:sp>
      <p:sp>
        <p:nvSpPr>
          <p:cNvPr id="6" name="Footer Placeholder 5">
            <a:extLst>
              <a:ext uri="{FF2B5EF4-FFF2-40B4-BE49-F238E27FC236}">
                <a16:creationId xmlns:a16="http://schemas.microsoft.com/office/drawing/2014/main" id="{2E85C82D-55D1-1A57-3F0F-8FDCDD8D89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582E59-D32F-01FC-CEAA-CFD2629D65D9}"/>
              </a:ext>
            </a:extLst>
          </p:cNvPr>
          <p:cNvSpPr>
            <a:spLocks noGrp="1"/>
          </p:cNvSpPr>
          <p:nvPr>
            <p:ph type="sldNum" sz="quarter" idx="12"/>
          </p:nvPr>
        </p:nvSpPr>
        <p:spPr/>
        <p:txBody>
          <a:bodyPr/>
          <a:lstStyle/>
          <a:p>
            <a:fld id="{19C84014-9350-4DF6-81F4-E6642B083A37}" type="slidenum">
              <a:rPr lang="en-US" smtClean="0"/>
              <a:t>‹#›</a:t>
            </a:fld>
            <a:endParaRPr lang="en-US"/>
          </a:p>
        </p:txBody>
      </p:sp>
    </p:spTree>
    <p:extLst>
      <p:ext uri="{BB962C8B-B14F-4D97-AF65-F5344CB8AC3E}">
        <p14:creationId xmlns:p14="http://schemas.microsoft.com/office/powerpoint/2010/main" val="2067001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5ED24-BFC4-A452-5493-82C6C8D93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D86286-80B4-8093-61BD-5D1FDE2C5B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3A7351-B6AB-5456-DD30-FD1E789DB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744C4A-DC86-E7F1-C680-0FF7A3C95167}"/>
              </a:ext>
            </a:extLst>
          </p:cNvPr>
          <p:cNvSpPr>
            <a:spLocks noGrp="1"/>
          </p:cNvSpPr>
          <p:nvPr>
            <p:ph type="dt" sz="half" idx="10"/>
          </p:nvPr>
        </p:nvSpPr>
        <p:spPr/>
        <p:txBody>
          <a:bodyPr/>
          <a:lstStyle/>
          <a:p>
            <a:fld id="{5B4623D5-D6AE-4825-A23D-A7EA2187095B}" type="datetimeFigureOut">
              <a:rPr lang="en-US" smtClean="0"/>
              <a:t>3/5/2026</a:t>
            </a:fld>
            <a:endParaRPr lang="en-US"/>
          </a:p>
        </p:txBody>
      </p:sp>
      <p:sp>
        <p:nvSpPr>
          <p:cNvPr id="6" name="Footer Placeholder 5">
            <a:extLst>
              <a:ext uri="{FF2B5EF4-FFF2-40B4-BE49-F238E27FC236}">
                <a16:creationId xmlns:a16="http://schemas.microsoft.com/office/drawing/2014/main" id="{701249ED-176B-0188-DFA5-5C6377F72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7BA03A-E981-7F13-A260-62AE70871266}"/>
              </a:ext>
            </a:extLst>
          </p:cNvPr>
          <p:cNvSpPr>
            <a:spLocks noGrp="1"/>
          </p:cNvSpPr>
          <p:nvPr>
            <p:ph type="sldNum" sz="quarter" idx="12"/>
          </p:nvPr>
        </p:nvSpPr>
        <p:spPr/>
        <p:txBody>
          <a:bodyPr/>
          <a:lstStyle/>
          <a:p>
            <a:fld id="{19C84014-9350-4DF6-81F4-E6642B083A37}" type="slidenum">
              <a:rPr lang="en-US" smtClean="0"/>
              <a:t>‹#›</a:t>
            </a:fld>
            <a:endParaRPr lang="en-US"/>
          </a:p>
        </p:txBody>
      </p:sp>
    </p:spTree>
    <p:extLst>
      <p:ext uri="{BB962C8B-B14F-4D97-AF65-F5344CB8AC3E}">
        <p14:creationId xmlns:p14="http://schemas.microsoft.com/office/powerpoint/2010/main" val="2664866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EDDE5-51FE-63E4-D15E-CF35581B6B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71897D-92C2-B064-4122-0E4238A84B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05BDDE-37F5-018F-A6D3-B044D2558A7B}"/>
              </a:ext>
            </a:extLst>
          </p:cNvPr>
          <p:cNvSpPr>
            <a:spLocks noGrp="1"/>
          </p:cNvSpPr>
          <p:nvPr>
            <p:ph type="dt" sz="half" idx="10"/>
          </p:nvPr>
        </p:nvSpPr>
        <p:spPr/>
        <p:txBody>
          <a:bodyPr/>
          <a:lstStyle/>
          <a:p>
            <a:fld id="{5B4623D5-D6AE-4825-A23D-A7EA2187095B}" type="datetimeFigureOut">
              <a:rPr lang="en-US" smtClean="0"/>
              <a:t>3/5/2026</a:t>
            </a:fld>
            <a:endParaRPr lang="en-US"/>
          </a:p>
        </p:txBody>
      </p:sp>
      <p:sp>
        <p:nvSpPr>
          <p:cNvPr id="5" name="Footer Placeholder 4">
            <a:extLst>
              <a:ext uri="{FF2B5EF4-FFF2-40B4-BE49-F238E27FC236}">
                <a16:creationId xmlns:a16="http://schemas.microsoft.com/office/drawing/2014/main" id="{3B24FD1D-F9F6-645F-B309-96BC532B8F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6AC34-EA33-7727-B798-AFE41B7A7624}"/>
              </a:ext>
            </a:extLst>
          </p:cNvPr>
          <p:cNvSpPr>
            <a:spLocks noGrp="1"/>
          </p:cNvSpPr>
          <p:nvPr>
            <p:ph type="sldNum" sz="quarter" idx="12"/>
          </p:nvPr>
        </p:nvSpPr>
        <p:spPr/>
        <p:txBody>
          <a:bodyPr/>
          <a:lstStyle/>
          <a:p>
            <a:fld id="{19C84014-9350-4DF6-81F4-E6642B083A37}" type="slidenum">
              <a:rPr lang="en-US" smtClean="0"/>
              <a:t>‹#›</a:t>
            </a:fld>
            <a:endParaRPr lang="en-US"/>
          </a:p>
        </p:txBody>
      </p:sp>
    </p:spTree>
    <p:extLst>
      <p:ext uri="{BB962C8B-B14F-4D97-AF65-F5344CB8AC3E}">
        <p14:creationId xmlns:p14="http://schemas.microsoft.com/office/powerpoint/2010/main" val="1370794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E98042-F67B-5073-2183-5C9222C15B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DF2B6D-9D51-0689-625C-1B5E9C353B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D52AD-BCF7-7CED-9776-741BDD03E31A}"/>
              </a:ext>
            </a:extLst>
          </p:cNvPr>
          <p:cNvSpPr>
            <a:spLocks noGrp="1"/>
          </p:cNvSpPr>
          <p:nvPr>
            <p:ph type="dt" sz="half" idx="10"/>
          </p:nvPr>
        </p:nvSpPr>
        <p:spPr/>
        <p:txBody>
          <a:bodyPr/>
          <a:lstStyle/>
          <a:p>
            <a:fld id="{5B4623D5-D6AE-4825-A23D-A7EA2187095B}" type="datetimeFigureOut">
              <a:rPr lang="en-US" smtClean="0"/>
              <a:t>3/5/2026</a:t>
            </a:fld>
            <a:endParaRPr lang="en-US"/>
          </a:p>
        </p:txBody>
      </p:sp>
      <p:sp>
        <p:nvSpPr>
          <p:cNvPr id="5" name="Footer Placeholder 4">
            <a:extLst>
              <a:ext uri="{FF2B5EF4-FFF2-40B4-BE49-F238E27FC236}">
                <a16:creationId xmlns:a16="http://schemas.microsoft.com/office/drawing/2014/main" id="{1A6A21C0-7BBA-75C1-F238-8F7CCE3554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F85D94-1FEA-3968-03AD-A7D3A4D62924}"/>
              </a:ext>
            </a:extLst>
          </p:cNvPr>
          <p:cNvSpPr>
            <a:spLocks noGrp="1"/>
          </p:cNvSpPr>
          <p:nvPr>
            <p:ph type="sldNum" sz="quarter" idx="12"/>
          </p:nvPr>
        </p:nvSpPr>
        <p:spPr/>
        <p:txBody>
          <a:bodyPr/>
          <a:lstStyle/>
          <a:p>
            <a:fld id="{19C84014-9350-4DF6-81F4-E6642B083A37}" type="slidenum">
              <a:rPr lang="en-US" smtClean="0"/>
              <a:t>‹#›</a:t>
            </a:fld>
            <a:endParaRPr lang="en-US"/>
          </a:p>
        </p:txBody>
      </p:sp>
    </p:spTree>
    <p:extLst>
      <p:ext uri="{BB962C8B-B14F-4D97-AF65-F5344CB8AC3E}">
        <p14:creationId xmlns:p14="http://schemas.microsoft.com/office/powerpoint/2010/main" val="11856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4994F9-5456-102F-C766-6B02A3872A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65C1D2-BA07-9CB0-A3B6-607C092720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2F795-2E11-2133-0278-D6FAD2CBD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4623D5-D6AE-4825-A23D-A7EA2187095B}" type="datetimeFigureOut">
              <a:rPr lang="en-US" smtClean="0"/>
              <a:t>3/5/2026</a:t>
            </a:fld>
            <a:endParaRPr lang="en-US"/>
          </a:p>
        </p:txBody>
      </p:sp>
      <p:sp>
        <p:nvSpPr>
          <p:cNvPr id="5" name="Footer Placeholder 4">
            <a:extLst>
              <a:ext uri="{FF2B5EF4-FFF2-40B4-BE49-F238E27FC236}">
                <a16:creationId xmlns:a16="http://schemas.microsoft.com/office/drawing/2014/main" id="{4F6CB90D-DA75-69D7-93E5-F7FCFE504E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A0A6F4-0D4C-89C9-85DD-648C369518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C84014-9350-4DF6-81F4-E6642B083A37}" type="slidenum">
              <a:rPr lang="en-US" smtClean="0"/>
              <a:t>‹#›</a:t>
            </a:fld>
            <a:endParaRPr lang="en-US"/>
          </a:p>
        </p:txBody>
      </p:sp>
    </p:spTree>
    <p:extLst>
      <p:ext uri="{BB962C8B-B14F-4D97-AF65-F5344CB8AC3E}">
        <p14:creationId xmlns:p14="http://schemas.microsoft.com/office/powerpoint/2010/main" val="5924425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t>Building a Backlog</a:t>
            </a:r>
          </a:p>
        </p:txBody>
      </p:sp>
      <p:sp>
        <p:nvSpPr>
          <p:cNvPr id="3" name="Content Placeholder 2"/>
          <p:cNvSpPr>
            <a:spLocks noGrp="1"/>
          </p:cNvSpPr>
          <p:nvPr>
            <p:ph idx="1"/>
          </p:nvPr>
        </p:nvSpPr>
        <p:spPr/>
        <p:txBody>
          <a:bodyPr/>
          <a:lstStyle/>
          <a:p>
            <a:pPr lvl="0"/>
            <a:r>
              <a:t>Identifying technical debt</a:t>
            </a:r>
          </a:p>
          <a:p>
            <a:pPr lvl="0"/>
            <a:r>
              <a:t>Automating the creation of GitHub issues</a:t>
            </a:r>
          </a:p>
          <a:p>
            <a:pPr lvl="0"/>
            <a:r>
              <a:t>Exercise: Building the backlog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Identifying Technical Debt</a:t>
            </a:r>
          </a:p>
        </p:txBody>
      </p:sp>
      <p:sp>
        <p:nvSpPr>
          <p:cNvPr id="3" name="Content Placeholder 2"/>
          <p:cNvSpPr>
            <a:spLocks noGrp="1"/>
          </p:cNvSpPr>
          <p:nvPr>
            <p:ph idx="1"/>
          </p:nvPr>
        </p:nvSpPr>
        <p:spPr/>
        <p:txBody>
          <a:bodyPr>
            <a:normAutofit fontScale="77500" lnSpcReduction="20000"/>
          </a:bodyPr>
          <a:lstStyle/>
          <a:p>
            <a:pPr marL="0" indent="0">
              <a:spcBef>
                <a:spcPts val="4000"/>
              </a:spcBef>
              <a:buNone/>
            </a:pPr>
            <a:r>
              <a:rPr b="1"/>
              <a:t>AI can surface:</a:t>
            </a:r>
          </a:p>
          <a:p>
            <a:pPr lvl="0"/>
            <a:r>
              <a:t>Outdated patterns</a:t>
            </a:r>
          </a:p>
          <a:p>
            <a:pPr lvl="0"/>
            <a:r>
              <a:t>High‑complexity functions</a:t>
            </a:r>
          </a:p>
          <a:p>
            <a:pPr lvl="0"/>
            <a:r>
              <a:t>Duplicate logic</a:t>
            </a:r>
          </a:p>
          <a:p>
            <a:pPr lvl="0"/>
            <a:r>
              <a:t>Missing tests</a:t>
            </a:r>
          </a:p>
          <a:p>
            <a:pPr lvl="0"/>
            <a:r>
              <a:t>Security vulnerabilities</a:t>
            </a:r>
          </a:p>
          <a:p>
            <a:pPr lvl="0"/>
            <a:r>
              <a:t>Architectural drift</a:t>
            </a:r>
          </a:p>
          <a:p>
            <a:pPr marL="0" indent="0">
              <a:spcBef>
                <a:spcPts val="4000"/>
              </a:spcBef>
              <a:buNone/>
            </a:pPr>
            <a:r>
              <a:rPr b="1"/>
              <a:t>Benefits</a:t>
            </a:r>
          </a:p>
          <a:p>
            <a:pPr lvl="0"/>
            <a:r>
              <a:t>Faster discovery</a:t>
            </a:r>
          </a:p>
          <a:p>
            <a:pPr lvl="0"/>
            <a:r>
              <a:t>More consistent classification</a:t>
            </a:r>
          </a:p>
          <a:p>
            <a:pPr lvl="0"/>
            <a:r>
              <a:t>Prioritized modernization roadmap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Automating the Creation of GitHub Issues</a:t>
            </a:r>
          </a:p>
        </p:txBody>
      </p:sp>
      <p:sp>
        <p:nvSpPr>
          <p:cNvPr id="3" name="Content Placeholder 2"/>
          <p:cNvSpPr>
            <a:spLocks noGrp="1"/>
          </p:cNvSpPr>
          <p:nvPr>
            <p:ph idx="1"/>
          </p:nvPr>
        </p:nvSpPr>
        <p:spPr/>
        <p:txBody>
          <a:bodyPr>
            <a:normAutofit fontScale="77500" lnSpcReduction="20000"/>
          </a:bodyPr>
          <a:lstStyle/>
          <a:p>
            <a:pPr marL="0" indent="0">
              <a:spcBef>
                <a:spcPts val="4000"/>
              </a:spcBef>
              <a:buNone/>
            </a:pPr>
            <a:r>
              <a:rPr b="1"/>
              <a:t>AI can help generate:</a:t>
            </a:r>
          </a:p>
          <a:p>
            <a:pPr lvl="0"/>
            <a:r>
              <a:t>Issue titles</a:t>
            </a:r>
          </a:p>
          <a:p>
            <a:pPr lvl="0"/>
            <a:r>
              <a:t>Detailed descriptions</a:t>
            </a:r>
          </a:p>
          <a:p>
            <a:pPr lvl="0"/>
            <a:r>
              <a:t>Acceptance criteria</a:t>
            </a:r>
          </a:p>
          <a:p>
            <a:pPr lvl="0"/>
            <a:r>
              <a:t>Labels and metadata</a:t>
            </a:r>
          </a:p>
          <a:p>
            <a:pPr lvl="0"/>
            <a:r>
              <a:t>Suggested remediation steps</a:t>
            </a:r>
          </a:p>
          <a:p>
            <a:pPr marL="0" indent="0">
              <a:spcBef>
                <a:spcPts val="4000"/>
              </a:spcBef>
              <a:buNone/>
            </a:pPr>
            <a:r>
              <a:rPr b="1"/>
              <a:t>Why automate?</a:t>
            </a:r>
          </a:p>
          <a:p>
            <a:pPr lvl="0"/>
            <a:r>
              <a:t>Ensures consistency</a:t>
            </a:r>
          </a:p>
          <a:p>
            <a:pPr lvl="0"/>
            <a:r>
              <a:t>Reduces manual backlog grooming</a:t>
            </a:r>
          </a:p>
          <a:p>
            <a:pPr lvl="0"/>
            <a:r>
              <a:t>Produces actionable, high‑signal issues</a:t>
            </a:r>
          </a:p>
          <a:p>
            <a:pPr lvl="0"/>
            <a:r>
              <a:t>Accelerates modernization planning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a:t>Exercise: Building the Backlog</a:t>
            </a:r>
          </a:p>
        </p:txBody>
      </p:sp>
      <p:sp>
        <p:nvSpPr>
          <p:cNvPr id="3" name="Content Placeholder 2"/>
          <p:cNvSpPr>
            <a:spLocks noGrp="1"/>
          </p:cNvSpPr>
          <p:nvPr>
            <p:ph idx="1"/>
          </p:nvPr>
        </p:nvSpPr>
        <p:spPr/>
        <p:txBody>
          <a:bodyPr numCol="2">
            <a:normAutofit fontScale="62500" lnSpcReduction="20000"/>
          </a:bodyPr>
          <a:lstStyle/>
          <a:p>
            <a:pPr marL="0" indent="0">
              <a:spcBef>
                <a:spcPts val="4000"/>
              </a:spcBef>
              <a:buNone/>
            </a:pPr>
            <a:r>
              <a:rPr b="1" dirty="0"/>
              <a:t>Duration</a:t>
            </a:r>
          </a:p>
          <a:p>
            <a:pPr marL="0" indent="0">
              <a:buNone/>
            </a:pPr>
            <a:r>
              <a:rPr dirty="0"/>
              <a:t>20 minutes</a:t>
            </a:r>
          </a:p>
          <a:p>
            <a:pPr marL="0" indent="0">
              <a:spcBef>
                <a:spcPts val="4000"/>
              </a:spcBef>
              <a:buNone/>
            </a:pPr>
            <a:r>
              <a:rPr b="1" dirty="0"/>
              <a:t>Objectives</a:t>
            </a:r>
          </a:p>
          <a:p>
            <a:pPr lvl="0"/>
            <a:r>
              <a:rPr dirty="0"/>
              <a:t>Practice identifying technical debt</a:t>
            </a:r>
          </a:p>
          <a:p>
            <a:pPr lvl="0"/>
            <a:r>
              <a:rPr dirty="0"/>
              <a:t>Convert findings into actionable GitHub issues</a:t>
            </a:r>
          </a:p>
          <a:p>
            <a:pPr lvl="0"/>
            <a:r>
              <a:rPr dirty="0"/>
              <a:t>Apply consistent structure</a:t>
            </a:r>
          </a:p>
          <a:p>
            <a:pPr lvl="0"/>
            <a:r>
              <a:rPr dirty="0"/>
              <a:t>Prioritize issues based on risk and impact</a:t>
            </a:r>
          </a:p>
          <a:p>
            <a:pPr marL="0" indent="0">
              <a:spcBef>
                <a:spcPts val="4000"/>
              </a:spcBef>
              <a:buNone/>
            </a:pPr>
            <a:r>
              <a:rPr b="1" dirty="0"/>
              <a:t>Activities</a:t>
            </a:r>
          </a:p>
          <a:p>
            <a:pPr marL="457189" indent="-457189">
              <a:buAutoNum type="arabicPeriod"/>
            </a:pPr>
            <a:r>
              <a:rPr dirty="0"/>
              <a:t>Select a brownfield module or file.</a:t>
            </a:r>
          </a:p>
          <a:p>
            <a:pPr marL="457189" indent="-457189">
              <a:buAutoNum type="arabicPeriod"/>
            </a:pPr>
            <a:r>
              <a:rPr lang="en-US" dirty="0"/>
              <a:t>Use</a:t>
            </a:r>
            <a:r>
              <a:rPr dirty="0"/>
              <a:t> AI to identify:</a:t>
            </a:r>
          </a:p>
          <a:p>
            <a:pPr lvl="1"/>
            <a:r>
              <a:rPr dirty="0"/>
              <a:t>Technical debt</a:t>
            </a:r>
          </a:p>
          <a:p>
            <a:pPr lvl="1"/>
            <a:r>
              <a:rPr dirty="0"/>
              <a:t>Risks</a:t>
            </a:r>
          </a:p>
          <a:p>
            <a:pPr lvl="1"/>
            <a:r>
              <a:rPr lang="en-US" dirty="0"/>
              <a:t>Test confidence</a:t>
            </a:r>
            <a:endParaRPr dirty="0"/>
          </a:p>
          <a:p>
            <a:pPr lvl="1"/>
            <a:r>
              <a:rPr dirty="0"/>
              <a:t>Architectural</a:t>
            </a:r>
            <a:r>
              <a:rPr lang="en-US" dirty="0"/>
              <a:t> issues</a:t>
            </a:r>
            <a:endParaRPr dirty="0"/>
          </a:p>
          <a:p>
            <a:pPr marL="457189" indent="-457189">
              <a:buAutoNum type="arabicPeriod"/>
            </a:pPr>
            <a:r>
              <a:rPr dirty="0"/>
              <a:t>Convert each finding into a GitHub issue with:</a:t>
            </a:r>
          </a:p>
          <a:p>
            <a:pPr lvl="1"/>
            <a:r>
              <a:rPr dirty="0"/>
              <a:t>Title</a:t>
            </a:r>
          </a:p>
          <a:p>
            <a:pPr lvl="1"/>
            <a:r>
              <a:rPr dirty="0"/>
              <a:t>Description</a:t>
            </a:r>
          </a:p>
          <a:p>
            <a:pPr lvl="1"/>
            <a:r>
              <a:rPr dirty="0"/>
              <a:t>Acceptance criteria</a:t>
            </a:r>
          </a:p>
          <a:p>
            <a:pPr lvl="1"/>
            <a:r>
              <a:rPr dirty="0"/>
              <a:t>Labels</a:t>
            </a:r>
          </a:p>
          <a:p>
            <a:pPr marL="457189" indent="-457189">
              <a:buAutoNum type="arabicPeriod"/>
            </a:pPr>
            <a:r>
              <a:rPr dirty="0"/>
              <a:t>Prioritize the issues using impact vs. effort.</a:t>
            </a:r>
          </a:p>
          <a:p>
            <a:pPr marL="0" indent="0">
              <a:spcBef>
                <a:spcPts val="4000"/>
              </a:spcBef>
              <a:buNone/>
            </a:pPr>
            <a:r>
              <a:rPr b="1" dirty="0"/>
              <a:t>Success Criteria</a:t>
            </a:r>
          </a:p>
          <a:p>
            <a:pPr lvl="0"/>
            <a:r>
              <a:rPr dirty="0"/>
              <a:t>Issues are clear, actionable, and well‑structured</a:t>
            </a:r>
          </a:p>
          <a:p>
            <a:pPr lvl="0"/>
            <a:r>
              <a:rPr dirty="0"/>
              <a:t>Prioritization reflects real risk and effort</a:t>
            </a:r>
          </a:p>
          <a:p>
            <a:pPr lvl="0"/>
            <a:r>
              <a:rPr dirty="0"/>
              <a:t>Backlog is ready for </a:t>
            </a:r>
            <a:r>
              <a:rPr lang="en-US" dirty="0"/>
              <a:t>implementation</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347</Words>
  <Application>Microsoft Office PowerPoint</Application>
  <PresentationFormat>Widescreen</PresentationFormat>
  <Paragraphs>61</Paragraphs>
  <Slides>4</Slides>
  <Notes>4</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Building a Backlog</vt:lpstr>
      <vt:lpstr>Identifying Technical Debt</vt:lpstr>
      <vt:lpstr>Automating the Creation of GitHub Issues</vt:lpstr>
      <vt:lpstr>Exercise: Building the Backlog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1</cp:revision>
  <dcterms:created xsi:type="dcterms:W3CDTF">2026-03-05T20:57:24Z</dcterms:created>
  <dcterms:modified xsi:type="dcterms:W3CDTF">2026-03-05T20:58:13Z</dcterms:modified>
</cp:coreProperties>
</file>