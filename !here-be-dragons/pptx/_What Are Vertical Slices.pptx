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3" r:id="rId2"/>
    <p:sldId id="346" r:id="rId3"/>
    <p:sldId id="334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63C3B9-D680-4EC4-8A16-E882E9746A8F}">
          <p14:sldIdLst/>
        </p14:section>
        <p14:section name="What Are Vertical Slices?" id="{27D11C55-44E0-48FD-8FEE-11271D223885}">
          <p14:sldIdLst>
            <p14:sldId id="333"/>
            <p14:sldId id="346"/>
            <p14:sldId id="334"/>
            <p14:sldId id="3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63B5F-F9F0-4DF9-9BC2-5B696102C01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03883-707D-4627-BF93-8BF440A5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Core concept explanation:</a:t>
            </a:r>
            <a:r>
              <a:t> Traditional layered architecture separates code by technical concerns (UI, business logic, data access). Vertical slices organize by business features instead.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Key analogies:</a:t>
            </a:r>
          </a:p>
          <a:p>
            <a:pPr marL="0" lvl="0" indent="0">
              <a:buNone/>
            </a:pPr>
            <a:endParaRPr b="1"/>
          </a:p>
          <a:p>
            <a:pPr lvl="0"/>
            <a:r>
              <a:t>Think of a layered cake vs. a sliced pie - each pie slice contains all layers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Like organizing a store by product category vs. by what floor items are 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Emphasize:</a:t>
            </a:r>
          </a:p>
          <a:p>
            <a:pPr marL="0" lvl="0" indent="0">
              <a:buNone/>
            </a:pPr>
            <a:endParaRPr b="1"/>
          </a:p>
          <a:p>
            <a:pPr lvl="0"/>
            <a:r>
              <a:t>This isn’t just renaming folders - it’s a fundamental shift in how we think about code organization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Each feature becomes a complete vertical “slice” through the application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Common question pre-empt:</a:t>
            </a:r>
            <a:r>
              <a:t> “Doesn’t this create duplication?” Answer: Some tactical duplication is acceptable to gain strategic isolation and maintainability.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Transition:</a:t>
            </a:r>
            <a:r>
              <a:t> “Let’s understand why this approach is gaining popularity…”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Real-world impact discussion:</a:t>
            </a:r>
          </a:p>
          <a:p>
            <a:pPr marL="0" lvl="0" indent="0">
              <a:buNone/>
            </a:pPr>
            <a:endParaRPr b="1"/>
          </a:p>
          <a:p>
            <a:pPr marL="0" lvl="0" indent="0">
              <a:buNone/>
            </a:pPr>
            <a:r>
              <a:rPr b="1"/>
              <a:t>Development Speed:</a:t>
            </a:r>
          </a:p>
          <a:p>
            <a:pPr marL="0" lvl="0" indent="0">
              <a:buNone/>
            </a:pPr>
            <a:endParaRPr b="1"/>
          </a:p>
          <a:p>
            <a:pPr lvl="0"/>
            <a:r>
              <a:t>In traditional layered apps, adding a new feature touches 4-7 files across multiple folders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With vertical slices, everything is in one feature folder - typically 2-3x faster development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Example: “Adding user registration in layered: Controller → Service → Repository → Models. In vertical slices: just add UserRegistration folder with all components.”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Maintenance Story:</a:t>
            </a:r>
            <a:r>
              <a:t> Share an example: “When fixing a bug in user registration, you only need to look in the UserRegistration folder. Everything’s there. No hunting through Services, Repositories, etc.”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Team Collaboration:</a:t>
            </a:r>
          </a:p>
          <a:p>
            <a:pPr marL="0" lvl="0" indent="0">
              <a:buNone/>
            </a:pPr>
            <a:endParaRPr b="1"/>
          </a:p>
          <a:p>
            <a:pPr lvl="0"/>
            <a:r>
              <a:t>Multiple developers can work on different features without stepping on each other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Feature folders create natural boundaries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Junior developers can own entire features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Statistics to share:</a:t>
            </a:r>
          </a:p>
          <a:p>
            <a:pPr marL="0" lvl="0" indent="0">
              <a:buNone/>
            </a:pPr>
            <a:endParaRPr b="1"/>
          </a:p>
          <a:p>
            <a:pPr lvl="0"/>
            <a:r>
              <a:t>Teams report 30-40% fewer merge conflicts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Bug fix time reduced by 50% (bugs localized to features)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Onboarding time for new developers cut in half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Transition:</a:t>
            </a:r>
            <a:r>
              <a:t> “These benefits come from following core principles…”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DA07-721C-48DC-2259-AAD71275E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E010F-456A-B9BE-A35D-5F086ACE2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5605E-1CA2-C7E8-36BB-73361375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B847-0502-8816-477F-8C5AC146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D1508-68AE-4B67-2F10-E12AC433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7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F575-09C4-90E9-3BD1-1D634AD7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EBB75-9CD6-25B7-0D67-A29EA5AA4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7B444-EC9B-5B48-17EA-35C81DFB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D84F7-3FE3-9805-0FBF-28855F0C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2127C-AC74-5F2A-AF46-D98F619B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6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10F6-9FFD-1E31-3CA1-E644A264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CF135-734F-125D-3BA7-773A90CE4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0786E-0184-3456-8276-BEA034AF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171C9-F2F2-8586-4695-D5C45609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138A-31B5-D862-0703-F55F4C85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8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6E5B-C569-0AAE-99A5-30812D3D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334A-C5F2-C084-0EBC-20A1D25D7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63801-D143-710A-172B-4FAEB9517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A7F45-5629-7DE9-98F6-8BEAFFBB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4414-8291-A68D-5505-3E6C37AB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C2368-58D5-840B-684A-ED6745D9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9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008D-2F61-6C79-EC68-696EFF15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101C8-924B-3B98-2DDF-3A6B004F6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4A0A0-80B6-902F-8BC8-B98695E8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C99EB-84DF-2259-D89A-F288B1EA6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C115B-E29C-02C7-A24F-867F00856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EF034-B2AC-9D38-1258-07A9C3BA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5F98E-0504-2AF3-6B54-D5C9CE57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60CBD-A5DD-A5C0-5AA5-F66E7DB1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2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86A3-F1CF-9718-4D81-765DE42E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74B57-8B5D-16B9-884E-F2E222A0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2AB42-87FE-5194-A92B-3984587B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FE809-A20D-CB02-C9C0-59088A3F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1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0ADF0-DECA-B580-352E-91E5D26F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6246-E17A-B2CB-BA94-45A2387A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1FFBC-6043-2870-FF62-EC32FA41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0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E05E-D840-F0FD-FB57-151378D8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87CC-F1C6-6206-1604-CBB4ABB29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06867-0563-F890-583B-03F348CCA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6F794-E77D-E775-DACD-5C928330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1ACB5-17B1-5419-FF63-28DA791D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703F-F4C1-5A01-6CFF-1868A692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5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97BE-2A54-66DF-798A-5E1D7A88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6A696-3564-61EE-7667-F4FBE1FDF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DD13A-991B-FEF0-E3D0-0158D5DE8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BFF49-8653-D6D4-ACF6-362C5E21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4D17C-D95B-2FA0-EF97-B89B2D2D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38FDB-C1A6-2EB3-0532-3514D604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7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E178-3D6A-ED31-787D-8DB85655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A2FCB-3FEC-7DE0-264E-8207B844F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6F8D9-D70F-7A7B-0BAA-85F04701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1918-A519-D1AC-FF6F-9146E867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606B-8E90-DE3D-CD31-775A7694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53AE4-73B7-167C-3965-6C52234C2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C6C4A-7096-5A09-E0B6-740769546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41BC9-F106-BEAE-EF47-1695228C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2E72E-E8D8-CC67-AD38-FC7D3064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30567-0413-8DD1-516B-15C51CBD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6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0A2DA-A5A7-2202-0536-350CC947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7A94E-B5B3-2E10-F13E-577E56A7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56849-76BB-1F0C-48B4-728E0F68C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66EAB-EA3C-46DE-A2CD-61B8FE3E4A9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1BFD-7222-24F5-D311-356FA5653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DE801-5E68-5B8D-CE4D-9B24E4583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F8053-EADF-485D-93C3-19260644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2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 Are Vertical Slices?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Architecture pattern organizing code by features, not layers</a:t>
            </a:r>
          </a:p>
          <a:p>
            <a:pPr lvl="0"/>
            <a:r>
              <a:rPr dirty="0"/>
              <a:t>🎯 </a:t>
            </a:r>
            <a:r>
              <a:rPr b="1" dirty="0"/>
              <a:t>Feature-focused</a:t>
            </a:r>
            <a:r>
              <a:rPr dirty="0"/>
              <a:t> - Complete business capabilities in one place</a:t>
            </a:r>
          </a:p>
          <a:p>
            <a:pPr lvl="0"/>
            <a:r>
              <a:rPr dirty="0"/>
              <a:t>🔄 </a:t>
            </a:r>
            <a:r>
              <a:rPr b="1" dirty="0"/>
              <a:t>Cross-cutting</a:t>
            </a:r>
            <a:r>
              <a:rPr dirty="0"/>
              <a:t> - Spans all technical layers vertically</a:t>
            </a:r>
          </a:p>
          <a:p>
            <a:pPr lvl="0"/>
            <a:r>
              <a:rPr dirty="0"/>
              <a:t>📦 </a:t>
            </a:r>
            <a:r>
              <a:rPr b="1" dirty="0"/>
              <a:t>Self-contained</a:t>
            </a:r>
            <a:r>
              <a:rPr dirty="0"/>
              <a:t> - Everything needed for a feature together</a:t>
            </a:r>
          </a:p>
          <a:p>
            <a:pPr lvl="0"/>
            <a:r>
              <a:rPr dirty="0"/>
              <a:t>🚫 </a:t>
            </a:r>
            <a:r>
              <a:rPr b="1" dirty="0"/>
              <a:t>Independent</a:t>
            </a:r>
            <a:r>
              <a:rPr dirty="0"/>
              <a:t> - Features don’t directly reference each other</a:t>
            </a:r>
          </a:p>
          <a:p>
            <a:pPr lvl="0"/>
            <a:r>
              <a:rPr dirty="0"/>
              <a:t>⚡ </a:t>
            </a:r>
            <a:r>
              <a:rPr b="1" dirty="0"/>
              <a:t>Maintainable</a:t>
            </a:r>
            <a:r>
              <a:rPr dirty="0"/>
              <a:t> - Changes localized to single feature folder</a:t>
            </a:r>
          </a:p>
          <a:p>
            <a:pPr marL="0" indent="0">
              <a:buNone/>
            </a:pP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F071-5CAF-8760-3430-8ACC3B6F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Traditional Layered vs Vertical Slices: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46AFBE-8C64-DE5B-E6A0-4400C95A3B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1119" y="1392573"/>
          <a:ext cx="10586907" cy="4098527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3878664">
                  <a:extLst>
                    <a:ext uri="{9D8B030D-6E8A-4147-A177-3AD203B41FA5}">
                      <a16:colId xmlns:a16="http://schemas.microsoft.com/office/drawing/2014/main" val="2223051993"/>
                    </a:ext>
                  </a:extLst>
                </a:gridCol>
                <a:gridCol w="6708243">
                  <a:extLst>
                    <a:ext uri="{9D8B030D-6E8A-4147-A177-3AD203B41FA5}">
                      <a16:colId xmlns:a16="http://schemas.microsoft.com/office/drawing/2014/main" val="1123534923"/>
                    </a:ext>
                  </a:extLst>
                </a:gridCol>
              </a:tblGrid>
              <a:tr h="542488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700" dirty="0">
                          <a:effectLst/>
                        </a:rPr>
                        <a:t>Layered</a:t>
                      </a:r>
                      <a:endParaRPr lang="en-US" sz="27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700" dirty="0">
                          <a:effectLst/>
                        </a:rPr>
                        <a:t>Vertical Slices</a:t>
                      </a:r>
                      <a:endParaRPr lang="en-US" sz="27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3637166644"/>
                  </a:ext>
                </a:extLst>
              </a:tr>
              <a:tr h="3556039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700">
                          <a:effectLst/>
                        </a:rPr>
                        <a:t>/Controllers</a:t>
                      </a:r>
                    </a:p>
                    <a:p>
                      <a:pPr marL="0" marR="0" fontAlgn="t">
                        <a:buNone/>
                      </a:pPr>
                      <a:r>
                        <a:rPr lang="en-US" sz="2700">
                          <a:effectLst/>
                        </a:rPr>
                        <a:t>/Services</a:t>
                      </a:r>
                      <a:br>
                        <a:rPr lang="en-US" sz="2700">
                          <a:effectLst/>
                        </a:rPr>
                      </a:br>
                      <a:r>
                        <a:rPr lang="en-US" sz="2700">
                          <a:effectLst/>
                        </a:rPr>
                        <a:t>/Repositories</a:t>
                      </a:r>
                      <a:br>
                        <a:rPr lang="en-US" sz="2700">
                          <a:effectLst/>
                        </a:rPr>
                      </a:br>
                      <a:r>
                        <a:rPr lang="en-US" sz="2700">
                          <a:effectLst/>
                        </a:rPr>
                        <a:t>/Models</a:t>
                      </a:r>
                      <a:endParaRPr lang="en-US" sz="27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2700" dirty="0">
                          <a:effectLst/>
                        </a:rPr>
                        <a:t>/Features</a:t>
                      </a:r>
                      <a:br>
                        <a:rPr lang="en-US" sz="2700" dirty="0">
                          <a:effectLst/>
                        </a:rPr>
                      </a:br>
                      <a:r>
                        <a:rPr lang="en-US" sz="2700" dirty="0">
                          <a:effectLst/>
                        </a:rPr>
                        <a:t>  /</a:t>
                      </a:r>
                      <a:r>
                        <a:rPr lang="en-US" sz="2700" dirty="0" err="1">
                          <a:effectLst/>
                        </a:rPr>
                        <a:t>UserRegistration</a:t>
                      </a:r>
                      <a:br>
                        <a:rPr lang="en-US" sz="2700" dirty="0">
                          <a:effectLst/>
                        </a:rPr>
                      </a:br>
                      <a:r>
                        <a:rPr lang="en-US" sz="2700" dirty="0">
                          <a:effectLst/>
                        </a:rPr>
                        <a:t>    - </a:t>
                      </a:r>
                      <a:r>
                        <a:rPr lang="en-US" sz="2700" dirty="0" err="1">
                          <a:effectLst/>
                        </a:rPr>
                        <a:t>RegisterUserCommand.cs</a:t>
                      </a:r>
                      <a:br>
                        <a:rPr lang="en-US" sz="2700" dirty="0">
                          <a:effectLst/>
                        </a:rPr>
                      </a:br>
                      <a:r>
                        <a:rPr lang="en-US" sz="2700" dirty="0">
                          <a:effectLst/>
                        </a:rPr>
                        <a:t>    - </a:t>
                      </a:r>
                      <a:r>
                        <a:rPr lang="en-US" sz="2700" dirty="0" err="1">
                          <a:effectLst/>
                        </a:rPr>
                        <a:t>RegisterUserHandler.cs</a:t>
                      </a:r>
                      <a:br>
                        <a:rPr lang="en-US" sz="2700" dirty="0">
                          <a:effectLst/>
                        </a:rPr>
                      </a:br>
                      <a:r>
                        <a:rPr lang="en-US" sz="2700" dirty="0">
                          <a:effectLst/>
                        </a:rPr>
                        <a:t>    - </a:t>
                      </a:r>
                      <a:r>
                        <a:rPr lang="en-US" sz="2700" dirty="0" err="1">
                          <a:effectLst/>
                        </a:rPr>
                        <a:t>RegisterUserValidator.cs</a:t>
                      </a:r>
                      <a:endParaRPr lang="en-US" sz="27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2047049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75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Use Vertical Slices?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Developer Experience Benefits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b="1" dirty="0"/>
              <a:t>Faster Feature Development</a:t>
            </a:r>
          </a:p>
          <a:p>
            <a:pPr lvl="0"/>
            <a:r>
              <a:rPr dirty="0"/>
              <a:t>All related code in one location</a:t>
            </a:r>
          </a:p>
          <a:p>
            <a:pPr lvl="0"/>
            <a:r>
              <a:rPr dirty="0"/>
              <a:t>No jumping between folders</a:t>
            </a:r>
          </a:p>
          <a:p>
            <a:pPr lvl="0"/>
            <a:r>
              <a:rPr dirty="0"/>
              <a:t>New features don’t affect existing ones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b="1" dirty="0"/>
              <a:t>Easier Maintenance</a:t>
            </a:r>
          </a:p>
          <a:p>
            <a:pPr lvl="0"/>
            <a:r>
              <a:rPr dirty="0"/>
              <a:t>Changes isolated to single feature</a:t>
            </a:r>
          </a:p>
          <a:p>
            <a:pPr lvl="0"/>
            <a:r>
              <a:rPr dirty="0"/>
              <a:t>Clear boundaries reduce bugs</a:t>
            </a:r>
          </a:p>
          <a:p>
            <a:pPr lvl="0"/>
            <a:r>
              <a:rPr dirty="0"/>
              <a:t>Refactoring contained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b="1" dirty="0"/>
              <a:t>Better Team Collaboration</a:t>
            </a:r>
          </a:p>
          <a:p>
            <a:pPr lvl="0"/>
            <a:r>
              <a:rPr dirty="0"/>
              <a:t>Developers work on separate features simultaneously</a:t>
            </a:r>
          </a:p>
          <a:p>
            <a:pPr lvl="0"/>
            <a:r>
              <a:rPr dirty="0"/>
              <a:t>Fewer merge conflicts</a:t>
            </a:r>
          </a:p>
          <a:p>
            <a:pPr lvl="0"/>
            <a:r>
              <a:rPr dirty="0"/>
              <a:t>Clear ownership and responsibility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b="1" dirty="0"/>
              <a:t>Improved Testability</a:t>
            </a:r>
          </a:p>
          <a:p>
            <a:pPr lvl="0"/>
            <a:r>
              <a:rPr dirty="0"/>
              <a:t>Test complete features, not layers</a:t>
            </a:r>
          </a:p>
          <a:p>
            <a:pPr lvl="0"/>
            <a:r>
              <a:rPr dirty="0"/>
              <a:t>Mock at feature boundaries</a:t>
            </a:r>
          </a:p>
          <a:p>
            <a:pPr lvl="0"/>
            <a:r>
              <a:rPr dirty="0"/>
              <a:t>Integration tests straightforward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668F-EF82-A418-D860-0508F608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Vertical Slice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699C-7821-50F1-CC30-EEAE5C6C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5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80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What Are Vertical Slices?</vt:lpstr>
      <vt:lpstr>Traditional Layered vs Vertical Slices:</vt:lpstr>
      <vt:lpstr>Why Use Vertical Slices?</vt:lpstr>
      <vt:lpstr>Vertical Slice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2026-03-05T21:16:43Z</dcterms:created>
  <dcterms:modified xsi:type="dcterms:W3CDTF">2026-03-05T21:17:05Z</dcterms:modified>
</cp:coreProperties>
</file>