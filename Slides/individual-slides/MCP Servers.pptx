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350" r:id="rId2"/>
    <p:sldId id="351" r:id="rId3"/>
    <p:sldId id="352" r:id="rId4"/>
    <p:sldId id="353" r:id="rId5"/>
    <p:sldId id="354" r:id="rId6"/>
    <p:sldId id="355" r:id="rId7"/>
    <p:sldId id="358" r:id="rId8"/>
    <p:sldId id="356" r:id="rId9"/>
    <p:sldId id="35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3842473-B15A-4E33-AC52-BB7447577FCC}">
          <p14:sldIdLst/>
        </p14:section>
        <p14:section name="MCP Servers" id="{735A2D89-7BFC-4A3D-AB5A-28CBD80B5DE7}">
          <p14:sldIdLst>
            <p14:sldId id="350"/>
            <p14:sldId id="351"/>
            <p14:sldId id="352"/>
            <p14:sldId id="353"/>
            <p14:sldId id="354"/>
            <p14:sldId id="355"/>
            <p14:sldId id="358"/>
            <p14:sldId id="356"/>
            <p14:sldId id="35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7" autoAdjust="0"/>
    <p:restoredTop sz="94660"/>
  </p:normalViewPr>
  <p:slideViewPr>
    <p:cSldViewPr snapToGrid="0">
      <p:cViewPr varScale="1">
        <p:scale>
          <a:sx n="160" d="100"/>
          <a:sy n="160" d="100"/>
        </p:scale>
        <p:origin x="10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B2379C-4C1A-4B12-AFE5-368A7B921D1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809D16-5D88-41E6-BCA7-62FF09241E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048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Delivery</a:t>
            </a:r>
            <a:r>
              <a:t>: Start with enthusiasm - focus on immediate productivity gains by using existing tools.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Timing</a:t>
            </a:r>
            <a:r>
              <a:t>: 1 minute - brief introduction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Key Points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MCP servers are ready-to-use tools that enhance Copilot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No need to build from scratch - consume existing servers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Dozens of community servers available today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Simple configuration unlocks powerful capabilities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Transition</a:t>
            </a:r>
            <a:r>
              <a:t>: “Let’s explore how to use MCP servers to enhance your development workflow”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Delivery</a:t>
            </a:r>
            <a:r>
              <a:t>: Emphasize “consume not create” - developers use existing servers.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Timing</a:t>
            </a:r>
            <a:r>
              <a:t>: 2-3 minutes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Key Points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MCP servers are like npm packages - install and use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Large ecosystem of ready-to-use servers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Community maintains servers for databases, APIs, file systems, etc.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Configuration is simple JSON - no coding required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Examples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GitHub MCP Server: Access repos and issues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Postgres MCP Server: Query your database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Filesystem MCP Server: Safe file access for Copilot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Slack MCP Server: Read channels and messages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Transition</a:t>
            </a:r>
            <a:r>
              <a:t>: “Let’s see the architecture from a consumer’s perspective”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Delivery</a:t>
            </a:r>
            <a:r>
              <a:t>: Focus on what the developer controls - configuration, not code.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Timing</a:t>
            </a:r>
            <a:r>
              <a:t>: 3-4 minutes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Key Points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You don’t write server code - you configure existing servers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Servers are distributed as npm packages, Python packages, or binaries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Your job: Install server + configure what it can access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Communication happens automatically once configured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Examples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Install </a:t>
            </a:r>
            <a:r>
              <a:rPr>
                <a:latin typeface="Courier"/>
              </a:rPr>
              <a:t>@modelcontextprotocol/server-github</a:t>
            </a:r>
            <a:r>
              <a:t> via npm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Configure with your GitHub token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Copilot can now access your repos for better context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Consumer Focus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Think “install and configure” not “build and deploy”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Like using VS Code extensions - install from marketplace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Transition</a:t>
            </a:r>
            <a:r>
              <a:t>: “Let’s install your first MCP server”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Delivery</a:t>
            </a:r>
            <a:r>
              <a:t>: Walk through real example - emphasize it’s just package installation.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Timing</a:t>
            </a:r>
            <a:r>
              <a:t>: 4-5 minutes (show live demo if possible)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Key Points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Install like any npm/pip package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Configure with credentials and options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Servers start automatically with VS Code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Multiple servers can run together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Available Servers</a:t>
            </a:r>
            <a:r>
              <a:t> (mention these):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rPr>
                <a:latin typeface="Courier"/>
              </a:rPr>
              <a:t>@modelcontextprotocol/server-github</a:t>
            </a:r>
            <a:r>
              <a:t> - GitHub integration</a:t>
            </a:r>
          </a:p>
          <a:p>
            <a:pPr marL="0" lvl="0" indent="0">
              <a:buNone/>
            </a:pPr>
            <a:endParaRPr/>
          </a:p>
          <a:p>
            <a:pPr lvl="0"/>
            <a:r>
              <a:rPr>
                <a:latin typeface="Courier"/>
              </a:rPr>
              <a:t>@modelcontextprotocol/server-postgres</a:t>
            </a:r>
            <a:r>
              <a:t> - Database access</a:t>
            </a:r>
          </a:p>
          <a:p>
            <a:pPr marL="0" lvl="0" indent="0">
              <a:buNone/>
            </a:pPr>
            <a:endParaRPr/>
          </a:p>
          <a:p>
            <a:pPr lvl="0"/>
            <a:r>
              <a:rPr>
                <a:latin typeface="Courier"/>
              </a:rPr>
              <a:t>@modelcontextprotocol/server-filesystem</a:t>
            </a:r>
            <a:r>
              <a:t> - Safe file access</a:t>
            </a:r>
          </a:p>
          <a:p>
            <a:pPr marL="0" lvl="0" indent="0">
              <a:buNone/>
            </a:pPr>
            <a:endParaRPr/>
          </a:p>
          <a:p>
            <a:pPr lvl="0"/>
            <a:r>
              <a:rPr>
                <a:latin typeface="Courier"/>
              </a:rPr>
              <a:t>@modelcontextprotocol/server-sqlite</a:t>
            </a:r>
            <a:r>
              <a:t> - SQLite queries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Common Issues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Missing credentials: Set environment variables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Package not found: Check npm registry or install from GitHub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Permission errors: Verify token scopes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Transition</a:t>
            </a:r>
            <a:r>
              <a:t>: “Now let’s see Copilot use this context”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Delivery</a:t>
            </a:r>
            <a:r>
              <a:t>: Emphasize the “before and after” - how completions improve with MCP context.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Timing</a:t>
            </a:r>
            <a:r>
              <a:t>: 4-5 minutes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Key Points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Without MCP: Generic completions based on training data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With MCP: Completions that match YOUR codebase patterns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Security: MCP enforces what Copilot can access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Customization: Define project-specific rules and patterns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Examples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Database connection: MCP provides your connection pattern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API calls: MCP shares your error handling approach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Testing: MCP provides your test framework patterns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Background Context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MCP servers can implement rate limiting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Audit logs track what context was provided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Permission model prevents unauthorized access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Transition</a:t>
            </a:r>
            <a:r>
              <a:t>: “Let’s look at some practical scenarios”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Delivery</a:t>
            </a:r>
            <a:r>
              <a:t>: This is a “shopping list” - show what’s available to install.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Timing</a:t>
            </a:r>
            <a:r>
              <a:t>: 4-5 minutes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Key Points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All these servers exist today - just install and configure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Community actively building more servers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Official servers maintained by protocol creators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Third-party servers for specialized needs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Specific Examples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rPr>
                <a:latin typeface="Courier"/>
              </a:rPr>
              <a:t>@modelcontextprotocol/server-github</a:t>
            </a:r>
            <a:r>
              <a:t>: Full GitHub integration</a:t>
            </a:r>
          </a:p>
          <a:p>
            <a:pPr marL="0" lvl="0" indent="0">
              <a:buNone/>
            </a:pPr>
            <a:endParaRPr/>
          </a:p>
          <a:p>
            <a:pPr lvl="0"/>
            <a:r>
              <a:rPr>
                <a:latin typeface="Courier"/>
              </a:rPr>
              <a:t>@modelcontextprotocol/server-postgres</a:t>
            </a:r>
            <a:r>
              <a:t>: Direct database queries</a:t>
            </a:r>
          </a:p>
          <a:p>
            <a:pPr marL="0" lvl="0" indent="0">
              <a:buNone/>
            </a:pPr>
            <a:endParaRPr/>
          </a:p>
          <a:p>
            <a:pPr lvl="0"/>
            <a:r>
              <a:rPr>
                <a:latin typeface="Courier"/>
              </a:rPr>
              <a:t>@modelcontextprotocol/server-filesystem</a:t>
            </a:r>
            <a:r>
              <a:t>: Workspace file access</a:t>
            </a:r>
          </a:p>
          <a:p>
            <a:pPr marL="0" lvl="0" indent="0">
              <a:buNone/>
            </a:pPr>
            <a:endParaRPr/>
          </a:p>
          <a:p>
            <a:pPr lvl="0"/>
            <a:r>
              <a:rPr>
                <a:latin typeface="Courier"/>
              </a:rPr>
              <a:t>@modelcontextprotocol/server-brave-search</a:t>
            </a:r>
            <a:r>
              <a:t>: Web search integration</a:t>
            </a:r>
          </a:p>
          <a:p>
            <a:pPr marL="0" lvl="0" indent="0">
              <a:buNone/>
            </a:pPr>
            <a:endParaRPr/>
          </a:p>
          <a:p>
            <a:pPr lvl="0"/>
            <a:r>
              <a:rPr>
                <a:latin typeface="Courier"/>
              </a:rPr>
              <a:t>@modelcontextprotocol/server-puppeteer</a:t>
            </a:r>
            <a:r>
              <a:t>: Browser automation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Real Usage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GitHub server: “Show me similar issues” → searches your repos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DB server: “Generate migration for this schema” → queries current schema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Filesystem: “Refactor all files using pattern X” → scans project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Where to Find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Official: https://github.com/modelcontextprotocol/servers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Community: npm/pip with “mcp-server” tag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Transition</a:t>
            </a:r>
            <a:r>
              <a:t>: “Let’s talk about configuring these safely”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Delivery</a:t>
            </a:r>
            <a:r>
              <a:t>: Security from consumer perspective - what you control in config.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Timing</a:t>
            </a:r>
            <a:r>
              <a:t>: 3-4 minutes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Key Points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You control what each server can access via configuration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Servers can’t bypass permissions you set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Credentials stay in environment variables, never in code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Official servers are audited and maintained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Configuration Examples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 indent="0">
              <a:buNone/>
            </a:pPr>
            <a:r>
              <a:rPr b="1">
                <a:solidFill>
                  <a:srgbClr val="FF0000"/>
                </a:solidFill>
                <a:latin typeface="Courier"/>
              </a:rPr>
              <a:t>//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FF0000"/>
                </a:solidFill>
                <a:latin typeface="Courier"/>
              </a:rPr>
              <a:t>Good: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FF0000"/>
                </a:solidFill>
                <a:latin typeface="Courier"/>
              </a:rPr>
              <a:t>Scoped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FF0000"/>
                </a:solidFill>
                <a:latin typeface="Courier"/>
              </a:rPr>
              <a:t>GitHub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FF0000"/>
                </a:solidFill>
                <a:latin typeface="Courier"/>
              </a:rPr>
              <a:t>token</a:t>
            </a:r>
            <a:br/>
            <a:r>
              <a:rPr b="1">
                <a:solidFill>
                  <a:srgbClr val="FF0000"/>
                </a:solidFill>
                <a:latin typeface="Courier"/>
              </a:rPr>
              <a:t>"env":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"GITHUB_TOKEN"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"${env:GH_READ_TOKEN}"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}</a:t>
            </a:r>
            <a:br/>
            <a:br/>
            <a:r>
              <a:rPr b="1">
                <a:solidFill>
                  <a:srgbClr val="FF0000"/>
                </a:solidFill>
                <a:latin typeface="Courier"/>
              </a:rPr>
              <a:t>//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FF0000"/>
                </a:solidFill>
                <a:latin typeface="Courier"/>
              </a:rPr>
              <a:t>Good: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FF0000"/>
                </a:solidFill>
                <a:latin typeface="Courier"/>
              </a:rPr>
              <a:t>Limited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FF0000"/>
                </a:solidFill>
                <a:latin typeface="Courier"/>
              </a:rPr>
              <a:t>database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FF0000"/>
                </a:solidFill>
                <a:latin typeface="Courier"/>
              </a:rPr>
              <a:t>access</a:t>
            </a:r>
            <a:br/>
            <a:r>
              <a:rPr b="1">
                <a:solidFill>
                  <a:srgbClr val="FF0000"/>
                </a:solidFill>
                <a:latin typeface="Courier"/>
              </a:rPr>
              <a:t>"env":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"DATABASE_URL"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"readonly-connection-string"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}</a:t>
            </a:r>
            <a:br/>
            <a:br/>
            <a:r>
              <a:rPr b="1">
                <a:solidFill>
                  <a:srgbClr val="FF0000"/>
                </a:solidFill>
                <a:latin typeface="Courier"/>
              </a:rPr>
              <a:t>//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FF0000"/>
                </a:solidFill>
                <a:latin typeface="Courier"/>
              </a:rPr>
              <a:t>Bad: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FF0000"/>
                </a:solidFill>
                <a:latin typeface="Courier"/>
              </a:rPr>
              <a:t>Full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FF0000"/>
                </a:solidFill>
                <a:latin typeface="Courier"/>
              </a:rPr>
              <a:t>access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FF0000"/>
                </a:solidFill>
                <a:latin typeface="Courier"/>
              </a:rPr>
              <a:t>token</a:t>
            </a:r>
            <a:br/>
            <a:r>
              <a:rPr b="1">
                <a:solidFill>
                  <a:srgbClr val="FF0000"/>
                </a:solidFill>
                <a:latin typeface="Courier"/>
              </a:rPr>
              <a:t>"env":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"TOKEN"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"full-admin-token-hardcoded"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}</a:t>
            </a:r>
          </a:p>
          <a:p>
            <a:pPr marL="0" lvl="0" indent="0">
              <a:buNone/>
            </a:pPr>
            <a:endParaRPr>
              <a:solidFill>
                <a:srgbClr val="06287E"/>
              </a:solidFill>
              <a:latin typeface="Courier"/>
            </a:endParaRPr>
          </a:p>
          <a:p>
            <a:pPr marL="0" lvl="0" indent="0">
              <a:buNone/>
            </a:pPr>
            <a:r>
              <a:rPr b="1"/>
              <a:t>Best Practices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GitHub: Use personal access token with repo:read only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Database: Create read-only database user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Filesystem: Specify exact directories in config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Review: Check server code on GitHub before installing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Common Mistakes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Using admin credentials when reader role sufficient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Granting access to entire filesystem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Not reviewing what data server sends to AI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Transition</a:t>
            </a:r>
            <a:r>
              <a:t>: “Let’s get you started with your first server”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Delivery</a:t>
            </a:r>
            <a:r>
              <a:t>: Make it feel achievable - “you can do this today.”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Timing</a:t>
            </a:r>
            <a:r>
              <a:t>: 2-3 minutes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Key Points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Don’t try to install all servers at once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Pick ONE that solves a pain point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Test thoroughly before adding more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Active community helps with issues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Recommended First Server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rPr b="1"/>
              <a:t>Filesystem</a:t>
            </a:r>
            <a:r>
              <a:t> if you want Copilot to understand your project structure</a:t>
            </a:r>
          </a:p>
          <a:p>
            <a:pPr marL="0" lvl="0" indent="0">
              <a:buNone/>
            </a:pPr>
            <a:endParaRPr/>
          </a:p>
          <a:p>
            <a:pPr lvl="0"/>
            <a:r>
              <a:rPr b="1"/>
              <a:t>GitHub</a:t>
            </a:r>
            <a:r>
              <a:t> if you want context from issues and PRs</a:t>
            </a:r>
          </a:p>
          <a:p>
            <a:pPr marL="0" lvl="0" indent="0">
              <a:buNone/>
            </a:pPr>
            <a:endParaRPr/>
          </a:p>
          <a:p>
            <a:pPr lvl="0"/>
            <a:r>
              <a:rPr b="1"/>
              <a:t>Postgres</a:t>
            </a:r>
            <a:r>
              <a:t> if you want schema-aware SQL generation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Step-by-Step</a:t>
            </a:r>
            <a:r>
              <a:t>:</a:t>
            </a:r>
          </a:p>
          <a:p>
            <a:pPr marL="0" lvl="0" indent="0">
              <a:buNone/>
            </a:pPr>
            <a:endParaRPr/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1. Install server</a:t>
            </a:r>
            <a:br/>
            <a:r>
              <a:rPr>
                <a:latin typeface="Courier"/>
              </a:rPr>
              <a:t>npm install </a:t>
            </a:r>
            <a:r>
              <a:rPr>
                <a:solidFill>
                  <a:srgbClr val="7D9029"/>
                </a:solidFill>
                <a:latin typeface="Courier"/>
              </a:rPr>
              <a:t>-g</a:t>
            </a:r>
            <a:r>
              <a:rPr>
                <a:latin typeface="Courier"/>
              </a:rPr>
              <a:t> @modelcontextprotocol/server-filesystem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2. Configure VS Code settings.json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4070A0"/>
                </a:solidFill>
                <a:latin typeface="Courier"/>
              </a:rPr>
              <a:t>"mcp.servers"</a:t>
            </a:r>
            <a:r>
              <a:rPr>
                <a:latin typeface="Courier"/>
              </a:rPr>
              <a:t>: 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"filesystem"</a:t>
            </a:r>
            <a:r>
              <a:rPr>
                <a:latin typeface="Courier"/>
              </a:rPr>
              <a:t>: {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4070A0"/>
                </a:solidFill>
                <a:latin typeface="Courier"/>
              </a:rPr>
              <a:t>"command"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"mcp-server-filesystem"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4070A0"/>
                </a:solidFill>
                <a:latin typeface="Courier"/>
              </a:rPr>
              <a:t>"args"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BC7A00"/>
                </a:solidFill>
                <a:latin typeface="Courier"/>
              </a:rPr>
              <a:t>[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solidFill>
                  <a:srgbClr val="19177C"/>
                </a:solidFill>
                <a:latin typeface="Courier"/>
              </a:rPr>
              <a:t>${workspaceFolder}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solidFill>
                  <a:srgbClr val="BC7A00"/>
                </a:solidFill>
                <a:latin typeface="Courier"/>
              </a:rPr>
              <a:t>]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FF0000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FF0000"/>
                </a:solidFill>
                <a:latin typeface="Courier"/>
              </a:rPr>
              <a:t>}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3. Reload VS Code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4. Ask Copilot: "What files are in this project?"</a:t>
            </a:r>
          </a:p>
          <a:p>
            <a:pPr marL="0" lvl="0" indent="0">
              <a:buNone/>
            </a:pPr>
            <a:endParaRPr i="1">
              <a:solidFill>
                <a:srgbClr val="60A0B0"/>
              </a:solidFill>
              <a:latin typeface="Courier"/>
            </a:endParaRPr>
          </a:p>
          <a:p>
            <a:pPr marL="0" lvl="0" indent="0">
              <a:buNone/>
            </a:pPr>
            <a:r>
              <a:rPr b="1"/>
              <a:t>Transition</a:t>
            </a:r>
            <a:r>
              <a:t>: “Questions about getting started?”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B0B0B-F128-DB2F-FB95-1B0577B529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9BC830-C343-7994-FEAD-B1D37568FB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E3098F-A5EB-9722-FE1B-DC022B01D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C9981-2E36-434F-8376-0F80879CA5C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6808D-B5A9-E932-0D2B-8EE493346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E3A371-5247-C134-AA45-16C803439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83AD1-88F6-495B-BEE4-067EC38BE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772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822A8-7EA9-065A-736C-8CA5582C8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B24B0-0298-DC08-6ABB-90AC96407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CEEA6-DFAB-51C7-6AFD-6E7CFE6D8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C9981-2E36-434F-8376-0F80879CA5C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CC4252-C7F4-5791-72A0-E114694E4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44D3FA-8D00-1549-BC15-379056E12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83AD1-88F6-495B-BEE4-067EC38BE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329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11FA6-8CD8-1BC3-B5ED-665B0D7AC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72FD95-C16A-102B-3661-FCE547791B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A4F216-A14D-12F1-C00E-4801BAD58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C9981-2E36-434F-8376-0F80879CA5C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4F5F6-CE3C-57F2-BCF9-EB22EED48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F311B9-C9D9-F18C-18E9-A13811A78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83AD1-88F6-495B-BEE4-067EC38BE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347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A5105-CE65-3F36-ECCA-1A408BBB5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7EC11-0D44-B060-40A0-5B6EF0BBD3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1C015F-A936-56C7-CA00-D6D6E34B92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6BE5B1-376F-C84D-D279-692F5EC91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C9981-2E36-434F-8376-0F80879CA5C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568D61-F5BB-EB91-E711-2CCAA1E8A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9DC49D-93B6-0862-AA1D-A0A9A073A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83AD1-88F6-495B-BEE4-067EC38BE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197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C9702-4F84-D76C-E4C1-FE7D14896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097105-3C63-3CA2-542C-17C71330D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B673E9-3CEC-FAC9-DDBF-3DB010E7D1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DF2074-AB0A-7770-6B53-D6F151C1F0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2E4BC7-8A1E-2690-D119-D105A26B1D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FCCB1D-22C8-BD34-ED52-F810C088E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C9981-2E36-434F-8376-0F80879CA5C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26E7CA-BC3A-D734-D9B3-4DB4238E3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E08F97-90A6-1CE7-D974-B265BA765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83AD1-88F6-495B-BEE4-067EC38BE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246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CA7CA-496F-0982-84F4-228F50EAB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6D9F57-570B-75E0-E532-7600A549E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C9981-2E36-434F-8376-0F80879CA5C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99289B-F2AA-C224-CEB9-67EA4E33A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6EF17F-3DA3-6CFF-E226-9395D8EC0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83AD1-88F6-495B-BEE4-067EC38BE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024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08E2C3-0F5F-AD34-9258-4E6E5959A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C9981-2E36-434F-8376-0F80879CA5C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D43E1F-CC23-015A-58C2-35E291137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0CEFAF-938F-19F2-CF5B-0C53AD576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83AD1-88F6-495B-BEE4-067EC38BE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7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40B66-A5B1-A709-9D2B-FF5562B40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C318B-1ABB-AF5E-8A08-E0852040D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F58B5F-B382-1D2E-C8F2-845A337E5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51371E-59BF-BFE0-6DBC-572E83D1E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C9981-2E36-434F-8376-0F80879CA5C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B77A72-D81F-BE37-A08B-6FCE39720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A8E2C0-8E80-0180-2AAF-0F35180FF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83AD1-88F6-495B-BEE4-067EC38BE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964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EE356-609E-8541-3271-4EC0FD9F2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38B2F8-28DD-F1BF-B968-7899E6FC92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1A71B8-9460-07AD-FB55-387205808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F618DB-B3C0-5530-72D7-02C5436F6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C9981-2E36-434F-8376-0F80879CA5C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690874-F8E9-64D4-DDC2-EABA1E26B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3D910A-11B2-0389-3C4B-6E1513A2E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83AD1-88F6-495B-BEE4-067EC38BE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413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52B38-D4D5-760F-1B17-5456475E6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A75141-00BA-0546-EE9C-A3EDE1B67F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688A38-1878-0AB8-FBAF-0328839DF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C9981-2E36-434F-8376-0F80879CA5C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B36A1-F833-E2D1-4B6C-3293CC8E5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45EDA1-26CA-6F37-2F64-8A682C2A8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83AD1-88F6-495B-BEE4-067EC38BE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625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DE5D19-B9AB-155E-B6F3-314BA65F77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3BCF31-B774-A145-6492-34D995BEA4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E79153-BCB3-B55F-51EB-372FE6270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C9981-2E36-434F-8376-0F80879CA5C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A15CA2-41A6-F513-C189-F18AD7787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73EB99-E0B5-6619-C563-1C23853A6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83AD1-88F6-495B-BEE4-067EC38BE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479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ED6D3C-5EFD-ACE0-02C6-AEE3A33D6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79B486-96BE-02E6-03B6-A5FB667693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EDA24-E550-F0E7-132C-178DF5DB44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4C9981-2E36-434F-8376-0F80879CA5C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9F82A5-F62E-DF86-9DC6-0131A31433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E8E7FC-81F5-D3DE-5887-1F26D56849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183AD1-88F6-495B-BEE4-067EC38BE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403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MCP Servers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Leverage existing MCP servers to supercharge your AI development workflow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A8C2F-FB3C-3B07-D9C1-C8F09594C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MCP?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/>
              <a:t>Model Context Protocol (MCP)</a:t>
            </a:r>
            <a:r>
              <a:rPr dirty="0"/>
              <a:t> is a standardized protocol that:</a:t>
            </a:r>
          </a:p>
          <a:p>
            <a:pPr lvl="0"/>
            <a:r>
              <a:rPr dirty="0"/>
              <a:t>Connects Copilot to external data sources via </a:t>
            </a:r>
            <a:r>
              <a:rPr b="1" dirty="0"/>
              <a:t>MCP Servers</a:t>
            </a:r>
          </a:p>
          <a:p>
            <a:pPr lvl="0"/>
            <a:r>
              <a:rPr b="1" dirty="0"/>
              <a:t>Pre-built servers</a:t>
            </a:r>
            <a:r>
              <a:rPr dirty="0"/>
              <a:t> provide ready-to-use capabilities</a:t>
            </a:r>
          </a:p>
          <a:p>
            <a:pPr lvl="0"/>
            <a:r>
              <a:rPr dirty="0"/>
              <a:t>You </a:t>
            </a:r>
            <a:r>
              <a:rPr b="1" dirty="0"/>
              <a:t>configure and consume</a:t>
            </a:r>
            <a:r>
              <a:rPr dirty="0"/>
              <a:t> servers, not build them</a:t>
            </a:r>
          </a:p>
          <a:p>
            <a:pPr lvl="0"/>
            <a:r>
              <a:rPr dirty="0"/>
              <a:t>Community servers available for common tasks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E0F26EE-73AE-D65F-D269-04BA57773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MCP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b="1" dirty="0"/>
              <a:t>Key Components</a:t>
            </a:r>
            <a:r>
              <a:rPr dirty="0"/>
              <a:t>:</a:t>
            </a:r>
          </a:p>
          <a:p>
            <a:pPr lvl="0"/>
            <a:r>
              <a:rPr b="1" dirty="0"/>
              <a:t>Client</a:t>
            </a:r>
            <a:r>
              <a:rPr dirty="0"/>
              <a:t>: VS Code/Copilot (you configure this)</a:t>
            </a:r>
          </a:p>
          <a:p>
            <a:pPr lvl="0"/>
            <a:r>
              <a:rPr b="1" dirty="0"/>
              <a:t>Server</a:t>
            </a:r>
            <a:r>
              <a:rPr dirty="0"/>
              <a:t>: Pre-built tools (you install these)</a:t>
            </a:r>
          </a:p>
          <a:p>
            <a:pPr lvl="0"/>
            <a:r>
              <a:rPr b="1" dirty="0"/>
              <a:t>Resources</a:t>
            </a:r>
            <a:r>
              <a:rPr dirty="0"/>
              <a:t>: Data the server accesses (you configure permissions)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0E383A-0673-76F0-E6A5-781EC00C78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052" y="4528609"/>
            <a:ext cx="8534413" cy="14920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Bef>
                <a:spcPts val="4000"/>
              </a:spcBef>
              <a:buNone/>
            </a:pPr>
            <a:r>
              <a:rPr b="1"/>
              <a:t>Installing Your First MCP Server</a:t>
            </a:r>
          </a:p>
          <a:p>
            <a:pPr marL="0" indent="0">
              <a:buNone/>
            </a:pPr>
            <a:r>
              <a:rPr b="1"/>
              <a:t>Example: GitHub MCP Server</a:t>
            </a:r>
          </a:p>
          <a:p>
            <a:pPr marL="457189" indent="-457189">
              <a:buAutoNum type="arabicPeriod"/>
            </a:pPr>
            <a:r>
              <a:t>Install the server package:</a:t>
            </a:r>
          </a:p>
          <a:p>
            <a:pPr lvl="1" indent="0">
              <a:buNone/>
            </a:pPr>
            <a:r>
              <a:rPr>
                <a:latin typeface="Courier"/>
              </a:rPr>
              <a:t>npm install </a:t>
            </a:r>
            <a:r>
              <a:rPr>
                <a:solidFill>
                  <a:srgbClr val="7D9029"/>
                </a:solidFill>
                <a:latin typeface="Courier"/>
              </a:rPr>
              <a:t>-g</a:t>
            </a:r>
            <a:r>
              <a:rPr>
                <a:latin typeface="Courier"/>
              </a:rPr>
              <a:t> @modelcontextprotocol/server-github</a:t>
            </a:r>
          </a:p>
          <a:p>
            <a:pPr marL="457189" indent="-457189">
              <a:buAutoNum type="arabicPeriod"/>
            </a:pPr>
            <a:r>
              <a:t>Configure in VS Code </a:t>
            </a:r>
            <a:r>
              <a:rPr>
                <a:latin typeface="Courier"/>
              </a:rPr>
              <a:t>settings.json</a:t>
            </a:r>
            <a:r>
              <a:t>:</a:t>
            </a:r>
          </a:p>
          <a:p>
            <a:pPr lvl="1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"mcp.servers"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"github"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902000"/>
                </a:solidFill>
                <a:latin typeface="Courier"/>
              </a:rPr>
              <a:t>"command"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"mcp-server-github"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902000"/>
                </a:solidFill>
                <a:latin typeface="Courier"/>
              </a:rPr>
              <a:t>"env"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"GITHUB_TOKEN"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"${env:GITHUB_TOKEN}"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}</a:t>
            </a:r>
            <a:br/>
            <a:r>
              <a:rPr>
                <a:solidFill>
                  <a:srgbClr val="06287E"/>
                </a:solidFill>
                <a:latin typeface="Courier"/>
              </a:rPr>
              <a:t>}</a:t>
            </a:r>
          </a:p>
          <a:p>
            <a:pPr marL="457189" indent="-457189">
              <a:buAutoNum type="arabicPeriod"/>
            </a:pPr>
            <a:r>
              <a:t>Reload VS Code - MCP server starts automatically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316AC-3984-7AB6-3835-1FE607048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Copilot + MCP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b="1" dirty="0"/>
              <a:t>Enhanced Capabilities</a:t>
            </a:r>
            <a:r>
              <a:rPr dirty="0"/>
              <a:t>:</a:t>
            </a:r>
          </a:p>
          <a:p>
            <a:pPr lvl="0"/>
            <a:r>
              <a:rPr b="1" dirty="0"/>
              <a:t>Context-Aware Completions</a:t>
            </a:r>
            <a:r>
              <a:rPr dirty="0"/>
              <a:t>: Access to project-specific context</a:t>
            </a:r>
          </a:p>
          <a:p>
            <a:pPr lvl="0"/>
            <a:r>
              <a:rPr b="1" dirty="0"/>
              <a:t>Tool Use</a:t>
            </a:r>
            <a:r>
              <a:rPr dirty="0"/>
              <a:t>: Copilot can invoke tools via MCP</a:t>
            </a:r>
          </a:p>
          <a:p>
            <a:pPr lvl="0"/>
            <a:r>
              <a:rPr b="1" dirty="0"/>
              <a:t>Custom Instructions</a:t>
            </a:r>
            <a:r>
              <a:rPr dirty="0"/>
              <a:t>: Per-project guidance</a:t>
            </a:r>
          </a:p>
          <a:p>
            <a:pPr lvl="0"/>
            <a:r>
              <a:rPr b="1" dirty="0"/>
              <a:t>Security Boundaries</a:t>
            </a:r>
            <a:r>
              <a:rPr dirty="0"/>
              <a:t>: Controlled access to resources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D2342A2-D102-298F-0187-D68FD08A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Popular MCP Servers to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4000"/>
              </a:spcBef>
              <a:buNone/>
            </a:pPr>
            <a:r>
              <a:rPr b="1" dirty="0"/>
              <a:t>Popular MCP Servers to Use</a:t>
            </a:r>
          </a:p>
          <a:p>
            <a:pPr marL="0" indent="0">
              <a:buNone/>
            </a:pPr>
            <a:r>
              <a:rPr b="1" dirty="0"/>
              <a:t>Ready-to-Use Servers</a:t>
            </a:r>
            <a:r>
              <a:rPr dirty="0"/>
              <a:t>:</a:t>
            </a:r>
          </a:p>
          <a:p>
            <a:pPr lvl="0"/>
            <a:r>
              <a:rPr b="1" dirty="0"/>
              <a:t>GitHub</a:t>
            </a:r>
            <a:r>
              <a:rPr dirty="0"/>
              <a:t>: Access repos, issues, PRs for context</a:t>
            </a:r>
          </a:p>
          <a:p>
            <a:pPr lvl="0"/>
            <a:r>
              <a:rPr b="1" dirty="0"/>
              <a:t>Databases</a:t>
            </a:r>
            <a:r>
              <a:rPr dirty="0"/>
              <a:t>: Query schemas and data safely</a:t>
            </a:r>
          </a:p>
          <a:p>
            <a:pPr lvl="0"/>
            <a:r>
              <a:rPr b="1" dirty="0"/>
              <a:t>Filesystem</a:t>
            </a:r>
            <a:r>
              <a:rPr dirty="0"/>
              <a:t>: Give Copilot controlled file access</a:t>
            </a:r>
          </a:p>
          <a:p>
            <a:pPr lvl="0"/>
            <a:r>
              <a:rPr b="1" dirty="0"/>
              <a:t>Web/APIs</a:t>
            </a:r>
            <a:r>
              <a:rPr dirty="0"/>
              <a:t>: Integrate with REST and </a:t>
            </a:r>
            <a:r>
              <a:rPr dirty="0" err="1"/>
              <a:t>GraphQL</a:t>
            </a:r>
            <a:r>
              <a:rPr dirty="0"/>
              <a:t> services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B1B5D-2007-D629-AF86-AE9D7ECC5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Finding MCP Servers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ED0CD-40FC-8A98-B701-783534AFDE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Search for MCP in VS Code Extensions</a:t>
            </a:r>
          </a:p>
          <a:p>
            <a:r>
              <a:rPr lang="en-US" dirty="0"/>
              <a:t>Registry: https://registry.modelcontextprotocol.io/</a:t>
            </a:r>
          </a:p>
        </p:txBody>
      </p:sp>
    </p:spTree>
    <p:extLst>
      <p:ext uri="{BB962C8B-B14F-4D97-AF65-F5344CB8AC3E}">
        <p14:creationId xmlns:p14="http://schemas.microsoft.com/office/powerpoint/2010/main" val="1464025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1261A-4F15-8874-14ED-F686E904B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Configuring Servers Securely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b="1" dirty="0"/>
              <a:t>Security When Consuming Servers</a:t>
            </a:r>
            <a:r>
              <a:rPr dirty="0"/>
              <a:t>:</a:t>
            </a:r>
          </a:p>
          <a:p>
            <a:pPr lvl="0"/>
            <a:r>
              <a:rPr dirty="0"/>
              <a:t>✅ Use environment variables for credentials</a:t>
            </a:r>
          </a:p>
          <a:p>
            <a:pPr lvl="0"/>
            <a:r>
              <a:rPr dirty="0"/>
              <a:t>✅ Grant minimum necessary permissions</a:t>
            </a:r>
          </a:p>
          <a:p>
            <a:pPr lvl="0"/>
            <a:r>
              <a:rPr dirty="0"/>
              <a:t>✅ Configure allowed paths/resources explicitly</a:t>
            </a:r>
          </a:p>
          <a:p>
            <a:pPr lvl="0"/>
            <a:r>
              <a:rPr dirty="0"/>
              <a:t>❌ Never hardcode tokens in settings</a:t>
            </a:r>
          </a:p>
          <a:p>
            <a:pPr marL="0" indent="0">
              <a:buNone/>
            </a:pPr>
            <a:r>
              <a:rPr b="1" dirty="0"/>
              <a:t>Configuration Best Practices</a:t>
            </a:r>
            <a:r>
              <a:rPr dirty="0"/>
              <a:t>:</a:t>
            </a:r>
          </a:p>
          <a:p>
            <a:pPr lvl="0"/>
            <a:r>
              <a:rPr dirty="0"/>
              <a:t>Start with read-only servers</a:t>
            </a:r>
          </a:p>
          <a:p>
            <a:pPr lvl="0"/>
            <a:r>
              <a:rPr dirty="0"/>
              <a:t>Use scoped tokens (not full access)</a:t>
            </a:r>
          </a:p>
          <a:p>
            <a:pPr lvl="0"/>
            <a:r>
              <a:rPr dirty="0"/>
              <a:t>Enable only needed capabilities</a:t>
            </a:r>
          </a:p>
          <a:p>
            <a:pPr lvl="0"/>
            <a:r>
              <a:rPr dirty="0"/>
              <a:t>Test in non-production first</a:t>
            </a:r>
          </a:p>
          <a:p>
            <a:pPr lvl="0"/>
            <a:r>
              <a:rPr dirty="0"/>
              <a:t>Keep servers updated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0B7B4-89BD-27C9-7C66-6EBD401E3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Exercise: Using MCP Servers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spcBef>
                <a:spcPts val="4000"/>
              </a:spcBef>
              <a:buNone/>
            </a:pPr>
            <a:r>
              <a:rPr b="1" dirty="0"/>
              <a:t>Getting Started: Your First Hour</a:t>
            </a:r>
          </a:p>
          <a:p>
            <a:pPr marL="0" indent="0">
              <a:buNone/>
            </a:pPr>
            <a:r>
              <a:rPr b="1" dirty="0"/>
              <a:t>Quick Start (30 minutes)</a:t>
            </a:r>
            <a:r>
              <a:rPr dirty="0"/>
              <a:t>:</a:t>
            </a:r>
          </a:p>
          <a:p>
            <a:pPr marL="457189" indent="-457189">
              <a:buAutoNum type="arabicPeriod"/>
            </a:pPr>
            <a:r>
              <a:rPr dirty="0"/>
              <a:t>Install MCP extension for VS Code</a:t>
            </a:r>
          </a:p>
          <a:p>
            <a:pPr marL="457189" indent="-457189">
              <a:buAutoNum type="arabicPeriod"/>
            </a:pPr>
            <a:r>
              <a:rPr dirty="0"/>
              <a:t>Pick one server: GitHub OR Filesystem</a:t>
            </a:r>
          </a:p>
          <a:p>
            <a:pPr marL="457189" indent="-457189">
              <a:buAutoNum type="arabicPeriod"/>
            </a:pPr>
            <a:r>
              <a:rPr dirty="0"/>
              <a:t>Configure credentials in environment</a:t>
            </a:r>
          </a:p>
          <a:p>
            <a:pPr marL="457189" indent="-457189">
              <a:buAutoNum type="arabicPeriod"/>
            </a:pPr>
            <a:r>
              <a:rPr dirty="0"/>
              <a:t>Add server config to </a:t>
            </a:r>
            <a:r>
              <a:rPr dirty="0" err="1">
                <a:latin typeface="Courier"/>
              </a:rPr>
              <a:t>settings.json</a:t>
            </a:r>
            <a:endParaRPr dirty="0">
              <a:latin typeface="Courier"/>
            </a:endParaRPr>
          </a:p>
          <a:p>
            <a:pPr marL="457189" indent="-457189">
              <a:buAutoNum type="arabicPeriod"/>
            </a:pPr>
            <a:r>
              <a:rPr dirty="0"/>
              <a:t>Reload VS Code and test with Copilot</a:t>
            </a:r>
          </a:p>
          <a:p>
            <a:pPr marL="0" indent="0">
              <a:buNone/>
            </a:pPr>
            <a:r>
              <a:rPr b="1" dirty="0"/>
              <a:t>Resources</a:t>
            </a:r>
            <a:r>
              <a:rPr dirty="0"/>
              <a:t>:</a:t>
            </a:r>
          </a:p>
          <a:p>
            <a:pPr lvl="0"/>
            <a:r>
              <a:rPr dirty="0"/>
              <a:t>Server Directory: https://github.com/modelcontextprotocol/servers</a:t>
            </a:r>
          </a:p>
          <a:p>
            <a:pPr lvl="0"/>
            <a:r>
              <a:rPr dirty="0"/>
              <a:t>Official Servers: </a:t>
            </a:r>
            <a:r>
              <a:rPr dirty="0" err="1"/>
              <a:t>npm</a:t>
            </a:r>
            <a:r>
              <a:rPr dirty="0"/>
              <a:t> </a:t>
            </a:r>
            <a:r>
              <a:rPr dirty="0">
                <a:latin typeface="Courier"/>
              </a:rPr>
              <a:t>@modelcontextprotocol/server-*</a:t>
            </a:r>
          </a:p>
          <a:p>
            <a:pPr lvl="0"/>
            <a:r>
              <a:rPr dirty="0"/>
              <a:t>VS Code Extension: Search “MCP” in marketplace</a:t>
            </a:r>
          </a:p>
          <a:p>
            <a:pPr lvl="0"/>
            <a:r>
              <a:rPr dirty="0"/>
              <a:t>Community: Discord, GitHub Discussions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1501</Words>
  <Application>Microsoft Office PowerPoint</Application>
  <PresentationFormat>Widescreen</PresentationFormat>
  <Paragraphs>307</Paragraphs>
  <Slides>9</Slides>
  <Notes>8</Notes>
  <HiddenSlides>3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Courier</vt:lpstr>
      <vt:lpstr>Office Theme</vt:lpstr>
      <vt:lpstr>MCP Servers</vt:lpstr>
      <vt:lpstr>What is MCP?</vt:lpstr>
      <vt:lpstr>MCP Architecture Overview</vt:lpstr>
      <vt:lpstr>PowerPoint Presentation</vt:lpstr>
      <vt:lpstr>Copilot + MCP Integration</vt:lpstr>
      <vt:lpstr>Popular MCP Servers to Use</vt:lpstr>
      <vt:lpstr>Finding MCP Servers</vt:lpstr>
      <vt:lpstr>Configuring Servers Securely</vt:lpstr>
      <vt:lpstr>Exercise: Using MCP Servers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Miller</dc:creator>
  <cp:lastModifiedBy>John Miller</cp:lastModifiedBy>
  <cp:revision>1</cp:revision>
  <dcterms:created xsi:type="dcterms:W3CDTF">2026-03-05T21:08:11Z</dcterms:created>
  <dcterms:modified xsi:type="dcterms:W3CDTF">2026-03-05T21:08:35Z</dcterms:modified>
</cp:coreProperties>
</file>