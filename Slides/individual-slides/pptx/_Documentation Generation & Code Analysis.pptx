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93" r:id="rId2"/>
    <p:sldId id="494" r:id="rId3"/>
    <p:sldId id="495" r:id="rId4"/>
    <p:sldId id="496" r:id="rId5"/>
    <p:sldId id="497" r:id="rId6"/>
    <p:sldId id="498" r:id="rId7"/>
    <p:sldId id="499" r:id="rId8"/>
    <p:sldId id="500" r:id="rId9"/>
    <p:sldId id="501" r:id="rId10"/>
    <p:sldId id="502" r:id="rId11"/>
    <p:sldId id="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ADD403-5101-4482-9A49-2EE81236A25F}">
          <p14:sldIdLst/>
        </p14:section>
        <p14:section name="Documentation Generation &amp; Code Analysis" id="{E52122D4-C6F8-4F7F-A834-E083D4A7654D}">
          <p14:sldIdLst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0F0DE-B142-4008-A9E7-1C2172D8364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BDBE4-1E47-4023-8D49-7F51A23BA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4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Introduce this module as a practical demonstration of how AI can accelerate documentation, analysis, and modernization in brownfield systems. Emphasize that documentation is not a side activity — it is a core guardrail for safe AI‑assisted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Explain that AI can maintain documentation continuously, reducing drift between code and docs.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is especially valuable in brownfield systems where documentation is often outdated or missing.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Prompts: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Update the README file with the current state of the project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Update the documentation for </a:t>
            </a:r>
            <a:r>
              <a:rPr lang="en-US" dirty="0" err="1"/>
              <a:t>CalculatorService.cs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Create a README for the Services component web-calculator\Services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Create a prompt file that creates an instruction file for documenting the project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AI can infer architecture from code structure, configuration files, and naming conventions.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These diagrams help teams understand legacy systems quickly and safely.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Prompts: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Create mermaid C4 diagrams for the project</a:t>
            </a:r>
          </a:p>
          <a:p>
            <a:pPr marL="0" lvl="0" indent="0"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	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is one of the most powerful uses of AI in brownfield modernization.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It reduces onboarding time and helps engineers understand risky areas before making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AI can scan large codebases and surface hotspots that deserve attention.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helps teams prioritize modernization work and avoid guesswork.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exercise helps participants build confidence in using AI to document unfamiliar code safely and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These guides reduce onboarding time and ensure consistent workflows across teams.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They also help prevent tribal knowledge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Encourage participants to treat diagrams as drafts </a:t>
            </a:r>
            <a:r>
              <a:rPr lang="en-US" dirty="0"/>
              <a:t>–</a:t>
            </a:r>
            <a:r>
              <a:rPr dirty="0"/>
              <a:t> AI can generate the structure, but humans refine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AI helps keep documentation evergreen by updating it alongside code changes.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reduces drift and improves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Different models have different strengths.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Cross‑validation is a powerful guardrail for correctness, especially in brownfield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exercise reinforces the importance of guardrails and helps participants practice applying them to real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92CB-53E3-E783-422A-DB002B39E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3E39D-71A8-6494-B896-42C5D6F0D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045DF-BB6D-81C7-4175-845EE0A2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CEDB8-EA17-84BA-E6A3-064C2880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45C09-E412-0091-AEF8-B703B03F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1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AA93-0C11-1616-5D31-DF4F4717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5CA19-DD4E-06A9-E108-747C58D4B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06DE5-702B-E895-A430-7688CAA0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C27C8-077B-7E79-FDCF-C727DA72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D3B-736E-4A2A-EFD1-63FEC52E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1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93D17-CC85-B02B-AD07-AB37116F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8EE4A-0EFE-B2EC-1713-D212C73AB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E62D0-A372-63C9-198C-D00BC569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60D55-051F-EB41-3AB2-A26BC2DE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5BAFB-1E5C-7468-F9EF-539222E9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20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B6E96-C882-12E7-25B0-560501F1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99B0-0255-E302-1A68-8079E4A94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76A0-B8DB-0C03-D8C6-389019D0A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02AC1-3B05-6A8A-2285-2EDBA5D62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568F6-F6BA-FE07-2F10-2AA6F2CD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673EF-7AEB-557B-85DC-9CF7CB17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2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0796-4581-1820-906F-B51758C7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62E59-5A4D-E901-BF46-4B3B63729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53D2A-2020-47E2-4CFF-418EE575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01989-8734-9912-A737-D0C214896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40D9B-8549-B17A-9B9B-350409354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15C9EF-CAF5-CB46-E70C-66FC5EC2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6E9E72-8DC3-C509-55A6-7BE28FC4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39135F-4204-4EED-3D75-831D76F3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95C1-9698-7008-9546-BCF0A013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1288A-C47C-77D8-0944-533E05E5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32FE1-FF8D-EDEF-4B16-6E3F7915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36ED1-31A5-E0AA-7A4F-FAF2FD16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7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727A8-2845-4518-224B-A19DBA03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F2A012-E1A9-E9E5-A387-F9C2C399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4368D-3B74-A9CF-B5D0-09563C3D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2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73F7-41DE-65CE-D582-D864FDBC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D31E7-4733-2251-34FB-C3681BC9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35E99-0AA7-46F5-8322-1A083BFAB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A8665-28AA-FCA4-829D-43CA5D79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C1644-D958-65E0-F168-477D3AC1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DFE8D-FA4B-D170-C4A8-E49E564A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9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FC55-EBDE-687B-CB56-D08C9047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338C6-C49B-8E51-91D6-C0F96B928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76F46-BC0F-DB82-9A29-D4FDED320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1E6D2-6801-E8B2-9D69-BF229D7D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160F7-8D51-F06A-6564-264ED358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2C28F-1E6D-1723-541A-CBA623C9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2C31D-F79F-D822-CA60-1753D832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67A3B-0858-E83D-94D1-A05F35B57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93911-6381-7B44-ECA5-1BFFDE48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C218F-42B8-6C7B-AB96-E0499C41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51268-E1CA-3CE5-542D-1F8F6C88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0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381DD-FC9B-EC48-5FBA-780434821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45DCD-D575-1227-622D-3923C840C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EF33B-BAB2-1B2B-2B6A-BDE14969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DC310-7F9D-AD9F-D3BD-8F5A5212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C3294-0FF1-152C-1137-875BE01B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8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B9511-A2B8-45AC-03AF-5D7F0CA1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C0C9D-07EE-D4F9-C318-F3C795353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03AED-E1D6-336E-6FE8-A462A47BD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9B500-A130-4925-9EB8-D4D55D5877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9EE1A-DE91-902D-279D-3057E22A7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FE643-6842-2F62-6211-2C691BEA2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376CA-3309-4ABF-B42F-6D2962A4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0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Documentation Generation &amp; Code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Automated README and documentation updates</a:t>
            </a:r>
          </a:p>
          <a:p>
            <a:pPr lvl="0"/>
            <a:r>
              <a:t>Architecture diagram generation</a:t>
            </a:r>
          </a:p>
          <a:p>
            <a:pPr lvl="0"/>
            <a:r>
              <a:t>Complex code explanation and mapping</a:t>
            </a:r>
          </a:p>
          <a:p>
            <a:pPr lvl="0"/>
            <a:r>
              <a:t>Identifying technical debt hotspots</a:t>
            </a:r>
          </a:p>
          <a:p>
            <a:pPr lvl="0"/>
            <a:r>
              <a:t>Exercises for hands‑on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Automated README &amp; Documentation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Capabilities</a:t>
            </a:r>
          </a:p>
          <a:p>
            <a:pPr lvl="0"/>
            <a:r>
              <a:rPr dirty="0"/>
              <a:t>Generate or update README files</a:t>
            </a:r>
          </a:p>
          <a:p>
            <a:pPr lvl="0"/>
            <a:r>
              <a:rPr dirty="0"/>
              <a:t>Create module‑level documentation</a:t>
            </a:r>
          </a:p>
          <a:p>
            <a:pPr lvl="0"/>
            <a:r>
              <a:rPr dirty="0"/>
              <a:t>Produce API references and usage examples</a:t>
            </a:r>
          </a:p>
          <a:p>
            <a:pPr lvl="0"/>
            <a:r>
              <a:rPr dirty="0"/>
              <a:t>Keep documentation aligned with code changes</a:t>
            </a:r>
            <a:endParaRPr lang="en-US" dirty="0"/>
          </a:p>
          <a:p>
            <a:pPr lvl="1"/>
            <a:r>
              <a:rPr lang="en-US" dirty="0"/>
              <a:t>Create a documentation instruction file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Architecture Diagram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What AI can generate</a:t>
            </a:r>
          </a:p>
          <a:p>
            <a:pPr lvl="0"/>
            <a:r>
              <a:t>High‑level system diagrams</a:t>
            </a:r>
          </a:p>
          <a:p>
            <a:pPr lvl="0"/>
            <a:r>
              <a:t>Module dependency graphs</a:t>
            </a:r>
          </a:p>
          <a:p>
            <a:pPr lvl="0"/>
            <a:r>
              <a:t>Data flow diagrams</a:t>
            </a:r>
          </a:p>
          <a:p>
            <a:pPr lvl="0"/>
            <a:r>
              <a:t>Deployment topologies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Complex Code Explanation &amp;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 can help with:</a:t>
            </a:r>
          </a:p>
          <a:p>
            <a:pPr lvl="0"/>
            <a:r>
              <a:t>Explaining unfamiliar or legacy code</a:t>
            </a:r>
          </a:p>
          <a:p>
            <a:pPr lvl="0"/>
            <a:r>
              <a:t>Mapping call chains and dependencies</a:t>
            </a:r>
          </a:p>
          <a:p>
            <a:pPr lvl="0"/>
            <a:r>
              <a:t>Identifying hidden coupling</a:t>
            </a:r>
          </a:p>
          <a:p>
            <a:pPr lvl="0"/>
            <a:r>
              <a:t>Translating code into human‑readable narratives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Identifying Technical Debt Hotspots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 can detect:</a:t>
            </a:r>
          </a:p>
          <a:p>
            <a:pPr lvl="0"/>
            <a:r>
              <a:t>Outdated patterns</a:t>
            </a:r>
          </a:p>
          <a:p>
            <a:pPr lvl="0"/>
            <a:r>
              <a:t>Duplicate logic</a:t>
            </a:r>
          </a:p>
          <a:p>
            <a:pPr lvl="0"/>
            <a:r>
              <a:t>Missing tests</a:t>
            </a:r>
          </a:p>
          <a:p>
            <a:pPr lvl="0"/>
            <a:r>
              <a:t>High‑complexity functions</a:t>
            </a:r>
          </a:p>
          <a:p>
            <a:pPr lvl="0"/>
            <a:r>
              <a:t>Security risks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Brownfield Code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15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Practice generating documentation for legacy code</a:t>
            </a:r>
          </a:p>
          <a:p>
            <a:pPr lvl="0"/>
            <a:r>
              <a:rPr dirty="0"/>
              <a:t>Identify missing or unclear areas</a:t>
            </a:r>
          </a:p>
          <a:p>
            <a:pPr lvl="0"/>
            <a:r>
              <a:rPr dirty="0"/>
              <a:t>Produce high‑signal summaries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Select a brownfield module or file</a:t>
            </a:r>
          </a:p>
          <a:p>
            <a:pPr marL="457189" indent="-457189">
              <a:buAutoNum type="arabicPeriod"/>
            </a:pPr>
            <a:r>
              <a:rPr dirty="0"/>
              <a:t>Ask AI to generate:</a:t>
            </a:r>
          </a:p>
          <a:p>
            <a:pPr lvl="1"/>
            <a:r>
              <a:rPr dirty="0"/>
              <a:t>A summary</a:t>
            </a:r>
          </a:p>
          <a:p>
            <a:pPr lvl="1"/>
            <a:r>
              <a:rPr dirty="0"/>
              <a:t>Key responsibilities</a:t>
            </a:r>
          </a:p>
          <a:p>
            <a:pPr lvl="1"/>
            <a:r>
              <a:rPr dirty="0"/>
              <a:t>Inputs/outputs</a:t>
            </a:r>
          </a:p>
          <a:p>
            <a:pPr lvl="1"/>
            <a:r>
              <a:rPr dirty="0"/>
              <a:t>Known risks</a:t>
            </a:r>
          </a:p>
          <a:p>
            <a:pPr marL="457189" indent="-457189">
              <a:buAutoNum type="arabicPeriod"/>
            </a:pPr>
            <a:r>
              <a:rPr dirty="0"/>
              <a:t>Add provenance metadata</a:t>
            </a:r>
          </a:p>
          <a:p>
            <a:pPr marL="457189" indent="-457189">
              <a:buAutoNum type="arabicPeriod"/>
            </a:pPr>
            <a:r>
              <a:rPr dirty="0"/>
              <a:t>Review with a partner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Documentation is accurate and concise</a:t>
            </a:r>
          </a:p>
          <a:p>
            <a:pPr lvl="0"/>
            <a:r>
              <a:rPr dirty="0"/>
              <a:t>Risks and gaps are clearly identified</a:t>
            </a:r>
          </a:p>
          <a:p>
            <a:pPr lvl="0"/>
            <a:r>
              <a:rPr dirty="0"/>
              <a:t>Provenance is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Generate Development &amp; Deployment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 can produce:</a:t>
            </a:r>
          </a:p>
          <a:p>
            <a:pPr lvl="0"/>
            <a:r>
              <a:t>Setup instructions</a:t>
            </a:r>
          </a:p>
          <a:p>
            <a:pPr lvl="0"/>
            <a:r>
              <a:t>Local development workflows</a:t>
            </a:r>
          </a:p>
          <a:p>
            <a:pPr lvl="0"/>
            <a:r>
              <a:t>CI/CD pipeline explanations</a:t>
            </a:r>
          </a:p>
          <a:p>
            <a:pPr lvl="0"/>
            <a:r>
              <a:t>Deployment steps and rollback procedures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Create Architecture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AI‑generated diagrams include:</a:t>
            </a:r>
          </a:p>
          <a:p>
            <a:pPr lvl="0"/>
            <a:r>
              <a:t>System boundaries</a:t>
            </a:r>
          </a:p>
          <a:p>
            <a:pPr lvl="0"/>
            <a:r>
              <a:t>Module interactions</a:t>
            </a:r>
          </a:p>
          <a:p>
            <a:pPr lvl="0"/>
            <a:r>
              <a:t>Data flows</a:t>
            </a:r>
          </a:p>
          <a:p>
            <a:pPr lvl="0"/>
            <a:r>
              <a:t>Deployment environments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Update Project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AI can update:</a:t>
            </a:r>
          </a:p>
          <a:p>
            <a:pPr lvl="0"/>
            <a:r>
              <a:t>CHANGELOGs</a:t>
            </a:r>
          </a:p>
          <a:p>
            <a:pPr lvl="0"/>
            <a:r>
              <a:t>CONTRIBUTING guides</a:t>
            </a:r>
          </a:p>
          <a:p>
            <a:pPr lvl="0"/>
            <a:r>
              <a:t>API references</a:t>
            </a:r>
          </a:p>
          <a:p>
            <a:pPr lvl="0"/>
            <a:r>
              <a:t>Module‑level 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Cross‑Validate With Multiple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Why cross‑validate?</a:t>
            </a:r>
          </a:p>
          <a:p>
            <a:pPr lvl="0"/>
            <a:r>
              <a:t>Reduce hallucinations</a:t>
            </a:r>
          </a:p>
          <a:p>
            <a:pPr lvl="0"/>
            <a:r>
              <a:t>Catch inconsistencies</a:t>
            </a:r>
          </a:p>
          <a:p>
            <a:pPr lvl="0"/>
            <a:r>
              <a:t>Improve accuracy</a:t>
            </a:r>
          </a:p>
          <a:p>
            <a:pPr lvl="0"/>
            <a:r>
              <a:t>Validate architectural assumptions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Identifying Code Outside the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Detect code that violates architectural rules</a:t>
            </a:r>
          </a:p>
          <a:p>
            <a:pPr lvl="0"/>
            <a:r>
              <a:rPr dirty="0"/>
              <a:t>Identify patterns that contradict instruction files</a:t>
            </a:r>
          </a:p>
          <a:p>
            <a:pPr lvl="0"/>
            <a:r>
              <a:rPr dirty="0"/>
              <a:t>Practice safe analysis workflows</a:t>
            </a:r>
            <a:endParaRPr lang="en-US" dirty="0"/>
          </a:p>
          <a:p>
            <a:pPr lvl="0"/>
            <a:r>
              <a:rPr lang="en-US" dirty="0"/>
              <a:t>Make a </a:t>
            </a:r>
            <a:endParaRPr dirty="0"/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Review </a:t>
            </a:r>
            <a:r>
              <a:rPr lang="en-US" dirty="0"/>
              <a:t>the </a:t>
            </a:r>
            <a:r>
              <a:rPr dirty="0"/>
              <a:t>code</a:t>
            </a:r>
          </a:p>
          <a:p>
            <a:pPr marL="457189" indent="-457189">
              <a:buAutoNum type="arabicPeriod"/>
            </a:pPr>
            <a:r>
              <a:rPr dirty="0"/>
              <a:t>Compare it against the instruction file</a:t>
            </a:r>
            <a:r>
              <a:rPr lang="en-US" dirty="0"/>
              <a:t>s</a:t>
            </a:r>
            <a:endParaRPr dirty="0"/>
          </a:p>
          <a:p>
            <a:pPr marL="457189" indent="-457189">
              <a:buAutoNum type="arabicPeriod"/>
            </a:pPr>
            <a:r>
              <a:rPr dirty="0"/>
              <a:t>Identify violations or risky patterns</a:t>
            </a:r>
          </a:p>
          <a:p>
            <a:pPr marL="457189" indent="-457189">
              <a:buAutoNum type="arabicPeriod"/>
            </a:pPr>
            <a:r>
              <a:rPr dirty="0"/>
              <a:t>Propose safe remediation steps</a:t>
            </a:r>
          </a:p>
          <a:p>
            <a:pPr marL="457189" indent="-457189">
              <a:buAutoNum type="arabicPeriod"/>
            </a:pPr>
            <a:r>
              <a:rPr dirty="0"/>
              <a:t>Document findings with provenance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lang="en-US" dirty="0"/>
              <a:t>Deviations</a:t>
            </a:r>
            <a:r>
              <a:rPr dirty="0"/>
              <a:t> are correctly identified</a:t>
            </a:r>
          </a:p>
          <a:p>
            <a:pPr lvl="0"/>
            <a:r>
              <a:rPr dirty="0"/>
              <a:t>Remediation steps are safe and incremental</a:t>
            </a:r>
          </a:p>
          <a:p>
            <a:pPr lvl="0"/>
            <a:r>
              <a:rPr dirty="0"/>
              <a:t>Documentation includes provenance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673</Words>
  <Application>Microsoft Office PowerPoint</Application>
  <PresentationFormat>Widescreen</PresentationFormat>
  <Paragraphs>148</Paragraphs>
  <Slides>11</Slides>
  <Notes>11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Documentation Generation &amp; Code Analysis</vt:lpstr>
      <vt:lpstr>Automated README &amp; Documentation Updates</vt:lpstr>
      <vt:lpstr>Architecture Diagram Generation</vt:lpstr>
      <vt:lpstr>Complex Code Explanation &amp; Mapping</vt:lpstr>
      <vt:lpstr>Identifying Technical Debt Hotspots</vt:lpstr>
      <vt:lpstr>Exercise: Brownfield Code Documentation</vt:lpstr>
      <vt:lpstr>Generate Development &amp; Deployment Guides</vt:lpstr>
      <vt:lpstr>Create Architecture Diagrams</vt:lpstr>
      <vt:lpstr>Update Project Documentation</vt:lpstr>
      <vt:lpstr>Cross‑Validate With Multiple AI Models</vt:lpstr>
      <vt:lpstr>Exercise: Identifying Code Outside the Guardrails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2026-03-05T20:55:14Z</dcterms:created>
  <dcterms:modified xsi:type="dcterms:W3CDTF">2026-03-05T20:56:14Z</dcterms:modified>
</cp:coreProperties>
</file>