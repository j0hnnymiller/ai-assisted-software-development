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3" r:id="rId1"/>
  </p:sldMasterIdLst>
  <p:notesMasterIdLst>
    <p:notesMasterId r:id="rId18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08B12"/>
    <a:srgbClr val="8E1416"/>
    <a:srgbClr val="922123"/>
    <a:srgbClr val="AA8200"/>
    <a:srgbClr val="DEAA00"/>
    <a:srgbClr val="007FB1"/>
    <a:srgbClr val="38955A"/>
    <a:srgbClr val="920000"/>
    <a:srgbClr val="212121"/>
    <a:srgbClr val="2C4D7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007" autoAdjust="0"/>
    <p:restoredTop sz="63597" autoAdjust="0"/>
  </p:normalViewPr>
  <p:slideViewPr>
    <p:cSldViewPr snapToGrid="0" showGuides="1">
      <p:cViewPr varScale="1">
        <p:scale>
          <a:sx n="70" d="100"/>
          <a:sy n="70" d="100"/>
        </p:scale>
        <p:origin x="33" y="630"/>
      </p:cViewPr>
      <p:guideLst/>
    </p:cSldViewPr>
  </p:slideViewPr>
  <p:outlineViewPr>
    <p:cViewPr>
      <p:scale>
        <a:sx n="33" d="100"/>
        <a:sy n="33" d="100"/>
      </p:scale>
      <p:origin x="0" y="-16152"/>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notesMaster" Target="notesMasters/notesMaster1.xml"/><Relationship Id="rId6" Type="http://schemas.openxmlformats.org/officeDocument/2006/relationships/slide" Target="slides/slide5.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167" Type="http://schemas.openxmlformats.org/officeDocument/2006/relationships/slide" Target="slides/slide166.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slide" Target="slides/slide161.xml"/><Relationship Id="rId183" Type="http://schemas.openxmlformats.org/officeDocument/2006/relationships/presProps" Target="presProp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73" Type="http://schemas.openxmlformats.org/officeDocument/2006/relationships/slide" Target="slides/slide172.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viewProps" Target="viewProps.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tableStyles" Target="tableStyles.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 Type="http://schemas.openxmlformats.org/officeDocument/2006/relationships/slideMaster" Target="slideMasters/slideMaster1.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E87355B-E5B2-6E48-8859-C40F7DC7FE0C}" type="datetimeFigureOut">
              <a:rPr lang="en-US" smtClean="0"/>
              <a:t>3/22/2026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D31DA66-BB00-F84C-BB6F-3E6E140CFF70}" type="slidenum">
              <a:rPr lang="en-US" smtClean="0"/>
              <a:t>‹#›</a:t>
            </a:fld>
            <a:endParaRPr lang="en-US"/>
          </a:p>
        </p:txBody>
      </p:sp>
    </p:spTree>
    <p:extLst>
      <p:ext uri="{BB962C8B-B14F-4D97-AF65-F5344CB8AC3E}">
        <p14:creationId xmlns:p14="http://schemas.microsoft.com/office/powerpoint/2010/main" val="622745019"/>
      </p:ext>
    </p:extLst>
  </p:cSld>
  <p:clrMap bg1="lt1" tx1="dk1" bg2="lt2" tx2="dk2" accent1="accent1" accent2="accent2" accent3="accent3" accent4="accent4" accent5="accent5" accent6="accent6" hlink="hlink" folHlink="folHlink"/>
  <p:notesStyle>
    <a:lvl1pPr marL="0" algn="l" defTabSz="1219170" rtl="0" eaLnBrk="1" latinLnBrk="0" hangingPunct="1">
      <a:defRPr sz="1600" kern="1200">
        <a:solidFill>
          <a:schemeClr val="tx1"/>
        </a:solidFill>
        <a:latin typeface="+mn-lt"/>
        <a:ea typeface="+mn-ea"/>
        <a:cs typeface="+mn-cs"/>
      </a:defRPr>
    </a:lvl1pPr>
    <a:lvl2pPr marL="609585" algn="l" defTabSz="1219170" rtl="0" eaLnBrk="1" latinLnBrk="0" hangingPunct="1">
      <a:defRPr sz="1600" kern="1200">
        <a:solidFill>
          <a:schemeClr val="tx1"/>
        </a:solidFill>
        <a:latin typeface="+mn-lt"/>
        <a:ea typeface="+mn-ea"/>
        <a:cs typeface="+mn-cs"/>
      </a:defRPr>
    </a:lvl2pPr>
    <a:lvl3pPr marL="1219170" algn="l" defTabSz="1219170" rtl="0" eaLnBrk="1" latinLnBrk="0" hangingPunct="1">
      <a:defRPr sz="1600" kern="1200">
        <a:solidFill>
          <a:schemeClr val="tx1"/>
        </a:solidFill>
        <a:latin typeface="+mn-lt"/>
        <a:ea typeface="+mn-ea"/>
        <a:cs typeface="+mn-cs"/>
      </a:defRPr>
    </a:lvl3pPr>
    <a:lvl4pPr marL="1828754" algn="l" defTabSz="1219170" rtl="0" eaLnBrk="1" latinLnBrk="0" hangingPunct="1">
      <a:defRPr sz="1600" kern="1200">
        <a:solidFill>
          <a:schemeClr val="tx1"/>
        </a:solidFill>
        <a:latin typeface="+mn-lt"/>
        <a:ea typeface="+mn-ea"/>
        <a:cs typeface="+mn-cs"/>
      </a:defRPr>
    </a:lvl4pPr>
    <a:lvl5pPr marL="2438339" algn="l" defTabSz="1219170" rtl="0" eaLnBrk="1" latinLnBrk="0" hangingPunct="1">
      <a:defRPr sz="1600" kern="1200">
        <a:solidFill>
          <a:schemeClr val="tx1"/>
        </a:solidFill>
        <a:latin typeface="+mn-lt"/>
        <a:ea typeface="+mn-ea"/>
        <a:cs typeface="+mn-cs"/>
      </a:defRPr>
    </a:lvl5pPr>
    <a:lvl6pPr marL="3047924" algn="l" defTabSz="1219170" rtl="0" eaLnBrk="1" latinLnBrk="0" hangingPunct="1">
      <a:defRPr sz="1600" kern="1200">
        <a:solidFill>
          <a:schemeClr val="tx1"/>
        </a:solidFill>
        <a:latin typeface="+mn-lt"/>
        <a:ea typeface="+mn-ea"/>
        <a:cs typeface="+mn-cs"/>
      </a:defRPr>
    </a:lvl6pPr>
    <a:lvl7pPr marL="3657509" algn="l" defTabSz="1219170" rtl="0" eaLnBrk="1" latinLnBrk="0" hangingPunct="1">
      <a:defRPr sz="1600" kern="1200">
        <a:solidFill>
          <a:schemeClr val="tx1"/>
        </a:solidFill>
        <a:latin typeface="+mn-lt"/>
        <a:ea typeface="+mn-ea"/>
        <a:cs typeface="+mn-cs"/>
      </a:defRPr>
    </a:lvl7pPr>
    <a:lvl8pPr marL="4267093" algn="l" defTabSz="1219170" rtl="0" eaLnBrk="1" latinLnBrk="0" hangingPunct="1">
      <a:defRPr sz="1600" kern="1200">
        <a:solidFill>
          <a:schemeClr val="tx1"/>
        </a:solidFill>
        <a:latin typeface="+mn-lt"/>
        <a:ea typeface="+mn-ea"/>
        <a:cs typeface="+mn-cs"/>
      </a:defRPr>
    </a:lvl8pPr>
    <a:lvl9pPr marL="4876678" algn="l" defTabSz="1219170" rtl="0" eaLnBrk="1" latinLnBrk="0" hangingPunct="1">
      <a:defRPr sz="1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~00:02</a:t>
            </a:r>
          </a:p>
          <a:p>
            <a:endParaRPr/>
          </a:p>
          <a:p>
            <a:r>
              <a:t>Welcome participants to the AI Assisted Software Development course. This is your opening slide, so set a positive and engaging tone. Introduce the course name and tagline "From Code to Copilot" which emphasizes the journey from traditional software development to AI-augmented practices.</a:t>
            </a:r>
          </a:p>
          <a:p>
            <a:endParaRPr/>
          </a:p>
          <a:p>
            <a:r>
              <a:t>Key talking points:</a:t>
            </a:r>
          </a:p>
          <a:p>
            <a:endParaRPr/>
          </a:p>
          <a:p>
            <a:r>
              <a:t>- Express enthusiasm about the learning journey ahead</a:t>
            </a:r>
          </a:p>
          <a:p>
            <a:r>
              <a:t>- Acknowledge the transformative nature of AI in software development</a:t>
            </a:r>
          </a:p>
          <a:p>
            <a:r>
              <a:t>- Set expectations that this will be hands-on and practical</a:t>
            </a:r>
          </a:p>
          <a:p>
            <a:r>
              <a:t>- Encourage questions and participation throughout</a:t>
            </a:r>
          </a:p>
          <a:p>
            <a:endParaRPr/>
          </a:p>
          <a:p>
            <a:r>
              <a:t>Transition: "Let's start by introducing ourselves..."</a:t>
            </a:r>
          </a:p>
          <a:p>
            <a:endParaRPr/>
          </a:p>
          <a:p>
            <a:r>
              <a:t>---</a:t>
            </a:r>
          </a:p>
          <a:p>
            <a:endParaRPr/>
          </a:p>
          <a:p>
            <a:r>
              <a:t>Source: Slides\individual-slides\welcome-to-aiasd.md</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John Michael Miller is a Principal Software Engineer at CODE with over 15 years of experience in software development. He has held various roles including developer, architect, DevOps engineer, platform engineer, test architect, and release manager. John is an AI/ML enthusiast and advocates for effectively using AI to write code. You can connect with him on LinkedIn, reach out via email, or read his blog posts on AI-assisted software development.</a:t>
            </a:r>
          </a:p>
          <a:p>
            <a:r>
              <a:t>- [AI Practitioner Resources](codemag.com/aipractitioner)</a:t>
            </a:r>
          </a:p>
          <a:p>
            <a:endParaRPr/>
          </a:p>
          <a:p>
            <a:r>
              <a:t>---</a:t>
            </a:r>
          </a:p>
          <a:p>
            <a:endParaRPr/>
          </a:p>
          <a:p>
            <a:r>
              <a:t>Source: Slides\individual-slides\john-michael-miller-intro.md</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Day One: Outline the day's goals and emphasize participation and hands-on exercises.</a:t>
            </a:r>
          </a:p>
          <a:p>
            <a:endParaRPr/>
          </a:p>
          <a:p>
            <a:r>
              <a:t>---</a:t>
            </a:r>
          </a:p>
          <a:p>
            <a:endParaRPr/>
          </a:p>
          <a:p>
            <a:r>
              <a:t>Source: Slides\individual-slides\introductions.md</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CODE is a custom software company, a staff augmentation company, CODE Magazine for software developers, and training like this webinar. We've been in business for 30 years and the magazine just hit its 25th anniversary. Visit the website at https://www.codemag.com/ for more details.</a:t>
            </a:r>
          </a:p>
          <a:p>
            <a:endParaRPr/>
          </a:p>
          <a:p>
            <a:r>
              <a:t>---</a:t>
            </a:r>
          </a:p>
          <a:p>
            <a:endParaRPr/>
          </a:p>
          <a:p>
            <a:r>
              <a:t>Source: Slides\individual-slides\about-code.md</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~00:03</a:t>
            </a:r>
          </a:p>
          <a:p>
            <a:endParaRPr/>
          </a:p>
          <a:p>
            <a:r>
              <a:t>Present the week-long course structure. This overview helps participants understand the progression and big-picture organization of the training.</a:t>
            </a:r>
          </a:p>
          <a:p>
            <a:endParaRPr/>
          </a:p>
          <a:p>
            <a:r>
              <a:t>Key talking points:</a:t>
            </a:r>
          </a:p>
          <a:p>
            <a:endParaRPr/>
          </a:p>
          <a:p>
            <a:r>
              <a:t>- Days 1-3 focus on building AI guardrails through instructions, prompts, and agents</a:t>
            </a:r>
          </a:p>
          <a:p>
            <a:r>
              <a:t>- Thursday shifts to brownfield (existing codebases) scenarios</a:t>
            </a:r>
          </a:p>
          <a:p>
            <a:r>
              <a:t>- Friday covers greenfield (new projects) development</a:t>
            </a:r>
          </a:p>
          <a:p>
            <a:r>
              <a:t>- Each day builds on previous concepts</a:t>
            </a:r>
          </a:p>
          <a:p>
            <a:r>
              <a:t>- The progression moves from foundational controls to practical application</a:t>
            </a:r>
          </a:p>
          <a:p>
            <a:endParaRPr/>
          </a:p>
          <a:p>
            <a:r>
              <a:t>Emphasize that guardrails come first because they're essential for safe, effective AI-assisted development. The brownfield/greenfield split acknowledges that these scenarios have different challenges and considerations.</a:t>
            </a:r>
          </a:p>
          <a:p>
            <a:endParaRPr/>
          </a:p>
          <a:p>
            <a:r>
              <a:t>Transition: "Today we'll start with the foundation..."</a:t>
            </a:r>
          </a:p>
          <a:p>
            <a:endParaRPr/>
          </a:p>
          <a:p>
            <a:r>
              <a:t>---</a:t>
            </a:r>
          </a:p>
          <a:p>
            <a:endParaRPr/>
          </a:p>
          <a:p>
            <a:r>
              <a:t>Source: Slides\individual-slides\daily-themes.md</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Auto-generated course navigation slide showing all modules with current section highlighted</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Auto-generated section header slide to announce the section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Auto-generated section agenda slide listing slide titles from manifest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**Opening**: Start with the provocative quote to capture attention. Pause for effect after reading it aloud. **Key Message**: Emphasize that we're not witnessing a revolution but an evolution—AI tools are the latest step in a continuous chain of improvements. **Delivery**: Speak slowly and deliberately on the core thesis. Ask audience: "How many of you thought AI was going to replace programmers?" Acknowledge concerns but pivot to optimism. **Transition**: "To understand why this is evolutionary, let's look at where we've been..."</a:t>
            </a:r>
          </a:p>
          <a:p>
            <a:endParaRPr/>
          </a:p>
          <a:p>
            <a:r>
              <a:t>---</a:t>
            </a:r>
          </a:p>
          <a:p>
            <a:endParaRPr/>
          </a:p>
          <a:p>
            <a:r>
              <a:t>Source: Slides\individual-slides\whats-the-big-deal.md</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**Historical Context**: Paint a vivid picture of early programming—physically laborious and error-prone. Mention famous anecdote about Grace Hopper debugging a literal bug (moth) from hardware. **Key Point**: Assembly was the first major abstraction—replacing binary with human-readable mnemonics. **Example**: "MOV AX, BX" is much easier than "10001001 11011000". **Modern Relevance**: Note that assembly is still used today in systems programming, making this history relevant not ancient. **Transition**: "Assembly was a huge leap, but we were still thinking in machine terms. The next step was thinking in human terms..."</a:t>
            </a:r>
          </a:p>
          <a:p>
            <a:endParaRPr/>
          </a:p>
          <a:p>
            <a:r>
              <a:t>---</a:t>
            </a:r>
          </a:p>
          <a:p>
            <a:endParaRPr/>
          </a:p>
          <a:p>
            <a:r>
              <a:t>Source: Slides\individual-slides\whats-the-big-deal.md</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**Big Picture**: This era marked the shift from "speaking machine" to "speaking math" or "speaking business logic". **FORTRAN Example**: Scientists could write formulas directly rather than translating them into assembly. **COBOL Context**: COBOL's English-like syntax ("ADD SALES TO TOTAL") made programming accessible to business professionals, not just engineers. **C's Significance**: Portability revolution—write once, compile for different hardware. **Sensory Evolution**: Note the shift in human interface—from physical cards to keyboards. Ask audience if anyone has used punch cards. **Transition**: "But even high-level languages required thinking like a computer. The next step was thinking in terms of real-world objects and structures..."</a:t>
            </a:r>
          </a:p>
          <a:p>
            <a:endParaRPr/>
          </a:p>
          <a:p>
            <a:r>
              <a:t>---</a:t>
            </a:r>
          </a:p>
          <a:p>
            <a:endParaRPr/>
          </a:p>
          <a:p>
            <a:r>
              <a:t>Source: Slides\individual-slides\whats-the-big-deal.md</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**Conceptual Shift**: This era introduced thinking in terms of real-world objects and relationships. **Pascal**: Emphasized structured programming—breaking code into procedures and functions with clear flow control. **OOP Revolution**: C++ enabled modeling real-world entities as objects with properties and behaviors. **Example**: "Instead of separate functions for customer data, you have a Customer object that knows how to save itself, validate itself, etc." **Memory Lane**: If your audience includes older developers, ask about their experience with green-screen terminals and 5.25" floppy disks. **Transition**: "Objects were powerful, but developers still spent too much time on plumbing. The 90s brought integration..."</a:t>
            </a:r>
          </a:p>
          <a:p>
            <a:endParaRPr/>
          </a:p>
          <a:p>
            <a:r>
              <a:t>---</a:t>
            </a:r>
          </a:p>
          <a:p>
            <a:endParaRPr/>
          </a:p>
          <a:p>
            <a:r>
              <a:t>Source: Slides\individual-slides\whats-the-big-deal.md</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**Integration Theme**: This era wasn't about new languages but about bringing tools together. **IDE Impact**: No more switching between separate compiler, debugger, and editor windows—everything integrated. **Visual Studio Example**: Drag-and-drop form design, IntelliSense autocomplete—made programming more visual and immediate. **Java's Promise**: "Write once, run anywhere" was revolutionary—JVM abstracted away hardware differences. **Libraries Evolution**: Don't write your own database connector, HTTP client, or encryption—use proven libraries. **Interactive Element**: Ask audience to raise hands if they remember life before IntelliSense. **Transition**: "While desktops became powerful, the internet was about to change everything..."</a:t>
            </a:r>
          </a:p>
          <a:p>
            <a:endParaRPr/>
          </a:p>
          <a:p>
            <a:r>
              <a:t>---</a:t>
            </a:r>
          </a:p>
          <a:p>
            <a:endParaRPr/>
          </a:p>
          <a:p>
            <a:r>
              <a:t>Source: Slides\individual-slides\whats-the-big-deal.md</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**Web Revolution**: Internet shifted computing from desktop applications to browser-based services. **JavaScript Ubiquity**: Initially a toy language, became essential when V8 made it fast enough for serious applications. **Python's Versatility**: Started in web development, evolved into the dominant language for data science and AI/ML. **Rails Magic**: "Convention over configuration"—Rails showed that frameworks could make common tasks trivial. **Portability Shift**: Note the lifestyle change—developers could work from anywhere with WiFi. **Modern Context**: These languages and frameworks still dominate today. **Transition**: "But web apps still ran on physical servers in data centers. Cloud computing changed that..."</a:t>
            </a:r>
          </a:p>
          <a:p>
            <a:endParaRPr/>
          </a:p>
          <a:p>
            <a:r>
              <a:t>---</a:t>
            </a:r>
          </a:p>
          <a:p>
            <a:endParaRPr/>
          </a:p>
          <a:p>
            <a:r>
              <a:t>Source: Slides\individual-slides\whats-the-big-deal.md</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**Orchestration Concept**: Developers became conductors—composing systems from managed services rather than building everything from scratch. **Cloud Impact**: "Need a database? Click button, get database. Need 100 servers? Auto-scale." Infrastructure became code. **API Economy**: Modern apps are mashups—Stripe for payments, Twilio for SMS, Auth0 for authentication. You orchestrate services, not write everything. **Low-Code**: Controversial topic—some see it as dumbing down, others as appropriate tool for business apps. Acknowledge both views. **Key Insight**: This is when programming truly shifted from "making hardware do things" to "composing services and logic". **Transition**: "Cloud and APIs raised the abstraction level. AI assistance raises it even higher..."</a:t>
            </a:r>
          </a:p>
          <a:p>
            <a:endParaRPr/>
          </a:p>
          <a:p>
            <a:r>
              <a:t>---</a:t>
            </a:r>
          </a:p>
          <a:p>
            <a:endParaRPr/>
          </a:p>
          <a:p>
            <a:r>
              <a:t>Source: Slides\individual-slides\whats-the-big-deal.md</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**Synthesis Point**: This slide ties together the history—every era raised the abstraction level. **Visual Metaphor**: "Think of programming as a ladder—each rung takes you higher above the hardware, making it easier to see the big picture but relying on more layers below." **Modern Developer Reality**: Today's developers rarely think about memory management, CPU registers, or even which physical server runs their code. They think in terms of business logic and user experiences. **Key Question for Audience**: "How many of you have ever written assembly or C code?" Then: "How many wrote Java or Python today?" Shows the abstraction trajectory. **Transition**: "Now here comes AI. It's not a different ladder—it's another rung on the same ladder we've been climbing."</a:t>
            </a:r>
          </a:p>
          <a:p>
            <a:endParaRPr/>
          </a:p>
          <a:p>
            <a:r>
              <a:t>---</a:t>
            </a:r>
          </a:p>
          <a:p>
            <a:endParaRPr/>
          </a:p>
          <a:p>
            <a:r>
              <a:t>Source: Slides\individual-slides\whats-the-big-deal.md</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**Paradigm Shift**: This is the key slide—AI enables expressing intent in natural language, not just formal syntax. **LLM Training**: Models trained on billions of lines of public code (GitHub, Stack Overflow, etc.) learn patterns and best practices. **IDE Integration**: Copilot, Cursor, Tabnine—AI is embedded in our daily tools, not separate applications. **Dialogue Metaphor**: "Programming becomes conversation. You say what you want, AI suggests how to do it, you refine through iteration." **Live Demo Opportunity**: If appropriate, show quick Copilot example here. **Audience Engagement**: "How many of you have tried GitHub Copilot or ChatGPT for coding?" **Transition**: "This natural language interaction is the crucial breakthrough. Let's explore what that means..."</a:t>
            </a:r>
          </a:p>
          <a:p>
            <a:endParaRPr/>
          </a:p>
          <a:p>
            <a:r>
              <a:t>---</a:t>
            </a:r>
          </a:p>
          <a:p>
            <a:endParaRPr/>
          </a:p>
          <a:p>
            <a:r>
              <a:t>Source: Slides\individual-slides\whats-the-big-deal.md</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**Role Evolution**: This is about identity—developers worry "Am I being replaced?" Address this directly. **Curator of Context**: You provide requirements, constraints, examples, test cases. The better the context, the better the AI output. **Validator Role**: AI generates fast, but you must verify it's correct, secure, performant, maintainable. Critical thinking is MORE important, not less. **Steward of Alignment**: Ensuring the code does what users need, not just what you asked for. **Example**: "AI can generate a sorting algorithm, but you decide if sorting is even the right solution." **Reassurance**: "Your expertise shifts from syntax to strategy, from typing to thinking." **Transition**: "Let's look at specific examples of how AI understands intent..."</a:t>
            </a:r>
          </a:p>
          <a:p>
            <a:endParaRPr/>
          </a:p>
          <a:p>
            <a:r>
              <a:t>---</a:t>
            </a:r>
          </a:p>
          <a:p>
            <a:endParaRPr/>
          </a:p>
          <a:p>
            <a:r>
              <a:t>Source: Slides\individual-slides\whats-the-big-deal.md</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**Intent Understanding**: This is what makes AI different from traditional autocomplete or code snippets. **Examples Walkthrough**: Go through each example slowly. "Make this faster" could mean caching, algorithm optimization, database indexing—AI considers context to choose. **Test-Driven Development**: "You can write tests first, AI generates implementation that passes tests. TDD on steroids!" **Bug Reports as Input**: Show how AI can read a bug report ("Users getting 500 error when submitting form") and suggest fixes. **Conversational Iteration**: "Too much like code that..." "Actually, make it more like..." — Natural back-and-forth refinement. **Live Example Opportunity**: If time permits, demonstrate a conversational refinement with AI. **Transition**: "This sounds revolutionary, but remember—it's just another tool in a long line of tools..."</a:t>
            </a:r>
          </a:p>
          <a:p>
            <a:endParaRPr/>
          </a:p>
          <a:p>
            <a:r>
              <a:t>---</a:t>
            </a:r>
          </a:p>
          <a:p>
            <a:endParaRPr/>
          </a:p>
          <a:p>
            <a:r>
              <a:t>Source: Slides\individual-slides\whats-the-big-deal.md</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**Reassurance Slide**: This slide is the antidote to hype and fear. Speak with calm authority. **Historical Pattern**: Every new tool was feared—"High-level languages will make us lazy!" "IDEs will dumb down programmers!" Didn't happen. **Tool, Not Replacement**: Hammer didn't replace carpenters. Calculator didn't replace mathematicians. AI won't replace developers. **Speed and Scale**: "AI lets you work faster, tackle bigger problems, spend more time on creative and strategic work rather than boilerplate." **Personal Testimony**: If you have personal experience where AI helped you—share it. Humanizes the technology. **Address Anxiety**: Acknowledge that change is uncomfortable but emphasize continuity. **Transition**: "But this doesn't mean we can skip the hard parts..."</a:t>
            </a:r>
          </a:p>
          <a:p>
            <a:endParaRPr/>
          </a:p>
          <a:p>
            <a:r>
              <a:t>---</a:t>
            </a:r>
          </a:p>
          <a:p>
            <a:endParaRPr/>
          </a:p>
          <a:p>
            <a:r>
              <a:t>Source: Slides\individual-slides\whats-the-big-deal.md</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**Critical Reality Check**: This slide balances the optimism. AI is powerful but not infallible. **Testing Remains Essential**: AI-generated code needs the same rigorous testing as human-written code. Maybe more, since you didn't write it. **Security Responsibility**: AI doesn't understand your threat model, compliance requirements, or security policies. You do. **Ethics and Bias**: AI trained on public code may reproduce problematic patterns (hardcoded credentials, insecure practices, biased algorithms). You're the filter. **Architecture Decisions**: AI can implement patterns, but you choose which patterns fit your system's needs. **Analogy**: "GPS tells you the route, but you still drive the car. You watch for hazards, make judgment calls, take responsibility." **Transition**: "So what does the future actually look like?"</a:t>
            </a:r>
          </a:p>
          <a:p>
            <a:endParaRPr/>
          </a:p>
          <a:p>
            <a:r>
              <a:t>---</a:t>
            </a:r>
          </a:p>
          <a:p>
            <a:endParaRPr/>
          </a:p>
          <a:p>
            <a:r>
              <a:t>Source: Slides\individual-slides\whats-the-big-deal.md</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**Future Vision**: This slide looks forward while maintaining historical perspective. **Intent-Driven Continuity**: From assembly to C to Python to AI prompts—each step made intent clearer, implementation more abstracted. **Skills Evolution**: "Learning Python took time. Learning prompt engineering will take time. But it's the same kind of skill acquisition we've always done." **Learning Curve Reality**: Don't sugarcoat—there will be frustration, mistakes, and learning. But also breakthroughs and productivity gains. **Continuity Message**: "You're not starting over. You're building on everything you know. Your domain knowledge, debugging skills, design sense—all still essential." **Encouragement**: "This is an exciting time to be a developer. AI removes drudgery, letting us focus on the interesting problems." **Transition**: "Let me wrap up with the key takeaways..."</a:t>
            </a:r>
          </a:p>
          <a:p>
            <a:endParaRPr/>
          </a:p>
          <a:p>
            <a:r>
              <a:t>---</a:t>
            </a:r>
          </a:p>
          <a:p>
            <a:endParaRPr/>
          </a:p>
          <a:p>
            <a:r>
              <a:t>Source: Slides\individual-slides\whats-the-big-deal.md</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**Closing Message**: This is your mic-drop moment. Speak with conviction and optimism. **Core Thesis Callback**: Circle back to opening quote—"Programming hasn't changed, but how we go about it has changed, again." **Fundamental Continuity**: Emphasize that this entire journey (70+ years) has been about expressing intent with increasing ease. AI is the latest, not the last, step. **Human Centrality**: "AI is a tool we wield, not a replacement for our judgment. We remain at the center—designers, validators, ethical stewards." **Accessibility Point**: AI will bring more people into programming by lowering barriers. That's a good thing. **Call to Action**: "The future belongs to developers who embrace these tools while maintaining the critical thinking and expertise that makes great software." **Ending Note**: Pause briefly after final sentence, let it land, then invite questions. **Optional**: If time, ask "What questions do you have?" and address 2-3 before moving on.</a:t>
            </a:r>
          </a:p>
          <a:p>
            <a:endParaRPr/>
          </a:p>
          <a:p>
            <a:r>
              <a:t>---</a:t>
            </a:r>
          </a:p>
          <a:p>
            <a:endParaRPr/>
          </a:p>
          <a:p>
            <a:r>
              <a:t>Source: Slides\individual-slides\whats-the-big-deal.md</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Source: Slides\individual-slides\the-ai-revolution.md</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Career Transformation: - Those who adapt: become 10x more productive, tackle bigger challenges, expand skill sets - Those who resist: may find themselves struggling with modern development expectations - New roles emerging: AI prompt engineers, AI code reviewers, AI-assisted architects</a:t>
            </a:r>
          </a:p>
          <a:p>
            <a:endParaRPr/>
          </a:p>
          <a:p>
            <a:r>
              <a:t>Superpowers Explained: - Legacy codebases: AI can quickly understand and explain complex, undocumented systems - New technologies: Learn frameworks/languages faster with AI as a coding partner - Code quality: AI suggests improvements, catches bugs, generates comprehensive tests - Nice to haves: Features that were “too time-consuming” become feasible</a:t>
            </a:r>
          </a:p>
          <a:p>
            <a:endParaRPr/>
          </a:p>
          <a:p>
            <a:r>
              <a:t>Examples to share: - Developer who used AI to modernize a 15-year-old PHP codebase in weeks instead of months - Team that adopted a new framework (React to Vue) with AI assistance in days - 80% reduction in boilerplate code writing time - Comprehensive test suites generated automatically</a:t>
            </a:r>
          </a:p>
          <a:p>
            <a:endParaRPr/>
          </a:p>
          <a:p>
            <a:r>
              <a:t>Key message: AI doesn't replace developers—it amplifies their capabilities</a:t>
            </a:r>
          </a:p>
          <a:p>
            <a:endParaRPr/>
          </a:p>
          <a:p>
            <a:r>
              <a:t>---</a:t>
            </a:r>
          </a:p>
          <a:p>
            <a:endParaRPr/>
          </a:p>
          <a:p>
            <a:r>
              <a:t>Source: Slides\individual-slides\the-ai-revolution.md</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AI-First is the broad philosophy. Prompt-First is the tactical layer that enables predictable AI behavior. You can do Prompt-First without being AI-First, but not the reverse.</a:t>
            </a:r>
          </a:p>
          <a:p>
            <a:endParaRPr/>
          </a:p>
          <a:p>
            <a:r>
              <a:t>---</a:t>
            </a:r>
          </a:p>
          <a:p>
            <a:endParaRPr/>
          </a:p>
          <a:p>
            <a:r>
              <a:t>Source: Slides\individual-slides\the-ai-revolution.md</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table is the heart of the comparison. AI-First is about organizational and architectural change. Prompt-First is about artifact discipline and predictable outputs.</a:t>
            </a:r>
          </a:p>
          <a:p>
            <a:endParaRPr/>
          </a:p>
          <a:p>
            <a:r>
              <a:t>---</a:t>
            </a:r>
          </a:p>
          <a:p>
            <a:endParaRPr/>
          </a:p>
          <a:p>
            <a:r>
              <a:t>Source: Slides\individual-slides\the-ai-revolution.md</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AI-First changes what you build and how you build it. Prompt-First changes how you communicate intent to the AI.</a:t>
            </a:r>
          </a:p>
          <a:p>
            <a:endParaRPr/>
          </a:p>
          <a:p>
            <a:r>
              <a:t>---</a:t>
            </a:r>
          </a:p>
          <a:p>
            <a:endParaRPr/>
          </a:p>
          <a:p>
            <a:r>
              <a:t>Source: Slides\individual-slides\the-ai-revolution.md</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conceptual hierarchy. Prompt-First is necessary but not sufficient for AI-First maturity.</a:t>
            </a:r>
          </a:p>
          <a:p>
            <a:endParaRPr/>
          </a:p>
          <a:p>
            <a:r>
              <a:t>---</a:t>
            </a:r>
          </a:p>
          <a:p>
            <a:endParaRPr/>
          </a:p>
          <a:p>
            <a:r>
              <a:t>Source: Slides\individual-slides\the-ai-revolution.md</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frames what we mean by AI-First development. The key idea is that AI isn't an add-on or a productivity booster—it becomes a core capability of the software lifecycle. When we design systems today, we assume AI will participate in requirements, architecture, coding, testing, and documentation.</a:t>
            </a:r>
          </a:p>
          <a:p>
            <a:endParaRPr/>
          </a:p>
          <a:p>
            <a:r>
              <a:t>Why AI-First</a:t>
            </a:r>
          </a:p>
          <a:p>
            <a:r>
              <a:t>“Teams increasingly express requirements in natural language. AI can interpret those requirements and generate scaffolding, code, tests, and documentation.”</a:t>
            </a:r>
          </a:p>
          <a:p>
            <a:r>
              <a:t>“This shifts the developer's role from writing every line of code to defining intent, constraints, and quality expectations.”</a:t>
            </a:r>
          </a:p>
          <a:p>
            <a:r>
              <a:t>“The goal isn't to replace engineering judgment—it's to amplify it.”</a:t>
            </a:r>
          </a:p>
          <a:p>
            <a:endParaRPr/>
          </a:p>
          <a:p>
            <a:r>
              <a:t>Core Principles</a:t>
            </a:r>
          </a:p>
          <a:p>
            <a:endParaRPr/>
          </a:p>
          <a:p>
            <a:r>
              <a:t>Prompt-First Design</a:t>
            </a:r>
          </a:p>
          <a:p>
            <a:r>
              <a:t>“We start with structured prompts that capture behaviors, invariants, and interfaces. These become durable artifacts, just like design docs.”</a:t>
            </a:r>
          </a:p>
          <a:p>
            <a:endParaRPr/>
          </a:p>
          <a:p>
            <a:r>
              <a:t>AI-Native Architecture</a:t>
            </a:r>
          </a:p>
          <a:p>
            <a:r>
              <a:t>“We design modules with clear boundaries so AI-generated components remain predictable and testable. Deterministic interfaces are essential.”</a:t>
            </a:r>
          </a:p>
          <a:p>
            <a:endParaRPr/>
          </a:p>
          <a:p>
            <a:r>
              <a:t>Human-in-the-Loop</a:t>
            </a:r>
          </a:p>
          <a:p>
            <a:r>
              <a:t>“AI accelerates creation, but humans validate correctness, safety, and alignment with business intent. Review is built into the workflow.”</a:t>
            </a:r>
          </a:p>
          <a:p>
            <a:endParaRPr/>
          </a:p>
          <a:p>
            <a:r>
              <a:t>Continuous Verification</a:t>
            </a:r>
          </a:p>
          <a:p>
            <a:r>
              <a:t>“Every AI-generated artifact—code, tests, docs—runs through automated checks. Static analysis, unit tests, and guardrails catch drift early.”</a:t>
            </a:r>
          </a:p>
          <a:p>
            <a:endParaRPr/>
          </a:p>
          <a:p>
            <a:r>
              <a:t>Lifecycle Governance</a:t>
            </a:r>
          </a:p>
          <a:p>
            <a:r>
              <a:t>“We treat prompts, outputs, and revisions as versioned assets. Provenance and traceability matter for compliance, debugging, and long-term maintainability.”</a:t>
            </a:r>
          </a:p>
          <a:p>
            <a:endParaRPr/>
          </a:p>
          <a:p>
            <a:r>
              <a:t>Outcomes</a:t>
            </a:r>
          </a:p>
          <a:p>
            <a:r>
              <a:t>“Teams iterate faster because intent moves directly into working prototypes.”</a:t>
            </a:r>
          </a:p>
          <a:p>
            <a:r>
              <a:t>“Documentation and test coverage improve because AI can generate them continuously.”</a:t>
            </a:r>
          </a:p>
          <a:p>
            <a:r>
              <a:t>“Developers spend more time on architecture and correctness, less on boilerplate.”</a:t>
            </a:r>
          </a:p>
          <a:p>
            <a:r>
              <a:t>“The result is software that's more adaptable and resilient over time.”</a:t>
            </a:r>
          </a:p>
          <a:p>
            <a:endParaRPr/>
          </a:p>
          <a:p>
            <a:r>
              <a:t>---</a:t>
            </a:r>
          </a:p>
          <a:p>
            <a:endParaRPr/>
          </a:p>
          <a:p>
            <a:r>
              <a:t>Source: Slides\individual-slides\the-ai-revolution.md</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introduces the core idea behind Prompt-First development. Instead of starting with code, we start with intent. Prompts become the primary design artifact, and AI becomes the mechanism that turns intent into implementation.”</a:t>
            </a:r>
          </a:p>
          <a:p>
            <a:endParaRPr/>
          </a:p>
          <a:p>
            <a:r>
              <a:t>Why Prompt-First</a:t>
            </a:r>
          </a:p>
          <a:p>
            <a:r>
              <a:t>“Modern development increasingly begins with natural-language descriptions of behavior. Prompt-First formalizes that by treating prompts as first-class inputs to the software lifecycle.”</a:t>
            </a:r>
          </a:p>
          <a:p>
            <a:r>
              <a:t>“The developer's role shifts from writing code line-by-line to defining outcomes, constraints, invariants, and interfaces.”</a:t>
            </a:r>
          </a:p>
          <a:p>
            <a:r>
              <a:t>“This creates a tighter alignment between business intent and the resulting system.”</a:t>
            </a:r>
          </a:p>
          <a:p>
            <a:endParaRPr/>
          </a:p>
          <a:p>
            <a:r>
              <a:t>Core Practices</a:t>
            </a:r>
          </a:p>
          <a:p>
            <a:endParaRPr/>
          </a:p>
          <a:p>
            <a:r>
              <a:t>Structured Prompts</a:t>
            </a:r>
          </a:p>
          <a:p>
            <a:r>
              <a:t>“We don't rely on ad-hoc prompting. We use templates for features, APIs, data models, tests, and refactors. This creates consistency and reduces ambiguity.”</a:t>
            </a:r>
          </a:p>
          <a:p>
            <a:endParaRPr/>
          </a:p>
          <a:p>
            <a:r>
              <a:t>Instruction Files</a:t>
            </a:r>
          </a:p>
          <a:p>
            <a:r>
              <a:t>“These are durable, versioned prompt artifacts that guide AI generation. They act like living design documents that the AI reads every time it produces code.”</a:t>
            </a:r>
          </a:p>
          <a:p>
            <a:endParaRPr/>
          </a:p>
          <a:p>
            <a:r>
              <a:t>Deterministic Boundaries</a:t>
            </a:r>
          </a:p>
          <a:p>
            <a:r>
              <a:t>“We design modules with clear contracts so AI-generated code stays predictable. The AI can generate the internals, but the interfaces remain stable and human-controlled.”</a:t>
            </a:r>
          </a:p>
          <a:p>
            <a:endParaRPr/>
          </a:p>
          <a:p>
            <a:r>
              <a:t>Validation Loops</a:t>
            </a:r>
          </a:p>
          <a:p>
            <a:r>
              <a:t>“Every AI-generated artifact goes through automated tests and human review. The goal is to catch drift early and ensure correctness.”</a:t>
            </a:r>
          </a:p>
          <a:p>
            <a:endParaRPr/>
          </a:p>
          <a:p>
            <a:r>
              <a:t>Prompt Versioning</a:t>
            </a:r>
          </a:p>
          <a:p>
            <a:r>
              <a:t>“Prompts evolve just like code. Tracking changes helps with debugging, reproducibility, and compliance.”</a:t>
            </a:r>
          </a:p>
          <a:p>
            <a:endParaRPr/>
          </a:p>
          <a:p>
            <a:r>
              <a:t>Benefits</a:t>
            </a:r>
          </a:p>
          <a:p>
            <a:r>
              <a:t>“Teams move from idea to working software much faster because intent flows directly into generation.”</a:t>
            </a:r>
          </a:p>
          <a:p>
            <a:r>
              <a:t>“Generated components become more consistent because they're driven by structured prompts, not one-off instructions.”</a:t>
            </a:r>
          </a:p>
          <a:p>
            <a:r>
              <a:t>“Developers spend more time on architecture and correctness, less on boilerplate.”</a:t>
            </a:r>
          </a:p>
          <a:p>
            <a:r>
              <a:t>“The end result is a system that's easier to maintain and adapt over time.”</a:t>
            </a:r>
          </a:p>
          <a:p>
            <a:endParaRPr/>
          </a:p>
          <a:p>
            <a:r>
              <a:t>---</a:t>
            </a:r>
          </a:p>
          <a:p>
            <a:endParaRPr/>
          </a:p>
          <a:p>
            <a:r>
              <a:t>Source: Slides\individual-slides\the-ai-revolution.md</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Use these examples to help teams visualize the difference.</a:t>
            </a:r>
          </a:p>
          <a:p>
            <a:r>
              <a:t>Prompt-First is about interfaces; AI-First is about the entire workflow.</a:t>
            </a:r>
          </a:p>
          <a:p>
            <a:endParaRPr/>
          </a:p>
          <a:p>
            <a:r>
              <a:t>---</a:t>
            </a:r>
          </a:p>
          <a:p>
            <a:endParaRPr/>
          </a:p>
          <a:p>
            <a:r>
              <a:t>Source: Slides\individual-slides\the-ai-revolution.md</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End with this summary to reinforce the distinction.</a:t>
            </a:r>
          </a:p>
          <a:p>
            <a:r>
              <a:t>It's the cleanest way to remember the relationship.</a:t>
            </a:r>
          </a:p>
          <a:p>
            <a:endParaRPr/>
          </a:p>
          <a:p>
            <a:r>
              <a:t>---</a:t>
            </a:r>
          </a:p>
          <a:p>
            <a:endParaRPr/>
          </a:p>
          <a:p>
            <a:r>
              <a:t>Source: Slides\individual-slides\the-ai-revolution.md</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Auto-generated course navigation slide showing all modules with current section highlighted</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Auto-generated section header slide to announce the section</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Auto-generated section agenda slide listing slide titles from manifest</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Source: Slides\individual-slides\repository-and-tool-setup.md</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~00:20</a:t>
            </a:r>
          </a:p>
          <a:p>
            <a:endParaRPr/>
          </a:p>
          <a:p>
            <a:r>
              <a:t>  Guide participants through creating a fork of the brownfield exercise repository, cloning it locally, and creating a GitHub PAT for authenticated access. Emphasize that this setup work enables the later brownfield labs.</a:t>
            </a:r>
          </a:p>
          <a:p>
            <a:endParaRPr/>
          </a:p>
          <a:p>
            <a:r>
              <a:t>---</a:t>
            </a:r>
          </a:p>
          <a:p>
            <a:endParaRPr/>
          </a:p>
          <a:p>
            <a:r>
              <a:t>Source: Slides\individual-slides\exercise-fork-and-clone-repositories.md</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Source: Slides\individual-slides\exercise-fork-and-clone-repositories.md</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~00:10</a:t>
            </a:r>
          </a:p>
          <a:p>
            <a:endParaRPr/>
          </a:p>
          <a:p>
            <a:r>
              <a:t>Set the context by explaining that this is foundational setup for all later course tasks. Guide participants to fork first, then clone their own fork, so they have push access and can safely make changes without affecting the original repository. If students hit authentication issues, pause briefly to confirm whether they are using SSH keys or HTTPS credentials and help them choose one method consistently. Close by asking everyone to run `git branch --show-current` so they can verify they are on the brownfield branch before moving forward.</a:t>
            </a:r>
          </a:p>
          <a:p>
            <a:endParaRPr/>
          </a:p>
          <a:p>
            <a:r>
              <a:t>---</a:t>
            </a:r>
          </a:p>
          <a:p>
            <a:endParaRPr/>
          </a:p>
          <a:p>
            <a:r>
              <a:t>Source: Slides\individual-slides\exercise-fork-and-clone-repositories.md</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~00:20</a:t>
            </a:r>
          </a:p>
          <a:p>
            <a:endParaRPr/>
          </a:p>
          <a:p>
            <a:r>
              <a:t>Frame this as brownfield readiness work and explain that a clean setup now prevents workflow friction later. Walk students through forking and cloning first, then move to PAT creation with a reminder to use least-privilege token scopes and never commit tokens to source control. During the hands-on period, check that everyone can authenticate successfully before they continue into subsequent labs. Transition by emphasizing that local clone plus PAT setup is the baseline for future repository analysis and change workflows.</a:t>
            </a:r>
          </a:p>
          <a:p>
            <a:endParaRPr/>
          </a:p>
          <a:p>
            <a:r>
              <a:t>---</a:t>
            </a:r>
          </a:p>
          <a:p>
            <a:endParaRPr/>
          </a:p>
          <a:p>
            <a:r>
              <a:t>Source: Slides\individual-slides\exercise-fork-and-clone-repositories.md</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~00:10</a:t>
            </a:r>
          </a:p>
          <a:p>
            <a:endParaRPr/>
          </a:p>
          <a:p>
            <a:r>
              <a:t>Use this slide as a consolidation exercise to reinforce the fork-first workflow pattern across multiple repositories. Encourage participants to describe the difference between upstream and origin in their own words, because that understanding reduces merge and push mistakes later in the course. If time permits, have learners quickly clone one of the forks and verify remotes using `git remote -v` as a confidence check. End with a short recap that forking gives each participant a safe workspace while preserving the integrity of the course-owned repositories.</a:t>
            </a:r>
          </a:p>
          <a:p>
            <a:endParaRPr/>
          </a:p>
          <a:p>
            <a:r>
              <a:t>---</a:t>
            </a:r>
          </a:p>
          <a:p>
            <a:endParaRPr/>
          </a:p>
          <a:p>
            <a:r>
              <a:t>Source: Slides\individual-slides\exercise-fork-and-clone-repositories.md</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through installation, auth, and a quick coding session; encourage participants to follow along.</a:t>
            </a:r>
          </a:p>
          <a:p>
            <a:endParaRPr/>
          </a:p>
          <a:p>
            <a:r>
              <a:t>---</a:t>
            </a:r>
          </a:p>
          <a:p>
            <a:endParaRPr/>
          </a:p>
          <a:p>
            <a:r>
              <a:t>Source: Slides\individual-slides\hands-on-with-github-copilot-vs-code.md</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~00:04</a:t>
            </a:r>
          </a:p>
          <a:p>
            <a:endParaRPr/>
          </a:p>
          <a:p>
            <a:r>
              <a:t>**Delivery Instructions:**</a:t>
            </a:r>
          </a:p>
          <a:p>
            <a:r>
              <a:t>This slide demonstrates the progression from terrible to excellent prompts—walk through each example deliberately.</a:t>
            </a:r>
          </a:p>
          <a:p>
            <a:endParaRPr/>
          </a:p>
          <a:p>
            <a:r>
              <a:t>**Example 1 (Bad):** "Add error handling to my code" - Read this with a slightly exasperated tone. Point out: What code? What language? What kind of errors? Copilot literally has no context to work with. This is like asking a contractor to "fix your house" with no other information.</a:t>
            </a:r>
          </a:p>
          <a:p>
            <a:endParaRPr/>
          </a:p>
          <a:p>
            <a:r>
              <a:t>**Example 2 (Better):** Read the second prompt and note improvements: specifies JavaScript, specifies function purpose (external API call), lists specific error types (network timeouts, 404, JSON parsing). But emphasize the problem: "still generic without seeing actual code structure." Copilot doesn't know your coding patterns, your existing error handling approach, or your project structure.</a:t>
            </a:r>
          </a:p>
          <a:p>
            <a:endParaRPr/>
          </a:p>
          <a:p>
            <a:r>
              <a:t>**Example 3 (Best):** Read the third prompt slowly, highlighting key improvements:</a:t>
            </a:r>
          </a:p>
          <a:p>
            <a:endParaRPr/>
          </a:p>
          <a:p>
            <a:r>
              <a:t>- Uses `@file:api-client.js` to reference specific file (Copilot can see the actual code)</a:t>
            </a:r>
          </a:p>
          <a:p>
            <a:r>
              <a:t>- Names the exact function (`fetchUserData`)</a:t>
            </a:r>
          </a:p>
          <a:p>
            <a:r>
              <a:t>- Provides precise timeout threshold (&gt;5s, not just "timeouts")</a:t>
            </a:r>
          </a:p>
          <a:p>
            <a:r>
              <a:t>- Lists specific HTTP codes (404, 500, etc.)</a:t>
            </a:r>
          </a:p>
          <a:p>
            <a:r>
              <a:t>- References another file `@file:error-types.js` for consistency with existing patterns</a:t>
            </a:r>
          </a:p>
          <a:p>
            <a:endParaRPr/>
          </a:p>
          <a:p>
            <a:r>
              <a:t>**Key Teaching Point:** "The difference between prompt 1 and prompt 3 is the difference between Copilot asking YOU 10 clarifying questions versus Copilot just doing exactly what you need. Specificity saves time."</a:t>
            </a:r>
          </a:p>
          <a:p>
            <a:endParaRPr/>
          </a:p>
          <a:p>
            <a:r>
              <a:t>**Audience Interaction:** Ask: "How many of you have written prompts like example 1? Don't worry—we all start there. By the end of today, you'll be writing prompts like example 3 automatically."</a:t>
            </a:r>
          </a:p>
          <a:p>
            <a:endParaRPr/>
          </a:p>
          <a:p>
            <a:r>
              <a:t>**Transition:** "Now let's practice this in a hands-on lab where you'll learn to add context using @ symbols..."</a:t>
            </a:r>
          </a:p>
          <a:p>
            <a:endParaRPr/>
          </a:p>
          <a:p>
            <a:r>
              <a:t>---</a:t>
            </a:r>
          </a:p>
          <a:p>
            <a:endParaRPr/>
          </a:p>
          <a:p>
            <a:r>
              <a:t>Source: Slides\individual-slides\hands-on-with-github-copilot-vs-code.md</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Explain Ask vs Edit modes and when each is most useful. Speak to Agent Mode and Custom Chat Modes briefly. We'll work with those later.</a:t>
            </a:r>
          </a:p>
          <a:p>
            <a:endParaRPr/>
          </a:p>
          <a:p>
            <a:r>
              <a:t>---</a:t>
            </a:r>
          </a:p>
          <a:p>
            <a:endParaRPr/>
          </a:p>
          <a:p>
            <a:r>
              <a:t>Source: Slides\individual-slides\hands-on-with-github-copilot-vs-code.md</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Source: Slides\individual-slides\hands-on-with-github-copilot-vs-code.md</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~00:30</a:t>
            </a:r>
          </a:p>
          <a:p>
            <a:endParaRPr/>
          </a:p>
          <a:p>
            <a:r>
              <a:t>Use this lab as the onboarding checkpoint for all remaining Copilot exercises. Start by confirming everyone has VS Code open and can reach the extension marketplace, then walk the room while participants sign in and complete authentication. Pause after each interface element so learners can find it before moving forward, especially quick chat and model selection since these are easy to miss for first-time users. Close by asking each participant to start one test chat so you can confirm readiness before transitioning to context management.</a:t>
            </a:r>
          </a:p>
          <a:p>
            <a:endParaRPr/>
          </a:p>
          <a:p>
            <a:r>
              <a:t>---</a:t>
            </a:r>
          </a:p>
          <a:p>
            <a:endParaRPr/>
          </a:p>
          <a:p>
            <a:r>
              <a:t>Source: Slides\individual-slides\exercise-github-copilot-vscode-workflows.md</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~00:20</a:t>
            </a:r>
          </a:p>
          <a:p>
            <a:endParaRPr/>
          </a:p>
          <a:p>
            <a:r>
              <a:t>Frame this as the first skill that directly improves Copilot output quality without changing tools or models. During the @ symbol walkthrough, have participants perform each step live and explain what new information Copilot gains from each context type. For the prompt comparison, ask learners to keep the same goal and only change context quality so the difference is obvious and measurable. End by normalizing context window limits as expected behavior, then reinforce the habit that new topic equals new chat.</a:t>
            </a:r>
          </a:p>
          <a:p>
            <a:endParaRPr/>
          </a:p>
          <a:p>
            <a:r>
              <a:t>---</a:t>
            </a:r>
          </a:p>
          <a:p>
            <a:endParaRPr/>
          </a:p>
          <a:p>
            <a:r>
              <a:t>Source: Slides\individual-slides\exercise-github-copilot-vscode-workflows.md</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~00:20</a:t>
            </a:r>
          </a:p>
          <a:p>
            <a:endParaRPr/>
          </a:p>
          <a:p>
            <a:r>
              <a:t>Introduce this lab as productivity hygiene that prevents context fatigue and low-quality responses later in the day. Coach participants to separate work streams by topic, and use quick chat for interruptions so their main conversation remains coherent and reusable. During the history review, have each learner identify one prompt that worked well and explain why it worked, which helps them build a personal prompting playbook. Finish with the context window management bullets as operational rules they can apply in every future session.</a:t>
            </a:r>
          </a:p>
          <a:p>
            <a:endParaRPr/>
          </a:p>
          <a:p>
            <a:r>
              <a:t>---</a:t>
            </a:r>
          </a:p>
          <a:p>
            <a:endParaRPr/>
          </a:p>
          <a:p>
            <a:r>
              <a:t>Source: Slides\individual-slides\exercise-github-copilot-vscode-workflows.md</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~00:20</a:t>
            </a:r>
          </a:p>
          <a:p>
            <a:endParaRPr/>
          </a:p>
          <a:p>
            <a:r>
              <a:t>Position this lab as decision-making practice so participants learn to match the mode to the work, not just default to one interface. In Ask mode, emphasize low-risk exploration and comparative learning with different models before making any code changes. In Edit mode, slow down and review diffs so learners build trust through verification rather than blind acceptance. In Agent mode, demonstrate value on a task that justifies automation, then connect the result to token usage so participants can balance cost and productivity in real workflows.</a:t>
            </a:r>
          </a:p>
          <a:p>
            <a:endParaRPr/>
          </a:p>
          <a:p>
            <a:r>
              <a:t>---</a:t>
            </a:r>
          </a:p>
          <a:p>
            <a:endParaRPr/>
          </a:p>
          <a:p>
            <a:r>
              <a:t>Source: Slides\individual-slides\exercise-github-copilot-vscode-workflows.md</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Auto-generated course navigation slide showing all modules with current section highlighted</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Auto-generated section header slide to announce the section</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Auto-generated section agenda slide listing slide titles from manifest</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outlines the collaborative development process we'll follow for building our calculator application — and mob programming will be central to how we work together.</a:t>
            </a:r>
          </a:p>
          <a:p>
            <a:endParaRPr/>
          </a:p>
          <a:p>
            <a:r>
              <a:t>Except for Project Setup and Basic Arithmetic functions, the mob controls the direction of the implementation. The other labs are optional and can be used when the mob directs the development of that feature or as suggestions should the mob struggle for direction.</a:t>
            </a:r>
          </a:p>
          <a:p>
            <a:endParaRPr/>
          </a:p>
          <a:p>
            <a:r>
              <a:t>We begin with Project Setup, where the team configures the environment, aligns on goals, and prepares the repo. This is done as a mob — one keyboard, one screen, and everyone contributing ideas in real time. It ensures shared understanding from the start.</a:t>
            </a:r>
          </a:p>
          <a:p>
            <a:endParaRPr/>
          </a:p>
          <a:p>
            <a:r>
              <a:t>At the end of the day, we introduce Evergreen Software Development — a mindset of continuous improvement.</a:t>
            </a:r>
          </a:p>
          <a:p>
            <a:endParaRPr/>
          </a:p>
          <a:p>
            <a:r>
              <a:t>Random ideas:</a:t>
            </a:r>
          </a:p>
          <a:p>
            <a:r>
              <a:t>Implementing Observability</a:t>
            </a:r>
          </a:p>
          <a:p>
            <a:endParaRPr/>
          </a:p>
          <a:p>
            <a:r>
              <a:t>Scaffold a new C# command line project using .NET. The project should include:</a:t>
            </a:r>
          </a:p>
          <a:p>
            <a:r>
              <a:t>A Program.cs file with a simple "Hello, World!" example.</a:t>
            </a:r>
          </a:p>
          <a:p>
            <a:r>
              <a:t>A .csproj file configured for a console application.</a:t>
            </a:r>
          </a:p>
          <a:p>
            <a:r>
              <a:t>A README.md with build and run instructions.</a:t>
            </a:r>
          </a:p>
          <a:p>
            <a:r>
              <a:t>The project should be ready to build and run from the command line.</a:t>
            </a:r>
          </a:p>
          <a:p>
            <a:endParaRPr/>
          </a:p>
          <a:p>
            <a:r>
              <a:t>---</a:t>
            </a:r>
          </a:p>
          <a:p>
            <a:endParaRPr/>
          </a:p>
          <a:p>
            <a:r>
              <a:t>Source: Slides\individual-slides\vibe-coding.md</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~01:00</a:t>
            </a:r>
          </a:p>
          <a:p>
            <a:endParaRPr/>
          </a:p>
          <a:p>
            <a:endParaRPr/>
          </a:p>
          <a:p>
            <a:r>
              <a:t>**Prerequisites:** Calculator project context available</a:t>
            </a:r>
          </a:p>
          <a:p>
            <a:endParaRPr/>
          </a:p>
          <a:p>
            <a:r>
              <a:t>### Objectives</a:t>
            </a:r>
          </a:p>
          <a:p>
            <a:endParaRPr/>
          </a:p>
          <a:p>
            <a:r>
              <a:t>- Scaffold core operations with AI assistance.</a:t>
            </a:r>
          </a:p>
          <a:p>
            <a:r>
              <a:t>- Validate generated logic before accepting changes.</a:t>
            </a:r>
          </a:p>
          <a:p>
            <a:r>
              <a:t>- Deliver a working baseline calculator.</a:t>
            </a:r>
          </a:p>
          <a:p>
            <a:endParaRPr/>
          </a:p>
          <a:p>
            <a:r>
              <a:t>### Activities</a:t>
            </a:r>
          </a:p>
          <a:p>
            <a:endParaRPr/>
          </a:p>
          <a:p>
            <a:r>
              <a:t>- Build project skeleton, implement 4 operations, and verify behavior.</a:t>
            </a:r>
          </a:p>
          <a:p>
            <a:r>
              <a:t>- Emphasize manual review of AI output before merge.</a:t>
            </a:r>
          </a:p>
          <a:p>
            <a:endParaRPr/>
          </a:p>
          <a:p>
            <a:r>
              <a:t>### Success Criteria</a:t>
            </a:r>
          </a:p>
          <a:p>
            <a:endParaRPr/>
          </a:p>
          <a:p>
            <a:r>
              <a:t>- Four operations work end-to-end.</a:t>
            </a:r>
          </a:p>
          <a:p>
            <a:r>
              <a:t>- Build is green.</a:t>
            </a:r>
          </a:p>
          <a:p>
            <a:r>
              <a:t>- Team can explain logic and edge-case handling.</a:t>
            </a:r>
          </a:p>
          <a:p>
            <a:endParaRPr/>
          </a:p>
          <a:p>
            <a:r>
              <a:t>---</a:t>
            </a:r>
          </a:p>
          <a:p>
            <a:endParaRPr/>
          </a:p>
          <a:p>
            <a:r>
              <a:t>Source: Slides\individual-slides\exercise-calculator-project.md</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~00:15</a:t>
            </a:r>
          </a:p>
          <a:p>
            <a:endParaRPr/>
          </a:p>
          <a:p>
            <a:endParaRPr/>
          </a:p>
          <a:p>
            <a:r>
              <a:t>**Prerequisites:** Basic calculator state model</a:t>
            </a:r>
          </a:p>
          <a:p>
            <a:endParaRPr/>
          </a:p>
          <a:p>
            <a:r>
              <a:t>### Objectives</a:t>
            </a:r>
          </a:p>
          <a:p>
            <a:endParaRPr/>
          </a:p>
          <a:p>
            <a:r>
              <a:t>- Separate entry-level clear from full reset behavior.</a:t>
            </a:r>
          </a:p>
          <a:p>
            <a:r>
              <a:t>- Verify expected transitions from each action.</a:t>
            </a:r>
          </a:p>
          <a:p>
            <a:endParaRPr/>
          </a:p>
          <a:p>
            <a:r>
              <a:t>### Activities</a:t>
            </a:r>
          </a:p>
          <a:p>
            <a:endParaRPr/>
          </a:p>
          <a:p>
            <a:r>
              <a:t>- Use focused prompts and test state transitions quickly.</a:t>
            </a:r>
          </a:p>
          <a:p>
            <a:endParaRPr/>
          </a:p>
          <a:p>
            <a:r>
              <a:t>### Success Criteria</a:t>
            </a:r>
          </a:p>
          <a:p>
            <a:endParaRPr/>
          </a:p>
          <a:p>
            <a:r>
              <a:t>- CE and C behaviors are consistent and explainable.</a:t>
            </a:r>
          </a:p>
          <a:p>
            <a:endParaRPr/>
          </a:p>
          <a:p>
            <a:r>
              <a:t>---</a:t>
            </a:r>
          </a:p>
          <a:p>
            <a:endParaRPr/>
          </a:p>
          <a:p>
            <a:r>
              <a:t>Source: Slides\individual-slides\exercise-calculator-project.md</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~00:12</a:t>
            </a:r>
          </a:p>
          <a:p>
            <a:endParaRPr/>
          </a:p>
          <a:p>
            <a:endParaRPr/>
          </a:p>
          <a:p>
            <a:r>
              <a:t>**Prerequisites:** Input parser in place</a:t>
            </a:r>
          </a:p>
          <a:p>
            <a:endParaRPr/>
          </a:p>
          <a:p>
            <a:r>
              <a:t>### Objectives</a:t>
            </a:r>
          </a:p>
          <a:p>
            <a:endParaRPr/>
          </a:p>
          <a:p>
            <a:r>
              <a:t>- Implement robust decimal parsing and validation.</a:t>
            </a:r>
          </a:p>
          <a:p>
            <a:endParaRPr/>
          </a:p>
          <a:p>
            <a:r>
              <a:t>### Activities</a:t>
            </a:r>
          </a:p>
          <a:p>
            <a:endParaRPr/>
          </a:p>
          <a:p>
            <a:r>
              <a:t>- Target parser rules, then validate with focused tests.</a:t>
            </a:r>
          </a:p>
          <a:p>
            <a:endParaRPr/>
          </a:p>
          <a:p>
            <a:r>
              <a:t>### Success Criteria</a:t>
            </a:r>
          </a:p>
          <a:p>
            <a:endParaRPr/>
          </a:p>
          <a:p>
            <a:r>
              <a:t>- No duplicate decimal points accepted.</a:t>
            </a:r>
          </a:p>
          <a:p>
            <a:r>
              <a:t>- Decimal math behaves correctly.</a:t>
            </a:r>
          </a:p>
          <a:p>
            <a:endParaRPr/>
          </a:p>
          <a:p>
            <a:r>
              <a:t>---</a:t>
            </a:r>
          </a:p>
          <a:p>
            <a:endParaRPr/>
          </a:p>
          <a:p>
            <a:r>
              <a:t>Source: Slides\individual-slides\exercise-calculator-project.md</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~00:08</a:t>
            </a:r>
          </a:p>
          <a:p>
            <a:endParaRPr/>
          </a:p>
          <a:p>
            <a:endParaRPr/>
          </a:p>
          <a:p>
            <a:r>
              <a:t>**Prerequisites:** Numeric input flow functioning</a:t>
            </a:r>
          </a:p>
          <a:p>
            <a:endParaRPr/>
          </a:p>
          <a:p>
            <a:r>
              <a:t>### Objectives</a:t>
            </a:r>
          </a:p>
          <a:p>
            <a:endParaRPr/>
          </a:p>
          <a:p>
            <a:r>
              <a:t>- Add predictable sign toggling.</a:t>
            </a:r>
          </a:p>
          <a:p>
            <a:endParaRPr/>
          </a:p>
          <a:p>
            <a:r>
              <a:t>### Activities</a:t>
            </a:r>
          </a:p>
          <a:p>
            <a:endParaRPr/>
          </a:p>
          <a:p>
            <a:r>
              <a:t>- Keep implementation minimal and test transitions.</a:t>
            </a:r>
          </a:p>
          <a:p>
            <a:endParaRPr/>
          </a:p>
          <a:p>
            <a:r>
              <a:t>### Success Criteria</a:t>
            </a:r>
          </a:p>
          <a:p>
            <a:endParaRPr/>
          </a:p>
          <a:p>
            <a:r>
              <a:t>- Toggle is stable across value states.</a:t>
            </a:r>
          </a:p>
          <a:p>
            <a:endParaRPr/>
          </a:p>
          <a:p>
            <a:r>
              <a:t>---</a:t>
            </a:r>
          </a:p>
          <a:p>
            <a:endParaRPr/>
          </a:p>
          <a:p>
            <a:r>
              <a:t>Source: Slides\individual-slides\exercise-calculator-project.md</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~00:15</a:t>
            </a:r>
          </a:p>
          <a:p>
            <a:endParaRPr/>
          </a:p>
          <a:p>
            <a:endParaRPr/>
          </a:p>
          <a:p>
            <a:r>
              <a:t>**Prerequisites:** Core arithmetic implemented</a:t>
            </a:r>
          </a:p>
          <a:p>
            <a:endParaRPr/>
          </a:p>
          <a:p>
            <a:r>
              <a:t>### Objectives</a:t>
            </a:r>
          </a:p>
          <a:p>
            <a:endParaRPr/>
          </a:p>
          <a:p>
            <a:r>
              <a:t>- Align percentage behavior with user expectations.</a:t>
            </a:r>
          </a:p>
          <a:p>
            <a:endParaRPr/>
          </a:p>
          <a:p>
            <a:r>
              <a:t>### Activities</a:t>
            </a:r>
          </a:p>
          <a:p>
            <a:endParaRPr/>
          </a:p>
          <a:p>
            <a:r>
              <a:t>- Compare generated logic with known calculator semantics.</a:t>
            </a:r>
          </a:p>
          <a:p>
            <a:endParaRPr/>
          </a:p>
          <a:p>
            <a:r>
              <a:t>### Success Criteria</a:t>
            </a:r>
          </a:p>
          <a:p>
            <a:endParaRPr/>
          </a:p>
          <a:p>
            <a:r>
              <a:t>- Three key percentage patterns operate correctly.</a:t>
            </a:r>
          </a:p>
          <a:p>
            <a:endParaRPr/>
          </a:p>
          <a:p>
            <a:r>
              <a:t>---</a:t>
            </a:r>
          </a:p>
          <a:p>
            <a:endParaRPr/>
          </a:p>
          <a:p>
            <a:r>
              <a:t>Source: Slides\individual-slides\exercise-calculator-project.md</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~00:18</a:t>
            </a:r>
          </a:p>
          <a:p>
            <a:endParaRPr/>
          </a:p>
          <a:p>
            <a:endParaRPr/>
          </a:p>
          <a:p>
            <a:r>
              <a:t>**Prerequisites:** Calculator state architecture defined</a:t>
            </a:r>
          </a:p>
          <a:p>
            <a:endParaRPr/>
          </a:p>
          <a:p>
            <a:r>
              <a:t>### Objectives</a:t>
            </a:r>
          </a:p>
          <a:p>
            <a:endParaRPr/>
          </a:p>
          <a:p>
            <a:r>
              <a:t>- Add reliable memory operations.</a:t>
            </a:r>
          </a:p>
          <a:p>
            <a:endParaRPr/>
          </a:p>
          <a:p>
            <a:r>
              <a:t>### Activities</a:t>
            </a:r>
          </a:p>
          <a:p>
            <a:endParaRPr/>
          </a:p>
          <a:p>
            <a:r>
              <a:t>- Ensure memory state is explicit and testable.</a:t>
            </a:r>
          </a:p>
          <a:p>
            <a:endParaRPr/>
          </a:p>
          <a:p>
            <a:r>
              <a:t>### Success Criteria</a:t>
            </a:r>
          </a:p>
          <a:p>
            <a:endParaRPr/>
          </a:p>
          <a:p>
            <a:r>
              <a:t>- Memory operations are consistent and validated.</a:t>
            </a:r>
          </a:p>
          <a:p>
            <a:endParaRPr/>
          </a:p>
          <a:p>
            <a:r>
              <a:t>---</a:t>
            </a:r>
          </a:p>
          <a:p>
            <a:endParaRPr/>
          </a:p>
          <a:p>
            <a:r>
              <a:t>Source: Slides\individual-slides\exercise-calculator-project.md</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~00:10</a:t>
            </a:r>
          </a:p>
          <a:p>
            <a:endParaRPr/>
          </a:p>
          <a:p>
            <a:endParaRPr/>
          </a:p>
          <a:p>
            <a:r>
              <a:t>**Prerequisites:** Core operations implemented</a:t>
            </a:r>
          </a:p>
          <a:p>
            <a:endParaRPr/>
          </a:p>
          <a:p>
            <a:r>
              <a:t>### Objectives</a:t>
            </a:r>
          </a:p>
          <a:p>
            <a:endParaRPr/>
          </a:p>
          <a:p>
            <a:r>
              <a:t>- Build robust error paths without breaking user flow.</a:t>
            </a:r>
          </a:p>
          <a:p>
            <a:endParaRPr/>
          </a:p>
          <a:p>
            <a:r>
              <a:t>### Activities</a:t>
            </a:r>
          </a:p>
          <a:p>
            <a:endParaRPr/>
          </a:p>
          <a:p>
            <a:r>
              <a:t>- Validate both error detection and post-error recovery.</a:t>
            </a:r>
          </a:p>
          <a:p>
            <a:endParaRPr/>
          </a:p>
          <a:p>
            <a:r>
              <a:t>### Success Criteria</a:t>
            </a:r>
          </a:p>
          <a:p>
            <a:endParaRPr/>
          </a:p>
          <a:p>
            <a:r>
              <a:t>- Error handling is visible, predictable, and recoverable.</a:t>
            </a:r>
          </a:p>
          <a:p>
            <a:endParaRPr/>
          </a:p>
          <a:p>
            <a:r>
              <a:t>---</a:t>
            </a:r>
          </a:p>
          <a:p>
            <a:endParaRPr/>
          </a:p>
          <a:p>
            <a:r>
              <a:t>Source: Slides\individual-slides\exercise-calculator-project.md</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~00:15</a:t>
            </a:r>
          </a:p>
          <a:p>
            <a:endParaRPr/>
          </a:p>
          <a:p>
            <a:endParaRPr/>
          </a:p>
          <a:p>
            <a:r>
              <a:t>**Prerequisites:** Advanced operation framework available</a:t>
            </a:r>
          </a:p>
          <a:p>
            <a:endParaRPr/>
          </a:p>
          <a:p>
            <a:r>
              <a:t>### Objectives</a:t>
            </a:r>
          </a:p>
          <a:p>
            <a:endParaRPr/>
          </a:p>
          <a:p>
            <a:r>
              <a:t>- Add trig support with explicit angle-mode handling.</a:t>
            </a:r>
          </a:p>
          <a:p>
            <a:endParaRPr/>
          </a:p>
          <a:p>
            <a:r>
              <a:t>### Activities</a:t>
            </a:r>
          </a:p>
          <a:p>
            <a:endParaRPr/>
          </a:p>
          <a:p>
            <a:r>
              <a:t>- Implement and validate both behavior and mode switching.</a:t>
            </a:r>
          </a:p>
          <a:p>
            <a:endParaRPr/>
          </a:p>
          <a:p>
            <a:r>
              <a:t>### Success Criteria</a:t>
            </a:r>
          </a:p>
          <a:p>
            <a:endParaRPr/>
          </a:p>
          <a:p>
            <a:r>
              <a:t>- Trig pipeline works end-to-end with tested expectations.</a:t>
            </a:r>
          </a:p>
          <a:p>
            <a:endParaRPr/>
          </a:p>
          <a:p>
            <a:r>
              <a:t>---</a:t>
            </a:r>
          </a:p>
          <a:p>
            <a:endParaRPr/>
          </a:p>
          <a:p>
            <a:r>
              <a:t>Source: Slides\individual-slides\exercise-calculator-project.md</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~00:15</a:t>
            </a:r>
          </a:p>
          <a:p>
            <a:endParaRPr/>
          </a:p>
          <a:p>
            <a:endParaRPr/>
          </a:p>
          <a:p>
            <a:r>
              <a:t>**Prerequisites:** Core logic stable and testable</a:t>
            </a:r>
          </a:p>
          <a:p>
            <a:endParaRPr/>
          </a:p>
          <a:p>
            <a:r>
              <a:t>### Objectives</a:t>
            </a:r>
          </a:p>
          <a:p>
            <a:endParaRPr/>
          </a:p>
          <a:p>
            <a:r>
              <a:t>- Wire UI interactions cleanly to existing logic.</a:t>
            </a:r>
          </a:p>
          <a:p>
            <a:endParaRPr/>
          </a:p>
          <a:p>
            <a:r>
              <a:t>### Activities</a:t>
            </a:r>
          </a:p>
          <a:p>
            <a:endParaRPr/>
          </a:p>
          <a:p>
            <a:r>
              <a:t>- Prioritize event mapping clarity over visual polish.</a:t>
            </a:r>
          </a:p>
          <a:p>
            <a:endParaRPr/>
          </a:p>
          <a:p>
            <a:r>
              <a:t>### Success Criteria</a:t>
            </a:r>
          </a:p>
          <a:p>
            <a:endParaRPr/>
          </a:p>
          <a:p>
            <a:r>
              <a:t>- Workflow passes from input to output with no breaks.</a:t>
            </a:r>
          </a:p>
          <a:p>
            <a:endParaRPr/>
          </a:p>
          <a:p>
            <a:r>
              <a:t>---</a:t>
            </a:r>
          </a:p>
          <a:p>
            <a:endParaRPr/>
          </a:p>
          <a:p>
            <a:r>
              <a:t>Source: Slides\individual-slides\exercise-calculator-project.md</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~01:00</a:t>
            </a:r>
          </a:p>
          <a:p>
            <a:endParaRPr/>
          </a:p>
          <a:p>
            <a:endParaRPr/>
          </a:p>
          <a:p>
            <a:r>
              <a:t>**Prerequisites:** Calculator logic implemented</a:t>
            </a:r>
          </a:p>
          <a:p>
            <a:endParaRPr/>
          </a:p>
          <a:p>
            <a:r>
              <a:t>### Objectives</a:t>
            </a:r>
          </a:p>
          <a:p>
            <a:endParaRPr/>
          </a:p>
          <a:p>
            <a:r>
              <a:t>- Improve test quality, not just test count.</a:t>
            </a:r>
          </a:p>
          <a:p>
            <a:endParaRPr/>
          </a:p>
          <a:p>
            <a:r>
              <a:t>### Activities</a:t>
            </a:r>
          </a:p>
          <a:p>
            <a:endParaRPr/>
          </a:p>
          <a:p>
            <a:r>
              <a:t>- Review generated tests critically before accepting.</a:t>
            </a:r>
          </a:p>
          <a:p>
            <a:endParaRPr/>
          </a:p>
          <a:p>
            <a:r>
              <a:t>### Success Criteria</a:t>
            </a:r>
          </a:p>
          <a:p>
            <a:endParaRPr/>
          </a:p>
          <a:p>
            <a:r>
              <a:t>- Test suite is meaningful, comprehensive, and green.</a:t>
            </a:r>
          </a:p>
          <a:p>
            <a:endParaRPr/>
          </a:p>
          <a:p>
            <a:r>
              <a:t>---</a:t>
            </a:r>
          </a:p>
          <a:p>
            <a:endParaRPr/>
          </a:p>
          <a:p>
            <a:r>
              <a:t>Source: Slides\individual-slides\exercise-calculator-project.md</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~00:40</a:t>
            </a:r>
          </a:p>
          <a:p>
            <a:endParaRPr/>
          </a:p>
          <a:p>
            <a:endParaRPr/>
          </a:p>
          <a:p>
            <a:r>
              <a:t>**Prerequisites:** Stable test suite</a:t>
            </a:r>
          </a:p>
          <a:p>
            <a:endParaRPr/>
          </a:p>
          <a:p>
            <a:r>
              <a:t>### Objectives</a:t>
            </a:r>
          </a:p>
          <a:p>
            <a:endParaRPr/>
          </a:p>
          <a:p>
            <a:r>
              <a:t>- Use coverage as a guide for targeted testing.</a:t>
            </a:r>
          </a:p>
          <a:p>
            <a:endParaRPr/>
          </a:p>
          <a:p>
            <a:r>
              <a:t>### Activities</a:t>
            </a:r>
          </a:p>
          <a:p>
            <a:endParaRPr/>
          </a:p>
          <a:p>
            <a:r>
              <a:t>- Treat uncovered code as investigation points, not automatic defects.</a:t>
            </a:r>
          </a:p>
          <a:p>
            <a:endParaRPr/>
          </a:p>
          <a:p>
            <a:r>
              <a:t>### Success Criteria</a:t>
            </a:r>
          </a:p>
          <a:p>
            <a:endParaRPr/>
          </a:p>
          <a:p>
            <a:r>
              <a:t>- Coverage setup works and leads to actionable improvements.</a:t>
            </a:r>
          </a:p>
          <a:p>
            <a:endParaRPr/>
          </a:p>
          <a:p>
            <a:r>
              <a:t>---</a:t>
            </a:r>
          </a:p>
          <a:p>
            <a:endParaRPr/>
          </a:p>
          <a:p>
            <a:r>
              <a:t>Source: Slides\individual-slides\exercise-calculator-project.md</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~00:40</a:t>
            </a:r>
          </a:p>
          <a:p>
            <a:endParaRPr/>
          </a:p>
          <a:p>
            <a:endParaRPr/>
          </a:p>
          <a:p>
            <a:r>
              <a:t>**Prerequisites:** Build/test environment configured</a:t>
            </a:r>
          </a:p>
          <a:p>
            <a:endParaRPr/>
          </a:p>
          <a:p>
            <a:r>
              <a:t>### Objectives</a:t>
            </a:r>
          </a:p>
          <a:p>
            <a:endParaRPr/>
          </a:p>
          <a:p>
            <a:r>
              <a:t>- Build confidence in diagnosing and fixing dependency failures.</a:t>
            </a:r>
          </a:p>
          <a:p>
            <a:endParaRPr/>
          </a:p>
          <a:p>
            <a:r>
              <a:t>### Activities</a:t>
            </a:r>
          </a:p>
          <a:p>
            <a:endParaRPr/>
          </a:p>
          <a:p>
            <a:r>
              <a:t>- Emphasize iterative debugging and evidence-based prompts.</a:t>
            </a:r>
          </a:p>
          <a:p>
            <a:endParaRPr/>
          </a:p>
          <a:p>
            <a:r>
              <a:t>### Success Criteria</a:t>
            </a:r>
          </a:p>
          <a:p>
            <a:endParaRPr/>
          </a:p>
          <a:p>
            <a:r>
              <a:t>- Issue resolution is repeatable and well-documented.</a:t>
            </a:r>
          </a:p>
          <a:p>
            <a:endParaRPr/>
          </a:p>
          <a:p>
            <a:r>
              <a:t>---</a:t>
            </a:r>
          </a:p>
          <a:p>
            <a:endParaRPr/>
          </a:p>
          <a:p>
            <a:r>
              <a:t>Source: Slides\individual-slides\exercise-calculator-project.md</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~00:40</a:t>
            </a:r>
          </a:p>
          <a:p>
            <a:endParaRPr/>
          </a:p>
          <a:p>
            <a:endParaRPr/>
          </a:p>
          <a:p>
            <a:r>
              <a:t>**Prerequisites:** Working project baseline</a:t>
            </a:r>
          </a:p>
          <a:p>
            <a:endParaRPr/>
          </a:p>
          <a:p>
            <a:r>
              <a:t>### Objectives</a:t>
            </a:r>
          </a:p>
          <a:p>
            <a:endParaRPr/>
          </a:p>
          <a:p>
            <a:r>
              <a:t>- Turn AI suggestions into intentional quality improvements.</a:t>
            </a:r>
          </a:p>
          <a:p>
            <a:endParaRPr/>
          </a:p>
          <a:p>
            <a:r>
              <a:t>### Activities</a:t>
            </a:r>
          </a:p>
          <a:p>
            <a:endParaRPr/>
          </a:p>
          <a:p>
            <a:r>
              <a:t>- Keep only changes with clear maintainability value.</a:t>
            </a:r>
          </a:p>
          <a:p>
            <a:endParaRPr/>
          </a:p>
          <a:p>
            <a:r>
              <a:t>### Success Criteria</a:t>
            </a:r>
          </a:p>
          <a:p>
            <a:endParaRPr/>
          </a:p>
          <a:p>
            <a:r>
              <a:t>- Improvements are justified and validated.</a:t>
            </a:r>
          </a:p>
          <a:p>
            <a:endParaRPr/>
          </a:p>
          <a:p>
            <a:r>
              <a:t>---</a:t>
            </a:r>
          </a:p>
          <a:p>
            <a:endParaRPr/>
          </a:p>
          <a:p>
            <a:r>
              <a:t>Source: Slides\individual-slides\exercise-calculator-project.md</a:t>
            </a:r>
          </a:p>
        </p:txBody>
      </p:sp>
      <p:sp>
        <p:nvSpPr>
          <p:cNvPr id="4" name="Slide Number Placeholder 3"/>
          <p:cNvSpPr>
            <a:spLocks noGrp="1"/>
          </p:cNvSpPr>
          <p:nvPr>
            <p:ph type="sldNum" sz="quarter" idx="5"/>
          </p:nvPr>
        </p:nvSpPr>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~00:30</a:t>
            </a:r>
          </a:p>
          <a:p>
            <a:endParaRPr/>
          </a:p>
          <a:p>
            <a:endParaRPr/>
          </a:p>
          <a:p>
            <a:r>
              <a:t>**Prerequisites:** Access to multiple model options</a:t>
            </a:r>
          </a:p>
          <a:p>
            <a:endParaRPr/>
          </a:p>
          <a:p>
            <a:r>
              <a:t>### Objectives</a:t>
            </a:r>
          </a:p>
          <a:p>
            <a:endParaRPr/>
          </a:p>
          <a:p>
            <a:r>
              <a:t>- Build practical model-selection judgment.</a:t>
            </a:r>
          </a:p>
          <a:p>
            <a:endParaRPr/>
          </a:p>
          <a:p>
            <a:r>
              <a:t>### Activities</a:t>
            </a:r>
          </a:p>
          <a:p>
            <a:endParaRPr/>
          </a:p>
          <a:p>
            <a:r>
              <a:t>- Compare quality, speed, and token cost for same prompt.</a:t>
            </a:r>
          </a:p>
          <a:p>
            <a:endParaRPr/>
          </a:p>
          <a:p>
            <a:r>
              <a:t>### Success Criteria</a:t>
            </a:r>
          </a:p>
          <a:p>
            <a:endParaRPr/>
          </a:p>
          <a:p>
            <a:r>
              <a:t>- Team can explain when premium models are worth it.</a:t>
            </a:r>
          </a:p>
          <a:p>
            <a:endParaRPr/>
          </a:p>
          <a:p>
            <a:r>
              <a:t>---</a:t>
            </a:r>
          </a:p>
          <a:p>
            <a:endParaRPr/>
          </a:p>
          <a:p>
            <a:r>
              <a:t>Source: Slides\individual-slides\exercise-calculator-project.md</a:t>
            </a:r>
          </a:p>
        </p:txBody>
      </p:sp>
      <p:sp>
        <p:nvSpPr>
          <p:cNvPr id="4" name="Slide Number Placeholder 3"/>
          <p:cNvSpPr>
            <a:spLocks noGrp="1"/>
          </p:cNvSpPr>
          <p:nvPr>
            <p:ph type="sldNum" sz="quarter" idx="5"/>
          </p:nvPr>
        </p:nvSpPr>
        <p:spPr/>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~00:15</a:t>
            </a:r>
          </a:p>
          <a:p>
            <a:endParaRPr/>
          </a:p>
          <a:p>
            <a:endParaRPr/>
          </a:p>
          <a:p>
            <a:r>
              <a:t>**Prerequisites:** UI and logic currently coupled</a:t>
            </a:r>
          </a:p>
          <a:p>
            <a:endParaRPr/>
          </a:p>
          <a:p>
            <a:r>
              <a:t>### Objectives</a:t>
            </a:r>
          </a:p>
          <a:p>
            <a:endParaRPr/>
          </a:p>
          <a:p>
            <a:r>
              <a:t>- Improve architecture through separation of concerns.</a:t>
            </a:r>
          </a:p>
          <a:p>
            <a:endParaRPr/>
          </a:p>
          <a:p>
            <a:r>
              <a:t>### Activities</a:t>
            </a:r>
          </a:p>
          <a:p>
            <a:endParaRPr/>
          </a:p>
          <a:p>
            <a:r>
              <a:t>- Create clear, testable boundaries between UI and engine.</a:t>
            </a:r>
          </a:p>
          <a:p>
            <a:endParaRPr/>
          </a:p>
          <a:p>
            <a:r>
              <a:t>### Success Criteria</a:t>
            </a:r>
          </a:p>
          <a:p>
            <a:endParaRPr/>
          </a:p>
          <a:p>
            <a:r>
              <a:t>- Core logic is isolated and reusable.</a:t>
            </a:r>
          </a:p>
          <a:p>
            <a:endParaRPr/>
          </a:p>
          <a:p>
            <a:r>
              <a:t>---</a:t>
            </a:r>
          </a:p>
          <a:p>
            <a:endParaRPr/>
          </a:p>
          <a:p>
            <a:r>
              <a:t>Source: Slides\individual-slides\exercise-calculator-project.md</a:t>
            </a:r>
          </a:p>
        </p:txBody>
      </p:sp>
      <p:sp>
        <p:nvSpPr>
          <p:cNvPr id="4" name="Slide Number Placeholder 3"/>
          <p:cNvSpPr>
            <a:spLocks noGrp="1"/>
          </p:cNvSpPr>
          <p:nvPr>
            <p:ph type="sldNum" sz="quarter" idx="5"/>
          </p:nvPr>
        </p:nvSpPr>
        <p:spPr/>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~00:40</a:t>
            </a:r>
          </a:p>
          <a:p>
            <a:endParaRPr/>
          </a:p>
          <a:p>
            <a:endParaRPr/>
          </a:p>
          <a:p>
            <a:r>
              <a:t>**Prerequisites:** Functional calculator project</a:t>
            </a:r>
          </a:p>
          <a:p>
            <a:endParaRPr/>
          </a:p>
          <a:p>
            <a:r>
              <a:t>### Objectives</a:t>
            </a:r>
          </a:p>
          <a:p>
            <a:endParaRPr/>
          </a:p>
          <a:p>
            <a:r>
              <a:t>- Apply practical security checks to working code.</a:t>
            </a:r>
          </a:p>
          <a:p>
            <a:endParaRPr/>
          </a:p>
          <a:p>
            <a:r>
              <a:t>### Activities</a:t>
            </a:r>
          </a:p>
          <a:p>
            <a:endParaRPr/>
          </a:p>
          <a:p>
            <a:r>
              <a:t>- Validate fixes with tests and review, not assumptions.</a:t>
            </a:r>
          </a:p>
          <a:p>
            <a:endParaRPr/>
          </a:p>
          <a:p>
            <a:r>
              <a:t>### Success Criteria</a:t>
            </a:r>
          </a:p>
          <a:p>
            <a:endParaRPr/>
          </a:p>
          <a:p>
            <a:r>
              <a:t>- Security posture improves with documented rationale.</a:t>
            </a:r>
          </a:p>
          <a:p>
            <a:endParaRPr/>
          </a:p>
          <a:p>
            <a:r>
              <a:t>---</a:t>
            </a:r>
          </a:p>
          <a:p>
            <a:endParaRPr/>
          </a:p>
          <a:p>
            <a:r>
              <a:t>Source: Slides\individual-slides\exercise-calculator-project.md</a:t>
            </a:r>
          </a:p>
        </p:txBody>
      </p:sp>
      <p:sp>
        <p:nvSpPr>
          <p:cNvPr id="4" name="Slide Number Placeholder 3"/>
          <p:cNvSpPr>
            <a:spLocks noGrp="1"/>
          </p:cNvSpPr>
          <p:nvPr>
            <p:ph type="sldNum" sz="quarter" idx="5"/>
          </p:nvPr>
        </p:nvSpPr>
        <p:spPr/>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~00:40</a:t>
            </a:r>
          </a:p>
          <a:p>
            <a:endParaRPr/>
          </a:p>
          <a:p>
            <a:endParaRPr/>
          </a:p>
          <a:p>
            <a:r>
              <a:t>**Prerequisites:** Stable code to document</a:t>
            </a:r>
          </a:p>
          <a:p>
            <a:endParaRPr/>
          </a:p>
          <a:p>
            <a:r>
              <a:t>### Objectives</a:t>
            </a:r>
          </a:p>
          <a:p>
            <a:endParaRPr/>
          </a:p>
          <a:p>
            <a:r>
              <a:t>- Produce maintainable, user-focused documentation.</a:t>
            </a:r>
          </a:p>
          <a:p>
            <a:endParaRPr/>
          </a:p>
          <a:p>
            <a:r>
              <a:t>### Activities</a:t>
            </a:r>
          </a:p>
          <a:p>
            <a:endParaRPr/>
          </a:p>
          <a:p>
            <a:r>
              <a:t>- Treat generated docs as drafts requiring technical review.</a:t>
            </a:r>
          </a:p>
          <a:p>
            <a:endParaRPr/>
          </a:p>
          <a:p>
            <a:r>
              <a:t>### Success Criteria</a:t>
            </a:r>
          </a:p>
          <a:p>
            <a:endParaRPr/>
          </a:p>
          <a:p>
            <a:r>
              <a:t>- Docs are complete, correct, and actionable.</a:t>
            </a:r>
          </a:p>
          <a:p>
            <a:endParaRPr/>
          </a:p>
          <a:p>
            <a:r>
              <a:t>---</a:t>
            </a:r>
          </a:p>
          <a:p>
            <a:endParaRPr/>
          </a:p>
          <a:p>
            <a:r>
              <a:t>Source: Slides\individual-slides\exercise-calculator-project.md</a:t>
            </a:r>
          </a:p>
        </p:txBody>
      </p:sp>
      <p:sp>
        <p:nvSpPr>
          <p:cNvPr id="4" name="Slide Number Placeholder 3"/>
          <p:cNvSpPr>
            <a:spLocks noGrp="1"/>
          </p:cNvSpPr>
          <p:nvPr>
            <p:ph type="sldNum" sz="quarter" idx="5"/>
          </p:nvPr>
        </p:nvSpPr>
        <p:spPr/>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~00:40</a:t>
            </a:r>
          </a:p>
          <a:p>
            <a:endParaRPr/>
          </a:p>
          <a:p>
            <a:endParaRPr/>
          </a:p>
          <a:p>
            <a:r>
              <a:t>**Prerequisites:** Existing implementation with improvement opportunities</a:t>
            </a:r>
          </a:p>
          <a:p>
            <a:endParaRPr/>
          </a:p>
          <a:p>
            <a:r>
              <a:t>### Objectives</a:t>
            </a:r>
          </a:p>
          <a:p>
            <a:endParaRPr/>
          </a:p>
          <a:p>
            <a:r>
              <a:t>- Use AI for option generation, then apply engineering judgment.</a:t>
            </a:r>
          </a:p>
          <a:p>
            <a:endParaRPr/>
          </a:p>
          <a:p>
            <a:r>
              <a:t>### Activities</a:t>
            </a:r>
          </a:p>
          <a:p>
            <a:endParaRPr/>
          </a:p>
          <a:p>
            <a:r>
              <a:t>- Compare alternatives using explicit criteria.</a:t>
            </a:r>
          </a:p>
          <a:p>
            <a:endParaRPr/>
          </a:p>
          <a:p>
            <a:r>
              <a:t>### Success Criteria</a:t>
            </a:r>
          </a:p>
          <a:p>
            <a:endParaRPr/>
          </a:p>
          <a:p>
            <a:r>
              <a:t>- Selected refactor improves clarity without regressions.</a:t>
            </a:r>
          </a:p>
          <a:p>
            <a:endParaRPr/>
          </a:p>
          <a:p>
            <a:r>
              <a:t>---</a:t>
            </a:r>
          </a:p>
          <a:p>
            <a:endParaRPr/>
          </a:p>
          <a:p>
            <a:r>
              <a:t>Source: Slides\individual-slides\exercise-calculator-project.md</a:t>
            </a:r>
          </a:p>
        </p:txBody>
      </p:sp>
      <p:sp>
        <p:nvSpPr>
          <p:cNvPr id="4" name="Slide Number Placeholder 3"/>
          <p:cNvSpPr>
            <a:spLocks noGrp="1"/>
          </p:cNvSpPr>
          <p:nvPr>
            <p:ph type="sldNum" sz="quarter" idx="5"/>
          </p:nvPr>
        </p:nvSpPr>
        <p:spPr/>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~00:45</a:t>
            </a:r>
          </a:p>
          <a:p>
            <a:endParaRPr/>
          </a:p>
          <a:p>
            <a:endParaRPr/>
          </a:p>
          <a:p>
            <a:r>
              <a:t>**Prerequisites:** Lab 1 completed, existing test suite</a:t>
            </a:r>
          </a:p>
          <a:p>
            <a:endParaRPr/>
          </a:p>
          <a:p>
            <a:r>
              <a:t>### Objectives</a:t>
            </a:r>
          </a:p>
          <a:p>
            <a:endParaRPr/>
          </a:p>
          <a:p>
            <a:r>
              <a:t>- Analyze code coverage reports</a:t>
            </a:r>
          </a:p>
          <a:p>
            <a:r>
              <a:t>- Use Copilot to intelligently add tests</a:t>
            </a:r>
          </a:p>
          <a:p>
            <a:r>
              <a:t>- Achieve target coverage percentage</a:t>
            </a:r>
          </a:p>
          <a:p>
            <a:r>
              <a:t>- Balance quantity vs. quality of tests</a:t>
            </a:r>
          </a:p>
          <a:p>
            <a:endParaRPr/>
          </a:p>
          <a:p>
            <a:r>
              <a:t>### Activities</a:t>
            </a:r>
          </a:p>
          <a:p>
            <a:endParaRPr/>
          </a:p>
          <a:p>
            <a:r>
              <a:t>1. Review current coverage metrics and identify weak areas by file/class.</a:t>
            </a:r>
          </a:p>
          <a:p>
            <a:r>
              <a:t>2. Use Copilot prompts to generate targeted tests for uncovered code paths.</a:t>
            </a:r>
          </a:p>
          <a:p>
            <a:r>
              <a:t>3. Improve strategically with edge-case and integration-focused prompts.</a:t>
            </a:r>
          </a:p>
          <a:p>
            <a:r>
              <a:t>4. Validate test quality to ensure behavior is truly verified.</a:t>
            </a:r>
          </a:p>
          <a:p>
            <a:r>
              <a:t>5. Re-run coverage and compare before/after outcomes.</a:t>
            </a:r>
          </a:p>
          <a:p>
            <a:endParaRPr/>
          </a:p>
          <a:p>
            <a:r>
              <a:t>### Success Criteria</a:t>
            </a:r>
          </a:p>
          <a:p>
            <a:endParaRPr/>
          </a:p>
          <a:p>
            <a:r>
              <a:t>- Coverage increases by at least 20 percentage points.</a:t>
            </a:r>
          </a:p>
          <a:p>
            <a:r>
              <a:t>- New tests are meaningful and exercise actual implementation logic.</a:t>
            </a:r>
          </a:p>
          <a:p>
            <a:r>
              <a:t>- Edge cases and error conditions are covered.</a:t>
            </a:r>
          </a:p>
          <a:p>
            <a:r>
              <a:t>- Coverage reporting clearly shows improvement.</a:t>
            </a:r>
          </a:p>
          <a:p>
            <a:r>
              <a:t>- Participants can explain quality vs. quantity trade-offs.</a:t>
            </a:r>
          </a:p>
          <a:p>
            <a:endParaRPr/>
          </a:p>
          <a:p>
            <a:r>
              <a:t>### Key Learning Point</a:t>
            </a:r>
          </a:p>
          <a:p>
            <a:endParaRPr/>
          </a:p>
          <a:p>
            <a:r>
              <a:t>As discovered in the session, asking Copilot to "increase coverage to 50%" can work because it can intelligently identify which code paths need testing. This can be more efficient than manually finding every gap, but quality checks are still required.</a:t>
            </a:r>
          </a:p>
          <a:p>
            <a:endParaRPr/>
          </a:p>
          <a:p>
            <a:r>
              <a:t>---</a:t>
            </a:r>
          </a:p>
          <a:p>
            <a:endParaRPr/>
          </a:p>
          <a:p>
            <a:r>
              <a:t>Source: Slides\individual-slides\exercise-test-coverage-improvement.md</a:t>
            </a:r>
          </a:p>
        </p:txBody>
      </p:sp>
      <p:sp>
        <p:nvSpPr>
          <p:cNvPr id="4" name="Slide Number Placeholder 3"/>
          <p:cNvSpPr>
            <a:spLocks noGrp="1"/>
          </p:cNvSpPr>
          <p:nvPr>
            <p:ph type="sldNum" sz="quarter" idx="5"/>
          </p:nvPr>
        </p:nvSpPr>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~00:60</a:t>
            </a:r>
          </a:p>
          <a:p>
            <a:endParaRPr/>
          </a:p>
          <a:p>
            <a:endParaRPr/>
          </a:p>
          <a:p>
            <a:r>
              <a:t>**Prerequisites:** Understanding of TDD principles</a:t>
            </a:r>
          </a:p>
          <a:p>
            <a:endParaRPr/>
          </a:p>
          <a:p>
            <a:r>
              <a:t>### Objectives</a:t>
            </a:r>
          </a:p>
          <a:p>
            <a:endParaRPr/>
          </a:p>
          <a:p>
            <a:r>
              <a:t>- Practice TDD workflow with AI assistance</a:t>
            </a:r>
          </a:p>
          <a:p>
            <a:r>
              <a:t>- Write failing tests before implementation</a:t>
            </a:r>
          </a:p>
          <a:p>
            <a:r>
              <a:t>- Use tests to drive design decisions</a:t>
            </a:r>
          </a:p>
          <a:p>
            <a:r>
              <a:t>- Understand red-green-refactor cycle</a:t>
            </a:r>
          </a:p>
          <a:p>
            <a:endParaRPr/>
          </a:p>
          <a:p>
            <a:r>
              <a:t>### Activities</a:t>
            </a:r>
          </a:p>
          <a:p>
            <a:endParaRPr/>
          </a:p>
          <a:p>
            <a:r>
              <a:t>1. Select a small feature and define expected behavior.</a:t>
            </a:r>
          </a:p>
          <a:p>
            <a:r>
              <a:t>2. Ask Copilot for tests only, and confirm the implementation is still missing.</a:t>
            </a:r>
          </a:p>
          <a:p>
            <a:r>
              <a:t>3. Run tests and capture failures to validate the red phase.</a:t>
            </a:r>
          </a:p>
          <a:p>
            <a:r>
              <a:t>4. Implement the minimum code required to satisfy tests.</a:t>
            </a:r>
          </a:p>
          <a:p>
            <a:r>
              <a:t>5. Refactor for readability and maintainability while keeping tests green.</a:t>
            </a:r>
          </a:p>
          <a:p>
            <a:endParaRPr/>
          </a:p>
          <a:p>
            <a:r>
              <a:t>### Success Criteria</a:t>
            </a:r>
          </a:p>
          <a:p>
            <a:endParaRPr/>
          </a:p>
          <a:p>
            <a:r>
              <a:t>- Tests are authored before implementation code.</a:t>
            </a:r>
          </a:p>
          <a:p>
            <a:r>
              <a:t>- The first execution clearly fails (red).</a:t>
            </a:r>
          </a:p>
          <a:p>
            <a:r>
              <a:t>- Feature implementation makes tests pass (green).</a:t>
            </a:r>
          </a:p>
          <a:p>
            <a:r>
              <a:t>- Refactoring preserves passing tests.</a:t>
            </a:r>
          </a:p>
          <a:p>
            <a:r>
              <a:t>- Participants can explain the value of TDD in AI-assisted development.</a:t>
            </a:r>
          </a:p>
          <a:p>
            <a:endParaRPr/>
          </a:p>
          <a:p>
            <a:r>
              <a:t>### TDD Cycle</a:t>
            </a:r>
          </a:p>
          <a:p>
            <a:endParaRPr/>
          </a:p>
          <a:p>
            <a:r>
              <a:t>1. **Red:** Write a failing test.</a:t>
            </a:r>
          </a:p>
          <a:p>
            <a:r>
              <a:t>2. **Green:** Write minimal code to make it pass.</a:t>
            </a:r>
          </a:p>
          <a:p>
            <a:r>
              <a:t>3. **Refactor:** Improve code while keeping tests green.</a:t>
            </a:r>
          </a:p>
          <a:p>
            <a:endParaRPr/>
          </a:p>
          <a:p>
            <a:r>
              <a:t>---</a:t>
            </a:r>
          </a:p>
          <a:p>
            <a:endParaRPr/>
          </a:p>
          <a:p>
            <a:r>
              <a:t>Source: Slides\individual-slides\exercise-test-driven-development.md</a:t>
            </a:r>
          </a:p>
        </p:txBody>
      </p:sp>
      <p:sp>
        <p:nvSpPr>
          <p:cNvPr id="4" name="Slide Number Placeholder 3"/>
          <p:cNvSpPr>
            <a:spLocks noGrp="1"/>
          </p:cNvSpPr>
          <p:nvPr>
            <p:ph type="sldNum" sz="quarter" idx="5"/>
          </p:nvPr>
        </p:nvSpPr>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Introduce this module as a practical guide to using AI — specifically GitHub Copilot — to design, generate, and maintain CI/CD pipelines on GitHub Actions. Emphasize that the goal is not to automate humans out of the loop but to reduce the friction between "intent" and "working YAML". Many teams struggle to get a pipeline right on the first try; AI dramatically shortens that feedback cycle.</a:t>
            </a:r>
          </a:p>
          <a:p>
            <a:endParaRPr/>
          </a:p>
          <a:p>
            <a:r>
              <a:t>---</a:t>
            </a:r>
          </a:p>
          <a:p>
            <a:endParaRPr/>
          </a:p>
          <a:p>
            <a:r>
              <a:t>Source: Slides\individual-slides\ai-assisted-cicd-pipelines.md</a:t>
            </a:r>
          </a:p>
        </p:txBody>
      </p:sp>
      <p:sp>
        <p:nvSpPr>
          <p:cNvPr id="4" name="Slide Number Placeholder 3"/>
          <p:cNvSpPr>
            <a:spLocks noGrp="1"/>
          </p:cNvSpPr>
          <p:nvPr>
            <p:ph type="sldNum" sz="quarter" idx="5"/>
          </p:nvPr>
        </p:nvSpPr>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with empathy. Most developers have lost an afternoon to a mis-indented YAML block or an unexpected breaking change in a third-party action. These are not skill failures — they are complexity failures. AI closes the gap between "I know what I want" and "here is the correct YAML to achieve it."</a:t>
            </a:r>
          </a:p>
          <a:p>
            <a:endParaRPr/>
          </a:p>
          <a:p>
            <a:r>
              <a:t>---</a:t>
            </a:r>
          </a:p>
          <a:p>
            <a:endParaRPr/>
          </a:p>
          <a:p>
            <a:r>
              <a:t>Source: Slides\individual-slides\ai-assisted-cicd-pipelines.md</a:t>
            </a:r>
          </a:p>
        </p:txBody>
      </p:sp>
      <p:sp>
        <p:nvSpPr>
          <p:cNvPr id="4" name="Slide Number Placeholder 3"/>
          <p:cNvSpPr>
            <a:spLocks noGrp="1"/>
          </p:cNvSpPr>
          <p:nvPr>
            <p:ph type="sldNum" sz="quarter" idx="5"/>
          </p:nvPr>
        </p:nvSpPr>
        <p:spPr/>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through the mental model: the developer provides intent, the AI provides syntactically correct, contextually appropriate YAML. This is not magic — the AI has seen thousands of pipelines. Stress that the developer still reviews and owns every line. AI accelerates the first draft and the debugging loop, not the decision-making.</a:t>
            </a:r>
          </a:p>
          <a:p>
            <a:endParaRPr/>
          </a:p>
          <a:p>
            <a:r>
              <a:t>---</a:t>
            </a:r>
          </a:p>
          <a:p>
            <a:endParaRPr/>
          </a:p>
          <a:p>
            <a:r>
              <a:t>Source: Slides\individual-slides\ai-assisted-cicd-pipelines.md</a:t>
            </a:r>
          </a:p>
        </p:txBody>
      </p:sp>
      <p:sp>
        <p:nvSpPr>
          <p:cNvPr id="4" name="Slide Number Placeholder 3"/>
          <p:cNvSpPr>
            <a:spLocks noGrp="1"/>
          </p:cNvSpPr>
          <p:nvPr>
            <p:ph type="sldNum" sz="quarter" idx="5"/>
          </p:nvPr>
        </p:nvSpPr>
        <p:spPr/>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Live demo opportunity: open a blank `.github/workflows/ci.yml` and type the prompt as a comment. Show how Copilot completes the file. Point out that the model understands dotnet CLI, the Coverlet report format, and the `codecov/codecov-action` convention. Then ask it to explain each step — students can use this to build mental models, not just cargo-cult YAML.</a:t>
            </a:r>
          </a:p>
          <a:p>
            <a:endParaRPr/>
          </a:p>
          <a:p>
            <a:r>
              <a:t>---</a:t>
            </a:r>
          </a:p>
          <a:p>
            <a:endParaRPr/>
          </a:p>
          <a:p>
            <a:r>
              <a:t>Source: Slides\individual-slides\ai-assisted-cicd-pipelines.md</a:t>
            </a:r>
          </a:p>
        </p:txBody>
      </p:sp>
      <p:sp>
        <p:nvSpPr>
          <p:cNvPr id="4" name="Slide Number Placeholder 3"/>
          <p:cNvSpPr>
            <a:spLocks noGrp="1"/>
          </p:cNvSpPr>
          <p:nvPr>
            <p:ph type="sldNum" sz="quarter" idx="5"/>
          </p:nvPr>
        </p:nvSpPr>
        <p:spPr/>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through each section: triggers, runner, checkout, SDK setup, restore, build, test. Point out `actions/checkout@v4` — a pinned major version. Ask students: what happens if you omit the `--no-restore` flag on build? What if `ubuntu-latest` changes? These are exactly the questions AI can help answer in context. Normalize asking the AI "why is this step here?" as a learning technique.</a:t>
            </a:r>
          </a:p>
          <a:p>
            <a:endParaRPr/>
          </a:p>
          <a:p>
            <a:r>
              <a:t>---</a:t>
            </a:r>
          </a:p>
          <a:p>
            <a:endParaRPr/>
          </a:p>
          <a:p>
            <a:r>
              <a:t>Source: Slides\individual-slides\ai-assisted-cicd-pipelines.md</a:t>
            </a:r>
          </a:p>
        </p:txBody>
      </p:sp>
      <p:sp>
        <p:nvSpPr>
          <p:cNvPr id="4" name="Slide Number Placeholder 3"/>
          <p:cNvSpPr>
            <a:spLocks noGrp="1"/>
          </p:cNvSpPr>
          <p:nvPr>
            <p:ph type="sldNum" sz="quarter" idx="5"/>
          </p:nvPr>
        </p:nvSpPr>
        <p:spPr/>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Coverage thresholds are one of the most common sources of confusion: where does the threshold live? In the test runner config? In the upload action? In a separate tool? AI answers this correctly for the specific framework in use. Demo: ask Copilot the same question for Jest, pytest, and dotnet — show that the answer differs and the AI knows the difference. Emphasize that a threshold without enforcement is just aspirational documentation.</a:t>
            </a:r>
          </a:p>
          <a:p>
            <a:endParaRPr/>
          </a:p>
          <a:p>
            <a:r>
              <a:t>---</a:t>
            </a:r>
          </a:p>
          <a:p>
            <a:endParaRPr/>
          </a:p>
          <a:p>
            <a:r>
              <a:t>Source: Slides\individual-slides\ai-assisted-cicd-pipelines.md</a:t>
            </a:r>
          </a:p>
        </p:txBody>
      </p:sp>
      <p:sp>
        <p:nvSpPr>
          <p:cNvPr id="4" name="Slide Number Placeholder 3"/>
          <p:cNvSpPr>
            <a:spLocks noGrp="1"/>
          </p:cNvSpPr>
          <p:nvPr>
            <p:ph type="sldNum" sz="quarter" idx="5"/>
          </p:nvPr>
        </p:nvSpPr>
        <p:spPr/>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Matrix builds and caching are two patterns that dramatically improve pipeline performance but are tedious to hand-write. Show how asking Copilot "add a matrix build for Windows and Ubuntu across .NET 7 and 8" produces the correct strategy block. Ask it to explain the cache key hash — students often do not realize that changing a .csproj file correctly invalidates the cache. Artifact upload is another common gap; AI fills it without needing to hunt through documentation.</a:t>
            </a:r>
          </a:p>
          <a:p>
            <a:endParaRPr/>
          </a:p>
          <a:p>
            <a:r>
              <a:t>---</a:t>
            </a:r>
          </a:p>
          <a:p>
            <a:endParaRPr/>
          </a:p>
          <a:p>
            <a:r>
              <a:t>Source: Slides\individual-slides\ai-assisted-cicd-pipelines.md</a:t>
            </a:r>
          </a:p>
        </p:txBody>
      </p:sp>
      <p:sp>
        <p:nvSpPr>
          <p:cNvPr id="4" name="Slide Number Placeholder 3"/>
          <p:cNvSpPr>
            <a:spLocks noGrp="1"/>
          </p:cNvSpPr>
          <p:nvPr>
            <p:ph type="sldNum" sz="quarter" idx="5"/>
          </p:nvPr>
        </p:nvSpPr>
        <p:spPr/>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Maintenance is where AI pays long-term dividends. Demo: paste a failing workflow log into Copilot Chat and ask what is wrong. The model can identify common error patterns — missing permissions, wrong branch reference, deprecated node version warnings. Also show the refactoring use case: large workflows become hard to read; AI can extract shared steps into reusable workflows with `workflow_call` triggers without breaking existing runs.</a:t>
            </a:r>
          </a:p>
          <a:p>
            <a:endParaRPr/>
          </a:p>
          <a:p>
            <a:r>
              <a:t>---</a:t>
            </a:r>
          </a:p>
          <a:p>
            <a:endParaRPr/>
          </a:p>
          <a:p>
            <a:r>
              <a:t>Source: Slides\individual-slides\ai-assisted-cicd-pipelines.md</a:t>
            </a:r>
          </a:p>
        </p:txBody>
      </p:sp>
      <p:sp>
        <p:nvSpPr>
          <p:cNvPr id="4" name="Slide Number Placeholder 3"/>
          <p:cNvSpPr>
            <a:spLocks noGrp="1"/>
          </p:cNvSpPr>
          <p:nvPr>
            <p:ph type="sldNum" sz="quarter" idx="5"/>
          </p:nvPr>
        </p:nvSpPr>
        <p:spPr/>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Reusable workflows (`workflow_call`) are a powerful but often underused GitHub Actions feature. Teams that copy-paste CI logic across repos accumulate drift. AI can audit an existing set of workflows, identify duplicated patterns, and generate a reusable workflow plus updated callers in a single conversation. Show the prompt: "Here are our five workflow files. Extract the test steps into a reusable workflow and update each caller." This is a real time-saver in large organizations.</a:t>
            </a:r>
          </a:p>
          <a:p>
            <a:endParaRPr/>
          </a:p>
          <a:p>
            <a:r>
              <a:t>---</a:t>
            </a:r>
          </a:p>
          <a:p>
            <a:endParaRPr/>
          </a:p>
          <a:p>
            <a:r>
              <a:t>Source: Slides\individual-slides\ai-assisted-cicd-pipelines.md</a:t>
            </a:r>
          </a:p>
        </p:txBody>
      </p:sp>
      <p:sp>
        <p:nvSpPr>
          <p:cNvPr id="4" name="Slide Number Placeholder 3"/>
          <p:cNvSpPr>
            <a:spLocks noGrp="1"/>
          </p:cNvSpPr>
          <p:nvPr>
            <p:ph type="sldNum" sz="quarter" idx="5"/>
          </p:nvPr>
        </p:nvSpPr>
        <p:spPr/>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Stress that AI can suggest correct permission scopes but cannot see your repository's secret store or org policies. The developer must verify secret names and confirm that the minimum-privilege principle is applied. This is a great moment to discuss GITHUB_TOKEN permissions — defaulting to read-all is a common mistake that AI will flag if prompted. The key habit: ask AI "what permissions does this step need?" rather than granting write-all and moving on.</a:t>
            </a:r>
          </a:p>
          <a:p>
            <a:endParaRPr/>
          </a:p>
          <a:p>
            <a:r>
              <a:t>---</a:t>
            </a:r>
          </a:p>
          <a:p>
            <a:endParaRPr/>
          </a:p>
          <a:p>
            <a:r>
              <a:t>Source: Slides\individual-slides\ai-assisted-cicd-pipelines.md</a:t>
            </a:r>
          </a:p>
        </p:txBody>
      </p:sp>
      <p:sp>
        <p:nvSpPr>
          <p:cNvPr id="4" name="Slide Number Placeholder 3"/>
          <p:cNvSpPr>
            <a:spLocks noGrp="1"/>
          </p:cNvSpPr>
          <p:nvPr>
            <p:ph type="sldNum" sz="quarter" idx="5"/>
          </p:nvPr>
        </p:nvSpPr>
        <p:spPr/>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through this five-step workflow live or in a recorded demo. The goal is to show the conversation as a dialogue, not a one-shot prompt. Each ask builds on the previous output. Encourage students to try this with their own stack immediately after the session. The pipeline does not need to be perfect on step 2 — that is the point. Iteration with AI is fast.</a:t>
            </a:r>
          </a:p>
          <a:p>
            <a:endParaRPr/>
          </a:p>
          <a:p>
            <a:r>
              <a:t>---</a:t>
            </a:r>
          </a:p>
          <a:p>
            <a:endParaRPr/>
          </a:p>
          <a:p>
            <a:r>
              <a:t>Source: Slides\individual-slides\ai-assisted-cicd-pipelines.md</a:t>
            </a:r>
          </a:p>
        </p:txBody>
      </p:sp>
      <p:sp>
        <p:nvSpPr>
          <p:cNvPr id="4" name="Slide Number Placeholder 3"/>
          <p:cNvSpPr>
            <a:spLocks noGrp="1"/>
          </p:cNvSpPr>
          <p:nvPr>
            <p:ph type="sldNum" sz="quarter" idx="5"/>
          </p:nvPr>
        </p:nvSpPr>
        <p:spPr/>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~00:20</a:t>
            </a:r>
          </a:p>
          <a:p>
            <a:endParaRPr/>
          </a:p>
          <a:p>
            <a:r>
              <a:t> Circulate and watch for students who try to use Copilot as a black box without reading the output. Prompt them: "Can you explain line 12 to me?" That question forces engagement. Common issues: students forget to create the `.github/workflows/` directory, or they use the wrong indentation. AI usually catches these if students paste the file back and ask "is this correct YAML?" Debrief: what surprised you? What did the AI get wrong?</a:t>
            </a:r>
          </a:p>
          <a:p>
            <a:endParaRPr/>
          </a:p>
          <a:p>
            <a:r>
              <a:t>---</a:t>
            </a:r>
          </a:p>
          <a:p>
            <a:endParaRPr/>
          </a:p>
          <a:p>
            <a:r>
              <a:t>Source: Slides\individual-slides\ai-assisted-cicd-pipelines.md</a:t>
            </a:r>
          </a:p>
        </p:txBody>
      </p:sp>
      <p:sp>
        <p:nvSpPr>
          <p:cNvPr id="4" name="Slide Number Placeholder 3"/>
          <p:cNvSpPr>
            <a:spLocks noGrp="1"/>
          </p:cNvSpPr>
          <p:nvPr>
            <p:ph type="sldNum" sz="quarter" idx="5"/>
          </p:nvPr>
        </p:nvSpPr>
        <p:spPr/>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by reinforcing ownership. Students may be tempted to treat AI-generated pipelines as authoritative. Remind them that the AI has no knowledge of their org's compliance requirements, runner quotas, or secret naming conventions. The value is in speed and correctness of syntax — the developer still provides judgment. Leave time for questions; common ones are about self-hosted runners, environments and approval gates, and how to handle monorepos.</a:t>
            </a:r>
          </a:p>
          <a:p>
            <a:endParaRPr/>
          </a:p>
          <a:p>
            <a:r>
              <a:t>---</a:t>
            </a:r>
          </a:p>
          <a:p>
            <a:endParaRPr/>
          </a:p>
          <a:p>
            <a:r>
              <a:t>Source: Slides\individual-slides\ai-assisted-cicd-pipelines.md</a:t>
            </a:r>
          </a:p>
        </p:txBody>
      </p:sp>
      <p:sp>
        <p:nvSpPr>
          <p:cNvPr id="4" name="Slide Number Placeholder 3"/>
          <p:cNvSpPr>
            <a:spLocks noGrp="1"/>
          </p:cNvSpPr>
          <p:nvPr>
            <p:ph type="sldNum" sz="quarter" idx="5"/>
          </p:nvPr>
        </p:nvSpPr>
        <p:spPr/>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~00:01</a:t>
            </a:r>
          </a:p>
          <a:p>
            <a:endParaRPr/>
          </a:p>
          <a:p>
            <a:r>
              <a:t>Welcome to this session on using AI to improve the pull request workflow. GitHub Copilot and related AI tools can dramatically reduce the friction of creating, reviewing, and merging pull requests.</a:t>
            </a:r>
          </a:p>
          <a:p>
            <a:endParaRPr/>
          </a:p>
          <a:p>
            <a:r>
              <a:t>**Key Points**:</a:t>
            </a:r>
          </a:p>
          <a:p>
            <a:endParaRPr/>
          </a:p>
          <a:p>
            <a:r>
              <a:t>- PRs are a critical communication artifact in software development</a:t>
            </a:r>
          </a:p>
          <a:p>
            <a:r>
              <a:t>- AI can help at every stage: drafting, describing, reviewing, and summarizing</a:t>
            </a:r>
          </a:p>
          <a:p>
            <a:r>
              <a:t>- The goal is not to replace human judgment but to reduce toil</a:t>
            </a:r>
          </a:p>
          <a:p>
            <a:endParaRPr/>
          </a:p>
          <a:p>
            <a:r>
              <a:t>**Delivery**: Open by asking the audience how much time they spend writing PR descriptions or waiting for code review. Frame AI assistance as a way to reclaim that time.</a:t>
            </a:r>
          </a:p>
          <a:p>
            <a:endParaRPr/>
          </a:p>
          <a:p>
            <a:r>
              <a:t>**Transition**: "Let's look at where AI fits in the pull request lifecycle."</a:t>
            </a:r>
          </a:p>
          <a:p>
            <a:endParaRPr/>
          </a:p>
          <a:p>
            <a:r>
              <a:t>---</a:t>
            </a:r>
          </a:p>
          <a:p>
            <a:endParaRPr/>
          </a:p>
          <a:p>
            <a:r>
              <a:t>Source: Slides\individual-slides\ai-assisted-github-pull-requests.md</a:t>
            </a:r>
          </a:p>
        </p:txBody>
      </p:sp>
      <p:sp>
        <p:nvSpPr>
          <p:cNvPr id="4" name="Slide Number Placeholder 3"/>
          <p:cNvSpPr>
            <a:spLocks noGrp="1"/>
          </p:cNvSpPr>
          <p:nvPr>
            <p:ph type="sldNum" sz="quarter" idx="5"/>
          </p:nvPr>
        </p:nvSpPr>
        <p:spPr/>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~00:02</a:t>
            </a:r>
          </a:p>
          <a:p>
            <a:endParaRPr/>
          </a:p>
          <a:p>
            <a:r>
              <a:t>**Key Points**:</a:t>
            </a:r>
          </a:p>
          <a:p>
            <a:endParaRPr/>
          </a:p>
          <a:p>
            <a:r>
              <a:t>1. The PR lifecycle is a feedback loop, not a one-way street</a:t>
            </a:r>
          </a:p>
          <a:p>
            <a:r>
              <a:t>2. Most developers focus on the code-writing stage but spend significant time on communication tasks</a:t>
            </a:r>
          </a:p>
          <a:p>
            <a:r>
              <a:t>3. AI assistance compresses the non-coding parts of the cycle</a:t>
            </a:r>
          </a:p>
          <a:p>
            <a:endParaRPr/>
          </a:p>
          <a:p>
            <a:r>
              <a:t>**Examples to Share**:</a:t>
            </a:r>
          </a:p>
          <a:p>
            <a:endParaRPr/>
          </a:p>
          <a:p>
            <a:r>
              <a:t>- A developer who writes great code but struggles with clear PR descriptions benefits from AI drafting</a:t>
            </a:r>
          </a:p>
          <a:p>
            <a:r>
              <a:t>- A reviewer who is overwhelmed with large PRs benefits from AI summaries</a:t>
            </a:r>
          </a:p>
          <a:p>
            <a:endParaRPr/>
          </a:p>
          <a:p>
            <a:r>
              <a:t>**Audience Interaction**: "Which stage do you find most time-consuming or frustrating?"</a:t>
            </a:r>
          </a:p>
          <a:p>
            <a:endParaRPr/>
          </a:p>
          <a:p>
            <a:r>
              <a:t>**Transition**: "Let's start with where most of the AI value is—creating the PR itself."</a:t>
            </a:r>
          </a:p>
          <a:p>
            <a:endParaRPr/>
          </a:p>
          <a:p>
            <a:r>
              <a:t>---</a:t>
            </a:r>
          </a:p>
          <a:p>
            <a:endParaRPr/>
          </a:p>
          <a:p>
            <a:r>
              <a:t>Source: Slides\individual-slides\ai-assisted-github-pull-requests.md</a:t>
            </a:r>
          </a:p>
        </p:txBody>
      </p:sp>
      <p:sp>
        <p:nvSpPr>
          <p:cNvPr id="4" name="Slide Number Placeholder 3"/>
          <p:cNvSpPr>
            <a:spLocks noGrp="1"/>
          </p:cNvSpPr>
          <p:nvPr>
            <p:ph type="sldNum" sz="quarter" idx="5"/>
          </p:nvPr>
        </p:nvSpPr>
        <p:spPr/>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~00:03</a:t>
            </a:r>
          </a:p>
          <a:p>
            <a:endParaRPr/>
          </a:p>
          <a:p>
            <a:r>
              <a:t>**Key Points**:</a:t>
            </a:r>
          </a:p>
          <a:p>
            <a:endParaRPr/>
          </a:p>
          <a:p>
            <a:r>
              <a:t>1. Copilot analyzes the diff and generates a structured description automatically</a:t>
            </a:r>
          </a:p>
          <a:p>
            <a:r>
              <a:t>2. Good PR descriptions save reviewers time and reduce back-and-forth questions</a:t>
            </a:r>
          </a:p>
          <a:p>
            <a:r>
              <a:t>3. The AI draft is a starting point—always review and personalize it</a:t>
            </a:r>
          </a:p>
          <a:p>
            <a:endParaRPr/>
          </a:p>
          <a:p>
            <a:r>
              <a:t>**Demo Tip**: If demoing live, show `gh pr create` in the terminal and trigger Copilot suggestions in the description field.</a:t>
            </a:r>
          </a:p>
          <a:p>
            <a:endParaRPr/>
          </a:p>
          <a:p>
            <a:r>
              <a:t>**Common Pitfall**: AI descriptions can be verbose. Encourage developers to trim and focus on the "why" rather than just the "what."</a:t>
            </a:r>
          </a:p>
          <a:p>
            <a:endParaRPr/>
          </a:p>
          <a:p>
            <a:r>
              <a:t>**Audience Interaction**: "How many of you write a detailed PR description every time? How many leave it mostly empty?"</a:t>
            </a:r>
          </a:p>
          <a:p>
            <a:endParaRPr/>
          </a:p>
          <a:p>
            <a:r>
              <a:t>**Transition**: "Once the PR is open, AI continues to help on the review side."</a:t>
            </a:r>
          </a:p>
          <a:p>
            <a:endParaRPr/>
          </a:p>
          <a:p>
            <a:r>
              <a:t>---</a:t>
            </a:r>
          </a:p>
          <a:p>
            <a:endParaRPr/>
          </a:p>
          <a:p>
            <a:r>
              <a:t>Source: Slides\individual-slides\ai-assisted-github-pull-requests.md</a:t>
            </a:r>
          </a:p>
        </p:txBody>
      </p:sp>
      <p:sp>
        <p:nvSpPr>
          <p:cNvPr id="4" name="Slide Number Placeholder 3"/>
          <p:cNvSpPr>
            <a:spLocks noGrp="1"/>
          </p:cNvSpPr>
          <p:nvPr>
            <p:ph type="sldNum" sz="quarter" idx="5"/>
          </p:nvPr>
        </p:nvSpPr>
        <p:spPr/>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~00:03</a:t>
            </a:r>
          </a:p>
          <a:p>
            <a:endParaRPr/>
          </a:p>
          <a:p>
            <a:r>
              <a:t>**Key Points**:</a:t>
            </a:r>
          </a:p>
          <a:p>
            <a:endParaRPr/>
          </a:p>
          <a:p>
            <a:r>
              <a:t>1. AI output quality is proportional to the context you provide</a:t>
            </a:r>
          </a:p>
          <a:p>
            <a:r>
              <a:t>2. Referencing the issue number or user story helps Copilot add business context</a:t>
            </a:r>
          </a:p>
          <a:p>
            <a:r>
              <a:t>3. Structuring the prompt mirrors the structure you want in the output</a:t>
            </a:r>
          </a:p>
          <a:p>
            <a:endParaRPr/>
          </a:p>
          <a:p>
            <a:r>
              <a:t>**Template to Share**:</a:t>
            </a:r>
          </a:p>
          <a:p>
            <a:r>
              <a:t>Show the three-section template on screen. Encourage teams to add this as a PR template in `.github/pull_request_template.md` so Copilot has a consistent structure to fill.</a:t>
            </a:r>
          </a:p>
          <a:p>
            <a:endParaRPr/>
          </a:p>
          <a:p>
            <a:r>
              <a:t>**Pro Tip**: Commit messages also feed into the PR description. Good commit messages mean better AI-generated PRs.</a:t>
            </a:r>
          </a:p>
          <a:p>
            <a:endParaRPr/>
          </a:p>
          <a:p>
            <a:r>
              <a:t>**Transition**: "Let's look at how AI helps on the review side of the process."</a:t>
            </a:r>
          </a:p>
          <a:p>
            <a:endParaRPr/>
          </a:p>
          <a:p>
            <a:r>
              <a:t>---</a:t>
            </a:r>
          </a:p>
          <a:p>
            <a:endParaRPr/>
          </a:p>
          <a:p>
            <a:r>
              <a:t>Source: Slides\individual-slides\ai-assisted-github-pull-requests.md</a:t>
            </a:r>
          </a:p>
        </p:txBody>
      </p:sp>
      <p:sp>
        <p:nvSpPr>
          <p:cNvPr id="4" name="Slide Number Placeholder 3"/>
          <p:cNvSpPr>
            <a:spLocks noGrp="1"/>
          </p:cNvSpPr>
          <p:nvPr>
            <p:ph type="sldNum" sz="quarter" idx="5"/>
          </p:nvPr>
        </p:nvSpPr>
        <p:spPr/>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~00:03</a:t>
            </a:r>
          </a:p>
          <a:p>
            <a:endParaRPr/>
          </a:p>
          <a:p>
            <a:r>
              <a:t>**Key Points**:</a:t>
            </a:r>
          </a:p>
          <a:p>
            <a:endParaRPr/>
          </a:p>
          <a:p>
            <a:r>
              <a:t>1. AI doesn't replace human reviewers—it reduces the cognitive load so reviewers can focus on design and logic</a:t>
            </a:r>
          </a:p>
          <a:p>
            <a:r>
              <a:t>2. Copilot Chat in the PR view lets reviewers ask questions like "What does this function do?" without leaving the review</a:t>
            </a:r>
          </a:p>
          <a:p>
            <a:r>
              <a:t>3. Security scanning tools (GitHub Advanced Security + Copilot Autofix) can suggest fixes for flagged issues</a:t>
            </a:r>
          </a:p>
          <a:p>
            <a:endParaRPr/>
          </a:p>
          <a:p>
            <a:r>
              <a:t>**Examples to Share**:</a:t>
            </a:r>
          </a:p>
          <a:p>
            <a:endParaRPr/>
          </a:p>
          <a:p>
            <a:r>
              <a:t>- Reviewer asks: "Is there a simpler way to write this?" → Copilot suggests a refactored version</a:t>
            </a:r>
          </a:p>
          <a:p>
            <a:r>
              <a:t>- Reviewer asks: "Does this handle null input?" → Copilot analyzes and flags a potential null reference</a:t>
            </a:r>
          </a:p>
          <a:p>
            <a:endParaRPr/>
          </a:p>
          <a:p>
            <a:r>
              <a:t>**Audience Interaction**: "Have you used Copilot Chat during a code review? What kinds of questions did you ask?"</a:t>
            </a:r>
          </a:p>
          <a:p>
            <a:endParaRPr/>
          </a:p>
          <a:p>
            <a:r>
              <a:t>**Transition**: "Beyond individual comments, AI can also summarize entire PRs."</a:t>
            </a:r>
          </a:p>
          <a:p>
            <a:endParaRPr/>
          </a:p>
          <a:p>
            <a:r>
              <a:t>---</a:t>
            </a:r>
          </a:p>
          <a:p>
            <a:endParaRPr/>
          </a:p>
          <a:p>
            <a:r>
              <a:t>Source: Slides\individual-slides\ai-assisted-github-pull-requests.md</a:t>
            </a:r>
          </a:p>
        </p:txBody>
      </p:sp>
      <p:sp>
        <p:nvSpPr>
          <p:cNvPr id="4" name="Slide Number Placeholder 3"/>
          <p:cNvSpPr>
            <a:spLocks noGrp="1"/>
          </p:cNvSpPr>
          <p:nvPr>
            <p:ph type="sldNum" sz="quarter" idx="5"/>
          </p:nvPr>
        </p:nvSpPr>
        <p:spPr/>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~00:02</a:t>
            </a:r>
          </a:p>
          <a:p>
            <a:endParaRPr/>
          </a:p>
          <a:p>
            <a:r>
              <a:t>**Key Points**:</a:t>
            </a:r>
          </a:p>
          <a:p>
            <a:endParaRPr/>
          </a:p>
          <a:p>
            <a:r>
              <a:t>1. This feature is particularly valuable for large PRs with many files changed</a:t>
            </a:r>
          </a:p>
          <a:p>
            <a:r>
              <a:t>2. Summaries help async teams where reviewers may not have full context</a:t>
            </a:r>
          </a:p>
          <a:p>
            <a:r>
              <a:t>3. The summary can be copied directly into release notes or changelogs</a:t>
            </a:r>
          </a:p>
          <a:p>
            <a:endParaRPr/>
          </a:p>
          <a:p>
            <a:r>
              <a:t>**Demo Tip**: Show the Copilot summary button on GitHub.com if doing a live demo. Highlight how it categorizes changes.</a:t>
            </a:r>
          </a:p>
          <a:p>
            <a:endParaRPr/>
          </a:p>
          <a:p>
            <a:r>
              <a:t>**Pro Tip**: Teams can require a Copilot summary as part of their PR checklist to ensure all PRs are self-documenting.</a:t>
            </a:r>
          </a:p>
          <a:p>
            <a:endParaRPr/>
          </a:p>
          <a:p>
            <a:r>
              <a:t>**Transition**: "Now let's look at how Copilot helps you respond to review feedback."</a:t>
            </a:r>
          </a:p>
          <a:p>
            <a:endParaRPr/>
          </a:p>
          <a:p>
            <a:r>
              <a:t>---</a:t>
            </a:r>
          </a:p>
          <a:p>
            <a:endParaRPr/>
          </a:p>
          <a:p>
            <a:r>
              <a:t>Source: Slides\individual-slides\ai-assisted-github-pull-requests.md</a:t>
            </a:r>
          </a:p>
        </p:txBody>
      </p:sp>
      <p:sp>
        <p:nvSpPr>
          <p:cNvPr id="4" name="Slide Number Placeholder 3"/>
          <p:cNvSpPr>
            <a:spLocks noGrp="1"/>
          </p:cNvSpPr>
          <p:nvPr>
            <p:ph type="sldNum" sz="quarter" idx="5"/>
          </p:nvPr>
        </p:nvSpPr>
        <p:spPr/>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~00:03</a:t>
            </a:r>
          </a:p>
          <a:p>
            <a:endParaRPr/>
          </a:p>
          <a:p>
            <a:r>
              <a:t>**Key Points**:</a:t>
            </a:r>
          </a:p>
          <a:p>
            <a:endParaRPr/>
          </a:p>
          <a:p>
            <a:r>
              <a:t>1. The most time-consuming part of PR iteration is addressing multiple review comments</a:t>
            </a:r>
          </a:p>
          <a:p>
            <a:r>
              <a:t>2. Copilot can read a review comment and suggest the corresponding code change</a:t>
            </a:r>
          </a:p>
          <a:p>
            <a:r>
              <a:t>3. Autofix is especially powerful for security alerts—it not only flags the issue but provides the patched code</a:t>
            </a:r>
          </a:p>
          <a:p>
            <a:endParaRPr/>
          </a:p>
          <a:p>
            <a:r>
              <a:t>**Workflow to Describe**:</a:t>
            </a:r>
          </a:p>
          <a:p>
            <a:endParaRPr/>
          </a:p>
          <a:p>
            <a:r>
              <a:t>1. Reviewer leaves a comment: "This should use a parameterized query"</a:t>
            </a:r>
          </a:p>
          <a:p>
            <a:r>
              <a:t>2. Developer clicks Copilot suggestion next to the comment</a:t>
            </a:r>
          </a:p>
          <a:p>
            <a:r>
              <a:t>3. Copilot generates the parameterized version</a:t>
            </a:r>
          </a:p>
          <a:p>
            <a:r>
              <a:t>4. Developer reviews and commits</a:t>
            </a:r>
          </a:p>
          <a:p>
            <a:endParaRPr/>
          </a:p>
          <a:p>
            <a:r>
              <a:t>**Audience Interaction**: "How many review cycles does a typical PR go through on your team? Could AI reduce that?"</a:t>
            </a:r>
          </a:p>
          <a:p>
            <a:endParaRPr/>
          </a:p>
          <a:p>
            <a:r>
              <a:t>**Transition**: "Let's talk about automating the checks that run on every PR."</a:t>
            </a:r>
          </a:p>
          <a:p>
            <a:endParaRPr/>
          </a:p>
          <a:p>
            <a:r>
              <a:t>---</a:t>
            </a:r>
          </a:p>
          <a:p>
            <a:endParaRPr/>
          </a:p>
          <a:p>
            <a:r>
              <a:t>Source: Slides\individual-slides\ai-assisted-github-pull-requests.md</a:t>
            </a:r>
          </a:p>
        </p:txBody>
      </p:sp>
      <p:sp>
        <p:nvSpPr>
          <p:cNvPr id="4" name="Slide Number Placeholder 3"/>
          <p:cNvSpPr>
            <a:spLocks noGrp="1"/>
          </p:cNvSpPr>
          <p:nvPr>
            <p:ph type="sldNum" sz="quarter" idx="5"/>
          </p:nvPr>
        </p:nvSpPr>
        <p:spPr/>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~00:03</a:t>
            </a:r>
          </a:p>
          <a:p>
            <a:endParaRPr/>
          </a:p>
          <a:p>
            <a:r>
              <a:t>**Key Points**:</a:t>
            </a:r>
          </a:p>
          <a:p>
            <a:endParaRPr/>
          </a:p>
          <a:p>
            <a:r>
              <a:t>1. Automating AI checks ensures consistency—every PR gets the same baseline review</a:t>
            </a:r>
          </a:p>
          <a:p>
            <a:r>
              <a:t>2. This is not a replacement for human review but a first pass that catches common issues</a:t>
            </a:r>
          </a:p>
          <a:p>
            <a:r>
              <a:t>3. Teams can configure severity thresholds to control which findings block merges</a:t>
            </a:r>
          </a:p>
          <a:p>
            <a:endParaRPr/>
          </a:p>
          <a:p>
            <a:r>
              <a:t>**Architecture Note**: These actions run in GitHub Actions and post results as PR check statuses, integrating with existing branch protection rules.</a:t>
            </a:r>
          </a:p>
          <a:p>
            <a:endParaRPr/>
          </a:p>
          <a:p>
            <a:r>
              <a:t>**Pro Tip**: Combine AI code review with conventional linting and testing so developers get a single, unified set of feedback.</a:t>
            </a:r>
          </a:p>
          <a:p>
            <a:endParaRPr/>
          </a:p>
          <a:p>
            <a:r>
              <a:t>**Caution**: Avoid too many automated checks that create noise. Focus on high-signal rules.</a:t>
            </a:r>
          </a:p>
          <a:p>
            <a:endParaRPr/>
          </a:p>
          <a:p>
            <a:r>
              <a:t>**Transition**: "Let's look at some real-world patterns teams are using today."</a:t>
            </a:r>
          </a:p>
          <a:p>
            <a:endParaRPr/>
          </a:p>
          <a:p>
            <a:r>
              <a:t>---</a:t>
            </a:r>
          </a:p>
          <a:p>
            <a:endParaRPr/>
          </a:p>
          <a:p>
            <a:r>
              <a:t>Source: Slides\individual-slides\ai-assisted-github-pull-requests.md</a:t>
            </a:r>
          </a:p>
        </p:txBody>
      </p:sp>
      <p:sp>
        <p:nvSpPr>
          <p:cNvPr id="4" name="Slide Number Placeholder 3"/>
          <p:cNvSpPr>
            <a:spLocks noGrp="1"/>
          </p:cNvSpPr>
          <p:nvPr>
            <p:ph type="sldNum" sz="quarter" idx="5"/>
          </p:nvPr>
        </p:nvSpPr>
        <p:spPr/>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~00:02</a:t>
            </a:r>
          </a:p>
          <a:p>
            <a:endParaRPr/>
          </a:p>
          <a:p>
            <a:r>
              <a:t>**Key Points**:</a:t>
            </a:r>
          </a:p>
          <a:p>
            <a:endParaRPr/>
          </a:p>
          <a:p>
            <a:r>
              <a:t>1. The biggest gains are in communication overhead, not code writing speed</a:t>
            </a:r>
          </a:p>
          <a:p>
            <a:r>
              <a:t>2. New team members benefit most because AI helps them match team standards faster</a:t>
            </a:r>
          </a:p>
          <a:p>
            <a:r>
              <a:t>3. Reviewers focus on what matters—architecture, correctness, maintainability—when AI handles style and common issues</a:t>
            </a:r>
          </a:p>
          <a:p>
            <a:endParaRPr/>
          </a:p>
          <a:p>
            <a:r>
              <a:t>**Story to Share**: A team at a large enterprise reduced PR cycle time from 3 days to less than 1 day by combining AI-generated descriptions, automated checks, and Copilot Autofix. The change was primarily in the communication and iteration loop, not the code itself.</a:t>
            </a:r>
          </a:p>
          <a:p>
            <a:endParaRPr/>
          </a:p>
          <a:p>
            <a:r>
              <a:t>**Transition**: "Before we wrap up, let's talk about best practices."</a:t>
            </a:r>
          </a:p>
          <a:p>
            <a:endParaRPr/>
          </a:p>
          <a:p>
            <a:r>
              <a:t>---</a:t>
            </a:r>
          </a:p>
          <a:p>
            <a:endParaRPr/>
          </a:p>
          <a:p>
            <a:r>
              <a:t>Source: Slides\individual-slides\ai-assisted-github-pull-requests.md</a:t>
            </a:r>
          </a:p>
        </p:txBody>
      </p:sp>
      <p:sp>
        <p:nvSpPr>
          <p:cNvPr id="4" name="Slide Number Placeholder 3"/>
          <p:cNvSpPr>
            <a:spLocks noGrp="1"/>
          </p:cNvSpPr>
          <p:nvPr>
            <p:ph type="sldNum" sz="quarter" idx="5"/>
          </p:nvPr>
        </p:nvSpPr>
        <p:spPr/>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~00:03</a:t>
            </a:r>
          </a:p>
          <a:p>
            <a:endParaRPr/>
          </a:p>
          <a:p>
            <a:r>
              <a:t>**Key Points**:</a:t>
            </a:r>
          </a:p>
          <a:p>
            <a:endParaRPr/>
          </a:p>
          <a:p>
            <a:r>
              <a:t>1. AI is a collaborator, not an autopilot. Human oversight remains essential.</a:t>
            </a:r>
          </a:p>
          <a:p>
            <a:r>
              <a:t>2. The PR template acts as a contract between the author and the AI—providing structure improves output quality</a:t>
            </a:r>
          </a:p>
          <a:p>
            <a:r>
              <a:t>3. Alert fatigue is real. Configure automated checks to surface only actionable findings.</a:t>
            </a:r>
          </a:p>
          <a:p>
            <a:endParaRPr/>
          </a:p>
          <a:p>
            <a:r>
              <a:t>**Common Mistakes**:</a:t>
            </a:r>
          </a:p>
          <a:p>
            <a:endParaRPr/>
          </a:p>
          <a:p>
            <a:r>
              <a:t>- Teams that enable every available check end up ignoring them all</a:t>
            </a:r>
          </a:p>
          <a:p>
            <a:r>
              <a:t>- Developers who merge AI descriptions verbatim lose the "why" context that only they know</a:t>
            </a:r>
          </a:p>
          <a:p>
            <a:r>
              <a:t>- Over-reliance on AI review can erode human review skills over time</a:t>
            </a:r>
          </a:p>
          <a:p>
            <a:endParaRPr/>
          </a:p>
          <a:p>
            <a:r>
              <a:t>**Audience Interaction**: "What guardrails does your team have around AI-generated content in PRs?"</a:t>
            </a:r>
          </a:p>
          <a:p>
            <a:endParaRPr/>
          </a:p>
          <a:p>
            <a:r>
              <a:t>**Transition**: "Let's summarize what we covered and talk about next steps."</a:t>
            </a:r>
          </a:p>
          <a:p>
            <a:endParaRPr/>
          </a:p>
          <a:p>
            <a:r>
              <a:t>---</a:t>
            </a:r>
          </a:p>
          <a:p>
            <a:endParaRPr/>
          </a:p>
          <a:p>
            <a:r>
              <a:t>Source: Slides\individual-slides\ai-assisted-github-pull-requests.md</a:t>
            </a:r>
          </a:p>
        </p:txBody>
      </p:sp>
      <p:sp>
        <p:nvSpPr>
          <p:cNvPr id="4" name="Slide Number Placeholder 3"/>
          <p:cNvSpPr>
            <a:spLocks noGrp="1"/>
          </p:cNvSpPr>
          <p:nvPr>
            <p:ph type="sldNum" sz="quarter" idx="5"/>
          </p:nvPr>
        </p:nvSpPr>
        <p:spPr/>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~00:02</a:t>
            </a:r>
          </a:p>
          <a:p>
            <a:endParaRPr/>
          </a:p>
          <a:p>
            <a:r>
              <a:t>**Key Points**:</a:t>
            </a:r>
          </a:p>
          <a:p>
            <a:endParaRPr/>
          </a:p>
          <a:p>
            <a:r>
              <a:t>1. Gradual adoption works better than a big-bang rollout</a:t>
            </a:r>
          </a:p>
          <a:p>
            <a:r>
              <a:t>2. Starting with PR descriptions has no risk and immediate value</a:t>
            </a:r>
          </a:p>
          <a:p>
            <a:r>
              <a:t>3. As teams build confidence, they can layer in automated checks</a:t>
            </a:r>
          </a:p>
          <a:p>
            <a:endParaRPr/>
          </a:p>
          <a:p>
            <a:r>
              <a:t>**Call to Action**: Encourage each attendee to write their next PR description with Copilot's help and note the difference.</a:t>
            </a:r>
          </a:p>
          <a:p>
            <a:endParaRPr/>
          </a:p>
          <a:p>
            <a:r>
              <a:t>**Resources**: Point to the GitHub Copilot docs and the gh CLI documentation for hands-on exploration.</a:t>
            </a:r>
          </a:p>
          <a:p>
            <a:endParaRPr/>
          </a:p>
          <a:p>
            <a:r>
              <a:t>**Transition**: "Let's open it up for questions."</a:t>
            </a:r>
          </a:p>
          <a:p>
            <a:endParaRPr/>
          </a:p>
          <a:p>
            <a:r>
              <a:t>---</a:t>
            </a:r>
          </a:p>
          <a:p>
            <a:endParaRPr/>
          </a:p>
          <a:p>
            <a:r>
              <a:t>Source: Slides\individual-slides\ai-assisted-github-pull-requests.md</a:t>
            </a:r>
          </a:p>
        </p:txBody>
      </p:sp>
      <p:sp>
        <p:nvSpPr>
          <p:cNvPr id="4" name="Slide Number Placeholder 3"/>
          <p:cNvSpPr>
            <a:spLocks noGrp="1"/>
          </p:cNvSpPr>
          <p:nvPr>
            <p:ph type="sldNum" sz="quarter" idx="5"/>
          </p:nvPr>
        </p:nvSpPr>
        <p:spPr/>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~00:02</a:t>
            </a:r>
          </a:p>
          <a:p>
            <a:endParaRPr/>
          </a:p>
          <a:p>
            <a:r>
              <a:t>**Key Points**:</a:t>
            </a:r>
          </a:p>
          <a:p>
            <a:endParaRPr/>
          </a:p>
          <a:p>
            <a:r>
              <a:t>1. The table reinforces the before/after contrast—anchor the value proposition</a:t>
            </a:r>
          </a:p>
          <a:p>
            <a:r>
              <a:t>2. The key insight: PRs shift from a documentation burden to a collaborative artifact</a:t>
            </a:r>
          </a:p>
          <a:p>
            <a:r>
              <a:t>3. The human role shifts from doing all the communication work to reviewing and approving AI-assisted communication</a:t>
            </a:r>
          </a:p>
          <a:p>
            <a:endParaRPr/>
          </a:p>
          <a:p>
            <a:r>
              <a:t>**Closing Message**: AI doesn't change what a good PR looks like—it reduces the effort required to create one. The standards, the review culture, and the human judgment remain essential.</a:t>
            </a:r>
          </a:p>
          <a:p>
            <a:endParaRPr/>
          </a:p>
          <a:p>
            <a:r>
              <a:t>**Final Question for Audience**: "What's one part of your PR workflow you'd like AI to help with first?"</a:t>
            </a:r>
          </a:p>
          <a:p>
            <a:endParaRPr/>
          </a:p>
          <a:p>
            <a:r>
              <a:t>**Thank the audience and open for Q&amp;A.**</a:t>
            </a:r>
          </a:p>
          <a:p>
            <a:endParaRPr/>
          </a:p>
          <a:p>
            <a:r>
              <a:t>---</a:t>
            </a:r>
          </a:p>
          <a:p>
            <a:endParaRPr/>
          </a:p>
          <a:p>
            <a:r>
              <a:t>Source: Slides\individual-slides\ai-assisted-github-pull-requests.md</a:t>
            </a:r>
          </a:p>
        </p:txBody>
      </p:sp>
      <p:sp>
        <p:nvSpPr>
          <p:cNvPr id="4" name="Slide Number Placeholder 3"/>
          <p:cNvSpPr>
            <a:spLocks noGrp="1"/>
          </p:cNvSpPr>
          <p:nvPr>
            <p:ph type="sldNum" sz="quarter" idx="5"/>
          </p:nvPr>
        </p:nvSpPr>
        <p:spPr/>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Introduce this module as a way to help teams understand how different AI models behave when given the same task. Emphasize that multi-model comparison is a powerful guardrail: it reduces hallucinations, improves quality, and helps teams choose the right model for the right job.</a:t>
            </a:r>
          </a:p>
          <a:p>
            <a:endParaRPr/>
          </a:p>
          <a:p>
            <a:r>
              <a:t>---</a:t>
            </a:r>
          </a:p>
          <a:p>
            <a:endParaRPr/>
          </a:p>
          <a:p>
            <a:r>
              <a:t>Source: Slides\individual-slides\multi-model-implementation-comparison.md</a:t>
            </a:r>
          </a:p>
        </p:txBody>
      </p:sp>
      <p:sp>
        <p:nvSpPr>
          <p:cNvPr id="4" name="Slide Number Placeholder 3"/>
          <p:cNvSpPr>
            <a:spLocks noGrp="1"/>
          </p:cNvSpPr>
          <p:nvPr>
            <p:ph type="sldNum" sz="quarter" idx="5"/>
          </p:nvPr>
        </p:nvSpPr>
        <p:spPr/>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Explain that no single model is perfect. Using multiple models gives teams a broader perspective and helps catch errors or blind spots that one model alone might miss.</a:t>
            </a:r>
          </a:p>
          <a:p>
            <a:endParaRPr/>
          </a:p>
          <a:p>
            <a:r>
              <a:t>---</a:t>
            </a:r>
          </a:p>
          <a:p>
            <a:endParaRPr/>
          </a:p>
          <a:p>
            <a:r>
              <a:t>Source: Slides\individual-slides\multi-model-implementation-comparison.md</a:t>
            </a:r>
          </a:p>
        </p:txBody>
      </p:sp>
      <p:sp>
        <p:nvSpPr>
          <p:cNvPr id="4" name="Slide Number Placeholder 3"/>
          <p:cNvSpPr>
            <a:spLocks noGrp="1"/>
          </p:cNvSpPr>
          <p:nvPr>
            <p:ph type="sldNum" sz="quarter" idx="5"/>
          </p:nvPr>
        </p:nvSpPr>
        <p:spPr/>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Encourage participants to treat model outputs like multiple drafts from different engineers. The goal is not to pick a winner — it's to synthesize the best ideas.</a:t>
            </a:r>
          </a:p>
          <a:p>
            <a:endParaRPr/>
          </a:p>
          <a:p>
            <a:r>
              <a:t>---</a:t>
            </a:r>
          </a:p>
          <a:p>
            <a:endParaRPr/>
          </a:p>
          <a:p>
            <a:r>
              <a:t>Source: Slides\individual-slides\multi-model-implementation-comparison.md</a:t>
            </a:r>
          </a:p>
        </p:txBody>
      </p:sp>
      <p:sp>
        <p:nvSpPr>
          <p:cNvPr id="4" name="Slide Number Placeholder 3"/>
          <p:cNvSpPr>
            <a:spLocks noGrp="1"/>
          </p:cNvSpPr>
          <p:nvPr>
            <p:ph type="sldNum" sz="quarter" idx="5"/>
          </p:nvPr>
        </p:nvSpPr>
        <p:spPr/>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Reinforce that risk assessment is essential in brownfield systems. Even if a model produces elegant code, it may be too risky without proper guardrails.</a:t>
            </a:r>
          </a:p>
          <a:p>
            <a:endParaRPr/>
          </a:p>
          <a:p>
            <a:r>
              <a:t>---</a:t>
            </a:r>
          </a:p>
          <a:p>
            <a:endParaRPr/>
          </a:p>
          <a:p>
            <a:r>
              <a:t>Source: Slides\individual-slides\multi-model-implementation-comparison.md</a:t>
            </a:r>
          </a:p>
        </p:txBody>
      </p:sp>
      <p:sp>
        <p:nvSpPr>
          <p:cNvPr id="4" name="Slide Number Placeholder 3"/>
          <p:cNvSpPr>
            <a:spLocks noGrp="1"/>
          </p:cNvSpPr>
          <p:nvPr>
            <p:ph type="sldNum" sz="quarter" idx="5"/>
          </p:nvPr>
        </p:nvSpPr>
        <p:spPr/>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Explain that synthesis is the real power of multi-model workflows. Teams can build a composite solution that is better than any single model's output.</a:t>
            </a:r>
          </a:p>
          <a:p>
            <a:endParaRPr/>
          </a:p>
          <a:p>
            <a:r>
              <a:t>---</a:t>
            </a:r>
          </a:p>
          <a:p>
            <a:endParaRPr/>
          </a:p>
          <a:p>
            <a:r>
              <a:t>Source: Slides\individual-slides\multi-model-implementation-comparison.md</a:t>
            </a:r>
          </a:p>
        </p:txBody>
      </p:sp>
      <p:sp>
        <p:nvSpPr>
          <p:cNvPr id="4" name="Slide Number Placeholder 3"/>
          <p:cNvSpPr>
            <a:spLocks noGrp="1"/>
          </p:cNvSpPr>
          <p:nvPr>
            <p:ph type="sldNum" sz="quarter" idx="5"/>
          </p:nvPr>
        </p:nvSpPr>
        <p:spPr/>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~00:15</a:t>
            </a:r>
          </a:p>
          <a:p>
            <a:endParaRPr/>
          </a:p>
          <a:p>
            <a:r>
              <a:t>Encourage participants to think like reviewers comparing multiple PRs. The goal is to understand model behavior, not to pick a favorite.</a:t>
            </a:r>
          </a:p>
          <a:p>
            <a:endParaRPr/>
          </a:p>
          <a:p>
            <a:r>
              <a:t>---</a:t>
            </a:r>
          </a:p>
          <a:p>
            <a:endParaRPr/>
          </a:p>
          <a:p>
            <a:r>
              <a:t>Source: Slides\individual-slides\multi-model-implementation-comparison.md</a:t>
            </a:r>
          </a:p>
        </p:txBody>
      </p:sp>
      <p:sp>
        <p:nvSpPr>
          <p:cNvPr id="4" name="Slide Number Placeholder 3"/>
          <p:cNvSpPr>
            <a:spLocks noGrp="1"/>
          </p:cNvSpPr>
          <p:nvPr>
            <p:ph type="sldNum" sz="quarter" idx="5"/>
          </p:nvPr>
        </p:nvSpPr>
        <p:spPr/>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~00:10</a:t>
            </a:r>
          </a:p>
          <a:p>
            <a:endParaRPr/>
          </a:p>
          <a:p>
            <a:r>
              <a:t>This exercise helps participants see how different models interpret the same instructions — a key skill for multi-model workflows.</a:t>
            </a:r>
          </a:p>
          <a:p>
            <a:endParaRPr/>
          </a:p>
          <a:p>
            <a:r>
              <a:t>---</a:t>
            </a:r>
          </a:p>
          <a:p>
            <a:endParaRPr/>
          </a:p>
          <a:p>
            <a:r>
              <a:t>Source: Slides\individual-slides\multi-model-implementation-comparison.md</a:t>
            </a:r>
          </a:p>
        </p:txBody>
      </p:sp>
      <p:sp>
        <p:nvSpPr>
          <p:cNvPr id="4" name="Slide Number Placeholder 3"/>
          <p:cNvSpPr>
            <a:spLocks noGrp="1"/>
          </p:cNvSpPr>
          <p:nvPr>
            <p:ph type="sldNum" sz="quarter" idx="5"/>
          </p:nvPr>
        </p:nvSpPr>
        <p:spPr/>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~00:20</a:t>
            </a:r>
          </a:p>
          <a:p>
            <a:endParaRPr/>
          </a:p>
          <a:p>
            <a:r>
              <a:t>This exercise builds confidence in orchestrating multiple models as collaborators. The goal is synthesis, not competition.</a:t>
            </a:r>
          </a:p>
          <a:p>
            <a:endParaRPr/>
          </a:p>
          <a:p>
            <a:r>
              <a:t>---</a:t>
            </a:r>
          </a:p>
          <a:p>
            <a:endParaRPr/>
          </a:p>
          <a:p>
            <a:r>
              <a:t>Source: Slides\individual-slides\multi-model-implementation-comparison.md</a:t>
            </a:r>
          </a:p>
        </p:txBody>
      </p:sp>
      <p:sp>
        <p:nvSpPr>
          <p:cNvPr id="4" name="Slide Number Placeholder 3"/>
          <p:cNvSpPr>
            <a:spLocks noGrp="1"/>
          </p:cNvSpPr>
          <p:nvPr>
            <p:ph type="sldNum" sz="quarter" idx="5"/>
          </p:nvPr>
        </p:nvSpPr>
        <p:spPr/>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~00:05</a:t>
            </a:r>
          </a:p>
          <a:p>
            <a:endParaRPr/>
          </a:p>
          <a:p>
            <a:r>
              <a:t>  Introduce Evergreen Software Development as a philosophy for building systems that can evolve indefinitely without degrading. This is crucial for AI-assisted development.</a:t>
            </a:r>
          </a:p>
          <a:p>
            <a:endParaRPr/>
          </a:p>
          <a:p>
            <a:r>
              <a:t>Explain each principle:</a:t>
            </a:r>
          </a:p>
          <a:p>
            <a:endParaRPr/>
          </a:p>
          <a:p>
            <a:r>
              <a:t>1. Intent-First Design: Document WHY before WHAT. AI can regenerate code but needs clear intent.</a:t>
            </a:r>
          </a:p>
          <a:p>
            <a:r>
              <a:t>2. Stable Interfaces: Public contracts stay stable while implementations improve continuously.</a:t>
            </a:r>
          </a:p>
          <a:p>
            <a:r>
              <a:t>3. Continuous Regeneration: AI can safely rewrite components when guardrails (tests, specs) exist.</a:t>
            </a:r>
          </a:p>
          <a:p>
            <a:r>
              <a:t>4. Modular Components: Any piece can be regenerated without breaking the system.</a:t>
            </a:r>
          </a:p>
          <a:p>
            <a:r>
              <a:t>5. Lifecycle Governance: Quality maintained through automation and human oversight.</a:t>
            </a:r>
          </a:p>
          <a:p>
            <a:endParaRPr/>
          </a:p>
          <a:p>
            <a:r>
              <a:t>Key insight: Traditional software rots over time. Evergreen software is designed to be continuously regenerated and improved.</a:t>
            </a:r>
          </a:p>
          <a:p>
            <a:endParaRPr/>
          </a:p>
          <a:p>
            <a:r>
              <a:t>Transition: "Let's see why software fails to be evergreen..."</a:t>
            </a:r>
          </a:p>
          <a:p>
            <a:endParaRPr/>
          </a:p>
          <a:p>
            <a:r>
              <a:t>---</a:t>
            </a:r>
          </a:p>
          <a:p>
            <a:endParaRPr/>
          </a:p>
          <a:p>
            <a:r>
              <a:t>Source: Slides\individual-slides\evergreen-software-core-principles.md</a:t>
            </a:r>
          </a:p>
        </p:txBody>
      </p:sp>
      <p:sp>
        <p:nvSpPr>
          <p:cNvPr id="4" name="Slide Number Placeholder 3"/>
          <p:cNvSpPr>
            <a:spLocks noGrp="1"/>
          </p:cNvSpPr>
          <p:nvPr>
            <p:ph type="sldNum" sz="quarter" idx="5"/>
          </p:nvPr>
        </p:nvSpPr>
        <p:spPr/>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~00:05</a:t>
            </a:r>
          </a:p>
          <a:p>
            <a:endParaRPr/>
          </a:p>
          <a:p>
            <a:r>
              <a:t>  Explain the common anti-patterns that prevent software from being evergreen. These are the enemies of long-term maintainability.</a:t>
            </a:r>
          </a:p>
          <a:p>
            <a:endParaRPr/>
          </a:p>
          <a:p>
            <a:r>
              <a:t>1. Intent Rot: Documentation becomes outdated or nonexistent. AI can't regenerate code when it doesn't know the purpose.</a:t>
            </a:r>
          </a:p>
          <a:p>
            <a:r>
              <a:t>2. Unstable Interfaces: Breaking changes cascade through the system. AI regeneration requires stable contracts.</a:t>
            </a:r>
          </a:p>
          <a:p>
            <a:r>
              <a:t>3. Tight Coupling: Changes in one component break others. AI can't safely regenerate tightly coupled code.</a:t>
            </a:r>
          </a:p>
          <a:p>
            <a:r>
              <a:t>4. Insufficient Guardrails: Without tests and specs, AI-generated code can't be validated.</a:t>
            </a:r>
          </a:p>
          <a:p>
            <a:r>
              <a:t>5. Drift: Ad-hoc fixes create divergence from the design. The system becomes unpredictable.</a:t>
            </a:r>
          </a:p>
          <a:p>
            <a:endParaRPr/>
          </a:p>
          <a:p>
            <a:r>
              <a:t>Real-world examples:</a:t>
            </a:r>
          </a:p>
          <a:p>
            <a:endParaRPr/>
          </a:p>
          <a:p>
            <a:r>
              <a:t>- Legacy system with no documentation (intent rot)</a:t>
            </a:r>
          </a:p>
          <a:p>
            <a:r>
              <a:t>- Microservices with frequently changing APIs (unstable interfaces)</a:t>
            </a:r>
          </a:p>
          <a:p>
            <a:r>
              <a:t>- Monolith with circular dependencies (tight coupling)</a:t>
            </a:r>
          </a:p>
          <a:p>
            <a:endParaRPr/>
          </a:p>
          <a:p>
            <a:r>
              <a:t>Transition: "Let's see how to avoid these pitfalls..."</a:t>
            </a:r>
          </a:p>
          <a:p>
            <a:endParaRPr/>
          </a:p>
          <a:p>
            <a:r>
              <a:t>---</a:t>
            </a:r>
          </a:p>
          <a:p>
            <a:endParaRPr/>
          </a:p>
          <a:p>
            <a:r>
              <a:t>Source: Slides\individual-slides\evergreen-software-core-principles.md</a:t>
            </a:r>
          </a:p>
        </p:txBody>
      </p:sp>
      <p:sp>
        <p:nvSpPr>
          <p:cNvPr id="4" name="Slide Number Placeholder 3"/>
          <p:cNvSpPr>
            <a:spLocks noGrp="1"/>
          </p:cNvSpPr>
          <p:nvPr>
            <p:ph type="sldNum" sz="quarter" idx="5"/>
          </p:nvPr>
        </p:nvSpPr>
        <p:spPr/>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Auto-generated course navigation slide showing all modules with current section highlighted</a:t>
            </a:r>
          </a:p>
        </p:txBody>
      </p:sp>
      <p:sp>
        <p:nvSpPr>
          <p:cNvPr id="4" name="Slide Number Placeholder 3"/>
          <p:cNvSpPr>
            <a:spLocks noGrp="1"/>
          </p:cNvSpPr>
          <p:nvPr>
            <p:ph type="sldNum" sz="quarter" idx="5"/>
          </p:nvPr>
        </p:nvSpPr>
        <p:spPr/>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Auto-generated section header slide to announce the section</a:t>
            </a:r>
          </a:p>
        </p:txBody>
      </p:sp>
      <p:sp>
        <p:nvSpPr>
          <p:cNvPr id="4" name="Slide Number Placeholder 3"/>
          <p:cNvSpPr>
            <a:spLocks noGrp="1"/>
          </p:cNvSpPr>
          <p:nvPr>
            <p:ph type="sldNum" sz="quarter" idx="5"/>
          </p:nvPr>
        </p:nvSpPr>
        <p:spPr/>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Auto-generated section agenda slide listing slide titles from manifest</a:t>
            </a:r>
          </a:p>
        </p:txBody>
      </p:sp>
      <p:sp>
        <p:nvSpPr>
          <p:cNvPr id="4" name="Slide Number Placeholder 3"/>
          <p:cNvSpPr>
            <a:spLocks noGrp="1"/>
          </p:cNvSpPr>
          <p:nvPr>
            <p:ph type="sldNum" sz="quarter" idx="5"/>
          </p:nvPr>
        </p:nvSpPr>
        <p:spPr/>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Introduce this module as the foundation for safe, predictable AI-assisted development.</a:t>
            </a:r>
          </a:p>
          <a:p>
            <a:endParaRPr/>
          </a:p>
          <a:p>
            <a:r>
              <a:t>Guardrails ensure that AI output is intentional, reviewable, and aligned with architectural and organizational standards.</a:t>
            </a:r>
          </a:p>
          <a:p>
            <a:endParaRPr/>
          </a:p>
          <a:p>
            <a:r>
              <a:t>These practices turn AI from a novelty into a disciplined engineering tool.</a:t>
            </a:r>
          </a:p>
          <a:p>
            <a:endParaRPr/>
          </a:p>
          <a:p>
            <a:r>
              <a:t>---</a:t>
            </a:r>
          </a:p>
          <a:p>
            <a:endParaRPr/>
          </a:p>
          <a:p>
            <a:r>
              <a:t>Source: Slides\individual-slides\adding-ai-guardrails.md</a:t>
            </a:r>
          </a:p>
        </p:txBody>
      </p:sp>
      <p:sp>
        <p:nvSpPr>
          <p:cNvPr id="4" name="Slide Number Placeholder 3"/>
          <p:cNvSpPr>
            <a:spLocks noGrp="1"/>
          </p:cNvSpPr>
          <p:nvPr>
            <p:ph type="sldNum" sz="quarter" idx="5"/>
          </p:nvPr>
        </p:nvSpPr>
        <p:spPr/>
      </p:sp>
    </p:spTree>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Clarify the distinctions: instructions are stable, prompts are ephemeral, and Agents define how the model behaves in a particular role.</a:t>
            </a:r>
          </a:p>
          <a:p>
            <a:endParaRPr/>
          </a:p>
          <a:p>
            <a:r>
              <a:t>Together, they form a layered control system that shapes AI behavior and reduces drift.</a:t>
            </a:r>
          </a:p>
          <a:p>
            <a:endParaRPr/>
          </a:p>
          <a:p>
            <a:r>
              <a:t>---</a:t>
            </a:r>
          </a:p>
          <a:p>
            <a:endParaRPr/>
          </a:p>
          <a:p>
            <a:r>
              <a:t>Source: Slides\individual-slides\adding-ai-guardrails.md</a:t>
            </a:r>
          </a:p>
        </p:txBody>
      </p:sp>
      <p:sp>
        <p:nvSpPr>
          <p:cNvPr id="4" name="Slide Number Placeholder 3"/>
          <p:cNvSpPr>
            <a:spLocks noGrp="1"/>
          </p:cNvSpPr>
          <p:nvPr>
            <p:ph type="sldNum" sz="quarter" idx="5"/>
          </p:nvPr>
        </p:nvSpPr>
        <p:spPr/>
      </p:sp>
    </p:spTree>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Explain that storing these artifacts as files allows teams to version them, review them, and reuse them.</a:t>
            </a:r>
          </a:p>
          <a:p>
            <a:endParaRPr/>
          </a:p>
          <a:p>
            <a:r>
              <a:t>This is essential for brownfield modernization, where consistency and traceability matter.</a:t>
            </a:r>
          </a:p>
          <a:p>
            <a:endParaRPr/>
          </a:p>
          <a:p>
            <a:r>
              <a:t>---</a:t>
            </a:r>
          </a:p>
          <a:p>
            <a:endParaRPr/>
          </a:p>
          <a:p>
            <a:r>
              <a:t>Source: Slides\individual-slides\adding-ai-guardrails.md</a:t>
            </a:r>
          </a:p>
        </p:txBody>
      </p:sp>
      <p:sp>
        <p:nvSpPr>
          <p:cNvPr id="4" name="Slide Number Placeholder 3"/>
          <p:cNvSpPr>
            <a:spLocks noGrp="1"/>
          </p:cNvSpPr>
          <p:nvPr>
            <p:ph type="sldNum" sz="quarter" idx="5"/>
          </p:nvPr>
        </p:nvSpPr>
        <p:spPr/>
      </p:sp>
    </p:spTree>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Meta prompts are prompts about prompts.</a:t>
            </a:r>
          </a:p>
          <a:p>
            <a:endParaRPr/>
          </a:p>
          <a:p>
            <a:r>
              <a:t>They let the AI generate structured artifacts on demand.</a:t>
            </a:r>
          </a:p>
          <a:p>
            <a:endParaRPr/>
          </a:p>
          <a:p>
            <a:r>
              <a:t>This reduces manual effort and ensures that all artifacts follow a consistent pattern.</a:t>
            </a:r>
          </a:p>
          <a:p>
            <a:endParaRPr/>
          </a:p>
          <a:p>
            <a:r>
              <a:t>---</a:t>
            </a:r>
          </a:p>
          <a:p>
            <a:endParaRPr/>
          </a:p>
          <a:p>
            <a:r>
              <a:t>Source: Slides\individual-slides\adding-ai-guardrails.md</a:t>
            </a:r>
          </a:p>
        </p:txBody>
      </p:sp>
      <p:sp>
        <p:nvSpPr>
          <p:cNvPr id="4" name="Slide Number Placeholder 3"/>
          <p:cNvSpPr>
            <a:spLocks noGrp="1"/>
          </p:cNvSpPr>
          <p:nvPr>
            <p:ph type="sldNum" sz="quarter" idx="5"/>
          </p:nvPr>
        </p:nvSpPr>
        <p:spPr/>
      </p:sp>
    </p:spTree>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When asking AI to generate an artifact, be explicit about structure and constraints.</a:t>
            </a:r>
          </a:p>
          <a:p>
            <a:endParaRPr/>
          </a:p>
          <a:p>
            <a:r>
              <a:t>This prevents drift and ensures the output is usable without heavy editing.</a:t>
            </a:r>
          </a:p>
          <a:p>
            <a:endParaRPr/>
          </a:p>
          <a:p>
            <a:r>
              <a:t>---</a:t>
            </a:r>
          </a:p>
          <a:p>
            <a:endParaRPr/>
          </a:p>
          <a:p>
            <a:r>
              <a:t>Source: Slides\individual-slides\adding-ai-guardrails.md</a:t>
            </a:r>
          </a:p>
        </p:txBody>
      </p:sp>
      <p:sp>
        <p:nvSpPr>
          <p:cNvPr id="4" name="Slide Number Placeholder 3"/>
          <p:cNvSpPr>
            <a:spLocks noGrp="1"/>
          </p:cNvSpPr>
          <p:nvPr>
            <p:ph type="sldNum" sz="quarter" idx="5"/>
          </p:nvPr>
        </p:nvSpPr>
        <p:spPr/>
      </p:sp>
    </p:spTree>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Provenance is essential for conformance, auditability, and long-term maintainability.</a:t>
            </a:r>
          </a:p>
          <a:p>
            <a:endParaRPr/>
          </a:p>
          <a:p>
            <a:r>
              <a:t>It ensures teams know which artifacts were AI-generated, which were human-generated, and which were hybrid.</a:t>
            </a:r>
          </a:p>
          <a:p>
            <a:endParaRPr/>
          </a:p>
          <a:p>
            <a:r>
              <a:t>---</a:t>
            </a:r>
          </a:p>
          <a:p>
            <a:endParaRPr/>
          </a:p>
          <a:p>
            <a:r>
              <a:t>Source: Slides\individual-slides\adding-ai-guardrails.md</a:t>
            </a:r>
          </a:p>
        </p:txBody>
      </p:sp>
      <p:sp>
        <p:nvSpPr>
          <p:cNvPr id="4" name="Slide Number Placeholder 3"/>
          <p:cNvSpPr>
            <a:spLocks noGrp="1"/>
          </p:cNvSpPr>
          <p:nvPr>
            <p:ph type="sldNum" sz="quarter" idx="5"/>
          </p:nvPr>
        </p:nvSpPr>
        <p:spPr/>
      </p:sp>
    </p:spTree>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~00:10</a:t>
            </a:r>
          </a:p>
          <a:p>
            <a:endParaRPr/>
          </a:p>
          <a:p>
            <a:r>
              <a:t>This exercise reinforces the importance of maintaining consistent AI-assisted output policies across repositories. By copying the instructions file, participants learn to manage compliance and provenance requirements for AI-generated artifacts. Ensure the copied file is identical and properly placed to support future AI work.</a:t>
            </a:r>
          </a:p>
          <a:p>
            <a:endParaRPr/>
          </a:p>
          <a:p>
            <a:r>
              <a:t>---</a:t>
            </a:r>
          </a:p>
          <a:p>
            <a:endParaRPr/>
          </a:p>
          <a:p>
            <a:r>
              <a:t>Source: Slides\individual-slides\adding-ai-guardrails.md</a:t>
            </a:r>
          </a:p>
        </p:txBody>
      </p:sp>
      <p:sp>
        <p:nvSpPr>
          <p:cNvPr id="4" name="Slide Number Placeholder 3"/>
          <p:cNvSpPr>
            <a:spLocks noGrp="1"/>
          </p:cNvSpPr>
          <p:nvPr>
            <p:ph type="sldNum" sz="quarter" idx="5"/>
          </p:nvPr>
        </p:nvSpPr>
        <p:spPr/>
      </p:sp>
    </p:spTree>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Provenance is essential for conformance, auditability, and long-term maintainability.</a:t>
            </a:r>
          </a:p>
          <a:p>
            <a:endParaRPr/>
          </a:p>
          <a:p>
            <a:r>
              <a:t>It ensures teams know which artifacts were AI-generated, which were human-generated, and which were hybrid.</a:t>
            </a:r>
          </a:p>
          <a:p>
            <a:endParaRPr/>
          </a:p>
          <a:p>
            <a:r>
              <a:t>---</a:t>
            </a:r>
          </a:p>
          <a:p>
            <a:endParaRPr/>
          </a:p>
          <a:p>
            <a:r>
              <a:t>Source: Slides\individual-slides\adding-ai-guardrails.md</a:t>
            </a:r>
          </a:p>
        </p:txBody>
      </p:sp>
      <p:sp>
        <p:nvSpPr>
          <p:cNvPr id="4" name="Slide Number Placeholder 3"/>
          <p:cNvSpPr>
            <a:spLocks noGrp="1"/>
          </p:cNvSpPr>
          <p:nvPr>
            <p:ph type="sldNum" sz="quarter" idx="5"/>
          </p:nvPr>
        </p:nvSpPr>
        <p:spPr/>
      </p:sp>
    </p:spTree>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introduces the purpose of the AI-Assisted Output Instructions file: to enforce traceability, quality, and compliance for all AI-generated artifacts in the repository.</a:t>
            </a:r>
          </a:p>
          <a:p>
            <a:endParaRPr/>
          </a:p>
          <a:p>
            <a:r>
              <a:t>---</a:t>
            </a:r>
          </a:p>
          <a:p>
            <a:endParaRPr/>
          </a:p>
          <a:p>
            <a:r>
              <a:t>Source: Slides\individual-slides\adding-ai-guardrails.md</a:t>
            </a:r>
          </a:p>
        </p:txBody>
      </p:sp>
      <p:sp>
        <p:nvSpPr>
          <p:cNvPr id="4" name="Slide Number Placeholder 3"/>
          <p:cNvSpPr>
            <a:spLocks noGrp="1"/>
          </p:cNvSpPr>
          <p:nvPr>
            <p:ph type="sldNum" sz="quarter" idx="5"/>
          </p:nvPr>
        </p:nvSpPr>
        <p:spPr/>
      </p:sp>
    </p:spTree>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lists the mandatory metadata fields that must be embedded in every AI-generated file.</a:t>
            </a:r>
          </a:p>
          <a:p>
            <a:endParaRPr/>
          </a:p>
          <a:p>
            <a:r>
              <a:t>These fields ensure each artifact can be traced back to its origin, model, and operator.</a:t>
            </a:r>
          </a:p>
          <a:p>
            <a:endParaRPr/>
          </a:p>
          <a:p>
            <a:r>
              <a:t>---</a:t>
            </a:r>
          </a:p>
          <a:p>
            <a:endParaRPr/>
          </a:p>
          <a:p>
            <a:r>
              <a:t>Source: Slides\individual-slides\adding-ai-guardrails.md</a:t>
            </a:r>
          </a:p>
        </p:txBody>
      </p:sp>
      <p:sp>
        <p:nvSpPr>
          <p:cNvPr id="4" name="Slide Number Placeholder 3"/>
          <p:cNvSpPr>
            <a:spLocks noGrp="1"/>
          </p:cNvSpPr>
          <p:nvPr>
            <p:ph type="sldNum" sz="quarter" idx="5"/>
          </p:nvPr>
        </p:nvSpPr>
        <p:spPr/>
      </p:sp>
    </p:spTree>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explains where and how to place provenance metadata.</a:t>
            </a:r>
          </a:p>
          <a:p>
            <a:endParaRPr/>
          </a:p>
          <a:p>
            <a:r>
              <a:t>Markdown files must use embedded YAML front matter; only non-embeddable formats use sidecar files.</a:t>
            </a:r>
          </a:p>
          <a:p>
            <a:endParaRPr/>
          </a:p>
          <a:p>
            <a:r>
              <a:t>Note: Instructions files have limited support for metadata and must use sidecar files</a:t>
            </a:r>
          </a:p>
          <a:p>
            <a:endParaRPr/>
          </a:p>
          <a:p>
            <a:r>
              <a:t>---</a:t>
            </a:r>
          </a:p>
          <a:p>
            <a:endParaRPr/>
          </a:p>
          <a:p>
            <a:r>
              <a:t>Source: Slides\individual-slides\adding-ai-guardrails.md</a:t>
            </a:r>
          </a:p>
        </p:txBody>
      </p:sp>
      <p:sp>
        <p:nvSpPr>
          <p:cNvPr id="4" name="Slide Number Placeholder 3"/>
          <p:cNvSpPr>
            <a:spLocks noGrp="1"/>
          </p:cNvSpPr>
          <p:nvPr>
            <p:ph type="sldNum" sz="quarter" idx="5"/>
          </p:nvPr>
        </p:nvSpPr>
        <p:spPr/>
      </p:sp>
    </p:spTree>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describes the logging structure for AI chats.</a:t>
            </a:r>
          </a:p>
          <a:p>
            <a:endParaRPr/>
          </a:p>
          <a:p>
            <a:r>
              <a:t>Each session gets its own folder, transcript, and summary, ensuring clear separation and traceability.</a:t>
            </a:r>
          </a:p>
          <a:p>
            <a:endParaRPr/>
          </a:p>
          <a:p>
            <a:r>
              <a:t>---</a:t>
            </a:r>
          </a:p>
          <a:p>
            <a:endParaRPr/>
          </a:p>
          <a:p>
            <a:r>
              <a:t>Source: Slides\individual-slides\adding-ai-guardrails.md</a:t>
            </a:r>
          </a:p>
        </p:txBody>
      </p:sp>
      <p:sp>
        <p:nvSpPr>
          <p:cNvPr id="4" name="Slide Number Placeholder 3"/>
          <p:cNvSpPr>
            <a:spLocks noGrp="1"/>
          </p:cNvSpPr>
          <p:nvPr>
            <p:ph type="sldNum" sz="quarter" idx="5"/>
          </p:nvPr>
        </p:nvSpPr>
        <p:spPr/>
      </p:sp>
    </p:spTree>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summarizes the quality gates and PR requirements.</a:t>
            </a:r>
          </a:p>
          <a:p>
            <a:endParaRPr/>
          </a:p>
          <a:p>
            <a:r>
              <a:t>Artifacts must be fully documented, logs must exist, and sensitive data must be avoided.</a:t>
            </a:r>
          </a:p>
          <a:p>
            <a:endParaRPr/>
          </a:p>
          <a:p>
            <a:r>
              <a:t>---</a:t>
            </a:r>
          </a:p>
          <a:p>
            <a:endParaRPr/>
          </a:p>
          <a:p>
            <a:r>
              <a:t>Source: Slides\individual-slides\adding-ai-guardrails.md</a:t>
            </a:r>
          </a:p>
        </p:txBody>
      </p:sp>
      <p:sp>
        <p:nvSpPr>
          <p:cNvPr id="4" name="Slide Number Placeholder 3"/>
          <p:cNvSpPr>
            <a:spLocks noGrp="1"/>
          </p:cNvSpPr>
          <p:nvPr>
            <p:ph type="sldNum" sz="quarter" idx="5"/>
          </p:nvPr>
        </p:nvSpPr>
        <p:spPr/>
      </p:sp>
    </p:spTree>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highlights the requirements for GitHub Copilot integration.</a:t>
            </a:r>
          </a:p>
          <a:p>
            <a:endParaRPr/>
          </a:p>
          <a:p>
            <a:r>
              <a:t>Copilot should automate chat management, metadata injection, and enforce compliance before generating files.</a:t>
            </a:r>
          </a:p>
          <a:p>
            <a:endParaRPr/>
          </a:p>
          <a:p>
            <a:r>
              <a:t>---</a:t>
            </a:r>
          </a:p>
          <a:p>
            <a:endParaRPr/>
          </a:p>
          <a:p>
            <a:r>
              <a:t>Source: Slides\individual-slides\adding-ai-guardrails.md</a:t>
            </a:r>
          </a:p>
        </p:txBody>
      </p:sp>
      <p:sp>
        <p:nvSpPr>
          <p:cNvPr id="4" name="Slide Number Placeholder 3"/>
          <p:cNvSpPr>
            <a:spLocks noGrp="1"/>
          </p:cNvSpPr>
          <p:nvPr>
            <p:ph type="sldNum" sz="quarter" idx="5"/>
          </p:nvPr>
        </p:nvSpPr>
        <p:spPr/>
      </p:sp>
    </p:spTree>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explains enforcement:</a:t>
            </a:r>
          </a:p>
          <a:p>
            <a:endParaRPr/>
          </a:p>
          <a:p>
            <a:r>
              <a:t>PRs are blocked if requirements are not met.</a:t>
            </a:r>
          </a:p>
          <a:p>
            <a:endParaRPr/>
          </a:p>
          <a:p>
            <a:r>
              <a:t>Any missing provenance must be remediated before merging.</a:t>
            </a:r>
          </a:p>
          <a:p>
            <a:endParaRPr/>
          </a:p>
          <a:p>
            <a:r>
              <a:t>---</a:t>
            </a:r>
          </a:p>
          <a:p>
            <a:endParaRPr/>
          </a:p>
          <a:p>
            <a:r>
              <a:t>Source: Slides\individual-slides\adding-ai-guardrails.md</a:t>
            </a:r>
          </a:p>
        </p:txBody>
      </p:sp>
      <p:sp>
        <p:nvSpPr>
          <p:cNvPr id="4" name="Slide Number Placeholder 3"/>
          <p:cNvSpPr>
            <a:spLocks noGrp="1"/>
          </p:cNvSpPr>
          <p:nvPr>
            <p:ph type="sldNum" sz="quarter" idx="5"/>
          </p:nvPr>
        </p:nvSpPr>
        <p:spPr/>
      </p:sp>
    </p:spTree>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reinforces the value of these instructions: they ensure every AI-assisted artifact is trustworthy, auditable, and compliant with team and industry standards.</a:t>
            </a:r>
          </a:p>
          <a:p>
            <a:endParaRPr/>
          </a:p>
          <a:p>
            <a:r>
              <a:t>---</a:t>
            </a:r>
          </a:p>
          <a:p>
            <a:endParaRPr/>
          </a:p>
          <a:p>
            <a:r>
              <a:t>Source: Slides\individual-slides\adding-ai-guardrails.md</a:t>
            </a:r>
          </a:p>
        </p:txBody>
      </p:sp>
      <p:sp>
        <p:nvSpPr>
          <p:cNvPr id="4" name="Slide Number Placeholder 3"/>
          <p:cNvSpPr>
            <a:spLocks noGrp="1"/>
          </p:cNvSpPr>
          <p:nvPr>
            <p:ph type="sldNum" sz="quarter" idx="5"/>
          </p:nvPr>
        </p:nvSpPr>
        <p:spPr/>
      </p:sp>
    </p:spTree>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Source: Slides\individual-slides\adding-ai-guardrails.md</a:t>
            </a:r>
          </a:p>
        </p:txBody>
      </p:sp>
      <p:sp>
        <p:nvSpPr>
          <p:cNvPr id="4" name="Slide Number Placeholder 3"/>
          <p:cNvSpPr>
            <a:spLocks noGrp="1"/>
          </p:cNvSpPr>
          <p:nvPr>
            <p:ph type="sldNum" sz="quarter" idx="5"/>
          </p:nvPr>
        </p:nvSpPr>
        <p:spPr/>
      </p:sp>
    </p:spTree>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~00:10</a:t>
            </a:r>
          </a:p>
          <a:p>
            <a:endParaRPr/>
          </a:p>
          <a:p>
            <a:r>
              <a:t>This exercise builds foundational prompt-writing skills. Encourage participants to choose a real task to make the exercise concrete.</a:t>
            </a:r>
          </a:p>
          <a:p>
            <a:endParaRPr/>
          </a:p>
          <a:p>
            <a:r>
              <a:t>Prompt: Create a prompt file that creates an instruction file for evergreen software development</a:t>
            </a:r>
          </a:p>
          <a:p>
            <a:endParaRPr/>
          </a:p>
          <a:p>
            <a:r>
              <a:t>---</a:t>
            </a:r>
          </a:p>
          <a:p>
            <a:endParaRPr/>
          </a:p>
          <a:p>
            <a:r>
              <a:t>Source: Slides\individual-slides\adding-ai-guardrails.md</a:t>
            </a:r>
          </a:p>
        </p:txBody>
      </p:sp>
      <p:sp>
        <p:nvSpPr>
          <p:cNvPr id="4" name="Slide Number Placeholder 3"/>
          <p:cNvSpPr>
            <a:spLocks noGrp="1"/>
          </p:cNvSpPr>
          <p:nvPr>
            <p:ph type="sldNum" sz="quarter" idx="5"/>
          </p:nvPr>
        </p:nvSpPr>
        <p:spPr/>
      </p:sp>
    </p:spTree>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~00:15</a:t>
            </a:r>
          </a:p>
          <a:p>
            <a:endParaRPr/>
          </a:p>
          <a:p>
            <a:r>
              <a:t>This reinforces the evergreen mindset and produces a reusable artifact for future AI-assisted work.</a:t>
            </a:r>
          </a:p>
          <a:p>
            <a:endParaRPr/>
          </a:p>
          <a:p>
            <a:r>
              <a:t>Prompt: Submit the prompt #file:create-evergreen-software-instructions.prompt.md</a:t>
            </a:r>
          </a:p>
          <a:p>
            <a:endParaRPr/>
          </a:p>
          <a:p>
            <a:r>
              <a:t>---</a:t>
            </a:r>
          </a:p>
          <a:p>
            <a:endParaRPr/>
          </a:p>
          <a:p>
            <a:r>
              <a:t>Source: Slides\individual-slides\adding-ai-guardrails.md</a:t>
            </a:r>
          </a:p>
        </p:txBody>
      </p:sp>
      <p:sp>
        <p:nvSpPr>
          <p:cNvPr id="4" name="Slide Number Placeholder 3"/>
          <p:cNvSpPr>
            <a:spLocks noGrp="1"/>
          </p:cNvSpPr>
          <p:nvPr>
            <p:ph type="sldNum" sz="quarter" idx="5"/>
          </p:nvPr>
        </p:nvSpPr>
        <p:spPr/>
      </p:sp>
    </p:spTree>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~00:10</a:t>
            </a:r>
          </a:p>
          <a:p>
            <a:endParaRPr/>
          </a:p>
          <a:p>
            <a:r>
              <a:t>This helps participants shape AI behavior to match brownfield realities.</a:t>
            </a:r>
          </a:p>
          <a:p>
            <a:endParaRPr/>
          </a:p>
          <a:p>
            <a:r>
              <a:t>---</a:t>
            </a:r>
          </a:p>
          <a:p>
            <a:endParaRPr/>
          </a:p>
          <a:p>
            <a:r>
              <a:t>Source: Slides\individual-slides\adding-ai-guardrails.md</a:t>
            </a:r>
          </a:p>
        </p:txBody>
      </p:sp>
      <p:sp>
        <p:nvSpPr>
          <p:cNvPr id="4" name="Slide Number Placeholder 3"/>
          <p:cNvSpPr>
            <a:spLocks noGrp="1"/>
          </p:cNvSpPr>
          <p:nvPr>
            <p:ph type="sldNum" sz="quarter" idx="5"/>
          </p:nvPr>
        </p:nvSpPr>
        <p:spPr/>
      </p:sp>
    </p:spTree>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~00:20</a:t>
            </a:r>
          </a:p>
          <a:p>
            <a:endParaRPr/>
          </a:p>
          <a:p>
            <a:r>
              <a:t>Participants experience the leverage of meta prompts and see how AI can accelerate documentation.</a:t>
            </a:r>
          </a:p>
          <a:p>
            <a:endParaRPr/>
          </a:p>
          <a:p>
            <a:r>
              <a:t>Prompts:</a:t>
            </a:r>
          </a:p>
          <a:p>
            <a:endParaRPr/>
          </a:p>
          <a:p>
            <a:r>
              <a:t>Create instruction files for the backend technologies</a:t>
            </a:r>
          </a:p>
          <a:p>
            <a:endParaRPr/>
          </a:p>
          <a:p>
            <a:r>
              <a:t>Create instruction files for the front-end technologies</a:t>
            </a:r>
          </a:p>
          <a:p>
            <a:endParaRPr/>
          </a:p>
          <a:p>
            <a:r>
              <a:t>Create instruction files for the front-end technologies</a:t>
            </a:r>
          </a:p>
          <a:p>
            <a:endParaRPr/>
          </a:p>
          <a:p>
            <a:r>
              <a:t>---</a:t>
            </a:r>
          </a:p>
          <a:p>
            <a:endParaRPr/>
          </a:p>
          <a:p>
            <a:r>
              <a:t>Source: Slides\individual-slides\adding-ai-guardrails.md</a:t>
            </a:r>
          </a:p>
        </p:txBody>
      </p:sp>
      <p:sp>
        <p:nvSpPr>
          <p:cNvPr id="4" name="Slide Number Placeholder 3"/>
          <p:cNvSpPr>
            <a:spLocks noGrp="1"/>
          </p:cNvSpPr>
          <p:nvPr>
            <p:ph type="sldNum" sz="quarter" idx="5"/>
          </p:nvPr>
        </p:nvSpPr>
        <p:spPr/>
      </p:sp>
    </p:spTree>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~00:10</a:t>
            </a:r>
          </a:p>
          <a:p>
            <a:endParaRPr/>
          </a:p>
          <a:p>
            <a:r>
              <a:t>This exercise builds intuition for context management—one of the most important AI-era engineering skills.</a:t>
            </a:r>
          </a:p>
          <a:p>
            <a:endParaRPr/>
          </a:p>
          <a:p>
            <a:r>
              <a:t>---</a:t>
            </a:r>
          </a:p>
          <a:p>
            <a:endParaRPr/>
          </a:p>
          <a:p>
            <a:r>
              <a:t>Source: Slides\individual-slides\adding-ai-guardrails.md</a:t>
            </a:r>
          </a:p>
        </p:txBody>
      </p:sp>
      <p:sp>
        <p:nvSpPr>
          <p:cNvPr id="4" name="Slide Number Placeholder 3"/>
          <p:cNvSpPr>
            <a:spLocks noGrp="1"/>
          </p:cNvSpPr>
          <p:nvPr>
            <p:ph type="sldNum" sz="quarter" idx="5"/>
          </p:nvPr>
        </p:nvSpPr>
        <p:spPr/>
      </p:sp>
    </p:spTree>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**Opening**: This is the title slide introducing the concept of instruction files. **Keep It Brief**: Simply say "Let's talk about instruction files—a powerful way to guide AI behavior persistently across your projects." **Visual Cue**: Let the title appear, pause for 2-3 seconds. **No Content Yet**: Don't explain what they are—that's the next slide's job. **Transition**: "First, let me frame what we mean by 'persistent AI behavioral guidelines'..."</a:t>
            </a:r>
          </a:p>
          <a:p>
            <a:endParaRPr/>
          </a:p>
          <a:p>
            <a:r>
              <a:t>---</a:t>
            </a:r>
          </a:p>
          <a:p>
            <a:endParaRPr/>
          </a:p>
          <a:p>
            <a:r>
              <a:t>Source: Slides\individual-slides\instruction-files.md</a:t>
            </a:r>
          </a:p>
        </p:txBody>
      </p:sp>
      <p:sp>
        <p:nvSpPr>
          <p:cNvPr id="4" name="Slide Number Placeholder 3"/>
          <p:cNvSpPr>
            <a:spLocks noGrp="1"/>
          </p:cNvSpPr>
          <p:nvPr>
            <p:ph type="sldNum" sz="quarter" idx="5"/>
          </p:nvPr>
        </p:nvSpPr>
        <p:spPr/>
      </p:sp>
    </p:spTree>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**Frame the Concept**: This subtitle slide sets up the key mental model. **Persistent**: Emphasize that unlike one-time prompts, these rules stay active across multiple interactions. **Behavioral**: These files tell AI _how_ to work, not _what_ to build. **Guidelines vs Commands**: "Think of instruction files as automated code review rules that apply every time AI generates code." **Analogy**: "Like .editorconfig or .eslintrc files, but for AI behavior instead of code formatting." **Transition**: "So what exactly are instruction files? Let's define them..."</a:t>
            </a:r>
          </a:p>
          <a:p>
            <a:endParaRPr/>
          </a:p>
          <a:p>
            <a:r>
              <a:t>---</a:t>
            </a:r>
          </a:p>
          <a:p>
            <a:endParaRPr/>
          </a:p>
          <a:p>
            <a:r>
              <a:t>Source: Slides\individual-slides\instruction-files.md</a:t>
            </a:r>
          </a:p>
        </p:txBody>
      </p:sp>
      <p:sp>
        <p:nvSpPr>
          <p:cNvPr id="4" name="Slide Number Placeholder 3"/>
          <p:cNvSpPr>
            <a:spLocks noGrp="1"/>
          </p:cNvSpPr>
          <p:nvPr>
            <p:ph type="sldNum" sz="quarter" idx="5"/>
          </p:nvPr>
        </p:nvSpPr>
        <p:spPr/>
      </p:sp>
    </p:spTree>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**Definition Emphasis**: Read the definition slowly—this is foundational. **Configuration Metaphor**: "Just like you configure your IDE or linter, you configure your AI assistant with instruction files." **Automatic Application**: Key point: once created, they're automatically applied. No need to paste instructions repeatedly. **Standards Example**: "Example: All Azure code must use managed identities, no hardcoded keys. Put that in azure-dev.instructions.md, and AI will follow it automatically." **Scope Explanation**: Can apply broadly (`applyTo: "**"`) or narrowly (`applyTo: "*.cs"`). **How vs What**: Clarify: Instructions define _style_ ("use dependency injection") not _tasks_ ("build a login system"). **Audience Check**: "Does this distinction make sense—how versus what?" **Transition**: "Let me show you what one looks like..."</a:t>
            </a:r>
          </a:p>
          <a:p>
            <a:endParaRPr/>
          </a:p>
          <a:p>
            <a:r>
              <a:t>---</a:t>
            </a:r>
          </a:p>
          <a:p>
            <a:endParaRPr/>
          </a:p>
          <a:p>
            <a:r>
              <a:t>Source: Slides\individual-slides\instruction-files.md</a:t>
            </a:r>
          </a:p>
        </p:txBody>
      </p:sp>
      <p:sp>
        <p:nvSpPr>
          <p:cNvPr id="4" name="Slide Number Placeholder 3"/>
          <p:cNvSpPr>
            <a:spLocks noGrp="1"/>
          </p:cNvSpPr>
          <p:nvPr>
            <p:ph type="sldNum" sz="quarter" idx="5"/>
          </p:nvPr>
        </p:nvSpPr>
        <p:spPr/>
      </p:sp>
    </p:spTree>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Through Example**: Go section by section, don't rush. **YAML Front Matter**: "Every instruction file starts with metadata. Description explains purpose, applyTo defines scope." **ApplyTo Pattern**: Explain glob patterns—`"**"` means all files, `"*.py"` means Python only, `"src/**/*.ts"` means TypeScript in src folder. **Core Instructions**: "This section defines high-level principles—use Azure-specific tools, enforce security, proper error handling." **Code Generation Rules**: "This section gets tactical—TDD approach, dependency injection, naming standards, logging requirements." **Live Demo Opportunity**: If time permits, show a real instruction file from the repo. **Practical Point**: "AI reads this file automatically when working in your repo—no copy-paste needed." **Transition**: "When should you use instruction files? Let's look at common use cases..."</a:t>
            </a:r>
          </a:p>
          <a:p>
            <a:endParaRPr/>
          </a:p>
          <a:p>
            <a:r>
              <a:t>---</a:t>
            </a:r>
          </a:p>
          <a:p>
            <a:endParaRPr/>
          </a:p>
          <a:p>
            <a:r>
              <a:t>Source: Slides\individual-slides\instruction-files.md</a:t>
            </a:r>
          </a:p>
        </p:txBody>
      </p:sp>
      <p:sp>
        <p:nvSpPr>
          <p:cNvPr id="4" name="Slide Number Placeholder 3"/>
          <p:cNvSpPr>
            <a:spLocks noGrp="1"/>
          </p:cNvSpPr>
          <p:nvPr>
            <p:ph type="sldNum" sz="quarter" idx="5"/>
          </p:nvPr>
        </p:nvSpPr>
        <p:spPr/>
      </p:sp>
    </p:spTree>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**Use Cases Overview**: These are the "why" behind instruction files. **Coding Standards**: "Every team has style preferences—indentation, naming, file organization. Instruction files codify this for AI." **Security Example**: "You can mandate: 'Never log passwords', 'Always sanitize user input', 'Use parameterized queries'. AI will follow these rules automatically." **Quality Gates**: "Require test coverage thresholds, code review checklists, documentation standards." **Technology Constraints**: "Enterprise scenario: only approved libraries/frameworks allowed. Instruction file enforces this." **Real Examples**: Point to each example filename and briefly explain: azure-development covers cloud-specific patterns, testing-standards defines test structure, security-requirements enforces security policies. **Team Benefit**: "This is especially powerful for teams—everyone's AI assistant follows the same rules, producing consistent output." **Transition**: "Before we move on, let me share some best practices..."</a:t>
            </a:r>
          </a:p>
          <a:p>
            <a:endParaRPr/>
          </a:p>
          <a:p>
            <a:r>
              <a:t>---</a:t>
            </a:r>
          </a:p>
          <a:p>
            <a:endParaRPr/>
          </a:p>
          <a:p>
            <a:r>
              <a:t>Source: Slides\individual-slides\instruction-files.md</a:t>
            </a:r>
          </a:p>
        </p:txBody>
      </p:sp>
      <p:sp>
        <p:nvSpPr>
          <p:cNvPr id="4" name="Slide Number Placeholder 3"/>
          <p:cNvSpPr>
            <a:spLocks noGrp="1"/>
          </p:cNvSpPr>
          <p:nvPr>
            <p:ph type="sldNum" sz="quarter" idx="5"/>
          </p:nvPr>
        </p:nvSpPr>
        <p:spPr/>
      </p:sp>
    </p:spTree>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**Best Practices Summary**: This slide prevents common mistakes. **Clear and Actionable**: Bad: "Code should be good." Good: "Use async/await for I/O operations." Be specific. **File Patterns**: Explain `applyTo` strategy—broad patterns for general rules, narrow patterns for specific contexts. **Version Control**: "Instruction files are code. Commit them, review changes, track evolution." **Test Effectiveness**: "After creating an instruction file, test it—ask AI to generate code and verify it follows the rules." **Avoid Complexity**: "If AI can't understand your instructions, they won't work. Keep language simple, rules unambiguous." **Cognitive Overload**: "Don't create 50 instruction files. AI (like humans) can only track so much. Consolidate related rules." **Conflicts**: "Instruction files apply automatically, prompts are one-time. Make sure they don't contradict each other." **No Hardcoding**: "Use parameters and environment variables, not hardcoded URLs or credentials." **Practical Advice**: "Start small—one or two instruction files. Expand based on team needs." **Transition**: Depending on agenda, either "Let's see this in action with a hands-on demo..." or "Questions about instruction files before we move on?"</a:t>
            </a:r>
          </a:p>
          <a:p>
            <a:endParaRPr/>
          </a:p>
          <a:p>
            <a:r>
              <a:t>---</a:t>
            </a:r>
          </a:p>
          <a:p>
            <a:endParaRPr/>
          </a:p>
          <a:p>
            <a:r>
              <a:t>Source: Slides\individual-slides\instruction-files.md</a:t>
            </a:r>
          </a:p>
        </p:txBody>
      </p:sp>
      <p:sp>
        <p:nvSpPr>
          <p:cNvPr id="4" name="Slide Number Placeholder 3"/>
          <p:cNvSpPr>
            <a:spLocks noGrp="1"/>
          </p:cNvSpPr>
          <p:nvPr>
            <p:ph type="sldNum" sz="quarter" idx="5"/>
          </p:nvPr>
        </p:nvSpPr>
        <p:spPr/>
      </p:sp>
    </p:spTree>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~00:01</a:t>
            </a:r>
          </a:p>
          <a:p>
            <a:endParaRPr/>
          </a:p>
          <a:p>
            <a:r>
              <a:t>Welcome to this presentation on instruction file applyTo patterns. This is a critical concept for managing GitHub Copilot's behavior across your codebase. By the end of this session, you'll understand how to precisely control which files your instruction files apply to using glob patterns.</a:t>
            </a:r>
          </a:p>
          <a:p>
            <a:endParaRPr/>
          </a:p>
          <a:p>
            <a:r>
              <a:t>**Key Point**: This is about precision - getting Copilot to apply the right rules to the right files</a:t>
            </a:r>
          </a:p>
          <a:p>
            <a:r>
              <a:t>**Transition**: "Let's start by understanding what the applyTo field actually does"</a:t>
            </a:r>
          </a:p>
          <a:p>
            <a:endParaRPr/>
          </a:p>
          <a:p>
            <a:r>
              <a:t>---</a:t>
            </a:r>
          </a:p>
          <a:p>
            <a:endParaRPr/>
          </a:p>
          <a:p>
            <a:r>
              <a:t>Source: Slides\individual-slides\instruction-file-applyto-patterns.md</a:t>
            </a:r>
          </a:p>
        </p:txBody>
      </p:sp>
      <p:sp>
        <p:nvSpPr>
          <p:cNvPr id="4" name="Slide Number Placeholder 3"/>
          <p:cNvSpPr>
            <a:spLocks noGrp="1"/>
          </p:cNvSpPr>
          <p:nvPr>
            <p:ph type="sldNum" sz="quarter" idx="5"/>
          </p:nvPr>
        </p:nvSpPr>
        <p:spPr/>
      </p:sp>
    </p:spTree>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Source: Slides\individual-slides\instruction-file-applyto-patterns.md</a:t>
            </a:r>
          </a:p>
        </p:txBody>
      </p:sp>
      <p:sp>
        <p:nvSpPr>
          <p:cNvPr id="4" name="Slide Number Placeholder 3"/>
          <p:cNvSpPr>
            <a:spLocks noGrp="1"/>
          </p:cNvSpPr>
          <p:nvPr>
            <p:ph type="sldNum" sz="quarter" idx="5"/>
          </p:nvPr>
        </p:nvSpPr>
        <p:spPr/>
      </p:sp>
    </p:spTree>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Source: Slides\individual-slides\instruction-file-applyto-patterns.md</a:t>
            </a:r>
          </a:p>
        </p:txBody>
      </p:sp>
      <p:sp>
        <p:nvSpPr>
          <p:cNvPr id="4" name="Slide Number Placeholder 3"/>
          <p:cNvSpPr>
            <a:spLocks noGrp="1"/>
          </p:cNvSpPr>
          <p:nvPr>
            <p:ph type="sldNum" sz="quarter" idx="5"/>
          </p:nvPr>
        </p:nvSpPr>
        <p:spPr/>
      </p:sp>
    </p:spTree>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~00:02</a:t>
            </a:r>
          </a:p>
          <a:p>
            <a:endParaRPr/>
          </a:p>
          <a:p>
            <a:r>
              <a:t>The applyTo field is part of the YAML front matter in instruction files. It uses glob patterns to match file paths. When you open a file in VS Code, Copilot checks all instruction files and loads only those whose applyTo pattern matches the current file.</a:t>
            </a:r>
          </a:p>
          <a:p>
            <a:endParaRPr/>
          </a:p>
          <a:p>
            <a:r>
              <a:t>**Why this matters**: Without proper applyTo patterns, you might have documentation standards trying to apply to code files, or architecture patterns trying to apply to configuration files. This creates confusion and can lead to poor AI suggestions.</a:t>
            </a:r>
          </a:p>
          <a:p>
            <a:endParaRPr/>
          </a:p>
          <a:p>
            <a:r>
              <a:t>**Example to share**: "Imagine having CQRS architecture instructions applying to your README files - that would be nonsensical. The applyTo field prevents this."</a:t>
            </a:r>
          </a:p>
          <a:p>
            <a:endParaRPr/>
          </a:p>
          <a:p>
            <a:r>
              <a:t>**Transition**: "Now let's look at the most common pattern types you'll use"</a:t>
            </a:r>
          </a:p>
          <a:p>
            <a:endParaRPr/>
          </a:p>
          <a:p>
            <a:r>
              <a:t>---</a:t>
            </a:r>
          </a:p>
          <a:p>
            <a:endParaRPr/>
          </a:p>
          <a:p>
            <a:r>
              <a:t>Source: Slides\individual-slides\instruction-file-applyto-patterns.md</a:t>
            </a:r>
          </a:p>
        </p:txBody>
      </p:sp>
      <p:sp>
        <p:nvSpPr>
          <p:cNvPr id="4" name="Slide Number Placeholder 3"/>
          <p:cNvSpPr>
            <a:spLocks noGrp="1"/>
          </p:cNvSpPr>
          <p:nvPr>
            <p:ph type="sldNum" sz="quarter" idx="5"/>
          </p:nvPr>
        </p:nvSpPr>
        <p:spPr/>
      </p:sp>
    </p:spTree>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~00:02</a:t>
            </a:r>
          </a:p>
          <a:p>
            <a:endParaRPr/>
          </a:p>
          <a:p>
            <a:r>
              <a:t>The double asterisk wildcard is the universal matcher. Use this for repository-wide policies that should apply everywhere - things like your AI-assisted output instructions, general quality standards, or compliance requirements.</a:t>
            </a:r>
          </a:p>
          <a:p>
            <a:endParaRPr/>
          </a:p>
          <a:p>
            <a:r>
              <a:t>**Important warning**: Overusing universal patterns is a common mistake. Every universal instruction adds to the context Copilot needs to process for every file. If you have 10 instruction files all using "\*\*", Copilot has to load all 10 for every single file you open.</a:t>
            </a:r>
          </a:p>
          <a:p>
            <a:endParaRPr/>
          </a:p>
          <a:p>
            <a:r>
              <a:t>**Best practice**: Reserve universal patterns for truly universal policies. Most instructions should be more specific.</a:t>
            </a:r>
          </a:p>
          <a:p>
            <a:endParaRPr/>
          </a:p>
          <a:p>
            <a:r>
              <a:t>**Real example from the repo**: The ai-assisted-output.instructions.md uses "\*_/_" because AI provenance metadata requirements apply to all AI-generated content regardless of file type.</a:t>
            </a:r>
          </a:p>
          <a:p>
            <a:endParaRPr/>
          </a:p>
          <a:p>
            <a:r>
              <a:t>**Ask audience**: "How many instruction files do you think should realistically use universal patterns? Usually no more than 2-3."</a:t>
            </a:r>
          </a:p>
          <a:p>
            <a:endParaRPr/>
          </a:p>
          <a:p>
            <a:r>
              <a:t>---</a:t>
            </a:r>
          </a:p>
          <a:p>
            <a:endParaRPr/>
          </a:p>
          <a:p>
            <a:r>
              <a:t>Source: Slides\individual-slides\instruction-file-applyto-patterns.md</a:t>
            </a:r>
          </a:p>
        </p:txBody>
      </p:sp>
      <p:sp>
        <p:nvSpPr>
          <p:cNvPr id="4" name="Slide Number Placeholder 3"/>
          <p:cNvSpPr>
            <a:spLocks noGrp="1"/>
          </p:cNvSpPr>
          <p:nvPr>
            <p:ph type="sldNum" sz="quarter" idx="5"/>
          </p:nvPr>
        </p:nvSpPr>
        <p:spPr/>
      </p:sp>
    </p:spTree>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~00:02</a:t>
            </a:r>
          </a:p>
          <a:p>
            <a:endParaRPr/>
          </a:p>
          <a:p>
            <a:r>
              <a:t>File extension matching is probably the most common pattern you'll use. The key syntax here is the brace expansion - that's the curly braces with comma-separated extensions.</a:t>
            </a:r>
          </a:p>
          <a:p>
            <a:endParaRPr/>
          </a:p>
          <a:p>
            <a:r>
              <a:t>**Walking through the examples**:</a:t>
            </a:r>
          </a:p>
          <a:p>
            <a:endParaRPr/>
          </a:p>
          <a:p>
            <a:r>
              <a:t>1. "\*_/_.md" - Double star means any directory depth, forward slash, star means any filename, dot md means must end with .md</a:t>
            </a:r>
          </a:p>
          <a:p>
            <a:r>
              <a:t>2. The brace expansion lets you list multiple extensions without repeating the pattern</a:t>
            </a:r>
          </a:p>
          <a:p>
            <a:r>
              <a:t>3. You can be even more specific with compound extensions like .instructions.md</a:t>
            </a:r>
          </a:p>
          <a:p>
            <a:endParaRPr/>
          </a:p>
          <a:p>
            <a:r>
              <a:t>**Pro tip**: When you need to apply instructions to code files across multiple languages, use the brace expansion. In this repo, vertical slice architecture instructions use "\*_/_.{cs,ts,js,py,java,go,rb}" to cover all supported languages.</a:t>
            </a:r>
          </a:p>
          <a:p>
            <a:endParaRPr/>
          </a:p>
          <a:p>
            <a:r>
              <a:t>**Common mistake**: Forgetting the **/ at the start means only files in the root directory match</a:t>
            </a:r>
          </a:p>
          <a:p>
            <a:r>
              <a:t>**Correct**: "**/_.md" matches all markdown files recursively</a:t>
            </a:r>
          </a:p>
          <a:p>
            <a:r>
              <a:t>**Incorrect**: "_.md" only matches markdown files in root directory</a:t>
            </a:r>
          </a:p>
          <a:p>
            <a:endParaRPr/>
          </a:p>
          <a:p>
            <a:r>
              <a:t>**Demonstrate**: Show how the pattern breaks down visually</a:t>
            </a:r>
          </a:p>
          <a:p>
            <a:endParaRPr/>
          </a:p>
          <a:p>
            <a:r>
              <a:t>---</a:t>
            </a:r>
          </a:p>
          <a:p>
            <a:endParaRPr/>
          </a:p>
          <a:p>
            <a:r>
              <a:t>Source: Slides\individual-slides\instruction-file-applyto-patterns.md</a:t>
            </a:r>
          </a:p>
        </p:txBody>
      </p:sp>
      <p:sp>
        <p:nvSpPr>
          <p:cNvPr id="4" name="Slide Number Placeholder 3"/>
          <p:cNvSpPr>
            <a:spLocks noGrp="1"/>
          </p:cNvSpPr>
          <p:nvPr>
            <p:ph type="sldNum" sz="quarter" idx="5"/>
          </p:nvPr>
        </p:nvSpPr>
        <p:spPr/>
      </p:sp>
    </p:spTree>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~00:02</a:t>
            </a:r>
          </a:p>
          <a:p>
            <a:endParaRPr/>
          </a:p>
          <a:p>
            <a:r>
              <a:t>Directory-specific patterns are crucial for organizing large codebases. They let you say "these architecture rules only apply to source code" or "these formatting rules only apply to slides."</a:t>
            </a:r>
          </a:p>
          <a:p>
            <a:endParaRPr/>
          </a:p>
          <a:p>
            <a:r>
              <a:t>**Breaking down the syntax**:</a:t>
            </a:r>
          </a:p>
          <a:p>
            <a:endParaRPr/>
          </a:p>
          <a:p>
            <a:r>
              <a:t>- "Slides/individual-slides/**" - Note there's no leading slash or asterisks. This matches the specific directory path, then /** means everything underneath it</a:t>
            </a:r>
          </a:p>
          <a:p>
            <a:r>
              <a:t>- "src/Features/\*_/_.cs" - Combines directory path with file extension filter</a:t>
            </a:r>
          </a:p>
          <a:p>
            <a:r>
              <a:t>- The pattern is always relative to the repository root</a:t>
            </a:r>
          </a:p>
          <a:p>
            <a:endParaRPr/>
          </a:p>
          <a:p>
            <a:r>
              <a:t>**Real-world example from this repo**: The marp-slides.instructions.md uses "Slides/individual-slides/\*\*" because those formatting rules should only apply to presentation slides, not to other markdown files like README.md or documentation.</a:t>
            </a:r>
          </a:p>
          <a:p>
            <a:endParaRPr/>
          </a:p>
          <a:p>
            <a:r>
              <a:t>**Another example**: You might have vertical-slice.instructions.md with "src/Features/\*_/_.cs" so those architectural patterns only apply to feature code, not to infrastructure or configuration code.</a:t>
            </a:r>
          </a:p>
          <a:p>
            <a:endParaRPr/>
          </a:p>
          <a:p>
            <a:r>
              <a:t>**Visual aid**: If possible, show the repository structure and how the pattern matches</a:t>
            </a:r>
          </a:p>
          <a:p>
            <a:r>
              <a:t>**Transition**: "Let's dive deeper into the glob syntax itself"</a:t>
            </a:r>
          </a:p>
          <a:p>
            <a:endParaRPr/>
          </a:p>
          <a:p>
            <a:r>
              <a:t>---</a:t>
            </a:r>
          </a:p>
          <a:p>
            <a:endParaRPr/>
          </a:p>
          <a:p>
            <a:r>
              <a:t>Source: Slides\individual-slides\instruction-file-applyto-patterns.md</a:t>
            </a:r>
          </a:p>
        </p:txBody>
      </p:sp>
      <p:sp>
        <p:nvSpPr>
          <p:cNvPr id="4" name="Slide Number Placeholder 3"/>
          <p:cNvSpPr>
            <a:spLocks noGrp="1"/>
          </p:cNvSpPr>
          <p:nvPr>
            <p:ph type="sldNum" sz="quarter" idx="5"/>
          </p:nvPr>
        </p:nvSpPr>
        <p:spPr/>
      </p:sp>
    </p:spTree>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~00:03</a:t>
            </a:r>
          </a:p>
          <a:p>
            <a:endParaRPr/>
          </a:p>
          <a:p>
            <a:r>
              <a:t>This slide is your reference guide for glob pattern syntax. Let's walk through each one with careful attention to the distinctions:</a:t>
            </a:r>
          </a:p>
          <a:p>
            <a:endParaRPr/>
          </a:p>
          <a:p>
            <a:r>
              <a:t>**Single asterisk (\*)**:</a:t>
            </a:r>
          </a:p>
          <a:p>
            <a:endParaRPr/>
          </a:p>
          <a:p>
            <a:r>
              <a:t>- Matches any characters EXCEPT forward slash</a:t>
            </a:r>
          </a:p>
          <a:p>
            <a:r>
              <a:t>- "\*.md" matches "README.md" in the current directory</a:t>
            </a:r>
          </a:p>
          <a:p>
            <a:r>
              <a:t>- Does NOT match "docs/README.md" - the slash breaks the match</a:t>
            </a:r>
          </a:p>
          <a:p>
            <a:r>
              <a:t>- Think of it as "wildcard within one directory level"</a:t>
            </a:r>
          </a:p>
          <a:p>
            <a:endParaRPr/>
          </a:p>
          <a:p>
            <a:r>
              <a:t>**Double asterisk (**)\*\*:</a:t>
            </a:r>
          </a:p>
          <a:p>
            <a:endParaRPr/>
          </a:p>
          <a:p>
            <a:r>
              <a:t>- This is the recursive directory matcher</a:t>
            </a:r>
          </a:p>
          <a:p>
            <a:r>
              <a:t>- Can match zero or more directory levels</a:t>
            </a:r>
          </a:p>
          <a:p>
            <a:r>
              <a:t>- "\*_/_.md" matches files at any depth</a:t>
            </a:r>
          </a:p>
          <a:p>
            <a:r>
              <a:t>- Critical: It must be its own path segment - "**/" not "**/file.md"</a:t>
            </a:r>
          </a:p>
          <a:p>
            <a:endParaRPr/>
          </a:p>
          <a:p>
            <a:r>
              <a:t>**Question mark (?)**:</a:t>
            </a:r>
          </a:p>
          <a:p>
            <a:endParaRPr/>
          </a:p>
          <a:p>
            <a:r>
              <a:t>- Exactly one character (useful for versioned files)</a:t>
            </a:r>
          </a:p>
          <a:p>
            <a:r>
              <a:t>- "config?.json" matches "config1.json" and "configA.json"</a:t>
            </a:r>
          </a:p>
          <a:p>
            <a:r>
              <a:t>- Does NOT match "config10.json" (that's two characters)</a:t>
            </a:r>
          </a:p>
          <a:p>
            <a:endParaRPr/>
          </a:p>
          <a:p>
            <a:r>
              <a:t>**Brackets [abc] and [a-z]**:</a:t>
            </a:r>
          </a:p>
          <a:p>
            <a:endParaRPr/>
          </a:p>
          <a:p>
            <a:r>
              <a:t>- Character classes - match one character from the set</a:t>
            </a:r>
          </a:p>
          <a:p>
            <a:r>
              <a:t>- Useful for version numbers or variant files</a:t>
            </a:r>
          </a:p>
          <a:p>
            <a:r>
              <a:t>- "file[123].md" matches file1.md, file2.md, file3.md</a:t>
            </a:r>
          </a:p>
          <a:p>
            <a:endParaRPr/>
          </a:p>
          <a:p>
            <a:r>
              <a:t>**Braces {a,b}**:</a:t>
            </a:r>
          </a:p>
          <a:p>
            <a:endParaRPr/>
          </a:p>
          <a:p>
            <a:r>
              <a:t>- This is alternation - match any of the alternatives</a:t>
            </a:r>
          </a:p>
          <a:p>
            <a:r>
              <a:t>- Most commonly used for file extensions</a:t>
            </a:r>
          </a:p>
          <a:p>
            <a:r>
              <a:t>- "\*.{js,ts,jsx,tsx}" matches all JavaScript/TypeScript files</a:t>
            </a:r>
          </a:p>
          <a:p>
            <a:r>
              <a:t>- Each alternative can itself be a pattern</a:t>
            </a:r>
          </a:p>
          <a:p>
            <a:endParaRPr/>
          </a:p>
          <a:p>
            <a:r>
              <a:t>**Demonstrate**: Show 2-3 concrete examples with actual files</a:t>
            </a:r>
          </a:p>
          <a:p>
            <a:r>
              <a:t>**Transition**: "Now let's see these patterns in action with real examples from this repository"</a:t>
            </a:r>
          </a:p>
          <a:p>
            <a:endParaRPr/>
          </a:p>
          <a:p>
            <a:r>
              <a:t>---</a:t>
            </a:r>
          </a:p>
          <a:p>
            <a:endParaRPr/>
          </a:p>
          <a:p>
            <a:r>
              <a:t>Source: Slides\individual-slides\instruction-file-applyto-patterns.md</a:t>
            </a:r>
          </a:p>
        </p:txBody>
      </p:sp>
      <p:sp>
        <p:nvSpPr>
          <p:cNvPr id="4" name="Slide Number Placeholder 3"/>
          <p:cNvSpPr>
            <a:spLocks noGrp="1"/>
          </p:cNvSpPr>
          <p:nvPr>
            <p:ph type="sldNum" sz="quarter" idx="5"/>
          </p:nvPr>
        </p:nvSpPr>
        <p:spPr/>
      </p:sp>
    </p:spTree>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~00:03</a:t>
            </a:r>
          </a:p>
          <a:p>
            <a:endParaRPr/>
          </a:p>
          <a:p>
            <a:r>
              <a:t>These are actual examples from the AI-Assisted-Software-Development-Course repository. Let's analyze why each pattern was chosen:</a:t>
            </a:r>
          </a:p>
          <a:p>
            <a:endParaRPr/>
          </a:p>
          <a:p>
            <a:r>
              <a:t>**Example 1 - AI Output Standards**:</a:t>
            </a:r>
          </a:p>
          <a:p>
            <a:endParaRPr/>
          </a:p>
          <a:p>
            <a:r>
              <a:t>- Uses "\*_/_" because AI provenance requirements apply to ALL artifacts</a:t>
            </a:r>
          </a:p>
          <a:p>
            <a:r>
              <a:t>- This includes code, docs, config files, images (via sidecar metadata)</a:t>
            </a:r>
          </a:p>
          <a:p>
            <a:r>
              <a:t>- Appropriate use of universal pattern because it's a universal policy</a:t>
            </a:r>
          </a:p>
          <a:p>
            <a:endParaRPr/>
          </a:p>
          <a:p>
            <a:r>
              <a:t>**Example 2 - Vertical Slice Architecture**:</a:t>
            </a:r>
          </a:p>
          <a:p>
            <a:endParaRPr/>
          </a:p>
          <a:p>
            <a:r>
              <a:t>- Targets only programming language source files</a:t>
            </a:r>
          </a:p>
          <a:p>
            <a:r>
              <a:t>- Notice it includes 7 different languages</a:t>
            </a:r>
          </a:p>
          <a:p>
            <a:r>
              <a:t>- Does NOT apply to config files (JSON, YAML) or documentation</a:t>
            </a:r>
          </a:p>
          <a:p>
            <a:r>
              <a:t>- This prevents architecture patterns from being suggested in README files</a:t>
            </a:r>
          </a:p>
          <a:p>
            <a:endParaRPr/>
          </a:p>
          <a:p>
            <a:r>
              <a:t>**Example 3 - Business Rules Documentation**:</a:t>
            </a:r>
          </a:p>
          <a:p>
            <a:endParaRPr/>
          </a:p>
          <a:p>
            <a:r>
              <a:t>- Only Markdown and text files</a:t>
            </a:r>
          </a:p>
          <a:p>
            <a:r>
              <a:t>- Instructions about translating business rules to documentation</a:t>
            </a:r>
          </a:p>
          <a:p>
            <a:r>
              <a:t>- Deliberately excludes code files</a:t>
            </a:r>
          </a:p>
          <a:p>
            <a:endParaRPr/>
          </a:p>
          <a:p>
            <a:r>
              <a:t>**Example 4 - Marp Slide Formatting**:</a:t>
            </a:r>
          </a:p>
          <a:p>
            <a:endParaRPr/>
          </a:p>
          <a:p>
            <a:r>
              <a:t>- Highly specific - only the slides directory</a:t>
            </a:r>
          </a:p>
          <a:p>
            <a:r>
              <a:t>- Even though slides are .md files, they have different formatting rules than regular docs</a:t>
            </a:r>
          </a:p>
          <a:p>
            <a:r>
              <a:t>- This specificity prevents slide formatting rules from applying to README.md</a:t>
            </a:r>
          </a:p>
          <a:p>
            <a:endParaRPr/>
          </a:p>
          <a:p>
            <a:r>
              <a:t>**Example 5 - Prompt File Authoring**:</a:t>
            </a:r>
          </a:p>
          <a:p>
            <a:endParaRPr/>
          </a:p>
          <a:p>
            <a:r>
              <a:t>- Targets the specialized .prompt.md file extension</a:t>
            </a:r>
          </a:p>
          <a:p>
            <a:r>
              <a:t>- These files have specific structure requirements</a:t>
            </a:r>
          </a:p>
          <a:p>
            <a:r>
              <a:t>- Using the exact extension prevents these rules from applying to regular markdown</a:t>
            </a:r>
          </a:p>
          <a:p>
            <a:endParaRPr/>
          </a:p>
          <a:p>
            <a:r>
              <a:t>**Key lesson**: Notice how each pattern precisely targets its intended scope. There's no overlap or ambiguity.</a:t>
            </a:r>
          </a:p>
          <a:p>
            <a:endParaRPr/>
          </a:p>
          <a:p>
            <a:r>
              <a:t>**Ask**: "Can anyone think of what would happen if example 4 used '\*_/_.md' instead? Right - slide formatting rules would apply to all markdown, including README files, causing conflicts."</a:t>
            </a:r>
          </a:p>
          <a:p>
            <a:endParaRPr/>
          </a:p>
          <a:p>
            <a:r>
              <a:t>---</a:t>
            </a:r>
          </a:p>
          <a:p>
            <a:endParaRPr/>
          </a:p>
          <a:p>
            <a:r>
              <a:t>Source: Slides\individual-slides\instruction-file-applyto-patterns.md</a:t>
            </a:r>
          </a:p>
        </p:txBody>
      </p:sp>
      <p:sp>
        <p:nvSpPr>
          <p:cNvPr id="4" name="Slide Number Placeholder 3"/>
          <p:cNvSpPr>
            <a:spLocks noGrp="1"/>
          </p:cNvSpPr>
          <p:nvPr>
            <p:ph type="sldNum" sz="quarter" idx="5"/>
          </p:nvPr>
        </p:nvSpPr>
        <p:spPr/>
      </p:sp>
    </p:spTree>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~00:03</a:t>
            </a:r>
          </a:p>
          <a:p>
            <a:endParaRPr/>
          </a:p>
          <a:p>
            <a:r>
              <a:t>Let's establish three core best practices that will guide your applyTo pattern decisions:</a:t>
            </a:r>
          </a:p>
          <a:p>
            <a:endParaRPr/>
          </a:p>
          <a:p>
            <a:r>
              <a:t>**Best Practice 1: Be Specific When Possible**</a:t>
            </a:r>
          </a:p>
          <a:p>
            <a:endParaRPr/>
          </a:p>
          <a:p>
            <a:r>
              <a:t>The more specific your pattern, the better. Why?</a:t>
            </a:r>
          </a:p>
          <a:p>
            <a:endParaRPr/>
          </a:p>
          <a:p>
            <a:r>
              <a:t>- Reduces Copilot context size (faster responses)</a:t>
            </a:r>
          </a:p>
          <a:p>
            <a:r>
              <a:t>- Prevents instruction conflicts</a:t>
            </a:r>
          </a:p>
          <a:p>
            <a:r>
              <a:t>- Makes intent clear to other developers</a:t>
            </a:r>
          </a:p>
          <a:p>
            <a:r>
              <a:t>- Easier to debug when instructions aren't applying as expected</a:t>
            </a:r>
          </a:p>
          <a:p>
            <a:endParaRPr/>
          </a:p>
          <a:p>
            <a:r>
              <a:t>Counter-example: If you use "\*\*" for styling instructions that really only apply to frontend components, Copilot will load those instructions even when editing backend API code or database migrations. That's wasteful and confusing.</a:t>
            </a:r>
          </a:p>
          <a:p>
            <a:endParaRPr/>
          </a:p>
          <a:p>
            <a:r>
              <a:t>**Best Practice 2: Use Brace Expansion**</a:t>
            </a:r>
          </a:p>
          <a:p>
            <a:endParaRPr/>
          </a:p>
          <a:p>
            <a:r>
              <a:t>When instructions apply to multiple file types, use brace expansion rather than creating multiple instruction files:</a:t>
            </a:r>
          </a:p>
          <a:p>
            <a:endParaRPr/>
          </a:p>
          <a:p>
            <a:r>
              <a:t>- Maintains single source of truth</a:t>
            </a:r>
          </a:p>
          <a:p>
            <a:r>
              <a:t>- Easier to update (one file instead of many)</a:t>
            </a:r>
          </a:p>
          <a:p>
            <a:r>
              <a:t>- Consistent rules across languages</a:t>
            </a:r>
          </a:p>
          <a:p>
            <a:endParaRPr/>
          </a:p>
          <a:p>
            <a:r>
              <a:t>But be careful: Only group file types that truly need the same instructions. Don't group Python and JavaScript just because they're both "code" if the instructions differ.</a:t>
            </a:r>
          </a:p>
          <a:p>
            <a:endParaRPr/>
          </a:p>
          <a:p>
            <a:r>
              <a:t>**Best Practice 3: Match Scope to Purpose**</a:t>
            </a:r>
          </a:p>
          <a:p>
            <a:endParaRPr/>
          </a:p>
          <a:p>
            <a:r>
              <a:t>This is about semantic clarity:</a:t>
            </a:r>
          </a:p>
          <a:p>
            <a:endParaRPr/>
          </a:p>
          <a:p>
            <a:r>
              <a:t>- Architecture patterns → Source code directories</a:t>
            </a:r>
          </a:p>
          <a:p>
            <a:r>
              <a:t>- Documentation standards → Docs directories</a:t>
            </a:r>
          </a:p>
          <a:p>
            <a:r>
              <a:t>- Testing guidelines → Test directories</a:t>
            </a:r>
          </a:p>
          <a:p>
            <a:r>
              <a:t>- Deployment instructions → CI/CD configs</a:t>
            </a:r>
          </a:p>
          <a:p>
            <a:endParaRPr/>
          </a:p>
          <a:p>
            <a:r>
              <a:t>The pattern should make the instruction's purpose obvious at a glance.</a:t>
            </a:r>
          </a:p>
          <a:p>
            <a:endParaRPr/>
          </a:p>
          <a:p>
            <a:r>
              <a:t>**Example of bad scope**: Having security scanning instructions with "\*_/_.md" - security scans don't apply to markdown files.</a:t>
            </a:r>
          </a:p>
          <a:p>
            <a:endParaRPr/>
          </a:p>
          <a:p>
            <a:r>
              <a:t>**Example of good scope**: Having security scanning with "src/\*_/_.{cs,js,py}" - clearly applies to source code only.</a:t>
            </a:r>
          </a:p>
          <a:p>
            <a:endParaRPr/>
          </a:p>
          <a:p>
            <a:r>
              <a:t>**Emphasize**: "Specificity is not just a performance optimization - it's about clarity and maintainability"</a:t>
            </a:r>
          </a:p>
          <a:p>
            <a:endParaRPr/>
          </a:p>
          <a:p>
            <a:r>
              <a:t>---</a:t>
            </a:r>
          </a:p>
          <a:p>
            <a:endParaRPr/>
          </a:p>
          <a:p>
            <a:r>
              <a:t>Source: Slides\individual-slides\instruction-file-applyto-patterns.md</a:t>
            </a:r>
          </a:p>
        </p:txBody>
      </p:sp>
      <p:sp>
        <p:nvSpPr>
          <p:cNvPr id="4" name="Slide Number Placeholder 3"/>
          <p:cNvSpPr>
            <a:spLocks noGrp="1"/>
          </p:cNvSpPr>
          <p:nvPr>
            <p:ph type="sldNum" sz="quarter" idx="5"/>
          </p:nvPr>
        </p:nvSpPr>
        <p:spPr/>
      </p:sp>
    </p:spTree>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~00:03</a:t>
            </a:r>
          </a:p>
          <a:p>
            <a:endParaRPr/>
          </a:p>
          <a:p>
            <a:r>
              <a:t>Let's look at three common mistakes and how to avoid them:</a:t>
            </a:r>
          </a:p>
          <a:p>
            <a:endParaRPr/>
          </a:p>
          <a:p>
            <a:r>
              <a:t>**Pitfall 1: Too Broad**</a:t>
            </a:r>
          </a:p>
          <a:p>
            <a:endParaRPr/>
          </a:p>
          <a:p>
            <a:r>
              <a:t>This happens when you use a universal pattern for something specific. The example shows slide formatting instructions using "\*\*" - this would apply formatting rules designed for Marp presentations to every file in your repository, including C# code, JSON configs, and shell scripts. That's confusing for both developers and Copilot.</a:t>
            </a:r>
          </a:p>
          <a:p>
            <a:endParaRPr/>
          </a:p>
          <a:p>
            <a:r>
              <a:t>**How to identify**: If your instruction file has a specific purpose that doesn't apply to ALL files, don't use "\*\*"</a:t>
            </a:r>
          </a:p>
          <a:p>
            <a:endParaRPr/>
          </a:p>
          <a:p>
            <a:r>
              <a:t>**Fix**: Narrow to the specific directory or file types</a:t>
            </a:r>
          </a:p>
          <a:p>
            <a:endParaRPr/>
          </a:p>
          <a:p>
            <a:r>
              <a:t>**Pitfall 2: Too Narrow**</a:t>
            </a:r>
          </a:p>
          <a:p>
            <a:endParaRPr/>
          </a:p>
          <a:p>
            <a:r>
              <a:t>This is the opposite problem - being so specific that the instructions become brittle and hard to maintain. In the example, targeting only the UserManagement feature means:</a:t>
            </a:r>
          </a:p>
          <a:p>
            <a:endParaRPr/>
          </a:p>
          <a:p>
            <a:r>
              <a:t>- You need separate instruction files for each feature</a:t>
            </a:r>
          </a:p>
          <a:p>
            <a:r>
              <a:t>- Adding a new feature requires a new instruction file</a:t>
            </a:r>
          </a:p>
          <a:p>
            <a:r>
              <a:t>- The same architectural patterns can't be shared across features</a:t>
            </a:r>
          </a:p>
          <a:p>
            <a:endParaRPr/>
          </a:p>
          <a:p>
            <a:r>
              <a:t>**How to identify**: If you find yourself creating many nearly-identical instruction files, your patterns are too narrow</a:t>
            </a:r>
          </a:p>
          <a:p>
            <a:endParaRPr/>
          </a:p>
          <a:p>
            <a:r>
              <a:t>**Fix**: Identify the common scope (like "src/Features/\*\*") and use that</a:t>
            </a:r>
          </a:p>
          <a:p>
            <a:endParaRPr/>
          </a:p>
          <a:p>
            <a:r>
              <a:t>**Pitfall 3: Overlapping Instructions**</a:t>
            </a:r>
          </a:p>
          <a:p>
            <a:endParaRPr/>
          </a:p>
          <a:p>
            <a:r>
              <a:t>This is the trickiest pitfall. When multiple instruction files match the same file path, Copilot loads all of them. Sometimes that's intentional (general coding standards + language-specific patterns), but often it's accidental and creates conflicts.</a:t>
            </a:r>
          </a:p>
          <a:p>
            <a:endParaRPr/>
          </a:p>
          <a:p>
            <a:r>
              <a:t>**Concrete example**:</a:t>
            </a:r>
          </a:p>
          <a:p>
            <a:endParaRPr/>
          </a:p>
          <a:p>
            <a:r>
              <a:t>- vertical-slice.instructions.md has "\*_/_.cs"</a:t>
            </a:r>
          </a:p>
          <a:p>
            <a:r>
              <a:t>- cqrs-architecture.instructions.md also has "\*_/_.cs"</a:t>
            </a:r>
          </a:p>
          <a:p>
            <a:r>
              <a:t>- Both get loaded for every C# file</a:t>
            </a:r>
          </a:p>
          <a:p>
            <a:r>
              <a:t>- If they have conflicting guidance (which architectural style to use), Copilot gets confused</a:t>
            </a:r>
          </a:p>
          <a:p>
            <a:endParaRPr/>
          </a:p>
          <a:p>
            <a:r>
              <a:t>**How to identify**: List all your instruction files and their patterns side-by-side. Look for overlaps.</a:t>
            </a:r>
          </a:p>
          <a:p>
            <a:endParaRPr/>
          </a:p>
          <a:p>
            <a:r>
              <a:t>**Fix strategies**:</a:t>
            </a:r>
          </a:p>
          <a:p>
            <a:endParaRPr/>
          </a:p>
          <a:p>
            <a:r>
              <a:t>1. Make patterns mutually exclusive (one uses "src/Domain/**", the other uses "src/Infrastructure/**")</a:t>
            </a:r>
          </a:p>
          <a:p>
            <a:r>
              <a:t>2. Use more specific file naming patterns (one targets "_.Commands.cs", the other "_.Queries.cs")</a:t>
            </a:r>
          </a:p>
          <a:p>
            <a:r>
              <a:t>3. If overlap is intentional, ensure instructions are complementary, not contradictory</a:t>
            </a:r>
          </a:p>
          <a:p>
            <a:endParaRPr/>
          </a:p>
          <a:p>
            <a:r>
              <a:t>**Interactive element**: "Has anyone experienced unexpected Copilot behavior? It might be due to overlapping instructions."</a:t>
            </a:r>
          </a:p>
          <a:p>
            <a:endParaRPr/>
          </a:p>
          <a:p>
            <a:r>
              <a:t>---</a:t>
            </a:r>
          </a:p>
          <a:p>
            <a:endParaRPr/>
          </a:p>
          <a:p>
            <a:r>
              <a:t>Source: Slides\individual-slides\instruction-file-applyto-patterns.md</a:t>
            </a:r>
          </a:p>
        </p:txBody>
      </p:sp>
      <p:sp>
        <p:nvSpPr>
          <p:cNvPr id="4" name="Slide Number Placeholder 3"/>
          <p:cNvSpPr>
            <a:spLocks noGrp="1"/>
          </p:cNvSpPr>
          <p:nvPr>
            <p:ph type="sldNum" sz="quarter" idx="5"/>
          </p:nvPr>
        </p:nvSpPr>
        <p:spPr/>
      </p:sp>
    </p:spTree>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~00:02</a:t>
            </a:r>
          </a:p>
          <a:p>
            <a:endParaRPr/>
          </a:p>
          <a:p>
            <a:r>
              <a:t>Testing your applyTo patterns before committing is crucial. Here are three methods, in order of sophistication:</a:t>
            </a:r>
          </a:p>
          <a:p>
            <a:endParaRPr/>
          </a:p>
          <a:p>
            <a:r>
              <a:t>**Method 1: File System Commands**</a:t>
            </a:r>
          </a:p>
          <a:p>
            <a:endParaRPr/>
          </a:p>
          <a:p>
            <a:r>
              <a:t>Use your shell's file finding capabilities to preview what matches:</a:t>
            </a:r>
          </a:p>
          <a:p>
            <a:endParaRPr/>
          </a:p>
          <a:p>
            <a:r>
              <a:t>PowerShell (Windows):</a:t>
            </a:r>
          </a:p>
          <a:p>
            <a:endParaRPr/>
          </a:p>
          <a:p>
            <a:r>
              <a:t>- Get-ChildItem with -Filter and -Recurse shows what files match</a:t>
            </a:r>
          </a:p>
          <a:p>
            <a:r>
              <a:t>- Can pipe to Where-Object for complex filtering</a:t>
            </a:r>
          </a:p>
          <a:p>
            <a:r>
              <a:t>- Example: Get-ChildItem -Path ".\src" -Filter "\*.cs" -Recurse | Select-Object FullName</a:t>
            </a:r>
          </a:p>
          <a:p>
            <a:endParaRPr/>
          </a:p>
          <a:p>
            <a:r>
              <a:t>Bash/Zsh (Linux/Mac):</a:t>
            </a:r>
          </a:p>
          <a:p>
            <a:endParaRPr/>
          </a:p>
          <a:p>
            <a:r>
              <a:t>- find command with -name flag</a:t>
            </a:r>
          </a:p>
          <a:p>
            <a:r>
              <a:t>- Can combine with grep for more complex patterns</a:t>
            </a:r>
          </a:p>
          <a:p>
            <a:r>
              <a:t>- Example: find ./src -name "\*.cs" -type f</a:t>
            </a:r>
          </a:p>
          <a:p>
            <a:endParaRPr/>
          </a:p>
          <a:p>
            <a:r>
              <a:t>**Why this matters**: If your pattern matches more or fewer files than expected, you'll catch it before Copilot does.</a:t>
            </a:r>
          </a:p>
          <a:p>
            <a:endParaRPr/>
          </a:p>
          <a:p>
            <a:r>
              <a:t>**Method 2: Online Glob Testers**</a:t>
            </a:r>
          </a:p>
          <a:p>
            <a:endParaRPr/>
          </a:p>
          <a:p>
            <a:r>
              <a:t>Tools like globster.xyz let you:</a:t>
            </a:r>
          </a:p>
          <a:p>
            <a:endParaRPr/>
          </a:p>
          <a:p>
            <a:r>
              <a:t>- Enter a glob pattern</a:t>
            </a:r>
          </a:p>
          <a:p>
            <a:r>
              <a:t>- Paste a list of file paths</a:t>
            </a:r>
          </a:p>
          <a:p>
            <a:r>
              <a:t>- See visually which paths match</a:t>
            </a:r>
          </a:p>
          <a:p>
            <a:endParaRPr/>
          </a:p>
          <a:p>
            <a:r>
              <a:t>This is especially useful for complex patterns with brace expansion or character classes. You can experiment with patterns and see results immediately without touching your repository.</a:t>
            </a:r>
          </a:p>
          <a:p>
            <a:endParaRPr/>
          </a:p>
          <a:p>
            <a:r>
              <a:t>**Pro tip**: Keep a browser tab with globster open when writing complex patterns</a:t>
            </a:r>
          </a:p>
          <a:p>
            <a:endParaRPr/>
          </a:p>
          <a:p>
            <a:r>
              <a:t>**Method 3: Behavioral Testing**</a:t>
            </a:r>
          </a:p>
          <a:p>
            <a:endParaRPr/>
          </a:p>
          <a:p>
            <a:r>
              <a:t>The ultimate test - does Copilot actually behave as expected?</a:t>
            </a:r>
          </a:p>
          <a:p>
            <a:endParaRPr/>
          </a:p>
          <a:p>
            <a:r>
              <a:t>Steps:</a:t>
            </a:r>
          </a:p>
          <a:p>
            <a:endParaRPr/>
          </a:p>
          <a:p>
            <a:r>
              <a:t>1. Add your instruction file with applyTo pattern</a:t>
            </a:r>
          </a:p>
          <a:p>
            <a:r>
              <a:t>2. Open a file that SHOULD match</a:t>
            </a:r>
          </a:p>
          <a:p>
            <a:r>
              <a:t>3. Ask Copilot to do something covered by the instruction</a:t>
            </a:r>
          </a:p>
          <a:p>
            <a:r>
              <a:t>4. Verify it follows the rules</a:t>
            </a:r>
          </a:p>
          <a:p>
            <a:r>
              <a:t>5. Open a file that SHOULD NOT match</a:t>
            </a:r>
          </a:p>
          <a:p>
            <a:r>
              <a:t>6. Verify Copilot doesn't apply those rules</a:t>
            </a:r>
          </a:p>
          <a:p>
            <a:endParaRPr/>
          </a:p>
          <a:p>
            <a:r>
              <a:t>**Example**: After adding a vertical-slice.instructions.md with "src/\*_/_.cs", open a C# file in src/ and ask Copilot to create a new feature. It should use vertical slice architecture. Then open a C# file in tests/ and verify it doesn't try to apply feature architecture to test code.</a:t>
            </a:r>
          </a:p>
          <a:p>
            <a:endParaRPr/>
          </a:p>
          <a:p>
            <a:r>
              <a:t>**Practical tip**: "I recommend testing every new instruction file pattern with method 1 or 2 before pushing to your team"</a:t>
            </a:r>
          </a:p>
          <a:p>
            <a:r>
              <a:t>**Transition**: "Let's wrap up with key takeaways"</a:t>
            </a:r>
          </a:p>
          <a:p>
            <a:endParaRPr/>
          </a:p>
          <a:p>
            <a:r>
              <a:t>---</a:t>
            </a:r>
          </a:p>
          <a:p>
            <a:endParaRPr/>
          </a:p>
          <a:p>
            <a:r>
              <a:t>Source: Slides\individual-slides\instruction-file-applyto-patterns.md</a:t>
            </a:r>
          </a:p>
        </p:txBody>
      </p:sp>
      <p:sp>
        <p:nvSpPr>
          <p:cNvPr id="4" name="Slide Number Placeholder 3"/>
          <p:cNvSpPr>
            <a:spLocks noGrp="1"/>
          </p:cNvSpPr>
          <p:nvPr>
            <p:ph type="sldNum" sz="quarter" idx="5"/>
          </p:nvPr>
        </p:nvSpPr>
        <p:spPr/>
      </p:sp>
    </p:spTree>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~00:03</a:t>
            </a:r>
          </a:p>
          <a:p>
            <a:endParaRPr/>
          </a:p>
          <a:p>
            <a:r>
              <a:t>Let's consolidate the technical details about how pattern matching actually works in practice:</a:t>
            </a:r>
          </a:p>
          <a:p>
            <a:endParaRPr/>
          </a:p>
          <a:p>
            <a:r>
              <a:t>**Evaluation Timing**:</a:t>
            </a:r>
          </a:p>
          <a:p>
            <a:r>
              <a:t>Pattern matching happens dynamically. When you open a file, VS Code/Copilot:</a:t>
            </a:r>
          </a:p>
          <a:p>
            <a:endParaRPr/>
          </a:p>
          <a:p>
            <a:r>
              <a:t>1. Scans all instruction files in the workspace</a:t>
            </a:r>
          </a:p>
          <a:p>
            <a:r>
              <a:t>2. Evaluates each applyTo pattern against the current file path</a:t>
            </a:r>
          </a:p>
          <a:p>
            <a:r>
              <a:t>3. Loads matching instructions into Copilot's context window</a:t>
            </a:r>
          </a:p>
          <a:p>
            <a:r>
              <a:t>4. This context is then used for all Copilot operations in that file</a:t>
            </a:r>
          </a:p>
          <a:p>
            <a:endParaRPr/>
          </a:p>
          <a:p>
            <a:r>
              <a:t>This is important because it means pattern matching is NOT a one-time operation at startup - it happens constantly as you switch between files.</a:t>
            </a:r>
          </a:p>
          <a:p>
            <a:endParaRPr/>
          </a:p>
          <a:p>
            <a:r>
              <a:t>**Multiple Matches**:</a:t>
            </a:r>
          </a:p>
          <a:p>
            <a:r>
              <a:t>It's perfectly valid for multiple instruction files to match the same file. Copilot will try to follow all applicable instructions. This is why avoiding conflicts is so important - if two instructions contradict each other, Copilot will struggle.</a:t>
            </a:r>
          </a:p>
          <a:p>
            <a:endParaRPr/>
          </a:p>
          <a:p>
            <a:r>
              <a:t>**Example of intentional multiple matches**:</a:t>
            </a:r>
          </a:p>
          <a:p>
            <a:endParaRPr/>
          </a:p>
          <a:p>
            <a:r>
              <a:t>- general-coding-standards.instructions.md with "\*_/_.cs"</a:t>
            </a:r>
          </a:p>
          <a:p>
            <a:r>
              <a:t>- vertical-slice-architecture.instructions.md with "src/Features/\*_/_.cs"</a:t>
            </a:r>
          </a:p>
          <a:p>
            <a:r>
              <a:t>- A file at "src/Features/Users/CreateUser.cs" matches both</a:t>
            </a:r>
          </a:p>
          <a:p>
            <a:r>
              <a:t>- Both instruction sets apply (general standards + architecture patterns)</a:t>
            </a:r>
          </a:p>
          <a:p>
            <a:r>
              <a:t>- This works if the instructions are complementary</a:t>
            </a:r>
          </a:p>
          <a:p>
            <a:endParaRPr/>
          </a:p>
          <a:p>
            <a:r>
              <a:t>**Specificity and Precedence**:</a:t>
            </a:r>
          </a:p>
          <a:p>
            <a:r>
              <a:t>Unlike CSS, there's no formal "specificity" calculation where more specific patterns override less specific ones. Instead, ALL matching instructions are loaded. The idea of "precedence" is more about human clarity - more specific patterns make intent clearer, but don't technically override anything.</a:t>
            </a:r>
          </a:p>
          <a:p>
            <a:endParaRPr/>
          </a:p>
          <a:p>
            <a:r>
              <a:t>**Repository Root**:</a:t>
            </a:r>
          </a:p>
          <a:p>
            <a:r>
              <a:t>All patterns are relative to the workspace root (where .git directory is located). There's no way to use absolute paths, which is good for portability.</a:t>
            </a:r>
          </a:p>
          <a:p>
            <a:endParaRPr/>
          </a:p>
          <a:p>
            <a:r>
              <a:t>**Case Sensitivity**:</a:t>
            </a:r>
          </a:p>
          <a:p>
            <a:r>
              <a:t>Critical detail - this depends on the underlying file system:</a:t>
            </a:r>
          </a:p>
          <a:p>
            <a:endParaRPr/>
          </a:p>
          <a:p>
            <a:r>
              <a:t>- Windows: case-insensitive ("\*.MD" matches "file.md")</a:t>
            </a:r>
          </a:p>
          <a:p>
            <a:r>
              <a:t>- Linux: case-sensitive ("\*.MD" matches "file.MD" but not "file.md")</a:t>
            </a:r>
          </a:p>
          <a:p>
            <a:r>
              <a:t>- macOS: depends on file system format (usually case-insensitive)</a:t>
            </a:r>
          </a:p>
          <a:p>
            <a:endParaRPr/>
          </a:p>
          <a:p>
            <a:r>
              <a:t>Best practice: Always use lowercase in patterns and standardize file naming to lowercase to avoid cross-platform issues.</a:t>
            </a:r>
          </a:p>
          <a:p>
            <a:endParaRPr/>
          </a:p>
          <a:p>
            <a:r>
              <a:t>**Important**: "The dynamic evaluation means you can test instruction changes immediately - just close and reopen a file"</a:t>
            </a:r>
          </a:p>
          <a:p>
            <a:endParaRPr/>
          </a:p>
          <a:p>
            <a:r>
              <a:t>---</a:t>
            </a:r>
          </a:p>
          <a:p>
            <a:endParaRPr/>
          </a:p>
          <a:p>
            <a:r>
              <a:t>Source: Slides\individual-slides\instruction-file-applyto-patterns.md</a:t>
            </a:r>
          </a:p>
        </p:txBody>
      </p:sp>
      <p:sp>
        <p:nvSpPr>
          <p:cNvPr id="4" name="Slide Number Placeholder 3"/>
          <p:cNvSpPr>
            <a:spLocks noGrp="1"/>
          </p:cNvSpPr>
          <p:nvPr>
            <p:ph type="sldNum" sz="quarter" idx="5"/>
          </p:nvPr>
        </p:nvSpPr>
        <p:spPr/>
      </p:sp>
    </p:spTree>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~00:03</a:t>
            </a:r>
          </a:p>
          <a:p>
            <a:endParaRPr/>
          </a:p>
          <a:p>
            <a:r>
              <a:t>Let's wrap up with a practical decision-making framework:</a:t>
            </a:r>
          </a:p>
          <a:p>
            <a:endParaRPr/>
          </a:p>
          <a:p>
            <a:r>
              <a:t>**The Four Essential Pattern Categories**:</a:t>
            </a:r>
          </a:p>
          <a:p>
            <a:endParaRPr/>
          </a:p>
          <a:p>
            <a:r>
              <a:t>These four patterns cover 95% of real-world use cases. Let me give you concrete examples of when to use each:</a:t>
            </a:r>
          </a:p>
          <a:p>
            <a:endParaRPr/>
          </a:p>
          <a:p>
            <a:r>
              <a:t>1. **Universal `**/\*`\*\*:</a:t>
            </a:r>
          </a:p>
          <a:p>
            <a:r>
              <a:t>- AI provenance policies</a:t>
            </a:r>
          </a:p>
          <a:p>
            <a:r>
              <a:t>- Security compliance requirements</a:t>
            </a:r>
          </a:p>
          <a:p>
            <a:r>
              <a:t>- Legal/licensing standards</a:t>
            </a:r>
          </a:p>
          <a:p>
            <a:r>
              <a:t>- Organization-wide conventions</a:t>
            </a:r>
          </a:p>
          <a:p>
            <a:r>
              <a:t>- Should be max 2-3 instruction files in your entire repo</a:t>
            </a:r>
          </a:p>
          <a:p>
            <a:endParaRPr/>
          </a:p>
          <a:p>
            <a:r>
              <a:t>2. **Multi-extension `**/\*.{ext1,ext2}`\*\*:</a:t>
            </a:r>
          </a:p>
          <a:p>
            <a:r>
              <a:t>- Language-agnostic code quality patterns</a:t>
            </a:r>
          </a:p>
          <a:p>
            <a:r>
              <a:t>- Cross-language architecture styles</a:t>
            </a:r>
          </a:p>
          <a:p>
            <a:r>
              <a:t>- Multi-language testing strategies</a:t>
            </a:r>
          </a:p>
          <a:p>
            <a:r>
              <a:t>- Example: Vertical slice could apply to C#, TypeScript, Python features</a:t>
            </a:r>
          </a:p>
          <a:p>
            <a:endParaRPr/>
          </a:p>
          <a:p>
            <a:r>
              <a:t>3. **Directory scope `directory/**`\*\*:</a:t>
            </a:r>
          </a:p>
          <a:p>
            <a:r>
              <a:t>- Slide formatting (Slides/\*)</a:t>
            </a:r>
          </a:p>
          <a:p>
            <a:r>
              <a:t>- API documentation (docs/api/\*\*)</a:t>
            </a:r>
          </a:p>
          <a:p>
            <a:r>
              <a:t>- Feature isolation (src/Features/\*\*)</a:t>
            </a:r>
          </a:p>
          <a:p>
            <a:r>
              <a:t>- Test organization (tests/\*\*)</a:t>
            </a:r>
          </a:p>
          <a:p>
            <a:endParaRPr/>
          </a:p>
          <a:p>
            <a:r>
              <a:t>4. **Specialized naming `**/\*.pattern.ext`\*\*:</a:t>
            </a:r>
          </a:p>
          <a:p>
            <a:r>
              <a:t>- Instruction files themselves (\*.instructions.md)</a:t>
            </a:r>
          </a:p>
          <a:p>
            <a:r>
              <a:t>- Prompt files (\*.prompt.md)</a:t>
            </a:r>
          </a:p>
          <a:p>
            <a:r>
              <a:t>- Test files (_.test.js, _.spec.ts)</a:t>
            </a:r>
          </a:p>
          <a:p>
            <a:r>
              <a:t>- Generated files (\*.generated.cs)</a:t>
            </a:r>
          </a:p>
          <a:p>
            <a:endParaRPr/>
          </a:p>
          <a:p>
            <a:r>
              <a:t>**Using the Decision Tree**:</a:t>
            </a:r>
          </a:p>
          <a:p>
            <a:endParaRPr/>
          </a:p>
          <a:p>
            <a:r>
              <a:t>Work through the questions in order. The first "yes" answer tells you which pattern category to use. Then refine within that category.</a:t>
            </a:r>
          </a:p>
          <a:p>
            <a:endParaRPr/>
          </a:p>
          <a:p>
            <a:r>
              <a:t>Example walkthrough:</a:t>
            </a:r>
          </a:p>
          <a:p>
            <a:endParaRPr/>
          </a:p>
          <a:p>
            <a:r>
              <a:t>- "I'm creating architecture guidelines for CQRS"</a:t>
            </a:r>
          </a:p>
          <a:p>
            <a:r>
              <a:t>- Q1: All files? No (config files don't need CQRS patterns)</a:t>
            </a:r>
          </a:p>
          <a:p>
            <a:r>
              <a:t>- Q2: Specific file types? Yes - code files</a:t>
            </a:r>
          </a:p>
          <a:p>
            <a:r>
              <a:t>- → Use `**/*.{cs,ts,js,py}`</a:t>
            </a:r>
          </a:p>
          <a:p>
            <a:r>
              <a:t>- Refinement: Maybe only src directory: `src/**/*.{cs,ts,js,py}`</a:t>
            </a:r>
          </a:p>
          <a:p>
            <a:endParaRPr/>
          </a:p>
          <a:p>
            <a:r>
              <a:t>**Documentation is Critical**:</a:t>
            </a:r>
          </a:p>
          <a:p>
            <a:endParaRPr/>
          </a:p>
          <a:p>
            <a:r>
              <a:t>In your instruction file, add a comment in the front matter explaining the pattern choice:</a:t>
            </a:r>
          </a:p>
          <a:p>
            <a:endParaRPr/>
          </a:p>
          <a:p>
            <a:r>
              <a:t>```yaml</a:t>
            </a:r>
          </a:p>
          <a:p>
            <a:r>
              <a:t>applyTo: "src/Features/**/*.cs"</a:t>
            </a:r>
          </a:p>
          <a:p>
            <a:r>
              <a:t>```</a:t>
            </a:r>
          </a:p>
          <a:p>
            <a:endParaRPr/>
          </a:p>
          <a:p>
            <a:r>
              <a:t>This helps future developers (including yourself) understand the reasoning.</a:t>
            </a:r>
          </a:p>
          <a:p>
            <a:endParaRPr/>
          </a:p>
          <a:p>
            <a:r>
              <a:t>**Review and Iterate**:</a:t>
            </a:r>
          </a:p>
          <a:p>
            <a:endParaRPr/>
          </a:p>
          <a:p>
            <a:r>
              <a:t>Patterns aren't set in stone. If you notice:</a:t>
            </a:r>
          </a:p>
          <a:p>
            <a:endParaRPr/>
          </a:p>
          <a:p>
            <a:r>
              <a:t>- Instructions not being applied when expected</a:t>
            </a:r>
          </a:p>
          <a:p>
            <a:r>
              <a:t>- Instructions being applied to wrong files</a:t>
            </a:r>
          </a:p>
          <a:p>
            <a:r>
              <a:t>- Need to refactor directory structure</a:t>
            </a:r>
          </a:p>
          <a:p>
            <a:endParaRPr/>
          </a:p>
          <a:p>
            <a:r>
              <a:t>Then review and update your patterns. This is normal maintenance.</a:t>
            </a:r>
          </a:p>
          <a:p>
            <a:endParaRPr/>
          </a:p>
          <a:p>
            <a:r>
              <a:t>**Final thought**: "Good applyTo patterns make Copilot predictable and reliable. Take the time to get them right."</a:t>
            </a:r>
          </a:p>
          <a:p>
            <a:endParaRPr/>
          </a:p>
          <a:p>
            <a:r>
              <a:t>**End with**: "Questions about applyTo patterns or glob syntax?"</a:t>
            </a:r>
          </a:p>
          <a:p>
            <a:endParaRPr/>
          </a:p>
          <a:p>
            <a:r>
              <a:t>---</a:t>
            </a:r>
          </a:p>
          <a:p>
            <a:endParaRPr/>
          </a:p>
          <a:p>
            <a:r>
              <a:t>Source: Slides\individual-slides\instruction-file-applyto-patterns.md</a:t>
            </a:r>
          </a:p>
        </p:txBody>
      </p:sp>
      <p:sp>
        <p:nvSpPr>
          <p:cNvPr id="4" name="Slide Number Placeholder 3"/>
          <p:cNvSpPr>
            <a:spLocks noGrp="1"/>
          </p:cNvSpPr>
          <p:nvPr>
            <p:ph type="sldNum" sz="quarter" idx="5"/>
          </p:nvPr>
        </p:nvSpPr>
        <p:spPr/>
      </p:sp>
    </p:spTree>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closing slide - keep it brief and actionable.</a:t>
            </a:r>
          </a:p>
          <a:p>
            <a:endParaRPr/>
          </a:p>
          <a:p>
            <a:r>
              <a:t>**Resources to Share**:</a:t>
            </a:r>
          </a:p>
          <a:p>
            <a:endParaRPr/>
          </a:p>
          <a:p>
            <a:r>
              <a:t>Point attendees to:</a:t>
            </a:r>
          </a:p>
          <a:p>
            <a:endParaRPr/>
          </a:p>
          <a:p>
            <a:r>
              <a:t>1. The globster.xyz website - they should bookmark this</a:t>
            </a:r>
          </a:p>
          <a:p>
            <a:r>
              <a:t>2. Official GitHub documentation on instruction files (if available)</a:t>
            </a:r>
          </a:p>
          <a:p>
            <a:r>
              <a:t>3. This repository's .github/instructions/ directory as examples</a:t>
            </a:r>
          </a:p>
          <a:p>
            <a:endParaRPr/>
          </a:p>
          <a:p>
            <a:r>
              <a:t>**Practice Exercise**:</a:t>
            </a:r>
          </a:p>
          <a:p>
            <a:endParaRPr/>
          </a:p>
          <a:p>
            <a:r>
              <a:t>These three exercises cover the main pattern categories:</a:t>
            </a:r>
          </a:p>
          <a:p>
            <a:endParaRPr/>
          </a:p>
          <a:p>
            <a:r>
              <a:t>Exercise 1 - CQRS Architecture:</a:t>
            </a:r>
          </a:p>
          <a:p>
            <a:endParaRPr/>
          </a:p>
          <a:p>
            <a:r>
              <a:t>- Should apply to: C#, TypeScript, Python code files</a:t>
            </a:r>
          </a:p>
          <a:p>
            <a:r>
              <a:t>- Suggested pattern: `src/**/*.{cs,ts,py}`</a:t>
            </a:r>
          </a:p>
          <a:p>
            <a:r>
              <a:t>- Excludes: tests, config files, documentation</a:t>
            </a:r>
          </a:p>
          <a:p>
            <a:r>
              <a:t>- Learning goal: Multi-extension file type targeting</a:t>
            </a:r>
          </a:p>
          <a:p>
            <a:endParaRPr/>
          </a:p>
          <a:p>
            <a:r>
              <a:t>Exercise 2 - Mermaid Diagram Standards:</a:t>
            </a:r>
          </a:p>
          <a:p>
            <a:endParaRPr/>
          </a:p>
          <a:p>
            <a:r>
              <a:t>- Should apply to: All markdown files with diagrams</a:t>
            </a:r>
          </a:p>
          <a:p>
            <a:r>
              <a:t>- Suggested pattern: `**/*.md` or `docs/**/*.md` if narrower</a:t>
            </a:r>
          </a:p>
          <a:p>
            <a:r>
              <a:t>- Excludes: Non-markdown files</a:t>
            </a:r>
          </a:p>
          <a:p>
            <a:r>
              <a:t>- Learning goal: Extension-based filtering</a:t>
            </a:r>
          </a:p>
          <a:p>
            <a:endParaRPr/>
          </a:p>
          <a:p>
            <a:r>
              <a:t>Exercise 3 - Test Naming Conventions:</a:t>
            </a:r>
          </a:p>
          <a:p>
            <a:endParaRPr/>
          </a:p>
          <a:p>
            <a:r>
              <a:t>- Should apply to: Test files only</a:t>
            </a:r>
          </a:p>
          <a:p>
            <a:r>
              <a:t>- Suggested pattern: `**/*.{test,spec}.{js,ts}` or `tests/**/*`</a:t>
            </a:r>
          </a:p>
          <a:p>
            <a:r>
              <a:t>- Excludes: Source code</a:t>
            </a:r>
          </a:p>
          <a:p>
            <a:r>
              <a:t>- Learning goal: Specialized naming patterns or directory scoping</a:t>
            </a:r>
          </a:p>
          <a:p>
            <a:endParaRPr/>
          </a:p>
          <a:p>
            <a:r>
              <a:t>Have them create these instruction files with proper applyTo patterns and test whether they match the expected files using the methods from slide 9.</a:t>
            </a:r>
          </a:p>
          <a:p>
            <a:endParaRPr/>
          </a:p>
          <a:p>
            <a:r>
              <a:t>**Timing for Q&amp;A**: Budget at least 5 minutes</a:t>
            </a:r>
          </a:p>
          <a:p>
            <a:r>
              <a:t>**Common questions to expect**:</a:t>
            </a:r>
          </a:p>
          <a:p>
            <a:endParaRPr/>
          </a:p>
          <a:p>
            <a:r>
              <a:t>- "Can I use regex in applyTo?" (No, only glob patterns)</a:t>
            </a:r>
          </a:p>
          <a:p>
            <a:r>
              <a:t>- "What if I need NOT patterns?" (Use specific inclusion instead)</a:t>
            </a:r>
          </a:p>
          <a:p>
            <a:r>
              <a:t>- "Can patterns match directories themselves?" (Patterns match files, but `dir/**` matches all files in dir)</a:t>
            </a:r>
          </a:p>
          <a:p>
            <a:r>
              <a:t>- "How do I debug when patterns don't work?" (Use the testing methods from slide 9)</a:t>
            </a:r>
          </a:p>
          <a:p>
            <a:endParaRPr/>
          </a:p>
          <a:p>
            <a:r>
              <a:t>**Closing statement**: "Remember, good applyTo patterns are the key to making Copilot instruction files reliable and maintainable. Start with these patterns, test them thoroughly, and iterate based on real-world usage."</a:t>
            </a:r>
          </a:p>
          <a:p>
            <a:endParaRPr/>
          </a:p>
          <a:p>
            <a:r>
              <a:t>---</a:t>
            </a:r>
          </a:p>
          <a:p>
            <a:endParaRPr/>
          </a:p>
          <a:p>
            <a:r>
              <a:t>Source: Slides\individual-slides\instruction-file-applyto-patterns.md</a:t>
            </a:r>
          </a:p>
        </p:txBody>
      </p:sp>
      <p:sp>
        <p:nvSpPr>
          <p:cNvPr id="4" name="Slide Number Placeholder 3"/>
          <p:cNvSpPr>
            <a:spLocks noGrp="1"/>
          </p:cNvSpPr>
          <p:nvPr>
            <p:ph type="sldNum" sz="quarter" idx="5"/>
          </p:nvPr>
        </p:nvSpPr>
        <p:spPr/>
      </p:sp>
    </p:spTree>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~00:01</a:t>
            </a:r>
          </a:p>
          <a:p>
            <a:endParaRPr/>
          </a:p>
          <a:p>
            <a:r>
              <a:t>**Closing Remarks**:</a:t>
            </a:r>
          </a:p>
          <a:p>
            <a:endParaRPr/>
          </a:p>
          <a:p>
            <a:r>
              <a:t>Thank you all for your attention. The applyTo pattern system might seem simple on the surface, but as we've seen, there's real depth to using it effectively.</a:t>
            </a:r>
          </a:p>
          <a:p>
            <a:endParaRPr/>
          </a:p>
          <a:p>
            <a:r>
              <a:t>**Key messages to leave with**:</a:t>
            </a:r>
          </a:p>
          <a:p>
            <a:endParaRPr/>
          </a:p>
          <a:p>
            <a:r>
              <a:t>1. Specificity prevents conflicts</a:t>
            </a:r>
          </a:p>
          <a:p>
            <a:r>
              <a:t>2. Test your patterns before committing</a:t>
            </a:r>
          </a:p>
          <a:p>
            <a:r>
              <a:t>3. Document your pattern choices</a:t>
            </a:r>
          </a:p>
          <a:p>
            <a:r>
              <a:t>4. Review and refine based on real usage</a:t>
            </a:r>
          </a:p>
          <a:p>
            <a:endParaRPr/>
          </a:p>
          <a:p>
            <a:r>
              <a:t>**Engagement**:</a:t>
            </a:r>
          </a:p>
          <a:p>
            <a:endParaRPr/>
          </a:p>
          <a:p>
            <a:r>
              <a:t>- "Please reach out with questions as you implement these patterns in your projects"</a:t>
            </a:r>
          </a:p>
          <a:p>
            <a:r>
              <a:t>- "Share your experiences - both successes and challenges - with the team"</a:t>
            </a:r>
          </a:p>
          <a:p>
            <a:r>
              <a:t>- "The GitHub repository has many examples in the .github/instructions/ directory"</a:t>
            </a:r>
          </a:p>
          <a:p>
            <a:endParaRPr/>
          </a:p>
          <a:p>
            <a:r>
              <a:t>**Next Steps**:</a:t>
            </a:r>
          </a:p>
          <a:p>
            <a:endParaRPr/>
          </a:p>
          <a:p>
            <a:r>
              <a:t>- Review the instruction files in this repository</a:t>
            </a:r>
          </a:p>
          <a:p>
            <a:r>
              <a:t>- Try the practice exercises</a:t>
            </a:r>
          </a:p>
          <a:p>
            <a:r>
              <a:t>- Start applying these patterns to your own projects</a:t>
            </a:r>
          </a:p>
          <a:p>
            <a:r>
              <a:t>- Share learnings with your team</a:t>
            </a:r>
          </a:p>
          <a:p>
            <a:endParaRPr/>
          </a:p>
          <a:p>
            <a:r>
              <a:t>**Call to Action**:</a:t>
            </a:r>
          </a:p>
          <a:p>
            <a:r>
              <a:t>"I'd encourage everyone to audit one of your existing projects this week - look at your instruction files and their applyTo patterns. Are they as specific as they could be? Are there conflicts? Use the testing methods we discussed to verify them."</a:t>
            </a:r>
          </a:p>
          <a:p>
            <a:endParaRPr/>
          </a:p>
          <a:p>
            <a:r>
              <a:t>**Tone**: Encouraging and supportive - this is about continuous improvement</a:t>
            </a:r>
          </a:p>
          <a:p>
            <a:endParaRPr/>
          </a:p>
          <a:p>
            <a:r>
              <a:t>---</a:t>
            </a:r>
          </a:p>
          <a:p>
            <a:endParaRPr/>
          </a:p>
          <a:p>
            <a:r>
              <a:t>Source: Slides\individual-slides\instruction-file-applyto-patterns.md</a:t>
            </a:r>
          </a:p>
        </p:txBody>
      </p:sp>
      <p:sp>
        <p:nvSpPr>
          <p:cNvPr id="4" name="Slide Number Placeholder 3"/>
          <p:cNvSpPr>
            <a:spLocks noGrp="1"/>
          </p:cNvSpPr>
          <p:nvPr>
            <p:ph type="sldNum" sz="quarter" idx="5"/>
          </p:nvPr>
        </p:nvSpPr>
        <p:spPr/>
      </p:sp>
    </p:spTree>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~00:03</a:t>
            </a:r>
          </a:p>
          <a:p>
            <a:endParaRPr/>
          </a:p>
          <a:p>
            <a:r>
              <a:t>Present the core instruction files that govern AI-assisted development in this repository. These files are the foundation of the guardrails system.</a:t>
            </a:r>
          </a:p>
          <a:p>
            <a:endParaRPr/>
          </a:p>
          <a:p>
            <a:r>
              <a:t>Explain each file's purpose:</a:t>
            </a:r>
          </a:p>
          <a:p>
            <a:endParaRPr/>
          </a:p>
          <a:p>
            <a:r>
              <a:t>- ai-assisted-output.instructions.md: The master policy for ALL AI-generated content, covering provenance, logging, and compliance</a:t>
            </a:r>
          </a:p>
          <a:p>
            <a:r>
              <a:t>- chatmode-file.instructions.md: Defines how to create custom chat modes for specific development workflows</a:t>
            </a:r>
          </a:p>
          <a:p>
            <a:r>
              <a:t>- instruction-files.instructions.md: Meta-instructions for creating new instruction files</a:t>
            </a:r>
          </a:p>
          <a:p>
            <a:r>
              <a:t>- prompt-file.instructions.md: Guidelines for creating reusable prompt files</a:t>
            </a:r>
          </a:p>
          <a:p>
            <a:r>
              <a:t>- instruction-prompt-files.instructions.md: Meta-prompts that generate instruction files</a:t>
            </a:r>
          </a:p>
          <a:p>
            <a:endParaRPr/>
          </a:p>
          <a:p>
            <a:r>
              <a:t>Emphasize the hierarchical nature: ai-assisted-output is the root policy that all others reference.</a:t>
            </a:r>
          </a:p>
          <a:p>
            <a:endParaRPr/>
          </a:p>
          <a:p>
            <a:r>
              <a:t>Transition: "Let's dive into how to use these..."</a:t>
            </a:r>
          </a:p>
          <a:p>
            <a:endParaRPr/>
          </a:p>
          <a:p>
            <a:r>
              <a:t>---</a:t>
            </a:r>
          </a:p>
          <a:p>
            <a:endParaRPr/>
          </a:p>
          <a:p>
            <a:r>
              <a:t>Source: Slides\individual-slides\core-instruction-files.md</a:t>
            </a:r>
          </a:p>
        </p:txBody>
      </p:sp>
      <p:sp>
        <p:nvSpPr>
          <p:cNvPr id="4" name="Slide Number Placeholder 3"/>
          <p:cNvSpPr>
            <a:spLocks noGrp="1"/>
          </p:cNvSpPr>
          <p:nvPr>
            <p:ph type="sldNum" sz="quarter" idx="5"/>
          </p:nvPr>
        </p:nvSpPr>
        <p:spPr/>
      </p:sp>
    </p:spTree>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Frame this as a layering strategy, not an either-or choice. The audience should leave with a practical model for deciding what belongs at enterprise scope versus repository scope. Keep this opening to about 60-90 seconds.</a:t>
            </a:r>
          </a:p>
          <a:p>
            <a:endParaRPr/>
          </a:p>
          <a:p>
            <a:r>
              <a:t>---</a:t>
            </a:r>
          </a:p>
          <a:p>
            <a:endParaRPr/>
          </a:p>
          <a:p>
            <a:r>
              <a:t>Source: Slides\individual-slides\organizational-vs-repository-instruction-files.md</a:t>
            </a:r>
          </a:p>
        </p:txBody>
      </p:sp>
      <p:sp>
        <p:nvSpPr>
          <p:cNvPr id="4" name="Slide Number Placeholder 3"/>
          <p:cNvSpPr>
            <a:spLocks noGrp="1"/>
          </p:cNvSpPr>
          <p:nvPr>
            <p:ph type="sldNum" sz="quarter" idx="5"/>
          </p:nvPr>
        </p:nvSpPr>
        <p:spPr/>
      </p:sp>
    </p:spTree>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Explain that teams usually fail by over-centralizing or over-fragmenting. Centralize non-negotiables, decentralize implementation guidance. Emphasize this prevents policy drift while keeping day-to-day delivery fast.</a:t>
            </a:r>
          </a:p>
          <a:p>
            <a:endParaRPr/>
          </a:p>
          <a:p>
            <a:r>
              <a:t>---</a:t>
            </a:r>
          </a:p>
          <a:p>
            <a:endParaRPr/>
          </a:p>
          <a:p>
            <a:r>
              <a:t>Source: Slides\individual-slides\organizational-vs-repository-instruction-files.md</a:t>
            </a:r>
          </a:p>
        </p:txBody>
      </p:sp>
      <p:sp>
        <p:nvSpPr>
          <p:cNvPr id="4" name="Slide Number Placeholder 3"/>
          <p:cNvSpPr>
            <a:spLocks noGrp="1"/>
          </p:cNvSpPr>
          <p:nvPr>
            <p:ph type="sldNum" sz="quarter" idx="5"/>
          </p:nvPr>
        </p:nvSpPr>
        <p:spPr/>
      </p:sp>
    </p:spTree>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Call out that enterprise-tier files should be stable and short. They should define constraints, not feature behavior. Give examples: required metadata fields, approved hosts, restricted operations, and mandatory security checks.</a:t>
            </a:r>
          </a:p>
          <a:p>
            <a:endParaRPr/>
          </a:p>
          <a:p>
            <a:r>
              <a:t>---</a:t>
            </a:r>
          </a:p>
          <a:p>
            <a:endParaRPr/>
          </a:p>
          <a:p>
            <a:r>
              <a:t>Source: Slides\individual-slides\organizational-vs-repository-instruction-files.md</a:t>
            </a:r>
          </a:p>
        </p:txBody>
      </p:sp>
      <p:sp>
        <p:nvSpPr>
          <p:cNvPr id="4" name="Slide Number Placeholder 3"/>
          <p:cNvSpPr>
            <a:spLocks noGrp="1"/>
          </p:cNvSpPr>
          <p:nvPr>
            <p:ph type="sldNum" sz="quarter" idx="5"/>
          </p:nvPr>
        </p:nvSpPr>
        <p:spPr/>
      </p:sp>
    </p:spTree>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Explain that path scoping is the precision tool. Show that slide-authoring rules should not apply to backend code, and coding constraints should not apply to markdown content. Mention that good glob design reduces noisy or conflicting behavior.</a:t>
            </a:r>
          </a:p>
          <a:p>
            <a:endParaRPr/>
          </a:p>
          <a:p>
            <a:r>
              <a:t>---</a:t>
            </a:r>
          </a:p>
          <a:p>
            <a:endParaRPr/>
          </a:p>
          <a:p>
            <a:r>
              <a:t>Source: Slides\individual-slides\organizational-vs-repository-instruction-files.md</a:t>
            </a:r>
          </a:p>
        </p:txBody>
      </p:sp>
      <p:sp>
        <p:nvSpPr>
          <p:cNvPr id="4" name="Slide Number Placeholder 3"/>
          <p:cNvSpPr>
            <a:spLocks noGrp="1"/>
          </p:cNvSpPr>
          <p:nvPr>
            <p:ph type="sldNum" sz="quarter" idx="5"/>
          </p:nvPr>
        </p:nvSpPr>
        <p:spPr/>
      </p:sp>
    </p:spTree>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Reinforce proximity: put guidance where teams actually work. This improves discoverability and lowers onboarding time. Mention that folder-level rules should refine enterprise policy, not duplicate it.</a:t>
            </a:r>
          </a:p>
          <a:p>
            <a:endParaRPr/>
          </a:p>
          <a:p>
            <a:r>
              <a:t>---</a:t>
            </a:r>
          </a:p>
          <a:p>
            <a:endParaRPr/>
          </a:p>
          <a:p>
            <a:r>
              <a:t>Source: Slides\individual-slides\organizational-vs-repository-instruction-files.md</a:t>
            </a:r>
          </a:p>
        </p:txBody>
      </p:sp>
      <p:sp>
        <p:nvSpPr>
          <p:cNvPr id="4" name="Slide Number Placeholder 3"/>
          <p:cNvSpPr>
            <a:spLocks noGrp="1"/>
          </p:cNvSpPr>
          <p:nvPr>
            <p:ph type="sldNum" sz="quarter" idx="5"/>
          </p:nvPr>
        </p:nvSpPr>
        <p:spPr/>
      </p:sp>
    </p:spTree>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the stack top-to-bottom. Describe how specificity should increase as scope narrows. If conflicts appear, resolve by specificity first, then by explicit policy precedence defined by your organization.</a:t>
            </a:r>
          </a:p>
          <a:p>
            <a:endParaRPr/>
          </a:p>
          <a:p>
            <a:r>
              <a:t>---</a:t>
            </a:r>
          </a:p>
          <a:p>
            <a:endParaRPr/>
          </a:p>
          <a:p>
            <a:r>
              <a:t>Source: Slides\individual-slides\organizational-vs-repository-instruction-files.md</a:t>
            </a:r>
          </a:p>
        </p:txBody>
      </p:sp>
      <p:sp>
        <p:nvSpPr>
          <p:cNvPr id="4" name="Slide Number Placeholder 3"/>
          <p:cNvSpPr>
            <a:spLocks noGrp="1"/>
          </p:cNvSpPr>
          <p:nvPr>
            <p:ph type="sldNum" sz="quarter" idx="5"/>
          </p:nvPr>
        </p:nvSpPr>
        <p:spPr/>
      </p:sp>
    </p:spTree>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End with action items. Suggest teams pilot this in one repo before scaling. Encourage adding quick validation prompts in CI or review checklists so instruction drift is detected early.</a:t>
            </a:r>
          </a:p>
          <a:p>
            <a:endParaRPr/>
          </a:p>
          <a:p>
            <a:r>
              <a:t>---</a:t>
            </a:r>
          </a:p>
          <a:p>
            <a:endParaRPr/>
          </a:p>
          <a:p>
            <a:r>
              <a:t>Source: Slides\individual-slides\organizational-vs-repository-instruction-files.md</a:t>
            </a:r>
          </a:p>
        </p:txBody>
      </p:sp>
      <p:sp>
        <p:nvSpPr>
          <p:cNvPr id="4" name="Slide Number Placeholder 3"/>
          <p:cNvSpPr>
            <a:spLocks noGrp="1"/>
          </p:cNvSpPr>
          <p:nvPr>
            <p:ph type="sldNum" sz="quarter" idx="5"/>
          </p:nvPr>
        </p:nvSpPr>
        <p:spPr/>
      </p:sp>
    </p:spTree>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~00:30</a:t>
            </a:r>
          </a:p>
          <a:p>
            <a:endParaRPr/>
          </a:p>
          <a:p>
            <a:endParaRPr/>
          </a:p>
          <a:p>
            <a:r>
              <a:t>**Prerequisites:** Access to repository tree, instruction conventions, and team roles for parallel work</a:t>
            </a:r>
          </a:p>
          <a:p>
            <a:endParaRPr/>
          </a:p>
          <a:p>
            <a:r>
              <a:t>### Objectives</a:t>
            </a:r>
          </a:p>
          <a:p>
            <a:endParaRPr/>
          </a:p>
          <a:p>
            <a:r>
              <a:t>- Build a practical technology inventory that informs instruction planning.</a:t>
            </a:r>
          </a:p>
          <a:p>
            <a:r>
              <a:t>- Execute concurrent work safely with background sessions.</a:t>
            </a:r>
          </a:p>
          <a:p>
            <a:r>
              <a:t>- Produce multiple scoped instruction files in one coordinated workflow.</a:t>
            </a:r>
          </a:p>
          <a:p>
            <a:r>
              <a:t>- Use the session management interface to maintain control and traceability.</a:t>
            </a:r>
          </a:p>
          <a:p>
            <a:endParaRPr/>
          </a:p>
          <a:p>
            <a:r>
              <a:t>### Activities</a:t>
            </a:r>
          </a:p>
          <a:p>
            <a:endParaRPr/>
          </a:p>
          <a:p>
            <a:r>
              <a:t>1. Build a structured inventory first; avoid writing instruction files until the landscape is clear.</a:t>
            </a:r>
          </a:p>
          <a:p>
            <a:r>
              <a:t>2. Split participants into concurrent roles: inventory lead, instruction generator, and session coordinator.</a:t>
            </a:r>
          </a:p>
          <a:p>
            <a:r>
              <a:t>3. Generate scoped instruction files in parallel, then run a conflict review before acceptance.</a:t>
            </a:r>
          </a:p>
          <a:p>
            <a:r>
              <a:t>4. Finalize with a short session-management retrospective: what scaled, what collided, what to improve.</a:t>
            </a:r>
          </a:p>
          <a:p>
            <a:endParaRPr/>
          </a:p>
          <a:p>
            <a:r>
              <a:t>### Success Criteria</a:t>
            </a:r>
          </a:p>
          <a:p>
            <a:endParaRPr/>
          </a:p>
          <a:p>
            <a:r>
              <a:t>- Inventory coverage is complete enough to drive instruction priorities.</a:t>
            </a:r>
          </a:p>
          <a:p>
            <a:r>
              <a:t>- Parallel sessions finish with non-conflicting outputs.</a:t>
            </a:r>
          </a:p>
          <a:p>
            <a:r>
              <a:t>- Generated instruction files include clear scoping and ownership boundaries.</a:t>
            </a:r>
          </a:p>
          <a:p>
            <a:r>
              <a:t>- Team can reproduce the same workflow on another repository without redesigning the process.</a:t>
            </a:r>
          </a:p>
          <a:p>
            <a:endParaRPr/>
          </a:p>
          <a:p>
            <a:r>
              <a:t>### Facilitation Tip</a:t>
            </a:r>
          </a:p>
          <a:p>
            <a:endParaRPr/>
          </a:p>
          <a:p>
            <a:r>
              <a:t>Use a visible board (status: active, blocked, complete) for each session stream so the team can rebalance quickly when one stream stalls.</a:t>
            </a:r>
          </a:p>
          <a:p>
            <a:endParaRPr/>
          </a:p>
          <a:p>
            <a:r>
              <a:t>---</a:t>
            </a:r>
          </a:p>
          <a:p>
            <a:endParaRPr/>
          </a:p>
          <a:p>
            <a:r>
              <a:t>Source: Slides\individual-slides\exercise-technology-inventory-instructions.md</a:t>
            </a:r>
          </a:p>
        </p:txBody>
      </p:sp>
      <p:sp>
        <p:nvSpPr>
          <p:cNvPr id="4" name="Slide Number Placeholder 3"/>
          <p:cNvSpPr>
            <a:spLocks noGrp="1"/>
          </p:cNvSpPr>
          <p:nvPr>
            <p:ph type="sldNum" sz="quarter" idx="5"/>
          </p:nvPr>
        </p:nvSpPr>
        <p:spPr/>
      </p:sp>
    </p:spTree>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Auto-generated course navigation slide showing all modules with current section highlighted</a:t>
            </a:r>
          </a:p>
        </p:txBody>
      </p:sp>
      <p:sp>
        <p:nvSpPr>
          <p:cNvPr id="4" name="Slide Number Placeholder 3"/>
          <p:cNvSpPr>
            <a:spLocks noGrp="1"/>
          </p:cNvSpPr>
          <p:nvPr>
            <p:ph type="sldNum" sz="quarter" idx="5"/>
          </p:nvPr>
        </p:nvSpPr>
        <p:spPr/>
      </p:sp>
    </p:spTree>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Auto-generated section header slide to announce the section</a:t>
            </a:r>
          </a:p>
        </p:txBody>
      </p:sp>
      <p:sp>
        <p:nvSpPr>
          <p:cNvPr id="4" name="Slide Number Placeholder 3"/>
          <p:cNvSpPr>
            <a:spLocks noGrp="1"/>
          </p:cNvSpPr>
          <p:nvPr>
            <p:ph type="sldNum" sz="quarter" idx="5"/>
          </p:nvPr>
        </p:nvSpPr>
        <p:spPr/>
      </p:sp>
    </p:spTree>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Auto-generated section agenda slide listing slide titles from manifest</a:t>
            </a:r>
          </a:p>
        </p:txBody>
      </p:sp>
      <p:sp>
        <p:nvSpPr>
          <p:cNvPr id="4" name="Slide Number Placeholder 3"/>
          <p:cNvSpPr>
            <a:spLocks noGrp="1"/>
          </p:cNvSpPr>
          <p:nvPr>
            <p:ph type="sldNum" sz="quarter" idx="5"/>
          </p:nvPr>
        </p:nvSpPr>
        <p:spPr/>
      </p:sp>
    </p:spTree>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frames Copilot as a tool that amplifies engineering discipline rather than replacing it.</a:t>
            </a:r>
          </a:p>
          <a:p>
            <a:endParaRPr/>
          </a:p>
          <a:p>
            <a:r>
              <a:t>The message is: Copilot is not magic.</a:t>
            </a:r>
          </a:p>
          <a:p>
            <a:endParaRPr/>
          </a:p>
          <a:p>
            <a:r>
              <a:t>It's a reasoning engine that responds to structure, clarity, and context.</a:t>
            </a:r>
          </a:p>
          <a:p>
            <a:endParaRPr/>
          </a:p>
          <a:p>
            <a:r>
              <a:t>When managed well, it becomes a force multiplier.</a:t>
            </a:r>
          </a:p>
          <a:p>
            <a:endParaRPr/>
          </a:p>
          <a:p>
            <a:r>
              <a:t>When unmanaged, it becomes unpredictable.</a:t>
            </a:r>
          </a:p>
          <a:p>
            <a:endParaRPr/>
          </a:p>
          <a:p>
            <a:r>
              <a:t>---</a:t>
            </a:r>
          </a:p>
          <a:p>
            <a:endParaRPr/>
          </a:p>
          <a:p>
            <a:r>
              <a:t>Source: Slides\individual-slides\managing-github-copilot-effectively.md</a:t>
            </a:r>
          </a:p>
        </p:txBody>
      </p:sp>
      <p:sp>
        <p:nvSpPr>
          <p:cNvPr id="4" name="Slide Number Placeholder 3"/>
          <p:cNvSpPr>
            <a:spLocks noGrp="1"/>
          </p:cNvSpPr>
          <p:nvPr>
            <p:ph type="sldNum" sz="quarter" idx="5"/>
          </p:nvPr>
        </p:nvSpPr>
        <p:spPr/>
      </p:sp>
    </p:spTree>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analogy resonates with engineering teams.</a:t>
            </a:r>
          </a:p>
          <a:p>
            <a:endParaRPr/>
          </a:p>
          <a:p>
            <a:r>
              <a:t>Copilot behaves like a junior developer: capable, but lacking context and judgment.</a:t>
            </a:r>
          </a:p>
          <a:p>
            <a:endParaRPr/>
          </a:p>
          <a:p>
            <a:r>
              <a:t>It thrives when you give it structure and feedback.</a:t>
            </a:r>
          </a:p>
          <a:p>
            <a:endParaRPr/>
          </a:p>
          <a:p>
            <a:r>
              <a:t>It struggles when you ask it to “just figure it out.”</a:t>
            </a:r>
          </a:p>
          <a:p>
            <a:endParaRPr/>
          </a:p>
          <a:p>
            <a:r>
              <a:t>The more intentional your guidance, the more reliable its output becomes.</a:t>
            </a:r>
          </a:p>
          <a:p>
            <a:endParaRPr/>
          </a:p>
          <a:p>
            <a:r>
              <a:t>---</a:t>
            </a:r>
          </a:p>
          <a:p>
            <a:endParaRPr/>
          </a:p>
          <a:p>
            <a:r>
              <a:t>Source: Slides\individual-slides\managing-github-copilot-effectively.md</a:t>
            </a:r>
          </a:p>
        </p:txBody>
      </p:sp>
      <p:sp>
        <p:nvSpPr>
          <p:cNvPr id="4" name="Slide Number Placeholder 3"/>
          <p:cNvSpPr>
            <a:spLocks noGrp="1"/>
          </p:cNvSpPr>
          <p:nvPr>
            <p:ph type="sldNum" sz="quarter" idx="5"/>
          </p:nvPr>
        </p:nvSpPr>
        <p:spPr/>
      </p:sp>
    </p:spTree>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Context windows are invisible but critical.</a:t>
            </a:r>
          </a:p>
          <a:p>
            <a:endParaRPr/>
          </a:p>
          <a:p>
            <a:r>
              <a:t>When Copilot misses requirements or contradicts earlier decisions, it's often because the relevant information fell outside its context window.</a:t>
            </a:r>
          </a:p>
          <a:p>
            <a:endParaRPr/>
          </a:p>
          <a:p>
            <a:r>
              <a:t>The solution is not to “prompt harder” – it's to structure the environment so the model always has the right information in view.</a:t>
            </a:r>
          </a:p>
          <a:p>
            <a:endParaRPr/>
          </a:p>
          <a:p>
            <a:r>
              <a:t>---</a:t>
            </a:r>
          </a:p>
          <a:p>
            <a:endParaRPr/>
          </a:p>
          <a:p>
            <a:r>
              <a:t>Source: Slides\individual-slides\managing-github-copilot-effectively.md</a:t>
            </a:r>
          </a:p>
        </p:txBody>
      </p:sp>
      <p:sp>
        <p:nvSpPr>
          <p:cNvPr id="4" name="Slide Number Placeholder 3"/>
          <p:cNvSpPr>
            <a:spLocks noGrp="1"/>
          </p:cNvSpPr>
          <p:nvPr>
            <p:ph type="sldNum" sz="quarter" idx="5"/>
          </p:nvPr>
        </p:nvSpPr>
        <p:spPr/>
      </p:sp>
    </p:spTree>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Prompting is not about clever phrasing – it's about clarity.</a:t>
            </a:r>
          </a:p>
          <a:p>
            <a:endParaRPr/>
          </a:p>
          <a:p>
            <a:r>
              <a:t>Copilot performs best when you define intent, boundaries, and examples.</a:t>
            </a:r>
          </a:p>
          <a:p>
            <a:endParaRPr/>
          </a:p>
          <a:p>
            <a:r>
              <a:t>Instruction files are especially powerful because they give Copilot a persistent “north star” for your codebase.</a:t>
            </a:r>
          </a:p>
          <a:p>
            <a:endParaRPr/>
          </a:p>
          <a:p>
            <a:r>
              <a:t>Think of prompts as design briefs, not commands.</a:t>
            </a:r>
          </a:p>
          <a:p>
            <a:endParaRPr/>
          </a:p>
          <a:p>
            <a:r>
              <a:t>---</a:t>
            </a:r>
          </a:p>
          <a:p>
            <a:endParaRPr/>
          </a:p>
          <a:p>
            <a:r>
              <a:t>Source: Slides\individual-slides\managing-github-copilot-effectively.md</a:t>
            </a:r>
          </a:p>
        </p:txBody>
      </p:sp>
      <p:sp>
        <p:nvSpPr>
          <p:cNvPr id="4" name="Slide Number Placeholder 3"/>
          <p:cNvSpPr>
            <a:spLocks noGrp="1"/>
          </p:cNvSpPr>
          <p:nvPr>
            <p:ph type="sldNum" sz="quarter" idx="5"/>
          </p:nvPr>
        </p:nvSpPr>
        <p:spPr/>
      </p:sp>
    </p:spTree>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Model selection is a strategic decision.</a:t>
            </a:r>
          </a:p>
          <a:p>
            <a:endParaRPr/>
          </a:p>
          <a:p>
            <a:r>
              <a:t>High-end models are great for deep reasoning but can be slower or more expensive.</a:t>
            </a:r>
          </a:p>
          <a:p>
            <a:endParaRPr/>
          </a:p>
          <a:p>
            <a:r>
              <a:t>Smaller models are fast and efficient but less capable.</a:t>
            </a:r>
          </a:p>
          <a:p>
            <a:endParaRPr/>
          </a:p>
          <a:p>
            <a:r>
              <a:t>The key is to choose based on task complexity.</a:t>
            </a:r>
          </a:p>
          <a:p>
            <a:endParaRPr/>
          </a:p>
          <a:p>
            <a:r>
              <a:t>For example: use a reasoning-heavy model for designing a module, then switch to a lighter model for generating tests or scaffolding</a:t>
            </a:r>
          </a:p>
          <a:p>
            <a:endParaRPr/>
          </a:p>
          <a:p>
            <a:r>
              <a:t>---</a:t>
            </a:r>
          </a:p>
          <a:p>
            <a:endParaRPr/>
          </a:p>
          <a:p>
            <a:r>
              <a:t>Source: Slides\individual-slides\managing-github-copilot-effectively.md</a:t>
            </a:r>
          </a:p>
        </p:txBody>
      </p:sp>
      <p:sp>
        <p:nvSpPr>
          <p:cNvPr id="4" name="Slide Number Placeholder 3"/>
          <p:cNvSpPr>
            <a:spLocks noGrp="1"/>
          </p:cNvSpPr>
          <p:nvPr>
            <p:ph type="sldNum" sz="quarter" idx="5"/>
          </p:nvPr>
        </p:nvSpPr>
        <p:spPr/>
      </p:sp>
    </p:spTree>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Set expectations for a practical session focused on repeatable team workflows. Emphasize that instruction quality and context discipline are the two biggest multipliers for reliable AI-assisted development.</a:t>
            </a:r>
          </a:p>
          <a:p>
            <a:endParaRPr/>
          </a:p>
          <a:p>
            <a:r>
              <a:t>---</a:t>
            </a:r>
          </a:p>
          <a:p>
            <a:endParaRPr/>
          </a:p>
          <a:p>
            <a:r>
              <a:t>Source: Slides\individual-slides\managing-instruction-files-context-windows.md</a:t>
            </a:r>
          </a:p>
        </p:txBody>
      </p:sp>
      <p:sp>
        <p:nvSpPr>
          <p:cNvPr id="4" name="Slide Number Placeholder 3"/>
          <p:cNvSpPr>
            <a:spLocks noGrp="1"/>
          </p:cNvSpPr>
          <p:nvPr>
            <p:ph type="sldNum" sz="quarter" idx="5"/>
          </p:nvPr>
        </p:nvSpPr>
        <p:spPr/>
      </p:sp>
    </p:spTree>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Explain that teams should avoid copy-paste drift by maintaining canonical files and linking to them. Encourage pull-request reviews specifically for instruction changes, not just code changes.</a:t>
            </a:r>
          </a:p>
          <a:p>
            <a:endParaRPr/>
          </a:p>
          <a:p>
            <a:r>
              <a:t>---</a:t>
            </a:r>
          </a:p>
          <a:p>
            <a:endParaRPr/>
          </a:p>
          <a:p>
            <a:r>
              <a:t>Source: Slides\individual-slides\managing-instruction-files-context-windows.md</a:t>
            </a:r>
          </a:p>
        </p:txBody>
      </p:sp>
      <p:sp>
        <p:nvSpPr>
          <p:cNvPr id="4" name="Slide Number Placeholder 3"/>
          <p:cNvSpPr>
            <a:spLocks noGrp="1"/>
          </p:cNvSpPr>
          <p:nvPr>
            <p:ph type="sldNum" sz="quarter" idx="5"/>
          </p:nvPr>
        </p:nvSpPr>
        <p:spPr/>
      </p:sp>
    </p:spTree>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through broad-to-narrow scoping. Clarify that broad scopes are for policy and compliance, while narrow scopes are for stack-specific implementation rules.</a:t>
            </a:r>
          </a:p>
          <a:p>
            <a:endParaRPr/>
          </a:p>
          <a:p>
            <a:r>
              <a:t>---</a:t>
            </a:r>
          </a:p>
          <a:p>
            <a:endParaRPr/>
          </a:p>
          <a:p>
            <a:r>
              <a:t>Source: Slides\individual-slides\managing-instruction-files-context-windows.md</a:t>
            </a:r>
          </a:p>
        </p:txBody>
      </p:sp>
      <p:sp>
        <p:nvSpPr>
          <p:cNvPr id="4" name="Slide Number Placeholder 3"/>
          <p:cNvSpPr>
            <a:spLocks noGrp="1"/>
          </p:cNvSpPr>
          <p:nvPr>
            <p:ph type="sldNum" sz="quarter" idx="5"/>
          </p:nvPr>
        </p:nvSpPr>
        <p:spPr/>
      </p:sp>
    </p:spTree>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Teach participants to recognize degradation early rather than trying to salvage overloaded context. A clean new chat is usually cheaper than continued correction loops.</a:t>
            </a:r>
          </a:p>
          <a:p>
            <a:endParaRPr/>
          </a:p>
          <a:p>
            <a:r>
              <a:t>---</a:t>
            </a:r>
          </a:p>
          <a:p>
            <a:endParaRPr/>
          </a:p>
          <a:p>
            <a:r>
              <a:t>Source: Slides\individual-slides\managing-instruction-files-context-windows.md</a:t>
            </a:r>
          </a:p>
        </p:txBody>
      </p:sp>
      <p:sp>
        <p:nvSpPr>
          <p:cNvPr id="4" name="Slide Number Placeholder 3"/>
          <p:cNvSpPr>
            <a:spLocks noGrp="1"/>
          </p:cNvSpPr>
          <p:nvPr>
            <p:ph type="sldNum" sz="quarter" idx="5"/>
          </p:nvPr>
        </p:nvSpPr>
        <p:spPr/>
      </p:sp>
    </p:spTree>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Stress that token efficiency is not only cost control; it improves response quality by reducing noise. Show that structured prompts plus instruction files usually outperform long conversational buildup.</a:t>
            </a:r>
          </a:p>
          <a:p>
            <a:endParaRPr/>
          </a:p>
          <a:p>
            <a:r>
              <a:t>---</a:t>
            </a:r>
          </a:p>
          <a:p>
            <a:endParaRPr/>
          </a:p>
          <a:p>
            <a:r>
              <a:t>Source: Slides\individual-slides\managing-instruction-files-context-windows.md</a:t>
            </a:r>
          </a:p>
        </p:txBody>
      </p:sp>
      <p:sp>
        <p:nvSpPr>
          <p:cNvPr id="4" name="Slide Number Placeholder 3"/>
          <p:cNvSpPr>
            <a:spLocks noGrp="1"/>
          </p:cNvSpPr>
          <p:nvPr>
            <p:ph type="sldNum" sz="quarter" idx="5"/>
          </p:nvPr>
        </p:nvSpPr>
        <p:spPr/>
      </p:sp>
    </p:spTree>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Use this as the operational model teams can adopt immediately. Recommend adding this flow to onboarding docs so new contributors learn instruction and context discipline from day one.</a:t>
            </a:r>
          </a:p>
          <a:p>
            <a:endParaRPr/>
          </a:p>
          <a:p>
            <a:r>
              <a:t>---</a:t>
            </a:r>
          </a:p>
          <a:p>
            <a:endParaRPr/>
          </a:p>
          <a:p>
            <a:r>
              <a:t>Source: Slides\individual-slides\managing-instruction-files-context-windows.md</a:t>
            </a:r>
          </a:p>
        </p:txBody>
      </p:sp>
      <p:sp>
        <p:nvSpPr>
          <p:cNvPr id="4" name="Slide Number Placeholder 3"/>
          <p:cNvSpPr>
            <a:spLocks noGrp="1"/>
          </p:cNvSpPr>
          <p:nvPr>
            <p:ph type="sldNum" sz="quarter" idx="5"/>
          </p:nvPr>
        </p:nvSpPr>
        <p:spPr/>
      </p:sp>
    </p:spTree>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End with execution guidance. Suggest running a short retrospective after one sprint to measure improvements in output quality, rework rate, and token efficiency.</a:t>
            </a:r>
          </a:p>
          <a:p>
            <a:endParaRPr/>
          </a:p>
          <a:p>
            <a:r>
              <a:t>---</a:t>
            </a:r>
          </a:p>
          <a:p>
            <a:endParaRPr/>
          </a:p>
          <a:p>
            <a:r>
              <a:t>Source: Slides\individual-slides\managing-instruction-files-context-windows.md</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rgbClr val="007FB1"/>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4E5D4979-0E48-181C-5438-B441393DCAC1}"/>
              </a:ext>
            </a:extLst>
          </p:cNvPr>
          <p:cNvPicPr>
            <a:picLocks noChangeAspect="1"/>
          </p:cNvPicPr>
          <p:nvPr userDrawn="1"/>
        </p:nvPicPr>
        <p:blipFill>
          <a:blip r:embed="rId2">
            <a:alphaModFix amt="20000"/>
          </a:blip>
          <a:srcRect l="301" t="5222" r="713" b="10945"/>
          <a:stretch/>
        </p:blipFill>
        <p:spPr>
          <a:xfrm>
            <a:off x="0" y="-1"/>
            <a:ext cx="12192000" cy="6858001"/>
          </a:xfrm>
          <a:prstGeom prst="rect">
            <a:avLst/>
          </a:prstGeom>
        </p:spPr>
      </p:pic>
      <p:sp>
        <p:nvSpPr>
          <p:cNvPr id="2" name="Title 1">
            <a:extLst>
              <a:ext uri="{FF2B5EF4-FFF2-40B4-BE49-F238E27FC236}">
                <a16:creationId xmlns:a16="http://schemas.microsoft.com/office/drawing/2014/main" id="{38BA191F-D9FD-C2EB-983F-9B42F26EB6F6}"/>
              </a:ext>
            </a:extLst>
          </p:cNvPr>
          <p:cNvSpPr>
            <a:spLocks noGrp="1"/>
          </p:cNvSpPr>
          <p:nvPr>
            <p:ph type="ctrTitle"/>
          </p:nvPr>
        </p:nvSpPr>
        <p:spPr>
          <a:xfrm>
            <a:off x="1524000" y="2759384"/>
            <a:ext cx="9144000" cy="1891556"/>
          </a:xfrm>
        </p:spPr>
        <p:txBody>
          <a:bodyPr anchor="b"/>
          <a:lstStyle>
            <a:lvl1pPr algn="ctr">
              <a:defRPr sz="60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C2FDDE32-D155-6EE2-5EAC-C0A0C4B0AB69}"/>
              </a:ext>
            </a:extLst>
          </p:cNvPr>
          <p:cNvSpPr>
            <a:spLocks noGrp="1"/>
          </p:cNvSpPr>
          <p:nvPr>
            <p:ph type="subTitle" idx="1"/>
          </p:nvPr>
        </p:nvSpPr>
        <p:spPr>
          <a:xfrm>
            <a:off x="1524000" y="4952326"/>
            <a:ext cx="9144000" cy="1325070"/>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Picture 4">
            <a:extLst>
              <a:ext uri="{FF2B5EF4-FFF2-40B4-BE49-F238E27FC236}">
                <a16:creationId xmlns:a16="http://schemas.microsoft.com/office/drawing/2014/main" id="{A09F10DC-7230-4581-E771-A51DC87C601D}"/>
              </a:ext>
            </a:extLst>
          </p:cNvPr>
          <p:cNvPicPr>
            <a:picLocks noChangeAspect="1"/>
          </p:cNvPicPr>
          <p:nvPr userDrawn="1"/>
        </p:nvPicPr>
        <p:blipFill>
          <a:blip r:embed="rId3" cstate="print">
            <a:extLst>
              <a:ext uri="{28A0092B-C50C-407E-A947-70E740481C1C}">
                <a14:useLocalDpi xmlns:a14="http://schemas.microsoft.com/office/drawing/2010/main" val="0"/>
              </a:ext>
            </a:extLst>
          </a:blip>
          <a:srcRect/>
          <a:stretch/>
        </p:blipFill>
        <p:spPr>
          <a:xfrm>
            <a:off x="4294437" y="1238105"/>
            <a:ext cx="3578217" cy="1288157"/>
          </a:xfrm>
          <a:prstGeom prst="rect">
            <a:avLst/>
          </a:prstGeom>
          <a:ln>
            <a:noFill/>
          </a:ln>
          <a:effectLst/>
        </p:spPr>
      </p:pic>
    </p:spTree>
    <p:extLst>
      <p:ext uri="{BB962C8B-B14F-4D97-AF65-F5344CB8AC3E}">
        <p14:creationId xmlns:p14="http://schemas.microsoft.com/office/powerpoint/2010/main" val="3742734728"/>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25008E-5CA0-DF16-8859-F3F3B6B4ECB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1D7D27F-181A-B717-23A8-6AE0FE66C8FD}"/>
              </a:ext>
            </a:extLst>
          </p:cNvPr>
          <p:cNvSpPr>
            <a:spLocks noGrp="1"/>
          </p:cNvSpPr>
          <p:nvPr>
            <p:ph idx="1"/>
          </p:nvPr>
        </p:nvSpPr>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205874076"/>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25008E-5CA0-DF16-8859-F3F3B6B4ECB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1D7D27F-181A-B717-23A8-6AE0FE66C8FD}"/>
              </a:ext>
            </a:extLst>
          </p:cNvPr>
          <p:cNvSpPr>
            <a:spLocks noGrp="1"/>
          </p:cNvSpPr>
          <p:nvPr>
            <p:ph idx="1"/>
          </p:nvPr>
        </p:nvSpPr>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722829596"/>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3930F6-D2DF-F6C7-EE28-1317F8B2A17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97C4C2C-73A8-3DEC-B6FB-43F2345FC94D}"/>
              </a:ext>
            </a:extLst>
          </p:cNvPr>
          <p:cNvSpPr>
            <a:spLocks noGrp="1"/>
          </p:cNvSpPr>
          <p:nvPr>
            <p:ph sz="half" idx="1"/>
          </p:nvPr>
        </p:nvSpPr>
        <p:spPr>
          <a:xfrm>
            <a:off x="838200" y="1463752"/>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1FE4B54-0793-1D98-555E-E9470FF34B9A}"/>
              </a:ext>
            </a:extLst>
          </p:cNvPr>
          <p:cNvSpPr>
            <a:spLocks noGrp="1"/>
          </p:cNvSpPr>
          <p:nvPr>
            <p:ph sz="half" idx="2"/>
          </p:nvPr>
        </p:nvSpPr>
        <p:spPr>
          <a:xfrm>
            <a:off x="6172200" y="1463752"/>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83185060"/>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3930F6-D2DF-F6C7-EE28-1317F8B2A17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97C4C2C-73A8-3DEC-B6FB-43F2345FC94D}"/>
              </a:ext>
            </a:extLst>
          </p:cNvPr>
          <p:cNvSpPr>
            <a:spLocks noGrp="1"/>
          </p:cNvSpPr>
          <p:nvPr>
            <p:ph sz="half" idx="1"/>
          </p:nvPr>
        </p:nvSpPr>
        <p:spPr>
          <a:xfrm>
            <a:off x="838200" y="1463752"/>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1FE4B54-0793-1D98-555E-E9470FF34B9A}"/>
              </a:ext>
            </a:extLst>
          </p:cNvPr>
          <p:cNvSpPr>
            <a:spLocks noGrp="1"/>
          </p:cNvSpPr>
          <p:nvPr>
            <p:ph sz="half" idx="2"/>
          </p:nvPr>
        </p:nvSpPr>
        <p:spPr>
          <a:xfrm>
            <a:off x="6172202" y="1463752"/>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849783303"/>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Centere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9B468B-A6F2-4747-0841-93AC035CBDBA}"/>
              </a:ext>
            </a:extLst>
          </p:cNvPr>
          <p:cNvSpPr>
            <a:spLocks noGrp="1"/>
          </p:cNvSpPr>
          <p:nvPr>
            <p:ph type="title"/>
          </p:nvPr>
        </p:nvSpPr>
        <p:spPr>
          <a:xfrm>
            <a:off x="1631556" y="2644564"/>
            <a:ext cx="8928887" cy="1568871"/>
          </a:xfrm>
        </p:spPr>
        <p:txBody>
          <a:bodyPr/>
          <a:lstStyle>
            <a:lvl1pPr algn="ctr">
              <a:defRPr/>
            </a:lvl1pPr>
          </a:lstStyle>
          <a:p>
            <a:r>
              <a:rPr lang="en-US"/>
              <a:t>Click to edit Master title style</a:t>
            </a:r>
            <a:endParaRPr lang="en-US" dirty="0"/>
          </a:p>
        </p:txBody>
      </p:sp>
    </p:spTree>
    <p:extLst>
      <p:ext uri="{BB962C8B-B14F-4D97-AF65-F5344CB8AC3E}">
        <p14:creationId xmlns:p14="http://schemas.microsoft.com/office/powerpoint/2010/main" val="520210162"/>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9B468B-A6F2-4747-0841-93AC035CBDBA}"/>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595456361"/>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9B468B-A6F2-4747-0841-93AC035CBDBA}"/>
              </a:ext>
            </a:extLst>
          </p:cNvPr>
          <p:cNvSpPr>
            <a:spLocks noGrp="1"/>
          </p:cNvSpPr>
          <p:nvPr>
            <p:ph type="title"/>
          </p:nvPr>
        </p:nvSpPr>
        <p:spPr/>
        <p:txBody>
          <a:bodyPr/>
          <a:lstStyle/>
          <a:p>
            <a:r>
              <a:rPr lang="en-US"/>
              <a:t>Click to edit Master title style</a:t>
            </a:r>
          </a:p>
        </p:txBody>
      </p:sp>
      <p:sp>
        <p:nvSpPr>
          <p:cNvPr id="3" name="Picture Placeholder 3">
            <a:extLst>
              <a:ext uri="{FF2B5EF4-FFF2-40B4-BE49-F238E27FC236}">
                <a16:creationId xmlns:a16="http://schemas.microsoft.com/office/drawing/2014/main" id="{F1C99E23-E5F1-1D9C-BF82-D83E6E9F1346}"/>
              </a:ext>
            </a:extLst>
          </p:cNvPr>
          <p:cNvSpPr>
            <a:spLocks noGrp="1"/>
          </p:cNvSpPr>
          <p:nvPr>
            <p:ph type="pic" sz="quarter" idx="10"/>
          </p:nvPr>
        </p:nvSpPr>
        <p:spPr>
          <a:xfrm>
            <a:off x="900113" y="2433638"/>
            <a:ext cx="10391774" cy="3790950"/>
          </a:xfrm>
        </p:spPr>
        <p:txBody>
          <a:bodyPr/>
          <a:lstStyle/>
          <a:p>
            <a:endParaRPr lang="en-US"/>
          </a:p>
        </p:txBody>
      </p:sp>
      <p:sp>
        <p:nvSpPr>
          <p:cNvPr id="4" name="Text Placeholder 5">
            <a:extLst>
              <a:ext uri="{FF2B5EF4-FFF2-40B4-BE49-F238E27FC236}">
                <a16:creationId xmlns:a16="http://schemas.microsoft.com/office/drawing/2014/main" id="{63708861-970C-B5DB-BF46-526E75A04C16}"/>
              </a:ext>
            </a:extLst>
          </p:cNvPr>
          <p:cNvSpPr>
            <a:spLocks noGrp="1"/>
          </p:cNvSpPr>
          <p:nvPr>
            <p:ph type="body" sz="quarter" idx="11" hasCustomPrompt="1"/>
          </p:nvPr>
        </p:nvSpPr>
        <p:spPr>
          <a:xfrm>
            <a:off x="900113" y="1444625"/>
            <a:ext cx="10391774" cy="649288"/>
          </a:xfrm>
        </p:spPr>
        <p:txBody>
          <a:bodyPr/>
          <a:lstStyle>
            <a:lvl1pPr marL="0" indent="0">
              <a:buNone/>
              <a:defRPr/>
            </a:lvl1pPr>
          </a:lstStyle>
          <a:p>
            <a:pPr lvl="0"/>
            <a:r>
              <a:rPr lang="en-US" dirty="0"/>
              <a:t>Image Caption</a:t>
            </a:r>
          </a:p>
        </p:txBody>
      </p:sp>
    </p:spTree>
    <p:extLst>
      <p:ext uri="{BB962C8B-B14F-4D97-AF65-F5344CB8AC3E}">
        <p14:creationId xmlns:p14="http://schemas.microsoft.com/office/powerpoint/2010/main" val="1827457619"/>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671134239"/>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blank" preserve="1">
  <p:cSld name="1_Blank">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F7AB04E-CD14-3B5B-FB56-FF0AC2426BBE}"/>
              </a:ext>
            </a:extLst>
          </p:cNvPr>
          <p:cNvPicPr>
            <a:picLocks noChangeAspect="1"/>
          </p:cNvPicPr>
          <p:nvPr userDrawn="1"/>
        </p:nvPicPr>
        <p:blipFill>
          <a:blip r:embed="rId2">
            <a:alphaModFix amt="20000"/>
          </a:blip>
          <a:srcRect l="301" t="5222" r="713" b="10945"/>
          <a:stretch/>
        </p:blipFill>
        <p:spPr>
          <a:xfrm>
            <a:off x="0" y="-1"/>
            <a:ext cx="12192000" cy="6858001"/>
          </a:xfrm>
          <a:prstGeom prst="rect">
            <a:avLst/>
          </a:prstGeom>
        </p:spPr>
      </p:pic>
    </p:spTree>
    <p:extLst>
      <p:ext uri="{BB962C8B-B14F-4D97-AF65-F5344CB8AC3E}">
        <p14:creationId xmlns:p14="http://schemas.microsoft.com/office/powerpoint/2010/main" val="435387362"/>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ode">
    <p:bg>
      <p:bgPr>
        <a:solidFill>
          <a:srgbClr val="21212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DF442E2-8683-D251-03C0-5FDD0CBEBC4F}"/>
              </a:ext>
            </a:extLst>
          </p:cNvPr>
          <p:cNvSpPr>
            <a:spLocks noGrp="1"/>
          </p:cNvSpPr>
          <p:nvPr>
            <p:ph type="body" sz="quarter" idx="10" hasCustomPrompt="1"/>
          </p:nvPr>
        </p:nvSpPr>
        <p:spPr>
          <a:xfrm>
            <a:off x="833480" y="1051965"/>
            <a:ext cx="9831823" cy="313932"/>
          </a:xfrm>
        </p:spPr>
        <p:txBody>
          <a:bodyPr>
            <a:spAutoFit/>
          </a:bodyPr>
          <a:lstStyle>
            <a:lvl1pPr marL="0" indent="0">
              <a:buFontTx/>
              <a:buNone/>
              <a:defRPr sz="1600">
                <a:latin typeface="Victor Mono" pitchFamily="49" charset="0"/>
              </a:defRPr>
            </a:lvl1pPr>
            <a:lvl2pPr marL="457200" indent="0">
              <a:buFontTx/>
              <a:buNone/>
              <a:defRPr>
                <a:latin typeface="Victor Mono" pitchFamily="49" charset="0"/>
              </a:defRPr>
            </a:lvl2pPr>
            <a:lvl3pPr marL="914400" indent="0">
              <a:buFontTx/>
              <a:buNone/>
              <a:defRPr>
                <a:latin typeface="Victor Mono" pitchFamily="49" charset="0"/>
              </a:defRPr>
            </a:lvl3pPr>
            <a:lvl4pPr marL="1371600" indent="0">
              <a:buFontTx/>
              <a:buNone/>
              <a:defRPr>
                <a:latin typeface="Victor Mono" pitchFamily="49" charset="0"/>
              </a:defRPr>
            </a:lvl4pPr>
            <a:lvl5pPr marL="1828800" indent="0">
              <a:buFontTx/>
              <a:buNone/>
              <a:defRPr>
                <a:latin typeface="Victor Mono" pitchFamily="49" charset="0"/>
              </a:defRPr>
            </a:lvl5pPr>
          </a:lstStyle>
          <a:p>
            <a:pPr lvl="0"/>
            <a:r>
              <a:rPr lang="en-US" dirty="0"/>
              <a:t>Click to edit Code text</a:t>
            </a:r>
          </a:p>
        </p:txBody>
      </p:sp>
    </p:spTree>
    <p:extLst>
      <p:ext uri="{BB962C8B-B14F-4D97-AF65-F5344CB8AC3E}">
        <p14:creationId xmlns:p14="http://schemas.microsoft.com/office/powerpoint/2010/main" val="87609124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007FB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83C53BF9-6377-93D8-5BD7-30937619B4E2}"/>
              </a:ext>
            </a:extLst>
          </p:cNvPr>
          <p:cNvPicPr>
            <a:picLocks noChangeAspect="1"/>
          </p:cNvPicPr>
          <p:nvPr userDrawn="1"/>
        </p:nvPicPr>
        <p:blipFill>
          <a:blip r:embed="rId13">
            <a:alphaModFix amt="20000"/>
          </a:blip>
          <a:srcRect l="301" t="5222" r="713" b="10945"/>
          <a:stretch/>
        </p:blipFill>
        <p:spPr>
          <a:xfrm>
            <a:off x="0" y="-1"/>
            <a:ext cx="12192000" cy="6858001"/>
          </a:xfrm>
          <a:prstGeom prst="rect">
            <a:avLst/>
          </a:prstGeom>
        </p:spPr>
      </p:pic>
      <p:sp>
        <p:nvSpPr>
          <p:cNvPr id="2" name="Title Placeholder 1">
            <a:extLst>
              <a:ext uri="{FF2B5EF4-FFF2-40B4-BE49-F238E27FC236}">
                <a16:creationId xmlns:a16="http://schemas.microsoft.com/office/drawing/2014/main" id="{3A4163A3-B061-0949-1965-0375841BDB05}"/>
              </a:ext>
            </a:extLst>
          </p:cNvPr>
          <p:cNvSpPr>
            <a:spLocks noGrp="1"/>
          </p:cNvSpPr>
          <p:nvPr>
            <p:ph type="title"/>
          </p:nvPr>
        </p:nvSpPr>
        <p:spPr>
          <a:xfrm>
            <a:off x="838200" y="365126"/>
            <a:ext cx="8928887" cy="70302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D4E76094-9BD4-ED01-3BE5-5F760EE32E2A}"/>
              </a:ext>
            </a:extLst>
          </p:cNvPr>
          <p:cNvSpPr>
            <a:spLocks noGrp="1"/>
          </p:cNvSpPr>
          <p:nvPr>
            <p:ph type="body" idx="1"/>
          </p:nvPr>
        </p:nvSpPr>
        <p:spPr>
          <a:xfrm>
            <a:off x="838200" y="1461483"/>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4" name="Picture 3">
            <a:extLst>
              <a:ext uri="{FF2B5EF4-FFF2-40B4-BE49-F238E27FC236}">
                <a16:creationId xmlns:a16="http://schemas.microsoft.com/office/drawing/2014/main" id="{CD6163BC-C951-C17F-421A-4AD743EDDB29}"/>
              </a:ext>
            </a:extLst>
          </p:cNvPr>
          <p:cNvPicPr>
            <a:picLocks noChangeAspect="1"/>
          </p:cNvPicPr>
          <p:nvPr userDrawn="1"/>
        </p:nvPicPr>
        <p:blipFill>
          <a:blip r:embed="rId14"/>
          <a:srcRect/>
          <a:stretch/>
        </p:blipFill>
        <p:spPr>
          <a:xfrm>
            <a:off x="10016117" y="424540"/>
            <a:ext cx="1783676" cy="643610"/>
          </a:xfrm>
          <a:prstGeom prst="rect">
            <a:avLst/>
          </a:prstGeom>
          <a:ln>
            <a:noFill/>
          </a:ln>
          <a:effectLst/>
        </p:spPr>
      </p:pic>
    </p:spTree>
    <p:extLst>
      <p:ext uri="{BB962C8B-B14F-4D97-AF65-F5344CB8AC3E}">
        <p14:creationId xmlns:p14="http://schemas.microsoft.com/office/powerpoint/2010/main" val="2005844286"/>
      </p:ext>
    </p:extLst>
  </p:cSld>
  <p:clrMap bg1="lt1" tx1="dk1" bg2="lt2" tx2="dk2" accent1="accent1" accent2="accent2" accent3="accent3" accent4="accent4" accent5="accent5" accent6="accent6" hlink="hlink" folHlink="folHlink"/>
  <p:sldLayoutIdLst>
    <p:sldLayoutId id="2147483744" r:id="rId1"/>
    <p:sldLayoutId id="2147483745" r:id="rId2"/>
    <p:sldLayoutId id="2147483797" r:id="rId3"/>
    <p:sldLayoutId id="2147483746" r:id="rId4"/>
    <p:sldLayoutId id="2147483784" r:id="rId5"/>
    <p:sldLayoutId id="2147483747" r:id="rId6"/>
    <p:sldLayoutId id="2147483748" r:id="rId7"/>
    <p:sldLayoutId id="2147483792" r:id="rId8"/>
    <p:sldLayoutId id="2147483749" r:id="rId9"/>
    <p:sldLayoutId id="2147483750" r:id="rId10"/>
    <p:sldLayoutId id="2147483751" r:id="rId11"/>
  </p:sldLayoutIdLst>
  <p:transition>
    <p:fade/>
  </p:transition>
  <p:txStyles>
    <p:titleStyle>
      <a:lvl1pPr algn="l" defTabSz="914400" rtl="0" eaLnBrk="1" latinLnBrk="0" hangingPunct="1">
        <a:lnSpc>
          <a:spcPct val="90000"/>
        </a:lnSpc>
        <a:spcBef>
          <a:spcPct val="0"/>
        </a:spcBef>
        <a:buNone/>
        <a:defRPr sz="4400" b="1"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6.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3.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6.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6.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2" Type="http://schemas.openxmlformats.org/officeDocument/2006/relationships/notesSlide" Target="../notesSlides/notesSlide166.xml"/><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167.xml"/><Relationship Id="rId1" Type="http://schemas.openxmlformats.org/officeDocument/2006/relationships/slideLayout" Target="../slideLayouts/slideLayout3.xml"/></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2" Type="http://schemas.openxmlformats.org/officeDocument/2006/relationships/notesSlide" Target="../notesSlides/notesSlide174.xml"/><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179.xml"/><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wrap="square">
            <a:normAutofit/>
          </a:bodyPr>
          <a:lstStyle/>
          <a:p>
            <a:r>
              <a:t>Welcome to AI Assisted Software Development</a:t>
            </a:r>
          </a:p>
        </p:txBody>
      </p:sp>
      <p:sp>
        <p:nvSpPr>
          <p:cNvPr id="3" name="Subtitle 2"/>
          <p:cNvSpPr>
            <a:spLocks noGrp="1"/>
          </p:cNvSpPr>
          <p:nvPr>
            <p:ph type="subTitle" idx="1"/>
          </p:nvPr>
        </p:nvSpPr>
        <p:spPr/>
        <p:txBody>
          <a:bodyPr wrap="square">
            <a:normAutofit/>
          </a:bodyPr>
          <a:lstStyle/>
          <a:p>
            <a:r>
              <a:t>From Code to Copilot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John Michael Miller</a:t>
            </a:r>
          </a:p>
        </p:txBody>
      </p:sp>
      <p:sp>
        <p:nvSpPr>
          <p:cNvPr id="3" name="Content Placeholder 2"/>
          <p:cNvSpPr>
            <a:spLocks noGrp="1"/>
          </p:cNvSpPr>
          <p:nvPr>
            <p:ph idx="1"/>
          </p:nvPr>
        </p:nvSpPr>
        <p:spPr/>
        <p:txBody>
          <a:bodyPr wrap="square">
            <a:noAutofit/>
          </a:bodyPr>
          <a:lstStyle/>
          <a:p>
            <a:endParaRPr sz="2450"/>
          </a:p>
          <a:p>
            <a:r>
              <a:rPr sz="2450" b="1"/>
              <a:t>Principal Software Engineer at CODE</a:t>
            </a:r>
          </a:p>
          <a:p>
            <a:r>
              <a:rPr sz="2450"/>
              <a:t>Played roles of developer, architect, devops engineer, platform engineer, test architect, release manager</a:t>
            </a:r>
          </a:p>
          <a:p>
            <a:r>
              <a:rPr sz="2450"/>
              <a:t>AI/ML Enthusiast and advocate for effectively using AI to write code</a:t>
            </a:r>
          </a:p>
          <a:p>
            <a:endParaRPr sz="2450"/>
          </a:p>
          <a:p>
            <a:r>
              <a:rPr sz="2450"/>
              <a:t>LinkedIn: www.linkedin.com/in/johnmichaelmiller</a:t>
            </a:r>
          </a:p>
          <a:p>
            <a:r>
              <a:rPr sz="2450"/>
              <a:t>Email: john.miller@codemag.com</a:t>
            </a:r>
          </a:p>
          <a:p>
            <a:r>
              <a:rPr sz="2450"/>
              <a:t>Blog: codemag.com/blog/AIPractitioner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Introductions</a:t>
            </a:r>
          </a:p>
        </p:txBody>
      </p:sp>
      <p:sp>
        <p:nvSpPr>
          <p:cNvPr id="3" name="Content Placeholder 2"/>
          <p:cNvSpPr>
            <a:spLocks noGrp="1"/>
          </p:cNvSpPr>
          <p:nvPr>
            <p:ph idx="1"/>
          </p:nvPr>
        </p:nvSpPr>
        <p:spPr/>
        <p:txBody>
          <a:bodyPr wrap="square">
            <a:normAutofit/>
          </a:bodyPr>
          <a:lstStyle/>
          <a:p>
            <a:endParaRPr/>
          </a:p>
          <a:p>
            <a:r>
              <a:t>Who you are</a:t>
            </a:r>
          </a:p>
          <a:p>
            <a:r>
              <a:t>Who do you work for</a:t>
            </a:r>
          </a:p>
          <a:p>
            <a:r>
              <a:t>What you do</a:t>
            </a:r>
          </a:p>
          <a:p>
            <a:r>
              <a:t>What you've done with AI tools</a:t>
            </a:r>
          </a:p>
          <a:p>
            <a:r>
              <a:t>What you want to learn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About CODE</a:t>
            </a:r>
          </a:p>
        </p:txBody>
      </p:sp>
      <p:sp>
        <p:nvSpPr>
          <p:cNvPr id="3" name="Content Placeholder 2"/>
          <p:cNvSpPr>
            <a:spLocks noGrp="1"/>
          </p:cNvSpPr>
          <p:nvPr>
            <p:ph idx="1"/>
          </p:nvPr>
        </p:nvSpPr>
        <p:spPr/>
        <p:txBody>
          <a:bodyPr wrap="square">
            <a:normAutofit/>
          </a:bodyPr>
          <a:lstStyle/>
          <a:p>
            <a:endParaRPr/>
          </a:p>
          <a:p>
            <a:r>
              <a:t>&lt;img src="images/CODE-30.jpg" style="width: 100%;" /&gt;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Daily Themes</a:t>
            </a:r>
          </a:p>
        </p:txBody>
      </p:sp>
      <p:graphicFrame>
        <p:nvGraphicFramePr>
          <p:cNvPr id="3" name="Table 2"/>
          <p:cNvGraphicFramePr>
            <a:graphicFrameLocks noGrp="1"/>
          </p:cNvGraphicFramePr>
          <p:nvPr/>
        </p:nvGraphicFramePr>
        <p:xfrm>
          <a:off x="457200" y="1828800"/>
          <a:ext cx="8229600" cy="2743200"/>
        </p:xfrm>
        <a:graphic>
          <a:graphicData uri="http://schemas.openxmlformats.org/drawingml/2006/table">
            <a:tbl>
              <a:tblPr firstRow="1" bandRow="1">
                <a:tableStyleId>{5C22544A-7EE6-4342-B048-85BDC9FD1C3A}</a:tableStyleId>
              </a:tblPr>
              <a:tblGrid>
                <a:gridCol w="411480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tblGrid>
              <a:tr h="457200">
                <a:tc>
                  <a:txBody>
                    <a:bodyPr/>
                    <a:lstStyle/>
                    <a:p>
                      <a:pPr>
                        <a:defRPr sz="1296" b="1"/>
                      </a:pPr>
                      <a:r>
                        <a:t>Day</a:t>
                      </a:r>
                    </a:p>
                  </a:txBody>
                  <a:tcPr/>
                </a:tc>
                <a:tc>
                  <a:txBody>
                    <a:bodyPr/>
                    <a:lstStyle/>
                    <a:p>
                      <a:pPr>
                        <a:defRPr sz="1296" b="1"/>
                      </a:pPr>
                      <a:r>
                        <a:t>Theme</a:t>
                      </a:r>
                    </a:p>
                  </a:txBody>
                  <a:tcPr/>
                </a:tc>
                <a:extLst>
                  <a:ext uri="{0D108BD9-81ED-4DB2-BD59-A6C34878D82A}">
                    <a16:rowId xmlns:a16="http://schemas.microsoft.com/office/drawing/2014/main" val="10000"/>
                  </a:ext>
                </a:extLst>
              </a:tr>
              <a:tr h="457200">
                <a:tc>
                  <a:txBody>
                    <a:bodyPr/>
                    <a:lstStyle/>
                    <a:p>
                      <a:r>
                        <a:t>Monday</a:t>
                      </a:r>
                    </a:p>
                  </a:txBody>
                  <a:tcPr/>
                </a:tc>
                <a:tc>
                  <a:txBody>
                    <a:bodyPr/>
                    <a:lstStyle/>
                    <a:p>
                      <a:r>
                        <a:t>AI Guardrails, Instructions</a:t>
                      </a:r>
                    </a:p>
                  </a:txBody>
                  <a:tcPr/>
                </a:tc>
                <a:extLst>
                  <a:ext uri="{0D108BD9-81ED-4DB2-BD59-A6C34878D82A}">
                    <a16:rowId xmlns:a16="http://schemas.microsoft.com/office/drawing/2014/main" val="10001"/>
                  </a:ext>
                </a:extLst>
              </a:tr>
              <a:tr h="457200">
                <a:tc>
                  <a:txBody>
                    <a:bodyPr/>
                    <a:lstStyle/>
                    <a:p>
                      <a:r>
                        <a:t>Tuesday</a:t>
                      </a:r>
                    </a:p>
                  </a:txBody>
                  <a:tcPr/>
                </a:tc>
                <a:tc>
                  <a:txBody>
                    <a:bodyPr/>
                    <a:lstStyle/>
                    <a:p>
                      <a:r>
                        <a:t>AI Guardrails, Prompts</a:t>
                      </a:r>
                    </a:p>
                  </a:txBody>
                  <a:tcPr/>
                </a:tc>
                <a:extLst>
                  <a:ext uri="{0D108BD9-81ED-4DB2-BD59-A6C34878D82A}">
                    <a16:rowId xmlns:a16="http://schemas.microsoft.com/office/drawing/2014/main" val="10002"/>
                  </a:ext>
                </a:extLst>
              </a:tr>
              <a:tr h="457200">
                <a:tc>
                  <a:txBody>
                    <a:bodyPr/>
                    <a:lstStyle/>
                    <a:p>
                      <a:r>
                        <a:t>Wednesday</a:t>
                      </a:r>
                    </a:p>
                  </a:txBody>
                  <a:tcPr/>
                </a:tc>
                <a:tc>
                  <a:txBody>
                    <a:bodyPr/>
                    <a:lstStyle/>
                    <a:p>
                      <a:r>
                        <a:t>AI Guardrails, Agents</a:t>
                      </a:r>
                    </a:p>
                  </a:txBody>
                  <a:tcPr/>
                </a:tc>
                <a:extLst>
                  <a:ext uri="{0D108BD9-81ED-4DB2-BD59-A6C34878D82A}">
                    <a16:rowId xmlns:a16="http://schemas.microsoft.com/office/drawing/2014/main" val="10003"/>
                  </a:ext>
                </a:extLst>
              </a:tr>
              <a:tr h="457200">
                <a:tc>
                  <a:txBody>
                    <a:bodyPr/>
                    <a:lstStyle/>
                    <a:p>
                      <a:r>
                        <a:t>Thursday</a:t>
                      </a:r>
                    </a:p>
                  </a:txBody>
                  <a:tcPr/>
                </a:tc>
                <a:tc>
                  <a:txBody>
                    <a:bodyPr/>
                    <a:lstStyle/>
                    <a:p>
                      <a:r>
                        <a:t>AI Assisted Brownfield Software Development</a:t>
                      </a:r>
                    </a:p>
                  </a:txBody>
                  <a:tcPr/>
                </a:tc>
                <a:extLst>
                  <a:ext uri="{0D108BD9-81ED-4DB2-BD59-A6C34878D82A}">
                    <a16:rowId xmlns:a16="http://schemas.microsoft.com/office/drawing/2014/main" val="10004"/>
                  </a:ext>
                </a:extLst>
              </a:tr>
              <a:tr h="457200">
                <a:tc>
                  <a:txBody>
                    <a:bodyPr/>
                    <a:lstStyle/>
                    <a:p>
                      <a:r>
                        <a:t>Friday</a:t>
                      </a:r>
                    </a:p>
                  </a:txBody>
                  <a:tcPr/>
                </a:tc>
                <a:tc>
                  <a:txBody>
                    <a:bodyPr/>
                    <a:lstStyle/>
                    <a:p>
                      <a:r>
                        <a:t>AI Assisted Greenfield Software Development</a:t>
                      </a:r>
                    </a:p>
                  </a:txBody>
                  <a:tcPr/>
                </a:tc>
                <a:extLst>
                  <a:ext uri="{0D108BD9-81ED-4DB2-BD59-A6C34878D82A}">
                    <a16:rowId xmlns:a16="http://schemas.microsoft.com/office/drawing/2014/main" val="10005"/>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Course Modules</a:t>
            </a:r>
          </a:p>
        </p:txBody>
      </p:sp>
      <p:sp>
        <p:nvSpPr>
          <p:cNvPr id="3" name="Content Placeholder 2"/>
          <p:cNvSpPr>
            <a:spLocks noGrp="1"/>
          </p:cNvSpPr>
          <p:nvPr>
            <p:ph idx="1"/>
          </p:nvPr>
        </p:nvSpPr>
        <p:spPr/>
        <p:txBody>
          <a:bodyPr wrap="square">
            <a:normAutofit/>
          </a:bodyPr>
          <a:lstStyle/>
          <a:p>
            <a:endParaRPr/>
          </a:p>
          <a:p>
            <a:r>
              <a:t>Intro</a:t>
            </a:r>
          </a:p>
          <a:p>
            <a:r>
              <a:rPr b="1"/>
              <a:t>▶ AI Assisted Software Development</a:t>
            </a:r>
          </a:p>
          <a:p>
            <a:r>
              <a:t>Intro to Copilot</a:t>
            </a:r>
          </a:p>
          <a:p>
            <a:r>
              <a:t>AI Assistance in Action</a:t>
            </a:r>
          </a:p>
          <a:p>
            <a:r>
              <a:t>Adding AI Guardrails</a:t>
            </a:r>
          </a:p>
          <a:p>
            <a:r>
              <a:t>Managing Context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4000"/>
              <a:t>AI Assisted Software Development</a:t>
            </a:r>
          </a:p>
        </p:txBody>
      </p:sp>
      <p:sp>
        <p:nvSpPr>
          <p:cNvPr id="3" name="Content Placeholder 2"/>
          <p:cNvSpPr>
            <a:spLocks noGrp="1"/>
          </p:cNvSpPr>
          <p:nvPr>
            <p:ph idx="1"/>
          </p:nvPr>
        </p:nvSpPr>
        <p:spPr/>
        <p:txBody>
          <a:bodyPr wrap="square">
            <a:normAutofit/>
          </a:bodyPr>
          <a:lstStyle/>
          <a:p>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4000"/>
              <a:t>AI Assisted Software Development</a:t>
            </a:r>
          </a:p>
        </p:txBody>
      </p:sp>
      <p:sp>
        <p:nvSpPr>
          <p:cNvPr id="3" name="Content Placeholder 2"/>
          <p:cNvSpPr>
            <a:spLocks noGrp="1"/>
          </p:cNvSpPr>
          <p:nvPr>
            <p:ph idx="1"/>
          </p:nvPr>
        </p:nvSpPr>
        <p:spPr/>
        <p:txBody>
          <a:bodyPr wrap="square">
            <a:normAutofit/>
          </a:bodyPr>
          <a:lstStyle/>
          <a:p>
            <a:endParaRPr/>
          </a:p>
          <a:p>
            <a:r>
              <a:t>WTBD - The Core Thesis</a:t>
            </a:r>
          </a:p>
          <a:p>
            <a:r>
              <a:t>The AI Revolution?</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WTBD - The Core Thesis</a:t>
            </a:r>
          </a:p>
        </p:txBody>
      </p:sp>
      <p:sp>
        <p:nvSpPr>
          <p:cNvPr id="3" name="Content Placeholder 2"/>
          <p:cNvSpPr>
            <a:spLocks noGrp="1"/>
          </p:cNvSpPr>
          <p:nvPr>
            <p:ph idx="1"/>
          </p:nvPr>
        </p:nvSpPr>
        <p:spPr/>
        <p:txBody>
          <a:bodyPr wrap="square">
            <a:noAutofit/>
          </a:bodyPr>
          <a:lstStyle/>
          <a:p>
            <a:endParaRPr sz="2300"/>
          </a:p>
          <a:p>
            <a:r>
              <a:rPr sz="2300" i="1"/>
              <a:t>"Programming hasn't changed, but how we go about it has changed, again."</a:t>
            </a:r>
          </a:p>
          <a:p>
            <a:endParaRPr sz="2300" i="1"/>
          </a:p>
          <a:p>
            <a:r>
              <a:rPr sz="2300"/>
              <a:t>AI-assisted development is </a:t>
            </a:r>
            <a:r>
              <a:rPr sz="2300" b="1"/>
              <a:t>evolutionary</a:t>
            </a:r>
            <a:r>
              <a:rPr sz="2300"/>
              <a:t>, not revolutionary</a:t>
            </a:r>
          </a:p>
          <a:p>
            <a:r>
              <a:rPr sz="2300"/>
              <a:t>Programming has always been about </a:t>
            </a:r>
            <a:r>
              <a:rPr sz="2300" b="1"/>
              <a:t>expressing human intent</a:t>
            </a:r>
            <a:r>
              <a:rPr sz="2300"/>
              <a:t> to machines</a:t>
            </a:r>
          </a:p>
          <a:p>
            <a:r>
              <a:rPr sz="2300"/>
              <a:t>What changes is the </a:t>
            </a:r>
            <a:r>
              <a:rPr sz="2300" b="1"/>
              <a:t>sophistication of our tools</a:t>
            </a:r>
            <a:r>
              <a:rPr sz="2300"/>
              <a:t> for expressing intent</a:t>
            </a:r>
          </a:p>
          <a:p>
            <a:r>
              <a:rPr sz="2300"/>
              <a:t>The essence remains: bridging the gap between what we want and what machines can do</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2750"/>
              <a:t>A Brief History: Machine Code &amp; Assembly (1940s)</a:t>
            </a:r>
          </a:p>
        </p:txBody>
      </p:sp>
      <p:sp>
        <p:nvSpPr>
          <p:cNvPr id="3" name="Content Placeholder 2"/>
          <p:cNvSpPr>
            <a:spLocks noGrp="1"/>
          </p:cNvSpPr>
          <p:nvPr>
            <p:ph idx="1"/>
          </p:nvPr>
        </p:nvSpPr>
        <p:spPr/>
        <p:txBody>
          <a:bodyPr wrap="square">
            <a:noAutofit/>
          </a:bodyPr>
          <a:lstStyle/>
          <a:p>
            <a:endParaRPr sz="1550"/>
          </a:p>
          <a:p>
            <a:r>
              <a:rPr sz="1550" b="1"/>
              <a:t>Machine Code</a:t>
            </a:r>
            <a:r>
              <a:rPr sz="1550"/>
              <a:t>: Raw binary language executed directly by hardware</a:t>
            </a:r>
          </a:p>
          <a:p>
            <a:r>
              <a:rPr sz="1550" b="1"/>
              <a:t>Physical Programming</a:t>
            </a:r>
            <a:r>
              <a:rPr sz="1550"/>
              <a:t>:</a:t>
            </a:r>
          </a:p>
          <a:p>
            <a:r>
              <a:rPr sz="1550"/>
              <a:t>  - Flipping panel switches</a:t>
            </a:r>
          </a:p>
          <a:p>
            <a:r>
              <a:rPr sz="1550"/>
              <a:t>  - Plugging cables</a:t>
            </a:r>
          </a:p>
          <a:p>
            <a:r>
              <a:rPr sz="1550"/>
              <a:t>  - Feeding punched cards into IBM readers</a:t>
            </a:r>
          </a:p>
          <a:p>
            <a:r>
              <a:rPr sz="1550"/>
              <a:t>  - Threading perforated paper tape</a:t>
            </a:r>
          </a:p>
          <a:p>
            <a:endParaRPr sz="1550"/>
          </a:p>
          <a:p>
            <a:r>
              <a:rPr sz="1550" b="1"/>
              <a:t>Assembly Language</a:t>
            </a:r>
            <a:r>
              <a:rPr sz="1550"/>
              <a:t>: Introduced symbolic mnemonics (MOV, ADD, JMP)</a:t>
            </a:r>
          </a:p>
          <a:p>
            <a:endParaRPr sz="1550"/>
          </a:p>
          <a:p>
            <a:r>
              <a:rPr sz="1550" b="1"/>
              <a:t>Enabling Technology</a:t>
            </a:r>
            <a:r>
              <a:rPr sz="1550"/>
              <a:t>: Assemblers that translated mnemonics into machine code</a:t>
            </a:r>
          </a:p>
          <a:p>
            <a:r>
              <a:rPr sz="1550"/>
              <a:t>Still mainstream today in embedded systems and OS kernels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850"/>
              <a:t>High-Level Languages (1950s-1970s)</a:t>
            </a:r>
          </a:p>
        </p:txBody>
      </p:sp>
      <p:sp>
        <p:nvSpPr>
          <p:cNvPr id="3" name="Content Placeholder 2"/>
          <p:cNvSpPr>
            <a:spLocks noGrp="1"/>
          </p:cNvSpPr>
          <p:nvPr>
            <p:ph idx="1"/>
          </p:nvPr>
        </p:nvSpPr>
        <p:spPr/>
        <p:txBody>
          <a:bodyPr wrap="square">
            <a:noAutofit/>
          </a:bodyPr>
          <a:lstStyle/>
          <a:p>
            <a:endParaRPr sz="1400"/>
          </a:p>
          <a:p>
            <a:r>
              <a:rPr sz="1400" b="1"/>
              <a:t>The Abstraction Revolution</a:t>
            </a:r>
            <a:r>
              <a:rPr sz="1400"/>
              <a:t>:</a:t>
            </a:r>
          </a:p>
          <a:p>
            <a:endParaRPr sz="1400"/>
          </a:p>
          <a:p>
            <a:r>
              <a:rPr sz="1400"/>
              <a:t>Math-like and business-oriented syntax</a:t>
            </a:r>
          </a:p>
          <a:p>
            <a:r>
              <a:rPr sz="1400" b="1"/>
              <a:t>Enabling Technologies</a:t>
            </a:r>
            <a:r>
              <a:rPr sz="1400"/>
              <a:t>: Compilers and interpreters</a:t>
            </a:r>
          </a:p>
          <a:p>
            <a:endParaRPr sz="1400"/>
          </a:p>
          <a:p>
            <a:r>
              <a:rPr sz="1400" b="1"/>
              <a:t>Key Languages</a:t>
            </a:r>
            <a:r>
              <a:rPr sz="1400"/>
              <a:t>:</a:t>
            </a:r>
          </a:p>
          <a:p>
            <a:endParaRPr sz="1400"/>
          </a:p>
          <a:p>
            <a:r>
              <a:rPr sz="1400" b="1"/>
              <a:t>FORTRAN (1957)</a:t>
            </a:r>
            <a:r>
              <a:rPr sz="1400"/>
              <a:t>: Pioneered scientific programming</a:t>
            </a:r>
          </a:p>
          <a:p>
            <a:r>
              <a:rPr sz="1400" b="1"/>
              <a:t>COBOL (1959)</a:t>
            </a:r>
            <a:r>
              <a:rPr sz="1400"/>
              <a:t>: Mainstream in business and government</a:t>
            </a:r>
          </a:p>
          <a:p>
            <a:r>
              <a:rPr sz="1400" b="1"/>
              <a:t>C (1972)</a:t>
            </a:r>
            <a:r>
              <a:rPr sz="1400"/>
              <a:t>: Spread with UNIX thanks to portable compilers</a:t>
            </a:r>
          </a:p>
          <a:p>
            <a:endParaRPr sz="1400"/>
          </a:p>
          <a:p>
            <a:r>
              <a:rPr sz="1400" b="1"/>
              <a:t>Sensory Shift</a:t>
            </a:r>
            <a:r>
              <a:rPr sz="1400"/>
              <a:t>: From mechanical card punches to typewriter-style terminals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2350"/>
              <a:t>Structured &amp; Object-Oriented Programming (1970s-1980s)</a:t>
            </a:r>
          </a:p>
        </p:txBody>
      </p:sp>
      <p:sp>
        <p:nvSpPr>
          <p:cNvPr id="3" name="Content Placeholder 2"/>
          <p:cNvSpPr>
            <a:spLocks noGrp="1"/>
          </p:cNvSpPr>
          <p:nvPr>
            <p:ph idx="1"/>
          </p:nvPr>
        </p:nvSpPr>
        <p:spPr/>
        <p:txBody>
          <a:bodyPr wrap="square">
            <a:noAutofit/>
          </a:bodyPr>
          <a:lstStyle/>
          <a:p>
            <a:endParaRPr sz="1400"/>
          </a:p>
          <a:p>
            <a:r>
              <a:rPr sz="1400" b="1"/>
              <a:t>Focus</a:t>
            </a:r>
            <a:r>
              <a:rPr sz="1400"/>
              <a:t>: Modularity, reuse, and abstraction</a:t>
            </a:r>
          </a:p>
          <a:p>
            <a:endParaRPr sz="1400"/>
          </a:p>
          <a:p>
            <a:r>
              <a:rPr sz="1400" b="1"/>
              <a:t>Key Developments</a:t>
            </a:r>
            <a:r>
              <a:rPr sz="1400"/>
              <a:t>:</a:t>
            </a:r>
          </a:p>
          <a:p>
            <a:endParaRPr sz="1400"/>
          </a:p>
          <a:p>
            <a:r>
              <a:rPr sz="1400" b="1"/>
              <a:t>Pascal (1970)</a:t>
            </a:r>
            <a:r>
              <a:rPr sz="1400"/>
              <a:t>: Structured paradigms with compiler innovations</a:t>
            </a:r>
          </a:p>
          <a:p>
            <a:r>
              <a:rPr sz="1400" b="1"/>
              <a:t>C++ (1985)</a:t>
            </a:r>
            <a:r>
              <a:rPr sz="1400"/>
              <a:t>: Object-oriented compilers supporting inheritance and polymorphism</a:t>
            </a:r>
          </a:p>
          <a:p>
            <a:endParaRPr sz="1400"/>
          </a:p>
          <a:p>
            <a:r>
              <a:rPr sz="1400" b="1"/>
              <a:t>Enabling Technologies</a:t>
            </a:r>
            <a:r>
              <a:rPr sz="1400"/>
              <a:t>:</a:t>
            </a:r>
          </a:p>
          <a:p>
            <a:endParaRPr sz="1400"/>
          </a:p>
          <a:p>
            <a:r>
              <a:rPr sz="1400"/>
              <a:t>Advanced compiler innovations</a:t>
            </a:r>
          </a:p>
          <a:p>
            <a:r>
              <a:rPr sz="1400"/>
              <a:t>Support for inheritance and polymorphism</a:t>
            </a:r>
          </a:p>
          <a:p>
            <a:endParaRPr sz="1400"/>
          </a:p>
          <a:p>
            <a:r>
              <a:rPr sz="1400" b="1"/>
              <a:t>Era Experience</a:t>
            </a:r>
            <a:r>
              <a:rPr sz="1400"/>
              <a:t>: CRT monitors with green text, floppy disks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IDEs &amp; Libraries (1990s)</a:t>
            </a:r>
          </a:p>
        </p:txBody>
      </p:sp>
      <p:sp>
        <p:nvSpPr>
          <p:cNvPr id="3" name="Content Placeholder 2"/>
          <p:cNvSpPr>
            <a:spLocks noGrp="1"/>
          </p:cNvSpPr>
          <p:nvPr>
            <p:ph idx="1"/>
          </p:nvPr>
        </p:nvSpPr>
        <p:spPr/>
        <p:txBody>
          <a:bodyPr wrap="square">
            <a:noAutofit/>
          </a:bodyPr>
          <a:lstStyle/>
          <a:p>
            <a:endParaRPr sz="1400"/>
          </a:p>
          <a:p>
            <a:r>
              <a:rPr sz="1400" b="1"/>
              <a:t>The Integration Era</a:t>
            </a:r>
            <a:r>
              <a:rPr sz="1400"/>
              <a:t>:</a:t>
            </a:r>
          </a:p>
          <a:p>
            <a:endParaRPr sz="1400"/>
          </a:p>
          <a:p>
            <a:r>
              <a:rPr sz="1400" b="1"/>
              <a:t>IDEs</a:t>
            </a:r>
            <a:r>
              <a:rPr sz="1400"/>
              <a:t>: Combined compilers, debuggers, and editors in graphical interfaces</a:t>
            </a:r>
          </a:p>
          <a:p>
            <a:r>
              <a:rPr sz="1400" b="1"/>
              <a:t>Visual Studio</a:t>
            </a:r>
            <a:r>
              <a:rPr sz="1400"/>
              <a:t>: Enabled by faster processors and GUI toolkits</a:t>
            </a:r>
          </a:p>
          <a:p>
            <a:r>
              <a:rPr sz="1400" b="1"/>
              <a:t>Java &amp; JVM (1995)</a:t>
            </a:r>
            <a:r>
              <a:rPr sz="1400"/>
              <a:t>: "Write once, run anywhere"</a:t>
            </a:r>
          </a:p>
          <a:p>
            <a:r>
              <a:rPr sz="1400" b="1"/>
              <a:t>Reusable Libraries</a:t>
            </a:r>
            <a:r>
              <a:rPr sz="1400"/>
              <a:t>: Abstracted common functionality</a:t>
            </a:r>
          </a:p>
          <a:p>
            <a:endParaRPr sz="1400"/>
          </a:p>
          <a:p>
            <a:r>
              <a:rPr sz="1400" b="1"/>
              <a:t>Enabling Technologies</a:t>
            </a:r>
            <a:r>
              <a:rPr sz="1400"/>
              <a:t>:</a:t>
            </a:r>
          </a:p>
          <a:p>
            <a:endParaRPr sz="1400"/>
          </a:p>
          <a:p>
            <a:r>
              <a:rPr sz="1400"/>
              <a:t>Faster processors, GUI toolkits, extensible plug-in architectures</a:t>
            </a:r>
          </a:p>
          <a:p>
            <a:r>
              <a:rPr sz="1400"/>
              <a:t>Virtual machines</a:t>
            </a:r>
          </a:p>
          <a:p>
            <a:endParaRPr sz="1400"/>
          </a:p>
          <a:p>
            <a:r>
              <a:rPr sz="1400" b="1"/>
              <a:t>Experience</a:t>
            </a:r>
            <a:r>
              <a:rPr sz="1400"/>
              <a:t>: Mouse clicks, drag-and-drop, desktop computing</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000"/>
              <a:t>Web &amp; Scripting Languages (Late 1990s-2000s)</a:t>
            </a:r>
          </a:p>
        </p:txBody>
      </p:sp>
      <p:sp>
        <p:nvSpPr>
          <p:cNvPr id="3" name="Content Placeholder 2"/>
          <p:cNvSpPr>
            <a:spLocks noGrp="1"/>
          </p:cNvSpPr>
          <p:nvPr>
            <p:ph idx="1"/>
          </p:nvPr>
        </p:nvSpPr>
        <p:spPr/>
        <p:txBody>
          <a:bodyPr wrap="square">
            <a:noAutofit/>
          </a:bodyPr>
          <a:lstStyle/>
          <a:p>
            <a:endParaRPr sz="1400"/>
          </a:p>
          <a:p>
            <a:r>
              <a:rPr sz="1400" b="1"/>
              <a:t>The Dynamic Web Era</a:t>
            </a:r>
            <a:r>
              <a:rPr sz="1400"/>
              <a:t>:</a:t>
            </a:r>
          </a:p>
          <a:p>
            <a:endParaRPr sz="1400"/>
          </a:p>
          <a:p>
            <a:r>
              <a:rPr sz="1400" b="1"/>
              <a:t>JavaScript (1995)</a:t>
            </a:r>
            <a:r>
              <a:rPr sz="1400"/>
              <a:t>: Powered by Netscape, later V8 engine (2008)</a:t>
            </a:r>
          </a:p>
          <a:p>
            <a:r>
              <a:rPr sz="1400" b="1"/>
              <a:t>Python</a:t>
            </a:r>
            <a:r>
              <a:rPr sz="1400"/>
              <a:t>: Web development in 2000s, data science dominance</a:t>
            </a:r>
          </a:p>
          <a:p>
            <a:r>
              <a:rPr sz="1400" b="1"/>
              <a:t>Ruby on Rails (2004)</a:t>
            </a:r>
            <a:r>
              <a:rPr sz="1400"/>
              <a:t>: Abstracted web complexity</a:t>
            </a:r>
          </a:p>
          <a:p>
            <a:endParaRPr sz="1400"/>
          </a:p>
          <a:p>
            <a:r>
              <a:rPr sz="1400" b="1"/>
              <a:t>Enabling Technologies</a:t>
            </a:r>
            <a:r>
              <a:rPr sz="1400"/>
              <a:t>:</a:t>
            </a:r>
          </a:p>
          <a:p>
            <a:endParaRPr sz="1400"/>
          </a:p>
          <a:p>
            <a:r>
              <a:rPr sz="1400"/>
              <a:t>Browser engines, dynamic interpreters, frameworks</a:t>
            </a:r>
          </a:p>
          <a:p>
            <a:r>
              <a:rPr sz="1400"/>
              <a:t>Eclipse IDE (2001)</a:t>
            </a:r>
          </a:p>
          <a:p>
            <a:endParaRPr sz="1400"/>
          </a:p>
          <a:p>
            <a:r>
              <a:rPr sz="1400" b="1"/>
              <a:t>Experience</a:t>
            </a:r>
            <a:r>
              <a:rPr sz="1400"/>
              <a:t>: Portable coding on laptops, coffee shop programming</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300"/>
              <a:t>Cloud, APIs &amp; Low-Code Platforms (2010s)</a:t>
            </a:r>
          </a:p>
        </p:txBody>
      </p:sp>
      <p:sp>
        <p:nvSpPr>
          <p:cNvPr id="3" name="Content Placeholder 2"/>
          <p:cNvSpPr>
            <a:spLocks noGrp="1"/>
          </p:cNvSpPr>
          <p:nvPr>
            <p:ph idx="1"/>
          </p:nvPr>
        </p:nvSpPr>
        <p:spPr/>
        <p:txBody>
          <a:bodyPr wrap="square">
            <a:noAutofit/>
          </a:bodyPr>
          <a:lstStyle/>
          <a:p>
            <a:endParaRPr sz="2000"/>
          </a:p>
          <a:p>
            <a:r>
              <a:rPr sz="2000" b="1"/>
              <a:t>The Orchestration Era</a:t>
            </a:r>
            <a:r>
              <a:rPr sz="2000"/>
              <a:t>:</a:t>
            </a:r>
          </a:p>
          <a:p>
            <a:endParaRPr sz="2000"/>
          </a:p>
          <a:p>
            <a:r>
              <a:rPr sz="2000" b="1"/>
              <a:t>Cloud Computing</a:t>
            </a:r>
            <a:r>
              <a:rPr sz="2000"/>
              <a:t>: Virtualization and containerization (Docker, Kubernetes)</a:t>
            </a:r>
          </a:p>
          <a:p>
            <a:r>
              <a:rPr sz="2000" b="1"/>
              <a:t>APIs</a:t>
            </a:r>
            <a:r>
              <a:rPr sz="2000"/>
              <a:t>: REST and GraphQL enabled modular integration</a:t>
            </a:r>
          </a:p>
          <a:p>
            <a:r>
              <a:rPr sz="2000" b="1"/>
              <a:t>Low-Code Platforms</a:t>
            </a:r>
            <a:r>
              <a:rPr sz="2000"/>
              <a:t>: Mendix, OutSystems, PowerApps with visual compilers</a:t>
            </a:r>
          </a:p>
          <a:p>
            <a:endParaRPr sz="2000"/>
          </a:p>
          <a:p>
            <a:r>
              <a:rPr sz="2000" b="1"/>
              <a:t>Transformation</a:t>
            </a:r>
            <a:r>
              <a:rPr sz="2000"/>
              <a:t>: Programming shifted from hardware-bound tasks to orchestration</a:t>
            </a:r>
          </a:p>
          <a:p>
            <a:endParaRPr sz="2000"/>
          </a:p>
          <a:p>
            <a:r>
              <a:rPr sz="2000" b="1"/>
              <a:t>Experience</a:t>
            </a:r>
            <a:r>
              <a:rPr sz="2000"/>
              <a:t>: Browser dashboards, swiping, clicking, dragging</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150"/>
              <a:t>The Modern Mainstream Coding Experience</a:t>
            </a:r>
          </a:p>
        </p:txBody>
      </p:sp>
      <p:sp>
        <p:nvSpPr>
          <p:cNvPr id="3" name="Content Placeholder 2"/>
          <p:cNvSpPr>
            <a:spLocks noGrp="1"/>
          </p:cNvSpPr>
          <p:nvPr>
            <p:ph idx="1"/>
          </p:nvPr>
        </p:nvSpPr>
        <p:spPr/>
        <p:txBody>
          <a:bodyPr wrap="square">
            <a:noAutofit/>
          </a:bodyPr>
          <a:lstStyle/>
          <a:p>
            <a:endParaRPr sz="2100"/>
          </a:p>
          <a:p>
            <a:r>
              <a:rPr sz="2100" b="1"/>
              <a:t>Intent Interpretation</a:t>
            </a:r>
            <a:r>
              <a:rPr sz="2100"/>
              <a:t>:</a:t>
            </a:r>
          </a:p>
          <a:p>
            <a:endParaRPr sz="2100"/>
          </a:p>
          <a:p>
            <a:r>
              <a:rPr sz="2100"/>
              <a:t>Developers express intent in higher-level languages, frameworks, and APIs</a:t>
            </a:r>
          </a:p>
          <a:p>
            <a:r>
              <a:rPr sz="2100"/>
              <a:t>Compilers, interpreters, and VMs translate intent into executable code</a:t>
            </a:r>
          </a:p>
          <a:p>
            <a:r>
              <a:rPr sz="2100"/>
              <a:t>Libraries and cloud services provide ready-made building blocks</a:t>
            </a:r>
          </a:p>
          <a:p>
            <a:r>
              <a:rPr sz="2100"/>
              <a:t>Less about micromanaging hardware, more about shaping logic and workflows</a:t>
            </a:r>
          </a:p>
          <a:p>
            <a:endParaRPr sz="2100"/>
          </a:p>
          <a:p>
            <a:r>
              <a:rPr sz="2100" b="1"/>
              <a:t>The Core</a:t>
            </a:r>
            <a:r>
              <a:rPr sz="2100"/>
              <a:t>: Bridging human goals with machine execution through layers of abstraction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800"/>
              <a:t>AI-Assisted Coding (Present/Future)</a:t>
            </a:r>
          </a:p>
        </p:txBody>
      </p:sp>
      <p:sp>
        <p:nvSpPr>
          <p:cNvPr id="3" name="Content Placeholder 2"/>
          <p:cNvSpPr>
            <a:spLocks noGrp="1"/>
          </p:cNvSpPr>
          <p:nvPr>
            <p:ph idx="1"/>
          </p:nvPr>
        </p:nvSpPr>
        <p:spPr/>
        <p:txBody>
          <a:bodyPr wrap="square">
            <a:noAutofit/>
          </a:bodyPr>
          <a:lstStyle/>
          <a:p>
            <a:endParaRPr sz="1400"/>
          </a:p>
          <a:p>
            <a:r>
              <a:rPr sz="1400" b="1"/>
              <a:t>The Natural Language Era</a:t>
            </a:r>
            <a:r>
              <a:rPr sz="1400"/>
              <a:t>:</a:t>
            </a:r>
          </a:p>
          <a:p>
            <a:endParaRPr sz="1400"/>
          </a:p>
          <a:p>
            <a:r>
              <a:rPr sz="1400" b="1"/>
              <a:t>Enabling Technologies</a:t>
            </a:r>
            <a:r>
              <a:rPr sz="1400"/>
              <a:t>:</a:t>
            </a:r>
          </a:p>
          <a:p>
            <a:endParaRPr sz="1400"/>
          </a:p>
          <a:p>
            <a:r>
              <a:rPr sz="1400"/>
              <a:t>Large language models trained on vast code repositories</a:t>
            </a:r>
          </a:p>
          <a:p>
            <a:r>
              <a:rPr sz="1400"/>
              <a:t>Contextual intent recognition</a:t>
            </a:r>
          </a:p>
          <a:p>
            <a:r>
              <a:rPr sz="1400"/>
              <a:t>IDE integration</a:t>
            </a:r>
          </a:p>
          <a:p>
            <a:endParaRPr sz="1400"/>
          </a:p>
          <a:p>
            <a:r>
              <a:rPr sz="1400" b="1"/>
              <a:t>The Paradigm Shift</a:t>
            </a:r>
            <a:r>
              <a:rPr sz="1400"/>
              <a:t>: Programming becomes </a:t>
            </a:r>
            <a:r>
              <a:rPr sz="1400" b="1"/>
              <a:t>dialogue</a:t>
            </a:r>
          </a:p>
          <a:p>
            <a:endParaRPr sz="1400" b="1"/>
          </a:p>
          <a:p>
            <a:r>
              <a:rPr sz="1400"/>
              <a:t>Express goals in plain language</a:t>
            </a:r>
          </a:p>
          <a:p>
            <a:r>
              <a:rPr sz="1400"/>
              <a:t>AI generates code, tests, and documentation</a:t>
            </a:r>
          </a:p>
          <a:p>
            <a:r>
              <a:rPr sz="1400"/>
              <a:t>Example: "Create a function that validates email addresses" → Complete implementation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000"/>
              <a:t>Natural Language Coding: The Game Changer</a:t>
            </a:r>
          </a:p>
        </p:txBody>
      </p:sp>
      <p:sp>
        <p:nvSpPr>
          <p:cNvPr id="3" name="Content Placeholder 2"/>
          <p:cNvSpPr>
            <a:spLocks noGrp="1"/>
          </p:cNvSpPr>
          <p:nvPr>
            <p:ph idx="1"/>
          </p:nvPr>
        </p:nvSpPr>
        <p:spPr/>
        <p:txBody>
          <a:bodyPr wrap="square">
            <a:noAutofit/>
          </a:bodyPr>
          <a:lstStyle/>
          <a:p>
            <a:endParaRPr sz="1400"/>
          </a:p>
          <a:p>
            <a:r>
              <a:rPr sz="1400" b="1"/>
              <a:t>Responsibility Shift</a:t>
            </a:r>
            <a:r>
              <a:rPr sz="1400"/>
              <a:t>:</a:t>
            </a:r>
          </a:p>
          <a:p>
            <a:endParaRPr sz="1400"/>
          </a:p>
          <a:p>
            <a:r>
              <a:rPr sz="1400"/>
              <a:t>Previously: Coder translates intent into executable code</a:t>
            </a:r>
          </a:p>
          <a:p>
            <a:r>
              <a:rPr sz="1400"/>
              <a:t>Now: Intent expressed in natural language, AI interprets and generates</a:t>
            </a:r>
          </a:p>
          <a:p>
            <a:endParaRPr sz="1400"/>
          </a:p>
          <a:p>
            <a:r>
              <a:rPr sz="1400" b="1"/>
              <a:t>New Role of Programmer</a:t>
            </a:r>
            <a:r>
              <a:rPr sz="1400"/>
              <a:t>:</a:t>
            </a:r>
          </a:p>
          <a:p>
            <a:endParaRPr sz="1400"/>
          </a:p>
          <a:p>
            <a:r>
              <a:rPr sz="1400" b="1"/>
              <a:t>Curator of context</a:t>
            </a:r>
          </a:p>
          <a:p>
            <a:r>
              <a:rPr sz="1400" b="1"/>
              <a:t>Validator of output</a:t>
            </a:r>
          </a:p>
          <a:p>
            <a:r>
              <a:rPr sz="1400" b="1"/>
              <a:t>Steward of alignment</a:t>
            </a:r>
            <a:r>
              <a:rPr sz="1400"/>
              <a:t> between human goals and machine behavior</a:t>
            </a:r>
          </a:p>
          <a:p>
            <a:endParaRPr sz="1400"/>
          </a:p>
          <a:p>
            <a:r>
              <a:rPr sz="1400" b="1"/>
              <a:t>Boundary Movement</a:t>
            </a:r>
            <a:r>
              <a:rPr sz="1400"/>
              <a:t>: Between domain expertise and implementation</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100"/>
              <a:t>AI Understands Intent—Not Just Commands</a:t>
            </a:r>
          </a:p>
        </p:txBody>
      </p:sp>
      <p:sp>
        <p:nvSpPr>
          <p:cNvPr id="3" name="Content Placeholder 2"/>
          <p:cNvSpPr>
            <a:spLocks noGrp="1"/>
          </p:cNvSpPr>
          <p:nvPr>
            <p:ph idx="1"/>
          </p:nvPr>
        </p:nvSpPr>
        <p:spPr/>
        <p:txBody>
          <a:bodyPr wrap="square">
            <a:noAutofit/>
          </a:bodyPr>
          <a:lstStyle/>
          <a:p>
            <a:endParaRPr sz="1550"/>
          </a:p>
          <a:p>
            <a:r>
              <a:rPr sz="1550" b="1"/>
              <a:t>Beyond Parsing</a:t>
            </a:r>
            <a:r>
              <a:rPr sz="1550"/>
              <a:t>: AI understands what you mean</a:t>
            </a:r>
          </a:p>
          <a:p>
            <a:endParaRPr sz="1550"/>
          </a:p>
          <a:p>
            <a:r>
              <a:rPr sz="1550"/>
              <a:t>"Make this faster" → Performance optimizations</a:t>
            </a:r>
          </a:p>
          <a:p>
            <a:r>
              <a:rPr sz="1550"/>
              <a:t>"Add error handling" → Proper exception management</a:t>
            </a:r>
          </a:p>
          <a:p>
            <a:r>
              <a:rPr sz="1550"/>
              <a:t>"Log the output" → Appropriate logging implementation</a:t>
            </a:r>
          </a:p>
          <a:p>
            <a:endParaRPr sz="1550"/>
          </a:p>
          <a:p>
            <a:r>
              <a:rPr sz="1550" b="1"/>
              <a:t>New Interaction Modes</a:t>
            </a:r>
            <a:r>
              <a:rPr sz="1550"/>
              <a:t>:</a:t>
            </a:r>
          </a:p>
          <a:p>
            <a:endParaRPr sz="1550"/>
          </a:p>
          <a:p>
            <a:r>
              <a:rPr sz="1550"/>
              <a:t>Sketches and examples as expressions of intent</a:t>
            </a:r>
          </a:p>
          <a:p>
            <a:r>
              <a:rPr sz="1550"/>
              <a:t>Test cases and bug reports → Code generation</a:t>
            </a:r>
          </a:p>
          <a:p>
            <a:r>
              <a:rPr sz="1550"/>
              <a:t>Conversational iteration like human collaboration</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It's Just Another Tool</a:t>
            </a:r>
          </a:p>
        </p:txBody>
      </p:sp>
      <p:sp>
        <p:nvSpPr>
          <p:cNvPr id="3" name="Content Placeholder 2"/>
          <p:cNvSpPr>
            <a:spLocks noGrp="1"/>
          </p:cNvSpPr>
          <p:nvPr>
            <p:ph idx="1"/>
          </p:nvPr>
        </p:nvSpPr>
        <p:spPr/>
        <p:txBody>
          <a:bodyPr wrap="square">
            <a:noAutofit/>
          </a:bodyPr>
          <a:lstStyle/>
          <a:p>
            <a:endParaRPr sz="1550"/>
          </a:p>
          <a:p>
            <a:r>
              <a:rPr sz="1550" b="1"/>
              <a:t>Historical Perspective</a:t>
            </a:r>
            <a:r>
              <a:rPr sz="1550"/>
              <a:t>:</a:t>
            </a:r>
          </a:p>
          <a:p>
            <a:endParaRPr sz="1550"/>
          </a:p>
          <a:p>
            <a:r>
              <a:rPr sz="1550" b="1"/>
              <a:t>IDEs</a:t>
            </a:r>
            <a:r>
              <a:rPr sz="1550"/>
              <a:t>: Auto-complete and debugging</a:t>
            </a:r>
          </a:p>
          <a:p>
            <a:r>
              <a:rPr sz="1550" b="1"/>
              <a:t>Libraries</a:t>
            </a:r>
            <a:r>
              <a:rPr sz="1550"/>
              <a:t>: Reusable components</a:t>
            </a:r>
          </a:p>
          <a:p>
            <a:r>
              <a:rPr sz="1550" b="1"/>
              <a:t>AI</a:t>
            </a:r>
            <a:r>
              <a:rPr sz="1550"/>
              <a:t>: Intelligent scaffolding, pattern recognition, code generation</a:t>
            </a:r>
          </a:p>
          <a:p>
            <a:endParaRPr sz="1550"/>
          </a:p>
          <a:p>
            <a:r>
              <a:rPr sz="1550" b="1"/>
              <a:t>Reality Check</a:t>
            </a:r>
            <a:r>
              <a:rPr sz="1550"/>
              <a:t>:</a:t>
            </a:r>
          </a:p>
          <a:p>
            <a:endParaRPr sz="1550"/>
          </a:p>
          <a:p>
            <a:r>
              <a:rPr sz="1550"/>
              <a:t>AI is not replacing developers</a:t>
            </a:r>
          </a:p>
          <a:p>
            <a:r>
              <a:rPr sz="1550"/>
              <a:t>It's helping them move faster and think bigger</a:t>
            </a:r>
          </a:p>
          <a:p>
            <a:r>
              <a:rPr sz="1550"/>
              <a:t>Following the same pattern as previous innovations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Verification Still Matters</a:t>
            </a:r>
          </a:p>
        </p:txBody>
      </p:sp>
      <p:sp>
        <p:nvSpPr>
          <p:cNvPr id="3" name="Content Placeholder 2"/>
          <p:cNvSpPr>
            <a:spLocks noGrp="1"/>
          </p:cNvSpPr>
          <p:nvPr>
            <p:ph idx="1"/>
          </p:nvPr>
        </p:nvSpPr>
        <p:spPr/>
        <p:txBody>
          <a:bodyPr wrap="square">
            <a:noAutofit/>
          </a:bodyPr>
          <a:lstStyle/>
          <a:p>
            <a:endParaRPr sz="2350"/>
          </a:p>
          <a:p>
            <a:r>
              <a:rPr sz="2350" b="1"/>
              <a:t>Unchanged Responsibilities</a:t>
            </a:r>
            <a:r>
              <a:rPr sz="2350"/>
              <a:t>:</a:t>
            </a:r>
          </a:p>
          <a:p>
            <a:endParaRPr sz="2350"/>
          </a:p>
          <a:p>
            <a:r>
              <a:rPr sz="2350" b="1"/>
              <a:t>Testing, review, and validation</a:t>
            </a:r>
            <a:r>
              <a:rPr sz="2350"/>
              <a:t> still required</a:t>
            </a:r>
          </a:p>
          <a:p>
            <a:r>
              <a:rPr sz="2350" b="1"/>
              <a:t>Architecture, correctness, security, ethics</a:t>
            </a:r>
            <a:r>
              <a:rPr sz="2350"/>
              <a:t> remain developer duties</a:t>
            </a:r>
          </a:p>
          <a:p>
            <a:r>
              <a:rPr sz="2350"/>
              <a:t>Critical thinking is still essential</a:t>
            </a:r>
          </a:p>
          <a:p>
            <a:endParaRPr sz="2350"/>
          </a:p>
          <a:p>
            <a:r>
              <a:rPr sz="2350" b="1"/>
              <a:t>What Changed</a:t>
            </a:r>
            <a:r>
              <a:rPr sz="2350"/>
              <a:t>: How we express our goals</a:t>
            </a:r>
          </a:p>
          <a:p>
            <a:r>
              <a:rPr sz="2350" b="1"/>
              <a:t>What Didn't Change</a:t>
            </a:r>
            <a:r>
              <a:rPr sz="2350"/>
              <a:t>: Whether we need to think critically</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000"/>
              <a:t>The Future Is Still Intent-Driven Development</a:t>
            </a:r>
          </a:p>
        </p:txBody>
      </p:sp>
      <p:sp>
        <p:nvSpPr>
          <p:cNvPr id="3" name="Content Placeholder 2"/>
          <p:cNvSpPr>
            <a:spLocks noGrp="1"/>
          </p:cNvSpPr>
          <p:nvPr>
            <p:ph idx="1"/>
          </p:nvPr>
        </p:nvSpPr>
        <p:spPr/>
        <p:txBody>
          <a:bodyPr wrap="square">
            <a:noAutofit/>
          </a:bodyPr>
          <a:lstStyle/>
          <a:p>
            <a:endParaRPr sz="2200"/>
          </a:p>
          <a:p>
            <a:r>
              <a:rPr sz="2200" b="1"/>
              <a:t>Continuity</a:t>
            </a:r>
            <a:r>
              <a:rPr sz="2200"/>
              <a:t>:</a:t>
            </a:r>
          </a:p>
          <a:p>
            <a:endParaRPr sz="2200"/>
          </a:p>
          <a:p>
            <a:r>
              <a:rPr sz="2200"/>
              <a:t>Core goal remains: getting computers to do what we need</a:t>
            </a:r>
          </a:p>
          <a:p>
            <a:r>
              <a:rPr sz="2200"/>
              <a:t>Instead of writing/debugging code → creating prompts and refining context</a:t>
            </a:r>
          </a:p>
          <a:p>
            <a:r>
              <a:rPr sz="2200"/>
              <a:t>Same learning curve pattern as all previous improvements</a:t>
            </a:r>
          </a:p>
          <a:p>
            <a:endParaRPr sz="2200"/>
          </a:p>
          <a:p>
            <a:r>
              <a:rPr sz="2200" b="1"/>
              <a:t>Essential Truth</a:t>
            </a:r>
            <a:r>
              <a:rPr sz="2200"/>
              <a:t>: AI assistance is just another improvement in the long line of programming evolution</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Conclusion</a:t>
            </a:r>
          </a:p>
        </p:txBody>
      </p:sp>
      <p:sp>
        <p:nvSpPr>
          <p:cNvPr id="3" name="Content Placeholder 2"/>
          <p:cNvSpPr>
            <a:spLocks noGrp="1"/>
          </p:cNvSpPr>
          <p:nvPr>
            <p:ph idx="1"/>
          </p:nvPr>
        </p:nvSpPr>
        <p:spPr/>
        <p:txBody>
          <a:bodyPr wrap="square">
            <a:noAutofit/>
          </a:bodyPr>
          <a:lstStyle/>
          <a:p>
            <a:endParaRPr sz="1400"/>
          </a:p>
          <a:p>
            <a:r>
              <a:rPr sz="1400" b="1"/>
              <a:t>The Fundamental Truth</a:t>
            </a:r>
            <a:r>
              <a:rPr sz="1400"/>
              <a:t>:</a:t>
            </a:r>
          </a:p>
          <a:p>
            <a:endParaRPr sz="1400"/>
          </a:p>
          <a:p>
            <a:r>
              <a:rPr sz="1400"/>
              <a:t>Programming has </a:t>
            </a:r>
            <a:r>
              <a:rPr sz="1400" b="1"/>
              <a:t>always</a:t>
            </a:r>
            <a:r>
              <a:rPr sz="1400"/>
              <a:t> been about translating human intent into machine action</a:t>
            </a:r>
          </a:p>
          <a:p>
            <a:r>
              <a:rPr sz="1400"/>
              <a:t>From punch cards to Python to AI prompts—the core challenge remains unchanged</a:t>
            </a:r>
          </a:p>
          <a:p>
            <a:r>
              <a:rPr sz="1400"/>
              <a:t>What evolves is not the essence of programming, but the sophistication of our tools</a:t>
            </a:r>
          </a:p>
          <a:p>
            <a:endParaRPr sz="1400"/>
          </a:p>
          <a:p>
            <a:r>
              <a:rPr sz="1400" b="1"/>
              <a:t>AI's Role</a:t>
            </a:r>
            <a:r>
              <a:rPr sz="1400"/>
              <a:t>:</a:t>
            </a:r>
          </a:p>
          <a:p>
            <a:endParaRPr sz="1400"/>
          </a:p>
          <a:p>
            <a:r>
              <a:rPr sz="1400"/>
              <a:t>Latest chapter in the ongoing story</a:t>
            </a:r>
          </a:p>
          <a:p>
            <a:r>
              <a:rPr sz="1400"/>
              <a:t>More intuitive ways to communicate with computers</a:t>
            </a:r>
          </a:p>
          <a:p>
            <a:r>
              <a:rPr sz="1400"/>
              <a:t>Preserves essential human responsibilities: design, validation, ethical oversight</a:t>
            </a:r>
          </a:p>
          <a:p>
            <a:endParaRPr sz="1400"/>
          </a:p>
          <a:p>
            <a:r>
              <a:rPr sz="1400" b="1"/>
              <a:t>The Future</a:t>
            </a:r>
            <a:r>
              <a:rPr sz="1400"/>
              <a:t>: Not abandoning programming, but refining it—making it more accessible and efficient while keeping human creativity and judgment at the center.</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The AI Revolution?</a:t>
            </a:r>
          </a:p>
        </p:txBody>
      </p:sp>
      <p:sp>
        <p:nvSpPr>
          <p:cNvPr id="3" name="Content Placeholder 2"/>
          <p:cNvSpPr>
            <a:spLocks noGrp="1"/>
          </p:cNvSpPr>
          <p:nvPr>
            <p:ph idx="1"/>
          </p:nvPr>
        </p:nvSpPr>
        <p:spPr/>
        <p:txBody>
          <a:bodyPr wrap="square">
            <a:normAutofit/>
          </a:bodyPr>
          <a:lstStyle/>
          <a:p>
            <a:endParaRPr/>
          </a:p>
          <a:p>
            <a:r>
              <a:t>What hasn't changed and what has.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500"/>
              <a:t>Why AI Assisted Software Development</a:t>
            </a:r>
          </a:p>
        </p:txBody>
      </p:sp>
      <p:sp>
        <p:nvSpPr>
          <p:cNvPr id="3" name="Content Placeholder 2"/>
          <p:cNvSpPr>
            <a:spLocks noGrp="1"/>
          </p:cNvSpPr>
          <p:nvPr>
            <p:ph idx="1"/>
          </p:nvPr>
        </p:nvSpPr>
        <p:spPr/>
        <p:txBody>
          <a:bodyPr wrap="square">
            <a:noAutofit/>
          </a:bodyPr>
          <a:lstStyle/>
          <a:p>
            <a:endParaRPr sz="2550"/>
          </a:p>
          <a:p>
            <a:r>
              <a:rPr sz="2550"/>
              <a:t>If used effectively, it will give you superpowers</a:t>
            </a:r>
          </a:p>
          <a:p>
            <a:endParaRPr sz="2550"/>
          </a:p>
          <a:p>
            <a:r>
              <a:rPr sz="2550"/>
              <a:t>The courage to</a:t>
            </a:r>
          </a:p>
          <a:p>
            <a:r>
              <a:rPr sz="2550"/>
              <a:t>  - Take on codebases that few would touch</a:t>
            </a:r>
          </a:p>
          <a:p>
            <a:r>
              <a:rPr sz="2550"/>
              <a:t>  - Use technologies you should know but don't</a:t>
            </a:r>
          </a:p>
          <a:p>
            <a:r>
              <a:rPr sz="2550"/>
              <a:t>  - Write more high-quality code than you have ever written before</a:t>
            </a:r>
          </a:p>
          <a:p>
            <a:r>
              <a:rPr sz="2550"/>
              <a:t>  - Take on the nice to haves</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AI-First &amp; Prompt-First</a:t>
            </a:r>
          </a:p>
        </p:txBody>
      </p:sp>
      <p:sp>
        <p:nvSpPr>
          <p:cNvPr id="3" name="Content Placeholder 2"/>
          <p:cNvSpPr>
            <a:spLocks noGrp="1"/>
          </p:cNvSpPr>
          <p:nvPr>
            <p:ph idx="1"/>
          </p:nvPr>
        </p:nvSpPr>
        <p:spPr/>
        <p:txBody>
          <a:bodyPr wrap="square">
            <a:noAutofit/>
          </a:bodyPr>
          <a:lstStyle/>
          <a:p>
            <a:endParaRPr sz="2700"/>
          </a:p>
          <a:p>
            <a:r>
              <a:rPr sz="2700"/>
              <a:t>AI-First Development</a:t>
            </a:r>
          </a:p>
          <a:p>
            <a:r>
              <a:rPr sz="2700"/>
              <a:t>A software engineering philosophy where AI is embedded across the entire SDLC–requirements, design, implementation, testing, documentation, compliance, and maintenance.</a:t>
            </a:r>
          </a:p>
          <a:p>
            <a:r>
              <a:rPr sz="2700"/>
              <a:t>Prompt-First Development</a:t>
            </a:r>
          </a:p>
          <a:p>
            <a:r>
              <a:rPr sz="2700"/>
              <a:t>A workflow pattern where prompts, instruction files, and chat modes are treated as first-class, version-controlled artifacts.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What Each Optimizes For</a:t>
            </a:r>
          </a:p>
        </p:txBody>
      </p:sp>
      <p:graphicFrame>
        <p:nvGraphicFramePr>
          <p:cNvPr id="3" name="Table 2"/>
          <p:cNvGraphicFramePr>
            <a:graphicFrameLocks noGrp="1"/>
          </p:cNvGraphicFramePr>
          <p:nvPr/>
        </p:nvGraphicFramePr>
        <p:xfrm>
          <a:off x="457200" y="1828800"/>
          <a:ext cx="8229600" cy="228600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tblGrid>
              <a:tr h="457200">
                <a:tc>
                  <a:txBody>
                    <a:bodyPr/>
                    <a:lstStyle/>
                    <a:p>
                      <a:pPr>
                        <a:defRPr sz="1296" b="1"/>
                      </a:pPr>
                      <a:r>
                        <a:t>Focus Area</a:t>
                      </a:r>
                    </a:p>
                  </a:txBody>
                  <a:tcPr/>
                </a:tc>
                <a:tc>
                  <a:txBody>
                    <a:bodyPr/>
                    <a:lstStyle/>
                    <a:p>
                      <a:pPr>
                        <a:defRPr sz="1296" b="1"/>
                      </a:pPr>
                      <a:r>
                        <a:t>AI-First</a:t>
                      </a:r>
                    </a:p>
                  </a:txBody>
                  <a:tcPr/>
                </a:tc>
                <a:tc>
                  <a:txBody>
                    <a:bodyPr/>
                    <a:lstStyle/>
                    <a:p>
                      <a:pPr>
                        <a:defRPr sz="1296" b="1"/>
                      </a:pPr>
                      <a:r>
                        <a:t>Prompt-First</a:t>
                      </a:r>
                    </a:p>
                  </a:txBody>
                  <a:tcPr/>
                </a:tc>
                <a:extLst>
                  <a:ext uri="{0D108BD9-81ED-4DB2-BD59-A6C34878D82A}">
                    <a16:rowId xmlns:a16="http://schemas.microsoft.com/office/drawing/2014/main" val="10000"/>
                  </a:ext>
                </a:extLst>
              </a:tr>
              <a:tr h="457200">
                <a:tc>
                  <a:txBody>
                    <a:bodyPr/>
                    <a:lstStyle/>
                    <a:p>
                      <a:r>
                        <a:t>Scope</a:t>
                      </a:r>
                    </a:p>
                  </a:txBody>
                  <a:tcPr/>
                </a:tc>
                <a:tc>
                  <a:txBody>
                    <a:bodyPr/>
                    <a:lstStyle/>
                    <a:p>
                      <a:r>
                        <a:t>Entire SDLC</a:t>
                      </a:r>
                    </a:p>
                  </a:txBody>
                  <a:tcPr/>
                </a:tc>
                <a:tc>
                  <a:txBody>
                    <a:bodyPr/>
                    <a:lstStyle/>
                    <a:p>
                      <a:r>
                        <a:t>Interaction layer</a:t>
                      </a:r>
                    </a:p>
                  </a:txBody>
                  <a:tcPr/>
                </a:tc>
                <a:extLst>
                  <a:ext uri="{0D108BD9-81ED-4DB2-BD59-A6C34878D82A}">
                    <a16:rowId xmlns:a16="http://schemas.microsoft.com/office/drawing/2014/main" val="10001"/>
                  </a:ext>
                </a:extLst>
              </a:tr>
              <a:tr h="457200">
                <a:tc>
                  <a:txBody>
                    <a:bodyPr/>
                    <a:lstStyle/>
                    <a:p>
                      <a:r>
                        <a:t>Goal</a:t>
                      </a:r>
                    </a:p>
                  </a:txBody>
                  <a:tcPr/>
                </a:tc>
                <a:tc>
                  <a:txBody>
                    <a:bodyPr/>
                    <a:lstStyle/>
                    <a:p>
                      <a:r>
                        <a:t>Lifecycle integration</a:t>
                      </a:r>
                    </a:p>
                  </a:txBody>
                  <a:tcPr/>
                </a:tc>
                <a:tc>
                  <a:txBody>
                    <a:bodyPr/>
                    <a:lstStyle/>
                    <a:p>
                      <a:r>
                        <a:t>Deterministic AI behavior</a:t>
                      </a:r>
                    </a:p>
                  </a:txBody>
                  <a:tcPr/>
                </a:tc>
                <a:extLst>
                  <a:ext uri="{0D108BD9-81ED-4DB2-BD59-A6C34878D82A}">
                    <a16:rowId xmlns:a16="http://schemas.microsoft.com/office/drawing/2014/main" val="10002"/>
                  </a:ext>
                </a:extLst>
              </a:tr>
              <a:tr h="457200">
                <a:tc>
                  <a:txBody>
                    <a:bodyPr/>
                    <a:lstStyle/>
                    <a:p>
                      <a:r>
                        <a:t>Optimization</a:t>
                      </a:r>
                    </a:p>
                  </a:txBody>
                  <a:tcPr/>
                </a:tc>
                <a:tc>
                  <a:txBody>
                    <a:bodyPr/>
                    <a:lstStyle/>
                    <a:p>
                      <a:r>
                        <a:t>Velocity, governance</a:t>
                      </a:r>
                    </a:p>
                  </a:txBody>
                  <a:tcPr/>
                </a:tc>
                <a:tc>
                  <a:txBody>
                    <a:bodyPr/>
                    <a:lstStyle/>
                    <a:p>
                      <a:r>
                        <a:t>Prompt quality, reproducibility</a:t>
                      </a:r>
                    </a:p>
                  </a:txBody>
                  <a:tcPr/>
                </a:tc>
                <a:extLst>
                  <a:ext uri="{0D108BD9-81ED-4DB2-BD59-A6C34878D82A}">
                    <a16:rowId xmlns:a16="http://schemas.microsoft.com/office/drawing/2014/main" val="10003"/>
                  </a:ext>
                </a:extLst>
              </a:tr>
              <a:tr h="457200">
                <a:tc>
                  <a:txBody>
                    <a:bodyPr/>
                    <a:lstStyle/>
                    <a:p>
                      <a:r>
                        <a:t>Risk Controls</a:t>
                      </a:r>
                    </a:p>
                  </a:txBody>
                  <a:tcPr/>
                </a:tc>
                <a:tc>
                  <a:txBody>
                    <a:bodyPr/>
                    <a:lstStyle/>
                    <a:p>
                      <a:r>
                        <a:t>Human-in-loop, provenance</a:t>
                      </a:r>
                    </a:p>
                  </a:txBody>
                  <a:tcPr/>
                </a:tc>
                <a:tc>
                  <a:txBody>
                    <a:bodyPr/>
                    <a:lstStyle/>
                    <a:p>
                      <a:r>
                        <a:t>Versioned prompts, context control</a:t>
                      </a:r>
                    </a:p>
                  </a:txBody>
                  <a:tcPr/>
                </a:tc>
                <a:extLst>
                  <a:ext uri="{0D108BD9-81ED-4DB2-BD59-A6C34878D82A}">
                    <a16:rowId xmlns:a16="http://schemas.microsoft.com/office/drawing/2014/main" val="10004"/>
                  </a:ext>
                </a:extLst>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How They Treat Artifacts</a:t>
            </a:r>
          </a:p>
        </p:txBody>
      </p:sp>
      <p:sp>
        <p:nvSpPr>
          <p:cNvPr id="3" name="Content Placeholder 2"/>
          <p:cNvSpPr>
            <a:spLocks noGrp="1"/>
          </p:cNvSpPr>
          <p:nvPr>
            <p:ph idx="1"/>
          </p:nvPr>
        </p:nvSpPr>
        <p:spPr/>
        <p:txBody>
          <a:bodyPr wrap="square">
            <a:noAutofit/>
          </a:bodyPr>
          <a:lstStyle/>
          <a:p>
            <a:endParaRPr sz="1750"/>
          </a:p>
          <a:p>
            <a:r>
              <a:rPr sz="1750"/>
              <a:t>AI-First</a:t>
            </a:r>
          </a:p>
          <a:p>
            <a:r>
              <a:rPr sz="1750"/>
              <a:t>Requirements written with AI collaboration in mind</a:t>
            </a:r>
          </a:p>
          <a:p>
            <a:r>
              <a:rPr sz="1750"/>
              <a:t>AI-generated scaffolds, tests, docs</a:t>
            </a:r>
          </a:p>
          <a:p>
            <a:r>
              <a:rPr sz="1750"/>
              <a:t>Provenance enforced across all AI outputs</a:t>
            </a:r>
          </a:p>
          <a:p>
            <a:r>
              <a:rPr sz="1750"/>
              <a:t>Architecture assumes AI participation</a:t>
            </a:r>
          </a:p>
          <a:p>
            <a:r>
              <a:rPr sz="1750"/>
              <a:t>Prompt-First</a:t>
            </a:r>
          </a:p>
          <a:p>
            <a:r>
              <a:rPr sz="1750"/>
              <a:t>Prompts and instruction files are version-controlled</a:t>
            </a:r>
          </a:p>
          <a:p>
            <a:r>
              <a:rPr sz="1750"/>
              <a:t>Prompts define behavioral contracts</a:t>
            </a:r>
          </a:p>
          <a:p>
            <a:r>
              <a:rPr sz="1750"/>
              <a:t>Reusable prompt modules</a:t>
            </a:r>
          </a:p>
          <a:p>
            <a:r>
              <a:rPr sz="1750"/>
              <a:t>Chat modes define safe, predictable interactions</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Relationship Between the Two</a:t>
            </a:r>
          </a:p>
        </p:txBody>
      </p:sp>
      <p:sp>
        <p:nvSpPr>
          <p:cNvPr id="3" name="Content Placeholder 2"/>
          <p:cNvSpPr>
            <a:spLocks noGrp="1"/>
          </p:cNvSpPr>
          <p:nvPr>
            <p:ph idx="1"/>
          </p:nvPr>
        </p:nvSpPr>
        <p:spPr/>
        <p:txBody>
          <a:bodyPr wrap="square">
            <a:normAutofit/>
          </a:bodyPr>
          <a:lstStyle/>
          <a:p>
            <a:endParaRPr/>
          </a:p>
          <a:p>
            <a:r>
              <a:t>Prompt-First is a subset of AI-First.</a:t>
            </a:r>
          </a:p>
          <a:p>
            <a:r>
              <a:t>Prompt-First = mechanics</a:t>
            </a:r>
          </a:p>
          <a:p>
            <a:r>
              <a:t>AI-First = philosophy + architecture + lifecycle integration</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AI First Software Development</a:t>
            </a:r>
          </a:p>
        </p:txBody>
      </p:sp>
      <p:sp>
        <p:nvSpPr>
          <p:cNvPr id="3" name="Content Placeholder 2"/>
          <p:cNvSpPr>
            <a:spLocks noGrp="1"/>
          </p:cNvSpPr>
          <p:nvPr>
            <p:ph idx="1"/>
          </p:nvPr>
        </p:nvSpPr>
        <p:spPr/>
        <p:txBody>
          <a:bodyPr wrap="square">
            <a:noAutofit/>
          </a:bodyPr>
          <a:lstStyle/>
          <a:p>
            <a:endParaRPr sz="1400"/>
          </a:p>
          <a:p>
            <a:r>
              <a:rPr sz="1400"/>
              <a:t>Building software where AI is a core capability, not an add-on</a:t>
            </a:r>
          </a:p>
          <a:p>
            <a:r>
              <a:rPr sz="1400"/>
              <a:t>Why AI-First</a:t>
            </a:r>
          </a:p>
          <a:p>
            <a:endParaRPr sz="1400"/>
          </a:p>
          <a:p>
            <a:r>
              <a:rPr sz="1400"/>
              <a:t>Software requirements increasingly expressed in natural language</a:t>
            </a:r>
          </a:p>
          <a:p>
            <a:r>
              <a:rPr sz="1400"/>
              <a:t>AI copilots accelerate architecture, coding, testing, and documentation</a:t>
            </a:r>
          </a:p>
          <a:p>
            <a:r>
              <a:rPr sz="1400"/>
              <a:t>Teams shift from “writing code” to “designing intent + validating outputs”</a:t>
            </a:r>
          </a:p>
          <a:p>
            <a:r>
              <a:rPr sz="1400"/>
              <a:t>  Core Principles</a:t>
            </a:r>
          </a:p>
          <a:p>
            <a:r>
              <a:rPr sz="1400"/>
              <a:t>Prompt-First Design: Requirements, architecture, and workflows expressed as structured prompts</a:t>
            </a:r>
          </a:p>
          <a:p>
            <a:r>
              <a:rPr sz="1400"/>
              <a:t>AI-Native Architecture: Modular services, clear boundaries, deterministic interfaces for AI-generated components</a:t>
            </a:r>
          </a:p>
          <a:p>
            <a:r>
              <a:rPr sz="1400"/>
              <a:t>Human-in-the-Loop: Review, validation, and traceability baked into every stage</a:t>
            </a:r>
          </a:p>
          <a:p>
            <a:r>
              <a:rPr sz="1400"/>
              <a:t>Continuous Verification: Automated tests, static analysis, and guardrails to ensure safe outputs</a:t>
            </a:r>
          </a:p>
          <a:p>
            <a:r>
              <a:rPr sz="1400"/>
              <a:t>Lifecycle Governance: Versioning, provenance, and risk-based controls for AI-generated artifacts</a:t>
            </a:r>
          </a:p>
          <a:p>
            <a:r>
              <a:rPr sz="1400"/>
              <a:t>  Outcomes</a:t>
            </a:r>
          </a:p>
          <a:p>
            <a:r>
              <a:rPr sz="1400"/>
              <a:t>Faster iteration cycles</a:t>
            </a:r>
          </a:p>
          <a:p>
            <a:r>
              <a:rPr sz="1400"/>
              <a:t>Higher coverage of documentation and tests</a:t>
            </a:r>
          </a:p>
          <a:p>
            <a:r>
              <a:rPr sz="1400"/>
              <a:t>Reduced cognitive load on developers</a:t>
            </a:r>
          </a:p>
          <a:p>
            <a:r>
              <a:rPr sz="1400"/>
              <a:t>More resilient, adaptable systems</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800"/>
              <a:t>Prompt-First Software Development</a:t>
            </a:r>
          </a:p>
        </p:txBody>
      </p:sp>
      <p:sp>
        <p:nvSpPr>
          <p:cNvPr id="3" name="Content Placeholder 2"/>
          <p:cNvSpPr>
            <a:spLocks noGrp="1"/>
          </p:cNvSpPr>
          <p:nvPr>
            <p:ph idx="1"/>
          </p:nvPr>
        </p:nvSpPr>
        <p:spPr/>
        <p:txBody>
          <a:bodyPr wrap="square">
            <a:noAutofit/>
          </a:bodyPr>
          <a:lstStyle/>
          <a:p>
            <a:endParaRPr sz="1400"/>
          </a:p>
          <a:p>
            <a:r>
              <a:rPr sz="1400"/>
              <a:t>Design the intent first — let AI generate the implementation</a:t>
            </a:r>
          </a:p>
          <a:p>
            <a:r>
              <a:rPr sz="1400"/>
              <a:t>Why Prompt-First</a:t>
            </a:r>
          </a:p>
          <a:p>
            <a:endParaRPr sz="1400"/>
          </a:p>
          <a:p>
            <a:r>
              <a:rPr sz="1400"/>
              <a:t>Behaviors, and constraints expressed in structured natural language</a:t>
            </a:r>
          </a:p>
          <a:p>
            <a:r>
              <a:rPr sz="1400"/>
              <a:t>Prompts become the new “source of truth” artifacts</a:t>
            </a:r>
          </a:p>
          <a:p>
            <a:r>
              <a:rPr sz="1400"/>
              <a:t>Teams shift from writing functions to defining outcomes, invariants, and interfaces</a:t>
            </a:r>
          </a:p>
          <a:p>
            <a:r>
              <a:rPr sz="1400"/>
              <a:t>  Core Practices</a:t>
            </a:r>
          </a:p>
          <a:p>
            <a:r>
              <a:rPr sz="1400"/>
              <a:t>Structured Prompts: Use templates for features, APIs, data models, tests, and refactors</a:t>
            </a:r>
          </a:p>
          <a:p>
            <a:r>
              <a:rPr sz="1400"/>
              <a:t>Instruction Files: Persistent, versioned artifacts guiding AI code generation</a:t>
            </a:r>
          </a:p>
          <a:p>
            <a:r>
              <a:rPr sz="1400"/>
              <a:t>Deterministic Boundaries: Clear module contracts so AI-generated code stays predictable</a:t>
            </a:r>
          </a:p>
          <a:p>
            <a:r>
              <a:rPr sz="1400"/>
              <a:t>Validation Loops: Automated tests + human review ensure correctness and safety</a:t>
            </a:r>
          </a:p>
          <a:p>
            <a:r>
              <a:rPr sz="1400"/>
              <a:t>Prompt Versioning: Track evolution of intent just like code changes</a:t>
            </a:r>
          </a:p>
          <a:p>
            <a:r>
              <a:rPr sz="1400"/>
              <a:t>  Benefits</a:t>
            </a:r>
          </a:p>
          <a:p>
            <a:r>
              <a:rPr sz="1400"/>
              <a:t>Faster iteration from idea → working software</a:t>
            </a:r>
          </a:p>
          <a:p>
            <a:r>
              <a:rPr sz="1400"/>
              <a:t>Higher consistency across generated components</a:t>
            </a:r>
          </a:p>
          <a:p>
            <a:r>
              <a:rPr sz="1400"/>
              <a:t>Reduced cognitive load on developers</a:t>
            </a:r>
          </a:p>
          <a:p>
            <a:r>
              <a:rPr sz="1400"/>
              <a:t>Better alignment between business intent and implementation</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**Concrete Examples**</a:t>
            </a:r>
          </a:p>
        </p:txBody>
      </p:sp>
      <p:sp>
        <p:nvSpPr>
          <p:cNvPr id="3" name="Content Placeholder 2"/>
          <p:cNvSpPr>
            <a:spLocks noGrp="1"/>
          </p:cNvSpPr>
          <p:nvPr>
            <p:ph idx="1"/>
          </p:nvPr>
        </p:nvSpPr>
        <p:spPr/>
        <p:txBody>
          <a:bodyPr wrap="square">
            <a:noAutofit/>
          </a:bodyPr>
          <a:lstStyle/>
          <a:p>
            <a:endParaRPr sz="1400"/>
          </a:p>
          <a:p>
            <a:r>
              <a:rPr sz="1400" b="1"/>
              <a:t>Prompt-First Example</a:t>
            </a:r>
          </a:p>
          <a:p>
            <a:endParaRPr sz="1400" b="1"/>
          </a:p>
          <a:p>
            <a:r>
              <a:rPr sz="1400"/>
              <a:t>Promptfile for generating unit tests</a:t>
            </a:r>
          </a:p>
          <a:p>
            <a:r>
              <a:rPr sz="1400"/>
              <a:t>Instruction file for documentation</a:t>
            </a:r>
          </a:p>
          <a:p>
            <a:r>
              <a:rPr sz="1400"/>
              <a:t>Chat mode for brownfield developers</a:t>
            </a:r>
          </a:p>
          <a:p>
            <a:endParaRPr sz="1400"/>
          </a:p>
          <a:p>
            <a:r>
              <a:rPr sz="1400" b="1"/>
              <a:t>AI-First Example</a:t>
            </a:r>
          </a:p>
          <a:p>
            <a:endParaRPr sz="1400" b="1"/>
          </a:p>
          <a:p>
            <a:r>
              <a:rPr sz="1400"/>
              <a:t>Requirements → AI-generated scaffolds</a:t>
            </a:r>
          </a:p>
          <a:p>
            <a:r>
              <a:rPr sz="1400"/>
              <a:t>Code changes → AI-assisted reviews</a:t>
            </a:r>
          </a:p>
          <a:p>
            <a:r>
              <a:rPr sz="1400"/>
              <a:t>Docs → continuously AI-generated</a:t>
            </a:r>
          </a:p>
          <a:p>
            <a:r>
              <a:rPr sz="1400"/>
              <a:t>Modernization → AI-guided refactoring plans</a:t>
            </a:r>
          </a:p>
          <a:p>
            <a:r>
              <a:rPr sz="1400"/>
              <a:t>Provenance → enforced everywhere</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**Shortest Summary**</a:t>
            </a:r>
          </a:p>
        </p:txBody>
      </p:sp>
      <p:sp>
        <p:nvSpPr>
          <p:cNvPr id="3" name="Content Placeholder 2"/>
          <p:cNvSpPr>
            <a:spLocks noGrp="1"/>
          </p:cNvSpPr>
          <p:nvPr>
            <p:ph idx="1"/>
          </p:nvPr>
        </p:nvSpPr>
        <p:spPr/>
        <p:txBody>
          <a:bodyPr wrap="square">
            <a:normAutofit/>
          </a:bodyPr>
          <a:lstStyle/>
          <a:p>
            <a:endParaRPr/>
          </a:p>
          <a:p>
            <a:r>
              <a:rPr b="1"/>
              <a:t>AI-First = philosophy + architecture + lifecycle integration</a:t>
            </a:r>
          </a:p>
          <a:p>
            <a:r>
              <a:rPr b="1"/>
              <a:t>Prompt-First = structured, version-controlled interfaces for interacting with AI</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Course Modules</a:t>
            </a:r>
          </a:p>
        </p:txBody>
      </p:sp>
      <p:sp>
        <p:nvSpPr>
          <p:cNvPr id="3" name="Content Placeholder 2"/>
          <p:cNvSpPr>
            <a:spLocks noGrp="1"/>
          </p:cNvSpPr>
          <p:nvPr>
            <p:ph idx="1"/>
          </p:nvPr>
        </p:nvSpPr>
        <p:spPr/>
        <p:txBody>
          <a:bodyPr wrap="square">
            <a:normAutofit/>
          </a:bodyPr>
          <a:lstStyle/>
          <a:p>
            <a:endParaRPr/>
          </a:p>
          <a:p>
            <a:r>
              <a:t>Intro</a:t>
            </a:r>
          </a:p>
          <a:p>
            <a:r>
              <a:t>AI Assisted Software Development</a:t>
            </a:r>
          </a:p>
          <a:p>
            <a:r>
              <a:rPr b="1"/>
              <a:t>▶ Intro to Copilot</a:t>
            </a:r>
          </a:p>
          <a:p>
            <a:r>
              <a:t>AI Assistance in Action</a:t>
            </a:r>
          </a:p>
          <a:p>
            <a:r>
              <a:t>Adding AI Guardrails</a:t>
            </a:r>
          </a:p>
          <a:p>
            <a:r>
              <a:t>Managing Context</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Intro to Copilot</a:t>
            </a:r>
          </a:p>
        </p:txBody>
      </p:sp>
      <p:sp>
        <p:nvSpPr>
          <p:cNvPr id="3" name="Content Placeholder 2"/>
          <p:cNvSpPr>
            <a:spLocks noGrp="1"/>
          </p:cNvSpPr>
          <p:nvPr>
            <p:ph idx="1"/>
          </p:nvPr>
        </p:nvSpPr>
        <p:spPr/>
        <p:txBody>
          <a:bodyPr wrap="square">
            <a:normAutofit/>
          </a:bodyPr>
          <a:lstStyle/>
          <a:p>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Intro to Copilot</a:t>
            </a:r>
          </a:p>
        </p:txBody>
      </p:sp>
      <p:sp>
        <p:nvSpPr>
          <p:cNvPr id="3" name="Content Placeholder 2"/>
          <p:cNvSpPr>
            <a:spLocks noGrp="1"/>
          </p:cNvSpPr>
          <p:nvPr>
            <p:ph idx="1"/>
          </p:nvPr>
        </p:nvSpPr>
        <p:spPr/>
        <p:txBody>
          <a:bodyPr wrap="square">
            <a:normAutofit/>
          </a:bodyPr>
          <a:lstStyle/>
          <a:p>
            <a:endParaRPr/>
          </a:p>
          <a:p>
            <a:r>
              <a:t>Repository and Tool Setup</a:t>
            </a:r>
          </a:p>
          <a:p>
            <a:r>
              <a:t>Exercise: Clone the AI-Assisted-Software-Development Repository</a:t>
            </a:r>
          </a:p>
          <a:p>
            <a:r>
              <a:t>Hands-On with GitHub Copilot</a:t>
            </a:r>
          </a:p>
          <a:p>
            <a:r>
              <a:t>Lab: Getting Started with GitHub Copilot</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Repository and Tool Setup</a:t>
            </a:r>
          </a:p>
        </p:txBody>
      </p:sp>
      <p:sp>
        <p:nvSpPr>
          <p:cNvPr id="3" name="Content Placeholder 2"/>
          <p:cNvSpPr>
            <a:spLocks noGrp="1"/>
          </p:cNvSpPr>
          <p:nvPr>
            <p:ph idx="1"/>
          </p:nvPr>
        </p:nvSpPr>
        <p:spPr/>
        <p:txBody>
          <a:bodyPr wrap="square">
            <a:normAutofit/>
          </a:bodyPr>
          <a:lstStyle/>
          <a:p>
            <a:endParaRPr/>
          </a:p>
          <a:p>
            <a:r>
              <a:t>Cloning course repository</a:t>
            </a:r>
          </a:p>
          <a:p>
            <a:r>
              <a:t>GitHub authentication</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200"/>
              <a:t>Exercise: Fork the AIASD-20260209-BF Repo</a:t>
            </a:r>
          </a:p>
        </p:txBody>
      </p:sp>
      <p:sp>
        <p:nvSpPr>
          <p:cNvPr id="3" name="Content Placeholder 2"/>
          <p:cNvSpPr>
            <a:spLocks noGrp="1"/>
          </p:cNvSpPr>
          <p:nvPr>
            <p:ph idx="1"/>
          </p:nvPr>
        </p:nvSpPr>
        <p:spPr/>
        <p:txBody>
          <a:bodyPr wrap="square">
            <a:noAutofit/>
          </a:bodyPr>
          <a:lstStyle/>
          <a:p>
            <a:endParaRPr sz="2350"/>
          </a:p>
          <a:p>
            <a:r>
              <a:rPr sz="2350"/>
              <a:t>Objectives: Explore an unfamiliar codebase</a:t>
            </a:r>
          </a:p>
          <a:p>
            <a:r>
              <a:rPr sz="2350"/>
              <a:t>  Activities</a:t>
            </a:r>
          </a:p>
          <a:p>
            <a:r>
              <a:rPr sz="2350"/>
              <a:t>  Fork this repo https://github.com/j0hnnymiller/AIASD-20260209-BF.git</a:t>
            </a:r>
          </a:p>
          <a:p>
            <a:r>
              <a:rPr sz="2350"/>
              <a:t>  Clone the forked repo</a:t>
            </a:r>
          </a:p>
          <a:p>
            <a:r>
              <a:rPr sz="2350"/>
              <a:t>  Create a GitHub PAT https://github.com/settings/tokens</a:t>
            </a:r>
          </a:p>
          <a:p>
            <a:r>
              <a:rPr sz="2350"/>
              <a:t>  Store the PAT in the GITHUB_TOKEN environment variable</a:t>
            </a:r>
          </a:p>
          <a:p>
            <a:r>
              <a:rPr sz="2350"/>
              <a:t>  Success Criteria</a:t>
            </a:r>
          </a:p>
          <a:p>
            <a:r>
              <a:rPr sz="2350"/>
              <a:t>  Repo is available locally</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Exercise: Fork the repos</a:t>
            </a:r>
          </a:p>
        </p:txBody>
      </p:sp>
      <p:sp>
        <p:nvSpPr>
          <p:cNvPr id="3" name="Content Placeholder 2"/>
          <p:cNvSpPr>
            <a:spLocks noGrp="1"/>
          </p:cNvSpPr>
          <p:nvPr>
            <p:ph idx="1"/>
          </p:nvPr>
        </p:nvSpPr>
        <p:spPr/>
        <p:txBody>
          <a:bodyPr wrap="square">
            <a:noAutofit/>
          </a:bodyPr>
          <a:lstStyle/>
          <a:p>
            <a:endParaRPr sz="1400"/>
          </a:p>
          <a:p>
            <a:r>
              <a:rPr sz="1400"/>
              <a:t>Objective: Fork the course repos</a:t>
            </a:r>
          </a:p>
          <a:p>
            <a:r>
              <a:rPr sz="1400"/>
              <a:t>  Search GitHub for</a:t>
            </a:r>
          </a:p>
          <a:p>
            <a:endParaRPr sz="1400"/>
          </a:p>
          <a:p>
            <a:r>
              <a:rPr sz="1400"/>
              <a:t>  - AI-Assisted-Software-Development</a:t>
            </a:r>
          </a:p>
          <a:p>
            <a:r>
              <a:rPr sz="1400"/>
              <a:t>  - zeus.academia.3b</a:t>
            </a:r>
          </a:p>
          <a:p>
            <a:r>
              <a:rPr sz="1400"/>
              <a:t>    Fork the repos</a:t>
            </a:r>
          </a:p>
          <a:p>
            <a:r>
              <a:rPr sz="1400"/>
              <a:t>  - This will create a personal copy under your GitHub account</a:t>
            </a:r>
          </a:p>
          <a:p>
            <a:r>
              <a:rPr sz="1400"/>
              <a:t>  - You can make changes without affecting the original repo</a:t>
            </a:r>
          </a:p>
          <a:p>
            <a:r>
              <a:rPr sz="1400"/>
              <a:t>started: "2026-03-22T00:00:00Z"</a:t>
            </a:r>
          </a:p>
          <a:p>
            <a:r>
              <a:rPr sz="1400"/>
              <a:t>ended: "2026-03-22T00:10:00Z"</a:t>
            </a:r>
          </a:p>
          <a:p>
            <a:r>
              <a:rPr sz="1400"/>
              <a:t>task_durations:</a:t>
            </a:r>
          </a:p>
          <a:p>
            <a:r>
              <a:rPr sz="1400"/>
              <a:t>  - task: "exercise deck authoring"</a:t>
            </a:r>
          </a:p>
          <a:p>
            <a:r>
              <a:rPr sz="1400"/>
              <a:t>    duration: "00:06:00"</a:t>
            </a:r>
          </a:p>
          <a:p>
            <a:r>
              <a:rPr sz="1400"/>
              <a:t>  - task: "provenance logging"</a:t>
            </a:r>
          </a:p>
          <a:p>
            <a:r>
              <a:rPr sz="1400"/>
              <a:t>    duration: "00:02:00"</a:t>
            </a:r>
          </a:p>
          <a:p>
            <a:r>
              <a:rPr sz="1400"/>
              <a:t>  - task: "readme update"</a:t>
            </a:r>
          </a:p>
          <a:p>
            <a:r>
              <a:rPr sz="1400"/>
              <a:t>    duration: "00:02:00"</a:t>
            </a:r>
          </a:p>
          <a:p>
            <a:r>
              <a:rPr sz="1400"/>
              <a:t>total_duration: "00:10:00"</a:t>
            </a:r>
          </a:p>
          <a:p>
            <a:r>
              <a:rPr sz="1400"/>
              <a:t>ai_log: "ai-logs/2026/03/22/exercise-repository-fork-clone-deck-20260322/conversation.md"</a:t>
            </a:r>
          </a:p>
          <a:p>
            <a:r>
              <a:rPr sz="1400"/>
              <a:t>source: "johnmillerATcodemag-com"</a:t>
            </a:r>
          </a:p>
          <a:p>
            <a:r>
              <a:rPr sz="1400"/>
              <a:t>marp: true</a:t>
            </a:r>
          </a:p>
          <a:p>
            <a:r>
              <a:rPr sz="1400"/>
              <a:t>theme: default</a:t>
            </a:r>
          </a:p>
          <a:p>
            <a:r>
              <a:rPr sz="1400"/>
              <a:t>paginate: true</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2200"/>
              <a:t>Exercise: Clone the AI-Assisted-Software-Development Repository</a:t>
            </a:r>
          </a:p>
        </p:txBody>
      </p:sp>
      <p:sp>
        <p:nvSpPr>
          <p:cNvPr id="3" name="Content Placeholder 2"/>
          <p:cNvSpPr>
            <a:spLocks noGrp="1"/>
          </p:cNvSpPr>
          <p:nvPr>
            <p:ph idx="1"/>
          </p:nvPr>
        </p:nvSpPr>
        <p:spPr/>
        <p:txBody>
          <a:bodyPr wrap="square">
            <a:noAutofit/>
          </a:bodyPr>
          <a:lstStyle/>
          <a:p>
            <a:endParaRPr sz="1400"/>
          </a:p>
          <a:p>
            <a:r>
              <a:rPr sz="1400"/>
              <a:t>Prerequisites</a:t>
            </a:r>
          </a:p>
          <a:p>
            <a:endParaRPr sz="1400"/>
          </a:p>
          <a:p>
            <a:r>
              <a:rPr sz="1400"/>
              <a:t>Git</a:t>
            </a:r>
          </a:p>
          <a:p>
            <a:r>
              <a:rPr sz="1400"/>
              <a:t>GitHub account</a:t>
            </a:r>
          </a:p>
          <a:p>
            <a:endParaRPr sz="1400"/>
          </a:p>
          <a:p>
            <a:r>
              <a:rPr sz="1400"/>
              <a:t>Objectives</a:t>
            </a:r>
          </a:p>
          <a:p>
            <a:endParaRPr sz="1400"/>
          </a:p>
          <a:p>
            <a:r>
              <a:rPr sz="1400"/>
              <a:t>Fork the AI-Assisted-Software-Development repository</a:t>
            </a:r>
          </a:p>
          <a:p>
            <a:r>
              <a:rPr sz="1400"/>
              <a:t>Clone your fork to your local machine</a:t>
            </a:r>
          </a:p>
          <a:p>
            <a:r>
              <a:rPr sz="1400"/>
              <a:t>Switch to the brownfield branch to confirm branch navigation</a:t>
            </a:r>
          </a:p>
          <a:p>
            <a:endParaRPr sz="1400"/>
          </a:p>
          <a:p>
            <a:r>
              <a:rPr sz="1400"/>
              <a:t>Activities</a:t>
            </a:r>
          </a:p>
          <a:p>
            <a:endParaRPr sz="1400"/>
          </a:p>
          <a:p>
            <a:r>
              <a:rPr sz="1400"/>
              <a:t>1. Search GitHub for AI-Assisted-Software-Development.</a:t>
            </a:r>
          </a:p>
          <a:p>
            <a:r>
              <a:rPr sz="1400"/>
              <a:t>2. Fork the repository into your GitHub account.</a:t>
            </a:r>
          </a:p>
          <a:p>
            <a:r>
              <a:rPr sz="1400"/>
              <a:t>3. Clone your fork locally with SSH or HTTPS.</a:t>
            </a:r>
          </a:p>
          <a:p>
            <a:r>
              <a:rPr sz="1400"/>
              <a:t>4. Open a terminal in the cloned repository.</a:t>
            </a:r>
          </a:p>
          <a:p>
            <a:r>
              <a:rPr sz="1400"/>
              <a:t>5. Switch to the brownfield branch.</a:t>
            </a:r>
          </a:p>
          <a:p>
            <a:endParaRPr sz="1400"/>
          </a:p>
          <a:p>
            <a:r>
              <a:rPr sz="1400"/>
              <a:t>```bash</a:t>
            </a:r>
          </a:p>
          <a:p>
            <a:r>
              <a:rPr sz="1400"/>
              <a:t>git clone git@github.com:&lt;your-username&gt;/AI-Assisted-Software-Development.git</a:t>
            </a:r>
          </a:p>
          <a:p>
            <a:r>
              <a:rPr sz="1400"/>
              <a:t>cd AI-Assisted-Software-Development</a:t>
            </a:r>
          </a:p>
          <a:p>
            <a:r>
              <a:rPr sz="1400"/>
              <a:t>git checkout brownfield</a:t>
            </a:r>
          </a:p>
          <a:p>
            <a:r>
              <a:rPr sz="1400"/>
              <a:t>```</a:t>
            </a:r>
          </a:p>
          <a:p>
            <a:endParaRPr sz="1400"/>
          </a:p>
          <a:p>
            <a:r>
              <a:rPr sz="1400"/>
              <a:t>Success Criteria</a:t>
            </a:r>
          </a:p>
          <a:p>
            <a:endParaRPr sz="1400"/>
          </a:p>
          <a:p>
            <a:r>
              <a:rPr sz="1400"/>
              <a:t>Repository is forked under your GitHub account</a:t>
            </a:r>
          </a:p>
          <a:p>
            <a:r>
              <a:rPr sz="1400"/>
              <a:t>Cloned repository exists locally</a:t>
            </a:r>
          </a:p>
          <a:p>
            <a:r>
              <a:rPr sz="1400"/>
              <a:t>Brownfield branch is checked out successfully</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200"/>
              <a:t>Exercise: Fork the AIASD-20260209-BF Repo</a:t>
            </a:r>
          </a:p>
        </p:txBody>
      </p:sp>
      <p:sp>
        <p:nvSpPr>
          <p:cNvPr id="3" name="Content Placeholder 2"/>
          <p:cNvSpPr>
            <a:spLocks noGrp="1"/>
          </p:cNvSpPr>
          <p:nvPr>
            <p:ph idx="1"/>
          </p:nvPr>
        </p:nvSpPr>
        <p:spPr/>
        <p:txBody>
          <a:bodyPr wrap="square">
            <a:noAutofit/>
          </a:bodyPr>
          <a:lstStyle/>
          <a:p>
            <a:endParaRPr sz="1400"/>
          </a:p>
          <a:p>
            <a:r>
              <a:rPr sz="1400"/>
              <a:t>Objectives</a:t>
            </a:r>
          </a:p>
          <a:p>
            <a:endParaRPr sz="1400"/>
          </a:p>
          <a:p>
            <a:r>
              <a:rPr sz="1400"/>
              <a:t>Explore an unfamiliar codebase with a safe personal fork</a:t>
            </a:r>
          </a:p>
          <a:p>
            <a:r>
              <a:rPr sz="1400"/>
              <a:t>Clone and validate local access to the brownfield exercise repository</a:t>
            </a:r>
          </a:p>
          <a:p>
            <a:r>
              <a:rPr sz="1400"/>
              <a:t>Configure PAT-based authentication for GitHub operations</a:t>
            </a:r>
          </a:p>
          <a:p>
            <a:endParaRPr sz="1400"/>
          </a:p>
          <a:p>
            <a:r>
              <a:rPr sz="1400"/>
              <a:t>Activities</a:t>
            </a:r>
          </a:p>
          <a:p>
            <a:endParaRPr sz="1400"/>
          </a:p>
          <a:p>
            <a:r>
              <a:rPr sz="1400"/>
              <a:t>1. Open https://github.com/j0hnnymiller/AIASD-20260209-BF.git.</a:t>
            </a:r>
          </a:p>
          <a:p>
            <a:r>
              <a:rPr sz="1400"/>
              <a:t>2. Fork the repository to your personal GitHub account.</a:t>
            </a:r>
          </a:p>
          <a:p>
            <a:r>
              <a:rPr sz="1400"/>
              <a:t>3. Clone the forked repository locally.</a:t>
            </a:r>
          </a:p>
          <a:p>
            <a:r>
              <a:rPr sz="1400"/>
              <a:t>4. Create a GitHub PAT at https://github.com/settings/tokens.</a:t>
            </a:r>
          </a:p>
          <a:p>
            <a:r>
              <a:rPr sz="1400"/>
              <a:t>5. Store the token in the `GITHUB_TOKEN` environment variable.</a:t>
            </a:r>
          </a:p>
          <a:p>
            <a:endParaRPr sz="1400"/>
          </a:p>
          <a:p>
            <a:r>
              <a:rPr sz="1400"/>
              <a:t>```bash</a:t>
            </a:r>
          </a:p>
          <a:p>
            <a:r>
              <a:rPr sz="1400"/>
              <a:t># PowerShell</a:t>
            </a:r>
          </a:p>
          <a:p>
            <a:r>
              <a:rPr sz="1400"/>
              <a:t>$env:GITHUB_TOKEN = "&lt;your-pat&gt;"</a:t>
            </a:r>
          </a:p>
          <a:p>
            <a:endParaRPr sz="1400"/>
          </a:p>
          <a:p>
            <a:r>
              <a:rPr sz="1400"/>
              <a:t># Bash</a:t>
            </a:r>
          </a:p>
          <a:p>
            <a:r>
              <a:rPr sz="1400"/>
              <a:t>export GITHUB_TOKEN="&lt;your-pat&gt;"</a:t>
            </a:r>
          </a:p>
          <a:p>
            <a:r>
              <a:rPr sz="1400"/>
              <a:t>```</a:t>
            </a:r>
          </a:p>
          <a:p>
            <a:endParaRPr sz="1400"/>
          </a:p>
          <a:p>
            <a:r>
              <a:rPr sz="1400"/>
              <a:t>Success Criteria</a:t>
            </a:r>
          </a:p>
          <a:p>
            <a:endParaRPr sz="1400"/>
          </a:p>
          <a:p>
            <a:r>
              <a:rPr sz="1400"/>
              <a:t>Forked repository exists in your GitHub account</a:t>
            </a:r>
          </a:p>
          <a:p>
            <a:r>
              <a:rPr sz="1400"/>
              <a:t>Repository is available locally and can be opened in VS Code</a:t>
            </a:r>
          </a:p>
          <a:p>
            <a:r>
              <a:rPr sz="1400"/>
              <a:t>`GITHUB_TOKEN` is set in the current shell session</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Exercise: Fork the Repos</a:t>
            </a:r>
          </a:p>
        </p:txBody>
      </p:sp>
      <p:sp>
        <p:nvSpPr>
          <p:cNvPr id="3" name="Content Placeholder 2"/>
          <p:cNvSpPr>
            <a:spLocks noGrp="1"/>
          </p:cNvSpPr>
          <p:nvPr>
            <p:ph idx="1"/>
          </p:nvPr>
        </p:nvSpPr>
        <p:spPr/>
        <p:txBody>
          <a:bodyPr wrap="square">
            <a:noAutofit/>
          </a:bodyPr>
          <a:lstStyle/>
          <a:p>
            <a:endParaRPr sz="1400"/>
          </a:p>
          <a:p>
            <a:r>
              <a:rPr sz="1400"/>
              <a:t>Objective</a:t>
            </a:r>
          </a:p>
          <a:p>
            <a:endParaRPr sz="1400"/>
          </a:p>
          <a:p>
            <a:r>
              <a:rPr sz="1400"/>
              <a:t>Fork the course repositories needed for independent practice</a:t>
            </a:r>
          </a:p>
          <a:p>
            <a:endParaRPr sz="1400"/>
          </a:p>
          <a:p>
            <a:r>
              <a:rPr sz="1400"/>
              <a:t>Activities</a:t>
            </a:r>
          </a:p>
          <a:p>
            <a:endParaRPr sz="1400"/>
          </a:p>
          <a:p>
            <a:r>
              <a:rPr sz="1400"/>
              <a:t>1. Search GitHub for the following repositories:</a:t>
            </a:r>
          </a:p>
          <a:p>
            <a:r>
              <a:rPr sz="1400"/>
              <a:t>   - AI-Assisted-Software-Development</a:t>
            </a:r>
          </a:p>
          <a:p>
            <a:r>
              <a:rPr sz="1400"/>
              <a:t>   - zeus.academia.3b</a:t>
            </a:r>
          </a:p>
          <a:p>
            <a:r>
              <a:rPr sz="1400"/>
              <a:t>2. Fork both repositories into your GitHub account.</a:t>
            </a:r>
          </a:p>
          <a:p>
            <a:r>
              <a:rPr sz="1400"/>
              <a:t>3. Confirm each fork appears under your account.</a:t>
            </a:r>
          </a:p>
          <a:p>
            <a:r>
              <a:rPr sz="1400"/>
              <a:t>4. Optional: clone each fork locally for offline work.</a:t>
            </a:r>
          </a:p>
          <a:p>
            <a:endParaRPr sz="1400"/>
          </a:p>
          <a:p>
            <a:r>
              <a:rPr sz="1400"/>
              <a:t>Success Criteria</a:t>
            </a:r>
          </a:p>
          <a:p>
            <a:endParaRPr sz="1400"/>
          </a:p>
          <a:p>
            <a:r>
              <a:rPr sz="1400"/>
              <a:t>Both repositories are forked to your GitHub account</a:t>
            </a:r>
          </a:p>
          <a:p>
            <a:r>
              <a:rPr sz="1400"/>
              <a:t>You can identify the original upstream repositories</a:t>
            </a:r>
          </a:p>
          <a:p>
            <a:r>
              <a:rPr sz="1400"/>
              <a:t>You can explain why forking protects the source repositories</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Hands-On with GitHub Copilot</a:t>
            </a:r>
          </a:p>
        </p:txBody>
      </p:sp>
      <p:sp>
        <p:nvSpPr>
          <p:cNvPr id="3" name="Content Placeholder 2"/>
          <p:cNvSpPr>
            <a:spLocks noGrp="1"/>
          </p:cNvSpPr>
          <p:nvPr>
            <p:ph idx="1"/>
          </p:nvPr>
        </p:nvSpPr>
        <p:spPr/>
        <p:txBody>
          <a:bodyPr wrap="square">
            <a:noAutofit/>
          </a:bodyPr>
          <a:lstStyle/>
          <a:p>
            <a:endParaRPr sz="2100"/>
          </a:p>
          <a:p>
            <a:r>
              <a:rPr sz="2100"/>
              <a:t>Installation and configuration</a:t>
            </a:r>
          </a:p>
          <a:p>
            <a:endParaRPr sz="2100"/>
          </a:p>
          <a:p>
            <a:r>
              <a:rPr sz="2100"/>
              <a:t>Installing the extension</a:t>
            </a:r>
          </a:p>
          <a:p>
            <a:r>
              <a:rPr sz="2100"/>
              <a:t>Setting up authentication</a:t>
            </a:r>
          </a:p>
          <a:p>
            <a:r>
              <a:rPr sz="2100"/>
              <a:t>Configuring settings</a:t>
            </a:r>
          </a:p>
          <a:p>
            <a:r>
              <a:rPr sz="2100"/>
              <a:t>  Sharing configuration across an organization</a:t>
            </a:r>
          </a:p>
          <a:p>
            <a:r>
              <a:rPr sz="2100"/>
              <a:t>Shared configuration templates (e.g., .copilot/settings.json) can be distributed across projects to standardize behavior.</a:t>
            </a:r>
          </a:p>
          <a:p>
            <a:r>
              <a:rPr sz="2100"/>
              <a:t>  https://www.codemag.com/Blog/AI/AIASD-install-guide</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Prompt Specificity</a:t>
            </a:r>
          </a:p>
        </p:txBody>
      </p:sp>
      <p:sp>
        <p:nvSpPr>
          <p:cNvPr id="3" name="Content Placeholder 2"/>
          <p:cNvSpPr>
            <a:spLocks noGrp="1"/>
          </p:cNvSpPr>
          <p:nvPr>
            <p:ph idx="1"/>
          </p:nvPr>
        </p:nvSpPr>
        <p:spPr/>
        <p:txBody>
          <a:bodyPr wrap="square">
            <a:noAutofit/>
          </a:bodyPr>
          <a:lstStyle/>
          <a:p>
            <a:endParaRPr sz="1800"/>
          </a:p>
          <a:p>
            <a:r>
              <a:rPr sz="1800"/>
              <a:t>Add error handling to my code</a:t>
            </a:r>
          </a:p>
          <a:p>
            <a:endParaRPr sz="1800"/>
          </a:p>
          <a:p>
            <a:r>
              <a:rPr sz="1800"/>
              <a:t>Result: Generic response asking what type of errors, what language, what code?</a:t>
            </a:r>
          </a:p>
          <a:p>
            <a:r>
              <a:rPr sz="1800"/>
              <a:t>  Add error handling to my JavaScript function that calls an external API. I want to handle network timeouts, 404 errors, and JSON parsing failures. Return user-friendly error messages.</a:t>
            </a:r>
          </a:p>
          <a:p>
            <a:r>
              <a:rPr sz="1800"/>
              <a:t>Result: Better, but still generic without seeing actual code structure</a:t>
            </a:r>
          </a:p>
          <a:p>
            <a:r>
              <a:rPr sz="1800"/>
              <a:t>  @file:api-client.js Add comprehensive error handling to the fetchUserData function. Handle network timeouts (&gt;5s), HTTP errors (404, 500, etc.), and JSON parsing failures.   Return user-friendly error messages that match our existing error format in @file:error-types.js</a:t>
            </a:r>
          </a:p>
          <a:p>
            <a:r>
              <a:rPr sz="1800"/>
              <a:t>Result: Specific implementation that matches existing code patterns\*</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4250"/>
              <a:t>Using Copilot in different modes</a:t>
            </a:r>
          </a:p>
        </p:txBody>
      </p:sp>
      <p:sp>
        <p:nvSpPr>
          <p:cNvPr id="3" name="Content Placeholder 2"/>
          <p:cNvSpPr>
            <a:spLocks noGrp="1"/>
          </p:cNvSpPr>
          <p:nvPr>
            <p:ph idx="1"/>
          </p:nvPr>
        </p:nvSpPr>
        <p:spPr/>
        <p:txBody>
          <a:bodyPr wrap="square">
            <a:noAutofit/>
          </a:bodyPr>
          <a:lstStyle/>
          <a:p>
            <a:endParaRPr sz="2000"/>
          </a:p>
          <a:p>
            <a:r>
              <a:rPr sz="2000"/>
              <a:t>Ask Mode</a:t>
            </a:r>
          </a:p>
          <a:p>
            <a:endParaRPr sz="2000"/>
          </a:p>
          <a:p>
            <a:r>
              <a:rPr sz="2000"/>
              <a:t>Simple prompt completion and inline suggestions</a:t>
            </a:r>
          </a:p>
          <a:p>
            <a:r>
              <a:rPr sz="2000"/>
              <a:t>  Edit Mode</a:t>
            </a:r>
          </a:p>
          <a:p>
            <a:r>
              <a:rPr sz="2000"/>
              <a:t>Automatic file edits</a:t>
            </a:r>
          </a:p>
          <a:p>
            <a:r>
              <a:rPr sz="2000"/>
              <a:t>  Agent Mode</a:t>
            </a:r>
          </a:p>
          <a:p>
            <a:r>
              <a:rPr sz="2000"/>
              <a:t>Perform actions on your behalf</a:t>
            </a:r>
          </a:p>
          <a:p>
            <a:r>
              <a:rPr sz="2000"/>
              <a:t>  Custom Modes</a:t>
            </a:r>
          </a:p>
          <a:p>
            <a:r>
              <a:rPr sz="2000"/>
              <a:t>Execute specific workflows</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IDE Support for AI Assistance</a:t>
            </a:r>
          </a:p>
        </p:txBody>
      </p:sp>
      <p:graphicFrame>
        <p:nvGraphicFramePr>
          <p:cNvPr id="3" name="Table 2"/>
          <p:cNvGraphicFramePr>
            <a:graphicFrameLocks noGrp="1"/>
          </p:cNvGraphicFramePr>
          <p:nvPr/>
        </p:nvGraphicFramePr>
        <p:xfrm>
          <a:off x="457200" y="1828800"/>
          <a:ext cx="8229600" cy="4114800"/>
        </p:xfrm>
        <a:graphic>
          <a:graphicData uri="http://schemas.openxmlformats.org/drawingml/2006/table">
            <a:tbl>
              <a:tblPr firstRow="1" bandRow="1">
                <a:tableStyleId>{5C22544A-7EE6-4342-B048-85BDC9FD1C3A}</a:tableStyleId>
              </a:tblPr>
              <a:tblGrid>
                <a:gridCol w="164592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tblGrid>
              <a:tr h="457200">
                <a:tc>
                  <a:txBody>
                    <a:bodyPr/>
                    <a:lstStyle/>
                    <a:p>
                      <a:pPr>
                        <a:defRPr sz="1296" b="1"/>
                      </a:pPr>
                      <a:r>
                        <a:t>IDE / Editor</a:t>
                      </a:r>
                    </a:p>
                  </a:txBody>
                  <a:tcPr/>
                </a:tc>
                <a:tc>
                  <a:txBody>
                    <a:bodyPr/>
                    <a:lstStyle/>
                    <a:p>
                      <a:pPr>
                        <a:defRPr sz="1296" b="1"/>
                      </a:pPr>
                      <a:r>
                        <a:t>Built-In AI Features</a:t>
                      </a:r>
                    </a:p>
                  </a:txBody>
                  <a:tcPr/>
                </a:tc>
                <a:tc>
                  <a:txBody>
                    <a:bodyPr/>
                    <a:lstStyle/>
                    <a:p>
                      <a:pPr>
                        <a:defRPr sz="1296" b="1"/>
                      </a:pPr>
                      <a:r>
                        <a:t>Supported AI Assistants</a:t>
                      </a:r>
                    </a:p>
                  </a:txBody>
                  <a:tcPr/>
                </a:tc>
                <a:tc>
                  <a:txBody>
                    <a:bodyPr/>
                    <a:lstStyle/>
                    <a:p>
                      <a:pPr>
                        <a:defRPr sz="1296" b="1"/>
                      </a:pPr>
                      <a:r>
                        <a:t>Strengths</a:t>
                      </a:r>
                    </a:p>
                  </a:txBody>
                  <a:tcPr/>
                </a:tc>
                <a:tc>
                  <a:txBody>
                    <a:bodyPr/>
                    <a:lstStyle/>
                    <a:p>
                      <a:pPr>
                        <a:defRPr sz="1296" b="1"/>
                      </a:pPr>
                      <a:r>
                        <a:t>Limitations</a:t>
                      </a:r>
                    </a:p>
                  </a:txBody>
                  <a:tcPr/>
                </a:tc>
                <a:extLst>
                  <a:ext uri="{0D108BD9-81ED-4DB2-BD59-A6C34878D82A}">
                    <a16:rowId xmlns:a16="http://schemas.microsoft.com/office/drawing/2014/main" val="10000"/>
                  </a:ext>
                </a:extLst>
              </a:tr>
              <a:tr h="457200">
                <a:tc>
                  <a:txBody>
                    <a:bodyPr/>
                    <a:lstStyle/>
                    <a:p>
                      <a:r>
                        <a:t>VS Code</a:t>
                      </a:r>
                    </a:p>
                  </a:txBody>
                  <a:tcPr/>
                </a:tc>
                <a:tc>
                  <a:txBody>
                    <a:bodyPr/>
                    <a:lstStyle/>
                    <a:p>
                      <a:r>
                        <a:t>Deep AI integration through extensions; increasingly AI-first workflows</a:t>
                      </a:r>
                    </a:p>
                  </a:txBody>
                  <a:tcPr/>
                </a:tc>
                <a:tc>
                  <a:txBody>
                    <a:bodyPr/>
                    <a:lstStyle/>
                    <a:p>
                      <a:r>
                        <a:t>GitHub Copilot, Cline, ChatGPT-based extensions, Gemini integrations</a:t>
                      </a:r>
                    </a:p>
                  </a:txBody>
                  <a:tcPr/>
                </a:tc>
                <a:tc>
                  <a:txBody>
                    <a:bodyPr/>
                    <a:lstStyle/>
                    <a:p>
                      <a:r>
                        <a:t>Extremely flexible; huge ecosystem; top-tier AI support; widely adopted</a:t>
                      </a:r>
                    </a:p>
                  </a:txBody>
                  <a:tcPr/>
                </a:tc>
                <a:tc>
                  <a:txBody>
                    <a:bodyPr/>
                    <a:lstStyle/>
                    <a:p>
                      <a:r>
                        <a:t>Requires extension management; quality varies by plugin</a:t>
                      </a:r>
                    </a:p>
                  </a:txBody>
                  <a:tcPr/>
                </a:tc>
                <a:extLst>
                  <a:ext uri="{0D108BD9-81ED-4DB2-BD59-A6C34878D82A}">
                    <a16:rowId xmlns:a16="http://schemas.microsoft.com/office/drawing/2014/main" val="10001"/>
                  </a:ext>
                </a:extLst>
              </a:tr>
              <a:tr h="457200">
                <a:tc>
                  <a:txBody>
                    <a:bodyPr/>
                    <a:lstStyle/>
                    <a:p>
                      <a:r>
                        <a:t>Visual Studio (Windows)</a:t>
                      </a:r>
                    </a:p>
                  </a:txBody>
                  <a:tcPr/>
                </a:tc>
                <a:tc>
                  <a:txBody>
                    <a:bodyPr/>
                    <a:lstStyle/>
                    <a:p>
                      <a:r>
                        <a:t>Native GitHub Copilot integration; AI-powered IntelliCode</a:t>
                      </a:r>
                    </a:p>
                  </a:txBody>
                  <a:tcPr/>
                </a:tc>
                <a:tc>
                  <a:txBody>
                    <a:bodyPr/>
                    <a:lstStyle/>
                    <a:p>
                      <a:r>
                        <a:t>GitHub Copilot, IntelliCode</a:t>
                      </a:r>
                    </a:p>
                  </a:txBody>
                  <a:tcPr/>
                </a:tc>
                <a:tc>
                  <a:txBody>
                    <a:bodyPr/>
                    <a:lstStyle/>
                    <a:p>
                      <a:r>
                        <a:t>Strong enterprise + .NET support; excellent refactoring and debugging</a:t>
                      </a:r>
                    </a:p>
                  </a:txBody>
                  <a:tcPr/>
                </a:tc>
                <a:tc>
                  <a:txBody>
                    <a:bodyPr/>
                    <a:lstStyle/>
                    <a:p>
                      <a:r>
                        <a:t>Less flexible than VS Code for non-Microsoft stacks</a:t>
                      </a:r>
                    </a:p>
                  </a:txBody>
                  <a:tcPr/>
                </a:tc>
                <a:extLst>
                  <a:ext uri="{0D108BD9-81ED-4DB2-BD59-A6C34878D82A}">
                    <a16:rowId xmlns:a16="http://schemas.microsoft.com/office/drawing/2014/main" val="10002"/>
                  </a:ext>
                </a:extLst>
              </a:tr>
              <a:tr h="457200">
                <a:tc>
                  <a:txBody>
                    <a:bodyPr/>
                    <a:lstStyle/>
                    <a:p>
                      <a:r>
                        <a:t>JetBrains IDEs</a:t>
                      </a:r>
                    </a:p>
                  </a:txBody>
                  <a:tcPr/>
                </a:tc>
                <a:tc>
                  <a:txBody>
                    <a:bodyPr/>
                    <a:lstStyle/>
                    <a:p>
                      <a:r>
                        <a:t>JetBrains AI Assistant; code completion, refactoring, doc generation</a:t>
                      </a:r>
                    </a:p>
                  </a:txBody>
                  <a:tcPr/>
                </a:tc>
                <a:tc>
                  <a:txBody>
                    <a:bodyPr/>
                    <a:lstStyle/>
                    <a:p>
                      <a:r>
                        <a:t>JetBrains AI Assistant, GitHub Copilot</a:t>
                      </a:r>
                    </a:p>
                  </a:txBody>
                  <a:tcPr/>
                </a:tc>
                <a:tc>
                  <a:txBody>
                    <a:bodyPr/>
                    <a:lstStyle/>
                    <a:p>
                      <a:r>
                        <a:t>Deep static analysis + AI; strong multi-language support</a:t>
                      </a:r>
                    </a:p>
                  </a:txBody>
                  <a:tcPr/>
                </a:tc>
                <a:tc>
                  <a:txBody>
                    <a:bodyPr/>
                    <a:lstStyle/>
                    <a:p>
                      <a:r>
                        <a:t>JetBrains AI Assistant is subscription-based; Copilot integration not as seamless</a:t>
                      </a:r>
                    </a:p>
                  </a:txBody>
                  <a:tcPr/>
                </a:tc>
                <a:extLst>
                  <a:ext uri="{0D108BD9-81ED-4DB2-BD59-A6C34878D82A}">
                    <a16:rowId xmlns:a16="http://schemas.microsoft.com/office/drawing/2014/main" val="10003"/>
                  </a:ext>
                </a:extLst>
              </a:tr>
              <a:tr h="457200">
                <a:tc>
                  <a:txBody>
                    <a:bodyPr/>
                    <a:lstStyle/>
                    <a:p>
                      <a:r>
                        <a:t>Cursor IDE</a:t>
                      </a:r>
                    </a:p>
                  </a:txBody>
                  <a:tcPr/>
                </a:tc>
                <a:tc>
                  <a:txBody>
                    <a:bodyPr/>
                    <a:lstStyle/>
                    <a:p>
                      <a:r>
                        <a:t>AI-first editor; conversational coding; multi-file reasoning</a:t>
                      </a:r>
                    </a:p>
                  </a:txBody>
                  <a:tcPr/>
                </a:tc>
                <a:tc>
                  <a:txBody>
                    <a:bodyPr/>
                    <a:lstStyle/>
                    <a:p>
                      <a:r>
                        <a:t>Built-in AI models (GPT-based, Claude-based), Copilot alternatives</a:t>
                      </a:r>
                    </a:p>
                  </a:txBody>
                  <a:tcPr/>
                </a:tc>
                <a:tc>
                  <a:txBody>
                    <a:bodyPr/>
                    <a:lstStyle/>
                    <a:p>
                      <a:r>
                        <a:t>Designed for AI pair-programming; strong repo-wide reasoning</a:t>
                      </a:r>
                    </a:p>
                  </a:txBody>
                  <a:tcPr/>
                </a:tc>
                <a:tc>
                  <a:txBody>
                    <a:bodyPr/>
                    <a:lstStyle/>
                    <a:p>
                      <a:r>
                        <a:t>Not a traditional IDE; still maturing for large enterprise workflows</a:t>
                      </a:r>
                    </a:p>
                  </a:txBody>
                  <a:tcPr/>
                </a:tc>
                <a:extLst>
                  <a:ext uri="{0D108BD9-81ED-4DB2-BD59-A6C34878D82A}">
                    <a16:rowId xmlns:a16="http://schemas.microsoft.com/office/drawing/2014/main" val="10004"/>
                  </a:ext>
                </a:extLst>
              </a:tr>
              <a:tr h="457200">
                <a:tc>
                  <a:txBody>
                    <a:bodyPr/>
                    <a:lstStyle/>
                    <a:p>
                      <a:r>
                        <a:t>Replit</a:t>
                      </a:r>
                    </a:p>
                  </a:txBody>
                  <a:tcPr/>
                </a:tc>
                <a:tc>
                  <a:txBody>
                    <a:bodyPr/>
                    <a:lstStyle/>
                    <a:p>
                      <a:r>
                        <a:t>AI-powered Ghostwriter for code generation, debugging, and explanations</a:t>
                      </a:r>
                    </a:p>
                  </a:txBody>
                  <a:tcPr/>
                </a:tc>
                <a:tc>
                  <a:txBody>
                    <a:bodyPr/>
                    <a:lstStyle/>
                    <a:p>
                      <a:r>
                        <a:t>Ghostwriter</a:t>
                      </a:r>
                    </a:p>
                  </a:txBody>
                  <a:tcPr/>
                </a:tc>
                <a:tc>
                  <a:txBody>
                    <a:bodyPr/>
                    <a:lstStyle/>
                    <a:p>
                      <a:r>
                        <a:t>Great for beginners and rapid prototyping; browser-based</a:t>
                      </a:r>
                    </a:p>
                  </a:txBody>
                  <a:tcPr/>
                </a:tc>
                <a:tc>
                  <a:txBody>
                    <a:bodyPr/>
                    <a:lstStyle/>
                    <a:p>
                      <a:r>
                        <a:t>Less powerful for large, multi-module projects</a:t>
                      </a:r>
                    </a:p>
                  </a:txBody>
                  <a:tcPr/>
                </a:tc>
                <a:extLst>
                  <a:ext uri="{0D108BD9-81ED-4DB2-BD59-A6C34878D82A}">
                    <a16:rowId xmlns:a16="http://schemas.microsoft.com/office/drawing/2014/main" val="10005"/>
                  </a:ext>
                </a:extLst>
              </a:tr>
              <a:tr h="457200">
                <a:tc>
                  <a:txBody>
                    <a:bodyPr/>
                    <a:lstStyle/>
                    <a:p>
                      <a:r>
                        <a:t>Builder.io / Builder Code Editor</a:t>
                      </a:r>
                    </a:p>
                  </a:txBody>
                  <a:tcPr/>
                </a:tc>
                <a:tc>
                  <a:txBody>
                    <a:bodyPr/>
                    <a:lstStyle/>
                    <a:p>
                      <a:r>
                        <a:t>AI-enhanced coding environment with integrated assistants</a:t>
                      </a:r>
                    </a:p>
                  </a:txBody>
                  <a:tcPr/>
                </a:tc>
                <a:tc>
                  <a:txBody>
                    <a:bodyPr/>
                    <a:lstStyle/>
                    <a:p>
                      <a:r>
                        <a:t>Multiple AI integrations depending on setup</a:t>
                      </a:r>
                    </a:p>
                  </a:txBody>
                  <a:tcPr/>
                </a:tc>
                <a:tc>
                  <a:txBody>
                    <a:bodyPr/>
                    <a:lstStyle/>
                    <a:p>
                      <a:r>
                        <a:t>Strong web-dev focus; modern AI-native UX</a:t>
                      </a:r>
                    </a:p>
                  </a:txBody>
                  <a:tcPr/>
                </a:tc>
                <a:tc>
                  <a:txBody>
                    <a:bodyPr/>
                    <a:lstStyle/>
                    <a:p>
                      <a:r>
                        <a:t>Not a general-purpose IDE</a:t>
                      </a:r>
                    </a:p>
                  </a:txBody>
                  <a:tcPr/>
                </a:tc>
                <a:extLst>
                  <a:ext uri="{0D108BD9-81ED-4DB2-BD59-A6C34878D82A}">
                    <a16:rowId xmlns:a16="http://schemas.microsoft.com/office/drawing/2014/main" val="10006"/>
                  </a:ext>
                </a:extLst>
              </a:tr>
              <a:tr h="457200">
                <a:tc>
                  <a:txBody>
                    <a:bodyPr/>
                    <a:lstStyle/>
                    <a:p>
                      <a:r>
                        <a:t>Code-B Editors</a:t>
                      </a:r>
                    </a:p>
                  </a:txBody>
                  <a:tcPr/>
                </a:tc>
                <a:tc>
                  <a:txBody>
                    <a:bodyPr/>
                    <a:lstStyle/>
                    <a:p>
                      <a:r>
                        <a:t>Predictive code generation, debugging, and review</a:t>
                      </a:r>
                    </a:p>
                  </a:txBody>
                  <a:tcPr/>
                </a:tc>
                <a:tc>
                  <a:txBody>
                    <a:bodyPr/>
                    <a:lstStyle/>
                    <a:p>
                      <a:r>
                        <a:t>Multiple AI models depending on configuration</a:t>
                      </a:r>
                    </a:p>
                  </a:txBody>
                  <a:tcPr/>
                </a:tc>
                <a:tc>
                  <a:txBody>
                    <a:bodyPr/>
                    <a:lstStyle/>
                    <a:p>
                      <a:r>
                        <a:t>Strong AI-centric workflows; optimized for speed</a:t>
                      </a:r>
                    </a:p>
                  </a:txBody>
                  <a:tcPr/>
                </a:tc>
                <a:tc>
                  <a:txBody>
                    <a:bodyPr/>
                    <a:lstStyle/>
                    <a:p>
                      <a:r>
                        <a:t>Less mainstream; smaller ecosystem</a:t>
                      </a:r>
                    </a:p>
                  </a:txBody>
                  <a:tcPr/>
                </a:tc>
                <a:extLst>
                  <a:ext uri="{0D108BD9-81ED-4DB2-BD59-A6C34878D82A}">
                    <a16:rowId xmlns:a16="http://schemas.microsoft.com/office/drawing/2014/main" val="10007"/>
                  </a:ext>
                </a:extLst>
              </a:tr>
              <a:tr h="457200">
                <a:tc>
                  <a:txBody>
                    <a:bodyPr/>
                    <a:lstStyle/>
                    <a:p>
                      <a:r>
                        <a:t>Claude Code</a:t>
                      </a:r>
                    </a:p>
                  </a:txBody>
                  <a:tcPr/>
                </a:tc>
                <a:tc>
                  <a:txBody>
                    <a:bodyPr/>
                    <a:lstStyle/>
                    <a:p>
                      <a:r>
                        <a:t>Terminal-first AI coding assistant; autonomous repo-wide reasoning</a:t>
                      </a:r>
                    </a:p>
                  </a:txBody>
                  <a:tcPr/>
                </a:tc>
                <a:tc>
                  <a:txBody>
                    <a:bodyPr/>
                    <a:lstStyle/>
                    <a:p>
                      <a:r>
                        <a:t>Latest models from Anthropic and other via configuration</a:t>
                      </a:r>
                    </a:p>
                  </a:txBody>
                  <a:tcPr/>
                </a:tc>
                <a:tc>
                  <a:txBody>
                    <a:bodyPr/>
                    <a:lstStyle/>
                    <a:p>
                      <a:r>
                        <a:t>Exceptional multi-file context handling; ideal for agentic workflows and automated patching</a:t>
                      </a:r>
                    </a:p>
                  </a:txBody>
                  <a:tcPr/>
                </a:tc>
                <a:tc>
                  <a:txBody>
                    <a:bodyPr/>
                    <a:lstStyle/>
                    <a:p>
                      <a:r>
                        <a:t>Not a GUI IDE; best suited for terminal-centric development and large codebases</a:t>
                      </a:r>
                    </a:p>
                  </a:txBody>
                  <a:tcPr/>
                </a:tc>
                <a:extLst>
                  <a:ext uri="{0D108BD9-81ED-4DB2-BD59-A6C34878D82A}">
                    <a16:rowId xmlns:a16="http://schemas.microsoft.com/office/drawing/2014/main" val="10008"/>
                  </a:ext>
                </a:extLst>
              </a:tr>
            </a:tbl>
          </a:graphicData>
        </a:graphic>
      </p:graphicFrame>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400"/>
              <a:t>Lab: Getting Started with GitHub Copilot</a:t>
            </a:r>
          </a:p>
        </p:txBody>
      </p:sp>
      <p:sp>
        <p:nvSpPr>
          <p:cNvPr id="3" name="Content Placeholder 2"/>
          <p:cNvSpPr>
            <a:spLocks noGrp="1"/>
          </p:cNvSpPr>
          <p:nvPr>
            <p:ph idx="1"/>
          </p:nvPr>
        </p:nvSpPr>
        <p:spPr/>
        <p:txBody>
          <a:bodyPr wrap="square">
            <a:noAutofit/>
          </a:bodyPr>
          <a:lstStyle/>
          <a:p>
            <a:endParaRPr sz="1400"/>
          </a:p>
          <a:p>
            <a:r>
              <a:rPr sz="1400"/>
              <a:t>Objectives</a:t>
            </a:r>
          </a:p>
          <a:p>
            <a:endParaRPr sz="1400"/>
          </a:p>
          <a:p>
            <a:r>
              <a:rPr sz="1400"/>
              <a:t>Install and configure GitHub Copilot</a:t>
            </a:r>
          </a:p>
          <a:p>
            <a:r>
              <a:rPr sz="1400"/>
              <a:t>Verify authentication with your GitHub account</a:t>
            </a:r>
          </a:p>
          <a:p>
            <a:r>
              <a:rPr sz="1400"/>
              <a:t>Explore core Copilot UI components in VS Code</a:t>
            </a:r>
          </a:p>
          <a:p>
            <a:endParaRPr sz="1400"/>
          </a:p>
          <a:p>
            <a:r>
              <a:rPr sz="1400"/>
              <a:t>Activities</a:t>
            </a:r>
          </a:p>
          <a:p>
            <a:endParaRPr sz="1400"/>
          </a:p>
          <a:p>
            <a:r>
              <a:rPr sz="1400"/>
              <a:t>1. Install the GitHub Copilot extension from the VS Code marketplace.</a:t>
            </a:r>
          </a:p>
          <a:p>
            <a:r>
              <a:rPr sz="1400"/>
              <a:t>2. Sign in with your GitHub account and verify Copilot access.</a:t>
            </a:r>
          </a:p>
          <a:p>
            <a:r>
              <a:rPr sz="1400"/>
              <a:t>3. Locate and explore:</a:t>
            </a:r>
          </a:p>
          <a:p>
            <a:r>
              <a:rPr sz="1400"/>
              <a:t>   - Chat window and chat history</a:t>
            </a:r>
          </a:p>
          <a:p>
            <a:r>
              <a:rPr sz="1400"/>
              <a:t>   - New chat button</a:t>
            </a:r>
          </a:p>
          <a:p>
            <a:r>
              <a:rPr sz="1400"/>
              <a:t>   - Quick chat feature and keyboard shortcut</a:t>
            </a:r>
          </a:p>
          <a:p>
            <a:r>
              <a:rPr sz="1400"/>
              <a:t>   - Settings menu</a:t>
            </a:r>
          </a:p>
          <a:p>
            <a:r>
              <a:rPr sz="1400"/>
              <a:t>   - Model selection dropdown</a:t>
            </a:r>
          </a:p>
          <a:p>
            <a:r>
              <a:rPr sz="1400"/>
              <a:t>4. Check your premium token usage bar.</a:t>
            </a:r>
          </a:p>
          <a:p>
            <a:r>
              <a:rPr sz="1400"/>
              <a:t>5. Create a new chat and experiment with the interface.</a:t>
            </a:r>
          </a:p>
          <a:p>
            <a:endParaRPr sz="1400"/>
          </a:p>
          <a:p>
            <a:r>
              <a:rPr sz="1400"/>
              <a:t>Success Criteria</a:t>
            </a:r>
          </a:p>
          <a:p>
            <a:endParaRPr sz="1400"/>
          </a:p>
          <a:p>
            <a:r>
              <a:rPr sz="1400"/>
              <a:t>Copilot extension is installed and authenticated</a:t>
            </a:r>
          </a:p>
          <a:p>
            <a:r>
              <a:rPr sz="1400"/>
              <a:t>You can open and close chat windows</a:t>
            </a:r>
          </a:p>
          <a:p>
            <a:r>
              <a:rPr sz="1400"/>
              <a:t>You can explain main chat versus quick chat</a:t>
            </a:r>
          </a:p>
          <a:p>
            <a:r>
              <a:rPr sz="1400"/>
              <a:t>You can find and use chat history</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250"/>
              <a:t>Lab: Understanding Context Management</a:t>
            </a:r>
          </a:p>
        </p:txBody>
      </p:sp>
      <p:sp>
        <p:nvSpPr>
          <p:cNvPr id="3" name="Content Placeholder 2"/>
          <p:cNvSpPr>
            <a:spLocks noGrp="1"/>
          </p:cNvSpPr>
          <p:nvPr>
            <p:ph idx="1"/>
          </p:nvPr>
        </p:nvSpPr>
        <p:spPr/>
        <p:txBody>
          <a:bodyPr wrap="square">
            <a:noAutofit/>
          </a:bodyPr>
          <a:lstStyle/>
          <a:p>
            <a:endParaRPr sz="1400"/>
          </a:p>
          <a:p>
            <a:r>
              <a:rPr sz="1400"/>
              <a:t>Objectives</a:t>
            </a:r>
          </a:p>
          <a:p>
            <a:endParaRPr sz="1400"/>
          </a:p>
          <a:p>
            <a:r>
              <a:rPr sz="1400"/>
              <a:t>Learn to add context using @ symbols</a:t>
            </a:r>
          </a:p>
          <a:p>
            <a:r>
              <a:rPr sz="1400"/>
              <a:t>Understand context window limitations</a:t>
            </a:r>
          </a:p>
          <a:p>
            <a:r>
              <a:rPr sz="1400"/>
              <a:t>Practice writing effective prompts</a:t>
            </a:r>
          </a:p>
          <a:p>
            <a:endParaRPr sz="1400"/>
          </a:p>
          <a:p>
            <a:r>
              <a:rPr sz="1400"/>
              <a:t>Activities</a:t>
            </a:r>
          </a:p>
          <a:p>
            <a:endParaRPr sz="1400"/>
          </a:p>
          <a:p>
            <a:r>
              <a:rPr sz="1400"/>
              <a:t>1. Basic context addition:</a:t>
            </a:r>
          </a:p>
          <a:p>
            <a:r>
              <a:rPr sz="1400"/>
              <a:t>   - Use `@workspace` to search your codebase</a:t>
            </a:r>
          </a:p>
          <a:p>
            <a:r>
              <a:rPr sz="1400"/>
              <a:t>   - Use `@file` to reference specific files</a:t>
            </a:r>
          </a:p>
          <a:p>
            <a:r>
              <a:rPr sz="1400"/>
              <a:t>   - Use `@terminal` to include command output</a:t>
            </a:r>
          </a:p>
          <a:p>
            <a:r>
              <a:rPr sz="1400"/>
              <a:t>   - Use `@vscode` for VS Code product questions</a:t>
            </a:r>
          </a:p>
          <a:p>
            <a:r>
              <a:rPr sz="1400"/>
              <a:t>2. Prompt practice:</a:t>
            </a:r>
          </a:p>
          <a:p>
            <a:r>
              <a:rPr sz="1400"/>
              <a:t>   - Write a vague prompt and observe the result</a:t>
            </a:r>
          </a:p>
          <a:p>
            <a:r>
              <a:rPr sz="1400"/>
              <a:t>   - Rewrite with specific context and compare quality</a:t>
            </a:r>
          </a:p>
          <a:p>
            <a:r>
              <a:rPr sz="1400"/>
              <a:t>   - Add file references to improve accuracy</a:t>
            </a:r>
          </a:p>
          <a:p>
            <a:r>
              <a:rPr sz="1400"/>
              <a:t>3. Context window experiment:</a:t>
            </a:r>
          </a:p>
          <a:p>
            <a:r>
              <a:rPr sz="1400"/>
              <a:t>   - Run a longer single conversation</a:t>
            </a:r>
          </a:p>
          <a:p>
            <a:r>
              <a:rPr sz="1400"/>
              <a:t>   - Observe when early context gets dropped</a:t>
            </a:r>
          </a:p>
          <a:p>
            <a:r>
              <a:rPr sz="1400"/>
              <a:t>   - Start a new chat when topic focus changes</a:t>
            </a:r>
          </a:p>
          <a:p>
            <a:endParaRPr sz="1400"/>
          </a:p>
          <a:p>
            <a:r>
              <a:rPr sz="1400"/>
              <a:t>Success Criteria</a:t>
            </a:r>
          </a:p>
          <a:p>
            <a:endParaRPr sz="1400"/>
          </a:p>
          <a:p>
            <a:r>
              <a:rPr sz="1400"/>
              <a:t>You can use all four @ context types</a:t>
            </a:r>
          </a:p>
          <a:p>
            <a:r>
              <a:rPr sz="1400"/>
              <a:t>You can identify when to start a fresh chat</a:t>
            </a:r>
          </a:p>
          <a:p>
            <a:r>
              <a:rPr sz="1400"/>
              <a:t>You can show quality improvements from specific prompts</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600"/>
              <a:t>Lab: Chat Management and Workflow</a:t>
            </a:r>
          </a:p>
        </p:txBody>
      </p:sp>
      <p:sp>
        <p:nvSpPr>
          <p:cNvPr id="3" name="Content Placeholder 2"/>
          <p:cNvSpPr>
            <a:spLocks noGrp="1"/>
          </p:cNvSpPr>
          <p:nvPr>
            <p:ph idx="1"/>
          </p:nvPr>
        </p:nvSpPr>
        <p:spPr/>
        <p:txBody>
          <a:bodyPr wrap="square">
            <a:noAutofit/>
          </a:bodyPr>
          <a:lstStyle/>
          <a:p>
            <a:endParaRPr sz="1400"/>
          </a:p>
          <a:p>
            <a:r>
              <a:rPr sz="1400"/>
              <a:t>Objectives</a:t>
            </a:r>
          </a:p>
          <a:p>
            <a:endParaRPr sz="1400"/>
          </a:p>
          <a:p>
            <a:r>
              <a:rPr sz="1400"/>
              <a:t>Organize chat sessions effectively</a:t>
            </a:r>
          </a:p>
          <a:p>
            <a:r>
              <a:rPr sz="1400"/>
              <a:t>Use chat history as a working reference</a:t>
            </a:r>
          </a:p>
          <a:p>
            <a:r>
              <a:rPr sz="1400"/>
              <a:t>Develop efficient workflow patterns with main and quick chat</a:t>
            </a:r>
          </a:p>
          <a:p>
            <a:endParaRPr sz="1400"/>
          </a:p>
          <a:p>
            <a:r>
              <a:rPr sz="1400"/>
              <a:t>Activities</a:t>
            </a:r>
          </a:p>
          <a:p>
            <a:endParaRPr sz="1400"/>
          </a:p>
          <a:p>
            <a:r>
              <a:rPr sz="1400"/>
              <a:t>1. Chat organization:</a:t>
            </a:r>
          </a:p>
          <a:p>
            <a:r>
              <a:rPr sz="1400"/>
              <a:t>   - Review current chat history</a:t>
            </a:r>
          </a:p>
          <a:p>
            <a:r>
              <a:rPr sz="1400"/>
              <a:t>   - Identify conversations that should have been separate</a:t>
            </a:r>
          </a:p>
          <a:p>
            <a:r>
              <a:rPr sz="1400"/>
              <a:t>   - Practice starting new chats at natural topic boundaries</a:t>
            </a:r>
          </a:p>
          <a:p>
            <a:r>
              <a:rPr sz="1400"/>
              <a:t>2. Context preservation:</a:t>
            </a:r>
          </a:p>
          <a:p>
            <a:r>
              <a:rPr sz="1400"/>
              <a:t>   - Run one focused feature chat</a:t>
            </a:r>
          </a:p>
          <a:p>
            <a:r>
              <a:rPr sz="1400"/>
              <a:t>   - Add only relevant context files</a:t>
            </a:r>
          </a:p>
          <a:p>
            <a:r>
              <a:rPr sz="1400"/>
              <a:t>   - Complete work without context overflow</a:t>
            </a:r>
          </a:p>
          <a:p>
            <a:r>
              <a:rPr sz="1400"/>
              <a:t>3. Quick chat practice:</a:t>
            </a:r>
          </a:p>
          <a:p>
            <a:r>
              <a:rPr sz="1400"/>
              <a:t>   - Keep main chat for primary task flow</a:t>
            </a:r>
          </a:p>
          <a:p>
            <a:r>
              <a:rPr sz="1400"/>
              <a:t>   - Use quick chat for side questions</a:t>
            </a:r>
          </a:p>
          <a:p>
            <a:r>
              <a:rPr sz="1400"/>
              <a:t>   - Return to main chat with context preserved</a:t>
            </a:r>
          </a:p>
          <a:p>
            <a:r>
              <a:rPr sz="1400"/>
              <a:t>4. Chat history review:</a:t>
            </a:r>
          </a:p>
          <a:p>
            <a:r>
              <a:rPr sz="1400"/>
              <a:t>   - Locate previous high-quality solutions</a:t>
            </a:r>
          </a:p>
          <a:p>
            <a:r>
              <a:rPr sz="1400"/>
              <a:t>   - Identify prompts that worked well</a:t>
            </a:r>
          </a:p>
          <a:p>
            <a:r>
              <a:rPr sz="1400"/>
              <a:t>   - Capture repeatable prompt patterns</a:t>
            </a:r>
          </a:p>
          <a:p>
            <a:endParaRPr sz="1400"/>
          </a:p>
          <a:p>
            <a:r>
              <a:rPr sz="1400"/>
              <a:t>Success Criteria</a:t>
            </a:r>
          </a:p>
          <a:p>
            <a:endParaRPr sz="1400"/>
          </a:p>
          <a:p>
            <a:r>
              <a:rPr sz="1400"/>
              <a:t>Chat history is organized and meaningful</a:t>
            </a:r>
          </a:p>
          <a:p>
            <a:r>
              <a:rPr sz="1400"/>
              <a:t>You can quickly find and reuse previous solutions</a:t>
            </a:r>
          </a:p>
          <a:p>
            <a:r>
              <a:rPr sz="1400"/>
              <a:t>You can use multiple chat windows without losing primary context</a:t>
            </a:r>
          </a:p>
          <a:p>
            <a:endParaRPr sz="1400"/>
          </a:p>
          <a:p>
            <a:r>
              <a:rPr sz="1400"/>
              <a:t>Context Window Management</a:t>
            </a:r>
          </a:p>
          <a:p>
            <a:endParaRPr sz="1400"/>
          </a:p>
          <a:p>
            <a:r>
              <a:rPr sz="1400"/>
              <a:t>Context is a limited resource</a:t>
            </a:r>
          </a:p>
          <a:p>
            <a:r>
              <a:rPr sz="1400"/>
              <a:t>Start a new chat when focus changes</a:t>
            </a:r>
          </a:p>
          <a:p>
            <a:r>
              <a:rPr sz="1400"/>
              <a:t>Keep conversations targeted and specific</a:t>
            </a:r>
          </a:p>
          <a:p>
            <a:r>
              <a:rPr sz="1400"/>
              <a:t>If Copilot forgets early details, reset with a fresh chat</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Lab: Exploring Copilot Modes</a:t>
            </a:r>
          </a:p>
        </p:txBody>
      </p:sp>
      <p:sp>
        <p:nvSpPr>
          <p:cNvPr id="3" name="Content Placeholder 2"/>
          <p:cNvSpPr>
            <a:spLocks noGrp="1"/>
          </p:cNvSpPr>
          <p:nvPr>
            <p:ph idx="1"/>
          </p:nvPr>
        </p:nvSpPr>
        <p:spPr/>
        <p:txBody>
          <a:bodyPr wrap="square">
            <a:noAutofit/>
          </a:bodyPr>
          <a:lstStyle/>
          <a:p>
            <a:endParaRPr sz="1400"/>
          </a:p>
          <a:p>
            <a:r>
              <a:rPr sz="1400"/>
              <a:t>Objectives</a:t>
            </a:r>
          </a:p>
          <a:p>
            <a:endParaRPr sz="1400"/>
          </a:p>
          <a:p>
            <a:r>
              <a:rPr sz="1400"/>
              <a:t>Understand differences between Ask, Edit, and Agent modes</a:t>
            </a:r>
          </a:p>
          <a:p>
            <a:r>
              <a:rPr sz="1400"/>
              <a:t>Know when to use each mode</a:t>
            </a:r>
          </a:p>
          <a:p>
            <a:r>
              <a:rPr sz="1400"/>
              <a:t>Understand premium token usage implications</a:t>
            </a:r>
          </a:p>
          <a:p>
            <a:endParaRPr sz="1400"/>
          </a:p>
          <a:p>
            <a:r>
              <a:rPr sz="1400"/>
              <a:t>Activities</a:t>
            </a:r>
          </a:p>
          <a:p>
            <a:endParaRPr sz="1400"/>
          </a:p>
          <a:p>
            <a:r>
              <a:rPr sz="1400"/>
              <a:t>1. Ask mode:</a:t>
            </a:r>
          </a:p>
          <a:p>
            <a:r>
              <a:rPr sz="1400"/>
              <a:t>   - Ask Copilot to explain a selected code snippet</a:t>
            </a:r>
          </a:p>
          <a:p>
            <a:r>
              <a:rPr sz="1400"/>
              <a:t>   - Request multiple implementation approaches</a:t>
            </a:r>
          </a:p>
          <a:p>
            <a:r>
              <a:rPr sz="1400"/>
              <a:t>   - Try different models and compare response style</a:t>
            </a:r>
          </a:p>
          <a:p>
            <a:r>
              <a:rPr sz="1400"/>
              <a:t>   - Note that Ask mode is best for exploration</a:t>
            </a:r>
          </a:p>
          <a:p>
            <a:r>
              <a:rPr sz="1400"/>
              <a:t>2. Edit mode:</a:t>
            </a:r>
          </a:p>
          <a:p>
            <a:r>
              <a:rPr sz="1400"/>
              <a:t>   - Select existing code and request a refactor</a:t>
            </a:r>
          </a:p>
          <a:p>
            <a:r>
              <a:rPr sz="1400"/>
              <a:t>   - Review inline proposed changes</a:t>
            </a:r>
          </a:p>
          <a:p>
            <a:r>
              <a:rPr sz="1400"/>
              <a:t>   - Accept or reject updates intentionally</a:t>
            </a:r>
          </a:p>
          <a:p>
            <a:r>
              <a:rPr sz="1400"/>
              <a:t>3. Agent mode:</a:t>
            </a:r>
          </a:p>
          <a:p>
            <a:r>
              <a:rPr sz="1400"/>
              <a:t>   - Create a new file and add starter content</a:t>
            </a:r>
          </a:p>
          <a:p>
            <a:r>
              <a:rPr sz="1400"/>
              <a:t>   - Request coordinated changes across multiple files</a:t>
            </a:r>
          </a:p>
          <a:p>
            <a:r>
              <a:rPr sz="1400"/>
              <a:t>   - Ask Copilot to run terminal commands</a:t>
            </a:r>
          </a:p>
          <a:p>
            <a:r>
              <a:rPr sz="1400"/>
              <a:t>   - Recheck premium token usage after actions</a:t>
            </a:r>
          </a:p>
          <a:p>
            <a:endParaRPr sz="1400"/>
          </a:p>
          <a:p>
            <a:r>
              <a:rPr sz="1400"/>
              <a:t>Success Criteria</a:t>
            </a:r>
          </a:p>
          <a:p>
            <a:endParaRPr sz="1400"/>
          </a:p>
          <a:p>
            <a:r>
              <a:rPr sz="1400"/>
              <a:t>You can choose the right mode for the task</a:t>
            </a:r>
          </a:p>
          <a:p>
            <a:r>
              <a:rPr sz="1400"/>
              <a:t>You can explain relative token usage tradeoffs</a:t>
            </a:r>
          </a:p>
          <a:p>
            <a:r>
              <a:rPr sz="1400"/>
              <a:t>You can complete a multi-file action using Agent mode</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Course Modules</a:t>
            </a:r>
          </a:p>
        </p:txBody>
      </p:sp>
      <p:sp>
        <p:nvSpPr>
          <p:cNvPr id="3" name="Content Placeholder 2"/>
          <p:cNvSpPr>
            <a:spLocks noGrp="1"/>
          </p:cNvSpPr>
          <p:nvPr>
            <p:ph idx="1"/>
          </p:nvPr>
        </p:nvSpPr>
        <p:spPr/>
        <p:txBody>
          <a:bodyPr wrap="square">
            <a:normAutofit/>
          </a:bodyPr>
          <a:lstStyle/>
          <a:p>
            <a:endParaRPr/>
          </a:p>
          <a:p>
            <a:r>
              <a:t>Intro</a:t>
            </a:r>
          </a:p>
          <a:p>
            <a:r>
              <a:t>AI Assisted Software Development</a:t>
            </a:r>
          </a:p>
          <a:p>
            <a:r>
              <a:t>Intro to Copilot</a:t>
            </a:r>
          </a:p>
          <a:p>
            <a:r>
              <a:rPr b="1"/>
              <a:t>▶ AI Assistance in Action</a:t>
            </a:r>
          </a:p>
          <a:p>
            <a:r>
              <a:t>Adding AI Guardrails</a:t>
            </a:r>
          </a:p>
          <a:p>
            <a:r>
              <a:t>Managing Context</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AI Assistance in Action</a:t>
            </a:r>
          </a:p>
        </p:txBody>
      </p:sp>
      <p:sp>
        <p:nvSpPr>
          <p:cNvPr id="3" name="Content Placeholder 2"/>
          <p:cNvSpPr>
            <a:spLocks noGrp="1"/>
          </p:cNvSpPr>
          <p:nvPr>
            <p:ph idx="1"/>
          </p:nvPr>
        </p:nvSpPr>
        <p:spPr/>
        <p:txBody>
          <a:bodyPr wrap="square">
            <a:normAutofit/>
          </a:bodyPr>
          <a:lstStyle/>
          <a:p>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AI Assistance in Action</a:t>
            </a:r>
          </a:p>
        </p:txBody>
      </p:sp>
      <p:sp>
        <p:nvSpPr>
          <p:cNvPr id="3" name="Content Placeholder 2"/>
          <p:cNvSpPr>
            <a:spLocks noGrp="1"/>
          </p:cNvSpPr>
          <p:nvPr>
            <p:ph idx="1"/>
          </p:nvPr>
        </p:nvSpPr>
        <p:spPr/>
        <p:txBody>
          <a:bodyPr wrap="square">
            <a:noAutofit/>
          </a:bodyPr>
          <a:lstStyle/>
          <a:p>
            <a:endParaRPr sz="2350"/>
          </a:p>
          <a:p>
            <a:r>
              <a:rPr sz="2350"/>
              <a:t>Collaborating on a Solution</a:t>
            </a:r>
          </a:p>
          <a:p>
            <a:r>
              <a:rPr sz="2350"/>
              <a:t>Exercise: Calculator Project - Setup and Basic Implementation</a:t>
            </a:r>
          </a:p>
          <a:p>
            <a:r>
              <a:rPr sz="2350"/>
              <a:t>Exercise: Test Coverage Improvement</a:t>
            </a:r>
          </a:p>
          <a:p>
            <a:r>
              <a:rPr sz="2350"/>
              <a:t>Exercise: Lab 3 - Test-Driven Development (TDD) with Copilot</a:t>
            </a:r>
          </a:p>
          <a:p>
            <a:r>
              <a:rPr sz="2350"/>
              <a:t>AI-Assisted CI/CD Pipelines</a:t>
            </a:r>
          </a:p>
          <a:p>
            <a:r>
              <a:rPr sz="2350"/>
              <a:t>AI-Assisted GitHub Pull Requests</a:t>
            </a:r>
          </a:p>
          <a:p>
            <a:r>
              <a:rPr sz="2350"/>
              <a:t>Multi-Model Implementation Comparison</a:t>
            </a:r>
          </a:p>
          <a:p>
            <a:r>
              <a:rPr sz="2350"/>
              <a:t>Evergreen Software Development - Core Principles</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Collaborating on a Solution</a:t>
            </a:r>
          </a:p>
        </p:txBody>
      </p:sp>
      <p:sp>
        <p:nvSpPr>
          <p:cNvPr id="3" name="Content Placeholder 2"/>
          <p:cNvSpPr>
            <a:spLocks noGrp="1"/>
          </p:cNvSpPr>
          <p:nvPr>
            <p:ph idx="1"/>
          </p:nvPr>
        </p:nvSpPr>
        <p:spPr/>
        <p:txBody>
          <a:bodyPr wrap="square">
            <a:noAutofit/>
          </a:bodyPr>
          <a:lstStyle/>
          <a:p>
            <a:endParaRPr sz="1400"/>
          </a:p>
          <a:p>
            <a:r>
              <a:rPr sz="1400"/>
              <a:t>Project Setup</a:t>
            </a:r>
          </a:p>
          <a:p>
            <a:r>
              <a:rPr sz="1400"/>
              <a:t>Adding Features</a:t>
            </a:r>
          </a:p>
          <a:p>
            <a:endParaRPr sz="1400"/>
          </a:p>
          <a:p>
            <a:r>
              <a:rPr sz="1400"/>
              <a:t>Basic Arithmetic - Addition, subtraction, multiplication, division</a:t>
            </a:r>
          </a:p>
          <a:p>
            <a:r>
              <a:rPr sz="1400"/>
              <a:t>Clear / Reset Function - Quickly resets the current input or entire calculation</a:t>
            </a:r>
          </a:p>
          <a:p>
            <a:r>
              <a:rPr sz="1400"/>
              <a:t>Decimal Support - Allows entry and computation with decimal numbers</a:t>
            </a:r>
          </a:p>
          <a:p>
            <a:r>
              <a:rPr sz="1400"/>
              <a:t>Sign Toggle (+/–) - Switches values between positive and negative</a:t>
            </a:r>
          </a:p>
          <a:p>
            <a:r>
              <a:rPr sz="1400"/>
              <a:t>Percentage Function - Converts values to percentages for quick calculations</a:t>
            </a:r>
          </a:p>
          <a:p>
            <a:r>
              <a:rPr sz="1400"/>
              <a:t>Memory Functions (M+, M–, MR, MC) - Store, recall, add to, or clear memory values</a:t>
            </a:r>
          </a:p>
          <a:p>
            <a:r>
              <a:rPr sz="1400"/>
              <a:t>Error Handling - Displays errors such as division by zero</a:t>
            </a:r>
          </a:p>
          <a:p>
            <a:r>
              <a:rPr sz="1400"/>
              <a:t>Simple, Intuitive Interface - Numeric keypad, operation buttons, and display screen</a:t>
            </a:r>
          </a:p>
          <a:p>
            <a:r>
              <a:rPr sz="1400"/>
              <a:t>  Test Automation</a:t>
            </a:r>
          </a:p>
          <a:p>
            <a:r>
              <a:rPr sz="1400"/>
              <a:t>Code Coverage</a:t>
            </a:r>
          </a:p>
          <a:p>
            <a:r>
              <a:rPr sz="1400"/>
              <a:t>  Dependency Management</a:t>
            </a:r>
          </a:p>
          <a:p>
            <a:r>
              <a:rPr sz="1400"/>
              <a:t>  Comparing Implementations</a:t>
            </a:r>
          </a:p>
          <a:p>
            <a:r>
              <a:rPr sz="1400"/>
              <a:t>  Chat Management</a:t>
            </a:r>
          </a:p>
          <a:p>
            <a:r>
              <a:rPr sz="1400"/>
              <a:t>  Intro to Evergreen Software Development</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2200"/>
              <a:t>Exercise: Calculator Project - Setup and Basic Implementation</a:t>
            </a:r>
          </a:p>
        </p:txBody>
      </p:sp>
      <p:sp>
        <p:nvSpPr>
          <p:cNvPr id="3" name="Content Placeholder 2"/>
          <p:cNvSpPr>
            <a:spLocks noGrp="1"/>
          </p:cNvSpPr>
          <p:nvPr>
            <p:ph idx="1"/>
          </p:nvPr>
        </p:nvSpPr>
        <p:spPr/>
        <p:txBody>
          <a:bodyPr wrap="square">
            <a:noAutofit/>
          </a:bodyPr>
          <a:lstStyle/>
          <a:p>
            <a:endParaRPr sz="1400"/>
          </a:p>
          <a:p>
            <a:r>
              <a:rPr sz="1400"/>
              <a:t>Objectives</a:t>
            </a:r>
          </a:p>
          <a:p>
            <a:endParaRPr sz="1400"/>
          </a:p>
          <a:p>
            <a:r>
              <a:rPr sz="1400"/>
              <a:t>Use AI to generate starter code for arithmetic operations</a:t>
            </a:r>
          </a:p>
          <a:p>
            <a:r>
              <a:rPr sz="1400"/>
              <a:t>Understand how to validate AI-generated logic</a:t>
            </a:r>
          </a:p>
          <a:p>
            <a:r>
              <a:rPr sz="1400"/>
              <a:t>Integrate addition, subtraction, multiplication, and division functions</a:t>
            </a:r>
          </a:p>
          <a:p>
            <a:endParaRPr sz="1400"/>
          </a:p>
          <a:p>
            <a:r>
              <a:rPr sz="1400"/>
              <a:t>Activities</a:t>
            </a:r>
          </a:p>
          <a:p>
            <a:endParaRPr sz="1400"/>
          </a:p>
          <a:p>
            <a:r>
              <a:rPr sz="1400"/>
              <a:t>1. Project Initialization:</a:t>
            </a:r>
          </a:p>
          <a:p>
            <a:endParaRPr sz="1400"/>
          </a:p>
          <a:p>
            <a:r>
              <a:rPr sz="1400"/>
              <a:t>Prompt AI to create a new project</a:t>
            </a:r>
          </a:p>
          <a:p>
            <a:r>
              <a:rPr sz="1400"/>
              <a:t>Review generated project structure</a:t>
            </a:r>
          </a:p>
          <a:p>
            <a:r>
              <a:rPr sz="1400"/>
              <a:t>Verify build configuration</a:t>
            </a:r>
          </a:p>
          <a:p>
            <a:endParaRPr sz="1400"/>
          </a:p>
          <a:p>
            <a:r>
              <a:rPr sz="1400"/>
              <a:t>2. Implement Basic Operations:</a:t>
            </a:r>
          </a:p>
          <a:p>
            <a:endParaRPr sz="1400"/>
          </a:p>
          <a:p>
            <a:r>
              <a:rPr sz="1400"/>
              <a:t>Prompt AI to add methods for addition, subtraction, multiplication, and division</a:t>
            </a:r>
          </a:p>
          <a:p>
            <a:endParaRPr sz="1400"/>
          </a:p>
          <a:p>
            <a:r>
              <a:rPr sz="1400"/>
              <a:t>3. Review the Code:</a:t>
            </a:r>
          </a:p>
          <a:p>
            <a:endParaRPr sz="1400"/>
          </a:p>
          <a:p>
            <a:r>
              <a:rPr sz="1400"/>
              <a:t>Check correctness and edge cases</a:t>
            </a:r>
          </a:p>
          <a:p>
            <a:endParaRPr sz="1400"/>
          </a:p>
          <a:p>
            <a:r>
              <a:rPr sz="1400"/>
              <a:t>4. Build and Run:</a:t>
            </a:r>
          </a:p>
          <a:p>
            <a:endParaRPr sz="1400"/>
          </a:p>
          <a:p>
            <a:r>
              <a:rPr sz="1400"/>
              <a:t>Use Copilot to help with build commands</a:t>
            </a:r>
          </a:p>
          <a:p>
            <a:r>
              <a:rPr sz="1400"/>
              <a:t>Troubleshoot compilation errors with Copilot</a:t>
            </a:r>
          </a:p>
          <a:p>
            <a:r>
              <a:rPr sz="1400"/>
              <a:t>Run the application</a:t>
            </a:r>
          </a:p>
          <a:p>
            <a:endParaRPr sz="1400"/>
          </a:p>
          <a:p>
            <a:r>
              <a:rPr sz="1400"/>
              <a:t>Success Criteria</a:t>
            </a:r>
          </a:p>
          <a:p>
            <a:endParaRPr sz="1400"/>
          </a:p>
          <a:p>
            <a:r>
              <a:rPr sz="1400"/>
              <a:t>Working calculator with 4 basic operations</a:t>
            </a:r>
          </a:p>
          <a:p>
            <a:r>
              <a:rPr sz="1400"/>
              <a:t>Application compiles and runs successfully</a:t>
            </a:r>
          </a:p>
          <a:p>
            <a:r>
              <a:rPr sz="1400"/>
              <a:t>Generated code is critically reviewed</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250"/>
              <a:t>Exercise: Calculator Project - Clear / Reset</a:t>
            </a:r>
          </a:p>
        </p:txBody>
      </p:sp>
      <p:sp>
        <p:nvSpPr>
          <p:cNvPr id="3" name="Content Placeholder 2"/>
          <p:cNvSpPr>
            <a:spLocks noGrp="1"/>
          </p:cNvSpPr>
          <p:nvPr>
            <p:ph idx="1"/>
          </p:nvPr>
        </p:nvSpPr>
        <p:spPr/>
        <p:txBody>
          <a:bodyPr wrap="square">
            <a:noAutofit/>
          </a:bodyPr>
          <a:lstStyle/>
          <a:p>
            <a:endParaRPr sz="1400"/>
          </a:p>
          <a:p>
            <a:r>
              <a:rPr sz="1400"/>
              <a:t>Objectives</a:t>
            </a:r>
          </a:p>
          <a:p>
            <a:endParaRPr sz="1400"/>
          </a:p>
          <a:p>
            <a:r>
              <a:rPr sz="1400"/>
              <a:t>Use AI to scaffold state-management logic</a:t>
            </a:r>
          </a:p>
          <a:p>
            <a:r>
              <a:rPr sz="1400"/>
              <a:t>Implement CE (clear entry) and C (clear all) behaviors</a:t>
            </a:r>
          </a:p>
          <a:p>
            <a:r>
              <a:rPr sz="1400"/>
              <a:t>Understand UI state transitions</a:t>
            </a:r>
          </a:p>
          <a:p>
            <a:endParaRPr sz="1400"/>
          </a:p>
          <a:p>
            <a:r>
              <a:rPr sz="1400"/>
              <a:t>Activities</a:t>
            </a:r>
          </a:p>
          <a:p>
            <a:endParaRPr sz="1400"/>
          </a:p>
          <a:p>
            <a:r>
              <a:rPr sz="1400"/>
              <a:t>1. Ask AI to outline the difference between CE and C</a:t>
            </a:r>
          </a:p>
          <a:p>
            <a:r>
              <a:rPr sz="1400"/>
              <a:t>2. Generate code for clearing current input vs full state</a:t>
            </a:r>
          </a:p>
          <a:p>
            <a:r>
              <a:rPr sz="1400"/>
              <a:t>3. Integrate logic into calculator state object</a:t>
            </a:r>
          </a:p>
          <a:p>
            <a:r>
              <a:rPr sz="1400"/>
              <a:t>4. Test transitions with sample input sequences</a:t>
            </a:r>
          </a:p>
          <a:p>
            <a:endParaRPr sz="1400"/>
          </a:p>
          <a:p>
            <a:r>
              <a:rPr sz="1400"/>
              <a:t>Success Criteria</a:t>
            </a:r>
          </a:p>
          <a:p>
            <a:endParaRPr sz="1400"/>
          </a:p>
          <a:p>
            <a:r>
              <a:rPr sz="1400"/>
              <a:t>CE clears only the active entry</a:t>
            </a:r>
          </a:p>
          <a:p>
            <a:r>
              <a:rPr sz="1400"/>
              <a:t>C resets the entire calculator state</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150"/>
              <a:t>Exercise: Calculator Project - Decimal Input</a:t>
            </a:r>
          </a:p>
        </p:txBody>
      </p:sp>
      <p:sp>
        <p:nvSpPr>
          <p:cNvPr id="3" name="Content Placeholder 2"/>
          <p:cNvSpPr>
            <a:spLocks noGrp="1"/>
          </p:cNvSpPr>
          <p:nvPr>
            <p:ph idx="1"/>
          </p:nvPr>
        </p:nvSpPr>
        <p:spPr/>
        <p:txBody>
          <a:bodyPr wrap="square">
            <a:noAutofit/>
          </a:bodyPr>
          <a:lstStyle/>
          <a:p>
            <a:endParaRPr sz="1400"/>
          </a:p>
          <a:p>
            <a:r>
              <a:rPr sz="1400"/>
              <a:t>Objectives</a:t>
            </a:r>
          </a:p>
          <a:p>
            <a:endParaRPr sz="1400"/>
          </a:p>
          <a:p>
            <a:r>
              <a:rPr sz="1400"/>
              <a:t>Use AI to generate input-validation logic</a:t>
            </a:r>
          </a:p>
          <a:p>
            <a:r>
              <a:rPr sz="1400"/>
              <a:t>Prevent multiple decimal points</a:t>
            </a:r>
          </a:p>
          <a:p>
            <a:r>
              <a:rPr sz="1400"/>
              <a:t>Ensure decimals flow through arithmetic operations</a:t>
            </a:r>
          </a:p>
          <a:p>
            <a:endParaRPr sz="1400"/>
          </a:p>
          <a:p>
            <a:r>
              <a:rPr sz="1400"/>
              <a:t>Activities</a:t>
            </a:r>
          </a:p>
          <a:p>
            <a:endParaRPr sz="1400"/>
          </a:p>
          <a:p>
            <a:r>
              <a:rPr sz="1400"/>
              <a:t>1. Ask AI for a decimal input strategy</a:t>
            </a:r>
          </a:p>
          <a:p>
            <a:r>
              <a:rPr sz="1400"/>
              <a:t>2. Generate code to block duplicate decimals in one number</a:t>
            </a:r>
          </a:p>
          <a:p>
            <a:r>
              <a:rPr sz="1400"/>
              <a:t>3. Integrate decimal support into input parser</a:t>
            </a:r>
          </a:p>
          <a:p>
            <a:r>
              <a:rPr sz="1400"/>
              <a:t>4. Test decimal operations with AI-generated test cases</a:t>
            </a:r>
          </a:p>
          <a:p>
            <a:endParaRPr sz="1400"/>
          </a:p>
          <a:p>
            <a:r>
              <a:rPr sz="1400"/>
              <a:t>Success Criteria</a:t>
            </a:r>
          </a:p>
          <a:p>
            <a:endParaRPr sz="1400"/>
          </a:p>
          <a:p>
            <a:r>
              <a:rPr sz="1400"/>
              <a:t>Decimal input works without duplication errors</a:t>
            </a:r>
          </a:p>
          <a:p>
            <a:r>
              <a:rPr sz="1400"/>
              <a:t>Arithmetic with decimals is correct</a:t>
            </a:r>
          </a:p>
          <a:p>
            <a:r>
              <a:rPr sz="1400"/>
              <a:t>Validation logic is explainable</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000"/>
              <a:t>Exercise: Calculator Project - Sign Toggle (+/-)</a:t>
            </a:r>
          </a:p>
        </p:txBody>
      </p:sp>
      <p:sp>
        <p:nvSpPr>
          <p:cNvPr id="3" name="Content Placeholder 2"/>
          <p:cNvSpPr>
            <a:spLocks noGrp="1"/>
          </p:cNvSpPr>
          <p:nvPr>
            <p:ph idx="1"/>
          </p:nvPr>
        </p:nvSpPr>
        <p:spPr/>
        <p:txBody>
          <a:bodyPr wrap="square">
            <a:noAutofit/>
          </a:bodyPr>
          <a:lstStyle/>
          <a:p>
            <a:endParaRPr sz="1400"/>
          </a:p>
          <a:p>
            <a:r>
              <a:rPr sz="1400"/>
              <a:t>Objectives</a:t>
            </a:r>
          </a:p>
          <a:p>
            <a:endParaRPr sz="1400"/>
          </a:p>
          <a:p>
            <a:r>
              <a:rPr sz="1400"/>
              <a:t>Use AI to generate sign-toggle logic</a:t>
            </a:r>
          </a:p>
          <a:p>
            <a:r>
              <a:rPr sz="1400"/>
              <a:t>Understand effect on active input and stored value</a:t>
            </a:r>
          </a:p>
          <a:p>
            <a:endParaRPr sz="1400"/>
          </a:p>
          <a:p>
            <a:r>
              <a:rPr sz="1400"/>
              <a:t>Activities</a:t>
            </a:r>
          </a:p>
          <a:p>
            <a:endParaRPr sz="1400"/>
          </a:p>
          <a:p>
            <a:r>
              <a:rPr sz="1400"/>
              <a:t>1. Ask AI to generate toggle-sign function for active value</a:t>
            </a:r>
          </a:p>
          <a:p>
            <a:r>
              <a:rPr sz="1400"/>
              <a:t>2. Integrate into input workflow</a:t>
            </a:r>
          </a:p>
          <a:p>
            <a:r>
              <a:rPr sz="1400"/>
              <a:t>3. Test before and after digit entry</a:t>
            </a:r>
          </a:p>
          <a:p>
            <a:endParaRPr sz="1400"/>
          </a:p>
          <a:p>
            <a:r>
              <a:rPr sz="1400"/>
              <a:t>Success Criteria</a:t>
            </a:r>
          </a:p>
          <a:p>
            <a:endParaRPr sz="1400"/>
          </a:p>
          <a:p>
            <a:r>
              <a:rPr sz="1400"/>
              <a:t>Sign toggle works for integers and decimals</a:t>
            </a:r>
          </a:p>
          <a:p>
            <a:r>
              <a:rPr sz="1400"/>
              <a:t>Learner can explain stored vs active value impact</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400"/>
              <a:t>Exercise: Calculator Project - Percentage</a:t>
            </a:r>
          </a:p>
        </p:txBody>
      </p:sp>
      <p:sp>
        <p:nvSpPr>
          <p:cNvPr id="3" name="Content Placeholder 2"/>
          <p:cNvSpPr>
            <a:spLocks noGrp="1"/>
          </p:cNvSpPr>
          <p:nvPr>
            <p:ph idx="1"/>
          </p:nvPr>
        </p:nvSpPr>
        <p:spPr/>
        <p:txBody>
          <a:bodyPr wrap="square">
            <a:noAutofit/>
          </a:bodyPr>
          <a:lstStyle/>
          <a:p>
            <a:endParaRPr sz="1400"/>
          </a:p>
          <a:p>
            <a:r>
              <a:rPr sz="1400"/>
              <a:t>Objectives</a:t>
            </a:r>
          </a:p>
          <a:p>
            <a:endParaRPr sz="1400"/>
          </a:p>
          <a:p>
            <a:r>
              <a:rPr sz="1400"/>
              <a:t>Use AI to clarify percentage interpretation rules</a:t>
            </a:r>
          </a:p>
          <a:p>
            <a:r>
              <a:rPr sz="1400"/>
              <a:t>Implement percentage logic for common patterns</a:t>
            </a:r>
          </a:p>
          <a:p>
            <a:r>
              <a:rPr sz="1400"/>
              <a:t>Validate behavior with AI-generated examples</a:t>
            </a:r>
          </a:p>
          <a:p>
            <a:endParaRPr sz="1400"/>
          </a:p>
          <a:p>
            <a:r>
              <a:rPr sz="1400"/>
              <a:t>Activities</a:t>
            </a:r>
          </a:p>
          <a:p>
            <a:endParaRPr sz="1400"/>
          </a:p>
          <a:p>
            <a:r>
              <a:rPr sz="1400"/>
              <a:t>1. Ask AI how percentage should behave in a standard calculator</a:t>
            </a:r>
          </a:p>
          <a:p>
            <a:r>
              <a:rPr sz="1400"/>
              <a:t>2. Generate code for:</a:t>
            </a:r>
          </a:p>
          <a:p>
            <a:endParaRPr sz="1400"/>
          </a:p>
          <a:p>
            <a:r>
              <a:rPr sz="1400"/>
              <a:t>X x Y%</a:t>
            </a:r>
          </a:p>
          <a:p>
            <a:r>
              <a:rPr sz="1400"/>
              <a:t>Y + X%</a:t>
            </a:r>
          </a:p>
          <a:p>
            <a:r>
              <a:rPr sz="1400"/>
              <a:t>Y - X%</a:t>
            </a:r>
          </a:p>
          <a:p>
            <a:endParaRPr sz="1400"/>
          </a:p>
          <a:p>
            <a:r>
              <a:rPr sz="1400"/>
              <a:t>3. Test each pattern with AI-generated values</a:t>
            </a:r>
          </a:p>
          <a:p>
            <a:endParaRPr sz="1400"/>
          </a:p>
          <a:p>
            <a:r>
              <a:rPr sz="1400"/>
              <a:t>Success Criteria</a:t>
            </a:r>
          </a:p>
          <a:p>
            <a:endParaRPr sz="1400"/>
          </a:p>
          <a:p>
            <a:r>
              <a:rPr sz="1400"/>
              <a:t>Percentage operations match standard calculator behavior</a:t>
            </a:r>
          </a:p>
          <a:p>
            <a:r>
              <a:rPr sz="1400"/>
              <a:t>Learner can articulate percentage interpretation rules</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2200"/>
              <a:t>Exercise: Calculator Project - Memory Functions (M+, M-, MR, MC)</a:t>
            </a:r>
          </a:p>
        </p:txBody>
      </p:sp>
      <p:sp>
        <p:nvSpPr>
          <p:cNvPr id="3" name="Content Placeholder 2"/>
          <p:cNvSpPr>
            <a:spLocks noGrp="1"/>
          </p:cNvSpPr>
          <p:nvPr>
            <p:ph idx="1"/>
          </p:nvPr>
        </p:nvSpPr>
        <p:spPr/>
        <p:txBody>
          <a:bodyPr wrap="square">
            <a:noAutofit/>
          </a:bodyPr>
          <a:lstStyle/>
          <a:p>
            <a:endParaRPr sz="1400"/>
          </a:p>
          <a:p>
            <a:r>
              <a:rPr sz="1400"/>
              <a:t>Objectives</a:t>
            </a:r>
          </a:p>
          <a:p>
            <a:endParaRPr sz="1400"/>
          </a:p>
          <a:p>
            <a:r>
              <a:rPr sz="1400"/>
              <a:t>Use AI to design memory subsystem</a:t>
            </a:r>
          </a:p>
          <a:p>
            <a:r>
              <a:rPr sz="1400"/>
              <a:t>Implement memory add, subtract, recall, and clear</a:t>
            </a:r>
          </a:p>
          <a:p>
            <a:r>
              <a:rPr sz="1400"/>
              <a:t>Validate memory across multiple operations</a:t>
            </a:r>
          </a:p>
          <a:p>
            <a:endParaRPr sz="1400"/>
          </a:p>
          <a:p>
            <a:r>
              <a:rPr sz="1400"/>
              <a:t>Activities</a:t>
            </a:r>
          </a:p>
          <a:p>
            <a:endParaRPr sz="1400"/>
          </a:p>
          <a:p>
            <a:r>
              <a:rPr sz="1400"/>
              <a:t>1. Ask AI for memory-state structure</a:t>
            </a:r>
          </a:p>
          <a:p>
            <a:r>
              <a:rPr sz="1400"/>
              <a:t>2. Generate functions for M+, M-, MR, MC</a:t>
            </a:r>
          </a:p>
          <a:p>
            <a:r>
              <a:rPr sz="1400"/>
              <a:t>3. Integrate memory operations into calculator flow</a:t>
            </a:r>
          </a:p>
          <a:p>
            <a:r>
              <a:rPr sz="1400"/>
              <a:t>4. Test memory persistence over sequences</a:t>
            </a:r>
          </a:p>
          <a:p>
            <a:endParaRPr sz="1400"/>
          </a:p>
          <a:p>
            <a:r>
              <a:rPr sz="1400"/>
              <a:t>Success Criteria</a:t>
            </a:r>
          </a:p>
          <a:p>
            <a:endParaRPr sz="1400"/>
          </a:p>
          <a:p>
            <a:r>
              <a:rPr sz="1400"/>
              <a:t>Memory functions behave as expected</a:t>
            </a:r>
          </a:p>
          <a:p>
            <a:r>
              <a:rPr sz="1400"/>
              <a:t>Learner can explain memory state updates</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150"/>
              <a:t>Exercise: Calculator Project - Error Handling</a:t>
            </a:r>
          </a:p>
        </p:txBody>
      </p:sp>
      <p:sp>
        <p:nvSpPr>
          <p:cNvPr id="3" name="Content Placeholder 2"/>
          <p:cNvSpPr>
            <a:spLocks noGrp="1"/>
          </p:cNvSpPr>
          <p:nvPr>
            <p:ph idx="1"/>
          </p:nvPr>
        </p:nvSpPr>
        <p:spPr/>
        <p:txBody>
          <a:bodyPr wrap="square">
            <a:noAutofit/>
          </a:bodyPr>
          <a:lstStyle/>
          <a:p>
            <a:endParaRPr sz="1400"/>
          </a:p>
          <a:p>
            <a:r>
              <a:rPr sz="1400"/>
              <a:t>Objectives</a:t>
            </a:r>
          </a:p>
          <a:p>
            <a:endParaRPr sz="1400"/>
          </a:p>
          <a:p>
            <a:r>
              <a:rPr sz="1400"/>
              <a:t>Use AI to identify common error conditions</a:t>
            </a:r>
          </a:p>
          <a:p>
            <a:r>
              <a:rPr sz="1400"/>
              <a:t>Implement error messages and recovery logic</a:t>
            </a:r>
          </a:p>
          <a:p>
            <a:r>
              <a:rPr sz="1400"/>
              <a:t>Ensure graceful reset after errors</a:t>
            </a:r>
          </a:p>
          <a:p>
            <a:endParaRPr sz="1400"/>
          </a:p>
          <a:p>
            <a:r>
              <a:rPr sz="1400"/>
              <a:t>Activities</a:t>
            </a:r>
          </a:p>
          <a:p>
            <a:endParaRPr sz="1400"/>
          </a:p>
          <a:p>
            <a:r>
              <a:rPr sz="1400"/>
              <a:t>1. Ask AI to list calculator errors (for example divide by zero)</a:t>
            </a:r>
          </a:p>
          <a:p>
            <a:r>
              <a:rPr sz="1400"/>
              <a:t>2. Generate error detection and display logic</a:t>
            </a:r>
          </a:p>
          <a:p>
            <a:r>
              <a:rPr sz="1400"/>
              <a:t>3. Implement reset path after an error</a:t>
            </a:r>
          </a:p>
          <a:p>
            <a:r>
              <a:rPr sz="1400"/>
              <a:t>4. Test error scenarios with AI-generated tests</a:t>
            </a:r>
          </a:p>
          <a:p>
            <a:endParaRPr sz="1400"/>
          </a:p>
          <a:p>
            <a:r>
              <a:rPr sz="1400"/>
              <a:t>Success Criteria</a:t>
            </a:r>
          </a:p>
          <a:p>
            <a:endParaRPr sz="1400"/>
          </a:p>
          <a:p>
            <a:r>
              <a:rPr sz="1400"/>
              <a:t>Errors are detected and displayed correctly</a:t>
            </a:r>
          </a:p>
          <a:p>
            <a:r>
              <a:rPr sz="1400"/>
              <a:t>Calculator recovers cleanly</a:t>
            </a:r>
          </a:p>
          <a:p>
            <a:r>
              <a:rPr sz="1400"/>
              <a:t>Learner can explain error-handling flow</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2350"/>
              <a:t>Exercise: Calculator Project - Add Trigonometric Functions</a:t>
            </a:r>
          </a:p>
        </p:txBody>
      </p:sp>
      <p:sp>
        <p:nvSpPr>
          <p:cNvPr id="3" name="Content Placeholder 2"/>
          <p:cNvSpPr>
            <a:spLocks noGrp="1"/>
          </p:cNvSpPr>
          <p:nvPr>
            <p:ph idx="1"/>
          </p:nvPr>
        </p:nvSpPr>
        <p:spPr/>
        <p:txBody>
          <a:bodyPr wrap="square">
            <a:noAutofit/>
          </a:bodyPr>
          <a:lstStyle/>
          <a:p>
            <a:endParaRPr sz="1400"/>
          </a:p>
          <a:p>
            <a:r>
              <a:rPr sz="1400"/>
              <a:t>Objectives</a:t>
            </a:r>
          </a:p>
          <a:p>
            <a:endParaRPr sz="1400"/>
          </a:p>
          <a:p>
            <a:r>
              <a:rPr sz="1400"/>
              <a:t>Integrate trigonometric operations</a:t>
            </a:r>
          </a:p>
          <a:p>
            <a:r>
              <a:rPr sz="1400"/>
              <a:t>Use AI for math wrappers and parsing logic</a:t>
            </a:r>
          </a:p>
          <a:p>
            <a:r>
              <a:rPr sz="1400"/>
              <a:t>Handle degrees vs radians correctly</a:t>
            </a:r>
          </a:p>
          <a:p>
            <a:endParaRPr sz="1400"/>
          </a:p>
          <a:p>
            <a:r>
              <a:rPr sz="1400"/>
              <a:t>Activities</a:t>
            </a:r>
          </a:p>
          <a:p>
            <a:endParaRPr sz="1400"/>
          </a:p>
          <a:p>
            <a:r>
              <a:rPr sz="1400"/>
              <a:t>1. Ask AI to generate sin, cos, tan functions using language math library</a:t>
            </a:r>
          </a:p>
          <a:p>
            <a:r>
              <a:rPr sz="1400"/>
              <a:t>2. Ask AI for degree/radian mode strategy</a:t>
            </a:r>
          </a:p>
          <a:p>
            <a:r>
              <a:rPr sz="1400"/>
              <a:t>3. Implement UI bindings or command triggers</a:t>
            </a:r>
          </a:p>
          <a:p>
            <a:r>
              <a:rPr sz="1400"/>
              <a:t>4. Generate sample input/output table with AI and validate</a:t>
            </a:r>
          </a:p>
          <a:p>
            <a:endParaRPr sz="1400"/>
          </a:p>
          <a:p>
            <a:r>
              <a:rPr sz="1400"/>
              <a:t>Success Criteria</a:t>
            </a:r>
          </a:p>
          <a:p>
            <a:endParaRPr sz="1400"/>
          </a:p>
          <a:p>
            <a:r>
              <a:rPr sz="1400"/>
              <a:t>Trig results are correct for selected angle mode</a:t>
            </a:r>
          </a:p>
          <a:p>
            <a:r>
              <a:rPr sz="1400"/>
              <a:t>Degree/radian switching works consistently</a:t>
            </a:r>
          </a:p>
          <a:p>
            <a:r>
              <a:rPr sz="1400"/>
              <a:t>UI or commands correctly call trig functions</a:t>
            </a:r>
          </a:p>
          <a:p>
            <a:r>
              <a:rPr sz="1400"/>
              <a:t>Learner can explain validation and refinement steps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Exercise: Calculator Project - UI</a:t>
            </a:r>
          </a:p>
        </p:txBody>
      </p:sp>
      <p:sp>
        <p:nvSpPr>
          <p:cNvPr id="3" name="Content Placeholder 2"/>
          <p:cNvSpPr>
            <a:spLocks noGrp="1"/>
          </p:cNvSpPr>
          <p:nvPr>
            <p:ph idx="1"/>
          </p:nvPr>
        </p:nvSpPr>
        <p:spPr/>
        <p:txBody>
          <a:bodyPr wrap="square">
            <a:noAutofit/>
          </a:bodyPr>
          <a:lstStyle/>
          <a:p>
            <a:endParaRPr sz="1400"/>
          </a:p>
          <a:p>
            <a:r>
              <a:rPr sz="1400"/>
              <a:t>Objectives</a:t>
            </a:r>
          </a:p>
          <a:p>
            <a:endParaRPr sz="1400"/>
          </a:p>
          <a:p>
            <a:r>
              <a:rPr sz="1400"/>
              <a:t>Use AI to scaffold UI event handlers</a:t>
            </a:r>
          </a:p>
          <a:p>
            <a:r>
              <a:rPr sz="1400"/>
              <a:t>Connect UI controls to logic functions</a:t>
            </a:r>
          </a:p>
          <a:p>
            <a:r>
              <a:rPr sz="1400"/>
              <a:t>Validate end-to-end workflow</a:t>
            </a:r>
          </a:p>
          <a:p>
            <a:endParaRPr sz="1400"/>
          </a:p>
          <a:p>
            <a:r>
              <a:rPr sz="1400"/>
              <a:t>Activities</a:t>
            </a:r>
          </a:p>
          <a:p>
            <a:endParaRPr sz="1400"/>
          </a:p>
          <a:p>
            <a:r>
              <a:rPr sz="1400"/>
              <a:t>1. Ask AI to generate event-binding code for numeric/operator controls</a:t>
            </a:r>
          </a:p>
          <a:p>
            <a:r>
              <a:rPr sz="1400"/>
              <a:t>2. Integrate logic functions from prior exercises</a:t>
            </a:r>
          </a:p>
          <a:p>
            <a:r>
              <a:rPr sz="1400"/>
              <a:t>3. Test full workflow:</a:t>
            </a:r>
          </a:p>
          <a:p>
            <a:endParaRPr sz="1400"/>
          </a:p>
          <a:p>
            <a:r>
              <a:rPr sz="1400"/>
              <a:t>Enter decimal</a:t>
            </a:r>
          </a:p>
          <a:p>
            <a:r>
              <a:rPr sz="1400"/>
              <a:t>Toggle sign</a:t>
            </a:r>
          </a:p>
          <a:p>
            <a:r>
              <a:rPr sz="1400"/>
              <a:t>Apply percentage</a:t>
            </a:r>
          </a:p>
          <a:p>
            <a:r>
              <a:rPr sz="1400"/>
              <a:t>Store result in memory</a:t>
            </a:r>
          </a:p>
          <a:p>
            <a:endParaRPr sz="1400"/>
          </a:p>
          <a:p>
            <a:r>
              <a:rPr sz="1400"/>
              <a:t>Success Criteria</a:t>
            </a:r>
          </a:p>
          <a:p>
            <a:endParaRPr sz="1400"/>
          </a:p>
          <a:p>
            <a:r>
              <a:rPr sz="1400"/>
              <a:t>UI triggers all calculator functions correctly</a:t>
            </a:r>
          </a:p>
          <a:p>
            <a:r>
              <a:rPr sz="1400"/>
              <a:t>End-to-end workflow completes without errors</a:t>
            </a:r>
          </a:p>
          <a:p>
            <a:r>
              <a:rPr sz="1400"/>
              <a:t>Learner can explain UI-to-logic mapping</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750"/>
              <a:t>Exercise: Calculator Project - Testing</a:t>
            </a:r>
          </a:p>
        </p:txBody>
      </p:sp>
      <p:sp>
        <p:nvSpPr>
          <p:cNvPr id="3" name="Content Placeholder 2"/>
          <p:cNvSpPr>
            <a:spLocks noGrp="1"/>
          </p:cNvSpPr>
          <p:nvPr>
            <p:ph idx="1"/>
          </p:nvPr>
        </p:nvSpPr>
        <p:spPr/>
        <p:txBody>
          <a:bodyPr wrap="square">
            <a:noAutofit/>
          </a:bodyPr>
          <a:lstStyle/>
          <a:p>
            <a:endParaRPr sz="1400"/>
          </a:p>
          <a:p>
            <a:r>
              <a:rPr sz="1400"/>
              <a:t>Objectives</a:t>
            </a:r>
          </a:p>
          <a:p>
            <a:endParaRPr sz="1400"/>
          </a:p>
          <a:p>
            <a:r>
              <a:rPr sz="1400"/>
              <a:t>Generate unit tests with AI assistance</a:t>
            </a:r>
          </a:p>
          <a:p>
            <a:r>
              <a:rPr sz="1400"/>
              <a:t>Identify quality issues in generated tests</a:t>
            </a:r>
          </a:p>
          <a:p>
            <a:r>
              <a:rPr sz="1400"/>
              <a:t>Understand why generated tests require review</a:t>
            </a:r>
          </a:p>
          <a:p>
            <a:endParaRPr sz="1400"/>
          </a:p>
          <a:p>
            <a:r>
              <a:rPr sz="1400"/>
              <a:t>Activities</a:t>
            </a:r>
          </a:p>
          <a:p>
            <a:endParaRPr sz="1400"/>
          </a:p>
          <a:p>
            <a:r>
              <a:rPr sz="1400"/>
              <a:t>1. Generate Initial Tests:</a:t>
            </a:r>
          </a:p>
          <a:p>
            <a:endParaRPr sz="1400"/>
          </a:p>
          <a:p>
            <a:r>
              <a:rPr sz="1400"/>
              <a:t>Prompt: "Create unit tests for the calculator operations"</a:t>
            </a:r>
          </a:p>
          <a:p>
            <a:r>
              <a:rPr sz="1400"/>
              <a:t>Review generated test structure</a:t>
            </a:r>
          </a:p>
          <a:p>
            <a:r>
              <a:rPr sz="1400"/>
              <a:t>Verify tests call calculator code</a:t>
            </a:r>
          </a:p>
          <a:p>
            <a:endParaRPr sz="1400"/>
          </a:p>
          <a:p>
            <a:r>
              <a:rPr sz="1400"/>
              <a:t>2. Fix Test Issues:</a:t>
            </a:r>
          </a:p>
          <a:p>
            <a:endParaRPr sz="1400"/>
          </a:p>
          <a:p>
            <a:r>
              <a:rPr sz="1400"/>
              <a:t>If tests are trivial (for example 1 + 1 only), identify issue</a:t>
            </a:r>
          </a:p>
          <a:p>
            <a:r>
              <a:rPr sz="1400"/>
              <a:t>Prompt: "Update tests to call Calculator class methods"</a:t>
            </a:r>
          </a:p>
          <a:p>
            <a:r>
              <a:rPr sz="1400"/>
              <a:t>Verify improved test quality</a:t>
            </a:r>
          </a:p>
          <a:p>
            <a:endParaRPr sz="1400"/>
          </a:p>
          <a:p>
            <a:r>
              <a:rPr sz="1400"/>
              <a:t>3. Run Tests:</a:t>
            </a:r>
          </a:p>
          <a:p>
            <a:endParaRPr sz="1400"/>
          </a:p>
          <a:p>
            <a:r>
              <a:rPr sz="1400"/>
              <a:t>Execute test suite</a:t>
            </a:r>
          </a:p>
          <a:p>
            <a:r>
              <a:rPr sz="1400"/>
              <a:t>Review output</a:t>
            </a:r>
          </a:p>
          <a:p>
            <a:r>
              <a:rPr sz="1400"/>
              <a:t>Debug failing tests with Copilot</a:t>
            </a:r>
          </a:p>
          <a:p>
            <a:endParaRPr sz="1400"/>
          </a:p>
          <a:p>
            <a:r>
              <a:rPr sz="1400"/>
              <a:t>4. Add Edge Cases:</a:t>
            </a:r>
          </a:p>
          <a:p>
            <a:endParaRPr sz="1400"/>
          </a:p>
          <a:p>
            <a:r>
              <a:rPr sz="1400"/>
              <a:t>Prompt: "Add tests for edge cases like division by zero"</a:t>
            </a:r>
          </a:p>
          <a:p>
            <a:r>
              <a:rPr sz="1400"/>
              <a:t>Verify exception handling tests</a:t>
            </a:r>
          </a:p>
          <a:p>
            <a:endParaRPr sz="1400"/>
          </a:p>
          <a:p>
            <a:r>
              <a:rPr sz="1400"/>
              <a:t>Success Criteria</a:t>
            </a:r>
          </a:p>
          <a:p>
            <a:endParaRPr sz="1400"/>
          </a:p>
          <a:p>
            <a:r>
              <a:rPr sz="1400"/>
              <a:t>Minimum 8 test cases</a:t>
            </a:r>
          </a:p>
          <a:p>
            <a:r>
              <a:rPr sz="1400"/>
              <a:t>Tests call actual calculator methods</a:t>
            </a:r>
          </a:p>
          <a:p>
            <a:r>
              <a:rPr sz="1400"/>
              <a:t>Edge cases and error conditions included</a:t>
            </a:r>
          </a:p>
          <a:p>
            <a:r>
              <a:rPr sz="1400"/>
              <a:t>All tests pass</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Exercise: Code Coverage</a:t>
            </a:r>
          </a:p>
        </p:txBody>
      </p:sp>
      <p:sp>
        <p:nvSpPr>
          <p:cNvPr id="3" name="Content Placeholder 2"/>
          <p:cNvSpPr>
            <a:spLocks noGrp="1"/>
          </p:cNvSpPr>
          <p:nvPr>
            <p:ph idx="1"/>
          </p:nvPr>
        </p:nvSpPr>
        <p:spPr/>
        <p:txBody>
          <a:bodyPr wrap="square">
            <a:noAutofit/>
          </a:bodyPr>
          <a:lstStyle/>
          <a:p>
            <a:endParaRPr sz="1400"/>
          </a:p>
          <a:p>
            <a:r>
              <a:rPr sz="1400"/>
              <a:t>Objectives</a:t>
            </a:r>
          </a:p>
          <a:p>
            <a:endParaRPr sz="1400"/>
          </a:p>
          <a:p>
            <a:r>
              <a:rPr sz="1400"/>
              <a:t>Set up code coverage reporting</a:t>
            </a:r>
          </a:p>
          <a:p>
            <a:r>
              <a:rPr sz="1400"/>
              <a:t>Interpret coverage data</a:t>
            </a:r>
          </a:p>
          <a:p>
            <a:r>
              <a:rPr sz="1400"/>
              <a:t>Improve coverage based on identified gaps</a:t>
            </a:r>
          </a:p>
          <a:p>
            <a:endParaRPr sz="1400"/>
          </a:p>
          <a:p>
            <a:r>
              <a:rPr sz="1400"/>
              <a:t>Activities</a:t>
            </a:r>
          </a:p>
          <a:p>
            <a:endParaRPr sz="1400"/>
          </a:p>
          <a:p>
            <a:r>
              <a:rPr sz="1400"/>
              <a:t>1. Enable Coverage Collection:</a:t>
            </a:r>
          </a:p>
          <a:p>
            <a:endParaRPr sz="1400"/>
          </a:p>
          <a:p>
            <a:r>
              <a:rPr sz="1400"/>
              <a:t>Prompt: "Add code coverage reporting to my test project"</a:t>
            </a:r>
          </a:p>
          <a:p>
            <a:r>
              <a:rPr sz="1400"/>
              <a:t>Review dependencies added</a:t>
            </a:r>
          </a:p>
          <a:p>
            <a:r>
              <a:rPr sz="1400"/>
              <a:t>Resolve NuGet/dependency issues with Copilot</a:t>
            </a:r>
          </a:p>
          <a:p>
            <a:endParaRPr sz="1400"/>
          </a:p>
          <a:p>
            <a:r>
              <a:rPr sz="1400"/>
              <a:t>2. Generate Coverage Report:</a:t>
            </a:r>
          </a:p>
          <a:p>
            <a:endParaRPr sz="1400"/>
          </a:p>
          <a:p>
            <a:r>
              <a:rPr sz="1400"/>
              <a:t>Run tests with coverage</a:t>
            </a:r>
          </a:p>
          <a:p>
            <a:r>
              <a:rPr sz="1400"/>
              <a:t>Review percentage</a:t>
            </a:r>
          </a:p>
          <a:p>
            <a:r>
              <a:rPr sz="1400"/>
              <a:t>Identify uncovered paths</a:t>
            </a:r>
          </a:p>
          <a:p>
            <a:endParaRPr sz="1400"/>
          </a:p>
          <a:p>
            <a:r>
              <a:rPr sz="1400"/>
              <a:t>3. Improve Coverage:</a:t>
            </a:r>
          </a:p>
          <a:p>
            <a:endParaRPr sz="1400"/>
          </a:p>
          <a:p>
            <a:r>
              <a:rPr sz="1400"/>
              <a:t>Add tests for uncovered methods</a:t>
            </a:r>
          </a:p>
          <a:p>
            <a:r>
              <a:rPr sz="1400"/>
              <a:t>Re-run coverage and verify improvement</a:t>
            </a:r>
          </a:p>
          <a:p>
            <a:r>
              <a:rPr sz="1400"/>
              <a:t>Discuss if 100% coverage is necessary</a:t>
            </a:r>
          </a:p>
          <a:p>
            <a:endParaRPr sz="1400"/>
          </a:p>
          <a:p>
            <a:r>
              <a:rPr sz="1400"/>
              <a:t>Success Criteria</a:t>
            </a:r>
          </a:p>
          <a:p>
            <a:endParaRPr sz="1400"/>
          </a:p>
          <a:p>
            <a:r>
              <a:rPr sz="1400"/>
              <a:t>Coverage reporting configured successfully</a:t>
            </a:r>
          </a:p>
          <a:p>
            <a:r>
              <a:rPr sz="1400"/>
              <a:t>Coverage reports can be generated and interpreted</a:t>
            </a:r>
          </a:p>
          <a:p>
            <a:r>
              <a:rPr sz="1400"/>
              <a:t>Reasonable coverage achieved (&gt;80% line coverage)</a:t>
            </a:r>
          </a:p>
          <a:p>
            <a:r>
              <a:rPr sz="1400"/>
              <a:t>Learner understands what coverage metrics mean</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2400"/>
              <a:t>Exercise: Dependency Management and Troubleshooting</a:t>
            </a:r>
          </a:p>
        </p:txBody>
      </p:sp>
      <p:sp>
        <p:nvSpPr>
          <p:cNvPr id="3" name="Content Placeholder 2"/>
          <p:cNvSpPr>
            <a:spLocks noGrp="1"/>
          </p:cNvSpPr>
          <p:nvPr>
            <p:ph idx="1"/>
          </p:nvPr>
        </p:nvSpPr>
        <p:spPr/>
        <p:txBody>
          <a:bodyPr wrap="square">
            <a:noAutofit/>
          </a:bodyPr>
          <a:lstStyle/>
          <a:p>
            <a:endParaRPr sz="1400"/>
          </a:p>
          <a:p>
            <a:r>
              <a:rPr sz="1400"/>
              <a:t>Objectives</a:t>
            </a:r>
          </a:p>
          <a:p>
            <a:endParaRPr sz="1400"/>
          </a:p>
          <a:p>
            <a:r>
              <a:rPr sz="1400"/>
              <a:t>Use Copilot to resolve dependency issues</a:t>
            </a:r>
          </a:p>
          <a:p>
            <a:r>
              <a:rPr sz="1400"/>
              <a:t>Handle package restoration problems</a:t>
            </a:r>
          </a:p>
          <a:p>
            <a:r>
              <a:rPr sz="1400"/>
              <a:t>Practice iterative AI-assisted troubleshooting</a:t>
            </a:r>
          </a:p>
          <a:p>
            <a:endParaRPr sz="1400"/>
          </a:p>
          <a:p>
            <a:r>
              <a:rPr sz="1400"/>
              <a:t>Activities</a:t>
            </a:r>
          </a:p>
          <a:p>
            <a:endParaRPr sz="1400"/>
          </a:p>
          <a:p>
            <a:r>
              <a:rPr sz="1400"/>
              <a:t>1. Simulate or Identify a Dependency Issue:</a:t>
            </a:r>
          </a:p>
          <a:p>
            <a:endParaRPr sz="1400"/>
          </a:p>
          <a:p>
            <a:r>
              <a:rPr sz="1400"/>
              <a:t>Introduce version conflict or use an existing issue</a:t>
            </a:r>
          </a:p>
          <a:p>
            <a:r>
              <a:rPr sz="1400"/>
              <a:t>Prompt: "I'm getting [specific error]. How do I fix it?"</a:t>
            </a:r>
          </a:p>
          <a:p>
            <a:endParaRPr sz="1400"/>
          </a:p>
          <a:p>
            <a:r>
              <a:rPr sz="1400"/>
              <a:t>2. Follow Copilot Guidance:</a:t>
            </a:r>
          </a:p>
          <a:p>
            <a:endParaRPr sz="1400"/>
          </a:p>
          <a:p>
            <a:r>
              <a:rPr sz="1400"/>
              <a:t>Review suggested solutions</a:t>
            </a:r>
          </a:p>
          <a:p>
            <a:r>
              <a:rPr sz="1400"/>
              <a:t>Evaluate alternatives</a:t>
            </a:r>
          </a:p>
          <a:p>
            <a:r>
              <a:rPr sz="1400"/>
              <a:t>Select best option collaboratively</a:t>
            </a:r>
          </a:p>
          <a:p>
            <a:endParaRPr sz="1400"/>
          </a:p>
          <a:p>
            <a:r>
              <a:rPr sz="1400"/>
              <a:t>3. Iterative Resolution:</a:t>
            </a:r>
          </a:p>
          <a:p>
            <a:endParaRPr sz="1400"/>
          </a:p>
          <a:p>
            <a:r>
              <a:rPr sz="1400"/>
              <a:t>Provide new error details when needed</a:t>
            </a:r>
          </a:p>
          <a:p>
            <a:r>
              <a:rPr sz="1400"/>
              <a:t>Continue until resolved</a:t>
            </a:r>
          </a:p>
          <a:p>
            <a:endParaRPr sz="1400"/>
          </a:p>
          <a:p>
            <a:r>
              <a:rPr sz="1400"/>
              <a:t>4. Practice common issues:</a:t>
            </a:r>
          </a:p>
          <a:p>
            <a:endParaRPr sz="1400"/>
          </a:p>
          <a:p>
            <a:r>
              <a:rPr sz="1400"/>
              <a:t>NuGet package source configuration</a:t>
            </a:r>
          </a:p>
          <a:p>
            <a:r>
              <a:rPr sz="1400"/>
              <a:t>MSTest adapter version conflicts</a:t>
            </a:r>
          </a:p>
          <a:p>
            <a:r>
              <a:rPr sz="1400"/>
              <a:t>.NET SDK targeting issues</a:t>
            </a:r>
          </a:p>
          <a:p>
            <a:r>
              <a:rPr sz="1400"/>
              <a:t>Package restoration failures</a:t>
            </a:r>
          </a:p>
          <a:p>
            <a:endParaRPr sz="1400"/>
          </a:p>
          <a:p>
            <a:r>
              <a:rPr sz="1400"/>
              <a:t>Success Criteria</a:t>
            </a:r>
          </a:p>
          <a:p>
            <a:endParaRPr sz="1400"/>
          </a:p>
          <a:p>
            <a:r>
              <a:rPr sz="1400"/>
              <a:t>At least one dependency issue resolved</a:t>
            </a:r>
          </a:p>
          <a:p>
            <a:r>
              <a:rPr sz="1400"/>
              <a:t>Learner can provide useful error context to Copilot</a:t>
            </a:r>
          </a:p>
          <a:p>
            <a:r>
              <a:rPr sz="1400"/>
              <a:t>Iterative problem-solving pattern demonstrated</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2800"/>
              <a:t>Exercise: Best Practices Review and Code Quality</a:t>
            </a:r>
          </a:p>
        </p:txBody>
      </p:sp>
      <p:sp>
        <p:nvSpPr>
          <p:cNvPr id="3" name="Content Placeholder 2"/>
          <p:cNvSpPr>
            <a:spLocks noGrp="1"/>
          </p:cNvSpPr>
          <p:nvPr>
            <p:ph idx="1"/>
          </p:nvPr>
        </p:nvSpPr>
        <p:spPr/>
        <p:txBody>
          <a:bodyPr wrap="square">
            <a:noAutofit/>
          </a:bodyPr>
          <a:lstStyle/>
          <a:p>
            <a:endParaRPr sz="1400"/>
          </a:p>
          <a:p>
            <a:r>
              <a:rPr sz="1400"/>
              <a:t>Objectives</a:t>
            </a:r>
          </a:p>
          <a:p>
            <a:endParaRPr sz="1400"/>
          </a:p>
          <a:p>
            <a:r>
              <a:rPr sz="1400"/>
              <a:t>Apply best practices from session</a:t>
            </a:r>
          </a:p>
          <a:p>
            <a:r>
              <a:rPr sz="1400"/>
              <a:t>Review code quality systematically</a:t>
            </a:r>
          </a:p>
          <a:p>
            <a:r>
              <a:rPr sz="1400"/>
              <a:t>Identify and implement meaningful improvements</a:t>
            </a:r>
          </a:p>
          <a:p>
            <a:endParaRPr sz="1400"/>
          </a:p>
          <a:p>
            <a:r>
              <a:rPr sz="1400"/>
              <a:t>Activities</a:t>
            </a:r>
          </a:p>
          <a:p>
            <a:endParaRPr sz="1400"/>
          </a:p>
          <a:p>
            <a:r>
              <a:rPr sz="1400"/>
              <a:t>1. Code Quality Check:</a:t>
            </a:r>
          </a:p>
          <a:p>
            <a:endParaRPr sz="1400"/>
          </a:p>
          <a:p>
            <a:r>
              <a:rPr sz="1400"/>
              <a:t>Prompt: "Suggest improvements for code quality and maintainability"</a:t>
            </a:r>
          </a:p>
          <a:p>
            <a:r>
              <a:rPr sz="1400"/>
              <a:t>Evaluate suggestions critically</a:t>
            </a:r>
          </a:p>
          <a:p>
            <a:r>
              <a:rPr sz="1400"/>
              <a:t>Implement high-value improvements</a:t>
            </a:r>
          </a:p>
          <a:p>
            <a:endParaRPr sz="1400"/>
          </a:p>
          <a:p>
            <a:r>
              <a:rPr sz="1400"/>
              <a:t>Success Criteria</a:t>
            </a:r>
          </a:p>
          <a:p>
            <a:endParaRPr sz="1400"/>
          </a:p>
          <a:p>
            <a:r>
              <a:rPr sz="1400"/>
              <a:t>Documentation and maintainability improved</a:t>
            </a:r>
          </a:p>
          <a:p>
            <a:r>
              <a:rPr sz="1400"/>
              <a:t>AI suggestions are critically evaluated before adoption</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Exercise: Model Comparisons</a:t>
            </a:r>
          </a:p>
        </p:txBody>
      </p:sp>
      <p:sp>
        <p:nvSpPr>
          <p:cNvPr id="3" name="Content Placeholder 2"/>
          <p:cNvSpPr>
            <a:spLocks noGrp="1"/>
          </p:cNvSpPr>
          <p:nvPr>
            <p:ph idx="1"/>
          </p:nvPr>
        </p:nvSpPr>
        <p:spPr/>
        <p:txBody>
          <a:bodyPr wrap="square">
            <a:noAutofit/>
          </a:bodyPr>
          <a:lstStyle/>
          <a:p>
            <a:endParaRPr sz="1400"/>
          </a:p>
          <a:p>
            <a:r>
              <a:rPr sz="1400"/>
              <a:t>Objectives</a:t>
            </a:r>
          </a:p>
          <a:p>
            <a:endParaRPr sz="1400"/>
          </a:p>
          <a:p>
            <a:r>
              <a:rPr sz="1400"/>
              <a:t>Compare outputs from different AI models</a:t>
            </a:r>
          </a:p>
          <a:p>
            <a:r>
              <a:rPr sz="1400"/>
              <a:t>Understand premium vs standard model trade-offs</a:t>
            </a:r>
          </a:p>
          <a:p>
            <a:r>
              <a:rPr sz="1400"/>
              <a:t>Monitor token usage impact</a:t>
            </a:r>
          </a:p>
          <a:p>
            <a:endParaRPr sz="1400"/>
          </a:p>
          <a:p>
            <a:r>
              <a:rPr sz="1400"/>
              <a:t>Activities</a:t>
            </a:r>
          </a:p>
          <a:p>
            <a:endParaRPr sz="1400"/>
          </a:p>
          <a:p>
            <a:r>
              <a:rPr sz="1400"/>
              <a:t>1. Same Prompt, Different Models:</a:t>
            </a:r>
          </a:p>
          <a:p>
            <a:endParaRPr sz="1400"/>
          </a:p>
          <a:p>
            <a:r>
              <a:rPr sz="1400"/>
              <a:t>Use one coding task (for example implement bubble sort)</a:t>
            </a:r>
          </a:p>
          <a:p>
            <a:r>
              <a:rPr sz="1400"/>
              <a:t>Compare standard and premium model outputs</a:t>
            </a:r>
          </a:p>
          <a:p>
            <a:endParaRPr sz="1400"/>
          </a:p>
          <a:p>
            <a:r>
              <a:rPr sz="1400"/>
              <a:t>2. Token Usage Analysis:</a:t>
            </a:r>
          </a:p>
          <a:p>
            <a:endParaRPr sz="1400"/>
          </a:p>
          <a:p>
            <a:r>
              <a:rPr sz="1400"/>
              <a:t>Check premium token bar before/after</a:t>
            </a:r>
          </a:p>
          <a:p>
            <a:r>
              <a:rPr sz="1400"/>
              <a:t>Estimate consumed tokens</a:t>
            </a:r>
          </a:p>
          <a:p>
            <a:r>
              <a:rPr sz="1400"/>
              <a:t>Discuss value vs cost</a:t>
            </a:r>
          </a:p>
          <a:p>
            <a:endParaRPr sz="1400"/>
          </a:p>
          <a:p>
            <a:r>
              <a:rPr sz="1400"/>
              <a:t>3. Best Use Cases:</a:t>
            </a:r>
          </a:p>
          <a:p>
            <a:endParaRPr sz="1400"/>
          </a:p>
          <a:p>
            <a:r>
              <a:rPr sz="1400"/>
              <a:t>Identify tasks for standard vs premium models</a:t>
            </a:r>
          </a:p>
          <a:p>
            <a:r>
              <a:rPr sz="1400"/>
              <a:t>Create model selection guidelines</a:t>
            </a:r>
          </a:p>
          <a:p>
            <a:endParaRPr sz="1400"/>
          </a:p>
          <a:p>
            <a:r>
              <a:rPr sz="1400"/>
              <a:t>4. Ask Mode Advantage:</a:t>
            </a:r>
          </a:p>
          <a:p>
            <a:endParaRPr sz="1400"/>
          </a:p>
          <a:p>
            <a:r>
              <a:rPr sz="1400"/>
              <a:t>Use Ask mode with premium model</a:t>
            </a:r>
          </a:p>
          <a:p>
            <a:r>
              <a:rPr sz="1400"/>
              <a:t>Compare with Agent mode token behavior</a:t>
            </a:r>
          </a:p>
          <a:p>
            <a:endParaRPr sz="1400"/>
          </a:p>
          <a:p>
            <a:r>
              <a:rPr sz="1400"/>
              <a:t>Success Criteria</a:t>
            </a:r>
          </a:p>
          <a:p>
            <a:endParaRPr sz="1400"/>
          </a:p>
          <a:p>
            <a:r>
              <a:rPr sz="1400"/>
              <a:t>At least two models compared</a:t>
            </a:r>
          </a:p>
          <a:p>
            <a:r>
              <a:rPr sz="1400"/>
              <a:t>Token consumption trade-offs understood</a:t>
            </a:r>
          </a:p>
          <a:p>
            <a:r>
              <a:rPr sz="1400"/>
              <a:t>Learner can choose model by task type</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2600"/>
              <a:t>Exercise: Calculator Project - Encapsulate Core Logic</a:t>
            </a:r>
          </a:p>
        </p:txBody>
      </p:sp>
      <p:sp>
        <p:nvSpPr>
          <p:cNvPr id="3" name="Content Placeholder 2"/>
          <p:cNvSpPr>
            <a:spLocks noGrp="1"/>
          </p:cNvSpPr>
          <p:nvPr>
            <p:ph idx="1"/>
          </p:nvPr>
        </p:nvSpPr>
        <p:spPr/>
        <p:txBody>
          <a:bodyPr wrap="square">
            <a:noAutofit/>
          </a:bodyPr>
          <a:lstStyle/>
          <a:p>
            <a:endParaRPr sz="1400"/>
          </a:p>
          <a:p>
            <a:r>
              <a:rPr sz="1400"/>
              <a:t>Objectives</a:t>
            </a:r>
          </a:p>
          <a:p>
            <a:endParaRPr sz="1400"/>
          </a:p>
          <a:p>
            <a:r>
              <a:rPr sz="1400"/>
              <a:t>Separate UI concerns from computational logic</a:t>
            </a:r>
          </a:p>
          <a:p>
            <a:r>
              <a:rPr sz="1400"/>
              <a:t>Use AI to scaffold standalone core logic module/class</a:t>
            </a:r>
          </a:p>
          <a:p>
            <a:r>
              <a:rPr sz="1400"/>
              <a:t>Ensure UI communicates through a clean API</a:t>
            </a:r>
          </a:p>
          <a:p>
            <a:r>
              <a:rPr sz="1400"/>
              <a:t>Validate improved testability and maintainability</a:t>
            </a:r>
          </a:p>
          <a:p>
            <a:endParaRPr sz="1400"/>
          </a:p>
          <a:p>
            <a:r>
              <a:rPr sz="1400"/>
              <a:t>Activities</a:t>
            </a:r>
          </a:p>
          <a:p>
            <a:endParaRPr sz="1400"/>
          </a:p>
          <a:p>
            <a:r>
              <a:rPr sz="1400"/>
              <a:t>1. Ask AI to generate dedicated component (for example CalculatorEngine or CalculatorCore) containing:</a:t>
            </a:r>
          </a:p>
          <a:p>
            <a:endParaRPr sz="1400"/>
          </a:p>
          <a:p>
            <a:r>
              <a:rPr sz="1400"/>
              <a:t>Arithmetic operations</a:t>
            </a:r>
          </a:p>
          <a:p>
            <a:r>
              <a:rPr sz="1400"/>
              <a:t>State management</a:t>
            </a:r>
          </a:p>
          <a:p>
            <a:r>
              <a:rPr sz="1400"/>
              <a:t>Trig/percentage/memory logic where implemented</a:t>
            </a:r>
          </a:p>
          <a:p>
            <a:endParaRPr sz="1400"/>
          </a:p>
          <a:p>
            <a:r>
              <a:rPr sz="1400"/>
              <a:t>2. Review and refine API surface (naming, inputs, outputs)</a:t>
            </a:r>
          </a:p>
          <a:p>
            <a:r>
              <a:rPr sz="1400"/>
              <a:t>3. Replace UI-embedded logic with component calls</a:t>
            </a:r>
          </a:p>
          <a:p>
            <a:endParaRPr sz="1400"/>
          </a:p>
          <a:p>
            <a:r>
              <a:rPr sz="1400"/>
              <a:t>Success Criteria</a:t>
            </a:r>
          </a:p>
          <a:p>
            <a:endParaRPr sz="1400"/>
          </a:p>
          <a:p>
            <a:r>
              <a:rPr sz="1400"/>
              <a:t>All features route through external logic component</a:t>
            </a:r>
          </a:p>
          <a:p>
            <a:r>
              <a:rPr sz="1400"/>
              <a:t>UI contains only event handling/display updates</a:t>
            </a:r>
          </a:p>
          <a:p>
            <a:r>
              <a:rPr sz="1400"/>
              <a:t>Learner can explain modularity and reuse benefits</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Exercise: Security Review</a:t>
            </a:r>
          </a:p>
        </p:txBody>
      </p:sp>
      <p:sp>
        <p:nvSpPr>
          <p:cNvPr id="3" name="Content Placeholder 2"/>
          <p:cNvSpPr>
            <a:spLocks noGrp="1"/>
          </p:cNvSpPr>
          <p:nvPr>
            <p:ph idx="1"/>
          </p:nvPr>
        </p:nvSpPr>
        <p:spPr/>
        <p:txBody>
          <a:bodyPr wrap="square">
            <a:noAutofit/>
          </a:bodyPr>
          <a:lstStyle/>
          <a:p>
            <a:endParaRPr sz="1400"/>
          </a:p>
          <a:p>
            <a:r>
              <a:rPr sz="1400"/>
              <a:t>Objectives</a:t>
            </a:r>
          </a:p>
          <a:p>
            <a:endParaRPr sz="1400"/>
          </a:p>
          <a:p>
            <a:r>
              <a:rPr sz="1400"/>
              <a:t>Systematically review code for security issues</a:t>
            </a:r>
          </a:p>
          <a:p>
            <a:r>
              <a:rPr sz="1400"/>
              <a:t>Address discovered vulnerabilities</a:t>
            </a:r>
          </a:p>
          <a:p>
            <a:r>
              <a:rPr sz="1400"/>
              <a:t>Strengthen input validation and safe patterns</a:t>
            </a:r>
          </a:p>
          <a:p>
            <a:endParaRPr sz="1400"/>
          </a:p>
          <a:p>
            <a:r>
              <a:rPr sz="1400"/>
              <a:t>Activities</a:t>
            </a:r>
          </a:p>
          <a:p>
            <a:endParaRPr sz="1400"/>
          </a:p>
          <a:p>
            <a:r>
              <a:rPr sz="1400"/>
              <a:t>1. Security Review:</a:t>
            </a:r>
          </a:p>
          <a:p>
            <a:endParaRPr sz="1400"/>
          </a:p>
          <a:p>
            <a:r>
              <a:rPr sz="1400"/>
              <a:t>Prompt: "Review this code for security vulnerabilities"</a:t>
            </a:r>
          </a:p>
          <a:p>
            <a:r>
              <a:rPr sz="1400"/>
              <a:t>Address identified issues</a:t>
            </a:r>
          </a:p>
          <a:p>
            <a:r>
              <a:rPr sz="1400"/>
              <a:t>Add input validation where missing</a:t>
            </a:r>
          </a:p>
          <a:p>
            <a:endParaRPr sz="1400"/>
          </a:p>
          <a:p>
            <a:r>
              <a:rPr sz="1400"/>
              <a:t>Success Criteria</a:t>
            </a:r>
          </a:p>
          <a:p>
            <a:endParaRPr sz="1400"/>
          </a:p>
          <a:p>
            <a:r>
              <a:rPr sz="1400"/>
              <a:t>No obvious security issues remain</a:t>
            </a:r>
          </a:p>
          <a:p>
            <a:r>
              <a:rPr sz="1400"/>
              <a:t>AI recommendations are critically evaluated and validated</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Exercise: Documentation</a:t>
            </a:r>
          </a:p>
        </p:txBody>
      </p:sp>
      <p:sp>
        <p:nvSpPr>
          <p:cNvPr id="3" name="Content Placeholder 2"/>
          <p:cNvSpPr>
            <a:spLocks noGrp="1"/>
          </p:cNvSpPr>
          <p:nvPr>
            <p:ph idx="1"/>
          </p:nvPr>
        </p:nvSpPr>
        <p:spPr/>
        <p:txBody>
          <a:bodyPr wrap="square">
            <a:noAutofit/>
          </a:bodyPr>
          <a:lstStyle/>
          <a:p>
            <a:endParaRPr sz="1400"/>
          </a:p>
          <a:p>
            <a:r>
              <a:rPr sz="1400"/>
              <a:t>Objectives</a:t>
            </a:r>
          </a:p>
          <a:p>
            <a:endParaRPr sz="1400"/>
          </a:p>
          <a:p>
            <a:r>
              <a:rPr sz="1400"/>
              <a:t>Add and improve project documentation</a:t>
            </a:r>
          </a:p>
          <a:p>
            <a:r>
              <a:rPr sz="1400"/>
              <a:t>Review AI-generated docs for accuracy and completeness</a:t>
            </a:r>
          </a:p>
          <a:p>
            <a:endParaRPr sz="1400"/>
          </a:p>
          <a:p>
            <a:r>
              <a:rPr sz="1400"/>
              <a:t>Activities</a:t>
            </a:r>
          </a:p>
          <a:p>
            <a:endParaRPr sz="1400"/>
          </a:p>
          <a:p>
            <a:r>
              <a:rPr sz="1400"/>
              <a:t>1. Documentation:</a:t>
            </a:r>
          </a:p>
          <a:p>
            <a:endParaRPr sz="1400"/>
          </a:p>
          <a:p>
            <a:r>
              <a:rPr sz="1400"/>
              <a:t>Ask Copilot to generate XML/doc comments</a:t>
            </a:r>
          </a:p>
          <a:p>
            <a:r>
              <a:rPr sz="1400"/>
              <a:t>Review and refine for correctness</a:t>
            </a:r>
          </a:p>
          <a:p>
            <a:r>
              <a:rPr sz="1400"/>
              <a:t>Add README usage instructions</a:t>
            </a:r>
          </a:p>
          <a:p>
            <a:r>
              <a:rPr sz="1400"/>
              <a:t>Ask AI to update existing documentation sections</a:t>
            </a:r>
          </a:p>
          <a:p>
            <a:endParaRPr sz="1400"/>
          </a:p>
          <a:p>
            <a:r>
              <a:rPr sz="1400"/>
              <a:t>Success Criteria</a:t>
            </a:r>
          </a:p>
          <a:p>
            <a:endParaRPr sz="1400"/>
          </a:p>
          <a:p>
            <a:r>
              <a:rPr sz="1400"/>
              <a:t>Documentation is comprehensive and accurate</a:t>
            </a:r>
          </a:p>
          <a:p>
            <a:r>
              <a:rPr sz="1400"/>
              <a:t>AI-generated content is critically reviewed before acceptance</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Exercise: Refactoring</a:t>
            </a:r>
          </a:p>
        </p:txBody>
      </p:sp>
      <p:sp>
        <p:nvSpPr>
          <p:cNvPr id="3" name="Content Placeholder 2"/>
          <p:cNvSpPr>
            <a:spLocks noGrp="1"/>
          </p:cNvSpPr>
          <p:nvPr>
            <p:ph idx="1"/>
          </p:nvPr>
        </p:nvSpPr>
        <p:spPr/>
        <p:txBody>
          <a:bodyPr wrap="square">
            <a:noAutofit/>
          </a:bodyPr>
          <a:lstStyle/>
          <a:p>
            <a:endParaRPr sz="1400"/>
          </a:p>
          <a:p>
            <a:r>
              <a:rPr sz="1400"/>
              <a:t>Objectives</a:t>
            </a:r>
          </a:p>
          <a:p>
            <a:endParaRPr sz="1400"/>
          </a:p>
          <a:p>
            <a:r>
              <a:rPr sz="1400"/>
              <a:t>Apply refactoring best practices</a:t>
            </a:r>
          </a:p>
          <a:p>
            <a:r>
              <a:rPr sz="1400"/>
              <a:t>Compare alternative implementations</a:t>
            </a:r>
          </a:p>
          <a:p>
            <a:r>
              <a:rPr sz="1400"/>
              <a:t>Evaluate trade-offs before choosing changes</a:t>
            </a:r>
          </a:p>
          <a:p>
            <a:endParaRPr sz="1400"/>
          </a:p>
          <a:p>
            <a:r>
              <a:rPr sz="1400"/>
              <a:t>Activities</a:t>
            </a:r>
          </a:p>
          <a:p>
            <a:endParaRPr sz="1400"/>
          </a:p>
          <a:p>
            <a:r>
              <a:rPr sz="1400"/>
              <a:t>1. Refactoring Exercise:</a:t>
            </a:r>
          </a:p>
          <a:p>
            <a:endParaRPr sz="1400"/>
          </a:p>
          <a:p>
            <a:r>
              <a:rPr sz="1400"/>
              <a:t>Ask Copilot for alternative implementations</a:t>
            </a:r>
          </a:p>
          <a:p>
            <a:r>
              <a:rPr sz="1400"/>
              <a:t>Compare readability, complexity, and maintainability</a:t>
            </a:r>
          </a:p>
          <a:p>
            <a:r>
              <a:rPr sz="1400"/>
              <a:t>Discuss trade-offs and select best approach</a:t>
            </a:r>
          </a:p>
          <a:p>
            <a:endParaRPr sz="1400"/>
          </a:p>
          <a:p>
            <a:r>
              <a:rPr sz="1400"/>
              <a:t>Success Criteria</a:t>
            </a:r>
          </a:p>
          <a:p>
            <a:endParaRPr sz="1400"/>
          </a:p>
          <a:p>
            <a:r>
              <a:rPr sz="1400"/>
              <a:t>At least one refactoring improvement implemented</a:t>
            </a:r>
          </a:p>
          <a:p>
            <a:r>
              <a:rPr sz="1400"/>
              <a:t>Code quality and maintainability improved</a:t>
            </a:r>
          </a:p>
          <a:p>
            <a:r>
              <a:rPr sz="1400"/>
              <a:t>AI suggestions critically evaluated</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600"/>
              <a:t>Exercise: Test Coverage Improvement</a:t>
            </a:r>
          </a:p>
        </p:txBody>
      </p:sp>
      <p:sp>
        <p:nvSpPr>
          <p:cNvPr id="3" name="Content Placeholder 2"/>
          <p:cNvSpPr>
            <a:spLocks noGrp="1"/>
          </p:cNvSpPr>
          <p:nvPr>
            <p:ph idx="1"/>
          </p:nvPr>
        </p:nvSpPr>
        <p:spPr/>
        <p:txBody>
          <a:bodyPr wrap="square">
            <a:noAutofit/>
          </a:bodyPr>
          <a:lstStyle/>
          <a:p>
            <a:endParaRPr sz="1400"/>
          </a:p>
          <a:p>
            <a:r>
              <a:rPr sz="1400"/>
              <a:t>Objectives</a:t>
            </a:r>
          </a:p>
          <a:p>
            <a:r>
              <a:rPr sz="1400"/>
              <a:t>Analyze code coverage reports</a:t>
            </a:r>
          </a:p>
          <a:p>
            <a:r>
              <a:rPr sz="1400"/>
              <a:t>Use Copilot to intelligently add tests</a:t>
            </a:r>
          </a:p>
          <a:p>
            <a:r>
              <a:rPr sz="1400"/>
              <a:t>Achieve target coverage percentage</a:t>
            </a:r>
          </a:p>
          <a:p>
            <a:r>
              <a:rPr sz="1400"/>
              <a:t>Balance quantity vs. quality of tests</a:t>
            </a:r>
          </a:p>
          <a:p>
            <a:endParaRPr sz="1400"/>
          </a:p>
          <a:p>
            <a:r>
              <a:rPr sz="1400"/>
              <a:t>Activities</a:t>
            </a:r>
          </a:p>
          <a:p>
            <a:r>
              <a:rPr sz="1400"/>
              <a:t>1. Review Current Coverage:</a:t>
            </a:r>
          </a:p>
          <a:p>
            <a:r>
              <a:rPr sz="1400"/>
              <a:t>  - Run tests with coverage reporting</a:t>
            </a:r>
          </a:p>
          <a:p>
            <a:r>
              <a:rPr sz="1400"/>
              <a:t>  - Identify uncovered code paths</a:t>
            </a:r>
          </a:p>
          <a:p>
            <a:r>
              <a:rPr sz="1400"/>
              <a:t>  - Analyze coverage percentage by file/class</a:t>
            </a:r>
          </a:p>
          <a:p>
            <a:r>
              <a:rPr sz="1400"/>
              <a:t>2. Targeted Test Generation:</a:t>
            </a:r>
          </a:p>
          <a:p>
            <a:r>
              <a:rPr sz="1400"/>
              <a:t>  - Prompt: "Add tests to increase code coverage to [X]%"</a:t>
            </a:r>
          </a:p>
          <a:p>
            <a:r>
              <a:rPr sz="1400"/>
              <a:t>  - Observe how Copilot identifies gaps</a:t>
            </a:r>
          </a:p>
          <a:p>
            <a:r>
              <a:rPr sz="1400"/>
              <a:t>  - Review generated tests for quality</a:t>
            </a:r>
          </a:p>
          <a:p>
            <a:r>
              <a:rPr sz="1400"/>
              <a:t>3. Strategic Coverage Improvement:</a:t>
            </a:r>
          </a:p>
          <a:p>
            <a:r>
              <a:rPr sz="1400"/>
              <a:t>  - Prompt: "Add tests for edge cases in division operation"</a:t>
            </a:r>
          </a:p>
          <a:p>
            <a:r>
              <a:rPr sz="1400"/>
              <a:t>  - Prompt: "Add tests for corner cases like divide by zero"</a:t>
            </a:r>
          </a:p>
          <a:p>
            <a:r>
              <a:rPr sz="1400"/>
              <a:t>  - Prompt: "Add integration tests for evaluate arithmetic method"</a:t>
            </a:r>
          </a:p>
          <a:p>
            <a:r>
              <a:rPr sz="1400"/>
              <a:t>4. Verify Test Quality:</a:t>
            </a:r>
          </a:p>
          <a:p>
            <a:r>
              <a:rPr sz="1400"/>
              <a:t>  - Confirm tests call real implementation code</a:t>
            </a:r>
          </a:p>
          <a:p>
            <a:r>
              <a:rPr sz="1400"/>
              <a:t>  - Confirm tests verify expected behavior, not just execution</a:t>
            </a:r>
          </a:p>
          <a:p>
            <a:r>
              <a:rPr sz="1400"/>
              <a:t>  - Confirm edge cases are properly handled</a:t>
            </a:r>
          </a:p>
          <a:p>
            <a:r>
              <a:rPr sz="1400"/>
              <a:t>5. Re-run Coverage:</a:t>
            </a:r>
          </a:p>
          <a:p>
            <a:r>
              <a:rPr sz="1400"/>
              <a:t>  - Execute test suite with coverage</a:t>
            </a:r>
          </a:p>
          <a:p>
            <a:r>
              <a:rPr sz="1400"/>
              <a:t>  - Compare before/after percentages</a:t>
            </a:r>
          </a:p>
          <a:p>
            <a:r>
              <a:rPr sz="1400"/>
              <a:t>  - Identify remaining gaps</a:t>
            </a:r>
          </a:p>
          <a:p>
            <a:endParaRPr sz="1400"/>
          </a:p>
          <a:p>
            <a:r>
              <a:rPr sz="1400"/>
              <a:t>Success Criteria</a:t>
            </a:r>
          </a:p>
          <a:p>
            <a:r>
              <a:rPr sz="1400"/>
              <a:t>Code coverage increased by at least 20 percentage points</a:t>
            </a:r>
          </a:p>
          <a:p>
            <a:r>
              <a:rPr sz="1400"/>
              <a:t>All new tests are meaningful and test actual implementation</a:t>
            </a:r>
          </a:p>
          <a:p>
            <a:r>
              <a:rPr sz="1400"/>
              <a:t>Tests include edge cases and error conditions</a:t>
            </a:r>
          </a:p>
          <a:p>
            <a:r>
              <a:rPr sz="1400"/>
              <a:t>Coverage report shows improved metrics</a:t>
            </a:r>
          </a:p>
          <a:p>
            <a:r>
              <a:rPr sz="1400"/>
              <a:t>Understanding of test quality vs. quantity trade-offs</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2250"/>
              <a:t>Exercise: Lab 3 - Test-Driven Development (TDD) with Copilot</a:t>
            </a:r>
          </a:p>
        </p:txBody>
      </p:sp>
      <p:sp>
        <p:nvSpPr>
          <p:cNvPr id="3" name="Content Placeholder 2"/>
          <p:cNvSpPr>
            <a:spLocks noGrp="1"/>
          </p:cNvSpPr>
          <p:nvPr>
            <p:ph idx="1"/>
          </p:nvPr>
        </p:nvSpPr>
        <p:spPr/>
        <p:txBody>
          <a:bodyPr wrap="square">
            <a:noAutofit/>
          </a:bodyPr>
          <a:lstStyle/>
          <a:p>
            <a:endParaRPr sz="1400"/>
          </a:p>
          <a:p>
            <a:r>
              <a:rPr sz="1400"/>
              <a:t>Objectives</a:t>
            </a:r>
          </a:p>
          <a:p>
            <a:r>
              <a:rPr sz="1400"/>
              <a:t>Practice TDD workflow with AI assistance</a:t>
            </a:r>
          </a:p>
          <a:p>
            <a:r>
              <a:rPr sz="1400"/>
              <a:t>Write failing tests before implementation</a:t>
            </a:r>
          </a:p>
          <a:p>
            <a:r>
              <a:rPr sz="1400"/>
              <a:t>Use tests to drive design decisions</a:t>
            </a:r>
          </a:p>
          <a:p>
            <a:r>
              <a:rPr sz="1400"/>
              <a:t>Understand red-green-refactor cycle</a:t>
            </a:r>
          </a:p>
          <a:p>
            <a:endParaRPr sz="1400"/>
          </a:p>
          <a:p>
            <a:r>
              <a:rPr sz="1400"/>
              <a:t>Activities</a:t>
            </a:r>
          </a:p>
          <a:p>
            <a:r>
              <a:rPr sz="1400"/>
              <a:t>1. Define New Feature:</a:t>
            </a:r>
          </a:p>
          <a:p>
            <a:r>
              <a:rPr sz="1400"/>
              <a:t>  - Choose a feature (for example, memory operations for calculator)</a:t>
            </a:r>
          </a:p>
          <a:p>
            <a:r>
              <a:rPr sz="1400"/>
              <a:t>  - Store current result (ANS/answer functionality)</a:t>
            </a:r>
          </a:p>
          <a:p>
            <a:r>
              <a:rPr sz="1400"/>
              <a:t>  - Recall previous result</a:t>
            </a:r>
          </a:p>
          <a:p>
            <a:r>
              <a:rPr sz="1400"/>
              <a:t>  - Handle "ANS + 5" style operations</a:t>
            </a:r>
          </a:p>
          <a:p>
            <a:r>
              <a:rPr sz="1400"/>
              <a:t>2. Write Failing Tests First:</a:t>
            </a:r>
          </a:p>
          <a:p>
            <a:r>
              <a:rPr sz="1400"/>
              <a:t>  - Prompt: "Using TDD, create tests for a memory/answer feature in the calculator. DO NOT implement the feature yet."</a:t>
            </a:r>
          </a:p>
          <a:p>
            <a:r>
              <a:rPr sz="1400"/>
              <a:t>  - Review generated tests</a:t>
            </a:r>
          </a:p>
          <a:p>
            <a:r>
              <a:rPr sz="1400"/>
              <a:t>  - Verify tests reference methods that do not exist yet</a:t>
            </a:r>
          </a:p>
          <a:p>
            <a:r>
              <a:rPr sz="1400"/>
              <a:t>3. Run Tests (Expect Failures):</a:t>
            </a:r>
          </a:p>
          <a:p>
            <a:r>
              <a:rPr sz="1400"/>
              <a:t>  - Execute test suite</a:t>
            </a:r>
          </a:p>
          <a:p>
            <a:r>
              <a:rPr sz="1400"/>
              <a:t>  - Observe compilation errors or test failures</a:t>
            </a:r>
          </a:p>
          <a:p>
            <a:r>
              <a:rPr sz="1400"/>
              <a:t>  - Document what is missing</a:t>
            </a:r>
          </a:p>
          <a:p>
            <a:r>
              <a:rPr sz="1400"/>
              <a:t>4. Implement Feature to Pass Tests:</a:t>
            </a:r>
          </a:p>
          <a:p>
            <a:r>
              <a:rPr sz="1400"/>
              <a:t>  - Prompt: "Implement the memory/answer feature to make the tests pass"</a:t>
            </a:r>
          </a:p>
          <a:p>
            <a:r>
              <a:rPr sz="1400"/>
              <a:t>  - Review generated implementation</a:t>
            </a:r>
          </a:p>
          <a:p>
            <a:r>
              <a:rPr sz="1400"/>
              <a:t>  - Run tests again</a:t>
            </a:r>
          </a:p>
          <a:p>
            <a:r>
              <a:rPr sz="1400"/>
              <a:t>  - Verify all tests now pass</a:t>
            </a:r>
          </a:p>
          <a:p>
            <a:r>
              <a:rPr sz="1400"/>
              <a:t>5. Refactor:</a:t>
            </a:r>
          </a:p>
          <a:p>
            <a:r>
              <a:rPr sz="1400"/>
              <a:t>  - With tests passing, ask for improvements</a:t>
            </a:r>
          </a:p>
          <a:p>
            <a:r>
              <a:rPr sz="1400"/>
              <a:t>  - Prompt: "Refactor the answer implementation for better readability"</a:t>
            </a:r>
          </a:p>
          <a:p>
            <a:r>
              <a:rPr sz="1400"/>
              <a:t>  - Verify tests still pass after refactoring</a:t>
            </a:r>
          </a:p>
          <a:p>
            <a:endParaRPr sz="1400"/>
          </a:p>
          <a:p>
            <a:r>
              <a:rPr sz="1400"/>
              <a:t>Success Criteria</a:t>
            </a:r>
          </a:p>
          <a:p>
            <a:r>
              <a:rPr sz="1400"/>
              <a:t>Tests written before implementation</a:t>
            </a:r>
          </a:p>
          <a:p>
            <a:r>
              <a:rPr sz="1400"/>
              <a:t>Initial test run shows failures (red phase)</a:t>
            </a:r>
          </a:p>
          <a:p>
            <a:r>
              <a:rPr sz="1400"/>
              <a:t>Implementation makes all tests pass (green phase)</a:t>
            </a:r>
          </a:p>
          <a:p>
            <a:r>
              <a:rPr sz="1400"/>
              <a:t>Code refactored while maintaining passing tests</a:t>
            </a:r>
          </a:p>
          <a:p>
            <a:r>
              <a:rPr sz="1400"/>
              <a:t>Understanding of TDD benefits and workflow</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AI-Assisted CI/CD Pipelines</a:t>
            </a:r>
          </a:p>
        </p:txBody>
      </p:sp>
      <p:sp>
        <p:nvSpPr>
          <p:cNvPr id="3" name="Content Placeholder 2"/>
          <p:cNvSpPr>
            <a:spLocks noGrp="1"/>
          </p:cNvSpPr>
          <p:nvPr>
            <p:ph idx="1"/>
          </p:nvPr>
        </p:nvSpPr>
        <p:spPr/>
        <p:txBody>
          <a:bodyPr wrap="square">
            <a:normAutofit/>
          </a:bodyPr>
          <a:lstStyle/>
          <a:p>
            <a:endParaRPr/>
          </a:p>
          <a:p>
            <a:r>
              <a:t>GitHub Actions YAML generation</a:t>
            </a:r>
          </a:p>
          <a:p>
            <a:r>
              <a:t>Build automation with AI</a:t>
            </a:r>
          </a:p>
          <a:p>
            <a:r>
              <a:t>Coverage thresholds</a:t>
            </a:r>
          </a:p>
          <a:p>
            <a:r>
              <a:t>Pipeline maintenance and evolution</a:t>
            </a:r>
          </a:p>
          <a:p>
            <a:r>
              <a:t>Exercise: Generate a pipeline from scratch</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Why Pipelines Are Hard</a:t>
            </a:r>
          </a:p>
        </p:txBody>
      </p:sp>
      <p:sp>
        <p:nvSpPr>
          <p:cNvPr id="3" name="Content Placeholder 2"/>
          <p:cNvSpPr>
            <a:spLocks noGrp="1"/>
          </p:cNvSpPr>
          <p:nvPr>
            <p:ph idx="1"/>
          </p:nvPr>
        </p:nvSpPr>
        <p:spPr/>
        <p:txBody>
          <a:bodyPr wrap="square">
            <a:normAutofit/>
          </a:bodyPr>
          <a:lstStyle/>
          <a:p>
            <a:endParaRPr/>
          </a:p>
          <a:p>
            <a:r>
              <a:t>YAML syntax is unforgiving</a:t>
            </a:r>
          </a:p>
          <a:p>
            <a:r>
              <a:t>Action versions change constantly</a:t>
            </a:r>
          </a:p>
          <a:p>
            <a:r>
              <a:t>Environment variables, secrets, and caching rules interact unexpectedly</a:t>
            </a:r>
          </a:p>
          <a:p>
            <a:r>
              <a:t>Coverage gates, linting, and deployment steps differ per project</a:t>
            </a:r>
          </a:p>
          <a:p>
            <a:r>
              <a:t>Copy-paste drift between projects accumulates silently</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What AI Brings to CI/CD</a:t>
            </a:r>
          </a:p>
        </p:txBody>
      </p:sp>
      <p:sp>
        <p:nvSpPr>
          <p:cNvPr id="3" name="Content Placeholder 2"/>
          <p:cNvSpPr>
            <a:spLocks noGrp="1"/>
          </p:cNvSpPr>
          <p:nvPr>
            <p:ph idx="1"/>
          </p:nvPr>
        </p:nvSpPr>
        <p:spPr/>
        <p:txBody>
          <a:bodyPr wrap="square">
            <a:noAutofit/>
          </a:bodyPr>
          <a:lstStyle/>
          <a:p>
            <a:endParaRPr sz="1550"/>
          </a:p>
          <a:p>
            <a:r>
              <a:rPr sz="1550"/>
              <a:t>```text</a:t>
            </a:r>
          </a:p>
          <a:p>
            <a:r>
              <a:rPr sz="1550"/>
              <a:t>You → intent           AI → working YAML</a:t>
            </a:r>
          </a:p>
          <a:p>
            <a:r>
              <a:rPr sz="1550"/>
              <a:t>   "run tests on PR"        on: [pull_request]</a:t>
            </a:r>
          </a:p>
          <a:p>
            <a:r>
              <a:rPr sz="1550"/>
              <a:t>                            jobs: test: ...</a:t>
            </a:r>
          </a:p>
          <a:p>
            <a:r>
              <a:rPr sz="1550"/>
              <a:t>```</a:t>
            </a:r>
          </a:p>
          <a:p>
            <a:endParaRPr sz="1550"/>
          </a:p>
          <a:p>
            <a:r>
              <a:rPr sz="1550"/>
              <a:t>Generate pipelines from plain English</a:t>
            </a:r>
          </a:p>
          <a:p>
            <a:r>
              <a:rPr sz="1550"/>
              <a:t>Explain unfamiliar pipeline syntax</a:t>
            </a:r>
          </a:p>
          <a:p>
            <a:r>
              <a:rPr sz="1550"/>
              <a:t>Diagnose failing workflow runs from logs</a:t>
            </a:r>
          </a:p>
          <a:p>
            <a:r>
              <a:rPr sz="1550"/>
              <a:t>Suggest caching, matrix, and concurrency improvements</a:t>
            </a:r>
          </a:p>
          <a:p>
            <a:r>
              <a:rPr sz="1550"/>
              <a:t>Keep actions pinned and up to date</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4150"/>
              <a:t>GitHub Actions YAML Generation</a:t>
            </a:r>
          </a:p>
        </p:txBody>
      </p:sp>
      <p:sp>
        <p:nvSpPr>
          <p:cNvPr id="3" name="Content Placeholder 2"/>
          <p:cNvSpPr>
            <a:spLocks noGrp="1"/>
          </p:cNvSpPr>
          <p:nvPr>
            <p:ph idx="1"/>
          </p:nvPr>
        </p:nvSpPr>
        <p:spPr/>
        <p:txBody>
          <a:bodyPr wrap="square">
            <a:noAutofit/>
          </a:bodyPr>
          <a:lstStyle/>
          <a:p>
            <a:endParaRPr sz="1400"/>
          </a:p>
          <a:p>
            <a:r>
              <a:rPr sz="1400"/>
              <a:t>Ask Copilot in chat or inline:</a:t>
            </a:r>
          </a:p>
          <a:p>
            <a:endParaRPr sz="1400"/>
          </a:p>
          <a:p>
            <a:r>
              <a:rPr sz="1400"/>
              <a:t>```text</a:t>
            </a:r>
          </a:p>
          <a:p>
            <a:r>
              <a:rPr sz="1400"/>
              <a:t>Prompt: "Create a GitHub Actions workflow that runs</a:t>
            </a:r>
          </a:p>
          <a:p>
            <a:r>
              <a:rPr sz="1400"/>
              <a:t>dotnet test on every pull request targeting main,</a:t>
            </a:r>
          </a:p>
          <a:p>
            <a:r>
              <a:rPr sz="1400"/>
              <a:t>uploads a code coverage report, and fails if</a:t>
            </a:r>
          </a:p>
          <a:p>
            <a:r>
              <a:rPr sz="1400"/>
              <a:t>coverage drops below 80%."</a:t>
            </a:r>
          </a:p>
          <a:p>
            <a:r>
              <a:rPr sz="1400"/>
              <a:t>```</a:t>
            </a:r>
          </a:p>
          <a:p>
            <a:endParaRPr sz="1400"/>
          </a:p>
          <a:p>
            <a:r>
              <a:rPr sz="1400"/>
              <a:t>Copilot generates:</a:t>
            </a:r>
          </a:p>
          <a:p>
            <a:endParaRPr sz="1400"/>
          </a:p>
          <a:p>
            <a:r>
              <a:rPr sz="1400"/>
              <a:t>Trigger block (`on:`)</a:t>
            </a:r>
          </a:p>
          <a:p>
            <a:r>
              <a:rPr sz="1400"/>
              <a:t>Job matrix</a:t>
            </a:r>
          </a:p>
          <a:p>
            <a:r>
              <a:rPr sz="1400"/>
              <a:t>Step sequence</a:t>
            </a:r>
          </a:p>
          <a:p>
            <a:r>
              <a:rPr sz="1400"/>
              <a:t>Coverage upload + threshold enforcement</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500"/>
              <a:t>Anatomy of an AI-Generated Workflow</a:t>
            </a:r>
          </a:p>
        </p:txBody>
      </p:sp>
      <p:sp>
        <p:nvSpPr>
          <p:cNvPr id="3" name="Content Placeholder 2"/>
          <p:cNvSpPr>
            <a:spLocks noGrp="1"/>
          </p:cNvSpPr>
          <p:nvPr>
            <p:ph idx="1"/>
          </p:nvPr>
        </p:nvSpPr>
        <p:spPr/>
        <p:txBody>
          <a:bodyPr wrap="square">
            <a:noAutofit/>
          </a:bodyPr>
          <a:lstStyle/>
          <a:p>
            <a:endParaRPr sz="1400"/>
          </a:p>
          <a:p>
            <a:r>
              <a:rPr sz="1400"/>
              <a:t>```yaml</a:t>
            </a:r>
          </a:p>
          <a:p>
            <a:r>
              <a:rPr sz="1400"/>
              <a:t>name: CI</a:t>
            </a:r>
          </a:p>
          <a:p>
            <a:endParaRPr sz="1400"/>
          </a:p>
          <a:p>
            <a:r>
              <a:rPr sz="1400"/>
              <a:t>on:</a:t>
            </a:r>
          </a:p>
          <a:p>
            <a:r>
              <a:rPr sz="1400"/>
              <a:t>  pull_request:</a:t>
            </a:r>
          </a:p>
          <a:p>
            <a:r>
              <a:rPr sz="1400"/>
              <a:t>    branches: [main]</a:t>
            </a:r>
          </a:p>
          <a:p>
            <a:endParaRPr sz="1400"/>
          </a:p>
          <a:p>
            <a:r>
              <a:rPr sz="1400"/>
              <a:t>jobs:</a:t>
            </a:r>
          </a:p>
          <a:p>
            <a:r>
              <a:rPr sz="1400"/>
              <a:t>  build-and-test:</a:t>
            </a:r>
          </a:p>
          <a:p>
            <a:r>
              <a:rPr sz="1400"/>
              <a:t>    runs-on: ubuntu-latest</a:t>
            </a:r>
          </a:p>
          <a:p>
            <a:r>
              <a:rPr sz="1400"/>
              <a:t>    steps:</a:t>
            </a:r>
          </a:p>
          <a:p>
            <a:r>
              <a:rPr sz="1400"/>
              <a:t>      - uses: actions/checkout@v4</a:t>
            </a:r>
          </a:p>
          <a:p>
            <a:r>
              <a:rPr sz="1400"/>
              <a:t>      - uses: actions/setup-dotnet@v4</a:t>
            </a:r>
          </a:p>
          <a:p>
            <a:r>
              <a:rPr sz="1400"/>
              <a:t>        with:</a:t>
            </a:r>
          </a:p>
          <a:p>
            <a:r>
              <a:rPr sz="1400"/>
              <a:t>          dotnet-version: "8.x"</a:t>
            </a:r>
          </a:p>
          <a:p>
            <a:r>
              <a:rPr sz="1400"/>
              <a:t>      - run: dotnet restore</a:t>
            </a:r>
          </a:p>
          <a:p>
            <a:r>
              <a:rPr sz="1400"/>
              <a:t>      - run: dotnet build --no-restore</a:t>
            </a:r>
          </a:p>
          <a:p>
            <a:r>
              <a:rPr sz="1400"/>
              <a:t>      - run: dotnet test --no-build</a:t>
            </a:r>
          </a:p>
          <a:p>
            <a:r>
              <a:rPr sz="1400"/>
              <a:t>          --collect:"XPlat Code Coverage"</a:t>
            </a:r>
          </a:p>
          <a:p>
            <a:r>
              <a:rPr sz="1400"/>
              <a:t>```</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Coverage Thresholds</a:t>
            </a:r>
          </a:p>
        </p:txBody>
      </p:sp>
      <p:sp>
        <p:nvSpPr>
          <p:cNvPr id="3" name="Content Placeholder 2"/>
          <p:cNvSpPr>
            <a:spLocks noGrp="1"/>
          </p:cNvSpPr>
          <p:nvPr>
            <p:ph idx="1"/>
          </p:nvPr>
        </p:nvSpPr>
        <p:spPr/>
        <p:txBody>
          <a:bodyPr wrap="square">
            <a:noAutofit/>
          </a:bodyPr>
          <a:lstStyle/>
          <a:p>
            <a:endParaRPr sz="1400"/>
          </a:p>
          <a:p>
            <a:r>
              <a:rPr sz="1400"/>
              <a:t>Coverage gates enforce quality — AI helps configure them correctly</a:t>
            </a:r>
          </a:p>
          <a:p>
            <a:endParaRPr sz="1400"/>
          </a:p>
          <a:p>
            <a:r>
              <a:rPr sz="1400"/>
              <a:t>```yaml</a:t>
            </a:r>
          </a:p>
          <a:p>
            <a:r>
              <a:rPr sz="1400"/>
              <a:t>name: Test with coverage</a:t>
            </a:r>
          </a:p>
          <a:p>
            <a:r>
              <a:rPr sz="1400"/>
              <a:t>  run: |</a:t>
            </a:r>
          </a:p>
          <a:p>
            <a:r>
              <a:rPr sz="1400"/>
              <a:t>    dotnet test --collect:"XPlat Code Coverage" \</a:t>
            </a:r>
          </a:p>
          <a:p>
            <a:r>
              <a:rPr sz="1400"/>
              <a:t>      -- DataCollectionRunSettings.DataCollectors \</a:t>
            </a:r>
          </a:p>
          <a:p>
            <a:r>
              <a:rPr sz="1400"/>
              <a:t>         .DataCollector.Configuration.Threshold=80</a:t>
            </a:r>
          </a:p>
          <a:p>
            <a:endParaRPr sz="1400"/>
          </a:p>
          <a:p>
            <a:r>
              <a:rPr sz="1400"/>
              <a:t>name: Upload coverage</a:t>
            </a:r>
          </a:p>
          <a:p>
            <a:r>
              <a:rPr sz="1400"/>
              <a:t>  uses: codecov/codecov-action@v4</a:t>
            </a:r>
          </a:p>
          <a:p>
            <a:r>
              <a:rPr sz="1400"/>
              <a:t>  with:</a:t>
            </a:r>
          </a:p>
          <a:p>
            <a:r>
              <a:rPr sz="1400"/>
              <a:t>    fail_ci_if_error: true</a:t>
            </a:r>
          </a:p>
          <a:p>
            <a:r>
              <a:rPr sz="1400"/>
              <a:t>    threshold: 80</a:t>
            </a:r>
          </a:p>
          <a:p>
            <a:r>
              <a:rPr sz="1400"/>
              <a:t>```</a:t>
            </a:r>
          </a:p>
          <a:p>
            <a:endParaRPr sz="1400"/>
          </a:p>
          <a:p>
            <a:r>
              <a:rPr sz="1400"/>
              <a:t>Ask Copilot: _"How do I fail the build if branch coverage drops below 80%?"_</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Build Automation Patterns</a:t>
            </a:r>
          </a:p>
        </p:txBody>
      </p:sp>
      <p:sp>
        <p:nvSpPr>
          <p:cNvPr id="3" name="Content Placeholder 2"/>
          <p:cNvSpPr>
            <a:spLocks noGrp="1"/>
          </p:cNvSpPr>
          <p:nvPr>
            <p:ph idx="1"/>
          </p:nvPr>
        </p:nvSpPr>
        <p:spPr/>
        <p:txBody>
          <a:bodyPr wrap="square">
            <a:noAutofit/>
          </a:bodyPr>
          <a:lstStyle/>
          <a:p>
            <a:endParaRPr sz="1400"/>
          </a:p>
          <a:p>
            <a:r>
              <a:rPr sz="1400"/>
              <a:t>AI can generate: matrix builds, dependency caching, artifact upload</a:t>
            </a:r>
          </a:p>
          <a:p>
            <a:endParaRPr sz="1400"/>
          </a:p>
          <a:p>
            <a:r>
              <a:rPr sz="1400"/>
              <a:t>```yaml</a:t>
            </a:r>
          </a:p>
          <a:p>
            <a:r>
              <a:rPr sz="1400"/>
              <a:t>strategy:</a:t>
            </a:r>
          </a:p>
          <a:p>
            <a:r>
              <a:rPr sz="1400"/>
              <a:t>  matrix:</a:t>
            </a:r>
          </a:p>
          <a:p>
            <a:r>
              <a:rPr sz="1400"/>
              <a:t>    os: [ubuntu-latest, windows-latest]</a:t>
            </a:r>
          </a:p>
          <a:p>
            <a:r>
              <a:rPr sz="1400"/>
              <a:t>    dotnet: ["7.x", "8.x"]</a:t>
            </a:r>
          </a:p>
          <a:p>
            <a:endParaRPr sz="1400"/>
          </a:p>
          <a:p>
            <a:r>
              <a:rPr sz="1400"/>
              <a:t>steps:</a:t>
            </a:r>
          </a:p>
          <a:p>
            <a:r>
              <a:rPr sz="1400"/>
              <a:t>  - uses: actions/cache@v4</a:t>
            </a:r>
          </a:p>
          <a:p>
            <a:r>
              <a:rPr sz="1400"/>
              <a:t>    with:</a:t>
            </a:r>
          </a:p>
          <a:p>
            <a:r>
              <a:rPr sz="1400"/>
              <a:t>      path: ~/.nuget/packages</a:t>
            </a:r>
          </a:p>
          <a:p>
            <a:r>
              <a:rPr sz="1400"/>
              <a:t>      key: ${{ runner.os }}-nuget-</a:t>
            </a:r>
          </a:p>
          <a:p>
            <a:r>
              <a:rPr sz="1400"/>
              <a:t>        ${{ hashFiles('**/*.csproj') }}</a:t>
            </a:r>
          </a:p>
          <a:p>
            <a:endParaRPr sz="1400"/>
          </a:p>
          <a:p>
            <a:r>
              <a:rPr sz="1400"/>
              <a:t>  - uses: actions/upload-artifact@v4</a:t>
            </a:r>
          </a:p>
          <a:p>
            <a:r>
              <a:rPr sz="1400"/>
              <a:t>    with:</a:t>
            </a:r>
          </a:p>
          <a:p>
            <a:r>
              <a:rPr sz="1400"/>
              <a:t>      name: test-results</a:t>
            </a:r>
          </a:p>
          <a:p>
            <a:r>
              <a:rPr sz="1400"/>
              <a:t>      path: TestResults/</a:t>
            </a:r>
          </a:p>
          <a:p>
            <a:r>
              <a:rPr sz="1400"/>
              <a:t>```</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Maintaining Pipelines with AI</a:t>
            </a:r>
          </a:p>
        </p:txBody>
      </p:sp>
      <p:sp>
        <p:nvSpPr>
          <p:cNvPr id="3" name="Content Placeholder 2"/>
          <p:cNvSpPr>
            <a:spLocks noGrp="1"/>
          </p:cNvSpPr>
          <p:nvPr>
            <p:ph idx="1"/>
          </p:nvPr>
        </p:nvSpPr>
        <p:spPr/>
        <p:txBody>
          <a:bodyPr wrap="square">
            <a:noAutofit/>
          </a:bodyPr>
          <a:lstStyle/>
          <a:p>
            <a:endParaRPr sz="1750"/>
          </a:p>
          <a:p>
            <a:r>
              <a:rPr sz="1750"/>
              <a:t>Pipelines rot — actions deprecate, runners change, dependencies drift</a:t>
            </a:r>
          </a:p>
          <a:p>
            <a:endParaRPr sz="1750"/>
          </a:p>
          <a:p>
            <a:r>
              <a:rPr sz="1750"/>
              <a:t>Ask Copilot to:</a:t>
            </a:r>
          </a:p>
          <a:p>
            <a:endParaRPr sz="1750"/>
          </a:p>
          <a:p>
            <a:r>
              <a:rPr sz="1750"/>
              <a:t>Explain a failing run from pasted log output</a:t>
            </a:r>
          </a:p>
          <a:p>
            <a:r>
              <a:rPr sz="1750"/>
              <a:t>Upgrade pinned action versions safely</a:t>
            </a:r>
          </a:p>
          <a:p>
            <a:r>
              <a:rPr sz="1750"/>
              <a:t>Refactor a 300-line workflow into reusable workflows</a:t>
            </a:r>
          </a:p>
          <a:p>
            <a:r>
              <a:rPr sz="1750"/>
              <a:t>Add a deployment stage to an existing CI workflow</a:t>
            </a:r>
          </a:p>
          <a:p>
            <a:endParaRPr sz="1750"/>
          </a:p>
          <a:p>
            <a:r>
              <a:rPr sz="1750"/>
              <a:t>_"This workflow is failing with exit code 128 — here is the log. What is wrong?"_</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Reusable Workflows</a:t>
            </a:r>
          </a:p>
        </p:txBody>
      </p:sp>
      <p:sp>
        <p:nvSpPr>
          <p:cNvPr id="3" name="Content Placeholder 2"/>
          <p:cNvSpPr>
            <a:spLocks noGrp="1"/>
          </p:cNvSpPr>
          <p:nvPr>
            <p:ph idx="1"/>
          </p:nvPr>
        </p:nvSpPr>
        <p:spPr/>
        <p:txBody>
          <a:bodyPr wrap="square">
            <a:noAutofit/>
          </a:bodyPr>
          <a:lstStyle/>
          <a:p>
            <a:endParaRPr sz="1400"/>
          </a:p>
          <a:p>
            <a:r>
              <a:rPr sz="1400"/>
              <a:t>AI generates caller and callee in one prompt</a:t>
            </a:r>
          </a:p>
          <a:p>
            <a:endParaRPr sz="1400"/>
          </a:p>
          <a:p>
            <a:r>
              <a:rPr sz="1400"/>
              <a:t>```yaml</a:t>
            </a:r>
          </a:p>
          <a:p>
            <a:r>
              <a:rPr sz="1400"/>
              <a:t># .github/workflows/reusable-test.yml</a:t>
            </a:r>
          </a:p>
          <a:p>
            <a:r>
              <a:rPr sz="1400"/>
              <a:t>on:</a:t>
            </a:r>
          </a:p>
          <a:p>
            <a:r>
              <a:rPr sz="1400"/>
              <a:t>  workflow_call:</a:t>
            </a:r>
          </a:p>
          <a:p>
            <a:r>
              <a:rPr sz="1400"/>
              <a:t>    inputs:</a:t>
            </a:r>
          </a:p>
          <a:p>
            <a:r>
              <a:rPr sz="1400"/>
              <a:t>      dotnet-version:</a:t>
            </a:r>
          </a:p>
          <a:p>
            <a:r>
              <a:rPr sz="1400"/>
              <a:t>        required: true</a:t>
            </a:r>
          </a:p>
          <a:p>
            <a:r>
              <a:rPr sz="1400"/>
              <a:t>        type: string</a:t>
            </a:r>
          </a:p>
          <a:p>
            <a:endParaRPr sz="1400"/>
          </a:p>
          <a:p>
            <a:r>
              <a:rPr sz="1400"/>
              <a:t>jobs:</a:t>
            </a:r>
          </a:p>
          <a:p>
            <a:r>
              <a:rPr sz="1400"/>
              <a:t>  test:</a:t>
            </a:r>
          </a:p>
          <a:p>
            <a:r>
              <a:rPr sz="1400"/>
              <a:t>    runs-on: ubuntu-latest</a:t>
            </a:r>
          </a:p>
          <a:p>
            <a:r>
              <a:rPr sz="1400"/>
              <a:t>    steps:</a:t>
            </a:r>
          </a:p>
          <a:p>
            <a:r>
              <a:rPr sz="1400"/>
              <a:t>      - uses: actions/checkout@v4</a:t>
            </a:r>
          </a:p>
          <a:p>
            <a:r>
              <a:rPr sz="1400"/>
              <a:t>      - uses: actions/setup-dotnet@v4</a:t>
            </a:r>
          </a:p>
          <a:p>
            <a:r>
              <a:rPr sz="1400"/>
              <a:t>        with:</a:t>
            </a:r>
          </a:p>
          <a:p>
            <a:r>
              <a:rPr sz="1400"/>
              <a:t>          dotnet-version: ${{ inputs.dotnet-version }}</a:t>
            </a:r>
          </a:p>
          <a:p>
            <a:r>
              <a:rPr sz="1400"/>
              <a:t>      - run: dotnet test</a:t>
            </a:r>
          </a:p>
          <a:p>
            <a:r>
              <a:rPr sz="1400"/>
              <a:t>```</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4050"/>
              <a:t>Secrets, Permissions, and Security</a:t>
            </a:r>
          </a:p>
        </p:txBody>
      </p:sp>
      <p:sp>
        <p:nvSpPr>
          <p:cNvPr id="3" name="Content Placeholder 2"/>
          <p:cNvSpPr>
            <a:spLocks noGrp="1"/>
          </p:cNvSpPr>
          <p:nvPr>
            <p:ph idx="1"/>
          </p:nvPr>
        </p:nvSpPr>
        <p:spPr/>
        <p:txBody>
          <a:bodyPr wrap="square">
            <a:noAutofit/>
          </a:bodyPr>
          <a:lstStyle/>
          <a:p>
            <a:endParaRPr sz="1400"/>
          </a:p>
          <a:p>
            <a:r>
              <a:rPr sz="1400"/>
              <a:t>AI assists but YOU own security decisions</a:t>
            </a:r>
          </a:p>
          <a:p>
            <a:endParaRPr sz="1400"/>
          </a:p>
          <a:p>
            <a:r>
              <a:rPr sz="1400"/>
              <a:t>```yaml</a:t>
            </a:r>
          </a:p>
          <a:p>
            <a:r>
              <a:rPr sz="1400"/>
              <a:t>permissions:</a:t>
            </a:r>
          </a:p>
          <a:p>
            <a:r>
              <a:rPr sz="1400"/>
              <a:t>  contents: read</a:t>
            </a:r>
          </a:p>
          <a:p>
            <a:r>
              <a:rPr sz="1400"/>
              <a:t>  checks: write # required for test reporters</a:t>
            </a:r>
          </a:p>
          <a:p>
            <a:r>
              <a:rPr sz="1400"/>
              <a:t>  pull-requests: write # required for PR comments</a:t>
            </a:r>
          </a:p>
          <a:p>
            <a:endParaRPr sz="1400"/>
          </a:p>
          <a:p>
            <a:r>
              <a:rPr sz="1400"/>
              <a:t>env:</a:t>
            </a:r>
          </a:p>
          <a:p>
            <a:r>
              <a:rPr sz="1400"/>
              <a:t>  SONAR_TOKEN: ${{ secrets.SONAR_TOKEN }}</a:t>
            </a:r>
          </a:p>
          <a:p>
            <a:r>
              <a:rPr sz="1400"/>
              <a:t>```</a:t>
            </a:r>
          </a:p>
          <a:p>
            <a:endParaRPr sz="1400"/>
          </a:p>
          <a:p>
            <a:r>
              <a:rPr sz="1400"/>
              <a:t>Ask AI: _"What is the minimum permissions block for uploading coverage?"_</a:t>
            </a:r>
          </a:p>
          <a:p>
            <a:r>
              <a:rPr sz="1400"/>
              <a:t>Review AI output — it cannot know your org's secret names</a:t>
            </a:r>
          </a:p>
          <a:p>
            <a:r>
              <a:rPr sz="1400"/>
              <a:t>Never commit secrets; use `${{ secrets.NAME }}`</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700"/>
              <a:t>From Zero to Pipeline: Live Workflow</a:t>
            </a:r>
          </a:p>
        </p:txBody>
      </p:sp>
      <p:sp>
        <p:nvSpPr>
          <p:cNvPr id="3" name="Content Placeholder 2"/>
          <p:cNvSpPr>
            <a:spLocks noGrp="1"/>
          </p:cNvSpPr>
          <p:nvPr>
            <p:ph idx="1"/>
          </p:nvPr>
        </p:nvSpPr>
        <p:spPr/>
        <p:txBody>
          <a:bodyPr wrap="square">
            <a:noAutofit/>
          </a:bodyPr>
          <a:lstStyle/>
          <a:p>
            <a:endParaRPr sz="1400"/>
          </a:p>
          <a:p>
            <a:r>
              <a:rPr sz="1400"/>
              <a:t>```text</a:t>
            </a:r>
          </a:p>
          <a:p>
            <a:r>
              <a:rPr sz="1400"/>
              <a:t>1. Describe your stack to Copilot</a:t>
            </a:r>
          </a:p>
          <a:p>
            <a:r>
              <a:rPr sz="1400"/>
              <a:t>   "Node 20, Vitest, Playwright e2e, deploys to Azure"</a:t>
            </a:r>
          </a:p>
          <a:p>
            <a:endParaRPr sz="1400"/>
          </a:p>
          <a:p>
            <a:r>
              <a:rPr sz="1400"/>
              <a:t>2. Ask for a complete CI workflow</a:t>
            </a:r>
          </a:p>
          <a:p>
            <a:r>
              <a:rPr sz="1400"/>
              <a:t>   → Copilot generates trigger, jobs, steps</a:t>
            </a:r>
          </a:p>
          <a:p>
            <a:endParaRPr sz="1400"/>
          </a:p>
          <a:p>
            <a:r>
              <a:rPr sz="1400"/>
              <a:t>3. Ask for coverage enforcement</a:t>
            </a:r>
          </a:p>
          <a:p>
            <a:r>
              <a:rPr sz="1400"/>
              <a:t>   → Copilot adds threshold + upload steps</a:t>
            </a:r>
          </a:p>
          <a:p>
            <a:endParaRPr sz="1400"/>
          </a:p>
          <a:p>
            <a:r>
              <a:rPr sz="1400"/>
              <a:t>4. Ask "what caching should I add?"</a:t>
            </a:r>
          </a:p>
          <a:p>
            <a:r>
              <a:rPr sz="1400"/>
              <a:t>   → Copilot adds node_modules cache with correct key</a:t>
            </a:r>
          </a:p>
          <a:p>
            <a:endParaRPr sz="1400"/>
          </a:p>
          <a:p>
            <a:r>
              <a:rPr sz="1400"/>
              <a:t>5. Paste a failure log and ask "why?"</a:t>
            </a:r>
          </a:p>
          <a:p>
            <a:r>
              <a:rPr sz="1400"/>
              <a:t>   → Copilot diagnoses in seconds</a:t>
            </a:r>
          </a:p>
          <a:p>
            <a:r>
              <a:rPr sz="1400"/>
              <a:t>```</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Hands-On Exercise</a:t>
            </a:r>
          </a:p>
        </p:txBody>
      </p:sp>
      <p:sp>
        <p:nvSpPr>
          <p:cNvPr id="3" name="Content Placeholder 2"/>
          <p:cNvSpPr>
            <a:spLocks noGrp="1"/>
          </p:cNvSpPr>
          <p:nvPr>
            <p:ph idx="1"/>
          </p:nvPr>
        </p:nvSpPr>
        <p:spPr/>
        <p:txBody>
          <a:bodyPr wrap="square">
            <a:noAutofit/>
          </a:bodyPr>
          <a:lstStyle/>
          <a:p>
            <a:endParaRPr sz="1750"/>
          </a:p>
          <a:p>
            <a:r>
              <a:rPr sz="1750" b="1"/>
              <a:t>Goal</a:t>
            </a:r>
            <a:r>
              <a:rPr sz="1750"/>
              <a:t>: Generate a complete CI pipeline for a provided sample repo</a:t>
            </a:r>
          </a:p>
          <a:p>
            <a:endParaRPr sz="1750"/>
          </a:p>
          <a:p>
            <a:r>
              <a:rPr sz="1750"/>
              <a:t>1. Open GitHub Copilot Chat in VS Code</a:t>
            </a:r>
          </a:p>
          <a:p>
            <a:r>
              <a:rPr sz="1750"/>
              <a:t>2. Ask: _"Create a GitHub Actions CI workflow for this project"_</a:t>
            </a:r>
          </a:p>
          <a:p>
            <a:r>
              <a:rPr sz="1750"/>
              <a:t>3. Review and commit the generated YAML</a:t>
            </a:r>
          </a:p>
          <a:p>
            <a:r>
              <a:rPr sz="1750"/>
              <a:t>4. Add a coverage threshold at 70%</a:t>
            </a:r>
          </a:p>
          <a:p>
            <a:r>
              <a:rPr sz="1750"/>
              <a:t>5. Ask Copilot to explain one step you do not understand</a:t>
            </a:r>
          </a:p>
          <a:p>
            <a:r>
              <a:rPr sz="1750"/>
              <a:t>6. </a:t>
            </a:r>
            <a:r>
              <a:rPr sz="1750" b="1"/>
              <a:t>Bonus</a:t>
            </a:r>
            <a:r>
              <a:rPr sz="1750"/>
              <a:t>: Add a matrix build for two Node versions</a:t>
            </a:r>
          </a:p>
          <a:p>
            <a:endParaRPr sz="1750"/>
          </a:p>
          <a:p>
            <a:r>
              <a:rPr sz="1750"/>
              <a:t>_Sample repo link provided by instructor_</a:t>
            </a: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Key Takeaways</a:t>
            </a:r>
          </a:p>
        </p:txBody>
      </p:sp>
      <p:sp>
        <p:nvSpPr>
          <p:cNvPr id="3" name="Content Placeholder 2"/>
          <p:cNvSpPr>
            <a:spLocks noGrp="1"/>
          </p:cNvSpPr>
          <p:nvPr>
            <p:ph idx="1"/>
          </p:nvPr>
        </p:nvSpPr>
        <p:spPr/>
        <p:txBody>
          <a:bodyPr wrap="square">
            <a:normAutofit/>
          </a:bodyPr>
          <a:lstStyle/>
          <a:p>
            <a:endParaRPr/>
          </a:p>
          <a:p>
            <a:r>
              <a:t>AI dramatically shortens the pipeline feedback loop</a:t>
            </a:r>
          </a:p>
          <a:p>
            <a:r>
              <a:t>Generated YAML is a starting point — review every line</a:t>
            </a:r>
          </a:p>
          <a:p>
            <a:r>
              <a:t>Coverage thresholds belong in both the test runner _and_ the upload action</a:t>
            </a:r>
          </a:p>
          <a:p>
            <a:r>
              <a:t>Reusable workflows reduce drift across repositories</a:t>
            </a:r>
          </a:p>
          <a:p>
            <a:r>
              <a:t>Maintenance conversations are as valuable as generation</a:t>
            </a:r>
          </a:p>
          <a:p>
            <a:r>
              <a:t>You own the pipeline; AI is your co-pilot</a:t>
            </a: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AI-Assisted GitHub Pull Requests</a:t>
            </a: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The Pull Request Lifecycle</a:t>
            </a:r>
          </a:p>
        </p:txBody>
      </p:sp>
      <p:graphicFrame>
        <p:nvGraphicFramePr>
          <p:cNvPr id="3" name="Table 2"/>
          <p:cNvGraphicFramePr>
            <a:graphicFrameLocks noGrp="1"/>
          </p:cNvGraphicFramePr>
          <p:nvPr/>
        </p:nvGraphicFramePr>
        <p:xfrm>
          <a:off x="457200" y="1828800"/>
          <a:ext cx="8229600" cy="2743200"/>
        </p:xfrm>
        <a:graphic>
          <a:graphicData uri="http://schemas.openxmlformats.org/drawingml/2006/table">
            <a:tbl>
              <a:tblPr firstRow="1" bandRow="1">
                <a:tableStyleId>{5C22544A-7EE6-4342-B048-85BDC9FD1C3A}</a:tableStyleId>
              </a:tblPr>
              <a:tblGrid>
                <a:gridCol w="411480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tblGrid>
              <a:tr h="457200">
                <a:tc>
                  <a:txBody>
                    <a:bodyPr/>
                    <a:lstStyle/>
                    <a:p>
                      <a:pPr>
                        <a:defRPr sz="1296" b="1"/>
                      </a:pPr>
                      <a:r>
                        <a:t>Stage</a:t>
                      </a:r>
                    </a:p>
                  </a:txBody>
                  <a:tcPr/>
                </a:tc>
                <a:tc>
                  <a:txBody>
                    <a:bodyPr/>
                    <a:lstStyle/>
                    <a:p>
                      <a:pPr>
                        <a:defRPr sz="1296" b="1"/>
                      </a:pPr>
                      <a:r>
                        <a:t>AI Assistance</a:t>
                      </a:r>
                    </a:p>
                  </a:txBody>
                  <a:tcPr/>
                </a:tc>
                <a:extLst>
                  <a:ext uri="{0D108BD9-81ED-4DB2-BD59-A6C34878D82A}">
                    <a16:rowId xmlns:a16="http://schemas.microsoft.com/office/drawing/2014/main" val="10000"/>
                  </a:ext>
                </a:extLst>
              </a:tr>
              <a:tr h="457200">
                <a:tc>
                  <a:txBody>
                    <a:bodyPr/>
                    <a:lstStyle/>
                    <a:p>
                      <a:r>
                        <a:t>Writing code</a:t>
                      </a:r>
                    </a:p>
                  </a:txBody>
                  <a:tcPr/>
                </a:tc>
                <a:tc>
                  <a:txBody>
                    <a:bodyPr/>
                    <a:lstStyle/>
                    <a:p>
                      <a:r>
                        <a:t>Copilot completions</a:t>
                      </a:r>
                    </a:p>
                  </a:txBody>
                  <a:tcPr/>
                </a:tc>
                <a:extLst>
                  <a:ext uri="{0D108BD9-81ED-4DB2-BD59-A6C34878D82A}">
                    <a16:rowId xmlns:a16="http://schemas.microsoft.com/office/drawing/2014/main" val="10001"/>
                  </a:ext>
                </a:extLst>
              </a:tr>
              <a:tr h="457200">
                <a:tc>
                  <a:txBody>
                    <a:bodyPr/>
                    <a:lstStyle/>
                    <a:p>
                      <a:r>
                        <a:t>Drafting the PR</a:t>
                      </a:r>
                    </a:p>
                  </a:txBody>
                  <a:tcPr/>
                </a:tc>
                <a:tc>
                  <a:txBody>
                    <a:bodyPr/>
                    <a:lstStyle/>
                    <a:p>
                      <a:r>
                        <a:t>Generated description</a:t>
                      </a:r>
                    </a:p>
                  </a:txBody>
                  <a:tcPr/>
                </a:tc>
                <a:extLst>
                  <a:ext uri="{0D108BD9-81ED-4DB2-BD59-A6C34878D82A}">
                    <a16:rowId xmlns:a16="http://schemas.microsoft.com/office/drawing/2014/main" val="10002"/>
                  </a:ext>
                </a:extLst>
              </a:tr>
              <a:tr h="457200">
                <a:tc>
                  <a:txBody>
                    <a:bodyPr/>
                    <a:lstStyle/>
                    <a:p>
                      <a:r>
                        <a:t>Code review</a:t>
                      </a:r>
                    </a:p>
                  </a:txBody>
                  <a:tcPr/>
                </a:tc>
                <a:tc>
                  <a:txBody>
                    <a:bodyPr/>
                    <a:lstStyle/>
                    <a:p>
                      <a:r>
                        <a:t>Inline suggestions &amp; summaries</a:t>
                      </a:r>
                    </a:p>
                  </a:txBody>
                  <a:tcPr/>
                </a:tc>
                <a:extLst>
                  <a:ext uri="{0D108BD9-81ED-4DB2-BD59-A6C34878D82A}">
                    <a16:rowId xmlns:a16="http://schemas.microsoft.com/office/drawing/2014/main" val="10003"/>
                  </a:ext>
                </a:extLst>
              </a:tr>
              <a:tr h="457200">
                <a:tc>
                  <a:txBody>
                    <a:bodyPr/>
                    <a:lstStyle/>
                    <a:p>
                      <a:r>
                        <a:t>Addressing feedback</a:t>
                      </a:r>
                    </a:p>
                  </a:txBody>
                  <a:tcPr/>
                </a:tc>
                <a:tc>
                  <a:txBody>
                    <a:bodyPr/>
                    <a:lstStyle/>
                    <a:p>
                      <a:r>
                        <a:t>Guided fixes</a:t>
                      </a:r>
                    </a:p>
                  </a:txBody>
                  <a:tcPr/>
                </a:tc>
                <a:extLst>
                  <a:ext uri="{0D108BD9-81ED-4DB2-BD59-A6C34878D82A}">
                    <a16:rowId xmlns:a16="http://schemas.microsoft.com/office/drawing/2014/main" val="10004"/>
                  </a:ext>
                </a:extLst>
              </a:tr>
              <a:tr h="457200">
                <a:tc>
                  <a:txBody>
                    <a:bodyPr/>
                    <a:lstStyle/>
                    <a:p>
                      <a:r>
                        <a:t>Final merge</a:t>
                      </a:r>
                    </a:p>
                  </a:txBody>
                  <a:tcPr/>
                </a:tc>
                <a:tc>
                  <a:txBody>
                    <a:bodyPr/>
                    <a:lstStyle/>
                    <a:p>
                      <a:r>
                        <a:t>Automated checks</a:t>
                      </a:r>
                    </a:p>
                  </a:txBody>
                  <a:tcPr/>
                </a:tc>
                <a:extLst>
                  <a:ext uri="{0D108BD9-81ED-4DB2-BD59-A6C34878D82A}">
                    <a16:rowId xmlns:a16="http://schemas.microsoft.com/office/drawing/2014/main" val="10005"/>
                  </a:ext>
                </a:extLst>
              </a:tr>
            </a:tbl>
          </a:graphicData>
        </a:graphic>
      </p:graphicFrame>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AI-Generated PR Descriptions</a:t>
            </a:r>
          </a:p>
        </p:txBody>
      </p:sp>
      <p:sp>
        <p:nvSpPr>
          <p:cNvPr id="3" name="Content Placeholder 2"/>
          <p:cNvSpPr>
            <a:spLocks noGrp="1"/>
          </p:cNvSpPr>
          <p:nvPr>
            <p:ph idx="1"/>
          </p:nvPr>
        </p:nvSpPr>
        <p:spPr/>
        <p:txBody>
          <a:bodyPr wrap="square">
            <a:noAutofit/>
          </a:bodyPr>
          <a:lstStyle/>
          <a:p>
            <a:endParaRPr sz="2100"/>
          </a:p>
          <a:p>
            <a:r>
              <a:rPr sz="2100"/>
              <a:t>GitHub Copilot can </a:t>
            </a:r>
            <a:r>
              <a:rPr sz="2100" b="1"/>
              <a:t>draft your PR description</a:t>
            </a:r>
            <a:r>
              <a:rPr sz="2100"/>
              <a:t> based on your diff:</a:t>
            </a:r>
          </a:p>
          <a:p>
            <a:endParaRPr sz="2100"/>
          </a:p>
          <a:p>
            <a:r>
              <a:rPr sz="2100"/>
              <a:t>Summarizes </a:t>
            </a:r>
            <a:r>
              <a:rPr sz="2100" b="1"/>
              <a:t>what changed</a:t>
            </a:r>
            <a:r>
              <a:rPr sz="2100"/>
              <a:t> and </a:t>
            </a:r>
            <a:r>
              <a:rPr sz="2100" b="1"/>
              <a:t>why</a:t>
            </a:r>
          </a:p>
          <a:p>
            <a:r>
              <a:rPr sz="2100"/>
              <a:t>Suggests </a:t>
            </a:r>
            <a:r>
              <a:rPr sz="2100" b="1"/>
              <a:t>testing instructions</a:t>
            </a:r>
          </a:p>
          <a:p>
            <a:r>
              <a:rPr sz="2100"/>
              <a:t>Highlights </a:t>
            </a:r>
            <a:r>
              <a:rPr sz="2100" b="1"/>
              <a:t>breaking changes</a:t>
            </a:r>
          </a:p>
          <a:p>
            <a:r>
              <a:rPr sz="2100"/>
              <a:t>Links related </a:t>
            </a:r>
            <a:r>
              <a:rPr sz="2100" b="1"/>
              <a:t>issues and tickets</a:t>
            </a:r>
          </a:p>
          <a:p>
            <a:endParaRPr sz="2100" b="1"/>
          </a:p>
          <a:p>
            <a:r>
              <a:rPr sz="2100" i="1"/>
              <a:t>💡 Use `gh pr create` with Copilot in the CLI, or the </a:t>
            </a:r>
            <a:r>
              <a:rPr sz="2100" b="1" i="1"/>
              <a:t>GitHub web editor</a:t>
            </a:r>
            <a:r>
              <a:rPr sz="2100" i="1"/>
              <a:t> with AI suggestions</a:t>
            </a: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Writing Effective PR Prompts</a:t>
            </a:r>
          </a:p>
        </p:txBody>
      </p:sp>
      <p:sp>
        <p:nvSpPr>
          <p:cNvPr id="3" name="Content Placeholder 2"/>
          <p:cNvSpPr>
            <a:spLocks noGrp="1"/>
          </p:cNvSpPr>
          <p:nvPr>
            <p:ph idx="1"/>
          </p:nvPr>
        </p:nvSpPr>
        <p:spPr/>
        <p:txBody>
          <a:bodyPr wrap="square">
            <a:noAutofit/>
          </a:bodyPr>
          <a:lstStyle/>
          <a:p>
            <a:endParaRPr sz="1400"/>
          </a:p>
          <a:p>
            <a:r>
              <a:rPr sz="1400"/>
              <a:t>Getting great AI output starts with </a:t>
            </a:r>
            <a:r>
              <a:rPr sz="1400" b="1"/>
              <a:t>good context</a:t>
            </a:r>
            <a:r>
              <a:rPr sz="1400"/>
              <a:t>:</a:t>
            </a:r>
          </a:p>
          <a:p>
            <a:endParaRPr sz="1400"/>
          </a:p>
          <a:p>
            <a:r>
              <a:rPr sz="1400"/>
              <a:t>```markdown</a:t>
            </a:r>
          </a:p>
          <a:p>
            <a:r>
              <a:rPr sz="1400"/>
              <a:t># Good PR Description Prompt Pattern</a:t>
            </a:r>
          </a:p>
          <a:p>
            <a:endParaRPr sz="1400"/>
          </a:p>
          <a:p>
            <a:endParaRPr sz="1400"/>
          </a:p>
          <a:p>
            <a:r>
              <a:rPr sz="1400"/>
              <a:t>Brief bullet list of changes</a:t>
            </a:r>
          </a:p>
          <a:p>
            <a:endParaRPr sz="1400"/>
          </a:p>
          <a:p>
            <a:endParaRPr sz="1400"/>
          </a:p>
          <a:p>
            <a:r>
              <a:rPr sz="1400"/>
              <a:t>Business context or issue reference</a:t>
            </a:r>
          </a:p>
          <a:p>
            <a:endParaRPr sz="1400"/>
          </a:p>
          <a:p>
            <a:endParaRPr sz="1400"/>
          </a:p>
          <a:p>
            <a:r>
              <a:rPr sz="1400"/>
              <a:t>Step-by-step verification</a:t>
            </a:r>
          </a:p>
          <a:p>
            <a:r>
              <a:rPr sz="1400"/>
              <a:t>```</a:t>
            </a:r>
          </a:p>
          <a:p>
            <a:endParaRPr sz="1400"/>
          </a:p>
          <a:p>
            <a:r>
              <a:rPr sz="1400"/>
              <a:t>Ask Copilot: _"Generate a PR description for these changes that explains the business impact"_</a:t>
            </a: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AI-Powered Code Review</a:t>
            </a:r>
          </a:p>
        </p:txBody>
      </p:sp>
      <p:sp>
        <p:nvSpPr>
          <p:cNvPr id="3" name="Content Placeholder 2"/>
          <p:cNvSpPr>
            <a:spLocks noGrp="1"/>
          </p:cNvSpPr>
          <p:nvPr>
            <p:ph idx="1"/>
          </p:nvPr>
        </p:nvSpPr>
        <p:spPr/>
        <p:txBody>
          <a:bodyPr wrap="square">
            <a:noAutofit/>
          </a:bodyPr>
          <a:lstStyle/>
          <a:p>
            <a:endParaRPr sz="2000"/>
          </a:p>
          <a:p>
            <a:r>
              <a:rPr sz="2000"/>
              <a:t>GitHub Copilot assists reviewers with:</a:t>
            </a:r>
          </a:p>
          <a:p>
            <a:endParaRPr sz="2000"/>
          </a:p>
          <a:p>
            <a:r>
              <a:rPr sz="2000" b="1"/>
              <a:t>Inline explanations</a:t>
            </a:r>
            <a:r>
              <a:rPr sz="2000"/>
              <a:t> of complex code</a:t>
            </a:r>
          </a:p>
          <a:p>
            <a:r>
              <a:rPr sz="2000" b="1"/>
              <a:t>Suggested improvements</a:t>
            </a:r>
            <a:r>
              <a:rPr sz="2000"/>
              <a:t> with rationale</a:t>
            </a:r>
          </a:p>
          <a:p>
            <a:r>
              <a:rPr sz="2000" b="1"/>
              <a:t>Security vulnerability</a:t>
            </a:r>
            <a:r>
              <a:rPr sz="2000"/>
              <a:t> detection</a:t>
            </a:r>
          </a:p>
          <a:p>
            <a:r>
              <a:rPr sz="2000" b="1"/>
              <a:t>Test coverage</a:t>
            </a:r>
            <a:r>
              <a:rPr sz="2000"/>
              <a:t> gap identification</a:t>
            </a:r>
          </a:p>
          <a:p>
            <a:r>
              <a:rPr sz="2000" b="1"/>
              <a:t>Style and convention</a:t>
            </a:r>
            <a:r>
              <a:rPr sz="2000"/>
              <a:t> enforcement</a:t>
            </a:r>
          </a:p>
          <a:p>
            <a:endParaRPr sz="2000"/>
          </a:p>
          <a:p>
            <a:r>
              <a:rPr sz="2000" i="1"/>
              <a:t>Use `@workspace` in Copilot Chat to ask questions across the entire PR diff</a:t>
            </a: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Copilot PR Summaries</a:t>
            </a:r>
          </a:p>
        </p:txBody>
      </p:sp>
      <p:sp>
        <p:nvSpPr>
          <p:cNvPr id="3" name="Content Placeholder 2"/>
          <p:cNvSpPr>
            <a:spLocks noGrp="1"/>
          </p:cNvSpPr>
          <p:nvPr>
            <p:ph idx="1"/>
          </p:nvPr>
        </p:nvSpPr>
        <p:spPr/>
        <p:txBody>
          <a:bodyPr wrap="square">
            <a:noAutofit/>
          </a:bodyPr>
          <a:lstStyle/>
          <a:p>
            <a:endParaRPr sz="1750"/>
          </a:p>
          <a:p>
            <a:r>
              <a:rPr sz="1750"/>
              <a:t>GitHub Copilot can </a:t>
            </a:r>
            <a:r>
              <a:rPr sz="1750" b="1"/>
              <a:t>summarize large PRs</a:t>
            </a:r>
            <a:r>
              <a:rPr sz="1750"/>
              <a:t> automatically:</a:t>
            </a:r>
          </a:p>
          <a:p>
            <a:endParaRPr sz="1750"/>
          </a:p>
          <a:p>
            <a:r>
              <a:rPr sz="1750"/>
              <a:t>Condenses hundreds of lines of diff into a </a:t>
            </a:r>
            <a:r>
              <a:rPr sz="1750" b="1"/>
              <a:t>paragraph</a:t>
            </a:r>
          </a:p>
          <a:p>
            <a:r>
              <a:rPr sz="1750"/>
              <a:t>Categorizes changes: _features, fixes, refactors_</a:t>
            </a:r>
          </a:p>
          <a:p>
            <a:r>
              <a:rPr sz="1750"/>
              <a:t>Flags </a:t>
            </a:r>
            <a:r>
              <a:rPr sz="1750" b="1"/>
              <a:t>high-risk areas</a:t>
            </a:r>
            <a:r>
              <a:rPr sz="1750"/>
              <a:t> that need closer review</a:t>
            </a:r>
          </a:p>
          <a:p>
            <a:r>
              <a:rPr sz="1750"/>
              <a:t>Generates a </a:t>
            </a:r>
            <a:r>
              <a:rPr sz="1750" b="1"/>
              <a:t>changelog entry</a:t>
            </a:r>
            <a:r>
              <a:rPr sz="1750"/>
              <a:t> from the summary</a:t>
            </a:r>
          </a:p>
          <a:p>
            <a:endParaRPr sz="1750"/>
          </a:p>
          <a:p>
            <a:r>
              <a:rPr sz="1750"/>
              <a:t>```</a:t>
            </a:r>
          </a:p>
          <a:p>
            <a:r>
              <a:rPr sz="1750"/>
              <a:t>GitHub.com → Pull Request → Copilot Summary button</a:t>
            </a:r>
          </a:p>
          <a:p>
            <a:r>
              <a:rPr sz="1750"/>
              <a:t>```</a:t>
            </a: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4250"/>
              <a:t>Responding to Review Feedback</a:t>
            </a:r>
          </a:p>
        </p:txBody>
      </p:sp>
      <p:sp>
        <p:nvSpPr>
          <p:cNvPr id="3" name="Content Placeholder 2"/>
          <p:cNvSpPr>
            <a:spLocks noGrp="1"/>
          </p:cNvSpPr>
          <p:nvPr>
            <p:ph idx="1"/>
          </p:nvPr>
        </p:nvSpPr>
        <p:spPr/>
        <p:txBody>
          <a:bodyPr wrap="square">
            <a:noAutofit/>
          </a:bodyPr>
          <a:lstStyle/>
          <a:p>
            <a:endParaRPr sz="2100"/>
          </a:p>
          <a:p>
            <a:r>
              <a:rPr sz="2100"/>
              <a:t>AI accelerates </a:t>
            </a:r>
            <a:r>
              <a:rPr sz="2100" b="1"/>
              <a:t>addressing reviewer comments</a:t>
            </a:r>
            <a:r>
              <a:rPr sz="2100"/>
              <a:t>:</a:t>
            </a:r>
          </a:p>
          <a:p>
            <a:endParaRPr sz="2100"/>
          </a:p>
          <a:p>
            <a:r>
              <a:rPr sz="2100"/>
              <a:t>1. Copilot suggests </a:t>
            </a:r>
            <a:r>
              <a:rPr sz="2100" b="1"/>
              <a:t>code fixes</a:t>
            </a:r>
            <a:r>
              <a:rPr sz="2100"/>
              <a:t> inline from review comments</a:t>
            </a:r>
          </a:p>
          <a:p>
            <a:r>
              <a:rPr sz="2100"/>
              <a:t>2. Ask Copilot Chat: _"How do I fix this review comment?"_</a:t>
            </a:r>
          </a:p>
          <a:p>
            <a:r>
              <a:rPr sz="2100"/>
              <a:t>3. Copilot </a:t>
            </a:r>
            <a:r>
              <a:rPr sz="2100" b="1"/>
              <a:t>Autofix</a:t>
            </a:r>
            <a:r>
              <a:rPr sz="2100"/>
              <a:t> resolves flagged security issues</a:t>
            </a:r>
          </a:p>
          <a:p>
            <a:r>
              <a:rPr sz="2100"/>
              <a:t>4. Batch-address similar comments across files</a:t>
            </a:r>
          </a:p>
          <a:p>
            <a:endParaRPr sz="2100"/>
          </a:p>
          <a:p>
            <a:r>
              <a:rPr sz="2100" i="1"/>
              <a:t>🔁 The feedback loop closes faster when AI drafts the fix and the human approves it</a:t>
            </a: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Automated PR Checks with AI</a:t>
            </a:r>
          </a:p>
        </p:txBody>
      </p:sp>
      <p:sp>
        <p:nvSpPr>
          <p:cNvPr id="3" name="Content Placeholder 2"/>
          <p:cNvSpPr>
            <a:spLocks noGrp="1"/>
          </p:cNvSpPr>
          <p:nvPr>
            <p:ph idx="1"/>
          </p:nvPr>
        </p:nvSpPr>
        <p:spPr/>
        <p:txBody>
          <a:bodyPr wrap="square">
            <a:noAutofit/>
          </a:bodyPr>
          <a:lstStyle/>
          <a:p>
            <a:endParaRPr sz="1400"/>
          </a:p>
          <a:p>
            <a:r>
              <a:rPr sz="1400"/>
              <a:t>Integrate AI into your </a:t>
            </a:r>
            <a:r>
              <a:rPr sz="1400" b="1"/>
              <a:t>CI/CD pipeline</a:t>
            </a:r>
            <a:r>
              <a:rPr sz="1400"/>
              <a:t>:</a:t>
            </a:r>
          </a:p>
          <a:p>
            <a:endParaRPr sz="1400"/>
          </a:p>
          <a:p>
            <a:r>
              <a:rPr sz="1400"/>
              <a:t>```yaml</a:t>
            </a:r>
          </a:p>
          <a:p>
            <a:r>
              <a:rPr sz="1400"/>
              <a:t># .github/workflows/pr-review.yml</a:t>
            </a:r>
          </a:p>
          <a:p>
            <a:r>
              <a:rPr sz="1400"/>
              <a:t>name: Copilot Code Review</a:t>
            </a:r>
          </a:p>
          <a:p>
            <a:r>
              <a:rPr sz="1400"/>
              <a:t>  uses: github/copilot-code-review@v1</a:t>
            </a:r>
          </a:p>
          <a:p>
            <a:endParaRPr sz="1400"/>
          </a:p>
          <a:p>
            <a:r>
              <a:rPr sz="1400"/>
              <a:t>name: AI Security Scan</a:t>
            </a:r>
          </a:p>
          <a:p>
            <a:r>
              <a:rPr sz="1400"/>
              <a:t>  uses: github/advanced-security-action@v2</a:t>
            </a:r>
          </a:p>
          <a:p>
            <a:r>
              <a:rPr sz="1400"/>
              <a:t>```</a:t>
            </a:r>
          </a:p>
          <a:p>
            <a:endParaRPr sz="1400"/>
          </a:p>
          <a:p>
            <a:r>
              <a:rPr sz="1400"/>
              <a:t>Run AI review on </a:t>
            </a:r>
            <a:r>
              <a:rPr sz="1400" b="1"/>
              <a:t>every PR automatically</a:t>
            </a:r>
          </a:p>
          <a:p>
            <a:r>
              <a:rPr sz="1400"/>
              <a:t>Block merges on </a:t>
            </a:r>
            <a:r>
              <a:rPr sz="1400" b="1"/>
              <a:t>critical AI-flagged issues</a:t>
            </a:r>
          </a:p>
          <a:p>
            <a:r>
              <a:rPr sz="1400"/>
              <a:t>Post AI summary as a </a:t>
            </a:r>
            <a:r>
              <a:rPr sz="1400" b="1"/>
              <a:t>PR comment</a:t>
            </a: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Real-World Patterns</a:t>
            </a:r>
          </a:p>
        </p:txBody>
      </p:sp>
      <p:sp>
        <p:nvSpPr>
          <p:cNvPr id="3" name="Content Placeholder 2"/>
          <p:cNvSpPr>
            <a:spLocks noGrp="1"/>
          </p:cNvSpPr>
          <p:nvPr>
            <p:ph idx="1"/>
          </p:nvPr>
        </p:nvSpPr>
        <p:spPr/>
        <p:txBody>
          <a:bodyPr wrap="square">
            <a:noAutofit/>
          </a:bodyPr>
          <a:lstStyle/>
          <a:p>
            <a:endParaRPr sz="2350"/>
          </a:p>
          <a:p>
            <a:r>
              <a:rPr sz="2350"/>
              <a:t>### Teams using AI for PRs report:</a:t>
            </a:r>
          </a:p>
          <a:p>
            <a:endParaRPr sz="2350"/>
          </a:p>
          <a:p>
            <a:r>
              <a:rPr sz="2350" b="1"/>
              <a:t>40-60% reduction</a:t>
            </a:r>
            <a:r>
              <a:rPr sz="2350"/>
              <a:t> in time-to-first-review</a:t>
            </a:r>
          </a:p>
          <a:p>
            <a:r>
              <a:rPr sz="2350" b="1"/>
              <a:t>Clearer PR descriptions</a:t>
            </a:r>
            <a:r>
              <a:rPr sz="2350"/>
              <a:t> leading to fewer questions</a:t>
            </a:r>
          </a:p>
          <a:p>
            <a:r>
              <a:rPr sz="2350" b="1"/>
              <a:t>Faster onboarding</a:t>
            </a:r>
            <a:r>
              <a:rPr sz="2350"/>
              <a:t> — new devs produce PR-ready code sooner</a:t>
            </a:r>
          </a:p>
          <a:p>
            <a:r>
              <a:rPr sz="2350" b="1"/>
              <a:t>Higher review quality</a:t>
            </a:r>
            <a:r>
              <a:rPr sz="2350"/>
              <a:t> — reviewers catch logic issues, not style issues</a:t>
            </a:r>
          </a:p>
          <a:p>
            <a:endParaRPr sz="2350"/>
          </a:p>
          <a:p>
            <a:r>
              <a:rPr sz="2350" i="1"/>
              <a:t>Source: GitHub internal data, 2024–2025 Copilot usage studies</a:t>
            </a: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Best Practices</a:t>
            </a:r>
          </a:p>
        </p:txBody>
      </p:sp>
      <p:sp>
        <p:nvSpPr>
          <p:cNvPr id="3" name="Content Placeholder 2"/>
          <p:cNvSpPr>
            <a:spLocks noGrp="1"/>
          </p:cNvSpPr>
          <p:nvPr>
            <p:ph idx="1"/>
          </p:nvPr>
        </p:nvSpPr>
        <p:spPr/>
        <p:txBody>
          <a:bodyPr wrap="square">
            <a:noAutofit/>
          </a:bodyPr>
          <a:lstStyle/>
          <a:p>
            <a:endParaRPr sz="1400"/>
          </a:p>
          <a:p>
            <a:r>
              <a:rPr sz="1400"/>
              <a:t>✅ </a:t>
            </a:r>
            <a:r>
              <a:rPr sz="1400" b="1"/>
              <a:t>Do</a:t>
            </a:r>
          </a:p>
          <a:p>
            <a:endParaRPr sz="1400" b="1"/>
          </a:p>
          <a:p>
            <a:r>
              <a:rPr sz="1400"/>
              <a:t>Review and personalize AI-generated descriptions</a:t>
            </a:r>
          </a:p>
          <a:p>
            <a:r>
              <a:rPr sz="1400"/>
              <a:t>Use Copilot Chat to ask questions during review</a:t>
            </a:r>
          </a:p>
          <a:p>
            <a:r>
              <a:rPr sz="1400"/>
              <a:t>Enable Copilot Autofix for security alerts</a:t>
            </a:r>
          </a:p>
          <a:p>
            <a:r>
              <a:rPr sz="1400"/>
              <a:t>Add a PR template to guide AI output</a:t>
            </a:r>
          </a:p>
          <a:p>
            <a:endParaRPr sz="1400"/>
          </a:p>
          <a:p>
            <a:r>
              <a:rPr sz="1400"/>
              <a:t>❌ </a:t>
            </a:r>
            <a:r>
              <a:rPr sz="1400" b="1"/>
              <a:t>Avoid</a:t>
            </a:r>
          </a:p>
          <a:p>
            <a:endParaRPr sz="1400" b="1"/>
          </a:p>
          <a:p>
            <a:r>
              <a:rPr sz="1400"/>
              <a:t>Merging AI-generated descriptions without reading them</a:t>
            </a:r>
          </a:p>
          <a:p>
            <a:r>
              <a:rPr sz="1400"/>
              <a:t>Treating AI review as a substitute for human judgment</a:t>
            </a:r>
          </a:p>
          <a:p>
            <a:r>
              <a:rPr sz="1400"/>
              <a:t>Over-automating to the point of alert fatigue</a:t>
            </a: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Getting Started</a:t>
            </a:r>
          </a:p>
        </p:txBody>
      </p:sp>
      <p:sp>
        <p:nvSpPr>
          <p:cNvPr id="3" name="Content Placeholder 2"/>
          <p:cNvSpPr>
            <a:spLocks noGrp="1"/>
          </p:cNvSpPr>
          <p:nvPr>
            <p:ph idx="1"/>
          </p:nvPr>
        </p:nvSpPr>
        <p:spPr/>
        <p:txBody>
          <a:bodyPr wrap="square">
            <a:noAutofit/>
          </a:bodyPr>
          <a:lstStyle/>
          <a:p>
            <a:endParaRPr sz="1400"/>
          </a:p>
          <a:p>
            <a:r>
              <a:rPr sz="1400"/>
              <a:t>### Start small, build habits:</a:t>
            </a:r>
          </a:p>
          <a:p>
            <a:endParaRPr sz="1400"/>
          </a:p>
          <a:p>
            <a:r>
              <a:rPr sz="1400"/>
              <a:t>1. </a:t>
            </a:r>
            <a:r>
              <a:rPr sz="1400" b="1"/>
              <a:t>Today</a:t>
            </a:r>
            <a:r>
              <a:rPr sz="1400"/>
              <a:t>: Use Copilot to draft your next PR description</a:t>
            </a:r>
          </a:p>
          <a:p>
            <a:r>
              <a:rPr sz="1400"/>
              <a:t>2. </a:t>
            </a:r>
            <a:r>
              <a:rPr sz="1400" b="1"/>
              <a:t>This week</a:t>
            </a:r>
            <a:r>
              <a:rPr sz="1400"/>
              <a:t>: Try Copilot Chat during your next code review</a:t>
            </a:r>
          </a:p>
          <a:p>
            <a:r>
              <a:rPr sz="1400"/>
              <a:t>3. </a:t>
            </a:r>
            <a:r>
              <a:rPr sz="1400" b="1"/>
              <a:t>This sprint</a:t>
            </a:r>
            <a:r>
              <a:rPr sz="1400"/>
              <a:t>: Add a PR template to guide AI descriptions</a:t>
            </a:r>
          </a:p>
          <a:p>
            <a:r>
              <a:rPr sz="1400"/>
              <a:t>4. </a:t>
            </a:r>
            <a:r>
              <a:rPr sz="1400" b="1"/>
              <a:t>This quarter</a:t>
            </a:r>
            <a:r>
              <a:rPr sz="1400"/>
              <a:t>: Automate AI checks in your CI pipeline</a:t>
            </a:r>
          </a:p>
          <a:p>
            <a:endParaRPr sz="1400"/>
          </a:p>
          <a:p>
            <a:r>
              <a:rPr sz="1400" i="1"/>
              <a:t>📖 Resources:</a:t>
            </a:r>
          </a:p>
          <a:p>
            <a:r>
              <a:rPr sz="1400"/>
              <a:t>&gt;</a:t>
            </a:r>
          </a:p>
          <a:p>
            <a:r>
              <a:rPr sz="1400" i="1"/>
              <a:t>GitHub Copilot for PRs: https://docs.github.com/copilot</a:t>
            </a:r>
          </a:p>
          <a:p>
            <a:r>
              <a:rPr sz="1400" i="1"/>
              <a:t>GitHub Advanced Security: https://docs.github.com/en/code-security</a:t>
            </a:r>
          </a:p>
          <a:p>
            <a:r>
              <a:rPr sz="1400" i="1"/>
              <a:t>gh CLI: https://cli.github.com</a:t>
            </a: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Summary</a:t>
            </a:r>
          </a:p>
        </p:txBody>
      </p:sp>
      <p:graphicFrame>
        <p:nvGraphicFramePr>
          <p:cNvPr id="3" name="Table 2"/>
          <p:cNvGraphicFramePr>
            <a:graphicFrameLocks noGrp="1"/>
          </p:cNvGraphicFramePr>
          <p:nvPr/>
        </p:nvGraphicFramePr>
        <p:xfrm>
          <a:off x="457200" y="1828800"/>
          <a:ext cx="8229600" cy="2743200"/>
        </p:xfrm>
        <a:graphic>
          <a:graphicData uri="http://schemas.openxmlformats.org/drawingml/2006/table">
            <a:tbl>
              <a:tblPr firstRow="1" bandRow="1">
                <a:tableStyleId>{5C22544A-7EE6-4342-B048-85BDC9FD1C3A}</a:tableStyleId>
              </a:tblPr>
              <a:tblGrid>
                <a:gridCol w="411480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tblGrid>
              <a:tr h="457200">
                <a:tc>
                  <a:txBody>
                    <a:bodyPr/>
                    <a:lstStyle/>
                    <a:p>
                      <a:pPr>
                        <a:defRPr sz="1296" b="1"/>
                      </a:pPr>
                      <a:r>
                        <a:t>Without AI</a:t>
                      </a:r>
                    </a:p>
                  </a:txBody>
                  <a:tcPr/>
                </a:tc>
                <a:tc>
                  <a:txBody>
                    <a:bodyPr/>
                    <a:lstStyle/>
                    <a:p>
                      <a:pPr>
                        <a:defRPr sz="1296" b="1"/>
                      </a:pPr>
                      <a:r>
                        <a:t>With AI</a:t>
                      </a:r>
                    </a:p>
                  </a:txBody>
                  <a:tcPr/>
                </a:tc>
                <a:extLst>
                  <a:ext uri="{0D108BD9-81ED-4DB2-BD59-A6C34878D82A}">
                    <a16:rowId xmlns:a16="http://schemas.microsoft.com/office/drawing/2014/main" val="10000"/>
                  </a:ext>
                </a:extLst>
              </a:tr>
              <a:tr h="457200">
                <a:tc>
                  <a:txBody>
                    <a:bodyPr/>
                    <a:lstStyle/>
                    <a:p>
                      <a:r>
                        <a:t>Manual PR descriptions</a:t>
                      </a:r>
                    </a:p>
                  </a:txBody>
                  <a:tcPr/>
                </a:tc>
                <a:tc>
                  <a:txBody>
                    <a:bodyPr/>
                    <a:lstStyle/>
                    <a:p>
                      <a:r>
                        <a:t>Auto-generated, structured descriptions</a:t>
                      </a:r>
                    </a:p>
                  </a:txBody>
                  <a:tcPr/>
                </a:tc>
                <a:extLst>
                  <a:ext uri="{0D108BD9-81ED-4DB2-BD59-A6C34878D82A}">
                    <a16:rowId xmlns:a16="http://schemas.microsoft.com/office/drawing/2014/main" val="10001"/>
                  </a:ext>
                </a:extLst>
              </a:tr>
              <a:tr h="457200">
                <a:tc>
                  <a:txBody>
                    <a:bodyPr/>
                    <a:lstStyle/>
                    <a:p>
                      <a:r>
                        <a:t>Line-by-line review</a:t>
                      </a:r>
                    </a:p>
                  </a:txBody>
                  <a:tcPr/>
                </a:tc>
                <a:tc>
                  <a:txBody>
                    <a:bodyPr/>
                    <a:lstStyle/>
                    <a:p>
                      <a:r>
                        <a:t>AI-summarized highlights + human logic review</a:t>
                      </a:r>
                    </a:p>
                  </a:txBody>
                  <a:tcPr/>
                </a:tc>
                <a:extLst>
                  <a:ext uri="{0D108BD9-81ED-4DB2-BD59-A6C34878D82A}">
                    <a16:rowId xmlns:a16="http://schemas.microsoft.com/office/drawing/2014/main" val="10002"/>
                  </a:ext>
                </a:extLst>
              </a:tr>
              <a:tr h="457200">
                <a:tc>
                  <a:txBody>
                    <a:bodyPr/>
                    <a:lstStyle/>
                    <a:p>
                      <a:r>
                        <a:t>Slow feedback loops</a:t>
                      </a:r>
                    </a:p>
                  </a:txBody>
                  <a:tcPr/>
                </a:tc>
                <a:tc>
                  <a:txBody>
                    <a:bodyPr/>
                    <a:lstStyle/>
                    <a:p>
                      <a:r>
                        <a:t>Inline fix suggestions from review comments</a:t>
                      </a:r>
                    </a:p>
                  </a:txBody>
                  <a:tcPr/>
                </a:tc>
                <a:extLst>
                  <a:ext uri="{0D108BD9-81ED-4DB2-BD59-A6C34878D82A}">
                    <a16:rowId xmlns:a16="http://schemas.microsoft.com/office/drawing/2014/main" val="10003"/>
                  </a:ext>
                </a:extLst>
              </a:tr>
              <a:tr h="457200">
                <a:tc>
                  <a:txBody>
                    <a:bodyPr/>
                    <a:lstStyle/>
                    <a:p>
                      <a:r>
                        <a:t>Inconsistent standards</a:t>
                      </a:r>
                    </a:p>
                  </a:txBody>
                  <a:tcPr/>
                </a:tc>
                <a:tc>
                  <a:txBody>
                    <a:bodyPr/>
                    <a:lstStyle/>
                    <a:p>
                      <a:r>
                        <a:t>Automated checks on every PR</a:t>
                      </a:r>
                    </a:p>
                  </a:txBody>
                  <a:tcPr/>
                </a:tc>
                <a:extLst>
                  <a:ext uri="{0D108BD9-81ED-4DB2-BD59-A6C34878D82A}">
                    <a16:rowId xmlns:a16="http://schemas.microsoft.com/office/drawing/2014/main" val="10004"/>
                  </a:ext>
                </a:extLst>
              </a:tr>
              <a:tr h="457200">
                <a:tc>
                  <a:txBody>
                    <a:bodyPr/>
                    <a:lstStyle/>
                    <a:p>
                      <a:r>
                        <a:t>Slow onboarding</a:t>
                      </a:r>
                    </a:p>
                  </a:txBody>
                  <a:tcPr/>
                </a:tc>
                <a:tc>
                  <a:txBody>
                    <a:bodyPr/>
                    <a:lstStyle/>
                    <a:p>
                      <a:r>
                        <a:t>New devs match team standards faster</a:t>
                      </a:r>
                    </a:p>
                  </a:txBody>
                  <a:tcPr/>
                </a:tc>
                <a:extLst>
                  <a:ext uri="{0D108BD9-81ED-4DB2-BD59-A6C34878D82A}">
                    <a16:rowId xmlns:a16="http://schemas.microsoft.com/office/drawing/2014/main" val="10005"/>
                  </a:ext>
                </a:extLst>
              </a:tr>
            </a:tbl>
          </a:graphicData>
        </a:graphic>
      </p:graphicFrame>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300"/>
              <a:t>Multi-Model Implementation Comparison</a:t>
            </a:r>
          </a:p>
        </p:txBody>
      </p:sp>
      <p:sp>
        <p:nvSpPr>
          <p:cNvPr id="3" name="Content Placeholder 2"/>
          <p:cNvSpPr>
            <a:spLocks noGrp="1"/>
          </p:cNvSpPr>
          <p:nvPr>
            <p:ph idx="1"/>
          </p:nvPr>
        </p:nvSpPr>
        <p:spPr/>
        <p:txBody>
          <a:bodyPr wrap="square">
            <a:normAutofit/>
          </a:bodyPr>
          <a:lstStyle/>
          <a:p>
            <a:endParaRPr/>
          </a:p>
          <a:p>
            <a:r>
              <a:t>Implementing changes with different AI models</a:t>
            </a:r>
          </a:p>
          <a:p>
            <a:r>
              <a:t>Comparing approaches and outcomes</a:t>
            </a:r>
          </a:p>
          <a:p>
            <a:r>
              <a:t>Risk assessment and quality evaluation</a:t>
            </a:r>
          </a:p>
          <a:p>
            <a:r>
              <a:t>Best practice synthesis</a:t>
            </a:r>
          </a:p>
          <a:p>
            <a:r>
              <a:t>Exercises for hands-on practice</a:t>
            </a: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2800"/>
              <a:t>Implementing Changes With Different AI Models</a:t>
            </a:r>
          </a:p>
        </p:txBody>
      </p:sp>
      <p:sp>
        <p:nvSpPr>
          <p:cNvPr id="3" name="Content Placeholder 2"/>
          <p:cNvSpPr>
            <a:spLocks noGrp="1"/>
          </p:cNvSpPr>
          <p:nvPr>
            <p:ph idx="1"/>
          </p:nvPr>
        </p:nvSpPr>
        <p:spPr/>
        <p:txBody>
          <a:bodyPr wrap="square">
            <a:noAutofit/>
          </a:bodyPr>
          <a:lstStyle/>
          <a:p>
            <a:endParaRPr sz="2000"/>
          </a:p>
          <a:p>
            <a:r>
              <a:rPr sz="2000"/>
              <a:t>Why use multiple models?</a:t>
            </a:r>
          </a:p>
          <a:p>
            <a:r>
              <a:rPr sz="2000"/>
              <a:t>Different reasoning styles</a:t>
            </a:r>
          </a:p>
          <a:p>
            <a:r>
              <a:rPr sz="2000"/>
              <a:t>Different strengths (refactoring, documentation, architecture)</a:t>
            </a:r>
          </a:p>
          <a:p>
            <a:r>
              <a:rPr sz="2000"/>
              <a:t>Cross-validation reduces risk</a:t>
            </a:r>
          </a:p>
          <a:p>
            <a:r>
              <a:rPr sz="2000"/>
              <a:t>Helps detect missing context or contradictions</a:t>
            </a:r>
          </a:p>
          <a:p>
            <a:r>
              <a:rPr sz="2000"/>
              <a:t>Typical use cases</a:t>
            </a:r>
          </a:p>
          <a:p>
            <a:r>
              <a:rPr sz="2000"/>
              <a:t>Refactoring comparisons</a:t>
            </a:r>
          </a:p>
          <a:p>
            <a:r>
              <a:rPr sz="2000"/>
              <a:t>Documentation consistency checks</a:t>
            </a:r>
          </a:p>
          <a:p>
            <a:r>
              <a:rPr sz="2000"/>
              <a:t>Architecture proposal validation</a:t>
            </a: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800"/>
              <a:t>Comparing Approaches &amp; Outcomes</a:t>
            </a:r>
          </a:p>
        </p:txBody>
      </p:sp>
      <p:sp>
        <p:nvSpPr>
          <p:cNvPr id="3" name="Content Placeholder 2"/>
          <p:cNvSpPr>
            <a:spLocks noGrp="1"/>
          </p:cNvSpPr>
          <p:nvPr>
            <p:ph idx="1"/>
          </p:nvPr>
        </p:nvSpPr>
        <p:spPr/>
        <p:txBody>
          <a:bodyPr wrap="square">
            <a:noAutofit/>
          </a:bodyPr>
          <a:lstStyle/>
          <a:p>
            <a:endParaRPr sz="1750"/>
          </a:p>
          <a:p>
            <a:r>
              <a:rPr sz="1750"/>
              <a:t>What to compare</a:t>
            </a:r>
          </a:p>
          <a:p>
            <a:r>
              <a:rPr sz="1750"/>
              <a:t>Code structure and clarity</a:t>
            </a:r>
          </a:p>
          <a:p>
            <a:r>
              <a:rPr sz="1750"/>
              <a:t>Architectural alignment</a:t>
            </a:r>
          </a:p>
          <a:p>
            <a:r>
              <a:rPr sz="1750"/>
              <a:t>Test quality</a:t>
            </a:r>
          </a:p>
          <a:p>
            <a:r>
              <a:rPr sz="1750"/>
              <a:t>Documentation completeness</a:t>
            </a:r>
          </a:p>
          <a:p>
            <a:r>
              <a:rPr sz="1750"/>
              <a:t>Risk level of proposed changes</a:t>
            </a:r>
          </a:p>
          <a:p>
            <a:r>
              <a:rPr sz="1750"/>
              <a:t>Benefits</a:t>
            </a:r>
          </a:p>
          <a:p>
            <a:r>
              <a:rPr sz="1750"/>
              <a:t>Identifies the safest implementation</a:t>
            </a:r>
          </a:p>
          <a:p>
            <a:r>
              <a:rPr sz="1750"/>
              <a:t>Surfaces hidden assumptions</a:t>
            </a:r>
          </a:p>
          <a:p>
            <a:r>
              <a:rPr sz="1750"/>
              <a:t>Highlights model-specific biases</a:t>
            </a:r>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650"/>
              <a:t>Risk Assessment &amp; Quality Evaluation</a:t>
            </a:r>
          </a:p>
        </p:txBody>
      </p:sp>
      <p:sp>
        <p:nvSpPr>
          <p:cNvPr id="3" name="Content Placeholder 2"/>
          <p:cNvSpPr>
            <a:spLocks noGrp="1"/>
          </p:cNvSpPr>
          <p:nvPr>
            <p:ph idx="1"/>
          </p:nvPr>
        </p:nvSpPr>
        <p:spPr/>
        <p:txBody>
          <a:bodyPr wrap="square">
            <a:noAutofit/>
          </a:bodyPr>
          <a:lstStyle/>
          <a:p>
            <a:endParaRPr sz="1750"/>
          </a:p>
          <a:p>
            <a:r>
              <a:rPr sz="1750"/>
              <a:t>Risk indicators</a:t>
            </a:r>
          </a:p>
          <a:p>
            <a:r>
              <a:rPr sz="1750"/>
              <a:t>Missing tests</a:t>
            </a:r>
          </a:p>
          <a:p>
            <a:r>
              <a:rPr sz="1750"/>
              <a:t>Large or unnecessary refactors</a:t>
            </a:r>
          </a:p>
          <a:p>
            <a:r>
              <a:rPr sz="1750"/>
              <a:t>Violations of instruction files</a:t>
            </a:r>
          </a:p>
          <a:p>
            <a:r>
              <a:rPr sz="1750"/>
              <a:t>Unclear or undocumented behavior</a:t>
            </a:r>
          </a:p>
          <a:p>
            <a:r>
              <a:rPr sz="1750"/>
              <a:t>Quality indicators</a:t>
            </a:r>
          </a:p>
          <a:p>
            <a:r>
              <a:rPr sz="1750"/>
              <a:t>Small, incremental changes</a:t>
            </a:r>
          </a:p>
          <a:p>
            <a:r>
              <a:rPr sz="1750"/>
              <a:t>Clear reasoning</a:t>
            </a:r>
          </a:p>
          <a:p>
            <a:r>
              <a:rPr sz="1750"/>
              <a:t>Strong test coverage</a:t>
            </a:r>
          </a:p>
          <a:p>
            <a:r>
              <a:rPr sz="1750"/>
              <a:t>Alignment with evergreen principles</a:t>
            </a:r>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Best Practice Synthesis</a:t>
            </a:r>
          </a:p>
        </p:txBody>
      </p:sp>
      <p:sp>
        <p:nvSpPr>
          <p:cNvPr id="3" name="Content Placeholder 2"/>
          <p:cNvSpPr>
            <a:spLocks noGrp="1"/>
          </p:cNvSpPr>
          <p:nvPr>
            <p:ph idx="1"/>
          </p:nvPr>
        </p:nvSpPr>
        <p:spPr/>
        <p:txBody>
          <a:bodyPr wrap="square">
            <a:noAutofit/>
          </a:bodyPr>
          <a:lstStyle/>
          <a:p>
            <a:endParaRPr sz="2000"/>
          </a:p>
          <a:p>
            <a:r>
              <a:rPr sz="2000"/>
              <a:t>Combine the strengths of each model</a:t>
            </a:r>
          </a:p>
          <a:p>
            <a:r>
              <a:rPr sz="2000"/>
              <a:t>Use one model for architecture</a:t>
            </a:r>
          </a:p>
          <a:p>
            <a:r>
              <a:rPr sz="2000"/>
              <a:t>Another for implementation</a:t>
            </a:r>
          </a:p>
          <a:p>
            <a:r>
              <a:rPr sz="2000"/>
              <a:t>Another for documentation</a:t>
            </a:r>
          </a:p>
          <a:p>
            <a:r>
              <a:rPr sz="2000"/>
              <a:t>Cross-validate tests and reasoning</a:t>
            </a:r>
          </a:p>
          <a:p>
            <a:r>
              <a:rPr sz="2000"/>
              <a:t>Outcome</a:t>
            </a:r>
          </a:p>
          <a:p>
            <a:r>
              <a:rPr sz="2000"/>
              <a:t>Higher quality</a:t>
            </a:r>
          </a:p>
          <a:p>
            <a:r>
              <a:rPr sz="2000"/>
              <a:t>Lower risk</a:t>
            </a:r>
          </a:p>
          <a:p>
            <a:r>
              <a:rPr sz="2000"/>
              <a:t>More predictable modernization</a:t>
            </a:r>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2300"/>
              <a:t>Exercise: Prompt Multiple Models to Address Technical Debt</a:t>
            </a:r>
          </a:p>
        </p:txBody>
      </p:sp>
      <p:sp>
        <p:nvSpPr>
          <p:cNvPr id="3" name="Content Placeholder 2"/>
          <p:cNvSpPr>
            <a:spLocks noGrp="1"/>
          </p:cNvSpPr>
          <p:nvPr>
            <p:ph idx="1"/>
          </p:nvPr>
        </p:nvSpPr>
        <p:spPr/>
        <p:txBody>
          <a:bodyPr wrap="square">
            <a:noAutofit/>
          </a:bodyPr>
          <a:lstStyle/>
          <a:p>
            <a:endParaRPr sz="1400"/>
          </a:p>
          <a:p>
            <a:r>
              <a:rPr sz="1400"/>
              <a:t>Objectives</a:t>
            </a:r>
          </a:p>
          <a:p>
            <a:r>
              <a:rPr sz="1400"/>
              <a:t>Compare outputs from different models</a:t>
            </a:r>
          </a:p>
          <a:p>
            <a:r>
              <a:rPr sz="1400"/>
              <a:t>Identify strengths and weaknesses</a:t>
            </a:r>
          </a:p>
          <a:p>
            <a:r>
              <a:rPr sz="1400"/>
              <a:t>Evaluate risk and quality</a:t>
            </a:r>
          </a:p>
          <a:p>
            <a:r>
              <a:rPr sz="1400"/>
              <a:t>Activities</a:t>
            </a:r>
          </a:p>
          <a:p>
            <a:r>
              <a:rPr sz="1400"/>
              <a:t>Select a small technical debt item.</a:t>
            </a:r>
          </a:p>
          <a:p>
            <a:r>
              <a:rPr sz="1400"/>
              <a:t>Prompt two or more models to propose a fix.</a:t>
            </a:r>
          </a:p>
          <a:p>
            <a:r>
              <a:rPr sz="1400"/>
              <a:t>Compare outputs for:</a:t>
            </a:r>
          </a:p>
          <a:p>
            <a:endParaRPr sz="1400"/>
          </a:p>
          <a:p>
            <a:r>
              <a:rPr sz="1400"/>
              <a:t>Safety</a:t>
            </a:r>
          </a:p>
          <a:p>
            <a:r>
              <a:rPr sz="1400"/>
              <a:t>Clarity</a:t>
            </a:r>
          </a:p>
          <a:p>
            <a:r>
              <a:rPr sz="1400"/>
              <a:t>Test coverage</a:t>
            </a:r>
          </a:p>
          <a:p>
            <a:r>
              <a:rPr sz="1400"/>
              <a:t>Architectural alignment</a:t>
            </a:r>
          </a:p>
          <a:p>
            <a:r>
              <a:rPr sz="1400"/>
              <a:t>  Synthesize the best elements into a final solution.</a:t>
            </a:r>
          </a:p>
          <a:p>
            <a:r>
              <a:rPr sz="1400"/>
              <a:t>  Success Criteria</a:t>
            </a:r>
          </a:p>
          <a:p>
            <a:r>
              <a:rPr sz="1400"/>
              <a:t>  Differences between models are clearly identified</a:t>
            </a:r>
          </a:p>
          <a:p>
            <a:r>
              <a:rPr sz="1400"/>
              <a:t>  Risks and strengths are evaluated</a:t>
            </a:r>
          </a:p>
          <a:p>
            <a:r>
              <a:rPr sz="1400"/>
              <a:t>  Final synthesized solution is safe and incremental</a:t>
            </a:r>
          </a:p>
          <a:p>
            <a:r>
              <a:rPr sz="1400"/>
              <a:t>  Provenance metadata is included</a:t>
            </a: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2900"/>
              <a:t>Exercise: Assigning an Issue to Multiple Models</a:t>
            </a:r>
          </a:p>
        </p:txBody>
      </p:sp>
      <p:sp>
        <p:nvSpPr>
          <p:cNvPr id="3" name="Content Placeholder 2"/>
          <p:cNvSpPr>
            <a:spLocks noGrp="1"/>
          </p:cNvSpPr>
          <p:nvPr>
            <p:ph idx="1"/>
          </p:nvPr>
        </p:nvSpPr>
        <p:spPr/>
        <p:txBody>
          <a:bodyPr wrap="square">
            <a:noAutofit/>
          </a:bodyPr>
          <a:lstStyle/>
          <a:p>
            <a:endParaRPr sz="1400"/>
          </a:p>
          <a:p>
            <a:r>
              <a:rPr sz="1400"/>
              <a:t>Objectives</a:t>
            </a:r>
          </a:p>
          <a:p>
            <a:r>
              <a:rPr sz="1400"/>
              <a:t>Practice delegating the same issue to different models</a:t>
            </a:r>
          </a:p>
          <a:p>
            <a:r>
              <a:rPr sz="1400"/>
              <a:t>Evaluate how each model interprets constraints</a:t>
            </a:r>
          </a:p>
          <a:p>
            <a:r>
              <a:rPr sz="1400"/>
              <a:t>Identify missing context</a:t>
            </a:r>
          </a:p>
          <a:p>
            <a:r>
              <a:rPr sz="1400"/>
              <a:t>Activities</a:t>
            </a:r>
          </a:p>
          <a:p>
            <a:r>
              <a:rPr sz="1400"/>
              <a:t>Create a GitHub-style issue describing a technical debt item.</a:t>
            </a:r>
          </a:p>
          <a:p>
            <a:r>
              <a:rPr sz="1400"/>
              <a:t>Assign the issue to two different models.</a:t>
            </a:r>
          </a:p>
          <a:p>
            <a:r>
              <a:rPr sz="1400"/>
              <a:t>Compare their proposed remediation plans.</a:t>
            </a:r>
          </a:p>
          <a:p>
            <a:r>
              <a:rPr sz="1400"/>
              <a:t>Identify missing context or contradictions.</a:t>
            </a:r>
          </a:p>
          <a:p>
            <a:r>
              <a:rPr sz="1400"/>
              <a:t>Success Criteria</a:t>
            </a:r>
          </a:p>
          <a:p>
            <a:r>
              <a:rPr sz="1400"/>
              <a:t>Issue is clear and well-structured</a:t>
            </a:r>
          </a:p>
          <a:p>
            <a:r>
              <a:rPr sz="1400"/>
              <a:t>Each model produces a distinct approach</a:t>
            </a:r>
          </a:p>
          <a:p>
            <a:r>
              <a:rPr sz="1400"/>
              <a:t>Missing context is identified and documented</a:t>
            </a:r>
          </a:p>
          <a:p>
            <a:r>
              <a:rPr sz="1400"/>
              <a:t>A preferred plan is selected based on safety and clarity</a:t>
            </a:r>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000"/>
              <a:t>Exercise: Delegating Work to Multiple Models</a:t>
            </a:r>
          </a:p>
        </p:txBody>
      </p:sp>
      <p:sp>
        <p:nvSpPr>
          <p:cNvPr id="3" name="Content Placeholder 2"/>
          <p:cNvSpPr>
            <a:spLocks noGrp="1"/>
          </p:cNvSpPr>
          <p:nvPr>
            <p:ph idx="1"/>
          </p:nvPr>
        </p:nvSpPr>
        <p:spPr/>
        <p:txBody>
          <a:bodyPr wrap="square">
            <a:noAutofit/>
          </a:bodyPr>
          <a:lstStyle/>
          <a:p>
            <a:endParaRPr sz="1400"/>
          </a:p>
          <a:p>
            <a:r>
              <a:rPr sz="1400"/>
              <a:t>Objectives</a:t>
            </a:r>
          </a:p>
          <a:p>
            <a:r>
              <a:rPr sz="1400"/>
              <a:t>Practice multi-model delegation</a:t>
            </a:r>
          </a:p>
          <a:p>
            <a:r>
              <a:rPr sz="1400"/>
              <a:t>Evaluate multi-step reasoning</a:t>
            </a:r>
          </a:p>
          <a:p>
            <a:r>
              <a:rPr sz="1400"/>
              <a:t>Synthesize best practices into a unified plan</a:t>
            </a:r>
          </a:p>
          <a:p>
            <a:r>
              <a:rPr sz="1400"/>
              <a:t>Activities</a:t>
            </a:r>
          </a:p>
          <a:p>
            <a:r>
              <a:rPr sz="1400"/>
              <a:t>Select a multi-step modernization task.</a:t>
            </a:r>
          </a:p>
          <a:p>
            <a:r>
              <a:rPr sz="1400"/>
              <a:t>Ask multiple models to:</a:t>
            </a:r>
          </a:p>
          <a:p>
            <a:endParaRPr sz="1400"/>
          </a:p>
          <a:p>
            <a:r>
              <a:rPr sz="1400"/>
              <a:t>Analyze the problem</a:t>
            </a:r>
          </a:p>
          <a:p>
            <a:r>
              <a:rPr sz="1400"/>
              <a:t>Propose a remediation plan</a:t>
            </a:r>
          </a:p>
          <a:p>
            <a:r>
              <a:rPr sz="1400"/>
              <a:t>Suggest tests</a:t>
            </a:r>
          </a:p>
          <a:p>
            <a:r>
              <a:rPr sz="1400"/>
              <a:t>Suggest documentation updates</a:t>
            </a:r>
          </a:p>
          <a:p>
            <a:r>
              <a:rPr sz="1400"/>
              <a:t>  Compare the outputs.</a:t>
            </a:r>
          </a:p>
          <a:p>
            <a:r>
              <a:rPr sz="1400"/>
              <a:t>  Synthesize a final, safe, incremental plan.</a:t>
            </a:r>
          </a:p>
          <a:p>
            <a:r>
              <a:rPr sz="1400"/>
              <a:t>  Success Criteria</a:t>
            </a:r>
          </a:p>
          <a:p>
            <a:r>
              <a:rPr sz="1400"/>
              <a:t>  Multi-model differences are clearly understood</a:t>
            </a:r>
          </a:p>
          <a:p>
            <a:r>
              <a:rPr sz="1400"/>
              <a:t>  Final plan is incremental, reversible, and well-tested</a:t>
            </a:r>
          </a:p>
          <a:p>
            <a:r>
              <a:rPr sz="1400"/>
              <a:t>  Documentation and provenance are included</a:t>
            </a:r>
          </a:p>
          <a:p>
            <a:r>
              <a:rPr sz="1400"/>
              <a:t>  Risks are identified and mitigated</a:t>
            </a: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2700"/>
              <a:t>Evergreen Software Development - Core Principles</a:t>
            </a:r>
          </a:p>
        </p:txBody>
      </p:sp>
      <p:sp>
        <p:nvSpPr>
          <p:cNvPr id="3" name="Content Placeholder 2"/>
          <p:cNvSpPr>
            <a:spLocks noGrp="1"/>
          </p:cNvSpPr>
          <p:nvPr>
            <p:ph idx="1"/>
          </p:nvPr>
        </p:nvSpPr>
        <p:spPr/>
        <p:txBody>
          <a:bodyPr wrap="square">
            <a:noAutofit/>
          </a:bodyPr>
          <a:lstStyle/>
          <a:p>
            <a:endParaRPr sz="1550"/>
          </a:p>
          <a:p>
            <a:r>
              <a:rPr sz="1550"/>
              <a:t>Intent-First Design</a:t>
            </a:r>
          </a:p>
          <a:p>
            <a:endParaRPr sz="1550"/>
          </a:p>
          <a:p>
            <a:r>
              <a:rPr sz="1550"/>
              <a:t>Define the system's purpose, invariants, and boundaries before writing code to ensure long-term clarity.</a:t>
            </a:r>
          </a:p>
          <a:p>
            <a:r>
              <a:rPr sz="1550"/>
              <a:t>  Stable Interfaces, Evolving Internals</a:t>
            </a:r>
          </a:p>
          <a:p>
            <a:r>
              <a:rPr sz="1550"/>
              <a:t>Keep contracts predictable while allowing implementations to improve continuously.</a:t>
            </a:r>
          </a:p>
          <a:p>
            <a:r>
              <a:rPr sz="1550"/>
              <a:t>  Continuous Regeneration with Guardrails</a:t>
            </a:r>
          </a:p>
          <a:p>
            <a:r>
              <a:rPr sz="1550"/>
              <a:t>Use AI to rewrite or extend components safely, backed by tests, specs, and architectural constraints.</a:t>
            </a:r>
          </a:p>
          <a:p>
            <a:r>
              <a:rPr sz="1550"/>
              <a:t>  Modular, Replaceable Components</a:t>
            </a:r>
          </a:p>
          <a:p>
            <a:r>
              <a:rPr sz="1550"/>
              <a:t>Structure the system so any part can be regenerated, swapped, or upgraded without cascading breakage.</a:t>
            </a:r>
          </a:p>
          <a:p>
            <a:r>
              <a:rPr sz="1550"/>
              <a:t>  Lifecycle Governance</a:t>
            </a:r>
          </a:p>
          <a:p>
            <a:r>
              <a:rPr sz="1550"/>
              <a:t>Maintain quality through automated tests, versioning discipline, and human-in-the-loop validation.</a:t>
            </a:r>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900"/>
              <a:t>Why Software Fails to Be Evergreen</a:t>
            </a:r>
          </a:p>
        </p:txBody>
      </p:sp>
      <p:sp>
        <p:nvSpPr>
          <p:cNvPr id="3" name="Content Placeholder 2"/>
          <p:cNvSpPr>
            <a:spLocks noGrp="1"/>
          </p:cNvSpPr>
          <p:nvPr>
            <p:ph idx="1"/>
          </p:nvPr>
        </p:nvSpPr>
        <p:spPr/>
        <p:txBody>
          <a:bodyPr wrap="square">
            <a:noAutofit/>
          </a:bodyPr>
          <a:lstStyle/>
          <a:p>
            <a:endParaRPr sz="1450"/>
          </a:p>
          <a:p>
            <a:r>
              <a:rPr sz="1450"/>
              <a:t>Intent Rot</a:t>
            </a:r>
          </a:p>
          <a:p>
            <a:endParaRPr sz="1450"/>
          </a:p>
          <a:p>
            <a:r>
              <a:rPr sz="1450"/>
              <a:t>The original purpose, constraints, and invariants are undocumented or lost, making safe regeneration impossible.</a:t>
            </a:r>
          </a:p>
          <a:p>
            <a:r>
              <a:rPr sz="1450"/>
              <a:t>  Unstable or Leaky Interfaces</a:t>
            </a:r>
          </a:p>
          <a:p>
            <a:r>
              <a:rPr sz="1450"/>
              <a:t>APIs, data contracts, and boundaries change unpredictably, causing cascading breakage when internals evolve.</a:t>
            </a:r>
          </a:p>
          <a:p>
            <a:r>
              <a:rPr sz="1450"/>
              <a:t>  Tightly Coupled Architecture</a:t>
            </a:r>
          </a:p>
          <a:p>
            <a:r>
              <a:rPr sz="1450"/>
              <a:t>Components depend on each other's internal details, preventing isolated regeneration or replacement.</a:t>
            </a:r>
          </a:p>
          <a:p>
            <a:r>
              <a:rPr sz="1450"/>
              <a:t>  Insufficient Guardrails</a:t>
            </a:r>
          </a:p>
          <a:p>
            <a:r>
              <a:rPr sz="1450"/>
              <a:t>Missing tests, specs, or validation layers mean AI-assisted regeneration can't be trusted to preserve behavior.</a:t>
            </a:r>
          </a:p>
          <a:p>
            <a:r>
              <a:rPr sz="1450"/>
              <a:t>  One-Off Patches and Drift</a:t>
            </a:r>
          </a:p>
          <a:p>
            <a:r>
              <a:rPr sz="1450"/>
              <a:t>Ad-hoc fixes accumulate, diverging the system from its intended design and making regeneration unsafe.</a:t>
            </a: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Course Modules</a:t>
            </a:r>
          </a:p>
        </p:txBody>
      </p:sp>
      <p:sp>
        <p:nvSpPr>
          <p:cNvPr id="3" name="Content Placeholder 2"/>
          <p:cNvSpPr>
            <a:spLocks noGrp="1"/>
          </p:cNvSpPr>
          <p:nvPr>
            <p:ph idx="1"/>
          </p:nvPr>
        </p:nvSpPr>
        <p:spPr/>
        <p:txBody>
          <a:bodyPr wrap="square">
            <a:normAutofit/>
          </a:bodyPr>
          <a:lstStyle/>
          <a:p>
            <a:endParaRPr/>
          </a:p>
          <a:p>
            <a:r>
              <a:t>Intro</a:t>
            </a:r>
          </a:p>
          <a:p>
            <a:r>
              <a:t>AI Assisted Software Development</a:t>
            </a:r>
          </a:p>
          <a:p>
            <a:r>
              <a:t>Intro to Copilot</a:t>
            </a:r>
          </a:p>
          <a:p>
            <a:r>
              <a:t>AI Assistance in Action</a:t>
            </a:r>
          </a:p>
          <a:p>
            <a:r>
              <a:rPr b="1"/>
              <a:t>▶ Adding AI Guardrails</a:t>
            </a:r>
          </a:p>
          <a:p>
            <a:r>
              <a:t>Managing Context</a:t>
            </a: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Adding AI Guardrails</a:t>
            </a:r>
          </a:p>
        </p:txBody>
      </p:sp>
      <p:sp>
        <p:nvSpPr>
          <p:cNvPr id="3" name="Content Placeholder 2"/>
          <p:cNvSpPr>
            <a:spLocks noGrp="1"/>
          </p:cNvSpPr>
          <p:nvPr>
            <p:ph idx="1"/>
          </p:nvPr>
        </p:nvSpPr>
        <p:spPr/>
        <p:txBody>
          <a:bodyPr wrap="square">
            <a:normAutofit/>
          </a:bodyPr>
          <a:lstStyle/>
          <a:p>
            <a:endParaRP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Adding AI Guardrails</a:t>
            </a:r>
          </a:p>
        </p:txBody>
      </p:sp>
      <p:sp>
        <p:nvSpPr>
          <p:cNvPr id="3" name="Content Placeholder 2"/>
          <p:cNvSpPr>
            <a:spLocks noGrp="1"/>
          </p:cNvSpPr>
          <p:nvPr>
            <p:ph idx="1"/>
          </p:nvPr>
        </p:nvSpPr>
        <p:spPr/>
        <p:txBody>
          <a:bodyPr wrap="square">
            <a:normAutofit/>
          </a:bodyPr>
          <a:lstStyle/>
          <a:p>
            <a:endParaRPr/>
          </a:p>
          <a:p>
            <a:r>
              <a:t>Adding AI Guardrails</a:t>
            </a:r>
          </a:p>
          <a:p>
            <a:r>
              <a:t>Instruction Files</a:t>
            </a:r>
          </a:p>
          <a:p>
            <a:r>
              <a:t>🎯 Instruction File `applyTo` Patterns</a:t>
            </a:r>
          </a:p>
          <a:p>
            <a:r>
              <a:t>Core Instructions</a:t>
            </a:r>
          </a:p>
          <a:p>
            <a:r>
              <a:t>Organizational vs. Repository Instruction Files</a:t>
            </a:r>
          </a:p>
          <a:p>
            <a:r>
              <a:t>Exercise: Technology Inventory &amp; Instruction Generation</a:t>
            </a:r>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Adding AI Guardrails</a:t>
            </a:r>
          </a:p>
        </p:txBody>
      </p:sp>
      <p:sp>
        <p:nvSpPr>
          <p:cNvPr id="3" name="Content Placeholder 2"/>
          <p:cNvSpPr>
            <a:spLocks noGrp="1"/>
          </p:cNvSpPr>
          <p:nvPr>
            <p:ph idx="1"/>
          </p:nvPr>
        </p:nvSpPr>
        <p:spPr/>
        <p:txBody>
          <a:bodyPr wrap="square">
            <a:normAutofit/>
          </a:bodyPr>
          <a:lstStyle/>
          <a:p>
            <a:endParaRPr/>
          </a:p>
          <a:p>
            <a:r>
              <a:t>What are instructions, prompts, and Agents</a:t>
            </a:r>
          </a:p>
          <a:p>
            <a:r>
              <a:t>Creating instruction, prompt, and Agent files</a:t>
            </a:r>
          </a:p>
          <a:p>
            <a:r>
              <a:t>Meta prompts that generate these files</a:t>
            </a:r>
          </a:p>
          <a:p>
            <a:r>
              <a:t>Instructions for generating artifacts</a:t>
            </a:r>
          </a:p>
          <a:p>
            <a:r>
              <a:t>Enforcing provenance for AI-assisted artifacts</a:t>
            </a: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4350"/>
              <a:t>Instructions, Prompts &amp; Agents</a:t>
            </a:r>
          </a:p>
        </p:txBody>
      </p:sp>
      <p:sp>
        <p:nvSpPr>
          <p:cNvPr id="3" name="Content Placeholder 2"/>
          <p:cNvSpPr>
            <a:spLocks noGrp="1"/>
          </p:cNvSpPr>
          <p:nvPr>
            <p:ph idx="1"/>
          </p:nvPr>
        </p:nvSpPr>
        <p:spPr/>
        <p:txBody>
          <a:bodyPr wrap="square">
            <a:normAutofit/>
          </a:bodyPr>
          <a:lstStyle/>
          <a:p>
            <a:endParaRPr/>
          </a:p>
          <a:p>
            <a:r>
              <a:t>Definitions</a:t>
            </a:r>
          </a:p>
          <a:p>
            <a:r>
              <a:t>Instructions – Persistent rules that guide the model's behavior</a:t>
            </a:r>
          </a:p>
          <a:p>
            <a:r>
              <a:t>Prompts – Task-specific requests defining intent and constraints</a:t>
            </a:r>
          </a:p>
          <a:p>
            <a:r>
              <a:t>Agents – Pre-configured personas optimized for workflows</a:t>
            </a: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200"/>
              <a:t>Creating Instruction, Prompt &amp; Agent Files</a:t>
            </a:r>
          </a:p>
        </p:txBody>
      </p:sp>
      <p:sp>
        <p:nvSpPr>
          <p:cNvPr id="3" name="Content Placeholder 2"/>
          <p:cNvSpPr>
            <a:spLocks noGrp="1"/>
          </p:cNvSpPr>
          <p:nvPr>
            <p:ph idx="1"/>
          </p:nvPr>
        </p:nvSpPr>
        <p:spPr/>
        <p:txBody>
          <a:bodyPr wrap="square">
            <a:noAutofit/>
          </a:bodyPr>
          <a:lstStyle/>
          <a:p>
            <a:endParaRPr sz="2000"/>
          </a:p>
          <a:p>
            <a:r>
              <a:rPr sz="2000"/>
              <a:t>Why create files?</a:t>
            </a:r>
          </a:p>
          <a:p>
            <a:r>
              <a:rPr sz="2000"/>
              <a:t>Ensures repeatability</a:t>
            </a:r>
          </a:p>
          <a:p>
            <a:r>
              <a:rPr sz="2000"/>
              <a:t>Reduces token usage</a:t>
            </a:r>
          </a:p>
          <a:p>
            <a:r>
              <a:rPr sz="2000"/>
              <a:t>Provides version-controlled guardrails</a:t>
            </a:r>
          </a:p>
          <a:p>
            <a:r>
              <a:rPr sz="2000"/>
              <a:t>Enables team-wide consistency</a:t>
            </a:r>
          </a:p>
          <a:p>
            <a:r>
              <a:rPr sz="2000"/>
              <a:t>File types</a:t>
            </a:r>
          </a:p>
          <a:p>
            <a:r>
              <a:rPr sz="2000"/>
              <a:t>.github/instructions/myinstructions.instructions.md</a:t>
            </a:r>
          </a:p>
          <a:p>
            <a:r>
              <a:rPr sz="2000"/>
              <a:t>.github/copilot/Promptfiles/myprompt.prompt.md</a:t>
            </a:r>
          </a:p>
          <a:p>
            <a:r>
              <a:rPr sz="2000"/>
              <a:t>.github/chatmodes/mychatmode.chatmode.md</a:t>
            </a:r>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Meta Prompts</a:t>
            </a:r>
          </a:p>
        </p:txBody>
      </p:sp>
      <p:sp>
        <p:nvSpPr>
          <p:cNvPr id="3" name="Content Placeholder 2"/>
          <p:cNvSpPr>
            <a:spLocks noGrp="1"/>
          </p:cNvSpPr>
          <p:nvPr>
            <p:ph idx="1"/>
          </p:nvPr>
        </p:nvSpPr>
        <p:spPr/>
        <p:txBody>
          <a:bodyPr wrap="square">
            <a:normAutofit/>
          </a:bodyPr>
          <a:lstStyle/>
          <a:p>
            <a:endParaRPr/>
          </a:p>
          <a:p>
            <a:r>
              <a:t>Meta prompts guide:</a:t>
            </a:r>
          </a:p>
          <a:p>
            <a:r>
              <a:t>Creation of instruction files</a:t>
            </a:r>
          </a:p>
          <a:p>
            <a:r>
              <a:t>Generation of reusable prompts</a:t>
            </a:r>
          </a:p>
          <a:p>
            <a:r>
              <a:t>Construction of Agents</a:t>
            </a:r>
          </a:p>
          <a:p>
            <a:r>
              <a:t>Provide consistent formatting, structure, content</a:t>
            </a:r>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750"/>
              <a:t>Instructions for Generating Artifacts</a:t>
            </a:r>
          </a:p>
        </p:txBody>
      </p:sp>
      <p:sp>
        <p:nvSpPr>
          <p:cNvPr id="3" name="Content Placeholder 2"/>
          <p:cNvSpPr>
            <a:spLocks noGrp="1"/>
          </p:cNvSpPr>
          <p:nvPr>
            <p:ph idx="1"/>
          </p:nvPr>
        </p:nvSpPr>
        <p:spPr/>
        <p:txBody>
          <a:bodyPr wrap="square">
            <a:normAutofit/>
          </a:bodyPr>
          <a:lstStyle/>
          <a:p>
            <a:endParaRPr/>
          </a:p>
          <a:p>
            <a:r>
              <a:t>Best practices</a:t>
            </a:r>
          </a:p>
          <a:p>
            <a:r>
              <a:t>Define the artifact type</a:t>
            </a:r>
          </a:p>
          <a:p>
            <a:r>
              <a:t>Specify required sections</a:t>
            </a:r>
          </a:p>
          <a:p>
            <a:r>
              <a:t>Provide examples or templates</a:t>
            </a:r>
          </a:p>
          <a:p>
            <a:r>
              <a:t>Include acceptance criteria</a:t>
            </a:r>
          </a:p>
          <a:p>
            <a:r>
              <a:t>Require the model to restate constraints</a:t>
            </a:r>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700"/>
              <a:t>Enforcing Provenance for AI Artifacts</a:t>
            </a:r>
          </a:p>
        </p:txBody>
      </p:sp>
      <p:sp>
        <p:nvSpPr>
          <p:cNvPr id="3" name="Content Placeholder 2"/>
          <p:cNvSpPr>
            <a:spLocks noGrp="1"/>
          </p:cNvSpPr>
          <p:nvPr>
            <p:ph idx="1"/>
          </p:nvPr>
        </p:nvSpPr>
        <p:spPr/>
        <p:txBody>
          <a:bodyPr wrap="square">
            <a:noAutofit/>
          </a:bodyPr>
          <a:lstStyle/>
          <a:p>
            <a:endParaRPr sz="2000"/>
          </a:p>
          <a:p>
            <a:r>
              <a:rPr sz="2000"/>
              <a:t>Provenance requirements</a:t>
            </a:r>
          </a:p>
          <a:p>
            <a:r>
              <a:rPr sz="2000"/>
              <a:t>Declare:</a:t>
            </a:r>
          </a:p>
          <a:p>
            <a:endParaRPr sz="2000"/>
          </a:p>
          <a:p>
            <a:r>
              <a:rPr sz="2000"/>
              <a:t>AI involvement</a:t>
            </a:r>
          </a:p>
          <a:p>
            <a:r>
              <a:rPr sz="2000"/>
              <a:t>Model used</a:t>
            </a:r>
          </a:p>
          <a:p>
            <a:r>
              <a:rPr sz="2000"/>
              <a:t>Date generated</a:t>
            </a:r>
          </a:p>
          <a:p>
            <a:r>
              <a:rPr sz="2000"/>
              <a:t>Human reviewer</a:t>
            </a:r>
          </a:p>
          <a:p>
            <a:r>
              <a:rPr sz="2000"/>
              <a:t>  Store provenance in headers, footers, or side cars</a:t>
            </a:r>
          </a:p>
          <a:p>
            <a:r>
              <a:rPr sz="2000"/>
              <a:t>  Track revisions in version control</a:t>
            </a:r>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800"/>
              <a:t>Exercise: Copy the Core Instructions</a:t>
            </a:r>
          </a:p>
        </p:txBody>
      </p:sp>
      <p:sp>
        <p:nvSpPr>
          <p:cNvPr id="3" name="Content Placeholder 2"/>
          <p:cNvSpPr>
            <a:spLocks noGrp="1"/>
          </p:cNvSpPr>
          <p:nvPr>
            <p:ph idx="1"/>
          </p:nvPr>
        </p:nvSpPr>
        <p:spPr/>
        <p:txBody>
          <a:bodyPr wrap="square">
            <a:noAutofit/>
          </a:bodyPr>
          <a:lstStyle/>
          <a:p>
            <a:endParaRPr sz="1400"/>
          </a:p>
          <a:p>
            <a:r>
              <a:rPr sz="1400"/>
              <a:t>Objectives:</a:t>
            </a:r>
          </a:p>
          <a:p>
            <a:r>
              <a:rPr sz="1400"/>
              <a:t>Understand file organization for AI-assisted output policies</a:t>
            </a:r>
          </a:p>
          <a:p>
            <a:r>
              <a:rPr sz="1400"/>
              <a:t>Practice copying files between repositories</a:t>
            </a:r>
          </a:p>
          <a:p>
            <a:r>
              <a:rPr sz="1400"/>
              <a:t>Ensure compliance with output metadata requirements</a:t>
            </a:r>
          </a:p>
          <a:p>
            <a:r>
              <a:rPr sz="1400"/>
              <a:t>Activities:</a:t>
            </a:r>
          </a:p>
          <a:p>
            <a:endParaRPr sz="1400"/>
          </a:p>
          <a:p>
            <a:r>
              <a:rPr sz="1400"/>
              <a:t>1. Locate .github/instructions/ai-assisted-output.instructions.md in the AI-Assisted-Software-Development repository</a:t>
            </a:r>
          </a:p>
          <a:p>
            <a:r>
              <a:rPr sz="1400"/>
              <a:t>2. Copy the file into the .github/instructions folder of the current repository</a:t>
            </a:r>
          </a:p>
          <a:p>
            <a:r>
              <a:rPr sz="1400"/>
              <a:t>3. Copy these files as well:</a:t>
            </a:r>
          </a:p>
          <a:p>
            <a:r>
              <a:rPr sz="1400"/>
              <a:t>   chatmode-file.instructions.md</a:t>
            </a:r>
          </a:p>
          <a:p>
            <a:r>
              <a:rPr sz="1400"/>
              <a:t>   instruction-files.instructions.md</a:t>
            </a:r>
          </a:p>
          <a:p>
            <a:r>
              <a:rPr sz="1400"/>
              <a:t>   instruction-prompt-files.instructions.md</a:t>
            </a:r>
          </a:p>
          <a:p>
            <a:r>
              <a:rPr sz="1400"/>
              <a:t>   prompt-file.instructions.md</a:t>
            </a:r>
          </a:p>
          <a:p>
            <a:r>
              <a:rPr sz="1400"/>
              <a:t>4. Verify the copied files matches the original</a:t>
            </a:r>
          </a:p>
          <a:p>
            <a:r>
              <a:rPr sz="1400"/>
              <a:t>5. Review the instructions</a:t>
            </a:r>
          </a:p>
          <a:p>
            <a:r>
              <a:rPr sz="1400"/>
              <a:t>   Success Criteria:</a:t>
            </a:r>
          </a:p>
          <a:p>
            <a:r>
              <a:rPr sz="1400"/>
              <a:t>   The files are present in the current repo</a:t>
            </a:r>
          </a:p>
          <a:p>
            <a:r>
              <a:rPr sz="1400"/>
              <a:t>   The content matches the source file</a:t>
            </a:r>
          </a:p>
          <a:p>
            <a:r>
              <a:rPr sz="1400"/>
              <a:t>   No metadata or formatting is lost</a:t>
            </a:r>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550"/>
              <a:t>Instructions for AI Generated Artifacts</a:t>
            </a:r>
          </a:p>
        </p:txBody>
      </p:sp>
      <p:sp>
        <p:nvSpPr>
          <p:cNvPr id="3" name="Content Placeholder 2"/>
          <p:cNvSpPr>
            <a:spLocks noGrp="1"/>
          </p:cNvSpPr>
          <p:nvPr>
            <p:ph idx="1"/>
          </p:nvPr>
        </p:nvSpPr>
        <p:spPr/>
        <p:txBody>
          <a:bodyPr wrap="square">
            <a:normAutofit/>
          </a:bodyPr>
          <a:lstStyle/>
          <a:p>
            <a:endParaRPr/>
          </a:p>
          <a:p>
            <a:r>
              <a:t>The one instruction file that rules them all</a:t>
            </a:r>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4350"/>
              <a:t>AI-Assisted Output Instructions</a:t>
            </a:r>
          </a:p>
        </p:txBody>
      </p:sp>
      <p:sp>
        <p:nvSpPr>
          <p:cNvPr id="3" name="Content Placeholder 2"/>
          <p:cNvSpPr>
            <a:spLocks noGrp="1"/>
          </p:cNvSpPr>
          <p:nvPr>
            <p:ph idx="1"/>
          </p:nvPr>
        </p:nvSpPr>
        <p:spPr/>
        <p:txBody>
          <a:bodyPr wrap="square">
            <a:normAutofit/>
          </a:bodyPr>
          <a:lstStyle/>
          <a:p>
            <a:endParaRPr/>
          </a:p>
          <a:p>
            <a:r>
              <a:t>Ensures provenance and logging for all AI-assisted outputs</a:t>
            </a:r>
          </a:p>
          <a:p>
            <a:r>
              <a:t>Defines required metadata, logging workflow, and quality gates</a:t>
            </a:r>
          </a:p>
          <a:p>
            <a:r>
              <a:t>Protects code quality and enables audits</a:t>
            </a:r>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4350"/>
              <a:t>Required Provenance Metadata</a:t>
            </a:r>
          </a:p>
        </p:txBody>
      </p:sp>
      <p:sp>
        <p:nvSpPr>
          <p:cNvPr id="3" name="Content Placeholder 2"/>
          <p:cNvSpPr>
            <a:spLocks noGrp="1"/>
          </p:cNvSpPr>
          <p:nvPr>
            <p:ph idx="1"/>
          </p:nvPr>
        </p:nvSpPr>
        <p:spPr/>
        <p:txBody>
          <a:bodyPr wrap="square">
            <a:noAutofit/>
          </a:bodyPr>
          <a:lstStyle/>
          <a:p>
            <a:endParaRPr sz="1550"/>
          </a:p>
          <a:p>
            <a:r>
              <a:rPr sz="1550"/>
              <a:t>Every AI-assisted artifact must include:</a:t>
            </a:r>
          </a:p>
          <a:p>
            <a:endParaRPr sz="1550"/>
          </a:p>
          <a:p>
            <a:r>
              <a:rPr sz="1550"/>
              <a:t>ai_generated: true</a:t>
            </a:r>
          </a:p>
          <a:p>
            <a:r>
              <a:rPr sz="1550"/>
              <a:t>model: provider/model@version</a:t>
            </a:r>
          </a:p>
          <a:p>
            <a:r>
              <a:rPr sz="1550"/>
              <a:t>operator: username</a:t>
            </a:r>
          </a:p>
          <a:p>
            <a:r>
              <a:rPr sz="1550"/>
              <a:t>chat_id: unique chat identifier</a:t>
            </a:r>
          </a:p>
          <a:p>
            <a:r>
              <a:rPr sz="1550"/>
              <a:t>prompt: exact prompt text</a:t>
            </a:r>
          </a:p>
          <a:p>
            <a:r>
              <a:rPr sz="1550"/>
              <a:t>started/ended: timestamps</a:t>
            </a:r>
          </a:p>
          <a:p>
            <a:r>
              <a:rPr sz="1550"/>
              <a:t>task_durations &amp; total_duration</a:t>
            </a:r>
          </a:p>
          <a:p>
            <a:r>
              <a:rPr sz="1550"/>
              <a:t>ai_log: path to conversation log</a:t>
            </a:r>
          </a:p>
          <a:p>
            <a:r>
              <a:rPr sz="1550"/>
              <a:t>source: who/what created the file</a:t>
            </a:r>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Metadata Placement Policy</a:t>
            </a:r>
          </a:p>
        </p:txBody>
      </p:sp>
      <p:sp>
        <p:nvSpPr>
          <p:cNvPr id="3" name="Content Placeholder 2"/>
          <p:cNvSpPr>
            <a:spLocks noGrp="1"/>
          </p:cNvSpPr>
          <p:nvPr>
            <p:ph idx="1"/>
          </p:nvPr>
        </p:nvSpPr>
        <p:spPr/>
        <p:txBody>
          <a:bodyPr wrap="square">
            <a:normAutofit/>
          </a:bodyPr>
          <a:lstStyle/>
          <a:p>
            <a:endParaRPr/>
          </a:p>
          <a:p>
            <a:r>
              <a:t>Use YAML front matter for Markdown and similar formats</a:t>
            </a:r>
          </a:p>
          <a:p>
            <a:r>
              <a:t>For binaries/images, use a sidecar &lt;artifact&gt;.meta.md</a:t>
            </a:r>
          </a:p>
          <a:p>
            <a:r>
              <a:t>Never use sidecars for Markdown</a:t>
            </a:r>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AI Chat Logging Workflow</a:t>
            </a:r>
          </a:p>
        </p:txBody>
      </p:sp>
      <p:sp>
        <p:nvSpPr>
          <p:cNvPr id="3" name="Content Placeholder 2"/>
          <p:cNvSpPr>
            <a:spLocks noGrp="1"/>
          </p:cNvSpPr>
          <p:nvPr>
            <p:ph idx="1"/>
          </p:nvPr>
        </p:nvSpPr>
        <p:spPr/>
        <p:txBody>
          <a:bodyPr wrap="square">
            <a:noAutofit/>
          </a:bodyPr>
          <a:lstStyle/>
          <a:p>
            <a:endParaRPr sz="2450"/>
          </a:p>
          <a:p>
            <a:r>
              <a:rPr sz="2450"/>
              <a:t>Each chat creates a unique log folder: ai-logs/yyyy/mm/dd/&lt;chat-id&gt;/</a:t>
            </a:r>
          </a:p>
          <a:p>
            <a:r>
              <a:rPr sz="2450"/>
              <a:t>Required files:</a:t>
            </a:r>
          </a:p>
          <a:p>
            <a:endParaRPr sz="2450"/>
          </a:p>
          <a:p>
            <a:r>
              <a:rPr sz="2450"/>
              <a:t>conversation.md (full transcript)</a:t>
            </a:r>
          </a:p>
          <a:p>
            <a:r>
              <a:rPr sz="2450"/>
              <a:t>summary.md (objectives, decisions, outcomes)</a:t>
            </a:r>
          </a:p>
          <a:p>
            <a:r>
              <a:rPr sz="2450"/>
              <a:t>artifacts/ (optional)</a:t>
            </a:r>
          </a:p>
          <a:p>
            <a:r>
              <a:rPr sz="2450"/>
              <a:t>  Never reuse chat logs between sessions</a:t>
            </a:r>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Quality &amp; PR Checklist</a:t>
            </a:r>
          </a:p>
        </p:txBody>
      </p:sp>
      <p:sp>
        <p:nvSpPr>
          <p:cNvPr id="3" name="Content Placeholder 2"/>
          <p:cNvSpPr>
            <a:spLocks noGrp="1"/>
          </p:cNvSpPr>
          <p:nvPr>
            <p:ph idx="1"/>
          </p:nvPr>
        </p:nvSpPr>
        <p:spPr/>
        <p:txBody>
          <a:bodyPr wrap="square">
            <a:normAutofit/>
          </a:bodyPr>
          <a:lstStyle/>
          <a:p>
            <a:endParaRPr/>
          </a:p>
          <a:p>
            <a:r>
              <a:t>Metadata complete and correct</a:t>
            </a:r>
          </a:p>
          <a:p>
            <a:r>
              <a:t>Conversation and summary logs exist</a:t>
            </a:r>
          </a:p>
          <a:p>
            <a:r>
              <a:t>README.md updated for notable artifacts</a:t>
            </a:r>
          </a:p>
          <a:p>
            <a:r>
              <a:t>No sensitive data in outputs</a:t>
            </a:r>
          </a:p>
          <a:p>
            <a:r>
              <a:t>All AI-generated content traces to a chat log</a:t>
            </a:r>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4050"/>
              <a:t>Copilot Integration Requirements</a:t>
            </a:r>
          </a:p>
        </p:txBody>
      </p:sp>
      <p:sp>
        <p:nvSpPr>
          <p:cNvPr id="3" name="Content Placeholder 2"/>
          <p:cNvSpPr>
            <a:spLocks noGrp="1"/>
          </p:cNvSpPr>
          <p:nvPr>
            <p:ph idx="1"/>
          </p:nvPr>
        </p:nvSpPr>
        <p:spPr/>
        <p:txBody>
          <a:bodyPr wrap="square">
            <a:normAutofit/>
          </a:bodyPr>
          <a:lstStyle/>
          <a:p>
            <a:endParaRPr/>
          </a:p>
          <a:p>
            <a:r>
              <a:t>Copilot must auto-manage chat IDs and logs</a:t>
            </a:r>
          </a:p>
          <a:p>
            <a:r>
              <a:t>Metadata injected automatically</a:t>
            </a:r>
          </a:p>
          <a:p>
            <a:r>
              <a:t>Block artifact creation if chat context is missing</a:t>
            </a:r>
          </a:p>
          <a:p>
            <a:r>
              <a:t>Enforce provenance before file creation</a:t>
            </a:r>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Enforcement &amp; Remediation</a:t>
            </a:r>
          </a:p>
        </p:txBody>
      </p:sp>
      <p:sp>
        <p:nvSpPr>
          <p:cNvPr id="3" name="Content Placeholder 2"/>
          <p:cNvSpPr>
            <a:spLocks noGrp="1"/>
          </p:cNvSpPr>
          <p:nvPr>
            <p:ph idx="1"/>
          </p:nvPr>
        </p:nvSpPr>
        <p:spPr/>
        <p:txBody>
          <a:bodyPr wrap="square">
            <a:normAutofit/>
          </a:bodyPr>
          <a:lstStyle/>
          <a:p>
            <a:endParaRPr/>
          </a:p>
          <a:p>
            <a:r>
              <a:t>PRs blocked if provenance is incomplete</a:t>
            </a:r>
          </a:p>
          <a:p>
            <a:r>
              <a:t>Missing logs or metadata must be added before merge</a:t>
            </a:r>
          </a:p>
          <a:p>
            <a:r>
              <a:t>Orphaned artifacts require reconstruction of logs and metadata</a:t>
            </a:r>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Summary: Why This Matters</a:t>
            </a:r>
          </a:p>
        </p:txBody>
      </p:sp>
      <p:sp>
        <p:nvSpPr>
          <p:cNvPr id="3" name="Content Placeholder 2"/>
          <p:cNvSpPr>
            <a:spLocks noGrp="1"/>
          </p:cNvSpPr>
          <p:nvPr>
            <p:ph idx="1"/>
          </p:nvPr>
        </p:nvSpPr>
        <p:spPr/>
        <p:txBody>
          <a:bodyPr wrap="square">
            <a:normAutofit/>
          </a:bodyPr>
          <a:lstStyle/>
          <a:p>
            <a:endParaRPr/>
          </a:p>
          <a:p>
            <a:r>
              <a:t>Enables auditability and trust in AI outputs</a:t>
            </a:r>
          </a:p>
          <a:p>
            <a:r>
              <a:t>Protects against orphaned or unverifiable artifacts</a:t>
            </a:r>
          </a:p>
          <a:p>
            <a:r>
              <a:t>Supports team collaboration and compliance</a:t>
            </a:r>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Core Instruction files</a:t>
            </a:r>
          </a:p>
        </p:txBody>
      </p:sp>
      <p:sp>
        <p:nvSpPr>
          <p:cNvPr id="3" name="Content Placeholder 2"/>
          <p:cNvSpPr>
            <a:spLocks noGrp="1"/>
          </p:cNvSpPr>
          <p:nvPr>
            <p:ph idx="1"/>
          </p:nvPr>
        </p:nvSpPr>
        <p:spPr/>
        <p:txBody>
          <a:bodyPr wrap="square">
            <a:noAutofit/>
          </a:bodyPr>
          <a:lstStyle/>
          <a:p>
            <a:endParaRPr sz="2000"/>
          </a:p>
          <a:p>
            <a:r>
              <a:rPr sz="2000"/>
              <a:t>chatmode-file.instructions.md</a:t>
            </a:r>
          </a:p>
          <a:p>
            <a:endParaRPr sz="2000"/>
          </a:p>
          <a:p>
            <a:r>
              <a:rPr sz="2000"/>
              <a:t>Defines the structure and contents of agents</a:t>
            </a:r>
          </a:p>
          <a:p>
            <a:r>
              <a:rPr sz="2000"/>
              <a:t>  instruction-files.instructions.md</a:t>
            </a:r>
          </a:p>
          <a:p>
            <a:r>
              <a:rPr sz="2000"/>
              <a:t>Defines the structure and contents of instruction files</a:t>
            </a:r>
          </a:p>
          <a:p>
            <a:r>
              <a:rPr sz="2000"/>
              <a:t>  prompt-file.instructions.md</a:t>
            </a:r>
          </a:p>
          <a:p>
            <a:r>
              <a:rPr sz="2000"/>
              <a:t>Defines the structure and contents of prompts</a:t>
            </a:r>
          </a:p>
          <a:p>
            <a:r>
              <a:rPr sz="2000"/>
              <a:t>  instruction-prompt-files.instructions.md</a:t>
            </a:r>
          </a:p>
          <a:p>
            <a:r>
              <a:rPr sz="2000"/>
              <a:t>Defines the structure and contents of prompts the create instruction files</a:t>
            </a:r>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Exercise: Create a Prompt File</a:t>
            </a:r>
          </a:p>
        </p:txBody>
      </p:sp>
      <p:sp>
        <p:nvSpPr>
          <p:cNvPr id="3" name="Content Placeholder 2"/>
          <p:cNvSpPr>
            <a:spLocks noGrp="1"/>
          </p:cNvSpPr>
          <p:nvPr>
            <p:ph idx="1"/>
          </p:nvPr>
        </p:nvSpPr>
        <p:spPr/>
        <p:txBody>
          <a:bodyPr wrap="square">
            <a:noAutofit/>
          </a:bodyPr>
          <a:lstStyle/>
          <a:p>
            <a:endParaRPr sz="1550"/>
          </a:p>
          <a:p>
            <a:r>
              <a:rPr sz="1550"/>
              <a:t>Objectives</a:t>
            </a:r>
          </a:p>
          <a:p>
            <a:r>
              <a:rPr sz="1550"/>
              <a:t>Understand prompt structure</a:t>
            </a:r>
          </a:p>
          <a:p>
            <a:r>
              <a:rPr sz="1550"/>
              <a:t>Practice defining task intent</a:t>
            </a:r>
          </a:p>
          <a:p>
            <a:r>
              <a:rPr sz="1550"/>
              <a:t>Apply constraints and success criteria</a:t>
            </a:r>
          </a:p>
          <a:p>
            <a:r>
              <a:rPr sz="1550"/>
              <a:t>Activities</a:t>
            </a:r>
          </a:p>
          <a:p>
            <a:r>
              <a:rPr sz="1550"/>
              <a:t>Prompt Copilot to create a prompt file that creates an instruction file for evergreen software development</a:t>
            </a:r>
          </a:p>
          <a:p>
            <a:r>
              <a:rPr sz="1550"/>
              <a:t>Review the prompt</a:t>
            </a:r>
          </a:p>
          <a:p>
            <a:r>
              <a:rPr sz="1550"/>
              <a:t>Success Criteria</a:t>
            </a:r>
          </a:p>
          <a:p>
            <a:r>
              <a:rPr sz="1550"/>
              <a:t>Prompt is clear, scoped, and reusable</a:t>
            </a:r>
          </a:p>
          <a:p>
            <a:r>
              <a:rPr sz="1550"/>
              <a:t>Includes constraints and success criteria</a:t>
            </a:r>
          </a:p>
          <a:p>
            <a:r>
              <a:rPr sz="1550"/>
              <a:t>Avoids unnecessary context</a:t>
            </a:r>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2200"/>
              <a:t>Exercise: Create an Instruction File for Evergreen Development</a:t>
            </a:r>
          </a:p>
        </p:txBody>
      </p:sp>
      <p:sp>
        <p:nvSpPr>
          <p:cNvPr id="3" name="Content Placeholder 2"/>
          <p:cNvSpPr>
            <a:spLocks noGrp="1"/>
          </p:cNvSpPr>
          <p:nvPr>
            <p:ph idx="1"/>
          </p:nvPr>
        </p:nvSpPr>
        <p:spPr/>
        <p:txBody>
          <a:bodyPr wrap="square">
            <a:noAutofit/>
          </a:bodyPr>
          <a:lstStyle/>
          <a:p>
            <a:endParaRPr sz="1550"/>
          </a:p>
          <a:p>
            <a:r>
              <a:rPr sz="1550"/>
              <a:t>Objectives</a:t>
            </a:r>
          </a:p>
          <a:p>
            <a:r>
              <a:rPr sz="1550"/>
              <a:t>Capture evergreen principles</a:t>
            </a:r>
          </a:p>
          <a:p>
            <a:r>
              <a:rPr sz="1550"/>
              <a:t>Define architectural boundaries</a:t>
            </a:r>
          </a:p>
          <a:p>
            <a:r>
              <a:rPr sz="1550"/>
              <a:t>Specify modernization rules</a:t>
            </a:r>
          </a:p>
          <a:p>
            <a:r>
              <a:rPr sz="1550"/>
              <a:t>Activities</a:t>
            </a:r>
          </a:p>
          <a:p>
            <a:r>
              <a:rPr sz="1550"/>
              <a:t>Submit the Evergreen Instructions prompt</a:t>
            </a:r>
          </a:p>
          <a:p>
            <a:r>
              <a:rPr sz="1550"/>
              <a:t>Review the instructions</a:t>
            </a:r>
          </a:p>
          <a:p>
            <a:r>
              <a:rPr sz="1550"/>
              <a:t>Success Criteria</a:t>
            </a:r>
          </a:p>
          <a:p>
            <a:r>
              <a:rPr sz="1550"/>
              <a:t>Instruction file is stable and reusable</a:t>
            </a:r>
          </a:p>
          <a:p>
            <a:r>
              <a:rPr sz="1550"/>
              <a:t>Reflects evergreen development values</a:t>
            </a:r>
          </a:p>
          <a:p>
            <a:r>
              <a:rPr sz="1550"/>
              <a:t>Provides clear guardrails</a:t>
            </a:r>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Exercise: Create an Agent</a:t>
            </a:r>
          </a:p>
        </p:txBody>
      </p:sp>
      <p:sp>
        <p:nvSpPr>
          <p:cNvPr id="3" name="Content Placeholder 2"/>
          <p:cNvSpPr>
            <a:spLocks noGrp="1"/>
          </p:cNvSpPr>
          <p:nvPr>
            <p:ph idx="1"/>
          </p:nvPr>
        </p:nvSpPr>
        <p:spPr/>
        <p:txBody>
          <a:bodyPr wrap="square">
            <a:noAutofit/>
          </a:bodyPr>
          <a:lstStyle/>
          <a:p>
            <a:endParaRPr sz="1400"/>
          </a:p>
          <a:p>
            <a:r>
              <a:rPr sz="1400"/>
              <a:t>Objectives</a:t>
            </a:r>
          </a:p>
          <a:p>
            <a:r>
              <a:rPr sz="1400"/>
              <a:t>Define a persona optimized for brownfield work</a:t>
            </a:r>
          </a:p>
          <a:p>
            <a:r>
              <a:rPr sz="1400"/>
              <a:t>Emphasize safety and incrementalism</a:t>
            </a:r>
          </a:p>
          <a:p>
            <a:r>
              <a:rPr sz="1400"/>
              <a:t>Encode risk-aware behaviors</a:t>
            </a:r>
          </a:p>
          <a:p>
            <a:r>
              <a:rPr sz="1400"/>
              <a:t>Activities</a:t>
            </a:r>
          </a:p>
          <a:p>
            <a:r>
              <a:rPr sz="1400"/>
              <a:t>Draft a Agent that:</a:t>
            </a:r>
          </a:p>
          <a:p>
            <a:endParaRPr sz="1400"/>
          </a:p>
          <a:p>
            <a:r>
              <a:rPr sz="1400"/>
              <a:t>Respects working systems</a:t>
            </a:r>
          </a:p>
          <a:p>
            <a:r>
              <a:rPr sz="1400"/>
              <a:t>Avoids risky rewrites</a:t>
            </a:r>
          </a:p>
          <a:p>
            <a:r>
              <a:rPr sz="1400"/>
              <a:t>Surfaces context gaps</a:t>
            </a:r>
          </a:p>
          <a:p>
            <a:r>
              <a:rPr sz="1400"/>
              <a:t>Encourages incremental changes</a:t>
            </a:r>
          </a:p>
          <a:p>
            <a:r>
              <a:rPr sz="1400"/>
              <a:t>  Add tone and behavioral guidelines</a:t>
            </a:r>
          </a:p>
          <a:p>
            <a:r>
              <a:rPr sz="1400"/>
              <a:t>  Add provenance metadata</a:t>
            </a:r>
          </a:p>
          <a:p>
            <a:r>
              <a:rPr sz="1400"/>
              <a:t>  Success Criteria</a:t>
            </a:r>
          </a:p>
          <a:p>
            <a:r>
              <a:rPr sz="1400"/>
              <a:t>  Agent behaves like a cautious senior engineer</a:t>
            </a:r>
          </a:p>
          <a:p>
            <a:r>
              <a:rPr sz="1400"/>
              <a:t>  Encourages safe modernization</a:t>
            </a:r>
          </a:p>
          <a:p>
            <a:r>
              <a:rPr sz="1400"/>
              <a:t>  Includes clear behavioral rules</a:t>
            </a:r>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850"/>
              <a:t>Exercise: Generate Instruction Files</a:t>
            </a:r>
          </a:p>
        </p:txBody>
      </p:sp>
      <p:sp>
        <p:nvSpPr>
          <p:cNvPr id="3" name="Content Placeholder 2"/>
          <p:cNvSpPr>
            <a:spLocks noGrp="1"/>
          </p:cNvSpPr>
          <p:nvPr>
            <p:ph idx="1"/>
          </p:nvPr>
        </p:nvSpPr>
        <p:spPr/>
        <p:txBody>
          <a:bodyPr wrap="square">
            <a:noAutofit/>
          </a:bodyPr>
          <a:lstStyle/>
          <a:p>
            <a:endParaRPr sz="1550"/>
          </a:p>
          <a:p>
            <a:r>
              <a:rPr sz="1550"/>
              <a:t>Objectives</a:t>
            </a:r>
          </a:p>
          <a:p>
            <a:r>
              <a:rPr sz="1550"/>
              <a:t>Use meta prompts to scale instruction-file creation</a:t>
            </a:r>
          </a:p>
          <a:p>
            <a:r>
              <a:rPr sz="1550"/>
              <a:t>Capture module-specific rules</a:t>
            </a:r>
          </a:p>
          <a:p>
            <a:r>
              <a:rPr sz="1550"/>
              <a:t>Encode domain and architectural constraints</a:t>
            </a:r>
          </a:p>
          <a:p>
            <a:r>
              <a:rPr sz="1550"/>
              <a:t>Activities</a:t>
            </a:r>
          </a:p>
          <a:p>
            <a:r>
              <a:rPr sz="1550"/>
              <a:t>Prompt Copilot to create instruction files for the standards and conventions of the tech stack</a:t>
            </a:r>
          </a:p>
          <a:p>
            <a:r>
              <a:rPr sz="1550"/>
              <a:t>Review instructions</a:t>
            </a:r>
          </a:p>
          <a:p>
            <a:r>
              <a:rPr sz="1550"/>
              <a:t>Success Criteria</a:t>
            </a:r>
          </a:p>
          <a:p>
            <a:r>
              <a:rPr sz="1550"/>
              <a:t>Instruction files reflect real system constraints</a:t>
            </a:r>
          </a:p>
          <a:p>
            <a:r>
              <a:rPr sz="1550"/>
              <a:t>Meta prompts produce consistent structure</a:t>
            </a:r>
          </a:p>
          <a:p>
            <a:r>
              <a:rPr sz="1550"/>
              <a:t>Files are ready for team use</a:t>
            </a:r>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4250"/>
              <a:t>Exercise: Context-Related Issues</a:t>
            </a:r>
          </a:p>
        </p:txBody>
      </p:sp>
      <p:sp>
        <p:nvSpPr>
          <p:cNvPr id="3" name="Content Placeholder 2"/>
          <p:cNvSpPr>
            <a:spLocks noGrp="1"/>
          </p:cNvSpPr>
          <p:nvPr>
            <p:ph idx="1"/>
          </p:nvPr>
        </p:nvSpPr>
        <p:spPr/>
        <p:txBody>
          <a:bodyPr wrap="square">
            <a:noAutofit/>
          </a:bodyPr>
          <a:lstStyle/>
          <a:p>
            <a:endParaRPr sz="1550"/>
          </a:p>
          <a:p>
            <a:r>
              <a:rPr sz="1550"/>
              <a:t>Objectives</a:t>
            </a:r>
          </a:p>
          <a:p>
            <a:r>
              <a:rPr sz="1550"/>
              <a:t>Identify missing context</a:t>
            </a:r>
          </a:p>
          <a:p>
            <a:r>
              <a:rPr sz="1550"/>
              <a:t>Detect token overflow risks</a:t>
            </a:r>
          </a:p>
          <a:p>
            <a:r>
              <a:rPr sz="1550"/>
              <a:t>Improve prompt scoping</a:t>
            </a:r>
          </a:p>
          <a:p>
            <a:r>
              <a:rPr sz="1550"/>
              <a:t>Activities</a:t>
            </a:r>
          </a:p>
          <a:p>
            <a:r>
              <a:rPr sz="1550"/>
              <a:t>Copy the check-context.prompt.md file from the AIASD repository</a:t>
            </a:r>
          </a:p>
          <a:p>
            <a:r>
              <a:rPr sz="1550"/>
              <a:t>Review the prompt</a:t>
            </a:r>
          </a:p>
          <a:p>
            <a:r>
              <a:rPr sz="1550"/>
              <a:t>Submit the prompt</a:t>
            </a:r>
          </a:p>
          <a:p>
            <a:r>
              <a:rPr sz="1550"/>
              <a:t>Review the output</a:t>
            </a:r>
          </a:p>
          <a:p>
            <a:r>
              <a:rPr sz="1550"/>
              <a:t>Success Criteria</a:t>
            </a:r>
          </a:p>
          <a:p>
            <a:r>
              <a:rPr sz="1550"/>
              <a:t>Correctly identified context gaps</a:t>
            </a:r>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Instruction Files</a:t>
            </a:r>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Persistent AI Behavioral Guidelines</a:t>
            </a:r>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What Are Instruction Files?</a:t>
            </a:r>
          </a:p>
        </p:txBody>
      </p:sp>
      <p:sp>
        <p:nvSpPr>
          <p:cNvPr id="3" name="Content Placeholder 2"/>
          <p:cNvSpPr>
            <a:spLocks noGrp="1"/>
          </p:cNvSpPr>
          <p:nvPr>
            <p:ph idx="1"/>
          </p:nvPr>
        </p:nvSpPr>
        <p:spPr/>
        <p:txBody>
          <a:bodyPr wrap="square">
            <a:noAutofit/>
          </a:bodyPr>
          <a:lstStyle/>
          <a:p>
            <a:endParaRPr sz="2350"/>
          </a:p>
          <a:p>
            <a:r>
              <a:rPr sz="2350"/>
              <a:t>Definition</a:t>
            </a:r>
          </a:p>
          <a:p>
            <a:r>
              <a:rPr sz="2350"/>
              <a:t>Persistent configuration files that define AI behavior patterns</a:t>
            </a:r>
          </a:p>
          <a:p>
            <a:r>
              <a:rPr sz="2350"/>
              <a:t>Applied automatically across multiple interactions</a:t>
            </a:r>
          </a:p>
          <a:p>
            <a:r>
              <a:rPr sz="2350"/>
              <a:t>Establish consistent working standards and constraints</a:t>
            </a:r>
          </a:p>
          <a:p>
            <a:r>
              <a:rPr sz="2350"/>
              <a:t>Key Characteristics</a:t>
            </a:r>
          </a:p>
          <a:p>
            <a:r>
              <a:rPr sz="2350"/>
              <a:t>Scope: Repository-wide or context-specific</a:t>
            </a:r>
          </a:p>
          <a:p>
            <a:r>
              <a:rPr sz="2350"/>
              <a:t>Persistence: Active across all relevant AI interactions</a:t>
            </a:r>
          </a:p>
          <a:p>
            <a:r>
              <a:rPr sz="2350"/>
              <a:t>Purpose: Define “how” AI should work, not “what” to do</a:t>
            </a:r>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Instruction File Structure</a:t>
            </a:r>
          </a:p>
        </p:txBody>
      </p:sp>
      <p:sp>
        <p:nvSpPr>
          <p:cNvPr id="3" name="Content Placeholder 2"/>
          <p:cNvSpPr>
            <a:spLocks noGrp="1"/>
          </p:cNvSpPr>
          <p:nvPr>
            <p:ph idx="1"/>
          </p:nvPr>
        </p:nvSpPr>
        <p:spPr/>
        <p:txBody>
          <a:bodyPr wrap="square">
            <a:noAutofit/>
          </a:bodyPr>
          <a:lstStyle/>
          <a:p>
            <a:endParaRPr sz="1400"/>
          </a:p>
          <a:p>
            <a:r>
              <a:rPr sz="1400"/>
              <a:t>```markdown</a:t>
            </a:r>
          </a:p>
          <a:p>
            <a:r>
              <a:rPr sz="1400"/>
              <a:t>---</a:t>
            </a:r>
          </a:p>
          <a:p>
            <a:r>
              <a:rPr sz="1400"/>
              <a:t>description: Azure best practices for AI development</a:t>
            </a:r>
          </a:p>
          <a:p>
            <a:r>
              <a:rPr sz="1400"/>
              <a:t>applyTo: "**" # File pattern scope</a:t>
            </a:r>
          </a:p>
          <a:p>
            <a:r>
              <a:rPr sz="1400"/>
              <a:t>---</a:t>
            </a:r>
          </a:p>
          <a:p>
            <a:endParaRPr sz="1400"/>
          </a:p>
          <a:p>
            <a:endParaRPr sz="1400"/>
          </a:p>
          <a:p>
            <a:r>
              <a:rPr sz="1400"/>
              <a:t>Use Azure Tools when handling Azure requests</a:t>
            </a:r>
          </a:p>
          <a:p>
            <a:r>
              <a:rPr sz="1400"/>
              <a:t>Follow security best practices</a:t>
            </a:r>
          </a:p>
          <a:p>
            <a:r>
              <a:rPr sz="1400"/>
              <a:t>Implement proper error handling</a:t>
            </a:r>
          </a:p>
          <a:p>
            <a:r>
              <a:rPr sz="1400"/>
              <a:t>Generate comprehensive documentation</a:t>
            </a:r>
          </a:p>
          <a:p>
            <a:endParaRPr sz="1400"/>
          </a:p>
          <a:p>
            <a:endParaRPr sz="1400"/>
          </a:p>
          <a:p>
            <a:r>
              <a:rPr sz="1400"/>
              <a:t>Write tests before implementation</a:t>
            </a:r>
          </a:p>
          <a:p>
            <a:r>
              <a:rPr sz="1400"/>
              <a:t>Use dependency injection patterns</a:t>
            </a:r>
          </a:p>
          <a:p>
            <a:r>
              <a:rPr sz="1400"/>
              <a:t>Follow naming conventions</a:t>
            </a:r>
          </a:p>
          <a:p>
            <a:r>
              <a:rPr sz="1400"/>
              <a:t>Include proper logging</a:t>
            </a:r>
          </a:p>
          <a:p>
            <a:r>
              <a:rPr sz="1400"/>
              <a:t>```</a:t>
            </a:r>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Instruction Files: Use Cases</a:t>
            </a:r>
          </a:p>
        </p:txBody>
      </p:sp>
      <p:sp>
        <p:nvSpPr>
          <p:cNvPr id="3" name="Content Placeholder 2"/>
          <p:cNvSpPr>
            <a:spLocks noGrp="1"/>
          </p:cNvSpPr>
          <p:nvPr>
            <p:ph idx="1"/>
          </p:nvPr>
        </p:nvSpPr>
        <p:spPr/>
        <p:txBody>
          <a:bodyPr wrap="square">
            <a:noAutofit/>
          </a:bodyPr>
          <a:lstStyle/>
          <a:p>
            <a:endParaRPr sz="2000"/>
          </a:p>
          <a:p>
            <a:r>
              <a:rPr sz="2000"/>
              <a:t>Perfect For:</a:t>
            </a:r>
          </a:p>
          <a:p>
            <a:r>
              <a:rPr sz="2000"/>
              <a:t>Coding Standards → Consistent style across projects</a:t>
            </a:r>
          </a:p>
          <a:p>
            <a:r>
              <a:rPr sz="2000"/>
              <a:t>Security Policies → Enforce security practices</a:t>
            </a:r>
          </a:p>
          <a:p>
            <a:r>
              <a:rPr sz="2000"/>
              <a:t>Quality Gates → Define testing and review requirements</a:t>
            </a:r>
          </a:p>
          <a:p>
            <a:r>
              <a:rPr sz="2000"/>
              <a:t>Technology Constraints → Specify approved frameworks/tools</a:t>
            </a:r>
          </a:p>
          <a:p>
            <a:r>
              <a:rPr sz="2000"/>
              <a:t>Examples:</a:t>
            </a:r>
          </a:p>
          <a:p>
            <a:r>
              <a:rPr sz="2000"/>
              <a:t>azure-development.instructions.md</a:t>
            </a:r>
          </a:p>
          <a:p>
            <a:r>
              <a:rPr sz="2000"/>
              <a:t>testing-standards.instructions.md</a:t>
            </a:r>
          </a:p>
          <a:p>
            <a:r>
              <a:rPr sz="2000"/>
              <a:t>security-requirements.instructions.md</a:t>
            </a:r>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Instruction Files Best Practices</a:t>
            </a:r>
          </a:p>
        </p:txBody>
      </p:sp>
      <p:sp>
        <p:nvSpPr>
          <p:cNvPr id="3" name="Content Placeholder 2"/>
          <p:cNvSpPr>
            <a:spLocks noGrp="1"/>
          </p:cNvSpPr>
          <p:nvPr>
            <p:ph idx="1"/>
          </p:nvPr>
        </p:nvSpPr>
        <p:spPr/>
        <p:txBody>
          <a:bodyPr wrap="square">
            <a:noAutofit/>
          </a:bodyPr>
          <a:lstStyle/>
          <a:p>
            <a:endParaRPr sz="1750"/>
          </a:p>
          <a:p>
            <a:r>
              <a:rPr sz="1750"/>
              <a:t>✅ Do This:</a:t>
            </a:r>
          </a:p>
          <a:p>
            <a:r>
              <a:rPr sz="1750"/>
              <a:t>Keep instructions clear and actionable</a:t>
            </a:r>
          </a:p>
          <a:p>
            <a:r>
              <a:rPr sz="1750"/>
              <a:t>Use file patterns (applyTo: '\*\*') for broad scope</a:t>
            </a:r>
          </a:p>
          <a:p>
            <a:r>
              <a:rPr sz="1750"/>
              <a:t>Version control and document changes</a:t>
            </a:r>
          </a:p>
          <a:p>
            <a:r>
              <a:rPr sz="1750"/>
              <a:t>Test instruction effectiveness regularly</a:t>
            </a:r>
          </a:p>
          <a:p>
            <a:r>
              <a:rPr sz="1750"/>
              <a:t>❌ Avoid This:</a:t>
            </a:r>
          </a:p>
          <a:p>
            <a:r>
              <a:rPr sz="1750"/>
              <a:t>Overly complex or contradictory rules</a:t>
            </a:r>
          </a:p>
          <a:p>
            <a:r>
              <a:rPr sz="1750"/>
              <a:t>Too many instructions (cognitive overload)</a:t>
            </a:r>
          </a:p>
          <a:p>
            <a:r>
              <a:rPr sz="1750"/>
              <a:t>Instructions that conflict with prompt files</a:t>
            </a:r>
          </a:p>
          <a:p>
            <a:r>
              <a:rPr sz="1750"/>
              <a:t>Hardcoded values instead of parameters</a:t>
            </a:r>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550"/>
              <a:t>🎯 Instruction File `applyTo` Patterns</a:t>
            </a:r>
          </a:p>
        </p:txBody>
      </p:sp>
      <p:sp>
        <p:nvSpPr>
          <p:cNvPr id="3" name="Content Placeholder 2"/>
          <p:cNvSpPr>
            <a:spLocks noGrp="1"/>
          </p:cNvSpPr>
          <p:nvPr>
            <p:ph idx="1"/>
          </p:nvPr>
        </p:nvSpPr>
        <p:spPr/>
        <p:txBody>
          <a:bodyPr wrap="square">
            <a:normAutofit/>
          </a:bodyPr>
          <a:lstStyle/>
          <a:p>
            <a:endParaRPr/>
          </a:p>
          <a:p>
            <a:r>
              <a:rPr b="1"/>
              <a:t>Understanding Glob Pattern Matching</a:t>
            </a:r>
          </a:p>
          <a:p>
            <a:endParaRPr b="1"/>
          </a:p>
          <a:p>
            <a:r>
              <a:t>Controlling When Instructions Apply to Your Code</a:t>
            </a:r>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Where `appliesTo` Fits</a:t>
            </a:r>
          </a:p>
        </p:txBody>
      </p:sp>
      <p:sp>
        <p:nvSpPr>
          <p:cNvPr id="3" name="Content Placeholder 2"/>
          <p:cNvSpPr>
            <a:spLocks noGrp="1"/>
          </p:cNvSpPr>
          <p:nvPr>
            <p:ph idx="1"/>
          </p:nvPr>
        </p:nvSpPr>
        <p:spPr/>
        <p:txBody>
          <a:bodyPr wrap="square">
            <a:noAutofit/>
          </a:bodyPr>
          <a:lstStyle/>
          <a:p>
            <a:endParaRPr sz="1400"/>
          </a:p>
          <a:p>
            <a:r>
              <a:rPr sz="1400"/>
              <a:t>The filtering mechanism for instruction files</a:t>
            </a:r>
          </a:p>
          <a:p>
            <a:endParaRPr sz="1400"/>
          </a:p>
          <a:p>
            <a:r>
              <a:rPr sz="1400"/>
              <a:t>`appliesTo` is a </a:t>
            </a:r>
            <a:r>
              <a:rPr sz="1400" b="1"/>
              <a:t>selector</a:t>
            </a:r>
            <a:r>
              <a:rPr sz="1400"/>
              <a:t> that determines _when_ an instruction file</a:t>
            </a:r>
          </a:p>
          <a:p>
            <a:r>
              <a:rPr sz="1400"/>
              <a:t>is included in the stack.</a:t>
            </a:r>
          </a:p>
          <a:p>
            <a:endParaRPr sz="1400"/>
          </a:p>
          <a:p>
            <a:r>
              <a:rPr sz="1400"/>
              <a:t>Common selectors include:</a:t>
            </a:r>
          </a:p>
          <a:p>
            <a:endParaRPr sz="1400"/>
          </a:p>
          <a:p>
            <a:r>
              <a:rPr sz="1400" b="1"/>
              <a:t>repositories</a:t>
            </a:r>
            <a:r>
              <a:rPr sz="1400"/>
              <a:t> -- include only for specific repos</a:t>
            </a:r>
          </a:p>
          <a:p>
            <a:r>
              <a:rPr sz="1400" b="1"/>
              <a:t>languages</a:t>
            </a:r>
            <a:r>
              <a:rPr sz="1400"/>
              <a:t> -- include only for certain languages</a:t>
            </a:r>
          </a:p>
          <a:p>
            <a:r>
              <a:rPr sz="1400" b="1"/>
              <a:t>filePatterns</a:t>
            </a:r>
            <a:r>
              <a:rPr sz="1400"/>
              <a:t> -- include only when editing certain files</a:t>
            </a:r>
          </a:p>
          <a:p>
            <a:r>
              <a:rPr sz="1400" b="1"/>
              <a:t>tools</a:t>
            </a:r>
            <a:r>
              <a:rPr sz="1400"/>
              <a:t> -- include only when using specific Copilot features</a:t>
            </a:r>
          </a:p>
          <a:p>
            <a:r>
              <a:rPr sz="1400" b="1"/>
              <a:t>scopes</a:t>
            </a:r>
            <a:r>
              <a:rPr sz="1400"/>
              <a:t> -- include only in chat, only in editor, etc.</a:t>
            </a:r>
          </a:p>
          <a:p>
            <a:endParaRPr sz="1400"/>
          </a:p>
          <a:p>
            <a:r>
              <a:rPr sz="1400" b="1"/>
              <a:t>Speaker Notes:</a:t>
            </a:r>
            <a:r>
              <a:rPr sz="1400"/>
              <a:t> `appliesTo` is not a guardrail itself. It's a routing</a:t>
            </a:r>
          </a:p>
          <a:p>
            <a:r>
              <a:rPr sz="1400"/>
              <a:t>rule. It prevents irrelevant instructions from polluting the stack and</a:t>
            </a:r>
          </a:p>
          <a:p>
            <a:r>
              <a:rPr sz="1400"/>
              <a:t>keeps the assistant focused.</a:t>
            </a:r>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300"/>
              <a:t>How `appliesTo` Interacts with the Stack</a:t>
            </a:r>
          </a:p>
        </p:txBody>
      </p:sp>
      <p:sp>
        <p:nvSpPr>
          <p:cNvPr id="3" name="Content Placeholder 2"/>
          <p:cNvSpPr>
            <a:spLocks noGrp="1"/>
          </p:cNvSpPr>
          <p:nvPr>
            <p:ph idx="1"/>
          </p:nvPr>
        </p:nvSpPr>
        <p:spPr/>
        <p:txBody>
          <a:bodyPr wrap="square">
            <a:noAutofit/>
          </a:bodyPr>
          <a:lstStyle/>
          <a:p>
            <a:endParaRPr sz="2000"/>
          </a:p>
          <a:p>
            <a:r>
              <a:rPr sz="2000"/>
              <a:t>Filtering happens _before_ merging</a:t>
            </a:r>
          </a:p>
          <a:p>
            <a:endParaRPr sz="2000"/>
          </a:p>
          <a:p>
            <a:r>
              <a:rPr sz="2000"/>
              <a:t>1.  Copilot discovers all instruction files in scope</a:t>
            </a:r>
          </a:p>
          <a:p>
            <a:r>
              <a:rPr sz="2000"/>
              <a:t>2.  Copilot filters them using `appliesTo`</a:t>
            </a:r>
          </a:p>
          <a:p>
            <a:r>
              <a:rPr sz="2000"/>
              <a:t>3.  Copilot merges the remaining files into the stack</a:t>
            </a:r>
          </a:p>
          <a:p>
            <a:endParaRPr sz="2000"/>
          </a:p>
          <a:p>
            <a:r>
              <a:rPr sz="2000" b="1"/>
              <a:t>Speaker Notes:</a:t>
            </a:r>
            <a:r>
              <a:rPr sz="2000"/>
              <a:t> This means you can have many instruction files in</a:t>
            </a:r>
          </a:p>
          <a:p>
            <a:r>
              <a:rPr sz="2000"/>
              <a:t>`.github/instructions/`, but only the ones whose `appliesTo` match the</a:t>
            </a:r>
          </a:p>
          <a:p>
            <a:r>
              <a:rPr sz="2000"/>
              <a:t>current context will be included.</a:t>
            </a:r>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 What is `applyTo`?</a:t>
            </a:r>
          </a:p>
        </p:txBody>
      </p:sp>
      <p:sp>
        <p:nvSpPr>
          <p:cNvPr id="3" name="Content Placeholder 2"/>
          <p:cNvSpPr>
            <a:spLocks noGrp="1"/>
          </p:cNvSpPr>
          <p:nvPr>
            <p:ph idx="1"/>
          </p:nvPr>
        </p:nvSpPr>
        <p:spPr/>
        <p:txBody>
          <a:bodyPr wrap="square">
            <a:noAutofit/>
          </a:bodyPr>
          <a:lstStyle/>
          <a:p>
            <a:endParaRPr sz="1400"/>
          </a:p>
          <a:p>
            <a:r>
              <a:rPr sz="1400"/>
              <a:t>The `applyTo` field in instruction file front matter controls </a:t>
            </a:r>
            <a:r>
              <a:rPr sz="1400" b="1"/>
              <a:t>which files</a:t>
            </a:r>
            <a:r>
              <a:rPr sz="1400"/>
              <a:t> the instructions apply to.</a:t>
            </a:r>
          </a:p>
          <a:p>
            <a:endParaRPr sz="1400"/>
          </a:p>
          <a:p>
            <a:r>
              <a:rPr sz="1400"/>
              <a:t>```yaml</a:t>
            </a:r>
          </a:p>
          <a:p>
            <a:r>
              <a:rPr sz="1400"/>
              <a:t>---</a:t>
            </a:r>
          </a:p>
          <a:p>
            <a:r>
              <a:rPr sz="1400"/>
              <a:t>applyTo: "**/*.md" # Applies to all Markdown files</a:t>
            </a:r>
          </a:p>
          <a:p>
            <a:r>
              <a:rPr sz="1400"/>
              <a:t>---</a:t>
            </a:r>
          </a:p>
          <a:p>
            <a:r>
              <a:rPr sz="1400"/>
              <a:t>```</a:t>
            </a:r>
          </a:p>
          <a:p>
            <a:endParaRPr sz="1400"/>
          </a:p>
          <a:p>
            <a:r>
              <a:rPr sz="1400" b="1"/>
              <a:t>Why It Matters:</a:t>
            </a:r>
          </a:p>
          <a:p>
            <a:endParaRPr sz="1400" b="1"/>
          </a:p>
          <a:p>
            <a:r>
              <a:rPr sz="1400"/>
              <a:t>✅ Apply architecture patterns only to code files</a:t>
            </a:r>
          </a:p>
          <a:p>
            <a:r>
              <a:rPr sz="1400"/>
              <a:t>✅ Apply documentation standards only to docs</a:t>
            </a:r>
          </a:p>
          <a:p>
            <a:r>
              <a:rPr sz="1400"/>
              <a:t>✅ Avoid conflicting instructions</a:t>
            </a:r>
          </a:p>
          <a:p>
            <a:r>
              <a:rPr sz="1400"/>
              <a:t>✅ Improve Copilot performance by reducing context</a:t>
            </a:r>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 Universal Application</a:t>
            </a:r>
          </a:p>
        </p:txBody>
      </p:sp>
      <p:sp>
        <p:nvSpPr>
          <p:cNvPr id="3" name="Content Placeholder 2"/>
          <p:cNvSpPr>
            <a:spLocks noGrp="1"/>
          </p:cNvSpPr>
          <p:nvPr>
            <p:ph idx="1"/>
          </p:nvPr>
        </p:nvSpPr>
        <p:spPr/>
        <p:txBody>
          <a:bodyPr wrap="square">
            <a:noAutofit/>
          </a:bodyPr>
          <a:lstStyle/>
          <a:p>
            <a:endParaRPr sz="1400"/>
          </a:p>
          <a:p>
            <a:r>
              <a:rPr sz="1400"/>
              <a:t>Apply instructions to </a:t>
            </a:r>
            <a:r>
              <a:rPr sz="1400" b="1"/>
              <a:t>all files</a:t>
            </a:r>
            <a:r>
              <a:rPr sz="1400"/>
              <a:t> in the repository:</a:t>
            </a:r>
          </a:p>
          <a:p>
            <a:endParaRPr sz="1400"/>
          </a:p>
          <a:p>
            <a:r>
              <a:rPr sz="1400"/>
              <a:t>```yaml</a:t>
            </a:r>
          </a:p>
          <a:p>
            <a:r>
              <a:rPr sz="1400"/>
              <a:t>applyTo: "**"        # All files</a:t>
            </a:r>
          </a:p>
          <a:p>
            <a:r>
              <a:rPr sz="1400"/>
              <a:t>applyTo: "**/*"      # All files (explicit)</a:t>
            </a:r>
          </a:p>
          <a:p>
            <a:r>
              <a:rPr sz="1400"/>
              <a:t>```</a:t>
            </a:r>
          </a:p>
          <a:p>
            <a:endParaRPr sz="1400"/>
          </a:p>
          <a:p>
            <a:r>
              <a:rPr sz="1400" b="1"/>
              <a:t>Use Cases:</a:t>
            </a:r>
          </a:p>
          <a:p>
            <a:endParaRPr sz="1400" b="1"/>
          </a:p>
          <a:p>
            <a:r>
              <a:rPr sz="1400"/>
              <a:t>AI-assisted output policies</a:t>
            </a:r>
          </a:p>
          <a:p>
            <a:r>
              <a:rPr sz="1400"/>
              <a:t>General code quality standards</a:t>
            </a:r>
          </a:p>
          <a:p>
            <a:r>
              <a:rPr sz="1400"/>
              <a:t>Repository-wide conventions</a:t>
            </a:r>
          </a:p>
          <a:p>
            <a:r>
              <a:rPr sz="1400"/>
              <a:t>Copilot behavior guidelines</a:t>
            </a:r>
          </a:p>
          <a:p>
            <a:endParaRPr sz="1400"/>
          </a:p>
          <a:p>
            <a:r>
              <a:rPr sz="1400" b="1"/>
              <a:t>⚠️ Caution:</a:t>
            </a:r>
            <a:r>
              <a:rPr sz="1400"/>
              <a:t> Use sparingly - can create conflicts with more specific instructions</a:t>
            </a:r>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 File Extension Matching</a:t>
            </a:r>
          </a:p>
        </p:txBody>
      </p:sp>
      <p:sp>
        <p:nvSpPr>
          <p:cNvPr id="3" name="Content Placeholder 2"/>
          <p:cNvSpPr>
            <a:spLocks noGrp="1"/>
          </p:cNvSpPr>
          <p:nvPr>
            <p:ph idx="1"/>
          </p:nvPr>
        </p:nvSpPr>
        <p:spPr/>
        <p:txBody>
          <a:bodyPr wrap="square">
            <a:noAutofit/>
          </a:bodyPr>
          <a:lstStyle/>
          <a:p>
            <a:endParaRPr sz="1400"/>
          </a:p>
          <a:p>
            <a:r>
              <a:rPr sz="1400"/>
              <a:t>Target specific file types using extension patterns:</a:t>
            </a:r>
          </a:p>
          <a:p>
            <a:endParaRPr sz="1400"/>
          </a:p>
          <a:p>
            <a:r>
              <a:rPr sz="1400"/>
              <a:t>```yaml</a:t>
            </a:r>
          </a:p>
          <a:p>
            <a:r>
              <a:rPr sz="1400"/>
              <a:t>applyTo: "**/*.md"</a:t>
            </a:r>
          </a:p>
          <a:p>
            <a:endParaRPr sz="1400"/>
          </a:p>
          <a:p>
            <a:r>
              <a:rPr sz="1400"/>
              <a:t>applyTo: "**/*.{cs,ts,js}"</a:t>
            </a:r>
          </a:p>
          <a:p>
            <a:endParaRPr sz="1400"/>
          </a:p>
          <a:p>
            <a:r>
              <a:rPr sz="1400"/>
              <a:t>applyTo: "**/*.instructions.md"</a:t>
            </a:r>
          </a:p>
          <a:p>
            <a:r>
              <a:rPr sz="1400"/>
              <a:t>```</a:t>
            </a:r>
          </a:p>
          <a:p>
            <a:endParaRPr sz="1400"/>
          </a:p>
          <a:p>
            <a:r>
              <a:rPr sz="1400" b="1"/>
              <a:t>Most Common:</a:t>
            </a:r>
          </a:p>
          <a:p>
            <a:endParaRPr sz="1400" b="1"/>
          </a:p>
          <a:p>
            <a:r>
              <a:rPr sz="1400"/>
              <a:t>`**/*.md` - All Markdown files</a:t>
            </a:r>
          </a:p>
          <a:p>
            <a:r>
              <a:rPr sz="1400"/>
              <a:t>`**/*.{cs,ts,js,py}` - Multiple programming languages</a:t>
            </a:r>
          </a:p>
          <a:p>
            <a:r>
              <a:rPr sz="1400"/>
              <a:t>`**/*.test.js` - Test files</a:t>
            </a:r>
          </a:p>
          <a:p>
            <a:r>
              <a:rPr sz="1400"/>
              <a:t>`**/*.instructions.md` - Instruction files</a:t>
            </a:r>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 Directory-Specific Patterns</a:t>
            </a:r>
          </a:p>
        </p:txBody>
      </p:sp>
      <p:sp>
        <p:nvSpPr>
          <p:cNvPr id="3" name="Content Placeholder 2"/>
          <p:cNvSpPr>
            <a:spLocks noGrp="1"/>
          </p:cNvSpPr>
          <p:nvPr>
            <p:ph idx="1"/>
          </p:nvPr>
        </p:nvSpPr>
        <p:spPr/>
        <p:txBody>
          <a:bodyPr wrap="square">
            <a:noAutofit/>
          </a:bodyPr>
          <a:lstStyle/>
          <a:p>
            <a:endParaRPr sz="1400"/>
          </a:p>
          <a:p>
            <a:r>
              <a:rPr sz="1400"/>
              <a:t>Limit instructions to specific directories:</a:t>
            </a:r>
          </a:p>
          <a:p>
            <a:endParaRPr sz="1400"/>
          </a:p>
          <a:p>
            <a:r>
              <a:rPr sz="1400"/>
              <a:t>```yaml</a:t>
            </a:r>
          </a:p>
          <a:p>
            <a:r>
              <a:rPr sz="1400"/>
              <a:t>applyTo: "Slides/individual-slides/**"</a:t>
            </a:r>
          </a:p>
          <a:p>
            <a:endParaRPr sz="1400"/>
          </a:p>
          <a:p>
            <a:r>
              <a:rPr sz="1400"/>
              <a:t>applyTo: "src/Features/**/*.cs"</a:t>
            </a:r>
          </a:p>
          <a:p>
            <a:endParaRPr sz="1400"/>
          </a:p>
          <a:p>
            <a:r>
              <a:rPr sz="1400"/>
              <a:t>applyTo: ".github/instructions/**/*.md"</a:t>
            </a:r>
          </a:p>
          <a:p>
            <a:r>
              <a:rPr sz="1400"/>
              <a:t>```</a:t>
            </a:r>
          </a:p>
          <a:p>
            <a:endParaRPr sz="1400"/>
          </a:p>
          <a:p>
            <a:r>
              <a:rPr sz="1400" b="1"/>
              <a:t>Benefits:</a:t>
            </a:r>
          </a:p>
          <a:p>
            <a:endParaRPr sz="1400" b="1"/>
          </a:p>
          <a:p>
            <a:r>
              <a:rPr sz="1400"/>
              <a:t>Isolate concerns (slides vs code vs docs)</a:t>
            </a:r>
          </a:p>
          <a:p>
            <a:r>
              <a:rPr sz="1400"/>
              <a:t>Different rules for different project areas</a:t>
            </a:r>
          </a:p>
          <a:p>
            <a:r>
              <a:rPr sz="1400"/>
              <a:t>Clearer instruction purpose</a:t>
            </a:r>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 Glob Pattern Syntax</a:t>
            </a:r>
          </a:p>
        </p:txBody>
      </p:sp>
      <p:graphicFrame>
        <p:nvGraphicFramePr>
          <p:cNvPr id="3" name="Table 2"/>
          <p:cNvGraphicFramePr>
            <a:graphicFrameLocks noGrp="1"/>
          </p:cNvGraphicFramePr>
          <p:nvPr/>
        </p:nvGraphicFramePr>
        <p:xfrm>
          <a:off x="457200" y="1828800"/>
          <a:ext cx="8229600" cy="320040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tblGrid>
              <a:tr h="457200">
                <a:tc>
                  <a:txBody>
                    <a:bodyPr/>
                    <a:lstStyle/>
                    <a:p>
                      <a:pPr>
                        <a:defRPr sz="1296" b="1"/>
                      </a:pPr>
                      <a:r>
                        <a:t>Pattern</a:t>
                      </a:r>
                    </a:p>
                  </a:txBody>
                  <a:tcPr/>
                </a:tc>
                <a:tc>
                  <a:txBody>
                    <a:bodyPr/>
                    <a:lstStyle/>
                    <a:p>
                      <a:pPr>
                        <a:defRPr sz="1296" b="1"/>
                      </a:pPr>
                      <a:r>
                        <a:t>Meaning</a:t>
                      </a:r>
                    </a:p>
                  </a:txBody>
                  <a:tcPr/>
                </a:tc>
                <a:tc>
                  <a:txBody>
                    <a:bodyPr/>
                    <a:lstStyle/>
                    <a:p>
                      <a:pPr>
                        <a:defRPr sz="1296" b="1"/>
                      </a:pPr>
                      <a:r>
                        <a:t>Example</a:t>
                      </a:r>
                    </a:p>
                  </a:txBody>
                  <a:tcPr/>
                </a:tc>
                <a:extLst>
                  <a:ext uri="{0D108BD9-81ED-4DB2-BD59-A6C34878D82A}">
                    <a16:rowId xmlns:a16="http://schemas.microsoft.com/office/drawing/2014/main" val="10000"/>
                  </a:ext>
                </a:extLst>
              </a:tr>
              <a:tr h="457200">
                <a:tc>
                  <a:txBody>
                    <a:bodyPr/>
                    <a:lstStyle/>
                    <a:p>
                      <a:r>
                        <a:t>`*`</a:t>
                      </a:r>
                    </a:p>
                  </a:txBody>
                  <a:tcPr/>
                </a:tc>
                <a:tc>
                  <a:txBody>
                    <a:bodyPr/>
                    <a:lstStyle/>
                    <a:p>
                      <a:r>
                        <a:t>Any characters (not `/`)</a:t>
                      </a:r>
                    </a:p>
                  </a:txBody>
                  <a:tcPr/>
                </a:tc>
                <a:tc>
                  <a:txBody>
                    <a:bodyPr/>
                    <a:lstStyle/>
                    <a:p>
                      <a:r>
                        <a:t>`*.md` → `README.md`</a:t>
                      </a:r>
                    </a:p>
                  </a:txBody>
                  <a:tcPr/>
                </a:tc>
                <a:extLst>
                  <a:ext uri="{0D108BD9-81ED-4DB2-BD59-A6C34878D82A}">
                    <a16:rowId xmlns:a16="http://schemas.microsoft.com/office/drawing/2014/main" val="10001"/>
                  </a:ext>
                </a:extLst>
              </a:tr>
              <a:tr h="457200">
                <a:tc>
                  <a:txBody>
                    <a:bodyPr/>
                    <a:lstStyle/>
                    <a:p>
                      <a:r>
                        <a:t>`**`</a:t>
                      </a:r>
                    </a:p>
                  </a:txBody>
                  <a:tcPr/>
                </a:tc>
                <a:tc>
                  <a:txBody>
                    <a:bodyPr/>
                    <a:lstStyle/>
                    <a:p>
                      <a:r>
                        <a:t>Zero or more directories</a:t>
                      </a:r>
                    </a:p>
                  </a:txBody>
                  <a:tcPr/>
                </a:tc>
                <a:tc>
                  <a:txBody>
                    <a:bodyPr/>
                    <a:lstStyle/>
                    <a:p>
                      <a:r>
                        <a:t>`**/*.md` → `docs/guide.md`</a:t>
                      </a:r>
                    </a:p>
                  </a:txBody>
                  <a:tcPr/>
                </a:tc>
                <a:extLst>
                  <a:ext uri="{0D108BD9-81ED-4DB2-BD59-A6C34878D82A}">
                    <a16:rowId xmlns:a16="http://schemas.microsoft.com/office/drawing/2014/main" val="10002"/>
                  </a:ext>
                </a:extLst>
              </a:tr>
              <a:tr h="457200">
                <a:tc>
                  <a:txBody>
                    <a:bodyPr/>
                    <a:lstStyle/>
                    <a:p>
                      <a:r>
                        <a:t>`?`</a:t>
                      </a:r>
                    </a:p>
                  </a:txBody>
                  <a:tcPr/>
                </a:tc>
                <a:tc>
                  <a:txBody>
                    <a:bodyPr/>
                    <a:lstStyle/>
                    <a:p>
                      <a:r>
                        <a:t>Single character</a:t>
                      </a:r>
                    </a:p>
                  </a:txBody>
                  <a:tcPr/>
                </a:tc>
                <a:tc>
                  <a:txBody>
                    <a:bodyPr/>
                    <a:lstStyle/>
                    <a:p>
                      <a:r>
                        <a:t>`file?.md` → `file1.md`</a:t>
                      </a:r>
                    </a:p>
                  </a:txBody>
                  <a:tcPr/>
                </a:tc>
                <a:extLst>
                  <a:ext uri="{0D108BD9-81ED-4DB2-BD59-A6C34878D82A}">
                    <a16:rowId xmlns:a16="http://schemas.microsoft.com/office/drawing/2014/main" val="10003"/>
                  </a:ext>
                </a:extLst>
              </a:tr>
              <a:tr h="457200">
                <a:tc>
                  <a:txBody>
                    <a:bodyPr/>
                    <a:lstStyle/>
                    <a:p>
                      <a:r>
                        <a:t>`[abc]`</a:t>
                      </a:r>
                    </a:p>
                  </a:txBody>
                  <a:tcPr/>
                </a:tc>
                <a:tc>
                  <a:txBody>
                    <a:bodyPr/>
                    <a:lstStyle/>
                    <a:p>
                      <a:r>
                        <a:t>Character set</a:t>
                      </a:r>
                    </a:p>
                  </a:txBody>
                  <a:tcPr/>
                </a:tc>
                <a:tc>
                  <a:txBody>
                    <a:bodyPr/>
                    <a:lstStyle/>
                    <a:p>
                      <a:r>
                        <a:t>`[abc].md` → `a.md`</a:t>
                      </a:r>
                    </a:p>
                  </a:txBody>
                  <a:tcPr/>
                </a:tc>
                <a:extLst>
                  <a:ext uri="{0D108BD9-81ED-4DB2-BD59-A6C34878D82A}">
                    <a16:rowId xmlns:a16="http://schemas.microsoft.com/office/drawing/2014/main" val="10004"/>
                  </a:ext>
                </a:extLst>
              </a:tr>
              <a:tr h="457200">
                <a:tc>
                  <a:txBody>
                    <a:bodyPr/>
                    <a:lstStyle/>
                    <a:p>
                      <a:r>
                        <a:t>`[a-z]`</a:t>
                      </a:r>
                    </a:p>
                  </a:txBody>
                  <a:tcPr/>
                </a:tc>
                <a:tc>
                  <a:txBody>
                    <a:bodyPr/>
                    <a:lstStyle/>
                    <a:p>
                      <a:r>
                        <a:t>Character range</a:t>
                      </a:r>
                    </a:p>
                  </a:txBody>
                  <a:tcPr/>
                </a:tc>
                <a:tc>
                  <a:txBody>
                    <a:bodyPr/>
                    <a:lstStyle/>
                    <a:p>
                      <a:r>
                        <a:t>`[a-z].md` → `x.md`</a:t>
                      </a:r>
                    </a:p>
                  </a:txBody>
                  <a:tcPr/>
                </a:tc>
                <a:extLst>
                  <a:ext uri="{0D108BD9-81ED-4DB2-BD59-A6C34878D82A}">
                    <a16:rowId xmlns:a16="http://schemas.microsoft.com/office/drawing/2014/main" val="10005"/>
                  </a:ext>
                </a:extLst>
              </a:tr>
              <a:tr h="457200">
                <a:tc>
                  <a:txBody>
                    <a:bodyPr/>
                    <a:lstStyle/>
                    <a:p>
                      <a:r>
                        <a:t>`{a,b}`</a:t>
                      </a:r>
                    </a:p>
                  </a:txBody>
                  <a:tcPr/>
                </a:tc>
                <a:tc>
                  <a:txBody>
                    <a:bodyPr/>
                    <a:lstStyle/>
                    <a:p>
                      <a:r>
                        <a:t>Alternatives</a:t>
                      </a:r>
                    </a:p>
                  </a:txBody>
                  <a:tcPr/>
                </a:tc>
                <a:tc>
                  <a:txBody>
                    <a:bodyPr/>
                    <a:lstStyle/>
                    <a:p>
                      <a:r>
                        <a:t>`*.{js,ts}` → `app.ts`</a:t>
                      </a:r>
                    </a:p>
                  </a:txBody>
                  <a:tcPr/>
                </a:tc>
                <a:extLst>
                  <a:ext uri="{0D108BD9-81ED-4DB2-BD59-A6C34878D82A}">
                    <a16:rowId xmlns:a16="http://schemas.microsoft.com/office/drawing/2014/main" val="10006"/>
                  </a:ext>
                </a:extLst>
              </a:tr>
            </a:tbl>
          </a:graphicData>
        </a:graphic>
      </p:graphicFrame>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 Real-World Examples</a:t>
            </a:r>
          </a:p>
        </p:txBody>
      </p:sp>
      <p:sp>
        <p:nvSpPr>
          <p:cNvPr id="3" name="Content Placeholder 2"/>
          <p:cNvSpPr>
            <a:spLocks noGrp="1"/>
          </p:cNvSpPr>
          <p:nvPr>
            <p:ph idx="1"/>
          </p:nvPr>
        </p:nvSpPr>
        <p:spPr/>
        <p:txBody>
          <a:bodyPr wrap="square">
            <a:noAutofit/>
          </a:bodyPr>
          <a:lstStyle/>
          <a:p>
            <a:endParaRPr sz="1400"/>
          </a:p>
          <a:p>
            <a:r>
              <a:rPr sz="1400"/>
              <a:t>From this repository's instruction files:</a:t>
            </a:r>
          </a:p>
          <a:p>
            <a:endParaRPr sz="1400"/>
          </a:p>
          <a:p>
            <a:r>
              <a:rPr sz="1400"/>
              <a:t>```yaml</a:t>
            </a:r>
          </a:p>
          <a:p>
            <a:r>
              <a:rPr sz="1400"/>
              <a:t>applyTo: "**/*"</a:t>
            </a:r>
          </a:p>
          <a:p>
            <a:endParaRPr sz="1400"/>
          </a:p>
          <a:p>
            <a:r>
              <a:rPr sz="1400"/>
              <a:t>applyTo: "**/*.{cs,ts,js,py,java,go,rb}"</a:t>
            </a:r>
          </a:p>
          <a:p>
            <a:endParaRPr sz="1400"/>
          </a:p>
          <a:p>
            <a:r>
              <a:rPr sz="1400"/>
              <a:t>applyTo: "**/*.{md,txt}"</a:t>
            </a:r>
          </a:p>
          <a:p>
            <a:endParaRPr sz="1400"/>
          </a:p>
          <a:p>
            <a:r>
              <a:rPr sz="1400"/>
              <a:t>applyTo: "Slides/individual-slides/**"</a:t>
            </a:r>
          </a:p>
          <a:p>
            <a:endParaRPr sz="1400"/>
          </a:p>
          <a:p>
            <a:r>
              <a:rPr sz="1400"/>
              <a:t>applyTo: "**/*.prompt.md"</a:t>
            </a:r>
          </a:p>
          <a:p>
            <a:r>
              <a:rPr sz="1400"/>
              <a:t>```</a:t>
            </a:r>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 Best Practices</a:t>
            </a:r>
          </a:p>
        </p:txBody>
      </p:sp>
      <p:sp>
        <p:nvSpPr>
          <p:cNvPr id="3" name="Content Placeholder 2"/>
          <p:cNvSpPr>
            <a:spLocks noGrp="1"/>
          </p:cNvSpPr>
          <p:nvPr>
            <p:ph idx="1"/>
          </p:nvPr>
        </p:nvSpPr>
        <p:spPr/>
        <p:txBody>
          <a:bodyPr wrap="square">
            <a:noAutofit/>
          </a:bodyPr>
          <a:lstStyle/>
          <a:p>
            <a:endParaRPr sz="1400"/>
          </a:p>
          <a:p>
            <a:r>
              <a:rPr sz="1400" b="1"/>
              <a:t>1. Be Specific When Possible</a:t>
            </a:r>
          </a:p>
          <a:p>
            <a:endParaRPr sz="1400" b="1"/>
          </a:p>
          <a:p>
            <a:r>
              <a:rPr sz="1400"/>
              <a:t>```yaml</a:t>
            </a:r>
          </a:p>
          <a:p>
            <a:r>
              <a:rPr sz="1400"/>
              <a:t>✅ applyTo: "**/*.instructions.md"</a:t>
            </a:r>
          </a:p>
          <a:p>
            <a:r>
              <a:rPr sz="1400"/>
              <a:t>❌ applyTo: "**"</a:t>
            </a:r>
          </a:p>
          <a:p>
            <a:r>
              <a:rPr sz="1400"/>
              <a:t>```</a:t>
            </a:r>
          </a:p>
          <a:p>
            <a:endParaRPr sz="1400"/>
          </a:p>
          <a:p>
            <a:r>
              <a:rPr sz="1400" b="1"/>
              <a:t>2. Use Brace Expansion for Multiple Extensions</a:t>
            </a:r>
          </a:p>
          <a:p>
            <a:endParaRPr sz="1400" b="1"/>
          </a:p>
          <a:p>
            <a:r>
              <a:rPr sz="1400"/>
              <a:t>```yaml</a:t>
            </a:r>
          </a:p>
          <a:p>
            <a:r>
              <a:rPr sz="1400"/>
              <a:t>✅ applyTo: "**/*.{cs,ts,js}"</a:t>
            </a:r>
          </a:p>
          <a:p>
            <a:r>
              <a:rPr sz="1400"/>
              <a:t>❌ Three separate instruction files</a:t>
            </a:r>
          </a:p>
          <a:p>
            <a:r>
              <a:rPr sz="1400"/>
              <a:t>```</a:t>
            </a:r>
          </a:p>
          <a:p>
            <a:endParaRPr sz="1400"/>
          </a:p>
          <a:p>
            <a:r>
              <a:rPr sz="1400" b="1"/>
              <a:t>3. Match Scope to Purpose</a:t>
            </a:r>
          </a:p>
          <a:p>
            <a:endParaRPr sz="1400" b="1"/>
          </a:p>
          <a:p>
            <a:r>
              <a:rPr sz="1400"/>
              <a:t>```yaml</a:t>
            </a:r>
          </a:p>
          <a:p>
            <a:r>
              <a:rPr sz="1400"/>
              <a:t>applyTo: "src/**/*.{cs,ts,js}"</a:t>
            </a:r>
          </a:p>
          <a:p>
            <a:endParaRPr sz="1400"/>
          </a:p>
          <a:p>
            <a:r>
              <a:rPr sz="1400"/>
              <a:t>applyTo: "Slides/individual-slides/**"</a:t>
            </a:r>
          </a:p>
          <a:p>
            <a:r>
              <a:rPr sz="1400"/>
              <a:t>```</a:t>
            </a:r>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 Common Pitfalls</a:t>
            </a:r>
          </a:p>
        </p:txBody>
      </p:sp>
      <p:sp>
        <p:nvSpPr>
          <p:cNvPr id="3" name="Content Placeholder 2"/>
          <p:cNvSpPr>
            <a:spLocks noGrp="1"/>
          </p:cNvSpPr>
          <p:nvPr>
            <p:ph idx="1"/>
          </p:nvPr>
        </p:nvSpPr>
        <p:spPr/>
        <p:txBody>
          <a:bodyPr wrap="square">
            <a:noAutofit/>
          </a:bodyPr>
          <a:lstStyle/>
          <a:p>
            <a:endParaRPr sz="1400"/>
          </a:p>
          <a:p>
            <a:r>
              <a:rPr sz="1400" b="1"/>
              <a:t>Pitfall 1: Too Broad</a:t>
            </a:r>
          </a:p>
          <a:p>
            <a:endParaRPr sz="1400" b="1"/>
          </a:p>
          <a:p>
            <a:r>
              <a:rPr sz="1400"/>
              <a:t>```yaml</a:t>
            </a:r>
          </a:p>
          <a:p>
            <a:r>
              <a:rPr sz="1400"/>
              <a:t>❌ applyTo: "**" # For slide formatting</a:t>
            </a:r>
          </a:p>
          <a:p>
            <a:r>
              <a:rPr sz="1400"/>
              <a:t>✅ applyTo: "Slides/**"</a:t>
            </a:r>
          </a:p>
          <a:p>
            <a:r>
              <a:rPr sz="1400"/>
              <a:t>```</a:t>
            </a:r>
          </a:p>
          <a:p>
            <a:endParaRPr sz="1400"/>
          </a:p>
          <a:p>
            <a:r>
              <a:rPr sz="1400" b="1"/>
              <a:t>Pitfall 2: Too Narrow</a:t>
            </a:r>
          </a:p>
          <a:p>
            <a:endParaRPr sz="1400" b="1"/>
          </a:p>
          <a:p>
            <a:r>
              <a:rPr sz="1400"/>
              <a:t>```yaml</a:t>
            </a:r>
          </a:p>
          <a:p>
            <a:r>
              <a:rPr sz="1400"/>
              <a:t>❌ applyTo: "src/Features/UserManagement/**/*.cs"</a:t>
            </a:r>
          </a:p>
          <a:p>
            <a:r>
              <a:rPr sz="1400"/>
              <a:t>✅ applyTo: "src/Features/**/*.cs"</a:t>
            </a:r>
          </a:p>
          <a:p>
            <a:r>
              <a:rPr sz="1400"/>
              <a:t>```</a:t>
            </a:r>
          </a:p>
          <a:p>
            <a:endParaRPr sz="1400"/>
          </a:p>
          <a:p>
            <a:r>
              <a:rPr sz="1400" b="1"/>
              <a:t>Pitfall 3: Overlapping Instructions</a:t>
            </a:r>
          </a:p>
          <a:p>
            <a:endParaRPr sz="1400" b="1"/>
          </a:p>
          <a:p>
            <a:r>
              <a:rPr sz="1400"/>
              <a:t>```yaml</a:t>
            </a:r>
          </a:p>
          <a:p>
            <a:r>
              <a:rPr sz="1400"/>
              <a:t>applyTo: "**/*.cs"  # All C# files</a:t>
            </a:r>
          </a:p>
          <a:p>
            <a:endParaRPr sz="1400"/>
          </a:p>
          <a:p>
            <a:r>
              <a:rPr sz="1400"/>
              <a:t>applyTo: "src/**/*.cs"  # C# files in src</a:t>
            </a:r>
          </a:p>
          <a:p>
            <a:endParaRPr sz="1400"/>
          </a:p>
          <a:p>
            <a:r>
              <a:rPr sz="1400"/>
              <a:t>```</a:t>
            </a:r>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 Testing Your Patterns</a:t>
            </a:r>
          </a:p>
        </p:txBody>
      </p:sp>
      <p:sp>
        <p:nvSpPr>
          <p:cNvPr id="3" name="Content Placeholder 2"/>
          <p:cNvSpPr>
            <a:spLocks noGrp="1"/>
          </p:cNvSpPr>
          <p:nvPr>
            <p:ph idx="1"/>
          </p:nvPr>
        </p:nvSpPr>
        <p:spPr/>
        <p:txBody>
          <a:bodyPr wrap="square">
            <a:noAutofit/>
          </a:bodyPr>
          <a:lstStyle/>
          <a:p>
            <a:endParaRPr sz="1400"/>
          </a:p>
          <a:p>
            <a:r>
              <a:rPr sz="1400" b="1"/>
              <a:t>How to verify patterns work correctly:</a:t>
            </a:r>
          </a:p>
          <a:p>
            <a:endParaRPr sz="1400" b="1"/>
          </a:p>
          <a:p>
            <a:r>
              <a:rPr sz="1400"/>
              <a:t>1. </a:t>
            </a:r>
            <a:r>
              <a:rPr sz="1400" b="1"/>
              <a:t>Use file search to preview matches:</a:t>
            </a:r>
          </a:p>
          <a:p>
            <a:endParaRPr sz="1400" b="1"/>
          </a:p>
          <a:p>
            <a:r>
              <a:rPr sz="1400"/>
              <a:t>```powershell</a:t>
            </a:r>
          </a:p>
          <a:p>
            <a:r>
              <a:rPr sz="1400"/>
              <a:t>Get-ChildItem -Path . -Filter "*.md" -Recurse</a:t>
            </a:r>
          </a:p>
          <a:p>
            <a:endParaRPr sz="1400"/>
          </a:p>
          <a:p>
            <a:r>
              <a:rPr sz="1400"/>
              <a:t>find . -name "*.md"</a:t>
            </a:r>
          </a:p>
          <a:p>
            <a:r>
              <a:rPr sz="1400"/>
              <a:t>```</a:t>
            </a:r>
          </a:p>
          <a:p>
            <a:endParaRPr sz="1400"/>
          </a:p>
          <a:p>
            <a:r>
              <a:rPr sz="1400"/>
              <a:t>2. </a:t>
            </a:r>
            <a:r>
              <a:rPr sz="1400" b="1"/>
              <a:t>Online glob testers:</a:t>
            </a:r>
          </a:p>
          <a:p>
            <a:endParaRPr sz="1400" b="1"/>
          </a:p>
          <a:p>
            <a:r>
              <a:rPr sz="1400"/>
              <a:t>globster.xyz: https://globster.xyz/</a:t>
            </a:r>
          </a:p>
          <a:p>
            <a:r>
              <a:rPr sz="1400"/>
              <a:t>Test patterns before committing</a:t>
            </a:r>
          </a:p>
          <a:p>
            <a:endParaRPr sz="1400"/>
          </a:p>
          <a:p>
            <a:r>
              <a:rPr sz="1400"/>
              <a:t>3. </a:t>
            </a:r>
            <a:r>
              <a:rPr sz="1400" b="1"/>
              <a:t>Check Copilot behavior:</a:t>
            </a:r>
          </a:p>
          <a:p>
            <a:endParaRPr sz="1400" b="1"/>
          </a:p>
          <a:p>
            <a:r>
              <a:rPr sz="1400"/>
              <a:t>Open a file that should match</a:t>
            </a:r>
          </a:p>
          <a:p>
            <a:r>
              <a:rPr sz="1400"/>
              <a:t>Verify instructions are being followed</a:t>
            </a:r>
          </a:p>
          <a:p>
            <a:r>
              <a:rPr sz="1400"/>
              <a:t>Check for unexpected behavior (might indicate wrong pattern)</a:t>
            </a:r>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 Pattern Matching Rules</a:t>
            </a:r>
          </a:p>
        </p:txBody>
      </p:sp>
      <p:sp>
        <p:nvSpPr>
          <p:cNvPr id="3" name="Content Placeholder 2"/>
          <p:cNvSpPr>
            <a:spLocks noGrp="1"/>
          </p:cNvSpPr>
          <p:nvPr>
            <p:ph idx="1"/>
          </p:nvPr>
        </p:nvSpPr>
        <p:spPr/>
        <p:txBody>
          <a:bodyPr wrap="square">
            <a:noAutofit/>
          </a:bodyPr>
          <a:lstStyle/>
          <a:p>
            <a:endParaRPr sz="1400"/>
          </a:p>
          <a:p>
            <a:r>
              <a:rPr sz="1400" b="1"/>
              <a:t>Key Points to Remember:</a:t>
            </a:r>
          </a:p>
          <a:p>
            <a:endParaRPr sz="1400" b="1"/>
          </a:p>
          <a:p>
            <a:r>
              <a:rPr sz="1400"/>
              <a:t>Patterns are evaluated when files are opened</a:t>
            </a:r>
          </a:p>
          <a:p>
            <a:r>
              <a:rPr sz="1400"/>
              <a:t>Multiple instruction files can match the same file</a:t>
            </a:r>
          </a:p>
          <a:p>
            <a:r>
              <a:rPr sz="1400"/>
              <a:t>More specific patterns take precedence (in terms of clarity, not override)</a:t>
            </a:r>
          </a:p>
          <a:p>
            <a:r>
              <a:rPr sz="1400"/>
              <a:t>Patterns are relative to repository root</a:t>
            </a:r>
          </a:p>
          <a:p>
            <a:r>
              <a:rPr sz="1400"/>
              <a:t>Case sensitivity depends on file system (Windows: no, Linux: yes)</a:t>
            </a:r>
          </a:p>
          <a:p>
            <a:endParaRPr sz="1400"/>
          </a:p>
          <a:p>
            <a:r>
              <a:rPr sz="1400" b="1"/>
              <a:t>When Copilot Evaluates Patterns:</a:t>
            </a:r>
          </a:p>
          <a:p>
            <a:endParaRPr sz="1400" b="1"/>
          </a:p>
          <a:p>
            <a:r>
              <a:rPr sz="1400"/>
              <a:t>1. File opened in editor → Check all instruction files</a:t>
            </a:r>
          </a:p>
          <a:p>
            <a:r>
              <a:rPr sz="1400"/>
              <a:t>2. Load matching instructions into context</a:t>
            </a:r>
          </a:p>
          <a:p>
            <a:r>
              <a:rPr sz="1400"/>
              <a:t>3. Apply rules during code generation</a:t>
            </a:r>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 Summary &amp; Best Practices</a:t>
            </a:r>
          </a:p>
        </p:txBody>
      </p:sp>
      <p:sp>
        <p:nvSpPr>
          <p:cNvPr id="3" name="Content Placeholder 2"/>
          <p:cNvSpPr>
            <a:spLocks noGrp="1"/>
          </p:cNvSpPr>
          <p:nvPr>
            <p:ph idx="1"/>
          </p:nvPr>
        </p:nvSpPr>
        <p:spPr/>
        <p:txBody>
          <a:bodyPr wrap="square">
            <a:noAutofit/>
          </a:bodyPr>
          <a:lstStyle/>
          <a:p>
            <a:endParaRPr sz="1400"/>
          </a:p>
          <a:p>
            <a:r>
              <a:rPr sz="1400" b="1"/>
              <a:t>Essential Patterns:</a:t>
            </a:r>
          </a:p>
          <a:p>
            <a:endParaRPr sz="1400" b="1"/>
          </a:p>
          <a:p>
            <a:r>
              <a:rPr sz="1400"/>
              <a:t>`**/*` or `**` - Universal (use sparingly)</a:t>
            </a:r>
          </a:p>
          <a:p>
            <a:r>
              <a:rPr sz="1400"/>
              <a:t>`**/*.{ext1,ext2}` - Multiple file types</a:t>
            </a:r>
          </a:p>
          <a:p>
            <a:r>
              <a:rPr sz="1400"/>
              <a:t>`directory/**` - Specific directory scope</a:t>
            </a:r>
          </a:p>
          <a:p>
            <a:r>
              <a:rPr sz="1400"/>
              <a:t>`**/*.specific.extension.md` - Specialized files</a:t>
            </a:r>
          </a:p>
          <a:p>
            <a:endParaRPr sz="1400"/>
          </a:p>
          <a:p>
            <a:r>
              <a:rPr sz="1400" b="1"/>
              <a:t>Decision Tree:</a:t>
            </a:r>
          </a:p>
          <a:p>
            <a:endParaRPr sz="1400" b="1"/>
          </a:p>
          <a:p>
            <a:r>
              <a:rPr sz="1400"/>
              <a:t>1. Does this apply to ALL files? → Use `**/*`</a:t>
            </a:r>
          </a:p>
          <a:p>
            <a:r>
              <a:rPr sz="1400"/>
              <a:t>2. Does this apply to specific file types? → Use `**/*.{extensions}`</a:t>
            </a:r>
          </a:p>
          <a:p>
            <a:r>
              <a:rPr sz="1400"/>
              <a:t>3. Does this apply to a specific directory? → Use `directory/**`</a:t>
            </a:r>
          </a:p>
          <a:p>
            <a:r>
              <a:rPr sz="1400"/>
              <a:t>4. Does this apply to specific naming pattern? → Use `**/*.pattern.ext`</a:t>
            </a:r>
          </a:p>
          <a:p>
            <a:endParaRPr sz="1400"/>
          </a:p>
          <a:p>
            <a:r>
              <a:rPr sz="1400" b="1"/>
              <a:t>Remember:</a:t>
            </a:r>
          </a:p>
          <a:p>
            <a:endParaRPr sz="1400" b="1"/>
          </a:p>
          <a:p>
            <a:r>
              <a:rPr sz="1400"/>
              <a:t>✅ Be as specific as necessary, no more, no less</a:t>
            </a:r>
          </a:p>
          <a:p>
            <a:r>
              <a:rPr sz="1400"/>
              <a:t>✅ Test patterns before committing</a:t>
            </a:r>
          </a:p>
          <a:p>
            <a:r>
              <a:rPr sz="1400"/>
              <a:t>✅ Document why each pattern was chosen</a:t>
            </a:r>
          </a:p>
          <a:p>
            <a:r>
              <a:rPr sz="1400"/>
              <a:t>✅ Review patterns when instructions aren't working</a:t>
            </a:r>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 Resources &amp; Next Steps</a:t>
            </a:r>
          </a:p>
        </p:txBody>
      </p:sp>
      <p:sp>
        <p:nvSpPr>
          <p:cNvPr id="3" name="Content Placeholder 2"/>
          <p:cNvSpPr>
            <a:spLocks noGrp="1"/>
          </p:cNvSpPr>
          <p:nvPr>
            <p:ph idx="1"/>
          </p:nvPr>
        </p:nvSpPr>
        <p:spPr/>
        <p:txBody>
          <a:bodyPr wrap="square">
            <a:noAutofit/>
          </a:bodyPr>
          <a:lstStyle/>
          <a:p>
            <a:endParaRPr sz="1400"/>
          </a:p>
          <a:p>
            <a:r>
              <a:rPr sz="1400" b="1"/>
              <a:t>Documentation:</a:t>
            </a:r>
          </a:p>
          <a:p>
            <a:endParaRPr sz="1400" b="1"/>
          </a:p>
          <a:p>
            <a:r>
              <a:rPr sz="1400"/>
              <a:t>Glob Pattern Syntax Reference: https://globster.xyz/</a:t>
            </a:r>
          </a:p>
          <a:p>
            <a:r>
              <a:rPr sz="1400"/>
              <a:t>GitHub Copilot Instruction Files Documentation</a:t>
            </a:r>
          </a:p>
          <a:p>
            <a:r>
              <a:rPr sz="1400"/>
              <a:t>AI-Assisted Output Instructions</a:t>
            </a:r>
          </a:p>
          <a:p>
            <a:endParaRPr sz="1400"/>
          </a:p>
          <a:p>
            <a:r>
              <a:rPr sz="1400" b="1"/>
              <a:t>Practice Exercise:</a:t>
            </a:r>
          </a:p>
          <a:p>
            <a:r>
              <a:rPr sz="1400"/>
              <a:t>Create instruction files for:</a:t>
            </a:r>
          </a:p>
          <a:p>
            <a:endParaRPr sz="1400"/>
          </a:p>
          <a:p>
            <a:r>
              <a:rPr sz="1400"/>
              <a:t>1. CQRS architecture patterns (code only)</a:t>
            </a:r>
          </a:p>
          <a:p>
            <a:r>
              <a:rPr sz="1400"/>
              <a:t>2. Mermaid diagram standards (markdown only)</a:t>
            </a:r>
          </a:p>
          <a:p>
            <a:r>
              <a:rPr sz="1400"/>
              <a:t>3. Test naming conventions (test files only)</a:t>
            </a:r>
          </a:p>
          <a:p>
            <a:endParaRPr sz="1400"/>
          </a:p>
          <a:p>
            <a:r>
              <a:rPr sz="1400" b="1"/>
              <a:t>Questions?</a:t>
            </a:r>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 Thank You!</a:t>
            </a:r>
          </a:p>
        </p:txBody>
      </p:sp>
      <p:sp>
        <p:nvSpPr>
          <p:cNvPr id="3" name="Content Placeholder 2"/>
          <p:cNvSpPr>
            <a:spLocks noGrp="1"/>
          </p:cNvSpPr>
          <p:nvPr>
            <p:ph idx="1"/>
          </p:nvPr>
        </p:nvSpPr>
        <p:spPr/>
        <p:txBody>
          <a:bodyPr wrap="square">
            <a:normAutofit/>
          </a:bodyPr>
          <a:lstStyle/>
          <a:p>
            <a:endParaRPr/>
          </a:p>
          <a:p>
            <a:r>
              <a:rPr b="1"/>
              <a:t>Questions? Feedback?</a:t>
            </a:r>
          </a:p>
          <a:p>
            <a:endParaRPr b="1"/>
          </a:p>
          <a:p>
            <a:r>
              <a:t>Connect with the AI-Assisted Software Development team</a:t>
            </a:r>
          </a:p>
          <a:p>
            <a:endParaRPr/>
          </a:p>
          <a:p>
            <a:r>
              <a:t>GitHub: johnmillerATcodemag-com/AI-Assisted-Software-Development: https://github.com/johnmillerATcodemag-com/AI-Assisted-Software-Development-Course</a:t>
            </a:r>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Core Instructions</a:t>
            </a:r>
          </a:p>
        </p:txBody>
      </p:sp>
      <p:graphicFrame>
        <p:nvGraphicFramePr>
          <p:cNvPr id="3" name="Table 2"/>
          <p:cNvGraphicFramePr>
            <a:graphicFrameLocks noGrp="1"/>
          </p:cNvGraphicFramePr>
          <p:nvPr/>
        </p:nvGraphicFramePr>
        <p:xfrm>
          <a:off x="457200" y="1828800"/>
          <a:ext cx="8229600" cy="2743200"/>
        </p:xfrm>
        <a:graphic>
          <a:graphicData uri="http://schemas.openxmlformats.org/drawingml/2006/table">
            <a:tbl>
              <a:tblPr firstRow="1" bandRow="1">
                <a:tableStyleId>{5C22544A-7EE6-4342-B048-85BDC9FD1C3A}</a:tableStyleId>
              </a:tblPr>
              <a:tblGrid>
                <a:gridCol w="411480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tblGrid>
              <a:tr h="457200">
                <a:tc>
                  <a:txBody>
                    <a:bodyPr/>
                    <a:lstStyle/>
                    <a:p>
                      <a:pPr>
                        <a:defRPr sz="1296" b="1"/>
                      </a:pPr>
                      <a:r>
                        <a:t>Instruction File</a:t>
                      </a:r>
                    </a:p>
                  </a:txBody>
                  <a:tcPr/>
                </a:tc>
                <a:tc>
                  <a:txBody>
                    <a:bodyPr/>
                    <a:lstStyle/>
                    <a:p>
                      <a:pPr>
                        <a:defRPr sz="1296" b="1"/>
                      </a:pPr>
                      <a:r>
                        <a:t>Purpose</a:t>
                      </a:r>
                    </a:p>
                  </a:txBody>
                  <a:tcPr/>
                </a:tc>
                <a:extLst>
                  <a:ext uri="{0D108BD9-81ED-4DB2-BD59-A6C34878D82A}">
                    <a16:rowId xmlns:a16="http://schemas.microsoft.com/office/drawing/2014/main" val="10000"/>
                  </a:ext>
                </a:extLst>
              </a:tr>
              <a:tr h="457200">
                <a:tc>
                  <a:txBody>
                    <a:bodyPr/>
                    <a:lstStyle/>
                    <a:p>
                      <a:r>
                        <a:t>ai-assisted-output.instructions.md</a:t>
                      </a:r>
                    </a:p>
                  </a:txBody>
                  <a:tcPr/>
                </a:tc>
                <a:tc>
                  <a:txBody>
                    <a:bodyPr/>
                    <a:lstStyle/>
                    <a:p>
                      <a:r>
                        <a:t>Guidance for AI generated artifacts</a:t>
                      </a:r>
                    </a:p>
                  </a:txBody>
                  <a:tcPr/>
                </a:tc>
                <a:extLst>
                  <a:ext uri="{0D108BD9-81ED-4DB2-BD59-A6C34878D82A}">
                    <a16:rowId xmlns:a16="http://schemas.microsoft.com/office/drawing/2014/main" val="10001"/>
                  </a:ext>
                </a:extLst>
              </a:tr>
              <a:tr h="457200">
                <a:tc>
                  <a:txBody>
                    <a:bodyPr/>
                    <a:lstStyle/>
                    <a:p>
                      <a:r>
                        <a:t>chatmode-file.instructions.md</a:t>
                      </a:r>
                    </a:p>
                  </a:txBody>
                  <a:tcPr/>
                </a:tc>
                <a:tc>
                  <a:txBody>
                    <a:bodyPr/>
                    <a:lstStyle/>
                    <a:p>
                      <a:r>
                        <a:t>Guidance for generating chat modes</a:t>
                      </a:r>
                    </a:p>
                  </a:txBody>
                  <a:tcPr/>
                </a:tc>
                <a:extLst>
                  <a:ext uri="{0D108BD9-81ED-4DB2-BD59-A6C34878D82A}">
                    <a16:rowId xmlns:a16="http://schemas.microsoft.com/office/drawing/2014/main" val="10002"/>
                  </a:ext>
                </a:extLst>
              </a:tr>
              <a:tr h="457200">
                <a:tc>
                  <a:txBody>
                    <a:bodyPr/>
                    <a:lstStyle/>
                    <a:p>
                      <a:r>
                        <a:t>instruction-files.instructions.md</a:t>
                      </a:r>
                    </a:p>
                  </a:txBody>
                  <a:tcPr/>
                </a:tc>
                <a:tc>
                  <a:txBody>
                    <a:bodyPr/>
                    <a:lstStyle/>
                    <a:p>
                      <a:r>
                        <a:t>Guidance for generating instruction files</a:t>
                      </a:r>
                    </a:p>
                  </a:txBody>
                  <a:tcPr/>
                </a:tc>
                <a:extLst>
                  <a:ext uri="{0D108BD9-81ED-4DB2-BD59-A6C34878D82A}">
                    <a16:rowId xmlns:a16="http://schemas.microsoft.com/office/drawing/2014/main" val="10003"/>
                  </a:ext>
                </a:extLst>
              </a:tr>
              <a:tr h="457200">
                <a:tc>
                  <a:txBody>
                    <a:bodyPr/>
                    <a:lstStyle/>
                    <a:p>
                      <a:r>
                        <a:t>prompt-file.instructions.md</a:t>
                      </a:r>
                    </a:p>
                  </a:txBody>
                  <a:tcPr/>
                </a:tc>
                <a:tc>
                  <a:txBody>
                    <a:bodyPr/>
                    <a:lstStyle/>
                    <a:p>
                      <a:r>
                        <a:t>Guidance for generating prompt files</a:t>
                      </a:r>
                    </a:p>
                  </a:txBody>
                  <a:tcPr/>
                </a:tc>
                <a:extLst>
                  <a:ext uri="{0D108BD9-81ED-4DB2-BD59-A6C34878D82A}">
                    <a16:rowId xmlns:a16="http://schemas.microsoft.com/office/drawing/2014/main" val="10004"/>
                  </a:ext>
                </a:extLst>
              </a:tr>
              <a:tr h="457200">
                <a:tc>
                  <a:txBody>
                    <a:bodyPr/>
                    <a:lstStyle/>
                    <a:p>
                      <a:r>
                        <a:t>instruction-prompt-files.instructions.md</a:t>
                      </a:r>
                    </a:p>
                  </a:txBody>
                  <a:tcPr/>
                </a:tc>
                <a:tc>
                  <a:txBody>
                    <a:bodyPr/>
                    <a:lstStyle/>
                    <a:p>
                      <a:r>
                        <a:t>Guidance for generating prompts that generate instruction files</a:t>
                      </a:r>
                    </a:p>
                  </a:txBody>
                  <a:tcPr/>
                </a:tc>
                <a:extLst>
                  <a:ext uri="{0D108BD9-81ED-4DB2-BD59-A6C34878D82A}">
                    <a16:rowId xmlns:a16="http://schemas.microsoft.com/office/drawing/2014/main" val="10005"/>
                  </a:ext>
                </a:extLst>
              </a:tr>
            </a:tbl>
          </a:graphicData>
        </a:graphic>
      </p:graphicFrame>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2950"/>
              <a:t>Organizational vs. Repository Instruction Files</a:t>
            </a:r>
          </a:p>
        </p:txBody>
      </p:sp>
      <p:sp>
        <p:nvSpPr>
          <p:cNvPr id="3" name="Content Placeholder 2"/>
          <p:cNvSpPr>
            <a:spLocks noGrp="1"/>
          </p:cNvSpPr>
          <p:nvPr>
            <p:ph idx="1"/>
          </p:nvPr>
        </p:nvSpPr>
        <p:spPr/>
        <p:txBody>
          <a:bodyPr wrap="square">
            <a:normAutofit/>
          </a:bodyPr>
          <a:lstStyle/>
          <a:p>
            <a:endParaRPr/>
          </a:p>
          <a:p>
            <a:r>
              <a:t>Business/Enterprise tier capabilities</a:t>
            </a:r>
          </a:p>
          <a:p>
            <a:r>
              <a:t>Path-scoped instruction files</a:t>
            </a:r>
          </a:p>
          <a:p>
            <a:r>
              <a:t>Folder-level technology-specific rules</a:t>
            </a:r>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4150"/>
              <a:t>Why Two Instruction Layers Exist</a:t>
            </a:r>
          </a:p>
        </p:txBody>
      </p:sp>
      <p:sp>
        <p:nvSpPr>
          <p:cNvPr id="3" name="Content Placeholder 2"/>
          <p:cNvSpPr>
            <a:spLocks noGrp="1"/>
          </p:cNvSpPr>
          <p:nvPr>
            <p:ph idx="1"/>
          </p:nvPr>
        </p:nvSpPr>
        <p:spPr/>
        <p:txBody>
          <a:bodyPr wrap="square">
            <a:noAutofit/>
          </a:bodyPr>
          <a:lstStyle/>
          <a:p>
            <a:endParaRPr sz="2400"/>
          </a:p>
          <a:p>
            <a:r>
              <a:rPr sz="2400"/>
              <a:t>Enterprise instructions enforce baseline policy and governance</a:t>
            </a:r>
          </a:p>
          <a:p>
            <a:r>
              <a:rPr sz="2400"/>
              <a:t>Repository instructions optimize for project context and implementation detail</a:t>
            </a:r>
          </a:p>
          <a:p>
            <a:r>
              <a:rPr sz="2400"/>
              <a:t>Together they balance consistency and local autonomy</a:t>
            </a:r>
          </a:p>
          <a:p>
            <a:endParaRPr sz="2400"/>
          </a:p>
          <a:p>
            <a:r>
              <a:rPr sz="2400"/>
              <a:t>### Key Idea</a:t>
            </a:r>
          </a:p>
          <a:p>
            <a:endParaRPr sz="2400"/>
          </a:p>
          <a:p>
            <a:r>
              <a:rPr sz="2400"/>
              <a:t>Define global guardrails once, then narrow behavior where code lives.</a:t>
            </a:r>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750"/>
              <a:t>Business/Enterprise Tier Capabilities</a:t>
            </a:r>
          </a:p>
        </p:txBody>
      </p:sp>
      <p:sp>
        <p:nvSpPr>
          <p:cNvPr id="3" name="Content Placeholder 2"/>
          <p:cNvSpPr>
            <a:spLocks noGrp="1"/>
          </p:cNvSpPr>
          <p:nvPr>
            <p:ph idx="1"/>
          </p:nvPr>
        </p:nvSpPr>
        <p:spPr/>
        <p:txBody>
          <a:bodyPr wrap="square">
            <a:noAutofit/>
          </a:bodyPr>
          <a:lstStyle/>
          <a:p>
            <a:endParaRPr sz="2000"/>
          </a:p>
          <a:p>
            <a:r>
              <a:rPr sz="2000"/>
              <a:t>Organization-wide safety and compliance standards</a:t>
            </a:r>
          </a:p>
          <a:p>
            <a:r>
              <a:rPr sz="2000"/>
              <a:t>Approved model and tool usage policy</a:t>
            </a:r>
          </a:p>
          <a:p>
            <a:r>
              <a:rPr sz="2000"/>
              <a:t>Mandatory provenance and audit requirements</a:t>
            </a:r>
          </a:p>
          <a:p>
            <a:r>
              <a:rPr sz="2000"/>
              <a:t>Security and legal baselines (secret handling, license constraints)</a:t>
            </a:r>
          </a:p>
          <a:p>
            <a:r>
              <a:rPr sz="2000"/>
              <a:t>Shared quality gates for CI/CD</a:t>
            </a:r>
          </a:p>
          <a:p>
            <a:endParaRPr sz="2000"/>
          </a:p>
          <a:p>
            <a:r>
              <a:rPr sz="2000"/>
              <a:t>### Typical Scope</a:t>
            </a:r>
          </a:p>
          <a:p>
            <a:endParaRPr sz="2000"/>
          </a:p>
          <a:p>
            <a:r>
              <a:rPr sz="2000"/>
              <a:t>All repositories, all teams, all environments.</a:t>
            </a:r>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Path-Scoped Instruction Files</a:t>
            </a:r>
          </a:p>
        </p:txBody>
      </p:sp>
      <p:sp>
        <p:nvSpPr>
          <p:cNvPr id="3" name="Content Placeholder 2"/>
          <p:cNvSpPr>
            <a:spLocks noGrp="1"/>
          </p:cNvSpPr>
          <p:nvPr>
            <p:ph idx="1"/>
          </p:nvPr>
        </p:nvSpPr>
        <p:spPr/>
        <p:txBody>
          <a:bodyPr wrap="square">
            <a:noAutofit/>
          </a:bodyPr>
          <a:lstStyle/>
          <a:p>
            <a:endParaRPr sz="1400"/>
          </a:p>
          <a:p>
            <a:r>
              <a:rPr sz="1400"/>
              <a:t>Path-scoped instructions apply behavior only where it is needed.</a:t>
            </a:r>
          </a:p>
          <a:p>
            <a:endParaRPr sz="1400"/>
          </a:p>
          <a:p>
            <a:r>
              <a:rPr sz="1400"/>
              <a:t>```yaml</a:t>
            </a:r>
          </a:p>
          <a:p>
            <a:r>
              <a:rPr sz="1400"/>
              <a:t>applyTo: "Slides/individual-slides/**"</a:t>
            </a:r>
          </a:p>
          <a:p>
            <a:r>
              <a:rPr sz="1400"/>
              <a:t>```</a:t>
            </a:r>
          </a:p>
          <a:p>
            <a:endParaRPr sz="1400"/>
          </a:p>
          <a:p>
            <a:r>
              <a:rPr sz="1400"/>
              <a:t>```yaml</a:t>
            </a:r>
          </a:p>
          <a:p>
            <a:r>
              <a:rPr sz="1400"/>
              <a:t>applyTo: "**/*.{cs,ts,js,py,java,go,rb}"</a:t>
            </a:r>
          </a:p>
          <a:p>
            <a:r>
              <a:rPr sz="1400"/>
              <a:t>```</a:t>
            </a:r>
          </a:p>
          <a:p>
            <a:endParaRPr sz="1400"/>
          </a:p>
          <a:p>
            <a:r>
              <a:rPr sz="1400"/>
              <a:t>```yaml</a:t>
            </a:r>
          </a:p>
          <a:p>
            <a:r>
              <a:rPr sz="1400"/>
              <a:t>applyTo: "**/*.instructions.md"</a:t>
            </a:r>
          </a:p>
          <a:p>
            <a:r>
              <a:rPr sz="1400"/>
              <a:t>```</a:t>
            </a:r>
          </a:p>
          <a:p>
            <a:endParaRPr sz="1400"/>
          </a:p>
          <a:p>
            <a:r>
              <a:rPr sz="1400"/>
              <a:t>### Benefit</a:t>
            </a:r>
          </a:p>
          <a:p>
            <a:endParaRPr sz="1400"/>
          </a:p>
          <a:p>
            <a:r>
              <a:rPr sz="1400"/>
              <a:t>Granular control without forcing unrelated files to follow irrelevant rules.</a:t>
            </a:r>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550"/>
              <a:t>Folder-Level Technology-Specific Rules</a:t>
            </a:r>
          </a:p>
        </p:txBody>
      </p:sp>
      <p:sp>
        <p:nvSpPr>
          <p:cNvPr id="3" name="Content Placeholder 2"/>
          <p:cNvSpPr>
            <a:spLocks noGrp="1"/>
          </p:cNvSpPr>
          <p:nvPr>
            <p:ph idx="1"/>
          </p:nvPr>
        </p:nvSpPr>
        <p:spPr/>
        <p:txBody>
          <a:bodyPr wrap="square">
            <a:noAutofit/>
          </a:bodyPr>
          <a:lstStyle/>
          <a:p>
            <a:endParaRPr sz="1750"/>
          </a:p>
          <a:p>
            <a:r>
              <a:rPr sz="1750"/>
              <a:t>Use folder-level rules to match local stack and workflow.</a:t>
            </a:r>
          </a:p>
          <a:p>
            <a:endParaRPr sz="1750"/>
          </a:p>
          <a:p>
            <a:r>
              <a:rPr sz="1750"/>
              <a:t>`Slides/` for Marp formatting and speaker-note conventions</a:t>
            </a:r>
          </a:p>
          <a:p>
            <a:r>
              <a:rPr sz="1750"/>
              <a:t>`Labs/lab1-3-python/` for Python lint/test guidance</a:t>
            </a:r>
          </a:p>
          <a:p>
            <a:r>
              <a:rPr sz="1750"/>
              <a:t>`Labs/lab1-3-typescript/` for TypeScript build/test patterns</a:t>
            </a:r>
          </a:p>
          <a:p>
            <a:r>
              <a:rPr sz="1750"/>
              <a:t>`Course/course.github/` for docs automation and publishing rules</a:t>
            </a:r>
          </a:p>
          <a:p>
            <a:endParaRPr sz="1750"/>
          </a:p>
          <a:p>
            <a:r>
              <a:rPr sz="1750"/>
              <a:t>### Pattern</a:t>
            </a:r>
          </a:p>
          <a:p>
            <a:endParaRPr sz="1750"/>
          </a:p>
          <a:p>
            <a:r>
              <a:rPr sz="1750"/>
              <a:t>Place rules near code ownership boundaries.</a:t>
            </a:r>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4300"/>
              <a:t>Layering Model and Precedence</a:t>
            </a:r>
          </a:p>
        </p:txBody>
      </p:sp>
      <p:sp>
        <p:nvSpPr>
          <p:cNvPr id="3" name="Content Placeholder 2"/>
          <p:cNvSpPr>
            <a:spLocks noGrp="1"/>
          </p:cNvSpPr>
          <p:nvPr>
            <p:ph idx="1"/>
          </p:nvPr>
        </p:nvSpPr>
        <p:spPr/>
        <p:txBody>
          <a:bodyPr wrap="square">
            <a:noAutofit/>
          </a:bodyPr>
          <a:lstStyle/>
          <a:p>
            <a:endParaRPr sz="1750"/>
          </a:p>
          <a:p>
            <a:r>
              <a:rPr sz="1750"/>
              <a:t>```mermaid</a:t>
            </a:r>
          </a:p>
          <a:p>
            <a:r>
              <a:rPr sz="1750"/>
              <a:t>flowchart TD</a:t>
            </a:r>
          </a:p>
          <a:p>
            <a:r>
              <a:rPr sz="1750"/>
              <a:t>  A[Enterprise Instructions\nGlobal Guardrails] --&gt; B[Repository Instructions\nProject Standards]</a:t>
            </a:r>
          </a:p>
          <a:p>
            <a:r>
              <a:rPr sz="1750"/>
              <a:t>  B --&gt; C[Path-Scoped Rules\nTargeted Behavior]</a:t>
            </a:r>
          </a:p>
          <a:p>
            <a:r>
              <a:rPr sz="1750"/>
              <a:t>  C --&gt; D[Folder-Level Tech Rules\nLocal Implementation]</a:t>
            </a:r>
          </a:p>
          <a:p>
            <a:r>
              <a:rPr sz="1750"/>
              <a:t>```</a:t>
            </a:r>
          </a:p>
          <a:p>
            <a:endParaRPr sz="1750"/>
          </a:p>
          <a:p>
            <a:r>
              <a:rPr sz="1750"/>
              <a:t>### Resolution Rule</a:t>
            </a:r>
          </a:p>
          <a:p>
            <a:endParaRPr sz="1750"/>
          </a:p>
          <a:p>
            <a:r>
              <a:rPr sz="1750"/>
              <a:t>Prefer the most specific matching instruction when guidance overlaps.</a:t>
            </a:r>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Practical Governance Checklist</a:t>
            </a:r>
          </a:p>
        </p:txBody>
      </p:sp>
      <p:sp>
        <p:nvSpPr>
          <p:cNvPr id="3" name="Content Placeholder 2"/>
          <p:cNvSpPr>
            <a:spLocks noGrp="1"/>
          </p:cNvSpPr>
          <p:nvPr>
            <p:ph idx="1"/>
          </p:nvPr>
        </p:nvSpPr>
        <p:spPr/>
        <p:txBody>
          <a:bodyPr wrap="square">
            <a:normAutofit/>
          </a:bodyPr>
          <a:lstStyle/>
          <a:p>
            <a:endParaRPr/>
          </a:p>
          <a:p>
            <a:r>
              <a:t>Keep enterprise files policy-focused and durable</a:t>
            </a:r>
          </a:p>
          <a:p>
            <a:r>
              <a:t>Keep repository files implementation-focused and current</a:t>
            </a:r>
          </a:p>
          <a:p>
            <a:r>
              <a:t>Use explicit `applyTo` patterns for every specialized rule file</a:t>
            </a:r>
          </a:p>
          <a:p>
            <a:r>
              <a:t>Review instruction overlap quarterly to reduce conflicts</a:t>
            </a:r>
          </a:p>
          <a:p>
            <a:r>
              <a:t>Validate behavior with small representative prompts per folder</a:t>
            </a:r>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2400"/>
              <a:t>Exercise: Technology Inventory &amp; Instruction Generation</a:t>
            </a:r>
          </a:p>
        </p:txBody>
      </p:sp>
      <p:sp>
        <p:nvSpPr>
          <p:cNvPr id="3" name="Content Placeholder 2"/>
          <p:cNvSpPr>
            <a:spLocks noGrp="1"/>
          </p:cNvSpPr>
          <p:nvPr>
            <p:ph idx="1"/>
          </p:nvPr>
        </p:nvSpPr>
        <p:spPr/>
        <p:txBody>
          <a:bodyPr wrap="square">
            <a:noAutofit/>
          </a:bodyPr>
          <a:lstStyle/>
          <a:p>
            <a:endParaRPr sz="1400"/>
          </a:p>
          <a:p>
            <a:r>
              <a:rPr sz="1400"/>
              <a:t>Objectives</a:t>
            </a:r>
          </a:p>
          <a:p>
            <a:endParaRPr sz="1400"/>
          </a:p>
          <a:p>
            <a:r>
              <a:rPr sz="1400"/>
              <a:t>Create a clear inventory of project technologies across the repository</a:t>
            </a:r>
          </a:p>
          <a:p>
            <a:r>
              <a:rPr sz="1400"/>
              <a:t>Use background sessions to run concurrent analysis and drafting work</a:t>
            </a:r>
          </a:p>
          <a:p>
            <a:r>
              <a:rPr sz="1400"/>
              <a:t>Generate multiple instruction files simultaneously from the inventory results</a:t>
            </a:r>
          </a:p>
          <a:p>
            <a:r>
              <a:rPr sz="1400"/>
              <a:t>Practice session management interface workflows for parallel task control</a:t>
            </a:r>
          </a:p>
          <a:p>
            <a:endParaRPr sz="1400"/>
          </a:p>
          <a:p>
            <a:r>
              <a:rPr sz="1400"/>
              <a:t>Activities</a:t>
            </a:r>
          </a:p>
          <a:p>
            <a:endParaRPr sz="1400"/>
          </a:p>
          <a:p>
            <a:r>
              <a:rPr sz="1400"/>
              <a:t>1. Technology Inventory Build:</a:t>
            </a:r>
          </a:p>
          <a:p>
            <a:endParaRPr sz="1400"/>
          </a:p>
          <a:p>
            <a:r>
              <a:rPr sz="1400"/>
              <a:t>Scan the repository and list languages, frameworks, build tools, and test stacks</a:t>
            </a:r>
          </a:p>
          <a:p>
            <a:r>
              <a:rPr sz="1400"/>
              <a:t>Group technologies by folder ownership and lifecycle criticality</a:t>
            </a:r>
          </a:p>
          <a:p>
            <a:r>
              <a:rPr sz="1400"/>
              <a:t>Identify missing or outdated instruction coverage per technology area</a:t>
            </a:r>
          </a:p>
          <a:p>
            <a:endParaRPr sz="1400"/>
          </a:p>
          <a:p>
            <a:r>
              <a:rPr sz="1400"/>
              <a:t>2. Background Session Orchestration:</a:t>
            </a:r>
          </a:p>
          <a:p>
            <a:endParaRPr sz="1400"/>
          </a:p>
          <a:p>
            <a:r>
              <a:rPr sz="1400"/>
              <a:t>Start parallel background sessions for discovery, drafting, and validation</a:t>
            </a:r>
          </a:p>
          <a:p>
            <a:r>
              <a:rPr sz="1400"/>
              <a:t>Assign one focused outcome per session (inventory, file generation, review)</a:t>
            </a:r>
          </a:p>
          <a:p>
            <a:r>
              <a:rPr sz="1400"/>
              <a:t>Capture each session's outputs and merge findings into one working backlog</a:t>
            </a:r>
          </a:p>
          <a:p>
            <a:endParaRPr sz="1400"/>
          </a:p>
          <a:p>
            <a:r>
              <a:rPr sz="1400"/>
              <a:t>3. Simultaneous Instruction Generation:</a:t>
            </a:r>
          </a:p>
          <a:p>
            <a:endParaRPr sz="1400"/>
          </a:p>
          <a:p>
            <a:r>
              <a:rPr sz="1400"/>
              <a:t>Generate multiple instruction files for high-priority technology folders</a:t>
            </a:r>
          </a:p>
          <a:p>
            <a:r>
              <a:rPr sz="1400"/>
              <a:t>Apply path-scoped patterns to each generated instruction file</a:t>
            </a:r>
          </a:p>
          <a:p>
            <a:r>
              <a:rPr sz="1400"/>
              <a:t>Validate that each file is targeted, non-overlapping, and implementation-ready</a:t>
            </a:r>
          </a:p>
          <a:p>
            <a:endParaRPr sz="1400"/>
          </a:p>
          <a:p>
            <a:r>
              <a:rPr sz="1400"/>
              <a:t>4. Session Management Interface Review:</a:t>
            </a:r>
          </a:p>
          <a:p>
            <a:endParaRPr sz="1400"/>
          </a:p>
          <a:p>
            <a:r>
              <a:rPr sz="1400"/>
              <a:t>Track session state, ownership, and completion status</a:t>
            </a:r>
          </a:p>
          <a:p>
            <a:r>
              <a:rPr sz="1400"/>
              <a:t>Resolve collisions between concurrently generated instruction outputs</a:t>
            </a:r>
          </a:p>
          <a:p>
            <a:r>
              <a:rPr sz="1400"/>
              <a:t>Close sessions with a summarized decision log and next-step actions</a:t>
            </a:r>
          </a:p>
          <a:p>
            <a:endParaRPr sz="1400"/>
          </a:p>
          <a:p>
            <a:r>
              <a:rPr sz="1400"/>
              <a:t>Success Criteria</a:t>
            </a:r>
          </a:p>
          <a:p>
            <a:endParaRPr sz="1400"/>
          </a:p>
          <a:p>
            <a:r>
              <a:rPr sz="1400"/>
              <a:t>Technology inventory includes stack, location, and risk/priority attributes</a:t>
            </a:r>
          </a:p>
          <a:p>
            <a:r>
              <a:rPr sz="1400"/>
              <a:t>At least three instruction files are generated concurrently and scoped correctly</a:t>
            </a:r>
          </a:p>
          <a:p>
            <a:r>
              <a:rPr sz="1400"/>
              <a:t>Background sessions are documented with clear responsibilities and outcomes</a:t>
            </a:r>
          </a:p>
          <a:p>
            <a:r>
              <a:rPr sz="1400"/>
              <a:t>Session management process is repeatable for future multi-stream work</a:t>
            </a:r>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Course Modules</a:t>
            </a:r>
          </a:p>
        </p:txBody>
      </p:sp>
      <p:sp>
        <p:nvSpPr>
          <p:cNvPr id="3" name="Content Placeholder 2"/>
          <p:cNvSpPr>
            <a:spLocks noGrp="1"/>
          </p:cNvSpPr>
          <p:nvPr>
            <p:ph idx="1"/>
          </p:nvPr>
        </p:nvSpPr>
        <p:spPr/>
        <p:txBody>
          <a:bodyPr wrap="square">
            <a:normAutofit/>
          </a:bodyPr>
          <a:lstStyle/>
          <a:p>
            <a:endParaRPr/>
          </a:p>
          <a:p>
            <a:r>
              <a:t>Intro</a:t>
            </a:r>
          </a:p>
          <a:p>
            <a:r>
              <a:t>AI Assisted Software Development</a:t>
            </a:r>
          </a:p>
          <a:p>
            <a:r>
              <a:t>Intro to Copilot</a:t>
            </a:r>
          </a:p>
          <a:p>
            <a:r>
              <a:t>AI Assistance in Action</a:t>
            </a:r>
          </a:p>
          <a:p>
            <a:r>
              <a:t>Adding AI Guardrails</a:t>
            </a:r>
          </a:p>
          <a:p>
            <a:r>
              <a:rPr b="1"/>
              <a:t>▶ Managing Context</a:t>
            </a:r>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Managing Context</a:t>
            </a:r>
          </a:p>
        </p:txBody>
      </p:sp>
      <p:sp>
        <p:nvSpPr>
          <p:cNvPr id="3" name="Content Placeholder 2"/>
          <p:cNvSpPr>
            <a:spLocks noGrp="1"/>
          </p:cNvSpPr>
          <p:nvPr>
            <p:ph idx="1"/>
          </p:nvPr>
        </p:nvSpPr>
        <p:spPr/>
        <p:txBody>
          <a:bodyPr wrap="square">
            <a:normAutofit/>
          </a:bodyPr>
          <a:lstStyle/>
          <a:p>
            <a:endParaRPr/>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Managing Context</a:t>
            </a:r>
          </a:p>
        </p:txBody>
      </p:sp>
      <p:sp>
        <p:nvSpPr>
          <p:cNvPr id="3" name="Content Placeholder 2"/>
          <p:cNvSpPr>
            <a:spLocks noGrp="1"/>
          </p:cNvSpPr>
          <p:nvPr>
            <p:ph idx="1"/>
          </p:nvPr>
        </p:nvSpPr>
        <p:spPr/>
        <p:txBody>
          <a:bodyPr wrap="square">
            <a:normAutofit/>
          </a:bodyPr>
          <a:lstStyle/>
          <a:p>
            <a:endParaRPr/>
          </a:p>
          <a:p>
            <a:r>
              <a:t>Managing GitHub Copilot Effectively</a:t>
            </a:r>
          </a:p>
          <a:p>
            <a:r>
              <a:t>Managing Instruction Files &amp; Context Windows</a:t>
            </a:r>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800"/>
              <a:t>Managing GitHub Copilot Effectively</a:t>
            </a:r>
          </a:p>
        </p:txBody>
      </p:sp>
      <p:sp>
        <p:nvSpPr>
          <p:cNvPr id="3" name="Content Placeholder 2"/>
          <p:cNvSpPr>
            <a:spLocks noGrp="1"/>
          </p:cNvSpPr>
          <p:nvPr>
            <p:ph idx="1"/>
          </p:nvPr>
        </p:nvSpPr>
        <p:spPr/>
        <p:txBody>
          <a:bodyPr wrap="square">
            <a:normAutofit/>
          </a:bodyPr>
          <a:lstStyle/>
          <a:p>
            <a:endParaRPr/>
          </a:p>
          <a:p>
            <a:r>
              <a:t>Copilot is powerful, but not entirely autonomous</a:t>
            </a:r>
          </a:p>
          <a:p>
            <a:r>
              <a:t>Effective use requires structure, guardrails, and clear intent</a:t>
            </a:r>
          </a:p>
          <a:p>
            <a:r>
              <a:t>Treat Copilot as a developer whose output improves with guidance</a:t>
            </a:r>
          </a:p>
          <a:p>
            <a:r>
              <a:t>Your process determines the quality of its contributions</a:t>
            </a:r>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A Managed Junior Developer</a:t>
            </a:r>
          </a:p>
        </p:txBody>
      </p:sp>
      <p:sp>
        <p:nvSpPr>
          <p:cNvPr id="3" name="Content Placeholder 2"/>
          <p:cNvSpPr>
            <a:spLocks noGrp="1"/>
          </p:cNvSpPr>
          <p:nvPr>
            <p:ph idx="1"/>
          </p:nvPr>
        </p:nvSpPr>
        <p:spPr/>
        <p:txBody>
          <a:bodyPr wrap="square">
            <a:normAutofit/>
          </a:bodyPr>
          <a:lstStyle/>
          <a:p>
            <a:endParaRPr/>
          </a:p>
          <a:p>
            <a:r>
              <a:t>Copilot is fast, eager, and sometimes confidently wrong</a:t>
            </a:r>
          </a:p>
          <a:p>
            <a:r>
              <a:t>Provide clear instructions, constraints, and examples</a:t>
            </a:r>
          </a:p>
          <a:p>
            <a:r>
              <a:t>Review everything – trust its speed, not its judgment</a:t>
            </a:r>
          </a:p>
          <a:p>
            <a:r>
              <a:t>Use iterative loops: instruct → generate → review → refine</a:t>
            </a:r>
          </a:p>
          <a:p>
            <a:r>
              <a:t>Give Copilot ownership of tasks, not architecture</a:t>
            </a:r>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4150"/>
              <a:t>Understanding Context &amp; Tokens</a:t>
            </a:r>
          </a:p>
        </p:txBody>
      </p:sp>
      <p:sp>
        <p:nvSpPr>
          <p:cNvPr id="3" name="Content Placeholder 2"/>
          <p:cNvSpPr>
            <a:spLocks noGrp="1"/>
          </p:cNvSpPr>
          <p:nvPr>
            <p:ph idx="1"/>
          </p:nvPr>
        </p:nvSpPr>
        <p:spPr/>
        <p:txBody>
          <a:bodyPr wrap="square">
            <a:noAutofit/>
          </a:bodyPr>
          <a:lstStyle/>
          <a:p>
            <a:endParaRPr sz="2000"/>
          </a:p>
          <a:p>
            <a:r>
              <a:rPr sz="2000"/>
              <a:t>Copilot can only “see” a limited amount of text at once</a:t>
            </a:r>
          </a:p>
          <a:p>
            <a:r>
              <a:rPr sz="2000"/>
              <a:t>Large files, long conversations, or complex repos can exceed context</a:t>
            </a:r>
          </a:p>
          <a:p>
            <a:r>
              <a:rPr sz="2000"/>
              <a:t>Important details may fall out of the window without you realizing</a:t>
            </a:r>
          </a:p>
          <a:p>
            <a:r>
              <a:rPr sz="2000"/>
              <a:t>Use these techniques to keep context focused:</a:t>
            </a:r>
          </a:p>
          <a:p>
            <a:endParaRPr sz="2000"/>
          </a:p>
          <a:p>
            <a:r>
              <a:rPr sz="2000"/>
              <a:t>Summaries</a:t>
            </a:r>
          </a:p>
          <a:p>
            <a:r>
              <a:rPr sz="2000"/>
              <a:t>Instruction files</a:t>
            </a:r>
          </a:p>
          <a:p>
            <a:r>
              <a:rPr sz="2000"/>
              <a:t>Modular prompts</a:t>
            </a:r>
          </a:p>
          <a:p>
            <a:r>
              <a:rPr sz="2000"/>
              <a:t>Smaller working sets</a:t>
            </a:r>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950"/>
              <a:t>Prompt Engineering Best Practices</a:t>
            </a:r>
          </a:p>
        </p:txBody>
      </p:sp>
      <p:sp>
        <p:nvSpPr>
          <p:cNvPr id="3" name="Content Placeholder 2"/>
          <p:cNvSpPr>
            <a:spLocks noGrp="1"/>
          </p:cNvSpPr>
          <p:nvPr>
            <p:ph idx="1"/>
          </p:nvPr>
        </p:nvSpPr>
        <p:spPr/>
        <p:txBody>
          <a:bodyPr wrap="square">
            <a:normAutofit/>
          </a:bodyPr>
          <a:lstStyle/>
          <a:p>
            <a:endParaRPr/>
          </a:p>
          <a:p>
            <a:r>
              <a:t>Be explicit about goals, constraints, and success criteria</a:t>
            </a:r>
          </a:p>
          <a:p>
            <a:r>
              <a:t>Provide examples of the desired pattern or style</a:t>
            </a:r>
          </a:p>
          <a:p>
            <a:r>
              <a:t>Break large tasks into smaller, testable steps</a:t>
            </a:r>
          </a:p>
          <a:p>
            <a:r>
              <a:t>Use instruction files for stable rules and architectural boundaries</a:t>
            </a:r>
          </a:p>
          <a:p>
            <a:r>
              <a:t>Ask Copilot to explain its reasoning when correctness matters</a:t>
            </a:r>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Model Selection Strategies</a:t>
            </a:r>
          </a:p>
        </p:txBody>
      </p:sp>
      <p:sp>
        <p:nvSpPr>
          <p:cNvPr id="3" name="Content Placeholder 2"/>
          <p:cNvSpPr>
            <a:spLocks noGrp="1"/>
          </p:cNvSpPr>
          <p:nvPr>
            <p:ph idx="1"/>
          </p:nvPr>
        </p:nvSpPr>
        <p:spPr/>
        <p:txBody>
          <a:bodyPr wrap="square">
            <a:noAutofit/>
          </a:bodyPr>
          <a:lstStyle/>
          <a:p>
            <a:endParaRPr sz="1400"/>
          </a:p>
          <a:p>
            <a:r>
              <a:rPr sz="1400"/>
              <a:t>Different models excel at different tasks</a:t>
            </a:r>
          </a:p>
          <a:p>
            <a:r>
              <a:rPr sz="1400"/>
              <a:t>High-end models (e.g., GPT-4o, Claude Sonnet) are best for:</a:t>
            </a:r>
          </a:p>
          <a:p>
            <a:endParaRPr sz="1400"/>
          </a:p>
          <a:p>
            <a:r>
              <a:rPr sz="1400"/>
              <a:t>Architecture</a:t>
            </a:r>
          </a:p>
          <a:p>
            <a:r>
              <a:rPr sz="1400"/>
              <a:t>Refactoring</a:t>
            </a:r>
          </a:p>
          <a:p>
            <a:r>
              <a:rPr sz="1400"/>
              <a:t>Complex reasoning</a:t>
            </a:r>
          </a:p>
          <a:p>
            <a:r>
              <a:rPr sz="1400"/>
              <a:t>Multi-file changes</a:t>
            </a:r>
          </a:p>
          <a:p>
            <a:r>
              <a:rPr sz="1400"/>
              <a:t>  Lightweight models are ideal for:</a:t>
            </a:r>
          </a:p>
          <a:p>
            <a:r>
              <a:rPr sz="1400"/>
              <a:t>Boilerplate</a:t>
            </a:r>
          </a:p>
          <a:p>
            <a:r>
              <a:rPr sz="1400"/>
              <a:t>Repetitive tasks</a:t>
            </a:r>
          </a:p>
          <a:p>
            <a:r>
              <a:rPr sz="1400"/>
              <a:t>Quick iterations</a:t>
            </a:r>
          </a:p>
          <a:p>
            <a:r>
              <a:rPr sz="1400"/>
              <a:t>  Match the model to the task, not the other way around</a:t>
            </a:r>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2900"/>
              <a:t>Managing Instruction Files &amp; Context Windows</a:t>
            </a:r>
          </a:p>
        </p:txBody>
      </p:sp>
      <p:sp>
        <p:nvSpPr>
          <p:cNvPr id="3" name="Content Placeholder 2"/>
          <p:cNvSpPr>
            <a:spLocks noGrp="1"/>
          </p:cNvSpPr>
          <p:nvPr>
            <p:ph idx="1"/>
          </p:nvPr>
        </p:nvSpPr>
        <p:spPr/>
        <p:txBody>
          <a:bodyPr wrap="square">
            <a:normAutofit/>
          </a:bodyPr>
          <a:lstStyle/>
          <a:p>
            <a:endParaRPr/>
          </a:p>
          <a:p>
            <a:r>
              <a:t>Instruction sharing strategies</a:t>
            </a:r>
          </a:p>
          <a:p>
            <a:r>
              <a:t>Instruction file scope and application</a:t>
            </a:r>
          </a:p>
          <a:p>
            <a:r>
              <a:t>Context window monitoring tools</a:t>
            </a:r>
          </a:p>
          <a:p>
            <a:r>
              <a:t>Token consumption tracking</a:t>
            </a:r>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Instruction Sharing Strategies</a:t>
            </a:r>
          </a:p>
        </p:txBody>
      </p:sp>
      <p:sp>
        <p:nvSpPr>
          <p:cNvPr id="3" name="Content Placeholder 2"/>
          <p:cNvSpPr>
            <a:spLocks noGrp="1"/>
          </p:cNvSpPr>
          <p:nvPr>
            <p:ph idx="1"/>
          </p:nvPr>
        </p:nvSpPr>
        <p:spPr/>
        <p:txBody>
          <a:bodyPr wrap="square">
            <a:noAutofit/>
          </a:bodyPr>
          <a:lstStyle/>
          <a:p>
            <a:endParaRPr sz="2350"/>
          </a:p>
          <a:p>
            <a:r>
              <a:rPr sz="2350"/>
              <a:t>Establish a central baseline in organization-level instructions</a:t>
            </a:r>
          </a:p>
          <a:p>
            <a:r>
              <a:rPr sz="2350"/>
              <a:t>Keep repository-level instructions close to implementation details</a:t>
            </a:r>
          </a:p>
          <a:p>
            <a:r>
              <a:rPr sz="2350"/>
              <a:t>Use reusable templates for recurring instruction patterns</a:t>
            </a:r>
          </a:p>
          <a:p>
            <a:r>
              <a:rPr sz="2350"/>
              <a:t>Share proven prompts and instruction snippets through version control</a:t>
            </a:r>
          </a:p>
          <a:p>
            <a:endParaRPr sz="2350"/>
          </a:p>
          <a:p>
            <a:r>
              <a:rPr sz="2350"/>
              <a:t>### Team Pattern</a:t>
            </a:r>
          </a:p>
          <a:p>
            <a:endParaRPr sz="2350"/>
          </a:p>
          <a:p>
            <a:r>
              <a:rPr sz="2350"/>
              <a:t>Centralize policy, decentralize implementation guidance.</a:t>
            </a:r>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600"/>
              <a:t>Instruction File Scope and Application</a:t>
            </a:r>
          </a:p>
        </p:txBody>
      </p:sp>
      <p:sp>
        <p:nvSpPr>
          <p:cNvPr id="3" name="Content Placeholder 2"/>
          <p:cNvSpPr>
            <a:spLocks noGrp="1"/>
          </p:cNvSpPr>
          <p:nvPr>
            <p:ph idx="1"/>
          </p:nvPr>
        </p:nvSpPr>
        <p:spPr/>
        <p:txBody>
          <a:bodyPr wrap="square">
            <a:noAutofit/>
          </a:bodyPr>
          <a:lstStyle/>
          <a:p>
            <a:endParaRPr sz="1400"/>
          </a:p>
          <a:p>
            <a:r>
              <a:rPr sz="1400"/>
              <a:t>Use scope to target behavior precisely with `applyTo` patterns.</a:t>
            </a:r>
          </a:p>
          <a:p>
            <a:endParaRPr sz="1400"/>
          </a:p>
          <a:p>
            <a:r>
              <a:rPr sz="1400"/>
              <a:t>```yaml</a:t>
            </a:r>
          </a:p>
          <a:p>
            <a:r>
              <a:rPr sz="1400"/>
              <a:t>applyTo: "**/*"</a:t>
            </a:r>
          </a:p>
          <a:p>
            <a:r>
              <a:rPr sz="1400"/>
              <a:t>```</a:t>
            </a:r>
          </a:p>
          <a:p>
            <a:endParaRPr sz="1400"/>
          </a:p>
          <a:p>
            <a:r>
              <a:rPr sz="1400"/>
              <a:t>```yaml</a:t>
            </a:r>
          </a:p>
          <a:p>
            <a:r>
              <a:rPr sz="1400"/>
              <a:t>applyTo: "Slides/individual-slides/**"</a:t>
            </a:r>
          </a:p>
          <a:p>
            <a:r>
              <a:rPr sz="1400"/>
              <a:t>```</a:t>
            </a:r>
          </a:p>
          <a:p>
            <a:endParaRPr sz="1400"/>
          </a:p>
          <a:p>
            <a:r>
              <a:rPr sz="1400"/>
              <a:t>```yaml</a:t>
            </a:r>
          </a:p>
          <a:p>
            <a:r>
              <a:rPr sz="1400"/>
              <a:t>applyTo: "**/*.{cs,ts,js,py,java,go,rb}"</a:t>
            </a:r>
          </a:p>
          <a:p>
            <a:r>
              <a:rPr sz="1400"/>
              <a:t>```</a:t>
            </a:r>
          </a:p>
          <a:p>
            <a:endParaRPr sz="1400"/>
          </a:p>
          <a:p>
            <a:r>
              <a:rPr sz="1400"/>
              <a:t>### Rule of Thumb</a:t>
            </a:r>
          </a:p>
          <a:p>
            <a:endParaRPr sz="1400"/>
          </a:p>
          <a:p>
            <a:r>
              <a:rPr sz="1400"/>
              <a:t>The narrower the scope, the lower the risk of unintended instruction collisions.</a:t>
            </a:r>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4000"/>
              <a:t>Context Window Monitoring Tools</a:t>
            </a:r>
          </a:p>
        </p:txBody>
      </p:sp>
      <p:sp>
        <p:nvSpPr>
          <p:cNvPr id="3" name="Content Placeholder 2"/>
          <p:cNvSpPr>
            <a:spLocks noGrp="1"/>
          </p:cNvSpPr>
          <p:nvPr>
            <p:ph idx="1"/>
          </p:nvPr>
        </p:nvSpPr>
        <p:spPr/>
        <p:txBody>
          <a:bodyPr wrap="square">
            <a:noAutofit/>
          </a:bodyPr>
          <a:lstStyle/>
          <a:p>
            <a:endParaRPr sz="1750"/>
          </a:p>
          <a:p>
            <a:r>
              <a:rPr sz="1750"/>
              <a:t>Use chat/session history panels to detect topic drift</a:t>
            </a:r>
          </a:p>
          <a:p>
            <a:r>
              <a:rPr sz="1750"/>
              <a:t>Track context attachments (`@workspace`, `@file`, `@terminal`) intentionally</a:t>
            </a:r>
          </a:p>
          <a:p>
            <a:r>
              <a:rPr sz="1750"/>
              <a:t>Start fresh chats when switching goals or bounded contexts</a:t>
            </a:r>
          </a:p>
          <a:p>
            <a:r>
              <a:rPr sz="1750"/>
              <a:t>Use lightweight check-ins: "What context are we currently using?"</a:t>
            </a:r>
          </a:p>
          <a:p>
            <a:endParaRPr sz="1750"/>
          </a:p>
          <a:p>
            <a:r>
              <a:rPr sz="1750"/>
              <a:t>### Signals of Context Saturation</a:t>
            </a:r>
          </a:p>
          <a:p>
            <a:endParaRPr sz="1750"/>
          </a:p>
          <a:p>
            <a:r>
              <a:rPr sz="1750"/>
              <a:t>Repeated clarifying questions</a:t>
            </a:r>
          </a:p>
          <a:p>
            <a:r>
              <a:rPr sz="1750"/>
              <a:t>Loss of earlier constraints</a:t>
            </a:r>
          </a:p>
          <a:p>
            <a:r>
              <a:rPr sz="1750"/>
              <a:t>Increasingly generic responses</a:t>
            </a:r>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Token Consumption Tracking</a:t>
            </a:r>
          </a:p>
        </p:txBody>
      </p:sp>
      <p:sp>
        <p:nvSpPr>
          <p:cNvPr id="3" name="Content Placeholder 2"/>
          <p:cNvSpPr>
            <a:spLocks noGrp="1"/>
          </p:cNvSpPr>
          <p:nvPr>
            <p:ph idx="1"/>
          </p:nvPr>
        </p:nvSpPr>
        <p:spPr/>
        <p:txBody>
          <a:bodyPr wrap="square">
            <a:noAutofit/>
          </a:bodyPr>
          <a:lstStyle/>
          <a:p>
            <a:endParaRPr sz="1750"/>
          </a:p>
          <a:p>
            <a:r>
              <a:rPr sz="1750"/>
              <a:t>Monitor token usage indicators in the chat interface</a:t>
            </a:r>
          </a:p>
          <a:p>
            <a:r>
              <a:rPr sz="1750"/>
              <a:t>Prefer concise prompts with explicit file targets</a:t>
            </a:r>
          </a:p>
          <a:p>
            <a:r>
              <a:rPr sz="1750"/>
              <a:t>Split large tasks into smaller, well-bounded sessions</a:t>
            </a:r>
          </a:p>
          <a:p>
            <a:r>
              <a:rPr sz="1750"/>
              <a:t>Archive outcomes in files instead of keeping all context in-chat</a:t>
            </a:r>
          </a:p>
          <a:p>
            <a:endParaRPr sz="1750"/>
          </a:p>
          <a:p>
            <a:r>
              <a:rPr sz="1750"/>
              <a:t>### Cost-Control Tactics</a:t>
            </a:r>
          </a:p>
          <a:p>
            <a:endParaRPr sz="1750"/>
          </a:p>
          <a:p>
            <a:r>
              <a:rPr sz="1750"/>
              <a:t>Reduce redundant restatement</a:t>
            </a:r>
          </a:p>
          <a:p>
            <a:r>
              <a:rPr sz="1750"/>
              <a:t>Reuse instruction files over repeated long prompts</a:t>
            </a:r>
          </a:p>
          <a:p>
            <a:r>
              <a:rPr sz="1750"/>
              <a:t>Move stable constraints into persistent instruction artifacts</a:t>
            </a:r>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Workflow Blueprint</a:t>
            </a:r>
          </a:p>
        </p:txBody>
      </p:sp>
      <p:sp>
        <p:nvSpPr>
          <p:cNvPr id="3" name="Content Placeholder 2"/>
          <p:cNvSpPr>
            <a:spLocks noGrp="1"/>
          </p:cNvSpPr>
          <p:nvPr>
            <p:ph idx="1"/>
          </p:nvPr>
        </p:nvSpPr>
        <p:spPr/>
        <p:txBody>
          <a:bodyPr wrap="square">
            <a:noAutofit/>
          </a:bodyPr>
          <a:lstStyle/>
          <a:p>
            <a:endParaRPr sz="1400"/>
          </a:p>
          <a:p>
            <a:r>
              <a:rPr sz="1400"/>
              <a:t>```mermaid</a:t>
            </a:r>
          </a:p>
          <a:p>
            <a:r>
              <a:rPr sz="1400"/>
              <a:t>flowchart LR</a:t>
            </a:r>
          </a:p>
          <a:p>
            <a:r>
              <a:rPr sz="1400"/>
              <a:t>  A[Define Task Goal] --&gt; B[Select Relevant Instruction Files]</a:t>
            </a:r>
          </a:p>
          <a:p>
            <a:r>
              <a:rPr sz="1400"/>
              <a:t>  B --&gt; C[Scope with applyTo Patterns]</a:t>
            </a:r>
          </a:p>
          <a:p>
            <a:r>
              <a:rPr sz="1400"/>
              <a:t>  C --&gt; D[Run Focused Chat Session]</a:t>
            </a:r>
          </a:p>
          <a:p>
            <a:r>
              <a:rPr sz="1400"/>
              <a:t>  D --&gt; E[Monitor Context and Tokens]</a:t>
            </a:r>
          </a:p>
          <a:p>
            <a:r>
              <a:rPr sz="1400"/>
              <a:t>  E --&gt; F[Persist Output and Start Next Session]</a:t>
            </a:r>
          </a:p>
          <a:p>
            <a:r>
              <a:rPr sz="1400"/>
              <a:t>```</a:t>
            </a:r>
          </a:p>
          <a:p>
            <a:endParaRPr sz="1400"/>
          </a:p>
          <a:p>
            <a:r>
              <a:rPr sz="1400"/>
              <a:t>### Outcome</a:t>
            </a:r>
          </a:p>
          <a:p>
            <a:endParaRPr sz="1400"/>
          </a:p>
          <a:p>
            <a:r>
              <a:rPr sz="1400"/>
              <a:t>Predictable outputs, lower token waste, and better team-level reuse.</a:t>
            </a:r>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Practical Checklist</a:t>
            </a:r>
          </a:p>
        </p:txBody>
      </p:sp>
      <p:sp>
        <p:nvSpPr>
          <p:cNvPr id="3" name="Content Placeholder 2"/>
          <p:cNvSpPr>
            <a:spLocks noGrp="1"/>
          </p:cNvSpPr>
          <p:nvPr>
            <p:ph idx="1"/>
          </p:nvPr>
        </p:nvSpPr>
        <p:spPr/>
        <p:txBody>
          <a:bodyPr wrap="square">
            <a:normAutofit/>
          </a:bodyPr>
          <a:lstStyle/>
          <a:p>
            <a:endParaRPr/>
          </a:p>
          <a:p>
            <a:r>
              <a:t>Define where instructions live: org, repo, folder, or file scope</a:t>
            </a:r>
          </a:p>
          <a:p>
            <a:r>
              <a:t>Validate `applyTo` patterns before broad adoption</a:t>
            </a:r>
          </a:p>
          <a:p>
            <a:r>
              <a:t>Monitor context quality every major prompt turn</a:t>
            </a:r>
          </a:p>
          <a:p>
            <a:r>
              <a:t>Track token trends for long-running work streams</a:t>
            </a:r>
          </a:p>
          <a:p>
            <a:r>
              <a:t>Capture reusable instruction improvements in versioned files</a:t>
            </a:r>
          </a:p>
        </p:txBody>
      </p:sp>
    </p:spTree>
  </p:cSld>
  <p:clrMapOvr>
    <a:masterClrMapping/>
  </p:clrMapOvr>
</p:sld>
</file>

<file path=ppt/theme/theme1.xml><?xml version="1.0" encoding="utf-8"?>
<a:theme xmlns:a="http://schemas.openxmlformats.org/drawingml/2006/main" name="CODE Training">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jMM CODE Training Slide Template.potx" id="{C235AF94-6470-4DC8-ADA1-D5CA24C263BE}" vid="{E23727E8-263B-4C98-B166-009CDF69EE3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22</TotalTime>
  <Words>29320</Words>
  <Application>Microsoft Office PowerPoint</Application>
  <PresentationFormat>Widescreen</PresentationFormat>
  <Paragraphs>4607</Paragraphs>
  <Slides>180</Slides>
  <Notes>180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180</vt:i4>
      </vt:variant>
    </vt:vector>
  </HeadingPairs>
  <TitlesOfParts>
    <vt:vector size="185" baseType="lpstr">
      <vt:lpstr>Arial</vt:lpstr>
      <vt:lpstr>Calibri</vt:lpstr>
      <vt:lpstr>Noto Sans</vt:lpstr>
      <vt:lpstr>Victor Mono</vt:lpstr>
      <vt:lpstr>CODE Training</vt:lpstr>
      <vt:lpstr>Welcome to AI Assisted Software Development</vt:lpstr>
      <vt:lpstr>John Michael Miller</vt:lpstr>
      <vt:lpstr>Introductions</vt:lpstr>
      <vt:lpstr>About CODE</vt:lpstr>
      <vt:lpstr>Daily Themes</vt:lpstr>
      <vt:lpstr>Course Modules</vt:lpstr>
      <vt:lpstr>AI Assisted Software Development</vt:lpstr>
      <vt:lpstr>AI Assisted Software Development</vt:lpstr>
      <vt:lpstr>WTBD - The Core Thesis</vt:lpstr>
      <vt:lpstr>A Brief History: Machine Code &amp; Assembly (1940s)</vt:lpstr>
      <vt:lpstr>High-Level Languages (1950s-1970s)</vt:lpstr>
      <vt:lpstr>Structured &amp; Object-Oriented Programming (1970s-1980s)</vt:lpstr>
      <vt:lpstr>IDEs &amp; Libraries (1990s)</vt:lpstr>
      <vt:lpstr>Web &amp; Scripting Languages (Late 1990s-2000s)</vt:lpstr>
      <vt:lpstr>Cloud, APIs &amp; Low-Code Platforms (2010s)</vt:lpstr>
      <vt:lpstr>The Modern Mainstream Coding Experience</vt:lpstr>
      <vt:lpstr>AI-Assisted Coding (Present/Future)</vt:lpstr>
      <vt:lpstr>Natural Language Coding: The Game Changer</vt:lpstr>
      <vt:lpstr>AI Understands Intent—Not Just Commands</vt:lpstr>
      <vt:lpstr>It's Just Another Tool</vt:lpstr>
      <vt:lpstr>Verification Still Matters</vt:lpstr>
      <vt:lpstr>The Future Is Still Intent-Driven Development</vt:lpstr>
      <vt:lpstr>Conclusion</vt:lpstr>
      <vt:lpstr>The AI Revolution?</vt:lpstr>
      <vt:lpstr>Why AI Assisted Software Development</vt:lpstr>
      <vt:lpstr>AI-First &amp; Prompt-First</vt:lpstr>
      <vt:lpstr>What Each Optimizes For</vt:lpstr>
      <vt:lpstr>How They Treat Artifacts</vt:lpstr>
      <vt:lpstr>Relationship Between the Two</vt:lpstr>
      <vt:lpstr>AI First Software Development</vt:lpstr>
      <vt:lpstr>Prompt-First Software Development</vt:lpstr>
      <vt:lpstr>**Concrete Examples**</vt:lpstr>
      <vt:lpstr>**Shortest Summary**</vt:lpstr>
      <vt:lpstr>Course Modules</vt:lpstr>
      <vt:lpstr>Intro to Copilot</vt:lpstr>
      <vt:lpstr>Intro to Copilot</vt:lpstr>
      <vt:lpstr>Repository and Tool Setup</vt:lpstr>
      <vt:lpstr>Exercise: Fork the AIASD-20260209-BF Repo</vt:lpstr>
      <vt:lpstr>Exercise: Fork the repos</vt:lpstr>
      <vt:lpstr>Exercise: Clone the AI-Assisted-Software-Development Repository</vt:lpstr>
      <vt:lpstr>Exercise: Fork the AIASD-20260209-BF Repo</vt:lpstr>
      <vt:lpstr>Exercise: Fork the Repos</vt:lpstr>
      <vt:lpstr>Hands-On with GitHub Copilot</vt:lpstr>
      <vt:lpstr>Prompt Specificity</vt:lpstr>
      <vt:lpstr>Using Copilot in different modes</vt:lpstr>
      <vt:lpstr>IDE Support for AI Assistance</vt:lpstr>
      <vt:lpstr>Lab: Getting Started with GitHub Copilot</vt:lpstr>
      <vt:lpstr>Lab: Understanding Context Management</vt:lpstr>
      <vt:lpstr>Lab: Chat Management and Workflow</vt:lpstr>
      <vt:lpstr>Lab: Exploring Copilot Modes</vt:lpstr>
      <vt:lpstr>Course Modules</vt:lpstr>
      <vt:lpstr>AI Assistance in Action</vt:lpstr>
      <vt:lpstr>AI Assistance in Action</vt:lpstr>
      <vt:lpstr>Collaborating on a Solution</vt:lpstr>
      <vt:lpstr>Exercise: Calculator Project - Setup and Basic Implementation</vt:lpstr>
      <vt:lpstr>Exercise: Calculator Project - Clear / Reset</vt:lpstr>
      <vt:lpstr>Exercise: Calculator Project - Decimal Input</vt:lpstr>
      <vt:lpstr>Exercise: Calculator Project - Sign Toggle (+/-)</vt:lpstr>
      <vt:lpstr>Exercise: Calculator Project - Percentage</vt:lpstr>
      <vt:lpstr>Exercise: Calculator Project - Memory Functions (M+, M-, MR, MC)</vt:lpstr>
      <vt:lpstr>Exercise: Calculator Project - Error Handling</vt:lpstr>
      <vt:lpstr>Exercise: Calculator Project - Add Trigonometric Functions</vt:lpstr>
      <vt:lpstr>Exercise: Calculator Project - UI</vt:lpstr>
      <vt:lpstr>Exercise: Calculator Project - Testing</vt:lpstr>
      <vt:lpstr>Exercise: Code Coverage</vt:lpstr>
      <vt:lpstr>Exercise: Dependency Management and Troubleshooting</vt:lpstr>
      <vt:lpstr>Exercise: Best Practices Review and Code Quality</vt:lpstr>
      <vt:lpstr>Exercise: Model Comparisons</vt:lpstr>
      <vt:lpstr>Exercise: Calculator Project - Encapsulate Core Logic</vt:lpstr>
      <vt:lpstr>Exercise: Security Review</vt:lpstr>
      <vt:lpstr>Exercise: Documentation</vt:lpstr>
      <vt:lpstr>Exercise: Refactoring</vt:lpstr>
      <vt:lpstr>Exercise: Test Coverage Improvement</vt:lpstr>
      <vt:lpstr>Exercise: Lab 3 - Test-Driven Development (TDD) with Copilot</vt:lpstr>
      <vt:lpstr>AI-Assisted CI/CD Pipelines</vt:lpstr>
      <vt:lpstr>Why Pipelines Are Hard</vt:lpstr>
      <vt:lpstr>What AI Brings to CI/CD</vt:lpstr>
      <vt:lpstr>GitHub Actions YAML Generation</vt:lpstr>
      <vt:lpstr>Anatomy of an AI-Generated Workflow</vt:lpstr>
      <vt:lpstr>Coverage Thresholds</vt:lpstr>
      <vt:lpstr>Build Automation Patterns</vt:lpstr>
      <vt:lpstr>Maintaining Pipelines with AI</vt:lpstr>
      <vt:lpstr>Reusable Workflows</vt:lpstr>
      <vt:lpstr>Secrets, Permissions, and Security</vt:lpstr>
      <vt:lpstr>From Zero to Pipeline: Live Workflow</vt:lpstr>
      <vt:lpstr>Hands-On Exercise</vt:lpstr>
      <vt:lpstr>Key Takeaways</vt:lpstr>
      <vt:lpstr>AI-Assisted GitHub Pull Requests</vt:lpstr>
      <vt:lpstr>The Pull Request Lifecycle</vt:lpstr>
      <vt:lpstr>AI-Generated PR Descriptions</vt:lpstr>
      <vt:lpstr>Writing Effective PR Prompts</vt:lpstr>
      <vt:lpstr>AI-Powered Code Review</vt:lpstr>
      <vt:lpstr>Copilot PR Summaries</vt:lpstr>
      <vt:lpstr>Responding to Review Feedback</vt:lpstr>
      <vt:lpstr>Automated PR Checks with AI</vt:lpstr>
      <vt:lpstr>Real-World Patterns</vt:lpstr>
      <vt:lpstr>Best Practices</vt:lpstr>
      <vt:lpstr>Getting Started</vt:lpstr>
      <vt:lpstr>Summary</vt:lpstr>
      <vt:lpstr>Multi-Model Implementation Comparison</vt:lpstr>
      <vt:lpstr>Implementing Changes With Different AI Models</vt:lpstr>
      <vt:lpstr>Comparing Approaches &amp; Outcomes</vt:lpstr>
      <vt:lpstr>Risk Assessment &amp; Quality Evaluation</vt:lpstr>
      <vt:lpstr>Best Practice Synthesis</vt:lpstr>
      <vt:lpstr>Exercise: Prompt Multiple Models to Address Technical Debt</vt:lpstr>
      <vt:lpstr>Exercise: Assigning an Issue to Multiple Models</vt:lpstr>
      <vt:lpstr>Exercise: Delegating Work to Multiple Models</vt:lpstr>
      <vt:lpstr>Evergreen Software Development - Core Principles</vt:lpstr>
      <vt:lpstr>Why Software Fails to Be Evergreen</vt:lpstr>
      <vt:lpstr>Course Modules</vt:lpstr>
      <vt:lpstr>Adding AI Guardrails</vt:lpstr>
      <vt:lpstr>Adding AI Guardrails</vt:lpstr>
      <vt:lpstr>Adding AI Guardrails</vt:lpstr>
      <vt:lpstr>Instructions, Prompts &amp; Agents</vt:lpstr>
      <vt:lpstr>Creating Instruction, Prompt &amp; Agent Files</vt:lpstr>
      <vt:lpstr>Meta Prompts</vt:lpstr>
      <vt:lpstr>Instructions for Generating Artifacts</vt:lpstr>
      <vt:lpstr>Enforcing Provenance for AI Artifacts</vt:lpstr>
      <vt:lpstr>Exercise: Copy the Core Instructions</vt:lpstr>
      <vt:lpstr>Instructions for AI Generated Artifacts</vt:lpstr>
      <vt:lpstr>AI-Assisted Output Instructions</vt:lpstr>
      <vt:lpstr>Required Provenance Metadata</vt:lpstr>
      <vt:lpstr>Metadata Placement Policy</vt:lpstr>
      <vt:lpstr>AI Chat Logging Workflow</vt:lpstr>
      <vt:lpstr>Quality &amp; PR Checklist</vt:lpstr>
      <vt:lpstr>Copilot Integration Requirements</vt:lpstr>
      <vt:lpstr>Enforcement &amp; Remediation</vt:lpstr>
      <vt:lpstr>Summary: Why This Matters</vt:lpstr>
      <vt:lpstr>Core Instruction files</vt:lpstr>
      <vt:lpstr>Exercise: Create a Prompt File</vt:lpstr>
      <vt:lpstr>Exercise: Create an Instruction File for Evergreen Development</vt:lpstr>
      <vt:lpstr>Exercise: Create an Agent</vt:lpstr>
      <vt:lpstr>Exercise: Generate Instruction Files</vt:lpstr>
      <vt:lpstr>Exercise: Context-Related Issues</vt:lpstr>
      <vt:lpstr>Instruction Files</vt:lpstr>
      <vt:lpstr>Persistent AI Behavioral Guidelines</vt:lpstr>
      <vt:lpstr>What Are Instruction Files?</vt:lpstr>
      <vt:lpstr>Instruction File Structure</vt:lpstr>
      <vt:lpstr>Instruction Files: Use Cases</vt:lpstr>
      <vt:lpstr>Instruction Files Best Practices</vt:lpstr>
      <vt:lpstr>🎯 Instruction File `applyTo` Patterns</vt:lpstr>
      <vt:lpstr>Where `appliesTo` Fits</vt:lpstr>
      <vt:lpstr>How `appliesTo` Interacts with the Stack</vt:lpstr>
      <vt:lpstr>📋 What is `applyTo`?</vt:lpstr>
      <vt:lpstr>🌐 Universal Application</vt:lpstr>
      <vt:lpstr>📝 File Extension Matching</vt:lpstr>
      <vt:lpstr>📁 Directory-Specific Patterns</vt:lpstr>
      <vt:lpstr>🔤 Glob Pattern Syntax</vt:lpstr>
      <vt:lpstr>💼 Real-World Examples</vt:lpstr>
      <vt:lpstr>🎯 Best Practices</vt:lpstr>
      <vt:lpstr>⚠️ Common Pitfalls</vt:lpstr>
      <vt:lpstr>🔍 Testing Your Patterns</vt:lpstr>
      <vt:lpstr>📚 Pattern Matching Rules</vt:lpstr>
      <vt:lpstr>🎓 Summary &amp; Best Practices</vt:lpstr>
      <vt:lpstr>💡 Resources &amp; Next Steps</vt:lpstr>
      <vt:lpstr>📧 Thank You!</vt:lpstr>
      <vt:lpstr>Core Instructions</vt:lpstr>
      <vt:lpstr>Organizational vs. Repository Instruction Files</vt:lpstr>
      <vt:lpstr>Why Two Instruction Layers Exist</vt:lpstr>
      <vt:lpstr>Business/Enterprise Tier Capabilities</vt:lpstr>
      <vt:lpstr>Path-Scoped Instruction Files</vt:lpstr>
      <vt:lpstr>Folder-Level Technology-Specific Rules</vt:lpstr>
      <vt:lpstr>Layering Model and Precedence</vt:lpstr>
      <vt:lpstr>Practical Governance Checklist</vt:lpstr>
      <vt:lpstr>Exercise: Technology Inventory &amp; Instruction Generation</vt:lpstr>
      <vt:lpstr>Course Modules</vt:lpstr>
      <vt:lpstr>Managing Context</vt:lpstr>
      <vt:lpstr>Managing Context</vt:lpstr>
      <vt:lpstr>Managing GitHub Copilot Effectively</vt:lpstr>
      <vt:lpstr>A Managed Junior Developer</vt:lpstr>
      <vt:lpstr>Understanding Context &amp; Tokens</vt:lpstr>
      <vt:lpstr>Prompt Engineering Best Practices</vt:lpstr>
      <vt:lpstr>Model Selection Strategies</vt:lpstr>
      <vt:lpstr>Managing Instruction Files &amp; Context Windows</vt:lpstr>
      <vt:lpstr>Instruction Sharing Strategies</vt:lpstr>
      <vt:lpstr>Instruction File Scope and Application</vt:lpstr>
      <vt:lpstr>Context Window Monitoring Tools</vt:lpstr>
      <vt:lpstr>Token Consumption Tracking</vt:lpstr>
      <vt:lpstr>Workflow Blueprint</vt:lpstr>
      <vt:lpstr>Practical Checklist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John Miller</dc:creator>
  <cp:lastModifiedBy>John Miller</cp:lastModifiedBy>
  <cp:revision>6</cp:revision>
  <dcterms:created xsi:type="dcterms:W3CDTF">2025-10-19T18:09:53Z</dcterms:created>
  <dcterms:modified xsi:type="dcterms:W3CDTF">2026-03-22T23:57:21Z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0x010100587004330F6D8B418A43481AAFC77453</vt:lpwstr>
  </property>
</Properties>
</file>