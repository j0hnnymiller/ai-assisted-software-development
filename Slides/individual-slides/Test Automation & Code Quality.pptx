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87" r:id="rId2"/>
    <p:sldId id="488" r:id="rId3"/>
    <p:sldId id="489" r:id="rId4"/>
    <p:sldId id="490" r:id="rId5"/>
    <p:sldId id="491" r:id="rId6"/>
    <p:sldId id="4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115358-7F1A-4157-9AE5-2E5CA74A7AFE}">
          <p14:sldIdLst/>
        </p14:section>
        <p14:section name="Test Automation &amp; Code Quality" id="{34680F62-5EF1-4102-988E-146E68642C27}">
          <p14:sldIdLst>
            <p14:sldId id="487"/>
            <p14:sldId id="488"/>
            <p14:sldId id="489"/>
            <p14:sldId id="490"/>
            <p14:sldId id="491"/>
            <p14:sldId id="49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62226-5769-49B5-98F8-31857187064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EB938-BD2A-43ED-AF7E-A628333D3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26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Introduce this module as the foundation for safe, predictable modernization.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Test automation and quality gates are the mechanisms that allow teams to move quickly without breaking brownfield systems.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AI accelerates these workflows but must be guided by strong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Explain that AI dramatically accelerates test creation, but humans still validate correctness and intent.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Emphasize that tests are only valuable when they reflect real business behavior, not just code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Static analysis tools catch syntax and style issues, but AI can reason about architecture, intent, and domain rules.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creates a deeper layer of quality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Coverage numbers alone are misleading.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AI helps teams understand whether tests are </a:t>
            </a:r>
            <a:r>
              <a:rPr i="1" dirty="0"/>
              <a:t>adequate</a:t>
            </a:r>
            <a:r>
              <a:rPr dirty="0"/>
              <a:t>, not just numerous. Adequacy is the real measure of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Quality gates turn best practices into automated enforcement.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They ensure that every change </a:t>
            </a:r>
            <a:r>
              <a:rPr lang="en-US" dirty="0"/>
              <a:t>–</a:t>
            </a:r>
            <a:r>
              <a:rPr dirty="0"/>
              <a:t> human or AI‑generated </a:t>
            </a:r>
            <a:r>
              <a:rPr lang="en-US" dirty="0"/>
              <a:t>–</a:t>
            </a:r>
            <a:r>
              <a:rPr dirty="0"/>
              <a:t> meets the team’s standards before merging.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Encourage participants to treat this as a real modernization task.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 goal is not to generate as many tests as possible </a:t>
            </a:r>
            <a:r>
              <a:rPr lang="en-US" dirty="0"/>
              <a:t>–</a:t>
            </a:r>
            <a:r>
              <a:rPr dirty="0"/>
              <a:t> it’s to improve the safety, clarity, and maintainability of the testing framework in a targeted, evergreen‑aligned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0239-BAB5-B554-F233-40907A1F0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95679-D07E-323D-97AD-218913713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F7E4B-28CA-9237-043F-77A0AE8F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FD8C9-C3B1-3531-87FB-A3413EE2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3BFC-BDE2-4A60-3011-6A7B1E6A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2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D701-C0A0-7D96-3AC7-DC6BB592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AA0B-F766-5FC1-1EB7-911D12646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5010F-0657-9842-8AED-F0379914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BB06C-588F-D297-0FC5-A34B021E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CBED0-C3A6-F529-FC64-9B5BA12D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6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8A7E-54DF-7EDB-520C-590091E72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7588E-563E-837E-4035-13D3FC36A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D82AA-283B-CF39-9F7B-4A66431C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661D1-927C-7AD7-B9D1-D486044F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A582E-13A9-6CB9-DFD8-F9FE717D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6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AD3F-3584-CA5E-E434-45C201D4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76342-7965-F1F9-2C8E-F801253E3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8C09B-0917-B9BC-3FF3-F8CF42F2E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649C0-85D3-4B2C-AB51-8D78BA7B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BC5DC-4F80-900B-767F-89F0B44D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A5785-E424-7DEF-281D-1A7A85D1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5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F671-F620-A817-8879-54932112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4A235-AF80-6086-68FD-33C0847E6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087A3-F6DC-A5C4-8EC8-981887EF2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35E82-DC0F-FC90-F8E1-38F46A621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CD104-F930-60D8-1A18-DCBD635FE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1746B-C3F3-020C-F022-A6A2CE66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3923B-3A73-9728-826E-21B9A522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BBF31-AE38-9D88-2CD3-92F59109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7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9A2E-0FE9-7925-C1E6-971C3EFF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4296B-9A1F-9B47-1106-352A946F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F06E8-48D1-67C7-5E44-BE9FD81D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8C526-C8DF-A42A-B57F-8B815BB2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1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52A6B-7FB9-382D-98C3-D6D20811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781E5-3C18-67B1-8FCF-7B841170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32799-718D-29AA-E95E-0321E7A4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2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F7765-9AE9-5D0C-275D-F5665D965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8D5A4-6702-6300-E4B9-C2EEF87F9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1013A-375E-F56D-4FBF-27B74373E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B3316-2645-A966-92C5-B2163427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3CBFD-BBC0-F870-5C95-37FE0AC2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D74FC-1CD8-6D12-DB5B-0D72A8EF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8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014D7-37F3-35B9-E9D5-E8E094D7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6B472B-485F-523E-15AF-BF0E264D5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EEC8A-93BC-C2F9-377B-E9D0F5F87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38CEF-209D-5882-6115-CF10C925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7C1BA-5BD4-A0B3-5600-130ED6FD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1E555-ECA2-8DB1-154E-7778EEA7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3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ACB8-5250-B85B-11D0-B3B45468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1325D-3116-5081-11D8-5C9702DB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948C-6543-0062-7B45-B69AD9D5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52EC1-4F4E-2476-CDEB-B119E7D3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E65E3-42C0-8CB4-693A-B22A77F4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8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3DA9A-716F-A4F3-2CAB-C2682A244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48AE0-FD2C-B33A-7A7A-710C6DB46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74C0E-AC9A-5865-547C-45EEA47E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C631A-A45E-E74B-C033-6A418003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7A299-48EB-DC83-D206-9F2A5277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9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AA704-70E4-B645-C19B-73396FA3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1F30A-41BF-A6DB-7636-7CA848525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91206-5C38-FA33-EACD-073BA56B9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7EABB-7E17-4432-9EDC-EE7AC7DB14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B1C9-267C-BE5B-C965-7015806BB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3C3CD-B26E-88DB-7E10-D7CE8541E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9C65C-E92E-469E-9031-7F87E564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9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Test Automation &amp; Code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AI‑assisted test generation (unit, integration, E2E)</a:t>
            </a:r>
          </a:p>
          <a:p>
            <a:pPr lvl="0"/>
            <a:r>
              <a:t>Intelligent linting beyond static analysis</a:t>
            </a:r>
          </a:p>
          <a:p>
            <a:pPr lvl="0"/>
            <a:r>
              <a:t>Coverage analysis and test adequacy assessment</a:t>
            </a:r>
          </a:p>
          <a:p>
            <a:pPr lvl="0"/>
            <a:r>
              <a:t>Automated quality gates</a:t>
            </a:r>
          </a:p>
          <a:p>
            <a:pPr lvl="0"/>
            <a:r>
              <a:t>Exercise: Strengthening test automation &amp;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AI‑Assisted Test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generate:</a:t>
            </a:r>
          </a:p>
          <a:p>
            <a:pPr lvl="0"/>
            <a:r>
              <a:rPr b="1"/>
              <a:t>Unit tests</a:t>
            </a:r>
            <a:r>
              <a:t> for functions, classes, and utilities</a:t>
            </a:r>
          </a:p>
          <a:p>
            <a:pPr lvl="0"/>
            <a:r>
              <a:rPr b="1"/>
              <a:t>Integration tests</a:t>
            </a:r>
            <a:r>
              <a:t> for module interactions</a:t>
            </a:r>
          </a:p>
          <a:p>
            <a:pPr lvl="0"/>
            <a:r>
              <a:rPr b="1"/>
              <a:t>End‑to‑end tests</a:t>
            </a:r>
            <a:r>
              <a:t> for full workflows</a:t>
            </a:r>
          </a:p>
          <a:p>
            <a:pPr lvl="0"/>
            <a:r>
              <a:rPr b="1"/>
              <a:t>Edge‑case tests</a:t>
            </a:r>
            <a:r>
              <a:t> and regression scenarios</a:t>
            </a:r>
          </a:p>
          <a:p>
            <a:pPr lvl="0"/>
            <a:r>
              <a:rPr b="1"/>
              <a:t>Contract tests</a:t>
            </a:r>
            <a:r>
              <a:t> for APIs and services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Benefits</a:t>
            </a:r>
          </a:p>
          <a:p>
            <a:pPr lvl="0"/>
            <a:r>
              <a:t>Rapid coverage expansion</a:t>
            </a:r>
          </a:p>
          <a:p>
            <a:pPr lvl="0"/>
            <a:r>
              <a:t>Consistent structure and naming</a:t>
            </a:r>
          </a:p>
          <a:p>
            <a:pPr lvl="0"/>
            <a:r>
              <a:t>Reduced onboarding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Intelligent Linting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AI‑enhanced linting can detect:</a:t>
            </a:r>
          </a:p>
          <a:p>
            <a:pPr lvl="0"/>
            <a:r>
              <a:t>Architectural violations</a:t>
            </a:r>
          </a:p>
          <a:p>
            <a:pPr lvl="0"/>
            <a:r>
              <a:t>Anti‑patterns</a:t>
            </a:r>
          </a:p>
          <a:p>
            <a:pPr lvl="0"/>
            <a:r>
              <a:t>Unsafe refactors</a:t>
            </a:r>
          </a:p>
          <a:p>
            <a:pPr lvl="0"/>
            <a:r>
              <a:t>Missing documentation</a:t>
            </a:r>
          </a:p>
          <a:p>
            <a:pPr lvl="0"/>
            <a:r>
              <a:t>Inconsistent naming or domain terminology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Why it matters</a:t>
            </a:r>
          </a:p>
          <a:p>
            <a:pPr lvl="0"/>
            <a:r>
              <a:t>Goes beyond syntax</a:t>
            </a:r>
          </a:p>
          <a:p>
            <a:pPr lvl="0"/>
            <a:r>
              <a:t>Enforces architectural guardrails</a:t>
            </a:r>
          </a:p>
          <a:p>
            <a:pPr lvl="0"/>
            <a:r>
              <a:t>Reduces long‑term technical debt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Coverage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help evaluate:</a:t>
            </a:r>
          </a:p>
          <a:p>
            <a:pPr lvl="0"/>
            <a:r>
              <a:t>Coverage gaps</a:t>
            </a:r>
          </a:p>
          <a:p>
            <a:pPr lvl="0"/>
            <a:r>
              <a:t>Missing edge cases</a:t>
            </a:r>
          </a:p>
          <a:p>
            <a:pPr lvl="0"/>
            <a:r>
              <a:t>Over‑testing of implementation details</a:t>
            </a:r>
          </a:p>
          <a:p>
            <a:pPr lvl="0"/>
            <a:r>
              <a:t>Under‑testing of business logic</a:t>
            </a:r>
          </a:p>
          <a:p>
            <a:pPr lvl="0"/>
            <a:r>
              <a:t>Redundant or brittle tests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Outcomes</a:t>
            </a:r>
          </a:p>
          <a:p>
            <a:pPr lvl="0"/>
            <a:r>
              <a:t>More meaningful coverage</a:t>
            </a:r>
          </a:p>
          <a:p>
            <a:pPr lvl="0"/>
            <a:r>
              <a:t>Better alignment with real behavior</a:t>
            </a:r>
          </a:p>
          <a:p>
            <a:pPr lvl="0"/>
            <a:r>
              <a:t>Reduced maintenance burden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Automated Quality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Quality gates can enforce:</a:t>
            </a:r>
          </a:p>
          <a:p>
            <a:pPr lvl="0"/>
            <a:r>
              <a:t>Minimum test coverage</a:t>
            </a:r>
          </a:p>
          <a:p>
            <a:pPr lvl="0"/>
            <a:r>
              <a:t>Linting and architectural checks</a:t>
            </a:r>
          </a:p>
          <a:p>
            <a:pPr lvl="0"/>
            <a:r>
              <a:t>Provenance requirements</a:t>
            </a:r>
          </a:p>
          <a:p>
            <a:pPr lvl="0"/>
            <a:r>
              <a:t>PR‑level test generation</a:t>
            </a:r>
          </a:p>
          <a:p>
            <a:pPr lvl="0"/>
            <a:r>
              <a:t>Risk scoring for changes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Benefits</a:t>
            </a:r>
          </a:p>
          <a:p>
            <a:pPr lvl="0"/>
            <a:r>
              <a:t>Prevents regressions</a:t>
            </a:r>
          </a:p>
          <a:p>
            <a:pPr lvl="0"/>
            <a:r>
              <a:t>Ensures consistent quality</a:t>
            </a:r>
          </a:p>
          <a:p>
            <a:pPr lvl="0"/>
            <a:r>
              <a:t>Supports evergreen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Strengthening Test Automation &amp; Code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20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Identify gaps in test automation</a:t>
            </a:r>
          </a:p>
          <a:p>
            <a:pPr lvl="0"/>
            <a:r>
              <a:rPr dirty="0"/>
              <a:t>Use AI to generate missing tests</a:t>
            </a:r>
          </a:p>
          <a:p>
            <a:pPr lvl="0"/>
            <a:r>
              <a:rPr dirty="0"/>
              <a:t>Apply intelligent linting and quality gates</a:t>
            </a:r>
          </a:p>
          <a:p>
            <a:pPr lvl="0"/>
            <a:r>
              <a:rPr dirty="0"/>
              <a:t>Validate test adequacy and architectural alignment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a brownfield module or function.</a:t>
            </a:r>
          </a:p>
          <a:p>
            <a:pPr marL="457189" indent="-457189">
              <a:buAutoNum type="arabicPeriod"/>
            </a:pPr>
            <a:r>
              <a:rPr dirty="0"/>
              <a:t>Review existing tests for:</a:t>
            </a:r>
          </a:p>
          <a:p>
            <a:pPr lvl="1"/>
            <a:r>
              <a:rPr dirty="0"/>
              <a:t>Coverage gaps</a:t>
            </a:r>
          </a:p>
          <a:p>
            <a:pPr lvl="1"/>
            <a:r>
              <a:rPr dirty="0"/>
              <a:t>Missing edge cases</a:t>
            </a:r>
          </a:p>
          <a:p>
            <a:pPr lvl="1"/>
            <a:r>
              <a:rPr dirty="0"/>
              <a:t>Redundant or brittle tests</a:t>
            </a:r>
          </a:p>
          <a:p>
            <a:pPr marL="457189" indent="-457189">
              <a:buAutoNum type="arabicPeriod"/>
            </a:pPr>
            <a:r>
              <a:rPr dirty="0"/>
              <a:t>Ask AI to generate missing tests.</a:t>
            </a:r>
          </a:p>
          <a:p>
            <a:pPr marL="457189" indent="-457189">
              <a:buAutoNum type="arabicPeriod"/>
            </a:pPr>
            <a:r>
              <a:rPr dirty="0"/>
              <a:t>Run linting and architectural checks.</a:t>
            </a:r>
          </a:p>
          <a:p>
            <a:pPr marL="457189" indent="-457189">
              <a:buAutoNum type="arabicPeriod"/>
            </a:pPr>
            <a:r>
              <a:rPr dirty="0"/>
              <a:t>Propose quality gates to enforce improvements.</a:t>
            </a:r>
          </a:p>
          <a:p>
            <a:pPr marL="457189" indent="-457189">
              <a:buAutoNum type="arabicPeriod"/>
            </a:pPr>
            <a:r>
              <a:rPr dirty="0"/>
              <a:t>Add provenance metadata to all new artifacts.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Coverage gaps are identified and addressed</a:t>
            </a:r>
          </a:p>
          <a:p>
            <a:pPr lvl="0"/>
            <a:r>
              <a:rPr dirty="0"/>
              <a:t>AI‑generated tests are validated and correct</a:t>
            </a:r>
          </a:p>
          <a:p>
            <a:pPr lvl="0"/>
            <a:r>
              <a:rPr dirty="0"/>
              <a:t>Linting and architectural issues are resolved</a:t>
            </a:r>
          </a:p>
          <a:p>
            <a:pPr lvl="0"/>
            <a:r>
              <a:rPr dirty="0"/>
              <a:t>Proposed quality gates are actionable and safe</a:t>
            </a:r>
          </a:p>
          <a:p>
            <a:pPr lvl="0"/>
            <a:r>
              <a:rPr dirty="0"/>
              <a:t>Provenance metadata is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Widescreen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Test Automation &amp; Code Quality</vt:lpstr>
      <vt:lpstr>AI‑Assisted Test Generation</vt:lpstr>
      <vt:lpstr>Intelligent Linting</vt:lpstr>
      <vt:lpstr>Coverage Analysis</vt:lpstr>
      <vt:lpstr>Automated Quality Gates</vt:lpstr>
      <vt:lpstr>Exercise: Strengthening Test Automation &amp; Code Quality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2026-03-05T20:59:50Z</dcterms:created>
  <dcterms:modified xsi:type="dcterms:W3CDTF">2026-03-05T21:00:24Z</dcterms:modified>
</cp:coreProperties>
</file>