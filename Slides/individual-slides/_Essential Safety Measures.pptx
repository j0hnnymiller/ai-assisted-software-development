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66" r:id="rId2"/>
    <p:sldId id="367" r:id="rId3"/>
    <p:sldId id="368" r:id="rId4"/>
    <p:sldId id="369" r:id="rId5"/>
    <p:sldId id="370" r:id="rId6"/>
    <p:sldId id="371" r:id="rId7"/>
    <p:sldId id="3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3820AA-BAAA-43D0-A9F3-25840B618F47}">
          <p14:sldIdLst/>
        </p14:section>
        <p14:section name="Essential Safety Measures" id="{F971FACE-ABEB-4D14-A888-539892C2B03F}">
          <p14:sldIdLst>
            <p14:sldId id="366"/>
            <p14:sldId id="367"/>
            <p14:sldId id="368"/>
            <p14:sldId id="369"/>
            <p14:sldId id="370"/>
            <p14:sldId id="371"/>
            <p14:sldId id="3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67551-B528-4816-B76E-21383C29649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4CEC5-82E4-4608-87A2-4FDE9B593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14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the stage: AI doesn’t replace engineering discipline — it amplifies it.</a:t>
            </a:r>
          </a:p>
          <a:p>
            <a:endParaRPr lang="en-US" dirty="0"/>
          </a:p>
          <a:p>
            <a:r>
              <a:rPr lang="en-US" dirty="0"/>
              <a:t> Before we let AI touch a brownfield system, we need guardrails. </a:t>
            </a:r>
          </a:p>
          <a:p>
            <a:endParaRPr lang="en-US" dirty="0"/>
          </a:p>
          <a:p>
            <a:r>
              <a:rPr lang="en-US" dirty="0"/>
              <a:t>These safety measures aren’t optional; they’re what make AI‑assisted development sustainable and safe. </a:t>
            </a:r>
          </a:p>
          <a:p>
            <a:endParaRPr lang="en-US" dirty="0"/>
          </a:p>
          <a:p>
            <a:r>
              <a:rPr lang="en-US" dirty="0"/>
              <a:t>Think of them as the foundation that keeps modernization from turning into accidental rewrites or regressions.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42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can produce large changes quickly. </a:t>
            </a:r>
          </a:p>
          <a:p>
            <a:endParaRPr lang="en-US" dirty="0"/>
          </a:p>
          <a:p>
            <a:r>
              <a:rPr lang="en-US" dirty="0"/>
              <a:t>That’s powerful — and dangerous without rollback. </a:t>
            </a:r>
          </a:p>
          <a:p>
            <a:endParaRPr lang="en-US" dirty="0"/>
          </a:p>
          <a:p>
            <a:r>
              <a:rPr lang="en-US" dirty="0"/>
              <a:t>Branches, frequent commits, and archives give you a safety net. </a:t>
            </a:r>
          </a:p>
          <a:p>
            <a:endParaRPr lang="en-US" dirty="0"/>
          </a:p>
          <a:p>
            <a:r>
              <a:rPr lang="en-US" dirty="0"/>
              <a:t>The goal is simple: no AI‑generated change should ever put you in a position where you can’t easily go back. </a:t>
            </a:r>
          </a:p>
          <a:p>
            <a:endParaRPr lang="en-US" dirty="0"/>
          </a:p>
          <a:p>
            <a:r>
              <a:rPr lang="en-US" dirty="0"/>
              <a:t>Rollback confidence is what enables experimentation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18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can help generate tests, but you need a baseline first. </a:t>
            </a:r>
          </a:p>
          <a:p>
            <a:endParaRPr lang="en-US" dirty="0"/>
          </a:p>
          <a:p>
            <a:r>
              <a:rPr lang="en-US" dirty="0"/>
              <a:t>Without a reliable test suite, you’re flying blind. </a:t>
            </a:r>
          </a:p>
          <a:p>
            <a:endParaRPr lang="en-US" dirty="0"/>
          </a:p>
          <a:p>
            <a:r>
              <a:rPr lang="en-US" dirty="0"/>
              <a:t>The goal isn’t 100% coverage — it’s meaningful coverage. </a:t>
            </a:r>
          </a:p>
          <a:p>
            <a:endParaRPr lang="en-US" dirty="0"/>
          </a:p>
          <a:p>
            <a:r>
              <a:rPr lang="en-US" dirty="0"/>
              <a:t>Tests should give you confidence that AI‑generated changes behave the same as before unless intentionally modified. </a:t>
            </a:r>
          </a:p>
          <a:p>
            <a:endParaRPr lang="en-US" dirty="0"/>
          </a:p>
          <a:p>
            <a:r>
              <a:rPr lang="en-US" dirty="0"/>
              <a:t>This is what makes modernization safe instead of risky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22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fast, but it’s not authoritative. </a:t>
            </a:r>
          </a:p>
          <a:p>
            <a:endParaRPr lang="en-US" dirty="0"/>
          </a:p>
          <a:p>
            <a:r>
              <a:rPr lang="en-US" dirty="0"/>
              <a:t>Every change needs review — not because AI is untrustworthy, but because context matters. </a:t>
            </a:r>
          </a:p>
          <a:p>
            <a:endParaRPr lang="en-US" dirty="0"/>
          </a:p>
          <a:p>
            <a:r>
              <a:rPr lang="en-US" dirty="0"/>
              <a:t>Humans validate intent, architecture, and alignment with business rules. </a:t>
            </a:r>
          </a:p>
          <a:p>
            <a:endParaRPr lang="en-US" dirty="0"/>
          </a:p>
          <a:p>
            <a:r>
              <a:rPr lang="en-US" dirty="0"/>
              <a:t>Automated checks enforce consistency. </a:t>
            </a:r>
          </a:p>
          <a:p>
            <a:endParaRPr lang="en-US" dirty="0"/>
          </a:p>
          <a:p>
            <a:r>
              <a:rPr lang="en-US" dirty="0"/>
              <a:t>Together, they create a multi‑layered review process that keeps quality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87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Incrementalism is the antidote to brownfield fear. </a:t>
            </a:r>
          </a:p>
          <a:p>
            <a:endParaRPr lang="en-US" dirty="0"/>
          </a:p>
          <a:p>
            <a:r>
              <a:rPr lang="en-US" dirty="0"/>
              <a:t>AI makes it tempting to modernize huge sections at once, but that’s where risk spikes. </a:t>
            </a:r>
          </a:p>
          <a:p>
            <a:endParaRPr lang="en-US" dirty="0"/>
          </a:p>
          <a:p>
            <a:r>
              <a:rPr lang="en-US" dirty="0"/>
              <a:t>Instead, treat modernization as a series of controlled, reversible steps. </a:t>
            </a:r>
          </a:p>
          <a:p>
            <a:endParaRPr lang="en-US" dirty="0"/>
          </a:p>
          <a:p>
            <a:r>
              <a:rPr lang="en-US" dirty="0"/>
              <a:t>Each step builds confidence. </a:t>
            </a:r>
          </a:p>
          <a:p>
            <a:endParaRPr lang="en-US" dirty="0"/>
          </a:p>
          <a:p>
            <a:r>
              <a:rPr lang="en-US" dirty="0"/>
              <a:t>Each step is testable. </a:t>
            </a:r>
          </a:p>
          <a:p>
            <a:endParaRPr lang="en-US" dirty="0"/>
          </a:p>
          <a:p>
            <a:r>
              <a:rPr lang="en-US" dirty="0"/>
              <a:t>Each step is safe. </a:t>
            </a:r>
          </a:p>
          <a:p>
            <a:endParaRPr lang="en-US" dirty="0"/>
          </a:p>
          <a:p>
            <a:r>
              <a:rPr lang="en-US" dirty="0"/>
              <a:t>This is how evergreen systems emerge.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12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tends to produce large outputs unless constrained. </a:t>
            </a:r>
          </a:p>
          <a:p>
            <a:endParaRPr lang="en-US" dirty="0"/>
          </a:p>
          <a:p>
            <a:r>
              <a:rPr lang="en-US" dirty="0"/>
              <a:t>Your job is to keep the scope tight. </a:t>
            </a:r>
          </a:p>
          <a:p>
            <a:endParaRPr lang="en-US" dirty="0"/>
          </a:p>
          <a:p>
            <a:r>
              <a:rPr lang="en-US" dirty="0"/>
              <a:t>Small change sets are easier to understand, easier to test, and easier to roll back. </a:t>
            </a:r>
          </a:p>
          <a:p>
            <a:endParaRPr lang="en-US" dirty="0"/>
          </a:p>
          <a:p>
            <a:r>
              <a:rPr lang="en-US" dirty="0"/>
              <a:t>They also reduce cognitive load for reviewers. </a:t>
            </a:r>
          </a:p>
          <a:p>
            <a:endParaRPr lang="en-US" dirty="0"/>
          </a:p>
          <a:p>
            <a:r>
              <a:rPr lang="en-US" dirty="0"/>
              <a:t>This is how you maintain control while still benefiting from AI’s speed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70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Respect is a core principle. </a:t>
            </a:r>
          </a:p>
          <a:p>
            <a:endParaRPr lang="en-US" dirty="0"/>
          </a:p>
          <a:p>
            <a:r>
              <a:rPr lang="en-US" dirty="0"/>
              <a:t>Brownfield systems have survived real‑world conditions. </a:t>
            </a:r>
          </a:p>
          <a:p>
            <a:endParaRPr lang="en-US" dirty="0"/>
          </a:p>
          <a:p>
            <a:r>
              <a:rPr lang="en-US" dirty="0"/>
              <a:t>They contain institutional knowledge and business logic that may not be documented anywhere else. </a:t>
            </a:r>
          </a:p>
          <a:p>
            <a:endParaRPr lang="en-US" dirty="0"/>
          </a:p>
          <a:p>
            <a:r>
              <a:rPr lang="en-US" dirty="0"/>
              <a:t>AI can help modernize them, but only if we approach them with humility. </a:t>
            </a:r>
          </a:p>
          <a:p>
            <a:endParaRPr lang="en-US" dirty="0"/>
          </a:p>
          <a:p>
            <a:r>
              <a:rPr lang="en-US" dirty="0"/>
              <a:t>The goal is not to erase the past – it’s to evolve it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70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7293-2AAC-1FC8-939B-0A4CEB424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9DE5B-BA34-3F6D-065C-8DA1E9B80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D7B9D-AF96-C5D0-946D-F7BA7C18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66DBF-6B39-8035-7F51-AA4EE13C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5974C-D379-9B28-A0C7-EC081FBD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1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227AF-C552-3F91-C0E9-4E63BFBAA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4D10D-69A9-E4DE-096E-FC66631D2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17214-B8E6-CE97-A1D5-BA21D6F0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82959-1E88-0105-13CB-5055FAFE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83018-BF79-7AFC-5155-80907A5F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31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AD557-50CB-ACF9-E42B-DCC2AA67C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C687A-E966-3FEF-A42E-788BF5F17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FEC71-14C5-64CC-AAE7-A2483AC4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1234F-9A9A-BC91-3C84-B1B9D2C7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DF9EF-FAB1-6C0F-2B9A-322E943C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2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3082-C546-804C-F73F-D0A0A5B5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638A4-B1FE-9993-AE23-007659810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9ACF6-64CC-6650-F690-FC430B8A6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0AFA9-2095-9034-3911-DC03BBFC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09DAB-FD10-CC77-018D-15B68E29E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9C435-EAB5-C7ED-F7B3-48C64A0F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3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02E9-394D-4E53-E7AD-C1D52ECD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95361-AA27-81DA-EC1B-2F42E16DA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56815-0394-BFF4-0D00-320319EC3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0CE00E-F40C-0991-E98C-B79D2EBCD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C32A96-3D63-AA64-AFAC-C77690EC0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7B3FE-CBC7-CFCC-C36B-BE8DE7665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1B6E1C-C0CE-8C2F-3F14-B6E11123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9C1133-13E6-7BA3-C32D-9E11297D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48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163E6-145D-A5E8-865D-456B312B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61C11-67CB-A744-3F09-FC00E443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DF795-C8DF-1747-FBEA-7C7F5C03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8A6E94-9CFB-E07E-D4D7-69760062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405BE-BB6A-8474-D8CF-8B1BFCD1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D5B66-F38F-A79E-537A-97C3ED5DF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7AC4C-C806-DE81-AD11-E8C67F5E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71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1ECA-DC12-7D0A-0ED5-30794826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2F8FF-517E-F7E3-6C11-CEE901F64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F3DE5-C587-6CA0-74A0-25FA6CE62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B70F7-D6AD-E093-87D6-D202BCDC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98190-6703-614B-A122-224CB4BAE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BB760-CF2B-AAC5-43F0-9497AFD9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0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B2AB-79EC-CAAE-ADC9-B4D4DD8E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E2C89-3D7F-0D7A-AB9E-9AD79BA10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64761-FCDD-35CB-2884-3F75807B5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44CE-8B14-47C8-497E-6CC516F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ED37A-F4C6-5343-3569-CB7EC99B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F45E1-3395-A2A6-CA21-6DDD834A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74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44DA-9F2E-6A1F-650D-062B90AC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800C2-B64A-99CF-78C0-9FDC4BFE2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57675-1512-72CB-C86F-974E7BC9E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081CD-12E9-C07E-5635-5CBEE1FA0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3A8FD-ED84-7005-4FE2-87AB56B5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61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BE837F-9371-8325-7A5D-D3A0A0A15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08E63-4B74-2AC3-C9FD-8761ACB0E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2FA6D-425F-5FAF-E00D-45BDF58B4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6388D-4BE7-A3D0-82D5-E234D48FF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E19C0-266A-EEC0-B51D-37999B84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C0B0B7-0775-4C5F-26E3-B1ED750BC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A0871-41A4-15C7-A356-D887A9CEA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B3A75-7ED6-00FE-A4EC-6AC2E5DCA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FC8CE-0F3A-477A-A43E-8DB1F7434D2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BEC5E-3565-0C1B-F943-4A6A2313B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CD32D-A4D9-DF8E-9122-0CFDFEF2A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A50A7C-D747-4D4C-A48E-A92839617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39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ernewsbooks.com/book/working-effectively-with-legacy-code/86d3016f73c0da5b8a9dca52f0dc723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9DDA-4883-A20C-36A1-CCEF305F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Essential Safety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CE7F-D3FA-1841-7E9A-A18C9B1F3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AI accelerates development, but it also accelerates mistakes</a:t>
            </a:r>
          </a:p>
          <a:p>
            <a:r>
              <a:rPr lang="en-US" dirty="0"/>
              <a:t>Strong safety nets must be in place before introducing AI into a brownfield codebase</a:t>
            </a:r>
          </a:p>
          <a:p>
            <a:r>
              <a:rPr lang="en-US" dirty="0"/>
              <a:t>These practices reduce risk, increase confidence, and protect production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174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D515-9199-7628-36FA-5D282B75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Backup &amp; Rollback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6C9D8-6595-6F9D-ACF7-D358E506E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Use branching strategies that isolate AI‑generated changes</a:t>
            </a:r>
          </a:p>
          <a:p>
            <a:r>
              <a:rPr lang="en-US" dirty="0"/>
              <a:t>Commit early and often to create natural rollback points</a:t>
            </a:r>
          </a:p>
          <a:p>
            <a:r>
              <a:rPr lang="en-US" dirty="0"/>
              <a:t>Archive snapshots of critical modules before modernization</a:t>
            </a:r>
          </a:p>
          <a:p>
            <a:r>
              <a:rPr lang="en-US" dirty="0"/>
              <a:t>Ensure you can revert any AI‑assisted change without drama</a:t>
            </a:r>
          </a:p>
          <a:p>
            <a:r>
              <a:rPr lang="en-US" dirty="0"/>
              <a:t>Use feature flags to separate release from 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138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315C-6B89-4FF4-5432-1E362C37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Confidence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0B95D-2B73-AC76-3F27-719A17F7D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Strong tests are the backbone of safe AI‑assisted refactoring</a:t>
            </a:r>
          </a:p>
          <a:p>
            <a:r>
              <a:rPr lang="en-US" dirty="0"/>
              <a:t>Unit, integration, and behavioral tests validate AI output</a:t>
            </a:r>
          </a:p>
          <a:p>
            <a:r>
              <a:rPr lang="en-US" dirty="0"/>
              <a:t>Coverage matters less than signal quality</a:t>
            </a:r>
          </a:p>
          <a:p>
            <a:r>
              <a:rPr lang="en-US" dirty="0"/>
              <a:t>Tests should detect regressions, not just assert happy paths</a:t>
            </a:r>
          </a:p>
          <a:p>
            <a:r>
              <a:rPr lang="en-US" dirty="0"/>
              <a:t>If all of the test automation passes, how confident are you to deploy to production?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32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330E-7501-BFC5-F921-52AA32C8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 Review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7DE67-3E71-9D9D-EC55-9BFB68BDC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Treat AI as a junior developer: everything gets reviewed</a:t>
            </a:r>
          </a:p>
          <a:p>
            <a:r>
              <a:rPr lang="en-US" dirty="0"/>
              <a:t>Use human‑in‑the‑loop validation for correctness and intent</a:t>
            </a:r>
          </a:p>
          <a:p>
            <a:r>
              <a:rPr lang="en-US" dirty="0"/>
              <a:t>Require architectural review for structural changes</a:t>
            </a:r>
          </a:p>
          <a:p>
            <a:r>
              <a:rPr lang="en-US" dirty="0"/>
              <a:t>Enforce standards through linters, static analysis, and policy checks</a:t>
            </a:r>
          </a:p>
          <a:p>
            <a:r>
              <a:rPr lang="en-US" dirty="0"/>
              <a:t>Leverage AI to reduce the review burden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14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D900-F4F9-CEC2-B836-505F0598F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733" dirty="0"/>
              <a:t>Incremental Change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2BA75-A301-EF95-149A-8D3A512C0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Break modernization into small, safe, reversible steps</a:t>
            </a:r>
          </a:p>
          <a:p>
            <a:r>
              <a:rPr lang="en-US" dirty="0"/>
              <a:t>Avoid “big bang” refactors – they’re brittle and risky</a:t>
            </a:r>
          </a:p>
          <a:p>
            <a:r>
              <a:rPr lang="en-US" dirty="0"/>
              <a:t>Use iterative loops: propose → validate → refine → commit</a:t>
            </a:r>
          </a:p>
          <a:p>
            <a:r>
              <a:rPr lang="en-US" dirty="0"/>
              <a:t>Let AI assist with each step rather than entire subsystems at once</a:t>
            </a: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Working Effectively with Legacy Code | Hacker News Books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936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7AED-EB1A-2811-0735-CE5FD8107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Keeping Change Sets Small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577C-DB0C-066E-BDB2-AE67F6A56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Small diffs are easier to review and validate</a:t>
            </a:r>
          </a:p>
          <a:p>
            <a:r>
              <a:rPr lang="en-US" dirty="0"/>
              <a:t>Small changes reduce merge conflicts and regression risk</a:t>
            </a:r>
          </a:p>
          <a:p>
            <a:r>
              <a:rPr lang="en-US" dirty="0"/>
              <a:t>AI should be instructed to limit scope intentionally</a:t>
            </a:r>
          </a:p>
          <a:p>
            <a:r>
              <a:rPr lang="en-US" dirty="0"/>
              <a:t>Small changes accumulate into large improvements over time</a:t>
            </a:r>
          </a:p>
          <a:p>
            <a:r>
              <a:rPr lang="en-US" dirty="0"/>
              <a:t>Beware: AI can produce huge amounts of code quickly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28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2F496-DB76-CB78-E1E9-098C0DD78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Respecting Brownfield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4EC1-EF51-8B3B-E691-E0663FC15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Brownfield systems are valuable – they run the business</a:t>
            </a:r>
          </a:p>
          <a:p>
            <a:r>
              <a:rPr lang="en-US" dirty="0"/>
              <a:t>Avoid assumptions that “old” means “wrong”</a:t>
            </a:r>
          </a:p>
          <a:p>
            <a:r>
              <a:rPr lang="en-US" dirty="0"/>
              <a:t>Understand the constraints that shaped the existing design</a:t>
            </a:r>
          </a:p>
          <a:p>
            <a:r>
              <a:rPr lang="en-US" dirty="0"/>
              <a:t>Modernize with empathy, not aggression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185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Office PowerPoint</Application>
  <PresentationFormat>Widescreen</PresentationFormat>
  <Paragraphs>112</Paragraphs>
  <Slides>7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Essential Safety Measures</vt:lpstr>
      <vt:lpstr>Backup &amp; Rollback Strategies</vt:lpstr>
      <vt:lpstr>Confidence Frameworks</vt:lpstr>
      <vt:lpstr>Change Review Processes</vt:lpstr>
      <vt:lpstr>Incremental Change Methodology</vt:lpstr>
      <vt:lpstr>Keeping Change Sets Small</vt:lpstr>
      <vt:lpstr>Respecting Brownfield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2026-03-05T20:34:07Z</dcterms:created>
  <dcterms:modified xsi:type="dcterms:W3CDTF">2026-03-05T20:34:49Z</dcterms:modified>
</cp:coreProperties>
</file>