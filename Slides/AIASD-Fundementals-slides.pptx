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2.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3.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4.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app0.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package/2006/relationships/metadata/extended-properties" Target="docProps/app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87"/>
  </p:notesMasterIdLst>
  <p:sldIdLst>
    <p:sldId id="256" r:id="rId2"/>
    <p:sldId id="257" r:id="rId3"/>
    <p:sldId id="258" r:id="rId4"/>
    <p:sldId id="358" r:id="rId5"/>
    <p:sldId id="260" r:id="rId6"/>
    <p:sldId id="357" r:id="rId7"/>
    <p:sldId id="261" r:id="rId8"/>
    <p:sldId id="327" r:id="rId9"/>
    <p:sldId id="326" r:id="rId10"/>
    <p:sldId id="356" r:id="rId11"/>
    <p:sldId id="262" r:id="rId12"/>
    <p:sldId id="263" r:id="rId13"/>
    <p:sldId id="264" r:id="rId14"/>
    <p:sldId id="265" r:id="rId15"/>
    <p:sldId id="266" r:id="rId16"/>
    <p:sldId id="267" r:id="rId17"/>
    <p:sldId id="268" r:id="rId18"/>
    <p:sldId id="355" r:id="rId19"/>
    <p:sldId id="269" r:id="rId20"/>
    <p:sldId id="294" r:id="rId21"/>
    <p:sldId id="295" r:id="rId22"/>
    <p:sldId id="296" r:id="rId23"/>
    <p:sldId id="297" r:id="rId24"/>
    <p:sldId id="298" r:id="rId25"/>
    <p:sldId id="299" r:id="rId26"/>
    <p:sldId id="300" r:id="rId27"/>
    <p:sldId id="354" r:id="rId28"/>
    <p:sldId id="270" r:id="rId29"/>
    <p:sldId id="271" r:id="rId30"/>
    <p:sldId id="272" r:id="rId31"/>
    <p:sldId id="273" r:id="rId32"/>
    <p:sldId id="274" r:id="rId33"/>
    <p:sldId id="275" r:id="rId34"/>
    <p:sldId id="276" r:id="rId35"/>
    <p:sldId id="277" r:id="rId36"/>
    <p:sldId id="278" r:id="rId37"/>
    <p:sldId id="279" r:id="rId38"/>
    <p:sldId id="353" r:id="rId39"/>
    <p:sldId id="282" r:id="rId40"/>
    <p:sldId id="289" r:id="rId41"/>
    <p:sldId id="290" r:id="rId42"/>
    <p:sldId id="324" r:id="rId43"/>
    <p:sldId id="284" r:id="rId44"/>
    <p:sldId id="291" r:id="rId45"/>
    <p:sldId id="341" r:id="rId46"/>
    <p:sldId id="352" r:id="rId47"/>
    <p:sldId id="302" r:id="rId48"/>
    <p:sldId id="305" r:id="rId49"/>
    <p:sldId id="306" r:id="rId50"/>
    <p:sldId id="307" r:id="rId51"/>
    <p:sldId id="308" r:id="rId52"/>
    <p:sldId id="309" r:id="rId53"/>
    <p:sldId id="310" r:id="rId54"/>
    <p:sldId id="311" r:id="rId55"/>
    <p:sldId id="312" r:id="rId56"/>
    <p:sldId id="313" r:id="rId57"/>
    <p:sldId id="314" r:id="rId58"/>
    <p:sldId id="315" r:id="rId59"/>
    <p:sldId id="317" r:id="rId60"/>
    <p:sldId id="293" r:id="rId61"/>
    <p:sldId id="325" r:id="rId62"/>
    <p:sldId id="349" r:id="rId63"/>
    <p:sldId id="328" r:id="rId64"/>
    <p:sldId id="332" r:id="rId65"/>
    <p:sldId id="318" r:id="rId66"/>
    <p:sldId id="333" r:id="rId67"/>
    <p:sldId id="334" r:id="rId68"/>
    <p:sldId id="335" r:id="rId69"/>
    <p:sldId id="336" r:id="rId70"/>
    <p:sldId id="337" r:id="rId71"/>
    <p:sldId id="338" r:id="rId72"/>
    <p:sldId id="339" r:id="rId73"/>
    <p:sldId id="340" r:id="rId74"/>
    <p:sldId id="319" r:id="rId75"/>
    <p:sldId id="320" r:id="rId76"/>
    <p:sldId id="321" r:id="rId77"/>
    <p:sldId id="329" r:id="rId78"/>
    <p:sldId id="322" r:id="rId79"/>
    <p:sldId id="330" r:id="rId80"/>
    <p:sldId id="331" r:id="rId81"/>
    <p:sldId id="323" r:id="rId82"/>
    <p:sldId id="359" r:id="rId83"/>
    <p:sldId id="342" r:id="rId84"/>
    <p:sldId id="351" r:id="rId85"/>
    <p:sldId id="292" r:id="rId86"/>
  </p:sldIdLst>
  <p:sldSz cx="9144000" cy="5143500" type="screen16x9"/>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892EBF5-0CA4-4ED7-ABAD-96615AF58E49}">
          <p14:sldIdLst/>
        </p14:section>
        <p14:section name="Intro" id="{889303EE-8941-401D-83E7-686CC0CA1906}">
          <p14:sldIdLst>
            <p14:sldId id="256"/>
            <p14:sldId id="257"/>
            <p14:sldId id="258"/>
            <p14:sldId id="358"/>
            <p14:sldId id="260"/>
          </p14:sldIdLst>
        </p14:section>
        <p14:section name="Module 1 - AIASD" id="{AFD3C0C2-169C-4657-88A9-3F3080FB0A33}">
          <p14:sldIdLst>
            <p14:sldId id="357"/>
            <p14:sldId id="261"/>
            <p14:sldId id="327"/>
            <p14:sldId id="326"/>
            <p14:sldId id="356"/>
            <p14:sldId id="262"/>
            <p14:sldId id="263"/>
            <p14:sldId id="264"/>
            <p14:sldId id="265"/>
            <p14:sldId id="266"/>
            <p14:sldId id="267"/>
            <p14:sldId id="268"/>
            <p14:sldId id="355"/>
            <p14:sldId id="269"/>
            <p14:sldId id="294"/>
            <p14:sldId id="295"/>
            <p14:sldId id="296"/>
            <p14:sldId id="297"/>
            <p14:sldId id="298"/>
            <p14:sldId id="299"/>
            <p14:sldId id="300"/>
          </p14:sldIdLst>
        </p14:section>
        <p14:section name="Module 2 - Copilot for Teams" id="{DE5C73BD-6438-4DCA-9BC7-DA208EAC31FF}">
          <p14:sldIdLst>
            <p14:sldId id="354"/>
            <p14:sldId id="270"/>
            <p14:sldId id="271"/>
            <p14:sldId id="272"/>
            <p14:sldId id="273"/>
            <p14:sldId id="274"/>
            <p14:sldId id="275"/>
            <p14:sldId id="276"/>
            <p14:sldId id="277"/>
            <p14:sldId id="278"/>
            <p14:sldId id="279"/>
          </p14:sldIdLst>
        </p14:section>
        <p14:section name="Module 3 - Intro to Copilot" id="{D4B84A6B-4CCF-4925-9268-AC537DADB594}">
          <p14:sldIdLst>
            <p14:sldId id="353"/>
            <p14:sldId id="282"/>
            <p14:sldId id="289"/>
            <p14:sldId id="290"/>
            <p14:sldId id="324"/>
            <p14:sldId id="284"/>
            <p14:sldId id="291"/>
            <p14:sldId id="341"/>
          </p14:sldIdLst>
        </p14:section>
        <p14:section name="Module 4 - Mobbing" id="{E1B29615-8B71-43FF-BFE5-7C3104E0A3FC}">
          <p14:sldIdLst>
            <p14:sldId id="352"/>
            <p14:sldId id="302"/>
            <p14:sldId id="305"/>
            <p14:sldId id="306"/>
            <p14:sldId id="307"/>
            <p14:sldId id="308"/>
            <p14:sldId id="309"/>
            <p14:sldId id="310"/>
            <p14:sldId id="311"/>
            <p14:sldId id="312"/>
            <p14:sldId id="313"/>
            <p14:sldId id="314"/>
            <p14:sldId id="315"/>
            <p14:sldId id="317"/>
            <p14:sldId id="293"/>
            <p14:sldId id="325"/>
          </p14:sldIdLst>
        </p14:section>
        <p14:section name="Module 5 - Vibbing" id="{00BC05B0-1DB3-4C65-B36D-19AAF79B9D97}">
          <p14:sldIdLst>
            <p14:sldId id="349"/>
            <p14:sldId id="328"/>
            <p14:sldId id="332"/>
            <p14:sldId id="318"/>
            <p14:sldId id="333"/>
            <p14:sldId id="334"/>
            <p14:sldId id="335"/>
            <p14:sldId id="336"/>
            <p14:sldId id="337"/>
            <p14:sldId id="338"/>
            <p14:sldId id="339"/>
            <p14:sldId id="340"/>
            <p14:sldId id="319"/>
            <p14:sldId id="320"/>
            <p14:sldId id="321"/>
            <p14:sldId id="329"/>
            <p14:sldId id="322"/>
            <p14:sldId id="330"/>
            <p14:sldId id="331"/>
            <p14:sldId id="323"/>
            <p14:sldId id="359"/>
            <p14:sldId id="342"/>
            <p14:sldId id="351"/>
            <p14:sldId id="292"/>
          </p14:sldIdLst>
        </p14:section>
      </p14:sectionLst>
    </p:ext>
    <p:ext uri="{EFAFB233-063F-42B5-8137-9DF3F51BA10A}">
      <p15:sldGuideLst xmlns:p15="http://schemas.microsoft.com/office/powerpoint/2012/main">
        <p15:guide id="1" orient="horz" pos="162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27F97BB-C833-4FB7-BDE5-3F7075034690}" styleName="Themed Style 2 - Accent 5">
    <a:tblBg>
      <a:fillRef idx="3">
        <a:schemeClr val="accent5"/>
      </a:fillRef>
      <a:effectRef idx="3">
        <a:schemeClr val="accent5"/>
      </a:effectRef>
    </a:tblBg>
    <a:wholeTbl>
      <a:tcTxStyle>
        <a:fontRef idx="minor">
          <a:scrgbClr r="0" g="0" b="0"/>
        </a:fontRef>
        <a:schemeClr val="lt1"/>
      </a:tcTxStyle>
      <a:tcStyle>
        <a:tcBdr>
          <a:left>
            <a:lnRef idx="1">
              <a:schemeClr val="accent5">
                <a:tint val="50000"/>
              </a:schemeClr>
            </a:lnRef>
          </a:left>
          <a:right>
            <a:lnRef idx="1">
              <a:schemeClr val="accent5">
                <a:tint val="50000"/>
              </a:schemeClr>
            </a:lnRef>
          </a:right>
          <a:top>
            <a:lnRef idx="1">
              <a:schemeClr val="accent5">
                <a:tint val="50000"/>
              </a:schemeClr>
            </a:lnRef>
          </a:top>
          <a:bottom>
            <a:lnRef idx="1">
              <a:schemeClr val="accent5">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35758FB7-9AC5-4552-8A53-C91805E547FA}" styleName="Themed Style 1 - Accent 5">
    <a:tblBg>
      <a:fillRef idx="2">
        <a:schemeClr val="accent5"/>
      </a:fillRef>
      <a:effectRef idx="1">
        <a:schemeClr val="accent5"/>
      </a:effectRef>
    </a:tblBg>
    <a:wholeTbl>
      <a:tcTxStyle>
        <a:fontRef idx="minor">
          <a:scrgbClr r="0" g="0" b="0"/>
        </a:fontRef>
        <a:schemeClr val="dk1"/>
      </a:tcTxStyle>
      <a:tcStyle>
        <a:tcBdr>
          <a:left>
            <a:lnRef idx="1">
              <a:schemeClr val="accent5"/>
            </a:lnRef>
          </a:left>
          <a:right>
            <a:lnRef idx="1">
              <a:schemeClr val="accent5"/>
            </a:lnRef>
          </a:right>
          <a:top>
            <a:lnRef idx="1">
              <a:schemeClr val="accent5"/>
            </a:lnRef>
          </a:top>
          <a:bottom>
            <a:lnRef idx="1">
              <a:schemeClr val="accent5"/>
            </a:lnRef>
          </a:bottom>
          <a:insideH>
            <a:lnRef idx="1">
              <a:schemeClr val="accent5"/>
            </a:lnRef>
          </a:insideH>
          <a:insideV>
            <a:lnRef idx="1">
              <a:schemeClr val="accent5"/>
            </a:lnRef>
          </a:insideV>
        </a:tcBdr>
        <a:fill>
          <a:noFill/>
        </a:fill>
      </a:tcStyle>
    </a:wholeTbl>
    <a:band1H>
      <a:tcStyle>
        <a:tcBdr/>
        <a:fill>
          <a:solidFill>
            <a:schemeClr val="accent5">
              <a:alpha val="40000"/>
            </a:schemeClr>
          </a:solidFill>
        </a:fill>
      </a:tcStyle>
    </a:band1H>
    <a:band2H>
      <a:tcStyle>
        <a:tcBdr/>
      </a:tcStyle>
    </a:band2H>
    <a:band1V>
      <a:tcStyle>
        <a:tcBdr>
          <a:top>
            <a:lnRef idx="1">
              <a:schemeClr val="accent5"/>
            </a:lnRef>
          </a:top>
          <a:bottom>
            <a:lnRef idx="1">
              <a:schemeClr val="accent5"/>
            </a:lnRef>
          </a:bottom>
        </a:tcBdr>
        <a:fill>
          <a:solidFill>
            <a:schemeClr val="accent5">
              <a:alpha val="40000"/>
            </a:schemeClr>
          </a:solidFill>
        </a:fill>
      </a:tcStyle>
    </a:band1V>
    <a:band2V>
      <a:tcStyle>
        <a:tcBdr/>
      </a:tcStyle>
    </a:band2V>
    <a:lastCol>
      <a:tcTxStyle b="on"/>
      <a:tcStyle>
        <a:tcBdr>
          <a:left>
            <a:lnRef idx="2">
              <a:schemeClr val="accent5"/>
            </a:lnRef>
          </a:left>
          <a:right>
            <a:lnRef idx="1">
              <a:schemeClr val="accent5"/>
            </a:lnRef>
          </a:right>
          <a:top>
            <a:lnRef idx="1">
              <a:schemeClr val="accent5"/>
            </a:lnRef>
          </a:top>
          <a:bottom>
            <a:lnRef idx="1">
              <a:schemeClr val="accent5"/>
            </a:lnRef>
          </a:bottom>
          <a:insideH>
            <a:lnRef idx="1">
              <a:schemeClr val="accent5"/>
            </a:lnRef>
          </a:insideH>
          <a:insideV>
            <a:ln>
              <a:noFill/>
            </a:ln>
          </a:insideV>
        </a:tcBdr>
      </a:tcStyle>
    </a:lastCol>
    <a:firstCol>
      <a:tcTxStyle b="on"/>
      <a:tcStyle>
        <a:tcBdr>
          <a:left>
            <a:lnRef idx="1">
              <a:schemeClr val="accent5"/>
            </a:lnRef>
          </a:left>
          <a:right>
            <a:lnRef idx="2">
              <a:schemeClr val="accent5"/>
            </a:lnRef>
          </a:right>
          <a:top>
            <a:lnRef idx="1">
              <a:schemeClr val="accent5"/>
            </a:lnRef>
          </a:top>
          <a:bottom>
            <a:lnRef idx="1">
              <a:schemeClr val="accent5"/>
            </a:lnRef>
          </a:bottom>
          <a:insideH>
            <a:lnRef idx="1">
              <a:schemeClr val="accent5"/>
            </a:lnRef>
          </a:insideH>
          <a:insideV>
            <a:ln>
              <a:noFill/>
            </a:ln>
          </a:insideV>
        </a:tcBdr>
      </a:tcStyle>
    </a:firstCol>
    <a:lastRow>
      <a:tcTxStyle b="on"/>
      <a:tcStyle>
        <a:tcBdr>
          <a:left>
            <a:lnRef idx="1">
              <a:schemeClr val="accent5"/>
            </a:lnRef>
          </a:left>
          <a:right>
            <a:lnRef idx="1">
              <a:schemeClr val="accent5"/>
            </a:lnRef>
          </a:right>
          <a:top>
            <a:lnRef idx="2">
              <a:schemeClr val="accent5"/>
            </a:lnRef>
          </a:top>
          <a:bottom>
            <a:lnRef idx="2">
              <a:schemeClr val="accent5"/>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5"/>
            </a:lnRef>
          </a:left>
          <a:right>
            <a:lnRef idx="1">
              <a:schemeClr val="accent5"/>
            </a:lnRef>
          </a:right>
          <a:top>
            <a:lnRef idx="1">
              <a:schemeClr val="accent5"/>
            </a:lnRef>
          </a:top>
          <a:bottom>
            <a:lnRef idx="2">
              <a:schemeClr val="lt1"/>
            </a:lnRef>
          </a:bottom>
          <a:insideH>
            <a:ln>
              <a:noFill/>
            </a:ln>
          </a:insideH>
          <a:insideV>
            <a:ln>
              <a:noFill/>
            </a:ln>
          </a:insideV>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978" autoAdjust="0"/>
    <p:restoredTop sz="69468" autoAdjust="0"/>
  </p:normalViewPr>
  <p:slideViewPr>
    <p:cSldViewPr snapToGrid="0" snapToObjects="1">
      <p:cViewPr varScale="1">
        <p:scale>
          <a:sx n="91" d="100"/>
          <a:sy n="91" d="100"/>
        </p:scale>
        <p:origin x="60" y="219"/>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notesMaster" Target="notesMasters/notesMaster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diagrams/_rels/data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ata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svg"/><Relationship Id="rId1" Type="http://schemas.openxmlformats.org/officeDocument/2006/relationships/image" Target="../media/image4.png"/><Relationship Id="rId6" Type="http://schemas.openxmlformats.org/officeDocument/2006/relationships/image" Target="../media/image9.svg"/><Relationship Id="rId5" Type="http://schemas.openxmlformats.org/officeDocument/2006/relationships/image" Target="../media/image8.png"/><Relationship Id="rId4" Type="http://schemas.openxmlformats.org/officeDocument/2006/relationships/image" Target="../media/image7.svg"/></Relationships>
</file>

<file path=ppt/diagrams/_rels/drawing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svg"/><Relationship Id="rId1" Type="http://schemas.openxmlformats.org/officeDocument/2006/relationships/image" Target="../media/image10.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973FDBC-08B3-4B1D-A7CC-594354E03DB6}" type="doc">
      <dgm:prSet loTypeId="urn:microsoft.com/office/officeart/2018/2/layout/IconVerticalSolidList" loCatId="icon" qsTypeId="urn:microsoft.com/office/officeart/2005/8/quickstyle/simple1" qsCatId="simple" csTypeId="urn:microsoft.com/office/officeart/2005/8/colors/accent2_2" csCatId="accent2" phldr="1"/>
      <dgm:spPr/>
      <dgm:t>
        <a:bodyPr/>
        <a:lstStyle/>
        <a:p>
          <a:endParaRPr lang="en-US"/>
        </a:p>
      </dgm:t>
    </dgm:pt>
    <dgm:pt modelId="{89AC141F-983D-4098-A2AD-F649F1862580}">
      <dgm:prSet/>
      <dgm:spPr/>
      <dgm:t>
        <a:bodyPr/>
        <a:lstStyle/>
        <a:p>
          <a:r>
            <a:rPr lang="en-US" dirty="0"/>
            <a:t>Principal Software Engineer at Code Staffing</a:t>
          </a:r>
        </a:p>
      </dgm:t>
    </dgm:pt>
    <dgm:pt modelId="{64E8FD07-EE68-4277-8D17-930C617F72C2}" type="parTrans" cxnId="{8E5A77AC-658D-46C0-84A6-0A58D110BAED}">
      <dgm:prSet/>
      <dgm:spPr/>
      <dgm:t>
        <a:bodyPr/>
        <a:lstStyle/>
        <a:p>
          <a:endParaRPr lang="en-US"/>
        </a:p>
      </dgm:t>
    </dgm:pt>
    <dgm:pt modelId="{E5C3D3E5-8976-4FA0-8BE9-1E843B794296}" type="sibTrans" cxnId="{8E5A77AC-658D-46C0-84A6-0A58D110BAED}">
      <dgm:prSet/>
      <dgm:spPr/>
      <dgm:t>
        <a:bodyPr/>
        <a:lstStyle/>
        <a:p>
          <a:endParaRPr lang="en-US"/>
        </a:p>
      </dgm:t>
    </dgm:pt>
    <dgm:pt modelId="{A4434503-EB01-4C35-8227-BF4E5CEFC4F7}">
      <dgm:prSet/>
      <dgm:spPr/>
      <dgm:t>
        <a:bodyPr/>
        <a:lstStyle/>
        <a:p>
          <a:r>
            <a:rPr lang="en-US"/>
            <a:t>Played roles of developer, architect, devops engineer, platform engineer, test architect, release manager</a:t>
          </a:r>
        </a:p>
      </dgm:t>
    </dgm:pt>
    <dgm:pt modelId="{5C7E0024-2FED-43F3-B6F2-9C2A7940705C}" type="parTrans" cxnId="{FA0D042B-55AD-42A2-8F88-B5A3AC44F9CC}">
      <dgm:prSet/>
      <dgm:spPr/>
      <dgm:t>
        <a:bodyPr/>
        <a:lstStyle/>
        <a:p>
          <a:endParaRPr lang="en-US"/>
        </a:p>
      </dgm:t>
    </dgm:pt>
    <dgm:pt modelId="{4AC0DD24-C1A6-4DF8-9567-EA24809A05D1}" type="sibTrans" cxnId="{FA0D042B-55AD-42A2-8F88-B5A3AC44F9CC}">
      <dgm:prSet/>
      <dgm:spPr/>
      <dgm:t>
        <a:bodyPr/>
        <a:lstStyle/>
        <a:p>
          <a:endParaRPr lang="en-US"/>
        </a:p>
      </dgm:t>
    </dgm:pt>
    <dgm:pt modelId="{8477D6DA-2946-4EE9-ABF2-CC3633A5C14F}">
      <dgm:prSet/>
      <dgm:spPr/>
      <dgm:t>
        <a:bodyPr/>
        <a:lstStyle/>
        <a:p>
          <a:r>
            <a:rPr lang="en-US"/>
            <a:t>AI/ML Enthusiast and advocate for Effectively using AI to write code</a:t>
          </a:r>
        </a:p>
      </dgm:t>
    </dgm:pt>
    <dgm:pt modelId="{C9895C24-A86C-447B-B1CA-BF75492CFE5E}" type="parTrans" cxnId="{6AB43612-5C51-488D-AF66-7E18FB5D64C9}">
      <dgm:prSet/>
      <dgm:spPr/>
      <dgm:t>
        <a:bodyPr/>
        <a:lstStyle/>
        <a:p>
          <a:endParaRPr lang="en-US"/>
        </a:p>
      </dgm:t>
    </dgm:pt>
    <dgm:pt modelId="{66EBACAD-B11E-462D-B11C-8C6FB1B60B58}" type="sibTrans" cxnId="{6AB43612-5C51-488D-AF66-7E18FB5D64C9}">
      <dgm:prSet/>
      <dgm:spPr/>
      <dgm:t>
        <a:bodyPr/>
        <a:lstStyle/>
        <a:p>
          <a:endParaRPr lang="en-US"/>
        </a:p>
      </dgm:t>
    </dgm:pt>
    <dgm:pt modelId="{312A3D8F-FD89-4528-AFCA-E8E489F944B5}">
      <dgm:prSet/>
      <dgm:spPr/>
      <dgm:t>
        <a:bodyPr/>
        <a:lstStyle/>
        <a:p>
          <a:r>
            <a:rPr lang="en-US"/>
            <a:t>LinkedIn: www.linkedin.com/in/johnmichaelmiller</a:t>
          </a:r>
        </a:p>
      </dgm:t>
    </dgm:pt>
    <dgm:pt modelId="{AC350D81-969C-4A34-97E9-0D03275E17AA}" type="parTrans" cxnId="{C9DDDE9C-FE26-41DA-BB32-4DADBD818A25}">
      <dgm:prSet/>
      <dgm:spPr/>
      <dgm:t>
        <a:bodyPr/>
        <a:lstStyle/>
        <a:p>
          <a:endParaRPr lang="en-US"/>
        </a:p>
      </dgm:t>
    </dgm:pt>
    <dgm:pt modelId="{FC09D9CF-6F46-46F3-95C2-DE69479A7AE2}" type="sibTrans" cxnId="{C9DDDE9C-FE26-41DA-BB32-4DADBD818A25}">
      <dgm:prSet/>
      <dgm:spPr/>
      <dgm:t>
        <a:bodyPr/>
        <a:lstStyle/>
        <a:p>
          <a:endParaRPr lang="en-US"/>
        </a:p>
      </dgm:t>
    </dgm:pt>
    <dgm:pt modelId="{AD446258-ED46-4CD7-81C0-EBCBE6515A21}">
      <dgm:prSet/>
      <dgm:spPr/>
      <dgm:t>
        <a:bodyPr/>
        <a:lstStyle/>
        <a:p>
          <a:r>
            <a:rPr lang="en-US"/>
            <a:t>Email: john.miller@codestaffing.com</a:t>
          </a:r>
        </a:p>
      </dgm:t>
    </dgm:pt>
    <dgm:pt modelId="{FA96825D-89AB-49F5-9075-EDCD91630398}" type="parTrans" cxnId="{FD057C4F-E141-47CD-A68B-3E22F490D7FE}">
      <dgm:prSet/>
      <dgm:spPr/>
      <dgm:t>
        <a:bodyPr/>
        <a:lstStyle/>
        <a:p>
          <a:endParaRPr lang="en-US"/>
        </a:p>
      </dgm:t>
    </dgm:pt>
    <dgm:pt modelId="{2BD68564-3FD4-497A-B4DE-B14F3834B0F2}" type="sibTrans" cxnId="{FD057C4F-E141-47CD-A68B-3E22F490D7FE}">
      <dgm:prSet/>
      <dgm:spPr/>
      <dgm:t>
        <a:bodyPr/>
        <a:lstStyle/>
        <a:p>
          <a:endParaRPr lang="en-US"/>
        </a:p>
      </dgm:t>
    </dgm:pt>
    <dgm:pt modelId="{3CB62BB2-80FE-41DE-AA6D-EE6897BD1B8C}">
      <dgm:prSet/>
      <dgm:spPr/>
      <dgm:t>
        <a:bodyPr/>
        <a:lstStyle/>
        <a:p>
          <a:r>
            <a:rPr lang="en-US"/>
            <a:t>Blog: https://codemag.com/blog/AIPractitioner</a:t>
          </a:r>
        </a:p>
      </dgm:t>
    </dgm:pt>
    <dgm:pt modelId="{A608E2BC-DC54-491A-9873-8BF7A84B05CA}" type="parTrans" cxnId="{8EB1B29D-C2BC-4E92-B0FC-4419A9E1555E}">
      <dgm:prSet/>
      <dgm:spPr/>
      <dgm:t>
        <a:bodyPr/>
        <a:lstStyle/>
        <a:p>
          <a:endParaRPr lang="en-US"/>
        </a:p>
      </dgm:t>
    </dgm:pt>
    <dgm:pt modelId="{41A5D2DA-77E1-4A35-A06F-B3B0E62B4131}" type="sibTrans" cxnId="{8EB1B29D-C2BC-4E92-B0FC-4419A9E1555E}">
      <dgm:prSet/>
      <dgm:spPr/>
      <dgm:t>
        <a:bodyPr/>
        <a:lstStyle/>
        <a:p>
          <a:endParaRPr lang="en-US"/>
        </a:p>
      </dgm:t>
    </dgm:pt>
    <dgm:pt modelId="{AE74A6C9-8E53-40A2-A7DA-C9763DA9B9E9}" type="pres">
      <dgm:prSet presAssocID="{0973FDBC-08B3-4B1D-A7CC-594354E03DB6}" presName="root" presStyleCnt="0">
        <dgm:presLayoutVars>
          <dgm:dir/>
          <dgm:resizeHandles val="exact"/>
        </dgm:presLayoutVars>
      </dgm:prSet>
      <dgm:spPr/>
    </dgm:pt>
    <dgm:pt modelId="{A370A3B6-CE6E-4208-874F-EC4DFE69ACB7}" type="pres">
      <dgm:prSet presAssocID="{89AC141F-983D-4098-A2AD-F649F1862580}" presName="compNode" presStyleCnt="0"/>
      <dgm:spPr/>
    </dgm:pt>
    <dgm:pt modelId="{0B723E61-FD6A-4D78-AE1D-74E11DEA6B94}" type="pres">
      <dgm:prSet presAssocID="{89AC141F-983D-4098-A2AD-F649F1862580}" presName="bgRect" presStyleLbl="bgShp" presStyleIdx="0" presStyleCnt="3"/>
      <dgm:spPr/>
    </dgm:pt>
    <dgm:pt modelId="{4C7532F8-D900-40A9-9D1B-93C1B4790169}" type="pres">
      <dgm:prSet presAssocID="{89AC141F-983D-4098-A2AD-F649F1862580}"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User"/>
        </a:ext>
      </dgm:extLst>
    </dgm:pt>
    <dgm:pt modelId="{50D4258C-0B58-47BA-B150-9C72844DBA0B}" type="pres">
      <dgm:prSet presAssocID="{89AC141F-983D-4098-A2AD-F649F1862580}" presName="spaceRect" presStyleCnt="0"/>
      <dgm:spPr/>
    </dgm:pt>
    <dgm:pt modelId="{27E12399-D9BF-413F-9CCA-3D6C19A780F4}" type="pres">
      <dgm:prSet presAssocID="{89AC141F-983D-4098-A2AD-F649F1862580}" presName="parTx" presStyleLbl="revTx" presStyleIdx="0" presStyleCnt="4">
        <dgm:presLayoutVars>
          <dgm:chMax val="0"/>
          <dgm:chPref val="0"/>
        </dgm:presLayoutVars>
      </dgm:prSet>
      <dgm:spPr/>
    </dgm:pt>
    <dgm:pt modelId="{D208177A-9B75-44E8-958A-910E3CE26C37}" type="pres">
      <dgm:prSet presAssocID="{E5C3D3E5-8976-4FA0-8BE9-1E843B794296}" presName="sibTrans" presStyleCnt="0"/>
      <dgm:spPr/>
    </dgm:pt>
    <dgm:pt modelId="{0E1FD39E-F36C-4057-B3D4-7912CAB74A7D}" type="pres">
      <dgm:prSet presAssocID="{A4434503-EB01-4C35-8227-BF4E5CEFC4F7}" presName="compNode" presStyleCnt="0"/>
      <dgm:spPr/>
    </dgm:pt>
    <dgm:pt modelId="{F7EF9AAE-6EA6-48BC-8CE6-E43A4019C779}" type="pres">
      <dgm:prSet presAssocID="{A4434503-EB01-4C35-8227-BF4E5CEFC4F7}" presName="bgRect" presStyleLbl="bgShp" presStyleIdx="1" presStyleCnt="3"/>
      <dgm:spPr/>
    </dgm:pt>
    <dgm:pt modelId="{1054A214-D016-4B03-93F4-AC8EDBAF1AEA}" type="pres">
      <dgm:prSet presAssocID="{A4434503-EB01-4C35-8227-BF4E5CEFC4F7}"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ierarchy"/>
        </a:ext>
      </dgm:extLst>
    </dgm:pt>
    <dgm:pt modelId="{52688972-DA2B-4FD2-86F0-267486FCF7DD}" type="pres">
      <dgm:prSet presAssocID="{A4434503-EB01-4C35-8227-BF4E5CEFC4F7}" presName="spaceRect" presStyleCnt="0"/>
      <dgm:spPr/>
    </dgm:pt>
    <dgm:pt modelId="{023F68DA-5884-4A47-AB69-109D4EA49749}" type="pres">
      <dgm:prSet presAssocID="{A4434503-EB01-4C35-8227-BF4E5CEFC4F7}" presName="parTx" presStyleLbl="revTx" presStyleIdx="1" presStyleCnt="4">
        <dgm:presLayoutVars>
          <dgm:chMax val="0"/>
          <dgm:chPref val="0"/>
        </dgm:presLayoutVars>
      </dgm:prSet>
      <dgm:spPr/>
    </dgm:pt>
    <dgm:pt modelId="{43320B8E-5850-46F0-844A-2E3C0D9D1CF7}" type="pres">
      <dgm:prSet presAssocID="{4AC0DD24-C1A6-4DF8-9567-EA24809A05D1}" presName="sibTrans" presStyleCnt="0"/>
      <dgm:spPr/>
    </dgm:pt>
    <dgm:pt modelId="{86BDDDB4-DF99-4A33-BEC7-C8F54574B714}" type="pres">
      <dgm:prSet presAssocID="{8477D6DA-2946-4EE9-ABF2-CC3633A5C14F}" presName="compNode" presStyleCnt="0"/>
      <dgm:spPr/>
    </dgm:pt>
    <dgm:pt modelId="{1F150B33-5B01-41D7-B34B-31321D5314B8}" type="pres">
      <dgm:prSet presAssocID="{8477D6DA-2946-4EE9-ABF2-CC3633A5C14F}" presName="bgRect" presStyleLbl="bgShp" presStyleIdx="2" presStyleCnt="3"/>
      <dgm:spPr/>
    </dgm:pt>
    <dgm:pt modelId="{F0486E93-85B6-4940-9839-EC6F6438470B}" type="pres">
      <dgm:prSet presAssocID="{8477D6DA-2946-4EE9-ABF2-CC3633A5C14F}"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obot"/>
        </a:ext>
      </dgm:extLst>
    </dgm:pt>
    <dgm:pt modelId="{715A4C88-DB52-40AA-932E-1FC60FF5325A}" type="pres">
      <dgm:prSet presAssocID="{8477D6DA-2946-4EE9-ABF2-CC3633A5C14F}" presName="spaceRect" presStyleCnt="0"/>
      <dgm:spPr/>
    </dgm:pt>
    <dgm:pt modelId="{ADFF1338-B351-4D54-8EB2-71C9330684E6}" type="pres">
      <dgm:prSet presAssocID="{8477D6DA-2946-4EE9-ABF2-CC3633A5C14F}" presName="parTx" presStyleLbl="revTx" presStyleIdx="2" presStyleCnt="4">
        <dgm:presLayoutVars>
          <dgm:chMax val="0"/>
          <dgm:chPref val="0"/>
        </dgm:presLayoutVars>
      </dgm:prSet>
      <dgm:spPr/>
    </dgm:pt>
    <dgm:pt modelId="{D3707FF8-46B5-4898-83C6-BFB962BB255D}" type="pres">
      <dgm:prSet presAssocID="{8477D6DA-2946-4EE9-ABF2-CC3633A5C14F}" presName="desTx" presStyleLbl="revTx" presStyleIdx="3" presStyleCnt="4">
        <dgm:presLayoutVars/>
      </dgm:prSet>
      <dgm:spPr/>
    </dgm:pt>
  </dgm:ptLst>
  <dgm:cxnLst>
    <dgm:cxn modelId="{5FDE7011-1AD7-49B6-B759-4738AC31E5B5}" type="presOf" srcId="{0973FDBC-08B3-4B1D-A7CC-594354E03DB6}" destId="{AE74A6C9-8E53-40A2-A7DA-C9763DA9B9E9}" srcOrd="0" destOrd="0" presId="urn:microsoft.com/office/officeart/2018/2/layout/IconVerticalSolidList"/>
    <dgm:cxn modelId="{6AB43612-5C51-488D-AF66-7E18FB5D64C9}" srcId="{0973FDBC-08B3-4B1D-A7CC-594354E03DB6}" destId="{8477D6DA-2946-4EE9-ABF2-CC3633A5C14F}" srcOrd="2" destOrd="0" parTransId="{C9895C24-A86C-447B-B1CA-BF75492CFE5E}" sibTransId="{66EBACAD-B11E-462D-B11C-8C6FB1B60B58}"/>
    <dgm:cxn modelId="{FA0D042B-55AD-42A2-8F88-B5A3AC44F9CC}" srcId="{0973FDBC-08B3-4B1D-A7CC-594354E03DB6}" destId="{A4434503-EB01-4C35-8227-BF4E5CEFC4F7}" srcOrd="1" destOrd="0" parTransId="{5C7E0024-2FED-43F3-B6F2-9C2A7940705C}" sibTransId="{4AC0DD24-C1A6-4DF8-9567-EA24809A05D1}"/>
    <dgm:cxn modelId="{376EB03B-B24E-44F7-86D0-16AF881C5A28}" type="presOf" srcId="{89AC141F-983D-4098-A2AD-F649F1862580}" destId="{27E12399-D9BF-413F-9CCA-3D6C19A780F4}" srcOrd="0" destOrd="0" presId="urn:microsoft.com/office/officeart/2018/2/layout/IconVerticalSolidList"/>
    <dgm:cxn modelId="{5ECCF56E-4F9F-405F-B6E0-1ABE5B81204F}" type="presOf" srcId="{312A3D8F-FD89-4528-AFCA-E8E489F944B5}" destId="{D3707FF8-46B5-4898-83C6-BFB962BB255D}" srcOrd="0" destOrd="0" presId="urn:microsoft.com/office/officeart/2018/2/layout/IconVerticalSolidList"/>
    <dgm:cxn modelId="{FD057C4F-E141-47CD-A68B-3E22F490D7FE}" srcId="{8477D6DA-2946-4EE9-ABF2-CC3633A5C14F}" destId="{AD446258-ED46-4CD7-81C0-EBCBE6515A21}" srcOrd="1" destOrd="0" parTransId="{FA96825D-89AB-49F5-9075-EDCD91630398}" sibTransId="{2BD68564-3FD4-497A-B4DE-B14F3834B0F2}"/>
    <dgm:cxn modelId="{DA183055-7F9F-4B5F-AB35-B1BD8B211562}" type="presOf" srcId="{AD446258-ED46-4CD7-81C0-EBCBE6515A21}" destId="{D3707FF8-46B5-4898-83C6-BFB962BB255D}" srcOrd="0" destOrd="1" presId="urn:microsoft.com/office/officeart/2018/2/layout/IconVerticalSolidList"/>
    <dgm:cxn modelId="{C9DDDE9C-FE26-41DA-BB32-4DADBD818A25}" srcId="{8477D6DA-2946-4EE9-ABF2-CC3633A5C14F}" destId="{312A3D8F-FD89-4528-AFCA-E8E489F944B5}" srcOrd="0" destOrd="0" parTransId="{AC350D81-969C-4A34-97E9-0D03275E17AA}" sibTransId="{FC09D9CF-6F46-46F3-95C2-DE69479A7AE2}"/>
    <dgm:cxn modelId="{8EB1B29D-C2BC-4E92-B0FC-4419A9E1555E}" srcId="{8477D6DA-2946-4EE9-ABF2-CC3633A5C14F}" destId="{3CB62BB2-80FE-41DE-AA6D-EE6897BD1B8C}" srcOrd="2" destOrd="0" parTransId="{A608E2BC-DC54-491A-9873-8BF7A84B05CA}" sibTransId="{41A5D2DA-77E1-4A35-A06F-B3B0E62B4131}"/>
    <dgm:cxn modelId="{8B13D19D-94D0-4FE3-A26E-FEC8D0FF0805}" type="presOf" srcId="{8477D6DA-2946-4EE9-ABF2-CC3633A5C14F}" destId="{ADFF1338-B351-4D54-8EB2-71C9330684E6}" srcOrd="0" destOrd="0" presId="urn:microsoft.com/office/officeart/2018/2/layout/IconVerticalSolidList"/>
    <dgm:cxn modelId="{8E5A77AC-658D-46C0-84A6-0A58D110BAED}" srcId="{0973FDBC-08B3-4B1D-A7CC-594354E03DB6}" destId="{89AC141F-983D-4098-A2AD-F649F1862580}" srcOrd="0" destOrd="0" parTransId="{64E8FD07-EE68-4277-8D17-930C617F72C2}" sibTransId="{E5C3D3E5-8976-4FA0-8BE9-1E843B794296}"/>
    <dgm:cxn modelId="{8238DBC2-6870-47D3-B43C-AA6DE96C8CA8}" type="presOf" srcId="{A4434503-EB01-4C35-8227-BF4E5CEFC4F7}" destId="{023F68DA-5884-4A47-AB69-109D4EA49749}" srcOrd="0" destOrd="0" presId="urn:microsoft.com/office/officeart/2018/2/layout/IconVerticalSolidList"/>
    <dgm:cxn modelId="{EF9265C9-F0BF-40A8-A20D-79C65631A288}" type="presOf" srcId="{3CB62BB2-80FE-41DE-AA6D-EE6897BD1B8C}" destId="{D3707FF8-46B5-4898-83C6-BFB962BB255D}" srcOrd="0" destOrd="2" presId="urn:microsoft.com/office/officeart/2018/2/layout/IconVerticalSolidList"/>
    <dgm:cxn modelId="{AC9F2FB2-42A8-4F04-826E-F3ECD4BBEB44}" type="presParOf" srcId="{AE74A6C9-8E53-40A2-A7DA-C9763DA9B9E9}" destId="{A370A3B6-CE6E-4208-874F-EC4DFE69ACB7}" srcOrd="0" destOrd="0" presId="urn:microsoft.com/office/officeart/2018/2/layout/IconVerticalSolidList"/>
    <dgm:cxn modelId="{85932533-46EE-4BB7-A6BD-CFBC5AE919D1}" type="presParOf" srcId="{A370A3B6-CE6E-4208-874F-EC4DFE69ACB7}" destId="{0B723E61-FD6A-4D78-AE1D-74E11DEA6B94}" srcOrd="0" destOrd="0" presId="urn:microsoft.com/office/officeart/2018/2/layout/IconVerticalSolidList"/>
    <dgm:cxn modelId="{3CC4CE74-EDF7-4AD7-83E0-9F01E9D08000}" type="presParOf" srcId="{A370A3B6-CE6E-4208-874F-EC4DFE69ACB7}" destId="{4C7532F8-D900-40A9-9D1B-93C1B4790169}" srcOrd="1" destOrd="0" presId="urn:microsoft.com/office/officeart/2018/2/layout/IconVerticalSolidList"/>
    <dgm:cxn modelId="{06D30E81-C59A-48EE-8951-A7A9B037D370}" type="presParOf" srcId="{A370A3B6-CE6E-4208-874F-EC4DFE69ACB7}" destId="{50D4258C-0B58-47BA-B150-9C72844DBA0B}" srcOrd="2" destOrd="0" presId="urn:microsoft.com/office/officeart/2018/2/layout/IconVerticalSolidList"/>
    <dgm:cxn modelId="{07301393-9F81-4629-AF9F-810842352D0E}" type="presParOf" srcId="{A370A3B6-CE6E-4208-874F-EC4DFE69ACB7}" destId="{27E12399-D9BF-413F-9CCA-3D6C19A780F4}" srcOrd="3" destOrd="0" presId="urn:microsoft.com/office/officeart/2018/2/layout/IconVerticalSolidList"/>
    <dgm:cxn modelId="{EA1FD579-7169-417F-A89B-42FC8E42CCDB}" type="presParOf" srcId="{AE74A6C9-8E53-40A2-A7DA-C9763DA9B9E9}" destId="{D208177A-9B75-44E8-958A-910E3CE26C37}" srcOrd="1" destOrd="0" presId="urn:microsoft.com/office/officeart/2018/2/layout/IconVerticalSolidList"/>
    <dgm:cxn modelId="{60D32C63-1C7B-4FFE-BFD4-4765B443D81C}" type="presParOf" srcId="{AE74A6C9-8E53-40A2-A7DA-C9763DA9B9E9}" destId="{0E1FD39E-F36C-4057-B3D4-7912CAB74A7D}" srcOrd="2" destOrd="0" presId="urn:microsoft.com/office/officeart/2018/2/layout/IconVerticalSolidList"/>
    <dgm:cxn modelId="{FB401E70-C592-4A5C-9358-F6DC71078714}" type="presParOf" srcId="{0E1FD39E-F36C-4057-B3D4-7912CAB74A7D}" destId="{F7EF9AAE-6EA6-48BC-8CE6-E43A4019C779}" srcOrd="0" destOrd="0" presId="urn:microsoft.com/office/officeart/2018/2/layout/IconVerticalSolidList"/>
    <dgm:cxn modelId="{C87CCE38-3104-4F81-A6F7-EE65F1AB8902}" type="presParOf" srcId="{0E1FD39E-F36C-4057-B3D4-7912CAB74A7D}" destId="{1054A214-D016-4B03-93F4-AC8EDBAF1AEA}" srcOrd="1" destOrd="0" presId="urn:microsoft.com/office/officeart/2018/2/layout/IconVerticalSolidList"/>
    <dgm:cxn modelId="{C9EA629F-4E73-43D4-AB06-442D100D704F}" type="presParOf" srcId="{0E1FD39E-F36C-4057-B3D4-7912CAB74A7D}" destId="{52688972-DA2B-4FD2-86F0-267486FCF7DD}" srcOrd="2" destOrd="0" presId="urn:microsoft.com/office/officeart/2018/2/layout/IconVerticalSolidList"/>
    <dgm:cxn modelId="{E12CB4CC-87BD-4626-B1D9-438ACABC89F1}" type="presParOf" srcId="{0E1FD39E-F36C-4057-B3D4-7912CAB74A7D}" destId="{023F68DA-5884-4A47-AB69-109D4EA49749}" srcOrd="3" destOrd="0" presId="urn:microsoft.com/office/officeart/2018/2/layout/IconVerticalSolidList"/>
    <dgm:cxn modelId="{F3DD8875-7322-4938-BFA6-7526B278E0E5}" type="presParOf" srcId="{AE74A6C9-8E53-40A2-A7DA-C9763DA9B9E9}" destId="{43320B8E-5850-46F0-844A-2E3C0D9D1CF7}" srcOrd="3" destOrd="0" presId="urn:microsoft.com/office/officeart/2018/2/layout/IconVerticalSolidList"/>
    <dgm:cxn modelId="{EEBF4271-0E65-49C1-81F7-D8FEF3BD36C9}" type="presParOf" srcId="{AE74A6C9-8E53-40A2-A7DA-C9763DA9B9E9}" destId="{86BDDDB4-DF99-4A33-BEC7-C8F54574B714}" srcOrd="4" destOrd="0" presId="urn:microsoft.com/office/officeart/2018/2/layout/IconVerticalSolidList"/>
    <dgm:cxn modelId="{D59D1BE1-15FA-41FB-826D-5D6FD1E225CB}" type="presParOf" srcId="{86BDDDB4-DF99-4A33-BEC7-C8F54574B714}" destId="{1F150B33-5B01-41D7-B34B-31321D5314B8}" srcOrd="0" destOrd="0" presId="urn:microsoft.com/office/officeart/2018/2/layout/IconVerticalSolidList"/>
    <dgm:cxn modelId="{A6C99982-6665-43DD-B590-652C33475BD4}" type="presParOf" srcId="{86BDDDB4-DF99-4A33-BEC7-C8F54574B714}" destId="{F0486E93-85B6-4940-9839-EC6F6438470B}" srcOrd="1" destOrd="0" presId="urn:microsoft.com/office/officeart/2018/2/layout/IconVerticalSolidList"/>
    <dgm:cxn modelId="{F736A793-811C-4B27-A2C9-C156C86ABCD8}" type="presParOf" srcId="{86BDDDB4-DF99-4A33-BEC7-C8F54574B714}" destId="{715A4C88-DB52-40AA-932E-1FC60FF5325A}" srcOrd="2" destOrd="0" presId="urn:microsoft.com/office/officeart/2018/2/layout/IconVerticalSolidList"/>
    <dgm:cxn modelId="{4C58983D-03D2-4231-9E7D-F058158AC47F}" type="presParOf" srcId="{86BDDDB4-DF99-4A33-BEC7-C8F54574B714}" destId="{ADFF1338-B351-4D54-8EB2-71C9330684E6}" srcOrd="3" destOrd="0" presId="urn:microsoft.com/office/officeart/2018/2/layout/IconVerticalSolidList"/>
    <dgm:cxn modelId="{2BF46502-A4FC-4F74-85BE-0752F2A78990}" type="presParOf" srcId="{86BDDDB4-DF99-4A33-BEC7-C8F54574B714}" destId="{D3707FF8-46B5-4898-83C6-BFB962BB255D}" srcOrd="4"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2A70087-EC59-4C5B-A39F-FFC6E0A5E890}" type="doc">
      <dgm:prSet loTypeId="urn:microsoft.com/office/officeart/2018/5/layout/CenteredIconLabelDescriptionList" loCatId="icon" qsTypeId="urn:microsoft.com/office/officeart/2005/8/quickstyle/simple1" qsCatId="simple" csTypeId="urn:microsoft.com/office/officeart/2005/8/colors/accent3_2" csCatId="accent3" phldr="1"/>
      <dgm:spPr/>
      <dgm:t>
        <a:bodyPr/>
        <a:lstStyle/>
        <a:p>
          <a:endParaRPr lang="en-US"/>
        </a:p>
      </dgm:t>
    </dgm:pt>
    <dgm:pt modelId="{6E4A2204-3B46-4658-A181-9F47CAAB8D6E}">
      <dgm:prSet/>
      <dgm:spPr/>
      <dgm:t>
        <a:bodyPr/>
        <a:lstStyle/>
        <a:p>
          <a:pPr>
            <a:lnSpc>
              <a:spcPct val="100000"/>
            </a:lnSpc>
            <a:defRPr b="1"/>
          </a:pPr>
          <a:r>
            <a:rPr lang="en-US"/>
            <a:t>Welcome</a:t>
          </a:r>
        </a:p>
      </dgm:t>
    </dgm:pt>
    <dgm:pt modelId="{2BE53A25-7B66-4318-81C9-C3D6364744DD}" type="parTrans" cxnId="{0071819A-A233-4409-A667-F0ABA6271154}">
      <dgm:prSet/>
      <dgm:spPr/>
      <dgm:t>
        <a:bodyPr/>
        <a:lstStyle/>
        <a:p>
          <a:endParaRPr lang="en-US"/>
        </a:p>
      </dgm:t>
    </dgm:pt>
    <dgm:pt modelId="{DEBE7214-9E77-45B7-9462-E042C27D5D01}" type="sibTrans" cxnId="{0071819A-A233-4409-A667-F0ABA6271154}">
      <dgm:prSet/>
      <dgm:spPr/>
      <dgm:t>
        <a:bodyPr/>
        <a:lstStyle/>
        <a:p>
          <a:endParaRPr lang="en-US"/>
        </a:p>
      </dgm:t>
    </dgm:pt>
    <dgm:pt modelId="{47B09624-B7DD-4BA5-B896-70212879C06A}">
      <dgm:prSet/>
      <dgm:spPr/>
      <dgm:t>
        <a:bodyPr/>
        <a:lstStyle/>
        <a:p>
          <a:pPr>
            <a:lnSpc>
              <a:spcPct val="100000"/>
            </a:lnSpc>
            <a:defRPr b="1"/>
          </a:pPr>
          <a:r>
            <a:rPr lang="en-US"/>
            <a:t>Introductions</a:t>
          </a:r>
        </a:p>
      </dgm:t>
    </dgm:pt>
    <dgm:pt modelId="{FD531F31-C182-4B43-954E-CFDF59E3CEEC}" type="parTrans" cxnId="{7D72269F-88C2-4F48-89CB-7D3DBC7032DA}">
      <dgm:prSet/>
      <dgm:spPr/>
      <dgm:t>
        <a:bodyPr/>
        <a:lstStyle/>
        <a:p>
          <a:endParaRPr lang="en-US"/>
        </a:p>
      </dgm:t>
    </dgm:pt>
    <dgm:pt modelId="{9851AB21-6B01-42F5-BB72-00AE26BA315D}" type="sibTrans" cxnId="{7D72269F-88C2-4F48-89CB-7D3DBC7032DA}">
      <dgm:prSet/>
      <dgm:spPr/>
      <dgm:t>
        <a:bodyPr/>
        <a:lstStyle/>
        <a:p>
          <a:endParaRPr lang="en-US"/>
        </a:p>
      </dgm:t>
    </dgm:pt>
    <dgm:pt modelId="{400CDCC8-8E30-4E0D-9572-1F68D35AE369}">
      <dgm:prSet/>
      <dgm:spPr/>
      <dgm:t>
        <a:bodyPr/>
        <a:lstStyle/>
        <a:p>
          <a:pPr>
            <a:lnSpc>
              <a:spcPct val="100000"/>
            </a:lnSpc>
          </a:pPr>
          <a:r>
            <a:rPr lang="en-US" dirty="0"/>
            <a:t>Who you are</a:t>
          </a:r>
        </a:p>
      </dgm:t>
    </dgm:pt>
    <dgm:pt modelId="{AC4DE159-7D39-4DA3-82F3-F84F78982036}" type="parTrans" cxnId="{27C9DF73-10AE-40B1-B483-8017D20052DF}">
      <dgm:prSet/>
      <dgm:spPr/>
      <dgm:t>
        <a:bodyPr/>
        <a:lstStyle/>
        <a:p>
          <a:endParaRPr lang="en-US"/>
        </a:p>
      </dgm:t>
    </dgm:pt>
    <dgm:pt modelId="{A69B6DA9-4C68-4372-BC87-C54618F3BAFE}" type="sibTrans" cxnId="{27C9DF73-10AE-40B1-B483-8017D20052DF}">
      <dgm:prSet/>
      <dgm:spPr/>
      <dgm:t>
        <a:bodyPr/>
        <a:lstStyle/>
        <a:p>
          <a:endParaRPr lang="en-US"/>
        </a:p>
      </dgm:t>
    </dgm:pt>
    <dgm:pt modelId="{E77B3523-3C4E-4ECC-850D-D561B6160117}">
      <dgm:prSet/>
      <dgm:spPr/>
      <dgm:t>
        <a:bodyPr/>
        <a:lstStyle/>
        <a:p>
          <a:pPr>
            <a:lnSpc>
              <a:spcPct val="100000"/>
            </a:lnSpc>
          </a:pPr>
          <a:r>
            <a:rPr lang="en-US" dirty="0"/>
            <a:t>What you do</a:t>
          </a:r>
        </a:p>
      </dgm:t>
    </dgm:pt>
    <dgm:pt modelId="{B351A241-2288-4369-B76A-CDDFAC3ADBE8}" type="parTrans" cxnId="{89F57380-B4E0-4ABC-B081-8B1F8BE5B2FD}">
      <dgm:prSet/>
      <dgm:spPr/>
      <dgm:t>
        <a:bodyPr/>
        <a:lstStyle/>
        <a:p>
          <a:endParaRPr lang="en-US"/>
        </a:p>
      </dgm:t>
    </dgm:pt>
    <dgm:pt modelId="{E48D23FC-E3FB-4406-AD9A-25CBA0115A12}" type="sibTrans" cxnId="{89F57380-B4E0-4ABC-B081-8B1F8BE5B2FD}">
      <dgm:prSet/>
      <dgm:spPr/>
      <dgm:t>
        <a:bodyPr/>
        <a:lstStyle/>
        <a:p>
          <a:endParaRPr lang="en-US"/>
        </a:p>
      </dgm:t>
    </dgm:pt>
    <dgm:pt modelId="{E438FF6A-AA0F-4AF6-8F5E-91811E322EC0}">
      <dgm:prSet/>
      <dgm:spPr/>
      <dgm:t>
        <a:bodyPr/>
        <a:lstStyle/>
        <a:p>
          <a:pPr>
            <a:lnSpc>
              <a:spcPct val="100000"/>
            </a:lnSpc>
          </a:pPr>
          <a:r>
            <a:rPr lang="en-US"/>
            <a:t>What you’ve done with AI tools</a:t>
          </a:r>
        </a:p>
      </dgm:t>
    </dgm:pt>
    <dgm:pt modelId="{4CF92500-4DEA-4E05-B406-609F7A8F1F4E}" type="parTrans" cxnId="{5148A0EB-8E94-42FE-9C27-53DC70EA789B}">
      <dgm:prSet/>
      <dgm:spPr/>
      <dgm:t>
        <a:bodyPr/>
        <a:lstStyle/>
        <a:p>
          <a:endParaRPr lang="en-US"/>
        </a:p>
      </dgm:t>
    </dgm:pt>
    <dgm:pt modelId="{C774A871-ADA8-4F02-9438-99A28AE35C1A}" type="sibTrans" cxnId="{5148A0EB-8E94-42FE-9C27-53DC70EA789B}">
      <dgm:prSet/>
      <dgm:spPr/>
      <dgm:t>
        <a:bodyPr/>
        <a:lstStyle/>
        <a:p>
          <a:endParaRPr lang="en-US"/>
        </a:p>
      </dgm:t>
    </dgm:pt>
    <dgm:pt modelId="{0DEDF133-833B-46EA-8E2C-78F8261F2447}">
      <dgm:prSet/>
      <dgm:spPr/>
      <dgm:t>
        <a:bodyPr/>
        <a:lstStyle/>
        <a:p>
          <a:pPr>
            <a:lnSpc>
              <a:spcPct val="100000"/>
            </a:lnSpc>
          </a:pPr>
          <a:r>
            <a:rPr lang="en-US"/>
            <a:t>What you want to learn</a:t>
          </a:r>
        </a:p>
      </dgm:t>
    </dgm:pt>
    <dgm:pt modelId="{BCF81F32-86B3-4258-B04C-5CFEDF195FF7}" type="parTrans" cxnId="{DE73BCC8-0E10-42BD-844F-DB85AE075391}">
      <dgm:prSet/>
      <dgm:spPr/>
      <dgm:t>
        <a:bodyPr/>
        <a:lstStyle/>
        <a:p>
          <a:endParaRPr lang="en-US"/>
        </a:p>
      </dgm:t>
    </dgm:pt>
    <dgm:pt modelId="{0FA3AD26-7678-4B94-906E-53A906172AD7}" type="sibTrans" cxnId="{DE73BCC8-0E10-42BD-844F-DB85AE075391}">
      <dgm:prSet/>
      <dgm:spPr/>
      <dgm:t>
        <a:bodyPr/>
        <a:lstStyle/>
        <a:p>
          <a:endParaRPr lang="en-US"/>
        </a:p>
      </dgm:t>
    </dgm:pt>
    <dgm:pt modelId="{8032F83A-8B3F-4BD4-AA62-ECE89DD1D49C}">
      <dgm:prSet/>
      <dgm:spPr/>
      <dgm:t>
        <a:bodyPr/>
        <a:lstStyle/>
        <a:p>
          <a:pPr>
            <a:lnSpc>
              <a:spcPct val="100000"/>
            </a:lnSpc>
          </a:pPr>
          <a:r>
            <a:rPr lang="en-US"/>
            <a:t>Who do you work for</a:t>
          </a:r>
          <a:endParaRPr lang="en-US" dirty="0"/>
        </a:p>
      </dgm:t>
    </dgm:pt>
    <dgm:pt modelId="{D4C8F710-FBCF-4ACB-B3F3-79000A3BE89C}" type="parTrans" cxnId="{D1ADE7BF-8C82-4EBC-92FC-4C0E01CE5873}">
      <dgm:prSet/>
      <dgm:spPr/>
      <dgm:t>
        <a:bodyPr/>
        <a:lstStyle/>
        <a:p>
          <a:endParaRPr lang="en-US"/>
        </a:p>
      </dgm:t>
    </dgm:pt>
    <dgm:pt modelId="{C8CB29A2-6331-4468-8EE2-1F5E3FEB89EE}" type="sibTrans" cxnId="{D1ADE7BF-8C82-4EBC-92FC-4C0E01CE5873}">
      <dgm:prSet/>
      <dgm:spPr/>
      <dgm:t>
        <a:bodyPr/>
        <a:lstStyle/>
        <a:p>
          <a:endParaRPr lang="en-US"/>
        </a:p>
      </dgm:t>
    </dgm:pt>
    <dgm:pt modelId="{80CA04FA-D1FB-4BB1-9254-EAABCF565ABB}" type="pres">
      <dgm:prSet presAssocID="{E2A70087-EC59-4C5B-A39F-FFC6E0A5E890}" presName="root" presStyleCnt="0">
        <dgm:presLayoutVars>
          <dgm:dir/>
          <dgm:resizeHandles val="exact"/>
        </dgm:presLayoutVars>
      </dgm:prSet>
      <dgm:spPr/>
    </dgm:pt>
    <dgm:pt modelId="{288B0A5C-CD14-41BB-87CC-5A6196376AF9}" type="pres">
      <dgm:prSet presAssocID="{6E4A2204-3B46-4658-A181-9F47CAAB8D6E}" presName="compNode" presStyleCnt="0"/>
      <dgm:spPr/>
    </dgm:pt>
    <dgm:pt modelId="{6F55575F-F97F-43EF-82D6-A082F92FA2A1}" type="pres">
      <dgm:prSet presAssocID="{6E4A2204-3B46-4658-A181-9F47CAAB8D6E}" presName="iconRect" presStyleLbl="node1" presStyleIdx="0" presStyleCnt="2"/>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alloons"/>
        </a:ext>
      </dgm:extLst>
    </dgm:pt>
    <dgm:pt modelId="{0C9FD2FA-5632-4528-AAD8-496B2088E401}" type="pres">
      <dgm:prSet presAssocID="{6E4A2204-3B46-4658-A181-9F47CAAB8D6E}" presName="iconSpace" presStyleCnt="0"/>
      <dgm:spPr/>
    </dgm:pt>
    <dgm:pt modelId="{EAFEB3A3-A119-4B1F-9F42-1F09668E74CC}" type="pres">
      <dgm:prSet presAssocID="{6E4A2204-3B46-4658-A181-9F47CAAB8D6E}" presName="parTx" presStyleLbl="revTx" presStyleIdx="0" presStyleCnt="4">
        <dgm:presLayoutVars>
          <dgm:chMax val="0"/>
          <dgm:chPref val="0"/>
        </dgm:presLayoutVars>
      </dgm:prSet>
      <dgm:spPr/>
    </dgm:pt>
    <dgm:pt modelId="{3C40442F-33DA-4163-94EB-ED6148EF7FCE}" type="pres">
      <dgm:prSet presAssocID="{6E4A2204-3B46-4658-A181-9F47CAAB8D6E}" presName="txSpace" presStyleCnt="0"/>
      <dgm:spPr/>
    </dgm:pt>
    <dgm:pt modelId="{916E80E7-A09E-4743-911E-10EF9EBDC1F9}" type="pres">
      <dgm:prSet presAssocID="{6E4A2204-3B46-4658-A181-9F47CAAB8D6E}" presName="desTx" presStyleLbl="revTx" presStyleIdx="1" presStyleCnt="4">
        <dgm:presLayoutVars/>
      </dgm:prSet>
      <dgm:spPr/>
    </dgm:pt>
    <dgm:pt modelId="{8D41F983-9306-4FA7-9C46-36469E7EE6CE}" type="pres">
      <dgm:prSet presAssocID="{DEBE7214-9E77-45B7-9462-E042C27D5D01}" presName="sibTrans" presStyleCnt="0"/>
      <dgm:spPr/>
    </dgm:pt>
    <dgm:pt modelId="{709B8E64-FB82-4213-BADF-89C94AA863B3}" type="pres">
      <dgm:prSet presAssocID="{47B09624-B7DD-4BA5-B896-70212879C06A}" presName="compNode" presStyleCnt="0"/>
      <dgm:spPr/>
    </dgm:pt>
    <dgm:pt modelId="{314EC855-BFCB-45B5-A007-B6537E978242}" type="pres">
      <dgm:prSet presAssocID="{47B09624-B7DD-4BA5-B896-70212879C06A}" presName="iconRect" presStyleLbl="node1" presStyleIdx="1" presStyleCnt="2"/>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Head with Gears"/>
        </a:ext>
      </dgm:extLst>
    </dgm:pt>
    <dgm:pt modelId="{D4F98EE5-0554-4DB1-973F-D9D989816A9F}" type="pres">
      <dgm:prSet presAssocID="{47B09624-B7DD-4BA5-B896-70212879C06A}" presName="iconSpace" presStyleCnt="0"/>
      <dgm:spPr/>
    </dgm:pt>
    <dgm:pt modelId="{FD470903-F8D7-4267-AC24-4367BDEA66CD}" type="pres">
      <dgm:prSet presAssocID="{47B09624-B7DD-4BA5-B896-70212879C06A}" presName="parTx" presStyleLbl="revTx" presStyleIdx="2" presStyleCnt="4">
        <dgm:presLayoutVars>
          <dgm:chMax val="0"/>
          <dgm:chPref val="0"/>
        </dgm:presLayoutVars>
      </dgm:prSet>
      <dgm:spPr/>
    </dgm:pt>
    <dgm:pt modelId="{8F2E3F7A-15E7-4F70-B58E-0DC9576875A6}" type="pres">
      <dgm:prSet presAssocID="{47B09624-B7DD-4BA5-B896-70212879C06A}" presName="txSpace" presStyleCnt="0"/>
      <dgm:spPr/>
    </dgm:pt>
    <dgm:pt modelId="{0A5A4119-3246-488F-AC0F-CB271B574A42}" type="pres">
      <dgm:prSet presAssocID="{47B09624-B7DD-4BA5-B896-70212879C06A}" presName="desTx" presStyleLbl="revTx" presStyleIdx="3" presStyleCnt="4">
        <dgm:presLayoutVars/>
      </dgm:prSet>
      <dgm:spPr/>
    </dgm:pt>
  </dgm:ptLst>
  <dgm:cxnLst>
    <dgm:cxn modelId="{826C8927-248D-476A-8181-3CF27A81ABC4}" type="presOf" srcId="{E2A70087-EC59-4C5B-A39F-FFC6E0A5E890}" destId="{80CA04FA-D1FB-4BB1-9254-EAABCF565ABB}" srcOrd="0" destOrd="0" presId="urn:microsoft.com/office/officeart/2018/5/layout/CenteredIconLabelDescriptionList"/>
    <dgm:cxn modelId="{F37BD22E-DC1D-4531-9E74-BDB12EC743FC}" type="presOf" srcId="{0DEDF133-833B-46EA-8E2C-78F8261F2447}" destId="{0A5A4119-3246-488F-AC0F-CB271B574A42}" srcOrd="0" destOrd="4" presId="urn:microsoft.com/office/officeart/2018/5/layout/CenteredIconLabelDescriptionList"/>
    <dgm:cxn modelId="{B179D14F-C90B-44C3-B64D-DD14275F6A04}" type="presOf" srcId="{E438FF6A-AA0F-4AF6-8F5E-91811E322EC0}" destId="{0A5A4119-3246-488F-AC0F-CB271B574A42}" srcOrd="0" destOrd="3" presId="urn:microsoft.com/office/officeart/2018/5/layout/CenteredIconLabelDescriptionList"/>
    <dgm:cxn modelId="{BFD50053-7515-427C-ADDB-6FA2CCF3974E}" type="presOf" srcId="{47B09624-B7DD-4BA5-B896-70212879C06A}" destId="{FD470903-F8D7-4267-AC24-4367BDEA66CD}" srcOrd="0" destOrd="0" presId="urn:microsoft.com/office/officeart/2018/5/layout/CenteredIconLabelDescriptionList"/>
    <dgm:cxn modelId="{27C9DF73-10AE-40B1-B483-8017D20052DF}" srcId="{47B09624-B7DD-4BA5-B896-70212879C06A}" destId="{400CDCC8-8E30-4E0D-9572-1F68D35AE369}" srcOrd="0" destOrd="0" parTransId="{AC4DE159-7D39-4DA3-82F3-F84F78982036}" sibTransId="{A69B6DA9-4C68-4372-BC87-C54618F3BAFE}"/>
    <dgm:cxn modelId="{E690B958-A9D6-4CBE-8CEE-DE1B3E9D38EC}" type="presOf" srcId="{E77B3523-3C4E-4ECC-850D-D561B6160117}" destId="{0A5A4119-3246-488F-AC0F-CB271B574A42}" srcOrd="0" destOrd="2" presId="urn:microsoft.com/office/officeart/2018/5/layout/CenteredIconLabelDescriptionList"/>
    <dgm:cxn modelId="{73A8717B-54F3-44D6-9158-88458DB6DB55}" type="presOf" srcId="{8032F83A-8B3F-4BD4-AA62-ECE89DD1D49C}" destId="{0A5A4119-3246-488F-AC0F-CB271B574A42}" srcOrd="0" destOrd="1" presId="urn:microsoft.com/office/officeart/2018/5/layout/CenteredIconLabelDescriptionList"/>
    <dgm:cxn modelId="{89F57380-B4E0-4ABC-B081-8B1F8BE5B2FD}" srcId="{47B09624-B7DD-4BA5-B896-70212879C06A}" destId="{E77B3523-3C4E-4ECC-850D-D561B6160117}" srcOrd="2" destOrd="0" parTransId="{B351A241-2288-4369-B76A-CDDFAC3ADBE8}" sibTransId="{E48D23FC-E3FB-4406-AD9A-25CBA0115A12}"/>
    <dgm:cxn modelId="{9E5A028F-CDCB-4312-B7C7-57AD4F6F72E2}" type="presOf" srcId="{400CDCC8-8E30-4E0D-9572-1F68D35AE369}" destId="{0A5A4119-3246-488F-AC0F-CB271B574A42}" srcOrd="0" destOrd="0" presId="urn:microsoft.com/office/officeart/2018/5/layout/CenteredIconLabelDescriptionList"/>
    <dgm:cxn modelId="{0071819A-A233-4409-A667-F0ABA6271154}" srcId="{E2A70087-EC59-4C5B-A39F-FFC6E0A5E890}" destId="{6E4A2204-3B46-4658-A181-9F47CAAB8D6E}" srcOrd="0" destOrd="0" parTransId="{2BE53A25-7B66-4318-81C9-C3D6364744DD}" sibTransId="{DEBE7214-9E77-45B7-9462-E042C27D5D01}"/>
    <dgm:cxn modelId="{7D72269F-88C2-4F48-89CB-7D3DBC7032DA}" srcId="{E2A70087-EC59-4C5B-A39F-FFC6E0A5E890}" destId="{47B09624-B7DD-4BA5-B896-70212879C06A}" srcOrd="1" destOrd="0" parTransId="{FD531F31-C182-4B43-954E-CFDF59E3CEEC}" sibTransId="{9851AB21-6B01-42F5-BB72-00AE26BA315D}"/>
    <dgm:cxn modelId="{3ED54FBF-B65C-4A0F-8937-F55B98ED3779}" type="presOf" srcId="{6E4A2204-3B46-4658-A181-9F47CAAB8D6E}" destId="{EAFEB3A3-A119-4B1F-9F42-1F09668E74CC}" srcOrd="0" destOrd="0" presId="urn:microsoft.com/office/officeart/2018/5/layout/CenteredIconLabelDescriptionList"/>
    <dgm:cxn modelId="{D1ADE7BF-8C82-4EBC-92FC-4C0E01CE5873}" srcId="{47B09624-B7DD-4BA5-B896-70212879C06A}" destId="{8032F83A-8B3F-4BD4-AA62-ECE89DD1D49C}" srcOrd="1" destOrd="0" parTransId="{D4C8F710-FBCF-4ACB-B3F3-79000A3BE89C}" sibTransId="{C8CB29A2-6331-4468-8EE2-1F5E3FEB89EE}"/>
    <dgm:cxn modelId="{DE73BCC8-0E10-42BD-844F-DB85AE075391}" srcId="{47B09624-B7DD-4BA5-B896-70212879C06A}" destId="{0DEDF133-833B-46EA-8E2C-78F8261F2447}" srcOrd="4" destOrd="0" parTransId="{BCF81F32-86B3-4258-B04C-5CFEDF195FF7}" sibTransId="{0FA3AD26-7678-4B94-906E-53A906172AD7}"/>
    <dgm:cxn modelId="{5148A0EB-8E94-42FE-9C27-53DC70EA789B}" srcId="{47B09624-B7DD-4BA5-B896-70212879C06A}" destId="{E438FF6A-AA0F-4AF6-8F5E-91811E322EC0}" srcOrd="3" destOrd="0" parTransId="{4CF92500-4DEA-4E05-B406-609F7A8F1F4E}" sibTransId="{C774A871-ADA8-4F02-9438-99A28AE35C1A}"/>
    <dgm:cxn modelId="{D886C810-56AC-4F50-821F-246A63EC6F03}" type="presParOf" srcId="{80CA04FA-D1FB-4BB1-9254-EAABCF565ABB}" destId="{288B0A5C-CD14-41BB-87CC-5A6196376AF9}" srcOrd="0" destOrd="0" presId="urn:microsoft.com/office/officeart/2018/5/layout/CenteredIconLabelDescriptionList"/>
    <dgm:cxn modelId="{650AEEE5-4805-4EE9-8C62-9FE4670CD18E}" type="presParOf" srcId="{288B0A5C-CD14-41BB-87CC-5A6196376AF9}" destId="{6F55575F-F97F-43EF-82D6-A082F92FA2A1}" srcOrd="0" destOrd="0" presId="urn:microsoft.com/office/officeart/2018/5/layout/CenteredIconLabelDescriptionList"/>
    <dgm:cxn modelId="{6BA402FC-2B52-4210-9D5C-96A52AD3A18A}" type="presParOf" srcId="{288B0A5C-CD14-41BB-87CC-5A6196376AF9}" destId="{0C9FD2FA-5632-4528-AAD8-496B2088E401}" srcOrd="1" destOrd="0" presId="urn:microsoft.com/office/officeart/2018/5/layout/CenteredIconLabelDescriptionList"/>
    <dgm:cxn modelId="{FD4C1019-3E01-4FC4-88AA-F6116A97BCD5}" type="presParOf" srcId="{288B0A5C-CD14-41BB-87CC-5A6196376AF9}" destId="{EAFEB3A3-A119-4B1F-9F42-1F09668E74CC}" srcOrd="2" destOrd="0" presId="urn:microsoft.com/office/officeart/2018/5/layout/CenteredIconLabelDescriptionList"/>
    <dgm:cxn modelId="{8BC4C4A8-4164-412C-AA66-8F782EECA103}" type="presParOf" srcId="{288B0A5C-CD14-41BB-87CC-5A6196376AF9}" destId="{3C40442F-33DA-4163-94EB-ED6148EF7FCE}" srcOrd="3" destOrd="0" presId="urn:microsoft.com/office/officeart/2018/5/layout/CenteredIconLabelDescriptionList"/>
    <dgm:cxn modelId="{D5A92FBA-0C2D-49B0-8709-1D4A55BF2A86}" type="presParOf" srcId="{288B0A5C-CD14-41BB-87CC-5A6196376AF9}" destId="{916E80E7-A09E-4743-911E-10EF9EBDC1F9}" srcOrd="4" destOrd="0" presId="urn:microsoft.com/office/officeart/2018/5/layout/CenteredIconLabelDescriptionList"/>
    <dgm:cxn modelId="{3B5AA9C5-E6AF-4991-BAF9-51ED6CB1180B}" type="presParOf" srcId="{80CA04FA-D1FB-4BB1-9254-EAABCF565ABB}" destId="{8D41F983-9306-4FA7-9C46-36469E7EE6CE}" srcOrd="1" destOrd="0" presId="urn:microsoft.com/office/officeart/2018/5/layout/CenteredIconLabelDescriptionList"/>
    <dgm:cxn modelId="{04AA16DC-F44F-486B-964B-DE83F5EBA252}" type="presParOf" srcId="{80CA04FA-D1FB-4BB1-9254-EAABCF565ABB}" destId="{709B8E64-FB82-4213-BADF-89C94AA863B3}" srcOrd="2" destOrd="0" presId="urn:microsoft.com/office/officeart/2018/5/layout/CenteredIconLabelDescriptionList"/>
    <dgm:cxn modelId="{238315FF-2074-4C18-A74D-8707C425D1CC}" type="presParOf" srcId="{709B8E64-FB82-4213-BADF-89C94AA863B3}" destId="{314EC855-BFCB-45B5-A007-B6537E978242}" srcOrd="0" destOrd="0" presId="urn:microsoft.com/office/officeart/2018/5/layout/CenteredIconLabelDescriptionList"/>
    <dgm:cxn modelId="{09294DF9-B142-40C4-BA8C-37132CBF00E5}" type="presParOf" srcId="{709B8E64-FB82-4213-BADF-89C94AA863B3}" destId="{D4F98EE5-0554-4DB1-973F-D9D989816A9F}" srcOrd="1" destOrd="0" presId="urn:microsoft.com/office/officeart/2018/5/layout/CenteredIconLabelDescriptionList"/>
    <dgm:cxn modelId="{270D1564-BF0E-4710-9A9E-3893EA9CE4DA}" type="presParOf" srcId="{709B8E64-FB82-4213-BADF-89C94AA863B3}" destId="{FD470903-F8D7-4267-AC24-4367BDEA66CD}" srcOrd="2" destOrd="0" presId="urn:microsoft.com/office/officeart/2018/5/layout/CenteredIconLabelDescriptionList"/>
    <dgm:cxn modelId="{BC1BDA59-0B42-44A8-9B5C-E33BA370520D}" type="presParOf" srcId="{709B8E64-FB82-4213-BADF-89C94AA863B3}" destId="{8F2E3F7A-15E7-4F70-B58E-0DC9576875A6}" srcOrd="3" destOrd="0" presId="urn:microsoft.com/office/officeart/2018/5/layout/CenteredIconLabelDescriptionList"/>
    <dgm:cxn modelId="{6859ED47-BA1C-460A-A81C-B50D17F0BD81}" type="presParOf" srcId="{709B8E64-FB82-4213-BADF-89C94AA863B3}" destId="{0A5A4119-3246-488F-AC0F-CB271B574A42}" srcOrd="4" destOrd="0" presId="urn:microsoft.com/office/officeart/2018/5/layout/Centered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tyle>
          <a:lnRef idx="3">
            <a:schemeClr val="lt1"/>
          </a:lnRef>
          <a:fillRef idx="1">
            <a:schemeClr val="accent6"/>
          </a:fillRef>
          <a:effectRef idx="1">
            <a:schemeClr val="accent6"/>
          </a:effectRef>
          <a:fontRef idx="minor">
            <a:schemeClr val="lt1"/>
          </a:fontRef>
        </dgm:style>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CFC1A678-C6C8-4718-B5AC-67032F57505E}"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615EEE61-265D-4924-A7E3-D421782E3B5A}">
      <dgm:prSet/>
      <dgm:spPr/>
      <dgm:t>
        <a:bodyPr/>
        <a:lstStyle/>
        <a:p>
          <a:r>
            <a:rPr lang="en-US" b="1"/>
            <a:t>Course Objective</a:t>
          </a:r>
          <a:r>
            <a:rPr lang="en-US"/>
            <a:t>: Understand how to manipulate Copilot into successfully modifying legacy codebases</a:t>
          </a:r>
        </a:p>
      </dgm:t>
    </dgm:pt>
    <dgm:pt modelId="{0344EF43-DA0D-494B-92A7-D34C0E46EB91}" type="parTrans" cxnId="{72A6F029-C91B-4BFB-B3BB-A070DB053FF8}">
      <dgm:prSet/>
      <dgm:spPr/>
      <dgm:t>
        <a:bodyPr/>
        <a:lstStyle/>
        <a:p>
          <a:endParaRPr lang="en-US"/>
        </a:p>
      </dgm:t>
    </dgm:pt>
    <dgm:pt modelId="{F9392CF0-8E08-4A82-BFDD-4983548ABCB2}" type="sibTrans" cxnId="{72A6F029-C91B-4BFB-B3BB-A070DB053FF8}">
      <dgm:prSet/>
      <dgm:spPr/>
      <dgm:t>
        <a:bodyPr/>
        <a:lstStyle/>
        <a:p>
          <a:endParaRPr lang="en-US"/>
        </a:p>
      </dgm:t>
    </dgm:pt>
    <dgm:pt modelId="{BC6A34C2-AD6A-43A0-A485-6AEA74F6B1CF}">
      <dgm:prSet/>
      <dgm:spPr/>
      <dgm:t>
        <a:bodyPr/>
        <a:lstStyle/>
        <a:p>
          <a:r>
            <a:rPr lang="en-US" b="1"/>
            <a:t>Course Perspective</a:t>
          </a:r>
          <a:r>
            <a:rPr lang="en-US"/>
            <a:t>: Focus on AI assistance and assisting the AI</a:t>
          </a:r>
        </a:p>
      </dgm:t>
    </dgm:pt>
    <dgm:pt modelId="{DAB23AF1-78D1-4436-AC54-B63FEEEADCF9}" type="parTrans" cxnId="{81FBB09A-DCFC-4352-8835-EC00B098D369}">
      <dgm:prSet/>
      <dgm:spPr/>
      <dgm:t>
        <a:bodyPr/>
        <a:lstStyle/>
        <a:p>
          <a:endParaRPr lang="en-US"/>
        </a:p>
      </dgm:t>
    </dgm:pt>
    <dgm:pt modelId="{DE52E6DA-4793-486E-988C-803FFD16495C}" type="sibTrans" cxnId="{81FBB09A-DCFC-4352-8835-EC00B098D369}">
      <dgm:prSet/>
      <dgm:spPr/>
      <dgm:t>
        <a:bodyPr/>
        <a:lstStyle/>
        <a:p>
          <a:endParaRPr lang="en-US"/>
        </a:p>
      </dgm:t>
    </dgm:pt>
    <dgm:pt modelId="{C1D16D01-4D15-449A-9D8F-AC4A90EE6F92}">
      <dgm:prSet/>
      <dgm:spPr/>
      <dgm:t>
        <a:bodyPr/>
        <a:lstStyle/>
        <a:p>
          <a:r>
            <a:rPr lang="en-US" dirty="0">
              <a:solidFill>
                <a:schemeClr val="bg1"/>
              </a:solidFill>
            </a:rPr>
            <a:t>Less emphasis on syntax</a:t>
          </a:r>
        </a:p>
      </dgm:t>
    </dgm:pt>
    <dgm:pt modelId="{0FD0140B-4CF2-45B6-A57D-30F241B24299}" type="parTrans" cxnId="{BF60B0FD-BF86-44FB-A758-130CCF4B66C0}">
      <dgm:prSet/>
      <dgm:spPr/>
      <dgm:t>
        <a:bodyPr/>
        <a:lstStyle/>
        <a:p>
          <a:endParaRPr lang="en-US"/>
        </a:p>
      </dgm:t>
    </dgm:pt>
    <dgm:pt modelId="{6650D574-0CF3-4011-A410-2834B9FE0937}" type="sibTrans" cxnId="{BF60B0FD-BF86-44FB-A758-130CCF4B66C0}">
      <dgm:prSet/>
      <dgm:spPr/>
      <dgm:t>
        <a:bodyPr/>
        <a:lstStyle/>
        <a:p>
          <a:endParaRPr lang="en-US"/>
        </a:p>
      </dgm:t>
    </dgm:pt>
    <dgm:pt modelId="{7DC65B01-47AE-4538-BF6D-E2197E069E2D}">
      <dgm:prSet/>
      <dgm:spPr/>
      <dgm:t>
        <a:bodyPr/>
        <a:lstStyle/>
        <a:p>
          <a:r>
            <a:rPr lang="en-US" dirty="0">
              <a:solidFill>
                <a:schemeClr val="bg1"/>
              </a:solidFill>
            </a:rPr>
            <a:t>More emphasis on architecture, design, code quality, refactoring</a:t>
          </a:r>
        </a:p>
      </dgm:t>
    </dgm:pt>
    <dgm:pt modelId="{20069670-89FE-4DB4-87AC-9B2140CE8E5B}" type="parTrans" cxnId="{8BBCD18D-7DE7-4CC5-A9B6-7D8E9EB94985}">
      <dgm:prSet/>
      <dgm:spPr/>
      <dgm:t>
        <a:bodyPr/>
        <a:lstStyle/>
        <a:p>
          <a:endParaRPr lang="en-US"/>
        </a:p>
      </dgm:t>
    </dgm:pt>
    <dgm:pt modelId="{127EEB94-8982-4CD6-86D2-9424C75854C1}" type="sibTrans" cxnId="{8BBCD18D-7DE7-4CC5-A9B6-7D8E9EB94985}">
      <dgm:prSet/>
      <dgm:spPr/>
      <dgm:t>
        <a:bodyPr/>
        <a:lstStyle/>
        <a:p>
          <a:endParaRPr lang="en-US"/>
        </a:p>
      </dgm:t>
    </dgm:pt>
    <dgm:pt modelId="{B4875A2D-0BC2-446E-BB58-07B6DBFBB703}">
      <dgm:prSet/>
      <dgm:spPr/>
      <dgm:t>
        <a:bodyPr/>
        <a:lstStyle/>
        <a:p>
          <a:r>
            <a:rPr lang="en-US" dirty="0">
              <a:solidFill>
                <a:schemeClr val="bg1"/>
              </a:solidFill>
            </a:rPr>
            <a:t>Moving faster with less risk</a:t>
          </a:r>
        </a:p>
      </dgm:t>
    </dgm:pt>
    <dgm:pt modelId="{4AA1F280-40A8-43C5-B291-433867E8F0F6}" type="parTrans" cxnId="{6328CEA1-AD5A-424C-B2B4-EDE77D938DAD}">
      <dgm:prSet/>
      <dgm:spPr/>
      <dgm:t>
        <a:bodyPr/>
        <a:lstStyle/>
        <a:p>
          <a:endParaRPr lang="en-US"/>
        </a:p>
      </dgm:t>
    </dgm:pt>
    <dgm:pt modelId="{08D7FD3C-7D99-4D9B-B992-CACBF64F6184}" type="sibTrans" cxnId="{6328CEA1-AD5A-424C-B2B4-EDE77D938DAD}">
      <dgm:prSet/>
      <dgm:spPr/>
      <dgm:t>
        <a:bodyPr/>
        <a:lstStyle/>
        <a:p>
          <a:endParaRPr lang="en-US"/>
        </a:p>
      </dgm:t>
    </dgm:pt>
    <dgm:pt modelId="{1BC0E1D9-20F3-4683-A37C-19B440B89514}" type="pres">
      <dgm:prSet presAssocID="{CFC1A678-C6C8-4718-B5AC-67032F57505E}" presName="linear" presStyleCnt="0">
        <dgm:presLayoutVars>
          <dgm:animLvl val="lvl"/>
          <dgm:resizeHandles val="exact"/>
        </dgm:presLayoutVars>
      </dgm:prSet>
      <dgm:spPr/>
    </dgm:pt>
    <dgm:pt modelId="{8006C1E5-7D9F-4FB2-8E23-1C6B7D6E626C}" type="pres">
      <dgm:prSet presAssocID="{615EEE61-265D-4924-A7E3-D421782E3B5A}" presName="parentText" presStyleLbl="node1" presStyleIdx="0" presStyleCnt="2">
        <dgm:presLayoutVars>
          <dgm:chMax val="0"/>
          <dgm:bulletEnabled val="1"/>
        </dgm:presLayoutVars>
      </dgm:prSet>
      <dgm:spPr/>
    </dgm:pt>
    <dgm:pt modelId="{33767991-828A-4DE1-AC63-1C13E71E0DA8}" type="pres">
      <dgm:prSet presAssocID="{F9392CF0-8E08-4A82-BFDD-4983548ABCB2}" presName="spacer" presStyleCnt="0"/>
      <dgm:spPr/>
    </dgm:pt>
    <dgm:pt modelId="{8CAB9C2A-1EF9-4F58-A298-88000800CAF9}" type="pres">
      <dgm:prSet presAssocID="{BC6A34C2-AD6A-43A0-A485-6AEA74F6B1CF}" presName="parentText" presStyleLbl="node1" presStyleIdx="1" presStyleCnt="2">
        <dgm:presLayoutVars>
          <dgm:chMax val="0"/>
          <dgm:bulletEnabled val="1"/>
        </dgm:presLayoutVars>
      </dgm:prSet>
      <dgm:spPr/>
    </dgm:pt>
    <dgm:pt modelId="{F7AA4163-5AFE-4B6B-8B25-5915AE771925}" type="pres">
      <dgm:prSet presAssocID="{BC6A34C2-AD6A-43A0-A485-6AEA74F6B1CF}" presName="childText" presStyleLbl="revTx" presStyleIdx="0" presStyleCnt="1">
        <dgm:presLayoutVars>
          <dgm:bulletEnabled val="1"/>
        </dgm:presLayoutVars>
      </dgm:prSet>
      <dgm:spPr/>
    </dgm:pt>
  </dgm:ptLst>
  <dgm:cxnLst>
    <dgm:cxn modelId="{72A6F029-C91B-4BFB-B3BB-A070DB053FF8}" srcId="{CFC1A678-C6C8-4718-B5AC-67032F57505E}" destId="{615EEE61-265D-4924-A7E3-D421782E3B5A}" srcOrd="0" destOrd="0" parTransId="{0344EF43-DA0D-494B-92A7-D34C0E46EB91}" sibTransId="{F9392CF0-8E08-4A82-BFDD-4983548ABCB2}"/>
    <dgm:cxn modelId="{F983AB2E-4F98-4C9A-AA23-AFB40268C418}" type="presOf" srcId="{B4875A2D-0BC2-446E-BB58-07B6DBFBB703}" destId="{F7AA4163-5AFE-4B6B-8B25-5915AE771925}" srcOrd="0" destOrd="2" presId="urn:microsoft.com/office/officeart/2005/8/layout/vList2"/>
    <dgm:cxn modelId="{9EC86E50-99EC-41AE-A339-26D8DE00D65F}" type="presOf" srcId="{C1D16D01-4D15-449A-9D8F-AC4A90EE6F92}" destId="{F7AA4163-5AFE-4B6B-8B25-5915AE771925}" srcOrd="0" destOrd="0" presId="urn:microsoft.com/office/officeart/2005/8/layout/vList2"/>
    <dgm:cxn modelId="{B0560882-C663-43E7-9400-BF33514C5421}" type="presOf" srcId="{7DC65B01-47AE-4538-BF6D-E2197E069E2D}" destId="{F7AA4163-5AFE-4B6B-8B25-5915AE771925}" srcOrd="0" destOrd="1" presId="urn:microsoft.com/office/officeart/2005/8/layout/vList2"/>
    <dgm:cxn modelId="{8BBCD18D-7DE7-4CC5-A9B6-7D8E9EB94985}" srcId="{BC6A34C2-AD6A-43A0-A485-6AEA74F6B1CF}" destId="{7DC65B01-47AE-4538-BF6D-E2197E069E2D}" srcOrd="1" destOrd="0" parTransId="{20069670-89FE-4DB4-87AC-9B2140CE8E5B}" sibTransId="{127EEB94-8982-4CD6-86D2-9424C75854C1}"/>
    <dgm:cxn modelId="{7CFC6F8E-AFEC-4133-A200-3554045E9FEB}" type="presOf" srcId="{BC6A34C2-AD6A-43A0-A485-6AEA74F6B1CF}" destId="{8CAB9C2A-1EF9-4F58-A298-88000800CAF9}" srcOrd="0" destOrd="0" presId="urn:microsoft.com/office/officeart/2005/8/layout/vList2"/>
    <dgm:cxn modelId="{81FBB09A-DCFC-4352-8835-EC00B098D369}" srcId="{CFC1A678-C6C8-4718-B5AC-67032F57505E}" destId="{BC6A34C2-AD6A-43A0-A485-6AEA74F6B1CF}" srcOrd="1" destOrd="0" parTransId="{DAB23AF1-78D1-4436-AC54-B63FEEEADCF9}" sibTransId="{DE52E6DA-4793-486E-988C-803FFD16495C}"/>
    <dgm:cxn modelId="{6328CEA1-AD5A-424C-B2B4-EDE77D938DAD}" srcId="{BC6A34C2-AD6A-43A0-A485-6AEA74F6B1CF}" destId="{B4875A2D-0BC2-446E-BB58-07B6DBFBB703}" srcOrd="2" destOrd="0" parTransId="{4AA1F280-40A8-43C5-B291-433867E8F0F6}" sibTransId="{08D7FD3C-7D99-4D9B-B992-CACBF64F6184}"/>
    <dgm:cxn modelId="{09949AAE-9FE8-440F-B23C-EDC7CA5D9EDF}" type="presOf" srcId="{615EEE61-265D-4924-A7E3-D421782E3B5A}" destId="{8006C1E5-7D9F-4FB2-8E23-1C6B7D6E626C}" srcOrd="0" destOrd="0" presId="urn:microsoft.com/office/officeart/2005/8/layout/vList2"/>
    <dgm:cxn modelId="{C7A156B4-A8E0-4155-8EB0-59D97FCC7F56}" type="presOf" srcId="{CFC1A678-C6C8-4718-B5AC-67032F57505E}" destId="{1BC0E1D9-20F3-4683-A37C-19B440B89514}" srcOrd="0" destOrd="0" presId="urn:microsoft.com/office/officeart/2005/8/layout/vList2"/>
    <dgm:cxn modelId="{BF60B0FD-BF86-44FB-A758-130CCF4B66C0}" srcId="{BC6A34C2-AD6A-43A0-A485-6AEA74F6B1CF}" destId="{C1D16D01-4D15-449A-9D8F-AC4A90EE6F92}" srcOrd="0" destOrd="0" parTransId="{0FD0140B-4CF2-45B6-A57D-30F241B24299}" sibTransId="{6650D574-0CF3-4011-A410-2834B9FE0937}"/>
    <dgm:cxn modelId="{B70A684E-87D2-4B16-BC94-6846964D9F7E}" type="presParOf" srcId="{1BC0E1D9-20F3-4683-A37C-19B440B89514}" destId="{8006C1E5-7D9F-4FB2-8E23-1C6B7D6E626C}" srcOrd="0" destOrd="0" presId="urn:microsoft.com/office/officeart/2005/8/layout/vList2"/>
    <dgm:cxn modelId="{FE851B29-0EB0-4EA1-8996-4404F3B437E9}" type="presParOf" srcId="{1BC0E1D9-20F3-4683-A37C-19B440B89514}" destId="{33767991-828A-4DE1-AC63-1C13E71E0DA8}" srcOrd="1" destOrd="0" presId="urn:microsoft.com/office/officeart/2005/8/layout/vList2"/>
    <dgm:cxn modelId="{B48ADB5B-1802-4C1D-8226-B8DB4F47A5B3}" type="presParOf" srcId="{1BC0E1D9-20F3-4683-A37C-19B440B89514}" destId="{8CAB9C2A-1EF9-4F58-A298-88000800CAF9}" srcOrd="2" destOrd="0" presId="urn:microsoft.com/office/officeart/2005/8/layout/vList2"/>
    <dgm:cxn modelId="{9B5F4839-EEF0-4F22-9E14-6749054552CD}" type="presParOf" srcId="{1BC0E1D9-20F3-4683-A37C-19B440B89514}" destId="{F7AA4163-5AFE-4B6B-8B25-5915AE771925}" srcOrd="3" destOrd="0" presId="urn:microsoft.com/office/officeart/2005/8/layout/vList2"/>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tyle>
          <a:lnRef idx="3">
            <a:schemeClr val="lt1"/>
          </a:lnRef>
          <a:fillRef idx="1">
            <a:schemeClr val="accent6"/>
          </a:fillRef>
          <a:effectRef idx="1">
            <a:schemeClr val="accent6"/>
          </a:effectRef>
          <a:fontRef idx="minor">
            <a:schemeClr val="lt1"/>
          </a:fontRef>
        </dgm:style>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tyle>
          <a:lnRef idx="3">
            <a:schemeClr val="lt1"/>
          </a:lnRef>
          <a:fillRef idx="1">
            <a:schemeClr val="accent6"/>
          </a:fillRef>
          <a:effectRef idx="1">
            <a:schemeClr val="accent6"/>
          </a:effectRef>
          <a:fontRef idx="minor">
            <a:schemeClr val="lt1"/>
          </a:fontRef>
        </dgm:style>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tyle>
          <a:lnRef idx="3">
            <a:schemeClr val="lt1"/>
          </a:lnRef>
          <a:fillRef idx="1">
            <a:schemeClr val="accent6"/>
          </a:fillRef>
          <a:effectRef idx="1">
            <a:schemeClr val="accent6"/>
          </a:effectRef>
          <a:fontRef idx="minor">
            <a:schemeClr val="lt1"/>
          </a:fontRef>
        </dgm:style>
      </dgm:prSet>
      <dgm:spPr/>
      <dgm:t>
        <a:bodyPr/>
        <a:lstStyle/>
        <a:p>
          <a:r>
            <a:rPr lang="en-US" dirty="0"/>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tyle>
          <a:lnRef idx="3">
            <a:schemeClr val="lt1"/>
          </a:lnRef>
          <a:fillRef idx="1">
            <a:schemeClr val="accent6"/>
          </a:fillRef>
          <a:effectRef idx="1">
            <a:schemeClr val="accent6"/>
          </a:effectRef>
          <a:fontRef idx="minor">
            <a:schemeClr val="lt1"/>
          </a:fontRef>
        </dgm:style>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tyle>
          <a:lnRef idx="3">
            <a:schemeClr val="lt1"/>
          </a:lnRef>
          <a:fillRef idx="1">
            <a:schemeClr val="accent6"/>
          </a:fillRef>
          <a:effectRef idx="1">
            <a:schemeClr val="accent6"/>
          </a:effectRef>
          <a:fontRef idx="minor">
            <a:schemeClr val="lt1"/>
          </a:fontRef>
        </dgm:style>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tyle>
          <a:lnRef idx="3">
            <a:schemeClr val="lt1"/>
          </a:lnRef>
          <a:fillRef idx="1">
            <a:schemeClr val="accent6"/>
          </a:fillRef>
          <a:effectRef idx="1">
            <a:schemeClr val="accent6"/>
          </a:effectRef>
          <a:fontRef idx="minor">
            <a:schemeClr val="lt1"/>
          </a:fontRef>
        </dgm:styl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tyle>
          <a:lnRef idx="3">
            <a:schemeClr val="lt1"/>
          </a:lnRef>
          <a:fillRef idx="1">
            <a:schemeClr val="accent6"/>
          </a:fillRef>
          <a:effectRef idx="1">
            <a:schemeClr val="accent6"/>
          </a:effectRef>
          <a:fontRef idx="minor">
            <a:schemeClr val="lt1"/>
          </a:fontRef>
        </dgm:styl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76C77108-03B6-456A-9DC9-0D48A6483642}">
      <dgm:prSet/>
      <dgm:spPr/>
      <dgm:t>
        <a:bodyPr/>
        <a:lstStyle/>
        <a:p>
          <a:r>
            <a:rPr lang="en-US" dirty="0"/>
            <a:t>What’s Next</a:t>
          </a:r>
        </a:p>
      </dgm:t>
    </dgm:pt>
    <dgm:pt modelId="{16E1A41B-7882-42EA-B36D-30F1E0AFE0F0}" type="parTrans" cxnId="{1BFCD15C-792E-4CF8-B604-8516E18AE370}">
      <dgm:prSet/>
      <dgm:spPr/>
      <dgm:t>
        <a:bodyPr/>
        <a:lstStyle/>
        <a:p>
          <a:endParaRPr lang="en-US"/>
        </a:p>
      </dgm:t>
    </dgm:pt>
    <dgm:pt modelId="{2482D31A-18A6-4DA5-88B2-E49CBFE51ADF}" type="sibTrans" cxnId="{1BFCD15C-792E-4CF8-B604-8516E18AE370}">
      <dgm:prSet/>
      <dgm:spPr/>
      <dgm:t>
        <a:bodyPr/>
        <a:lstStyle/>
        <a:p>
          <a:endParaRPr lang="en-US"/>
        </a:p>
      </dgm:t>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C9809732-D730-4B55-AB9C-4FF43E398996}" type="pres">
      <dgm:prSet presAssocID="{D5CAD8C7-F68E-47DB-9A4F-D338C9C62666}" presName="sibTrans" presStyleLbl="sibTrans1D1" presStyleIdx="8" presStyleCnt="9"/>
      <dgm:spPr/>
    </dgm:pt>
    <dgm:pt modelId="{64B829D7-2E05-4563-B4CB-9230AAA12643}" type="pres">
      <dgm:prSet presAssocID="{D5CAD8C7-F68E-47DB-9A4F-D338C9C62666}" presName="connectorText" presStyleLbl="sibTrans1D1" presStyleIdx="8" presStyleCnt="9"/>
      <dgm:spPr/>
    </dgm:pt>
    <dgm:pt modelId="{52995D4B-751F-4ECB-B5DA-BD22D360D50D}" type="pres">
      <dgm:prSet presAssocID="{76C77108-03B6-456A-9DC9-0D48A6483642}"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ECA3E22B-159C-42CF-9040-18D6207FC800}" type="presOf" srcId="{76C77108-03B6-456A-9DC9-0D48A6483642}" destId="{52995D4B-751F-4ECB-B5DA-BD22D360D50D}"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1BFCD15C-792E-4CF8-B604-8516E18AE370}" srcId="{078E72EE-1E90-466C-9655-CAA4DCA5B467}" destId="{76C77108-03B6-456A-9DC9-0D48A6483642}" srcOrd="9" destOrd="0" parTransId="{16E1A41B-7882-42EA-B36D-30F1E0AFE0F0}" sibTransId="{2482D31A-18A6-4DA5-88B2-E49CBFE51ADF}"/>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859309C0-31B7-4FEA-8303-826DEDFF6E10}" type="presOf" srcId="{D5CAD8C7-F68E-47DB-9A4F-D338C9C62666}" destId="{C9809732-D730-4B55-AB9C-4FF43E398996}"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189A5BE4-996E-4695-8A8D-200365243F0F}" type="presOf" srcId="{D5CAD8C7-F68E-47DB-9A4F-D338C9C62666}" destId="{64B829D7-2E05-4563-B4CB-9230AAA12643}" srcOrd="1"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C606AA8E-0948-4022-99B8-8E615F35B7A6}" type="presParOf" srcId="{0181DA28-EB27-4761-804B-B376FF9C80AE}" destId="{C9809732-D730-4B55-AB9C-4FF43E398996}" srcOrd="17" destOrd="0" presId="urn:microsoft.com/office/officeart/2016/7/layout/RepeatingBendingProcessNew"/>
    <dgm:cxn modelId="{6FB5DB13-87F8-458D-91FF-0BE02DB64559}" type="presParOf" srcId="{C9809732-D730-4B55-AB9C-4FF43E398996}" destId="{64B829D7-2E05-4563-B4CB-9230AAA12643}" srcOrd="0" destOrd="0" presId="urn:microsoft.com/office/officeart/2016/7/layout/RepeatingBendingProcessNew"/>
    <dgm:cxn modelId="{CFA0A08A-3EB1-46E1-B0F4-7938A5679DBD}" type="presParOf" srcId="{0181DA28-EB27-4761-804B-B376FF9C80AE}" destId="{52995D4B-751F-4ECB-B5DA-BD22D360D50D}"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078E72EE-1E90-466C-9655-CAA4DCA5B467}" type="doc">
      <dgm:prSet loTypeId="urn:microsoft.com/office/officeart/2016/7/layout/RepeatingBendingProcessNew" loCatId="process" qsTypeId="urn:microsoft.com/office/officeart/2005/8/quickstyle/simple2" qsCatId="simple" csTypeId="urn:microsoft.com/office/officeart/2005/8/colors/accent3_2" csCatId="accent3" phldr="1"/>
      <dgm:spPr/>
      <dgm:t>
        <a:bodyPr/>
        <a:lstStyle/>
        <a:p>
          <a:endParaRPr lang="en-US"/>
        </a:p>
      </dgm:t>
    </dgm:pt>
    <dgm:pt modelId="{E3BF8F47-9F39-4A87-BBDD-AE5617AFAAE2}">
      <dgm:prSet/>
      <dgm:spPr/>
      <dgm:t>
        <a:bodyPr/>
        <a:lstStyle/>
        <a:p>
          <a:r>
            <a:rPr lang="en-US"/>
            <a:t>Overview</a:t>
          </a:r>
        </a:p>
      </dgm:t>
    </dgm:pt>
    <dgm:pt modelId="{9E313B6B-0BEF-4AD8-85FA-5CEB69503B76}" type="parTrans" cxnId="{96F8BE1C-B6E0-4BBD-858C-5D576E98FFBA}">
      <dgm:prSet/>
      <dgm:spPr/>
      <dgm:t>
        <a:bodyPr/>
        <a:lstStyle/>
        <a:p>
          <a:endParaRPr lang="en-US"/>
        </a:p>
      </dgm:t>
    </dgm:pt>
    <dgm:pt modelId="{C33DF3A4-CA3D-4E61-AB29-EAB949E0AD92}" type="sibTrans" cxnId="{96F8BE1C-B6E0-4BBD-858C-5D576E98FFBA}">
      <dgm:prSet/>
      <dgm:spPr/>
      <dgm:t>
        <a:bodyPr/>
        <a:lstStyle/>
        <a:p>
          <a:endParaRPr lang="en-US"/>
        </a:p>
      </dgm:t>
    </dgm:pt>
    <dgm:pt modelId="{A7D02C78-97FB-48E0-AAA2-A5EEF2684BFA}">
      <dgm:prSet/>
      <dgm:spPr/>
      <dgm:t>
        <a:bodyPr/>
        <a:lstStyle/>
        <a:p>
          <a:r>
            <a:rPr lang="en-US"/>
            <a:t>AI Assisted Software Development</a:t>
          </a:r>
        </a:p>
      </dgm:t>
    </dgm:pt>
    <dgm:pt modelId="{CC385A04-2F97-40EB-A526-4490CFE85E10}" type="parTrans" cxnId="{32C21408-5933-4027-AAA7-4329FD6324EE}">
      <dgm:prSet/>
      <dgm:spPr/>
      <dgm:t>
        <a:bodyPr/>
        <a:lstStyle/>
        <a:p>
          <a:endParaRPr lang="en-US"/>
        </a:p>
      </dgm:t>
    </dgm:pt>
    <dgm:pt modelId="{7F8A3433-7A07-4FF2-901B-3CB786B1E3DF}" type="sibTrans" cxnId="{32C21408-5933-4027-AAA7-4329FD6324EE}">
      <dgm:prSet/>
      <dgm:spPr/>
      <dgm:t>
        <a:bodyPr/>
        <a:lstStyle/>
        <a:p>
          <a:endParaRPr lang="en-US"/>
        </a:p>
      </dgm:t>
    </dgm:pt>
    <dgm:pt modelId="{B06783FD-242F-4212-8B99-F82565760422}">
      <dgm:prSet/>
      <dgm:spPr/>
      <dgm:t>
        <a:bodyPr/>
        <a:lstStyle/>
        <a:p>
          <a:r>
            <a:rPr lang="en-US"/>
            <a:t>General Introduction to LLMs</a:t>
          </a:r>
        </a:p>
      </dgm:t>
    </dgm:pt>
    <dgm:pt modelId="{8DADE75C-745F-41A0-B229-9172860CB9CC}" type="parTrans" cxnId="{8186F13B-1E8D-4F23-ACF9-50C0BE7E9EBF}">
      <dgm:prSet/>
      <dgm:spPr/>
      <dgm:t>
        <a:bodyPr/>
        <a:lstStyle/>
        <a:p>
          <a:endParaRPr lang="en-US"/>
        </a:p>
      </dgm:t>
    </dgm:pt>
    <dgm:pt modelId="{C2F4285E-2584-4856-8887-E3EF9BFF494C}" type="sibTrans" cxnId="{8186F13B-1E8D-4F23-ACF9-50C0BE7E9EBF}">
      <dgm:prSet/>
      <dgm:spPr/>
      <dgm:t>
        <a:bodyPr/>
        <a:lstStyle/>
        <a:p>
          <a:endParaRPr lang="en-US"/>
        </a:p>
      </dgm:t>
    </dgm:pt>
    <dgm:pt modelId="{5A8573C4-22E2-48E1-A358-77D87716CB71}">
      <dgm:prSet/>
      <dgm:spPr/>
      <dgm:t>
        <a:bodyPr/>
        <a:lstStyle/>
        <a:p>
          <a:r>
            <a:rPr lang="en-US"/>
            <a:t>LLM Architecture for Code Generation</a:t>
          </a:r>
        </a:p>
      </dgm:t>
    </dgm:pt>
    <dgm:pt modelId="{366A4137-EDEC-4874-972E-151CDB779FF6}" type="parTrans" cxnId="{491B26A7-8D54-414C-86C4-278D8D0C7D38}">
      <dgm:prSet/>
      <dgm:spPr/>
      <dgm:t>
        <a:bodyPr/>
        <a:lstStyle/>
        <a:p>
          <a:endParaRPr lang="en-US"/>
        </a:p>
      </dgm:t>
    </dgm:pt>
    <dgm:pt modelId="{570DEE4B-BA90-455B-95F3-3FCEF5039E14}" type="sibTrans" cxnId="{491B26A7-8D54-414C-86C4-278D8D0C7D38}">
      <dgm:prSet/>
      <dgm:spPr/>
      <dgm:t>
        <a:bodyPr/>
        <a:lstStyle/>
        <a:p>
          <a:endParaRPr lang="en-US"/>
        </a:p>
      </dgm:t>
    </dgm:pt>
    <dgm:pt modelId="{93C533A5-AD2B-4CE2-A724-BA1867FF46BA}">
      <dgm:prSet/>
      <dgm:spPr/>
      <dgm:t>
        <a:bodyPr/>
        <a:lstStyle/>
        <a:p>
          <a:r>
            <a:rPr lang="en-US"/>
            <a:t>GitHub Copilot for Teams: Key Considerations for Adoption</a:t>
          </a:r>
        </a:p>
      </dgm:t>
    </dgm:pt>
    <dgm:pt modelId="{2094D5E2-4DDA-47DA-BDF6-B797725C758A}" type="parTrans" cxnId="{08B3D6F1-EB5B-442E-A634-31E1944ED3ED}">
      <dgm:prSet/>
      <dgm:spPr/>
      <dgm:t>
        <a:bodyPr/>
        <a:lstStyle/>
        <a:p>
          <a:endParaRPr lang="en-US"/>
        </a:p>
      </dgm:t>
    </dgm:pt>
    <dgm:pt modelId="{BB029509-DFEA-4D1A-9276-E9C7B69C5C0C}" type="sibTrans" cxnId="{08B3D6F1-EB5B-442E-A634-31E1944ED3ED}">
      <dgm:prSet/>
      <dgm:spPr/>
      <dgm:t>
        <a:bodyPr/>
        <a:lstStyle/>
        <a:p>
          <a:endParaRPr lang="en-US"/>
        </a:p>
      </dgm:t>
    </dgm:pt>
    <dgm:pt modelId="{BB287261-EB5C-4AF7-ACA5-D40ED38BA7A9}">
      <dgm:prSet/>
      <dgm:spPr/>
      <dgm:t>
        <a:bodyPr/>
        <a:lstStyle/>
        <a:p>
          <a:r>
            <a:rPr lang="en-US" dirty="0"/>
            <a:t>Intro to GitHub Copilot</a:t>
          </a:r>
        </a:p>
      </dgm:t>
    </dgm:pt>
    <dgm:pt modelId="{350EB5B6-E65F-4B9B-8A32-AA40C51EA2F1}" type="parTrans" cxnId="{598AC1C3-AD2D-4011-84E6-4145198CEFC0}">
      <dgm:prSet/>
      <dgm:spPr/>
      <dgm:t>
        <a:bodyPr/>
        <a:lstStyle/>
        <a:p>
          <a:endParaRPr lang="en-US"/>
        </a:p>
      </dgm:t>
    </dgm:pt>
    <dgm:pt modelId="{D76B7B15-FA68-444D-B518-2895A6864A86}" type="sibTrans" cxnId="{598AC1C3-AD2D-4011-84E6-4145198CEFC0}">
      <dgm:prSet/>
      <dgm:spPr/>
      <dgm:t>
        <a:bodyPr/>
        <a:lstStyle/>
        <a:p>
          <a:endParaRPr lang="en-US"/>
        </a:p>
      </dgm:t>
    </dgm:pt>
    <dgm:pt modelId="{DD463EAE-ADF9-4A99-85FD-1C90C9A27FF9}">
      <dgm:prSet/>
      <dgm:spPr/>
      <dgm:t>
        <a:bodyPr/>
        <a:lstStyle/>
        <a:p>
          <a:r>
            <a:rPr lang="en-US"/>
            <a:t>Hands-On with GitHub Copilot</a:t>
          </a:r>
        </a:p>
      </dgm:t>
    </dgm:pt>
    <dgm:pt modelId="{777F32F0-6021-4B91-A8CF-6166746FAF37}" type="parTrans" cxnId="{C104F695-B861-4F83-973C-53F72F349F11}">
      <dgm:prSet/>
      <dgm:spPr/>
      <dgm:t>
        <a:bodyPr/>
        <a:lstStyle/>
        <a:p>
          <a:endParaRPr lang="en-US"/>
        </a:p>
      </dgm:t>
    </dgm:pt>
    <dgm:pt modelId="{5EEAB2E9-83CA-4637-BCF1-28882BC521B5}" type="sibTrans" cxnId="{C104F695-B861-4F83-973C-53F72F349F11}">
      <dgm:prSet/>
      <dgm:spPr/>
      <dgm:t>
        <a:bodyPr/>
        <a:lstStyle/>
        <a:p>
          <a:endParaRPr lang="en-US"/>
        </a:p>
      </dgm:t>
    </dgm:pt>
    <dgm:pt modelId="{5D516CA3-0EFB-406A-9775-9A506D7E046E}">
      <dgm:prSet/>
      <dgm:spPr/>
      <dgm:t>
        <a:bodyPr/>
        <a:lstStyle/>
        <a:p>
          <a:r>
            <a:rPr lang="en-US" dirty="0"/>
            <a:t>Coding with Copilot</a:t>
          </a:r>
        </a:p>
      </dgm:t>
    </dgm:pt>
    <dgm:pt modelId="{465410FD-3646-4D68-8123-004BDD0EBC0E}" type="parTrans" cxnId="{94B1FE2E-7AA8-4857-A8BC-3094959F70AC}">
      <dgm:prSet/>
      <dgm:spPr/>
      <dgm:t>
        <a:bodyPr/>
        <a:lstStyle/>
        <a:p>
          <a:endParaRPr lang="en-US"/>
        </a:p>
      </dgm:t>
    </dgm:pt>
    <dgm:pt modelId="{D5CAD8C7-F68E-47DB-9A4F-D338C9C62666}" type="sibTrans" cxnId="{94B1FE2E-7AA8-4857-A8BC-3094959F70AC}">
      <dgm:prSet/>
      <dgm:spPr/>
      <dgm:t>
        <a:bodyPr/>
        <a:lstStyle/>
        <a:p>
          <a:endParaRPr lang="en-US"/>
        </a:p>
      </dgm:t>
    </dgm:pt>
    <dgm:pt modelId="{188A6C95-EB9E-48FF-A471-FC351E0A4B4E}">
      <dgm:prSet/>
      <dgm:spPr/>
      <dgm:t>
        <a:bodyPr/>
        <a:lstStyle/>
        <a:p>
          <a:r>
            <a:rPr lang="en-US" dirty="0"/>
            <a:t>Mob Programming</a:t>
          </a:r>
        </a:p>
      </dgm:t>
    </dgm:pt>
    <dgm:pt modelId="{DB26C85E-0D7F-40A4-8594-AFFBC094E2EF}" type="parTrans" cxnId="{71A35437-2BA5-4881-900D-3D8D0FD34923}">
      <dgm:prSet/>
      <dgm:spPr/>
      <dgm:t>
        <a:bodyPr/>
        <a:lstStyle/>
        <a:p>
          <a:endParaRPr lang="en-US"/>
        </a:p>
      </dgm:t>
    </dgm:pt>
    <dgm:pt modelId="{062B9D7E-1845-4860-8572-D1DA40B177F5}" type="sibTrans" cxnId="{71A35437-2BA5-4881-900D-3D8D0FD34923}">
      <dgm:prSet/>
      <dgm:spPr/>
      <dgm:t>
        <a:bodyPr/>
        <a:lstStyle/>
        <a:p>
          <a:endParaRPr lang="en-US"/>
        </a:p>
      </dgm:t>
    </dgm:pt>
    <dgm:pt modelId="{C3B5098D-C2AF-4FF2-994D-B9FD49642837}">
      <dgm:prSet>
        <dgm:style>
          <a:lnRef idx="3">
            <a:schemeClr val="lt1"/>
          </a:lnRef>
          <a:fillRef idx="1">
            <a:schemeClr val="accent6"/>
          </a:fillRef>
          <a:effectRef idx="1">
            <a:schemeClr val="accent6"/>
          </a:effectRef>
          <a:fontRef idx="minor">
            <a:schemeClr val="lt1"/>
          </a:fontRef>
        </dgm:style>
      </dgm:prSet>
      <dgm:spPr/>
      <dgm:t>
        <a:bodyPr/>
        <a:lstStyle/>
        <a:p>
          <a:r>
            <a:rPr lang="en-US" dirty="0"/>
            <a:t>What’s Next</a:t>
          </a:r>
        </a:p>
      </dgm:t>
    </dgm:pt>
    <dgm:pt modelId="{D7075F73-24C6-47EB-A63F-159FE538D8B1}" type="parTrans" cxnId="{894E0698-6B0F-446A-8917-5199D350D42B}">
      <dgm:prSet/>
      <dgm:spPr/>
    </dgm:pt>
    <dgm:pt modelId="{1E55753F-1117-4071-A7C0-29FDE4B09F5C}" type="sibTrans" cxnId="{894E0698-6B0F-446A-8917-5199D350D42B}">
      <dgm:prSet/>
      <dgm:spPr/>
    </dgm:pt>
    <dgm:pt modelId="{0181DA28-EB27-4761-804B-B376FF9C80AE}" type="pres">
      <dgm:prSet presAssocID="{078E72EE-1E90-466C-9655-CAA4DCA5B467}" presName="Name0" presStyleCnt="0">
        <dgm:presLayoutVars>
          <dgm:dir/>
          <dgm:resizeHandles val="exact"/>
        </dgm:presLayoutVars>
      </dgm:prSet>
      <dgm:spPr/>
    </dgm:pt>
    <dgm:pt modelId="{B6E7108D-565B-4BD3-8673-DEDFD9DF187E}" type="pres">
      <dgm:prSet presAssocID="{E3BF8F47-9F39-4A87-BBDD-AE5617AFAAE2}" presName="node" presStyleLbl="node1" presStyleIdx="0" presStyleCnt="10">
        <dgm:presLayoutVars>
          <dgm:bulletEnabled val="1"/>
        </dgm:presLayoutVars>
      </dgm:prSet>
      <dgm:spPr/>
    </dgm:pt>
    <dgm:pt modelId="{0846B5C6-F0F4-47DC-8F81-AEAA1A5A6FCB}" type="pres">
      <dgm:prSet presAssocID="{C33DF3A4-CA3D-4E61-AB29-EAB949E0AD92}" presName="sibTrans" presStyleLbl="sibTrans1D1" presStyleIdx="0" presStyleCnt="9"/>
      <dgm:spPr/>
    </dgm:pt>
    <dgm:pt modelId="{48777882-6825-481E-A806-08022F309CE8}" type="pres">
      <dgm:prSet presAssocID="{C33DF3A4-CA3D-4E61-AB29-EAB949E0AD92}" presName="connectorText" presStyleLbl="sibTrans1D1" presStyleIdx="0" presStyleCnt="9"/>
      <dgm:spPr/>
    </dgm:pt>
    <dgm:pt modelId="{A1FFE56D-7BD1-45EB-A3B0-6E4CB5355EFD}" type="pres">
      <dgm:prSet presAssocID="{A7D02C78-97FB-48E0-AAA2-A5EEF2684BFA}" presName="node" presStyleLbl="node1" presStyleIdx="1" presStyleCnt="10">
        <dgm:presLayoutVars>
          <dgm:bulletEnabled val="1"/>
        </dgm:presLayoutVars>
      </dgm:prSet>
      <dgm:spPr/>
    </dgm:pt>
    <dgm:pt modelId="{1AD9240B-D591-4C47-B218-9C24559A23FE}" type="pres">
      <dgm:prSet presAssocID="{7F8A3433-7A07-4FF2-901B-3CB786B1E3DF}" presName="sibTrans" presStyleLbl="sibTrans1D1" presStyleIdx="1" presStyleCnt="9"/>
      <dgm:spPr/>
    </dgm:pt>
    <dgm:pt modelId="{513E6C93-C932-4871-9AB5-AE1341AD715A}" type="pres">
      <dgm:prSet presAssocID="{7F8A3433-7A07-4FF2-901B-3CB786B1E3DF}" presName="connectorText" presStyleLbl="sibTrans1D1" presStyleIdx="1" presStyleCnt="9"/>
      <dgm:spPr/>
    </dgm:pt>
    <dgm:pt modelId="{AB6D64DC-8047-443D-8A31-58CC13B9D383}" type="pres">
      <dgm:prSet presAssocID="{B06783FD-242F-4212-8B99-F82565760422}" presName="node" presStyleLbl="node1" presStyleIdx="2" presStyleCnt="10">
        <dgm:presLayoutVars>
          <dgm:bulletEnabled val="1"/>
        </dgm:presLayoutVars>
      </dgm:prSet>
      <dgm:spPr/>
    </dgm:pt>
    <dgm:pt modelId="{7AA5533A-EDAF-46AD-98E4-6AC89ED97F51}" type="pres">
      <dgm:prSet presAssocID="{C2F4285E-2584-4856-8887-E3EF9BFF494C}" presName="sibTrans" presStyleLbl="sibTrans1D1" presStyleIdx="2" presStyleCnt="9"/>
      <dgm:spPr/>
    </dgm:pt>
    <dgm:pt modelId="{03FBCC37-9168-4CB0-B1D8-9C1B24818596}" type="pres">
      <dgm:prSet presAssocID="{C2F4285E-2584-4856-8887-E3EF9BFF494C}" presName="connectorText" presStyleLbl="sibTrans1D1" presStyleIdx="2" presStyleCnt="9"/>
      <dgm:spPr/>
    </dgm:pt>
    <dgm:pt modelId="{4EA28538-4BF0-4C5C-98B8-6E70E4E44164}" type="pres">
      <dgm:prSet presAssocID="{5A8573C4-22E2-48E1-A358-77D87716CB71}" presName="node" presStyleLbl="node1" presStyleIdx="3" presStyleCnt="10">
        <dgm:presLayoutVars>
          <dgm:bulletEnabled val="1"/>
        </dgm:presLayoutVars>
      </dgm:prSet>
      <dgm:spPr/>
    </dgm:pt>
    <dgm:pt modelId="{01EC7479-A7CE-4CBB-98A6-58413C3FDC5B}" type="pres">
      <dgm:prSet presAssocID="{570DEE4B-BA90-455B-95F3-3FCEF5039E14}" presName="sibTrans" presStyleLbl="sibTrans1D1" presStyleIdx="3" presStyleCnt="9"/>
      <dgm:spPr/>
    </dgm:pt>
    <dgm:pt modelId="{5797C131-9160-4B80-AD3B-A8F742F7F2BF}" type="pres">
      <dgm:prSet presAssocID="{570DEE4B-BA90-455B-95F3-3FCEF5039E14}" presName="connectorText" presStyleLbl="sibTrans1D1" presStyleIdx="3" presStyleCnt="9"/>
      <dgm:spPr/>
    </dgm:pt>
    <dgm:pt modelId="{98AE2357-F7A5-4CC9-A154-4BE4F723655D}" type="pres">
      <dgm:prSet presAssocID="{93C533A5-AD2B-4CE2-A724-BA1867FF46BA}" presName="node" presStyleLbl="node1" presStyleIdx="4" presStyleCnt="10">
        <dgm:presLayoutVars>
          <dgm:bulletEnabled val="1"/>
        </dgm:presLayoutVars>
      </dgm:prSet>
      <dgm:spPr/>
    </dgm:pt>
    <dgm:pt modelId="{0359592B-7BFC-47BC-89DA-6E33CAC9EFB3}" type="pres">
      <dgm:prSet presAssocID="{BB029509-DFEA-4D1A-9276-E9C7B69C5C0C}" presName="sibTrans" presStyleLbl="sibTrans1D1" presStyleIdx="4" presStyleCnt="9"/>
      <dgm:spPr/>
    </dgm:pt>
    <dgm:pt modelId="{D5B4D64C-E412-4EAE-BE90-F39DE23CD5D4}" type="pres">
      <dgm:prSet presAssocID="{BB029509-DFEA-4D1A-9276-E9C7B69C5C0C}" presName="connectorText" presStyleLbl="sibTrans1D1" presStyleIdx="4" presStyleCnt="9"/>
      <dgm:spPr/>
    </dgm:pt>
    <dgm:pt modelId="{2F0F9CB8-6173-45B1-B82F-DB885C62313E}" type="pres">
      <dgm:prSet presAssocID="{BB287261-EB5C-4AF7-ACA5-D40ED38BA7A9}" presName="node" presStyleLbl="node1" presStyleIdx="5" presStyleCnt="10">
        <dgm:presLayoutVars>
          <dgm:bulletEnabled val="1"/>
        </dgm:presLayoutVars>
      </dgm:prSet>
      <dgm:spPr/>
    </dgm:pt>
    <dgm:pt modelId="{CCC6A3C7-8078-4E96-BF5A-7661AFCE6B09}" type="pres">
      <dgm:prSet presAssocID="{D76B7B15-FA68-444D-B518-2895A6864A86}" presName="sibTrans" presStyleLbl="sibTrans1D1" presStyleIdx="5" presStyleCnt="9"/>
      <dgm:spPr/>
    </dgm:pt>
    <dgm:pt modelId="{D00B6FF7-D079-4555-BBA0-8F1055192105}" type="pres">
      <dgm:prSet presAssocID="{D76B7B15-FA68-444D-B518-2895A6864A86}" presName="connectorText" presStyleLbl="sibTrans1D1" presStyleIdx="5" presStyleCnt="9"/>
      <dgm:spPr/>
    </dgm:pt>
    <dgm:pt modelId="{F410F55C-4BF7-4FE8-94DA-75D1439EF56C}" type="pres">
      <dgm:prSet presAssocID="{DD463EAE-ADF9-4A99-85FD-1C90C9A27FF9}" presName="node" presStyleLbl="node1" presStyleIdx="6" presStyleCnt="10">
        <dgm:presLayoutVars>
          <dgm:bulletEnabled val="1"/>
        </dgm:presLayoutVars>
      </dgm:prSet>
      <dgm:spPr/>
    </dgm:pt>
    <dgm:pt modelId="{090537FF-42A5-4D30-8BAB-D0C8F5240A81}" type="pres">
      <dgm:prSet presAssocID="{5EEAB2E9-83CA-4637-BCF1-28882BC521B5}" presName="sibTrans" presStyleLbl="sibTrans1D1" presStyleIdx="6" presStyleCnt="9"/>
      <dgm:spPr/>
    </dgm:pt>
    <dgm:pt modelId="{0B07C1B7-3595-43DF-86CB-E222E379276B}" type="pres">
      <dgm:prSet presAssocID="{5EEAB2E9-83CA-4637-BCF1-28882BC521B5}" presName="connectorText" presStyleLbl="sibTrans1D1" presStyleIdx="6" presStyleCnt="9"/>
      <dgm:spPr/>
    </dgm:pt>
    <dgm:pt modelId="{8E1493D1-E5CD-4839-8D08-7186F4A84C79}" type="pres">
      <dgm:prSet presAssocID="{188A6C95-EB9E-48FF-A471-FC351E0A4B4E}" presName="node" presStyleLbl="node1" presStyleIdx="7" presStyleCnt="10">
        <dgm:presLayoutVars>
          <dgm:bulletEnabled val="1"/>
        </dgm:presLayoutVars>
      </dgm:prSet>
      <dgm:spPr/>
    </dgm:pt>
    <dgm:pt modelId="{3A589FEB-3DAF-417F-B217-B4128ECBDCAF}" type="pres">
      <dgm:prSet presAssocID="{062B9D7E-1845-4860-8572-D1DA40B177F5}" presName="sibTrans" presStyleLbl="sibTrans1D1" presStyleIdx="7" presStyleCnt="9"/>
      <dgm:spPr/>
    </dgm:pt>
    <dgm:pt modelId="{1FDB0C24-0E47-4FCD-B40B-3C63D9887342}" type="pres">
      <dgm:prSet presAssocID="{062B9D7E-1845-4860-8572-D1DA40B177F5}" presName="connectorText" presStyleLbl="sibTrans1D1" presStyleIdx="7" presStyleCnt="9"/>
      <dgm:spPr/>
    </dgm:pt>
    <dgm:pt modelId="{48010D98-457F-4956-9629-8E8CF67FD9D9}" type="pres">
      <dgm:prSet presAssocID="{5D516CA3-0EFB-406A-9775-9A506D7E046E}" presName="node" presStyleLbl="node1" presStyleIdx="8" presStyleCnt="10">
        <dgm:presLayoutVars>
          <dgm:bulletEnabled val="1"/>
        </dgm:presLayoutVars>
      </dgm:prSet>
      <dgm:spPr/>
    </dgm:pt>
    <dgm:pt modelId="{069569A2-BF35-4B40-81A9-F15D5FE602A8}" type="pres">
      <dgm:prSet presAssocID="{D5CAD8C7-F68E-47DB-9A4F-D338C9C62666}" presName="sibTrans" presStyleLbl="sibTrans1D1" presStyleIdx="8" presStyleCnt="9"/>
      <dgm:spPr/>
    </dgm:pt>
    <dgm:pt modelId="{DFB88843-E7EF-4B96-B75E-9C397A529F9A}" type="pres">
      <dgm:prSet presAssocID="{D5CAD8C7-F68E-47DB-9A4F-D338C9C62666}" presName="connectorText" presStyleLbl="sibTrans1D1" presStyleIdx="8" presStyleCnt="9"/>
      <dgm:spPr/>
    </dgm:pt>
    <dgm:pt modelId="{3718F240-0B68-4894-B759-F65CD44F84FA}" type="pres">
      <dgm:prSet presAssocID="{C3B5098D-C2AF-4FF2-994D-B9FD49642837}" presName="node" presStyleLbl="node1" presStyleIdx="9" presStyleCnt="10">
        <dgm:presLayoutVars>
          <dgm:bulletEnabled val="1"/>
        </dgm:presLayoutVars>
      </dgm:prSet>
      <dgm:spPr/>
    </dgm:pt>
  </dgm:ptLst>
  <dgm:cxnLst>
    <dgm:cxn modelId="{73658607-CFB9-49EB-90E5-D73D396648F9}" type="presOf" srcId="{C2F4285E-2584-4856-8887-E3EF9BFF494C}" destId="{03FBCC37-9168-4CB0-B1D8-9C1B24818596}" srcOrd="1" destOrd="0" presId="urn:microsoft.com/office/officeart/2016/7/layout/RepeatingBendingProcessNew"/>
    <dgm:cxn modelId="{32C21408-5933-4027-AAA7-4329FD6324EE}" srcId="{078E72EE-1E90-466C-9655-CAA4DCA5B467}" destId="{A7D02C78-97FB-48E0-AAA2-A5EEF2684BFA}" srcOrd="1" destOrd="0" parTransId="{CC385A04-2F97-40EB-A526-4490CFE85E10}" sibTransId="{7F8A3433-7A07-4FF2-901B-3CB786B1E3DF}"/>
    <dgm:cxn modelId="{F5DD591B-8B65-48BC-85FA-36B7BBD97D38}" type="presOf" srcId="{BB029509-DFEA-4D1A-9276-E9C7B69C5C0C}" destId="{0359592B-7BFC-47BC-89DA-6E33CAC9EFB3}" srcOrd="0" destOrd="0" presId="urn:microsoft.com/office/officeart/2016/7/layout/RepeatingBendingProcessNew"/>
    <dgm:cxn modelId="{96F8BE1C-B6E0-4BBD-858C-5D576E98FFBA}" srcId="{078E72EE-1E90-466C-9655-CAA4DCA5B467}" destId="{E3BF8F47-9F39-4A87-BBDD-AE5617AFAAE2}" srcOrd="0" destOrd="0" parTransId="{9E313B6B-0BEF-4AD8-85FA-5CEB69503B76}" sibTransId="{C33DF3A4-CA3D-4E61-AB29-EAB949E0AD92}"/>
    <dgm:cxn modelId="{76CA1026-A76E-4BBD-9D3F-740CD5370CD9}" type="presOf" srcId="{5EEAB2E9-83CA-4637-BCF1-28882BC521B5}" destId="{090537FF-42A5-4D30-8BAB-D0C8F5240A81}" srcOrd="0" destOrd="0" presId="urn:microsoft.com/office/officeart/2016/7/layout/RepeatingBendingProcessNew"/>
    <dgm:cxn modelId="{F9046F26-C399-4F65-8058-C8596991562E}" type="presOf" srcId="{C3B5098D-C2AF-4FF2-994D-B9FD49642837}" destId="{3718F240-0B68-4894-B759-F65CD44F84FA}" srcOrd="0" destOrd="0" presId="urn:microsoft.com/office/officeart/2016/7/layout/RepeatingBendingProcessNew"/>
    <dgm:cxn modelId="{94B1FE2E-7AA8-4857-A8BC-3094959F70AC}" srcId="{078E72EE-1E90-466C-9655-CAA4DCA5B467}" destId="{5D516CA3-0EFB-406A-9775-9A506D7E046E}" srcOrd="8" destOrd="0" parTransId="{465410FD-3646-4D68-8123-004BDD0EBC0E}" sibTransId="{D5CAD8C7-F68E-47DB-9A4F-D338C9C62666}"/>
    <dgm:cxn modelId="{2B125534-DFEB-4502-9D08-315D4CC251B3}" type="presOf" srcId="{5EEAB2E9-83CA-4637-BCF1-28882BC521B5}" destId="{0B07C1B7-3595-43DF-86CB-E222E379276B}" srcOrd="1" destOrd="0" presId="urn:microsoft.com/office/officeart/2016/7/layout/RepeatingBendingProcessNew"/>
    <dgm:cxn modelId="{71A35437-2BA5-4881-900D-3D8D0FD34923}" srcId="{078E72EE-1E90-466C-9655-CAA4DCA5B467}" destId="{188A6C95-EB9E-48FF-A471-FC351E0A4B4E}" srcOrd="7" destOrd="0" parTransId="{DB26C85E-0D7F-40A4-8594-AFFBC094E2EF}" sibTransId="{062B9D7E-1845-4860-8572-D1DA40B177F5}"/>
    <dgm:cxn modelId="{8186F13B-1E8D-4F23-ACF9-50C0BE7E9EBF}" srcId="{078E72EE-1E90-466C-9655-CAA4DCA5B467}" destId="{B06783FD-242F-4212-8B99-F82565760422}" srcOrd="2" destOrd="0" parTransId="{8DADE75C-745F-41A0-B229-9172860CB9CC}" sibTransId="{C2F4285E-2584-4856-8887-E3EF9BFF494C}"/>
    <dgm:cxn modelId="{30662A5C-9C8D-4201-A43E-D8E74F943CAA}" type="presOf" srcId="{D76B7B15-FA68-444D-B518-2895A6864A86}" destId="{D00B6FF7-D079-4555-BBA0-8F1055192105}" srcOrd="1" destOrd="0" presId="urn:microsoft.com/office/officeart/2016/7/layout/RepeatingBendingProcessNew"/>
    <dgm:cxn modelId="{5C9C1542-90A4-406B-BA9C-C37ED761A510}" type="presOf" srcId="{062B9D7E-1845-4860-8572-D1DA40B177F5}" destId="{1FDB0C24-0E47-4FCD-B40B-3C63D9887342}" srcOrd="1" destOrd="0" presId="urn:microsoft.com/office/officeart/2016/7/layout/RepeatingBendingProcessNew"/>
    <dgm:cxn modelId="{74161043-A99F-4E6B-B9B8-18921F7CA476}" type="presOf" srcId="{93C533A5-AD2B-4CE2-A724-BA1867FF46BA}" destId="{98AE2357-F7A5-4CC9-A154-4BE4F723655D}" srcOrd="0" destOrd="0" presId="urn:microsoft.com/office/officeart/2016/7/layout/RepeatingBendingProcessNew"/>
    <dgm:cxn modelId="{E4F58943-81E1-4EDA-BCA4-C4487F086A63}" type="presOf" srcId="{BB029509-DFEA-4D1A-9276-E9C7B69C5C0C}" destId="{D5B4D64C-E412-4EAE-BE90-F39DE23CD5D4}" srcOrd="1" destOrd="0" presId="urn:microsoft.com/office/officeart/2016/7/layout/RepeatingBendingProcessNew"/>
    <dgm:cxn modelId="{A2710546-4079-433C-9CDB-9A4D4C720C09}" type="presOf" srcId="{D5CAD8C7-F68E-47DB-9A4F-D338C9C62666}" destId="{DFB88843-E7EF-4B96-B75E-9C397A529F9A}" srcOrd="1" destOrd="0" presId="urn:microsoft.com/office/officeart/2016/7/layout/RepeatingBendingProcessNew"/>
    <dgm:cxn modelId="{4BFA474C-28EA-4440-925C-7923DBD8024E}" type="presOf" srcId="{5A8573C4-22E2-48E1-A358-77D87716CB71}" destId="{4EA28538-4BF0-4C5C-98B8-6E70E4E44164}" srcOrd="0" destOrd="0" presId="urn:microsoft.com/office/officeart/2016/7/layout/RepeatingBendingProcessNew"/>
    <dgm:cxn modelId="{A5D5B66D-6D22-488C-A134-3F8EB66AF0DD}" type="presOf" srcId="{7F8A3433-7A07-4FF2-901B-3CB786B1E3DF}" destId="{513E6C93-C932-4871-9AB5-AE1341AD715A}" srcOrd="1" destOrd="0" presId="urn:microsoft.com/office/officeart/2016/7/layout/RepeatingBendingProcessNew"/>
    <dgm:cxn modelId="{7A1D8171-B731-4C5E-8204-D6515D803790}" type="presOf" srcId="{E3BF8F47-9F39-4A87-BBDD-AE5617AFAAE2}" destId="{B6E7108D-565B-4BD3-8673-DEDFD9DF187E}" srcOrd="0" destOrd="0" presId="urn:microsoft.com/office/officeart/2016/7/layout/RepeatingBendingProcessNew"/>
    <dgm:cxn modelId="{0A920D76-F458-4E30-B256-A2567AF3ACA2}" type="presOf" srcId="{062B9D7E-1845-4860-8572-D1DA40B177F5}" destId="{3A589FEB-3DAF-417F-B217-B4128ECBDCAF}" srcOrd="0" destOrd="0" presId="urn:microsoft.com/office/officeart/2016/7/layout/RepeatingBendingProcessNew"/>
    <dgm:cxn modelId="{699B8376-6E50-44A0-A037-C09B941D272C}" type="presOf" srcId="{5D516CA3-0EFB-406A-9775-9A506D7E046E}" destId="{48010D98-457F-4956-9629-8E8CF67FD9D9}" srcOrd="0" destOrd="0" presId="urn:microsoft.com/office/officeart/2016/7/layout/RepeatingBendingProcessNew"/>
    <dgm:cxn modelId="{E121C256-E8EA-4500-B3DD-FB9ABA07D0B8}" type="presOf" srcId="{188A6C95-EB9E-48FF-A471-FC351E0A4B4E}" destId="{8E1493D1-E5CD-4839-8D08-7186F4A84C79}" srcOrd="0" destOrd="0" presId="urn:microsoft.com/office/officeart/2016/7/layout/RepeatingBendingProcessNew"/>
    <dgm:cxn modelId="{06400A59-3B3D-4E86-9DC9-81C07C1BFB2D}" type="presOf" srcId="{D5CAD8C7-F68E-47DB-9A4F-D338C9C62666}" destId="{069569A2-BF35-4B40-81A9-F15D5FE602A8}" srcOrd="0" destOrd="0" presId="urn:microsoft.com/office/officeart/2016/7/layout/RepeatingBendingProcessNew"/>
    <dgm:cxn modelId="{2C12E992-57EE-4BEE-9FF5-B2403AF847AE}" type="presOf" srcId="{C33DF3A4-CA3D-4E61-AB29-EAB949E0AD92}" destId="{0846B5C6-F0F4-47DC-8F81-AEAA1A5A6FCB}" srcOrd="0" destOrd="0" presId="urn:microsoft.com/office/officeart/2016/7/layout/RepeatingBendingProcessNew"/>
    <dgm:cxn modelId="{C104F695-B861-4F83-973C-53F72F349F11}" srcId="{078E72EE-1E90-466C-9655-CAA4DCA5B467}" destId="{DD463EAE-ADF9-4A99-85FD-1C90C9A27FF9}" srcOrd="6" destOrd="0" parTransId="{777F32F0-6021-4B91-A8CF-6166746FAF37}" sibTransId="{5EEAB2E9-83CA-4637-BCF1-28882BC521B5}"/>
    <dgm:cxn modelId="{894E0698-6B0F-446A-8917-5199D350D42B}" srcId="{078E72EE-1E90-466C-9655-CAA4DCA5B467}" destId="{C3B5098D-C2AF-4FF2-994D-B9FD49642837}" srcOrd="9" destOrd="0" parTransId="{D7075F73-24C6-47EB-A63F-159FE538D8B1}" sibTransId="{1E55753F-1117-4071-A7C0-29FDE4B09F5C}"/>
    <dgm:cxn modelId="{94A4EE99-3B06-447F-91F1-25833E45FEAA}" type="presOf" srcId="{570DEE4B-BA90-455B-95F3-3FCEF5039E14}" destId="{01EC7479-A7CE-4CBB-98A6-58413C3FDC5B}" srcOrd="0" destOrd="0" presId="urn:microsoft.com/office/officeart/2016/7/layout/RepeatingBendingProcessNew"/>
    <dgm:cxn modelId="{41F2AA9C-5097-4A39-A14D-03DDABC42540}" type="presOf" srcId="{7F8A3433-7A07-4FF2-901B-3CB786B1E3DF}" destId="{1AD9240B-D591-4C47-B218-9C24559A23FE}" srcOrd="0" destOrd="0" presId="urn:microsoft.com/office/officeart/2016/7/layout/RepeatingBendingProcessNew"/>
    <dgm:cxn modelId="{491B26A7-8D54-414C-86C4-278D8D0C7D38}" srcId="{078E72EE-1E90-466C-9655-CAA4DCA5B467}" destId="{5A8573C4-22E2-48E1-A358-77D87716CB71}" srcOrd="3" destOrd="0" parTransId="{366A4137-EDEC-4874-972E-151CDB779FF6}" sibTransId="{570DEE4B-BA90-455B-95F3-3FCEF5039E14}"/>
    <dgm:cxn modelId="{F6A81BB3-1025-4190-9DC2-AF891F6973EB}" type="presOf" srcId="{D76B7B15-FA68-444D-B518-2895A6864A86}" destId="{CCC6A3C7-8078-4E96-BF5A-7661AFCE6B09}" srcOrd="0" destOrd="0" presId="urn:microsoft.com/office/officeart/2016/7/layout/RepeatingBendingProcessNew"/>
    <dgm:cxn modelId="{598AC1C3-AD2D-4011-84E6-4145198CEFC0}" srcId="{078E72EE-1E90-466C-9655-CAA4DCA5B467}" destId="{BB287261-EB5C-4AF7-ACA5-D40ED38BA7A9}" srcOrd="5" destOrd="0" parTransId="{350EB5B6-E65F-4B9B-8A32-AA40C51EA2F1}" sibTransId="{D76B7B15-FA68-444D-B518-2895A6864A86}"/>
    <dgm:cxn modelId="{5B07D8CF-ADF1-4448-A639-46EE9830111A}" type="presOf" srcId="{C33DF3A4-CA3D-4E61-AB29-EAB949E0AD92}" destId="{48777882-6825-481E-A806-08022F309CE8}" srcOrd="1" destOrd="0" presId="urn:microsoft.com/office/officeart/2016/7/layout/RepeatingBendingProcessNew"/>
    <dgm:cxn modelId="{1F60A5D6-FE82-4EDA-A589-735F0901E3AE}" type="presOf" srcId="{078E72EE-1E90-466C-9655-CAA4DCA5B467}" destId="{0181DA28-EB27-4761-804B-B376FF9C80AE}" srcOrd="0" destOrd="0" presId="urn:microsoft.com/office/officeart/2016/7/layout/RepeatingBendingProcessNew"/>
    <dgm:cxn modelId="{0AC09DD8-0A91-4BB4-8EBB-8DA51EB66645}" type="presOf" srcId="{DD463EAE-ADF9-4A99-85FD-1C90C9A27FF9}" destId="{F410F55C-4BF7-4FE8-94DA-75D1439EF56C}" srcOrd="0" destOrd="0" presId="urn:microsoft.com/office/officeart/2016/7/layout/RepeatingBendingProcessNew"/>
    <dgm:cxn modelId="{D63607EB-F951-4D2E-ADAA-2E97F79AD2C2}" type="presOf" srcId="{C2F4285E-2584-4856-8887-E3EF9BFF494C}" destId="{7AA5533A-EDAF-46AD-98E4-6AC89ED97F51}" srcOrd="0" destOrd="0" presId="urn:microsoft.com/office/officeart/2016/7/layout/RepeatingBendingProcessNew"/>
    <dgm:cxn modelId="{6A0129EE-1B2C-4902-AB1E-F535E60875C2}" type="presOf" srcId="{B06783FD-242F-4212-8B99-F82565760422}" destId="{AB6D64DC-8047-443D-8A31-58CC13B9D383}" srcOrd="0" destOrd="0" presId="urn:microsoft.com/office/officeart/2016/7/layout/RepeatingBendingProcessNew"/>
    <dgm:cxn modelId="{5D0397F0-0344-4B9E-98AC-89086361430F}" type="presOf" srcId="{A7D02C78-97FB-48E0-AAA2-A5EEF2684BFA}" destId="{A1FFE56D-7BD1-45EB-A3B0-6E4CB5355EFD}" srcOrd="0" destOrd="0" presId="urn:microsoft.com/office/officeart/2016/7/layout/RepeatingBendingProcessNew"/>
    <dgm:cxn modelId="{08B3D6F1-EB5B-442E-A634-31E1944ED3ED}" srcId="{078E72EE-1E90-466C-9655-CAA4DCA5B467}" destId="{93C533A5-AD2B-4CE2-A724-BA1867FF46BA}" srcOrd="4" destOrd="0" parTransId="{2094D5E2-4DDA-47DA-BDF6-B797725C758A}" sibTransId="{BB029509-DFEA-4D1A-9276-E9C7B69C5C0C}"/>
    <dgm:cxn modelId="{BBAAF4F3-7B73-434A-8EB7-420C654923F2}" type="presOf" srcId="{BB287261-EB5C-4AF7-ACA5-D40ED38BA7A9}" destId="{2F0F9CB8-6173-45B1-B82F-DB885C62313E}" srcOrd="0" destOrd="0" presId="urn:microsoft.com/office/officeart/2016/7/layout/RepeatingBendingProcessNew"/>
    <dgm:cxn modelId="{C921EAFC-44E6-4690-A88E-E4887341EBC8}" type="presOf" srcId="{570DEE4B-BA90-455B-95F3-3FCEF5039E14}" destId="{5797C131-9160-4B80-AD3B-A8F742F7F2BF}" srcOrd="1" destOrd="0" presId="urn:microsoft.com/office/officeart/2016/7/layout/RepeatingBendingProcessNew"/>
    <dgm:cxn modelId="{164F29B0-D020-421A-AEA8-7CA3F754A03C}" type="presParOf" srcId="{0181DA28-EB27-4761-804B-B376FF9C80AE}" destId="{B6E7108D-565B-4BD3-8673-DEDFD9DF187E}" srcOrd="0" destOrd="0" presId="urn:microsoft.com/office/officeart/2016/7/layout/RepeatingBendingProcessNew"/>
    <dgm:cxn modelId="{CD0CD353-AF22-4B22-9A6A-84C2A6412467}" type="presParOf" srcId="{0181DA28-EB27-4761-804B-B376FF9C80AE}" destId="{0846B5C6-F0F4-47DC-8F81-AEAA1A5A6FCB}" srcOrd="1" destOrd="0" presId="urn:microsoft.com/office/officeart/2016/7/layout/RepeatingBendingProcessNew"/>
    <dgm:cxn modelId="{76B2DB2C-68FC-4FB3-8EE3-B0EB7F7CE601}" type="presParOf" srcId="{0846B5C6-F0F4-47DC-8F81-AEAA1A5A6FCB}" destId="{48777882-6825-481E-A806-08022F309CE8}" srcOrd="0" destOrd="0" presId="urn:microsoft.com/office/officeart/2016/7/layout/RepeatingBendingProcessNew"/>
    <dgm:cxn modelId="{996F5FA9-6C22-4B67-A447-D011DBCC985B}" type="presParOf" srcId="{0181DA28-EB27-4761-804B-B376FF9C80AE}" destId="{A1FFE56D-7BD1-45EB-A3B0-6E4CB5355EFD}" srcOrd="2" destOrd="0" presId="urn:microsoft.com/office/officeart/2016/7/layout/RepeatingBendingProcessNew"/>
    <dgm:cxn modelId="{6B0F7210-3D2F-474A-B74A-069C1387F471}" type="presParOf" srcId="{0181DA28-EB27-4761-804B-B376FF9C80AE}" destId="{1AD9240B-D591-4C47-B218-9C24559A23FE}" srcOrd="3" destOrd="0" presId="urn:microsoft.com/office/officeart/2016/7/layout/RepeatingBendingProcessNew"/>
    <dgm:cxn modelId="{9C62B25C-2D47-4DF9-BA78-D2D4A1C8ECC1}" type="presParOf" srcId="{1AD9240B-D591-4C47-B218-9C24559A23FE}" destId="{513E6C93-C932-4871-9AB5-AE1341AD715A}" srcOrd="0" destOrd="0" presId="urn:microsoft.com/office/officeart/2016/7/layout/RepeatingBendingProcessNew"/>
    <dgm:cxn modelId="{E6BEC66B-D2F9-467A-8C48-AFDD2E76A331}" type="presParOf" srcId="{0181DA28-EB27-4761-804B-B376FF9C80AE}" destId="{AB6D64DC-8047-443D-8A31-58CC13B9D383}" srcOrd="4" destOrd="0" presId="urn:microsoft.com/office/officeart/2016/7/layout/RepeatingBendingProcessNew"/>
    <dgm:cxn modelId="{7DAEC7E0-1CE7-4023-8704-E5C3055F6AF8}" type="presParOf" srcId="{0181DA28-EB27-4761-804B-B376FF9C80AE}" destId="{7AA5533A-EDAF-46AD-98E4-6AC89ED97F51}" srcOrd="5" destOrd="0" presId="urn:microsoft.com/office/officeart/2016/7/layout/RepeatingBendingProcessNew"/>
    <dgm:cxn modelId="{CE8E95A7-D7DF-4480-8557-96464493F77A}" type="presParOf" srcId="{7AA5533A-EDAF-46AD-98E4-6AC89ED97F51}" destId="{03FBCC37-9168-4CB0-B1D8-9C1B24818596}" srcOrd="0" destOrd="0" presId="urn:microsoft.com/office/officeart/2016/7/layout/RepeatingBendingProcessNew"/>
    <dgm:cxn modelId="{50AF6C1A-83EB-4F7C-B238-905A88A49F63}" type="presParOf" srcId="{0181DA28-EB27-4761-804B-B376FF9C80AE}" destId="{4EA28538-4BF0-4C5C-98B8-6E70E4E44164}" srcOrd="6" destOrd="0" presId="urn:microsoft.com/office/officeart/2016/7/layout/RepeatingBendingProcessNew"/>
    <dgm:cxn modelId="{AA2DC948-46AE-45B5-9251-242B949A2F20}" type="presParOf" srcId="{0181DA28-EB27-4761-804B-B376FF9C80AE}" destId="{01EC7479-A7CE-4CBB-98A6-58413C3FDC5B}" srcOrd="7" destOrd="0" presId="urn:microsoft.com/office/officeart/2016/7/layout/RepeatingBendingProcessNew"/>
    <dgm:cxn modelId="{73357E0C-58D7-4C65-9DC1-9639549684C9}" type="presParOf" srcId="{01EC7479-A7CE-4CBB-98A6-58413C3FDC5B}" destId="{5797C131-9160-4B80-AD3B-A8F742F7F2BF}" srcOrd="0" destOrd="0" presId="urn:microsoft.com/office/officeart/2016/7/layout/RepeatingBendingProcessNew"/>
    <dgm:cxn modelId="{F247F4A8-4594-4E95-855D-77081ECC34DF}" type="presParOf" srcId="{0181DA28-EB27-4761-804B-B376FF9C80AE}" destId="{98AE2357-F7A5-4CC9-A154-4BE4F723655D}" srcOrd="8" destOrd="0" presId="urn:microsoft.com/office/officeart/2016/7/layout/RepeatingBendingProcessNew"/>
    <dgm:cxn modelId="{C9D3BC0D-A2D9-42B7-8831-C4CA258BA66C}" type="presParOf" srcId="{0181DA28-EB27-4761-804B-B376FF9C80AE}" destId="{0359592B-7BFC-47BC-89DA-6E33CAC9EFB3}" srcOrd="9" destOrd="0" presId="urn:microsoft.com/office/officeart/2016/7/layout/RepeatingBendingProcessNew"/>
    <dgm:cxn modelId="{8A2922EE-9804-4BF1-BE62-135BAA3AD50D}" type="presParOf" srcId="{0359592B-7BFC-47BC-89DA-6E33CAC9EFB3}" destId="{D5B4D64C-E412-4EAE-BE90-F39DE23CD5D4}" srcOrd="0" destOrd="0" presId="urn:microsoft.com/office/officeart/2016/7/layout/RepeatingBendingProcessNew"/>
    <dgm:cxn modelId="{13CAF4AE-9C38-48C4-9759-B22A2833E7EA}" type="presParOf" srcId="{0181DA28-EB27-4761-804B-B376FF9C80AE}" destId="{2F0F9CB8-6173-45B1-B82F-DB885C62313E}" srcOrd="10" destOrd="0" presId="urn:microsoft.com/office/officeart/2016/7/layout/RepeatingBendingProcessNew"/>
    <dgm:cxn modelId="{10CE660F-1655-42B7-A793-94D639C5551E}" type="presParOf" srcId="{0181DA28-EB27-4761-804B-B376FF9C80AE}" destId="{CCC6A3C7-8078-4E96-BF5A-7661AFCE6B09}" srcOrd="11" destOrd="0" presId="urn:microsoft.com/office/officeart/2016/7/layout/RepeatingBendingProcessNew"/>
    <dgm:cxn modelId="{12B767D5-2B1B-47C1-ABC8-31DBEBD2E3AB}" type="presParOf" srcId="{CCC6A3C7-8078-4E96-BF5A-7661AFCE6B09}" destId="{D00B6FF7-D079-4555-BBA0-8F1055192105}" srcOrd="0" destOrd="0" presId="urn:microsoft.com/office/officeart/2016/7/layout/RepeatingBendingProcessNew"/>
    <dgm:cxn modelId="{CB5061A1-4AB4-4E3E-9615-D37C1A4E6D4F}" type="presParOf" srcId="{0181DA28-EB27-4761-804B-B376FF9C80AE}" destId="{F410F55C-4BF7-4FE8-94DA-75D1439EF56C}" srcOrd="12" destOrd="0" presId="urn:microsoft.com/office/officeart/2016/7/layout/RepeatingBendingProcessNew"/>
    <dgm:cxn modelId="{1F7F2C17-3B7B-4087-BBEB-1D9CED95755B}" type="presParOf" srcId="{0181DA28-EB27-4761-804B-B376FF9C80AE}" destId="{090537FF-42A5-4D30-8BAB-D0C8F5240A81}" srcOrd="13" destOrd="0" presId="urn:microsoft.com/office/officeart/2016/7/layout/RepeatingBendingProcessNew"/>
    <dgm:cxn modelId="{CA7851B1-D2B0-4C8D-BEFF-3A0E48847191}" type="presParOf" srcId="{090537FF-42A5-4D30-8BAB-D0C8F5240A81}" destId="{0B07C1B7-3595-43DF-86CB-E222E379276B}" srcOrd="0" destOrd="0" presId="urn:microsoft.com/office/officeart/2016/7/layout/RepeatingBendingProcessNew"/>
    <dgm:cxn modelId="{06C70E61-5498-46CE-BD8E-5BBBF9D3B0D8}" type="presParOf" srcId="{0181DA28-EB27-4761-804B-B376FF9C80AE}" destId="{8E1493D1-E5CD-4839-8D08-7186F4A84C79}" srcOrd="14" destOrd="0" presId="urn:microsoft.com/office/officeart/2016/7/layout/RepeatingBendingProcessNew"/>
    <dgm:cxn modelId="{4048C9AA-2217-4872-8E78-49B185B4A6D9}" type="presParOf" srcId="{0181DA28-EB27-4761-804B-B376FF9C80AE}" destId="{3A589FEB-3DAF-417F-B217-B4128ECBDCAF}" srcOrd="15" destOrd="0" presId="urn:microsoft.com/office/officeart/2016/7/layout/RepeatingBendingProcessNew"/>
    <dgm:cxn modelId="{90EBCD29-A559-4BDF-BE65-47B8C6546FE8}" type="presParOf" srcId="{3A589FEB-3DAF-417F-B217-B4128ECBDCAF}" destId="{1FDB0C24-0E47-4FCD-B40B-3C63D9887342}" srcOrd="0" destOrd="0" presId="urn:microsoft.com/office/officeart/2016/7/layout/RepeatingBendingProcessNew"/>
    <dgm:cxn modelId="{2918268E-20D2-4E27-AD52-E70155C88E20}" type="presParOf" srcId="{0181DA28-EB27-4761-804B-B376FF9C80AE}" destId="{48010D98-457F-4956-9629-8E8CF67FD9D9}" srcOrd="16" destOrd="0" presId="urn:microsoft.com/office/officeart/2016/7/layout/RepeatingBendingProcessNew"/>
    <dgm:cxn modelId="{94633228-A4A1-4A6E-831E-F3E7C7E23E60}" type="presParOf" srcId="{0181DA28-EB27-4761-804B-B376FF9C80AE}" destId="{069569A2-BF35-4B40-81A9-F15D5FE602A8}" srcOrd="17" destOrd="0" presId="urn:microsoft.com/office/officeart/2016/7/layout/RepeatingBendingProcessNew"/>
    <dgm:cxn modelId="{ACBFEB49-A715-4E4D-8B66-069A5E09E7D9}" type="presParOf" srcId="{069569A2-BF35-4B40-81A9-F15D5FE602A8}" destId="{DFB88843-E7EF-4B96-B75E-9C397A529F9A}" srcOrd="0" destOrd="0" presId="urn:microsoft.com/office/officeart/2016/7/layout/RepeatingBendingProcessNew"/>
    <dgm:cxn modelId="{F8D7D9C5-3611-47E8-9EB9-5408246065A1}" type="presParOf" srcId="{0181DA28-EB27-4761-804B-B376FF9C80AE}" destId="{3718F240-0B68-4894-B759-F65CD44F84FA}" srcOrd="18"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B723E61-FD6A-4D78-AE1D-74E11DEA6B94}">
      <dsp:nvSpPr>
        <dsp:cNvPr id="0" name=""/>
        <dsp:cNvSpPr/>
      </dsp:nvSpPr>
      <dsp:spPr>
        <a:xfrm>
          <a:off x="0" y="398"/>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C7532F8-D900-40A9-9D1B-93C1B4790169}">
      <dsp:nvSpPr>
        <dsp:cNvPr id="0" name=""/>
        <dsp:cNvSpPr/>
      </dsp:nvSpPr>
      <dsp:spPr>
        <a:xfrm>
          <a:off x="281991" y="210143"/>
          <a:ext cx="512711" cy="51271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7E12399-D9BF-413F-9CCA-3D6C19A780F4}">
      <dsp:nvSpPr>
        <dsp:cNvPr id="0" name=""/>
        <dsp:cNvSpPr/>
      </dsp:nvSpPr>
      <dsp:spPr>
        <a:xfrm>
          <a:off x="1076693" y="398"/>
          <a:ext cx="6810006"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dirty="0"/>
            <a:t>Principal Software Engineer at Code Staffing</a:t>
          </a:r>
        </a:p>
      </dsp:txBody>
      <dsp:txXfrm>
        <a:off x="1076693" y="398"/>
        <a:ext cx="6810006" cy="932202"/>
      </dsp:txXfrm>
    </dsp:sp>
    <dsp:sp modelId="{F7EF9AAE-6EA6-48BC-8CE6-E43A4019C779}">
      <dsp:nvSpPr>
        <dsp:cNvPr id="0" name=""/>
        <dsp:cNvSpPr/>
      </dsp:nvSpPr>
      <dsp:spPr>
        <a:xfrm>
          <a:off x="0" y="1165650"/>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054A214-D016-4B03-93F4-AC8EDBAF1AEA}">
      <dsp:nvSpPr>
        <dsp:cNvPr id="0" name=""/>
        <dsp:cNvSpPr/>
      </dsp:nvSpPr>
      <dsp:spPr>
        <a:xfrm>
          <a:off x="281991" y="1375396"/>
          <a:ext cx="512711" cy="51271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23F68DA-5884-4A47-AB69-109D4EA49749}">
      <dsp:nvSpPr>
        <dsp:cNvPr id="0" name=""/>
        <dsp:cNvSpPr/>
      </dsp:nvSpPr>
      <dsp:spPr>
        <a:xfrm>
          <a:off x="1076693" y="1165650"/>
          <a:ext cx="6810006"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a:t>Played roles of developer, architect, devops engineer, platform engineer, test architect, release manager</a:t>
          </a:r>
        </a:p>
      </dsp:txBody>
      <dsp:txXfrm>
        <a:off x="1076693" y="1165650"/>
        <a:ext cx="6810006" cy="932202"/>
      </dsp:txXfrm>
    </dsp:sp>
    <dsp:sp modelId="{1F150B33-5B01-41D7-B34B-31321D5314B8}">
      <dsp:nvSpPr>
        <dsp:cNvPr id="0" name=""/>
        <dsp:cNvSpPr/>
      </dsp:nvSpPr>
      <dsp:spPr>
        <a:xfrm>
          <a:off x="0" y="2330903"/>
          <a:ext cx="7886700" cy="932202"/>
        </a:xfrm>
        <a:prstGeom prst="roundRect">
          <a:avLst>
            <a:gd name="adj" fmla="val 10000"/>
          </a:avLst>
        </a:prstGeom>
        <a:solidFill>
          <a:schemeClr val="accent2">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F0486E93-85B6-4940-9839-EC6F6438470B}">
      <dsp:nvSpPr>
        <dsp:cNvPr id="0" name=""/>
        <dsp:cNvSpPr/>
      </dsp:nvSpPr>
      <dsp:spPr>
        <a:xfrm>
          <a:off x="281991" y="2540649"/>
          <a:ext cx="512711" cy="512711"/>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ADFF1338-B351-4D54-8EB2-71C9330684E6}">
      <dsp:nvSpPr>
        <dsp:cNvPr id="0" name=""/>
        <dsp:cNvSpPr/>
      </dsp:nvSpPr>
      <dsp:spPr>
        <a:xfrm>
          <a:off x="1076693" y="2330903"/>
          <a:ext cx="3549015"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800100">
            <a:lnSpc>
              <a:spcPct val="90000"/>
            </a:lnSpc>
            <a:spcBef>
              <a:spcPct val="0"/>
            </a:spcBef>
            <a:spcAft>
              <a:spcPct val="35000"/>
            </a:spcAft>
            <a:buNone/>
          </a:pPr>
          <a:r>
            <a:rPr lang="en-US" sz="1800" kern="1200"/>
            <a:t>AI/ML Enthusiast and advocate for Effectively using AI to write code</a:t>
          </a:r>
        </a:p>
      </dsp:txBody>
      <dsp:txXfrm>
        <a:off x="1076693" y="2330903"/>
        <a:ext cx="3549015" cy="932202"/>
      </dsp:txXfrm>
    </dsp:sp>
    <dsp:sp modelId="{D3707FF8-46B5-4898-83C6-BFB962BB255D}">
      <dsp:nvSpPr>
        <dsp:cNvPr id="0" name=""/>
        <dsp:cNvSpPr/>
      </dsp:nvSpPr>
      <dsp:spPr>
        <a:xfrm>
          <a:off x="4625708" y="2330903"/>
          <a:ext cx="3260991" cy="93220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8658" tIns="98658" rIns="98658" bIns="98658" numCol="1" spcCol="1270" anchor="ctr" anchorCtr="0">
          <a:noAutofit/>
        </a:bodyPr>
        <a:lstStyle/>
        <a:p>
          <a:pPr marL="0" lvl="0" indent="0" algn="l" defTabSz="488950">
            <a:lnSpc>
              <a:spcPct val="90000"/>
            </a:lnSpc>
            <a:spcBef>
              <a:spcPct val="0"/>
            </a:spcBef>
            <a:spcAft>
              <a:spcPct val="35000"/>
            </a:spcAft>
            <a:buNone/>
          </a:pPr>
          <a:r>
            <a:rPr lang="en-US" sz="1100" kern="1200"/>
            <a:t>LinkedIn: www.linkedin.com/in/johnmichaelmiller</a:t>
          </a:r>
        </a:p>
        <a:p>
          <a:pPr marL="0" lvl="0" indent="0" algn="l" defTabSz="488950">
            <a:lnSpc>
              <a:spcPct val="90000"/>
            </a:lnSpc>
            <a:spcBef>
              <a:spcPct val="0"/>
            </a:spcBef>
            <a:spcAft>
              <a:spcPct val="35000"/>
            </a:spcAft>
            <a:buNone/>
          </a:pPr>
          <a:r>
            <a:rPr lang="en-US" sz="1100" kern="1200"/>
            <a:t>Email: john.miller@codestaffing.com</a:t>
          </a:r>
        </a:p>
        <a:p>
          <a:pPr marL="0" lvl="0" indent="0" algn="l" defTabSz="488950">
            <a:lnSpc>
              <a:spcPct val="90000"/>
            </a:lnSpc>
            <a:spcBef>
              <a:spcPct val="0"/>
            </a:spcBef>
            <a:spcAft>
              <a:spcPct val="35000"/>
            </a:spcAft>
            <a:buNone/>
          </a:pPr>
          <a:r>
            <a:rPr lang="en-US" sz="1100" kern="1200"/>
            <a:t>Blog: https://codemag.com/blog/AIPractitioner</a:t>
          </a:r>
        </a:p>
      </dsp:txBody>
      <dsp:txXfrm>
        <a:off x="4625708" y="2330903"/>
        <a:ext cx="3260991" cy="93220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F55575F-F97F-43EF-82D6-A082F92FA2A1}">
      <dsp:nvSpPr>
        <dsp:cNvPr id="0" name=""/>
        <dsp:cNvSpPr/>
      </dsp:nvSpPr>
      <dsp:spPr>
        <a:xfrm>
          <a:off x="1168919" y="25725"/>
          <a:ext cx="1252377" cy="1234921"/>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AFEB3A3-A119-4B1F-9F42-1F09668E74CC}">
      <dsp:nvSpPr>
        <dsp:cNvPr id="0" name=""/>
        <dsp:cNvSpPr/>
      </dsp:nvSpPr>
      <dsp:spPr>
        <a:xfrm>
          <a:off x="5997" y="1417163"/>
          <a:ext cx="3578220" cy="529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100000"/>
            </a:lnSpc>
            <a:spcBef>
              <a:spcPct val="0"/>
            </a:spcBef>
            <a:spcAft>
              <a:spcPct val="35000"/>
            </a:spcAft>
            <a:buNone/>
            <a:defRPr b="1"/>
          </a:pPr>
          <a:r>
            <a:rPr lang="en-US" sz="3400" kern="1200"/>
            <a:t>Welcome</a:t>
          </a:r>
        </a:p>
      </dsp:txBody>
      <dsp:txXfrm>
        <a:off x="5997" y="1417163"/>
        <a:ext cx="3578220" cy="529252"/>
      </dsp:txXfrm>
    </dsp:sp>
    <dsp:sp modelId="{916E80E7-A09E-4743-911E-10EF9EBDC1F9}">
      <dsp:nvSpPr>
        <dsp:cNvPr id="0" name=""/>
        <dsp:cNvSpPr/>
      </dsp:nvSpPr>
      <dsp:spPr>
        <a:xfrm>
          <a:off x="5997" y="2019214"/>
          <a:ext cx="3578220" cy="1646437"/>
        </a:xfrm>
        <a:prstGeom prst="rect">
          <a:avLst/>
        </a:prstGeom>
        <a:noFill/>
        <a:ln>
          <a:noFill/>
        </a:ln>
        <a:effectLst/>
      </dsp:spPr>
      <dsp:style>
        <a:lnRef idx="0">
          <a:scrgbClr r="0" g="0" b="0"/>
        </a:lnRef>
        <a:fillRef idx="0">
          <a:scrgbClr r="0" g="0" b="0"/>
        </a:fillRef>
        <a:effectRef idx="0">
          <a:scrgbClr r="0" g="0" b="0"/>
        </a:effectRef>
        <a:fontRef idx="minor"/>
      </dsp:style>
    </dsp:sp>
    <dsp:sp modelId="{314EC855-BFCB-45B5-A007-B6537E978242}">
      <dsp:nvSpPr>
        <dsp:cNvPr id="0" name=""/>
        <dsp:cNvSpPr/>
      </dsp:nvSpPr>
      <dsp:spPr>
        <a:xfrm>
          <a:off x="5373328" y="25725"/>
          <a:ext cx="1252377" cy="1234921"/>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D470903-F8D7-4267-AC24-4367BDEA66CD}">
      <dsp:nvSpPr>
        <dsp:cNvPr id="0" name=""/>
        <dsp:cNvSpPr/>
      </dsp:nvSpPr>
      <dsp:spPr>
        <a:xfrm>
          <a:off x="4210406" y="1417163"/>
          <a:ext cx="3578220" cy="52925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1511300">
            <a:lnSpc>
              <a:spcPct val="100000"/>
            </a:lnSpc>
            <a:spcBef>
              <a:spcPct val="0"/>
            </a:spcBef>
            <a:spcAft>
              <a:spcPct val="35000"/>
            </a:spcAft>
            <a:buNone/>
            <a:defRPr b="1"/>
          </a:pPr>
          <a:r>
            <a:rPr lang="en-US" sz="3400" kern="1200"/>
            <a:t>Introductions</a:t>
          </a:r>
        </a:p>
      </dsp:txBody>
      <dsp:txXfrm>
        <a:off x="4210406" y="1417163"/>
        <a:ext cx="3578220" cy="529252"/>
      </dsp:txXfrm>
    </dsp:sp>
    <dsp:sp modelId="{0A5A4119-3246-488F-AC0F-CB271B574A42}">
      <dsp:nvSpPr>
        <dsp:cNvPr id="0" name=""/>
        <dsp:cNvSpPr/>
      </dsp:nvSpPr>
      <dsp:spPr>
        <a:xfrm>
          <a:off x="4210406" y="2019214"/>
          <a:ext cx="3578220" cy="1646437"/>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100000"/>
            </a:lnSpc>
            <a:spcBef>
              <a:spcPct val="0"/>
            </a:spcBef>
            <a:spcAft>
              <a:spcPct val="35000"/>
            </a:spcAft>
            <a:buNone/>
          </a:pPr>
          <a:r>
            <a:rPr lang="en-US" sz="1700" kern="1200" dirty="0"/>
            <a:t>Who you are</a:t>
          </a:r>
        </a:p>
        <a:p>
          <a:pPr marL="0" lvl="0" indent="0" algn="ctr" defTabSz="755650">
            <a:lnSpc>
              <a:spcPct val="100000"/>
            </a:lnSpc>
            <a:spcBef>
              <a:spcPct val="0"/>
            </a:spcBef>
            <a:spcAft>
              <a:spcPct val="35000"/>
            </a:spcAft>
            <a:buNone/>
          </a:pPr>
          <a:r>
            <a:rPr lang="en-US" sz="1700" kern="1200"/>
            <a:t>Who do you work for</a:t>
          </a:r>
          <a:endParaRPr lang="en-US" sz="1700" kern="1200" dirty="0"/>
        </a:p>
        <a:p>
          <a:pPr marL="0" lvl="0" indent="0" algn="ctr" defTabSz="755650">
            <a:lnSpc>
              <a:spcPct val="100000"/>
            </a:lnSpc>
            <a:spcBef>
              <a:spcPct val="0"/>
            </a:spcBef>
            <a:spcAft>
              <a:spcPct val="35000"/>
            </a:spcAft>
            <a:buNone/>
          </a:pPr>
          <a:r>
            <a:rPr lang="en-US" sz="1700" kern="1200" dirty="0"/>
            <a:t>What you do</a:t>
          </a:r>
        </a:p>
        <a:p>
          <a:pPr marL="0" lvl="0" indent="0" algn="ctr" defTabSz="755650">
            <a:lnSpc>
              <a:spcPct val="100000"/>
            </a:lnSpc>
            <a:spcBef>
              <a:spcPct val="0"/>
            </a:spcBef>
            <a:spcAft>
              <a:spcPct val="35000"/>
            </a:spcAft>
            <a:buNone/>
          </a:pPr>
          <a:r>
            <a:rPr lang="en-US" sz="1700" kern="1200"/>
            <a:t>What you’ve done with AI tools</a:t>
          </a:r>
        </a:p>
        <a:p>
          <a:pPr marL="0" lvl="0" indent="0" algn="ctr" defTabSz="755650">
            <a:lnSpc>
              <a:spcPct val="100000"/>
            </a:lnSpc>
            <a:spcBef>
              <a:spcPct val="0"/>
            </a:spcBef>
            <a:spcAft>
              <a:spcPct val="35000"/>
            </a:spcAft>
            <a:buNone/>
          </a:pPr>
          <a:r>
            <a:rPr lang="en-US" sz="1700" kern="1200"/>
            <a:t>What you want to learn</a:t>
          </a:r>
        </a:p>
      </dsp:txBody>
      <dsp:txXfrm>
        <a:off x="4210406" y="2019214"/>
        <a:ext cx="3578220" cy="1646437"/>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006C1E5-7D9F-4FB2-8E23-1C6B7D6E626C}">
      <dsp:nvSpPr>
        <dsp:cNvPr id="0" name=""/>
        <dsp:cNvSpPr/>
      </dsp:nvSpPr>
      <dsp:spPr>
        <a:xfrm>
          <a:off x="0" y="35286"/>
          <a:ext cx="7886700" cy="1034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Course Objective</a:t>
          </a:r>
          <a:r>
            <a:rPr lang="en-US" sz="2600" kern="1200"/>
            <a:t>: Understand how to manipulate Copilot into successfully modifying legacy codebases</a:t>
          </a:r>
        </a:p>
      </dsp:txBody>
      <dsp:txXfrm>
        <a:off x="50489" y="85775"/>
        <a:ext cx="7785722" cy="933302"/>
      </dsp:txXfrm>
    </dsp:sp>
    <dsp:sp modelId="{8CAB9C2A-1EF9-4F58-A298-88000800CAF9}">
      <dsp:nvSpPr>
        <dsp:cNvPr id="0" name=""/>
        <dsp:cNvSpPr/>
      </dsp:nvSpPr>
      <dsp:spPr>
        <a:xfrm>
          <a:off x="0" y="1144447"/>
          <a:ext cx="7886700" cy="1034280"/>
        </a:xfrm>
        <a:prstGeom prst="round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99060" rIns="99060" bIns="99060" numCol="1" spcCol="1270" anchor="ctr" anchorCtr="0">
          <a:noAutofit/>
        </a:bodyPr>
        <a:lstStyle/>
        <a:p>
          <a:pPr marL="0" lvl="0" indent="0" algn="l" defTabSz="1155700">
            <a:lnSpc>
              <a:spcPct val="90000"/>
            </a:lnSpc>
            <a:spcBef>
              <a:spcPct val="0"/>
            </a:spcBef>
            <a:spcAft>
              <a:spcPct val="35000"/>
            </a:spcAft>
            <a:buNone/>
          </a:pPr>
          <a:r>
            <a:rPr lang="en-US" sz="2600" b="1" kern="1200"/>
            <a:t>Course Perspective</a:t>
          </a:r>
          <a:r>
            <a:rPr lang="en-US" sz="2600" kern="1200"/>
            <a:t>: Focus on AI assistance and assisting the AI</a:t>
          </a:r>
        </a:p>
      </dsp:txBody>
      <dsp:txXfrm>
        <a:off x="50489" y="1194936"/>
        <a:ext cx="7785722" cy="933302"/>
      </dsp:txXfrm>
    </dsp:sp>
    <dsp:sp modelId="{F7AA4163-5AFE-4B6B-8B25-5915AE771925}">
      <dsp:nvSpPr>
        <dsp:cNvPr id="0" name=""/>
        <dsp:cNvSpPr/>
      </dsp:nvSpPr>
      <dsp:spPr>
        <a:xfrm>
          <a:off x="0" y="2178727"/>
          <a:ext cx="7886700" cy="104949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0403" tIns="33020" rIns="184912" bIns="33020" numCol="1" spcCol="1270" anchor="t" anchorCtr="0">
          <a:noAutofit/>
        </a:bodyPr>
        <a:lstStyle/>
        <a:p>
          <a:pPr marL="228600" lvl="1" indent="-228600" algn="l" defTabSz="889000">
            <a:lnSpc>
              <a:spcPct val="90000"/>
            </a:lnSpc>
            <a:spcBef>
              <a:spcPct val="0"/>
            </a:spcBef>
            <a:spcAft>
              <a:spcPct val="20000"/>
            </a:spcAft>
            <a:buChar char="•"/>
          </a:pPr>
          <a:r>
            <a:rPr lang="en-US" sz="2000" kern="1200" dirty="0">
              <a:solidFill>
                <a:schemeClr val="bg1"/>
              </a:solidFill>
            </a:rPr>
            <a:t>Less emphasis on syntax</a:t>
          </a:r>
        </a:p>
        <a:p>
          <a:pPr marL="228600" lvl="1" indent="-228600" algn="l" defTabSz="889000">
            <a:lnSpc>
              <a:spcPct val="90000"/>
            </a:lnSpc>
            <a:spcBef>
              <a:spcPct val="0"/>
            </a:spcBef>
            <a:spcAft>
              <a:spcPct val="20000"/>
            </a:spcAft>
            <a:buChar char="•"/>
          </a:pPr>
          <a:r>
            <a:rPr lang="en-US" sz="2000" kern="1200" dirty="0">
              <a:solidFill>
                <a:schemeClr val="bg1"/>
              </a:solidFill>
            </a:rPr>
            <a:t>More emphasis on architecture, design, code quality, refactoring</a:t>
          </a:r>
        </a:p>
        <a:p>
          <a:pPr marL="228600" lvl="1" indent="-228600" algn="l" defTabSz="889000">
            <a:lnSpc>
              <a:spcPct val="90000"/>
            </a:lnSpc>
            <a:spcBef>
              <a:spcPct val="0"/>
            </a:spcBef>
            <a:spcAft>
              <a:spcPct val="20000"/>
            </a:spcAft>
            <a:buChar char="•"/>
          </a:pPr>
          <a:r>
            <a:rPr lang="en-US" sz="2000" kern="1200" dirty="0">
              <a:solidFill>
                <a:schemeClr val="bg1"/>
              </a:solidFill>
            </a:rPr>
            <a:t>Moving faster with less risk</a:t>
          </a:r>
        </a:p>
      </dsp:txBody>
      <dsp:txXfrm>
        <a:off x="0" y="2178727"/>
        <a:ext cx="7886700" cy="1049490"/>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C9809732-D730-4B55-AB9C-4FF43E398996}">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52995D4B-751F-4ECB-B5DA-BD22D360D50D}">
      <dsp:nvSpPr>
        <dsp:cNvPr id="0" name=""/>
        <dsp:cNvSpPr/>
      </dsp:nvSpPr>
      <dsp:spPr>
        <a:xfrm>
          <a:off x="2335327"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846B5C6-F0F4-47DC-8F81-AEAA1A5A6FCB}">
      <dsp:nvSpPr>
        <dsp:cNvPr id="0" name=""/>
        <dsp:cNvSpPr/>
      </dsp:nvSpPr>
      <dsp:spPr>
        <a:xfrm>
          <a:off x="2001828"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433090"/>
        <a:ext cx="16584" cy="3316"/>
      </dsp:txXfrm>
    </dsp:sp>
    <dsp:sp modelId="{B6E7108D-565B-4BD3-8673-DEDFD9DF187E}">
      <dsp:nvSpPr>
        <dsp:cNvPr id="0" name=""/>
        <dsp:cNvSpPr/>
      </dsp:nvSpPr>
      <dsp:spPr>
        <a:xfrm>
          <a:off x="561455"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Overview</a:t>
          </a:r>
        </a:p>
      </dsp:txBody>
      <dsp:txXfrm>
        <a:off x="561455" y="2097"/>
        <a:ext cx="1442172" cy="865303"/>
      </dsp:txXfrm>
    </dsp:sp>
    <dsp:sp modelId="{1AD9240B-D591-4C47-B218-9C24559A23FE}">
      <dsp:nvSpPr>
        <dsp:cNvPr id="0" name=""/>
        <dsp:cNvSpPr/>
      </dsp:nvSpPr>
      <dsp:spPr>
        <a:xfrm>
          <a:off x="3775700"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433090"/>
        <a:ext cx="16584" cy="3316"/>
      </dsp:txXfrm>
    </dsp:sp>
    <dsp:sp modelId="{A1FFE56D-7BD1-45EB-A3B0-6E4CB5355EFD}">
      <dsp:nvSpPr>
        <dsp:cNvPr id="0" name=""/>
        <dsp:cNvSpPr/>
      </dsp:nvSpPr>
      <dsp:spPr>
        <a:xfrm>
          <a:off x="2335327"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AI Assisted Software Development</a:t>
          </a:r>
        </a:p>
      </dsp:txBody>
      <dsp:txXfrm>
        <a:off x="2335327" y="2097"/>
        <a:ext cx="1442172" cy="865303"/>
      </dsp:txXfrm>
    </dsp:sp>
    <dsp:sp modelId="{7AA5533A-EDAF-46AD-98E4-6AC89ED97F51}">
      <dsp:nvSpPr>
        <dsp:cNvPr id="0" name=""/>
        <dsp:cNvSpPr/>
      </dsp:nvSpPr>
      <dsp:spPr>
        <a:xfrm>
          <a:off x="5549572" y="389028"/>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433090"/>
        <a:ext cx="16584" cy="3316"/>
      </dsp:txXfrm>
    </dsp:sp>
    <dsp:sp modelId="{AB6D64DC-8047-443D-8A31-58CC13B9D383}">
      <dsp:nvSpPr>
        <dsp:cNvPr id="0" name=""/>
        <dsp:cNvSpPr/>
      </dsp:nvSpPr>
      <dsp:spPr>
        <a:xfrm>
          <a:off x="4109199"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General Introduction to LLMs</a:t>
          </a:r>
        </a:p>
      </dsp:txBody>
      <dsp:txXfrm>
        <a:off x="4109199" y="2097"/>
        <a:ext cx="1442172" cy="865303"/>
      </dsp:txXfrm>
    </dsp:sp>
    <dsp:sp modelId="{01EC7479-A7CE-4CBB-98A6-58413C3FDC5B}">
      <dsp:nvSpPr>
        <dsp:cNvPr id="0" name=""/>
        <dsp:cNvSpPr/>
      </dsp:nvSpPr>
      <dsp:spPr>
        <a:xfrm>
          <a:off x="1282541" y="865600"/>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1014491"/>
        <a:ext cx="266597" cy="3316"/>
      </dsp:txXfrm>
    </dsp:sp>
    <dsp:sp modelId="{4EA28538-4BF0-4C5C-98B8-6E70E4E44164}">
      <dsp:nvSpPr>
        <dsp:cNvPr id="0" name=""/>
        <dsp:cNvSpPr/>
      </dsp:nvSpPr>
      <dsp:spPr>
        <a:xfrm>
          <a:off x="5883071" y="2097"/>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LLM Architecture for Code Generation</a:t>
          </a:r>
        </a:p>
      </dsp:txBody>
      <dsp:txXfrm>
        <a:off x="5883071" y="2097"/>
        <a:ext cx="1442172" cy="865303"/>
      </dsp:txXfrm>
    </dsp:sp>
    <dsp:sp modelId="{0359592B-7BFC-47BC-89DA-6E33CAC9EFB3}">
      <dsp:nvSpPr>
        <dsp:cNvPr id="0" name=""/>
        <dsp:cNvSpPr/>
      </dsp:nvSpPr>
      <dsp:spPr>
        <a:xfrm>
          <a:off x="2001828"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1630093"/>
        <a:ext cx="16584" cy="3316"/>
      </dsp:txXfrm>
    </dsp:sp>
    <dsp:sp modelId="{98AE2357-F7A5-4CC9-A154-4BE4F723655D}">
      <dsp:nvSpPr>
        <dsp:cNvPr id="0" name=""/>
        <dsp:cNvSpPr/>
      </dsp:nvSpPr>
      <dsp:spPr>
        <a:xfrm>
          <a:off x="561455"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GitHub Copilot for Teams: Key Considerations for Adoption</a:t>
          </a:r>
        </a:p>
      </dsp:txBody>
      <dsp:txXfrm>
        <a:off x="561455" y="1199100"/>
        <a:ext cx="1442172" cy="865303"/>
      </dsp:txXfrm>
    </dsp:sp>
    <dsp:sp modelId="{CCC6A3C7-8078-4E96-BF5A-7661AFCE6B09}">
      <dsp:nvSpPr>
        <dsp:cNvPr id="0" name=""/>
        <dsp:cNvSpPr/>
      </dsp:nvSpPr>
      <dsp:spPr>
        <a:xfrm>
          <a:off x="3775700"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917957" y="1630093"/>
        <a:ext cx="16584" cy="3316"/>
      </dsp:txXfrm>
    </dsp:sp>
    <dsp:sp modelId="{2F0F9CB8-6173-45B1-B82F-DB885C62313E}">
      <dsp:nvSpPr>
        <dsp:cNvPr id="0" name=""/>
        <dsp:cNvSpPr/>
      </dsp:nvSpPr>
      <dsp:spPr>
        <a:xfrm>
          <a:off x="2335327"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Intro to GitHub Copilot</a:t>
          </a:r>
        </a:p>
      </dsp:txBody>
      <dsp:txXfrm>
        <a:off x="2335327" y="1199100"/>
        <a:ext cx="1442172" cy="865303"/>
      </dsp:txXfrm>
    </dsp:sp>
    <dsp:sp modelId="{090537FF-42A5-4D30-8BAB-D0C8F5240A81}">
      <dsp:nvSpPr>
        <dsp:cNvPr id="0" name=""/>
        <dsp:cNvSpPr/>
      </dsp:nvSpPr>
      <dsp:spPr>
        <a:xfrm>
          <a:off x="5549572" y="1586031"/>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691829" y="1630093"/>
        <a:ext cx="16584" cy="3316"/>
      </dsp:txXfrm>
    </dsp:sp>
    <dsp:sp modelId="{F410F55C-4BF7-4FE8-94DA-75D1439EF56C}">
      <dsp:nvSpPr>
        <dsp:cNvPr id="0" name=""/>
        <dsp:cNvSpPr/>
      </dsp:nvSpPr>
      <dsp:spPr>
        <a:xfrm>
          <a:off x="4109199"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a:t>Hands-On with GitHub Copilot</a:t>
          </a:r>
        </a:p>
      </dsp:txBody>
      <dsp:txXfrm>
        <a:off x="4109199" y="1199100"/>
        <a:ext cx="1442172" cy="865303"/>
      </dsp:txXfrm>
    </dsp:sp>
    <dsp:sp modelId="{3A589FEB-3DAF-417F-B217-B4128ECBDCAF}">
      <dsp:nvSpPr>
        <dsp:cNvPr id="0" name=""/>
        <dsp:cNvSpPr/>
      </dsp:nvSpPr>
      <dsp:spPr>
        <a:xfrm>
          <a:off x="1282541" y="2062603"/>
          <a:ext cx="5321616" cy="301099"/>
        </a:xfrm>
        <a:custGeom>
          <a:avLst/>
          <a:gdLst/>
          <a:ahLst/>
          <a:cxnLst/>
          <a:rect l="0" t="0" r="0" b="0"/>
          <a:pathLst>
            <a:path>
              <a:moveTo>
                <a:pt x="5321616" y="0"/>
              </a:moveTo>
              <a:lnTo>
                <a:pt x="5321616" y="167649"/>
              </a:lnTo>
              <a:lnTo>
                <a:pt x="0" y="167649"/>
              </a:lnTo>
              <a:lnTo>
                <a:pt x="0" y="301099"/>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810051" y="2211495"/>
        <a:ext cx="266597" cy="3316"/>
      </dsp:txXfrm>
    </dsp:sp>
    <dsp:sp modelId="{8E1493D1-E5CD-4839-8D08-7186F4A84C79}">
      <dsp:nvSpPr>
        <dsp:cNvPr id="0" name=""/>
        <dsp:cNvSpPr/>
      </dsp:nvSpPr>
      <dsp:spPr>
        <a:xfrm>
          <a:off x="5883071" y="1199100"/>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Mob Programming</a:t>
          </a:r>
        </a:p>
      </dsp:txBody>
      <dsp:txXfrm>
        <a:off x="5883071" y="1199100"/>
        <a:ext cx="1442172" cy="865303"/>
      </dsp:txXfrm>
    </dsp:sp>
    <dsp:sp modelId="{069569A2-BF35-4B40-81A9-F15D5FE602A8}">
      <dsp:nvSpPr>
        <dsp:cNvPr id="0" name=""/>
        <dsp:cNvSpPr/>
      </dsp:nvSpPr>
      <dsp:spPr>
        <a:xfrm>
          <a:off x="2001828" y="2783035"/>
          <a:ext cx="301099" cy="91440"/>
        </a:xfrm>
        <a:custGeom>
          <a:avLst/>
          <a:gdLst/>
          <a:ahLst/>
          <a:cxnLst/>
          <a:rect l="0" t="0" r="0" b="0"/>
          <a:pathLst>
            <a:path>
              <a:moveTo>
                <a:pt x="0" y="45720"/>
              </a:moveTo>
              <a:lnTo>
                <a:pt x="301099"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144085" y="2827096"/>
        <a:ext cx="16584" cy="3316"/>
      </dsp:txXfrm>
    </dsp:sp>
    <dsp:sp modelId="{48010D98-457F-4956-9629-8E8CF67FD9D9}">
      <dsp:nvSpPr>
        <dsp:cNvPr id="0" name=""/>
        <dsp:cNvSpPr/>
      </dsp:nvSpPr>
      <dsp:spPr>
        <a:xfrm>
          <a:off x="561455" y="2396103"/>
          <a:ext cx="1442172" cy="865303"/>
        </a:xfrm>
        <a:prstGeom prst="rect">
          <a:avLst/>
        </a:prstGeom>
        <a:solidFill>
          <a:schemeClr val="accent3">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Coding with Copilot</a:t>
          </a:r>
        </a:p>
      </dsp:txBody>
      <dsp:txXfrm>
        <a:off x="561455" y="2396103"/>
        <a:ext cx="1442172" cy="865303"/>
      </dsp:txXfrm>
    </dsp:sp>
    <dsp:sp modelId="{3718F240-0B68-4894-B759-F65CD44F84FA}">
      <dsp:nvSpPr>
        <dsp:cNvPr id="0" name=""/>
        <dsp:cNvSpPr/>
      </dsp:nvSpPr>
      <dsp:spPr>
        <a:xfrm>
          <a:off x="2335327" y="2396103"/>
          <a:ext cx="1442172" cy="865303"/>
        </a:xfrm>
        <a:prstGeom prst="rect">
          <a:avLst/>
        </a:prstGeom>
        <a:solidFill>
          <a:schemeClr val="accent6"/>
        </a:solidFill>
        <a:ln w="19050" cap="flat" cmpd="sng" algn="ctr">
          <a:solidFill>
            <a:schemeClr val="lt1"/>
          </a:solidFill>
          <a:prstDash val="solid"/>
          <a:miter lim="800000"/>
        </a:ln>
        <a:effectLst/>
      </dsp:spPr>
      <dsp:style>
        <a:lnRef idx="3">
          <a:schemeClr val="lt1"/>
        </a:lnRef>
        <a:fillRef idx="1">
          <a:schemeClr val="accent6"/>
        </a:fillRef>
        <a:effectRef idx="1">
          <a:schemeClr val="accent6"/>
        </a:effectRef>
        <a:fontRef idx="minor">
          <a:schemeClr val="lt1"/>
        </a:fontRef>
      </dsp:style>
      <dsp:txBody>
        <a:bodyPr spcFirstLastPara="0" vert="horz" wrap="square" lIns="70668" tIns="74178" rIns="70668" bIns="74178" numCol="1" spcCol="1270" anchor="ctr" anchorCtr="0">
          <a:noAutofit/>
        </a:bodyPr>
        <a:lstStyle/>
        <a:p>
          <a:pPr marL="0" lvl="0" indent="0" algn="ctr" defTabSz="533400">
            <a:lnSpc>
              <a:spcPct val="90000"/>
            </a:lnSpc>
            <a:spcBef>
              <a:spcPct val="0"/>
            </a:spcBef>
            <a:spcAft>
              <a:spcPct val="35000"/>
            </a:spcAft>
            <a:buNone/>
          </a:pPr>
          <a:r>
            <a:rPr lang="en-US" sz="1200" kern="1200" dirty="0"/>
            <a:t>What’s Next</a:t>
          </a:r>
        </a:p>
      </dsp:txBody>
      <dsp:txXfrm>
        <a:off x="2335327" y="2396103"/>
        <a:ext cx="1442172" cy="865303"/>
      </dsp:txXfrm>
    </dsp:sp>
  </dsp:spTree>
</dsp:drawing>
</file>

<file path=ppt/diagrams/layout1.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3.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5.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6.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F9C1CCF-B725-44A7-AA57-5E433BD85C9F}" type="datetimeFigureOut">
              <a:rPr lang="en-US" smtClean="0"/>
              <a:t>2/2/2026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BDFEC3-8487-43E8-A154-7C12CBC1FFF2}" type="slidenum">
              <a:rPr lang="en-US" smtClean="0"/>
              <a:t>‹#›</a:t>
            </a:fld>
            <a:endParaRPr lang="en-US"/>
          </a:p>
        </p:txBody>
      </p:sp>
    </p:spTree>
    <p:extLst>
      <p:ext uri="{BB962C8B-B14F-4D97-AF65-F5344CB8AC3E}">
        <p14:creationId xmlns:p14="http://schemas.microsoft.com/office/powerpoint/2010/main" val="37827097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Day One: Outline the day’s goals and emphasize participation and hands-on exercises.</a:t>
            </a:r>
          </a:p>
        </p:txBody>
      </p:sp>
      <p:sp>
        <p:nvSpPr>
          <p:cNvPr id="4" name="Slide Number Placeholder 3"/>
          <p:cNvSpPr>
            <a:spLocks noGrp="1"/>
          </p:cNvSpPr>
          <p:nvPr>
            <p:ph type="sldNum" sz="quarter" idx="10"/>
          </p:nvPr>
        </p:nvSpPr>
        <p:spPr/>
        <p:txBody>
          <a:bodyPr/>
          <a:lstStyle/>
          <a:p>
            <a:fld id="{18BDFEC3-8487-43E8-A154-7C12CBC1FFF2}" type="slidenum">
              <a:rPr lang="en-US"/>
              <a:t>3</a:t>
            </a:fld>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91B371-B8B9-0FFA-D5C2-E35362A740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5E40A2-0673-F614-E89E-3313770C2C8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0E2068-D949-80A7-1B82-6F7302EEDF97}"/>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C27A87CD-999A-DDD7-E74A-C8C45606BAD5}"/>
              </a:ext>
            </a:extLst>
          </p:cNvPr>
          <p:cNvSpPr>
            <a:spLocks noGrp="1"/>
          </p:cNvSpPr>
          <p:nvPr>
            <p:ph type="sldNum" sz="quarter" idx="10"/>
          </p:nvPr>
        </p:nvSpPr>
        <p:spPr/>
        <p:txBody>
          <a:bodyPr/>
          <a:lstStyle/>
          <a:p>
            <a:fld id="{18BDFEC3-8487-43E8-A154-7C12CBC1FFF2}" type="slidenum">
              <a:rPr lang="en-US"/>
              <a:t>4</a:t>
            </a:fld>
            <a:endParaRPr lang="en-US"/>
          </a:p>
        </p:txBody>
      </p:sp>
    </p:spTree>
    <p:extLst>
      <p:ext uri="{BB962C8B-B14F-4D97-AF65-F5344CB8AC3E}">
        <p14:creationId xmlns:p14="http://schemas.microsoft.com/office/powerpoint/2010/main" val="2966474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notes State course objective: practical skills for using Copilot responsibly on legacy codebases. :::</a:t>
            </a:r>
          </a:p>
        </p:txBody>
      </p:sp>
      <p:sp>
        <p:nvSpPr>
          <p:cNvPr id="4" name="Slide Number Placeholder 3"/>
          <p:cNvSpPr>
            <a:spLocks noGrp="1"/>
          </p:cNvSpPr>
          <p:nvPr>
            <p:ph type="sldNum" sz="quarter" idx="5"/>
          </p:nvPr>
        </p:nvSpPr>
        <p:spPr/>
        <p:txBody>
          <a:bodyPr/>
          <a:lstStyle/>
          <a:p>
            <a:fld id="{18BDFEC3-8487-43E8-A154-7C12CBC1FFF2}" type="slidenum">
              <a:rPr lang="en-US" smtClean="0"/>
              <a:t>5</a:t>
            </a:fld>
            <a:endParaRPr lang="en-US"/>
          </a:p>
        </p:txBody>
      </p:sp>
    </p:spTree>
    <p:extLst>
      <p:ext uri="{BB962C8B-B14F-4D97-AF65-F5344CB8AC3E}">
        <p14:creationId xmlns:p14="http://schemas.microsoft.com/office/powerpoint/2010/main" val="387162556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C389EE-D7B1-C7ED-5630-81DAD6C218F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9C79DE9-FD12-0822-EE7D-7DA06460745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DC11AE-5D47-ACC9-991D-776A82A343AD}"/>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04E16CE-3E6E-1BD7-D1ED-2C219F1B9E81}"/>
              </a:ext>
            </a:extLst>
          </p:cNvPr>
          <p:cNvSpPr>
            <a:spLocks noGrp="1"/>
          </p:cNvSpPr>
          <p:nvPr>
            <p:ph type="sldNum" sz="quarter" idx="10"/>
          </p:nvPr>
        </p:nvSpPr>
        <p:spPr/>
        <p:txBody>
          <a:bodyPr/>
          <a:lstStyle/>
          <a:p>
            <a:fld id="{18BDFEC3-8487-43E8-A154-7C12CBC1FFF2}" type="slidenum">
              <a:rPr lang="en-US"/>
              <a:t>6</a:t>
            </a:fld>
            <a:endParaRPr lang="en-US"/>
          </a:p>
        </p:txBody>
      </p:sp>
    </p:spTree>
    <p:extLst>
      <p:ext uri="{BB962C8B-B14F-4D97-AF65-F5344CB8AC3E}">
        <p14:creationId xmlns:p14="http://schemas.microsoft.com/office/powerpoint/2010/main" val="39308312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Revolutionary Impact:</a:t>
            </a:r>
            <a:r>
              <a:t> - AI is fundamentally changing how we write, maintain, and understand code - Similar to how IDEs replaced text editors, AI assistance is becoming essential - Speed of development has increased 30-60% for many developers using AI tools effectively</a:t>
            </a:r>
          </a:p>
          <a:p>
            <a:pPr marL="0" lvl="0" indent="0">
              <a:buNone/>
            </a:pPr>
            <a:endParaRPr/>
          </a:p>
          <a:p>
            <a:pPr marL="0" lvl="0" indent="0">
              <a:buNone/>
            </a:pPr>
            <a:r>
              <a:rPr b="1"/>
              <a:t>Career Transformation:</a:t>
            </a:r>
            <a:r>
              <a:t> - Those who adapt: become 10x more productive, tackle bigger challenges, expand skill sets - Those who resist: may find themselves struggling with modern development expectations - New roles emerging: AI prompt engineers, AI code reviewers, AI-assisted architects</a:t>
            </a:r>
          </a:p>
          <a:p>
            <a:pPr marL="0" lvl="0" indent="0">
              <a:buNone/>
            </a:pPr>
            <a:endParaRPr/>
          </a:p>
          <a:p>
            <a:pPr marL="0" lvl="0" indent="0">
              <a:buNone/>
            </a:pPr>
            <a:r>
              <a:rPr b="1"/>
              <a:t>Superpowers Explained:</a:t>
            </a:r>
            <a:r>
              <a:t> - </a:t>
            </a:r>
            <a:r>
              <a:rPr b="1"/>
              <a:t>Legacy codebases</a:t>
            </a:r>
            <a:r>
              <a:t>: AI can quickly understand and explain complex, undocumented systems - </a:t>
            </a:r>
            <a:r>
              <a:rPr b="1"/>
              <a:t>New technologies</a:t>
            </a:r>
            <a:r>
              <a:t>: Learn frameworks/languages faster with AI as a coding partner - </a:t>
            </a:r>
            <a:r>
              <a:rPr b="1"/>
              <a:t>Code quality</a:t>
            </a:r>
            <a:r>
              <a:t>: AI suggests improvements, catches bugs, generates comprehensive tests - </a:t>
            </a:r>
            <a:r>
              <a:rPr b="1"/>
              <a:t>Nice to haves</a:t>
            </a:r>
            <a:r>
              <a:t>: Features that were “too time-consuming” become feasible</a:t>
            </a:r>
          </a:p>
          <a:p>
            <a:pPr marL="0" lvl="0" indent="0">
              <a:buNone/>
            </a:pPr>
            <a:endParaRPr/>
          </a:p>
          <a:p>
            <a:pPr marL="0" lvl="0" indent="0">
              <a:buNone/>
            </a:pPr>
            <a:r>
              <a:rPr b="1"/>
              <a:t>Examples to share:</a:t>
            </a:r>
            <a:r>
              <a:t> - Developer who used AI to modernize a 15-year-old PHP codebase in weeks instead of months - Team that adopted a new framework (React to Vue) with AI assistance in days - 80% reduction in boilerplate code writing time - Comprehensive test suites generated automatically</a:t>
            </a:r>
          </a:p>
          <a:p>
            <a:pPr marL="0" lvl="0" indent="0">
              <a:buNone/>
            </a:pPr>
            <a:endParaRPr/>
          </a:p>
          <a:p>
            <a:pPr marL="0" lvl="0" indent="0">
              <a:buNone/>
            </a:pPr>
            <a:r>
              <a:rPr b="1"/>
              <a:t>Key message</a:t>
            </a:r>
            <a:r>
              <a:t>: AI doesn’t replace developers—it amplifies their capabilities</a:t>
            </a:r>
          </a:p>
        </p:txBody>
      </p:sp>
      <p:sp>
        <p:nvSpPr>
          <p:cNvPr id="4" name="Slide Number Placeholder 3"/>
          <p:cNvSpPr>
            <a:spLocks noGrp="1"/>
          </p:cNvSpPr>
          <p:nvPr>
            <p:ph type="sldNum" sz="quarter" idx="10"/>
          </p:nvPr>
        </p:nvSpPr>
        <p:spPr/>
        <p:txBody>
          <a:bodyPr/>
          <a:lstStyle/>
          <a:p>
            <a:fld id="{18BDFEC3-8487-43E8-A154-7C12CBC1FFF2}" type="slidenum">
              <a:rPr lang="en-US"/>
              <a:t>7</a:t>
            </a:fld>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introduces the core idea behind Prompt‑First development. Instead of starting with code, we start with intent. Prompts become the primary design artifact, and AI becomes the mechanism that turns intent into implementation.”</a:t>
            </a:r>
          </a:p>
          <a:p>
            <a:endParaRPr lang="en-US" b="1" dirty="0"/>
          </a:p>
          <a:p>
            <a:r>
              <a:rPr lang="en-US" b="1" dirty="0"/>
              <a:t>Why Prompt‑First</a:t>
            </a:r>
            <a:endParaRPr lang="en-US" dirty="0"/>
          </a:p>
          <a:p>
            <a:r>
              <a:rPr lang="en-US" dirty="0"/>
              <a:t>“Modern development increasingly begins with natural‑language descriptions of behavior. Prompt‑First formalizes that by treating prompts as first‑class inputs to the software lifecycle.”</a:t>
            </a:r>
          </a:p>
          <a:p>
            <a:r>
              <a:rPr lang="en-US" dirty="0"/>
              <a:t>“The developer’s role shifts from writing code line‑by‑line to defining outcomes, constraints, invariants, and interfaces.”</a:t>
            </a:r>
          </a:p>
          <a:p>
            <a:r>
              <a:rPr lang="en-US" dirty="0"/>
              <a:t>“This creates a tighter alignment between business intent and the resulting system.”</a:t>
            </a:r>
          </a:p>
          <a:p>
            <a:endParaRPr lang="en-US" b="1" dirty="0"/>
          </a:p>
          <a:p>
            <a:r>
              <a:rPr lang="en-US" b="1" dirty="0"/>
              <a:t>Core Practices</a:t>
            </a:r>
            <a:endParaRPr lang="en-US" dirty="0"/>
          </a:p>
          <a:p>
            <a:endParaRPr lang="en-US" b="1" dirty="0"/>
          </a:p>
          <a:p>
            <a:r>
              <a:rPr lang="en-US" b="1" dirty="0"/>
              <a:t>Structured Prompts</a:t>
            </a:r>
            <a:br>
              <a:rPr lang="en-US" dirty="0"/>
            </a:br>
            <a:r>
              <a:rPr lang="en-US" dirty="0"/>
              <a:t>“We don’t rely on ad‑hoc prompting. We use templates for features, APIs, data models, tests, and refactors. This creates consistency and reduces ambiguity.”</a:t>
            </a:r>
          </a:p>
          <a:p>
            <a:endParaRPr lang="en-US" b="1" dirty="0"/>
          </a:p>
          <a:p>
            <a:r>
              <a:rPr lang="en-US" b="1" dirty="0"/>
              <a:t>Instruction Files</a:t>
            </a:r>
            <a:br>
              <a:rPr lang="en-US" dirty="0"/>
            </a:br>
            <a:r>
              <a:rPr lang="en-US" dirty="0"/>
              <a:t>“These are durable, versioned prompt artifacts that guide AI generation. They act like living design documents that the AI reads every time it produces code.”</a:t>
            </a:r>
          </a:p>
          <a:p>
            <a:endParaRPr lang="en-US" b="1" dirty="0"/>
          </a:p>
          <a:p>
            <a:r>
              <a:rPr lang="en-US" b="1" dirty="0"/>
              <a:t>Deterministic Boundaries</a:t>
            </a:r>
            <a:br>
              <a:rPr lang="en-US" dirty="0"/>
            </a:br>
            <a:r>
              <a:rPr lang="en-US" dirty="0"/>
              <a:t>“We design modules with clear contracts so AI‑generated code stays predictable. The AI can generate the internals, but the interfaces remain stable and human‑controlled.”</a:t>
            </a:r>
          </a:p>
          <a:p>
            <a:endParaRPr lang="en-US" b="1" dirty="0"/>
          </a:p>
          <a:p>
            <a:r>
              <a:rPr lang="en-US" b="1" dirty="0"/>
              <a:t>Validation Loops</a:t>
            </a:r>
            <a:br>
              <a:rPr lang="en-US" dirty="0"/>
            </a:br>
            <a:r>
              <a:rPr lang="en-US" dirty="0"/>
              <a:t>“Every AI‑generated artifact goes through automated tests and human review. The goal is to catch drift early and ensure correctness.”</a:t>
            </a:r>
          </a:p>
          <a:p>
            <a:endParaRPr lang="en-US" b="1" dirty="0"/>
          </a:p>
          <a:p>
            <a:r>
              <a:rPr lang="en-US" b="1" dirty="0"/>
              <a:t>Prompt Versioning</a:t>
            </a:r>
            <a:br>
              <a:rPr lang="en-US" dirty="0"/>
            </a:br>
            <a:r>
              <a:rPr lang="en-US" dirty="0"/>
              <a:t>“Prompts evolve just like code. Tracking changes helps with debugging, reproducibility, and compliance.”</a:t>
            </a:r>
          </a:p>
          <a:p>
            <a:endParaRPr lang="en-US" b="1" dirty="0"/>
          </a:p>
          <a:p>
            <a:r>
              <a:rPr lang="en-US" b="1" dirty="0"/>
              <a:t>Benefits</a:t>
            </a:r>
            <a:endParaRPr lang="en-US" dirty="0"/>
          </a:p>
          <a:p>
            <a:r>
              <a:rPr lang="en-US" dirty="0"/>
              <a:t>“Teams move from idea to working software much faster because intent flows directly into generation.”</a:t>
            </a:r>
          </a:p>
          <a:p>
            <a:r>
              <a:rPr lang="en-US" dirty="0"/>
              <a:t>“Generated components become more consistent because they’re driven by structured prompts, not one‑off instructions.”</a:t>
            </a:r>
          </a:p>
          <a:p>
            <a:r>
              <a:rPr lang="en-US" dirty="0"/>
              <a:t>“Developers spend more time on architecture and correctness, less on boilerplate.”</a:t>
            </a:r>
          </a:p>
          <a:p>
            <a:r>
              <a:rPr lang="en-US" dirty="0"/>
              <a:t>“The end result is a system that’s easier to maintain and adapt over time.”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8</a:t>
            </a:fld>
            <a:endParaRPr lang="en-US"/>
          </a:p>
        </p:txBody>
      </p:sp>
    </p:spTree>
    <p:extLst>
      <p:ext uri="{BB962C8B-B14F-4D97-AF65-F5344CB8AC3E}">
        <p14:creationId xmlns:p14="http://schemas.microsoft.com/office/powerpoint/2010/main" val="408625055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frames what we mean by </a:t>
            </a:r>
            <a:r>
              <a:rPr lang="en-US" i="1" dirty="0"/>
              <a:t>AI‑First</a:t>
            </a:r>
            <a:r>
              <a:rPr lang="en-US" dirty="0"/>
              <a:t> development. The key idea is that AI isn’t an add‑on or a productivity booster—it becomes a core capability of the software lifecycle. When we design systems today, we assume AI will participate in requirements, architecture, coding, testing, and documentation.</a:t>
            </a:r>
          </a:p>
          <a:p>
            <a:endParaRPr lang="en-US" b="1" dirty="0"/>
          </a:p>
          <a:p>
            <a:r>
              <a:rPr lang="en-US" b="1" dirty="0"/>
              <a:t>Why AI‑First</a:t>
            </a:r>
            <a:endParaRPr lang="en-US" dirty="0"/>
          </a:p>
          <a:p>
            <a:r>
              <a:rPr lang="en-US" dirty="0"/>
              <a:t>“Teams increasingly express requirements in natural language. AI can interpret those requirements and generate scaffolding, code, tests, and documentation.”</a:t>
            </a:r>
          </a:p>
          <a:p>
            <a:r>
              <a:rPr lang="en-US" dirty="0"/>
              <a:t>“This shifts the developer’s role from writing every line of code to defining intent, constraints, and quality expectations.”</a:t>
            </a:r>
          </a:p>
          <a:p>
            <a:r>
              <a:rPr lang="en-US" dirty="0"/>
              <a:t>“The goal isn’t to replace engineering judgment—it’s to amplify it.”</a:t>
            </a:r>
          </a:p>
          <a:p>
            <a:endParaRPr lang="en-US" b="1" dirty="0"/>
          </a:p>
          <a:p>
            <a:r>
              <a:rPr lang="en-US" b="1" dirty="0"/>
              <a:t>Core Principles</a:t>
            </a:r>
            <a:endParaRPr lang="en-US" dirty="0"/>
          </a:p>
          <a:p>
            <a:endParaRPr lang="en-US" b="1" dirty="0"/>
          </a:p>
          <a:p>
            <a:r>
              <a:rPr lang="en-US" b="1" dirty="0"/>
              <a:t>Prompt‑First Design</a:t>
            </a:r>
            <a:br>
              <a:rPr lang="en-US" dirty="0"/>
            </a:br>
            <a:r>
              <a:rPr lang="en-US" dirty="0"/>
              <a:t>“We start with structured prompts that capture behaviors, invariants, and interfaces. These become durable artifacts, just like design docs.”</a:t>
            </a:r>
          </a:p>
          <a:p>
            <a:endParaRPr lang="en-US" b="1" dirty="0"/>
          </a:p>
          <a:p>
            <a:r>
              <a:rPr lang="en-US" b="1" dirty="0"/>
              <a:t>AI‑Native Architecture</a:t>
            </a:r>
            <a:br>
              <a:rPr lang="en-US" dirty="0"/>
            </a:br>
            <a:r>
              <a:rPr lang="en-US" dirty="0"/>
              <a:t>“We design modules with clear boundaries so AI‑generated components remain predictable and testable. Deterministic interfaces are essential.”</a:t>
            </a:r>
          </a:p>
          <a:p>
            <a:endParaRPr lang="en-US" b="1" dirty="0"/>
          </a:p>
          <a:p>
            <a:r>
              <a:rPr lang="en-US" b="1" dirty="0"/>
              <a:t>Human‑in‑the‑Loop</a:t>
            </a:r>
            <a:br>
              <a:rPr lang="en-US" dirty="0"/>
            </a:br>
            <a:r>
              <a:rPr lang="en-US" dirty="0"/>
              <a:t>“AI accelerates creation, but humans validate correctness, safety, and alignment with business intent. Review is built into the workflow.”</a:t>
            </a:r>
          </a:p>
          <a:p>
            <a:endParaRPr lang="en-US" b="1" dirty="0"/>
          </a:p>
          <a:p>
            <a:r>
              <a:rPr lang="en-US" b="1" dirty="0"/>
              <a:t>Continuous Verification</a:t>
            </a:r>
            <a:br>
              <a:rPr lang="en-US" dirty="0"/>
            </a:br>
            <a:r>
              <a:rPr lang="en-US" dirty="0"/>
              <a:t>“Every AI‑generated artifact—code, tests, docs—runs through automated checks. Static analysis, unit tests, and guardrails catch drift early.”</a:t>
            </a:r>
          </a:p>
          <a:p>
            <a:endParaRPr lang="en-US" b="1" dirty="0"/>
          </a:p>
          <a:p>
            <a:r>
              <a:rPr lang="en-US" b="1" dirty="0"/>
              <a:t>Lifecycle Governance</a:t>
            </a:r>
            <a:br>
              <a:rPr lang="en-US" dirty="0"/>
            </a:br>
            <a:r>
              <a:rPr lang="en-US" dirty="0"/>
              <a:t>“We treat prompts, outputs, and revisions as versioned assets. Provenance and traceability matter for compliance, debugging, and long‑term maintainability.”</a:t>
            </a:r>
          </a:p>
          <a:p>
            <a:endParaRPr lang="en-US" b="1" dirty="0"/>
          </a:p>
          <a:p>
            <a:r>
              <a:rPr lang="en-US" b="1" dirty="0"/>
              <a:t>Outcomes</a:t>
            </a:r>
            <a:endParaRPr lang="en-US" dirty="0"/>
          </a:p>
          <a:p>
            <a:r>
              <a:rPr lang="en-US" dirty="0"/>
              <a:t>“Teams iterate faster because intent moves directly into working prototypes.”</a:t>
            </a:r>
          </a:p>
          <a:p>
            <a:r>
              <a:rPr lang="en-US" dirty="0"/>
              <a:t>“Documentation and test coverage improve because AI can generate them continuously.”</a:t>
            </a:r>
          </a:p>
          <a:p>
            <a:r>
              <a:rPr lang="en-US" dirty="0"/>
              <a:t>“Developers spend more time on architecture and correctness, less on boilerplate.”</a:t>
            </a:r>
          </a:p>
          <a:p>
            <a:r>
              <a:rPr lang="en-US" dirty="0"/>
              <a:t>“The result is software that’s more adaptable and resilient over time.”</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9</a:t>
            </a:fld>
            <a:endParaRPr lang="en-US"/>
          </a:p>
        </p:txBody>
      </p:sp>
    </p:spTree>
    <p:extLst>
      <p:ext uri="{BB962C8B-B14F-4D97-AF65-F5344CB8AC3E}">
        <p14:creationId xmlns:p14="http://schemas.microsoft.com/office/powerpoint/2010/main" val="13091656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58A21D-702B-746C-6B90-EAECA477B5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7F9679-AE38-0A20-47CD-01575D3720F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36DE7CA-C535-784F-0110-1C301FDF5AC9}"/>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F606FC22-723A-79DD-3A55-0E257F7FD6CC}"/>
              </a:ext>
            </a:extLst>
          </p:cNvPr>
          <p:cNvSpPr>
            <a:spLocks noGrp="1"/>
          </p:cNvSpPr>
          <p:nvPr>
            <p:ph type="sldNum" sz="quarter" idx="10"/>
          </p:nvPr>
        </p:nvSpPr>
        <p:spPr/>
        <p:txBody>
          <a:bodyPr/>
          <a:lstStyle/>
          <a:p>
            <a:fld id="{18BDFEC3-8487-43E8-A154-7C12CBC1FFF2}" type="slidenum">
              <a:rPr lang="en-US"/>
              <a:t>10</a:t>
            </a:fld>
            <a:endParaRPr lang="en-US"/>
          </a:p>
        </p:txBody>
      </p:sp>
    </p:spTree>
    <p:extLst>
      <p:ext uri="{BB962C8B-B14F-4D97-AF65-F5344CB8AC3E}">
        <p14:creationId xmlns:p14="http://schemas.microsoft.com/office/powerpoint/2010/main" val="257828044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Introduce LLMs at a high level: what they are, how they’re trained, and why they matter for developers.</a:t>
            </a:r>
          </a:p>
        </p:txBody>
      </p:sp>
      <p:sp>
        <p:nvSpPr>
          <p:cNvPr id="4" name="Slide Number Placeholder 3"/>
          <p:cNvSpPr>
            <a:spLocks noGrp="1"/>
          </p:cNvSpPr>
          <p:nvPr>
            <p:ph type="sldNum" sz="quarter" idx="10"/>
          </p:nvPr>
        </p:nvSpPr>
        <p:spPr/>
        <p:txBody>
          <a:bodyPr/>
          <a:lstStyle/>
          <a:p>
            <a:fld id="{18BDFEC3-8487-43E8-A154-7C12CBC1FFF2}" type="slidenum">
              <a:rPr lang="en-US"/>
              <a:t>11</a:t>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0"/>
            <a:r>
              <a:t>Emphasize that LLMs don’t actually “understand” code like humans do</a:t>
            </a:r>
          </a:p>
          <a:p>
            <a:pPr marL="0" lvl="0" indent="0">
              <a:buNone/>
            </a:pPr>
            <a:endParaRPr/>
          </a:p>
          <a:p>
            <a:pPr lvl="0"/>
            <a:r>
              <a:t>They use transformer architecture to recognize patterns and context</a:t>
            </a:r>
          </a:p>
          <a:p>
            <a:pPr marL="0" lvl="0" indent="0">
              <a:buNone/>
            </a:pPr>
            <a:endParaRPr/>
          </a:p>
          <a:p>
            <a:pPr lvl="0"/>
            <a:r>
              <a:t>Token-based processing: code is broken into tokens (words, symbols, operators)</a:t>
            </a:r>
          </a:p>
          <a:p>
            <a:pPr marL="0" lvl="0" indent="0">
              <a:buNone/>
            </a:pPr>
            <a:endParaRPr/>
          </a:p>
          <a:p>
            <a:pPr lvl="0"/>
            <a:r>
              <a:t>Explain that attention mechanisms are what make modern LLMs so powerful</a:t>
            </a:r>
          </a:p>
          <a:p>
            <a:pPr marL="0" lvl="0" indent="0">
              <a:buNone/>
            </a:pPr>
            <a:endParaRPr/>
          </a:p>
          <a:p>
            <a:pPr lvl="0"/>
            <a:r>
              <a:t>The scale is what makes the difference - billions of parameters</a:t>
            </a:r>
          </a:p>
          <a:p>
            <a:pPr marL="0" lvl="0" indent="0">
              <a:buNone/>
            </a:pPr>
            <a:endParaRPr/>
          </a:p>
          <a:p>
            <a:pPr lvl="0"/>
            <a:r>
              <a:t>When we say LLMs “understand” relationships, we mean they can statistically correlate patterns across tokens</a:t>
            </a:r>
          </a:p>
          <a:p>
            <a:pPr marL="0" lvl="0" indent="0">
              <a:buNone/>
            </a:pPr>
            <a:endParaRPr/>
          </a:p>
          <a:p>
            <a:pPr lvl="0"/>
            <a:r>
              <a:t>This pattern matching is extremely sophisticated but lacks true semantic comprehension</a:t>
            </a:r>
          </a:p>
          <a:p>
            <a:pPr marL="0" lvl="0" indent="0">
              <a:buNone/>
            </a:pPr>
            <a:endParaRPr/>
          </a:p>
          <a:p>
            <a:pPr lvl="0"/>
            <a:r>
              <a:t>Example: An LLM can recognize that a variable declared early in a function should be referenced later, not because it understands variables conceptually, but because it has seen this pattern millions of times in training</a:t>
            </a:r>
          </a:p>
          <a:p>
            <a:pPr marL="0" lvl="0" indent="0">
              <a:buNone/>
            </a:pPr>
            <a:endParaRPr/>
          </a:p>
          <a:p>
            <a:pPr lvl="0"/>
            <a:r>
              <a:t>The “understanding” is really about statistical associations between code patterns, not conceptual knowledge</a:t>
            </a:r>
          </a:p>
          <a:p>
            <a:pPr marL="0" lvl="0" indent="0">
              <a:buNone/>
            </a:pPr>
            <a:endParaRPr/>
          </a:p>
          <a:p>
            <a:pPr lvl="0"/>
            <a:r>
              <a:t>This is why LLMs can generate syntactically correct code that is logically flawed - they match patterns without true comprehension of the underlying logic</a:t>
            </a:r>
          </a:p>
        </p:txBody>
      </p:sp>
      <p:sp>
        <p:nvSpPr>
          <p:cNvPr id="4" name="Slide Number Placeholder 3"/>
          <p:cNvSpPr>
            <a:spLocks noGrp="1"/>
          </p:cNvSpPr>
          <p:nvPr>
            <p:ph type="sldNum" sz="quarter" idx="10"/>
          </p:nvPr>
        </p:nvSpPr>
        <p:spPr/>
        <p:txBody>
          <a:bodyPr/>
          <a:lstStyle/>
          <a:p>
            <a:fld id="{18BDFEC3-8487-43E8-A154-7C12CBC1FFF2}" type="slidenum">
              <a:rPr lang="en-US"/>
              <a:t>12</a:t>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Capabilities: Describe common uses (completion, refactoring, tests) and show a quick live example if time permits.</a:t>
            </a:r>
          </a:p>
        </p:txBody>
      </p:sp>
      <p:sp>
        <p:nvSpPr>
          <p:cNvPr id="4" name="Slide Number Placeholder 3"/>
          <p:cNvSpPr>
            <a:spLocks noGrp="1"/>
          </p:cNvSpPr>
          <p:nvPr>
            <p:ph type="sldNum" sz="quarter" idx="10"/>
          </p:nvPr>
        </p:nvSpPr>
        <p:spPr/>
        <p:txBody>
          <a:bodyPr/>
          <a:lstStyle/>
          <a:p>
            <a:fld id="{18BDFEC3-8487-43E8-A154-7C12CBC1FFF2}" type="slidenum">
              <a:rPr lang="en-US"/>
              <a:t>13</a:t>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Limitations: Emphasize hallucination, context limits, and the need for human review and testing.</a:t>
            </a:r>
          </a:p>
        </p:txBody>
      </p:sp>
      <p:sp>
        <p:nvSpPr>
          <p:cNvPr id="4" name="Slide Number Placeholder 3"/>
          <p:cNvSpPr>
            <a:spLocks noGrp="1"/>
          </p:cNvSpPr>
          <p:nvPr>
            <p:ph type="sldNum" sz="quarter" idx="10"/>
          </p:nvPr>
        </p:nvSpPr>
        <p:spPr/>
        <p:txBody>
          <a:bodyPr/>
          <a:lstStyle/>
          <a:p>
            <a:fld id="{18BDFEC3-8487-43E8-A154-7C12CBC1FFF2}" type="slidenum">
              <a:rPr lang="en-US"/>
              <a:t>14</a:t>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Contrast disciplined engineering practices with quick “vibe” coding; stress that AI should augment engineering rigor, not replace it.</a:t>
            </a:r>
          </a:p>
        </p:txBody>
      </p:sp>
      <p:sp>
        <p:nvSpPr>
          <p:cNvPr id="4" name="Slide Number Placeholder 3"/>
          <p:cNvSpPr>
            <a:spLocks noGrp="1"/>
          </p:cNvSpPr>
          <p:nvPr>
            <p:ph type="sldNum" sz="quarter" idx="10"/>
          </p:nvPr>
        </p:nvSpPr>
        <p:spPr/>
        <p:txBody>
          <a:bodyPr/>
          <a:lstStyle/>
          <a:p>
            <a:fld id="{18BDFEC3-8487-43E8-A154-7C12CBC1FFF2}" type="slidenum">
              <a:rPr lang="en-US"/>
              <a:t>15</a:t>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Do’s: Give practical tips—clear prompts, review, testing, and using AI for repetitive work.</a:t>
            </a:r>
          </a:p>
        </p:txBody>
      </p:sp>
      <p:sp>
        <p:nvSpPr>
          <p:cNvPr id="4" name="Slide Number Placeholder 3"/>
          <p:cNvSpPr>
            <a:spLocks noGrp="1"/>
          </p:cNvSpPr>
          <p:nvPr>
            <p:ph type="sldNum" sz="quarter" idx="10"/>
          </p:nvPr>
        </p:nvSpPr>
        <p:spPr/>
        <p:txBody>
          <a:bodyPr/>
          <a:lstStyle/>
          <a:p>
            <a:fld id="{18BDFEC3-8487-43E8-A154-7C12CBC1FFF2}" type="slidenum">
              <a:rPr lang="en-US"/>
              <a:t>16</a:t>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Don’ts: Warn against blind acceptance of suggestions, entering sensitive data in prompts, and skipping tests.</a:t>
            </a:r>
          </a:p>
        </p:txBody>
      </p:sp>
      <p:sp>
        <p:nvSpPr>
          <p:cNvPr id="4" name="Slide Number Placeholder 3"/>
          <p:cNvSpPr>
            <a:spLocks noGrp="1"/>
          </p:cNvSpPr>
          <p:nvPr>
            <p:ph type="sldNum" sz="quarter" idx="10"/>
          </p:nvPr>
        </p:nvSpPr>
        <p:spPr/>
        <p:txBody>
          <a:bodyPr/>
          <a:lstStyle/>
          <a:p>
            <a:fld id="{18BDFEC3-8487-43E8-A154-7C12CBC1FFF2}" type="slidenum">
              <a:rPr lang="en-US"/>
              <a:t>17</a:t>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CF6B84-BF67-C458-5545-99E2C5C822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25CDFA6-58EF-42DB-B0E2-FB4CB53BEB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32607B-6B1D-C96F-1B26-CF66FF6817BC}"/>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AEA050E9-2977-F6DA-239F-C2A504FED71E}"/>
              </a:ext>
            </a:extLst>
          </p:cNvPr>
          <p:cNvSpPr>
            <a:spLocks noGrp="1"/>
          </p:cNvSpPr>
          <p:nvPr>
            <p:ph type="sldNum" sz="quarter" idx="10"/>
          </p:nvPr>
        </p:nvSpPr>
        <p:spPr/>
        <p:txBody>
          <a:bodyPr/>
          <a:lstStyle/>
          <a:p>
            <a:fld id="{18BDFEC3-8487-43E8-A154-7C12CBC1FFF2}" type="slidenum">
              <a:rPr lang="en-US"/>
              <a:t>18</a:t>
            </a:fld>
            <a:endParaRPr lang="en-US"/>
          </a:p>
        </p:txBody>
      </p:sp>
    </p:spTree>
    <p:extLst>
      <p:ext uri="{BB962C8B-B14F-4D97-AF65-F5344CB8AC3E}">
        <p14:creationId xmlns:p14="http://schemas.microsoft.com/office/powerpoint/2010/main" val="20150741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b="1"/>
              <a:t>Input Processing</a:t>
            </a:r>
            <a:r>
              <a:t>: - Developer provides natural language prompts + existing code context - Input is tokenized into discrete units the model can process - Tokens are converted to numerical vectors (embeddings)</a:t>
            </a:r>
          </a:p>
          <a:p>
            <a:pPr marL="0" lvl="0" indent="0">
              <a:buNone/>
            </a:pPr>
            <a:endParaRPr/>
          </a:p>
          <a:p>
            <a:pPr marL="0" lvl="0" indent="0">
              <a:buNone/>
            </a:pPr>
            <a:r>
              <a:rPr b="1"/>
              <a:t>Core Processing</a:t>
            </a:r>
            <a:r>
              <a:t>: - Transformer layers use self-attention to understand relationships - Context window maintains recent conversation/code history - Pattern recognition identifies relevant code structures and syntax</a:t>
            </a:r>
          </a:p>
          <a:p>
            <a:pPr marL="0" lvl="0" indent="0">
              <a:buNone/>
            </a:pPr>
            <a:endParaRPr/>
          </a:p>
          <a:p>
            <a:pPr marL="0" lvl="0" indent="0">
              <a:buNone/>
            </a:pPr>
            <a:r>
              <a:rPr b="1"/>
              <a:t>Output Generation</a:t>
            </a:r>
            <a:r>
              <a:t>: - Model generates probability distributions for next tokens - Decoding strategies determine how to select from probabilities - Output is converted back to readable code</a:t>
            </a:r>
          </a:p>
          <a:p>
            <a:pPr marL="0" lvl="0" indent="0">
              <a:buNone/>
            </a:pPr>
            <a:endParaRPr/>
          </a:p>
          <a:p>
            <a:pPr marL="0" lvl="0" indent="0">
              <a:buNone/>
            </a:pPr>
            <a:r>
              <a:rPr b="1"/>
              <a:t>Human in the Loop</a:t>
            </a:r>
            <a:r>
              <a:t>: - Critical validation step - AI is a tool, not a replacement - Feedback loop for prompt refinement and learning</a:t>
            </a:r>
          </a:p>
          <a:p>
            <a:pPr marL="0" lvl="0" indent="0">
              <a:buNone/>
            </a:pPr>
            <a:endParaRPr/>
          </a:p>
          <a:p>
            <a:pPr marL="0" lvl="0" indent="0">
              <a:buNone/>
            </a:pPr>
            <a:r>
              <a:rPr b="1"/>
              <a:t>Training Influence</a:t>
            </a:r>
            <a:r>
              <a:t>: - Large code repositories provide pattern knowledge - Fine-tuning specializes models for coding tasks - Quality of training data directly impacts output quality</a:t>
            </a:r>
          </a:p>
        </p:txBody>
      </p:sp>
      <p:sp>
        <p:nvSpPr>
          <p:cNvPr id="4" name="Slide Number Placeholder 3"/>
          <p:cNvSpPr>
            <a:spLocks noGrp="1"/>
          </p:cNvSpPr>
          <p:nvPr>
            <p:ph type="sldNum" sz="quarter" idx="10"/>
          </p:nvPr>
        </p:nvSpPr>
        <p:spPr/>
        <p:txBody>
          <a:bodyPr/>
          <a:lstStyle/>
          <a:p>
            <a:fld id="{18BDFEC3-8487-43E8-A154-7C12CBC1FFF2}" type="slidenum">
              <a:rPr lang="en-US"/>
              <a:t>19</a:t>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Contamination‑Free Benchmarks</a:t>
            </a:r>
          </a:p>
          <a:p>
            <a:r>
              <a:rPr lang="en-US" dirty="0"/>
              <a:t>Why They Matter — and How They Work</a:t>
            </a:r>
          </a:p>
          <a:p>
            <a:r>
              <a:rPr lang="en-US" dirty="0"/>
              <a:t>Contamination‑free benchmarks exist because modern LLMs are trained on </a:t>
            </a:r>
            <a:r>
              <a:rPr lang="en-US" b="1" dirty="0"/>
              <a:t>massive, scraped corpora</a:t>
            </a:r>
            <a:r>
              <a:rPr lang="en-US" dirty="0"/>
              <a:t> that often include the very benchmarks used to evaluate them. If a model has already seen the test set during training, its score is inflated — sometimes dramatically — and no longer reflects real reasoning or coding ability</a:t>
            </a:r>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A contamination‑free benchmark is designed to </a:t>
            </a:r>
            <a:r>
              <a:rPr lang="en-US" b="1" dirty="0"/>
              <a:t>eliminate that inflation</a:t>
            </a:r>
            <a:r>
              <a:rPr lang="en-US" dirty="0"/>
              <a:t> and give you a score you can actually trust.</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26</a:t>
            </a:fld>
            <a:endParaRPr lang="en-US"/>
          </a:p>
        </p:txBody>
      </p:sp>
    </p:spTree>
    <p:extLst>
      <p:ext uri="{BB962C8B-B14F-4D97-AF65-F5344CB8AC3E}">
        <p14:creationId xmlns:p14="http://schemas.microsoft.com/office/powerpoint/2010/main" val="99154807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43AF1-ADAF-828D-2065-D34E9C6835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C188140-ADD6-C802-2EE7-220F7D7A49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0FDE256-7738-D89F-3ABA-AB17881A7D27}"/>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75A092C7-1D46-057A-B865-19BF8DB9A885}"/>
              </a:ext>
            </a:extLst>
          </p:cNvPr>
          <p:cNvSpPr>
            <a:spLocks noGrp="1"/>
          </p:cNvSpPr>
          <p:nvPr>
            <p:ph type="sldNum" sz="quarter" idx="10"/>
          </p:nvPr>
        </p:nvSpPr>
        <p:spPr/>
        <p:txBody>
          <a:bodyPr/>
          <a:lstStyle/>
          <a:p>
            <a:fld id="{18BDFEC3-8487-43E8-A154-7C12CBC1FFF2}" type="slidenum">
              <a:rPr lang="en-US"/>
              <a:t>27</a:t>
            </a:fld>
            <a:endParaRPr lang="en-US"/>
          </a:p>
        </p:txBody>
      </p:sp>
    </p:spTree>
    <p:extLst>
      <p:ext uri="{BB962C8B-B14F-4D97-AF65-F5344CB8AC3E}">
        <p14:creationId xmlns:p14="http://schemas.microsoft.com/office/powerpoint/2010/main" val="41567559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Outline governance, admin controls, and adoption factors (training, policy, developer onboarding).</a:t>
            </a:r>
          </a:p>
        </p:txBody>
      </p:sp>
      <p:sp>
        <p:nvSpPr>
          <p:cNvPr id="4" name="Slide Number Placeholder 3"/>
          <p:cNvSpPr>
            <a:spLocks noGrp="1"/>
          </p:cNvSpPr>
          <p:nvPr>
            <p:ph type="sldNum" sz="quarter" idx="10"/>
          </p:nvPr>
        </p:nvSpPr>
        <p:spPr/>
        <p:txBody>
          <a:bodyPr/>
          <a:lstStyle/>
          <a:p>
            <a:fld id="{18BDFEC3-8487-43E8-A154-7C12CBC1FFF2}" type="slidenum">
              <a:rPr lang="en-US"/>
              <a:t>28</a:t>
            </a:fld>
            <a:endParaRPr lang="en-US"/>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the motivating questions about IP, privacy, and safe use that led to this presentation.</a:t>
            </a:r>
          </a:p>
        </p:txBody>
      </p:sp>
      <p:sp>
        <p:nvSpPr>
          <p:cNvPr id="4" name="Slide Number Placeholder 3"/>
          <p:cNvSpPr>
            <a:spLocks noGrp="1"/>
          </p:cNvSpPr>
          <p:nvPr>
            <p:ph type="sldNum" sz="quarter" idx="10"/>
          </p:nvPr>
        </p:nvSpPr>
        <p:spPr/>
        <p:txBody>
          <a:bodyPr/>
          <a:lstStyle/>
          <a:p>
            <a:fld id="{18BDFEC3-8487-43E8-A154-7C12CBC1FFF2}" type="slidenum">
              <a:rPr lang="en-US"/>
              <a:t>29</a:t>
            </a:fld>
            <a:endParaRPr lang="en-US"/>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Highlight productivity, documentation, test generation, and onboarding benefits with brief examples.</a:t>
            </a:r>
          </a:p>
        </p:txBody>
      </p:sp>
      <p:sp>
        <p:nvSpPr>
          <p:cNvPr id="4" name="Slide Number Placeholder 3"/>
          <p:cNvSpPr>
            <a:spLocks noGrp="1"/>
          </p:cNvSpPr>
          <p:nvPr>
            <p:ph type="sldNum" sz="quarter" idx="10"/>
          </p:nvPr>
        </p:nvSpPr>
        <p:spPr/>
        <p:txBody>
          <a:bodyPr/>
          <a:lstStyle/>
          <a:p>
            <a:fld id="{18BDFEC3-8487-43E8-A154-7C12CBC1FFF2}" type="slidenum">
              <a:rPr lang="en-US"/>
              <a:t>30</a:t>
            </a:fld>
            <a:endParaRPr lang="en-US"/>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Cover IP leakage, code quality risks, and developer overreliance; suggest mitigations for each.</a:t>
            </a:r>
          </a:p>
        </p:txBody>
      </p:sp>
      <p:sp>
        <p:nvSpPr>
          <p:cNvPr id="4" name="Slide Number Placeholder 3"/>
          <p:cNvSpPr>
            <a:spLocks noGrp="1"/>
          </p:cNvSpPr>
          <p:nvPr>
            <p:ph type="sldNum" sz="quarter" idx="10"/>
          </p:nvPr>
        </p:nvSpPr>
        <p:spPr/>
        <p:txBody>
          <a:bodyPr/>
          <a:lstStyle/>
          <a:p>
            <a:fld id="{18BDFEC3-8487-43E8-A154-7C12CBC1FFF2}" type="slidenum">
              <a:rPr lang="en-US"/>
              <a:t>31</a:t>
            </a:fld>
            <a:endParaRPr lang="en-US"/>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Discuss regulatory impacts, auditability, and how to enforce coding policies with automated checks.</a:t>
            </a:r>
          </a:p>
        </p:txBody>
      </p:sp>
      <p:sp>
        <p:nvSpPr>
          <p:cNvPr id="4" name="Slide Number Placeholder 3"/>
          <p:cNvSpPr>
            <a:spLocks noGrp="1"/>
          </p:cNvSpPr>
          <p:nvPr>
            <p:ph type="sldNum" sz="quarter" idx="10"/>
          </p:nvPr>
        </p:nvSpPr>
        <p:spPr/>
        <p:txBody>
          <a:bodyPr/>
          <a:lstStyle/>
          <a:p>
            <a:fld id="{18BDFEC3-8487-43E8-A154-7C12CBC1FFF2}" type="slidenum">
              <a:rPr lang="en-US"/>
              <a:t>32</a:t>
            </a:fld>
            <a:endParaRPr lang="en-US"/>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Clarify data flows, model retraining policy for enterprise plans, and recommended org controls to protect IP.</a:t>
            </a:r>
          </a:p>
        </p:txBody>
      </p:sp>
      <p:sp>
        <p:nvSpPr>
          <p:cNvPr id="4" name="Slide Number Placeholder 3"/>
          <p:cNvSpPr>
            <a:spLocks noGrp="1"/>
          </p:cNvSpPr>
          <p:nvPr>
            <p:ph type="sldNum" sz="quarter" idx="10"/>
          </p:nvPr>
        </p:nvSpPr>
        <p:spPr/>
        <p:txBody>
          <a:bodyPr/>
          <a:lstStyle/>
          <a:p>
            <a:fld id="{18BDFEC3-8487-43E8-A154-7C12CBC1FFF2}" type="slidenum">
              <a:rPr lang="en-US"/>
              <a:t>33</a:t>
            </a:fld>
            <a:endParaRPr lang="en-US"/>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risks of suggested code resembling public repos and recommend legal review and filter settings.</a:t>
            </a:r>
          </a:p>
        </p:txBody>
      </p:sp>
      <p:sp>
        <p:nvSpPr>
          <p:cNvPr id="4" name="Slide Number Placeholder 3"/>
          <p:cNvSpPr>
            <a:spLocks noGrp="1"/>
          </p:cNvSpPr>
          <p:nvPr>
            <p:ph type="sldNum" sz="quarter" idx="10"/>
          </p:nvPr>
        </p:nvSpPr>
        <p:spPr/>
        <p:txBody>
          <a:bodyPr/>
          <a:lstStyle/>
          <a:p>
            <a:fld id="{18BDFEC3-8487-43E8-A154-7C12CBC1FFF2}" type="slidenum">
              <a:rPr lang="en-US"/>
              <a:t>34</a:t>
            </a:fld>
            <a:endParaRPr lang="en-US"/>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Summarize plan differences and pick considerations (control, audit, scale) for each offering.</a:t>
            </a:r>
          </a:p>
        </p:txBody>
      </p:sp>
      <p:sp>
        <p:nvSpPr>
          <p:cNvPr id="4" name="Slide Number Placeholder 3"/>
          <p:cNvSpPr>
            <a:spLocks noGrp="1"/>
          </p:cNvSpPr>
          <p:nvPr>
            <p:ph type="sldNum" sz="quarter" idx="10"/>
          </p:nvPr>
        </p:nvSpPr>
        <p:spPr/>
        <p:txBody>
          <a:bodyPr/>
          <a:lstStyle/>
          <a:p>
            <a:fld id="{18BDFEC3-8487-43E8-A154-7C12CBC1FFF2}" type="slidenum">
              <a:rPr lang="en-US"/>
              <a:t>35</a:t>
            </a:fld>
            <a:endParaRPr lang="en-US"/>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Practical checklist: avoid secrets in prompts, enable public-code filters, and establish review processes.</a:t>
            </a:r>
          </a:p>
        </p:txBody>
      </p:sp>
      <p:sp>
        <p:nvSpPr>
          <p:cNvPr id="4" name="Slide Number Placeholder 3"/>
          <p:cNvSpPr>
            <a:spLocks noGrp="1"/>
          </p:cNvSpPr>
          <p:nvPr>
            <p:ph type="sldNum" sz="quarter" idx="10"/>
          </p:nvPr>
        </p:nvSpPr>
        <p:spPr/>
        <p:txBody>
          <a:bodyPr/>
          <a:lstStyle/>
          <a:p>
            <a:fld id="{18BDFEC3-8487-43E8-A154-7C12CBC1FFF2}" type="slidenum">
              <a:rPr lang="en-US"/>
              <a:t>36</a:t>
            </a:fld>
            <a:endParaRPr lang="en-US"/>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Point attendees to official docs and FAQs; recommend follow-up reading links on the slide.</a:t>
            </a:r>
          </a:p>
        </p:txBody>
      </p:sp>
      <p:sp>
        <p:nvSpPr>
          <p:cNvPr id="4" name="Slide Number Placeholder 3"/>
          <p:cNvSpPr>
            <a:spLocks noGrp="1"/>
          </p:cNvSpPr>
          <p:nvPr>
            <p:ph type="sldNum" sz="quarter" idx="10"/>
          </p:nvPr>
        </p:nvSpPr>
        <p:spPr/>
        <p:txBody>
          <a:bodyPr/>
          <a:lstStyle/>
          <a:p>
            <a:fld id="{18BDFEC3-8487-43E8-A154-7C12CBC1FFF2}" type="slidenum">
              <a:rPr lang="en-US"/>
              <a:t>37</a:t>
            </a:fld>
            <a:endParaRPr lang="en-US"/>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B0C912-5025-38F0-606E-0434328F4C7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233111D-B73F-988F-3704-349041F02F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372A0D8-0BC2-12C7-E57B-76670E5BCC2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87CA825F-E8D7-8B1C-1832-6ADECE7D5F8B}"/>
              </a:ext>
            </a:extLst>
          </p:cNvPr>
          <p:cNvSpPr>
            <a:spLocks noGrp="1"/>
          </p:cNvSpPr>
          <p:nvPr>
            <p:ph type="sldNum" sz="quarter" idx="10"/>
          </p:nvPr>
        </p:nvSpPr>
        <p:spPr/>
        <p:txBody>
          <a:bodyPr/>
          <a:lstStyle/>
          <a:p>
            <a:fld id="{18BDFEC3-8487-43E8-A154-7C12CBC1FFF2}" type="slidenum">
              <a:rPr lang="en-US"/>
              <a:t>38</a:t>
            </a:fld>
            <a:endParaRPr lang="en-US"/>
          </a:p>
        </p:txBody>
      </p:sp>
    </p:spTree>
    <p:extLst>
      <p:ext uri="{BB962C8B-B14F-4D97-AF65-F5344CB8AC3E}">
        <p14:creationId xmlns:p14="http://schemas.microsoft.com/office/powerpoint/2010/main" val="2056461979"/>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Walk through installation, auth, and a quick coding session; encourage participants to follow along.</a:t>
            </a:r>
          </a:p>
        </p:txBody>
      </p:sp>
      <p:sp>
        <p:nvSpPr>
          <p:cNvPr id="4" name="Slide Number Placeholder 3"/>
          <p:cNvSpPr>
            <a:spLocks noGrp="1"/>
          </p:cNvSpPr>
          <p:nvPr>
            <p:ph type="sldNum" sz="quarter" idx="10"/>
          </p:nvPr>
        </p:nvSpPr>
        <p:spPr/>
        <p:txBody>
          <a:bodyPr/>
          <a:lstStyle/>
          <a:p>
            <a:fld id="{18BDFEC3-8487-43E8-A154-7C12CBC1FFF2}" type="slidenum">
              <a:rPr lang="en-US"/>
              <a:t>39</a:t>
            </a:fld>
            <a:endParaRPr lang="en-US"/>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1" kern="1200" dirty="0">
                <a:solidFill>
                  <a:schemeClr val="tx1"/>
                </a:solidFill>
                <a:effectLst/>
                <a:latin typeface="+mn-lt"/>
                <a:ea typeface="+mn-ea"/>
                <a:cs typeface="+mn-cs"/>
              </a:rPr>
              <a:t>## **Lab 1: Getting Started with GitHub Copilot**</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**Duration:**</a:t>
            </a:r>
            <a:r>
              <a:rPr lang="en-US" sz="1200" b="0" kern="1200" dirty="0">
                <a:solidFill>
                  <a:schemeClr val="tx1"/>
                </a:solidFill>
                <a:effectLst/>
                <a:latin typeface="+mn-lt"/>
                <a:ea typeface="+mn-ea"/>
                <a:cs typeface="+mn-cs"/>
              </a:rPr>
              <a:t> 20-30 minutes</a:t>
            </a:r>
          </a:p>
          <a:p>
            <a:r>
              <a:rPr lang="en-US" sz="1200" b="1" kern="1200" dirty="0">
                <a:solidFill>
                  <a:schemeClr val="tx1"/>
                </a:solidFill>
                <a:effectLst/>
                <a:latin typeface="+mn-lt"/>
                <a:ea typeface="+mn-ea"/>
                <a:cs typeface="+mn-cs"/>
              </a:rPr>
              <a:t>**Prerequisites:**</a:t>
            </a:r>
            <a:r>
              <a:rPr lang="en-US" sz="1200" b="0" kern="1200" dirty="0">
                <a:solidFill>
                  <a:schemeClr val="tx1"/>
                </a:solidFill>
                <a:effectLst/>
                <a:latin typeface="+mn-lt"/>
                <a:ea typeface="+mn-ea"/>
                <a:cs typeface="+mn-cs"/>
              </a:rPr>
              <a:t> VS Code installed</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Objectives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Install and configure GitHub Copilot</a:t>
            </a:r>
          </a:p>
          <a:p>
            <a:r>
              <a:rPr lang="en-US" sz="1200" b="0" kern="1200" dirty="0">
                <a:solidFill>
                  <a:schemeClr val="tx1"/>
                </a:solidFill>
                <a:effectLst/>
                <a:latin typeface="+mn-lt"/>
                <a:ea typeface="+mn-ea"/>
                <a:cs typeface="+mn-cs"/>
              </a:rPr>
              <a:t>- Verify authentication with GitHub account</a:t>
            </a:r>
          </a:p>
          <a:p>
            <a:r>
              <a:rPr lang="en-US" sz="1200" b="0" kern="1200" dirty="0">
                <a:solidFill>
                  <a:schemeClr val="tx1"/>
                </a:solidFill>
                <a:effectLst/>
                <a:latin typeface="+mn-lt"/>
                <a:ea typeface="+mn-ea"/>
                <a:cs typeface="+mn-cs"/>
              </a:rPr>
              <a:t>- Explore the Copilot UI components</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Activities</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1. Install GitHub Copilot extension from VS Code marketplace</a:t>
            </a:r>
          </a:p>
          <a:p>
            <a:r>
              <a:rPr lang="en-US" sz="1200" b="0" kern="1200" dirty="0">
                <a:solidFill>
                  <a:schemeClr val="tx1"/>
                </a:solidFill>
                <a:effectLst/>
                <a:latin typeface="+mn-lt"/>
                <a:ea typeface="+mn-ea"/>
                <a:cs typeface="+mn-cs"/>
              </a:rPr>
              <a:t>2. Sign in with your GitHub account (verify Copilot subscription)</a:t>
            </a:r>
          </a:p>
          <a:p>
            <a:r>
              <a:rPr lang="en-US" sz="1200" b="0" kern="1200" dirty="0">
                <a:solidFill>
                  <a:schemeClr val="tx1"/>
                </a:solidFill>
                <a:effectLst/>
                <a:latin typeface="+mn-lt"/>
                <a:ea typeface="+mn-ea"/>
                <a:cs typeface="+mn-cs"/>
              </a:rPr>
              <a:t>3. Locate and explore:</a:t>
            </a:r>
          </a:p>
          <a:p>
            <a:r>
              <a:rPr lang="en-US" sz="1200" b="0" kern="1200" dirty="0">
                <a:solidFill>
                  <a:schemeClr val="tx1"/>
                </a:solidFill>
                <a:effectLst/>
                <a:latin typeface="+mn-lt"/>
                <a:ea typeface="+mn-ea"/>
                <a:cs typeface="+mn-cs"/>
              </a:rPr>
              <a:t>   - Chat window and chat history</a:t>
            </a:r>
          </a:p>
          <a:p>
            <a:r>
              <a:rPr lang="en-US" sz="1200" b="0" kern="1200" dirty="0">
                <a:solidFill>
                  <a:schemeClr val="tx1"/>
                </a:solidFill>
                <a:effectLst/>
                <a:latin typeface="+mn-lt"/>
                <a:ea typeface="+mn-ea"/>
                <a:cs typeface="+mn-cs"/>
              </a:rPr>
              <a:t>   - New chat button</a:t>
            </a:r>
          </a:p>
          <a:p>
            <a:r>
              <a:rPr lang="en-US" sz="1200" b="0" kern="1200" dirty="0">
                <a:solidFill>
                  <a:schemeClr val="tx1"/>
                </a:solidFill>
                <a:effectLst/>
                <a:latin typeface="+mn-lt"/>
                <a:ea typeface="+mn-ea"/>
                <a:cs typeface="+mn-cs"/>
              </a:rPr>
              <a:t>   - Quick chat feature (keyboard shortcut)</a:t>
            </a:r>
          </a:p>
          <a:p>
            <a:r>
              <a:rPr lang="en-US" sz="1200" b="0" kern="1200" dirty="0">
                <a:solidFill>
                  <a:schemeClr val="tx1"/>
                </a:solidFill>
                <a:effectLst/>
                <a:latin typeface="+mn-lt"/>
                <a:ea typeface="+mn-ea"/>
                <a:cs typeface="+mn-cs"/>
              </a:rPr>
              <a:t>   - Settings menu</a:t>
            </a:r>
          </a:p>
          <a:p>
            <a:r>
              <a:rPr lang="en-US" sz="1200" b="0" kern="1200" dirty="0">
                <a:solidFill>
                  <a:schemeClr val="tx1"/>
                </a:solidFill>
                <a:effectLst/>
                <a:latin typeface="+mn-lt"/>
                <a:ea typeface="+mn-ea"/>
                <a:cs typeface="+mn-cs"/>
              </a:rPr>
              <a:t>   - Model selection dropdown</a:t>
            </a:r>
          </a:p>
          <a:p>
            <a:r>
              <a:rPr lang="en-US" sz="1200" b="0" kern="1200" dirty="0">
                <a:solidFill>
                  <a:schemeClr val="tx1"/>
                </a:solidFill>
                <a:effectLst/>
                <a:latin typeface="+mn-lt"/>
                <a:ea typeface="+mn-ea"/>
                <a:cs typeface="+mn-cs"/>
              </a:rPr>
              <a:t>4. Check your premium token usage bar</a:t>
            </a:r>
          </a:p>
          <a:p>
            <a:r>
              <a:rPr lang="en-US" sz="1200" b="0" kern="1200" dirty="0">
                <a:solidFill>
                  <a:schemeClr val="tx1"/>
                </a:solidFill>
                <a:effectLst/>
                <a:latin typeface="+mn-lt"/>
                <a:ea typeface="+mn-ea"/>
                <a:cs typeface="+mn-cs"/>
              </a:rPr>
              <a:t>5. Create a new chat and experiment with the interface</a:t>
            </a: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1" kern="1200" dirty="0">
                <a:solidFill>
                  <a:schemeClr val="tx1"/>
                </a:solidFill>
                <a:effectLst/>
                <a:latin typeface="+mn-lt"/>
                <a:ea typeface="+mn-ea"/>
                <a:cs typeface="+mn-cs"/>
              </a:rPr>
              <a:t>### Success Criteria</a:t>
            </a:r>
            <a:endParaRPr lang="en-US" sz="1200" b="0" kern="1200" dirty="0">
              <a:solidFill>
                <a:schemeClr val="tx1"/>
              </a:solidFill>
              <a:effectLst/>
              <a:latin typeface="+mn-lt"/>
              <a:ea typeface="+mn-ea"/>
              <a:cs typeface="+mn-cs"/>
            </a:endParaRPr>
          </a:p>
          <a:p>
            <a:br>
              <a:rPr lang="en-US" sz="1200" b="0" kern="1200" dirty="0">
                <a:solidFill>
                  <a:schemeClr val="tx1"/>
                </a:solidFill>
                <a:effectLst/>
                <a:latin typeface="+mn-lt"/>
                <a:ea typeface="+mn-ea"/>
                <a:cs typeface="+mn-cs"/>
              </a:rPr>
            </a:br>
            <a:endParaRPr lang="en-US" sz="1200" b="0" kern="1200" dirty="0">
              <a:solidFill>
                <a:schemeClr val="tx1"/>
              </a:solidFill>
              <a:effectLst/>
              <a:latin typeface="+mn-lt"/>
              <a:ea typeface="+mn-ea"/>
              <a:cs typeface="+mn-cs"/>
            </a:endParaRPr>
          </a:p>
          <a:p>
            <a:r>
              <a:rPr lang="en-US" sz="1200" b="0" kern="1200" dirty="0">
                <a:solidFill>
                  <a:schemeClr val="tx1"/>
                </a:solidFill>
                <a:effectLst/>
                <a:latin typeface="+mn-lt"/>
                <a:ea typeface="+mn-ea"/>
                <a:cs typeface="+mn-cs"/>
              </a:rPr>
              <a:t>- Copilot extension installed and authenticated</a:t>
            </a:r>
          </a:p>
          <a:p>
            <a:r>
              <a:rPr lang="en-US" sz="1200" b="0" kern="1200" dirty="0">
                <a:solidFill>
                  <a:schemeClr val="tx1"/>
                </a:solidFill>
                <a:effectLst/>
                <a:latin typeface="+mn-lt"/>
                <a:ea typeface="+mn-ea"/>
                <a:cs typeface="+mn-cs"/>
              </a:rPr>
              <a:t>- Can open/close chat windows</a:t>
            </a:r>
          </a:p>
          <a:p>
            <a:r>
              <a:rPr lang="en-US" sz="1200" b="0" kern="1200" dirty="0">
                <a:solidFill>
                  <a:schemeClr val="tx1"/>
                </a:solidFill>
                <a:effectLst/>
                <a:latin typeface="+mn-lt"/>
                <a:ea typeface="+mn-ea"/>
                <a:cs typeface="+mn-cs"/>
              </a:rPr>
              <a:t>- Understand difference between main chat and quick chat</a:t>
            </a:r>
          </a:p>
          <a:p>
            <a:r>
              <a:rPr lang="en-US" sz="1200" b="0" kern="1200" dirty="0">
                <a:solidFill>
                  <a:schemeClr val="tx1"/>
                </a:solidFill>
                <a:effectLst/>
                <a:latin typeface="+mn-lt"/>
                <a:ea typeface="+mn-ea"/>
                <a:cs typeface="+mn-cs"/>
              </a:rPr>
              <a:t>- Know where to find chat history</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40</a:t>
            </a:fld>
            <a:endParaRPr lang="en-US"/>
          </a:p>
        </p:txBody>
      </p:sp>
    </p:spTree>
    <p:extLst>
      <p:ext uri="{BB962C8B-B14F-4D97-AF65-F5344CB8AC3E}">
        <p14:creationId xmlns:p14="http://schemas.microsoft.com/office/powerpoint/2010/main" val="196859569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t>Explain Ask vs Edit modes and when each is most useful. Speak to Agent Mode and Custom Chat Modes briefly. We’ll work with those later.</a:t>
            </a:r>
          </a:p>
        </p:txBody>
      </p:sp>
      <p:sp>
        <p:nvSpPr>
          <p:cNvPr id="4" name="Slide Number Placeholder 3"/>
          <p:cNvSpPr>
            <a:spLocks noGrp="1"/>
          </p:cNvSpPr>
          <p:nvPr>
            <p:ph type="sldNum" sz="quarter" idx="10"/>
          </p:nvPr>
        </p:nvSpPr>
        <p:spPr/>
        <p:txBody>
          <a:bodyPr/>
          <a:lstStyle/>
          <a:p>
            <a:fld id="{18BDFEC3-8487-43E8-A154-7C12CBC1FFF2}" type="slidenum">
              <a:rPr lang="en-US"/>
              <a:t>43</a:t>
            </a:fld>
            <a:endParaRPr lang="en-US"/>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C99EC8-FBD2-23D3-A1BB-F0CF7E81917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0AC3DFC-4CC6-633E-8555-25F2B220FE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7F518B0-A309-6B18-DDA6-C94A1527FB53}"/>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43570CCD-6FDD-D015-FDBE-6F03BCCC267C}"/>
              </a:ext>
            </a:extLst>
          </p:cNvPr>
          <p:cNvSpPr>
            <a:spLocks noGrp="1"/>
          </p:cNvSpPr>
          <p:nvPr>
            <p:ph type="sldNum" sz="quarter" idx="10"/>
          </p:nvPr>
        </p:nvSpPr>
        <p:spPr/>
        <p:txBody>
          <a:bodyPr/>
          <a:lstStyle/>
          <a:p>
            <a:fld id="{18BDFEC3-8487-43E8-A154-7C12CBC1FFF2}" type="slidenum">
              <a:rPr lang="en-US"/>
              <a:t>46</a:t>
            </a:fld>
            <a:endParaRPr lang="en-US"/>
          </a:p>
        </p:txBody>
      </p:sp>
    </p:spTree>
    <p:extLst>
      <p:ext uri="{BB962C8B-B14F-4D97-AF65-F5344CB8AC3E}">
        <p14:creationId xmlns:p14="http://schemas.microsoft.com/office/powerpoint/2010/main" val="3806494522"/>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Mob programming in a AIASD course? </a:t>
            </a:r>
            <a:br>
              <a:rPr lang="en-US" dirty="0"/>
            </a:br>
            <a:br>
              <a:rPr lang="en-US" dirty="0"/>
            </a:br>
            <a:r>
              <a:rPr lang="en-US" dirty="0"/>
              <a:t>AI code generation is</a:t>
            </a:r>
            <a:r>
              <a:rPr lang="en-US" baseline="0" dirty="0"/>
              <a:t> nondeterministic. Attendees working on their own will see different output which will be difficult to explain. So rather than working on labs individually, work on them as a group using a shared codebase. This way they get the “hands-on” experience they expect without the nondeterministic nature of AI getting in the way.</a:t>
            </a:r>
          </a:p>
          <a:p>
            <a:endParaRPr lang="en-US" baseline="0" dirty="0"/>
          </a:p>
          <a:p>
            <a:r>
              <a:rPr lang="en-US" baseline="0" dirty="0"/>
              <a:t>Mob.sh makes this collaboration easier and more seamless. </a:t>
            </a:r>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47</a:t>
            </a:fld>
            <a:endParaRPr lang="en-US"/>
          </a:p>
        </p:txBody>
      </p:sp>
    </p:spTree>
    <p:extLst>
      <p:ext uri="{BB962C8B-B14F-4D97-AF65-F5344CB8AC3E}">
        <p14:creationId xmlns:p14="http://schemas.microsoft.com/office/powerpoint/2010/main" val="124697603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buNone/>
            </a:pPr>
            <a:r>
              <a:rPr lang="en-US" b="1" dirty="0"/>
              <a:t>Objective</a:t>
            </a:r>
            <a:r>
              <a:rPr lang="en-US" dirty="0"/>
              <a:t>: Fork the course repos </a:t>
            </a:r>
            <a:r>
              <a:rPr lang="en-US" b="1" dirty="0"/>
              <a:t>Tasks</a:t>
            </a:r>
          </a:p>
          <a:p>
            <a:pPr lvl="0"/>
            <a:r>
              <a:rPr lang="en-US" dirty="0"/>
              <a:t>Search GitHub for</a:t>
            </a:r>
          </a:p>
          <a:p>
            <a:pPr lvl="1"/>
            <a:r>
              <a:rPr lang="en-US" dirty="0"/>
              <a:t>AI-Assisted-Software-Development</a:t>
            </a:r>
          </a:p>
          <a:p>
            <a:pPr lvl="0"/>
            <a:r>
              <a:rPr lang="en-US" dirty="0"/>
              <a:t>Fork this repo</a:t>
            </a:r>
          </a:p>
          <a:p>
            <a:pPr lvl="1"/>
            <a:r>
              <a:rPr lang="en-US" dirty="0"/>
              <a:t>This will create a personal copy under your GitHub account</a:t>
            </a:r>
          </a:p>
          <a:p>
            <a:pPr lvl="1"/>
            <a:r>
              <a:rPr lang="en-US" dirty="0"/>
              <a:t>You can make changes without affecting the original repo</a:t>
            </a:r>
          </a:p>
          <a:p>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60</a:t>
            </a:fld>
            <a:endParaRPr lang="en-US"/>
          </a:p>
        </p:txBody>
      </p:sp>
    </p:spTree>
    <p:extLst>
      <p:ext uri="{BB962C8B-B14F-4D97-AF65-F5344CB8AC3E}">
        <p14:creationId xmlns:p14="http://schemas.microsoft.com/office/powerpoint/2010/main" val="758918499"/>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4BBE7C-9FAE-47DA-29E5-63F9E7F7A7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410CEE3-3741-B46A-D22C-9A59835CF0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571BD8-C3C0-B75D-2460-0D2FAACB1DBD}"/>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183CE6D6-AA20-F40A-E045-E83219A80041}"/>
              </a:ext>
            </a:extLst>
          </p:cNvPr>
          <p:cNvSpPr>
            <a:spLocks noGrp="1"/>
          </p:cNvSpPr>
          <p:nvPr>
            <p:ph type="sldNum" sz="quarter" idx="10"/>
          </p:nvPr>
        </p:nvSpPr>
        <p:spPr/>
        <p:txBody>
          <a:bodyPr/>
          <a:lstStyle/>
          <a:p>
            <a:fld id="{18BDFEC3-8487-43E8-A154-7C12CBC1FFF2}" type="slidenum">
              <a:rPr lang="en-US"/>
              <a:t>62</a:t>
            </a:fld>
            <a:endParaRPr lang="en-US"/>
          </a:p>
        </p:txBody>
      </p:sp>
    </p:spTree>
    <p:extLst>
      <p:ext uri="{BB962C8B-B14F-4D97-AF65-F5344CB8AC3E}">
        <p14:creationId xmlns:p14="http://schemas.microsoft.com/office/powerpoint/2010/main" val="88535206"/>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effectLst/>
              </a:rPr>
              <a:t>This slide outlines the collaborative development process we’ll follow for building our calculator application — and mob programming will be central to how we work together.</a:t>
            </a:r>
            <a:br>
              <a:rPr lang="en-US" dirty="0">
                <a:effectLst/>
              </a:rPr>
            </a:br>
            <a:br>
              <a:rPr lang="en-US" dirty="0">
                <a:effectLst/>
              </a:rPr>
            </a:br>
            <a:r>
              <a:rPr lang="en-US" dirty="0">
                <a:effectLst/>
              </a:rPr>
              <a:t>Except for Project Setup and Basic Arithmetic functions, the mob controls the direction of the implementation. The other labs are optional and can be used when the mob directs the development of that feature or as suggestions should the mob struggle for direction.</a:t>
            </a:r>
          </a:p>
          <a:p>
            <a:endParaRPr lang="en-US" dirty="0">
              <a:effectLst/>
            </a:endParaRPr>
          </a:p>
          <a:p>
            <a:r>
              <a:rPr lang="en-US" dirty="0">
                <a:effectLst/>
              </a:rPr>
              <a:t>We begin with </a:t>
            </a:r>
            <a:r>
              <a:rPr lang="en-US" b="1" dirty="0">
                <a:effectLst/>
              </a:rPr>
              <a:t>Project Setup</a:t>
            </a:r>
            <a:r>
              <a:rPr lang="en-US" dirty="0">
                <a:effectLst/>
              </a:rPr>
              <a:t>, where the team configures the environment, aligns on goals, and prepares the repo. This is done as a mob — one keyboard, one screen, and everyone contributing ideas in real time. It ensures shared understanding from the start.</a:t>
            </a:r>
          </a:p>
          <a:p>
            <a:endParaRPr lang="en-US" dirty="0">
              <a:effectLst/>
            </a:endParaRPr>
          </a:p>
          <a:p>
            <a:r>
              <a:rPr lang="en-US" dirty="0">
                <a:effectLst/>
              </a:rPr>
              <a:t>At the end of the day, we introduce </a:t>
            </a:r>
            <a:r>
              <a:rPr lang="en-US" b="1" dirty="0">
                <a:effectLst/>
              </a:rPr>
              <a:t>Evergreen Software Development</a:t>
            </a:r>
            <a:r>
              <a:rPr lang="en-US" dirty="0">
                <a:effectLst/>
              </a:rPr>
              <a:t> — a mindset of continuous improvement. </a:t>
            </a:r>
            <a:br>
              <a:rPr lang="en-US" dirty="0">
                <a:effectLst/>
              </a:rPr>
            </a:br>
            <a:br>
              <a:rPr lang="en-US" dirty="0">
                <a:effectLst/>
              </a:rPr>
            </a:br>
            <a:r>
              <a:rPr lang="en-US" dirty="0">
                <a:effectLst/>
              </a:rPr>
              <a:t>Random ideas:</a:t>
            </a:r>
            <a:br>
              <a:rPr lang="en-US" dirty="0">
                <a:effectLst/>
              </a:rPr>
            </a:br>
            <a:r>
              <a:rPr lang="en-US" dirty="0">
                <a:effectLst/>
              </a:rPr>
              <a:t>Implementing Observability</a:t>
            </a:r>
            <a:endParaRPr lang="en-US" dirty="0"/>
          </a:p>
        </p:txBody>
      </p:sp>
      <p:sp>
        <p:nvSpPr>
          <p:cNvPr id="4" name="Slide Number Placeholder 3"/>
          <p:cNvSpPr>
            <a:spLocks noGrp="1"/>
          </p:cNvSpPr>
          <p:nvPr>
            <p:ph type="sldNum" sz="quarter" idx="5"/>
          </p:nvPr>
        </p:nvSpPr>
        <p:spPr/>
        <p:txBody>
          <a:bodyPr/>
          <a:lstStyle/>
          <a:p>
            <a:fld id="{18BDFEC3-8487-43E8-A154-7C12CBC1FFF2}" type="slidenum">
              <a:rPr lang="en-US" smtClean="0"/>
              <a:t>63</a:t>
            </a:fld>
            <a:endParaRPr lang="en-US"/>
          </a:p>
        </p:txBody>
      </p:sp>
    </p:spTree>
    <p:extLst>
      <p:ext uri="{BB962C8B-B14F-4D97-AF65-F5344CB8AC3E}">
        <p14:creationId xmlns:p14="http://schemas.microsoft.com/office/powerpoint/2010/main" val="391940124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0E91B0-C61C-CD50-ADB0-736E45C341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65920F-38B2-41DE-DDD7-A1C5AE7A27D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E56C7ED-8AE3-0C38-9B8C-D4FB51809548}"/>
              </a:ext>
            </a:extLst>
          </p:cNvPr>
          <p:cNvSpPr>
            <a:spLocks noGrp="1"/>
          </p:cNvSpPr>
          <p:nvPr>
            <p:ph type="body" idx="1"/>
          </p:nvPr>
        </p:nvSpPr>
        <p:spPr/>
        <p:txBody>
          <a:bodyPr/>
          <a:lstStyle/>
          <a:p>
            <a:pPr marL="0" lvl="0" indent="0">
              <a:buNone/>
            </a:pPr>
            <a:r>
              <a:rPr dirty="0"/>
              <a:t>Agenda: Quick walkthrough of topics; highlight hands-on demos and exercises.</a:t>
            </a:r>
          </a:p>
        </p:txBody>
      </p:sp>
      <p:sp>
        <p:nvSpPr>
          <p:cNvPr id="4" name="Slide Number Placeholder 3">
            <a:extLst>
              <a:ext uri="{FF2B5EF4-FFF2-40B4-BE49-F238E27FC236}">
                <a16:creationId xmlns:a16="http://schemas.microsoft.com/office/drawing/2014/main" id="{7B07569C-F37F-8E48-86B3-09416473392A}"/>
              </a:ext>
            </a:extLst>
          </p:cNvPr>
          <p:cNvSpPr>
            <a:spLocks noGrp="1"/>
          </p:cNvSpPr>
          <p:nvPr>
            <p:ph type="sldNum" sz="quarter" idx="10"/>
          </p:nvPr>
        </p:nvSpPr>
        <p:spPr/>
        <p:txBody>
          <a:bodyPr/>
          <a:lstStyle/>
          <a:p>
            <a:fld id="{18BDFEC3-8487-43E8-A154-7C12CBC1FFF2}" type="slidenum">
              <a:rPr lang="en-US"/>
              <a:t>84</a:t>
            </a:fld>
            <a:endParaRPr lang="en-US"/>
          </a:p>
        </p:txBody>
      </p:sp>
    </p:spTree>
    <p:extLst>
      <p:ext uri="{BB962C8B-B14F-4D97-AF65-F5344CB8AC3E}">
        <p14:creationId xmlns:p14="http://schemas.microsoft.com/office/powerpoint/2010/main" val="250683089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bg>
      <p:bgPr>
        <a:solidFill>
          <a:srgbClr val="007FB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4E5D4979-0E48-181C-5438-B441393DCAC1}"/>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
        <p:nvSpPr>
          <p:cNvPr id="2" name="Title 1">
            <a:extLst>
              <a:ext uri="{FF2B5EF4-FFF2-40B4-BE49-F238E27FC236}">
                <a16:creationId xmlns:a16="http://schemas.microsoft.com/office/drawing/2014/main" id="{38BA191F-D9FD-C2EB-983F-9B42F26EB6F6}"/>
              </a:ext>
            </a:extLst>
          </p:cNvPr>
          <p:cNvSpPr>
            <a:spLocks noGrp="1"/>
          </p:cNvSpPr>
          <p:nvPr>
            <p:ph type="ctrTitle"/>
          </p:nvPr>
        </p:nvSpPr>
        <p:spPr>
          <a:xfrm>
            <a:off x="1143000" y="2069538"/>
            <a:ext cx="6858000" cy="1418667"/>
          </a:xfrm>
        </p:spPr>
        <p:txBody>
          <a:bodyPr anchor="b"/>
          <a:lstStyle>
            <a:lvl1pPr algn="ctr">
              <a:defRPr sz="45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C2FDDE32-D155-6EE2-5EAC-C0A0C4B0AB69}"/>
              </a:ext>
            </a:extLst>
          </p:cNvPr>
          <p:cNvSpPr>
            <a:spLocks noGrp="1"/>
          </p:cNvSpPr>
          <p:nvPr>
            <p:ph type="subTitle" idx="1"/>
          </p:nvPr>
        </p:nvSpPr>
        <p:spPr>
          <a:xfrm>
            <a:off x="1143000" y="3714244"/>
            <a:ext cx="6858000" cy="993803"/>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pic>
        <p:nvPicPr>
          <p:cNvPr id="5" name="Picture 4">
            <a:extLst>
              <a:ext uri="{FF2B5EF4-FFF2-40B4-BE49-F238E27FC236}">
                <a16:creationId xmlns:a16="http://schemas.microsoft.com/office/drawing/2014/main" id="{A09F10DC-7230-4581-E771-A51DC87C601D}"/>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3220828" y="928579"/>
            <a:ext cx="2683663" cy="966118"/>
          </a:xfrm>
          <a:prstGeom prst="rect">
            <a:avLst/>
          </a:prstGeom>
          <a:ln>
            <a:noFill/>
          </a:ln>
          <a:effectLst/>
        </p:spPr>
      </p:pic>
    </p:spTree>
    <p:extLst>
      <p:ext uri="{BB962C8B-B14F-4D97-AF65-F5344CB8AC3E}">
        <p14:creationId xmlns:p14="http://schemas.microsoft.com/office/powerpoint/2010/main" val="3304399845"/>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8346782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25008E-5CA0-DF16-8859-F3F3B6B4EC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1D7D27F-181A-B717-23A8-6AE0FE66C8FD}"/>
              </a:ext>
            </a:extLst>
          </p:cNvPr>
          <p:cNvSpPr>
            <a:spLocks noGrp="1"/>
          </p:cNvSpPr>
          <p:nvPr>
            <p:ph idx="1"/>
          </p:nvPr>
        </p:nvSpPr>
        <p:spPr/>
        <p:txBody>
          <a:bodyPr/>
          <a:lstStyle>
            <a:lvl1pPr>
              <a:defRPr>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692664667"/>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89169575"/>
      </p:ext>
    </p:extLst>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3930F6-D2DF-F6C7-EE28-1317F8B2A17D}"/>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F97C4C2C-73A8-3DEC-B6FB-43F2345FC94D}"/>
              </a:ext>
            </a:extLst>
          </p:cNvPr>
          <p:cNvSpPr>
            <a:spLocks noGrp="1"/>
          </p:cNvSpPr>
          <p:nvPr>
            <p:ph sz="half" idx="1"/>
          </p:nvPr>
        </p:nvSpPr>
        <p:spPr>
          <a:xfrm>
            <a:off x="6286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01FE4B54-0793-1D98-555E-E9470FF34B9A}"/>
              </a:ext>
            </a:extLst>
          </p:cNvPr>
          <p:cNvSpPr>
            <a:spLocks noGrp="1"/>
          </p:cNvSpPr>
          <p:nvPr>
            <p:ph sz="half" idx="2"/>
          </p:nvPr>
        </p:nvSpPr>
        <p:spPr>
          <a:xfrm>
            <a:off x="4629150" y="1097814"/>
            <a:ext cx="3886200" cy="326350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857184044"/>
      </p:ext>
    </p:extLst>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Centere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a:xfrm>
            <a:off x="1223668" y="1973171"/>
            <a:ext cx="6696665" cy="1176653"/>
          </a:xfrm>
        </p:spPr>
        <p:txBody>
          <a:bodyPr/>
          <a:lstStyle>
            <a:lvl1pPr algn="ctr">
              <a:defRPr/>
            </a:lvl1pPr>
          </a:lstStyle>
          <a:p>
            <a:r>
              <a:rPr lang="en-US"/>
              <a:t>Click to edit Master title style</a:t>
            </a:r>
            <a:endParaRPr lang="en-US" dirty="0"/>
          </a:p>
        </p:txBody>
      </p:sp>
    </p:spTree>
    <p:extLst>
      <p:ext uri="{BB962C8B-B14F-4D97-AF65-F5344CB8AC3E}">
        <p14:creationId xmlns:p14="http://schemas.microsoft.com/office/powerpoint/2010/main" val="1393608818"/>
      </p:ext>
    </p:extLst>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435094068"/>
      </p:ext>
    </p:extLst>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9B468B-A6F2-4747-0841-93AC035CBDBA}"/>
              </a:ext>
            </a:extLst>
          </p:cNvPr>
          <p:cNvSpPr>
            <a:spLocks noGrp="1"/>
          </p:cNvSpPr>
          <p:nvPr>
            <p:ph type="title"/>
          </p:nvPr>
        </p:nvSpPr>
        <p:spPr/>
        <p:txBody>
          <a:bodyPr/>
          <a:lstStyle/>
          <a:p>
            <a:r>
              <a:rPr lang="en-US"/>
              <a:t>Click to edit Master title style</a:t>
            </a:r>
          </a:p>
        </p:txBody>
      </p:sp>
      <p:sp>
        <p:nvSpPr>
          <p:cNvPr id="3" name="Picture Placeholder 3">
            <a:extLst>
              <a:ext uri="{FF2B5EF4-FFF2-40B4-BE49-F238E27FC236}">
                <a16:creationId xmlns:a16="http://schemas.microsoft.com/office/drawing/2014/main" id="{F1C99E23-E5F1-1D9C-BF82-D83E6E9F1346}"/>
              </a:ext>
            </a:extLst>
          </p:cNvPr>
          <p:cNvSpPr>
            <a:spLocks noGrp="1"/>
          </p:cNvSpPr>
          <p:nvPr>
            <p:ph type="pic" sz="quarter" idx="10"/>
          </p:nvPr>
        </p:nvSpPr>
        <p:spPr>
          <a:xfrm>
            <a:off x="675085" y="1825228"/>
            <a:ext cx="7793831" cy="2843213"/>
          </a:xfrm>
        </p:spPr>
        <p:txBody>
          <a:bodyPr/>
          <a:lstStyle/>
          <a:p>
            <a:r>
              <a:rPr lang="en-US"/>
              <a:t>Click icon to add picture</a:t>
            </a:r>
          </a:p>
        </p:txBody>
      </p:sp>
      <p:sp>
        <p:nvSpPr>
          <p:cNvPr id="4" name="Text Placeholder 5">
            <a:extLst>
              <a:ext uri="{FF2B5EF4-FFF2-40B4-BE49-F238E27FC236}">
                <a16:creationId xmlns:a16="http://schemas.microsoft.com/office/drawing/2014/main" id="{63708861-970C-B5DB-BF46-526E75A04C16}"/>
              </a:ext>
            </a:extLst>
          </p:cNvPr>
          <p:cNvSpPr>
            <a:spLocks noGrp="1"/>
          </p:cNvSpPr>
          <p:nvPr>
            <p:ph type="body" sz="quarter" idx="11" hasCustomPrompt="1"/>
          </p:nvPr>
        </p:nvSpPr>
        <p:spPr>
          <a:xfrm>
            <a:off x="675085" y="1083469"/>
            <a:ext cx="7793831" cy="486966"/>
          </a:xfrm>
        </p:spPr>
        <p:txBody>
          <a:bodyPr/>
          <a:lstStyle>
            <a:lvl1pPr marL="0" indent="0">
              <a:buNone/>
              <a:defRPr/>
            </a:lvl1pPr>
          </a:lstStyle>
          <a:p>
            <a:pPr lvl="0"/>
            <a:r>
              <a:rPr lang="en-US" dirty="0"/>
              <a:t>Image Caption</a:t>
            </a:r>
          </a:p>
        </p:txBody>
      </p:sp>
    </p:spTree>
    <p:extLst>
      <p:ext uri="{BB962C8B-B14F-4D97-AF65-F5344CB8AC3E}">
        <p14:creationId xmlns:p14="http://schemas.microsoft.com/office/powerpoint/2010/main" val="3619936445"/>
      </p:ext>
    </p:extLst>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331683144"/>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blank" preserve="1">
  <p:cSld name="1_Blank">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7F7AB04E-CD14-3B5B-FB56-FF0AC2426BBE}"/>
              </a:ext>
            </a:extLst>
          </p:cNvPr>
          <p:cNvPicPr>
            <a:picLocks noChangeAspect="1"/>
          </p:cNvPicPr>
          <p:nvPr/>
        </p:nvPicPr>
        <p:blipFill>
          <a:blip r:embed="rId2">
            <a:alphaModFix amt="20000"/>
          </a:blip>
          <a:srcRect l="301" t="5222" r="713" b="10945"/>
          <a:stretch/>
        </p:blipFill>
        <p:spPr>
          <a:xfrm>
            <a:off x="0" y="-1"/>
            <a:ext cx="9144000" cy="5143501"/>
          </a:xfrm>
          <a:prstGeom prst="rect">
            <a:avLst/>
          </a:prstGeom>
        </p:spPr>
      </p:pic>
    </p:spTree>
    <p:extLst>
      <p:ext uri="{BB962C8B-B14F-4D97-AF65-F5344CB8AC3E}">
        <p14:creationId xmlns:p14="http://schemas.microsoft.com/office/powerpoint/2010/main" val="4051551499"/>
      </p:ext>
    </p:extLst>
  </p:cSld>
  <p:clrMapOvr>
    <a:masterClrMapping/>
  </p:clrMapOvr>
  <p:transition>
    <p:fade/>
  </p:transition>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de">
    <p:bg>
      <p:bgPr>
        <a:solidFill>
          <a:srgbClr val="21212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DF442E2-8683-D251-03C0-5FDD0CBEBC4F}"/>
              </a:ext>
            </a:extLst>
          </p:cNvPr>
          <p:cNvSpPr>
            <a:spLocks noGrp="1"/>
          </p:cNvSpPr>
          <p:nvPr>
            <p:ph type="body" sz="quarter" idx="10" hasCustomPrompt="1"/>
          </p:nvPr>
        </p:nvSpPr>
        <p:spPr>
          <a:xfrm>
            <a:off x="625111" y="788974"/>
            <a:ext cx="7373867" cy="276999"/>
          </a:xfrm>
        </p:spPr>
        <p:txBody>
          <a:bodyPr>
            <a:spAutoFit/>
          </a:bodyPr>
          <a:lstStyle>
            <a:lvl1pPr marL="0" indent="0">
              <a:buFontTx/>
              <a:buNone/>
              <a:defRPr sz="1200">
                <a:latin typeface="Victor Mono" pitchFamily="49" charset="0"/>
              </a:defRPr>
            </a:lvl1pPr>
            <a:lvl2pPr marL="342900" indent="0">
              <a:buFontTx/>
              <a:buNone/>
              <a:defRPr>
                <a:latin typeface="Victor Mono" pitchFamily="49" charset="0"/>
              </a:defRPr>
            </a:lvl2pPr>
            <a:lvl3pPr marL="685800" indent="0">
              <a:buFontTx/>
              <a:buNone/>
              <a:defRPr>
                <a:latin typeface="Victor Mono" pitchFamily="49" charset="0"/>
              </a:defRPr>
            </a:lvl3pPr>
            <a:lvl4pPr marL="1028700" indent="0">
              <a:buFontTx/>
              <a:buNone/>
              <a:defRPr>
                <a:latin typeface="Victor Mono" pitchFamily="49" charset="0"/>
              </a:defRPr>
            </a:lvl4pPr>
            <a:lvl5pPr marL="1371600" indent="0">
              <a:buFontTx/>
              <a:buNone/>
              <a:defRPr>
                <a:latin typeface="Victor Mono" pitchFamily="49" charset="0"/>
              </a:defRPr>
            </a:lvl5pPr>
          </a:lstStyle>
          <a:p>
            <a:pPr lvl="0"/>
            <a:r>
              <a:rPr lang="en-US" dirty="0"/>
              <a:t>Click to edit Code text</a:t>
            </a:r>
          </a:p>
        </p:txBody>
      </p:sp>
    </p:spTree>
    <p:extLst>
      <p:ext uri="{BB962C8B-B14F-4D97-AF65-F5344CB8AC3E}">
        <p14:creationId xmlns:p14="http://schemas.microsoft.com/office/powerpoint/2010/main" val="1882022667"/>
      </p:ext>
    </p:extLst>
  </p:cSld>
  <p:clrMapOvr>
    <a:masterClrMapping/>
  </p:clrMapOvr>
  <mc:AlternateContent xmlns:mc="http://schemas.openxmlformats.org/markup-compatibility/2006" xmlns:p159="http://schemas.microsoft.com/office/powerpoint/2015/09/main">
    <mc:Choice Requires="p159">
      <p:transition>
        <p159:morph option="byObject"/>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rgbClr val="007FB1"/>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83C53BF9-6377-93D8-5BD7-30937619B4E2}"/>
              </a:ext>
            </a:extLst>
          </p:cNvPr>
          <p:cNvPicPr>
            <a:picLocks noChangeAspect="1"/>
          </p:cNvPicPr>
          <p:nvPr/>
        </p:nvPicPr>
        <p:blipFill>
          <a:blip r:embed="rId13">
            <a:alphaModFix amt="20000"/>
          </a:blip>
          <a:srcRect l="301" t="5222" r="713" b="10945"/>
          <a:stretch/>
        </p:blipFill>
        <p:spPr>
          <a:xfrm>
            <a:off x="0" y="-1"/>
            <a:ext cx="9144000" cy="5143501"/>
          </a:xfrm>
          <a:prstGeom prst="rect">
            <a:avLst/>
          </a:prstGeom>
        </p:spPr>
      </p:pic>
      <p:sp>
        <p:nvSpPr>
          <p:cNvPr id="2" name="Title Placeholder 1">
            <a:extLst>
              <a:ext uri="{FF2B5EF4-FFF2-40B4-BE49-F238E27FC236}">
                <a16:creationId xmlns:a16="http://schemas.microsoft.com/office/drawing/2014/main" id="{3A4163A3-B061-0949-1965-0375841BDB05}"/>
              </a:ext>
            </a:extLst>
          </p:cNvPr>
          <p:cNvSpPr>
            <a:spLocks noGrp="1"/>
          </p:cNvSpPr>
          <p:nvPr>
            <p:ph type="title"/>
          </p:nvPr>
        </p:nvSpPr>
        <p:spPr>
          <a:xfrm>
            <a:off x="628651" y="273845"/>
            <a:ext cx="6696665" cy="527268"/>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D4E76094-9BD4-ED01-3BE5-5F760EE32E2A}"/>
              </a:ext>
            </a:extLst>
          </p:cNvPr>
          <p:cNvSpPr>
            <a:spLocks noGrp="1"/>
          </p:cNvSpPr>
          <p:nvPr>
            <p:ph type="body" idx="1"/>
          </p:nvPr>
        </p:nvSpPr>
        <p:spPr>
          <a:xfrm>
            <a:off x="628650" y="1096112"/>
            <a:ext cx="7886700" cy="326350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pic>
        <p:nvPicPr>
          <p:cNvPr id="4" name="Picture 3">
            <a:extLst>
              <a:ext uri="{FF2B5EF4-FFF2-40B4-BE49-F238E27FC236}">
                <a16:creationId xmlns:a16="http://schemas.microsoft.com/office/drawing/2014/main" id="{CD6163BC-C951-C17F-421A-4AD743EDDB29}"/>
              </a:ext>
            </a:extLst>
          </p:cNvPr>
          <p:cNvPicPr>
            <a:picLocks noChangeAspect="1"/>
          </p:cNvPicPr>
          <p:nvPr/>
        </p:nvPicPr>
        <p:blipFill>
          <a:blip r:embed="rId14"/>
          <a:srcRect/>
          <a:stretch/>
        </p:blipFill>
        <p:spPr>
          <a:xfrm>
            <a:off x="7512088" y="318405"/>
            <a:ext cx="1337757" cy="482708"/>
          </a:xfrm>
          <a:prstGeom prst="rect">
            <a:avLst/>
          </a:prstGeom>
          <a:ln>
            <a:noFill/>
          </a:ln>
          <a:effectLst/>
        </p:spPr>
      </p:pic>
    </p:spTree>
    <p:extLst>
      <p:ext uri="{BB962C8B-B14F-4D97-AF65-F5344CB8AC3E}">
        <p14:creationId xmlns:p14="http://schemas.microsoft.com/office/powerpoint/2010/main" val="30640561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ransition>
    <p:fade/>
  </p:transition>
  <p:txStyles>
    <p:titleStyle>
      <a:lvl1pPr algn="l" defTabSz="685800" rtl="0" eaLnBrk="1" latinLnBrk="0" hangingPunct="1">
        <a:lnSpc>
          <a:spcPct val="90000"/>
        </a:lnSpc>
        <a:spcBef>
          <a:spcPct val="0"/>
        </a:spcBef>
        <a:buNone/>
        <a:defRPr sz="3300" b="1"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p:titleStyle>
    <p:bodyStyle>
      <a:lvl1pPr marL="171450" indent="-171450" algn="l" defTabSz="685800" rtl="0" eaLnBrk="1" latinLnBrk="0" hangingPunct="1">
        <a:lnSpc>
          <a:spcPct val="100000"/>
        </a:lnSpc>
        <a:spcBef>
          <a:spcPts val="750"/>
        </a:spcBef>
        <a:buFont typeface="Arial" panose="020B0604020202020204" pitchFamily="34" charset="0"/>
        <a:buChar char="•"/>
        <a:defRPr sz="21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1pPr>
      <a:lvl2pPr marL="514350" indent="-171450" algn="l" defTabSz="685800" rtl="0" eaLnBrk="1" latinLnBrk="0" hangingPunct="1">
        <a:lnSpc>
          <a:spcPct val="100000"/>
        </a:lnSpc>
        <a:spcBef>
          <a:spcPts val="375"/>
        </a:spcBef>
        <a:buFont typeface="Arial" panose="020B0604020202020204" pitchFamily="34" charset="0"/>
        <a:buChar char="•"/>
        <a:defRPr sz="18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2pPr>
      <a:lvl3pPr marL="857250" indent="-171450" algn="l" defTabSz="685800" rtl="0" eaLnBrk="1" latinLnBrk="0" hangingPunct="1">
        <a:lnSpc>
          <a:spcPct val="100000"/>
        </a:lnSpc>
        <a:spcBef>
          <a:spcPts val="375"/>
        </a:spcBef>
        <a:buFont typeface="Arial" panose="020B0604020202020204" pitchFamily="34" charset="0"/>
        <a:buChar char="•"/>
        <a:defRPr sz="150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3pPr>
      <a:lvl4pPr marL="12001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4pPr>
      <a:lvl5pPr marL="1543050" indent="-171450" algn="l" defTabSz="685800" rtl="0" eaLnBrk="1" latinLnBrk="0" hangingPunct="1">
        <a:lnSpc>
          <a:spcPct val="100000"/>
        </a:lnSpc>
        <a:spcBef>
          <a:spcPts val="375"/>
        </a:spcBef>
        <a:buFont typeface="Arial" panose="020B0604020202020204" pitchFamily="34" charset="0"/>
        <a:buChar char="•"/>
        <a:defRPr sz="1350" kern="1200">
          <a:solidFill>
            <a:schemeClr val="bg1"/>
          </a:solidFill>
          <a:latin typeface="Noto Sans" panose="020B0502040504020204" pitchFamily="34" charset="0"/>
          <a:ea typeface="Noto Sans" panose="020B0502040504020204" pitchFamily="34" charset="0"/>
          <a:cs typeface="Noto Sans" panose="020B0502040504020204" pitchFamily="34" charset="0"/>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xml"/><Relationship Id="rId1" Type="http://schemas.openxmlformats.org/officeDocument/2006/relationships/slideLayout" Target="../slideLayouts/slideLayout8.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4.xml.rels><?xml version="1.0" encoding="UTF-8" standalone="yes"?>
<Relationships xmlns="http://schemas.openxmlformats.org/package/2006/relationships"><Relationship Id="rId3" Type="http://schemas.openxmlformats.org/officeDocument/2006/relationships/diagramData" Target="../diagrams/data3.xml"/><Relationship Id="rId7" Type="http://schemas.microsoft.com/office/2007/relationships/diagramDrawing" Target="../diagrams/drawing3.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diagramColors" Target="../diagrams/colors3.xml"/><Relationship Id="rId5" Type="http://schemas.openxmlformats.org/officeDocument/2006/relationships/diagramQuickStyle" Target="../diagrams/quickStyle3.xml"/><Relationship Id="rId4" Type="http://schemas.openxmlformats.org/officeDocument/2006/relationships/diagramLayout" Target="../diagrams/layout3.xml"/></Relationships>
</file>

<file path=ppt/slides/_rels/slide5.xml.rels><?xml version="1.0" encoding="UTF-8" standalone="yes"?>
<Relationships xmlns="http://schemas.openxmlformats.org/package/2006/relationships"><Relationship Id="rId3" Type="http://schemas.openxmlformats.org/officeDocument/2006/relationships/diagramData" Target="../diagrams/data4.xml"/><Relationship Id="rId7" Type="http://schemas.microsoft.com/office/2007/relationships/diagramDrawing" Target="../diagrams/drawing4.xml"/><Relationship Id="rId2" Type="http://schemas.openxmlformats.org/officeDocument/2006/relationships/notesSlide" Target="../notesSlides/notesSlide3.xml"/><Relationship Id="rId1" Type="http://schemas.openxmlformats.org/officeDocument/2006/relationships/slideLayout" Target="../slideLayouts/slideLayout3.xml"/><Relationship Id="rId6" Type="http://schemas.openxmlformats.org/officeDocument/2006/relationships/diagramColors" Target="../diagrams/colors4.xml"/><Relationship Id="rId5" Type="http://schemas.openxmlformats.org/officeDocument/2006/relationships/diagramQuickStyle" Target="../diagrams/quickStyle4.xml"/><Relationship Id="rId4" Type="http://schemas.openxmlformats.org/officeDocument/2006/relationships/diagramLayout" Target="../diagrams/layout4.xml"/></Relationships>
</file>

<file path=ppt/slides/_rels/slide6.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19.xml.rels><?xml version="1.0" encoding="UTF-8" standalone="yes"?>
<Relationships xmlns="http://schemas.openxmlformats.org/package/2006/relationships"><Relationship Id="rId3" Type="http://schemas.openxmlformats.org/officeDocument/2006/relationships/hyperlink" Target="../CODE/Fundementals/LLM-Architecture-Diagram.png" TargetMode="External"/><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8.xml"/><Relationship Id="rId7" Type="http://schemas.microsoft.com/office/2007/relationships/diagramDrawing" Target="../diagrams/drawing8.xml"/><Relationship Id="rId2" Type="http://schemas.openxmlformats.org/officeDocument/2006/relationships/notesSlide" Target="../notesSlides/notesSlide19.xml"/><Relationship Id="rId1" Type="http://schemas.openxmlformats.org/officeDocument/2006/relationships/slideLayout" Target="../slideLayouts/slideLayout3.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docs.github.com/en/copilot/overview/copilot-terms-of-service" TargetMode="External"/><Relationship Id="rId2" Type="http://schemas.openxmlformats.org/officeDocument/2006/relationships/notesSlide" Target="../notesSlides/notesSlide26.xml"/><Relationship Id="rId1" Type="http://schemas.openxmlformats.org/officeDocument/2006/relationships/slideLayout" Target="../slideLayouts/slideLayout2.xml"/><Relationship Id="rId4" Type="http://schemas.openxmlformats.org/officeDocument/2006/relationships/hyperlink" Target="https://privacy.microsoft.com/en-us/privacystatement" TargetMode="Externa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hyperlink" Target="https://docs.github.com/en/copilot" TargetMode="External"/><Relationship Id="rId2" Type="http://schemas.openxmlformats.org/officeDocument/2006/relationships/notesSlide" Target="../notesSlides/notesSlide29.xml"/><Relationship Id="rId1" Type="http://schemas.openxmlformats.org/officeDocument/2006/relationships/slideLayout" Target="../slideLayouts/slideLayout2.xml"/><Relationship Id="rId5" Type="http://schemas.openxmlformats.org/officeDocument/2006/relationships/hyperlink" Target="https://docs.github.com/en/copilot/security" TargetMode="External"/><Relationship Id="rId4" Type="http://schemas.openxmlformats.org/officeDocument/2006/relationships/hyperlink" Target="https://github.com/features/copilot-for-business" TargetMode="External"/></Relationships>
</file>

<file path=ppt/slides/_rels/slide38.xml.rels><?xml version="1.0" encoding="UTF-8" standalone="yes"?>
<Relationships xmlns="http://schemas.openxmlformats.org/package/2006/relationships"><Relationship Id="rId3" Type="http://schemas.openxmlformats.org/officeDocument/2006/relationships/diagramData" Target="../diagrams/data9.xml"/><Relationship Id="rId7" Type="http://schemas.microsoft.com/office/2007/relationships/diagramDrawing" Target="../diagrams/drawing9.xml"/><Relationship Id="rId2" Type="http://schemas.openxmlformats.org/officeDocument/2006/relationships/notesSlide" Target="../notesSlides/notesSlide30.xml"/><Relationship Id="rId1" Type="http://schemas.openxmlformats.org/officeDocument/2006/relationships/slideLayout" Target="../slideLayouts/slideLayout3.xml"/><Relationship Id="rId6" Type="http://schemas.openxmlformats.org/officeDocument/2006/relationships/diagramColors" Target="../diagrams/colors9.xml"/><Relationship Id="rId5" Type="http://schemas.openxmlformats.org/officeDocument/2006/relationships/diagramQuickStyle" Target="../diagrams/quickStyle9.xml"/><Relationship Id="rId4" Type="http://schemas.openxmlformats.org/officeDocument/2006/relationships/diagramLayout" Target="../diagrams/layout9.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diagramData" Target="../diagrams/data10.xml"/><Relationship Id="rId7" Type="http://schemas.microsoft.com/office/2007/relationships/diagramDrawing" Target="../diagrams/drawing10.xml"/><Relationship Id="rId2" Type="http://schemas.openxmlformats.org/officeDocument/2006/relationships/notesSlide" Target="../notesSlides/notesSlide34.xml"/><Relationship Id="rId1" Type="http://schemas.openxmlformats.org/officeDocument/2006/relationships/slideLayout" Target="../slideLayouts/slideLayout3.xml"/><Relationship Id="rId6" Type="http://schemas.openxmlformats.org/officeDocument/2006/relationships/diagramColors" Target="../diagrams/colors10.xml"/><Relationship Id="rId5" Type="http://schemas.openxmlformats.org/officeDocument/2006/relationships/diagramQuickStyle" Target="../diagrams/quickStyle10.xml"/><Relationship Id="rId4" Type="http://schemas.openxmlformats.org/officeDocument/2006/relationships/diagramLayout" Target="../diagrams/layout10.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hyperlink" Target="https://mob.sh/" TargetMode="External"/><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hyperlink" Target="https://www.bing.com/search?q=%22https%3A%2F%2Fgithub.com%2Fremotemobprogramming%2Fmob%22" TargetMode="External"/><Relationship Id="rId2" Type="http://schemas.openxmlformats.org/officeDocument/2006/relationships/hyperlink" Target="https://mob.sh/" TargetMode="Externa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diagramData" Target="../diagrams/data11.xml"/><Relationship Id="rId7" Type="http://schemas.microsoft.com/office/2007/relationships/diagramDrawing" Target="../diagrams/drawing11.xml"/><Relationship Id="rId2" Type="http://schemas.openxmlformats.org/officeDocument/2006/relationships/notesSlide" Target="../notesSlides/notesSlide37.xml"/><Relationship Id="rId1" Type="http://schemas.openxmlformats.org/officeDocument/2006/relationships/slideLayout" Target="../slideLayouts/slideLayout3.xml"/><Relationship Id="rId6" Type="http://schemas.openxmlformats.org/officeDocument/2006/relationships/diagramColors" Target="../diagrams/colors11.xml"/><Relationship Id="rId5" Type="http://schemas.openxmlformats.org/officeDocument/2006/relationships/diagramQuickStyle" Target="../diagrams/quickStyle11.xml"/><Relationship Id="rId4" Type="http://schemas.openxmlformats.org/officeDocument/2006/relationships/diagramLayout" Target="../diagrams/layout11.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diagramData" Target="../diagrams/data12.xml"/><Relationship Id="rId7" Type="http://schemas.microsoft.com/office/2007/relationships/diagramDrawing" Target="../diagrams/drawing12.xml"/><Relationship Id="rId2" Type="http://schemas.openxmlformats.org/officeDocument/2006/relationships/notesSlide" Target="../notesSlides/notesSlide39.xml"/><Relationship Id="rId1" Type="http://schemas.openxmlformats.org/officeDocument/2006/relationships/slideLayout" Target="../slideLayouts/slideLayout3.xml"/><Relationship Id="rId6" Type="http://schemas.openxmlformats.org/officeDocument/2006/relationships/diagramColors" Target="../diagrams/colors12.xml"/><Relationship Id="rId5" Type="http://schemas.openxmlformats.org/officeDocument/2006/relationships/diagramQuickStyle" Target="../diagrams/quickStyle12.xml"/><Relationship Id="rId4" Type="http://schemas.openxmlformats.org/officeDocument/2006/relationships/diagramLayout" Target="../diagrams/layout1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normAutofit/>
          </a:bodyPr>
          <a:lstStyle/>
          <a:p>
            <a:pPr marL="0" lvl="0" indent="0">
              <a:buNone/>
            </a:pPr>
            <a:r>
              <a:rPr dirty="0"/>
              <a:t>AI Assisted Software Development</a:t>
            </a:r>
          </a:p>
        </p:txBody>
      </p:sp>
      <p:sp>
        <p:nvSpPr>
          <p:cNvPr id="3" name="Subtitle 2">
            <a:extLst>
              <a:ext uri="{FF2B5EF4-FFF2-40B4-BE49-F238E27FC236}">
                <a16:creationId xmlns:a16="http://schemas.microsoft.com/office/drawing/2014/main" id="{28E2B777-02FF-E266-D08C-4F8C7CD47026}"/>
              </a:ext>
            </a:extLst>
          </p:cNvPr>
          <p:cNvSpPr>
            <a:spLocks noGrp="1"/>
          </p:cNvSpPr>
          <p:nvPr>
            <p:ph type="subTitle" idx="1"/>
          </p:nvPr>
        </p:nvSpPr>
        <p:spPr/>
        <p:txBody>
          <a:bodyPr/>
          <a:lstStyle/>
          <a:p>
            <a:r>
              <a:rPr lang="en-US" dirty="0"/>
              <a:t>From Code to Copilot</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dirty="0"/>
              <a:t>John Michael Miller</a:t>
            </a:r>
          </a:p>
        </p:txBody>
      </p:sp>
      <p:graphicFrame>
        <p:nvGraphicFramePr>
          <p:cNvPr id="5" name="Content Placeholder 2">
            <a:extLst>
              <a:ext uri="{FF2B5EF4-FFF2-40B4-BE49-F238E27FC236}">
                <a16:creationId xmlns:a16="http://schemas.microsoft.com/office/drawing/2014/main" id="{964846E6-CB80-F8F9-C2F7-FF1AF5D1E33C}"/>
              </a:ext>
            </a:extLst>
          </p:cNvPr>
          <p:cNvGraphicFramePr>
            <a:graphicFrameLocks noGrp="1"/>
          </p:cNvGraphicFramePr>
          <p:nvPr>
            <p:ph idx="1"/>
            <p:extLst>
              <p:ext uri="{D42A27DB-BD31-4B8C-83A1-F6EECF244321}">
                <p14:modId xmlns:p14="http://schemas.microsoft.com/office/powerpoint/2010/main" val="257906895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chor="ctr">
            <a:normAutofit fontScale="90000"/>
          </a:bodyPr>
          <a:lstStyle/>
          <a:p>
            <a:pPr marL="0" lvl="0" indent="0">
              <a:buNone/>
            </a:pPr>
            <a:r>
              <a:rPr lang="en-US" sz="3100" dirty="0"/>
              <a:t>AI Assisted Software Development</a:t>
            </a:r>
          </a:p>
        </p:txBody>
      </p:sp>
      <p:graphicFrame>
        <p:nvGraphicFramePr>
          <p:cNvPr id="5" name="Content Placeholder 2">
            <a:extLst>
              <a:ext uri="{FF2B5EF4-FFF2-40B4-BE49-F238E27FC236}">
                <a16:creationId xmlns:a16="http://schemas.microsoft.com/office/drawing/2014/main" id="{2B2D6827-DF9F-D1D0-2BBB-A2DB910F5134}"/>
              </a:ext>
            </a:extLst>
          </p:cNvPr>
          <p:cNvGraphicFramePr>
            <a:graphicFrameLocks noGrp="1"/>
          </p:cNvGraphicFramePr>
          <p:nvPr>
            <p:ph type="pic" sz="quarter" idx="10"/>
            <p:extLst>
              <p:ext uri="{D42A27DB-BD31-4B8C-83A1-F6EECF244321}">
                <p14:modId xmlns:p14="http://schemas.microsoft.com/office/powerpoint/2010/main" val="3115450561"/>
              </p:ext>
            </p:extLst>
          </p:nvPr>
        </p:nvGraphicFramePr>
        <p:xfrm>
          <a:off x="674688" y="977462"/>
          <a:ext cx="7794625" cy="369137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 Placeholder 3">
            <a:extLst>
              <a:ext uri="{FF2B5EF4-FFF2-40B4-BE49-F238E27FC236}">
                <a16:creationId xmlns:a16="http://schemas.microsoft.com/office/drawing/2014/main" id="{1075A7DB-B027-FDC5-B4A8-471F34D97340}"/>
              </a:ext>
            </a:extLst>
          </p:cNvPr>
          <p:cNvSpPr>
            <a:spLocks noGrp="1"/>
          </p:cNvSpPr>
          <p:nvPr>
            <p:ph type="body" sz="quarter" idx="11"/>
          </p:nvPr>
        </p:nvSpPr>
        <p:spPr/>
        <p:txBody>
          <a:bodyPr/>
          <a:lstStyle/>
          <a:p>
            <a:endParaRPr lang="en-US"/>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60FDF85-A3B6-7497-4272-3CC23DB62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3D979F-0421-2D32-0707-23ED193871BE}"/>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F585B45F-769A-F26C-815F-E4831F499F04}"/>
              </a:ext>
            </a:extLst>
          </p:cNvPr>
          <p:cNvGraphicFramePr>
            <a:graphicFrameLocks noGrp="1"/>
          </p:cNvGraphicFramePr>
          <p:nvPr>
            <p:ph idx="1"/>
            <p:extLst>
              <p:ext uri="{D42A27DB-BD31-4B8C-83A1-F6EECF244321}">
                <p14:modId xmlns:p14="http://schemas.microsoft.com/office/powerpoint/2010/main" val="1333595583"/>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584642243"/>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28651" y="273845"/>
            <a:ext cx="6696665" cy="527268"/>
          </a:xfrm>
        </p:spPr>
        <p:txBody>
          <a:bodyPr anchor="ctr">
            <a:normAutofit/>
          </a:bodyPr>
          <a:lstStyle/>
          <a:p>
            <a:pPr marL="0" lvl="0" indent="0">
              <a:buNone/>
            </a:pPr>
            <a:r>
              <a:rPr lang="en-US" sz="3100"/>
              <a:t>Overview</a:t>
            </a:r>
          </a:p>
        </p:txBody>
      </p:sp>
      <p:graphicFrame>
        <p:nvGraphicFramePr>
          <p:cNvPr id="11" name="Content Placeholder 2">
            <a:extLst>
              <a:ext uri="{FF2B5EF4-FFF2-40B4-BE49-F238E27FC236}">
                <a16:creationId xmlns:a16="http://schemas.microsoft.com/office/drawing/2014/main" id="{31F8024A-744C-4E6A-DAE1-E7A0DEAF784D}"/>
              </a:ext>
            </a:extLst>
          </p:cNvPr>
          <p:cNvGraphicFramePr>
            <a:graphicFrameLocks noGrp="1"/>
          </p:cNvGraphicFramePr>
          <p:nvPr>
            <p:ph idx="1"/>
            <p:extLst>
              <p:ext uri="{D42A27DB-BD31-4B8C-83A1-F6EECF244321}">
                <p14:modId xmlns:p14="http://schemas.microsoft.com/office/powerpoint/2010/main" val="874691547"/>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BE54B-78D7-6771-8A37-8A385301D0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742D4C8-1B73-7579-A3BE-241467F64322}"/>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89CAC804-79AF-DA5A-0EB9-5625E18EB8EC}"/>
              </a:ext>
            </a:extLst>
          </p:cNvPr>
          <p:cNvGraphicFramePr>
            <a:graphicFrameLocks noGrp="1"/>
          </p:cNvGraphicFramePr>
          <p:nvPr>
            <p:ph idx="1"/>
            <p:extLst>
              <p:ext uri="{D42A27DB-BD31-4B8C-83A1-F6EECF244321}">
                <p14:modId xmlns:p14="http://schemas.microsoft.com/office/powerpoint/2010/main" val="81878000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4193955014"/>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lang="en-US" dirty="0"/>
              <a:t>Why AI Assisted Software Development</a:t>
            </a:r>
          </a:p>
        </p:txBody>
      </p:sp>
      <p:sp>
        <p:nvSpPr>
          <p:cNvPr id="3" name="Content Placeholder 2"/>
          <p:cNvSpPr>
            <a:spLocks noGrp="1"/>
          </p:cNvSpPr>
          <p:nvPr>
            <p:ph idx="1"/>
          </p:nvPr>
        </p:nvSpPr>
        <p:spPr/>
        <p:txBody>
          <a:bodyPr/>
          <a:lstStyle/>
          <a:p>
            <a:pPr lvl="0"/>
            <a:r>
              <a:rPr dirty="0"/>
              <a:t>Is revolutionizing software development</a:t>
            </a:r>
          </a:p>
          <a:p>
            <a:pPr lvl="0"/>
            <a:r>
              <a:rPr dirty="0"/>
              <a:t>If used effectively, it will give you superpowers</a:t>
            </a:r>
          </a:p>
          <a:p>
            <a:pPr lvl="1"/>
            <a:r>
              <a:rPr dirty="0"/>
              <a:t>The courage to</a:t>
            </a:r>
          </a:p>
          <a:p>
            <a:pPr lvl="2"/>
            <a:r>
              <a:rPr dirty="0"/>
              <a:t>Take on codebases that few would touch</a:t>
            </a:r>
          </a:p>
          <a:p>
            <a:pPr lvl="2"/>
            <a:r>
              <a:rPr dirty="0"/>
              <a:t>Use technologies you should know but don’t</a:t>
            </a:r>
          </a:p>
          <a:p>
            <a:pPr lvl="2"/>
            <a:r>
              <a:rPr dirty="0"/>
              <a:t>Write more high-quality code than you have ever written before</a:t>
            </a:r>
          </a:p>
          <a:p>
            <a:pPr lvl="2"/>
            <a:r>
              <a:rPr dirty="0"/>
              <a:t>Take on the nice to haves</a:t>
            </a:r>
            <a:endParaRPr lang="en-US" dirty="0"/>
          </a:p>
          <a:p>
            <a:r>
              <a:rPr lang="en-US" dirty="0"/>
              <a:t>Prompt First and AI First Software Development</a:t>
            </a:r>
            <a:endParaRPr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844E18-4497-4039-1BF6-C51FCE79393A}"/>
              </a:ext>
            </a:extLst>
          </p:cNvPr>
          <p:cNvSpPr>
            <a:spLocks noGrp="1"/>
          </p:cNvSpPr>
          <p:nvPr>
            <p:ph type="title"/>
          </p:nvPr>
        </p:nvSpPr>
        <p:spPr/>
        <p:txBody>
          <a:bodyPr>
            <a:noAutofit/>
          </a:bodyPr>
          <a:lstStyle/>
          <a:p>
            <a:r>
              <a:rPr lang="en-US" sz="2800" dirty="0"/>
              <a:t>Prompt‑First Software Development</a:t>
            </a:r>
          </a:p>
        </p:txBody>
      </p:sp>
      <p:sp>
        <p:nvSpPr>
          <p:cNvPr id="3" name="Content Placeholder 2">
            <a:extLst>
              <a:ext uri="{FF2B5EF4-FFF2-40B4-BE49-F238E27FC236}">
                <a16:creationId xmlns:a16="http://schemas.microsoft.com/office/drawing/2014/main" id="{5EAA5206-8908-DB9E-DE43-3276CBF64FCC}"/>
              </a:ext>
            </a:extLst>
          </p:cNvPr>
          <p:cNvSpPr>
            <a:spLocks noGrp="1"/>
          </p:cNvSpPr>
          <p:nvPr>
            <p:ph idx="1"/>
          </p:nvPr>
        </p:nvSpPr>
        <p:spPr/>
        <p:txBody>
          <a:bodyPr>
            <a:normAutofit fontScale="47500" lnSpcReduction="20000"/>
          </a:bodyPr>
          <a:lstStyle/>
          <a:p>
            <a:pPr marL="0" indent="0">
              <a:buNone/>
            </a:pPr>
            <a:r>
              <a:rPr lang="en-US" b="1" i="1" dirty="0"/>
              <a:t>Design the intent first — let AI generate the implementation</a:t>
            </a:r>
          </a:p>
          <a:p>
            <a:pPr marL="0" indent="0">
              <a:buNone/>
            </a:pPr>
            <a:endParaRPr lang="en-US" b="1" dirty="0"/>
          </a:p>
          <a:p>
            <a:r>
              <a:rPr lang="en-US" b="1" dirty="0"/>
              <a:t>Why Prompt‑First</a:t>
            </a:r>
          </a:p>
          <a:p>
            <a:pPr lvl="1"/>
            <a:r>
              <a:rPr lang="en-US" b="1" dirty="0"/>
              <a:t>Requirements, behaviors, and constraints expressed in structured natural language</a:t>
            </a:r>
          </a:p>
          <a:p>
            <a:pPr lvl="1"/>
            <a:r>
              <a:rPr lang="en-US" b="1" dirty="0"/>
              <a:t>Prompts become the new “source of truth” for architecture and code generation</a:t>
            </a:r>
          </a:p>
          <a:p>
            <a:pPr lvl="1"/>
            <a:r>
              <a:rPr lang="en-US" b="1" dirty="0"/>
              <a:t>Teams shift from writing functions to defining outcomes, invariants, and interfaces</a:t>
            </a:r>
          </a:p>
          <a:p>
            <a:r>
              <a:rPr lang="en-US" b="1" dirty="0"/>
              <a:t>Core Practices</a:t>
            </a:r>
          </a:p>
          <a:p>
            <a:pPr lvl="1"/>
            <a:r>
              <a:rPr lang="en-US" b="1" dirty="0"/>
              <a:t>Structured Prompts: Use templates for features, APIs, data models, tests, and refactors</a:t>
            </a:r>
          </a:p>
          <a:p>
            <a:pPr lvl="1"/>
            <a:r>
              <a:rPr lang="en-US" b="1" dirty="0"/>
              <a:t>Instruction Files: Persistent, versioned prompt artifacts guiding AI code generation</a:t>
            </a:r>
          </a:p>
          <a:p>
            <a:pPr lvl="1"/>
            <a:r>
              <a:rPr lang="en-US" b="1" dirty="0"/>
              <a:t>Deterministic Boundaries: Clear module contracts so AI‑generated code stays predictable</a:t>
            </a:r>
          </a:p>
          <a:p>
            <a:pPr lvl="1"/>
            <a:r>
              <a:rPr lang="en-US" b="1" dirty="0"/>
              <a:t>Validation Loops: Automated tests + human review ensure correctness and safety</a:t>
            </a:r>
          </a:p>
          <a:p>
            <a:pPr lvl="1"/>
            <a:r>
              <a:rPr lang="en-US" b="1" dirty="0"/>
              <a:t>Prompt Versioning: Track evolution of intent just like code changes</a:t>
            </a:r>
          </a:p>
          <a:p>
            <a:r>
              <a:rPr lang="en-US" b="1" dirty="0"/>
              <a:t>Benefits</a:t>
            </a:r>
          </a:p>
          <a:p>
            <a:pPr lvl="1"/>
            <a:r>
              <a:rPr lang="en-US" b="1" dirty="0"/>
              <a:t>Faster iteration from idea → working software</a:t>
            </a:r>
          </a:p>
          <a:p>
            <a:pPr lvl="1"/>
            <a:r>
              <a:rPr lang="en-US" b="1" dirty="0"/>
              <a:t>Higher consistency across generated components</a:t>
            </a:r>
          </a:p>
          <a:p>
            <a:pPr lvl="1"/>
            <a:r>
              <a:rPr lang="en-US" b="1" dirty="0"/>
              <a:t>Reduced cognitive load on developers</a:t>
            </a:r>
          </a:p>
          <a:p>
            <a:pPr lvl="1"/>
            <a:r>
              <a:rPr lang="en-US" b="1" dirty="0"/>
              <a:t>Better alignment between business intent and implementation</a:t>
            </a:r>
          </a:p>
        </p:txBody>
      </p:sp>
    </p:spTree>
    <p:extLst>
      <p:ext uri="{BB962C8B-B14F-4D97-AF65-F5344CB8AC3E}">
        <p14:creationId xmlns:p14="http://schemas.microsoft.com/office/powerpoint/2010/main" val="2043089147"/>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9F45BC-7B40-2F68-9C8D-21CAE7E58CAE}"/>
              </a:ext>
            </a:extLst>
          </p:cNvPr>
          <p:cNvSpPr>
            <a:spLocks noGrp="1"/>
          </p:cNvSpPr>
          <p:nvPr>
            <p:ph type="title"/>
          </p:nvPr>
        </p:nvSpPr>
        <p:spPr/>
        <p:txBody>
          <a:bodyPr>
            <a:normAutofit fontScale="90000"/>
          </a:bodyPr>
          <a:lstStyle/>
          <a:p>
            <a:r>
              <a:rPr lang="en-US" dirty="0"/>
              <a:t>AI First </a:t>
            </a:r>
            <a:r>
              <a:rPr lang="en-US" sz="3600" dirty="0"/>
              <a:t>Software Development</a:t>
            </a:r>
            <a:endParaRPr lang="en-US" dirty="0"/>
          </a:p>
        </p:txBody>
      </p:sp>
      <p:sp>
        <p:nvSpPr>
          <p:cNvPr id="3" name="Content Placeholder 2">
            <a:extLst>
              <a:ext uri="{FF2B5EF4-FFF2-40B4-BE49-F238E27FC236}">
                <a16:creationId xmlns:a16="http://schemas.microsoft.com/office/drawing/2014/main" id="{762E5A45-BD24-E24D-31FB-D68C26F1AC5E}"/>
              </a:ext>
            </a:extLst>
          </p:cNvPr>
          <p:cNvSpPr>
            <a:spLocks noGrp="1"/>
          </p:cNvSpPr>
          <p:nvPr>
            <p:ph idx="1"/>
          </p:nvPr>
        </p:nvSpPr>
        <p:spPr/>
        <p:txBody>
          <a:bodyPr>
            <a:normAutofit fontScale="47500" lnSpcReduction="20000"/>
          </a:bodyPr>
          <a:lstStyle/>
          <a:p>
            <a:pPr marL="0" indent="0">
              <a:buNone/>
            </a:pPr>
            <a:r>
              <a:rPr lang="en-US" i="1" dirty="0"/>
              <a:t>Building software where AI is a core capability, not an add‑on</a:t>
            </a:r>
          </a:p>
          <a:p>
            <a:endParaRPr lang="en-US" b="1" i="1" dirty="0"/>
          </a:p>
          <a:p>
            <a:r>
              <a:rPr lang="en-US" b="1" i="1" dirty="0"/>
              <a:t>Why AI‑First</a:t>
            </a:r>
            <a:endParaRPr lang="en-US" i="1" dirty="0"/>
          </a:p>
          <a:p>
            <a:pPr lvl="1"/>
            <a:r>
              <a:rPr lang="en-US" i="1" dirty="0"/>
              <a:t>Software requirements increasingly expressed in natural language</a:t>
            </a:r>
          </a:p>
          <a:p>
            <a:pPr lvl="1"/>
            <a:r>
              <a:rPr lang="en-US" i="1" dirty="0"/>
              <a:t>AI copilots accelerate architecture, coding, testing, and documentation</a:t>
            </a:r>
          </a:p>
          <a:p>
            <a:pPr lvl="1"/>
            <a:r>
              <a:rPr lang="en-US" i="1" dirty="0"/>
              <a:t>Teams shift from “writing code” to “designing intent + validating outputs”</a:t>
            </a:r>
          </a:p>
          <a:p>
            <a:r>
              <a:rPr lang="en-US" b="1" i="1" dirty="0"/>
              <a:t>Core Principles</a:t>
            </a:r>
            <a:endParaRPr lang="en-US" i="1" dirty="0"/>
          </a:p>
          <a:p>
            <a:pPr lvl="1"/>
            <a:r>
              <a:rPr lang="en-US" b="1" i="1" dirty="0"/>
              <a:t>Prompt‑First Design:</a:t>
            </a:r>
            <a:r>
              <a:rPr lang="en-US" i="1" dirty="0"/>
              <a:t> Requirements, architecture, and workflows expressed as structured prompts</a:t>
            </a:r>
          </a:p>
          <a:p>
            <a:pPr lvl="1"/>
            <a:r>
              <a:rPr lang="en-US" b="1" i="1" dirty="0"/>
              <a:t>AI‑Native Architecture:</a:t>
            </a:r>
            <a:r>
              <a:rPr lang="en-US" i="1" dirty="0"/>
              <a:t> Modular services, clear boundaries, deterministic interfaces for AI‑generated components</a:t>
            </a:r>
          </a:p>
          <a:p>
            <a:pPr lvl="1"/>
            <a:r>
              <a:rPr lang="en-US" b="1" i="1" dirty="0"/>
              <a:t>Human‑in‑the‑Loop:</a:t>
            </a:r>
            <a:r>
              <a:rPr lang="en-US" i="1" dirty="0"/>
              <a:t> Review, validation, and traceability baked into every stage</a:t>
            </a:r>
          </a:p>
          <a:p>
            <a:pPr lvl="1"/>
            <a:r>
              <a:rPr lang="en-US" b="1" i="1" dirty="0"/>
              <a:t>Continuous Verification:</a:t>
            </a:r>
            <a:r>
              <a:rPr lang="en-US" i="1" dirty="0"/>
              <a:t> Automated tests, static analysis, and guardrails to ensure safe outputs</a:t>
            </a:r>
          </a:p>
          <a:p>
            <a:pPr lvl="1"/>
            <a:r>
              <a:rPr lang="en-US" b="1" i="1" dirty="0"/>
              <a:t>Lifecycle Governance:</a:t>
            </a:r>
            <a:r>
              <a:rPr lang="en-US" i="1" dirty="0"/>
              <a:t> Versioning, provenance, and risk‑based controls for AI‑generated artifacts</a:t>
            </a:r>
          </a:p>
          <a:p>
            <a:r>
              <a:rPr lang="en-US" b="1" i="1" dirty="0"/>
              <a:t>Outcomes</a:t>
            </a:r>
            <a:endParaRPr lang="en-US" i="1" dirty="0"/>
          </a:p>
          <a:p>
            <a:pPr lvl="1"/>
            <a:r>
              <a:rPr lang="en-US" i="1" dirty="0"/>
              <a:t>Faster iteration cycles</a:t>
            </a:r>
          </a:p>
          <a:p>
            <a:pPr lvl="1"/>
            <a:r>
              <a:rPr lang="en-US" i="1" dirty="0"/>
              <a:t>Higher coverage of documentation and tests</a:t>
            </a:r>
          </a:p>
          <a:p>
            <a:pPr lvl="1"/>
            <a:r>
              <a:rPr lang="en-US" i="1" dirty="0"/>
              <a:t>Reduced cognitive load on developers</a:t>
            </a:r>
          </a:p>
          <a:p>
            <a:pPr lvl="1"/>
            <a:r>
              <a:rPr lang="en-US" i="1" dirty="0"/>
              <a:t>More resilient, adaptable systems</a:t>
            </a:r>
          </a:p>
        </p:txBody>
      </p:sp>
    </p:spTree>
    <p:extLst>
      <p:ext uri="{BB962C8B-B14F-4D97-AF65-F5344CB8AC3E}">
        <p14:creationId xmlns:p14="http://schemas.microsoft.com/office/powerpoint/2010/main" val="4144982647"/>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833159-20FC-9929-EEC3-46305448E3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3B297F-201B-199D-63FC-AB58AB837064}"/>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29FE9192-5C4D-B6E2-80F9-76CF4A85671B}"/>
              </a:ext>
            </a:extLst>
          </p:cNvPr>
          <p:cNvGraphicFramePr>
            <a:graphicFrameLocks noGrp="1"/>
          </p:cNvGraphicFramePr>
          <p:nvPr>
            <p:ph idx="1"/>
            <p:extLst>
              <p:ext uri="{D42A27DB-BD31-4B8C-83A1-F6EECF244321}">
                <p14:modId xmlns:p14="http://schemas.microsoft.com/office/powerpoint/2010/main" val="1173101090"/>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227382140"/>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General Introduction to LLMs</a:t>
            </a:r>
          </a:p>
        </p:txBody>
      </p:sp>
      <p:sp>
        <p:nvSpPr>
          <p:cNvPr id="3" name="Content Placeholder 2"/>
          <p:cNvSpPr>
            <a:spLocks noGrp="1"/>
          </p:cNvSpPr>
          <p:nvPr>
            <p:ph idx="1"/>
          </p:nvPr>
        </p:nvSpPr>
        <p:spPr/>
        <p:txBody>
          <a:bodyPr/>
          <a:lstStyle/>
          <a:p>
            <a:pPr lvl="0"/>
            <a:r>
              <a:t>Large Language Models</a:t>
            </a:r>
          </a:p>
          <a:p>
            <a:pPr lvl="0"/>
            <a:r>
              <a:t>Conceptual overview of how LLMs work</a:t>
            </a:r>
          </a:p>
          <a:p>
            <a:pPr lvl="0"/>
            <a:r>
              <a:t>Capabilities and limitations of LLMs in coding</a:t>
            </a:r>
          </a:p>
          <a:p>
            <a:pPr lvl="0"/>
            <a:r>
              <a:t>Software engineering with AI as a tool vs. “Vibe Coding”</a:t>
            </a:r>
          </a:p>
          <a:p>
            <a:pPr lvl="0"/>
            <a:r>
              <a:t>Do’s and Don’ts</a:t>
            </a:r>
          </a:p>
        </p:txBody>
      </p:sp>
    </p:spTree>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Conceptual Overview of LLMs</a:t>
            </a:r>
          </a:p>
        </p:txBody>
      </p:sp>
      <p:sp>
        <p:nvSpPr>
          <p:cNvPr id="3" name="Content Placeholder 2"/>
          <p:cNvSpPr>
            <a:spLocks noGrp="1"/>
          </p:cNvSpPr>
          <p:nvPr>
            <p:ph idx="1"/>
          </p:nvPr>
        </p:nvSpPr>
        <p:spPr/>
        <p:txBody>
          <a:bodyPr>
            <a:normAutofit fontScale="92500"/>
          </a:bodyPr>
          <a:lstStyle/>
          <a:p>
            <a:pPr lvl="0"/>
            <a:r>
              <a:t>LLMs are trained on massive datasets of code and natural language</a:t>
            </a:r>
          </a:p>
          <a:p>
            <a:pPr lvl="0"/>
            <a:r>
              <a:t>They use transformer architecture to understand patterns</a:t>
            </a:r>
          </a:p>
          <a:p>
            <a:pPr lvl="0"/>
            <a:r>
              <a:t>Token-based processing: code is broken into tokens</a:t>
            </a:r>
          </a:p>
          <a:p>
            <a:pPr lvl="0"/>
            <a:r>
              <a:t>Attention mechanisms help models focus on relevant parts of context</a:t>
            </a:r>
          </a:p>
          <a:p>
            <a:pPr lvl="0"/>
            <a:r>
              <a:t>Generate probabilistic next-token predictions based on training patterns</a:t>
            </a:r>
          </a:p>
          <a:p>
            <a:pPr lvl="0"/>
            <a:r>
              <a:t>No true “understanding” - pattern matching at massive scale</a:t>
            </a:r>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Capabilities</a:t>
            </a:r>
          </a:p>
        </p:txBody>
      </p:sp>
      <p:sp>
        <p:nvSpPr>
          <p:cNvPr id="3" name="Content Placeholder 2"/>
          <p:cNvSpPr>
            <a:spLocks noGrp="1"/>
          </p:cNvSpPr>
          <p:nvPr>
            <p:ph idx="1"/>
          </p:nvPr>
        </p:nvSpPr>
        <p:spPr/>
        <p:txBody>
          <a:bodyPr/>
          <a:lstStyle/>
          <a:p>
            <a:pPr lvl="0"/>
            <a:r>
              <a:t>Code completion and generation from natural language</a:t>
            </a:r>
          </a:p>
          <a:p>
            <a:pPr lvl="0"/>
            <a:r>
              <a:t>Refactoring and code optimization suggestions</a:t>
            </a:r>
          </a:p>
          <a:p>
            <a:pPr lvl="0"/>
            <a:r>
              <a:t>Bug detection and fixing recommendations</a:t>
            </a:r>
          </a:p>
          <a:p>
            <a:pPr lvl="0"/>
            <a:r>
              <a:t>Documentation generation</a:t>
            </a:r>
          </a:p>
          <a:p>
            <a:pPr lvl="0"/>
            <a:r>
              <a:t>Test case creation</a:t>
            </a:r>
          </a:p>
          <a:p>
            <a:pPr lvl="0"/>
            <a:r>
              <a:t>Code explanation and commenting</a:t>
            </a:r>
          </a:p>
          <a:p>
            <a:pPr lvl="0"/>
            <a:r>
              <a:t>Multi-language support and translation between languages</a:t>
            </a:r>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Limitations</a:t>
            </a:r>
          </a:p>
        </p:txBody>
      </p:sp>
      <p:sp>
        <p:nvSpPr>
          <p:cNvPr id="3" name="Content Placeholder 2"/>
          <p:cNvSpPr>
            <a:spLocks noGrp="1"/>
          </p:cNvSpPr>
          <p:nvPr>
            <p:ph idx="1"/>
          </p:nvPr>
        </p:nvSpPr>
        <p:spPr/>
        <p:txBody>
          <a:bodyPr>
            <a:normAutofit fontScale="92500"/>
          </a:bodyPr>
          <a:lstStyle/>
          <a:p>
            <a:pPr lvl="0"/>
            <a:r>
              <a:t>No real-time knowledge updates (training cutoff dates)</a:t>
            </a:r>
          </a:p>
          <a:p>
            <a:pPr lvl="0"/>
            <a:r>
              <a:t>Can generate syntactically correct but logically flawed code</a:t>
            </a:r>
          </a:p>
          <a:p>
            <a:pPr lvl="0"/>
            <a:r>
              <a:t>Hallucination: confident-sounding but incorrect suggestions</a:t>
            </a:r>
          </a:p>
          <a:p>
            <a:pPr lvl="0"/>
            <a:r>
              <a:t>Context window limitations (finite memory)</a:t>
            </a:r>
          </a:p>
          <a:p>
            <a:pPr lvl="0"/>
            <a:r>
              <a:t>Does not “understand” business logic or domain-specific requirements</a:t>
            </a:r>
          </a:p>
          <a:p>
            <a:pPr lvl="0"/>
            <a:r>
              <a:t>Security vulnerabilities if not carefully reviewed</a:t>
            </a:r>
          </a:p>
          <a:p>
            <a:pPr lvl="0"/>
            <a:r>
              <a:t>Bias from training data</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dirty="0"/>
              <a:t>Software Engineering vs “Vibe Coding”</a:t>
            </a:r>
          </a:p>
        </p:txBody>
      </p:sp>
      <p:sp>
        <p:nvSpPr>
          <p:cNvPr id="3" name="Content Placeholder 2"/>
          <p:cNvSpPr>
            <a:spLocks noGrp="1"/>
          </p:cNvSpPr>
          <p:nvPr>
            <p:ph idx="1"/>
          </p:nvPr>
        </p:nvSpPr>
        <p:spPr/>
        <p:txBody>
          <a:bodyPr/>
          <a:lstStyle/>
          <a:p>
            <a:pPr lvl="0"/>
            <a:r>
              <a:t>Engineering approach: systematic, tested, documented, maintainable</a:t>
            </a:r>
          </a:p>
          <a:p>
            <a:pPr lvl="0"/>
            <a:r>
              <a:t>Vibe coding: quick and dirty, “it works” mentality, technical debt accumulation</a:t>
            </a:r>
          </a:p>
          <a:p>
            <a:pPr lvl="0"/>
            <a:r>
              <a:t>AI should enhance engineering practices, not replace them</a:t>
            </a:r>
          </a:p>
          <a:p>
            <a:pPr lvl="0"/>
            <a:r>
              <a:t>Proper testing, code review, and architecture still essential</a:t>
            </a:r>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Do’s</a:t>
            </a:r>
          </a:p>
        </p:txBody>
      </p:sp>
      <p:sp>
        <p:nvSpPr>
          <p:cNvPr id="3" name="Content Placeholder 2"/>
          <p:cNvSpPr>
            <a:spLocks noGrp="1"/>
          </p:cNvSpPr>
          <p:nvPr>
            <p:ph idx="1"/>
          </p:nvPr>
        </p:nvSpPr>
        <p:spPr/>
        <p:txBody>
          <a:bodyPr/>
          <a:lstStyle/>
          <a:p>
            <a:pPr lvl="0"/>
            <a:r>
              <a:rPr dirty="0"/>
              <a:t>Always review and test AI-generated code</a:t>
            </a:r>
          </a:p>
          <a:p>
            <a:pPr lvl="0"/>
            <a:r>
              <a:rPr dirty="0"/>
              <a:t>Provide clear, specific prompts with context</a:t>
            </a:r>
          </a:p>
          <a:p>
            <a:pPr lvl="0"/>
            <a:r>
              <a:rPr dirty="0"/>
              <a:t>Use AI to explore different implementation approaches</a:t>
            </a:r>
          </a:p>
          <a:p>
            <a:pPr lvl="0"/>
            <a:r>
              <a:rPr dirty="0"/>
              <a:t>Leverage AI for documentation and test generation</a:t>
            </a:r>
          </a:p>
        </p:txBody>
      </p:sp>
    </p:spTree>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Don’ts</a:t>
            </a:r>
          </a:p>
        </p:txBody>
      </p:sp>
      <p:sp>
        <p:nvSpPr>
          <p:cNvPr id="3" name="Content Placeholder 2"/>
          <p:cNvSpPr>
            <a:spLocks noGrp="1"/>
          </p:cNvSpPr>
          <p:nvPr>
            <p:ph idx="1"/>
          </p:nvPr>
        </p:nvSpPr>
        <p:spPr/>
        <p:txBody>
          <a:bodyPr/>
          <a:lstStyle/>
          <a:p>
            <a:pPr lvl="0"/>
            <a:r>
              <a:rPr dirty="0"/>
              <a:t>Blindly accept AI suggestions without review</a:t>
            </a:r>
          </a:p>
          <a:p>
            <a:pPr lvl="0"/>
            <a:r>
              <a:rPr dirty="0"/>
              <a:t>Skip testing because “AI wrote it”</a:t>
            </a:r>
          </a:p>
          <a:p>
            <a:pPr lvl="0"/>
            <a:r>
              <a:rPr dirty="0"/>
              <a:t>Use AI for critical security or safety-critical code without extensive validation</a:t>
            </a:r>
          </a:p>
          <a:p>
            <a:pPr lvl="0"/>
            <a:r>
              <a:rPr dirty="0"/>
              <a:t>Rely on AI for architectural decisions without human oversight</a:t>
            </a:r>
          </a:p>
          <a:p>
            <a:pPr lvl="0"/>
            <a:r>
              <a:rPr dirty="0"/>
              <a:t>Generate code without understanding the underlying logic</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6E2C8A-6173-832F-314C-4709764107D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6B2BD3-F018-9586-2E9F-4486F8173FE9}"/>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9D65835F-3B86-8C06-6615-615FB80AE366}"/>
              </a:ext>
            </a:extLst>
          </p:cNvPr>
          <p:cNvGraphicFramePr>
            <a:graphicFrameLocks noGrp="1"/>
          </p:cNvGraphicFramePr>
          <p:nvPr>
            <p:ph idx="1"/>
            <p:extLst>
              <p:ext uri="{D42A27DB-BD31-4B8C-83A1-F6EECF244321}">
                <p14:modId xmlns:p14="http://schemas.microsoft.com/office/powerpoint/2010/main" val="378096028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439742475"/>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pPr marL="0" lvl="0" indent="0">
              <a:buNone/>
            </a:pPr>
            <a:r>
              <a:rPr sz="2400" dirty="0"/>
              <a:t>LLM Architecture for Code Generation</a:t>
            </a:r>
          </a:p>
        </p:txBody>
      </p:sp>
      <p:pic>
        <p:nvPicPr>
          <p:cNvPr id="5" name="Picture 4">
            <a:hlinkClick r:id="rId3" action="ppaction://hlinkfile"/>
            <a:extLst>
              <a:ext uri="{FF2B5EF4-FFF2-40B4-BE49-F238E27FC236}">
                <a16:creationId xmlns:a16="http://schemas.microsoft.com/office/drawing/2014/main" id="{22D5CDB8-C60F-DE0D-AAD3-1DB406914667}"/>
              </a:ext>
            </a:extLst>
          </p:cNvPr>
          <p:cNvPicPr>
            <a:picLocks noChangeAspect="1"/>
          </p:cNvPicPr>
          <p:nvPr/>
        </p:nvPicPr>
        <p:blipFill>
          <a:blip r:embed="rId4"/>
          <a:stretch>
            <a:fillRect/>
          </a:stretch>
        </p:blipFill>
        <p:spPr>
          <a:xfrm>
            <a:off x="3305902" y="743922"/>
            <a:ext cx="2107676" cy="4125733"/>
          </a:xfrm>
          <a:prstGeom prst="rect">
            <a:avLst/>
          </a:prstGeom>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8C21CD-D08C-155D-E5E0-034AA9DB640E}"/>
              </a:ext>
            </a:extLst>
          </p:cNvPr>
          <p:cNvSpPr>
            <a:spLocks noGrp="1"/>
          </p:cNvSpPr>
          <p:nvPr>
            <p:ph type="title"/>
          </p:nvPr>
        </p:nvSpPr>
        <p:spPr/>
        <p:txBody>
          <a:bodyPr>
            <a:normAutofit fontScale="90000"/>
          </a:bodyPr>
          <a:lstStyle/>
          <a:p>
            <a:r>
              <a:rPr lang="en-US" dirty="0"/>
              <a:t>Model Selection &amp; Comparison</a:t>
            </a:r>
          </a:p>
        </p:txBody>
      </p:sp>
      <p:graphicFrame>
        <p:nvGraphicFramePr>
          <p:cNvPr id="7" name="Content Placeholder 6">
            <a:extLst>
              <a:ext uri="{FF2B5EF4-FFF2-40B4-BE49-F238E27FC236}">
                <a16:creationId xmlns:a16="http://schemas.microsoft.com/office/drawing/2014/main" id="{FA4F80B7-D29D-74AE-0C4A-C34C91118935}"/>
              </a:ext>
            </a:extLst>
          </p:cNvPr>
          <p:cNvGraphicFramePr>
            <a:graphicFrameLocks noGrp="1"/>
          </p:cNvGraphicFramePr>
          <p:nvPr>
            <p:ph idx="1"/>
            <p:extLst>
              <p:ext uri="{D42A27DB-BD31-4B8C-83A1-F6EECF244321}">
                <p14:modId xmlns:p14="http://schemas.microsoft.com/office/powerpoint/2010/main" val="2500880573"/>
              </p:ext>
            </p:extLst>
          </p:nvPr>
        </p:nvGraphicFramePr>
        <p:xfrm>
          <a:off x="425395" y="976104"/>
          <a:ext cx="5449509" cy="3774286"/>
        </p:xfrm>
        <a:graphic>
          <a:graphicData uri="http://schemas.openxmlformats.org/drawingml/2006/table">
            <a:tbl>
              <a:tblPr>
                <a:tableStyleId>{327F97BB-C833-4FB7-BDE5-3F7075034690}</a:tableStyleId>
              </a:tblPr>
              <a:tblGrid>
                <a:gridCol w="2327815">
                  <a:extLst>
                    <a:ext uri="{9D8B030D-6E8A-4147-A177-3AD203B41FA5}">
                      <a16:colId xmlns:a16="http://schemas.microsoft.com/office/drawing/2014/main" val="3250386483"/>
                    </a:ext>
                  </a:extLst>
                </a:gridCol>
                <a:gridCol w="740056">
                  <a:extLst>
                    <a:ext uri="{9D8B030D-6E8A-4147-A177-3AD203B41FA5}">
                      <a16:colId xmlns:a16="http://schemas.microsoft.com/office/drawing/2014/main" val="2989335004"/>
                    </a:ext>
                  </a:extLst>
                </a:gridCol>
                <a:gridCol w="659323">
                  <a:extLst>
                    <a:ext uri="{9D8B030D-6E8A-4147-A177-3AD203B41FA5}">
                      <a16:colId xmlns:a16="http://schemas.microsoft.com/office/drawing/2014/main" val="3483188030"/>
                    </a:ext>
                  </a:extLst>
                </a:gridCol>
                <a:gridCol w="928436">
                  <a:extLst>
                    <a:ext uri="{9D8B030D-6E8A-4147-A177-3AD203B41FA5}">
                      <a16:colId xmlns:a16="http://schemas.microsoft.com/office/drawing/2014/main" val="677894953"/>
                    </a:ext>
                  </a:extLst>
                </a:gridCol>
                <a:gridCol w="793879">
                  <a:extLst>
                    <a:ext uri="{9D8B030D-6E8A-4147-A177-3AD203B41FA5}">
                      <a16:colId xmlns:a16="http://schemas.microsoft.com/office/drawing/2014/main" val="3977995991"/>
                    </a:ext>
                  </a:extLst>
                </a:gridCol>
              </a:tblGrid>
              <a:tr h="471784">
                <a:tc>
                  <a:txBody>
                    <a:bodyPr/>
                    <a:lstStyle/>
                    <a:p>
                      <a:pPr algn="l" fontAlgn="b">
                        <a:buNone/>
                      </a:pPr>
                      <a:r>
                        <a:rPr lang="en-US" sz="900" u="none" strike="noStrike" baseline="0">
                          <a:effectLst/>
                        </a:rPr>
                        <a:t>Name</a:t>
                      </a:r>
                      <a:endParaRPr lang="en-US" sz="900" b="1" i="0" u="none" strike="noStrike" baseline="0">
                        <a:solidFill>
                          <a:srgbClr val="FFFFFF"/>
                        </a:solidFill>
                        <a:effectLst/>
                        <a:latin typeface="Aptos Narrow" panose="020B0004020202020204" pitchFamily="34" charset="0"/>
                      </a:endParaRPr>
                    </a:p>
                  </a:txBody>
                  <a:tcPr marL="4690" marR="4690" marT="4690" marB="0" anchor="ctr">
                    <a:solidFill>
                      <a:schemeClr val="accent1"/>
                    </a:solidFill>
                  </a:tcPr>
                </a:tc>
                <a:tc>
                  <a:txBody>
                    <a:bodyPr/>
                    <a:lstStyle/>
                    <a:p>
                      <a:pPr algn="l" fontAlgn="b">
                        <a:buNone/>
                      </a:pPr>
                      <a:r>
                        <a:rPr lang="en-US" sz="900" u="none" strike="noStrike" baseline="0">
                          <a:effectLst/>
                        </a:rPr>
                        <a:t>Input Context Size</a:t>
                      </a:r>
                      <a:endParaRPr lang="en-US" sz="900" b="1" i="0" u="none" strike="noStrike" baseline="0">
                        <a:solidFill>
                          <a:srgbClr val="FFFFFF"/>
                        </a:solidFill>
                        <a:effectLst/>
                        <a:latin typeface="Aptos Narrow" panose="020B0004020202020204" pitchFamily="34" charset="0"/>
                      </a:endParaRPr>
                    </a:p>
                  </a:txBody>
                  <a:tcPr marL="4690" marR="4690" marT="4690" marB="0" anchor="ctr">
                    <a:solidFill>
                      <a:schemeClr val="accent1"/>
                    </a:solidFill>
                  </a:tcPr>
                </a:tc>
                <a:tc>
                  <a:txBody>
                    <a:bodyPr/>
                    <a:lstStyle/>
                    <a:p>
                      <a:pPr algn="l" fontAlgn="b">
                        <a:buNone/>
                      </a:pPr>
                      <a:r>
                        <a:rPr lang="en-US" sz="900" u="none" strike="noStrike" baseline="0">
                          <a:effectLst/>
                        </a:rPr>
                        <a:t>Output Context Size</a:t>
                      </a:r>
                      <a:endParaRPr lang="en-US" sz="900" b="1" i="0" u="none" strike="noStrike" baseline="0">
                        <a:solidFill>
                          <a:srgbClr val="FFFFFF"/>
                        </a:solidFill>
                        <a:effectLst/>
                        <a:latin typeface="Aptos Narrow" panose="020B0004020202020204" pitchFamily="34" charset="0"/>
                      </a:endParaRPr>
                    </a:p>
                  </a:txBody>
                  <a:tcPr marL="4690" marR="4690" marT="4690" marB="0" anchor="ctr">
                    <a:solidFill>
                      <a:schemeClr val="accent1"/>
                    </a:solidFill>
                  </a:tcPr>
                </a:tc>
                <a:tc>
                  <a:txBody>
                    <a:bodyPr/>
                    <a:lstStyle/>
                    <a:p>
                      <a:pPr algn="l" fontAlgn="b">
                        <a:buNone/>
                      </a:pPr>
                      <a:r>
                        <a:rPr lang="en-US" sz="900" u="none" strike="noStrike" baseline="0">
                          <a:effectLst/>
                        </a:rPr>
                        <a:t>Capabilities</a:t>
                      </a:r>
                      <a:endParaRPr lang="en-US" sz="900" b="1" i="0" u="none" strike="noStrike" baseline="0">
                        <a:solidFill>
                          <a:srgbClr val="FFFFFF"/>
                        </a:solidFill>
                        <a:effectLst/>
                        <a:latin typeface="Aptos Narrow" panose="020B0004020202020204" pitchFamily="34" charset="0"/>
                      </a:endParaRPr>
                    </a:p>
                  </a:txBody>
                  <a:tcPr marL="4690" marR="4690" marT="4690" marB="0" anchor="ctr">
                    <a:solidFill>
                      <a:schemeClr val="accent1"/>
                    </a:solidFill>
                  </a:tcPr>
                </a:tc>
                <a:tc>
                  <a:txBody>
                    <a:bodyPr/>
                    <a:lstStyle/>
                    <a:p>
                      <a:pPr algn="l" fontAlgn="b">
                        <a:buNone/>
                      </a:pPr>
                      <a:r>
                        <a:rPr lang="en-US" sz="900" u="none" strike="noStrike" baseline="0" dirty="0">
                          <a:effectLst/>
                        </a:rPr>
                        <a:t>Multiplier</a:t>
                      </a:r>
                      <a:endParaRPr lang="en-US" sz="900" b="1" i="0" u="none" strike="noStrike" baseline="0" dirty="0">
                        <a:solidFill>
                          <a:srgbClr val="FFFFFF"/>
                        </a:solidFill>
                        <a:effectLst/>
                        <a:latin typeface="Aptos Narrow" panose="020B0004020202020204" pitchFamily="34" charset="0"/>
                      </a:endParaRPr>
                    </a:p>
                  </a:txBody>
                  <a:tcPr marL="4690" marR="4690" marT="4690" marB="0" anchor="ctr">
                    <a:solidFill>
                      <a:schemeClr val="accent1"/>
                    </a:solidFill>
                  </a:tcPr>
                </a:tc>
                <a:extLst>
                  <a:ext uri="{0D108BD9-81ED-4DB2-BD59-A6C34878D82A}">
                    <a16:rowId xmlns:a16="http://schemas.microsoft.com/office/drawing/2014/main" val="1126559668"/>
                  </a:ext>
                </a:extLst>
              </a:tr>
              <a:tr h="157262">
                <a:tc>
                  <a:txBody>
                    <a:bodyPr/>
                    <a:lstStyle/>
                    <a:p>
                      <a:pPr algn="l" fontAlgn="b">
                        <a:buNone/>
                      </a:pPr>
                      <a:r>
                        <a:rPr lang="en-US" sz="800" u="none" strike="noStrike">
                          <a:effectLst/>
                        </a:rPr>
                        <a:t>Claude Haiku 4.5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0.33x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57959761"/>
                  </a:ext>
                </a:extLst>
              </a:tr>
              <a:tr h="157262">
                <a:tc>
                  <a:txBody>
                    <a:bodyPr/>
                    <a:lstStyle/>
                    <a:p>
                      <a:pPr algn="l" fontAlgn="b">
                        <a:buNone/>
                      </a:pPr>
                      <a:r>
                        <a:rPr lang="en-US" sz="800" u="none" strike="noStrike">
                          <a:effectLst/>
                        </a:rPr>
                        <a:t>Claude Opus 4.1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4068015959"/>
                  </a:ext>
                </a:extLst>
              </a:tr>
              <a:tr h="157262">
                <a:tc>
                  <a:txBody>
                    <a:bodyPr/>
                    <a:lstStyle/>
                    <a:p>
                      <a:pPr algn="l" fontAlgn="b">
                        <a:buNone/>
                      </a:pPr>
                      <a:r>
                        <a:rPr lang="en-US" sz="800" u="none" strike="noStrike">
                          <a:effectLst/>
                        </a:rPr>
                        <a:t>Claude Opus 4.5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439270255"/>
                  </a:ext>
                </a:extLst>
              </a:tr>
              <a:tr h="157262">
                <a:tc>
                  <a:txBody>
                    <a:bodyPr/>
                    <a:lstStyle/>
                    <a:p>
                      <a:pPr algn="l" fontAlgn="b">
                        <a:buNone/>
                      </a:pPr>
                      <a:r>
                        <a:rPr lang="en-US" sz="800" u="none" strike="noStrike">
                          <a:effectLst/>
                        </a:rPr>
                        <a:t>Claude Sonnet 4</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745561923"/>
                  </a:ext>
                </a:extLst>
              </a:tr>
              <a:tr h="157262">
                <a:tc>
                  <a:txBody>
                    <a:bodyPr/>
                    <a:lstStyle/>
                    <a:p>
                      <a:pPr algn="l" fontAlgn="b">
                        <a:buNone/>
                      </a:pPr>
                      <a:r>
                        <a:rPr lang="en-US" sz="800" u="none" strike="noStrike">
                          <a:effectLst/>
                        </a:rPr>
                        <a:t>Claude Sonnet 4.5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3777861514"/>
                  </a:ext>
                </a:extLst>
              </a:tr>
              <a:tr h="157262">
                <a:tc>
                  <a:txBody>
                    <a:bodyPr/>
                    <a:lstStyle/>
                    <a:p>
                      <a:pPr algn="l" fontAlgn="b">
                        <a:buNone/>
                      </a:pPr>
                      <a:r>
                        <a:rPr lang="en-US" sz="800" u="none" strike="noStrike">
                          <a:effectLst/>
                        </a:rPr>
                        <a:t>Gemini 2.5 P Gemini 3 Flash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3103186698"/>
                  </a:ext>
                </a:extLst>
              </a:tr>
              <a:tr h="157262">
                <a:tc>
                  <a:txBody>
                    <a:bodyPr/>
                    <a:lstStyle/>
                    <a:p>
                      <a:pPr algn="l" fontAlgn="b">
                        <a:buNone/>
                      </a:pPr>
                      <a:r>
                        <a:rPr lang="en-US" sz="800" u="none" strike="noStrike">
                          <a:effectLst/>
                        </a:rPr>
                        <a:t>Gemini 3 Flash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0.33x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617462524"/>
                  </a:ext>
                </a:extLst>
              </a:tr>
              <a:tr h="157262">
                <a:tc>
                  <a:txBody>
                    <a:bodyPr/>
                    <a:lstStyle/>
                    <a:p>
                      <a:pPr algn="l" fontAlgn="b">
                        <a:buNone/>
                      </a:pPr>
                      <a:r>
                        <a:rPr lang="en-US" sz="800" u="none" strike="noStrike">
                          <a:effectLst/>
                        </a:rPr>
                        <a:t>Gemini 3 Pro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585847230"/>
                  </a:ext>
                </a:extLst>
              </a:tr>
              <a:tr h="157262">
                <a:tc>
                  <a:txBody>
                    <a:bodyPr/>
                    <a:lstStyle/>
                    <a:p>
                      <a:pPr algn="l" fontAlgn="b">
                        <a:buNone/>
                      </a:pPr>
                      <a:r>
                        <a:rPr lang="en-US" sz="800" u="none" strike="noStrike">
                          <a:effectLst/>
                        </a:rPr>
                        <a:t>GPT-4.1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111K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16K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500858576"/>
                  </a:ext>
                </a:extLst>
              </a:tr>
              <a:tr h="157262">
                <a:tc>
                  <a:txBody>
                    <a:bodyPr/>
                    <a:lstStyle/>
                    <a:p>
                      <a:pPr algn="l" fontAlgn="b">
                        <a:buNone/>
                      </a:pPr>
                      <a:r>
                        <a:rPr lang="en-US" sz="800" u="none" strike="noStrike">
                          <a:effectLst/>
                        </a:rPr>
                        <a:t>GPT-4o</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098744528"/>
                  </a:ext>
                </a:extLst>
              </a:tr>
              <a:tr h="157262">
                <a:tc>
                  <a:txBody>
                    <a:bodyPr/>
                    <a:lstStyle/>
                    <a:p>
                      <a:pPr algn="l" fontAlgn="b">
                        <a:buNone/>
                      </a:pPr>
                      <a:r>
                        <a:rPr lang="en-US" sz="800" u="none" strike="noStrike">
                          <a:effectLst/>
                        </a:rPr>
                        <a:t>GPT-5</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396768393"/>
                  </a:ext>
                </a:extLst>
              </a:tr>
              <a:tr h="157262">
                <a:tc>
                  <a:txBody>
                    <a:bodyPr/>
                    <a:lstStyle/>
                    <a:p>
                      <a:pPr algn="l" fontAlgn="b">
                        <a:buNone/>
                      </a:pPr>
                      <a:r>
                        <a:rPr lang="en-US" sz="800" u="none" strike="noStrike">
                          <a:effectLst/>
                        </a:rPr>
                        <a:t>GPT-5 mini</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4041217255"/>
                  </a:ext>
                </a:extLst>
              </a:tr>
              <a:tr h="157262">
                <a:tc>
                  <a:txBody>
                    <a:bodyPr/>
                    <a:lstStyle/>
                    <a:p>
                      <a:pPr algn="l" fontAlgn="b">
                        <a:buNone/>
                      </a:pPr>
                      <a:r>
                        <a:rPr lang="en-US" sz="800" u="none" strike="noStrike">
                          <a:effectLst/>
                        </a:rPr>
                        <a:t>GPT-5-Codex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061650793"/>
                  </a:ext>
                </a:extLst>
              </a:tr>
              <a:tr h="157262">
                <a:tc>
                  <a:txBody>
                    <a:bodyPr/>
                    <a:lstStyle/>
                    <a:p>
                      <a:pPr algn="l" fontAlgn="b">
                        <a:buNone/>
                      </a:pPr>
                      <a:r>
                        <a:rPr lang="en-US" sz="800" u="none" strike="noStrike">
                          <a:effectLst/>
                        </a:rPr>
                        <a:t>GPT-5.1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575963862"/>
                  </a:ext>
                </a:extLst>
              </a:tr>
              <a:tr h="157262">
                <a:tc>
                  <a:txBody>
                    <a:bodyPr/>
                    <a:lstStyle/>
                    <a:p>
                      <a:pPr algn="l" fontAlgn="b">
                        <a:buNone/>
                      </a:pPr>
                      <a:r>
                        <a:rPr lang="en-US" sz="800" u="none" strike="noStrike">
                          <a:effectLst/>
                        </a:rPr>
                        <a:t>GPT-5.1-Codex</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2718600504"/>
                  </a:ext>
                </a:extLst>
              </a:tr>
              <a:tr h="157262">
                <a:tc>
                  <a:txBody>
                    <a:bodyPr/>
                    <a:lstStyle/>
                    <a:p>
                      <a:pPr algn="l" fontAlgn="b">
                        <a:buNone/>
                      </a:pPr>
                      <a:r>
                        <a:rPr lang="en-US" sz="800" u="none" strike="noStrike">
                          <a:effectLst/>
                        </a:rPr>
                        <a:t>GPT-5.1-Codex-Max</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104896029"/>
                  </a:ext>
                </a:extLst>
              </a:tr>
              <a:tr h="157262">
                <a:tc>
                  <a:txBody>
                    <a:bodyPr/>
                    <a:lstStyle/>
                    <a:p>
                      <a:pPr algn="l" fontAlgn="b">
                        <a:buNone/>
                      </a:pPr>
                      <a:r>
                        <a:rPr lang="en-US" sz="800" u="none" strike="noStrike">
                          <a:effectLst/>
                        </a:rPr>
                        <a:t>GPT-5.1-Codex-Mini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0.33x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931764968"/>
                  </a:ext>
                </a:extLst>
              </a:tr>
              <a:tr h="157262">
                <a:tc>
                  <a:txBody>
                    <a:bodyPr/>
                    <a:lstStyle/>
                    <a:p>
                      <a:pPr algn="l" fontAlgn="b">
                        <a:buNone/>
                      </a:pPr>
                      <a:r>
                        <a:rPr lang="en-US" sz="800" u="none" strike="noStrike">
                          <a:effectLst/>
                        </a:rPr>
                        <a:t>GPT-5.2</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865198966"/>
                  </a:ext>
                </a:extLst>
              </a:tr>
              <a:tr h="157262">
                <a:tc>
                  <a:txBody>
                    <a:bodyPr/>
                    <a:lstStyle/>
                    <a:p>
                      <a:pPr algn="l" fontAlgn="b">
                        <a:buNone/>
                      </a:pPr>
                      <a:r>
                        <a:rPr lang="en-US" sz="800" u="none" strike="noStrike">
                          <a:effectLst/>
                        </a:rPr>
                        <a:t>GPT-5.2-Codex</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272K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128K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1364713514"/>
                  </a:ext>
                </a:extLst>
              </a:tr>
              <a:tr h="157262">
                <a:tc>
                  <a:txBody>
                    <a:bodyPr/>
                    <a:lstStyle/>
                    <a:p>
                      <a:pPr algn="l" fontAlgn="b">
                        <a:buNone/>
                      </a:pPr>
                      <a:r>
                        <a:rPr lang="en-US" sz="800" u="none" strike="noStrike">
                          <a:effectLst/>
                        </a:rPr>
                        <a:t>Grok Code Fast 1</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109K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0x</a:t>
                      </a:r>
                      <a:endParaRPr lang="en-US" sz="800" b="0" i="0" u="none" strike="noStrike">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3215983949"/>
                  </a:ext>
                </a:extLst>
              </a:tr>
              <a:tr h="157262">
                <a:tc>
                  <a:txBody>
                    <a:bodyPr/>
                    <a:lstStyle/>
                    <a:p>
                      <a:pPr algn="l" fontAlgn="b">
                        <a:buNone/>
                      </a:pPr>
                      <a:r>
                        <a:rPr lang="en-US" sz="800" u="none" strike="noStrike">
                          <a:effectLst/>
                        </a:rPr>
                        <a:t>Raptor mini (Preview)</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200K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64K</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a:effectLst/>
                        </a:rPr>
                        <a:t>Tools, Vision</a:t>
                      </a:r>
                      <a:endParaRPr lang="en-US" sz="800" b="0" i="0" u="none" strike="noStrike">
                        <a:solidFill>
                          <a:srgbClr val="000000"/>
                        </a:solidFill>
                        <a:effectLst/>
                        <a:latin typeface="Aptos Narrow" panose="020B0004020202020204" pitchFamily="34" charset="0"/>
                      </a:endParaRPr>
                    </a:p>
                  </a:txBody>
                  <a:tcPr marL="4690" marR="4690" marT="4690" marB="0" anchor="b"/>
                </a:tc>
                <a:tc>
                  <a:txBody>
                    <a:bodyPr/>
                    <a:lstStyle/>
                    <a:p>
                      <a:pPr algn="l" fontAlgn="b">
                        <a:buNone/>
                      </a:pPr>
                      <a:r>
                        <a:rPr lang="en-US" sz="800" u="none" strike="noStrike" dirty="0">
                          <a:effectLst/>
                        </a:rPr>
                        <a:t>0x</a:t>
                      </a:r>
                      <a:endParaRPr lang="en-US" sz="800" b="0" i="0" u="none" strike="noStrike" dirty="0">
                        <a:solidFill>
                          <a:srgbClr val="000000"/>
                        </a:solidFill>
                        <a:effectLst/>
                        <a:latin typeface="Aptos Narrow" panose="020B0004020202020204" pitchFamily="34" charset="0"/>
                      </a:endParaRPr>
                    </a:p>
                  </a:txBody>
                  <a:tcPr marL="4690" marR="4690" marT="4690" marB="0" anchor="b"/>
                </a:tc>
                <a:extLst>
                  <a:ext uri="{0D108BD9-81ED-4DB2-BD59-A6C34878D82A}">
                    <a16:rowId xmlns:a16="http://schemas.microsoft.com/office/drawing/2014/main" val="4134091050"/>
                  </a:ext>
                </a:extLst>
              </a:tr>
            </a:tbl>
          </a:graphicData>
        </a:graphic>
      </p:graphicFrame>
      <p:sp>
        <p:nvSpPr>
          <p:cNvPr id="8" name="TextBox 7">
            <a:extLst>
              <a:ext uri="{FF2B5EF4-FFF2-40B4-BE49-F238E27FC236}">
                <a16:creationId xmlns:a16="http://schemas.microsoft.com/office/drawing/2014/main" id="{E1EFE41C-EECB-0156-8DD9-B3F3DC59D10E}"/>
              </a:ext>
            </a:extLst>
          </p:cNvPr>
          <p:cNvSpPr txBox="1"/>
          <p:nvPr/>
        </p:nvSpPr>
        <p:spPr>
          <a:xfrm>
            <a:off x="6309360" y="1196671"/>
            <a:ext cx="2536466" cy="1107996"/>
          </a:xfrm>
          <a:prstGeom prst="rect">
            <a:avLst/>
          </a:prstGeom>
          <a:noFill/>
        </p:spPr>
        <p:txBody>
          <a:bodyPr wrap="square" rtlCol="0">
            <a:spAutoFit/>
          </a:bodyPr>
          <a:lstStyle/>
          <a:p>
            <a:pPr marL="285750" indent="-285750">
              <a:buFont typeface="Arial" panose="020B0604020202020204" pitchFamily="34" charset="0"/>
              <a:buChar char="•"/>
            </a:pPr>
            <a:r>
              <a:rPr lang="en-US" sz="1200" dirty="0">
                <a:solidFill>
                  <a:schemeClr val="bg1"/>
                </a:solidFill>
              </a:rPr>
              <a:t>Available models vary over time (Jan 18, 2026)</a:t>
            </a:r>
          </a:p>
          <a:p>
            <a:pPr marL="285750" indent="-285750">
              <a:buFont typeface="Arial" panose="020B0604020202020204" pitchFamily="34" charset="0"/>
              <a:buChar char="•"/>
            </a:pPr>
            <a:r>
              <a:rPr lang="en-US" sz="1200" dirty="0">
                <a:solidFill>
                  <a:schemeClr val="bg1"/>
                </a:solidFill>
              </a:rPr>
              <a:t>Multipliers vary with Copilot Subscription level</a:t>
            </a:r>
          </a:p>
          <a:p>
            <a:endParaRPr lang="en-US" dirty="0"/>
          </a:p>
        </p:txBody>
      </p:sp>
      <p:sp>
        <p:nvSpPr>
          <p:cNvPr id="9" name="Text Placeholder 8">
            <a:extLst>
              <a:ext uri="{FF2B5EF4-FFF2-40B4-BE49-F238E27FC236}">
                <a16:creationId xmlns:a16="http://schemas.microsoft.com/office/drawing/2014/main" id="{A8DB620D-6A7E-EDC3-62B5-DD028F9BFB78}"/>
              </a:ext>
            </a:extLst>
          </p:cNvPr>
          <p:cNvSpPr>
            <a:spLocks noGrp="1"/>
          </p:cNvSpPr>
          <p:nvPr>
            <p:ph type="body" idx="4294967295"/>
          </p:nvPr>
        </p:nvSpPr>
        <p:spPr/>
        <p:txBody>
          <a:bodyPr/>
          <a:lstStyle/>
          <a:p>
            <a:endParaRPr lang="en-US"/>
          </a:p>
        </p:txBody>
      </p:sp>
    </p:spTree>
    <p:extLst>
      <p:ext uri="{BB962C8B-B14F-4D97-AF65-F5344CB8AC3E}">
        <p14:creationId xmlns:p14="http://schemas.microsoft.com/office/powerpoint/2010/main" val="4019377556"/>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ACE549-9E5F-BA5D-A097-5B566E806AAF}"/>
              </a:ext>
            </a:extLst>
          </p:cNvPr>
          <p:cNvSpPr>
            <a:spLocks noGrp="1"/>
          </p:cNvSpPr>
          <p:nvPr>
            <p:ph type="title"/>
          </p:nvPr>
        </p:nvSpPr>
        <p:spPr/>
        <p:txBody>
          <a:bodyPr>
            <a:noAutofit/>
          </a:bodyPr>
          <a:lstStyle/>
          <a:p>
            <a:r>
              <a:rPr lang="en-US" sz="2400" dirty="0"/>
              <a:t>Comparing LLMs for Code Generation </a:t>
            </a:r>
          </a:p>
        </p:txBody>
      </p:sp>
      <p:sp>
        <p:nvSpPr>
          <p:cNvPr id="3" name="Content Placeholder 2">
            <a:extLst>
              <a:ext uri="{FF2B5EF4-FFF2-40B4-BE49-F238E27FC236}">
                <a16:creationId xmlns:a16="http://schemas.microsoft.com/office/drawing/2014/main" id="{4467C669-6E43-EB63-5D1A-127C711E10D3}"/>
              </a:ext>
            </a:extLst>
          </p:cNvPr>
          <p:cNvSpPr>
            <a:spLocks noGrp="1"/>
          </p:cNvSpPr>
          <p:nvPr>
            <p:ph idx="1"/>
          </p:nvPr>
        </p:nvSpPr>
        <p:spPr/>
        <p:txBody>
          <a:bodyPr>
            <a:normAutofit/>
          </a:bodyPr>
          <a:lstStyle/>
          <a:p>
            <a:r>
              <a:rPr lang="en-US" dirty="0"/>
              <a:t>Public Leaderboards  </a:t>
            </a:r>
          </a:p>
          <a:p>
            <a:pPr lvl="0"/>
            <a:r>
              <a:rPr lang="en-US" dirty="0"/>
              <a:t>Core Benchmarks</a:t>
            </a:r>
          </a:p>
          <a:p>
            <a:pPr lvl="0"/>
            <a:r>
              <a:rPr lang="en-US" dirty="0"/>
              <a:t>Surveys &amp; Deep‑Dive Research </a:t>
            </a:r>
          </a:p>
          <a:p>
            <a:pPr lvl="0"/>
            <a:r>
              <a:rPr lang="en-US" dirty="0"/>
              <a:t>Evaluation Frameworks </a:t>
            </a:r>
          </a:p>
        </p:txBody>
      </p:sp>
    </p:spTree>
    <p:extLst>
      <p:ext uri="{BB962C8B-B14F-4D97-AF65-F5344CB8AC3E}">
        <p14:creationId xmlns:p14="http://schemas.microsoft.com/office/powerpoint/2010/main" val="1402752199"/>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701C88-E452-DB96-C5F6-602DBE078412}"/>
              </a:ext>
            </a:extLst>
          </p:cNvPr>
          <p:cNvSpPr>
            <a:spLocks noGrp="1"/>
          </p:cNvSpPr>
          <p:nvPr>
            <p:ph type="title"/>
          </p:nvPr>
        </p:nvSpPr>
        <p:spPr/>
        <p:txBody>
          <a:bodyPr>
            <a:normAutofit fontScale="90000"/>
          </a:bodyPr>
          <a:lstStyle/>
          <a:p>
            <a:r>
              <a:rPr lang="en-US" dirty="0"/>
              <a:t>Public Leaderboards  </a:t>
            </a:r>
          </a:p>
        </p:txBody>
      </p:sp>
      <p:sp>
        <p:nvSpPr>
          <p:cNvPr id="3" name="Content Placeholder 2">
            <a:extLst>
              <a:ext uri="{FF2B5EF4-FFF2-40B4-BE49-F238E27FC236}">
                <a16:creationId xmlns:a16="http://schemas.microsoft.com/office/drawing/2014/main" id="{4B9DF648-6473-E950-D0CD-2567E9E3AC4F}"/>
              </a:ext>
            </a:extLst>
          </p:cNvPr>
          <p:cNvSpPr>
            <a:spLocks noGrp="1"/>
          </p:cNvSpPr>
          <p:nvPr>
            <p:ph idx="1"/>
          </p:nvPr>
        </p:nvSpPr>
        <p:spPr/>
        <p:txBody>
          <a:bodyPr>
            <a:normAutofit/>
          </a:bodyPr>
          <a:lstStyle/>
          <a:p>
            <a:pPr marL="342900" lvl="1" indent="0">
              <a:buNone/>
            </a:pPr>
            <a:r>
              <a:rPr lang="en-US" dirty="0"/>
              <a:t>Where to See Model‑to‑Model Comparisons</a:t>
            </a:r>
          </a:p>
          <a:p>
            <a:pPr marL="342900" lvl="1" indent="0">
              <a:buNone/>
            </a:pPr>
            <a:endParaRPr lang="en-US" dirty="0"/>
          </a:p>
          <a:p>
            <a:pPr lvl="1"/>
            <a:r>
              <a:rPr lang="en-US" dirty="0"/>
              <a:t>LLM‑Stats Coding Leaderboard</a:t>
            </a:r>
          </a:p>
          <a:p>
            <a:pPr lvl="2"/>
            <a:r>
              <a:rPr lang="en-US" dirty="0"/>
              <a:t>Aggregates 20+ coding benchmarks    </a:t>
            </a:r>
          </a:p>
          <a:p>
            <a:pPr lvl="2"/>
            <a:r>
              <a:rPr lang="en-US" dirty="0"/>
              <a:t>Shows top performers across </a:t>
            </a:r>
            <a:r>
              <a:rPr lang="en-US" dirty="0" err="1"/>
              <a:t>HumanEval</a:t>
            </a:r>
            <a:r>
              <a:rPr lang="en-US" dirty="0"/>
              <a:t>, </a:t>
            </a:r>
            <a:r>
              <a:rPr lang="en-US" dirty="0" err="1"/>
              <a:t>LiveCodeBench</a:t>
            </a:r>
            <a:r>
              <a:rPr lang="en-US" dirty="0"/>
              <a:t>, etc.</a:t>
            </a:r>
          </a:p>
          <a:p>
            <a:pPr lvl="1"/>
            <a:r>
              <a:rPr lang="en-US" dirty="0"/>
              <a:t>TechRadar’s Coding LLM Guide</a:t>
            </a:r>
          </a:p>
          <a:p>
            <a:pPr lvl="2"/>
            <a:r>
              <a:rPr lang="en-US" dirty="0"/>
              <a:t>- Editorial comparison of strengths (debugging, test generation, etc.)</a:t>
            </a:r>
          </a:p>
          <a:p>
            <a:pPr lvl="1"/>
            <a:r>
              <a:rPr lang="en-US" dirty="0" err="1"/>
              <a:t>Zencoder’s</a:t>
            </a:r>
            <a:r>
              <a:rPr lang="en-US" dirty="0"/>
              <a:t> 2026 Model Comparison</a:t>
            </a:r>
          </a:p>
          <a:p>
            <a:pPr lvl="2"/>
            <a:r>
              <a:rPr lang="en-US" dirty="0"/>
              <a:t>Breaks down accuracy, reasoning, and context window-</a:t>
            </a:r>
          </a:p>
        </p:txBody>
      </p:sp>
    </p:spTree>
    <p:extLst>
      <p:ext uri="{BB962C8B-B14F-4D97-AF65-F5344CB8AC3E}">
        <p14:creationId xmlns:p14="http://schemas.microsoft.com/office/powerpoint/2010/main" val="1488750108"/>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8143F0-7388-F3D3-91C8-913D7F105C56}"/>
              </a:ext>
            </a:extLst>
          </p:cNvPr>
          <p:cNvSpPr>
            <a:spLocks noGrp="1"/>
          </p:cNvSpPr>
          <p:nvPr>
            <p:ph type="title"/>
          </p:nvPr>
        </p:nvSpPr>
        <p:spPr/>
        <p:txBody>
          <a:bodyPr>
            <a:normAutofit fontScale="90000"/>
          </a:bodyPr>
          <a:lstStyle/>
          <a:p>
            <a:pPr lvl="0"/>
            <a:r>
              <a:rPr lang="en-US" dirty="0"/>
              <a:t>Core Benchmarks</a:t>
            </a:r>
          </a:p>
        </p:txBody>
      </p:sp>
      <p:sp>
        <p:nvSpPr>
          <p:cNvPr id="3" name="Content Placeholder 2">
            <a:extLst>
              <a:ext uri="{FF2B5EF4-FFF2-40B4-BE49-F238E27FC236}">
                <a16:creationId xmlns:a16="http://schemas.microsoft.com/office/drawing/2014/main" id="{2044977E-01F1-BF0A-8D52-0E6F7F633963}"/>
              </a:ext>
            </a:extLst>
          </p:cNvPr>
          <p:cNvSpPr>
            <a:spLocks noGrp="1"/>
          </p:cNvSpPr>
          <p:nvPr>
            <p:ph idx="1"/>
          </p:nvPr>
        </p:nvSpPr>
        <p:spPr/>
        <p:txBody>
          <a:bodyPr>
            <a:normAutofit fontScale="92500" lnSpcReduction="10000"/>
          </a:bodyPr>
          <a:lstStyle/>
          <a:p>
            <a:pPr marL="342900" lvl="1" indent="0">
              <a:buNone/>
            </a:pPr>
            <a:r>
              <a:rPr lang="en-US" dirty="0"/>
              <a:t>What Models Are Actually Tested On</a:t>
            </a:r>
          </a:p>
          <a:p>
            <a:pPr marL="342900" lvl="1" indent="0">
              <a:buNone/>
            </a:pPr>
            <a:endParaRPr lang="en-US" dirty="0"/>
          </a:p>
          <a:p>
            <a:pPr lvl="1"/>
            <a:r>
              <a:rPr lang="en-US" dirty="0" err="1"/>
              <a:t>HumanEval</a:t>
            </a:r>
            <a:endParaRPr lang="en-US" dirty="0"/>
          </a:p>
          <a:p>
            <a:pPr lvl="2"/>
            <a:r>
              <a:rPr lang="en-US" dirty="0"/>
              <a:t>Classic functional‑correctness benchmark for Python</a:t>
            </a:r>
          </a:p>
          <a:p>
            <a:pPr lvl="1"/>
            <a:r>
              <a:rPr lang="en-US" dirty="0" err="1"/>
              <a:t>LiveCodeBench</a:t>
            </a:r>
            <a:endParaRPr lang="en-US" dirty="0"/>
          </a:p>
          <a:p>
            <a:pPr lvl="2"/>
            <a:r>
              <a:rPr lang="en-US" dirty="0"/>
              <a:t>Contamination‑free, holistic benchmark for modern LLMs</a:t>
            </a:r>
          </a:p>
          <a:p>
            <a:pPr lvl="1"/>
            <a:r>
              <a:rPr lang="en-US" dirty="0"/>
              <a:t>MBPP (Mostly Basic Programming Problems)</a:t>
            </a:r>
          </a:p>
          <a:p>
            <a:pPr lvl="2"/>
            <a:r>
              <a:rPr lang="en-US" dirty="0"/>
              <a:t>Simple algorithmic tasks across languages</a:t>
            </a:r>
          </a:p>
          <a:p>
            <a:pPr lvl="1"/>
            <a:r>
              <a:rPr lang="en-US" dirty="0"/>
              <a:t>SWE‑Bench</a:t>
            </a:r>
          </a:p>
          <a:p>
            <a:pPr lvl="2"/>
            <a:r>
              <a:rPr lang="en-US" dirty="0"/>
              <a:t>Real‑world GitHub issue resolution</a:t>
            </a:r>
          </a:p>
          <a:p>
            <a:pPr lvl="1"/>
            <a:r>
              <a:rPr lang="en-US" dirty="0" err="1"/>
              <a:t>DevQualityEval</a:t>
            </a:r>
            <a:endParaRPr lang="en-US" dirty="0"/>
          </a:p>
          <a:p>
            <a:pPr lvl="2"/>
            <a:r>
              <a:rPr lang="en-US" dirty="0"/>
              <a:t>Evaluates test generation for Java and Go</a:t>
            </a:r>
          </a:p>
        </p:txBody>
      </p:sp>
    </p:spTree>
    <p:extLst>
      <p:ext uri="{BB962C8B-B14F-4D97-AF65-F5344CB8AC3E}">
        <p14:creationId xmlns:p14="http://schemas.microsoft.com/office/powerpoint/2010/main" val="4257742068"/>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140B3-8C51-DA3D-9183-F7D58E78418A}"/>
              </a:ext>
            </a:extLst>
          </p:cNvPr>
          <p:cNvSpPr>
            <a:spLocks noGrp="1"/>
          </p:cNvSpPr>
          <p:nvPr>
            <p:ph type="title"/>
          </p:nvPr>
        </p:nvSpPr>
        <p:spPr/>
        <p:txBody>
          <a:bodyPr>
            <a:normAutofit fontScale="90000"/>
          </a:bodyPr>
          <a:lstStyle/>
          <a:p>
            <a:pPr lvl="0"/>
            <a:r>
              <a:rPr lang="en-US" dirty="0"/>
              <a:t>Surveys &amp; Deep‑Dive Research  </a:t>
            </a:r>
          </a:p>
        </p:txBody>
      </p:sp>
      <p:sp>
        <p:nvSpPr>
          <p:cNvPr id="3" name="Content Placeholder 2">
            <a:extLst>
              <a:ext uri="{FF2B5EF4-FFF2-40B4-BE49-F238E27FC236}">
                <a16:creationId xmlns:a16="http://schemas.microsoft.com/office/drawing/2014/main" id="{7F7652A3-0FD4-8C54-0B1F-804EE1C6388F}"/>
              </a:ext>
            </a:extLst>
          </p:cNvPr>
          <p:cNvSpPr>
            <a:spLocks noGrp="1"/>
          </p:cNvSpPr>
          <p:nvPr>
            <p:ph idx="1"/>
          </p:nvPr>
        </p:nvSpPr>
        <p:spPr/>
        <p:txBody>
          <a:bodyPr>
            <a:normAutofit fontScale="92500" lnSpcReduction="10000"/>
          </a:bodyPr>
          <a:lstStyle/>
          <a:p>
            <a:pPr marL="0" indent="0">
              <a:buNone/>
            </a:pPr>
            <a:r>
              <a:rPr lang="en-US" dirty="0"/>
              <a:t>Understanding the Landscape</a:t>
            </a:r>
          </a:p>
          <a:p>
            <a:pPr marL="0" indent="0">
              <a:buNone/>
            </a:pPr>
            <a:endParaRPr lang="en-US" dirty="0"/>
          </a:p>
          <a:p>
            <a:r>
              <a:rPr lang="en-US" dirty="0"/>
              <a:t>Academic Surveys (</a:t>
            </a:r>
            <a:r>
              <a:rPr lang="en-US" dirty="0" err="1"/>
              <a:t>arXiv</a:t>
            </a:r>
            <a:r>
              <a:rPr lang="en-US" dirty="0"/>
              <a:t>)</a:t>
            </a:r>
          </a:p>
          <a:p>
            <a:pPr lvl="1"/>
            <a:r>
              <a:rPr lang="en-US" dirty="0"/>
              <a:t>Comprehensive overviews of techniques, benchmarks, and model families</a:t>
            </a:r>
          </a:p>
          <a:p>
            <a:r>
              <a:rPr lang="en-US" dirty="0"/>
              <a:t>Benchmark Explainers (Vellum, Analytics Vidhya)</a:t>
            </a:r>
          </a:p>
          <a:p>
            <a:pPr lvl="1"/>
            <a:r>
              <a:rPr lang="en-US" dirty="0"/>
              <a:t> Strengths and weaknesses of each benchmark    </a:t>
            </a:r>
          </a:p>
          <a:p>
            <a:pPr lvl="1"/>
            <a:r>
              <a:rPr lang="en-US" dirty="0"/>
              <a:t>How to interpret results</a:t>
            </a:r>
          </a:p>
          <a:p>
            <a:r>
              <a:rPr lang="en-US" dirty="0"/>
              <a:t>Specialized Benchmarks</a:t>
            </a:r>
          </a:p>
          <a:p>
            <a:pPr lvl="1"/>
            <a:r>
              <a:rPr lang="en-US" dirty="0"/>
              <a:t> </a:t>
            </a:r>
            <a:r>
              <a:rPr lang="en-US" dirty="0" err="1"/>
              <a:t>SwiftEval</a:t>
            </a:r>
            <a:r>
              <a:rPr lang="en-US" dirty="0"/>
              <a:t>, domain‑specific coding evaluations, </a:t>
            </a:r>
            <a:r>
              <a:rPr lang="en-US" dirty="0" err="1"/>
              <a:t>etc</a:t>
            </a:r>
            <a:endParaRPr lang="en-US" dirty="0"/>
          </a:p>
        </p:txBody>
      </p:sp>
    </p:spTree>
    <p:extLst>
      <p:ext uri="{BB962C8B-B14F-4D97-AF65-F5344CB8AC3E}">
        <p14:creationId xmlns:p14="http://schemas.microsoft.com/office/powerpoint/2010/main" val="1606516915"/>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22412-57FD-0DE8-DA07-50277AE30E2B}"/>
              </a:ext>
            </a:extLst>
          </p:cNvPr>
          <p:cNvSpPr>
            <a:spLocks noGrp="1"/>
          </p:cNvSpPr>
          <p:nvPr>
            <p:ph type="title"/>
          </p:nvPr>
        </p:nvSpPr>
        <p:spPr/>
        <p:txBody>
          <a:bodyPr>
            <a:normAutofit fontScale="90000"/>
          </a:bodyPr>
          <a:lstStyle/>
          <a:p>
            <a:pPr lvl="0"/>
            <a:r>
              <a:rPr lang="en-US" dirty="0"/>
              <a:t>Evaluation Frameworks  </a:t>
            </a:r>
          </a:p>
        </p:txBody>
      </p:sp>
      <p:sp>
        <p:nvSpPr>
          <p:cNvPr id="3" name="Content Placeholder 2">
            <a:extLst>
              <a:ext uri="{FF2B5EF4-FFF2-40B4-BE49-F238E27FC236}">
                <a16:creationId xmlns:a16="http://schemas.microsoft.com/office/drawing/2014/main" id="{F7C41A7D-4B5E-D94E-B15B-1E52A6D056D6}"/>
              </a:ext>
            </a:extLst>
          </p:cNvPr>
          <p:cNvSpPr>
            <a:spLocks noGrp="1"/>
          </p:cNvSpPr>
          <p:nvPr>
            <p:ph idx="1"/>
          </p:nvPr>
        </p:nvSpPr>
        <p:spPr/>
        <p:txBody>
          <a:bodyPr>
            <a:normAutofit/>
          </a:bodyPr>
          <a:lstStyle/>
          <a:p>
            <a:pPr lvl="1"/>
            <a:r>
              <a:rPr lang="en-US" dirty="0"/>
              <a:t>Tools for Running Your Own Tests</a:t>
            </a:r>
          </a:p>
          <a:p>
            <a:pPr lvl="2"/>
            <a:r>
              <a:rPr lang="en-US" dirty="0" err="1"/>
              <a:t>Symflower</a:t>
            </a:r>
            <a:r>
              <a:rPr lang="en-US" dirty="0"/>
              <a:t> </a:t>
            </a:r>
            <a:r>
              <a:rPr lang="en-US" dirty="0" err="1"/>
              <a:t>DevQualityEval</a:t>
            </a:r>
            <a:endParaRPr lang="en-US" dirty="0"/>
          </a:p>
          <a:p>
            <a:pPr lvl="3"/>
            <a:r>
              <a:rPr lang="en-US" dirty="0"/>
              <a:t>Open‑source framework for code and test generation evaluation</a:t>
            </a:r>
          </a:p>
          <a:p>
            <a:pPr lvl="2"/>
            <a:r>
              <a:rPr lang="en-US" dirty="0" err="1"/>
              <a:t>CodeArena</a:t>
            </a:r>
            <a:r>
              <a:rPr lang="en-US" dirty="0"/>
              <a:t> (</a:t>
            </a:r>
            <a:r>
              <a:rPr lang="en-US" dirty="0" err="1"/>
              <a:t>HuggingFace</a:t>
            </a:r>
            <a:r>
              <a:rPr lang="en-US" dirty="0"/>
              <a:t>)</a:t>
            </a:r>
          </a:p>
          <a:p>
            <a:pPr lvl="3"/>
            <a:r>
              <a:rPr lang="en-US" dirty="0"/>
              <a:t> Collective evaluation platform for coding tasks</a:t>
            </a:r>
          </a:p>
          <a:p>
            <a:pPr lvl="2"/>
            <a:r>
              <a:rPr lang="en-US" dirty="0"/>
              <a:t>Automatic Benchmark Generation Tools</a:t>
            </a:r>
          </a:p>
          <a:p>
            <a:pPr lvl="3"/>
            <a:r>
              <a:rPr lang="en-US" dirty="0"/>
              <a:t> Research into LLM‑generated benchmarks and judge reliability</a:t>
            </a:r>
          </a:p>
        </p:txBody>
      </p:sp>
    </p:spTree>
    <p:extLst>
      <p:ext uri="{BB962C8B-B14F-4D97-AF65-F5344CB8AC3E}">
        <p14:creationId xmlns:p14="http://schemas.microsoft.com/office/powerpoint/2010/main" val="2020726655"/>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AD2247-04C0-347B-5B3F-DBCA2A3A7837}"/>
              </a:ext>
            </a:extLst>
          </p:cNvPr>
          <p:cNvSpPr>
            <a:spLocks noGrp="1"/>
          </p:cNvSpPr>
          <p:nvPr>
            <p:ph type="title"/>
          </p:nvPr>
        </p:nvSpPr>
        <p:spPr/>
        <p:txBody>
          <a:bodyPr>
            <a:normAutofit fontScale="90000"/>
          </a:bodyPr>
          <a:lstStyle/>
          <a:p>
            <a:r>
              <a:rPr lang="en-US" dirty="0"/>
              <a:t>Selecting Models</a:t>
            </a:r>
          </a:p>
        </p:txBody>
      </p:sp>
      <p:sp>
        <p:nvSpPr>
          <p:cNvPr id="3" name="Content Placeholder 2">
            <a:extLst>
              <a:ext uri="{FF2B5EF4-FFF2-40B4-BE49-F238E27FC236}">
                <a16:creationId xmlns:a16="http://schemas.microsoft.com/office/drawing/2014/main" id="{DCE2D761-DE73-BB6E-CB8E-1D634175E5F5}"/>
              </a:ext>
            </a:extLst>
          </p:cNvPr>
          <p:cNvSpPr>
            <a:spLocks noGrp="1"/>
          </p:cNvSpPr>
          <p:nvPr>
            <p:ph idx="1"/>
          </p:nvPr>
        </p:nvSpPr>
        <p:spPr/>
        <p:txBody>
          <a:bodyPr/>
          <a:lstStyle/>
          <a:p>
            <a:r>
              <a:rPr lang="en-US" dirty="0"/>
              <a:t>Select benchmarks aligned with your workflow  </a:t>
            </a:r>
          </a:p>
          <a:p>
            <a:r>
              <a:rPr lang="en-US" dirty="0"/>
              <a:t>Combine leaderboards + hands‑on evaluation</a:t>
            </a:r>
          </a:p>
          <a:p>
            <a:r>
              <a:rPr lang="en-US" dirty="0"/>
              <a:t>Build a repeatable internal benchmark suite</a:t>
            </a:r>
          </a:p>
          <a:p>
            <a:r>
              <a:rPr lang="en-US" dirty="0"/>
              <a:t>Track contamination‑free benchmarks for reliability</a:t>
            </a:r>
          </a:p>
        </p:txBody>
      </p:sp>
    </p:spTree>
    <p:extLst>
      <p:ext uri="{BB962C8B-B14F-4D97-AF65-F5344CB8AC3E}">
        <p14:creationId xmlns:p14="http://schemas.microsoft.com/office/powerpoint/2010/main" val="2736713756"/>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7F9193-3964-E21E-B553-DB3BC18B23B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491907-5A9C-77C6-DF14-C10776F704B8}"/>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25117C8A-06CE-3BA7-682A-BE84AAF3BBFD}"/>
              </a:ext>
            </a:extLst>
          </p:cNvPr>
          <p:cNvGraphicFramePr>
            <a:graphicFrameLocks noGrp="1"/>
          </p:cNvGraphicFramePr>
          <p:nvPr>
            <p:ph idx="1"/>
            <p:extLst>
              <p:ext uri="{D42A27DB-BD31-4B8C-83A1-F6EECF244321}">
                <p14:modId xmlns:p14="http://schemas.microsoft.com/office/powerpoint/2010/main" val="58509045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645749431"/>
      </p:ext>
    </p:extLst>
  </p:cSld>
  <p:clrMapOvr>
    <a:masterClrMapping/>
  </p:clrMapOvr>
  <p:transition>
    <p:fade/>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GitHub Copilot for Teams</a:t>
            </a:r>
            <a:br>
              <a:rPr lang="en-US" dirty="0"/>
            </a:br>
            <a:r>
              <a:rPr sz="2700" dirty="0"/>
              <a:t>Key Considerations for Adoption</a:t>
            </a:r>
          </a:p>
        </p:txBody>
      </p:sp>
      <p:sp>
        <p:nvSpPr>
          <p:cNvPr id="3" name="Content Placeholder 2"/>
          <p:cNvSpPr>
            <a:spLocks noGrp="1"/>
          </p:cNvSpPr>
          <p:nvPr>
            <p:ph idx="1"/>
          </p:nvPr>
        </p:nvSpPr>
        <p:spPr>
          <a:xfrm>
            <a:off x="628650" y="2116183"/>
            <a:ext cx="7886700" cy="527268"/>
          </a:xfrm>
        </p:spPr>
        <p:txBody>
          <a:bodyPr/>
          <a:lstStyle/>
          <a:p>
            <a:pPr marL="0" lvl="0" indent="0">
              <a:buNone/>
            </a:pPr>
            <a:r>
              <a:rPr i="1" dirty="0"/>
              <a:t>Empowering developers with AI while protecting your codebase</a:t>
            </a:r>
          </a:p>
        </p:txBody>
      </p:sp>
    </p:spTree>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What Prompted This Deck?</a:t>
            </a:r>
          </a:p>
        </p:txBody>
      </p:sp>
      <p:sp>
        <p:nvSpPr>
          <p:cNvPr id="3" name="Content Placeholder 2"/>
          <p:cNvSpPr>
            <a:spLocks noGrp="1"/>
          </p:cNvSpPr>
          <p:nvPr>
            <p:ph idx="1"/>
          </p:nvPr>
        </p:nvSpPr>
        <p:spPr/>
        <p:txBody>
          <a:bodyPr/>
          <a:lstStyle/>
          <a:p>
            <a:pPr marL="1270000" lvl="0" indent="0">
              <a:buNone/>
            </a:pPr>
            <a:r>
              <a:rPr sz="2000" dirty="0"/>
              <a:t>I want to know how GitHub </a:t>
            </a:r>
            <a:r>
              <a:rPr lang="en-US" sz="2000" dirty="0"/>
              <a:t>C</a:t>
            </a:r>
            <a:r>
              <a:rPr sz="2000" dirty="0"/>
              <a:t>opilot protects the intellectual property in the code and documentation submitted to the model. Is this information isolated from other users? Is it incorporated into the model and leaked to other users? How can I protect my IP while using GitHub Copilot?</a:t>
            </a:r>
          </a:p>
        </p:txBody>
      </p:sp>
    </p:spTree>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Benefits for Organizations</a:t>
            </a:r>
          </a:p>
        </p:txBody>
      </p:sp>
      <p:sp>
        <p:nvSpPr>
          <p:cNvPr id="3" name="Content Placeholder 2"/>
          <p:cNvSpPr>
            <a:spLocks noGrp="1"/>
          </p:cNvSpPr>
          <p:nvPr>
            <p:ph idx="1"/>
          </p:nvPr>
        </p:nvSpPr>
        <p:spPr/>
        <p:txBody>
          <a:bodyPr/>
          <a:lstStyle/>
          <a:p>
            <a:pPr lvl="0"/>
            <a:r>
              <a:rPr dirty="0"/>
              <a:t>Accelerated Development</a:t>
            </a:r>
            <a:endParaRPr lang="en-US" dirty="0"/>
          </a:p>
          <a:p>
            <a:pPr lvl="1"/>
            <a:r>
              <a:rPr dirty="0"/>
              <a:t>Faster prototyping, fewer boilerplate tasks</a:t>
            </a:r>
          </a:p>
          <a:p>
            <a:pPr lvl="0"/>
            <a:r>
              <a:rPr dirty="0"/>
              <a:t>Improved Documentation</a:t>
            </a:r>
            <a:endParaRPr lang="en-US" dirty="0"/>
          </a:p>
          <a:p>
            <a:pPr lvl="1"/>
            <a:r>
              <a:rPr dirty="0"/>
              <a:t>Auto-generates comments and README content</a:t>
            </a:r>
          </a:p>
          <a:p>
            <a:pPr lvl="0"/>
            <a:r>
              <a:rPr dirty="0"/>
              <a:t>Enhanced Testing</a:t>
            </a:r>
            <a:endParaRPr lang="en-US" dirty="0"/>
          </a:p>
          <a:p>
            <a:pPr lvl="1"/>
            <a:r>
              <a:rPr dirty="0"/>
              <a:t>Suggests unit tests and edge cases</a:t>
            </a:r>
          </a:p>
          <a:p>
            <a:pPr lvl="0"/>
            <a:r>
              <a:rPr dirty="0"/>
              <a:t>Team Productivity</a:t>
            </a:r>
            <a:endParaRPr lang="en-US" dirty="0"/>
          </a:p>
          <a:p>
            <a:pPr lvl="1"/>
            <a:r>
              <a:rPr dirty="0"/>
              <a:t>Reduces cognitive load, supports onboarding</a:t>
            </a:r>
          </a:p>
        </p:txBody>
      </p:sp>
    </p:spTree>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Risks to Consider</a:t>
            </a:r>
          </a:p>
        </p:txBody>
      </p:sp>
      <p:sp>
        <p:nvSpPr>
          <p:cNvPr id="3" name="Content Placeholder 2"/>
          <p:cNvSpPr>
            <a:spLocks noGrp="1"/>
          </p:cNvSpPr>
          <p:nvPr>
            <p:ph idx="1"/>
          </p:nvPr>
        </p:nvSpPr>
        <p:spPr/>
        <p:txBody>
          <a:bodyPr>
            <a:normAutofit fontScale="92500" lnSpcReduction="20000"/>
          </a:bodyPr>
          <a:lstStyle/>
          <a:p>
            <a:pPr lvl="0"/>
            <a:r>
              <a:rPr b="1"/>
              <a:t>IP Leakage Concerns</a:t>
            </a:r>
          </a:p>
          <a:p>
            <a:pPr lvl="1"/>
            <a:r>
              <a:t>Copilot may suggest code similar to public repositories</a:t>
            </a:r>
          </a:p>
          <a:p>
            <a:pPr lvl="1"/>
            <a:r>
              <a:t>Risk of inadvertently using copyrighted or licensed code</a:t>
            </a:r>
          </a:p>
          <a:p>
            <a:pPr lvl="1"/>
            <a:r>
              <a:t>Mitigation: Enable public code filters and review suggestions carefully</a:t>
            </a:r>
          </a:p>
          <a:p>
            <a:pPr lvl="0"/>
            <a:r>
              <a:rPr b="1"/>
              <a:t>Code Quality and Accuracy</a:t>
            </a:r>
          </a:p>
          <a:p>
            <a:pPr lvl="1"/>
            <a:r>
              <a:t>AI-generated code may contain bugs, inefficiencies, or security flaws</a:t>
            </a:r>
          </a:p>
          <a:p>
            <a:pPr lvl="1"/>
            <a:r>
              <a:t>Always validate and test before deployment</a:t>
            </a:r>
          </a:p>
          <a:p>
            <a:pPr lvl="1"/>
            <a:r>
              <a:t>Treat Copilot as a drafting tool, not a source of truth</a:t>
            </a:r>
          </a:p>
          <a:p>
            <a:pPr lvl="0"/>
            <a:r>
              <a:rPr b="1"/>
              <a:t>Developer Overreliance</a:t>
            </a:r>
          </a:p>
          <a:p>
            <a:pPr lvl="1"/>
            <a:r>
              <a:t>Risk of reduced understanding or critical thinking</a:t>
            </a:r>
          </a:p>
          <a:p>
            <a:pPr lvl="1"/>
            <a:r>
              <a:t>Encourage code reviews and pair programming to maintain rigor</a:t>
            </a:r>
          </a:p>
        </p:txBody>
      </p:sp>
    </p:spTree>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Governance and Compliance Risks</a:t>
            </a:r>
          </a:p>
        </p:txBody>
      </p:sp>
      <p:sp>
        <p:nvSpPr>
          <p:cNvPr id="3" name="Content Placeholder 2"/>
          <p:cNvSpPr>
            <a:spLocks noGrp="1"/>
          </p:cNvSpPr>
          <p:nvPr>
            <p:ph idx="1"/>
          </p:nvPr>
        </p:nvSpPr>
        <p:spPr/>
        <p:txBody>
          <a:bodyPr>
            <a:normAutofit fontScale="92500" lnSpcReduction="10000"/>
          </a:bodyPr>
          <a:lstStyle/>
          <a:p>
            <a:pPr lvl="0"/>
            <a:r>
              <a:rPr b="1"/>
              <a:t>Regulatory Compliance</a:t>
            </a:r>
          </a:p>
          <a:p>
            <a:pPr lvl="1"/>
            <a:r>
              <a:t>Generated code may not meet industry-specific standards (e.g., HIPAA, PCI-DSS)</a:t>
            </a:r>
          </a:p>
          <a:p>
            <a:pPr lvl="1"/>
            <a:r>
              <a:t>Organizations must enforce coding policies and audits</a:t>
            </a:r>
          </a:p>
          <a:p>
            <a:pPr lvl="0"/>
            <a:r>
              <a:rPr b="1"/>
              <a:t>Data Privacy and Security</a:t>
            </a:r>
          </a:p>
          <a:p>
            <a:pPr lvl="1"/>
            <a:r>
              <a:t>Sensitive data should never be typed into prompts</a:t>
            </a:r>
          </a:p>
          <a:p>
            <a:pPr lvl="1"/>
            <a:r>
              <a:t>Use Copilot in secure environments with clear usage guidelines</a:t>
            </a:r>
          </a:p>
          <a:p>
            <a:pPr lvl="0"/>
            <a:r>
              <a:rPr b="1"/>
              <a:t>Licensing Ambiguity</a:t>
            </a:r>
          </a:p>
          <a:p>
            <a:pPr lvl="1"/>
            <a:r>
              <a:t>Copilot suggestions may resemble code under restrictive licenses</a:t>
            </a:r>
          </a:p>
          <a:p>
            <a:pPr lvl="1"/>
            <a:r>
              <a:t>Legal teams should define acceptable use policies and monitor compliance</a:t>
            </a:r>
          </a:p>
        </p:txBody>
      </p:sp>
    </p:spTree>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IP and Data Protection</a:t>
            </a:r>
          </a:p>
        </p:txBody>
      </p:sp>
      <p:sp>
        <p:nvSpPr>
          <p:cNvPr id="3" name="Content Placeholder 2"/>
          <p:cNvSpPr>
            <a:spLocks noGrp="1"/>
          </p:cNvSpPr>
          <p:nvPr>
            <p:ph idx="1"/>
          </p:nvPr>
        </p:nvSpPr>
        <p:spPr/>
        <p:txBody>
          <a:bodyPr/>
          <a:lstStyle/>
          <a:p>
            <a:pPr lvl="0"/>
            <a:r>
              <a:t>Your code is </a:t>
            </a:r>
            <a:r>
              <a:rPr b="1"/>
              <a:t>not used to retrain the model</a:t>
            </a:r>
            <a:r>
              <a:t> (with Copilot for Business/Enterprise)</a:t>
            </a:r>
          </a:p>
          <a:p>
            <a:pPr lvl="0"/>
            <a:r>
              <a:t>Suggestions are generated locally — no code is shared unless feedback is submitted</a:t>
            </a:r>
          </a:p>
          <a:p>
            <a:pPr lvl="0"/>
            <a:r>
              <a:t>No leakage between users: your private code is </a:t>
            </a:r>
            <a:r>
              <a:rPr b="1"/>
              <a:t>not exposed to others</a:t>
            </a:r>
          </a:p>
          <a:p>
            <a:pPr lvl="0"/>
            <a:r>
              <a:t>Admins can </a:t>
            </a:r>
            <a:r>
              <a:rPr b="1"/>
              <a:t>disable suggestions matching public code</a:t>
            </a:r>
            <a:r>
              <a:t> for added safety</a:t>
            </a:r>
          </a:p>
        </p:txBody>
      </p:sp>
    </p:spTree>
  </p:cSld>
  <p:clrMapOvr>
    <a:masterClrMapping/>
  </p:clrMapOvr>
  <p:transition>
    <p:fade/>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Licensing and Legal Considerations</a:t>
            </a:r>
          </a:p>
        </p:txBody>
      </p:sp>
      <p:sp>
        <p:nvSpPr>
          <p:cNvPr id="3" name="Content Placeholder 2"/>
          <p:cNvSpPr>
            <a:spLocks noGrp="1"/>
          </p:cNvSpPr>
          <p:nvPr>
            <p:ph idx="1"/>
          </p:nvPr>
        </p:nvSpPr>
        <p:spPr/>
        <p:txBody>
          <a:bodyPr/>
          <a:lstStyle/>
          <a:p>
            <a:pPr lvl="0"/>
            <a:r>
              <a:t>Copilot may suggest code similar to public repositories</a:t>
            </a:r>
          </a:p>
          <a:p>
            <a:pPr lvl="0"/>
            <a:r>
              <a:t>GitHub provides a </a:t>
            </a:r>
            <a:r>
              <a:rPr b="1"/>
              <a:t>filter to block matching public code</a:t>
            </a:r>
          </a:p>
          <a:p>
            <a:pPr lvl="0"/>
            <a:r>
              <a:t>Organizations should review Copilot’s </a:t>
            </a:r>
            <a:r>
              <a:rPr>
                <a:hlinkClick r:id="rId3"/>
              </a:rPr>
              <a:t>Terms of Service</a:t>
            </a:r>
            <a:r>
              <a:t> and </a:t>
            </a:r>
            <a:r>
              <a:rPr>
                <a:hlinkClick r:id="rId4"/>
              </a:rPr>
              <a:t>Privacy Statement</a:t>
            </a:r>
          </a:p>
        </p:txBody>
      </p:sp>
    </p:spTree>
  </p:cSld>
  <p:clrMapOvr>
    <a:masterClrMapping/>
  </p:clrMapOvr>
  <p:transition>
    <p:fade/>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Deployment Options</a:t>
            </a:r>
          </a:p>
        </p:txBody>
      </p:sp>
      <p:graphicFrame>
        <p:nvGraphicFramePr>
          <p:cNvPr id="6" name="Content Placeholder 5"/>
          <p:cNvGraphicFramePr>
            <a:graphicFrameLocks noGrp="1"/>
          </p:cNvGraphicFramePr>
          <p:nvPr>
            <p:ph idx="1"/>
          </p:nvPr>
        </p:nvGraphicFramePr>
        <p:xfrm>
          <a:off x="457200" y="1193800"/>
          <a:ext cx="8229600" cy="1188720"/>
        </p:xfrm>
        <a:graphic>
          <a:graphicData uri="http://schemas.openxmlformats.org/drawingml/2006/table">
            <a:tbl>
              <a:tblPr firstRow="1" bandRow="1">
                <a:tableStyleId>{5C22544A-7EE6-4342-B048-85BDC9FD1C3A}</a:tableStyleId>
              </a:tblPr>
              <a:tblGrid>
                <a:gridCol w="274320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tblGrid>
              <a:tr h="0">
                <a:tc>
                  <a:txBody>
                    <a:bodyPr/>
                    <a:lstStyle/>
                    <a:p>
                      <a:pPr marL="0" lvl="0" indent="0">
                        <a:buNone/>
                      </a:pPr>
                      <a:r>
                        <a:t>Plan</a:t>
                      </a:r>
                    </a:p>
                  </a:txBody>
                  <a:tcPr/>
                </a:tc>
                <a:tc>
                  <a:txBody>
                    <a:bodyPr/>
                    <a:lstStyle/>
                    <a:p>
                      <a:pPr marL="0" lvl="0" indent="0">
                        <a:buNone/>
                      </a:pPr>
                      <a:r>
                        <a:t>Key Features</a:t>
                      </a:r>
                    </a:p>
                  </a:txBody>
                  <a:tcPr/>
                </a:tc>
                <a:tc>
                  <a:txBody>
                    <a:bodyPr/>
                    <a:lstStyle/>
                    <a:p>
                      <a:pPr marL="0" lvl="0" indent="0">
                        <a:buNone/>
                      </a:pPr>
                      <a:r>
                        <a:t>IP Protection</a:t>
                      </a:r>
                    </a:p>
                  </a:txBody>
                  <a:tcPr/>
                </a:tc>
                <a:extLst>
                  <a:ext uri="{0D108BD9-81ED-4DB2-BD59-A6C34878D82A}">
                    <a16:rowId xmlns:a16="http://schemas.microsoft.com/office/drawing/2014/main" val="10000"/>
                  </a:ext>
                </a:extLst>
              </a:tr>
              <a:tr h="0">
                <a:tc>
                  <a:txBody>
                    <a:bodyPr/>
                    <a:lstStyle/>
                    <a:p>
                      <a:pPr marL="0" lvl="0" indent="0">
                        <a:buNone/>
                      </a:pPr>
                      <a:r>
                        <a:t>Copilot Individual</a:t>
                      </a:r>
                    </a:p>
                  </a:txBody>
                  <a:tcPr/>
                </a:tc>
                <a:tc>
                  <a:txBody>
                    <a:bodyPr/>
                    <a:lstStyle/>
                    <a:p>
                      <a:pPr marL="0" lvl="0" indent="0">
                        <a:buNone/>
                      </a:pPr>
                      <a:r>
                        <a:t>Personal use, no admin controls</a:t>
                      </a:r>
                    </a:p>
                  </a:txBody>
                  <a:tcPr/>
                </a:tc>
                <a:tc>
                  <a:txBody>
                    <a:bodyPr/>
                    <a:lstStyle/>
                    <a:p>
                      <a:pPr marL="0" lvl="0" indent="0">
                        <a:buNone/>
                      </a:pPr>
                      <a:r>
                        <a:t>Limited</a:t>
                      </a:r>
                    </a:p>
                  </a:txBody>
                  <a:tcPr/>
                </a:tc>
                <a:extLst>
                  <a:ext uri="{0D108BD9-81ED-4DB2-BD59-A6C34878D82A}">
                    <a16:rowId xmlns:a16="http://schemas.microsoft.com/office/drawing/2014/main" val="10001"/>
                  </a:ext>
                </a:extLst>
              </a:tr>
              <a:tr h="0">
                <a:tc>
                  <a:txBody>
                    <a:bodyPr/>
                    <a:lstStyle/>
                    <a:p>
                      <a:pPr marL="0" lvl="0" indent="0">
                        <a:buNone/>
                      </a:pPr>
                      <a:r>
                        <a:t>Copilot for Business</a:t>
                      </a:r>
                    </a:p>
                  </a:txBody>
                  <a:tcPr/>
                </a:tc>
                <a:tc>
                  <a:txBody>
                    <a:bodyPr/>
                    <a:lstStyle/>
                    <a:p>
                      <a:pPr marL="0" lvl="0" indent="0">
                        <a:buNone/>
                      </a:pPr>
                      <a:r>
                        <a:t>Admin controls, policy enforcement</a:t>
                      </a:r>
                    </a:p>
                  </a:txBody>
                  <a:tcPr/>
                </a:tc>
                <a:tc>
                  <a:txBody>
                    <a:bodyPr/>
                    <a:lstStyle/>
                    <a:p>
                      <a:pPr marL="0" lvl="0" indent="0">
                        <a:buNone/>
                      </a:pPr>
                      <a:r>
                        <a:t>Strong</a:t>
                      </a:r>
                    </a:p>
                  </a:txBody>
                  <a:tcPr/>
                </a:tc>
                <a:extLst>
                  <a:ext uri="{0D108BD9-81ED-4DB2-BD59-A6C34878D82A}">
                    <a16:rowId xmlns:a16="http://schemas.microsoft.com/office/drawing/2014/main" val="10002"/>
                  </a:ext>
                </a:extLst>
              </a:tr>
              <a:tr h="0">
                <a:tc>
                  <a:txBody>
                    <a:bodyPr/>
                    <a:lstStyle/>
                    <a:p>
                      <a:pPr marL="0" lvl="0" indent="0">
                        <a:buNone/>
                      </a:pPr>
                      <a:r>
                        <a:t>Copilot for Enterprise</a:t>
                      </a:r>
                    </a:p>
                  </a:txBody>
                  <a:tcPr/>
                </a:tc>
                <a:tc>
                  <a:txBody>
                    <a:bodyPr/>
                    <a:lstStyle/>
                    <a:p>
                      <a:pPr marL="0" lvl="0" indent="0">
                        <a:buNone/>
                      </a:pPr>
                      <a:r>
                        <a:t>Org-wide policy, audit tools</a:t>
                      </a:r>
                    </a:p>
                  </a:txBody>
                  <a:tcPr/>
                </a:tc>
                <a:tc>
                  <a:txBody>
                    <a:bodyPr/>
                    <a:lstStyle/>
                    <a:p>
                      <a:pPr marL="0" lvl="0" indent="0">
                        <a:buNone/>
                      </a:pPr>
                      <a:r>
                        <a:t>Strongest</a:t>
                      </a:r>
                    </a:p>
                  </a:txBody>
                  <a:tcPr/>
                </a:tc>
                <a:extLst>
                  <a:ext uri="{0D108BD9-81ED-4DB2-BD59-A6C34878D82A}">
                    <a16:rowId xmlns:a16="http://schemas.microsoft.com/office/drawing/2014/main" val="10003"/>
                  </a:ext>
                </a:extLst>
              </a:tr>
            </a:tbl>
          </a:graphicData>
        </a:graphic>
      </p:graphicFrame>
    </p:spTree>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Best Practices for Safe Use</a:t>
            </a:r>
          </a:p>
        </p:txBody>
      </p:sp>
      <p:sp>
        <p:nvSpPr>
          <p:cNvPr id="3" name="Content Placeholder 2"/>
          <p:cNvSpPr>
            <a:spLocks noGrp="1"/>
          </p:cNvSpPr>
          <p:nvPr>
            <p:ph idx="1"/>
          </p:nvPr>
        </p:nvSpPr>
        <p:spPr/>
        <p:txBody>
          <a:bodyPr/>
          <a:lstStyle/>
          <a:p>
            <a:pPr lvl="0"/>
            <a:r>
              <a:t>Enable public code filters</a:t>
            </a:r>
          </a:p>
          <a:p>
            <a:pPr lvl="0"/>
            <a:r>
              <a:t>Review suggestions before committing</a:t>
            </a:r>
          </a:p>
          <a:p>
            <a:pPr lvl="0"/>
            <a:r>
              <a:t>Educate teams on responsible use and licensing awareness</a:t>
            </a:r>
          </a:p>
        </p:txBody>
      </p:sp>
    </p:spTree>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t>Resources</a:t>
            </a:r>
          </a:p>
        </p:txBody>
      </p:sp>
      <p:sp>
        <p:nvSpPr>
          <p:cNvPr id="3" name="Content Placeholder 2"/>
          <p:cNvSpPr>
            <a:spLocks noGrp="1"/>
          </p:cNvSpPr>
          <p:nvPr>
            <p:ph idx="1"/>
          </p:nvPr>
        </p:nvSpPr>
        <p:spPr/>
        <p:txBody>
          <a:bodyPr/>
          <a:lstStyle/>
          <a:p>
            <a:pPr lvl="0"/>
            <a:r>
              <a:rPr>
                <a:hlinkClick r:id="rId3"/>
              </a:rPr>
              <a:t>Copilot Documentation</a:t>
            </a:r>
          </a:p>
          <a:p>
            <a:pPr lvl="0"/>
            <a:r>
              <a:rPr>
                <a:hlinkClick r:id="rId4"/>
              </a:rPr>
              <a:t>Copilot for Business Overview</a:t>
            </a:r>
          </a:p>
          <a:p>
            <a:pPr lvl="0"/>
            <a:r>
              <a:rPr>
                <a:hlinkClick r:id="rId5"/>
              </a:rPr>
              <a:t>Security and Privacy FAQ</a:t>
            </a:r>
          </a:p>
        </p:txBody>
      </p:sp>
    </p:spTree>
  </p:cSld>
  <p:clrMapOvr>
    <a:masterClrMapping/>
  </p:clrMapOvr>
  <p:transition>
    <p:fade/>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02ECC9-DFC4-2F6C-3B16-2926BDDA04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7469C5D-E58E-9607-840D-21FCBB06A691}"/>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D26924F8-18D7-C075-0F31-F906C794EB07}"/>
              </a:ext>
            </a:extLst>
          </p:cNvPr>
          <p:cNvGraphicFramePr>
            <a:graphicFrameLocks noGrp="1"/>
          </p:cNvGraphicFramePr>
          <p:nvPr>
            <p:ph idx="1"/>
            <p:extLst>
              <p:ext uri="{D42A27DB-BD31-4B8C-83A1-F6EECF244321}">
                <p14:modId xmlns:p14="http://schemas.microsoft.com/office/powerpoint/2010/main" val="1218045909"/>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886786460"/>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Hands-On with GitHub Copilot</a:t>
            </a:r>
          </a:p>
        </p:txBody>
      </p:sp>
      <p:sp>
        <p:nvSpPr>
          <p:cNvPr id="3" name="Content Placeholder 2"/>
          <p:cNvSpPr>
            <a:spLocks noGrp="1"/>
          </p:cNvSpPr>
          <p:nvPr>
            <p:ph idx="1"/>
          </p:nvPr>
        </p:nvSpPr>
        <p:spPr/>
        <p:txBody>
          <a:bodyPr/>
          <a:lstStyle/>
          <a:p>
            <a:pPr lvl="0"/>
            <a:r>
              <a:rPr dirty="0"/>
              <a:t>Installation and configuration</a:t>
            </a:r>
          </a:p>
          <a:p>
            <a:pPr lvl="1"/>
            <a:r>
              <a:rPr dirty="0"/>
              <a:t>Installing the extension</a:t>
            </a:r>
          </a:p>
          <a:p>
            <a:pPr lvl="1"/>
            <a:r>
              <a:rPr dirty="0"/>
              <a:t>Setting up authentication</a:t>
            </a:r>
          </a:p>
          <a:p>
            <a:pPr lvl="1"/>
            <a:r>
              <a:rPr dirty="0"/>
              <a:t>Configuring settings</a:t>
            </a:r>
          </a:p>
          <a:p>
            <a:pPr lvl="0"/>
            <a:r>
              <a:rPr dirty="0"/>
              <a:t>Sharing configuration across an organization</a:t>
            </a:r>
          </a:p>
          <a:p>
            <a:pPr lvl="1"/>
            <a:r>
              <a:rPr dirty="0"/>
              <a:t>Shared configuration templates (e.g., .copilot/</a:t>
            </a:r>
            <a:r>
              <a:rPr dirty="0" err="1"/>
              <a:t>settings.json</a:t>
            </a:r>
            <a:r>
              <a:rPr dirty="0"/>
              <a:t>) can be distributed across projects to standardize behavior.</a:t>
            </a:r>
          </a:p>
        </p:txBody>
      </p:sp>
    </p:spTree>
  </p:cSld>
  <p:clrMapOvr>
    <a:masterClrMapping/>
  </p:clrMapOvr>
  <p:transition>
    <p:fade/>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A53240-B859-31D6-6B9C-0848F31FEE84}"/>
              </a:ext>
            </a:extLst>
          </p:cNvPr>
          <p:cNvSpPr>
            <a:spLocks noGrp="1"/>
          </p:cNvSpPr>
          <p:nvPr>
            <p:ph type="title"/>
          </p:nvPr>
        </p:nvSpPr>
        <p:spPr/>
        <p:txBody>
          <a:bodyPr>
            <a:noAutofit/>
          </a:bodyPr>
          <a:lstStyle/>
          <a:p>
            <a:r>
              <a:rPr lang="en-US" sz="2000" dirty="0"/>
              <a:t>Lab: Getting Started with GitHub Copilot</a:t>
            </a:r>
          </a:p>
        </p:txBody>
      </p:sp>
      <p:sp>
        <p:nvSpPr>
          <p:cNvPr id="3" name="Content Placeholder 2">
            <a:extLst>
              <a:ext uri="{FF2B5EF4-FFF2-40B4-BE49-F238E27FC236}">
                <a16:creationId xmlns:a16="http://schemas.microsoft.com/office/drawing/2014/main" id="{0D77E06A-A98C-5A6F-2203-AD384D1D1792}"/>
              </a:ext>
            </a:extLst>
          </p:cNvPr>
          <p:cNvSpPr>
            <a:spLocks noGrp="1"/>
          </p:cNvSpPr>
          <p:nvPr>
            <p:ph idx="1"/>
          </p:nvPr>
        </p:nvSpPr>
        <p:spPr/>
        <p:txBody>
          <a:bodyPr numCol="2">
            <a:normAutofit fontScale="62500" lnSpcReduction="20000"/>
          </a:bodyPr>
          <a:lstStyle/>
          <a:p>
            <a:pPr marL="0" indent="0">
              <a:buNone/>
            </a:pPr>
            <a:r>
              <a:rPr lang="en-US" b="1" dirty="0"/>
              <a:t>Duration:</a:t>
            </a:r>
            <a:r>
              <a:rPr lang="en-US" dirty="0"/>
              <a:t> Follow along</a:t>
            </a:r>
          </a:p>
          <a:p>
            <a:pPr marL="0" indent="0">
              <a:buNone/>
            </a:pPr>
            <a:endParaRPr lang="en-US" dirty="0"/>
          </a:p>
          <a:p>
            <a:pPr marL="0" indent="0">
              <a:buNone/>
            </a:pPr>
            <a:r>
              <a:rPr lang="en-US" b="1" dirty="0"/>
              <a:t>Objectives</a:t>
            </a:r>
          </a:p>
          <a:p>
            <a:r>
              <a:rPr lang="en-US" dirty="0"/>
              <a:t>Install and configure GitHub Copilot</a:t>
            </a:r>
          </a:p>
          <a:p>
            <a:r>
              <a:rPr lang="en-US" dirty="0"/>
              <a:t>Verify authentication with GitHub account</a:t>
            </a:r>
          </a:p>
          <a:p>
            <a:r>
              <a:rPr lang="en-US" dirty="0"/>
              <a:t>Explore the Copilot UI components</a:t>
            </a:r>
          </a:p>
          <a:p>
            <a:endParaRPr lang="en-US" dirty="0"/>
          </a:p>
          <a:p>
            <a:pPr marL="0" indent="0">
              <a:buNone/>
            </a:pPr>
            <a:r>
              <a:rPr lang="en-US" b="1" dirty="0"/>
              <a:t>Activities</a:t>
            </a:r>
            <a:endParaRPr lang="en-US" dirty="0"/>
          </a:p>
          <a:p>
            <a:pPr marL="457200" indent="-457200">
              <a:buFont typeface="+mj-lt"/>
              <a:buAutoNum type="arabicPeriod"/>
            </a:pPr>
            <a:r>
              <a:rPr lang="en-US" dirty="0"/>
              <a:t>Install GitHub Copilot extension from VS Code marketplace</a:t>
            </a:r>
          </a:p>
          <a:p>
            <a:pPr marL="457200" indent="-457200">
              <a:buFont typeface="+mj-lt"/>
              <a:buAutoNum type="arabicPeriod"/>
            </a:pPr>
            <a:r>
              <a:rPr lang="en-US" dirty="0"/>
              <a:t>Sign in with your GitHub account (verify Copilot subscription)</a:t>
            </a:r>
          </a:p>
          <a:p>
            <a:pPr marL="457200" indent="-457200">
              <a:buFont typeface="+mj-lt"/>
              <a:buAutoNum type="arabicPeriod"/>
            </a:pPr>
            <a:r>
              <a:rPr lang="en-US" dirty="0"/>
              <a:t>Locate and explore:</a:t>
            </a:r>
          </a:p>
          <a:p>
            <a:pPr lvl="1"/>
            <a:r>
              <a:rPr lang="en-US" dirty="0"/>
              <a:t>Chat window and chat history</a:t>
            </a:r>
          </a:p>
          <a:p>
            <a:pPr lvl="1"/>
            <a:r>
              <a:rPr lang="en-US" dirty="0"/>
              <a:t>New chat button</a:t>
            </a:r>
          </a:p>
          <a:p>
            <a:pPr lvl="1"/>
            <a:r>
              <a:rPr lang="en-US" dirty="0"/>
              <a:t>Quick chat feature (keyboard shortcut)</a:t>
            </a:r>
          </a:p>
          <a:p>
            <a:pPr lvl="1"/>
            <a:r>
              <a:rPr lang="en-US" dirty="0"/>
              <a:t>Settings menu</a:t>
            </a:r>
          </a:p>
          <a:p>
            <a:pPr lvl="1"/>
            <a:r>
              <a:rPr lang="en-US" dirty="0"/>
              <a:t>Model selection dropdown</a:t>
            </a:r>
          </a:p>
          <a:p>
            <a:pPr marL="342900" indent="-342900">
              <a:buFont typeface="+mj-lt"/>
              <a:buAutoNum type="arabicPeriod"/>
            </a:pPr>
            <a:r>
              <a:rPr lang="en-US" dirty="0"/>
              <a:t>Check your premium token usage bar</a:t>
            </a:r>
          </a:p>
          <a:p>
            <a:pPr marL="342900" indent="-342900">
              <a:buFont typeface="+mj-lt"/>
              <a:buAutoNum type="arabicPeriod"/>
            </a:pPr>
            <a:r>
              <a:rPr lang="en-US" dirty="0"/>
              <a:t>Create a new chat and experiment with the interface</a:t>
            </a:r>
          </a:p>
          <a:p>
            <a:pPr marL="0" indent="0">
              <a:buNone/>
            </a:pPr>
            <a:endParaRPr lang="en-US" dirty="0"/>
          </a:p>
          <a:p>
            <a:pPr marL="0" indent="0">
              <a:buNone/>
            </a:pPr>
            <a:r>
              <a:rPr lang="en-US" b="1" dirty="0"/>
              <a:t>Success Criteria</a:t>
            </a:r>
          </a:p>
          <a:p>
            <a:pPr lvl="1"/>
            <a:r>
              <a:rPr lang="en-US" dirty="0"/>
              <a:t>Copilot extension installed and authenticated</a:t>
            </a:r>
          </a:p>
          <a:p>
            <a:pPr lvl="1"/>
            <a:r>
              <a:rPr lang="en-US" dirty="0"/>
              <a:t>Can open/close chat windows</a:t>
            </a:r>
          </a:p>
          <a:p>
            <a:pPr lvl="1"/>
            <a:r>
              <a:rPr lang="en-US" dirty="0"/>
              <a:t>Understand difference between main chat and quick chat</a:t>
            </a:r>
          </a:p>
          <a:p>
            <a:pPr lvl="1"/>
            <a:r>
              <a:rPr lang="en-US" dirty="0"/>
              <a:t>Know where to find chat history</a:t>
            </a:r>
          </a:p>
          <a:p>
            <a:endParaRPr lang="en-US" dirty="0"/>
          </a:p>
        </p:txBody>
      </p:sp>
    </p:spTree>
    <p:extLst>
      <p:ext uri="{BB962C8B-B14F-4D97-AF65-F5344CB8AC3E}">
        <p14:creationId xmlns:p14="http://schemas.microsoft.com/office/powerpoint/2010/main" val="1489193898"/>
      </p:ext>
    </p:extLst>
  </p:cSld>
  <p:clrMapOvr>
    <a:masterClrMapping/>
  </p:clrMapOvr>
  <p:transition>
    <p:fade/>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9B1476-D9E5-ECB4-62C7-95118416E883}"/>
              </a:ext>
            </a:extLst>
          </p:cNvPr>
          <p:cNvSpPr>
            <a:spLocks noGrp="1"/>
          </p:cNvSpPr>
          <p:nvPr>
            <p:ph type="title"/>
          </p:nvPr>
        </p:nvSpPr>
        <p:spPr/>
        <p:txBody>
          <a:bodyPr>
            <a:noAutofit/>
          </a:bodyPr>
          <a:lstStyle/>
          <a:p>
            <a:r>
              <a:rPr lang="en-US" sz="2000" dirty="0"/>
              <a:t>Lab: Understanding Context Management</a:t>
            </a:r>
          </a:p>
        </p:txBody>
      </p:sp>
      <p:sp>
        <p:nvSpPr>
          <p:cNvPr id="3" name="Content Placeholder 2">
            <a:extLst>
              <a:ext uri="{FF2B5EF4-FFF2-40B4-BE49-F238E27FC236}">
                <a16:creationId xmlns:a16="http://schemas.microsoft.com/office/drawing/2014/main" id="{394FA5E8-1BBD-A630-956D-BBF09A9A2C1A}"/>
              </a:ext>
            </a:extLst>
          </p:cNvPr>
          <p:cNvSpPr>
            <a:spLocks noGrp="1"/>
          </p:cNvSpPr>
          <p:nvPr>
            <p:ph idx="1"/>
          </p:nvPr>
        </p:nvSpPr>
        <p:spPr/>
        <p:txBody>
          <a:bodyPr numCol="2">
            <a:normAutofit fontScale="47500" lnSpcReduction="20000"/>
          </a:bodyPr>
          <a:lstStyle/>
          <a:p>
            <a:pPr marL="0" indent="0">
              <a:buNone/>
            </a:pPr>
            <a:r>
              <a:rPr lang="en-US" b="1" dirty="0"/>
              <a:t>Duration:</a:t>
            </a:r>
            <a:r>
              <a:rPr lang="en-US" dirty="0"/>
              <a:t> Follow along</a:t>
            </a:r>
          </a:p>
          <a:p>
            <a:endParaRPr lang="en-US" dirty="0"/>
          </a:p>
          <a:p>
            <a:pPr marL="0" indent="0">
              <a:buNone/>
            </a:pPr>
            <a:r>
              <a:rPr lang="en-US" b="1" dirty="0"/>
              <a:t>Objectives</a:t>
            </a:r>
            <a:endParaRPr lang="en-US" dirty="0"/>
          </a:p>
          <a:p>
            <a:r>
              <a:rPr lang="en-US" dirty="0"/>
              <a:t>Learn to add context using @ symbols</a:t>
            </a:r>
          </a:p>
          <a:p>
            <a:r>
              <a:rPr lang="en-US" dirty="0"/>
              <a:t>Understand context window limitations</a:t>
            </a:r>
          </a:p>
          <a:p>
            <a:r>
              <a:rPr lang="en-US" dirty="0"/>
              <a:t>Practice writing effective prompts</a:t>
            </a:r>
          </a:p>
          <a:p>
            <a:endParaRPr lang="en-US" dirty="0"/>
          </a:p>
          <a:p>
            <a:pPr marL="0" indent="0">
              <a:buNone/>
            </a:pPr>
            <a:r>
              <a:rPr lang="en-US" b="1" dirty="0"/>
              <a:t>Activities</a:t>
            </a:r>
            <a:endParaRPr lang="en-US" dirty="0"/>
          </a:p>
          <a:p>
            <a:pPr marL="0" indent="0">
              <a:buNone/>
            </a:pPr>
            <a:r>
              <a:rPr lang="en-US" b="1" dirty="0"/>
              <a:t>1. Basic Context Addition:</a:t>
            </a:r>
            <a:endParaRPr lang="en-US" dirty="0"/>
          </a:p>
          <a:p>
            <a:r>
              <a:rPr lang="en-US" dirty="0"/>
              <a:t>Use `@workspace` to search across your codebase</a:t>
            </a:r>
          </a:p>
          <a:p>
            <a:r>
              <a:rPr lang="en-US" dirty="0"/>
              <a:t>Use `@file` to reference specific files</a:t>
            </a:r>
          </a:p>
          <a:p>
            <a:r>
              <a:rPr lang="en-US" dirty="0"/>
              <a:t> Use `@terminal` to include terminal output in chat</a:t>
            </a:r>
          </a:p>
          <a:p>
            <a:r>
              <a:rPr lang="en-US" dirty="0"/>
              <a:t>Use `@</a:t>
            </a:r>
            <a:r>
              <a:rPr lang="en-US" dirty="0" err="1"/>
              <a:t>vscode</a:t>
            </a:r>
            <a:r>
              <a:rPr lang="en-US" dirty="0"/>
              <a:t>` to ask VS Code-specific questions</a:t>
            </a:r>
            <a:br>
              <a:rPr lang="en-US" dirty="0"/>
            </a:br>
            <a:endParaRPr lang="en-US" dirty="0"/>
          </a:p>
          <a:p>
            <a:pPr marL="0" indent="0">
              <a:buNone/>
            </a:pPr>
            <a:r>
              <a:rPr lang="en-US" b="1" dirty="0"/>
              <a:t>2. Prompt Practice:</a:t>
            </a:r>
            <a:endParaRPr lang="en-US" dirty="0"/>
          </a:p>
          <a:p>
            <a:r>
              <a:rPr lang="en-US" dirty="0"/>
              <a:t>Write a vague prompt, observe results</a:t>
            </a:r>
          </a:p>
          <a:p>
            <a:r>
              <a:rPr lang="en-US" dirty="0"/>
              <a:t> Rewrite with specific context, compare results</a:t>
            </a:r>
          </a:p>
          <a:p>
            <a:r>
              <a:rPr lang="en-US" dirty="0"/>
              <a:t>Add file references to improve accuracy</a:t>
            </a:r>
            <a:br>
              <a:rPr lang="en-US" dirty="0"/>
            </a:br>
            <a:endParaRPr lang="en-US" dirty="0"/>
          </a:p>
          <a:p>
            <a:pPr marL="0" indent="0">
              <a:buNone/>
            </a:pPr>
            <a:r>
              <a:rPr lang="en-US" b="1" dirty="0"/>
              <a:t>3. Context Window Experiment:</a:t>
            </a:r>
            <a:endParaRPr lang="en-US" dirty="0"/>
          </a:p>
          <a:p>
            <a:r>
              <a:rPr lang="en-US" dirty="0"/>
              <a:t>Start a long conversation in one chat</a:t>
            </a:r>
          </a:p>
          <a:p>
            <a:r>
              <a:rPr lang="en-US" dirty="0"/>
              <a:t>Notice when Copilot starts "forgetting" earlier context</a:t>
            </a:r>
          </a:p>
          <a:p>
            <a:r>
              <a:rPr lang="en-US" dirty="0"/>
              <a:t>Practice starting new chats for new topics</a:t>
            </a:r>
            <a:br>
              <a:rPr lang="en-US" dirty="0"/>
            </a:br>
            <a:endParaRPr lang="en-US" dirty="0"/>
          </a:p>
          <a:p>
            <a:pPr marL="0" indent="0">
              <a:buNone/>
            </a:pPr>
            <a:r>
              <a:rPr lang="en-US" b="1" dirty="0"/>
              <a:t>Success Criteria</a:t>
            </a:r>
            <a:endParaRPr lang="en-US" dirty="0"/>
          </a:p>
          <a:p>
            <a:r>
              <a:rPr lang="en-US" dirty="0"/>
              <a:t>Can use all @ context types</a:t>
            </a:r>
          </a:p>
          <a:p>
            <a:r>
              <a:rPr lang="en-US" dirty="0"/>
              <a:t>Understand when to start fresh chat sessions</a:t>
            </a:r>
          </a:p>
          <a:p>
            <a:r>
              <a:rPr lang="en-US" dirty="0"/>
              <a:t>Notice quality difference between vague and specific prompts</a:t>
            </a:r>
          </a:p>
          <a:p>
            <a:pPr marL="0" indent="0">
              <a:buNone/>
            </a:pPr>
            <a:endParaRPr lang="en-US" dirty="0"/>
          </a:p>
        </p:txBody>
      </p:sp>
    </p:spTree>
    <p:extLst>
      <p:ext uri="{BB962C8B-B14F-4D97-AF65-F5344CB8AC3E}">
        <p14:creationId xmlns:p14="http://schemas.microsoft.com/office/powerpoint/2010/main" val="2325275460"/>
      </p:ext>
    </p:extLst>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3EF343-193F-08DB-457F-30FFFCC076BF}"/>
              </a:ext>
            </a:extLst>
          </p:cNvPr>
          <p:cNvSpPr>
            <a:spLocks noGrp="1"/>
          </p:cNvSpPr>
          <p:nvPr>
            <p:ph type="title"/>
          </p:nvPr>
        </p:nvSpPr>
        <p:spPr/>
        <p:txBody>
          <a:bodyPr>
            <a:noAutofit/>
          </a:bodyPr>
          <a:lstStyle/>
          <a:p>
            <a:r>
              <a:rPr lang="en-US" sz="2400" dirty="0"/>
              <a:t>Lab: Chat Management &amp; Workflow</a:t>
            </a:r>
          </a:p>
        </p:txBody>
      </p:sp>
      <p:sp>
        <p:nvSpPr>
          <p:cNvPr id="3" name="Content Placeholder 2">
            <a:extLst>
              <a:ext uri="{FF2B5EF4-FFF2-40B4-BE49-F238E27FC236}">
                <a16:creationId xmlns:a16="http://schemas.microsoft.com/office/drawing/2014/main" id="{069F62B3-DBAB-B622-DDAD-1B2955AF0273}"/>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20-30 minutes</a:t>
            </a:r>
            <a:br>
              <a:rPr lang="en-US" dirty="0"/>
            </a:br>
            <a:endParaRPr lang="en-US" dirty="0"/>
          </a:p>
          <a:p>
            <a:pPr marL="0" indent="0">
              <a:buNone/>
            </a:pPr>
            <a:r>
              <a:rPr lang="en-US" b="1" dirty="0"/>
              <a:t>Objectives</a:t>
            </a:r>
            <a:br>
              <a:rPr lang="en-US" dirty="0"/>
            </a:br>
            <a:endParaRPr lang="en-US" dirty="0"/>
          </a:p>
          <a:p>
            <a:pPr lvl="1"/>
            <a:r>
              <a:rPr lang="en-US" dirty="0"/>
              <a:t>Organize chat sessions effectively</a:t>
            </a:r>
          </a:p>
          <a:p>
            <a:pPr lvl="1"/>
            <a:r>
              <a:rPr lang="en-US" dirty="0"/>
              <a:t>Use chat history for reference</a:t>
            </a:r>
          </a:p>
          <a:p>
            <a:pPr lvl="1"/>
            <a:r>
              <a:rPr lang="en-US" dirty="0"/>
              <a:t>Develop efficient workflow patterns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Chat Organization:</a:t>
            </a:r>
            <a:br>
              <a:rPr lang="en-US" dirty="0"/>
            </a:br>
            <a:endParaRPr lang="en-US" dirty="0"/>
          </a:p>
          <a:p>
            <a:pPr lvl="1"/>
            <a:r>
              <a:rPr lang="en-US" dirty="0"/>
              <a:t>Review your chat history</a:t>
            </a:r>
          </a:p>
          <a:p>
            <a:pPr lvl="1"/>
            <a:r>
              <a:rPr lang="en-US" dirty="0"/>
              <a:t>Identify chats that should have been separate sessions</a:t>
            </a:r>
          </a:p>
          <a:p>
            <a:pPr lvl="1"/>
            <a:r>
              <a:rPr lang="en-US" dirty="0"/>
              <a:t>Practice starting new chats at appropriate times</a:t>
            </a:r>
            <a:br>
              <a:rPr lang="en-US" dirty="0"/>
            </a:br>
            <a:endParaRPr lang="en-US" dirty="0"/>
          </a:p>
          <a:p>
            <a:pPr marL="0" indent="0">
              <a:buNone/>
            </a:pPr>
            <a:r>
              <a:rPr lang="en-US" dirty="0"/>
              <a:t>2. </a:t>
            </a:r>
            <a:r>
              <a:rPr lang="en-US" b="1" dirty="0"/>
              <a:t>Context Preservation:</a:t>
            </a:r>
            <a:br>
              <a:rPr lang="en-US" dirty="0"/>
            </a:br>
            <a:endParaRPr lang="en-US" dirty="0"/>
          </a:p>
          <a:p>
            <a:pPr lvl="1"/>
            <a:r>
              <a:rPr lang="en-US" dirty="0"/>
              <a:t>Start a focused chat for one feature</a:t>
            </a:r>
          </a:p>
          <a:p>
            <a:pPr lvl="1"/>
            <a:r>
              <a:rPr lang="en-US" dirty="0"/>
              <a:t>Add relevant context systematically</a:t>
            </a:r>
          </a:p>
          <a:p>
            <a:pPr lvl="1"/>
            <a:r>
              <a:rPr lang="en-US" dirty="0"/>
              <a:t>Complete task without context overflow</a:t>
            </a:r>
            <a:br>
              <a:rPr lang="en-US" dirty="0"/>
            </a:br>
            <a:endParaRPr lang="en-US" dirty="0"/>
          </a:p>
          <a:p>
            <a:pPr marL="0" indent="0">
              <a:buNone/>
            </a:pPr>
            <a:r>
              <a:rPr lang="en-US" dirty="0"/>
              <a:t>3. </a:t>
            </a:r>
            <a:r>
              <a:rPr lang="en-US" b="1" dirty="0"/>
              <a:t>Quick Chat Practice:</a:t>
            </a:r>
            <a:br>
              <a:rPr lang="en-US" dirty="0"/>
            </a:br>
            <a:endParaRPr lang="en-US" dirty="0"/>
          </a:p>
          <a:p>
            <a:pPr lvl="1"/>
            <a:r>
              <a:rPr lang="en-US" dirty="0"/>
              <a:t>Use main chat for primary task</a:t>
            </a:r>
          </a:p>
          <a:p>
            <a:pPr lvl="1"/>
            <a:r>
              <a:rPr lang="en-US" dirty="0"/>
              <a:t>Use quick chat for side questions</a:t>
            </a:r>
          </a:p>
          <a:p>
            <a:pPr lvl="1"/>
            <a:r>
              <a:rPr lang="en-US" dirty="0"/>
              <a:t>Return to main chat without losing context</a:t>
            </a:r>
            <a:br>
              <a:rPr lang="en-US" dirty="0"/>
            </a:br>
            <a:endParaRPr lang="en-US" dirty="0"/>
          </a:p>
          <a:p>
            <a:pPr marL="0" indent="0">
              <a:buNone/>
            </a:pPr>
            <a:r>
              <a:rPr lang="en-US" dirty="0"/>
              <a:t>4. </a:t>
            </a:r>
            <a:r>
              <a:rPr lang="en-US" b="1" dirty="0"/>
              <a:t>Chat History Review:</a:t>
            </a:r>
            <a:endParaRPr lang="en-US" dirty="0"/>
          </a:p>
          <a:p>
            <a:pPr lvl="1"/>
            <a:r>
              <a:rPr lang="en-US" dirty="0"/>
              <a:t>Find and reference previous solutions</a:t>
            </a:r>
          </a:p>
          <a:p>
            <a:pPr lvl="1"/>
            <a:r>
              <a:rPr lang="en-US" dirty="0"/>
              <a:t>Learn from past prompts that worked well</a:t>
            </a:r>
          </a:p>
          <a:p>
            <a:pPr lvl="1"/>
            <a:r>
              <a:rPr lang="en-US" dirty="0"/>
              <a:t>Identify patterns in effective conversations</a:t>
            </a:r>
            <a:br>
              <a:rPr lang="en-US" dirty="0"/>
            </a:br>
            <a:endParaRPr lang="en-US" dirty="0"/>
          </a:p>
          <a:p>
            <a:pPr marL="0" indent="0">
              <a:buNone/>
            </a:pPr>
            <a:r>
              <a:rPr lang="en-US" b="1" dirty="0"/>
              <a:t>Success Criteria</a:t>
            </a:r>
            <a:br>
              <a:rPr lang="en-US" dirty="0"/>
            </a:br>
            <a:endParaRPr lang="en-US" dirty="0"/>
          </a:p>
          <a:p>
            <a:pPr lvl="1"/>
            <a:r>
              <a:rPr lang="en-US" dirty="0"/>
              <a:t>Chat history is organized and meaningful</a:t>
            </a:r>
          </a:p>
          <a:p>
            <a:pPr lvl="1"/>
            <a:r>
              <a:rPr lang="en-US" dirty="0"/>
              <a:t>Can find and reference previous solutions</a:t>
            </a:r>
          </a:p>
          <a:p>
            <a:pPr lvl="1"/>
            <a:r>
              <a:rPr lang="en-US" dirty="0"/>
              <a:t>Efficient workflow developed for using multiple chat windows</a:t>
            </a:r>
            <a:br>
              <a:rPr lang="en-US" dirty="0"/>
            </a:br>
            <a:endParaRPr lang="en-US" dirty="0"/>
          </a:p>
          <a:p>
            <a:pPr marL="0" indent="0">
              <a:buNone/>
            </a:pPr>
            <a:r>
              <a:rPr lang="en-US" b="1" dirty="0"/>
              <a:t>Context Window Management</a:t>
            </a:r>
            <a:br>
              <a:rPr lang="en-US" dirty="0"/>
            </a:br>
            <a:endParaRPr lang="en-US" dirty="0"/>
          </a:p>
          <a:p>
            <a:pPr lvl="1"/>
            <a:r>
              <a:rPr lang="en-US" dirty="0"/>
              <a:t>Remember from the session:</a:t>
            </a:r>
            <a:br>
              <a:rPr lang="en-US" dirty="0"/>
            </a:br>
            <a:endParaRPr lang="en-US" dirty="0"/>
          </a:p>
          <a:p>
            <a:pPr lvl="2"/>
            <a:r>
              <a:rPr lang="en-US" dirty="0"/>
              <a:t>Context is a </a:t>
            </a:r>
            <a:r>
              <a:rPr lang="en-US" b="1" dirty="0"/>
              <a:t>**limited resource**</a:t>
            </a:r>
            <a:endParaRPr lang="en-US" dirty="0"/>
          </a:p>
          <a:p>
            <a:pPr lvl="2"/>
            <a:r>
              <a:rPr lang="en-US" dirty="0"/>
              <a:t>Start new chat when changing focus areas</a:t>
            </a:r>
          </a:p>
          <a:p>
            <a:pPr lvl="2"/>
            <a:r>
              <a:rPr lang="en-US" dirty="0"/>
              <a:t>Keep conversations targeted and specific</a:t>
            </a:r>
          </a:p>
          <a:p>
            <a:pPr lvl="2"/>
            <a:r>
              <a:rPr lang="en-US" dirty="0"/>
              <a:t>When Copilot "forgets" earlier context, it's time for a new session</a:t>
            </a:r>
          </a:p>
        </p:txBody>
      </p:sp>
    </p:spTree>
    <p:extLst>
      <p:ext uri="{BB962C8B-B14F-4D97-AF65-F5344CB8AC3E}">
        <p14:creationId xmlns:p14="http://schemas.microsoft.com/office/powerpoint/2010/main" val="1780068362"/>
      </p:ext>
    </p:extLst>
  </p:cSld>
  <p:clrMapOvr>
    <a:masterClrMapping/>
  </p:clrMapOvr>
  <p:transition>
    <p:fade/>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t>Using Copilot in different modes</a:t>
            </a:r>
          </a:p>
        </p:txBody>
      </p:sp>
      <p:sp>
        <p:nvSpPr>
          <p:cNvPr id="3" name="Content Placeholder 2"/>
          <p:cNvSpPr>
            <a:spLocks noGrp="1"/>
          </p:cNvSpPr>
          <p:nvPr>
            <p:ph idx="1"/>
          </p:nvPr>
        </p:nvSpPr>
        <p:spPr/>
        <p:txBody>
          <a:bodyPr/>
          <a:lstStyle/>
          <a:p>
            <a:pPr lvl="0"/>
            <a:r>
              <a:rPr dirty="0"/>
              <a:t>Ask Mode</a:t>
            </a:r>
          </a:p>
          <a:p>
            <a:pPr lvl="1"/>
            <a:r>
              <a:rPr lang="en-US" dirty="0"/>
              <a:t>Simple prompt completion and inline suggestions </a:t>
            </a:r>
          </a:p>
          <a:p>
            <a:pPr lvl="0"/>
            <a:r>
              <a:rPr dirty="0"/>
              <a:t>Edit Mode</a:t>
            </a:r>
            <a:endParaRPr lang="en-US" dirty="0"/>
          </a:p>
          <a:p>
            <a:pPr lvl="1"/>
            <a:r>
              <a:rPr lang="en-US" dirty="0"/>
              <a:t>Automatic file edits</a:t>
            </a:r>
          </a:p>
          <a:p>
            <a:r>
              <a:rPr lang="en-US" dirty="0"/>
              <a:t>Agent Mode</a:t>
            </a:r>
          </a:p>
          <a:p>
            <a:pPr lvl="1"/>
            <a:r>
              <a:rPr lang="en-US" dirty="0"/>
              <a:t>Perform actions on your behalf</a:t>
            </a:r>
          </a:p>
          <a:p>
            <a:r>
              <a:rPr lang="en-US" dirty="0"/>
              <a:t>Custom Modes</a:t>
            </a:r>
          </a:p>
          <a:p>
            <a:pPr lvl="1"/>
            <a:r>
              <a:rPr lang="en-US" dirty="0"/>
              <a:t>Execute specific workflows</a:t>
            </a:r>
          </a:p>
          <a:p>
            <a:pPr lvl="1"/>
            <a:endParaRPr dirty="0"/>
          </a:p>
        </p:txBody>
      </p:sp>
    </p:spTree>
  </p:cSld>
  <p:clrMapOvr>
    <a:masterClrMapping/>
  </p:clrMapOvr>
  <p:transition>
    <p:fade/>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EAA42-C06B-CB63-0798-9082797F6BD5}"/>
              </a:ext>
            </a:extLst>
          </p:cNvPr>
          <p:cNvSpPr>
            <a:spLocks noGrp="1"/>
          </p:cNvSpPr>
          <p:nvPr>
            <p:ph type="title"/>
          </p:nvPr>
        </p:nvSpPr>
        <p:spPr/>
        <p:txBody>
          <a:bodyPr>
            <a:normAutofit/>
          </a:bodyPr>
          <a:lstStyle/>
          <a:p>
            <a:r>
              <a:rPr lang="en-US" sz="2000" dirty="0"/>
              <a:t>Lab: Exploring Copilot Modes</a:t>
            </a:r>
          </a:p>
        </p:txBody>
      </p:sp>
      <p:sp>
        <p:nvSpPr>
          <p:cNvPr id="3" name="Content Placeholder 2">
            <a:extLst>
              <a:ext uri="{FF2B5EF4-FFF2-40B4-BE49-F238E27FC236}">
                <a16:creationId xmlns:a16="http://schemas.microsoft.com/office/drawing/2014/main" id="{B2BF867C-A24D-C665-CB10-3F9E9E3775AE}"/>
              </a:ext>
            </a:extLst>
          </p:cNvPr>
          <p:cNvSpPr>
            <a:spLocks noGrp="1"/>
          </p:cNvSpPr>
          <p:nvPr>
            <p:ph idx="1"/>
          </p:nvPr>
        </p:nvSpPr>
        <p:spPr/>
        <p:txBody>
          <a:bodyPr numCol="2">
            <a:normAutofit fontScale="40000" lnSpcReduction="20000"/>
          </a:bodyPr>
          <a:lstStyle/>
          <a:p>
            <a:pPr marL="0" indent="0">
              <a:buNone/>
            </a:pPr>
            <a:r>
              <a:rPr lang="en-US" b="1" dirty="0"/>
              <a:t>Duration: Follow along</a:t>
            </a:r>
            <a:br>
              <a:rPr lang="en-US" dirty="0"/>
            </a:br>
            <a:endParaRPr lang="en-US" dirty="0"/>
          </a:p>
          <a:p>
            <a:pPr marL="0" indent="0">
              <a:buNone/>
            </a:pPr>
            <a:r>
              <a:rPr lang="en-US" b="1" dirty="0"/>
              <a:t>Objectives</a:t>
            </a:r>
            <a:endParaRPr lang="en-US" dirty="0"/>
          </a:p>
          <a:p>
            <a:r>
              <a:rPr lang="en-US" dirty="0"/>
              <a:t>Understand differences between Ask, Edit, and Agent modes</a:t>
            </a:r>
          </a:p>
          <a:p>
            <a:r>
              <a:rPr lang="en-US" dirty="0"/>
              <a:t>Know when to use each mode</a:t>
            </a:r>
          </a:p>
          <a:p>
            <a:r>
              <a:rPr lang="en-US" dirty="0"/>
              <a:t>Understand premium token implications</a:t>
            </a:r>
            <a:br>
              <a:rPr lang="en-US" dirty="0"/>
            </a:br>
            <a:endParaRPr lang="en-US" dirty="0"/>
          </a:p>
          <a:p>
            <a:pPr marL="0" indent="0">
              <a:buNone/>
            </a:pPr>
            <a:r>
              <a:rPr lang="en-US" b="1" dirty="0"/>
              <a:t>Activities</a:t>
            </a:r>
            <a:endParaRPr lang="en-US" dirty="0"/>
          </a:p>
          <a:p>
            <a:pPr marL="0" indent="0">
              <a:buNone/>
            </a:pPr>
            <a:r>
              <a:rPr lang="en-US" dirty="0"/>
              <a:t>1. </a:t>
            </a:r>
            <a:r>
              <a:rPr lang="en-US" b="1" dirty="0"/>
              <a:t>Ask Mode:</a:t>
            </a:r>
            <a:endParaRPr lang="en-US" dirty="0"/>
          </a:p>
          <a:p>
            <a:r>
              <a:rPr lang="en-US" dirty="0"/>
              <a:t>Ask Copilot to explain a code snippet (no changes made)</a:t>
            </a:r>
          </a:p>
          <a:p>
            <a:r>
              <a:rPr lang="en-US" dirty="0"/>
              <a:t>Request multiple implementation approaches</a:t>
            </a:r>
          </a:p>
          <a:p>
            <a:r>
              <a:rPr lang="en-US" dirty="0"/>
              <a:t>Try different models and observe response quality</a:t>
            </a:r>
          </a:p>
          <a:p>
            <a:r>
              <a:rPr lang="en-US" b="1" dirty="0"/>
              <a:t>Note: </a:t>
            </a:r>
            <a:r>
              <a:rPr lang="en-US" dirty="0"/>
              <a:t>This doesn't consume premium tokens for advanced models</a:t>
            </a:r>
          </a:p>
          <a:p>
            <a:endParaRPr lang="en-US" dirty="0"/>
          </a:p>
          <a:p>
            <a:pPr marL="0" indent="0">
              <a:buNone/>
            </a:pPr>
            <a:r>
              <a:rPr lang="en-US" dirty="0"/>
              <a:t>2. </a:t>
            </a:r>
            <a:r>
              <a:rPr lang="en-US" b="1" dirty="0"/>
              <a:t>Edit Mode:</a:t>
            </a:r>
            <a:endParaRPr lang="en-US" dirty="0"/>
          </a:p>
          <a:p>
            <a:r>
              <a:rPr lang="en-US" dirty="0"/>
              <a:t>Select code in a file</a:t>
            </a:r>
          </a:p>
          <a:p>
            <a:r>
              <a:rPr lang="en-US" dirty="0"/>
              <a:t>Ask Copilot to refactor it</a:t>
            </a:r>
          </a:p>
          <a:p>
            <a:r>
              <a:rPr lang="en-US" dirty="0"/>
              <a:t>Observe inline suggestions and changes</a:t>
            </a:r>
          </a:p>
          <a:p>
            <a:r>
              <a:rPr lang="en-US" dirty="0"/>
              <a:t>Accept or reject proposed changes</a:t>
            </a:r>
          </a:p>
          <a:p>
            <a:endParaRPr lang="en-US" dirty="0"/>
          </a:p>
          <a:p>
            <a:pPr marL="0" indent="0">
              <a:buNone/>
            </a:pPr>
            <a:r>
              <a:rPr lang="en-US" dirty="0"/>
              <a:t>3. </a:t>
            </a:r>
            <a:r>
              <a:rPr lang="en-US" b="1" dirty="0"/>
              <a:t>Agent Mode:</a:t>
            </a:r>
            <a:endParaRPr lang="en-US" dirty="0"/>
          </a:p>
          <a:p>
            <a:r>
              <a:rPr lang="en-US" dirty="0"/>
              <a:t>Ask Copilot to create a new file and add content</a:t>
            </a:r>
          </a:p>
          <a:p>
            <a:r>
              <a:rPr lang="en-US" dirty="0"/>
              <a:t>Request changes across multiple files</a:t>
            </a:r>
          </a:p>
          <a:p>
            <a:r>
              <a:rPr lang="en-US" dirty="0"/>
              <a:t>Have Copilot run terminal commands</a:t>
            </a:r>
          </a:p>
          <a:p>
            <a:r>
              <a:rPr lang="en-US" dirty="0"/>
              <a:t>Check premium token usage after agent actions</a:t>
            </a:r>
          </a:p>
          <a:p>
            <a:endParaRPr lang="en-US" dirty="0"/>
          </a:p>
          <a:p>
            <a:pPr marL="0" indent="0">
              <a:buNone/>
            </a:pPr>
            <a:r>
              <a:rPr lang="en-US" b="1" dirty="0"/>
              <a:t>Success Criteria</a:t>
            </a:r>
            <a:endParaRPr lang="en-US" dirty="0"/>
          </a:p>
          <a:p>
            <a:r>
              <a:rPr lang="en-US" dirty="0"/>
              <a:t>Can distinguish when to use each mode</a:t>
            </a:r>
          </a:p>
          <a:p>
            <a:r>
              <a:rPr lang="en-US" dirty="0"/>
              <a:t>Understand token consumption differences</a:t>
            </a:r>
          </a:p>
          <a:p>
            <a:r>
              <a:rPr lang="en-US" dirty="0"/>
              <a:t>Successfully use agent mode for multi-file operations</a:t>
            </a:r>
          </a:p>
        </p:txBody>
      </p:sp>
    </p:spTree>
    <p:extLst>
      <p:ext uri="{BB962C8B-B14F-4D97-AF65-F5344CB8AC3E}">
        <p14:creationId xmlns:p14="http://schemas.microsoft.com/office/powerpoint/2010/main" val="1697616965"/>
      </p:ext>
    </p:extLst>
  </p:cSld>
  <p:clrMapOvr>
    <a:masterClrMapping/>
  </p:clrMapOvr>
  <p:transition>
    <p:fade/>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4B1037-E3C9-620E-E508-CDA7B23E739F}"/>
              </a:ext>
            </a:extLst>
          </p:cNvPr>
          <p:cNvSpPr>
            <a:spLocks noGrp="1"/>
          </p:cNvSpPr>
          <p:nvPr>
            <p:ph type="title"/>
          </p:nvPr>
        </p:nvSpPr>
        <p:spPr/>
        <p:txBody>
          <a:bodyPr>
            <a:normAutofit fontScale="90000"/>
          </a:bodyPr>
          <a:lstStyle/>
          <a:p>
            <a:r>
              <a:rPr lang="en-US" dirty="0"/>
              <a:t>IDE Support for AI Assistance</a:t>
            </a:r>
          </a:p>
        </p:txBody>
      </p:sp>
      <p:sp>
        <p:nvSpPr>
          <p:cNvPr id="3" name="Content Placeholder 2">
            <a:extLst>
              <a:ext uri="{FF2B5EF4-FFF2-40B4-BE49-F238E27FC236}">
                <a16:creationId xmlns:a16="http://schemas.microsoft.com/office/drawing/2014/main" id="{58428250-A147-2BF6-46BB-FF145AF0B879}"/>
              </a:ext>
            </a:extLst>
          </p:cNvPr>
          <p:cNvSpPr>
            <a:spLocks noGrp="1"/>
          </p:cNvSpPr>
          <p:nvPr>
            <p:ph idx="1"/>
          </p:nvPr>
        </p:nvSpPr>
        <p:spPr/>
        <p:txBody>
          <a:bodyPr/>
          <a:lstStyle/>
          <a:p>
            <a:endParaRPr lang="en-US"/>
          </a:p>
        </p:txBody>
      </p:sp>
      <p:graphicFrame>
        <p:nvGraphicFramePr>
          <p:cNvPr id="4" name="Table 3">
            <a:extLst>
              <a:ext uri="{FF2B5EF4-FFF2-40B4-BE49-F238E27FC236}">
                <a16:creationId xmlns:a16="http://schemas.microsoft.com/office/drawing/2014/main" id="{1C7C87D1-6E27-71CC-6A0A-39B8AAC0CFED}"/>
              </a:ext>
            </a:extLst>
          </p:cNvPr>
          <p:cNvGraphicFramePr>
            <a:graphicFrameLocks noGrp="1"/>
          </p:cNvGraphicFramePr>
          <p:nvPr>
            <p:extLst>
              <p:ext uri="{D42A27DB-BD31-4B8C-83A1-F6EECF244321}">
                <p14:modId xmlns:p14="http://schemas.microsoft.com/office/powerpoint/2010/main" val="2572645929"/>
              </p:ext>
            </p:extLst>
          </p:nvPr>
        </p:nvGraphicFramePr>
        <p:xfrm>
          <a:off x="401541" y="964037"/>
          <a:ext cx="8173939" cy="3843553"/>
        </p:xfrm>
        <a:graphic>
          <a:graphicData uri="http://schemas.openxmlformats.org/drawingml/2006/table">
            <a:tbl>
              <a:tblPr firstRow="1" bandRow="1">
                <a:tableStyleId>{5C22544A-7EE6-4342-B048-85BDC9FD1C3A}</a:tableStyleId>
              </a:tblPr>
              <a:tblGrid>
                <a:gridCol w="1190379">
                  <a:extLst>
                    <a:ext uri="{9D8B030D-6E8A-4147-A177-3AD203B41FA5}">
                      <a16:colId xmlns:a16="http://schemas.microsoft.com/office/drawing/2014/main" val="20000"/>
                    </a:ext>
                  </a:extLst>
                </a:gridCol>
                <a:gridCol w="1745890">
                  <a:extLst>
                    <a:ext uri="{9D8B030D-6E8A-4147-A177-3AD203B41FA5}">
                      <a16:colId xmlns:a16="http://schemas.microsoft.com/office/drawing/2014/main" val="20001"/>
                    </a:ext>
                  </a:extLst>
                </a:gridCol>
                <a:gridCol w="1745890">
                  <a:extLst>
                    <a:ext uri="{9D8B030D-6E8A-4147-A177-3AD203B41FA5}">
                      <a16:colId xmlns:a16="http://schemas.microsoft.com/office/drawing/2014/main" val="20002"/>
                    </a:ext>
                  </a:extLst>
                </a:gridCol>
                <a:gridCol w="1745890">
                  <a:extLst>
                    <a:ext uri="{9D8B030D-6E8A-4147-A177-3AD203B41FA5}">
                      <a16:colId xmlns:a16="http://schemas.microsoft.com/office/drawing/2014/main" val="20003"/>
                    </a:ext>
                  </a:extLst>
                </a:gridCol>
                <a:gridCol w="1745890">
                  <a:extLst>
                    <a:ext uri="{9D8B030D-6E8A-4147-A177-3AD203B41FA5}">
                      <a16:colId xmlns:a16="http://schemas.microsoft.com/office/drawing/2014/main" val="20004"/>
                    </a:ext>
                  </a:extLst>
                </a:gridCol>
              </a:tblGrid>
              <a:tr h="229172">
                <a:tc>
                  <a:txBody>
                    <a:bodyPr/>
                    <a:lstStyle/>
                    <a:p>
                      <a:pPr algn="l">
                        <a:defRPr sz="1200" b="1"/>
                      </a:pPr>
                      <a:r>
                        <a:rPr sz="900"/>
                        <a:t>IDE / Editor</a:t>
                      </a:r>
                    </a:p>
                  </a:txBody>
                  <a:tcPr/>
                </a:tc>
                <a:tc>
                  <a:txBody>
                    <a:bodyPr/>
                    <a:lstStyle/>
                    <a:p>
                      <a:pPr algn="l">
                        <a:defRPr sz="1200" b="1"/>
                      </a:pPr>
                      <a:r>
                        <a:rPr sz="900"/>
                        <a:t>Built-In AI Features</a:t>
                      </a:r>
                    </a:p>
                  </a:txBody>
                  <a:tcPr/>
                </a:tc>
                <a:tc>
                  <a:txBody>
                    <a:bodyPr/>
                    <a:lstStyle/>
                    <a:p>
                      <a:pPr algn="l">
                        <a:defRPr sz="1200" b="1"/>
                      </a:pPr>
                      <a:r>
                        <a:rPr sz="900" dirty="0"/>
                        <a:t>Supported AI Assistants</a:t>
                      </a:r>
                    </a:p>
                  </a:txBody>
                  <a:tcPr/>
                </a:tc>
                <a:tc>
                  <a:txBody>
                    <a:bodyPr/>
                    <a:lstStyle/>
                    <a:p>
                      <a:pPr algn="l">
                        <a:defRPr sz="1200" b="1"/>
                      </a:pPr>
                      <a:r>
                        <a:rPr sz="900"/>
                        <a:t>Strengths</a:t>
                      </a:r>
                    </a:p>
                  </a:txBody>
                  <a:tcPr/>
                </a:tc>
                <a:tc>
                  <a:txBody>
                    <a:bodyPr/>
                    <a:lstStyle/>
                    <a:p>
                      <a:pPr algn="l">
                        <a:defRPr sz="1200" b="1"/>
                      </a:pPr>
                      <a:r>
                        <a:rPr sz="900" dirty="0"/>
                        <a:t>Limitations</a:t>
                      </a:r>
                    </a:p>
                  </a:txBody>
                  <a:tcPr/>
                </a:tc>
                <a:extLst>
                  <a:ext uri="{0D108BD9-81ED-4DB2-BD59-A6C34878D82A}">
                    <a16:rowId xmlns:a16="http://schemas.microsoft.com/office/drawing/2014/main" val="10000"/>
                  </a:ext>
                </a:extLst>
              </a:tr>
              <a:tr h="515879">
                <a:tc>
                  <a:txBody>
                    <a:bodyPr/>
                    <a:lstStyle/>
                    <a:p>
                      <a:pPr algn="l">
                        <a:defRPr sz="1100"/>
                      </a:pPr>
                      <a:r>
                        <a:rPr sz="800"/>
                        <a:t>VS Code</a:t>
                      </a:r>
                    </a:p>
                  </a:txBody>
                  <a:tcPr/>
                </a:tc>
                <a:tc>
                  <a:txBody>
                    <a:bodyPr/>
                    <a:lstStyle/>
                    <a:p>
                      <a:pPr algn="l">
                        <a:defRPr sz="1100"/>
                      </a:pPr>
                      <a:r>
                        <a:rPr sz="800"/>
                        <a:t>Deep AI integration through extensions; increasingly AI-first workflows</a:t>
                      </a:r>
                    </a:p>
                  </a:txBody>
                  <a:tcPr/>
                </a:tc>
                <a:tc>
                  <a:txBody>
                    <a:bodyPr/>
                    <a:lstStyle/>
                    <a:p>
                      <a:pPr algn="l">
                        <a:defRPr sz="1100"/>
                      </a:pPr>
                      <a:r>
                        <a:rPr sz="800"/>
                        <a:t>GitHub Copilot, Cline, ChatGPT-based extensions, Gemini integrations</a:t>
                      </a:r>
                    </a:p>
                  </a:txBody>
                  <a:tcPr/>
                </a:tc>
                <a:tc>
                  <a:txBody>
                    <a:bodyPr/>
                    <a:lstStyle/>
                    <a:p>
                      <a:pPr algn="l">
                        <a:defRPr sz="1100"/>
                      </a:pPr>
                      <a:r>
                        <a:rPr sz="800"/>
                        <a:t>Extremely flexible; huge ecosystem; top-tier AI support; widely adopted</a:t>
                      </a:r>
                    </a:p>
                  </a:txBody>
                  <a:tcPr/>
                </a:tc>
                <a:tc>
                  <a:txBody>
                    <a:bodyPr/>
                    <a:lstStyle/>
                    <a:p>
                      <a:pPr algn="l">
                        <a:defRPr sz="1100"/>
                      </a:pPr>
                      <a:r>
                        <a:rPr sz="800"/>
                        <a:t>Requires extension management; quality varies by plugin</a:t>
                      </a:r>
                    </a:p>
                  </a:txBody>
                  <a:tcPr/>
                </a:tc>
                <a:extLst>
                  <a:ext uri="{0D108BD9-81ED-4DB2-BD59-A6C34878D82A}">
                    <a16:rowId xmlns:a16="http://schemas.microsoft.com/office/drawing/2014/main" val="10001"/>
                  </a:ext>
                </a:extLst>
              </a:tr>
              <a:tr h="402386">
                <a:tc>
                  <a:txBody>
                    <a:bodyPr/>
                    <a:lstStyle/>
                    <a:p>
                      <a:pPr algn="l">
                        <a:defRPr sz="1100"/>
                      </a:pPr>
                      <a:r>
                        <a:rPr sz="800"/>
                        <a:t>Visual Studio (Windows)</a:t>
                      </a:r>
                    </a:p>
                  </a:txBody>
                  <a:tcPr/>
                </a:tc>
                <a:tc>
                  <a:txBody>
                    <a:bodyPr/>
                    <a:lstStyle/>
                    <a:p>
                      <a:pPr algn="l">
                        <a:defRPr sz="1100"/>
                      </a:pPr>
                      <a:r>
                        <a:rPr sz="800"/>
                        <a:t>Native GitHub Copilot integration; AI-powered IntelliCode</a:t>
                      </a:r>
                    </a:p>
                  </a:txBody>
                  <a:tcPr/>
                </a:tc>
                <a:tc>
                  <a:txBody>
                    <a:bodyPr/>
                    <a:lstStyle/>
                    <a:p>
                      <a:pPr algn="l">
                        <a:defRPr sz="1100"/>
                      </a:pPr>
                      <a:r>
                        <a:rPr sz="800"/>
                        <a:t>GitHub Copilot, IntelliCode</a:t>
                      </a:r>
                    </a:p>
                  </a:txBody>
                  <a:tcPr/>
                </a:tc>
                <a:tc>
                  <a:txBody>
                    <a:bodyPr/>
                    <a:lstStyle/>
                    <a:p>
                      <a:pPr algn="l">
                        <a:defRPr sz="1100"/>
                      </a:pPr>
                      <a:r>
                        <a:rPr sz="800"/>
                        <a:t>Strong enterprise + .NET support; excellent refactoring and debugging</a:t>
                      </a:r>
                    </a:p>
                  </a:txBody>
                  <a:tcPr/>
                </a:tc>
                <a:tc>
                  <a:txBody>
                    <a:bodyPr/>
                    <a:lstStyle/>
                    <a:p>
                      <a:pPr algn="l">
                        <a:defRPr sz="1100"/>
                      </a:pPr>
                      <a:r>
                        <a:rPr sz="800"/>
                        <a:t>Less flexible than VS Code for non-Microsoft stacks</a:t>
                      </a:r>
                    </a:p>
                  </a:txBody>
                  <a:tcPr/>
                </a:tc>
                <a:extLst>
                  <a:ext uri="{0D108BD9-81ED-4DB2-BD59-A6C34878D82A}">
                    <a16:rowId xmlns:a16="http://schemas.microsoft.com/office/drawing/2014/main" val="10002"/>
                  </a:ext>
                </a:extLst>
              </a:tr>
              <a:tr h="402386">
                <a:tc>
                  <a:txBody>
                    <a:bodyPr/>
                    <a:lstStyle/>
                    <a:p>
                      <a:pPr algn="l">
                        <a:defRPr sz="1100"/>
                      </a:pPr>
                      <a:r>
                        <a:rPr sz="800"/>
                        <a:t>JetBrains IDEs</a:t>
                      </a:r>
                    </a:p>
                  </a:txBody>
                  <a:tcPr/>
                </a:tc>
                <a:tc>
                  <a:txBody>
                    <a:bodyPr/>
                    <a:lstStyle/>
                    <a:p>
                      <a:pPr algn="l">
                        <a:defRPr sz="1100"/>
                      </a:pPr>
                      <a:r>
                        <a:rPr sz="800"/>
                        <a:t>JetBrains AI Assistant; code completion, refactoring, doc generation</a:t>
                      </a:r>
                    </a:p>
                  </a:txBody>
                  <a:tcPr/>
                </a:tc>
                <a:tc>
                  <a:txBody>
                    <a:bodyPr/>
                    <a:lstStyle/>
                    <a:p>
                      <a:pPr algn="l">
                        <a:defRPr sz="1100"/>
                      </a:pPr>
                      <a:r>
                        <a:rPr sz="800"/>
                        <a:t>JetBrains AI Assistant, GitHub Copilot</a:t>
                      </a:r>
                    </a:p>
                  </a:txBody>
                  <a:tcPr/>
                </a:tc>
                <a:tc>
                  <a:txBody>
                    <a:bodyPr/>
                    <a:lstStyle/>
                    <a:p>
                      <a:pPr algn="l">
                        <a:defRPr sz="1100"/>
                      </a:pPr>
                      <a:r>
                        <a:rPr sz="800"/>
                        <a:t>Deep static analysis + AI; strong multi-language support</a:t>
                      </a:r>
                    </a:p>
                  </a:txBody>
                  <a:tcPr/>
                </a:tc>
                <a:tc>
                  <a:txBody>
                    <a:bodyPr/>
                    <a:lstStyle/>
                    <a:p>
                      <a:pPr algn="l">
                        <a:defRPr sz="1100"/>
                      </a:pPr>
                      <a:r>
                        <a:rPr sz="800"/>
                        <a:t>JetBrains AI Assistant is subscription-based; Copilot integration not as seamless</a:t>
                      </a:r>
                    </a:p>
                  </a:txBody>
                  <a:tcPr/>
                </a:tc>
                <a:extLst>
                  <a:ext uri="{0D108BD9-81ED-4DB2-BD59-A6C34878D82A}">
                    <a16:rowId xmlns:a16="http://schemas.microsoft.com/office/drawing/2014/main" val="10003"/>
                  </a:ext>
                </a:extLst>
              </a:tr>
              <a:tr h="402386">
                <a:tc>
                  <a:txBody>
                    <a:bodyPr/>
                    <a:lstStyle/>
                    <a:p>
                      <a:pPr algn="l">
                        <a:defRPr sz="1100"/>
                      </a:pPr>
                      <a:r>
                        <a:rPr sz="800"/>
                        <a:t>Cursor IDE</a:t>
                      </a:r>
                    </a:p>
                  </a:txBody>
                  <a:tcPr/>
                </a:tc>
                <a:tc>
                  <a:txBody>
                    <a:bodyPr/>
                    <a:lstStyle/>
                    <a:p>
                      <a:pPr algn="l">
                        <a:defRPr sz="1100"/>
                      </a:pPr>
                      <a:r>
                        <a:rPr sz="800"/>
                        <a:t>AI-first editor; conversational coding; multi-file reasoning</a:t>
                      </a:r>
                    </a:p>
                  </a:txBody>
                  <a:tcPr/>
                </a:tc>
                <a:tc>
                  <a:txBody>
                    <a:bodyPr/>
                    <a:lstStyle/>
                    <a:p>
                      <a:pPr algn="l">
                        <a:defRPr sz="1100"/>
                      </a:pPr>
                      <a:r>
                        <a:rPr sz="800"/>
                        <a:t>Built-in AI models (GPT-based, Claude-based), Copilot alternatives</a:t>
                      </a:r>
                    </a:p>
                  </a:txBody>
                  <a:tcPr/>
                </a:tc>
                <a:tc>
                  <a:txBody>
                    <a:bodyPr/>
                    <a:lstStyle/>
                    <a:p>
                      <a:pPr algn="l">
                        <a:defRPr sz="1100"/>
                      </a:pPr>
                      <a:r>
                        <a:rPr sz="800"/>
                        <a:t>Designed for AI pair-programming; strong repo-wide reasoning</a:t>
                      </a:r>
                    </a:p>
                  </a:txBody>
                  <a:tcPr/>
                </a:tc>
                <a:tc>
                  <a:txBody>
                    <a:bodyPr/>
                    <a:lstStyle/>
                    <a:p>
                      <a:pPr algn="l">
                        <a:defRPr sz="1100"/>
                      </a:pPr>
                      <a:r>
                        <a:rPr sz="800"/>
                        <a:t>Not a traditional IDE; still maturing for large enterprise workflows</a:t>
                      </a:r>
                    </a:p>
                  </a:txBody>
                  <a:tcPr/>
                </a:tc>
                <a:extLst>
                  <a:ext uri="{0D108BD9-81ED-4DB2-BD59-A6C34878D82A}">
                    <a16:rowId xmlns:a16="http://schemas.microsoft.com/office/drawing/2014/main" val="10004"/>
                  </a:ext>
                </a:extLst>
              </a:tr>
              <a:tr h="515879">
                <a:tc>
                  <a:txBody>
                    <a:bodyPr/>
                    <a:lstStyle/>
                    <a:p>
                      <a:pPr algn="l">
                        <a:defRPr sz="1100"/>
                      </a:pPr>
                      <a:r>
                        <a:rPr sz="800"/>
                        <a:t>Replit</a:t>
                      </a:r>
                    </a:p>
                  </a:txBody>
                  <a:tcPr/>
                </a:tc>
                <a:tc>
                  <a:txBody>
                    <a:bodyPr/>
                    <a:lstStyle/>
                    <a:p>
                      <a:pPr algn="l">
                        <a:defRPr sz="1100"/>
                      </a:pPr>
                      <a:r>
                        <a:rPr sz="800"/>
                        <a:t>AI-powered Ghostwriter for code generation, debugging, and explanations</a:t>
                      </a:r>
                    </a:p>
                  </a:txBody>
                  <a:tcPr/>
                </a:tc>
                <a:tc>
                  <a:txBody>
                    <a:bodyPr/>
                    <a:lstStyle/>
                    <a:p>
                      <a:pPr algn="l">
                        <a:defRPr sz="1100"/>
                      </a:pPr>
                      <a:r>
                        <a:rPr sz="800"/>
                        <a:t>Ghostwriter</a:t>
                      </a:r>
                    </a:p>
                  </a:txBody>
                  <a:tcPr/>
                </a:tc>
                <a:tc>
                  <a:txBody>
                    <a:bodyPr/>
                    <a:lstStyle/>
                    <a:p>
                      <a:pPr algn="l">
                        <a:defRPr sz="1100"/>
                      </a:pPr>
                      <a:r>
                        <a:rPr sz="800"/>
                        <a:t>Great for beginners and rapid prototyping; browser-based</a:t>
                      </a:r>
                    </a:p>
                  </a:txBody>
                  <a:tcPr/>
                </a:tc>
                <a:tc>
                  <a:txBody>
                    <a:bodyPr/>
                    <a:lstStyle/>
                    <a:p>
                      <a:pPr algn="l">
                        <a:defRPr sz="1100"/>
                      </a:pPr>
                      <a:r>
                        <a:rPr sz="800"/>
                        <a:t>Less powerful for large, multi-module projects</a:t>
                      </a:r>
                    </a:p>
                  </a:txBody>
                  <a:tcPr/>
                </a:tc>
                <a:extLst>
                  <a:ext uri="{0D108BD9-81ED-4DB2-BD59-A6C34878D82A}">
                    <a16:rowId xmlns:a16="http://schemas.microsoft.com/office/drawing/2014/main" val="10005"/>
                  </a:ext>
                </a:extLst>
              </a:tr>
              <a:tr h="402386">
                <a:tc>
                  <a:txBody>
                    <a:bodyPr/>
                    <a:lstStyle/>
                    <a:p>
                      <a:pPr algn="l">
                        <a:defRPr sz="1100"/>
                      </a:pPr>
                      <a:r>
                        <a:rPr sz="800"/>
                        <a:t>Builder.io / Builder Code Editor</a:t>
                      </a:r>
                    </a:p>
                  </a:txBody>
                  <a:tcPr/>
                </a:tc>
                <a:tc>
                  <a:txBody>
                    <a:bodyPr/>
                    <a:lstStyle/>
                    <a:p>
                      <a:pPr algn="l">
                        <a:defRPr sz="1100"/>
                      </a:pPr>
                      <a:r>
                        <a:rPr sz="800"/>
                        <a:t>AI-enhanced coding environment with integrated assistants</a:t>
                      </a:r>
                    </a:p>
                  </a:txBody>
                  <a:tcPr/>
                </a:tc>
                <a:tc>
                  <a:txBody>
                    <a:bodyPr/>
                    <a:lstStyle/>
                    <a:p>
                      <a:pPr algn="l">
                        <a:defRPr sz="1100"/>
                      </a:pPr>
                      <a:r>
                        <a:rPr sz="800"/>
                        <a:t>Multiple AI integrations depending on setup</a:t>
                      </a:r>
                    </a:p>
                  </a:txBody>
                  <a:tcPr/>
                </a:tc>
                <a:tc>
                  <a:txBody>
                    <a:bodyPr/>
                    <a:lstStyle/>
                    <a:p>
                      <a:pPr algn="l">
                        <a:defRPr sz="1100"/>
                      </a:pPr>
                      <a:r>
                        <a:rPr sz="800"/>
                        <a:t>Strong web-dev focus; modern AI-native UX</a:t>
                      </a:r>
                    </a:p>
                  </a:txBody>
                  <a:tcPr/>
                </a:tc>
                <a:tc>
                  <a:txBody>
                    <a:bodyPr/>
                    <a:lstStyle/>
                    <a:p>
                      <a:pPr algn="l">
                        <a:defRPr sz="1100"/>
                      </a:pPr>
                      <a:r>
                        <a:rPr sz="800"/>
                        <a:t>Not a general-purpose IDE</a:t>
                      </a:r>
                    </a:p>
                  </a:txBody>
                  <a:tcPr/>
                </a:tc>
                <a:extLst>
                  <a:ext uri="{0D108BD9-81ED-4DB2-BD59-A6C34878D82A}">
                    <a16:rowId xmlns:a16="http://schemas.microsoft.com/office/drawing/2014/main" val="10006"/>
                  </a:ext>
                </a:extLst>
              </a:tr>
              <a:tr h="402386">
                <a:tc>
                  <a:txBody>
                    <a:bodyPr/>
                    <a:lstStyle/>
                    <a:p>
                      <a:pPr algn="l">
                        <a:defRPr sz="1100"/>
                      </a:pPr>
                      <a:r>
                        <a:rPr sz="800"/>
                        <a:t>Code-B Editors</a:t>
                      </a:r>
                    </a:p>
                  </a:txBody>
                  <a:tcPr/>
                </a:tc>
                <a:tc>
                  <a:txBody>
                    <a:bodyPr/>
                    <a:lstStyle/>
                    <a:p>
                      <a:pPr algn="l">
                        <a:defRPr sz="1100"/>
                      </a:pPr>
                      <a:r>
                        <a:rPr sz="800"/>
                        <a:t>Predictive code generation, debugging, and review</a:t>
                      </a:r>
                    </a:p>
                  </a:txBody>
                  <a:tcPr/>
                </a:tc>
                <a:tc>
                  <a:txBody>
                    <a:bodyPr/>
                    <a:lstStyle/>
                    <a:p>
                      <a:pPr algn="l">
                        <a:defRPr sz="1100"/>
                      </a:pPr>
                      <a:r>
                        <a:rPr sz="800"/>
                        <a:t>Multiple AI models depending on configuration</a:t>
                      </a:r>
                    </a:p>
                  </a:txBody>
                  <a:tcPr/>
                </a:tc>
                <a:tc>
                  <a:txBody>
                    <a:bodyPr/>
                    <a:lstStyle/>
                    <a:p>
                      <a:pPr algn="l">
                        <a:defRPr sz="1100"/>
                      </a:pPr>
                      <a:r>
                        <a:rPr sz="800"/>
                        <a:t>Strong AI-centric workflows; optimized for speed</a:t>
                      </a:r>
                    </a:p>
                  </a:txBody>
                  <a:tcPr/>
                </a:tc>
                <a:tc>
                  <a:txBody>
                    <a:bodyPr/>
                    <a:lstStyle/>
                    <a:p>
                      <a:pPr algn="l">
                        <a:defRPr sz="1100"/>
                      </a:pPr>
                      <a:r>
                        <a:rPr sz="800"/>
                        <a:t>Less mainstream; smaller ecosystem</a:t>
                      </a:r>
                    </a:p>
                  </a:txBody>
                  <a:tcPr/>
                </a:tc>
                <a:extLst>
                  <a:ext uri="{0D108BD9-81ED-4DB2-BD59-A6C34878D82A}">
                    <a16:rowId xmlns:a16="http://schemas.microsoft.com/office/drawing/2014/main" val="10007"/>
                  </a:ext>
                </a:extLst>
              </a:tr>
              <a:tr h="515879">
                <a:tc>
                  <a:txBody>
                    <a:bodyPr/>
                    <a:lstStyle/>
                    <a:p>
                      <a:pPr algn="l">
                        <a:defRPr sz="1100"/>
                      </a:pPr>
                      <a:r>
                        <a:rPr sz="800"/>
                        <a:t>Claude Code</a:t>
                      </a:r>
                    </a:p>
                  </a:txBody>
                  <a:tcPr/>
                </a:tc>
                <a:tc>
                  <a:txBody>
                    <a:bodyPr/>
                    <a:lstStyle/>
                    <a:p>
                      <a:pPr algn="l">
                        <a:defRPr sz="1100"/>
                      </a:pPr>
                      <a:r>
                        <a:rPr sz="800"/>
                        <a:t>Terminal-first AI coding assistant; autonomous repo-wide reasoning</a:t>
                      </a:r>
                    </a:p>
                  </a:txBody>
                  <a:tcPr/>
                </a:tc>
                <a:tc>
                  <a:txBody>
                    <a:bodyPr/>
                    <a:lstStyle/>
                    <a:p>
                      <a:pPr algn="l">
                        <a:defRPr sz="1100"/>
                      </a:pPr>
                      <a:r>
                        <a:rPr lang="en-US" sz="800" dirty="0"/>
                        <a:t>Latest models from Anthropic and other via configuration</a:t>
                      </a:r>
                      <a:endParaRPr sz="800" dirty="0"/>
                    </a:p>
                  </a:txBody>
                  <a:tcPr/>
                </a:tc>
                <a:tc>
                  <a:txBody>
                    <a:bodyPr/>
                    <a:lstStyle/>
                    <a:p>
                      <a:pPr algn="l">
                        <a:defRPr sz="1100"/>
                      </a:pPr>
                      <a:r>
                        <a:rPr sz="800"/>
                        <a:t>Exceptional multi-file context handling; ideal for agentic workflows and automated patching</a:t>
                      </a:r>
                    </a:p>
                  </a:txBody>
                  <a:tcPr/>
                </a:tc>
                <a:tc>
                  <a:txBody>
                    <a:bodyPr/>
                    <a:lstStyle/>
                    <a:p>
                      <a:pPr algn="l">
                        <a:defRPr sz="1100"/>
                      </a:pPr>
                      <a:r>
                        <a:rPr sz="800" dirty="0"/>
                        <a:t>Not a GUI IDE; best suited for terminal-centric development and large codebases</a:t>
                      </a:r>
                    </a:p>
                  </a:txBody>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659720328"/>
      </p:ext>
    </p:extLst>
  </p:cSld>
  <p:clrMapOvr>
    <a:masterClrMapping/>
  </p:clrMapOvr>
  <p:transition>
    <p:fade/>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C11FED-FBD6-9D58-3432-8F270C76BB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299E66-64C0-1D7E-727E-70F8C450A670}"/>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E52B055A-A347-3024-B611-2F344E460F62}"/>
              </a:ext>
            </a:extLst>
          </p:cNvPr>
          <p:cNvGraphicFramePr>
            <a:graphicFrameLocks noGrp="1"/>
          </p:cNvGraphicFramePr>
          <p:nvPr>
            <p:ph idx="1"/>
            <p:extLst>
              <p:ext uri="{D42A27DB-BD31-4B8C-83A1-F6EECF244321}">
                <p14:modId xmlns:p14="http://schemas.microsoft.com/office/powerpoint/2010/main" val="2241339008"/>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937892034"/>
      </p:ext>
    </p:extLst>
  </p:cSld>
  <p:clrMapOvr>
    <a:masterClrMapping/>
  </p:clrMapOvr>
  <p:transition>
    <p:fade/>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solidFill>
                  <a:schemeClr val="tx1"/>
                </a:solidFill>
                <a:latin typeface="+mn-lt"/>
              </a:rPr>
              <a:t>📘 </a:t>
            </a:r>
            <a:r>
              <a:rPr b="1" dirty="0">
                <a:latin typeface="+mn-lt"/>
              </a:rPr>
              <a:t>Mob.sh: Install, Configure, and Use</a:t>
            </a:r>
          </a:p>
        </p:txBody>
      </p:sp>
      <p:sp>
        <p:nvSpPr>
          <p:cNvPr id="3" name="Content Placeholder 2"/>
          <p:cNvSpPr>
            <a:spLocks noGrp="1"/>
          </p:cNvSpPr>
          <p:nvPr>
            <p:ph idx="1"/>
          </p:nvPr>
        </p:nvSpPr>
        <p:spPr/>
        <p:txBody>
          <a:bodyPr/>
          <a:lstStyle/>
          <a:p>
            <a:pPr marL="0" lvl="0" indent="0">
              <a:buNone/>
            </a:pPr>
            <a:r>
              <a:rPr i="1" dirty="0">
                <a:latin typeface="+mn-lt"/>
              </a:rPr>
              <a:t>A practical </a:t>
            </a:r>
            <a:r>
              <a:rPr lang="en-US" i="1" dirty="0">
                <a:latin typeface="+mn-lt"/>
              </a:rPr>
              <a:t>guide </a:t>
            </a:r>
            <a:r>
              <a:rPr i="1" dirty="0">
                <a:latin typeface="+mn-lt"/>
              </a:rPr>
              <a:t>for teams adopting mob programming</a:t>
            </a:r>
          </a:p>
        </p:txBody>
      </p:sp>
    </p:spTree>
    <p:extLst>
      <p:ext uri="{BB962C8B-B14F-4D97-AF65-F5344CB8AC3E}">
        <p14:creationId xmlns:p14="http://schemas.microsoft.com/office/powerpoint/2010/main" val="4284763377"/>
      </p:ext>
    </p:extLst>
  </p:cSld>
  <p:clrMapOvr>
    <a:masterClrMapping/>
  </p:clrMapOvr>
  <p:transition>
    <p:fade/>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ADA5F-6E21-F6D0-D897-6EE0DD31E8D4}"/>
              </a:ext>
            </a:extLst>
          </p:cNvPr>
          <p:cNvSpPr>
            <a:spLocks noGrp="1"/>
          </p:cNvSpPr>
          <p:nvPr>
            <p:ph type="title"/>
          </p:nvPr>
        </p:nvSpPr>
        <p:spPr/>
        <p:txBody>
          <a:bodyPr>
            <a:normAutofit fontScale="90000"/>
          </a:bodyPr>
          <a:lstStyle/>
          <a:p>
            <a:pPr lvl="0"/>
            <a:r>
              <a:rPr lang="en-US" dirty="0">
                <a:latin typeface="+mn-lt"/>
              </a:rPr>
              <a:t>What mob.sh Solves</a:t>
            </a:r>
          </a:p>
        </p:txBody>
      </p:sp>
      <p:sp>
        <p:nvSpPr>
          <p:cNvPr id="3" name="Content Placeholder 2">
            <a:extLst>
              <a:ext uri="{FF2B5EF4-FFF2-40B4-BE49-F238E27FC236}">
                <a16:creationId xmlns:a16="http://schemas.microsoft.com/office/drawing/2014/main" id="{F3B6580E-ADAA-044E-A208-11EC24A75ACF}"/>
              </a:ext>
            </a:extLst>
          </p:cNvPr>
          <p:cNvSpPr>
            <a:spLocks noGrp="1"/>
          </p:cNvSpPr>
          <p:nvPr>
            <p:ph idx="1"/>
          </p:nvPr>
        </p:nvSpPr>
        <p:spPr/>
        <p:txBody>
          <a:bodyPr>
            <a:normAutofit/>
          </a:bodyPr>
          <a:lstStyle/>
          <a:p>
            <a:pPr lvl="0"/>
            <a:r>
              <a:rPr lang="en-US" dirty="0">
                <a:latin typeface="+mn-lt"/>
              </a:rPr>
              <a:t>Smooth handoffs during mob/pair rotations</a:t>
            </a:r>
          </a:p>
          <a:p>
            <a:pPr lvl="0"/>
            <a:r>
              <a:rPr lang="en-US" dirty="0">
                <a:latin typeface="+mn-lt"/>
              </a:rPr>
              <a:t>Automatic WIP branches</a:t>
            </a:r>
          </a:p>
          <a:p>
            <a:pPr lvl="0"/>
            <a:r>
              <a:rPr lang="en-US" dirty="0">
                <a:latin typeface="+mn-lt"/>
              </a:rPr>
              <a:t>Zero‑conf timers</a:t>
            </a:r>
          </a:p>
          <a:p>
            <a:pPr lvl="0"/>
            <a:r>
              <a:rPr lang="en-US" dirty="0">
                <a:latin typeface="+mn-lt"/>
              </a:rPr>
              <a:t>Clean commits and merges</a:t>
            </a:r>
          </a:p>
          <a:p>
            <a:pPr lvl="0"/>
            <a:r>
              <a:rPr lang="en-US" dirty="0">
                <a:latin typeface="+mn-lt"/>
              </a:rPr>
              <a:t>Works with any Git provider (GitHub, GitLab, Bitbucket)</a:t>
            </a:r>
            <a:br>
              <a:rPr lang="en-US" dirty="0">
                <a:latin typeface="+mn-lt"/>
              </a:rPr>
            </a:br>
            <a:endParaRPr lang="en-US" dirty="0">
              <a:latin typeface="+mn-lt"/>
            </a:endParaRPr>
          </a:p>
        </p:txBody>
      </p:sp>
    </p:spTree>
    <p:extLst>
      <p:ext uri="{BB962C8B-B14F-4D97-AF65-F5344CB8AC3E}">
        <p14:creationId xmlns:p14="http://schemas.microsoft.com/office/powerpoint/2010/main" val="1545158069"/>
      </p:ext>
    </p:extLst>
  </p:cSld>
  <p:clrMapOvr>
    <a:masterClrMapping/>
  </p:clrMapOvr>
  <p:transition>
    <p:fade/>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83DDE10-9D20-2480-C058-87127E4F348F}"/>
              </a:ext>
            </a:extLst>
          </p:cNvPr>
          <p:cNvSpPr>
            <a:spLocks noGrp="1"/>
          </p:cNvSpPr>
          <p:nvPr>
            <p:ph type="title"/>
          </p:nvPr>
        </p:nvSpPr>
        <p:spPr/>
        <p:txBody>
          <a:bodyPr>
            <a:normAutofit fontScale="90000"/>
          </a:bodyPr>
          <a:lstStyle/>
          <a:p>
            <a:r>
              <a:rPr lang="en-US" dirty="0">
                <a:latin typeface="+mn-lt"/>
              </a:rPr>
              <a:t>Installing mob.sh</a:t>
            </a:r>
            <a:br>
              <a:rPr lang="en-US" dirty="0">
                <a:solidFill>
                  <a:schemeClr val="tx1"/>
                </a:solidFill>
                <a:latin typeface="+mn-lt"/>
              </a:rPr>
            </a:br>
            <a:endParaRPr lang="en-US" dirty="0">
              <a:solidFill>
                <a:schemeClr val="tx1"/>
              </a:solidFill>
              <a:latin typeface="+mn-lt"/>
            </a:endParaRPr>
          </a:p>
        </p:txBody>
      </p:sp>
      <p:sp>
        <p:nvSpPr>
          <p:cNvPr id="3" name="Content Placeholder 2">
            <a:extLst>
              <a:ext uri="{FF2B5EF4-FFF2-40B4-BE49-F238E27FC236}">
                <a16:creationId xmlns:a16="http://schemas.microsoft.com/office/drawing/2014/main" id="{6092AE29-F9AF-6BF7-2A72-8E4AD0BC6B1F}"/>
              </a:ext>
            </a:extLst>
          </p:cNvPr>
          <p:cNvSpPr>
            <a:spLocks noGrp="1"/>
          </p:cNvSpPr>
          <p:nvPr>
            <p:ph idx="1"/>
          </p:nvPr>
        </p:nvSpPr>
        <p:spPr/>
        <p:txBody>
          <a:bodyPr numCol="2">
            <a:normAutofit fontScale="85000" lnSpcReduction="20000"/>
          </a:bodyPr>
          <a:lstStyle/>
          <a:p>
            <a:pPr indent="0">
              <a:buNone/>
            </a:pPr>
            <a:r>
              <a:rPr lang="en-US" dirty="0">
                <a:latin typeface="+mn-lt"/>
              </a:rPr>
              <a:t>Requirements</a:t>
            </a:r>
          </a:p>
          <a:p>
            <a:pPr marL="685800"/>
            <a:r>
              <a:rPr lang="en-US" dirty="0">
                <a:latin typeface="+mn-lt"/>
              </a:rPr>
              <a:t>Git installed</a:t>
            </a:r>
          </a:p>
          <a:p>
            <a:pPr marL="685800"/>
            <a:r>
              <a:rPr lang="en-US" dirty="0">
                <a:latin typeface="+mn-lt"/>
              </a:rPr>
              <a:t>macOS, Linux, or WSL</a:t>
            </a:r>
          </a:p>
          <a:p>
            <a:pPr marL="685800"/>
            <a:r>
              <a:rPr lang="en-US" dirty="0">
                <a:latin typeface="+mn-lt"/>
              </a:rPr>
              <a:t>Optional: Homebrew</a:t>
            </a:r>
            <a:br>
              <a:rPr lang="en-US" dirty="0">
                <a:latin typeface="+mn-lt"/>
              </a:rPr>
            </a:br>
            <a:endParaRPr lang="en-US" dirty="0">
              <a:latin typeface="+mn-lt"/>
            </a:endParaRPr>
          </a:p>
          <a:p>
            <a:pPr marL="685800"/>
            <a:endParaRPr lang="en-US" dirty="0">
              <a:latin typeface="+mn-lt"/>
            </a:endParaRPr>
          </a:p>
          <a:p>
            <a:pPr indent="0">
              <a:buNone/>
            </a:pPr>
            <a:r>
              <a:rPr lang="en-US" dirty="0">
                <a:latin typeface="+mn-lt"/>
              </a:rPr>
              <a:t>Install Options</a:t>
            </a:r>
          </a:p>
          <a:p>
            <a:pPr marL="685800"/>
            <a:r>
              <a:rPr lang="en-US" dirty="0">
                <a:latin typeface="+mn-lt"/>
              </a:rPr>
              <a:t>Homebrew (recommended)</a:t>
            </a:r>
            <a:br>
              <a:rPr lang="en-US" dirty="0">
                <a:latin typeface="+mn-lt"/>
              </a:rPr>
            </a:br>
            <a:br>
              <a:rPr lang="en-US" dirty="0">
                <a:latin typeface="+mn-lt"/>
              </a:rPr>
            </a:br>
            <a:r>
              <a:rPr lang="en-US" dirty="0">
                <a:latin typeface="Consolas" panose="020B0609020204030204" pitchFamily="49" charset="0"/>
              </a:rPr>
              <a:t>brew install mob</a:t>
            </a:r>
            <a:br>
              <a:rPr lang="en-US" dirty="0">
                <a:latin typeface="+mn-lt"/>
              </a:rPr>
            </a:br>
            <a:endParaRPr lang="en-US" dirty="0">
              <a:latin typeface="+mn-lt"/>
            </a:endParaRPr>
          </a:p>
          <a:p>
            <a:pPr marL="685800"/>
            <a:r>
              <a:rPr lang="en-US" dirty="0">
                <a:latin typeface="+mn-lt"/>
              </a:rPr>
              <a:t>Curl installer</a:t>
            </a:r>
          </a:p>
          <a:p>
            <a:pPr lvl="0" indent="0">
              <a:buNone/>
            </a:pPr>
            <a:br>
              <a:rPr lang="en-US" dirty="0">
                <a:latin typeface="+mn-lt"/>
              </a:rPr>
            </a:br>
            <a:r>
              <a:rPr lang="en-US" dirty="0">
                <a:latin typeface="+mn-lt"/>
              </a:rPr>
              <a:t>	</a:t>
            </a:r>
            <a:r>
              <a:rPr lang="en-US" dirty="0">
                <a:latin typeface="Consolas" panose="020B0609020204030204" pitchFamily="49" charset="0"/>
              </a:rPr>
              <a:t>curl -</a:t>
            </a:r>
            <a:r>
              <a:rPr lang="en-US" dirty="0" err="1">
                <a:latin typeface="Consolas" panose="020B0609020204030204" pitchFamily="49" charset="0"/>
              </a:rPr>
              <a:t>sL</a:t>
            </a:r>
            <a:r>
              <a:rPr lang="en-US" dirty="0">
                <a:latin typeface="Consolas" panose="020B0609020204030204" pitchFamily="49" charset="0"/>
              </a:rPr>
              <a:t> https://install.mob.sh | </a:t>
            </a:r>
            <a:r>
              <a:rPr lang="en-US" dirty="0" err="1">
                <a:latin typeface="Consolas" panose="020B0609020204030204" pitchFamily="49" charset="0"/>
              </a:rPr>
              <a:t>sh</a:t>
            </a:r>
            <a:endParaRPr lang="en-US" dirty="0">
              <a:latin typeface="Consolas" panose="020B0609020204030204" pitchFamily="49" charset="0"/>
            </a:endParaRPr>
          </a:p>
          <a:p>
            <a:pPr lvl="0" indent="0">
              <a:buNone/>
            </a:pPr>
            <a:endParaRPr lang="en-US" dirty="0">
              <a:latin typeface="+mn-lt"/>
            </a:endParaRPr>
          </a:p>
          <a:p>
            <a:pPr marL="685800"/>
            <a:r>
              <a:rPr lang="en-US" dirty="0">
                <a:latin typeface="+mn-lt"/>
              </a:rPr>
              <a:t>Manual</a:t>
            </a:r>
          </a:p>
          <a:p>
            <a:pPr lvl="2"/>
            <a:r>
              <a:rPr lang="en-US" dirty="0">
                <a:latin typeface="+mn-lt"/>
              </a:rPr>
              <a:t>Download from </a:t>
            </a:r>
            <a:r>
              <a:rPr lang="en-US" dirty="0">
                <a:latin typeface="+mn-lt"/>
                <a:hlinkClick r:id="rId2">
                  <a:extLst>
                    <a:ext uri="{A12FA001-AC4F-418D-AE19-62706E023703}">
                      <ahyp:hlinkClr xmlns:ahyp="http://schemas.microsoft.com/office/drawing/2018/hyperlinkcolor" val="tx"/>
                    </a:ext>
                  </a:extLst>
                </a:hlinkClick>
              </a:rPr>
              <a:t>https://mob.sh</a:t>
            </a:r>
          </a:p>
          <a:p>
            <a:pPr lvl="2"/>
            <a:r>
              <a:rPr lang="en-US" dirty="0">
                <a:latin typeface="+mn-lt"/>
              </a:rPr>
              <a:t>Add to PATH</a:t>
            </a:r>
          </a:p>
          <a:p>
            <a:pPr lvl="2"/>
            <a:r>
              <a:rPr lang="en-US" dirty="0">
                <a:latin typeface="+mn-lt"/>
              </a:rPr>
              <a:t>Verify with:</a:t>
            </a:r>
          </a:p>
          <a:p>
            <a:pPr lvl="0" indent="0">
              <a:buNone/>
            </a:pPr>
            <a:br>
              <a:rPr lang="en-US" dirty="0">
                <a:latin typeface="+mn-lt"/>
              </a:rPr>
            </a:br>
            <a:r>
              <a:rPr lang="en-US" dirty="0">
                <a:latin typeface="+mn-lt"/>
              </a:rPr>
              <a:t>	</a:t>
            </a:r>
            <a:r>
              <a:rPr lang="en-US" dirty="0">
                <a:latin typeface="Consolas" panose="020B0609020204030204" pitchFamily="49" charset="0"/>
              </a:rPr>
              <a:t>mob version</a:t>
            </a:r>
          </a:p>
        </p:txBody>
      </p:sp>
    </p:spTree>
    <p:extLst>
      <p:ext uri="{BB962C8B-B14F-4D97-AF65-F5344CB8AC3E}">
        <p14:creationId xmlns:p14="http://schemas.microsoft.com/office/powerpoint/2010/main" val="2828823242"/>
      </p:ext>
    </p:extLst>
  </p:cSld>
  <p:clrMapOvr>
    <a:masterClrMapping/>
  </p:clrMapOvr>
  <p:transition>
    <p:fade/>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First‑Time Configuration</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Set your preferred editor</a:t>
            </a:r>
          </a:p>
          <a:p>
            <a:pPr lvl="0" indent="0">
              <a:buNone/>
            </a:pPr>
            <a:r>
              <a:rPr dirty="0">
                <a:latin typeface="Consolas" panose="020B0609020204030204" pitchFamily="49" charset="0"/>
              </a:rPr>
              <a:t>mob config editor "code"</a:t>
            </a:r>
          </a:p>
          <a:p>
            <a:pPr marL="0" lvl="0" indent="0">
              <a:spcBef>
                <a:spcPts val="3000"/>
              </a:spcBef>
              <a:buNone/>
            </a:pPr>
            <a:r>
              <a:rPr b="1" dirty="0">
                <a:latin typeface="+mn-lt"/>
              </a:rPr>
              <a:t>Set your default WIP branch name</a:t>
            </a:r>
          </a:p>
          <a:p>
            <a:pPr lvl="0" indent="0">
              <a:buNone/>
            </a:pPr>
            <a:r>
              <a:rPr dirty="0">
                <a:latin typeface="Consolas" panose="020B0609020204030204" pitchFamily="49" charset="0"/>
              </a:rPr>
              <a:t>mob config </a:t>
            </a:r>
            <a:r>
              <a:rPr dirty="0" err="1">
                <a:latin typeface="Consolas" panose="020B0609020204030204" pitchFamily="49" charset="0"/>
              </a:rPr>
              <a:t>wip</a:t>
            </a:r>
            <a:r>
              <a:rPr dirty="0">
                <a:latin typeface="Consolas" panose="020B0609020204030204" pitchFamily="49" charset="0"/>
              </a:rPr>
              <a:t>-branch "mob-session"</a:t>
            </a:r>
          </a:p>
          <a:p>
            <a:pPr marL="0" lvl="0" indent="0">
              <a:spcBef>
                <a:spcPts val="3000"/>
              </a:spcBef>
              <a:buNone/>
            </a:pPr>
            <a:r>
              <a:rPr b="1" dirty="0">
                <a:latin typeface="+mn-lt"/>
              </a:rPr>
              <a:t>Optional: Set timer duration</a:t>
            </a:r>
          </a:p>
          <a:p>
            <a:pPr lvl="0" indent="0">
              <a:buNone/>
            </a:pPr>
            <a:r>
              <a:rPr dirty="0">
                <a:latin typeface="Consolas" panose="020B0609020204030204" pitchFamily="49" charset="0"/>
              </a:rPr>
              <a:t>mob config timer 5</a:t>
            </a:r>
          </a:p>
        </p:txBody>
      </p:sp>
    </p:spTree>
    <p:extLst>
      <p:ext uri="{BB962C8B-B14F-4D97-AF65-F5344CB8AC3E}">
        <p14:creationId xmlns:p14="http://schemas.microsoft.com/office/powerpoint/2010/main" val="130771751"/>
      </p:ext>
    </p:extLst>
  </p:cSld>
  <p:clrMapOvr>
    <a:masterClrMapping/>
  </p:clrMapOvr>
  <p:transition>
    <p:fade/>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Starting a Mob Session</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Begin a session</a:t>
            </a:r>
          </a:p>
          <a:p>
            <a:pPr lvl="0" indent="0">
              <a:buNone/>
            </a:pPr>
            <a:r>
              <a:rPr dirty="0">
                <a:latin typeface="Consolas" panose="020B0609020204030204" pitchFamily="49" charset="0"/>
              </a:rPr>
              <a:t>mob start</a:t>
            </a:r>
          </a:p>
          <a:p>
            <a:pPr marL="0" lvl="0" indent="0">
              <a:buNone/>
            </a:pPr>
            <a:br>
              <a:rPr lang="en-US" dirty="0">
                <a:latin typeface="+mn-lt"/>
              </a:rPr>
            </a:br>
            <a:r>
              <a:rPr dirty="0">
                <a:latin typeface="+mn-lt"/>
              </a:rPr>
              <a:t>What happens: </a:t>
            </a:r>
            <a:endParaRPr lang="en-US" dirty="0">
              <a:latin typeface="+mn-lt"/>
            </a:endParaRPr>
          </a:p>
          <a:p>
            <a:pPr lvl="1"/>
            <a:r>
              <a:rPr dirty="0">
                <a:latin typeface="+mn-lt"/>
              </a:rPr>
              <a:t>Creates/updates a WIP branch - Stashes local changes </a:t>
            </a:r>
            <a:endParaRPr lang="en-US" dirty="0">
              <a:latin typeface="+mn-lt"/>
            </a:endParaRPr>
          </a:p>
          <a:p>
            <a:pPr lvl="1"/>
            <a:r>
              <a:rPr dirty="0">
                <a:latin typeface="+mn-lt"/>
              </a:rPr>
              <a:t>Opens your editor - Starts optional timer</a:t>
            </a:r>
          </a:p>
        </p:txBody>
      </p:sp>
    </p:spTree>
    <p:extLst>
      <p:ext uri="{BB962C8B-B14F-4D97-AF65-F5344CB8AC3E}">
        <p14:creationId xmlns:p14="http://schemas.microsoft.com/office/powerpoint/2010/main" val="562922843"/>
      </p:ext>
    </p:extLst>
  </p:cSld>
  <p:clrMapOvr>
    <a:masterClrMapping/>
  </p:clrMapOvr>
  <p:transition>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Handoff to the Next Driver</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When your rotation ends</a:t>
            </a:r>
          </a:p>
          <a:p>
            <a:pPr lvl="0" indent="0">
              <a:buNone/>
            </a:pPr>
            <a:r>
              <a:rPr dirty="0">
                <a:latin typeface="Consolas" panose="020B0609020204030204" pitchFamily="49" charset="0"/>
              </a:rPr>
              <a:t>mob next</a:t>
            </a:r>
          </a:p>
          <a:p>
            <a:pPr marL="0" lvl="0" indent="0">
              <a:buNone/>
            </a:pPr>
            <a:br>
              <a:rPr lang="en-US" dirty="0">
                <a:latin typeface="+mn-lt"/>
              </a:rPr>
            </a:br>
            <a:r>
              <a:rPr dirty="0">
                <a:latin typeface="+mn-lt"/>
              </a:rPr>
              <a:t>This: </a:t>
            </a:r>
            <a:endParaRPr lang="en-US" dirty="0">
              <a:latin typeface="+mn-lt"/>
            </a:endParaRPr>
          </a:p>
          <a:p>
            <a:pPr lvl="1"/>
            <a:r>
              <a:rPr dirty="0">
                <a:latin typeface="+mn-lt"/>
              </a:rPr>
              <a:t>Commits WIP </a:t>
            </a:r>
            <a:endParaRPr lang="en-US" dirty="0">
              <a:latin typeface="+mn-lt"/>
            </a:endParaRPr>
          </a:p>
          <a:p>
            <a:pPr lvl="1"/>
            <a:r>
              <a:rPr dirty="0">
                <a:latin typeface="+mn-lt"/>
              </a:rPr>
              <a:t>Pushes to remote</a:t>
            </a:r>
            <a:endParaRPr lang="en-US" dirty="0">
              <a:latin typeface="+mn-lt"/>
            </a:endParaRPr>
          </a:p>
          <a:p>
            <a:pPr lvl="1"/>
            <a:r>
              <a:rPr dirty="0">
                <a:latin typeface="+mn-lt"/>
              </a:rPr>
              <a:t>Prepares the next driver’s environment</a:t>
            </a:r>
          </a:p>
        </p:txBody>
      </p:sp>
    </p:spTree>
    <p:extLst>
      <p:ext uri="{BB962C8B-B14F-4D97-AF65-F5344CB8AC3E}">
        <p14:creationId xmlns:p14="http://schemas.microsoft.com/office/powerpoint/2010/main" val="2433761511"/>
      </p:ext>
    </p:extLst>
  </p:cSld>
  <p:clrMapOvr>
    <a:masterClrMapping/>
  </p:clrMapOvr>
  <p:transition>
    <p:fade/>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Running Tests During the Mob</a:t>
            </a:r>
          </a:p>
        </p:txBody>
      </p:sp>
      <p:sp>
        <p:nvSpPr>
          <p:cNvPr id="3" name="Content Placeholder 2"/>
          <p:cNvSpPr>
            <a:spLocks noGrp="1"/>
          </p:cNvSpPr>
          <p:nvPr>
            <p:ph idx="1"/>
          </p:nvPr>
        </p:nvSpPr>
        <p:spPr/>
        <p:txBody>
          <a:bodyPr/>
          <a:lstStyle/>
          <a:p>
            <a:pPr lvl="0"/>
            <a:r>
              <a:rPr dirty="0">
                <a:latin typeface="+mn-lt"/>
              </a:rPr>
              <a:t>Use watch mode (Jest, </a:t>
            </a:r>
            <a:r>
              <a:rPr dirty="0" err="1">
                <a:latin typeface="+mn-lt"/>
              </a:rPr>
              <a:t>Vitest</a:t>
            </a:r>
            <a:r>
              <a:rPr dirty="0">
                <a:latin typeface="+mn-lt"/>
              </a:rPr>
              <a:t>, </a:t>
            </a:r>
            <a:r>
              <a:rPr dirty="0" err="1">
                <a:latin typeface="+mn-lt"/>
              </a:rPr>
              <a:t>pytest</a:t>
            </a:r>
            <a:r>
              <a:rPr dirty="0">
                <a:latin typeface="+mn-lt"/>
              </a:rPr>
              <a:t>‑watch)</a:t>
            </a:r>
          </a:p>
          <a:p>
            <a:pPr lvl="0"/>
            <a:r>
              <a:rPr dirty="0">
                <a:latin typeface="+mn-lt"/>
              </a:rPr>
              <a:t>Keep terminal visible to the whole mob</a:t>
            </a:r>
          </a:p>
          <a:p>
            <a:pPr lvl="0"/>
            <a:r>
              <a:rPr dirty="0">
                <a:latin typeface="+mn-lt"/>
              </a:rPr>
              <a:t>Encourage “test first” flow during rotations</a:t>
            </a:r>
          </a:p>
        </p:txBody>
      </p:sp>
    </p:spTree>
    <p:extLst>
      <p:ext uri="{BB962C8B-B14F-4D97-AF65-F5344CB8AC3E}">
        <p14:creationId xmlns:p14="http://schemas.microsoft.com/office/powerpoint/2010/main" val="2429855970"/>
      </p:ext>
    </p:extLst>
  </p:cSld>
  <p:clrMapOvr>
    <a:masterClrMapping/>
  </p:clrMapOvr>
  <p:transition>
    <p:fade/>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Finishing the Mob Session</a:t>
            </a:r>
          </a:p>
        </p:txBody>
      </p:sp>
      <p:sp>
        <p:nvSpPr>
          <p:cNvPr id="3" name="Content Placeholder 2"/>
          <p:cNvSpPr>
            <a:spLocks noGrp="1"/>
          </p:cNvSpPr>
          <p:nvPr>
            <p:ph idx="1"/>
          </p:nvPr>
        </p:nvSpPr>
        <p:spPr/>
        <p:txBody>
          <a:bodyPr/>
          <a:lstStyle/>
          <a:p>
            <a:pPr marL="0" lvl="0" indent="0">
              <a:spcBef>
                <a:spcPts val="3000"/>
              </a:spcBef>
              <a:buNone/>
            </a:pPr>
            <a:r>
              <a:rPr b="1" dirty="0">
                <a:latin typeface="+mn-lt"/>
              </a:rPr>
              <a:t>When the feature is ready</a:t>
            </a:r>
          </a:p>
          <a:p>
            <a:pPr lvl="0" indent="0">
              <a:buNone/>
            </a:pPr>
            <a:r>
              <a:rPr dirty="0">
                <a:latin typeface="Consolas" panose="020B0609020204030204" pitchFamily="49" charset="0"/>
              </a:rPr>
              <a:t>mob done</a:t>
            </a:r>
          </a:p>
          <a:p>
            <a:pPr marL="0" lvl="0" indent="0">
              <a:buNone/>
            </a:pPr>
            <a:endParaRPr lang="en-US" dirty="0">
              <a:latin typeface="+mn-lt"/>
            </a:endParaRPr>
          </a:p>
          <a:p>
            <a:pPr marL="0" lvl="0" indent="0">
              <a:buNone/>
            </a:pPr>
            <a:r>
              <a:rPr dirty="0">
                <a:latin typeface="+mn-lt"/>
              </a:rPr>
              <a:t>This: </a:t>
            </a:r>
            <a:endParaRPr lang="en-US" dirty="0">
              <a:latin typeface="+mn-lt"/>
            </a:endParaRPr>
          </a:p>
          <a:p>
            <a:pPr lvl="1"/>
            <a:r>
              <a:rPr dirty="0">
                <a:latin typeface="+mn-lt"/>
              </a:rPr>
              <a:t>Squashes WIP commits</a:t>
            </a:r>
            <a:endParaRPr lang="en-US" dirty="0">
              <a:latin typeface="+mn-lt"/>
            </a:endParaRPr>
          </a:p>
          <a:p>
            <a:pPr lvl="1"/>
            <a:r>
              <a:rPr dirty="0">
                <a:latin typeface="+mn-lt"/>
              </a:rPr>
              <a:t>Merges into your main branch</a:t>
            </a:r>
            <a:endParaRPr lang="en-US" dirty="0">
              <a:latin typeface="+mn-lt"/>
            </a:endParaRPr>
          </a:p>
          <a:p>
            <a:pPr lvl="1"/>
            <a:r>
              <a:rPr dirty="0">
                <a:latin typeface="+mn-lt"/>
              </a:rPr>
              <a:t>Cleans up the WIP branch</a:t>
            </a:r>
          </a:p>
        </p:txBody>
      </p:sp>
    </p:spTree>
    <p:extLst>
      <p:ext uri="{BB962C8B-B14F-4D97-AF65-F5344CB8AC3E}">
        <p14:creationId xmlns:p14="http://schemas.microsoft.com/office/powerpoint/2010/main" val="2009994743"/>
      </p:ext>
    </p:extLst>
  </p:cSld>
  <p:clrMapOvr>
    <a:masterClrMapping/>
  </p:clrMapOvr>
  <p:transition>
    <p:fade/>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Branching Model Best Practices</a:t>
            </a:r>
          </a:p>
        </p:txBody>
      </p:sp>
      <p:sp>
        <p:nvSpPr>
          <p:cNvPr id="3" name="Content Placeholder 2"/>
          <p:cNvSpPr>
            <a:spLocks noGrp="1"/>
          </p:cNvSpPr>
          <p:nvPr>
            <p:ph idx="1"/>
          </p:nvPr>
        </p:nvSpPr>
        <p:spPr/>
        <p:txBody>
          <a:bodyPr>
            <a:normAutofit/>
          </a:bodyPr>
          <a:lstStyle/>
          <a:p>
            <a:pPr marL="0" lvl="0" indent="0">
              <a:spcBef>
                <a:spcPts val="3000"/>
              </a:spcBef>
              <a:buNone/>
            </a:pPr>
            <a:r>
              <a:rPr b="1" dirty="0">
                <a:latin typeface="+mn-lt"/>
              </a:rPr>
              <a:t>Recommended</a:t>
            </a:r>
          </a:p>
          <a:p>
            <a:pPr lvl="0"/>
            <a:r>
              <a:rPr dirty="0">
                <a:latin typeface="+mn-lt"/>
              </a:rPr>
              <a:t>Feature branch per story</a:t>
            </a:r>
          </a:p>
          <a:p>
            <a:pPr lvl="0"/>
            <a:r>
              <a:rPr dirty="0">
                <a:latin typeface="+mn-lt"/>
              </a:rPr>
              <a:t>mob.sh manages the WIP branch</a:t>
            </a:r>
          </a:p>
          <a:p>
            <a:pPr lvl="0"/>
            <a:r>
              <a:rPr dirty="0">
                <a:latin typeface="+mn-lt"/>
              </a:rPr>
              <a:t>PR created after mob done</a:t>
            </a:r>
          </a:p>
          <a:p>
            <a:pPr marL="0" lvl="0" indent="0">
              <a:spcBef>
                <a:spcPts val="3000"/>
              </a:spcBef>
              <a:buNone/>
            </a:pPr>
            <a:r>
              <a:rPr b="1" dirty="0">
                <a:latin typeface="+mn-lt"/>
              </a:rPr>
              <a:t>Avoid</a:t>
            </a:r>
          </a:p>
          <a:p>
            <a:pPr lvl="0"/>
            <a:r>
              <a:rPr dirty="0">
                <a:latin typeface="+mn-lt"/>
              </a:rPr>
              <a:t>Multiple mobs on the same feature branch</a:t>
            </a:r>
          </a:p>
          <a:p>
            <a:pPr lvl="0"/>
            <a:r>
              <a:rPr dirty="0">
                <a:latin typeface="+mn-lt"/>
              </a:rPr>
              <a:t>Manual commits on the WIP branch</a:t>
            </a:r>
          </a:p>
        </p:txBody>
      </p:sp>
    </p:spTree>
    <p:extLst>
      <p:ext uri="{BB962C8B-B14F-4D97-AF65-F5344CB8AC3E}">
        <p14:creationId xmlns:p14="http://schemas.microsoft.com/office/powerpoint/2010/main" val="402447327"/>
      </p:ext>
    </p:extLst>
  </p:cSld>
  <p:clrMapOvr>
    <a:masterClrMapping/>
  </p:clrMapOvr>
  <p:transition>
    <p:fade/>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Role Rotation Tips</a:t>
            </a:r>
          </a:p>
        </p:txBody>
      </p:sp>
      <p:sp>
        <p:nvSpPr>
          <p:cNvPr id="3" name="Content Placeholder 2"/>
          <p:cNvSpPr>
            <a:spLocks noGrp="1"/>
          </p:cNvSpPr>
          <p:nvPr>
            <p:ph idx="1"/>
          </p:nvPr>
        </p:nvSpPr>
        <p:spPr/>
        <p:txBody>
          <a:bodyPr/>
          <a:lstStyle/>
          <a:p>
            <a:pPr lvl="0"/>
            <a:r>
              <a:rPr dirty="0">
                <a:latin typeface="+mn-lt"/>
              </a:rPr>
              <a:t>Driver rotates every 5–7 minutes</a:t>
            </a:r>
          </a:p>
          <a:p>
            <a:pPr lvl="0"/>
            <a:r>
              <a:rPr dirty="0">
                <a:latin typeface="+mn-lt"/>
              </a:rPr>
              <a:t>Navigator(s) guide the next steps</a:t>
            </a:r>
          </a:p>
          <a:p>
            <a:pPr lvl="0"/>
            <a:r>
              <a:rPr dirty="0">
                <a:latin typeface="+mn-lt"/>
              </a:rPr>
              <a:t>Researchers support without interrupting flow</a:t>
            </a:r>
          </a:p>
          <a:p>
            <a:pPr lvl="0"/>
            <a:r>
              <a:rPr dirty="0">
                <a:latin typeface="+mn-lt"/>
              </a:rPr>
              <a:t>Use a shared timer (mob.sh or external)</a:t>
            </a:r>
          </a:p>
        </p:txBody>
      </p:sp>
    </p:spTree>
    <p:extLst>
      <p:ext uri="{BB962C8B-B14F-4D97-AF65-F5344CB8AC3E}">
        <p14:creationId xmlns:p14="http://schemas.microsoft.com/office/powerpoint/2010/main" val="2533214804"/>
      </p:ext>
    </p:extLst>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Advanced Features</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latin typeface="+mn-lt"/>
              </a:rPr>
              <a:t>mob start –include-uncommitted</a:t>
            </a:r>
          </a:p>
          <a:p>
            <a:pPr marL="0" lvl="0" indent="0">
              <a:buNone/>
            </a:pPr>
            <a:r>
              <a:rPr dirty="0">
                <a:latin typeface="+mn-lt"/>
              </a:rPr>
              <a:t>Keep local changes when starting a session.</a:t>
            </a:r>
          </a:p>
          <a:p>
            <a:pPr marL="0" lvl="0" indent="0">
              <a:spcBef>
                <a:spcPts val="3000"/>
              </a:spcBef>
              <a:buNone/>
            </a:pPr>
            <a:r>
              <a:rPr b="1" dirty="0">
                <a:latin typeface="+mn-lt"/>
              </a:rPr>
              <a:t>mob start –branch </a:t>
            </a:r>
          </a:p>
          <a:p>
            <a:pPr marL="0" lvl="0" indent="0">
              <a:buNone/>
            </a:pPr>
            <a:r>
              <a:rPr dirty="0">
                <a:latin typeface="+mn-lt"/>
              </a:rPr>
              <a:t>Use a custom WIP branch.</a:t>
            </a:r>
          </a:p>
          <a:p>
            <a:pPr marL="0" lvl="0" indent="0">
              <a:spcBef>
                <a:spcPts val="3000"/>
              </a:spcBef>
              <a:buNone/>
            </a:pPr>
            <a:r>
              <a:rPr b="1" dirty="0">
                <a:latin typeface="+mn-lt"/>
              </a:rPr>
              <a:t>mob timer</a:t>
            </a:r>
          </a:p>
          <a:p>
            <a:pPr marL="0" lvl="0" indent="0">
              <a:buNone/>
            </a:pPr>
            <a:r>
              <a:rPr dirty="0">
                <a:latin typeface="+mn-lt"/>
              </a:rPr>
              <a:t>Start a standalone rotation timer.</a:t>
            </a:r>
          </a:p>
          <a:p>
            <a:pPr marL="0" lvl="0" indent="0">
              <a:spcBef>
                <a:spcPts val="3000"/>
              </a:spcBef>
              <a:buNone/>
            </a:pPr>
            <a:r>
              <a:rPr b="1" dirty="0">
                <a:latin typeface="+mn-lt"/>
              </a:rPr>
              <a:t>mob status</a:t>
            </a:r>
          </a:p>
          <a:p>
            <a:pPr marL="0" lvl="0" indent="0">
              <a:buNone/>
            </a:pPr>
            <a:r>
              <a:rPr dirty="0">
                <a:latin typeface="+mn-lt"/>
              </a:rPr>
              <a:t>Check current mob state.</a:t>
            </a:r>
          </a:p>
        </p:txBody>
      </p:sp>
    </p:spTree>
    <p:extLst>
      <p:ext uri="{BB962C8B-B14F-4D97-AF65-F5344CB8AC3E}">
        <p14:creationId xmlns:p14="http://schemas.microsoft.com/office/powerpoint/2010/main" val="3014118904"/>
      </p:ext>
    </p:extLst>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Troubleshooting</a:t>
            </a:r>
          </a:p>
        </p:txBody>
      </p:sp>
      <p:sp>
        <p:nvSpPr>
          <p:cNvPr id="3" name="Content Placeholder 2"/>
          <p:cNvSpPr>
            <a:spLocks noGrp="1"/>
          </p:cNvSpPr>
          <p:nvPr>
            <p:ph idx="1"/>
          </p:nvPr>
        </p:nvSpPr>
        <p:spPr/>
        <p:txBody>
          <a:bodyPr>
            <a:normAutofit fontScale="77500" lnSpcReduction="20000"/>
          </a:bodyPr>
          <a:lstStyle/>
          <a:p>
            <a:pPr marL="0" lvl="0" indent="0">
              <a:spcBef>
                <a:spcPts val="3000"/>
              </a:spcBef>
              <a:buNone/>
            </a:pPr>
            <a:r>
              <a:rPr b="1" dirty="0">
                <a:latin typeface="+mn-lt"/>
              </a:rPr>
              <a:t>“Uncommitted changes” error</a:t>
            </a:r>
          </a:p>
          <a:p>
            <a:pPr marL="0" lvl="0" indent="0">
              <a:buNone/>
            </a:pPr>
            <a:r>
              <a:rPr dirty="0">
                <a:latin typeface="+mn-lt"/>
              </a:rPr>
              <a:t>→ Run:</a:t>
            </a:r>
          </a:p>
          <a:p>
            <a:pPr lvl="0" indent="0">
              <a:buNone/>
            </a:pPr>
            <a:r>
              <a:rPr dirty="0">
                <a:latin typeface="Consolas" panose="020B0609020204030204" pitchFamily="49" charset="0"/>
              </a:rPr>
              <a:t>git stash</a:t>
            </a:r>
          </a:p>
          <a:p>
            <a:pPr marL="0" lvl="0" indent="0">
              <a:spcBef>
                <a:spcPts val="3000"/>
              </a:spcBef>
              <a:buNone/>
            </a:pPr>
            <a:r>
              <a:rPr b="1" dirty="0">
                <a:latin typeface="+mn-lt"/>
              </a:rPr>
              <a:t>Conflicts on mob done</a:t>
            </a:r>
          </a:p>
          <a:p>
            <a:pPr marL="0" lvl="0" indent="0">
              <a:buNone/>
            </a:pPr>
            <a:r>
              <a:rPr dirty="0">
                <a:latin typeface="+mn-lt"/>
              </a:rPr>
              <a:t>→ Resolve locally, then:</a:t>
            </a:r>
          </a:p>
          <a:p>
            <a:pPr lvl="0" indent="0">
              <a:buNone/>
            </a:pPr>
            <a:r>
              <a:rPr dirty="0">
                <a:latin typeface="Consolas" panose="020B0609020204030204" pitchFamily="49" charset="0"/>
              </a:rPr>
              <a:t>mob done --continue</a:t>
            </a:r>
          </a:p>
          <a:p>
            <a:pPr marL="0" lvl="0" indent="0">
              <a:spcBef>
                <a:spcPts val="3000"/>
              </a:spcBef>
              <a:buNone/>
            </a:pPr>
            <a:r>
              <a:rPr b="1" dirty="0">
                <a:latin typeface="+mn-lt"/>
              </a:rPr>
              <a:t>Someone forgot mob next</a:t>
            </a:r>
          </a:p>
          <a:p>
            <a:pPr marL="0" lvl="0" indent="0">
              <a:buNone/>
            </a:pPr>
            <a:r>
              <a:rPr dirty="0">
                <a:latin typeface="+mn-lt"/>
              </a:rPr>
              <a:t>→ Use:</a:t>
            </a:r>
          </a:p>
          <a:p>
            <a:pPr lvl="0" indent="0">
              <a:buNone/>
            </a:pPr>
            <a:r>
              <a:rPr dirty="0">
                <a:latin typeface="Consolas" panose="020B0609020204030204" pitchFamily="49" charset="0"/>
              </a:rPr>
              <a:t>mob start --continue</a:t>
            </a:r>
          </a:p>
        </p:txBody>
      </p:sp>
    </p:spTree>
    <p:extLst>
      <p:ext uri="{BB962C8B-B14F-4D97-AF65-F5344CB8AC3E}">
        <p14:creationId xmlns:p14="http://schemas.microsoft.com/office/powerpoint/2010/main" val="3840604165"/>
      </p:ext>
    </p:extLst>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marL="0" lvl="0" indent="0">
              <a:buNone/>
            </a:pPr>
            <a:r>
              <a:rPr dirty="0">
                <a:latin typeface="+mn-lt"/>
              </a:rPr>
              <a:t>📚 Resources</a:t>
            </a:r>
          </a:p>
        </p:txBody>
      </p:sp>
      <p:sp>
        <p:nvSpPr>
          <p:cNvPr id="3" name="Content Placeholder 2"/>
          <p:cNvSpPr>
            <a:spLocks noGrp="1"/>
          </p:cNvSpPr>
          <p:nvPr>
            <p:ph idx="1"/>
          </p:nvPr>
        </p:nvSpPr>
        <p:spPr/>
        <p:txBody>
          <a:bodyPr/>
          <a:lstStyle/>
          <a:p>
            <a:pPr lvl="0"/>
            <a:r>
              <a:rPr dirty="0">
                <a:latin typeface="+mn-lt"/>
              </a:rPr>
              <a:t>Official site:</a:t>
            </a:r>
            <a:r>
              <a:rPr lang="en-US" dirty="0">
                <a:latin typeface="+mn-lt"/>
              </a:rPr>
              <a:t> https://mob.sh </a:t>
            </a:r>
            <a:endParaRPr dirty="0">
              <a:latin typeface="+mn-lt"/>
              <a:hlinkClick r:id="rId2">
                <a:extLst>
                  <a:ext uri="{A12FA001-AC4F-418D-AE19-62706E023703}">
                    <ahyp:hlinkClr xmlns:ahyp="http://schemas.microsoft.com/office/drawing/2018/hyperlinkcolor" val="tx"/>
                  </a:ext>
                </a:extLst>
              </a:hlinkClick>
            </a:endParaRPr>
          </a:p>
          <a:p>
            <a:pPr lvl="0"/>
            <a:r>
              <a:rPr dirty="0" err="1">
                <a:latin typeface="+mn-lt"/>
              </a:rPr>
              <a:t>ThoughtWorks</a:t>
            </a:r>
            <a:r>
              <a:rPr dirty="0">
                <a:latin typeface="+mn-lt"/>
              </a:rPr>
              <a:t> Tech Radar (Technique): Mob Programming</a:t>
            </a:r>
          </a:p>
          <a:p>
            <a:pPr lvl="0"/>
            <a:r>
              <a:rPr dirty="0">
                <a:latin typeface="+mn-lt"/>
              </a:rPr>
              <a:t>GitHub repo:</a:t>
            </a:r>
            <a:r>
              <a:rPr lang="en-US" dirty="0">
                <a:latin typeface="+mn-lt"/>
              </a:rPr>
              <a:t> https://github.com/remotemobprogramming/mob </a:t>
            </a:r>
            <a:endParaRPr dirty="0">
              <a:latin typeface="+mn-lt"/>
              <a:hlinkClick r:id="rId3">
                <a:extLst>
                  <a:ext uri="{A12FA001-AC4F-418D-AE19-62706E023703}">
                    <ahyp:hlinkClr xmlns:ahyp="http://schemas.microsoft.com/office/drawing/2018/hyperlinkcolor" val="tx"/>
                  </a:ext>
                </a:extLst>
              </a:hlinkClick>
            </a:endParaRPr>
          </a:p>
        </p:txBody>
      </p:sp>
    </p:spTree>
    <p:extLst>
      <p:ext uri="{BB962C8B-B14F-4D97-AF65-F5344CB8AC3E}">
        <p14:creationId xmlns:p14="http://schemas.microsoft.com/office/powerpoint/2010/main" val="3919643910"/>
      </p:ext>
    </p:extLst>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297AB5E-AC6F-65CD-B8A9-5B6FF481F32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B94E8E4-082E-FDB9-A939-F851A32A8AB0}"/>
              </a:ext>
            </a:extLst>
          </p:cNvPr>
          <p:cNvSpPr>
            <a:spLocks noGrp="1"/>
          </p:cNvSpPr>
          <p:nvPr>
            <p:ph type="title"/>
          </p:nvPr>
        </p:nvSpPr>
        <p:spPr/>
        <p:txBody>
          <a:bodyPr>
            <a:normAutofit/>
          </a:bodyPr>
          <a:lstStyle/>
          <a:p>
            <a:r>
              <a:rPr lang="en-US" sz="2000" dirty="0"/>
              <a:t>Lab: Cloning the Course Repository</a:t>
            </a:r>
          </a:p>
        </p:txBody>
      </p:sp>
      <p:sp>
        <p:nvSpPr>
          <p:cNvPr id="3" name="Content Placeholder 2">
            <a:extLst>
              <a:ext uri="{FF2B5EF4-FFF2-40B4-BE49-F238E27FC236}">
                <a16:creationId xmlns:a16="http://schemas.microsoft.com/office/drawing/2014/main" id="{8C71D47C-8D97-6E73-4723-1CFF562D56A7}"/>
              </a:ext>
            </a:extLst>
          </p:cNvPr>
          <p:cNvSpPr>
            <a:spLocks noGrp="1"/>
          </p:cNvSpPr>
          <p:nvPr>
            <p:ph idx="1"/>
          </p:nvPr>
        </p:nvSpPr>
        <p:spPr/>
        <p:txBody>
          <a:bodyPr numCol="2">
            <a:normAutofit fontScale="62500" lnSpcReduction="20000"/>
          </a:bodyPr>
          <a:lstStyle/>
          <a:p>
            <a:pPr marL="0" indent="0">
              <a:buNone/>
            </a:pPr>
            <a:r>
              <a:rPr lang="en-US" b="1" dirty="0"/>
              <a:t>Duration: </a:t>
            </a:r>
            <a:r>
              <a:rPr lang="en-US" dirty="0"/>
              <a:t>10 minutes</a:t>
            </a:r>
          </a:p>
          <a:p>
            <a:pPr marL="0" indent="0">
              <a:buNone/>
            </a:pPr>
            <a:r>
              <a:rPr lang="en-US" b="1" dirty="0"/>
              <a:t>Prerequisites:</a:t>
            </a:r>
            <a:r>
              <a:rPr lang="en-US" dirty="0"/>
              <a:t> Git, GitHub account</a:t>
            </a:r>
            <a:br>
              <a:rPr lang="en-US" dirty="0"/>
            </a:br>
            <a:endParaRPr lang="en-US" dirty="0"/>
          </a:p>
          <a:p>
            <a:pPr marL="0" indent="0">
              <a:buNone/>
            </a:pPr>
            <a:r>
              <a:rPr lang="en-US" b="1" dirty="0"/>
              <a:t>Objectives</a:t>
            </a:r>
            <a:endParaRPr lang="en-US" dirty="0"/>
          </a:p>
          <a:p>
            <a:r>
              <a:rPr lang="en-US" dirty="0"/>
              <a:t>Fork the class repository</a:t>
            </a:r>
            <a:br>
              <a:rPr lang="en-US" dirty="0"/>
            </a:br>
            <a:endParaRPr lang="en-US" dirty="0"/>
          </a:p>
          <a:p>
            <a:pPr marL="0" indent="0">
              <a:buNone/>
            </a:pPr>
            <a:r>
              <a:rPr lang="en-US" b="1" dirty="0"/>
              <a:t>Activities</a:t>
            </a:r>
            <a:endParaRPr lang="en-US" dirty="0"/>
          </a:p>
          <a:p>
            <a:pPr marL="0" indent="0">
              <a:buNone/>
            </a:pPr>
            <a:r>
              <a:rPr lang="en-US" dirty="0"/>
              <a:t>1. </a:t>
            </a:r>
            <a:r>
              <a:rPr lang="en-US" b="1" dirty="0"/>
              <a:t>Fork Repo:</a:t>
            </a:r>
            <a:endParaRPr lang="en-US" dirty="0"/>
          </a:p>
          <a:p>
            <a:pPr lvl="0"/>
            <a:r>
              <a:rPr lang="en-US" dirty="0"/>
              <a:t>Search GitHub for the repo:</a:t>
            </a:r>
          </a:p>
          <a:p>
            <a:pPr lvl="1"/>
            <a:r>
              <a:rPr lang="en-US" sz="1300" dirty="0" err="1"/>
              <a:t>johnmillerATcodemag</a:t>
            </a:r>
            <a:r>
              <a:rPr lang="en-US" sz="1300" dirty="0"/>
              <a:t>-com/AI-Assisted-Software-Development</a:t>
            </a:r>
          </a:p>
          <a:p>
            <a:r>
              <a:rPr lang="en-US" dirty="0"/>
              <a:t>Select repo:</a:t>
            </a:r>
          </a:p>
          <a:p>
            <a:pPr lvl="1"/>
            <a:r>
              <a:rPr lang="en-US" sz="1300" dirty="0" err="1"/>
              <a:t>johnmillerATcodemag</a:t>
            </a:r>
            <a:r>
              <a:rPr lang="en-US" sz="1300" dirty="0"/>
              <a:t>-com/AI-Assisted-Software-Development</a:t>
            </a:r>
          </a:p>
          <a:p>
            <a:r>
              <a:rPr lang="en-US" dirty="0"/>
              <a:t>Create a new fork</a:t>
            </a:r>
          </a:p>
          <a:p>
            <a:pPr lvl="1"/>
            <a:r>
              <a:rPr lang="en-US" sz="1700" dirty="0"/>
              <a:t>Chose an Owner (your GitHub account)</a:t>
            </a:r>
          </a:p>
          <a:p>
            <a:pPr lvl="1"/>
            <a:r>
              <a:rPr lang="en-US" sz="1700" dirty="0"/>
              <a:t>Enter the Repository name (Use the source repo name plus and identifier)</a:t>
            </a:r>
          </a:p>
          <a:p>
            <a:pPr lvl="1"/>
            <a:r>
              <a:rPr lang="en-US" sz="1700" dirty="0"/>
              <a:t>Update the Description</a:t>
            </a:r>
          </a:p>
          <a:p>
            <a:pPr lvl="1"/>
            <a:r>
              <a:rPr lang="en-US" sz="1700" dirty="0"/>
              <a:t>Select the option to copy the main branch only, if not already selected</a:t>
            </a:r>
          </a:p>
          <a:p>
            <a:pPr lvl="1"/>
            <a:r>
              <a:rPr lang="en-US" sz="1700" dirty="0"/>
              <a:t>Click on </a:t>
            </a:r>
            <a:r>
              <a:rPr lang="en-US" sz="1700" dirty="0" err="1"/>
              <a:t>Creat</a:t>
            </a:r>
            <a:r>
              <a:rPr lang="en-US" sz="1700" dirty="0"/>
              <a:t> fork</a:t>
            </a:r>
          </a:p>
          <a:p>
            <a:r>
              <a:rPr lang="en-US" sz="2000" dirty="0"/>
              <a:t>2. Clone the forked repository</a:t>
            </a:r>
          </a:p>
          <a:p>
            <a:pPr lvl="1"/>
            <a:r>
              <a:rPr lang="en-US" dirty="0"/>
              <a:t>This will create a personal copy in your GitHub account</a:t>
            </a:r>
          </a:p>
          <a:p>
            <a:pPr lvl="1"/>
            <a:r>
              <a:rPr lang="en-US" dirty="0"/>
              <a:t>You can make changes without affecting the original repo</a:t>
            </a:r>
            <a:endParaRPr lang="en-US" sz="2000" dirty="0"/>
          </a:p>
          <a:p>
            <a:endParaRPr lang="en-US" dirty="0"/>
          </a:p>
          <a:p>
            <a:pPr marL="0" indent="0">
              <a:buNone/>
            </a:pPr>
            <a:r>
              <a:rPr lang="en-US" b="1" dirty="0"/>
              <a:t>Success Criteria</a:t>
            </a:r>
            <a:endParaRPr lang="en-US" dirty="0"/>
          </a:p>
          <a:p>
            <a:r>
              <a:rPr lang="en-US" dirty="0"/>
              <a:t>Forked repository exists locally</a:t>
            </a:r>
          </a:p>
          <a:p>
            <a:r>
              <a:rPr lang="en-US" dirty="0"/>
              <a:t>Test changes can be staged, committed, and pushed to the forked repository</a:t>
            </a:r>
          </a:p>
        </p:txBody>
      </p:sp>
    </p:spTree>
    <p:extLst>
      <p:ext uri="{BB962C8B-B14F-4D97-AF65-F5344CB8AC3E}">
        <p14:creationId xmlns:p14="http://schemas.microsoft.com/office/powerpoint/2010/main" val="2635389376"/>
      </p:ext>
    </p:extLst>
  </p:cSld>
  <p:clrMapOvr>
    <a:masterClrMapping/>
  </p:clrMapOvr>
  <p:transition>
    <p:fade/>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FD53838-56DA-5AD1-44D0-65C93ED236E2}"/>
              </a:ext>
            </a:extLst>
          </p:cNvPr>
          <p:cNvSpPr>
            <a:spLocks noGrp="1"/>
          </p:cNvSpPr>
          <p:nvPr>
            <p:ph type="title"/>
          </p:nvPr>
        </p:nvSpPr>
        <p:spPr/>
        <p:txBody>
          <a:bodyPr>
            <a:noAutofit/>
          </a:bodyPr>
          <a:lstStyle/>
          <a:p>
            <a:r>
              <a:rPr lang="en-US" sz="2800" dirty="0"/>
              <a:t>Lab: Mob Programming Setup</a:t>
            </a:r>
          </a:p>
        </p:txBody>
      </p:sp>
      <p:sp>
        <p:nvSpPr>
          <p:cNvPr id="3" name="Content Placeholder 2">
            <a:extLst>
              <a:ext uri="{FF2B5EF4-FFF2-40B4-BE49-F238E27FC236}">
                <a16:creationId xmlns:a16="http://schemas.microsoft.com/office/drawing/2014/main" id="{0C05B120-646A-ABDB-D7DE-003C3E3913A8}"/>
              </a:ext>
            </a:extLst>
          </p:cNvPr>
          <p:cNvSpPr>
            <a:spLocks noGrp="1"/>
          </p:cNvSpPr>
          <p:nvPr>
            <p:ph idx="1"/>
          </p:nvPr>
        </p:nvSpPr>
        <p:spPr/>
        <p:txBody>
          <a:bodyPr numCol="2">
            <a:normAutofit fontScale="77500" lnSpcReduction="20000"/>
          </a:bodyPr>
          <a:lstStyle/>
          <a:p>
            <a:pPr marL="0" indent="0">
              <a:buNone/>
            </a:pPr>
            <a:r>
              <a:rPr lang="en-US" b="1" dirty="0"/>
              <a:t>Duration:</a:t>
            </a:r>
            <a:r>
              <a:rPr lang="en-US" dirty="0"/>
              <a:t> 15-20 minutes</a:t>
            </a:r>
            <a:br>
              <a:rPr lang="en-US" dirty="0"/>
            </a:br>
            <a:endParaRPr lang="en-US" dirty="0"/>
          </a:p>
          <a:p>
            <a:pPr marL="0" indent="0">
              <a:buNone/>
            </a:pPr>
            <a:r>
              <a:rPr lang="en-US" b="1" dirty="0"/>
              <a:t>Objectives</a:t>
            </a:r>
            <a:br>
              <a:rPr lang="en-US" dirty="0"/>
            </a:br>
            <a:endParaRPr lang="en-US" dirty="0"/>
          </a:p>
          <a:p>
            <a:pPr lvl="1"/>
            <a:r>
              <a:rPr lang="en-US" dirty="0"/>
              <a:t>Explore collaborative coding with Copilot</a:t>
            </a:r>
          </a:p>
          <a:p>
            <a:pPr lvl="1"/>
            <a:r>
              <a:rPr lang="en-US" dirty="0"/>
              <a:t>Set up for team development</a:t>
            </a:r>
            <a:br>
              <a:rPr lang="en-US" dirty="0"/>
            </a:br>
            <a:endParaRPr lang="en-US" dirty="0"/>
          </a:p>
          <a:p>
            <a:pPr marL="0" indent="0">
              <a:buNone/>
            </a:pPr>
            <a:r>
              <a:rPr lang="en-US" b="1" dirty="0"/>
              <a:t>Activities</a:t>
            </a:r>
            <a:br>
              <a:rPr lang="en-US" dirty="0"/>
            </a:br>
            <a:endParaRPr lang="en-US" dirty="0"/>
          </a:p>
          <a:p>
            <a:pPr marL="457200" indent="-457200">
              <a:buAutoNum type="arabicPeriod"/>
            </a:pPr>
            <a:r>
              <a:rPr lang="en-US" dirty="0"/>
              <a:t>Research mob programming tools </a:t>
            </a:r>
          </a:p>
          <a:p>
            <a:pPr lvl="1"/>
            <a:r>
              <a:rPr lang="en-US" dirty="0"/>
              <a:t>mob.sh or alternatives</a:t>
            </a:r>
          </a:p>
          <a:p>
            <a:pPr marL="0" indent="0">
              <a:buNone/>
            </a:pPr>
            <a:r>
              <a:rPr lang="en-US" dirty="0"/>
              <a:t>2. Configure for your environment</a:t>
            </a:r>
          </a:p>
          <a:p>
            <a:pPr marL="0" indent="0">
              <a:buNone/>
            </a:pPr>
            <a:r>
              <a:rPr lang="en-US" dirty="0"/>
              <a:t>3. Practice driver/navigator roles with Copilot as assistant</a:t>
            </a:r>
          </a:p>
          <a:p>
            <a:pPr marL="0" indent="0">
              <a:buNone/>
            </a:pPr>
            <a:r>
              <a:rPr lang="en-US" dirty="0"/>
              <a:t>4. Discuss how AI changes mob programming dynamics</a:t>
            </a:r>
            <a:br>
              <a:rPr lang="en-US" dirty="0"/>
            </a:br>
            <a:endParaRPr lang="en-US" dirty="0"/>
          </a:p>
          <a:p>
            <a:pPr marL="0" indent="0">
              <a:buNone/>
            </a:pPr>
            <a:r>
              <a:rPr lang="en-US" b="1" dirty="0"/>
              <a:t>Discussion Questions</a:t>
            </a:r>
            <a:br>
              <a:rPr lang="en-US" dirty="0"/>
            </a:br>
            <a:endParaRPr lang="en-US" dirty="0"/>
          </a:p>
          <a:p>
            <a:pPr lvl="1"/>
            <a:r>
              <a:rPr lang="en-US" dirty="0"/>
              <a:t>How does AI change the driver/navigator dynamic?</a:t>
            </a:r>
          </a:p>
          <a:p>
            <a:pPr lvl="1"/>
            <a:r>
              <a:rPr lang="en-US" dirty="0"/>
              <a:t>Should AI suggestions be discussed by the mob before accepting?</a:t>
            </a:r>
          </a:p>
          <a:p>
            <a:pPr lvl="1"/>
            <a:r>
              <a:rPr lang="en-US" dirty="0"/>
              <a:t>How to handle disagreements between mob and AI suggestions?</a:t>
            </a:r>
          </a:p>
        </p:txBody>
      </p:sp>
    </p:spTree>
    <p:extLst>
      <p:ext uri="{BB962C8B-B14F-4D97-AF65-F5344CB8AC3E}">
        <p14:creationId xmlns:p14="http://schemas.microsoft.com/office/powerpoint/2010/main" val="1321232318"/>
      </p:ext>
    </p:extLst>
  </p:cSld>
  <p:clrMapOvr>
    <a:masterClrMapping/>
  </p:clrMapOvr>
  <p:transition>
    <p:fade/>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5087A9-7EEF-FB3F-FB86-59AF55BFA6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683AC4B-E2D5-9454-E05D-40E8F723558F}"/>
              </a:ext>
            </a:extLst>
          </p:cNvPr>
          <p:cNvSpPr>
            <a:spLocks noGrp="1"/>
          </p:cNvSpPr>
          <p:nvPr>
            <p:ph type="title"/>
          </p:nvPr>
        </p:nvSpPr>
        <p:spPr>
          <a:xfrm>
            <a:off x="628651" y="273845"/>
            <a:ext cx="6696665" cy="527268"/>
          </a:xfrm>
        </p:spPr>
        <p:txBody>
          <a:bodyPr anchor="ctr">
            <a:normAutofit/>
          </a:bodyPr>
          <a:lstStyle/>
          <a:p>
            <a:pPr marL="0" lvl="0" indent="0">
              <a:buNone/>
            </a:pPr>
            <a:r>
              <a:rPr lang="en-US" sz="3100" dirty="0"/>
              <a:t>Agenda</a:t>
            </a:r>
          </a:p>
        </p:txBody>
      </p:sp>
      <p:graphicFrame>
        <p:nvGraphicFramePr>
          <p:cNvPr id="9" name="Content Placeholder 2">
            <a:extLst>
              <a:ext uri="{FF2B5EF4-FFF2-40B4-BE49-F238E27FC236}">
                <a16:creationId xmlns:a16="http://schemas.microsoft.com/office/drawing/2014/main" id="{37575EEF-AB1A-569A-898A-38711EAD086C}"/>
              </a:ext>
            </a:extLst>
          </p:cNvPr>
          <p:cNvGraphicFramePr>
            <a:graphicFrameLocks noGrp="1"/>
          </p:cNvGraphicFramePr>
          <p:nvPr>
            <p:ph idx="1"/>
            <p:extLst>
              <p:ext uri="{D42A27DB-BD31-4B8C-83A1-F6EECF244321}">
                <p14:modId xmlns:p14="http://schemas.microsoft.com/office/powerpoint/2010/main" val="919171402"/>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02465211"/>
      </p:ext>
    </p:extLst>
  </p:cSld>
  <p:clrMapOvr>
    <a:masterClrMapping/>
  </p:clrMapOvr>
  <p:transition>
    <p:fade/>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C2A4AFB-EE22-469C-B2B2-1C5C251E4112}"/>
              </a:ext>
            </a:extLst>
          </p:cNvPr>
          <p:cNvSpPr>
            <a:spLocks noGrp="1"/>
          </p:cNvSpPr>
          <p:nvPr>
            <p:ph type="title"/>
          </p:nvPr>
        </p:nvSpPr>
        <p:spPr/>
        <p:txBody>
          <a:bodyPr>
            <a:noAutofit/>
          </a:bodyPr>
          <a:lstStyle/>
          <a:p>
            <a:r>
              <a:rPr lang="en-US" sz="2800" dirty="0"/>
              <a:t>Collaborating on a Solution</a:t>
            </a:r>
          </a:p>
        </p:txBody>
      </p:sp>
      <p:sp>
        <p:nvSpPr>
          <p:cNvPr id="3" name="Content Placeholder 2">
            <a:extLst>
              <a:ext uri="{FF2B5EF4-FFF2-40B4-BE49-F238E27FC236}">
                <a16:creationId xmlns:a16="http://schemas.microsoft.com/office/drawing/2014/main" id="{6DD19230-356B-0C2C-250A-E56F7FE853A2}"/>
              </a:ext>
            </a:extLst>
          </p:cNvPr>
          <p:cNvSpPr>
            <a:spLocks noGrp="1"/>
          </p:cNvSpPr>
          <p:nvPr>
            <p:ph idx="1"/>
          </p:nvPr>
        </p:nvSpPr>
        <p:spPr/>
        <p:txBody>
          <a:bodyPr>
            <a:normAutofit fontScale="47500" lnSpcReduction="20000"/>
          </a:bodyPr>
          <a:lstStyle/>
          <a:p>
            <a:r>
              <a:rPr lang="en-US" dirty="0"/>
              <a:t>Project Setup</a:t>
            </a:r>
          </a:p>
          <a:p>
            <a:r>
              <a:rPr lang="en-US" dirty="0"/>
              <a:t>Adding Features</a:t>
            </a:r>
          </a:p>
          <a:p>
            <a:pPr lvl="1"/>
            <a:r>
              <a:rPr lang="en-US" dirty="0"/>
              <a:t>Basic Arithmetic - Addition, subtraction, multiplication, division</a:t>
            </a:r>
          </a:p>
          <a:p>
            <a:pPr lvl="1"/>
            <a:r>
              <a:rPr lang="en-US" dirty="0"/>
              <a:t>Clear / Reset Function - Quickly resets the current input or entire calculation</a:t>
            </a:r>
          </a:p>
          <a:p>
            <a:pPr lvl="1"/>
            <a:r>
              <a:rPr lang="en-US" dirty="0"/>
              <a:t>Decimal Support - Allows entry and computation with decimal numbers</a:t>
            </a:r>
          </a:p>
          <a:p>
            <a:pPr lvl="1"/>
            <a:r>
              <a:rPr lang="en-US" dirty="0"/>
              <a:t>Sign Toggle (+/–) - Switches values between positive and negative</a:t>
            </a:r>
          </a:p>
          <a:p>
            <a:pPr lvl="1"/>
            <a:r>
              <a:rPr lang="en-US" dirty="0"/>
              <a:t>Percentage Function - Converts values to percentages for quick calculations</a:t>
            </a:r>
          </a:p>
          <a:p>
            <a:pPr lvl="1"/>
            <a:r>
              <a:rPr lang="en-US" dirty="0"/>
              <a:t>Memory Functions (M+, M–, MR, MC) - Store, recall, add to, or clear memory values</a:t>
            </a:r>
          </a:p>
          <a:p>
            <a:pPr lvl="1"/>
            <a:r>
              <a:rPr lang="en-US" dirty="0"/>
              <a:t>Error Handling - Displays errors such as division by zero</a:t>
            </a:r>
          </a:p>
          <a:p>
            <a:pPr lvl="1"/>
            <a:r>
              <a:rPr lang="en-US" dirty="0"/>
              <a:t>Simple, Intuitive Interface - Numeric keypad, operation buttons, and display screen</a:t>
            </a:r>
          </a:p>
          <a:p>
            <a:r>
              <a:rPr lang="en-US" dirty="0"/>
              <a:t>Test Automation</a:t>
            </a:r>
          </a:p>
          <a:p>
            <a:pPr lvl="1"/>
            <a:r>
              <a:rPr lang="en-US" dirty="0"/>
              <a:t>Code Coverage</a:t>
            </a:r>
          </a:p>
          <a:p>
            <a:r>
              <a:rPr lang="en-US" dirty="0"/>
              <a:t>Dependency Management</a:t>
            </a:r>
          </a:p>
          <a:p>
            <a:r>
              <a:rPr lang="en-US" dirty="0"/>
              <a:t>Comparing Implementations</a:t>
            </a:r>
          </a:p>
          <a:p>
            <a:r>
              <a:rPr lang="en-US" dirty="0"/>
              <a:t>Chat Management</a:t>
            </a:r>
          </a:p>
          <a:p>
            <a:r>
              <a:rPr lang="en-US" dirty="0"/>
              <a:t>Intro to Evergreen Software Development</a:t>
            </a:r>
          </a:p>
          <a:p>
            <a:pPr lvl="1"/>
            <a:endParaRPr lang="en-US" dirty="0"/>
          </a:p>
        </p:txBody>
      </p:sp>
    </p:spTree>
    <p:extLst>
      <p:ext uri="{BB962C8B-B14F-4D97-AF65-F5344CB8AC3E}">
        <p14:creationId xmlns:p14="http://schemas.microsoft.com/office/powerpoint/2010/main" val="2680930324"/>
      </p:ext>
    </p:extLst>
  </p:cSld>
  <p:clrMapOvr>
    <a:masterClrMapping/>
  </p:clrMapOvr>
  <p:transition>
    <p:fade/>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C303C4-72B9-220F-0517-8BA1C47EB8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78E2AFC-5932-926B-7559-C8EC43B1A818}"/>
              </a:ext>
            </a:extLst>
          </p:cNvPr>
          <p:cNvSpPr>
            <a:spLocks noGrp="1"/>
          </p:cNvSpPr>
          <p:nvPr>
            <p:ph type="title"/>
          </p:nvPr>
        </p:nvSpPr>
        <p:spPr/>
        <p:txBody>
          <a:bodyPr>
            <a:noAutofit/>
          </a:bodyPr>
          <a:lstStyle/>
          <a:p>
            <a:r>
              <a:rPr lang="en-US" sz="1800" dirty="0"/>
              <a:t>Lab: Calculator Project – Basic Arithmetic</a:t>
            </a:r>
          </a:p>
        </p:txBody>
      </p:sp>
      <p:sp>
        <p:nvSpPr>
          <p:cNvPr id="3" name="Content Placeholder 2">
            <a:extLst>
              <a:ext uri="{FF2B5EF4-FFF2-40B4-BE49-F238E27FC236}">
                <a16:creationId xmlns:a16="http://schemas.microsoft.com/office/drawing/2014/main" id="{88E86E3E-E069-0555-C998-046EFF5BB070}"/>
              </a:ext>
            </a:extLst>
          </p:cNvPr>
          <p:cNvSpPr>
            <a:spLocks noGrp="1"/>
          </p:cNvSpPr>
          <p:nvPr>
            <p:ph idx="1"/>
          </p:nvPr>
        </p:nvSpPr>
        <p:spPr/>
        <p:txBody>
          <a:bodyPr numCol="2">
            <a:normAutofit fontScale="55000" lnSpcReduction="20000"/>
          </a:bodyPr>
          <a:lstStyle/>
          <a:p>
            <a:pPr marL="0" indent="0">
              <a:buNone/>
            </a:pPr>
            <a:r>
              <a:rPr lang="en-US" b="1" dirty="0"/>
              <a:t>Duration:</a:t>
            </a:r>
            <a:r>
              <a:rPr lang="en-US" dirty="0"/>
              <a:t> 45-60 minutes</a:t>
            </a:r>
          </a:p>
          <a:p>
            <a:pPr marL="0" indent="0">
              <a:buNone/>
            </a:pPr>
            <a:br>
              <a:rPr lang="en-US" b="1" dirty="0"/>
            </a:br>
            <a:r>
              <a:rPr lang="en-US" b="1" dirty="0"/>
              <a:t>Objectives</a:t>
            </a:r>
            <a:br>
              <a:rPr lang="en-US" dirty="0"/>
            </a:br>
            <a:endParaRPr lang="en-US" dirty="0"/>
          </a:p>
          <a:p>
            <a:pPr lvl="1"/>
            <a:r>
              <a:rPr lang="en-US" dirty="0"/>
              <a:t>Use AI to generate starter code for arithmetic operations</a:t>
            </a:r>
          </a:p>
          <a:p>
            <a:pPr lvl="1"/>
            <a:r>
              <a:rPr lang="en-US" dirty="0"/>
              <a:t>Understand how to validate AI‑generated logic</a:t>
            </a:r>
          </a:p>
          <a:p>
            <a:pPr lvl="1"/>
            <a:r>
              <a:rPr lang="en-US" dirty="0"/>
              <a:t>Integrate addition, subtraction, multiplication, and division functions</a:t>
            </a:r>
          </a:p>
          <a:p>
            <a:pPr marL="0" indent="0">
              <a:buNone/>
            </a:pPr>
            <a:br>
              <a:rPr lang="en-US" dirty="0"/>
            </a:br>
            <a:r>
              <a:rPr lang="en-US" b="1" dirty="0"/>
              <a:t>Activities</a:t>
            </a:r>
            <a:br>
              <a:rPr lang="en-US" dirty="0"/>
            </a:br>
            <a:endParaRPr lang="en-US" dirty="0"/>
          </a:p>
          <a:p>
            <a:pPr marL="0" indent="0">
              <a:buNone/>
            </a:pPr>
            <a:r>
              <a:rPr lang="en-US" dirty="0"/>
              <a:t>1. </a:t>
            </a:r>
            <a:r>
              <a:rPr lang="en-US" b="1" dirty="0"/>
              <a:t>Project Initialization</a:t>
            </a:r>
            <a:r>
              <a:rPr lang="en-US" dirty="0"/>
              <a:t>:</a:t>
            </a:r>
            <a:br>
              <a:rPr lang="en-US" dirty="0"/>
            </a:br>
            <a:endParaRPr lang="en-US" dirty="0"/>
          </a:p>
          <a:p>
            <a:pPr lvl="1"/>
            <a:r>
              <a:rPr lang="en-US" dirty="0"/>
              <a:t>Prompt AI to create a new project</a:t>
            </a:r>
          </a:p>
          <a:p>
            <a:pPr lvl="1"/>
            <a:r>
              <a:rPr lang="en-US" dirty="0"/>
              <a:t>Review generated project structure</a:t>
            </a:r>
          </a:p>
          <a:p>
            <a:pPr lvl="1"/>
            <a:r>
              <a:rPr lang="en-US" dirty="0"/>
              <a:t>Verify build configuration</a:t>
            </a:r>
            <a:br>
              <a:rPr lang="en-US" dirty="0"/>
            </a:br>
            <a:endParaRPr lang="en-US" dirty="0"/>
          </a:p>
          <a:p>
            <a:pPr marL="0" indent="0">
              <a:buNone/>
            </a:pPr>
            <a:r>
              <a:rPr lang="en-US" dirty="0"/>
              <a:t>2. </a:t>
            </a:r>
            <a:r>
              <a:rPr lang="en-US" b="1" dirty="0"/>
              <a:t>Implement Basic Operations</a:t>
            </a:r>
            <a:r>
              <a:rPr lang="en-US" dirty="0"/>
              <a:t>:</a:t>
            </a:r>
          </a:p>
          <a:p>
            <a:pPr lvl="1"/>
            <a:r>
              <a:rPr lang="en-US" dirty="0"/>
              <a:t>Prompt AI to add methods for addition, subtraction, multiplication, and division</a:t>
            </a:r>
          </a:p>
          <a:p>
            <a:pPr marL="0" indent="0">
              <a:buNone/>
            </a:pPr>
            <a:r>
              <a:rPr lang="en-US" dirty="0"/>
              <a:t>3. </a:t>
            </a:r>
            <a:r>
              <a:rPr lang="en-US" b="1" dirty="0"/>
              <a:t>Review the Code:</a:t>
            </a:r>
          </a:p>
          <a:p>
            <a:pPr lvl="1"/>
            <a:r>
              <a:rPr lang="en-US" dirty="0"/>
              <a:t>For correctness and edge cases</a:t>
            </a:r>
          </a:p>
          <a:p>
            <a:pPr marL="0" indent="0">
              <a:buNone/>
            </a:pPr>
            <a:r>
              <a:rPr lang="en-US" dirty="0"/>
              <a:t>4. </a:t>
            </a:r>
            <a:r>
              <a:rPr lang="en-US" b="1" dirty="0"/>
              <a:t>Build and Run</a:t>
            </a:r>
            <a:r>
              <a:rPr lang="en-US" dirty="0"/>
              <a:t>:</a:t>
            </a:r>
          </a:p>
          <a:p>
            <a:pPr lvl="1"/>
            <a:r>
              <a:rPr lang="en-US" dirty="0"/>
              <a:t>Use Copilot to help with build commands</a:t>
            </a:r>
          </a:p>
          <a:p>
            <a:pPr lvl="1"/>
            <a:r>
              <a:rPr lang="en-US" dirty="0"/>
              <a:t>Troubleshoot any compilation errors with Copilot's help</a:t>
            </a:r>
          </a:p>
          <a:p>
            <a:pPr lvl="1"/>
            <a:r>
              <a:rPr lang="en-US" dirty="0"/>
              <a:t>Run the application</a:t>
            </a:r>
          </a:p>
          <a:p>
            <a:pPr marL="342900" lvl="1" indent="0">
              <a:buNone/>
            </a:pPr>
            <a:endParaRPr lang="en-US" dirty="0"/>
          </a:p>
          <a:p>
            <a:r>
              <a:rPr lang="en-US" b="1" dirty="0"/>
              <a:t>Success Criteria</a:t>
            </a:r>
            <a:endParaRPr lang="en-US" dirty="0"/>
          </a:p>
          <a:p>
            <a:pPr lvl="1"/>
            <a:r>
              <a:rPr lang="en-US" dirty="0"/>
              <a:t>Working calculator with 4 basic operations</a:t>
            </a:r>
          </a:p>
          <a:p>
            <a:pPr lvl="1"/>
            <a:r>
              <a:rPr lang="en-US" dirty="0"/>
              <a:t>Application compiles and runs successfully</a:t>
            </a:r>
          </a:p>
          <a:p>
            <a:pPr lvl="1"/>
            <a:r>
              <a:rPr lang="en-US" dirty="0"/>
              <a:t>You've critically reviewed all generated code</a:t>
            </a:r>
          </a:p>
          <a:p>
            <a:pPr marL="0" indent="0">
              <a:buNone/>
            </a:pPr>
            <a:endParaRPr lang="en-US" dirty="0"/>
          </a:p>
        </p:txBody>
      </p:sp>
    </p:spTree>
    <p:extLst>
      <p:ext uri="{BB962C8B-B14F-4D97-AF65-F5344CB8AC3E}">
        <p14:creationId xmlns:p14="http://schemas.microsoft.com/office/powerpoint/2010/main" val="4014121708"/>
      </p:ext>
    </p:extLst>
  </p:cSld>
  <p:clrMapOvr>
    <a:masterClrMapping/>
  </p:clrMapOvr>
  <p:transition>
    <p:fade/>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22B7B7F-7AF7-5A7E-4BCD-291BF6D8CB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DBDCE5F-3E80-C5C0-FD15-1C6683C47AA3}"/>
              </a:ext>
            </a:extLst>
          </p:cNvPr>
          <p:cNvSpPr>
            <a:spLocks noGrp="1"/>
          </p:cNvSpPr>
          <p:nvPr>
            <p:ph type="title"/>
          </p:nvPr>
        </p:nvSpPr>
        <p:spPr/>
        <p:txBody>
          <a:bodyPr>
            <a:noAutofit/>
          </a:bodyPr>
          <a:lstStyle/>
          <a:p>
            <a:r>
              <a:rPr lang="en-US" sz="1800" dirty="0"/>
              <a:t>Lab: Calculator Project – Clear / Reset </a:t>
            </a:r>
          </a:p>
        </p:txBody>
      </p:sp>
      <p:sp>
        <p:nvSpPr>
          <p:cNvPr id="3" name="Content Placeholder 2">
            <a:extLst>
              <a:ext uri="{FF2B5EF4-FFF2-40B4-BE49-F238E27FC236}">
                <a16:creationId xmlns:a16="http://schemas.microsoft.com/office/drawing/2014/main" id="{48109E4E-5E81-42BB-CF7C-D073CC35305A}"/>
              </a:ext>
            </a:extLst>
          </p:cNvPr>
          <p:cNvSpPr>
            <a:spLocks noGrp="1"/>
          </p:cNvSpPr>
          <p:nvPr>
            <p:ph idx="1"/>
          </p:nvPr>
        </p:nvSpPr>
        <p:spPr/>
        <p:txBody>
          <a:bodyPr numCol="2">
            <a:normAutofit fontScale="70000" lnSpcReduction="20000"/>
          </a:bodyPr>
          <a:lstStyle/>
          <a:p>
            <a:pPr marL="0" indent="0">
              <a:buNone/>
            </a:pPr>
            <a:r>
              <a:rPr lang="en-US" b="1" dirty="0"/>
              <a:t>Duration: </a:t>
            </a:r>
            <a:r>
              <a:rPr lang="en-US" dirty="0"/>
              <a:t>15 minutes</a:t>
            </a:r>
          </a:p>
          <a:p>
            <a:pPr marL="0" indent="0">
              <a:buNone/>
            </a:pPr>
            <a:br>
              <a:rPr lang="en-US" b="1" dirty="0"/>
            </a:br>
            <a:r>
              <a:rPr lang="en-US" b="1" dirty="0"/>
              <a:t>Objectives</a:t>
            </a:r>
            <a:br>
              <a:rPr lang="en-US" dirty="0"/>
            </a:br>
            <a:endParaRPr lang="en-US" dirty="0"/>
          </a:p>
          <a:p>
            <a:pPr lvl="1"/>
            <a:r>
              <a:rPr lang="en-US" dirty="0"/>
              <a:t>Use AI to scaffold state‑management logic</a:t>
            </a:r>
          </a:p>
          <a:p>
            <a:pPr lvl="1"/>
            <a:r>
              <a:rPr lang="en-US" dirty="0"/>
              <a:t>Implement CE (clear entry) and C (clear all) behaviors</a:t>
            </a:r>
          </a:p>
          <a:p>
            <a:pPr lvl="1"/>
            <a:r>
              <a:rPr lang="en-US" dirty="0"/>
              <a:t>Understand how AI can help reason about UI state transitions</a:t>
            </a:r>
          </a:p>
          <a:p>
            <a:pPr lvl="1"/>
            <a:endParaRPr lang="en-US" dirty="0"/>
          </a:p>
          <a:p>
            <a:pPr marL="0" indent="0">
              <a:buNone/>
            </a:pPr>
            <a:br>
              <a:rPr lang="en-US" dirty="0"/>
            </a:br>
            <a:r>
              <a:rPr lang="en-US" b="1" dirty="0"/>
              <a:t>Activities</a:t>
            </a:r>
            <a:br>
              <a:rPr lang="en-US" dirty="0"/>
            </a:br>
            <a:endParaRPr lang="en-US" dirty="0"/>
          </a:p>
          <a:p>
            <a:pPr marL="457200" indent="-457200">
              <a:buAutoNum type="arabicPeriod"/>
            </a:pPr>
            <a:r>
              <a:rPr lang="en-US" dirty="0"/>
              <a:t>Prompt AI to outline the difference between CE and C</a:t>
            </a:r>
          </a:p>
          <a:p>
            <a:pPr marL="457200" indent="-457200">
              <a:buAutoNum type="arabicPeriod"/>
            </a:pPr>
            <a:r>
              <a:rPr lang="en-US" dirty="0"/>
              <a:t>Generate code for clearing the current input vs. full state</a:t>
            </a:r>
          </a:p>
          <a:p>
            <a:pPr marL="457200" indent="-457200">
              <a:buAutoNum type="arabicPeriod"/>
            </a:pPr>
            <a:r>
              <a:rPr lang="en-US" dirty="0"/>
              <a:t>Integrate the logic into your calculator’s state object</a:t>
            </a:r>
          </a:p>
          <a:p>
            <a:pPr marL="457200" indent="-457200">
              <a:buAutoNum type="arabicPeriod"/>
            </a:pPr>
            <a:r>
              <a:rPr lang="en-US" dirty="0"/>
              <a:t>Test transitions by simulating user input sequences</a:t>
            </a:r>
          </a:p>
          <a:p>
            <a:pPr marL="342900" lvl="1" indent="0">
              <a:buNone/>
            </a:pPr>
            <a:endParaRPr lang="en-US" dirty="0"/>
          </a:p>
          <a:p>
            <a:r>
              <a:rPr lang="en-US" b="1" dirty="0"/>
              <a:t>Success Criteria</a:t>
            </a:r>
            <a:endParaRPr lang="en-US" dirty="0"/>
          </a:p>
          <a:p>
            <a:pPr lvl="1"/>
            <a:r>
              <a:rPr lang="en-US" dirty="0"/>
              <a:t>- CE clears only the active entry</a:t>
            </a:r>
          </a:p>
          <a:p>
            <a:pPr lvl="1"/>
            <a:r>
              <a:rPr lang="en-US" dirty="0"/>
              <a:t>- C resets the entire calculator state</a:t>
            </a:r>
          </a:p>
          <a:p>
            <a:pPr lvl="1"/>
            <a:endParaRPr lang="en-US" dirty="0"/>
          </a:p>
          <a:p>
            <a:pPr marL="0" indent="0">
              <a:buNone/>
            </a:pPr>
            <a:endParaRPr lang="en-US" dirty="0"/>
          </a:p>
        </p:txBody>
      </p:sp>
    </p:spTree>
    <p:extLst>
      <p:ext uri="{BB962C8B-B14F-4D97-AF65-F5344CB8AC3E}">
        <p14:creationId xmlns:p14="http://schemas.microsoft.com/office/powerpoint/2010/main" val="532563562"/>
      </p:ext>
    </p:extLst>
  </p:cSld>
  <p:clrMapOvr>
    <a:masterClrMapping/>
  </p:clrMapOvr>
  <p:transition>
    <p:fade/>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83AA8BD-3DE5-AD8D-9F74-92D471884DD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26341D9-DDE4-EB35-BDC1-328BF3A60598}"/>
              </a:ext>
            </a:extLst>
          </p:cNvPr>
          <p:cNvSpPr>
            <a:spLocks noGrp="1"/>
          </p:cNvSpPr>
          <p:nvPr>
            <p:ph type="title"/>
          </p:nvPr>
        </p:nvSpPr>
        <p:spPr/>
        <p:txBody>
          <a:bodyPr>
            <a:noAutofit/>
          </a:bodyPr>
          <a:lstStyle/>
          <a:p>
            <a:r>
              <a:rPr lang="en-US" sz="1800" dirty="0"/>
              <a:t>Lab: Calculator Project – Decimal Input</a:t>
            </a:r>
          </a:p>
        </p:txBody>
      </p:sp>
      <p:sp>
        <p:nvSpPr>
          <p:cNvPr id="3" name="Content Placeholder 2">
            <a:extLst>
              <a:ext uri="{FF2B5EF4-FFF2-40B4-BE49-F238E27FC236}">
                <a16:creationId xmlns:a16="http://schemas.microsoft.com/office/drawing/2014/main" id="{DF01D80A-9518-180D-6821-1BA66D9AE9CD}"/>
              </a:ext>
            </a:extLst>
          </p:cNvPr>
          <p:cNvSpPr>
            <a:spLocks noGrp="1"/>
          </p:cNvSpPr>
          <p:nvPr>
            <p:ph idx="1"/>
          </p:nvPr>
        </p:nvSpPr>
        <p:spPr/>
        <p:txBody>
          <a:bodyPr numCol="2">
            <a:noAutofit/>
          </a:bodyPr>
          <a:lstStyle/>
          <a:p>
            <a:pPr marL="0" indent="0">
              <a:buNone/>
            </a:pPr>
            <a:r>
              <a:rPr lang="en-US" sz="1200" b="1" dirty="0"/>
              <a:t>Duration: 12 minutes</a:t>
            </a:r>
            <a:endParaRPr lang="en-US" sz="1200" dirty="0"/>
          </a:p>
          <a:p>
            <a:pPr marL="0" indent="0">
              <a:buNone/>
            </a:pPr>
            <a:br>
              <a:rPr lang="en-US" sz="1200" b="1" dirty="0"/>
            </a:br>
            <a:r>
              <a:rPr lang="en-US" sz="1200" b="1" dirty="0"/>
              <a:t>Objectives</a:t>
            </a:r>
            <a:br>
              <a:rPr lang="en-US" sz="1200" dirty="0"/>
            </a:br>
            <a:endParaRPr lang="en-US" sz="1200" dirty="0"/>
          </a:p>
          <a:p>
            <a:r>
              <a:rPr lang="en-US" sz="1500" dirty="0"/>
              <a:t>Use AI to generate input‑validation logic</a:t>
            </a:r>
          </a:p>
          <a:p>
            <a:r>
              <a:rPr lang="en-US" sz="1500" dirty="0"/>
              <a:t>Prevent multiple decimal points</a:t>
            </a:r>
          </a:p>
          <a:p>
            <a:r>
              <a:rPr lang="en-US" sz="1500" dirty="0"/>
              <a:t>Ensure decimals flow correctly through arithmetic operation</a:t>
            </a:r>
          </a:p>
          <a:p>
            <a:pPr lvl="1"/>
            <a:endParaRPr lang="en-US" sz="1200" dirty="0"/>
          </a:p>
          <a:p>
            <a:pPr marL="0" indent="0">
              <a:buNone/>
            </a:pPr>
            <a:br>
              <a:rPr lang="en-US" sz="1200" dirty="0"/>
            </a:br>
            <a:r>
              <a:rPr lang="en-US" sz="1200" b="1" dirty="0"/>
              <a:t>Activities</a:t>
            </a:r>
            <a:br>
              <a:rPr lang="en-US" sz="1200" dirty="0"/>
            </a:br>
            <a:endParaRPr lang="en-US" sz="1200" dirty="0"/>
          </a:p>
          <a:p>
            <a:pPr marL="457200" indent="-457200">
              <a:buAutoNum type="arabicPeriod"/>
            </a:pPr>
            <a:r>
              <a:rPr lang="en-US" sz="1200" dirty="0"/>
              <a:t>Ask AI to propose a strategy for handling decimal input</a:t>
            </a:r>
          </a:p>
          <a:p>
            <a:pPr marL="457200" indent="-457200">
              <a:buAutoNum type="arabicPeriod"/>
            </a:pPr>
            <a:r>
              <a:rPr lang="en-US" sz="1200" dirty="0"/>
              <a:t>Generate code to block multiple decimals in a single number</a:t>
            </a:r>
          </a:p>
          <a:p>
            <a:pPr marL="457200" indent="-457200">
              <a:buAutoNum type="arabicPeriod"/>
            </a:pPr>
            <a:r>
              <a:rPr lang="en-US" sz="1200" dirty="0"/>
              <a:t>Integrate decimal support into the existing input parser</a:t>
            </a:r>
          </a:p>
          <a:p>
            <a:pPr marL="457200" indent="-457200">
              <a:buAutoNum type="arabicPeriod"/>
            </a:pPr>
            <a:r>
              <a:rPr lang="en-US" sz="1200" dirty="0"/>
              <a:t>Test decimal operations using AI‑generated test cases</a:t>
            </a:r>
          </a:p>
          <a:p>
            <a:pPr marL="342900" lvl="1" indent="0">
              <a:buNone/>
            </a:pPr>
            <a:endParaRPr lang="en-US" sz="1200" dirty="0"/>
          </a:p>
          <a:p>
            <a:pPr marL="0" indent="0">
              <a:buNone/>
            </a:pPr>
            <a:r>
              <a:rPr lang="en-US" sz="1200" b="1" dirty="0"/>
              <a:t>Success Criteria</a:t>
            </a:r>
            <a:endParaRPr lang="en-US" sz="1200" dirty="0"/>
          </a:p>
          <a:p>
            <a:r>
              <a:rPr lang="en-US" sz="1500" dirty="0"/>
              <a:t>Decimal input works without duplication errors</a:t>
            </a:r>
          </a:p>
          <a:p>
            <a:r>
              <a:rPr lang="en-US" sz="1500" dirty="0"/>
              <a:t>Arithmetic with decimals produces correct results</a:t>
            </a:r>
          </a:p>
          <a:p>
            <a:r>
              <a:rPr lang="en-US" sz="1500" dirty="0"/>
              <a:t>Learner can explain the validation logic</a:t>
            </a:r>
          </a:p>
          <a:p>
            <a:pPr lvl="1"/>
            <a:endParaRPr lang="en-US" sz="1200" dirty="0"/>
          </a:p>
          <a:p>
            <a:pPr marL="0" indent="0">
              <a:buNone/>
            </a:pPr>
            <a:endParaRPr lang="en-US" sz="1200" dirty="0"/>
          </a:p>
        </p:txBody>
      </p:sp>
    </p:spTree>
    <p:extLst>
      <p:ext uri="{BB962C8B-B14F-4D97-AF65-F5344CB8AC3E}">
        <p14:creationId xmlns:p14="http://schemas.microsoft.com/office/powerpoint/2010/main" val="3338248478"/>
      </p:ext>
    </p:extLst>
  </p:cSld>
  <p:clrMapOvr>
    <a:masterClrMapping/>
  </p:clrMapOvr>
  <p:transition>
    <p:fade/>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9943F4-1F45-DC75-BA72-20E4EF9B7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E3DD462-F65B-C265-9881-27546BD36E2B}"/>
              </a:ext>
            </a:extLst>
          </p:cNvPr>
          <p:cNvSpPr>
            <a:spLocks noGrp="1"/>
          </p:cNvSpPr>
          <p:nvPr>
            <p:ph type="title"/>
          </p:nvPr>
        </p:nvSpPr>
        <p:spPr/>
        <p:txBody>
          <a:bodyPr>
            <a:noAutofit/>
          </a:bodyPr>
          <a:lstStyle/>
          <a:p>
            <a:r>
              <a:rPr lang="en-US" sz="1800" dirty="0"/>
              <a:t>Lab: Calculator Project – Sign Toggle (+/–) </a:t>
            </a:r>
          </a:p>
        </p:txBody>
      </p:sp>
      <p:sp>
        <p:nvSpPr>
          <p:cNvPr id="3" name="Content Placeholder 2">
            <a:extLst>
              <a:ext uri="{FF2B5EF4-FFF2-40B4-BE49-F238E27FC236}">
                <a16:creationId xmlns:a16="http://schemas.microsoft.com/office/drawing/2014/main" id="{9012AC57-C0E1-B494-54F3-9D557C819736}"/>
              </a:ext>
            </a:extLst>
          </p:cNvPr>
          <p:cNvSpPr>
            <a:spLocks noGrp="1"/>
          </p:cNvSpPr>
          <p:nvPr>
            <p:ph idx="1"/>
          </p:nvPr>
        </p:nvSpPr>
        <p:spPr/>
        <p:txBody>
          <a:bodyPr numCol="2">
            <a:normAutofit/>
          </a:bodyPr>
          <a:lstStyle/>
          <a:p>
            <a:pPr marL="0" indent="0">
              <a:buNone/>
            </a:pPr>
            <a:r>
              <a:rPr lang="en-US" sz="1400" b="1" dirty="0"/>
              <a:t>Duration: 8 minutes</a:t>
            </a:r>
            <a:endParaRPr lang="en-US" sz="1400" dirty="0"/>
          </a:p>
          <a:p>
            <a:pPr marL="0" indent="0">
              <a:buNone/>
            </a:pPr>
            <a:br>
              <a:rPr lang="en-US" sz="1400" b="1" dirty="0"/>
            </a:br>
            <a:r>
              <a:rPr lang="en-US" sz="1400" b="1" dirty="0"/>
              <a:t>Objectives</a:t>
            </a:r>
            <a:br>
              <a:rPr lang="en-US" sz="1400" dirty="0"/>
            </a:br>
            <a:endParaRPr lang="en-US" sz="1400" dirty="0"/>
          </a:p>
          <a:p>
            <a:pPr lvl="1"/>
            <a:r>
              <a:rPr lang="en-US" sz="1200" dirty="0"/>
              <a:t>Use AI to generate logic for toggling numeric sign</a:t>
            </a:r>
          </a:p>
          <a:p>
            <a:pPr lvl="1"/>
            <a:r>
              <a:rPr lang="en-US" sz="1200" dirty="0"/>
              <a:t>Understand how sign toggling interacts with current input and stored values</a:t>
            </a:r>
          </a:p>
          <a:p>
            <a:pPr marL="0" indent="0">
              <a:buNone/>
            </a:pPr>
            <a:br>
              <a:rPr lang="en-US" sz="1400" dirty="0"/>
            </a:br>
            <a:r>
              <a:rPr lang="en-US" sz="1400" b="1" dirty="0"/>
              <a:t>Activities</a:t>
            </a:r>
            <a:br>
              <a:rPr lang="en-US" sz="1400" dirty="0"/>
            </a:br>
            <a:endParaRPr lang="en-US" sz="1400" dirty="0"/>
          </a:p>
          <a:p>
            <a:pPr marL="457200" indent="-457200">
              <a:buAutoNum type="arabicPeriod"/>
            </a:pPr>
            <a:r>
              <a:rPr lang="en-US" sz="1400" dirty="0"/>
              <a:t>Ask AI to generate a function that toggles sign on the active value</a:t>
            </a:r>
          </a:p>
          <a:p>
            <a:pPr marL="457200" indent="-457200">
              <a:buAutoNum type="arabicPeriod"/>
            </a:pPr>
            <a:r>
              <a:rPr lang="en-US" sz="1400" dirty="0"/>
              <a:t>Integrate the function into the input workflow</a:t>
            </a:r>
          </a:p>
          <a:p>
            <a:pPr marL="457200" indent="-457200">
              <a:buAutoNum type="arabicPeriod"/>
            </a:pPr>
            <a:r>
              <a:rPr lang="en-US" sz="1400" dirty="0"/>
              <a:t>Test sign toggling before and after entering digits</a:t>
            </a:r>
          </a:p>
          <a:p>
            <a:pPr lvl="1"/>
            <a:endParaRPr lang="en-US" sz="1200" dirty="0"/>
          </a:p>
          <a:p>
            <a:pPr marL="342900" lvl="1" indent="0">
              <a:buNone/>
            </a:pPr>
            <a:endParaRPr lang="en-US" sz="1200" dirty="0"/>
          </a:p>
          <a:p>
            <a:pPr marL="0" indent="0">
              <a:buNone/>
            </a:pPr>
            <a:r>
              <a:rPr lang="en-US" sz="1400" b="1" dirty="0"/>
              <a:t>Success Criteria</a:t>
            </a:r>
            <a:endParaRPr lang="en-US" sz="1400" dirty="0"/>
          </a:p>
          <a:p>
            <a:pPr lvl="1"/>
            <a:r>
              <a:rPr lang="en-US" sz="1200" dirty="0"/>
              <a:t>Sign toggle works consistently for integers and decimals</a:t>
            </a:r>
          </a:p>
          <a:p>
            <a:pPr lvl="1"/>
            <a:r>
              <a:rPr lang="en-US" sz="1200" dirty="0"/>
              <a:t>Learner can explain how the toggle affects stored vs. active value</a:t>
            </a:r>
          </a:p>
          <a:p>
            <a:pPr lvl="1"/>
            <a:endParaRPr lang="en-US" sz="1200" dirty="0"/>
          </a:p>
          <a:p>
            <a:pPr marL="0" indent="0">
              <a:buNone/>
            </a:pPr>
            <a:endParaRPr lang="en-US" sz="1400" dirty="0"/>
          </a:p>
        </p:txBody>
      </p:sp>
    </p:spTree>
    <p:extLst>
      <p:ext uri="{BB962C8B-B14F-4D97-AF65-F5344CB8AC3E}">
        <p14:creationId xmlns:p14="http://schemas.microsoft.com/office/powerpoint/2010/main" val="3217743249"/>
      </p:ext>
    </p:extLst>
  </p:cSld>
  <p:clrMapOvr>
    <a:masterClrMapping/>
  </p:clrMapOvr>
  <p:transition>
    <p:fade/>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13157E-F4E3-68C7-58C2-AE4A76B3747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330BD39-37A3-B75C-A5E9-7B06379F8234}"/>
              </a:ext>
            </a:extLst>
          </p:cNvPr>
          <p:cNvSpPr>
            <a:spLocks noGrp="1"/>
          </p:cNvSpPr>
          <p:nvPr>
            <p:ph type="title"/>
          </p:nvPr>
        </p:nvSpPr>
        <p:spPr/>
        <p:txBody>
          <a:bodyPr>
            <a:noAutofit/>
          </a:bodyPr>
          <a:lstStyle/>
          <a:p>
            <a:r>
              <a:rPr lang="en-US" sz="1800" dirty="0"/>
              <a:t>Lab: Calculator Project – Percentage </a:t>
            </a:r>
          </a:p>
        </p:txBody>
      </p:sp>
      <p:sp>
        <p:nvSpPr>
          <p:cNvPr id="3" name="Content Placeholder 2">
            <a:extLst>
              <a:ext uri="{FF2B5EF4-FFF2-40B4-BE49-F238E27FC236}">
                <a16:creationId xmlns:a16="http://schemas.microsoft.com/office/drawing/2014/main" id="{B1711D04-1023-99F2-A50F-D814C5BDE525}"/>
              </a:ext>
            </a:extLst>
          </p:cNvPr>
          <p:cNvSpPr>
            <a:spLocks noGrp="1"/>
          </p:cNvSpPr>
          <p:nvPr>
            <p:ph idx="1"/>
          </p:nvPr>
        </p:nvSpPr>
        <p:spPr/>
        <p:txBody>
          <a:bodyPr numCol="2">
            <a:normAutofit fontScale="625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Use AI to clarify how calculators interpret %</a:t>
            </a:r>
          </a:p>
          <a:p>
            <a:pPr lvl="1"/>
            <a:r>
              <a:rPr lang="en-US" dirty="0"/>
              <a:t>Implement percentage logic for common patterns</a:t>
            </a:r>
          </a:p>
          <a:p>
            <a:pPr lvl="1"/>
            <a:r>
              <a:rPr lang="en-US" dirty="0"/>
              <a:t>Validate behavior with AI‑generated examples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explain how % should behave in a standard calculator</a:t>
            </a:r>
          </a:p>
          <a:p>
            <a:pPr marL="457200" indent="-457200">
              <a:buAutoNum type="arabicPeriod"/>
            </a:pPr>
            <a:r>
              <a:rPr lang="en-US" dirty="0"/>
              <a:t>Generate code for:</a:t>
            </a:r>
          </a:p>
          <a:p>
            <a:r>
              <a:rPr lang="en-US" dirty="0"/>
              <a:t>X × Y%</a:t>
            </a:r>
          </a:p>
          <a:p>
            <a:r>
              <a:rPr lang="en-US" dirty="0"/>
              <a:t>Y + X%</a:t>
            </a:r>
          </a:p>
          <a:p>
            <a:r>
              <a:rPr lang="en-US" dirty="0"/>
              <a:t>Y – X%</a:t>
            </a:r>
          </a:p>
          <a:p>
            <a:pPr marL="0" indent="0">
              <a:buNone/>
            </a:pPr>
            <a:r>
              <a:rPr lang="en-US" dirty="0"/>
              <a:t>3. Test each pattern with AI‑generated sample values</a:t>
            </a:r>
          </a:p>
          <a:p>
            <a:pPr marL="342900" lvl="1" indent="0">
              <a:buNone/>
            </a:pPr>
            <a:endParaRPr lang="en-US" dirty="0"/>
          </a:p>
          <a:p>
            <a:pPr marL="0" indent="0">
              <a:buNone/>
            </a:pPr>
            <a:r>
              <a:rPr lang="en-US" b="1" dirty="0"/>
              <a:t>Success Criteria</a:t>
            </a:r>
            <a:endParaRPr lang="en-US" dirty="0"/>
          </a:p>
          <a:p>
            <a:r>
              <a:rPr lang="en-US" dirty="0"/>
              <a:t>Percentage operations match standard calculator behavior</a:t>
            </a:r>
          </a:p>
          <a:p>
            <a:r>
              <a:rPr lang="en-US" dirty="0"/>
              <a:t>Learner can articulate the interpretation rules for %</a:t>
            </a:r>
          </a:p>
          <a:p>
            <a:pPr marL="0" indent="0">
              <a:buNone/>
            </a:pPr>
            <a:endParaRPr lang="en-US" dirty="0"/>
          </a:p>
          <a:p>
            <a:pPr marL="0" indent="0">
              <a:buNone/>
            </a:pPr>
            <a:endParaRPr lang="en-US" dirty="0"/>
          </a:p>
          <a:p>
            <a:pPr marL="0" indent="0">
              <a:buNone/>
            </a:pPr>
            <a:endParaRPr lang="en-US" dirty="0"/>
          </a:p>
        </p:txBody>
      </p:sp>
    </p:spTree>
    <p:extLst>
      <p:ext uri="{BB962C8B-B14F-4D97-AF65-F5344CB8AC3E}">
        <p14:creationId xmlns:p14="http://schemas.microsoft.com/office/powerpoint/2010/main" val="3588789610"/>
      </p:ext>
    </p:extLst>
  </p:cSld>
  <p:clrMapOvr>
    <a:masterClrMapping/>
  </p:clrMapOvr>
  <p:transition>
    <p:fade/>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14C826-0DCA-B7B4-B285-BCFBD50BA30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C3ADB7-3907-C6B6-40C0-E3BDE2F434BB}"/>
              </a:ext>
            </a:extLst>
          </p:cNvPr>
          <p:cNvSpPr>
            <a:spLocks noGrp="1"/>
          </p:cNvSpPr>
          <p:nvPr>
            <p:ph type="title"/>
          </p:nvPr>
        </p:nvSpPr>
        <p:spPr/>
        <p:txBody>
          <a:bodyPr>
            <a:noAutofit/>
          </a:bodyPr>
          <a:lstStyle/>
          <a:p>
            <a:r>
              <a:rPr lang="en-US" sz="1600" dirty="0"/>
              <a:t>Lab: Calculator Project – Memory Functions (M+, M–, MR, MC) </a:t>
            </a:r>
          </a:p>
        </p:txBody>
      </p:sp>
      <p:sp>
        <p:nvSpPr>
          <p:cNvPr id="3" name="Content Placeholder 2">
            <a:extLst>
              <a:ext uri="{FF2B5EF4-FFF2-40B4-BE49-F238E27FC236}">
                <a16:creationId xmlns:a16="http://schemas.microsoft.com/office/drawing/2014/main" id="{328719DD-18A4-E8C5-2A3C-1B2A9E06ABAA}"/>
              </a:ext>
            </a:extLst>
          </p:cNvPr>
          <p:cNvSpPr>
            <a:spLocks noGrp="1"/>
          </p:cNvSpPr>
          <p:nvPr>
            <p:ph idx="1"/>
          </p:nvPr>
        </p:nvSpPr>
        <p:spPr/>
        <p:txBody>
          <a:bodyPr numCol="2">
            <a:normAutofit fontScale="77500" lnSpcReduction="20000"/>
          </a:bodyPr>
          <a:lstStyle/>
          <a:p>
            <a:pPr marL="0" indent="0">
              <a:buNone/>
            </a:pPr>
            <a:r>
              <a:rPr lang="en-US" b="1" dirty="0"/>
              <a:t>Duration: 18 minutes</a:t>
            </a:r>
            <a:endParaRPr lang="en-US" dirty="0"/>
          </a:p>
          <a:p>
            <a:pPr marL="0" indent="0">
              <a:buNone/>
            </a:pPr>
            <a:br>
              <a:rPr lang="en-US" b="1" dirty="0"/>
            </a:br>
            <a:r>
              <a:rPr lang="en-US" b="1" dirty="0"/>
              <a:t>Objectives</a:t>
            </a:r>
            <a:br>
              <a:rPr lang="en-US" dirty="0"/>
            </a:br>
            <a:endParaRPr lang="en-US" dirty="0"/>
          </a:p>
          <a:p>
            <a:pPr lvl="1"/>
            <a:r>
              <a:rPr lang="en-US" dirty="0"/>
              <a:t>Use AI to design a memory subsystem</a:t>
            </a:r>
          </a:p>
          <a:p>
            <a:pPr lvl="1"/>
            <a:r>
              <a:rPr lang="en-US" dirty="0"/>
              <a:t>Implement memory add, subtract, recall, and clear</a:t>
            </a:r>
          </a:p>
          <a:p>
            <a:pPr lvl="1"/>
            <a:r>
              <a:rPr lang="en-US" dirty="0"/>
              <a:t>Validate memory behavior across multiple operations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propose a memory‑state structure</a:t>
            </a:r>
          </a:p>
          <a:p>
            <a:pPr marL="457200" indent="-457200">
              <a:buAutoNum type="arabicPeriod"/>
            </a:pPr>
            <a:r>
              <a:rPr lang="en-US" dirty="0"/>
              <a:t>Generate functions for M+, M–, MR, MC</a:t>
            </a:r>
          </a:p>
          <a:p>
            <a:pPr marL="457200" indent="-457200">
              <a:buAutoNum type="arabicPeriod"/>
            </a:pPr>
            <a:r>
              <a:rPr lang="en-US" dirty="0"/>
              <a:t>Integrate memory operations into the calculator workflow</a:t>
            </a:r>
          </a:p>
          <a:p>
            <a:pPr marL="457200" indent="-457200">
              <a:buAutoNum type="arabicPeriod"/>
            </a:pPr>
            <a:r>
              <a:rPr lang="en-US" dirty="0"/>
              <a:t>Test memory persistence across multiple calculations</a:t>
            </a:r>
          </a:p>
          <a:p>
            <a:pPr marL="342900" lvl="1" indent="0">
              <a:buNone/>
            </a:pPr>
            <a:endParaRPr lang="en-US" dirty="0"/>
          </a:p>
          <a:p>
            <a:pPr marL="0" indent="0">
              <a:buNone/>
            </a:pPr>
            <a:r>
              <a:rPr lang="en-US" b="1" dirty="0"/>
              <a:t>Success Criteria</a:t>
            </a:r>
            <a:endParaRPr lang="en-US" dirty="0"/>
          </a:p>
          <a:p>
            <a:pPr lvl="1"/>
            <a:r>
              <a:rPr lang="en-US" dirty="0"/>
              <a:t>Memory functions behave as expected</a:t>
            </a:r>
          </a:p>
          <a:p>
            <a:pPr lvl="1"/>
            <a:r>
              <a:rPr lang="en-US" dirty="0"/>
              <a:t>Learner can explain how memory state is stored and updated</a:t>
            </a:r>
          </a:p>
          <a:p>
            <a:pPr marL="0" indent="0">
              <a:buNone/>
            </a:pPr>
            <a:endParaRPr lang="en-US" dirty="0"/>
          </a:p>
        </p:txBody>
      </p:sp>
    </p:spTree>
    <p:extLst>
      <p:ext uri="{BB962C8B-B14F-4D97-AF65-F5344CB8AC3E}">
        <p14:creationId xmlns:p14="http://schemas.microsoft.com/office/powerpoint/2010/main" val="1558373822"/>
      </p:ext>
    </p:extLst>
  </p:cSld>
  <p:clrMapOvr>
    <a:masterClrMapping/>
  </p:clrMapOvr>
  <p:transition>
    <p:fade/>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A30430C-DF52-AD69-9203-044E2B6438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3C8F1A-8157-5790-E29E-F4E45CCAD653}"/>
              </a:ext>
            </a:extLst>
          </p:cNvPr>
          <p:cNvSpPr>
            <a:spLocks noGrp="1"/>
          </p:cNvSpPr>
          <p:nvPr>
            <p:ph type="title"/>
          </p:nvPr>
        </p:nvSpPr>
        <p:spPr/>
        <p:txBody>
          <a:bodyPr>
            <a:noAutofit/>
          </a:bodyPr>
          <a:lstStyle/>
          <a:p>
            <a:r>
              <a:rPr lang="en-US" sz="1800" dirty="0"/>
              <a:t>Lab: Calculator Project – Error Handling</a:t>
            </a:r>
          </a:p>
        </p:txBody>
      </p:sp>
      <p:sp>
        <p:nvSpPr>
          <p:cNvPr id="3" name="Content Placeholder 2">
            <a:extLst>
              <a:ext uri="{FF2B5EF4-FFF2-40B4-BE49-F238E27FC236}">
                <a16:creationId xmlns:a16="http://schemas.microsoft.com/office/drawing/2014/main" id="{B67152FB-8C14-8EBD-E8E4-553CFC362784}"/>
              </a:ext>
            </a:extLst>
          </p:cNvPr>
          <p:cNvSpPr>
            <a:spLocks noGrp="1"/>
          </p:cNvSpPr>
          <p:nvPr>
            <p:ph idx="1"/>
          </p:nvPr>
        </p:nvSpPr>
        <p:spPr/>
        <p:txBody>
          <a:bodyPr numCol="2">
            <a:normAutofit fontScale="70000" lnSpcReduction="20000"/>
          </a:bodyPr>
          <a:lstStyle/>
          <a:p>
            <a:pPr marL="0" indent="0">
              <a:buNone/>
            </a:pPr>
            <a:r>
              <a:rPr lang="en-US" b="1" dirty="0"/>
              <a:t>Duration: 10 minutes</a:t>
            </a:r>
            <a:endParaRPr lang="en-US" dirty="0"/>
          </a:p>
          <a:p>
            <a:pPr marL="0" indent="0">
              <a:buNone/>
            </a:pPr>
            <a:br>
              <a:rPr lang="en-US" b="1" dirty="0"/>
            </a:br>
            <a:r>
              <a:rPr lang="en-US" b="1" dirty="0"/>
              <a:t>Objectives</a:t>
            </a:r>
            <a:br>
              <a:rPr lang="en-US" dirty="0"/>
            </a:br>
            <a:endParaRPr lang="en-US" dirty="0"/>
          </a:p>
          <a:p>
            <a:pPr lvl="1"/>
            <a:r>
              <a:rPr lang="en-US" dirty="0"/>
              <a:t>Use AI to identify common error conditions</a:t>
            </a:r>
          </a:p>
          <a:p>
            <a:pPr lvl="1"/>
            <a:r>
              <a:rPr lang="en-US" dirty="0"/>
              <a:t>Implement error messages and recovery logic</a:t>
            </a:r>
          </a:p>
          <a:p>
            <a:pPr lvl="1"/>
            <a:r>
              <a:rPr lang="en-US" dirty="0"/>
              <a:t>Ensure the calculator resets gracefully after errors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list typical calculator errors (e.g., divide by zero)</a:t>
            </a:r>
          </a:p>
          <a:p>
            <a:pPr marL="457200" indent="-457200">
              <a:buAutoNum type="arabicPeriod"/>
            </a:pPr>
            <a:r>
              <a:rPr lang="en-US" dirty="0"/>
              <a:t>Generate code for error detection and display</a:t>
            </a:r>
          </a:p>
          <a:p>
            <a:pPr marL="457200" indent="-457200">
              <a:buAutoNum type="arabicPeriod"/>
            </a:pPr>
            <a:r>
              <a:rPr lang="en-US" dirty="0"/>
              <a:t>Implement a reset path after an error</a:t>
            </a:r>
          </a:p>
          <a:p>
            <a:pPr marL="457200" indent="-457200">
              <a:buAutoNum type="arabicPeriod"/>
            </a:pPr>
            <a:r>
              <a:rPr lang="en-US" dirty="0"/>
              <a:t>Test error scenarios using AI‑generated test cases</a:t>
            </a:r>
          </a:p>
          <a:p>
            <a:pPr marL="342900" lvl="1" indent="0">
              <a:buNone/>
            </a:pPr>
            <a:endParaRPr lang="en-US" dirty="0"/>
          </a:p>
          <a:p>
            <a:r>
              <a:rPr lang="en-US" b="1" dirty="0"/>
              <a:t>Success Criteria</a:t>
            </a:r>
            <a:endParaRPr lang="en-US" dirty="0"/>
          </a:p>
          <a:p>
            <a:pPr lvl="1"/>
            <a:r>
              <a:rPr lang="en-US" dirty="0"/>
              <a:t>Errors are detected and displayed correctly</a:t>
            </a:r>
          </a:p>
          <a:p>
            <a:pPr lvl="1"/>
            <a:r>
              <a:rPr lang="en-US" dirty="0"/>
              <a:t>Calculator recovers cleanly after reset</a:t>
            </a:r>
          </a:p>
          <a:p>
            <a:pPr lvl="1"/>
            <a:r>
              <a:rPr lang="en-US" dirty="0"/>
              <a:t>Learner can describe the error‑handling flow</a:t>
            </a:r>
          </a:p>
          <a:p>
            <a:pPr lvl="1"/>
            <a:endParaRPr lang="en-US" dirty="0"/>
          </a:p>
          <a:p>
            <a:pPr marL="0" indent="0">
              <a:buNone/>
            </a:pPr>
            <a:endParaRPr lang="en-US" dirty="0"/>
          </a:p>
        </p:txBody>
      </p:sp>
    </p:spTree>
    <p:extLst>
      <p:ext uri="{BB962C8B-B14F-4D97-AF65-F5344CB8AC3E}">
        <p14:creationId xmlns:p14="http://schemas.microsoft.com/office/powerpoint/2010/main" val="1957170768"/>
      </p:ext>
    </p:extLst>
  </p:cSld>
  <p:clrMapOvr>
    <a:masterClrMapping/>
  </p:clrMapOvr>
  <p:transition>
    <p:fade/>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6D94C3-5522-167B-1824-6B752E641D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D45ABD-9F11-7EE1-B9D7-9F50030AFE16}"/>
              </a:ext>
            </a:extLst>
          </p:cNvPr>
          <p:cNvSpPr>
            <a:spLocks noGrp="1"/>
          </p:cNvSpPr>
          <p:nvPr>
            <p:ph type="title"/>
          </p:nvPr>
        </p:nvSpPr>
        <p:spPr/>
        <p:txBody>
          <a:bodyPr>
            <a:noAutofit/>
          </a:bodyPr>
          <a:lstStyle/>
          <a:p>
            <a:r>
              <a:rPr lang="en-US" sz="1800" dirty="0"/>
              <a:t>Lab: Calculator Project – UI </a:t>
            </a:r>
          </a:p>
        </p:txBody>
      </p:sp>
      <p:sp>
        <p:nvSpPr>
          <p:cNvPr id="3" name="Content Placeholder 2">
            <a:extLst>
              <a:ext uri="{FF2B5EF4-FFF2-40B4-BE49-F238E27FC236}">
                <a16:creationId xmlns:a16="http://schemas.microsoft.com/office/drawing/2014/main" id="{C25F63E1-4A8C-9B09-D04E-04B7EADD6182}"/>
              </a:ext>
            </a:extLst>
          </p:cNvPr>
          <p:cNvSpPr>
            <a:spLocks noGrp="1"/>
          </p:cNvSpPr>
          <p:nvPr>
            <p:ph idx="1"/>
          </p:nvPr>
        </p:nvSpPr>
        <p:spPr/>
        <p:txBody>
          <a:bodyPr numCol="2">
            <a:normAutofit fontScale="70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Use AI to scaffold UI event handlers</a:t>
            </a:r>
          </a:p>
          <a:p>
            <a:pPr lvl="1"/>
            <a:r>
              <a:rPr lang="en-US" dirty="0"/>
              <a:t>Connect buttons to logic functions</a:t>
            </a:r>
          </a:p>
          <a:p>
            <a:pPr lvl="1"/>
            <a:r>
              <a:rPr lang="en-US" dirty="0"/>
              <a:t>Validate end‑to‑end user workflow</a:t>
            </a:r>
          </a:p>
          <a:p>
            <a:pPr marL="0" indent="0">
              <a:buNone/>
            </a:pPr>
            <a:br>
              <a:rPr lang="en-US" dirty="0"/>
            </a:br>
            <a:r>
              <a:rPr lang="en-US" b="1" dirty="0"/>
              <a:t>Activities</a:t>
            </a:r>
            <a:br>
              <a:rPr lang="en-US" dirty="0"/>
            </a:br>
            <a:endParaRPr lang="en-US" dirty="0"/>
          </a:p>
          <a:p>
            <a:pPr marL="457200" indent="-457200">
              <a:buAutoNum type="arabicPeriod"/>
            </a:pPr>
            <a:r>
              <a:rPr lang="en-US" dirty="0"/>
              <a:t>Ask AI to generate event‑binding code for numeric and operator buttons</a:t>
            </a:r>
          </a:p>
          <a:p>
            <a:pPr marL="457200" indent="-457200">
              <a:buAutoNum type="arabicPeriod"/>
            </a:pPr>
            <a:r>
              <a:rPr lang="en-US" dirty="0"/>
              <a:t>Integrate logic functions from previous labs</a:t>
            </a:r>
          </a:p>
          <a:p>
            <a:pPr marL="457200" indent="-457200">
              <a:buAutoNum type="arabicPeriod"/>
            </a:pPr>
            <a:r>
              <a:rPr lang="en-US" dirty="0"/>
              <a:t>Test a full workflow:</a:t>
            </a:r>
          </a:p>
          <a:p>
            <a:pPr lvl="1"/>
            <a:r>
              <a:rPr lang="en-US" dirty="0"/>
              <a:t>Enter decimal</a:t>
            </a:r>
          </a:p>
          <a:p>
            <a:pPr lvl="1"/>
            <a:r>
              <a:rPr lang="en-US" dirty="0"/>
              <a:t>Toggle sign</a:t>
            </a:r>
          </a:p>
          <a:p>
            <a:pPr lvl="1"/>
            <a:r>
              <a:rPr lang="en-US" dirty="0"/>
              <a:t>Apply percentage</a:t>
            </a:r>
          </a:p>
          <a:p>
            <a:pPr lvl="1"/>
            <a:r>
              <a:rPr lang="en-US" dirty="0"/>
              <a:t>Store result in memory</a:t>
            </a:r>
          </a:p>
          <a:p>
            <a:pPr marL="342900" lvl="1" indent="0">
              <a:buNone/>
            </a:pPr>
            <a:endParaRPr lang="en-US" dirty="0"/>
          </a:p>
          <a:p>
            <a:pPr marL="0" indent="0">
              <a:buNone/>
            </a:pPr>
            <a:r>
              <a:rPr lang="en-US" b="1" dirty="0"/>
              <a:t>Success Criteria</a:t>
            </a:r>
            <a:endParaRPr lang="en-US" dirty="0"/>
          </a:p>
          <a:p>
            <a:pPr lvl="1"/>
            <a:r>
              <a:rPr lang="en-US" dirty="0"/>
              <a:t>UI correctly triggers all calculator functions</a:t>
            </a:r>
          </a:p>
          <a:p>
            <a:pPr lvl="1"/>
            <a:r>
              <a:rPr lang="en-US" dirty="0"/>
              <a:t>Full workflow completes without errors</a:t>
            </a:r>
          </a:p>
          <a:p>
            <a:pPr lvl="1"/>
            <a:r>
              <a:rPr lang="en-US" dirty="0"/>
              <a:t>Learner can explain how UI events map to logic functions</a:t>
            </a:r>
          </a:p>
          <a:p>
            <a:pPr marL="0" indent="0">
              <a:buNone/>
            </a:pPr>
            <a:endParaRPr lang="en-US" dirty="0"/>
          </a:p>
        </p:txBody>
      </p:sp>
    </p:spTree>
    <p:extLst>
      <p:ext uri="{BB962C8B-B14F-4D97-AF65-F5344CB8AC3E}">
        <p14:creationId xmlns:p14="http://schemas.microsoft.com/office/powerpoint/2010/main" val="3474357282"/>
      </p:ext>
    </p:extLst>
  </p:cSld>
  <p:clrMapOvr>
    <a:masterClrMapping/>
  </p:clrMapOvr>
  <p:transition>
    <p:fade/>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B07D7-96D7-6DFB-9862-570F8D7DDF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F6FBCD-8460-327A-453B-23ED964EE34F}"/>
              </a:ext>
            </a:extLst>
          </p:cNvPr>
          <p:cNvSpPr>
            <a:spLocks noGrp="1"/>
          </p:cNvSpPr>
          <p:nvPr>
            <p:ph type="title"/>
          </p:nvPr>
        </p:nvSpPr>
        <p:spPr/>
        <p:txBody>
          <a:bodyPr>
            <a:noAutofit/>
          </a:bodyPr>
          <a:lstStyle/>
          <a:p>
            <a:r>
              <a:rPr lang="en-US" sz="1800" dirty="0"/>
              <a:t>Lab: Calculator Project – Add Trigonometric Functions </a:t>
            </a:r>
          </a:p>
        </p:txBody>
      </p:sp>
      <p:sp>
        <p:nvSpPr>
          <p:cNvPr id="3" name="Content Placeholder 2">
            <a:extLst>
              <a:ext uri="{FF2B5EF4-FFF2-40B4-BE49-F238E27FC236}">
                <a16:creationId xmlns:a16="http://schemas.microsoft.com/office/drawing/2014/main" id="{27F32117-34FF-0A09-5AA2-44249A520062}"/>
              </a:ext>
            </a:extLst>
          </p:cNvPr>
          <p:cNvSpPr>
            <a:spLocks noGrp="1"/>
          </p:cNvSpPr>
          <p:nvPr>
            <p:ph idx="1"/>
          </p:nvPr>
        </p:nvSpPr>
        <p:spPr/>
        <p:txBody>
          <a:bodyPr numCol="2">
            <a:normAutofit fontScale="625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pPr lvl="1"/>
            <a:r>
              <a:rPr lang="en-US" dirty="0"/>
              <a:t>Integrate trigonometric functions into the calculator’s operation set</a:t>
            </a:r>
          </a:p>
          <a:p>
            <a:pPr lvl="1"/>
            <a:r>
              <a:rPr lang="en-US" dirty="0"/>
              <a:t>Use AI to generate math‑library wrappers and input‑parsing logic</a:t>
            </a:r>
          </a:p>
          <a:p>
            <a:pPr lvl="1"/>
            <a:r>
              <a:rPr lang="en-US" dirty="0"/>
              <a:t>Ensure correct handling of degrees vs. radians</a:t>
            </a:r>
          </a:p>
          <a:p>
            <a:pPr marL="0" indent="0">
              <a:buNone/>
            </a:pPr>
            <a:br>
              <a:rPr lang="en-US" dirty="0"/>
            </a:br>
            <a:r>
              <a:rPr lang="en-US" b="1" dirty="0"/>
              <a:t>Activities</a:t>
            </a:r>
            <a:br>
              <a:rPr lang="en-US" dirty="0"/>
            </a:br>
            <a:endParaRPr lang="en-US" dirty="0"/>
          </a:p>
          <a:p>
            <a:pPr marL="457200" indent="-457200">
              <a:buAutoNum type="arabicPeriod"/>
            </a:pPr>
            <a:r>
              <a:rPr lang="en-US" dirty="0"/>
              <a:t>Ask AI to generate functions for sin, cos, and tan using your language’s math library</a:t>
            </a:r>
          </a:p>
          <a:p>
            <a:pPr marL="457200" indent="-457200">
              <a:buAutoNum type="arabicPeriod"/>
            </a:pPr>
            <a:r>
              <a:rPr lang="en-US" dirty="0"/>
              <a:t>Prompt AI to propose a strategy for handling degree/radian mode</a:t>
            </a:r>
          </a:p>
          <a:p>
            <a:pPr marL="457200" indent="-457200">
              <a:buAutoNum type="arabicPeriod"/>
            </a:pPr>
            <a:r>
              <a:rPr lang="en-US" dirty="0"/>
              <a:t>Implement UI bindings or command triggers for each trig function</a:t>
            </a:r>
          </a:p>
          <a:p>
            <a:pPr marL="457200" indent="-457200">
              <a:buAutoNum type="arabicPeriod"/>
            </a:pPr>
            <a:r>
              <a:rPr lang="en-US" dirty="0"/>
              <a:t>Use AI to generate a table of sample inputs and expected outputs</a:t>
            </a:r>
          </a:p>
          <a:p>
            <a:pPr marL="342900" lvl="1" indent="0">
              <a:buNone/>
            </a:pPr>
            <a:endParaRPr lang="en-US" dirty="0"/>
          </a:p>
          <a:p>
            <a:pPr marL="0" indent="0">
              <a:buNone/>
            </a:pPr>
            <a:r>
              <a:rPr lang="en-US" b="1" dirty="0"/>
              <a:t>Success Criteria</a:t>
            </a:r>
            <a:endParaRPr lang="en-US" dirty="0"/>
          </a:p>
          <a:p>
            <a:pPr lvl="1"/>
            <a:r>
              <a:rPr lang="en-US" dirty="0"/>
              <a:t>Trig functions compute correct values in the selected angle mode</a:t>
            </a:r>
          </a:p>
          <a:p>
            <a:pPr lvl="1"/>
            <a:r>
              <a:rPr lang="en-US" dirty="0"/>
              <a:t>Degree/radian mode switching works consistently</a:t>
            </a:r>
          </a:p>
          <a:p>
            <a:pPr lvl="1"/>
            <a:r>
              <a:rPr lang="en-US" dirty="0"/>
              <a:t>UI or command triggers correctly call the trig functions</a:t>
            </a:r>
          </a:p>
          <a:p>
            <a:pPr lvl="1"/>
            <a:r>
              <a:rPr lang="en-US" dirty="0"/>
              <a:t>Learner can explain how AI‑generated code was validated and refine</a:t>
            </a:r>
          </a:p>
          <a:p>
            <a:pPr marL="0" indent="0">
              <a:buNone/>
            </a:pPr>
            <a:endParaRPr lang="en-US" dirty="0"/>
          </a:p>
        </p:txBody>
      </p:sp>
    </p:spTree>
    <p:extLst>
      <p:ext uri="{BB962C8B-B14F-4D97-AF65-F5344CB8AC3E}">
        <p14:creationId xmlns:p14="http://schemas.microsoft.com/office/powerpoint/2010/main" val="1917939042"/>
      </p:ext>
    </p:extLst>
  </p:cSld>
  <p:clrMapOvr>
    <a:masterClrMapping/>
  </p:clrMapOvr>
  <p:transition>
    <p:fade/>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945DD-10DF-79A3-5833-E34B6161FF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31872C-A8B4-2F9C-AF68-DAA69F36786B}"/>
              </a:ext>
            </a:extLst>
          </p:cNvPr>
          <p:cNvSpPr>
            <a:spLocks noGrp="1"/>
          </p:cNvSpPr>
          <p:nvPr>
            <p:ph type="title"/>
          </p:nvPr>
        </p:nvSpPr>
        <p:spPr/>
        <p:txBody>
          <a:bodyPr>
            <a:noAutofit/>
          </a:bodyPr>
          <a:lstStyle/>
          <a:p>
            <a:r>
              <a:rPr lang="en-US" sz="1800" dirty="0"/>
              <a:t>Lab: Calculator Project – Encapsulate Core Logic</a:t>
            </a:r>
          </a:p>
        </p:txBody>
      </p:sp>
      <p:sp>
        <p:nvSpPr>
          <p:cNvPr id="3" name="Content Placeholder 2">
            <a:extLst>
              <a:ext uri="{FF2B5EF4-FFF2-40B4-BE49-F238E27FC236}">
                <a16:creationId xmlns:a16="http://schemas.microsoft.com/office/drawing/2014/main" id="{6BBCAF68-9ACA-D6B2-0E27-ED293713CA13}"/>
              </a:ext>
            </a:extLst>
          </p:cNvPr>
          <p:cNvSpPr>
            <a:spLocks noGrp="1"/>
          </p:cNvSpPr>
          <p:nvPr>
            <p:ph idx="1"/>
          </p:nvPr>
        </p:nvSpPr>
        <p:spPr/>
        <p:txBody>
          <a:bodyPr numCol="2">
            <a:normAutofit fontScale="55000" lnSpcReduction="20000"/>
          </a:bodyPr>
          <a:lstStyle/>
          <a:p>
            <a:pPr marL="0" indent="0">
              <a:buNone/>
            </a:pPr>
            <a:r>
              <a:rPr lang="en-US" b="1" dirty="0"/>
              <a:t>Duration: 15 minutes</a:t>
            </a:r>
            <a:endParaRPr lang="en-US" dirty="0"/>
          </a:p>
          <a:p>
            <a:pPr marL="0" indent="0">
              <a:buNone/>
            </a:pPr>
            <a:br>
              <a:rPr lang="en-US" b="1" dirty="0"/>
            </a:br>
            <a:r>
              <a:rPr lang="en-US" b="1" dirty="0"/>
              <a:t>Objectives</a:t>
            </a:r>
            <a:br>
              <a:rPr lang="en-US" dirty="0"/>
            </a:br>
            <a:endParaRPr lang="en-US" dirty="0"/>
          </a:p>
          <a:p>
            <a:r>
              <a:rPr lang="en-US" dirty="0"/>
              <a:t>Separate UI concerns from computational logic</a:t>
            </a:r>
          </a:p>
          <a:p>
            <a:r>
              <a:rPr lang="en-US" dirty="0"/>
              <a:t>Use AI to scaffold a standalone “core logic” module/class</a:t>
            </a:r>
          </a:p>
          <a:p>
            <a:r>
              <a:rPr lang="en-US" dirty="0"/>
              <a:t>Ensure the UI communicates with the logic layer through a clean, well‑defined API</a:t>
            </a:r>
          </a:p>
          <a:p>
            <a:r>
              <a:rPr lang="en-US" dirty="0"/>
              <a:t>Validate that encapsulation improves testability and maintainability</a:t>
            </a:r>
          </a:p>
          <a:p>
            <a:pPr marL="0" indent="0">
              <a:buNone/>
            </a:pPr>
            <a:br>
              <a:rPr lang="en-US" dirty="0"/>
            </a:br>
            <a:r>
              <a:rPr lang="en-US" b="1" dirty="0"/>
              <a:t>Activities</a:t>
            </a:r>
            <a:br>
              <a:rPr lang="en-US" dirty="0"/>
            </a:br>
            <a:endParaRPr lang="en-US" dirty="0"/>
          </a:p>
          <a:p>
            <a:pPr marL="0" indent="0">
              <a:buNone/>
            </a:pPr>
            <a:r>
              <a:rPr lang="en-US" dirty="0"/>
              <a:t>1. - Ask AI to generate a dedicated component (e.g., </a:t>
            </a:r>
            <a:r>
              <a:rPr lang="en-US" dirty="0" err="1"/>
              <a:t>CalculatorEngine</a:t>
            </a:r>
            <a:r>
              <a:rPr lang="en-US" dirty="0"/>
              <a:t>, </a:t>
            </a:r>
            <a:r>
              <a:rPr lang="en-US" dirty="0" err="1"/>
              <a:t>CalculatorCore</a:t>
            </a:r>
            <a:r>
              <a:rPr lang="en-US" dirty="0"/>
              <a:t>) containing:</a:t>
            </a:r>
          </a:p>
          <a:p>
            <a:pPr lvl="1"/>
            <a:r>
              <a:rPr lang="en-US" dirty="0"/>
              <a:t>Arithmetic operations</a:t>
            </a:r>
          </a:p>
          <a:p>
            <a:pPr lvl="1"/>
            <a:r>
              <a:rPr lang="en-US" dirty="0"/>
              <a:t>State management</a:t>
            </a:r>
          </a:p>
          <a:p>
            <a:pPr lvl="1"/>
            <a:r>
              <a:rPr lang="en-US" dirty="0"/>
              <a:t>Trig/percentage/memory logic (if implemented)</a:t>
            </a:r>
          </a:p>
          <a:p>
            <a:pPr marL="0" indent="0">
              <a:buNone/>
            </a:pPr>
            <a:r>
              <a:rPr lang="en-US" dirty="0"/>
              <a:t>2. Review the AI‑generated API surface and refine naming, inputs, and return types</a:t>
            </a:r>
          </a:p>
          <a:p>
            <a:pPr marL="0" indent="0">
              <a:buNone/>
            </a:pPr>
            <a:r>
              <a:rPr lang="en-US" dirty="0"/>
              <a:t>3. Replace UI‑embedded logic with calls into the new component</a:t>
            </a:r>
          </a:p>
          <a:p>
            <a:pPr marL="342900" lvl="1" indent="0">
              <a:buNone/>
            </a:pPr>
            <a:endParaRPr lang="en-US" dirty="0"/>
          </a:p>
          <a:p>
            <a:pPr marL="0" indent="0">
              <a:buNone/>
            </a:pPr>
            <a:r>
              <a:rPr lang="en-US" b="1" dirty="0"/>
              <a:t>Success Criteria</a:t>
            </a:r>
            <a:endParaRPr lang="en-US" dirty="0"/>
          </a:p>
          <a:p>
            <a:pPr lvl="1"/>
            <a:r>
              <a:rPr lang="en-US" dirty="0"/>
              <a:t>All calculator features run through the external logic component</a:t>
            </a:r>
          </a:p>
          <a:p>
            <a:pPr lvl="1"/>
            <a:r>
              <a:rPr lang="en-US" dirty="0"/>
              <a:t>UI contains no computational logic — only event handling and display updates</a:t>
            </a:r>
          </a:p>
          <a:p>
            <a:pPr lvl="1"/>
            <a:r>
              <a:rPr lang="en-US" dirty="0"/>
              <a:t>Learner can explain how encapsulation improves modularity, reuse, and AI‑assisted development workflow</a:t>
            </a:r>
          </a:p>
          <a:p>
            <a:pPr marL="0" indent="0">
              <a:buNone/>
            </a:pPr>
            <a:endParaRPr lang="en-US" dirty="0"/>
          </a:p>
        </p:txBody>
      </p:sp>
    </p:spTree>
    <p:extLst>
      <p:ext uri="{BB962C8B-B14F-4D97-AF65-F5344CB8AC3E}">
        <p14:creationId xmlns:p14="http://schemas.microsoft.com/office/powerpoint/2010/main" val="1093865744"/>
      </p:ext>
    </p:extLst>
  </p:cSld>
  <p:clrMapOvr>
    <a:masterClrMapping/>
  </p:clrMapOvr>
  <p:transition>
    <p:fade/>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27F4DA-D2F8-4B60-9DE3-301DB8D6794A}"/>
              </a:ext>
            </a:extLst>
          </p:cNvPr>
          <p:cNvSpPr>
            <a:spLocks noGrp="1"/>
          </p:cNvSpPr>
          <p:nvPr>
            <p:ph type="title"/>
          </p:nvPr>
        </p:nvSpPr>
        <p:spPr/>
        <p:txBody>
          <a:bodyPr>
            <a:noAutofit/>
          </a:bodyPr>
          <a:lstStyle/>
          <a:p>
            <a:r>
              <a:rPr lang="en-US" sz="2800" dirty="0"/>
              <a:t>Lab: Calculator Project - Testing</a:t>
            </a:r>
          </a:p>
        </p:txBody>
      </p:sp>
      <p:sp>
        <p:nvSpPr>
          <p:cNvPr id="3" name="Content Placeholder 2">
            <a:extLst>
              <a:ext uri="{FF2B5EF4-FFF2-40B4-BE49-F238E27FC236}">
                <a16:creationId xmlns:a16="http://schemas.microsoft.com/office/drawing/2014/main" id="{7B7DCA1F-EBDC-7D8A-2582-15B2BE8B5E58}"/>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45-60 minutes</a:t>
            </a:r>
            <a:br>
              <a:rPr lang="en-US" dirty="0"/>
            </a:br>
            <a:endParaRPr lang="en-US" dirty="0"/>
          </a:p>
          <a:p>
            <a:pPr marL="0" indent="0">
              <a:buNone/>
            </a:pPr>
            <a:r>
              <a:rPr lang="en-US" b="1" dirty="0"/>
              <a:t>Objectives</a:t>
            </a:r>
            <a:br>
              <a:rPr lang="en-US" dirty="0"/>
            </a:br>
            <a:endParaRPr lang="en-US" dirty="0"/>
          </a:p>
          <a:p>
            <a:pPr lvl="1"/>
            <a:r>
              <a:rPr lang="en-US" dirty="0"/>
              <a:t>Generate unit tests with AI assistance</a:t>
            </a:r>
          </a:p>
          <a:p>
            <a:pPr lvl="1"/>
            <a:r>
              <a:rPr lang="en-US" dirty="0"/>
              <a:t>Identify quality issues in generated tests</a:t>
            </a:r>
          </a:p>
          <a:p>
            <a:pPr lvl="1"/>
            <a:r>
              <a:rPr lang="en-US" dirty="0"/>
              <a:t>Understand the importance of reviewing AI-generated tests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Generate Initial Tests:</a:t>
            </a:r>
            <a:br>
              <a:rPr lang="en-US" dirty="0"/>
            </a:br>
            <a:endParaRPr lang="en-US" dirty="0"/>
          </a:p>
          <a:p>
            <a:pPr lvl="1"/>
            <a:r>
              <a:rPr lang="en-US" dirty="0"/>
              <a:t>Prompt: "Create unit tests for the calculator operations"</a:t>
            </a:r>
          </a:p>
          <a:p>
            <a:pPr lvl="1"/>
            <a:r>
              <a:rPr lang="en-US" dirty="0"/>
              <a:t>Review generated test structure</a:t>
            </a:r>
          </a:p>
          <a:p>
            <a:pPr lvl="1"/>
            <a:r>
              <a:rPr lang="en-US" b="1" dirty="0"/>
              <a:t>Critical Review:</a:t>
            </a:r>
            <a:r>
              <a:rPr lang="en-US" dirty="0"/>
              <a:t> Are tests calling your calculator code?</a:t>
            </a:r>
            <a:br>
              <a:rPr lang="en-US" dirty="0"/>
            </a:br>
            <a:endParaRPr lang="en-US" dirty="0"/>
          </a:p>
          <a:p>
            <a:pPr marL="0" indent="0">
              <a:buNone/>
            </a:pPr>
            <a:r>
              <a:rPr lang="en-US" dirty="0"/>
              <a:t>2. </a:t>
            </a:r>
            <a:r>
              <a:rPr lang="en-US" b="1" dirty="0"/>
              <a:t>Fix Test Issues (Replicating Session Demo):</a:t>
            </a:r>
            <a:br>
              <a:rPr lang="en-US" dirty="0"/>
            </a:br>
            <a:endParaRPr lang="en-US" dirty="0"/>
          </a:p>
          <a:p>
            <a:pPr lvl="1"/>
            <a:r>
              <a:rPr lang="en-US" dirty="0"/>
              <a:t>If tests are too simple (like `1 + 1 = 2` without calling calculator):</a:t>
            </a:r>
          </a:p>
          <a:p>
            <a:pPr lvl="1"/>
            <a:r>
              <a:rPr lang="en-US" dirty="0"/>
              <a:t>Identify the problem</a:t>
            </a:r>
          </a:p>
          <a:p>
            <a:pPr lvl="1"/>
            <a:r>
              <a:rPr lang="en-US" dirty="0"/>
              <a:t>Ask Copilot to fix it: "Update tests to call Calculator class methods"</a:t>
            </a:r>
          </a:p>
          <a:p>
            <a:pPr lvl="1"/>
            <a:r>
              <a:rPr lang="en-US" dirty="0"/>
              <a:t>Verify tests now test actual implementation</a:t>
            </a:r>
            <a:br>
              <a:rPr lang="en-US" dirty="0"/>
            </a:br>
            <a:endParaRPr lang="en-US" dirty="0"/>
          </a:p>
          <a:p>
            <a:pPr marL="0" indent="0">
              <a:buNone/>
            </a:pPr>
            <a:r>
              <a:rPr lang="en-US" dirty="0"/>
              <a:t>3. </a:t>
            </a:r>
            <a:r>
              <a:rPr lang="en-US" b="1" dirty="0"/>
              <a:t>Run Tests:</a:t>
            </a:r>
            <a:br>
              <a:rPr lang="en-US" dirty="0"/>
            </a:br>
            <a:endParaRPr lang="en-US" dirty="0"/>
          </a:p>
          <a:p>
            <a:pPr lvl="1"/>
            <a:r>
              <a:rPr lang="en-US" dirty="0"/>
              <a:t>Execute test suite</a:t>
            </a:r>
          </a:p>
          <a:p>
            <a:pPr lvl="1"/>
            <a:r>
              <a:rPr lang="en-US" dirty="0"/>
              <a:t>Review test output</a:t>
            </a:r>
          </a:p>
          <a:p>
            <a:pPr lvl="1"/>
            <a:r>
              <a:rPr lang="en-US" dirty="0"/>
              <a:t>Debug any failing tests with Copilot's help</a:t>
            </a:r>
          </a:p>
          <a:p>
            <a:pPr marL="0" indent="0">
              <a:buNone/>
            </a:pPr>
            <a:r>
              <a:rPr lang="en-US" dirty="0"/>
              <a:t>4. </a:t>
            </a:r>
            <a:r>
              <a:rPr lang="en-US" b="1" dirty="0"/>
              <a:t>Add Edge Cases:</a:t>
            </a:r>
            <a:endParaRPr lang="en-US" dirty="0"/>
          </a:p>
          <a:p>
            <a:pPr lvl="1"/>
            <a:r>
              <a:rPr lang="en-US" dirty="0"/>
              <a:t>Prompt: "Add tests for edge cases like division by zero"</a:t>
            </a:r>
          </a:p>
          <a:p>
            <a:pPr lvl="1"/>
            <a:r>
              <a:rPr lang="en-US" dirty="0"/>
              <a:t>Verify exception handling tests are correct</a:t>
            </a:r>
            <a:br>
              <a:rPr lang="en-US" dirty="0"/>
            </a:br>
            <a:endParaRPr lang="en-US" dirty="0"/>
          </a:p>
          <a:p>
            <a:pPr marL="0" indent="0">
              <a:buNone/>
            </a:pPr>
            <a:r>
              <a:rPr lang="en-US" b="1" dirty="0"/>
              <a:t>Success Criteria</a:t>
            </a:r>
            <a:br>
              <a:rPr lang="en-US" dirty="0"/>
            </a:br>
            <a:endParaRPr lang="en-US" dirty="0"/>
          </a:p>
          <a:p>
            <a:pPr lvl="1"/>
            <a:r>
              <a:rPr lang="en-US" dirty="0"/>
              <a:t>Test suite with minimum 8 test cases</a:t>
            </a:r>
          </a:p>
          <a:p>
            <a:pPr lvl="1"/>
            <a:r>
              <a:rPr lang="en-US" dirty="0"/>
              <a:t>All tests call actual calculator methods (not just language arithmetic)</a:t>
            </a:r>
          </a:p>
          <a:p>
            <a:pPr lvl="1"/>
            <a:r>
              <a:rPr lang="en-US" dirty="0"/>
              <a:t>Tests include edge cases and error conditions</a:t>
            </a:r>
          </a:p>
          <a:p>
            <a:pPr lvl="1"/>
            <a:r>
              <a:rPr lang="en-US" dirty="0"/>
              <a:t>All tests pass</a:t>
            </a:r>
            <a:br>
              <a:rPr lang="en-US" dirty="0"/>
            </a:br>
            <a:endParaRPr lang="en-US" dirty="0"/>
          </a:p>
        </p:txBody>
      </p:sp>
    </p:spTree>
    <p:extLst>
      <p:ext uri="{BB962C8B-B14F-4D97-AF65-F5344CB8AC3E}">
        <p14:creationId xmlns:p14="http://schemas.microsoft.com/office/powerpoint/2010/main" val="3520810844"/>
      </p:ext>
    </p:extLst>
  </p:cSld>
  <p:clrMapOvr>
    <a:masterClrMapping/>
  </p:clrMapOvr>
  <p:transition>
    <p:fade/>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7ADD32-5416-0192-2BE8-652D8E449EAB}"/>
              </a:ext>
            </a:extLst>
          </p:cNvPr>
          <p:cNvSpPr>
            <a:spLocks noGrp="1"/>
          </p:cNvSpPr>
          <p:nvPr>
            <p:ph type="title"/>
          </p:nvPr>
        </p:nvSpPr>
        <p:spPr/>
        <p:txBody>
          <a:bodyPr>
            <a:normAutofit fontScale="90000"/>
          </a:bodyPr>
          <a:lstStyle/>
          <a:p>
            <a:r>
              <a:rPr lang="en-US" dirty="0"/>
              <a:t>Lab: Code Coverage</a:t>
            </a:r>
          </a:p>
        </p:txBody>
      </p:sp>
      <p:sp>
        <p:nvSpPr>
          <p:cNvPr id="3" name="Content Placeholder 2">
            <a:extLst>
              <a:ext uri="{FF2B5EF4-FFF2-40B4-BE49-F238E27FC236}">
                <a16:creationId xmlns:a16="http://schemas.microsoft.com/office/drawing/2014/main" id="{13D595A6-0F81-9AB3-F4B8-F6F0EDD923EF}"/>
              </a:ext>
            </a:extLst>
          </p:cNvPr>
          <p:cNvSpPr>
            <a:spLocks noGrp="1"/>
          </p:cNvSpPr>
          <p:nvPr>
            <p:ph idx="1"/>
          </p:nvPr>
        </p:nvSpPr>
        <p:spPr/>
        <p:txBody>
          <a:bodyPr numCol="2">
            <a:normAutofit fontScale="47500" lnSpcReduction="20000"/>
          </a:bodyPr>
          <a:lstStyle/>
          <a:p>
            <a:pPr marL="0" indent="0">
              <a:buNone/>
            </a:pPr>
            <a:r>
              <a:rPr lang="en-US" b="1" dirty="0"/>
              <a:t>Duration:</a:t>
            </a:r>
            <a:r>
              <a:rPr lang="en-US" dirty="0"/>
              <a:t> 30-40 minutes</a:t>
            </a:r>
          </a:p>
          <a:p>
            <a:pPr marL="0" indent="0">
              <a:buNone/>
            </a:pPr>
            <a:r>
              <a:rPr lang="en-US" b="1" dirty="0"/>
              <a:t>Objectives</a:t>
            </a:r>
            <a:br>
              <a:rPr lang="en-US" dirty="0"/>
            </a:br>
            <a:endParaRPr lang="en-US" dirty="0"/>
          </a:p>
          <a:p>
            <a:pPr lvl="1"/>
            <a:r>
              <a:rPr lang="en-US" dirty="0"/>
              <a:t>Set up code coverage reporting</a:t>
            </a:r>
          </a:p>
          <a:p>
            <a:pPr lvl="1"/>
            <a:r>
              <a:rPr lang="en-US" dirty="0"/>
              <a:t>Interpret coverage results</a:t>
            </a:r>
          </a:p>
          <a:p>
            <a:pPr lvl="1"/>
            <a:r>
              <a:rPr lang="en-US" dirty="0"/>
              <a:t>Improve test coverage based on gaps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Enable Coverage Collection:</a:t>
            </a:r>
            <a:br>
              <a:rPr lang="en-US" dirty="0"/>
            </a:br>
            <a:endParaRPr lang="en-US" dirty="0"/>
          </a:p>
          <a:p>
            <a:pPr lvl="1"/>
            <a:r>
              <a:rPr lang="en-US" dirty="0"/>
              <a:t>Prompt: "Add code coverage reporting to my test project"</a:t>
            </a:r>
          </a:p>
          <a:p>
            <a:pPr lvl="1"/>
            <a:r>
              <a:rPr lang="en-US" dirty="0"/>
              <a:t>Review package dependencies added</a:t>
            </a:r>
          </a:p>
          <a:p>
            <a:pPr lvl="1"/>
            <a:r>
              <a:rPr lang="en-US" dirty="0"/>
              <a:t>Handle any NuGet/dependency issues with Copilot's help</a:t>
            </a:r>
            <a:br>
              <a:rPr lang="en-US" dirty="0"/>
            </a:br>
            <a:endParaRPr lang="en-US" dirty="0"/>
          </a:p>
          <a:p>
            <a:pPr marL="0" indent="0">
              <a:buNone/>
            </a:pPr>
            <a:r>
              <a:rPr lang="en-US" dirty="0"/>
              <a:t>2. </a:t>
            </a:r>
            <a:r>
              <a:rPr lang="en-US" b="1" dirty="0"/>
              <a:t>Generate Coverage Report:</a:t>
            </a:r>
            <a:br>
              <a:rPr lang="en-US" dirty="0"/>
            </a:br>
            <a:endParaRPr lang="en-US" dirty="0"/>
          </a:p>
          <a:p>
            <a:pPr lvl="1"/>
            <a:r>
              <a:rPr lang="en-US" dirty="0"/>
              <a:t>Run tests with coverage enabled</a:t>
            </a:r>
          </a:p>
          <a:p>
            <a:pPr lvl="1"/>
            <a:r>
              <a:rPr lang="en-US" dirty="0"/>
              <a:t>Review coverage percentage</a:t>
            </a:r>
          </a:p>
          <a:p>
            <a:pPr lvl="1"/>
            <a:r>
              <a:rPr lang="en-US" dirty="0"/>
              <a:t>Identify uncovered code paths</a:t>
            </a:r>
            <a:br>
              <a:rPr lang="en-US" dirty="0"/>
            </a:br>
            <a:endParaRPr lang="en-US" dirty="0"/>
          </a:p>
          <a:p>
            <a:pPr marL="0" indent="0">
              <a:buNone/>
            </a:pPr>
            <a:r>
              <a:rPr lang="en-US" dirty="0"/>
              <a:t>3. </a:t>
            </a:r>
            <a:r>
              <a:rPr lang="en-US" b="1" dirty="0"/>
              <a:t>Improve Coverage:</a:t>
            </a:r>
            <a:br>
              <a:rPr lang="en-US" b="1" dirty="0"/>
            </a:br>
            <a:endParaRPr lang="en-US" dirty="0"/>
          </a:p>
          <a:p>
            <a:pPr lvl="1"/>
            <a:r>
              <a:rPr lang="en-US" dirty="0"/>
              <a:t>Add tests for uncovered methods</a:t>
            </a:r>
          </a:p>
          <a:p>
            <a:pPr lvl="1"/>
            <a:r>
              <a:rPr lang="en-US" dirty="0"/>
              <a:t>Re-run coverage to verify improvement</a:t>
            </a:r>
          </a:p>
          <a:p>
            <a:pPr lvl="1"/>
            <a:r>
              <a:rPr lang="en-US" dirty="0"/>
              <a:t>Discuss: Is 100% coverage always necessary?</a:t>
            </a:r>
            <a:br>
              <a:rPr lang="en-US" dirty="0"/>
            </a:br>
            <a:endParaRPr lang="en-US" dirty="0"/>
          </a:p>
          <a:p>
            <a:pPr marL="0" indent="0">
              <a:buNone/>
            </a:pPr>
            <a:r>
              <a:rPr lang="en-US" b="1" dirty="0"/>
              <a:t>Success Criteria</a:t>
            </a:r>
            <a:br>
              <a:rPr lang="en-US" dirty="0"/>
            </a:br>
            <a:endParaRPr lang="en-US" dirty="0"/>
          </a:p>
          <a:p>
            <a:pPr lvl="1"/>
            <a:r>
              <a:rPr lang="en-US" dirty="0"/>
              <a:t>Code coverage reporting successfully configured</a:t>
            </a:r>
          </a:p>
          <a:p>
            <a:pPr lvl="1"/>
            <a:r>
              <a:rPr lang="en-US" dirty="0"/>
              <a:t>Can generate and read coverage reports</a:t>
            </a:r>
          </a:p>
          <a:p>
            <a:pPr lvl="1"/>
            <a:r>
              <a:rPr lang="en-US" dirty="0"/>
              <a:t>Achieved reasonable coverage (&gt;80% line coverage)</a:t>
            </a:r>
          </a:p>
          <a:p>
            <a:pPr lvl="1"/>
            <a:r>
              <a:rPr lang="en-US" dirty="0"/>
              <a:t>Understand what coverage metrics mean</a:t>
            </a:r>
            <a:br>
              <a:rPr lang="en-US" dirty="0"/>
            </a:br>
            <a:endParaRPr lang="en-US" dirty="0"/>
          </a:p>
          <a:p>
            <a:pPr marL="0" indent="0">
              <a:buNone/>
            </a:pPr>
            <a:r>
              <a:rPr lang="en-US" b="1" dirty="0"/>
              <a:t>Discussion Points</a:t>
            </a:r>
            <a:br>
              <a:rPr lang="en-US" dirty="0"/>
            </a:br>
            <a:endParaRPr lang="en-US" dirty="0"/>
          </a:p>
          <a:p>
            <a:pPr lvl="1"/>
            <a:r>
              <a:rPr lang="en-US" dirty="0"/>
              <a:t>Feature coverage vs. code coverage (as raised by Tom in the session)</a:t>
            </a:r>
          </a:p>
          <a:p>
            <a:pPr lvl="1"/>
            <a:r>
              <a:rPr lang="en-US" dirty="0"/>
              <a:t>When is test coverage sufficient?</a:t>
            </a:r>
          </a:p>
          <a:p>
            <a:pPr lvl="1"/>
            <a:r>
              <a:rPr lang="en-US" dirty="0"/>
              <a:t>Quality of tests vs. quantity</a:t>
            </a:r>
          </a:p>
        </p:txBody>
      </p:sp>
    </p:spTree>
    <p:extLst>
      <p:ext uri="{BB962C8B-B14F-4D97-AF65-F5344CB8AC3E}">
        <p14:creationId xmlns:p14="http://schemas.microsoft.com/office/powerpoint/2010/main" val="3773342207"/>
      </p:ext>
    </p:extLst>
  </p:cSld>
  <p:clrMapOvr>
    <a:masterClrMapping/>
  </p:clrMapOvr>
  <p:transition>
    <p:fade/>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DA5C8B-D3E3-71D7-A402-CA01FF5C0C63}"/>
              </a:ext>
            </a:extLst>
          </p:cNvPr>
          <p:cNvSpPr>
            <a:spLocks noGrp="1"/>
          </p:cNvSpPr>
          <p:nvPr>
            <p:ph type="title"/>
          </p:nvPr>
        </p:nvSpPr>
        <p:spPr/>
        <p:txBody>
          <a:bodyPr>
            <a:noAutofit/>
          </a:bodyPr>
          <a:lstStyle/>
          <a:p>
            <a:r>
              <a:rPr lang="en-US" sz="1800" dirty="0"/>
              <a:t>Lab: Dependency Management &amp; Troubleshooting</a:t>
            </a:r>
          </a:p>
        </p:txBody>
      </p:sp>
      <p:sp>
        <p:nvSpPr>
          <p:cNvPr id="3" name="Content Placeholder 2">
            <a:extLst>
              <a:ext uri="{FF2B5EF4-FFF2-40B4-BE49-F238E27FC236}">
                <a16:creationId xmlns:a16="http://schemas.microsoft.com/office/drawing/2014/main" id="{5AB9ABBA-D52B-ABC8-3782-CACA185F2E8C}"/>
              </a:ext>
            </a:extLst>
          </p:cNvPr>
          <p:cNvSpPr>
            <a:spLocks noGrp="1"/>
          </p:cNvSpPr>
          <p:nvPr>
            <p:ph idx="1"/>
          </p:nvPr>
        </p:nvSpPr>
        <p:spPr/>
        <p:txBody>
          <a:bodyPr numCol="2">
            <a:normAutofit fontScale="40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Use Copilot to resolve dependency issues</a:t>
            </a:r>
          </a:p>
          <a:p>
            <a:pPr lvl="1"/>
            <a:r>
              <a:rPr lang="en-US" dirty="0"/>
              <a:t>Handle package restoration problems</a:t>
            </a:r>
          </a:p>
          <a:p>
            <a:pPr lvl="1"/>
            <a:r>
              <a:rPr lang="en-US" dirty="0"/>
              <a:t>Practice iterative problem-solving with AI</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Simulate or Identify a Dependency Issue:</a:t>
            </a:r>
            <a:br>
              <a:rPr lang="en-US" dirty="0"/>
            </a:br>
            <a:endParaRPr lang="en-US" dirty="0"/>
          </a:p>
          <a:p>
            <a:pPr lvl="1"/>
            <a:r>
              <a:rPr lang="en-US" dirty="0"/>
              <a:t>Introduce a version conflict (or use existing issue)</a:t>
            </a:r>
          </a:p>
          <a:p>
            <a:pPr lvl="1"/>
            <a:r>
              <a:rPr lang="en-US" dirty="0"/>
              <a:t>Prompt: "I'm getting [specific error]. How do I fix it?"</a:t>
            </a:r>
            <a:br>
              <a:rPr lang="en-US" dirty="0"/>
            </a:br>
            <a:endParaRPr lang="en-US" dirty="0"/>
          </a:p>
          <a:p>
            <a:pPr marL="0" indent="0">
              <a:buNone/>
            </a:pPr>
            <a:r>
              <a:rPr lang="en-US" dirty="0"/>
              <a:t>2. </a:t>
            </a:r>
            <a:r>
              <a:rPr lang="en-US" b="1" dirty="0"/>
              <a:t>Follow Copilot's Guidance:</a:t>
            </a:r>
            <a:br>
              <a:rPr lang="en-US" dirty="0"/>
            </a:br>
            <a:endParaRPr lang="en-US" dirty="0"/>
          </a:p>
          <a:p>
            <a:pPr lvl="1"/>
            <a:r>
              <a:rPr lang="en-US" dirty="0"/>
              <a:t>Review suggested solutions</a:t>
            </a:r>
          </a:p>
          <a:p>
            <a:pPr lvl="1"/>
            <a:r>
              <a:rPr lang="en-US" dirty="0"/>
              <a:t>Evaluate multiple approaches if offered</a:t>
            </a:r>
          </a:p>
          <a:p>
            <a:pPr lvl="1"/>
            <a:r>
              <a:rPr lang="en-US" dirty="0"/>
              <a:t>Choose best solution collaboratively</a:t>
            </a:r>
            <a:br>
              <a:rPr lang="en-US" dirty="0"/>
            </a:br>
            <a:endParaRPr lang="en-US" dirty="0"/>
          </a:p>
          <a:p>
            <a:pPr marL="0" indent="0">
              <a:buNone/>
            </a:pPr>
            <a:r>
              <a:rPr lang="en-US" dirty="0"/>
              <a:t>3. </a:t>
            </a:r>
            <a:r>
              <a:rPr lang="en-US" b="1" dirty="0"/>
              <a:t>Iterative Resolution:</a:t>
            </a:r>
            <a:br>
              <a:rPr lang="en-US" dirty="0"/>
            </a:br>
            <a:endParaRPr lang="en-US" dirty="0"/>
          </a:p>
          <a:p>
            <a:pPr lvl="1"/>
            <a:r>
              <a:rPr lang="en-US" dirty="0"/>
              <a:t>If first solution doesn't work, provide error details</a:t>
            </a:r>
          </a:p>
          <a:p>
            <a:pPr lvl="1"/>
            <a:r>
              <a:rPr lang="en-US" dirty="0"/>
              <a:t>Continue conversation until resolved</a:t>
            </a:r>
            <a:br>
              <a:rPr lang="en-US" dirty="0"/>
            </a:br>
            <a:endParaRPr lang="en-US" dirty="0"/>
          </a:p>
          <a:p>
            <a:pPr marL="0" indent="0">
              <a:buNone/>
            </a:pPr>
            <a:r>
              <a:rPr lang="en-US" dirty="0"/>
              <a:t>4. </a:t>
            </a:r>
            <a:r>
              <a:rPr lang="en-US" b="1" dirty="0"/>
              <a:t>Common Issues to Practice:</a:t>
            </a:r>
            <a:br>
              <a:rPr lang="en-US" b="1" dirty="0"/>
            </a:br>
            <a:endParaRPr lang="en-US" dirty="0"/>
          </a:p>
          <a:p>
            <a:pPr lvl="1"/>
            <a:r>
              <a:rPr lang="en-US" dirty="0"/>
              <a:t>NuGet package source configuration</a:t>
            </a:r>
          </a:p>
          <a:p>
            <a:pPr lvl="1"/>
            <a:r>
              <a:rPr lang="en-US" dirty="0" err="1"/>
              <a:t>MSTest</a:t>
            </a:r>
            <a:r>
              <a:rPr lang="en-US" dirty="0"/>
              <a:t> adapter version conflicts</a:t>
            </a:r>
          </a:p>
          <a:p>
            <a:pPr lvl="1"/>
            <a:r>
              <a:rPr lang="en-US" dirty="0"/>
              <a:t>.NET SDK targeting issues</a:t>
            </a:r>
          </a:p>
          <a:p>
            <a:pPr lvl="1"/>
            <a:r>
              <a:rPr lang="en-US" dirty="0"/>
              <a:t>Package restoration failures</a:t>
            </a:r>
            <a:br>
              <a:rPr lang="en-US" dirty="0"/>
            </a:br>
            <a:endParaRPr lang="en-US" dirty="0"/>
          </a:p>
          <a:p>
            <a:pPr marL="0" indent="0">
              <a:buNone/>
            </a:pPr>
            <a:r>
              <a:rPr lang="en-US" b="1" dirty="0"/>
              <a:t>Success Criteria</a:t>
            </a:r>
            <a:br>
              <a:rPr lang="en-US" dirty="0"/>
            </a:br>
            <a:endParaRPr lang="en-US" dirty="0"/>
          </a:p>
          <a:p>
            <a:pPr lvl="1"/>
            <a:r>
              <a:rPr lang="en-US" dirty="0"/>
              <a:t>Successfully resolved at least one dependency issue</a:t>
            </a:r>
          </a:p>
          <a:p>
            <a:pPr lvl="1"/>
            <a:r>
              <a:rPr lang="en-US" dirty="0"/>
              <a:t>Understand how to provide error context to Copilot</a:t>
            </a:r>
          </a:p>
          <a:p>
            <a:pPr lvl="1"/>
            <a:r>
              <a:rPr lang="en-US" dirty="0"/>
              <a:t>Practiced iterative problem-solving approach</a:t>
            </a:r>
            <a:br>
              <a:rPr lang="en-US" dirty="0"/>
            </a:br>
            <a:endParaRPr lang="en-US" dirty="0"/>
          </a:p>
          <a:p>
            <a:pPr marL="0" indent="0">
              <a:buNone/>
            </a:pPr>
            <a:r>
              <a:rPr lang="en-US" b="1" dirty="0"/>
              <a:t>Real-World Scenario</a:t>
            </a:r>
            <a:br>
              <a:rPr lang="en-US" dirty="0"/>
            </a:br>
            <a:endParaRPr lang="en-US" dirty="0"/>
          </a:p>
          <a:p>
            <a:pPr lvl="1"/>
            <a:r>
              <a:rPr lang="en-US" dirty="0"/>
              <a:t>This lab replicates the exact dependency challenges encountered in the training session:</a:t>
            </a:r>
          </a:p>
          <a:p>
            <a:r>
              <a:rPr lang="en-US" dirty="0"/>
              <a:t>- Updating test project to target .NET 8</a:t>
            </a:r>
          </a:p>
          <a:p>
            <a:r>
              <a:rPr lang="en-US" dirty="0"/>
              <a:t>- Resolving NuGet.org package source mapping</a:t>
            </a:r>
          </a:p>
          <a:p>
            <a:r>
              <a:rPr lang="en-US" dirty="0"/>
              <a:t>- </a:t>
            </a:r>
            <a:r>
              <a:rPr lang="en-US" dirty="0" err="1"/>
              <a:t>MSTest</a:t>
            </a:r>
            <a:r>
              <a:rPr lang="en-US" dirty="0"/>
              <a:t> adapter compatibility issues</a:t>
            </a:r>
          </a:p>
          <a:p>
            <a:endParaRPr lang="en-US" dirty="0"/>
          </a:p>
        </p:txBody>
      </p:sp>
    </p:spTree>
    <p:extLst>
      <p:ext uri="{BB962C8B-B14F-4D97-AF65-F5344CB8AC3E}">
        <p14:creationId xmlns:p14="http://schemas.microsoft.com/office/powerpoint/2010/main" val="2430478124"/>
      </p:ext>
    </p:extLst>
  </p:cSld>
  <p:clrMapOvr>
    <a:masterClrMapping/>
  </p:clrMapOvr>
  <p:transition>
    <p:fade/>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092CCBA-11EE-C725-BBC3-C970DCAF04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05E4869-93F4-2A2D-EC8C-393536C00AC3}"/>
              </a:ext>
            </a:extLst>
          </p:cNvPr>
          <p:cNvSpPr>
            <a:spLocks noGrp="1"/>
          </p:cNvSpPr>
          <p:nvPr>
            <p:ph type="title"/>
          </p:nvPr>
        </p:nvSpPr>
        <p:spPr/>
        <p:txBody>
          <a:bodyPr>
            <a:noAutofit/>
          </a:bodyPr>
          <a:lstStyle/>
          <a:p>
            <a:r>
              <a:rPr lang="en-US" sz="2000" dirty="0"/>
              <a:t>Lab: Security Review</a:t>
            </a:r>
          </a:p>
        </p:txBody>
      </p:sp>
      <p:sp>
        <p:nvSpPr>
          <p:cNvPr id="3" name="Content Placeholder 2">
            <a:extLst>
              <a:ext uri="{FF2B5EF4-FFF2-40B4-BE49-F238E27FC236}">
                <a16:creationId xmlns:a16="http://schemas.microsoft.com/office/drawing/2014/main" id="{29D8D22B-0901-C5F2-0D5C-4639C7475C66}"/>
              </a:ext>
            </a:extLst>
          </p:cNvPr>
          <p:cNvSpPr>
            <a:spLocks noGrp="1"/>
          </p:cNvSpPr>
          <p:nvPr>
            <p:ph idx="1"/>
          </p:nvPr>
        </p:nvSpPr>
        <p:spPr/>
        <p:txBody>
          <a:bodyPr numCol="2">
            <a:normAutofit fontScale="850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Security Review:</a:t>
            </a:r>
            <a:br>
              <a:rPr lang="en-US" dirty="0"/>
            </a:br>
            <a:endParaRPr lang="en-US" dirty="0"/>
          </a:p>
          <a:p>
            <a:pPr lvl="1"/>
            <a:r>
              <a:rPr lang="en-US" dirty="0"/>
              <a:t>Prompt: "Review this code for security vulnerabilities"</a:t>
            </a:r>
          </a:p>
          <a:p>
            <a:pPr lvl="1"/>
            <a:r>
              <a:rPr lang="en-US" dirty="0"/>
              <a:t>Address any identified issues</a:t>
            </a:r>
          </a:p>
          <a:p>
            <a:pPr lvl="1"/>
            <a:r>
              <a:rPr lang="en-US" dirty="0"/>
              <a:t>Add input validation where missing</a:t>
            </a:r>
            <a:br>
              <a:rPr lang="en-US" dirty="0"/>
            </a:br>
            <a:endParaRPr lang="en-US" dirty="0"/>
          </a:p>
          <a:p>
            <a:pPr marL="0" indent="0">
              <a:buNone/>
            </a:pPr>
            <a:r>
              <a:rPr lang="en-US" b="1" dirty="0"/>
              <a:t>Success Criteria</a:t>
            </a:r>
            <a:br>
              <a:rPr lang="en-US" dirty="0"/>
            </a:br>
            <a:endParaRPr lang="en-US" dirty="0"/>
          </a:p>
          <a:p>
            <a:pPr lvl="1"/>
            <a:r>
              <a:rPr lang="en-US" dirty="0"/>
              <a:t>Code has no obvious security issues</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700672030"/>
      </p:ext>
    </p:extLst>
  </p:cSld>
  <p:clrMapOvr>
    <a:masterClrMapping/>
  </p:clrMapOvr>
  <p:transition>
    <p:fade/>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DFA241-5288-5B68-7313-C1234975E270}"/>
              </a:ext>
            </a:extLst>
          </p:cNvPr>
          <p:cNvSpPr>
            <a:spLocks noGrp="1"/>
          </p:cNvSpPr>
          <p:nvPr>
            <p:ph type="title"/>
          </p:nvPr>
        </p:nvSpPr>
        <p:spPr/>
        <p:txBody>
          <a:bodyPr>
            <a:noAutofit/>
          </a:bodyPr>
          <a:lstStyle/>
          <a:p>
            <a:r>
              <a:rPr lang="en-US" sz="2000" dirty="0"/>
              <a:t>Lab: Code Quality Review</a:t>
            </a:r>
          </a:p>
        </p:txBody>
      </p:sp>
      <p:sp>
        <p:nvSpPr>
          <p:cNvPr id="3" name="Content Placeholder 2">
            <a:extLst>
              <a:ext uri="{FF2B5EF4-FFF2-40B4-BE49-F238E27FC236}">
                <a16:creationId xmlns:a16="http://schemas.microsoft.com/office/drawing/2014/main" id="{8A9E1914-63E1-C502-BC85-BE8A86D0F672}"/>
              </a:ext>
            </a:extLst>
          </p:cNvPr>
          <p:cNvSpPr>
            <a:spLocks noGrp="1"/>
          </p:cNvSpPr>
          <p:nvPr>
            <p:ph idx="1"/>
          </p:nvPr>
        </p:nvSpPr>
        <p:spPr/>
        <p:txBody>
          <a:bodyPr numCol="2">
            <a:normAutofit fontScale="775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Code Quality Check:</a:t>
            </a:r>
            <a:br>
              <a:rPr lang="en-US" dirty="0"/>
            </a:br>
            <a:endParaRPr lang="en-US" dirty="0"/>
          </a:p>
          <a:p>
            <a:pPr lvl="1"/>
            <a:r>
              <a:rPr lang="en-US" dirty="0"/>
              <a:t>Prompt: "Suggest improvements for code quality and maintainability"</a:t>
            </a:r>
          </a:p>
          <a:p>
            <a:pPr lvl="1"/>
            <a:r>
              <a:rPr lang="en-US" dirty="0"/>
              <a:t>Evaluate suggestions critically</a:t>
            </a:r>
          </a:p>
          <a:p>
            <a:pPr lvl="1"/>
            <a:r>
              <a:rPr lang="en-US" dirty="0"/>
              <a:t>Implement valuable improvements</a:t>
            </a:r>
            <a:br>
              <a:rPr lang="en-US" dirty="0"/>
            </a:br>
            <a:endParaRPr lang="en-US" dirty="0"/>
          </a:p>
          <a:p>
            <a:pPr marL="0" indent="0">
              <a:buNone/>
            </a:pPr>
            <a:br>
              <a:rPr lang="en-US" dirty="0"/>
            </a:br>
            <a:endParaRPr lang="en-US" dirty="0"/>
          </a:p>
          <a:p>
            <a:pPr marL="0" indent="0">
              <a:buNone/>
            </a:pPr>
            <a:r>
              <a:rPr lang="en-US" b="1" dirty="0"/>
              <a:t>Success Criteria</a:t>
            </a:r>
            <a:br>
              <a:rPr lang="en-US" dirty="0"/>
            </a:br>
            <a:endParaRPr lang="en-US" dirty="0"/>
          </a:p>
          <a:p>
            <a:pPr lvl="1"/>
            <a:r>
              <a:rPr lang="en-US" dirty="0"/>
              <a:t>Comprehensive documentation added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169862650"/>
      </p:ext>
    </p:extLst>
  </p:cSld>
  <p:clrMapOvr>
    <a:masterClrMapping/>
  </p:clrMapOvr>
  <p:transition>
    <p:fade/>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958799D-3CF4-C6DF-B4E2-5D3CFD5524B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9C7433-521A-CF3D-7147-964A8DF9CE8D}"/>
              </a:ext>
            </a:extLst>
          </p:cNvPr>
          <p:cNvSpPr>
            <a:spLocks noGrp="1"/>
          </p:cNvSpPr>
          <p:nvPr>
            <p:ph type="title"/>
          </p:nvPr>
        </p:nvSpPr>
        <p:spPr/>
        <p:txBody>
          <a:bodyPr>
            <a:noAutofit/>
          </a:bodyPr>
          <a:lstStyle/>
          <a:p>
            <a:r>
              <a:rPr lang="en-US" sz="2000" dirty="0"/>
              <a:t>Lab: Documentation</a:t>
            </a:r>
          </a:p>
        </p:txBody>
      </p:sp>
      <p:sp>
        <p:nvSpPr>
          <p:cNvPr id="3" name="Content Placeholder 2">
            <a:extLst>
              <a:ext uri="{FF2B5EF4-FFF2-40B4-BE49-F238E27FC236}">
                <a16:creationId xmlns:a16="http://schemas.microsoft.com/office/drawing/2014/main" id="{02CA00A4-5CFB-8DD1-7A12-A53FCC257E72}"/>
              </a:ext>
            </a:extLst>
          </p:cNvPr>
          <p:cNvSpPr>
            <a:spLocks noGrp="1"/>
          </p:cNvSpPr>
          <p:nvPr>
            <p:ph idx="1"/>
          </p:nvPr>
        </p:nvSpPr>
        <p:spPr/>
        <p:txBody>
          <a:bodyPr numCol="2">
            <a:normAutofit fontScale="775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Add documentation to a project</a:t>
            </a:r>
          </a:p>
          <a:p>
            <a:pPr lvl="1"/>
            <a:r>
              <a:rPr lang="en-US" dirty="0"/>
              <a:t>Update existing documentation</a:t>
            </a:r>
            <a:br>
              <a:rPr lang="en-US" dirty="0"/>
            </a:br>
            <a:endParaRPr lang="en-US" b="1" dirty="0"/>
          </a:p>
          <a:p>
            <a:pPr marL="0" indent="0">
              <a:buNone/>
            </a:pPr>
            <a:r>
              <a:rPr lang="en-US" b="1" dirty="0"/>
              <a:t>Activities</a:t>
            </a:r>
            <a:br>
              <a:rPr lang="en-US" dirty="0"/>
            </a:br>
            <a:endParaRPr lang="en-US" dirty="0"/>
          </a:p>
          <a:p>
            <a:pPr marL="0" indent="0">
              <a:buNone/>
            </a:pPr>
            <a:r>
              <a:rPr lang="en-US" dirty="0"/>
              <a:t>1. </a:t>
            </a:r>
            <a:r>
              <a:rPr lang="en-US" b="1" dirty="0"/>
              <a:t>Documentation:</a:t>
            </a:r>
            <a:br>
              <a:rPr lang="en-US" dirty="0"/>
            </a:br>
            <a:endParaRPr lang="en-US" dirty="0"/>
          </a:p>
          <a:p>
            <a:pPr lvl="1"/>
            <a:r>
              <a:rPr lang="en-US" dirty="0"/>
              <a:t>Ask Copilot to generate XML/doc comments</a:t>
            </a:r>
          </a:p>
          <a:p>
            <a:pPr lvl="1"/>
            <a:r>
              <a:rPr lang="en-US" dirty="0"/>
              <a:t>Review for accuracy and completeness</a:t>
            </a:r>
          </a:p>
          <a:p>
            <a:pPr lvl="1"/>
            <a:r>
              <a:rPr lang="en-US" dirty="0"/>
              <a:t>Add README with usage instruction</a:t>
            </a:r>
          </a:p>
          <a:p>
            <a:pPr lvl="1"/>
            <a:r>
              <a:rPr lang="en-US" dirty="0"/>
              <a:t>Ask AI to update existing documentation</a:t>
            </a:r>
            <a:br>
              <a:rPr lang="en-US" dirty="0"/>
            </a:br>
            <a:endParaRPr lang="en-US" dirty="0"/>
          </a:p>
          <a:p>
            <a:pPr marL="0" indent="0">
              <a:buNone/>
            </a:pPr>
            <a:r>
              <a:rPr lang="en-US" b="1" dirty="0"/>
              <a:t>Success Criteria</a:t>
            </a:r>
            <a:br>
              <a:rPr lang="en-US" dirty="0"/>
            </a:br>
            <a:endParaRPr lang="en-US" dirty="0"/>
          </a:p>
          <a:p>
            <a:pPr lvl="1"/>
            <a:r>
              <a:rPr lang="en-US" dirty="0"/>
              <a:t>Comprehensive documentation added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1140045480"/>
      </p:ext>
    </p:extLst>
  </p:cSld>
  <p:clrMapOvr>
    <a:masterClrMapping/>
  </p:clrMapOvr>
  <p:transition>
    <p:fade/>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761A18-3B58-E0A3-DF73-2751E4EF32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4B8E203-04DE-BB8E-42B2-DF48D0FD9A86}"/>
              </a:ext>
            </a:extLst>
          </p:cNvPr>
          <p:cNvSpPr>
            <a:spLocks noGrp="1"/>
          </p:cNvSpPr>
          <p:nvPr>
            <p:ph type="title"/>
          </p:nvPr>
        </p:nvSpPr>
        <p:spPr/>
        <p:txBody>
          <a:bodyPr>
            <a:noAutofit/>
          </a:bodyPr>
          <a:lstStyle/>
          <a:p>
            <a:r>
              <a:rPr lang="en-US" sz="2000" dirty="0"/>
              <a:t>Lab: Refactoring</a:t>
            </a:r>
          </a:p>
        </p:txBody>
      </p:sp>
      <p:sp>
        <p:nvSpPr>
          <p:cNvPr id="3" name="Content Placeholder 2">
            <a:extLst>
              <a:ext uri="{FF2B5EF4-FFF2-40B4-BE49-F238E27FC236}">
                <a16:creationId xmlns:a16="http://schemas.microsoft.com/office/drawing/2014/main" id="{819C4D3F-0057-761C-E6C7-270AFD9749C3}"/>
              </a:ext>
            </a:extLst>
          </p:cNvPr>
          <p:cNvSpPr>
            <a:spLocks noGrp="1"/>
          </p:cNvSpPr>
          <p:nvPr>
            <p:ph idx="1"/>
          </p:nvPr>
        </p:nvSpPr>
        <p:spPr/>
        <p:txBody>
          <a:bodyPr numCol="2">
            <a:normAutofit fontScale="77500" lnSpcReduction="20000"/>
          </a:bodyPr>
          <a:lstStyle/>
          <a:p>
            <a:pPr marL="0" indent="0">
              <a:buNone/>
            </a:pPr>
            <a:r>
              <a:rPr lang="en-US" b="1" dirty="0"/>
              <a:t>Duration:</a:t>
            </a:r>
            <a:r>
              <a:rPr lang="en-US" dirty="0"/>
              <a:t> 30-40 minutes</a:t>
            </a:r>
            <a:br>
              <a:rPr lang="en-US" dirty="0"/>
            </a:br>
            <a:endParaRPr lang="en-US" dirty="0"/>
          </a:p>
          <a:p>
            <a:pPr marL="0" indent="0">
              <a:buNone/>
            </a:pPr>
            <a:r>
              <a:rPr lang="en-US" b="1" dirty="0"/>
              <a:t>Objectives</a:t>
            </a:r>
            <a:br>
              <a:rPr lang="en-US" dirty="0"/>
            </a:br>
            <a:endParaRPr lang="en-US" dirty="0"/>
          </a:p>
          <a:p>
            <a:pPr lvl="1"/>
            <a:r>
              <a:rPr lang="en-US" dirty="0"/>
              <a:t>Apply best practices learned in session</a:t>
            </a:r>
          </a:p>
          <a:p>
            <a:pPr lvl="1"/>
            <a:r>
              <a:rPr lang="en-US" dirty="0"/>
              <a:t>Review code quality systematically</a:t>
            </a:r>
          </a:p>
          <a:p>
            <a:pPr lvl="1"/>
            <a:r>
              <a:rPr lang="en-US" dirty="0"/>
              <a:t>Identify and fix issues</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Refactoring Exercise:</a:t>
            </a:r>
            <a:endParaRPr lang="en-US" dirty="0"/>
          </a:p>
          <a:p>
            <a:pPr lvl="1"/>
            <a:r>
              <a:rPr lang="en-US" dirty="0"/>
              <a:t>Ask Copilot for alternative implementation approaches</a:t>
            </a:r>
          </a:p>
          <a:p>
            <a:pPr lvl="1"/>
            <a:r>
              <a:rPr lang="en-US" dirty="0"/>
              <a:t>Compare different solutions</a:t>
            </a:r>
          </a:p>
          <a:p>
            <a:pPr lvl="1"/>
            <a:r>
              <a:rPr lang="en-US" dirty="0"/>
              <a:t>Discuss trade-offs (as mentioned in session)</a:t>
            </a:r>
            <a:br>
              <a:rPr lang="en-US" dirty="0"/>
            </a:br>
            <a:endParaRPr lang="en-US" dirty="0"/>
          </a:p>
          <a:p>
            <a:pPr marL="0" indent="0">
              <a:buNone/>
            </a:pPr>
            <a:r>
              <a:rPr lang="en-US" b="1" dirty="0"/>
              <a:t>Success Criteria</a:t>
            </a:r>
            <a:br>
              <a:rPr lang="en-US" dirty="0"/>
            </a:br>
            <a:endParaRPr lang="en-US" dirty="0"/>
          </a:p>
          <a:p>
            <a:pPr lvl="1"/>
            <a:r>
              <a:rPr lang="en-US" dirty="0"/>
              <a:t>Code has no obvious security issues</a:t>
            </a:r>
          </a:p>
          <a:p>
            <a:pPr lvl="1"/>
            <a:r>
              <a:rPr lang="en-US" dirty="0"/>
              <a:t>Comprehensive documentation added</a:t>
            </a:r>
          </a:p>
          <a:p>
            <a:pPr lvl="1"/>
            <a:r>
              <a:rPr lang="en-US" dirty="0"/>
              <a:t>At least one refactoring improvement implemented</a:t>
            </a:r>
          </a:p>
          <a:p>
            <a:pPr lvl="1"/>
            <a:r>
              <a:rPr lang="en-US" dirty="0"/>
              <a:t>Critically evaluated all AI suggestions</a:t>
            </a:r>
            <a:br>
              <a:rPr lang="en-US" dirty="0"/>
            </a:br>
            <a:endParaRPr lang="en-US" dirty="0"/>
          </a:p>
          <a:p>
            <a:pPr marL="0" indent="0">
              <a:buNone/>
            </a:pPr>
            <a:br>
              <a:rPr lang="en-US" dirty="0"/>
            </a:br>
            <a:endParaRPr lang="en-US" dirty="0"/>
          </a:p>
          <a:p>
            <a:endParaRPr lang="en-US" dirty="0"/>
          </a:p>
        </p:txBody>
      </p:sp>
    </p:spTree>
    <p:extLst>
      <p:ext uri="{BB962C8B-B14F-4D97-AF65-F5344CB8AC3E}">
        <p14:creationId xmlns:p14="http://schemas.microsoft.com/office/powerpoint/2010/main" val="2518528013"/>
      </p:ext>
    </p:extLst>
  </p:cSld>
  <p:clrMapOvr>
    <a:masterClrMapping/>
  </p:clrMapOvr>
  <p:transition>
    <p:fade/>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DA8685-4A25-C580-568F-0B63C5D5901F}"/>
              </a:ext>
            </a:extLst>
          </p:cNvPr>
          <p:cNvSpPr>
            <a:spLocks noGrp="1"/>
          </p:cNvSpPr>
          <p:nvPr>
            <p:ph type="title"/>
          </p:nvPr>
        </p:nvSpPr>
        <p:spPr/>
        <p:txBody>
          <a:bodyPr>
            <a:normAutofit fontScale="90000"/>
          </a:bodyPr>
          <a:lstStyle/>
          <a:p>
            <a:r>
              <a:rPr lang="en-US" dirty="0"/>
              <a:t>Lab: Model Comparison Exercise</a:t>
            </a:r>
          </a:p>
        </p:txBody>
      </p:sp>
      <p:sp>
        <p:nvSpPr>
          <p:cNvPr id="3" name="Content Placeholder 2">
            <a:extLst>
              <a:ext uri="{FF2B5EF4-FFF2-40B4-BE49-F238E27FC236}">
                <a16:creationId xmlns:a16="http://schemas.microsoft.com/office/drawing/2014/main" id="{93958479-B067-F342-5A04-053B2822DE4E}"/>
              </a:ext>
            </a:extLst>
          </p:cNvPr>
          <p:cNvSpPr>
            <a:spLocks noGrp="1"/>
          </p:cNvSpPr>
          <p:nvPr>
            <p:ph idx="1"/>
          </p:nvPr>
        </p:nvSpPr>
        <p:spPr/>
        <p:txBody>
          <a:bodyPr numCol="2">
            <a:normAutofit fontScale="32500" lnSpcReduction="20000"/>
          </a:bodyPr>
          <a:lstStyle/>
          <a:p>
            <a:pPr marL="0" indent="0">
              <a:buNone/>
            </a:pPr>
            <a:r>
              <a:rPr lang="en-US" b="1" dirty="0"/>
              <a:t>Duration:</a:t>
            </a:r>
            <a:r>
              <a:rPr lang="en-US" dirty="0"/>
              <a:t> 20-30 minutes</a:t>
            </a:r>
            <a:br>
              <a:rPr lang="en-US" dirty="0"/>
            </a:br>
            <a:endParaRPr lang="en-US" dirty="0"/>
          </a:p>
          <a:p>
            <a:pPr marL="0" indent="0">
              <a:buNone/>
            </a:pPr>
            <a:r>
              <a:rPr lang="en-US" b="1" dirty="0"/>
              <a:t>Objectives</a:t>
            </a:r>
            <a:br>
              <a:rPr lang="en-US" dirty="0"/>
            </a:br>
            <a:endParaRPr lang="en-US" dirty="0"/>
          </a:p>
          <a:p>
            <a:pPr lvl="1"/>
            <a:r>
              <a:rPr lang="en-US" dirty="0"/>
              <a:t>Compare outputs from different AI models</a:t>
            </a:r>
          </a:p>
          <a:p>
            <a:pPr lvl="1"/>
            <a:r>
              <a:rPr lang="en-US" dirty="0"/>
              <a:t>Understand when to use premium vs standard models</a:t>
            </a:r>
          </a:p>
          <a:p>
            <a:pPr lvl="1"/>
            <a:r>
              <a:rPr lang="en-US" dirty="0"/>
              <a:t>Monitor token usage</a:t>
            </a:r>
            <a:br>
              <a:rPr lang="en-US" dirty="0"/>
            </a:br>
            <a:endParaRPr lang="en-US" dirty="0"/>
          </a:p>
          <a:p>
            <a:pPr marL="0" indent="0">
              <a:buNone/>
            </a:pPr>
            <a:r>
              <a:rPr lang="en-US" b="1" dirty="0"/>
              <a:t>Activities</a:t>
            </a:r>
            <a:br>
              <a:rPr lang="en-US" dirty="0"/>
            </a:br>
            <a:endParaRPr lang="en-US" dirty="0"/>
          </a:p>
          <a:p>
            <a:pPr marL="0" indent="0">
              <a:buNone/>
            </a:pPr>
            <a:r>
              <a:rPr lang="en-US" dirty="0"/>
              <a:t>1. </a:t>
            </a:r>
            <a:r>
              <a:rPr lang="en-US" b="1" dirty="0"/>
              <a:t>Same Prompt, Different Models:</a:t>
            </a:r>
            <a:br>
              <a:rPr lang="en-US" dirty="0"/>
            </a:br>
            <a:endParaRPr lang="en-US" dirty="0"/>
          </a:p>
          <a:p>
            <a:pPr lvl="1"/>
            <a:r>
              <a:rPr lang="en-US" dirty="0"/>
              <a:t>Choose a coding task (e.g., "implement bubble sort")</a:t>
            </a:r>
          </a:p>
          <a:p>
            <a:pPr lvl="1"/>
            <a:r>
              <a:rPr lang="en-US" dirty="0"/>
              <a:t>Try with GPT-4 (standard - unlimited)</a:t>
            </a:r>
          </a:p>
          <a:p>
            <a:pPr lvl="1"/>
            <a:r>
              <a:rPr lang="en-US" dirty="0"/>
              <a:t>Try with Claude Sonnet (premium - 1x token)</a:t>
            </a:r>
          </a:p>
          <a:p>
            <a:pPr lvl="1"/>
            <a:r>
              <a:rPr lang="en-US" dirty="0"/>
              <a:t>Compare results for quality, style, completeness</a:t>
            </a:r>
            <a:br>
              <a:rPr lang="en-US" dirty="0"/>
            </a:br>
            <a:endParaRPr lang="en-US" dirty="0"/>
          </a:p>
          <a:p>
            <a:pPr marL="0" indent="0">
              <a:buNone/>
            </a:pPr>
            <a:r>
              <a:rPr lang="en-US" dirty="0"/>
              <a:t>2. </a:t>
            </a:r>
            <a:r>
              <a:rPr lang="en-US" b="1" dirty="0"/>
              <a:t>Token Usage Analysis:</a:t>
            </a:r>
            <a:br>
              <a:rPr lang="en-US" dirty="0"/>
            </a:br>
            <a:endParaRPr lang="en-US" dirty="0"/>
          </a:p>
          <a:p>
            <a:pPr lvl="1"/>
            <a:r>
              <a:rPr lang="en-US" dirty="0"/>
              <a:t>Check premium token bar before and after</a:t>
            </a:r>
          </a:p>
          <a:p>
            <a:pPr lvl="1"/>
            <a:r>
              <a:rPr lang="en-US" dirty="0"/>
              <a:t>Calculate tokens consumed</a:t>
            </a:r>
          </a:p>
          <a:p>
            <a:pPr lvl="1"/>
            <a:r>
              <a:rPr lang="en-US" dirty="0"/>
              <a:t>Discuss: Was premium model worth the cost?</a:t>
            </a:r>
            <a:br>
              <a:rPr lang="en-US" dirty="0"/>
            </a:br>
            <a:endParaRPr lang="en-US" dirty="0"/>
          </a:p>
          <a:p>
            <a:pPr marL="0" indent="0">
              <a:buNone/>
            </a:pPr>
            <a:r>
              <a:rPr lang="en-US" dirty="0"/>
              <a:t>3. </a:t>
            </a:r>
            <a:r>
              <a:rPr lang="en-US" b="1" dirty="0"/>
              <a:t>Best Use Cases:</a:t>
            </a:r>
            <a:br>
              <a:rPr lang="en-US" dirty="0"/>
            </a:br>
            <a:endParaRPr lang="en-US" dirty="0"/>
          </a:p>
          <a:p>
            <a:pPr lvl="1"/>
            <a:r>
              <a:rPr lang="en-US" dirty="0"/>
              <a:t>Identify tasks where standard models suffice</a:t>
            </a:r>
          </a:p>
          <a:p>
            <a:pPr lvl="1"/>
            <a:r>
              <a:rPr lang="en-US" dirty="0"/>
              <a:t>Identify tasks requiring premium models</a:t>
            </a:r>
          </a:p>
          <a:p>
            <a:pPr lvl="1"/>
            <a:r>
              <a:rPr lang="en-US" dirty="0"/>
              <a:t>Create personal guidelines for model selection</a:t>
            </a:r>
            <a:br>
              <a:rPr lang="en-US" dirty="0"/>
            </a:br>
            <a:endParaRPr lang="en-US" dirty="0"/>
          </a:p>
          <a:p>
            <a:pPr marL="0" indent="0">
              <a:buNone/>
            </a:pPr>
            <a:r>
              <a:rPr lang="en-US" dirty="0"/>
              <a:t>4. </a:t>
            </a:r>
            <a:r>
              <a:rPr lang="en-US" b="1" dirty="0"/>
              <a:t>Ask Mode Advantage:</a:t>
            </a:r>
            <a:endParaRPr lang="en-US" dirty="0"/>
          </a:p>
          <a:p>
            <a:pPr lvl="1"/>
            <a:r>
              <a:rPr lang="en-US" dirty="0"/>
              <a:t>Use Ask mode with premium models (no token cost)</a:t>
            </a:r>
          </a:p>
          <a:p>
            <a:pPr lvl="1"/>
            <a:r>
              <a:rPr lang="en-US" dirty="0"/>
              <a:t>Compare to Agent mode token consumption</a:t>
            </a:r>
            <a:br>
              <a:rPr lang="en-US" dirty="0"/>
            </a:br>
            <a:endParaRPr lang="en-US" dirty="0"/>
          </a:p>
          <a:p>
            <a:pPr marL="0" indent="0">
              <a:buNone/>
            </a:pPr>
            <a:r>
              <a:rPr lang="en-US" b="1" dirty="0"/>
              <a:t>Success Criteria</a:t>
            </a:r>
            <a:br>
              <a:rPr lang="en-US" dirty="0"/>
            </a:br>
            <a:endParaRPr lang="en-US" dirty="0"/>
          </a:p>
          <a:p>
            <a:pPr lvl="1"/>
            <a:r>
              <a:rPr lang="en-US" dirty="0"/>
              <a:t>Compared at least 2 different models</a:t>
            </a:r>
          </a:p>
          <a:p>
            <a:pPr lvl="1"/>
            <a:r>
              <a:rPr lang="en-US" dirty="0"/>
              <a:t>Understand token consumption impact</a:t>
            </a:r>
          </a:p>
          <a:p>
            <a:pPr lvl="1"/>
            <a:r>
              <a:rPr lang="en-US" dirty="0"/>
              <a:t>Can make informed model selection decisions</a:t>
            </a:r>
            <a:br>
              <a:rPr lang="en-US" dirty="0"/>
            </a:br>
            <a:endParaRPr lang="en-US" dirty="0"/>
          </a:p>
          <a:p>
            <a:pPr marL="0" indent="0">
              <a:buNone/>
            </a:pPr>
            <a:r>
              <a:rPr lang="en-US" b="1" dirty="0"/>
              <a:t>Token Economics</a:t>
            </a:r>
            <a:br>
              <a:rPr lang="en-US" dirty="0"/>
            </a:br>
            <a:endParaRPr lang="en-US" dirty="0"/>
          </a:p>
          <a:p>
            <a:pPr lvl="1"/>
            <a:r>
              <a:rPr lang="en-US" b="1" dirty="0"/>
              <a:t>Standard models (unlimited):</a:t>
            </a:r>
            <a:r>
              <a:rPr lang="en-US" dirty="0"/>
              <a:t> ChatGPT-4</a:t>
            </a:r>
          </a:p>
          <a:p>
            <a:pPr lvl="1"/>
            <a:r>
              <a:rPr lang="en-US" b="1" dirty="0"/>
              <a:t>Premium tokens (counted):</a:t>
            </a:r>
            <a:endParaRPr lang="en-US" dirty="0"/>
          </a:p>
          <a:p>
            <a:pPr lvl="1"/>
            <a:r>
              <a:rPr lang="en-US" dirty="0"/>
              <a:t>Claude Haiku 4.5: 1/3 token per request</a:t>
            </a:r>
          </a:p>
          <a:p>
            <a:pPr lvl="1"/>
            <a:r>
              <a:rPr lang="en-US" dirty="0"/>
              <a:t>Claude Sonnet: 1x token per request</a:t>
            </a:r>
          </a:p>
          <a:p>
            <a:pPr lvl="1"/>
            <a:r>
              <a:rPr lang="en-US" dirty="0"/>
              <a:t>O2 mini: 1/3 token per request</a:t>
            </a:r>
          </a:p>
          <a:p>
            <a:pPr lvl="1"/>
            <a:r>
              <a:rPr lang="en-US" dirty="0"/>
              <a:t>New models: May be 10x when first released</a:t>
            </a:r>
          </a:p>
          <a:p>
            <a:endParaRPr lang="en-US" dirty="0"/>
          </a:p>
        </p:txBody>
      </p:sp>
    </p:spTree>
    <p:extLst>
      <p:ext uri="{BB962C8B-B14F-4D97-AF65-F5344CB8AC3E}">
        <p14:creationId xmlns:p14="http://schemas.microsoft.com/office/powerpoint/2010/main" val="939982034"/>
      </p:ext>
    </p:extLst>
  </p:cSld>
  <p:clrMapOvr>
    <a:masterClrMapping/>
  </p:clrMapOvr>
  <p:transition>
    <p:fade/>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BB89E8-366B-DE4A-3987-2B1ABE59AB86}"/>
              </a:ext>
            </a:extLst>
          </p:cNvPr>
          <p:cNvSpPr>
            <a:spLocks noGrp="1"/>
          </p:cNvSpPr>
          <p:nvPr>
            <p:ph type="title"/>
          </p:nvPr>
        </p:nvSpPr>
        <p:spPr/>
        <p:txBody>
          <a:bodyPr>
            <a:normAutofit fontScale="90000"/>
          </a:bodyPr>
          <a:lstStyle/>
          <a:p>
            <a:r>
              <a:rPr lang="en-US" sz="2200" dirty="0"/>
              <a:t>Evergreen Software Development - Core Principles</a:t>
            </a:r>
            <a:br>
              <a:rPr lang="en-US" dirty="0"/>
            </a:br>
            <a:endParaRPr lang="en-US" dirty="0"/>
          </a:p>
        </p:txBody>
      </p:sp>
      <p:sp>
        <p:nvSpPr>
          <p:cNvPr id="3" name="Content Placeholder 2">
            <a:extLst>
              <a:ext uri="{FF2B5EF4-FFF2-40B4-BE49-F238E27FC236}">
                <a16:creationId xmlns:a16="http://schemas.microsoft.com/office/drawing/2014/main" id="{837EB2FB-58EC-B015-73A1-71A8AF4AAF5D}"/>
              </a:ext>
            </a:extLst>
          </p:cNvPr>
          <p:cNvSpPr>
            <a:spLocks noGrp="1"/>
          </p:cNvSpPr>
          <p:nvPr>
            <p:ph idx="1"/>
          </p:nvPr>
        </p:nvSpPr>
        <p:spPr/>
        <p:txBody>
          <a:bodyPr>
            <a:normAutofit fontScale="77500" lnSpcReduction="20000"/>
          </a:bodyPr>
          <a:lstStyle/>
          <a:p>
            <a:r>
              <a:rPr lang="en-US" b="1" dirty="0"/>
              <a:t>Intent‑First Design</a:t>
            </a:r>
          </a:p>
          <a:p>
            <a:pPr lvl="1"/>
            <a:r>
              <a:rPr lang="en-US" dirty="0"/>
              <a:t>Define the system’s purpose, invariants, and boundaries before writing code to ensure long‑term clarity.</a:t>
            </a:r>
          </a:p>
          <a:p>
            <a:r>
              <a:rPr lang="en-US" b="1" dirty="0"/>
              <a:t>Stable Interfaces, Evolving Internals</a:t>
            </a:r>
          </a:p>
          <a:p>
            <a:pPr lvl="1"/>
            <a:r>
              <a:rPr lang="en-US" dirty="0"/>
              <a:t>Keep contracts predictable while allowing implementations to improve continuously.</a:t>
            </a:r>
          </a:p>
          <a:p>
            <a:r>
              <a:rPr lang="en-US" b="1" dirty="0"/>
              <a:t>Continuous Regeneration with Guardrails</a:t>
            </a:r>
          </a:p>
          <a:p>
            <a:pPr lvl="1"/>
            <a:r>
              <a:rPr lang="en-US" dirty="0"/>
              <a:t>Use AI to rewrite or extend components safely, backed by tests, specs, and architectural constraints.</a:t>
            </a:r>
          </a:p>
          <a:p>
            <a:r>
              <a:rPr lang="en-US" b="1" dirty="0"/>
              <a:t>Modular, Replaceable Components</a:t>
            </a:r>
          </a:p>
          <a:p>
            <a:pPr lvl="1"/>
            <a:r>
              <a:rPr lang="en-US" dirty="0"/>
              <a:t>Structure the system so any part can be regenerated, swapped, or upgraded without cascading breakage.</a:t>
            </a:r>
          </a:p>
          <a:p>
            <a:r>
              <a:rPr lang="en-US" b="1" dirty="0"/>
              <a:t>Lifecycle Governance</a:t>
            </a:r>
          </a:p>
          <a:p>
            <a:pPr lvl="1"/>
            <a:r>
              <a:rPr lang="en-US" dirty="0"/>
              <a:t>Maintain quality through automated tests, versioning discipline, and human‑in‑the‑loop validation.</a:t>
            </a:r>
          </a:p>
          <a:p>
            <a:endParaRPr lang="en-US" dirty="0"/>
          </a:p>
        </p:txBody>
      </p:sp>
    </p:spTree>
    <p:extLst>
      <p:ext uri="{BB962C8B-B14F-4D97-AF65-F5344CB8AC3E}">
        <p14:creationId xmlns:p14="http://schemas.microsoft.com/office/powerpoint/2010/main" val="3859943806"/>
      </p:ext>
    </p:extLst>
  </p:cSld>
  <p:clrMapOvr>
    <a:masterClrMapping/>
  </p:clrMapOvr>
  <p:transition>
    <p:fade/>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A5F52D-1CB5-EA4A-363F-6C6F7BFCF89E}"/>
              </a:ext>
            </a:extLst>
          </p:cNvPr>
          <p:cNvSpPr>
            <a:spLocks noGrp="1"/>
          </p:cNvSpPr>
          <p:nvPr>
            <p:ph type="title"/>
          </p:nvPr>
        </p:nvSpPr>
        <p:spPr/>
        <p:txBody>
          <a:bodyPr>
            <a:noAutofit/>
          </a:bodyPr>
          <a:lstStyle/>
          <a:p>
            <a:r>
              <a:rPr lang="en-US" sz="2800" dirty="0"/>
              <a:t>Why Software Fails to Be Evergreen</a:t>
            </a:r>
          </a:p>
        </p:txBody>
      </p:sp>
      <p:sp>
        <p:nvSpPr>
          <p:cNvPr id="3" name="Content Placeholder 2">
            <a:extLst>
              <a:ext uri="{FF2B5EF4-FFF2-40B4-BE49-F238E27FC236}">
                <a16:creationId xmlns:a16="http://schemas.microsoft.com/office/drawing/2014/main" id="{37E908B3-2D49-4D0A-4B73-17410FD8D84B}"/>
              </a:ext>
            </a:extLst>
          </p:cNvPr>
          <p:cNvSpPr>
            <a:spLocks noGrp="1"/>
          </p:cNvSpPr>
          <p:nvPr>
            <p:ph idx="1"/>
          </p:nvPr>
        </p:nvSpPr>
        <p:spPr/>
        <p:txBody>
          <a:bodyPr>
            <a:normAutofit fontScale="70000" lnSpcReduction="20000"/>
          </a:bodyPr>
          <a:lstStyle/>
          <a:p>
            <a:r>
              <a:rPr lang="en-US" b="1" dirty="0"/>
              <a:t>Intent Rot</a:t>
            </a:r>
          </a:p>
          <a:p>
            <a:pPr lvl="1"/>
            <a:r>
              <a:rPr lang="en-US" dirty="0"/>
              <a:t>The original purpose, constraints, and invariants are undocumented or lost, making safe regeneration impossible.</a:t>
            </a:r>
          </a:p>
          <a:p>
            <a:r>
              <a:rPr lang="en-US" b="1" dirty="0"/>
              <a:t>Unstable or Leaky Interfaces</a:t>
            </a:r>
          </a:p>
          <a:p>
            <a:pPr lvl="1"/>
            <a:r>
              <a:rPr lang="en-US" dirty="0"/>
              <a:t>APIs, data contracts, and boundaries change unpredictably, causing cascading breakage when internals evolve.</a:t>
            </a:r>
          </a:p>
          <a:p>
            <a:r>
              <a:rPr lang="en-US" b="1" dirty="0"/>
              <a:t>Tightly Coupled Architecture</a:t>
            </a:r>
          </a:p>
          <a:p>
            <a:pPr lvl="1"/>
            <a:r>
              <a:rPr lang="en-US" dirty="0"/>
              <a:t>Components depend on each other’s internal details, preventing isolated regeneration or replacement.</a:t>
            </a:r>
          </a:p>
          <a:p>
            <a:r>
              <a:rPr lang="en-US" b="1" dirty="0"/>
              <a:t>Insufficient Guardrails</a:t>
            </a:r>
          </a:p>
          <a:p>
            <a:pPr lvl="1"/>
            <a:r>
              <a:rPr lang="en-US" dirty="0"/>
              <a:t>Missing tests, specs, or validation layers mean AI‑assisted regeneration can’t be trusted to preserve behavior.</a:t>
            </a:r>
          </a:p>
          <a:p>
            <a:r>
              <a:rPr lang="en-US" b="1" dirty="0"/>
              <a:t>One‑Off Patches and Drift</a:t>
            </a:r>
          </a:p>
          <a:p>
            <a:pPr lvl="1"/>
            <a:r>
              <a:rPr lang="en-US" dirty="0"/>
              <a:t>Ad‑hoc fixes accumulate, diverging the system from its intended design and making regeneration unsafe.</a:t>
            </a:r>
          </a:p>
        </p:txBody>
      </p:sp>
    </p:spTree>
    <p:extLst>
      <p:ext uri="{BB962C8B-B14F-4D97-AF65-F5344CB8AC3E}">
        <p14:creationId xmlns:p14="http://schemas.microsoft.com/office/powerpoint/2010/main" val="4274026177"/>
      </p:ext>
    </p:extLst>
  </p:cSld>
  <p:clrMapOvr>
    <a:masterClrMapping/>
  </p:clrMapOvr>
  <p:transition>
    <p:fade/>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FAFF2-31ED-5828-3D4F-C7FF5D8818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D860879-322A-4CAF-26E4-1B3C2B1549AD}"/>
              </a:ext>
            </a:extLst>
          </p:cNvPr>
          <p:cNvSpPr>
            <a:spLocks noGrp="1"/>
          </p:cNvSpPr>
          <p:nvPr>
            <p:ph type="title"/>
          </p:nvPr>
        </p:nvSpPr>
        <p:spPr>
          <a:xfrm>
            <a:off x="628651" y="273845"/>
            <a:ext cx="6696665" cy="527268"/>
          </a:xfrm>
        </p:spPr>
        <p:txBody>
          <a:bodyPr anchor="ctr">
            <a:normAutofit/>
          </a:bodyPr>
          <a:lstStyle/>
          <a:p>
            <a:pPr marL="0" lvl="0" indent="0">
              <a:buNone/>
            </a:pPr>
            <a:r>
              <a:rPr lang="en-US" sz="3100"/>
              <a:t>Agenda</a:t>
            </a:r>
          </a:p>
        </p:txBody>
      </p:sp>
      <p:graphicFrame>
        <p:nvGraphicFramePr>
          <p:cNvPr id="9" name="Content Placeholder 2">
            <a:extLst>
              <a:ext uri="{FF2B5EF4-FFF2-40B4-BE49-F238E27FC236}">
                <a16:creationId xmlns:a16="http://schemas.microsoft.com/office/drawing/2014/main" id="{FAA0ED98-C3DC-9558-B9A1-CF7B85646058}"/>
              </a:ext>
            </a:extLst>
          </p:cNvPr>
          <p:cNvGraphicFramePr>
            <a:graphicFrameLocks noGrp="1"/>
          </p:cNvGraphicFramePr>
          <p:nvPr>
            <p:ph idx="1"/>
            <p:extLst>
              <p:ext uri="{D42A27DB-BD31-4B8C-83A1-F6EECF244321}">
                <p14:modId xmlns:p14="http://schemas.microsoft.com/office/powerpoint/2010/main" val="1746093601"/>
              </p:ext>
            </p:extLst>
          </p:nvPr>
        </p:nvGraphicFramePr>
        <p:xfrm>
          <a:off x="628650" y="1096112"/>
          <a:ext cx="7886700" cy="326350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534088341"/>
      </p:ext>
    </p:extLst>
  </p:cSld>
  <p:clrMapOvr>
    <a:masterClrMapping/>
  </p:clrMapOvr>
  <p:transition>
    <p:fade/>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3DFE3-679F-292A-47A9-1292CD727119}"/>
              </a:ext>
            </a:extLst>
          </p:cNvPr>
          <p:cNvSpPr>
            <a:spLocks noGrp="1"/>
          </p:cNvSpPr>
          <p:nvPr>
            <p:ph type="title"/>
          </p:nvPr>
        </p:nvSpPr>
        <p:spPr/>
        <p:txBody>
          <a:bodyPr>
            <a:normAutofit fontScale="90000"/>
          </a:bodyPr>
          <a:lstStyle/>
          <a:p>
            <a:r>
              <a:rPr lang="en-US" dirty="0"/>
              <a:t>Wrap-up</a:t>
            </a:r>
          </a:p>
        </p:txBody>
      </p:sp>
      <p:sp>
        <p:nvSpPr>
          <p:cNvPr id="3" name="Content Placeholder 2">
            <a:extLst>
              <a:ext uri="{FF2B5EF4-FFF2-40B4-BE49-F238E27FC236}">
                <a16:creationId xmlns:a16="http://schemas.microsoft.com/office/drawing/2014/main" id="{44289BE3-3702-6DAB-7588-6C60FD084994}"/>
              </a:ext>
            </a:extLst>
          </p:cNvPr>
          <p:cNvSpPr>
            <a:spLocks noGrp="1"/>
          </p:cNvSpPr>
          <p:nvPr>
            <p:ph idx="1"/>
          </p:nvPr>
        </p:nvSpPr>
        <p:spPr/>
        <p:txBody>
          <a:bodyPr/>
          <a:lstStyle/>
          <a:p>
            <a:r>
              <a:rPr lang="en-US" dirty="0"/>
              <a:t>Final Q&amp;A</a:t>
            </a:r>
          </a:p>
          <a:p>
            <a:r>
              <a:rPr lang="en-US" dirty="0"/>
              <a:t>Follow-up</a:t>
            </a:r>
          </a:p>
          <a:p>
            <a:r>
              <a:rPr lang="en-US" dirty="0"/>
              <a:t>Support Files</a:t>
            </a:r>
          </a:p>
          <a:p>
            <a:r>
              <a:rPr lang="en-US" dirty="0"/>
              <a:t>Thanks!</a:t>
            </a:r>
          </a:p>
        </p:txBody>
      </p:sp>
    </p:spTree>
    <p:extLst>
      <p:ext uri="{BB962C8B-B14F-4D97-AF65-F5344CB8AC3E}">
        <p14:creationId xmlns:p14="http://schemas.microsoft.com/office/powerpoint/2010/main" val="2857721155"/>
      </p:ext>
    </p:extLst>
  </p:cSld>
  <p:clrMapOvr>
    <a:masterClrMapping/>
  </p:clrMapOvr>
  <p:transition>
    <p:fade/>
  </p:transition>
</p:sld>
</file>

<file path=ppt/theme/theme1.xml><?xml version="1.0" encoding="utf-8"?>
<a:theme xmlns:a="http://schemas.openxmlformats.org/drawingml/2006/main" name="CODE Training">
  <a:themeElements>
    <a:clrScheme name="Custom 1">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7030A0"/>
      </a:hlink>
      <a:folHlink>
        <a:srgbClr val="0563C1"/>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1DEA5D72-37B1-4E22-BDC4-A589D83B7646}" vid="{DD254BF8-1D5F-4196-AA68-4DB20BF61A0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jMM CODE Training Slide Template</Template>
  <TotalTime>6200</TotalTime>
  <Words>8480</Words>
  <Application>Microsoft Office PowerPoint</Application>
  <PresentationFormat>On-screen Show (16:9)</PresentationFormat>
  <Paragraphs>1352</Paragraphs>
  <Slides>85</Slides>
  <Notes>39</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85</vt:i4>
      </vt:variant>
    </vt:vector>
  </HeadingPairs>
  <TitlesOfParts>
    <vt:vector size="92" baseType="lpstr">
      <vt:lpstr>Aptos Narrow</vt:lpstr>
      <vt:lpstr>Arial</vt:lpstr>
      <vt:lpstr>Calibri</vt:lpstr>
      <vt:lpstr>Consolas</vt:lpstr>
      <vt:lpstr>Noto Sans</vt:lpstr>
      <vt:lpstr>Victor Mono</vt:lpstr>
      <vt:lpstr>CODE Training</vt:lpstr>
      <vt:lpstr>AI Assisted Software Development</vt:lpstr>
      <vt:lpstr>John Michael Miller</vt:lpstr>
      <vt:lpstr>AI Assisted Software Development</vt:lpstr>
      <vt:lpstr>Agenda</vt:lpstr>
      <vt:lpstr>Overview</vt:lpstr>
      <vt:lpstr>Agenda</vt:lpstr>
      <vt:lpstr>Why AI Assisted Software Development</vt:lpstr>
      <vt:lpstr>Prompt‑First Software Development</vt:lpstr>
      <vt:lpstr>AI First Software Development</vt:lpstr>
      <vt:lpstr>Agenda</vt:lpstr>
      <vt:lpstr>General Introduction to LLMs</vt:lpstr>
      <vt:lpstr>Conceptual Overview of LLMs</vt:lpstr>
      <vt:lpstr>Capabilities</vt:lpstr>
      <vt:lpstr>Limitations</vt:lpstr>
      <vt:lpstr>Software Engineering vs “Vibe Coding”</vt:lpstr>
      <vt:lpstr>Do’s</vt:lpstr>
      <vt:lpstr>Don’ts</vt:lpstr>
      <vt:lpstr>Agenda</vt:lpstr>
      <vt:lpstr>LLM Architecture for Code Generation</vt:lpstr>
      <vt:lpstr>Model Selection &amp; Comparison</vt:lpstr>
      <vt:lpstr>Comparing LLMs for Code Generation </vt:lpstr>
      <vt:lpstr>Public Leaderboards  </vt:lpstr>
      <vt:lpstr>Core Benchmarks</vt:lpstr>
      <vt:lpstr>Surveys &amp; Deep‑Dive Research  </vt:lpstr>
      <vt:lpstr>Evaluation Frameworks  </vt:lpstr>
      <vt:lpstr>Selecting Models</vt:lpstr>
      <vt:lpstr>Agenda</vt:lpstr>
      <vt:lpstr>GitHub Copilot for Teams Key Considerations for Adoption</vt:lpstr>
      <vt:lpstr>What Prompted This Deck?</vt:lpstr>
      <vt:lpstr>Benefits for Organizations</vt:lpstr>
      <vt:lpstr>Risks to Consider</vt:lpstr>
      <vt:lpstr>Governance and Compliance Risks</vt:lpstr>
      <vt:lpstr>IP and Data Protection</vt:lpstr>
      <vt:lpstr>Licensing and Legal Considerations</vt:lpstr>
      <vt:lpstr>Deployment Options</vt:lpstr>
      <vt:lpstr>Best Practices for Safe Use</vt:lpstr>
      <vt:lpstr>Resources</vt:lpstr>
      <vt:lpstr>Agenda</vt:lpstr>
      <vt:lpstr>Hands-On with GitHub Copilot</vt:lpstr>
      <vt:lpstr>Lab: Getting Started with GitHub Copilot</vt:lpstr>
      <vt:lpstr>Lab: Understanding Context Management</vt:lpstr>
      <vt:lpstr>Lab: Chat Management &amp; Workflow</vt:lpstr>
      <vt:lpstr>Using Copilot in different modes</vt:lpstr>
      <vt:lpstr>Lab: Exploring Copilot Modes</vt:lpstr>
      <vt:lpstr>IDE Support for AI Assistance</vt:lpstr>
      <vt:lpstr>Agenda</vt:lpstr>
      <vt:lpstr>📘 Mob.sh: Install, Configure, and Use</vt:lpstr>
      <vt:lpstr>What mob.sh Solves</vt:lpstr>
      <vt:lpstr>Installing mob.sh </vt:lpstr>
      <vt:lpstr>🔧 First‑Time Configuration</vt:lpstr>
      <vt:lpstr>🏁 Starting a Mob Session</vt:lpstr>
      <vt:lpstr>🔄 Handoff to the Next Driver</vt:lpstr>
      <vt:lpstr>🧪 Running Tests During the Mob</vt:lpstr>
      <vt:lpstr>🚀 Finishing the Mob Session</vt:lpstr>
      <vt:lpstr>🧱 Branching Model Best Practices</vt:lpstr>
      <vt:lpstr>🧭 Role Rotation Tips</vt:lpstr>
      <vt:lpstr>🛠️ Advanced Features</vt:lpstr>
      <vt:lpstr>🧹 Troubleshooting</vt:lpstr>
      <vt:lpstr>📚 Resources</vt:lpstr>
      <vt:lpstr>Lab: Cloning the Course Repository</vt:lpstr>
      <vt:lpstr>Lab: Mob Programming Setup</vt:lpstr>
      <vt:lpstr>Agenda</vt:lpstr>
      <vt:lpstr>Collaborating on a Solution</vt:lpstr>
      <vt:lpstr>Lab: Calculator Project – Basic Arithmetic</vt:lpstr>
      <vt:lpstr>Lab: Calculator Project – Clear / Reset </vt:lpstr>
      <vt:lpstr>Lab: Calculator Project – Decimal Input</vt:lpstr>
      <vt:lpstr>Lab: Calculator Project – Sign Toggle (+/–) </vt:lpstr>
      <vt:lpstr>Lab: Calculator Project – Percentage </vt:lpstr>
      <vt:lpstr>Lab: Calculator Project – Memory Functions (M+, M–, MR, MC) </vt:lpstr>
      <vt:lpstr>Lab: Calculator Project – Error Handling</vt:lpstr>
      <vt:lpstr>Lab: Calculator Project – UI </vt:lpstr>
      <vt:lpstr>Lab: Calculator Project – Add Trigonometric Functions </vt:lpstr>
      <vt:lpstr>Lab: Calculator Project – Encapsulate Core Logic</vt:lpstr>
      <vt:lpstr>Lab: Calculator Project - Testing</vt:lpstr>
      <vt:lpstr>Lab: Code Coverage</vt:lpstr>
      <vt:lpstr>Lab: Dependency Management &amp; Troubleshooting</vt:lpstr>
      <vt:lpstr>Lab: Security Review</vt:lpstr>
      <vt:lpstr>Lab: Code Quality Review</vt:lpstr>
      <vt:lpstr>Lab: Documentation</vt:lpstr>
      <vt:lpstr>Lab: Refactoring</vt:lpstr>
      <vt:lpstr>Lab: Model Comparison Exercise</vt:lpstr>
      <vt:lpstr>Evergreen Software Development - Core Principles </vt:lpstr>
      <vt:lpstr>Why Software Fails to Be Evergreen</vt:lpstr>
      <vt:lpstr>Agenda</vt:lpstr>
      <vt:lpstr>Wrap-up</vt:lpstr>
    </vt:vector>
  </TitlesOfParts>
  <LinksUpToDate>false</LinksUpToDate>
  <SharedDoc>false</SharedDoc>
  <HyperlinksChanged>false</HyperlinksChanged>
  <AppVersion>16.0000</AppVersion>
</Properties>
</file>

<file path=docProps/app0.xml><?xml version="1.0" encoding="utf-8"?>
<Properties xmlns="http://schemas.openxmlformats.org/officeDocument/2006/extended-properties" xmlns:vt="http://schemas.openxmlformats.org/officeDocument/2006/docPropsVTypes">
  <TotalTime>2</TotalTime>
  <Words>49</Words>
  <Application>Microsoft Macintosh PowerPoint</Application>
  <PresentationFormat>On-screen Show (16:9)</PresentationFormat>
  <Paragraphs>15</Paragraphs>
  <Slides>4</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Presentation Title</vt:lpstr>
      <vt:lpstr>Slide Title</vt:lpstr>
      <vt:lpstr>Section header</vt:lpstr>
      <vt:lpstr>Slide Title for Two-Content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John Miller</dc:creator>
  <cp:keywords/>
  <cp:lastModifiedBy>John Miller</cp:lastModifiedBy>
  <cp:revision>7</cp:revision>
  <dcterms:created xsi:type="dcterms:W3CDTF">2025-10-20T13:07:02Z</dcterms:created>
  <dcterms:modified xsi:type="dcterms:W3CDTF">2026-02-04T03:52:03Z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class">
    <vt:lpwstr>lead</vt:lpwstr>
  </property>
  <property fmtid="{D5CDD505-2E9C-101B-9397-08002B2CF9AE}" pid="3" name="backgroundColor">
    <vt:lpwstr/>
  </property>
  <property fmtid="{D5CDD505-2E9C-101B-9397-08002B2CF9AE}" pid="4" name="marp">
    <vt:lpwstr>True</vt:lpwstr>
  </property>
  <property fmtid="{D5CDD505-2E9C-101B-9397-08002B2CF9AE}" pid="5" name="paginate">
    <vt:lpwstr>True</vt:lpwstr>
  </property>
</Properties>
</file>