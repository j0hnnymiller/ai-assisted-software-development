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4" r:id="rId2"/>
    <p:sldId id="296" r:id="rId3"/>
    <p:sldId id="297" r:id="rId4"/>
    <p:sldId id="298" r:id="rId5"/>
    <p:sldId id="299" r:id="rId6"/>
    <p:sldId id="3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8A429F-426E-4ACA-9D0E-CFB2EC33B4B8}">
          <p14:sldIdLst/>
        </p14:section>
        <p14:section name="Model Selection &amp; Comparison" id="{D5D7D026-83F8-44A6-AA8A-67939100BE7C}">
          <p14:sldIdLst>
            <p14:sldId id="294"/>
            <p14:sldId id="296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4D75DA-4718-4548-BAE2-3C6CB2EB31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7BC23-683D-4CCC-9B68-7D673846E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09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Contamination‑Free Benchmarks</a:t>
            </a:r>
          </a:p>
          <a:p>
            <a:r>
              <a:rPr lang="en-US" dirty="0"/>
              <a:t>Why They Matter — and How They Work</a:t>
            </a:r>
          </a:p>
          <a:p>
            <a:r>
              <a:rPr lang="en-US" dirty="0"/>
              <a:t>Contamination‑free benchmarks exist because modern LLMs are trained on </a:t>
            </a:r>
            <a:r>
              <a:rPr lang="en-US" b="1" dirty="0"/>
              <a:t>massive, scraped corpora</a:t>
            </a:r>
            <a:r>
              <a:rPr lang="en-US" dirty="0"/>
              <a:t> that often include the very benchmarks used to evaluate them. If a model has already seen the test set during training, its score is inflated — sometimes dramatically — and no longer reflects real reasoning or coding 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contamination‑free benchmark is designed to </a:t>
            </a:r>
            <a:r>
              <a:rPr lang="en-US" b="1" dirty="0"/>
              <a:t>eliminate that inflation</a:t>
            </a:r>
            <a:r>
              <a:rPr lang="en-US" dirty="0"/>
              <a:t> and give you a score you can actually trust.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4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12FD-A356-93A2-C029-C64FE29EF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68536-762F-6980-F7C5-9722C958E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1AEA2-4C51-51B8-C8C6-7B9B4A5D1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E893C-98C1-5BDD-0145-ED57B976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61589-41AE-5AEA-2FC8-CB3E9457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2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6059-4459-CBAC-0D3B-EEE89585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640F0-D82C-A105-FE10-17EFE463D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ED298-9796-C0EA-B7C4-4E72469C3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DBE34-C287-6C2C-BDBB-E9548B53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64BC2-4E0B-FF0D-3AF3-EE381AD1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ADB2-EF0A-2E4A-C520-AC9EFF18A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10A72-0829-5B73-DEA1-014DAE283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93E58-3DAD-8C79-5A3D-7A6118D4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26904-DC14-F23D-706F-49715809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7AD6-2079-C010-51A9-6D036B29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9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A077-B123-88A6-724B-F17F7450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5FEC9-477C-BF39-8C79-AA57EBD70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2E152-29AC-C03C-E56F-A0F866252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0B0E0-B77C-38C3-7535-8B0F403D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50A03-2314-FE3D-4178-C8A6F8B0E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4A6D5-338B-2EA6-A428-4A70B7D8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5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80BD-22DB-F000-2A64-637499524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593A6-A1D2-7E3F-8B36-F85DA381A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35E84-C29E-5143-09DC-93EE3E895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40C1E-0390-B76B-F928-7DF3C5485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85852-701B-BB3E-D127-AF9BC5A60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DB37C-B696-6D68-D6C1-88F19D12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E2CEB-F2C7-94BA-8085-B6E468F1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9CE09-E59C-EB80-8D03-78B77CC3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0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F0DC-B7C4-57F9-CF93-0E89EFF5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BE85-6F44-3E49-4E13-FC5D1F30B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A850B-CE0C-FB76-2A00-1545BC7B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9A740-5C59-9D45-EB46-102F40CB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7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BACCB-2E89-B0F9-D22E-D0A0B783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A93BB-E319-5793-4647-1EB648FC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E2958-72D3-4E9A-7F5D-84266CB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24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6030-2686-163A-393F-94F03FF4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349A6-76F7-9F7D-0ABE-65027F894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60BB6-8C9A-39E4-66FC-BBB0F6C33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18A01-DE8A-0B11-E0E0-9F8925E4F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F9B7A-FD03-6210-A175-5C8FFB8F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6149C-FBA3-F86B-07C1-B3C1E5CC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51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D1CF-8D7A-7DF0-2BB3-859139B2F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7D471-FA71-950F-9F98-7FECA4A5B6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B14C7-7776-39E2-0B27-600C35673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536E0-44D9-4F2D-16E1-ECA56E19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F61FD-16A7-E08E-27E3-60BC8B205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FEBBD-8A52-6FFA-716A-21DD2662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7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B5E2-E6BB-33BE-C328-97D5D81C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8D7DA-078D-C01C-C806-5A826D8E4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B78E8-013E-AA4F-E620-D8424E73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73DAD-96F1-BE2A-CD22-406F4B967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A2DCF-A2E8-BD2E-2308-BDFFDF59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0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2E938-2958-EA7F-36CD-C44807F48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E54CD-4469-9CA5-0813-596A759D0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DEECD-0A0A-3647-7C78-AE9E0BF9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A5BB0-8EFC-ED68-508E-2BCCD295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7B960-4783-CE30-5DF5-E0AA06B9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83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F3E56D-B3D8-0451-D6BD-FF22BB60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ED1B4-06E7-8AD6-F295-DCD8C4A22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A5C03-D54E-6B54-8537-A95B18E48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5BB725-20E8-42D9-B5D8-31D96C4AA415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86881-C646-9625-9A71-FF0BBF311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1D333-24E2-335B-CEC8-C4E70FF61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14B19-69C4-41B7-B86F-AAD73B89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6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21CD-D08C-155D-E5E0-034AA9DB6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Selection &amp; Comparison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FE41C-EECB-0156-8DD9-B3F3DC59D10E}"/>
              </a:ext>
            </a:extLst>
          </p:cNvPr>
          <p:cNvSpPr txBox="1"/>
          <p:nvPr/>
        </p:nvSpPr>
        <p:spPr>
          <a:xfrm>
            <a:off x="8412480" y="1595561"/>
            <a:ext cx="33819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Available models vary over time (Jan 18, 2026)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Multipliers vary with Copilot Subscription level</a:t>
            </a:r>
          </a:p>
          <a:p>
            <a:endParaRPr lang="en-US" sz="2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DB620D-6A7E-EDC3-62B5-DD028F9BFB78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FA4F80B7-D29D-74AE-0C4A-C34C911189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1460500"/>
          <a:ext cx="7266011" cy="5032388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3103753">
                  <a:extLst>
                    <a:ext uri="{9D8B030D-6E8A-4147-A177-3AD203B41FA5}">
                      <a16:colId xmlns:a16="http://schemas.microsoft.com/office/drawing/2014/main" val="3250386483"/>
                    </a:ext>
                  </a:extLst>
                </a:gridCol>
                <a:gridCol w="986741">
                  <a:extLst>
                    <a:ext uri="{9D8B030D-6E8A-4147-A177-3AD203B41FA5}">
                      <a16:colId xmlns:a16="http://schemas.microsoft.com/office/drawing/2014/main" val="2989335004"/>
                    </a:ext>
                  </a:extLst>
                </a:gridCol>
                <a:gridCol w="879097">
                  <a:extLst>
                    <a:ext uri="{9D8B030D-6E8A-4147-A177-3AD203B41FA5}">
                      <a16:colId xmlns:a16="http://schemas.microsoft.com/office/drawing/2014/main" val="3483188030"/>
                    </a:ext>
                  </a:extLst>
                </a:gridCol>
                <a:gridCol w="1237915">
                  <a:extLst>
                    <a:ext uri="{9D8B030D-6E8A-4147-A177-3AD203B41FA5}">
                      <a16:colId xmlns:a16="http://schemas.microsoft.com/office/drawing/2014/main" val="677894953"/>
                    </a:ext>
                  </a:extLst>
                </a:gridCol>
                <a:gridCol w="1058505">
                  <a:extLst>
                    <a:ext uri="{9D8B030D-6E8A-4147-A177-3AD203B41FA5}">
                      <a16:colId xmlns:a16="http://schemas.microsoft.com/office/drawing/2014/main" val="3977995991"/>
                    </a:ext>
                  </a:extLst>
                </a:gridCol>
              </a:tblGrid>
              <a:tr h="629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baseline="0">
                          <a:effectLst/>
                        </a:rPr>
                        <a:t>Name</a:t>
                      </a:r>
                      <a:endParaRPr lang="en-US" sz="1200" b="1" i="0" u="none" strike="noStrike" baseline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baseline="0">
                          <a:effectLst/>
                        </a:rPr>
                        <a:t>Input Context Size</a:t>
                      </a:r>
                      <a:endParaRPr lang="en-US" sz="1200" b="1" i="0" u="none" strike="noStrike" baseline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baseline="0">
                          <a:effectLst/>
                        </a:rPr>
                        <a:t>Output Context Size</a:t>
                      </a:r>
                      <a:endParaRPr lang="en-US" sz="1200" b="1" i="0" u="none" strike="noStrike" baseline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baseline="0">
                          <a:effectLst/>
                        </a:rPr>
                        <a:t>Capabilities</a:t>
                      </a:r>
                      <a:endParaRPr lang="en-US" sz="1200" b="1" i="0" u="none" strike="noStrike" baseline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baseline="0" dirty="0">
                          <a:effectLst/>
                        </a:rPr>
                        <a:t>Multiplier</a:t>
                      </a:r>
                      <a:endParaRPr lang="en-US" sz="1200" b="1" i="0" u="none" strike="noStrike" baseline="0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ctr"/>
                </a:tc>
                <a:extLst>
                  <a:ext uri="{0D108BD9-81ED-4DB2-BD59-A6C34878D82A}">
                    <a16:rowId xmlns:a16="http://schemas.microsoft.com/office/drawing/2014/main" val="1126559668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Claude Haiku 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0.33x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157959761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Claude Opus 4.1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4068015959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Claude Opus 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2439270255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Claude Sonnet 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2745561923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Claude Sonnet 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3777861514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Gemini 2.5 P Gemini 3 Flash (Preview)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109K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3103186698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Gemini 3 Flash (Preview)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109K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0.33x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1617462524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Gemini 3 Pro (Preview)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109K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2585847230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GPT-4.1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111K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1500858576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GPT-4o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2098744528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2396768393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GPT-5 mini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4041217255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GPT-5-Codex (Preview)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1061650793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GPT-5.1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575963862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GPT-5.1-Codex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2718600504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GPT-5.1-Codex-Max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1104896029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GPT-5.1-Codex-Mini (Preview)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0.33x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1931764968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GPT-5.2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1865198966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GPT-5.2-Codex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272K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1364713514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Grok Code Fast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109K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3215983949"/>
                  </a:ext>
                </a:extLst>
              </a:tr>
              <a:tr h="209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Raptor mini (Preview)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Tools, 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3" marR="6253" marT="6253" marB="0" anchor="b"/>
                </a:tc>
                <a:extLst>
                  <a:ext uri="{0D108BD9-81ED-4DB2-BD59-A6C34878D82A}">
                    <a16:rowId xmlns:a16="http://schemas.microsoft.com/office/drawing/2014/main" val="4134091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377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1C88-E452-DB96-C5F6-602DBE078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Leaderboards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DF648-6473-E950-D0CD-2567E9E3A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189" lvl="1" indent="0">
              <a:buNone/>
            </a:pPr>
            <a:r>
              <a:rPr lang="en-US" dirty="0"/>
              <a:t>Where to See Model‑to‑Model Comparisons</a:t>
            </a:r>
          </a:p>
          <a:p>
            <a:pPr marL="457189" lvl="1" indent="0">
              <a:buNone/>
            </a:pPr>
            <a:endParaRPr lang="en-US" dirty="0"/>
          </a:p>
          <a:p>
            <a:pPr lvl="1"/>
            <a:r>
              <a:rPr lang="en-US" dirty="0"/>
              <a:t>LLM‑Stats Coding Leaderboard</a:t>
            </a:r>
          </a:p>
          <a:p>
            <a:pPr lvl="2"/>
            <a:r>
              <a:rPr lang="en-US" dirty="0"/>
              <a:t>Aggregates 20+ coding benchmarks    </a:t>
            </a:r>
          </a:p>
          <a:p>
            <a:pPr lvl="2"/>
            <a:r>
              <a:rPr lang="en-US" dirty="0"/>
              <a:t>Shows top performers across </a:t>
            </a:r>
            <a:r>
              <a:rPr lang="en-US" dirty="0" err="1"/>
              <a:t>HumanEval</a:t>
            </a:r>
            <a:r>
              <a:rPr lang="en-US" dirty="0"/>
              <a:t>, </a:t>
            </a:r>
            <a:r>
              <a:rPr lang="en-US" dirty="0" err="1"/>
              <a:t>LiveCodeBench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TechRadar’s Coding LLM Guide</a:t>
            </a:r>
          </a:p>
          <a:p>
            <a:pPr lvl="2"/>
            <a:r>
              <a:rPr lang="en-US" dirty="0"/>
              <a:t>- Editorial comparison of strengths (debugging, test generation, etc.)</a:t>
            </a:r>
          </a:p>
          <a:p>
            <a:pPr lvl="1"/>
            <a:r>
              <a:rPr lang="en-US" dirty="0" err="1"/>
              <a:t>Zencoder’s</a:t>
            </a:r>
            <a:r>
              <a:rPr lang="en-US" dirty="0"/>
              <a:t> 2026 Model Comparison</a:t>
            </a:r>
          </a:p>
          <a:p>
            <a:pPr lvl="2"/>
            <a:r>
              <a:rPr lang="en-US" dirty="0"/>
              <a:t>Breaks down accuracy, reasoning, and context window-</a:t>
            </a:r>
          </a:p>
        </p:txBody>
      </p:sp>
    </p:spTree>
    <p:extLst>
      <p:ext uri="{BB962C8B-B14F-4D97-AF65-F5344CB8AC3E}">
        <p14:creationId xmlns:p14="http://schemas.microsoft.com/office/powerpoint/2010/main" val="148875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43F0-7388-F3D3-91C8-913D7F10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Core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4977E-01F1-BF0A-8D52-0E6F7F633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189" lvl="1" indent="0">
              <a:buNone/>
            </a:pPr>
            <a:r>
              <a:rPr lang="en-US" dirty="0"/>
              <a:t>What Models Are Actually Tested On</a:t>
            </a:r>
          </a:p>
          <a:p>
            <a:pPr marL="457189" lvl="1" indent="0">
              <a:buNone/>
            </a:pPr>
            <a:endParaRPr lang="en-US" dirty="0"/>
          </a:p>
          <a:p>
            <a:pPr lvl="1"/>
            <a:r>
              <a:rPr lang="en-US" dirty="0" err="1"/>
              <a:t>HumanEval</a:t>
            </a:r>
            <a:endParaRPr lang="en-US" dirty="0"/>
          </a:p>
          <a:p>
            <a:pPr lvl="2"/>
            <a:r>
              <a:rPr lang="en-US" dirty="0"/>
              <a:t>Classic functional‑correctness benchmark for Python</a:t>
            </a:r>
          </a:p>
          <a:p>
            <a:pPr lvl="1"/>
            <a:r>
              <a:rPr lang="en-US" dirty="0" err="1"/>
              <a:t>LiveCodeBench</a:t>
            </a:r>
            <a:endParaRPr lang="en-US" dirty="0"/>
          </a:p>
          <a:p>
            <a:pPr lvl="2"/>
            <a:r>
              <a:rPr lang="en-US" dirty="0"/>
              <a:t>Contamination‑free, holistic benchmark for modern LLMs</a:t>
            </a:r>
          </a:p>
          <a:p>
            <a:pPr lvl="1"/>
            <a:r>
              <a:rPr lang="en-US" dirty="0"/>
              <a:t>MBPP (Mostly Basic Programming Problems)</a:t>
            </a:r>
          </a:p>
          <a:p>
            <a:pPr lvl="2"/>
            <a:r>
              <a:rPr lang="en-US" dirty="0"/>
              <a:t>Simple algorithmic tasks across languages</a:t>
            </a:r>
          </a:p>
          <a:p>
            <a:pPr lvl="1"/>
            <a:r>
              <a:rPr lang="en-US" dirty="0"/>
              <a:t>SWE‑Bench</a:t>
            </a:r>
          </a:p>
          <a:p>
            <a:pPr lvl="2"/>
            <a:r>
              <a:rPr lang="en-US" dirty="0"/>
              <a:t>Real‑world GitHub issue resolution</a:t>
            </a:r>
          </a:p>
          <a:p>
            <a:pPr lvl="1"/>
            <a:r>
              <a:rPr lang="en-US" dirty="0" err="1"/>
              <a:t>DevQualityEval</a:t>
            </a:r>
            <a:endParaRPr lang="en-US" dirty="0"/>
          </a:p>
          <a:p>
            <a:pPr lvl="2"/>
            <a:r>
              <a:rPr lang="en-US" dirty="0"/>
              <a:t>Evaluates test generation for Java and Go</a:t>
            </a:r>
          </a:p>
        </p:txBody>
      </p:sp>
    </p:spTree>
    <p:extLst>
      <p:ext uri="{BB962C8B-B14F-4D97-AF65-F5344CB8AC3E}">
        <p14:creationId xmlns:p14="http://schemas.microsoft.com/office/powerpoint/2010/main" val="4257742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40B3-8C51-DA3D-9183-F7D58E78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Surveys &amp; Deep‑Dive Research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652A3-0FD4-8C54-0B1F-804EE1C63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Understanding the Landscape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Academic Surveys (</a:t>
            </a:r>
            <a:r>
              <a:rPr lang="en-US" dirty="0" err="1"/>
              <a:t>arXiv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Comprehensive overviews of techniques, benchmarks, and model families</a:t>
            </a:r>
          </a:p>
          <a:p>
            <a:r>
              <a:rPr lang="en-US" dirty="0"/>
              <a:t>Benchmark Explainers (Vellum, Analytics Vidhya)</a:t>
            </a:r>
          </a:p>
          <a:p>
            <a:pPr lvl="1"/>
            <a:r>
              <a:rPr lang="en-US" dirty="0"/>
              <a:t> Strengths and weaknesses of each benchmark    </a:t>
            </a:r>
          </a:p>
          <a:p>
            <a:pPr lvl="1"/>
            <a:r>
              <a:rPr lang="en-US" dirty="0"/>
              <a:t>How to interpret results</a:t>
            </a:r>
          </a:p>
          <a:p>
            <a:r>
              <a:rPr lang="en-US" dirty="0"/>
              <a:t>Specialized Benchmarks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SwiftEval</a:t>
            </a:r>
            <a:r>
              <a:rPr lang="en-US" dirty="0"/>
              <a:t>, domain‑specific coding evaluations,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16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2412-57FD-0DE8-DA07-50277AE3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Evaluation Frameworks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41A7D-4B5E-D94E-B15B-1E52A6D05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Tools for Running Your Own Tests</a:t>
            </a:r>
          </a:p>
          <a:p>
            <a:pPr lvl="2"/>
            <a:r>
              <a:rPr lang="en-US" dirty="0" err="1"/>
              <a:t>Symflower</a:t>
            </a:r>
            <a:r>
              <a:rPr lang="en-US" dirty="0"/>
              <a:t> </a:t>
            </a:r>
            <a:r>
              <a:rPr lang="en-US" dirty="0" err="1"/>
              <a:t>DevQualityEval</a:t>
            </a:r>
            <a:endParaRPr lang="en-US" dirty="0"/>
          </a:p>
          <a:p>
            <a:pPr lvl="3"/>
            <a:r>
              <a:rPr lang="en-US" dirty="0"/>
              <a:t>Open‑source framework for code and test generation evaluation</a:t>
            </a:r>
          </a:p>
          <a:p>
            <a:pPr lvl="2"/>
            <a:r>
              <a:rPr lang="en-US" dirty="0" err="1"/>
              <a:t>CodeArena</a:t>
            </a:r>
            <a:r>
              <a:rPr lang="en-US" dirty="0"/>
              <a:t> (</a:t>
            </a:r>
            <a:r>
              <a:rPr lang="en-US" dirty="0" err="1"/>
              <a:t>HuggingFace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 Collective evaluation platform for coding tasks</a:t>
            </a:r>
          </a:p>
          <a:p>
            <a:pPr lvl="2"/>
            <a:r>
              <a:rPr lang="en-US" dirty="0"/>
              <a:t>Automatic Benchmark Generation Tools</a:t>
            </a:r>
          </a:p>
          <a:p>
            <a:pPr lvl="3"/>
            <a:r>
              <a:rPr lang="en-US" dirty="0"/>
              <a:t> Research into LLM‑generated benchmarks and judge reliability</a:t>
            </a:r>
          </a:p>
        </p:txBody>
      </p:sp>
    </p:spTree>
    <p:extLst>
      <p:ext uri="{BB962C8B-B14F-4D97-AF65-F5344CB8AC3E}">
        <p14:creationId xmlns:p14="http://schemas.microsoft.com/office/powerpoint/2010/main" val="202072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2247-04C0-347B-5B3F-DBCA2A3A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2D761-DE73-BB6E-CB8E-1D634175E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benchmarks aligned with your workflow  </a:t>
            </a:r>
          </a:p>
          <a:p>
            <a:r>
              <a:rPr lang="en-US" dirty="0"/>
              <a:t>Combine leaderboards + hands‑on evaluation</a:t>
            </a:r>
          </a:p>
          <a:p>
            <a:r>
              <a:rPr lang="en-US" dirty="0"/>
              <a:t>Build a repeatable internal benchmark suite</a:t>
            </a:r>
          </a:p>
          <a:p>
            <a:r>
              <a:rPr lang="en-US" dirty="0"/>
              <a:t>Track contamination‑free benchmarks for reliability</a:t>
            </a:r>
          </a:p>
        </p:txBody>
      </p:sp>
    </p:spTree>
    <p:extLst>
      <p:ext uri="{BB962C8B-B14F-4D97-AF65-F5344CB8AC3E}">
        <p14:creationId xmlns:p14="http://schemas.microsoft.com/office/powerpoint/2010/main" val="273671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</Words>
  <Application>Microsoft Office PowerPoint</Application>
  <PresentationFormat>Widescreen</PresentationFormat>
  <Paragraphs>164</Paragraphs>
  <Slides>6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Aptos Narrow</vt:lpstr>
      <vt:lpstr>Arial</vt:lpstr>
      <vt:lpstr>Office Theme</vt:lpstr>
      <vt:lpstr>Model Selection &amp; Comparison</vt:lpstr>
      <vt:lpstr>Public Leaderboards  </vt:lpstr>
      <vt:lpstr>Core Benchmarks</vt:lpstr>
      <vt:lpstr>Surveys &amp; Deep‑Dive Research  </vt:lpstr>
      <vt:lpstr>Evaluation Frameworks  </vt:lpstr>
      <vt:lpstr>Selecting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2</cp:revision>
  <dcterms:created xsi:type="dcterms:W3CDTF">2026-03-05T03:08:55Z</dcterms:created>
  <dcterms:modified xsi:type="dcterms:W3CDTF">2026-03-05T03:11:55Z</dcterms:modified>
</cp:coreProperties>
</file>