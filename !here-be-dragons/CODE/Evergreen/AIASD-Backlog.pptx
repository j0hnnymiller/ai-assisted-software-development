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7"/>
  </p:notesMasterIdLst>
  <p:sldIdLst>
    <p:sldId id="256" r:id="rId2"/>
    <p:sldId id="257" r:id="rId3"/>
    <p:sldId id="258" r:id="rId4"/>
    <p:sldId id="259" r:id="rId5"/>
    <p:sldId id="260" r:id="rId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notesMaster" Target="notesMasters/notesMaster1.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Introduce this module as the bridge between analysis and action. Once AI identifies risks, gaps, and modernization opportunities, teams need a structured backlog to manage the work. Emphasize that backlog creation is not just administrative — it is a core governance mechanism for safe AI-assisted modernization.</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Explain that AI excels at scanning large brownfield systems and surfacing hotspots. This reduces the manual effort required to understand legacy code and helps teams focus on the highest‑impact areas first.</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Highlight that automation doesn’t replace human judgment — it accelerates it. Humans still validate, refine, and prioritize issues, but AI handles the heavy lifting of drafting them.</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Encourage participants to treat this as a real backlog‑building session. The goal is not volume — it’s clarity and actionability. Reinforce that a well‑structured backlog is the foundation for safe, incremental modernization.</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Building a Backlog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Building a Backlog</a:t>
            </a:r>
          </a:p>
        </p:txBody>
      </p:sp>
      <p:sp>
        <p:nvSpPr>
          <p:cNvPr id="3" name="Content Placeholder 2"/>
          <p:cNvSpPr>
            <a:spLocks noGrp="1"/>
          </p:cNvSpPr>
          <p:nvPr>
            <p:ph idx="1"/>
          </p:nvPr>
        </p:nvSpPr>
        <p:spPr/>
        <p:txBody>
          <a:bodyPr/>
          <a:lstStyle/>
          <a:p>
            <a:pPr lvl="0"/>
            <a:r>
              <a:rPr/>
              <a:t>Identifying technical debt</a:t>
            </a:r>
          </a:p>
          <a:p>
            <a:pPr lvl="0"/>
            <a:r>
              <a:rPr/>
              <a:t>Automating the creation of GitHub issues</a:t>
            </a:r>
          </a:p>
          <a:p>
            <a:pPr lvl="0"/>
            <a:r>
              <a:rPr/>
              <a:t>Exercise: Building the backlog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Identifying Technical Debt</a:t>
            </a:r>
          </a:p>
        </p:txBody>
      </p:sp>
      <p:sp>
        <p:nvSpPr>
          <p:cNvPr id="3" name="Content Placeholder 2"/>
          <p:cNvSpPr>
            <a:spLocks noGrp="1"/>
          </p:cNvSpPr>
          <p:nvPr>
            <p:ph idx="1"/>
          </p:nvPr>
        </p:nvSpPr>
        <p:spPr/>
        <p:txBody>
          <a:bodyPr/>
          <a:lstStyle/>
          <a:p>
            <a:pPr lvl="0" indent="0" marL="0">
              <a:spcBef>
                <a:spcPts val="3000"/>
              </a:spcBef>
              <a:buNone/>
            </a:pPr>
            <a:r>
              <a:rPr b="1"/>
              <a:t>AI can surface:</a:t>
            </a:r>
          </a:p>
          <a:p>
            <a:pPr lvl="0"/>
            <a:r>
              <a:rPr/>
              <a:t>Outdated patterns</a:t>
            </a:r>
          </a:p>
          <a:p>
            <a:pPr lvl="0"/>
            <a:r>
              <a:rPr/>
              <a:t>High‑complexity functions</a:t>
            </a:r>
          </a:p>
          <a:p>
            <a:pPr lvl="0"/>
            <a:r>
              <a:rPr/>
              <a:t>Duplicate logic</a:t>
            </a:r>
          </a:p>
          <a:p>
            <a:pPr lvl="0"/>
            <a:r>
              <a:rPr/>
              <a:t>Missing tests</a:t>
            </a:r>
          </a:p>
          <a:p>
            <a:pPr lvl="0"/>
            <a:r>
              <a:rPr/>
              <a:t>Security vulnerabilities</a:t>
            </a:r>
          </a:p>
          <a:p>
            <a:pPr lvl="0"/>
            <a:r>
              <a:rPr/>
              <a:t>Architectural drift</a:t>
            </a:r>
          </a:p>
          <a:p>
            <a:pPr lvl="0" indent="0" marL="0">
              <a:spcBef>
                <a:spcPts val="3000"/>
              </a:spcBef>
              <a:buNone/>
            </a:pPr>
            <a:r>
              <a:rPr b="1"/>
              <a:t>Benefits</a:t>
            </a:r>
          </a:p>
          <a:p>
            <a:pPr lvl="0"/>
            <a:r>
              <a:rPr/>
              <a:t>Faster discovery</a:t>
            </a:r>
          </a:p>
          <a:p>
            <a:pPr lvl="0"/>
            <a:r>
              <a:rPr/>
              <a:t>More consistent classification</a:t>
            </a:r>
          </a:p>
          <a:p>
            <a:pPr lvl="0"/>
            <a:r>
              <a:rPr/>
              <a:t>Prioritized modernization roadmap</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Automating the Creation of GitHub Issues</a:t>
            </a:r>
          </a:p>
        </p:txBody>
      </p:sp>
      <p:sp>
        <p:nvSpPr>
          <p:cNvPr id="3" name="Content Placeholder 2"/>
          <p:cNvSpPr>
            <a:spLocks noGrp="1"/>
          </p:cNvSpPr>
          <p:nvPr>
            <p:ph idx="1"/>
          </p:nvPr>
        </p:nvSpPr>
        <p:spPr/>
        <p:txBody>
          <a:bodyPr/>
          <a:lstStyle/>
          <a:p>
            <a:pPr lvl="0" indent="0" marL="0">
              <a:spcBef>
                <a:spcPts val="3000"/>
              </a:spcBef>
              <a:buNone/>
            </a:pPr>
            <a:r>
              <a:rPr b="1"/>
              <a:t>AI can help generate:</a:t>
            </a:r>
          </a:p>
          <a:p>
            <a:pPr lvl="0"/>
            <a:r>
              <a:rPr/>
              <a:t>Issue titles</a:t>
            </a:r>
          </a:p>
          <a:p>
            <a:pPr lvl="0"/>
            <a:r>
              <a:rPr/>
              <a:t>Detailed descriptions</a:t>
            </a:r>
          </a:p>
          <a:p>
            <a:pPr lvl="0"/>
            <a:r>
              <a:rPr/>
              <a:t>Acceptance criteria</a:t>
            </a:r>
          </a:p>
          <a:p>
            <a:pPr lvl="0"/>
            <a:r>
              <a:rPr/>
              <a:t>Labels and metadata</a:t>
            </a:r>
          </a:p>
          <a:p>
            <a:pPr lvl="0"/>
            <a:r>
              <a:rPr/>
              <a:t>Suggested remediation steps</a:t>
            </a:r>
          </a:p>
          <a:p>
            <a:pPr lvl="0" indent="0" marL="0">
              <a:spcBef>
                <a:spcPts val="3000"/>
              </a:spcBef>
              <a:buNone/>
            </a:pPr>
            <a:r>
              <a:rPr b="1"/>
              <a:t>Why automate?</a:t>
            </a:r>
          </a:p>
          <a:p>
            <a:pPr lvl="0"/>
            <a:r>
              <a:rPr/>
              <a:t>Ensures consistency</a:t>
            </a:r>
          </a:p>
          <a:p>
            <a:pPr lvl="0"/>
            <a:r>
              <a:rPr/>
              <a:t>Reduces manual backlog grooming</a:t>
            </a:r>
          </a:p>
          <a:p>
            <a:pPr lvl="0"/>
            <a:r>
              <a:rPr/>
              <a:t>Produces actionable, high‑signal issues</a:t>
            </a:r>
          </a:p>
          <a:p>
            <a:pPr lvl="0"/>
            <a:r>
              <a:rPr/>
              <a:t>Accelerates modernization planning</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b="1"/>
              <a:t>Exercise: Building the Backlog</a:t>
            </a:r>
          </a:p>
        </p:txBody>
      </p:sp>
      <p:sp>
        <p:nvSpPr>
          <p:cNvPr id="3" name="Content Placeholder 2"/>
          <p:cNvSpPr>
            <a:spLocks noGrp="1"/>
          </p:cNvSpPr>
          <p:nvPr>
            <p:ph idx="1"/>
          </p:nvPr>
        </p:nvSpPr>
        <p:spPr/>
        <p:txBody>
          <a:bodyPr/>
          <a:lstStyle/>
          <a:p>
            <a:pPr lvl="0" indent="0" marL="0">
              <a:spcBef>
                <a:spcPts val="3000"/>
              </a:spcBef>
              <a:buNone/>
            </a:pPr>
            <a:r>
              <a:rPr b="1"/>
              <a:t>Duration</a:t>
            </a:r>
          </a:p>
          <a:p>
            <a:pPr lvl="0" indent="0" marL="0">
              <a:buNone/>
            </a:pPr>
            <a:r>
              <a:rPr/>
              <a:t>20 minutes</a:t>
            </a:r>
          </a:p>
          <a:p>
            <a:pPr lvl="0" indent="0" marL="0">
              <a:spcBef>
                <a:spcPts val="3000"/>
              </a:spcBef>
              <a:buNone/>
            </a:pPr>
            <a:r>
              <a:rPr b="1"/>
              <a:t>Objectives</a:t>
            </a:r>
          </a:p>
          <a:p>
            <a:pPr lvl="0"/>
            <a:r>
              <a:rPr/>
              <a:t>Practice identifying technical debt</a:t>
            </a:r>
          </a:p>
          <a:p>
            <a:pPr lvl="0"/>
            <a:r>
              <a:rPr/>
              <a:t>Convert findings into actionable GitHub issues</a:t>
            </a:r>
          </a:p>
          <a:p>
            <a:pPr lvl="0"/>
            <a:r>
              <a:rPr/>
              <a:t>Apply consistent structure and provenance</a:t>
            </a:r>
          </a:p>
          <a:p>
            <a:pPr lvl="0"/>
            <a:r>
              <a:rPr/>
              <a:t>Prioritize issues based on risk and impact</a:t>
            </a:r>
          </a:p>
          <a:p>
            <a:pPr lvl="0" indent="0" marL="0">
              <a:spcBef>
                <a:spcPts val="3000"/>
              </a:spcBef>
              <a:buNone/>
            </a:pPr>
            <a:r>
              <a:rPr b="1"/>
              <a:t>Activities</a:t>
            </a:r>
          </a:p>
          <a:p>
            <a:pPr lvl="0" indent="-342900" marL="342900">
              <a:buAutoNum type="arabicPeriod"/>
            </a:pPr>
            <a:r>
              <a:rPr/>
              <a:t>Select a brownfield module or file.</a:t>
            </a:r>
          </a:p>
          <a:p>
            <a:pPr lvl="0" indent="-342900" marL="342900">
              <a:buAutoNum type="arabicPeriod"/>
            </a:pPr>
            <a:r>
              <a:rPr/>
              <a:t>Ask AI to identify:</a:t>
            </a:r>
          </a:p>
          <a:p>
            <a:pPr lvl="1"/>
            <a:r>
              <a:rPr/>
              <a:t>Technical debt</a:t>
            </a:r>
          </a:p>
          <a:p>
            <a:pPr lvl="1"/>
            <a:r>
              <a:rPr/>
              <a:t>Risks</a:t>
            </a:r>
          </a:p>
          <a:p>
            <a:pPr lvl="1"/>
            <a:r>
              <a:rPr/>
              <a:t>Missing tests</a:t>
            </a:r>
          </a:p>
          <a:p>
            <a:pPr lvl="1"/>
            <a:r>
              <a:rPr/>
              <a:t>Architectural violations</a:t>
            </a:r>
          </a:p>
          <a:p>
            <a:pPr lvl="0" indent="-342900" marL="342900">
              <a:buAutoNum type="arabicPeriod"/>
            </a:pPr>
            <a:r>
              <a:rPr/>
              <a:t>Convert each finding into a GitHub issue with:</a:t>
            </a:r>
          </a:p>
          <a:p>
            <a:pPr lvl="1"/>
            <a:r>
              <a:rPr/>
              <a:t>Title</a:t>
            </a:r>
          </a:p>
          <a:p>
            <a:pPr lvl="1"/>
            <a:r>
              <a:rPr/>
              <a:t>Description</a:t>
            </a:r>
          </a:p>
          <a:p>
            <a:pPr lvl="1"/>
            <a:r>
              <a:rPr/>
              <a:t>Acceptance criteria</a:t>
            </a:r>
          </a:p>
          <a:p>
            <a:pPr lvl="1"/>
            <a:r>
              <a:rPr/>
              <a:t>Labels</a:t>
            </a:r>
          </a:p>
          <a:p>
            <a:pPr lvl="1"/>
            <a:r>
              <a:rPr/>
              <a:t>Provenance metadata</a:t>
            </a:r>
          </a:p>
          <a:p>
            <a:pPr lvl="0" indent="-342900" marL="342900">
              <a:buAutoNum type="arabicPeriod"/>
            </a:pPr>
            <a:r>
              <a:rPr/>
              <a:t>Prioritize the issues using impact vs. effort.</a:t>
            </a:r>
          </a:p>
          <a:p>
            <a:pPr lvl="0" indent="-342900" marL="342900">
              <a:buAutoNum type="arabicPeriod"/>
            </a:pPr>
            <a:r>
              <a:rPr/>
              <a:t>Share your backlog with a partner for review.</a:t>
            </a:r>
          </a:p>
          <a:p>
            <a:pPr lvl="0" indent="0" marL="0">
              <a:spcBef>
                <a:spcPts val="3000"/>
              </a:spcBef>
              <a:buNone/>
            </a:pPr>
            <a:r>
              <a:rPr b="1"/>
              <a:t>Success Criteria</a:t>
            </a:r>
          </a:p>
          <a:p>
            <a:pPr lvl="0"/>
            <a:r>
              <a:rPr/>
              <a:t>Issues are clear, actionable, and well‑structured</a:t>
            </a:r>
          </a:p>
          <a:p>
            <a:pPr lvl="0"/>
            <a:r>
              <a:rPr/>
              <a:t>Provenance metadata is included</a:t>
            </a:r>
          </a:p>
          <a:p>
            <a:pPr lvl="0"/>
            <a:r>
              <a:rPr/>
              <a:t>Prioritization reflects real risk and effort</a:t>
            </a:r>
          </a:p>
          <a:p>
            <a:pPr lvl="0"/>
            <a:r>
              <a:rPr/>
              <a:t>Backlog is ready for team review</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a Backlog</dc:title>
  <dc:creator/>
  <cp:keywords/>
  <dcterms:created xsi:type="dcterms:W3CDTF">2026-02-04T20:38:09Z</dcterms:created>
  <dcterms:modified xsi:type="dcterms:W3CDTF">2026-02-04T20:38:09Z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arp">
    <vt:lpwstr>True</vt:lpwstr>
  </property>
  <property fmtid="{D5CDD505-2E9C-101B-9397-08002B2CF9AE}" pid="3" name="paginate">
    <vt:lpwstr>True</vt:lpwstr>
  </property>
  <property fmtid="{D5CDD505-2E9C-101B-9397-08002B2CF9AE}" pid="4" name="theme">
    <vt:lpwstr>default</vt:lpwstr>
  </property>
</Properties>
</file>