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71" r:id="rId2"/>
    <p:sldId id="348" r:id="rId3"/>
    <p:sldId id="349" r:id="rId4"/>
    <p:sldId id="347" r:id="rId5"/>
    <p:sldId id="368" r:id="rId6"/>
    <p:sldId id="369" r:id="rId7"/>
    <p:sldId id="370" r:id="rId8"/>
    <p:sldId id="371" r:id="rId9"/>
    <p:sldId id="372" r:id="rId10"/>
    <p:sldId id="373" r:id="rId11"/>
    <p:sldId id="374" r:id="rId12"/>
    <p:sldId id="375" r:id="rId13"/>
    <p:sldId id="376" r:id="rId14"/>
    <p:sldId id="258" r:id="rId15"/>
    <p:sldId id="259" r:id="rId16"/>
    <p:sldId id="324" r:id="rId17"/>
    <p:sldId id="325" r:id="rId18"/>
    <p:sldId id="326" r:id="rId19"/>
    <p:sldId id="263" r:id="rId20"/>
    <p:sldId id="264" r:id="rId21"/>
    <p:sldId id="327" r:id="rId22"/>
    <p:sldId id="328" r:id="rId23"/>
    <p:sldId id="329" r:id="rId24"/>
    <p:sldId id="33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A73CEA0-EC94-4882-B325-0FA7ADB7C3D4}">
          <p14:sldIdLst/>
        </p14:section>
        <p14:section name="Custom Agents" id="{E99F0E2A-1604-43EA-A8F1-75054E77E231}">
          <p14:sldIdLst>
            <p14:sldId id="271"/>
            <p14:sldId id="348"/>
            <p14:sldId id="349"/>
            <p14:sldId id="347"/>
            <p14:sldId id="368"/>
            <p14:sldId id="369"/>
            <p14:sldId id="370"/>
            <p14:sldId id="371"/>
            <p14:sldId id="372"/>
            <p14:sldId id="373"/>
            <p14:sldId id="374"/>
            <p14:sldId id="375"/>
            <p14:sldId id="376"/>
            <p14:sldId id="258"/>
            <p14:sldId id="259"/>
            <p14:sldId id="324"/>
            <p14:sldId id="325"/>
            <p14:sldId id="326"/>
            <p14:sldId id="263"/>
            <p14:sldId id="264"/>
            <p14:sldId id="327"/>
            <p14:sldId id="328"/>
            <p14:sldId id="329"/>
            <p14:sldId id="33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59BE6-5375-4E28-A7D1-4B8EE00B6313}"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560290-A845-4979-970B-26453FD11E88}" type="slidenum">
              <a:rPr lang="en-US" smtClean="0"/>
              <a:t>‹#›</a:t>
            </a:fld>
            <a:endParaRPr lang="en-US"/>
          </a:p>
        </p:txBody>
      </p:sp>
    </p:spTree>
    <p:extLst>
      <p:ext uri="{BB962C8B-B14F-4D97-AF65-F5344CB8AC3E}">
        <p14:creationId xmlns:p14="http://schemas.microsoft.com/office/powerpoint/2010/main" val="88725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Even though “chat modes” are being renamed to “agents,” the folder name remains </a:t>
            </a:r>
            <a:r>
              <a:rPr>
                <a:latin typeface="Courier"/>
              </a:rPr>
              <a:t>.github/copilot/chat_modes/</a:t>
            </a:r>
            <a:r>
              <a:t> for now.</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Teams can safely start using the term “agent” in training and inside the file’s </a:t>
            </a:r>
            <a:r>
              <a:rPr>
                <a:latin typeface="Courier"/>
              </a:rPr>
              <a:t>name:</a:t>
            </a:r>
            <a:r>
              <a:t> field, but must keep the existing folder structure.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2-3 minutes</a:t>
            </a:r>
          </a:p>
          <a:p>
            <a:pPr marL="0" lvl="0" indent="0">
              <a:buNone/>
            </a:pPr>
            <a:endParaRPr/>
          </a:p>
          <a:p>
            <a:pPr marL="0" lvl="0" indent="0">
              <a:buNone/>
            </a:pPr>
            <a:r>
              <a:rPr b="1"/>
              <a:t>Key Points to Emphasize</a:t>
            </a:r>
            <a:r>
              <a:t>:</a:t>
            </a:r>
          </a:p>
          <a:p>
            <a:pPr marL="0" lvl="0" indent="0">
              <a:buNone/>
            </a:pPr>
            <a:endParaRPr/>
          </a:p>
          <a:p>
            <a:pPr marL="342900" lvl="0" indent="-342900">
              <a:buAutoNum type="arabicPeriod"/>
            </a:pPr>
            <a:r>
              <a:t>Custom agents are NOT separate AI models - they’re specialized configurations of GitHub Copilot</a:t>
            </a:r>
          </a:p>
          <a:p>
            <a:pPr marL="0" lvl="0" indent="0">
              <a:buNone/>
            </a:pPr>
            <a:endParaRPr/>
          </a:p>
          <a:p>
            <a:pPr marL="342900" lvl="0" indent="-342900">
              <a:buAutoNum type="arabicPeriod"/>
            </a:pPr>
            <a:r>
              <a:t>Think of them as “personas” or “roles” for your AI assistant</a:t>
            </a:r>
          </a:p>
          <a:p>
            <a:pPr marL="0" lvl="0" indent="0">
              <a:buNone/>
            </a:pPr>
            <a:endParaRPr/>
          </a:p>
          <a:p>
            <a:pPr marL="342900" lvl="0" indent="-342900">
              <a:buAutoNum type="arabicPeriod"/>
            </a:pPr>
            <a:r>
              <a:t>They’re defined in simple markdown files with YAML frontmatter</a:t>
            </a:r>
          </a:p>
          <a:p>
            <a:pPr marL="0" lvl="0" indent="0">
              <a:buNone/>
            </a:pPr>
            <a:endParaRPr/>
          </a:p>
          <a:p>
            <a:pPr marL="0" lvl="0" indent="0">
              <a:buNone/>
            </a:pPr>
            <a:r>
              <a:rPr b="1"/>
              <a:t>Examples to Share</a:t>
            </a:r>
            <a:r>
              <a:t>:</a:t>
            </a:r>
          </a:p>
          <a:p>
            <a:pPr marL="0" lvl="0" indent="0">
              <a:buNone/>
            </a:pPr>
            <a:endParaRPr/>
          </a:p>
          <a:p>
            <a:pPr lvl="0"/>
            <a:r>
              <a:t>Testing specialist that focuses only on test code</a:t>
            </a:r>
          </a:p>
          <a:p>
            <a:pPr marL="0" lvl="0" indent="0">
              <a:buNone/>
            </a:pPr>
            <a:endParaRPr/>
          </a:p>
          <a:p>
            <a:pPr lvl="0"/>
            <a:r>
              <a:t>Documentation writer that creates comprehensive docs</a:t>
            </a:r>
          </a:p>
          <a:p>
            <a:pPr marL="0" lvl="0" indent="0">
              <a:buNone/>
            </a:pPr>
            <a:endParaRPr/>
          </a:p>
          <a:p>
            <a:pPr lvl="0"/>
            <a:r>
              <a:t>Implementation planner that designs before coding</a:t>
            </a:r>
          </a:p>
          <a:p>
            <a:pPr marL="0" lvl="0" indent="0">
              <a:buNone/>
            </a:pPr>
            <a:endParaRPr/>
          </a:p>
          <a:p>
            <a:pPr lvl="0"/>
            <a:r>
              <a:t>Security reviewer that checks for vulnerabilities</a:t>
            </a:r>
          </a:p>
          <a:p>
            <a:pPr marL="0" lvl="0" indent="0">
              <a:buNone/>
            </a:pPr>
            <a:endParaRPr/>
          </a:p>
          <a:p>
            <a:pPr marL="0" lvl="0" indent="0">
              <a:buNone/>
            </a:pPr>
            <a:r>
              <a:rPr b="1"/>
              <a:t>Audience Interaction</a:t>
            </a:r>
            <a:r>
              <a:t>: “Has anyone worked with AI assistants that seemed too generic or gave responses outside their intended scope? Custom agents solve this problem.”</a:t>
            </a:r>
          </a:p>
          <a:p>
            <a:pPr marL="0" lvl="0" indent="0">
              <a:buNone/>
            </a:pPr>
            <a:endParaRPr/>
          </a:p>
          <a:p>
            <a:pPr marL="0" lvl="0" indent="0">
              <a:buNone/>
            </a:pPr>
            <a:r>
              <a:rPr b="1"/>
              <a:t>Transition</a:t>
            </a:r>
            <a:r>
              <a:t>: “Now let’s see where and how you can create these custom agents.”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 minutes</a:t>
            </a:r>
          </a:p>
          <a:p>
            <a:pPr marL="0" lvl="0" indent="0">
              <a:buNone/>
            </a:pPr>
            <a:endParaRPr/>
          </a:p>
          <a:p>
            <a:pPr marL="0" lvl="0" indent="0">
              <a:buNone/>
            </a:pPr>
            <a:r>
              <a:rPr b="1"/>
              <a:t>Delivery Instructions</a:t>
            </a:r>
            <a:r>
              <a:t>:</a:t>
            </a:r>
          </a:p>
          <a:p>
            <a:pPr marL="0" lvl="0" indent="0">
              <a:buNone/>
            </a:pPr>
            <a:endParaRPr/>
          </a:p>
          <a:p>
            <a:pPr lvl="0"/>
            <a:r>
              <a:t>Show the GitHub.com interface if doing a live demo</a:t>
            </a:r>
          </a:p>
          <a:p>
            <a:pPr marL="0" lvl="0" indent="0">
              <a:buNone/>
            </a:pPr>
            <a:endParaRPr/>
          </a:p>
          <a:p>
            <a:pPr lvl="0"/>
            <a:r>
              <a:t>Emphasize that agents created on GitHub can be used across all environments</a:t>
            </a:r>
          </a:p>
          <a:p>
            <a:pPr marL="0" lvl="0" indent="0">
              <a:buNone/>
            </a:pPr>
            <a:endParaRPr/>
          </a:p>
          <a:p>
            <a:pPr lvl="0"/>
            <a:r>
              <a:t>IDE-based agents are more convenient for quick personal use</a:t>
            </a:r>
          </a:p>
          <a:p>
            <a:pPr marL="0" lvl="0" indent="0">
              <a:buNone/>
            </a:pPr>
            <a:endParaRPr/>
          </a:p>
          <a:p>
            <a:pPr marL="0" lvl="0" indent="0">
              <a:buNone/>
            </a:pPr>
            <a:r>
              <a:rPr b="1"/>
              <a:t>Key Decision Point</a:t>
            </a:r>
            <a:r>
              <a:t>: Help audience understand when to use each approach:</a:t>
            </a:r>
          </a:p>
          <a:p>
            <a:pPr marL="0" lvl="0" indent="0">
              <a:buNone/>
            </a:pPr>
            <a:endParaRPr/>
          </a:p>
          <a:p>
            <a:pPr lvl="0"/>
            <a:r>
              <a:rPr b="1"/>
              <a:t>GitHub</a:t>
            </a:r>
            <a:r>
              <a:t>: For team-wide or shared agents</a:t>
            </a:r>
          </a:p>
          <a:p>
            <a:pPr marL="0" lvl="0" indent="0">
              <a:buNone/>
            </a:pPr>
            <a:endParaRPr/>
          </a:p>
          <a:p>
            <a:pPr lvl="0"/>
            <a:r>
              <a:rPr b="1"/>
              <a:t>Organization/Enterprise</a:t>
            </a:r>
            <a:r>
              <a:t>: For standardized agents across multiple repos</a:t>
            </a:r>
          </a:p>
          <a:p>
            <a:pPr marL="0" lvl="0" indent="0">
              <a:buNone/>
            </a:pPr>
            <a:endParaRPr/>
          </a:p>
          <a:p>
            <a:pPr lvl="0"/>
            <a:r>
              <a:rPr b="1"/>
              <a:t>IDE</a:t>
            </a:r>
            <a:r>
              <a:t>: For personal experimentation and workspace-specific agents</a:t>
            </a:r>
          </a:p>
          <a:p>
            <a:pPr marL="0" lvl="0" indent="0">
              <a:buNone/>
            </a:pPr>
            <a:endParaRPr/>
          </a:p>
          <a:p>
            <a:pPr marL="0" lvl="0" indent="0">
              <a:buNone/>
            </a:pPr>
            <a:r>
              <a:rPr b="1"/>
              <a:t>Technical Detail</a:t>
            </a:r>
            <a:r>
              <a:t>:</a:t>
            </a:r>
          </a:p>
          <a:p>
            <a:pPr marL="0" lvl="0" indent="0">
              <a:buNone/>
            </a:pPr>
            <a:endParaRPr/>
          </a:p>
          <a:p>
            <a:pPr lvl="0"/>
            <a:r>
              <a:t>GitHub agents go in </a:t>
            </a:r>
            <a:r>
              <a:rPr>
                <a:latin typeface="Courier"/>
              </a:rPr>
              <a:t>.github/agents/</a:t>
            </a:r>
            <a:r>
              <a:t> directory</a:t>
            </a:r>
          </a:p>
          <a:p>
            <a:pPr marL="0" lvl="0" indent="0">
              <a:buNone/>
            </a:pPr>
            <a:endParaRPr/>
          </a:p>
          <a:p>
            <a:pPr lvl="0"/>
            <a:r>
              <a:t>Organization/enterprise agents go in root </a:t>
            </a:r>
            <a:r>
              <a:rPr>
                <a:latin typeface="Courier"/>
              </a:rPr>
              <a:t>agents/</a:t>
            </a:r>
            <a:r>
              <a:t> directory of </a:t>
            </a:r>
            <a:r>
              <a:rPr>
                <a:latin typeface="Courier"/>
              </a:rPr>
              <a:t>.github-private</a:t>
            </a:r>
            <a:r>
              <a:t> repo</a:t>
            </a:r>
          </a:p>
          <a:p>
            <a:pPr marL="0" lvl="0" indent="0">
              <a:buNone/>
            </a:pPr>
            <a:endParaRPr/>
          </a:p>
          <a:p>
            <a:pPr lvl="0"/>
            <a:r>
              <a:t>IDE user profile agents are local to that machine</a:t>
            </a:r>
          </a:p>
          <a:p>
            <a:pPr marL="0" lvl="0" indent="0">
              <a:buNone/>
            </a:pPr>
            <a:endParaRPr/>
          </a:p>
          <a:p>
            <a:pPr marL="0" lvl="0" indent="0">
              <a:buNone/>
            </a:pPr>
            <a:r>
              <a:rPr b="1"/>
              <a:t>Common Question</a:t>
            </a:r>
            <a:r>
              <a:t>: “Can I use the same agent in both GitHub and my IDE?” </a:t>
            </a:r>
            <a:r>
              <a:rPr b="1"/>
              <a:t>Answer</a:t>
            </a:r>
            <a:r>
              <a:t>: Yes! Agents created on GitHub are automatically available in supported IDEs.</a:t>
            </a:r>
          </a:p>
          <a:p>
            <a:pPr marL="0" lvl="0" indent="0">
              <a:buNone/>
            </a:pPr>
            <a:endParaRPr/>
          </a:p>
          <a:p>
            <a:pPr marL="0" lvl="0" indent="0">
              <a:buNone/>
            </a:pPr>
            <a:r>
              <a:rPr b="1"/>
              <a:t>Transition</a:t>
            </a:r>
            <a:r>
              <a:t>: “Let’s walk through creating an agent on GitHub, which is the most common workflow.”</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4-5 minutes (include live demo if possible)</a:t>
            </a:r>
          </a:p>
          <a:p>
            <a:pPr marL="0" lvl="0" indent="0">
              <a:buNone/>
            </a:pPr>
            <a:endParaRPr/>
          </a:p>
          <a:p>
            <a:pPr marL="0" lvl="0" indent="0">
              <a:buNone/>
            </a:pPr>
            <a:r>
              <a:rPr b="1"/>
              <a:t>Step-by-Step Walkthrough</a:t>
            </a:r>
            <a:r>
              <a:t>:</a:t>
            </a:r>
          </a:p>
          <a:p>
            <a:pPr marL="0" lvl="0" indent="0">
              <a:buNone/>
            </a:pPr>
            <a:endParaRPr/>
          </a:p>
          <a:p>
            <a:pPr marL="0" lvl="0" indent="0">
              <a:buNone/>
            </a:pPr>
            <a:r>
              <a:rPr b="1"/>
              <a:t>Step 1-2</a:t>
            </a:r>
            <a:r>
              <a:t>: Emphasize the importance of selecting the right repository</a:t>
            </a:r>
          </a:p>
          <a:p>
            <a:pPr marL="0" lvl="0" indent="0">
              <a:buNone/>
            </a:pPr>
            <a:endParaRPr/>
          </a:p>
          <a:p>
            <a:pPr lvl="0"/>
            <a:r>
              <a:t>Personal repo = just for you</a:t>
            </a:r>
          </a:p>
          <a:p>
            <a:pPr marL="0" lvl="0" indent="0">
              <a:buNone/>
            </a:pPr>
            <a:endParaRPr/>
          </a:p>
          <a:p>
            <a:pPr lvl="0"/>
            <a:r>
              <a:t>Organization repo = for entire org</a:t>
            </a:r>
          </a:p>
          <a:p>
            <a:pPr marL="0" lvl="0" indent="0">
              <a:buNone/>
            </a:pPr>
            <a:endParaRPr/>
          </a:p>
          <a:p>
            <a:pPr lvl="0"/>
            <a:r>
              <a:rPr>
                <a:latin typeface="Courier"/>
              </a:rPr>
              <a:t>.github-private</a:t>
            </a:r>
            <a:r>
              <a:t> = special repository for org/enterprise-wide agents</a:t>
            </a:r>
          </a:p>
          <a:p>
            <a:pPr marL="0" lvl="0" indent="0">
              <a:buNone/>
            </a:pPr>
            <a:endParaRPr/>
          </a:p>
          <a:p>
            <a:pPr marL="0" lvl="0" indent="0">
              <a:buNone/>
            </a:pPr>
            <a:r>
              <a:rPr b="1"/>
              <a:t>Step 3-4</a:t>
            </a:r>
            <a:r>
              <a:t>: The template is your starting point</a:t>
            </a:r>
          </a:p>
          <a:p>
            <a:pPr marL="0" lvl="0" indent="0">
              <a:buNone/>
            </a:pPr>
            <a:endParaRPr/>
          </a:p>
          <a:p>
            <a:pPr lvl="0"/>
            <a:r>
              <a:t>Don’t skip past it - it contains all required sections</a:t>
            </a:r>
          </a:p>
          <a:p>
            <a:pPr marL="0" lvl="0" indent="0">
              <a:buNone/>
            </a:pPr>
            <a:endParaRPr/>
          </a:p>
          <a:p>
            <a:pPr lvl="0"/>
            <a:r>
              <a:t>Template includes helpful comments</a:t>
            </a:r>
          </a:p>
          <a:p>
            <a:pPr marL="0" lvl="0" indent="0">
              <a:buNone/>
            </a:pPr>
            <a:endParaRPr/>
          </a:p>
          <a:p>
            <a:pPr marL="0" lvl="0" indent="0">
              <a:buNone/>
            </a:pPr>
            <a:r>
              <a:rPr b="1"/>
              <a:t>Step 5</a:t>
            </a:r>
            <a:r>
              <a:t>: Filename guidelines (critical!)</a:t>
            </a:r>
          </a:p>
          <a:p>
            <a:pPr marL="0" lvl="0" indent="0">
              <a:buNone/>
            </a:pPr>
            <a:endParaRPr/>
          </a:p>
          <a:p>
            <a:pPr lvl="0"/>
            <a:r>
              <a:t>Use lowercase letters, numbers, dots, dashes, underscores only</a:t>
            </a:r>
          </a:p>
          <a:p>
            <a:pPr marL="0" lvl="0" indent="0">
              <a:buNone/>
            </a:pPr>
            <a:endParaRPr/>
          </a:p>
          <a:p>
            <a:pPr lvl="0"/>
            <a:r>
              <a:t>Must end with </a:t>
            </a:r>
            <a:r>
              <a:rPr>
                <a:latin typeface="Courier"/>
              </a:rPr>
              <a:t>.agent.md</a:t>
            </a:r>
          </a:p>
          <a:p>
            <a:pPr marL="0" lvl="0" indent="0">
              <a:buNone/>
            </a:pPr>
            <a:endParaRPr>
              <a:latin typeface="Courier"/>
            </a:endParaRPr>
          </a:p>
          <a:p>
            <a:pPr lvl="0"/>
            <a:r>
              <a:t>Filename becomes the default agent name</a:t>
            </a:r>
          </a:p>
          <a:p>
            <a:pPr marL="0" lvl="0" indent="0">
              <a:buNone/>
            </a:pPr>
            <a:endParaRPr/>
          </a:p>
          <a:p>
            <a:pPr lvl="0"/>
            <a:r>
              <a:t>Examples: </a:t>
            </a:r>
            <a:r>
              <a:rPr>
                <a:latin typeface="Courier"/>
              </a:rPr>
              <a:t>test-specialist.agent.md</a:t>
            </a:r>
            <a:r>
              <a:t>, </a:t>
            </a:r>
            <a:r>
              <a:rPr>
                <a:latin typeface="Courier"/>
              </a:rPr>
              <a:t>security-reviewer.agent.md</a:t>
            </a:r>
            <a:r>
              <a:t>, </a:t>
            </a:r>
            <a:r>
              <a:rPr>
                <a:latin typeface="Courier"/>
              </a:rPr>
              <a:t>doc-writer.agent.md</a:t>
            </a:r>
          </a:p>
          <a:p>
            <a:pPr marL="0" lvl="0" indent="0">
              <a:buNone/>
            </a:pPr>
            <a:endParaRPr>
              <a:latin typeface="Courier"/>
            </a:endParaRPr>
          </a:p>
          <a:p>
            <a:pPr marL="0" lvl="0" indent="0">
              <a:buNone/>
            </a:pPr>
            <a:r>
              <a:rPr b="1"/>
              <a:t>Step 6</a:t>
            </a:r>
            <a:r>
              <a:t>: We’ll cover configuration in detail on next slides</a:t>
            </a:r>
          </a:p>
          <a:p>
            <a:pPr marL="0" lvl="0" indent="0">
              <a:buNone/>
            </a:pPr>
            <a:endParaRPr/>
          </a:p>
          <a:p>
            <a:pPr marL="0" lvl="0" indent="0">
              <a:buNone/>
            </a:pPr>
            <a:r>
              <a:rPr b="1"/>
              <a:t>Step 7-8</a:t>
            </a:r>
            <a:r>
              <a:t>: No build process or waiting</a:t>
            </a:r>
          </a:p>
          <a:p>
            <a:pPr marL="0" lvl="0" indent="0">
              <a:buNone/>
            </a:pPr>
            <a:endParaRPr/>
          </a:p>
          <a:p>
            <a:pPr lvl="0"/>
            <a:r>
              <a:t>Immediate availability after merge</a:t>
            </a:r>
          </a:p>
          <a:p>
            <a:pPr marL="0" lvl="0" indent="0">
              <a:buNone/>
            </a:pPr>
            <a:endParaRPr/>
          </a:p>
          <a:p>
            <a:pPr lvl="0"/>
            <a:r>
              <a:t>Refresh the page if you don’t see it</a:t>
            </a:r>
          </a:p>
          <a:p>
            <a:pPr marL="0" lvl="0" indent="0">
              <a:buNone/>
            </a:pPr>
            <a:endParaRPr/>
          </a:p>
          <a:p>
            <a:pPr marL="0" lvl="0" indent="0">
              <a:buNone/>
            </a:pPr>
            <a:r>
              <a:rPr b="1"/>
              <a:t>Common Pitfalls</a:t>
            </a:r>
            <a:r>
              <a:t>:</a:t>
            </a:r>
          </a:p>
          <a:p>
            <a:pPr marL="0" lvl="0" indent="0">
              <a:buNone/>
            </a:pPr>
            <a:endParaRPr/>
          </a:p>
          <a:p>
            <a:pPr lvl="0"/>
            <a:r>
              <a:t>Forgetting to merge to default branch (agent won’t appear)</a:t>
            </a:r>
          </a:p>
          <a:p>
            <a:pPr marL="0" lvl="0" indent="0">
              <a:buNone/>
            </a:pPr>
            <a:endParaRPr/>
          </a:p>
          <a:p>
            <a:pPr lvl="0"/>
            <a:r>
              <a:t>Using spaces or special characters in filename</a:t>
            </a:r>
          </a:p>
          <a:p>
            <a:pPr marL="0" lvl="0" indent="0">
              <a:buNone/>
            </a:pPr>
            <a:endParaRPr/>
          </a:p>
          <a:p>
            <a:pPr lvl="0"/>
            <a:r>
              <a:t>Not providing a description in the YAML</a:t>
            </a:r>
          </a:p>
          <a:p>
            <a:pPr marL="0" lvl="0" indent="0">
              <a:buNone/>
            </a:pPr>
            <a:endParaRPr/>
          </a:p>
          <a:p>
            <a:pPr marL="0" lvl="0" indent="0">
              <a:buNone/>
            </a:pPr>
            <a:r>
              <a:rPr b="1"/>
              <a:t>Demo Tip</a:t>
            </a:r>
            <a:r>
              <a:t>: If showing live, create a simple agent like “hello-world.agent.md” to demonstrate the process.</a:t>
            </a:r>
          </a:p>
          <a:p>
            <a:pPr marL="0" lvl="0" indent="0">
              <a:buNone/>
            </a:pPr>
            <a:endParaRPr/>
          </a:p>
          <a:p>
            <a:pPr marL="0" lvl="0" indent="0">
              <a:buNone/>
            </a:pPr>
            <a:r>
              <a:rPr b="1"/>
              <a:t>Transition</a:t>
            </a:r>
            <a:r>
              <a:t>: “Now that we know how to create the file, let’s understand what goes inside it.”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3-4 minutes</a:t>
            </a:r>
          </a:p>
          <a:p>
            <a:pPr marL="0" lvl="0" indent="0">
              <a:buNone/>
            </a:pPr>
            <a:endParaRPr/>
          </a:p>
          <a:p>
            <a:pPr marL="0" lvl="0" indent="0">
              <a:buNone/>
            </a:pPr>
            <a:r>
              <a:rPr b="1"/>
              <a:t>VS Code Advantages</a:t>
            </a:r>
            <a:r>
              <a:t>:</a:t>
            </a:r>
          </a:p>
          <a:p>
            <a:pPr marL="0" lvl="0" indent="0">
              <a:buNone/>
            </a:pPr>
            <a:endParaRPr/>
          </a:p>
          <a:p>
            <a:pPr lvl="0"/>
            <a:r>
              <a:t>Integrated tool configuration UI</a:t>
            </a:r>
          </a:p>
          <a:p>
            <a:pPr marL="0" lvl="0" indent="0">
              <a:buNone/>
            </a:pPr>
            <a:endParaRPr/>
          </a:p>
          <a:p>
            <a:pPr lvl="0"/>
            <a:r>
              <a:t>Immediate testing in the same environment</a:t>
            </a:r>
          </a:p>
          <a:p>
            <a:pPr marL="0" lvl="0" indent="0">
              <a:buNone/>
            </a:pPr>
            <a:endParaRPr/>
          </a:p>
          <a:p>
            <a:pPr lvl="0"/>
            <a:r>
              <a:t>Better for rapid iteration and experimentation</a:t>
            </a:r>
          </a:p>
          <a:p>
            <a:pPr marL="0" lvl="0" indent="0">
              <a:buNone/>
            </a:pPr>
            <a:endParaRPr/>
          </a:p>
          <a:p>
            <a:pPr lvl="0"/>
            <a:r>
              <a:t>User profile agents for personal productivity</a:t>
            </a:r>
          </a:p>
          <a:p>
            <a:pPr marL="0" lvl="0" indent="0">
              <a:buNone/>
            </a:pPr>
            <a:endParaRPr/>
          </a:p>
          <a:p>
            <a:pPr marL="0" lvl="0" indent="0">
              <a:buNone/>
            </a:pPr>
            <a:r>
              <a:rPr b="1"/>
              <a:t>Workspace vs User Profile Decision</a:t>
            </a:r>
            <a:r>
              <a:t>:</a:t>
            </a:r>
          </a:p>
          <a:p>
            <a:pPr marL="0" lvl="0" indent="0">
              <a:buNone/>
            </a:pPr>
            <a:endParaRPr/>
          </a:p>
          <a:p>
            <a:pPr marL="0" lvl="0" indent="0">
              <a:buNone/>
            </a:pPr>
            <a:r>
              <a:rPr b="1"/>
              <a:t>Workspace</a:t>
            </a:r>
            <a:r>
              <a:t> (</a:t>
            </a:r>
            <a:r>
              <a:rPr>
                <a:latin typeface="Courier"/>
              </a:rPr>
              <a:t>.github/agents/</a:t>
            </a:r>
            <a:r>
              <a:t>):</a:t>
            </a:r>
          </a:p>
          <a:p>
            <a:pPr marL="0" lvl="0" indent="0">
              <a:buNone/>
            </a:pPr>
            <a:endParaRPr/>
          </a:p>
          <a:p>
            <a:pPr lvl="0"/>
            <a:r>
              <a:t>Shared with team when committed</a:t>
            </a:r>
          </a:p>
          <a:p>
            <a:pPr marL="0" lvl="0" indent="0">
              <a:buNone/>
            </a:pPr>
            <a:endParaRPr/>
          </a:p>
          <a:p>
            <a:pPr lvl="0"/>
            <a:r>
              <a:t>Project-specific context</a:t>
            </a:r>
          </a:p>
          <a:p>
            <a:pPr marL="0" lvl="0" indent="0">
              <a:buNone/>
            </a:pPr>
            <a:endParaRPr/>
          </a:p>
          <a:p>
            <a:pPr lvl="0"/>
            <a:r>
              <a:t>Version controlled</a:t>
            </a:r>
          </a:p>
          <a:p>
            <a:pPr marL="0" lvl="0" indent="0">
              <a:buNone/>
            </a:pPr>
            <a:endParaRPr/>
          </a:p>
          <a:p>
            <a:pPr lvl="0"/>
            <a:r>
              <a:t>Recommended for team agents</a:t>
            </a:r>
          </a:p>
          <a:p>
            <a:pPr marL="0" lvl="0" indent="0">
              <a:buNone/>
            </a:pPr>
            <a:endParaRPr/>
          </a:p>
          <a:p>
            <a:pPr marL="0" lvl="0" indent="0">
              <a:buNone/>
            </a:pPr>
            <a:r>
              <a:rPr b="1"/>
              <a:t>User Profile</a:t>
            </a:r>
            <a:r>
              <a:t>:</a:t>
            </a:r>
          </a:p>
          <a:p>
            <a:pPr marL="0" lvl="0" indent="0">
              <a:buNone/>
            </a:pPr>
            <a:endParaRPr/>
          </a:p>
          <a:p>
            <a:pPr lvl="0"/>
            <a:r>
              <a:t>Available across all your projects</a:t>
            </a:r>
          </a:p>
          <a:p>
            <a:pPr marL="0" lvl="0" indent="0">
              <a:buNone/>
            </a:pPr>
            <a:endParaRPr/>
          </a:p>
          <a:p>
            <a:pPr lvl="0"/>
            <a:r>
              <a:t>Not version controlled</a:t>
            </a:r>
          </a:p>
          <a:p>
            <a:pPr marL="0" lvl="0" indent="0">
              <a:buNone/>
            </a:pPr>
            <a:endParaRPr/>
          </a:p>
          <a:p>
            <a:pPr lvl="0"/>
            <a:r>
              <a:t>Personal productivity tools</a:t>
            </a:r>
          </a:p>
          <a:p>
            <a:pPr marL="0" lvl="0" indent="0">
              <a:buNone/>
            </a:pPr>
            <a:endParaRPr/>
          </a:p>
          <a:p>
            <a:pPr lvl="0"/>
            <a:r>
              <a:t>Examples: personal note-taking agent, time tracker</a:t>
            </a:r>
          </a:p>
          <a:p>
            <a:pPr marL="0" lvl="0" indent="0">
              <a:buNone/>
            </a:pPr>
            <a:endParaRPr/>
          </a:p>
          <a:p>
            <a:pPr marL="0" lvl="0" indent="0">
              <a:buNone/>
            </a:pPr>
            <a:r>
              <a:rPr b="1"/>
              <a:t>Configure Tools Button</a:t>
            </a:r>
            <a:r>
              <a:t>:</a:t>
            </a:r>
          </a:p>
          <a:p>
            <a:pPr marL="0" lvl="0" indent="0">
              <a:buNone/>
            </a:pPr>
            <a:endParaRPr/>
          </a:p>
          <a:p>
            <a:pPr lvl="0"/>
            <a:r>
              <a:t>Opens visual dialog showing all available tools</a:t>
            </a:r>
          </a:p>
          <a:p>
            <a:pPr marL="0" lvl="0" indent="0">
              <a:buNone/>
            </a:pPr>
            <a:endParaRPr/>
          </a:p>
          <a:p>
            <a:pPr lvl="0"/>
            <a:r>
              <a:t>Includes built-in tools (read, edit, search, etc.)</a:t>
            </a:r>
          </a:p>
          <a:p>
            <a:pPr marL="0" lvl="0" indent="0">
              <a:buNone/>
            </a:pPr>
            <a:endParaRPr/>
          </a:p>
          <a:p>
            <a:pPr lvl="0"/>
            <a:r>
              <a:t>Shows MCP server tools if configured</a:t>
            </a:r>
          </a:p>
          <a:p>
            <a:pPr marL="0" lvl="0" indent="0">
              <a:buNone/>
            </a:pPr>
            <a:endParaRPr/>
          </a:p>
          <a:p>
            <a:pPr lvl="0"/>
            <a:r>
              <a:t>Click OK to add selected tools to YAML</a:t>
            </a:r>
          </a:p>
          <a:p>
            <a:pPr marL="0" lvl="0" indent="0">
              <a:buNone/>
            </a:pPr>
            <a:endParaRPr/>
          </a:p>
          <a:p>
            <a:pPr marL="0" lvl="0" indent="0">
              <a:buNone/>
            </a:pPr>
            <a:r>
              <a:rPr b="1"/>
              <a:t>Model Property</a:t>
            </a:r>
            <a:r>
              <a:t>:</a:t>
            </a:r>
          </a:p>
          <a:p>
            <a:pPr marL="0" lvl="0" indent="0">
              <a:buNone/>
            </a:pPr>
            <a:endParaRPr/>
          </a:p>
          <a:p>
            <a:pPr lvl="0"/>
            <a:r>
              <a:t>Override default model per agent</a:t>
            </a:r>
          </a:p>
          <a:p>
            <a:pPr marL="0" lvl="0" indent="0">
              <a:buNone/>
            </a:pPr>
            <a:endParaRPr/>
          </a:p>
          <a:p>
            <a:pPr lvl="0"/>
            <a:r>
              <a:t>Useful for cost/performance tradeoffs</a:t>
            </a:r>
          </a:p>
          <a:p>
            <a:pPr marL="0" lvl="0" indent="0">
              <a:buNone/>
            </a:pPr>
            <a:endParaRPr/>
          </a:p>
          <a:p>
            <a:pPr lvl="0"/>
            <a:r>
              <a:t>Example: Use faster model for simple tasks, advanced model for complex reasoning</a:t>
            </a:r>
          </a:p>
          <a:p>
            <a:pPr marL="0" lvl="0" indent="0">
              <a:buNone/>
            </a:pPr>
            <a:endParaRPr/>
          </a:p>
          <a:p>
            <a:pPr marL="0" lvl="0" indent="0">
              <a:buNone/>
            </a:pPr>
            <a:r>
              <a:rPr b="1"/>
              <a:t>Live Demo Suggestion</a:t>
            </a:r>
            <a:r>
              <a:t>: Show the Configure Tools dialog and model dropdown</a:t>
            </a:r>
          </a:p>
          <a:p>
            <a:pPr marL="0" lvl="0" indent="0">
              <a:buNone/>
            </a:pPr>
            <a:endParaRPr/>
          </a:p>
          <a:p>
            <a:pPr marL="0" lvl="0" indent="0">
              <a:buNone/>
            </a:pPr>
            <a:r>
              <a:rPr b="1"/>
              <a:t>Common Questions</a:t>
            </a:r>
            <a:r>
              <a:t>:</a:t>
            </a:r>
          </a:p>
          <a:p>
            <a:pPr marL="0" lvl="0" indent="0">
              <a:buNone/>
            </a:pPr>
            <a:endParaRPr/>
          </a:p>
          <a:p>
            <a:pPr lvl="0"/>
            <a:r>
              <a:t>“Do I need to restart VS Code?” - No, agents are detected automatically</a:t>
            </a:r>
          </a:p>
          <a:p>
            <a:pPr marL="0" lvl="0" indent="0">
              <a:buNone/>
            </a:pPr>
            <a:endParaRPr/>
          </a:p>
          <a:p>
            <a:pPr lvl="0"/>
            <a:r>
              <a:t>“Can I edit the YAML directly?” - Yes, the UI is just a helper</a:t>
            </a:r>
          </a:p>
          <a:p>
            <a:pPr marL="0" lvl="0" indent="0">
              <a:buNone/>
            </a:pPr>
            <a:endParaRPr/>
          </a:p>
          <a:p>
            <a:pPr marL="0" lvl="0" indent="0">
              <a:buNone/>
            </a:pPr>
            <a:r>
              <a:rPr b="1"/>
              <a:t>Transition</a:t>
            </a:r>
            <a:r>
              <a:t>: “The process is similar in JetBrains, Eclipse, and Xcode with slight UI variations. Now let’s focus on what matters most: the agent configuration itself.”</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4-5 minutes</a:t>
            </a:r>
          </a:p>
          <a:p>
            <a:pPr marL="0" lvl="0" indent="0">
              <a:buNone/>
            </a:pPr>
            <a:endParaRPr/>
          </a:p>
          <a:p>
            <a:pPr marL="0" lvl="0" indent="0">
              <a:buNone/>
            </a:pPr>
            <a:r>
              <a:rPr b="1"/>
              <a:t>Anatomy of an Agent Profile</a:t>
            </a:r>
            <a:r>
              <a:t>:</a:t>
            </a:r>
          </a:p>
          <a:p>
            <a:pPr marL="0" lvl="0" indent="0">
              <a:buNone/>
            </a:pPr>
            <a:endParaRPr/>
          </a:p>
          <a:p>
            <a:pPr marL="0" lvl="0" indent="0">
              <a:buNone/>
            </a:pPr>
            <a:r>
              <a:rPr b="1"/>
              <a:t>YAML Frontmatter</a:t>
            </a:r>
            <a:r>
              <a:t> (Required):</a:t>
            </a:r>
          </a:p>
          <a:p>
            <a:pPr marL="0" lvl="0" indent="0">
              <a:buNone/>
            </a:pPr>
            <a:endParaRPr/>
          </a:p>
          <a:p>
            <a:pPr marL="342900" lvl="0" indent="-342900">
              <a:buAutoNum type="arabicPeriod"/>
            </a:pPr>
            <a:r>
              <a:rPr b="1"/>
              <a:t>name</a:t>
            </a:r>
            <a:r>
              <a:t> (optional): Display name in dropdown</a:t>
            </a:r>
          </a:p>
          <a:p>
            <a:pPr marL="0" lvl="0" indent="0">
              <a:buNone/>
            </a:pPr>
            <a:endParaRPr/>
          </a:p>
          <a:p>
            <a:pPr lvl="1"/>
            <a:r>
              <a:t>Defaults to filename without extension</a:t>
            </a:r>
          </a:p>
          <a:p>
            <a:pPr marL="0" lvl="0" indent="0">
              <a:buNone/>
            </a:pPr>
            <a:endParaRPr/>
          </a:p>
          <a:p>
            <a:pPr lvl="1"/>
            <a:r>
              <a:t>Keep concise (2-4 words)</a:t>
            </a:r>
          </a:p>
          <a:p>
            <a:pPr marL="0" lvl="0" indent="0">
              <a:buNone/>
            </a:pPr>
            <a:endParaRPr/>
          </a:p>
          <a:p>
            <a:pPr lvl="1"/>
            <a:r>
              <a:t>Examples: “Test Specialist”, “Security Reviewer”</a:t>
            </a:r>
          </a:p>
          <a:p>
            <a:pPr marL="0" lvl="0" indent="0">
              <a:buNone/>
            </a:pPr>
            <a:endParaRPr/>
          </a:p>
          <a:p>
            <a:pPr marL="342900" lvl="0" indent="-342900">
              <a:buAutoNum type="arabicPeriod"/>
            </a:pPr>
            <a:r>
              <a:rPr b="1"/>
              <a:t>description</a:t>
            </a:r>
            <a:r>
              <a:t> (REQUIRED): What the agent does</a:t>
            </a:r>
          </a:p>
          <a:p>
            <a:pPr marL="0" lvl="0" indent="0">
              <a:buNone/>
            </a:pPr>
            <a:endParaRPr/>
          </a:p>
          <a:p>
            <a:pPr lvl="1"/>
            <a:r>
              <a:t>Must be clear and specific</a:t>
            </a:r>
          </a:p>
          <a:p>
            <a:pPr marL="0" lvl="0" indent="0">
              <a:buNone/>
            </a:pPr>
            <a:endParaRPr/>
          </a:p>
          <a:p>
            <a:pPr lvl="1"/>
            <a:r>
              <a:t>Explains capabilities and domain</a:t>
            </a:r>
          </a:p>
          <a:p>
            <a:pPr marL="0" lvl="0" indent="0">
              <a:buNone/>
            </a:pPr>
            <a:endParaRPr/>
          </a:p>
          <a:p>
            <a:pPr lvl="1"/>
            <a:r>
              <a:t>Appears in agent selection UI</a:t>
            </a:r>
          </a:p>
          <a:p>
            <a:pPr marL="0" lvl="0" indent="0">
              <a:buNone/>
            </a:pPr>
            <a:endParaRPr/>
          </a:p>
          <a:p>
            <a:pPr lvl="1"/>
            <a:r>
              <a:t>1-2 sentence summary</a:t>
            </a:r>
          </a:p>
          <a:p>
            <a:pPr marL="0" lvl="0" indent="0">
              <a:buNone/>
            </a:pPr>
            <a:endParaRPr/>
          </a:p>
          <a:p>
            <a:pPr marL="342900" lvl="0" indent="-342900">
              <a:buAutoNum type="arabicPeriod"/>
            </a:pPr>
            <a:r>
              <a:rPr b="1"/>
              <a:t>tools</a:t>
            </a:r>
            <a:r>
              <a:t> (optional): Which tools agent can use</a:t>
            </a:r>
          </a:p>
          <a:p>
            <a:pPr marL="0" lvl="0" indent="0">
              <a:buNone/>
            </a:pPr>
            <a:endParaRPr/>
          </a:p>
          <a:p>
            <a:pPr lvl="1"/>
            <a:r>
              <a:t>Omit to enable ALL tools</a:t>
            </a:r>
          </a:p>
          <a:p>
            <a:pPr marL="0" lvl="0" indent="0">
              <a:buNone/>
            </a:pPr>
            <a:endParaRPr/>
          </a:p>
          <a:p>
            <a:pPr lvl="1"/>
            <a:r>
              <a:t>List specific tools to restrict access</a:t>
            </a:r>
          </a:p>
          <a:p>
            <a:pPr marL="0" lvl="0" indent="0">
              <a:buNone/>
            </a:pPr>
            <a:endParaRPr/>
          </a:p>
          <a:p>
            <a:pPr lvl="1"/>
            <a:r>
              <a:t>Format: </a:t>
            </a:r>
            <a:r>
              <a:rPr>
                <a:latin typeface="Courier"/>
              </a:rPr>
              <a:t>["tool1", "tool2", "mcp-server/tool3"]</a:t>
            </a:r>
          </a:p>
          <a:p>
            <a:pPr marL="0" lvl="0" indent="0">
              <a:buNone/>
            </a:pPr>
            <a:endParaRPr>
              <a:latin typeface="Courier"/>
            </a:endParaRPr>
          </a:p>
          <a:p>
            <a:pPr lvl="1"/>
            <a:r>
              <a:t>Common tools: read, edit, search, run, debug</a:t>
            </a:r>
          </a:p>
          <a:p>
            <a:pPr marL="0" lvl="0" indent="0">
              <a:buNone/>
            </a:pPr>
            <a:endParaRPr/>
          </a:p>
          <a:p>
            <a:pPr marL="342900" lvl="0" indent="-342900">
              <a:buAutoNum type="arabicPeriod"/>
            </a:pPr>
            <a:r>
              <a:rPr b="1"/>
              <a:t>model</a:t>
            </a:r>
            <a:r>
              <a:t> (IDE only): Which AI model to use</a:t>
            </a:r>
          </a:p>
          <a:p>
            <a:pPr marL="0" lvl="0" indent="0">
              <a:buNone/>
            </a:pPr>
            <a:endParaRPr/>
          </a:p>
          <a:p>
            <a:pPr lvl="1"/>
            <a:r>
              <a:t>Only works in VS Code, JetBrains, Eclipse, Xcode</a:t>
            </a:r>
          </a:p>
          <a:p>
            <a:pPr marL="0" lvl="0" indent="0">
              <a:buNone/>
            </a:pPr>
            <a:endParaRPr/>
          </a:p>
          <a:p>
            <a:pPr lvl="1"/>
            <a:r>
              <a:t>Examples: “gpt-4”, “gpt-3.5-turbo”, “claude-3-opus”</a:t>
            </a:r>
          </a:p>
          <a:p>
            <a:pPr marL="0" lvl="0" indent="0">
              <a:buNone/>
            </a:pPr>
            <a:endParaRPr/>
          </a:p>
          <a:p>
            <a:pPr lvl="1"/>
            <a:r>
              <a:t>Ignored on GitHub.com</a:t>
            </a:r>
          </a:p>
          <a:p>
            <a:pPr marL="0" lvl="0" indent="0">
              <a:buNone/>
            </a:pPr>
            <a:endParaRPr/>
          </a:p>
          <a:p>
            <a:pPr marL="342900" lvl="0" indent="-342900">
              <a:buAutoNum type="arabicPeriod"/>
            </a:pPr>
            <a:r>
              <a:rPr b="1"/>
              <a:t>target</a:t>
            </a:r>
            <a:r>
              <a:t> (optional): Environment restriction</a:t>
            </a:r>
          </a:p>
          <a:p>
            <a:pPr marL="0" lvl="0" indent="0">
              <a:buNone/>
            </a:pPr>
            <a:endParaRPr/>
          </a:p>
          <a:p>
            <a:pPr lvl="1"/>
            <a:r>
              <a:t>“vscode” = only in IDEs</a:t>
            </a:r>
          </a:p>
          <a:p>
            <a:pPr marL="0" lvl="0" indent="0">
              <a:buNone/>
            </a:pPr>
            <a:endParaRPr/>
          </a:p>
          <a:p>
            <a:pPr lvl="1"/>
            <a:r>
              <a:t>“github-copilot” = only on GitHub.com</a:t>
            </a:r>
          </a:p>
          <a:p>
            <a:pPr marL="0" lvl="0" indent="0">
              <a:buNone/>
            </a:pPr>
            <a:endParaRPr/>
          </a:p>
          <a:p>
            <a:pPr lvl="1"/>
            <a:r>
              <a:t>Omit = works everywhere</a:t>
            </a:r>
          </a:p>
          <a:p>
            <a:pPr marL="0" lvl="0" indent="0">
              <a:buNone/>
            </a:pPr>
            <a:endParaRPr/>
          </a:p>
          <a:p>
            <a:pPr marL="342900" lvl="0" indent="-342900">
              <a:buAutoNum type="arabicPeriod"/>
            </a:pPr>
            <a:r>
              <a:rPr b="1"/>
              <a:t>mcp-servers</a:t>
            </a:r>
            <a:r>
              <a:t> (org/enterprise only): Configure MCP servers for this agent</a:t>
            </a:r>
          </a:p>
          <a:p>
            <a:pPr marL="0" lvl="0" indent="0">
              <a:buNone/>
            </a:pPr>
            <a:endParaRPr/>
          </a:p>
          <a:p>
            <a:pPr marL="0" lvl="0" indent="0">
              <a:buNone/>
            </a:pPr>
            <a:r>
              <a:rPr b="1"/>
              <a:t>Markdown Content</a:t>
            </a:r>
            <a:r>
              <a:t> (The Agent’s “Brain”):</a:t>
            </a:r>
          </a:p>
          <a:p>
            <a:pPr marL="0" lvl="0" indent="0">
              <a:buNone/>
            </a:pPr>
            <a:endParaRPr/>
          </a:p>
          <a:p>
            <a:pPr lvl="0"/>
            <a:r>
              <a:t>Define personality and expertise</a:t>
            </a:r>
          </a:p>
          <a:p>
            <a:pPr marL="0" lvl="0" indent="0">
              <a:buNone/>
            </a:pPr>
            <a:endParaRPr/>
          </a:p>
          <a:p>
            <a:pPr lvl="0"/>
            <a:r>
              <a:t>Set boundaries and constraints</a:t>
            </a:r>
          </a:p>
          <a:p>
            <a:pPr marL="0" lvl="0" indent="0">
              <a:buNone/>
            </a:pPr>
            <a:endParaRPr/>
          </a:p>
          <a:p>
            <a:pPr lvl="0"/>
            <a:r>
              <a:t>Provide examples of good behavior</a:t>
            </a:r>
          </a:p>
          <a:p>
            <a:pPr marL="0" lvl="0" indent="0">
              <a:buNone/>
            </a:pPr>
            <a:endParaRPr/>
          </a:p>
          <a:p>
            <a:pPr lvl="0"/>
            <a:r>
              <a:t>Specify output formats</a:t>
            </a:r>
          </a:p>
          <a:p>
            <a:pPr marL="0" lvl="0" indent="0">
              <a:buNone/>
            </a:pPr>
            <a:endParaRPr/>
          </a:p>
          <a:p>
            <a:pPr lvl="0"/>
            <a:r>
              <a:t>Maximum 30,000 characters (plenty of space!)</a:t>
            </a:r>
          </a:p>
          <a:p>
            <a:pPr marL="0" lvl="0" indent="0">
              <a:buNone/>
            </a:pPr>
            <a:endParaRPr/>
          </a:p>
          <a:p>
            <a:pPr marL="0" lvl="0" indent="0">
              <a:buNone/>
            </a:pPr>
            <a:r>
              <a:rPr b="1"/>
              <a:t>Best Practices</a:t>
            </a:r>
            <a:r>
              <a:t>:</a:t>
            </a:r>
          </a:p>
          <a:p>
            <a:pPr marL="0" lvl="0" indent="0">
              <a:buNone/>
            </a:pPr>
            <a:endParaRPr/>
          </a:p>
          <a:p>
            <a:pPr lvl="0"/>
            <a:r>
              <a:t>Be specific about what the agent should AND shouldn’t do</a:t>
            </a:r>
          </a:p>
          <a:p>
            <a:pPr marL="0" lvl="0" indent="0">
              <a:buNone/>
            </a:pPr>
            <a:endParaRPr/>
          </a:p>
          <a:p>
            <a:pPr lvl="0"/>
            <a:r>
              <a:t>Include examples of desired behavior</a:t>
            </a:r>
          </a:p>
          <a:p>
            <a:pPr marL="0" lvl="0" indent="0">
              <a:buNone/>
            </a:pPr>
            <a:endParaRPr/>
          </a:p>
          <a:p>
            <a:pPr lvl="0"/>
            <a:r>
              <a:t>Mention file patterns or naming conventions</a:t>
            </a:r>
          </a:p>
          <a:p>
            <a:pPr marL="0" lvl="0" indent="0">
              <a:buNone/>
            </a:pPr>
            <a:endParaRPr/>
          </a:p>
          <a:p>
            <a:pPr lvl="0"/>
            <a:r>
              <a:t>Specify testing/validation requirements</a:t>
            </a:r>
          </a:p>
          <a:p>
            <a:pPr marL="0" lvl="0" indent="0">
              <a:buNone/>
            </a:pPr>
            <a:endParaRPr/>
          </a:p>
          <a:p>
            <a:pPr marL="0" lvl="0" indent="0">
              <a:buNone/>
            </a:pPr>
            <a:r>
              <a:rPr b="1"/>
              <a:t>Transition</a:t>
            </a:r>
            <a:r>
              <a:t>: “Let’s see what these instructions look like in real agent examples.”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3-4 minutes</a:t>
            </a:r>
          </a:p>
          <a:p>
            <a:pPr marL="0" lvl="0" indent="0">
              <a:buNone/>
            </a:pPr>
            <a:endParaRPr/>
          </a:p>
          <a:p>
            <a:pPr marL="0" lvl="0" indent="0">
              <a:buNone/>
            </a:pPr>
            <a:r>
              <a:rPr b="1"/>
              <a:t>Why This Example Works</a:t>
            </a:r>
            <a:r>
              <a:t>:</a:t>
            </a:r>
          </a:p>
          <a:p>
            <a:pPr marL="0" lvl="0" indent="0">
              <a:buNone/>
            </a:pPr>
            <a:endParaRPr/>
          </a:p>
          <a:p>
            <a:pPr marL="0" lvl="0" indent="0">
              <a:buNone/>
            </a:pPr>
            <a:r>
              <a:rPr b="1"/>
              <a:t>Clear Scope Definition</a:t>
            </a:r>
            <a:r>
              <a:t>:</a:t>
            </a:r>
          </a:p>
          <a:p>
            <a:pPr marL="0" lvl="0" indent="0">
              <a:buNone/>
            </a:pPr>
            <a:endParaRPr/>
          </a:p>
          <a:p>
            <a:pPr lvl="0"/>
            <a:r>
              <a:t>“Focuses on test coverage” - tells user what it does</a:t>
            </a:r>
          </a:p>
          <a:p>
            <a:pPr marL="0" lvl="0" indent="0">
              <a:buNone/>
            </a:pPr>
            <a:endParaRPr/>
          </a:p>
          <a:p>
            <a:pPr lvl="0"/>
            <a:r>
              <a:t>“Without modifying production code” - tells user what it WON’T do</a:t>
            </a:r>
          </a:p>
          <a:p>
            <a:pPr marL="0" lvl="0" indent="0">
              <a:buNone/>
            </a:pPr>
            <a:endParaRPr/>
          </a:p>
          <a:p>
            <a:pPr lvl="0"/>
            <a:r>
              <a:t>Sets clear boundaries to prevent scope creep</a:t>
            </a:r>
          </a:p>
          <a:p>
            <a:pPr marL="0" lvl="0" indent="0">
              <a:buNone/>
            </a:pPr>
            <a:endParaRPr/>
          </a:p>
          <a:p>
            <a:pPr marL="0" lvl="0" indent="0">
              <a:buNone/>
            </a:pPr>
            <a:r>
              <a:rPr b="1"/>
              <a:t>Specific Responsibilities</a:t>
            </a:r>
            <a:r>
              <a:t>:</a:t>
            </a:r>
          </a:p>
          <a:p>
            <a:pPr marL="0" lvl="0" indent="0">
              <a:buNone/>
            </a:pPr>
            <a:endParaRPr/>
          </a:p>
          <a:p>
            <a:pPr marL="342900" lvl="0" indent="-342900">
              <a:buAutoNum type="arabicPeriod"/>
            </a:pPr>
            <a:r>
              <a:t>“Analyze existing tests” - audit capability</a:t>
            </a:r>
          </a:p>
          <a:p>
            <a:pPr marL="0" lvl="0" indent="0">
              <a:buNone/>
            </a:pPr>
            <a:endParaRPr/>
          </a:p>
          <a:p>
            <a:pPr marL="342900" lvl="0" indent="-342900">
              <a:buAutoNum type="arabicPeriod"/>
            </a:pPr>
            <a:r>
              <a:t>“Write unit/integration/e2e tests” - creation capability</a:t>
            </a:r>
          </a:p>
          <a:p>
            <a:pPr marL="0" lvl="0" indent="0">
              <a:buNone/>
            </a:pPr>
            <a:endParaRPr/>
          </a:p>
          <a:p>
            <a:pPr marL="342900" lvl="0" indent="-342900">
              <a:buAutoNum type="arabicPeriod"/>
            </a:pPr>
            <a:r>
              <a:t>“Review test quality” - critique capability</a:t>
            </a:r>
          </a:p>
          <a:p>
            <a:pPr marL="0" lvl="0" indent="0">
              <a:buNone/>
            </a:pPr>
            <a:endParaRPr/>
          </a:p>
          <a:p>
            <a:pPr marL="342900" lvl="0" indent="-342900">
              <a:buAutoNum type="arabicPeriod"/>
            </a:pPr>
            <a:r>
              <a:t>“Ensure tests are isolated” - quality standards</a:t>
            </a:r>
          </a:p>
          <a:p>
            <a:pPr marL="0" lvl="0" indent="0">
              <a:buNone/>
            </a:pPr>
            <a:endParaRPr/>
          </a:p>
          <a:p>
            <a:pPr marL="342900" lvl="0" indent="-342900">
              <a:buAutoNum type="arabicPeriod"/>
            </a:pPr>
            <a:r>
              <a:t>“Focus only on test files” - reinforces boundary</a:t>
            </a:r>
          </a:p>
          <a:p>
            <a:pPr marL="0" lvl="0" indent="0">
              <a:buNone/>
            </a:pPr>
            <a:endParaRPr/>
          </a:p>
          <a:p>
            <a:pPr marL="0" lvl="0" indent="0">
              <a:buNone/>
            </a:pPr>
            <a:r>
              <a:rPr b="1"/>
              <a:t>Behavioral Constraints</a:t>
            </a:r>
            <a:r>
              <a:t>:</a:t>
            </a:r>
          </a:p>
          <a:p>
            <a:pPr marL="0" lvl="0" indent="0">
              <a:buNone/>
            </a:pPr>
            <a:endParaRPr/>
          </a:p>
          <a:p>
            <a:pPr lvl="0"/>
            <a:r>
              <a:t>“Focus only on test files” - prevents the agent from refactoring production code</a:t>
            </a:r>
          </a:p>
          <a:p>
            <a:pPr marL="0" lvl="0" indent="0">
              <a:buNone/>
            </a:pPr>
            <a:endParaRPr/>
          </a:p>
          <a:p>
            <a:pPr lvl="0"/>
            <a:r>
              <a:t>“Avoid modifying production code unless specifically requested” - allows override when needed</a:t>
            </a:r>
          </a:p>
          <a:p>
            <a:pPr marL="0" lvl="0" indent="0">
              <a:buNone/>
            </a:pPr>
            <a:endParaRPr/>
          </a:p>
          <a:p>
            <a:pPr marL="0" lvl="0" indent="0">
              <a:buNone/>
            </a:pPr>
            <a:r>
              <a:rPr b="1"/>
              <a:t>Quality Standards</a:t>
            </a:r>
            <a:r>
              <a:t>:</a:t>
            </a:r>
          </a:p>
          <a:p>
            <a:pPr marL="0" lvl="0" indent="0">
              <a:buNone/>
            </a:pPr>
            <a:endParaRPr/>
          </a:p>
          <a:p>
            <a:pPr lvl="0"/>
            <a:r>
              <a:t>“Isolated” - no shared state between tests</a:t>
            </a:r>
          </a:p>
          <a:p>
            <a:pPr marL="0" lvl="0" indent="0">
              <a:buNone/>
            </a:pPr>
            <a:endParaRPr/>
          </a:p>
          <a:p>
            <a:pPr lvl="0"/>
            <a:r>
              <a:t>“Deterministic” - same input = same output</a:t>
            </a:r>
          </a:p>
          <a:p>
            <a:pPr marL="0" lvl="0" indent="0">
              <a:buNone/>
            </a:pPr>
            <a:endParaRPr/>
          </a:p>
          <a:p>
            <a:pPr lvl="0"/>
            <a:r>
              <a:t>“Well-documented” - clear descriptions and comments</a:t>
            </a:r>
          </a:p>
          <a:p>
            <a:pPr marL="0" lvl="0" indent="0">
              <a:buNone/>
            </a:pPr>
            <a:endParaRPr/>
          </a:p>
          <a:p>
            <a:pPr marL="0" lvl="0" indent="0">
              <a:buNone/>
            </a:pPr>
            <a:r>
              <a:rPr b="1"/>
              <a:t>Pattern Recognition</a:t>
            </a:r>
            <a:r>
              <a:t>:</a:t>
            </a:r>
          </a:p>
          <a:p>
            <a:pPr marL="0" lvl="0" indent="0">
              <a:buNone/>
            </a:pPr>
            <a:endParaRPr/>
          </a:p>
          <a:p>
            <a:pPr lvl="0"/>
            <a:r>
              <a:t>“Use appropriate testing patterns for the language and framework”</a:t>
            </a:r>
          </a:p>
          <a:p>
            <a:pPr marL="0" lvl="0" indent="0">
              <a:buNone/>
            </a:pPr>
            <a:endParaRPr/>
          </a:p>
          <a:p>
            <a:pPr lvl="0"/>
            <a:r>
              <a:t>Agent will adapt to Jest, pytest, JUnit, etc.</a:t>
            </a:r>
          </a:p>
          <a:p>
            <a:pPr marL="0" lvl="0" indent="0">
              <a:buNone/>
            </a:pPr>
            <a:endParaRPr/>
          </a:p>
          <a:p>
            <a:pPr marL="0" lvl="0" indent="0">
              <a:buNone/>
            </a:pPr>
            <a:r>
              <a:rPr b="1"/>
              <a:t>Usage Scenarios</a:t>
            </a:r>
            <a:r>
              <a:t>:</a:t>
            </a:r>
          </a:p>
          <a:p>
            <a:pPr marL="0" lvl="0" indent="0">
              <a:buNone/>
            </a:pPr>
            <a:endParaRPr/>
          </a:p>
          <a:p>
            <a:pPr lvl="0"/>
            <a:r>
              <a:t>Adding tests to legacy code</a:t>
            </a:r>
          </a:p>
          <a:p>
            <a:pPr marL="0" lvl="0" indent="0">
              <a:buNone/>
            </a:pPr>
            <a:endParaRPr/>
          </a:p>
          <a:p>
            <a:pPr lvl="0"/>
            <a:r>
              <a:t>Improving test coverage metrics</a:t>
            </a:r>
          </a:p>
          <a:p>
            <a:pPr marL="0" lvl="0" indent="0">
              <a:buNone/>
            </a:pPr>
            <a:endParaRPr/>
          </a:p>
          <a:p>
            <a:pPr lvl="0"/>
            <a:r>
              <a:t>Reviewing PR test quality</a:t>
            </a:r>
          </a:p>
          <a:p>
            <a:pPr marL="0" lvl="0" indent="0">
              <a:buNone/>
            </a:pPr>
            <a:endParaRPr/>
          </a:p>
          <a:p>
            <a:pPr lvl="0"/>
            <a:r>
              <a:t>Learning testing best practices</a:t>
            </a:r>
          </a:p>
          <a:p>
            <a:pPr marL="0" lvl="0" indent="0">
              <a:buNone/>
            </a:pPr>
            <a:endParaRPr/>
          </a:p>
          <a:p>
            <a:pPr marL="0" lvl="0" indent="0">
              <a:buNone/>
            </a:pPr>
            <a:r>
              <a:rPr b="1"/>
              <a:t>Customization Ideas</a:t>
            </a:r>
            <a:r>
              <a:t>:</a:t>
            </a:r>
          </a:p>
          <a:p>
            <a:pPr marL="0" lvl="0" indent="0">
              <a:buNone/>
            </a:pPr>
            <a:endParaRPr/>
          </a:p>
          <a:p>
            <a:pPr lvl="0"/>
            <a:r>
              <a:t>Add specific test frameworks to use</a:t>
            </a:r>
          </a:p>
          <a:p>
            <a:pPr marL="0" lvl="0" indent="0">
              <a:buNone/>
            </a:pPr>
            <a:endParaRPr/>
          </a:p>
          <a:p>
            <a:pPr lvl="0"/>
            <a:r>
              <a:t>Include code coverage thresholds</a:t>
            </a:r>
          </a:p>
          <a:p>
            <a:pPr marL="0" lvl="0" indent="0">
              <a:buNone/>
            </a:pPr>
            <a:endParaRPr/>
          </a:p>
          <a:p>
            <a:pPr lvl="0"/>
            <a:r>
              <a:t>Specify test naming conventions</a:t>
            </a:r>
          </a:p>
          <a:p>
            <a:pPr marL="0" lvl="0" indent="0">
              <a:buNone/>
            </a:pPr>
            <a:endParaRPr/>
          </a:p>
          <a:p>
            <a:pPr lvl="0"/>
            <a:r>
              <a:t>Add mutation testing requirements</a:t>
            </a:r>
          </a:p>
          <a:p>
            <a:pPr marL="0" lvl="0" indent="0">
              <a:buNone/>
            </a:pPr>
            <a:endParaRPr/>
          </a:p>
          <a:p>
            <a:pPr marL="0" lvl="0" indent="0">
              <a:buNone/>
            </a:pPr>
            <a:r>
              <a:rPr b="1"/>
              <a:t>Common Question</a:t>
            </a:r>
            <a:r>
              <a:t>: “Why not enable all tools?” </a:t>
            </a:r>
            <a:r>
              <a:rPr b="1"/>
              <a:t>Answer</a:t>
            </a:r>
            <a:r>
              <a:t>: Not specified here, so all tools are available. But you might restrict to [“read”, “edit”] to prevent running or deploying.</a:t>
            </a:r>
          </a:p>
          <a:p>
            <a:pPr marL="0" lvl="0" indent="0">
              <a:buNone/>
            </a:pPr>
            <a:endParaRPr/>
          </a:p>
          <a:p>
            <a:pPr marL="0" lvl="0" indent="0">
              <a:buNone/>
            </a:pPr>
            <a:r>
              <a:rPr b="1"/>
              <a:t>Transition</a:t>
            </a:r>
            <a:r>
              <a:t>: “Here’s another example that shows a different use case - planning instead of coding.”</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3-4 minutes</a:t>
            </a:r>
          </a:p>
          <a:p>
            <a:pPr marL="0" lvl="0" indent="0">
              <a:buNone/>
            </a:pPr>
            <a:endParaRPr/>
          </a:p>
          <a:p>
            <a:pPr marL="0" lvl="0" indent="0">
              <a:buNone/>
            </a:pPr>
            <a:r>
              <a:rPr b="1"/>
              <a:t>Strategic Difference from Test Specialist</a:t>
            </a:r>
            <a:r>
              <a:t>:</a:t>
            </a:r>
          </a:p>
          <a:p>
            <a:pPr marL="0" lvl="0" indent="0">
              <a:buNone/>
            </a:pPr>
            <a:endParaRPr/>
          </a:p>
          <a:p>
            <a:pPr marL="0" lvl="0" indent="0">
              <a:buNone/>
            </a:pPr>
            <a:r>
              <a:rPr b="1"/>
              <a:t>Tools Restriction</a:t>
            </a:r>
            <a:r>
              <a:t>:</a:t>
            </a:r>
          </a:p>
          <a:p>
            <a:pPr marL="0" lvl="0" indent="0">
              <a:buNone/>
            </a:pPr>
            <a:endParaRPr/>
          </a:p>
          <a:p>
            <a:pPr lvl="0"/>
            <a:r>
              <a:t>Only </a:t>
            </a:r>
            <a:r>
              <a:rPr>
                <a:latin typeface="Courier"/>
              </a:rPr>
              <a:t>["read", "search", "edit"]</a:t>
            </a:r>
            <a:r>
              <a:t> enabled</a:t>
            </a:r>
          </a:p>
          <a:p>
            <a:pPr marL="0" lvl="0" indent="0">
              <a:buNone/>
            </a:pPr>
            <a:endParaRPr/>
          </a:p>
          <a:p>
            <a:pPr lvl="0"/>
            <a:r>
              <a:t>NOT “run” or “debug” - this agent doesn’t execute code</a:t>
            </a:r>
          </a:p>
          <a:p>
            <a:pPr marL="0" lvl="0" indent="0">
              <a:buNone/>
            </a:pPr>
            <a:endParaRPr/>
          </a:p>
          <a:p>
            <a:pPr lvl="0"/>
            <a:r>
              <a:t>NOT “shell” - doesn’t deploy or build</a:t>
            </a:r>
          </a:p>
          <a:p>
            <a:pPr marL="0" lvl="0" indent="0">
              <a:buNone/>
            </a:pPr>
            <a:endParaRPr/>
          </a:p>
          <a:p>
            <a:pPr lvl="0"/>
            <a:r>
              <a:t>Enforces its role as a planner, not implementer</a:t>
            </a:r>
          </a:p>
          <a:p>
            <a:pPr marL="0" lvl="0" indent="0">
              <a:buNone/>
            </a:pPr>
            <a:endParaRPr/>
          </a:p>
          <a:p>
            <a:pPr marL="0" lvl="0" indent="0">
              <a:buNone/>
            </a:pPr>
            <a:r>
              <a:rPr b="1"/>
              <a:t>Planning-Specific Responsibilities</a:t>
            </a:r>
            <a:r>
              <a:t>:</a:t>
            </a:r>
          </a:p>
          <a:p>
            <a:pPr marL="0" lvl="0" indent="0">
              <a:buNone/>
            </a:pPr>
            <a:endParaRPr/>
          </a:p>
          <a:p>
            <a:pPr marL="342900" lvl="0" indent="-342900">
              <a:buAutoNum type="arabicPeriod"/>
            </a:pPr>
            <a:r>
              <a:t>“Analyze requirements” - requirements engineering</a:t>
            </a:r>
          </a:p>
          <a:p>
            <a:pPr marL="0" lvl="0" indent="0">
              <a:buNone/>
            </a:pPr>
            <a:endParaRPr/>
          </a:p>
          <a:p>
            <a:pPr marL="342900" lvl="0" indent="-342900">
              <a:buAutoNum type="arabicPeriod"/>
            </a:pPr>
            <a:r>
              <a:t>“Break them into actionable tasks” - work breakdown</a:t>
            </a:r>
          </a:p>
          <a:p>
            <a:pPr marL="0" lvl="0" indent="0">
              <a:buNone/>
            </a:pPr>
            <a:endParaRPr/>
          </a:p>
          <a:p>
            <a:pPr marL="342900" lvl="0" indent="-342900">
              <a:buAutoNum type="arabicPeriod"/>
            </a:pPr>
            <a:r>
              <a:t>“Technical specs and architecture docs” - documentation focus</a:t>
            </a:r>
          </a:p>
          <a:p>
            <a:pPr marL="0" lvl="0" indent="0">
              <a:buNone/>
            </a:pPr>
            <a:endParaRPr/>
          </a:p>
          <a:p>
            <a:pPr marL="342900" lvl="0" indent="-342900">
              <a:buAutoNum type="arabicPeriod"/>
            </a:pPr>
            <a:r>
              <a:t>“Implementation plans with dependencies” - sequencing and scheduling</a:t>
            </a:r>
          </a:p>
          <a:p>
            <a:pPr marL="0" lvl="0" indent="0">
              <a:buNone/>
            </a:pPr>
            <a:endParaRPr/>
          </a:p>
          <a:p>
            <a:pPr marL="342900" lvl="0" indent="-342900">
              <a:buAutoNum type="arabicPeriod"/>
            </a:pPr>
            <a:r>
              <a:t>“API designs, data models” - interface definition</a:t>
            </a:r>
          </a:p>
          <a:p>
            <a:pPr marL="0" lvl="0" indent="0">
              <a:buNone/>
            </a:pPr>
            <a:endParaRPr/>
          </a:p>
          <a:p>
            <a:pPr marL="0" lvl="0" indent="0">
              <a:buNone/>
            </a:pPr>
            <a:r>
              <a:rPr b="1"/>
              <a:t>Output Format</a:t>
            </a:r>
            <a:r>
              <a:t>:</a:t>
            </a:r>
          </a:p>
          <a:p>
            <a:pPr marL="0" lvl="0" indent="0">
              <a:buNone/>
            </a:pPr>
            <a:endParaRPr/>
          </a:p>
          <a:p>
            <a:pPr lvl="0"/>
            <a:r>
              <a:t>“Markdown format” - specified in description</a:t>
            </a:r>
          </a:p>
          <a:p>
            <a:pPr marL="0" lvl="0" indent="0">
              <a:buNone/>
            </a:pPr>
            <a:endParaRPr/>
          </a:p>
          <a:p>
            <a:pPr lvl="0"/>
            <a:r>
              <a:t>“Markdown files that development teams can follow” - artifact focus</a:t>
            </a:r>
          </a:p>
          <a:p>
            <a:pPr marL="0" lvl="0" indent="0">
              <a:buNone/>
            </a:pPr>
            <a:endParaRPr/>
          </a:p>
          <a:p>
            <a:pPr lvl="0"/>
            <a:r>
              <a:t>“Clear headings, task breakdowns” - structure requirements</a:t>
            </a:r>
          </a:p>
          <a:p>
            <a:pPr marL="0" lvl="0" indent="0">
              <a:buNone/>
            </a:pPr>
            <a:endParaRPr/>
          </a:p>
          <a:p>
            <a:pPr marL="0" lvl="0" indent="0">
              <a:buNone/>
            </a:pPr>
            <a:r>
              <a:rPr b="1"/>
              <a:t>Non-Code Focus</a:t>
            </a:r>
            <a:r>
              <a:t>:</a:t>
            </a:r>
          </a:p>
          <a:p>
            <a:pPr marL="0" lvl="0" indent="0">
              <a:buNone/>
            </a:pPr>
            <a:endParaRPr/>
          </a:p>
          <a:p>
            <a:pPr lvl="0"/>
            <a:r>
              <a:t>“Focus on thorough documentation rather than implementing code”</a:t>
            </a:r>
          </a:p>
          <a:p>
            <a:pPr marL="0" lvl="0" indent="0">
              <a:buNone/>
            </a:pPr>
            <a:endParaRPr/>
          </a:p>
          <a:p>
            <a:pPr lvl="0"/>
            <a:r>
              <a:t>Critical boundary: this agent designs but doesn’t build</a:t>
            </a:r>
          </a:p>
          <a:p>
            <a:pPr marL="0" lvl="0" indent="0">
              <a:buNone/>
            </a:pPr>
            <a:endParaRPr/>
          </a:p>
          <a:p>
            <a:pPr lvl="0"/>
            <a:r>
              <a:t>Prevents mixing planning and implementation concerns</a:t>
            </a:r>
          </a:p>
          <a:p>
            <a:pPr marL="0" lvl="0" indent="0">
              <a:buNone/>
            </a:pPr>
            <a:endParaRPr/>
          </a:p>
          <a:p>
            <a:pPr marL="0" lvl="0" indent="0">
              <a:buNone/>
            </a:pPr>
            <a:r>
              <a:rPr b="1"/>
              <a:t>When to Use This Agent</a:t>
            </a:r>
            <a:r>
              <a:t>:</a:t>
            </a:r>
          </a:p>
          <a:p>
            <a:pPr marL="0" lvl="0" indent="0">
              <a:buNone/>
            </a:pPr>
            <a:endParaRPr/>
          </a:p>
          <a:p>
            <a:pPr lvl="0"/>
            <a:r>
              <a:t>Starting new features or projects</a:t>
            </a:r>
          </a:p>
          <a:p>
            <a:pPr marL="0" lvl="0" indent="0">
              <a:buNone/>
            </a:pPr>
            <a:endParaRPr/>
          </a:p>
          <a:p>
            <a:pPr lvl="0"/>
            <a:r>
              <a:t>Architectural decision records (ADRs)</a:t>
            </a:r>
          </a:p>
          <a:p>
            <a:pPr marL="0" lvl="0" indent="0">
              <a:buNone/>
            </a:pPr>
            <a:endParaRPr/>
          </a:p>
          <a:p>
            <a:pPr lvl="0"/>
            <a:r>
              <a:t>Epic and story breakdown</a:t>
            </a:r>
          </a:p>
          <a:p>
            <a:pPr marL="0" lvl="0" indent="0">
              <a:buNone/>
            </a:pPr>
            <a:endParaRPr/>
          </a:p>
          <a:p>
            <a:pPr lvl="0"/>
            <a:r>
              <a:t>Technical RFCs</a:t>
            </a:r>
          </a:p>
          <a:p>
            <a:pPr marL="0" lvl="0" indent="0">
              <a:buNone/>
            </a:pPr>
            <a:endParaRPr/>
          </a:p>
          <a:p>
            <a:pPr lvl="0"/>
            <a:r>
              <a:t>Onboarding documentation</a:t>
            </a:r>
          </a:p>
          <a:p>
            <a:pPr marL="0" lvl="0" indent="0">
              <a:buNone/>
            </a:pPr>
            <a:endParaRPr/>
          </a:p>
          <a:p>
            <a:pPr lvl="0"/>
            <a:r>
              <a:t>Migration plans</a:t>
            </a:r>
          </a:p>
          <a:p>
            <a:pPr marL="0" lvl="0" indent="0">
              <a:buNone/>
            </a:pPr>
            <a:endParaRPr/>
          </a:p>
          <a:p>
            <a:pPr marL="0" lvl="0" indent="0">
              <a:buNone/>
            </a:pPr>
            <a:r>
              <a:rPr b="1"/>
              <a:t>Output Examples</a:t>
            </a:r>
            <a:r>
              <a:t>:</a:t>
            </a:r>
          </a:p>
          <a:p>
            <a:pPr marL="0" lvl="0" indent="0">
              <a:buNone/>
            </a:pPr>
            <a:endParaRPr/>
          </a:p>
          <a:p>
            <a:pPr lvl="0"/>
            <a:r>
              <a:rPr>
                <a:latin typeface="Courier"/>
              </a:rPr>
              <a:t>IMPLEMENTATION_PLAN.md</a:t>
            </a:r>
            <a:r>
              <a:t> with tasks and timeline</a:t>
            </a:r>
          </a:p>
          <a:p>
            <a:pPr marL="0" lvl="0" indent="0">
              <a:buNone/>
            </a:pPr>
            <a:endParaRPr/>
          </a:p>
          <a:p>
            <a:pPr lvl="0"/>
            <a:r>
              <a:rPr>
                <a:latin typeface="Courier"/>
              </a:rPr>
              <a:t>ARCHITECTURE.md</a:t>
            </a:r>
            <a:r>
              <a:t> with system design</a:t>
            </a:r>
          </a:p>
          <a:p>
            <a:pPr marL="0" lvl="0" indent="0">
              <a:buNone/>
            </a:pPr>
            <a:endParaRPr/>
          </a:p>
          <a:p>
            <a:pPr lvl="0"/>
            <a:r>
              <a:rPr>
                <a:latin typeface="Courier"/>
              </a:rPr>
              <a:t>API_SPEC.md</a:t>
            </a:r>
            <a:r>
              <a:t> with endpoint definitions</a:t>
            </a:r>
          </a:p>
          <a:p>
            <a:pPr marL="0" lvl="0" indent="0">
              <a:buNone/>
            </a:pPr>
            <a:endParaRPr/>
          </a:p>
          <a:p>
            <a:pPr lvl="0"/>
            <a:r>
              <a:rPr>
                <a:latin typeface="Courier"/>
              </a:rPr>
              <a:t>DATA_MODEL.md</a:t>
            </a:r>
            <a:r>
              <a:t> with schema definitions</a:t>
            </a:r>
          </a:p>
          <a:p>
            <a:pPr marL="0" lvl="0" indent="0">
              <a:buNone/>
            </a:pPr>
            <a:endParaRPr/>
          </a:p>
          <a:p>
            <a:pPr marL="0" lvl="0" indent="0">
              <a:buNone/>
            </a:pPr>
            <a:r>
              <a:rPr b="1"/>
              <a:t>Team Benefits</a:t>
            </a:r>
            <a:r>
              <a:t>:</a:t>
            </a:r>
          </a:p>
          <a:p>
            <a:pPr marL="0" lvl="0" indent="0">
              <a:buNone/>
            </a:pPr>
            <a:endParaRPr/>
          </a:p>
          <a:p>
            <a:pPr lvl="0"/>
            <a:r>
              <a:t>Consistent planning documentation format</a:t>
            </a:r>
          </a:p>
          <a:p>
            <a:pPr marL="0" lvl="0" indent="0">
              <a:buNone/>
            </a:pPr>
            <a:endParaRPr/>
          </a:p>
          <a:p>
            <a:pPr lvl="0"/>
            <a:r>
              <a:t>Separation of planning from coding</a:t>
            </a:r>
          </a:p>
          <a:p>
            <a:pPr marL="0" lvl="0" indent="0">
              <a:buNone/>
            </a:pPr>
            <a:endParaRPr/>
          </a:p>
          <a:p>
            <a:pPr lvl="0"/>
            <a:r>
              <a:t>Better task estimation</a:t>
            </a:r>
          </a:p>
          <a:p>
            <a:pPr marL="0" lvl="0" indent="0">
              <a:buNone/>
            </a:pPr>
            <a:endParaRPr/>
          </a:p>
          <a:p>
            <a:pPr lvl="0"/>
            <a:r>
              <a:t>Clear acceptance criteria</a:t>
            </a:r>
          </a:p>
          <a:p>
            <a:pPr marL="0" lvl="0" indent="0">
              <a:buNone/>
            </a:pPr>
            <a:endParaRPr/>
          </a:p>
          <a:p>
            <a:pPr lvl="0"/>
            <a:r>
              <a:t>Risk identification upfront</a:t>
            </a:r>
          </a:p>
          <a:p>
            <a:pPr marL="0" lvl="0" indent="0">
              <a:buNone/>
            </a:pPr>
            <a:endParaRPr/>
          </a:p>
          <a:p>
            <a:pPr marL="0" lvl="0" indent="0">
              <a:buNone/>
            </a:pPr>
            <a:r>
              <a:rPr b="1"/>
              <a:t>Customization Ideas</a:t>
            </a:r>
            <a:r>
              <a:t>:</a:t>
            </a:r>
          </a:p>
          <a:p>
            <a:pPr marL="0" lvl="0" indent="0">
              <a:buNone/>
            </a:pPr>
            <a:endParaRPr/>
          </a:p>
          <a:p>
            <a:pPr lvl="0"/>
            <a:r>
              <a:t>Add specific template sections</a:t>
            </a:r>
          </a:p>
          <a:p>
            <a:pPr marL="0" lvl="0" indent="0">
              <a:buNone/>
            </a:pPr>
            <a:endParaRPr/>
          </a:p>
          <a:p>
            <a:pPr lvl="0"/>
            <a:r>
              <a:t>Include estimation guidance</a:t>
            </a:r>
          </a:p>
          <a:p>
            <a:pPr marL="0" lvl="0" indent="0">
              <a:buNone/>
            </a:pPr>
            <a:endParaRPr/>
          </a:p>
          <a:p>
            <a:pPr lvl="0"/>
            <a:r>
              <a:t>Specify diagram types (C4, sequence, etc.)</a:t>
            </a:r>
          </a:p>
          <a:p>
            <a:pPr marL="0" lvl="0" indent="0">
              <a:buNone/>
            </a:pPr>
            <a:endParaRPr/>
          </a:p>
          <a:p>
            <a:pPr lvl="0"/>
            <a:r>
              <a:t>Add stakeholder communication sections</a:t>
            </a:r>
          </a:p>
          <a:p>
            <a:pPr marL="0" lvl="0" indent="0">
              <a:buNone/>
            </a:pPr>
            <a:endParaRPr/>
          </a:p>
          <a:p>
            <a:pPr marL="0" lvl="0" indent="0">
              <a:buNone/>
            </a:pPr>
            <a:r>
              <a:rPr b="1"/>
              <a:t>Comparison to Test Specialist</a:t>
            </a:r>
            <a:r>
              <a:t>:</a:t>
            </a:r>
          </a:p>
          <a:p>
            <a:pPr marL="0" lvl="0" indent="0">
              <a:buNone/>
            </a:pPr>
            <a:endParaRPr/>
          </a:p>
          <a:p>
            <a:pPr lvl="0"/>
            <a:r>
              <a:t>Test Specialist: All tools, focused on test files</a:t>
            </a:r>
          </a:p>
          <a:p>
            <a:pPr marL="0" lvl="0" indent="0">
              <a:buNone/>
            </a:pPr>
            <a:endParaRPr/>
          </a:p>
          <a:p>
            <a:pPr lvl="0"/>
            <a:r>
              <a:t>Implementation Planner: Limited tools, focused on documentation</a:t>
            </a:r>
          </a:p>
          <a:p>
            <a:pPr marL="0" lvl="0" indent="0">
              <a:buNone/>
            </a:pPr>
            <a:endParaRPr/>
          </a:p>
          <a:p>
            <a:pPr marL="0" lvl="0" indent="0">
              <a:buNone/>
            </a:pPr>
            <a:r>
              <a:rPr b="1"/>
              <a:t>Transition</a:t>
            </a:r>
            <a:r>
              <a:t>: “These examples show two very different agent types. Now let’s learn how to actually use custom agents once they’re created.”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4-5 minutes</a:t>
            </a:r>
          </a:p>
          <a:p>
            <a:pPr marL="0" lvl="0" indent="0">
              <a:buNone/>
            </a:pPr>
            <a:endParaRPr/>
          </a:p>
          <a:p>
            <a:pPr marL="0" lvl="0" indent="0">
              <a:buNone/>
            </a:pPr>
            <a:r>
              <a:rPr b="1"/>
              <a:t>GitHub.com Usage</a:t>
            </a:r>
            <a:r>
              <a:t>:</a:t>
            </a:r>
          </a:p>
          <a:p>
            <a:pPr marL="0" lvl="0" indent="0">
              <a:buNone/>
            </a:pPr>
            <a:endParaRPr/>
          </a:p>
          <a:p>
            <a:pPr marL="0" lvl="0" indent="0">
              <a:buNone/>
            </a:pPr>
            <a:r>
              <a:rPr b="1"/>
              <a:t>Agents Panel Workflow</a:t>
            </a:r>
            <a:r>
              <a:t>:</a:t>
            </a:r>
          </a:p>
          <a:p>
            <a:pPr marL="0" lvl="0" indent="0">
              <a:buNone/>
            </a:pPr>
            <a:endParaRPr/>
          </a:p>
          <a:p>
            <a:pPr marL="342900" lvl="0" indent="-342900">
              <a:buAutoNum type="arabicPeriod"/>
            </a:pPr>
            <a:r>
              <a:t>Open Copilot agents panel or tab</a:t>
            </a:r>
          </a:p>
          <a:p>
            <a:pPr marL="0" lvl="0" indent="0">
              <a:buNone/>
            </a:pPr>
            <a:endParaRPr/>
          </a:p>
          <a:p>
            <a:pPr marL="342900" lvl="0" indent="-342900">
              <a:buAutoNum type="arabicPeriod"/>
            </a:pPr>
            <a:r>
              <a:t>Click dropdown (currently shows “Coding Agent”)</a:t>
            </a:r>
          </a:p>
          <a:p>
            <a:pPr marL="0" lvl="0" indent="0">
              <a:buNone/>
            </a:pPr>
            <a:endParaRPr/>
          </a:p>
          <a:p>
            <a:pPr marL="342900" lvl="0" indent="-342900">
              <a:buAutoNum type="arabicPeriod"/>
            </a:pPr>
            <a:r>
              <a:t>Select your custom agent from list</a:t>
            </a:r>
          </a:p>
          <a:p>
            <a:pPr marL="0" lvl="0" indent="0">
              <a:buNone/>
            </a:pPr>
            <a:endParaRPr/>
          </a:p>
          <a:p>
            <a:pPr marL="342900" lvl="0" indent="-342900">
              <a:buAutoNum type="arabicPeriod"/>
            </a:pPr>
            <a:r>
              <a:t>Enter your prompt or task</a:t>
            </a:r>
          </a:p>
          <a:p>
            <a:pPr marL="0" lvl="0" indent="0">
              <a:buNone/>
            </a:pPr>
            <a:endParaRPr/>
          </a:p>
          <a:p>
            <a:pPr marL="342900" lvl="0" indent="-342900">
              <a:buAutoNum type="arabicPeriod"/>
            </a:pPr>
            <a:r>
              <a:t>Agent works within its configured scope</a:t>
            </a:r>
          </a:p>
          <a:p>
            <a:pPr marL="0" lvl="0" indent="0">
              <a:buNone/>
            </a:pPr>
            <a:endParaRPr/>
          </a:p>
          <a:p>
            <a:pPr marL="0" lvl="0" indent="0">
              <a:buNone/>
            </a:pPr>
            <a:r>
              <a:rPr b="1"/>
              <a:t>Issue Assignment</a:t>
            </a:r>
            <a:r>
              <a:t>:</a:t>
            </a:r>
          </a:p>
          <a:p>
            <a:pPr marL="0" lvl="0" indent="0">
              <a:buNone/>
            </a:pPr>
            <a:endParaRPr/>
          </a:p>
          <a:p>
            <a:pPr lvl="0"/>
            <a:r>
              <a:t>Assign Copilot to an issue</a:t>
            </a:r>
          </a:p>
          <a:p>
            <a:pPr marL="0" lvl="0" indent="0">
              <a:buNone/>
            </a:pPr>
            <a:endParaRPr/>
          </a:p>
          <a:p>
            <a:pPr lvl="0"/>
            <a:r>
              <a:t>Choose custom agent from dropdown</a:t>
            </a:r>
          </a:p>
          <a:p>
            <a:pPr marL="0" lvl="0" indent="0">
              <a:buNone/>
            </a:pPr>
            <a:endParaRPr/>
          </a:p>
          <a:p>
            <a:pPr lvl="0"/>
            <a:r>
              <a:t>Agent follows its specialized instructions</a:t>
            </a:r>
          </a:p>
          <a:p>
            <a:pPr marL="0" lvl="0" indent="0">
              <a:buNone/>
            </a:pPr>
            <a:endParaRPr/>
          </a:p>
          <a:p>
            <a:pPr lvl="0"/>
            <a:r>
              <a:t>Great for repetitive tasks (bug triage, documentation updates)</a:t>
            </a:r>
          </a:p>
          <a:p>
            <a:pPr marL="0" lvl="0" indent="0">
              <a:buNone/>
            </a:pPr>
            <a:endParaRPr/>
          </a:p>
          <a:p>
            <a:pPr marL="0" lvl="0" indent="0">
              <a:buNone/>
            </a:pPr>
            <a:r>
              <a:rPr b="1"/>
              <a:t>PR Tracking</a:t>
            </a:r>
            <a:r>
              <a:t>:</a:t>
            </a:r>
          </a:p>
          <a:p>
            <a:pPr marL="0" lvl="0" indent="0">
              <a:buNone/>
            </a:pPr>
            <a:endParaRPr/>
          </a:p>
          <a:p>
            <a:pPr lvl="0"/>
            <a:r>
              <a:t>When Copilot creates a PR, it notes which agent was used</a:t>
            </a:r>
          </a:p>
          <a:p>
            <a:pPr marL="0" lvl="0" indent="0">
              <a:buNone/>
            </a:pPr>
            <a:endParaRPr/>
          </a:p>
          <a:p>
            <a:pPr lvl="0"/>
            <a:r>
              <a:t>Helps with attribution and understanding the approach</a:t>
            </a:r>
          </a:p>
          <a:p>
            <a:pPr marL="0" lvl="0" indent="0">
              <a:buNone/>
            </a:pPr>
            <a:endParaRPr/>
          </a:p>
          <a:p>
            <a:pPr lvl="0"/>
            <a:r>
              <a:t>Example: “This PR was created by @copilot using the test-specialist agent”</a:t>
            </a:r>
          </a:p>
          <a:p>
            <a:pPr marL="0" lvl="0" indent="0">
              <a:buNone/>
            </a:pPr>
            <a:endParaRPr/>
          </a:p>
          <a:p>
            <a:pPr marL="0" lvl="0" indent="0">
              <a:buNone/>
            </a:pPr>
            <a:r>
              <a:rPr b="1"/>
              <a:t>IDE Usage Benefits</a:t>
            </a:r>
            <a:r>
              <a:t>:</a:t>
            </a:r>
          </a:p>
          <a:p>
            <a:pPr marL="0" lvl="0" indent="0">
              <a:buNone/>
            </a:pPr>
            <a:endParaRPr/>
          </a:p>
          <a:p>
            <a:pPr marL="0" lvl="0" indent="0">
              <a:buNone/>
            </a:pPr>
            <a:r>
              <a:rPr b="1"/>
              <a:t>Mid-Conversation Switching</a:t>
            </a:r>
            <a:r>
              <a:t>:</a:t>
            </a:r>
          </a:p>
          <a:p>
            <a:pPr marL="0" lvl="0" indent="0">
              <a:buNone/>
            </a:pPr>
            <a:endParaRPr/>
          </a:p>
          <a:p>
            <a:pPr lvl="0"/>
            <a:r>
              <a:t>Start with planning agent</a:t>
            </a:r>
          </a:p>
          <a:p>
            <a:pPr marL="0" lvl="0" indent="0">
              <a:buNone/>
            </a:pPr>
            <a:endParaRPr/>
          </a:p>
          <a:p>
            <a:pPr lvl="0"/>
            <a:r>
              <a:t>Switch to implementation agent</a:t>
            </a:r>
          </a:p>
          <a:p>
            <a:pPr marL="0" lvl="0" indent="0">
              <a:buNone/>
            </a:pPr>
            <a:endParaRPr/>
          </a:p>
          <a:p>
            <a:pPr lvl="0"/>
            <a:r>
              <a:t>Switch to review agent</a:t>
            </a:r>
          </a:p>
          <a:p>
            <a:pPr marL="0" lvl="0" indent="0">
              <a:buNone/>
            </a:pPr>
            <a:endParaRPr/>
          </a:p>
          <a:p>
            <a:pPr lvl="0"/>
            <a:r>
              <a:t>Maintain conversation context</a:t>
            </a:r>
          </a:p>
          <a:p>
            <a:pPr marL="0" lvl="0" indent="0">
              <a:buNone/>
            </a:pPr>
            <a:endParaRPr/>
          </a:p>
          <a:p>
            <a:pPr marL="0" lvl="0" indent="0">
              <a:buNone/>
            </a:pPr>
            <a:r>
              <a:rPr b="1"/>
              <a:t>Task-Specific Workflows</a:t>
            </a:r>
            <a:r>
              <a:t>:</a:t>
            </a:r>
          </a:p>
          <a:p>
            <a:pPr marL="0" lvl="0" indent="0">
              <a:buNone/>
            </a:pPr>
            <a:endParaRPr/>
          </a:p>
          <a:p>
            <a:pPr marL="342900" lvl="0" indent="-342900">
              <a:buAutoNum type="arabicPeriod"/>
            </a:pPr>
            <a:r>
              <a:t>Use planning agent for architecture decisions</a:t>
            </a:r>
          </a:p>
          <a:p>
            <a:pPr marL="0" lvl="0" indent="0">
              <a:buNone/>
            </a:pPr>
            <a:endParaRPr/>
          </a:p>
          <a:p>
            <a:pPr marL="342900" lvl="0" indent="-342900">
              <a:buAutoNum type="arabicPeriod"/>
            </a:pPr>
            <a:r>
              <a:t>Use coding agent for implementation</a:t>
            </a:r>
          </a:p>
          <a:p>
            <a:pPr marL="0" lvl="0" indent="0">
              <a:buNone/>
            </a:pPr>
            <a:endParaRPr/>
          </a:p>
          <a:p>
            <a:pPr marL="342900" lvl="0" indent="-342900">
              <a:buAutoNum type="arabicPeriod"/>
            </a:pPr>
            <a:r>
              <a:t>Use test agent for test coverage</a:t>
            </a:r>
          </a:p>
          <a:p>
            <a:pPr marL="0" lvl="0" indent="0">
              <a:buNone/>
            </a:pPr>
            <a:endParaRPr/>
          </a:p>
          <a:p>
            <a:pPr marL="342900" lvl="0" indent="-342900">
              <a:buAutoNum type="arabicPeriod"/>
            </a:pPr>
            <a:r>
              <a:t>Use security agent for vulnerability review</a:t>
            </a:r>
          </a:p>
          <a:p>
            <a:pPr marL="0" lvl="0" indent="0">
              <a:buNone/>
            </a:pPr>
            <a:endParaRPr/>
          </a:p>
          <a:p>
            <a:pPr marL="342900" lvl="0" indent="-342900">
              <a:buAutoNum type="arabicPeriod"/>
            </a:pPr>
            <a:r>
              <a:t>Use doc agent for documentation</a:t>
            </a:r>
          </a:p>
          <a:p>
            <a:pPr marL="0" lvl="0" indent="0">
              <a:buNone/>
            </a:pPr>
            <a:endParaRPr/>
          </a:p>
          <a:p>
            <a:pPr marL="0" lvl="0" indent="0">
              <a:buNone/>
            </a:pPr>
            <a:r>
              <a:rPr b="1"/>
              <a:t>Example IDE Workflow</a:t>
            </a:r>
            <a:r>
              <a:t>:</a:t>
            </a:r>
          </a:p>
          <a:p>
            <a:pPr marL="0" lvl="0" indent="0">
              <a:buNone/>
            </a:pPr>
            <a:endParaRPr/>
          </a:p>
          <a:p>
            <a:pPr lvl="0" indent="0">
              <a:buNone/>
            </a:pPr>
            <a:r>
              <a:rPr>
                <a:latin typeface="Courier"/>
              </a:rPr>
              <a:t>User: "I need to add user authentication"
[Select implementation-planner agent]
Agent: Creates detailed plan with tasks
User: "Now implement the first task"
[Switch to coding agent]
Agent: Implements based on plan
User: "Add tests for this"
[Switch to test-specialist agent]
Agent: Creates comprehensive test suite</a:t>
            </a:r>
          </a:p>
          <a:p>
            <a:pPr marL="0" lvl="0" indent="0">
              <a:buNone/>
            </a:pPr>
            <a:endParaRPr>
              <a:latin typeface="Courier"/>
            </a:endParaRPr>
          </a:p>
          <a:p>
            <a:pPr marL="0" lvl="0" indent="0">
              <a:buNone/>
            </a:pPr>
            <a:r>
              <a:rPr b="1"/>
              <a:t>CLI Usage</a:t>
            </a:r>
            <a:r>
              <a:t> (Advanced):</a:t>
            </a:r>
          </a:p>
          <a:p>
            <a:pPr marL="0" lvl="0" indent="0">
              <a:buNone/>
            </a:pPr>
            <a:endParaRPr/>
          </a:p>
          <a:p>
            <a:pPr marL="0" lvl="0" indent="0">
              <a:buNone/>
            </a:pPr>
            <a:r>
              <a:rPr b="1"/>
              <a:t>Basic Agent Selection</a:t>
            </a:r>
            <a:r>
              <a:t>:</a:t>
            </a:r>
          </a:p>
          <a:p>
            <a:pPr marL="0" lvl="0" indent="0">
              <a:buNone/>
            </a:pPr>
            <a:endParaRPr/>
          </a:p>
          <a:p>
            <a:pPr lvl="0" indent="0">
              <a:buNone/>
            </a:pPr>
            <a:r>
              <a:rPr>
                <a:latin typeface="Courier"/>
              </a:rPr>
              <a:t>gh copilot /agent test-specialist </a:t>
            </a:r>
            <a:r>
              <a:rPr>
                <a:solidFill>
                  <a:srgbClr val="4070A0"/>
                </a:solidFill>
                <a:latin typeface="Courier"/>
              </a:rPr>
              <a:t>"add tests for authentication"</a:t>
            </a:r>
          </a:p>
          <a:p>
            <a:pPr marL="0" lvl="0" indent="0">
              <a:buNone/>
            </a:pPr>
            <a:endParaRPr>
              <a:solidFill>
                <a:srgbClr val="4070A0"/>
              </a:solidFill>
              <a:latin typeface="Courier"/>
            </a:endParaRPr>
          </a:p>
          <a:p>
            <a:pPr marL="0" lvl="0" indent="0">
              <a:buNone/>
            </a:pPr>
            <a:r>
              <a:rPr b="1"/>
              <a:t>In Prompts</a:t>
            </a:r>
            <a:r>
              <a:t>:</a:t>
            </a:r>
          </a:p>
          <a:p>
            <a:pPr marL="0" lvl="0" indent="0">
              <a:buNone/>
            </a:pPr>
            <a:endParaRPr/>
          </a:p>
          <a:p>
            <a:pPr lvl="0" indent="0">
              <a:buNone/>
            </a:pPr>
            <a:r>
              <a:rPr>
                <a:latin typeface="Courier"/>
              </a:rPr>
              <a:t>gh copilot </a:t>
            </a:r>
            <a:r>
              <a:rPr>
                <a:solidFill>
                  <a:srgbClr val="4070A0"/>
                </a:solidFill>
                <a:latin typeface="Courier"/>
              </a:rPr>
              <a:t>"using security-reviewer, check this PR for vulnerabilities"</a:t>
            </a:r>
          </a:p>
          <a:p>
            <a:pPr marL="0" lvl="0" indent="0">
              <a:buNone/>
            </a:pPr>
            <a:endParaRPr>
              <a:solidFill>
                <a:srgbClr val="4070A0"/>
              </a:solidFill>
              <a:latin typeface="Courier"/>
            </a:endParaRPr>
          </a:p>
          <a:p>
            <a:pPr marL="0" lvl="0" indent="0">
              <a:buNone/>
            </a:pPr>
            <a:r>
              <a:rPr b="1"/>
              <a:t>Via Arguments</a:t>
            </a:r>
            <a:r>
              <a:t>:</a:t>
            </a:r>
          </a:p>
          <a:p>
            <a:pPr marL="0" lvl="0" indent="0">
              <a:buNone/>
            </a:pPr>
            <a:endParaRPr/>
          </a:p>
          <a:p>
            <a:pPr lvl="0" indent="0">
              <a:buNone/>
            </a:pPr>
            <a:r>
              <a:rPr>
                <a:latin typeface="Courier"/>
              </a:rPr>
              <a:t>gh copilot </a:t>
            </a:r>
            <a:r>
              <a:rPr>
                <a:solidFill>
                  <a:srgbClr val="7D9029"/>
                </a:solidFill>
                <a:latin typeface="Courier"/>
              </a:rPr>
              <a:t>--agent</a:t>
            </a:r>
            <a:r>
              <a:rPr>
                <a:solidFill>
                  <a:srgbClr val="666666"/>
                </a:solidFill>
                <a:latin typeface="Courier"/>
              </a:rPr>
              <a:t>=</a:t>
            </a:r>
            <a:r>
              <a:rPr>
                <a:latin typeface="Courier"/>
              </a:rPr>
              <a:t>doc-writer </a:t>
            </a:r>
            <a:r>
              <a:rPr>
                <a:solidFill>
                  <a:srgbClr val="4070A0"/>
                </a:solidFill>
                <a:latin typeface="Courier"/>
              </a:rPr>
              <a:t>"document the API endpoints"</a:t>
            </a:r>
          </a:p>
          <a:p>
            <a:pPr marL="0" lvl="0" indent="0">
              <a:buNone/>
            </a:pPr>
            <a:endParaRPr>
              <a:solidFill>
                <a:srgbClr val="4070A0"/>
              </a:solidFill>
              <a:latin typeface="Courier"/>
            </a:endParaRPr>
          </a:p>
          <a:p>
            <a:pPr marL="0" lvl="0" indent="0">
              <a:buNone/>
            </a:pPr>
            <a:r>
              <a:rPr b="1"/>
              <a:t>Best Practices</a:t>
            </a:r>
            <a:r>
              <a:t>:</a:t>
            </a:r>
          </a:p>
          <a:p>
            <a:pPr marL="0" lvl="0" indent="0">
              <a:buNone/>
            </a:pPr>
            <a:endParaRPr/>
          </a:p>
          <a:p>
            <a:pPr marL="342900" lvl="0" indent="-342900">
              <a:buAutoNum type="arabicPeriod"/>
            </a:pPr>
            <a:r>
              <a:rPr b="1"/>
              <a:t>Choose the Right Agent</a:t>
            </a:r>
            <a:r>
              <a:t>:</a:t>
            </a:r>
          </a:p>
          <a:p>
            <a:pPr marL="0" lvl="0" indent="0">
              <a:buNone/>
            </a:pPr>
            <a:endParaRPr/>
          </a:p>
          <a:p>
            <a:pPr lvl="1"/>
            <a:r>
              <a:t>Match agent expertise to task</a:t>
            </a:r>
          </a:p>
          <a:p>
            <a:pPr marL="0" lvl="0" indent="0">
              <a:buNone/>
            </a:pPr>
            <a:endParaRPr/>
          </a:p>
          <a:p>
            <a:pPr lvl="1"/>
            <a:r>
              <a:t>Don’t use generic agent when specialized one exists</a:t>
            </a:r>
          </a:p>
          <a:p>
            <a:pPr marL="0" lvl="0" indent="0">
              <a:buNone/>
            </a:pPr>
            <a:endParaRPr/>
          </a:p>
          <a:p>
            <a:pPr marL="342900" lvl="0" indent="-342900">
              <a:buAutoNum type="arabicPeriod"/>
            </a:pPr>
            <a:r>
              <a:rPr b="1"/>
              <a:t>Provide Context</a:t>
            </a:r>
            <a:r>
              <a:t>:</a:t>
            </a:r>
          </a:p>
          <a:p>
            <a:pPr marL="0" lvl="0" indent="0">
              <a:buNone/>
            </a:pPr>
            <a:endParaRPr/>
          </a:p>
          <a:p>
            <a:pPr lvl="1"/>
            <a:r>
              <a:t>Custom agents still need context</a:t>
            </a:r>
          </a:p>
          <a:p>
            <a:pPr marL="0" lvl="0" indent="0">
              <a:buNone/>
            </a:pPr>
            <a:endParaRPr/>
          </a:p>
          <a:p>
            <a:pPr lvl="1"/>
            <a:r>
              <a:t>Reference files, requirements, constraints</a:t>
            </a:r>
          </a:p>
          <a:p>
            <a:pPr marL="0" lvl="0" indent="0">
              <a:buNone/>
            </a:pPr>
            <a:endParaRPr/>
          </a:p>
          <a:p>
            <a:pPr marL="342900" lvl="0" indent="-342900">
              <a:buAutoNum type="arabicPeriod"/>
            </a:pPr>
            <a:r>
              <a:rPr b="1"/>
              <a:t>Iterate</a:t>
            </a:r>
            <a:r>
              <a:t>:</a:t>
            </a:r>
          </a:p>
          <a:p>
            <a:pPr marL="0" lvl="0" indent="0">
              <a:buNone/>
            </a:pPr>
            <a:endParaRPr/>
          </a:p>
          <a:p>
            <a:pPr lvl="1"/>
            <a:r>
              <a:t>Refine agent instructions based on results</a:t>
            </a:r>
          </a:p>
          <a:p>
            <a:pPr marL="0" lvl="0" indent="0">
              <a:buNone/>
            </a:pPr>
            <a:endParaRPr/>
          </a:p>
          <a:p>
            <a:pPr lvl="1"/>
            <a:r>
              <a:t>Agents improve as you tune them</a:t>
            </a:r>
          </a:p>
          <a:p>
            <a:pPr marL="0" lvl="0" indent="0">
              <a:buNone/>
            </a:pPr>
            <a:endParaRPr/>
          </a:p>
          <a:p>
            <a:pPr marL="342900" lvl="0" indent="-342900">
              <a:buAutoNum type="arabicPeriod"/>
            </a:pPr>
            <a:r>
              <a:rPr b="1"/>
              <a:t>Document Usage</a:t>
            </a:r>
            <a:r>
              <a:t>:</a:t>
            </a:r>
          </a:p>
          <a:p>
            <a:pPr marL="0" lvl="0" indent="0">
              <a:buNone/>
            </a:pPr>
            <a:endParaRPr/>
          </a:p>
          <a:p>
            <a:pPr lvl="1"/>
            <a:r>
              <a:t>Tell team which agents to use for which tasks</a:t>
            </a:r>
          </a:p>
          <a:p>
            <a:pPr marL="0" lvl="0" indent="0">
              <a:buNone/>
            </a:pPr>
            <a:endParaRPr/>
          </a:p>
          <a:p>
            <a:pPr lvl="1"/>
            <a:r>
              <a:t>Include in CONTRIBUTING.md or team wiki</a:t>
            </a:r>
          </a:p>
          <a:p>
            <a:pPr marL="0" lvl="0" indent="0">
              <a:buNone/>
            </a:pPr>
            <a:endParaRPr/>
          </a:p>
          <a:p>
            <a:pPr marL="0" lvl="0" indent="0">
              <a:buNone/>
            </a:pPr>
            <a:r>
              <a:rPr b="1"/>
              <a:t>Common Scenarios</a:t>
            </a:r>
            <a:r>
              <a:t>:</a:t>
            </a:r>
          </a:p>
          <a:p>
            <a:pPr marL="0" lvl="0" indent="0">
              <a:buNone/>
            </a:pPr>
            <a:endParaRPr/>
          </a:p>
          <a:p>
            <a:pPr lvl="0"/>
            <a:r>
              <a:rPr b="1"/>
              <a:t>Code Review</a:t>
            </a:r>
            <a:r>
              <a:t>: Use review agent on PRs</a:t>
            </a:r>
          </a:p>
          <a:p>
            <a:pPr marL="0" lvl="0" indent="0">
              <a:buNone/>
            </a:pPr>
            <a:endParaRPr/>
          </a:p>
          <a:p>
            <a:pPr lvl="0"/>
            <a:r>
              <a:rPr b="1"/>
              <a:t>Legacy Refactoring</a:t>
            </a:r>
            <a:r>
              <a:t>: Use planning agent first, then coding agent</a:t>
            </a:r>
          </a:p>
          <a:p>
            <a:pPr marL="0" lvl="0" indent="0">
              <a:buNone/>
            </a:pPr>
            <a:endParaRPr/>
          </a:p>
          <a:p>
            <a:pPr lvl="0"/>
            <a:r>
              <a:rPr b="1"/>
              <a:t>Documentation Sprint</a:t>
            </a:r>
            <a:r>
              <a:t>: Use doc agent across multiple files</a:t>
            </a:r>
          </a:p>
          <a:p>
            <a:pPr marL="0" lvl="0" indent="0">
              <a:buNone/>
            </a:pPr>
            <a:endParaRPr/>
          </a:p>
          <a:p>
            <a:pPr lvl="0"/>
            <a:r>
              <a:rPr b="1"/>
              <a:t>Security Audit</a:t>
            </a:r>
            <a:r>
              <a:t>: Use security agent on entire codebase</a:t>
            </a:r>
          </a:p>
          <a:p>
            <a:pPr marL="0" lvl="0" indent="0">
              <a:buNone/>
            </a:pPr>
            <a:endParaRPr/>
          </a:p>
          <a:p>
            <a:pPr lvl="0"/>
            <a:r>
              <a:rPr b="1"/>
              <a:t>Test Coverage Drive</a:t>
            </a:r>
            <a:r>
              <a:t>: Use test agent to fill coverage gaps</a:t>
            </a:r>
          </a:p>
          <a:p>
            <a:pPr marL="0" lvl="0" indent="0">
              <a:buNone/>
            </a:pPr>
            <a:endParaRPr/>
          </a:p>
          <a:p>
            <a:pPr marL="0" lvl="0" indent="0">
              <a:buNone/>
            </a:pPr>
            <a:r>
              <a:rPr b="1"/>
              <a:t>Transition</a:t>
            </a:r>
            <a:r>
              <a:t>: “Let’s wrap up with some best practices and resources to help you get started.”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Timing</a:t>
            </a:r>
            <a:r>
              <a:t>: 4 minutes</a:t>
            </a:r>
          </a:p>
          <a:p>
            <a:pPr marL="0" lvl="0" indent="0">
              <a:buNone/>
            </a:pPr>
            <a:endParaRPr/>
          </a:p>
          <a:p>
            <a:pPr marL="0" lvl="0" indent="0">
              <a:buNone/>
            </a:pPr>
            <a:r>
              <a:rPr b="1"/>
              <a:t>Detailed Best Practices</a:t>
            </a:r>
            <a:r>
              <a:t>:</a:t>
            </a:r>
          </a:p>
          <a:p>
            <a:pPr marL="0" lvl="0" indent="0">
              <a:buNone/>
            </a:pPr>
            <a:endParaRPr/>
          </a:p>
          <a:p>
            <a:pPr marL="0" lvl="0" indent="0">
              <a:buNone/>
            </a:pPr>
            <a:r>
              <a:rPr b="1"/>
              <a:t>1. Start Simple</a:t>
            </a:r>
            <a:r>
              <a:t>:</a:t>
            </a:r>
          </a:p>
          <a:p>
            <a:pPr marL="0" lvl="0" indent="0">
              <a:buNone/>
            </a:pPr>
            <a:endParaRPr/>
          </a:p>
          <a:p>
            <a:pPr lvl="0"/>
            <a:r>
              <a:t>Don’t try to create every agent at once</a:t>
            </a:r>
          </a:p>
          <a:p>
            <a:pPr marL="0" lvl="0" indent="0">
              <a:buNone/>
            </a:pPr>
            <a:endParaRPr/>
          </a:p>
          <a:p>
            <a:pPr lvl="0"/>
            <a:r>
              <a:t>Identify ONE repetitive task that’s painful</a:t>
            </a:r>
          </a:p>
          <a:p>
            <a:pPr marL="0" lvl="0" indent="0">
              <a:buNone/>
            </a:pPr>
            <a:endParaRPr/>
          </a:p>
          <a:p>
            <a:pPr lvl="0"/>
            <a:r>
              <a:t>Create an agent for that specific task</a:t>
            </a:r>
          </a:p>
          <a:p>
            <a:pPr marL="0" lvl="0" indent="0">
              <a:buNone/>
            </a:pPr>
            <a:endParaRPr/>
          </a:p>
          <a:p>
            <a:pPr lvl="0"/>
            <a:r>
              <a:t>Validate it works before creating more</a:t>
            </a:r>
          </a:p>
          <a:p>
            <a:pPr marL="0" lvl="0" indent="0">
              <a:buNone/>
            </a:pPr>
            <a:endParaRPr/>
          </a:p>
          <a:p>
            <a:pPr lvl="0"/>
            <a:r>
              <a:t>Example: If code reviews always miss test coverage, start with test-specialist</a:t>
            </a:r>
          </a:p>
          <a:p>
            <a:pPr marL="0" lvl="0" indent="0">
              <a:buNone/>
            </a:pPr>
            <a:endParaRPr/>
          </a:p>
          <a:p>
            <a:pPr marL="0" lvl="0" indent="0">
              <a:buNone/>
            </a:pPr>
            <a:r>
              <a:rPr b="1"/>
              <a:t>2. Be Specific</a:t>
            </a:r>
            <a:r>
              <a:t>:</a:t>
            </a:r>
          </a:p>
          <a:p>
            <a:pPr marL="0" lvl="0" indent="0">
              <a:buNone/>
            </a:pPr>
            <a:endParaRPr/>
          </a:p>
          <a:p>
            <a:pPr lvl="0"/>
            <a:r>
              <a:t>Vague: “Help with coding”</a:t>
            </a:r>
          </a:p>
          <a:p>
            <a:pPr marL="0" lvl="0" indent="0">
              <a:buNone/>
            </a:pPr>
            <a:endParaRPr/>
          </a:p>
          <a:p>
            <a:pPr lvl="0"/>
            <a:r>
              <a:t>Specific: “Write unit tests following Jest conventions for React components”</a:t>
            </a:r>
          </a:p>
          <a:p>
            <a:pPr marL="0" lvl="0" indent="0">
              <a:buNone/>
            </a:pPr>
            <a:endParaRPr/>
          </a:p>
          <a:p>
            <a:pPr lvl="0"/>
            <a:r>
              <a:t>Include examples of good behavior</a:t>
            </a:r>
          </a:p>
          <a:p>
            <a:pPr marL="0" lvl="0" indent="0">
              <a:buNone/>
            </a:pPr>
            <a:endParaRPr/>
          </a:p>
          <a:p>
            <a:pPr lvl="0"/>
            <a:r>
              <a:t>Specify what NOT to do</a:t>
            </a:r>
          </a:p>
          <a:p>
            <a:pPr marL="0" lvl="0" indent="0">
              <a:buNone/>
            </a:pPr>
            <a:endParaRPr/>
          </a:p>
          <a:p>
            <a:pPr lvl="0"/>
            <a:r>
              <a:t>Bad example: “Be helpful”</a:t>
            </a:r>
          </a:p>
          <a:p>
            <a:pPr marL="0" lvl="0" indent="0">
              <a:buNone/>
            </a:pPr>
            <a:endParaRPr/>
          </a:p>
          <a:p>
            <a:pPr lvl="0"/>
            <a:r>
              <a:t>Good example: “Focus only on test files in </a:t>
            </a:r>
            <a:r>
              <a:rPr b="1"/>
              <a:t>tests</a:t>
            </a:r>
            <a:r>
              <a:t> directories. Never modify source files in src/ directory.”</a:t>
            </a:r>
          </a:p>
          <a:p>
            <a:pPr marL="0" lvl="0" indent="0">
              <a:buNone/>
            </a:pPr>
            <a:endParaRPr/>
          </a:p>
          <a:p>
            <a:pPr marL="0" lvl="0" indent="0">
              <a:buNone/>
            </a:pPr>
            <a:r>
              <a:rPr b="1"/>
              <a:t>3. Restrict Tools</a:t>
            </a:r>
            <a:r>
              <a:t>:</a:t>
            </a:r>
          </a:p>
          <a:p>
            <a:pPr marL="0" lvl="0" indent="0">
              <a:buNone/>
            </a:pPr>
            <a:endParaRPr/>
          </a:p>
          <a:p>
            <a:pPr lvl="0"/>
            <a:r>
              <a:t>More tools ≠ better agent</a:t>
            </a:r>
          </a:p>
          <a:p>
            <a:pPr marL="0" lvl="0" indent="0">
              <a:buNone/>
            </a:pPr>
            <a:endParaRPr/>
          </a:p>
          <a:p>
            <a:pPr lvl="0"/>
            <a:r>
              <a:t>Restrict to enforce boundaries</a:t>
            </a:r>
          </a:p>
          <a:p>
            <a:pPr marL="0" lvl="0" indent="0">
              <a:buNone/>
            </a:pPr>
            <a:endParaRPr/>
          </a:p>
          <a:p>
            <a:pPr lvl="0"/>
            <a:r>
              <a:t>Planning agent doesn’t need “run” tool</a:t>
            </a:r>
          </a:p>
          <a:p>
            <a:pPr marL="0" lvl="0" indent="0">
              <a:buNone/>
            </a:pPr>
            <a:endParaRPr/>
          </a:p>
          <a:p>
            <a:pPr lvl="0"/>
            <a:r>
              <a:t>Doc agent doesn’t need “debug” tool</a:t>
            </a:r>
          </a:p>
          <a:p>
            <a:pPr marL="0" lvl="0" indent="0">
              <a:buNone/>
            </a:pPr>
            <a:endParaRPr/>
          </a:p>
          <a:p>
            <a:pPr lvl="0"/>
            <a:r>
              <a:t>Security agent might only need “read” and “search”</a:t>
            </a:r>
          </a:p>
          <a:p>
            <a:pPr marL="0" lvl="0" indent="0">
              <a:buNone/>
            </a:pPr>
            <a:endParaRPr/>
          </a:p>
          <a:p>
            <a:pPr lvl="0"/>
            <a:r>
              <a:t>Benefits:</a:t>
            </a:r>
          </a:p>
          <a:p>
            <a:pPr marL="0" lvl="0" indent="0">
              <a:buNone/>
            </a:pPr>
            <a:endParaRPr/>
          </a:p>
          <a:p>
            <a:pPr lvl="1"/>
            <a:r>
              <a:t>Faster execution (fewer options to consider)</a:t>
            </a:r>
          </a:p>
          <a:p>
            <a:pPr marL="0" lvl="0" indent="0">
              <a:buNone/>
            </a:pPr>
            <a:endParaRPr/>
          </a:p>
          <a:p>
            <a:pPr lvl="1"/>
            <a:r>
              <a:t>Clear scope (can’t do things outside role)</a:t>
            </a:r>
          </a:p>
          <a:p>
            <a:pPr marL="0" lvl="0" indent="0">
              <a:buNone/>
            </a:pPr>
            <a:endParaRPr/>
          </a:p>
          <a:p>
            <a:pPr lvl="1"/>
            <a:r>
              <a:t>Safer (can’t accidentally deploy or delete)</a:t>
            </a:r>
          </a:p>
          <a:p>
            <a:pPr marL="0" lvl="0" indent="0">
              <a:buNone/>
            </a:pPr>
            <a:endParaRPr/>
          </a:p>
          <a:p>
            <a:pPr marL="0" lvl="0" indent="0">
              <a:buNone/>
            </a:pPr>
            <a:r>
              <a:rPr b="1"/>
              <a:t>4. Iterate</a:t>
            </a:r>
            <a:r>
              <a:t>:</a:t>
            </a:r>
          </a:p>
          <a:p>
            <a:pPr marL="0" lvl="0" indent="0">
              <a:buNone/>
            </a:pPr>
            <a:endParaRPr/>
          </a:p>
          <a:p>
            <a:pPr lvl="0"/>
            <a:r>
              <a:t>Agents aren’t “write once and forget”</a:t>
            </a:r>
          </a:p>
          <a:p>
            <a:pPr marL="0" lvl="0" indent="0">
              <a:buNone/>
            </a:pPr>
            <a:endParaRPr/>
          </a:p>
          <a:p>
            <a:pPr lvl="0"/>
            <a:r>
              <a:t>Monitor what they produce</a:t>
            </a:r>
          </a:p>
          <a:p>
            <a:pPr marL="0" lvl="0" indent="0">
              <a:buNone/>
            </a:pPr>
            <a:endParaRPr/>
          </a:p>
          <a:p>
            <a:pPr lvl="0"/>
            <a:r>
              <a:t>Collect feedback from team</a:t>
            </a:r>
          </a:p>
          <a:p>
            <a:pPr marL="0" lvl="0" indent="0">
              <a:buNone/>
            </a:pPr>
            <a:endParaRPr/>
          </a:p>
          <a:p>
            <a:pPr lvl="0"/>
            <a:r>
              <a:t>Refine instructions based on real usage</a:t>
            </a:r>
          </a:p>
          <a:p>
            <a:pPr marL="0" lvl="0" indent="0">
              <a:buNone/>
            </a:pPr>
            <a:endParaRPr/>
          </a:p>
          <a:p>
            <a:pPr lvl="0"/>
            <a:r>
              <a:t>Example iteration:</a:t>
            </a:r>
          </a:p>
          <a:p>
            <a:pPr marL="0" lvl="0" indent="0">
              <a:buNone/>
            </a:pPr>
            <a:endParaRPr/>
          </a:p>
          <a:p>
            <a:pPr lvl="1"/>
            <a:r>
              <a:t>V1: “Write tests”</a:t>
            </a:r>
          </a:p>
          <a:p>
            <a:pPr marL="0" lvl="0" indent="0">
              <a:buNone/>
            </a:pPr>
            <a:endParaRPr/>
          </a:p>
          <a:p>
            <a:pPr lvl="1"/>
            <a:r>
              <a:t>V2: “Write tests with descriptive names”</a:t>
            </a:r>
          </a:p>
          <a:p>
            <a:pPr marL="0" lvl="0" indent="0">
              <a:buNone/>
            </a:pPr>
            <a:endParaRPr/>
          </a:p>
          <a:p>
            <a:pPr lvl="1"/>
            <a:r>
              <a:t>V3: “Write tests with descriptive names following pattern: describe-context-behavior”</a:t>
            </a:r>
          </a:p>
          <a:p>
            <a:pPr marL="0" lvl="0" indent="0">
              <a:buNone/>
            </a:pPr>
            <a:endParaRPr/>
          </a:p>
          <a:p>
            <a:pPr lvl="1"/>
            <a:r>
              <a:t>V4: Add specific Jest matchers to prefer</a:t>
            </a:r>
          </a:p>
          <a:p>
            <a:pPr marL="0" lvl="0" indent="0">
              <a:buNone/>
            </a:pPr>
            <a:endParaRPr/>
          </a:p>
          <a:p>
            <a:pPr marL="0" lvl="0" indent="0">
              <a:buNone/>
            </a:pPr>
            <a:r>
              <a:rPr b="1"/>
              <a:t>5. Share</a:t>
            </a:r>
            <a:r>
              <a:t>:</a:t>
            </a:r>
          </a:p>
          <a:p>
            <a:pPr marL="0" lvl="0" indent="0">
              <a:buNone/>
            </a:pPr>
            <a:endParaRPr/>
          </a:p>
          <a:p>
            <a:pPr lvl="0"/>
            <a:r>
              <a:t>Don’t create duplicate agents across repos</a:t>
            </a:r>
          </a:p>
          <a:p>
            <a:pPr marL="0" lvl="0" indent="0">
              <a:buNone/>
            </a:pPr>
            <a:endParaRPr/>
          </a:p>
          <a:p>
            <a:pPr lvl="0"/>
            <a:r>
              <a:t>Use organization-level agents for standards</a:t>
            </a:r>
          </a:p>
          <a:p>
            <a:pPr marL="0" lvl="0" indent="0">
              <a:buNone/>
            </a:pPr>
            <a:endParaRPr/>
          </a:p>
          <a:p>
            <a:pPr lvl="0"/>
            <a:r>
              <a:t>Examples:</a:t>
            </a:r>
          </a:p>
          <a:p>
            <a:pPr marL="0" lvl="0" indent="0">
              <a:buNone/>
            </a:pPr>
            <a:endParaRPr/>
          </a:p>
          <a:p>
            <a:pPr lvl="1"/>
            <a:r>
              <a:t>Code style checker (enforces org conventions)</a:t>
            </a:r>
          </a:p>
          <a:p>
            <a:pPr marL="0" lvl="0" indent="0">
              <a:buNone/>
            </a:pPr>
            <a:endParaRPr/>
          </a:p>
          <a:p>
            <a:pPr lvl="1"/>
            <a:r>
              <a:t>Security reviewer (org security policies)</a:t>
            </a:r>
          </a:p>
          <a:p>
            <a:pPr marL="0" lvl="0" indent="0">
              <a:buNone/>
            </a:pPr>
            <a:endParaRPr/>
          </a:p>
          <a:p>
            <a:pPr lvl="1"/>
            <a:r>
              <a:t>Doc generator (org documentation standards)</a:t>
            </a:r>
          </a:p>
          <a:p>
            <a:pPr marL="0" lvl="0" indent="0">
              <a:buNone/>
            </a:pPr>
            <a:endParaRPr/>
          </a:p>
          <a:p>
            <a:pPr lvl="0"/>
            <a:r>
              <a:t>Benefits:</a:t>
            </a:r>
          </a:p>
          <a:p>
            <a:pPr marL="0" lvl="0" indent="0">
              <a:buNone/>
            </a:pPr>
            <a:endParaRPr/>
          </a:p>
          <a:p>
            <a:pPr lvl="1"/>
            <a:r>
              <a:t>Consistency across projects</a:t>
            </a:r>
          </a:p>
          <a:p>
            <a:pPr marL="0" lvl="0" indent="0">
              <a:buNone/>
            </a:pPr>
            <a:endParaRPr/>
          </a:p>
          <a:p>
            <a:pPr lvl="1"/>
            <a:r>
              <a:t>Single place to maintain</a:t>
            </a:r>
          </a:p>
          <a:p>
            <a:pPr marL="0" lvl="0" indent="0">
              <a:buNone/>
            </a:pPr>
            <a:endParaRPr/>
          </a:p>
          <a:p>
            <a:pPr lvl="1"/>
            <a:r>
              <a:t>Easier onboarding</a:t>
            </a:r>
          </a:p>
          <a:p>
            <a:pPr marL="0" lvl="0" indent="0">
              <a:buNone/>
            </a:pPr>
            <a:endParaRPr/>
          </a:p>
          <a:p>
            <a:pPr marL="0" lvl="0" indent="0">
              <a:buNone/>
            </a:pPr>
            <a:r>
              <a:rPr b="1"/>
              <a:t>6. Document</a:t>
            </a:r>
            <a:r>
              <a:t>:</a:t>
            </a:r>
          </a:p>
          <a:p>
            <a:pPr marL="0" lvl="0" indent="0">
              <a:buNone/>
            </a:pPr>
            <a:endParaRPr/>
          </a:p>
          <a:p>
            <a:pPr lvl="0"/>
            <a:r>
              <a:t>Good description is crucial</a:t>
            </a:r>
          </a:p>
          <a:p>
            <a:pPr marL="0" lvl="0" indent="0">
              <a:buNone/>
            </a:pPr>
            <a:endParaRPr/>
          </a:p>
          <a:p>
            <a:pPr lvl="0"/>
            <a:r>
              <a:t>Include examples in the agent markdown</a:t>
            </a:r>
          </a:p>
          <a:p>
            <a:pPr marL="0" lvl="0" indent="0">
              <a:buNone/>
            </a:pPr>
            <a:endParaRPr/>
          </a:p>
          <a:p>
            <a:pPr lvl="0"/>
            <a:r>
              <a:t>Add usage instructions</a:t>
            </a:r>
          </a:p>
          <a:p>
            <a:pPr marL="0" lvl="0" indent="0">
              <a:buNone/>
            </a:pPr>
            <a:endParaRPr/>
          </a:p>
          <a:p>
            <a:pPr lvl="0"/>
            <a:r>
              <a:t>Example:</a:t>
            </a:r>
          </a:p>
          <a:p>
            <a:pPr marL="0" lvl="0" indent="0">
              <a:buNone/>
            </a:pPr>
            <a:endParaRPr/>
          </a:p>
          <a:p>
            <a:pPr lvl="1" indent="0">
              <a:buNone/>
            </a:pPr>
            <a:r>
              <a:rPr>
                <a:solidFill>
                  <a:srgbClr val="06287E"/>
                </a:solidFill>
                <a:latin typeface="Courier"/>
              </a:rPr>
              <a:t>## Usage Examples</a:t>
            </a:r>
            <a:br/>
            <a:br/>
            <a:r>
              <a:rPr>
                <a:latin typeface="Courier"/>
              </a:rPr>
              <a:t>❌ Bad: "Fix the tests"</a:t>
            </a:r>
            <a:br/>
            <a:r>
              <a:rPr>
                <a:latin typeface="Courier"/>
              </a:rPr>
              <a:t>✅ Good: "Add unit tests for the UserService class covering success and error cases"</a:t>
            </a:r>
            <a:br/>
            <a:br/>
            <a:r>
              <a:rPr>
                <a:latin typeface="Courier"/>
              </a:rPr>
              <a:t>❌ Bad: "Make it better"</a:t>
            </a:r>
            <a:br/>
            <a:r>
              <a:rPr>
                <a:latin typeface="Courier"/>
              </a:rPr>
              <a:t>✅ Good: "Increase test coverage for auth module to 80%"</a:t>
            </a:r>
          </a:p>
          <a:p>
            <a:pPr marL="0" lvl="0" indent="0">
              <a:buNone/>
            </a:pPr>
            <a:endParaRPr>
              <a:latin typeface="Courier"/>
            </a:endParaRPr>
          </a:p>
          <a:p>
            <a:pPr marL="0" lvl="0" indent="0">
              <a:buNone/>
            </a:pPr>
            <a:r>
              <a:rPr b="1"/>
              <a:t>7. Test</a:t>
            </a:r>
            <a:r>
              <a:t>:</a:t>
            </a:r>
          </a:p>
          <a:p>
            <a:pPr marL="0" lvl="0" indent="0">
              <a:buNone/>
            </a:pPr>
            <a:endParaRPr/>
          </a:p>
          <a:p>
            <a:pPr lvl="0"/>
            <a:r>
              <a:t>Try agent on sample tasks before team rollout</a:t>
            </a:r>
          </a:p>
          <a:p>
            <a:pPr marL="0" lvl="0" indent="0">
              <a:buNone/>
            </a:pPr>
            <a:endParaRPr/>
          </a:p>
          <a:p>
            <a:pPr lvl="0"/>
            <a:r>
              <a:t>Test edge cases</a:t>
            </a:r>
          </a:p>
          <a:p>
            <a:pPr marL="0" lvl="0" indent="0">
              <a:buNone/>
            </a:pPr>
            <a:endParaRPr/>
          </a:p>
          <a:p>
            <a:pPr lvl="0"/>
            <a:r>
              <a:t>Verify it respects boundaries</a:t>
            </a:r>
          </a:p>
          <a:p>
            <a:pPr marL="0" lvl="0" indent="0">
              <a:buNone/>
            </a:pPr>
            <a:endParaRPr/>
          </a:p>
          <a:p>
            <a:pPr lvl="0"/>
            <a:r>
              <a:t>Check tool usage is appropriate</a:t>
            </a:r>
          </a:p>
          <a:p>
            <a:pPr marL="0" lvl="0" indent="0">
              <a:buNone/>
            </a:pPr>
            <a:endParaRPr/>
          </a:p>
          <a:p>
            <a:pPr lvl="0"/>
            <a:r>
              <a:t>Get feedback from 2-3 team members first</a:t>
            </a:r>
          </a:p>
          <a:p>
            <a:pPr marL="0" lvl="0" indent="0">
              <a:buNone/>
            </a:pPr>
            <a:endParaRPr/>
          </a:p>
          <a:p>
            <a:pPr lvl="0"/>
            <a:r>
              <a:t>Make it easy to rollback (version control!)</a:t>
            </a:r>
          </a:p>
          <a:p>
            <a:pPr marL="0" lvl="0" indent="0">
              <a:buNone/>
            </a:pPr>
            <a:endParaRPr/>
          </a:p>
          <a:p>
            <a:pPr marL="0" lvl="0" indent="0">
              <a:buNone/>
            </a:pPr>
            <a:r>
              <a:rPr b="1"/>
              <a:t>Anti-Patterns to Avoid</a:t>
            </a:r>
            <a:r>
              <a:t>:</a:t>
            </a:r>
          </a:p>
          <a:p>
            <a:pPr marL="0" lvl="0" indent="0">
              <a:buNone/>
            </a:pPr>
            <a:endParaRPr/>
          </a:p>
          <a:p>
            <a:pPr lvl="0"/>
            <a:r>
              <a:rPr b="1"/>
              <a:t>Too Generic</a:t>
            </a:r>
            <a:r>
              <a:t>: “Help with everything” - defeats the purpose</a:t>
            </a:r>
          </a:p>
          <a:p>
            <a:pPr marL="0" lvl="0" indent="0">
              <a:buNone/>
            </a:pPr>
            <a:endParaRPr/>
          </a:p>
          <a:p>
            <a:pPr lvl="0"/>
            <a:r>
              <a:rPr b="1"/>
              <a:t>Too Narrow</a:t>
            </a:r>
            <a:r>
              <a:t>: “Only fix typos in README” - waste of an agent</a:t>
            </a:r>
          </a:p>
          <a:p>
            <a:pPr marL="0" lvl="0" indent="0">
              <a:buNone/>
            </a:pPr>
            <a:endParaRPr/>
          </a:p>
          <a:p>
            <a:pPr lvl="0"/>
            <a:r>
              <a:rPr b="1"/>
              <a:t>No Constraints</a:t>
            </a:r>
            <a:r>
              <a:t>: All tools enabled, no guidelines - unpredictable</a:t>
            </a:r>
          </a:p>
          <a:p>
            <a:pPr marL="0" lvl="0" indent="0">
              <a:buNone/>
            </a:pPr>
            <a:endParaRPr/>
          </a:p>
          <a:p>
            <a:pPr lvl="0"/>
            <a:r>
              <a:rPr b="1"/>
              <a:t>Copy-Paste</a:t>
            </a:r>
            <a:r>
              <a:t>: Duplicating built-in agents - adds confusion</a:t>
            </a:r>
          </a:p>
          <a:p>
            <a:pPr marL="0" lvl="0" indent="0">
              <a:buNone/>
            </a:pPr>
            <a:endParaRPr/>
          </a:p>
          <a:p>
            <a:pPr lvl="0"/>
            <a:r>
              <a:rPr b="1"/>
              <a:t>Set and Forget</a:t>
            </a:r>
            <a:r>
              <a:t>: Never updating based on experience</a:t>
            </a:r>
          </a:p>
          <a:p>
            <a:pPr marL="0" lvl="0" indent="0">
              <a:buNone/>
            </a:pPr>
            <a:endParaRPr/>
          </a:p>
          <a:p>
            <a:pPr lvl="0"/>
            <a:r>
              <a:rPr b="1"/>
              <a:t>No Testing</a:t>
            </a:r>
            <a:r>
              <a:t>: Rolling out to team without validation</a:t>
            </a:r>
          </a:p>
          <a:p>
            <a:pPr marL="0" lvl="0" indent="0">
              <a:buNone/>
            </a:pPr>
            <a:endParaRPr/>
          </a:p>
          <a:p>
            <a:pPr marL="0" lvl="0" indent="0">
              <a:buNone/>
            </a:pPr>
            <a:r>
              <a:rPr b="1"/>
              <a:t>Success Metrics</a:t>
            </a:r>
            <a:r>
              <a:t>:</a:t>
            </a:r>
          </a:p>
          <a:p>
            <a:pPr marL="0" lvl="0" indent="0">
              <a:buNone/>
            </a:pPr>
            <a:endParaRPr/>
          </a:p>
          <a:p>
            <a:pPr lvl="0"/>
            <a:r>
              <a:t>Time saved on repetitive tasks</a:t>
            </a:r>
          </a:p>
          <a:p>
            <a:pPr marL="0" lvl="0" indent="0">
              <a:buNone/>
            </a:pPr>
            <a:endParaRPr/>
          </a:p>
          <a:p>
            <a:pPr lvl="0"/>
            <a:r>
              <a:t>Consistency in output quality</a:t>
            </a:r>
          </a:p>
          <a:p>
            <a:pPr marL="0" lvl="0" indent="0">
              <a:buNone/>
            </a:pPr>
            <a:endParaRPr/>
          </a:p>
          <a:p>
            <a:pPr lvl="0"/>
            <a:r>
              <a:t>Reduction in review comments for that area</a:t>
            </a:r>
          </a:p>
          <a:p>
            <a:pPr marL="0" lvl="0" indent="0">
              <a:buNone/>
            </a:pPr>
            <a:endParaRPr/>
          </a:p>
          <a:p>
            <a:pPr lvl="0"/>
            <a:r>
              <a:t>Team adoption rate</a:t>
            </a:r>
          </a:p>
          <a:p>
            <a:pPr marL="0" lvl="0" indent="0">
              <a:buNone/>
            </a:pPr>
            <a:endParaRPr/>
          </a:p>
          <a:p>
            <a:pPr lvl="0"/>
            <a:r>
              <a:t>Positive feedback from users</a:t>
            </a:r>
          </a:p>
          <a:p>
            <a:pPr marL="0" lvl="0" indent="0">
              <a:buNone/>
            </a:pPr>
            <a:endParaRPr/>
          </a:p>
          <a:p>
            <a:pPr marL="0" lvl="0" indent="0">
              <a:buNone/>
            </a:pPr>
            <a:r>
              <a:rPr b="1"/>
              <a:t>Transition</a:t>
            </a:r>
            <a:r>
              <a:t>: “You now have everything you need to create your first custom agent. Here are resources to dive deeper.”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presentation covers 8 critical roles in modern software development. Each persona has unique needs when working with GitHub Copilot Chat. We’ll explore both the skills needed and responsibilities required. Focus on practical, actionable guidance for each role. Tables format allows easy comparison between skills and responsibilities.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Product Managers are the bridge between business and technical teams. Their success with AI depends on clear requirement translation. Key challenge: ensuring AI outputs align with business objectives. Focus on iterative refinement - rarely get perfect results on first try. Context management is crucial for complex feature discussions. Always validate AI-generated requirements against business goals.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Solution Architects work at the highest technical abstraction level. Pattern recognition is critical - AI often suggests common patterns. Must validate AI architectural decisions against enterprise standards. Integration planning is complex - AI can help model system interactions. Risk mitigation is a key responsibility - evaluate long-term implications. Knowledge sharing ensures AI insights benefit the broader organization.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Senior Developers are power users of AI coding assistance. Code generation prompting requires precise, specific requests. Debug assistance can dramatically speed troubleshooting. Code review with AI combines human insight with AI analysis. Security review is critical - AI may suggest vulnerable patterns. Mentorship integration helps junior developers use AI effectively. Performance optimization requires evaluating AI suggestions carefully.</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Technical Writers can leverage AI for content creation and organization. Content structuring helps AI create logical, well-organized documentation. Audience adaptation is key - same content needs different presentations. Style consistency maintains organizational voice across AI-generated content. Technical verification ensures accuracy - AI can hallucinate technical details. Multi-format publishing expands content reach and usability. Editorial standards maintain quality and consistency.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Security Reviewers must validate all AI security recommendations. Threat modeling with AI can identify vulnerabilities humans might miss. Compliance analysis leverages AI’s knowledge of regulatory requirements. Risk assessment requires balancing AI suggestions with security expertise. Security testing scenarios can be comprehensive with AI assistance. Policy enforcement ensures AI recommendations align with org standards. Audit trail maintenance is critical for security accountability.</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DevOps Engineers can accelerate infrastructure automation with AI. Infrastructure as Code generation can speed deployment and configuration. CI/CD pipeline design benefits from AI optimization suggestions. Monitoring and alerting strategies become more comprehensive with AI. Automation scripting reduces manual operational overhead. Pipeline reliability must be validated - AI-generated configs need testing. Cost management is crucial - review AI suggestions for optimization opportunities.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DevTest Engineers can dramatically improve test coverage with AI. Test case generation creates comprehensive scenarios across functional areas. Test data management becomes easier with AI-generated realistic datasets. Automation framework development accelerates with AI assistance. Performance testing strategies benefit from AI-designed load scenarios. Test coverage validation ensures AI-generated tests are comprehensive. Quality metrics tracking provides insights into AI-assisted testing effectiveness.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SREs can leverage AI for faster incident response and resolution. Incident response benefits from AI’s rapid analysis and diagnosis capabilities. SLA/SLO monitoring becomes more comprehensive with AI-generated metrics. Capacity planning leverages AI for accurate resource forecasting. Post-mortem analysis creates thorough incident reviews with AI assistance. System reliability requires validating AI-driven monitoring recommendations. Performance optimization is continuous with AI insights into system behavior.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create prompt files for the interactive commands in the #file:solution-architect.chatmode.md. call the prompt files when the interactive commands are triggered</a:t>
            </a:r>
            <a:br>
              <a:rPr lang="en-US" dirty="0"/>
            </a:br>
            <a:br>
              <a:rPr lang="en-US" dirty="0"/>
            </a:br>
            <a:r>
              <a:rPr lang="en-US" dirty="0"/>
              <a:t>created:</a:t>
            </a:r>
            <a:br>
              <a:rPr lang="en-US" dirty="0"/>
            </a:br>
            <a:br>
              <a:rPr lang="en-US" dirty="0"/>
            </a:br>
            <a:r>
              <a:rPr lang="en-US" dirty="0"/>
              <a:t> * architecture-design.prompt.md - Comprehensive system architecture designs</a:t>
            </a:r>
          </a:p>
          <a:p>
            <a:r>
              <a:rPr lang="en-US" dirty="0"/>
              <a:t>  * pattern-analysis.prompt.md - Architectural pattern analysis and recommendations</a:t>
            </a:r>
          </a:p>
          <a:p>
            <a:r>
              <a:rPr lang="en-US" dirty="0"/>
              <a:t>  * technology-evaluation.prompt.md - Technology evaluation and selection</a:t>
            </a:r>
          </a:p>
          <a:p>
            <a:r>
              <a:rPr lang="en-US" dirty="0"/>
              <a:t>  * scalability-planning.prompt.md - Scalability and capacity planning</a:t>
            </a:r>
          </a:p>
          <a:p>
            <a:r>
              <a:rPr lang="en-US" dirty="0"/>
              <a:t>  * integration-design.prompt.md - System integration and API design</a:t>
            </a:r>
          </a:p>
          <a:p>
            <a:r>
              <a:rPr lang="en-US" dirty="0"/>
              <a:t>  * security-architecture.prompt.md - Security controls and threat mitigation</a:t>
            </a:r>
          </a:p>
          <a:p>
            <a:r>
              <a:rPr lang="en-US" dirty="0"/>
              <a:t>  * performance-analysis.prompt.md - Performance analysis and bottleneck identification</a:t>
            </a:r>
          </a:p>
          <a:p>
            <a:r>
              <a:rPr lang="en-US" dirty="0"/>
              <a:t>  * migration-strategy.prompt.md - System migration and modernization planning</a:t>
            </a:r>
          </a:p>
          <a:p>
            <a:r>
              <a:rPr lang="en-US" dirty="0"/>
              <a:t>  * compliance-check.prompt.md - Compliance validation and standards alignment</a:t>
            </a:r>
          </a:p>
          <a:p>
            <a:r>
              <a:rPr lang="en-US" dirty="0"/>
              <a:t>  * risk-assessment.prompt.md - Architectural risk assessment and mitigation</a:t>
            </a:r>
          </a:p>
        </p:txBody>
      </p:sp>
      <p:sp>
        <p:nvSpPr>
          <p:cNvPr id="4" name="Slide Number Placeholder 3"/>
          <p:cNvSpPr>
            <a:spLocks noGrp="1"/>
          </p:cNvSpPr>
          <p:nvPr>
            <p:ph type="sldNum" sz="quarter" idx="5"/>
          </p:nvPr>
        </p:nvSpPr>
        <p:spPr/>
        <p:txBody>
          <a:bodyPr/>
          <a:lstStyle/>
          <a:p>
            <a:fld id="{18BDFEC3-8487-43E8-A154-7C12CBC1FFF2}" type="slidenum">
              <a:rPr lang="en-US" smtClean="0"/>
              <a:t>23</a:t>
            </a:fld>
            <a:endParaRPr lang="en-US"/>
          </a:p>
        </p:txBody>
      </p:sp>
    </p:spTree>
    <p:extLst>
      <p:ext uri="{BB962C8B-B14F-4D97-AF65-F5344CB8AC3E}">
        <p14:creationId xmlns:p14="http://schemas.microsoft.com/office/powerpoint/2010/main" val="4043379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when using the solution architect chat mode, explain what happens when I ask it to design a new architecture for windows application</a:t>
            </a:r>
          </a:p>
        </p:txBody>
      </p:sp>
      <p:sp>
        <p:nvSpPr>
          <p:cNvPr id="4" name="Slide Number Placeholder 3"/>
          <p:cNvSpPr>
            <a:spLocks noGrp="1"/>
          </p:cNvSpPr>
          <p:nvPr>
            <p:ph type="sldNum" sz="quarter" idx="5"/>
          </p:nvPr>
        </p:nvSpPr>
        <p:spPr/>
        <p:txBody>
          <a:bodyPr/>
          <a:lstStyle/>
          <a:p>
            <a:fld id="{18BDFEC3-8487-43E8-A154-7C12CBC1FFF2}" type="slidenum">
              <a:rPr lang="en-US" smtClean="0"/>
              <a:t>24</a:t>
            </a:fld>
            <a:endParaRPr lang="en-US"/>
          </a:p>
        </p:txBody>
      </p:sp>
    </p:spTree>
    <p:extLst>
      <p:ext uri="{BB962C8B-B14F-4D97-AF65-F5344CB8AC3E}">
        <p14:creationId xmlns:p14="http://schemas.microsoft.com/office/powerpoint/2010/main" val="3651306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C3D5-F399-D963-29B9-5252847C73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79EF53-DABF-D719-E810-270A6019C6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8E65FA-5337-73BB-F2B3-15044449CA93}"/>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5" name="Footer Placeholder 4">
            <a:extLst>
              <a:ext uri="{FF2B5EF4-FFF2-40B4-BE49-F238E27FC236}">
                <a16:creationId xmlns:a16="http://schemas.microsoft.com/office/drawing/2014/main" id="{125044C7-B784-DE9B-67FC-68AEC5484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8EA49-832C-C6EC-9965-B83C2FA983EE}"/>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2147506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DC583-2966-9775-3453-A6D655EF2C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036660-37F4-5F1B-22AC-79E478B7D0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38C83-3C10-5CD6-22F7-7AA33124F72C}"/>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5" name="Footer Placeholder 4">
            <a:extLst>
              <a:ext uri="{FF2B5EF4-FFF2-40B4-BE49-F238E27FC236}">
                <a16:creationId xmlns:a16="http://schemas.microsoft.com/office/drawing/2014/main" id="{D796C0D9-CECC-A388-BC9F-BAAD3AAE9E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2C0418-CB1E-E916-0F58-3B062F647630}"/>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4076293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244F6-9180-3B73-996A-47D0F02BA8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4D6862-D6BA-F446-E6E8-71644E32F8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3E6FB4-5657-1057-0239-D663A5583A86}"/>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5" name="Footer Placeholder 4">
            <a:extLst>
              <a:ext uri="{FF2B5EF4-FFF2-40B4-BE49-F238E27FC236}">
                <a16:creationId xmlns:a16="http://schemas.microsoft.com/office/drawing/2014/main" id="{AE17553E-F680-D561-7A36-36B98F3EA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7BABB-4402-9D32-D233-60E08F6F73B2}"/>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2479895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E8EAB-17FB-1080-453F-58210D0538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7C4DED-1941-2259-03B7-EDEA251C7F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ED86B4-D7EC-71AD-74AA-A23C44355A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A41727-EC54-715E-F3E7-490819960E25}"/>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6" name="Footer Placeholder 5">
            <a:extLst>
              <a:ext uri="{FF2B5EF4-FFF2-40B4-BE49-F238E27FC236}">
                <a16:creationId xmlns:a16="http://schemas.microsoft.com/office/drawing/2014/main" id="{AA83D7AA-3F87-ECB7-7313-0C86D343A0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B53016-1580-C998-384E-50756ABA067A}"/>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2896087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F49F5-1CFB-1879-5859-5DEBCB3AC9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B0A54F-2DE6-A714-CE05-C3FCB5C0BD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6EE21D-6429-A1C6-B546-7DCBB87707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8CD4C7-4D2B-CF1C-005F-4CFA193609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F1D923-3DA2-DC49-80B9-34354D2676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BC3D39-FCFF-A1DA-0048-B4ED24580A05}"/>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8" name="Footer Placeholder 7">
            <a:extLst>
              <a:ext uri="{FF2B5EF4-FFF2-40B4-BE49-F238E27FC236}">
                <a16:creationId xmlns:a16="http://schemas.microsoft.com/office/drawing/2014/main" id="{EAC67BC9-8771-21D8-0AFB-408BD64D8C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92FF07-7B49-5C11-F417-58673F5EF3C5}"/>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120796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442CB-B98F-AA4B-BBE0-A8F0FD6D81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D28234-4D13-D87F-B596-5491841C9A18}"/>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4" name="Footer Placeholder 3">
            <a:extLst>
              <a:ext uri="{FF2B5EF4-FFF2-40B4-BE49-F238E27FC236}">
                <a16:creationId xmlns:a16="http://schemas.microsoft.com/office/drawing/2014/main" id="{E971D7F6-5E97-4595-70BD-687042E8D6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69B396-4A54-E892-A27F-B3EC6436FD99}"/>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3417528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F9F5C-C3C5-19CB-66F6-DFCB0FD78EBD}"/>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3" name="Footer Placeholder 2">
            <a:extLst>
              <a:ext uri="{FF2B5EF4-FFF2-40B4-BE49-F238E27FC236}">
                <a16:creationId xmlns:a16="http://schemas.microsoft.com/office/drawing/2014/main" id="{7A152694-81A4-E888-34CA-55183280FA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5263AC-40B4-8D43-8FBA-1399EB5CCAEB}"/>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394705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FD3F2-B83B-E80F-A261-EDFD240495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B72DED-2D5D-4576-0618-7A6494D5A4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123FCF-EA6E-B16E-17CC-CD88E647F6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2A45B0-7543-DCB6-0C97-C4E6232BC5E1}"/>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6" name="Footer Placeholder 5">
            <a:extLst>
              <a:ext uri="{FF2B5EF4-FFF2-40B4-BE49-F238E27FC236}">
                <a16:creationId xmlns:a16="http://schemas.microsoft.com/office/drawing/2014/main" id="{463A15F8-F82A-996D-6D5A-6D4844645A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1F154-9D17-E183-781B-0E7AC9317BCA}"/>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2932539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6FA3C-E467-E5A6-D310-7FAF461250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BB7EAC-3863-98FC-DF09-C09A0802AA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03C1FA-2B01-E627-027F-4D4CBFA92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A612A8-4A64-8BC2-709D-666680002CEE}"/>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6" name="Footer Placeholder 5">
            <a:extLst>
              <a:ext uri="{FF2B5EF4-FFF2-40B4-BE49-F238E27FC236}">
                <a16:creationId xmlns:a16="http://schemas.microsoft.com/office/drawing/2014/main" id="{E4DEF96B-A10E-E4CF-D8C1-CCA97C2C71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75881E-948F-784B-2FE6-95005C0AE235}"/>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896785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D40D-4908-F409-C382-24DDCABFE7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085607-E143-361A-07E8-C6FD9CA109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4B85C-BFB8-0895-06A0-D2819BA04D02}"/>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5" name="Footer Placeholder 4">
            <a:extLst>
              <a:ext uri="{FF2B5EF4-FFF2-40B4-BE49-F238E27FC236}">
                <a16:creationId xmlns:a16="http://schemas.microsoft.com/office/drawing/2014/main" id="{4BA2C4AD-9A5B-956D-3259-D0938395D7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045C9-6395-9D94-4C97-0021D80C6D51}"/>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3356897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56B321-C763-1DE0-E218-31BCFEF2CA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DD3AC1-9406-B45D-10C9-538B0FE0B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05694E-0AE1-F144-28DB-3A7AC587DEB0}"/>
              </a:ext>
            </a:extLst>
          </p:cNvPr>
          <p:cNvSpPr>
            <a:spLocks noGrp="1"/>
          </p:cNvSpPr>
          <p:nvPr>
            <p:ph type="dt" sz="half" idx="10"/>
          </p:nvPr>
        </p:nvSpPr>
        <p:spPr/>
        <p:txBody>
          <a:bodyPr/>
          <a:lstStyle/>
          <a:p>
            <a:fld id="{ECCC89F0-E25E-4121-9984-4094BB9715A3}" type="datetimeFigureOut">
              <a:rPr lang="en-US" smtClean="0"/>
              <a:t>3/5/2026</a:t>
            </a:fld>
            <a:endParaRPr lang="en-US"/>
          </a:p>
        </p:txBody>
      </p:sp>
      <p:sp>
        <p:nvSpPr>
          <p:cNvPr id="5" name="Footer Placeholder 4">
            <a:extLst>
              <a:ext uri="{FF2B5EF4-FFF2-40B4-BE49-F238E27FC236}">
                <a16:creationId xmlns:a16="http://schemas.microsoft.com/office/drawing/2014/main" id="{0883DD60-34CB-D2F4-5D78-3F2B1D8554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EE9C64-93CE-6816-A18E-88CBF732CB49}"/>
              </a:ext>
            </a:extLst>
          </p:cNvPr>
          <p:cNvSpPr>
            <a:spLocks noGrp="1"/>
          </p:cNvSpPr>
          <p:nvPr>
            <p:ph type="sldNum" sz="quarter" idx="12"/>
          </p:nvPr>
        </p:nvSpPr>
        <p:spPr/>
        <p:txBody>
          <a:bodyPr/>
          <a:lstStyle/>
          <a:p>
            <a:fld id="{4B32492C-99C0-47D2-A91D-65CB96986C04}" type="slidenum">
              <a:rPr lang="en-US" smtClean="0"/>
              <a:t>‹#›</a:t>
            </a:fld>
            <a:endParaRPr lang="en-US"/>
          </a:p>
        </p:txBody>
      </p:sp>
    </p:spTree>
    <p:extLst>
      <p:ext uri="{BB962C8B-B14F-4D97-AF65-F5344CB8AC3E}">
        <p14:creationId xmlns:p14="http://schemas.microsoft.com/office/powerpoint/2010/main" val="3592242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9CE3EC-5AF7-9C07-1E1E-24D73CBAA7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DBB0B6-B90F-D6F8-C0EB-AD4CB742A8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5E5AF-06FA-F6BB-0076-92C466A03B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CC89F0-E25E-4121-9984-4094BB9715A3}" type="datetimeFigureOut">
              <a:rPr lang="en-US" smtClean="0"/>
              <a:t>3/5/2026</a:t>
            </a:fld>
            <a:endParaRPr lang="en-US"/>
          </a:p>
        </p:txBody>
      </p:sp>
      <p:sp>
        <p:nvSpPr>
          <p:cNvPr id="5" name="Footer Placeholder 4">
            <a:extLst>
              <a:ext uri="{FF2B5EF4-FFF2-40B4-BE49-F238E27FC236}">
                <a16:creationId xmlns:a16="http://schemas.microsoft.com/office/drawing/2014/main" id="{2EEEE774-9143-717E-0307-F9572EAD8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A78AC8-6112-8DF8-29CC-43EC1274CA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32492C-99C0-47D2-A91D-65CB96986C04}" type="slidenum">
              <a:rPr lang="en-US" smtClean="0"/>
              <a:t>‹#›</a:t>
            </a:fld>
            <a:endParaRPr lang="en-US"/>
          </a:p>
        </p:txBody>
      </p:sp>
    </p:spTree>
    <p:extLst>
      <p:ext uri="{BB962C8B-B14F-4D97-AF65-F5344CB8AC3E}">
        <p14:creationId xmlns:p14="http://schemas.microsoft.com/office/powerpoint/2010/main" val="2263860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copilot/agent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Greenfield</a:t>
            </a:r>
            <a:r>
              <a:rPr dirty="0"/>
              <a:t> Development</a:t>
            </a:r>
          </a:p>
        </p:txBody>
      </p:sp>
      <p:sp>
        <p:nvSpPr>
          <p:cNvPr id="10" name="TextBox 9">
            <a:extLst>
              <a:ext uri="{FF2B5EF4-FFF2-40B4-BE49-F238E27FC236}">
                <a16:creationId xmlns:a16="http://schemas.microsoft.com/office/drawing/2014/main" id="{E7553694-1259-3468-CDD7-FDEEAA1452D9}"/>
              </a:ext>
            </a:extLst>
          </p:cNvPr>
          <p:cNvSpPr txBox="1"/>
          <p:nvPr/>
        </p:nvSpPr>
        <p:spPr>
          <a:xfrm>
            <a:off x="838201" y="1787118"/>
            <a:ext cx="10587891" cy="2200602"/>
          </a:xfrm>
          <a:prstGeom prst="rect">
            <a:avLst/>
          </a:prstGeom>
          <a:noFill/>
        </p:spPr>
        <p:txBody>
          <a:bodyPr wrap="square">
            <a:spAutoFit/>
          </a:bodyPr>
          <a:lstStyle/>
          <a:p>
            <a:pPr marL="228594" indent="-228594" defTabSz="914377">
              <a:spcBef>
                <a:spcPts val="1000"/>
              </a:spcBef>
              <a:buFont typeface="Arial" panose="020B0604020202020204" pitchFamily="34" charset="0"/>
              <a:buChar char="•"/>
              <a:defRPr/>
            </a:pPr>
            <a:r>
              <a:rPr lang="en-US" sz="2800" dirty="0">
                <a:solidFill>
                  <a:prstClr val="white"/>
                </a:solidFill>
                <a:latin typeface="Noto Sans" panose="020B0502040504020204" pitchFamily="34" charset="0"/>
                <a:ea typeface="Noto Sans" panose="020B0502040504020204" pitchFamily="34" charset="0"/>
                <a:cs typeface="Noto Sans" panose="020B0502040504020204" pitchFamily="34" charset="0"/>
              </a:rPr>
              <a:t>Creating Custom Chat Modes for Greenfield development</a:t>
            </a:r>
          </a:p>
          <a:p>
            <a:pPr marL="228594" indent="-228594" defTabSz="914377">
              <a:spcBef>
                <a:spcPts val="1000"/>
              </a:spcBef>
              <a:buFont typeface="Arial" panose="020B0604020202020204" pitchFamily="34" charset="0"/>
              <a:buChar char="•"/>
              <a:defRPr/>
            </a:pPr>
            <a:r>
              <a:rPr lang="en-US" sz="2800" dirty="0">
                <a:solidFill>
                  <a:prstClr val="white"/>
                </a:solidFill>
                <a:latin typeface="Noto Sans" panose="020B0502040504020204" pitchFamily="34" charset="0"/>
                <a:ea typeface="Noto Sans" panose="020B0502040504020204" pitchFamily="34" charset="0"/>
                <a:cs typeface="Noto Sans" panose="020B0502040504020204" pitchFamily="34" charset="0"/>
              </a:rPr>
              <a:t>Chat Mode Command Prompts</a:t>
            </a:r>
          </a:p>
          <a:p>
            <a:pPr marL="228594" indent="-228594" defTabSz="914377">
              <a:spcBef>
                <a:spcPts val="1000"/>
              </a:spcBef>
              <a:buFont typeface="Arial" panose="020B0604020202020204" pitchFamily="34" charset="0"/>
              <a:buChar char="•"/>
              <a:defRPr/>
            </a:pPr>
            <a:r>
              <a:rPr lang="en-US" sz="2800" dirty="0">
                <a:solidFill>
                  <a:prstClr val="white"/>
                </a:solidFill>
                <a:latin typeface="Noto Sans" panose="020B0502040504020204" pitchFamily="34" charset="0"/>
                <a:ea typeface="Noto Sans" panose="020B0502040504020204" pitchFamily="34" charset="0"/>
                <a:cs typeface="Noto Sans" panose="020B0502040504020204" pitchFamily="34" charset="0"/>
              </a:rPr>
              <a:t>Core Instruction Files</a:t>
            </a:r>
          </a:p>
          <a:p>
            <a:pPr defTabSz="914377">
              <a:spcBef>
                <a:spcPts val="1000"/>
              </a:spcBef>
              <a:defRPr/>
            </a:pPr>
            <a:endParaRPr lang="en-US" sz="2800" dirty="0">
              <a:solidFill>
                <a:prstClr val="white"/>
              </a:solidFill>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What Copilot Looks For</a:t>
            </a:r>
          </a:p>
        </p:txBody>
      </p:sp>
      <p:graphicFrame>
        <p:nvGraphicFramePr>
          <p:cNvPr id="6" name="Content Placeholder 5"/>
          <p:cNvGraphicFramePr>
            <a:graphicFrameLocks noGrp="1"/>
          </p:cNvGraphicFramePr>
          <p:nvPr>
            <p:ph idx="1"/>
          </p:nvPr>
        </p:nvGraphicFramePr>
        <p:xfrm>
          <a:off x="609600" y="1591733"/>
          <a:ext cx="10989733" cy="4297680"/>
        </p:xfrm>
        <a:graphic>
          <a:graphicData uri="http://schemas.openxmlformats.org/drawingml/2006/table">
            <a:tbl>
              <a:tblPr firstRow="1" bandRow="1">
                <a:tableStyleId>{FABFCF23-3B69-468F-B69F-88F6DE6A72F2}</a:tableStyleId>
              </a:tblPr>
              <a:tblGrid>
                <a:gridCol w="2895600">
                  <a:extLst>
                    <a:ext uri="{9D8B030D-6E8A-4147-A177-3AD203B41FA5}">
                      <a16:colId xmlns:a16="http://schemas.microsoft.com/office/drawing/2014/main" val="20000"/>
                    </a:ext>
                  </a:extLst>
                </a:gridCol>
                <a:gridCol w="3471333">
                  <a:extLst>
                    <a:ext uri="{9D8B030D-6E8A-4147-A177-3AD203B41FA5}">
                      <a16:colId xmlns:a16="http://schemas.microsoft.com/office/drawing/2014/main" val="20001"/>
                    </a:ext>
                  </a:extLst>
                </a:gridCol>
                <a:gridCol w="3268133">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tblGrid>
              <a:tr h="487680">
                <a:tc>
                  <a:txBody>
                    <a:bodyPr/>
                    <a:lstStyle/>
                    <a:p>
                      <a:pPr marL="0" lvl="0" indent="0">
                        <a:buNone/>
                      </a:pPr>
                      <a:r>
                        <a:rPr sz="2400"/>
                        <a:t>Artifact Type</a:t>
                      </a:r>
                    </a:p>
                  </a:txBody>
                  <a:tcPr marL="121920" marR="121920" marT="60960" marB="60960"/>
                </a:tc>
                <a:tc>
                  <a:txBody>
                    <a:bodyPr/>
                    <a:lstStyle/>
                    <a:p>
                      <a:pPr marL="0" lvl="0" indent="0">
                        <a:buNone/>
                      </a:pPr>
                      <a:r>
                        <a:rPr sz="2400" dirty="0"/>
                        <a:t>Required Location</a:t>
                      </a:r>
                    </a:p>
                  </a:txBody>
                  <a:tcPr marL="121920" marR="121920" marT="60960" marB="60960"/>
                </a:tc>
                <a:tc>
                  <a:txBody>
                    <a:bodyPr/>
                    <a:lstStyle/>
                    <a:p>
                      <a:pPr marL="0" lvl="0" indent="0">
                        <a:buNone/>
                      </a:pPr>
                      <a:r>
                        <a:rPr sz="2400"/>
                        <a:t>Required Format</a:t>
                      </a:r>
                    </a:p>
                  </a:txBody>
                  <a:tcPr marL="121920" marR="121920" marT="60960" marB="60960"/>
                </a:tc>
                <a:tc>
                  <a:txBody>
                    <a:bodyPr/>
                    <a:lstStyle/>
                    <a:p>
                      <a:pPr marL="0" lvl="0" indent="0">
                        <a:buNone/>
                      </a:pPr>
                      <a:r>
                        <a:rPr sz="2400"/>
                        <a:t>Notes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a:t>Org guardrails</a:t>
                      </a:r>
                    </a:p>
                  </a:txBody>
                  <a:tcPr marL="121920" marR="121920" marT="60960" marB="60960"/>
                </a:tc>
                <a:tc>
                  <a:txBody>
                    <a:bodyPr/>
                    <a:lstStyle/>
                    <a:p>
                      <a:pPr marL="0" lvl="0" indent="0">
                        <a:buNone/>
                      </a:pPr>
                      <a:r>
                        <a:rPr sz="2400"/>
                        <a:t>Org settings</a:t>
                      </a:r>
                    </a:p>
                  </a:txBody>
                  <a:tcPr marL="121920" marR="121920" marT="60960" marB="60960"/>
                </a:tc>
                <a:tc>
                  <a:txBody>
                    <a:bodyPr/>
                    <a:lstStyle/>
                    <a:p>
                      <a:pPr marL="0" lvl="0" indent="0">
                        <a:buNone/>
                      </a:pPr>
                      <a:r>
                        <a:rPr sz="2400"/>
                        <a:t>UI-managed</a:t>
                      </a:r>
                    </a:p>
                  </a:txBody>
                  <a:tcPr marL="121920" marR="121920" marT="60960" marB="60960"/>
                </a:tc>
                <a:tc>
                  <a:txBody>
                    <a:bodyPr/>
                    <a:lstStyle/>
                    <a:p>
                      <a:pPr marL="0" lvl="0" indent="0">
                        <a:buNone/>
                      </a:pPr>
                      <a:r>
                        <a:rPr sz="2400"/>
                        <a:t>Always included</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a:t>Repo guardrails</a:t>
                      </a:r>
                    </a:p>
                  </a:txBody>
                  <a:tcPr marL="121920" marR="121920" marT="60960" marB="60960"/>
                </a:tc>
                <a:tc>
                  <a:txBody>
                    <a:bodyPr/>
                    <a:lstStyle/>
                    <a:p>
                      <a:pPr marL="0" lvl="0" indent="0">
                        <a:buNone/>
                      </a:pPr>
                      <a:r>
                        <a:rPr sz="2400"/>
                        <a:t>.github/instructions/</a:t>
                      </a:r>
                      <a:endParaRPr sz="2400">
                        <a:latin typeface="Courier"/>
                      </a:endParaRPr>
                    </a:p>
                  </a:txBody>
                  <a:tcPr marL="121920" marR="121920" marT="60960" marB="60960"/>
                </a:tc>
                <a:tc>
                  <a:txBody>
                    <a:bodyPr/>
                    <a:lstStyle/>
                    <a:p>
                      <a:pPr marL="0" lvl="0" indent="0">
                        <a:buNone/>
                      </a:pPr>
                      <a:r>
                        <a:rPr sz="2400"/>
                        <a:t>.md</a:t>
                      </a:r>
                      <a:endParaRPr sz="2400">
                        <a:latin typeface="Courier"/>
                      </a:endParaRPr>
                    </a:p>
                  </a:txBody>
                  <a:tcPr marL="121920" marR="121920" marT="60960" marB="60960"/>
                </a:tc>
                <a:tc>
                  <a:txBody>
                    <a:bodyPr/>
                    <a:lstStyle/>
                    <a:p>
                      <a:pPr marL="0" lvl="0" indent="0">
                        <a:buNone/>
                      </a:pPr>
                      <a:r>
                        <a:rPr sz="2400"/>
                        <a:t>Always included</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a:t>Path-scoped guardrails</a:t>
                      </a:r>
                    </a:p>
                  </a:txBody>
                  <a:tcPr marL="121920" marR="121920" marT="60960" marB="60960"/>
                </a:tc>
                <a:tc>
                  <a:txBody>
                    <a:bodyPr/>
                    <a:lstStyle/>
                    <a:p>
                      <a:pPr marL="0" lvl="0" indent="0">
                        <a:buNone/>
                      </a:pPr>
                      <a:r>
                        <a:rPr sz="2400"/>
                        <a:t>Any folder</a:t>
                      </a:r>
                    </a:p>
                  </a:txBody>
                  <a:tcPr marL="121920" marR="121920" marT="60960" marB="60960"/>
                </a:tc>
                <a:tc>
                  <a:txBody>
                    <a:bodyPr/>
                    <a:lstStyle/>
                    <a:p>
                      <a:pPr marL="0" lvl="0" indent="0">
                        <a:buNone/>
                      </a:pPr>
                      <a:r>
                        <a:rPr sz="2400"/>
                        <a:t>copilot-instructions.md</a:t>
                      </a:r>
                      <a:endParaRPr sz="2400">
                        <a:latin typeface="Courier"/>
                      </a:endParaRPr>
                    </a:p>
                  </a:txBody>
                  <a:tcPr marL="121920" marR="121920" marT="60960" marB="60960"/>
                </a:tc>
                <a:tc>
                  <a:txBody>
                    <a:bodyPr/>
                    <a:lstStyle/>
                    <a:p>
                      <a:pPr marL="0" lvl="0" indent="0">
                        <a:buNone/>
                      </a:pPr>
                      <a:r>
                        <a:rPr sz="2400"/>
                        <a:t>Applies to subtree</a:t>
                      </a:r>
                    </a:p>
                  </a:txBody>
                  <a:tcPr marL="121920" marR="121920" marT="60960" marB="60960"/>
                </a:tc>
                <a:extLst>
                  <a:ext uri="{0D108BD9-81ED-4DB2-BD59-A6C34878D82A}">
                    <a16:rowId xmlns:a16="http://schemas.microsoft.com/office/drawing/2014/main" val="10003"/>
                  </a:ext>
                </a:extLst>
              </a:tr>
              <a:tr h="2316480">
                <a:tc>
                  <a:txBody>
                    <a:bodyPr/>
                    <a:lstStyle/>
                    <a:p>
                      <a:pPr marL="0" lvl="0" indent="0">
                        <a:buNone/>
                      </a:pPr>
                      <a:r>
                        <a:rPr sz="2400" b="1"/>
                        <a:t>Agents (formerly chat modes)</a:t>
                      </a:r>
                    </a:p>
                  </a:txBody>
                  <a:tcPr marL="121920" marR="121920" marT="60960" marB="60960"/>
                </a:tc>
                <a:tc>
                  <a:txBody>
                    <a:bodyPr/>
                    <a:lstStyle/>
                    <a:p>
                      <a:pPr marL="0" lvl="0" indent="0">
                        <a:buNone/>
                      </a:pPr>
                      <a:r>
                        <a:rPr sz="2400"/>
                        <a:t>.github/copilot/chat_modes/</a:t>
                      </a:r>
                      <a:endParaRPr sz="2400">
                        <a:latin typeface="Courier"/>
                      </a:endParaRPr>
                    </a:p>
                  </a:txBody>
                  <a:tcPr marL="121920" marR="121920" marT="60960" marB="60960"/>
                </a:tc>
                <a:tc>
                  <a:txBody>
                    <a:bodyPr/>
                    <a:lstStyle/>
                    <a:p>
                      <a:pPr marL="0" lvl="0" indent="0">
                        <a:buNone/>
                      </a:pPr>
                      <a:r>
                        <a:rPr sz="2400"/>
                        <a:t>.json or .yaml</a:t>
                      </a:r>
                      <a:endParaRPr sz="2400">
                        <a:latin typeface="Courier"/>
                      </a:endParaRPr>
                    </a:p>
                  </a:txBody>
                  <a:tcPr marL="121920" marR="121920" marT="60960" marB="60960"/>
                </a:tc>
                <a:tc>
                  <a:txBody>
                    <a:bodyPr/>
                    <a:lstStyle/>
                    <a:p>
                      <a:pPr marL="0" lvl="0" indent="0">
                        <a:buNone/>
                      </a:pPr>
                      <a:r>
                        <a:rPr sz="2400"/>
                        <a:t>Folder name has NOT changed</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a:t>Promptfiles</a:t>
                      </a:r>
                    </a:p>
                  </a:txBody>
                  <a:tcPr marL="121920" marR="121920" marT="60960" marB="60960"/>
                </a:tc>
                <a:tc>
                  <a:txBody>
                    <a:bodyPr/>
                    <a:lstStyle/>
                    <a:p>
                      <a:pPr marL="0" lvl="0" indent="0">
                        <a:buNone/>
                      </a:pPr>
                      <a:r>
                        <a:rPr sz="2400"/>
                        <a:t>.github/copilot/promptfiles/</a:t>
                      </a:r>
                      <a:endParaRPr sz="2400">
                        <a:latin typeface="Courier"/>
                      </a:endParaRPr>
                    </a:p>
                  </a:txBody>
                  <a:tcPr marL="121920" marR="121920" marT="60960" marB="60960"/>
                </a:tc>
                <a:tc>
                  <a:txBody>
                    <a:bodyPr/>
                    <a:lstStyle/>
                    <a:p>
                      <a:pPr marL="0" lvl="0" indent="0">
                        <a:buNone/>
                      </a:pPr>
                      <a:r>
                        <a:rPr sz="2400"/>
                        <a:t>.md</a:t>
                      </a:r>
                      <a:endParaRPr sz="2400">
                        <a:latin typeface="Courier"/>
                      </a:endParaRPr>
                    </a:p>
                  </a:txBody>
                  <a:tcPr marL="121920" marR="121920" marT="60960" marB="60960"/>
                </a:tc>
                <a:tc>
                  <a:txBody>
                    <a:bodyPr/>
                    <a:lstStyle/>
                    <a:p>
                      <a:pPr marL="0" lvl="0" indent="0">
                        <a:buNone/>
                      </a:pPr>
                      <a:r>
                        <a:rPr sz="2400" dirty="0"/>
                        <a:t>Only when invoked</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What’s Changing and What Isn’t</a:t>
            </a:r>
          </a:p>
        </p:txBody>
      </p:sp>
      <p:sp>
        <p:nvSpPr>
          <p:cNvPr id="3" name="Content Placeholder 2"/>
          <p:cNvSpPr>
            <a:spLocks noGrp="1"/>
          </p:cNvSpPr>
          <p:nvPr>
            <p:ph idx="1"/>
          </p:nvPr>
        </p:nvSpPr>
        <p:spPr/>
        <p:txBody>
          <a:bodyPr>
            <a:normAutofit fontScale="92500" lnSpcReduction="20000"/>
          </a:bodyPr>
          <a:lstStyle/>
          <a:p>
            <a:pPr marL="0" indent="0">
              <a:buNone/>
            </a:pPr>
            <a:r>
              <a:rPr b="1" dirty="0"/>
              <a:t>Changing:</a:t>
            </a:r>
            <a:r>
              <a:rPr dirty="0"/>
              <a:t> </a:t>
            </a:r>
            <a:endParaRPr lang="en-US" dirty="0"/>
          </a:p>
          <a:p>
            <a:r>
              <a:rPr dirty="0"/>
              <a:t>Terminology in UI and documentation</a:t>
            </a:r>
            <a:endParaRPr lang="en-US" dirty="0"/>
          </a:p>
          <a:p>
            <a:r>
              <a:rPr dirty="0"/>
              <a:t>Conceptual framing (agents = more powerful, structured roles)</a:t>
            </a:r>
            <a:endParaRPr lang="en-US" dirty="0"/>
          </a:p>
          <a:p>
            <a:r>
              <a:rPr dirty="0"/>
              <a:t>Schema will expand over time</a:t>
            </a:r>
          </a:p>
          <a:p>
            <a:pPr marL="0" indent="0">
              <a:buNone/>
            </a:pPr>
            <a:r>
              <a:rPr b="1" dirty="0"/>
              <a:t>Not changing (yet):</a:t>
            </a:r>
            <a:r>
              <a:rPr dirty="0"/>
              <a:t> </a:t>
            </a:r>
            <a:endParaRPr lang="en-US" dirty="0"/>
          </a:p>
          <a:p>
            <a:r>
              <a:rPr dirty="0"/>
              <a:t>Folder name: </a:t>
            </a:r>
            <a:r>
              <a:rPr dirty="0">
                <a:latin typeface="Courier"/>
              </a:rPr>
              <a:t>.</a:t>
            </a:r>
            <a:r>
              <a:rPr dirty="0" err="1">
                <a:latin typeface="Courier"/>
              </a:rPr>
              <a:t>github</a:t>
            </a:r>
            <a:r>
              <a:rPr dirty="0">
                <a:latin typeface="Courier"/>
              </a:rPr>
              <a:t>/copilot/</a:t>
            </a:r>
            <a:r>
              <a:rPr dirty="0" err="1">
                <a:latin typeface="Courier"/>
              </a:rPr>
              <a:t>chat_modes</a:t>
            </a:r>
            <a:r>
              <a:rPr dirty="0">
                <a:latin typeface="Courier"/>
              </a:rPr>
              <a:t>/</a:t>
            </a:r>
            <a:endParaRPr lang="en-US" dirty="0">
              <a:latin typeface="Courier"/>
            </a:endParaRPr>
          </a:p>
          <a:p>
            <a:r>
              <a:rPr dirty="0"/>
              <a:t>File discovery rules</a:t>
            </a:r>
            <a:endParaRPr lang="en-US" dirty="0"/>
          </a:p>
          <a:p>
            <a:r>
              <a:rPr dirty="0"/>
              <a:t>Filename requirements</a:t>
            </a:r>
            <a:endParaRPr lang="en-US" dirty="0"/>
          </a:p>
          <a:p>
            <a:r>
              <a:rPr dirty="0" err="1"/>
              <a:t>Promptfile</a:t>
            </a:r>
            <a:r>
              <a:rPr dirty="0"/>
              <a:t> behavior</a:t>
            </a:r>
            <a:endParaRPr lang="en-US" dirty="0"/>
          </a:p>
          <a:p>
            <a:r>
              <a:rPr dirty="0"/>
              <a:t>Instruction stack mechanics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C3CA-D0E2-1A00-60C9-5442B1BDAB62}"/>
              </a:ext>
            </a:extLst>
          </p:cNvPr>
          <p:cNvSpPr>
            <a:spLocks noGrp="1"/>
          </p:cNvSpPr>
          <p:nvPr>
            <p:ph type="title"/>
          </p:nvPr>
        </p:nvSpPr>
        <p:spPr/>
        <p:txBody>
          <a:bodyPr>
            <a:normAutofit/>
          </a:bodyPr>
          <a:lstStyle/>
          <a:p>
            <a:r>
              <a:rPr lang="en-US" dirty="0"/>
              <a:t>Order of Precedence</a:t>
            </a:r>
          </a:p>
        </p:txBody>
      </p:sp>
      <p:sp>
        <p:nvSpPr>
          <p:cNvPr id="3" name="Content Placeholder 2">
            <a:extLst>
              <a:ext uri="{FF2B5EF4-FFF2-40B4-BE49-F238E27FC236}">
                <a16:creationId xmlns:a16="http://schemas.microsoft.com/office/drawing/2014/main" id="{9C39E8AD-C257-47C7-5A5B-58C1F6C9F8B1}"/>
              </a:ext>
            </a:extLst>
          </p:cNvPr>
          <p:cNvSpPr>
            <a:spLocks noGrp="1"/>
          </p:cNvSpPr>
          <p:nvPr>
            <p:ph idx="1"/>
          </p:nvPr>
        </p:nvSpPr>
        <p:spPr/>
        <p:txBody>
          <a:bodyPr>
            <a:normAutofit fontScale="47500" lnSpcReduction="20000"/>
          </a:bodyPr>
          <a:lstStyle/>
          <a:p>
            <a:r>
              <a:rPr lang="en-US" b="1" dirty="0"/>
              <a:t>Organization‑level instruction files</a:t>
            </a:r>
            <a:endParaRPr lang="en-US" dirty="0"/>
          </a:p>
          <a:p>
            <a:r>
              <a:rPr lang="en-US" b="1" dirty="0"/>
              <a:t>Chat mode file</a:t>
            </a:r>
            <a:endParaRPr lang="en-US" dirty="0"/>
          </a:p>
          <a:p>
            <a:r>
              <a:rPr lang="en-US" b="1" dirty="0"/>
              <a:t>Repository‑level instruction files</a:t>
            </a:r>
            <a:endParaRPr lang="en-US" dirty="0"/>
          </a:p>
          <a:p>
            <a:r>
              <a:rPr lang="en-US" b="1" dirty="0"/>
              <a:t>Workspace‑level instruction files</a:t>
            </a:r>
            <a:endParaRPr lang="en-US" dirty="0"/>
          </a:p>
          <a:p>
            <a:r>
              <a:rPr lang="en-US" b="1" dirty="0"/>
              <a:t>Prompt file</a:t>
            </a:r>
            <a:r>
              <a:rPr lang="en-US" dirty="0"/>
              <a:t> (only when invoked)</a:t>
            </a:r>
          </a:p>
          <a:p>
            <a:r>
              <a:rPr lang="en-US" b="1" dirty="0"/>
              <a:t>User message</a:t>
            </a:r>
            <a:endParaRPr lang="en-US" dirty="0"/>
          </a:p>
          <a:p>
            <a:endParaRPr lang="en-US" dirty="0"/>
          </a:p>
        </p:txBody>
      </p:sp>
    </p:spTree>
    <p:extLst>
      <p:ext uri="{BB962C8B-B14F-4D97-AF65-F5344CB8AC3E}">
        <p14:creationId xmlns:p14="http://schemas.microsoft.com/office/powerpoint/2010/main" val="987142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What Are Custom Agents?</a:t>
            </a:r>
          </a:p>
        </p:txBody>
      </p:sp>
      <p:sp>
        <p:nvSpPr>
          <p:cNvPr id="3" name="Content Placeholder 2"/>
          <p:cNvSpPr>
            <a:spLocks noGrp="1"/>
          </p:cNvSpPr>
          <p:nvPr>
            <p:ph idx="1"/>
          </p:nvPr>
        </p:nvSpPr>
        <p:spPr/>
        <p:txBody>
          <a:bodyPr/>
          <a:lstStyle/>
          <a:p>
            <a:pPr marL="0" indent="0">
              <a:buNone/>
            </a:pPr>
            <a:r>
              <a:t>Custom agents are specialized AI assistants with:</a:t>
            </a:r>
          </a:p>
          <a:p>
            <a:pPr lvl="0"/>
            <a:r>
              <a:rPr b="1"/>
              <a:t>Tailored expertise</a:t>
            </a:r>
            <a:r>
              <a:t> for specific development tasks</a:t>
            </a:r>
          </a:p>
          <a:p>
            <a:pPr lvl="0"/>
            <a:r>
              <a:rPr b="1"/>
              <a:t>Configurable tools</a:t>
            </a:r>
            <a:r>
              <a:t> and capabilities</a:t>
            </a:r>
          </a:p>
          <a:p>
            <a:pPr lvl="0"/>
            <a:r>
              <a:rPr b="1"/>
              <a:t>Custom instructions</a:t>
            </a:r>
            <a:r>
              <a:t> defining behavior</a:t>
            </a:r>
          </a:p>
          <a:p>
            <a:pPr lvl="0"/>
            <a:r>
              <a:rPr b="1"/>
              <a:t>Reusable profiles</a:t>
            </a:r>
            <a:r>
              <a:t> across projects</a:t>
            </a:r>
          </a:p>
          <a:p>
            <a:pPr lvl="0"/>
            <a:r>
              <a:rPr b="1"/>
              <a:t>Available in multiple environments</a:t>
            </a:r>
            <a:r>
              <a:t> (GitHub.com, VS Code, JetBrains, Eclipse, Xcode)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Where to Create Custom Agents</a:t>
            </a:r>
          </a:p>
        </p:txBody>
      </p:sp>
      <p:sp>
        <p:nvSpPr>
          <p:cNvPr id="3" name="Content Placeholder 2"/>
          <p:cNvSpPr>
            <a:spLocks noGrp="1"/>
          </p:cNvSpPr>
          <p:nvPr>
            <p:ph idx="1"/>
          </p:nvPr>
        </p:nvSpPr>
        <p:spPr/>
        <p:txBody>
          <a:bodyPr>
            <a:normAutofit fontScale="92500" lnSpcReduction="20000"/>
          </a:bodyPr>
          <a:lstStyle/>
          <a:p>
            <a:pPr marL="0" indent="0">
              <a:spcBef>
                <a:spcPts val="4000"/>
              </a:spcBef>
              <a:buNone/>
            </a:pPr>
            <a:r>
              <a:rPr b="1"/>
              <a:t>GitHub.com</a:t>
            </a:r>
          </a:p>
          <a:p>
            <a:pPr lvl="0"/>
            <a:r>
              <a:t>Navigate to </a:t>
            </a:r>
            <a:r>
              <a:rPr>
                <a:hlinkClick r:id="rId3"/>
              </a:rPr>
              <a:t>github.com/copilot/agents</a:t>
            </a:r>
          </a:p>
          <a:p>
            <a:pPr lvl="0"/>
            <a:r>
              <a:t>Available at repository, organization, or enterprise level</a:t>
            </a:r>
          </a:p>
          <a:p>
            <a:pPr lvl="0"/>
            <a:r>
              <a:t>Template-based creation process</a:t>
            </a:r>
          </a:p>
          <a:p>
            <a:pPr marL="0" indent="0">
              <a:spcBef>
                <a:spcPts val="4000"/>
              </a:spcBef>
              <a:buNone/>
            </a:pPr>
            <a:r>
              <a:rPr b="1"/>
              <a:t>IDEs</a:t>
            </a:r>
          </a:p>
          <a:p>
            <a:pPr lvl="0"/>
            <a:r>
              <a:rPr b="1"/>
              <a:t>VS Code</a:t>
            </a:r>
            <a:r>
              <a:t>: Configure Custom Agents menu</a:t>
            </a:r>
          </a:p>
          <a:p>
            <a:pPr lvl="0"/>
            <a:r>
              <a:rPr b="1"/>
              <a:t>JetBrains</a:t>
            </a:r>
            <a:r>
              <a:t>: Configure Agents settings</a:t>
            </a:r>
          </a:p>
          <a:p>
            <a:pPr lvl="0"/>
            <a:r>
              <a:rPr b="1"/>
              <a:t>Eclipse</a:t>
            </a:r>
            <a:r>
              <a:t>: Add custom agents dialog</a:t>
            </a:r>
          </a:p>
          <a:p>
            <a:pPr lvl="0"/>
            <a:r>
              <a:rPr b="1"/>
              <a:t>Xcode</a:t>
            </a:r>
            <a:r>
              <a:t>: Create agent from dropdown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Creating on GitHub: Step-by-Step</a:t>
            </a:r>
          </a:p>
        </p:txBody>
      </p:sp>
      <p:sp>
        <p:nvSpPr>
          <p:cNvPr id="3" name="Content Placeholder 2"/>
          <p:cNvSpPr>
            <a:spLocks noGrp="1"/>
          </p:cNvSpPr>
          <p:nvPr>
            <p:ph idx="1"/>
          </p:nvPr>
        </p:nvSpPr>
        <p:spPr/>
        <p:txBody>
          <a:bodyPr>
            <a:normAutofit fontScale="92500"/>
          </a:bodyPr>
          <a:lstStyle/>
          <a:p>
            <a:pPr marL="457189" indent="-457189">
              <a:buAutoNum type="arabicPeriod"/>
            </a:pPr>
            <a:r>
              <a:t>Go to </a:t>
            </a:r>
            <a:r>
              <a:rPr>
                <a:latin typeface="Courier"/>
              </a:rPr>
              <a:t>github.com/copilot/agents</a:t>
            </a:r>
          </a:p>
          <a:p>
            <a:pPr marL="457189" indent="-457189">
              <a:buAutoNum type="arabicPeriod"/>
            </a:pPr>
            <a:r>
              <a:t>Select repository (or </a:t>
            </a:r>
            <a:r>
              <a:rPr>
                <a:latin typeface="Courier"/>
              </a:rPr>
              <a:t>.github-private</a:t>
            </a:r>
            <a:r>
              <a:t> for org/enterprise)</a:t>
            </a:r>
          </a:p>
          <a:p>
            <a:pPr marL="457189" indent="-457189">
              <a:buAutoNum type="arabicPeriod"/>
            </a:pPr>
            <a:r>
              <a:t>Click Copilot icon → </a:t>
            </a:r>
            <a:r>
              <a:rPr b="1"/>
              <a:t>Create an agent</a:t>
            </a:r>
          </a:p>
          <a:p>
            <a:pPr marL="457189" indent="-457189">
              <a:buAutoNum type="arabicPeriod"/>
            </a:pPr>
            <a:r>
              <a:t>Creates template: </a:t>
            </a:r>
            <a:r>
              <a:rPr>
                <a:latin typeface="Courier"/>
              </a:rPr>
              <a:t>my-agent.agent.md</a:t>
            </a:r>
            <a:r>
              <a:t> in </a:t>
            </a:r>
            <a:r>
              <a:rPr>
                <a:latin typeface="Courier"/>
              </a:rPr>
              <a:t>.github/agents/</a:t>
            </a:r>
          </a:p>
          <a:p>
            <a:pPr marL="457189" indent="-457189">
              <a:buAutoNum type="arabicPeriod"/>
            </a:pPr>
            <a:r>
              <a:t>Rename file with descriptive name (e.g., </a:t>
            </a:r>
            <a:r>
              <a:rPr>
                <a:latin typeface="Courier"/>
              </a:rPr>
              <a:t>test-specialist.agent.md</a:t>
            </a:r>
            <a:r>
              <a:t>)</a:t>
            </a:r>
          </a:p>
          <a:p>
            <a:pPr marL="457189" indent="-457189">
              <a:buAutoNum type="arabicPeriod"/>
            </a:pPr>
            <a:r>
              <a:t>Configure agent profile (next slide)</a:t>
            </a:r>
          </a:p>
          <a:p>
            <a:pPr marL="457189" indent="-457189">
              <a:buAutoNum type="arabicPeriod"/>
            </a:pPr>
            <a:r>
              <a:t>Commit to default branch</a:t>
            </a:r>
          </a:p>
          <a:p>
            <a:pPr marL="457189" indent="-457189">
              <a:buAutoNum type="arabicPeriod"/>
            </a:pPr>
            <a:r>
              <a:t>Agent appears in dropdown immediately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Creating in VS Code</a:t>
            </a:r>
          </a:p>
        </p:txBody>
      </p:sp>
      <p:sp>
        <p:nvSpPr>
          <p:cNvPr id="3" name="Content Placeholder 2"/>
          <p:cNvSpPr>
            <a:spLocks noGrp="1"/>
          </p:cNvSpPr>
          <p:nvPr>
            <p:ph idx="1"/>
          </p:nvPr>
        </p:nvSpPr>
        <p:spPr/>
        <p:txBody>
          <a:bodyPr>
            <a:normAutofit fontScale="92500" lnSpcReduction="10000"/>
          </a:bodyPr>
          <a:lstStyle/>
          <a:p>
            <a:pPr marL="457189" indent="-457189">
              <a:buAutoNum type="arabicPeriod"/>
            </a:pPr>
            <a:r>
              <a:t>Open GitHub Copilot Chat</a:t>
            </a:r>
          </a:p>
          <a:p>
            <a:pPr marL="457189" indent="-457189">
              <a:buAutoNum type="arabicPeriod"/>
            </a:pPr>
            <a:r>
              <a:t>Agents dropdown → </a:t>
            </a:r>
            <a:r>
              <a:rPr b="1"/>
              <a:t>Configure Custom Agents…</a:t>
            </a:r>
          </a:p>
          <a:p>
            <a:pPr marL="457189" indent="-457189">
              <a:buAutoNum type="arabicPeriod"/>
            </a:pPr>
            <a:r>
              <a:t>Click </a:t>
            </a:r>
            <a:r>
              <a:rPr b="1"/>
              <a:t>Create new custom agent</a:t>
            </a:r>
          </a:p>
          <a:p>
            <a:pPr marL="457189" indent="-457189">
              <a:buAutoNum type="arabicPeriod"/>
            </a:pPr>
            <a:r>
              <a:t>Choose location:</a:t>
            </a:r>
          </a:p>
          <a:p>
            <a:pPr lvl="1"/>
            <a:r>
              <a:rPr b="1"/>
              <a:t>Workspace</a:t>
            </a:r>
            <a:r>
              <a:t>: </a:t>
            </a:r>
            <a:r>
              <a:rPr>
                <a:latin typeface="Courier"/>
              </a:rPr>
              <a:t>.github/agents/</a:t>
            </a:r>
            <a:r>
              <a:t> (project-specific)</a:t>
            </a:r>
          </a:p>
          <a:p>
            <a:pPr lvl="1"/>
            <a:r>
              <a:rPr b="1"/>
              <a:t>User profile</a:t>
            </a:r>
            <a:r>
              <a:t>: Personal agents (all workspaces)</a:t>
            </a:r>
          </a:p>
          <a:p>
            <a:pPr marL="457189" indent="-457189">
              <a:buAutoNum type="arabicPeriod"/>
            </a:pPr>
            <a:r>
              <a:t>Enter filename</a:t>
            </a:r>
          </a:p>
          <a:p>
            <a:pPr marL="457189" indent="-457189">
              <a:buAutoNum type="arabicPeriod"/>
            </a:pPr>
            <a:r>
              <a:t>Configure in </a:t>
            </a:r>
            <a:r>
              <a:rPr>
                <a:latin typeface="Courier"/>
              </a:rPr>
              <a:t>.agent.md</a:t>
            </a:r>
            <a:r>
              <a:t> file</a:t>
            </a:r>
          </a:p>
          <a:p>
            <a:pPr marL="457189" indent="-457189">
              <a:buAutoNum type="arabicPeriod"/>
            </a:pPr>
            <a:r>
              <a:t>Use </a:t>
            </a:r>
            <a:r>
              <a:rPr b="1"/>
              <a:t>Configure Tools…</a:t>
            </a:r>
            <a:r>
              <a:t> button for tool selection</a:t>
            </a:r>
          </a:p>
          <a:p>
            <a:pPr marL="457189" indent="-457189">
              <a:buAutoNum type="arabicPeriod"/>
            </a:pPr>
            <a:r>
              <a:t>Set </a:t>
            </a:r>
            <a:r>
              <a:rPr>
                <a:latin typeface="Courier"/>
              </a:rPr>
              <a:t>model:</a:t>
            </a:r>
            <a:r>
              <a:t> property for AI model preference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Agent Profile Structure</a:t>
            </a:r>
          </a:p>
        </p:txBody>
      </p:sp>
      <p:sp>
        <p:nvSpPr>
          <p:cNvPr id="3" name="Content Placeholder 2"/>
          <p:cNvSpPr>
            <a:spLocks noGrp="1"/>
          </p:cNvSpPr>
          <p:nvPr>
            <p:ph idx="1"/>
          </p:nvPr>
        </p:nvSpPr>
        <p:spPr/>
        <p:txBody>
          <a:bodyPr>
            <a:normAutofit fontScale="85000" lnSpcReduction="10000"/>
          </a:bodyPr>
          <a:lstStyle/>
          <a:p>
            <a:pPr indent="0">
              <a:buNone/>
            </a:pPr>
            <a:r>
              <a:rPr>
                <a:solidFill>
                  <a:srgbClr val="BC7A00"/>
                </a:solidFill>
                <a:latin typeface="Courier"/>
              </a:rPr>
              <a:t>---</a:t>
            </a:r>
            <a:br/>
            <a:r>
              <a:rPr>
                <a:solidFill>
                  <a:srgbClr val="06287E"/>
                </a:solidFill>
                <a:latin typeface="Courier"/>
              </a:rPr>
              <a:t>name</a:t>
            </a:r>
            <a:r>
              <a:rPr b="1">
                <a:solidFill>
                  <a:srgbClr val="007020"/>
                </a:solidFill>
                <a:latin typeface="Courier"/>
              </a:rPr>
              <a:t>:</a:t>
            </a:r>
            <a:r>
              <a:rPr>
                <a:solidFill>
                  <a:srgbClr val="7D9029"/>
                </a:solidFill>
                <a:latin typeface="Courier"/>
              </a:rPr>
              <a:t> test-specialist</a:t>
            </a:r>
            <a:br/>
            <a:r>
              <a:rPr>
                <a:solidFill>
                  <a:srgbClr val="06287E"/>
                </a:solidFill>
                <a:latin typeface="Courier"/>
              </a:rPr>
              <a:t>description</a:t>
            </a:r>
            <a:r>
              <a:rPr b="1">
                <a:solidFill>
                  <a:srgbClr val="007020"/>
                </a:solidFill>
                <a:latin typeface="Courier"/>
              </a:rPr>
              <a:t>:</a:t>
            </a:r>
            <a:r>
              <a:rPr>
                <a:solidFill>
                  <a:srgbClr val="7D9029"/>
                </a:solidFill>
                <a:latin typeface="Courier"/>
              </a:rPr>
              <a:t> Focuses on test coverage and quality</a:t>
            </a:r>
            <a:br/>
            <a:r>
              <a:rPr>
                <a:solidFill>
                  <a:srgbClr val="06287E"/>
                </a:solidFill>
                <a:latin typeface="Courier"/>
              </a:rPr>
              <a:t>tools</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4070A0"/>
                </a:solidFill>
                <a:latin typeface="Courier"/>
              </a:rPr>
              <a:t>"read"</a:t>
            </a:r>
            <a:r>
              <a:rPr b="1">
                <a:solidFill>
                  <a:srgbClr val="007020"/>
                </a:solidFill>
                <a:latin typeface="Courier"/>
              </a:rPr>
              <a:t>,</a:t>
            </a:r>
            <a:r>
              <a:rPr>
                <a:solidFill>
                  <a:srgbClr val="7D9029"/>
                </a:solidFill>
                <a:latin typeface="Courier"/>
              </a:rPr>
              <a:t> </a:t>
            </a:r>
            <a:r>
              <a:rPr>
                <a:solidFill>
                  <a:srgbClr val="4070A0"/>
                </a:solidFill>
                <a:latin typeface="Courier"/>
              </a:rPr>
              <a:t>"edit"</a:t>
            </a:r>
            <a:r>
              <a:rPr b="1">
                <a:solidFill>
                  <a:srgbClr val="007020"/>
                </a:solidFill>
                <a:latin typeface="Courier"/>
              </a:rPr>
              <a:t>,</a:t>
            </a:r>
            <a:r>
              <a:rPr>
                <a:solidFill>
                  <a:srgbClr val="7D9029"/>
                </a:solidFill>
                <a:latin typeface="Courier"/>
              </a:rPr>
              <a:t> </a:t>
            </a:r>
            <a:r>
              <a:rPr>
                <a:solidFill>
                  <a:srgbClr val="4070A0"/>
                </a:solidFill>
                <a:latin typeface="Courier"/>
              </a:rPr>
              <a:t>"search"</a:t>
            </a:r>
            <a:r>
              <a:rPr b="1">
                <a:solidFill>
                  <a:srgbClr val="007020"/>
                </a:solidFill>
                <a:latin typeface="Courier"/>
              </a:rPr>
              <a:t>]</a:t>
            </a:r>
            <a:br/>
            <a:r>
              <a:rPr>
                <a:solidFill>
                  <a:srgbClr val="06287E"/>
                </a:solidFill>
                <a:latin typeface="Courier"/>
              </a:rPr>
              <a:t>model</a:t>
            </a:r>
            <a:r>
              <a:rPr b="1">
                <a:solidFill>
                  <a:srgbClr val="007020"/>
                </a:solidFill>
                <a:latin typeface="Courier"/>
              </a:rPr>
              <a:t>:</a:t>
            </a:r>
            <a:r>
              <a:rPr>
                <a:solidFill>
                  <a:srgbClr val="7D9029"/>
                </a:solidFill>
                <a:latin typeface="Courier"/>
              </a:rPr>
              <a:t> gpt-4</a:t>
            </a:r>
            <a:br/>
            <a:r>
              <a:rPr>
                <a:solidFill>
                  <a:srgbClr val="06287E"/>
                </a:solidFill>
                <a:latin typeface="Courier"/>
              </a:rPr>
              <a:t>target</a:t>
            </a:r>
            <a:r>
              <a:rPr b="1">
                <a:solidFill>
                  <a:srgbClr val="007020"/>
                </a:solidFill>
                <a:latin typeface="Courier"/>
              </a:rPr>
              <a:t>:</a:t>
            </a:r>
            <a:r>
              <a:rPr>
                <a:solidFill>
                  <a:srgbClr val="7D9029"/>
                </a:solidFill>
                <a:latin typeface="Courier"/>
              </a:rPr>
              <a:t> vscode</a:t>
            </a:r>
            <a:r>
              <a:rPr i="1">
                <a:solidFill>
                  <a:srgbClr val="60A0B0"/>
                </a:solidFill>
                <a:latin typeface="Courier"/>
              </a:rPr>
              <a:t> # optional: vscode or github-copilot</a:t>
            </a:r>
            <a:br/>
            <a:r>
              <a:rPr>
                <a:solidFill>
                  <a:srgbClr val="BC7A00"/>
                </a:solidFill>
                <a:latin typeface="Courier"/>
              </a:rPr>
              <a:t>---</a:t>
            </a:r>
            <a:br/>
            <a:r>
              <a:rPr>
                <a:solidFill>
                  <a:srgbClr val="7D9029"/>
                </a:solidFill>
                <a:latin typeface="Courier"/>
              </a:rPr>
              <a:t>You are a testing specialist...</a:t>
            </a:r>
            <a:br/>
            <a:br/>
            <a:r>
              <a:rPr b="1">
                <a:solidFill>
                  <a:srgbClr val="007020"/>
                </a:solidFill>
                <a:latin typeface="Courier"/>
              </a:rPr>
              <a:t>[</a:t>
            </a:r>
            <a:r>
              <a:rPr>
                <a:solidFill>
                  <a:srgbClr val="7D9029"/>
                </a:solidFill>
                <a:latin typeface="Courier"/>
              </a:rPr>
              <a:t>Detailed instructions and behavior</a:t>
            </a:r>
            <a:r>
              <a:rPr b="1">
                <a:solidFill>
                  <a:srgbClr val="007020"/>
                </a:solidFill>
                <a:latin typeface="Courier"/>
              </a:rPr>
              <a:t>]</a:t>
            </a:r>
          </a:p>
          <a:p>
            <a:pPr marL="0" indent="0">
              <a:buNone/>
            </a:pPr>
            <a:r>
              <a:rPr b="1"/>
              <a:t>Key Components</a:t>
            </a:r>
            <a:r>
              <a:t>:</a:t>
            </a:r>
          </a:p>
          <a:p>
            <a:pPr lvl="0"/>
            <a:r>
              <a:rPr b="1"/>
              <a:t>YAML frontmatter</a:t>
            </a:r>
            <a:r>
              <a:t>: Metadata and configuration</a:t>
            </a:r>
          </a:p>
          <a:p>
            <a:pPr lvl="0"/>
            <a:r>
              <a:rPr b="1"/>
              <a:t>Markdown content</a:t>
            </a:r>
            <a:r>
              <a:t>: Instructions and behavior (max 30,000 chars)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Example 1: Testing Specialist</a:t>
            </a:r>
          </a:p>
        </p:txBody>
      </p:sp>
      <p:sp>
        <p:nvSpPr>
          <p:cNvPr id="3" name="Content Placeholder 2"/>
          <p:cNvSpPr>
            <a:spLocks noGrp="1"/>
          </p:cNvSpPr>
          <p:nvPr>
            <p:ph idx="1"/>
          </p:nvPr>
        </p:nvSpPr>
        <p:spPr/>
        <p:txBody>
          <a:bodyPr>
            <a:normAutofit fontScale="77500" lnSpcReduction="20000"/>
          </a:bodyPr>
          <a:lstStyle/>
          <a:p>
            <a:pPr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test-specialist</a:t>
            </a:r>
            <a:br/>
            <a:r>
              <a:rPr b="1" i="1">
                <a:solidFill>
                  <a:srgbClr val="60A0B0"/>
                </a:solidFill>
                <a:latin typeface="Courier"/>
              </a:rPr>
              <a:t>description:</a:t>
            </a:r>
            <a:r>
              <a:rPr i="1">
                <a:solidFill>
                  <a:srgbClr val="60A0B0"/>
                </a:solidFill>
                <a:latin typeface="Courier"/>
              </a:rPr>
              <a:t> Focuses on test coverage, quality, and testing</a:t>
            </a:r>
            <a:br/>
            <a:r>
              <a:rPr i="1">
                <a:solidFill>
                  <a:srgbClr val="60A0B0"/>
                </a:solidFill>
                <a:latin typeface="Courier"/>
              </a:rPr>
              <a:t>  best practices without modifying production code</a:t>
            </a:r>
            <a:br/>
            <a:r>
              <a:rPr i="1">
                <a:solidFill>
                  <a:srgbClr val="60A0B0"/>
                </a:solidFill>
                <a:latin typeface="Courier"/>
              </a:rPr>
              <a:t>---</a:t>
            </a:r>
            <a:br/>
            <a:br/>
            <a:r>
              <a:rPr>
                <a:latin typeface="Courier"/>
              </a:rPr>
              <a:t>You are a testing specialist focused on improving code</a:t>
            </a:r>
            <a:br/>
            <a:r>
              <a:rPr>
                <a:latin typeface="Courier"/>
              </a:rPr>
              <a:t>quality through comprehensive testing. Your responsibilities:</a:t>
            </a:r>
            <a:br/>
            <a:br/>
            <a:r>
              <a:rPr>
                <a:solidFill>
                  <a:srgbClr val="BB6688"/>
                </a:solidFill>
                <a:latin typeface="Courier"/>
              </a:rPr>
              <a:t>- </a:t>
            </a:r>
            <a:r>
              <a:rPr>
                <a:latin typeface="Courier"/>
              </a:rPr>
              <a:t>Analyze existing tests and identify coverage gaps</a:t>
            </a:r>
            <a:br/>
            <a:r>
              <a:rPr>
                <a:solidFill>
                  <a:srgbClr val="BB6688"/>
                </a:solidFill>
                <a:latin typeface="Courier"/>
              </a:rPr>
              <a:t>- </a:t>
            </a:r>
            <a:r>
              <a:rPr>
                <a:latin typeface="Courier"/>
              </a:rPr>
              <a:t>Write unit tests, integration tests, and end-to-end tests</a:t>
            </a:r>
            <a:br/>
            <a:r>
              <a:rPr>
                <a:solidFill>
                  <a:srgbClr val="BB6688"/>
                </a:solidFill>
                <a:latin typeface="Courier"/>
              </a:rPr>
              <a:t>- </a:t>
            </a:r>
            <a:r>
              <a:rPr>
                <a:latin typeface="Courier"/>
              </a:rPr>
              <a:t>Review test quality and suggest improvements</a:t>
            </a:r>
            <a:br/>
            <a:r>
              <a:rPr>
                <a:solidFill>
                  <a:srgbClr val="BB6688"/>
                </a:solidFill>
                <a:latin typeface="Courier"/>
              </a:rPr>
              <a:t>- </a:t>
            </a:r>
            <a:r>
              <a:rPr>
                <a:latin typeface="Courier"/>
              </a:rPr>
              <a:t>Ensure tests are isolated, deterministic, and documented</a:t>
            </a:r>
            <a:br/>
            <a:r>
              <a:rPr>
                <a:solidFill>
                  <a:srgbClr val="BB6688"/>
                </a:solidFill>
                <a:latin typeface="Courier"/>
              </a:rPr>
              <a:t>- </a:t>
            </a:r>
            <a:r>
              <a:rPr>
                <a:latin typeface="Courier"/>
              </a:rPr>
              <a:t>Focus only on test files - avoid modifying production code</a:t>
            </a:r>
            <a:br/>
            <a:br/>
            <a:r>
              <a:rPr>
                <a:latin typeface="Courier"/>
              </a:rPr>
              <a:t>Always include clear test descriptions and use appropriate</a:t>
            </a:r>
            <a:br/>
            <a:r>
              <a:rPr>
                <a:latin typeface="Courier"/>
              </a:rPr>
              <a:t>testing patterns for the language and framework.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Example 2: Implementation Planner</a:t>
            </a:r>
          </a:p>
        </p:txBody>
      </p:sp>
      <p:sp>
        <p:nvSpPr>
          <p:cNvPr id="3" name="Content Placeholder 2"/>
          <p:cNvSpPr>
            <a:spLocks noGrp="1"/>
          </p:cNvSpPr>
          <p:nvPr>
            <p:ph idx="1"/>
          </p:nvPr>
        </p:nvSpPr>
        <p:spPr/>
        <p:txBody>
          <a:bodyPr>
            <a:normAutofit fontScale="70000" lnSpcReduction="20000"/>
          </a:bodyPr>
          <a:lstStyle/>
          <a:p>
            <a:pPr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implementation-planner</a:t>
            </a:r>
            <a:br/>
            <a:r>
              <a:rPr b="1" i="1">
                <a:solidFill>
                  <a:srgbClr val="60A0B0"/>
                </a:solidFill>
                <a:latin typeface="Courier"/>
              </a:rPr>
              <a:t>description:</a:t>
            </a:r>
            <a:r>
              <a:rPr i="1">
                <a:solidFill>
                  <a:srgbClr val="60A0B0"/>
                </a:solidFill>
                <a:latin typeface="Courier"/>
              </a:rPr>
              <a:t> Creates detailed implementation plans and</a:t>
            </a:r>
            <a:br/>
            <a:r>
              <a:rPr i="1">
                <a:solidFill>
                  <a:srgbClr val="60A0B0"/>
                </a:solidFill>
                <a:latin typeface="Courier"/>
              </a:rPr>
              <a:t>  technical specifications in markdown format</a:t>
            </a:r>
            <a:br/>
            <a:r>
              <a:rPr b="1" i="1">
                <a:solidFill>
                  <a:srgbClr val="60A0B0"/>
                </a:solidFill>
                <a:latin typeface="Courier"/>
              </a:rPr>
              <a:t>tools:</a:t>
            </a:r>
            <a:r>
              <a:rPr i="1">
                <a:solidFill>
                  <a:srgbClr val="60A0B0"/>
                </a:solidFill>
                <a:latin typeface="Courier"/>
              </a:rPr>
              <a:t> ["read", "search", "edit"]</a:t>
            </a:r>
            <a:br/>
            <a:r>
              <a:rPr i="1">
                <a:solidFill>
                  <a:srgbClr val="60A0B0"/>
                </a:solidFill>
                <a:latin typeface="Courier"/>
              </a:rPr>
              <a:t>---</a:t>
            </a:r>
            <a:br/>
            <a:br/>
            <a:r>
              <a:rPr>
                <a:latin typeface="Courier"/>
              </a:rPr>
              <a:t>You are a technical planning specialist. Your responsibilities:</a:t>
            </a:r>
            <a:br/>
            <a:br/>
            <a:r>
              <a:rPr>
                <a:solidFill>
                  <a:srgbClr val="BB6688"/>
                </a:solidFill>
                <a:latin typeface="Courier"/>
              </a:rPr>
              <a:t>- </a:t>
            </a:r>
            <a:r>
              <a:rPr>
                <a:latin typeface="Courier"/>
              </a:rPr>
              <a:t>Analyze requirements and break them into actionable tasks</a:t>
            </a:r>
            <a:br/>
            <a:r>
              <a:rPr>
                <a:solidFill>
                  <a:srgbClr val="BB6688"/>
                </a:solidFill>
                <a:latin typeface="Courier"/>
              </a:rPr>
              <a:t>- </a:t>
            </a:r>
            <a:r>
              <a:rPr>
                <a:latin typeface="Courier"/>
              </a:rPr>
              <a:t>Create detailed technical specs and architecture docs</a:t>
            </a:r>
            <a:br/>
            <a:r>
              <a:rPr>
                <a:solidFill>
                  <a:srgbClr val="BB6688"/>
                </a:solidFill>
                <a:latin typeface="Courier"/>
              </a:rPr>
              <a:t>- </a:t>
            </a:r>
            <a:r>
              <a:rPr>
                <a:latin typeface="Courier"/>
              </a:rPr>
              <a:t>Generate implementation plans with steps and dependencies</a:t>
            </a:r>
            <a:br/>
            <a:r>
              <a:rPr>
                <a:solidFill>
                  <a:srgbClr val="BB6688"/>
                </a:solidFill>
                <a:latin typeface="Courier"/>
              </a:rPr>
              <a:t>- </a:t>
            </a:r>
            <a:r>
              <a:rPr>
                <a:latin typeface="Courier"/>
              </a:rPr>
              <a:t>Document API designs, data models, and system interactions</a:t>
            </a:r>
            <a:br/>
            <a:r>
              <a:rPr>
                <a:solidFill>
                  <a:srgbClr val="BB6688"/>
                </a:solidFill>
                <a:latin typeface="Courier"/>
              </a:rPr>
              <a:t>- </a:t>
            </a:r>
            <a:r>
              <a:rPr>
                <a:latin typeface="Courier"/>
              </a:rPr>
              <a:t>Create markdown files that development teams can follow</a:t>
            </a:r>
            <a:br/>
            <a:br/>
            <a:r>
              <a:rPr>
                <a:latin typeface="Courier"/>
              </a:rPr>
              <a:t>Always structure plans with clear headings, task breakdowns,</a:t>
            </a:r>
            <a:br/>
            <a:r>
              <a:rPr>
                <a:latin typeface="Courier"/>
              </a:rPr>
              <a:t>and acceptance criteria. Include considerations for testing,</a:t>
            </a:r>
            <a:br/>
            <a:r>
              <a:rPr>
                <a:latin typeface="Courier"/>
              </a:rPr>
              <a:t>deployment, and risks. Focus on thorough documentation</a:t>
            </a:r>
            <a:br/>
            <a:r>
              <a:rPr>
                <a:latin typeface="Courier"/>
              </a:rPr>
              <a:t>rather than implementing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Using Custom Agents</a:t>
            </a:r>
          </a:p>
        </p:txBody>
      </p:sp>
      <p:sp>
        <p:nvSpPr>
          <p:cNvPr id="3" name="Content Placeholder 2"/>
          <p:cNvSpPr>
            <a:spLocks noGrp="1"/>
          </p:cNvSpPr>
          <p:nvPr>
            <p:ph idx="1"/>
          </p:nvPr>
        </p:nvSpPr>
        <p:spPr/>
        <p:txBody>
          <a:bodyPr>
            <a:normAutofit fontScale="55000" lnSpcReduction="20000"/>
          </a:bodyPr>
          <a:lstStyle/>
          <a:p>
            <a:pPr marL="0" indent="0">
              <a:spcBef>
                <a:spcPts val="4000"/>
              </a:spcBef>
              <a:buNone/>
            </a:pPr>
            <a:r>
              <a:rPr b="1"/>
              <a:t>On GitHub.com</a:t>
            </a:r>
          </a:p>
          <a:p>
            <a:pPr lvl="0"/>
            <a:r>
              <a:t>Agents panel/tab dropdown → Select your custom agent</a:t>
            </a:r>
          </a:p>
          <a:p>
            <a:pPr lvl="0"/>
            <a:r>
              <a:t>Assign custom agent to issues</a:t>
            </a:r>
          </a:p>
          <a:p>
            <a:pPr lvl="0"/>
            <a:r>
              <a:t>Noted in PR descriptions when used</a:t>
            </a:r>
          </a:p>
          <a:p>
            <a:pPr marL="0" indent="0">
              <a:spcBef>
                <a:spcPts val="4000"/>
              </a:spcBef>
              <a:buNone/>
            </a:pPr>
            <a:r>
              <a:rPr b="1"/>
              <a:t>In IDEs</a:t>
            </a:r>
          </a:p>
          <a:p>
            <a:pPr lvl="0"/>
            <a:r>
              <a:t>Chat window dropdown → Select agent</a:t>
            </a:r>
          </a:p>
          <a:p>
            <a:pPr lvl="0"/>
            <a:r>
              <a:t>Switch agents mid-conversation</a:t>
            </a:r>
          </a:p>
          <a:p>
            <a:pPr lvl="0"/>
            <a:r>
              <a:t>Access specialized configurations per task</a:t>
            </a:r>
          </a:p>
          <a:p>
            <a:pPr marL="0" indent="0">
              <a:spcBef>
                <a:spcPts val="4000"/>
              </a:spcBef>
              <a:buNone/>
            </a:pPr>
            <a:r>
              <a:rPr b="1"/>
              <a:t>GitHub Copilot CLI</a:t>
            </a:r>
          </a:p>
          <a:p>
            <a:pPr lvl="0"/>
            <a:r>
              <a:rPr>
                <a:latin typeface="Courier"/>
              </a:rPr>
              <a:t>/agent</a:t>
            </a:r>
            <a:r>
              <a:t> command to select agent</a:t>
            </a:r>
          </a:p>
          <a:p>
            <a:pPr lvl="0"/>
            <a:r>
              <a:t>Reference agent in prompts</a:t>
            </a:r>
          </a:p>
          <a:p>
            <a:pPr lvl="0"/>
            <a:r>
              <a:t>Command-line argument support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Best Practices</a:t>
            </a:r>
          </a:p>
        </p:txBody>
      </p:sp>
      <p:sp>
        <p:nvSpPr>
          <p:cNvPr id="3" name="Content Placeholder 2"/>
          <p:cNvSpPr>
            <a:spLocks noGrp="1"/>
          </p:cNvSpPr>
          <p:nvPr>
            <p:ph idx="1"/>
          </p:nvPr>
        </p:nvSpPr>
        <p:spPr/>
        <p:txBody>
          <a:bodyPr/>
          <a:lstStyle/>
          <a:p>
            <a:pPr marL="457189" indent="-457189">
              <a:buAutoNum type="arabicPeriod"/>
            </a:pPr>
            <a:r>
              <a:rPr b="1"/>
              <a:t>Start Simple</a:t>
            </a:r>
            <a:r>
              <a:t>: Create one agent for a specific pain point</a:t>
            </a:r>
          </a:p>
          <a:p>
            <a:pPr marL="457189" indent="-457189">
              <a:buAutoNum type="arabicPeriod"/>
            </a:pPr>
            <a:r>
              <a:rPr b="1"/>
              <a:t>Be Specific</a:t>
            </a:r>
            <a:r>
              <a:t>: Define clear boundaries and responsibilities</a:t>
            </a:r>
          </a:p>
          <a:p>
            <a:pPr marL="457189" indent="-457189">
              <a:buAutoNum type="arabicPeriod"/>
            </a:pPr>
            <a:r>
              <a:rPr b="1"/>
              <a:t>Restrict Tools</a:t>
            </a:r>
            <a:r>
              <a:t>: Only enable tools the agent needs</a:t>
            </a:r>
          </a:p>
          <a:p>
            <a:pPr marL="457189" indent="-457189">
              <a:buAutoNum type="arabicPeriod"/>
            </a:pPr>
            <a:r>
              <a:rPr b="1"/>
              <a:t>Iterate</a:t>
            </a:r>
            <a:r>
              <a:t>: Refine instructions based on real usage</a:t>
            </a:r>
          </a:p>
          <a:p>
            <a:pPr marL="457189" indent="-457189">
              <a:buAutoNum type="arabicPeriod"/>
            </a:pPr>
            <a:r>
              <a:rPr b="1"/>
              <a:t>Share</a:t>
            </a:r>
            <a:r>
              <a:t>: Create org/enterprise agents for common tasks</a:t>
            </a:r>
          </a:p>
          <a:p>
            <a:pPr marL="457189" indent="-457189">
              <a:buAutoNum type="arabicPeriod"/>
            </a:pPr>
            <a:r>
              <a:rPr b="1"/>
              <a:t>Document</a:t>
            </a:r>
            <a:r>
              <a:t>: Include usage examples in agent description</a:t>
            </a:r>
          </a:p>
          <a:p>
            <a:pPr marL="457189" indent="-457189">
              <a:buAutoNum type="arabicPeriod"/>
            </a:pPr>
            <a:r>
              <a:rPr b="1"/>
              <a:t>Test</a:t>
            </a:r>
            <a:r>
              <a:t>: Validate agent behavior before team rollout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2E22F-2DD1-2F34-B7C7-08E54E2A2230}"/>
              </a:ext>
            </a:extLst>
          </p:cNvPr>
          <p:cNvSpPr>
            <a:spLocks noGrp="1"/>
          </p:cNvSpPr>
          <p:nvPr>
            <p:ph type="title"/>
          </p:nvPr>
        </p:nvSpPr>
        <p:spPr/>
        <p:txBody>
          <a:bodyPr>
            <a:normAutofit/>
          </a:bodyPr>
          <a:lstStyle/>
          <a:p>
            <a:r>
              <a:rPr lang="en-US" dirty="0"/>
              <a:t>Greenfield Chat Modes</a:t>
            </a:r>
          </a:p>
        </p:txBody>
      </p:sp>
      <p:sp>
        <p:nvSpPr>
          <p:cNvPr id="3" name="Content Placeholder 2"/>
          <p:cNvSpPr>
            <a:spLocks noGrp="1"/>
          </p:cNvSpPr>
          <p:nvPr>
            <p:ph idx="1"/>
          </p:nvPr>
        </p:nvSpPr>
        <p:spPr/>
        <p:txBody>
          <a:bodyPr>
            <a:normAutofit/>
          </a:bodyPr>
          <a:lstStyle/>
          <a:p>
            <a:pPr lvl="0"/>
            <a:r>
              <a:rPr dirty="0"/>
              <a:t>Product Manager</a:t>
            </a:r>
          </a:p>
          <a:p>
            <a:pPr lvl="0"/>
            <a:r>
              <a:rPr dirty="0"/>
              <a:t>Solution Architect</a:t>
            </a:r>
          </a:p>
          <a:p>
            <a:pPr lvl="0"/>
            <a:r>
              <a:rPr dirty="0"/>
              <a:t>Senior Developer</a:t>
            </a:r>
          </a:p>
          <a:p>
            <a:pPr lvl="0"/>
            <a:r>
              <a:rPr dirty="0"/>
              <a:t>Technical Writer</a:t>
            </a:r>
          </a:p>
          <a:p>
            <a:pPr lvl="0"/>
            <a:r>
              <a:rPr dirty="0"/>
              <a:t>Security Reviewer</a:t>
            </a:r>
          </a:p>
          <a:p>
            <a:pPr lvl="0"/>
            <a:r>
              <a:rPr dirty="0"/>
              <a:t>DevOps Engineer</a:t>
            </a:r>
          </a:p>
          <a:p>
            <a:pPr lvl="0"/>
            <a:r>
              <a:rPr dirty="0"/>
              <a:t>DevTest Engineer</a:t>
            </a:r>
          </a:p>
          <a:p>
            <a:pPr lvl="0"/>
            <a:r>
              <a:rPr dirty="0"/>
              <a:t>SRE (Site Reliability Engineer)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Product Manager</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487680">
                <a:tc>
                  <a:txBody>
                    <a:bodyPr/>
                    <a:lstStyle/>
                    <a:p>
                      <a:pPr marL="0" lvl="0" indent="0">
                        <a:buNone/>
                      </a:pPr>
                      <a:r>
                        <a:rPr sz="2400" b="1"/>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a:t>Requirements Translation</a:t>
                      </a:r>
                      <a:r>
                        <a:rPr sz="2400"/>
                        <a:t> - Convert business needs into precise technical prompts</a:t>
                      </a:r>
                    </a:p>
                  </a:txBody>
                  <a:tcPr marL="121920" marR="121920" marT="60960" marB="60960"/>
                </a:tc>
                <a:tc>
                  <a:txBody>
                    <a:bodyPr/>
                    <a:lstStyle/>
                    <a:p>
                      <a:pPr marL="0" lvl="0" indent="0">
                        <a:buNone/>
                      </a:pPr>
                      <a:r>
                        <a:rPr sz="2400" b="1"/>
                        <a:t>Requirement Validation</a:t>
                      </a:r>
                      <a:r>
                        <a:rPr sz="2400"/>
                        <a:t> - Ensure AI-generated requirements align with business objectives</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a:t>Context Management</a:t>
                      </a:r>
                      <a:r>
                        <a:rPr sz="2400"/>
                        <a:t> - Maintain conversation threads for complex feature discussions</a:t>
                      </a:r>
                    </a:p>
                  </a:txBody>
                  <a:tcPr marL="121920" marR="121920" marT="60960" marB="60960"/>
                </a:tc>
                <a:tc>
                  <a:txBody>
                    <a:bodyPr/>
                    <a:lstStyle/>
                    <a:p>
                      <a:pPr marL="0" lvl="0" indent="0">
                        <a:buNone/>
                      </a:pPr>
                      <a:r>
                        <a:rPr sz="2400" b="1"/>
                        <a:t>Quality Assurance</a:t>
                      </a:r>
                      <a:r>
                        <a:rPr sz="2400"/>
                        <a:t> - Review AI outputs for accuracy, completeness, and feasibility</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Documentation Review</a:t>
                      </a:r>
                      <a:r>
                        <a:rPr sz="2400"/>
                        <a:t> - Evaluate AI-generated specs, user stories, and technical docs</a:t>
                      </a:r>
                    </a:p>
                  </a:txBody>
                  <a:tcPr marL="121920" marR="121920" marT="60960" marB="60960"/>
                </a:tc>
                <a:tc>
                  <a:txBody>
                    <a:bodyPr/>
                    <a:lstStyle/>
                    <a:p>
                      <a:pPr marL="0" lvl="0" indent="0">
                        <a:buNone/>
                      </a:pPr>
                      <a:r>
                        <a:rPr sz="2400" b="1"/>
                        <a:t>Cross-functional Alignment</a:t>
                      </a:r>
                      <a:r>
                        <a:rPr sz="2400"/>
                        <a:t> - Coordinate AI-assisted planning across development teams</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Stakeholder Communication</a:t>
                      </a:r>
                      <a:r>
                        <a:rPr sz="2400"/>
                        <a:t> - Present AI-assisted analysis to technical and business teams</a:t>
                      </a:r>
                    </a:p>
                  </a:txBody>
                  <a:tcPr marL="121920" marR="121920" marT="60960" marB="60960"/>
                </a:tc>
                <a:tc>
                  <a:txBody>
                    <a:bodyPr/>
                    <a:lstStyle/>
                    <a:p>
                      <a:pPr marL="0" lvl="0" indent="0">
                        <a:buNone/>
                      </a:pPr>
                      <a:r>
                        <a:rPr sz="2400" b="1"/>
                        <a:t>Risk Assessment</a:t>
                      </a:r>
                      <a:r>
                        <a:rPr sz="2400"/>
                        <a:t> - Identify potential issues in AI-suggested technical approaches</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b="1"/>
                        <a:t>Iterative Refinement</a:t>
                      </a:r>
                      <a:r>
                        <a:rPr sz="2400"/>
                        <a:t> - Guide AI through multiple rounds of requirement clarification</a:t>
                      </a:r>
                    </a:p>
                  </a:txBody>
                  <a:tcPr marL="121920" marR="121920" marT="60960" marB="60960"/>
                </a:tc>
                <a:tc>
                  <a:txBody>
                    <a:bodyPr/>
                    <a:lstStyle/>
                    <a:p>
                      <a:pPr marL="0" lvl="0" indent="0">
                        <a:buNone/>
                      </a:pPr>
                      <a:r>
                        <a:rPr sz="2400" b="1" dirty="0"/>
                        <a:t>Delivery Tracking</a:t>
                      </a:r>
                      <a:r>
                        <a:rPr sz="2400" dirty="0"/>
                        <a:t> - Use AI insights to monitor progress and adjust roadmaps accordingly</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Solution Architect</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571067">
                  <a:extLst>
                    <a:ext uri="{9D8B030D-6E8A-4147-A177-3AD203B41FA5}">
                      <a16:colId xmlns:a16="http://schemas.microsoft.com/office/drawing/2014/main" val="20000"/>
                    </a:ext>
                  </a:extLst>
                </a:gridCol>
                <a:gridCol w="5401733">
                  <a:extLst>
                    <a:ext uri="{9D8B030D-6E8A-4147-A177-3AD203B41FA5}">
                      <a16:colId xmlns:a16="http://schemas.microsoft.com/office/drawing/2014/main" val="20001"/>
                    </a:ext>
                  </a:extLst>
                </a:gridCol>
              </a:tblGrid>
              <a:tr h="487680">
                <a:tc>
                  <a:txBody>
                    <a:bodyPr/>
                    <a:lstStyle/>
                    <a:p>
                      <a:pPr marL="0" lvl="0" indent="0">
                        <a:buNone/>
                      </a:pPr>
                      <a:r>
                        <a:rPr sz="2400" b="1"/>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dirty="0"/>
                        <a:t>Architecture Prompting</a:t>
                      </a:r>
                      <a:r>
                        <a:rPr sz="2400" dirty="0"/>
                        <a:t> - Frame complex system design questions for optimal AI responses</a:t>
                      </a:r>
                    </a:p>
                  </a:txBody>
                  <a:tcPr marL="121920" marR="121920" marT="60960" marB="60960"/>
                </a:tc>
                <a:tc>
                  <a:txBody>
                    <a:bodyPr/>
                    <a:lstStyle/>
                    <a:p>
                      <a:pPr marL="0" lvl="0" indent="0">
                        <a:buNone/>
                      </a:pPr>
                      <a:r>
                        <a:rPr sz="2400" b="1"/>
                        <a:t>Design Validation</a:t>
                      </a:r>
                      <a:r>
                        <a:rPr sz="2400"/>
                        <a:t> - Verify AI-generated architectural decisions against enterprise standards</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a:t>Pattern Recognition</a:t>
                      </a:r>
                      <a:r>
                        <a:rPr sz="2400"/>
                        <a:t> - Identify and validate AI-suggested architectural patterns and anti-patterns</a:t>
                      </a:r>
                    </a:p>
                  </a:txBody>
                  <a:tcPr marL="121920" marR="121920" marT="60960" marB="60960"/>
                </a:tc>
                <a:tc>
                  <a:txBody>
                    <a:bodyPr/>
                    <a:lstStyle/>
                    <a:p>
                      <a:pPr marL="0" lvl="0" indent="0">
                        <a:buNone/>
                      </a:pPr>
                      <a:r>
                        <a:rPr sz="2400" b="1"/>
                        <a:t>Technical Governance</a:t>
                      </a:r>
                      <a:r>
                        <a:rPr sz="2400"/>
                        <a:t> - Ensure AI-assisted designs follow organizational guidelines</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Technology Evaluation</a:t>
                      </a:r>
                      <a:r>
                        <a:rPr sz="2400"/>
                        <a:t> - Assess AI recommendations for technology stack decisions</a:t>
                      </a:r>
                    </a:p>
                  </a:txBody>
                  <a:tcPr marL="121920" marR="121920" marT="60960" marB="60960"/>
                </a:tc>
                <a:tc>
                  <a:txBody>
                    <a:bodyPr/>
                    <a:lstStyle/>
                    <a:p>
                      <a:pPr marL="0" lvl="0" indent="0">
                        <a:buNone/>
                      </a:pPr>
                      <a:r>
                        <a:rPr sz="2400" b="1"/>
                        <a:t>Risk Mitigation</a:t>
                      </a:r>
                      <a:r>
                        <a:rPr sz="2400"/>
                        <a:t> - Evaluate AI suggestions for security, performance, and maintainability risks</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Scalability Analysis</a:t>
                      </a:r>
                      <a:r>
                        <a:rPr sz="2400"/>
                        <a:t> - Guide AI through performance and scalability considerations</a:t>
                      </a:r>
                    </a:p>
                  </a:txBody>
                  <a:tcPr marL="121920" marR="121920" marT="60960" marB="60960"/>
                </a:tc>
                <a:tc>
                  <a:txBody>
                    <a:bodyPr/>
                    <a:lstStyle/>
                    <a:p>
                      <a:pPr marL="0" lvl="0" indent="0">
                        <a:buNone/>
                      </a:pPr>
                      <a:r>
                        <a:rPr sz="2400" b="1"/>
                        <a:t>Knowledge Sharing</a:t>
                      </a:r>
                      <a:r>
                        <a:rPr sz="2400"/>
                        <a:t> - Document and communicate AI-derived architectural insights</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b="1"/>
                        <a:t>Integration Planning</a:t>
                      </a:r>
                      <a:r>
                        <a:rPr sz="2400"/>
                        <a:t> - Use AI to model system interactions and API designs</a:t>
                      </a:r>
                    </a:p>
                  </a:txBody>
                  <a:tcPr marL="121920" marR="121920" marT="60960" marB="60960"/>
                </a:tc>
                <a:tc>
                  <a:txBody>
                    <a:bodyPr/>
                    <a:lstStyle/>
                    <a:p>
                      <a:pPr marL="0" lvl="0" indent="0">
                        <a:buNone/>
                      </a:pPr>
                      <a:r>
                        <a:rPr sz="2400" b="1" dirty="0"/>
                        <a:t>Standards Compliance</a:t>
                      </a:r>
                      <a:r>
                        <a:rPr sz="2400" dirty="0"/>
                        <a:t> - Maintain adherence to coding standards and architectural principles</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Senior Developer</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029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487680">
                <a:tc>
                  <a:txBody>
                    <a:bodyPr/>
                    <a:lstStyle/>
                    <a:p>
                      <a:pPr marL="0" lvl="0" indent="0">
                        <a:buNone/>
                      </a:pPr>
                      <a:r>
                        <a:rPr sz="2400" b="1"/>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dirty="0"/>
                        <a:t>Code Generation Prompting</a:t>
                      </a:r>
                      <a:r>
                        <a:rPr sz="2400" dirty="0"/>
                        <a:t> - Craft precise requests for complex code implementations</a:t>
                      </a:r>
                    </a:p>
                  </a:txBody>
                  <a:tcPr marL="121920" marR="121920" marT="60960" marB="60960"/>
                </a:tc>
                <a:tc>
                  <a:txBody>
                    <a:bodyPr/>
                    <a:lstStyle/>
                    <a:p>
                      <a:pPr marL="0" lvl="0" indent="0">
                        <a:buNone/>
                      </a:pPr>
                      <a:r>
                        <a:rPr sz="2400" b="1"/>
                        <a:t>Code Quality Assurance</a:t>
                      </a:r>
                      <a:r>
                        <a:rPr sz="2400"/>
                        <a:t> - Validate AI-generated code for correctness, efficiency, and maintainability</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a:t>Debug Assistance</a:t>
                      </a:r>
                      <a:r>
                        <a:rPr sz="2400"/>
                        <a:t> - Effectively use AI for troubleshooting and error resolution</a:t>
                      </a:r>
                    </a:p>
                  </a:txBody>
                  <a:tcPr marL="121920" marR="121920" marT="60960" marB="60960"/>
                </a:tc>
                <a:tc>
                  <a:txBody>
                    <a:bodyPr/>
                    <a:lstStyle/>
                    <a:p>
                      <a:pPr marL="0" lvl="0" indent="0">
                        <a:buNone/>
                      </a:pPr>
                      <a:r>
                        <a:rPr sz="2400" b="1"/>
                        <a:t>Security Review</a:t>
                      </a:r>
                      <a:r>
                        <a:rPr sz="2400"/>
                        <a:t> - Ensure AI-suggested code follows security best practices</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Code Review with AI</a:t>
                      </a:r>
                      <a:r>
                        <a:rPr sz="2400"/>
                        <a:t> - Combine human experience with AI analysis for thorough reviews</a:t>
                      </a:r>
                    </a:p>
                  </a:txBody>
                  <a:tcPr marL="121920" marR="121920" marT="60960" marB="60960"/>
                </a:tc>
                <a:tc>
                  <a:txBody>
                    <a:bodyPr/>
                    <a:lstStyle/>
                    <a:p>
                      <a:pPr marL="0" lvl="0" indent="0">
                        <a:buNone/>
                      </a:pPr>
                      <a:r>
                        <a:rPr sz="2400" b="1"/>
                        <a:t>Performance Optimization</a:t>
                      </a:r>
                      <a:r>
                        <a:rPr sz="2400"/>
                        <a:t> - Analyze AI recommendations for potential performance impacts</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Refactoring Guidance</a:t>
                      </a:r>
                      <a:r>
                        <a:rPr sz="2400"/>
                        <a:t> - Leverage AI for code improvement and optimization suggestions</a:t>
                      </a:r>
                    </a:p>
                  </a:txBody>
                  <a:tcPr marL="121920" marR="121920" marT="60960" marB="60960"/>
                </a:tc>
                <a:tc>
                  <a:txBody>
                    <a:bodyPr/>
                    <a:lstStyle/>
                    <a:p>
                      <a:pPr marL="0" lvl="0" indent="0">
                        <a:buNone/>
                      </a:pPr>
                      <a:r>
                        <a:rPr sz="2400" b="1"/>
                        <a:t>Mentorship Integration</a:t>
                      </a:r>
                      <a:r>
                        <a:rPr sz="2400"/>
                        <a:t> - Guide junior developers in effective AI-assisted development</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b="1"/>
                        <a:t>Testing Strategy</a:t>
                      </a:r>
                      <a:r>
                        <a:rPr sz="2400"/>
                        <a:t> - Use AI to generate comprehensive test cases and scenarios</a:t>
                      </a:r>
                    </a:p>
                  </a:txBody>
                  <a:tcPr marL="121920" marR="121920" marT="60960" marB="60960"/>
                </a:tc>
                <a:tc>
                  <a:txBody>
                    <a:bodyPr/>
                    <a:lstStyle/>
                    <a:p>
                      <a:pPr marL="0" lvl="0" indent="0">
                        <a:buNone/>
                      </a:pPr>
                      <a:r>
                        <a:rPr sz="2400" b="1" dirty="0"/>
                        <a:t>Technical Debt Management</a:t>
                      </a:r>
                      <a:r>
                        <a:rPr sz="2400" dirty="0"/>
                        <a:t> - Use AI insights to identify and prioritize technical debt reduction</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Technical Writer</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367867">
                  <a:extLst>
                    <a:ext uri="{9D8B030D-6E8A-4147-A177-3AD203B41FA5}">
                      <a16:colId xmlns:a16="http://schemas.microsoft.com/office/drawing/2014/main" val="20000"/>
                    </a:ext>
                  </a:extLst>
                </a:gridCol>
                <a:gridCol w="5604933">
                  <a:extLst>
                    <a:ext uri="{9D8B030D-6E8A-4147-A177-3AD203B41FA5}">
                      <a16:colId xmlns:a16="http://schemas.microsoft.com/office/drawing/2014/main" val="20001"/>
                    </a:ext>
                  </a:extLst>
                </a:gridCol>
              </a:tblGrid>
              <a:tr h="487680">
                <a:tc>
                  <a:txBody>
                    <a:bodyPr/>
                    <a:lstStyle/>
                    <a:p>
                      <a:pPr marL="0" lvl="0" indent="0">
                        <a:buNone/>
                      </a:pPr>
                      <a:r>
                        <a:rPr sz="2400" b="1"/>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dirty="0"/>
                        <a:t>Content Structuring</a:t>
                      </a:r>
                      <a:r>
                        <a:rPr sz="2400" dirty="0"/>
                        <a:t> - Guide AI to create well-organized, logical documentation flow</a:t>
                      </a:r>
                    </a:p>
                  </a:txBody>
                  <a:tcPr marL="121920" marR="121920" marT="60960" marB="60960"/>
                </a:tc>
                <a:tc>
                  <a:txBody>
                    <a:bodyPr/>
                    <a:lstStyle/>
                    <a:p>
                      <a:pPr marL="0" lvl="0" indent="0">
                        <a:buNone/>
                      </a:pPr>
                      <a:r>
                        <a:rPr sz="2400" b="1"/>
                        <a:t>Content Accuracy</a:t>
                      </a:r>
                      <a:r>
                        <a:rPr sz="2400"/>
                        <a:t> - Ensure all AI-generated documentation is technically correct and current</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a:t>Audience Adaptation</a:t>
                      </a:r>
                      <a:r>
                        <a:rPr sz="2400"/>
                        <a:t> - Adjust AI outputs for different technical skill levels and roles</a:t>
                      </a:r>
                    </a:p>
                  </a:txBody>
                  <a:tcPr marL="121920" marR="121920" marT="60960" marB="60960"/>
                </a:tc>
                <a:tc>
                  <a:txBody>
                    <a:bodyPr/>
                    <a:lstStyle/>
                    <a:p>
                      <a:pPr marL="0" lvl="0" indent="0">
                        <a:buNone/>
                      </a:pPr>
                      <a:r>
                        <a:rPr sz="2400" b="1"/>
                        <a:t>Editorial Standards</a:t>
                      </a:r>
                      <a:r>
                        <a:rPr sz="2400"/>
                        <a:t> - Maintain quality, clarity, and consistency in AI-assisted content</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Style Consistency</a:t>
                      </a:r>
                      <a:r>
                        <a:rPr sz="2400"/>
                        <a:t> - Maintain organizational voice and formatting standards in AI content</a:t>
                      </a:r>
                    </a:p>
                  </a:txBody>
                  <a:tcPr marL="121920" marR="121920" marT="60960" marB="60960"/>
                </a:tc>
                <a:tc>
                  <a:txBody>
                    <a:bodyPr/>
                    <a:lstStyle/>
                    <a:p>
                      <a:pPr marL="0" lvl="0" indent="0">
                        <a:buNone/>
                      </a:pPr>
                      <a:r>
                        <a:rPr sz="2400" b="1"/>
                        <a:t>User Experience</a:t>
                      </a:r>
                      <a:r>
                        <a:rPr sz="2400"/>
                        <a:t> - Optimize AI-generated docs for end-user comprehension and usability</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Technical Verification</a:t>
                      </a:r>
                      <a:r>
                        <a:rPr sz="2400"/>
                        <a:t> - Validate AI-generated technical content for accuracy</a:t>
                      </a:r>
                    </a:p>
                  </a:txBody>
                  <a:tcPr marL="121920" marR="121920" marT="60960" marB="60960"/>
                </a:tc>
                <a:tc>
                  <a:txBody>
                    <a:bodyPr/>
                    <a:lstStyle/>
                    <a:p>
                      <a:pPr marL="0" lvl="0" indent="0">
                        <a:buNone/>
                      </a:pPr>
                      <a:r>
                        <a:rPr sz="2400" b="1"/>
                        <a:t>Version Control</a:t>
                      </a:r>
                      <a:r>
                        <a:rPr sz="2400"/>
                        <a:t> - Manage documentation updates and revisions with AI assistance</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b="1"/>
                        <a:t>Multi-format Publishing</a:t>
                      </a:r>
                      <a:r>
                        <a:rPr sz="2400"/>
                        <a:t> - Convert AI outputs across various documentation formats</a:t>
                      </a:r>
                    </a:p>
                  </a:txBody>
                  <a:tcPr marL="121920" marR="121920" marT="60960" marB="60960"/>
                </a:tc>
                <a:tc>
                  <a:txBody>
                    <a:bodyPr/>
                    <a:lstStyle/>
                    <a:p>
                      <a:pPr marL="0" lvl="0" indent="0">
                        <a:buNone/>
                      </a:pPr>
                      <a:r>
                        <a:rPr sz="2400" b="1" dirty="0"/>
                        <a:t>Cross-team Collaboration</a:t>
                      </a:r>
                      <a:r>
                        <a:rPr sz="2400" dirty="0"/>
                        <a:t> - Coordinate with SMEs to validate and enhance AI-generated content</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Security Reviewer</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350933">
                  <a:extLst>
                    <a:ext uri="{9D8B030D-6E8A-4147-A177-3AD203B41FA5}">
                      <a16:colId xmlns:a16="http://schemas.microsoft.com/office/drawing/2014/main" val="20000"/>
                    </a:ext>
                  </a:extLst>
                </a:gridCol>
                <a:gridCol w="5621867">
                  <a:extLst>
                    <a:ext uri="{9D8B030D-6E8A-4147-A177-3AD203B41FA5}">
                      <a16:colId xmlns:a16="http://schemas.microsoft.com/office/drawing/2014/main" val="20001"/>
                    </a:ext>
                  </a:extLst>
                </a:gridCol>
              </a:tblGrid>
              <a:tr h="487680">
                <a:tc>
                  <a:txBody>
                    <a:bodyPr/>
                    <a:lstStyle/>
                    <a:p>
                      <a:pPr marL="0" lvl="0" indent="0">
                        <a:buNone/>
                      </a:pPr>
                      <a:r>
                        <a:rPr sz="2400" b="1"/>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a:t>Threat Modeling</a:t>
                      </a:r>
                      <a:r>
                        <a:rPr sz="2400"/>
                        <a:t> - Use AI to identify potential security vulnerabilities and attack vectors</a:t>
                      </a:r>
                    </a:p>
                  </a:txBody>
                  <a:tcPr marL="121920" marR="121920" marT="60960" marB="60960"/>
                </a:tc>
                <a:tc>
                  <a:txBody>
                    <a:bodyPr/>
                    <a:lstStyle/>
                    <a:p>
                      <a:pPr marL="0" lvl="0" indent="0">
                        <a:buNone/>
                      </a:pPr>
                      <a:r>
                        <a:rPr sz="2400" b="1"/>
                        <a:t>Vulnerability Assessment</a:t>
                      </a:r>
                      <a:r>
                        <a:rPr sz="2400"/>
                        <a:t> - Validate AI-identified security issues and remediation strategies</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dirty="0"/>
                        <a:t>Compliance Analysis</a:t>
                      </a:r>
                      <a:r>
                        <a:rPr sz="2400" dirty="0"/>
                        <a:t> - Leverage AI for regulatory and standards compliance checking</a:t>
                      </a:r>
                    </a:p>
                  </a:txBody>
                  <a:tcPr marL="121920" marR="121920" marT="60960" marB="60960"/>
                </a:tc>
                <a:tc>
                  <a:txBody>
                    <a:bodyPr/>
                    <a:lstStyle/>
                    <a:p>
                      <a:pPr marL="0" lvl="0" indent="0">
                        <a:buNone/>
                      </a:pPr>
                      <a:r>
                        <a:rPr sz="2400" b="1"/>
                        <a:t>Code Security Review</a:t>
                      </a:r>
                      <a:r>
                        <a:rPr sz="2400"/>
                        <a:t> - Ensure AI-suggested code changes don’t introduce security risks</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Risk Assessment</a:t>
                      </a:r>
                      <a:r>
                        <a:rPr sz="2400"/>
                        <a:t> - Guide AI through security impact analysis and risk prioritization</a:t>
                      </a:r>
                    </a:p>
                  </a:txBody>
                  <a:tcPr marL="121920" marR="121920" marT="60960" marB="60960"/>
                </a:tc>
                <a:tc>
                  <a:txBody>
                    <a:bodyPr/>
                    <a:lstStyle/>
                    <a:p>
                      <a:pPr marL="0" lvl="0" indent="0">
                        <a:buNone/>
                      </a:pPr>
                      <a:r>
                        <a:rPr sz="2400" b="1"/>
                        <a:t>Policy Enforcement</a:t>
                      </a:r>
                      <a:r>
                        <a:rPr sz="2400"/>
                        <a:t> - Verify AI recommendations align with organizational security policies</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Security Testing</a:t>
                      </a:r>
                      <a:r>
                        <a:rPr sz="2400"/>
                        <a:t> - Generate security test cases and penetration testing scenarios</a:t>
                      </a:r>
                    </a:p>
                  </a:txBody>
                  <a:tcPr marL="121920" marR="121920" marT="60960" marB="60960"/>
                </a:tc>
                <a:tc>
                  <a:txBody>
                    <a:bodyPr/>
                    <a:lstStyle/>
                    <a:p>
                      <a:pPr marL="0" lvl="0" indent="0">
                        <a:buNone/>
                      </a:pPr>
                      <a:r>
                        <a:rPr sz="2400" b="1"/>
                        <a:t>Audit Trail Maintenance</a:t>
                      </a:r>
                      <a:r>
                        <a:rPr sz="2400"/>
                        <a:t> - Document security decisions and rationale for AI-assisted reviews</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b="1"/>
                        <a:t>Incident Response</a:t>
                      </a:r>
                      <a:r>
                        <a:rPr sz="2400"/>
                        <a:t> - Use AI for security event analysis and response planning</a:t>
                      </a:r>
                    </a:p>
                  </a:txBody>
                  <a:tcPr marL="121920" marR="121920" marT="60960" marB="60960"/>
                </a:tc>
                <a:tc>
                  <a:txBody>
                    <a:bodyPr/>
                    <a:lstStyle/>
                    <a:p>
                      <a:pPr marL="0" lvl="0" indent="0">
                        <a:buNone/>
                      </a:pPr>
                      <a:r>
                        <a:rPr sz="2400" b="1" dirty="0"/>
                        <a:t>Threat Intelligence</a:t>
                      </a:r>
                      <a:r>
                        <a:rPr sz="2400" dirty="0"/>
                        <a:t> - Stay current on security trends that may affect AI recommendation quality</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DevOps Engineer</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520267">
                  <a:extLst>
                    <a:ext uri="{9D8B030D-6E8A-4147-A177-3AD203B41FA5}">
                      <a16:colId xmlns:a16="http://schemas.microsoft.com/office/drawing/2014/main" val="20000"/>
                    </a:ext>
                  </a:extLst>
                </a:gridCol>
                <a:gridCol w="5452533">
                  <a:extLst>
                    <a:ext uri="{9D8B030D-6E8A-4147-A177-3AD203B41FA5}">
                      <a16:colId xmlns:a16="http://schemas.microsoft.com/office/drawing/2014/main" val="20001"/>
                    </a:ext>
                  </a:extLst>
                </a:gridCol>
              </a:tblGrid>
              <a:tr h="487680">
                <a:tc>
                  <a:txBody>
                    <a:bodyPr/>
                    <a:lstStyle/>
                    <a:p>
                      <a:pPr marL="0" lvl="0" indent="0">
                        <a:buNone/>
                      </a:pPr>
                      <a:r>
                        <a:rPr sz="2400" b="1" dirty="0"/>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a:t>Infrastructure as Code</a:t>
                      </a:r>
                      <a:r>
                        <a:rPr sz="2400"/>
                        <a:t> - Generate and optimize IaC templates, scripts, and configurations</a:t>
                      </a:r>
                    </a:p>
                  </a:txBody>
                  <a:tcPr marL="121920" marR="121920" marT="60960" marB="60960"/>
                </a:tc>
                <a:tc>
                  <a:txBody>
                    <a:bodyPr/>
                    <a:lstStyle/>
                    <a:p>
                      <a:pPr marL="0" lvl="0" indent="0">
                        <a:buNone/>
                      </a:pPr>
                      <a:r>
                        <a:rPr sz="2400" b="1"/>
                        <a:t>Pipeline Reliability</a:t>
                      </a:r>
                      <a:r>
                        <a:rPr sz="2400"/>
                        <a:t> - Ensure AI-generated CI/CD configurations are stable and efficient</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a:t>CI/CD Pipeline Design</a:t>
                      </a:r>
                      <a:r>
                        <a:rPr sz="2400"/>
                        <a:t> - Use AI for build, test, and deployment pipeline optimization</a:t>
                      </a:r>
                    </a:p>
                  </a:txBody>
                  <a:tcPr marL="121920" marR="121920" marT="60960" marB="60960"/>
                </a:tc>
                <a:tc>
                  <a:txBody>
                    <a:bodyPr/>
                    <a:lstStyle/>
                    <a:p>
                      <a:pPr marL="0" lvl="0" indent="0">
                        <a:buNone/>
                      </a:pPr>
                      <a:r>
                        <a:rPr sz="2400" b="1"/>
                        <a:t>Security Integration</a:t>
                      </a:r>
                      <a:r>
                        <a:rPr sz="2400"/>
                        <a:t> - Validate AI-suggested DevSecOps practices and security controls</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Monitoring &amp; Alerting</a:t>
                      </a:r>
                      <a:r>
                        <a:rPr sz="2400"/>
                        <a:t> - Create comprehensive observability strategies with AI assistance</a:t>
                      </a:r>
                    </a:p>
                  </a:txBody>
                  <a:tcPr marL="121920" marR="121920" marT="60960" marB="60960"/>
                </a:tc>
                <a:tc>
                  <a:txBody>
                    <a:bodyPr/>
                    <a:lstStyle/>
                    <a:p>
                      <a:pPr marL="0" lvl="0" indent="0">
                        <a:buNone/>
                      </a:pPr>
                      <a:r>
                        <a:rPr sz="2400" b="1"/>
                        <a:t>Performance Monitoring</a:t>
                      </a:r>
                      <a:r>
                        <a:rPr sz="2400"/>
                        <a:t> - Implement AI-recommended monitoring and alerting strategies</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Automation Scripting</a:t>
                      </a:r>
                      <a:r>
                        <a:rPr sz="2400"/>
                        <a:t> - Generate operational scripts and automation workflows</a:t>
                      </a:r>
                    </a:p>
                  </a:txBody>
                  <a:tcPr marL="121920" marR="121920" marT="60960" marB="60960"/>
                </a:tc>
                <a:tc>
                  <a:txBody>
                    <a:bodyPr/>
                    <a:lstStyle/>
                    <a:p>
                      <a:pPr marL="0" lvl="0" indent="0">
                        <a:buNone/>
                      </a:pPr>
                      <a:r>
                        <a:rPr sz="2400" b="1"/>
                        <a:t>Cost Management</a:t>
                      </a:r>
                      <a:r>
                        <a:rPr sz="2400"/>
                        <a:t> - Review AI suggestions for infrastructure cost optimization</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b="1"/>
                        <a:t>Cloud Resource Optimization</a:t>
                      </a:r>
                      <a:r>
                        <a:rPr sz="2400"/>
                        <a:t> - Leverage AI for cost optimization and resource management</a:t>
                      </a:r>
                    </a:p>
                  </a:txBody>
                  <a:tcPr marL="121920" marR="121920" marT="60960" marB="60960"/>
                </a:tc>
                <a:tc>
                  <a:txBody>
                    <a:bodyPr/>
                    <a:lstStyle/>
                    <a:p>
                      <a:pPr marL="0" lvl="0" indent="0">
                        <a:buNone/>
                      </a:pPr>
                      <a:r>
                        <a:rPr sz="2400" b="1" dirty="0"/>
                        <a:t>Disaster Recovery</a:t>
                      </a:r>
                      <a:r>
                        <a:rPr sz="2400" dirty="0"/>
                        <a:t> - Develop and test AI-assisted backup and recovery procedures</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DevTest Engineer</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909733">
                  <a:extLst>
                    <a:ext uri="{9D8B030D-6E8A-4147-A177-3AD203B41FA5}">
                      <a16:colId xmlns:a16="http://schemas.microsoft.com/office/drawing/2014/main" val="20000"/>
                    </a:ext>
                  </a:extLst>
                </a:gridCol>
                <a:gridCol w="5063067">
                  <a:extLst>
                    <a:ext uri="{9D8B030D-6E8A-4147-A177-3AD203B41FA5}">
                      <a16:colId xmlns:a16="http://schemas.microsoft.com/office/drawing/2014/main" val="20001"/>
                    </a:ext>
                  </a:extLst>
                </a:gridCol>
              </a:tblGrid>
              <a:tr h="487680">
                <a:tc>
                  <a:txBody>
                    <a:bodyPr/>
                    <a:lstStyle/>
                    <a:p>
                      <a:pPr marL="0" lvl="0" indent="0">
                        <a:buNone/>
                      </a:pPr>
                      <a:r>
                        <a:rPr sz="2400" b="1"/>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dirty="0"/>
                        <a:t>Test Case Generation</a:t>
                      </a:r>
                      <a:r>
                        <a:rPr sz="2400" dirty="0"/>
                        <a:t> - Create comprehensive test scenarios across functional and non-functional areas</a:t>
                      </a:r>
                    </a:p>
                  </a:txBody>
                  <a:tcPr marL="121920" marR="121920" marT="60960" marB="60960"/>
                </a:tc>
                <a:tc>
                  <a:txBody>
                    <a:bodyPr/>
                    <a:lstStyle/>
                    <a:p>
                      <a:pPr marL="0" lvl="0" indent="0">
                        <a:buNone/>
                      </a:pPr>
                      <a:r>
                        <a:rPr sz="2400" b="1"/>
                        <a:t>Test Coverage Validation</a:t>
                      </a:r>
                      <a:r>
                        <a:rPr sz="2400"/>
                        <a:t> - Ensure AI-generated tests provide adequate coverage</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a:t>Test Data Management</a:t>
                      </a:r>
                      <a:r>
                        <a:rPr sz="2400"/>
                        <a:t> - Generate realistic test data sets and scenarios</a:t>
                      </a:r>
                    </a:p>
                  </a:txBody>
                  <a:tcPr marL="121920" marR="121920" marT="60960" marB="60960"/>
                </a:tc>
                <a:tc>
                  <a:txBody>
                    <a:bodyPr/>
                    <a:lstStyle/>
                    <a:p>
                      <a:pPr marL="0" lvl="0" indent="0">
                        <a:buNone/>
                      </a:pPr>
                      <a:r>
                        <a:rPr sz="2400" b="1"/>
                        <a:t>Test Environment Management</a:t>
                      </a:r>
                      <a:r>
                        <a:rPr sz="2400"/>
                        <a:t> - Maintain consistent, reliable test environments</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Automation Framework</a:t>
                      </a:r>
                      <a:r>
                        <a:rPr sz="2400"/>
                        <a:t> - Build robust test automation with AI assistance</a:t>
                      </a:r>
                    </a:p>
                  </a:txBody>
                  <a:tcPr marL="121920" marR="121920" marT="60960" marB="60960"/>
                </a:tc>
                <a:tc>
                  <a:txBody>
                    <a:bodyPr/>
                    <a:lstStyle/>
                    <a:p>
                      <a:pPr marL="0" lvl="0" indent="0">
                        <a:buNone/>
                      </a:pPr>
                      <a:r>
                        <a:rPr sz="2400" b="1"/>
                        <a:t>Quality Metrics</a:t>
                      </a:r>
                      <a:r>
                        <a:rPr sz="2400"/>
                        <a:t> - Track and report on quality metrics derived from AI-assisted testing</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Performance Testing</a:t>
                      </a:r>
                      <a:r>
                        <a:rPr sz="2400"/>
                        <a:t> - Design load, stress, and performance test strategies</a:t>
                      </a:r>
                    </a:p>
                  </a:txBody>
                  <a:tcPr marL="121920" marR="121920" marT="60960" marB="60960"/>
                </a:tc>
                <a:tc>
                  <a:txBody>
                    <a:bodyPr/>
                    <a:lstStyle/>
                    <a:p>
                      <a:pPr marL="0" lvl="0" indent="0">
                        <a:buNone/>
                      </a:pPr>
                      <a:r>
                        <a:rPr sz="2400" b="1"/>
                        <a:t>Test Maintenance</a:t>
                      </a:r>
                      <a:r>
                        <a:rPr sz="2400"/>
                        <a:t> - Keep AI-generated test suites current with application changes</a:t>
                      </a:r>
                    </a:p>
                  </a:txBody>
                  <a:tcPr marL="121920" marR="121920" marT="60960" marB="60960"/>
                </a:tc>
                <a:extLst>
                  <a:ext uri="{0D108BD9-81ED-4DB2-BD59-A6C34878D82A}">
                    <a16:rowId xmlns:a16="http://schemas.microsoft.com/office/drawing/2014/main" val="10004"/>
                  </a:ext>
                </a:extLst>
              </a:tr>
              <a:tr h="853440">
                <a:tc>
                  <a:txBody>
                    <a:bodyPr/>
                    <a:lstStyle/>
                    <a:p>
                      <a:pPr marL="0" lvl="0" indent="0">
                        <a:buNone/>
                      </a:pPr>
                      <a:r>
                        <a:rPr sz="2400" b="1"/>
                        <a:t>Defect Analysis</a:t>
                      </a:r>
                      <a:r>
                        <a:rPr sz="2400"/>
                        <a:t> - Use AI for root cause analysis and bug reproduction</a:t>
                      </a:r>
                    </a:p>
                  </a:txBody>
                  <a:tcPr marL="121920" marR="121920" marT="60960" marB="60960"/>
                </a:tc>
                <a:tc>
                  <a:txBody>
                    <a:bodyPr/>
                    <a:lstStyle/>
                    <a:p>
                      <a:pPr marL="0" lvl="0" indent="0">
                        <a:buNone/>
                      </a:pPr>
                      <a:r>
                        <a:rPr sz="2400" b="1" dirty="0"/>
                        <a:t>Bug Triage</a:t>
                      </a:r>
                      <a:r>
                        <a:rPr sz="2400" dirty="0"/>
                        <a:t> - Prioritize and categorize defects with AI analysis support</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SRE (Site Reliability Engineer)</a:t>
            </a:r>
          </a:p>
        </p:txBody>
      </p:sp>
      <p:graphicFrame>
        <p:nvGraphicFramePr>
          <p:cNvPr id="6" name="Content Placeholder 5"/>
          <p:cNvGraphicFramePr>
            <a:graphicFrameLocks noGrp="1"/>
          </p:cNvGraphicFramePr>
          <p:nvPr>
            <p:ph idx="1"/>
          </p:nvPr>
        </p:nvGraphicFramePr>
        <p:xfrm>
          <a:off x="609600" y="1591733"/>
          <a:ext cx="10972800" cy="3749040"/>
        </p:xfrm>
        <a:graphic>
          <a:graphicData uri="http://schemas.openxmlformats.org/drawingml/2006/table">
            <a:tbl>
              <a:tblPr firstRow="1" bandRow="1">
                <a:tableStyleId>{FABFCF23-3B69-468F-B69F-88F6DE6A72F2}</a:tableStyleId>
              </a:tblPr>
              <a:tblGrid>
                <a:gridCol w="5215467">
                  <a:extLst>
                    <a:ext uri="{9D8B030D-6E8A-4147-A177-3AD203B41FA5}">
                      <a16:colId xmlns:a16="http://schemas.microsoft.com/office/drawing/2014/main" val="20000"/>
                    </a:ext>
                  </a:extLst>
                </a:gridCol>
                <a:gridCol w="5757333">
                  <a:extLst>
                    <a:ext uri="{9D8B030D-6E8A-4147-A177-3AD203B41FA5}">
                      <a16:colId xmlns:a16="http://schemas.microsoft.com/office/drawing/2014/main" val="20001"/>
                    </a:ext>
                  </a:extLst>
                </a:gridCol>
              </a:tblGrid>
              <a:tr h="487680">
                <a:tc>
                  <a:txBody>
                    <a:bodyPr/>
                    <a:lstStyle/>
                    <a:p>
                      <a:pPr marL="0" lvl="0" indent="0">
                        <a:buNone/>
                      </a:pPr>
                      <a:r>
                        <a:rPr sz="2400" b="1"/>
                        <a:t>Skills</a:t>
                      </a:r>
                    </a:p>
                  </a:txBody>
                  <a:tcPr marL="121920" marR="121920" marT="60960" marB="60960"/>
                </a:tc>
                <a:tc>
                  <a:txBody>
                    <a:bodyPr/>
                    <a:lstStyle/>
                    <a:p>
                      <a:pPr marL="0" lvl="0" indent="0">
                        <a:buNone/>
                      </a:pPr>
                      <a:r>
                        <a:rPr sz="2400" b="1"/>
                        <a:t>Responsibilities</a:t>
                      </a:r>
                    </a:p>
                  </a:txBody>
                  <a:tcPr marL="121920" marR="121920" marT="60960" marB="60960"/>
                </a:tc>
                <a:extLst>
                  <a:ext uri="{0D108BD9-81ED-4DB2-BD59-A6C34878D82A}">
                    <a16:rowId xmlns:a16="http://schemas.microsoft.com/office/drawing/2014/main" val="10000"/>
                  </a:ext>
                </a:extLst>
              </a:tr>
              <a:tr h="1219200">
                <a:tc>
                  <a:txBody>
                    <a:bodyPr/>
                    <a:lstStyle/>
                    <a:p>
                      <a:pPr marL="0" lvl="0" indent="0">
                        <a:buNone/>
                      </a:pPr>
                      <a:r>
                        <a:rPr sz="2400" b="1"/>
                        <a:t>Incident Response</a:t>
                      </a:r>
                      <a:r>
                        <a:rPr sz="2400"/>
                        <a:t> - Use AI for rapid incident analysis, diagnosis, and resolution</a:t>
                      </a:r>
                    </a:p>
                  </a:txBody>
                  <a:tcPr marL="121920" marR="121920" marT="60960" marB="60960"/>
                </a:tc>
                <a:tc>
                  <a:txBody>
                    <a:bodyPr/>
                    <a:lstStyle/>
                    <a:p>
                      <a:pPr marL="0" lvl="0" indent="0">
                        <a:buNone/>
                      </a:pPr>
                      <a:r>
                        <a:rPr sz="2400" b="1"/>
                        <a:t>System Reliability</a:t>
                      </a:r>
                      <a:r>
                        <a:rPr sz="2400"/>
                        <a:t> - Maintain service availability using AI-driven monitoring and response</a:t>
                      </a:r>
                    </a:p>
                  </a:txBody>
                  <a:tcPr marL="121920" marR="121920" marT="60960" marB="60960"/>
                </a:tc>
                <a:extLst>
                  <a:ext uri="{0D108BD9-81ED-4DB2-BD59-A6C34878D82A}">
                    <a16:rowId xmlns:a16="http://schemas.microsoft.com/office/drawing/2014/main" val="10001"/>
                  </a:ext>
                </a:extLst>
              </a:tr>
              <a:tr h="1219200">
                <a:tc>
                  <a:txBody>
                    <a:bodyPr/>
                    <a:lstStyle/>
                    <a:p>
                      <a:pPr marL="0" lvl="0" indent="0">
                        <a:buNone/>
                      </a:pPr>
                      <a:r>
                        <a:rPr sz="2400" b="1"/>
                        <a:t>SLA/SLO Monitoring</a:t>
                      </a:r>
                      <a:r>
                        <a:rPr sz="2400"/>
                        <a:t> - Generate comprehensive reliability metrics and alerting</a:t>
                      </a:r>
                    </a:p>
                  </a:txBody>
                  <a:tcPr marL="121920" marR="121920" marT="60960" marB="60960"/>
                </a:tc>
                <a:tc>
                  <a:txBody>
                    <a:bodyPr/>
                    <a:lstStyle/>
                    <a:p>
                      <a:pPr marL="0" lvl="0" indent="0">
                        <a:buNone/>
                      </a:pPr>
                      <a:r>
                        <a:rPr sz="2400" b="1"/>
                        <a:t>Performance Optimization</a:t>
                      </a:r>
                      <a:r>
                        <a:rPr sz="2400"/>
                        <a:t> - Continuously improve system performance with AI insights</a:t>
                      </a:r>
                    </a:p>
                  </a:txBody>
                  <a:tcPr marL="121920" marR="121920" marT="60960" marB="60960"/>
                </a:tc>
                <a:extLst>
                  <a:ext uri="{0D108BD9-81ED-4DB2-BD59-A6C34878D82A}">
                    <a16:rowId xmlns:a16="http://schemas.microsoft.com/office/drawing/2014/main" val="10002"/>
                  </a:ext>
                </a:extLst>
              </a:tr>
              <a:tr h="1219200">
                <a:tc>
                  <a:txBody>
                    <a:bodyPr/>
                    <a:lstStyle/>
                    <a:p>
                      <a:pPr marL="0" lvl="0" indent="0">
                        <a:buNone/>
                      </a:pPr>
                      <a:r>
                        <a:rPr sz="2400" b="1"/>
                        <a:t>Capacity Planning</a:t>
                      </a:r>
                      <a:r>
                        <a:rPr sz="2400"/>
                        <a:t> - Leverage AI for resource forecasting and scaling decisions</a:t>
                      </a:r>
                    </a:p>
                  </a:txBody>
                  <a:tcPr marL="121920" marR="121920" marT="60960" marB="60960"/>
                </a:tc>
                <a:tc>
                  <a:txBody>
                    <a:bodyPr/>
                    <a:lstStyle/>
                    <a:p>
                      <a:pPr marL="0" lvl="0" indent="0">
                        <a:buNone/>
                      </a:pPr>
                      <a:r>
                        <a:rPr sz="2400" b="1"/>
                        <a:t>Incident Documentation</a:t>
                      </a:r>
                      <a:r>
                        <a:rPr sz="2400"/>
                        <a:t> - Create detailed incident reports and prevention strategies</a:t>
                      </a:r>
                    </a:p>
                  </a:txBody>
                  <a:tcPr marL="121920" marR="121920" marT="60960" marB="60960"/>
                </a:tc>
                <a:extLst>
                  <a:ext uri="{0D108BD9-81ED-4DB2-BD59-A6C34878D82A}">
                    <a16:rowId xmlns:a16="http://schemas.microsoft.com/office/drawing/2014/main" val="10003"/>
                  </a:ext>
                </a:extLst>
              </a:tr>
              <a:tr h="1219200">
                <a:tc>
                  <a:txBody>
                    <a:bodyPr/>
                    <a:lstStyle/>
                    <a:p>
                      <a:pPr marL="0" lvl="0" indent="0">
                        <a:buNone/>
                      </a:pPr>
                      <a:r>
                        <a:rPr sz="2400" b="1"/>
                        <a:t>Post-mortem Analysis</a:t>
                      </a:r>
                      <a:r>
                        <a:rPr sz="2400"/>
                        <a:t> - Create thorough incident reviews with AI assistance</a:t>
                      </a:r>
                    </a:p>
                  </a:txBody>
                  <a:tcPr marL="121920" marR="121920" marT="60960" marB="60960"/>
                </a:tc>
                <a:tc>
                  <a:txBody>
                    <a:bodyPr/>
                    <a:lstStyle/>
                    <a:p>
                      <a:pPr marL="0" lvl="0" indent="0">
                        <a:buNone/>
                      </a:pPr>
                      <a:r>
                        <a:rPr sz="2400" b="1"/>
                        <a:t>Change Management</a:t>
                      </a:r>
                      <a:r>
                        <a:rPr sz="2400"/>
                        <a:t> - Assess deployment risks using AI-powered analysis</a:t>
                      </a:r>
                    </a:p>
                  </a:txBody>
                  <a:tcPr marL="121920" marR="121920" marT="60960" marB="60960"/>
                </a:tc>
                <a:extLst>
                  <a:ext uri="{0D108BD9-81ED-4DB2-BD59-A6C34878D82A}">
                    <a16:rowId xmlns:a16="http://schemas.microsoft.com/office/drawing/2014/main" val="10004"/>
                  </a:ext>
                </a:extLst>
              </a:tr>
              <a:tr h="1219200">
                <a:tc>
                  <a:txBody>
                    <a:bodyPr/>
                    <a:lstStyle/>
                    <a:p>
                      <a:pPr marL="0" lvl="0" indent="0">
                        <a:buNone/>
                      </a:pPr>
                      <a:r>
                        <a:rPr sz="2400" b="1"/>
                        <a:t>Reliability Engineering</a:t>
                      </a:r>
                      <a:r>
                        <a:rPr sz="2400"/>
                        <a:t> - Design fault-tolerant systems with AI recommendations</a:t>
                      </a:r>
                    </a:p>
                  </a:txBody>
                  <a:tcPr marL="121920" marR="121920" marT="60960" marB="60960"/>
                </a:tc>
                <a:tc>
                  <a:txBody>
                    <a:bodyPr/>
                    <a:lstStyle/>
                    <a:p>
                      <a:pPr marL="0" lvl="0" indent="0">
                        <a:buNone/>
                      </a:pPr>
                      <a:r>
                        <a:rPr sz="2400" b="1" dirty="0"/>
                        <a:t>On-call Excellence</a:t>
                      </a:r>
                      <a:r>
                        <a:rPr sz="2400" dirty="0"/>
                        <a:t> - Optimize on-call procedures and reduce MTTR with AI support</a:t>
                      </a:r>
                    </a:p>
                  </a:txBody>
                  <a:tcPr marL="121920" marR="121920" marT="60960" marB="60960"/>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5A13-09BE-07DF-26D2-33DAB2032FB6}"/>
              </a:ext>
            </a:extLst>
          </p:cNvPr>
          <p:cNvSpPr>
            <a:spLocks noGrp="1"/>
          </p:cNvSpPr>
          <p:nvPr>
            <p:ph type="title"/>
          </p:nvPr>
        </p:nvSpPr>
        <p:spPr/>
        <p:txBody>
          <a:bodyPr>
            <a:normAutofit/>
          </a:bodyPr>
          <a:lstStyle/>
          <a:p>
            <a:r>
              <a:rPr lang="en-US" dirty="0"/>
              <a:t>Solution Architect Prompts</a:t>
            </a:r>
          </a:p>
        </p:txBody>
      </p:sp>
      <p:graphicFrame>
        <p:nvGraphicFramePr>
          <p:cNvPr id="7" name="Content Placeholder 3">
            <a:extLst>
              <a:ext uri="{FF2B5EF4-FFF2-40B4-BE49-F238E27FC236}">
                <a16:creationId xmlns:a16="http://schemas.microsoft.com/office/drawing/2014/main" id="{A65F688E-CEC1-CC07-F162-8F46D986CA98}"/>
              </a:ext>
            </a:extLst>
          </p:cNvPr>
          <p:cNvGraphicFramePr>
            <a:graphicFrameLocks noGrp="1"/>
          </p:cNvGraphicFramePr>
          <p:nvPr>
            <p:ph idx="1"/>
          </p:nvPr>
        </p:nvGraphicFramePr>
        <p:xfrm>
          <a:off x="838201" y="1460500"/>
          <a:ext cx="10517220" cy="4609088"/>
        </p:xfrm>
        <a:graphic>
          <a:graphicData uri="http://schemas.openxmlformats.org/drawingml/2006/table">
            <a:tbl>
              <a:tblPr firstRow="1">
                <a:tableStyleId>{FABFCF23-3B69-468F-B69F-88F6DE6A72F2}</a:tableStyleId>
              </a:tblPr>
              <a:tblGrid>
                <a:gridCol w="4290588">
                  <a:extLst>
                    <a:ext uri="{9D8B030D-6E8A-4147-A177-3AD203B41FA5}">
                      <a16:colId xmlns:a16="http://schemas.microsoft.com/office/drawing/2014/main" val="2881061085"/>
                    </a:ext>
                  </a:extLst>
                </a:gridCol>
                <a:gridCol w="6226632">
                  <a:extLst>
                    <a:ext uri="{9D8B030D-6E8A-4147-A177-3AD203B41FA5}">
                      <a16:colId xmlns:a16="http://schemas.microsoft.com/office/drawing/2014/main" val="1829283823"/>
                    </a:ext>
                  </a:extLst>
                </a:gridCol>
              </a:tblGrid>
              <a:tr h="419008">
                <a:tc>
                  <a:txBody>
                    <a:bodyPr/>
                    <a:lstStyle/>
                    <a:p>
                      <a:pPr marL="0" marR="0" fontAlgn="t">
                        <a:buNone/>
                      </a:pPr>
                      <a:r>
                        <a:rPr lang="en-US" sz="1500">
                          <a:effectLst/>
                        </a:rPr>
                        <a:t>Prompt File</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Description</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469250328"/>
                  </a:ext>
                </a:extLst>
              </a:tr>
              <a:tr h="419008">
                <a:tc>
                  <a:txBody>
                    <a:bodyPr/>
                    <a:lstStyle/>
                    <a:p>
                      <a:pPr marL="0" marR="0" fontAlgn="t">
                        <a:buNone/>
                      </a:pPr>
                      <a:r>
                        <a:rPr lang="en-US" sz="1500">
                          <a:effectLst/>
                        </a:rPr>
                        <a:t>architecture-design.prompt.md</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Comprehensive system architecture designs</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3447864658"/>
                  </a:ext>
                </a:extLst>
              </a:tr>
              <a:tr h="419008">
                <a:tc>
                  <a:txBody>
                    <a:bodyPr/>
                    <a:lstStyle/>
                    <a:p>
                      <a:pPr marL="0" marR="0" fontAlgn="t">
                        <a:buNone/>
                      </a:pPr>
                      <a:r>
                        <a:rPr lang="en-US" sz="1500">
                          <a:effectLst/>
                        </a:rPr>
                        <a:t>pattern-analysis.prompt.md</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Architectural pattern analysis and recommendations</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2313302320"/>
                  </a:ext>
                </a:extLst>
              </a:tr>
              <a:tr h="419008">
                <a:tc>
                  <a:txBody>
                    <a:bodyPr/>
                    <a:lstStyle/>
                    <a:p>
                      <a:pPr marL="0" marR="0" fontAlgn="t">
                        <a:buNone/>
                      </a:pPr>
                      <a:r>
                        <a:rPr lang="en-US" sz="1500">
                          <a:effectLst/>
                        </a:rPr>
                        <a:t>technology-evaluation.prompt.md</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Technology evaluation and selection</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905596791"/>
                  </a:ext>
                </a:extLst>
              </a:tr>
              <a:tr h="419008">
                <a:tc>
                  <a:txBody>
                    <a:bodyPr/>
                    <a:lstStyle/>
                    <a:p>
                      <a:pPr marL="0" marR="0" fontAlgn="t">
                        <a:buNone/>
                      </a:pPr>
                      <a:r>
                        <a:rPr lang="en-US" sz="1500">
                          <a:effectLst/>
                        </a:rPr>
                        <a:t>scalability-planning.prompt.md</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Scalability and capacity planning</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2405897616"/>
                  </a:ext>
                </a:extLst>
              </a:tr>
              <a:tr h="419008">
                <a:tc>
                  <a:txBody>
                    <a:bodyPr/>
                    <a:lstStyle/>
                    <a:p>
                      <a:pPr marL="0" marR="0" fontAlgn="t">
                        <a:buNone/>
                      </a:pPr>
                      <a:r>
                        <a:rPr lang="en-US" sz="1500">
                          <a:effectLst/>
                        </a:rPr>
                        <a:t>integration-design.prompt.md</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System integration and API design</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3558223382"/>
                  </a:ext>
                </a:extLst>
              </a:tr>
              <a:tr h="419008">
                <a:tc>
                  <a:txBody>
                    <a:bodyPr/>
                    <a:lstStyle/>
                    <a:p>
                      <a:pPr marL="0" marR="0" fontAlgn="t">
                        <a:buNone/>
                      </a:pPr>
                      <a:r>
                        <a:rPr lang="en-US" sz="1500">
                          <a:effectLst/>
                        </a:rPr>
                        <a:t>security-architecture.prompt.md</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Security controls and threat mitigation</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899883846"/>
                  </a:ext>
                </a:extLst>
              </a:tr>
              <a:tr h="419008">
                <a:tc>
                  <a:txBody>
                    <a:bodyPr/>
                    <a:lstStyle/>
                    <a:p>
                      <a:pPr marL="0" marR="0" fontAlgn="t">
                        <a:buNone/>
                      </a:pPr>
                      <a:r>
                        <a:rPr lang="en-US" sz="1500">
                          <a:effectLst/>
                        </a:rPr>
                        <a:t>performance-analysis.prompt.md</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Performance analysis and bottleneck identification</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795159104"/>
                  </a:ext>
                </a:extLst>
              </a:tr>
              <a:tr h="419008">
                <a:tc>
                  <a:txBody>
                    <a:bodyPr/>
                    <a:lstStyle/>
                    <a:p>
                      <a:pPr marL="0" marR="0" fontAlgn="t">
                        <a:buNone/>
                      </a:pPr>
                      <a:r>
                        <a:rPr lang="en-US" sz="1500">
                          <a:effectLst/>
                        </a:rPr>
                        <a:t>migration-strategy.prompt.md </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System migration and modernization planning</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2373535624"/>
                  </a:ext>
                </a:extLst>
              </a:tr>
              <a:tr h="419008">
                <a:tc>
                  <a:txBody>
                    <a:bodyPr/>
                    <a:lstStyle/>
                    <a:p>
                      <a:pPr marL="0" marR="0" fontAlgn="t">
                        <a:buNone/>
                      </a:pPr>
                      <a:r>
                        <a:rPr lang="en-US" sz="1500">
                          <a:effectLst/>
                        </a:rPr>
                        <a:t>compliance-check.prompt.md </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a:effectLst/>
                        </a:rPr>
                        <a:t>Compliance validation and standards alignment</a:t>
                      </a:r>
                      <a:endParaRPr lang="en-US" sz="1500">
                        <a:effectLst/>
                        <a:latin typeface="Calibri" panose="020F0502020204030204" pitchFamily="34" charset="0"/>
                      </a:endParaRPr>
                    </a:p>
                  </a:txBody>
                  <a:tcPr marL="67733" marR="67733" marT="67733" marB="67733"/>
                </a:tc>
                <a:extLst>
                  <a:ext uri="{0D108BD9-81ED-4DB2-BD59-A6C34878D82A}">
                    <a16:rowId xmlns:a16="http://schemas.microsoft.com/office/drawing/2014/main" val="2745448672"/>
                  </a:ext>
                </a:extLst>
              </a:tr>
              <a:tr h="419008">
                <a:tc>
                  <a:txBody>
                    <a:bodyPr/>
                    <a:lstStyle/>
                    <a:p>
                      <a:pPr marL="0" marR="0" fontAlgn="t">
                        <a:buNone/>
                      </a:pPr>
                      <a:r>
                        <a:rPr lang="en-US" sz="1500">
                          <a:effectLst/>
                        </a:rPr>
                        <a:t>risk-assessment.prompt.md </a:t>
                      </a:r>
                      <a:endParaRPr lang="en-US" sz="1500">
                        <a:effectLst/>
                        <a:latin typeface="Calibri" panose="020F0502020204030204" pitchFamily="34" charset="0"/>
                      </a:endParaRPr>
                    </a:p>
                  </a:txBody>
                  <a:tcPr marL="67733" marR="67733" marT="67733" marB="67733"/>
                </a:tc>
                <a:tc>
                  <a:txBody>
                    <a:bodyPr/>
                    <a:lstStyle/>
                    <a:p>
                      <a:pPr marL="0" marR="0" fontAlgn="t">
                        <a:buNone/>
                      </a:pPr>
                      <a:r>
                        <a:rPr lang="en-US" sz="1500" dirty="0">
                          <a:effectLst/>
                        </a:rPr>
                        <a:t>Architectural risk assessment and mitigation</a:t>
                      </a:r>
                      <a:endParaRPr lang="en-US" sz="1500" dirty="0">
                        <a:effectLst/>
                        <a:latin typeface="Calibri" panose="020F0502020204030204" pitchFamily="34" charset="0"/>
                      </a:endParaRPr>
                    </a:p>
                  </a:txBody>
                  <a:tcPr marL="67733" marR="67733" marT="67733" marB="67733"/>
                </a:tc>
                <a:extLst>
                  <a:ext uri="{0D108BD9-81ED-4DB2-BD59-A6C34878D82A}">
                    <a16:rowId xmlns:a16="http://schemas.microsoft.com/office/drawing/2014/main" val="3371524656"/>
                  </a:ext>
                </a:extLst>
              </a:tr>
            </a:tbl>
          </a:graphicData>
        </a:graphic>
      </p:graphicFrame>
    </p:spTree>
    <p:extLst>
      <p:ext uri="{BB962C8B-B14F-4D97-AF65-F5344CB8AC3E}">
        <p14:creationId xmlns:p14="http://schemas.microsoft.com/office/powerpoint/2010/main" val="3807235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015D9-C82B-0277-6627-5BE32019CB34}"/>
              </a:ext>
            </a:extLst>
          </p:cNvPr>
          <p:cNvSpPr>
            <a:spLocks noGrp="1"/>
          </p:cNvSpPr>
          <p:nvPr>
            <p:ph type="title"/>
          </p:nvPr>
        </p:nvSpPr>
        <p:spPr/>
        <p:txBody>
          <a:bodyPr>
            <a:noAutofit/>
          </a:bodyPr>
          <a:lstStyle/>
          <a:p>
            <a:r>
              <a:rPr lang="en-US" sz="3200" dirty="0"/>
              <a:t>If you said: </a:t>
            </a:r>
            <a:r>
              <a:rPr lang="en-US" sz="3200" i="1" dirty="0"/>
              <a:t>"Design an architecture for a Windows desktop application that manages real-time inventory for a warehouse"</a:t>
            </a:r>
            <a:endParaRPr lang="en-US" sz="3200" dirty="0"/>
          </a:p>
        </p:txBody>
      </p:sp>
      <p:sp>
        <p:nvSpPr>
          <p:cNvPr id="3" name="Content Placeholder 2">
            <a:extLst>
              <a:ext uri="{FF2B5EF4-FFF2-40B4-BE49-F238E27FC236}">
                <a16:creationId xmlns:a16="http://schemas.microsoft.com/office/drawing/2014/main" id="{4EC20C40-8652-01D7-987E-E8DE82175735}"/>
              </a:ext>
            </a:extLst>
          </p:cNvPr>
          <p:cNvSpPr>
            <a:spLocks noGrp="1"/>
          </p:cNvSpPr>
          <p:nvPr>
            <p:ph idx="1"/>
          </p:nvPr>
        </p:nvSpPr>
        <p:spPr>
          <a:xfrm>
            <a:off x="838201" y="1694947"/>
            <a:ext cx="10515600" cy="4351339"/>
          </a:xfrm>
        </p:spPr>
        <p:txBody>
          <a:bodyPr>
            <a:normAutofit fontScale="85000" lnSpcReduction="20000"/>
          </a:bodyPr>
          <a:lstStyle/>
          <a:p>
            <a:pPr marL="0" indent="0">
              <a:buNone/>
            </a:pPr>
            <a:r>
              <a:rPr lang="en-US" dirty="0"/>
              <a:t>The </a:t>
            </a:r>
            <a:r>
              <a:rPr lang="en-US" dirty="0" err="1"/>
              <a:t>chatmode</a:t>
            </a:r>
            <a:r>
              <a:rPr lang="en-US" dirty="0"/>
              <a:t> would deliver:</a:t>
            </a:r>
          </a:p>
          <a:p>
            <a:r>
              <a:rPr lang="en-US" dirty="0"/>
              <a:t>Component breakdown (UI for warehouse staff, inventory service, database layer, real-time sync)</a:t>
            </a:r>
          </a:p>
          <a:p>
            <a:r>
              <a:rPr lang="en-US" dirty="0"/>
              <a:t>Tech stack (</a:t>
            </a:r>
            <a:r>
              <a:rPr lang="en-US" dirty="0" err="1"/>
              <a:t>WinUI</a:t>
            </a:r>
            <a:r>
              <a:rPr lang="en-US" dirty="0"/>
              <a:t> 3 or WPF, .NET 8, SQL Server, </a:t>
            </a:r>
            <a:r>
              <a:rPr lang="en-US" dirty="0" err="1"/>
              <a:t>SignalR</a:t>
            </a:r>
            <a:r>
              <a:rPr lang="en-US" dirty="0"/>
              <a:t> for real-time updates)</a:t>
            </a:r>
          </a:p>
          <a:p>
            <a:r>
              <a:rPr lang="en-US" dirty="0"/>
              <a:t>Patterns (MVVM for UI, Repository pattern for data, async/await for responsiveness)</a:t>
            </a:r>
          </a:p>
          <a:p>
            <a:r>
              <a:rPr lang="en-US" dirty="0"/>
              <a:t>Performance angles (connection pooling, efficient queries, UI thread optimization)</a:t>
            </a:r>
          </a:p>
          <a:p>
            <a:r>
              <a:rPr lang="en-US" dirty="0"/>
              <a:t>Security (role-based access, encrypted communications, audit logging)</a:t>
            </a:r>
          </a:p>
          <a:p>
            <a:r>
              <a:rPr lang="en-US" dirty="0"/>
              <a:t>Rollout plan (Phase 1: core inventory, Phase 2: real-time sync, Phase 3: analytics)</a:t>
            </a:r>
          </a:p>
        </p:txBody>
      </p:sp>
    </p:spTree>
    <p:extLst>
      <p:ext uri="{BB962C8B-B14F-4D97-AF65-F5344CB8AC3E}">
        <p14:creationId xmlns:p14="http://schemas.microsoft.com/office/powerpoint/2010/main" val="3505318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5497</Words>
  <Application>Microsoft Office PowerPoint</Application>
  <PresentationFormat>Widescreen</PresentationFormat>
  <Paragraphs>959</Paragraphs>
  <Slides>24</Slides>
  <Notes>22</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Calibri</vt:lpstr>
      <vt:lpstr>Courier</vt:lpstr>
      <vt:lpstr>Noto Sans</vt:lpstr>
      <vt:lpstr>Office Theme</vt:lpstr>
      <vt:lpstr>Greenfield Development</vt:lpstr>
      <vt:lpstr>What Copilot Looks For</vt:lpstr>
      <vt:lpstr>What’s Changing and What Isn’t</vt:lpstr>
      <vt:lpstr>Order of Precedence</vt:lpstr>
      <vt:lpstr>What Are Custom Agents?</vt:lpstr>
      <vt:lpstr>Where to Create Custom Agents</vt:lpstr>
      <vt:lpstr>Creating on GitHub: Step-by-Step</vt:lpstr>
      <vt:lpstr>Creating in VS Code</vt:lpstr>
      <vt:lpstr>Agent Profile Structure</vt:lpstr>
      <vt:lpstr>Example 1: Testing Specialist</vt:lpstr>
      <vt:lpstr>Example 2: Implementation Planner</vt:lpstr>
      <vt:lpstr>Using Custom Agents</vt:lpstr>
      <vt:lpstr>Best Practices</vt:lpstr>
      <vt:lpstr>Greenfield Chat Modes</vt:lpstr>
      <vt:lpstr>Product Manager</vt:lpstr>
      <vt:lpstr>Solution Architect</vt:lpstr>
      <vt:lpstr>Senior Developer</vt:lpstr>
      <vt:lpstr>Technical Writer</vt:lpstr>
      <vt:lpstr>Security Reviewer</vt:lpstr>
      <vt:lpstr>DevOps Engineer</vt:lpstr>
      <vt:lpstr>DevTest Engineer</vt:lpstr>
      <vt:lpstr>SRE (Site Reliability Engineer)</vt:lpstr>
      <vt:lpstr>Solution Architect Prompts</vt:lpstr>
      <vt:lpstr>If you said: "Design an architecture for a Windows desktop application that manages real-time inventory for a warehouse"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2026-03-05T21:11:25Z</dcterms:created>
  <dcterms:modified xsi:type="dcterms:W3CDTF">2026-03-05T21:12:06Z</dcterms:modified>
</cp:coreProperties>
</file>