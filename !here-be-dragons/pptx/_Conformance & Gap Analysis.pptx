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440" r:id="rId2"/>
    <p:sldId id="441" r:id="rId3"/>
    <p:sldId id="442" r:id="rId4"/>
    <p:sldId id="443" r:id="rId5"/>
    <p:sldId id="444" r:id="rId6"/>
    <p:sldId id="445" r:id="rId7"/>
    <p:sldId id="44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36B115C-C03F-444F-A2A8-4299791E3B64}">
          <p14:sldIdLst/>
        </p14:section>
        <p14:section name="Conformance &amp; Gap Analysis" id="{EEA37F69-C987-41A8-8793-EA6749D33E45}">
          <p14:sldIdLst>
            <p14:sldId id="440"/>
            <p14:sldId id="441"/>
            <p14:sldId id="442"/>
            <p14:sldId id="443"/>
            <p14:sldId id="444"/>
            <p14:sldId id="445"/>
            <p14:sldId id="446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7" autoAdjust="0"/>
    <p:restoredTop sz="94660"/>
  </p:normalViewPr>
  <p:slideViewPr>
    <p:cSldViewPr snapToGrid="0">
      <p:cViewPr varScale="1">
        <p:scale>
          <a:sx n="160" d="100"/>
          <a:sy n="160" d="100"/>
        </p:scale>
        <p:origin x="10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2344FA-7894-42DB-9E86-E1D5006B2B3E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F6E2B0-1467-4C03-B010-471088AF1B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298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Introduce this module as the bridge between architectural intent and real code. </a:t>
            </a:r>
            <a:r>
              <a:rPr lang="en-US" dirty="0"/>
              <a:t>Conformance</a:t>
            </a:r>
            <a:r>
              <a:rPr dirty="0"/>
              <a:t> analysis ensures that AI-assisted and human-written code stays aligned with the rules defined in instruction files. This is how teams maintain evergreen quality in brownfield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Instruction files define the “north star” for your codebase. </a:t>
            </a:r>
            <a:r>
              <a:rPr lang="en-US" dirty="0"/>
              <a:t>Conformance</a:t>
            </a:r>
            <a:r>
              <a:rPr dirty="0"/>
              <a:t> checks ensure that every change — AI-generated or human — aligns with those rules. This is essential for maintaining predictability in brownfield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Automation accelerates the</a:t>
            </a:r>
            <a:r>
              <a:rPr lang="en-US" dirty="0"/>
              <a:t> conformance</a:t>
            </a:r>
            <a:r>
              <a:rPr dirty="0"/>
              <a:t> workflow. Instead of manually writing issues, AI can draft them instantly, leaving humans to validate and prioritize.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Not all technical debt is equal. Prioritization ensures that teams focus on the highest‑value remediation work first, rather than chasing low‑impact issues.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Remediation plans turn issues into action. They provide clarity, reduce risk, and ensure that modernization work is incremental and reversible.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Encourage participants to treat this as a real backlog‑building session. The goal is clarity and actionability, not volume.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This exercise helps participants move from analysis to execution. The goal is to build modernization plans that are safe, thoughtful, and aligned with evergreen principles.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CF55D-9973-64C6-C715-893AEEE41F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9CBB4F-E59E-98CC-4DC0-E301877430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8FACAF-05E5-24A8-3174-99670AFF4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7296A-0E50-45D6-89F4-692159BAE882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E08EDE-E9B1-6936-9F1B-728D0CB85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BD6EEE-2323-5B20-BD22-578055B87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D90D4-4334-4AA4-A4A0-39756407F3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007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D29B6-9E62-9AAC-8030-D022DB3EF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2A0E2-67AF-43BA-90AC-FFAFB4F6D1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38873F-058E-EBED-5387-9CD4FFF49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7296A-0E50-45D6-89F4-692159BAE882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01CAE1-E42E-BB8A-8C8C-596321115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FCC24C-24F9-93CB-99F1-23B9A5EB5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D90D4-4334-4AA4-A4A0-39756407F3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07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4EE33-9AB4-E344-A430-B4D07FAFE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5AA7C9-16E3-F925-31C9-5E36F1D394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980516-32E6-2323-5831-D4237AE25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7296A-0E50-45D6-89F4-692159BAE882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B35A60-F1DC-CA14-628A-CEC24C36D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D67FE0-71E8-5922-E602-83AB94EB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D90D4-4334-4AA4-A4A0-39756407F3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554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1870C-FD94-8F25-EB17-F96C9784D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DCDCC-2007-AAC7-7AAD-1F4475BDEE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128B65-AA3D-D6E3-47A3-2E813BA5E7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E5D09C-8830-1A7D-57BC-DE24A4720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7296A-0E50-45D6-89F4-692159BAE882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ABF070-06E0-07C7-439B-8682AF685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A85473-C71C-53A0-7409-73990D207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D90D4-4334-4AA4-A4A0-39756407F3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43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13FDB-27D7-0E64-380B-2207B6C38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D6E32C-DF5A-53CB-5645-0688388427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B29478-F4BA-C342-1C31-B0BE048D8A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F77815-1F37-0BCE-5F28-9D24A94867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31B7E7-3A8B-4640-9052-15234A8343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FEA6AA-0FA6-A8E0-3033-542D086A8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7296A-0E50-45D6-89F4-692159BAE882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8AB4A6-479D-C82C-82C5-BE8A04ED8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7FD4F2-4CEF-941B-5E16-91B893DAF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D90D4-4334-4AA4-A4A0-39756407F3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759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04A82-C8C1-67DC-387C-4ABC93FCC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587DCC-0D7E-EA7E-DA2A-076788BF9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7296A-0E50-45D6-89F4-692159BAE882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90DFEE-A4D9-58C4-8447-D4C410DAF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9EE822-F6EC-2B46-1078-3C9EBC81F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D90D4-4334-4AA4-A4A0-39756407F3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121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287170-256D-C700-22C1-46E3480C4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7296A-0E50-45D6-89F4-692159BAE882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1EC2A3-9F5D-72F0-F673-7CA67B925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E7656E-54D1-9AAD-4736-CA555A4AA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D90D4-4334-4AA4-A4A0-39756407F3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517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DB1E5-9263-314E-052A-CA340D90C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3C649-B0F1-337B-DE0C-6119F7E7B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90D4F0-742B-58B8-98E1-5713A5BEAB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F1FF09-93D4-A4A4-A4CE-2FF24541A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7296A-0E50-45D6-89F4-692159BAE882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2821FF-1A10-240C-C0E6-7F5ACE8DE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BF7E43-14A9-A675-1BCF-47EA4FBF6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D90D4-4334-4AA4-A4A0-39756407F3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061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34EAC-0DFA-D430-DFDA-45B131A23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D2D2D6-47AA-9B42-97DC-25DA94FE25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A1B00D-B31E-432A-036A-55C01ED90C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5B37DC-F0B5-2C4C-61A2-3D51AAD87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7296A-0E50-45D6-89F4-692159BAE882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ED6EEC-D838-2D7D-6343-9DC3E7092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D1883F-4826-59AC-79D6-8D1C982FA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D90D4-4334-4AA4-A4A0-39756407F3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830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A4B9B-95A1-A5FC-0DB0-5435643E5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8CB38-E2C4-EE83-1925-DD3BABFD9C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9EE0F-6807-922C-9923-42687626A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7296A-0E50-45D6-89F4-692159BAE882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6147B4-5C48-B5E0-FB93-7D80A19E9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02852B-10B1-8F83-E2E3-4FCA9F587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D90D4-4334-4AA4-A4A0-39756407F3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915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193F9F-E061-1C1F-BB8D-2992FB1921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2175C3-1933-5A88-54D8-939B5C0B34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43D41C-E60B-AF3F-AA8B-8ED8DE0AC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7296A-0E50-45D6-89F4-692159BAE882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3DF1DB-55F3-8363-9F73-56A39FCF8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54A21E-BC0A-3E5E-02DE-F6FC774EE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D90D4-4334-4AA4-A4A0-39756407F3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306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52DA9A-C5C3-2234-334D-90A966121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286FB6-53C7-8FCA-7A6B-292599A7C0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230AEF-98E6-2BF7-F077-E320969498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27296A-0E50-45D6-89F4-692159BAE882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83ADD8-6E0B-7D10-4BFA-81739450B0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F58D5-C0F7-CBB1-F101-CEE25E6648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2D90D4-4334-4AA4-A4A0-39756407F3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246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Conformance</a:t>
            </a:r>
            <a:r>
              <a:rPr b="1" dirty="0"/>
              <a:t> &amp; Gap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dirty="0"/>
              <a:t>Comparing implementations against instruction files</a:t>
            </a:r>
          </a:p>
          <a:p>
            <a:pPr lvl="0"/>
            <a:r>
              <a:rPr dirty="0"/>
              <a:t>Automated issue generation from</a:t>
            </a:r>
            <a:r>
              <a:rPr lang="en-US" dirty="0"/>
              <a:t> conformance</a:t>
            </a:r>
            <a:r>
              <a:rPr dirty="0"/>
              <a:t> gaps</a:t>
            </a:r>
          </a:p>
          <a:p>
            <a:pPr lvl="0"/>
            <a:r>
              <a:rPr dirty="0"/>
              <a:t>Prioritizing technical debt remediation</a:t>
            </a:r>
          </a:p>
          <a:p>
            <a:pPr lvl="0"/>
            <a:r>
              <a:rPr dirty="0"/>
              <a:t>Creating actionable remediation plans</a:t>
            </a:r>
          </a:p>
          <a:p>
            <a:pPr lvl="0"/>
            <a:r>
              <a:rPr dirty="0"/>
              <a:t>Exercises for hands‑on practice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/>
              <a:t>Comparing Implementations Against Instruction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spcBef>
                <a:spcPts val="4000"/>
              </a:spcBef>
              <a:buNone/>
            </a:pPr>
            <a:r>
              <a:rPr b="1"/>
              <a:t>What to compare</a:t>
            </a:r>
          </a:p>
          <a:p>
            <a:pPr lvl="0"/>
            <a:r>
              <a:t>Coding standards</a:t>
            </a:r>
          </a:p>
          <a:p>
            <a:pPr lvl="0"/>
            <a:r>
              <a:t>Architectural boundaries</a:t>
            </a:r>
          </a:p>
          <a:p>
            <a:pPr lvl="0"/>
            <a:r>
              <a:t>Allowed/disallowed patterns</a:t>
            </a:r>
          </a:p>
          <a:p>
            <a:pPr lvl="0"/>
            <a:r>
              <a:t>Domain rules</a:t>
            </a:r>
          </a:p>
          <a:p>
            <a:pPr lvl="0"/>
            <a:r>
              <a:t>Documentation and provenance requirements</a:t>
            </a:r>
          </a:p>
          <a:p>
            <a:pPr marL="0" indent="0">
              <a:spcBef>
                <a:spcPts val="4000"/>
              </a:spcBef>
              <a:buNone/>
            </a:pPr>
            <a:r>
              <a:rPr b="1"/>
              <a:t>Why it matters</a:t>
            </a:r>
          </a:p>
          <a:p>
            <a:pPr lvl="0"/>
            <a:r>
              <a:t>Prevents drift</a:t>
            </a:r>
          </a:p>
          <a:p>
            <a:pPr lvl="0"/>
            <a:r>
              <a:t>Ensures consistency</a:t>
            </a:r>
          </a:p>
          <a:p>
            <a:pPr lvl="0"/>
            <a:r>
              <a:t>Enables safe modernization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/>
              <a:t>Automated Issue Generation From </a:t>
            </a:r>
            <a:r>
              <a:rPr lang="en-US" b="1" dirty="0"/>
              <a:t>Conformance</a:t>
            </a:r>
            <a:r>
              <a:rPr b="1" dirty="0"/>
              <a:t> Gaps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spcBef>
                <a:spcPts val="4000"/>
              </a:spcBef>
              <a:buNone/>
            </a:pPr>
            <a:r>
              <a:rPr b="1"/>
              <a:t>AI can generate:</a:t>
            </a:r>
          </a:p>
          <a:p>
            <a:pPr lvl="0"/>
            <a:r>
              <a:t>Issue titles</a:t>
            </a:r>
          </a:p>
          <a:p>
            <a:pPr lvl="0"/>
            <a:r>
              <a:t>Detailed descriptions</a:t>
            </a:r>
          </a:p>
          <a:p>
            <a:pPr lvl="0"/>
            <a:r>
              <a:t>Violated rules</a:t>
            </a:r>
          </a:p>
          <a:p>
            <a:pPr lvl="0"/>
            <a:r>
              <a:t>Suggested fixes</a:t>
            </a:r>
          </a:p>
          <a:p>
            <a:pPr lvl="0"/>
            <a:r>
              <a:t>Acceptance criteria</a:t>
            </a:r>
          </a:p>
          <a:p>
            <a:pPr lvl="0"/>
            <a:r>
              <a:t>Provenance metadata</a:t>
            </a:r>
          </a:p>
          <a:p>
            <a:pPr marL="0" indent="0">
              <a:spcBef>
                <a:spcPts val="4000"/>
              </a:spcBef>
              <a:buNone/>
            </a:pPr>
            <a:r>
              <a:rPr b="1"/>
              <a:t>Benefits</a:t>
            </a:r>
          </a:p>
          <a:p>
            <a:pPr lvl="0"/>
            <a:r>
              <a:t>Faster backlog creation</a:t>
            </a:r>
          </a:p>
          <a:p>
            <a:pPr lvl="0"/>
            <a:r>
              <a:t>Consistent issue structure</a:t>
            </a:r>
          </a:p>
          <a:p>
            <a:pPr lvl="0"/>
            <a:r>
              <a:t>Reduced manual review effort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/>
              <a:t>Prioritizing Technical Debt Remediation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spcBef>
                <a:spcPts val="4000"/>
              </a:spcBef>
              <a:buNone/>
            </a:pPr>
            <a:r>
              <a:rPr b="1"/>
              <a:t>Prioritization factors</a:t>
            </a:r>
          </a:p>
          <a:p>
            <a:pPr lvl="0"/>
            <a:r>
              <a:t>Risk to stability</a:t>
            </a:r>
          </a:p>
          <a:p>
            <a:pPr lvl="0"/>
            <a:r>
              <a:t>Frequency of use</a:t>
            </a:r>
          </a:p>
          <a:p>
            <a:pPr lvl="0"/>
            <a:r>
              <a:t>Security implications</a:t>
            </a:r>
          </a:p>
          <a:p>
            <a:pPr lvl="0"/>
            <a:r>
              <a:t>Architectural importance</a:t>
            </a:r>
          </a:p>
          <a:p>
            <a:pPr lvl="0"/>
            <a:r>
              <a:t>Effort vs. impact</a:t>
            </a:r>
          </a:p>
          <a:p>
            <a:pPr marL="0" indent="0">
              <a:spcBef>
                <a:spcPts val="4000"/>
              </a:spcBef>
              <a:buNone/>
            </a:pPr>
            <a:r>
              <a:rPr b="1"/>
              <a:t>Approaches</a:t>
            </a:r>
          </a:p>
          <a:p>
            <a:pPr lvl="0"/>
            <a:r>
              <a:t>Impact/effort matrix</a:t>
            </a:r>
          </a:p>
          <a:p>
            <a:pPr lvl="0"/>
            <a:r>
              <a:t>Risk scoring</a:t>
            </a:r>
          </a:p>
          <a:p>
            <a:pPr lvl="0"/>
            <a:r>
              <a:t>Dependency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/>
              <a:t>Creating Actionable Remediation Plans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4000"/>
              </a:spcBef>
              <a:buNone/>
            </a:pPr>
            <a:r>
              <a:rPr b="1"/>
              <a:t>A strong remediation plan includes:</a:t>
            </a:r>
          </a:p>
          <a:p>
            <a:pPr lvl="0"/>
            <a:r>
              <a:t>Clear problem definition</a:t>
            </a:r>
          </a:p>
          <a:p>
            <a:pPr lvl="0"/>
            <a:r>
              <a:t>Root cause analysis</a:t>
            </a:r>
          </a:p>
          <a:p>
            <a:pPr lvl="0"/>
            <a:r>
              <a:t>Proposed solution</a:t>
            </a:r>
          </a:p>
          <a:p>
            <a:pPr lvl="0"/>
            <a:r>
              <a:t>Step‑by‑step implementation plan</a:t>
            </a:r>
          </a:p>
          <a:p>
            <a:pPr lvl="0"/>
            <a:r>
              <a:t>Rollback strategy</a:t>
            </a:r>
          </a:p>
          <a:p>
            <a:pPr lvl="0"/>
            <a:r>
              <a:t>Test updates</a:t>
            </a:r>
          </a:p>
          <a:p>
            <a:pPr lvl="0"/>
            <a:r>
              <a:t>Provenance metadata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/>
              <a:t>Exercise: Generate Issues to Make the Codebase Evergreen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>
            <a:normAutofit fontScale="62500" lnSpcReduction="20000"/>
          </a:bodyPr>
          <a:lstStyle/>
          <a:p>
            <a:pPr marL="0" indent="0">
              <a:spcBef>
                <a:spcPts val="4000"/>
              </a:spcBef>
              <a:buNone/>
            </a:pPr>
            <a:r>
              <a:rPr b="1" dirty="0"/>
              <a:t>Duration</a:t>
            </a:r>
          </a:p>
          <a:p>
            <a:pPr marL="0" indent="0">
              <a:buNone/>
            </a:pPr>
            <a:r>
              <a:rPr dirty="0"/>
              <a:t>15 minutes</a:t>
            </a:r>
          </a:p>
          <a:p>
            <a:pPr marL="0" indent="0">
              <a:spcBef>
                <a:spcPts val="4000"/>
              </a:spcBef>
              <a:buNone/>
            </a:pPr>
            <a:r>
              <a:rPr b="1" dirty="0"/>
              <a:t>Objectives</a:t>
            </a:r>
          </a:p>
          <a:p>
            <a:pPr lvl="0"/>
            <a:r>
              <a:rPr dirty="0"/>
              <a:t>Identify </a:t>
            </a:r>
            <a:r>
              <a:rPr lang="en-US" dirty="0"/>
              <a:t>conformance</a:t>
            </a:r>
            <a:r>
              <a:rPr dirty="0"/>
              <a:t> gaps</a:t>
            </a:r>
          </a:p>
          <a:p>
            <a:pPr lvl="0"/>
            <a:r>
              <a:rPr dirty="0"/>
              <a:t>Convert gaps into actionable issues</a:t>
            </a:r>
          </a:p>
          <a:p>
            <a:pPr lvl="0"/>
            <a:r>
              <a:rPr dirty="0"/>
              <a:t>Apply consistent structure and provenance</a:t>
            </a:r>
          </a:p>
          <a:p>
            <a:pPr lvl="0"/>
            <a:r>
              <a:rPr dirty="0"/>
              <a:t>Prioritize issues based on risk and impact</a:t>
            </a:r>
          </a:p>
          <a:p>
            <a:pPr marL="0" indent="0">
              <a:spcBef>
                <a:spcPts val="4000"/>
              </a:spcBef>
              <a:buNone/>
            </a:pPr>
            <a:r>
              <a:rPr b="1" dirty="0"/>
              <a:t>Activities</a:t>
            </a:r>
          </a:p>
          <a:p>
            <a:pPr marL="457189" indent="-457189">
              <a:buAutoNum type="arabicPeriod"/>
            </a:pPr>
            <a:r>
              <a:rPr dirty="0"/>
              <a:t>Select a brownfield module or file.</a:t>
            </a:r>
          </a:p>
          <a:p>
            <a:pPr marL="457189" indent="-457189">
              <a:buAutoNum type="arabicPeriod"/>
            </a:pPr>
            <a:r>
              <a:rPr dirty="0"/>
              <a:t>Compare it against the project’s instruction file.</a:t>
            </a:r>
          </a:p>
          <a:p>
            <a:pPr marL="457189" indent="-457189">
              <a:buAutoNum type="arabicPeriod"/>
            </a:pPr>
            <a:r>
              <a:rPr dirty="0"/>
              <a:t>Ask AI to identify </a:t>
            </a:r>
            <a:r>
              <a:rPr lang="en-US" dirty="0"/>
              <a:t>conformance</a:t>
            </a:r>
            <a:r>
              <a:rPr dirty="0"/>
              <a:t> gaps.</a:t>
            </a:r>
          </a:p>
          <a:p>
            <a:pPr marL="457189" indent="-457189">
              <a:buAutoNum type="arabicPeriod"/>
            </a:pPr>
            <a:r>
              <a:rPr dirty="0"/>
              <a:t>Convert each gap into a GitHub issue with:</a:t>
            </a:r>
          </a:p>
          <a:p>
            <a:pPr lvl="1"/>
            <a:r>
              <a:rPr dirty="0"/>
              <a:t>Title</a:t>
            </a:r>
          </a:p>
          <a:p>
            <a:pPr lvl="1"/>
            <a:r>
              <a:rPr dirty="0"/>
              <a:t>Description</a:t>
            </a:r>
          </a:p>
          <a:p>
            <a:pPr lvl="1"/>
            <a:r>
              <a:rPr dirty="0"/>
              <a:t>Violated rule</a:t>
            </a:r>
          </a:p>
          <a:p>
            <a:pPr lvl="1"/>
            <a:r>
              <a:rPr dirty="0"/>
              <a:t>Suggested remediation</a:t>
            </a:r>
          </a:p>
          <a:p>
            <a:pPr lvl="1"/>
            <a:r>
              <a:rPr dirty="0"/>
              <a:t>Acceptance criteria</a:t>
            </a:r>
          </a:p>
          <a:p>
            <a:pPr lvl="1"/>
            <a:r>
              <a:rPr dirty="0"/>
              <a:t>Provenance metadata</a:t>
            </a:r>
          </a:p>
          <a:p>
            <a:pPr marL="457189" indent="-457189">
              <a:buAutoNum type="arabicPeriod"/>
            </a:pPr>
            <a:r>
              <a:rPr dirty="0"/>
              <a:t>Prioritize the issues.</a:t>
            </a:r>
          </a:p>
          <a:p>
            <a:pPr marL="0" indent="0">
              <a:spcBef>
                <a:spcPts val="4000"/>
              </a:spcBef>
              <a:buNone/>
            </a:pPr>
            <a:r>
              <a:rPr b="1" dirty="0"/>
              <a:t>Success Criteria</a:t>
            </a:r>
          </a:p>
          <a:p>
            <a:pPr lvl="0"/>
            <a:r>
              <a:rPr dirty="0"/>
              <a:t>Issues are clear, actionable, and aligned with instruction files</a:t>
            </a:r>
          </a:p>
          <a:p>
            <a:pPr lvl="0"/>
            <a:r>
              <a:rPr dirty="0"/>
              <a:t>Provenance metadata is included</a:t>
            </a:r>
          </a:p>
          <a:p>
            <a:pPr lvl="0"/>
            <a:r>
              <a:rPr dirty="0"/>
              <a:t>Prioritization reflects real risk and effort</a:t>
            </a:r>
          </a:p>
          <a:p>
            <a:pPr lvl="0"/>
            <a:r>
              <a:rPr dirty="0"/>
              <a:t>Backlog is ready for team review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/>
              <a:t>Exercise: Create an Implementation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>
            <a:normAutofit fontScale="55000" lnSpcReduction="20000"/>
          </a:bodyPr>
          <a:lstStyle/>
          <a:p>
            <a:pPr marL="0" indent="0">
              <a:spcBef>
                <a:spcPts val="4000"/>
              </a:spcBef>
              <a:buNone/>
            </a:pPr>
            <a:r>
              <a:rPr b="1" dirty="0"/>
              <a:t>Duration</a:t>
            </a:r>
          </a:p>
          <a:p>
            <a:pPr marL="0" indent="0">
              <a:buNone/>
            </a:pPr>
            <a:r>
              <a:rPr dirty="0"/>
              <a:t>20 minutes</a:t>
            </a:r>
          </a:p>
          <a:p>
            <a:pPr marL="0" indent="0">
              <a:spcBef>
                <a:spcPts val="4000"/>
              </a:spcBef>
              <a:buNone/>
            </a:pPr>
            <a:r>
              <a:rPr b="1" dirty="0"/>
              <a:t>Objectives</a:t>
            </a:r>
          </a:p>
          <a:p>
            <a:pPr lvl="0"/>
            <a:r>
              <a:rPr dirty="0"/>
              <a:t>Translate issues into a structured remediation plan</a:t>
            </a:r>
          </a:p>
          <a:p>
            <a:pPr lvl="0"/>
            <a:r>
              <a:rPr dirty="0"/>
              <a:t>Ensure changes are incremental and reversible</a:t>
            </a:r>
          </a:p>
          <a:p>
            <a:pPr lvl="0"/>
            <a:r>
              <a:rPr dirty="0"/>
              <a:t>Align modernization with evergreen principles</a:t>
            </a:r>
          </a:p>
          <a:p>
            <a:pPr lvl="0"/>
            <a:r>
              <a:rPr dirty="0"/>
              <a:t>Incorporate testing and rollback strategies</a:t>
            </a:r>
          </a:p>
          <a:p>
            <a:pPr marL="0" indent="0">
              <a:spcBef>
                <a:spcPts val="4000"/>
              </a:spcBef>
              <a:buNone/>
            </a:pPr>
            <a:r>
              <a:rPr b="1" dirty="0"/>
              <a:t>Activities</a:t>
            </a:r>
          </a:p>
          <a:p>
            <a:pPr marL="457189" indent="-457189">
              <a:buAutoNum type="arabicPeriod"/>
            </a:pPr>
            <a:r>
              <a:rPr dirty="0"/>
              <a:t>Select 2–3 issues from the previous exercise.</a:t>
            </a:r>
          </a:p>
          <a:p>
            <a:pPr marL="457189" indent="-457189">
              <a:buAutoNum type="arabicPeriod"/>
            </a:pPr>
            <a:r>
              <a:rPr dirty="0"/>
              <a:t>For each issue, create a remediation plan including:</a:t>
            </a:r>
          </a:p>
          <a:p>
            <a:pPr lvl="1"/>
            <a:r>
              <a:rPr dirty="0"/>
              <a:t>Problem definition</a:t>
            </a:r>
          </a:p>
          <a:p>
            <a:pPr lvl="1"/>
            <a:r>
              <a:rPr dirty="0"/>
              <a:t>Root cause</a:t>
            </a:r>
          </a:p>
          <a:p>
            <a:pPr lvl="1"/>
            <a:r>
              <a:rPr dirty="0"/>
              <a:t>Proposed solution</a:t>
            </a:r>
          </a:p>
          <a:p>
            <a:pPr lvl="1"/>
            <a:r>
              <a:rPr dirty="0"/>
              <a:t>Step‑by‑step implementation</a:t>
            </a:r>
          </a:p>
          <a:p>
            <a:pPr lvl="1"/>
            <a:r>
              <a:rPr dirty="0"/>
              <a:t>Rollback plan</a:t>
            </a:r>
          </a:p>
          <a:p>
            <a:pPr lvl="1"/>
            <a:r>
              <a:rPr dirty="0"/>
              <a:t>Required test updates</a:t>
            </a:r>
          </a:p>
          <a:p>
            <a:pPr lvl="1"/>
            <a:r>
              <a:rPr dirty="0"/>
              <a:t>Documentation updates</a:t>
            </a:r>
          </a:p>
          <a:p>
            <a:pPr lvl="1"/>
            <a:r>
              <a:rPr dirty="0"/>
              <a:t>Provenance metadata</a:t>
            </a:r>
          </a:p>
          <a:p>
            <a:pPr marL="457189" indent="-457189">
              <a:buAutoNum type="arabicPeriod"/>
            </a:pPr>
            <a:r>
              <a:rPr dirty="0"/>
              <a:t>Review plans with a partner.</a:t>
            </a:r>
          </a:p>
          <a:p>
            <a:pPr marL="0" indent="0">
              <a:spcBef>
                <a:spcPts val="4000"/>
              </a:spcBef>
              <a:buNone/>
            </a:pPr>
            <a:r>
              <a:rPr b="1" dirty="0"/>
              <a:t>Success Criteria</a:t>
            </a:r>
          </a:p>
          <a:p>
            <a:pPr lvl="0"/>
            <a:r>
              <a:rPr dirty="0"/>
              <a:t>Plans are incremental, safe, and reversible</a:t>
            </a:r>
          </a:p>
          <a:p>
            <a:pPr lvl="0"/>
            <a:r>
              <a:rPr dirty="0"/>
              <a:t>Include clear steps and rollback strategies</a:t>
            </a:r>
          </a:p>
          <a:p>
            <a:pPr lvl="0"/>
            <a:r>
              <a:rPr dirty="0"/>
              <a:t>Align with evergreen development principles</a:t>
            </a:r>
          </a:p>
          <a:p>
            <a:pPr lvl="0"/>
            <a:r>
              <a:rPr dirty="0"/>
              <a:t>Include test and documentation updates</a:t>
            </a:r>
          </a:p>
          <a:p>
            <a:pPr lvl="0"/>
            <a:r>
              <a:rPr dirty="0"/>
              <a:t>Provenance metadata is present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588</Words>
  <Application>Microsoft Office PowerPoint</Application>
  <PresentationFormat>Widescreen</PresentationFormat>
  <Paragraphs>114</Paragraphs>
  <Slides>7</Slides>
  <Notes>7</Notes>
  <HiddenSlides>5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Conformance &amp; Gap Analysis</vt:lpstr>
      <vt:lpstr>Comparing Implementations Against Instruction Files</vt:lpstr>
      <vt:lpstr>Automated Issue Generation From Conformance Gaps</vt:lpstr>
      <vt:lpstr>Prioritizing Technical Debt Remediation</vt:lpstr>
      <vt:lpstr>Creating Actionable Remediation Plans</vt:lpstr>
      <vt:lpstr>Exercise: Generate Issues to Make the Codebase Evergreen</vt:lpstr>
      <vt:lpstr>Exercise: Create an Implementation Plan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Miller</dc:creator>
  <cp:lastModifiedBy>John Miller</cp:lastModifiedBy>
  <cp:revision>1</cp:revision>
  <dcterms:created xsi:type="dcterms:W3CDTF">2026-03-05T21:03:00Z</dcterms:created>
  <dcterms:modified xsi:type="dcterms:W3CDTF">2026-03-05T21:03:37Z</dcterms:modified>
</cp:coreProperties>
</file>