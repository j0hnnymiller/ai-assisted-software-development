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7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slide" Target="slides/slide38.xml" /><Relationship Id="rId40" Type="http://schemas.openxmlformats.org/officeDocument/2006/relationships/slide" Target="slides/slide39.xml" /><Relationship Id="rId41" Type="http://schemas.openxmlformats.org/officeDocument/2006/relationships/slide" Target="slides/slide40.xml" /><Relationship Id="rId42" Type="http://schemas.openxmlformats.org/officeDocument/2006/relationships/slide" Target="slides/slide41.xml" /><Relationship Id="rId43" Type="http://schemas.openxmlformats.org/officeDocument/2006/relationships/slide" Target="slides/slide42.xml" /><Relationship Id="rId44" Type="http://schemas.openxmlformats.org/officeDocument/2006/relationships/slide" Target="slides/slide43.xml" /><Relationship Id="rId45" Type="http://schemas.openxmlformats.org/officeDocument/2006/relationships/slide" Target="slides/slide44.xml" /><Relationship Id="rId46" Type="http://schemas.openxmlformats.org/officeDocument/2006/relationships/slide" Target="slides/slide45.xml" /><Relationship Id="rId47" Type="http://schemas.openxmlformats.org/officeDocument/2006/relationships/slide" Target="slides/slide46.xml" /><Relationship Id="rId48" Type="http://schemas.openxmlformats.org/officeDocument/2006/relationships/slide" Target="slides/slide47.xml" /><Relationship Id="rId49" Type="http://schemas.openxmlformats.org/officeDocument/2006/relationships/slide" Target="slides/slide48.xml" /><Relationship Id="rId50" Type="http://schemas.openxmlformats.org/officeDocument/2006/relationships/slide" Target="slides/slide49.xml" /><Relationship Id="rId51" Type="http://schemas.openxmlformats.org/officeDocument/2006/relationships/slide" Target="slides/slide50.xml" /><Relationship Id="rId52" Type="http://schemas.openxmlformats.org/officeDocument/2006/relationships/slide" Target="slides/slide51.xml" /><Relationship Id="rId53" Type="http://schemas.openxmlformats.org/officeDocument/2006/relationships/slide" Target="slides/slide52.xml" /><Relationship Id="rId54" Type="http://schemas.openxmlformats.org/officeDocument/2006/relationships/slide" Target="slides/slide53.xml" /><Relationship Id="rId55" Type="http://schemas.openxmlformats.org/officeDocument/2006/relationships/slide" Target="slides/slide54.xml" /><Relationship Id="rId56" Type="http://schemas.openxmlformats.org/officeDocument/2006/relationships/slide" Target="slides/slide55.xml" /><Relationship Id="rId57" Type="http://schemas.openxmlformats.org/officeDocument/2006/relationships/slide" Target="slides/slide56.xml" /><Relationship Id="rId58" Type="http://schemas.openxmlformats.org/officeDocument/2006/relationships/slide" Target="slides/slide57.xml" /><Relationship Id="rId59" Type="http://schemas.openxmlformats.org/officeDocument/2006/relationships/slide" Target="slides/slide58.xml" /><Relationship Id="rId60" Type="http://schemas.openxmlformats.org/officeDocument/2006/relationships/slide" Target="slides/slide59.xml" /><Relationship Id="rId61" Type="http://schemas.openxmlformats.org/officeDocument/2006/relationships/slide" Target="slides/slide60.xml" /><Relationship Id="rId62" Type="http://schemas.openxmlformats.org/officeDocument/2006/relationships/slide" Target="slides/slide61.xml" /><Relationship Id="rId63" Type="http://schemas.openxmlformats.org/officeDocument/2006/relationships/slide" Target="slides/slide62.xml" /><Relationship Id="rId64" Type="http://schemas.openxmlformats.org/officeDocument/2006/relationships/slide" Target="slides/slide63.xml" /><Relationship Id="rId65" Type="http://schemas.openxmlformats.org/officeDocument/2006/relationships/slide" Target="slides/slide64.xml" /><Relationship Id="rId66" Type="http://schemas.openxmlformats.org/officeDocument/2006/relationships/slide" Target="slides/slide65.xml" /><Relationship Id="rId67" Type="http://schemas.openxmlformats.org/officeDocument/2006/relationships/slide" Target="slides/slide66.xml" /><Relationship Id="rId68" Type="http://schemas.openxmlformats.org/officeDocument/2006/relationships/slide" Target="slides/slide67.xml" /><Relationship Id="rId69" Type="http://schemas.openxmlformats.org/officeDocument/2006/relationships/slide" Target="slides/slide68.xml" /><Relationship Id="rId70" Type="http://schemas.openxmlformats.org/officeDocument/2006/relationships/slide" Target="slides/slide69.xml" /><Relationship Id="rId71" Type="http://schemas.openxmlformats.org/officeDocument/2006/relationships/slide" Target="slides/slide70.xml" /><Relationship Id="rId72" Type="http://schemas.openxmlformats.org/officeDocument/2006/relationships/slide" Target="slides/slide71.xml" /><Relationship Id="rId73" Type="http://schemas.openxmlformats.org/officeDocument/2006/relationships/slide" Target="slides/slide72.xml" /><Relationship Id="rId74" Type="http://schemas.openxmlformats.org/officeDocument/2006/relationships/slide" Target="slides/slide73.xml" /><Relationship Id="rId75" Type="http://schemas.openxmlformats.org/officeDocument/2006/relationships/notesMaster" Target="notesMasters/notesMaster1.xml" /><Relationship Id="rId77" Type="http://schemas.openxmlformats.org/officeDocument/2006/relationships/viewProps" Target="viewProps.xml" /><Relationship Id="rId76" Type="http://schemas.openxmlformats.org/officeDocument/2006/relationships/presProps" Target="presProps.xml" /><Relationship Id="rId1" Type="http://schemas.openxmlformats.org/officeDocument/2006/relationships/slideMaster" Target="slideMasters/slideMaster1.xml" /><Relationship Id="rId79" Type="http://schemas.openxmlformats.org/officeDocument/2006/relationships/tableStyles" Target="tableStyles.xml" /><Relationship Id="rId78"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4.xml.rels><?xml version="1.0" encoding="UTF-8"?><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15.xml.rels><?xml version="1.0" encoding="UTF-8"?><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16.xml.rels><?xml version="1.0" encoding="UTF-8"?><Relationships xmlns="http://schemas.openxmlformats.org/package/2006/relationships"><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_rels/notesSlide17.xml.rels><?xml version="1.0" encoding="UTF-8"?><Relationships xmlns="http://schemas.openxmlformats.org/package/2006/relationships"><Relationship Id="rId2" Type="http://schemas.openxmlformats.org/officeDocument/2006/relationships/slide" Target="../slides/slide20.xml" /><Relationship Id="rId1" Type="http://schemas.openxmlformats.org/officeDocument/2006/relationships/notesMaster" Target="../notesMasters/notesMaster1.xml" /></Relationships>
</file>

<file path=ppt/notesSlides/_rels/notesSlide18.xml.rels><?xml version="1.0" encoding="UTF-8"?><Relationships xmlns="http://schemas.openxmlformats.org/package/2006/relationships"><Relationship Id="rId2" Type="http://schemas.openxmlformats.org/officeDocument/2006/relationships/slide" Target="../slides/slide21.xml" /><Relationship Id="rId1" Type="http://schemas.openxmlformats.org/officeDocument/2006/relationships/notesMaster" Target="../notesMasters/notesMaster1.xml" /></Relationships>
</file>

<file path=ppt/notesSlides/_rels/notesSlide19.xml.rels><?xml version="1.0" encoding="UTF-8"?><Relationships xmlns="http://schemas.openxmlformats.org/package/2006/relationships"><Relationship Id="rId2" Type="http://schemas.openxmlformats.org/officeDocument/2006/relationships/slide" Target="../slides/slide22.xml" /><Relationship Id="rId1" Type="http://schemas.openxmlformats.org/officeDocument/2006/relationships/notesMaster" Target="../notesMasters/notesMaster1.xml" /></Relationships>
</file>

<file path=ppt/notesSlides/_rels/notesSlide20.xml.rels><?xml version="1.0" encoding="UTF-8"?><Relationships xmlns="http://schemas.openxmlformats.org/package/2006/relationships"><Relationship Id="rId2" Type="http://schemas.openxmlformats.org/officeDocument/2006/relationships/slide" Target="../slides/slide23.xml" /><Relationship Id="rId1" Type="http://schemas.openxmlformats.org/officeDocument/2006/relationships/notesMaster" Target="../notesMasters/notesMaster1.xml" /></Relationships>
</file>

<file path=ppt/notesSlides/_rels/notesSlide21.xml.rels><?xml version="1.0" encoding="UTF-8"?><Relationships xmlns="http://schemas.openxmlformats.org/package/2006/relationships"><Relationship Id="rId2" Type="http://schemas.openxmlformats.org/officeDocument/2006/relationships/slide" Target="../slides/slide24.xml" /><Relationship Id="rId1" Type="http://schemas.openxmlformats.org/officeDocument/2006/relationships/notesMaster" Target="../notesMasters/notesMaster1.xml" /></Relationships>
</file>

<file path=ppt/notesSlides/_rels/notesSlide22.xml.rels><?xml version="1.0" encoding="UTF-8"?><Relationships xmlns="http://schemas.openxmlformats.org/package/2006/relationships"><Relationship Id="rId2" Type="http://schemas.openxmlformats.org/officeDocument/2006/relationships/slide" Target="../slides/slide25.xml" /><Relationship Id="rId1" Type="http://schemas.openxmlformats.org/officeDocument/2006/relationships/notesMaster" Target="../notesMasters/notesMaster1.xml" /></Relationships>
</file>

<file path=ppt/notesSlides/_rels/notesSlide23.xml.rels><?xml version="1.0" encoding="UTF-8"?><Relationships xmlns="http://schemas.openxmlformats.org/package/2006/relationships"><Relationship Id="rId2" Type="http://schemas.openxmlformats.org/officeDocument/2006/relationships/slide" Target="../slides/slide26.xml" /><Relationship Id="rId1" Type="http://schemas.openxmlformats.org/officeDocument/2006/relationships/notesMaster" Target="../notesMasters/notesMaster1.xml" /></Relationships>
</file>

<file path=ppt/notesSlides/_rels/notesSlide24.xml.rels><?xml version="1.0" encoding="UTF-8"?><Relationships xmlns="http://schemas.openxmlformats.org/package/2006/relationships"><Relationship Id="rId2" Type="http://schemas.openxmlformats.org/officeDocument/2006/relationships/slide" Target="../slides/slide28.xml" /><Relationship Id="rId1" Type="http://schemas.openxmlformats.org/officeDocument/2006/relationships/notesMaster" Target="../notesMasters/notesMaster1.xml" /></Relationships>
</file>

<file path=ppt/notesSlides/_rels/notesSlide25.xml.rels><?xml version="1.0" encoding="UTF-8"?><Relationships xmlns="http://schemas.openxmlformats.org/package/2006/relationships"><Relationship Id="rId2" Type="http://schemas.openxmlformats.org/officeDocument/2006/relationships/slide" Target="../slides/slide29.xml" /><Relationship Id="rId1" Type="http://schemas.openxmlformats.org/officeDocument/2006/relationships/notesMaster" Target="../notesMasters/notesMaster1.xml" /></Relationships>
</file>

<file path=ppt/notesSlides/_rels/notesSlide26.xml.rels><?xml version="1.0" encoding="UTF-8"?><Relationships xmlns="http://schemas.openxmlformats.org/package/2006/relationships"><Relationship Id="rId2" Type="http://schemas.openxmlformats.org/officeDocument/2006/relationships/slide" Target="../slides/slide30.xml" /><Relationship Id="rId1" Type="http://schemas.openxmlformats.org/officeDocument/2006/relationships/notesMaster" Target="../notesMasters/notesMaster1.xml" /></Relationships>
</file>

<file path=ppt/notesSlides/_rels/notesSlide27.xml.rels><?xml version="1.0" encoding="UTF-8"?><Relationships xmlns="http://schemas.openxmlformats.org/package/2006/relationships"><Relationship Id="rId2" Type="http://schemas.openxmlformats.org/officeDocument/2006/relationships/slide" Target="../slides/slide31.xml" /><Relationship Id="rId1" Type="http://schemas.openxmlformats.org/officeDocument/2006/relationships/notesMaster" Target="../notesMasters/notesMaster1.xml" /></Relationships>
</file>

<file path=ppt/notesSlides/_rels/notesSlide28.xml.rels><?xml version="1.0" encoding="UTF-8"?><Relationships xmlns="http://schemas.openxmlformats.org/package/2006/relationships"><Relationship Id="rId2" Type="http://schemas.openxmlformats.org/officeDocument/2006/relationships/slide" Target="../slides/slide32.xml" /><Relationship Id="rId1" Type="http://schemas.openxmlformats.org/officeDocument/2006/relationships/notesMaster" Target="../notesMasters/notesMaster1.xml" /></Relationships>
</file>

<file path=ppt/notesSlides/_rels/notesSlide29.xml.rels><?xml version="1.0" encoding="UTF-8"?><Relationships xmlns="http://schemas.openxmlformats.org/package/2006/relationships"><Relationship Id="rId2" Type="http://schemas.openxmlformats.org/officeDocument/2006/relationships/slide" Target="../slides/slide33.xml" /><Relationship Id="rId1" Type="http://schemas.openxmlformats.org/officeDocument/2006/relationships/notesMaster" Target="../notesMasters/notesMaster1.xml" /></Relationships>
</file>

<file path=ppt/notesSlides/_rels/notesSlide30.xml.rels><?xml version="1.0" encoding="UTF-8"?><Relationships xmlns="http://schemas.openxmlformats.org/package/2006/relationships"><Relationship Id="rId2" Type="http://schemas.openxmlformats.org/officeDocument/2006/relationships/slide" Target="../slides/slide34.xml" /><Relationship Id="rId1" Type="http://schemas.openxmlformats.org/officeDocument/2006/relationships/notesMaster" Target="../notesMasters/notesMaster1.xml" /></Relationships>
</file>

<file path=ppt/notesSlides/_rels/notesSlide31.xml.rels><?xml version="1.0" encoding="UTF-8"?><Relationships xmlns="http://schemas.openxmlformats.org/package/2006/relationships"><Relationship Id="rId2" Type="http://schemas.openxmlformats.org/officeDocument/2006/relationships/slide" Target="../slides/slide36.xml" /><Relationship Id="rId1" Type="http://schemas.openxmlformats.org/officeDocument/2006/relationships/notesMaster" Target="../notesMasters/notesMaster1.xml" /></Relationships>
</file>

<file path=ppt/notesSlides/_rels/notesSlide32.xml.rels><?xml version="1.0" encoding="UTF-8"?><Relationships xmlns="http://schemas.openxmlformats.org/package/2006/relationships"><Relationship Id="rId2" Type="http://schemas.openxmlformats.org/officeDocument/2006/relationships/slide" Target="../slides/slide37.xml" /><Relationship Id="rId1" Type="http://schemas.openxmlformats.org/officeDocument/2006/relationships/notesMaster" Target="../notesMasters/notesMaster1.xml" /></Relationships>
</file>

<file path=ppt/notesSlides/_rels/notesSlide33.xml.rels><?xml version="1.0" encoding="UTF-8"?><Relationships xmlns="http://schemas.openxmlformats.org/package/2006/relationships"><Relationship Id="rId2" Type="http://schemas.openxmlformats.org/officeDocument/2006/relationships/slide" Target="../slides/slide38.xml" /><Relationship Id="rId1" Type="http://schemas.openxmlformats.org/officeDocument/2006/relationships/notesMaster" Target="../notesMasters/notesMaster1.xml" /></Relationships>
</file>

<file path=ppt/notesSlides/_rels/notesSlide34.xml.rels><?xml version="1.0" encoding="UTF-8"?><Relationships xmlns="http://schemas.openxmlformats.org/package/2006/relationships"><Relationship Id="rId2" Type="http://schemas.openxmlformats.org/officeDocument/2006/relationships/slide" Target="../slides/slide39.xml" /><Relationship Id="rId1" Type="http://schemas.openxmlformats.org/officeDocument/2006/relationships/notesMaster" Target="../notesMasters/notesMaster1.xml" /></Relationships>
</file>

<file path=ppt/notesSlides/_rels/notesSlide35.xml.rels><?xml version="1.0" encoding="UTF-8"?><Relationships xmlns="http://schemas.openxmlformats.org/package/2006/relationships"><Relationship Id="rId2" Type="http://schemas.openxmlformats.org/officeDocument/2006/relationships/slide" Target="../slides/slide40.xml" /><Relationship Id="rId1" Type="http://schemas.openxmlformats.org/officeDocument/2006/relationships/notesMaster" Target="../notesMasters/notesMaster1.xml" /></Relationships>
</file>

<file path=ppt/notesSlides/_rels/notesSlide36.xml.rels><?xml version="1.0" encoding="UTF-8"?><Relationships xmlns="http://schemas.openxmlformats.org/package/2006/relationships"><Relationship Id="rId2" Type="http://schemas.openxmlformats.org/officeDocument/2006/relationships/slide" Target="../slides/slide41.xml" /><Relationship Id="rId1" Type="http://schemas.openxmlformats.org/officeDocument/2006/relationships/notesMaster" Target="../notesMasters/notesMaster1.xml" /></Relationships>
</file>

<file path=ppt/notesSlides/_rels/notesSlide37.xml.rels><?xml version="1.0" encoding="UTF-8"?><Relationships xmlns="http://schemas.openxmlformats.org/package/2006/relationships"><Relationship Id="rId2" Type="http://schemas.openxmlformats.org/officeDocument/2006/relationships/slide" Target="../slides/slide42.xml" /><Relationship Id="rId1" Type="http://schemas.openxmlformats.org/officeDocument/2006/relationships/notesMaster" Target="../notesMasters/notesMaster1.xml" /></Relationships>
</file>

<file path=ppt/notesSlides/_rels/notesSlide38.xml.rels><?xml version="1.0" encoding="UTF-8"?><Relationships xmlns="http://schemas.openxmlformats.org/package/2006/relationships"><Relationship Id="rId2" Type="http://schemas.openxmlformats.org/officeDocument/2006/relationships/slide" Target="../slides/slide43.xml" /><Relationship Id="rId1" Type="http://schemas.openxmlformats.org/officeDocument/2006/relationships/notesMaster" Target="../notesMasters/notesMaster1.xml" /></Relationships>
</file>

<file path=ppt/notesSlides/_rels/notesSlide39.xml.rels><?xml version="1.0" encoding="UTF-8"?><Relationships xmlns="http://schemas.openxmlformats.org/package/2006/relationships"><Relationship Id="rId2" Type="http://schemas.openxmlformats.org/officeDocument/2006/relationships/slide" Target="../slides/slide44.xml" /><Relationship Id="rId1" Type="http://schemas.openxmlformats.org/officeDocument/2006/relationships/notesMaster" Target="../notesMasters/notesMaster1.xml" /></Relationships>
</file>

<file path=ppt/notesSlides/_rels/notesSlide40.xml.rels><?xml version="1.0" encoding="UTF-8"?><Relationships xmlns="http://schemas.openxmlformats.org/package/2006/relationships"><Relationship Id="rId2" Type="http://schemas.openxmlformats.org/officeDocument/2006/relationships/slide" Target="../slides/slide45.xml" /><Relationship Id="rId1" Type="http://schemas.openxmlformats.org/officeDocument/2006/relationships/notesMaster" Target="../notesMasters/notesMaster1.xml" /></Relationships>
</file>

<file path=ppt/notesSlides/_rels/notesSlide41.xml.rels><?xml version="1.0" encoding="UTF-8"?><Relationships xmlns="http://schemas.openxmlformats.org/package/2006/relationships"><Relationship Id="rId2" Type="http://schemas.openxmlformats.org/officeDocument/2006/relationships/slide" Target="../slides/slide46.xml" /><Relationship Id="rId1" Type="http://schemas.openxmlformats.org/officeDocument/2006/relationships/notesMaster" Target="../notesMasters/notesMaster1.xml" /></Relationships>
</file>

<file path=ppt/notesSlides/_rels/notesSlide42.xml.rels><?xml version="1.0" encoding="UTF-8"?><Relationships xmlns="http://schemas.openxmlformats.org/package/2006/relationships"><Relationship Id="rId2" Type="http://schemas.openxmlformats.org/officeDocument/2006/relationships/slide" Target="../slides/slide47.xml" /><Relationship Id="rId1" Type="http://schemas.openxmlformats.org/officeDocument/2006/relationships/notesMaster" Target="../notesMasters/notesMaster1.xml" /></Relationships>
</file>

<file path=ppt/notesSlides/_rels/notesSlide43.xml.rels><?xml version="1.0" encoding="UTF-8"?><Relationships xmlns="http://schemas.openxmlformats.org/package/2006/relationships"><Relationship Id="rId2" Type="http://schemas.openxmlformats.org/officeDocument/2006/relationships/slide" Target="../slides/slide48.xml" /><Relationship Id="rId1" Type="http://schemas.openxmlformats.org/officeDocument/2006/relationships/notesMaster" Target="../notesMasters/notesMaster1.xml" /></Relationships>
</file>

<file path=ppt/notesSlides/_rels/notesSlide44.xml.rels><?xml version="1.0" encoding="UTF-8"?><Relationships xmlns="http://schemas.openxmlformats.org/package/2006/relationships"><Relationship Id="rId2" Type="http://schemas.openxmlformats.org/officeDocument/2006/relationships/slide" Target="../slides/slide49.xml" /><Relationship Id="rId1" Type="http://schemas.openxmlformats.org/officeDocument/2006/relationships/notesMaster" Target="../notesMasters/notesMaster1.xml" /></Relationships>
</file>

<file path=ppt/notesSlides/_rels/notesSlide45.xml.rels><?xml version="1.0" encoding="UTF-8"?><Relationships xmlns="http://schemas.openxmlformats.org/package/2006/relationships"><Relationship Id="rId2" Type="http://schemas.openxmlformats.org/officeDocument/2006/relationships/slide" Target="../slides/slide54.xml" /><Relationship Id="rId1" Type="http://schemas.openxmlformats.org/officeDocument/2006/relationships/notesMaster" Target="../notesMasters/notesMaster1.xml" /></Relationships>
</file>

<file path=ppt/notesSlides/_rels/notesSlide46.xml.rels><?xml version="1.0" encoding="UTF-8"?><Relationships xmlns="http://schemas.openxmlformats.org/package/2006/relationships"><Relationship Id="rId2" Type="http://schemas.openxmlformats.org/officeDocument/2006/relationships/slide" Target="../slides/slide55.xml" /><Relationship Id="rId1" Type="http://schemas.openxmlformats.org/officeDocument/2006/relationships/notesMaster" Target="../notesMasters/notesMaster1.xml" /></Relationships>
</file>

<file path=ppt/notesSlides/_rels/notesSlide47.xml.rels><?xml version="1.0" encoding="UTF-8"?><Relationships xmlns="http://schemas.openxmlformats.org/package/2006/relationships"><Relationship Id="rId2" Type="http://schemas.openxmlformats.org/officeDocument/2006/relationships/slide" Target="../slides/slide56.xml" /><Relationship Id="rId1" Type="http://schemas.openxmlformats.org/officeDocument/2006/relationships/notesMaster" Target="../notesMasters/notesMaster1.xml" /></Relationships>
</file>

<file path=ppt/notesSlides/_rels/notesSlide48.xml.rels><?xml version="1.0" encoding="UTF-8"?><Relationships xmlns="http://schemas.openxmlformats.org/package/2006/relationships"><Relationship Id="rId2" Type="http://schemas.openxmlformats.org/officeDocument/2006/relationships/slide" Target="../slides/slide57.xml" /><Relationship Id="rId1" Type="http://schemas.openxmlformats.org/officeDocument/2006/relationships/notesMaster" Target="../notesMasters/notesMaster1.xml" /></Relationships>
</file>

<file path=ppt/notesSlides/_rels/notesSlide49.xml.rels><?xml version="1.0" encoding="UTF-8"?><Relationships xmlns="http://schemas.openxmlformats.org/package/2006/relationships"><Relationship Id="rId2" Type="http://schemas.openxmlformats.org/officeDocument/2006/relationships/slide" Target="../slides/slide58.xml" /><Relationship Id="rId1" Type="http://schemas.openxmlformats.org/officeDocument/2006/relationships/notesMaster" Target="../notesMasters/notesMaster1.xml" /></Relationships>
</file>

<file path=ppt/notesSlides/_rels/notesSlide50.xml.rels><?xml version="1.0" encoding="UTF-8"?><Relationships xmlns="http://schemas.openxmlformats.org/package/2006/relationships"><Relationship Id="rId2" Type="http://schemas.openxmlformats.org/officeDocument/2006/relationships/slide" Target="../slides/slide59.xml" /><Relationship Id="rId1" Type="http://schemas.openxmlformats.org/officeDocument/2006/relationships/notesMaster" Target="../notesMasters/notesMaster1.xml" /></Relationships>
</file>

<file path=ppt/notesSlides/_rels/notesSlide51.xml.rels><?xml version="1.0" encoding="UTF-8"?><Relationships xmlns="http://schemas.openxmlformats.org/package/2006/relationships"><Relationship Id="rId2" Type="http://schemas.openxmlformats.org/officeDocument/2006/relationships/slide" Target="../slides/slide60.xml" /><Relationship Id="rId1" Type="http://schemas.openxmlformats.org/officeDocument/2006/relationships/notesMaster" Target="../notesMasters/notesMaster1.xml" /></Relationships>
</file>

<file path=ppt/notesSlides/_rels/notesSlide52.xml.rels><?xml version="1.0" encoding="UTF-8"?><Relationships xmlns="http://schemas.openxmlformats.org/package/2006/relationships"><Relationship Id="rId2" Type="http://schemas.openxmlformats.org/officeDocument/2006/relationships/slide" Target="../slides/slide63.xml" /><Relationship Id="rId1" Type="http://schemas.openxmlformats.org/officeDocument/2006/relationships/notesMaster" Target="../notesMasters/notesMaster1.xml" /></Relationships>
</file>

<file path=ppt/notesSlides/_rels/notesSlide53.xml.rels><?xml version="1.0" encoding="UTF-8"?><Relationships xmlns="http://schemas.openxmlformats.org/package/2006/relationships"><Relationship Id="rId2" Type="http://schemas.openxmlformats.org/officeDocument/2006/relationships/slide" Target="../slides/slide64.xml" /><Relationship Id="rId1" Type="http://schemas.openxmlformats.org/officeDocument/2006/relationships/notesMaster" Target="../notesMasters/notesMaster1.xml" /></Relationships>
</file>

<file path=ppt/notesSlides/_rels/notesSlide54.xml.rels><?xml version="1.0" encoding="UTF-8"?><Relationships xmlns="http://schemas.openxmlformats.org/package/2006/relationships"><Relationship Id="rId2" Type="http://schemas.openxmlformats.org/officeDocument/2006/relationships/slide" Target="../slides/slide65.xml" /><Relationship Id="rId1" Type="http://schemas.openxmlformats.org/officeDocument/2006/relationships/notesMaster" Target="../notesMasters/notesMaster1.xml" /></Relationships>
</file>

<file path=ppt/notesSlides/_rels/notesSlide55.xml.rels><?xml version="1.0" encoding="UTF-8"?><Relationships xmlns="http://schemas.openxmlformats.org/package/2006/relationships"><Relationship Id="rId2" Type="http://schemas.openxmlformats.org/officeDocument/2006/relationships/slide" Target="../slides/slide67.xml" /><Relationship Id="rId1" Type="http://schemas.openxmlformats.org/officeDocument/2006/relationships/notesMaster" Target="../notesMasters/notesMaster1.xml" /></Relationships>
</file>

<file path=ppt/notesSlides/_rels/notesSlide56.xml.rels><?xml version="1.0" encoding="UTF-8"?><Relationships xmlns="http://schemas.openxmlformats.org/package/2006/relationships"><Relationship Id="rId2" Type="http://schemas.openxmlformats.org/officeDocument/2006/relationships/slide" Target="../slides/slide68.xml" /><Relationship Id="rId1" Type="http://schemas.openxmlformats.org/officeDocument/2006/relationships/notesMaster" Target="../notesMasters/notesMaster1.xml" /></Relationships>
</file>

<file path=ppt/notesSlides/_rels/notesSlide57.xml.rels><?xml version="1.0" encoding="UTF-8"?><Relationships xmlns="http://schemas.openxmlformats.org/package/2006/relationships"><Relationship Id="rId2" Type="http://schemas.openxmlformats.org/officeDocument/2006/relationships/slide" Target="../slides/slide69.xml" /><Relationship Id="rId1" Type="http://schemas.openxmlformats.org/officeDocument/2006/relationships/notesMaster" Target="../notesMasters/notesMaster1.xml" /></Relationships>
</file>

<file path=ppt/notesSlides/_rels/notesSlide58.xml.rels><?xml version="1.0" encoding="UTF-8"?><Relationships xmlns="http://schemas.openxmlformats.org/package/2006/relationships"><Relationship Id="rId2" Type="http://schemas.openxmlformats.org/officeDocument/2006/relationships/slide" Target="../slides/slide70.xml" /><Relationship Id="rId1" Type="http://schemas.openxmlformats.org/officeDocument/2006/relationships/notesMaster" Target="../notesMasters/notesMaster1.xml" /></Relationships>
</file>

<file path=ppt/notesSlides/_rels/notesSlide59.xml.rels><?xml version="1.0" encoding="UTF-8"?><Relationships xmlns="http://schemas.openxmlformats.org/package/2006/relationships"><Relationship Id="rId2" Type="http://schemas.openxmlformats.org/officeDocument/2006/relationships/slide" Target="../slides/slide71.xml" /><Relationship Id="rId1" Type="http://schemas.openxmlformats.org/officeDocument/2006/relationships/notesMaster" Target="../notesMasters/notesMaster1.xml" /></Relationships>
</file>

<file path=ppt/notesSlides/_rels/notesSlide60.xml.rels><?xml version="1.0" encoding="UTF-8"?><Relationships xmlns="http://schemas.openxmlformats.org/package/2006/relationships"><Relationship Id="rId2" Type="http://schemas.openxmlformats.org/officeDocument/2006/relationships/slide" Target="../slides/slide72.xml" /><Relationship Id="rId1" Type="http://schemas.openxmlformats.org/officeDocument/2006/relationships/notesMaster" Target="../notesMasters/notesMaster1.xml" /></Relationships>
</file>

<file path=ppt/notesSlides/_rels/notesSlide61.xml.rels><?xml version="1.0" encoding="UTF-8"?><Relationships xmlns="http://schemas.openxmlformats.org/package/2006/relationships"><Relationship Id="rId2" Type="http://schemas.openxmlformats.org/officeDocument/2006/relationships/slide" Target="../slides/slide73.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Day One: Outline the day’s goals and emphasize participation and hands-on exercises.</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Agenda: Quick walkthrough of topics; highlight hands-on demos and exercises.</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Revolutionary Impact:</a:t>
            </a:r>
            <a:r>
              <a:rPr/>
              <a:t> - AI is fundamentally changing how we write, maintain, and understand code - Similar to how IDEs replaced text editors, AI assistance is becoming essential - Speed of development has increased 30-60% for many developers using AI tools effectively</a:t>
            </a:r>
          </a:p>
          <a:p>
            <a:pPr lvl="0" indent="0" marL="0">
              <a:buNone/>
            </a:pPr>
          </a:p>
          <a:p>
            <a:pPr lvl="0" indent="0" marL="0">
              <a:buNone/>
            </a:pPr>
            <a:r>
              <a:rPr b="1"/>
              <a:t>Career Transformation:</a:t>
            </a:r>
            <a:r>
              <a:rPr/>
              <a:t> - Those who adapt: become 10x more productive, tackle bigger challenges, expand skill sets - Those who resist: may find themselves struggling with modern development expectations - New roles emerging: AI prompt engineers, AI code reviewers, AI-assisted architects</a:t>
            </a:r>
          </a:p>
          <a:p>
            <a:pPr lvl="0" indent="0" marL="0">
              <a:buNone/>
            </a:pPr>
          </a:p>
          <a:p>
            <a:pPr lvl="0" indent="0" marL="0">
              <a:buNone/>
            </a:pPr>
            <a:r>
              <a:rPr b="1"/>
              <a:t>Superpowers Explained:</a:t>
            </a:r>
            <a:r>
              <a:rPr/>
              <a:t> - </a:t>
            </a:r>
            <a:r>
              <a:rPr b="1"/>
              <a:t>Legacy codebases</a:t>
            </a:r>
            <a:r>
              <a:rPr/>
              <a:t>: AI can quickly understand and explain complex, undocumented systems - </a:t>
            </a:r>
            <a:r>
              <a:rPr b="1"/>
              <a:t>New technologies</a:t>
            </a:r>
            <a:r>
              <a:rPr/>
              <a:t>: Learn frameworks/languages faster with AI as a coding partner - </a:t>
            </a:r>
            <a:r>
              <a:rPr b="1"/>
              <a:t>Code quality</a:t>
            </a:r>
            <a:r>
              <a:rPr/>
              <a:t>: AI suggests improvements, catches bugs, generates comprehensive tests - </a:t>
            </a:r>
            <a:r>
              <a:rPr b="1"/>
              <a:t>Nice to haves</a:t>
            </a:r>
            <a:r>
              <a:rPr/>
              <a:t>: Features that were “too time-consuming” become feasible</a:t>
            </a:r>
          </a:p>
          <a:p>
            <a:pPr lvl="0" indent="0" marL="0">
              <a:buNone/>
            </a:pPr>
          </a:p>
          <a:p>
            <a:pPr lvl="0" indent="0" marL="0">
              <a:buNone/>
            </a:pPr>
            <a:r>
              <a:rPr b="1"/>
              <a:t>Examples to share:</a:t>
            </a:r>
            <a:r>
              <a:rPr/>
              <a:t> - Developer who used AI to modernize a 15-year-old PHP codebase in weeks instead of months - Team that adopted a new framework (React to Vue) with AI assistance in days - 80% reduction in boilerplate code writing time - Comprehensive test suites generated automatically</a:t>
            </a:r>
          </a:p>
          <a:p>
            <a:pPr lvl="0" indent="0" marL="0">
              <a:buNone/>
            </a:pPr>
          </a:p>
          <a:p>
            <a:pPr lvl="0" indent="0" marL="0">
              <a:buNone/>
            </a:pPr>
            <a:r>
              <a:rPr b="1"/>
              <a:t>Key message</a:t>
            </a:r>
            <a:r>
              <a:rPr/>
              <a:t>: AI doesn’t replace developers—it amplifies their capabilities</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Introduce LLMs at a high level: what they are, how they’re trained, and why they matter for developers.</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a:t>Emphasize that LLMs don’t actually “understand” code like humans do</a:t>
            </a:r>
          </a:p>
          <a:p>
            <a:pPr lvl="0" indent="0" marL="0">
              <a:buNone/>
            </a:pPr>
          </a:p>
          <a:p>
            <a:pPr lvl="0"/>
            <a:r>
              <a:rPr/>
              <a:t>They use transformer architecture to recognize patterns and context</a:t>
            </a:r>
          </a:p>
          <a:p>
            <a:pPr lvl="0" indent="0" marL="0">
              <a:buNone/>
            </a:pPr>
          </a:p>
          <a:p>
            <a:pPr lvl="0"/>
            <a:r>
              <a:rPr/>
              <a:t>Token-based processing: code is broken into tokens (words, symbols, operators)</a:t>
            </a:r>
          </a:p>
          <a:p>
            <a:pPr lvl="0" indent="0" marL="0">
              <a:buNone/>
            </a:pPr>
          </a:p>
          <a:p>
            <a:pPr lvl="0"/>
            <a:r>
              <a:rPr/>
              <a:t>Explain that attention mechanisms are what make modern LLMs so powerful</a:t>
            </a:r>
          </a:p>
          <a:p>
            <a:pPr lvl="0" indent="0" marL="0">
              <a:buNone/>
            </a:pPr>
          </a:p>
          <a:p>
            <a:pPr lvl="0"/>
            <a:r>
              <a:rPr/>
              <a:t>The scale is what makes the difference - billions of parameters</a:t>
            </a:r>
          </a:p>
          <a:p>
            <a:pPr lvl="0" indent="0" marL="0">
              <a:buNone/>
            </a:pPr>
          </a:p>
          <a:p>
            <a:pPr lvl="0"/>
            <a:r>
              <a:rPr/>
              <a:t>When we say LLMs “understand” relationships, we mean they can statistically correlate patterns across tokens</a:t>
            </a:r>
          </a:p>
          <a:p>
            <a:pPr lvl="0" indent="0" marL="0">
              <a:buNone/>
            </a:pPr>
          </a:p>
          <a:p>
            <a:pPr lvl="0"/>
            <a:r>
              <a:rPr/>
              <a:t>This pattern matching is extremely sophisticated but lacks true semantic comprehension</a:t>
            </a:r>
          </a:p>
          <a:p>
            <a:pPr lvl="0" indent="0" marL="0">
              <a:buNone/>
            </a:pPr>
          </a:p>
          <a:p>
            <a:pPr lvl="0"/>
            <a:r>
              <a:rPr/>
              <a:t>Example: An LLM can recognize that a variable declared early in a function should be referenced later, not because it understands variables conceptually, but because it has seen this pattern millions of times in training</a:t>
            </a:r>
          </a:p>
          <a:p>
            <a:pPr lvl="0" indent="0" marL="0">
              <a:buNone/>
            </a:pPr>
          </a:p>
          <a:p>
            <a:pPr lvl="0"/>
            <a:r>
              <a:rPr/>
              <a:t>The “understanding” is really about statistical associations between code patterns, not conceptual knowledge</a:t>
            </a:r>
          </a:p>
          <a:p>
            <a:pPr lvl="0" indent="0" marL="0">
              <a:buNone/>
            </a:pPr>
          </a:p>
          <a:p>
            <a:pPr lvl="0"/>
            <a:r>
              <a:rPr/>
              <a:t>This is why LLMs can generate syntactically correct code that is logically flawed - they match patterns without true comprehension of the underlying logic</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Capabilities: Describe common uses (completion, refactoring, tests) and show a quick live example if time permits.</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Limitations: Emphasize hallucination, context limits, and the need for human review and testing.</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Contrast disciplined engineering practices with quick “vibe” coding; stress that AI should augment engineering rigor, not replace it.</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Do’s: Give practical tips—clear prompts, review, testing, and using AI for repetitive work.</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Don’ts: Warn against blind acceptance of suggestions, entering sensitive data in prompts, and skipping tests.</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Input Processing</a:t>
            </a:r>
            <a:r>
              <a:rPr/>
              <a:t>: - Developer provides natural language prompts + existing code context - Input is tokenized into discrete units the model can process - Tokens are converted to numerical vectors (embeddings)</a:t>
            </a:r>
          </a:p>
          <a:p>
            <a:pPr lvl="0" indent="0" marL="0">
              <a:buNone/>
            </a:pPr>
          </a:p>
          <a:p>
            <a:pPr lvl="0" indent="0" marL="0">
              <a:buNone/>
            </a:pPr>
            <a:r>
              <a:rPr b="1"/>
              <a:t>Core Processing</a:t>
            </a:r>
            <a:r>
              <a:rPr/>
              <a:t>: - Transformer layers use self-attention to understand relationships - Context window maintains recent conversation/code history - Pattern recognition identifies relevant code structures and syntax</a:t>
            </a:r>
          </a:p>
          <a:p>
            <a:pPr lvl="0" indent="0" marL="0">
              <a:buNone/>
            </a:pPr>
          </a:p>
          <a:p>
            <a:pPr lvl="0" indent="0" marL="0">
              <a:buNone/>
            </a:pPr>
            <a:r>
              <a:rPr b="1"/>
              <a:t>Output Generation</a:t>
            </a:r>
            <a:r>
              <a:rPr/>
              <a:t>: - Model generates probability distributions for next tokens - Decoding strategies determine how to select from probabilities - Output is converted back to readable code</a:t>
            </a:r>
          </a:p>
          <a:p>
            <a:pPr lvl="0" indent="0" marL="0">
              <a:buNone/>
            </a:pPr>
          </a:p>
          <a:p>
            <a:pPr lvl="0" indent="0" marL="0">
              <a:buNone/>
            </a:pPr>
            <a:r>
              <a:rPr b="1"/>
              <a:t>Human in the Loop</a:t>
            </a:r>
            <a:r>
              <a:rPr/>
              <a:t>: - Critical validation step - AI is a tool, not a replacement - Feedback loop for prompt refinement and learning</a:t>
            </a:r>
          </a:p>
          <a:p>
            <a:pPr lvl="0" indent="0" marL="0">
              <a:buNone/>
            </a:pPr>
          </a:p>
          <a:p>
            <a:pPr lvl="0" indent="0" marL="0">
              <a:buNone/>
            </a:pPr>
            <a:r>
              <a:rPr b="1"/>
              <a:t>Training Influence</a:t>
            </a:r>
            <a:r>
              <a:rPr/>
              <a:t>: - Large code repositories provide pattern knowledge - Fine-tuning specializes models for coding tasks - Quality of training data directly impacts output quality</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Outline governance, admin controls, and adoption factors (training, policy, developer onboarding).</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Explain the motivating questions about IP, privacy, and safe use that led to this presentation.</a:t>
            </a:r>
          </a:p>
        </p:txBody>
      </p:sp>
      <p:sp>
        <p:nvSpPr>
          <p:cNvPr id="4" name="Slide Number Placeholder 3"/>
          <p:cNvSpPr>
            <a:spLocks noGrp="1"/>
          </p:cNvSpPr>
          <p:nvPr>
            <p:ph type="sldNum" sz="quarter" idx="10"/>
          </p:nvPr>
        </p:nvSpPr>
        <p:spPr/>
        <p:txBody>
          <a:bodyPr/>
          <a:lstStyle/>
          <a:p>
            <a:fld id="{18BDFEC3-8487-43E8-A154-7C12CBC1FFF2}" type="slidenum">
              <a:rPr lang="en-US"/>
              <a:t>16</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Highlight productivity, documentation, test generation, and onboarding benefits with brief examples.</a:t>
            </a:r>
          </a:p>
        </p:txBody>
      </p:sp>
      <p:sp>
        <p:nvSpPr>
          <p:cNvPr id="4" name="Slide Number Placeholder 3"/>
          <p:cNvSpPr>
            <a:spLocks noGrp="1"/>
          </p:cNvSpPr>
          <p:nvPr>
            <p:ph type="sldNum" sz="quarter" idx="10"/>
          </p:nvPr>
        </p:nvSpPr>
        <p:spPr/>
        <p:txBody>
          <a:bodyPr/>
          <a:lstStyle/>
          <a:p>
            <a:fld id="{18BDFEC3-8487-43E8-A154-7C12CBC1FFF2}" type="slidenum">
              <a:rPr lang="en-US"/>
              <a:t>17</a:t>
            </a:fld>
            <a:endParaRPr lang="en-US"/>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Cover IP leakage, code quality risks, and developer overreliance; suggest mitigations for each.</a:t>
            </a:r>
          </a:p>
        </p:txBody>
      </p:sp>
      <p:sp>
        <p:nvSpPr>
          <p:cNvPr id="4" name="Slide Number Placeholder 3"/>
          <p:cNvSpPr>
            <a:spLocks noGrp="1"/>
          </p:cNvSpPr>
          <p:nvPr>
            <p:ph type="sldNum" sz="quarter" idx="10"/>
          </p:nvPr>
        </p:nvSpPr>
        <p:spPr/>
        <p:txBody>
          <a:bodyPr/>
          <a:lstStyle/>
          <a:p>
            <a:fld id="{18BDFEC3-8487-43E8-A154-7C12CBC1FFF2}" type="slidenum">
              <a:rPr lang="en-US"/>
              <a:t>18</a:t>
            </a:fld>
            <a:endParaRPr lang="en-US"/>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Discuss regulatory impacts, auditability, and how to enforce coding policies with automated checks.</a:t>
            </a:r>
          </a:p>
        </p:txBody>
      </p:sp>
      <p:sp>
        <p:nvSpPr>
          <p:cNvPr id="4" name="Slide Number Placeholder 3"/>
          <p:cNvSpPr>
            <a:spLocks noGrp="1"/>
          </p:cNvSpPr>
          <p:nvPr>
            <p:ph type="sldNum" sz="quarter" idx="10"/>
          </p:nvPr>
        </p:nvSpPr>
        <p:spPr/>
        <p:txBody>
          <a:bodyPr/>
          <a:lstStyle/>
          <a:p>
            <a:fld id="{18BDFEC3-8487-43E8-A154-7C12CBC1FFF2}" type="slidenum">
              <a:rPr lang="en-US"/>
              <a:t>19</a:t>
            </a:fld>
            <a:endParaRPr lang="en-US"/>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Clarify data flows, model retraining policy for enterprise plans, and recommended org controls to protect IP.</a:t>
            </a:r>
          </a:p>
        </p:txBody>
      </p:sp>
      <p:sp>
        <p:nvSpPr>
          <p:cNvPr id="4" name="Slide Number Placeholder 3"/>
          <p:cNvSpPr>
            <a:spLocks noGrp="1"/>
          </p:cNvSpPr>
          <p:nvPr>
            <p:ph type="sldNum" sz="quarter" idx="10"/>
          </p:nvPr>
        </p:nvSpPr>
        <p:spPr/>
        <p:txBody>
          <a:bodyPr/>
          <a:lstStyle/>
          <a:p>
            <a:fld id="{18BDFEC3-8487-43E8-A154-7C12CBC1FFF2}" type="slidenum">
              <a:rPr lang="en-US"/>
              <a:t>20</a:t>
            </a:fld>
            <a:endParaRPr lang="en-US"/>
          </a:p>
        </p:txBody>
      </p:sp>
    </p:spTree>
  </p:cSld>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Explain risks of suggested code resembling public repos and recommend legal review and filter settings.</a:t>
            </a:r>
          </a:p>
        </p:txBody>
      </p:sp>
      <p:sp>
        <p:nvSpPr>
          <p:cNvPr id="4" name="Slide Number Placeholder 3"/>
          <p:cNvSpPr>
            <a:spLocks noGrp="1"/>
          </p:cNvSpPr>
          <p:nvPr>
            <p:ph type="sldNum" sz="quarter" idx="10"/>
          </p:nvPr>
        </p:nvSpPr>
        <p:spPr/>
        <p:txBody>
          <a:bodyPr/>
          <a:lstStyle/>
          <a:p>
            <a:fld id="{18BDFEC3-8487-43E8-A154-7C12CBC1FFF2}" type="slidenum">
              <a:rPr lang="en-US"/>
              <a:t>21</a:t>
            </a:fld>
            <a:endParaRPr lang="en-US"/>
          </a:p>
        </p:txBody>
      </p:sp>
    </p:spTree>
  </p:cSld>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Summarize plan differences and pick considerations (control, audit, scale) for each offering.</a:t>
            </a:r>
          </a:p>
        </p:txBody>
      </p:sp>
      <p:sp>
        <p:nvSpPr>
          <p:cNvPr id="4" name="Slide Number Placeholder 3"/>
          <p:cNvSpPr>
            <a:spLocks noGrp="1"/>
          </p:cNvSpPr>
          <p:nvPr>
            <p:ph type="sldNum" sz="quarter" idx="10"/>
          </p:nvPr>
        </p:nvSpPr>
        <p:spPr/>
        <p:txBody>
          <a:bodyPr/>
          <a:lstStyle/>
          <a:p>
            <a:fld id="{18BDFEC3-8487-43E8-A154-7C12CBC1FFF2}" type="slidenum">
              <a:rPr lang="en-US"/>
              <a:t>22</a:t>
            </a:fld>
            <a:endParaRPr lang="en-US"/>
          </a:p>
        </p:txBody>
      </p:sp>
    </p:spTree>
  </p:cSld>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Practical checklist: avoid secrets in prompts, enable public-code filters, and establish review processes.</a:t>
            </a:r>
          </a:p>
        </p:txBody>
      </p:sp>
      <p:sp>
        <p:nvSpPr>
          <p:cNvPr id="4" name="Slide Number Placeholder 3"/>
          <p:cNvSpPr>
            <a:spLocks noGrp="1"/>
          </p:cNvSpPr>
          <p:nvPr>
            <p:ph type="sldNum" sz="quarter" idx="10"/>
          </p:nvPr>
        </p:nvSpPr>
        <p:spPr/>
        <p:txBody>
          <a:bodyPr/>
          <a:lstStyle/>
          <a:p>
            <a:fld id="{18BDFEC3-8487-43E8-A154-7C12CBC1FFF2}" type="slidenum">
              <a:rPr lang="en-US"/>
              <a:t>23</a:t>
            </a:fld>
            <a:endParaRPr lang="en-US"/>
          </a:p>
        </p:txBody>
      </p:sp>
    </p:spTree>
  </p:cSld>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Point attendees to official docs and FAQs; recommend follow-up reading links on the slide.</a:t>
            </a:r>
          </a:p>
        </p:txBody>
      </p:sp>
      <p:sp>
        <p:nvSpPr>
          <p:cNvPr id="4" name="Slide Number Placeholder 3"/>
          <p:cNvSpPr>
            <a:spLocks noGrp="1"/>
          </p:cNvSpPr>
          <p:nvPr>
            <p:ph type="sldNum" sz="quarter" idx="10"/>
          </p:nvPr>
        </p:nvSpPr>
        <p:spPr/>
        <p:txBody>
          <a:bodyPr/>
          <a:lstStyle/>
          <a:p>
            <a:fld id="{18BDFEC3-8487-43E8-A154-7C12CBC1FFF2}" type="slidenum">
              <a:rPr lang="en-US"/>
              <a:t>24</a:t>
            </a:fld>
            <a:endParaRPr lang="en-US"/>
          </a:p>
        </p:txBody>
      </p:sp>
    </p:spTree>
  </p:cSld>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Quick demo plan: show VS Code integration, suggestion modes, and settings.</a:t>
            </a:r>
          </a:p>
        </p:txBody>
      </p:sp>
      <p:sp>
        <p:nvSpPr>
          <p:cNvPr id="4" name="Slide Number Placeholder 3"/>
          <p:cNvSpPr>
            <a:spLocks noGrp="1"/>
          </p:cNvSpPr>
          <p:nvPr>
            <p:ph type="sldNum" sz="quarter" idx="10"/>
          </p:nvPr>
        </p:nvSpPr>
        <p:spPr/>
        <p:txBody>
          <a:bodyPr/>
          <a:lstStyle/>
          <a:p>
            <a:fld id="{18BDFEC3-8487-43E8-A154-7C12CBC1FFF2}" type="slidenum">
              <a:rPr lang="en-US"/>
              <a:t>25</a:t>
            </a:fld>
            <a:endParaRPr lang="en-US"/>
          </a:p>
        </p:txBody>
      </p:sp>
    </p:spTree>
  </p:cSld>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Walk through installation, auth, and a quick coding session; encourage participants to follow along.</a:t>
            </a:r>
          </a:p>
        </p:txBody>
      </p:sp>
      <p:sp>
        <p:nvSpPr>
          <p:cNvPr id="4" name="Slide Number Placeholder 3"/>
          <p:cNvSpPr>
            <a:spLocks noGrp="1"/>
          </p:cNvSpPr>
          <p:nvPr>
            <p:ph type="sldNum" sz="quarter" idx="10"/>
          </p:nvPr>
        </p:nvSpPr>
        <p:spPr/>
        <p:txBody>
          <a:bodyPr/>
          <a:lstStyle/>
          <a:p>
            <a:fld id="{18BDFEC3-8487-43E8-A154-7C12CBC1FFF2}" type="slidenum">
              <a:rPr lang="en-US"/>
              <a:t>26</a:t>
            </a:fld>
            <a:endParaRPr lang="en-US"/>
          </a:p>
        </p:txBody>
      </p:sp>
    </p:spTree>
  </p:cSld>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Explain Ask vs Edit modes and when each is most useful. Speak to Agent Mode and Custom Chat Modes briefly. We’ll work with those later.</a:t>
            </a:r>
          </a:p>
        </p:txBody>
      </p:sp>
      <p:sp>
        <p:nvSpPr>
          <p:cNvPr id="4" name="Slide Number Placeholder 3"/>
          <p:cNvSpPr>
            <a:spLocks noGrp="1"/>
          </p:cNvSpPr>
          <p:nvPr>
            <p:ph type="sldNum" sz="quarter" idx="10"/>
          </p:nvPr>
        </p:nvSpPr>
        <p:spPr/>
        <p:txBody>
          <a:bodyPr/>
          <a:lstStyle/>
          <a:p>
            <a:fld id="{18BDFEC3-8487-43E8-A154-7C12CBC1FFF2}" type="slidenum">
              <a:rPr lang="en-US"/>
              <a:t>28</a:t>
            </a:fld>
            <a:endParaRPr lang="en-US"/>
          </a:p>
        </p:txBody>
      </p:sp>
    </p:spTree>
  </p:cSld>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Speaker Notes:</a:t>
            </a:r>
          </a:p>
          <a:p>
            <a:pPr lvl="0" indent="0" marL="0">
              <a:buNone/>
            </a:pPr>
          </a:p>
          <a:p>
            <a:pPr lvl="0" indent="0" marL="0">
              <a:buNone/>
            </a:pPr>
            <a:r>
              <a:rPr/>
              <a:t>A zip with the slides, examples, demos will be provided after the course</a:t>
            </a:r>
          </a:p>
        </p:txBody>
      </p:sp>
      <p:sp>
        <p:nvSpPr>
          <p:cNvPr id="4" name="Slide Number Placeholder 3"/>
          <p:cNvSpPr>
            <a:spLocks noGrp="1"/>
          </p:cNvSpPr>
          <p:nvPr>
            <p:ph type="sldNum" sz="quarter" idx="10"/>
          </p:nvPr>
        </p:nvSpPr>
        <p:spPr/>
        <p:txBody>
          <a:bodyPr/>
          <a:lstStyle/>
          <a:p>
            <a:fld id="{18BDFEC3-8487-43E8-A154-7C12CBC1FFF2}" type="slidenum">
              <a:rPr lang="en-US"/>
              <a:t>29</a:t>
            </a:fld>
            <a:endParaRPr lang="en-US"/>
          </a:p>
        </p:txBody>
      </p:sp>
    </p:spTree>
  </p:cSld>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Assign finding a repo and preparing it for the legacy code session; remind them to choose familiar languages.</a:t>
            </a:r>
          </a:p>
        </p:txBody>
      </p:sp>
      <p:sp>
        <p:nvSpPr>
          <p:cNvPr id="4" name="Slide Number Placeholder 3"/>
          <p:cNvSpPr>
            <a:spLocks noGrp="1"/>
          </p:cNvSpPr>
          <p:nvPr>
            <p:ph type="sldNum" sz="quarter" idx="10"/>
          </p:nvPr>
        </p:nvSpPr>
        <p:spPr/>
        <p:txBody>
          <a:bodyPr/>
          <a:lstStyle/>
          <a:p>
            <a:fld id="{18BDFEC3-8487-43E8-A154-7C12CBC1FFF2}" type="slidenum">
              <a:rPr lang="en-US"/>
              <a:t>30</a:t>
            </a:fld>
            <a:endParaRPr lang="en-US"/>
          </a:p>
        </p:txBody>
      </p:sp>
    </p:spTree>
  </p:cSld>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There are two speaker objectives for this exercise: 1. Get everyone a feel for what it’s like to develop assisted by Copilot 2. Demonstrate the perils of vibe coding with instruction files and chat modes</a:t>
            </a:r>
          </a:p>
          <a:p>
            <a:pPr lvl="0" indent="0" marL="0">
              <a:buNone/>
            </a:pPr>
          </a:p>
          <a:p>
            <a:pPr lvl="0" indent="0" marL="0">
              <a:buNone/>
            </a:pPr>
            <a:r>
              <a:rPr/>
              <a:t>I’ve found it doesn’t take long for the AI to start going off the rails.</a:t>
            </a:r>
          </a:p>
          <a:p>
            <a:pPr lvl="0" indent="0" marL="0">
              <a:buNone/>
            </a:pPr>
          </a:p>
          <a:p>
            <a:pPr lvl="0" indent="0" marL="0">
              <a:buNone/>
            </a:pPr>
            <a:r>
              <a:rPr/>
              <a:t>At the end of the day prompt the AI to list all the reasons why the calculator is not evergreen.</a:t>
            </a:r>
          </a:p>
          <a:p>
            <a:pPr lvl="0" indent="0" marL="0">
              <a:buNone/>
            </a:pPr>
          </a:p>
          <a:p>
            <a:pPr lvl="0" indent="0" marL="0">
              <a:buNone/>
            </a:pPr>
            <a:r>
              <a:rPr/>
              <a:t>Prompt: Review the code in the class repo and list all the reasons why it is not evergreen.</a:t>
            </a:r>
          </a:p>
          <a:p>
            <a:pPr lvl="0" indent="0" marL="0">
              <a:buNone/>
            </a:pPr>
          </a:p>
          <a:p>
            <a:pPr lvl="0" indent="0" marL="0">
              <a:buNone/>
            </a:pPr>
            <a:r>
              <a:rPr/>
              <a:t>Use this as a teaching moment to show that code is already legacy and how tomorrow we work on making it evergreen and more importantly how to keep it evergreen.</a:t>
            </a:r>
          </a:p>
          <a:p>
            <a:pPr lvl="0" indent="0" marL="0">
              <a:buNone/>
            </a:pPr>
          </a:p>
          <a:p>
            <a:pPr lvl="0" indent="0" marL="0">
              <a:buNone/>
            </a:pPr>
            <a:r>
              <a:rPr/>
              <a:t>Here are some suggested prompts to guide the exercise:</a:t>
            </a:r>
          </a:p>
          <a:p>
            <a:pPr lvl="0" indent="0" marL="0">
              <a:buNone/>
            </a:pPr>
          </a:p>
          <a:p>
            <a:pPr lvl="0" indent="0" marL="0">
              <a:buNone/>
            </a:pPr>
            <a:r>
              <a:rPr/>
              <a:t>Add support for calculating square roots</a:t>
            </a:r>
          </a:p>
          <a:p>
            <a:pPr lvl="0" indent="0" marL="0">
              <a:buNone/>
            </a:pPr>
          </a:p>
          <a:p>
            <a:pPr lvl="0" indent="0" marL="0">
              <a:buNone/>
            </a:pPr>
            <a:r>
              <a:rPr/>
              <a:t>Create unit tests for the simple calculator</a:t>
            </a:r>
          </a:p>
          <a:p>
            <a:pPr lvl="0" indent="0" marL="0">
              <a:buNone/>
            </a:pPr>
          </a:p>
          <a:p>
            <a:pPr lvl="0" indent="0" marL="0">
              <a:buNone/>
            </a:pPr>
            <a:r>
              <a:rPr/>
              <a:t>Using test driven development, add tests for a new memory function to store previous calculations to the simple calculator</a:t>
            </a:r>
          </a:p>
          <a:p>
            <a:pPr lvl="0" indent="0" marL="0">
              <a:buNone/>
            </a:pPr>
          </a:p>
          <a:p>
            <a:pPr lvl="0" indent="0" marL="0">
              <a:buNone/>
            </a:pPr>
            <a:r>
              <a:rPr/>
              <a:t>Create documentation for the simple calculator</a:t>
            </a:r>
          </a:p>
          <a:p>
            <a:pPr lvl="0" indent="0" marL="0">
              <a:buNone/>
            </a:pPr>
          </a:p>
          <a:p>
            <a:pPr lvl="0" indent="0" marL="0">
              <a:buNone/>
            </a:pPr>
            <a:r>
              <a:rPr/>
              <a:t>Create documentation for the simple calculator for only the implemented features</a:t>
            </a:r>
          </a:p>
          <a:p>
            <a:pPr lvl="0" indent="0" marL="0">
              <a:buNone/>
            </a:pPr>
          </a:p>
          <a:p>
            <a:pPr lvl="0" indent="0" marL="0">
              <a:buNone/>
            </a:pPr>
            <a:r>
              <a:rPr/>
              <a:t>Create documentation for the simple calculator. Mark features not yet implemented as TBD</a:t>
            </a:r>
          </a:p>
          <a:p>
            <a:pPr lvl="0" indent="0" marL="0">
              <a:buNone/>
            </a:pPr>
          </a:p>
          <a:p>
            <a:pPr lvl="0" indent="0" marL="0">
              <a:buNone/>
            </a:pPr>
            <a:r>
              <a:rPr/>
              <a:t>Implement the clearHistory function in the simple calculator</a:t>
            </a:r>
          </a:p>
          <a:p>
            <a:pPr lvl="0" indent="0" marL="0">
              <a:buNone/>
            </a:pPr>
          </a:p>
          <a:p>
            <a:pPr lvl="0" indent="0" marL="0">
              <a:buNone/>
            </a:pPr>
            <a:r>
              <a:rPr/>
              <a:t>Implement the rest of the memory functions and update the documentation</a:t>
            </a:r>
          </a:p>
          <a:p>
            <a:pPr lvl="0" indent="0" marL="0">
              <a:buNone/>
            </a:pPr>
          </a:p>
          <a:p>
            <a:pPr lvl="0" indent="0" marL="0">
              <a:buNone/>
            </a:pPr>
            <a:r>
              <a:rPr/>
              <a:t>Using tdd, create tests for a new logging function in the simple calculator</a:t>
            </a:r>
          </a:p>
          <a:p>
            <a:pPr lvl="0" indent="0" marL="0">
              <a:buNone/>
            </a:pPr>
          </a:p>
          <a:p>
            <a:pPr lvl="0" indent="0" marL="0">
              <a:buNone/>
            </a:pPr>
            <a:r>
              <a:rPr/>
              <a:t>Using tdd, test that the log file resides in the log folder under the root of the project</a:t>
            </a:r>
          </a:p>
          <a:p>
            <a:pPr lvl="0" indent="0" marL="0">
              <a:buNone/>
            </a:pPr>
          </a:p>
          <a:p>
            <a:pPr lvl="0" indent="0" marL="0">
              <a:buNone/>
            </a:pPr>
            <a:r>
              <a:rPr/>
              <a:t>Create tests that verify that once created, the log is not deleted</a:t>
            </a:r>
          </a:p>
          <a:p>
            <a:pPr lvl="0" indent="0" marL="0">
              <a:buNone/>
            </a:pPr>
          </a:p>
          <a:p>
            <a:pPr lvl="0" indent="0" marL="0">
              <a:buNone/>
            </a:pPr>
            <a:r>
              <a:rPr/>
              <a:t>Using tdd, create tests that verify that the log is loaded into memory when the calculator starts</a:t>
            </a:r>
          </a:p>
          <a:p>
            <a:pPr lvl="0" indent="0" marL="0">
              <a:buNone/>
            </a:pPr>
          </a:p>
          <a:p>
            <a:pPr lvl="0" indent="0" marL="0">
              <a:buNone/>
            </a:pPr>
            <a:r>
              <a:rPr/>
              <a:t>Can you list the last 10 prompts I’ve given?</a:t>
            </a:r>
          </a:p>
          <a:p>
            <a:pPr lvl="0" indent="0" marL="0">
              <a:buNone/>
            </a:pPr>
          </a:p>
          <a:p>
            <a:pPr lvl="0" indent="0" marL="0">
              <a:buNone/>
            </a:pPr>
            <a:r>
              <a:rPr/>
              <a:t>Load the log into memory when the calculator starts</a:t>
            </a:r>
          </a:p>
          <a:p>
            <a:pPr lvl="0" indent="0" marL="0">
              <a:buNone/>
            </a:pPr>
          </a:p>
          <a:p>
            <a:pPr lvl="0" indent="0" marL="0">
              <a:buNone/>
            </a:pPr>
            <a:r>
              <a:rPr/>
              <a:t>After running the calculator I expected to see a list of the calculations. but the calc-default.log does not contain them. is that what you expected? (REPL transcript)</a:t>
            </a:r>
          </a:p>
          <a:p>
            <a:pPr lvl="0" indent="0" marL="0">
              <a:buNone/>
            </a:pPr>
          </a:p>
          <a:p>
            <a:pPr lvl="0" indent="0" marL="0">
              <a:buNone/>
            </a:pPr>
            <a:r>
              <a:rPr/>
              <a:t>I want to implement #2, but first change the tests to expect #2</a:t>
            </a:r>
          </a:p>
          <a:p>
            <a:pPr lvl="0" indent="0" marL="0">
              <a:buNone/>
            </a:pPr>
          </a:p>
          <a:p>
            <a:pPr lvl="0" indent="0" marL="0">
              <a:buNone/>
            </a:pPr>
            <a:r>
              <a:rPr/>
              <a:t>Update the tests to use a distinct test-only logfile name. I expect that these tests will initially fail. I also expect to see them executed</a:t>
            </a:r>
          </a:p>
          <a:p>
            <a:pPr lvl="0" indent="0" marL="0">
              <a:buNone/>
            </a:pPr>
          </a:p>
          <a:p>
            <a:pPr lvl="0" indent="0" marL="0">
              <a:buNone/>
            </a:pPr>
            <a:r>
              <a:rPr/>
              <a:t>#terminalLastCommand I only see that TestEvalAndStoreCreatesAndPersistsLogInCwdLog is failing because the file doesn’t exist. are there test that verify if the log file exists: 1. that it can be read into memory 2. that what is read is correct</a:t>
            </a:r>
          </a:p>
          <a:p>
            <a:pPr lvl="0" indent="0" marL="0">
              <a:buNone/>
            </a:pPr>
          </a:p>
          <a:p>
            <a:pPr lvl="0" indent="0" marL="0">
              <a:buNone/>
            </a:pPr>
            <a:r>
              <a:rPr/>
              <a:t>I want tests that verify that the expected behavior (not yet implemented) is correct. I expect to see a test that creates a logfile, runs the load into memory logic and verifies that it’s correct. That test(s) should execute and fail until the implementation is completed</a:t>
            </a:r>
          </a:p>
        </p:txBody>
      </p:sp>
      <p:sp>
        <p:nvSpPr>
          <p:cNvPr id="4" name="Slide Number Placeholder 3"/>
          <p:cNvSpPr>
            <a:spLocks noGrp="1"/>
          </p:cNvSpPr>
          <p:nvPr>
            <p:ph type="sldNum" sz="quarter" idx="10"/>
          </p:nvPr>
        </p:nvSpPr>
        <p:spPr/>
        <p:txBody>
          <a:bodyPr/>
          <a:lstStyle/>
          <a:p>
            <a:fld id="{18BDFEC3-8487-43E8-A154-7C12CBC1FFF2}" type="slidenum">
              <a:rPr lang="en-US"/>
              <a:t>31</a:t>
            </a:fld>
            <a:endParaRPr lang="en-US"/>
          </a:p>
        </p:txBody>
      </p:sp>
    </p:spTree>
  </p:cSld>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Day Two: Focus on legacy code manipulation with Copilot, instruction files, and safe editing practices.</a:t>
            </a:r>
          </a:p>
          <a:p>
            <a:pPr lvl="0" indent="0" marL="0">
              <a:buNone/>
            </a:pPr>
          </a:p>
          <a:p>
            <a:pPr lvl="0" indent="0" marL="0">
              <a:buNone/>
            </a:pPr>
            <a:r>
              <a:rPr/>
              <a:t>preparing for exercises cd “c:.Code.Presents“ git switch main git branch –list git branch -D gpt4o git branch -D sonnet4 git branch -D fixes git clean -fdx clear git branch –list</a:t>
            </a:r>
          </a:p>
          <a:p>
            <a:pPr lvl="0" indent="0" marL="0">
              <a:buNone/>
            </a:pPr>
          </a:p>
          <a:p>
            <a:pPr lvl="0" indent="0" marL="0">
              <a:buNone/>
            </a:pPr>
            <a:r>
              <a:rPr/>
              <a:t>close all editors clear terminal new chat</a:t>
            </a:r>
          </a:p>
        </p:txBody>
      </p:sp>
      <p:sp>
        <p:nvSpPr>
          <p:cNvPr id="4" name="Slide Number Placeholder 3"/>
          <p:cNvSpPr>
            <a:spLocks noGrp="1"/>
          </p:cNvSpPr>
          <p:nvPr>
            <p:ph type="sldNum" sz="quarter" idx="10"/>
          </p:nvPr>
        </p:nvSpPr>
        <p:spPr/>
        <p:txBody>
          <a:bodyPr/>
          <a:lstStyle/>
          <a:p>
            <a:fld id="{18BDFEC3-8487-43E8-A154-7C12CBC1FFF2}" type="slidenum">
              <a:rPr lang="en-US"/>
              <a:t>32</a:t>
            </a:fld>
            <a:endParaRPr lang="en-US"/>
          </a:p>
        </p:txBody>
      </p:sp>
    </p:spTree>
  </p:cSld>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Preview themes: understanding legacy code, instruction files, and exercises focused on safe edits.</a:t>
            </a:r>
          </a:p>
        </p:txBody>
      </p:sp>
      <p:sp>
        <p:nvSpPr>
          <p:cNvPr id="4" name="Slide Number Placeholder 3"/>
          <p:cNvSpPr>
            <a:spLocks noGrp="1"/>
          </p:cNvSpPr>
          <p:nvPr>
            <p:ph type="sldNum" sz="quarter" idx="10"/>
          </p:nvPr>
        </p:nvSpPr>
        <p:spPr/>
        <p:txBody>
          <a:bodyPr/>
          <a:lstStyle/>
          <a:p>
            <a:fld id="{18BDFEC3-8487-43E8-A154-7C12CBC1FFF2}" type="slidenum">
              <a:rPr lang="en-US"/>
              <a:t>33</a:t>
            </a:fld>
            <a:endParaRPr lang="en-US"/>
          </a:p>
        </p:txBody>
      </p:sp>
    </p:spTree>
  </p:cSld>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State course objective: practical skills for using Copilot effectively on legacy codebases. Part 1: Understanding legacy code and its challenges Part 2: Techniques for safely modifying legacy code with AI assistance</a:t>
            </a:r>
          </a:p>
        </p:txBody>
      </p:sp>
      <p:sp>
        <p:nvSpPr>
          <p:cNvPr id="4" name="Slide Number Placeholder 3"/>
          <p:cNvSpPr>
            <a:spLocks noGrp="1"/>
          </p:cNvSpPr>
          <p:nvPr>
            <p:ph type="sldNum" sz="quarter" idx="10"/>
          </p:nvPr>
        </p:nvSpPr>
        <p:spPr/>
        <p:txBody>
          <a:bodyPr/>
          <a:lstStyle/>
          <a:p>
            <a:fld id="{18BDFEC3-8487-43E8-A154-7C12CBC1FFF2}" type="slidenum">
              <a:rPr lang="en-US"/>
              <a:t>34</a:t>
            </a:fld>
            <a:endParaRPr lang="en-US"/>
          </a:p>
        </p:txBody>
      </p:sp>
    </p:spTree>
  </p:cSld>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Speaker Notes:</a:t>
            </a:r>
          </a:p>
          <a:p>
            <a:pPr lvl="0" indent="0" marL="0">
              <a:buNone/>
            </a:pPr>
          </a:p>
          <a:p>
            <a:pPr lvl="0" indent="0" marL="0">
              <a:buNone/>
            </a:pPr>
            <a:r>
              <a:rPr/>
              <a:t>A zip with the slides, examples, demos will be provided after the course</a:t>
            </a:r>
          </a:p>
        </p:txBody>
      </p:sp>
      <p:sp>
        <p:nvSpPr>
          <p:cNvPr id="4" name="Slide Number Placeholder 3"/>
          <p:cNvSpPr>
            <a:spLocks noGrp="1"/>
          </p:cNvSpPr>
          <p:nvPr>
            <p:ph type="sldNum" sz="quarter" idx="10"/>
          </p:nvPr>
        </p:nvSpPr>
        <p:spPr/>
        <p:txBody>
          <a:bodyPr/>
          <a:lstStyle/>
          <a:p>
            <a:fld id="{18BDFEC3-8487-43E8-A154-7C12CBC1FFF2}" type="slidenum">
              <a:rPr lang="en-US"/>
              <a:t>36</a:t>
            </a:fld>
            <a:endParaRPr lang="en-US"/>
          </a:p>
        </p:txBody>
      </p:sp>
    </p:spTree>
  </p:cSld>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Try this in quick chat:</a:t>
            </a:r>
          </a:p>
          <a:p>
            <a:pPr lvl="0" indent="0" marL="0">
              <a:buNone/>
            </a:pPr>
          </a:p>
          <a:p>
            <a:pPr lvl="0"/>
            <a:r>
              <a:rPr/>
              <a:t>“what are three definitions of legacy code?”</a:t>
            </a:r>
          </a:p>
          <a:p>
            <a:pPr lvl="0" indent="0" marL="0">
              <a:buNone/>
            </a:pPr>
          </a:p>
          <a:p>
            <a:pPr lvl="0"/>
            <a:r>
              <a:rPr/>
              <a:t>“what are 10 definitions of legacy code?”</a:t>
            </a:r>
          </a:p>
          <a:p>
            <a:pPr lvl="0" indent="0" marL="0">
              <a:buNone/>
            </a:pPr>
          </a:p>
          <a:p>
            <a:pPr lvl="0"/>
            <a:r>
              <a:rPr/>
              <a:t>“what are 25 definitions of legacy code?”</a:t>
            </a:r>
          </a:p>
          <a:p>
            <a:pPr lvl="0" indent="0" marL="0">
              <a:buNone/>
            </a:pPr>
          </a:p>
          <a:p>
            <a:pPr lvl="0" indent="0" marL="0">
              <a:buNone/>
            </a:pPr>
            <a:r>
              <a:rPr/>
              <a:t>Ask the audience: “Who recognizes these definitions in their work?”</a:t>
            </a:r>
          </a:p>
          <a:p>
            <a:pPr lvl="0" indent="0" marL="0">
              <a:buNone/>
            </a:pPr>
          </a:p>
          <a:p>
            <a:pPr lvl="0" indent="0" marL="0">
              <a:buNone/>
            </a:pPr>
            <a:r>
              <a:rPr/>
              <a:t>Encourage discussion about their experiences with legacy code.</a:t>
            </a:r>
          </a:p>
        </p:txBody>
      </p:sp>
      <p:sp>
        <p:nvSpPr>
          <p:cNvPr id="4" name="Slide Number Placeholder 3"/>
          <p:cNvSpPr>
            <a:spLocks noGrp="1"/>
          </p:cNvSpPr>
          <p:nvPr>
            <p:ph type="sldNum" sz="quarter" idx="10"/>
          </p:nvPr>
        </p:nvSpPr>
        <p:spPr/>
        <p:txBody>
          <a:bodyPr/>
          <a:lstStyle/>
          <a:p>
            <a:fld id="{18BDFEC3-8487-43E8-A154-7C12CBC1FFF2}" type="slidenum">
              <a:rPr lang="en-US"/>
              <a:t>37</a:t>
            </a:fld>
            <a:endParaRPr lang="en-US"/>
          </a:p>
        </p:txBody>
      </p:sp>
    </p:spTree>
  </p:cSld>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Explain greenfield characteristics and why “not legacy” is rare at scale.</a:t>
            </a:r>
          </a:p>
        </p:txBody>
      </p:sp>
      <p:sp>
        <p:nvSpPr>
          <p:cNvPr id="4" name="Slide Number Placeholder 3"/>
          <p:cNvSpPr>
            <a:spLocks noGrp="1"/>
          </p:cNvSpPr>
          <p:nvPr>
            <p:ph type="sldNum" sz="quarter" idx="10"/>
          </p:nvPr>
        </p:nvSpPr>
        <p:spPr/>
        <p:txBody>
          <a:bodyPr/>
          <a:lstStyle/>
          <a:p>
            <a:fld id="{18BDFEC3-8487-43E8-A154-7C12CBC1FFF2}" type="slidenum">
              <a:rPr lang="en-US"/>
              <a:t>38</a:t>
            </a:fld>
            <a:endParaRPr lang="en-US"/>
          </a:p>
        </p:txBody>
      </p:sp>
    </p:spTree>
  </p:cSld>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Discuss drivers of decay (tech, people, rules) and give a brief example.</a:t>
            </a:r>
          </a:p>
        </p:txBody>
      </p:sp>
      <p:sp>
        <p:nvSpPr>
          <p:cNvPr id="4" name="Slide Number Placeholder 3"/>
          <p:cNvSpPr>
            <a:spLocks noGrp="1"/>
          </p:cNvSpPr>
          <p:nvPr>
            <p:ph type="sldNum" sz="quarter" idx="10"/>
          </p:nvPr>
        </p:nvSpPr>
        <p:spPr/>
        <p:txBody>
          <a:bodyPr/>
          <a:lstStyle/>
          <a:p>
            <a:fld id="{18BDFEC3-8487-43E8-A154-7C12CBC1FFF2}" type="slidenum">
              <a:rPr lang="en-US"/>
              <a:t>39</a:t>
            </a:fld>
            <a:endParaRPr lang="en-US"/>
          </a:p>
        </p:txBody>
      </p:sp>
    </p:spTree>
  </p:cSld>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Describe evergreen goals: maintainability, minimal debt, and consistent patterns.</a:t>
            </a:r>
          </a:p>
        </p:txBody>
      </p:sp>
      <p:sp>
        <p:nvSpPr>
          <p:cNvPr id="4" name="Slide Number Placeholder 3"/>
          <p:cNvSpPr>
            <a:spLocks noGrp="1"/>
          </p:cNvSpPr>
          <p:nvPr>
            <p:ph type="sldNum" sz="quarter" idx="10"/>
          </p:nvPr>
        </p:nvSpPr>
        <p:spPr/>
        <p:txBody>
          <a:bodyPr/>
          <a:lstStyle/>
          <a:p>
            <a:fld id="{18BDFEC3-8487-43E8-A154-7C12CBC1FFF2}" type="slidenum">
              <a:rPr lang="en-US"/>
              <a:t>40</a:t>
            </a:fld>
            <a:endParaRPr lang="en-US"/>
          </a:p>
        </p:txBody>
      </p:sp>
    </p:spTree>
  </p:cSld>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Emphasize safety-first approach: back up, test, and validate before large changes.</a:t>
            </a:r>
          </a:p>
        </p:txBody>
      </p:sp>
      <p:sp>
        <p:nvSpPr>
          <p:cNvPr id="4" name="Slide Number Placeholder 3"/>
          <p:cNvSpPr>
            <a:spLocks noGrp="1"/>
          </p:cNvSpPr>
          <p:nvPr>
            <p:ph type="sldNum" sz="quarter" idx="10"/>
          </p:nvPr>
        </p:nvSpPr>
        <p:spPr/>
        <p:txBody>
          <a:bodyPr/>
          <a:lstStyle/>
          <a:p>
            <a:fld id="{18BDFEC3-8487-43E8-A154-7C12CBC1FFF2}" type="slidenum">
              <a:rPr lang="en-US"/>
              <a:t>41</a:t>
            </a:fld>
            <a:endParaRPr lang="en-US"/>
          </a:p>
        </p:txBody>
      </p:sp>
    </p:spTree>
  </p:cSld>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Checklist: backups, testing strategy, and rollback plan before using AI to modify critical code.</a:t>
            </a:r>
          </a:p>
        </p:txBody>
      </p:sp>
      <p:sp>
        <p:nvSpPr>
          <p:cNvPr id="4" name="Slide Number Placeholder 3"/>
          <p:cNvSpPr>
            <a:spLocks noGrp="1"/>
          </p:cNvSpPr>
          <p:nvPr>
            <p:ph type="sldNum" sz="quarter" idx="10"/>
          </p:nvPr>
        </p:nvSpPr>
        <p:spPr/>
        <p:txBody>
          <a:bodyPr/>
          <a:lstStyle/>
          <a:p>
            <a:fld id="{18BDFEC3-8487-43E8-A154-7C12CBC1FFF2}" type="slidenum">
              <a:rPr lang="en-US"/>
              <a:t>42</a:t>
            </a:fld>
            <a:endParaRPr lang="en-US"/>
          </a:p>
        </p:txBody>
      </p:sp>
    </p:spTree>
  </p:cSld>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Treat Copilot as a junior dev: give clear tasks, review output, and enforce style guidelines.</a:t>
            </a:r>
          </a:p>
        </p:txBody>
      </p:sp>
      <p:sp>
        <p:nvSpPr>
          <p:cNvPr id="4" name="Slide Number Placeholder 3"/>
          <p:cNvSpPr>
            <a:spLocks noGrp="1"/>
          </p:cNvSpPr>
          <p:nvPr>
            <p:ph type="sldNum" sz="quarter" idx="10"/>
          </p:nvPr>
        </p:nvSpPr>
        <p:spPr/>
        <p:txBody>
          <a:bodyPr/>
          <a:lstStyle/>
          <a:p>
            <a:fld id="{18BDFEC3-8487-43E8-A154-7C12CBC1FFF2}" type="slidenum">
              <a:rPr lang="en-US"/>
              <a:t>43</a:t>
            </a:fld>
            <a:endParaRPr lang="en-US"/>
          </a:p>
        </p:txBody>
      </p:sp>
    </p:spTree>
  </p:cSld>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Explain instruction files purpose and show examples of project-level guidance.</a:t>
            </a:r>
          </a:p>
        </p:txBody>
      </p:sp>
      <p:sp>
        <p:nvSpPr>
          <p:cNvPr id="4" name="Slide Number Placeholder 3"/>
          <p:cNvSpPr>
            <a:spLocks noGrp="1"/>
          </p:cNvSpPr>
          <p:nvPr>
            <p:ph type="sldNum" sz="quarter" idx="10"/>
          </p:nvPr>
        </p:nvSpPr>
        <p:spPr/>
        <p:txBody>
          <a:bodyPr/>
          <a:lstStyle/>
          <a:p>
            <a:fld id="{18BDFEC3-8487-43E8-A154-7C12CBC1FFF2}" type="slidenum">
              <a:rPr lang="en-US"/>
              <a:t>44</a:t>
            </a:fld>
            <a:endParaRPr lang="en-US"/>
          </a:p>
        </p:txBody>
      </p:sp>
    </p:spTree>
  </p:cSld>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Point out file locations and naming conventions; advise on consistent team distribution.</a:t>
            </a:r>
          </a:p>
        </p:txBody>
      </p:sp>
      <p:sp>
        <p:nvSpPr>
          <p:cNvPr id="4" name="Slide Number Placeholder 3"/>
          <p:cNvSpPr>
            <a:spLocks noGrp="1"/>
          </p:cNvSpPr>
          <p:nvPr>
            <p:ph type="sldNum" sz="quarter" idx="10"/>
          </p:nvPr>
        </p:nvSpPr>
        <p:spPr/>
        <p:txBody>
          <a:bodyPr/>
          <a:lstStyle/>
          <a:p>
            <a:fld id="{18BDFEC3-8487-43E8-A154-7C12CBC1FFF2}" type="slidenum">
              <a:rPr lang="en-US"/>
              <a:t>45</a:t>
            </a:fld>
            <a:endParaRPr lang="en-US"/>
          </a:p>
        </p:txBody>
      </p:sp>
    </p:spTree>
  </p:cSld>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Show prompts and workflow to generate and maintain instruction files with Copilot.</a:t>
            </a:r>
          </a:p>
        </p:txBody>
      </p:sp>
      <p:sp>
        <p:nvSpPr>
          <p:cNvPr id="4" name="Slide Number Placeholder 3"/>
          <p:cNvSpPr>
            <a:spLocks noGrp="1"/>
          </p:cNvSpPr>
          <p:nvPr>
            <p:ph type="sldNum" sz="quarter" idx="10"/>
          </p:nvPr>
        </p:nvSpPr>
        <p:spPr/>
        <p:txBody>
          <a:bodyPr/>
          <a:lstStyle/>
          <a:p>
            <a:fld id="{18BDFEC3-8487-43E8-A154-7C12CBC1FFF2}" type="slidenum">
              <a:rPr lang="en-US"/>
              <a:t>46</a:t>
            </a:fld>
            <a:endParaRPr lang="en-US"/>
          </a:p>
        </p:txBody>
      </p:sp>
    </p:spTree>
  </p:cSld>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Task: manually author then use Copilot to refine; review for inconsistencies and policy gaps.</a:t>
            </a:r>
          </a:p>
        </p:txBody>
      </p:sp>
      <p:sp>
        <p:nvSpPr>
          <p:cNvPr id="4" name="Slide Number Placeholder 3"/>
          <p:cNvSpPr>
            <a:spLocks noGrp="1"/>
          </p:cNvSpPr>
          <p:nvPr>
            <p:ph type="sldNum" sz="quarter" idx="10"/>
          </p:nvPr>
        </p:nvSpPr>
        <p:spPr/>
        <p:txBody>
          <a:bodyPr/>
          <a:lstStyle/>
          <a:p>
            <a:fld id="{18BDFEC3-8487-43E8-A154-7C12CBC1FFF2}" type="slidenum">
              <a:rPr lang="en-US"/>
              <a:t>47</a:t>
            </a:fld>
            <a:endParaRPr lang="en-US"/>
          </a:p>
        </p:txBody>
      </p:sp>
    </p:spTree>
  </p:cSld>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Demonstrate generating architecture summaries, README updates, and code explanations with AI.</a:t>
            </a:r>
          </a:p>
        </p:txBody>
      </p:sp>
      <p:sp>
        <p:nvSpPr>
          <p:cNvPr id="4" name="Slide Number Placeholder 3"/>
          <p:cNvSpPr>
            <a:spLocks noGrp="1"/>
          </p:cNvSpPr>
          <p:nvPr>
            <p:ph type="sldNum" sz="quarter" idx="10"/>
          </p:nvPr>
        </p:nvSpPr>
        <p:spPr/>
        <p:txBody>
          <a:bodyPr/>
          <a:lstStyle/>
          <a:p>
            <a:fld id="{18BDFEC3-8487-43E8-A154-7C12CBC1FFF2}" type="slidenum">
              <a:rPr lang="en-US"/>
              <a:t>48</a:t>
            </a:fld>
            <a:endParaRPr lang="en-US"/>
          </a:p>
        </p:txBody>
      </p:sp>
    </p:spTree>
  </p:cSld>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Task instructions: use Copilot to produce docs, run quick verification, and iterate.</a:t>
            </a:r>
          </a:p>
        </p:txBody>
      </p:sp>
      <p:sp>
        <p:nvSpPr>
          <p:cNvPr id="4" name="Slide Number Placeholder 3"/>
          <p:cNvSpPr>
            <a:spLocks noGrp="1"/>
          </p:cNvSpPr>
          <p:nvPr>
            <p:ph type="sldNum" sz="quarter" idx="10"/>
          </p:nvPr>
        </p:nvSpPr>
        <p:spPr/>
        <p:txBody>
          <a:bodyPr/>
          <a:lstStyle/>
          <a:p>
            <a:fld id="{18BDFEC3-8487-43E8-A154-7C12CBC1FFF2}" type="slidenum">
              <a:rPr lang="en-US"/>
              <a:t>49</a:t>
            </a:fld>
            <a:endParaRPr lang="en-US"/>
          </a:p>
        </p:txBody>
      </p:sp>
    </p:spTree>
  </p:cSld>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Focus: building safety nets (linting, tests) and using AI for improvements without breaking behavior.</a:t>
            </a:r>
          </a:p>
        </p:txBody>
      </p:sp>
      <p:sp>
        <p:nvSpPr>
          <p:cNvPr id="4" name="Slide Number Placeholder 3"/>
          <p:cNvSpPr>
            <a:spLocks noGrp="1"/>
          </p:cNvSpPr>
          <p:nvPr>
            <p:ph type="sldNum" sz="quarter" idx="10"/>
          </p:nvPr>
        </p:nvSpPr>
        <p:spPr/>
        <p:txBody>
          <a:bodyPr/>
          <a:lstStyle/>
          <a:p>
            <a:fld id="{18BDFEC3-8487-43E8-A154-7C12CBC1FFF2}" type="slidenum">
              <a:rPr lang="en-US"/>
              <a:t>54</a:t>
            </a:fld>
            <a:endParaRPr lang="en-US"/>
          </a:p>
        </p:txBody>
      </p:sp>
    </p:spTree>
  </p:cSld>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Generate unit and integration tests with Copilot, then run to validate behavior and coverage.</a:t>
            </a:r>
          </a:p>
        </p:txBody>
      </p:sp>
      <p:sp>
        <p:nvSpPr>
          <p:cNvPr id="4" name="Slide Number Placeholder 3"/>
          <p:cNvSpPr>
            <a:spLocks noGrp="1"/>
          </p:cNvSpPr>
          <p:nvPr>
            <p:ph type="sldNum" sz="quarter" idx="10"/>
          </p:nvPr>
        </p:nvSpPr>
        <p:spPr/>
        <p:txBody>
          <a:bodyPr/>
          <a:lstStyle/>
          <a:p>
            <a:fld id="{18BDFEC3-8487-43E8-A154-7C12CBC1FFF2}" type="slidenum">
              <a:rPr lang="en-US"/>
              <a:t>55</a:t>
            </a:fld>
            <a:endParaRPr lang="en-US"/>
          </a:p>
        </p:txBody>
      </p:sp>
    </p:spTree>
  </p:cSld>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Show how to compare implementation against instruction files and produce actionable issues.</a:t>
            </a:r>
          </a:p>
        </p:txBody>
      </p:sp>
      <p:sp>
        <p:nvSpPr>
          <p:cNvPr id="4" name="Slide Number Placeholder 3"/>
          <p:cNvSpPr>
            <a:spLocks noGrp="1"/>
          </p:cNvSpPr>
          <p:nvPr>
            <p:ph type="sldNum" sz="quarter" idx="10"/>
          </p:nvPr>
        </p:nvSpPr>
        <p:spPr/>
        <p:txBody>
          <a:bodyPr/>
          <a:lstStyle/>
          <a:p>
            <a:fld id="{18BDFEC3-8487-43E8-A154-7C12CBC1FFF2}" type="slidenum">
              <a:rPr lang="en-US"/>
              <a:t>56</a:t>
            </a:fld>
            <a:endParaRPr lang="en-US"/>
          </a:p>
        </p:txBody>
      </p:sp>
    </p:spTree>
  </p:cSld>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Hands-on: craft prompts to find deviations and export findings to tickets for triage.</a:t>
            </a:r>
          </a:p>
        </p:txBody>
      </p:sp>
      <p:sp>
        <p:nvSpPr>
          <p:cNvPr id="4" name="Slide Number Placeholder 3"/>
          <p:cNvSpPr>
            <a:spLocks noGrp="1"/>
          </p:cNvSpPr>
          <p:nvPr>
            <p:ph type="sldNum" sz="quarter" idx="10"/>
          </p:nvPr>
        </p:nvSpPr>
        <p:spPr/>
        <p:txBody>
          <a:bodyPr/>
          <a:lstStyle/>
          <a:p>
            <a:fld id="{18BDFEC3-8487-43E8-A154-7C12CBC1FFF2}" type="slidenum">
              <a:rPr lang="en-US"/>
              <a:t>57</a:t>
            </a:fld>
            <a:endParaRPr lang="en-US"/>
          </a:p>
        </p:txBody>
      </p:sp>
    </p:spTree>
  </p:cSld>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Create a remediation plan, implement in a branch, and validate with tests and reviews.</a:t>
            </a:r>
          </a:p>
        </p:txBody>
      </p:sp>
      <p:sp>
        <p:nvSpPr>
          <p:cNvPr id="4" name="Slide Number Placeholder 3"/>
          <p:cNvSpPr>
            <a:spLocks noGrp="1"/>
          </p:cNvSpPr>
          <p:nvPr>
            <p:ph type="sldNum" sz="quarter" idx="10"/>
          </p:nvPr>
        </p:nvSpPr>
        <p:spPr/>
        <p:txBody>
          <a:bodyPr/>
          <a:lstStyle/>
          <a:p>
            <a:fld id="{18BDFEC3-8487-43E8-A154-7C12CBC1FFF2}" type="slidenum">
              <a:rPr lang="en-US"/>
              <a:t>58</a:t>
            </a:fld>
            <a:endParaRPr lang="en-US"/>
          </a:p>
        </p:txBody>
      </p:sp>
    </p:spTree>
  </p:cSld>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Run the same change using multiple models and compare outcomes for quality and maintainability.</a:t>
            </a:r>
          </a:p>
        </p:txBody>
      </p:sp>
      <p:sp>
        <p:nvSpPr>
          <p:cNvPr id="4" name="Slide Number Placeholder 3"/>
          <p:cNvSpPr>
            <a:spLocks noGrp="1"/>
          </p:cNvSpPr>
          <p:nvPr>
            <p:ph type="sldNum" sz="quarter" idx="10"/>
          </p:nvPr>
        </p:nvSpPr>
        <p:spPr/>
        <p:txBody>
          <a:bodyPr/>
          <a:lstStyle/>
          <a:p>
            <a:fld id="{18BDFEC3-8487-43E8-A154-7C12CBC1FFF2}" type="slidenum">
              <a:rPr lang="en-US"/>
              <a:t>59</a:t>
            </a:fld>
            <a:endParaRPr lang="en-US"/>
          </a:p>
        </p:txBody>
      </p:sp>
    </p:spTree>
  </p:cSld>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Practical: create branches per model, implement changes, run comparisons, and document differences.</a:t>
            </a:r>
          </a:p>
        </p:txBody>
      </p:sp>
      <p:sp>
        <p:nvSpPr>
          <p:cNvPr id="4" name="Slide Number Placeholder 3"/>
          <p:cNvSpPr>
            <a:spLocks noGrp="1"/>
          </p:cNvSpPr>
          <p:nvPr>
            <p:ph type="sldNum" sz="quarter" idx="10"/>
          </p:nvPr>
        </p:nvSpPr>
        <p:spPr/>
        <p:txBody>
          <a:bodyPr/>
          <a:lstStyle/>
          <a:p>
            <a:fld id="{18BDFEC3-8487-43E8-A154-7C12CBC1FFF2}" type="slidenum">
              <a:rPr lang="en-US"/>
              <a:t>60</a:t>
            </a:fld>
            <a:endParaRPr lang="en-US"/>
          </a:p>
        </p:txBody>
      </p:sp>
    </p:spTree>
  </p:cSld>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Shift to greenfield best practices: requirements, prompts, and verification workflows.</a:t>
            </a:r>
          </a:p>
        </p:txBody>
      </p:sp>
      <p:sp>
        <p:nvSpPr>
          <p:cNvPr id="4" name="Slide Number Placeholder 3"/>
          <p:cNvSpPr>
            <a:spLocks noGrp="1"/>
          </p:cNvSpPr>
          <p:nvPr>
            <p:ph type="sldNum" sz="quarter" idx="10"/>
          </p:nvPr>
        </p:nvSpPr>
        <p:spPr/>
        <p:txBody>
          <a:bodyPr/>
          <a:lstStyle/>
          <a:p>
            <a:fld id="{18BDFEC3-8487-43E8-A154-7C12CBC1FFF2}" type="slidenum">
              <a:rPr lang="en-US"/>
              <a:t>63</a:t>
            </a:fld>
            <a:endParaRPr lang="en-US"/>
          </a:p>
        </p:txBody>
      </p:sp>
    </p:spTree>
  </p:cSld>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Author requirement docs, then use Copilot to generate scaffolding and validate alignment.</a:t>
            </a:r>
          </a:p>
        </p:txBody>
      </p:sp>
      <p:sp>
        <p:nvSpPr>
          <p:cNvPr id="4" name="Slide Number Placeholder 3"/>
          <p:cNvSpPr>
            <a:spLocks noGrp="1"/>
          </p:cNvSpPr>
          <p:nvPr>
            <p:ph type="sldNum" sz="quarter" idx="10"/>
          </p:nvPr>
        </p:nvSpPr>
        <p:spPr/>
        <p:txBody>
          <a:bodyPr/>
          <a:lstStyle/>
          <a:p>
            <a:fld id="{18BDFEC3-8487-43E8-A154-7C12CBC1FFF2}" type="slidenum">
              <a:rPr lang="en-US"/>
              <a:t>64</a:t>
            </a:fld>
            <a:endParaRPr lang="en-US"/>
          </a:p>
        </p:txBody>
      </p:sp>
    </p:spTree>
  </p:cSld>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Clarify what instruction files are and how to keep them relevant to the codebase.</a:t>
            </a:r>
          </a:p>
        </p:txBody>
      </p:sp>
      <p:sp>
        <p:nvSpPr>
          <p:cNvPr id="4" name="Slide Number Placeholder 3"/>
          <p:cNvSpPr>
            <a:spLocks noGrp="1"/>
          </p:cNvSpPr>
          <p:nvPr>
            <p:ph type="sldNum" sz="quarter" idx="10"/>
          </p:nvPr>
        </p:nvSpPr>
        <p:spPr/>
        <p:txBody>
          <a:bodyPr/>
          <a:lstStyle/>
          <a:p>
            <a:fld id="{18BDFEC3-8487-43E8-A154-7C12CBC1FFF2}" type="slidenum">
              <a:rPr lang="en-US"/>
              <a:t>65</a:t>
            </a:fld>
            <a:endParaRPr lang="en-US"/>
          </a:p>
        </p:txBody>
      </p:sp>
    </p:spTree>
  </p:cSld>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Final day: custom chat modes, verification prompts, and wrap-up exercises.</a:t>
            </a:r>
          </a:p>
        </p:txBody>
      </p:sp>
      <p:sp>
        <p:nvSpPr>
          <p:cNvPr id="4" name="Slide Number Placeholder 3"/>
          <p:cNvSpPr>
            <a:spLocks noGrp="1"/>
          </p:cNvSpPr>
          <p:nvPr>
            <p:ph type="sldNum" sz="quarter" idx="10"/>
          </p:nvPr>
        </p:nvSpPr>
        <p:spPr/>
        <p:txBody>
          <a:bodyPr/>
          <a:lstStyle/>
          <a:p>
            <a:fld id="{18BDFEC3-8487-43E8-A154-7C12CBC1FFF2}" type="slidenum">
              <a:rPr lang="en-US"/>
              <a:t>67</a:t>
            </a:fld>
            <a:endParaRPr lang="en-US"/>
          </a:p>
        </p:txBody>
      </p:sp>
    </p:spTree>
  </p:cSld>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Generate both project-specific and generic instructions; review and iterate.</a:t>
            </a:r>
          </a:p>
        </p:txBody>
      </p:sp>
      <p:sp>
        <p:nvSpPr>
          <p:cNvPr id="4" name="Slide Number Placeholder 3"/>
          <p:cNvSpPr>
            <a:spLocks noGrp="1"/>
          </p:cNvSpPr>
          <p:nvPr>
            <p:ph type="sldNum" sz="quarter" idx="10"/>
          </p:nvPr>
        </p:nvSpPr>
        <p:spPr/>
        <p:txBody>
          <a:bodyPr/>
          <a:lstStyle/>
          <a:p>
            <a:fld id="{18BDFEC3-8487-43E8-A154-7C12CBC1FFF2}" type="slidenum">
              <a:rPr lang="en-US"/>
              <a:t>68</a:t>
            </a:fld>
            <a:endParaRPr lang="en-US"/>
          </a:p>
        </p:txBody>
      </p:sp>
    </p:spTree>
  </p:cSld>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Discuss persona design, safe command lists, and agent.json structure for safe automation.</a:t>
            </a:r>
          </a:p>
        </p:txBody>
      </p:sp>
      <p:sp>
        <p:nvSpPr>
          <p:cNvPr id="4" name="Slide Number Placeholder 3"/>
          <p:cNvSpPr>
            <a:spLocks noGrp="1"/>
          </p:cNvSpPr>
          <p:nvPr>
            <p:ph type="sldNum" sz="quarter" idx="10"/>
          </p:nvPr>
        </p:nvSpPr>
        <p:spPr/>
        <p:txBody>
          <a:bodyPr/>
          <a:lstStyle/>
          <a:p>
            <a:fld id="{18BDFEC3-8487-43E8-A154-7C12CBC1FFF2}" type="slidenum">
              <a:rPr lang="en-US"/>
              <a:t>69</a:t>
            </a:fld>
            <a:endParaRPr lang="en-US"/>
          </a:p>
        </p:txBody>
      </p:sp>
    </p:spTree>
  </p:cSld>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Practical steps: define personas, implement agent.json, and test allowed actions in a sandbox.</a:t>
            </a:r>
          </a:p>
        </p:txBody>
      </p:sp>
      <p:sp>
        <p:nvSpPr>
          <p:cNvPr id="4" name="Slide Number Placeholder 3"/>
          <p:cNvSpPr>
            <a:spLocks noGrp="1"/>
          </p:cNvSpPr>
          <p:nvPr>
            <p:ph type="sldNum" sz="quarter" idx="10"/>
          </p:nvPr>
        </p:nvSpPr>
        <p:spPr/>
        <p:txBody>
          <a:bodyPr/>
          <a:lstStyle/>
          <a:p>
            <a:fld id="{18BDFEC3-8487-43E8-A154-7C12CBC1FFF2}" type="slidenum">
              <a:rPr lang="en-US"/>
              <a:t>70</a:t>
            </a:fld>
            <a:endParaRPr lang="en-US"/>
          </a:p>
        </p:txBody>
      </p:sp>
    </p:spTree>
  </p:cSld>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Teach how to craft reproducible prompts and verification checks to validate generated code.</a:t>
            </a:r>
          </a:p>
        </p:txBody>
      </p:sp>
      <p:sp>
        <p:nvSpPr>
          <p:cNvPr id="4" name="Slide Number Placeholder 3"/>
          <p:cNvSpPr>
            <a:spLocks noGrp="1"/>
          </p:cNvSpPr>
          <p:nvPr>
            <p:ph type="sldNum" sz="quarter" idx="10"/>
          </p:nvPr>
        </p:nvSpPr>
        <p:spPr/>
        <p:txBody>
          <a:bodyPr/>
          <a:lstStyle/>
          <a:p>
            <a:fld id="{18BDFEC3-8487-43E8-A154-7C12CBC1FFF2}" type="slidenum">
              <a:rPr lang="en-US"/>
              <a:t>71</a:t>
            </a:fld>
            <a:endParaRPr lang="en-US"/>
          </a:p>
        </p:txBody>
      </p:sp>
    </p:spTree>
  </p:cSld>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Execute prompts in custom modes, verify outputs, and refine prompts based on failures.</a:t>
            </a:r>
          </a:p>
        </p:txBody>
      </p:sp>
      <p:sp>
        <p:nvSpPr>
          <p:cNvPr id="4" name="Slide Number Placeholder 3"/>
          <p:cNvSpPr>
            <a:spLocks noGrp="1"/>
          </p:cNvSpPr>
          <p:nvPr>
            <p:ph type="sldNum" sz="quarter" idx="10"/>
          </p:nvPr>
        </p:nvSpPr>
        <p:spPr/>
        <p:txBody>
          <a:bodyPr/>
          <a:lstStyle/>
          <a:p>
            <a:fld id="{18BDFEC3-8487-43E8-A154-7C12CBC1FFF2}" type="slidenum">
              <a:rPr lang="en-US"/>
              <a:t>72</a:t>
            </a:fld>
            <a:endParaRPr lang="en-US"/>
          </a:p>
        </p:txBody>
      </p:sp>
    </p:spTree>
  </p:cSld>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Summarize key takeaways, next steps, and open the floor for questions and feedback.</a:t>
            </a:r>
          </a:p>
        </p:txBody>
      </p:sp>
      <p:sp>
        <p:nvSpPr>
          <p:cNvPr id="4" name="Slide Number Placeholder 3"/>
          <p:cNvSpPr>
            <a:spLocks noGrp="1"/>
          </p:cNvSpPr>
          <p:nvPr>
            <p:ph type="sldNum" sz="quarter" idx="10"/>
          </p:nvPr>
        </p:nvSpPr>
        <p:spPr/>
        <p:txBody>
          <a:bodyPr/>
          <a:lstStyle/>
          <a:p>
            <a:fld id="{18BDFEC3-8487-43E8-A154-7C12CBC1FFF2}" type="slidenum">
              <a:rPr lang="en-US"/>
              <a:t>73</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0.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1.xml" /><Relationship Id="rId3" Type="http://schemas.openxmlformats.org/officeDocument/2006/relationships/hyperlink" Target="LLM-Architecture-Diagram.png" TargetMode="Externa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2.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3.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4.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5.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6.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7.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8.xml" /><Relationship Id="rId3" Type="http://schemas.openxmlformats.org/officeDocument/2006/relationships/hyperlink" Target="https://docs.github.com/en/copilot/overview/copilot-terms-of-service" TargetMode="External" /><Relationship Id="rId4" Type="http://schemas.openxmlformats.org/officeDocument/2006/relationships/hyperlink" Target="https://privacy.microsoft.com/en-us/privacystatement" TargetMode="Externa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9.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0.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1.xml" /><Relationship Id="rId3" Type="http://schemas.openxmlformats.org/officeDocument/2006/relationships/hyperlink" Target="https://docs.github.com/en/copilot" TargetMode="External" /><Relationship Id="rId4" Type="http://schemas.openxmlformats.org/officeDocument/2006/relationships/hyperlink" Target="https://github.com/features/copilot-for-business" TargetMode="External" /><Relationship Id="rId5" Type="http://schemas.openxmlformats.org/officeDocument/2006/relationships/hyperlink" Target="https://docs.github.com/en/copilot/security" TargetMode="External"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2.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3.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4.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5.xml"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6.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7.xml" /></Relationships>
</file>

<file path=ppt/slides/_rels/slide3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8.xml" /></Relationships>
</file>

<file path=ppt/slides/_rels/slide3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9.xml" /></Relationships>
</file>

<file path=ppt/slides/_rels/slide3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0.xml" /><Relationship Id="rId3" Type="http://schemas.openxmlformats.org/officeDocument/2006/relationships/hyperlink" Target="https://archive.org/details/working-effectively-with-legacy-code" TargetMode="External" /></Relationships>
</file>

<file path=ppt/slides/_rels/slide3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1.xml" /></Relationships>
</file>

<file path=ppt/slides/_rels/slide3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2.xml" /></Relationships>
</file>

<file path=ppt/slides/_rels/slide3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3.xml" /></Relationships>
</file>

<file path=ppt/slides/_rels/slide3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4.xml" /></Relationships>
</file>

<file path=ppt/slides/_rels/slide4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5.xml" /></Relationships>
</file>

<file path=ppt/slides/_rels/slide4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6.xml" /></Relationships>
</file>

<file path=ppt/slides/_rels/slide4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7.xml" /></Relationships>
</file>

<file path=ppt/slides/_rels/slide4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8.xml" /></Relationships>
</file>

<file path=ppt/slides/_rels/slide4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9.xml" /></Relationships>
</file>

<file path=ppt/slides/_rels/slide4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0.xml" /></Relationships>
</file>

<file path=ppt/slides/_rels/slide4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1.xml" /></Relationships>
</file>

<file path=ppt/slides/_rels/slide4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2.xml" /></Relationships>
</file>

<file path=ppt/slides/_rels/slide4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3.xml" /></Relationships>
</file>

<file path=ppt/slides/_rels/slide4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4.xml" /></Relationships>
</file>

<file path=ppt/slides/_rels/slide5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2.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5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5.xml" /></Relationships>
</file>

<file path=ppt/slides/_rels/slide5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6.xml" /></Relationships>
</file>

<file path=ppt/slides/_rels/slide5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7.xml" /></Relationships>
</file>

<file path=ppt/slides/_rels/slide5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8.xml" /></Relationships>
</file>

<file path=ppt/slides/_rels/slide5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9.xml" /></Relationships>
</file>

<file path=ppt/slides/_rels/slide5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0.xml" /></Relationships>
</file>

<file path=ppt/slides/_rels/slide6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1.xml" /></Relationships>
</file>

<file path=ppt/slides/_rels/slide61.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6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2.xml" /></Relationships>
</file>

<file path=ppt/slides/_rels/slide6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3.xml" /></Relationships>
</file>

<file path=ppt/slides/_rels/slide6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4.xml" /></Relationships>
</file>

<file path=ppt/slides/_rels/slide66.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6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5.xml" /></Relationships>
</file>

<file path=ppt/slides/_rels/slide6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6.xml" /></Relationships>
</file>

<file path=ppt/slides/_rels/slide6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7.xml" /></Relationships>
</file>

<file path=ppt/slides/_rels/slide7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8.xml" /></Relationships>
</file>

<file path=ppt/slides/_rels/slide7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9.xml" /></Relationships>
</file>

<file path=ppt/slides/_rels/slide7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0.xml" /></Relationships>
</file>

<file path=ppt/slides/_rels/slide7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1.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AI Assisted Software Development</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John Michael Miller</a:t>
            </a:r>
          </a:p>
        </p:txBody>
      </p:sp>
      <p:sp>
        <p:nvSpPr>
          <p:cNvPr id="3" name="Content Placeholder 2"/>
          <p:cNvSpPr>
            <a:spLocks noGrp="1"/>
          </p:cNvSpPr>
          <p:nvPr>
            <p:ph idx="1"/>
          </p:nvPr>
        </p:nvSpPr>
        <p:spPr/>
        <p:txBody>
          <a:bodyPr/>
          <a:lstStyle/>
          <a:p>
            <a:pPr lvl="0" indent="0" marL="0">
              <a:buNone/>
            </a:pPr>
            <a:r>
              <a:rPr/>
              <a:t>Senior Software Engineer at Code Staffing</a:t>
            </a:r>
          </a:p>
          <a:p>
            <a:pPr lvl="0" indent="0" marL="0">
              <a:buNone/>
            </a:pPr>
            <a:r>
              <a:rPr/>
              <a:t>Played roles of developer, architect, devops engineer, platform engineer, test architect, release manager</a:t>
            </a:r>
          </a:p>
          <a:p>
            <a:pPr lvl="0" indent="0" marL="0">
              <a:buNone/>
            </a:pPr>
            <a:r>
              <a:rPr/>
              <a:t>AI/ML Enthusiast and advocate for Effectively using AI to write code</a:t>
            </a:r>
          </a:p>
          <a:p>
            <a:pPr lvl="0"/>
            <a:r>
              <a:rPr/>
              <a:t>LinkedIn: </a:t>
            </a:r>
            <a:r>
              <a:rPr>
                <a:latin typeface="Courier"/>
              </a:rPr>
              <a:t>www.linkedin.com/in/johnmichaelmiller</a:t>
            </a:r>
          </a:p>
          <a:p>
            <a:pPr lvl="0"/>
            <a:r>
              <a:rPr/>
              <a:t>Email: </a:t>
            </a:r>
            <a:r>
              <a:rPr>
                <a:latin typeface="Courier"/>
              </a:rPr>
              <a:t>john.miller@codestaffing.com</a:t>
            </a:r>
          </a:p>
          <a:p>
            <a:pPr lvl="0"/>
            <a:r>
              <a:rPr/>
              <a:t>Blog: </a:t>
            </a:r>
            <a:r>
              <a:rPr>
                <a:latin typeface="Courier"/>
              </a:rPr>
              <a:t>https://codemag.com/blog/AIPractitioner</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Day One</a:t>
            </a:r>
          </a:p>
        </p:txBody>
      </p:sp>
      <p:sp>
        <p:nvSpPr>
          <p:cNvPr id="3" name="Content Placeholder 2"/>
          <p:cNvSpPr>
            <a:spLocks noGrp="1"/>
          </p:cNvSpPr>
          <p:nvPr>
            <p:ph idx="1"/>
          </p:nvPr>
        </p:nvSpPr>
        <p:spPr/>
        <p:txBody>
          <a:bodyPr/>
          <a:lstStyle/>
          <a:p>
            <a:pPr lvl="0"/>
            <a:r>
              <a:rPr/>
              <a:t>Welcome</a:t>
            </a:r>
          </a:p>
          <a:p>
            <a:pPr lvl="0"/>
            <a:r>
              <a:rPr/>
              <a:t>Introductions</a:t>
            </a:r>
          </a:p>
          <a:p>
            <a:pPr lvl="1"/>
            <a:r>
              <a:rPr/>
              <a:t>Who you are</a:t>
            </a:r>
          </a:p>
          <a:p>
            <a:pPr lvl="1"/>
            <a:r>
              <a:rPr/>
              <a:t>What you do</a:t>
            </a:r>
          </a:p>
          <a:p>
            <a:pPr lvl="1"/>
            <a:r>
              <a:rPr/>
              <a:t>What you’ve done with AI tools</a:t>
            </a:r>
          </a:p>
          <a:p>
            <a:pPr lvl="1"/>
            <a:r>
              <a:rPr/>
              <a:t>What you want to learn</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Agenda</a:t>
            </a:r>
          </a:p>
        </p:txBody>
      </p:sp>
      <p:sp>
        <p:nvSpPr>
          <p:cNvPr id="3" name="Content Placeholder 2"/>
          <p:cNvSpPr>
            <a:spLocks noGrp="1"/>
          </p:cNvSpPr>
          <p:nvPr>
            <p:ph idx="1"/>
          </p:nvPr>
        </p:nvSpPr>
        <p:spPr/>
        <p:txBody>
          <a:bodyPr/>
          <a:lstStyle/>
          <a:p>
            <a:pPr lvl="0"/>
            <a:r>
              <a:rPr/>
              <a:t>Overview</a:t>
            </a:r>
          </a:p>
          <a:p>
            <a:pPr lvl="0"/>
            <a:r>
              <a:rPr/>
              <a:t>AI Assisted Software Development</a:t>
            </a:r>
          </a:p>
          <a:p>
            <a:pPr lvl="0"/>
            <a:r>
              <a:rPr/>
              <a:t>General Introduction to LLMs</a:t>
            </a:r>
          </a:p>
          <a:p>
            <a:pPr lvl="0"/>
            <a:r>
              <a:rPr/>
              <a:t>LLM Architecture for Code Generation</a:t>
            </a:r>
          </a:p>
          <a:p>
            <a:pPr lvl="0"/>
            <a:r>
              <a:rPr/>
              <a:t>GitHub Copilot for Teams: Key Considerations for Adoption</a:t>
            </a:r>
          </a:p>
          <a:p>
            <a:pPr lvl="0"/>
            <a:r>
              <a:rPr/>
              <a:t>GitHub Copilot Overview</a:t>
            </a:r>
          </a:p>
          <a:p>
            <a:pPr lvl="0"/>
            <a:r>
              <a:rPr/>
              <a:t>Hands-On with GitHub Copilot</a:t>
            </a:r>
          </a:p>
          <a:p>
            <a:pPr lvl="0"/>
            <a:r>
              <a:rPr/>
              <a:t>Vibe Coding with Copilot</a:t>
            </a:r>
          </a:p>
          <a:p>
            <a:pPr lvl="0"/>
            <a:r>
              <a:rPr/>
              <a:t>Exercises</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Overview</a:t>
            </a:r>
          </a:p>
        </p:txBody>
      </p:sp>
      <p:sp>
        <p:nvSpPr>
          <p:cNvPr id="3" name="Content Placeholder 2"/>
          <p:cNvSpPr>
            <a:spLocks noGrp="1"/>
          </p:cNvSpPr>
          <p:nvPr>
            <p:ph idx="1"/>
          </p:nvPr>
        </p:nvSpPr>
        <p:spPr/>
        <p:txBody>
          <a:bodyPr/>
          <a:lstStyle/>
          <a:p>
            <a:pPr lvl="0" indent="0" marL="0">
              <a:buNone/>
            </a:pPr>
            <a:r>
              <a:rPr b="1"/>
              <a:t>Course Objective</a:t>
            </a:r>
            <a:r>
              <a:rPr/>
              <a:t>: Understand how to manipulate Copilot into successfully modifying legacy codebases</a:t>
            </a:r>
          </a:p>
          <a:p>
            <a:pPr lvl="0" indent="0" marL="0">
              <a:buNone/>
            </a:pPr>
            <a:r>
              <a:rPr b="1"/>
              <a:t>Course Perspective</a:t>
            </a:r>
            <a:r>
              <a:rPr/>
              <a:t>: Focus on AI assistance and assisting the AI</a:t>
            </a:r>
          </a:p>
          <a:p>
            <a:pPr lvl="0"/>
            <a:r>
              <a:rPr/>
              <a:t>Less emphasis on syntax</a:t>
            </a:r>
          </a:p>
          <a:p>
            <a:pPr lvl="0"/>
            <a:r>
              <a:rPr/>
              <a:t>More emphasis on architecture, design, code quality, refactoring</a:t>
            </a:r>
          </a:p>
          <a:p>
            <a:pPr lvl="0"/>
            <a:r>
              <a:rPr/>
              <a:t>Moving faster with less risk ::: notes State course objective: practical skills for using Copilot responsibly on legacy codebases. :::</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Why AI Assisted Software Development</a:t>
            </a:r>
          </a:p>
        </p:txBody>
      </p:sp>
      <p:sp>
        <p:nvSpPr>
          <p:cNvPr id="3" name="Content Placeholder 2"/>
          <p:cNvSpPr>
            <a:spLocks noGrp="1"/>
          </p:cNvSpPr>
          <p:nvPr>
            <p:ph idx="1"/>
          </p:nvPr>
        </p:nvSpPr>
        <p:spPr/>
        <p:txBody>
          <a:bodyPr/>
          <a:lstStyle/>
          <a:p>
            <a:pPr lvl="0"/>
            <a:r>
              <a:rPr/>
              <a:t>Is revolutionizing software development</a:t>
            </a:r>
          </a:p>
          <a:p>
            <a:pPr lvl="0"/>
            <a:r>
              <a:rPr/>
              <a:t>It will ruin some careers and revitalize others</a:t>
            </a:r>
          </a:p>
          <a:p>
            <a:pPr lvl="0"/>
            <a:r>
              <a:rPr/>
              <a:t>If used effectively, it will give you superpowers</a:t>
            </a:r>
          </a:p>
          <a:p>
            <a:pPr lvl="1"/>
            <a:r>
              <a:rPr/>
              <a:t>The courage to</a:t>
            </a:r>
          </a:p>
          <a:p>
            <a:pPr lvl="2"/>
            <a:r>
              <a:rPr/>
              <a:t>Take on codebases that few would touch</a:t>
            </a:r>
          </a:p>
          <a:p>
            <a:pPr lvl="2"/>
            <a:r>
              <a:rPr/>
              <a:t>Use technologies you should know but don’t</a:t>
            </a:r>
          </a:p>
          <a:p>
            <a:pPr lvl="2"/>
            <a:r>
              <a:rPr/>
              <a:t>Write more high-quality code than you have ever written before</a:t>
            </a:r>
          </a:p>
          <a:p>
            <a:pPr lvl="2"/>
            <a:r>
              <a:rPr/>
              <a:t>Take on the nice to haves</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General Introduction to LLMs</a:t>
            </a:r>
          </a:p>
        </p:txBody>
      </p:sp>
      <p:sp>
        <p:nvSpPr>
          <p:cNvPr id="3" name="Content Placeholder 2"/>
          <p:cNvSpPr>
            <a:spLocks noGrp="1"/>
          </p:cNvSpPr>
          <p:nvPr>
            <p:ph idx="1"/>
          </p:nvPr>
        </p:nvSpPr>
        <p:spPr/>
        <p:txBody>
          <a:bodyPr/>
          <a:lstStyle/>
          <a:p>
            <a:pPr lvl="0"/>
            <a:r>
              <a:rPr/>
              <a:t>Large Language Models</a:t>
            </a:r>
          </a:p>
          <a:p>
            <a:pPr lvl="0"/>
            <a:r>
              <a:rPr/>
              <a:t>Conceptual overview of how LLMs work</a:t>
            </a:r>
          </a:p>
          <a:p>
            <a:pPr lvl="0"/>
            <a:r>
              <a:rPr/>
              <a:t>Capabilities and limitations of LLMs in coding</a:t>
            </a:r>
          </a:p>
          <a:p>
            <a:pPr lvl="0"/>
            <a:r>
              <a:rPr/>
              <a:t>Software engineering with AI as a tool vs. “Vibe Coding”</a:t>
            </a:r>
          </a:p>
          <a:p>
            <a:pPr lvl="0"/>
            <a:r>
              <a:rPr/>
              <a:t>Do’s and Don’ts</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Conceptual Overview of LLMs</a:t>
            </a:r>
          </a:p>
        </p:txBody>
      </p:sp>
      <p:sp>
        <p:nvSpPr>
          <p:cNvPr id="3" name="Content Placeholder 2"/>
          <p:cNvSpPr>
            <a:spLocks noGrp="1"/>
          </p:cNvSpPr>
          <p:nvPr>
            <p:ph idx="1"/>
          </p:nvPr>
        </p:nvSpPr>
        <p:spPr/>
        <p:txBody>
          <a:bodyPr/>
          <a:lstStyle/>
          <a:p>
            <a:pPr lvl="0"/>
            <a:r>
              <a:rPr/>
              <a:t>LLMs are trained on massive datasets of code and natural language</a:t>
            </a:r>
          </a:p>
          <a:p>
            <a:pPr lvl="0"/>
            <a:r>
              <a:rPr/>
              <a:t>They use transformer architecture to understand patterns</a:t>
            </a:r>
          </a:p>
          <a:p>
            <a:pPr lvl="0"/>
            <a:r>
              <a:rPr/>
              <a:t>Token-based processing: code is broken into tokens</a:t>
            </a:r>
          </a:p>
          <a:p>
            <a:pPr lvl="0"/>
            <a:r>
              <a:rPr/>
              <a:t>Attention mechanisms help models focus on relevant parts of context</a:t>
            </a:r>
          </a:p>
          <a:p>
            <a:pPr lvl="0"/>
            <a:r>
              <a:rPr/>
              <a:t>Generate probabilistic next-token predictions based on training patterns</a:t>
            </a:r>
          </a:p>
          <a:p>
            <a:pPr lvl="0"/>
            <a:r>
              <a:rPr/>
              <a:t>No true “understanding” - pattern matching at massive scale</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Capabilities</a:t>
            </a:r>
          </a:p>
        </p:txBody>
      </p:sp>
      <p:sp>
        <p:nvSpPr>
          <p:cNvPr id="3" name="Content Placeholder 2"/>
          <p:cNvSpPr>
            <a:spLocks noGrp="1"/>
          </p:cNvSpPr>
          <p:nvPr>
            <p:ph idx="1"/>
          </p:nvPr>
        </p:nvSpPr>
        <p:spPr/>
        <p:txBody>
          <a:bodyPr/>
          <a:lstStyle/>
          <a:p>
            <a:pPr lvl="0"/>
            <a:r>
              <a:rPr/>
              <a:t>Code completion and generation from natural language</a:t>
            </a:r>
          </a:p>
          <a:p>
            <a:pPr lvl="0"/>
            <a:r>
              <a:rPr/>
              <a:t>Refactoring and code optimization suggestions</a:t>
            </a:r>
          </a:p>
          <a:p>
            <a:pPr lvl="0"/>
            <a:r>
              <a:rPr/>
              <a:t>Bug detection and fixing recommendations</a:t>
            </a:r>
          </a:p>
          <a:p>
            <a:pPr lvl="0"/>
            <a:r>
              <a:rPr/>
              <a:t>Documentation generation</a:t>
            </a:r>
          </a:p>
          <a:p>
            <a:pPr lvl="0"/>
            <a:r>
              <a:rPr/>
              <a:t>Test case creation</a:t>
            </a:r>
          </a:p>
          <a:p>
            <a:pPr lvl="0"/>
            <a:r>
              <a:rPr/>
              <a:t>Code explanation and commenting</a:t>
            </a:r>
          </a:p>
          <a:p>
            <a:pPr lvl="0"/>
            <a:r>
              <a:rPr/>
              <a:t>Multi-language support and translation between languages</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Limitations</a:t>
            </a:r>
          </a:p>
        </p:txBody>
      </p:sp>
      <p:sp>
        <p:nvSpPr>
          <p:cNvPr id="3" name="Content Placeholder 2"/>
          <p:cNvSpPr>
            <a:spLocks noGrp="1"/>
          </p:cNvSpPr>
          <p:nvPr>
            <p:ph idx="1"/>
          </p:nvPr>
        </p:nvSpPr>
        <p:spPr/>
        <p:txBody>
          <a:bodyPr/>
          <a:lstStyle/>
          <a:p>
            <a:pPr lvl="0"/>
            <a:r>
              <a:rPr/>
              <a:t>No real-time knowledge updates (training cutoff dates)</a:t>
            </a:r>
          </a:p>
          <a:p>
            <a:pPr lvl="0"/>
            <a:r>
              <a:rPr/>
              <a:t>Can generate syntactically correct but logically flawed code</a:t>
            </a:r>
          </a:p>
          <a:p>
            <a:pPr lvl="0"/>
            <a:r>
              <a:rPr/>
              <a:t>Hallucination: confident-sounding but incorrect suggestions</a:t>
            </a:r>
          </a:p>
          <a:p>
            <a:pPr lvl="0"/>
            <a:r>
              <a:rPr/>
              <a:t>Context window limitations (finite memory)</a:t>
            </a:r>
          </a:p>
          <a:p>
            <a:pPr lvl="0"/>
            <a:r>
              <a:rPr/>
              <a:t>Does not “understand” business logic or domain-specific requirements</a:t>
            </a:r>
          </a:p>
          <a:p>
            <a:pPr lvl="0"/>
            <a:r>
              <a:rPr/>
              <a:t>Security vulnerabilities if not carefully reviewed</a:t>
            </a:r>
          </a:p>
          <a:p>
            <a:pPr lvl="0"/>
            <a:r>
              <a:rPr/>
              <a:t>Bias from training data</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Software Engineering vs “Vibe Coding”:</a:t>
            </a:r>
          </a:p>
        </p:txBody>
      </p:sp>
      <p:sp>
        <p:nvSpPr>
          <p:cNvPr id="3" name="Content Placeholder 2"/>
          <p:cNvSpPr>
            <a:spLocks noGrp="1"/>
          </p:cNvSpPr>
          <p:nvPr>
            <p:ph idx="1"/>
          </p:nvPr>
        </p:nvSpPr>
        <p:spPr/>
        <p:txBody>
          <a:bodyPr/>
          <a:lstStyle/>
          <a:p>
            <a:pPr lvl="0"/>
            <a:r>
              <a:rPr/>
              <a:t>Engineering approach: systematic, tested, documented, maintainable</a:t>
            </a:r>
          </a:p>
          <a:p>
            <a:pPr lvl="0"/>
            <a:r>
              <a:rPr/>
              <a:t>Vibe coding: quick and dirty, “it works” mentality, technical debt accumulation</a:t>
            </a:r>
          </a:p>
          <a:p>
            <a:pPr lvl="0"/>
            <a:r>
              <a:rPr/>
              <a:t>AI should enhance engineering practices, not replace them</a:t>
            </a:r>
          </a:p>
          <a:p>
            <a:pPr lvl="0"/>
            <a:r>
              <a:rPr/>
              <a:t>Proper testing, code review, and architecture still essential</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Do’s</a:t>
            </a:r>
          </a:p>
        </p:txBody>
      </p:sp>
      <p:sp>
        <p:nvSpPr>
          <p:cNvPr id="3" name="Content Placeholder 2"/>
          <p:cNvSpPr>
            <a:spLocks noGrp="1"/>
          </p:cNvSpPr>
          <p:nvPr>
            <p:ph idx="1"/>
          </p:nvPr>
        </p:nvSpPr>
        <p:spPr/>
        <p:txBody>
          <a:bodyPr/>
          <a:lstStyle/>
          <a:p>
            <a:pPr lvl="0"/>
            <a:r>
              <a:rPr/>
              <a:t>Use AI for boilerplate and repetitive tasks</a:t>
            </a:r>
          </a:p>
          <a:p>
            <a:pPr lvl="0"/>
            <a:r>
              <a:rPr/>
              <a:t>Always review and test AI-generated code</a:t>
            </a:r>
          </a:p>
          <a:p>
            <a:pPr lvl="0"/>
            <a:r>
              <a:rPr/>
              <a:t>Provide clear, specific prompts with context</a:t>
            </a:r>
          </a:p>
          <a:p>
            <a:pPr lvl="0"/>
            <a:r>
              <a:rPr/>
              <a:t>Use AI to explore different implementation approaches</a:t>
            </a:r>
          </a:p>
          <a:p>
            <a:pPr lvl="0"/>
            <a:r>
              <a:rPr/>
              <a:t>Leverage AI for documentation and test generation</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Don’ts</a:t>
            </a:r>
          </a:p>
        </p:txBody>
      </p:sp>
      <p:sp>
        <p:nvSpPr>
          <p:cNvPr id="3" name="Content Placeholder 2"/>
          <p:cNvSpPr>
            <a:spLocks noGrp="1"/>
          </p:cNvSpPr>
          <p:nvPr>
            <p:ph idx="1"/>
          </p:nvPr>
        </p:nvSpPr>
        <p:spPr/>
        <p:txBody>
          <a:bodyPr/>
          <a:lstStyle/>
          <a:p>
            <a:pPr lvl="0"/>
            <a:r>
              <a:rPr/>
              <a:t>Blindly accept AI suggestions without review</a:t>
            </a:r>
          </a:p>
          <a:p>
            <a:pPr lvl="0"/>
            <a:r>
              <a:rPr/>
              <a:t>Skip testing because “AI wrote it”</a:t>
            </a:r>
          </a:p>
          <a:p>
            <a:pPr lvl="0"/>
            <a:r>
              <a:rPr/>
              <a:t>Use AI for critical security or safety-critical code without extensive validation</a:t>
            </a:r>
          </a:p>
          <a:p>
            <a:pPr lvl="0"/>
            <a:r>
              <a:rPr/>
              <a:t>Rely on AI for architectural decisions without human oversight</a:t>
            </a:r>
          </a:p>
          <a:p>
            <a:pPr lvl="0"/>
            <a:r>
              <a:rPr/>
              <a:t>Generate code without understanding the underlying logic</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LLM Architecture for Code Generation</a:t>
            </a:r>
          </a:p>
        </p:txBody>
      </p:sp>
      <p:sp>
        <p:nvSpPr>
          <p:cNvPr id="3" name="Content Placeholder 2"/>
          <p:cNvSpPr>
            <a:spLocks noGrp="1"/>
          </p:cNvSpPr>
          <p:nvPr>
            <p:ph idx="1"/>
          </p:nvPr>
        </p:nvSpPr>
        <p:spPr/>
        <p:txBody>
          <a:bodyPr/>
          <a:lstStyle/>
          <a:p>
            <a:pPr lvl="0" indent="0" marL="0">
              <a:buNone/>
            </a:pPr>
            <a:r>
              <a:rPr>
                <a:hlinkClick r:id="rId3"/>
              </a:rPr>
              <a:t>LLM Architecture Diagram</a:t>
            </a:r>
            <a:r>
              <a:rPr/>
              <a:t> LLM Architecture Diagram</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GitHub Copilot for Teams: Key Considerations for Adoption</a:t>
            </a:r>
          </a:p>
        </p:txBody>
      </p:sp>
      <p:sp>
        <p:nvSpPr>
          <p:cNvPr id="3" name="Content Placeholder 2"/>
          <p:cNvSpPr>
            <a:spLocks noGrp="1"/>
          </p:cNvSpPr>
          <p:nvPr>
            <p:ph idx="1"/>
          </p:nvPr>
        </p:nvSpPr>
        <p:spPr/>
        <p:txBody>
          <a:bodyPr/>
          <a:lstStyle/>
          <a:p>
            <a:pPr lvl="0" indent="0" marL="0">
              <a:buNone/>
            </a:pPr>
            <a:r>
              <a:rPr i="1"/>
              <a:t>Empowering developers with AI while protecting your codebase</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Prompted This Deck?</a:t>
            </a:r>
          </a:p>
        </p:txBody>
      </p:sp>
      <p:sp>
        <p:nvSpPr>
          <p:cNvPr id="3" name="Content Placeholder 2"/>
          <p:cNvSpPr>
            <a:spLocks noGrp="1"/>
          </p:cNvSpPr>
          <p:nvPr>
            <p:ph idx="1"/>
          </p:nvPr>
        </p:nvSpPr>
        <p:spPr/>
        <p:txBody>
          <a:bodyPr/>
          <a:lstStyle/>
          <a:p>
            <a:pPr lvl="0" indent="0" marL="1270000">
              <a:buNone/>
            </a:pPr>
            <a:r>
              <a:rPr sz="2000"/>
              <a:t>I want to know how GitHub copilot protects the intellectual property in the code and documentation submitted to the model. Is this information isolated from other users? Is it incorporated into the model and leaked to other users? How can I protect my IP while using GitHub Copilot?</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Benefits for Organizations</a:t>
            </a:r>
          </a:p>
        </p:txBody>
      </p:sp>
      <p:sp>
        <p:nvSpPr>
          <p:cNvPr id="3" name="Content Placeholder 2"/>
          <p:cNvSpPr>
            <a:spLocks noGrp="1"/>
          </p:cNvSpPr>
          <p:nvPr>
            <p:ph idx="1"/>
          </p:nvPr>
        </p:nvSpPr>
        <p:spPr/>
        <p:txBody>
          <a:bodyPr/>
          <a:lstStyle/>
          <a:p>
            <a:pPr lvl="0"/>
            <a:r>
              <a:rPr/>
              <a:t>Accelerated Development: Faster prototyping, fewer boilerplate tasks</a:t>
            </a:r>
          </a:p>
          <a:p>
            <a:pPr lvl="0"/>
            <a:r>
              <a:rPr/>
              <a:t>Improved Documentation: Auto-generates comments and README content</a:t>
            </a:r>
          </a:p>
          <a:p>
            <a:pPr lvl="0"/>
            <a:r>
              <a:rPr/>
              <a:t>Enhanced Testing: Suggests unit tests and edge cases</a:t>
            </a:r>
          </a:p>
          <a:p>
            <a:pPr lvl="0"/>
            <a:r>
              <a:rPr/>
              <a:t>Team Productivity: Reduces cognitive load, supports onboarding</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Risks to Consider</a:t>
            </a:r>
          </a:p>
        </p:txBody>
      </p:sp>
      <p:sp>
        <p:nvSpPr>
          <p:cNvPr id="3" name="Content Placeholder 2"/>
          <p:cNvSpPr>
            <a:spLocks noGrp="1"/>
          </p:cNvSpPr>
          <p:nvPr>
            <p:ph idx="1"/>
          </p:nvPr>
        </p:nvSpPr>
        <p:spPr/>
        <p:txBody>
          <a:bodyPr/>
          <a:lstStyle/>
          <a:p>
            <a:pPr lvl="0"/>
            <a:r>
              <a:rPr b="1"/>
              <a:t>IP Leakage Concerns</a:t>
            </a:r>
          </a:p>
          <a:p>
            <a:pPr lvl="1"/>
            <a:r>
              <a:rPr/>
              <a:t>Copilot may suggest code similar to public repositories</a:t>
            </a:r>
          </a:p>
          <a:p>
            <a:pPr lvl="1"/>
            <a:r>
              <a:rPr/>
              <a:t>Risk of inadvertently using copyrighted or licensed code</a:t>
            </a:r>
          </a:p>
          <a:p>
            <a:pPr lvl="1"/>
            <a:r>
              <a:rPr/>
              <a:t>Mitigation: Enable public code filters and review suggestions carefully</a:t>
            </a:r>
          </a:p>
          <a:p>
            <a:pPr lvl="0"/>
            <a:r>
              <a:rPr b="1"/>
              <a:t>Code Quality and Accuracy</a:t>
            </a:r>
          </a:p>
          <a:p>
            <a:pPr lvl="1"/>
            <a:r>
              <a:rPr/>
              <a:t>AI-generated code may contain bugs, inefficiencies, or security flaws</a:t>
            </a:r>
          </a:p>
          <a:p>
            <a:pPr lvl="1"/>
            <a:r>
              <a:rPr/>
              <a:t>Always validate and test before deployment</a:t>
            </a:r>
          </a:p>
          <a:p>
            <a:pPr lvl="1"/>
            <a:r>
              <a:rPr/>
              <a:t>Treat Copilot as a drafting tool, not a source of truth</a:t>
            </a:r>
          </a:p>
          <a:p>
            <a:pPr lvl="0"/>
            <a:r>
              <a:rPr b="1"/>
              <a:t>Developer Overreliance</a:t>
            </a:r>
          </a:p>
          <a:p>
            <a:pPr lvl="1"/>
            <a:r>
              <a:rPr/>
              <a:t>Risk of reduced understanding or critical thinking</a:t>
            </a:r>
          </a:p>
          <a:p>
            <a:pPr lvl="1"/>
            <a:r>
              <a:rPr/>
              <a:t>Encourage code reviews and pair programming to maintain rigor</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Governance and Compliance Risks</a:t>
            </a:r>
          </a:p>
        </p:txBody>
      </p:sp>
      <p:sp>
        <p:nvSpPr>
          <p:cNvPr id="3" name="Content Placeholder 2"/>
          <p:cNvSpPr>
            <a:spLocks noGrp="1"/>
          </p:cNvSpPr>
          <p:nvPr>
            <p:ph idx="1"/>
          </p:nvPr>
        </p:nvSpPr>
        <p:spPr/>
        <p:txBody>
          <a:bodyPr/>
          <a:lstStyle/>
          <a:p>
            <a:pPr lvl="0"/>
            <a:r>
              <a:rPr b="1"/>
              <a:t>Regulatory Compliance</a:t>
            </a:r>
          </a:p>
          <a:p>
            <a:pPr lvl="1"/>
            <a:r>
              <a:rPr/>
              <a:t>Generated code may not meet industry-specific standards (e.g., HIPAA, PCI-DSS)</a:t>
            </a:r>
          </a:p>
          <a:p>
            <a:pPr lvl="1"/>
            <a:r>
              <a:rPr/>
              <a:t>Organizations must enforce coding policies and audits</a:t>
            </a:r>
          </a:p>
          <a:p>
            <a:pPr lvl="0"/>
            <a:r>
              <a:rPr b="1"/>
              <a:t>Data Privacy and Security</a:t>
            </a:r>
          </a:p>
          <a:p>
            <a:pPr lvl="1"/>
            <a:r>
              <a:rPr/>
              <a:t>Sensitive data should never be typed into prompts</a:t>
            </a:r>
          </a:p>
          <a:p>
            <a:pPr lvl="1"/>
            <a:r>
              <a:rPr/>
              <a:t>Use Copilot in secure environments with clear usage guidelines</a:t>
            </a:r>
          </a:p>
          <a:p>
            <a:pPr lvl="0"/>
            <a:r>
              <a:rPr b="1"/>
              <a:t>Licensing Ambiguity</a:t>
            </a:r>
          </a:p>
          <a:p>
            <a:pPr lvl="1"/>
            <a:r>
              <a:rPr/>
              <a:t>Copilot suggestions may resemble code under restrictive licenses</a:t>
            </a:r>
          </a:p>
          <a:p>
            <a:pPr lvl="1"/>
            <a:r>
              <a:rPr/>
              <a:t>Legal teams should define acceptable use policies and monitor compliance</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IP and Data Protection</a:t>
            </a:r>
          </a:p>
        </p:txBody>
      </p:sp>
      <p:sp>
        <p:nvSpPr>
          <p:cNvPr id="3" name="Content Placeholder 2"/>
          <p:cNvSpPr>
            <a:spLocks noGrp="1"/>
          </p:cNvSpPr>
          <p:nvPr>
            <p:ph idx="1"/>
          </p:nvPr>
        </p:nvSpPr>
        <p:spPr/>
        <p:txBody>
          <a:bodyPr/>
          <a:lstStyle/>
          <a:p>
            <a:pPr lvl="0"/>
            <a:r>
              <a:rPr/>
              <a:t>Your code is </a:t>
            </a:r>
            <a:r>
              <a:rPr b="1"/>
              <a:t>not used to retrain the model</a:t>
            </a:r>
            <a:r>
              <a:rPr/>
              <a:t> (with Copilot for Business/Enterprise)</a:t>
            </a:r>
          </a:p>
          <a:p>
            <a:pPr lvl="0"/>
            <a:r>
              <a:rPr/>
              <a:t>Suggestions are generated locally — no code is shared unless feedback is submitted</a:t>
            </a:r>
          </a:p>
          <a:p>
            <a:pPr lvl="0"/>
            <a:r>
              <a:rPr/>
              <a:t>No leakage between users: your private code is </a:t>
            </a:r>
            <a:r>
              <a:rPr b="1"/>
              <a:t>not exposed to others</a:t>
            </a:r>
          </a:p>
          <a:p>
            <a:pPr lvl="0"/>
            <a:r>
              <a:rPr/>
              <a:t>Admins can </a:t>
            </a:r>
            <a:r>
              <a:rPr b="1"/>
              <a:t>disable suggestions matching public code</a:t>
            </a:r>
            <a:r>
              <a:rPr/>
              <a:t> for added safety</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Licensing and Legal Considerations</a:t>
            </a:r>
          </a:p>
        </p:txBody>
      </p:sp>
      <p:sp>
        <p:nvSpPr>
          <p:cNvPr id="3" name="Content Placeholder 2"/>
          <p:cNvSpPr>
            <a:spLocks noGrp="1"/>
          </p:cNvSpPr>
          <p:nvPr>
            <p:ph idx="1"/>
          </p:nvPr>
        </p:nvSpPr>
        <p:spPr/>
        <p:txBody>
          <a:bodyPr/>
          <a:lstStyle/>
          <a:p>
            <a:pPr lvl="0"/>
            <a:r>
              <a:rPr/>
              <a:t>Copilot may suggest code similar to public repositories</a:t>
            </a:r>
          </a:p>
          <a:p>
            <a:pPr lvl="0"/>
            <a:r>
              <a:rPr/>
              <a:t>GitHub provides a </a:t>
            </a:r>
            <a:r>
              <a:rPr b="1"/>
              <a:t>filter to block matching public code</a:t>
            </a:r>
          </a:p>
          <a:p>
            <a:pPr lvl="0"/>
            <a:r>
              <a:rPr/>
              <a:t>Organizations should review Copilot’s </a:t>
            </a:r>
            <a:r>
              <a:rPr>
                <a:hlinkClick r:id="rId3"/>
              </a:rPr>
              <a:t>Terms of Service</a:t>
            </a:r>
            <a:r>
              <a:rPr/>
              <a:t> and </a:t>
            </a:r>
            <a:r>
              <a:rPr>
                <a:hlinkClick r:id="rId4"/>
              </a:rPr>
              <a:t>Privacy Statement</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Deployment Options</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2743200"/>
                <a:gridCol w="2743200"/>
                <a:gridCol w="2743200"/>
              </a:tblGrid>
              <a:tr h="0">
                <a:tc>
                  <a:txBody>
                    <a:bodyPr/>
                    <a:lstStyle/>
                    <a:p>
                      <a:pPr lvl="0" indent="0" marL="0">
                        <a:buNone/>
                      </a:pPr>
                      <a:r>
                        <a:rPr/>
                        <a:t>Plan</a:t>
                      </a:r>
                    </a:p>
                  </a:txBody>
                  <a:tcPr/>
                </a:tc>
                <a:tc>
                  <a:txBody>
                    <a:bodyPr/>
                    <a:lstStyle/>
                    <a:p>
                      <a:pPr lvl="0" indent="0" marL="0">
                        <a:buNone/>
                      </a:pPr>
                      <a:r>
                        <a:rPr/>
                        <a:t>Key Features</a:t>
                      </a:r>
                    </a:p>
                  </a:txBody>
                  <a:tcPr/>
                </a:tc>
                <a:tc>
                  <a:txBody>
                    <a:bodyPr/>
                    <a:lstStyle/>
                    <a:p>
                      <a:pPr lvl="0" indent="0" marL="0">
                        <a:buNone/>
                      </a:pPr>
                      <a:r>
                        <a:rPr/>
                        <a:t>IP Protection</a:t>
                      </a:r>
                    </a:p>
                  </a:txBody>
                  <a:tcPr/>
                </a:tc>
              </a:tr>
              <a:tr h="0">
                <a:tc>
                  <a:txBody>
                    <a:bodyPr/>
                    <a:lstStyle/>
                    <a:p>
                      <a:pPr lvl="0" indent="0" marL="0">
                        <a:buNone/>
                      </a:pPr>
                      <a:r>
                        <a:rPr/>
                        <a:t>Copilot Individual</a:t>
                      </a:r>
                    </a:p>
                  </a:txBody>
                </a:tc>
                <a:tc>
                  <a:txBody>
                    <a:bodyPr/>
                    <a:lstStyle/>
                    <a:p>
                      <a:pPr lvl="0" indent="0" marL="0">
                        <a:buNone/>
                      </a:pPr>
                      <a:r>
                        <a:rPr/>
                        <a:t>Personal use, no admin controls</a:t>
                      </a:r>
                    </a:p>
                  </a:txBody>
                </a:tc>
                <a:tc>
                  <a:txBody>
                    <a:bodyPr/>
                    <a:lstStyle/>
                    <a:p>
                      <a:pPr lvl="0" indent="0" marL="0">
                        <a:buNone/>
                      </a:pPr>
                      <a:r>
                        <a:rPr/>
                        <a:t>Limited</a:t>
                      </a:r>
                    </a:p>
                  </a:txBody>
                </a:tc>
              </a:tr>
              <a:tr h="0">
                <a:tc>
                  <a:txBody>
                    <a:bodyPr/>
                    <a:lstStyle/>
                    <a:p>
                      <a:pPr lvl="0" indent="0" marL="0">
                        <a:buNone/>
                      </a:pPr>
                      <a:r>
                        <a:rPr/>
                        <a:t>Copilot for Business</a:t>
                      </a:r>
                    </a:p>
                  </a:txBody>
                </a:tc>
                <a:tc>
                  <a:txBody>
                    <a:bodyPr/>
                    <a:lstStyle/>
                    <a:p>
                      <a:pPr lvl="0" indent="0" marL="0">
                        <a:buNone/>
                      </a:pPr>
                      <a:r>
                        <a:rPr/>
                        <a:t>Admin controls, policy enforcement</a:t>
                      </a:r>
                    </a:p>
                  </a:txBody>
                </a:tc>
                <a:tc>
                  <a:txBody>
                    <a:bodyPr/>
                    <a:lstStyle/>
                    <a:p>
                      <a:pPr lvl="0" indent="0" marL="0">
                        <a:buNone/>
                      </a:pPr>
                      <a:r>
                        <a:rPr/>
                        <a:t>Strong</a:t>
                      </a:r>
                    </a:p>
                  </a:txBody>
                </a:tc>
              </a:tr>
              <a:tr h="0">
                <a:tc>
                  <a:txBody>
                    <a:bodyPr/>
                    <a:lstStyle/>
                    <a:p>
                      <a:pPr lvl="0" indent="0" marL="0">
                        <a:buNone/>
                      </a:pPr>
                      <a:r>
                        <a:rPr/>
                        <a:t>Copilot for Enterprise</a:t>
                      </a:r>
                    </a:p>
                  </a:txBody>
                </a:tc>
                <a:tc>
                  <a:txBody>
                    <a:bodyPr/>
                    <a:lstStyle/>
                    <a:p>
                      <a:pPr lvl="0" indent="0" marL="0">
                        <a:buNone/>
                      </a:pPr>
                      <a:r>
                        <a:rPr/>
                        <a:t>Org-wide policy, audit tools</a:t>
                      </a:r>
                    </a:p>
                  </a:txBody>
                </a:tc>
                <a:tc>
                  <a:txBody>
                    <a:bodyPr/>
                    <a:lstStyle/>
                    <a:p>
                      <a:pPr lvl="0" indent="0" marL="0">
                        <a:buNone/>
                      </a:pPr>
                      <a:r>
                        <a:rPr/>
                        <a:t>Strongest</a:t>
                      </a:r>
                    </a:p>
                  </a:txBody>
                </a:tc>
              </a:tr>
            </a:tbl>
          </a:graphicData>
        </a:graphic>
      </p:graphicFrame>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Best Practices for Safe Use</a:t>
            </a:r>
          </a:p>
        </p:txBody>
      </p:sp>
      <p:sp>
        <p:nvSpPr>
          <p:cNvPr id="3" name="Content Placeholder 2"/>
          <p:cNvSpPr>
            <a:spLocks noGrp="1"/>
          </p:cNvSpPr>
          <p:nvPr>
            <p:ph idx="1"/>
          </p:nvPr>
        </p:nvSpPr>
        <p:spPr/>
        <p:txBody>
          <a:bodyPr/>
          <a:lstStyle/>
          <a:p>
            <a:pPr lvl="0"/>
            <a:r>
              <a:rPr/>
              <a:t>Enable public code filters</a:t>
            </a:r>
          </a:p>
          <a:p>
            <a:pPr lvl="0"/>
            <a:r>
              <a:rPr/>
              <a:t>Review suggestions before committing</a:t>
            </a:r>
          </a:p>
          <a:p>
            <a:pPr lvl="0"/>
            <a:r>
              <a:rPr/>
              <a:t>Educate teams on responsible use and licensing awareness</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Resources</a:t>
            </a:r>
          </a:p>
        </p:txBody>
      </p:sp>
      <p:sp>
        <p:nvSpPr>
          <p:cNvPr id="3" name="Content Placeholder 2"/>
          <p:cNvSpPr>
            <a:spLocks noGrp="1"/>
          </p:cNvSpPr>
          <p:nvPr>
            <p:ph idx="1"/>
          </p:nvPr>
        </p:nvSpPr>
        <p:spPr/>
        <p:txBody>
          <a:bodyPr/>
          <a:lstStyle/>
          <a:p>
            <a:pPr lvl="0"/>
            <a:r>
              <a:rPr>
                <a:hlinkClick r:id="rId3"/>
              </a:rPr>
              <a:t>Copilot Documentation</a:t>
            </a:r>
          </a:p>
          <a:p>
            <a:pPr lvl="0"/>
            <a:r>
              <a:rPr>
                <a:hlinkClick r:id="rId4"/>
              </a:rPr>
              <a:t>Copilot for Business Overview</a:t>
            </a:r>
          </a:p>
          <a:p>
            <a:pPr lvl="0"/>
            <a:r>
              <a:rPr>
                <a:hlinkClick r:id="rId5"/>
              </a:rPr>
              <a:t>Security and Privacy FAQ</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GitHub Copilot Overview</a:t>
            </a:r>
          </a:p>
        </p:txBody>
      </p:sp>
      <p:sp>
        <p:nvSpPr>
          <p:cNvPr id="3" name="Content Placeholder 2"/>
          <p:cNvSpPr>
            <a:spLocks noGrp="1"/>
          </p:cNvSpPr>
          <p:nvPr>
            <p:ph idx="1"/>
          </p:nvPr>
        </p:nvSpPr>
        <p:spPr/>
        <p:txBody>
          <a:bodyPr/>
          <a:lstStyle/>
          <a:p>
            <a:pPr lvl="0"/>
            <a:r>
              <a:rPr/>
              <a:t>Copilot UI in VS Code</a:t>
            </a:r>
          </a:p>
          <a:p>
            <a:pPr lvl="0"/>
            <a:r>
              <a:rPr/>
              <a:t>Modes and models</a:t>
            </a:r>
          </a:p>
          <a:p>
            <a:pPr lvl="0"/>
            <a:r>
              <a:rPr/>
              <a:t>Instructions and prompts</a:t>
            </a:r>
          </a:p>
          <a:p>
            <a:pPr lvl="0"/>
            <a:r>
              <a:rPr/>
              <a:t>Custom chat modes</a:t>
            </a:r>
          </a:p>
          <a:p>
            <a:pPr lvl="0"/>
            <a:r>
              <a:rPr/>
              <a:t>How to add context</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Hands-On with GitHub Copilot</a:t>
            </a:r>
          </a:p>
        </p:txBody>
      </p:sp>
      <p:sp>
        <p:nvSpPr>
          <p:cNvPr id="3" name="Content Placeholder 2"/>
          <p:cNvSpPr>
            <a:spLocks noGrp="1"/>
          </p:cNvSpPr>
          <p:nvPr>
            <p:ph idx="1"/>
          </p:nvPr>
        </p:nvSpPr>
        <p:spPr/>
        <p:txBody>
          <a:bodyPr/>
          <a:lstStyle/>
          <a:p>
            <a:pPr lvl="0"/>
            <a:r>
              <a:rPr/>
              <a:t>Installation and configuration</a:t>
            </a:r>
          </a:p>
          <a:p>
            <a:pPr lvl="1"/>
            <a:r>
              <a:rPr/>
              <a:t>Installing the extension</a:t>
            </a:r>
          </a:p>
          <a:p>
            <a:pPr lvl="1"/>
            <a:r>
              <a:rPr/>
              <a:t>Setting up authentication</a:t>
            </a:r>
          </a:p>
          <a:p>
            <a:pPr lvl="1"/>
            <a:r>
              <a:rPr/>
              <a:t>Configuring settings</a:t>
            </a:r>
          </a:p>
          <a:p>
            <a:pPr lvl="0"/>
            <a:r>
              <a:rPr/>
              <a:t>Sharing configuration across an organization</a:t>
            </a:r>
          </a:p>
          <a:p>
            <a:pPr lvl="1"/>
            <a:r>
              <a:rPr/>
              <a:t>Shared configuration templates (e.g., .copilot/settings.json) can be distributed across projects to standardize behavior.</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Following along</a:t>
            </a:r>
          </a:p>
        </p:txBody>
      </p:sp>
      <p:sp>
        <p:nvSpPr>
          <p:cNvPr id="3" name="Content Placeholder 2"/>
          <p:cNvSpPr>
            <a:spLocks noGrp="1"/>
          </p:cNvSpPr>
          <p:nvPr>
            <p:ph idx="1"/>
          </p:nvPr>
        </p:nvSpPr>
        <p:spPr/>
        <p:txBody>
          <a:bodyPr/>
          <a:lstStyle/>
          <a:p>
            <a:pPr lvl="0"/>
            <a:r>
              <a:rPr/>
              <a:t>Create a new folder outside of the course repos</a:t>
            </a:r>
          </a:p>
          <a:p>
            <a:pPr lvl="0"/>
            <a:r>
              <a:rPr/>
              <a:t>Some of the demos/exercises are written for golang</a:t>
            </a:r>
          </a:p>
          <a:p>
            <a:pPr lvl="1"/>
            <a:r>
              <a:rPr/>
              <a:t>If you don’t have Golang installed, Copilot can help with that too</a:t>
            </a:r>
          </a:p>
          <a:p>
            <a:pPr lvl="1"/>
            <a:r>
              <a:rPr/>
              <a:t>Just ask it to write the installation commands for you</a:t>
            </a:r>
          </a:p>
          <a:p>
            <a:pPr lvl="1"/>
            <a:r>
              <a:rPr/>
              <a:t>Or wait and Copilot will help you install it during the exercises</a:t>
            </a:r>
          </a:p>
          <a:p>
            <a:pPr lvl="0" indent="0" marL="0">
              <a:buNone/>
            </a:pPr>
            <a:r>
              <a:rPr b="1"/>
              <a:t>Prompt</a:t>
            </a:r>
            <a:r>
              <a:rPr/>
              <a:t>: Help me install Golang on Windows/Mac/Linux</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Using Copilot in different modes</a:t>
            </a:r>
          </a:p>
        </p:txBody>
      </p:sp>
      <p:sp>
        <p:nvSpPr>
          <p:cNvPr id="3" name="Content Placeholder 2"/>
          <p:cNvSpPr>
            <a:spLocks noGrp="1"/>
          </p:cNvSpPr>
          <p:nvPr>
            <p:ph idx="1"/>
          </p:nvPr>
        </p:nvSpPr>
        <p:spPr/>
        <p:txBody>
          <a:bodyPr/>
          <a:lstStyle/>
          <a:p>
            <a:pPr lvl="0"/>
            <a:r>
              <a:rPr/>
              <a:t>Simple prompt completion and inline suggestions (Ask Mode)</a:t>
            </a:r>
          </a:p>
          <a:p>
            <a:pPr lvl="0"/>
            <a:r>
              <a:rPr/>
              <a:t>Automatic file edits (Edit Mode)</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Exercise #1 – Fork the repos</a:t>
            </a:r>
          </a:p>
        </p:txBody>
      </p:sp>
      <p:sp>
        <p:nvSpPr>
          <p:cNvPr id="3" name="Content Placeholder 2"/>
          <p:cNvSpPr>
            <a:spLocks noGrp="1"/>
          </p:cNvSpPr>
          <p:nvPr>
            <p:ph idx="1"/>
          </p:nvPr>
        </p:nvSpPr>
        <p:spPr/>
        <p:txBody>
          <a:bodyPr/>
          <a:lstStyle/>
          <a:p>
            <a:pPr lvl="0" indent="0" marL="0">
              <a:buNone/>
            </a:pPr>
            <a:r>
              <a:rPr b="1"/>
              <a:t>Objective</a:t>
            </a:r>
            <a:r>
              <a:rPr/>
              <a:t>: Fork the course repos </a:t>
            </a:r>
            <a:r>
              <a:rPr b="1"/>
              <a:t>Tasks</a:t>
            </a:r>
          </a:p>
          <a:p>
            <a:pPr lvl="0"/>
            <a:r>
              <a:rPr/>
              <a:t>Search GitHub for</a:t>
            </a:r>
          </a:p>
          <a:p>
            <a:pPr lvl="1"/>
            <a:r>
              <a:rPr/>
              <a:t>AI-Assisted-Software-Development</a:t>
            </a:r>
          </a:p>
          <a:p>
            <a:pPr lvl="0"/>
            <a:r>
              <a:rPr/>
              <a:t>Fork this repo</a:t>
            </a:r>
          </a:p>
          <a:p>
            <a:pPr lvl="1"/>
            <a:r>
              <a:rPr/>
              <a:t>This will create a personal copy under your GitHub account</a:t>
            </a:r>
          </a:p>
          <a:p>
            <a:pPr lvl="1"/>
            <a:r>
              <a:rPr/>
              <a:t>You can make changes without affecting the original repo</a:t>
            </a:r>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Homework</a:t>
            </a:r>
          </a:p>
        </p:txBody>
      </p:sp>
      <p:sp>
        <p:nvSpPr>
          <p:cNvPr id="3" name="Content Placeholder 2"/>
          <p:cNvSpPr>
            <a:spLocks noGrp="1"/>
          </p:cNvSpPr>
          <p:nvPr>
            <p:ph idx="1"/>
          </p:nvPr>
        </p:nvSpPr>
        <p:spPr/>
        <p:txBody>
          <a:bodyPr/>
          <a:lstStyle/>
          <a:p>
            <a:pPr lvl="0"/>
            <a:r>
              <a:rPr/>
              <a:t>Find a repo that could use some help</a:t>
            </a:r>
          </a:p>
          <a:p>
            <a:pPr lvl="1"/>
            <a:r>
              <a:rPr/>
              <a:t>In a language you are famliar</a:t>
            </a:r>
          </a:p>
          <a:p>
            <a:pPr lvl="1"/>
            <a:r>
              <a:rPr/>
              <a:t>A personal project is cool, but a project you are not familiar with is better</a:t>
            </a:r>
          </a:p>
          <a:p>
            <a:pPr lvl="1"/>
            <a:r>
              <a:rPr/>
              <a:t>Fork it</a:t>
            </a:r>
          </a:p>
          <a:p>
            <a:pPr lvl="2"/>
            <a:r>
              <a:rPr/>
              <a:t>It allows you to experiment without affecting the original codebase</a:t>
            </a:r>
          </a:p>
          <a:p>
            <a:pPr lvl="1"/>
            <a:r>
              <a:rPr/>
              <a:t>Don’t use a company repo</a:t>
            </a:r>
          </a:p>
          <a:p>
            <a:pPr lvl="0"/>
            <a:r>
              <a:rPr/>
              <a:t>We’ll use it in the legacy code portion of the course</a:t>
            </a:r>
          </a:p>
          <a:p>
            <a:pPr lvl="0" indent="0" marL="0">
              <a:buNone/>
            </a:pPr>
            <a:r>
              <a:rPr b="1"/>
              <a:t>Prompt</a:t>
            </a:r>
            <a:r>
              <a:rPr/>
              <a:t>: I’m looking for a small GitHub Golang project that has a lot of open issues. Can you recommend one?</a:t>
            </a:r>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Exercise #2 – Implement a Simple Calculator</a:t>
            </a:r>
          </a:p>
        </p:txBody>
      </p:sp>
      <p:sp>
        <p:nvSpPr>
          <p:cNvPr id="3" name="Content Placeholder 2"/>
          <p:cNvSpPr>
            <a:spLocks noGrp="1"/>
          </p:cNvSpPr>
          <p:nvPr>
            <p:ph idx="1"/>
          </p:nvPr>
        </p:nvSpPr>
        <p:spPr/>
        <p:txBody>
          <a:bodyPr/>
          <a:lstStyle/>
          <a:p>
            <a:pPr lvl="0" indent="0" marL="0">
              <a:buNone/>
            </a:pPr>
            <a:r>
              <a:rPr b="1"/>
              <a:t>Objective</a:t>
            </a:r>
            <a:r>
              <a:rPr/>
              <a:t>: Create a simple calculator using Ask Mode. Expand on the calculator in Edit mode.</a:t>
            </a:r>
          </a:p>
          <a:p>
            <a:pPr lvl="0" indent="0" marL="0">
              <a:buNone/>
            </a:pPr>
            <a:r>
              <a:rPr b="1"/>
              <a:t>Prompt</a:t>
            </a:r>
            <a:r>
              <a:rPr/>
              <a:t> Implement a simple command line calculator in Golang</a:t>
            </a:r>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Day Two &amp; Three</a:t>
            </a:r>
          </a:p>
        </p:txBody>
      </p:sp>
      <p:sp>
        <p:nvSpPr>
          <p:cNvPr id="3" name="Content Placeholder 2"/>
          <p:cNvSpPr>
            <a:spLocks noGrp="1"/>
          </p:cNvSpPr>
          <p:nvPr>
            <p:ph idx="1"/>
          </p:nvPr>
        </p:nvSpPr>
        <p:spPr/>
        <p:txBody>
          <a:bodyPr/>
          <a:lstStyle/>
          <a:p>
            <a:pPr lvl="0" indent="0" marL="0">
              <a:buNone/>
            </a:pPr>
            <a:r>
              <a:rPr/>
              <a:t>Working Effectively with Legacy Code, with AI assistance</a:t>
            </a:r>
          </a:p>
        </p:txBody>
      </p:sp>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Agenda – Legacy Development</a:t>
            </a:r>
          </a:p>
        </p:txBody>
      </p:sp>
      <p:sp>
        <p:nvSpPr>
          <p:cNvPr id="3" name="Content Placeholder 2"/>
          <p:cNvSpPr>
            <a:spLocks noGrp="1"/>
          </p:cNvSpPr>
          <p:nvPr>
            <p:ph idx="1"/>
          </p:nvPr>
        </p:nvSpPr>
        <p:spPr/>
        <p:txBody>
          <a:bodyPr/>
          <a:lstStyle/>
          <a:p>
            <a:pPr lvl="0"/>
            <a:r>
              <a:rPr/>
              <a:t>Overview</a:t>
            </a:r>
          </a:p>
          <a:p>
            <a:pPr lvl="0"/>
            <a:r>
              <a:rPr/>
              <a:t>What is legacy code</a:t>
            </a:r>
          </a:p>
          <a:p>
            <a:pPr lvl="0"/>
            <a:r>
              <a:rPr/>
              <a:t>What is not legacy code</a:t>
            </a:r>
          </a:p>
          <a:p>
            <a:pPr lvl="0"/>
            <a:r>
              <a:rPr/>
              <a:t>What is Evergreen Code</a:t>
            </a:r>
          </a:p>
          <a:p>
            <a:pPr lvl="0"/>
            <a:r>
              <a:rPr/>
              <a:t>Before engaging Copilot</a:t>
            </a:r>
          </a:p>
          <a:p>
            <a:pPr lvl="0"/>
            <a:r>
              <a:rPr/>
              <a:t>Managing Copilot</a:t>
            </a:r>
          </a:p>
          <a:p>
            <a:pPr lvl="0"/>
            <a:r>
              <a:rPr/>
              <a:t>Instruction Files</a:t>
            </a:r>
          </a:p>
          <a:p>
            <a:pPr lvl="0"/>
            <a:r>
              <a:rPr/>
              <a:t>Understanding legacy code</a:t>
            </a:r>
          </a:p>
          <a:p>
            <a:pPr lvl="0"/>
            <a:r>
              <a:rPr/>
              <a:t>Exercises</a:t>
            </a:r>
          </a:p>
        </p:txBody>
      </p:sp>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Overview</a:t>
            </a:r>
          </a:p>
        </p:txBody>
      </p:sp>
      <p:sp>
        <p:nvSpPr>
          <p:cNvPr id="3" name="Content Placeholder 2"/>
          <p:cNvSpPr>
            <a:spLocks noGrp="1"/>
          </p:cNvSpPr>
          <p:nvPr>
            <p:ph idx="1"/>
          </p:nvPr>
        </p:nvSpPr>
        <p:spPr/>
        <p:txBody>
          <a:bodyPr/>
          <a:lstStyle/>
          <a:p>
            <a:pPr lvl="0" indent="0" marL="0">
              <a:buNone/>
            </a:pPr>
            <a:r>
              <a:rPr b="1"/>
              <a:t>Course Objective</a:t>
            </a:r>
            <a:r>
              <a:rPr/>
              <a:t>: Understand how to manipulate Copilot into successfully modifying legacy codebases</a:t>
            </a:r>
          </a:p>
          <a:p>
            <a:pPr lvl="0" indent="0" marL="0">
              <a:buNone/>
            </a:pPr>
            <a:r>
              <a:rPr b="1"/>
              <a:t>Course Perspective</a:t>
            </a:r>
            <a:r>
              <a:rPr/>
              <a:t>: Focus on AI assistance and assisting the AI</a:t>
            </a:r>
          </a:p>
          <a:p>
            <a:pPr lvl="0"/>
            <a:r>
              <a:rPr/>
              <a:t>Less emphasis on syntax</a:t>
            </a:r>
          </a:p>
          <a:p>
            <a:pPr lvl="0"/>
            <a:r>
              <a:rPr/>
              <a:t>More emphasis on architecture, design, code quality, refactoring</a:t>
            </a:r>
          </a:p>
          <a:p>
            <a:pPr lvl="0"/>
            <a:r>
              <a:rPr/>
              <a:t>Moving faster with less risk</a:t>
            </a:r>
          </a:p>
          <a:p>
            <a:pPr lvl="0" indent="0" marL="0">
              <a:buNone/>
            </a:pPr>
            <a:r>
              <a:rPr b="1"/>
              <a:t>Must Read</a:t>
            </a:r>
            <a:r>
              <a:rPr/>
              <a:t>: </a:t>
            </a:r>
            <a:r>
              <a:rPr>
                <a:hlinkClick r:id="rId3"/>
              </a:rPr>
              <a:t>Working Effectively with Legacy Code</a:t>
            </a:r>
          </a:p>
        </p:txBody>
      </p:sp>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Exercise #1.1 – Fork the repos</a:t>
            </a:r>
          </a:p>
        </p:txBody>
      </p:sp>
      <p:sp>
        <p:nvSpPr>
          <p:cNvPr id="3" name="Content Placeholder 2"/>
          <p:cNvSpPr>
            <a:spLocks noGrp="1"/>
          </p:cNvSpPr>
          <p:nvPr>
            <p:ph idx="1"/>
          </p:nvPr>
        </p:nvSpPr>
        <p:spPr/>
        <p:txBody>
          <a:bodyPr/>
          <a:lstStyle/>
          <a:p>
            <a:pPr lvl="0" indent="0" marL="0">
              <a:buNone/>
            </a:pPr>
            <a:r>
              <a:rPr b="1"/>
              <a:t>Objective</a:t>
            </a:r>
            <a:r>
              <a:rPr/>
              <a:t>: Fork the course repos</a:t>
            </a:r>
          </a:p>
          <a:p>
            <a:pPr lvl="0"/>
            <a:r>
              <a:rPr/>
              <a:t>Search GitHub for</a:t>
            </a:r>
          </a:p>
          <a:p>
            <a:pPr lvl="1"/>
            <a:r>
              <a:rPr/>
              <a:t>AI-Assisted-Software-Development</a:t>
            </a:r>
          </a:p>
          <a:p>
            <a:pPr lvl="0"/>
            <a:r>
              <a:rPr/>
              <a:t>Fork the repo</a:t>
            </a:r>
          </a:p>
          <a:p>
            <a:pPr lvl="1"/>
            <a:r>
              <a:rPr/>
              <a:t>This will create a personal copy under your GitHub account</a:t>
            </a:r>
          </a:p>
          <a:p>
            <a:pPr lvl="1"/>
            <a:r>
              <a:rPr/>
              <a:t>You can make changes without affecting the original repo</a:t>
            </a:r>
          </a:p>
        </p:txBody>
      </p:sp>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Exercise #1.2 – Fork the target repo</a:t>
            </a:r>
          </a:p>
        </p:txBody>
      </p:sp>
      <p:sp>
        <p:nvSpPr>
          <p:cNvPr id="3" name="Content Placeholder 2"/>
          <p:cNvSpPr>
            <a:spLocks noGrp="1"/>
          </p:cNvSpPr>
          <p:nvPr>
            <p:ph idx="1"/>
          </p:nvPr>
        </p:nvSpPr>
        <p:spPr/>
        <p:txBody>
          <a:bodyPr/>
          <a:lstStyle/>
          <a:p>
            <a:pPr lvl="0" indent="0" marL="0">
              <a:buNone/>
            </a:pPr>
            <a:r>
              <a:rPr b="1"/>
              <a:t>Objective</a:t>
            </a:r>
            <a:r>
              <a:rPr/>
              <a:t>: Fork the repo for the legacy code exercises</a:t>
            </a:r>
          </a:p>
          <a:p>
            <a:pPr lvl="0"/>
            <a:r>
              <a:rPr/>
              <a:t>Find a repo that could use some help</a:t>
            </a:r>
          </a:p>
          <a:p>
            <a:pPr lvl="1"/>
            <a:r>
              <a:rPr/>
              <a:t>Choose a language you are familiar with</a:t>
            </a:r>
          </a:p>
          <a:p>
            <a:pPr lvl="1"/>
            <a:r>
              <a:rPr/>
              <a:t>A personal project is cool, but a project you are not familiar with is better</a:t>
            </a:r>
          </a:p>
          <a:p>
            <a:pPr lvl="1"/>
            <a:r>
              <a:rPr/>
              <a:t>Don’t use a company repo</a:t>
            </a:r>
          </a:p>
          <a:p>
            <a:pPr lvl="1"/>
            <a:r>
              <a:rPr/>
              <a:t>Fork it</a:t>
            </a:r>
          </a:p>
          <a:p>
            <a:pPr lvl="2"/>
            <a:r>
              <a:rPr/>
              <a:t>It allows you to experiment without affecting the original codebase</a:t>
            </a:r>
          </a:p>
          <a:p>
            <a:pPr lvl="0" indent="0" marL="0">
              <a:buNone/>
            </a:pPr>
            <a:r>
              <a:rPr b="1"/>
              <a:t>Prompt</a:t>
            </a:r>
            <a:r>
              <a:rPr/>
              <a:t>: I’m looking for a small GitHub Golang project that has a lot of open issues. Can you recommend one?</a:t>
            </a:r>
          </a:p>
        </p:txBody>
      </p:sp>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is legacy code</a:t>
            </a:r>
          </a:p>
        </p:txBody>
      </p:sp>
      <p:sp>
        <p:nvSpPr>
          <p:cNvPr id="3" name="Content Placeholder 2"/>
          <p:cNvSpPr>
            <a:spLocks noGrp="1"/>
          </p:cNvSpPr>
          <p:nvPr>
            <p:ph idx="1"/>
          </p:nvPr>
        </p:nvSpPr>
        <p:spPr/>
        <p:txBody>
          <a:bodyPr/>
          <a:lstStyle/>
          <a:p>
            <a:pPr lvl="0"/>
            <a:r>
              <a:rPr/>
              <a:t>No universally accepted definition</a:t>
            </a:r>
          </a:p>
          <a:p>
            <a:pPr lvl="0"/>
            <a:r>
              <a:rPr/>
              <a:t>Easier to define what is </a:t>
            </a:r>
            <a:r>
              <a:rPr i="1"/>
              <a:t>not</a:t>
            </a:r>
            <a:r>
              <a:rPr/>
              <a:t> legacy code</a:t>
            </a:r>
          </a:p>
        </p:txBody>
      </p:sp>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is not legacy code</a:t>
            </a:r>
          </a:p>
        </p:txBody>
      </p:sp>
      <p:sp>
        <p:nvSpPr>
          <p:cNvPr id="3" name="Content Placeholder 2"/>
          <p:cNvSpPr>
            <a:spLocks noGrp="1"/>
          </p:cNvSpPr>
          <p:nvPr>
            <p:ph idx="1"/>
          </p:nvPr>
        </p:nvSpPr>
        <p:spPr/>
        <p:txBody>
          <a:bodyPr/>
          <a:lstStyle/>
          <a:p>
            <a:pPr lvl="0"/>
            <a:r>
              <a:rPr/>
              <a:t>All codebases start as greenfield</a:t>
            </a:r>
          </a:p>
          <a:p>
            <a:pPr lvl="0"/>
            <a:r>
              <a:rPr/>
              <a:t>Few codebases are evergreen</a:t>
            </a:r>
          </a:p>
        </p:txBody>
      </p:sp>
    </p:spTree>
  </p:cSl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Codebases degrade over time</a:t>
            </a:r>
          </a:p>
        </p:txBody>
      </p:sp>
      <p:sp>
        <p:nvSpPr>
          <p:cNvPr id="3" name="Content Placeholder 2"/>
          <p:cNvSpPr>
            <a:spLocks noGrp="1"/>
          </p:cNvSpPr>
          <p:nvPr>
            <p:ph idx="1"/>
          </p:nvPr>
        </p:nvSpPr>
        <p:spPr/>
        <p:txBody>
          <a:bodyPr/>
          <a:lstStyle/>
          <a:p>
            <a:pPr lvl="0" indent="0" marL="0">
              <a:buNone/>
            </a:pPr>
            <a:r>
              <a:rPr/>
              <a:t>Due to changes in:</a:t>
            </a:r>
          </a:p>
          <a:p>
            <a:pPr lvl="0"/>
            <a:r>
              <a:rPr/>
              <a:t>Technology</a:t>
            </a:r>
          </a:p>
          <a:p>
            <a:pPr lvl="0"/>
            <a:r>
              <a:rPr/>
              <a:t>Practices</a:t>
            </a:r>
          </a:p>
          <a:p>
            <a:pPr lvl="0"/>
            <a:r>
              <a:rPr/>
              <a:t>People</a:t>
            </a:r>
          </a:p>
          <a:p>
            <a:pPr lvl="0"/>
            <a:r>
              <a:rPr/>
              <a:t>Business rules</a:t>
            </a:r>
          </a:p>
          <a:p>
            <a:pPr lvl="0"/>
            <a:r>
              <a:rPr/>
              <a:t>Workflows</a:t>
            </a:r>
          </a:p>
          <a:p>
            <a:pPr lvl="0"/>
            <a:r>
              <a:rPr/>
              <a:t>Architecture</a:t>
            </a:r>
          </a:p>
        </p:txBody>
      </p:sp>
    </p:spTree>
  </p:cSl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is Evergreen Code</a:t>
            </a:r>
          </a:p>
        </p:txBody>
      </p:sp>
      <p:sp>
        <p:nvSpPr>
          <p:cNvPr id="3" name="Content Placeholder 2"/>
          <p:cNvSpPr>
            <a:spLocks noGrp="1"/>
          </p:cNvSpPr>
          <p:nvPr>
            <p:ph idx="1"/>
          </p:nvPr>
        </p:nvSpPr>
        <p:spPr/>
        <p:txBody>
          <a:bodyPr/>
          <a:lstStyle/>
          <a:p>
            <a:pPr lvl="0"/>
            <a:r>
              <a:rPr/>
              <a:t>Evergreen code actively resists technical debt</a:t>
            </a:r>
          </a:p>
          <a:p>
            <a:pPr lvl="0"/>
            <a:r>
              <a:rPr/>
              <a:t>Evergreen ≠ Legacy; everything else is</a:t>
            </a:r>
          </a:p>
          <a:p>
            <a:pPr lvl="0"/>
            <a:r>
              <a:rPr/>
              <a:t>Evergreen is the goal</a:t>
            </a:r>
          </a:p>
          <a:p>
            <a:pPr lvl="1"/>
            <a:r>
              <a:rPr/>
              <a:t>If we were to write all over again, it would turn out just like it is</a:t>
            </a:r>
          </a:p>
        </p:txBody>
      </p:sp>
    </p:spTree>
  </p:cSl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Legacy code needs respect</a:t>
            </a:r>
          </a:p>
        </p:txBody>
      </p:sp>
      <p:sp>
        <p:nvSpPr>
          <p:cNvPr id="3" name="Content Placeholder 2"/>
          <p:cNvSpPr>
            <a:spLocks noGrp="1"/>
          </p:cNvSpPr>
          <p:nvPr>
            <p:ph idx="1"/>
          </p:nvPr>
        </p:nvSpPr>
        <p:spPr/>
        <p:txBody>
          <a:bodyPr/>
          <a:lstStyle/>
          <a:p>
            <a:pPr lvl="0"/>
            <a:r>
              <a:rPr/>
              <a:t>It works</a:t>
            </a:r>
          </a:p>
          <a:p>
            <a:pPr lvl="1"/>
            <a:r>
              <a:rPr/>
              <a:t>Don’t break it!</a:t>
            </a:r>
          </a:p>
          <a:p>
            <a:pPr lvl="0"/>
            <a:r>
              <a:rPr/>
              <a:t>It works</a:t>
            </a:r>
          </a:p>
          <a:p>
            <a:pPr lvl="1"/>
            <a:r>
              <a:rPr/>
              <a:t>Well-tested (by users)</a:t>
            </a:r>
          </a:p>
          <a:p>
            <a:pPr lvl="0"/>
            <a:r>
              <a:rPr/>
              <a:t>It works</a:t>
            </a:r>
          </a:p>
          <a:p>
            <a:pPr lvl="1"/>
            <a:r>
              <a:rPr/>
              <a:t>“You get what you get and you don’t throw a fit”</a:t>
            </a:r>
          </a:p>
        </p:txBody>
      </p:sp>
    </p:spTree>
  </p:cSl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Prelude – before engaging Copilot</a:t>
            </a:r>
          </a:p>
        </p:txBody>
      </p:sp>
      <p:sp>
        <p:nvSpPr>
          <p:cNvPr id="3" name="Content Placeholder 2"/>
          <p:cNvSpPr>
            <a:spLocks noGrp="1"/>
          </p:cNvSpPr>
          <p:nvPr>
            <p:ph idx="1"/>
          </p:nvPr>
        </p:nvSpPr>
        <p:spPr/>
        <p:txBody>
          <a:bodyPr/>
          <a:lstStyle/>
          <a:p>
            <a:pPr lvl="0"/>
            <a:r>
              <a:rPr/>
              <a:t>Have a strategy for backing out of changes</a:t>
            </a:r>
          </a:p>
          <a:p>
            <a:pPr lvl="1"/>
            <a:r>
              <a:rPr/>
              <a:t>Branching, Commit SHA, Archiving, Zipping</a:t>
            </a:r>
          </a:p>
          <a:p>
            <a:pPr lvl="0"/>
            <a:r>
              <a:rPr/>
              <a:t>Have a strategy for testing the code</a:t>
            </a:r>
          </a:p>
          <a:p>
            <a:pPr lvl="1"/>
            <a:r>
              <a:rPr/>
              <a:t>No matter who or what wrote it</a:t>
            </a:r>
          </a:p>
          <a:p>
            <a:pPr lvl="1"/>
            <a:r>
              <a:rPr/>
              <a:t>You need to have confidence that your test automation will catch issues before they reach production</a:t>
            </a:r>
          </a:p>
          <a:p>
            <a:pPr lvl="1"/>
            <a:r>
              <a:rPr/>
              <a:t>If you don’t have that confidence, stop and build it first</a:t>
            </a:r>
          </a:p>
          <a:p>
            <a:pPr lvl="0"/>
            <a:r>
              <a:rPr/>
              <a:t>Have a strategy for reviewing changes</a:t>
            </a:r>
          </a:p>
          <a:p>
            <a:pPr lvl="1"/>
            <a:r>
              <a:rPr/>
              <a:t>Peer review, AI review, Static analysis</a:t>
            </a:r>
          </a:p>
          <a:p>
            <a:pPr lvl="1"/>
            <a:r>
              <a:rPr/>
              <a:t>You are going to be reviewing a lot of code. Make sure you have a plan to do it effectively</a:t>
            </a:r>
          </a:p>
        </p:txBody>
      </p:sp>
    </p:spTree>
  </p:cSl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Managing Copilot</a:t>
            </a:r>
          </a:p>
        </p:txBody>
      </p:sp>
      <p:sp>
        <p:nvSpPr>
          <p:cNvPr id="3" name="Content Placeholder 2"/>
          <p:cNvSpPr>
            <a:spLocks noGrp="1"/>
          </p:cNvSpPr>
          <p:nvPr>
            <p:ph idx="1"/>
          </p:nvPr>
        </p:nvSpPr>
        <p:spPr/>
        <p:txBody>
          <a:bodyPr/>
          <a:lstStyle/>
          <a:p>
            <a:pPr lvl="0"/>
            <a:r>
              <a:rPr/>
              <a:t>Treat Copilot as a highly skilled, junior developer who needs effective management to succeed</a:t>
            </a:r>
          </a:p>
          <a:p>
            <a:pPr lvl="0"/>
            <a:r>
              <a:rPr/>
              <a:t>Clear instructions + careful review = great outcomes</a:t>
            </a:r>
          </a:p>
        </p:txBody>
      </p:sp>
    </p:spTree>
  </p:cSl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Raising the Bar – with Instruction Files</a:t>
            </a:r>
          </a:p>
        </p:txBody>
      </p:sp>
      <p:sp>
        <p:nvSpPr>
          <p:cNvPr id="3" name="Content Placeholder 2"/>
          <p:cNvSpPr>
            <a:spLocks noGrp="1"/>
          </p:cNvSpPr>
          <p:nvPr>
            <p:ph idx="1"/>
          </p:nvPr>
        </p:nvSpPr>
        <p:spPr/>
        <p:txBody>
          <a:bodyPr/>
          <a:lstStyle/>
          <a:p>
            <a:pPr lvl="0"/>
            <a:r>
              <a:rPr/>
              <a:t>What are instruction files?</a:t>
            </a:r>
          </a:p>
          <a:p>
            <a:pPr lvl="0"/>
            <a:r>
              <a:rPr/>
              <a:t>Provide context and guidance to Copilot and</a:t>
            </a:r>
          </a:p>
          <a:p>
            <a:pPr lvl="0"/>
            <a:r>
              <a:rPr/>
              <a:t>Can include:</a:t>
            </a:r>
          </a:p>
          <a:p>
            <a:pPr lvl="1"/>
            <a:r>
              <a:rPr/>
              <a:t>Project-specific instructions</a:t>
            </a:r>
          </a:p>
          <a:p>
            <a:pPr lvl="1"/>
            <a:r>
              <a:rPr/>
              <a:t>Tech-specific instructions</a:t>
            </a:r>
          </a:p>
          <a:p>
            <a:pPr lvl="1"/>
            <a:r>
              <a:rPr/>
              <a:t>Standards and practices</a:t>
            </a:r>
          </a:p>
          <a:p>
            <a:pPr lvl="0"/>
            <a:r>
              <a:rPr/>
              <a:t>They need to be consistent and not contradictory</a:t>
            </a:r>
          </a:p>
        </p:txBody>
      </p:sp>
    </p:spTree>
  </p:cSl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Instruction File Locations</a:t>
            </a:r>
          </a:p>
        </p:txBody>
      </p:sp>
      <p:sp>
        <p:nvSpPr>
          <p:cNvPr id="3" name="Content Placeholder 2"/>
          <p:cNvSpPr>
            <a:spLocks noGrp="1"/>
          </p:cNvSpPr>
          <p:nvPr>
            <p:ph idx="1"/>
          </p:nvPr>
        </p:nvSpPr>
        <p:spPr/>
        <p:txBody>
          <a:bodyPr/>
          <a:lstStyle/>
          <a:p>
            <a:pPr lvl="0"/>
            <a:r>
              <a:rPr/>
              <a:t>Personal - </a:t>
            </a:r>
            <a:r>
              <a:rPr>
                <a:latin typeface="Courier"/>
              </a:rPr>
              <a:t>$home\.github\copilot-instructions.md</a:t>
            </a:r>
          </a:p>
          <a:p>
            <a:pPr lvl="0"/>
            <a:r>
              <a:rPr/>
              <a:t>Project - .github</a:t>
            </a:r>
          </a:p>
          <a:p>
            <a:pPr lvl="0"/>
            <a:r>
              <a:rPr/>
              <a:t>File names should be </a:t>
            </a:r>
            <a:r>
              <a:rPr>
                <a:latin typeface="Courier"/>
              </a:rPr>
              <a:t>*.instructions.md</a:t>
            </a:r>
          </a:p>
        </p:txBody>
      </p:sp>
    </p:spTree>
  </p:cSl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Generating instruction files</a:t>
            </a:r>
          </a:p>
        </p:txBody>
      </p:sp>
      <p:sp>
        <p:nvSpPr>
          <p:cNvPr id="3" name="Content Placeholder 2"/>
          <p:cNvSpPr>
            <a:spLocks noGrp="1"/>
          </p:cNvSpPr>
          <p:nvPr>
            <p:ph idx="1"/>
          </p:nvPr>
        </p:nvSpPr>
        <p:spPr/>
        <p:txBody>
          <a:bodyPr/>
          <a:lstStyle/>
          <a:p>
            <a:pPr lvl="0"/>
            <a:r>
              <a:rPr/>
              <a:t>Prompts to generate instructions</a:t>
            </a:r>
          </a:p>
          <a:p>
            <a:pPr lvl="1"/>
            <a:r>
              <a:rPr/>
              <a:t>Instructions on generating instruction files</a:t>
            </a:r>
          </a:p>
          <a:p>
            <a:pPr lvl="0"/>
            <a:r>
              <a:rPr/>
              <a:t>Use current codebase as context</a:t>
            </a:r>
          </a:p>
          <a:p>
            <a:pPr lvl="0"/>
            <a:r>
              <a:rPr/>
              <a:t>Keeping instruction files fresh</a:t>
            </a:r>
          </a:p>
          <a:p>
            <a:pPr lvl="0"/>
            <a:r>
              <a:rPr/>
              <a:t>Prompts for updates</a:t>
            </a:r>
          </a:p>
          <a:p>
            <a:pPr lvl="0"/>
            <a:r>
              <a:rPr/>
              <a:t>Copilot suggestions based on codebase changes</a:t>
            </a:r>
          </a:p>
        </p:txBody>
      </p:sp>
    </p:spTree>
  </p:cSl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Exercise #3 – Create Instruction Files</a:t>
            </a:r>
          </a:p>
        </p:txBody>
      </p:sp>
      <p:sp>
        <p:nvSpPr>
          <p:cNvPr id="3" name="Content Placeholder 2"/>
          <p:cNvSpPr>
            <a:spLocks noGrp="1"/>
          </p:cNvSpPr>
          <p:nvPr>
            <p:ph idx="1"/>
          </p:nvPr>
        </p:nvSpPr>
        <p:spPr/>
        <p:txBody>
          <a:bodyPr/>
          <a:lstStyle/>
          <a:p>
            <a:pPr lvl="0" indent="0" marL="0">
              <a:buNone/>
            </a:pPr>
            <a:r>
              <a:rPr b="1"/>
              <a:t>Objective</a:t>
            </a:r>
            <a:r>
              <a:rPr/>
              <a:t>: Create instruction files manually and with Copilot assistance</a:t>
            </a:r>
          </a:p>
          <a:p>
            <a:pPr lvl="0"/>
            <a:r>
              <a:rPr/>
              <a:t>Manually create instructions with:</a:t>
            </a:r>
          </a:p>
          <a:p>
            <a:pPr lvl="1"/>
            <a:r>
              <a:rPr/>
              <a:t>Business rules</a:t>
            </a:r>
          </a:p>
          <a:p>
            <a:pPr lvl="1"/>
            <a:r>
              <a:rPr/>
              <a:t>Workflows</a:t>
            </a:r>
          </a:p>
          <a:p>
            <a:pPr lvl="1"/>
            <a:r>
              <a:rPr/>
              <a:t>Purpose</a:t>
            </a:r>
          </a:p>
          <a:p>
            <a:pPr lvl="1"/>
            <a:r>
              <a:rPr/>
              <a:t>Tech stack</a:t>
            </a:r>
          </a:p>
          <a:p>
            <a:pPr lvl="1"/>
            <a:r>
              <a:rPr/>
              <a:t>Architecture</a:t>
            </a:r>
          </a:p>
          <a:p>
            <a:pPr lvl="0"/>
            <a:r>
              <a:rPr/>
              <a:t>Use Copilot to generate instruction files using the codebase</a:t>
            </a:r>
          </a:p>
          <a:p>
            <a:pPr lvl="0"/>
            <a:r>
              <a:rPr b="1"/>
              <a:t>Bonus</a:t>
            </a:r>
          </a:p>
          <a:p>
            <a:pPr lvl="0"/>
            <a:r>
              <a:rPr/>
              <a:t>Review for errors, omissions and inconsistencies</a:t>
            </a:r>
          </a:p>
          <a:p>
            <a:pPr lvl="0"/>
            <a:r>
              <a:rPr/>
              <a:t>Ask Copilot for updates instructions based on tech/practice changes</a:t>
            </a:r>
          </a:p>
        </p:txBody>
      </p:sp>
    </p:spTree>
  </p:cSl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Understanding legacy code</a:t>
            </a:r>
          </a:p>
        </p:txBody>
      </p:sp>
      <p:sp>
        <p:nvSpPr>
          <p:cNvPr id="3" name="Content Placeholder 2"/>
          <p:cNvSpPr>
            <a:spLocks noGrp="1"/>
          </p:cNvSpPr>
          <p:nvPr>
            <p:ph idx="1"/>
          </p:nvPr>
        </p:nvSpPr>
        <p:spPr/>
        <p:txBody>
          <a:bodyPr/>
          <a:lstStyle/>
          <a:p>
            <a:pPr lvl="0"/>
            <a:r>
              <a:rPr/>
              <a:t>Generating documentation</a:t>
            </a:r>
          </a:p>
          <a:p>
            <a:pPr lvl="0"/>
            <a:r>
              <a:rPr/>
              <a:t>Update README files</a:t>
            </a:r>
          </a:p>
          <a:p>
            <a:pPr lvl="0"/>
            <a:r>
              <a:rPr/>
              <a:t>Generate architecture diagrams</a:t>
            </a:r>
          </a:p>
          <a:p>
            <a:pPr lvl="0"/>
            <a:r>
              <a:rPr/>
              <a:t>Identify and explain complex or confusing code</a:t>
            </a:r>
          </a:p>
        </p:txBody>
      </p:sp>
    </p:spTree>
  </p:cSl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Exercise #4 – Understanding legacy code</a:t>
            </a:r>
          </a:p>
        </p:txBody>
      </p:sp>
      <p:sp>
        <p:nvSpPr>
          <p:cNvPr id="3" name="Content Placeholder 2"/>
          <p:cNvSpPr>
            <a:spLocks noGrp="1"/>
          </p:cNvSpPr>
          <p:nvPr>
            <p:ph idx="1"/>
          </p:nvPr>
        </p:nvSpPr>
        <p:spPr/>
        <p:txBody>
          <a:bodyPr/>
          <a:lstStyle/>
          <a:p>
            <a:pPr lvl="0" indent="0" marL="0">
              <a:buNone/>
            </a:pPr>
            <a:r>
              <a:rPr b="1"/>
              <a:t>Objective</a:t>
            </a:r>
            <a:r>
              <a:rPr/>
              <a:t>: Create documentation for a legacy project using Copilot.</a:t>
            </a:r>
          </a:p>
          <a:p>
            <a:pPr lvl="0"/>
            <a:r>
              <a:rPr/>
              <a:t>Update or create:</a:t>
            </a:r>
          </a:p>
          <a:p>
            <a:pPr lvl="1"/>
            <a:r>
              <a:rPr/>
              <a:t>Development guide</a:t>
            </a:r>
          </a:p>
          <a:p>
            <a:pPr lvl="1"/>
            <a:r>
              <a:rPr/>
              <a:t>Deployment guide</a:t>
            </a:r>
          </a:p>
          <a:p>
            <a:pPr lvl="1"/>
            <a:r>
              <a:rPr/>
              <a:t>README</a:t>
            </a:r>
          </a:p>
          <a:p>
            <a:pPr lvl="1"/>
            <a:r>
              <a:rPr/>
              <a:t>Architecture diagrams</a:t>
            </a:r>
          </a:p>
          <a:p>
            <a:pPr lvl="0"/>
            <a:r>
              <a:rPr/>
              <a:t>Execute prompts to update documentation</a:t>
            </a:r>
          </a:p>
          <a:p>
            <a:pPr lvl="0"/>
            <a:r>
              <a:rPr/>
              <a:t>Review for errors and omissions</a:t>
            </a:r>
          </a:p>
          <a:p>
            <a:pPr lvl="0"/>
            <a:r>
              <a:rPr b="1"/>
              <a:t>Bonus</a:t>
            </a:r>
            <a:r>
              <a:rPr/>
              <a:t>: Use another model to review the documentation</a:t>
            </a:r>
          </a:p>
        </p:txBody>
      </p:sp>
    </p:spTree>
  </p:cSl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Meta-Instructions</a:t>
            </a:r>
          </a:p>
        </p:txBody>
      </p:sp>
    </p:spTree>
  </p:cSl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Keeping Code Evergreen</a:t>
            </a:r>
          </a:p>
        </p:txBody>
      </p:sp>
      <p:sp>
        <p:nvSpPr>
          <p:cNvPr id="3" name="Content Placeholder 2"/>
          <p:cNvSpPr>
            <a:spLocks noGrp="1"/>
          </p:cNvSpPr>
          <p:nvPr>
            <p:ph idx="1"/>
          </p:nvPr>
        </p:nvSpPr>
        <p:spPr/>
        <p:txBody>
          <a:bodyPr/>
          <a:lstStyle/>
          <a:p>
            <a:pPr lvl="0" indent="0" marL="0">
              <a:buNone/>
            </a:pPr>
            <a:r>
              <a:rPr b="1"/>
              <a:t>Prompt</a:t>
            </a:r>
            <a:r>
              <a:rPr/>
              <a:t>: - Create an instruction file for an evergreen project. put it in the .githubfolder. It should be technology agnostic - Create an instruction file for an evergreen golang backend. put it in the .githubfolder. It should be technology focus on golang and not repeat instructions in the #file:evergreen.instructions.md - Review the code in the Fundamentals.sav.calculator folder and create issues for bringing the in compliance with the instructions. Prioritize and categorize the issues.</a:t>
            </a:r>
          </a:p>
        </p:txBody>
      </p:sp>
    </p:spTree>
  </p:cSl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Day Three – Legacy Development</a:t>
            </a:r>
          </a:p>
        </p:txBody>
      </p:sp>
    </p:spTree>
  </p:cSl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Creating a safety net</a:t>
            </a:r>
          </a:p>
        </p:txBody>
      </p:sp>
      <p:sp>
        <p:nvSpPr>
          <p:cNvPr id="3" name="Content Placeholder 2"/>
          <p:cNvSpPr>
            <a:spLocks noGrp="1"/>
          </p:cNvSpPr>
          <p:nvPr>
            <p:ph idx="1"/>
          </p:nvPr>
        </p:nvSpPr>
        <p:spPr/>
        <p:txBody>
          <a:bodyPr/>
          <a:lstStyle/>
          <a:p>
            <a:pPr lvl="0"/>
            <a:r>
              <a:rPr/>
              <a:t>Linting</a:t>
            </a:r>
          </a:p>
          <a:p>
            <a:pPr lvl="0"/>
            <a:r>
              <a:rPr/>
              <a:t>What AI can do beyond static tools</a:t>
            </a:r>
          </a:p>
          <a:p>
            <a:pPr lvl="0"/>
            <a:r>
              <a:rPr/>
              <a:t>Create and execute linting rules with AI</a:t>
            </a:r>
          </a:p>
        </p:txBody>
      </p:sp>
    </p:spTree>
  </p:cSld>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Test automation</a:t>
            </a:r>
          </a:p>
        </p:txBody>
      </p:sp>
      <p:sp>
        <p:nvSpPr>
          <p:cNvPr id="3" name="Content Placeholder 2"/>
          <p:cNvSpPr>
            <a:spLocks noGrp="1"/>
          </p:cNvSpPr>
          <p:nvPr>
            <p:ph idx="1"/>
          </p:nvPr>
        </p:nvSpPr>
        <p:spPr/>
        <p:txBody>
          <a:bodyPr/>
          <a:lstStyle/>
          <a:p>
            <a:pPr lvl="0"/>
            <a:r>
              <a:rPr/>
              <a:t>Unit, integration, E2E, and other tests</a:t>
            </a:r>
          </a:p>
          <a:p>
            <a:pPr lvl="0"/>
            <a:r>
              <a:rPr/>
              <a:t>Generating tests</a:t>
            </a:r>
          </a:p>
          <a:p>
            <a:pPr lvl="0"/>
            <a:r>
              <a:rPr/>
              <a:t>How many tests are enough?</a:t>
            </a:r>
          </a:p>
        </p:txBody>
      </p:sp>
    </p:spTree>
  </p:cSld>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Exercise #5 – Generate Tests</a:t>
            </a:r>
          </a:p>
        </p:txBody>
      </p:sp>
      <p:sp>
        <p:nvSpPr>
          <p:cNvPr id="3" name="Content Placeholder 2"/>
          <p:cNvSpPr>
            <a:spLocks noGrp="1"/>
          </p:cNvSpPr>
          <p:nvPr>
            <p:ph idx="1"/>
          </p:nvPr>
        </p:nvSpPr>
        <p:spPr/>
        <p:txBody>
          <a:bodyPr/>
          <a:lstStyle/>
          <a:p>
            <a:pPr lvl="0" indent="0" marL="0">
              <a:buNone/>
            </a:pPr>
            <a:r>
              <a:rPr/>
              <a:t>Objective: Same as earlier—focus on test creation and review.</a:t>
            </a:r>
          </a:p>
          <a:p>
            <a:pPr lvl="0" indent="0" marL="0">
              <a:buNone/>
            </a:pPr>
            <a:r>
              <a:rPr b="1"/>
              <a:t>Bonus</a:t>
            </a:r>
            <a:r>
              <a:rPr/>
              <a:t>: Use another model to review the tests</a:t>
            </a:r>
          </a:p>
        </p:txBody>
      </p:sp>
    </p:spTree>
  </p:cSld>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Identifying Instruction Compliance Gaps</a:t>
            </a:r>
          </a:p>
        </p:txBody>
      </p:sp>
      <p:sp>
        <p:nvSpPr>
          <p:cNvPr id="3" name="Content Placeholder 2"/>
          <p:cNvSpPr>
            <a:spLocks noGrp="1"/>
          </p:cNvSpPr>
          <p:nvPr>
            <p:ph idx="1"/>
          </p:nvPr>
        </p:nvSpPr>
        <p:spPr/>
        <p:txBody>
          <a:bodyPr/>
          <a:lstStyle/>
          <a:p>
            <a:pPr lvl="0"/>
            <a:r>
              <a:rPr/>
              <a:t>Compare current implementation to instructions</a:t>
            </a:r>
          </a:p>
          <a:p>
            <a:pPr lvl="0"/>
            <a:r>
              <a:rPr/>
              <a:t>Generate issues from gaps</a:t>
            </a:r>
          </a:p>
          <a:p>
            <a:pPr lvl="0"/>
            <a:r>
              <a:rPr/>
              <a:t>Identify low-hanging fruit</a:t>
            </a:r>
          </a:p>
        </p:txBody>
      </p:sp>
    </p:spTree>
  </p:cSld>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Exercise #6 – Identify Gaps</a:t>
            </a:r>
          </a:p>
        </p:txBody>
      </p:sp>
      <p:sp>
        <p:nvSpPr>
          <p:cNvPr id="3" name="Content Placeholder 2"/>
          <p:cNvSpPr>
            <a:spLocks noGrp="1"/>
          </p:cNvSpPr>
          <p:nvPr>
            <p:ph idx="1"/>
          </p:nvPr>
        </p:nvSpPr>
        <p:spPr/>
        <p:txBody>
          <a:bodyPr/>
          <a:lstStyle/>
          <a:p>
            <a:pPr lvl="0" indent="0" marL="0">
              <a:buNone/>
            </a:pPr>
            <a:r>
              <a:rPr b="1"/>
              <a:t>Objective</a:t>
            </a:r>
            <a:r>
              <a:rPr/>
              <a:t>: Use Copilot to compare the implementation with the instruction files.</a:t>
            </a:r>
          </a:p>
          <a:p>
            <a:pPr lvl="0"/>
            <a:r>
              <a:rPr/>
              <a:t>Create prompt to identify deviations</a:t>
            </a:r>
          </a:p>
          <a:p>
            <a:pPr lvl="0"/>
            <a:r>
              <a:rPr/>
              <a:t>Review response</a:t>
            </a:r>
          </a:p>
          <a:p>
            <a:pPr lvl="0" indent="0" marL="0">
              <a:buNone/>
            </a:pPr>
            <a:r>
              <a:rPr b="1"/>
              <a:t>Bonus</a:t>
            </a:r>
            <a:r>
              <a:rPr/>
              <a:t>: Generate GitHub issues from findings</a:t>
            </a:r>
          </a:p>
        </p:txBody>
      </p:sp>
    </p:spTree>
  </p:cSld>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Exercise #7 – Address a Compliance Gap</a:t>
            </a:r>
          </a:p>
        </p:txBody>
      </p:sp>
      <p:sp>
        <p:nvSpPr>
          <p:cNvPr id="3" name="Content Placeholder 2"/>
          <p:cNvSpPr>
            <a:spLocks noGrp="1"/>
          </p:cNvSpPr>
          <p:nvPr>
            <p:ph idx="1"/>
          </p:nvPr>
        </p:nvSpPr>
        <p:spPr/>
        <p:txBody>
          <a:bodyPr/>
          <a:lstStyle/>
          <a:p>
            <a:pPr lvl="0" indent="0" marL="0">
              <a:buNone/>
            </a:pPr>
            <a:r>
              <a:rPr b="1"/>
              <a:t>Objective</a:t>
            </a:r>
            <a:r>
              <a:rPr/>
              <a:t>: Create a plan to address a deviation found in Exercise #6.</a:t>
            </a:r>
          </a:p>
          <a:p>
            <a:pPr lvl="0"/>
            <a:r>
              <a:rPr/>
              <a:t>Ask Copilot to create a remediation plan</a:t>
            </a:r>
          </a:p>
          <a:p>
            <a:pPr lvl="0"/>
            <a:r>
              <a:rPr/>
              <a:t>Review the plan</a:t>
            </a:r>
          </a:p>
          <a:p>
            <a:pPr lvl="0" indent="0" marL="0">
              <a:buNone/>
            </a:pPr>
            <a:r>
              <a:rPr b="1"/>
              <a:t>Bonus</a:t>
            </a:r>
            <a:r>
              <a:rPr/>
              <a:t>: Ask a different model to review the plan</a:t>
            </a:r>
          </a:p>
        </p:txBody>
      </p:sp>
    </p:spTree>
  </p:cSld>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Comparing Implementations</a:t>
            </a:r>
          </a:p>
        </p:txBody>
      </p:sp>
      <p:sp>
        <p:nvSpPr>
          <p:cNvPr id="3" name="Content Placeholder 2"/>
          <p:cNvSpPr>
            <a:spLocks noGrp="1"/>
          </p:cNvSpPr>
          <p:nvPr>
            <p:ph idx="1"/>
          </p:nvPr>
        </p:nvSpPr>
        <p:spPr/>
        <p:txBody>
          <a:bodyPr/>
          <a:lstStyle/>
          <a:p>
            <a:pPr lvl="0"/>
            <a:r>
              <a:rPr/>
              <a:t>Implement the same change with multiple models</a:t>
            </a:r>
          </a:p>
          <a:p>
            <a:pPr lvl="0"/>
            <a:r>
              <a:rPr/>
              <a:t>Ask Copilot to summarize pros and cons</a:t>
            </a:r>
          </a:p>
        </p:txBody>
      </p:sp>
    </p:spTree>
  </p:cSld>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Exercise #8 – Compare Implementations</a:t>
            </a:r>
          </a:p>
        </p:txBody>
      </p:sp>
      <p:sp>
        <p:nvSpPr>
          <p:cNvPr id="3" name="Content Placeholder 2"/>
          <p:cNvSpPr>
            <a:spLocks noGrp="1"/>
          </p:cNvSpPr>
          <p:nvPr>
            <p:ph idx="1"/>
          </p:nvPr>
        </p:nvSpPr>
        <p:spPr/>
        <p:txBody>
          <a:bodyPr/>
          <a:lstStyle/>
          <a:p>
            <a:pPr lvl="0" indent="0" marL="0">
              <a:buNone/>
            </a:pPr>
            <a:r>
              <a:rPr b="1"/>
              <a:t>Objective</a:t>
            </a:r>
            <a:r>
              <a:rPr/>
              <a:t>: Use two models to implement a change and compare results.</a:t>
            </a:r>
          </a:p>
          <a:p>
            <a:pPr lvl="0"/>
            <a:r>
              <a:rPr/>
              <a:t>Create branches for each model</a:t>
            </a:r>
          </a:p>
          <a:p>
            <a:pPr lvl="0"/>
            <a:r>
              <a:rPr/>
              <a:t>Implement fix using different models</a:t>
            </a:r>
          </a:p>
          <a:p>
            <a:pPr lvl="0"/>
            <a:r>
              <a:rPr/>
              <a:t>Compare implementations</a:t>
            </a:r>
          </a:p>
          <a:p>
            <a:pPr lvl="0" indent="0" marL="0">
              <a:buNone/>
            </a:pPr>
            <a:r>
              <a:rPr b="1"/>
              <a:t>Bonus</a:t>
            </a:r>
            <a:r>
              <a:rPr/>
              <a:t>: Ask a second model to compare and report pros/cons</a:t>
            </a:r>
          </a:p>
        </p:txBody>
      </p:sp>
    </p:spTree>
  </p:cSld>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Day Four – New Development</a:t>
            </a:r>
          </a:p>
        </p:txBody>
      </p:sp>
    </p:spTree>
  </p:cSld>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Exercise #1 – Fork the repos</a:t>
            </a:r>
          </a:p>
        </p:txBody>
      </p:sp>
      <p:sp>
        <p:nvSpPr>
          <p:cNvPr id="3" name="Content Placeholder 2"/>
          <p:cNvSpPr>
            <a:spLocks noGrp="1"/>
          </p:cNvSpPr>
          <p:nvPr>
            <p:ph idx="1"/>
          </p:nvPr>
        </p:nvSpPr>
        <p:spPr/>
        <p:txBody>
          <a:bodyPr/>
          <a:lstStyle/>
          <a:p>
            <a:pPr lvl="0" indent="0" marL="0">
              <a:buNone/>
            </a:pPr>
            <a:r>
              <a:rPr b="1"/>
              <a:t>Objective</a:t>
            </a:r>
            <a:r>
              <a:rPr/>
              <a:t>: Fork the course repos</a:t>
            </a:r>
          </a:p>
          <a:p>
            <a:pPr lvl="0"/>
            <a:r>
              <a:rPr/>
              <a:t>Search GitHub for</a:t>
            </a:r>
          </a:p>
          <a:p>
            <a:pPr lvl="1"/>
            <a:r>
              <a:rPr/>
              <a:t>AI-Assisted-Software-Development</a:t>
            </a:r>
          </a:p>
          <a:p>
            <a:pPr lvl="1"/>
            <a:r>
              <a:rPr/>
              <a:t>zeus.academia.2</a:t>
            </a:r>
          </a:p>
          <a:p>
            <a:pPr lvl="1"/>
            <a:r>
              <a:rPr/>
              <a:t>zeus.academia.3a</a:t>
            </a:r>
          </a:p>
          <a:p>
            <a:pPr lvl="0"/>
            <a:r>
              <a:rPr/>
              <a:t>Fork the repos</a:t>
            </a:r>
          </a:p>
          <a:p>
            <a:pPr lvl="1"/>
            <a:r>
              <a:rPr/>
              <a:t>This will create a personal copy under your GitHub account</a:t>
            </a:r>
          </a:p>
          <a:p>
            <a:pPr lvl="1"/>
            <a:r>
              <a:rPr/>
              <a:t>You can make changes without affecting the original repo</a:t>
            </a:r>
          </a:p>
        </p:txBody>
      </p:sp>
    </p:spTree>
  </p:cSld>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Starting with Project Requirements</a:t>
            </a:r>
          </a:p>
        </p:txBody>
      </p:sp>
      <p:sp>
        <p:nvSpPr>
          <p:cNvPr id="3" name="Content Placeholder 2"/>
          <p:cNvSpPr>
            <a:spLocks noGrp="1"/>
          </p:cNvSpPr>
          <p:nvPr>
            <p:ph idx="1"/>
          </p:nvPr>
        </p:nvSpPr>
        <p:spPr/>
        <p:txBody>
          <a:bodyPr/>
          <a:lstStyle/>
          <a:p>
            <a:pPr lvl="0"/>
            <a:r>
              <a:rPr/>
              <a:t>Business rules</a:t>
            </a:r>
          </a:p>
          <a:p>
            <a:pPr lvl="0"/>
            <a:r>
              <a:rPr/>
              <a:t>Workflows</a:t>
            </a:r>
          </a:p>
          <a:p>
            <a:pPr lvl="0"/>
            <a:r>
              <a:rPr/>
              <a:t>Tech stack</a:t>
            </a:r>
          </a:p>
          <a:p>
            <a:pPr lvl="0"/>
            <a:r>
              <a:rPr/>
              <a:t>Architecture</a:t>
            </a:r>
          </a:p>
        </p:txBody>
      </p:sp>
    </p:spTree>
  </p:cSld>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Exercise #9 – Create Project Requirement Instructions</a:t>
            </a:r>
          </a:p>
        </p:txBody>
      </p:sp>
      <p:sp>
        <p:nvSpPr>
          <p:cNvPr id="3" name="Content Placeholder 2"/>
          <p:cNvSpPr>
            <a:spLocks noGrp="1"/>
          </p:cNvSpPr>
          <p:nvPr>
            <p:ph idx="1"/>
          </p:nvPr>
        </p:nvSpPr>
        <p:spPr/>
        <p:txBody>
          <a:bodyPr/>
          <a:lstStyle/>
          <a:p>
            <a:pPr lvl="0"/>
            <a:r>
              <a:rPr b="1"/>
              <a:t>Objective</a:t>
            </a:r>
            <a:r>
              <a:rPr/>
              <a:t>: Create project requirement instructions, some project-specific, some generic, using both manual and Copilot-assisted methods.</a:t>
            </a:r>
          </a:p>
          <a:p>
            <a:pPr lvl="0"/>
            <a:r>
              <a:rPr/>
              <a:t>Manually create a copilot-instructions.md file and add:</a:t>
            </a:r>
          </a:p>
          <a:p>
            <a:pPr lvl="1"/>
            <a:r>
              <a:rPr/>
              <a:t>Business rules</a:t>
            </a:r>
          </a:p>
          <a:p>
            <a:pPr lvl="1"/>
            <a:r>
              <a:rPr/>
              <a:t>Workflows</a:t>
            </a:r>
          </a:p>
          <a:p>
            <a:pPr lvl="1"/>
            <a:r>
              <a:rPr/>
              <a:t>Purpose</a:t>
            </a:r>
          </a:p>
          <a:p>
            <a:pPr lvl="1"/>
            <a:r>
              <a:rPr/>
              <a:t>Tech stack</a:t>
            </a:r>
          </a:p>
          <a:p>
            <a:pPr lvl="1"/>
            <a:r>
              <a:rPr/>
              <a:t>Architecture</a:t>
            </a:r>
          </a:p>
          <a:p>
            <a:pPr lvl="0"/>
            <a:r>
              <a:rPr/>
              <a:t>Use Copilot to generate instruction files using the copilot-instructions.md and the codebase for context.</a:t>
            </a:r>
          </a:p>
          <a:p>
            <a:pPr lvl="0" indent="0" marL="0">
              <a:buNone/>
            </a:pPr>
            <a:r>
              <a:rPr b="1"/>
              <a:t>Bonus</a:t>
            </a:r>
            <a:r>
              <a:rPr/>
              <a:t>:</a:t>
            </a:r>
          </a:p>
          <a:p>
            <a:pPr lvl="0"/>
            <a:r>
              <a:rPr/>
              <a:t>Review instruction files for errors and omissions.</a:t>
            </a:r>
          </a:p>
          <a:p>
            <a:pPr lvl="0"/>
            <a:r>
              <a:rPr/>
              <a:t>Ask Copilot to suggest changes based on evolving tech and practices.</a:t>
            </a:r>
          </a:p>
        </p:txBody>
      </p:sp>
    </p:spTree>
  </p:cSld>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Creating Instructions</a:t>
            </a:r>
          </a:p>
        </p:txBody>
      </p:sp>
      <p:sp>
        <p:nvSpPr>
          <p:cNvPr id="3" name="Content Placeholder 2"/>
          <p:cNvSpPr>
            <a:spLocks noGrp="1"/>
          </p:cNvSpPr>
          <p:nvPr>
            <p:ph idx="1"/>
          </p:nvPr>
        </p:nvSpPr>
        <p:spPr/>
        <p:txBody>
          <a:bodyPr/>
          <a:lstStyle/>
          <a:p>
            <a:pPr lvl="0"/>
            <a:r>
              <a:rPr/>
              <a:t>What are instructions?</a:t>
            </a:r>
          </a:p>
          <a:p>
            <a:pPr lvl="1"/>
            <a:r>
              <a:rPr/>
              <a:t>Locations:</a:t>
            </a:r>
          </a:p>
          <a:p>
            <a:pPr lvl="1"/>
            <a:r>
              <a:rPr/>
              <a:t>Project</a:t>
            </a:r>
          </a:p>
          <a:p>
            <a:pPr lvl="1"/>
            <a:r>
              <a:rPr/>
              <a:t>User</a:t>
            </a:r>
          </a:p>
          <a:p>
            <a:pPr lvl="0"/>
            <a:r>
              <a:rPr/>
              <a:t>AI-assisted instruction generation</a:t>
            </a:r>
          </a:p>
        </p:txBody>
      </p:sp>
    </p:spTree>
  </p:cSld>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Day Five Agenda – New Development</a:t>
            </a:r>
          </a:p>
        </p:txBody>
      </p:sp>
    </p:spTree>
  </p:cSld>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a:t>Creating Custom Chat Modes</a:t>
            </a:r>
          </a:p>
          <a:p>
            <a:pPr lvl="0"/>
            <a:r>
              <a:rPr/>
              <a:t>Generating Implementation Prompts &amp; Verification</a:t>
            </a:r>
          </a:p>
          <a:p>
            <a:pPr lvl="0"/>
            <a:r>
              <a:rPr/>
              <a:t>Exercises</a:t>
            </a:r>
          </a:p>
          <a:p>
            <a:pPr lvl="0"/>
            <a:r>
              <a:rPr/>
              <a:t>Wrap-Up and Open Q&amp;A</a:t>
            </a:r>
          </a:p>
        </p:txBody>
      </p:sp>
    </p:spTree>
  </p:cSld>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Exercise #10 – Generate Instruction Files</a:t>
            </a:r>
          </a:p>
        </p:txBody>
      </p:sp>
      <p:sp>
        <p:nvSpPr>
          <p:cNvPr id="3" name="Content Placeholder 2"/>
          <p:cNvSpPr>
            <a:spLocks noGrp="1"/>
          </p:cNvSpPr>
          <p:nvPr>
            <p:ph idx="1"/>
          </p:nvPr>
        </p:nvSpPr>
        <p:spPr/>
        <p:txBody>
          <a:bodyPr/>
          <a:lstStyle/>
          <a:p>
            <a:pPr lvl="0" indent="0" marL="0">
              <a:buNone/>
            </a:pPr>
            <a:r>
              <a:rPr b="1"/>
              <a:t>Objective</a:t>
            </a:r>
            <a:r>
              <a:rPr/>
              <a:t>: Create instruction files, some project-specific, some generic, using both manual and Copilot-assisted methods.</a:t>
            </a:r>
          </a:p>
          <a:p>
            <a:pPr lvl="0"/>
            <a:r>
              <a:rPr/>
              <a:t>Manually create a copilot-instructions.md file and add:</a:t>
            </a:r>
          </a:p>
          <a:p>
            <a:pPr lvl="1"/>
            <a:r>
              <a:rPr/>
              <a:t>Business rules</a:t>
            </a:r>
          </a:p>
          <a:p>
            <a:pPr lvl="1"/>
            <a:r>
              <a:rPr/>
              <a:t>Workflows</a:t>
            </a:r>
          </a:p>
          <a:p>
            <a:pPr lvl="1"/>
            <a:r>
              <a:rPr/>
              <a:t>Purpose</a:t>
            </a:r>
          </a:p>
          <a:p>
            <a:pPr lvl="1"/>
            <a:r>
              <a:rPr/>
              <a:t>Tech stack</a:t>
            </a:r>
          </a:p>
          <a:p>
            <a:pPr lvl="1"/>
            <a:r>
              <a:rPr/>
              <a:t>Architecture</a:t>
            </a:r>
          </a:p>
          <a:p>
            <a:pPr lvl="0"/>
            <a:r>
              <a:rPr/>
              <a:t>Use Copilot to generate instruction files using the copilot-instructions.md and the codebase for context.</a:t>
            </a:r>
          </a:p>
          <a:p>
            <a:pPr lvl="0" indent="0" marL="0">
              <a:buNone/>
            </a:pPr>
            <a:r>
              <a:rPr b="1"/>
              <a:t>Bonus</a:t>
            </a:r>
            <a:r>
              <a:rPr/>
              <a:t>:</a:t>
            </a:r>
          </a:p>
          <a:p>
            <a:pPr lvl="0"/>
            <a:r>
              <a:rPr/>
              <a:t>Review instruction files for errors and omissions.</a:t>
            </a:r>
          </a:p>
          <a:p>
            <a:pPr lvl="0"/>
            <a:r>
              <a:rPr/>
              <a:t>Ask Copilot to suggest changes based on evolving tech and practices.</a:t>
            </a:r>
          </a:p>
        </p:txBody>
      </p:sp>
    </p:spTree>
  </p:cSld>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Creating Custom Chat Modes</a:t>
            </a:r>
          </a:p>
        </p:txBody>
      </p:sp>
      <p:sp>
        <p:nvSpPr>
          <p:cNvPr id="3" name="Content Placeholder 2"/>
          <p:cNvSpPr>
            <a:spLocks noGrp="1"/>
          </p:cNvSpPr>
          <p:nvPr>
            <p:ph idx="1"/>
          </p:nvPr>
        </p:nvSpPr>
        <p:spPr/>
        <p:txBody>
          <a:bodyPr/>
          <a:lstStyle/>
          <a:p>
            <a:pPr lvl="0"/>
            <a:r>
              <a:rPr/>
              <a:t>Personas</a:t>
            </a:r>
          </a:p>
          <a:p>
            <a:pPr lvl="0"/>
            <a:r>
              <a:rPr/>
              <a:t>Workflows</a:t>
            </a:r>
          </a:p>
          <a:p>
            <a:pPr lvl="0"/>
            <a:r>
              <a:rPr/>
              <a:t>Examples</a:t>
            </a:r>
          </a:p>
          <a:p>
            <a:pPr lvl="0"/>
            <a:r>
              <a:rPr/>
              <a:t>Agents</a:t>
            </a:r>
          </a:p>
          <a:p>
            <a:pPr lvl="0"/>
            <a:r>
              <a:rPr/>
              <a:t>Allowing agents to take autonomous action</a:t>
            </a:r>
          </a:p>
          <a:p>
            <a:pPr lvl="0"/>
            <a:r>
              <a:rPr/>
              <a:t>agent.json</a:t>
            </a:r>
          </a:p>
          <a:p>
            <a:pPr lvl="1"/>
            <a:r>
              <a:rPr/>
              <a:t>Safe commands</a:t>
            </a:r>
          </a:p>
          <a:p>
            <a:pPr lvl="1"/>
            <a:r>
              <a:rPr/>
              <a:t>Unsafe commands</a:t>
            </a:r>
          </a:p>
        </p:txBody>
      </p:sp>
    </p:spTree>
  </p:cSld>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Exercise #11 – Creating Custom Chat Modes</a:t>
            </a:r>
          </a:p>
        </p:txBody>
      </p:sp>
      <p:sp>
        <p:nvSpPr>
          <p:cNvPr id="3" name="Content Placeholder 2"/>
          <p:cNvSpPr>
            <a:spLocks noGrp="1"/>
          </p:cNvSpPr>
          <p:nvPr>
            <p:ph idx="1"/>
          </p:nvPr>
        </p:nvSpPr>
        <p:spPr/>
        <p:txBody>
          <a:bodyPr/>
          <a:lstStyle/>
          <a:p>
            <a:pPr lvl="0" indent="0" marL="0">
              <a:buNone/>
            </a:pPr>
            <a:r>
              <a:rPr b="1"/>
              <a:t>Objective</a:t>
            </a:r>
            <a:r>
              <a:rPr/>
              <a:t>: Create custom chat modes for the project.</a:t>
            </a:r>
          </a:p>
          <a:p>
            <a:pPr lvl="0"/>
            <a:r>
              <a:rPr/>
              <a:t>Define personas and workflows for each chat mode.</a:t>
            </a:r>
          </a:p>
          <a:p>
            <a:pPr lvl="0"/>
            <a:r>
              <a:rPr/>
              <a:t>Implement chat modes using Copilot assistance.</a:t>
            </a:r>
          </a:p>
          <a:p>
            <a:pPr lvl="0"/>
            <a:r>
              <a:rPr/>
              <a:t>Create an agent.json file with safe commands.</a:t>
            </a:r>
          </a:p>
          <a:p>
            <a:pPr lvl="0"/>
            <a:r>
              <a:rPr/>
              <a:t>Test the agent’s ability to execute safe commands.</a:t>
            </a:r>
          </a:p>
        </p:txBody>
      </p:sp>
    </p:spTree>
  </p:cSld>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Generating Implementation Prompts &amp; Verification</a:t>
            </a:r>
          </a:p>
        </p:txBody>
      </p:sp>
      <p:sp>
        <p:nvSpPr>
          <p:cNvPr id="3" name="Content Placeholder 2"/>
          <p:cNvSpPr>
            <a:spLocks noGrp="1"/>
          </p:cNvSpPr>
          <p:nvPr>
            <p:ph idx="1"/>
          </p:nvPr>
        </p:nvSpPr>
        <p:spPr/>
        <p:txBody>
          <a:bodyPr/>
          <a:lstStyle/>
          <a:p>
            <a:pPr lvl="0"/>
            <a:r>
              <a:rPr/>
              <a:t>Implementation prompts</a:t>
            </a:r>
          </a:p>
          <a:p>
            <a:pPr lvl="0"/>
            <a:r>
              <a:rPr/>
              <a:t>Implementation verification</a:t>
            </a:r>
          </a:p>
        </p:txBody>
      </p:sp>
    </p:spTree>
  </p:cSld>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Exercise #12 – Executing Prompts</a:t>
            </a:r>
          </a:p>
        </p:txBody>
      </p:sp>
      <p:sp>
        <p:nvSpPr>
          <p:cNvPr id="3" name="Content Placeholder 2"/>
          <p:cNvSpPr>
            <a:spLocks noGrp="1"/>
          </p:cNvSpPr>
          <p:nvPr>
            <p:ph idx="1"/>
          </p:nvPr>
        </p:nvSpPr>
        <p:spPr/>
        <p:txBody>
          <a:bodyPr/>
          <a:lstStyle/>
          <a:p>
            <a:pPr lvl="0" indent="0" marL="0">
              <a:buNone/>
            </a:pPr>
            <a:r>
              <a:rPr b="1"/>
              <a:t>Objective</a:t>
            </a:r>
            <a:r>
              <a:rPr/>
              <a:t>: Execute implementation prompts using custom chat modes.</a:t>
            </a:r>
          </a:p>
          <a:p>
            <a:pPr lvl="0"/>
            <a:r>
              <a:rPr/>
              <a:t>Review the implementation prompts created earlier.</a:t>
            </a:r>
          </a:p>
          <a:p>
            <a:pPr lvl="0"/>
            <a:r>
              <a:rPr/>
              <a:t>Use prompts to guide agent actions.</a:t>
            </a:r>
          </a:p>
          <a:p>
            <a:pPr lvl="0"/>
            <a:r>
              <a:rPr/>
              <a:t>Test agent responses to prompts.</a:t>
            </a:r>
          </a:p>
          <a:p>
            <a:pPr lvl="0"/>
            <a:r>
              <a:rPr/>
              <a:t>Verify implementation passes verification checks.</a:t>
            </a:r>
          </a:p>
        </p:txBody>
      </p:sp>
    </p:spTree>
  </p:cSld>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Wrap-Up and Open Q&amp;A</a:t>
            </a:r>
          </a:p>
        </p:txBody>
      </p:sp>
      <p:sp>
        <p:nvSpPr>
          <p:cNvPr id="3" name="Content Placeholder 2"/>
          <p:cNvSpPr>
            <a:spLocks noGrp="1"/>
          </p:cNvSpPr>
          <p:nvPr>
            <p:ph idx="1"/>
          </p:nvPr>
        </p:nvSpPr>
        <p:spPr/>
        <p:txBody>
          <a:bodyPr/>
          <a:lstStyle/>
          <a:p>
            <a:pPr lvl="0"/>
            <a:r>
              <a:rPr/>
              <a:t>Review the day’s learning outcomes.</a:t>
            </a:r>
          </a:p>
          <a:p>
            <a:pPr lvl="0"/>
            <a:r>
              <a:rPr/>
              <a:t>Address questions or concerns.</a:t>
            </a:r>
          </a:p>
          <a:p>
            <a:pPr lvl="0"/>
            <a:r>
              <a:rPr/>
              <a:t>Discuss next steps and future learning opportunities.</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2025-10-19T18:08:16Z</dcterms:created>
  <dcterms:modified xsi:type="dcterms:W3CDTF">2025-10-19T18:08:16Z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class">
    <vt:lpwstr>lead</vt:lpwstr>
  </property>
  <property fmtid="{D5CDD505-2E9C-101B-9397-08002B2CF9AE}" pid="3" name="backgroundColor">
    <vt:lpwstr/>
  </property>
  <property fmtid="{D5CDD505-2E9C-101B-9397-08002B2CF9AE}" pid="4" name="marp">
    <vt:lpwstr>True</vt:lpwstr>
  </property>
  <property fmtid="{D5CDD505-2E9C-101B-9397-08002B2CF9AE}" pid="5" name="paginate">
    <vt:lpwstr>True</vt:lpwstr>
  </property>
</Properties>
</file>