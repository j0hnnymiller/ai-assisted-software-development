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265" r:id="rId3"/>
    <p:sldId id="266" r:id="rId4"/>
    <p:sldId id="267" r:id="rId5"/>
    <p:sldId id="268" r:id="rId6"/>
    <p:sldId id="269" r:id="rId7"/>
    <p:sldId id="319" r:id="rId8"/>
    <p:sldId id="318" r:id="rId9"/>
    <p:sldId id="33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C2A8E8-1C3F-490B-965D-842553A8CF61}">
          <p14:sldIdLst/>
        </p14:section>
        <p14:section name="Starting with Project Requirements" id="{BEF2D030-F5E0-4EF0-92BD-20F2F5BC23D7}">
          <p14:sldIdLst>
            <p14:sldId id="262"/>
            <p14:sldId id="265"/>
            <p14:sldId id="266"/>
            <p14:sldId id="267"/>
            <p14:sldId id="268"/>
            <p14:sldId id="269"/>
            <p14:sldId id="319"/>
            <p14:sldId id="318"/>
            <p14:sldId id="3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0362AA-CFA7-4186-9A4F-0CD2C5781A0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DFE04F2-C17A-42B4-BF3D-650381D65E68}">
      <dgm:prSet/>
      <dgm:spPr/>
      <dgm:t>
        <a:bodyPr/>
        <a:lstStyle/>
        <a:p>
          <a:pPr>
            <a:defRPr cap="all"/>
          </a:pPr>
          <a:r>
            <a:rPr lang="en-US"/>
            <a:t>Business rules</a:t>
          </a:r>
        </a:p>
      </dgm:t>
    </dgm:pt>
    <dgm:pt modelId="{4F751CFE-C861-4354-BA64-A742AB2D5291}" type="parTrans" cxnId="{4C53150A-0402-4A96-B712-D7B405984BDF}">
      <dgm:prSet/>
      <dgm:spPr/>
      <dgm:t>
        <a:bodyPr/>
        <a:lstStyle/>
        <a:p>
          <a:endParaRPr lang="en-US"/>
        </a:p>
      </dgm:t>
    </dgm:pt>
    <dgm:pt modelId="{3C6E9780-49A8-4ABF-94D8-67846F0AFA82}" type="sibTrans" cxnId="{4C53150A-0402-4A96-B712-D7B405984BDF}">
      <dgm:prSet/>
      <dgm:spPr/>
      <dgm:t>
        <a:bodyPr/>
        <a:lstStyle/>
        <a:p>
          <a:endParaRPr lang="en-US"/>
        </a:p>
      </dgm:t>
    </dgm:pt>
    <dgm:pt modelId="{A97BF373-6481-4DB2-B92A-52613CFB88EE}">
      <dgm:prSet/>
      <dgm:spPr/>
      <dgm:t>
        <a:bodyPr/>
        <a:lstStyle/>
        <a:p>
          <a:pPr>
            <a:defRPr cap="all"/>
          </a:pPr>
          <a:r>
            <a:rPr lang="en-US"/>
            <a:t>Workflows</a:t>
          </a:r>
        </a:p>
      </dgm:t>
    </dgm:pt>
    <dgm:pt modelId="{E9B53A6D-0DCE-4768-A6F6-B09F87456473}" type="parTrans" cxnId="{0DE53BBA-041C-4252-BCC0-168ABE28CE0B}">
      <dgm:prSet/>
      <dgm:spPr/>
      <dgm:t>
        <a:bodyPr/>
        <a:lstStyle/>
        <a:p>
          <a:endParaRPr lang="en-US"/>
        </a:p>
      </dgm:t>
    </dgm:pt>
    <dgm:pt modelId="{563FB25C-6502-4C56-9C7B-C6ACAD2DF57B}" type="sibTrans" cxnId="{0DE53BBA-041C-4252-BCC0-168ABE28CE0B}">
      <dgm:prSet/>
      <dgm:spPr/>
      <dgm:t>
        <a:bodyPr/>
        <a:lstStyle/>
        <a:p>
          <a:endParaRPr lang="en-US"/>
        </a:p>
      </dgm:t>
    </dgm:pt>
    <dgm:pt modelId="{BA497A9C-3708-4F2A-A8AF-F01D97784B2A}">
      <dgm:prSet/>
      <dgm:spPr/>
      <dgm:t>
        <a:bodyPr/>
        <a:lstStyle/>
        <a:p>
          <a:pPr>
            <a:defRPr cap="all"/>
          </a:pPr>
          <a:r>
            <a:rPr lang="en-US"/>
            <a:t>Tech stack</a:t>
          </a:r>
        </a:p>
      </dgm:t>
    </dgm:pt>
    <dgm:pt modelId="{43486A9B-431E-4C88-B82A-38B14D73C5D1}" type="parTrans" cxnId="{2EE0817C-67A0-478C-89A5-E7BB837A7BBC}">
      <dgm:prSet/>
      <dgm:spPr/>
      <dgm:t>
        <a:bodyPr/>
        <a:lstStyle/>
        <a:p>
          <a:endParaRPr lang="en-US"/>
        </a:p>
      </dgm:t>
    </dgm:pt>
    <dgm:pt modelId="{A4CCA0C5-0E40-4B00-A400-DD52B3DF7175}" type="sibTrans" cxnId="{2EE0817C-67A0-478C-89A5-E7BB837A7BBC}">
      <dgm:prSet/>
      <dgm:spPr/>
      <dgm:t>
        <a:bodyPr/>
        <a:lstStyle/>
        <a:p>
          <a:endParaRPr lang="en-US"/>
        </a:p>
      </dgm:t>
    </dgm:pt>
    <dgm:pt modelId="{C525FC69-D396-4EE7-BC31-9E2D01B1FAD0}">
      <dgm:prSet/>
      <dgm:spPr/>
      <dgm:t>
        <a:bodyPr/>
        <a:lstStyle/>
        <a:p>
          <a:pPr>
            <a:defRPr cap="all"/>
          </a:pPr>
          <a:r>
            <a:rPr lang="en-US"/>
            <a:t>Architecture</a:t>
          </a:r>
        </a:p>
      </dgm:t>
    </dgm:pt>
    <dgm:pt modelId="{31020E5F-8E7F-4B20-B074-3C59E7D97022}" type="parTrans" cxnId="{CFE851A4-4DE4-4EAA-ACE0-F849E501A028}">
      <dgm:prSet/>
      <dgm:spPr/>
      <dgm:t>
        <a:bodyPr/>
        <a:lstStyle/>
        <a:p>
          <a:endParaRPr lang="en-US"/>
        </a:p>
      </dgm:t>
    </dgm:pt>
    <dgm:pt modelId="{6CD7BE4E-C00C-4533-B247-E2A1B6E310E9}" type="sibTrans" cxnId="{CFE851A4-4DE4-4EAA-ACE0-F849E501A028}">
      <dgm:prSet/>
      <dgm:spPr/>
      <dgm:t>
        <a:bodyPr/>
        <a:lstStyle/>
        <a:p>
          <a:endParaRPr lang="en-US"/>
        </a:p>
      </dgm:t>
    </dgm:pt>
    <dgm:pt modelId="{BAB64876-436D-4396-AF89-9B27B2162A1E}" type="pres">
      <dgm:prSet presAssocID="{380362AA-CFA7-4186-9A4F-0CD2C5781A05}" presName="root" presStyleCnt="0">
        <dgm:presLayoutVars>
          <dgm:dir/>
          <dgm:resizeHandles val="exact"/>
        </dgm:presLayoutVars>
      </dgm:prSet>
      <dgm:spPr/>
    </dgm:pt>
    <dgm:pt modelId="{A0725C8A-DE4A-459A-932C-8A109844E47B}" type="pres">
      <dgm:prSet presAssocID="{CDFE04F2-C17A-42B4-BF3D-650381D65E68}" presName="compNode" presStyleCnt="0"/>
      <dgm:spPr/>
    </dgm:pt>
    <dgm:pt modelId="{061E6BC1-2272-4EAE-A900-EA40B9FB49E0}" type="pres">
      <dgm:prSet presAssocID="{CDFE04F2-C17A-42B4-BF3D-650381D65E68}" presName="iconBgRect" presStyleLbl="bgShp" presStyleIdx="0" presStyleCnt="4"/>
      <dgm:spPr/>
    </dgm:pt>
    <dgm:pt modelId="{3AA8AD76-CA92-45B3-81B9-8F109EE00ACC}" type="pres">
      <dgm:prSet presAssocID="{CDFE04F2-C17A-42B4-BF3D-650381D65E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6271CEF-2BB8-4E6B-8D2C-EB33B980B9CF}" type="pres">
      <dgm:prSet presAssocID="{CDFE04F2-C17A-42B4-BF3D-650381D65E68}" presName="spaceRect" presStyleCnt="0"/>
      <dgm:spPr/>
    </dgm:pt>
    <dgm:pt modelId="{CD4C2A3D-BCE8-43E0-936E-99290149579D}" type="pres">
      <dgm:prSet presAssocID="{CDFE04F2-C17A-42B4-BF3D-650381D65E68}" presName="textRect" presStyleLbl="revTx" presStyleIdx="0" presStyleCnt="4">
        <dgm:presLayoutVars>
          <dgm:chMax val="1"/>
          <dgm:chPref val="1"/>
        </dgm:presLayoutVars>
      </dgm:prSet>
      <dgm:spPr/>
    </dgm:pt>
    <dgm:pt modelId="{6FEB45C6-D07D-4BE5-9216-D7C7FC065FBC}" type="pres">
      <dgm:prSet presAssocID="{3C6E9780-49A8-4ABF-94D8-67846F0AFA82}" presName="sibTrans" presStyleCnt="0"/>
      <dgm:spPr/>
    </dgm:pt>
    <dgm:pt modelId="{784FD126-90FA-4AE2-988F-E0B4FE103542}" type="pres">
      <dgm:prSet presAssocID="{A97BF373-6481-4DB2-B92A-52613CFB88EE}" presName="compNode" presStyleCnt="0"/>
      <dgm:spPr/>
    </dgm:pt>
    <dgm:pt modelId="{3EE710BF-CC67-4416-AD16-5A4D27FD12B3}" type="pres">
      <dgm:prSet presAssocID="{A97BF373-6481-4DB2-B92A-52613CFB88EE}" presName="iconBgRect" presStyleLbl="bgShp" presStyleIdx="1" presStyleCnt="4"/>
      <dgm:spPr/>
    </dgm:pt>
    <dgm:pt modelId="{251F1EFE-2A6E-486A-9BB2-68EF27EC7BD8}" type="pres">
      <dgm:prSet presAssocID="{A97BF373-6481-4DB2-B92A-52613CFB88E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5E58E26-FBF9-4DAC-905D-955E5BC41C5C}" type="pres">
      <dgm:prSet presAssocID="{A97BF373-6481-4DB2-B92A-52613CFB88EE}" presName="spaceRect" presStyleCnt="0"/>
      <dgm:spPr/>
    </dgm:pt>
    <dgm:pt modelId="{375293F4-0CD5-45E6-AF10-1A11F04A47A0}" type="pres">
      <dgm:prSet presAssocID="{A97BF373-6481-4DB2-B92A-52613CFB88EE}" presName="textRect" presStyleLbl="revTx" presStyleIdx="1" presStyleCnt="4">
        <dgm:presLayoutVars>
          <dgm:chMax val="1"/>
          <dgm:chPref val="1"/>
        </dgm:presLayoutVars>
      </dgm:prSet>
      <dgm:spPr/>
    </dgm:pt>
    <dgm:pt modelId="{A94416DA-B6DA-4F09-A3AA-0A8C6889B4BD}" type="pres">
      <dgm:prSet presAssocID="{563FB25C-6502-4C56-9C7B-C6ACAD2DF57B}" presName="sibTrans" presStyleCnt="0"/>
      <dgm:spPr/>
    </dgm:pt>
    <dgm:pt modelId="{6756C7A9-5AC1-4A03-A9DB-4F6E01B82FBC}" type="pres">
      <dgm:prSet presAssocID="{BA497A9C-3708-4F2A-A8AF-F01D97784B2A}" presName="compNode" presStyleCnt="0"/>
      <dgm:spPr/>
    </dgm:pt>
    <dgm:pt modelId="{E4D0C971-3F1D-4F7F-AB15-11485DF395F5}" type="pres">
      <dgm:prSet presAssocID="{BA497A9C-3708-4F2A-A8AF-F01D97784B2A}" presName="iconBgRect" presStyleLbl="bgShp" presStyleIdx="2" presStyleCnt="4"/>
      <dgm:spPr/>
    </dgm:pt>
    <dgm:pt modelId="{E628593C-DCB4-477F-849E-DFF69A149C19}" type="pres">
      <dgm:prSet presAssocID="{BA497A9C-3708-4F2A-A8AF-F01D97784B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4236339-67E2-400D-87BC-20A352803702}" type="pres">
      <dgm:prSet presAssocID="{BA497A9C-3708-4F2A-A8AF-F01D97784B2A}" presName="spaceRect" presStyleCnt="0"/>
      <dgm:spPr/>
    </dgm:pt>
    <dgm:pt modelId="{1C4A96BC-9451-4393-949A-BD2835A2D326}" type="pres">
      <dgm:prSet presAssocID="{BA497A9C-3708-4F2A-A8AF-F01D97784B2A}" presName="textRect" presStyleLbl="revTx" presStyleIdx="2" presStyleCnt="4">
        <dgm:presLayoutVars>
          <dgm:chMax val="1"/>
          <dgm:chPref val="1"/>
        </dgm:presLayoutVars>
      </dgm:prSet>
      <dgm:spPr/>
    </dgm:pt>
    <dgm:pt modelId="{8DE4A139-A523-4D50-8492-89E47E3B2A0F}" type="pres">
      <dgm:prSet presAssocID="{A4CCA0C5-0E40-4B00-A400-DD52B3DF7175}" presName="sibTrans" presStyleCnt="0"/>
      <dgm:spPr/>
    </dgm:pt>
    <dgm:pt modelId="{EE7AB31D-EE92-46F7-A6C7-08532D0666CD}" type="pres">
      <dgm:prSet presAssocID="{C525FC69-D396-4EE7-BC31-9E2D01B1FAD0}" presName="compNode" presStyleCnt="0"/>
      <dgm:spPr/>
    </dgm:pt>
    <dgm:pt modelId="{E60CAC09-0DC2-4CF2-9913-5C08B309E9E0}" type="pres">
      <dgm:prSet presAssocID="{C525FC69-D396-4EE7-BC31-9E2D01B1FAD0}" presName="iconBgRect" presStyleLbl="bgShp" presStyleIdx="3" presStyleCnt="4"/>
      <dgm:spPr/>
    </dgm:pt>
    <dgm:pt modelId="{B5B3BDAF-ABD3-42C9-BB67-17C4DAC38627}" type="pres">
      <dgm:prSet presAssocID="{C525FC69-D396-4EE7-BC31-9E2D01B1FAD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00EBB419-984A-4EA8-B9C1-B2F37ECF3FE0}" type="pres">
      <dgm:prSet presAssocID="{C525FC69-D396-4EE7-BC31-9E2D01B1FAD0}" presName="spaceRect" presStyleCnt="0"/>
      <dgm:spPr/>
    </dgm:pt>
    <dgm:pt modelId="{A00AAAE9-7EAC-4D2C-97DC-449D37B75628}" type="pres">
      <dgm:prSet presAssocID="{C525FC69-D396-4EE7-BC31-9E2D01B1FAD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C53150A-0402-4A96-B712-D7B405984BDF}" srcId="{380362AA-CFA7-4186-9A4F-0CD2C5781A05}" destId="{CDFE04F2-C17A-42B4-BF3D-650381D65E68}" srcOrd="0" destOrd="0" parTransId="{4F751CFE-C861-4354-BA64-A742AB2D5291}" sibTransId="{3C6E9780-49A8-4ABF-94D8-67846F0AFA82}"/>
    <dgm:cxn modelId="{96A02B40-FBDD-46EA-8345-9CCD745C2E34}" type="presOf" srcId="{A97BF373-6481-4DB2-B92A-52613CFB88EE}" destId="{375293F4-0CD5-45E6-AF10-1A11F04A47A0}" srcOrd="0" destOrd="0" presId="urn:microsoft.com/office/officeart/2018/5/layout/IconCircleLabelList"/>
    <dgm:cxn modelId="{2EE0817C-67A0-478C-89A5-E7BB837A7BBC}" srcId="{380362AA-CFA7-4186-9A4F-0CD2C5781A05}" destId="{BA497A9C-3708-4F2A-A8AF-F01D97784B2A}" srcOrd="2" destOrd="0" parTransId="{43486A9B-431E-4C88-B82A-38B14D73C5D1}" sibTransId="{A4CCA0C5-0E40-4B00-A400-DD52B3DF7175}"/>
    <dgm:cxn modelId="{CFE851A4-4DE4-4EAA-ACE0-F849E501A028}" srcId="{380362AA-CFA7-4186-9A4F-0CD2C5781A05}" destId="{C525FC69-D396-4EE7-BC31-9E2D01B1FAD0}" srcOrd="3" destOrd="0" parTransId="{31020E5F-8E7F-4B20-B074-3C59E7D97022}" sibTransId="{6CD7BE4E-C00C-4533-B247-E2A1B6E310E9}"/>
    <dgm:cxn modelId="{0DE53BBA-041C-4252-BCC0-168ABE28CE0B}" srcId="{380362AA-CFA7-4186-9A4F-0CD2C5781A05}" destId="{A97BF373-6481-4DB2-B92A-52613CFB88EE}" srcOrd="1" destOrd="0" parTransId="{E9B53A6D-0DCE-4768-A6F6-B09F87456473}" sibTransId="{563FB25C-6502-4C56-9C7B-C6ACAD2DF57B}"/>
    <dgm:cxn modelId="{8665BFBE-F745-4481-9E42-6FFADC43B24B}" type="presOf" srcId="{CDFE04F2-C17A-42B4-BF3D-650381D65E68}" destId="{CD4C2A3D-BCE8-43E0-936E-99290149579D}" srcOrd="0" destOrd="0" presId="urn:microsoft.com/office/officeart/2018/5/layout/IconCircleLabelList"/>
    <dgm:cxn modelId="{355FA2D5-8101-41E9-A42B-B704B9787B2D}" type="presOf" srcId="{380362AA-CFA7-4186-9A4F-0CD2C5781A05}" destId="{BAB64876-436D-4396-AF89-9B27B2162A1E}" srcOrd="0" destOrd="0" presId="urn:microsoft.com/office/officeart/2018/5/layout/IconCircleLabelList"/>
    <dgm:cxn modelId="{A9A965DD-F324-4881-ACE6-9AE9D0D5732D}" type="presOf" srcId="{BA497A9C-3708-4F2A-A8AF-F01D97784B2A}" destId="{1C4A96BC-9451-4393-949A-BD2835A2D326}" srcOrd="0" destOrd="0" presId="urn:microsoft.com/office/officeart/2018/5/layout/IconCircleLabelList"/>
    <dgm:cxn modelId="{43097FFF-3D54-4849-A31B-187CF65ECA2F}" type="presOf" srcId="{C525FC69-D396-4EE7-BC31-9E2D01B1FAD0}" destId="{A00AAAE9-7EAC-4D2C-97DC-449D37B75628}" srcOrd="0" destOrd="0" presId="urn:microsoft.com/office/officeart/2018/5/layout/IconCircleLabelList"/>
    <dgm:cxn modelId="{D8A21499-96EA-4452-AD45-CAF002F7798D}" type="presParOf" srcId="{BAB64876-436D-4396-AF89-9B27B2162A1E}" destId="{A0725C8A-DE4A-459A-932C-8A109844E47B}" srcOrd="0" destOrd="0" presId="urn:microsoft.com/office/officeart/2018/5/layout/IconCircleLabelList"/>
    <dgm:cxn modelId="{FF2091B0-A6BC-4463-9E7E-26C24F9A159E}" type="presParOf" srcId="{A0725C8A-DE4A-459A-932C-8A109844E47B}" destId="{061E6BC1-2272-4EAE-A900-EA40B9FB49E0}" srcOrd="0" destOrd="0" presId="urn:microsoft.com/office/officeart/2018/5/layout/IconCircleLabelList"/>
    <dgm:cxn modelId="{2F6B11CF-A881-4385-9B69-B4C175EC75E2}" type="presParOf" srcId="{A0725C8A-DE4A-459A-932C-8A109844E47B}" destId="{3AA8AD76-CA92-45B3-81B9-8F109EE00ACC}" srcOrd="1" destOrd="0" presId="urn:microsoft.com/office/officeart/2018/5/layout/IconCircleLabelList"/>
    <dgm:cxn modelId="{F2D2C459-CDAC-4B2C-BCC4-4F117E76D87C}" type="presParOf" srcId="{A0725C8A-DE4A-459A-932C-8A109844E47B}" destId="{F6271CEF-2BB8-4E6B-8D2C-EB33B980B9CF}" srcOrd="2" destOrd="0" presId="urn:microsoft.com/office/officeart/2018/5/layout/IconCircleLabelList"/>
    <dgm:cxn modelId="{E3EBC539-B27D-4A32-971C-9884D18887FD}" type="presParOf" srcId="{A0725C8A-DE4A-459A-932C-8A109844E47B}" destId="{CD4C2A3D-BCE8-43E0-936E-99290149579D}" srcOrd="3" destOrd="0" presId="urn:microsoft.com/office/officeart/2018/5/layout/IconCircleLabelList"/>
    <dgm:cxn modelId="{F48226DD-DCCE-4AB1-A57F-D599AAEC8CFF}" type="presParOf" srcId="{BAB64876-436D-4396-AF89-9B27B2162A1E}" destId="{6FEB45C6-D07D-4BE5-9216-D7C7FC065FBC}" srcOrd="1" destOrd="0" presId="urn:microsoft.com/office/officeart/2018/5/layout/IconCircleLabelList"/>
    <dgm:cxn modelId="{4053C7FB-80E7-44A4-ABAA-A73D48AFA57A}" type="presParOf" srcId="{BAB64876-436D-4396-AF89-9B27B2162A1E}" destId="{784FD126-90FA-4AE2-988F-E0B4FE103542}" srcOrd="2" destOrd="0" presId="urn:microsoft.com/office/officeart/2018/5/layout/IconCircleLabelList"/>
    <dgm:cxn modelId="{FB2F5E84-508E-4294-B713-F14F147F2A03}" type="presParOf" srcId="{784FD126-90FA-4AE2-988F-E0B4FE103542}" destId="{3EE710BF-CC67-4416-AD16-5A4D27FD12B3}" srcOrd="0" destOrd="0" presId="urn:microsoft.com/office/officeart/2018/5/layout/IconCircleLabelList"/>
    <dgm:cxn modelId="{AC50950A-7249-4E89-99B4-FA761D1CBC83}" type="presParOf" srcId="{784FD126-90FA-4AE2-988F-E0B4FE103542}" destId="{251F1EFE-2A6E-486A-9BB2-68EF27EC7BD8}" srcOrd="1" destOrd="0" presId="urn:microsoft.com/office/officeart/2018/5/layout/IconCircleLabelList"/>
    <dgm:cxn modelId="{73A3C45F-079C-405D-993A-C8720CDECB5E}" type="presParOf" srcId="{784FD126-90FA-4AE2-988F-E0B4FE103542}" destId="{75E58E26-FBF9-4DAC-905D-955E5BC41C5C}" srcOrd="2" destOrd="0" presId="urn:microsoft.com/office/officeart/2018/5/layout/IconCircleLabelList"/>
    <dgm:cxn modelId="{2A4B818A-F537-440E-8143-177BE68DC48B}" type="presParOf" srcId="{784FD126-90FA-4AE2-988F-E0B4FE103542}" destId="{375293F4-0CD5-45E6-AF10-1A11F04A47A0}" srcOrd="3" destOrd="0" presId="urn:microsoft.com/office/officeart/2018/5/layout/IconCircleLabelList"/>
    <dgm:cxn modelId="{BD3D4A1D-7BDC-4AF8-88C2-6B6BB19A7A82}" type="presParOf" srcId="{BAB64876-436D-4396-AF89-9B27B2162A1E}" destId="{A94416DA-B6DA-4F09-A3AA-0A8C6889B4BD}" srcOrd="3" destOrd="0" presId="urn:microsoft.com/office/officeart/2018/5/layout/IconCircleLabelList"/>
    <dgm:cxn modelId="{D0631E89-623F-416C-BBA2-42145D63709A}" type="presParOf" srcId="{BAB64876-436D-4396-AF89-9B27B2162A1E}" destId="{6756C7A9-5AC1-4A03-A9DB-4F6E01B82FBC}" srcOrd="4" destOrd="0" presId="urn:microsoft.com/office/officeart/2018/5/layout/IconCircleLabelList"/>
    <dgm:cxn modelId="{87CF1826-6317-47F7-AF27-15DEB6DCCC9B}" type="presParOf" srcId="{6756C7A9-5AC1-4A03-A9DB-4F6E01B82FBC}" destId="{E4D0C971-3F1D-4F7F-AB15-11485DF395F5}" srcOrd="0" destOrd="0" presId="urn:microsoft.com/office/officeart/2018/5/layout/IconCircleLabelList"/>
    <dgm:cxn modelId="{4DE02EAD-F571-472D-9F68-29DF6CA197CD}" type="presParOf" srcId="{6756C7A9-5AC1-4A03-A9DB-4F6E01B82FBC}" destId="{E628593C-DCB4-477F-849E-DFF69A149C19}" srcOrd="1" destOrd="0" presId="urn:microsoft.com/office/officeart/2018/5/layout/IconCircleLabelList"/>
    <dgm:cxn modelId="{06D10BEB-002C-47C9-BB5F-59B2EC7912C6}" type="presParOf" srcId="{6756C7A9-5AC1-4A03-A9DB-4F6E01B82FBC}" destId="{B4236339-67E2-400D-87BC-20A352803702}" srcOrd="2" destOrd="0" presId="urn:microsoft.com/office/officeart/2018/5/layout/IconCircleLabelList"/>
    <dgm:cxn modelId="{BF8BC9C8-F3AC-45BE-8C3F-47D3284BE3AF}" type="presParOf" srcId="{6756C7A9-5AC1-4A03-A9DB-4F6E01B82FBC}" destId="{1C4A96BC-9451-4393-949A-BD2835A2D326}" srcOrd="3" destOrd="0" presId="urn:microsoft.com/office/officeart/2018/5/layout/IconCircleLabelList"/>
    <dgm:cxn modelId="{80BD89E4-3A57-4112-8D3A-7F522F63E45F}" type="presParOf" srcId="{BAB64876-436D-4396-AF89-9B27B2162A1E}" destId="{8DE4A139-A523-4D50-8492-89E47E3B2A0F}" srcOrd="5" destOrd="0" presId="urn:microsoft.com/office/officeart/2018/5/layout/IconCircleLabelList"/>
    <dgm:cxn modelId="{50421AAF-BAF7-4C76-B4DE-C0C57F77ABDC}" type="presParOf" srcId="{BAB64876-436D-4396-AF89-9B27B2162A1E}" destId="{EE7AB31D-EE92-46F7-A6C7-08532D0666CD}" srcOrd="6" destOrd="0" presId="urn:microsoft.com/office/officeart/2018/5/layout/IconCircleLabelList"/>
    <dgm:cxn modelId="{58A2C88D-1234-4997-87C7-727C9E76EBE3}" type="presParOf" srcId="{EE7AB31D-EE92-46F7-A6C7-08532D0666CD}" destId="{E60CAC09-0DC2-4CF2-9913-5C08B309E9E0}" srcOrd="0" destOrd="0" presId="urn:microsoft.com/office/officeart/2018/5/layout/IconCircleLabelList"/>
    <dgm:cxn modelId="{7124DB24-84BD-4A73-BE4D-793EF502D3D9}" type="presParOf" srcId="{EE7AB31D-EE92-46F7-A6C7-08532D0666CD}" destId="{B5B3BDAF-ABD3-42C9-BB67-17C4DAC38627}" srcOrd="1" destOrd="0" presId="urn:microsoft.com/office/officeart/2018/5/layout/IconCircleLabelList"/>
    <dgm:cxn modelId="{1A4F49DF-AB41-4B06-A284-27B995E80824}" type="presParOf" srcId="{EE7AB31D-EE92-46F7-A6C7-08532D0666CD}" destId="{00EBB419-984A-4EA8-B9C1-B2F37ECF3FE0}" srcOrd="2" destOrd="0" presId="urn:microsoft.com/office/officeart/2018/5/layout/IconCircleLabelList"/>
    <dgm:cxn modelId="{2A481108-8668-4752-AA33-93CF1C76BD72}" type="presParOf" srcId="{EE7AB31D-EE92-46F7-A6C7-08532D0666CD}" destId="{A00AAAE9-7EAC-4D2C-97DC-449D37B7562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E6BC1-2272-4EAE-A900-EA40B9FB49E0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8AD76-CA92-45B3-81B9-8F109EE00ACC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C2A3D-BCE8-43E0-936E-99290149579D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Business rules</a:t>
          </a:r>
        </a:p>
      </dsp:txBody>
      <dsp:txXfrm>
        <a:off x="569079" y="2644614"/>
        <a:ext cx="2072362" cy="720000"/>
      </dsp:txXfrm>
    </dsp:sp>
    <dsp:sp modelId="{3EE710BF-CC67-4416-AD16-5A4D27FD12B3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F1EFE-2A6E-486A-9BB2-68EF27EC7BD8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293F4-0CD5-45E6-AF10-1A11F04A47A0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Workflows</a:t>
          </a:r>
        </a:p>
      </dsp:txBody>
      <dsp:txXfrm>
        <a:off x="3004105" y="2644614"/>
        <a:ext cx="2072362" cy="720000"/>
      </dsp:txXfrm>
    </dsp:sp>
    <dsp:sp modelId="{E4D0C971-3F1D-4F7F-AB15-11485DF395F5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8593C-DCB4-477F-849E-DFF69A149C19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A96BC-9451-4393-949A-BD2835A2D326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Tech stack</a:t>
          </a:r>
        </a:p>
      </dsp:txBody>
      <dsp:txXfrm>
        <a:off x="5439131" y="2644614"/>
        <a:ext cx="2072362" cy="720000"/>
      </dsp:txXfrm>
    </dsp:sp>
    <dsp:sp modelId="{E60CAC09-0DC2-4CF2-9913-5C08B309E9E0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3BDAF-ABD3-42C9-BB67-17C4DAC38627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AAAE9-7EAC-4D2C-97DC-449D37B75628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Architecture</a:t>
          </a:r>
        </a:p>
      </dsp:txBody>
      <dsp:txXfrm>
        <a:off x="7874157" y="2644614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52431-C77D-4566-AA0F-F8FD4CC063C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DCF0E-5F5C-42F3-B3DC-C9A68BE4A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6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Shift to greenfield best practices: requirements, prompts, and verification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B9EB-5AB9-BE88-7B8B-41A57E8B9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1B712-B007-0558-C970-105DA3A5C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D2D6E-4A0B-E357-02DC-EF7EA0522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Author requirement docs, then use Copilot to generate scaffolding and validate alignment.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Prompt: create a requirements document for a simple calculator application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B0AF7-2AB3-0768-B825-46277EC11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27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27E4-8B22-9DFA-3EE7-E8B996D6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89BA0-B868-710D-0848-551141B36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C8061-6C81-38DE-6C1A-C7C6924F6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Author requirement docs, then use Copilot to generate scaffolding and validate alignment.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6AFEA-BBFD-78A2-A630-763C9A33DB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76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CB856-884D-4158-CF8A-C57A9655A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843C2-11BA-20AE-8833-775659DB6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F9FDF-DE9E-6F22-78ED-807986106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Prompts: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using #file:business-rules-to-slices.instructions.md update the #file:calculator-app-requirements.md implementation plan to implement using vertical slices</a:t>
            </a:r>
          </a:p>
          <a:p>
            <a:pPr marL="0" lvl="0" indent="0">
              <a:buNone/>
            </a:pPr>
            <a:br>
              <a:rPr lang="en-US" dirty="0"/>
            </a:br>
            <a:r>
              <a:rPr lang="en-US" dirty="0"/>
              <a:t>what is the difference between the phases and vertical slices?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update the plan to make this distinction clear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add a diagram that shows the phases -&gt; slices -&gt; use cases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which of the slices can be implemented in parallel and which have a </a:t>
            </a:r>
            <a:r>
              <a:rPr lang="en-US" dirty="0" err="1"/>
              <a:t>dependancy</a:t>
            </a:r>
            <a:r>
              <a:rPr lang="en-US" dirty="0"/>
              <a:t> on another slice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D5F92-B21A-13CD-50B4-A7AEE94E7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8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703C-90C8-7E4B-0A70-69DB6640F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F2E1D-B862-4A15-53FC-E918C618A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9B863-AE64-37DB-4E75-96943800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A5DC-6A94-1721-DE13-549BE569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E669D-094D-F768-E4EB-8312DF6D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8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6AB73-ED48-284B-FDC8-011DF139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EB45-0C2A-E845-2B7B-68ECFA4E0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3182F-BC3B-6509-28A5-E6710264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E833E-A0C9-BD00-0153-DFC9AD41A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7078B-A4D1-9AFD-0C7D-1D3C0C641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4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0960-4A91-5103-CDCD-D83BC320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BE897-AF0E-2473-14F3-1474AF107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0CEAA-33CC-1CDA-53CF-87DAF3FF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656FA-1F18-8D69-4EED-05EAA484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0F0B8-7AB4-0E67-2A24-6235C13FC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8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BAA4-5E57-827D-895C-70F278A7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E5038-DCB3-31C6-B6B9-D86172D1F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F8C61-A8AC-B165-1961-5F9CEA62F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73B86-50E9-2307-FDF0-DF84C2EEC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22F0C-EA83-3487-D3B1-5417FBBA6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C6DBA-C367-50E0-B3E1-7E8C02BBA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2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6209-B071-B31B-0C06-5B6B474B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19D75-BB2E-7012-71CB-E04C96B66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7E209-E49A-9309-0890-B80F32509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AF68B-A460-F0EA-5F44-D8D8A4AD7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18EBD-4102-088D-901B-529F1EB29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A53B90-4749-91AD-4D69-236FEF402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C30770-6E56-A425-05E2-C6D5E52C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854D2A-48B8-53CB-E5D7-7BF3DFEEE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6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384D-681C-F61B-F92A-0CA377DAC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3F8F1-87E8-7757-3966-89DB9C9C9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72A1C-EFE6-A5FD-0B3A-6ADBA66B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0F0E8-13F3-D5BF-18C6-DE5B9CDC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2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899B1C-537A-F044-448B-2BE322B8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A52B2A-4D53-ECA4-3B82-7E9E3003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F360F-5618-0698-2C34-C891DDD0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3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75F0-895D-47B4-D382-4D68DE6C9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86BE0-17C8-4BC6-4596-63B90CE22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943FE-DE3E-0E5C-4229-FD4DF4C4E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EBF05-CBC0-E6AF-D6AB-4B1D266A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82F24-4EC8-D664-4343-92508416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D1CEF-A91A-7E6E-0475-0268D9CE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7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35C-EF14-2BFF-E8D5-A66C6105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311E0-FAE6-E644-3C56-21F8AA3801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76BD2-4F1C-5A95-2A77-1287587AA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02516-AC0E-99B4-E1F4-703A004A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2DB5B-BB31-0B60-D1CA-7ED49756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0300F-2ED5-B91C-5E8B-BDCBEE748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8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4205D-F63E-B81E-0DB9-625BAF6F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EAB9E-76AC-541A-32B9-F376E1174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B9ECD-751A-4CFA-2AE1-340F9BB79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0781-4FEC-6DE7-00BD-05455D75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C5CAE-B088-8D9C-B7B7-EE19BECE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6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1C93F-EF96-334C-073A-19F7EEEE0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4F664-78E8-A39A-2145-5328751D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FA2CB-A453-50BB-D3FC-76D743DA1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7D1-7B1A-6946-9361-941FC6EA3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0830F-67B0-A662-B9E5-829F4D42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02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92DBF6-0341-3487-E459-8AB1A7B4D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D7509-05F2-3125-C48D-9406CB054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7D6EA-DCC4-295C-A3AC-216FCBF1E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F76C5-1EFC-46D4-BFA7-B9CD5368AF2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84C5-116C-AE04-4438-D616077FD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E582F-9C5A-2B1E-C99A-5CF142D68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8560E-ECF4-4EC0-9186-A5F945EF8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6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millerATcodemag-com/zeus.academia.2" TargetMode="External"/><Relationship Id="rId2" Type="http://schemas.openxmlformats.org/officeDocument/2006/relationships/hyperlink" Target="https://orm.net/pdf/ORMwhitePaper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365127"/>
            <a:ext cx="8928887" cy="703024"/>
          </a:xfrm>
        </p:spPr>
        <p:txBody>
          <a:bodyPr anchor="ctr">
            <a:normAutofit/>
          </a:bodyPr>
          <a:lstStyle/>
          <a:p>
            <a:r>
              <a:rPr lang="en-US" sz="3733" dirty="0"/>
              <a:t>Starting with Project 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C96B23-C707-0543-5C91-4E0C85B340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61483"/>
          <a:ext cx="10515600" cy="435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2358632" y="3118764"/>
            <a:ext cx="6381751" cy="703024"/>
          </a:xfrm>
        </p:spPr>
        <p:txBody>
          <a:bodyPr anchor="ctr">
            <a:noAutofit/>
          </a:bodyPr>
          <a:lstStyle/>
          <a:p>
            <a:r>
              <a:rPr lang="en-US" sz="2667" dirty="0"/>
              <a:t>Business Rules as Requirements</a:t>
            </a:r>
          </a:p>
        </p:txBody>
      </p:sp>
      <p:pic>
        <p:nvPicPr>
          <p:cNvPr id="4" name="Picture 3" descr="A diagram of a computer program">
            <a:extLst>
              <a:ext uri="{FF2B5EF4-FFF2-40B4-BE49-F238E27FC236}">
                <a16:creationId xmlns:a16="http://schemas.microsoft.com/office/drawing/2014/main" id="{70D26D8A-8732-4CF8-585E-F0A48D3A0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72751"/>
            <a:ext cx="6483109" cy="640207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Conceptual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Technology Agnostic</a:t>
            </a:r>
          </a:p>
          <a:p>
            <a:pPr lvl="1"/>
            <a:r>
              <a:t>Transformable into Logical Models</a:t>
            </a:r>
          </a:p>
          <a:p>
            <a:pPr lvl="0"/>
            <a:r>
              <a:t>Clarity</a:t>
            </a:r>
          </a:p>
          <a:p>
            <a:pPr lvl="0"/>
            <a:r>
              <a:t>Expressive</a:t>
            </a:r>
          </a:p>
          <a:p>
            <a:pPr lvl="0"/>
            <a:r>
              <a:t>Formal</a:t>
            </a:r>
          </a:p>
          <a:p>
            <a:pPr lvl="0"/>
            <a:r>
              <a:t>Conceptual Models are not a requirement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Object Role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type of conceptual model</a:t>
            </a:r>
          </a:p>
          <a:p>
            <a:pPr lvl="0"/>
            <a:r>
              <a:t>Supported by a Visual Studio Extension (NORMA)</a:t>
            </a:r>
          </a:p>
          <a:p>
            <a:pPr lvl="0"/>
            <a:r>
              <a:t>Object Role Models are textual and visual</a:t>
            </a:r>
          </a:p>
          <a:p>
            <a:pPr lvl="1"/>
            <a:r>
              <a:t>Text can be visualized</a:t>
            </a:r>
          </a:p>
          <a:p>
            <a:pPr lvl="1"/>
            <a:r>
              <a:t>Diagrams can be verbalized</a:t>
            </a:r>
          </a:p>
          <a:p>
            <a:pPr lvl="0"/>
            <a:r>
              <a:t>Textual representation is in a formal natural language that can be validated by subject matter experts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Zeus.Academia.</a:t>
            </a:r>
            <a:r>
              <a:rPr lang="en-US" dirty="0"/>
              <a:t>3b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dirty="0"/>
              <a:t>Based on a publicly available model of a commonly understood domain</a:t>
            </a:r>
          </a:p>
          <a:p>
            <a:pPr lvl="1"/>
            <a:r>
              <a:rPr dirty="0"/>
              <a:t>https://orm.net/pdf/ORMwhitePaper.pdf</a:t>
            </a:r>
            <a:endParaRPr dirty="0">
              <a:hlinkClick r:id="rId2"/>
            </a:endParaRPr>
          </a:p>
          <a:p>
            <a:pPr lvl="0"/>
            <a:r>
              <a:rPr dirty="0"/>
              <a:t>Allows us to quickly move from requirements to implementation</a:t>
            </a:r>
          </a:p>
          <a:p>
            <a:pPr lvl="1"/>
            <a:r>
              <a:rPr dirty="0"/>
              <a:t>https://github.com/johnmillerATcodemag-com/zeus.academia.</a:t>
            </a:r>
            <a:r>
              <a:rPr lang="en-US" dirty="0"/>
              <a:t>3b</a:t>
            </a:r>
            <a:endParaRPr dirty="0">
              <a:hlinkClick r:id="rId3"/>
            </a:endParaRPr>
          </a:p>
          <a:p>
            <a:pPr lvl="0"/>
            <a:r>
              <a:rPr dirty="0"/>
              <a:t>Why </a:t>
            </a:r>
            <a:r>
              <a:rPr lang="en-US" dirty="0"/>
              <a:t>3b</a:t>
            </a:r>
            <a:r>
              <a:rPr dirty="0"/>
              <a:t>?</a:t>
            </a:r>
          </a:p>
          <a:p>
            <a:pPr lvl="1"/>
            <a:r>
              <a:rPr lang="en-US" dirty="0"/>
              <a:t>Third</a:t>
            </a:r>
            <a:r>
              <a:rPr dirty="0"/>
              <a:t> Iteration</a:t>
            </a:r>
            <a:r>
              <a:rPr lang="en-US" dirty="0"/>
              <a:t> in progress</a:t>
            </a:r>
            <a:endParaRPr dirty="0"/>
          </a:p>
          <a:p>
            <a:pPr lvl="1"/>
            <a:r>
              <a:rPr dirty="0"/>
              <a:t>If something is hard, do it often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Use</a:t>
            </a:r>
            <a:r>
              <a:rPr lang="en-US" dirty="0"/>
              <a:t> Cases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Use cases are specific scenarios that guide data capture and processing in the application</a:t>
            </a:r>
          </a:p>
          <a:p>
            <a:pPr lvl="1"/>
            <a:r>
              <a:rPr dirty="0"/>
              <a:t>Promote a Lecturer to Senior Lecturer</a:t>
            </a:r>
          </a:p>
          <a:p>
            <a:pPr lvl="1"/>
            <a:r>
              <a:rPr dirty="0"/>
              <a:t>Promote a Senior Lecturer to Associate Professor</a:t>
            </a:r>
          </a:p>
          <a:p>
            <a:pPr lvl="1"/>
            <a:r>
              <a:rPr dirty="0"/>
              <a:t>Promote an Associate Professor to Professor</a:t>
            </a:r>
          </a:p>
          <a:p>
            <a:pPr lvl="1"/>
            <a:r>
              <a:rPr dirty="0"/>
              <a:t>Assign a Class to an Academic</a:t>
            </a:r>
          </a:p>
          <a:p>
            <a:pPr lvl="1"/>
            <a:r>
              <a:rPr dirty="0"/>
              <a:t>Add a new Academic to the faculty capturing all required information and allowing the capture of optional information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22686-6902-6B44-B73B-5EAB7406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2983-AF22-C9D6-A732-E37C7475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667" dirty="0"/>
              <a:t>Exercise</a:t>
            </a:r>
            <a:r>
              <a:rPr lang="en-US" sz="2667" dirty="0"/>
              <a:t>:</a:t>
            </a:r>
            <a:r>
              <a:rPr sz="2667" dirty="0"/>
              <a:t> </a:t>
            </a:r>
            <a:r>
              <a:rPr lang="en-US" sz="2667" dirty="0"/>
              <a:t>Generate Business Requirements</a:t>
            </a:r>
            <a:endParaRPr sz="2667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63219-5146-453F-6E3A-0F4694A0A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Duration</a:t>
            </a:r>
            <a:r>
              <a:rPr lang="en-US" dirty="0"/>
              <a:t>: 20 minutes</a:t>
            </a:r>
          </a:p>
          <a:p>
            <a:pPr marL="0" indent="0">
              <a:buNone/>
            </a:pPr>
            <a:r>
              <a:rPr lang="en-US" b="1" dirty="0"/>
              <a:t> </a:t>
            </a:r>
            <a:br>
              <a:rPr lang="en-US" b="1" dirty="0"/>
            </a:br>
            <a:r>
              <a:rPr b="1" dirty="0"/>
              <a:t>Objective</a:t>
            </a:r>
            <a:r>
              <a:rPr lang="en-US" b="1" dirty="0"/>
              <a:t>s</a:t>
            </a:r>
            <a:r>
              <a:rPr dirty="0"/>
              <a:t>: </a:t>
            </a:r>
            <a:endParaRPr lang="en-US" dirty="0"/>
          </a:p>
          <a:p>
            <a:r>
              <a:rPr lang="en-US" dirty="0"/>
              <a:t>Use the Product Manager chat mode to create a requirements document for a calculator</a:t>
            </a:r>
          </a:p>
          <a:p>
            <a:pPr lvl="0"/>
            <a:endParaRPr lang="en-US" dirty="0"/>
          </a:p>
          <a:p>
            <a:pPr marL="0" indent="0">
              <a:buNone/>
            </a:pPr>
            <a:r>
              <a:rPr lang="en-US" b="1" dirty="0"/>
              <a:t>Activities</a:t>
            </a:r>
            <a:r>
              <a:rPr lang="en-US" dirty="0"/>
              <a:t>: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Activate the Product Manager chat mode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Prompt the AI to create a requirements document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Review the requirements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Add an implementation plan using vertical slices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Review the changes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Add a diagram showing the relationship between Phases, Slices, and User Stories</a:t>
            </a:r>
          </a:p>
          <a:p>
            <a:pPr marL="0" indent="0">
              <a:spcBef>
                <a:spcPts val="4000"/>
              </a:spcBef>
              <a:buNone/>
            </a:pPr>
            <a:r>
              <a:rPr lang="en-US" b="1" dirty="0"/>
              <a:t>Success Criteria</a:t>
            </a:r>
          </a:p>
          <a:p>
            <a:pPr lvl="0"/>
            <a:r>
              <a:rPr lang="en-US" dirty="0"/>
              <a:t>The requirements document exists and passes review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3475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FEC064-1B2B-6AE4-5112-6EAB5298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591A-BAA1-6DF9-EC39-523935C5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Exercise</a:t>
            </a:r>
            <a:r>
              <a:rPr lang="en-US" dirty="0"/>
              <a:t>:</a:t>
            </a:r>
            <a:r>
              <a:rPr dirty="0"/>
              <a:t> Create Project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119EE-82F6-E1AD-B59A-E16B53674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b="1" dirty="0"/>
              <a:t>Objective</a:t>
            </a:r>
            <a:r>
              <a:rPr dirty="0"/>
              <a:t>: Create project requirement instructions, some project-specific, some generic, using both manual and Copilot-assisted methods.</a:t>
            </a:r>
          </a:p>
          <a:p>
            <a:pPr lvl="0"/>
            <a:r>
              <a:rPr dirty="0"/>
              <a:t>Manually create a </a:t>
            </a:r>
            <a:r>
              <a:rPr lang="en-US" dirty="0"/>
              <a:t>business requirements</a:t>
            </a:r>
            <a:r>
              <a:rPr dirty="0"/>
              <a:t>.md file and add:</a:t>
            </a:r>
          </a:p>
          <a:p>
            <a:pPr lvl="1"/>
            <a:r>
              <a:rPr dirty="0"/>
              <a:t>Business rules</a:t>
            </a:r>
          </a:p>
          <a:p>
            <a:pPr lvl="1"/>
            <a:r>
              <a:rPr dirty="0"/>
              <a:t>Workflows</a:t>
            </a:r>
          </a:p>
          <a:p>
            <a:pPr lvl="1"/>
            <a:r>
              <a:rPr dirty="0"/>
              <a:t>Purpose</a:t>
            </a:r>
          </a:p>
          <a:p>
            <a:pPr lvl="1"/>
            <a:r>
              <a:rPr dirty="0"/>
              <a:t>Tech stack</a:t>
            </a:r>
          </a:p>
          <a:p>
            <a:pPr lvl="1"/>
            <a:r>
              <a:rPr dirty="0"/>
              <a:t>Architecture</a:t>
            </a:r>
          </a:p>
          <a:p>
            <a:pPr lvl="0"/>
            <a:r>
              <a:rPr dirty="0"/>
              <a:t>Use Copilot to generate instruction files using the copilot-instructions.md and the codebase for context.</a:t>
            </a:r>
          </a:p>
          <a:p>
            <a:pPr marL="0" indent="0">
              <a:buNone/>
            </a:pPr>
            <a:r>
              <a:rPr b="1" dirty="0"/>
              <a:t>Bonus</a:t>
            </a:r>
            <a:r>
              <a:rPr dirty="0"/>
              <a:t>:</a:t>
            </a:r>
          </a:p>
          <a:p>
            <a:pPr lvl="0"/>
            <a:r>
              <a:rPr dirty="0"/>
              <a:t>Review instruction files for errors and omissions.</a:t>
            </a:r>
          </a:p>
          <a:p>
            <a:pPr lvl="0"/>
            <a:r>
              <a:rPr dirty="0"/>
              <a:t>Ask Copilot to suggest changes based on evolving tech and practices.</a:t>
            </a:r>
          </a:p>
        </p:txBody>
      </p:sp>
    </p:spTree>
    <p:extLst>
      <p:ext uri="{BB962C8B-B14F-4D97-AF65-F5344CB8AC3E}">
        <p14:creationId xmlns:p14="http://schemas.microsoft.com/office/powerpoint/2010/main" val="111389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631545F-75A3-67AE-96D5-043E408B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3AEF5-47BB-6F3F-AFE5-70E365B2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667" dirty="0"/>
              <a:t>Exercise</a:t>
            </a:r>
            <a:r>
              <a:rPr lang="en-US" sz="2667" dirty="0"/>
              <a:t>:</a:t>
            </a:r>
            <a:r>
              <a:rPr sz="2667" dirty="0"/>
              <a:t> </a:t>
            </a:r>
            <a:r>
              <a:rPr lang="en-US" sz="2667" dirty="0"/>
              <a:t>Generate Business Requirements</a:t>
            </a:r>
            <a:endParaRPr sz="2667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7BE98-6382-587E-D375-364E6E119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Duration</a:t>
            </a:r>
            <a:r>
              <a:rPr lang="en-US" dirty="0"/>
              <a:t>: 20 minutes</a:t>
            </a:r>
          </a:p>
          <a:p>
            <a:pPr marL="0" indent="0">
              <a:buNone/>
            </a:pPr>
            <a:r>
              <a:rPr lang="en-US" b="1" dirty="0"/>
              <a:t> </a:t>
            </a:r>
            <a:br>
              <a:rPr lang="en-US" b="1" dirty="0"/>
            </a:br>
            <a:r>
              <a:rPr b="1" dirty="0"/>
              <a:t>Objective</a:t>
            </a:r>
            <a:r>
              <a:rPr lang="en-US" b="1" dirty="0"/>
              <a:t>s</a:t>
            </a:r>
            <a:r>
              <a:rPr dirty="0"/>
              <a:t>: </a:t>
            </a:r>
            <a:endParaRPr lang="en-US" dirty="0"/>
          </a:p>
          <a:p>
            <a:r>
              <a:rPr lang="en-US" dirty="0"/>
              <a:t>Use the Product Manager chat mode to update the requirements document to implement using vertical slices</a:t>
            </a:r>
          </a:p>
          <a:p>
            <a:pPr lvl="0"/>
            <a:endParaRPr lang="en-US" dirty="0"/>
          </a:p>
          <a:p>
            <a:pPr marL="0" indent="0">
              <a:buNone/>
            </a:pPr>
            <a:r>
              <a:rPr lang="en-US" b="1" dirty="0"/>
              <a:t>Activities</a:t>
            </a:r>
            <a:r>
              <a:rPr lang="en-US" dirty="0"/>
              <a:t>: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Activate the Product Manager chat mode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Prompt the AI to add a vertical slices implementation plan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Review the changes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Add a diagram showing the relationship between Phases, Slices, and User Stories</a:t>
            </a:r>
          </a:p>
          <a:p>
            <a:pPr marL="0" indent="0">
              <a:spcBef>
                <a:spcPts val="4000"/>
              </a:spcBef>
              <a:buNone/>
            </a:pPr>
            <a:r>
              <a:rPr lang="en-US" b="1" dirty="0"/>
              <a:t>Success Criteria</a:t>
            </a:r>
          </a:p>
          <a:p>
            <a:pPr lvl="0"/>
            <a:r>
              <a:rPr lang="en-US" dirty="0"/>
              <a:t>The implementation plan passes review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152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Microsoft Office PowerPoint</Application>
  <PresentationFormat>Widescreen</PresentationFormat>
  <Paragraphs>92</Paragraphs>
  <Slides>9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Starting with Project Requirements</vt:lpstr>
      <vt:lpstr>Business Rules as Requirements</vt:lpstr>
      <vt:lpstr>Conceptual Models</vt:lpstr>
      <vt:lpstr>Object Role Models</vt:lpstr>
      <vt:lpstr>Zeus.Academia.3b</vt:lpstr>
      <vt:lpstr>Use Cases</vt:lpstr>
      <vt:lpstr>Exercise: Generate Business Requirements</vt:lpstr>
      <vt:lpstr>Exercise: Create Project Requirement</vt:lpstr>
      <vt:lpstr>Exercise: Generate Business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2</cp:revision>
  <dcterms:created xsi:type="dcterms:W3CDTF">2026-03-05T21:13:57Z</dcterms:created>
  <dcterms:modified xsi:type="dcterms:W3CDTF">2026-03-05T21:15:37Z</dcterms:modified>
</cp:coreProperties>
</file>